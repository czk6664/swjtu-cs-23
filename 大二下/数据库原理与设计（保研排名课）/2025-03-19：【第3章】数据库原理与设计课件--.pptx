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30"/>
  </p:notesMasterIdLst>
  <p:sldIdLst>
    <p:sldId id="1241" r:id="rId6"/>
    <p:sldId id="1105" r:id="rId7"/>
    <p:sldId id="1375" r:id="rId8"/>
    <p:sldId id="1662" r:id="rId9"/>
    <p:sldId id="1242" r:id="rId10"/>
    <p:sldId id="1520" r:id="rId11"/>
    <p:sldId id="1107" r:id="rId12"/>
    <p:sldId id="1108" r:id="rId13"/>
    <p:sldId id="1133" r:id="rId14"/>
    <p:sldId id="1110" r:id="rId15"/>
    <p:sldId id="1376" r:id="rId16"/>
    <p:sldId id="1228" r:id="rId17"/>
    <p:sldId id="1134" r:id="rId18"/>
    <p:sldId id="2111" r:id="rId19"/>
    <p:sldId id="2113" r:id="rId20"/>
    <p:sldId id="1112" r:id="rId21"/>
    <p:sldId id="1113" r:id="rId22"/>
    <p:sldId id="1114" r:id="rId23"/>
    <p:sldId id="1115" r:id="rId24"/>
    <p:sldId id="1229" r:id="rId25"/>
    <p:sldId id="1230" r:id="rId26"/>
    <p:sldId id="1135" r:id="rId27"/>
    <p:sldId id="1136" r:id="rId28"/>
    <p:sldId id="1116" r:id="rId29"/>
    <p:sldId id="1138" r:id="rId30"/>
    <p:sldId id="1137" r:id="rId31"/>
    <p:sldId id="1140" r:id="rId32"/>
    <p:sldId id="1521" r:id="rId33"/>
    <p:sldId id="1141" r:id="rId34"/>
    <p:sldId id="1117" r:id="rId35"/>
    <p:sldId id="1142" r:id="rId36"/>
    <p:sldId id="1379" r:id="rId37"/>
    <p:sldId id="2116" r:id="rId38"/>
    <p:sldId id="2117" r:id="rId39"/>
    <p:sldId id="2118" r:id="rId40"/>
    <p:sldId id="2119" r:id="rId41"/>
    <p:sldId id="2155" r:id="rId42"/>
    <p:sldId id="2156" r:id="rId43"/>
    <p:sldId id="1118" r:id="rId44"/>
    <p:sldId id="1522" r:id="rId45"/>
    <p:sldId id="1993" r:id="rId46"/>
    <p:sldId id="1524" r:id="rId47"/>
    <p:sldId id="1525" r:id="rId48"/>
    <p:sldId id="1526" r:id="rId49"/>
    <p:sldId id="1527" r:id="rId50"/>
    <p:sldId id="1528" r:id="rId51"/>
    <p:sldId id="1798" r:id="rId52"/>
    <p:sldId id="1529" r:id="rId53"/>
    <p:sldId id="1895" r:id="rId54"/>
    <p:sldId id="1799" r:id="rId55"/>
    <p:sldId id="2103" r:id="rId56"/>
    <p:sldId id="2104" r:id="rId57"/>
    <p:sldId id="2105" r:id="rId58"/>
    <p:sldId id="2121" r:id="rId59"/>
    <p:sldId id="2122" r:id="rId60"/>
    <p:sldId id="2123" r:id="rId61"/>
    <p:sldId id="2124" r:id="rId62"/>
    <p:sldId id="1144" r:id="rId63"/>
    <p:sldId id="1145" r:id="rId64"/>
    <p:sldId id="1146" r:id="rId65"/>
    <p:sldId id="1147" r:id="rId66"/>
    <p:sldId id="1148" r:id="rId67"/>
    <p:sldId id="1149" r:id="rId68"/>
    <p:sldId id="1151" r:id="rId69"/>
    <p:sldId id="1152" r:id="rId70"/>
    <p:sldId id="1174" r:id="rId71"/>
    <p:sldId id="1153" r:id="rId72"/>
    <p:sldId id="1154" r:id="rId73"/>
    <p:sldId id="1155" r:id="rId74"/>
    <p:sldId id="1156" r:id="rId75"/>
    <p:sldId id="1157" r:id="rId76"/>
    <p:sldId id="1158" r:id="rId77"/>
    <p:sldId id="1159" r:id="rId78"/>
    <p:sldId id="1160" r:id="rId79"/>
    <p:sldId id="1161" r:id="rId80"/>
    <p:sldId id="1231" r:id="rId81"/>
    <p:sldId id="1162" r:id="rId82"/>
    <p:sldId id="1163" r:id="rId83"/>
    <p:sldId id="1164" r:id="rId84"/>
    <p:sldId id="1165" r:id="rId85"/>
    <p:sldId id="1233" r:id="rId86"/>
    <p:sldId id="1232" r:id="rId87"/>
    <p:sldId id="1166" r:id="rId88"/>
    <p:sldId id="2101" r:id="rId89"/>
    <p:sldId id="2126" r:id="rId90"/>
    <p:sldId id="2127" r:id="rId91"/>
    <p:sldId id="2128" r:id="rId92"/>
    <p:sldId id="2129" r:id="rId93"/>
    <p:sldId id="2130" r:id="rId94"/>
    <p:sldId id="1171" r:id="rId95"/>
    <p:sldId id="1175" r:id="rId96"/>
    <p:sldId id="1176" r:id="rId97"/>
    <p:sldId id="1177" r:id="rId98"/>
    <p:sldId id="1178" r:id="rId99"/>
    <p:sldId id="1243" r:id="rId100"/>
    <p:sldId id="1179" r:id="rId101"/>
    <p:sldId id="1250" r:id="rId102"/>
    <p:sldId id="1180" r:id="rId103"/>
    <p:sldId id="1181" r:id="rId104"/>
    <p:sldId id="1182" r:id="rId105"/>
    <p:sldId id="1183" r:id="rId106"/>
    <p:sldId id="1184" r:id="rId107"/>
    <p:sldId id="1234" r:id="rId108"/>
    <p:sldId id="1186" r:id="rId109"/>
    <p:sldId id="1187" r:id="rId110"/>
    <p:sldId id="1239" r:id="rId111"/>
    <p:sldId id="1244" r:id="rId112"/>
    <p:sldId id="1245" r:id="rId113"/>
    <p:sldId id="1246" r:id="rId114"/>
    <p:sldId id="1235" r:id="rId115"/>
    <p:sldId id="1238" r:id="rId116"/>
    <p:sldId id="1247" r:id="rId117"/>
    <p:sldId id="1248" r:id="rId118"/>
    <p:sldId id="1249" r:id="rId119"/>
    <p:sldId id="2131" r:id="rId120"/>
    <p:sldId id="2132" r:id="rId121"/>
    <p:sldId id="2133" r:id="rId122"/>
    <p:sldId id="2134" r:id="rId123"/>
    <p:sldId id="2135" r:id="rId124"/>
    <p:sldId id="2136" r:id="rId125"/>
    <p:sldId id="2137" r:id="rId126"/>
    <p:sldId id="2138" r:id="rId127"/>
    <p:sldId id="2139" r:id="rId128"/>
    <p:sldId id="1189" r:id="rId129"/>
    <p:sldId id="1190" r:id="rId131"/>
    <p:sldId id="1251" r:id="rId132"/>
    <p:sldId id="1252" r:id="rId133"/>
    <p:sldId id="1253" r:id="rId134"/>
    <p:sldId id="1254" r:id="rId135"/>
    <p:sldId id="1191" r:id="rId136"/>
    <p:sldId id="2140" r:id="rId137"/>
    <p:sldId id="2141" r:id="rId138"/>
    <p:sldId id="2142" r:id="rId139"/>
    <p:sldId id="2143" r:id="rId140"/>
    <p:sldId id="1192" r:id="rId141"/>
    <p:sldId id="1193" r:id="rId142"/>
    <p:sldId id="1194" r:id="rId143"/>
    <p:sldId id="1255" r:id="rId144"/>
    <p:sldId id="1195" r:id="rId145"/>
    <p:sldId id="2144" r:id="rId146"/>
    <p:sldId id="2145" r:id="rId147"/>
    <p:sldId id="2146" r:id="rId148"/>
    <p:sldId id="2147" r:id="rId149"/>
    <p:sldId id="1196" r:id="rId150"/>
    <p:sldId id="1197" r:id="rId151"/>
    <p:sldId id="1198" r:id="rId152"/>
    <p:sldId id="1256" r:id="rId153"/>
    <p:sldId id="1199" r:id="rId154"/>
    <p:sldId id="1200" r:id="rId155"/>
    <p:sldId id="1201" r:id="rId156"/>
    <p:sldId id="1202" r:id="rId157"/>
    <p:sldId id="1203" r:id="rId158"/>
    <p:sldId id="1204" r:id="rId159"/>
    <p:sldId id="1257" r:id="rId160"/>
    <p:sldId id="1205" r:id="rId161"/>
    <p:sldId id="1206" r:id="rId162"/>
    <p:sldId id="1207" r:id="rId163"/>
    <p:sldId id="1208" r:id="rId164"/>
    <p:sldId id="2148" r:id="rId165"/>
    <p:sldId id="2149" r:id="rId166"/>
    <p:sldId id="2150" r:id="rId167"/>
    <p:sldId id="1210" r:id="rId168"/>
    <p:sldId id="1211" r:id="rId169"/>
    <p:sldId id="1213" r:id="rId170"/>
    <p:sldId id="1212" r:id="rId171"/>
    <p:sldId id="1214" r:id="rId172"/>
    <p:sldId id="1216" r:id="rId173"/>
    <p:sldId id="1217" r:id="rId174"/>
    <p:sldId id="1218" r:id="rId175"/>
    <p:sldId id="1219" r:id="rId176"/>
    <p:sldId id="2151" r:id="rId177"/>
    <p:sldId id="2152" r:id="rId178"/>
    <p:sldId id="2153" r:id="rId179"/>
    <p:sldId id="2154" r:id="rId180"/>
    <p:sldId id="1258" r:id="rId181"/>
    <p:sldId id="1220" r:id="rId182"/>
  </p:sldIdLst>
  <p:sldSz cx="9144000" cy="6858000" type="screen4x3"/>
  <p:notesSz cx="6781800" cy="9926955"/>
  <p:defaultTextStyle>
    <a:defPPr>
      <a:defRPr lang="zh-CN"/>
    </a:defPPr>
    <a:lvl1pPr marL="0" lvl="0"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1"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72" userDrawn="1">
          <p15:clr>
            <a:srgbClr val="A4A3A4"/>
          </p15:clr>
        </p15:guide>
        <p15:guide id="2" pos="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2FDB2607-1784-4EEB-B798-7EB5836EED8A}">
        <p14:showMediaCtrls xmlns:p14="http://schemas.microsoft.com/office/powerpoint/2010/main" val="1"/>
      </p:ext>
    </p:extLst>
  </p:showPr>
  <p:clrMru>
    <a:srgbClr val="2F8212"/>
    <a:srgbClr val="CC0000"/>
    <a:srgbClr val="00CC00"/>
    <a:srgbClr val="FF3300"/>
    <a:srgbClr val="FFFFCC"/>
    <a:srgbClr val="A50021"/>
    <a:srgbClr val="0033CC"/>
    <a:srgbClr val="00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1365"/>
    <p:restoredTop sz="94660"/>
  </p:normalViewPr>
  <p:slideViewPr>
    <p:cSldViewPr snapToGrid="0" showGuides="1">
      <p:cViewPr varScale="1">
        <p:scale>
          <a:sx n="73" d="100"/>
          <a:sy n="73" d="100"/>
        </p:scale>
        <p:origin x="1236" y="54"/>
      </p:cViewPr>
      <p:guideLst>
        <p:guide orient="horz" pos="472"/>
        <p:guide pos="2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4.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3.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Master" Target="slideMasters/slideMaster4.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5" Type="http://schemas.openxmlformats.org/officeDocument/2006/relationships/tableStyles" Target="tableStyles.xml"/><Relationship Id="rId184" Type="http://schemas.openxmlformats.org/officeDocument/2006/relationships/viewProps" Target="viewProps.xml"/><Relationship Id="rId183" Type="http://schemas.openxmlformats.org/officeDocument/2006/relationships/presProps" Target="presProps.xml"/><Relationship Id="rId182" Type="http://schemas.openxmlformats.org/officeDocument/2006/relationships/slide" Target="slides/slide176.xml"/><Relationship Id="rId181" Type="http://schemas.openxmlformats.org/officeDocument/2006/relationships/slide" Target="slides/slide175.xml"/><Relationship Id="rId180" Type="http://schemas.openxmlformats.org/officeDocument/2006/relationships/slide" Target="slides/slide174.xml"/><Relationship Id="rId18" Type="http://schemas.openxmlformats.org/officeDocument/2006/relationships/slide" Target="slides/slide13.xml"/><Relationship Id="rId179" Type="http://schemas.openxmlformats.org/officeDocument/2006/relationships/slide" Target="slides/slide173.xml"/><Relationship Id="rId178" Type="http://schemas.openxmlformats.org/officeDocument/2006/relationships/slide" Target="slides/slide172.xml"/><Relationship Id="rId177" Type="http://schemas.openxmlformats.org/officeDocument/2006/relationships/slide" Target="slides/slide171.xml"/><Relationship Id="rId176" Type="http://schemas.openxmlformats.org/officeDocument/2006/relationships/slide" Target="slides/slide170.xml"/><Relationship Id="rId175" Type="http://schemas.openxmlformats.org/officeDocument/2006/relationships/slide" Target="slides/slide169.xml"/><Relationship Id="rId174" Type="http://schemas.openxmlformats.org/officeDocument/2006/relationships/slide" Target="slides/slide168.xml"/><Relationship Id="rId173" Type="http://schemas.openxmlformats.org/officeDocument/2006/relationships/slide" Target="slides/slide167.xml"/><Relationship Id="rId172" Type="http://schemas.openxmlformats.org/officeDocument/2006/relationships/slide" Target="slides/slide166.xml"/><Relationship Id="rId171" Type="http://schemas.openxmlformats.org/officeDocument/2006/relationships/slide" Target="slides/slide165.xml"/><Relationship Id="rId170" Type="http://schemas.openxmlformats.org/officeDocument/2006/relationships/slide" Target="slides/slide164.xml"/><Relationship Id="rId17" Type="http://schemas.openxmlformats.org/officeDocument/2006/relationships/slide" Target="slides/slide12.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165" Type="http://schemas.openxmlformats.org/officeDocument/2006/relationships/slide" Target="slides/slide159.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1" Type="http://schemas.openxmlformats.org/officeDocument/2006/relationships/slide" Target="slides/slide155.xml"/><Relationship Id="rId160" Type="http://schemas.openxmlformats.org/officeDocument/2006/relationships/slide" Target="slides/slide154.xml"/><Relationship Id="rId16" Type="http://schemas.openxmlformats.org/officeDocument/2006/relationships/slide" Target="slides/slide11.xml"/><Relationship Id="rId159" Type="http://schemas.openxmlformats.org/officeDocument/2006/relationships/slide" Target="slides/slide153.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 Id="rId154" Type="http://schemas.openxmlformats.org/officeDocument/2006/relationships/slide" Target="slides/slide148.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0" Type="http://schemas.openxmlformats.org/officeDocument/2006/relationships/slide" Target="slides/slide144.xml"/><Relationship Id="rId15" Type="http://schemas.openxmlformats.org/officeDocument/2006/relationships/slide" Target="slides/slide10.xml"/><Relationship Id="rId149" Type="http://schemas.openxmlformats.org/officeDocument/2006/relationships/slide" Target="slides/slide143.xml"/><Relationship Id="rId148" Type="http://schemas.openxmlformats.org/officeDocument/2006/relationships/slide" Target="slides/slide142.xml"/><Relationship Id="rId147" Type="http://schemas.openxmlformats.org/officeDocument/2006/relationships/slide" Target="slides/slide141.xml"/><Relationship Id="rId146" Type="http://schemas.openxmlformats.org/officeDocument/2006/relationships/slide" Target="slides/slide140.xml"/><Relationship Id="rId145" Type="http://schemas.openxmlformats.org/officeDocument/2006/relationships/slide" Target="slides/slide139.xml"/><Relationship Id="rId144" Type="http://schemas.openxmlformats.org/officeDocument/2006/relationships/slide" Target="slides/slide138.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14" Type="http://schemas.openxmlformats.org/officeDocument/2006/relationships/slide" Target="slides/slide9.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notesMaster" Target="notesMasters/notesMaster1.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slide" Target="slides/slide6.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Rectangle 2"/>
          <p:cNvSpPr>
            <a:spLocks noGrp="1"/>
          </p:cNvSpPr>
          <p:nvPr>
            <p:ph type="hdr" sz="quarter"/>
          </p:nvPr>
        </p:nvSpPr>
        <p:spPr>
          <a:xfrm>
            <a:off x="0" y="0"/>
            <a:ext cx="2938463" cy="496888"/>
          </a:xfrm>
          <a:prstGeom prst="rect">
            <a:avLst/>
          </a:prstGeom>
          <a:noFill/>
          <a:ln w="9525">
            <a:noFill/>
          </a:ln>
        </p:spPr>
        <p:txBody>
          <a:bodyPr/>
          <a:lstStyle>
            <a:lvl1pPr eaLnBrk="1" hangingPunct="1">
              <a:buFont typeface="Arial" panose="020B0604020202020204" pitchFamily="34" charset="0"/>
              <a:buNone/>
              <a:defRPr sz="1200" b="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p:cNvSpPr>
          <p:nvPr>
            <p:ph type="dt" idx="1"/>
          </p:nvPr>
        </p:nvSpPr>
        <p:spPr>
          <a:xfrm>
            <a:off x="3843338" y="0"/>
            <a:ext cx="2938463" cy="496888"/>
          </a:xfrm>
          <a:prstGeom prst="rect">
            <a:avLst/>
          </a:prstGeom>
          <a:noFill/>
          <a:ln w="9525">
            <a:noFill/>
          </a:ln>
        </p:spPr>
        <p:txBody>
          <a:bodyPr/>
          <a:lstStyle>
            <a:lvl1pPr algn="r" eaLnBrk="1" hangingPunct="1">
              <a:buFont typeface="Arial" panose="020B0604020202020204" pitchFamily="34" charset="0"/>
              <a:buNone/>
              <a:defRPr sz="1200" b="0" noProof="1">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124" name="Rectangle 4"/>
          <p:cNvSpPr>
            <a:spLocks noGrp="1"/>
          </p:cNvSpPr>
          <p:nvPr>
            <p:ph type="sldImg"/>
          </p:nvPr>
        </p:nvSpPr>
        <p:spPr>
          <a:xfrm>
            <a:off x="909638" y="744538"/>
            <a:ext cx="4964112" cy="3722687"/>
          </a:xfrm>
          <a:prstGeom prst="rect">
            <a:avLst/>
          </a:prstGeom>
          <a:noFill/>
          <a:ln w="9525">
            <a:noFill/>
          </a:ln>
        </p:spPr>
      </p:sp>
      <p:sp>
        <p:nvSpPr>
          <p:cNvPr id="6149" name="Rectangle 5"/>
          <p:cNvSpPr>
            <a:spLocks noGrp="1" noChangeArrowheads="1"/>
          </p:cNvSpPr>
          <p:nvPr>
            <p:ph type="body" sz="quarter" idx="4294967295"/>
          </p:nvPr>
        </p:nvSpPr>
        <p:spPr bwMode="auto">
          <a:xfrm>
            <a:off x="904875" y="4714875"/>
            <a:ext cx="4972050"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第二级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第三级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第四级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rPr>
              <a:t>第五级</a:t>
            </a:r>
            <a:endParaRPr kumimoji="0" lang="zh-CN" altLang="en-US" sz="12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endParaRPr>
          </a:p>
        </p:txBody>
      </p:sp>
      <p:sp>
        <p:nvSpPr>
          <p:cNvPr id="3078" name="Rectangle 6"/>
          <p:cNvSpPr>
            <a:spLocks noGrp="1"/>
          </p:cNvSpPr>
          <p:nvPr>
            <p:ph type="ftr" sz="quarter" idx="4"/>
          </p:nvPr>
        </p:nvSpPr>
        <p:spPr>
          <a:xfrm>
            <a:off x="0" y="9429750"/>
            <a:ext cx="2938463" cy="496888"/>
          </a:xfrm>
          <a:prstGeom prst="rect">
            <a:avLst/>
          </a:prstGeom>
          <a:noFill/>
          <a:ln w="9525">
            <a:noFill/>
          </a:ln>
        </p:spPr>
        <p:txBody>
          <a:bodyPr anchor="b"/>
          <a:lstStyle>
            <a:lvl1pPr eaLnBrk="1" hangingPunct="1">
              <a:buFont typeface="Arial" panose="020B0604020202020204" pitchFamily="34" charset="0"/>
              <a:buNone/>
              <a:defRPr sz="1200" b="0" noProof="1">
                <a:latin typeface="Times New Roman" panose="02020603050405020304" pitchFamily="18" charset="0"/>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p:cNvSpPr>
          <p:nvPr>
            <p:ph type="sldNum" sz="quarter" idx="5"/>
          </p:nvPr>
        </p:nvSpPr>
        <p:spPr>
          <a:xfrm>
            <a:off x="3843338" y="9429750"/>
            <a:ext cx="2938463" cy="496888"/>
          </a:xfrm>
          <a:prstGeom prst="rect">
            <a:avLst/>
          </a:prstGeom>
          <a:noFill/>
          <a:ln w="9525">
            <a:noFill/>
          </a:ln>
        </p:spPr>
        <p:txBody>
          <a:bodyPr anchor="b"/>
          <a:lstStyle>
            <a:lvl1pPr algn="r" eaLnBrk="1" hangingPunct="1">
              <a:buFont typeface="Arial" panose="020B0604020202020204" pitchFamily="34" charset="0"/>
              <a:buNone/>
              <a:defRPr sz="1200" b="0" noProof="1">
                <a:latin typeface="Times New Roman" panose="02020603050405020304" pitchFamily="18" charset="0"/>
                <a:cs typeface="+mn-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1D35A5-8EB6-4FCB-B174-2C2484E78006}" type="slidenum">
              <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ea"/>
              </a:rPr>
            </a:fld>
            <a:endParaRPr kumimoji="0" lang="en-US" altLang="x-none" sz="1200" b="0" i="0" u="none" strike="noStrike" kern="1200" cap="none" spc="0" normalizeH="0" baseline="0" noProof="1">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1pPr>
    <a:lvl2pPr marL="457200" lvl="1"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2pPr>
    <a:lvl3pPr marL="914400" lvl="2"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3pPr>
    <a:lvl4pPr marL="1371600" lvl="3"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4pPr>
    <a:lvl5pPr marL="1828800" lvl="4"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defRPr>
    </a:lvl5pPr>
    <a:lvl6pPr marL="2286000" lvl="5"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eaLnBrk="0" fontAlgn="base" latinLnBrk="0" hangingPunct="0">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p:nvPr>
        </p:nvSpPr>
        <p:spPr>
          <a:ln/>
        </p:spPr>
        <p:txBody>
          <a:bodyPr wrap="square" lIns="91440" tIns="45720" rIns="91440" bIns="45720" anchor="t" anchorCtr="0"/>
          <a:p>
            <a:pPr lvl="0"/>
            <a:r>
              <a:rPr lang="zh-CN" altLang="en-US" dirty="0"/>
              <a:t>关系数据库与层次数据库和网状数据库相比，其优点之一是关系数据库简单，其二是其具有坚实的理论基础，其理论基础之一就是本节要学习的关系代数和关系运算，其二就是第六章要介绍的函数依赖与关系优化理论</a:t>
            </a:r>
            <a:endParaRPr lang="en-US" altLang="zh-CN" dirty="0"/>
          </a:p>
          <a:p>
            <a:pPr lvl="0"/>
            <a:endParaRPr lang="en-US" altLang="zh-CN" dirty="0"/>
          </a:p>
          <a:p>
            <a:pPr lvl="0"/>
            <a:r>
              <a:rPr lang="zh-CN" altLang="en-US" dirty="0"/>
              <a:t>关系代数与</a:t>
            </a:r>
            <a:r>
              <a:rPr lang="en-US" altLang="zh-CN" dirty="0"/>
              <a:t>DDL</a:t>
            </a:r>
            <a:r>
              <a:rPr lang="zh-CN" altLang="en-US" dirty="0"/>
              <a:t>的区别：关系代数注重关系的查询（通过关系的并交差运算也可完成数据的插入和删除），</a:t>
            </a:r>
            <a:r>
              <a:rPr lang="en-US" altLang="zh-CN" dirty="0"/>
              <a:t>SQL</a:t>
            </a:r>
            <a:r>
              <a:rPr lang="zh-CN" altLang="en-US" dirty="0"/>
              <a:t>除数据的增删查改操作外，还具有数据结构定义、数据完整性定义、事务和安全设置等方面的功能，关系代数式</a:t>
            </a:r>
            <a:r>
              <a:rPr lang="en-US" altLang="zh-CN" dirty="0"/>
              <a:t>SQL</a:t>
            </a:r>
            <a:r>
              <a:rPr lang="zh-CN" altLang="en-US" dirty="0"/>
              <a:t>语言形成的基础</a:t>
            </a:r>
            <a:endParaRPr lang="zh-CN" altLang="en-US" dirty="0"/>
          </a:p>
        </p:txBody>
      </p:sp>
      <p:sp>
        <p:nvSpPr>
          <p:cNvPr id="133124"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p:nvPr>
        </p:nvSpPr>
        <p:spPr>
          <a:ln/>
        </p:spPr>
        <p:txBody>
          <a:bodyPr wrap="square" lIns="91440" tIns="45720" rIns="91440" bIns="45720" anchor="t" anchorCtr="0"/>
          <a:p>
            <a:pPr lvl="0"/>
            <a:r>
              <a:rPr lang="zh-CN" altLang="en-US" dirty="0"/>
              <a:t>关系的基本预算类似于我们小学和初中学过的集合，因为关系就是数据元祖的集合</a:t>
            </a:r>
            <a:endParaRPr lang="en-US" altLang="zh-CN" dirty="0"/>
          </a:p>
          <a:p>
            <a:pPr lvl="0"/>
            <a:r>
              <a:rPr lang="zh-CN" altLang="en-US" dirty="0"/>
              <a:t>关系代数中关系运算根据操作符的含义及作用可分为：基本操作符、特殊操作符和附加操作符三类。</a:t>
            </a:r>
            <a:endParaRPr lang="en-US" altLang="zh-CN" dirty="0"/>
          </a:p>
          <a:p>
            <a:pPr lvl="0"/>
            <a:r>
              <a:rPr lang="zh-CN" altLang="en-US" dirty="0"/>
              <a:t>基本操作符中的一元操作符有</a:t>
            </a:r>
            <a:r>
              <a:rPr lang="en-US" altLang="zh-CN" dirty="0"/>
              <a:t>Selection(</a:t>
            </a:r>
            <a:r>
              <a:rPr lang="zh-CN" altLang="en-US" dirty="0"/>
              <a:t>选择）和</a:t>
            </a:r>
            <a:r>
              <a:rPr lang="en-US" altLang="zh-CN" dirty="0"/>
              <a:t>Projection</a:t>
            </a:r>
            <a:r>
              <a:rPr lang="zh-CN" altLang="en-US" dirty="0"/>
              <a:t>（投影）两类，其余为二元操作符。</a:t>
            </a:r>
            <a:endParaRPr lang="en-US" altLang="zh-CN" dirty="0"/>
          </a:p>
          <a:p>
            <a:pPr lvl="0"/>
            <a:r>
              <a:rPr lang="zh-CN" altLang="en-US" dirty="0"/>
              <a:t>在数学中，两个集合</a:t>
            </a:r>
            <a:r>
              <a:rPr lang="en-US" altLang="zh-CN" i="1" dirty="0"/>
              <a:t>X</a:t>
            </a:r>
            <a:r>
              <a:rPr lang="zh-CN" altLang="en-US" dirty="0"/>
              <a:t>和</a:t>
            </a:r>
            <a:r>
              <a:rPr lang="en-US" altLang="zh-CN" i="1" dirty="0"/>
              <a:t>Y</a:t>
            </a:r>
            <a:r>
              <a:rPr lang="zh-CN" altLang="en-US" dirty="0"/>
              <a:t>的</a:t>
            </a:r>
            <a:r>
              <a:rPr lang="zh-CN" altLang="en-US" b="1" dirty="0"/>
              <a:t>笛卡儿积</a:t>
            </a:r>
            <a:r>
              <a:rPr lang="zh-CN" altLang="en-US" dirty="0"/>
              <a:t>（</a:t>
            </a:r>
            <a:r>
              <a:rPr lang="en-US" altLang="zh-CN" dirty="0"/>
              <a:t>Cartesian product</a:t>
            </a:r>
            <a:r>
              <a:rPr lang="zh-CN" altLang="en-US" dirty="0"/>
              <a:t>），又称</a:t>
            </a:r>
            <a:r>
              <a:rPr lang="zh-CN" altLang="en-US" b="1" dirty="0"/>
              <a:t>直积</a:t>
            </a:r>
            <a:r>
              <a:rPr lang="zh-CN" altLang="en-US" dirty="0"/>
              <a:t>，表示为</a:t>
            </a:r>
            <a:r>
              <a:rPr lang="en-US" altLang="zh-CN" i="1" dirty="0"/>
              <a:t>X</a:t>
            </a:r>
            <a:r>
              <a:rPr lang="zh-CN" altLang="en-US" dirty="0"/>
              <a:t> </a:t>
            </a:r>
            <a:r>
              <a:rPr lang="en-US" altLang="zh-CN" dirty="0"/>
              <a:t>× </a:t>
            </a:r>
            <a:r>
              <a:rPr lang="en-US" altLang="zh-CN" i="1" dirty="0"/>
              <a:t>Y</a:t>
            </a:r>
            <a:r>
              <a:rPr lang="zh-CN" altLang="en-US" dirty="0"/>
              <a:t>，第一个对象是</a:t>
            </a:r>
            <a:r>
              <a:rPr lang="en-US" altLang="zh-CN" i="1" dirty="0"/>
              <a:t>X</a:t>
            </a:r>
            <a:r>
              <a:rPr lang="zh-CN" altLang="en-US" dirty="0"/>
              <a:t>的成员而第二个对象是</a:t>
            </a:r>
            <a:r>
              <a:rPr lang="en-US" altLang="zh-CN" i="1" dirty="0"/>
              <a:t>Y</a:t>
            </a:r>
            <a:r>
              <a:rPr lang="zh-CN" altLang="en-US" dirty="0"/>
              <a:t>的所有可能有序对的其中一</a:t>
            </a:r>
            <a:r>
              <a:rPr lang="zh-CN" altLang="en-US" b="1" dirty="0"/>
              <a:t>个成员</a:t>
            </a:r>
            <a:r>
              <a:rPr lang="zh-CN" altLang="en-US" dirty="0"/>
              <a:t>。</a:t>
            </a:r>
            <a:endParaRPr lang="zh-CN" altLang="en-US" dirty="0"/>
          </a:p>
          <a:p>
            <a:pPr lvl="0"/>
            <a:r>
              <a:rPr lang="zh-CN" altLang="en-US" dirty="0"/>
              <a:t>假设集合</a:t>
            </a:r>
            <a:r>
              <a:rPr lang="en-US" altLang="zh-CN" dirty="0"/>
              <a:t>A={a,b}</a:t>
            </a:r>
            <a:r>
              <a:rPr lang="zh-CN" altLang="en-US" dirty="0"/>
              <a:t>，集合</a:t>
            </a:r>
            <a:r>
              <a:rPr lang="en-US" altLang="zh-CN" dirty="0"/>
              <a:t>B={0,1,2}</a:t>
            </a:r>
            <a:r>
              <a:rPr lang="zh-CN" altLang="en-US" dirty="0"/>
              <a:t>，则两个集合的笛卡尔积为</a:t>
            </a:r>
            <a:r>
              <a:rPr lang="en-US" altLang="zh-CN" dirty="0"/>
              <a:t>{(a,0),(a,1),(a,2),(b,0),(b,1), (b,2)}</a:t>
            </a:r>
            <a:r>
              <a:rPr lang="zh-CN" altLang="en-US" dirty="0"/>
              <a:t>。</a:t>
            </a:r>
            <a:endParaRPr lang="zh-CN" altLang="en-US" dirty="0"/>
          </a:p>
          <a:p>
            <a:pPr lvl="0"/>
            <a:endParaRPr lang="zh-CN" altLang="en-US" dirty="0"/>
          </a:p>
        </p:txBody>
      </p:sp>
      <p:sp>
        <p:nvSpPr>
          <p:cNvPr id="135172"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p:nvPr>
        </p:nvSpPr>
        <p:spPr>
          <a:ln/>
        </p:spPr>
        <p:txBody>
          <a:bodyPr wrap="square" lIns="91440" tIns="45720" rIns="91440" bIns="45720" anchor="t" anchorCtr="0"/>
          <a:p>
            <a:pPr lvl="0"/>
            <a:r>
              <a:rPr lang="zh-CN" altLang="en-US" dirty="0">
                <a:latin typeface="宋体" panose="02010600030101010101" pitchFamily="2" charset="-122"/>
              </a:rPr>
              <a:t> 选择和投影的基本特点是都是一元操作符。 </a:t>
            </a:r>
            <a:endParaRPr lang="zh-CN" altLang="en-US" dirty="0"/>
          </a:p>
        </p:txBody>
      </p:sp>
      <p:sp>
        <p:nvSpPr>
          <p:cNvPr id="137220"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49506" name="幻灯片图像占位符 1"/>
          <p:cNvSpPr>
            <a:spLocks noGrp="1" noRot="1" noChangeAspect="1" noTextEdit="1"/>
          </p:cNvSpPr>
          <p:nvPr>
            <p:ph type="sldImg"/>
          </p:nvPr>
        </p:nvSpPr>
        <p:spPr>
          <a:ln/>
        </p:spPr>
      </p:sp>
      <p:sp>
        <p:nvSpPr>
          <p:cNvPr id="149507" name="备注占位符 2"/>
          <p:cNvSpPr>
            <a:spLocks noGrp="1"/>
          </p:cNvSpPr>
          <p:nvPr>
            <p:ph type="body"/>
          </p:nvPr>
        </p:nvSpPr>
        <p:spPr>
          <a:ln/>
        </p:spPr>
        <p:txBody>
          <a:bodyPr wrap="square" lIns="91440" tIns="45720" rIns="91440" bIns="45720" anchor="t" anchorCtr="0"/>
          <a:p>
            <a:pPr lvl="0"/>
            <a:r>
              <a:rPr lang="zh-CN" altLang="en-US" dirty="0"/>
              <a:t>笛卡尔，</a:t>
            </a:r>
            <a:r>
              <a:rPr lang="en-US" altLang="zh-CN" dirty="0"/>
              <a:t>1596</a:t>
            </a:r>
            <a:r>
              <a:rPr lang="zh-CN" altLang="en-US" dirty="0"/>
              <a:t>年</a:t>
            </a:r>
            <a:r>
              <a:rPr lang="en-US" altLang="zh-CN" dirty="0"/>
              <a:t>3</a:t>
            </a:r>
            <a:r>
              <a:rPr lang="zh-CN" altLang="en-US" dirty="0"/>
              <a:t>月</a:t>
            </a:r>
            <a:r>
              <a:rPr lang="en-US" altLang="zh-CN" dirty="0"/>
              <a:t>31</a:t>
            </a:r>
            <a:r>
              <a:rPr lang="zh-CN" altLang="en-US" dirty="0"/>
              <a:t>日生于法国安德尔</a:t>
            </a:r>
            <a:r>
              <a:rPr lang="en-US" altLang="zh-CN" dirty="0"/>
              <a:t>-</a:t>
            </a:r>
            <a:r>
              <a:rPr lang="zh-CN" altLang="en-US" dirty="0"/>
              <a:t>卢瓦尔省的图赖讷拉海</a:t>
            </a:r>
            <a:r>
              <a:rPr lang="en-US" altLang="zh-CN" dirty="0"/>
              <a:t>,</a:t>
            </a:r>
            <a:r>
              <a:rPr lang="zh-CN" altLang="en-US" dirty="0"/>
              <a:t>近现代法国哲学家、物理学家、数学家。</a:t>
            </a:r>
            <a:endParaRPr lang="en-US" altLang="zh-CN" dirty="0"/>
          </a:p>
          <a:p>
            <a:pPr lvl="0"/>
            <a:r>
              <a:rPr lang="zh-CN" altLang="en-US" dirty="0"/>
              <a:t>他对现代数学的发展做出了重要的贡献，因将几何坐标体系公式化而被认为是解析几何之父。</a:t>
            </a:r>
            <a:endParaRPr lang="en-US" altLang="zh-CN" dirty="0"/>
          </a:p>
          <a:p>
            <a:pPr lvl="0"/>
            <a:r>
              <a:rPr lang="en-US" altLang="zh-CN" dirty="0"/>
              <a:t>1</a:t>
            </a:r>
            <a:r>
              <a:rPr lang="zh-CN" altLang="en-US" dirty="0"/>
              <a:t>岁多时母亲患肺结核去世，而他也受到传染，造成体弱多病。</a:t>
            </a:r>
            <a:endParaRPr lang="en-US" altLang="zh-CN" dirty="0"/>
          </a:p>
          <a:p>
            <a:pPr lvl="0"/>
            <a:r>
              <a:rPr lang="zh-CN" altLang="en-US" dirty="0"/>
              <a:t>父亲希望他成为律师愿望，他大学时代学的是法律和医学</a:t>
            </a:r>
            <a:endParaRPr lang="en-US" altLang="zh-CN" dirty="0"/>
          </a:p>
          <a:p>
            <a:pPr lvl="0"/>
            <a:r>
              <a:rPr lang="zh-CN" altLang="en-US" dirty="0"/>
              <a:t>据说有一天，笛卡尔生病卧床，病情很重，突然，他看见屋顶角上的一只蜘蛛，拉着丝垂了下来。一会功夫，蜘蛛又顺这丝爬上去，在上边左右拉丝。蜘蛛的“表演”使笛卡尔的思路豁然开朗。他想，可以把蜘蛛看作一个点。他在屋子里可以上，下，左，右运动，能不能把蜘蛛的每一个位置用一组数确定下来呢？他又想，屋子里相邻的两面墙与地面交出了三条线，如果把地面上的墙角作为起点，把交出来的三条线作为三根数轴，那么空间中任意一点的位置就可以在这三根数轴上找到有顺序的三个数。反过来，任意给一组三个有顺序的数也可以在空间中找到一点</a:t>
            </a:r>
            <a:r>
              <a:rPr lang="en-US" altLang="zh-CN" dirty="0"/>
              <a:t>P</a:t>
            </a:r>
            <a:r>
              <a:rPr lang="zh-CN" altLang="en-US" dirty="0"/>
              <a:t>与之对应，同样道理，用一组数（</a:t>
            </a:r>
            <a:r>
              <a:rPr lang="en-US" altLang="zh-CN" dirty="0"/>
              <a:t>X</a:t>
            </a:r>
            <a:r>
              <a:rPr lang="zh-CN" altLang="en-US" dirty="0"/>
              <a:t>，</a:t>
            </a:r>
            <a:r>
              <a:rPr lang="en-US" altLang="zh-CN" dirty="0"/>
              <a:t>Y</a:t>
            </a:r>
            <a:r>
              <a:rPr lang="zh-CN" altLang="en-US" dirty="0"/>
              <a:t>）可以表示平面上的一个点，平面上的一个点也可以用一组两个有顺序的数来表示，这就是坐标系的雏形。</a:t>
            </a:r>
            <a:endParaRPr lang="en-US" altLang="zh-CN" dirty="0"/>
          </a:p>
          <a:p>
            <a:pPr lvl="0"/>
            <a:endParaRPr lang="zh-CN" altLang="en-US" dirty="0"/>
          </a:p>
        </p:txBody>
      </p:sp>
      <p:sp>
        <p:nvSpPr>
          <p:cNvPr id="149508"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p:sp>
        <p:nvSpPr>
          <p:cNvPr id="151554" name="幻灯片图像占位符 1"/>
          <p:cNvSpPr>
            <a:spLocks noGrp="1" noRot="1" noChangeAspect="1" noTextEdit="1"/>
          </p:cNvSpPr>
          <p:nvPr>
            <p:ph type="sldImg"/>
          </p:nvPr>
        </p:nvSpPr>
        <p:spPr>
          <a:ln/>
        </p:spPr>
      </p:sp>
      <p:sp>
        <p:nvSpPr>
          <p:cNvPr id="151555" name="备注占位符 2"/>
          <p:cNvSpPr>
            <a:spLocks noGrp="1"/>
          </p:cNvSpPr>
          <p:nvPr>
            <p:ph type="body"/>
          </p:nvPr>
        </p:nvSpPr>
        <p:spPr>
          <a:ln/>
        </p:spPr>
        <p:txBody>
          <a:bodyPr wrap="square" lIns="91440" tIns="45720" rIns="91440" bIns="45720" anchor="t" anchorCtr="0"/>
          <a:p>
            <a:pPr lvl="0"/>
            <a:r>
              <a:rPr lang="zh-CN" altLang="en-US" dirty="0"/>
              <a:t>笛卡尔，</a:t>
            </a:r>
            <a:r>
              <a:rPr lang="en-US" altLang="zh-CN" dirty="0"/>
              <a:t>1596</a:t>
            </a:r>
            <a:r>
              <a:rPr lang="zh-CN" altLang="en-US" dirty="0"/>
              <a:t>年</a:t>
            </a:r>
            <a:r>
              <a:rPr lang="en-US" altLang="zh-CN" dirty="0"/>
              <a:t>3</a:t>
            </a:r>
            <a:r>
              <a:rPr lang="zh-CN" altLang="en-US" dirty="0"/>
              <a:t>月</a:t>
            </a:r>
            <a:r>
              <a:rPr lang="en-US" altLang="zh-CN" dirty="0"/>
              <a:t>31</a:t>
            </a:r>
            <a:r>
              <a:rPr lang="zh-CN" altLang="en-US" dirty="0"/>
              <a:t>日生于法国安德尔</a:t>
            </a:r>
            <a:r>
              <a:rPr lang="en-US" altLang="zh-CN" dirty="0"/>
              <a:t>-</a:t>
            </a:r>
            <a:r>
              <a:rPr lang="zh-CN" altLang="en-US" dirty="0"/>
              <a:t>卢瓦尔省的图赖讷拉海</a:t>
            </a:r>
            <a:r>
              <a:rPr lang="en-US" altLang="zh-CN" dirty="0"/>
              <a:t>,</a:t>
            </a:r>
            <a:r>
              <a:rPr lang="zh-CN" altLang="en-US" dirty="0"/>
              <a:t>近现代法国哲学家、物理学家、数学家。</a:t>
            </a:r>
            <a:endParaRPr lang="en-US" altLang="zh-CN" dirty="0"/>
          </a:p>
          <a:p>
            <a:pPr lvl="0"/>
            <a:r>
              <a:rPr lang="zh-CN" altLang="en-US" dirty="0"/>
              <a:t>他对现代数学的发展做出了重要的贡献，因将几何坐标体系公式化而被认为是解析几何之父。</a:t>
            </a:r>
            <a:endParaRPr lang="en-US" altLang="zh-CN" dirty="0"/>
          </a:p>
          <a:p>
            <a:pPr lvl="0"/>
            <a:r>
              <a:rPr lang="en-US" altLang="zh-CN" dirty="0"/>
              <a:t>1</a:t>
            </a:r>
            <a:r>
              <a:rPr lang="zh-CN" altLang="en-US" dirty="0"/>
              <a:t>岁多时母亲患肺结核去世，而他也受到传染，造成体弱多病。</a:t>
            </a:r>
            <a:endParaRPr lang="en-US" altLang="zh-CN" dirty="0"/>
          </a:p>
          <a:p>
            <a:pPr lvl="0"/>
            <a:r>
              <a:rPr lang="zh-CN" altLang="en-US" dirty="0"/>
              <a:t>父亲希望他成为律师愿望，他大学时代学的是法律和医学</a:t>
            </a:r>
            <a:endParaRPr lang="en-US" altLang="zh-CN" dirty="0"/>
          </a:p>
          <a:p>
            <a:pPr lvl="0"/>
            <a:r>
              <a:rPr lang="zh-CN" altLang="en-US" dirty="0"/>
              <a:t>据说有一天，笛卡尔生病卧床，病情很重，突然，他看见屋顶角上的一只蜘蛛，拉着丝垂了下来。一会功夫，蜘蛛又顺这丝爬上去，在上边左右拉丝。蜘蛛的“表演”使笛卡尔的思路豁然开朗。他想，可以把蜘蛛看作一个点。他在屋子里可以上，下，左，右运动，能不能把蜘蛛的每一个位置用一组数确定下来呢？他又想，屋子里相邻的两面墙与地面交出了三条线，如果把地面上的墙角作为起点，把交出来的三条线作为三根数轴，那么空间中任意一点的位置就可以在这三根数轴上找到有顺序的三个数。反过来，任意给一组三个有顺序的数也可以在空间中找到一点</a:t>
            </a:r>
            <a:r>
              <a:rPr lang="en-US" altLang="zh-CN" dirty="0"/>
              <a:t>P</a:t>
            </a:r>
            <a:r>
              <a:rPr lang="zh-CN" altLang="en-US" dirty="0"/>
              <a:t>与之对应，同样道理，用一组数（</a:t>
            </a:r>
            <a:r>
              <a:rPr lang="en-US" altLang="zh-CN" dirty="0"/>
              <a:t>X</a:t>
            </a:r>
            <a:r>
              <a:rPr lang="zh-CN" altLang="en-US" dirty="0"/>
              <a:t>，</a:t>
            </a:r>
            <a:r>
              <a:rPr lang="en-US" altLang="zh-CN" dirty="0"/>
              <a:t>Y</a:t>
            </a:r>
            <a:r>
              <a:rPr lang="zh-CN" altLang="en-US" dirty="0"/>
              <a:t>）可以表示平面上的一个点，平面上的一个点也可以用一组两个有顺序的数来表示，这就是坐标系的雏形。</a:t>
            </a:r>
            <a:endParaRPr lang="en-US" altLang="zh-CN" dirty="0"/>
          </a:p>
          <a:p>
            <a:pPr lvl="0"/>
            <a:endParaRPr lang="zh-CN" altLang="en-US" dirty="0"/>
          </a:p>
        </p:txBody>
      </p:sp>
      <p:sp>
        <p:nvSpPr>
          <p:cNvPr id="151556" name="灯片编号占位符 3"/>
          <p:cNvSpPr txBox="1">
            <a:spLocks noGrp="1"/>
          </p:cNvSpPr>
          <p:nvPr/>
        </p:nvSpPr>
        <p:spPr>
          <a:xfrm>
            <a:off x="3843338" y="9429750"/>
            <a:ext cx="2938462" cy="496888"/>
          </a:xfrm>
          <a:prstGeom prst="rect">
            <a:avLst/>
          </a:prstGeom>
          <a:noFill/>
          <a:ln w="9525">
            <a:noFill/>
          </a:ln>
        </p:spPr>
        <p:txBody>
          <a:bodyPr anchor="b" anchorCtr="0"/>
          <a:p>
            <a:pPr lvl="0" algn="r" eaLnBrk="1" hangingPunct="1"/>
            <a:fld id="{9A0DB2DC-4C9A-4742-B13C-FB6460FD3503}" type="slidenum">
              <a:rPr lang="en-US" altLang="zh-CN" sz="1200" b="0" dirty="0">
                <a:latin typeface="Times New Roman" panose="02020603050405020304" pitchFamily="18" charset="0"/>
              </a:rPr>
            </a:fld>
            <a:endParaRPr lang="en-US" altLang="zh-CN" sz="1200" b="0" dirty="0">
              <a:latin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smtClean="0"/>
              <a:t>单击此处编辑母版副标题样式</a:t>
            </a:r>
            <a:endParaRPr lang="zh-CN" altLang="en-US" noProof="1"/>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654296" y="996950"/>
            <a:ext cx="4032504" cy="5129213"/>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890081" y="1778438"/>
            <a:ext cx="3655181"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92704" y="1778438"/>
            <a:ext cx="3673182" cy="823912"/>
          </a:xfrm>
        </p:spPr>
        <p:txBody>
          <a:bodyPr anchor="ctr"/>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noProof="1" smtClean="0"/>
              <a:t>单击此处编辑母版文本样式</a:t>
            </a:r>
            <a:endParaRPr lang="zh-CN" altLang="en-US" noProof="1"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3887391" y="457201"/>
            <a:ext cx="4629150" cy="5403850"/>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0" fontAlgn="base" latinLnBrk="0" hangingPunct="0">
              <a:lnSpc>
                <a:spcPct val="100000"/>
              </a:lnSpc>
              <a:spcBef>
                <a:spcPct val="20000"/>
              </a:spcBef>
              <a:spcAft>
                <a:spcPct val="0"/>
              </a:spcAft>
              <a:buClr>
                <a:srgbClr val="0033CC"/>
              </a:buClr>
              <a:buSzPct val="80000"/>
              <a:buFont typeface="Wingdings" panose="05000000000000000000" pitchFamily="2" charset="2"/>
              <a:buNone/>
              <a:defRPr/>
            </a:pPr>
            <a:endParaRPr kumimoji="0" lang="zh-CN" altLang="en-US" sz="2400" b="1" i="0" u="none" strike="noStrike" kern="1200" cap="none" spc="0" normalizeH="0" baseline="0" noProof="1">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noProof="1" smtClean="0"/>
              <a:t>单击此处编辑母版文本样式</a:t>
            </a:r>
            <a:endParaRPr lang="zh-CN" altLang="en-US" noProof="1" smtClean="0"/>
          </a:p>
        </p:txBody>
      </p:sp>
    </p:spTree>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44463"/>
            <a:ext cx="2057400" cy="5981700"/>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44463"/>
            <a:ext cx="6052930" cy="5981700"/>
          </a:xfrm>
        </p:spPr>
        <p:txBody>
          <a:bodyPr vert="eaVert"/>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1026" name="Rectangle 9"/>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6"/>
          <p:cNvSpPr>
            <a:spLocks noChangeArrowheads="1"/>
          </p:cNvSpPr>
          <p:nvPr/>
        </p:nvSpPr>
        <p:spPr bwMode="auto">
          <a:xfrm>
            <a:off x="2463800" y="6472238"/>
            <a:ext cx="4240213"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2024~2025</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年度第二学期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1028"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79DDD4-18AA-43C0-828F-B574A355D34F}"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1030"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1"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2050" name="Rectangle 2"/>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ChangeArrowheads="1"/>
          </p:cNvSpPr>
          <p:nvPr/>
        </p:nvSpPr>
        <p:spPr bwMode="auto">
          <a:xfrm>
            <a:off x="3165475" y="6472238"/>
            <a:ext cx="2979738" cy="386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2024~2025</a:t>
            </a:r>
            <a:r>
              <a:rPr kumimoji="0" lang="zh-CN"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rPr>
              <a:t>年度第二学期</a:t>
            </a:r>
            <a:endParaRPr kumimoji="0" lang="zh-CN" altLang="en-US" sz="1600" b="0" i="0" u="none" strike="noStrike" kern="1200" cap="none" spc="0" normalizeH="0" baseline="0" noProof="0" dirty="0" smtClean="0">
              <a:ln>
                <a:noFill/>
              </a:ln>
              <a:solidFill>
                <a:schemeClr val="bg1"/>
              </a:solidFill>
              <a:effectLst/>
              <a:uLnTx/>
              <a:uFillTx/>
              <a:latin typeface="Arial" panose="020B0604020202020204" pitchFamily="34" charset="0"/>
              <a:ea typeface="黑体" panose="02010609060101010101" pitchFamily="49" charset="-122"/>
              <a:cs typeface="+mn-cs"/>
            </a:endParaRPr>
          </a:p>
        </p:txBody>
      </p:sp>
      <p:sp>
        <p:nvSpPr>
          <p:cNvPr id="2052" name="Rectangle 4"/>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Rectangle 5"/>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151677D-2664-4DA7-8D26-34D4199D45C0}"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2054" name="Rectangle 6"/>
          <p:cNvSpPr>
            <a:spLocks noChangeArrowheads="1"/>
          </p:cNvSpPr>
          <p:nvPr/>
        </p:nvSpPr>
        <p:spPr bwMode="auto">
          <a:xfrm>
            <a:off x="309563" y="174625"/>
            <a:ext cx="7237413"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8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Principle and Design of Database</a:t>
            </a:r>
            <a:endParaRPr kumimoji="0" lang="en-US" altLang="zh-CN" sz="2000" b="1"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endParaRPr>
          </a:p>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800" b="1" i="0" u="none" strike="noStrike" kern="1200" cap="none" spc="0" normalizeH="0" baseline="0" noProof="0" smtClean="0">
              <a:ln>
                <a:noFill/>
              </a:ln>
              <a:solidFill>
                <a:srgbClr val="FF3300"/>
              </a:solidFill>
              <a:effectLst/>
              <a:uLnTx/>
              <a:uFillTx/>
              <a:latin typeface="黑体" panose="02010609060101010101" pitchFamily="49" charset="-122"/>
              <a:ea typeface="黑体" panose="02010609060101010101" pitchFamily="49" charset="-122"/>
              <a:cs typeface="+mn-cs"/>
            </a:endParaRPr>
          </a:p>
        </p:txBody>
      </p:sp>
      <p:sp>
        <p:nvSpPr>
          <p:cNvPr id="2055"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6"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3074" name="Rectangle 9"/>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6"/>
          <p:cNvSpPr>
            <a:spLocks noChangeArrowheads="1"/>
          </p:cNvSpPr>
          <p:nvPr/>
        </p:nvSpPr>
        <p:spPr bwMode="auto">
          <a:xfrm>
            <a:off x="2463800" y="6472238"/>
            <a:ext cx="4240213" cy="38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2022~2023</a:t>
            </a:r>
            <a:r>
              <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rPr>
              <a:t>年度第二学期</a:t>
            </a:r>
            <a:endParaRPr kumimoji="0" lang="zh-CN" altLang="en-US" sz="1600" b="1" i="0" u="none" strike="noStrike" kern="1200" cap="none" spc="0" normalizeH="0" baseline="0" noProof="0" dirty="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3076"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7"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58D446-BE80-4FBB-926D-F2C4593DE8B0}"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3078"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9"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CCECFF"/>
            </a:gs>
          </a:gsLst>
          <a:lin ang="5400000" scaled="1"/>
          <a:tileRect/>
        </a:gradFill>
        <a:effectLst/>
      </p:bgPr>
    </p:bg>
    <p:spTree>
      <p:nvGrpSpPr>
        <p:cNvPr id="1" name=""/>
        <p:cNvGrpSpPr/>
        <p:nvPr/>
      </p:nvGrpSpPr>
      <p:grpSpPr/>
      <p:sp>
        <p:nvSpPr>
          <p:cNvPr id="4098" name="Rectangle 9"/>
          <p:cNvSpPr>
            <a:spLocks noChangeArrowheads="1"/>
          </p:cNvSpPr>
          <p:nvPr/>
        </p:nvSpPr>
        <p:spPr bwMode="auto">
          <a:xfrm>
            <a:off x="-12700" y="6489700"/>
            <a:ext cx="9156700" cy="368300"/>
          </a:xfrm>
          <a:prstGeom prst="rect">
            <a:avLst/>
          </a:prstGeom>
          <a:solidFill>
            <a:schemeClr val="accent2">
              <a:alpha val="81175"/>
            </a:schemeClr>
          </a:solidFill>
          <a:ln w="9525">
            <a:solidFill>
              <a:schemeClr val="tx1"/>
            </a:solidFill>
            <a:miter lim="800000"/>
          </a:ln>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099" name="Rectangle 6"/>
          <p:cNvSpPr>
            <a:spLocks noChangeArrowheads="1"/>
          </p:cNvSpPr>
          <p:nvPr/>
        </p:nvSpPr>
        <p:spPr bwMode="auto">
          <a:xfrm>
            <a:off x="2463800" y="6472238"/>
            <a:ext cx="42402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0000"/>
              </a:lnSpc>
              <a:spcBef>
                <a:spcPct val="0"/>
              </a:spcBef>
              <a:spcAft>
                <a:spcPct val="0"/>
              </a:spcAft>
              <a:buClrTx/>
              <a:buSzTx/>
              <a:buFont typeface="Arial" panose="020B0604020202020204" pitchFamily="34" charset="0"/>
              <a:buNone/>
              <a:defRPr/>
            </a:pPr>
            <a:r>
              <a:rPr kumimoji="0" lang="en-US" altLang="zh-CN" sz="16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rPr>
              <a:t>2014~2015</a:t>
            </a:r>
            <a:r>
              <a:rPr kumimoji="0" lang="zh-CN" altLang="en-US" sz="16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rPr>
              <a:t>年度第二学期</a:t>
            </a:r>
            <a:endParaRPr kumimoji="0" lang="zh-CN" altLang="en-US" sz="1600" b="1" i="0" u="none" strike="noStrike" kern="1200" cap="none" spc="0" normalizeH="0" baseline="0" noProof="0" smtClean="0">
              <a:ln>
                <a:noFill/>
              </a:ln>
              <a:solidFill>
                <a:schemeClr val="bg1"/>
              </a:solidFill>
              <a:effectLst/>
              <a:uLnTx/>
              <a:uFillTx/>
              <a:latin typeface="Arial" panose="020B0604020202020204" pitchFamily="34" charset="0"/>
              <a:ea typeface="宋体" panose="02010600030101010101" pitchFamily="2" charset="-122"/>
              <a:cs typeface="+mn-cs"/>
            </a:endParaRPr>
          </a:p>
        </p:txBody>
      </p:sp>
      <p:sp>
        <p:nvSpPr>
          <p:cNvPr id="4100" name="Rectangle 10"/>
          <p:cNvSpPr>
            <a:spLocks noChangeArrowheads="1"/>
          </p:cNvSpPr>
          <p:nvPr/>
        </p:nvSpPr>
        <p:spPr bwMode="auto">
          <a:xfrm>
            <a:off x="282575" y="774700"/>
            <a:ext cx="8582025" cy="50800"/>
          </a:xfrm>
          <a:prstGeom prst="rect">
            <a:avLst/>
          </a:prstGeom>
          <a:gradFill rotWithShape="1">
            <a:gsLst>
              <a:gs pos="0">
                <a:srgbClr val="FFFF00"/>
              </a:gs>
              <a:gs pos="50000">
                <a:srgbClr val="FF0066"/>
              </a:gs>
              <a:gs pos="100000">
                <a:srgbClr val="FFFF0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1" name="Rectangle 11"/>
          <p:cNvSpPr>
            <a:spLocks noChangeArrowheads="1"/>
          </p:cNvSpPr>
          <p:nvPr/>
        </p:nvSpPr>
        <p:spPr bwMode="auto">
          <a:xfrm>
            <a:off x="8178800" y="6511925"/>
            <a:ext cx="889000"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696D68-4CCF-4EF6-A810-74AB84650E99}" type="slidenum">
              <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rPr>
            </a:fld>
            <a:endParaRPr kumimoji="0" lang="en-US" altLang="zh-CN" sz="1400" b="0" i="0" u="none" strike="noStrike" kern="1200" cap="none" spc="0" normalizeH="0" baseline="0" noProof="0" smtClean="0">
              <a:ln>
                <a:noFill/>
              </a:ln>
              <a:solidFill>
                <a:schemeClr val="bg1"/>
              </a:solidFill>
              <a:effectLst/>
              <a:uLnTx/>
              <a:uFillTx/>
              <a:latin typeface="Arial" panose="020B0604020202020204" pitchFamily="34" charset="0"/>
              <a:ea typeface="楷体_GB2312"/>
              <a:cs typeface="楷体_GB2312"/>
            </a:endParaRPr>
          </a:p>
        </p:txBody>
      </p:sp>
      <p:sp>
        <p:nvSpPr>
          <p:cNvPr id="4102" name="Rectangle 14"/>
          <p:cNvSpPr>
            <a:spLocks noGrp="1"/>
          </p:cNvSpPr>
          <p:nvPr>
            <p:ph type="body"/>
          </p:nvPr>
        </p:nvSpPr>
        <p:spPr>
          <a:xfrm>
            <a:off x="457200" y="996950"/>
            <a:ext cx="8229600" cy="51292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3" name="Rectangle 15"/>
          <p:cNvSpPr>
            <a:spLocks noGrp="1"/>
          </p:cNvSpPr>
          <p:nvPr>
            <p:ph type="title"/>
          </p:nvPr>
        </p:nvSpPr>
        <p:spPr>
          <a:xfrm>
            <a:off x="457200" y="144463"/>
            <a:ext cx="8229600" cy="577850"/>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p:hf sldNum="0" hdr="0" ftr="0" dt="0"/>
  <p:txStyles>
    <p:titleStyle>
      <a:lvl1pPr algn="l" rtl="0" eaLnBrk="0" fontAlgn="base" hangingPunct="0">
        <a:spcBef>
          <a:spcPct val="0"/>
        </a:spcBef>
        <a:spcAft>
          <a:spcPct val="0"/>
        </a:spcAft>
        <a:defRPr sz="3200" b="1" kern="1200">
          <a:solidFill>
            <a:srgbClr val="3333CC"/>
          </a:solidFill>
          <a:latin typeface="+mj-lt"/>
          <a:ea typeface="+mj-ea"/>
          <a:cs typeface="+mj-cs"/>
        </a:defRPr>
      </a:lvl1pPr>
      <a:lvl2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200" b="1">
          <a:solidFill>
            <a:srgbClr val="3333CC"/>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b="1"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Font typeface="Wingdings" panose="05000000000000000000" pitchFamily="2" charset="2"/>
        <a:buChar char="»"/>
        <a:defRPr sz="1400" b="1" i="0" u="none" kern="1200" baseline="0">
          <a:solidFill>
            <a:schemeClr val="tx1"/>
          </a:solidFill>
          <a:latin typeface="+mn-lt"/>
          <a:ea typeface="+mn-ea"/>
          <a:cs typeface="+mn-cs"/>
        </a:defRPr>
      </a:lvl9pPr>
    </p:bodyStyle>
    <p:otherStyle>
      <a:lvl1pPr marL="0" lvl="0" indent="0" algn="l" defTabSz="914400" eaLnBrk="0" fontAlgn="base" latinLnBrk="0" hangingPunct="0">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sz="1800" b="1"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wmf"/></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oleObject" Target="../embeddings/oleObject1.bin"/><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11.wmf"/><Relationship Id="rId3" Type="http://schemas.openxmlformats.org/officeDocument/2006/relationships/oleObject" Target="../embeddings/oleObject4.bin"/><Relationship Id="rId2" Type="http://schemas.openxmlformats.org/officeDocument/2006/relationships/image" Target="../media/image10.wmf"/><Relationship Id="rId1" Type="http://schemas.openxmlformats.org/officeDocument/2006/relationships/oleObject" Target="../embeddings/oleObject3.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12.png"/><Relationship Id="rId1" Type="http://schemas.openxmlformats.org/officeDocument/2006/relationships/tags" Target="../tags/tag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4.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40.xml"/><Relationship Id="rId1" Type="http://schemas.openxmlformats.org/officeDocument/2006/relationships/image" Target="../media/image1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7.png"/><Relationship Id="rId1" Type="http://schemas.openxmlformats.org/officeDocument/2006/relationships/image" Target="../media/image16.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1.png"/><Relationship Id="rId1" Type="http://schemas.openxmlformats.org/officeDocument/2006/relationships/image" Target="../media/image20.png"/></Relationships>
</file>

<file path=ppt/slides/_rels/slide103.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22.wmf"/><Relationship Id="rId1" Type="http://schemas.openxmlformats.org/officeDocument/2006/relationships/oleObject" Target="../embeddings/oleObject7.bin"/></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7.xml"/><Relationship Id="rId2" Type="http://schemas.openxmlformats.org/officeDocument/2006/relationships/image" Target="../media/image23.wmf"/><Relationship Id="rId1" Type="http://schemas.openxmlformats.org/officeDocument/2006/relationships/oleObject" Target="../embeddings/oleObject8.bin"/></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9.png"/><Relationship Id="rId1" Type="http://schemas.openxmlformats.org/officeDocument/2006/relationships/image" Target="../media/image28.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tags" Target="../tags/tag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2.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3.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4.png"/></Relationships>
</file>

<file path=ppt/slides/_rels/slide1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AutoShape 51"/>
          <p:cNvSpPr/>
          <p:nvPr/>
        </p:nvSpPr>
        <p:spPr>
          <a:xfrm>
            <a:off x="1436688" y="1320800"/>
            <a:ext cx="6561137" cy="1001713"/>
          </a:xfrm>
          <a:prstGeom prst="roundRect">
            <a:avLst>
              <a:gd name="adj" fmla="val 50000"/>
            </a:avLst>
          </a:prstGeom>
          <a:solidFill>
            <a:srgbClr val="99CCFF"/>
          </a:solidFill>
          <a:ln w="28575" cap="flat" cmpd="sng">
            <a:solidFill>
              <a:srgbClr val="C0C0C0"/>
            </a:solidFill>
            <a:prstDash val="solid"/>
            <a:headEnd type="none" w="med" len="med"/>
            <a:tailEnd type="none" w="med" len="med"/>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25000"/>
              </a:lnSpc>
              <a:spcBef>
                <a:spcPct val="50000"/>
              </a:spcBef>
              <a:buClrTx/>
              <a:buSzTx/>
              <a:buFont typeface="Arial" panose="020B0604020202020204" pitchFamily="34" charset="0"/>
              <a:buNone/>
            </a:pPr>
            <a:r>
              <a:rPr lang="zh-CN" altLang="en-US" sz="3200" dirty="0">
                <a:latin typeface="Times New Roman" panose="02020603050405020304" pitchFamily="18" charset="0"/>
                <a:ea typeface="楷体_GB2312"/>
              </a:rPr>
              <a:t>第三章：关系数据模型</a:t>
            </a:r>
            <a:endParaRPr lang="en-US" altLang="zh-CN" sz="3200" dirty="0">
              <a:latin typeface="Times New Roman" panose="02020603050405020304" pitchFamily="18" charset="0"/>
              <a:ea typeface="楷体_GB2312"/>
            </a:endParaRPr>
          </a:p>
        </p:txBody>
      </p:sp>
      <p:sp>
        <p:nvSpPr>
          <p:cNvPr id="6147" name="Rectangle 7"/>
          <p:cNvSpPr>
            <a:spLocks noGrp="1"/>
          </p:cNvSpPr>
          <p:nvPr>
            <p:ph type="body" idx="4294967295"/>
          </p:nvPr>
        </p:nvSpPr>
        <p:spPr>
          <a:xfrm>
            <a:off x="1422400" y="3459163"/>
            <a:ext cx="7199313" cy="1919287"/>
          </a:xfrm>
          <a:ln/>
        </p:spPr>
        <p:txBody>
          <a:bodyPr vert="horz" wrap="square" lIns="0" tIns="0" rIns="0" bIns="0" anchor="t" anchorCtr="0"/>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关系数据模型的基本概念和术语</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关系数据模型上的完整性约束</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en-US" altLang="zh-CN" sz="2400" dirty="0">
                <a:latin typeface="宋体" panose="02010600030101010101" pitchFamily="2" charset="-122"/>
              </a:rPr>
              <a:t>SQL Server</a:t>
            </a:r>
            <a:r>
              <a:rPr lang="zh-CN" altLang="en-US" sz="2400" dirty="0">
                <a:latin typeface="宋体" panose="02010600030101010101" pitchFamily="2" charset="-122"/>
              </a:rPr>
              <a:t>对数据完整性约束的支持</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从实体联系模型向关系数据模型的转换</a:t>
            </a:r>
            <a:endParaRPr lang="en-US" altLang="zh-CN" sz="2400" dirty="0">
              <a:latin typeface="宋体" panose="02010600030101010101" pitchFamily="2" charset="-122"/>
            </a:endParaRPr>
          </a:p>
          <a:p>
            <a:pPr marL="342900" lvl="1" indent="-342900">
              <a:lnSpc>
                <a:spcPct val="110000"/>
              </a:lnSpc>
              <a:buClr>
                <a:srgbClr val="0033CC"/>
              </a:buClr>
              <a:buSzPct val="80000"/>
              <a:buFont typeface="Wingdings" panose="05000000000000000000" pitchFamily="2" charset="2"/>
              <a:buChar char="u"/>
            </a:pPr>
            <a:r>
              <a:rPr lang="zh-CN" altLang="en-US" sz="2400" dirty="0">
                <a:latin typeface="宋体" panose="02010600030101010101" pitchFamily="2" charset="-122"/>
              </a:rPr>
              <a:t>关系代数和关系运算</a:t>
            </a:r>
            <a:endParaRPr lang="en-US" altLang="zh-CN" sz="2400" dirty="0">
              <a:latin typeface="宋体" panose="02010600030101010101" pitchFamily="2" charset="-122"/>
            </a:endParaRPr>
          </a:p>
        </p:txBody>
      </p:sp>
      <p:sp>
        <p:nvSpPr>
          <p:cNvPr id="6148" name="Rectangle 8"/>
          <p:cNvSpPr/>
          <p:nvPr/>
        </p:nvSpPr>
        <p:spPr>
          <a:xfrm>
            <a:off x="1292225" y="3252788"/>
            <a:ext cx="7227888" cy="2700337"/>
          </a:xfrm>
          <a:prstGeom prst="rect">
            <a:avLst/>
          </a:prstGeom>
          <a:noFill/>
          <a:ln w="9525" cap="flat" cmpd="sng">
            <a:solidFill>
              <a:srgbClr val="0000FF"/>
            </a:solidFill>
            <a:prstDash val="solid"/>
            <a:miter/>
            <a:headEnd type="none" w="med" len="med"/>
            <a:tailEnd type="none" w="med" len="med"/>
          </a:ln>
          <a:effectLst>
            <a:prstShdw prst="shdw17" dist="17961" dir="2699999">
              <a:srgbClr val="000099"/>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pic>
        <p:nvPicPr>
          <p:cNvPr id="6149" name="Picture 6" descr="j0233174"/>
          <p:cNvPicPr>
            <a:picLocks noChangeAspect="1"/>
          </p:cNvPicPr>
          <p:nvPr/>
        </p:nvPicPr>
        <p:blipFill>
          <a:blip r:embed="rId1"/>
          <a:stretch>
            <a:fillRect/>
          </a:stretch>
        </p:blipFill>
        <p:spPr>
          <a:xfrm>
            <a:off x="242888" y="4156075"/>
            <a:ext cx="1460500" cy="1882775"/>
          </a:xfrm>
          <a:prstGeom prst="rect">
            <a:avLst/>
          </a:prstGeom>
          <a:noFill/>
          <a:ln w="9525">
            <a:noFill/>
          </a:ln>
        </p:spPr>
      </p:pic>
      <p:sp>
        <p:nvSpPr>
          <p:cNvPr id="8198" name="Text Box 10"/>
          <p:cNvSpPr txBox="1"/>
          <p:nvPr/>
        </p:nvSpPr>
        <p:spPr>
          <a:xfrm>
            <a:off x="1355725" y="2560638"/>
            <a:ext cx="4348163" cy="6810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3200" dirty="0">
                <a:latin typeface="Times New Roman" panose="02020603050405020304" pitchFamily="18" charset="0"/>
                <a:ea typeface="方正舒体" panose="02010601030101010101" pitchFamily="2" charset="-122"/>
              </a:rPr>
              <a:t>学习目的和要求</a:t>
            </a:r>
            <a:endParaRPr lang="zh-CN" altLang="en-US" sz="3200" dirty="0">
              <a:latin typeface="Times New Roman" panose="02020603050405020304" pitchFamily="18" charset="0"/>
              <a:ea typeface="方正舒体" panose="02010601030101010101" pitchFamily="2" charset="-122"/>
            </a:endParaRPr>
          </a:p>
        </p:txBody>
      </p:sp>
    </p:spTree>
  </p:cSld>
  <p:clrMapOvr>
    <a:masterClrMapping/>
  </p:clrMapOvr>
  <p:transition advTm="54672"/>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8198"/>
                                        </p:tgtEl>
                                        <p:attrNameLst>
                                          <p:attrName>style.visibility</p:attrName>
                                        </p:attrNameLst>
                                      </p:cBhvr>
                                      <p:to>
                                        <p:strVal val="visible"/>
                                      </p:to>
                                    </p:set>
                                    <p:anim calcmode="lin" valueType="num">
                                      <p:cBhvr additive="base">
                                        <p:cTn id="7" dur="500" fill="hold"/>
                                        <p:tgtEl>
                                          <p:spTgt spid="8198"/>
                                        </p:tgtEl>
                                        <p:attrNameLst>
                                          <p:attrName>ppt_x</p:attrName>
                                        </p:attrNameLst>
                                      </p:cBhvr>
                                      <p:tavLst>
                                        <p:tav tm="0">
                                          <p:val>
                                            <p:strVal val="1+#ppt_w/2"/>
                                          </p:val>
                                        </p:tav>
                                        <p:tav tm="100000">
                                          <p:val>
                                            <p:strVal val="#ppt_x"/>
                                          </p:val>
                                        </p:tav>
                                      </p:tavLst>
                                    </p:anim>
                                    <p:anim calcmode="lin" valueType="num">
                                      <p:cBhvr additive="base">
                                        <p:cTn id="8" dur="500" fill="hold"/>
                                        <p:tgtEl>
                                          <p:spTgt spid="81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170" name="组合 49"/>
          <p:cNvGrpSpPr/>
          <p:nvPr/>
        </p:nvGrpSpPr>
        <p:grpSpPr>
          <a:xfrm>
            <a:off x="304800" y="1481138"/>
            <a:ext cx="8505825" cy="4992687"/>
            <a:chOff x="0" y="0"/>
            <a:chExt cx="8627906" cy="5103136"/>
          </a:xfrm>
        </p:grpSpPr>
        <p:sp>
          <p:nvSpPr>
            <p:cNvPr id="7172" name="Oval 3"/>
            <p:cNvSpPr/>
            <p:nvPr/>
          </p:nvSpPr>
          <p:spPr>
            <a:xfrm>
              <a:off x="609601" y="705313"/>
              <a:ext cx="6096000" cy="2256970"/>
            </a:xfrm>
            <a:prstGeom prst="ellipse">
              <a:avLst/>
            </a:prstGeom>
            <a:solidFill>
              <a:srgbClr val="66FFFF">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en-US" altLang="zh-CN" sz="2800"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r>
                <a:rPr lang="en-US" altLang="zh-CN" sz="2800" dirty="0">
                  <a:latin typeface="宋体" panose="02010600030101010101" pitchFamily="2" charset="-122"/>
                </a:rPr>
                <a:t>                </a:t>
              </a:r>
              <a:r>
                <a:rPr lang="en-US" altLang="zh-CN" sz="2800" dirty="0">
                  <a:solidFill>
                    <a:srgbClr val="000000"/>
                  </a:solidFill>
                  <a:latin typeface="宋体" panose="02010600030101010101" pitchFamily="2" charset="-122"/>
                </a:rPr>
                <a:t>DBMS</a:t>
              </a:r>
              <a:r>
                <a:rPr lang="zh-CN" altLang="en-US" sz="2800" dirty="0">
                  <a:solidFill>
                    <a:srgbClr val="000000"/>
                  </a:solidFill>
                  <a:latin typeface="宋体" panose="02010600030101010101" pitchFamily="2" charset="-122"/>
                </a:rPr>
                <a:t>无关</a:t>
              </a:r>
              <a:endParaRPr lang="zh-CN" altLang="en-US" sz="2800" dirty="0">
                <a:solidFill>
                  <a:srgbClr val="000000"/>
                </a:solidFill>
                <a:latin typeface="宋体" panose="02010600030101010101" pitchFamily="2" charset="-122"/>
              </a:endParaRPr>
            </a:p>
          </p:txBody>
        </p:sp>
        <p:sp>
          <p:nvSpPr>
            <p:cNvPr id="7173" name="Oval 4"/>
            <p:cNvSpPr/>
            <p:nvPr/>
          </p:nvSpPr>
          <p:spPr>
            <a:xfrm>
              <a:off x="762001" y="2994941"/>
              <a:ext cx="5564188" cy="2108195"/>
            </a:xfrm>
            <a:prstGeom prst="ellipse">
              <a:avLst/>
            </a:prstGeom>
            <a:solidFill>
              <a:srgbClr val="66FFFF">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r>
                <a:rPr lang="en-US" altLang="zh-CN" sz="3200" dirty="0">
                  <a:solidFill>
                    <a:srgbClr val="000000"/>
                  </a:solidFill>
                  <a:latin typeface="宋体" panose="02010600030101010101" pitchFamily="2" charset="-122"/>
                </a:rPr>
                <a:t>             </a:t>
              </a:r>
              <a:r>
                <a:rPr lang="en-US" altLang="zh-CN" sz="2800" dirty="0">
                  <a:solidFill>
                    <a:srgbClr val="000000"/>
                  </a:solidFill>
                  <a:latin typeface="宋体" panose="02010600030101010101" pitchFamily="2" charset="-122"/>
                </a:rPr>
                <a:t>DBMS</a:t>
              </a:r>
              <a:r>
                <a:rPr lang="zh-CN" altLang="en-US" sz="2800" dirty="0">
                  <a:solidFill>
                    <a:srgbClr val="000000"/>
                  </a:solidFill>
                  <a:latin typeface="宋体" panose="02010600030101010101" pitchFamily="2" charset="-122"/>
                </a:rPr>
                <a:t>有关 </a:t>
              </a:r>
              <a:endParaRPr lang="de-DE" altLang="en-US" sz="2800" dirty="0">
                <a:solidFill>
                  <a:srgbClr val="000000"/>
                </a:solidFill>
                <a:latin typeface="宋体" panose="02010600030101010101" pitchFamily="2" charset="-122"/>
              </a:endParaRPr>
            </a:p>
          </p:txBody>
        </p:sp>
        <p:sp>
          <p:nvSpPr>
            <p:cNvPr id="7174" name="Rectangle 6"/>
            <p:cNvSpPr/>
            <p:nvPr/>
          </p:nvSpPr>
          <p:spPr>
            <a:xfrm>
              <a:off x="4225926" y="1752380"/>
              <a:ext cx="410369" cy="29623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1600" dirty="0">
                  <a:solidFill>
                    <a:srgbClr val="000000"/>
                  </a:solidFill>
                  <a:latin typeface="Times New Roman" panose="02020603050405020304" pitchFamily="18" charset="0"/>
                </a:rPr>
                <a:t>……</a:t>
              </a:r>
              <a:endParaRPr lang="de-DE" altLang="en-US" sz="2400" dirty="0">
                <a:latin typeface="Tahoma" panose="020B0604030504040204" pitchFamily="34" charset="0"/>
              </a:endParaRPr>
            </a:p>
          </p:txBody>
        </p:sp>
        <p:sp>
          <p:nvSpPr>
            <p:cNvPr id="7175" name="Rectangle 7"/>
            <p:cNvSpPr/>
            <p:nvPr/>
          </p:nvSpPr>
          <p:spPr>
            <a:xfrm>
              <a:off x="2590801" y="2642963"/>
              <a:ext cx="1700213" cy="45243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0000"/>
                  </a:solidFill>
                  <a:latin typeface="Tahoma" panose="020B0604030504040204" pitchFamily="34" charset="0"/>
                </a:rPr>
                <a:t>概念模式</a:t>
              </a:r>
              <a:endParaRPr lang="zh-CN" altLang="en-US" sz="2400" dirty="0">
                <a:solidFill>
                  <a:srgbClr val="000000"/>
                </a:solidFill>
                <a:latin typeface="Tahoma" panose="020B0604030504040204" pitchFamily="34" charset="0"/>
              </a:endParaRPr>
            </a:p>
          </p:txBody>
        </p:sp>
        <p:sp>
          <p:nvSpPr>
            <p:cNvPr id="7176" name="Rectangle 8"/>
            <p:cNvSpPr/>
            <p:nvPr/>
          </p:nvSpPr>
          <p:spPr>
            <a:xfrm>
              <a:off x="2590801" y="3582767"/>
              <a:ext cx="1700213" cy="454025"/>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0000"/>
                  </a:solidFill>
                  <a:latin typeface="宋体" panose="02010600030101010101" pitchFamily="2" charset="-122"/>
                </a:rPr>
                <a:t>内模式</a:t>
              </a:r>
              <a:endParaRPr lang="zh-CN" altLang="en-US" sz="2400" dirty="0">
                <a:solidFill>
                  <a:srgbClr val="000000"/>
                </a:solidFill>
                <a:latin typeface="宋体" panose="02010600030101010101" pitchFamily="2" charset="-122"/>
              </a:endParaRPr>
            </a:p>
          </p:txBody>
        </p:sp>
        <p:grpSp>
          <p:nvGrpSpPr>
            <p:cNvPr id="7177" name="Group 9"/>
            <p:cNvGrpSpPr/>
            <p:nvPr/>
          </p:nvGrpSpPr>
          <p:grpSpPr>
            <a:xfrm>
              <a:off x="827089" y="1438050"/>
              <a:ext cx="1674813" cy="809625"/>
              <a:chOff x="0" y="0"/>
              <a:chExt cx="1055" cy="510"/>
            </a:xfrm>
          </p:grpSpPr>
          <p:sp>
            <p:nvSpPr>
              <p:cNvPr id="7216" name="Rectangle 10"/>
              <p:cNvSpPr/>
              <p:nvPr/>
            </p:nvSpPr>
            <p:spPr>
              <a:xfrm>
                <a:off x="0" y="222"/>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外模式</a:t>
                </a:r>
                <a:r>
                  <a:rPr lang="en-US" altLang="zh-CN" sz="2400" dirty="0">
                    <a:latin typeface="Tahoma" panose="020B0604030504040204" pitchFamily="34" charset="0"/>
                  </a:rPr>
                  <a:t>1</a:t>
                </a:r>
                <a:endParaRPr lang="zh-CN" altLang="en-US" sz="2400" dirty="0">
                  <a:latin typeface="Tahoma" panose="020B0604030504040204" pitchFamily="34" charset="0"/>
                </a:endParaRPr>
              </a:p>
            </p:txBody>
          </p:sp>
          <p:sp>
            <p:nvSpPr>
              <p:cNvPr id="7217" name="Line 11"/>
              <p:cNvSpPr/>
              <p:nvPr/>
            </p:nvSpPr>
            <p:spPr>
              <a:xfrm flipH="1">
                <a:off x="535" y="0"/>
                <a:ext cx="520" cy="217"/>
              </a:xfrm>
              <a:prstGeom prst="line">
                <a:avLst/>
              </a:prstGeom>
              <a:ln w="25400" cap="flat" cmpd="sng">
                <a:solidFill>
                  <a:schemeClr val="tx1"/>
                </a:solidFill>
                <a:prstDash val="solid"/>
                <a:headEnd type="none" w="med" len="med"/>
                <a:tailEnd type="triangle" w="med" len="med"/>
              </a:ln>
            </p:spPr>
          </p:sp>
        </p:grpSp>
        <p:grpSp>
          <p:nvGrpSpPr>
            <p:cNvPr id="7178" name="Group 12"/>
            <p:cNvGrpSpPr/>
            <p:nvPr/>
          </p:nvGrpSpPr>
          <p:grpSpPr>
            <a:xfrm>
              <a:off x="3744691" y="1423092"/>
              <a:ext cx="2447925" cy="838202"/>
              <a:chOff x="0" y="0"/>
              <a:chExt cx="1542" cy="528"/>
            </a:xfrm>
          </p:grpSpPr>
          <p:sp>
            <p:nvSpPr>
              <p:cNvPr id="7214" name="Rectangle 13"/>
              <p:cNvSpPr/>
              <p:nvPr/>
            </p:nvSpPr>
            <p:spPr>
              <a:xfrm>
                <a:off x="624" y="240"/>
                <a:ext cx="918" cy="28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外模式</a:t>
                </a:r>
                <a:r>
                  <a:rPr lang="en-US" altLang="zh-CN" sz="2400" dirty="0">
                    <a:latin typeface="Tahoma" panose="020B0604030504040204" pitchFamily="34" charset="0"/>
                  </a:rPr>
                  <a:t>n</a:t>
                </a:r>
                <a:endParaRPr lang="de-DE" altLang="en-US" sz="2400" dirty="0">
                  <a:latin typeface="Tahoma" panose="020B0604030504040204" pitchFamily="34" charset="0"/>
                </a:endParaRPr>
              </a:p>
            </p:txBody>
          </p:sp>
          <p:sp>
            <p:nvSpPr>
              <p:cNvPr id="7215" name="Line 14"/>
              <p:cNvSpPr/>
              <p:nvPr/>
            </p:nvSpPr>
            <p:spPr>
              <a:xfrm>
                <a:off x="0" y="0"/>
                <a:ext cx="960" cy="240"/>
              </a:xfrm>
              <a:prstGeom prst="line">
                <a:avLst/>
              </a:prstGeom>
              <a:ln w="25400" cap="flat" cmpd="sng">
                <a:solidFill>
                  <a:schemeClr val="tx1"/>
                </a:solidFill>
                <a:prstDash val="solid"/>
                <a:headEnd type="none" w="med" len="med"/>
                <a:tailEnd type="triangle" w="med" len="med"/>
              </a:ln>
            </p:spPr>
          </p:sp>
        </p:grpSp>
        <p:sp>
          <p:nvSpPr>
            <p:cNvPr id="7179" name="Line 15"/>
            <p:cNvSpPr/>
            <p:nvPr/>
          </p:nvSpPr>
          <p:spPr>
            <a:xfrm>
              <a:off x="3352801" y="2290991"/>
              <a:ext cx="0" cy="381000"/>
            </a:xfrm>
            <a:prstGeom prst="line">
              <a:avLst/>
            </a:prstGeom>
            <a:ln w="25400" cap="flat" cmpd="sng">
              <a:solidFill>
                <a:schemeClr val="tx1"/>
              </a:solidFill>
              <a:prstDash val="solid"/>
              <a:headEnd type="none" w="med" len="med"/>
              <a:tailEnd type="triangle" w="med" len="med"/>
            </a:ln>
          </p:spPr>
        </p:sp>
        <p:sp>
          <p:nvSpPr>
            <p:cNvPr id="7180" name="Line 16"/>
            <p:cNvSpPr/>
            <p:nvPr/>
          </p:nvSpPr>
          <p:spPr>
            <a:xfrm>
              <a:off x="2149616" y="711436"/>
              <a:ext cx="517386" cy="389382"/>
            </a:xfrm>
            <a:prstGeom prst="line">
              <a:avLst/>
            </a:prstGeom>
            <a:ln w="25400" cap="flat" cmpd="sng">
              <a:solidFill>
                <a:schemeClr val="tx1"/>
              </a:solidFill>
              <a:prstDash val="solid"/>
              <a:headEnd type="none" w="med" len="med"/>
              <a:tailEnd type="triangle" w="med" len="med"/>
            </a:ln>
          </p:spPr>
        </p:sp>
        <p:sp>
          <p:nvSpPr>
            <p:cNvPr id="7181" name="Line 17"/>
            <p:cNvSpPr/>
            <p:nvPr/>
          </p:nvSpPr>
          <p:spPr>
            <a:xfrm flipH="1">
              <a:off x="3973283" y="2287367"/>
              <a:ext cx="1977574" cy="355596"/>
            </a:xfrm>
            <a:prstGeom prst="line">
              <a:avLst/>
            </a:prstGeom>
            <a:ln w="25400" cap="flat" cmpd="sng">
              <a:solidFill>
                <a:schemeClr val="tx1"/>
              </a:solidFill>
              <a:prstDash val="solid"/>
              <a:headEnd type="none" w="med" len="med"/>
              <a:tailEnd type="triangle" w="med" len="med"/>
            </a:ln>
          </p:spPr>
        </p:sp>
        <p:sp>
          <p:nvSpPr>
            <p:cNvPr id="7182" name="Rectangle 18"/>
            <p:cNvSpPr/>
            <p:nvPr/>
          </p:nvSpPr>
          <p:spPr>
            <a:xfrm>
              <a:off x="6553201" y="2967731"/>
              <a:ext cx="2030535" cy="88718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逻辑设计</a:t>
              </a:r>
              <a:endParaRPr lang="zh-CN" altLang="en-US" sz="2400" dirty="0">
                <a:latin typeface="Tahoma" panose="020B0604030504040204" pitchFamily="34" charset="0"/>
              </a:endParaRPr>
            </a:p>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模式优化</a:t>
              </a:r>
              <a:endParaRPr lang="zh-CN" altLang="en-US" sz="2400" dirty="0">
                <a:latin typeface="Tahoma" panose="020B0604030504040204" pitchFamily="34" charset="0"/>
              </a:endParaRPr>
            </a:p>
          </p:txBody>
        </p:sp>
        <p:sp>
          <p:nvSpPr>
            <p:cNvPr id="7183" name="AutoShape 19"/>
            <p:cNvSpPr/>
            <p:nvPr/>
          </p:nvSpPr>
          <p:spPr>
            <a:xfrm>
              <a:off x="2728687" y="4344542"/>
              <a:ext cx="1295400" cy="598487"/>
            </a:xfrm>
            <a:prstGeom prst="flowChartMagneticDisk">
              <a:avLst/>
            </a:prstGeom>
            <a:solidFill>
              <a:srgbClr val="A2E48A"/>
            </a:solidFill>
            <a:ln w="25400"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00000"/>
                  </a:solidFill>
                  <a:latin typeface="Tahoma" panose="020B0604030504040204" pitchFamily="34" charset="0"/>
                </a:rPr>
                <a:t>数据库</a:t>
              </a:r>
              <a:endParaRPr lang="zh-CN" altLang="en-US" dirty="0">
                <a:solidFill>
                  <a:srgbClr val="000000"/>
                </a:solidFill>
                <a:latin typeface="Tahoma" panose="020B0604030504040204" pitchFamily="34" charset="0"/>
              </a:endParaRPr>
            </a:p>
          </p:txBody>
        </p:sp>
        <p:sp>
          <p:nvSpPr>
            <p:cNvPr id="7184" name="Line 20"/>
            <p:cNvSpPr/>
            <p:nvPr/>
          </p:nvSpPr>
          <p:spPr>
            <a:xfrm flipH="1">
              <a:off x="3307081" y="4039968"/>
              <a:ext cx="0" cy="482599"/>
            </a:xfrm>
            <a:prstGeom prst="line">
              <a:avLst/>
            </a:prstGeom>
            <a:ln w="25400" cap="flat" cmpd="sng">
              <a:solidFill>
                <a:schemeClr val="tx1"/>
              </a:solidFill>
              <a:prstDash val="solid"/>
              <a:headEnd type="none" w="med" len="med"/>
              <a:tailEnd type="triangle" w="med" len="med"/>
            </a:ln>
          </p:spPr>
        </p:sp>
        <p:grpSp>
          <p:nvGrpSpPr>
            <p:cNvPr id="7185" name="Group 21"/>
            <p:cNvGrpSpPr/>
            <p:nvPr/>
          </p:nvGrpSpPr>
          <p:grpSpPr>
            <a:xfrm>
              <a:off x="2527301" y="1409477"/>
              <a:ext cx="1455738" cy="852488"/>
              <a:chOff x="0" y="0"/>
              <a:chExt cx="917" cy="537"/>
            </a:xfrm>
          </p:grpSpPr>
          <p:sp>
            <p:nvSpPr>
              <p:cNvPr id="7212" name="Rectangle 22"/>
              <p:cNvSpPr/>
              <p:nvPr/>
            </p:nvSpPr>
            <p:spPr>
              <a:xfrm>
                <a:off x="0" y="249"/>
                <a:ext cx="917" cy="288"/>
              </a:xfrm>
              <a:prstGeom prst="rect">
                <a:avLst/>
              </a:prstGeom>
              <a:solidFill>
                <a:schemeClr val="folHlink"/>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latin typeface="Tahoma" panose="020B0604030504040204" pitchFamily="34" charset="0"/>
                  </a:rPr>
                  <a:t>外模式</a:t>
                </a:r>
                <a:r>
                  <a:rPr lang="en-US" altLang="zh-CN" sz="2400" dirty="0">
                    <a:latin typeface="Tahoma" panose="020B0604030504040204" pitchFamily="34" charset="0"/>
                  </a:rPr>
                  <a:t>2</a:t>
                </a:r>
                <a:endParaRPr lang="zh-CN" altLang="en-US" sz="2400" dirty="0">
                  <a:latin typeface="Tahoma" panose="020B0604030504040204" pitchFamily="34" charset="0"/>
                </a:endParaRPr>
              </a:p>
            </p:txBody>
          </p:sp>
          <p:sp>
            <p:nvSpPr>
              <p:cNvPr id="7213" name="Line 23"/>
              <p:cNvSpPr/>
              <p:nvPr/>
            </p:nvSpPr>
            <p:spPr>
              <a:xfrm>
                <a:off x="520" y="0"/>
                <a:ext cx="0" cy="265"/>
              </a:xfrm>
              <a:prstGeom prst="line">
                <a:avLst/>
              </a:prstGeom>
              <a:ln w="25400" cap="flat" cmpd="sng">
                <a:solidFill>
                  <a:schemeClr val="tx1"/>
                </a:solidFill>
                <a:prstDash val="solid"/>
                <a:headEnd type="none" w="med" len="med"/>
                <a:tailEnd type="triangle" w="med" len="med"/>
              </a:ln>
            </p:spPr>
          </p:sp>
        </p:grpSp>
        <p:sp>
          <p:nvSpPr>
            <p:cNvPr id="7186" name="AutoShape 24"/>
            <p:cNvSpPr/>
            <p:nvPr/>
          </p:nvSpPr>
          <p:spPr>
            <a:xfrm>
              <a:off x="2238830" y="1071791"/>
              <a:ext cx="2133600" cy="381000"/>
            </a:xfrm>
            <a:prstGeom prst="roundRect">
              <a:avLst>
                <a:gd name="adj" fmla="val 16667"/>
              </a:avLst>
            </a:prstGeom>
            <a:solidFill>
              <a:srgbClr val="FFFFCC"/>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数据库需求</a:t>
              </a:r>
              <a:endParaRPr lang="zh-CN" altLang="en-US" sz="2400" dirty="0">
                <a:solidFill>
                  <a:srgbClr val="0033CC"/>
                </a:solidFill>
                <a:latin typeface="宋体" panose="02010600030101010101" pitchFamily="2" charset="-122"/>
              </a:endParaRPr>
            </a:p>
          </p:txBody>
        </p:sp>
        <p:sp>
          <p:nvSpPr>
            <p:cNvPr id="7187" name="Line 25"/>
            <p:cNvSpPr/>
            <p:nvPr/>
          </p:nvSpPr>
          <p:spPr>
            <a:xfrm>
              <a:off x="3352801" y="581938"/>
              <a:ext cx="0" cy="533400"/>
            </a:xfrm>
            <a:prstGeom prst="line">
              <a:avLst/>
            </a:prstGeom>
            <a:ln w="25400" cap="flat" cmpd="sng">
              <a:solidFill>
                <a:schemeClr val="tx1"/>
              </a:solidFill>
              <a:prstDash val="solid"/>
              <a:headEnd type="none" w="med" len="med"/>
              <a:tailEnd type="triangle" w="med" len="med"/>
            </a:ln>
          </p:spPr>
        </p:sp>
        <p:sp>
          <p:nvSpPr>
            <p:cNvPr id="7188" name="Line 26"/>
            <p:cNvSpPr/>
            <p:nvPr/>
          </p:nvSpPr>
          <p:spPr>
            <a:xfrm flipH="1">
              <a:off x="3864429" y="545653"/>
              <a:ext cx="1128486" cy="497114"/>
            </a:xfrm>
            <a:prstGeom prst="line">
              <a:avLst/>
            </a:prstGeom>
            <a:ln w="25400" cap="flat" cmpd="sng">
              <a:solidFill>
                <a:schemeClr val="tx1"/>
              </a:solidFill>
              <a:prstDash val="solid"/>
              <a:headEnd type="none" w="med" len="med"/>
              <a:tailEnd type="triangle" w="med" len="med"/>
            </a:ln>
          </p:spPr>
        </p:sp>
        <p:grpSp>
          <p:nvGrpSpPr>
            <p:cNvPr id="7189" name="Group 27"/>
            <p:cNvGrpSpPr/>
            <p:nvPr/>
          </p:nvGrpSpPr>
          <p:grpSpPr>
            <a:xfrm>
              <a:off x="4553863" y="1438280"/>
              <a:ext cx="4030665" cy="718458"/>
              <a:chOff x="0" y="0"/>
              <a:chExt cx="2349" cy="432"/>
            </a:xfrm>
          </p:grpSpPr>
          <p:sp>
            <p:nvSpPr>
              <p:cNvPr id="7210" name="Rectangle 28"/>
              <p:cNvSpPr/>
              <p:nvPr/>
            </p:nvSpPr>
            <p:spPr>
              <a:xfrm>
                <a:off x="1275" y="0"/>
                <a:ext cx="1074" cy="43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600" dirty="0">
                    <a:solidFill>
                      <a:srgbClr val="2550D9"/>
                    </a:solidFill>
                    <a:latin typeface="Tahoma" panose="020B0604030504040204" pitchFamily="34" charset="0"/>
                  </a:rPr>
                  <a:t>概念设计</a:t>
                </a:r>
                <a:endParaRPr lang="zh-CN" altLang="en-US" sz="2600" dirty="0">
                  <a:solidFill>
                    <a:srgbClr val="2550D9"/>
                  </a:solidFill>
                  <a:latin typeface="Tahoma" panose="020B0604030504040204" pitchFamily="34" charset="0"/>
                </a:endParaRPr>
              </a:p>
            </p:txBody>
          </p:sp>
          <p:sp>
            <p:nvSpPr>
              <p:cNvPr id="7211" name="Line 29"/>
              <p:cNvSpPr/>
              <p:nvPr/>
            </p:nvSpPr>
            <p:spPr>
              <a:xfrm flipV="1">
                <a:off x="0" y="67"/>
                <a:ext cx="1282" cy="29"/>
              </a:xfrm>
              <a:prstGeom prst="line">
                <a:avLst/>
              </a:prstGeom>
              <a:ln w="38100" cap="flat" cmpd="sng">
                <a:solidFill>
                  <a:srgbClr val="CC3300"/>
                </a:solidFill>
                <a:prstDash val="dash"/>
                <a:headEnd type="triangle" w="med" len="med"/>
                <a:tailEnd type="oval" w="med" len="med"/>
              </a:ln>
            </p:spPr>
          </p:sp>
        </p:grpSp>
        <p:grpSp>
          <p:nvGrpSpPr>
            <p:cNvPr id="7190" name="Group 30"/>
            <p:cNvGrpSpPr/>
            <p:nvPr/>
          </p:nvGrpSpPr>
          <p:grpSpPr>
            <a:xfrm>
              <a:off x="1103326" y="0"/>
              <a:ext cx="6081250" cy="1081088"/>
              <a:chOff x="0" y="0"/>
              <a:chExt cx="4156" cy="681"/>
            </a:xfrm>
          </p:grpSpPr>
          <p:pic>
            <p:nvPicPr>
              <p:cNvPr id="7205" name="Picture 31" descr="userGrp1"/>
              <p:cNvPicPr>
                <a:picLocks noChangeAspect="1"/>
              </p:cNvPicPr>
              <p:nvPr/>
            </p:nvPicPr>
            <p:blipFill>
              <a:blip r:embed="rId1"/>
              <a:stretch>
                <a:fillRect/>
              </a:stretch>
            </p:blipFill>
            <p:spPr>
              <a:xfrm>
                <a:off x="2575" y="0"/>
                <a:ext cx="622" cy="672"/>
              </a:xfrm>
              <a:prstGeom prst="rect">
                <a:avLst/>
              </a:prstGeom>
              <a:noFill/>
              <a:ln w="9525">
                <a:noFill/>
              </a:ln>
            </p:spPr>
          </p:pic>
          <p:sp>
            <p:nvSpPr>
              <p:cNvPr id="7206" name="Text Box 32"/>
              <p:cNvSpPr txBox="1"/>
              <p:nvPr/>
            </p:nvSpPr>
            <p:spPr>
              <a:xfrm>
                <a:off x="656" y="3"/>
                <a:ext cx="860" cy="28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latin typeface="宋体" panose="02010600030101010101" pitchFamily="2" charset="-122"/>
                  </a:rPr>
                  <a:t>用户组</a:t>
                </a:r>
                <a:r>
                  <a:rPr lang="en-US" altLang="zh-CN" dirty="0">
                    <a:latin typeface="宋体" panose="02010600030101010101" pitchFamily="2" charset="-122"/>
                  </a:rPr>
                  <a:t>1</a:t>
                </a:r>
                <a:endParaRPr lang="zh-CN" altLang="en-US" dirty="0">
                  <a:latin typeface="宋体" panose="02010600030101010101" pitchFamily="2" charset="-122"/>
                </a:endParaRPr>
              </a:p>
            </p:txBody>
          </p:sp>
          <p:pic>
            <p:nvPicPr>
              <p:cNvPr id="7207" name="Picture 33" descr="userGrp2"/>
              <p:cNvPicPr>
                <a:picLocks noChangeAspect="1"/>
              </p:cNvPicPr>
              <p:nvPr/>
            </p:nvPicPr>
            <p:blipFill>
              <a:blip r:embed="rId2"/>
              <a:stretch>
                <a:fillRect/>
              </a:stretch>
            </p:blipFill>
            <p:spPr>
              <a:xfrm>
                <a:off x="0" y="9"/>
                <a:ext cx="637" cy="672"/>
              </a:xfrm>
              <a:prstGeom prst="rect">
                <a:avLst/>
              </a:prstGeom>
              <a:noFill/>
              <a:ln w="9525">
                <a:noFill/>
              </a:ln>
            </p:spPr>
          </p:pic>
          <p:sp>
            <p:nvSpPr>
              <p:cNvPr id="7208" name="Text Box 34"/>
              <p:cNvSpPr txBox="1"/>
              <p:nvPr/>
            </p:nvSpPr>
            <p:spPr>
              <a:xfrm>
                <a:off x="3252" y="59"/>
                <a:ext cx="904" cy="28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latin typeface="宋体" panose="02010600030101010101" pitchFamily="2" charset="-122"/>
                  </a:rPr>
                  <a:t>用户组</a:t>
                </a:r>
                <a:r>
                  <a:rPr lang="en-US" altLang="zh-CN" dirty="0">
                    <a:latin typeface="宋体" panose="02010600030101010101" pitchFamily="2" charset="-122"/>
                  </a:rPr>
                  <a:t>n</a:t>
                </a:r>
                <a:endParaRPr lang="de-DE" altLang="en-US" dirty="0">
                  <a:latin typeface="宋体" panose="02010600030101010101" pitchFamily="2" charset="-122"/>
                </a:endParaRPr>
              </a:p>
            </p:txBody>
          </p:sp>
          <p:sp>
            <p:nvSpPr>
              <p:cNvPr id="7209" name="Line 35"/>
              <p:cNvSpPr/>
              <p:nvPr/>
            </p:nvSpPr>
            <p:spPr>
              <a:xfrm>
                <a:off x="1636" y="234"/>
                <a:ext cx="384" cy="0"/>
              </a:xfrm>
              <a:prstGeom prst="line">
                <a:avLst/>
              </a:prstGeom>
              <a:ln w="38100" cap="flat" cmpd="sng">
                <a:solidFill>
                  <a:schemeClr val="tx1"/>
                </a:solidFill>
                <a:prstDash val="sysDot"/>
                <a:headEnd type="none" w="med" len="med"/>
                <a:tailEnd type="none" w="med" len="med"/>
              </a:ln>
            </p:spPr>
          </p:sp>
        </p:grpSp>
        <p:grpSp>
          <p:nvGrpSpPr>
            <p:cNvPr id="7191" name="Group 36"/>
            <p:cNvGrpSpPr/>
            <p:nvPr/>
          </p:nvGrpSpPr>
          <p:grpSpPr>
            <a:xfrm>
              <a:off x="4225700" y="809864"/>
              <a:ext cx="4322766" cy="533400"/>
              <a:chOff x="0" y="0"/>
              <a:chExt cx="2723" cy="336"/>
            </a:xfrm>
          </p:grpSpPr>
          <p:sp>
            <p:nvSpPr>
              <p:cNvPr id="7203" name="Rectangle 37"/>
              <p:cNvSpPr/>
              <p:nvPr/>
            </p:nvSpPr>
            <p:spPr>
              <a:xfrm>
                <a:off x="1283" y="0"/>
                <a:ext cx="1440" cy="336"/>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Tahoma" panose="020B0604030504040204" pitchFamily="34" charset="0"/>
                  </a:rPr>
                  <a:t>需求收集和分析</a:t>
                </a:r>
                <a:endParaRPr lang="zh-CN" altLang="en-US" sz="2400" dirty="0">
                  <a:latin typeface="Tahoma" panose="020B0604030504040204" pitchFamily="34" charset="0"/>
                </a:endParaRPr>
              </a:p>
            </p:txBody>
          </p:sp>
          <p:sp>
            <p:nvSpPr>
              <p:cNvPr id="7204" name="Line 38"/>
              <p:cNvSpPr/>
              <p:nvPr/>
            </p:nvSpPr>
            <p:spPr>
              <a:xfrm>
                <a:off x="0" y="69"/>
                <a:ext cx="1243" cy="159"/>
              </a:xfrm>
              <a:prstGeom prst="line">
                <a:avLst/>
              </a:prstGeom>
              <a:ln w="25400" cap="flat" cmpd="sng">
                <a:solidFill>
                  <a:srgbClr val="CC3300"/>
                </a:solidFill>
                <a:prstDash val="dash"/>
                <a:headEnd type="triangle" w="med" len="med"/>
                <a:tailEnd type="diamond" w="med" len="med"/>
              </a:ln>
            </p:spPr>
          </p:sp>
        </p:grpSp>
        <p:sp>
          <p:nvSpPr>
            <p:cNvPr id="7192" name="Line 39"/>
            <p:cNvSpPr/>
            <p:nvPr/>
          </p:nvSpPr>
          <p:spPr>
            <a:xfrm>
              <a:off x="1676401" y="2247449"/>
              <a:ext cx="1219200" cy="381000"/>
            </a:xfrm>
            <a:prstGeom prst="line">
              <a:avLst/>
            </a:prstGeom>
            <a:ln w="25400" cap="flat" cmpd="sng">
              <a:solidFill>
                <a:schemeClr val="tx1"/>
              </a:solidFill>
              <a:prstDash val="solid"/>
              <a:headEnd type="none" w="med" len="med"/>
              <a:tailEnd type="triangle" w="med" len="med"/>
            </a:ln>
          </p:spPr>
        </p:sp>
        <p:sp>
          <p:nvSpPr>
            <p:cNvPr id="7193" name="AutoShape 40"/>
            <p:cNvSpPr/>
            <p:nvPr/>
          </p:nvSpPr>
          <p:spPr>
            <a:xfrm>
              <a:off x="0" y="2330909"/>
              <a:ext cx="1930400" cy="1150257"/>
            </a:xfrm>
            <a:prstGeom prst="cloudCallout">
              <a:avLst>
                <a:gd name="adj1" fmla="val 73398"/>
                <a:gd name="adj2" fmla="val -37866"/>
              </a:avLst>
            </a:prstGeom>
            <a:solidFill>
              <a:srgbClr val="FFFF99"/>
            </a:solidFill>
            <a:ln w="9525" cap="flat" cmpd="sng">
              <a:solidFill>
                <a:srgbClr val="000000"/>
              </a:solidFill>
              <a:prstDash val="solid"/>
              <a:headEnd type="none" w="med" len="med"/>
              <a:tailEnd type="none" w="med" len="med"/>
            </a:ln>
          </p:spPr>
          <p:txBody>
            <a:bodyPr lIns="36000" rIns="360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dirty="0">
                  <a:solidFill>
                    <a:srgbClr val="0033CC"/>
                  </a:solidFill>
                  <a:latin typeface="宋体" panose="02010600030101010101" pitchFamily="2" charset="-122"/>
                </a:rPr>
                <a:t>使用高级数据模型</a:t>
              </a:r>
              <a:endParaRPr lang="zh-CN" altLang="en-US" dirty="0">
                <a:solidFill>
                  <a:srgbClr val="0033CC"/>
                </a:solidFill>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de-DE" altLang="en-US" dirty="0">
                  <a:solidFill>
                    <a:srgbClr val="0033CC"/>
                  </a:solidFill>
                  <a:latin typeface="宋体" panose="02010600030101010101" pitchFamily="2" charset="-122"/>
                </a:rPr>
                <a:t>ERM</a:t>
              </a:r>
              <a:endParaRPr lang="de-DE" altLang="en-US" dirty="0">
                <a:solidFill>
                  <a:srgbClr val="0033CC"/>
                </a:solidFill>
                <a:latin typeface="宋体" panose="02010600030101010101" pitchFamily="2" charset="-122"/>
              </a:endParaRPr>
            </a:p>
          </p:txBody>
        </p:sp>
        <p:sp>
          <p:nvSpPr>
            <p:cNvPr id="7194" name="Line 41"/>
            <p:cNvSpPr/>
            <p:nvPr/>
          </p:nvSpPr>
          <p:spPr>
            <a:xfrm flipH="1">
              <a:off x="3352800" y="3114681"/>
              <a:ext cx="0" cy="468086"/>
            </a:xfrm>
            <a:prstGeom prst="line">
              <a:avLst/>
            </a:prstGeom>
            <a:ln w="25400" cap="flat" cmpd="sng">
              <a:solidFill>
                <a:schemeClr val="tx1"/>
              </a:solidFill>
              <a:prstDash val="solid"/>
              <a:headEnd type="none" w="med" len="med"/>
              <a:tailEnd type="triangle" w="med" len="med"/>
            </a:ln>
          </p:spPr>
        </p:sp>
        <p:sp>
          <p:nvSpPr>
            <p:cNvPr id="7195" name="Line 42"/>
            <p:cNvSpPr/>
            <p:nvPr/>
          </p:nvSpPr>
          <p:spPr>
            <a:xfrm>
              <a:off x="3365501" y="3296111"/>
              <a:ext cx="3187700" cy="228600"/>
            </a:xfrm>
            <a:prstGeom prst="line">
              <a:avLst/>
            </a:prstGeom>
            <a:ln w="25400" cap="flat" cmpd="sng">
              <a:solidFill>
                <a:srgbClr val="CC3300"/>
              </a:solidFill>
              <a:prstDash val="dash"/>
              <a:headEnd type="triangle" w="med" len="med"/>
              <a:tailEnd type="oval" w="med" len="med"/>
            </a:ln>
          </p:spPr>
        </p:sp>
        <p:sp>
          <p:nvSpPr>
            <p:cNvPr id="7196" name="AutoShape 43"/>
            <p:cNvSpPr/>
            <p:nvPr/>
          </p:nvSpPr>
          <p:spPr>
            <a:xfrm>
              <a:off x="119745" y="3738795"/>
              <a:ext cx="1955800" cy="1211943"/>
            </a:xfrm>
            <a:prstGeom prst="cloudCallout">
              <a:avLst>
                <a:gd name="adj1" fmla="val 72329"/>
                <a:gd name="adj2" fmla="val -36972"/>
              </a:avLst>
            </a:prstGeom>
            <a:solidFill>
              <a:srgbClr val="FFFF99"/>
            </a:solidFill>
            <a:ln w="9525" cap="flat" cmpd="sng">
              <a:solidFill>
                <a:srgbClr val="000000"/>
              </a:solidFill>
              <a:prstDash val="solid"/>
              <a:headEnd type="none" w="med" len="med"/>
              <a:tailEnd type="none" w="med" len="med"/>
            </a:ln>
          </p:spPr>
          <p:txBody>
            <a:bodyPr lIns="36000" rIns="360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33CC"/>
                  </a:solidFill>
                  <a:latin typeface="宋体" panose="02010600030101010101" pitchFamily="2" charset="-122"/>
                </a:rPr>
                <a:t>使用特定的</a:t>
              </a:r>
              <a:r>
                <a:rPr lang="en-US" altLang="zh-CN" dirty="0">
                  <a:solidFill>
                    <a:srgbClr val="0033CC"/>
                  </a:solidFill>
                  <a:latin typeface="宋体" panose="02010600030101010101" pitchFamily="2" charset="-122"/>
                </a:rPr>
                <a:t>DBMS</a:t>
              </a:r>
              <a:r>
                <a:rPr lang="zh-CN" altLang="en-US" dirty="0">
                  <a:solidFill>
                    <a:srgbClr val="0033CC"/>
                  </a:solidFill>
                  <a:latin typeface="宋体" panose="02010600030101010101" pitchFamily="2" charset="-122"/>
                </a:rPr>
                <a:t>的数据模型</a:t>
              </a:r>
              <a:endParaRPr lang="zh-CN" altLang="en-US" dirty="0">
                <a:solidFill>
                  <a:srgbClr val="0033CC"/>
                </a:solidFill>
                <a:latin typeface="宋体" panose="02010600030101010101" pitchFamily="2" charset="-122"/>
              </a:endParaRPr>
            </a:p>
          </p:txBody>
        </p:sp>
        <p:grpSp>
          <p:nvGrpSpPr>
            <p:cNvPr id="7197" name="Group 44"/>
            <p:cNvGrpSpPr/>
            <p:nvPr/>
          </p:nvGrpSpPr>
          <p:grpSpPr>
            <a:xfrm>
              <a:off x="4716464" y="2261963"/>
              <a:ext cx="3817938" cy="457200"/>
              <a:chOff x="0" y="0"/>
              <a:chExt cx="2405" cy="288"/>
            </a:xfrm>
          </p:grpSpPr>
          <p:sp>
            <p:nvSpPr>
              <p:cNvPr id="7201" name="Rectangle 45"/>
              <p:cNvSpPr/>
              <p:nvPr/>
            </p:nvSpPr>
            <p:spPr>
              <a:xfrm>
                <a:off x="1493" y="0"/>
                <a:ext cx="912" cy="288"/>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600" dirty="0">
                    <a:latin typeface="Tahoma" panose="020B0604030504040204" pitchFamily="34" charset="0"/>
                  </a:rPr>
                  <a:t>集成</a:t>
                </a:r>
                <a:endParaRPr lang="zh-CN" altLang="en-US" sz="2600" dirty="0">
                  <a:latin typeface="Tahoma" panose="020B0604030504040204" pitchFamily="34" charset="0"/>
                </a:endParaRPr>
              </a:p>
            </p:txBody>
          </p:sp>
          <p:sp>
            <p:nvSpPr>
              <p:cNvPr id="7202" name="Line 46"/>
              <p:cNvSpPr/>
              <p:nvPr/>
            </p:nvSpPr>
            <p:spPr>
              <a:xfrm>
                <a:off x="0" y="162"/>
                <a:ext cx="1493" cy="30"/>
              </a:xfrm>
              <a:prstGeom prst="line">
                <a:avLst/>
              </a:prstGeom>
              <a:ln w="25400" cap="flat" cmpd="sng">
                <a:solidFill>
                  <a:srgbClr val="CC3300"/>
                </a:solidFill>
                <a:prstDash val="dash"/>
                <a:headEnd type="triangle" w="med" len="med"/>
                <a:tailEnd type="oval" w="med" len="med"/>
              </a:ln>
            </p:spPr>
          </p:sp>
        </p:grpSp>
        <p:sp>
          <p:nvSpPr>
            <p:cNvPr id="7198" name="Line 47"/>
            <p:cNvSpPr/>
            <p:nvPr/>
          </p:nvSpPr>
          <p:spPr>
            <a:xfrm flipV="1">
              <a:off x="5529944" y="1839031"/>
              <a:ext cx="1213368" cy="535415"/>
            </a:xfrm>
            <a:prstGeom prst="line">
              <a:avLst/>
            </a:prstGeom>
            <a:ln w="38100" cap="flat" cmpd="sng">
              <a:solidFill>
                <a:srgbClr val="CC3300"/>
              </a:solidFill>
              <a:prstDash val="dash"/>
              <a:headEnd type="triangle" w="med" len="med"/>
              <a:tailEnd type="oval" w="med" len="med"/>
            </a:ln>
          </p:spPr>
        </p:sp>
        <p:sp>
          <p:nvSpPr>
            <p:cNvPr id="7199" name="Rectangle 48"/>
            <p:cNvSpPr/>
            <p:nvPr/>
          </p:nvSpPr>
          <p:spPr>
            <a:xfrm>
              <a:off x="6786564" y="4112312"/>
              <a:ext cx="1841342" cy="576262"/>
            </a:xfrm>
            <a:prstGeom prst="rect">
              <a:avLst/>
            </a:prstGeom>
            <a:solidFill>
              <a:srgbClr val="FFD2CD"/>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r>
                <a:rPr lang="zh-CN" altLang="en-US" sz="2400" dirty="0">
                  <a:latin typeface="Tahoma" panose="020B0604030504040204" pitchFamily="34" charset="0"/>
                </a:rPr>
                <a:t>物理</a:t>
              </a:r>
              <a:r>
                <a:rPr lang="en-US" altLang="zh-CN" sz="2400" dirty="0">
                  <a:latin typeface="Tahoma" panose="020B0604030504040204" pitchFamily="34" charset="0"/>
                </a:rPr>
                <a:t>DB</a:t>
              </a:r>
              <a:r>
                <a:rPr lang="zh-CN" altLang="en-US" sz="2400" dirty="0">
                  <a:latin typeface="Tahoma" panose="020B0604030504040204" pitchFamily="34" charset="0"/>
                </a:rPr>
                <a:t>设计</a:t>
              </a:r>
              <a:endParaRPr lang="zh-CN" altLang="en-US" sz="2400" dirty="0">
                <a:latin typeface="Tahoma" panose="020B0604030504040204" pitchFamily="34" charset="0"/>
              </a:endParaRPr>
            </a:p>
          </p:txBody>
        </p:sp>
        <p:sp>
          <p:nvSpPr>
            <p:cNvPr id="7200" name="Line 49"/>
            <p:cNvSpPr/>
            <p:nvPr/>
          </p:nvSpPr>
          <p:spPr>
            <a:xfrm>
              <a:off x="3360058" y="4131589"/>
              <a:ext cx="3360057" cy="361949"/>
            </a:xfrm>
            <a:prstGeom prst="line">
              <a:avLst/>
            </a:prstGeom>
            <a:ln w="25400" cap="flat" cmpd="sng">
              <a:solidFill>
                <a:srgbClr val="CC3300"/>
              </a:solidFill>
              <a:prstDash val="dash"/>
              <a:headEnd type="triangle" w="med" len="med"/>
              <a:tailEnd type="oval" w="med" len="med"/>
            </a:ln>
          </p:spPr>
        </p:sp>
      </p:grpSp>
      <p:sp>
        <p:nvSpPr>
          <p:cNvPr id="7171" name="矩形 53"/>
          <p:cNvSpPr/>
          <p:nvPr/>
        </p:nvSpPr>
        <p:spPr>
          <a:xfrm>
            <a:off x="514350" y="881063"/>
            <a:ext cx="3209925" cy="5238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 数据库设计过程</a:t>
            </a:r>
            <a:endParaRPr lang="zh-CN" altLang="en-US" sz="2800" dirty="0">
              <a:solidFill>
                <a:srgbClr val="FF0000"/>
              </a:solidFill>
              <a:latin typeface="黑体" panose="02010609060101010101" pitchFamily="49" charset="-122"/>
              <a:ea typeface="黑体" panose="02010609060101010101" pitchFamily="49" charset="-122"/>
            </a:endParaRPr>
          </a:p>
        </p:txBody>
      </p:sp>
    </p:spTree>
  </p:cSld>
  <p:clrMapOvr>
    <a:masterClrMapping/>
  </p:clrMapOvr>
  <p:transition advTm="54672"/>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矩形 14"/>
          <p:cNvSpPr/>
          <p:nvPr/>
        </p:nvSpPr>
        <p:spPr>
          <a:xfrm>
            <a:off x="4602163" y="1841500"/>
            <a:ext cx="2643188" cy="12303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20000"/>
              </a:lnSpc>
              <a:spcBef>
                <a:spcPts val="60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数据结构（静态）</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20000"/>
              </a:lnSpc>
              <a:spcBef>
                <a:spcPts val="60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CC00"/>
                </a:solidFill>
                <a:effectLst/>
                <a:uLnTx/>
                <a:uFillTx/>
                <a:latin typeface="+mn-lt"/>
                <a:ea typeface="+mn-ea"/>
                <a:cs typeface="+mn-cs"/>
              </a:rPr>
              <a:t>数据操作（动态）</a:t>
            </a:r>
            <a:endParaRPr kumimoji="0" lang="zh-CN" altLang="en-US" sz="2000" b="1" i="0" u="none" strike="noStrike" kern="1200" cap="none" spc="0" normalizeH="0" baseline="0" noProof="1">
              <a:ln>
                <a:noFill/>
              </a:ln>
              <a:solidFill>
                <a:srgbClr val="00CC00"/>
              </a:solidFill>
              <a:effectLst/>
              <a:uLnTx/>
              <a:uFillTx/>
              <a:latin typeface="+mn-lt"/>
              <a:ea typeface="+mn-ea"/>
              <a:cs typeface="+mn-cs"/>
            </a:endParaRPr>
          </a:p>
          <a:p>
            <a:pPr marL="0" marR="0" lvl="0" indent="0" algn="l" defTabSz="914400" rtl="0" eaLnBrk="1" fontAlgn="base" latinLnBrk="0" hangingPunct="1">
              <a:lnSpc>
                <a:spcPct val="120000"/>
              </a:lnSpc>
              <a:spcBef>
                <a:spcPts val="60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FF0000"/>
                </a:solidFill>
                <a:effectLst/>
                <a:uLnTx/>
                <a:uFillTx/>
                <a:latin typeface="+mn-lt"/>
                <a:ea typeface="+mn-ea"/>
                <a:cs typeface="+mn-cs"/>
              </a:rPr>
              <a:t>完整性约束</a:t>
            </a:r>
            <a:endParaRPr kumimoji="0" lang="zh-CN" altLang="en-US" sz="2000" b="1" i="0" u="none" strike="noStrike" kern="1200" cap="none" spc="0" normalizeH="0" baseline="0" noProof="1">
              <a:ln>
                <a:noFill/>
              </a:ln>
              <a:solidFill>
                <a:srgbClr val="FF0000"/>
              </a:solidFill>
              <a:effectLst/>
              <a:uLnTx/>
              <a:uFillTx/>
              <a:latin typeface="+mn-lt"/>
              <a:ea typeface="+mn-ea"/>
              <a:cs typeface="+mn-cs"/>
            </a:endParaRPr>
          </a:p>
        </p:txBody>
      </p:sp>
      <p:cxnSp>
        <p:nvCxnSpPr>
          <p:cNvPr id="25" name="直接连接符 24"/>
          <p:cNvCxnSpPr>
            <a:stCxn id="8200" idx="2"/>
          </p:cNvCxnSpPr>
          <p:nvPr/>
        </p:nvCxnSpPr>
        <p:spPr>
          <a:xfrm flipV="1">
            <a:off x="1855788" y="2133600"/>
            <a:ext cx="3055938" cy="125095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196" name="矩形 53"/>
          <p:cNvSpPr/>
          <p:nvPr/>
        </p:nvSpPr>
        <p:spPr>
          <a:xfrm>
            <a:off x="514350" y="881063"/>
            <a:ext cx="3540125" cy="51752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800" dirty="0">
                <a:solidFill>
                  <a:srgbClr val="FF0000"/>
                </a:solidFill>
                <a:latin typeface="黑体" panose="02010609060101010101" pitchFamily="49" charset="-122"/>
                <a:ea typeface="黑体" panose="02010609060101010101" pitchFamily="49" charset="-122"/>
              </a:rPr>
              <a:t> </a:t>
            </a:r>
            <a:r>
              <a:rPr lang="zh-CN" altLang="en-US" sz="2800" dirty="0">
                <a:solidFill>
                  <a:srgbClr val="0033CC"/>
                </a:solidFill>
                <a:latin typeface="黑体" panose="02010609060101010101" pitchFamily="49" charset="-122"/>
                <a:ea typeface="黑体" panose="02010609060101010101" pitchFamily="49" charset="-122"/>
              </a:rPr>
              <a:t>数据模型</a:t>
            </a:r>
            <a:r>
              <a:rPr lang="zh-CN" altLang="en-US" sz="2800" dirty="0">
                <a:latin typeface="黑体" panose="02010609060101010101" pitchFamily="49" charset="-122"/>
                <a:ea typeface="黑体" panose="02010609060101010101" pitchFamily="49" charset="-122"/>
              </a:rPr>
              <a:t>的</a:t>
            </a:r>
            <a:r>
              <a:rPr lang="zh-CN" altLang="en-US" sz="2800" dirty="0">
                <a:solidFill>
                  <a:srgbClr val="0033CC"/>
                </a:solidFill>
                <a:latin typeface="黑体" panose="02010609060101010101" pitchFamily="49" charset="-122"/>
                <a:ea typeface="黑体" panose="02010609060101010101" pitchFamily="49" charset="-122"/>
              </a:rPr>
              <a:t>三要素</a:t>
            </a:r>
            <a:endParaRPr lang="zh-CN" altLang="en-US" sz="2800" dirty="0">
              <a:solidFill>
                <a:srgbClr val="0033CC"/>
              </a:solidFill>
              <a:latin typeface="黑体" panose="02010609060101010101" pitchFamily="49" charset="-122"/>
              <a:ea typeface="黑体" panose="02010609060101010101" pitchFamily="49" charset="-122"/>
            </a:endParaRPr>
          </a:p>
        </p:txBody>
      </p:sp>
      <p:cxnSp>
        <p:nvCxnSpPr>
          <p:cNvPr id="10" name="直接连接符 9"/>
          <p:cNvCxnSpPr>
            <a:stCxn id="8200" idx="2"/>
          </p:cNvCxnSpPr>
          <p:nvPr/>
        </p:nvCxnSpPr>
        <p:spPr>
          <a:xfrm>
            <a:off x="1168400" y="1352550"/>
            <a:ext cx="13747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8200" idx="2"/>
          </p:cNvCxnSpPr>
          <p:nvPr/>
        </p:nvCxnSpPr>
        <p:spPr>
          <a:xfrm>
            <a:off x="2879725" y="1352550"/>
            <a:ext cx="281622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a:stCxn id="8200" idx="2"/>
          </p:cNvCxnSpPr>
          <p:nvPr/>
        </p:nvCxnSpPr>
        <p:spPr>
          <a:xfrm>
            <a:off x="1797050" y="1339850"/>
            <a:ext cx="0" cy="352425"/>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200" name="矩形 4"/>
          <p:cNvSpPr/>
          <p:nvPr/>
        </p:nvSpPr>
        <p:spPr>
          <a:xfrm>
            <a:off x="758825" y="1616075"/>
            <a:ext cx="2192338" cy="176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t>形式化描述</a:t>
            </a:r>
            <a:r>
              <a:rPr lang="zh-CN" altLang="en-US" i="1" u="sng" dirty="0">
                <a:solidFill>
                  <a:srgbClr val="0033CC"/>
                </a:solidFill>
              </a:rPr>
              <a:t>数据、数据之间的联系</a:t>
            </a:r>
            <a:r>
              <a:rPr lang="zh-CN" altLang="en-US" dirty="0"/>
              <a:t>以及</a:t>
            </a:r>
            <a:r>
              <a:rPr lang="zh-CN" altLang="en-US" i="1" u="sng" dirty="0">
                <a:solidFill>
                  <a:srgbClr val="00CC00"/>
                </a:solidFill>
              </a:rPr>
              <a:t>数据操作</a:t>
            </a:r>
            <a:r>
              <a:rPr lang="zh-CN" altLang="en-US" dirty="0"/>
              <a:t>和有关的</a:t>
            </a:r>
            <a:r>
              <a:rPr lang="zh-CN" altLang="en-US" i="1" u="sng" dirty="0">
                <a:solidFill>
                  <a:srgbClr val="FF0000"/>
                </a:solidFill>
              </a:rPr>
              <a:t>语义约束规则</a:t>
            </a:r>
            <a:r>
              <a:rPr lang="zh-CN" altLang="en-US" dirty="0"/>
              <a:t>的方法</a:t>
            </a:r>
            <a:endParaRPr lang="en-US" altLang="zh-CN" dirty="0"/>
          </a:p>
        </p:txBody>
      </p:sp>
      <p:sp>
        <p:nvSpPr>
          <p:cNvPr id="14" name="右箭头 13"/>
          <p:cNvSpPr/>
          <p:nvPr/>
        </p:nvSpPr>
        <p:spPr>
          <a:xfrm>
            <a:off x="2879725" y="1917700"/>
            <a:ext cx="1631950" cy="314325"/>
          </a:xfrm>
          <a:prstGeom prst="rightArrow">
            <a:avLst>
              <a:gd name="adj1" fmla="val 50000"/>
              <a:gd name="adj2" fmla="val 10850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cxnSp>
        <p:nvCxnSpPr>
          <p:cNvPr id="16" name="直接箭头连接符 15"/>
          <p:cNvCxnSpPr>
            <a:stCxn id="8200" idx="2"/>
          </p:cNvCxnSpPr>
          <p:nvPr/>
        </p:nvCxnSpPr>
        <p:spPr>
          <a:xfrm>
            <a:off x="5695950" y="1339850"/>
            <a:ext cx="9525" cy="488950"/>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7" name="右箭头 16"/>
          <p:cNvSpPr/>
          <p:nvPr/>
        </p:nvSpPr>
        <p:spPr>
          <a:xfrm>
            <a:off x="2879725" y="2343150"/>
            <a:ext cx="1631950" cy="314325"/>
          </a:xfrm>
          <a:prstGeom prst="rightArrow">
            <a:avLst>
              <a:gd name="adj1" fmla="val 50000"/>
              <a:gd name="adj2" fmla="val 108502"/>
            </a:avLst>
          </a:prstGeom>
          <a:gradFill>
            <a:gsLst>
              <a:gs pos="0">
                <a:srgbClr val="9EE256"/>
              </a:gs>
              <a:gs pos="100000">
                <a:srgbClr val="52762D"/>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8" name="右箭头 17"/>
          <p:cNvSpPr/>
          <p:nvPr/>
        </p:nvSpPr>
        <p:spPr>
          <a:xfrm>
            <a:off x="2879725" y="2757488"/>
            <a:ext cx="1631950" cy="314325"/>
          </a:xfrm>
          <a:prstGeom prst="rightArrow">
            <a:avLst>
              <a:gd name="adj1" fmla="val 50000"/>
              <a:gd name="adj2" fmla="val 108502"/>
            </a:avLst>
          </a:prstGeom>
          <a:gradFill>
            <a:gsLst>
              <a:gs pos="0">
                <a:srgbClr val="E30000"/>
              </a:gs>
              <a:gs pos="100000">
                <a:srgbClr val="76030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8205" name="矩形 4"/>
          <p:cNvSpPr/>
          <p:nvPr/>
        </p:nvSpPr>
        <p:spPr>
          <a:xfrm>
            <a:off x="758825" y="3513138"/>
            <a:ext cx="2519363" cy="762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i="1" u="sng" dirty="0">
                <a:solidFill>
                  <a:srgbClr val="0033CC"/>
                </a:solidFill>
              </a:rPr>
              <a:t>如何表示实体及联系</a:t>
            </a:r>
            <a:r>
              <a:rPr lang="zh-CN" altLang="en-US" dirty="0"/>
              <a:t>（难点是表示联系）</a:t>
            </a:r>
            <a:endParaRPr lang="zh-CN" altLang="en-US" dirty="0"/>
          </a:p>
        </p:txBody>
      </p:sp>
      <p:sp>
        <p:nvSpPr>
          <p:cNvPr id="8206" name="矩形 4"/>
          <p:cNvSpPr/>
          <p:nvPr/>
        </p:nvSpPr>
        <p:spPr>
          <a:xfrm>
            <a:off x="1797050" y="4210050"/>
            <a:ext cx="3944938"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根据现实世界实体间联系的特征用四种不同的方法进行抽象</a:t>
            </a:r>
            <a:endParaRPr lang="zh-CN" altLang="en-US" dirty="0">
              <a:latin typeface="楷体" panose="02010609060101010101" pitchFamily="49" charset="-122"/>
              <a:ea typeface="楷体" panose="02010609060101010101" pitchFamily="49" charset="-122"/>
            </a:endParaRPr>
          </a:p>
        </p:txBody>
      </p:sp>
      <p:cxnSp>
        <p:nvCxnSpPr>
          <p:cNvPr id="21" name="直接连接符 20"/>
          <p:cNvCxnSpPr>
            <a:stCxn id="8200" idx="2"/>
          </p:cNvCxnSpPr>
          <p:nvPr/>
        </p:nvCxnSpPr>
        <p:spPr>
          <a:xfrm flipV="1">
            <a:off x="1600200" y="5499100"/>
            <a:ext cx="5492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a:stCxn id="8200" idx="2"/>
          </p:cNvCxnSpPr>
          <p:nvPr/>
        </p:nvCxnSpPr>
        <p:spPr>
          <a:xfrm>
            <a:off x="1597025" y="4260850"/>
            <a:ext cx="0" cy="126047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23" name="左大括号 22"/>
          <p:cNvSpPr/>
          <p:nvPr/>
        </p:nvSpPr>
        <p:spPr>
          <a:xfrm>
            <a:off x="2293938" y="5080000"/>
            <a:ext cx="249238" cy="838200"/>
          </a:xfrm>
          <a:prstGeom prst="leftBrace">
            <a:avLst/>
          </a:prstGeom>
          <a:ln w="254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24" name="矩形 23"/>
          <p:cNvSpPr/>
          <p:nvPr/>
        </p:nvSpPr>
        <p:spPr>
          <a:xfrm>
            <a:off x="2543175" y="4884738"/>
            <a:ext cx="2641600" cy="12303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层次模型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网状模型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关系模型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a:p>
            <a:pPr marL="0" marR="0" lvl="0" indent="0" algn="l" defTabSz="914400" rtl="0" eaLnBrk="1" fontAlgn="base" latinLnBrk="0" hangingPunct="1">
              <a:lnSpc>
                <a:spcPct val="100000"/>
              </a:lnSpc>
              <a:spcBef>
                <a:spcPts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0033CC"/>
                </a:solidFill>
                <a:effectLst/>
                <a:uLnTx/>
                <a:uFillTx/>
                <a:latin typeface="+mn-lt"/>
                <a:ea typeface="+mn-ea"/>
                <a:cs typeface="+mn-cs"/>
              </a:rPr>
              <a:t>面向对象模型</a:t>
            </a:r>
            <a:endParaRPr kumimoji="0" lang="zh-CN" altLang="en-US" sz="2000" b="1" i="0" u="none" strike="noStrike" kern="1200" cap="none" spc="0" normalizeH="0" baseline="0" noProof="1">
              <a:ln>
                <a:noFill/>
              </a:ln>
              <a:solidFill>
                <a:srgbClr val="0033CC"/>
              </a:solidFill>
              <a:effectLst/>
              <a:uLnTx/>
              <a:uFillTx/>
              <a:latin typeface="+mn-lt"/>
              <a:ea typeface="+mn-ea"/>
              <a:cs typeface="+mn-cs"/>
            </a:endParaRPr>
          </a:p>
        </p:txBody>
      </p:sp>
      <p:cxnSp>
        <p:nvCxnSpPr>
          <p:cNvPr id="26" name="直接箭头连接符 25"/>
          <p:cNvCxnSpPr>
            <a:stCxn id="8200" idx="2"/>
          </p:cNvCxnSpPr>
          <p:nvPr/>
        </p:nvCxnSpPr>
        <p:spPr>
          <a:xfrm>
            <a:off x="1874838" y="3384550"/>
            <a:ext cx="0" cy="215900"/>
          </a:xfrm>
          <a:prstGeom prst="straightConnector1">
            <a:avLst/>
          </a:prstGeom>
          <a:ln w="444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8212" name="矩形 4"/>
          <p:cNvSpPr/>
          <p:nvPr/>
        </p:nvSpPr>
        <p:spPr>
          <a:xfrm>
            <a:off x="3508375" y="3448050"/>
            <a:ext cx="2233613"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i="1" u="sng" dirty="0">
                <a:solidFill>
                  <a:srgbClr val="00CC00"/>
                </a:solidFill>
              </a:rPr>
              <a:t>如何实现</a:t>
            </a:r>
            <a:endParaRPr lang="zh-CN" altLang="en-US" i="1" u="sng" dirty="0">
              <a:solidFill>
                <a:srgbClr val="00CC00"/>
              </a:solidFill>
            </a:endParaRPr>
          </a:p>
          <a:p>
            <a:pPr marL="0" lvl="0" indent="0" algn="ctr" eaLnBrk="1" hangingPunct="1">
              <a:spcBef>
                <a:spcPct val="0"/>
              </a:spcBef>
              <a:buClrTx/>
              <a:buSzTx/>
              <a:buFont typeface="Arial" panose="020B0604020202020204" pitchFamily="34" charset="0"/>
              <a:buNone/>
            </a:pPr>
            <a:r>
              <a:rPr lang="zh-CN" altLang="en-US" i="1" u="sng" dirty="0">
                <a:solidFill>
                  <a:srgbClr val="00CC00"/>
                </a:solidFill>
              </a:rPr>
              <a:t>增、删、查、改</a:t>
            </a:r>
            <a:endParaRPr lang="zh-CN" altLang="en-US" i="1" u="sng" dirty="0">
              <a:solidFill>
                <a:srgbClr val="00CC00"/>
              </a:solidFill>
            </a:endParaRPr>
          </a:p>
        </p:txBody>
      </p:sp>
      <p:cxnSp>
        <p:nvCxnSpPr>
          <p:cNvPr id="28" name="直接连接符 27"/>
          <p:cNvCxnSpPr>
            <a:stCxn id="8200" idx="2"/>
          </p:cNvCxnSpPr>
          <p:nvPr/>
        </p:nvCxnSpPr>
        <p:spPr>
          <a:xfrm flipV="1">
            <a:off x="4365625" y="2570163"/>
            <a:ext cx="450850" cy="82550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8200" idx="2"/>
          </p:cNvCxnSpPr>
          <p:nvPr/>
        </p:nvCxnSpPr>
        <p:spPr>
          <a:xfrm>
            <a:off x="4365625" y="3379788"/>
            <a:ext cx="0" cy="215900"/>
          </a:xfrm>
          <a:prstGeom prst="straightConnector1">
            <a:avLst/>
          </a:prstGeom>
          <a:ln w="444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8215" name="矩形 4"/>
          <p:cNvSpPr/>
          <p:nvPr/>
        </p:nvSpPr>
        <p:spPr>
          <a:xfrm>
            <a:off x="6121400" y="3448050"/>
            <a:ext cx="24638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i="1" u="sng" dirty="0">
                <a:solidFill>
                  <a:srgbClr val="FF0000"/>
                </a:solidFill>
              </a:rPr>
              <a:t>如何保证数据的</a:t>
            </a:r>
            <a:endParaRPr lang="zh-CN" altLang="en-US" i="1" u="sng" dirty="0">
              <a:solidFill>
                <a:srgbClr val="FF0000"/>
              </a:solidFill>
            </a:endParaRPr>
          </a:p>
          <a:p>
            <a:pPr marL="0" lvl="0" indent="0" algn="ctr" eaLnBrk="1" hangingPunct="1">
              <a:spcBef>
                <a:spcPct val="0"/>
              </a:spcBef>
              <a:buClrTx/>
              <a:buSzTx/>
              <a:buFont typeface="Arial" panose="020B0604020202020204" pitchFamily="34" charset="0"/>
              <a:buNone/>
            </a:pPr>
            <a:r>
              <a:rPr lang="zh-CN" altLang="en-US" i="1" u="sng" dirty="0">
                <a:solidFill>
                  <a:srgbClr val="FF0000"/>
                </a:solidFill>
              </a:rPr>
              <a:t>约束条件得到满足</a:t>
            </a:r>
            <a:endParaRPr lang="zh-CN" altLang="en-US" i="1" u="sng" dirty="0">
              <a:solidFill>
                <a:srgbClr val="FF0000"/>
              </a:solidFill>
            </a:endParaRPr>
          </a:p>
        </p:txBody>
      </p:sp>
      <p:cxnSp>
        <p:nvCxnSpPr>
          <p:cNvPr id="31" name="直接连接符 30"/>
          <p:cNvCxnSpPr>
            <a:stCxn id="8200" idx="2"/>
          </p:cNvCxnSpPr>
          <p:nvPr/>
        </p:nvCxnSpPr>
        <p:spPr>
          <a:xfrm flipH="1" flipV="1">
            <a:off x="6008688" y="2990850"/>
            <a:ext cx="1127125" cy="334963"/>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8200" idx="2"/>
          </p:cNvCxnSpPr>
          <p:nvPr/>
        </p:nvCxnSpPr>
        <p:spPr>
          <a:xfrm>
            <a:off x="7123113" y="3325813"/>
            <a:ext cx="0" cy="215900"/>
          </a:xfrm>
          <a:prstGeom prst="straightConnector1">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218" name="矩形 4"/>
          <p:cNvSpPr/>
          <p:nvPr/>
        </p:nvSpPr>
        <p:spPr>
          <a:xfrm>
            <a:off x="4171950" y="4876800"/>
            <a:ext cx="4800600" cy="701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层次和网状数据库是面向专业人员的，使用很不方便，程序员必须经过良好的培训</a:t>
            </a:r>
            <a:endParaRPr lang="zh-CN" altLang="en-US" dirty="0">
              <a:latin typeface="楷体" panose="02010609060101010101" pitchFamily="49" charset="-122"/>
              <a:ea typeface="楷体" panose="02010609060101010101" pitchFamily="49" charset="-122"/>
            </a:endParaRPr>
          </a:p>
        </p:txBody>
      </p:sp>
      <p:sp>
        <p:nvSpPr>
          <p:cNvPr id="35" name="左大括号 34"/>
          <p:cNvSpPr/>
          <p:nvPr/>
        </p:nvSpPr>
        <p:spPr>
          <a:xfrm rot="10800000">
            <a:off x="3806825" y="4960938"/>
            <a:ext cx="247650" cy="419100"/>
          </a:xfrm>
          <a:prstGeom prst="leftBrace">
            <a:avLst>
              <a:gd name="adj1" fmla="val 8333"/>
              <a:gd name="adj2" fmla="val 35984"/>
            </a:avLst>
          </a:prstGeom>
          <a:ln w="254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8220" name="矩形 4"/>
          <p:cNvSpPr/>
          <p:nvPr/>
        </p:nvSpPr>
        <p:spPr>
          <a:xfrm>
            <a:off x="4602163" y="5638800"/>
            <a:ext cx="2393950" cy="396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面向用户的系统</a:t>
            </a:r>
            <a:endParaRPr lang="zh-CN" altLang="en-US" dirty="0">
              <a:latin typeface="楷体" panose="02010609060101010101" pitchFamily="49" charset="-122"/>
              <a:ea typeface="楷体" panose="02010609060101010101" pitchFamily="49" charset="-122"/>
            </a:endParaRPr>
          </a:p>
        </p:txBody>
      </p:sp>
      <p:sp>
        <p:nvSpPr>
          <p:cNvPr id="37" name="左大括号 36"/>
          <p:cNvSpPr/>
          <p:nvPr/>
        </p:nvSpPr>
        <p:spPr>
          <a:xfrm rot="10800000">
            <a:off x="4240213" y="5578475"/>
            <a:ext cx="249238" cy="419100"/>
          </a:xfrm>
          <a:prstGeom prst="leftBrace">
            <a:avLst>
              <a:gd name="adj1" fmla="val 8333"/>
              <a:gd name="adj2" fmla="val 35984"/>
            </a:avLst>
          </a:prstGeom>
          <a:ln w="25400">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7"/>
          <p:cNvSpPr txBox="1"/>
          <p:nvPr/>
        </p:nvSpPr>
        <p:spPr>
          <a:xfrm>
            <a:off x="693738" y="1038225"/>
            <a:ext cx="8107362"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系统而严格地提出关系模型的是美国</a:t>
            </a:r>
            <a:r>
              <a:rPr lang="en-US" altLang="zh-CN" sz="2400" u="sng" dirty="0">
                <a:solidFill>
                  <a:srgbClr val="CC3300"/>
                </a:solidFill>
                <a:latin typeface="宋体" panose="02010600030101010101" pitchFamily="2" charset="-122"/>
              </a:rPr>
              <a:t>IBM</a:t>
            </a:r>
            <a:r>
              <a:rPr lang="zh-CN" altLang="zh-CN" sz="2400" u="sng" dirty="0">
                <a:solidFill>
                  <a:srgbClr val="CC3300"/>
                </a:solidFill>
                <a:latin typeface="宋体" panose="02010600030101010101" pitchFamily="2" charset="-122"/>
              </a:rPr>
              <a:t>公司的</a:t>
            </a:r>
            <a:r>
              <a:rPr lang="en-US" altLang="zh-CN" sz="2400" u="sng" dirty="0">
                <a:solidFill>
                  <a:srgbClr val="CC3300"/>
                </a:solidFill>
                <a:latin typeface="宋体" panose="02010600030101010101" pitchFamily="2" charset="-122"/>
              </a:rPr>
              <a:t>E.F.codd</a:t>
            </a:r>
            <a:endParaRPr lang="en-US" altLang="zh-CN" sz="2400" u="sng" dirty="0">
              <a:solidFill>
                <a:srgbClr val="CC3300"/>
              </a:solidFill>
              <a:latin typeface="宋体" panose="02010600030101010101" pitchFamily="2" charset="-122"/>
            </a:endParaRPr>
          </a:p>
        </p:txBody>
      </p:sp>
      <p:grpSp>
        <p:nvGrpSpPr>
          <p:cNvPr id="9219" name="组合 6"/>
          <p:cNvGrpSpPr/>
          <p:nvPr/>
        </p:nvGrpSpPr>
        <p:grpSpPr>
          <a:xfrm>
            <a:off x="939800" y="1616075"/>
            <a:ext cx="7747000" cy="1187450"/>
            <a:chOff x="1480" y="2544"/>
            <a:chExt cx="12200" cy="1872"/>
          </a:xfrm>
        </p:grpSpPr>
        <p:sp>
          <p:nvSpPr>
            <p:cNvPr id="9225" name="文本框 3"/>
            <p:cNvSpPr txBox="1"/>
            <p:nvPr/>
          </p:nvSpPr>
          <p:spPr>
            <a:xfrm>
              <a:off x="1480" y="2544"/>
              <a:ext cx="11439"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en-US" altLang="zh-CN" sz="2400" dirty="0">
                  <a:solidFill>
                    <a:srgbClr val="0033CC"/>
                  </a:solidFill>
                </a:rPr>
                <a:t>1970</a:t>
              </a:r>
              <a:r>
                <a:rPr lang="zh-CN" altLang="zh-CN" sz="2400" dirty="0">
                  <a:solidFill>
                    <a:srgbClr val="0033CC"/>
                  </a:solidFill>
                </a:rPr>
                <a:t>年提出</a:t>
              </a:r>
              <a:r>
                <a:rPr lang="zh-CN" altLang="en-US" sz="2400" dirty="0">
                  <a:solidFill>
                    <a:srgbClr val="0033CC"/>
                  </a:solidFill>
                </a:rPr>
                <a:t>关系数据模型</a:t>
              </a:r>
              <a:endParaRPr lang="zh-CN" altLang="en-US" sz="2400" dirty="0">
                <a:solidFill>
                  <a:srgbClr val="0033CC"/>
                </a:solidFill>
              </a:endParaRPr>
            </a:p>
          </p:txBody>
        </p:sp>
        <p:sp>
          <p:nvSpPr>
            <p:cNvPr id="9226" name="文本框 5"/>
            <p:cNvSpPr txBox="1"/>
            <p:nvPr/>
          </p:nvSpPr>
          <p:spPr>
            <a:xfrm>
              <a:off x="1568" y="3264"/>
              <a:ext cx="12112" cy="115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ü"/>
              </a:pPr>
              <a:r>
                <a:rPr lang="en-US" altLang="zh-CN" sz="2100" dirty="0"/>
                <a:t>E.F.Codd ,“A Relational Model of Data for Large Shared Data Banks”</a:t>
              </a:r>
              <a:r>
                <a:rPr lang="zh-CN" altLang="en-US" sz="2100" dirty="0"/>
                <a:t>，《</a:t>
              </a:r>
              <a:r>
                <a:rPr lang="en-US" altLang="zh-CN" sz="2100" dirty="0"/>
                <a:t>Communication of ACM</a:t>
              </a:r>
              <a:r>
                <a:rPr lang="zh-CN" altLang="zh-CN" sz="2100" dirty="0"/>
                <a:t>》，</a:t>
              </a:r>
              <a:r>
                <a:rPr lang="en-US" altLang="zh-CN" sz="2100" dirty="0"/>
                <a:t>1970</a:t>
              </a:r>
              <a:endParaRPr lang="en-US" altLang="zh-CN" sz="2100" dirty="0"/>
            </a:p>
          </p:txBody>
        </p:sp>
      </p:grpSp>
      <p:sp>
        <p:nvSpPr>
          <p:cNvPr id="9220" name="文本框 7"/>
          <p:cNvSpPr txBox="1"/>
          <p:nvPr/>
        </p:nvSpPr>
        <p:spPr>
          <a:xfrm>
            <a:off x="939800" y="2930525"/>
            <a:ext cx="726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zh-CN" altLang="en-US" sz="2400" dirty="0">
                <a:solidFill>
                  <a:srgbClr val="0033CC"/>
                </a:solidFill>
              </a:rPr>
              <a:t>之后，提出了关系代数和关系演算的概念</a:t>
            </a:r>
            <a:endParaRPr lang="zh-CN" altLang="en-US" sz="2400" dirty="0">
              <a:solidFill>
                <a:srgbClr val="0033CC"/>
              </a:solidFill>
            </a:endParaRPr>
          </a:p>
        </p:txBody>
      </p:sp>
      <p:sp>
        <p:nvSpPr>
          <p:cNvPr id="9221" name="文本框 8"/>
          <p:cNvSpPr txBox="1"/>
          <p:nvPr/>
        </p:nvSpPr>
        <p:spPr>
          <a:xfrm>
            <a:off x="958850" y="3487738"/>
            <a:ext cx="7262813"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en-US" altLang="zh-CN" sz="2400" dirty="0">
                <a:solidFill>
                  <a:srgbClr val="0033CC"/>
                </a:solidFill>
              </a:rPr>
              <a:t>1972</a:t>
            </a:r>
            <a:r>
              <a:rPr lang="zh-CN" altLang="en-US" sz="2400" dirty="0">
                <a:solidFill>
                  <a:srgbClr val="0033CC"/>
                </a:solidFill>
              </a:rPr>
              <a:t>年提出了关系第一、第二、第三范式</a:t>
            </a:r>
            <a:endParaRPr lang="zh-CN" altLang="en-US" sz="2400" dirty="0">
              <a:solidFill>
                <a:srgbClr val="0033CC"/>
              </a:solidFill>
            </a:endParaRPr>
          </a:p>
        </p:txBody>
      </p:sp>
      <p:sp>
        <p:nvSpPr>
          <p:cNvPr id="9222" name="文本框 9"/>
          <p:cNvSpPr txBox="1"/>
          <p:nvPr/>
        </p:nvSpPr>
        <p:spPr>
          <a:xfrm>
            <a:off x="939800" y="3983038"/>
            <a:ext cx="726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en-US" altLang="zh-CN" sz="2400" dirty="0">
                <a:solidFill>
                  <a:srgbClr val="0033CC"/>
                </a:solidFill>
              </a:rPr>
              <a:t>1974</a:t>
            </a:r>
            <a:r>
              <a:rPr lang="zh-CN" altLang="en-US" sz="2400" dirty="0">
                <a:solidFill>
                  <a:srgbClr val="0033CC"/>
                </a:solidFill>
              </a:rPr>
              <a:t>年提出了关系的</a:t>
            </a:r>
            <a:r>
              <a:rPr lang="en-US" altLang="zh-CN" sz="2400" dirty="0">
                <a:solidFill>
                  <a:srgbClr val="0033CC"/>
                </a:solidFill>
              </a:rPr>
              <a:t>BC</a:t>
            </a:r>
            <a:r>
              <a:rPr lang="zh-CN" altLang="en-US" sz="2400" dirty="0">
                <a:solidFill>
                  <a:srgbClr val="0033CC"/>
                </a:solidFill>
              </a:rPr>
              <a:t>范式</a:t>
            </a:r>
            <a:endParaRPr lang="zh-CN" altLang="en-US" sz="2400" dirty="0">
              <a:solidFill>
                <a:srgbClr val="0033CC"/>
              </a:solidFill>
            </a:endParaRPr>
          </a:p>
        </p:txBody>
      </p:sp>
      <p:sp>
        <p:nvSpPr>
          <p:cNvPr id="9223" name="文本框 12"/>
          <p:cNvSpPr txBox="1"/>
          <p:nvPr/>
        </p:nvSpPr>
        <p:spPr>
          <a:xfrm>
            <a:off x="939800" y="4581525"/>
            <a:ext cx="7264400" cy="4572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Ø"/>
            </a:pPr>
            <a:r>
              <a:rPr lang="zh-CN" altLang="en-US" sz="2400" dirty="0">
                <a:solidFill>
                  <a:srgbClr val="0033CC"/>
                </a:solidFill>
              </a:rPr>
              <a:t>关系数据库应用数学方法来处理数据库中的数据</a:t>
            </a:r>
            <a:endParaRPr lang="en-US" altLang="zh-CN" sz="2400" dirty="0">
              <a:solidFill>
                <a:srgbClr val="0033CC"/>
              </a:solidFill>
            </a:endParaRPr>
          </a:p>
        </p:txBody>
      </p:sp>
      <p:sp>
        <p:nvSpPr>
          <p:cNvPr id="9224" name="文本框 15"/>
          <p:cNvSpPr txBox="1"/>
          <p:nvPr/>
        </p:nvSpPr>
        <p:spPr>
          <a:xfrm>
            <a:off x="693738" y="5038725"/>
            <a:ext cx="8107362" cy="8223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ClrTx/>
              <a:buSzTx/>
              <a:buFont typeface="Wingdings" panose="05000000000000000000" pitchFamily="2" charset="2"/>
              <a:buChar char="p"/>
            </a:pPr>
            <a:r>
              <a:rPr lang="en-US" altLang="en-US" sz="2400" dirty="0">
                <a:solidFill>
                  <a:srgbClr val="CC0000"/>
                </a:solidFill>
              </a:rPr>
              <a:t>80</a:t>
            </a:r>
            <a:r>
              <a:rPr lang="zh-CN" altLang="en-US" sz="2400" dirty="0">
                <a:solidFill>
                  <a:srgbClr val="CC0000"/>
                </a:solidFill>
              </a:rPr>
              <a:t>年代后，关系数据库系统成为最重要、最流行的数据库系统</a:t>
            </a:r>
            <a:endParaRPr lang="zh-CN" altLang="en-US" sz="2400" dirty="0">
              <a:solidFill>
                <a:srgbClr val="CC0000"/>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矩形 3"/>
          <p:cNvSpPr/>
          <p:nvPr/>
        </p:nvSpPr>
        <p:spPr>
          <a:xfrm>
            <a:off x="538163" y="854075"/>
            <a:ext cx="7981950" cy="968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400" dirty="0">
                <a:latin typeface="宋体" panose="02010600030101010101" pitchFamily="2" charset="-122"/>
              </a:rPr>
              <a:t>    </a:t>
            </a:r>
            <a:r>
              <a:rPr lang="en-US" altLang="zh-CN" sz="2400" dirty="0">
                <a:latin typeface="宋体" panose="02010600030101010101" pitchFamily="2" charset="-122"/>
              </a:rPr>
              <a:t>ERM</a:t>
            </a:r>
            <a:r>
              <a:rPr lang="zh-CN" altLang="en-US" sz="2400" dirty="0">
                <a:latin typeface="宋体" panose="02010600030101010101" pitchFamily="2" charset="-122"/>
              </a:rPr>
              <a:t>向关系模型的转换，是将</a:t>
            </a:r>
            <a:r>
              <a:rPr lang="en-US" altLang="zh-CN" sz="2400" dirty="0">
                <a:latin typeface="宋体" panose="02010600030101010101" pitchFamily="2" charset="-122"/>
              </a:rPr>
              <a:t>ER</a:t>
            </a:r>
            <a:r>
              <a:rPr lang="zh-CN" altLang="en-US" sz="2400" dirty="0">
                <a:latin typeface="宋体" panose="02010600030101010101" pitchFamily="2" charset="-122"/>
              </a:rPr>
              <a:t>图转换成带有相关约束的表的集合。</a:t>
            </a:r>
            <a:endParaRPr lang="zh-CN" altLang="en-US" sz="2400" dirty="0">
              <a:latin typeface="宋体" panose="02010600030101010101" pitchFamily="2" charset="-122"/>
            </a:endParaRPr>
          </a:p>
        </p:txBody>
      </p:sp>
      <p:graphicFrame>
        <p:nvGraphicFramePr>
          <p:cNvPr id="7171" name="表格 7170"/>
          <p:cNvGraphicFramePr/>
          <p:nvPr/>
        </p:nvGraphicFramePr>
        <p:xfrm>
          <a:off x="788988" y="1901825"/>
          <a:ext cx="7748588" cy="4187825"/>
        </p:xfrm>
        <a:graphic>
          <a:graphicData uri="http://schemas.openxmlformats.org/drawingml/2006/table">
            <a:tbl>
              <a:tblPr/>
              <a:tblGrid>
                <a:gridCol w="2558520"/>
                <a:gridCol w="2607417"/>
                <a:gridCol w="2582651"/>
              </a:tblGrid>
              <a:tr h="7953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a:solidFill>
                            <a:srgbClr val="A50021"/>
                          </a:solidFill>
                        </a:rPr>
                        <a:t>概念模式与逻辑模式的对应</a:t>
                      </a:r>
                      <a:endParaRPr lang="zh-CN" altLang="en-US" sz="2200">
                        <a:solidFill>
                          <a:srgbClr val="A50021"/>
                        </a:solidFill>
                      </a:endParaRPr>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200"/>
                        <a:t>ER Schema</a:t>
                      </a:r>
                      <a:endParaRPr lang="en-US" altLang="zh-CN" sz="220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200"/>
                        <a:t>RDB Schema</a:t>
                      </a:r>
                      <a:endParaRPr lang="en-US" altLang="zh-CN" sz="220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1231481">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数据结构</a:t>
                      </a:r>
                      <a:endParaRPr lang="zh-CN" altLang="en-US" sz="2200" b="0"/>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实体集</a:t>
                      </a:r>
                      <a:r>
                        <a:rPr lang="en-US" altLang="zh-CN" sz="2200" b="0"/>
                        <a:t>+</a:t>
                      </a:r>
                      <a:r>
                        <a:rPr lang="zh-CN" altLang="en-US" sz="2200" b="0"/>
                        <a:t>属性</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联系集</a:t>
                      </a:r>
                      <a:r>
                        <a:rPr lang="en-US" altLang="zh-CN" sz="2200" b="0"/>
                        <a:t>+</a:t>
                      </a:r>
                      <a:r>
                        <a:rPr lang="zh-CN" altLang="en-US" sz="2200" b="0"/>
                        <a:t>属性</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主键（候选键）</a:t>
                      </a:r>
                      <a:endParaRPr lang="zh-CN" altLang="en-US" sz="2200" b="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594161">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数据操作</a:t>
                      </a:r>
                      <a:endParaRPr lang="zh-CN" altLang="en-US" sz="2200" b="0"/>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200" b="0"/>
                        <a:t>/</a:t>
                      </a:r>
                      <a:endParaRPr lang="en-US" altLang="zh-CN" sz="2200" b="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a:t>
                      </a:r>
                      <a:endParaRPr lang="zh-CN" altLang="en-US" sz="2200" b="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15667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数据约束</a:t>
                      </a:r>
                      <a:endParaRPr lang="zh-CN" altLang="en-US" sz="2200" b="0"/>
                    </a:p>
                  </a:txBody>
                  <a:tcPr marL="91444" marR="91444" marT="45705" marB="4570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一般性约束（联系类型约束）</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键约束</a:t>
                      </a:r>
                      <a:endParaRPr lang="zh-CN" altLang="en-US" sz="2200" b="0"/>
                    </a:p>
                    <a:p>
                      <a:pPr marL="0" lvl="0" indent="0" eaLnBrk="1" hangingPunct="1">
                        <a:spcBef>
                          <a:spcPct val="20000"/>
                        </a:spcBef>
                        <a:buClr>
                          <a:srgbClr val="000000"/>
                        </a:buClr>
                        <a:buFont typeface="Arial" panose="020B0604020202020204" pitchFamily="34" charset="0"/>
                        <a:buNone/>
                      </a:pPr>
                      <a:r>
                        <a:rPr lang="zh-CN" altLang="en-US" sz="2200" b="0"/>
                        <a:t>参与约束</a:t>
                      </a:r>
                      <a:endParaRPr lang="zh-CN" altLang="en-US" sz="2200" b="0"/>
                    </a:p>
                  </a:txBody>
                  <a:tcPr marL="91444" marR="91444" marT="45705" marB="4570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t>？ </a:t>
                      </a:r>
                      <a:endParaRPr lang="zh-CN" altLang="en-US" sz="2200" b="0"/>
                    </a:p>
                  </a:txBody>
                  <a:tcPr marL="91444" marR="91444" marT="45705" marB="4570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spTree>
  </p:cSld>
  <p:clrMapOvr>
    <a:masterClrMapping/>
  </p:clrMapOvr>
  <p:transition advTm="54672"/>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 Box 3"/>
          <p:cNvSpPr txBox="1"/>
          <p:nvPr/>
        </p:nvSpPr>
        <p:spPr>
          <a:xfrm>
            <a:off x="581025" y="1020763"/>
            <a:ext cx="8229600" cy="4940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rPr>
              <a:t>数据模型的三要素,是本章学习的路标</a:t>
            </a:r>
            <a:endParaRPr lang="zh-CN" altLang="en-US" sz="2600" dirty="0">
              <a:solidFill>
                <a:srgbClr val="FF3300"/>
              </a:solidFill>
              <a:latin typeface="宋体" panose="02010600030101010101" pitchFamily="2" charset="-122"/>
            </a:endParaRPr>
          </a:p>
          <a:p>
            <a:pPr marL="914400" lvl="1" indent="-457200" eaLnBrk="1" hangingPunct="1">
              <a:lnSpc>
                <a:spcPct val="135000"/>
              </a:lnSpc>
              <a:spcBef>
                <a:spcPts val="30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静态数据结构;动态数据操作;完整性约束</a:t>
            </a:r>
            <a:endParaRPr lang="zh-CN" altLang="en-US" sz="2400" b="0" dirty="0">
              <a:latin typeface="华文楷体" panose="02010600040101010101" pitchFamily="2" charset="-122"/>
              <a:ea typeface="华文楷体" panose="02010600040101010101" pitchFamily="2" charset="-122"/>
            </a:endParaRPr>
          </a:p>
          <a:p>
            <a:pPr marL="457200" lvl="0" indent="-457200" eaLnBrk="1" hangingPunct="1">
              <a:lnSpc>
                <a:spcPct val="135000"/>
              </a:lnSpc>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rPr>
              <a:t>这三要素体现在如下问题中:</a:t>
            </a:r>
            <a:endParaRPr lang="zh-CN" altLang="en-US" sz="2600" dirty="0">
              <a:solidFill>
                <a:srgbClr val="FF3300"/>
              </a:solidFill>
              <a:latin typeface="宋体" panose="0201060003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如何表达数据本身？</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如何表达数据间的联系？</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有哪些动态数据操作？</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能表达哪些完整性约束？</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完整性约束如何设定？</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完整性约束的效果？</a:t>
            </a:r>
            <a:endParaRPr lang="zh-CN" altLang="en-US" sz="2400" b="0" dirty="0">
              <a:latin typeface="华文楷体" panose="02010600040101010101" pitchFamily="2" charset="-122"/>
              <a:ea typeface="华文楷体" panose="02010600040101010101" pitchFamily="2" charset="-122"/>
            </a:endParaRPr>
          </a:p>
          <a:p>
            <a:pPr marL="914400" lvl="1" indent="-457200" eaLnBrk="1" hangingPunct="1">
              <a:lnSpc>
                <a:spcPct val="125000"/>
              </a:lnSpc>
              <a:spcBef>
                <a:spcPct val="0"/>
              </a:spcBef>
              <a:buClrTx/>
              <a:buSzPct val="50000"/>
              <a:buFont typeface="Wingdings" panose="05000000000000000000" pitchFamily="2" charset="2"/>
              <a:buChar char="v"/>
            </a:pPr>
            <a:r>
              <a:rPr lang="zh-CN" altLang="en-US" sz="2400" b="0" dirty="0">
                <a:latin typeface="华文楷体" panose="02010600040101010101" pitchFamily="2" charset="-122"/>
                <a:ea typeface="华文楷体" panose="02010600040101010101" pitchFamily="2" charset="-122"/>
              </a:rPr>
              <a:t>如何进行关系模型的DB设计？</a:t>
            </a:r>
            <a:endParaRPr lang="zh-CN" altLang="en-US" sz="2400" b="0" dirty="0">
              <a:latin typeface="华文楷体" panose="02010600040101010101" pitchFamily="2" charset="-122"/>
              <a:ea typeface="华文楷体" panose="0201060004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矩形 4"/>
          <p:cNvSpPr/>
          <p:nvPr/>
        </p:nvSpPr>
        <p:spPr>
          <a:xfrm>
            <a:off x="428625" y="912813"/>
            <a:ext cx="78295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Arial" panose="020B0604020202020204" pitchFamily="34" charset="0"/>
              <a:buNone/>
            </a:pPr>
            <a:r>
              <a:rPr lang="zh-CN" altLang="en-US" sz="2400" dirty="0">
                <a:solidFill>
                  <a:srgbClr val="C00000"/>
                </a:solidFill>
                <a:latin typeface="宋体" panose="02010600030101010101" pitchFamily="2" charset="-122"/>
              </a:rPr>
              <a:t>（</a:t>
            </a:r>
            <a:r>
              <a:rPr lang="en-US" altLang="zh-CN" sz="2400" dirty="0">
                <a:solidFill>
                  <a:srgbClr val="C00000"/>
                </a:solidFill>
                <a:latin typeface="宋体" panose="02010600030101010101" pitchFamily="2" charset="-122"/>
              </a:rPr>
              <a:t>1</a:t>
            </a:r>
            <a:r>
              <a:rPr lang="zh-CN" altLang="en-US" sz="2400" dirty="0">
                <a:solidFill>
                  <a:srgbClr val="C00000"/>
                </a:solidFill>
                <a:latin typeface="宋体" panose="02010600030101010101" pitchFamily="2" charset="-122"/>
              </a:rPr>
              <a:t>）关系（</a:t>
            </a:r>
            <a:r>
              <a:rPr lang="en-US" altLang="zh-CN" sz="2400" dirty="0">
                <a:solidFill>
                  <a:srgbClr val="C00000"/>
                </a:solidFill>
                <a:latin typeface="宋体" panose="02010600030101010101" pitchFamily="2" charset="-122"/>
              </a:rPr>
              <a:t>Relation</a:t>
            </a:r>
            <a:r>
              <a:rPr lang="zh-CN" altLang="en-US" sz="2400" dirty="0">
                <a:solidFill>
                  <a:srgbClr val="C00000"/>
                </a:solidFill>
                <a:latin typeface="宋体" panose="02010600030101010101" pitchFamily="2" charset="-122"/>
              </a:rPr>
              <a:t>）</a:t>
            </a:r>
            <a:endParaRPr lang="zh-CN" altLang="en-US" sz="2400" dirty="0">
              <a:solidFill>
                <a:srgbClr val="C00000"/>
              </a:solidFill>
              <a:latin typeface="宋体" panose="02010600030101010101" pitchFamily="2" charset="-122"/>
            </a:endParaRPr>
          </a:p>
        </p:txBody>
      </p:sp>
      <p:sp>
        <p:nvSpPr>
          <p:cNvPr id="12291" name="Text Box 3"/>
          <p:cNvSpPr txBox="1"/>
          <p:nvPr/>
        </p:nvSpPr>
        <p:spPr>
          <a:xfrm>
            <a:off x="180975" y="1385888"/>
            <a:ext cx="8839200" cy="625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600" dirty="0">
                <a:solidFill>
                  <a:schemeClr val="accent2"/>
                </a:solidFill>
                <a:latin typeface="方正姚体" panose="02010601030101010101" pitchFamily="2" charset="-122"/>
                <a:ea typeface="方正姚体" panose="02010601030101010101" pitchFamily="2" charset="-122"/>
              </a:rPr>
              <a:t>       </a:t>
            </a:r>
            <a:r>
              <a:rPr lang="zh-CN" altLang="en-US" sz="2400" u="sng" dirty="0">
                <a:solidFill>
                  <a:srgbClr val="CC3300"/>
                </a:solidFill>
                <a:latin typeface="宋体" panose="02010600030101010101" pitchFamily="2" charset="-122"/>
              </a:rPr>
              <a:t>概念：</a:t>
            </a:r>
            <a:r>
              <a:rPr lang="zh-CN" altLang="en-US" sz="2400" dirty="0">
                <a:solidFill>
                  <a:schemeClr val="accent2"/>
                </a:solidFill>
                <a:latin typeface="宋体" panose="02010600030101010101" pitchFamily="2" charset="-122"/>
              </a:rPr>
              <a:t>用于描述数据本身、数据之间联系，俗称“表”。</a:t>
            </a:r>
            <a:endParaRPr lang="zh-CN" altLang="en-US" sz="2400" dirty="0">
              <a:solidFill>
                <a:schemeClr val="accent2"/>
              </a:solidFill>
              <a:latin typeface="宋体" panose="02010600030101010101" pitchFamily="2" charset="-122"/>
            </a:endParaRPr>
          </a:p>
        </p:txBody>
      </p:sp>
      <p:sp>
        <p:nvSpPr>
          <p:cNvPr id="12292" name="Text Box 8"/>
          <p:cNvSpPr txBox="1"/>
          <p:nvPr/>
        </p:nvSpPr>
        <p:spPr>
          <a:xfrm>
            <a:off x="428625" y="1947863"/>
            <a:ext cx="8780463" cy="904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CC3300"/>
                </a:solidFill>
                <a:latin typeface="宋体" panose="02010600030101010101" pitchFamily="2" charset="-122"/>
              </a:rPr>
              <a:t>  </a:t>
            </a:r>
            <a:r>
              <a:rPr lang="zh-CN" altLang="en-US" sz="2400" u="sng" dirty="0">
                <a:solidFill>
                  <a:srgbClr val="CC3300"/>
                </a:solidFill>
                <a:latin typeface="宋体" panose="02010600030101010101" pitchFamily="2" charset="-122"/>
              </a:rPr>
              <a:t>示例：</a:t>
            </a:r>
            <a:r>
              <a:rPr lang="zh-CN" altLang="en-US" sz="2400" dirty="0">
                <a:solidFill>
                  <a:schemeClr val="accent2"/>
                </a:solidFill>
                <a:latin typeface="宋体" panose="02010600030101010101" pitchFamily="2" charset="-122"/>
              </a:rPr>
              <a:t>一张“学生信息表”（数据本身）、“学生选课表”（数据间的联系）。</a:t>
            </a:r>
            <a:endParaRPr lang="zh-CN" altLang="en-US" sz="2400" dirty="0">
              <a:solidFill>
                <a:schemeClr val="accent2"/>
              </a:solidFill>
              <a:latin typeface="宋体" panose="02010600030101010101" pitchFamily="2" charset="-122"/>
            </a:endParaRPr>
          </a:p>
        </p:txBody>
      </p:sp>
      <p:sp>
        <p:nvSpPr>
          <p:cNvPr id="10246" name="Text Box 4"/>
          <p:cNvSpPr txBox="1"/>
          <p:nvPr/>
        </p:nvSpPr>
        <p:spPr>
          <a:xfrm>
            <a:off x="660400" y="5102225"/>
            <a:ext cx="8026400" cy="920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buFont typeface="Arial" panose="020B0604020202020204" pitchFamily="34" charset="0"/>
              <a:buNone/>
            </a:pPr>
            <a:r>
              <a:rPr lang="zh-CN" altLang="en-US" sz="2400" u="sng" dirty="0">
                <a:solidFill>
                  <a:srgbClr val="CC3300"/>
                </a:solidFill>
                <a:latin typeface="宋体" panose="02010600030101010101" pitchFamily="2" charset="-122"/>
              </a:rPr>
              <a:t>表构成：</a:t>
            </a:r>
            <a:r>
              <a:rPr lang="zh-CN" altLang="en-US" sz="2400" dirty="0">
                <a:solidFill>
                  <a:schemeClr val="accent2"/>
                </a:solidFill>
                <a:latin typeface="宋体" panose="02010600030101010101" pitchFamily="2" charset="-122"/>
              </a:rPr>
              <a:t>由“列”和“行”</a:t>
            </a:r>
            <a:r>
              <a:rPr lang="zh-CN" altLang="en-US" sz="2200" dirty="0">
                <a:solidFill>
                  <a:srgbClr val="007C00"/>
                </a:solidFill>
                <a:latin typeface="宋体" panose="02010600030101010101" pitchFamily="2" charset="-122"/>
              </a:rPr>
              <a:t> </a:t>
            </a:r>
            <a:r>
              <a:rPr lang="zh-CN" altLang="en-US" sz="2400" dirty="0">
                <a:solidFill>
                  <a:schemeClr val="accent2"/>
                </a:solidFill>
                <a:latin typeface="宋体" panose="02010600030101010101" pitchFamily="2" charset="-122"/>
              </a:rPr>
              <a:t>组成。各列构成“关系模式</a:t>
            </a:r>
            <a:r>
              <a:rPr lang="zh-CN" altLang="en-US" sz="2200" dirty="0">
                <a:solidFill>
                  <a:srgbClr val="007C00"/>
                </a:solidFill>
                <a:latin typeface="宋体" panose="02010600030101010101" pitchFamily="2" charset="-122"/>
              </a:rPr>
              <a:t>（</a:t>
            </a:r>
            <a:r>
              <a:rPr lang="en-US" altLang="zh-CN" sz="2200" dirty="0">
                <a:solidFill>
                  <a:srgbClr val="007C00"/>
                </a:solidFill>
                <a:latin typeface="宋体" panose="02010600030101010101" pitchFamily="2" charset="-122"/>
              </a:rPr>
              <a:t>Schema</a:t>
            </a:r>
            <a:r>
              <a:rPr lang="zh-CN" altLang="en-US" sz="22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”，各行构成“关系实例</a:t>
            </a:r>
            <a:r>
              <a:rPr lang="zh-CN" altLang="en-US" sz="2200" dirty="0">
                <a:solidFill>
                  <a:srgbClr val="007C00"/>
                </a:solidFill>
                <a:latin typeface="宋体" panose="02010600030101010101" pitchFamily="2" charset="-122"/>
              </a:rPr>
              <a:t>（</a:t>
            </a:r>
            <a:r>
              <a:rPr lang="en-US" altLang="zh-CN" sz="2200" dirty="0">
                <a:solidFill>
                  <a:srgbClr val="007C00"/>
                </a:solidFill>
                <a:latin typeface="宋体" panose="02010600030101010101" pitchFamily="2" charset="-122"/>
              </a:rPr>
              <a:t>Instance</a:t>
            </a:r>
            <a:r>
              <a:rPr lang="zh-CN" altLang="en-US" sz="22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a:t>
            </a:r>
            <a:endParaRPr lang="zh-CN" altLang="en-US" sz="2400" dirty="0">
              <a:solidFill>
                <a:schemeClr val="accent2"/>
              </a:solidFill>
              <a:latin typeface="宋体" panose="02010600030101010101" pitchFamily="2" charset="-122"/>
            </a:endParaRPr>
          </a:p>
        </p:txBody>
      </p:sp>
      <p:graphicFrame>
        <p:nvGraphicFramePr>
          <p:cNvPr id="10247" name="表格 10246"/>
          <p:cNvGraphicFramePr/>
          <p:nvPr/>
        </p:nvGraphicFramePr>
        <p:xfrm>
          <a:off x="1343025" y="3498850"/>
          <a:ext cx="6811963" cy="1446213"/>
        </p:xfrm>
        <a:graphic>
          <a:graphicData uri="http://schemas.openxmlformats.org/drawingml/2006/table">
            <a:tbl>
              <a:tblPr/>
              <a:tblGrid>
                <a:gridCol w="1816100"/>
                <a:gridCol w="1363663"/>
                <a:gridCol w="1906587"/>
                <a:gridCol w="1725613"/>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姓名</a:t>
                      </a:r>
                      <a:endParaRPr lang="zh-CN" altLang="en-US" sz="20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学号</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D.O.B</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latin typeface="宋体" panose="02010600030101010101" pitchFamily="2" charset="-122"/>
                        </a:rPr>
                        <a:t>…</a:t>
                      </a: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05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Peter Bach</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2000101</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5-10-1982</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98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Lisa Baumann</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2000102</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000" b="0" dirty="0"/>
                        <a:t>12-7-1982</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2317" name="Text Box 28"/>
          <p:cNvSpPr txBox="1"/>
          <p:nvPr/>
        </p:nvSpPr>
        <p:spPr>
          <a:xfrm>
            <a:off x="6067425" y="2825750"/>
            <a:ext cx="609600" cy="590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3300"/>
                </a:solidFill>
                <a:latin typeface="宋体" panose="02010600030101010101" pitchFamily="2" charset="-122"/>
              </a:rPr>
              <a:t>列</a:t>
            </a:r>
            <a:endParaRPr lang="zh-CN" altLang="en-US" sz="2400" dirty="0">
              <a:solidFill>
                <a:srgbClr val="CC3300"/>
              </a:solidFill>
              <a:latin typeface="宋体" panose="02010600030101010101" pitchFamily="2" charset="-122"/>
            </a:endParaRPr>
          </a:p>
        </p:txBody>
      </p:sp>
      <p:sp>
        <p:nvSpPr>
          <p:cNvPr id="12318" name="Text Box 29"/>
          <p:cNvSpPr txBox="1"/>
          <p:nvPr/>
        </p:nvSpPr>
        <p:spPr>
          <a:xfrm>
            <a:off x="327025" y="3571875"/>
            <a:ext cx="5334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3300"/>
                </a:solidFill>
                <a:latin typeface="宋体" panose="02010600030101010101" pitchFamily="2" charset="-122"/>
              </a:rPr>
              <a:t>行</a:t>
            </a:r>
            <a:endParaRPr lang="zh-CN" altLang="en-US" sz="2400" dirty="0">
              <a:solidFill>
                <a:srgbClr val="CC3300"/>
              </a:solidFill>
              <a:latin typeface="宋体" panose="02010600030101010101" pitchFamily="2" charset="-122"/>
            </a:endParaRPr>
          </a:p>
        </p:txBody>
      </p:sp>
      <p:sp>
        <p:nvSpPr>
          <p:cNvPr id="12319" name="Text Box 30"/>
          <p:cNvSpPr txBox="1"/>
          <p:nvPr/>
        </p:nvSpPr>
        <p:spPr>
          <a:xfrm>
            <a:off x="1085850" y="2886075"/>
            <a:ext cx="1371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a:t>
            </a:r>
            <a:endParaRPr lang="zh-CN" altLang="en-US" sz="2400" dirty="0">
              <a:solidFill>
                <a:srgbClr val="0000CC"/>
              </a:solidFill>
              <a:latin typeface="宋体" panose="02010600030101010101" pitchFamily="2" charset="-122"/>
            </a:endParaRPr>
          </a:p>
        </p:txBody>
      </p:sp>
      <p:sp>
        <p:nvSpPr>
          <p:cNvPr id="12320" name="Line 31"/>
          <p:cNvSpPr/>
          <p:nvPr/>
        </p:nvSpPr>
        <p:spPr>
          <a:xfrm>
            <a:off x="765175" y="3916363"/>
            <a:ext cx="863600" cy="215900"/>
          </a:xfrm>
          <a:prstGeom prst="line">
            <a:avLst/>
          </a:prstGeom>
          <a:ln w="25400" cap="flat" cmpd="sng">
            <a:solidFill>
              <a:srgbClr val="CC3300"/>
            </a:solidFill>
            <a:prstDash val="solid"/>
            <a:headEnd type="none" w="med" len="med"/>
            <a:tailEnd type="triangle" w="med" len="med"/>
          </a:ln>
        </p:spPr>
      </p:sp>
      <p:sp>
        <p:nvSpPr>
          <p:cNvPr id="12321" name="Line 32"/>
          <p:cNvSpPr/>
          <p:nvPr/>
        </p:nvSpPr>
        <p:spPr>
          <a:xfrm>
            <a:off x="790575" y="3971925"/>
            <a:ext cx="622300" cy="649288"/>
          </a:xfrm>
          <a:prstGeom prst="line">
            <a:avLst/>
          </a:prstGeom>
          <a:ln w="25400" cap="flat" cmpd="sng">
            <a:solidFill>
              <a:srgbClr val="CC3300"/>
            </a:solidFill>
            <a:prstDash val="solid"/>
            <a:headEnd type="none" w="med" len="med"/>
            <a:tailEnd type="triangle" w="med" len="med"/>
          </a:ln>
        </p:spPr>
      </p:sp>
      <p:sp>
        <p:nvSpPr>
          <p:cNvPr id="12322" name="Line 33"/>
          <p:cNvSpPr/>
          <p:nvPr/>
        </p:nvSpPr>
        <p:spPr>
          <a:xfrm flipH="1">
            <a:off x="2898775" y="3138488"/>
            <a:ext cx="3095625" cy="434975"/>
          </a:xfrm>
          <a:prstGeom prst="line">
            <a:avLst/>
          </a:prstGeom>
          <a:ln w="25400" cap="flat" cmpd="sng">
            <a:solidFill>
              <a:srgbClr val="CC3300"/>
            </a:solidFill>
            <a:prstDash val="solid"/>
            <a:headEnd type="none" w="med" len="med"/>
            <a:tailEnd type="triangle" w="med" len="med"/>
          </a:ln>
        </p:spPr>
      </p:sp>
      <p:sp>
        <p:nvSpPr>
          <p:cNvPr id="12323" name="Line 34"/>
          <p:cNvSpPr/>
          <p:nvPr/>
        </p:nvSpPr>
        <p:spPr>
          <a:xfrm flipH="1">
            <a:off x="4051300" y="3138488"/>
            <a:ext cx="2016125" cy="584200"/>
          </a:xfrm>
          <a:prstGeom prst="line">
            <a:avLst/>
          </a:prstGeom>
          <a:ln w="25400" cap="flat" cmpd="sng">
            <a:solidFill>
              <a:srgbClr val="CC3300"/>
            </a:solidFill>
            <a:prstDash val="solid"/>
            <a:headEnd type="none" w="med" len="med"/>
            <a:tailEnd type="triangle" w="med" len="med"/>
          </a:ln>
        </p:spPr>
      </p:sp>
      <p:sp>
        <p:nvSpPr>
          <p:cNvPr id="12324" name="Line 35"/>
          <p:cNvSpPr/>
          <p:nvPr/>
        </p:nvSpPr>
        <p:spPr>
          <a:xfrm flipH="1">
            <a:off x="5707063" y="3138488"/>
            <a:ext cx="360362" cy="439737"/>
          </a:xfrm>
          <a:prstGeom prst="line">
            <a:avLst/>
          </a:prstGeom>
          <a:ln w="25400" cap="flat" cmpd="sng">
            <a:solidFill>
              <a:srgbClr val="CC3300"/>
            </a:solidFill>
            <a:prstDash val="solid"/>
            <a:headEnd type="none" w="med" len="med"/>
            <a:tailEnd type="triangle" w="med" len="med"/>
          </a:ln>
        </p:spPr>
      </p:sp>
      <p:sp>
        <p:nvSpPr>
          <p:cNvPr id="12325" name="Rectangle 2"/>
          <p:cNvSpPr/>
          <p:nvPr/>
        </p:nvSpPr>
        <p:spPr>
          <a:xfrm>
            <a:off x="457200" y="492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pic>
        <p:nvPicPr>
          <p:cNvPr id="2" name="图片 1"/>
          <p:cNvPicPr>
            <a:picLocks noChangeAspect="1"/>
          </p:cNvPicPr>
          <p:nvPr/>
        </p:nvPicPr>
        <p:blipFill>
          <a:blip r:embed="rId1"/>
          <a:stretch>
            <a:fillRect/>
          </a:stretch>
        </p:blipFill>
        <p:spPr>
          <a:xfrm>
            <a:off x="660400" y="3314700"/>
            <a:ext cx="7896225" cy="260508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246">
                                            <p:txEl>
                                              <p:charRg st="0" end="57"/>
                                            </p:txEl>
                                          </p:spTgt>
                                        </p:tgtEl>
                                        <p:attrNameLst>
                                          <p:attrName>style.visibility</p:attrName>
                                        </p:attrNameLst>
                                      </p:cBhvr>
                                      <p:to>
                                        <p:strVal val="visible"/>
                                      </p:to>
                                    </p:set>
                                    <p:animEffect transition="in" filter="wipe(down)">
                                      <p:cBhvr>
                                        <p:cTn id="7" dur="500"/>
                                        <p:tgtEl>
                                          <p:spTgt spid="10246">
                                            <p:txEl>
                                              <p:charRg st="0" end="57"/>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6"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7" name="Text Box 7"/>
          <p:cNvSpPr txBox="1"/>
          <p:nvPr/>
        </p:nvSpPr>
        <p:spPr>
          <a:xfrm>
            <a:off x="681038" y="1131888"/>
            <a:ext cx="8113712" cy="895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列：</a:t>
            </a:r>
            <a:r>
              <a:rPr lang="zh-CN" altLang="en-US" sz="2400" dirty="0">
                <a:solidFill>
                  <a:schemeClr val="accent2"/>
                </a:solidFill>
                <a:latin typeface="宋体" panose="02010600030101010101" pitchFamily="2" charset="-122"/>
              </a:rPr>
              <a:t>有时也称“字段”</a:t>
            </a:r>
            <a:r>
              <a:rPr lang="zh-CN" altLang="en-US" sz="2400" dirty="0">
                <a:solidFill>
                  <a:srgbClr val="007C00"/>
                </a:solidFill>
                <a:latin typeface="宋体" panose="02010600030101010101" pitchFamily="2" charset="-122"/>
              </a:rPr>
              <a:t>（</a:t>
            </a:r>
            <a:r>
              <a:rPr lang="en-US" altLang="zh-CN" sz="2400" dirty="0">
                <a:solidFill>
                  <a:srgbClr val="007C00"/>
                </a:solidFill>
                <a:latin typeface="宋体" panose="02010600030101010101" pitchFamily="2" charset="-122"/>
              </a:rPr>
              <a:t>Field</a:t>
            </a:r>
            <a:r>
              <a:rPr lang="zh-CN" altLang="en-US" sz="24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、“属性”、“成员”</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表示为：</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a:t>
            </a:r>
            <a:endParaRPr lang="zh-CN" altLang="en-US" sz="2400" dirty="0">
              <a:solidFill>
                <a:schemeClr val="accent2"/>
              </a:solidFill>
              <a:latin typeface="宋体" panose="02010600030101010101" pitchFamily="2" charset="-122"/>
            </a:endParaRPr>
          </a:p>
        </p:txBody>
      </p:sp>
      <p:sp>
        <p:nvSpPr>
          <p:cNvPr id="11268" name="Text Box 6"/>
          <p:cNvSpPr txBox="1"/>
          <p:nvPr/>
        </p:nvSpPr>
        <p:spPr>
          <a:xfrm>
            <a:off x="652463" y="3627438"/>
            <a:ext cx="8172450" cy="8540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行：</a:t>
            </a:r>
            <a:r>
              <a:rPr lang="zh-CN" altLang="en-US" sz="2400" dirty="0">
                <a:solidFill>
                  <a:schemeClr val="accent2"/>
                </a:solidFill>
                <a:latin typeface="宋体" panose="02010600030101010101" pitchFamily="2" charset="-122"/>
              </a:rPr>
              <a:t>有时也称“元组”</a:t>
            </a:r>
            <a:r>
              <a:rPr lang="zh-CN" altLang="en-US" sz="2400" dirty="0">
                <a:solidFill>
                  <a:srgbClr val="007C00"/>
                </a:solidFill>
                <a:latin typeface="宋体" panose="02010600030101010101" pitchFamily="2" charset="-122"/>
              </a:rPr>
              <a:t>（</a:t>
            </a:r>
            <a:r>
              <a:rPr lang="en-US" altLang="zh-CN" sz="2400" dirty="0">
                <a:solidFill>
                  <a:srgbClr val="007C00"/>
                </a:solidFill>
                <a:latin typeface="宋体" panose="02010600030101010101" pitchFamily="2" charset="-122"/>
              </a:rPr>
              <a:t>Tuple</a:t>
            </a:r>
            <a:r>
              <a:rPr lang="zh-CN" altLang="en-US" sz="24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、“记录”</a:t>
            </a:r>
            <a:r>
              <a:rPr lang="zh-CN" altLang="en-US" sz="2400" dirty="0">
                <a:solidFill>
                  <a:srgbClr val="007C00"/>
                </a:solidFill>
                <a:latin typeface="宋体" panose="02010600030101010101" pitchFamily="2" charset="-122"/>
              </a:rPr>
              <a:t>（</a:t>
            </a:r>
            <a:r>
              <a:rPr lang="en-US" altLang="zh-CN" sz="2400" dirty="0">
                <a:solidFill>
                  <a:srgbClr val="007C00"/>
                </a:solidFill>
                <a:latin typeface="宋体" panose="02010600030101010101" pitchFamily="2" charset="-122"/>
              </a:rPr>
              <a:t>Record</a:t>
            </a:r>
            <a:r>
              <a:rPr lang="zh-CN" altLang="en-US" sz="2400" dirty="0">
                <a:solidFill>
                  <a:srgbClr val="007C00"/>
                </a:solidFill>
                <a:latin typeface="宋体" panose="02010600030101010101" pitchFamily="2" charset="-122"/>
              </a:rPr>
              <a:t>）</a:t>
            </a:r>
            <a:r>
              <a:rPr lang="zh-CN" altLang="en-US" sz="2400" dirty="0">
                <a:solidFill>
                  <a:schemeClr val="accent2"/>
                </a:solidFill>
                <a:latin typeface="宋体" panose="02010600030101010101" pitchFamily="2" charset="-122"/>
              </a:rPr>
              <a:t>。表示为：</a:t>
            </a:r>
            <a:r>
              <a:rPr lang="en-US" altLang="zh-CN" sz="2400" dirty="0">
                <a:solidFill>
                  <a:schemeClr val="accent2"/>
                </a:solidFill>
                <a:latin typeface="宋体" panose="02010600030101010101" pitchFamily="2" charset="-122"/>
              </a:rPr>
              <a:t>t=&lt;a</a:t>
            </a:r>
            <a:r>
              <a:rPr lang="en-US" altLang="zh-CN" sz="2400" baseline="-25000" dirty="0">
                <a:solidFill>
                  <a:schemeClr val="accent2"/>
                </a:solidFill>
                <a:latin typeface="宋体" panose="02010600030101010101" pitchFamily="2" charset="-122"/>
              </a:rPr>
              <a:t>1</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2</a:t>
            </a:r>
            <a:r>
              <a:rPr lang="en-US" altLang="zh-CN" sz="2400" dirty="0">
                <a:solidFill>
                  <a:schemeClr val="accent2"/>
                </a:solidFill>
                <a:latin typeface="宋体" panose="02010600030101010101" pitchFamily="2" charset="-122"/>
              </a:rPr>
              <a:t>, …, a</a:t>
            </a:r>
            <a:r>
              <a:rPr lang="en-US" altLang="zh-CN" sz="2400" baseline="-25000" dirty="0">
                <a:solidFill>
                  <a:schemeClr val="accent2"/>
                </a:solidFill>
                <a:latin typeface="宋体" panose="02010600030101010101" pitchFamily="2" charset="-122"/>
              </a:rPr>
              <a:t>n</a:t>
            </a:r>
            <a:r>
              <a:rPr lang="en-US" altLang="zh-CN" sz="2400" dirty="0">
                <a:solidFill>
                  <a:schemeClr val="accent2"/>
                </a:solidFill>
                <a:latin typeface="宋体" panose="02010600030101010101" pitchFamily="2" charset="-122"/>
              </a:rPr>
              <a:t>&gt;</a:t>
            </a:r>
            <a:r>
              <a:rPr lang="zh-CN" altLang="en-US" sz="2400" dirty="0">
                <a:solidFill>
                  <a:schemeClr val="accent2"/>
                </a:solidFill>
                <a:latin typeface="宋体" panose="02010600030101010101" pitchFamily="2" charset="-122"/>
              </a:rPr>
              <a:t>，其中</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为对应属性</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的值。</a:t>
            </a:r>
            <a:endParaRPr lang="zh-CN" altLang="en-US" sz="2400" dirty="0">
              <a:solidFill>
                <a:schemeClr val="accent2"/>
              </a:solidFill>
              <a:latin typeface="宋体" panose="02010600030101010101" pitchFamily="2" charset="-122"/>
            </a:endParaRPr>
          </a:p>
        </p:txBody>
      </p:sp>
      <p:sp>
        <p:nvSpPr>
          <p:cNvPr id="11269" name="Text Box 9"/>
          <p:cNvSpPr txBox="1"/>
          <p:nvPr/>
        </p:nvSpPr>
        <p:spPr>
          <a:xfrm>
            <a:off x="695325" y="2676525"/>
            <a:ext cx="8129588" cy="895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关系模式：</a:t>
            </a:r>
            <a:r>
              <a:rPr lang="zh-CN" altLang="en-US" sz="2400" dirty="0">
                <a:solidFill>
                  <a:schemeClr val="accent2"/>
                </a:solidFill>
                <a:latin typeface="宋体" panose="02010600030101010101" pitchFamily="2" charset="-122"/>
              </a:rPr>
              <a:t>由关系名、各个列构成。表示为：</a:t>
            </a:r>
            <a:r>
              <a:rPr lang="en-US" altLang="zh-CN" sz="2400" dirty="0">
                <a:solidFill>
                  <a:schemeClr val="accent2"/>
                </a:solidFill>
                <a:latin typeface="宋体" panose="02010600030101010101" pitchFamily="2" charset="-122"/>
              </a:rPr>
              <a:t>R</a:t>
            </a:r>
            <a:r>
              <a:rPr lang="zh-CN" altLang="en-US" sz="2400" dirty="0">
                <a:solidFill>
                  <a:schemeClr val="accent2"/>
                </a:solidFill>
                <a:latin typeface="宋体" panose="02010600030101010101" pitchFamily="2" charset="-122"/>
              </a:rPr>
              <a:t>（</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1</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2</a:t>
            </a:r>
            <a:r>
              <a:rPr lang="en-US" altLang="zh-CN" sz="2400" dirty="0">
                <a:solidFill>
                  <a:schemeClr val="accent2"/>
                </a:solidFill>
                <a:latin typeface="宋体" panose="02010600030101010101" pitchFamily="2" charset="-122"/>
              </a:rPr>
              <a:t>, …, A</a:t>
            </a:r>
            <a:r>
              <a:rPr lang="en-US" altLang="zh-CN" sz="2400" baseline="-25000" dirty="0">
                <a:solidFill>
                  <a:schemeClr val="accent2"/>
                </a:solidFill>
                <a:latin typeface="宋体" panose="02010600030101010101" pitchFamily="2" charset="-122"/>
              </a:rPr>
              <a:t>n</a:t>
            </a:r>
            <a:r>
              <a:rPr lang="zh-CN" altLang="en-US" sz="2400" dirty="0">
                <a:solidFill>
                  <a:schemeClr val="accent2"/>
                </a:solidFill>
                <a:latin typeface="宋体" panose="02010600030101010101" pitchFamily="2" charset="-122"/>
              </a:rPr>
              <a:t>）</a:t>
            </a:r>
            <a:r>
              <a:rPr lang="en-US" altLang="zh-CN" sz="2400" dirty="0">
                <a:solidFill>
                  <a:schemeClr val="accent2"/>
                </a:solidFill>
                <a:latin typeface="宋体" panose="02010600030101010101" pitchFamily="2" charset="-122"/>
              </a:rPr>
              <a:t>,R</a:t>
            </a:r>
            <a:r>
              <a:rPr lang="zh-CN" altLang="en-US" sz="2400" dirty="0">
                <a:solidFill>
                  <a:schemeClr val="accent2"/>
                </a:solidFill>
                <a:latin typeface="宋体" panose="02010600030101010101" pitchFamily="2" charset="-122"/>
              </a:rPr>
              <a:t>为关系名</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i </a:t>
            </a:r>
            <a:r>
              <a:rPr lang="zh-CN" altLang="en-US" sz="2400" dirty="0">
                <a:solidFill>
                  <a:schemeClr val="accent2"/>
                </a:solidFill>
                <a:latin typeface="宋体" panose="02010600030101010101" pitchFamily="2" charset="-122"/>
              </a:rPr>
              <a:t>为关系</a:t>
            </a:r>
            <a:r>
              <a:rPr lang="en-US" altLang="zh-CN" sz="2400" dirty="0">
                <a:solidFill>
                  <a:schemeClr val="accent2"/>
                </a:solidFill>
                <a:latin typeface="宋体" panose="02010600030101010101" pitchFamily="2" charset="-122"/>
              </a:rPr>
              <a:t>R</a:t>
            </a:r>
            <a:r>
              <a:rPr lang="zh-CN" altLang="en-US" sz="2400" dirty="0">
                <a:solidFill>
                  <a:schemeClr val="accent2"/>
                </a:solidFill>
                <a:latin typeface="宋体" panose="02010600030101010101" pitchFamily="2" charset="-122"/>
              </a:rPr>
              <a:t>的属性。</a:t>
            </a:r>
            <a:endParaRPr lang="zh-CN" altLang="en-US" sz="2400" dirty="0">
              <a:solidFill>
                <a:schemeClr val="accent2"/>
              </a:solidFill>
              <a:latin typeface="宋体" panose="02010600030101010101" pitchFamily="2" charset="-122"/>
            </a:endParaRPr>
          </a:p>
        </p:txBody>
      </p:sp>
      <p:sp>
        <p:nvSpPr>
          <p:cNvPr id="11270" name="Text Box 10"/>
          <p:cNvSpPr txBox="1"/>
          <p:nvPr/>
        </p:nvSpPr>
        <p:spPr>
          <a:xfrm>
            <a:off x="709613" y="1982788"/>
            <a:ext cx="5980112"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域</a:t>
            </a:r>
            <a:r>
              <a:rPr lang="zh-CN" altLang="en-US" sz="2400" u="sng" dirty="0">
                <a:solidFill>
                  <a:srgbClr val="007C00"/>
                </a:solidFill>
                <a:latin typeface="宋体" panose="02010600030101010101" pitchFamily="2" charset="-122"/>
              </a:rPr>
              <a:t>（</a:t>
            </a:r>
            <a:r>
              <a:rPr lang="en-US" altLang="zh-CN" sz="2400" u="sng" dirty="0">
                <a:solidFill>
                  <a:srgbClr val="007C00"/>
                </a:solidFill>
                <a:latin typeface="宋体" panose="02010600030101010101" pitchFamily="2" charset="-122"/>
              </a:rPr>
              <a:t>Domain</a:t>
            </a:r>
            <a:r>
              <a:rPr lang="zh-CN" altLang="en-US" sz="2400" u="sng" dirty="0">
                <a:solidFill>
                  <a:srgbClr val="007C00"/>
                </a:solidFill>
                <a:latin typeface="宋体" panose="02010600030101010101" pitchFamily="2" charset="-122"/>
              </a:rPr>
              <a:t>）</a:t>
            </a:r>
            <a:r>
              <a:rPr lang="zh-CN" altLang="en-US" sz="2400" u="sng" dirty="0">
                <a:latin typeface="宋体" panose="02010600030101010101" pitchFamily="2" charset="-122"/>
              </a:rPr>
              <a:t> </a:t>
            </a:r>
            <a:r>
              <a:rPr lang="zh-CN" altLang="en-US" sz="2400" u="sng" dirty="0">
                <a:solidFill>
                  <a:srgbClr val="CC3300"/>
                </a:solidFill>
                <a:latin typeface="宋体" panose="02010600030101010101" pitchFamily="2" charset="-122"/>
              </a:rPr>
              <a:t>：</a:t>
            </a:r>
            <a:r>
              <a:rPr lang="zh-CN" altLang="en-US" sz="2400" dirty="0">
                <a:solidFill>
                  <a:schemeClr val="accent2"/>
                </a:solidFill>
                <a:latin typeface="宋体" panose="02010600030101010101" pitchFamily="2" charset="-122"/>
              </a:rPr>
              <a:t>列或属性的取值范围。</a:t>
            </a:r>
            <a:endParaRPr lang="zh-CN" altLang="en-US" sz="2400" dirty="0">
              <a:solidFill>
                <a:schemeClr val="accent2"/>
              </a:solidFill>
              <a:latin typeface="宋体" panose="02010600030101010101" pitchFamily="2" charset="-122"/>
            </a:endParaRPr>
          </a:p>
        </p:txBody>
      </p:sp>
      <p:sp>
        <p:nvSpPr>
          <p:cNvPr id="11271" name="Text Box 15"/>
          <p:cNvSpPr txBox="1"/>
          <p:nvPr/>
        </p:nvSpPr>
        <p:spPr>
          <a:xfrm>
            <a:off x="623888" y="4632325"/>
            <a:ext cx="8054975" cy="1260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关系实例：</a:t>
            </a:r>
            <a:r>
              <a:rPr lang="zh-CN" altLang="en-US" sz="2400" dirty="0">
                <a:solidFill>
                  <a:schemeClr val="accent2"/>
                </a:solidFill>
                <a:latin typeface="宋体" panose="02010600030101010101" pitchFamily="2" charset="-122"/>
              </a:rPr>
              <a:t>记录集或元组集，常简称关系；行序不重要，而列序重要</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关系代数中有时用列号来代表列名</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；每个元组的字段必须对应关系模式中的字段。</a:t>
            </a:r>
            <a:endParaRPr lang="zh-CN" altLang="en-US" sz="2400" dirty="0">
              <a:solidFill>
                <a:schemeClr val="accent2"/>
              </a:solidFill>
              <a:latin typeface="宋体" panose="02010600030101010101" pitchFamily="2" charset="-122"/>
            </a:endParaRPr>
          </a:p>
        </p:txBody>
      </p:sp>
      <p:sp>
        <p:nvSpPr>
          <p:cNvPr id="13319"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Effect transition="in" filter="checkerboard(across)">
                                      <p:cBhvr>
                                        <p:cTn id="7" dur="500"/>
                                        <p:tgtEl>
                                          <p:spTgt spid="1126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270">
                                            <p:txEl>
                                              <p:charRg st="0" end="22"/>
                                            </p:txEl>
                                          </p:spTgt>
                                        </p:tgtEl>
                                        <p:attrNameLst>
                                          <p:attrName>style.visibility</p:attrName>
                                        </p:attrNameLst>
                                      </p:cBhvr>
                                      <p:to>
                                        <p:strVal val="visible"/>
                                      </p:to>
                                    </p:set>
                                    <p:anim calcmode="lin" valueType="num">
                                      <p:cBhvr additive="base">
                                        <p:cTn id="12" dur="500" fill="hold"/>
                                        <p:tgtEl>
                                          <p:spTgt spid="11270">
                                            <p:txEl>
                                              <p:charRg st="0" end="2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1270">
                                            <p:txEl>
                                              <p:charRg st="0" end="22"/>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269">
                                            <p:txEl>
                                              <p:charRg st="0" end="56"/>
                                            </p:txEl>
                                          </p:spTgt>
                                        </p:tgtEl>
                                        <p:attrNameLst>
                                          <p:attrName>style.visibility</p:attrName>
                                        </p:attrNameLst>
                                      </p:cBhvr>
                                      <p:to>
                                        <p:strVal val="visible"/>
                                      </p:to>
                                    </p:set>
                                    <p:anim calcmode="lin" valueType="num">
                                      <p:cBhvr additive="base">
                                        <p:cTn id="18" dur="500" fill="hold"/>
                                        <p:tgtEl>
                                          <p:spTgt spid="11269">
                                            <p:txEl>
                                              <p:charRg st="0" end="5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11269">
                                            <p:txEl>
                                              <p:charRg st="0" end="56"/>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1268">
                                            <p:txEl>
                                              <p:charRg st="0" end="68"/>
                                            </p:txEl>
                                          </p:spTgt>
                                        </p:tgtEl>
                                        <p:attrNameLst>
                                          <p:attrName>style.visibility</p:attrName>
                                        </p:attrNameLst>
                                      </p:cBhvr>
                                      <p:to>
                                        <p:strVal val="visible"/>
                                      </p:to>
                                    </p:set>
                                    <p:anim calcmode="lin" valueType="num">
                                      <p:cBhvr additive="base">
                                        <p:cTn id="24" dur="500" fill="hold"/>
                                        <p:tgtEl>
                                          <p:spTgt spid="11268">
                                            <p:txEl>
                                              <p:charRg st="0" end="68"/>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1268">
                                            <p:txEl>
                                              <p:charRg st="0" end="68"/>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1271">
                                            <p:txEl>
                                              <p:charRg st="0" end="69"/>
                                            </p:txEl>
                                          </p:spTgt>
                                        </p:tgtEl>
                                        <p:attrNameLst>
                                          <p:attrName>style.visibility</p:attrName>
                                        </p:attrNameLst>
                                      </p:cBhvr>
                                      <p:to>
                                        <p:strVal val="visible"/>
                                      </p:to>
                                    </p:set>
                                    <p:anim calcmode="lin" valueType="num">
                                      <p:cBhvr additive="base">
                                        <p:cTn id="30" dur="500" fill="hold"/>
                                        <p:tgtEl>
                                          <p:spTgt spid="11271">
                                            <p:txEl>
                                              <p:charRg st="0" end="69"/>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11271">
                                            <p:txEl>
                                              <p:charRg st="0" end="6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p:bldP spid="11268" grpId="0" build="allAtOnce"/>
      <p:bldP spid="11269" grpId="0" build="allAtOnce"/>
      <p:bldP spid="11270" grpId="0" build="allAtOnce"/>
      <p:bldP spid="11271"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2290" name="表格 12289"/>
          <p:cNvGraphicFramePr/>
          <p:nvPr/>
        </p:nvGraphicFramePr>
        <p:xfrm>
          <a:off x="5219700" y="1357313"/>
          <a:ext cx="3394075" cy="3409950"/>
        </p:xfrm>
        <a:graphic>
          <a:graphicData uri="http://schemas.openxmlformats.org/drawingml/2006/table">
            <a:tbl>
              <a:tblPr/>
              <a:tblGrid>
                <a:gridCol w="1697038"/>
                <a:gridCol w="1697037"/>
              </a:tblGrid>
              <a:tr h="82319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u="sng">
                          <a:solidFill>
                            <a:srgbClr val="800080"/>
                          </a:solidFill>
                        </a:rPr>
                        <a:t>关系模式术语</a:t>
                      </a:r>
                      <a:endParaRPr lang="zh-CN" altLang="en-US" sz="2400" b="0" u="sng">
                        <a:solidFill>
                          <a:srgbClr val="800080"/>
                        </a:solidFill>
                      </a:endParaRPr>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u="sng">
                          <a:solidFill>
                            <a:srgbClr val="800080"/>
                          </a:solidFill>
                        </a:rPr>
                        <a:t>一般术语</a:t>
                      </a:r>
                      <a:endParaRPr lang="zh-CN" altLang="en-US" sz="2400" b="0" u="sng">
                        <a:solidFill>
                          <a:srgbClr val="800080"/>
                        </a:solidFill>
                      </a:endParaRPr>
                    </a:p>
                  </a:txBody>
                  <a:tcPr marT="45733" marB="45733">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946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关系模式</a:t>
                      </a:r>
                      <a:endParaRPr lang="zh-CN" altLang="en-US" sz="2400" b="0"/>
                    </a:p>
                  </a:txBody>
                  <a:tcPr marT="45733" marB="45733">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记录类型</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47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属性</a:t>
                      </a:r>
                      <a:endParaRPr lang="zh-CN" altLang="en-US" sz="2400" b="0"/>
                    </a:p>
                  </a:txBody>
                  <a:tcPr marT="45733" marB="45733">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字段</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47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属性值</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字段值</a:t>
                      </a:r>
                      <a:endParaRPr lang="zh-CN" altLang="en-US" sz="2400" b="0"/>
                    </a:p>
                  </a:txBody>
                  <a:tcPr marT="45733" marB="45733">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r h="647881">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元组</a:t>
                      </a:r>
                      <a:r>
                        <a:rPr lang="en-US" altLang="zh-CN" sz="2400" b="0"/>
                        <a:t>1</a:t>
                      </a:r>
                      <a:endParaRPr lang="zh-CN" altLang="en-US" sz="2400" b="0"/>
                    </a:p>
                  </a:txBody>
                  <a:tcPr marT="45733" marB="45733">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记录</a:t>
                      </a:r>
                      <a:r>
                        <a:rPr lang="en-US" altLang="zh-CN" sz="2400" b="0"/>
                        <a:t>1</a:t>
                      </a:r>
                      <a:endParaRPr lang="zh-CN" altLang="en-US" sz="2400" b="0"/>
                    </a:p>
                  </a:txBody>
                  <a:tcPr marT="45733" marB="45733">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pSp>
        <p:nvGrpSpPr>
          <p:cNvPr id="14361" name="Group 32"/>
          <p:cNvGrpSpPr/>
          <p:nvPr/>
        </p:nvGrpSpPr>
        <p:grpSpPr>
          <a:xfrm>
            <a:off x="663575" y="2989263"/>
            <a:ext cx="3983038" cy="2738437"/>
            <a:chOff x="-13" y="130"/>
            <a:chExt cx="2509" cy="1725"/>
          </a:xfrm>
        </p:grpSpPr>
        <p:sp>
          <p:nvSpPr>
            <p:cNvPr id="14374" name="Rectangle 33"/>
            <p:cNvSpPr/>
            <p:nvPr/>
          </p:nvSpPr>
          <p:spPr>
            <a:xfrm>
              <a:off x="1896" y="1166"/>
              <a:ext cx="600"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计算机</a:t>
              </a:r>
              <a:r>
                <a:rPr lang="de-DE" altLang="en-US" sz="1800" dirty="0"/>
                <a:t>200001</a:t>
              </a:r>
              <a:endParaRPr lang="de-DE" altLang="en-US" sz="1800" dirty="0"/>
            </a:p>
          </p:txBody>
        </p:sp>
        <p:sp>
          <p:nvSpPr>
            <p:cNvPr id="14375" name="Rectangle 34"/>
            <p:cNvSpPr/>
            <p:nvPr/>
          </p:nvSpPr>
          <p:spPr>
            <a:xfrm>
              <a:off x="1324" y="1166"/>
              <a:ext cx="572"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5-10-1986</a:t>
              </a:r>
              <a:endParaRPr lang="de-DE" altLang="en-US" sz="1800" dirty="0">
                <a:ea typeface="华文楷体" panose="02010600040101010101" pitchFamily="2" charset="-122"/>
              </a:endParaRPr>
            </a:p>
          </p:txBody>
        </p:sp>
        <p:sp>
          <p:nvSpPr>
            <p:cNvPr id="14376" name="Rectangle 35"/>
            <p:cNvSpPr/>
            <p:nvPr/>
          </p:nvSpPr>
          <p:spPr>
            <a:xfrm>
              <a:off x="624" y="1166"/>
              <a:ext cx="700"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2000101</a:t>
              </a:r>
              <a:endParaRPr lang="de-DE" altLang="en-US" sz="1800" dirty="0">
                <a:ea typeface="华文楷体" panose="02010600040101010101" pitchFamily="2" charset="-122"/>
              </a:endParaRPr>
            </a:p>
          </p:txBody>
        </p:sp>
        <p:sp>
          <p:nvSpPr>
            <p:cNvPr id="14377" name="Rectangle 36"/>
            <p:cNvSpPr/>
            <p:nvPr/>
          </p:nvSpPr>
          <p:spPr>
            <a:xfrm>
              <a:off x="0" y="1166"/>
              <a:ext cx="624" cy="68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Peter Bach</a:t>
              </a:r>
              <a:endParaRPr lang="de-DE" altLang="en-US" sz="1800" dirty="0">
                <a:ea typeface="华文楷体" panose="02010600040101010101" pitchFamily="2" charset="-122"/>
              </a:endParaRPr>
            </a:p>
          </p:txBody>
        </p:sp>
        <p:sp>
          <p:nvSpPr>
            <p:cNvPr id="14378" name="Rectangle 37"/>
            <p:cNvSpPr/>
            <p:nvPr/>
          </p:nvSpPr>
          <p:spPr>
            <a:xfrm>
              <a:off x="1896" y="508"/>
              <a:ext cx="600"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solidFill>
                    <a:srgbClr val="660066"/>
                  </a:solidFill>
                </a:rPr>
                <a:t>班号</a:t>
              </a:r>
              <a:endParaRPr lang="zh-CN" altLang="en-US" sz="1800" dirty="0">
                <a:solidFill>
                  <a:srgbClr val="660066"/>
                </a:solidFill>
              </a:endParaRPr>
            </a:p>
          </p:txBody>
        </p:sp>
        <p:sp>
          <p:nvSpPr>
            <p:cNvPr id="14379" name="Rectangle 38"/>
            <p:cNvSpPr/>
            <p:nvPr/>
          </p:nvSpPr>
          <p:spPr>
            <a:xfrm>
              <a:off x="1324" y="508"/>
              <a:ext cx="572"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D.O.B</a:t>
              </a:r>
              <a:endParaRPr lang="de-DE" altLang="en-US" sz="1800" dirty="0">
                <a:ea typeface="华文楷体" panose="02010600040101010101" pitchFamily="2" charset="-122"/>
              </a:endParaRPr>
            </a:p>
          </p:txBody>
        </p:sp>
        <p:sp>
          <p:nvSpPr>
            <p:cNvPr id="14380" name="Rectangle 39"/>
            <p:cNvSpPr/>
            <p:nvPr/>
          </p:nvSpPr>
          <p:spPr>
            <a:xfrm>
              <a:off x="624" y="508"/>
              <a:ext cx="700"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solidFill>
                    <a:srgbClr val="660066"/>
                  </a:solidFill>
                </a:rPr>
                <a:t>学号</a:t>
              </a:r>
              <a:endParaRPr lang="zh-CN" altLang="en-US" sz="1800" u="sng" dirty="0">
                <a:solidFill>
                  <a:srgbClr val="660066"/>
                </a:solidFill>
              </a:endParaRPr>
            </a:p>
          </p:txBody>
        </p:sp>
        <p:sp>
          <p:nvSpPr>
            <p:cNvPr id="14381" name="Rectangle 40"/>
            <p:cNvSpPr/>
            <p:nvPr/>
          </p:nvSpPr>
          <p:spPr>
            <a:xfrm>
              <a:off x="0" y="508"/>
              <a:ext cx="624" cy="65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姓名</a:t>
              </a:r>
              <a:endParaRPr lang="zh-CN" altLang="en-US" sz="1800" dirty="0"/>
            </a:p>
          </p:txBody>
        </p:sp>
        <p:sp>
          <p:nvSpPr>
            <p:cNvPr id="14382" name="Line 41"/>
            <p:cNvSpPr/>
            <p:nvPr/>
          </p:nvSpPr>
          <p:spPr>
            <a:xfrm>
              <a:off x="0" y="508"/>
              <a:ext cx="624" cy="0"/>
            </a:xfrm>
            <a:prstGeom prst="line">
              <a:avLst/>
            </a:prstGeom>
            <a:ln w="12700" cap="flat" cmpd="sng">
              <a:solidFill>
                <a:schemeClr val="tx1"/>
              </a:solidFill>
              <a:prstDash val="solid"/>
              <a:headEnd type="none" w="med" len="med"/>
              <a:tailEnd type="none" w="med" len="med"/>
            </a:ln>
          </p:spPr>
        </p:sp>
        <p:sp>
          <p:nvSpPr>
            <p:cNvPr id="14383" name="Line 42"/>
            <p:cNvSpPr/>
            <p:nvPr/>
          </p:nvSpPr>
          <p:spPr>
            <a:xfrm>
              <a:off x="0" y="1166"/>
              <a:ext cx="2496" cy="0"/>
            </a:xfrm>
            <a:prstGeom prst="line">
              <a:avLst/>
            </a:prstGeom>
            <a:ln w="12700" cap="flat" cmpd="sng">
              <a:solidFill>
                <a:schemeClr val="tx1"/>
              </a:solidFill>
              <a:prstDash val="solid"/>
              <a:headEnd type="none" w="med" len="med"/>
              <a:tailEnd type="none" w="med" len="med"/>
            </a:ln>
          </p:spPr>
        </p:sp>
        <p:sp>
          <p:nvSpPr>
            <p:cNvPr id="14384" name="Line 43"/>
            <p:cNvSpPr/>
            <p:nvPr/>
          </p:nvSpPr>
          <p:spPr>
            <a:xfrm>
              <a:off x="0" y="1855"/>
              <a:ext cx="2496" cy="0"/>
            </a:xfrm>
            <a:prstGeom prst="line">
              <a:avLst/>
            </a:prstGeom>
            <a:ln w="28575" cap="sq" cmpd="sng">
              <a:solidFill>
                <a:schemeClr val="tx1"/>
              </a:solidFill>
              <a:prstDash val="solid"/>
              <a:headEnd type="none" w="med" len="med"/>
              <a:tailEnd type="none" w="med" len="med"/>
            </a:ln>
          </p:spPr>
        </p:sp>
        <p:sp>
          <p:nvSpPr>
            <p:cNvPr id="14385" name="Line 44"/>
            <p:cNvSpPr/>
            <p:nvPr/>
          </p:nvSpPr>
          <p:spPr>
            <a:xfrm>
              <a:off x="0" y="508"/>
              <a:ext cx="0" cy="1347"/>
            </a:xfrm>
            <a:prstGeom prst="line">
              <a:avLst/>
            </a:prstGeom>
            <a:ln w="28575" cap="sq" cmpd="sng">
              <a:solidFill>
                <a:schemeClr val="tx1"/>
              </a:solidFill>
              <a:prstDash val="solid"/>
              <a:headEnd type="none" w="med" len="med"/>
              <a:tailEnd type="none" w="med" len="med"/>
            </a:ln>
          </p:spPr>
        </p:sp>
        <p:sp>
          <p:nvSpPr>
            <p:cNvPr id="14386" name="Line 45"/>
            <p:cNvSpPr/>
            <p:nvPr/>
          </p:nvSpPr>
          <p:spPr>
            <a:xfrm>
              <a:off x="624" y="508"/>
              <a:ext cx="0" cy="1347"/>
            </a:xfrm>
            <a:prstGeom prst="line">
              <a:avLst/>
            </a:prstGeom>
            <a:ln w="12700" cap="flat" cmpd="sng">
              <a:solidFill>
                <a:schemeClr val="tx1"/>
              </a:solidFill>
              <a:prstDash val="solid"/>
              <a:headEnd type="none" w="med" len="med"/>
              <a:tailEnd type="none" w="med" len="med"/>
            </a:ln>
          </p:spPr>
        </p:sp>
        <p:sp>
          <p:nvSpPr>
            <p:cNvPr id="14387" name="Line 46"/>
            <p:cNvSpPr/>
            <p:nvPr/>
          </p:nvSpPr>
          <p:spPr>
            <a:xfrm>
              <a:off x="1324" y="508"/>
              <a:ext cx="0" cy="1347"/>
            </a:xfrm>
            <a:prstGeom prst="line">
              <a:avLst/>
            </a:prstGeom>
            <a:ln w="12700" cap="flat" cmpd="sng">
              <a:solidFill>
                <a:schemeClr val="tx1"/>
              </a:solidFill>
              <a:prstDash val="solid"/>
              <a:headEnd type="none" w="med" len="med"/>
              <a:tailEnd type="none" w="med" len="med"/>
            </a:ln>
          </p:spPr>
        </p:sp>
        <p:sp>
          <p:nvSpPr>
            <p:cNvPr id="14388" name="Line 47"/>
            <p:cNvSpPr/>
            <p:nvPr/>
          </p:nvSpPr>
          <p:spPr>
            <a:xfrm>
              <a:off x="1896" y="508"/>
              <a:ext cx="0" cy="1347"/>
            </a:xfrm>
            <a:prstGeom prst="line">
              <a:avLst/>
            </a:prstGeom>
            <a:ln w="12700" cap="flat" cmpd="sng">
              <a:solidFill>
                <a:schemeClr val="tx1"/>
              </a:solidFill>
              <a:prstDash val="solid"/>
              <a:headEnd type="none" w="med" len="med"/>
              <a:tailEnd type="none" w="med" len="med"/>
            </a:ln>
          </p:spPr>
        </p:sp>
        <p:sp>
          <p:nvSpPr>
            <p:cNvPr id="14389" name="Line 48"/>
            <p:cNvSpPr/>
            <p:nvPr/>
          </p:nvSpPr>
          <p:spPr>
            <a:xfrm>
              <a:off x="2496" y="508"/>
              <a:ext cx="0" cy="1347"/>
            </a:xfrm>
            <a:prstGeom prst="line">
              <a:avLst/>
            </a:prstGeom>
            <a:ln w="28575" cap="sq" cmpd="sng">
              <a:solidFill>
                <a:schemeClr val="tx1"/>
              </a:solidFill>
              <a:prstDash val="solid"/>
              <a:headEnd type="none" w="med" len="med"/>
              <a:tailEnd type="none" w="med" len="med"/>
            </a:ln>
          </p:spPr>
        </p:sp>
        <p:sp>
          <p:nvSpPr>
            <p:cNvPr id="14390" name="Line 49"/>
            <p:cNvSpPr/>
            <p:nvPr/>
          </p:nvSpPr>
          <p:spPr>
            <a:xfrm>
              <a:off x="624" y="508"/>
              <a:ext cx="1872" cy="0"/>
            </a:xfrm>
            <a:prstGeom prst="line">
              <a:avLst/>
            </a:prstGeom>
            <a:ln w="28575" cap="sq" cmpd="sng">
              <a:solidFill>
                <a:schemeClr val="tx1"/>
              </a:solidFill>
              <a:prstDash val="solid"/>
              <a:headEnd type="none" w="med" len="med"/>
              <a:tailEnd type="none" w="med" len="med"/>
            </a:ln>
          </p:spPr>
        </p:sp>
        <p:sp>
          <p:nvSpPr>
            <p:cNvPr id="14391" name="Text Box 50"/>
            <p:cNvSpPr txBox="1"/>
            <p:nvPr/>
          </p:nvSpPr>
          <p:spPr>
            <a:xfrm>
              <a:off x="-13" y="130"/>
              <a:ext cx="856" cy="34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600" dirty="0">
                  <a:latin typeface="宋体" panose="02010600030101010101" pitchFamily="2" charset="-122"/>
                </a:rPr>
                <a:t>Student</a:t>
              </a:r>
              <a:endParaRPr lang="zh-CN" altLang="en-US" sz="2600" dirty="0">
                <a:latin typeface="宋体" panose="02010600030101010101" pitchFamily="2" charset="-122"/>
              </a:endParaRPr>
            </a:p>
          </p:txBody>
        </p:sp>
      </p:grpSp>
      <p:sp>
        <p:nvSpPr>
          <p:cNvPr id="14362" name="Line 51"/>
          <p:cNvSpPr/>
          <p:nvPr/>
        </p:nvSpPr>
        <p:spPr>
          <a:xfrm flipH="1">
            <a:off x="4067175" y="3157538"/>
            <a:ext cx="1225550" cy="431800"/>
          </a:xfrm>
          <a:prstGeom prst="line">
            <a:avLst/>
          </a:prstGeom>
          <a:ln w="38100" cap="flat" cmpd="sng">
            <a:solidFill>
              <a:srgbClr val="CC0000"/>
            </a:solidFill>
            <a:prstDash val="solid"/>
            <a:headEnd type="none" w="med" len="med"/>
            <a:tailEnd type="triangle" w="med" len="med"/>
          </a:ln>
        </p:spPr>
      </p:sp>
      <p:sp>
        <p:nvSpPr>
          <p:cNvPr id="14363" name="Line 52"/>
          <p:cNvSpPr/>
          <p:nvPr/>
        </p:nvSpPr>
        <p:spPr>
          <a:xfrm flipH="1">
            <a:off x="2484438" y="3157538"/>
            <a:ext cx="2735262" cy="431800"/>
          </a:xfrm>
          <a:prstGeom prst="line">
            <a:avLst/>
          </a:prstGeom>
          <a:ln w="38100" cap="flat" cmpd="sng">
            <a:solidFill>
              <a:srgbClr val="CC0000"/>
            </a:solidFill>
            <a:prstDash val="solid"/>
            <a:headEnd type="none" w="med" len="med"/>
            <a:tailEnd type="triangle" w="med" len="med"/>
          </a:ln>
        </p:spPr>
      </p:sp>
      <p:sp>
        <p:nvSpPr>
          <p:cNvPr id="14364" name="Line 53"/>
          <p:cNvSpPr/>
          <p:nvPr/>
        </p:nvSpPr>
        <p:spPr>
          <a:xfrm flipH="1">
            <a:off x="1755775" y="2509838"/>
            <a:ext cx="3463925" cy="625475"/>
          </a:xfrm>
          <a:prstGeom prst="line">
            <a:avLst/>
          </a:prstGeom>
          <a:ln w="38100" cap="flat" cmpd="sng">
            <a:solidFill>
              <a:srgbClr val="CC0000"/>
            </a:solidFill>
            <a:prstDash val="dash"/>
            <a:headEnd type="none" w="med" len="med"/>
            <a:tailEnd type="triangle" w="med" len="med"/>
          </a:ln>
        </p:spPr>
      </p:sp>
      <p:sp>
        <p:nvSpPr>
          <p:cNvPr id="14365" name="Line 54"/>
          <p:cNvSpPr/>
          <p:nvPr/>
        </p:nvSpPr>
        <p:spPr>
          <a:xfrm flipH="1">
            <a:off x="4572000" y="3951288"/>
            <a:ext cx="720725" cy="1006475"/>
          </a:xfrm>
          <a:prstGeom prst="line">
            <a:avLst/>
          </a:prstGeom>
          <a:ln w="38100" cap="flat" cmpd="sng">
            <a:solidFill>
              <a:srgbClr val="CC0000"/>
            </a:solidFill>
            <a:prstDash val="solid"/>
            <a:headEnd type="none" w="med" len="med"/>
            <a:tailEnd type="triangle" w="med" len="med"/>
          </a:ln>
        </p:spPr>
      </p:sp>
      <p:grpSp>
        <p:nvGrpSpPr>
          <p:cNvPr id="14366" name="Group 55"/>
          <p:cNvGrpSpPr/>
          <p:nvPr/>
        </p:nvGrpSpPr>
        <p:grpSpPr>
          <a:xfrm>
            <a:off x="2987675" y="4525963"/>
            <a:ext cx="2232025" cy="1439862"/>
            <a:chOff x="0" y="0"/>
            <a:chExt cx="1407" cy="862"/>
          </a:xfrm>
        </p:grpSpPr>
        <p:sp>
          <p:nvSpPr>
            <p:cNvPr id="14370" name="Line 56"/>
            <p:cNvSpPr/>
            <p:nvPr/>
          </p:nvSpPr>
          <p:spPr>
            <a:xfrm flipH="1">
              <a:off x="1316" y="0"/>
              <a:ext cx="91" cy="0"/>
            </a:xfrm>
            <a:prstGeom prst="line">
              <a:avLst/>
            </a:prstGeom>
            <a:ln w="38100" cap="flat" cmpd="sng">
              <a:solidFill>
                <a:srgbClr val="CC0000"/>
              </a:solidFill>
              <a:prstDash val="solid"/>
              <a:headEnd type="none" w="med" len="med"/>
              <a:tailEnd type="none" w="med" len="med"/>
            </a:ln>
          </p:spPr>
        </p:sp>
        <p:sp>
          <p:nvSpPr>
            <p:cNvPr id="14371" name="Line 57"/>
            <p:cNvSpPr/>
            <p:nvPr/>
          </p:nvSpPr>
          <p:spPr>
            <a:xfrm>
              <a:off x="1316" y="0"/>
              <a:ext cx="0" cy="862"/>
            </a:xfrm>
            <a:prstGeom prst="line">
              <a:avLst/>
            </a:prstGeom>
            <a:ln w="38100" cap="flat" cmpd="sng">
              <a:solidFill>
                <a:srgbClr val="CC0000"/>
              </a:solidFill>
              <a:prstDash val="solid"/>
              <a:headEnd type="none" w="med" len="med"/>
              <a:tailEnd type="none" w="med" len="med"/>
            </a:ln>
          </p:spPr>
        </p:sp>
        <p:sp>
          <p:nvSpPr>
            <p:cNvPr id="14372" name="Line 58"/>
            <p:cNvSpPr/>
            <p:nvPr/>
          </p:nvSpPr>
          <p:spPr>
            <a:xfrm flipH="1">
              <a:off x="0" y="862"/>
              <a:ext cx="1316" cy="0"/>
            </a:xfrm>
            <a:prstGeom prst="line">
              <a:avLst/>
            </a:prstGeom>
            <a:ln w="38100" cap="flat" cmpd="sng">
              <a:solidFill>
                <a:srgbClr val="CC0000"/>
              </a:solidFill>
              <a:prstDash val="solid"/>
              <a:headEnd type="none" w="med" len="med"/>
              <a:tailEnd type="none" w="med" len="med"/>
            </a:ln>
          </p:spPr>
        </p:sp>
        <p:sp>
          <p:nvSpPr>
            <p:cNvPr id="14373" name="Line 59"/>
            <p:cNvSpPr/>
            <p:nvPr/>
          </p:nvSpPr>
          <p:spPr>
            <a:xfrm flipV="1">
              <a:off x="0" y="681"/>
              <a:ext cx="0" cy="181"/>
            </a:xfrm>
            <a:prstGeom prst="line">
              <a:avLst/>
            </a:prstGeom>
            <a:ln w="38100" cap="flat" cmpd="sng">
              <a:solidFill>
                <a:srgbClr val="CC0000"/>
              </a:solidFill>
              <a:prstDash val="solid"/>
              <a:headEnd type="none" w="med" len="med"/>
              <a:tailEnd type="triangle" w="med" len="med"/>
            </a:ln>
          </p:spPr>
        </p:sp>
      </p:grpSp>
      <p:sp>
        <p:nvSpPr>
          <p:cNvPr id="14367" name="Line 60"/>
          <p:cNvSpPr/>
          <p:nvPr/>
        </p:nvSpPr>
        <p:spPr>
          <a:xfrm>
            <a:off x="755650" y="5534025"/>
            <a:ext cx="3744913" cy="0"/>
          </a:xfrm>
          <a:prstGeom prst="line">
            <a:avLst/>
          </a:prstGeom>
          <a:ln w="38100" cap="flat" cmpd="sng">
            <a:solidFill>
              <a:srgbClr val="CC0000"/>
            </a:solidFill>
            <a:prstDash val="solid"/>
            <a:headEnd type="none" w="med" len="med"/>
            <a:tailEnd type="none" w="med" len="med"/>
          </a:ln>
        </p:spPr>
      </p:sp>
      <p:sp>
        <p:nvSpPr>
          <p:cNvPr id="14368" name="Rectangle 2"/>
          <p:cNvSpPr txBox="1"/>
          <p:nvPr/>
        </p:nvSpPr>
        <p:spPr>
          <a:xfrm>
            <a:off x="533400" y="117157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关系模式的术语</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14369" name="Rectangle 2"/>
          <p:cNvSpPr/>
          <p:nvPr/>
        </p:nvSpPr>
        <p:spPr>
          <a:xfrm>
            <a:off x="457200" y="8890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5" name="Text Box 16"/>
          <p:cNvSpPr txBox="1"/>
          <p:nvPr/>
        </p:nvSpPr>
        <p:spPr>
          <a:xfrm>
            <a:off x="581025" y="1033463"/>
            <a:ext cx="78232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关系实例表示：</a:t>
            </a:r>
            <a:r>
              <a:rPr lang="en-US" altLang="zh-CN" sz="2400" dirty="0">
                <a:solidFill>
                  <a:schemeClr val="accent2"/>
                </a:solidFill>
                <a:latin typeface="宋体" panose="02010600030101010101" pitchFamily="2" charset="-122"/>
              </a:rPr>
              <a:t>{&lt;a</a:t>
            </a:r>
            <a:r>
              <a:rPr lang="en-US" altLang="zh-CN" sz="2400" baseline="-25000" dirty="0">
                <a:solidFill>
                  <a:schemeClr val="accent2"/>
                </a:solidFill>
                <a:latin typeface="宋体" panose="02010600030101010101" pitchFamily="2" charset="-122"/>
              </a:rPr>
              <a:t>1</a:t>
            </a:r>
            <a:r>
              <a:rPr lang="en-US" altLang="zh-CN" sz="2400" dirty="0">
                <a:solidFill>
                  <a:schemeClr val="accent2"/>
                </a:solidFill>
                <a:latin typeface="宋体" panose="02010600030101010101" pitchFamily="2" charset="-122"/>
              </a:rPr>
              <a:t>, a</a:t>
            </a:r>
            <a:r>
              <a:rPr lang="en-US" altLang="zh-CN" sz="2400" baseline="-25000" dirty="0">
                <a:solidFill>
                  <a:schemeClr val="accent2"/>
                </a:solidFill>
                <a:latin typeface="宋体" panose="02010600030101010101" pitchFamily="2" charset="-122"/>
              </a:rPr>
              <a:t>2</a:t>
            </a:r>
            <a:r>
              <a:rPr lang="en-US" altLang="zh-CN" sz="2400" dirty="0">
                <a:solidFill>
                  <a:schemeClr val="accent2"/>
                </a:solidFill>
                <a:latin typeface="宋体" panose="02010600030101010101" pitchFamily="2" charset="-122"/>
              </a:rPr>
              <a:t>, …, a</a:t>
            </a:r>
            <a:r>
              <a:rPr lang="en-US" altLang="zh-CN" sz="2400" baseline="-25000" dirty="0">
                <a:solidFill>
                  <a:schemeClr val="accent2"/>
                </a:solidFill>
                <a:latin typeface="宋体" panose="02010600030101010101" pitchFamily="2" charset="-122"/>
              </a:rPr>
              <a:t>n</a:t>
            </a:r>
            <a:r>
              <a:rPr lang="en-US" altLang="zh-CN" sz="2400" dirty="0">
                <a:solidFill>
                  <a:schemeClr val="accent2"/>
                </a:solidFill>
                <a:latin typeface="宋体" panose="02010600030101010101" pitchFamily="2" charset="-122"/>
              </a:rPr>
              <a:t>&gt;}</a:t>
            </a:r>
            <a:r>
              <a:rPr lang="zh-CN" altLang="en-US" sz="2400" dirty="0">
                <a:solidFill>
                  <a:schemeClr val="accent2"/>
                </a:solidFill>
                <a:latin typeface="宋体" panose="02010600030101010101" pitchFamily="2" charset="-122"/>
              </a:rPr>
              <a:t>，</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为属性</a:t>
            </a:r>
            <a:r>
              <a:rPr lang="en-US" altLang="zh-CN" sz="2400" dirty="0">
                <a:solidFill>
                  <a:schemeClr val="accent2"/>
                </a:solidFill>
                <a:latin typeface="宋体" panose="02010600030101010101" pitchFamily="2" charset="-122"/>
              </a:rPr>
              <a:t>A</a:t>
            </a:r>
            <a:r>
              <a:rPr lang="en-US" altLang="zh-CN" sz="2400" baseline="-25000" dirty="0">
                <a:solidFill>
                  <a:schemeClr val="accent2"/>
                </a:solidFill>
                <a:latin typeface="宋体" panose="02010600030101010101" pitchFamily="2" charset="-122"/>
              </a:rPr>
              <a:t>i</a:t>
            </a:r>
            <a:r>
              <a:rPr lang="zh-CN" altLang="en-US" sz="2400" dirty="0">
                <a:solidFill>
                  <a:schemeClr val="accent2"/>
                </a:solidFill>
                <a:latin typeface="宋体" panose="02010600030101010101" pitchFamily="2" charset="-122"/>
              </a:rPr>
              <a:t>的值。</a:t>
            </a:r>
            <a:endParaRPr lang="zh-CN" altLang="en-US" sz="2400" dirty="0">
              <a:solidFill>
                <a:schemeClr val="accent2"/>
              </a:solidFill>
              <a:latin typeface="宋体" panose="02010600030101010101" pitchFamily="2" charset="-122"/>
            </a:endParaRPr>
          </a:p>
        </p:txBody>
      </p:sp>
      <p:sp>
        <p:nvSpPr>
          <p:cNvPr id="13316" name="Rectangle 2"/>
          <p:cNvSpPr txBox="1"/>
          <p:nvPr/>
        </p:nvSpPr>
        <p:spPr>
          <a:xfrm>
            <a:off x="581025" y="1689100"/>
            <a:ext cx="7620000" cy="5048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候选键：</a:t>
            </a:r>
            <a:r>
              <a:rPr lang="zh-CN" altLang="en-US" sz="2400" dirty="0">
                <a:solidFill>
                  <a:schemeClr val="accent2"/>
                </a:solidFill>
                <a:latin typeface="宋体" panose="02010600030101010101" pitchFamily="2" charset="-122"/>
              </a:rPr>
              <a:t>能唯一识别关系实例元组的最小字段集。</a:t>
            </a:r>
            <a:endParaRPr lang="zh-CN" altLang="en-US" sz="2400" dirty="0">
              <a:solidFill>
                <a:schemeClr val="accent2"/>
              </a:solidFill>
              <a:latin typeface="宋体" panose="02010600030101010101" pitchFamily="2" charset="-122"/>
            </a:endParaRPr>
          </a:p>
        </p:txBody>
      </p:sp>
      <p:sp>
        <p:nvSpPr>
          <p:cNvPr id="13317" name="Text Box 3"/>
          <p:cNvSpPr txBox="1"/>
          <p:nvPr/>
        </p:nvSpPr>
        <p:spPr>
          <a:xfrm>
            <a:off x="565150" y="2171700"/>
            <a:ext cx="8085138" cy="8556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50000"/>
              </a:spcBef>
              <a:buClrTx/>
              <a:buSzTx/>
              <a:buFont typeface="Wingdings" panose="05000000000000000000" pitchFamily="2" charset="2"/>
              <a:buChar char="p"/>
            </a:pPr>
            <a:r>
              <a:rPr lang="zh-CN" altLang="en-US" sz="2400" u="sng" dirty="0">
                <a:solidFill>
                  <a:srgbClr val="CC3300"/>
                </a:solidFill>
                <a:latin typeface="宋体" panose="02010600030101010101" pitchFamily="2" charset="-122"/>
              </a:rPr>
              <a:t>主键（</a:t>
            </a:r>
            <a:r>
              <a:rPr lang="en-US" altLang="zh-CN" sz="2400" u="sng" dirty="0">
                <a:solidFill>
                  <a:srgbClr val="CC3300"/>
                </a:solidFill>
                <a:latin typeface="宋体" panose="02010600030101010101" pitchFamily="2" charset="-122"/>
              </a:rPr>
              <a:t>Primary Key</a:t>
            </a:r>
            <a:r>
              <a:rPr lang="zh-CN" altLang="en-US" sz="2400" u="sng" dirty="0">
                <a:solidFill>
                  <a:srgbClr val="CC3300"/>
                </a:solidFill>
                <a:latin typeface="宋体" panose="02010600030101010101" pitchFamily="2" charset="-122"/>
              </a:rPr>
              <a:t>，</a:t>
            </a:r>
            <a:r>
              <a:rPr lang="en-US" altLang="zh-CN" sz="2400" u="sng" dirty="0">
                <a:solidFill>
                  <a:srgbClr val="CC3300"/>
                </a:solidFill>
                <a:latin typeface="宋体" panose="02010600030101010101" pitchFamily="2" charset="-122"/>
              </a:rPr>
              <a:t>PK</a:t>
            </a:r>
            <a:r>
              <a:rPr lang="zh-CN" altLang="en-US" sz="2400" u="sng" dirty="0">
                <a:solidFill>
                  <a:srgbClr val="CC3300"/>
                </a:solidFill>
                <a:latin typeface="宋体" panose="02010600030101010101" pitchFamily="2" charset="-122"/>
              </a:rPr>
              <a:t>）：</a:t>
            </a:r>
            <a:r>
              <a:rPr lang="zh-CN" altLang="en-US" sz="2400" dirty="0">
                <a:solidFill>
                  <a:schemeClr val="accent2"/>
                </a:solidFill>
                <a:latin typeface="宋体" panose="02010600030101010101" pitchFamily="2" charset="-122"/>
              </a:rPr>
              <a:t>一个唯一识别关系实例的最小字段集合。一个关系最多有一个主键。</a:t>
            </a:r>
            <a:endParaRPr lang="zh-CN" altLang="en-US" sz="2400" dirty="0">
              <a:solidFill>
                <a:schemeClr val="accent2"/>
              </a:solidFill>
              <a:latin typeface="宋体" panose="02010600030101010101" pitchFamily="2" charset="-122"/>
            </a:endParaRPr>
          </a:p>
        </p:txBody>
      </p:sp>
      <p:graphicFrame>
        <p:nvGraphicFramePr>
          <p:cNvPr id="13318" name="表格 13317"/>
          <p:cNvGraphicFramePr/>
          <p:nvPr/>
        </p:nvGraphicFramePr>
        <p:xfrm>
          <a:off x="711200" y="3721100"/>
          <a:ext cx="7693025" cy="2159000"/>
        </p:xfrm>
        <a:graphic>
          <a:graphicData uri="http://schemas.openxmlformats.org/drawingml/2006/table">
            <a:tbl>
              <a:tblPr/>
              <a:tblGrid>
                <a:gridCol w="1102451"/>
                <a:gridCol w="1482847"/>
                <a:gridCol w="1053552"/>
                <a:gridCol w="1452365"/>
                <a:gridCol w="1437124"/>
                <a:gridCol w="1164686"/>
              </a:tblGrid>
              <a:tr h="42258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姓名</a:t>
                      </a:r>
                      <a:endParaRPr lang="zh-CN" altLang="en-US" sz="2000" b="0"/>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a:solidFill>
                            <a:srgbClr val="FF0000"/>
                          </a:solidFill>
                        </a:rPr>
                        <a:t>学号</a:t>
                      </a:r>
                      <a:endParaRPr lang="zh-CN" altLang="en-US" sz="2000" b="0" u="sng">
                        <a:solidFill>
                          <a:srgbClr val="FF0000"/>
                        </a:solidFill>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性别</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FF0000"/>
                          </a:solidFill>
                          <a:ea typeface="华文楷体" panose="02010600040101010101" pitchFamily="2" charset="-122"/>
                        </a:rPr>
                        <a:t>身份证号</a:t>
                      </a:r>
                      <a:endParaRPr lang="de-DE" altLang="en-US" sz="2000" b="0" u="sng" dirty="0">
                        <a:solidFill>
                          <a:srgbClr val="FF0000"/>
                        </a:solidFill>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000" b="0">
                          <a:ea typeface="华文楷体" panose="02010600040101010101" pitchFamily="2" charset="-122"/>
                        </a:rPr>
                        <a:t>所在班级</a:t>
                      </a:r>
                      <a:endParaRPr lang="zh-CN" altLang="en-US" sz="2000" b="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000" b="0">
                          <a:ea typeface="华文楷体" panose="02010600040101010101" pitchFamily="2" charset="-122"/>
                        </a:rPr>
                        <a:t>宿舍</a:t>
                      </a:r>
                      <a:endParaRPr lang="zh-CN" altLang="en-US" sz="2000" b="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41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张三</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120</a:t>
                      </a:r>
                      <a:r>
                        <a:rPr lang="zh-CN" altLang="en-US" sz="2000" b="0" dirty="0">
                          <a:ea typeface="华文楷体" panose="02010600040101010101" pitchFamily="2" charset="-122"/>
                        </a:rPr>
                        <a:t>******</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547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李四</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510</a:t>
                      </a:r>
                      <a:r>
                        <a:rPr lang="zh-CN" altLang="en-US" sz="2000" b="0" dirty="0">
                          <a:ea typeface="华文楷体" panose="02010600040101010101" pitchFamily="2" charset="-122"/>
                        </a:rPr>
                        <a:t>******</a:t>
                      </a:r>
                      <a:endParaRPr lang="zh-CN"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58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王五</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女</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210</a:t>
                      </a:r>
                      <a:r>
                        <a:rPr lang="zh-CN" altLang="en-US" sz="1800" b="0" dirty="0"/>
                        <a:t>********</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1503</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41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孙六</a:t>
                      </a:r>
                      <a:endParaRPr lang="de-DE" altLang="en-US" sz="2000" b="0" dirty="0">
                        <a:ea typeface="华文楷体" panose="02010600040101010101" pitchFamily="2" charset="-122"/>
                      </a:endParaRPr>
                    </a:p>
                  </a:txBody>
                  <a:tcPr marL="91448" marR="91448" marT="45754" marB="4575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330</a:t>
                      </a:r>
                      <a:r>
                        <a:rPr lang="zh-CN" altLang="en-US" sz="1800" b="0" dirty="0"/>
                        <a:t>*******</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48" marR="91448" marT="45754" marB="4575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x-none" sz="1800" b="0" dirty="0"/>
                        <a:t>7234</a:t>
                      </a:r>
                      <a:endParaRPr lang="zh-CN" altLang="en-US" sz="1800" b="0" dirty="0"/>
                    </a:p>
                  </a:txBody>
                  <a:tcPr marL="91448" marR="91448" marT="45754" marB="4575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3363" name="Text Box 30"/>
          <p:cNvSpPr txBox="1"/>
          <p:nvPr/>
        </p:nvSpPr>
        <p:spPr>
          <a:xfrm>
            <a:off x="571500" y="3082925"/>
            <a:ext cx="1371600"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a:t>
            </a:r>
            <a:endParaRPr lang="zh-CN" altLang="en-US" sz="2400" dirty="0">
              <a:solidFill>
                <a:srgbClr val="0000CC"/>
              </a:solidFill>
              <a:latin typeface="宋体" panose="02010600030101010101" pitchFamily="2" charset="-122"/>
            </a:endParaRPr>
          </a:p>
        </p:txBody>
      </p:sp>
      <p:sp>
        <p:nvSpPr>
          <p:cNvPr id="15411" name="Rectangle 2"/>
          <p:cNvSpPr/>
          <p:nvPr/>
        </p:nvSpPr>
        <p:spPr>
          <a:xfrm>
            <a:off x="457200" y="793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checkerboard(across)">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3316"/>
                                        </p:tgtEl>
                                        <p:attrNameLst>
                                          <p:attrName>style.visibility</p:attrName>
                                        </p:attrNameLst>
                                      </p:cBhvr>
                                      <p:to>
                                        <p:strVal val="visible"/>
                                      </p:to>
                                    </p:set>
                                    <p:anim calcmode="lin" valueType="num">
                                      <p:cBhvr additive="base">
                                        <p:cTn id="12" dur="500" fill="hold"/>
                                        <p:tgtEl>
                                          <p:spTgt spid="13316"/>
                                        </p:tgtEl>
                                        <p:attrNameLst>
                                          <p:attrName>ppt_x</p:attrName>
                                        </p:attrNameLst>
                                      </p:cBhvr>
                                      <p:tavLst>
                                        <p:tav tm="0">
                                          <p:val>
                                            <p:strVal val="#ppt_x"/>
                                          </p:val>
                                        </p:tav>
                                        <p:tav tm="100000">
                                          <p:val>
                                            <p:strVal val="#ppt_x"/>
                                          </p:val>
                                        </p:tav>
                                      </p:tavLst>
                                    </p:anim>
                                    <p:anim calcmode="lin" valueType="num">
                                      <p:cBhvr additive="base">
                                        <p:cTn id="13"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3317"/>
                                        </p:tgtEl>
                                        <p:attrNameLst>
                                          <p:attrName>style.visibility</p:attrName>
                                        </p:attrNameLst>
                                      </p:cBhvr>
                                      <p:to>
                                        <p:strVal val="visible"/>
                                      </p:to>
                                    </p:set>
                                    <p:animEffect transition="in" filter="box(in)">
                                      <p:cBhvr>
                                        <p:cTn id="18" dur="500"/>
                                        <p:tgtEl>
                                          <p:spTgt spid="1331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13363"/>
                                        </p:tgtEl>
                                        <p:attrNameLst>
                                          <p:attrName>style.visibility</p:attrName>
                                        </p:attrNameLst>
                                      </p:cBhvr>
                                      <p:to>
                                        <p:strVal val="visible"/>
                                      </p:to>
                                    </p:set>
                                    <p:anim calcmode="lin" valueType="num">
                                      <p:cBhvr additive="base">
                                        <p:cTn id="23" dur="500" fill="hold"/>
                                        <p:tgtEl>
                                          <p:spTgt spid="13363"/>
                                        </p:tgtEl>
                                        <p:attrNameLst>
                                          <p:attrName>ppt_x</p:attrName>
                                        </p:attrNameLst>
                                      </p:cBhvr>
                                      <p:tavLst>
                                        <p:tav tm="0">
                                          <p:val>
                                            <p:strVal val="0-#ppt_w/2"/>
                                          </p:val>
                                        </p:tav>
                                        <p:tav tm="100000">
                                          <p:val>
                                            <p:strVal val="#ppt_x"/>
                                          </p:val>
                                        </p:tav>
                                      </p:tavLst>
                                    </p:anim>
                                    <p:anim calcmode="lin" valueType="num">
                                      <p:cBhvr additive="base">
                                        <p:cTn id="24" dur="500" fill="hold"/>
                                        <p:tgtEl>
                                          <p:spTgt spid="13363"/>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42" fill="hold" nodeType="clickEffect">
                                  <p:stCondLst>
                                    <p:cond delay="0"/>
                                  </p:stCondLst>
                                  <p:childTnLst>
                                    <p:set>
                                      <p:cBhvr>
                                        <p:cTn id="28" dur="1" fill="hold">
                                          <p:stCondLst>
                                            <p:cond delay="0"/>
                                          </p:stCondLst>
                                        </p:cTn>
                                        <p:tgtEl>
                                          <p:spTgt spid="13318"/>
                                        </p:tgtEl>
                                        <p:attrNameLst>
                                          <p:attrName>style.visibility</p:attrName>
                                        </p:attrNameLst>
                                      </p:cBhvr>
                                      <p:to>
                                        <p:strVal val="visible"/>
                                      </p:to>
                                    </p:set>
                                    <p:animEffect transition="in" filter="barn(outHorizontal)">
                                      <p:cBhvr>
                                        <p:cTn id="29"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13316" grpId="0" animBg="1"/>
      <p:bldP spid="13317" grpId="0"/>
      <p:bldP spid="1336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txBox="1"/>
          <p:nvPr/>
        </p:nvSpPr>
        <p:spPr>
          <a:xfrm>
            <a:off x="533400" y="1074738"/>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单一的数据结构：</a:t>
            </a:r>
            <a:r>
              <a:rPr lang="zh-CN" altLang="en-US" sz="2600" dirty="0">
                <a:solidFill>
                  <a:srgbClr val="0033CC"/>
                </a:solidFill>
                <a:latin typeface="宋体" panose="02010600030101010101" pitchFamily="2" charset="-122"/>
                <a:ea typeface="黑体" panose="02010609060101010101" pitchFamily="49" charset="-122"/>
              </a:rPr>
              <a:t>关系（二维表）</a:t>
            </a:r>
            <a:endParaRPr lang="zh-CN" altLang="en-US" sz="2600" dirty="0">
              <a:solidFill>
                <a:srgbClr val="0033CC"/>
              </a:solidFill>
              <a:latin typeface="宋体" panose="02010600030101010101" pitchFamily="2" charset="-122"/>
              <a:ea typeface="黑体" panose="02010609060101010101" pitchFamily="49" charset="-122"/>
            </a:endParaRPr>
          </a:p>
        </p:txBody>
      </p:sp>
      <p:grpSp>
        <p:nvGrpSpPr>
          <p:cNvPr id="16387" name="组合 15363"/>
          <p:cNvGrpSpPr/>
          <p:nvPr/>
        </p:nvGrpSpPr>
        <p:grpSpPr>
          <a:xfrm>
            <a:off x="682625" y="1647825"/>
            <a:ext cx="7916863" cy="1782763"/>
            <a:chOff x="0" y="-12"/>
            <a:chExt cx="12467" cy="3725"/>
          </a:xfrm>
        </p:grpSpPr>
        <p:sp>
          <p:nvSpPr>
            <p:cNvPr id="16402" name="矩形 4"/>
            <p:cNvSpPr/>
            <p:nvPr/>
          </p:nvSpPr>
          <p:spPr>
            <a:xfrm>
              <a:off x="309" y="-12"/>
              <a:ext cx="12158" cy="37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不论是实体还是实体间的联系都用关系表示；</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实体值   关系的元组，在关系数据库中通常称为</a:t>
              </a:r>
              <a:r>
                <a:rPr lang="zh-CN" altLang="en-US" sz="2200" u="sng" dirty="0">
                  <a:solidFill>
                    <a:srgbClr val="FF0000"/>
                  </a:solidFill>
                  <a:latin typeface="楷体" panose="02010609060101010101" pitchFamily="49" charset="-122"/>
                  <a:ea typeface="楷体" panose="02010609060101010101" pitchFamily="49" charset="-122"/>
                </a:rPr>
                <a:t>记录</a:t>
              </a:r>
              <a:endParaRPr lang="zh-CN" altLang="en-US" sz="2200" u="sng" dirty="0">
                <a:solidFill>
                  <a:srgbClr val="FF0000"/>
                </a:solidFill>
                <a:latin typeface="楷体" panose="02010609060101010101" pitchFamily="49" charset="-122"/>
                <a:ea typeface="楷体" panose="02010609060101010101" pitchFamily="49" charset="-122"/>
              </a:endParaRPr>
            </a:p>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属性值   元组的分量，在关系数据库中通常称为</a:t>
              </a:r>
              <a:r>
                <a:rPr lang="zh-CN" altLang="en-US" sz="2200" u="sng" dirty="0">
                  <a:solidFill>
                    <a:srgbClr val="FF0000"/>
                  </a:solidFill>
                  <a:latin typeface="楷体" panose="02010609060101010101" pitchFamily="49" charset="-122"/>
                  <a:ea typeface="楷体" panose="02010609060101010101" pitchFamily="49" charset="-122"/>
                </a:rPr>
                <a:t>字段</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25000"/>
                </a:lnSpc>
                <a:spcBef>
                  <a:spcPct val="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关键字（码）：唯一标识一个元组的属性组</a:t>
              </a:r>
              <a:endParaRPr lang="zh-CN" altLang="en-US" sz="2200" dirty="0">
                <a:latin typeface="楷体" panose="02010609060101010101" pitchFamily="49" charset="-122"/>
                <a:ea typeface="楷体" panose="02010609060101010101" pitchFamily="49" charset="-122"/>
              </a:endParaRPr>
            </a:p>
          </p:txBody>
        </p:sp>
        <p:sp>
          <p:nvSpPr>
            <p:cNvPr id="15366" name="AutoShape 2"/>
            <p:cNvSpPr/>
            <p:nvPr/>
          </p:nvSpPr>
          <p:spPr>
            <a:xfrm>
              <a:off x="0" y="58"/>
              <a:ext cx="12250" cy="3655"/>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sp>
        <p:nvSpPr>
          <p:cNvPr id="16388" name="文本框 5"/>
          <p:cNvSpPr txBox="1"/>
          <p:nvPr/>
        </p:nvSpPr>
        <p:spPr>
          <a:xfrm>
            <a:off x="2146300" y="2011363"/>
            <a:ext cx="4873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t>→</a:t>
            </a:r>
            <a:endParaRPr lang="zh-CN" altLang="en-US" sz="2400" dirty="0"/>
          </a:p>
        </p:txBody>
      </p:sp>
      <p:sp>
        <p:nvSpPr>
          <p:cNvPr id="16389" name="文本框 6"/>
          <p:cNvSpPr txBox="1"/>
          <p:nvPr/>
        </p:nvSpPr>
        <p:spPr>
          <a:xfrm>
            <a:off x="2146300" y="2417763"/>
            <a:ext cx="487363" cy="4572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t>→</a:t>
            </a:r>
            <a:endParaRPr lang="zh-CN" altLang="en-US" sz="2400" dirty="0"/>
          </a:p>
        </p:txBody>
      </p:sp>
      <p:grpSp>
        <p:nvGrpSpPr>
          <p:cNvPr id="16390" name="组合 1"/>
          <p:cNvGrpSpPr/>
          <p:nvPr/>
        </p:nvGrpSpPr>
        <p:grpSpPr>
          <a:xfrm>
            <a:off x="544513" y="3706813"/>
            <a:ext cx="8142287" cy="2219325"/>
            <a:chOff x="857" y="5838"/>
            <a:chExt cx="12824" cy="3348"/>
          </a:xfrm>
        </p:grpSpPr>
        <p:grpSp>
          <p:nvGrpSpPr>
            <p:cNvPr id="16392" name="组合 12"/>
            <p:cNvGrpSpPr/>
            <p:nvPr/>
          </p:nvGrpSpPr>
          <p:grpSpPr>
            <a:xfrm>
              <a:off x="857" y="5838"/>
              <a:ext cx="12823" cy="1695"/>
              <a:chOff x="857" y="6059"/>
              <a:chExt cx="12823" cy="1697"/>
            </a:xfrm>
          </p:grpSpPr>
          <p:sp>
            <p:nvSpPr>
              <p:cNvPr id="13315" name="Text Box 16"/>
              <p:cNvSpPr txBox="1"/>
              <p:nvPr/>
            </p:nvSpPr>
            <p:spPr>
              <a:xfrm>
                <a:off x="857" y="6059"/>
                <a:ext cx="12824" cy="1170"/>
              </a:xfrm>
              <a:prstGeom prst="rect">
                <a:avLst/>
              </a:prstGeom>
              <a:noFill/>
              <a:ln w="9525">
                <a:noFill/>
              </a:ln>
            </p:spPr>
            <p:txBody>
              <a:bodyPr>
                <a:spAutoFit/>
              </a:bodyPr>
              <a:lstStyle/>
              <a:p>
                <a:pPr marL="342900" marR="0" indent="-342900" defTabSz="914400" eaLnBrk="1" hangingPunct="1">
                  <a:spcBef>
                    <a:spcPts val="50"/>
                  </a:spcBef>
                  <a:spcAft>
                    <a:spcPts val="0"/>
                  </a:spcAft>
                  <a:buClrTx/>
                  <a:buSzTx/>
                  <a:buFont typeface="Wingdings" panose="05000000000000000000" charset="0"/>
                  <a:buChar char="Ø"/>
                  <a:defRPr/>
                </a:pPr>
                <a:r>
                  <a:rPr kumimoji="0" lang="zh-CN" altLang="en-US" sz="2400" u="sng" kern="1200" cap="none" spc="0" normalizeH="0" baseline="0" noProof="1">
                    <a:solidFill>
                      <a:srgbClr val="CC3300"/>
                    </a:solidFill>
                    <a:latin typeface="宋体" panose="02010600030101010101" pitchFamily="2" charset="-122"/>
                    <a:ea typeface="宋体" panose="02010600030101010101" pitchFamily="2" charset="-122"/>
                    <a:cs typeface="+mn-ea"/>
                  </a:rPr>
                  <a:t>关系</a:t>
                </a:r>
                <a:r>
                  <a:rPr kumimoji="0" lang="zh-CN" sz="2400" u="sng" kern="1200" cap="none" spc="0" normalizeH="0" baseline="0" noProof="1">
                    <a:solidFill>
                      <a:srgbClr val="CC3300"/>
                    </a:solidFill>
                    <a:latin typeface="宋体" panose="02010600030101010101" pitchFamily="2" charset="-122"/>
                    <a:ea typeface="宋体" panose="02010600030101010101" pitchFamily="2" charset="-122"/>
                    <a:cs typeface="+mn-ea"/>
                  </a:rPr>
                  <a:t>模式：</a:t>
                </a:r>
                <a:r>
                  <a:rPr kumimoji="0" lang="zh-CN" sz="2000" kern="1200" cap="none" spc="0" normalizeH="0" baseline="0" noProof="1">
                    <a:latin typeface="宋体" panose="02010600030101010101" pitchFamily="2" charset="-122"/>
                    <a:ea typeface="宋体" panose="02010600030101010101" pitchFamily="2" charset="-122"/>
                    <a:cs typeface="+mn-ea"/>
                  </a:rPr>
                  <a:t>关系的描述，包括</a:t>
                </a:r>
                <a:r>
                  <a:rPr kumimoji="0" lang="zh-CN" sz="2000" u="sng" kern="1200" cap="none" spc="0" normalizeH="0" baseline="0" noProof="1">
                    <a:solidFill>
                      <a:srgbClr val="FF3300"/>
                    </a:solidFill>
                    <a:latin typeface="宋体" panose="02010600030101010101" pitchFamily="2" charset="-122"/>
                    <a:ea typeface="宋体" panose="02010600030101010101" pitchFamily="2" charset="-122"/>
                    <a:cs typeface="+mn-ea"/>
                  </a:rPr>
                  <a:t>关系名、属性名</a:t>
                </a:r>
                <a:r>
                  <a:rPr kumimoji="0" lang="zh-CN" sz="2000" kern="1200" cap="none" spc="0" normalizeH="0" baseline="0" noProof="1">
                    <a:latin typeface="宋体" panose="02010600030101010101" pitchFamily="2" charset="-122"/>
                    <a:ea typeface="宋体" panose="02010600030101010101" pitchFamily="2" charset="-122"/>
                    <a:cs typeface="+mn-ea"/>
                  </a:rPr>
                  <a:t>、</a:t>
                </a:r>
                <a:r>
                  <a:rPr kumimoji="0" lang="zh-CN" sz="2000" u="sng" kern="1200" cap="none" spc="0" normalizeH="0" baseline="0" noProof="1">
                    <a:solidFill>
                      <a:srgbClr val="00CC00"/>
                    </a:solidFill>
                    <a:latin typeface="宋体" panose="02010600030101010101" pitchFamily="2" charset="-122"/>
                    <a:ea typeface="宋体" panose="02010600030101010101" pitchFamily="2" charset="-122"/>
                    <a:cs typeface="+mn-ea"/>
                  </a:rPr>
                  <a:t>属性向域的映象</a:t>
                </a:r>
                <a:r>
                  <a:rPr kumimoji="0" lang="zh-CN" sz="2000" kern="1200" cap="none" spc="0" normalizeH="0" baseline="0" noProof="1">
                    <a:latin typeface="宋体" panose="02010600030101010101" pitchFamily="2" charset="-122"/>
                    <a:ea typeface="宋体" panose="02010600030101010101" pitchFamily="2" charset="-122"/>
                    <a:cs typeface="+mn-ea"/>
                  </a:rPr>
                  <a:t>、</a:t>
                </a:r>
                <a:endParaRPr kumimoji="0" lang="zh-CN" sz="2000" kern="1200" cap="none" spc="0" normalizeH="0" baseline="0" noProof="1">
                  <a:latin typeface="宋体" panose="02010600030101010101" pitchFamily="2" charset="-122"/>
                  <a:ea typeface="宋体" panose="02010600030101010101" pitchFamily="2" charset="-122"/>
                  <a:cs typeface="+mn-cs"/>
                </a:endParaRPr>
              </a:p>
              <a:p>
                <a:pPr marR="0" defTabSz="914400" eaLnBrk="1" hangingPunct="1">
                  <a:spcBef>
                    <a:spcPts val="50"/>
                  </a:spcBef>
                  <a:spcAft>
                    <a:spcPts val="0"/>
                  </a:spcAft>
                  <a:buClrTx/>
                  <a:buSzTx/>
                  <a:buFont typeface="Wingdings" panose="05000000000000000000" charset="0"/>
                  <a:buNone/>
                  <a:defRPr/>
                </a:pPr>
                <a:r>
                  <a:rPr kumimoji="0" lang="zh-CN" sz="2000" kern="1200" cap="none" spc="0" normalizeH="0" baseline="0" noProof="1">
                    <a:latin typeface="宋体" panose="02010600030101010101" pitchFamily="2" charset="-122"/>
                    <a:ea typeface="宋体" panose="02010600030101010101" pitchFamily="2" charset="-122"/>
                    <a:cs typeface="+mn-ea"/>
                  </a:rPr>
                  <a:t>               属性间的依赖。</a:t>
                </a:r>
                <a:endParaRPr kumimoji="0" lang="zh-CN" sz="2000" kern="1200" cap="none" spc="0" normalizeH="0" baseline="0" noProof="1">
                  <a:latin typeface="宋体" panose="02010600030101010101" pitchFamily="2" charset="-122"/>
                  <a:ea typeface="宋体" panose="02010600030101010101" pitchFamily="2" charset="-122"/>
                  <a:cs typeface="+mn-cs"/>
                </a:endParaRPr>
              </a:p>
            </p:txBody>
          </p:sp>
          <p:sp>
            <p:nvSpPr>
              <p:cNvPr id="16398" name="Line 54"/>
              <p:cNvSpPr/>
              <p:nvPr/>
            </p:nvSpPr>
            <p:spPr>
              <a:xfrm rot="-10800000" flipH="1">
                <a:off x="8405" y="6638"/>
                <a:ext cx="0" cy="510"/>
              </a:xfrm>
              <a:prstGeom prst="line">
                <a:avLst/>
              </a:prstGeom>
              <a:ln w="38100" cap="flat" cmpd="sng">
                <a:solidFill>
                  <a:srgbClr val="CC0000"/>
                </a:solidFill>
                <a:prstDash val="solid"/>
                <a:headEnd type="none" w="med" len="med"/>
                <a:tailEnd type="triangle" w="med" len="med"/>
              </a:ln>
            </p:spPr>
          </p:sp>
          <p:sp>
            <p:nvSpPr>
              <p:cNvPr id="10" name="矩形 9"/>
              <p:cNvSpPr/>
              <p:nvPr/>
            </p:nvSpPr>
            <p:spPr>
              <a:xfrm>
                <a:off x="7435" y="7116"/>
                <a:ext cx="1898" cy="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FF3300"/>
                    </a:solidFill>
                    <a:effectLst/>
                    <a:uLnTx/>
                    <a:uFillTx/>
                    <a:latin typeface="+mn-lt"/>
                    <a:ea typeface="+mn-ea"/>
                    <a:cs typeface="+mn-cs"/>
                  </a:rPr>
                  <a:t>关系的型</a:t>
                </a:r>
                <a:endParaRPr kumimoji="0" lang="zh-CN" altLang="en-US" sz="1800" b="1" i="0" u="none" strike="noStrike" kern="1200" cap="none" spc="0" normalizeH="0" baseline="0" noProof="1">
                  <a:ln>
                    <a:noFill/>
                  </a:ln>
                  <a:solidFill>
                    <a:srgbClr val="FF3300"/>
                  </a:solidFill>
                  <a:effectLst/>
                  <a:uLnTx/>
                  <a:uFillTx/>
                  <a:latin typeface="+mn-lt"/>
                  <a:ea typeface="+mn-ea"/>
                  <a:cs typeface="+mn-cs"/>
                </a:endParaRPr>
              </a:p>
            </p:txBody>
          </p:sp>
          <p:sp>
            <p:nvSpPr>
              <p:cNvPr id="16400" name="Line 54"/>
              <p:cNvSpPr/>
              <p:nvPr/>
            </p:nvSpPr>
            <p:spPr>
              <a:xfrm rot="-10800000" flipH="1">
                <a:off x="11739" y="6607"/>
                <a:ext cx="0" cy="510"/>
              </a:xfrm>
              <a:prstGeom prst="line">
                <a:avLst/>
              </a:prstGeom>
              <a:ln w="38100" cap="flat" cmpd="sng">
                <a:solidFill>
                  <a:srgbClr val="00B050"/>
                </a:solidFill>
                <a:prstDash val="solid"/>
                <a:headEnd type="none" w="med" len="med"/>
                <a:tailEnd type="triangle" w="med" len="med"/>
              </a:ln>
            </p:spPr>
          </p:sp>
          <p:sp>
            <p:nvSpPr>
              <p:cNvPr id="12" name="矩形 11"/>
              <p:cNvSpPr/>
              <p:nvPr/>
            </p:nvSpPr>
            <p:spPr>
              <a:xfrm>
                <a:off x="9611" y="7116"/>
                <a:ext cx="3715" cy="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CC00"/>
                    </a:solidFill>
                    <a:effectLst/>
                    <a:uLnTx/>
                    <a:uFillTx/>
                    <a:latin typeface="+mn-lt"/>
                    <a:ea typeface="+mn-ea"/>
                    <a:cs typeface="+mn-cs"/>
                  </a:rPr>
                  <a:t>属性的类型、长度等</a:t>
                </a:r>
                <a:endParaRPr kumimoji="0" lang="zh-CN" altLang="en-US" sz="1800" b="1" i="0" u="none" strike="noStrike" kern="1200" cap="none" spc="0" normalizeH="0" baseline="0" noProof="1">
                  <a:ln>
                    <a:noFill/>
                  </a:ln>
                  <a:solidFill>
                    <a:srgbClr val="00CC00"/>
                  </a:solidFill>
                  <a:effectLst/>
                  <a:uLnTx/>
                  <a:uFillTx/>
                  <a:latin typeface="+mn-lt"/>
                  <a:ea typeface="+mn-ea"/>
                  <a:cs typeface="+mn-cs"/>
                </a:endParaRPr>
              </a:p>
            </p:txBody>
          </p:sp>
        </p:grpSp>
        <p:grpSp>
          <p:nvGrpSpPr>
            <p:cNvPr id="16393" name="组合 18"/>
            <p:cNvGrpSpPr/>
            <p:nvPr/>
          </p:nvGrpSpPr>
          <p:grpSpPr>
            <a:xfrm>
              <a:off x="857" y="7822"/>
              <a:ext cx="12823" cy="1363"/>
              <a:chOff x="857" y="8044"/>
              <a:chExt cx="12823" cy="1365"/>
            </a:xfrm>
          </p:grpSpPr>
          <p:sp>
            <p:nvSpPr>
              <p:cNvPr id="16394" name="Text Box 16"/>
              <p:cNvSpPr txBox="1"/>
              <p:nvPr/>
            </p:nvSpPr>
            <p:spPr>
              <a:xfrm>
                <a:off x="857" y="8044"/>
                <a:ext cx="12823" cy="116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50"/>
                  </a:spcBef>
                  <a:buClrTx/>
                  <a:buSzTx/>
                  <a:buFont typeface="Wingdings" panose="05000000000000000000" pitchFamily="2" charset="2"/>
                  <a:buChar char="Ø"/>
                </a:pPr>
                <a:r>
                  <a:rPr lang="zh-CN" altLang="en-US" sz="2400" u="sng" dirty="0">
                    <a:solidFill>
                      <a:srgbClr val="CC3300"/>
                    </a:solidFill>
                    <a:latin typeface="宋体" panose="02010600030101010101" pitchFamily="2" charset="-122"/>
                  </a:rPr>
                  <a:t>关系数据库：</a:t>
                </a:r>
                <a:r>
                  <a:rPr lang="zh-CN" altLang="en-US" dirty="0">
                    <a:latin typeface="宋体" panose="02010600030101010101" pitchFamily="2" charset="-122"/>
                  </a:rPr>
                  <a:t>所有实体及实体间联系的关系的集合，是</a:t>
                </a:r>
                <a:r>
                  <a:rPr lang="zh-CN" altLang="en-US" u="sng" dirty="0">
                    <a:solidFill>
                      <a:srgbClr val="0033CC"/>
                    </a:solidFill>
                    <a:latin typeface="宋体" panose="02010600030101010101" pitchFamily="2" charset="-122"/>
                  </a:rPr>
                  <a:t>某时刻所有关系模式对应的关系的集合</a:t>
                </a:r>
                <a:r>
                  <a:rPr lang="zh-CN" altLang="en-US" dirty="0">
                    <a:latin typeface="宋体" panose="02010600030101010101" pitchFamily="2" charset="-122"/>
                  </a:rPr>
                  <a:t>。</a:t>
                </a:r>
                <a:endParaRPr lang="zh-CN" altLang="en-US" dirty="0">
                  <a:latin typeface="宋体" panose="02010600030101010101" pitchFamily="2" charset="-122"/>
                </a:endParaRPr>
              </a:p>
            </p:txBody>
          </p:sp>
          <p:sp>
            <p:nvSpPr>
              <p:cNvPr id="17" name="矩形 16"/>
              <p:cNvSpPr/>
              <p:nvPr/>
            </p:nvSpPr>
            <p:spPr>
              <a:xfrm>
                <a:off x="7930" y="8770"/>
                <a:ext cx="2845" cy="6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关系的实例（值）</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16396" name="Line 54"/>
              <p:cNvSpPr/>
              <p:nvPr/>
            </p:nvSpPr>
            <p:spPr>
              <a:xfrm rot="10800000" flipH="1" flipV="1">
                <a:off x="7045" y="8995"/>
                <a:ext cx="886" cy="0"/>
              </a:xfrm>
              <a:prstGeom prst="line">
                <a:avLst/>
              </a:prstGeom>
              <a:ln w="38100" cap="flat" cmpd="sng">
                <a:solidFill>
                  <a:schemeClr val="accent2"/>
                </a:solidFill>
                <a:prstDash val="solid"/>
                <a:headEnd type="none" w="med" len="med"/>
                <a:tailEnd type="triangle" w="med" len="med"/>
              </a:ln>
            </p:spPr>
          </p:sp>
        </p:grpSp>
      </p:grpSp>
      <p:sp>
        <p:nvSpPr>
          <p:cNvPr id="16391" name="Rectangle 2"/>
          <p:cNvSpPr/>
          <p:nvPr/>
        </p:nvSpPr>
        <p:spPr>
          <a:xfrm>
            <a:off x="457200" y="8255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3"/>
          <p:cNvSpPr txBox="1"/>
          <p:nvPr/>
        </p:nvSpPr>
        <p:spPr>
          <a:xfrm>
            <a:off x="58738" y="1509713"/>
            <a:ext cx="8578850" cy="452913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t>              关系是一个集合。集合中的元素是元组，每个元组的属性数目应该相同。</a:t>
            </a:r>
            <a:endParaRPr lang="zh-CN" altLang="en-US" sz="2400" dirty="0"/>
          </a:p>
          <a:p>
            <a:pPr marL="533400" lvl="0" indent="-533400" eaLnBrk="1" hangingPunct="1">
              <a:lnSpc>
                <a:spcPct val="125000"/>
              </a:lnSpc>
              <a:buFont typeface="Arial" panose="020B0604020202020204" pitchFamily="34" charset="0"/>
              <a:buNone/>
            </a:pPr>
            <a:r>
              <a:rPr lang="zh-CN" altLang="en-US" sz="2400" dirty="0"/>
              <a:t>              关系是一种规范化了的二维表格，不是一般的二维表。它的性质是：</a:t>
            </a:r>
            <a:endParaRPr lang="zh-CN" altLang="en-US" sz="2400" dirty="0"/>
          </a:p>
        </p:txBody>
      </p:sp>
      <p:grpSp>
        <p:nvGrpSpPr>
          <p:cNvPr id="15364" name="组合 15363"/>
          <p:cNvGrpSpPr/>
          <p:nvPr/>
        </p:nvGrpSpPr>
        <p:grpSpPr>
          <a:xfrm>
            <a:off x="682625" y="3436938"/>
            <a:ext cx="7778750" cy="2170112"/>
            <a:chOff x="0" y="0"/>
            <a:chExt cx="12250" cy="3416"/>
          </a:xfrm>
        </p:grpSpPr>
        <p:sp>
          <p:nvSpPr>
            <p:cNvPr id="17414" name="矩形 4"/>
            <p:cNvSpPr/>
            <p:nvPr/>
          </p:nvSpPr>
          <p:spPr>
            <a:xfrm>
              <a:off x="309" y="0"/>
              <a:ext cx="10613" cy="325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关系中每一个属性值都是不可分解的；</a:t>
              </a:r>
              <a:endParaRPr lang="zh-CN" altLang="en-US" sz="2400" dirty="0">
                <a:latin typeface="楷体" panose="02010609060101010101" pitchFamily="49" charset="-122"/>
                <a:ea typeface="楷体" panose="02010609060101010101" pitchFamily="49" charset="-122"/>
              </a:endParaRPr>
            </a:p>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关系中不允许出现重复元组；</a:t>
              </a:r>
              <a:endParaRPr lang="zh-CN" altLang="en-US" sz="2400" dirty="0">
                <a:latin typeface="楷体" panose="02010609060101010101" pitchFamily="49" charset="-122"/>
                <a:ea typeface="楷体" panose="02010609060101010101" pitchFamily="49" charset="-122"/>
              </a:endParaRPr>
            </a:p>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关系是元组的集合，因此无行序；</a:t>
              </a:r>
              <a:endParaRPr lang="zh-CN" altLang="en-US" sz="2400" dirty="0">
                <a:latin typeface="楷体" panose="02010609060101010101" pitchFamily="49" charset="-122"/>
                <a:ea typeface="楷体" panose="02010609060101010101" pitchFamily="49" charset="-122"/>
              </a:endParaRPr>
            </a:p>
            <a:p>
              <a:pPr marL="533400" lvl="0" indent="-533400" eaLnBrk="1" hangingPunct="1">
                <a:lnSpc>
                  <a:spcPct val="135000"/>
                </a:lnSpc>
                <a:spcBef>
                  <a:spcPct val="0"/>
                </a:spcBef>
                <a:buClrTx/>
                <a:buSzTx/>
                <a:buFont typeface="Arial" panose="020B0604020202020204" pitchFamily="34" charset="0"/>
                <a:buAutoNum type="arabicPeriod"/>
              </a:pPr>
              <a:r>
                <a:rPr lang="zh-CN" altLang="en-US" sz="2400" dirty="0">
                  <a:latin typeface="楷体" panose="02010609060101010101" pitchFamily="49" charset="-122"/>
                  <a:ea typeface="楷体" panose="02010609060101010101" pitchFamily="49" charset="-122"/>
                </a:rPr>
                <a:t>关系的列是有序的。</a:t>
              </a:r>
              <a:endParaRPr lang="zh-CN" altLang="en-US" sz="2400" dirty="0">
                <a:latin typeface="楷体" panose="02010609060101010101" pitchFamily="49" charset="-122"/>
                <a:ea typeface="楷体" panose="02010609060101010101" pitchFamily="49" charset="-122"/>
              </a:endParaRPr>
            </a:p>
          </p:txBody>
        </p:sp>
        <p:sp>
          <p:nvSpPr>
            <p:cNvPr id="15366" name="AutoShape 2"/>
            <p:cNvSpPr/>
            <p:nvPr/>
          </p:nvSpPr>
          <p:spPr>
            <a:xfrm>
              <a:off x="0" y="55"/>
              <a:ext cx="12250" cy="3361"/>
            </a:xfrm>
            <a:prstGeom prst="roundRect">
              <a:avLst>
                <a:gd name="adj" fmla="val 10375"/>
              </a:avLst>
            </a:prstGeom>
            <a:noFill/>
            <a:ln w="19050" cap="rnd" cmpd="sng">
              <a:solidFill>
                <a:schemeClr val="accent2"/>
              </a:solidFill>
              <a:prstDash val="sysDot"/>
              <a:headEnd type="none" w="med" len="med"/>
              <a:tailEnd type="none" w="med" len="med"/>
            </a:ln>
          </p:spPr>
          <p:txBody>
            <a:bodyPr wrap="none" anchor="ctr"/>
            <a:lstStyle/>
            <a:p>
              <a:pPr marL="0" marR="0" lvl="0" indent="0" algn="l" defTabSz="914400" rtl="0" eaLnBrk="1" fontAlgn="base" latinLnBrk="0" hangingPunct="1">
                <a:lnSpc>
                  <a:spcPct val="135000"/>
                </a:lnSpc>
                <a:spcBef>
                  <a:spcPct val="0"/>
                </a:spcBef>
                <a:spcAft>
                  <a:spcPct val="0"/>
                </a:spcAft>
                <a:buClrTx/>
                <a:buSzTx/>
                <a:buFont typeface="Arial" panose="020B0604020202020204" pitchFamily="34" charset="0"/>
                <a:buChar char="•"/>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sp>
        <p:nvSpPr>
          <p:cNvPr id="17412" name="Rectangle 2"/>
          <p:cNvSpPr txBox="1"/>
          <p:nvPr/>
        </p:nvSpPr>
        <p:spPr>
          <a:xfrm>
            <a:off x="533400" y="1001713"/>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关系模式的特性</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17413" name="Rectangle 2"/>
          <p:cNvSpPr/>
          <p:nvPr/>
        </p:nvSpPr>
        <p:spPr>
          <a:xfrm>
            <a:off x="457200" y="82550"/>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4"/>
                                        </p:tgtEl>
                                        <p:attrNameLst>
                                          <p:attrName>style.visibility</p:attrName>
                                        </p:attrNameLst>
                                      </p:cBhvr>
                                      <p:to>
                                        <p:strVal val="visible"/>
                                      </p:to>
                                    </p:set>
                                    <p:anim calcmode="lin" valueType="num">
                                      <p:cBhvr additive="base">
                                        <p:cTn id="7" dur="500" fill="hold"/>
                                        <p:tgtEl>
                                          <p:spTgt spid="15364"/>
                                        </p:tgtEl>
                                        <p:attrNameLst>
                                          <p:attrName>ppt_x</p:attrName>
                                        </p:attrNameLst>
                                      </p:cBhvr>
                                      <p:tavLst>
                                        <p:tav tm="0">
                                          <p:val>
                                            <p:strVal val="#ppt_x"/>
                                          </p:val>
                                        </p:tav>
                                        <p:tav tm="100000">
                                          <p:val>
                                            <p:strVal val="#ppt_x"/>
                                          </p:val>
                                        </p:tav>
                                      </p:tavLst>
                                    </p:anim>
                                    <p:anim calcmode="lin" valueType="num">
                                      <p:cBhvr additive="base">
                                        <p:cTn id="8" dur="500" fill="hold"/>
                                        <p:tgtEl>
                                          <p:spTgt spid="153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3"/>
          <p:cNvSpPr txBox="1"/>
          <p:nvPr/>
        </p:nvSpPr>
        <p:spPr>
          <a:xfrm>
            <a:off x="0" y="2255838"/>
            <a:ext cx="2133600" cy="36115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t>    </a:t>
            </a:r>
            <a:r>
              <a:rPr lang="zh-CN" altLang="en-US" sz="2200" dirty="0"/>
              <a:t>是二维表，</a:t>
            </a:r>
            <a:endParaRPr lang="en-US" altLang="zh-CN" sz="2200" dirty="0"/>
          </a:p>
          <a:p>
            <a:pPr marL="533400" lvl="0" indent="-533400" eaLnBrk="1" hangingPunct="1">
              <a:lnSpc>
                <a:spcPct val="125000"/>
              </a:lnSpc>
              <a:buFont typeface="Arial" panose="020B0604020202020204" pitchFamily="34" charset="0"/>
              <a:buNone/>
            </a:pPr>
            <a:r>
              <a:rPr lang="en-US" altLang="zh-CN" sz="2200" dirty="0"/>
              <a:t>    </a:t>
            </a:r>
            <a:r>
              <a:rPr lang="zh-CN" altLang="en-US" sz="2200" dirty="0"/>
              <a:t>但不是关系。</a:t>
            </a:r>
            <a:endParaRPr lang="zh-CN" altLang="en-US" sz="2200" dirty="0"/>
          </a:p>
        </p:txBody>
      </p:sp>
      <p:sp>
        <p:nvSpPr>
          <p:cNvPr id="18435" name="Rectangle 2"/>
          <p:cNvSpPr txBox="1"/>
          <p:nvPr/>
        </p:nvSpPr>
        <p:spPr>
          <a:xfrm>
            <a:off x="457200" y="835025"/>
            <a:ext cx="16002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关系模式的特性</a:t>
            </a:r>
            <a:endParaRPr lang="zh-CN" altLang="en-US" sz="2600" dirty="0">
              <a:solidFill>
                <a:srgbClr val="FF0000"/>
              </a:solidFill>
              <a:latin typeface="宋体" panose="02010600030101010101" pitchFamily="2" charset="-122"/>
              <a:ea typeface="黑体" panose="02010609060101010101" pitchFamily="49" charset="-122"/>
            </a:endParaRPr>
          </a:p>
        </p:txBody>
      </p:sp>
      <p:graphicFrame>
        <p:nvGraphicFramePr>
          <p:cNvPr id="16389" name="表格 16388"/>
          <p:cNvGraphicFramePr>
            <a:graphicFrameLocks noGrp="1"/>
          </p:cNvGraphicFramePr>
          <p:nvPr/>
        </p:nvGraphicFramePr>
        <p:xfrm>
          <a:off x="2163763" y="796925"/>
          <a:ext cx="6627813" cy="5949950"/>
        </p:xfrm>
        <a:graphic>
          <a:graphicData uri="http://schemas.openxmlformats.org/drawingml/2006/table">
            <a:tbl>
              <a:tblPr/>
              <a:tblGrid>
                <a:gridCol w="336550"/>
                <a:gridCol w="392112"/>
                <a:gridCol w="1895475"/>
                <a:gridCol w="996950"/>
                <a:gridCol w="3006725"/>
              </a:tblGrid>
              <a:tr h="266691">
                <a:tc row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序号</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zh-CN" altLang="en-US" sz="14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科目名称</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zh-CN" altLang="en-US" sz="14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专项经费</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zh-CN" altLang="en-US" sz="14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用途</a:t>
                      </a:r>
                      <a:endParaRPr kumimoji="0" lang="zh-CN" altLang="en-US" sz="14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182874">
                <a:tc vMerge="1">
                  <a:tcPr/>
                </a:tc>
                <a:tc grid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gridSpan="2">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一、经费支出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h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646</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用于科技业务云服务平台技术研究、系统研发、支持平台建设与应用示范</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 </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182874">
                <a:tc rowSpan="13">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rPr>
                        <a:t>2</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rowSpan="13">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直接</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费用</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、设备费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50 </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用于科技业务云平台建设专用设备购置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28592">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）购置设备费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50</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用于科技业务云平台建设专用设备购置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1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）试制设备费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1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）设备改造与租赁费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、材料费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95</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用于技术研究、平台建设、系统研发中专用材料的购置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84074">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ct val="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、测试化验加工费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126.9</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用于商务云服务系统功能测试、科技业务云服务平台集成及性能测试等</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1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4</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、燃料动力费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5</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、差旅费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33</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用于平台需求调研、集成应用推广、课题调研中部分车辆组用车等支出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、会议费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69.2</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用于关键技术会议费，商务业务云服务系统评估验收会等相关会议</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06293">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7</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、国际合作与交流费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26.92</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用于课题研究人员需出国考察、开展学术会议或邀请外国专家来华交流指导</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731645">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8</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、出版</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文献</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信息传播</a:t>
                      </a: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知识产权事务费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97.5</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用于关键技术研究相关资料等印刷；系统软件著作权出版费、平台推广相关资料印刷费、平台光纤租用费，课题结题时需要进行财务验收审计等</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548621">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9</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、劳务费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47.6</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用于商务业务云服务系统研发、汽车产业业务云服务平台研发与建设临时人员劳务费支出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5748">
                <a:tc vMerge="1">
                  <a:tcPr/>
                </a:tc>
                <a:tc vMerge="1">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10</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、专家咨询费</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25000"/>
                        </a:lnSpc>
                        <a:spcBef>
                          <a:spcPts val="300"/>
                        </a:spcBef>
                        <a:spcAft>
                          <a:spcPct val="0"/>
                        </a:spcAft>
                        <a:buClr>
                          <a:srgbClr val="000000"/>
                        </a:buClr>
                        <a:buSzTx/>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34.88</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ts val="300"/>
                        </a:spcBef>
                        <a:spcAft>
                          <a:spcPct val="0"/>
                        </a:spcAft>
                        <a:buClr>
                          <a:srgbClr val="000000"/>
                        </a:buClr>
                        <a:buSzTx/>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用于会议专家咨询费及平台建设和系统研发中的相关专家费支出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366616">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ts val="30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rPr>
                        <a:t>3</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间接</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费用</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11</a:t>
                      </a: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、间接费用</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65</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1200" b="0" i="0" u="none" strike="noStrike" cap="none" normalizeH="0" baseline="0" smtClean="0">
                          <a:ln>
                            <a:noFill/>
                          </a:ln>
                          <a:solidFill>
                            <a:srgbClr val="000000"/>
                          </a:solidFill>
                          <a:effectLst/>
                          <a:latin typeface="Arial" panose="020B0604020202020204" pitchFamily="34" charset="0"/>
                          <a:ea typeface="仿宋" panose="02010609060101010101" pitchFamily="49" charset="-122"/>
                        </a:rPr>
                        <a:t>用于单位管理及课题绩效支出</a:t>
                      </a:r>
                      <a:endParaRPr kumimoji="0" lang="zh-CN" altLang="en-US" sz="1200" b="0" i="0" u="none" strike="noStrike" cap="none" normalizeH="0" baseline="0" smtClean="0">
                        <a:ln>
                          <a:noFill/>
                        </a:ln>
                        <a:solidFill>
                          <a:schemeClr val="tx1"/>
                        </a:solidFill>
                        <a:effectLst/>
                        <a:latin typeface="Times New Roman" panose="02020603050405020304" pitchFamily="18" charset="0"/>
                        <a:ea typeface="仿宋" panose="02010609060101010101" pitchFamily="49" charset="-122"/>
                      </a:endParaRPr>
                    </a:p>
                  </a:txBody>
                  <a:tcPr marL="11803" marR="11803"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
        <p:nvSpPr>
          <p:cNvPr id="18518" name="Rectangle 2"/>
          <p:cNvSpPr/>
          <p:nvPr/>
        </p:nvSpPr>
        <p:spPr>
          <a:xfrm>
            <a:off x="457200" y="1222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386">
                                            <p:txEl>
                                              <p:charRg st="0" end="10"/>
                                            </p:txEl>
                                          </p:spTgt>
                                        </p:tgtEl>
                                        <p:attrNameLst>
                                          <p:attrName>style.visibility</p:attrName>
                                        </p:attrNameLst>
                                      </p:cBhvr>
                                      <p:to>
                                        <p:strVal val="visible"/>
                                      </p:to>
                                    </p:set>
                                    <p:animEffect transition="in" filter="dissolve">
                                      <p:cBhvr>
                                        <p:cTn id="7" dur="500"/>
                                        <p:tgtEl>
                                          <p:spTgt spid="16386">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386">
                                            <p:txEl>
                                              <p:charRg st="10" end="21"/>
                                            </p:txEl>
                                          </p:spTgt>
                                        </p:tgtEl>
                                        <p:attrNameLst>
                                          <p:attrName>style.visibility</p:attrName>
                                        </p:attrNameLst>
                                      </p:cBhvr>
                                      <p:to>
                                        <p:strVal val="visible"/>
                                      </p:to>
                                    </p:set>
                                    <p:animEffect transition="in" filter="dissolve">
                                      <p:cBhvr>
                                        <p:cTn id="12" dur="500"/>
                                        <p:tgtEl>
                                          <p:spTgt spid="16386">
                                            <p:txEl>
                                              <p:charRg st="10" end="2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 name="表格 49"/>
          <p:cNvGraphicFramePr/>
          <p:nvPr/>
        </p:nvGraphicFramePr>
        <p:xfrm>
          <a:off x="395288" y="3910013"/>
          <a:ext cx="8470900" cy="2306638"/>
        </p:xfrm>
        <a:graphic>
          <a:graphicData uri="http://schemas.openxmlformats.org/drawingml/2006/table">
            <a:tbl>
              <a:tblPr firstRow="1" bandRow="1">
                <a:tableStyleId>{5C22544A-7EE6-4342-B048-85BDC9FD1C3A}</a:tableStyleId>
              </a:tblPr>
              <a:tblGrid>
                <a:gridCol w="913062"/>
                <a:gridCol w="902902"/>
                <a:gridCol w="797500"/>
                <a:gridCol w="1130850"/>
                <a:gridCol w="961953"/>
                <a:gridCol w="1161328"/>
                <a:gridCol w="761943"/>
                <a:gridCol w="730195"/>
                <a:gridCol w="1111167"/>
              </a:tblGrid>
              <a:tr h="366858">
                <a:tc>
                  <a:txBody>
                    <a:bodyPr/>
                    <a:lstStyle/>
                    <a:p>
                      <a:pPr>
                        <a:lnSpc>
                          <a:spcPct val="100000"/>
                        </a:lnSpc>
                        <a:buNone/>
                      </a:pPr>
                      <a:r>
                        <a:rPr lang="zh-CN" altLang="en-US" sz="1800">
                          <a:solidFill>
                            <a:schemeClr val="tx1"/>
                          </a:solidFill>
                        </a:rPr>
                        <a:t>职工号</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入职时间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职称</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基本工资</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奖金</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补贴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月份</a:t>
                      </a:r>
                      <a:endParaRPr lang="zh-CN" altLang="en-US" sz="1800">
                        <a:solidFill>
                          <a:schemeClr val="tx1"/>
                        </a:solidFill>
                      </a:endParaRPr>
                    </a:p>
                  </a:txBody>
                  <a:tcPr marL="91433" marR="91433" marT="45699" marB="45699"/>
                </a:tc>
              </a:tr>
              <a:tr h="365718">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1200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t>2020-01</a:t>
                      </a:r>
                      <a:endParaRPr lang="en-US" altLang="zh-CN"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7839</a:t>
                      </a:r>
                      <a:endParaRPr lang="en-US" altLang="zh-CN" sz="1800"/>
                    </a:p>
                  </a:txBody>
                  <a:tcPr marL="91433" marR="91433" marT="45699" marB="45699"/>
                </a:tc>
                <a:tc>
                  <a:txBody>
                    <a:bodyPr/>
                    <a:lstStyle/>
                    <a:p>
                      <a:pPr>
                        <a:lnSpc>
                          <a:spcPct val="100000"/>
                        </a:lnSpc>
                        <a:buNone/>
                      </a:pPr>
                      <a:r>
                        <a:rPr lang="zh-CN" altLang="en-US" sz="1800"/>
                        <a:t>胡</a:t>
                      </a:r>
                      <a:r>
                        <a:rPr lang="en-US" altLang="zh-CN" sz="1800"/>
                        <a:t>XX</a:t>
                      </a:r>
                      <a:endParaRPr lang="en-US" altLang="zh-CN" sz="1800"/>
                    </a:p>
                  </a:txBody>
                  <a:tcPr marL="91433" marR="91433" marT="45699" marB="45699"/>
                </a:tc>
                <a:tc>
                  <a:txBody>
                    <a:bodyPr/>
                    <a:lstStyle/>
                    <a:p>
                      <a:pPr>
                        <a:lnSpc>
                          <a:spcPct val="100000"/>
                        </a:lnSpc>
                        <a:buNone/>
                      </a:pPr>
                      <a:r>
                        <a:rPr lang="zh-CN" altLang="en-US" sz="1800"/>
                        <a:t>男</a:t>
                      </a:r>
                      <a:endParaRPr lang="zh-CN" altLang="en-US" sz="1800"/>
                    </a:p>
                  </a:txBody>
                  <a:tcPr marL="91433" marR="91433" marT="45699" marB="45699"/>
                </a:tc>
                <a:tc>
                  <a:txBody>
                    <a:bodyPr/>
                    <a:lstStyle/>
                    <a:p>
                      <a:pPr>
                        <a:lnSpc>
                          <a:spcPct val="100000"/>
                        </a:lnSpc>
                        <a:buNone/>
                      </a:pPr>
                      <a:r>
                        <a:rPr lang="en-US" altLang="zh-CN" sz="1800"/>
                        <a:t>2010-04</a:t>
                      </a:r>
                      <a:endParaRPr lang="en-US" altLang="zh-CN" sz="1800"/>
                    </a:p>
                  </a:txBody>
                  <a:tcPr marL="91433" marR="91433" marT="45699" marB="45699"/>
                </a:tc>
                <a:tc>
                  <a:txBody>
                    <a:bodyPr/>
                    <a:lstStyle/>
                    <a:p>
                      <a:pPr>
                        <a:lnSpc>
                          <a:spcPct val="100000"/>
                        </a:lnSpc>
                        <a:buNone/>
                      </a:pPr>
                      <a:r>
                        <a:rPr lang="zh-CN" altLang="en-US" sz="1800"/>
                        <a:t>副教授</a:t>
                      </a:r>
                      <a:endParaRPr lang="zh-CN" altLang="en-US" sz="1800"/>
                    </a:p>
                  </a:txBody>
                  <a:tcPr marL="91433" marR="91433" marT="45699" marB="45699"/>
                </a:tc>
                <a:tc>
                  <a:txBody>
                    <a:bodyPr/>
                    <a:lstStyle/>
                    <a:p>
                      <a:pPr>
                        <a:lnSpc>
                          <a:spcPct val="100000"/>
                        </a:lnSpc>
                        <a:buNone/>
                      </a:pPr>
                      <a:r>
                        <a:rPr lang="en-US" altLang="zh-CN" sz="1800"/>
                        <a:t>4000</a:t>
                      </a:r>
                      <a:endParaRPr lang="en-US" altLang="zh-CN" sz="1800"/>
                    </a:p>
                  </a:txBody>
                  <a:tcPr marL="91433" marR="91433" marT="45699" marB="45699"/>
                </a:tc>
                <a:tc>
                  <a:txBody>
                    <a:bodyPr/>
                    <a:lstStyle/>
                    <a:p>
                      <a:pPr>
                        <a:lnSpc>
                          <a:spcPct val="100000"/>
                        </a:lnSpc>
                        <a:buNone/>
                      </a:pPr>
                      <a:r>
                        <a:rPr lang="en-US" altLang="zh-CN" sz="1800"/>
                        <a:t>1000</a:t>
                      </a:r>
                      <a:endParaRPr lang="en-US" altLang="zh-CN" sz="1800"/>
                    </a:p>
                  </a:txBody>
                  <a:tcPr marL="91433" marR="91433" marT="45699" marB="45699"/>
                </a:tc>
                <a:tc>
                  <a:txBody>
                    <a:bodyPr/>
                    <a:lstStyle/>
                    <a:p>
                      <a:pPr>
                        <a:lnSpc>
                          <a:spcPct val="100000"/>
                        </a:lnSpc>
                        <a:buNone/>
                      </a:pPr>
                      <a:r>
                        <a:rPr lang="en-US" altLang="zh-CN" sz="1800"/>
                        <a:t>180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1350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220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bl>
          </a:graphicData>
        </a:graphic>
      </p:graphicFrame>
      <p:sp>
        <p:nvSpPr>
          <p:cNvPr id="3" name="矩形 2"/>
          <p:cNvSpPr/>
          <p:nvPr/>
        </p:nvSpPr>
        <p:spPr>
          <a:xfrm>
            <a:off x="428625" y="3270250"/>
            <a:ext cx="7192963" cy="71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rPr>
              <a:t>3</a:t>
            </a:r>
            <a:r>
              <a:rPr kumimoji="0" lang="zh-CN" altLang="en-US" sz="2400" b="1" i="0" u="none" strike="noStrike" kern="1200" cap="none" spc="0" normalizeH="0" baseline="0" noProof="0">
                <a:ln>
                  <a:noFill/>
                </a:ln>
                <a:solidFill>
                  <a:schemeClr val="tx1"/>
                </a:solidFill>
                <a:effectLst/>
                <a:uLnTx/>
                <a:uFillTx/>
                <a:latin typeface="+mn-lt"/>
                <a:ea typeface="+mn-ea"/>
                <a:cs typeface="+mn-cs"/>
              </a:rPr>
              <a:t>、写出下面关系的关系模式，指出其候选键和主键。</a:t>
            </a:r>
            <a:endParaRPr kumimoji="0" lang="zh-CN" alt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4" name="矩形 3"/>
          <p:cNvSpPr/>
          <p:nvPr/>
        </p:nvSpPr>
        <p:spPr>
          <a:xfrm>
            <a:off x="323850" y="785813"/>
            <a:ext cx="8382000" cy="1931988"/>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、关系模型用</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来表达数据结构。</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、下列关于关系模型基本性质的描述，正确的是（）。</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19532" name="文本框 4"/>
          <p:cNvSpPr txBox="1"/>
          <p:nvPr/>
        </p:nvSpPr>
        <p:spPr>
          <a:xfrm>
            <a:off x="539750" y="2133600"/>
            <a:ext cx="7321550" cy="13223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A.同一关系中允许有完全相同的记录</a:t>
            </a:r>
            <a:endParaRPr lang="zh-CN" altLang="en-US" dirty="0"/>
          </a:p>
          <a:p>
            <a:pPr marL="0" lvl="0" indent="0" eaLnBrk="1" hangingPunct="1">
              <a:spcBef>
                <a:spcPct val="0"/>
              </a:spcBef>
              <a:buClrTx/>
              <a:buSzTx/>
              <a:buFont typeface="Arial" panose="020B0604020202020204" pitchFamily="34" charset="0"/>
              <a:buNone/>
            </a:pPr>
            <a:r>
              <a:rPr lang="zh-CN" altLang="en-US" dirty="0"/>
              <a:t>B.关系中的每一列称为字段，字段值应取自同一值域</a:t>
            </a:r>
            <a:endParaRPr lang="zh-CN" altLang="en-US" dirty="0"/>
          </a:p>
          <a:p>
            <a:pPr marL="0" lvl="0" indent="0" eaLnBrk="1" hangingPunct="1">
              <a:spcBef>
                <a:spcPct val="0"/>
              </a:spcBef>
              <a:buClrTx/>
              <a:buSzTx/>
              <a:buFont typeface="Arial" panose="020B0604020202020204" pitchFamily="34" charset="0"/>
              <a:buNone/>
            </a:pPr>
            <a:r>
              <a:rPr lang="zh-CN" altLang="en-US" dirty="0"/>
              <a:t>C.在一个关系中列可再分，列的顺序也可以改变</a:t>
            </a:r>
            <a:endParaRPr lang="zh-CN" altLang="en-US" dirty="0"/>
          </a:p>
          <a:p>
            <a:pPr marL="0" lvl="0" indent="0" eaLnBrk="1" hangingPunct="1">
              <a:spcBef>
                <a:spcPct val="0"/>
              </a:spcBef>
              <a:buClrTx/>
              <a:buSzTx/>
              <a:buFont typeface="Arial" panose="020B0604020202020204" pitchFamily="34" charset="0"/>
              <a:buNone/>
            </a:pPr>
            <a:r>
              <a:rPr lang="en-US" altLang="zh-CN" dirty="0"/>
              <a:t>D.关系中的每一行称为关键字</a:t>
            </a:r>
            <a:endParaRPr lang="en-US" altLang="zh-CN" dirty="0"/>
          </a:p>
        </p:txBody>
      </p:sp>
      <p:sp>
        <p:nvSpPr>
          <p:cNvPr id="19533"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50" name="表格 49"/>
          <p:cNvGraphicFramePr/>
          <p:nvPr/>
        </p:nvGraphicFramePr>
        <p:xfrm>
          <a:off x="395288" y="3910013"/>
          <a:ext cx="8470900" cy="2306638"/>
        </p:xfrm>
        <a:graphic>
          <a:graphicData uri="http://schemas.openxmlformats.org/drawingml/2006/table">
            <a:tbl>
              <a:tblPr firstRow="1" bandRow="1">
                <a:tableStyleId>{5C22544A-7EE6-4342-B048-85BDC9FD1C3A}</a:tableStyleId>
              </a:tblPr>
              <a:tblGrid>
                <a:gridCol w="913062"/>
                <a:gridCol w="902902"/>
                <a:gridCol w="797500"/>
                <a:gridCol w="1130850"/>
                <a:gridCol w="961953"/>
                <a:gridCol w="1161328"/>
                <a:gridCol w="761943"/>
                <a:gridCol w="730195"/>
                <a:gridCol w="1111167"/>
              </a:tblGrid>
              <a:tr h="366858">
                <a:tc>
                  <a:txBody>
                    <a:bodyPr/>
                    <a:lstStyle/>
                    <a:p>
                      <a:pPr>
                        <a:lnSpc>
                          <a:spcPct val="100000"/>
                        </a:lnSpc>
                        <a:buNone/>
                      </a:pPr>
                      <a:r>
                        <a:rPr lang="zh-CN" altLang="en-US" sz="1800">
                          <a:solidFill>
                            <a:schemeClr val="tx1"/>
                          </a:solidFill>
                        </a:rPr>
                        <a:t>职工号</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入职时间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职称</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基本工资</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奖金</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补贴</a:t>
                      </a:r>
                      <a:endParaRPr lang="zh-CN" altLang="en-US" sz="1800">
                        <a:solidFill>
                          <a:schemeClr val="tx1"/>
                        </a:solidFill>
                      </a:endParaRPr>
                    </a:p>
                  </a:txBody>
                  <a:tcPr marL="91433" marR="91433" marT="45699" marB="45699"/>
                </a:tc>
                <a:tc>
                  <a:txBody>
                    <a:bodyPr/>
                    <a:lstStyle/>
                    <a:p>
                      <a:pPr>
                        <a:lnSpc>
                          <a:spcPct val="100000"/>
                        </a:lnSpc>
                        <a:buNone/>
                      </a:pPr>
                      <a:r>
                        <a:rPr lang="zh-CN" altLang="en-US" sz="1800">
                          <a:solidFill>
                            <a:schemeClr val="tx1"/>
                          </a:solidFill>
                        </a:rPr>
                        <a:t>月份</a:t>
                      </a:r>
                      <a:endParaRPr lang="zh-CN" altLang="en-US" sz="1800">
                        <a:solidFill>
                          <a:schemeClr val="tx1"/>
                        </a:solidFill>
                      </a:endParaRPr>
                    </a:p>
                  </a:txBody>
                  <a:tcPr marL="91433" marR="91433" marT="45699" marB="45699"/>
                </a:tc>
              </a:tr>
              <a:tr h="365718">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1200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t>2020-01</a:t>
                      </a:r>
                      <a:endParaRPr lang="en-US" altLang="zh-CN"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7839</a:t>
                      </a:r>
                      <a:endParaRPr lang="en-US" altLang="zh-CN" sz="1800"/>
                    </a:p>
                  </a:txBody>
                  <a:tcPr marL="91433" marR="91433" marT="45699" marB="45699"/>
                </a:tc>
                <a:tc>
                  <a:txBody>
                    <a:bodyPr/>
                    <a:lstStyle/>
                    <a:p>
                      <a:pPr>
                        <a:lnSpc>
                          <a:spcPct val="100000"/>
                        </a:lnSpc>
                        <a:buNone/>
                      </a:pPr>
                      <a:r>
                        <a:rPr lang="zh-CN" altLang="en-US" sz="1800"/>
                        <a:t>胡</a:t>
                      </a:r>
                      <a:r>
                        <a:rPr lang="en-US" altLang="zh-CN" sz="1800"/>
                        <a:t>XX</a:t>
                      </a:r>
                      <a:endParaRPr lang="en-US" altLang="zh-CN" sz="1800"/>
                    </a:p>
                  </a:txBody>
                  <a:tcPr marL="91433" marR="91433" marT="45699" marB="45699"/>
                </a:tc>
                <a:tc>
                  <a:txBody>
                    <a:bodyPr/>
                    <a:lstStyle/>
                    <a:p>
                      <a:pPr>
                        <a:lnSpc>
                          <a:spcPct val="100000"/>
                        </a:lnSpc>
                        <a:buNone/>
                      </a:pPr>
                      <a:r>
                        <a:rPr lang="zh-CN" altLang="en-US" sz="1800"/>
                        <a:t>男</a:t>
                      </a:r>
                      <a:endParaRPr lang="zh-CN" altLang="en-US" sz="1800"/>
                    </a:p>
                  </a:txBody>
                  <a:tcPr marL="91433" marR="91433" marT="45699" marB="45699"/>
                </a:tc>
                <a:tc>
                  <a:txBody>
                    <a:bodyPr/>
                    <a:lstStyle/>
                    <a:p>
                      <a:pPr>
                        <a:lnSpc>
                          <a:spcPct val="100000"/>
                        </a:lnSpc>
                        <a:buNone/>
                      </a:pPr>
                      <a:r>
                        <a:rPr lang="en-US" altLang="zh-CN" sz="1800"/>
                        <a:t>2010-04</a:t>
                      </a:r>
                      <a:endParaRPr lang="en-US" altLang="zh-CN" sz="1800"/>
                    </a:p>
                  </a:txBody>
                  <a:tcPr marL="91433" marR="91433" marT="45699" marB="45699"/>
                </a:tc>
                <a:tc>
                  <a:txBody>
                    <a:bodyPr/>
                    <a:lstStyle/>
                    <a:p>
                      <a:pPr>
                        <a:lnSpc>
                          <a:spcPct val="100000"/>
                        </a:lnSpc>
                        <a:buNone/>
                      </a:pPr>
                      <a:r>
                        <a:rPr lang="zh-CN" altLang="en-US" sz="1800"/>
                        <a:t>副教授</a:t>
                      </a:r>
                      <a:endParaRPr lang="zh-CN" altLang="en-US" sz="1800"/>
                    </a:p>
                  </a:txBody>
                  <a:tcPr marL="91433" marR="91433" marT="45699" marB="45699"/>
                </a:tc>
                <a:tc>
                  <a:txBody>
                    <a:bodyPr/>
                    <a:lstStyle/>
                    <a:p>
                      <a:pPr>
                        <a:lnSpc>
                          <a:spcPct val="100000"/>
                        </a:lnSpc>
                        <a:buNone/>
                      </a:pPr>
                      <a:r>
                        <a:rPr lang="en-US" altLang="zh-CN" sz="1800"/>
                        <a:t>4000</a:t>
                      </a:r>
                      <a:endParaRPr lang="en-US" altLang="zh-CN" sz="1800"/>
                    </a:p>
                  </a:txBody>
                  <a:tcPr marL="91433" marR="91433" marT="45699" marB="45699"/>
                </a:tc>
                <a:tc>
                  <a:txBody>
                    <a:bodyPr/>
                    <a:lstStyle/>
                    <a:p>
                      <a:pPr>
                        <a:lnSpc>
                          <a:spcPct val="100000"/>
                        </a:lnSpc>
                        <a:buNone/>
                      </a:pPr>
                      <a:r>
                        <a:rPr lang="en-US" altLang="zh-CN" sz="1800"/>
                        <a:t>1000</a:t>
                      </a:r>
                      <a:endParaRPr lang="en-US" altLang="zh-CN" sz="1800"/>
                    </a:p>
                  </a:txBody>
                  <a:tcPr marL="91433" marR="91433" marT="45699" marB="45699"/>
                </a:tc>
                <a:tc>
                  <a:txBody>
                    <a:bodyPr/>
                    <a:lstStyle/>
                    <a:p>
                      <a:pPr>
                        <a:lnSpc>
                          <a:spcPct val="100000"/>
                        </a:lnSpc>
                        <a:buNone/>
                      </a:pPr>
                      <a:r>
                        <a:rPr lang="en-US" altLang="zh-CN" sz="1800"/>
                        <a:t>180</a:t>
                      </a:r>
                      <a:endParaRPr lang="en-US" altLang="zh-CN" sz="1800"/>
                    </a:p>
                  </a:txBody>
                  <a:tcPr marL="91433" marR="91433" marT="45699" marB="45699"/>
                </a:tc>
                <a:tc>
                  <a:txBody>
                    <a:bodyPr/>
                    <a:lstStyle/>
                    <a:p>
                      <a:pPr>
                        <a:lnSpc>
                          <a:spcPct val="100000"/>
                        </a:lnSpc>
                        <a:buNone/>
                      </a:pPr>
                      <a:r>
                        <a:rPr lang="en-US" altLang="zh-CN" sz="1800">
                          <a:sym typeface="+mn-ea"/>
                        </a:rPr>
                        <a:t>2020-01</a:t>
                      </a:r>
                      <a:endParaRPr lang="zh-CN" altLang="en-US" sz="1800"/>
                    </a:p>
                  </a:txBody>
                  <a:tcPr marL="91433" marR="91433" marT="45699" marB="45699"/>
                </a:tc>
              </a:tr>
              <a:tr h="394150">
                <a:tc>
                  <a:txBody>
                    <a:bodyPr/>
                    <a:lstStyle/>
                    <a:p>
                      <a:pPr>
                        <a:lnSpc>
                          <a:spcPct val="100000"/>
                        </a:lnSpc>
                        <a:buNone/>
                      </a:pPr>
                      <a:r>
                        <a:rPr lang="en-US" altLang="zh-CN" sz="1800"/>
                        <a:t>6726</a:t>
                      </a:r>
                      <a:endParaRPr lang="en-US" altLang="zh-CN" sz="1800"/>
                    </a:p>
                  </a:txBody>
                  <a:tcPr marL="91433" marR="91433" marT="45699" marB="45699"/>
                </a:tc>
                <a:tc>
                  <a:txBody>
                    <a:bodyPr/>
                    <a:lstStyle/>
                    <a:p>
                      <a:pPr>
                        <a:lnSpc>
                          <a:spcPct val="100000"/>
                        </a:lnSpc>
                        <a:buNone/>
                      </a:pPr>
                      <a:r>
                        <a:rPr lang="zh-CN" altLang="en-US" sz="1800"/>
                        <a:t>王</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2000-07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4500</a:t>
                      </a:r>
                      <a:endParaRPr lang="en-US" altLang="zh-CN" sz="1800"/>
                    </a:p>
                  </a:txBody>
                  <a:tcPr marL="91433" marR="91433" marT="45699" marB="45699"/>
                </a:tc>
                <a:tc>
                  <a:txBody>
                    <a:bodyPr/>
                    <a:lstStyle/>
                    <a:p>
                      <a:pPr>
                        <a:lnSpc>
                          <a:spcPct val="100000"/>
                        </a:lnSpc>
                        <a:buNone/>
                      </a:pPr>
                      <a:r>
                        <a:rPr lang="en-US" altLang="zh-CN" sz="1800"/>
                        <a:t>1350</a:t>
                      </a:r>
                      <a:endParaRPr lang="en-US" altLang="zh-CN" sz="1800"/>
                    </a:p>
                  </a:txBody>
                  <a:tcPr marL="91433" marR="91433" marT="45699" marB="45699"/>
                </a:tc>
                <a:tc>
                  <a:txBody>
                    <a:bodyPr/>
                    <a:lstStyle/>
                    <a:p>
                      <a:pPr>
                        <a:lnSpc>
                          <a:spcPct val="100000"/>
                        </a:lnSpc>
                        <a:buNone/>
                      </a:pPr>
                      <a:r>
                        <a:rPr lang="en-US" altLang="zh-CN" sz="1800"/>
                        <a:t>200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r h="392881">
                <a:tc>
                  <a:txBody>
                    <a:bodyPr/>
                    <a:lstStyle/>
                    <a:p>
                      <a:pPr>
                        <a:lnSpc>
                          <a:spcPct val="100000"/>
                        </a:lnSpc>
                        <a:buNone/>
                      </a:pPr>
                      <a:r>
                        <a:rPr lang="en-US" altLang="zh-CN" sz="1800"/>
                        <a:t>1038</a:t>
                      </a:r>
                      <a:endParaRPr lang="en-US" altLang="zh-CN" sz="1800"/>
                    </a:p>
                  </a:txBody>
                  <a:tcPr marL="91433" marR="91433" marT="45699" marB="45699"/>
                </a:tc>
                <a:tc>
                  <a:txBody>
                    <a:bodyPr/>
                    <a:lstStyle/>
                    <a:p>
                      <a:pPr>
                        <a:lnSpc>
                          <a:spcPct val="100000"/>
                        </a:lnSpc>
                        <a:buNone/>
                      </a:pPr>
                      <a:r>
                        <a:rPr lang="zh-CN" altLang="en-US" sz="1800"/>
                        <a:t>唐</a:t>
                      </a:r>
                      <a:r>
                        <a:rPr lang="en-US" altLang="zh-CN" sz="1800"/>
                        <a:t>XX</a:t>
                      </a:r>
                      <a:endParaRPr lang="en-US" altLang="zh-CN" sz="1800"/>
                    </a:p>
                  </a:txBody>
                  <a:tcPr marL="91433" marR="91433" marT="45699" marB="45699"/>
                </a:tc>
                <a:tc>
                  <a:txBody>
                    <a:bodyPr/>
                    <a:lstStyle/>
                    <a:p>
                      <a:pPr>
                        <a:lnSpc>
                          <a:spcPct val="100000"/>
                        </a:lnSpc>
                        <a:buNone/>
                      </a:pPr>
                      <a:r>
                        <a:rPr lang="zh-CN" altLang="en-US" sz="1800"/>
                        <a:t>女</a:t>
                      </a:r>
                      <a:endParaRPr lang="zh-CN" altLang="en-US" sz="1800"/>
                    </a:p>
                  </a:txBody>
                  <a:tcPr marL="91433" marR="91433" marT="45699" marB="45699"/>
                </a:tc>
                <a:tc>
                  <a:txBody>
                    <a:bodyPr/>
                    <a:lstStyle/>
                    <a:p>
                      <a:pPr>
                        <a:lnSpc>
                          <a:spcPct val="100000"/>
                        </a:lnSpc>
                        <a:buNone/>
                      </a:pPr>
                      <a:r>
                        <a:rPr lang="en-US" altLang="zh-CN" sz="1800"/>
                        <a:t>1998-07</a:t>
                      </a:r>
                      <a:endParaRPr lang="en-US" altLang="zh-CN" sz="1800"/>
                    </a:p>
                  </a:txBody>
                  <a:tcPr marL="91433" marR="91433" marT="45699" marB="45699"/>
                </a:tc>
                <a:tc>
                  <a:txBody>
                    <a:bodyPr/>
                    <a:lstStyle/>
                    <a:p>
                      <a:pPr>
                        <a:lnSpc>
                          <a:spcPct val="100000"/>
                        </a:lnSpc>
                        <a:buNone/>
                      </a:pPr>
                      <a:r>
                        <a:rPr lang="zh-CN" altLang="en-US" sz="1800"/>
                        <a:t>教授</a:t>
                      </a:r>
                      <a:endParaRPr lang="zh-CN" altLang="en-US" sz="1800"/>
                    </a:p>
                  </a:txBody>
                  <a:tcPr marL="91433" marR="91433" marT="45699" marB="45699"/>
                </a:tc>
                <a:tc>
                  <a:txBody>
                    <a:bodyPr/>
                    <a:lstStyle/>
                    <a:p>
                      <a:pPr>
                        <a:lnSpc>
                          <a:spcPct val="100000"/>
                        </a:lnSpc>
                        <a:buNone/>
                      </a:pPr>
                      <a:r>
                        <a:rPr lang="en-US" altLang="zh-CN" sz="1800"/>
                        <a:t>5000</a:t>
                      </a:r>
                      <a:endParaRPr lang="en-US" altLang="zh-CN" sz="1800"/>
                    </a:p>
                  </a:txBody>
                  <a:tcPr marL="91433" marR="91433" marT="45699" marB="45699"/>
                </a:tc>
                <a:tc>
                  <a:txBody>
                    <a:bodyPr/>
                    <a:lstStyle/>
                    <a:p>
                      <a:pPr>
                        <a:lnSpc>
                          <a:spcPct val="100000"/>
                        </a:lnSpc>
                        <a:buNone/>
                      </a:pPr>
                      <a:r>
                        <a:rPr lang="en-US" altLang="zh-CN" sz="1800"/>
                        <a:t>1400</a:t>
                      </a:r>
                      <a:endParaRPr lang="en-US" altLang="zh-CN" sz="1800"/>
                    </a:p>
                  </a:txBody>
                  <a:tcPr marL="91433" marR="91433" marT="45699" marB="45699"/>
                </a:tc>
                <a:tc>
                  <a:txBody>
                    <a:bodyPr/>
                    <a:lstStyle/>
                    <a:p>
                      <a:pPr>
                        <a:lnSpc>
                          <a:spcPct val="100000"/>
                        </a:lnSpc>
                        <a:buNone/>
                      </a:pPr>
                      <a:r>
                        <a:rPr lang="en-US" altLang="zh-CN" sz="1800"/>
                        <a:t>220</a:t>
                      </a:r>
                      <a:endParaRPr lang="en-US" altLang="zh-CN" sz="1800"/>
                    </a:p>
                  </a:txBody>
                  <a:tcPr marL="91433" marR="91433" marT="45699" marB="45699"/>
                </a:tc>
                <a:tc>
                  <a:txBody>
                    <a:bodyPr/>
                    <a:lstStyle/>
                    <a:p>
                      <a:pPr>
                        <a:lnSpc>
                          <a:spcPct val="100000"/>
                        </a:lnSpc>
                        <a:buNone/>
                      </a:pPr>
                      <a:r>
                        <a:rPr lang="en-US" altLang="zh-CN" sz="1800">
                          <a:sym typeface="+mn-ea"/>
                        </a:rPr>
                        <a:t>2020-0</a:t>
                      </a:r>
                      <a:r>
                        <a:rPr lang="en-US" sz="1800">
                          <a:sym typeface="+mn-ea"/>
                        </a:rPr>
                        <a:t>2</a:t>
                      </a:r>
                      <a:endParaRPr lang="en-US" sz="1800"/>
                    </a:p>
                  </a:txBody>
                  <a:tcPr marL="91433" marR="91433" marT="45699" marB="45699"/>
                </a:tc>
              </a:tr>
            </a:tbl>
          </a:graphicData>
        </a:graphic>
      </p:graphicFrame>
      <p:sp>
        <p:nvSpPr>
          <p:cNvPr id="3" name="矩形 2"/>
          <p:cNvSpPr/>
          <p:nvPr/>
        </p:nvSpPr>
        <p:spPr>
          <a:xfrm>
            <a:off x="428625" y="3270250"/>
            <a:ext cx="8077200" cy="71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rPr>
              <a:t>3</a:t>
            </a:r>
            <a:r>
              <a:rPr kumimoji="0" lang="zh-CN" altLang="en-US" sz="2400" b="1" i="0" u="none" strike="noStrike" kern="1200" cap="none" spc="0" normalizeH="0" baseline="0" noProof="0">
                <a:ln>
                  <a:noFill/>
                </a:ln>
                <a:solidFill>
                  <a:schemeClr val="tx1"/>
                </a:solidFill>
                <a:effectLst/>
                <a:uLnTx/>
                <a:uFillTx/>
                <a:latin typeface="+mn-lt"/>
                <a:ea typeface="+mn-ea"/>
                <a:cs typeface="+mn-cs"/>
              </a:rPr>
              <a:t>、写出下面职工关系的关系模式，指出其候选键和主键。</a:t>
            </a:r>
            <a:endParaRPr kumimoji="0" lang="zh-CN" altLang="en-US" sz="2400" b="1" i="0" u="none" strike="noStrike" kern="1200" cap="none" spc="0" normalizeH="0" baseline="0" noProof="0">
              <a:ln>
                <a:noFill/>
              </a:ln>
              <a:solidFill>
                <a:schemeClr val="tx1"/>
              </a:solidFill>
              <a:effectLst/>
              <a:uLnTx/>
              <a:uFillTx/>
              <a:latin typeface="+mn-lt"/>
              <a:ea typeface="+mn-ea"/>
              <a:cs typeface="+mn-cs"/>
            </a:endParaRPr>
          </a:p>
        </p:txBody>
      </p:sp>
      <p:sp>
        <p:nvSpPr>
          <p:cNvPr id="4" name="矩形 3"/>
          <p:cNvSpPr/>
          <p:nvPr/>
        </p:nvSpPr>
        <p:spPr>
          <a:xfrm>
            <a:off x="323850" y="785813"/>
            <a:ext cx="8382000" cy="1931988"/>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问题解析</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、关系模型用</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sng"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关系</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来表达数据结构。</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、下列关于关系模型基本性质的描述，正确的是（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5000"/>
              </a:lnSpc>
              <a:spcBef>
                <a:spcPct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20556" name="文本框 4"/>
          <p:cNvSpPr txBox="1"/>
          <p:nvPr/>
        </p:nvSpPr>
        <p:spPr>
          <a:xfrm>
            <a:off x="539750" y="2133600"/>
            <a:ext cx="7321550" cy="13223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t>A.同一关系中允许有完全相同的记录</a:t>
            </a:r>
            <a:endParaRPr lang="zh-CN" altLang="en-US" dirty="0"/>
          </a:p>
          <a:p>
            <a:pPr marL="0" lvl="0" indent="0" eaLnBrk="1" hangingPunct="1">
              <a:spcBef>
                <a:spcPct val="0"/>
              </a:spcBef>
              <a:buClrTx/>
              <a:buSzTx/>
              <a:buFont typeface="Arial" panose="020B0604020202020204" pitchFamily="34" charset="0"/>
              <a:buNone/>
            </a:pPr>
            <a:r>
              <a:rPr lang="zh-CN" altLang="en-US" dirty="0"/>
              <a:t>B.关系中的每一列称为字段，字段值应取自同一值域</a:t>
            </a:r>
            <a:endParaRPr lang="zh-CN" altLang="en-US" dirty="0"/>
          </a:p>
          <a:p>
            <a:pPr marL="0" lvl="0" indent="0" eaLnBrk="1" hangingPunct="1">
              <a:spcBef>
                <a:spcPct val="0"/>
              </a:spcBef>
              <a:buClrTx/>
              <a:buSzTx/>
              <a:buFont typeface="Arial" panose="020B0604020202020204" pitchFamily="34" charset="0"/>
              <a:buNone/>
            </a:pPr>
            <a:r>
              <a:rPr lang="zh-CN" altLang="en-US" dirty="0"/>
              <a:t>C.在一个关系中列可再分，列的顺序也可以改变</a:t>
            </a:r>
            <a:endParaRPr lang="zh-CN" altLang="en-US" dirty="0"/>
          </a:p>
          <a:p>
            <a:pPr marL="0" lvl="0" indent="0" eaLnBrk="1" hangingPunct="1">
              <a:spcBef>
                <a:spcPct val="0"/>
              </a:spcBef>
              <a:buClrTx/>
              <a:buSzTx/>
              <a:buFont typeface="Arial" panose="020B0604020202020204" pitchFamily="34" charset="0"/>
              <a:buNone/>
            </a:pPr>
            <a:r>
              <a:rPr lang="en-US" altLang="zh-CN" dirty="0"/>
              <a:t>D.关系中的每一行称为关键字</a:t>
            </a:r>
            <a:endParaRPr lang="en-US" altLang="zh-CN" dirty="0"/>
          </a:p>
        </p:txBody>
      </p:sp>
      <p:sp>
        <p:nvSpPr>
          <p:cNvPr id="2" name="文本框 1"/>
          <p:cNvSpPr txBox="1"/>
          <p:nvPr/>
        </p:nvSpPr>
        <p:spPr>
          <a:xfrm>
            <a:off x="428625" y="4457700"/>
            <a:ext cx="8470900" cy="1630363"/>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关系模式：</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职工（职工号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rPr>
              <a:t>姓名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rPr>
              <a:t>性别</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rPr>
              <a:t>入职时间</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职称</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基本工资</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奖金</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补贴</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月份）</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候选键：（职工号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月份）</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主键：</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（职工号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月份）</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职工（</a:t>
            </a:r>
            <a:r>
              <a:rPr kumimoji="0" lang="zh-CN" altLang="en-US" sz="2000" u="sng" kern="1200" cap="none" spc="0" normalizeH="0" baseline="0" noProof="0">
                <a:latin typeface="Arial" panose="020B0604020202020204" pitchFamily="34" charset="0"/>
                <a:ea typeface="宋体" panose="02010600030101010101" pitchFamily="2" charset="-122"/>
                <a:cs typeface="+mn-cs"/>
                <a:sym typeface="+mn-ea"/>
              </a:rPr>
              <a:t>职工号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姓名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性别</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入职时间</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职称</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基本工资</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奖金</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补贴</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latin typeface="Arial" panose="020B0604020202020204" pitchFamily="34" charset="0"/>
                <a:ea typeface="宋体" panose="02010600030101010101" pitchFamily="2" charset="-122"/>
                <a:cs typeface="+mn-cs"/>
                <a:sym typeface="+mn-ea"/>
              </a:rPr>
              <a:t>月份</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6" name="文本框 5"/>
          <p:cNvSpPr txBox="1"/>
          <p:nvPr/>
        </p:nvSpPr>
        <p:spPr>
          <a:xfrm>
            <a:off x="7243763" y="1720850"/>
            <a:ext cx="354013" cy="460375"/>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B</a:t>
            </a:r>
            <a:r>
              <a:rPr kumimoji="0" lang="zh-CN" altLang="en-US"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 </a:t>
            </a:r>
            <a:endParaRPr kumimoji="0" lang="zh-CN" altLang="en-US" kern="1200" cap="none" spc="0" normalizeH="0" baseline="0" noProof="0">
              <a:latin typeface="Arial" panose="020B0604020202020204" pitchFamily="34" charset="0"/>
              <a:ea typeface="宋体" panose="02010600030101010101" pitchFamily="2" charset="-122"/>
              <a:cs typeface="+mn-cs"/>
            </a:endParaRPr>
          </a:p>
        </p:txBody>
      </p:sp>
      <p:sp>
        <p:nvSpPr>
          <p:cNvPr id="20559"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一、关系模型的数据结构</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ext Box 7"/>
          <p:cNvSpPr txBox="1"/>
          <p:nvPr/>
        </p:nvSpPr>
        <p:spPr>
          <a:xfrm>
            <a:off x="423863" y="1077913"/>
            <a:ext cx="8262937" cy="4895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1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400" u="sng" dirty="0">
                <a:solidFill>
                  <a:srgbClr val="FF0000"/>
                </a:solidFill>
                <a:latin typeface="宋体" panose="02010600030101010101" pitchFamily="2" charset="-122"/>
              </a:rPr>
              <a:t>数据完整性是指数据库中存储的数据是有意义的或正确的，也就是和现实世界相符。</a:t>
            </a:r>
            <a:r>
              <a:rPr lang="zh-CN" altLang="en-US" sz="2200" dirty="0">
                <a:latin typeface="宋体" panose="02010600030101010101" pitchFamily="2" charset="-122"/>
              </a:rPr>
              <a:t>关系模型中的数据完整性规则是对关系的某种约束条件。</a:t>
            </a:r>
            <a:endParaRPr lang="zh-CN" altLang="en-US" sz="2200" dirty="0">
              <a:latin typeface="宋体" panose="02010600030101010101" pitchFamily="2" charset="-122"/>
            </a:endParaRPr>
          </a:p>
          <a:p>
            <a:pPr marL="0" lvl="0" indent="0" eaLnBrk="1" hangingPunct="1">
              <a:lnSpc>
                <a:spcPct val="120000"/>
              </a:lnSpc>
              <a:spcBef>
                <a:spcPts val="600"/>
              </a:spcBef>
              <a:buClrTx/>
              <a:buSzTx/>
              <a:buFont typeface="Arial" panose="020B0604020202020204" pitchFamily="34" charset="0"/>
              <a:buNone/>
            </a:pPr>
            <a:r>
              <a:rPr lang="zh-CN" altLang="en-US" dirty="0">
                <a:solidFill>
                  <a:srgbClr val="0033CC"/>
                </a:solidFill>
                <a:latin typeface="宋体" panose="02010600030101010101" pitchFamily="2" charset="-122"/>
              </a:rPr>
              <a:t>    </a:t>
            </a:r>
            <a:r>
              <a:rPr lang="en-US" altLang="zh-CN" sz="2200" dirty="0">
                <a:latin typeface="宋体" panose="02010600030101010101" pitchFamily="2" charset="-122"/>
              </a:rPr>
              <a:t>RDBMS</a:t>
            </a:r>
            <a:r>
              <a:rPr lang="zh-CN" altLang="en-US" sz="2200" dirty="0">
                <a:latin typeface="宋体" panose="02010600030101010101" pitchFamily="2" charset="-122"/>
              </a:rPr>
              <a:t>必须帮助阻止非法数据的输入。要求存入</a:t>
            </a:r>
            <a:r>
              <a:rPr lang="en-US" altLang="zh-CN" sz="2200" dirty="0">
                <a:latin typeface="宋体" panose="02010600030101010101" pitchFamily="2" charset="-122"/>
              </a:rPr>
              <a:t>DB</a:t>
            </a:r>
            <a:r>
              <a:rPr lang="zh-CN" altLang="en-US" sz="2200" dirty="0">
                <a:latin typeface="宋体" panose="02010600030101010101" pitchFamily="2" charset="-122"/>
              </a:rPr>
              <a:t>的数据应满足的条件。当表中数据发生变化（或称更新，包括</a:t>
            </a:r>
            <a:r>
              <a:rPr lang="en-US" altLang="zh-CN" sz="2200" dirty="0">
                <a:latin typeface="宋体" panose="02010600030101010101" pitchFamily="2" charset="-122"/>
              </a:rPr>
              <a:t>Insert</a:t>
            </a:r>
            <a:r>
              <a:rPr lang="zh-CN" altLang="en-US" sz="2200" dirty="0">
                <a:latin typeface="宋体" panose="02010600030101010101" pitchFamily="2" charset="-122"/>
              </a:rPr>
              <a:t>、</a:t>
            </a:r>
            <a:r>
              <a:rPr lang="en-US" altLang="zh-CN" sz="2200" dirty="0">
                <a:latin typeface="宋体" panose="02010600030101010101" pitchFamily="2" charset="-122"/>
              </a:rPr>
              <a:t>Delete</a:t>
            </a:r>
            <a:r>
              <a:rPr lang="zh-CN" altLang="en-US" sz="2200" dirty="0">
                <a:latin typeface="宋体" panose="02010600030101010101" pitchFamily="2" charset="-122"/>
              </a:rPr>
              <a:t>、</a:t>
            </a:r>
            <a:r>
              <a:rPr lang="en-US" altLang="zh-CN" sz="2200" dirty="0">
                <a:latin typeface="宋体" panose="02010600030101010101" pitchFamily="2" charset="-122"/>
              </a:rPr>
              <a:t>Update</a:t>
            </a:r>
            <a:r>
              <a:rPr lang="zh-CN" altLang="en-US" sz="2200" dirty="0">
                <a:latin typeface="宋体" panose="02010600030101010101" pitchFamily="2" charset="-122"/>
              </a:rPr>
              <a:t>）时，</a:t>
            </a:r>
            <a:r>
              <a:rPr lang="en-US" altLang="zh-CN" sz="2200" dirty="0">
                <a:latin typeface="宋体" panose="02010600030101010101" pitchFamily="2" charset="-122"/>
              </a:rPr>
              <a:t>DBMS</a:t>
            </a:r>
            <a:r>
              <a:rPr lang="zh-CN" altLang="en-US" sz="2200" dirty="0">
                <a:latin typeface="宋体" panose="02010600030101010101" pitchFamily="2" charset="-122"/>
              </a:rPr>
              <a:t>即检查更新的数据是否满足</a:t>
            </a:r>
            <a:r>
              <a:rPr lang="en-US" altLang="zh-CN" sz="2200" dirty="0">
                <a:latin typeface="宋体" panose="02010600030101010101" pitchFamily="2" charset="-122"/>
              </a:rPr>
              <a:t>IC</a:t>
            </a:r>
            <a:r>
              <a:rPr lang="zh-CN" altLang="en-US" sz="2200" dirty="0">
                <a:latin typeface="宋体" panose="02010600030101010101" pitchFamily="2" charset="-122"/>
              </a:rPr>
              <a:t>指定的条件。</a:t>
            </a:r>
            <a:r>
              <a:rPr lang="zh-CN" altLang="en-US" sz="2200" u="sng" dirty="0">
                <a:solidFill>
                  <a:srgbClr val="0033CC"/>
                </a:solidFill>
                <a:latin typeface="宋体" panose="02010600030101010101" pitchFamily="2" charset="-122"/>
              </a:rPr>
              <a:t>域约束、主键限制、唯一限制、外键限制、一般性限制等。</a:t>
            </a:r>
            <a:r>
              <a:rPr lang="zh-CN" altLang="en-US" sz="2200" dirty="0">
                <a:latin typeface="宋体" panose="02010600030101010101" pitchFamily="2" charset="-122"/>
              </a:rPr>
              <a:t>用</a:t>
            </a:r>
            <a:r>
              <a:rPr lang="en-US" altLang="zh-CN" sz="2200" dirty="0">
                <a:latin typeface="宋体" panose="02010600030101010101" pitchFamily="2" charset="-122"/>
              </a:rPr>
              <a:t>SQL</a:t>
            </a:r>
            <a:r>
              <a:rPr lang="zh-CN" altLang="en-US" sz="2200" dirty="0">
                <a:latin typeface="宋体" panose="02010600030101010101" pitchFamily="2" charset="-122"/>
              </a:rPr>
              <a:t>的</a:t>
            </a:r>
            <a:r>
              <a:rPr lang="en-US" altLang="zh-CN" sz="2200" dirty="0">
                <a:latin typeface="宋体" panose="02010600030101010101" pitchFamily="2" charset="-122"/>
              </a:rPr>
              <a:t>DDL</a:t>
            </a:r>
            <a:r>
              <a:rPr lang="zh-CN" altLang="en-US" sz="2200" dirty="0">
                <a:latin typeface="宋体" panose="02010600030101010101" pitchFamily="2" charset="-122"/>
              </a:rPr>
              <a:t>子语言可指定这些限制，如果某限制被违背，系统将返回限制名，并用来识别错误。</a:t>
            </a:r>
            <a:endParaRPr lang="zh-CN" altLang="en-US" sz="2200" dirty="0"/>
          </a:p>
          <a:p>
            <a:pPr marL="0" lvl="0" indent="0" eaLnBrk="1" hangingPunct="1">
              <a:lnSpc>
                <a:spcPct val="120000"/>
              </a:lnSpc>
              <a:spcBef>
                <a:spcPts val="600"/>
              </a:spcBef>
              <a:buClrTx/>
              <a:buSzTx/>
              <a:buFont typeface="Arial" panose="020B0604020202020204" pitchFamily="34" charset="0"/>
              <a:buNone/>
            </a:pPr>
            <a:r>
              <a:rPr lang="zh-CN" altLang="en-US" dirty="0">
                <a:solidFill>
                  <a:srgbClr val="0033CC"/>
                </a:solidFill>
                <a:latin typeface="宋体" panose="02010600030101010101" pitchFamily="2" charset="-122"/>
              </a:rPr>
              <a:t>    </a:t>
            </a:r>
            <a:r>
              <a:rPr lang="zh-CN" altLang="en-US" sz="2200" dirty="0">
                <a:solidFill>
                  <a:srgbClr val="0033CC"/>
                </a:solidFill>
                <a:latin typeface="宋体" panose="02010600030101010101" pitchFamily="2" charset="-122"/>
              </a:rPr>
              <a:t>完整性约束包括</a:t>
            </a:r>
            <a:r>
              <a:rPr lang="en-US" altLang="zh-CN" sz="2200" dirty="0">
                <a:solidFill>
                  <a:srgbClr val="0033CC"/>
                </a:solidFill>
                <a:latin typeface="宋体" panose="02010600030101010101" pitchFamily="2" charset="-122"/>
              </a:rPr>
              <a:t>3</a:t>
            </a:r>
            <a:r>
              <a:rPr lang="zh-CN" altLang="en-US" sz="2200" dirty="0">
                <a:solidFill>
                  <a:srgbClr val="0033CC"/>
                </a:solidFill>
                <a:latin typeface="宋体" panose="02010600030101010101" pitchFamily="2" charset="-122"/>
              </a:rPr>
              <a:t>大类：</a:t>
            </a:r>
            <a:r>
              <a:rPr lang="zh-CN" altLang="en-US" sz="2400" u="sng" dirty="0">
                <a:solidFill>
                  <a:srgbClr val="FF0000"/>
                </a:solidFill>
                <a:latin typeface="宋体" panose="02010600030101010101" pitchFamily="2" charset="-122"/>
              </a:rPr>
              <a:t>实体完整性、参照完整性和用户定义完整性</a:t>
            </a:r>
            <a:r>
              <a:rPr lang="zh-CN" altLang="en-US" u="sng" dirty="0">
                <a:solidFill>
                  <a:srgbClr val="FF0000"/>
                </a:solidFill>
                <a:latin typeface="宋体" panose="02010600030101010101" pitchFamily="2" charset="-122"/>
              </a:rPr>
              <a:t>。</a:t>
            </a:r>
            <a:endParaRPr lang="en-US" altLang="zh-CN" u="sng" dirty="0">
              <a:solidFill>
                <a:srgbClr val="FF0000"/>
              </a:solidFill>
              <a:latin typeface="宋体" panose="02010600030101010101" pitchFamily="2" charset="-122"/>
            </a:endParaRPr>
          </a:p>
        </p:txBody>
      </p:sp>
      <p:sp>
        <p:nvSpPr>
          <p:cNvPr id="21507"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ext Box 4"/>
          <p:cNvSpPr txBox="1"/>
          <p:nvPr/>
        </p:nvSpPr>
        <p:spPr>
          <a:xfrm>
            <a:off x="488950" y="1082675"/>
            <a:ext cx="3908425" cy="178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Font typeface="Arial" panose="020B0604020202020204" pitchFamily="34" charset="0"/>
              <a:buNone/>
            </a:pPr>
            <a:r>
              <a:rPr lang="zh-CN" altLang="en-US" sz="2600" dirty="0">
                <a:solidFill>
                  <a:srgbClr val="FF3300"/>
                </a:solidFill>
                <a:latin typeface="宋体" panose="02010600030101010101" pitchFamily="2" charset="-122"/>
              </a:rPr>
              <a:t>   </a:t>
            </a:r>
            <a:r>
              <a:rPr lang="zh-CN" altLang="en-US" sz="2400" dirty="0">
                <a:solidFill>
                  <a:srgbClr val="FF3300"/>
                </a:solidFill>
                <a:latin typeface="宋体" panose="02010600030101010101" pitchFamily="2" charset="-122"/>
              </a:rPr>
              <a:t>（</a:t>
            </a:r>
            <a:r>
              <a:rPr lang="en-US" altLang="zh-CN" sz="2400" dirty="0">
                <a:solidFill>
                  <a:srgbClr val="FF3300"/>
                </a:solidFill>
                <a:latin typeface="宋体" panose="02010600030101010101" pitchFamily="2" charset="-122"/>
              </a:rPr>
              <a:t>1</a:t>
            </a:r>
            <a:r>
              <a:rPr lang="zh-CN" altLang="en-US" sz="2400" dirty="0">
                <a:solidFill>
                  <a:srgbClr val="FF3300"/>
                </a:solidFill>
                <a:latin typeface="宋体" panose="02010600030101010101" pitchFamily="2" charset="-122"/>
              </a:rPr>
              <a:t>）</a:t>
            </a:r>
            <a:r>
              <a:rPr lang="zh-CN" altLang="en-US" sz="2400" u="sng" dirty="0">
                <a:solidFill>
                  <a:srgbClr val="FF3300"/>
                </a:solidFill>
                <a:latin typeface="宋体" panose="02010600030101010101" pitchFamily="2" charset="-122"/>
              </a:rPr>
              <a:t>实体完整性：</a:t>
            </a:r>
            <a:r>
              <a:rPr lang="zh-CN" altLang="en-US" sz="2100" u="sng" dirty="0">
                <a:latin typeface="宋体" panose="02010600030101010101" pitchFamily="2" charset="-122"/>
              </a:rPr>
              <a:t>指关系数据库中所有的表都有主键，而且表中不允许存在无主键值或主键值相同的记录。</a:t>
            </a:r>
            <a:endParaRPr lang="zh-CN" altLang="en-US" sz="2100" u="sng" dirty="0">
              <a:latin typeface="宋体" panose="02010600030101010101" pitchFamily="2" charset="-122"/>
            </a:endParaRPr>
          </a:p>
        </p:txBody>
      </p:sp>
      <p:grpSp>
        <p:nvGrpSpPr>
          <p:cNvPr id="19459" name="组合 19458"/>
          <p:cNvGrpSpPr/>
          <p:nvPr/>
        </p:nvGrpSpPr>
        <p:grpSpPr>
          <a:xfrm>
            <a:off x="381000" y="4702175"/>
            <a:ext cx="7386638" cy="1395413"/>
            <a:chOff x="27" y="125"/>
            <a:chExt cx="11633" cy="2196"/>
          </a:xfrm>
        </p:grpSpPr>
        <p:sp>
          <p:nvSpPr>
            <p:cNvPr id="22538" name="Text Box 5"/>
            <p:cNvSpPr txBox="1"/>
            <p:nvPr/>
          </p:nvSpPr>
          <p:spPr>
            <a:xfrm>
              <a:off x="582" y="125"/>
              <a:ext cx="8960"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Pct val="125000"/>
                <a:buFont typeface="Arial" panose="020B0604020202020204" pitchFamily="34" charset="0"/>
                <a:buBlip>
                  <a:blip r:embed="rId1"/>
                </a:buBlip>
              </a:pPr>
              <a:r>
                <a:rPr lang="en-US" altLang="zh-CN" sz="2400" dirty="0">
                  <a:solidFill>
                    <a:srgbClr val="FF0000"/>
                  </a:solidFill>
                  <a:latin typeface="黑体" panose="02010609060101010101" pitchFamily="49" charset="-122"/>
                  <a:ea typeface="黑体" panose="02010609060101010101" pitchFamily="49" charset="-122"/>
                </a:rPr>
                <a:t> </a:t>
              </a:r>
              <a:r>
                <a:rPr lang="zh-CN" altLang="en-US" sz="2400" u="sng" dirty="0">
                  <a:solidFill>
                    <a:srgbClr val="FF0000"/>
                  </a:solidFill>
                  <a:latin typeface="黑体" panose="02010609060101010101" pitchFamily="49" charset="-122"/>
                  <a:ea typeface="黑体" panose="02010609060101010101" pitchFamily="49" charset="-122"/>
                </a:rPr>
                <a:t>唯一限制</a:t>
              </a:r>
              <a:r>
                <a:rPr lang="zh-CN" altLang="en-US" sz="2400" dirty="0">
                  <a:solidFill>
                    <a:srgbClr val="007C00"/>
                  </a:solidFill>
                  <a:latin typeface="黑体" panose="02010609060101010101" pitchFamily="49" charset="-122"/>
                  <a:ea typeface="黑体" panose="02010609060101010101" pitchFamily="49" charset="-122"/>
                </a:rPr>
                <a:t>（</a:t>
              </a:r>
              <a:r>
                <a:rPr lang="en-US" altLang="zh-CN" sz="2400" dirty="0">
                  <a:solidFill>
                    <a:srgbClr val="007C00"/>
                  </a:solidFill>
                  <a:latin typeface="黑体" panose="02010609060101010101" pitchFamily="49" charset="-122"/>
                  <a:ea typeface="黑体" panose="02010609060101010101" pitchFamily="49" charset="-122"/>
                </a:rPr>
                <a:t>Unique Constraint</a:t>
              </a:r>
              <a:r>
                <a:rPr lang="zh-CN" altLang="en-US" sz="2400" dirty="0">
                  <a:solidFill>
                    <a:srgbClr val="007C00"/>
                  </a:solidFill>
                  <a:latin typeface="黑体" panose="02010609060101010101" pitchFamily="49" charset="-122"/>
                  <a:ea typeface="黑体" panose="02010609060101010101" pitchFamily="49" charset="-122"/>
                </a:rPr>
                <a:t>）</a:t>
              </a:r>
              <a:endParaRPr lang="zh-CN" altLang="en-US" sz="2400" dirty="0">
                <a:solidFill>
                  <a:srgbClr val="007C00"/>
                </a:solidFill>
                <a:latin typeface="黑体" panose="02010609060101010101" pitchFamily="49" charset="-122"/>
                <a:ea typeface="黑体" panose="02010609060101010101" pitchFamily="49" charset="-122"/>
              </a:endParaRPr>
            </a:p>
          </p:txBody>
        </p:sp>
        <p:sp>
          <p:nvSpPr>
            <p:cNvPr id="22539" name="Text Box 6"/>
            <p:cNvSpPr txBox="1"/>
            <p:nvPr/>
          </p:nvSpPr>
          <p:spPr>
            <a:xfrm>
              <a:off x="27" y="905"/>
              <a:ext cx="11380"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dirty="0">
                  <a:solidFill>
                    <a:schemeClr val="accent2"/>
                  </a:solidFill>
                  <a:latin typeface="黑体" panose="02010609060101010101" pitchFamily="49" charset="-122"/>
                  <a:ea typeface="黑体" panose="02010609060101010101" pitchFamily="49" charset="-122"/>
                </a:rPr>
                <a:t>     </a:t>
              </a:r>
              <a:r>
                <a:rPr lang="zh-CN" altLang="en-US" sz="2200" u="sng" dirty="0">
                  <a:solidFill>
                    <a:srgbClr val="FF0000"/>
                  </a:solidFill>
                  <a:latin typeface="黑体" panose="02010609060101010101" pitchFamily="49" charset="-122"/>
                  <a:ea typeface="黑体" panose="02010609060101010101" pitchFamily="49" charset="-122"/>
                </a:rPr>
                <a:t>概念：</a:t>
              </a:r>
              <a:r>
                <a:rPr lang="zh-CN" altLang="en-US" sz="2200" dirty="0">
                  <a:solidFill>
                    <a:schemeClr val="accent2"/>
                  </a:solidFill>
                  <a:latin typeface="黑体" panose="02010609060101010101" pitchFamily="49" charset="-122"/>
                  <a:ea typeface="黑体" panose="02010609060101010101" pitchFamily="49" charset="-122"/>
                </a:rPr>
                <a:t>针对候选键而言，保证候选键的完整性</a:t>
              </a:r>
              <a:r>
                <a:rPr lang="zh-CN" altLang="en-US" sz="2400" dirty="0">
                  <a:solidFill>
                    <a:schemeClr val="accent2"/>
                  </a:solidFill>
                  <a:latin typeface="黑体" panose="02010609060101010101" pitchFamily="49" charset="-122"/>
                  <a:ea typeface="黑体" panose="02010609060101010101" pitchFamily="49" charset="-122"/>
                </a:rPr>
                <a:t>。</a:t>
              </a:r>
              <a:endParaRPr lang="zh-CN" altLang="en-US" sz="2400" dirty="0">
                <a:solidFill>
                  <a:schemeClr val="accent2"/>
                </a:solidFill>
                <a:latin typeface="黑体" panose="02010609060101010101" pitchFamily="49" charset="-122"/>
                <a:ea typeface="黑体" panose="02010609060101010101" pitchFamily="49" charset="-122"/>
              </a:endParaRPr>
            </a:p>
          </p:txBody>
        </p:sp>
        <p:sp>
          <p:nvSpPr>
            <p:cNvPr id="22540" name="Text Box 8"/>
            <p:cNvSpPr txBox="1"/>
            <p:nvPr/>
          </p:nvSpPr>
          <p:spPr>
            <a:xfrm>
              <a:off x="420" y="1553"/>
              <a:ext cx="11240" cy="76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200" u="sng" dirty="0">
                  <a:solidFill>
                    <a:srgbClr val="FF0000"/>
                  </a:solidFill>
                  <a:latin typeface="黑体" panose="02010609060101010101" pitchFamily="49" charset="-122"/>
                  <a:ea typeface="黑体" panose="02010609060101010101" pitchFamily="49" charset="-122"/>
                </a:rPr>
                <a:t>要求：</a:t>
              </a:r>
              <a:r>
                <a:rPr lang="zh-CN" altLang="en-US" sz="2200" dirty="0">
                  <a:solidFill>
                    <a:schemeClr val="accent2"/>
                  </a:solidFill>
                  <a:latin typeface="黑体" panose="02010609060101010101" pitchFamily="49" charset="-122"/>
                  <a:ea typeface="黑体" panose="02010609060101010101" pitchFamily="49" charset="-122"/>
                </a:rPr>
                <a:t>值唯一，允许有一个且仅有一个空值。</a:t>
              </a:r>
              <a:endParaRPr lang="zh-CN" altLang="en-US" sz="2200" dirty="0">
                <a:solidFill>
                  <a:schemeClr val="accent2"/>
                </a:solidFill>
                <a:latin typeface="黑体" panose="02010609060101010101" pitchFamily="49" charset="-122"/>
                <a:ea typeface="黑体" panose="02010609060101010101" pitchFamily="49" charset="-122"/>
              </a:endParaRPr>
            </a:p>
          </p:txBody>
        </p:sp>
      </p:grpSp>
      <p:grpSp>
        <p:nvGrpSpPr>
          <p:cNvPr id="19463" name="组合 19462"/>
          <p:cNvGrpSpPr/>
          <p:nvPr/>
        </p:nvGrpSpPr>
        <p:grpSpPr>
          <a:xfrm>
            <a:off x="711200" y="3138488"/>
            <a:ext cx="7858125" cy="1498600"/>
            <a:chOff x="20" y="30"/>
            <a:chExt cx="12375" cy="2363"/>
          </a:xfrm>
        </p:grpSpPr>
        <p:sp>
          <p:nvSpPr>
            <p:cNvPr id="22535" name="Text Box 7"/>
            <p:cNvSpPr txBox="1"/>
            <p:nvPr/>
          </p:nvSpPr>
          <p:spPr>
            <a:xfrm>
              <a:off x="20" y="1625"/>
              <a:ext cx="10860" cy="76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200" u="sng" dirty="0">
                  <a:solidFill>
                    <a:srgbClr val="FF0000"/>
                  </a:solidFill>
                  <a:latin typeface="黑体" panose="02010609060101010101" pitchFamily="49" charset="-122"/>
                  <a:ea typeface="黑体" panose="02010609060101010101" pitchFamily="49" charset="-122"/>
                </a:rPr>
                <a:t>要求：</a:t>
              </a:r>
              <a:r>
                <a:rPr lang="zh-CN" altLang="en-US" sz="2200" dirty="0">
                  <a:solidFill>
                    <a:schemeClr val="accent2"/>
                  </a:solidFill>
                  <a:latin typeface="黑体" panose="02010609060101010101" pitchFamily="49" charset="-122"/>
                  <a:ea typeface="黑体" panose="02010609060101010101" pitchFamily="49" charset="-122"/>
                </a:rPr>
                <a:t>主键值必须唯一，且不能为空值。</a:t>
              </a:r>
              <a:endParaRPr lang="zh-CN" altLang="en-US" sz="2200" dirty="0">
                <a:solidFill>
                  <a:schemeClr val="accent2"/>
                </a:solidFill>
                <a:latin typeface="黑体" panose="02010609060101010101" pitchFamily="49" charset="-122"/>
                <a:ea typeface="黑体" panose="02010609060101010101" pitchFamily="49" charset="-122"/>
              </a:endParaRPr>
            </a:p>
          </p:txBody>
        </p:sp>
        <p:sp>
          <p:nvSpPr>
            <p:cNvPr id="22536" name="Text Box 9"/>
            <p:cNvSpPr txBox="1"/>
            <p:nvPr/>
          </p:nvSpPr>
          <p:spPr>
            <a:xfrm>
              <a:off x="55" y="30"/>
              <a:ext cx="12340" cy="81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Blip>
                  <a:blip r:embed="rId1"/>
                </a:buBlip>
              </a:pPr>
              <a:r>
                <a:rPr lang="zh-CN" altLang="en-US" sz="2800" dirty="0">
                  <a:solidFill>
                    <a:srgbClr val="FF3300"/>
                  </a:solidFill>
                  <a:latin typeface="方正姚体" panose="02010601030101010101" pitchFamily="2" charset="-122"/>
                  <a:ea typeface="方正姚体" panose="02010601030101010101" pitchFamily="2" charset="-122"/>
                </a:rPr>
                <a:t> </a:t>
              </a:r>
              <a:r>
                <a:rPr lang="zh-CN" altLang="en-US" sz="2400" u="sng" dirty="0">
                  <a:solidFill>
                    <a:srgbClr val="FF0000"/>
                  </a:solidFill>
                  <a:latin typeface="黑体" panose="02010609060101010101" pitchFamily="49" charset="-122"/>
                  <a:ea typeface="黑体" panose="02010609060101010101" pitchFamily="49" charset="-122"/>
                </a:rPr>
                <a:t>主键限制</a:t>
              </a:r>
              <a:r>
                <a:rPr lang="zh-CN" altLang="en-US" sz="2400" dirty="0">
                  <a:solidFill>
                    <a:srgbClr val="007C00"/>
                  </a:solidFill>
                  <a:latin typeface="黑体" panose="02010609060101010101" pitchFamily="49" charset="-122"/>
                  <a:ea typeface="黑体" panose="02010609060101010101" pitchFamily="49" charset="-122"/>
                </a:rPr>
                <a:t>（</a:t>
              </a:r>
              <a:r>
                <a:rPr lang="en-US" altLang="zh-CN" sz="2400" dirty="0">
                  <a:solidFill>
                    <a:srgbClr val="007C00"/>
                  </a:solidFill>
                  <a:latin typeface="黑体" panose="02010609060101010101" pitchFamily="49" charset="-122"/>
                  <a:ea typeface="黑体" panose="02010609060101010101" pitchFamily="49" charset="-122"/>
                </a:rPr>
                <a:t>Primary Key Constraint</a:t>
              </a:r>
              <a:r>
                <a:rPr lang="zh-CN" altLang="en-US" sz="2400" dirty="0">
                  <a:solidFill>
                    <a:srgbClr val="007C00"/>
                  </a:solidFill>
                  <a:latin typeface="黑体" panose="02010609060101010101" pitchFamily="49" charset="-122"/>
                  <a:ea typeface="黑体" panose="02010609060101010101" pitchFamily="49" charset="-122"/>
                </a:rPr>
                <a:t>）</a:t>
              </a:r>
              <a:r>
                <a:rPr lang="en-US" altLang="zh-CN" sz="2400" dirty="0">
                  <a:solidFill>
                    <a:srgbClr val="007C00"/>
                  </a:solidFill>
                  <a:latin typeface="黑体" panose="02010609060101010101" pitchFamily="49" charset="-122"/>
                  <a:ea typeface="黑体" panose="02010609060101010101" pitchFamily="49" charset="-122"/>
                </a:rPr>
                <a:t>--</a:t>
              </a:r>
              <a:r>
                <a:rPr lang="zh-CN" altLang="en-US" sz="2400" dirty="0">
                  <a:solidFill>
                    <a:srgbClr val="007C00"/>
                  </a:solidFill>
                  <a:latin typeface="黑体" panose="02010609060101010101" pitchFamily="49" charset="-122"/>
                  <a:ea typeface="黑体" panose="02010609060101010101" pitchFamily="49" charset="-122"/>
                </a:rPr>
                <a:t>实体完整性</a:t>
              </a:r>
              <a:endParaRPr lang="zh-CN" altLang="en-US" sz="2400" dirty="0">
                <a:solidFill>
                  <a:srgbClr val="007C00"/>
                </a:solidFill>
                <a:latin typeface="黑体" panose="02010609060101010101" pitchFamily="49" charset="-122"/>
                <a:ea typeface="黑体" panose="02010609060101010101" pitchFamily="49" charset="-122"/>
              </a:endParaRPr>
            </a:p>
          </p:txBody>
        </p:sp>
        <p:sp>
          <p:nvSpPr>
            <p:cNvPr id="22537" name="Text Box 10"/>
            <p:cNvSpPr txBox="1"/>
            <p:nvPr/>
          </p:nvSpPr>
          <p:spPr>
            <a:xfrm>
              <a:off x="20" y="847"/>
              <a:ext cx="11380" cy="76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600" dirty="0">
                  <a:solidFill>
                    <a:srgbClr val="CC3300"/>
                  </a:solidFill>
                  <a:latin typeface="方正姚体" panose="02010601030101010101" pitchFamily="2" charset="-122"/>
                  <a:ea typeface="方正姚体" panose="02010601030101010101" pitchFamily="2" charset="-122"/>
                </a:rPr>
                <a:t>     </a:t>
              </a:r>
              <a:r>
                <a:rPr lang="zh-CN" altLang="en-US" sz="2200" u="sng" dirty="0">
                  <a:solidFill>
                    <a:srgbClr val="FF0000"/>
                  </a:solidFill>
                  <a:latin typeface="黑体" panose="02010609060101010101" pitchFamily="49" charset="-122"/>
                  <a:ea typeface="黑体" panose="02010609060101010101" pitchFamily="49" charset="-122"/>
                </a:rPr>
                <a:t>概念：</a:t>
              </a:r>
              <a:r>
                <a:rPr lang="zh-CN" altLang="en-US" sz="2200" dirty="0">
                  <a:solidFill>
                    <a:schemeClr val="accent2"/>
                  </a:solidFill>
                  <a:latin typeface="黑体" panose="02010609060101010101" pitchFamily="49" charset="-122"/>
                  <a:ea typeface="黑体" panose="02010609060101010101" pitchFamily="49" charset="-122"/>
                </a:rPr>
                <a:t>针对主键而言，保证主键的完整性。</a:t>
              </a:r>
              <a:endParaRPr lang="zh-CN" altLang="en-US" sz="2200" dirty="0">
                <a:solidFill>
                  <a:schemeClr val="accent2"/>
                </a:solidFill>
                <a:latin typeface="黑体" panose="02010609060101010101" pitchFamily="49" charset="-122"/>
                <a:ea typeface="黑体" panose="02010609060101010101" pitchFamily="49" charset="-122"/>
              </a:endParaRPr>
            </a:p>
          </p:txBody>
        </p:sp>
      </p:grpSp>
      <p:graphicFrame>
        <p:nvGraphicFramePr>
          <p:cNvPr id="22533" name="对象 1"/>
          <p:cNvGraphicFramePr/>
          <p:nvPr/>
        </p:nvGraphicFramePr>
        <p:xfrm>
          <a:off x="4397375" y="1158875"/>
          <a:ext cx="4286250" cy="1728788"/>
        </p:xfrm>
        <a:graphic>
          <a:graphicData uri="http://schemas.openxmlformats.org/presentationml/2006/ole">
            <mc:AlternateContent xmlns:mc="http://schemas.openxmlformats.org/markup-compatibility/2006">
              <mc:Choice xmlns:v="urn:schemas-microsoft-com:vml" Requires="v">
                <p:oleObj spid="_x0000_s3076" name="" r:id="rId2" imgW="4067175" imgH="1733550" progId="Paint.Picture">
                  <p:embed/>
                </p:oleObj>
              </mc:Choice>
              <mc:Fallback>
                <p:oleObj name="" r:id="rId2" imgW="4067175" imgH="1733550" progId="Paint.Picture">
                  <p:embed/>
                  <p:pic>
                    <p:nvPicPr>
                      <p:cNvPr id="0" name="图片 3075"/>
                      <p:cNvPicPr/>
                      <p:nvPr/>
                    </p:nvPicPr>
                    <p:blipFill>
                      <a:blip r:embed="rId3"/>
                      <a:stretch>
                        <a:fillRect/>
                      </a:stretch>
                    </p:blipFill>
                    <p:spPr>
                      <a:xfrm>
                        <a:off x="4397375" y="1158875"/>
                        <a:ext cx="4286250" cy="1728788"/>
                      </a:xfrm>
                      <a:prstGeom prst="rect">
                        <a:avLst/>
                      </a:prstGeom>
                      <a:noFill/>
                      <a:ln w="38100">
                        <a:noFill/>
                        <a:miter/>
                      </a:ln>
                    </p:spPr>
                  </p:pic>
                </p:oleObj>
              </mc:Fallback>
            </mc:AlternateContent>
          </a:graphicData>
        </a:graphic>
      </p:graphicFrame>
      <p:sp>
        <p:nvSpPr>
          <p:cNvPr id="22534"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63"/>
                                        </p:tgtEl>
                                        <p:attrNameLst>
                                          <p:attrName>style.visibility</p:attrName>
                                        </p:attrNameLst>
                                      </p:cBhvr>
                                      <p:to>
                                        <p:strVal val="visible"/>
                                      </p:to>
                                    </p:set>
                                    <p:anim calcmode="lin" valueType="num">
                                      <p:cBhvr additive="base">
                                        <p:cTn id="7" dur="500" fill="hold"/>
                                        <p:tgtEl>
                                          <p:spTgt spid="19463"/>
                                        </p:tgtEl>
                                        <p:attrNameLst>
                                          <p:attrName>ppt_x</p:attrName>
                                        </p:attrNameLst>
                                      </p:cBhvr>
                                      <p:tavLst>
                                        <p:tav tm="0">
                                          <p:val>
                                            <p:strVal val="#ppt_x"/>
                                          </p:val>
                                        </p:tav>
                                        <p:tav tm="100000">
                                          <p:val>
                                            <p:strVal val="#ppt_x"/>
                                          </p:val>
                                        </p:tav>
                                      </p:tavLst>
                                    </p:anim>
                                    <p:anim calcmode="lin" valueType="num">
                                      <p:cBhvr additive="base">
                                        <p:cTn id="8" dur="500" fill="hold"/>
                                        <p:tgtEl>
                                          <p:spTgt spid="194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9"/>
                                        </p:tgtEl>
                                        <p:attrNameLst>
                                          <p:attrName>style.visibility</p:attrName>
                                        </p:attrNameLst>
                                      </p:cBhvr>
                                      <p:to>
                                        <p:strVal val="visible"/>
                                      </p:to>
                                    </p:set>
                                    <p:anim calcmode="lin" valueType="num">
                                      <p:cBhvr additive="base">
                                        <p:cTn id="13" dur="500" fill="hold"/>
                                        <p:tgtEl>
                                          <p:spTgt spid="19459"/>
                                        </p:tgtEl>
                                        <p:attrNameLst>
                                          <p:attrName>ppt_x</p:attrName>
                                        </p:attrNameLst>
                                      </p:cBhvr>
                                      <p:tavLst>
                                        <p:tav tm="0">
                                          <p:val>
                                            <p:strVal val="#ppt_x"/>
                                          </p:val>
                                        </p:tav>
                                        <p:tav tm="100000">
                                          <p:val>
                                            <p:strVal val="#ppt_x"/>
                                          </p:val>
                                        </p:tav>
                                      </p:tavLst>
                                    </p:anim>
                                    <p:anim calcmode="lin" valueType="num">
                                      <p:cBhvr additive="base">
                                        <p:cTn id="14"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Text Box 6"/>
          <p:cNvSpPr txBox="1"/>
          <p:nvPr/>
        </p:nvSpPr>
        <p:spPr>
          <a:xfrm>
            <a:off x="401638" y="1057275"/>
            <a:ext cx="8340725" cy="4708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10000"/>
              </a:spcBef>
              <a:buClrTx/>
              <a:buSzTx/>
              <a:buFont typeface="Arial" panose="020B0604020202020204" pitchFamily="34" charset="0"/>
              <a:buNone/>
            </a:pPr>
            <a:r>
              <a:rPr lang="zh-CN" altLang="en-US" sz="2600" dirty="0">
                <a:solidFill>
                  <a:srgbClr val="FF0000"/>
                </a:solidFill>
                <a:latin typeface="宋体" panose="02010600030101010101" pitchFamily="2" charset="-122"/>
              </a:rPr>
              <a:t>   </a:t>
            </a:r>
            <a:r>
              <a:rPr lang="zh-CN" altLang="en-US" sz="2400" dirty="0">
                <a:solidFill>
                  <a:srgbClr val="FF0000"/>
                </a:solidFill>
                <a:latin typeface="宋体" panose="02010600030101010101" pitchFamily="2" charset="-122"/>
              </a:rPr>
              <a:t>（</a:t>
            </a:r>
            <a:r>
              <a:rPr lang="en-US" altLang="zh-CN" sz="2400" dirty="0">
                <a:solidFill>
                  <a:srgbClr val="FF0000"/>
                </a:solidFill>
                <a:latin typeface="宋体" panose="02010600030101010101" pitchFamily="2" charset="-122"/>
              </a:rPr>
              <a:t>2</a:t>
            </a:r>
            <a:r>
              <a:rPr lang="zh-CN" altLang="en-US" sz="2400" dirty="0">
                <a:solidFill>
                  <a:srgbClr val="FF0000"/>
                </a:solidFill>
                <a:latin typeface="宋体" panose="02010600030101010101" pitchFamily="2" charset="-122"/>
              </a:rPr>
              <a:t>）</a:t>
            </a:r>
            <a:r>
              <a:rPr lang="zh-CN" altLang="en-US" sz="2400" u="sng" dirty="0">
                <a:solidFill>
                  <a:srgbClr val="FF0000"/>
                </a:solidFill>
                <a:latin typeface="宋体" panose="02010600030101010101" pitchFamily="2" charset="-122"/>
              </a:rPr>
              <a:t>参考完整性：</a:t>
            </a:r>
            <a:r>
              <a:rPr lang="zh-CN" altLang="en-US" dirty="0">
                <a:latin typeface="宋体" panose="02010600030101010101" pitchFamily="2" charset="-122"/>
              </a:rPr>
              <a:t>也称引用完整性。在关系模型中，实体与实体之间的联系是用关系表示的，这样就自然存在着关系与关系间的引用。</a:t>
            </a:r>
            <a:endParaRPr lang="zh-CN" altLang="en-US" dirty="0">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dirty="0">
              <a:solidFill>
                <a:srgbClr val="0033CC"/>
              </a:solidFill>
              <a:latin typeface="宋体" panose="02010600030101010101" pitchFamily="2" charset="-122"/>
            </a:endParaRPr>
          </a:p>
          <a:p>
            <a:pPr marL="0" lvl="0" indent="0" eaLnBrk="1" hangingPunct="1">
              <a:lnSpc>
                <a:spcPct val="125000"/>
              </a:lnSpc>
              <a:spcBef>
                <a:spcPts val="600"/>
              </a:spcBef>
              <a:buClrTx/>
              <a:buSzTx/>
              <a:buFont typeface="Arial" panose="020B0604020202020204" pitchFamily="34" charset="0"/>
              <a:buNone/>
            </a:pPr>
            <a:endParaRPr lang="zh-CN" altLang="en-US" sz="2200" u="sng" dirty="0">
              <a:solidFill>
                <a:srgbClr val="FF0000"/>
              </a:solidFill>
              <a:latin typeface="宋体" panose="02010600030101010101" pitchFamily="2" charset="-122"/>
            </a:endParaRPr>
          </a:p>
        </p:txBody>
      </p:sp>
      <p:sp>
        <p:nvSpPr>
          <p:cNvPr id="14340" name="Text Box 12"/>
          <p:cNvSpPr txBox="1"/>
          <p:nvPr/>
        </p:nvSpPr>
        <p:spPr>
          <a:xfrm>
            <a:off x="668338" y="2100263"/>
            <a:ext cx="8286750" cy="9032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50000"/>
              </a:spcBef>
              <a:buClrTx/>
              <a:buSzTx/>
              <a:buFont typeface="Wingdings" panose="05000000000000000000" pitchFamily="2" charset="2"/>
              <a:buChar char=""/>
            </a:pPr>
            <a:r>
              <a:rPr lang="zh-CN" altLang="en-US" sz="2400" u="sng" dirty="0">
                <a:solidFill>
                  <a:srgbClr val="CC3300"/>
                </a:solidFill>
                <a:latin typeface="宋体" panose="02010600030101010101" pitchFamily="2" charset="-122"/>
              </a:rPr>
              <a:t>外键（</a:t>
            </a:r>
            <a:r>
              <a:rPr lang="en-US" altLang="zh-CN" sz="2400" u="sng" dirty="0">
                <a:solidFill>
                  <a:srgbClr val="CC3300"/>
                </a:solidFill>
                <a:latin typeface="宋体" panose="02010600030101010101" pitchFamily="2" charset="-122"/>
              </a:rPr>
              <a:t>Foreign Key</a:t>
            </a:r>
            <a:r>
              <a:rPr lang="zh-CN" altLang="en-US" sz="2400" u="sng" dirty="0">
                <a:solidFill>
                  <a:srgbClr val="CC3300"/>
                </a:solidFill>
                <a:latin typeface="宋体" panose="02010600030101010101" pitchFamily="2" charset="-122"/>
              </a:rPr>
              <a:t>，</a:t>
            </a:r>
            <a:r>
              <a:rPr lang="en-US" altLang="zh-CN" sz="2400" u="sng" dirty="0">
                <a:solidFill>
                  <a:srgbClr val="CC3300"/>
                </a:solidFill>
                <a:latin typeface="宋体" panose="02010600030101010101" pitchFamily="2" charset="-122"/>
              </a:rPr>
              <a:t>FK</a:t>
            </a:r>
            <a:r>
              <a:rPr lang="zh-CN" altLang="en-US" sz="2400" u="sng" dirty="0">
                <a:solidFill>
                  <a:srgbClr val="CC3300"/>
                </a:solidFill>
                <a:latin typeface="宋体" panose="02010600030101010101" pitchFamily="2" charset="-122"/>
              </a:rPr>
              <a:t>）：</a:t>
            </a:r>
            <a:r>
              <a:rPr lang="zh-CN" altLang="en-US" sz="2400" dirty="0">
                <a:solidFill>
                  <a:schemeClr val="accent2"/>
                </a:solidFill>
                <a:latin typeface="宋体" panose="02010600030101010101" pitchFamily="2" charset="-122"/>
              </a:rPr>
              <a:t>一张表中的某个（组）字段是另一张表中的候选键</a:t>
            </a:r>
            <a:r>
              <a:rPr lang="en-US" altLang="zh-CN" sz="2400" dirty="0">
                <a:solidFill>
                  <a:schemeClr val="accent2"/>
                </a:solidFill>
                <a:latin typeface="宋体" panose="02010600030101010101" pitchFamily="2" charset="-122"/>
              </a:rPr>
              <a:t>/</a:t>
            </a:r>
            <a:r>
              <a:rPr lang="zh-CN" altLang="en-US" sz="2400" dirty="0">
                <a:solidFill>
                  <a:schemeClr val="accent2"/>
                </a:solidFill>
                <a:latin typeface="宋体" panose="02010600030101010101" pitchFamily="2" charset="-122"/>
              </a:rPr>
              <a:t>主键。</a:t>
            </a:r>
            <a:endParaRPr lang="zh-CN" altLang="en-US" sz="2400" dirty="0">
              <a:solidFill>
                <a:schemeClr val="accent2"/>
              </a:solidFill>
              <a:latin typeface="宋体" panose="02010600030101010101" pitchFamily="2" charset="-122"/>
            </a:endParaRPr>
          </a:p>
        </p:txBody>
      </p:sp>
      <p:grpSp>
        <p:nvGrpSpPr>
          <p:cNvPr id="14341" name="组合 10"/>
          <p:cNvGrpSpPr/>
          <p:nvPr/>
        </p:nvGrpSpPr>
        <p:grpSpPr>
          <a:xfrm>
            <a:off x="593725" y="3163888"/>
            <a:ext cx="8093075" cy="2981325"/>
            <a:chOff x="0" y="-76206"/>
            <a:chExt cx="8093529" cy="2981558"/>
          </a:xfrm>
        </p:grpSpPr>
        <p:graphicFrame>
          <p:nvGraphicFramePr>
            <p:cNvPr id="23558" name="Object 14"/>
            <p:cNvGraphicFramePr>
              <a:graphicFrameLocks noChangeAspect="1"/>
            </p:cNvGraphicFramePr>
            <p:nvPr/>
          </p:nvGraphicFramePr>
          <p:xfrm>
            <a:off x="186191" y="971777"/>
            <a:ext cx="7907338" cy="1933575"/>
          </p:xfrm>
          <a:graphic>
            <a:graphicData uri="http://schemas.openxmlformats.org/presentationml/2006/ole">
              <mc:AlternateContent xmlns:mc="http://schemas.openxmlformats.org/markup-compatibility/2006">
                <mc:Choice xmlns:v="urn:schemas-microsoft-com:vml" Requires="v">
                  <p:oleObj spid="_x0000_s3077" name="" r:id="rId1" imgW="4549140" imgH="1048385" progId="Word.Picture.8">
                    <p:embed/>
                  </p:oleObj>
                </mc:Choice>
                <mc:Fallback>
                  <p:oleObj name="" r:id="rId1" imgW="4549140" imgH="1048385" progId="Word.Picture.8">
                    <p:embed/>
                    <p:pic>
                      <p:nvPicPr>
                        <p:cNvPr id="0" name="图片 3076"/>
                        <p:cNvPicPr/>
                        <p:nvPr/>
                      </p:nvPicPr>
                      <p:blipFill>
                        <a:blip r:embed="rId2"/>
                        <a:stretch>
                          <a:fillRect/>
                        </a:stretch>
                      </p:blipFill>
                      <p:spPr>
                        <a:xfrm>
                          <a:off x="186191" y="971777"/>
                          <a:ext cx="7907338" cy="1933575"/>
                        </a:xfrm>
                        <a:prstGeom prst="rect">
                          <a:avLst/>
                        </a:prstGeom>
                        <a:noFill/>
                        <a:ln w="38100">
                          <a:noFill/>
                          <a:miter/>
                        </a:ln>
                      </p:spPr>
                    </p:pic>
                  </p:oleObj>
                </mc:Fallback>
              </mc:AlternateContent>
            </a:graphicData>
          </a:graphic>
        </p:graphicFrame>
        <p:sp>
          <p:nvSpPr>
            <p:cNvPr id="23559" name="Text Box 15"/>
            <p:cNvSpPr txBox="1"/>
            <p:nvPr/>
          </p:nvSpPr>
          <p:spPr>
            <a:xfrm>
              <a:off x="0" y="-76206"/>
              <a:ext cx="8055427" cy="85572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CC3300"/>
                  </a:solidFill>
                  <a:latin typeface="宋体" panose="02010600030101010101" pitchFamily="2" charset="-122"/>
                </a:rPr>
                <a:t>实例：</a:t>
              </a:r>
              <a:r>
                <a:rPr lang="zh-CN" altLang="en-US" sz="2400" dirty="0">
                  <a:latin typeface="楷体" panose="02010609060101010101" pitchFamily="49" charset="-122"/>
                  <a:ea typeface="楷体" panose="02010609060101010101" pitchFamily="49" charset="-122"/>
                </a:rPr>
                <a:t>如下图</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学生表和班级表。若指定班号作为班级表的主键</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而它又出现在学生表中</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则称其为学生表的外键。</a:t>
              </a:r>
              <a:endParaRPr lang="zh-CN" altLang="en-US" sz="2400" dirty="0">
                <a:latin typeface="楷体" panose="02010609060101010101" pitchFamily="49" charset="-122"/>
                <a:ea typeface="楷体" panose="02010609060101010101" pitchFamily="49" charset="-122"/>
              </a:endParaRPr>
            </a:p>
          </p:txBody>
        </p:sp>
      </p:grpSp>
      <p:sp>
        <p:nvSpPr>
          <p:cNvPr id="23557"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340"/>
                                        </p:tgtEl>
                                        <p:attrNameLst>
                                          <p:attrName>style.visibility</p:attrName>
                                        </p:attrNameLst>
                                      </p:cBhvr>
                                      <p:to>
                                        <p:strVal val="visible"/>
                                      </p:to>
                                    </p:set>
                                    <p:animEffect transition="in" filter="checkerboard(across)">
                                      <p:cBhvr>
                                        <p:cTn id="7" dur="500"/>
                                        <p:tgtEl>
                                          <p:spTgt spid="143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4341"/>
                                        </p:tgtEl>
                                        <p:attrNameLst>
                                          <p:attrName>style.visibility</p:attrName>
                                        </p:attrNameLst>
                                      </p:cBhvr>
                                      <p:to>
                                        <p:strVal val="visible"/>
                                      </p:to>
                                    </p:set>
                                    <p:anim calcmode="lin" valueType="num">
                                      <p:cBhvr>
                                        <p:cTn id="12" dur="500" fill="hold"/>
                                        <p:tgtEl>
                                          <p:spTgt spid="14341"/>
                                        </p:tgtEl>
                                        <p:attrNameLst>
                                          <p:attrName>ppt_x</p:attrName>
                                        </p:attrNameLst>
                                      </p:cBhvr>
                                      <p:tavLst>
                                        <p:tav tm="0">
                                          <p:val>
                                            <p:strVal val="#ppt_x"/>
                                          </p:val>
                                        </p:tav>
                                        <p:tav tm="100000">
                                          <p:val>
                                            <p:strVal val="#ppt_x"/>
                                          </p:val>
                                        </p:tav>
                                      </p:tavLst>
                                    </p:anim>
                                    <p:anim calcmode="lin" valueType="num">
                                      <p:cBhvr>
                                        <p:cTn id="13" dur="500" fill="hold"/>
                                        <p:tgtEl>
                                          <p:spTgt spid="143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9"/>
          <p:cNvSpPr/>
          <p:nvPr/>
        </p:nvSpPr>
        <p:spPr>
          <a:xfrm>
            <a:off x="563563" y="1360488"/>
            <a:ext cx="3382962" cy="5048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
                <a:srgbClr val="C00000"/>
              </a:buClr>
              <a:buSzTx/>
            </a:pPr>
            <a:r>
              <a:rPr lang="zh-CN" altLang="en-US" sz="2400" u="sng" dirty="0">
                <a:solidFill>
                  <a:srgbClr val="CC3300"/>
                </a:solidFill>
                <a:latin typeface="宋体" panose="02010600030101010101" pitchFamily="2" charset="-122"/>
              </a:rPr>
              <a:t>从表：</a:t>
            </a:r>
            <a:r>
              <a:rPr lang="zh-CN" altLang="en-US" sz="2200" dirty="0">
                <a:latin typeface="宋体" panose="02010600030101010101" pitchFamily="2" charset="-122"/>
              </a:rPr>
              <a:t>指含有外键的表。</a:t>
            </a:r>
            <a:r>
              <a:rPr lang="zh-CN" altLang="en-US" sz="2400" dirty="0">
                <a:latin typeface="华文楷体" panose="02010600040101010101" pitchFamily="2" charset="-122"/>
              </a:rPr>
              <a:t> （例中的学生表）</a:t>
            </a:r>
            <a:endParaRPr lang="zh-CN" altLang="en-US" sz="2200" dirty="0">
              <a:latin typeface="宋体" panose="02010600030101010101" pitchFamily="2" charset="-122"/>
            </a:endParaRPr>
          </a:p>
        </p:txBody>
      </p:sp>
      <p:sp>
        <p:nvSpPr>
          <p:cNvPr id="21507" name="Text Box 10"/>
          <p:cNvSpPr txBox="1"/>
          <p:nvPr/>
        </p:nvSpPr>
        <p:spPr>
          <a:xfrm>
            <a:off x="590550" y="2965450"/>
            <a:ext cx="3313113" cy="13858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pPr>
            <a:r>
              <a:rPr lang="zh-CN" altLang="en-US" sz="2400" u="sng" dirty="0">
                <a:solidFill>
                  <a:srgbClr val="CC3300"/>
                </a:solidFill>
                <a:latin typeface="宋体" panose="02010600030101010101" pitchFamily="2" charset="-122"/>
              </a:rPr>
              <a:t>主表：</a:t>
            </a:r>
            <a:r>
              <a:rPr lang="zh-CN" altLang="en-US" sz="2200" dirty="0">
                <a:latin typeface="宋体" panose="02010600030101010101" pitchFamily="2" charset="-122"/>
              </a:rPr>
              <a:t>指外键在另一张表中作主</a:t>
            </a:r>
            <a:r>
              <a:rPr lang="en-US" altLang="zh-CN" sz="2200" dirty="0">
                <a:latin typeface="宋体" panose="02010600030101010101" pitchFamily="2" charset="-122"/>
              </a:rPr>
              <a:t>/</a:t>
            </a:r>
            <a:r>
              <a:rPr lang="zh-CN" altLang="en-US" sz="2200" dirty="0">
                <a:latin typeface="宋体" panose="02010600030101010101" pitchFamily="2" charset="-122"/>
              </a:rPr>
              <a:t>候选键的表。</a:t>
            </a:r>
            <a:r>
              <a:rPr lang="zh-CN" altLang="en-US" sz="2400" dirty="0">
                <a:latin typeface="华文楷体" panose="02010600040101010101" pitchFamily="2" charset="-122"/>
              </a:rPr>
              <a:t>（例中的班级表）</a:t>
            </a:r>
            <a:endParaRPr lang="zh-CN" altLang="en-US" sz="2200" dirty="0">
              <a:latin typeface="宋体" panose="02010600030101010101" pitchFamily="2" charset="-122"/>
            </a:endParaRPr>
          </a:p>
        </p:txBody>
      </p:sp>
      <p:graphicFrame>
        <p:nvGraphicFramePr>
          <p:cNvPr id="21509" name="表格 21508"/>
          <p:cNvGraphicFramePr/>
          <p:nvPr/>
        </p:nvGraphicFramePr>
        <p:xfrm>
          <a:off x="4314825" y="1736725"/>
          <a:ext cx="3992563" cy="1247775"/>
        </p:xfrm>
        <a:graphic>
          <a:graphicData uri="http://schemas.openxmlformats.org/drawingml/2006/table">
            <a:tbl>
              <a:tblPr/>
              <a:tblGrid>
                <a:gridCol w="998538"/>
                <a:gridCol w="1119187"/>
                <a:gridCol w="914400"/>
                <a:gridCol w="960438"/>
              </a:tblGrid>
              <a:tr h="3889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1" u="sng">
                          <a:solidFill>
                            <a:srgbClr val="FF0000"/>
                          </a:solidFill>
                        </a:rPr>
                        <a:t>学号</a:t>
                      </a:r>
                      <a:endParaRPr lang="zh-CN" altLang="en-US" sz="1800" b="1" u="sng">
                        <a:solidFill>
                          <a:srgbClr val="FF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1" i="1">
                          <a:solidFill>
                            <a:srgbClr val="0033CC"/>
                          </a:solidFill>
                        </a:rPr>
                        <a:t>班号</a:t>
                      </a:r>
                      <a:endParaRPr lang="zh-CN" altLang="en-US" sz="1800" b="1" i="1">
                        <a:solidFill>
                          <a:srgbClr val="0033CC"/>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8588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graphicFrame>
        <p:nvGraphicFramePr>
          <p:cNvPr id="21527" name="表格 21526"/>
          <p:cNvGraphicFramePr/>
          <p:nvPr/>
        </p:nvGraphicFramePr>
        <p:xfrm>
          <a:off x="4368800" y="3706813"/>
          <a:ext cx="3962400" cy="1792288"/>
        </p:xfrm>
        <a:graphic>
          <a:graphicData uri="http://schemas.openxmlformats.org/drawingml/2006/table">
            <a:tbl>
              <a:tblPr/>
              <a:tblGrid>
                <a:gridCol w="1376363"/>
                <a:gridCol w="1103312"/>
                <a:gridCol w="944563"/>
                <a:gridCol w="538162"/>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1" u="sng">
                          <a:solidFill>
                            <a:srgbClr val="FF0000"/>
                          </a:solidFill>
                        </a:rPr>
                        <a:t>班号</a:t>
                      </a:r>
                      <a:endParaRPr lang="zh-CN" altLang="en-US" sz="2000" b="1" u="sng">
                        <a:solidFill>
                          <a:srgbClr val="FF00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sz="18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7381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计算机200001</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计1班</a:t>
                      </a:r>
                      <a:endParaRPr lang="de-DE"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50</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sz="18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6572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计算机200010</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计10班</a:t>
                      </a:r>
                      <a:endParaRPr lang="de-DE"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45</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sz="18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sp>
        <p:nvSpPr>
          <p:cNvPr id="21550" name="Text Box 45"/>
          <p:cNvSpPr txBox="1"/>
          <p:nvPr/>
        </p:nvSpPr>
        <p:spPr>
          <a:xfrm>
            <a:off x="4376738" y="3144838"/>
            <a:ext cx="2665412"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班级表（主表）</a:t>
            </a:r>
            <a:endParaRPr lang="zh-CN" altLang="en-US" sz="2400" dirty="0">
              <a:solidFill>
                <a:srgbClr val="0000CC"/>
              </a:solidFill>
              <a:latin typeface="宋体" panose="02010600030101010101" pitchFamily="2" charset="-122"/>
            </a:endParaRPr>
          </a:p>
        </p:txBody>
      </p:sp>
      <p:sp>
        <p:nvSpPr>
          <p:cNvPr id="21551" name="Text Box 46"/>
          <p:cNvSpPr txBox="1"/>
          <p:nvPr/>
        </p:nvSpPr>
        <p:spPr>
          <a:xfrm>
            <a:off x="4289425" y="1150938"/>
            <a:ext cx="2611438"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（从表）</a:t>
            </a:r>
            <a:endParaRPr lang="zh-CN" altLang="en-US" sz="2400" dirty="0">
              <a:solidFill>
                <a:srgbClr val="0000CC"/>
              </a:solidFill>
              <a:latin typeface="宋体" panose="02010600030101010101" pitchFamily="2" charset="-122"/>
            </a:endParaRPr>
          </a:p>
        </p:txBody>
      </p:sp>
      <p:sp>
        <p:nvSpPr>
          <p:cNvPr id="24623"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21506"/>
                                        </p:tgtEl>
                                        <p:attrNameLst>
                                          <p:attrName>style.visibility</p:attrName>
                                        </p:attrNameLst>
                                      </p:cBhvr>
                                      <p:to>
                                        <p:strVal val="visible"/>
                                      </p:to>
                                    </p:set>
                                    <p:anim calcmode="lin" valueType="num">
                                      <p:cBhvr additive="base">
                                        <p:cTn id="7" dur="500" fill="hold"/>
                                        <p:tgtEl>
                                          <p:spTgt spid="21506"/>
                                        </p:tgtEl>
                                        <p:attrNameLst>
                                          <p:attrName>ppt_x</p:attrName>
                                        </p:attrNameLst>
                                      </p:cBhvr>
                                      <p:tavLst>
                                        <p:tav tm="0">
                                          <p:val>
                                            <p:strVal val="#ppt_x"/>
                                          </p:val>
                                        </p:tav>
                                        <p:tav tm="100000">
                                          <p:val>
                                            <p:strVal val="#ppt_x"/>
                                          </p:val>
                                        </p:tav>
                                      </p:tavLst>
                                    </p:anim>
                                    <p:anim calcmode="lin" valueType="num">
                                      <p:cBhvr additive="base">
                                        <p:cTn id="8" dur="500" fill="hold"/>
                                        <p:tgtEl>
                                          <p:spTgt spid="2150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1507"/>
                                        </p:tgtEl>
                                        <p:attrNameLst>
                                          <p:attrName>style.visibility</p:attrName>
                                        </p:attrNameLst>
                                      </p:cBhvr>
                                      <p:to>
                                        <p:strVal val="visible"/>
                                      </p:to>
                                    </p:set>
                                    <p:animEffect transition="in" filter="checkerboard(across)">
                                      <p:cBhvr>
                                        <p:cTn id="13" dur="500"/>
                                        <p:tgtEl>
                                          <p:spTgt spid="21507"/>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21550"/>
                                        </p:tgtEl>
                                        <p:attrNameLst>
                                          <p:attrName>style.visibility</p:attrName>
                                        </p:attrNameLst>
                                      </p:cBhvr>
                                      <p:to>
                                        <p:strVal val="visible"/>
                                      </p:to>
                                    </p:set>
                                    <p:animEffect transition="in" filter="dissolve">
                                      <p:cBhvr>
                                        <p:cTn id="18" dur="500"/>
                                        <p:tgtEl>
                                          <p:spTgt spid="21550"/>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21551"/>
                                        </p:tgtEl>
                                        <p:attrNameLst>
                                          <p:attrName>style.visibility</p:attrName>
                                        </p:attrNameLst>
                                      </p:cBhvr>
                                      <p:to>
                                        <p:strVal val="visible"/>
                                      </p:to>
                                    </p:set>
                                    <p:animEffect transition="in" filter="dissolve">
                                      <p:cBhvr>
                                        <p:cTn id="23" dur="500"/>
                                        <p:tgtEl>
                                          <p:spTgt spid="215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P spid="21507" grpId="0"/>
      <p:bldP spid="21550" grpId="0"/>
      <p:bldP spid="2155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3" name="表格 22532"/>
          <p:cNvGraphicFramePr/>
          <p:nvPr/>
        </p:nvGraphicFramePr>
        <p:xfrm>
          <a:off x="5153025" y="1846263"/>
          <a:ext cx="3411538" cy="792163"/>
        </p:xfrm>
        <a:graphic>
          <a:graphicData uri="http://schemas.openxmlformats.org/drawingml/2006/table">
            <a:tbl>
              <a:tblPr/>
              <a:tblGrid>
                <a:gridCol w="1136650"/>
                <a:gridCol w="1138238"/>
                <a:gridCol w="1136650"/>
              </a:tblGrid>
              <a:tr h="42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b="1" u="sng">
                          <a:solidFill>
                            <a:srgbClr val="FF0000"/>
                          </a:solidFill>
                        </a:rPr>
                        <a:t>社号</a:t>
                      </a:r>
                      <a:endParaRPr lang="zh-CN" altLang="en-US" sz="1800" b="1" u="sng">
                        <a:solidFill>
                          <a:srgbClr val="FF0000"/>
                        </a:solidFill>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社名</a:t>
                      </a:r>
                      <a:endParaRPr lang="zh-CN" altLang="en-US" sz="1800"/>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电话</a:t>
                      </a:r>
                      <a:endParaRPr lang="zh-CN" altLang="en-US" sz="1800"/>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66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75" marB="45775">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pSp>
        <p:nvGrpSpPr>
          <p:cNvPr id="22547" name="组合 23"/>
          <p:cNvGrpSpPr/>
          <p:nvPr/>
        </p:nvGrpSpPr>
        <p:grpSpPr>
          <a:xfrm>
            <a:off x="4289425" y="1246188"/>
            <a:ext cx="3417888" cy="2082800"/>
            <a:chOff x="0" y="0"/>
            <a:chExt cx="3417887" cy="2081826"/>
          </a:xfrm>
        </p:grpSpPr>
        <p:grpSp>
          <p:nvGrpSpPr>
            <p:cNvPr id="25672" name="组合 22"/>
            <p:cNvGrpSpPr/>
            <p:nvPr/>
          </p:nvGrpSpPr>
          <p:grpSpPr>
            <a:xfrm>
              <a:off x="0" y="869723"/>
              <a:ext cx="1095601" cy="1212103"/>
              <a:chOff x="0" y="0"/>
              <a:chExt cx="1095601" cy="1212103"/>
            </a:xfrm>
          </p:grpSpPr>
          <p:cxnSp>
            <p:nvCxnSpPr>
              <p:cNvPr id="25674" name="直接箭头连接符 7"/>
              <p:cNvCxnSpPr/>
              <p:nvPr/>
            </p:nvCxnSpPr>
            <p:spPr>
              <a:xfrm>
                <a:off x="253772" y="0"/>
                <a:ext cx="638629" cy="0"/>
              </a:xfrm>
              <a:prstGeom prst="straightConnector1">
                <a:avLst/>
              </a:prstGeom>
              <a:ln w="44450" cap="flat" cmpd="sng">
                <a:solidFill>
                  <a:srgbClr val="0033CC"/>
                </a:solidFill>
                <a:prstDash val="solid"/>
                <a:headEnd type="none" w="med" len="med"/>
                <a:tailEnd type="arrow" w="med" len="med"/>
              </a:ln>
            </p:spPr>
          </p:cxnSp>
          <p:cxnSp>
            <p:nvCxnSpPr>
              <p:cNvPr id="25675" name="直接连接符 9"/>
              <p:cNvCxnSpPr/>
              <p:nvPr/>
            </p:nvCxnSpPr>
            <p:spPr>
              <a:xfrm rot="-5400000" flipH="1">
                <a:off x="-138113" y="406400"/>
                <a:ext cx="812800" cy="0"/>
              </a:xfrm>
              <a:prstGeom prst="line">
                <a:avLst/>
              </a:prstGeom>
              <a:ln w="44450" cap="flat" cmpd="sng">
                <a:solidFill>
                  <a:srgbClr val="0033CC"/>
                </a:solidFill>
                <a:prstDash val="solid"/>
                <a:headEnd type="none" w="med" len="med"/>
                <a:tailEnd type="none" w="med" len="med"/>
              </a:ln>
            </p:spPr>
          </p:cxnSp>
          <p:sp>
            <p:nvSpPr>
              <p:cNvPr id="25676" name="Text Box 15"/>
              <p:cNvSpPr txBox="1"/>
              <p:nvPr/>
            </p:nvSpPr>
            <p:spPr>
              <a:xfrm>
                <a:off x="0" y="763134"/>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grpSp>
        <p:sp>
          <p:nvSpPr>
            <p:cNvPr id="25673" name="Text Box 15"/>
            <p:cNvSpPr txBox="1"/>
            <p:nvPr/>
          </p:nvSpPr>
          <p:spPr>
            <a:xfrm>
              <a:off x="791029" y="0"/>
              <a:ext cx="2626858" cy="49859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主表：</a:t>
              </a:r>
              <a:r>
                <a:rPr lang="zh-CN" altLang="en-US" sz="2400" dirty="0">
                  <a:latin typeface="楷体" panose="02010609060101010101" pitchFamily="49" charset="-122"/>
                  <a:ea typeface="楷体" panose="02010609060101010101" pitchFamily="49" charset="-122"/>
                </a:rPr>
                <a:t>出版社</a:t>
              </a:r>
              <a:endParaRPr lang="zh-CN" altLang="en-US" sz="2400" dirty="0">
                <a:latin typeface="楷体" panose="02010609060101010101" pitchFamily="49" charset="-122"/>
                <a:ea typeface="楷体" panose="02010609060101010101" pitchFamily="49" charset="-122"/>
              </a:endParaRPr>
            </a:p>
          </p:txBody>
        </p:sp>
      </p:grpSp>
      <p:graphicFrame>
        <p:nvGraphicFramePr>
          <p:cNvPr id="22553" name="表格 22552"/>
          <p:cNvGraphicFramePr/>
          <p:nvPr/>
        </p:nvGraphicFramePr>
        <p:xfrm>
          <a:off x="2598738" y="5153025"/>
          <a:ext cx="6096000" cy="741363"/>
        </p:xfrm>
        <a:graphic>
          <a:graphicData uri="http://schemas.openxmlformats.org/drawingml/2006/table">
            <a:tbl>
              <a:tblPr/>
              <a:tblGrid>
                <a:gridCol w="1016000"/>
                <a:gridCol w="1016000"/>
                <a:gridCol w="1016000"/>
                <a:gridCol w="784225"/>
                <a:gridCol w="1247775"/>
                <a:gridCol w="1016000"/>
              </a:tblGrid>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1" u="sng">
                          <a:solidFill>
                            <a:srgbClr val="FF0000"/>
                          </a:solidFill>
                        </a:rPr>
                        <a:t>书号</a:t>
                      </a:r>
                      <a:endParaRPr lang="zh-CN" altLang="en-US" sz="1800" b="1"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数量</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出版时间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b="1" i="1">
                          <a:solidFill>
                            <a:srgbClr val="0033CC"/>
                          </a:solidFill>
                        </a:rPr>
                        <a:t>社号</a:t>
                      </a:r>
                      <a:endParaRPr lang="zh-CN" altLang="en-US" sz="1800" b="1" i="1">
                        <a:solidFill>
                          <a:srgbClr val="0033CC"/>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698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pSp>
        <p:nvGrpSpPr>
          <p:cNvPr id="22576" name="组合 30"/>
          <p:cNvGrpSpPr/>
          <p:nvPr/>
        </p:nvGrpSpPr>
        <p:grpSpPr>
          <a:xfrm>
            <a:off x="1016000" y="3924300"/>
            <a:ext cx="7750175" cy="1662113"/>
            <a:chOff x="0" y="0"/>
            <a:chExt cx="7750401" cy="1660912"/>
          </a:xfrm>
        </p:grpSpPr>
        <p:cxnSp>
          <p:nvCxnSpPr>
            <p:cNvPr id="25667" name="直接箭头连接符 13"/>
            <p:cNvCxnSpPr/>
            <p:nvPr/>
          </p:nvCxnSpPr>
          <p:spPr>
            <a:xfrm>
              <a:off x="906915" y="1421266"/>
              <a:ext cx="638629" cy="0"/>
            </a:xfrm>
            <a:prstGeom prst="straightConnector1">
              <a:avLst/>
            </a:prstGeom>
            <a:ln w="44450" cap="flat" cmpd="sng">
              <a:solidFill>
                <a:srgbClr val="0033CC"/>
              </a:solidFill>
              <a:prstDash val="solid"/>
              <a:headEnd type="none" w="med" len="med"/>
              <a:tailEnd type="arrow" w="med" len="med"/>
            </a:ln>
          </p:spPr>
        </p:cxnSp>
        <p:sp>
          <p:nvSpPr>
            <p:cNvPr id="25668" name="Text Box 15"/>
            <p:cNvSpPr txBox="1"/>
            <p:nvPr/>
          </p:nvSpPr>
          <p:spPr>
            <a:xfrm>
              <a:off x="0" y="1211943"/>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5669" name="Text Box 15"/>
            <p:cNvSpPr txBox="1"/>
            <p:nvPr/>
          </p:nvSpPr>
          <p:spPr>
            <a:xfrm>
              <a:off x="3490686" y="537028"/>
              <a:ext cx="2626858"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从表：</a:t>
              </a:r>
              <a:r>
                <a:rPr lang="zh-CN" altLang="en-US" sz="2400" dirty="0">
                  <a:latin typeface="楷体" panose="02010609060101010101" pitchFamily="49" charset="-122"/>
                  <a:ea typeface="楷体" panose="02010609060101010101" pitchFamily="49" charset="-122"/>
                </a:rPr>
                <a:t>图书</a:t>
              </a:r>
              <a:endParaRPr lang="zh-CN" altLang="en-US" sz="2400" dirty="0">
                <a:latin typeface="楷体" panose="02010609060101010101" pitchFamily="49" charset="-122"/>
                <a:ea typeface="楷体" panose="02010609060101010101" pitchFamily="49" charset="-122"/>
              </a:endParaRPr>
            </a:p>
          </p:txBody>
        </p:sp>
        <p:cxnSp>
          <p:nvCxnSpPr>
            <p:cNvPr id="25670" name="直接箭头连接符 16"/>
            <p:cNvCxnSpPr/>
            <p:nvPr/>
          </p:nvCxnSpPr>
          <p:spPr>
            <a:xfrm rot="5400000">
              <a:off x="6741643" y="855191"/>
              <a:ext cx="711199" cy="0"/>
            </a:xfrm>
            <a:prstGeom prst="straightConnector1">
              <a:avLst/>
            </a:prstGeom>
            <a:ln w="44450" cap="flat" cmpd="sng">
              <a:solidFill>
                <a:srgbClr val="0033CC"/>
              </a:solidFill>
              <a:prstDash val="solid"/>
              <a:headEnd type="none" w="med" len="med"/>
              <a:tailEnd type="arrow" w="med" len="med"/>
            </a:ln>
          </p:spPr>
        </p:cxnSp>
        <p:sp>
          <p:nvSpPr>
            <p:cNvPr id="25671" name="Text Box 15"/>
            <p:cNvSpPr txBox="1"/>
            <p:nvPr/>
          </p:nvSpPr>
          <p:spPr>
            <a:xfrm>
              <a:off x="6654800" y="0"/>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外键</a:t>
              </a:r>
              <a:endParaRPr lang="zh-CN" altLang="en-US" sz="2400" dirty="0">
                <a:solidFill>
                  <a:srgbClr val="FF0000"/>
                </a:solidFill>
                <a:latin typeface="楷体" panose="02010609060101010101" pitchFamily="49" charset="-122"/>
                <a:ea typeface="楷体" panose="02010609060101010101" pitchFamily="49" charset="-122"/>
              </a:endParaRPr>
            </a:p>
          </p:txBody>
        </p:sp>
      </p:grpSp>
      <p:sp>
        <p:nvSpPr>
          <p:cNvPr id="2" name="矩形 1"/>
          <p:cNvSpPr/>
          <p:nvPr/>
        </p:nvSpPr>
        <p:spPr>
          <a:xfrm>
            <a:off x="1549400" y="2217738"/>
            <a:ext cx="1135063" cy="422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800" b="1" i="0" u="none" strike="noStrike" kern="1200" cap="none" spc="0" normalizeH="0" baseline="0" noProof="1">
                <a:ln>
                  <a:noFill/>
                </a:ln>
                <a:solidFill>
                  <a:schemeClr val="tx1"/>
                </a:solidFill>
                <a:effectLst/>
                <a:uLnTx/>
                <a:uFillTx/>
                <a:latin typeface="+mn-lt"/>
                <a:ea typeface="+mn-ea"/>
                <a:cs typeface="+mn-cs"/>
              </a:rPr>
              <a:t>出版社</a:t>
            </a:r>
            <a:endParaRPr kumimoji="0" lang="zh-CN"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3" name="矩形 2"/>
          <p:cNvSpPr/>
          <p:nvPr/>
        </p:nvSpPr>
        <p:spPr>
          <a:xfrm>
            <a:off x="1536700" y="3797300"/>
            <a:ext cx="1133475" cy="422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1800" b="1" i="0" u="none" strike="noStrike" kern="1200" cap="none" spc="0" normalizeH="0" baseline="0" noProof="1">
                <a:ln>
                  <a:noFill/>
                </a:ln>
                <a:solidFill>
                  <a:schemeClr val="tx1"/>
                </a:solidFill>
                <a:effectLst/>
                <a:uLnTx/>
                <a:uFillTx/>
                <a:latin typeface="+mn-lt"/>
                <a:ea typeface="+mn-ea"/>
                <a:cs typeface="+mn-cs"/>
              </a:rPr>
              <a:t>图书</a:t>
            </a:r>
            <a:endParaRPr kumimoji="0" lang="zh-CN"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184" name=" 184"/>
          <p:cNvSpPr/>
          <p:nvPr/>
        </p:nvSpPr>
        <p:spPr>
          <a:xfrm>
            <a:off x="344792" y="4081780"/>
            <a:ext cx="882651"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sng" strike="noStrike" kern="1200" cap="none" spc="0" normalizeH="0" baseline="0" noProof="1">
                <a:ln>
                  <a:noFill/>
                </a:ln>
                <a:solidFill>
                  <a:schemeClr val="tx1"/>
                </a:solidFill>
                <a:effectLst/>
                <a:uLnTx/>
                <a:uFillTx/>
                <a:latin typeface="+mn-lt"/>
                <a:ea typeface="+mn-ea"/>
                <a:cs typeface="+mn-cs"/>
              </a:rPr>
              <a:t>书号</a:t>
            </a:r>
            <a:endParaRPr kumimoji="0" lang="zh-CN" altLang="en-US" sz="1800" b="1" i="0" u="sng" strike="noStrike" kern="1200" cap="none" spc="0" normalizeH="0" baseline="0" noProof="1">
              <a:ln>
                <a:noFill/>
              </a:ln>
              <a:solidFill>
                <a:schemeClr val="tx1"/>
              </a:solidFill>
              <a:effectLst/>
              <a:uLnTx/>
              <a:uFillTx/>
              <a:latin typeface="+mn-lt"/>
              <a:ea typeface="+mn-ea"/>
              <a:cs typeface="+mn-cs"/>
            </a:endParaRPr>
          </a:p>
        </p:txBody>
      </p:sp>
      <p:sp>
        <p:nvSpPr>
          <p:cNvPr id="4" name=" 184"/>
          <p:cNvSpPr/>
          <p:nvPr/>
        </p:nvSpPr>
        <p:spPr>
          <a:xfrm>
            <a:off x="815340" y="4462145"/>
            <a:ext cx="963295"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书名</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5" name=" 184"/>
          <p:cNvSpPr/>
          <p:nvPr/>
        </p:nvSpPr>
        <p:spPr>
          <a:xfrm>
            <a:off x="1778634" y="4515473"/>
            <a:ext cx="963283"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价格</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6" name=" 184"/>
          <p:cNvSpPr/>
          <p:nvPr/>
        </p:nvSpPr>
        <p:spPr>
          <a:xfrm>
            <a:off x="2741924" y="4219574"/>
            <a:ext cx="1417960" cy="44958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出版时间</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7" name=" 184"/>
          <p:cNvSpPr/>
          <p:nvPr/>
        </p:nvSpPr>
        <p:spPr>
          <a:xfrm>
            <a:off x="2969260" y="3797299"/>
            <a:ext cx="963283"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数量</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8" name=" 184"/>
          <p:cNvSpPr/>
          <p:nvPr/>
        </p:nvSpPr>
        <p:spPr>
          <a:xfrm>
            <a:off x="581660" y="1745615"/>
            <a:ext cx="882650"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195" rIns="36195"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sng" strike="noStrike" kern="1200" cap="none" spc="0" normalizeH="0" baseline="0" noProof="1">
                <a:ln>
                  <a:noFill/>
                </a:ln>
                <a:solidFill>
                  <a:schemeClr val="tx1"/>
                </a:solidFill>
                <a:effectLst/>
                <a:uLnTx/>
                <a:uFillTx/>
                <a:latin typeface="+mn-lt"/>
                <a:ea typeface="+mn-ea"/>
                <a:cs typeface="+mn-cs"/>
              </a:rPr>
              <a:t>社号</a:t>
            </a:r>
            <a:endParaRPr kumimoji="0" lang="zh-CN" altLang="en-US" sz="1800" b="1" i="0" u="sng" strike="noStrike" kern="1200" cap="none" spc="0" normalizeH="0" baseline="0" noProof="1">
              <a:ln>
                <a:noFill/>
              </a:ln>
              <a:solidFill>
                <a:schemeClr val="tx1"/>
              </a:solidFill>
              <a:effectLst/>
              <a:uLnTx/>
              <a:uFillTx/>
              <a:latin typeface="+mn-lt"/>
              <a:ea typeface="+mn-ea"/>
              <a:cs typeface="+mn-cs"/>
            </a:endParaRPr>
          </a:p>
        </p:txBody>
      </p:sp>
      <p:sp>
        <p:nvSpPr>
          <p:cNvPr id="9" name=" 184"/>
          <p:cNvSpPr/>
          <p:nvPr/>
        </p:nvSpPr>
        <p:spPr>
          <a:xfrm>
            <a:off x="1635760" y="1567180"/>
            <a:ext cx="963283"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名称</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10" name=" 184"/>
          <p:cNvSpPr/>
          <p:nvPr/>
        </p:nvSpPr>
        <p:spPr>
          <a:xfrm>
            <a:off x="2741930" y="1745615"/>
            <a:ext cx="963295" cy="3429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电话</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11" name="菱形 10"/>
          <p:cNvSpPr/>
          <p:nvPr/>
        </p:nvSpPr>
        <p:spPr>
          <a:xfrm>
            <a:off x="1465263" y="2928938"/>
            <a:ext cx="1276350" cy="52387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lIns="71755" r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出版</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cxnSp>
        <p:nvCxnSpPr>
          <p:cNvPr id="12" name="直接连接符 11"/>
          <p:cNvCxnSpPr>
            <a:stCxn id="8" idx="5"/>
          </p:cNvCxnSpPr>
          <p:nvPr/>
        </p:nvCxnSpPr>
        <p:spPr>
          <a:xfrm>
            <a:off x="1335088" y="2028825"/>
            <a:ext cx="522288" cy="1952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4"/>
            <a:endCxn id="2" idx="0"/>
          </p:cNvCxnSpPr>
          <p:nvPr/>
        </p:nvCxnSpPr>
        <p:spPr>
          <a:xfrm flipH="1">
            <a:off x="2117725" y="1901825"/>
            <a:ext cx="0" cy="307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9" idx="4"/>
            <a:endCxn id="2" idx="0"/>
          </p:cNvCxnSpPr>
          <p:nvPr/>
        </p:nvCxnSpPr>
        <p:spPr>
          <a:xfrm flipH="1">
            <a:off x="2116138" y="1901825"/>
            <a:ext cx="1588" cy="3079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2" idx="0"/>
            <a:endCxn id="10" idx="2"/>
          </p:cNvCxnSpPr>
          <p:nvPr/>
        </p:nvCxnSpPr>
        <p:spPr>
          <a:xfrm flipV="1">
            <a:off x="2117725" y="1917700"/>
            <a:ext cx="623888" cy="3000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1" idx="0"/>
            <a:endCxn id="2" idx="2"/>
          </p:cNvCxnSpPr>
          <p:nvPr/>
        </p:nvCxnSpPr>
        <p:spPr>
          <a:xfrm flipV="1">
            <a:off x="2103438" y="2640013"/>
            <a:ext cx="14288" cy="288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3" idx="2"/>
            <a:endCxn id="5" idx="0"/>
          </p:cNvCxnSpPr>
          <p:nvPr/>
        </p:nvCxnSpPr>
        <p:spPr>
          <a:xfrm>
            <a:off x="2103438" y="4219575"/>
            <a:ext cx="157163" cy="295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3" idx="2"/>
            <a:endCxn id="6" idx="2"/>
          </p:cNvCxnSpPr>
          <p:nvPr/>
        </p:nvCxnSpPr>
        <p:spPr>
          <a:xfrm>
            <a:off x="2103438" y="4219575"/>
            <a:ext cx="638175" cy="225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3" idx="3"/>
            <a:endCxn id="7" idx="2"/>
          </p:cNvCxnSpPr>
          <p:nvPr/>
        </p:nvCxnSpPr>
        <p:spPr>
          <a:xfrm flipV="1">
            <a:off x="2670175" y="3968750"/>
            <a:ext cx="298450" cy="396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3" idx="0"/>
            <a:endCxn id="11" idx="2"/>
          </p:cNvCxnSpPr>
          <p:nvPr/>
        </p:nvCxnSpPr>
        <p:spPr>
          <a:xfrm flipV="1">
            <a:off x="2103438" y="3443288"/>
            <a:ext cx="0" cy="346075"/>
          </a:xfrm>
          <a:prstGeom prst="straightConnector1">
            <a:avLst/>
          </a:prstGeom>
          <a:ln w="412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3" idx="0"/>
            <a:endCxn id="11" idx="2"/>
          </p:cNvCxnSpPr>
          <p:nvPr/>
        </p:nvCxnSpPr>
        <p:spPr>
          <a:xfrm flipV="1">
            <a:off x="2103438" y="3443288"/>
            <a:ext cx="0" cy="346075"/>
          </a:xfrm>
          <a:prstGeom prst="straightConnector1">
            <a:avLst/>
          </a:prstGeom>
          <a:ln w="41275">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 184"/>
          <p:cNvSpPr/>
          <p:nvPr/>
        </p:nvSpPr>
        <p:spPr>
          <a:xfrm>
            <a:off x="2067560" y="2640330"/>
            <a:ext cx="494029" cy="3429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uLnTx/>
                <a:uFillTx/>
                <a:latin typeface="+mn-lt"/>
                <a:ea typeface="+mn-ea"/>
                <a:cs typeface="+mn-cs"/>
              </a:rPr>
              <a:t>1</a:t>
            </a:r>
            <a:endParaRPr kumimoji="0" lang="en-US"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24" name=" 184"/>
          <p:cNvSpPr/>
          <p:nvPr/>
        </p:nvSpPr>
        <p:spPr>
          <a:xfrm>
            <a:off x="2106918" y="3454399"/>
            <a:ext cx="502286" cy="3429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defRPr/>
            </a:pPr>
            <a:r>
              <a:rPr kumimoji="0" lang="en-US" altLang="zh-CN" sz="1800" b="1" i="0" u="none" strike="noStrike" kern="1200" cap="none" spc="0" normalizeH="0" baseline="0" noProof="1">
                <a:ln>
                  <a:noFill/>
                </a:ln>
                <a:solidFill>
                  <a:schemeClr val="tx1"/>
                </a:solidFill>
                <a:effectLst/>
                <a:uLnTx/>
                <a:uFillTx/>
                <a:latin typeface="+mn-lt"/>
                <a:ea typeface="+mn-ea"/>
                <a:cs typeface="+mn-cs"/>
              </a:rPr>
              <a:t>n</a:t>
            </a:r>
            <a:endParaRPr kumimoji="0" lang="en-US" altLang="zh-CN" sz="1800" b="1" i="0" u="none" strike="noStrike" kern="1200" cap="none" spc="0" normalizeH="0" baseline="0" noProof="1">
              <a:ln>
                <a:noFill/>
              </a:ln>
              <a:solidFill>
                <a:schemeClr val="tx1"/>
              </a:solidFill>
              <a:effectLst/>
              <a:uLnTx/>
              <a:uFillTx/>
              <a:latin typeface="+mn-lt"/>
              <a:ea typeface="+mn-ea"/>
              <a:cs typeface="+mn-cs"/>
            </a:endParaRPr>
          </a:p>
        </p:txBody>
      </p:sp>
      <p:sp>
        <p:nvSpPr>
          <p:cNvPr id="25664"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cxnSp>
        <p:nvCxnSpPr>
          <p:cNvPr id="47" name="直接连接符 46"/>
          <p:cNvCxnSpPr>
            <a:stCxn id="3" idx="2"/>
            <a:endCxn id="4" idx="0"/>
          </p:cNvCxnSpPr>
          <p:nvPr/>
        </p:nvCxnSpPr>
        <p:spPr>
          <a:xfrm flipH="1">
            <a:off x="1296988" y="4219575"/>
            <a:ext cx="806450" cy="242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a:stCxn id="3" idx="1"/>
            <a:endCxn id="184" idx="7"/>
          </p:cNvCxnSpPr>
          <p:nvPr/>
        </p:nvCxnSpPr>
        <p:spPr>
          <a:xfrm flipH="1">
            <a:off x="1098550" y="4008438"/>
            <a:ext cx="438150" cy="1238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3"/>
                                        </p:tgtEl>
                                        <p:attrNameLst>
                                          <p:attrName>style.visibility</p:attrName>
                                        </p:attrNameLst>
                                      </p:cBhvr>
                                      <p:to>
                                        <p:strVal val="visible"/>
                                      </p:to>
                                    </p:set>
                                    <p:anim calcmode="lin" valueType="num">
                                      <p:cBhvr additive="base">
                                        <p:cTn id="7" dur="500" fill="hold"/>
                                        <p:tgtEl>
                                          <p:spTgt spid="22533"/>
                                        </p:tgtEl>
                                        <p:attrNameLst>
                                          <p:attrName>ppt_x</p:attrName>
                                        </p:attrNameLst>
                                      </p:cBhvr>
                                      <p:tavLst>
                                        <p:tav tm="0">
                                          <p:val>
                                            <p:strVal val="#ppt_x"/>
                                          </p:val>
                                        </p:tav>
                                        <p:tav tm="100000">
                                          <p:val>
                                            <p:strVal val="#ppt_x"/>
                                          </p:val>
                                        </p:tav>
                                      </p:tavLst>
                                    </p:anim>
                                    <p:anim calcmode="lin" valueType="num">
                                      <p:cBhvr additive="base">
                                        <p:cTn id="8"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47"/>
                                        </p:tgtEl>
                                        <p:attrNameLst>
                                          <p:attrName>style.visibility</p:attrName>
                                        </p:attrNameLst>
                                      </p:cBhvr>
                                      <p:to>
                                        <p:strVal val="visible"/>
                                      </p:to>
                                    </p:set>
                                    <p:anim calcmode="lin" valueType="num">
                                      <p:cBhvr additive="base">
                                        <p:cTn id="13" dur="500" fill="hold"/>
                                        <p:tgtEl>
                                          <p:spTgt spid="22547"/>
                                        </p:tgtEl>
                                        <p:attrNameLst>
                                          <p:attrName>ppt_x</p:attrName>
                                        </p:attrNameLst>
                                      </p:cBhvr>
                                      <p:tavLst>
                                        <p:tav tm="0">
                                          <p:val>
                                            <p:strVal val="#ppt_x"/>
                                          </p:val>
                                        </p:tav>
                                        <p:tav tm="100000">
                                          <p:val>
                                            <p:strVal val="#ppt_x"/>
                                          </p:val>
                                        </p:tav>
                                      </p:tavLst>
                                    </p:anim>
                                    <p:anim calcmode="lin" valueType="num">
                                      <p:cBhvr additive="base">
                                        <p:cTn id="14" dur="500" fill="hold"/>
                                        <p:tgtEl>
                                          <p:spTgt spid="2254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53"/>
                                        </p:tgtEl>
                                        <p:attrNameLst>
                                          <p:attrName>style.visibility</p:attrName>
                                        </p:attrNameLst>
                                      </p:cBhvr>
                                      <p:to>
                                        <p:strVal val="visible"/>
                                      </p:to>
                                    </p:set>
                                    <p:anim calcmode="lin" valueType="num">
                                      <p:cBhvr additive="base">
                                        <p:cTn id="19" dur="500" fill="hold"/>
                                        <p:tgtEl>
                                          <p:spTgt spid="22553"/>
                                        </p:tgtEl>
                                        <p:attrNameLst>
                                          <p:attrName>ppt_x</p:attrName>
                                        </p:attrNameLst>
                                      </p:cBhvr>
                                      <p:tavLst>
                                        <p:tav tm="0">
                                          <p:val>
                                            <p:strVal val="#ppt_x"/>
                                          </p:val>
                                        </p:tav>
                                        <p:tav tm="100000">
                                          <p:val>
                                            <p:strVal val="#ppt_x"/>
                                          </p:val>
                                        </p:tav>
                                      </p:tavLst>
                                    </p:anim>
                                    <p:anim calcmode="lin" valueType="num">
                                      <p:cBhvr additive="base">
                                        <p:cTn id="20" dur="500" fill="hold"/>
                                        <p:tgtEl>
                                          <p:spTgt spid="2255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576"/>
                                        </p:tgtEl>
                                        <p:attrNameLst>
                                          <p:attrName>style.visibility</p:attrName>
                                        </p:attrNameLst>
                                      </p:cBhvr>
                                      <p:to>
                                        <p:strVal val="visible"/>
                                      </p:to>
                                    </p:set>
                                    <p:anim calcmode="lin" valueType="num">
                                      <p:cBhvr additive="base">
                                        <p:cTn id="25" dur="500" fill="hold"/>
                                        <p:tgtEl>
                                          <p:spTgt spid="22576"/>
                                        </p:tgtEl>
                                        <p:attrNameLst>
                                          <p:attrName>ppt_x</p:attrName>
                                        </p:attrNameLst>
                                      </p:cBhvr>
                                      <p:tavLst>
                                        <p:tav tm="0">
                                          <p:val>
                                            <p:strVal val="#ppt_x"/>
                                          </p:val>
                                        </p:tav>
                                        <p:tav tm="100000">
                                          <p:val>
                                            <p:strVal val="#ppt_x"/>
                                          </p:val>
                                        </p:tav>
                                      </p:tavLst>
                                    </p:anim>
                                    <p:anim calcmode="lin" valueType="num">
                                      <p:cBhvr additive="base">
                                        <p:cTn id="26" dur="500" fill="hold"/>
                                        <p:tgtEl>
                                          <p:spTgt spid="225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组合 28"/>
          <p:cNvGrpSpPr/>
          <p:nvPr/>
        </p:nvGrpSpPr>
        <p:grpSpPr>
          <a:xfrm>
            <a:off x="588963" y="1176338"/>
            <a:ext cx="8061325" cy="3881437"/>
            <a:chOff x="0" y="0"/>
            <a:chExt cx="8062007" cy="3881657"/>
          </a:xfrm>
        </p:grpSpPr>
        <p:sp>
          <p:nvSpPr>
            <p:cNvPr id="26687" name="Text Box 15"/>
            <p:cNvSpPr txBox="1"/>
            <p:nvPr/>
          </p:nvSpPr>
          <p:spPr>
            <a:xfrm>
              <a:off x="6351" y="0"/>
              <a:ext cx="8055656" cy="49850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CC3300"/>
                  </a:solidFill>
                  <a:latin typeface="宋体" panose="02010600030101010101" pitchFamily="2" charset="-122"/>
                </a:rPr>
                <a:t>例</a:t>
              </a:r>
              <a:r>
                <a:rPr lang="en-US" altLang="zh-CN" sz="2400" u="sng" dirty="0">
                  <a:solidFill>
                    <a:srgbClr val="CC3300"/>
                  </a:solidFill>
                  <a:latin typeface="宋体" panose="02010600030101010101" pitchFamily="2" charset="-122"/>
                </a:rPr>
                <a:t>3</a:t>
              </a:r>
              <a:r>
                <a:rPr lang="zh-CN" altLang="en-US" sz="2400" u="sng" dirty="0">
                  <a:solidFill>
                    <a:srgbClr val="CC3300"/>
                  </a:solidFill>
                  <a:latin typeface="宋体" panose="02010600030101010101" pitchFamily="2" charset="-122"/>
                </a:rPr>
                <a:t>：</a:t>
              </a:r>
              <a:r>
                <a:rPr lang="zh-CN" altLang="en-US" sz="2400" dirty="0">
                  <a:latin typeface="楷体" panose="02010609060101010101" pitchFamily="49" charset="-122"/>
                  <a:ea typeface="楷体" panose="02010609060101010101" pitchFamily="49" charset="-122"/>
                </a:rPr>
                <a:t>如下图</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作者和图书。</a:t>
              </a:r>
              <a:endParaRPr lang="zh-CN" altLang="en-US" sz="2400" dirty="0">
                <a:latin typeface="楷体" panose="02010609060101010101" pitchFamily="49" charset="-122"/>
                <a:ea typeface="楷体" panose="02010609060101010101" pitchFamily="49" charset="-122"/>
              </a:endParaRPr>
            </a:p>
          </p:txBody>
        </p:sp>
        <p:pic>
          <p:nvPicPr>
            <p:cNvPr id="26688" name="Picture 2"/>
            <p:cNvPicPr>
              <a:picLocks noChangeAspect="1"/>
            </p:cNvPicPr>
            <p:nvPr/>
          </p:nvPicPr>
          <p:blipFill>
            <a:blip r:embed="rId1"/>
            <a:stretch>
              <a:fillRect/>
            </a:stretch>
          </p:blipFill>
          <p:spPr>
            <a:xfrm>
              <a:off x="0" y="563594"/>
              <a:ext cx="3751579" cy="3318063"/>
            </a:xfrm>
            <a:prstGeom prst="rect">
              <a:avLst/>
            </a:prstGeom>
            <a:noFill/>
            <a:ln w="9525">
              <a:noFill/>
            </a:ln>
            <a:effectLst>
              <a:prstShdw prst="shdw17" dist="17961" dir="2699999">
                <a:srgbClr val="708688"/>
              </a:prstShdw>
            </a:effectLst>
          </p:spPr>
        </p:pic>
      </p:grpSp>
      <p:graphicFrame>
        <p:nvGraphicFramePr>
          <p:cNvPr id="23557" name="表格 23556"/>
          <p:cNvGraphicFramePr/>
          <p:nvPr/>
        </p:nvGraphicFramePr>
        <p:xfrm>
          <a:off x="5153025" y="1817688"/>
          <a:ext cx="3411538" cy="803275"/>
        </p:xfrm>
        <a:graphic>
          <a:graphicData uri="http://schemas.openxmlformats.org/drawingml/2006/table">
            <a:tbl>
              <a:tblPr/>
              <a:tblGrid>
                <a:gridCol w="1136650"/>
                <a:gridCol w="1136650"/>
                <a:gridCol w="1138238"/>
              </a:tblGrid>
              <a:tr h="4318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u="sng">
                          <a:solidFill>
                            <a:srgbClr val="FF0000"/>
                          </a:solidFill>
                        </a:rPr>
                        <a:t>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姓名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职称</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71" name="表格 23570"/>
          <p:cNvGraphicFramePr/>
          <p:nvPr/>
        </p:nvGraphicFramePr>
        <p:xfrm>
          <a:off x="5319713" y="3567113"/>
          <a:ext cx="3411538" cy="803275"/>
        </p:xfrm>
        <a:graphic>
          <a:graphicData uri="http://schemas.openxmlformats.org/drawingml/2006/table">
            <a:tbl>
              <a:tblPr/>
              <a:tblGrid>
                <a:gridCol w="1136650"/>
                <a:gridCol w="1136650"/>
                <a:gridCol w="1138238"/>
              </a:tblGrid>
              <a:tr h="4318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u="sng">
                          <a:solidFill>
                            <a:srgbClr val="FF0000"/>
                          </a:solidFill>
                        </a:rPr>
                        <a:t>书号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85" name="表格 23584"/>
          <p:cNvGraphicFramePr/>
          <p:nvPr/>
        </p:nvGraphicFramePr>
        <p:xfrm>
          <a:off x="5195888" y="4575175"/>
          <a:ext cx="3657600" cy="803275"/>
        </p:xfrm>
        <a:graphic>
          <a:graphicData uri="http://schemas.openxmlformats.org/drawingml/2006/table">
            <a:tbl>
              <a:tblPr/>
              <a:tblGrid>
                <a:gridCol w="1219200"/>
                <a:gridCol w="1219200"/>
                <a:gridCol w="1219200"/>
              </a:tblGrid>
              <a:tr h="4318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800" u="sng">
                          <a:solidFill>
                            <a:srgbClr val="FF0000"/>
                          </a:solidFill>
                        </a:rPr>
                        <a:t>作者编号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书号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完成时间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cxnSp>
        <p:nvCxnSpPr>
          <p:cNvPr id="26669" name="直接箭头连接符 22"/>
          <p:cNvCxnSpPr/>
          <p:nvPr/>
        </p:nvCxnSpPr>
        <p:spPr>
          <a:xfrm rot="-5400000" flipV="1">
            <a:off x="4665663" y="3910013"/>
            <a:ext cx="2481262" cy="0"/>
          </a:xfrm>
          <a:prstGeom prst="straightConnector1">
            <a:avLst/>
          </a:prstGeom>
          <a:ln w="9525">
            <a:noFill/>
          </a:ln>
        </p:spPr>
      </p:cxnSp>
      <p:grpSp>
        <p:nvGrpSpPr>
          <p:cNvPr id="23600" name="组合 31"/>
          <p:cNvGrpSpPr/>
          <p:nvPr/>
        </p:nvGrpSpPr>
        <p:grpSpPr>
          <a:xfrm>
            <a:off x="3787775" y="1219200"/>
            <a:ext cx="4086225" cy="4019550"/>
            <a:chOff x="0" y="0"/>
            <a:chExt cx="4085549" cy="4019323"/>
          </a:xfrm>
        </p:grpSpPr>
        <p:sp>
          <p:nvSpPr>
            <p:cNvPr id="23601" name="任意多边形 27"/>
            <p:cNvSpPr/>
            <p:nvPr/>
          </p:nvSpPr>
          <p:spPr>
            <a:xfrm>
              <a:off x="1153922" y="971495"/>
              <a:ext cx="877742" cy="2447787"/>
            </a:xfrm>
            <a:custGeom>
              <a:avLst/>
              <a:gdLst>
                <a:gd name="txL" fmla="*/ 0 w 544285"/>
                <a:gd name="txT" fmla="*/ 0 h 2975428"/>
                <a:gd name="txR" fmla="*/ 544285 w 544285"/>
                <a:gd name="txB" fmla="*/ 2975428 h 2975428"/>
              </a:gdLst>
              <a:ahLst/>
              <a:cxnLst>
                <a:cxn ang="0">
                  <a:pos x="877742" y="2447787"/>
                </a:cxn>
                <a:cxn ang="0">
                  <a:pos x="105329" y="1683600"/>
                </a:cxn>
                <a:cxn ang="0">
                  <a:pos x="245766" y="668664"/>
                </a:cxn>
                <a:cxn ang="0">
                  <a:pos x="807522" y="0"/>
                </a:cxn>
                <a:cxn ang="0">
                  <a:pos x="807522" y="0"/>
                </a:cxn>
                <a:cxn ang="0">
                  <a:pos x="807522" y="0"/>
                </a:cxn>
                <a:cxn ang="0">
                  <a:pos x="807522" y="0"/>
                </a:cxn>
                <a:cxn ang="0">
                  <a:pos x="807522" y="0"/>
                </a:cxn>
                <a:cxn ang="0">
                  <a:pos x="807522" y="0"/>
                </a:cxn>
              </a:cxnLst>
              <a:rect l="txL" t="txT" r="txR" b="txB"/>
              <a:pathLst>
                <a:path w="544285" h="2975428">
                  <a:moveTo>
                    <a:pt x="544285" y="2975428"/>
                  </a:moveTo>
                  <a:cubicBezTo>
                    <a:pt x="337456" y="2691190"/>
                    <a:pt x="130628" y="2406952"/>
                    <a:pt x="65314" y="2046514"/>
                  </a:cubicBezTo>
                  <a:cubicBezTo>
                    <a:pt x="0" y="1686076"/>
                    <a:pt x="79828" y="1153886"/>
                    <a:pt x="152399" y="812800"/>
                  </a:cubicBezTo>
                  <a:cubicBezTo>
                    <a:pt x="224970" y="471714"/>
                    <a:pt x="500742" y="0"/>
                    <a:pt x="500742" y="0"/>
                  </a:cubicBezTo>
                  <a:lnTo>
                    <a:pt x="500742" y="0"/>
                  </a:lnTo>
                  <a:lnTo>
                    <a:pt x="500742" y="0"/>
                  </a:lnTo>
                  <a:lnTo>
                    <a:pt x="500742" y="0"/>
                  </a:lnTo>
                  <a:lnTo>
                    <a:pt x="500742" y="0"/>
                  </a:lnTo>
                  <a:lnTo>
                    <a:pt x="500742" y="0"/>
                  </a:lnTo>
                </a:path>
              </a:pathLst>
            </a:custGeom>
            <a:noFill/>
            <a:ln w="28575" cap="flat" cmpd="sng">
              <a:solidFill>
                <a:srgbClr val="0033CC"/>
              </a:solidFill>
              <a:prstDash val="solid"/>
              <a:miter/>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2"/>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nvGrpSpPr>
            <p:cNvPr id="26674" name="组合 29"/>
            <p:cNvGrpSpPr/>
            <p:nvPr/>
          </p:nvGrpSpPr>
          <p:grpSpPr>
            <a:xfrm>
              <a:off x="0" y="0"/>
              <a:ext cx="4085549" cy="4019323"/>
              <a:chOff x="0" y="0"/>
              <a:chExt cx="4085549" cy="4019323"/>
            </a:xfrm>
          </p:grpSpPr>
          <p:cxnSp>
            <p:nvCxnSpPr>
              <p:cNvPr id="26675" name="直接箭头连接符 6"/>
              <p:cNvCxnSpPr/>
              <p:nvPr/>
            </p:nvCxnSpPr>
            <p:spPr>
              <a:xfrm>
                <a:off x="754520" y="869723"/>
                <a:ext cx="638629" cy="0"/>
              </a:xfrm>
              <a:prstGeom prst="straightConnector1">
                <a:avLst/>
              </a:prstGeom>
              <a:ln w="44450" cap="flat" cmpd="sng">
                <a:solidFill>
                  <a:srgbClr val="0033CC"/>
                </a:solidFill>
                <a:prstDash val="solid"/>
                <a:headEnd type="none" w="med" len="med"/>
                <a:tailEnd type="arrow" w="med" len="med"/>
              </a:ln>
            </p:spPr>
          </p:cxnSp>
          <p:cxnSp>
            <p:nvCxnSpPr>
              <p:cNvPr id="26676" name="直接连接符 7"/>
              <p:cNvCxnSpPr/>
              <p:nvPr/>
            </p:nvCxnSpPr>
            <p:spPr>
              <a:xfrm rot="-5400000" flipH="1">
                <a:off x="362635" y="1276123"/>
                <a:ext cx="812800" cy="0"/>
              </a:xfrm>
              <a:prstGeom prst="line">
                <a:avLst/>
              </a:prstGeom>
              <a:ln w="44450" cap="flat" cmpd="sng">
                <a:solidFill>
                  <a:srgbClr val="0033CC"/>
                </a:solidFill>
                <a:prstDash val="solid"/>
                <a:headEnd type="none" w="med" len="med"/>
                <a:tailEnd type="none" w="med" len="med"/>
              </a:ln>
            </p:spPr>
          </p:cxnSp>
          <p:sp>
            <p:nvSpPr>
              <p:cNvPr id="26677" name="Text Box 15"/>
              <p:cNvSpPr txBox="1"/>
              <p:nvPr/>
            </p:nvSpPr>
            <p:spPr>
              <a:xfrm>
                <a:off x="500748" y="1632857"/>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6678" name="Text Box 15"/>
              <p:cNvSpPr txBox="1"/>
              <p:nvPr/>
            </p:nvSpPr>
            <p:spPr>
              <a:xfrm>
                <a:off x="1291777" y="0"/>
                <a:ext cx="2626858" cy="49859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主表：</a:t>
                </a:r>
                <a:r>
                  <a:rPr lang="zh-CN" altLang="en-US" sz="2400" dirty="0">
                    <a:latin typeface="楷体" panose="02010609060101010101" pitchFamily="49" charset="-122"/>
                    <a:ea typeface="楷体" panose="02010609060101010101" pitchFamily="49" charset="-122"/>
                  </a:rPr>
                  <a:t>作者</a:t>
                </a:r>
                <a:endParaRPr lang="zh-CN" altLang="en-US" sz="2400" dirty="0">
                  <a:latin typeface="楷体" panose="02010609060101010101" pitchFamily="49" charset="-122"/>
                  <a:ea typeface="楷体" panose="02010609060101010101" pitchFamily="49" charset="-122"/>
                </a:endParaRPr>
              </a:p>
            </p:txBody>
          </p:sp>
          <p:cxnSp>
            <p:nvCxnSpPr>
              <p:cNvPr id="26679" name="直接箭头连接符 11"/>
              <p:cNvCxnSpPr/>
              <p:nvPr/>
            </p:nvCxnSpPr>
            <p:spPr>
              <a:xfrm>
                <a:off x="921434" y="2618695"/>
                <a:ext cx="638629" cy="0"/>
              </a:xfrm>
              <a:prstGeom prst="straightConnector1">
                <a:avLst/>
              </a:prstGeom>
              <a:ln w="44450" cap="flat" cmpd="sng">
                <a:solidFill>
                  <a:srgbClr val="0033CC"/>
                </a:solidFill>
                <a:prstDash val="solid"/>
                <a:headEnd type="none" w="med" len="med"/>
                <a:tailEnd type="arrow" w="med" len="med"/>
              </a:ln>
            </p:spPr>
          </p:cxnSp>
          <p:sp>
            <p:nvSpPr>
              <p:cNvPr id="26680" name="Text Box 15"/>
              <p:cNvSpPr txBox="1"/>
              <p:nvPr/>
            </p:nvSpPr>
            <p:spPr>
              <a:xfrm>
                <a:off x="29033" y="2380343"/>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6681" name="Text Box 15"/>
              <p:cNvSpPr txBox="1"/>
              <p:nvPr/>
            </p:nvSpPr>
            <p:spPr>
              <a:xfrm>
                <a:off x="1458691" y="1748972"/>
                <a:ext cx="2626858" cy="49859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u="sng" dirty="0">
                    <a:solidFill>
                      <a:srgbClr val="0033CC"/>
                    </a:solidFill>
                    <a:latin typeface="楷体" panose="02010609060101010101" pitchFamily="49" charset="-122"/>
                    <a:ea typeface="楷体" panose="02010609060101010101" pitchFamily="49" charset="-122"/>
                  </a:rPr>
                  <a:t>主表：</a:t>
                </a:r>
                <a:r>
                  <a:rPr lang="zh-CN" altLang="en-US" sz="2400" dirty="0">
                    <a:latin typeface="楷体" panose="02010609060101010101" pitchFamily="49" charset="-122"/>
                    <a:ea typeface="楷体" panose="02010609060101010101" pitchFamily="49" charset="-122"/>
                  </a:rPr>
                  <a:t>图书</a:t>
                </a:r>
                <a:endParaRPr lang="zh-CN" altLang="en-US" sz="2400" dirty="0">
                  <a:latin typeface="楷体" panose="02010609060101010101" pitchFamily="49" charset="-122"/>
                  <a:ea typeface="楷体" panose="02010609060101010101" pitchFamily="49" charset="-122"/>
                </a:endParaRPr>
              </a:p>
            </p:txBody>
          </p:sp>
          <p:cxnSp>
            <p:nvCxnSpPr>
              <p:cNvPr id="26682" name="直接连接符 16"/>
              <p:cNvCxnSpPr/>
              <p:nvPr/>
            </p:nvCxnSpPr>
            <p:spPr>
              <a:xfrm rot="-10800000" flipV="1">
                <a:off x="1531037" y="3700008"/>
                <a:ext cx="1516741" cy="7258"/>
              </a:xfrm>
              <a:prstGeom prst="line">
                <a:avLst/>
              </a:prstGeom>
              <a:ln w="44450" cap="flat" cmpd="sng">
                <a:solidFill>
                  <a:srgbClr val="0033CC"/>
                </a:solidFill>
                <a:prstDash val="solid"/>
                <a:headEnd type="none" w="med" len="med"/>
                <a:tailEnd type="none" w="med" len="med"/>
              </a:ln>
            </p:spPr>
          </p:cxnSp>
          <p:cxnSp>
            <p:nvCxnSpPr>
              <p:cNvPr id="26683" name="直接箭头连接符 19"/>
              <p:cNvCxnSpPr/>
              <p:nvPr/>
            </p:nvCxnSpPr>
            <p:spPr>
              <a:xfrm>
                <a:off x="827091" y="3714524"/>
                <a:ext cx="638629" cy="0"/>
              </a:xfrm>
              <a:prstGeom prst="straightConnector1">
                <a:avLst/>
              </a:prstGeom>
              <a:ln w="44450" cap="flat" cmpd="sng">
                <a:solidFill>
                  <a:srgbClr val="0033CC"/>
                </a:solidFill>
                <a:prstDash val="solid"/>
                <a:headEnd type="none" w="med" len="med"/>
                <a:tailEnd type="arrow" w="med" len="med"/>
              </a:ln>
            </p:spPr>
          </p:cxnSp>
          <p:sp>
            <p:nvSpPr>
              <p:cNvPr id="26684" name="Text Box 15"/>
              <p:cNvSpPr txBox="1"/>
              <p:nvPr/>
            </p:nvSpPr>
            <p:spPr>
              <a:xfrm>
                <a:off x="0" y="3425371"/>
                <a:ext cx="1095601" cy="44896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FF0000"/>
                    </a:solidFill>
                    <a:latin typeface="楷体" panose="02010609060101010101" pitchFamily="49" charset="-122"/>
                    <a:ea typeface="楷体" panose="02010609060101010101" pitchFamily="49" charset="-122"/>
                  </a:rPr>
                  <a:t>主键</a:t>
                </a:r>
                <a:endParaRPr lang="zh-CN" altLang="en-US" sz="2400" dirty="0">
                  <a:solidFill>
                    <a:srgbClr val="FF0000"/>
                  </a:solidFill>
                  <a:latin typeface="楷体" panose="02010609060101010101" pitchFamily="49" charset="-122"/>
                  <a:ea typeface="楷体" panose="02010609060101010101" pitchFamily="49" charset="-122"/>
                </a:endParaRPr>
              </a:p>
            </p:txBody>
          </p:sp>
          <p:sp>
            <p:nvSpPr>
              <p:cNvPr id="23613" name="任意多边形 25"/>
              <p:cNvSpPr/>
              <p:nvPr/>
            </p:nvSpPr>
            <p:spPr>
              <a:xfrm>
                <a:off x="1192016" y="1087377"/>
                <a:ext cx="811078" cy="2931946"/>
              </a:xfrm>
              <a:custGeom>
                <a:avLst/>
                <a:gdLst>
                  <a:gd name="txL" fmla="*/ 0 w 810381"/>
                  <a:gd name="txT" fmla="*/ 0 h 2931886"/>
                  <a:gd name="txR" fmla="*/ 810381 w 810381"/>
                  <a:gd name="txB" fmla="*/ 2931886 h 2931886"/>
                </a:gdLst>
                <a:ahLst/>
                <a:cxnLst>
                  <a:cxn ang="0">
                    <a:pos x="811078" y="2931946"/>
                  </a:cxn>
                  <a:cxn ang="0">
                    <a:pos x="346222" y="2293303"/>
                  </a:cxn>
                  <a:cxn ang="0">
                    <a:pos x="12105" y="1422429"/>
                  </a:cxn>
                  <a:cxn ang="0">
                    <a:pos x="273587" y="624127"/>
                  </a:cxn>
                  <a:cxn ang="0">
                    <a:pos x="549596" y="0"/>
                  </a:cxn>
                  <a:cxn ang="0">
                    <a:pos x="549596" y="0"/>
                  </a:cxn>
                  <a:cxn ang="0">
                    <a:pos x="549596" y="0"/>
                  </a:cxn>
                  <a:cxn ang="0">
                    <a:pos x="549596" y="0"/>
                  </a:cxn>
                </a:cxnLst>
                <a:rect l="txL" t="txT" r="txR" b="txB"/>
                <a:pathLst>
                  <a:path w="810381" h="2931886">
                    <a:moveTo>
                      <a:pt x="810381" y="2931886"/>
                    </a:moveTo>
                    <a:cubicBezTo>
                      <a:pt x="644676" y="2738362"/>
                      <a:pt x="478972" y="2544838"/>
                      <a:pt x="345924" y="2293257"/>
                    </a:cubicBezTo>
                    <a:cubicBezTo>
                      <a:pt x="212876" y="2041676"/>
                      <a:pt x="24190" y="1700590"/>
                      <a:pt x="12095" y="1422400"/>
                    </a:cubicBezTo>
                    <a:cubicBezTo>
                      <a:pt x="0" y="1144210"/>
                      <a:pt x="183847" y="861181"/>
                      <a:pt x="273352" y="624114"/>
                    </a:cubicBezTo>
                    <a:cubicBezTo>
                      <a:pt x="362857" y="387047"/>
                      <a:pt x="549124" y="0"/>
                      <a:pt x="549124" y="0"/>
                    </a:cubicBezTo>
                    <a:lnTo>
                      <a:pt x="549124" y="0"/>
                    </a:lnTo>
                    <a:lnTo>
                      <a:pt x="549124" y="0"/>
                    </a:lnTo>
                    <a:lnTo>
                      <a:pt x="549124" y="0"/>
                    </a:lnTo>
                  </a:path>
                </a:pathLst>
              </a:custGeom>
              <a:noFill/>
              <a:ln w="9525">
                <a:noFill/>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2"/>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cxnSp>
            <p:nvCxnSpPr>
              <p:cNvPr id="26686" name="直接箭头连接符 30"/>
              <p:cNvCxnSpPr/>
              <p:nvPr/>
            </p:nvCxnSpPr>
            <p:spPr>
              <a:xfrm rot="10800000">
                <a:off x="2046292" y="2684009"/>
                <a:ext cx="841828" cy="769256"/>
              </a:xfrm>
              <a:prstGeom prst="straightConnector1">
                <a:avLst/>
              </a:prstGeom>
              <a:ln w="31750" cap="flat" cmpd="sng">
                <a:solidFill>
                  <a:srgbClr val="0033CC"/>
                </a:solidFill>
                <a:prstDash val="solid"/>
                <a:headEnd type="none" w="med" len="med"/>
                <a:tailEnd type="arrow" w="med" len="med"/>
              </a:ln>
            </p:spPr>
          </p:cxnSp>
        </p:grpSp>
      </p:grpSp>
      <p:sp>
        <p:nvSpPr>
          <p:cNvPr id="23617" name="Text Box 7"/>
          <p:cNvSpPr txBox="1"/>
          <p:nvPr/>
        </p:nvSpPr>
        <p:spPr>
          <a:xfrm>
            <a:off x="588963" y="5394325"/>
            <a:ext cx="8262937"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buClrTx/>
              <a:buSzTx/>
              <a:buFont typeface="Arial" panose="020B0604020202020204" pitchFamily="34" charset="0"/>
              <a:buNone/>
            </a:pPr>
            <a:r>
              <a:rPr lang="zh-CN" altLang="en-US" sz="2400" u="sng" dirty="0">
                <a:solidFill>
                  <a:srgbClr val="FF0000"/>
                </a:solidFill>
                <a:latin typeface="宋体" panose="02010600030101010101" pitchFamily="2" charset="-122"/>
              </a:rPr>
              <a:t>例</a:t>
            </a:r>
            <a:r>
              <a:rPr lang="en-US" altLang="zh-CN" sz="2400" u="sng" dirty="0">
                <a:solidFill>
                  <a:srgbClr val="FF0000"/>
                </a:solidFill>
                <a:latin typeface="宋体" panose="02010600030101010101" pitchFamily="2" charset="-122"/>
              </a:rPr>
              <a:t>4</a:t>
            </a:r>
            <a:r>
              <a:rPr lang="zh-CN" altLang="en-US" sz="2400" u="sng" dirty="0">
                <a:solidFill>
                  <a:srgbClr val="FF0000"/>
                </a:solidFill>
                <a:latin typeface="宋体" panose="02010600030101010101" pitchFamily="2" charset="-122"/>
              </a:rPr>
              <a:t>：</a:t>
            </a:r>
            <a:r>
              <a:rPr lang="zh-CN" altLang="en-US" sz="2200" dirty="0">
                <a:solidFill>
                  <a:srgbClr val="0033CC"/>
                </a:solidFill>
                <a:latin typeface="宋体" panose="02010600030101010101" pitchFamily="2" charset="-122"/>
              </a:rPr>
              <a:t>有关系模式：职工（</a:t>
            </a:r>
            <a:r>
              <a:rPr lang="zh-CN" altLang="en-US" sz="2200" u="sng" dirty="0">
                <a:solidFill>
                  <a:srgbClr val="FF0000"/>
                </a:solidFill>
                <a:latin typeface="宋体" panose="02010600030101010101" pitchFamily="2" charset="-122"/>
              </a:rPr>
              <a:t>职工号</a:t>
            </a:r>
            <a:r>
              <a:rPr lang="zh-CN" altLang="en-US" sz="2200" dirty="0">
                <a:solidFill>
                  <a:srgbClr val="0033CC"/>
                </a:solidFill>
                <a:latin typeface="宋体" panose="02010600030101010101" pitchFamily="2" charset="-122"/>
              </a:rPr>
              <a:t>，</a:t>
            </a:r>
            <a:r>
              <a:rPr lang="zh-CN" altLang="en-US" sz="2200" dirty="0">
                <a:latin typeface="宋体" panose="02010600030101010101" pitchFamily="2" charset="-122"/>
              </a:rPr>
              <a:t>姓名，性别，</a:t>
            </a:r>
            <a:r>
              <a:rPr lang="zh-CN" altLang="en-US" sz="2200" i="1" dirty="0">
                <a:solidFill>
                  <a:srgbClr val="0033CC"/>
                </a:solidFill>
                <a:latin typeface="宋体" panose="02010600030101010101" pitchFamily="2" charset="-122"/>
              </a:rPr>
              <a:t>直接领导职工号</a:t>
            </a:r>
            <a:r>
              <a:rPr lang="zh-CN" altLang="en-US" sz="2200" dirty="0">
                <a:solidFill>
                  <a:srgbClr val="0033CC"/>
                </a:solidFill>
                <a:latin typeface="宋体" panose="02010600030101010101" pitchFamily="2" charset="-122"/>
              </a:rPr>
              <a:t>）</a:t>
            </a:r>
            <a:endParaRPr lang="zh-CN" altLang="en-US" sz="2200" dirty="0">
              <a:solidFill>
                <a:srgbClr val="FF0000"/>
              </a:solidFill>
              <a:latin typeface="宋体" panose="02010600030101010101" pitchFamily="2" charset="-122"/>
            </a:endParaRPr>
          </a:p>
        </p:txBody>
      </p:sp>
      <p:sp>
        <p:nvSpPr>
          <p:cNvPr id="26672"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additive="base">
                                        <p:cTn id="7" dur="500" fill="hold"/>
                                        <p:tgtEl>
                                          <p:spTgt spid="23557"/>
                                        </p:tgtEl>
                                        <p:attrNameLst>
                                          <p:attrName>ppt_x</p:attrName>
                                        </p:attrNameLst>
                                      </p:cBhvr>
                                      <p:tavLst>
                                        <p:tav tm="0">
                                          <p:val>
                                            <p:strVal val="#ppt_x"/>
                                          </p:val>
                                        </p:tav>
                                        <p:tav tm="100000">
                                          <p:val>
                                            <p:strVal val="#ppt_x"/>
                                          </p:val>
                                        </p:tav>
                                      </p:tavLst>
                                    </p:anim>
                                    <p:anim calcmode="lin" valueType="num">
                                      <p:cBhvr additive="base">
                                        <p:cTn id="8" dur="500" fill="hold"/>
                                        <p:tgtEl>
                                          <p:spTgt spid="2355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71"/>
                                        </p:tgtEl>
                                        <p:attrNameLst>
                                          <p:attrName>style.visibility</p:attrName>
                                        </p:attrNameLst>
                                      </p:cBhvr>
                                      <p:to>
                                        <p:strVal val="visible"/>
                                      </p:to>
                                    </p:set>
                                    <p:anim calcmode="lin" valueType="num">
                                      <p:cBhvr additive="base">
                                        <p:cTn id="11" dur="500" fill="hold"/>
                                        <p:tgtEl>
                                          <p:spTgt spid="23571"/>
                                        </p:tgtEl>
                                        <p:attrNameLst>
                                          <p:attrName>ppt_x</p:attrName>
                                        </p:attrNameLst>
                                      </p:cBhvr>
                                      <p:tavLst>
                                        <p:tav tm="0">
                                          <p:val>
                                            <p:strVal val="#ppt_x"/>
                                          </p:val>
                                        </p:tav>
                                        <p:tav tm="100000">
                                          <p:val>
                                            <p:strVal val="#ppt_x"/>
                                          </p:val>
                                        </p:tav>
                                      </p:tavLst>
                                    </p:anim>
                                    <p:anim calcmode="lin" valueType="num">
                                      <p:cBhvr additive="base">
                                        <p:cTn id="12" dur="500" fill="hold"/>
                                        <p:tgtEl>
                                          <p:spTgt spid="2357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85"/>
                                        </p:tgtEl>
                                        <p:attrNameLst>
                                          <p:attrName>style.visibility</p:attrName>
                                        </p:attrNameLst>
                                      </p:cBhvr>
                                      <p:to>
                                        <p:strVal val="visible"/>
                                      </p:to>
                                    </p:set>
                                    <p:anim calcmode="lin" valueType="num">
                                      <p:cBhvr additive="base">
                                        <p:cTn id="15" dur="500" fill="hold"/>
                                        <p:tgtEl>
                                          <p:spTgt spid="23585"/>
                                        </p:tgtEl>
                                        <p:attrNameLst>
                                          <p:attrName>ppt_x</p:attrName>
                                        </p:attrNameLst>
                                      </p:cBhvr>
                                      <p:tavLst>
                                        <p:tav tm="0">
                                          <p:val>
                                            <p:strVal val="#ppt_x"/>
                                          </p:val>
                                        </p:tav>
                                        <p:tav tm="100000">
                                          <p:val>
                                            <p:strVal val="#ppt_x"/>
                                          </p:val>
                                        </p:tav>
                                      </p:tavLst>
                                    </p:anim>
                                    <p:anim calcmode="lin" valueType="num">
                                      <p:cBhvr additive="base">
                                        <p:cTn id="16" dur="500" fill="hold"/>
                                        <p:tgtEl>
                                          <p:spTgt spid="2358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3600"/>
                                        </p:tgtEl>
                                        <p:attrNameLst>
                                          <p:attrName>style.visibility</p:attrName>
                                        </p:attrNameLst>
                                      </p:cBhvr>
                                      <p:to>
                                        <p:strVal val="visible"/>
                                      </p:to>
                                    </p:set>
                                    <p:anim calcmode="lin" valueType="num">
                                      <p:cBhvr additive="base">
                                        <p:cTn id="21" dur="500" fill="hold"/>
                                        <p:tgtEl>
                                          <p:spTgt spid="23600"/>
                                        </p:tgtEl>
                                        <p:attrNameLst>
                                          <p:attrName>ppt_x</p:attrName>
                                        </p:attrNameLst>
                                      </p:cBhvr>
                                      <p:tavLst>
                                        <p:tav tm="0">
                                          <p:val>
                                            <p:strVal val="#ppt_x"/>
                                          </p:val>
                                        </p:tav>
                                        <p:tav tm="100000">
                                          <p:val>
                                            <p:strVal val="#ppt_x"/>
                                          </p:val>
                                        </p:tav>
                                      </p:tavLst>
                                    </p:anim>
                                    <p:anim calcmode="lin" valueType="num">
                                      <p:cBhvr additive="base">
                                        <p:cTn id="22" dur="500" fill="hold"/>
                                        <p:tgtEl>
                                          <p:spTgt spid="23600"/>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3617">
                                            <p:txEl>
                                              <p:charRg st="0" end="31"/>
                                            </p:txEl>
                                          </p:spTgt>
                                        </p:tgtEl>
                                        <p:attrNameLst>
                                          <p:attrName>style.visibility</p:attrName>
                                        </p:attrNameLst>
                                      </p:cBhvr>
                                      <p:to>
                                        <p:strVal val="visible"/>
                                      </p:to>
                                    </p:set>
                                    <p:anim calcmode="lin" valueType="num">
                                      <p:cBhvr additive="base">
                                        <p:cTn id="27" dur="500" fill="hold"/>
                                        <p:tgtEl>
                                          <p:spTgt spid="23617">
                                            <p:txEl>
                                              <p:charRg st="0" end="3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3617">
                                            <p:txEl>
                                              <p:charRg st="0" end="3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17"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ext Box 4"/>
          <p:cNvSpPr txBox="1"/>
          <p:nvPr/>
        </p:nvSpPr>
        <p:spPr>
          <a:xfrm>
            <a:off x="376238" y="1012825"/>
            <a:ext cx="8034337" cy="461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solidFill>
                  <a:srgbClr val="CC3300"/>
                </a:solidFill>
                <a:latin typeface="宋体" panose="02010600030101010101" pitchFamily="2" charset="-122"/>
              </a:rPr>
              <a:t>   </a:t>
            </a:r>
            <a:r>
              <a:rPr lang="zh-CN" altLang="en-US" sz="2400" dirty="0">
                <a:latin typeface="宋体" panose="02010600030101010101" pitchFamily="2" charset="-122"/>
              </a:rPr>
              <a:t>两个通过外键联系的表的三种操作对完整性的影响：</a:t>
            </a:r>
            <a:endParaRPr lang="zh-CN" altLang="en-US" sz="2400" dirty="0">
              <a:latin typeface="宋体" panose="02010600030101010101" pitchFamily="2" charset="-122"/>
            </a:endParaRPr>
          </a:p>
        </p:txBody>
      </p:sp>
      <p:grpSp>
        <p:nvGrpSpPr>
          <p:cNvPr id="24579" name="组合 24578"/>
          <p:cNvGrpSpPr/>
          <p:nvPr/>
        </p:nvGrpSpPr>
        <p:grpSpPr>
          <a:xfrm>
            <a:off x="457200" y="1636713"/>
            <a:ext cx="8193088" cy="3846512"/>
            <a:chOff x="0" y="0"/>
            <a:chExt cx="12902" cy="6057"/>
          </a:xfrm>
        </p:grpSpPr>
        <p:sp>
          <p:nvSpPr>
            <p:cNvPr id="27653" name="Text Box 5"/>
            <p:cNvSpPr txBox="1"/>
            <p:nvPr/>
          </p:nvSpPr>
          <p:spPr>
            <a:xfrm>
              <a:off x="0" y="873"/>
              <a:ext cx="12652"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宋体" panose="02010600030101010101" pitchFamily="2" charset="-122"/>
                </a:rPr>
                <a:t>    </a:t>
              </a:r>
              <a:r>
                <a:rPr lang="zh-CN" altLang="en-US" sz="2400" dirty="0">
                  <a:solidFill>
                    <a:srgbClr val="FF3300"/>
                  </a:solidFill>
                  <a:latin typeface="宋体" panose="02010600030101010101" pitchFamily="2" charset="-122"/>
                </a:rPr>
                <a:t>★ </a:t>
              </a:r>
              <a:r>
                <a:rPr lang="zh-CN" altLang="en-US" sz="2400" u="sng" dirty="0">
                  <a:solidFill>
                    <a:srgbClr val="0000FF"/>
                  </a:solidFill>
                  <a:latin typeface="宋体" panose="02010600030101010101" pitchFamily="2" charset="-122"/>
                </a:rPr>
                <a:t>插入：</a:t>
              </a:r>
              <a:r>
                <a:rPr lang="zh-CN" altLang="en-US" sz="2200" dirty="0">
                  <a:latin typeface="宋体" panose="02010600030101010101" pitchFamily="2" charset="-122"/>
                </a:rPr>
                <a:t>要求插入值满足主键限制即可，不影响其它表。</a:t>
              </a:r>
              <a:endParaRPr lang="zh-CN" altLang="en-US" sz="2200" dirty="0">
                <a:latin typeface="宋体" panose="02010600030101010101" pitchFamily="2" charset="-122"/>
              </a:endParaRPr>
            </a:p>
          </p:txBody>
        </p:sp>
        <p:sp>
          <p:nvSpPr>
            <p:cNvPr id="27654" name="Text Box 6"/>
            <p:cNvSpPr txBox="1"/>
            <p:nvPr/>
          </p:nvSpPr>
          <p:spPr>
            <a:xfrm>
              <a:off x="145" y="1753"/>
              <a:ext cx="12652" cy="205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latin typeface="宋体" panose="02010600030101010101" pitchFamily="2" charset="-122"/>
                </a:rPr>
                <a:t>   </a:t>
              </a:r>
              <a:r>
                <a:rPr lang="zh-CN" altLang="en-US" sz="2400" dirty="0">
                  <a:solidFill>
                    <a:srgbClr val="FF3300"/>
                  </a:solidFill>
                  <a:latin typeface="宋体" panose="02010600030101010101" pitchFamily="2" charset="-122"/>
                </a:rPr>
                <a:t>★ </a:t>
              </a:r>
              <a:r>
                <a:rPr lang="zh-CN" altLang="en-US" sz="2400" u="sng" dirty="0">
                  <a:solidFill>
                    <a:srgbClr val="0000FF"/>
                  </a:solidFill>
                  <a:latin typeface="宋体" panose="02010600030101010101" pitchFamily="2" charset="-122"/>
                </a:rPr>
                <a:t>修改：</a:t>
              </a:r>
              <a:r>
                <a:rPr lang="zh-CN" altLang="en-US" sz="2100" dirty="0">
                  <a:latin typeface="宋体" panose="02010600030101010101" pitchFamily="2" charset="-122"/>
                </a:rPr>
                <a:t>可能会影响与该主键相关的从表的外键值。当相应的外键值存在时，有两个策略可用：一是改变对应从表的所有外键值，使之与主键一致；其二是不允许修改主表中的主键值。</a:t>
              </a:r>
              <a:endParaRPr lang="zh-CN" altLang="en-US" sz="2100" dirty="0">
                <a:latin typeface="宋体" panose="02010600030101010101" pitchFamily="2" charset="-122"/>
              </a:endParaRPr>
            </a:p>
          </p:txBody>
        </p:sp>
        <p:sp>
          <p:nvSpPr>
            <p:cNvPr id="27655" name="Text Box 7"/>
            <p:cNvSpPr txBox="1"/>
            <p:nvPr/>
          </p:nvSpPr>
          <p:spPr>
            <a:xfrm>
              <a:off x="325" y="0"/>
              <a:ext cx="6772"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400" dirty="0">
                  <a:solidFill>
                    <a:srgbClr val="0000FF"/>
                  </a:solidFill>
                  <a:latin typeface="宋体" panose="02010600030101010101" pitchFamily="2" charset="-122"/>
                </a:rPr>
                <a:t>① </a:t>
              </a:r>
              <a:r>
                <a:rPr lang="zh-CN" altLang="en-US" sz="2400" u="sng" dirty="0">
                  <a:solidFill>
                    <a:srgbClr val="0000FF"/>
                  </a:solidFill>
                  <a:latin typeface="宋体" panose="02010600030101010101" pitchFamily="2" charset="-122"/>
                </a:rPr>
                <a:t>对主表中的主键做操作</a:t>
              </a:r>
              <a:endParaRPr lang="zh-CN" altLang="en-US" sz="2400" u="sng" dirty="0">
                <a:solidFill>
                  <a:srgbClr val="0000FF"/>
                </a:solidFill>
                <a:latin typeface="宋体" panose="02010600030101010101" pitchFamily="2" charset="-122"/>
              </a:endParaRPr>
            </a:p>
          </p:txBody>
        </p:sp>
        <p:sp>
          <p:nvSpPr>
            <p:cNvPr id="27656" name="Text Box 8"/>
            <p:cNvSpPr txBox="1"/>
            <p:nvPr/>
          </p:nvSpPr>
          <p:spPr>
            <a:xfrm>
              <a:off x="250" y="3945"/>
              <a:ext cx="12652" cy="2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50000"/>
                </a:spcBef>
                <a:buClrTx/>
                <a:buSzTx/>
                <a:buFont typeface="Arial" panose="020B0604020202020204" pitchFamily="34" charset="0"/>
                <a:buNone/>
              </a:pPr>
              <a:r>
                <a:rPr lang="zh-CN" altLang="en-US" dirty="0">
                  <a:latin typeface="宋体" panose="02010600030101010101" pitchFamily="2" charset="-122"/>
                </a:rPr>
                <a:t>   </a:t>
              </a:r>
              <a:r>
                <a:rPr lang="zh-CN" altLang="en-US" sz="2400" dirty="0">
                  <a:solidFill>
                    <a:srgbClr val="FF3300"/>
                  </a:solidFill>
                  <a:latin typeface="宋体" panose="02010600030101010101" pitchFamily="2" charset="-122"/>
                </a:rPr>
                <a:t>★ </a:t>
              </a:r>
              <a:r>
                <a:rPr lang="zh-CN" altLang="en-US" sz="2400" u="sng" dirty="0">
                  <a:solidFill>
                    <a:srgbClr val="0000FF"/>
                  </a:solidFill>
                  <a:latin typeface="宋体" panose="02010600030101010101" pitchFamily="2" charset="-122"/>
                </a:rPr>
                <a:t>删除：</a:t>
              </a:r>
              <a:r>
                <a:rPr lang="zh-CN" altLang="en-US" sz="2200" dirty="0">
                  <a:latin typeface="宋体" panose="02010600030101010101" pitchFamily="2" charset="-122"/>
                </a:rPr>
                <a:t>可能会影响与该主键相关的从表的外键值。若相应的外键值存在时，策略有二：一是不允许删除主表的主键值；二是级联删除从表中相应外键值所在的行。</a:t>
              </a:r>
              <a:endParaRPr lang="zh-CN" altLang="en-US" sz="2200" dirty="0">
                <a:latin typeface="宋体" panose="02010600030101010101" pitchFamily="2" charset="-122"/>
              </a:endParaRPr>
            </a:p>
          </p:txBody>
        </p:sp>
      </p:grpSp>
      <p:sp>
        <p:nvSpPr>
          <p:cNvPr id="27652"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5603" name="表格 25602"/>
          <p:cNvGraphicFramePr/>
          <p:nvPr/>
        </p:nvGraphicFramePr>
        <p:xfrm>
          <a:off x="611188" y="1717675"/>
          <a:ext cx="3810000" cy="1363663"/>
        </p:xfrm>
        <a:graphic>
          <a:graphicData uri="http://schemas.openxmlformats.org/drawingml/2006/table">
            <a:tbl>
              <a:tblPr/>
              <a:tblGrid>
                <a:gridCol w="952500"/>
                <a:gridCol w="1068388"/>
                <a:gridCol w="873125"/>
                <a:gridCol w="915987"/>
              </a:tblGrid>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u="sng">
                          <a:solidFill>
                            <a:srgbClr val="660066"/>
                          </a:solidFill>
                        </a:rPr>
                        <a:t>学号</a:t>
                      </a:r>
                      <a:endParaRPr lang="zh-CN" altLang="en-US" u="sng">
                        <a:solidFill>
                          <a:srgbClr val="660066"/>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660066"/>
                          </a:solidFill>
                        </a:rPr>
                        <a:t>班号</a:t>
                      </a:r>
                      <a:endParaRPr lang="zh-CN" altLang="en-US" b="0">
                        <a:solidFill>
                          <a:srgbClr val="660066"/>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223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5621" name="Line 22"/>
          <p:cNvSpPr/>
          <p:nvPr/>
        </p:nvSpPr>
        <p:spPr>
          <a:xfrm flipH="1">
            <a:off x="5076825" y="2336800"/>
            <a:ext cx="1655763" cy="1368425"/>
          </a:xfrm>
          <a:prstGeom prst="line">
            <a:avLst/>
          </a:prstGeom>
          <a:ln w="25400" cap="flat" cmpd="sng">
            <a:solidFill>
              <a:srgbClr val="000099"/>
            </a:solidFill>
            <a:prstDash val="solid"/>
            <a:headEnd type="none" w="med" len="med"/>
            <a:tailEnd type="triangle" w="med" len="med"/>
          </a:ln>
        </p:spPr>
      </p:sp>
      <p:graphicFrame>
        <p:nvGraphicFramePr>
          <p:cNvPr id="25622" name="表格 25621"/>
          <p:cNvGraphicFramePr/>
          <p:nvPr/>
        </p:nvGraphicFramePr>
        <p:xfrm>
          <a:off x="4284663" y="3632200"/>
          <a:ext cx="3800475" cy="1960563"/>
        </p:xfrm>
        <a:graphic>
          <a:graphicData uri="http://schemas.openxmlformats.org/drawingml/2006/table">
            <a:tbl>
              <a:tblPr/>
              <a:tblGrid>
                <a:gridCol w="1320800"/>
                <a:gridCol w="1057275"/>
                <a:gridCol w="906463"/>
                <a:gridCol w="515937"/>
              </a:tblGrid>
              <a:tr h="5222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a:solidFill>
                            <a:srgbClr val="660066"/>
                          </a:solidFill>
                        </a:rPr>
                        <a:t>班号</a:t>
                      </a:r>
                      <a:endParaRPr lang="zh-CN" altLang="en-US" sz="2000" u="sng">
                        <a:solidFill>
                          <a:srgbClr val="660066"/>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159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计算机200001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7223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计10班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45</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5645" name="Line 46"/>
          <p:cNvSpPr/>
          <p:nvPr/>
        </p:nvSpPr>
        <p:spPr>
          <a:xfrm flipH="1" flipV="1">
            <a:off x="4211638" y="1862138"/>
            <a:ext cx="2520950" cy="73025"/>
          </a:xfrm>
          <a:prstGeom prst="line">
            <a:avLst/>
          </a:prstGeom>
          <a:ln w="25400" cap="flat" cmpd="sng">
            <a:solidFill>
              <a:srgbClr val="000099"/>
            </a:solidFill>
            <a:prstDash val="solid"/>
            <a:headEnd type="none" w="med" len="med"/>
            <a:tailEnd type="triangle" w="med" len="med"/>
          </a:ln>
        </p:spPr>
      </p:sp>
      <p:sp>
        <p:nvSpPr>
          <p:cNvPr id="28717" name="Text Box 47"/>
          <p:cNvSpPr txBox="1"/>
          <p:nvPr/>
        </p:nvSpPr>
        <p:spPr>
          <a:xfrm>
            <a:off x="1281113" y="1050925"/>
            <a:ext cx="2611437"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（从表）</a:t>
            </a:r>
            <a:endParaRPr lang="zh-CN" altLang="en-US" sz="2400" dirty="0">
              <a:solidFill>
                <a:srgbClr val="0000CC"/>
              </a:solidFill>
              <a:latin typeface="宋体" panose="02010600030101010101" pitchFamily="2" charset="-122"/>
            </a:endParaRPr>
          </a:p>
        </p:txBody>
      </p:sp>
      <p:sp>
        <p:nvSpPr>
          <p:cNvPr id="28718" name="Text Box 48"/>
          <p:cNvSpPr txBox="1"/>
          <p:nvPr/>
        </p:nvSpPr>
        <p:spPr>
          <a:xfrm>
            <a:off x="5580063" y="3055938"/>
            <a:ext cx="2665412"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班级表（主表）</a:t>
            </a:r>
            <a:endParaRPr lang="zh-CN" altLang="en-US" sz="2400" dirty="0">
              <a:solidFill>
                <a:srgbClr val="0000CC"/>
              </a:solidFill>
              <a:latin typeface="宋体" panose="02010600030101010101" pitchFamily="2" charset="-122"/>
            </a:endParaRPr>
          </a:p>
        </p:txBody>
      </p:sp>
      <p:grpSp>
        <p:nvGrpSpPr>
          <p:cNvPr id="25648" name="Group 49"/>
          <p:cNvGrpSpPr/>
          <p:nvPr/>
        </p:nvGrpSpPr>
        <p:grpSpPr>
          <a:xfrm>
            <a:off x="5940425" y="1400175"/>
            <a:ext cx="2447925" cy="1222375"/>
            <a:chOff x="0" y="0"/>
            <a:chExt cx="1542" cy="770"/>
          </a:xfrm>
        </p:grpSpPr>
        <p:sp>
          <p:nvSpPr>
            <p:cNvPr id="28735" name="Oval 50"/>
            <p:cNvSpPr/>
            <p:nvPr/>
          </p:nvSpPr>
          <p:spPr>
            <a:xfrm>
              <a:off x="0" y="45"/>
              <a:ext cx="1542" cy="725"/>
            </a:xfrm>
            <a:prstGeom prst="ellipse">
              <a:avLst/>
            </a:prstGeom>
            <a:solidFill>
              <a:srgbClr val="CCFFFF">
                <a:alpha val="36862"/>
              </a:srgbClr>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28736" name="Text Box 51"/>
            <p:cNvSpPr txBox="1"/>
            <p:nvPr/>
          </p:nvSpPr>
          <p:spPr>
            <a:xfrm>
              <a:off x="453" y="0"/>
              <a:ext cx="576"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外键</a:t>
              </a:r>
              <a:endParaRPr lang="zh-CN" altLang="en-US" sz="2800" dirty="0">
                <a:solidFill>
                  <a:srgbClr val="CC3300"/>
                </a:solidFill>
                <a:latin typeface="宋体" panose="02010600030101010101" pitchFamily="2" charset="-122"/>
              </a:endParaRPr>
            </a:p>
          </p:txBody>
        </p:sp>
        <p:sp>
          <p:nvSpPr>
            <p:cNvPr id="28737" name="Text Box 52"/>
            <p:cNvSpPr txBox="1"/>
            <p:nvPr/>
          </p:nvSpPr>
          <p:spPr>
            <a:xfrm>
              <a:off x="499" y="318"/>
              <a:ext cx="635"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主键</a:t>
              </a:r>
              <a:endParaRPr lang="de-DE" altLang="en-US" sz="2800" dirty="0">
                <a:latin typeface="宋体" panose="02010600030101010101" pitchFamily="2" charset="-122"/>
              </a:endParaRPr>
            </a:p>
          </p:txBody>
        </p:sp>
      </p:grpSp>
      <p:grpSp>
        <p:nvGrpSpPr>
          <p:cNvPr id="25652" name="Group 53"/>
          <p:cNvGrpSpPr/>
          <p:nvPr/>
        </p:nvGrpSpPr>
        <p:grpSpPr>
          <a:xfrm>
            <a:off x="7681913" y="4565650"/>
            <a:ext cx="1190625" cy="863600"/>
            <a:chOff x="0" y="0"/>
            <a:chExt cx="750" cy="544"/>
          </a:xfrm>
        </p:grpSpPr>
        <p:sp>
          <p:nvSpPr>
            <p:cNvPr id="28733" name="Line 54"/>
            <p:cNvSpPr/>
            <p:nvPr/>
          </p:nvSpPr>
          <p:spPr>
            <a:xfrm flipH="1">
              <a:off x="0" y="227"/>
              <a:ext cx="523" cy="317"/>
            </a:xfrm>
            <a:prstGeom prst="line">
              <a:avLst/>
            </a:prstGeom>
            <a:ln w="38100" cap="flat" cmpd="sng">
              <a:solidFill>
                <a:srgbClr val="C7050E"/>
              </a:solidFill>
              <a:prstDash val="dash"/>
              <a:headEnd type="none" w="med" len="med"/>
              <a:tailEnd type="triangle" w="med" len="med"/>
            </a:ln>
          </p:spPr>
        </p:sp>
        <p:sp>
          <p:nvSpPr>
            <p:cNvPr id="28734" name="Rectangle 55"/>
            <p:cNvSpPr/>
            <p:nvPr/>
          </p:nvSpPr>
          <p:spPr>
            <a:xfrm>
              <a:off x="160" y="0"/>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插入</a:t>
              </a:r>
              <a:endParaRPr lang="zh-CN" altLang="en-US" sz="2400" dirty="0">
                <a:latin typeface="宋体" panose="02010600030101010101" pitchFamily="2" charset="-122"/>
              </a:endParaRPr>
            </a:p>
          </p:txBody>
        </p:sp>
      </p:grpSp>
      <p:grpSp>
        <p:nvGrpSpPr>
          <p:cNvPr id="25655" name="Group 56"/>
          <p:cNvGrpSpPr/>
          <p:nvPr/>
        </p:nvGrpSpPr>
        <p:grpSpPr>
          <a:xfrm>
            <a:off x="2484438" y="4784725"/>
            <a:ext cx="1943100" cy="909638"/>
            <a:chOff x="0" y="0"/>
            <a:chExt cx="1224" cy="573"/>
          </a:xfrm>
        </p:grpSpPr>
        <p:sp>
          <p:nvSpPr>
            <p:cNvPr id="28731" name="Line 57"/>
            <p:cNvSpPr/>
            <p:nvPr/>
          </p:nvSpPr>
          <p:spPr>
            <a:xfrm flipV="1">
              <a:off x="499" y="0"/>
              <a:ext cx="725" cy="363"/>
            </a:xfrm>
            <a:prstGeom prst="line">
              <a:avLst/>
            </a:prstGeom>
            <a:ln w="38100" cap="flat" cmpd="sng">
              <a:solidFill>
                <a:srgbClr val="C7050E"/>
              </a:solidFill>
              <a:prstDash val="dash"/>
              <a:headEnd type="none" w="med" len="med"/>
              <a:tailEnd type="triangle" w="med" len="med"/>
            </a:ln>
          </p:spPr>
        </p:sp>
        <p:sp>
          <p:nvSpPr>
            <p:cNvPr id="28732" name="Rectangle 58"/>
            <p:cNvSpPr/>
            <p:nvPr/>
          </p:nvSpPr>
          <p:spPr>
            <a:xfrm>
              <a:off x="0" y="346"/>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删除</a:t>
              </a:r>
              <a:endParaRPr lang="zh-CN" altLang="en-US" sz="2400" dirty="0">
                <a:latin typeface="宋体" panose="02010600030101010101" pitchFamily="2" charset="-122"/>
              </a:endParaRPr>
            </a:p>
          </p:txBody>
        </p:sp>
      </p:grpSp>
      <p:grpSp>
        <p:nvGrpSpPr>
          <p:cNvPr id="25658" name="Group 59"/>
          <p:cNvGrpSpPr/>
          <p:nvPr/>
        </p:nvGrpSpPr>
        <p:grpSpPr>
          <a:xfrm>
            <a:off x="712788" y="2911475"/>
            <a:ext cx="3600450" cy="2232025"/>
            <a:chOff x="0" y="0"/>
            <a:chExt cx="2268" cy="1406"/>
          </a:xfrm>
        </p:grpSpPr>
        <p:sp>
          <p:nvSpPr>
            <p:cNvPr id="28729" name="Line 60"/>
            <p:cNvSpPr/>
            <p:nvPr/>
          </p:nvSpPr>
          <p:spPr>
            <a:xfrm flipH="1" flipV="1">
              <a:off x="725" y="0"/>
              <a:ext cx="635" cy="1406"/>
            </a:xfrm>
            <a:prstGeom prst="line">
              <a:avLst/>
            </a:prstGeom>
            <a:ln w="38100" cap="flat" cmpd="sng">
              <a:solidFill>
                <a:srgbClr val="000099"/>
              </a:solidFill>
              <a:prstDash val="dash"/>
              <a:headEnd type="none" w="med" len="med"/>
              <a:tailEnd type="triangle" w="med" len="med"/>
            </a:ln>
          </p:spPr>
        </p:sp>
        <p:sp>
          <p:nvSpPr>
            <p:cNvPr id="28730" name="Line 61"/>
            <p:cNvSpPr/>
            <p:nvPr/>
          </p:nvSpPr>
          <p:spPr>
            <a:xfrm>
              <a:off x="0" y="0"/>
              <a:ext cx="2268" cy="0"/>
            </a:xfrm>
            <a:prstGeom prst="line">
              <a:avLst/>
            </a:prstGeom>
            <a:ln w="38100" cap="flat" cmpd="sng">
              <a:solidFill>
                <a:srgbClr val="000099"/>
              </a:solidFill>
              <a:prstDash val="dash"/>
              <a:headEnd type="none" w="med" len="med"/>
              <a:tailEnd type="none" w="med" len="med"/>
            </a:ln>
          </p:spPr>
        </p:sp>
      </p:grpSp>
      <p:grpSp>
        <p:nvGrpSpPr>
          <p:cNvPr id="25661" name="Group 62"/>
          <p:cNvGrpSpPr/>
          <p:nvPr/>
        </p:nvGrpSpPr>
        <p:grpSpPr>
          <a:xfrm>
            <a:off x="3059113" y="4497388"/>
            <a:ext cx="1441450" cy="360362"/>
            <a:chOff x="0" y="0"/>
            <a:chExt cx="908" cy="227"/>
          </a:xfrm>
        </p:grpSpPr>
        <p:sp>
          <p:nvSpPr>
            <p:cNvPr id="28727" name="Rectangle 63"/>
            <p:cNvSpPr/>
            <p:nvPr/>
          </p:nvSpPr>
          <p:spPr>
            <a:xfrm>
              <a:off x="0" y="0"/>
              <a:ext cx="590" cy="227"/>
            </a:xfrm>
            <a:prstGeom prst="rect">
              <a:avLst/>
            </a:prstGeom>
            <a:solidFill>
              <a:srgbClr val="CCFFFF"/>
            </a:solidFill>
            <a:ln w="9525" cap="flat" cmpd="sng">
              <a:solidFill>
                <a:srgbClr val="C7050E"/>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修改</a:t>
              </a:r>
              <a:endParaRPr lang="zh-CN" altLang="en-US" sz="2400" dirty="0">
                <a:latin typeface="宋体" panose="02010600030101010101" pitchFamily="2" charset="-122"/>
              </a:endParaRPr>
            </a:p>
          </p:txBody>
        </p:sp>
        <p:sp>
          <p:nvSpPr>
            <p:cNvPr id="28728" name="Line 64"/>
            <p:cNvSpPr/>
            <p:nvPr/>
          </p:nvSpPr>
          <p:spPr>
            <a:xfrm flipV="1">
              <a:off x="590" y="45"/>
              <a:ext cx="318" cy="46"/>
            </a:xfrm>
            <a:prstGeom prst="line">
              <a:avLst/>
            </a:prstGeom>
            <a:ln w="38100" cap="flat" cmpd="sng">
              <a:solidFill>
                <a:srgbClr val="C7050E"/>
              </a:solidFill>
              <a:prstDash val="dash"/>
              <a:headEnd type="none" w="med" len="med"/>
              <a:tailEnd type="triangle" w="med" len="med"/>
            </a:ln>
          </p:spPr>
        </p:sp>
      </p:grpSp>
      <p:sp>
        <p:nvSpPr>
          <p:cNvPr id="25664" name="Line 65"/>
          <p:cNvSpPr/>
          <p:nvPr/>
        </p:nvSpPr>
        <p:spPr>
          <a:xfrm flipV="1">
            <a:off x="3492500" y="2913063"/>
            <a:ext cx="431800" cy="1584325"/>
          </a:xfrm>
          <a:prstGeom prst="line">
            <a:avLst/>
          </a:prstGeom>
          <a:ln w="38100" cap="flat" cmpd="sng">
            <a:solidFill>
              <a:srgbClr val="000099"/>
            </a:solidFill>
            <a:prstDash val="dash"/>
            <a:headEnd type="none" w="med" len="med"/>
            <a:tailEnd type="triangle" w="med" len="med"/>
          </a:ln>
        </p:spPr>
      </p:sp>
      <p:sp>
        <p:nvSpPr>
          <p:cNvPr id="25665" name="Line 66"/>
          <p:cNvSpPr/>
          <p:nvPr/>
        </p:nvSpPr>
        <p:spPr>
          <a:xfrm>
            <a:off x="4441825" y="5486400"/>
            <a:ext cx="3240088" cy="0"/>
          </a:xfrm>
          <a:prstGeom prst="line">
            <a:avLst/>
          </a:prstGeom>
          <a:ln w="38100" cap="flat" cmpd="sng">
            <a:solidFill>
              <a:srgbClr val="C7050E"/>
            </a:solidFill>
            <a:prstDash val="solid"/>
            <a:headEnd type="none" w="med" len="med"/>
            <a:tailEnd type="none" w="med" len="med"/>
          </a:ln>
        </p:spPr>
      </p:sp>
      <p:sp>
        <p:nvSpPr>
          <p:cNvPr id="28726"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648"/>
                                        </p:tgtEl>
                                        <p:attrNameLst>
                                          <p:attrName>style.visibility</p:attrName>
                                        </p:attrNameLst>
                                      </p:cBhvr>
                                      <p:to>
                                        <p:strVal val="visible"/>
                                      </p:to>
                                    </p:set>
                                    <p:animEffect transition="in" filter="wipe(down)">
                                      <p:cBhvr>
                                        <p:cTn id="7" dur="500"/>
                                        <p:tgtEl>
                                          <p:spTgt spid="2564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5621"/>
                                        </p:tgtEl>
                                        <p:attrNameLst>
                                          <p:attrName>style.visibility</p:attrName>
                                        </p:attrNameLst>
                                      </p:cBhvr>
                                      <p:to>
                                        <p:strVal val="visible"/>
                                      </p:to>
                                    </p:set>
                                    <p:anim calcmode="lin" valueType="num">
                                      <p:cBhvr>
                                        <p:cTn id="12" dur="500" fill="hold"/>
                                        <p:tgtEl>
                                          <p:spTgt spid="25621"/>
                                        </p:tgtEl>
                                        <p:attrNameLst>
                                          <p:attrName>ppt_w</p:attrName>
                                        </p:attrNameLst>
                                      </p:cBhvr>
                                      <p:tavLst>
                                        <p:tav tm="0">
                                          <p:val>
                                            <p:fltVal val="0.000000"/>
                                          </p:val>
                                        </p:tav>
                                        <p:tav tm="100000">
                                          <p:val>
                                            <p:strVal val="#ppt_w"/>
                                          </p:val>
                                        </p:tav>
                                      </p:tavLst>
                                    </p:anim>
                                    <p:anim calcmode="lin" valueType="num">
                                      <p:cBhvr>
                                        <p:cTn id="13" dur="500" fill="hold"/>
                                        <p:tgtEl>
                                          <p:spTgt spid="25621"/>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25645"/>
                                        </p:tgtEl>
                                        <p:attrNameLst>
                                          <p:attrName>style.visibility</p:attrName>
                                        </p:attrNameLst>
                                      </p:cBhvr>
                                      <p:to>
                                        <p:strVal val="visible"/>
                                      </p:to>
                                    </p:set>
                                    <p:anim calcmode="lin" valueType="num">
                                      <p:cBhvr>
                                        <p:cTn id="18" dur="500" fill="hold"/>
                                        <p:tgtEl>
                                          <p:spTgt spid="25645"/>
                                        </p:tgtEl>
                                        <p:attrNameLst>
                                          <p:attrName>ppt_w</p:attrName>
                                        </p:attrNameLst>
                                      </p:cBhvr>
                                      <p:tavLst>
                                        <p:tav tm="0">
                                          <p:val>
                                            <p:fltVal val="0.000000"/>
                                          </p:val>
                                        </p:tav>
                                        <p:tav tm="100000">
                                          <p:val>
                                            <p:strVal val="#ppt_w"/>
                                          </p:val>
                                        </p:tav>
                                      </p:tavLst>
                                    </p:anim>
                                    <p:anim calcmode="lin" valueType="num">
                                      <p:cBhvr>
                                        <p:cTn id="19" dur="500" fill="hold"/>
                                        <p:tgtEl>
                                          <p:spTgt spid="25645"/>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25652"/>
                                        </p:tgtEl>
                                        <p:attrNameLst>
                                          <p:attrName>style.visibility</p:attrName>
                                        </p:attrNameLst>
                                      </p:cBhvr>
                                      <p:to>
                                        <p:strVal val="visible"/>
                                      </p:to>
                                    </p:set>
                                    <p:anim calcmode="lin" valueType="num">
                                      <p:cBhvr>
                                        <p:cTn id="24" dur="1000" fill="hold"/>
                                        <p:tgtEl>
                                          <p:spTgt spid="25652"/>
                                        </p:tgtEl>
                                        <p:attrNameLst>
                                          <p:attrName>ppt_w</p:attrName>
                                        </p:attrNameLst>
                                      </p:cBhvr>
                                      <p:tavLst>
                                        <p:tav tm="0">
                                          <p:val>
                                            <p:strVal val="#ppt_w*0.70"/>
                                          </p:val>
                                        </p:tav>
                                        <p:tav tm="100000">
                                          <p:val>
                                            <p:strVal val="#ppt_w"/>
                                          </p:val>
                                        </p:tav>
                                      </p:tavLst>
                                    </p:anim>
                                    <p:anim calcmode="lin" valueType="num">
                                      <p:cBhvr>
                                        <p:cTn id="25" dur="1000" fill="hold"/>
                                        <p:tgtEl>
                                          <p:spTgt spid="25652"/>
                                        </p:tgtEl>
                                        <p:attrNameLst>
                                          <p:attrName>ppt_h</p:attrName>
                                        </p:attrNameLst>
                                      </p:cBhvr>
                                      <p:tavLst>
                                        <p:tav tm="0">
                                          <p:val>
                                            <p:strVal val="#ppt_h"/>
                                          </p:val>
                                        </p:tav>
                                        <p:tav tm="100000">
                                          <p:val>
                                            <p:strVal val="#ppt_h"/>
                                          </p:val>
                                        </p:tav>
                                      </p:tavLst>
                                    </p:anim>
                                    <p:animEffect transition="in" filter="fade">
                                      <p:cBhvr>
                                        <p:cTn id="26" dur="1000"/>
                                        <p:tgtEl>
                                          <p:spTgt spid="2565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5665"/>
                                        </p:tgtEl>
                                        <p:attrNameLst>
                                          <p:attrName>style.visibility</p:attrName>
                                        </p:attrNameLst>
                                      </p:cBhvr>
                                      <p:to>
                                        <p:strVal val="visible"/>
                                      </p:to>
                                    </p:set>
                                    <p:anim calcmode="lin" valueType="num">
                                      <p:cBhvr additive="base">
                                        <p:cTn id="31" dur="500" fill="hold"/>
                                        <p:tgtEl>
                                          <p:spTgt spid="25665"/>
                                        </p:tgtEl>
                                        <p:attrNameLst>
                                          <p:attrName>ppt_x</p:attrName>
                                        </p:attrNameLst>
                                      </p:cBhvr>
                                      <p:tavLst>
                                        <p:tav tm="0">
                                          <p:val>
                                            <p:strVal val="#ppt_x"/>
                                          </p:val>
                                        </p:tav>
                                        <p:tav tm="100000">
                                          <p:val>
                                            <p:strVal val="#ppt_x"/>
                                          </p:val>
                                        </p:tav>
                                      </p:tavLst>
                                    </p:anim>
                                    <p:anim calcmode="lin" valueType="num">
                                      <p:cBhvr additive="base">
                                        <p:cTn id="32" dur="500" fill="hold"/>
                                        <p:tgtEl>
                                          <p:spTgt spid="2566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25661"/>
                                        </p:tgtEl>
                                        <p:attrNameLst>
                                          <p:attrName>style.visibility</p:attrName>
                                        </p:attrNameLst>
                                      </p:cBhvr>
                                      <p:to>
                                        <p:strVal val="visible"/>
                                      </p:to>
                                    </p:set>
                                    <p:anim calcmode="lin" valueType="num">
                                      <p:cBhvr>
                                        <p:cTn id="37" dur="1000" fill="hold"/>
                                        <p:tgtEl>
                                          <p:spTgt spid="25661"/>
                                        </p:tgtEl>
                                        <p:attrNameLst>
                                          <p:attrName>ppt_w</p:attrName>
                                        </p:attrNameLst>
                                      </p:cBhvr>
                                      <p:tavLst>
                                        <p:tav tm="0">
                                          <p:val>
                                            <p:strVal val="#ppt_w*0.70"/>
                                          </p:val>
                                        </p:tav>
                                        <p:tav tm="100000">
                                          <p:val>
                                            <p:strVal val="#ppt_w"/>
                                          </p:val>
                                        </p:tav>
                                      </p:tavLst>
                                    </p:anim>
                                    <p:anim calcmode="lin" valueType="num">
                                      <p:cBhvr>
                                        <p:cTn id="38" dur="1000" fill="hold"/>
                                        <p:tgtEl>
                                          <p:spTgt spid="25661"/>
                                        </p:tgtEl>
                                        <p:attrNameLst>
                                          <p:attrName>ppt_h</p:attrName>
                                        </p:attrNameLst>
                                      </p:cBhvr>
                                      <p:tavLst>
                                        <p:tav tm="0">
                                          <p:val>
                                            <p:strVal val="#ppt_h"/>
                                          </p:val>
                                        </p:tav>
                                        <p:tav tm="100000">
                                          <p:val>
                                            <p:strVal val="#ppt_h"/>
                                          </p:val>
                                        </p:tav>
                                      </p:tavLst>
                                    </p:anim>
                                    <p:animEffect transition="in" filter="fade">
                                      <p:cBhvr>
                                        <p:cTn id="39" dur="1000"/>
                                        <p:tgtEl>
                                          <p:spTgt spid="25661"/>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25664"/>
                                        </p:tgtEl>
                                        <p:attrNameLst>
                                          <p:attrName>style.visibility</p:attrName>
                                        </p:attrNameLst>
                                      </p:cBhvr>
                                      <p:to>
                                        <p:strVal val="visible"/>
                                      </p:to>
                                    </p:set>
                                    <p:anim calcmode="lin" valueType="num">
                                      <p:cBhvr>
                                        <p:cTn id="44" dur="1000" fill="hold"/>
                                        <p:tgtEl>
                                          <p:spTgt spid="25664"/>
                                        </p:tgtEl>
                                        <p:attrNameLst>
                                          <p:attrName>ppt_w</p:attrName>
                                        </p:attrNameLst>
                                      </p:cBhvr>
                                      <p:tavLst>
                                        <p:tav tm="0">
                                          <p:val>
                                            <p:strVal val="#ppt_w*0.70"/>
                                          </p:val>
                                        </p:tav>
                                        <p:tav tm="100000">
                                          <p:val>
                                            <p:strVal val="#ppt_w"/>
                                          </p:val>
                                        </p:tav>
                                      </p:tavLst>
                                    </p:anim>
                                    <p:anim calcmode="lin" valueType="num">
                                      <p:cBhvr>
                                        <p:cTn id="45" dur="1000" fill="hold"/>
                                        <p:tgtEl>
                                          <p:spTgt spid="25664"/>
                                        </p:tgtEl>
                                        <p:attrNameLst>
                                          <p:attrName>ppt_h</p:attrName>
                                        </p:attrNameLst>
                                      </p:cBhvr>
                                      <p:tavLst>
                                        <p:tav tm="0">
                                          <p:val>
                                            <p:strVal val="#ppt_h"/>
                                          </p:val>
                                        </p:tav>
                                        <p:tav tm="100000">
                                          <p:val>
                                            <p:strVal val="#ppt_h"/>
                                          </p:val>
                                        </p:tav>
                                      </p:tavLst>
                                    </p:anim>
                                    <p:animEffect transition="in" filter="fade">
                                      <p:cBhvr>
                                        <p:cTn id="46" dur="1000"/>
                                        <p:tgtEl>
                                          <p:spTgt spid="25664"/>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nodeType="clickEffect">
                                  <p:stCondLst>
                                    <p:cond delay="0"/>
                                  </p:stCondLst>
                                  <p:childTnLst>
                                    <p:set>
                                      <p:cBhvr>
                                        <p:cTn id="50" dur="1" fill="hold">
                                          <p:stCondLst>
                                            <p:cond delay="0"/>
                                          </p:stCondLst>
                                        </p:cTn>
                                        <p:tgtEl>
                                          <p:spTgt spid="25655"/>
                                        </p:tgtEl>
                                        <p:attrNameLst>
                                          <p:attrName>style.visibility</p:attrName>
                                        </p:attrNameLst>
                                      </p:cBhvr>
                                      <p:to>
                                        <p:strVal val="visible"/>
                                      </p:to>
                                    </p:set>
                                    <p:anim calcmode="lin" valueType="num">
                                      <p:cBhvr>
                                        <p:cTn id="51" dur="500" fill="hold"/>
                                        <p:tgtEl>
                                          <p:spTgt spid="25655"/>
                                        </p:tgtEl>
                                        <p:attrNameLst>
                                          <p:attrName>ppt_w</p:attrName>
                                        </p:attrNameLst>
                                      </p:cBhvr>
                                      <p:tavLst>
                                        <p:tav tm="0">
                                          <p:val>
                                            <p:fltVal val="0.000000"/>
                                          </p:val>
                                        </p:tav>
                                        <p:tav tm="100000">
                                          <p:val>
                                            <p:strVal val="#ppt_w"/>
                                          </p:val>
                                        </p:tav>
                                      </p:tavLst>
                                    </p:anim>
                                    <p:anim calcmode="lin" valueType="num">
                                      <p:cBhvr>
                                        <p:cTn id="52" dur="500" fill="hold"/>
                                        <p:tgtEl>
                                          <p:spTgt spid="25655"/>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25658"/>
                                        </p:tgtEl>
                                        <p:attrNameLst>
                                          <p:attrName>style.visibility</p:attrName>
                                        </p:attrNameLst>
                                      </p:cBhvr>
                                      <p:to>
                                        <p:strVal val="visible"/>
                                      </p:to>
                                    </p:set>
                                    <p:anim calcmode="lin" valueType="num">
                                      <p:cBhvr>
                                        <p:cTn id="57" dur="1000" fill="hold"/>
                                        <p:tgtEl>
                                          <p:spTgt spid="25658"/>
                                        </p:tgtEl>
                                        <p:attrNameLst>
                                          <p:attrName>ppt_w</p:attrName>
                                        </p:attrNameLst>
                                      </p:cBhvr>
                                      <p:tavLst>
                                        <p:tav tm="0">
                                          <p:val>
                                            <p:strVal val="#ppt_w*0.70"/>
                                          </p:val>
                                        </p:tav>
                                        <p:tav tm="100000">
                                          <p:val>
                                            <p:strVal val="#ppt_w"/>
                                          </p:val>
                                        </p:tav>
                                      </p:tavLst>
                                    </p:anim>
                                    <p:anim calcmode="lin" valueType="num">
                                      <p:cBhvr>
                                        <p:cTn id="58" dur="1000" fill="hold"/>
                                        <p:tgtEl>
                                          <p:spTgt spid="25658"/>
                                        </p:tgtEl>
                                        <p:attrNameLst>
                                          <p:attrName>ppt_h</p:attrName>
                                        </p:attrNameLst>
                                      </p:cBhvr>
                                      <p:tavLst>
                                        <p:tav tm="0">
                                          <p:val>
                                            <p:strVal val="#ppt_h"/>
                                          </p:val>
                                        </p:tav>
                                        <p:tav tm="100000">
                                          <p:val>
                                            <p:strVal val="#ppt_h"/>
                                          </p:val>
                                        </p:tav>
                                      </p:tavLst>
                                    </p:anim>
                                    <p:animEffect transition="in" filter="fade">
                                      <p:cBhvr>
                                        <p:cTn id="59" dur="1000"/>
                                        <p:tgtEl>
                                          <p:spTgt spid="25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6626" name="组合 26625"/>
          <p:cNvGrpSpPr/>
          <p:nvPr/>
        </p:nvGrpSpPr>
        <p:grpSpPr>
          <a:xfrm>
            <a:off x="469900" y="1155700"/>
            <a:ext cx="8123238" cy="2649538"/>
            <a:chOff x="0" y="0"/>
            <a:chExt cx="12792" cy="4172"/>
          </a:xfrm>
        </p:grpSpPr>
        <p:sp>
          <p:nvSpPr>
            <p:cNvPr id="29700" name="Text Box 6"/>
            <p:cNvSpPr txBox="1"/>
            <p:nvPr/>
          </p:nvSpPr>
          <p:spPr>
            <a:xfrm>
              <a:off x="360" y="915"/>
              <a:ext cx="12433" cy="1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600"/>
                </a:spcBef>
                <a:buClrTx/>
                <a:buSzTx/>
                <a:buFont typeface="Arial" panose="020B0604020202020204" pitchFamily="34" charset="0"/>
                <a:buNone/>
              </a:pPr>
              <a:r>
                <a:rPr lang="zh-CN" altLang="en-US" sz="2400" dirty="0">
                  <a:solidFill>
                    <a:srgbClr val="FF3300"/>
                  </a:solidFill>
                  <a:latin typeface="宋体" panose="02010600030101010101" pitchFamily="2" charset="-122"/>
                </a:rPr>
                <a:t>★</a:t>
              </a:r>
              <a:r>
                <a:rPr lang="zh-CN" altLang="en-US" sz="2400" u="sng" dirty="0">
                  <a:solidFill>
                    <a:srgbClr val="FF0000"/>
                  </a:solidFill>
                  <a:latin typeface="宋体" panose="02010600030101010101" pitchFamily="2" charset="-122"/>
                </a:rPr>
                <a:t>插入：</a:t>
              </a:r>
              <a:r>
                <a:rPr lang="zh-CN" altLang="en-US" sz="2200" dirty="0">
                  <a:solidFill>
                    <a:schemeClr val="tx2"/>
                  </a:solidFill>
                  <a:latin typeface="宋体" panose="02010600030101010101" pitchFamily="2" charset="-122"/>
                </a:rPr>
                <a:t>要求</a:t>
              </a:r>
              <a:r>
                <a:rPr lang="zh-CN" altLang="en-US" sz="2200" dirty="0">
                  <a:latin typeface="宋体" panose="02010600030101010101" pitchFamily="2" charset="-122"/>
                </a:rPr>
                <a:t>插入的外键值应“参照”（</a:t>
              </a:r>
              <a:r>
                <a:rPr lang="en-US" altLang="zh-CN" sz="2200" dirty="0">
                  <a:latin typeface="宋体" panose="02010600030101010101" pitchFamily="2" charset="-122"/>
                </a:rPr>
                <a:t>Reference</a:t>
              </a:r>
              <a:r>
                <a:rPr lang="zh-CN" altLang="en-US" sz="2200" dirty="0">
                  <a:latin typeface="宋体" panose="02010600030101010101" pitchFamily="2" charset="-122"/>
                </a:rPr>
                <a:t>）主表中的主键值。 </a:t>
              </a:r>
              <a:endParaRPr lang="zh-CN" altLang="en-US" sz="2200" dirty="0">
                <a:latin typeface="宋体" panose="02010600030101010101" pitchFamily="2" charset="-122"/>
              </a:endParaRPr>
            </a:p>
          </p:txBody>
        </p:sp>
        <p:sp>
          <p:nvSpPr>
            <p:cNvPr id="29701" name="Rectangle 7"/>
            <p:cNvSpPr txBox="1"/>
            <p:nvPr/>
          </p:nvSpPr>
          <p:spPr>
            <a:xfrm>
              <a:off x="0" y="0"/>
              <a:ext cx="8760" cy="79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None/>
              </a:pPr>
              <a:r>
                <a:rPr lang="zh-CN" altLang="en-US" sz="3200" dirty="0">
                  <a:solidFill>
                    <a:srgbClr val="3333CC"/>
                  </a:solidFill>
                  <a:ea typeface="黑体" panose="02010609060101010101" pitchFamily="49" charset="-122"/>
                </a:rPr>
                <a:t> </a:t>
              </a:r>
              <a:r>
                <a:rPr lang="zh-CN" altLang="en-US" sz="2400" dirty="0">
                  <a:solidFill>
                    <a:srgbClr val="0000FF"/>
                  </a:solidFill>
                  <a:latin typeface="宋体" panose="02010600030101010101" pitchFamily="2" charset="-122"/>
                  <a:ea typeface="黑体" panose="02010609060101010101" pitchFamily="49" charset="-122"/>
                </a:rPr>
                <a:t>② </a:t>
              </a:r>
              <a:r>
                <a:rPr lang="zh-CN" altLang="en-US" sz="2400" u="sng" dirty="0">
                  <a:solidFill>
                    <a:srgbClr val="0000FF"/>
                  </a:solidFill>
                  <a:latin typeface="宋体" panose="02010600030101010101" pitchFamily="2" charset="-122"/>
                  <a:ea typeface="黑体" panose="02010609060101010101" pitchFamily="49" charset="-122"/>
                </a:rPr>
                <a:t>对从表中的外键操作</a:t>
              </a:r>
              <a:endParaRPr lang="zh-CN" altLang="en-US" sz="2400" u="sng" dirty="0">
                <a:solidFill>
                  <a:srgbClr val="0000FF"/>
                </a:solidFill>
                <a:latin typeface="宋体" panose="02010600030101010101" pitchFamily="2" charset="-122"/>
                <a:ea typeface="黑体" panose="02010609060101010101" pitchFamily="49" charset="-122"/>
              </a:endParaRPr>
            </a:p>
          </p:txBody>
        </p:sp>
        <p:sp>
          <p:nvSpPr>
            <p:cNvPr id="29702" name="Rectangle 8"/>
            <p:cNvSpPr/>
            <p:nvPr/>
          </p:nvSpPr>
          <p:spPr>
            <a:xfrm>
              <a:off x="428" y="2470"/>
              <a:ext cx="11280" cy="7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None/>
              </a:pPr>
              <a:r>
                <a:rPr lang="zh-CN" altLang="en-US" sz="2400" dirty="0">
                  <a:solidFill>
                    <a:srgbClr val="FF3300"/>
                  </a:solidFill>
                  <a:latin typeface="宋体" panose="02010600030101010101" pitchFamily="2" charset="-122"/>
                </a:rPr>
                <a:t>★</a:t>
              </a:r>
              <a:r>
                <a:rPr lang="zh-CN" altLang="en-US" sz="2400" u="sng" dirty="0">
                  <a:solidFill>
                    <a:srgbClr val="FF0000"/>
                  </a:solidFill>
                  <a:latin typeface="宋体" panose="02010600030101010101" pitchFamily="2" charset="-122"/>
                </a:rPr>
                <a:t>修改：</a:t>
              </a:r>
              <a:r>
                <a:rPr lang="zh-CN" altLang="en-US" sz="2200" dirty="0">
                  <a:solidFill>
                    <a:schemeClr val="tx2"/>
                  </a:solidFill>
                  <a:latin typeface="宋体" panose="02010600030101010101" pitchFamily="2" charset="-122"/>
                </a:rPr>
                <a:t>要求修改的外键</a:t>
              </a:r>
              <a:r>
                <a:rPr lang="zh-CN" altLang="en-US" sz="2200" dirty="0">
                  <a:latin typeface="宋体" panose="02010600030101010101" pitchFamily="2" charset="-122"/>
                </a:rPr>
                <a:t>值“参照”主表</a:t>
              </a:r>
              <a:r>
                <a:rPr lang="zh-CN" altLang="en-US" sz="2200" dirty="0">
                  <a:solidFill>
                    <a:schemeClr val="tx2"/>
                  </a:solidFill>
                  <a:latin typeface="宋体" panose="02010600030101010101" pitchFamily="2" charset="-122"/>
                </a:rPr>
                <a:t>中的主键值 </a:t>
              </a:r>
              <a:r>
                <a:rPr lang="zh-CN" altLang="en-US" dirty="0">
                  <a:latin typeface="宋体" panose="02010600030101010101" pitchFamily="2" charset="-122"/>
                </a:rPr>
                <a:t>。</a:t>
              </a:r>
              <a:endParaRPr lang="zh-CN" altLang="en-US" dirty="0">
                <a:latin typeface="宋体" panose="02010600030101010101" pitchFamily="2" charset="-122"/>
              </a:endParaRPr>
            </a:p>
          </p:txBody>
        </p:sp>
        <p:sp>
          <p:nvSpPr>
            <p:cNvPr id="29703" name="Text Box 9"/>
            <p:cNvSpPr txBox="1"/>
            <p:nvPr/>
          </p:nvSpPr>
          <p:spPr>
            <a:xfrm>
              <a:off x="28" y="3452"/>
              <a:ext cx="9820" cy="72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latin typeface="宋体" panose="02010600030101010101" pitchFamily="2" charset="-122"/>
                </a:rPr>
                <a:t>  </a:t>
              </a:r>
              <a:r>
                <a:rPr lang="zh-CN" altLang="en-US" sz="2400" dirty="0">
                  <a:solidFill>
                    <a:srgbClr val="FF3300"/>
                  </a:solidFill>
                  <a:latin typeface="宋体" panose="02010600030101010101" pitchFamily="2" charset="-122"/>
                </a:rPr>
                <a:t>★</a:t>
              </a:r>
              <a:r>
                <a:rPr lang="zh-CN" altLang="en-US" sz="2400" u="sng" dirty="0">
                  <a:solidFill>
                    <a:srgbClr val="FF0000"/>
                  </a:solidFill>
                  <a:latin typeface="宋体" panose="02010600030101010101" pitchFamily="2" charset="-122"/>
                </a:rPr>
                <a:t>删除：</a:t>
              </a:r>
              <a:r>
                <a:rPr lang="zh-CN" altLang="en-US" sz="2200" dirty="0">
                  <a:solidFill>
                    <a:schemeClr val="tx2"/>
                  </a:solidFill>
                  <a:latin typeface="宋体" panose="02010600030101010101" pitchFamily="2" charset="-122"/>
                </a:rPr>
                <a:t>不需要参照主表中的主键值</a:t>
              </a:r>
              <a:r>
                <a:rPr lang="zh-CN" altLang="en-US" sz="2200" dirty="0">
                  <a:latin typeface="宋体" panose="02010600030101010101" pitchFamily="2" charset="-122"/>
                </a:rPr>
                <a:t>。</a:t>
              </a:r>
              <a:endParaRPr lang="zh-CN" altLang="en-US" sz="2200" dirty="0">
                <a:latin typeface="宋体" panose="02010600030101010101" pitchFamily="2" charset="-122"/>
              </a:endParaRPr>
            </a:p>
          </p:txBody>
        </p:sp>
      </p:grpSp>
      <p:sp>
        <p:nvSpPr>
          <p:cNvPr id="29699" name="Rectangle 2"/>
          <p:cNvSpPr/>
          <p:nvPr/>
        </p:nvSpPr>
        <p:spPr>
          <a:xfrm>
            <a:off x="457200" y="71438"/>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additive="base">
                                        <p:cTn id="7" dur="500" fill="hold"/>
                                        <p:tgtEl>
                                          <p:spTgt spid="26626"/>
                                        </p:tgtEl>
                                        <p:attrNameLst>
                                          <p:attrName>ppt_x</p:attrName>
                                        </p:attrNameLst>
                                      </p:cBhvr>
                                      <p:tavLst>
                                        <p:tav tm="0">
                                          <p:val>
                                            <p:strVal val="#ppt_x"/>
                                          </p:val>
                                        </p:tav>
                                        <p:tav tm="100000">
                                          <p:val>
                                            <p:strVal val="#ppt_x"/>
                                          </p:val>
                                        </p:tav>
                                      </p:tavLst>
                                    </p:anim>
                                    <p:anim calcmode="lin" valueType="num">
                                      <p:cBhvr additive="base">
                                        <p:cTn id="8" dur="500" fill="hold"/>
                                        <p:tgtEl>
                                          <p:spTgt spid="266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7650" name="表格 27649"/>
          <p:cNvGraphicFramePr/>
          <p:nvPr/>
        </p:nvGraphicFramePr>
        <p:xfrm>
          <a:off x="541338" y="2219325"/>
          <a:ext cx="3810000" cy="1506538"/>
        </p:xfrm>
        <a:graphic>
          <a:graphicData uri="http://schemas.openxmlformats.org/drawingml/2006/table">
            <a:tbl>
              <a:tblPr/>
              <a:tblGrid>
                <a:gridCol w="952500"/>
                <a:gridCol w="1068388"/>
                <a:gridCol w="835025"/>
                <a:gridCol w="954087"/>
              </a:tblGrid>
              <a:tr h="5540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u="sng">
                          <a:solidFill>
                            <a:srgbClr val="660066"/>
                          </a:solidFill>
                        </a:rPr>
                        <a:t>学号</a:t>
                      </a:r>
                      <a:endParaRPr lang="zh-CN" altLang="en-US" u="sng">
                        <a:solidFill>
                          <a:srgbClr val="660066"/>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D.O.B</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660066"/>
                          </a:solidFill>
                        </a:rPr>
                        <a:t>班号</a:t>
                      </a:r>
                      <a:endParaRPr lang="zh-CN" altLang="en-US" b="0">
                        <a:solidFill>
                          <a:srgbClr val="660066"/>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9525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Peter Bach</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5-10-1986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计算机</a:t>
                      </a:r>
                      <a:r>
                        <a:rPr lang="de-DE" altLang="en-US" sz="1800" b="0" dirty="0"/>
                        <a:t>200001</a:t>
                      </a:r>
                      <a:endParaRPr lang="de-DE" altLang="en-US"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7668" name="Text Box 22"/>
          <p:cNvSpPr txBox="1"/>
          <p:nvPr/>
        </p:nvSpPr>
        <p:spPr>
          <a:xfrm>
            <a:off x="700088" y="893763"/>
            <a:ext cx="1079500"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主键</a:t>
            </a:r>
            <a:endParaRPr lang="zh-CN" altLang="en-US" sz="2800" dirty="0">
              <a:solidFill>
                <a:srgbClr val="CC3300"/>
              </a:solidFill>
              <a:latin typeface="宋体" panose="02010600030101010101" pitchFamily="2" charset="-122"/>
            </a:endParaRPr>
          </a:p>
        </p:txBody>
      </p:sp>
      <p:sp>
        <p:nvSpPr>
          <p:cNvPr id="27669" name="Line 23"/>
          <p:cNvSpPr/>
          <p:nvPr/>
        </p:nvSpPr>
        <p:spPr>
          <a:xfrm flipH="1">
            <a:off x="5653088" y="2849563"/>
            <a:ext cx="936625" cy="1584325"/>
          </a:xfrm>
          <a:prstGeom prst="line">
            <a:avLst/>
          </a:prstGeom>
          <a:ln w="25400" cap="flat" cmpd="sng">
            <a:solidFill>
              <a:srgbClr val="CC3300"/>
            </a:solidFill>
            <a:prstDash val="solid"/>
            <a:headEnd type="none" w="med" len="med"/>
            <a:tailEnd type="triangle" w="med" len="med"/>
          </a:ln>
        </p:spPr>
      </p:sp>
      <p:graphicFrame>
        <p:nvGraphicFramePr>
          <p:cNvPr id="27670" name="表格 27669"/>
          <p:cNvGraphicFramePr/>
          <p:nvPr/>
        </p:nvGraphicFramePr>
        <p:xfrm>
          <a:off x="5005388" y="4503738"/>
          <a:ext cx="3105150" cy="1203325"/>
        </p:xfrm>
        <a:graphic>
          <a:graphicData uri="http://schemas.openxmlformats.org/drawingml/2006/table">
            <a:tbl>
              <a:tblPr/>
              <a:tblGrid>
                <a:gridCol w="1079500"/>
                <a:gridCol w="698500"/>
                <a:gridCol w="904875"/>
                <a:gridCol w="422275"/>
              </a:tblGrid>
              <a:tr h="5619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a:solidFill>
                            <a:srgbClr val="660066"/>
                          </a:solidFill>
                        </a:rPr>
                        <a:t>班号</a:t>
                      </a:r>
                      <a:endParaRPr lang="zh-CN" altLang="en-US" sz="2000" u="sng">
                        <a:solidFill>
                          <a:srgbClr val="660066"/>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班名</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t>人数 </a:t>
                      </a:r>
                      <a:endParaRPr lang="zh-CN" altLang="en-US" sz="20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641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 计算机200001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计1班</a:t>
                      </a:r>
                      <a:endParaRPr lang="de-DE"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50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latin typeface="Times New Roman" panose="02020603050405020304" pitchFamily="18" charset="0"/>
                        </a:rPr>
                        <a:t>…</a:t>
                      </a:r>
                      <a:endParaRPr lang="zh-CN" altLang="en-US"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27688" name="Line 42"/>
          <p:cNvSpPr/>
          <p:nvPr/>
        </p:nvSpPr>
        <p:spPr>
          <a:xfrm flipH="1">
            <a:off x="4092575" y="2279650"/>
            <a:ext cx="2497138" cy="203200"/>
          </a:xfrm>
          <a:prstGeom prst="line">
            <a:avLst/>
          </a:prstGeom>
          <a:ln w="25400" cap="flat" cmpd="sng">
            <a:solidFill>
              <a:srgbClr val="CC3300"/>
            </a:solidFill>
            <a:prstDash val="solid"/>
            <a:headEnd type="none" w="med" len="med"/>
            <a:tailEnd type="triangle" w="med" len="med"/>
          </a:ln>
        </p:spPr>
      </p:sp>
      <p:sp>
        <p:nvSpPr>
          <p:cNvPr id="27689" name="Line 43"/>
          <p:cNvSpPr/>
          <p:nvPr/>
        </p:nvSpPr>
        <p:spPr>
          <a:xfrm>
            <a:off x="1392238" y="1443038"/>
            <a:ext cx="503237" cy="1008062"/>
          </a:xfrm>
          <a:prstGeom prst="line">
            <a:avLst/>
          </a:prstGeom>
          <a:ln w="25400" cap="flat" cmpd="sng">
            <a:solidFill>
              <a:srgbClr val="CC3300"/>
            </a:solidFill>
            <a:prstDash val="solid"/>
            <a:headEnd type="none" w="med" len="med"/>
            <a:tailEnd type="triangle" w="med" len="med"/>
          </a:ln>
        </p:spPr>
      </p:sp>
      <p:sp>
        <p:nvSpPr>
          <p:cNvPr id="30762" name="Text Box 44"/>
          <p:cNvSpPr txBox="1"/>
          <p:nvPr/>
        </p:nvSpPr>
        <p:spPr>
          <a:xfrm>
            <a:off x="460375" y="1571625"/>
            <a:ext cx="2376488"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学生表（从表）</a:t>
            </a:r>
            <a:endParaRPr lang="de-DE" altLang="en-US" sz="2400" dirty="0">
              <a:solidFill>
                <a:srgbClr val="0000CC"/>
              </a:solidFill>
              <a:latin typeface="宋体" panose="02010600030101010101" pitchFamily="2" charset="-122"/>
            </a:endParaRPr>
          </a:p>
        </p:txBody>
      </p:sp>
      <p:sp>
        <p:nvSpPr>
          <p:cNvPr id="30763" name="Text Box 45"/>
          <p:cNvSpPr txBox="1"/>
          <p:nvPr/>
        </p:nvSpPr>
        <p:spPr>
          <a:xfrm>
            <a:off x="6157913" y="3713163"/>
            <a:ext cx="2447925"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班级表（主表）</a:t>
            </a:r>
            <a:endParaRPr lang="zh-CN" altLang="en-US" sz="2400" dirty="0">
              <a:solidFill>
                <a:srgbClr val="0000CC"/>
              </a:solidFill>
              <a:latin typeface="宋体" panose="02010600030101010101" pitchFamily="2" charset="-122"/>
            </a:endParaRPr>
          </a:p>
        </p:txBody>
      </p:sp>
      <p:grpSp>
        <p:nvGrpSpPr>
          <p:cNvPr id="27692" name="Group 46"/>
          <p:cNvGrpSpPr/>
          <p:nvPr/>
        </p:nvGrpSpPr>
        <p:grpSpPr>
          <a:xfrm>
            <a:off x="5797550" y="1841500"/>
            <a:ext cx="2520950" cy="1222375"/>
            <a:chOff x="0" y="0"/>
            <a:chExt cx="1588" cy="770"/>
          </a:xfrm>
        </p:grpSpPr>
        <p:sp>
          <p:nvSpPr>
            <p:cNvPr id="30778" name="Oval 47"/>
            <p:cNvSpPr/>
            <p:nvPr/>
          </p:nvSpPr>
          <p:spPr>
            <a:xfrm>
              <a:off x="0" y="45"/>
              <a:ext cx="1542" cy="725"/>
            </a:xfrm>
            <a:prstGeom prst="ellipse">
              <a:avLst/>
            </a:prstGeom>
            <a:solidFill>
              <a:srgbClr val="CCFFFF">
                <a:alpha val="36862"/>
              </a:srgbClr>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30779" name="Text Box 48"/>
            <p:cNvSpPr txBox="1"/>
            <p:nvPr/>
          </p:nvSpPr>
          <p:spPr>
            <a:xfrm>
              <a:off x="453" y="0"/>
              <a:ext cx="576"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外键</a:t>
              </a:r>
              <a:endParaRPr lang="zh-CN" altLang="en-US" sz="2800" dirty="0">
                <a:solidFill>
                  <a:srgbClr val="CC3300"/>
                </a:solidFill>
                <a:latin typeface="宋体" panose="02010600030101010101" pitchFamily="2" charset="-122"/>
              </a:endParaRPr>
            </a:p>
          </p:txBody>
        </p:sp>
        <p:sp>
          <p:nvSpPr>
            <p:cNvPr id="30780" name="Text Box 49"/>
            <p:cNvSpPr txBox="1"/>
            <p:nvPr/>
          </p:nvSpPr>
          <p:spPr>
            <a:xfrm>
              <a:off x="136" y="318"/>
              <a:ext cx="1452" cy="37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主键/候选键</a:t>
              </a:r>
              <a:endParaRPr lang="de-DE" altLang="en-US" sz="2800" dirty="0">
                <a:latin typeface="宋体" panose="02010600030101010101" pitchFamily="2" charset="-122"/>
              </a:endParaRPr>
            </a:p>
          </p:txBody>
        </p:sp>
      </p:grpSp>
      <p:grpSp>
        <p:nvGrpSpPr>
          <p:cNvPr id="27696" name="Group 50"/>
          <p:cNvGrpSpPr/>
          <p:nvPr/>
        </p:nvGrpSpPr>
        <p:grpSpPr>
          <a:xfrm>
            <a:off x="3759200" y="1544638"/>
            <a:ext cx="1139825" cy="1271587"/>
            <a:chOff x="0" y="0"/>
            <a:chExt cx="718" cy="801"/>
          </a:xfrm>
        </p:grpSpPr>
        <p:sp>
          <p:nvSpPr>
            <p:cNvPr id="30776" name="Line 51"/>
            <p:cNvSpPr/>
            <p:nvPr/>
          </p:nvSpPr>
          <p:spPr>
            <a:xfrm flipH="1">
              <a:off x="0" y="227"/>
              <a:ext cx="331" cy="574"/>
            </a:xfrm>
            <a:prstGeom prst="line">
              <a:avLst/>
            </a:prstGeom>
            <a:ln w="38100" cap="flat" cmpd="sng">
              <a:solidFill>
                <a:srgbClr val="C7050E"/>
              </a:solidFill>
              <a:prstDash val="dash"/>
              <a:headEnd type="none" w="med" len="med"/>
              <a:tailEnd type="triangle" w="med" len="med"/>
            </a:ln>
          </p:spPr>
        </p:sp>
        <p:sp>
          <p:nvSpPr>
            <p:cNvPr id="30777" name="Rectangle 52"/>
            <p:cNvSpPr/>
            <p:nvPr/>
          </p:nvSpPr>
          <p:spPr>
            <a:xfrm>
              <a:off x="128" y="0"/>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插入</a:t>
              </a:r>
              <a:endParaRPr lang="zh-CN" altLang="en-US" sz="2400" dirty="0">
                <a:latin typeface="宋体" panose="02010600030101010101" pitchFamily="2" charset="-122"/>
              </a:endParaRPr>
            </a:p>
          </p:txBody>
        </p:sp>
      </p:grpSp>
      <p:grpSp>
        <p:nvGrpSpPr>
          <p:cNvPr id="27699" name="Group 53"/>
          <p:cNvGrpSpPr/>
          <p:nvPr/>
        </p:nvGrpSpPr>
        <p:grpSpPr>
          <a:xfrm>
            <a:off x="1620838" y="3425825"/>
            <a:ext cx="1871662" cy="2305050"/>
            <a:chOff x="0" y="0"/>
            <a:chExt cx="1225" cy="1633"/>
          </a:xfrm>
        </p:grpSpPr>
        <p:sp>
          <p:nvSpPr>
            <p:cNvPr id="30774" name="Rectangle 54"/>
            <p:cNvSpPr/>
            <p:nvPr/>
          </p:nvSpPr>
          <p:spPr>
            <a:xfrm>
              <a:off x="0" y="1406"/>
              <a:ext cx="590" cy="227"/>
            </a:xfrm>
            <a:prstGeom prst="rect">
              <a:avLst/>
            </a:prstGeom>
            <a:solidFill>
              <a:srgbClr val="CCFFFF"/>
            </a:solidFill>
            <a:ln w="9525" cap="flat" cmpd="sng">
              <a:solidFill>
                <a:srgbClr val="C7050E"/>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删除</a:t>
              </a:r>
              <a:endParaRPr lang="zh-CN" altLang="en-US" sz="2400" dirty="0">
                <a:latin typeface="宋体" panose="02010600030101010101" pitchFamily="2" charset="-122"/>
              </a:endParaRPr>
            </a:p>
          </p:txBody>
        </p:sp>
        <p:sp>
          <p:nvSpPr>
            <p:cNvPr id="30775" name="Line 55"/>
            <p:cNvSpPr/>
            <p:nvPr/>
          </p:nvSpPr>
          <p:spPr>
            <a:xfrm flipV="1">
              <a:off x="318" y="0"/>
              <a:ext cx="907" cy="1406"/>
            </a:xfrm>
            <a:prstGeom prst="line">
              <a:avLst/>
            </a:prstGeom>
            <a:ln w="38100" cap="flat" cmpd="sng">
              <a:solidFill>
                <a:srgbClr val="C7050E"/>
              </a:solidFill>
              <a:prstDash val="dash"/>
              <a:headEnd type="none" w="med" len="med"/>
              <a:tailEnd type="triangle" w="med" len="med"/>
            </a:ln>
          </p:spPr>
        </p:sp>
      </p:grpSp>
      <p:grpSp>
        <p:nvGrpSpPr>
          <p:cNvPr id="27702" name="Group 56"/>
          <p:cNvGrpSpPr/>
          <p:nvPr/>
        </p:nvGrpSpPr>
        <p:grpSpPr>
          <a:xfrm>
            <a:off x="3276600" y="3354388"/>
            <a:ext cx="936625" cy="1223962"/>
            <a:chOff x="0" y="0"/>
            <a:chExt cx="590" cy="771"/>
          </a:xfrm>
        </p:grpSpPr>
        <p:sp>
          <p:nvSpPr>
            <p:cNvPr id="30772" name="Rectangle 57"/>
            <p:cNvSpPr/>
            <p:nvPr/>
          </p:nvSpPr>
          <p:spPr>
            <a:xfrm>
              <a:off x="0" y="544"/>
              <a:ext cx="590" cy="227"/>
            </a:xfrm>
            <a:prstGeom prst="rect">
              <a:avLst/>
            </a:prstGeom>
            <a:solidFill>
              <a:srgbClr val="CCFFFF"/>
            </a:solidFill>
            <a:ln w="9525" cap="flat" cmpd="sng">
              <a:solidFill>
                <a:srgbClr val="C7050E"/>
              </a:solidFill>
              <a:prstDash val="dash"/>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宋体" panose="02010600030101010101" pitchFamily="2" charset="-122"/>
                </a:rPr>
                <a:t>修改</a:t>
              </a:r>
              <a:endParaRPr lang="zh-CN" altLang="en-US" sz="2400" dirty="0">
                <a:latin typeface="宋体" panose="02010600030101010101" pitchFamily="2" charset="-122"/>
              </a:endParaRPr>
            </a:p>
          </p:txBody>
        </p:sp>
        <p:sp>
          <p:nvSpPr>
            <p:cNvPr id="30773" name="Line 58"/>
            <p:cNvSpPr/>
            <p:nvPr/>
          </p:nvSpPr>
          <p:spPr>
            <a:xfrm flipV="1">
              <a:off x="272" y="0"/>
              <a:ext cx="0" cy="544"/>
            </a:xfrm>
            <a:prstGeom prst="line">
              <a:avLst/>
            </a:prstGeom>
            <a:ln w="38100" cap="flat" cmpd="sng">
              <a:solidFill>
                <a:srgbClr val="C7050E"/>
              </a:solidFill>
              <a:prstDash val="dash"/>
              <a:headEnd type="none" w="med" len="med"/>
              <a:tailEnd type="triangle" w="med" len="med"/>
            </a:ln>
          </p:spPr>
        </p:sp>
      </p:grpSp>
      <p:sp>
        <p:nvSpPr>
          <p:cNvPr id="27705" name="Line 59"/>
          <p:cNvSpPr/>
          <p:nvPr/>
        </p:nvSpPr>
        <p:spPr>
          <a:xfrm>
            <a:off x="4732338" y="2090738"/>
            <a:ext cx="704850" cy="2343150"/>
          </a:xfrm>
          <a:prstGeom prst="line">
            <a:avLst/>
          </a:prstGeom>
          <a:ln w="38100" cap="flat" cmpd="sng">
            <a:solidFill>
              <a:srgbClr val="000099"/>
            </a:solidFill>
            <a:prstDash val="dash"/>
            <a:headEnd type="none" w="med" len="med"/>
            <a:tailEnd type="triangle" w="med" len="med"/>
          </a:ln>
        </p:spPr>
      </p:sp>
      <p:sp>
        <p:nvSpPr>
          <p:cNvPr id="27706" name="Line 60"/>
          <p:cNvSpPr/>
          <p:nvPr/>
        </p:nvSpPr>
        <p:spPr>
          <a:xfrm>
            <a:off x="4213225" y="4433888"/>
            <a:ext cx="936625" cy="1079500"/>
          </a:xfrm>
          <a:prstGeom prst="line">
            <a:avLst/>
          </a:prstGeom>
          <a:ln w="38100" cap="flat" cmpd="sng">
            <a:solidFill>
              <a:srgbClr val="000099"/>
            </a:solidFill>
            <a:prstDash val="dash"/>
            <a:headEnd type="none" w="med" len="med"/>
            <a:tailEnd type="triangle" w="med" len="med"/>
          </a:ln>
        </p:spPr>
      </p:sp>
      <p:sp>
        <p:nvSpPr>
          <p:cNvPr id="27707" name="Line 61"/>
          <p:cNvSpPr/>
          <p:nvPr/>
        </p:nvSpPr>
        <p:spPr>
          <a:xfrm>
            <a:off x="684213" y="3570288"/>
            <a:ext cx="3240087" cy="0"/>
          </a:xfrm>
          <a:prstGeom prst="line">
            <a:avLst/>
          </a:prstGeom>
          <a:ln w="38100" cap="flat" cmpd="sng">
            <a:solidFill>
              <a:srgbClr val="C7050E"/>
            </a:solidFill>
            <a:prstDash val="solid"/>
            <a:headEnd type="none" w="med" len="med"/>
            <a:tailEnd type="none" w="med" len="med"/>
          </a:ln>
        </p:spPr>
      </p:sp>
      <p:sp>
        <p:nvSpPr>
          <p:cNvPr id="30771"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7668"/>
                                        </p:tgtEl>
                                        <p:attrNameLst>
                                          <p:attrName>style.visibility</p:attrName>
                                        </p:attrNameLst>
                                      </p:cBhvr>
                                      <p:to>
                                        <p:strVal val="visible"/>
                                      </p:to>
                                    </p:set>
                                    <p:animEffect transition="in" filter="dissolve">
                                      <p:cBhvr>
                                        <p:cTn id="7" dur="500"/>
                                        <p:tgtEl>
                                          <p:spTgt spid="27668"/>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27689"/>
                                        </p:tgtEl>
                                        <p:attrNameLst>
                                          <p:attrName>style.visibility</p:attrName>
                                        </p:attrNameLst>
                                      </p:cBhvr>
                                      <p:to>
                                        <p:strVal val="visible"/>
                                      </p:to>
                                    </p:set>
                                    <p:anim calcmode="lin" valueType="num">
                                      <p:cBhvr>
                                        <p:cTn id="12" dur="500" fill="hold"/>
                                        <p:tgtEl>
                                          <p:spTgt spid="27689"/>
                                        </p:tgtEl>
                                        <p:attrNameLst>
                                          <p:attrName>ppt_w</p:attrName>
                                        </p:attrNameLst>
                                      </p:cBhvr>
                                      <p:tavLst>
                                        <p:tav tm="0">
                                          <p:val>
                                            <p:fltVal val="0.000000"/>
                                          </p:val>
                                        </p:tav>
                                        <p:tav tm="100000">
                                          <p:val>
                                            <p:strVal val="#ppt_w"/>
                                          </p:val>
                                        </p:tav>
                                      </p:tavLst>
                                    </p:anim>
                                    <p:anim calcmode="lin" valueType="num">
                                      <p:cBhvr>
                                        <p:cTn id="13" dur="500" fill="hold"/>
                                        <p:tgtEl>
                                          <p:spTgt spid="27689"/>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3" presetClass="entr" presetSubtype="16" fill="hold" nodeType="clickEffect">
                                  <p:stCondLst>
                                    <p:cond delay="0"/>
                                  </p:stCondLst>
                                  <p:childTnLst>
                                    <p:set>
                                      <p:cBhvr>
                                        <p:cTn id="17" dur="1" fill="hold">
                                          <p:stCondLst>
                                            <p:cond delay="0"/>
                                          </p:stCondLst>
                                        </p:cTn>
                                        <p:tgtEl>
                                          <p:spTgt spid="27692"/>
                                        </p:tgtEl>
                                        <p:attrNameLst>
                                          <p:attrName>style.visibility</p:attrName>
                                        </p:attrNameLst>
                                      </p:cBhvr>
                                      <p:to>
                                        <p:strVal val="visible"/>
                                      </p:to>
                                    </p:set>
                                    <p:animEffect transition="in" filter="plus(in)">
                                      <p:cBhvr>
                                        <p:cTn id="18" dur="2000"/>
                                        <p:tgtEl>
                                          <p:spTgt spid="27692"/>
                                        </p:tgtEl>
                                      </p:cBhvr>
                                    </p:animEffect>
                                  </p:childTnLst>
                                </p:cTn>
                              </p:par>
                            </p:childTnLst>
                          </p:cTn>
                        </p:par>
                      </p:childTnLst>
                    </p:cTn>
                  </p:par>
                  <p:par>
                    <p:cTn id="19" fill="hold">
                      <p:stCondLst>
                        <p:cond delay="indefinite"/>
                      </p:stCondLst>
                      <p:childTnLst>
                        <p:par>
                          <p:cTn id="20" fill="hold">
                            <p:stCondLst>
                              <p:cond delay="0"/>
                            </p:stCondLst>
                            <p:childTnLst>
                              <p:par>
                                <p:cTn id="21" presetID="23" presetClass="entr" presetSubtype="16" fill="hold" nodeType="clickEffect">
                                  <p:stCondLst>
                                    <p:cond delay="0"/>
                                  </p:stCondLst>
                                  <p:childTnLst>
                                    <p:set>
                                      <p:cBhvr>
                                        <p:cTn id="22" dur="1" fill="hold">
                                          <p:stCondLst>
                                            <p:cond delay="0"/>
                                          </p:stCondLst>
                                        </p:cTn>
                                        <p:tgtEl>
                                          <p:spTgt spid="27669"/>
                                        </p:tgtEl>
                                        <p:attrNameLst>
                                          <p:attrName>style.visibility</p:attrName>
                                        </p:attrNameLst>
                                      </p:cBhvr>
                                      <p:to>
                                        <p:strVal val="visible"/>
                                      </p:to>
                                    </p:set>
                                    <p:anim calcmode="lin" valueType="num">
                                      <p:cBhvr>
                                        <p:cTn id="23" dur="500" fill="hold"/>
                                        <p:tgtEl>
                                          <p:spTgt spid="27669"/>
                                        </p:tgtEl>
                                        <p:attrNameLst>
                                          <p:attrName>ppt_w</p:attrName>
                                        </p:attrNameLst>
                                      </p:cBhvr>
                                      <p:tavLst>
                                        <p:tav tm="0">
                                          <p:val>
                                            <p:fltVal val="0.000000"/>
                                          </p:val>
                                        </p:tav>
                                        <p:tav tm="100000">
                                          <p:val>
                                            <p:strVal val="#ppt_w"/>
                                          </p:val>
                                        </p:tav>
                                      </p:tavLst>
                                    </p:anim>
                                    <p:anim calcmode="lin" valueType="num">
                                      <p:cBhvr>
                                        <p:cTn id="24" dur="500" fill="hold"/>
                                        <p:tgtEl>
                                          <p:spTgt spid="27669"/>
                                        </p:tgtEl>
                                        <p:attrNameLst>
                                          <p:attrName>ppt_h</p:attrName>
                                        </p:attrNameLst>
                                      </p:cBhvr>
                                      <p:tavLst>
                                        <p:tav tm="0">
                                          <p:val>
                                            <p:fltVal val="0.00000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27688"/>
                                        </p:tgtEl>
                                        <p:attrNameLst>
                                          <p:attrName>style.visibility</p:attrName>
                                        </p:attrNameLst>
                                      </p:cBhvr>
                                      <p:to>
                                        <p:strVal val="visible"/>
                                      </p:to>
                                    </p:set>
                                    <p:anim calcmode="lin" valueType="num">
                                      <p:cBhvr>
                                        <p:cTn id="29" dur="500" fill="hold"/>
                                        <p:tgtEl>
                                          <p:spTgt spid="27688"/>
                                        </p:tgtEl>
                                        <p:attrNameLst>
                                          <p:attrName>ppt_w</p:attrName>
                                        </p:attrNameLst>
                                      </p:cBhvr>
                                      <p:tavLst>
                                        <p:tav tm="0">
                                          <p:val>
                                            <p:fltVal val="0.000000"/>
                                          </p:val>
                                        </p:tav>
                                        <p:tav tm="100000">
                                          <p:val>
                                            <p:strVal val="#ppt_w"/>
                                          </p:val>
                                        </p:tav>
                                      </p:tavLst>
                                    </p:anim>
                                    <p:anim calcmode="lin" valueType="num">
                                      <p:cBhvr>
                                        <p:cTn id="30" dur="500" fill="hold"/>
                                        <p:tgtEl>
                                          <p:spTgt spid="27688"/>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7696"/>
                                        </p:tgtEl>
                                        <p:attrNameLst>
                                          <p:attrName>style.visibility</p:attrName>
                                        </p:attrNameLst>
                                      </p:cBhvr>
                                      <p:to>
                                        <p:strVal val="visible"/>
                                      </p:to>
                                    </p:set>
                                    <p:animEffect transition="in" filter="dissolve">
                                      <p:cBhvr>
                                        <p:cTn id="35" dur="500"/>
                                        <p:tgtEl>
                                          <p:spTgt spid="27696"/>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27705"/>
                                        </p:tgtEl>
                                        <p:attrNameLst>
                                          <p:attrName>style.visibility</p:attrName>
                                        </p:attrNameLst>
                                      </p:cBhvr>
                                      <p:to>
                                        <p:strVal val="visible"/>
                                      </p:to>
                                    </p:set>
                                    <p:animEffect transition="in" filter="dissolve">
                                      <p:cBhvr>
                                        <p:cTn id="40" dur="500"/>
                                        <p:tgtEl>
                                          <p:spTgt spid="27705"/>
                                        </p:tgtEl>
                                      </p:cBhvr>
                                    </p:animEffect>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27702"/>
                                        </p:tgtEl>
                                        <p:attrNameLst>
                                          <p:attrName>style.visibility</p:attrName>
                                        </p:attrNameLst>
                                      </p:cBhvr>
                                      <p:to>
                                        <p:strVal val="visible"/>
                                      </p:to>
                                    </p:set>
                                    <p:anim calcmode="lin" valueType="num">
                                      <p:cBhvr>
                                        <p:cTn id="45" dur="500" fill="hold"/>
                                        <p:tgtEl>
                                          <p:spTgt spid="27702"/>
                                        </p:tgtEl>
                                        <p:attrNameLst>
                                          <p:attrName>ppt_w</p:attrName>
                                        </p:attrNameLst>
                                      </p:cBhvr>
                                      <p:tavLst>
                                        <p:tav tm="0">
                                          <p:val>
                                            <p:fltVal val="0.000000"/>
                                          </p:val>
                                        </p:tav>
                                        <p:tav tm="100000">
                                          <p:val>
                                            <p:strVal val="#ppt_w"/>
                                          </p:val>
                                        </p:tav>
                                      </p:tavLst>
                                    </p:anim>
                                    <p:anim calcmode="lin" valueType="num">
                                      <p:cBhvr>
                                        <p:cTn id="46" dur="500" fill="hold"/>
                                        <p:tgtEl>
                                          <p:spTgt spid="27702"/>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nodeType="clickEffect">
                                  <p:stCondLst>
                                    <p:cond delay="0"/>
                                  </p:stCondLst>
                                  <p:childTnLst>
                                    <p:set>
                                      <p:cBhvr>
                                        <p:cTn id="50" dur="1" fill="hold">
                                          <p:stCondLst>
                                            <p:cond delay="0"/>
                                          </p:stCondLst>
                                        </p:cTn>
                                        <p:tgtEl>
                                          <p:spTgt spid="27706"/>
                                        </p:tgtEl>
                                        <p:attrNameLst>
                                          <p:attrName>style.visibility</p:attrName>
                                        </p:attrNameLst>
                                      </p:cBhvr>
                                      <p:to>
                                        <p:strVal val="visible"/>
                                      </p:to>
                                    </p:set>
                                    <p:animEffect transition="in" filter="dissolve">
                                      <p:cBhvr>
                                        <p:cTn id="51" dur="500"/>
                                        <p:tgtEl>
                                          <p:spTgt spid="27706"/>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nodeType="clickEffect">
                                  <p:stCondLst>
                                    <p:cond delay="0"/>
                                  </p:stCondLst>
                                  <p:childTnLst>
                                    <p:set>
                                      <p:cBhvr>
                                        <p:cTn id="55" dur="1" fill="hold">
                                          <p:stCondLst>
                                            <p:cond delay="0"/>
                                          </p:stCondLst>
                                        </p:cTn>
                                        <p:tgtEl>
                                          <p:spTgt spid="27699"/>
                                        </p:tgtEl>
                                        <p:attrNameLst>
                                          <p:attrName>style.visibility</p:attrName>
                                        </p:attrNameLst>
                                      </p:cBhvr>
                                      <p:to>
                                        <p:strVal val="visible"/>
                                      </p:to>
                                    </p:set>
                                    <p:anim calcmode="lin" valueType="num">
                                      <p:cBhvr>
                                        <p:cTn id="56" dur="500" fill="hold"/>
                                        <p:tgtEl>
                                          <p:spTgt spid="27699"/>
                                        </p:tgtEl>
                                        <p:attrNameLst>
                                          <p:attrName>ppt_w</p:attrName>
                                        </p:attrNameLst>
                                      </p:cBhvr>
                                      <p:tavLst>
                                        <p:tav tm="0">
                                          <p:val>
                                            <p:fltVal val="0.000000"/>
                                          </p:val>
                                        </p:tav>
                                        <p:tav tm="100000">
                                          <p:val>
                                            <p:strVal val="#ppt_w"/>
                                          </p:val>
                                        </p:tav>
                                      </p:tavLst>
                                    </p:anim>
                                    <p:anim calcmode="lin" valueType="num">
                                      <p:cBhvr>
                                        <p:cTn id="57" dur="500" fill="hold"/>
                                        <p:tgtEl>
                                          <p:spTgt spid="27699"/>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55" presetClass="entr" presetSubtype="0" fill="hold" nodeType="clickEffect">
                                  <p:stCondLst>
                                    <p:cond delay="0"/>
                                  </p:stCondLst>
                                  <p:childTnLst>
                                    <p:set>
                                      <p:cBhvr>
                                        <p:cTn id="61" dur="1" fill="hold">
                                          <p:stCondLst>
                                            <p:cond delay="0"/>
                                          </p:stCondLst>
                                        </p:cTn>
                                        <p:tgtEl>
                                          <p:spTgt spid="27707"/>
                                        </p:tgtEl>
                                        <p:attrNameLst>
                                          <p:attrName>style.visibility</p:attrName>
                                        </p:attrNameLst>
                                      </p:cBhvr>
                                      <p:to>
                                        <p:strVal val="visible"/>
                                      </p:to>
                                    </p:set>
                                    <p:anim calcmode="lin" valueType="num">
                                      <p:cBhvr>
                                        <p:cTn id="62" dur="1000" fill="hold"/>
                                        <p:tgtEl>
                                          <p:spTgt spid="27707"/>
                                        </p:tgtEl>
                                        <p:attrNameLst>
                                          <p:attrName>ppt_w</p:attrName>
                                        </p:attrNameLst>
                                      </p:cBhvr>
                                      <p:tavLst>
                                        <p:tav tm="0">
                                          <p:val>
                                            <p:strVal val="#ppt_w*0.70"/>
                                          </p:val>
                                        </p:tav>
                                        <p:tav tm="100000">
                                          <p:val>
                                            <p:strVal val="#ppt_w"/>
                                          </p:val>
                                        </p:tav>
                                      </p:tavLst>
                                    </p:anim>
                                    <p:anim calcmode="lin" valueType="num">
                                      <p:cBhvr>
                                        <p:cTn id="63" dur="1000" fill="hold"/>
                                        <p:tgtEl>
                                          <p:spTgt spid="27707"/>
                                        </p:tgtEl>
                                        <p:attrNameLst>
                                          <p:attrName>ppt_h</p:attrName>
                                        </p:attrNameLst>
                                      </p:cBhvr>
                                      <p:tavLst>
                                        <p:tav tm="0">
                                          <p:val>
                                            <p:strVal val="#ppt_h"/>
                                          </p:val>
                                        </p:tav>
                                        <p:tav tm="100000">
                                          <p:val>
                                            <p:strVal val="#ppt_h"/>
                                          </p:val>
                                        </p:tav>
                                      </p:tavLst>
                                    </p:anim>
                                    <p:animEffect transition="in" filter="fade">
                                      <p:cBhvr>
                                        <p:cTn id="64" dur="1000"/>
                                        <p:tgtEl>
                                          <p:spTgt spid="27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10"/>
          <p:cNvSpPr/>
          <p:nvPr/>
        </p:nvSpPr>
        <p:spPr>
          <a:xfrm>
            <a:off x="479425" y="1125538"/>
            <a:ext cx="8401050" cy="9318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None/>
            </a:pPr>
            <a:r>
              <a:rPr lang="zh-CN" altLang="en-US" dirty="0">
                <a:solidFill>
                  <a:srgbClr val="CC3300"/>
                </a:solidFill>
                <a:latin typeface="宋体" panose="02010600030101010101" pitchFamily="2" charset="-122"/>
              </a:rPr>
              <a:t>   </a:t>
            </a:r>
            <a:r>
              <a:rPr lang="zh-CN" altLang="en-US" sz="2400" u="sng" dirty="0">
                <a:solidFill>
                  <a:srgbClr val="FF0000"/>
                </a:solidFill>
                <a:latin typeface="宋体" panose="02010600030101010101" pitchFamily="2" charset="-122"/>
              </a:rPr>
              <a:t>表间数据的完整性：</a:t>
            </a:r>
            <a:r>
              <a:rPr lang="zh-CN" altLang="en-US" sz="2400" dirty="0">
                <a:latin typeface="宋体" panose="02010600030101010101" pitchFamily="2" charset="-122"/>
              </a:rPr>
              <a:t>维护表间完整性实际是从两个方向上完成，即：</a:t>
            </a:r>
            <a:endParaRPr lang="zh-CN" altLang="en-US" sz="2400" dirty="0">
              <a:latin typeface="宋体" panose="02010600030101010101" pitchFamily="2" charset="-122"/>
            </a:endParaRPr>
          </a:p>
        </p:txBody>
      </p:sp>
      <p:graphicFrame>
        <p:nvGraphicFramePr>
          <p:cNvPr id="28675" name="Object 11"/>
          <p:cNvGraphicFramePr>
            <a:graphicFrameLocks noChangeAspect="1"/>
          </p:cNvGraphicFramePr>
          <p:nvPr/>
        </p:nvGraphicFramePr>
        <p:xfrm>
          <a:off x="349250" y="3525838"/>
          <a:ext cx="4529138" cy="1284287"/>
        </p:xfrm>
        <a:graphic>
          <a:graphicData uri="http://schemas.openxmlformats.org/presentationml/2006/ole">
            <mc:AlternateContent xmlns:mc="http://schemas.openxmlformats.org/markup-compatibility/2006">
              <mc:Choice xmlns:v="urn:schemas-microsoft-com:vml" Requires="v">
                <p:oleObj spid="_x0000_s3079" name="" r:id="rId1" imgW="2740660" imgH="990600" progId="Word.Picture.8">
                  <p:embed/>
                </p:oleObj>
              </mc:Choice>
              <mc:Fallback>
                <p:oleObj name="" r:id="rId1" imgW="2740660" imgH="990600" progId="Word.Picture.8">
                  <p:embed/>
                  <p:pic>
                    <p:nvPicPr>
                      <p:cNvPr id="0" name="图片 3078"/>
                      <p:cNvPicPr/>
                      <p:nvPr/>
                    </p:nvPicPr>
                    <p:blipFill>
                      <a:blip r:embed="rId2"/>
                      <a:stretch>
                        <a:fillRect/>
                      </a:stretch>
                    </p:blipFill>
                    <p:spPr>
                      <a:xfrm>
                        <a:off x="349250" y="3525838"/>
                        <a:ext cx="4529138" cy="1284287"/>
                      </a:xfrm>
                      <a:prstGeom prst="rect">
                        <a:avLst/>
                      </a:prstGeom>
                      <a:noFill/>
                      <a:ln w="38100">
                        <a:noFill/>
                        <a:miter/>
                      </a:ln>
                    </p:spPr>
                  </p:pic>
                </p:oleObj>
              </mc:Fallback>
            </mc:AlternateContent>
          </a:graphicData>
        </a:graphic>
      </p:graphicFrame>
      <p:sp>
        <p:nvSpPr>
          <p:cNvPr id="28676" name="Text Box 12"/>
          <p:cNvSpPr txBox="1"/>
          <p:nvPr/>
        </p:nvSpPr>
        <p:spPr>
          <a:xfrm>
            <a:off x="458788" y="2146300"/>
            <a:ext cx="8242300" cy="1257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buFont typeface="Arial" panose="020B0604020202020204" pitchFamily="34" charset="0"/>
              <a:buNone/>
            </a:pPr>
            <a:r>
              <a:rPr lang="zh-CN" altLang="en-US" dirty="0">
                <a:solidFill>
                  <a:schemeClr val="accent2"/>
                </a:solidFill>
                <a:latin typeface="方正姚体" panose="02010601030101010101" pitchFamily="2" charset="-122"/>
                <a:ea typeface="方正姚体" panose="02010601030101010101" pitchFamily="2" charset="-122"/>
              </a:rPr>
              <a:t>        </a:t>
            </a:r>
            <a:r>
              <a:rPr lang="zh-CN" altLang="en-US" sz="2200" dirty="0">
                <a:latin typeface="宋体" panose="02010600030101010101" pitchFamily="2" charset="-122"/>
              </a:rPr>
              <a:t>①</a:t>
            </a:r>
            <a:r>
              <a:rPr lang="zh-CN" altLang="en-US" sz="2200" dirty="0">
                <a:solidFill>
                  <a:schemeClr val="accent2"/>
                </a:solidFill>
                <a:latin typeface="宋体" panose="02010600030101010101" pitchFamily="2" charset="-122"/>
              </a:rPr>
              <a:t> </a:t>
            </a:r>
            <a:r>
              <a:rPr lang="zh-CN" altLang="en-US" sz="2200" u="sng" dirty="0">
                <a:solidFill>
                  <a:srgbClr val="0000FF"/>
                </a:solidFill>
                <a:latin typeface="宋体" panose="02010600030101010101" pitchFamily="2" charset="-122"/>
              </a:rPr>
              <a:t>主表 → 从表：</a:t>
            </a:r>
            <a:r>
              <a:rPr lang="zh-CN" altLang="en-US" sz="2200" dirty="0">
                <a:solidFill>
                  <a:schemeClr val="tx2"/>
                </a:solidFill>
                <a:latin typeface="宋体" panose="02010600030101010101" pitchFamily="2" charset="-122"/>
              </a:rPr>
              <a:t>表示“主表”中的主键值在修改和删除时，“从表”中与该主键值相同的外键值可“级联”（</a:t>
            </a:r>
            <a:r>
              <a:rPr lang="en-US" altLang="zh-CN" sz="2200" dirty="0">
                <a:solidFill>
                  <a:schemeClr val="tx2"/>
                </a:solidFill>
                <a:latin typeface="宋体" panose="02010600030101010101" pitchFamily="2" charset="-122"/>
              </a:rPr>
              <a:t>CASCADE</a:t>
            </a:r>
            <a:r>
              <a:rPr lang="zh-CN" altLang="en-US" sz="2200" dirty="0">
                <a:solidFill>
                  <a:schemeClr val="tx2"/>
                </a:solidFill>
                <a:latin typeface="宋体" panose="02010600030101010101" pitchFamily="2" charset="-122"/>
              </a:rPr>
              <a:t>）修改和删除，或“禁止”（</a:t>
            </a:r>
            <a:r>
              <a:rPr lang="en-US" altLang="zh-CN" sz="2200" dirty="0">
                <a:solidFill>
                  <a:schemeClr val="tx2"/>
                </a:solidFill>
                <a:latin typeface="宋体" panose="02010600030101010101" pitchFamily="2" charset="-122"/>
              </a:rPr>
              <a:t>NO ACTION</a:t>
            </a:r>
            <a:r>
              <a:rPr lang="zh-CN" altLang="en-US" sz="2200" dirty="0">
                <a:solidFill>
                  <a:schemeClr val="tx2"/>
                </a:solidFill>
                <a:latin typeface="宋体" panose="02010600030101010101" pitchFamily="2" charset="-122"/>
              </a:rPr>
              <a:t>）“主表”主键值的修改和删除。</a:t>
            </a:r>
            <a:endParaRPr lang="zh-CN" altLang="en-US" sz="2200" dirty="0">
              <a:solidFill>
                <a:schemeClr val="tx2"/>
              </a:solidFill>
              <a:latin typeface="宋体" panose="02010600030101010101" pitchFamily="2" charset="-122"/>
            </a:endParaRPr>
          </a:p>
        </p:txBody>
      </p:sp>
      <p:graphicFrame>
        <p:nvGraphicFramePr>
          <p:cNvPr id="28677" name="Object 13"/>
          <p:cNvGraphicFramePr>
            <a:graphicFrameLocks noChangeAspect="1"/>
          </p:cNvGraphicFramePr>
          <p:nvPr/>
        </p:nvGraphicFramePr>
        <p:xfrm>
          <a:off x="4745038" y="3579813"/>
          <a:ext cx="4210050" cy="1025525"/>
        </p:xfrm>
        <a:graphic>
          <a:graphicData uri="http://schemas.openxmlformats.org/presentationml/2006/ole">
            <mc:AlternateContent xmlns:mc="http://schemas.openxmlformats.org/markup-compatibility/2006">
              <mc:Choice xmlns:v="urn:schemas-microsoft-com:vml" Requires="v">
                <p:oleObj spid="_x0000_s3078" name="" r:id="rId3" imgW="2738120" imgH="793115" progId="Word.Picture.8">
                  <p:embed/>
                </p:oleObj>
              </mc:Choice>
              <mc:Fallback>
                <p:oleObj name="" r:id="rId3" imgW="2738120" imgH="793115" progId="Word.Picture.8">
                  <p:embed/>
                  <p:pic>
                    <p:nvPicPr>
                      <p:cNvPr id="0" name="图片 3077"/>
                      <p:cNvPicPr/>
                      <p:nvPr/>
                    </p:nvPicPr>
                    <p:blipFill>
                      <a:blip r:embed="rId4"/>
                      <a:stretch>
                        <a:fillRect/>
                      </a:stretch>
                    </p:blipFill>
                    <p:spPr>
                      <a:xfrm>
                        <a:off x="4745038" y="3579813"/>
                        <a:ext cx="4210050" cy="1025525"/>
                      </a:xfrm>
                      <a:prstGeom prst="rect">
                        <a:avLst/>
                      </a:prstGeom>
                      <a:noFill/>
                      <a:ln w="38100">
                        <a:noFill/>
                        <a:miter/>
                      </a:ln>
                    </p:spPr>
                  </p:pic>
                </p:oleObj>
              </mc:Fallback>
            </mc:AlternateContent>
          </a:graphicData>
        </a:graphic>
      </p:graphicFrame>
      <p:sp>
        <p:nvSpPr>
          <p:cNvPr id="28678" name="Text Box 14"/>
          <p:cNvSpPr txBox="1"/>
          <p:nvPr/>
        </p:nvSpPr>
        <p:spPr>
          <a:xfrm>
            <a:off x="523875" y="5005388"/>
            <a:ext cx="8356600" cy="8509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50000"/>
              </a:spcBef>
              <a:buClrTx/>
              <a:buSzTx/>
              <a:buFont typeface="Arial" panose="020B0604020202020204" pitchFamily="34" charset="0"/>
              <a:buNone/>
            </a:pPr>
            <a:r>
              <a:rPr lang="zh-CN" altLang="en-US" dirty="0">
                <a:solidFill>
                  <a:srgbClr val="FF3300"/>
                </a:solidFill>
                <a:latin typeface="宋体" panose="02010600030101010101" pitchFamily="2" charset="-122"/>
              </a:rPr>
              <a:t>    </a:t>
            </a:r>
            <a:r>
              <a:rPr lang="zh-CN" altLang="en-US" sz="2200" dirty="0">
                <a:solidFill>
                  <a:srgbClr val="FF3300"/>
                </a:solidFill>
                <a:latin typeface="宋体" panose="02010600030101010101" pitchFamily="2" charset="-122"/>
              </a:rPr>
              <a:t>②</a:t>
            </a:r>
            <a:r>
              <a:rPr lang="zh-CN" altLang="en-US" sz="2200" dirty="0">
                <a:solidFill>
                  <a:schemeClr val="accent2"/>
                </a:solidFill>
                <a:latin typeface="宋体" panose="02010600030101010101" pitchFamily="2" charset="-122"/>
              </a:rPr>
              <a:t> </a:t>
            </a:r>
            <a:r>
              <a:rPr lang="zh-CN" altLang="en-US" sz="2200" u="sng" dirty="0">
                <a:solidFill>
                  <a:srgbClr val="0000FF"/>
                </a:solidFill>
                <a:latin typeface="宋体" panose="02010600030101010101" pitchFamily="2" charset="-122"/>
              </a:rPr>
              <a:t>从表 → 主表：</a:t>
            </a:r>
            <a:r>
              <a:rPr lang="zh-CN" altLang="en-US" sz="2200" dirty="0">
                <a:solidFill>
                  <a:schemeClr val="tx2"/>
                </a:solidFill>
                <a:latin typeface="宋体" panose="02010600030101010101" pitchFamily="2" charset="-122"/>
              </a:rPr>
              <a:t>表示“从表”中的外键值在插入和修改时，其值应“参照”（</a:t>
            </a:r>
            <a:r>
              <a:rPr lang="en-US" altLang="zh-CN" sz="2200" dirty="0">
                <a:solidFill>
                  <a:schemeClr val="tx2"/>
                </a:solidFill>
                <a:latin typeface="宋体" panose="02010600030101010101" pitchFamily="2" charset="-122"/>
              </a:rPr>
              <a:t>Reference</a:t>
            </a:r>
            <a:r>
              <a:rPr lang="zh-CN" altLang="en-US" sz="2200" dirty="0">
                <a:solidFill>
                  <a:schemeClr val="tx2"/>
                </a:solidFill>
                <a:latin typeface="宋体" panose="02010600030101010101" pitchFamily="2" charset="-122"/>
              </a:rPr>
              <a:t>）“主表”中的主键值。</a:t>
            </a:r>
            <a:endParaRPr lang="zh-CN" altLang="en-US" sz="2200" dirty="0">
              <a:solidFill>
                <a:schemeClr val="tx2"/>
              </a:solidFill>
              <a:latin typeface="宋体" panose="02010600030101010101" pitchFamily="2" charset="-122"/>
            </a:endParaRPr>
          </a:p>
        </p:txBody>
      </p:sp>
      <p:sp>
        <p:nvSpPr>
          <p:cNvPr id="31751"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8676"/>
                                        </p:tgtEl>
                                        <p:attrNameLst>
                                          <p:attrName>style.visibility</p:attrName>
                                        </p:attrNameLst>
                                      </p:cBhvr>
                                      <p:to>
                                        <p:strVal val="visible"/>
                                      </p:to>
                                    </p:set>
                                    <p:animEffect transition="in" filter="box(in)">
                                      <p:cBhvr>
                                        <p:cTn id="7" dur="500"/>
                                        <p:tgtEl>
                                          <p:spTgt spid="2867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867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499"/>
                                          </p:stCondLst>
                                        </p:cTn>
                                        <p:tgtEl>
                                          <p:spTgt spid="2867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28678"/>
                                        </p:tgtEl>
                                        <p:attrNameLst>
                                          <p:attrName>style.visibility</p:attrName>
                                        </p:attrNameLst>
                                      </p:cBhvr>
                                      <p:to>
                                        <p:strVal val="visible"/>
                                      </p:to>
                                    </p:set>
                                    <p:animEffect transition="in" filter="box(in)">
                                      <p:cBhvr>
                                        <p:cTn id="20" dur="500"/>
                                        <p:tgtEl>
                                          <p:spTgt spid="286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p:bldP spid="2867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3"/>
          <p:cNvSpPr txBox="1"/>
          <p:nvPr/>
        </p:nvSpPr>
        <p:spPr>
          <a:xfrm>
            <a:off x="647700" y="1524000"/>
            <a:ext cx="7848600" cy="13795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en-US" altLang="zh-CN" sz="2600" dirty="0">
                <a:solidFill>
                  <a:srgbClr val="0033CC"/>
                </a:solidFill>
                <a:latin typeface="华文楷体" panose="02010600040101010101" pitchFamily="2" charset="-122"/>
              </a:rPr>
              <a:t>1</a:t>
            </a:r>
            <a:r>
              <a:rPr lang="zh-CN" altLang="en-US" sz="2600" dirty="0">
                <a:solidFill>
                  <a:srgbClr val="0033CC"/>
                </a:solidFill>
                <a:latin typeface="华文楷体" panose="02010600040101010101" pitchFamily="2" charset="-122"/>
              </a:rPr>
              <a:t>）利用外键约束定义</a:t>
            </a:r>
            <a:endParaRPr lang="en-US" altLang="zh-CN" sz="2600" dirty="0">
              <a:solidFill>
                <a:srgbClr val="0033CC"/>
              </a:solidFill>
              <a:latin typeface="华文楷体" panose="02010600040101010101" pitchFamily="2" charset="-122"/>
            </a:endParaRPr>
          </a:p>
          <a:p>
            <a:pPr marL="342900" lvl="0" indent="-342900" eaLnBrk="1" hangingPunct="1">
              <a:spcBef>
                <a:spcPct val="0"/>
              </a:spcBef>
              <a:buFont typeface="Arial" panose="020B0604020202020204" pitchFamily="34" charset="0"/>
              <a:buNone/>
            </a:pPr>
            <a:r>
              <a:rPr lang="zh-CN" altLang="en-US" sz="2800" dirty="0">
                <a:solidFill>
                  <a:srgbClr val="0033CC"/>
                </a:solidFill>
                <a:latin typeface="华文楷体" panose="02010600040101010101" pitchFamily="2" charset="-122"/>
              </a:rPr>
              <a:t> </a:t>
            </a:r>
            <a:r>
              <a:rPr lang="en-US" altLang="zh-CN" sz="2800" dirty="0">
                <a:solidFill>
                  <a:srgbClr val="0033CC"/>
                </a:solidFill>
                <a:latin typeface="华文楷体" panose="02010600040101010101" pitchFamily="2" charset="-122"/>
              </a:rPr>
              <a:t>--</a:t>
            </a:r>
            <a:r>
              <a:rPr lang="zh-CN" altLang="en-US" sz="2400" b="0" dirty="0">
                <a:latin typeface="楷体" panose="02010609060101010101" pitchFamily="49" charset="-122"/>
                <a:ea typeface="楷体" panose="02010609060101010101" pitchFamily="49" charset="-122"/>
              </a:rPr>
              <a:t>对从表定义外键限制（或称参照完整性）完成主表和从表间两个方向的数据完整性；</a:t>
            </a:r>
            <a:endParaRPr lang="zh-CN" altLang="en-US" sz="2400" b="0" dirty="0">
              <a:latin typeface="楷体" panose="02010609060101010101" pitchFamily="49" charset="-122"/>
              <a:ea typeface="楷体" panose="02010609060101010101" pitchFamily="49" charset="-122"/>
            </a:endParaRPr>
          </a:p>
          <a:p>
            <a:pPr marL="342900" lvl="0" indent="-342900" eaLnBrk="1" hangingPunct="1">
              <a:buFont typeface="Arial" panose="020B0604020202020204" pitchFamily="34" charset="0"/>
              <a:buNone/>
            </a:pPr>
            <a:endParaRPr lang="zh-CN" altLang="en-US" sz="2400" dirty="0">
              <a:solidFill>
                <a:srgbClr val="0033CC"/>
              </a:solidFill>
              <a:latin typeface="华文楷体" panose="02010600040101010101" pitchFamily="2" charset="-122"/>
            </a:endParaRPr>
          </a:p>
        </p:txBody>
      </p:sp>
      <p:sp>
        <p:nvSpPr>
          <p:cNvPr id="32771" name="Rectangle 2"/>
          <p:cNvSpPr txBox="1"/>
          <p:nvPr/>
        </p:nvSpPr>
        <p:spPr>
          <a:xfrm>
            <a:off x="514350" y="98107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表间数据完整性维护的实现</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30725" name="矩形 5"/>
          <p:cNvSpPr/>
          <p:nvPr/>
        </p:nvSpPr>
        <p:spPr>
          <a:xfrm>
            <a:off x="785813" y="3103563"/>
            <a:ext cx="7710487" cy="2693987"/>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ctake</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CID  char(10)  Foreign key references  Course(CID) ,</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SID  char(10)  Foreign key references stu(SID) on delete cascade on update cascade,</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mark      smallint         check(mark between 10 and 100),</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PRIMARY KEY (CID,SID)   )</a:t>
            </a:r>
            <a:endParaRPr lang="en-US" altLang="zh-CN" sz="2200" i="1" dirty="0">
              <a:latin typeface="Times New Roman" panose="02020603050405020304" pitchFamily="18" charset="0"/>
              <a:ea typeface="Arial Unicode MS" pitchFamily="34" charset="-122"/>
            </a:endParaRPr>
          </a:p>
        </p:txBody>
      </p:sp>
      <p:sp>
        <p:nvSpPr>
          <p:cNvPr id="32773"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5"/>
                                        </p:tgtEl>
                                        <p:attrNameLst>
                                          <p:attrName>style.visibility</p:attrName>
                                        </p:attrNameLst>
                                      </p:cBhvr>
                                      <p:to>
                                        <p:strVal val="visible"/>
                                      </p:to>
                                    </p:set>
                                    <p:anim calcmode="lin" valueType="num">
                                      <p:cBhvr additive="base">
                                        <p:cTn id="7" dur="500" fill="hold"/>
                                        <p:tgtEl>
                                          <p:spTgt spid="30725"/>
                                        </p:tgtEl>
                                        <p:attrNameLst>
                                          <p:attrName>ppt_x</p:attrName>
                                        </p:attrNameLst>
                                      </p:cBhvr>
                                      <p:tavLst>
                                        <p:tav tm="0">
                                          <p:val>
                                            <p:strVal val="#ppt_x"/>
                                          </p:val>
                                        </p:tav>
                                        <p:tav tm="100000">
                                          <p:val>
                                            <p:strVal val="#ppt_x"/>
                                          </p:val>
                                        </p:tav>
                                      </p:tavLst>
                                    </p:anim>
                                    <p:anim calcmode="lin" valueType="num">
                                      <p:cBhvr additive="base">
                                        <p:cTn id="8" dur="500" fill="hold"/>
                                        <p:tgtEl>
                                          <p:spTgt spid="307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5"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3"/>
          <p:cNvSpPr txBox="1"/>
          <p:nvPr/>
        </p:nvSpPr>
        <p:spPr>
          <a:xfrm>
            <a:off x="601663" y="904875"/>
            <a:ext cx="7940675" cy="25527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en-US" altLang="zh-CN" sz="2600" dirty="0">
                <a:solidFill>
                  <a:srgbClr val="0033CC"/>
                </a:solidFill>
                <a:latin typeface="华文楷体" panose="02010600040101010101" pitchFamily="2" charset="-122"/>
              </a:rPr>
              <a:t>2</a:t>
            </a:r>
            <a:r>
              <a:rPr lang="zh-CN" altLang="en-US" sz="2600" dirty="0">
                <a:solidFill>
                  <a:srgbClr val="0033CC"/>
                </a:solidFill>
                <a:latin typeface="华文楷体" panose="02010600040101010101" pitchFamily="2" charset="-122"/>
              </a:rPr>
              <a:t>）利用触发器</a:t>
            </a:r>
            <a:endParaRPr lang="en-US" altLang="zh-CN" sz="2600" dirty="0">
              <a:solidFill>
                <a:srgbClr val="0033CC"/>
              </a:solidFill>
              <a:latin typeface="华文楷体" panose="02010600040101010101" pitchFamily="2" charset="-122"/>
            </a:endParaRPr>
          </a:p>
          <a:p>
            <a:pPr marL="342900" lvl="0" indent="-342900" eaLnBrk="1" hangingPunct="1">
              <a:spcBef>
                <a:spcPct val="0"/>
              </a:spcBef>
              <a:buFont typeface="Arial" panose="020B0604020202020204" pitchFamily="34" charset="0"/>
              <a:buNone/>
            </a:pPr>
            <a:r>
              <a:rPr lang="zh-CN" altLang="en-US" sz="2800" b="0" dirty="0">
                <a:solidFill>
                  <a:srgbClr val="0033CC"/>
                </a:solidFill>
                <a:latin typeface="华文楷体" panose="02010600040101010101" pitchFamily="2" charset="-122"/>
              </a:rPr>
              <a:t> </a:t>
            </a:r>
            <a:r>
              <a:rPr lang="en-US" altLang="zh-CN" sz="2200" b="0" dirty="0">
                <a:solidFill>
                  <a:srgbClr val="0033CC"/>
                </a:solidFill>
                <a:latin typeface="华文楷体" panose="02010600040101010101" pitchFamily="2" charset="-122"/>
              </a:rPr>
              <a:t>--</a:t>
            </a:r>
            <a:r>
              <a:rPr lang="zh-CN" altLang="en-US" sz="2200" b="0" dirty="0">
                <a:latin typeface="楷体" panose="02010609060101010101" pitchFamily="49" charset="-122"/>
                <a:ea typeface="楷体" panose="02010609060101010101" pitchFamily="49" charset="-122"/>
              </a:rPr>
              <a:t>主表的触发器维护主表到从表方向的数据完整性，而从表的触发器维护从表到主表方向的参照完整性。 </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5"/>
              </a:spcBef>
            </a:pPr>
            <a:r>
              <a:rPr lang="zh-CN" altLang="en-US" sz="2400" dirty="0">
                <a:solidFill>
                  <a:srgbClr val="0033CC"/>
                </a:solidFill>
                <a:latin typeface="华文楷体" panose="02010600040101010101" pitchFamily="2" charset="-122"/>
              </a:rPr>
              <a:t>SQL-92标准只支持外键约束方式。如果使用触发器，必须检查所用的RDBMS是否支持。</a:t>
            </a:r>
            <a:endParaRPr lang="zh-CN" altLang="en-US" sz="2400" dirty="0">
              <a:solidFill>
                <a:srgbClr val="0033CC"/>
              </a:solidFill>
              <a:latin typeface="华文楷体" panose="02010600040101010101" pitchFamily="2" charset="-122"/>
            </a:endParaRPr>
          </a:p>
        </p:txBody>
      </p:sp>
      <p:sp>
        <p:nvSpPr>
          <p:cNvPr id="33795" name="文本框 1"/>
          <p:cNvSpPr txBox="1"/>
          <p:nvPr/>
        </p:nvSpPr>
        <p:spPr>
          <a:xfrm>
            <a:off x="800100" y="3273425"/>
            <a:ext cx="7651750" cy="2722563"/>
          </a:xfrm>
          <a:prstGeom prst="rect">
            <a:avLst/>
          </a:prstGeom>
          <a:solidFill>
            <a:schemeClr val="accent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95000"/>
              </a:lnSpc>
              <a:buFont typeface="Arial" panose="020B0604020202020204" pitchFamily="34" charset="0"/>
              <a:buNone/>
            </a:pPr>
            <a:r>
              <a:rPr lang="zh-CN" altLang="en-US" dirty="0"/>
              <a:t>CREATE  TRIGGER  pub_del</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ON  publishers  </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FOR  DELETE</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AS</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IF @@rowcount=0</a:t>
            </a:r>
            <a:r>
              <a:rPr lang="en-US" altLang="zh-CN" dirty="0"/>
              <a:t> </a:t>
            </a:r>
            <a:r>
              <a:rPr lang="zh-CN" altLang="en-US" dirty="0"/>
              <a:t>RETURN</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DELETE titles</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FROM  titles t, deleted d</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WHERE t.pub_id=d.pub_id</a:t>
            </a:r>
            <a:endParaRPr lang="zh-CN" altLang="en-US" dirty="0"/>
          </a:p>
          <a:p>
            <a:pPr marL="342900" lvl="0" indent="-342900" eaLnBrk="1" hangingPunct="1">
              <a:lnSpc>
                <a:spcPct val="95000"/>
              </a:lnSpc>
              <a:spcBef>
                <a:spcPct val="0"/>
              </a:spcBef>
              <a:buFont typeface="Arial" panose="020B0604020202020204" pitchFamily="34" charset="0"/>
              <a:buNone/>
            </a:pPr>
            <a:r>
              <a:rPr lang="zh-CN" altLang="en-US" dirty="0"/>
              <a:t>	RETURN</a:t>
            </a:r>
            <a:endParaRPr lang="zh-CN" altLang="en-US" dirty="0"/>
          </a:p>
        </p:txBody>
      </p:sp>
      <p:sp>
        <p:nvSpPr>
          <p:cNvPr id="33796"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Rectangle 3"/>
          <p:cNvSpPr txBox="1"/>
          <p:nvPr/>
        </p:nvSpPr>
        <p:spPr>
          <a:xfrm>
            <a:off x="593725" y="1163638"/>
            <a:ext cx="8166100" cy="47561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600"/>
              </a:spcBef>
              <a:buFont typeface="Arial" panose="020B0604020202020204" pitchFamily="34" charset="0"/>
              <a:buNone/>
            </a:pPr>
            <a:r>
              <a:rPr lang="en-US" altLang="zh-CN" sz="2600" dirty="0">
                <a:solidFill>
                  <a:srgbClr val="0033CC"/>
                </a:solidFill>
                <a:latin typeface="华文楷体" panose="02010600040101010101" pitchFamily="2" charset="-122"/>
              </a:rPr>
              <a:t>      </a:t>
            </a:r>
            <a:r>
              <a:rPr lang="en-US" altLang="zh-CN" sz="2400" dirty="0">
                <a:solidFill>
                  <a:srgbClr val="0033CC"/>
                </a:solidFill>
                <a:latin typeface="华文楷体" panose="02010600040101010101" pitchFamily="2" charset="-122"/>
              </a:rPr>
              <a:t>3</a:t>
            </a:r>
            <a:r>
              <a:rPr lang="zh-CN" altLang="en-US" sz="2400" dirty="0">
                <a:solidFill>
                  <a:srgbClr val="0033CC"/>
                </a:solidFill>
                <a:latin typeface="华文楷体" panose="02010600040101010101" pitchFamily="2" charset="-122"/>
              </a:rPr>
              <a:t>）断言限制（Assertion）</a:t>
            </a:r>
            <a:r>
              <a:rPr lang="en-US" altLang="zh-CN" sz="2600" dirty="0">
                <a:solidFill>
                  <a:srgbClr val="0033CC"/>
                </a:solidFill>
                <a:latin typeface="华文楷体" panose="02010600040101010101" pitchFamily="2" charset="-122"/>
              </a:rPr>
              <a:t>:</a:t>
            </a:r>
            <a:r>
              <a:rPr lang="zh-CN" altLang="en-US" sz="2200" u="sng" dirty="0">
                <a:solidFill>
                  <a:srgbClr val="0033CC"/>
                </a:solidFill>
                <a:latin typeface="华文楷体" panose="02010600040101010101" pitchFamily="2" charset="-122"/>
              </a:rPr>
              <a:t>检查表中个别列、整个表或表与表之间是否满足指定的条件。</a:t>
            </a:r>
            <a:r>
              <a:rPr lang="zh-CN" altLang="en-US" sz="2400" dirty="0">
                <a:latin typeface="华文楷体" panose="02010600040101010101" pitchFamily="2" charset="-122"/>
              </a:rPr>
              <a:t>与</a:t>
            </a:r>
            <a:r>
              <a:rPr lang="zh-CN" altLang="en-US" sz="2400" dirty="0">
                <a:solidFill>
                  <a:srgbClr val="A50021"/>
                </a:solidFill>
                <a:latin typeface="华文楷体" panose="02010600040101010101" pitchFamily="2" charset="-122"/>
              </a:rPr>
              <a:t>多个表</a:t>
            </a:r>
            <a:r>
              <a:rPr lang="zh-CN" altLang="en-US" sz="2400" dirty="0">
                <a:latin typeface="华文楷体" panose="02010600040101010101" pitchFamily="2" charset="-122"/>
              </a:rPr>
              <a:t>有关，是关系间的约束。</a:t>
            </a:r>
            <a:endParaRPr lang="zh-CN" altLang="en-US" sz="2400" dirty="0">
              <a:latin typeface="华文楷体" panose="02010600040101010101" pitchFamily="2" charset="-122"/>
            </a:endParaRPr>
          </a:p>
          <a:p>
            <a:pPr marL="0" lvl="0" indent="0" eaLnBrk="1" hangingPunct="1">
              <a:lnSpc>
                <a:spcPct val="120000"/>
              </a:lnSpc>
              <a:spcBef>
                <a:spcPts val="1200"/>
              </a:spcBef>
              <a:buFont typeface="Arial" panose="020B0604020202020204" pitchFamily="34" charset="0"/>
              <a:buNone/>
            </a:pPr>
            <a:r>
              <a:rPr lang="zh-CN" altLang="en-US" sz="2400" dirty="0">
                <a:latin typeface="华文楷体" panose="02010600040101010101" pitchFamily="2" charset="-122"/>
              </a:rPr>
              <a:t>例如：希望限定计算机图书的作者一定是女性。</a:t>
            </a:r>
            <a:endParaRPr lang="zh-CN" altLang="en-US" sz="2400" dirty="0">
              <a:latin typeface="华文楷体" panose="02010600040101010101" pitchFamily="2" charset="-122"/>
            </a:endParaRPr>
          </a:p>
          <a:p>
            <a:pPr marL="0" lvl="0" indent="0" eaLnBrk="1" hangingPunct="1">
              <a:lnSpc>
                <a:spcPct val="110000"/>
              </a:lnSpc>
              <a:spcBef>
                <a:spcPts val="600"/>
              </a:spcBef>
              <a:buFont typeface="Arial" panose="020B0604020202020204" pitchFamily="34" charset="0"/>
              <a:buNone/>
            </a:pPr>
            <a:r>
              <a:rPr lang="zh-CN" altLang="en-US" sz="2400" dirty="0">
                <a:latin typeface="华文楷体" panose="02010600040101010101" pitchFamily="2" charset="-122"/>
              </a:rPr>
              <a:t>这时，仅靠键约束、唯一约束和外键限制不能实现，因为这个要求涉及到两张表：Book，Author。可以写为：</a:t>
            </a:r>
            <a:endParaRPr lang="zh-CN" altLang="en-US" sz="2400" dirty="0">
              <a:latin typeface="华文楷体" panose="02010600040101010101" pitchFamily="2" charset="-122"/>
            </a:endParaRPr>
          </a:p>
          <a:p>
            <a:pPr marL="0" lvl="0" indent="0" eaLnBrk="1" hangingPunct="1">
              <a:lnSpc>
                <a:spcPct val="110000"/>
              </a:lnSpc>
              <a:spcBef>
                <a:spcPts val="600"/>
              </a:spcBef>
              <a:buFont typeface="Arial" panose="020B0604020202020204" pitchFamily="34" charset="0"/>
              <a:buNone/>
            </a:pPr>
            <a:r>
              <a:rPr lang="zh-CN" altLang="en-US" sz="2400" dirty="0">
                <a:latin typeface="华文楷体" panose="02010600040101010101" pitchFamily="2" charset="-122"/>
              </a:rPr>
              <a:t> </a:t>
            </a:r>
            <a:r>
              <a:rPr lang="zh-CN" altLang="en-US" sz="2400" dirty="0">
                <a:latin typeface="楷体" panose="02010609060101010101" pitchFamily="49" charset="-122"/>
                <a:ea typeface="楷体" panose="02010609060101010101" pitchFamily="49" charset="-122"/>
              </a:rPr>
              <a:t>Create Assertion NoManComputerAuthor </a:t>
            </a:r>
            <a:endParaRPr lang="zh-CN" altLang="en-US" sz="2400" dirty="0">
              <a:latin typeface="楷体" panose="02010609060101010101" pitchFamily="49" charset="-122"/>
              <a:ea typeface="楷体" panose="02010609060101010101" pitchFamily="49" charset="-122"/>
            </a:endParaRPr>
          </a:p>
          <a:p>
            <a:pPr marL="0" lvl="0" indent="0" eaLnBrk="1" hangingPunct="1">
              <a:lnSpc>
                <a:spcPct val="110000"/>
              </a:lnSpc>
              <a:spcBef>
                <a:spcPts val="600"/>
              </a:spcBef>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   Check（Book.计算机类.作者 ∩Author.性别为男性=</a:t>
            </a:r>
            <a:r>
              <a:rPr lang="el-GR" altLang="en-US" sz="2400" dirty="0">
                <a:latin typeface="楷体" panose="02010609060101010101" pitchFamily="49" charset="-122"/>
                <a:ea typeface="楷体" panose="02010609060101010101" pitchFamily="49" charset="-122"/>
              </a:rPr>
              <a:t>φ</a:t>
            </a:r>
            <a:r>
              <a:rPr lang="zh-CN" altLang="en-US" sz="2400" dirty="0">
                <a:latin typeface="楷体" panose="02010609060101010101" pitchFamily="49" charset="-122"/>
                <a:ea typeface="楷体" panose="02010609060101010101" pitchFamily="49" charset="-122"/>
              </a:rPr>
              <a:t>)       </a:t>
            </a:r>
            <a:endParaRPr lang="zh-CN" altLang="en-US" sz="2400" dirty="0">
              <a:latin typeface="楷体" panose="02010609060101010101" pitchFamily="49" charset="-122"/>
              <a:ea typeface="楷体" panose="02010609060101010101" pitchFamily="49" charset="-122"/>
            </a:endParaRPr>
          </a:p>
          <a:p>
            <a:pPr marL="0" lvl="0" indent="0" eaLnBrk="1" hangingPunct="1">
              <a:lnSpc>
                <a:spcPct val="125000"/>
              </a:lnSpc>
              <a:spcBef>
                <a:spcPts val="600"/>
              </a:spcBef>
            </a:pPr>
            <a:r>
              <a:rPr lang="zh-CN" altLang="en-US" sz="2400" dirty="0">
                <a:latin typeface="华文楷体" panose="02010600040101010101" pitchFamily="2" charset="-122"/>
              </a:rPr>
              <a:t>与主键约束和唯一限制的定义不同，定义</a:t>
            </a:r>
            <a:r>
              <a:rPr lang="zh-CN" altLang="en-US" sz="2400" u="sng" dirty="0">
                <a:solidFill>
                  <a:srgbClr val="A50021"/>
                </a:solidFill>
                <a:latin typeface="华文楷体" panose="02010600040101010101" pitchFamily="2" charset="-122"/>
              </a:rPr>
              <a:t>表约束</a:t>
            </a:r>
            <a:r>
              <a:rPr lang="zh-CN" altLang="en-US" sz="2400" dirty="0">
                <a:latin typeface="华文楷体" panose="02010600040101010101" pitchFamily="2" charset="-122"/>
              </a:rPr>
              <a:t>和</a:t>
            </a:r>
            <a:r>
              <a:rPr lang="zh-CN" altLang="en-US" sz="2400" u="sng" dirty="0">
                <a:solidFill>
                  <a:srgbClr val="A50021"/>
                </a:solidFill>
                <a:latin typeface="华文楷体" panose="02010600040101010101" pitchFamily="2" charset="-122"/>
              </a:rPr>
              <a:t>断言约束</a:t>
            </a:r>
            <a:r>
              <a:rPr lang="zh-CN" altLang="en-US" sz="2400" dirty="0">
                <a:latin typeface="华文楷体" panose="02010600040101010101" pitchFamily="2" charset="-122"/>
              </a:rPr>
              <a:t>时要显式定义。</a:t>
            </a:r>
            <a:endParaRPr lang="zh-CN" altLang="en-US" sz="2400" dirty="0">
              <a:latin typeface="华文楷体" panose="02010600040101010101" pitchFamily="2" charset="-122"/>
            </a:endParaRPr>
          </a:p>
        </p:txBody>
      </p:sp>
      <p:sp>
        <p:nvSpPr>
          <p:cNvPr id="34819" name="Rectangle 2"/>
          <p:cNvSpPr/>
          <p:nvPr/>
        </p:nvSpPr>
        <p:spPr>
          <a:xfrm>
            <a:off x="457200" y="920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p:nvPr/>
        </p:nvSpPr>
        <p:spPr>
          <a:xfrm>
            <a:off x="384175" y="1250950"/>
            <a:ext cx="8255000" cy="117157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0000"/>
              </a:lnSpc>
              <a:spcBef>
                <a:spcPct val="0"/>
              </a:spcBef>
              <a:spcAft>
                <a:spcPts val="600"/>
              </a:spcAft>
              <a:buClrTx/>
              <a:buSzTx/>
              <a:buFont typeface="Arial" panose="020B0604020202020204" pitchFamily="34" charset="0"/>
              <a:buNone/>
            </a:pPr>
            <a:r>
              <a:rPr lang="zh-CN" altLang="en-US" sz="2400" dirty="0">
                <a:solidFill>
                  <a:srgbClr val="3333CC"/>
                </a:solidFill>
                <a:ea typeface="黑体" panose="02010609060101010101" pitchFamily="49" charset="-122"/>
              </a:rPr>
              <a:t>    </a:t>
            </a:r>
            <a:r>
              <a:rPr lang="zh-CN" altLang="en-US" sz="2400" dirty="0">
                <a:solidFill>
                  <a:srgbClr val="FF0000"/>
                </a:solidFill>
                <a:latin typeface="宋体" panose="02010600030101010101" pitchFamily="2" charset="-122"/>
              </a:rPr>
              <a:t>（</a:t>
            </a:r>
            <a:r>
              <a:rPr lang="en-US" altLang="zh-CN" sz="2400" dirty="0">
                <a:solidFill>
                  <a:srgbClr val="FF0000"/>
                </a:solidFill>
                <a:latin typeface="宋体" panose="02010600030101010101" pitchFamily="2" charset="-122"/>
              </a:rPr>
              <a:t>3</a:t>
            </a:r>
            <a:r>
              <a:rPr lang="zh-CN" altLang="en-US" sz="2400" dirty="0">
                <a:solidFill>
                  <a:srgbClr val="FF0000"/>
                </a:solidFill>
                <a:latin typeface="宋体" panose="02010600030101010101" pitchFamily="2" charset="-122"/>
              </a:rPr>
              <a:t>）</a:t>
            </a:r>
            <a:r>
              <a:rPr lang="zh-CN" altLang="en-US" sz="2400" u="sng" dirty="0">
                <a:solidFill>
                  <a:srgbClr val="FF0000"/>
                </a:solidFill>
                <a:ea typeface="黑体" panose="02010609060101010101" pitchFamily="49" charset="-122"/>
              </a:rPr>
              <a:t>用户定义的完整性</a:t>
            </a:r>
            <a:endParaRPr lang="zh-CN" altLang="en-US" sz="2400" u="sng" dirty="0">
              <a:solidFill>
                <a:srgbClr val="FF0000"/>
              </a:solidFill>
              <a:ea typeface="黑体" panose="02010609060101010101" pitchFamily="49" charset="-122"/>
            </a:endParaRPr>
          </a:p>
          <a:p>
            <a:pPr marL="0" lvl="0" indent="0">
              <a:lnSpc>
                <a:spcPct val="120000"/>
              </a:lnSpc>
              <a:spcBef>
                <a:spcPct val="0"/>
              </a:spcBef>
              <a:buClrTx/>
              <a:buSzTx/>
              <a:buFont typeface="Arial" panose="020B0604020202020204" pitchFamily="34" charset="0"/>
              <a:buNone/>
            </a:pPr>
            <a:r>
              <a:rPr lang="zh-CN" altLang="en-US" dirty="0">
                <a:ea typeface="黑体" panose="02010609060101010101" pitchFamily="49" charset="-122"/>
              </a:rPr>
              <a:t>       </a:t>
            </a:r>
            <a:r>
              <a:rPr lang="zh-CN" altLang="en-US" sz="2200" u="sng" dirty="0">
                <a:solidFill>
                  <a:srgbClr val="0033CC"/>
                </a:solidFill>
                <a:ea typeface="黑体" panose="02010609060101010101" pitchFamily="49" charset="-122"/>
              </a:rPr>
              <a:t>任何</a:t>
            </a:r>
            <a:r>
              <a:rPr lang="en-US" altLang="zh-CN" sz="2200" u="sng" dirty="0">
                <a:solidFill>
                  <a:srgbClr val="0033CC"/>
                </a:solidFill>
                <a:ea typeface="黑体" panose="02010609060101010101" pitchFamily="49" charset="-122"/>
              </a:rPr>
              <a:t>RDBMS</a:t>
            </a:r>
            <a:r>
              <a:rPr lang="zh-CN" altLang="en-US" sz="2200" u="sng" dirty="0">
                <a:solidFill>
                  <a:srgbClr val="0033CC"/>
                </a:solidFill>
                <a:ea typeface="黑体" panose="02010609060101010101" pitchFamily="49" charset="-122"/>
              </a:rPr>
              <a:t>都应该支持实体完整性和参照完整性</a:t>
            </a:r>
            <a:r>
              <a:rPr lang="zh-CN" altLang="en-US" dirty="0">
                <a:ea typeface="黑体" panose="02010609060101010101" pitchFamily="49" charset="-122"/>
              </a:rPr>
              <a:t>，</a:t>
            </a:r>
            <a:r>
              <a:rPr lang="zh-CN" altLang="en-US" sz="2200" b="0" dirty="0">
                <a:latin typeface="宋体" panose="02010600030101010101" pitchFamily="2" charset="-122"/>
              </a:rPr>
              <a:t>除此之外，不同的数据库应用系统根据其应用环境的不同，往往还需要一些特殊的约束条件，如：</a:t>
            </a:r>
            <a:endParaRPr lang="zh-CN" altLang="en-US" sz="2200" b="0" dirty="0">
              <a:solidFill>
                <a:srgbClr val="3333CC"/>
              </a:solidFill>
              <a:latin typeface="宋体" panose="02010600030101010101" pitchFamily="2" charset="-122"/>
            </a:endParaRPr>
          </a:p>
        </p:txBody>
      </p:sp>
      <p:sp>
        <p:nvSpPr>
          <p:cNvPr id="4" name="Rectangle 8"/>
          <p:cNvSpPr/>
          <p:nvPr/>
        </p:nvSpPr>
        <p:spPr>
          <a:xfrm>
            <a:off x="246063" y="2727325"/>
            <a:ext cx="8242300" cy="1566863"/>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ts val="600"/>
              </a:spcBef>
              <a:buClrTx/>
              <a:buSzTx/>
              <a:buNone/>
            </a:pPr>
            <a:endParaRPr lang="zh-CN" altLang="en-US" sz="2200" dirty="0"/>
          </a:p>
        </p:txBody>
      </p:sp>
      <p:sp>
        <p:nvSpPr>
          <p:cNvPr id="5" name="Rectangle 8"/>
          <p:cNvSpPr/>
          <p:nvPr/>
        </p:nvSpPr>
        <p:spPr>
          <a:xfrm>
            <a:off x="723900" y="2801938"/>
            <a:ext cx="7575550" cy="1276350"/>
          </a:xfrm>
          <a:prstGeom prst="rect">
            <a:avLst/>
          </a:prstGeom>
          <a:noFill/>
          <a:ln w="9525" cap="flat" cmpd="dbl">
            <a:solidFill>
              <a:schemeClr val="accent1"/>
            </a:solidFill>
            <a:prstDash val="solid"/>
            <a:round/>
            <a:headEnd type="none" w="med" len="med"/>
            <a:tailEnd type="none" w="med" len="med"/>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200"/>
              </a:spcBef>
              <a:buClrTx/>
              <a:buSzTx/>
              <a:buFont typeface="Wingdings" panose="05000000000000000000" pitchFamily="2" charset="2"/>
              <a:buChar char="ü"/>
            </a:pPr>
            <a:r>
              <a:rPr lang="zh-CN" altLang="en-US" sz="2100" dirty="0">
                <a:latin typeface="楷体" panose="02010609060101010101" pitchFamily="49" charset="-122"/>
                <a:ea typeface="楷体" panose="02010609060101010101" pitchFamily="49" charset="-122"/>
              </a:rPr>
              <a:t>某个非主属性不能取空值</a:t>
            </a:r>
            <a:endParaRPr lang="zh-CN" altLang="en-US" sz="2100" dirty="0">
              <a:solidFill>
                <a:srgbClr val="FF0000"/>
              </a:solidFill>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100" dirty="0">
                <a:latin typeface="楷体" panose="02010609060101010101" pitchFamily="49" charset="-122"/>
                <a:ea typeface="楷体" panose="02010609060101010101" pitchFamily="49" charset="-122"/>
              </a:rPr>
              <a:t>某个属性的取值必须在某个范围内</a:t>
            </a:r>
            <a:endParaRPr lang="zh-CN" altLang="en-US" sz="21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100" dirty="0">
                <a:latin typeface="楷体" panose="02010609060101010101" pitchFamily="49" charset="-122"/>
                <a:ea typeface="楷体" panose="02010609060101010101" pitchFamily="49" charset="-122"/>
              </a:rPr>
              <a:t>某些属性值之间应满足一定的函数关系等</a:t>
            </a:r>
            <a:endParaRPr lang="zh-CN" altLang="en-US" sz="2100" dirty="0">
              <a:latin typeface="楷体" panose="02010609060101010101" pitchFamily="49" charset="-122"/>
              <a:ea typeface="楷体" panose="02010609060101010101" pitchFamily="49" charset="-122"/>
            </a:endParaRPr>
          </a:p>
        </p:txBody>
      </p:sp>
      <p:sp>
        <p:nvSpPr>
          <p:cNvPr id="7" name="Rectangle 8"/>
          <p:cNvSpPr/>
          <p:nvPr/>
        </p:nvSpPr>
        <p:spPr>
          <a:xfrm>
            <a:off x="666750" y="4305300"/>
            <a:ext cx="8020050" cy="881063"/>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ts val="600"/>
              </a:spcBef>
              <a:buClrTx/>
              <a:buSzTx/>
              <a:buFont typeface="Wingdings" panose="05000000000000000000" pitchFamily="2" charset="2"/>
              <a:buChar char="p"/>
            </a:pPr>
            <a:r>
              <a:rPr lang="zh-CN" altLang="en-US" sz="2200" dirty="0"/>
              <a:t>在用户定义完整性中最常见的是限定属性的取值范围，即对值域的约束。</a:t>
            </a:r>
            <a:endParaRPr lang="zh-CN" altLang="en-US" sz="2200" dirty="0"/>
          </a:p>
        </p:txBody>
      </p:sp>
      <p:sp>
        <p:nvSpPr>
          <p:cNvPr id="2" name="Rectangle 8"/>
          <p:cNvSpPr/>
          <p:nvPr/>
        </p:nvSpPr>
        <p:spPr>
          <a:xfrm>
            <a:off x="530225" y="5097463"/>
            <a:ext cx="8156575" cy="574675"/>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25"/>
              </a:spcBef>
              <a:buClrTx/>
              <a:buSzTx/>
              <a:buNone/>
            </a:pPr>
            <a:br>
              <a:rPr lang="zh-CN" altLang="en-US" sz="2200" u="sng" dirty="0">
                <a:solidFill>
                  <a:srgbClr val="FF0000"/>
                </a:solidFill>
              </a:rPr>
            </a:br>
            <a:r>
              <a:rPr lang="zh-CN" altLang="en-US" sz="2400" dirty="0">
                <a:solidFill>
                  <a:srgbClr val="FF0000"/>
                </a:solidFill>
              </a:rPr>
              <a:t>      </a:t>
            </a:r>
            <a:r>
              <a:rPr lang="zh-CN" altLang="en-US" sz="2400" u="sng" dirty="0">
                <a:solidFill>
                  <a:srgbClr val="FF0000"/>
                </a:solidFill>
              </a:rPr>
              <a:t>例：</a:t>
            </a:r>
            <a:r>
              <a:rPr lang="zh-CN" altLang="en-US" sz="2200" dirty="0"/>
              <a:t>学生的考试成绩的取值范围应为</a:t>
            </a:r>
            <a:r>
              <a:rPr lang="en-US" altLang="zh-CN" sz="2200" dirty="0"/>
              <a:t>0</a:t>
            </a:r>
            <a:r>
              <a:rPr lang="zh-CN" altLang="en-US" sz="2200" dirty="0"/>
              <a:t>－</a:t>
            </a:r>
            <a:r>
              <a:rPr lang="en-US" altLang="zh-CN" sz="2200" dirty="0"/>
              <a:t>100</a:t>
            </a:r>
            <a:r>
              <a:rPr lang="zh-CN" altLang="en-US" sz="2200" dirty="0"/>
              <a:t>，或取</a:t>
            </a:r>
            <a:r>
              <a:rPr lang="en-US" altLang="zh-CN" sz="2200" dirty="0"/>
              <a:t>{</a:t>
            </a:r>
            <a:r>
              <a:rPr lang="zh-CN" altLang="en-US" sz="2200" dirty="0"/>
              <a:t>优，良，</a:t>
            </a:r>
            <a:br>
              <a:rPr lang="zh-CN" altLang="en-US" sz="2200" dirty="0"/>
            </a:br>
            <a:r>
              <a:rPr lang="zh-CN" altLang="en-US" sz="2200" dirty="0"/>
              <a:t>中，及格，不及格</a:t>
            </a:r>
            <a:r>
              <a:rPr lang="en-US" altLang="zh-CN" sz="2200" dirty="0"/>
              <a:t>}</a:t>
            </a:r>
            <a:endParaRPr lang="en-US" altLang="zh-CN" sz="2200" dirty="0"/>
          </a:p>
        </p:txBody>
      </p:sp>
      <p:sp>
        <p:nvSpPr>
          <p:cNvPr id="35847"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 calcmode="lin" valueType="num">
                                      <p:cBhvr additive="base">
                                        <p:cTn id="7" dur="500" fill="hold"/>
                                        <p:tgtEl>
                                          <p:spTgt spid="31746"/>
                                        </p:tgtEl>
                                        <p:attrNameLst>
                                          <p:attrName>ppt_x</p:attrName>
                                        </p:attrNameLst>
                                      </p:cBhvr>
                                      <p:tavLst>
                                        <p:tav tm="0">
                                          <p:val>
                                            <p:strVal val="#ppt_x"/>
                                          </p:val>
                                        </p:tav>
                                        <p:tav tm="100000">
                                          <p:val>
                                            <p:strVal val="#ppt_x"/>
                                          </p:val>
                                        </p:tav>
                                      </p:tavLst>
                                    </p:anim>
                                    <p:anim calcmode="lin" valueType="num">
                                      <p:cBhvr additive="base">
                                        <p:cTn id="8" dur="500" fill="hold"/>
                                        <p:tgtEl>
                                          <p:spTgt spid="3174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ppt_x"/>
                                          </p:val>
                                        </p:tav>
                                        <p:tav tm="100000">
                                          <p:val>
                                            <p:strVal val="#ppt_x"/>
                                          </p:val>
                                        </p:tav>
                                      </p:tavLst>
                                    </p:anim>
                                    <p:anim calcmode="lin" valueType="num">
                                      <p:cBhvr>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ppt_x</p:attrName>
                                        </p:attrNameLst>
                                      </p:cBhvr>
                                      <p:tavLst>
                                        <p:tav tm="0">
                                          <p:val>
                                            <p:strVal val="#ppt_x"/>
                                          </p:val>
                                        </p:tav>
                                        <p:tav tm="100000">
                                          <p:val>
                                            <p:strVal val="#ppt_x"/>
                                          </p:val>
                                        </p:tav>
                                      </p:tavLst>
                                    </p:anim>
                                    <p:anim calcmode="lin" valueType="num">
                                      <p:cBhvr>
                                        <p:cTn id="23" dur="500" fill="hold"/>
                                        <p:tgtEl>
                                          <p:spTgt spid="7"/>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ppt_x</p:attrName>
                                        </p:attrNameLst>
                                      </p:cBhvr>
                                      <p:tavLst>
                                        <p:tav tm="0">
                                          <p:val>
                                            <p:strVal val="#ppt_x"/>
                                          </p:val>
                                        </p:tav>
                                        <p:tav tm="100000">
                                          <p:val>
                                            <p:strVal val="#ppt_x"/>
                                          </p:val>
                                        </p:tav>
                                      </p:tavLst>
                                    </p:anim>
                                    <p:anim calcmode="lin" valueType="num">
                                      <p:cBhvr>
                                        <p:cTn id="2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txBox="1"/>
          <p:nvPr/>
        </p:nvSpPr>
        <p:spPr>
          <a:xfrm>
            <a:off x="552450" y="96520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ea typeface="黑体" panose="02010609060101010101" pitchFamily="49" charset="-122"/>
              </a:rPr>
              <a:t> 完整性约束的实施</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36867" name="Rectangle 3"/>
          <p:cNvSpPr txBox="1"/>
          <p:nvPr/>
        </p:nvSpPr>
        <p:spPr>
          <a:xfrm>
            <a:off x="611188" y="1633538"/>
            <a:ext cx="7921625" cy="41687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华文楷体" panose="02010600040101010101" pitchFamily="2" charset="-122"/>
              </a:rPr>
              <a:t>关系创建并指定了ICs后，当关系“更新”时（指插入、删除和修改）应实施检查。</a:t>
            </a:r>
            <a:endParaRPr lang="zh-CN" altLang="en-US" sz="2400" dirty="0">
              <a:latin typeface="华文楷体" panose="02010600040101010101" pitchFamily="2" charset="-122"/>
            </a:endParaRPr>
          </a:p>
          <a:p>
            <a:pPr marL="342900" lvl="0" indent="-342900" eaLnBrk="1" hangingPunct="1">
              <a:lnSpc>
                <a:spcPct val="125000"/>
              </a:lnSpc>
            </a:pPr>
            <a:r>
              <a:rPr lang="zh-CN" altLang="en-US" sz="2400" dirty="0">
                <a:latin typeface="华文楷体" panose="02010600040101010101" pitchFamily="2" charset="-122"/>
              </a:rPr>
              <a:t>对域限制、主键限制和唯一限制的实施</a:t>
            </a:r>
            <a:endParaRPr lang="en-US" altLang="zh-CN" sz="2400" dirty="0">
              <a:latin typeface="华文楷体" panose="02010600040101010101" pitchFamily="2" charset="-122"/>
            </a:endParaRPr>
          </a:p>
          <a:p>
            <a:pPr marL="342900" lvl="0" indent="-342900" eaLnBrk="1" hangingPunct="1">
              <a:buFont typeface="Arial" panose="020B0604020202020204" pitchFamily="34" charset="0"/>
              <a:buNone/>
            </a:pPr>
            <a:r>
              <a:rPr lang="zh-CN" altLang="en-US" sz="2400" dirty="0">
                <a:latin typeface="华文楷体" panose="02010600040101010101" pitchFamily="2" charset="-122"/>
              </a:rPr>
              <a:t>  </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由于影响直接，故只要插入/删除/修改命令违背了限制，即被拒绝。而其它ICs（如一般性限制）的违背检查通常是在每个SQL语句之后。</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25000"/>
              </a:lnSpc>
            </a:pPr>
            <a:r>
              <a:rPr lang="zh-CN" altLang="en-US" sz="2400" dirty="0">
                <a:latin typeface="华文楷体" panose="02010600040101010101" pitchFamily="2" charset="-122"/>
              </a:rPr>
              <a:t>对参照完整性（外键）限制的实施</a:t>
            </a:r>
            <a:endParaRPr lang="en-US" altLang="zh-CN" sz="2400" dirty="0">
              <a:latin typeface="华文楷体" panose="02010600040101010101" pitchFamily="2" charset="-122"/>
            </a:endParaRPr>
          </a:p>
          <a:p>
            <a:pPr marL="342900" lvl="0" indent="-342900" eaLnBrk="1" hangingPunct="1">
              <a:buFont typeface="Arial" panose="020B0604020202020204" pitchFamily="34" charset="0"/>
              <a:buNone/>
            </a:pPr>
            <a:r>
              <a:rPr lang="zh-CN" altLang="en-US" sz="2400" b="0" dirty="0">
                <a:latin typeface="华文楷体" panose="02010600040101010101" pitchFamily="2" charset="-122"/>
              </a:rPr>
              <a:t>  </a:t>
            </a:r>
            <a:r>
              <a:rPr lang="en-US" altLang="zh-CN" sz="24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外键限制的影响较复杂，要从两个方向分别进行，但不是同 时进行。</a:t>
            </a:r>
            <a:endParaRPr lang="zh-CN" altLang="en-US" sz="2200" b="0" dirty="0">
              <a:latin typeface="楷体" panose="02010609060101010101" pitchFamily="49" charset="-122"/>
              <a:ea typeface="楷体" panose="02010609060101010101" pitchFamily="49" charset="-122"/>
            </a:endParaRPr>
          </a:p>
        </p:txBody>
      </p:sp>
      <p:sp>
        <p:nvSpPr>
          <p:cNvPr id="36868"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补：关系模型的数据操纵</a:t>
            </a:r>
            <a:endParaRPr lang="zh-CN" altLang="en-US" sz="3600" dirty="0">
              <a:solidFill>
                <a:srgbClr val="FF0000"/>
              </a:solidFill>
              <a:ea typeface="黑体" panose="02010609060101010101" pitchFamily="49" charset="-122"/>
            </a:endParaRPr>
          </a:p>
        </p:txBody>
      </p:sp>
      <p:sp>
        <p:nvSpPr>
          <p:cNvPr id="37891" name="Rectangle 3"/>
          <p:cNvSpPr txBox="1"/>
          <p:nvPr/>
        </p:nvSpPr>
        <p:spPr>
          <a:xfrm>
            <a:off x="647700" y="1485900"/>
            <a:ext cx="7848600" cy="4714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zh-CN" altLang="en-US" sz="2400" dirty="0">
                <a:solidFill>
                  <a:srgbClr val="CC0000"/>
                </a:solidFill>
                <a:latin typeface="华文楷体" panose="02010600040101010101" pitchFamily="2" charset="-122"/>
              </a:rPr>
              <a:t>（</a:t>
            </a:r>
            <a:r>
              <a:rPr lang="en-US" altLang="zh-CN" sz="2400" dirty="0">
                <a:solidFill>
                  <a:srgbClr val="CC0000"/>
                </a:solidFill>
                <a:latin typeface="华文楷体" panose="02010600040101010101" pitchFamily="2" charset="-122"/>
              </a:rPr>
              <a:t>1</a:t>
            </a:r>
            <a:r>
              <a:rPr lang="zh-CN" altLang="en-US" sz="2400" dirty="0">
                <a:solidFill>
                  <a:srgbClr val="CC0000"/>
                </a:solidFill>
                <a:latin typeface="华文楷体" panose="02010600040101010101" pitchFamily="2" charset="-122"/>
              </a:rPr>
              <a:t>）种类：</a:t>
            </a:r>
            <a:r>
              <a:rPr lang="zh-CN" altLang="en-US" sz="2400" dirty="0">
                <a:solidFill>
                  <a:srgbClr val="0033CC"/>
                </a:solidFill>
                <a:latin typeface="华文楷体" panose="02010600040101010101" pitchFamily="2" charset="-122"/>
              </a:rPr>
              <a:t>选择、投影、连接、除、并、交、差</a:t>
            </a:r>
            <a:endParaRPr lang="zh-CN" altLang="en-US" sz="2400" dirty="0">
              <a:solidFill>
                <a:srgbClr val="0033CC"/>
              </a:solidFill>
              <a:latin typeface="华文楷体" panose="02010600040101010101" pitchFamily="2" charset="-122"/>
            </a:endParaRPr>
          </a:p>
          <a:p>
            <a:pPr marL="342900" lvl="0" indent="-342900" eaLnBrk="1" hangingPunct="1">
              <a:lnSpc>
                <a:spcPct val="120000"/>
              </a:lnSpc>
              <a:buFont typeface="Arial" panose="020B0604020202020204" pitchFamily="34" charset="0"/>
              <a:buNone/>
            </a:pPr>
            <a:r>
              <a:rPr lang="zh-CN" altLang="en-US" sz="2400" dirty="0">
                <a:solidFill>
                  <a:srgbClr val="0033CC"/>
                </a:solidFill>
                <a:latin typeface="华文楷体" panose="02010600040101010101" pitchFamily="2" charset="-122"/>
              </a:rPr>
              <a:t>                      增加、删除、修改</a:t>
            </a:r>
            <a:endParaRPr lang="zh-CN" altLang="en-US" sz="2400" dirty="0">
              <a:solidFill>
                <a:srgbClr val="0033CC"/>
              </a:solidFill>
              <a:latin typeface="华文楷体" panose="02010600040101010101" pitchFamily="2" charset="-122"/>
            </a:endParaRPr>
          </a:p>
        </p:txBody>
      </p:sp>
      <p:cxnSp>
        <p:nvCxnSpPr>
          <p:cNvPr id="4" name="直接连接符 3"/>
          <p:cNvCxnSpPr/>
          <p:nvPr/>
        </p:nvCxnSpPr>
        <p:spPr>
          <a:xfrm>
            <a:off x="2482850" y="1955800"/>
            <a:ext cx="4791075"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2419350" y="2449513"/>
            <a:ext cx="2565400" cy="317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 name="直接箭头连接符 5"/>
          <p:cNvCxnSpPr/>
          <p:nvPr/>
        </p:nvCxnSpPr>
        <p:spPr>
          <a:xfrm flipH="1">
            <a:off x="6108700" y="1301750"/>
            <a:ext cx="668338" cy="29845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p:cNvSpPr/>
          <p:nvPr/>
        </p:nvSpPr>
        <p:spPr>
          <a:xfrm>
            <a:off x="6789738" y="1158875"/>
            <a:ext cx="1282700" cy="3794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CC0000"/>
                </a:solidFill>
                <a:effectLst/>
                <a:uLnTx/>
                <a:uFillTx/>
                <a:latin typeface="+mn-lt"/>
                <a:ea typeface="+mn-ea"/>
                <a:cs typeface="+mn-cs"/>
              </a:rPr>
              <a:t>查询操作</a:t>
            </a:r>
            <a:endParaRPr kumimoji="0" lang="zh-CN" altLang="en-US" sz="2000" b="1" i="0" u="none" strike="noStrike" kern="1200" cap="none" spc="0" normalizeH="0" baseline="0" noProof="1">
              <a:ln>
                <a:noFill/>
              </a:ln>
              <a:solidFill>
                <a:srgbClr val="CC0000"/>
              </a:solidFill>
              <a:effectLst/>
              <a:uLnTx/>
              <a:uFillTx/>
              <a:latin typeface="+mn-lt"/>
              <a:ea typeface="+mn-ea"/>
              <a:cs typeface="+mn-cs"/>
            </a:endParaRPr>
          </a:p>
        </p:txBody>
      </p:sp>
      <p:cxnSp>
        <p:nvCxnSpPr>
          <p:cNvPr id="8" name="直接箭头连接符 7"/>
          <p:cNvCxnSpPr/>
          <p:nvPr/>
        </p:nvCxnSpPr>
        <p:spPr>
          <a:xfrm flipH="1" flipV="1">
            <a:off x="5083175" y="2355850"/>
            <a:ext cx="660400" cy="6350"/>
          </a:xfrm>
          <a:prstGeom prst="straightConnector1">
            <a:avLst/>
          </a:prstGeom>
          <a:ln w="317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5800725" y="2098675"/>
            <a:ext cx="1282700" cy="379413"/>
          </a:xfrm>
          <a:prstGeom prst="rect">
            <a:avLst/>
          </a:prstGeom>
          <a:solidFill>
            <a:srgbClr val="FFFFCC"/>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1">
                <a:ln>
                  <a:noFill/>
                </a:ln>
                <a:solidFill>
                  <a:srgbClr val="CC0000"/>
                </a:solidFill>
                <a:effectLst/>
                <a:uLnTx/>
                <a:uFillTx/>
                <a:latin typeface="+mn-lt"/>
                <a:ea typeface="+mn-ea"/>
                <a:cs typeface="+mn-cs"/>
              </a:rPr>
              <a:t>维护操作</a:t>
            </a:r>
            <a:endParaRPr kumimoji="0" lang="zh-CN" altLang="en-US" sz="2000" b="1" i="0" u="none" strike="noStrike" kern="1200" cap="none" spc="0" normalizeH="0" baseline="0" noProof="1">
              <a:ln>
                <a:noFill/>
              </a:ln>
              <a:solidFill>
                <a:srgbClr val="CC0000"/>
              </a:solidFill>
              <a:effectLst/>
              <a:uLnTx/>
              <a:uFillTx/>
              <a:latin typeface="+mn-lt"/>
              <a:ea typeface="+mn-ea"/>
              <a:cs typeface="+mn-cs"/>
            </a:endParaRPr>
          </a:p>
        </p:txBody>
      </p:sp>
      <p:sp>
        <p:nvSpPr>
          <p:cNvPr id="37898" name="Rectangle 3"/>
          <p:cNvSpPr txBox="1"/>
          <p:nvPr/>
        </p:nvSpPr>
        <p:spPr>
          <a:xfrm>
            <a:off x="647700" y="2633663"/>
            <a:ext cx="7848600" cy="4714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buFont typeface="Arial" panose="020B0604020202020204" pitchFamily="34" charset="0"/>
              <a:buNone/>
            </a:pPr>
            <a:r>
              <a:rPr lang="zh-CN" altLang="en-US" sz="2400" dirty="0">
                <a:solidFill>
                  <a:srgbClr val="CC0000"/>
                </a:solidFill>
                <a:latin typeface="华文楷体" panose="02010600040101010101" pitchFamily="2" charset="-122"/>
              </a:rPr>
              <a:t>（</a:t>
            </a:r>
            <a:r>
              <a:rPr lang="en-US" altLang="zh-CN" sz="2400" dirty="0">
                <a:solidFill>
                  <a:srgbClr val="CC0000"/>
                </a:solidFill>
                <a:latin typeface="华文楷体" panose="02010600040101010101" pitchFamily="2" charset="-122"/>
              </a:rPr>
              <a:t>2</a:t>
            </a:r>
            <a:r>
              <a:rPr lang="zh-CN" altLang="en-US" sz="2400" dirty="0">
                <a:solidFill>
                  <a:srgbClr val="CC0000"/>
                </a:solidFill>
                <a:latin typeface="华文楷体" panose="02010600040101010101" pitchFamily="2" charset="-122"/>
              </a:rPr>
              <a:t>）特点：</a:t>
            </a:r>
            <a:endParaRPr lang="zh-CN" altLang="en-US" sz="2400" dirty="0">
              <a:solidFill>
                <a:srgbClr val="0033CC"/>
              </a:solidFill>
              <a:latin typeface="华文楷体" panose="02010600040101010101" pitchFamily="2" charset="-122"/>
            </a:endParaRPr>
          </a:p>
        </p:txBody>
      </p:sp>
      <p:sp>
        <p:nvSpPr>
          <p:cNvPr id="11" name="矩形 10"/>
          <p:cNvSpPr/>
          <p:nvPr/>
        </p:nvSpPr>
        <p:spPr>
          <a:xfrm>
            <a:off x="893763" y="3305175"/>
            <a:ext cx="3152775" cy="85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marR="0" lvl="0" indent="-342900" algn="l" defTabSz="914400" rtl="0" eaLnBrk="1" fontAlgn="base" latinLnBrk="0" hangingPunct="1">
              <a:lnSpc>
                <a:spcPct val="110000"/>
              </a:lnSpc>
              <a:spcBef>
                <a:spcPct val="0"/>
              </a:spcBef>
              <a:spcAft>
                <a:spcPct val="0"/>
              </a:spcAft>
              <a:buClrTx/>
              <a:buSzTx/>
              <a:buFont typeface="Wingdings" panose="05000000000000000000" charset="0"/>
              <a:buChar char="ü"/>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集合操作，一次操作可存取多个元组</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p:txBody>
      </p:sp>
      <p:sp>
        <p:nvSpPr>
          <p:cNvPr id="12" name="矩形 11"/>
          <p:cNvSpPr/>
          <p:nvPr/>
        </p:nvSpPr>
        <p:spPr>
          <a:xfrm>
            <a:off x="4713288" y="3305175"/>
            <a:ext cx="3152775" cy="850900"/>
          </a:xfrm>
          <a:prstGeom prst="rect">
            <a:avLst/>
          </a:prstGeom>
          <a:noFill/>
          <a:ln w="2222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fontAlgn="base" latinLnBrk="0" hangingPunct="1">
              <a:lnSpc>
                <a:spcPct val="110000"/>
              </a:lnSpc>
              <a:spcBef>
                <a:spcPct val="0"/>
              </a:spcBef>
              <a:spcAft>
                <a:spcPct val="0"/>
              </a:spcAft>
              <a:buClrTx/>
              <a:buSzTx/>
              <a:buFont typeface="Wingdings" panose="05000000000000000000" charset="0"/>
              <a:buNone/>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一次一集合（关系型）</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10000"/>
              </a:lnSpc>
              <a:spcBef>
                <a:spcPct val="0"/>
              </a:spcBef>
              <a:spcAft>
                <a:spcPct val="0"/>
              </a:spcAft>
              <a:buClrTx/>
              <a:buSzTx/>
              <a:buFont typeface="Wingdings" panose="05000000000000000000" charset="0"/>
              <a:buNone/>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一次一记录（非关系型）</a:t>
            </a:r>
            <a:endParaRPr kumimoji="0" lang="zh-CN" altLang="en-US" sz="2000" b="1" i="0" u="none" strike="noStrike" kern="1200" cap="none" spc="0" normalizeH="0" baseline="0" noProof="1">
              <a:ln>
                <a:noFill/>
              </a:ln>
              <a:solidFill>
                <a:schemeClr val="tx1"/>
              </a:solidFill>
              <a:effectLst/>
              <a:uLnTx/>
              <a:uFillTx/>
              <a:latin typeface="+mn-lt"/>
              <a:ea typeface="+mn-ea"/>
              <a:cs typeface="+mn-cs"/>
            </a:endParaRPr>
          </a:p>
        </p:txBody>
      </p:sp>
      <p:sp>
        <p:nvSpPr>
          <p:cNvPr id="13" name="右箭头 12"/>
          <p:cNvSpPr/>
          <p:nvPr/>
        </p:nvSpPr>
        <p:spPr>
          <a:xfrm>
            <a:off x="4014788" y="3571875"/>
            <a:ext cx="571500" cy="2984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4" name="矩形 13"/>
          <p:cNvSpPr/>
          <p:nvPr/>
        </p:nvSpPr>
        <p:spPr>
          <a:xfrm>
            <a:off x="893763" y="4410075"/>
            <a:ext cx="6191250" cy="850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342900" marR="0" lvl="0" indent="-342900" algn="l" defTabSz="914400" rtl="0" eaLnBrk="1" fontAlgn="base" latinLnBrk="0" hangingPunct="1">
              <a:lnSpc>
                <a:spcPct val="110000"/>
              </a:lnSpc>
              <a:spcBef>
                <a:spcPct val="0"/>
              </a:spcBef>
              <a:spcAft>
                <a:spcPct val="0"/>
              </a:spcAft>
              <a:buClrTx/>
              <a:buSzTx/>
              <a:buFont typeface="Wingdings" panose="05000000000000000000" charset="0"/>
              <a:buChar char="ü"/>
              <a:defRPr/>
            </a:pPr>
            <a:r>
              <a:rPr kumimoji="0" lang="zh-CN" altLang="en-US" sz="2000" b="1" i="0" u="none" strike="noStrike" kern="1200" cap="none" spc="0" normalizeH="0" baseline="0" noProof="1">
                <a:ln>
                  <a:noFill/>
                </a:ln>
                <a:solidFill>
                  <a:schemeClr val="tx1"/>
                </a:solidFill>
                <a:effectLst/>
                <a:uLnTx/>
                <a:uFillTx/>
                <a:latin typeface="+mn-lt"/>
                <a:ea typeface="+mn-ea"/>
                <a:cs typeface="+mn-cs"/>
              </a:rPr>
              <a:t>非过程化语言：用户只需要告诉做什么（</a:t>
            </a:r>
            <a:r>
              <a:rPr kumimoji="0" lang="en-US" altLang="zh-CN" sz="2000" b="1" i="0" u="none" strike="noStrike" kern="1200" cap="none" spc="0" normalizeH="0" baseline="0" noProof="1">
                <a:ln>
                  <a:noFill/>
                </a:ln>
                <a:solidFill>
                  <a:schemeClr val="tx1"/>
                </a:solidFill>
                <a:effectLst/>
                <a:uLnTx/>
                <a:uFillTx/>
                <a:latin typeface="+mn-lt"/>
                <a:ea typeface="+mn-ea"/>
                <a:cs typeface="+mn-cs"/>
              </a:rPr>
              <a:t>What</a:t>
            </a:r>
            <a:r>
              <a:rPr kumimoji="0" lang="zh-CN" altLang="zh-CN" sz="2000" b="1" i="0" u="none" strike="noStrike" kern="1200" cap="none" spc="0" normalizeH="0" baseline="0" noProof="1">
                <a:ln>
                  <a:noFill/>
                </a:ln>
                <a:solidFill>
                  <a:schemeClr val="tx1"/>
                </a:solidFill>
                <a:effectLst/>
                <a:uLnTx/>
                <a:uFillTx/>
                <a:latin typeface="+mn-lt"/>
                <a:ea typeface="+mn-ea"/>
                <a:cs typeface="+mn-cs"/>
              </a:rPr>
              <a:t>），</a:t>
            </a:r>
            <a:endParaRPr kumimoji="0" lang="zh-CN" altLang="zh-CN" sz="2000" b="1" i="0" u="none" strike="noStrike" kern="1200" cap="none" spc="0" normalizeH="0" baseline="0" noProof="1">
              <a:ln>
                <a:noFill/>
              </a:ln>
              <a:solidFill>
                <a:schemeClr val="tx1"/>
              </a:solidFill>
              <a:effectLst/>
              <a:uLnTx/>
              <a:uFillTx/>
              <a:latin typeface="+mn-lt"/>
              <a:ea typeface="+mn-ea"/>
              <a:cs typeface="+mn-cs"/>
            </a:endParaRPr>
          </a:p>
          <a:p>
            <a:pPr marL="0" marR="0" lvl="0" indent="0" algn="l" defTabSz="914400" rtl="0" eaLnBrk="1" fontAlgn="base" latinLnBrk="0" hangingPunct="1">
              <a:lnSpc>
                <a:spcPct val="110000"/>
              </a:lnSpc>
              <a:spcBef>
                <a:spcPct val="0"/>
              </a:spcBef>
              <a:spcAft>
                <a:spcPct val="0"/>
              </a:spcAft>
              <a:buClrTx/>
              <a:buSzTx/>
              <a:buFont typeface="Wingdings" panose="05000000000000000000" charset="0"/>
              <a:buNone/>
              <a:defRPr/>
            </a:pPr>
            <a:r>
              <a:rPr kumimoji="0" lang="zh-CN" altLang="zh-CN" sz="2000" b="1" i="0" u="none" strike="noStrike" kern="1200" cap="none" spc="0" normalizeH="0" baseline="0" noProof="1">
                <a:ln>
                  <a:noFill/>
                </a:ln>
                <a:solidFill>
                  <a:schemeClr val="tx1"/>
                </a:solidFill>
                <a:effectLst/>
                <a:uLnTx/>
                <a:uFillTx/>
                <a:latin typeface="+mn-lt"/>
                <a:ea typeface="+mn-ea"/>
                <a:cs typeface="+mn-cs"/>
              </a:rPr>
              <a:t>                              不需要告诉怎么做（</a:t>
            </a:r>
            <a:r>
              <a:rPr kumimoji="0" lang="en-US" altLang="zh-CN" sz="2000" b="1" i="0" u="none" strike="noStrike" kern="1200" cap="none" spc="0" normalizeH="0" baseline="0" noProof="1">
                <a:ln>
                  <a:noFill/>
                </a:ln>
                <a:solidFill>
                  <a:schemeClr val="tx1"/>
                </a:solidFill>
                <a:effectLst/>
                <a:uLnTx/>
                <a:uFillTx/>
                <a:latin typeface="+mn-lt"/>
                <a:ea typeface="+mn-ea"/>
                <a:cs typeface="+mn-cs"/>
              </a:rPr>
              <a:t>How</a:t>
            </a:r>
            <a:r>
              <a:rPr kumimoji="0" lang="zh-CN" altLang="zh-CN" sz="2000" b="1" i="0" u="none" strike="noStrike" kern="1200" cap="none" spc="0" normalizeH="0" baseline="0" noProof="1">
                <a:ln>
                  <a:noFill/>
                </a:ln>
                <a:solidFill>
                  <a:schemeClr val="tx1"/>
                </a:solidFill>
                <a:effectLst/>
                <a:uLnTx/>
                <a:uFillTx/>
                <a:latin typeface="+mn-lt"/>
                <a:ea typeface="+mn-ea"/>
                <a:cs typeface="+mn-cs"/>
              </a:rPr>
              <a:t>）</a:t>
            </a:r>
            <a:endParaRPr kumimoji="0" lang="zh-CN" altLang="zh-CN" sz="2000" b="1" i="0" u="none" strike="noStrike" kern="1200" cap="none" spc="0" normalizeH="0" baseline="0" noProof="1">
              <a:ln>
                <a:noFill/>
              </a:ln>
              <a:solidFill>
                <a:schemeClr val="tx1"/>
              </a:solidFill>
              <a:effectLst/>
              <a:uLnTx/>
              <a:uFillTx/>
              <a:latin typeface="+mn-lt"/>
              <a:ea typeface="+mn-ea"/>
              <a:cs typeface="+mn-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61950" y="911225"/>
            <a:ext cx="8651875" cy="54594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关系模型中可被指定的完整性约束包括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主键限制的特点是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sym typeface="+mn-ea"/>
              </a:rPr>
              <a:t>3</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、唯一限制是针对</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限制，其特点是</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对于外键约束，需要从两个方向进行约束，其中：主表主键值的</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操作会影响从表外键值。从表外键值的</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操作需要参照主表的主键值。</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5</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、表间参照完整性的实现方法包括：</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38915"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71475" y="977900"/>
            <a:ext cx="8651875" cy="54594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问题解答：</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关系模型中可被指定的完整性约束包括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0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1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主键限制的特点是 </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sng"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mn-lt"/>
                <a:ea typeface="+mn-ea"/>
                <a:cs typeface="+mn-cs"/>
                <a:sym typeface="+mn-ea"/>
              </a:rPr>
              <a:t>3</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、唯一限制是针对</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的限制，其特点是</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对于外键约束，需要从两个方向进行约束，其中：主表主键值的</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操作会影响从表外键值。从表外键值的</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操作需要参照主表的主键值。</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5</a:t>
            </a:r>
            <a:r>
              <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sym typeface="+mn-ea"/>
              </a:rPr>
              <a:t>、表间参照完整性的实现方法包括：</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endParaRPr kumimoji="0" lang="zh-CN" altLang="en-US" sz="2400" b="1" i="0" u="none" strike="noStrike" kern="1200" cap="none" spc="0" normalizeH="0" baseline="0" noProof="0">
              <a:ln>
                <a:noFill/>
              </a:ln>
              <a:solidFill>
                <a:schemeClr val="tx1"/>
              </a:solidFill>
              <a:effectLst/>
              <a:uLnTx/>
              <a:uFillTx/>
              <a:latin typeface="+mn-lt"/>
              <a:ea typeface="+mn-ea"/>
              <a:cs typeface="+mn-cs"/>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和</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r>
              <a:rPr kumimoji="0" lang="zh-CN" altLang="en-US" sz="2400" b="1" i="0" u="none" strike="noStrike" kern="1200" cap="none" spc="0" normalizeH="0" baseline="0" noProof="0">
                <a:ln>
                  <a:noFill/>
                </a:ln>
                <a:solidFill>
                  <a:schemeClr val="tx1"/>
                </a:solidFill>
                <a:effectLst/>
                <a:uLnTx/>
                <a:uFillTx/>
                <a:latin typeface="+mn-lt"/>
                <a:ea typeface="+mn-ea"/>
                <a:cs typeface="+mn-cs"/>
                <a:sym typeface="+mn-ea"/>
              </a:rPr>
              <a:t>。</a:t>
            </a: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sng" strike="noStrike" kern="1200" cap="none" spc="0" normalizeH="0" baseline="0" noProof="0">
                <a:ln>
                  <a:noFill/>
                </a:ln>
                <a:solidFill>
                  <a:schemeClr val="tx1"/>
                </a:solidFill>
                <a:effectLst/>
                <a:uLnTx/>
                <a:uFillTx/>
                <a:latin typeface="+mn-lt"/>
                <a:ea typeface="+mn-ea"/>
                <a:cs typeface="+mn-cs"/>
                <a:sym typeface="+mn-ea"/>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49" name="矩形 48"/>
          <p:cNvSpPr/>
          <p:nvPr/>
        </p:nvSpPr>
        <p:spPr>
          <a:xfrm>
            <a:off x="6032500" y="1355725"/>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域约束</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0" name="矩形 49"/>
          <p:cNvSpPr/>
          <p:nvPr/>
        </p:nvSpPr>
        <p:spPr>
          <a:xfrm>
            <a:off x="7319963" y="1355725"/>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主键限制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1" name="矩形 50"/>
          <p:cNvSpPr/>
          <p:nvPr/>
        </p:nvSpPr>
        <p:spPr>
          <a:xfrm>
            <a:off x="349250" y="1839913"/>
            <a:ext cx="1549400" cy="490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唯一限制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2" name="矩形 51"/>
          <p:cNvSpPr/>
          <p:nvPr/>
        </p:nvSpPr>
        <p:spPr>
          <a:xfrm>
            <a:off x="1727200" y="1808163"/>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外键限制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3" name="矩形 52"/>
          <p:cNvSpPr/>
          <p:nvPr/>
        </p:nvSpPr>
        <p:spPr>
          <a:xfrm>
            <a:off x="3113088" y="1820863"/>
            <a:ext cx="21653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一般性限制</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3" name="矩形 2"/>
          <p:cNvSpPr/>
          <p:nvPr/>
        </p:nvSpPr>
        <p:spPr>
          <a:xfrm>
            <a:off x="3336925" y="2330450"/>
            <a:ext cx="28384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值唯一且不能为空</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5" name="矩形 4"/>
          <p:cNvSpPr/>
          <p:nvPr/>
        </p:nvSpPr>
        <p:spPr>
          <a:xfrm>
            <a:off x="3762375" y="2690813"/>
            <a:ext cx="28384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候选键</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6" name="矩形 5"/>
          <p:cNvSpPr/>
          <p:nvPr/>
        </p:nvSpPr>
        <p:spPr>
          <a:xfrm>
            <a:off x="719138" y="3168650"/>
            <a:ext cx="48641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值唯一，允许有但最多只能有一个空值</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7" name="矩形 6"/>
          <p:cNvSpPr/>
          <p:nvPr/>
        </p:nvSpPr>
        <p:spPr>
          <a:xfrm>
            <a:off x="612775" y="4041775"/>
            <a:ext cx="1633538"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修改</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8" name="矩形 7"/>
          <p:cNvSpPr/>
          <p:nvPr/>
        </p:nvSpPr>
        <p:spPr>
          <a:xfrm>
            <a:off x="2009775" y="4041775"/>
            <a:ext cx="1633538"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删除</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9" name="矩形 8"/>
          <p:cNvSpPr/>
          <p:nvPr/>
        </p:nvSpPr>
        <p:spPr>
          <a:xfrm>
            <a:off x="1290638" y="4476750"/>
            <a:ext cx="1633538"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修改</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0" name="矩形 9"/>
          <p:cNvSpPr/>
          <p:nvPr/>
        </p:nvSpPr>
        <p:spPr>
          <a:xfrm>
            <a:off x="53975" y="4510088"/>
            <a:ext cx="163195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插入</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1" name="矩形 10"/>
          <p:cNvSpPr/>
          <p:nvPr/>
        </p:nvSpPr>
        <p:spPr>
          <a:xfrm>
            <a:off x="5467350" y="4919663"/>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外键约束</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2" name="矩形 11"/>
          <p:cNvSpPr/>
          <p:nvPr/>
        </p:nvSpPr>
        <p:spPr>
          <a:xfrm>
            <a:off x="7319963" y="4919663"/>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触发器</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13" name="矩形 12"/>
          <p:cNvSpPr/>
          <p:nvPr/>
        </p:nvSpPr>
        <p:spPr>
          <a:xfrm>
            <a:off x="788988" y="5386388"/>
            <a:ext cx="1549400" cy="522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rPr>
              <a:t>断言</a:t>
            </a:r>
            <a:endParaRPr kumimoji="0" lang="zh-CN" altLang="en-US" sz="2000" b="1" i="0" u="none" strike="noStrike" kern="1200" cap="none" spc="0" normalizeH="0" baseline="0" noProof="0">
              <a:ln>
                <a:noFill/>
              </a:ln>
              <a:solidFill>
                <a:srgbClr val="CC00FF"/>
              </a:solidFill>
              <a:effectLst/>
              <a:uLnTx/>
              <a:uFillTx/>
              <a:latin typeface="华文中宋" panose="02010600040101010101" pitchFamily="2" charset="-122"/>
              <a:ea typeface="华文中宋" panose="02010600040101010101" pitchFamily="2" charset="-122"/>
              <a:cs typeface="+mn-cs"/>
            </a:endParaRPr>
          </a:p>
        </p:txBody>
      </p:sp>
      <p:sp>
        <p:nvSpPr>
          <p:cNvPr id="39954"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additive="base">
                                        <p:cTn id="7" dur="500" fill="hold"/>
                                        <p:tgtEl>
                                          <p:spTgt spid="50"/>
                                        </p:tgtEl>
                                        <p:attrNameLst>
                                          <p:attrName>ppt_x</p:attrName>
                                        </p:attrNameLst>
                                      </p:cBhvr>
                                      <p:tavLst>
                                        <p:tav tm="0">
                                          <p:val>
                                            <p:strVal val="#ppt_x"/>
                                          </p:val>
                                        </p:tav>
                                        <p:tav tm="100000">
                                          <p:val>
                                            <p:strVal val="#ppt_x"/>
                                          </p:val>
                                        </p:tav>
                                      </p:tavLst>
                                    </p:anim>
                                    <p:anim calcmode="lin" valueType="num">
                                      <p:cBhvr additive="base">
                                        <p:cTn id="8" dur="500" fill="hold"/>
                                        <p:tgtEl>
                                          <p:spTgt spid="5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fill="hold"/>
                                        <p:tgtEl>
                                          <p:spTgt spid="49"/>
                                        </p:tgtEl>
                                        <p:attrNameLst>
                                          <p:attrName>ppt_x</p:attrName>
                                        </p:attrNameLst>
                                      </p:cBhvr>
                                      <p:tavLst>
                                        <p:tav tm="0">
                                          <p:val>
                                            <p:strVal val="#ppt_x"/>
                                          </p:val>
                                        </p:tav>
                                        <p:tav tm="100000">
                                          <p:val>
                                            <p:strVal val="#ppt_x"/>
                                          </p:val>
                                        </p:tav>
                                      </p:tavLst>
                                    </p:anim>
                                    <p:anim calcmode="lin" valueType="num">
                                      <p:cBhvr additive="base">
                                        <p:cTn id="12" dur="500" fill="hold"/>
                                        <p:tgtEl>
                                          <p:spTgt spid="4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500" fill="hold"/>
                                        <p:tgtEl>
                                          <p:spTgt spid="53"/>
                                        </p:tgtEl>
                                        <p:attrNameLst>
                                          <p:attrName>ppt_x</p:attrName>
                                        </p:attrNameLst>
                                      </p:cBhvr>
                                      <p:tavLst>
                                        <p:tav tm="0">
                                          <p:val>
                                            <p:strVal val="#ppt_x"/>
                                          </p:val>
                                        </p:tav>
                                        <p:tav tm="100000">
                                          <p:val>
                                            <p:strVal val="#ppt_x"/>
                                          </p:val>
                                        </p:tav>
                                      </p:tavLst>
                                    </p:anim>
                                    <p:anim calcmode="lin" valueType="num">
                                      <p:cBhvr additive="base">
                                        <p:cTn id="16" dur="500" fill="hold"/>
                                        <p:tgtEl>
                                          <p:spTgt spid="5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 calcmode="lin" valueType="num">
                                      <p:cBhvr additive="base">
                                        <p:cTn id="19" dur="500" fill="hold"/>
                                        <p:tgtEl>
                                          <p:spTgt spid="52"/>
                                        </p:tgtEl>
                                        <p:attrNameLst>
                                          <p:attrName>ppt_x</p:attrName>
                                        </p:attrNameLst>
                                      </p:cBhvr>
                                      <p:tavLst>
                                        <p:tav tm="0">
                                          <p:val>
                                            <p:strVal val="#ppt_x"/>
                                          </p:val>
                                        </p:tav>
                                        <p:tav tm="100000">
                                          <p:val>
                                            <p:strVal val="#ppt_x"/>
                                          </p:val>
                                        </p:tav>
                                      </p:tavLst>
                                    </p:anim>
                                    <p:anim calcmode="lin" valueType="num">
                                      <p:cBhvr additive="base">
                                        <p:cTn id="20" dur="500" fill="hold"/>
                                        <p:tgtEl>
                                          <p:spTgt spid="5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1"/>
                                        </p:tgtEl>
                                        <p:attrNameLst>
                                          <p:attrName>style.visibility</p:attrName>
                                        </p:attrNameLst>
                                      </p:cBhvr>
                                      <p:to>
                                        <p:strVal val="visible"/>
                                      </p:to>
                                    </p:set>
                                    <p:anim calcmode="lin" valueType="num">
                                      <p:cBhvr additive="base">
                                        <p:cTn id="23" dur="500" fill="hold"/>
                                        <p:tgtEl>
                                          <p:spTgt spid="51"/>
                                        </p:tgtEl>
                                        <p:attrNameLst>
                                          <p:attrName>ppt_x</p:attrName>
                                        </p:attrNameLst>
                                      </p:cBhvr>
                                      <p:tavLst>
                                        <p:tav tm="0">
                                          <p:val>
                                            <p:strVal val="#ppt_x"/>
                                          </p:val>
                                        </p:tav>
                                        <p:tav tm="100000">
                                          <p:val>
                                            <p:strVal val="#ppt_x"/>
                                          </p:val>
                                        </p:tav>
                                      </p:tavLst>
                                    </p:anim>
                                    <p:anim calcmode="lin" valueType="num">
                                      <p:cBhvr additive="base">
                                        <p:cTn id="2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 calcmode="lin" valueType="num">
                                      <p:cBhvr additive="base">
                                        <p:cTn id="39" dur="500" fill="hold"/>
                                        <p:tgtEl>
                                          <p:spTgt spid="6"/>
                                        </p:tgtEl>
                                        <p:attrNameLst>
                                          <p:attrName>ppt_x</p:attrName>
                                        </p:attrNameLst>
                                      </p:cBhvr>
                                      <p:tavLst>
                                        <p:tav tm="0">
                                          <p:val>
                                            <p:strVal val="#ppt_x"/>
                                          </p:val>
                                        </p:tav>
                                        <p:tav tm="100000">
                                          <p:val>
                                            <p:strVal val="#ppt_x"/>
                                          </p:val>
                                        </p:tav>
                                      </p:tavLst>
                                    </p:anim>
                                    <p:anim calcmode="lin" valueType="num">
                                      <p:cBhvr additive="base">
                                        <p:cTn id="4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ppt_x"/>
                                          </p:val>
                                        </p:tav>
                                        <p:tav tm="100000">
                                          <p:val>
                                            <p:strVal val="#ppt_x"/>
                                          </p:val>
                                        </p:tav>
                                      </p:tavLst>
                                    </p:anim>
                                    <p:anim calcmode="lin" valueType="num">
                                      <p:cBhvr additive="base">
                                        <p:cTn id="46" dur="500" fill="hold"/>
                                        <p:tgtEl>
                                          <p:spTgt spid="7"/>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ppt_x"/>
                                          </p:val>
                                        </p:tav>
                                        <p:tav tm="100000">
                                          <p:val>
                                            <p:strVal val="#ppt_x"/>
                                          </p:val>
                                        </p:tav>
                                      </p:tavLst>
                                    </p:anim>
                                    <p:anim calcmode="lin" valueType="num">
                                      <p:cBhvr additive="base">
                                        <p:cTn id="56" dur="500" fill="hold"/>
                                        <p:tgtEl>
                                          <p:spTgt spid="9"/>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 calcmode="lin" valueType="num">
                                      <p:cBhvr additive="base">
                                        <p:cTn id="59" dur="500" fill="hold"/>
                                        <p:tgtEl>
                                          <p:spTgt spid="10"/>
                                        </p:tgtEl>
                                        <p:attrNameLst>
                                          <p:attrName>ppt_x</p:attrName>
                                        </p:attrNameLst>
                                      </p:cBhvr>
                                      <p:tavLst>
                                        <p:tav tm="0">
                                          <p:val>
                                            <p:strVal val="#ppt_x"/>
                                          </p:val>
                                        </p:tav>
                                        <p:tav tm="100000">
                                          <p:val>
                                            <p:strVal val="#ppt_x"/>
                                          </p:val>
                                        </p:tav>
                                      </p:tavLst>
                                    </p:anim>
                                    <p:anim calcmode="lin" valueType="num">
                                      <p:cBhvr additive="base">
                                        <p:cTn id="6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1"/>
                                        </p:tgtEl>
                                        <p:attrNameLst>
                                          <p:attrName>style.visibility</p:attrName>
                                        </p:attrNameLst>
                                      </p:cBhvr>
                                      <p:to>
                                        <p:strVal val="visible"/>
                                      </p:to>
                                    </p:set>
                                    <p:anim calcmode="lin" valueType="num">
                                      <p:cBhvr additive="base">
                                        <p:cTn id="65" dur="500" fill="hold"/>
                                        <p:tgtEl>
                                          <p:spTgt spid="11"/>
                                        </p:tgtEl>
                                        <p:attrNameLst>
                                          <p:attrName>ppt_x</p:attrName>
                                        </p:attrNameLst>
                                      </p:cBhvr>
                                      <p:tavLst>
                                        <p:tav tm="0">
                                          <p:val>
                                            <p:strVal val="#ppt_x"/>
                                          </p:val>
                                        </p:tav>
                                        <p:tav tm="100000">
                                          <p:val>
                                            <p:strVal val="#ppt_x"/>
                                          </p:val>
                                        </p:tav>
                                      </p:tavLst>
                                    </p:anim>
                                    <p:anim calcmode="lin" valueType="num">
                                      <p:cBhvr additive="base">
                                        <p:cTn id="66" dur="500" fill="hold"/>
                                        <p:tgtEl>
                                          <p:spTgt spid="11"/>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2"/>
                                        </p:tgtEl>
                                        <p:attrNameLst>
                                          <p:attrName>style.visibility</p:attrName>
                                        </p:attrNameLst>
                                      </p:cBhvr>
                                      <p:to>
                                        <p:strVal val="visible"/>
                                      </p:to>
                                    </p:set>
                                    <p:anim calcmode="lin" valueType="num">
                                      <p:cBhvr additive="base">
                                        <p:cTn id="69" dur="500" fill="hold"/>
                                        <p:tgtEl>
                                          <p:spTgt spid="12"/>
                                        </p:tgtEl>
                                        <p:attrNameLst>
                                          <p:attrName>ppt_x</p:attrName>
                                        </p:attrNameLst>
                                      </p:cBhvr>
                                      <p:tavLst>
                                        <p:tav tm="0">
                                          <p:val>
                                            <p:strVal val="#ppt_x"/>
                                          </p:val>
                                        </p:tav>
                                        <p:tav tm="100000">
                                          <p:val>
                                            <p:strVal val="#ppt_x"/>
                                          </p:val>
                                        </p:tav>
                                      </p:tavLst>
                                    </p:anim>
                                    <p:anim calcmode="lin" valueType="num">
                                      <p:cBhvr additive="base">
                                        <p:cTn id="70" dur="500" fill="hold"/>
                                        <p:tgtEl>
                                          <p:spTgt spid="12"/>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13"/>
                                        </p:tgtEl>
                                        <p:attrNameLst>
                                          <p:attrName>style.visibility</p:attrName>
                                        </p:attrNameLst>
                                      </p:cBhvr>
                                      <p:to>
                                        <p:strVal val="visible"/>
                                      </p:to>
                                    </p:set>
                                    <p:anim calcmode="lin" valueType="num">
                                      <p:cBhvr additive="base">
                                        <p:cTn id="73" dur="500" fill="hold"/>
                                        <p:tgtEl>
                                          <p:spTgt spid="13"/>
                                        </p:tgtEl>
                                        <p:attrNameLst>
                                          <p:attrName>ppt_x</p:attrName>
                                        </p:attrNameLst>
                                      </p:cBhvr>
                                      <p:tavLst>
                                        <p:tav tm="0">
                                          <p:val>
                                            <p:strVal val="#ppt_x"/>
                                          </p:val>
                                        </p:tav>
                                        <p:tav tm="100000">
                                          <p:val>
                                            <p:strVal val="#ppt_x"/>
                                          </p:val>
                                        </p:tav>
                                      </p:tavLst>
                                    </p:anim>
                                    <p:anim calcmode="lin" valueType="num">
                                      <p:cBhvr additive="base">
                                        <p:cTn id="7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bldLvl="0" animBg="1"/>
      <p:bldP spid="50" grpId="0" bldLvl="0" animBg="1"/>
      <p:bldP spid="51" grpId="0" bldLvl="0" animBg="1"/>
      <p:bldP spid="52" grpId="0" animBg="1"/>
      <p:bldP spid="53" grpId="0" animBg="1"/>
      <p:bldP spid="3" grpId="0" animBg="1"/>
      <p:bldP spid="5" grpId="0" bldLvl="0" animBg="1"/>
      <p:bldP spid="6" grpId="0" animBg="1"/>
      <p:bldP spid="7" grpId="0" animBg="1"/>
      <p:bldP spid="8" grpId="0" animBg="1"/>
      <p:bldP spid="9" grpId="0" animBg="1"/>
      <p:bldP spid="10" grpId="0" animBg="1"/>
      <p:bldP spid="11" grpId="0" animBg="1"/>
      <p:bldP spid="12" grpId="0" animBg="1"/>
      <p:bldP spid="1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71475" y="847725"/>
            <a:ext cx="8651875"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pic>
        <p:nvPicPr>
          <p:cNvPr id="40963" name="Picture 2"/>
          <p:cNvPicPr>
            <a:picLocks noChangeAspect="1"/>
          </p:cNvPicPr>
          <p:nvPr/>
        </p:nvPicPr>
        <p:blipFill>
          <a:blip r:embed="rId1"/>
          <a:stretch>
            <a:fillRect/>
          </a:stretch>
        </p:blipFill>
        <p:spPr>
          <a:xfrm>
            <a:off x="595313" y="2486025"/>
            <a:ext cx="3751262" cy="3317875"/>
          </a:xfrm>
          <a:prstGeom prst="rect">
            <a:avLst/>
          </a:prstGeom>
          <a:noFill/>
          <a:ln w="9525">
            <a:noFill/>
          </a:ln>
          <a:effectLst>
            <a:prstShdw prst="shdw17" dist="17961" dir="2699999">
              <a:srgbClr val="708688"/>
            </a:prstShdw>
          </a:effectLst>
        </p:spPr>
      </p:pic>
      <p:graphicFrame>
        <p:nvGraphicFramePr>
          <p:cNvPr id="23557" name="表格 23556"/>
          <p:cNvGraphicFramePr/>
          <p:nvPr/>
        </p:nvGraphicFramePr>
        <p:xfrm>
          <a:off x="5191125" y="2486025"/>
          <a:ext cx="3411538" cy="803275"/>
        </p:xfrm>
        <a:graphic>
          <a:graphicData uri="http://schemas.openxmlformats.org/drawingml/2006/table">
            <a:tbl>
              <a:tblPr/>
              <a:tblGrid>
                <a:gridCol w="1136650"/>
                <a:gridCol w="1136650"/>
                <a:gridCol w="1138238"/>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编号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姓名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职称</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71" name="表格 23570"/>
          <p:cNvGraphicFramePr/>
          <p:nvPr/>
        </p:nvGraphicFramePr>
        <p:xfrm>
          <a:off x="5319713" y="3843338"/>
          <a:ext cx="3411538" cy="803275"/>
        </p:xfrm>
        <a:graphic>
          <a:graphicData uri="http://schemas.openxmlformats.org/drawingml/2006/table">
            <a:tbl>
              <a:tblPr/>
              <a:tblGrid>
                <a:gridCol w="1136650"/>
                <a:gridCol w="1136650"/>
                <a:gridCol w="1138238"/>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85" name="表格 23584"/>
          <p:cNvGraphicFramePr/>
          <p:nvPr/>
        </p:nvGraphicFramePr>
        <p:xfrm>
          <a:off x="5195888" y="4851400"/>
          <a:ext cx="3657600" cy="803275"/>
        </p:xfrm>
        <a:graphic>
          <a:graphicData uri="http://schemas.openxmlformats.org/drawingml/2006/table">
            <a:tbl>
              <a:tblPr/>
              <a:tblGrid>
                <a:gridCol w="1219200"/>
                <a:gridCol w="1219200"/>
                <a:gridCol w="1219200"/>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作者编号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t>完成时间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cxnSp>
        <p:nvCxnSpPr>
          <p:cNvPr id="41006" name="直接箭头连接符 22"/>
          <p:cNvCxnSpPr/>
          <p:nvPr/>
        </p:nvCxnSpPr>
        <p:spPr>
          <a:xfrm rot="-5400000" flipV="1">
            <a:off x="4665663" y="4186238"/>
            <a:ext cx="2481262" cy="0"/>
          </a:xfrm>
          <a:prstGeom prst="straightConnector1">
            <a:avLst/>
          </a:prstGeom>
          <a:ln w="9525">
            <a:noFill/>
          </a:ln>
        </p:spPr>
      </p:cxnSp>
      <p:sp>
        <p:nvSpPr>
          <p:cNvPr id="41007" name="Text Box 15"/>
          <p:cNvSpPr txBox="1"/>
          <p:nvPr/>
        </p:nvSpPr>
        <p:spPr>
          <a:xfrm>
            <a:off x="595313" y="1452563"/>
            <a:ext cx="8054975" cy="1168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en-US" altLang="zh-CN" dirty="0">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、如下图</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作者和图书的</a:t>
            </a:r>
            <a:r>
              <a:rPr lang="en-US" altLang="zh-CN" dirty="0">
                <a:latin typeface="楷体" panose="02010609060101010101" pitchFamily="49" charset="-122"/>
                <a:ea typeface="楷体" panose="02010609060101010101" pitchFamily="49" charset="-122"/>
              </a:rPr>
              <a:t>ER</a:t>
            </a:r>
            <a:r>
              <a:rPr lang="zh-CN" altLang="en-US" dirty="0">
                <a:latin typeface="楷体" panose="02010609060101010101" pitchFamily="49" charset="-122"/>
                <a:ea typeface="楷体" panose="02010609060101010101" pitchFamily="49" charset="-122"/>
              </a:rPr>
              <a:t>图转换为右侧</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张关系表。</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）请为下列表指定主键。</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）指出主表和从表，并标明外键。</a:t>
            </a:r>
            <a:endParaRPr lang="zh-CN" altLang="en-US" dirty="0">
              <a:latin typeface="楷体" panose="02010609060101010101" pitchFamily="49" charset="-122"/>
              <a:ea typeface="楷体" panose="02010609060101010101" pitchFamily="49" charset="-122"/>
            </a:endParaRPr>
          </a:p>
        </p:txBody>
      </p:sp>
      <p:sp>
        <p:nvSpPr>
          <p:cNvPr id="41008"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additive="base">
                                        <p:cTn id="7" dur="500" fill="hold"/>
                                        <p:tgtEl>
                                          <p:spTgt spid="23557"/>
                                        </p:tgtEl>
                                        <p:attrNameLst>
                                          <p:attrName>ppt_x</p:attrName>
                                        </p:attrNameLst>
                                      </p:cBhvr>
                                      <p:tavLst>
                                        <p:tav tm="0">
                                          <p:val>
                                            <p:strVal val="#ppt_x"/>
                                          </p:val>
                                        </p:tav>
                                        <p:tav tm="100000">
                                          <p:val>
                                            <p:strVal val="#ppt_x"/>
                                          </p:val>
                                        </p:tav>
                                      </p:tavLst>
                                    </p:anim>
                                    <p:anim calcmode="lin" valueType="num">
                                      <p:cBhvr additive="base">
                                        <p:cTn id="8" dur="500" fill="hold"/>
                                        <p:tgtEl>
                                          <p:spTgt spid="2355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3571"/>
                                        </p:tgtEl>
                                        <p:attrNameLst>
                                          <p:attrName>style.visibility</p:attrName>
                                        </p:attrNameLst>
                                      </p:cBhvr>
                                      <p:to>
                                        <p:strVal val="visible"/>
                                      </p:to>
                                    </p:set>
                                    <p:anim calcmode="lin" valueType="num">
                                      <p:cBhvr additive="base">
                                        <p:cTn id="11" dur="500" fill="hold"/>
                                        <p:tgtEl>
                                          <p:spTgt spid="23571"/>
                                        </p:tgtEl>
                                        <p:attrNameLst>
                                          <p:attrName>ppt_x</p:attrName>
                                        </p:attrNameLst>
                                      </p:cBhvr>
                                      <p:tavLst>
                                        <p:tav tm="0">
                                          <p:val>
                                            <p:strVal val="#ppt_x"/>
                                          </p:val>
                                        </p:tav>
                                        <p:tav tm="100000">
                                          <p:val>
                                            <p:strVal val="#ppt_x"/>
                                          </p:val>
                                        </p:tav>
                                      </p:tavLst>
                                    </p:anim>
                                    <p:anim calcmode="lin" valueType="num">
                                      <p:cBhvr additive="base">
                                        <p:cTn id="12" dur="500" fill="hold"/>
                                        <p:tgtEl>
                                          <p:spTgt spid="2357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3585"/>
                                        </p:tgtEl>
                                        <p:attrNameLst>
                                          <p:attrName>style.visibility</p:attrName>
                                        </p:attrNameLst>
                                      </p:cBhvr>
                                      <p:to>
                                        <p:strVal val="visible"/>
                                      </p:to>
                                    </p:set>
                                    <p:anim calcmode="lin" valueType="num">
                                      <p:cBhvr additive="base">
                                        <p:cTn id="15" dur="500" fill="hold"/>
                                        <p:tgtEl>
                                          <p:spTgt spid="23585"/>
                                        </p:tgtEl>
                                        <p:attrNameLst>
                                          <p:attrName>ppt_x</p:attrName>
                                        </p:attrNameLst>
                                      </p:cBhvr>
                                      <p:tavLst>
                                        <p:tav tm="0">
                                          <p:val>
                                            <p:strVal val="#ppt_x"/>
                                          </p:val>
                                        </p:tav>
                                        <p:tav tm="100000">
                                          <p:val>
                                            <p:strVal val="#ppt_x"/>
                                          </p:val>
                                        </p:tav>
                                      </p:tavLst>
                                    </p:anim>
                                    <p:anim calcmode="lin" valueType="num">
                                      <p:cBhvr additive="base">
                                        <p:cTn id="16" dur="500" fill="hold"/>
                                        <p:tgtEl>
                                          <p:spTgt spid="235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61950" y="911225"/>
            <a:ext cx="8651875"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pSp>
        <p:nvGrpSpPr>
          <p:cNvPr id="41987" name="组合 28"/>
          <p:cNvGrpSpPr/>
          <p:nvPr/>
        </p:nvGrpSpPr>
        <p:grpSpPr>
          <a:xfrm>
            <a:off x="595313" y="1452563"/>
            <a:ext cx="8054975" cy="4640262"/>
            <a:chOff x="6351" y="0"/>
            <a:chExt cx="8055656" cy="4641159"/>
          </a:xfrm>
        </p:grpSpPr>
        <p:sp>
          <p:nvSpPr>
            <p:cNvPr id="42043" name="Text Box 15"/>
            <p:cNvSpPr txBox="1"/>
            <p:nvPr/>
          </p:nvSpPr>
          <p:spPr>
            <a:xfrm>
              <a:off x="6351" y="0"/>
              <a:ext cx="8055656" cy="116846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en-US" altLang="zh-CN" dirty="0">
                  <a:latin typeface="楷体" panose="02010609060101010101" pitchFamily="49" charset="-122"/>
                  <a:ea typeface="楷体" panose="02010609060101010101" pitchFamily="49" charset="-122"/>
                </a:rPr>
                <a:t>6</a:t>
              </a:r>
              <a:r>
                <a:rPr lang="zh-CN" altLang="en-US" dirty="0">
                  <a:latin typeface="楷体" panose="02010609060101010101" pitchFamily="49" charset="-122"/>
                  <a:ea typeface="楷体" panose="02010609060101010101" pitchFamily="49" charset="-122"/>
                </a:rPr>
                <a:t>、如下图</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作者和图书的</a:t>
              </a:r>
              <a:r>
                <a:rPr lang="en-US" altLang="zh-CN" dirty="0">
                  <a:latin typeface="楷体" panose="02010609060101010101" pitchFamily="49" charset="-122"/>
                  <a:ea typeface="楷体" panose="02010609060101010101" pitchFamily="49" charset="-122"/>
                </a:rPr>
                <a:t>ER</a:t>
              </a:r>
              <a:r>
                <a:rPr lang="zh-CN" altLang="en-US" dirty="0">
                  <a:latin typeface="楷体" panose="02010609060101010101" pitchFamily="49" charset="-122"/>
                  <a:ea typeface="楷体" panose="02010609060101010101" pitchFamily="49" charset="-122"/>
                </a:rPr>
                <a:t>图转换为右侧</a:t>
              </a:r>
              <a:r>
                <a:rPr lang="en-US" altLang="zh-CN" dirty="0">
                  <a:latin typeface="楷体" panose="02010609060101010101" pitchFamily="49" charset="-122"/>
                  <a:ea typeface="楷体" panose="02010609060101010101" pitchFamily="49" charset="-122"/>
                </a:rPr>
                <a:t>3</a:t>
              </a:r>
              <a:r>
                <a:rPr lang="zh-CN" altLang="en-US" dirty="0">
                  <a:latin typeface="楷体" panose="02010609060101010101" pitchFamily="49" charset="-122"/>
                  <a:ea typeface="楷体" panose="02010609060101010101" pitchFamily="49" charset="-122"/>
                </a:rPr>
                <a:t>张关系表。</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）请为下列表指定主键。</a:t>
              </a:r>
              <a:endParaRPr lang="zh-CN" altLang="en-US" dirty="0">
                <a:latin typeface="楷体" panose="02010609060101010101" pitchFamily="49" charset="-122"/>
                <a:ea typeface="楷体" panose="02010609060101010101" pitchFamily="49" charset="-122"/>
              </a:endParaRPr>
            </a:p>
            <a:p>
              <a:pPr marL="0" lvl="0" indent="0" eaLnBrk="1" hangingPunct="1">
                <a:spcBef>
                  <a:spcPts val="600"/>
                </a:spcBef>
                <a:buClrTx/>
                <a:buSzTx/>
                <a:buFont typeface="Arial" panose="020B0604020202020204" pitchFamily="34" charset="0"/>
                <a:buNone/>
              </a:pPr>
              <a:r>
                <a:rPr lang="zh-CN" altLang="en-US" dirty="0">
                  <a:latin typeface="楷体" panose="02010609060101010101" pitchFamily="49" charset="-122"/>
                  <a:ea typeface="楷体" panose="02010609060101010101" pitchFamily="49" charset="-122"/>
                </a:rPr>
                <a:t>（</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）指出主表和从表，并标明外键。</a:t>
              </a:r>
              <a:endParaRPr lang="zh-CN" altLang="en-US" dirty="0">
                <a:latin typeface="楷体" panose="02010609060101010101" pitchFamily="49" charset="-122"/>
                <a:ea typeface="楷体" panose="02010609060101010101" pitchFamily="49" charset="-122"/>
              </a:endParaRPr>
            </a:p>
          </p:txBody>
        </p:sp>
        <p:pic>
          <p:nvPicPr>
            <p:cNvPr id="42044" name="Picture 2"/>
            <p:cNvPicPr>
              <a:picLocks noChangeAspect="1"/>
            </p:cNvPicPr>
            <p:nvPr/>
          </p:nvPicPr>
          <p:blipFill>
            <a:blip r:embed="rId1"/>
            <a:stretch>
              <a:fillRect/>
            </a:stretch>
          </p:blipFill>
          <p:spPr>
            <a:xfrm>
              <a:off x="71762" y="1323096"/>
              <a:ext cx="3751579" cy="3318063"/>
            </a:xfrm>
            <a:prstGeom prst="rect">
              <a:avLst/>
            </a:prstGeom>
            <a:noFill/>
            <a:ln w="9525">
              <a:noFill/>
            </a:ln>
            <a:effectLst>
              <a:prstShdw prst="shdw17" dist="17961" dir="2699999">
                <a:srgbClr val="708688"/>
              </a:prstShdw>
            </a:effectLst>
          </p:spPr>
        </p:pic>
      </p:grpSp>
      <p:graphicFrame>
        <p:nvGraphicFramePr>
          <p:cNvPr id="23557" name="表格 23556"/>
          <p:cNvGraphicFramePr/>
          <p:nvPr/>
        </p:nvGraphicFramePr>
        <p:xfrm>
          <a:off x="5191125" y="2486025"/>
          <a:ext cx="3411538" cy="833438"/>
        </p:xfrm>
        <a:graphic>
          <a:graphicData uri="http://schemas.openxmlformats.org/drawingml/2006/table">
            <a:tbl>
              <a:tblPr/>
              <a:tblGrid>
                <a:gridCol w="1136650"/>
                <a:gridCol w="1136650"/>
                <a:gridCol w="1138238"/>
              </a:tblGrid>
              <a:tr h="461821">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编号</a:t>
                      </a:r>
                      <a:endParaRPr lang="zh-CN" altLang="en-US" sz="1800">
                        <a:solidFill>
                          <a:schemeClr val="tx1"/>
                        </a:solidFill>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姓名</a:t>
                      </a:r>
                      <a:endParaRPr lang="zh-CN" altLang="en-US" sz="1800"/>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职称</a:t>
                      </a:r>
                      <a:endParaRPr lang="zh-CN" altLang="en-US" sz="1800"/>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617">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marT="45737" marB="45737">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71" name="表格 23570"/>
          <p:cNvGraphicFramePr/>
          <p:nvPr/>
        </p:nvGraphicFramePr>
        <p:xfrm>
          <a:off x="5319713" y="3843338"/>
          <a:ext cx="3411538" cy="803275"/>
        </p:xfrm>
        <a:graphic>
          <a:graphicData uri="http://schemas.openxmlformats.org/drawingml/2006/table">
            <a:tbl>
              <a:tblPr/>
              <a:tblGrid>
                <a:gridCol w="1136650"/>
                <a:gridCol w="1136650"/>
                <a:gridCol w="1138238"/>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书名</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en-US" altLang="zh-CN" sz="1800"/>
                        <a:t>   </a:t>
                      </a:r>
                      <a:r>
                        <a:rPr lang="zh-CN" altLang="en-US" sz="1800"/>
                        <a:t>价格</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147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graphicFrame>
        <p:nvGraphicFramePr>
          <p:cNvPr id="23585" name="表格 23584"/>
          <p:cNvGraphicFramePr/>
          <p:nvPr/>
        </p:nvGraphicFramePr>
        <p:xfrm>
          <a:off x="5195888" y="5233988"/>
          <a:ext cx="3657600" cy="809625"/>
        </p:xfrm>
        <a:graphic>
          <a:graphicData uri="http://schemas.openxmlformats.org/drawingml/2006/table">
            <a:tbl>
              <a:tblPr/>
              <a:tblGrid>
                <a:gridCol w="1219200"/>
                <a:gridCol w="1219200"/>
                <a:gridCol w="1219200"/>
              </a:tblGrid>
              <a:tr h="431800">
                <a:tc>
                  <a:txBody>
                    <a:bodyPr/>
                    <a:lstStyle/>
                    <a:p>
                      <a:pPr marL="0" lvl="0" indent="0" algn="ctr" eaLnBrk="1" hangingPunct="1">
                        <a:spcBef>
                          <a:spcPct val="0"/>
                        </a:spcBef>
                        <a:buClr>
                          <a:srgbClr val="000000"/>
                        </a:buClr>
                        <a:buFont typeface="Arial" panose="020B0604020202020204" pitchFamily="34" charset="0"/>
                        <a:buNone/>
                      </a:pPr>
                      <a:r>
                        <a:rPr lang="zh-CN" altLang="en-US" sz="1800">
                          <a:solidFill>
                            <a:schemeClr val="tx1"/>
                          </a:solidFill>
                        </a:rPr>
                        <a:t>作者编号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solidFill>
                            <a:schemeClr val="tx1"/>
                          </a:solidFill>
                        </a:rPr>
                        <a:t>书号</a:t>
                      </a:r>
                      <a:endParaRPr lang="zh-CN" altLang="en-US" sz="1800">
                        <a:solidFill>
                          <a:schemeClr val="tx1"/>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p>
                      <a:pPr marL="0" lvl="0" indent="0" eaLnBrk="1" hangingPunct="1">
                        <a:spcBef>
                          <a:spcPct val="0"/>
                        </a:spcBef>
                        <a:buClr>
                          <a:srgbClr val="000000"/>
                        </a:buClr>
                        <a:buFont typeface="Arial" panose="020B0604020202020204" pitchFamily="34" charset="0"/>
                        <a:buNone/>
                      </a:pPr>
                      <a:r>
                        <a:rPr lang="zh-CN" altLang="en-US" sz="1800"/>
                        <a:t>完成时间</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r h="377825">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c>
                  <a:txBody>
                    <a:bodyPr/>
                    <a:lstStyle/>
                    <a:p>
                      <a:pPr marL="0" lvl="0" indent="0" eaLnBrk="1" hangingPunct="1">
                        <a:spcBef>
                          <a:spcPct val="0"/>
                        </a:spcBef>
                        <a:buClr>
                          <a:srgbClr val="000000"/>
                        </a:buClr>
                        <a:buFont typeface="Arial" panose="020B0604020202020204" pitchFamily="34" charset="0"/>
                        <a:buNone/>
                      </a:pPr>
                      <a:endParaRPr lang="zh-CN" altLang="en-US" sz="1800" b="0">
                        <a:solidFill>
                          <a:srgbClr val="000000"/>
                        </a:solidFill>
                        <a:latin typeface="Calibri" panose="020F0502020204030204" pitchFamily="34" charset="0"/>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38100" cap="flat" cmpd="sng">
                      <a:solidFill>
                        <a:schemeClr val="bg1"/>
                      </a:solidFill>
                      <a:prstDash val="solid"/>
                      <a:headEnd type="none" w="med" len="med"/>
                      <a:tailEnd type="none" w="med" len="med"/>
                    </a:lnT>
                    <a:lnB w="12700" cap="flat" cmpd="sng">
                      <a:solidFill>
                        <a:schemeClr val="bg1"/>
                      </a:solidFill>
                      <a:prstDash val="solid"/>
                      <a:headEnd type="none" w="med" len="med"/>
                      <a:tailEnd type="none" w="med" len="med"/>
                    </a:lnB>
                    <a:lnTlToBr>
                      <a:noFill/>
                    </a:lnTlToBr>
                    <a:lnBlToTr>
                      <a:noFill/>
                    </a:lnBlToTr>
                    <a:solidFill>
                      <a:srgbClr val="E7F3F4">
                        <a:alpha val="100000"/>
                      </a:srgbClr>
                    </a:solidFill>
                  </a:tcPr>
                </a:tc>
              </a:tr>
            </a:tbl>
          </a:graphicData>
        </a:graphic>
      </p:graphicFrame>
      <p:cxnSp>
        <p:nvCxnSpPr>
          <p:cNvPr id="42030" name="直接箭头连接符 22"/>
          <p:cNvCxnSpPr/>
          <p:nvPr/>
        </p:nvCxnSpPr>
        <p:spPr>
          <a:xfrm rot="-5400000" flipV="1">
            <a:off x="4665663" y="4186238"/>
            <a:ext cx="2481262" cy="0"/>
          </a:xfrm>
          <a:prstGeom prst="straightConnector1">
            <a:avLst/>
          </a:prstGeom>
          <a:ln w="9525">
            <a:noFill/>
          </a:ln>
        </p:spPr>
      </p:cxnSp>
      <p:sp>
        <p:nvSpPr>
          <p:cNvPr id="42031" name="Text Box 15"/>
          <p:cNvSpPr txBox="1"/>
          <p:nvPr/>
        </p:nvSpPr>
        <p:spPr>
          <a:xfrm>
            <a:off x="5097463" y="1989138"/>
            <a:ext cx="2627312" cy="496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作者</a:t>
            </a:r>
            <a:endParaRPr lang="zh-CN" altLang="en-US" sz="2400" dirty="0">
              <a:latin typeface="楷体" panose="02010609060101010101" pitchFamily="49" charset="-122"/>
              <a:ea typeface="楷体" panose="02010609060101010101" pitchFamily="49" charset="-122"/>
            </a:endParaRPr>
          </a:p>
        </p:txBody>
      </p:sp>
      <p:sp>
        <p:nvSpPr>
          <p:cNvPr id="42032" name="Text Box 15"/>
          <p:cNvSpPr txBox="1"/>
          <p:nvPr/>
        </p:nvSpPr>
        <p:spPr>
          <a:xfrm>
            <a:off x="5195888" y="3408363"/>
            <a:ext cx="2627312"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图书</a:t>
            </a:r>
            <a:endParaRPr lang="zh-CN" altLang="en-US" sz="2400" dirty="0">
              <a:latin typeface="楷体" panose="02010609060101010101" pitchFamily="49" charset="-122"/>
              <a:ea typeface="楷体" panose="02010609060101010101" pitchFamily="49" charset="-122"/>
            </a:endParaRPr>
          </a:p>
        </p:txBody>
      </p:sp>
      <p:sp>
        <p:nvSpPr>
          <p:cNvPr id="42033" name="Text Box 15"/>
          <p:cNvSpPr txBox="1"/>
          <p:nvPr/>
        </p:nvSpPr>
        <p:spPr>
          <a:xfrm>
            <a:off x="5189538" y="4832350"/>
            <a:ext cx="2627312" cy="4968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latin typeface="楷体" panose="02010609060101010101" pitchFamily="49" charset="-122"/>
                <a:ea typeface="楷体" panose="02010609060101010101" pitchFamily="49" charset="-122"/>
              </a:rPr>
              <a:t>写作</a:t>
            </a:r>
            <a:endParaRPr lang="zh-CN" altLang="en-US" sz="2400" dirty="0">
              <a:latin typeface="楷体" panose="02010609060101010101" pitchFamily="49" charset="-122"/>
              <a:ea typeface="楷体" panose="02010609060101010101" pitchFamily="49" charset="-122"/>
            </a:endParaRPr>
          </a:p>
        </p:txBody>
      </p:sp>
      <p:cxnSp>
        <p:nvCxnSpPr>
          <p:cNvPr id="3" name="直接连接符 2"/>
          <p:cNvCxnSpPr/>
          <p:nvPr/>
        </p:nvCxnSpPr>
        <p:spPr>
          <a:xfrm>
            <a:off x="5478463" y="2901950"/>
            <a:ext cx="690563" cy="0"/>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5607050" y="4251325"/>
            <a:ext cx="690563" cy="0"/>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319713" y="5637213"/>
            <a:ext cx="1017588" cy="4763"/>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6446838" y="5637213"/>
            <a:ext cx="758825" cy="0"/>
          </a:xfrm>
          <a:prstGeom prst="line">
            <a:avLst/>
          </a:prstGeom>
          <a:ln w="25400">
            <a:solidFill>
              <a:srgbClr val="A50021"/>
            </a:solidFill>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022975" y="2054225"/>
            <a:ext cx="1487488" cy="368300"/>
          </a:xfrm>
          <a:prstGeom prst="rect">
            <a:avLst/>
          </a:prstGeom>
          <a:solidFill>
            <a:schemeClr val="accent6">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主键：编号</a:t>
            </a:r>
            <a:endParaRPr kumimoji="0" lang="zh-CN" altLang="en-US" kern="1200" cap="none" spc="0" normalizeH="0" baseline="0" noProof="0" dirty="0">
              <a:latin typeface="楷体" panose="02010609060101010101" pitchFamily="49" charset="-122"/>
              <a:ea typeface="楷体" panose="02010609060101010101" pitchFamily="49" charset="-122"/>
              <a:cs typeface="+mn-cs"/>
              <a:sym typeface="+mn-ea"/>
            </a:endParaRPr>
          </a:p>
        </p:txBody>
      </p:sp>
      <p:sp>
        <p:nvSpPr>
          <p:cNvPr id="9" name="文本框 8"/>
          <p:cNvSpPr txBox="1"/>
          <p:nvPr/>
        </p:nvSpPr>
        <p:spPr>
          <a:xfrm>
            <a:off x="6022975" y="3475038"/>
            <a:ext cx="1331913" cy="368300"/>
          </a:xfrm>
          <a:prstGeom prst="rect">
            <a:avLst/>
          </a:prstGeom>
          <a:solidFill>
            <a:schemeClr val="accent6">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主键：书号</a:t>
            </a:r>
            <a:endParaRPr kumimoji="0" lang="zh-CN" altLang="en-US" kern="1200" cap="none" spc="0" normalizeH="0" baseline="0" noProof="0" dirty="0">
              <a:latin typeface="楷体" panose="02010609060101010101" pitchFamily="49" charset="-122"/>
              <a:ea typeface="楷体" panose="02010609060101010101" pitchFamily="49" charset="-122"/>
              <a:cs typeface="+mn-cs"/>
              <a:sym typeface="+mn-ea"/>
            </a:endParaRPr>
          </a:p>
        </p:txBody>
      </p:sp>
      <p:sp>
        <p:nvSpPr>
          <p:cNvPr id="10" name="文本框 9"/>
          <p:cNvSpPr txBox="1"/>
          <p:nvPr/>
        </p:nvSpPr>
        <p:spPr>
          <a:xfrm>
            <a:off x="5905500" y="4832350"/>
            <a:ext cx="2827338" cy="368300"/>
          </a:xfrm>
          <a:prstGeom prst="rect">
            <a:avLst/>
          </a:prstGeom>
          <a:solidFill>
            <a:schemeClr val="accent6">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主键：</a:t>
            </a:r>
            <a:r>
              <a:rPr kumimoji="0" lang="en-US" altLang="zh-CN" kern="1200" cap="none" spc="0" normalizeH="0" baseline="0" noProof="0" dirty="0">
                <a:latin typeface="楷体" panose="02010609060101010101" pitchFamily="49" charset="-122"/>
                <a:ea typeface="楷体" panose="02010609060101010101" pitchFamily="49" charset="-122"/>
                <a:cs typeface="+mn-cs"/>
                <a:sym typeface="+mn-ea"/>
              </a:rPr>
              <a:t>(</a:t>
            </a:r>
            <a:r>
              <a:rPr kumimoji="0" lang="zh-CN" altLang="en-US" kern="1200" cap="none" spc="0" normalizeH="0" baseline="0" noProof="0" dirty="0">
                <a:latin typeface="楷体" panose="02010609060101010101" pitchFamily="49" charset="-122"/>
                <a:ea typeface="楷体" panose="02010609060101010101" pitchFamily="49" charset="-122"/>
                <a:cs typeface="+mn-cs"/>
                <a:sym typeface="+mn-ea"/>
              </a:rPr>
              <a:t>作者编号，书号）</a:t>
            </a:r>
            <a:endParaRPr kumimoji="0" lang="zh-CN" altLang="en-US" kern="1200" cap="none" spc="0" normalizeH="0" baseline="0" noProof="0" dirty="0">
              <a:latin typeface="楷体" panose="02010609060101010101" pitchFamily="49" charset="-122"/>
              <a:ea typeface="楷体" panose="02010609060101010101" pitchFamily="49" charset="-122"/>
              <a:cs typeface="+mn-cs"/>
              <a:sym typeface="+mn-ea"/>
            </a:endParaRPr>
          </a:p>
        </p:txBody>
      </p:sp>
      <p:sp>
        <p:nvSpPr>
          <p:cNvPr id="11" name="文本框 10"/>
          <p:cNvSpPr txBox="1"/>
          <p:nvPr/>
        </p:nvSpPr>
        <p:spPr>
          <a:xfrm>
            <a:off x="595313" y="5233988"/>
            <a:ext cx="8137525" cy="1014413"/>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主表</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作者、图书</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从表：写作，作者编号和书号均为外键，取值分别参照作者</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编号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和图书</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书号）</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42042"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fill="hold"/>
                                        <p:tgtEl>
                                          <p:spTgt spid="7"/>
                                        </p:tgtEl>
                                        <p:attrNameLst>
                                          <p:attrName>ppt_x</p:attrName>
                                        </p:attrNameLst>
                                      </p:cBhvr>
                                      <p:tavLst>
                                        <p:tav tm="0">
                                          <p:val>
                                            <p:strVal val="#ppt_x"/>
                                          </p:val>
                                        </p:tav>
                                        <p:tav tm="100000">
                                          <p:val>
                                            <p:strVal val="#ppt_x"/>
                                          </p:val>
                                        </p:tav>
                                      </p:tavLst>
                                    </p:anim>
                                    <p:anim calcmode="lin" valueType="num">
                                      <p:cBhvr additive="base">
                                        <p:cTn id="3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23850" y="785813"/>
            <a:ext cx="8382000"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、为下列关系指定候选键和主键。</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aphicFrame>
        <p:nvGraphicFramePr>
          <p:cNvPr id="50" name="表格 49"/>
          <p:cNvGraphicFramePr/>
          <p:nvPr/>
        </p:nvGraphicFramePr>
        <p:xfrm>
          <a:off x="519113" y="2181225"/>
          <a:ext cx="4071938" cy="1914525"/>
        </p:xfrm>
        <a:graphic>
          <a:graphicData uri="http://schemas.openxmlformats.org/drawingml/2006/table">
            <a:tbl>
              <a:tblPr firstRow="1" bandRow="1">
                <a:tableStyleId>{5C22544A-7EE6-4342-B048-85BDC9FD1C3A}</a:tableStyleId>
              </a:tblPr>
              <a:tblGrid>
                <a:gridCol w="1346515"/>
                <a:gridCol w="797747"/>
                <a:gridCol w="739948"/>
                <a:gridCol w="1187728"/>
              </a:tblGrid>
              <a:tr h="366003">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班级</a:t>
                      </a:r>
                      <a:endParaRPr lang="zh-CN" altLang="en-US" sz="1800">
                        <a:solidFill>
                          <a:schemeClr val="tx1"/>
                        </a:solidFill>
                      </a:endParaRPr>
                    </a:p>
                  </a:txBody>
                  <a:tcPr marL="91461" marR="91461" marT="45750" marB="45750"/>
                </a:tc>
              </a:tr>
              <a:tr h="366003">
                <a:tc>
                  <a:txBody>
                    <a:bodyPr/>
                    <a:lstStyle/>
                    <a:p>
                      <a:pPr>
                        <a:lnSpc>
                          <a:spcPct val="100000"/>
                        </a:lnSpc>
                        <a:buNone/>
                      </a:pPr>
                      <a:r>
                        <a:rPr lang="en-US" altLang="zh-CN" sz="1800"/>
                        <a:t>201801001</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t>计</a:t>
                      </a:r>
                      <a:r>
                        <a:rPr lang="en-US" altLang="zh-CN" sz="1800"/>
                        <a:t>2018-1</a:t>
                      </a:r>
                      <a:endParaRPr lang="en-US" altLang="zh-CN" sz="1800"/>
                    </a:p>
                  </a:txBody>
                  <a:tcPr marL="91461" marR="91461" marT="45750" marB="45750"/>
                </a:tc>
              </a:tr>
              <a:tr h="393326">
                <a:tc>
                  <a:txBody>
                    <a:bodyPr/>
                    <a:lstStyle/>
                    <a:p>
                      <a:pPr>
                        <a:lnSpc>
                          <a:spcPct val="100000"/>
                        </a:lnSpc>
                        <a:buNone/>
                      </a:pPr>
                      <a:r>
                        <a:rPr lang="en-US" altLang="zh-CN" sz="1800">
                          <a:sym typeface="+mn-ea"/>
                        </a:rPr>
                        <a:t>201801002</a:t>
                      </a:r>
                      <a:endParaRPr lang="en-US" altLang="zh-CN" sz="1800"/>
                    </a:p>
                  </a:txBody>
                  <a:tcPr marL="91461" marR="91461" marT="45750" marB="45750"/>
                </a:tc>
                <a:tc>
                  <a:txBody>
                    <a:bodyPr/>
                    <a:lstStyle/>
                    <a:p>
                      <a:pPr>
                        <a:lnSpc>
                          <a:spcPct val="100000"/>
                        </a:lnSpc>
                        <a:buNone/>
                      </a:pPr>
                      <a:r>
                        <a:rPr lang="zh-CN" altLang="en-US" sz="1800"/>
                        <a:t>唐</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2018-1</a:t>
                      </a:r>
                      <a:endParaRPr lang="en-US" altLang="zh-CN" sz="1800"/>
                    </a:p>
                  </a:txBody>
                  <a:tcPr marL="91461" marR="91461" marT="45750" marB="45750"/>
                </a:tc>
              </a:tr>
              <a:tr h="394597">
                <a:tc>
                  <a:txBody>
                    <a:bodyPr/>
                    <a:lstStyle/>
                    <a:p>
                      <a:pPr>
                        <a:lnSpc>
                          <a:spcPct val="100000"/>
                        </a:lnSpc>
                        <a:buNone/>
                      </a:pPr>
                      <a:r>
                        <a:rPr lang="en-US" altLang="zh-CN" sz="1800">
                          <a:sym typeface="+mn-ea"/>
                        </a:rPr>
                        <a:t>201801039</a:t>
                      </a:r>
                      <a:endParaRPr lang="en-US" altLang="zh-CN" sz="1800"/>
                    </a:p>
                  </a:txBody>
                  <a:tcPr marL="91461" marR="91461" marT="45750" marB="45750"/>
                </a:tc>
                <a:tc>
                  <a:txBody>
                    <a:bodyPr/>
                    <a:lstStyle/>
                    <a:p>
                      <a:pPr>
                        <a:lnSpc>
                          <a:spcPct val="100000"/>
                        </a:lnSpc>
                        <a:buNone/>
                      </a:pPr>
                      <a:r>
                        <a:rPr lang="zh-CN" altLang="en-US" sz="1800"/>
                        <a:t>胡</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2018-2</a:t>
                      </a:r>
                      <a:endParaRPr lang="en-US" altLang="zh-CN" sz="1800"/>
                    </a:p>
                  </a:txBody>
                  <a:tcPr marL="91461" marR="91461" marT="45750" marB="45750"/>
                </a:tc>
              </a:tr>
              <a:tr h="394597">
                <a:tc>
                  <a:txBody>
                    <a:bodyPr/>
                    <a:lstStyle/>
                    <a:p>
                      <a:pPr>
                        <a:lnSpc>
                          <a:spcPct val="100000"/>
                        </a:lnSpc>
                        <a:buNone/>
                      </a:pPr>
                      <a:r>
                        <a:rPr lang="en-US" altLang="zh-CN" sz="1800">
                          <a:sym typeface="+mn-ea"/>
                        </a:rPr>
                        <a:t>201801067</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2018-3</a:t>
                      </a:r>
                      <a:endParaRPr lang="en-US" altLang="zh-CN" sz="1800"/>
                    </a:p>
                  </a:txBody>
                  <a:tcPr marL="91461" marR="91461" marT="45750" marB="45750"/>
                </a:tc>
              </a:tr>
            </a:tbl>
          </a:graphicData>
        </a:graphic>
      </p:graphicFrame>
      <p:sp>
        <p:nvSpPr>
          <p:cNvPr id="43043" name="文本框 2"/>
          <p:cNvSpPr txBox="1"/>
          <p:nvPr/>
        </p:nvSpPr>
        <p:spPr>
          <a:xfrm>
            <a:off x="490538" y="1708150"/>
            <a:ext cx="1458912"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1</a:t>
            </a:r>
            <a:r>
              <a:rPr lang="zh-CN" altLang="en-US" sz="1800" dirty="0"/>
              <a:t>）学生表</a:t>
            </a:r>
            <a:endParaRPr lang="zh-CN" altLang="en-US" sz="1800" dirty="0"/>
          </a:p>
        </p:txBody>
      </p:sp>
      <p:sp>
        <p:nvSpPr>
          <p:cNvPr id="43044" name="文本框 4"/>
          <p:cNvSpPr txBox="1"/>
          <p:nvPr/>
        </p:nvSpPr>
        <p:spPr>
          <a:xfrm>
            <a:off x="4735513" y="1717675"/>
            <a:ext cx="1919287"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2</a:t>
            </a:r>
            <a:r>
              <a:rPr lang="zh-CN" altLang="en-US" sz="1800" dirty="0"/>
              <a:t>）选课成绩表</a:t>
            </a:r>
            <a:endParaRPr lang="zh-CN" altLang="en-US" sz="1800" dirty="0"/>
          </a:p>
        </p:txBody>
      </p:sp>
      <p:graphicFrame>
        <p:nvGraphicFramePr>
          <p:cNvPr id="6" name="表格 5"/>
          <p:cNvGraphicFramePr/>
          <p:nvPr/>
        </p:nvGraphicFramePr>
        <p:xfrm>
          <a:off x="4773613" y="2181225"/>
          <a:ext cx="4008438" cy="1519238"/>
        </p:xfrm>
        <a:graphic>
          <a:graphicData uri="http://schemas.openxmlformats.org/drawingml/2006/table">
            <a:tbl>
              <a:tblPr firstRow="1" bandRow="1">
                <a:tableStyleId>{5C22544A-7EE6-4342-B048-85BDC9FD1C3A}</a:tableStyleId>
              </a:tblPr>
              <a:tblGrid>
                <a:gridCol w="1369424"/>
                <a:gridCol w="1072165"/>
                <a:gridCol w="692221"/>
                <a:gridCol w="874627"/>
              </a:tblGrid>
              <a:tr h="365837">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课程号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成绩</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考试名</a:t>
                      </a:r>
                      <a:endParaRPr lang="zh-CN" altLang="en-US" sz="1800">
                        <a:solidFill>
                          <a:schemeClr val="tx1"/>
                        </a:solidFill>
                      </a:endParaRPr>
                    </a:p>
                  </a:txBody>
                  <a:tcPr marL="91464" marR="91464" marT="45730" marB="45730"/>
                </a:tc>
              </a:tr>
              <a:tr h="365837">
                <a:tc>
                  <a:txBody>
                    <a:bodyPr/>
                    <a:lstStyle/>
                    <a:p>
                      <a:pPr>
                        <a:lnSpc>
                          <a:spcPct val="100000"/>
                        </a:lnSpc>
                        <a:buNone/>
                      </a:pPr>
                      <a:r>
                        <a:rPr lang="en-US" altLang="zh-CN" sz="1800"/>
                        <a:t>201801001</a:t>
                      </a:r>
                      <a:endParaRPr lang="en-US" altLang="zh-CN" sz="1800"/>
                    </a:p>
                  </a:txBody>
                  <a:tcPr marL="91464" marR="91464" marT="45730" marB="45730"/>
                </a:tc>
                <a:tc>
                  <a:txBody>
                    <a:bodyPr/>
                    <a:lstStyle/>
                    <a:p>
                      <a:pPr>
                        <a:lnSpc>
                          <a:spcPct val="100000"/>
                        </a:lnSpc>
                        <a:buNone/>
                      </a:pPr>
                      <a:r>
                        <a:rPr lang="en-US" sz="1800"/>
                        <a:t>3243210</a:t>
                      </a:r>
                      <a:endParaRPr lang="en-US" sz="1800"/>
                    </a:p>
                  </a:txBody>
                  <a:tcPr marL="91464" marR="91464" marT="45730" marB="45730"/>
                </a:tc>
                <a:tc>
                  <a:txBody>
                    <a:bodyPr/>
                    <a:lstStyle/>
                    <a:p>
                      <a:pPr>
                        <a:lnSpc>
                          <a:spcPct val="100000"/>
                        </a:lnSpc>
                        <a:buNone/>
                      </a:pPr>
                      <a:r>
                        <a:rPr lang="en-US" altLang="zh-CN" sz="1800"/>
                        <a:t>90</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3147">
                <a:tc>
                  <a:txBody>
                    <a:bodyPr/>
                    <a:lstStyle/>
                    <a:p>
                      <a:pPr>
                        <a:lnSpc>
                          <a:spcPct val="100000"/>
                        </a:lnSpc>
                        <a:buNone/>
                      </a:pPr>
                      <a:r>
                        <a:rPr lang="en-US" altLang="zh-CN" sz="1800">
                          <a:sym typeface="+mn-ea"/>
                        </a:rPr>
                        <a:t>201801002</a:t>
                      </a:r>
                      <a:endParaRPr lang="en-US" altLang="zh-CN" sz="1800"/>
                    </a:p>
                  </a:txBody>
                  <a:tcPr marL="91464" marR="91464" marT="45730" marB="45730"/>
                </a:tc>
                <a:tc>
                  <a:txBody>
                    <a:bodyPr/>
                    <a:lstStyle/>
                    <a:p>
                      <a:pPr>
                        <a:lnSpc>
                          <a:spcPct val="100000"/>
                        </a:lnSpc>
                        <a:buNone/>
                      </a:pPr>
                      <a:r>
                        <a:rPr lang="en-US" sz="1800"/>
                        <a:t>1103215</a:t>
                      </a:r>
                      <a:endParaRPr lang="en-US"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4418">
                <a:tc>
                  <a:txBody>
                    <a:bodyPr/>
                    <a:lstStyle/>
                    <a:p>
                      <a:pPr>
                        <a:lnSpc>
                          <a:spcPct val="100000"/>
                        </a:lnSpc>
                        <a:buNone/>
                      </a:pPr>
                      <a:r>
                        <a:rPr lang="en-US" altLang="zh-CN" sz="1800">
                          <a:sym typeface="+mn-ea"/>
                        </a:rPr>
                        <a:t>201801001</a:t>
                      </a:r>
                      <a:endParaRPr lang="en-US" altLang="zh-CN" sz="1800"/>
                    </a:p>
                  </a:txBody>
                  <a:tcPr marL="91464" marR="91464" marT="45730" marB="45730"/>
                </a:tc>
                <a:tc>
                  <a:txBody>
                    <a:bodyPr/>
                    <a:lstStyle/>
                    <a:p>
                      <a:pPr>
                        <a:lnSpc>
                          <a:spcPct val="100000"/>
                        </a:lnSpc>
                        <a:buNone/>
                      </a:pPr>
                      <a:r>
                        <a:rPr lang="en-US" sz="1800">
                          <a:sym typeface="+mn-ea"/>
                        </a:rPr>
                        <a:t>3243210</a:t>
                      </a:r>
                      <a:endParaRPr lang="en-US" altLang="zh-CN"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期中</a:t>
                      </a:r>
                      <a:endParaRPr lang="zh-CN" altLang="en-US" sz="1800"/>
                    </a:p>
                  </a:txBody>
                  <a:tcPr marL="91464" marR="91464" marT="45730" marB="45730"/>
                </a:tc>
              </a:tr>
            </a:tbl>
          </a:graphicData>
        </a:graphic>
      </p:graphicFrame>
      <p:graphicFrame>
        <p:nvGraphicFramePr>
          <p:cNvPr id="7" name="表格 6"/>
          <p:cNvGraphicFramePr/>
          <p:nvPr/>
        </p:nvGraphicFramePr>
        <p:xfrm>
          <a:off x="519113" y="4464050"/>
          <a:ext cx="7650163" cy="1855788"/>
        </p:xfrm>
        <a:graphic>
          <a:graphicData uri="http://schemas.openxmlformats.org/drawingml/2006/table">
            <a:tbl>
              <a:tblPr firstRow="1" bandRow="1">
                <a:tableStyleId>{5C22544A-7EE6-4342-B048-85BDC9FD1C3A}</a:tableStyleId>
              </a:tblPr>
              <a:tblGrid>
                <a:gridCol w="1381703"/>
                <a:gridCol w="1181686"/>
                <a:gridCol w="1463614"/>
                <a:gridCol w="1113744"/>
                <a:gridCol w="2509416"/>
              </a:tblGrid>
              <a:tr h="382155">
                <a:tc>
                  <a:txBody>
                    <a:bodyPr/>
                    <a:lstStyle/>
                    <a:p>
                      <a:pPr>
                        <a:lnSpc>
                          <a:spcPct val="100000"/>
                        </a:lnSpc>
                        <a:buNone/>
                      </a:pPr>
                      <a:r>
                        <a:rPr lang="zh-CN" altLang="en-US" sz="1800">
                          <a:solidFill>
                            <a:schemeClr val="tx1"/>
                          </a:solidFill>
                        </a:rPr>
                        <a:t>顾客编码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员工编码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商品编码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购买数量</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购买时间</a:t>
                      </a:r>
                      <a:endParaRPr lang="zh-CN" altLang="en-US" sz="1800">
                        <a:solidFill>
                          <a:schemeClr val="tx1"/>
                        </a:solidFill>
                      </a:endParaRPr>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sz="1800"/>
                        <a:t>2</a:t>
                      </a:r>
                      <a:endParaRPr lang="en-US" sz="1800"/>
                    </a:p>
                  </a:txBody>
                  <a:tcPr marL="91436" marR="91436" marT="45706" marB="45706"/>
                </a:tc>
                <a:tc>
                  <a:txBody>
                    <a:bodyPr/>
                    <a:lstStyle/>
                    <a:p>
                      <a:pPr>
                        <a:lnSpc>
                          <a:spcPct val="100000"/>
                        </a:lnSpc>
                        <a:buNone/>
                      </a:pPr>
                      <a:r>
                        <a:rPr lang="en-US" altLang="zh-CN" sz="1800"/>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C10031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76443">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D20101</a:t>
                      </a:r>
                      <a:endParaRPr lang="en-US" altLang="zh-CN" sz="1800"/>
                    </a:p>
                  </a:txBody>
                  <a:tcPr marL="91436" marR="91436" marT="45706" marB="45706"/>
                </a:tc>
                <a:tc>
                  <a:txBody>
                    <a:bodyPr/>
                    <a:lstStyle/>
                    <a:p>
                      <a:pPr>
                        <a:lnSpc>
                          <a:spcPct val="100000"/>
                        </a:lnSpc>
                        <a:buNone/>
                      </a:pPr>
                      <a:r>
                        <a:rPr lang="en-US" altLang="zh-CN" sz="1800"/>
                        <a:t>5</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2020-03-12 15:30:16</a:t>
                      </a:r>
                      <a:endParaRPr lang="en-US" altLang="zh-CN" sz="1800"/>
                    </a:p>
                  </a:txBody>
                  <a:tcPr marL="91436" marR="91436" marT="45706" marB="45706"/>
                </a:tc>
              </a:tr>
            </a:tbl>
          </a:graphicData>
        </a:graphic>
      </p:graphicFrame>
      <p:sp>
        <p:nvSpPr>
          <p:cNvPr id="43110" name="文本框 11"/>
          <p:cNvSpPr txBox="1"/>
          <p:nvPr/>
        </p:nvSpPr>
        <p:spPr>
          <a:xfrm>
            <a:off x="436563" y="4024313"/>
            <a:ext cx="7896225"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3</a:t>
            </a:r>
            <a:r>
              <a:rPr lang="zh-CN" altLang="en-US" sz="1800" dirty="0"/>
              <a:t>）销售记录表（同一顾客在同一时间只能从一名员工处购买多种产品）。</a:t>
            </a:r>
            <a:endParaRPr lang="en-US" altLang="zh-CN" sz="1800" dirty="0"/>
          </a:p>
        </p:txBody>
      </p:sp>
      <p:sp>
        <p:nvSpPr>
          <p:cNvPr id="43111"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p:nvSpPr>
        <p:spPr>
          <a:xfrm>
            <a:off x="323850" y="785813"/>
            <a:ext cx="8382000" cy="1027113"/>
          </a:xfrm>
          <a:prstGeom prst="rect">
            <a:avLst/>
          </a:prstGeom>
        </p:spPr>
        <p:txBody>
          <a:bodyPr>
            <a:spAutoFit/>
          </a:bodyPr>
          <a:lstStyle/>
          <a:p>
            <a:pPr marL="457200" marR="0" lvl="0" indent="-457200" algn="just" defTabSz="914400" rtl="0" eaLnBrk="1" fontAlgn="base" latinLnBrk="0" hangingPunct="1">
              <a:lnSpc>
                <a:spcPct val="10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7</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、为下列关系指定候选键和主键。</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graphicFrame>
        <p:nvGraphicFramePr>
          <p:cNvPr id="50" name="表格 49"/>
          <p:cNvGraphicFramePr/>
          <p:nvPr/>
        </p:nvGraphicFramePr>
        <p:xfrm>
          <a:off x="519113" y="2181225"/>
          <a:ext cx="4071938" cy="1914525"/>
        </p:xfrm>
        <a:graphic>
          <a:graphicData uri="http://schemas.openxmlformats.org/drawingml/2006/table">
            <a:tbl>
              <a:tblPr firstRow="1" bandRow="1">
                <a:tableStyleId>{5C22544A-7EE6-4342-B048-85BDC9FD1C3A}</a:tableStyleId>
              </a:tblPr>
              <a:tblGrid>
                <a:gridCol w="1346515"/>
                <a:gridCol w="797747"/>
                <a:gridCol w="739948"/>
                <a:gridCol w="1187728"/>
              </a:tblGrid>
              <a:tr h="366003">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姓名</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性别</a:t>
                      </a:r>
                      <a:endParaRPr lang="zh-CN" altLang="en-US" sz="1800">
                        <a:solidFill>
                          <a:schemeClr val="tx1"/>
                        </a:solidFill>
                      </a:endParaRPr>
                    </a:p>
                  </a:txBody>
                  <a:tcPr marL="91461" marR="91461" marT="45750" marB="45750"/>
                </a:tc>
                <a:tc>
                  <a:txBody>
                    <a:bodyPr/>
                    <a:lstStyle/>
                    <a:p>
                      <a:pPr>
                        <a:lnSpc>
                          <a:spcPct val="100000"/>
                        </a:lnSpc>
                        <a:buNone/>
                      </a:pPr>
                      <a:r>
                        <a:rPr lang="zh-CN" altLang="en-US" sz="1800">
                          <a:solidFill>
                            <a:schemeClr val="tx1"/>
                          </a:solidFill>
                        </a:rPr>
                        <a:t>班级</a:t>
                      </a:r>
                      <a:endParaRPr lang="zh-CN" altLang="en-US" sz="1800">
                        <a:solidFill>
                          <a:schemeClr val="tx1"/>
                        </a:solidFill>
                      </a:endParaRPr>
                    </a:p>
                  </a:txBody>
                  <a:tcPr marL="91461" marR="91461" marT="45750" marB="45750"/>
                </a:tc>
              </a:tr>
              <a:tr h="366003">
                <a:tc>
                  <a:txBody>
                    <a:bodyPr/>
                    <a:lstStyle/>
                    <a:p>
                      <a:pPr>
                        <a:lnSpc>
                          <a:spcPct val="100000"/>
                        </a:lnSpc>
                        <a:buNone/>
                      </a:pPr>
                      <a:r>
                        <a:rPr lang="en-US" altLang="zh-CN" sz="1800"/>
                        <a:t>201801001</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t>计</a:t>
                      </a:r>
                      <a:r>
                        <a:rPr lang="en-US" altLang="zh-CN" sz="1800"/>
                        <a:t>2018-1</a:t>
                      </a:r>
                      <a:endParaRPr lang="en-US" altLang="zh-CN" sz="1800"/>
                    </a:p>
                  </a:txBody>
                  <a:tcPr marL="91461" marR="91461" marT="45750" marB="45750"/>
                </a:tc>
              </a:tr>
              <a:tr h="393326">
                <a:tc>
                  <a:txBody>
                    <a:bodyPr/>
                    <a:lstStyle/>
                    <a:p>
                      <a:pPr>
                        <a:lnSpc>
                          <a:spcPct val="100000"/>
                        </a:lnSpc>
                        <a:buNone/>
                      </a:pPr>
                      <a:r>
                        <a:rPr lang="en-US" altLang="zh-CN" sz="1800">
                          <a:sym typeface="+mn-ea"/>
                        </a:rPr>
                        <a:t>201801002</a:t>
                      </a:r>
                      <a:endParaRPr lang="en-US" altLang="zh-CN" sz="1800"/>
                    </a:p>
                  </a:txBody>
                  <a:tcPr marL="91461" marR="91461" marT="45750" marB="45750"/>
                </a:tc>
                <a:tc>
                  <a:txBody>
                    <a:bodyPr/>
                    <a:lstStyle/>
                    <a:p>
                      <a:pPr>
                        <a:lnSpc>
                          <a:spcPct val="100000"/>
                        </a:lnSpc>
                        <a:buNone/>
                      </a:pPr>
                      <a:r>
                        <a:rPr lang="zh-CN" altLang="en-US" sz="1800"/>
                        <a:t>唐</a:t>
                      </a:r>
                      <a:r>
                        <a:rPr lang="en-US" altLang="zh-CN" sz="1800"/>
                        <a:t>XX</a:t>
                      </a:r>
                      <a:endParaRPr lang="en-US" altLang="zh-CN" sz="1800"/>
                    </a:p>
                  </a:txBody>
                  <a:tcPr marL="91461" marR="91461" marT="45750" marB="45750"/>
                </a:tc>
                <a:tc>
                  <a:txBody>
                    <a:bodyPr/>
                    <a:lstStyle/>
                    <a:p>
                      <a:pPr>
                        <a:lnSpc>
                          <a:spcPct val="100000"/>
                        </a:lnSpc>
                        <a:buNone/>
                      </a:pPr>
                      <a:r>
                        <a:rPr lang="zh-CN" altLang="en-US" sz="1800"/>
                        <a:t>女</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2018-1</a:t>
                      </a:r>
                      <a:endParaRPr lang="en-US" altLang="zh-CN" sz="1800"/>
                    </a:p>
                  </a:txBody>
                  <a:tcPr marL="91461" marR="91461" marT="45750" marB="45750"/>
                </a:tc>
              </a:tr>
              <a:tr h="394597">
                <a:tc>
                  <a:txBody>
                    <a:bodyPr/>
                    <a:lstStyle/>
                    <a:p>
                      <a:pPr>
                        <a:lnSpc>
                          <a:spcPct val="100000"/>
                        </a:lnSpc>
                        <a:buNone/>
                      </a:pPr>
                      <a:r>
                        <a:rPr lang="en-US" altLang="zh-CN" sz="1800">
                          <a:sym typeface="+mn-ea"/>
                        </a:rPr>
                        <a:t>201801039</a:t>
                      </a:r>
                      <a:endParaRPr lang="en-US" altLang="zh-CN" sz="1800"/>
                    </a:p>
                  </a:txBody>
                  <a:tcPr marL="91461" marR="91461" marT="45750" marB="45750"/>
                </a:tc>
                <a:tc>
                  <a:txBody>
                    <a:bodyPr/>
                    <a:lstStyle/>
                    <a:p>
                      <a:pPr>
                        <a:lnSpc>
                          <a:spcPct val="100000"/>
                        </a:lnSpc>
                        <a:buNone/>
                      </a:pPr>
                      <a:r>
                        <a:rPr lang="zh-CN" altLang="en-US" sz="1800"/>
                        <a:t>胡</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2018-2</a:t>
                      </a:r>
                      <a:endParaRPr lang="en-US" altLang="zh-CN" sz="1800"/>
                    </a:p>
                  </a:txBody>
                  <a:tcPr marL="91461" marR="91461" marT="45750" marB="45750"/>
                </a:tc>
              </a:tr>
              <a:tr h="394597">
                <a:tc>
                  <a:txBody>
                    <a:bodyPr/>
                    <a:lstStyle/>
                    <a:p>
                      <a:pPr>
                        <a:lnSpc>
                          <a:spcPct val="100000"/>
                        </a:lnSpc>
                        <a:buNone/>
                      </a:pPr>
                      <a:r>
                        <a:rPr lang="en-US" altLang="zh-CN" sz="1800">
                          <a:sym typeface="+mn-ea"/>
                        </a:rPr>
                        <a:t>201801067</a:t>
                      </a:r>
                      <a:endParaRPr lang="en-US" altLang="zh-CN" sz="1800"/>
                    </a:p>
                  </a:txBody>
                  <a:tcPr marL="91461" marR="91461" marT="45750" marB="45750"/>
                </a:tc>
                <a:tc>
                  <a:txBody>
                    <a:bodyPr/>
                    <a:lstStyle/>
                    <a:p>
                      <a:pPr>
                        <a:lnSpc>
                          <a:spcPct val="100000"/>
                        </a:lnSpc>
                        <a:buNone/>
                      </a:pPr>
                      <a:r>
                        <a:rPr lang="zh-CN" altLang="en-US" sz="1800"/>
                        <a:t>王</a:t>
                      </a:r>
                      <a:r>
                        <a:rPr lang="en-US" altLang="zh-CN" sz="1800"/>
                        <a:t>XX</a:t>
                      </a:r>
                      <a:endParaRPr lang="en-US" altLang="zh-CN" sz="1800"/>
                    </a:p>
                  </a:txBody>
                  <a:tcPr marL="91461" marR="91461" marT="45750" marB="45750"/>
                </a:tc>
                <a:tc>
                  <a:txBody>
                    <a:bodyPr/>
                    <a:lstStyle/>
                    <a:p>
                      <a:pPr>
                        <a:lnSpc>
                          <a:spcPct val="100000"/>
                        </a:lnSpc>
                        <a:buNone/>
                      </a:pPr>
                      <a:r>
                        <a:rPr lang="zh-CN" altLang="en-US" sz="1800"/>
                        <a:t>男</a:t>
                      </a:r>
                      <a:endParaRPr lang="zh-CN" altLang="en-US" sz="1800"/>
                    </a:p>
                  </a:txBody>
                  <a:tcPr marL="91461" marR="91461" marT="45750" marB="45750"/>
                </a:tc>
                <a:tc>
                  <a:txBody>
                    <a:bodyPr/>
                    <a:lstStyle/>
                    <a:p>
                      <a:pPr>
                        <a:lnSpc>
                          <a:spcPct val="100000"/>
                        </a:lnSpc>
                        <a:buNone/>
                      </a:pPr>
                      <a:r>
                        <a:rPr lang="zh-CN" altLang="en-US" sz="1800">
                          <a:sym typeface="+mn-ea"/>
                        </a:rPr>
                        <a:t>计</a:t>
                      </a:r>
                      <a:r>
                        <a:rPr lang="en-US" altLang="zh-CN" sz="1800">
                          <a:sym typeface="+mn-ea"/>
                        </a:rPr>
                        <a:t>2018-3</a:t>
                      </a:r>
                      <a:endParaRPr lang="en-US" altLang="zh-CN" sz="1800"/>
                    </a:p>
                  </a:txBody>
                  <a:tcPr marL="91461" marR="91461" marT="45750" marB="45750"/>
                </a:tc>
              </a:tr>
            </a:tbl>
          </a:graphicData>
        </a:graphic>
      </p:graphicFrame>
      <p:sp>
        <p:nvSpPr>
          <p:cNvPr id="44067" name="文本框 2"/>
          <p:cNvSpPr txBox="1"/>
          <p:nvPr/>
        </p:nvSpPr>
        <p:spPr>
          <a:xfrm>
            <a:off x="490538" y="1708150"/>
            <a:ext cx="1458912"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1</a:t>
            </a:r>
            <a:r>
              <a:rPr lang="zh-CN" altLang="en-US" sz="1800" dirty="0"/>
              <a:t>）学生表</a:t>
            </a:r>
            <a:endParaRPr lang="zh-CN" altLang="en-US" sz="1800" dirty="0"/>
          </a:p>
        </p:txBody>
      </p:sp>
      <p:sp>
        <p:nvSpPr>
          <p:cNvPr id="44068" name="文本框 4"/>
          <p:cNvSpPr txBox="1"/>
          <p:nvPr/>
        </p:nvSpPr>
        <p:spPr>
          <a:xfrm>
            <a:off x="4735513" y="1717675"/>
            <a:ext cx="1919287" cy="463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2</a:t>
            </a:r>
            <a:r>
              <a:rPr lang="zh-CN" altLang="en-US" sz="1800" dirty="0"/>
              <a:t>）选课成绩表</a:t>
            </a:r>
            <a:endParaRPr lang="zh-CN" altLang="en-US" sz="1800" dirty="0"/>
          </a:p>
        </p:txBody>
      </p:sp>
      <p:graphicFrame>
        <p:nvGraphicFramePr>
          <p:cNvPr id="6" name="表格 5"/>
          <p:cNvGraphicFramePr/>
          <p:nvPr/>
        </p:nvGraphicFramePr>
        <p:xfrm>
          <a:off x="4773613" y="2181225"/>
          <a:ext cx="4008438" cy="1519238"/>
        </p:xfrm>
        <a:graphic>
          <a:graphicData uri="http://schemas.openxmlformats.org/drawingml/2006/table">
            <a:tbl>
              <a:tblPr firstRow="1" bandRow="1">
                <a:tableStyleId>{5C22544A-7EE6-4342-B048-85BDC9FD1C3A}</a:tableStyleId>
              </a:tblPr>
              <a:tblGrid>
                <a:gridCol w="1369424"/>
                <a:gridCol w="1072165"/>
                <a:gridCol w="692221"/>
                <a:gridCol w="874627"/>
              </a:tblGrid>
              <a:tr h="365837">
                <a:tc>
                  <a:txBody>
                    <a:bodyPr/>
                    <a:lstStyle/>
                    <a:p>
                      <a:pPr>
                        <a:lnSpc>
                          <a:spcPct val="100000"/>
                        </a:lnSpc>
                        <a:buNone/>
                      </a:pPr>
                      <a:r>
                        <a:rPr lang="zh-CN" altLang="en-US" sz="1800">
                          <a:solidFill>
                            <a:schemeClr val="tx1"/>
                          </a:solidFill>
                        </a:rPr>
                        <a:t>学号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课程号</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成绩</a:t>
                      </a:r>
                      <a:endParaRPr lang="zh-CN" altLang="en-US" sz="1800">
                        <a:solidFill>
                          <a:schemeClr val="tx1"/>
                        </a:solidFill>
                      </a:endParaRPr>
                    </a:p>
                  </a:txBody>
                  <a:tcPr marL="91464" marR="91464" marT="45730" marB="45730"/>
                </a:tc>
                <a:tc>
                  <a:txBody>
                    <a:bodyPr/>
                    <a:lstStyle/>
                    <a:p>
                      <a:pPr>
                        <a:lnSpc>
                          <a:spcPct val="100000"/>
                        </a:lnSpc>
                        <a:buNone/>
                      </a:pPr>
                      <a:r>
                        <a:rPr lang="zh-CN" altLang="en-US" sz="1800">
                          <a:solidFill>
                            <a:schemeClr val="tx1"/>
                          </a:solidFill>
                        </a:rPr>
                        <a:t>考试名</a:t>
                      </a:r>
                      <a:endParaRPr lang="zh-CN" altLang="en-US" sz="1800">
                        <a:solidFill>
                          <a:schemeClr val="tx1"/>
                        </a:solidFill>
                      </a:endParaRPr>
                    </a:p>
                  </a:txBody>
                  <a:tcPr marL="91464" marR="91464" marT="45730" marB="45730"/>
                </a:tc>
              </a:tr>
              <a:tr h="365837">
                <a:tc>
                  <a:txBody>
                    <a:bodyPr/>
                    <a:lstStyle/>
                    <a:p>
                      <a:pPr>
                        <a:lnSpc>
                          <a:spcPct val="100000"/>
                        </a:lnSpc>
                        <a:buNone/>
                      </a:pPr>
                      <a:r>
                        <a:rPr lang="en-US" altLang="zh-CN" sz="1800"/>
                        <a:t>201801001</a:t>
                      </a:r>
                      <a:endParaRPr lang="en-US" altLang="zh-CN" sz="1800"/>
                    </a:p>
                  </a:txBody>
                  <a:tcPr marL="91464" marR="91464" marT="45730" marB="45730"/>
                </a:tc>
                <a:tc>
                  <a:txBody>
                    <a:bodyPr/>
                    <a:lstStyle/>
                    <a:p>
                      <a:pPr>
                        <a:lnSpc>
                          <a:spcPct val="100000"/>
                        </a:lnSpc>
                        <a:buNone/>
                      </a:pPr>
                      <a:r>
                        <a:rPr lang="en-US" sz="1800"/>
                        <a:t>3243210</a:t>
                      </a:r>
                      <a:endParaRPr lang="en-US" sz="1800"/>
                    </a:p>
                  </a:txBody>
                  <a:tcPr marL="91464" marR="91464" marT="45730" marB="45730"/>
                </a:tc>
                <a:tc>
                  <a:txBody>
                    <a:bodyPr/>
                    <a:lstStyle/>
                    <a:p>
                      <a:pPr>
                        <a:lnSpc>
                          <a:spcPct val="100000"/>
                        </a:lnSpc>
                        <a:buNone/>
                      </a:pPr>
                      <a:r>
                        <a:rPr lang="en-US" altLang="zh-CN" sz="1800"/>
                        <a:t>90</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3147">
                <a:tc>
                  <a:txBody>
                    <a:bodyPr/>
                    <a:lstStyle/>
                    <a:p>
                      <a:pPr>
                        <a:lnSpc>
                          <a:spcPct val="100000"/>
                        </a:lnSpc>
                        <a:buNone/>
                      </a:pPr>
                      <a:r>
                        <a:rPr lang="en-US" altLang="zh-CN" sz="1800">
                          <a:sym typeface="+mn-ea"/>
                        </a:rPr>
                        <a:t>201801002</a:t>
                      </a:r>
                      <a:endParaRPr lang="en-US" altLang="zh-CN" sz="1800"/>
                    </a:p>
                  </a:txBody>
                  <a:tcPr marL="91464" marR="91464" marT="45730" marB="45730"/>
                </a:tc>
                <a:tc>
                  <a:txBody>
                    <a:bodyPr/>
                    <a:lstStyle/>
                    <a:p>
                      <a:pPr>
                        <a:lnSpc>
                          <a:spcPct val="100000"/>
                        </a:lnSpc>
                        <a:buNone/>
                      </a:pPr>
                      <a:r>
                        <a:rPr lang="en-US" sz="1800"/>
                        <a:t>1103215</a:t>
                      </a:r>
                      <a:endParaRPr lang="en-US"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期末</a:t>
                      </a:r>
                      <a:endParaRPr lang="zh-CN" altLang="en-US" sz="1800"/>
                    </a:p>
                  </a:txBody>
                  <a:tcPr marL="91464" marR="91464" marT="45730" marB="45730"/>
                </a:tc>
              </a:tr>
              <a:tr h="394418">
                <a:tc>
                  <a:txBody>
                    <a:bodyPr/>
                    <a:lstStyle/>
                    <a:p>
                      <a:pPr>
                        <a:lnSpc>
                          <a:spcPct val="100000"/>
                        </a:lnSpc>
                        <a:buNone/>
                      </a:pPr>
                      <a:r>
                        <a:rPr lang="en-US" altLang="zh-CN" sz="1800">
                          <a:sym typeface="+mn-ea"/>
                        </a:rPr>
                        <a:t>201801001</a:t>
                      </a:r>
                      <a:endParaRPr lang="en-US" altLang="zh-CN" sz="1800"/>
                    </a:p>
                  </a:txBody>
                  <a:tcPr marL="91464" marR="91464" marT="45730" marB="45730"/>
                </a:tc>
                <a:tc>
                  <a:txBody>
                    <a:bodyPr/>
                    <a:lstStyle/>
                    <a:p>
                      <a:pPr>
                        <a:lnSpc>
                          <a:spcPct val="100000"/>
                        </a:lnSpc>
                        <a:buNone/>
                      </a:pPr>
                      <a:r>
                        <a:rPr lang="en-US" sz="1800">
                          <a:sym typeface="+mn-ea"/>
                        </a:rPr>
                        <a:t>3243210</a:t>
                      </a:r>
                      <a:endParaRPr lang="en-US" altLang="zh-CN" sz="1800"/>
                    </a:p>
                  </a:txBody>
                  <a:tcPr marL="91464" marR="91464" marT="45730" marB="45730"/>
                </a:tc>
                <a:tc>
                  <a:txBody>
                    <a:bodyPr/>
                    <a:lstStyle/>
                    <a:p>
                      <a:pPr>
                        <a:lnSpc>
                          <a:spcPct val="100000"/>
                        </a:lnSpc>
                        <a:buNone/>
                      </a:pPr>
                      <a:r>
                        <a:rPr lang="en-US" altLang="zh-CN" sz="1800"/>
                        <a:t>85</a:t>
                      </a:r>
                      <a:endParaRPr lang="en-US" altLang="zh-CN" sz="1800"/>
                    </a:p>
                  </a:txBody>
                  <a:tcPr marL="91464" marR="91464" marT="45730" marB="45730"/>
                </a:tc>
                <a:tc>
                  <a:txBody>
                    <a:bodyPr/>
                    <a:lstStyle/>
                    <a:p>
                      <a:pPr>
                        <a:lnSpc>
                          <a:spcPct val="100000"/>
                        </a:lnSpc>
                        <a:buNone/>
                      </a:pPr>
                      <a:r>
                        <a:rPr lang="zh-CN" altLang="en-US" sz="1800"/>
                        <a:t>期中</a:t>
                      </a:r>
                      <a:endParaRPr lang="zh-CN" altLang="en-US" sz="1800"/>
                    </a:p>
                  </a:txBody>
                  <a:tcPr marL="91464" marR="91464" marT="45730" marB="45730"/>
                </a:tc>
              </a:tr>
            </a:tbl>
          </a:graphicData>
        </a:graphic>
      </p:graphicFrame>
      <p:graphicFrame>
        <p:nvGraphicFramePr>
          <p:cNvPr id="7" name="表格 6"/>
          <p:cNvGraphicFramePr/>
          <p:nvPr/>
        </p:nvGraphicFramePr>
        <p:xfrm>
          <a:off x="519113" y="4464050"/>
          <a:ext cx="7650163" cy="1855788"/>
        </p:xfrm>
        <a:graphic>
          <a:graphicData uri="http://schemas.openxmlformats.org/drawingml/2006/table">
            <a:tbl>
              <a:tblPr firstRow="1" bandRow="1">
                <a:tableStyleId>{5C22544A-7EE6-4342-B048-85BDC9FD1C3A}</a:tableStyleId>
              </a:tblPr>
              <a:tblGrid>
                <a:gridCol w="1381703"/>
                <a:gridCol w="1181686"/>
                <a:gridCol w="1463614"/>
                <a:gridCol w="1113744"/>
                <a:gridCol w="2509416"/>
              </a:tblGrid>
              <a:tr h="382155">
                <a:tc>
                  <a:txBody>
                    <a:bodyPr/>
                    <a:lstStyle/>
                    <a:p>
                      <a:pPr>
                        <a:lnSpc>
                          <a:spcPct val="100000"/>
                        </a:lnSpc>
                        <a:buNone/>
                      </a:pPr>
                      <a:r>
                        <a:rPr lang="zh-CN" altLang="en-US" sz="1800">
                          <a:solidFill>
                            <a:schemeClr val="tx1"/>
                          </a:solidFill>
                        </a:rPr>
                        <a:t>顾客编码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员工编码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商品编码</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购买数量</a:t>
                      </a:r>
                      <a:endParaRPr lang="zh-CN" altLang="en-US" sz="1800">
                        <a:solidFill>
                          <a:schemeClr val="tx1"/>
                        </a:solidFill>
                      </a:endParaRPr>
                    </a:p>
                  </a:txBody>
                  <a:tcPr marL="91436" marR="91436" marT="45706" marB="45706"/>
                </a:tc>
                <a:tc>
                  <a:txBody>
                    <a:bodyPr/>
                    <a:lstStyle/>
                    <a:p>
                      <a:pPr>
                        <a:lnSpc>
                          <a:spcPct val="100000"/>
                        </a:lnSpc>
                        <a:buNone/>
                      </a:pPr>
                      <a:r>
                        <a:rPr lang="zh-CN" altLang="en-US" sz="1800">
                          <a:solidFill>
                            <a:schemeClr val="tx1"/>
                          </a:solidFill>
                        </a:rPr>
                        <a:t>购买时间</a:t>
                      </a:r>
                      <a:endParaRPr lang="zh-CN" altLang="en-US" sz="1800">
                        <a:solidFill>
                          <a:schemeClr val="tx1"/>
                        </a:solidFill>
                      </a:endParaRPr>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sz="1800"/>
                        <a:t>2</a:t>
                      </a:r>
                      <a:endParaRPr lang="en-US" sz="1800"/>
                    </a:p>
                  </a:txBody>
                  <a:tcPr marL="91436" marR="91436" marT="45706" marB="45706"/>
                </a:tc>
                <a:tc>
                  <a:txBody>
                    <a:bodyPr/>
                    <a:lstStyle/>
                    <a:p>
                      <a:pPr>
                        <a:lnSpc>
                          <a:spcPct val="100000"/>
                        </a:lnSpc>
                        <a:buNone/>
                      </a:pPr>
                      <a:r>
                        <a:rPr lang="en-US" altLang="zh-CN" sz="1800"/>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C10031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76443">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D20101</a:t>
                      </a:r>
                      <a:endParaRPr lang="en-US" altLang="zh-CN" sz="1800"/>
                    </a:p>
                  </a:txBody>
                  <a:tcPr marL="91436" marR="91436" marT="45706" marB="45706"/>
                </a:tc>
                <a:tc>
                  <a:txBody>
                    <a:bodyPr/>
                    <a:lstStyle/>
                    <a:p>
                      <a:pPr>
                        <a:lnSpc>
                          <a:spcPct val="100000"/>
                        </a:lnSpc>
                        <a:buNone/>
                      </a:pPr>
                      <a:r>
                        <a:rPr lang="en-US" altLang="zh-CN" sz="1800"/>
                        <a:t>5</a:t>
                      </a:r>
                      <a:endParaRPr lang="en-US" altLang="zh-CN" sz="1800"/>
                    </a:p>
                  </a:txBody>
                  <a:tcPr marL="91436" marR="91436" marT="45706" marB="45706"/>
                </a:tc>
                <a:tc>
                  <a:txBody>
                    <a:bodyPr/>
                    <a:lstStyle/>
                    <a:p>
                      <a:pPr>
                        <a:lnSpc>
                          <a:spcPct val="100000"/>
                        </a:lnSpc>
                        <a:buNone/>
                      </a:pPr>
                      <a:r>
                        <a:rPr lang="en-US" altLang="zh-CN" sz="1800">
                          <a:sym typeface="+mn-ea"/>
                        </a:rPr>
                        <a:t>2020-01-15 10:01:01</a:t>
                      </a:r>
                      <a:endParaRPr lang="en-US" altLang="zh-CN" sz="1800"/>
                    </a:p>
                  </a:txBody>
                  <a:tcPr marL="91436" marR="91436" marT="45706" marB="45706"/>
                </a:tc>
              </a:tr>
              <a:tr h="365730">
                <a:tc>
                  <a:txBody>
                    <a:bodyPr/>
                    <a:lstStyle/>
                    <a:p>
                      <a:pPr>
                        <a:lnSpc>
                          <a:spcPct val="100000"/>
                        </a:lnSpc>
                        <a:buNone/>
                      </a:pPr>
                      <a:r>
                        <a:rPr lang="en-US" altLang="zh-CN" sz="1800"/>
                        <a:t>201801001</a:t>
                      </a:r>
                      <a:endParaRPr lang="en-US" altLang="zh-CN" sz="1800"/>
                    </a:p>
                  </a:txBody>
                  <a:tcPr marL="91436" marR="91436" marT="45706" marB="45706"/>
                </a:tc>
                <a:tc>
                  <a:txBody>
                    <a:bodyPr/>
                    <a:lstStyle/>
                    <a:p>
                      <a:pPr>
                        <a:lnSpc>
                          <a:spcPct val="100000"/>
                        </a:lnSpc>
                        <a:buNone/>
                      </a:pPr>
                      <a:r>
                        <a:rPr lang="en-US" sz="1800"/>
                        <a:t>1011</a:t>
                      </a:r>
                      <a:endParaRPr lang="en-US" sz="1800"/>
                    </a:p>
                  </a:txBody>
                  <a:tcPr marL="91436" marR="91436" marT="45706" marB="45706"/>
                </a:tc>
                <a:tc>
                  <a:txBody>
                    <a:bodyPr/>
                    <a:lstStyle/>
                    <a:p>
                      <a:pPr>
                        <a:lnSpc>
                          <a:spcPct val="100000"/>
                        </a:lnSpc>
                        <a:buNone/>
                      </a:pPr>
                      <a:r>
                        <a:rPr lang="en-US" altLang="zh-CN" sz="1800"/>
                        <a:t>U00101</a:t>
                      </a:r>
                      <a:endParaRPr lang="en-US" altLang="zh-CN" sz="1800"/>
                    </a:p>
                  </a:txBody>
                  <a:tcPr marL="91436" marR="91436" marT="45706" marB="45706"/>
                </a:tc>
                <a:tc>
                  <a:txBody>
                    <a:bodyPr/>
                    <a:lstStyle/>
                    <a:p>
                      <a:pPr>
                        <a:lnSpc>
                          <a:spcPct val="100000"/>
                        </a:lnSpc>
                        <a:buNone/>
                      </a:pPr>
                      <a:r>
                        <a:rPr lang="en-US" altLang="zh-CN" sz="1800"/>
                        <a:t>1</a:t>
                      </a:r>
                      <a:endParaRPr lang="en-US" altLang="zh-CN" sz="1800"/>
                    </a:p>
                  </a:txBody>
                  <a:tcPr marL="91436" marR="91436" marT="45706" marB="45706"/>
                </a:tc>
                <a:tc>
                  <a:txBody>
                    <a:bodyPr/>
                    <a:lstStyle/>
                    <a:p>
                      <a:pPr>
                        <a:lnSpc>
                          <a:spcPct val="100000"/>
                        </a:lnSpc>
                        <a:buNone/>
                      </a:pPr>
                      <a:r>
                        <a:rPr lang="en-US" altLang="zh-CN" sz="1800">
                          <a:sym typeface="+mn-ea"/>
                        </a:rPr>
                        <a:t>2020-03-12 15:30:16</a:t>
                      </a:r>
                      <a:endParaRPr lang="en-US" altLang="zh-CN" sz="1800"/>
                    </a:p>
                  </a:txBody>
                  <a:tcPr marL="91436" marR="91436" marT="45706" marB="45706"/>
                </a:tc>
              </a:tr>
            </a:tbl>
          </a:graphicData>
        </a:graphic>
      </p:graphicFrame>
      <p:sp>
        <p:nvSpPr>
          <p:cNvPr id="44134" name="文本框 7"/>
          <p:cNvSpPr txBox="1"/>
          <p:nvPr/>
        </p:nvSpPr>
        <p:spPr>
          <a:xfrm>
            <a:off x="490538" y="4030663"/>
            <a:ext cx="7894637"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3</a:t>
            </a:r>
            <a:r>
              <a:rPr lang="zh-CN" altLang="en-US" sz="1800" dirty="0"/>
              <a:t>）销售记录表（同一顾客在同一时间只能从一名员工处购买多种产品）。</a:t>
            </a:r>
            <a:endParaRPr lang="en-US" altLang="zh-CN" sz="1800" dirty="0"/>
          </a:p>
        </p:txBody>
      </p:sp>
      <p:cxnSp>
        <p:nvCxnSpPr>
          <p:cNvPr id="2" name="直接连接符 1"/>
          <p:cNvCxnSpPr/>
          <p:nvPr/>
        </p:nvCxnSpPr>
        <p:spPr>
          <a:xfrm>
            <a:off x="601663" y="2489200"/>
            <a:ext cx="500063"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4856163" y="2489200"/>
            <a:ext cx="500063"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262688" y="2506663"/>
            <a:ext cx="661988"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967663" y="2506663"/>
            <a:ext cx="661988"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01663" y="4792663"/>
            <a:ext cx="1143000"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141663" y="4792663"/>
            <a:ext cx="1143000"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691188" y="4792663"/>
            <a:ext cx="1143000" cy="0"/>
          </a:xfrm>
          <a:prstGeom prst="line">
            <a:avLst/>
          </a:prstGeom>
          <a:ln w="31750">
            <a:solidFill>
              <a:srgbClr val="CC00FF"/>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2024063" y="1762125"/>
            <a:ext cx="1747838" cy="398463"/>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候选键：学号</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17" name="文本框 16"/>
          <p:cNvSpPr txBox="1"/>
          <p:nvPr/>
        </p:nvSpPr>
        <p:spPr>
          <a:xfrm>
            <a:off x="5267325" y="1749425"/>
            <a:ext cx="3514725" cy="400050"/>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rPr>
              <a:t>候选键</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（学号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课程号</a:t>
            </a:r>
            <a:r>
              <a:rPr kumimoji="0" lang="en-US" altLang="zh-CN" sz="2000" kern="1200" cap="none" spc="0" normalizeH="0" baseline="0" noProof="0">
                <a:latin typeface="Arial" panose="020B0604020202020204" pitchFamily="34" charset="0"/>
                <a:ea typeface="宋体" panose="02010600030101010101" pitchFamily="2" charset="-122"/>
                <a:cs typeface="+mn-cs"/>
              </a:rPr>
              <a:t>,</a:t>
            </a:r>
            <a:r>
              <a:rPr kumimoji="0" lang="zh-CN" altLang="en-US" sz="2000" kern="1200" cap="none" spc="0" normalizeH="0" baseline="0" noProof="0">
                <a:latin typeface="Arial" panose="020B0604020202020204" pitchFamily="34" charset="0"/>
                <a:ea typeface="宋体" panose="02010600030101010101" pitchFamily="2" charset="-122"/>
                <a:cs typeface="+mn-cs"/>
              </a:rPr>
              <a:t>考试名）</a:t>
            </a:r>
            <a:endParaRPr kumimoji="0" lang="zh-CN" altLang="en-US" sz="2000" kern="1200" cap="none" spc="0" normalizeH="0" baseline="0" noProof="0">
              <a:latin typeface="Arial" panose="020B0604020202020204" pitchFamily="34" charset="0"/>
              <a:ea typeface="宋体" panose="02010600030101010101" pitchFamily="2" charset="-122"/>
              <a:cs typeface="+mn-cs"/>
            </a:endParaRPr>
          </a:p>
        </p:txBody>
      </p:sp>
      <p:sp>
        <p:nvSpPr>
          <p:cNvPr id="18" name="文本框 17"/>
          <p:cNvSpPr txBox="1"/>
          <p:nvPr/>
        </p:nvSpPr>
        <p:spPr>
          <a:xfrm>
            <a:off x="1101725" y="3662363"/>
            <a:ext cx="4589463" cy="706438"/>
          </a:xfrm>
          <a:prstGeom prst="rect">
            <a:avLst/>
          </a:prstGeom>
          <a:solidFill>
            <a:schemeClr val="accent2">
              <a:lumMod val="20000"/>
              <a:lumOff val="80000"/>
            </a:schemeClr>
          </a:solidFill>
        </p:spPr>
        <p:txBody>
          <a:bodyPr>
            <a:spAutoFit/>
          </a:bodyPr>
          <a:lstStyle/>
          <a:p>
            <a:pPr marR="0" defTabSz="914400" eaLnBrk="1" hangingPunct="1">
              <a:buClrTx/>
              <a:buSzTx/>
              <a:buFont typeface="Arial" panose="020B0604020202020204" pitchFamily="34" charset="0"/>
              <a:buNone/>
              <a:defRPr/>
            </a:pPr>
            <a:r>
              <a:rPr kumimoji="0" lang="zh-CN" altLang="en-US" sz="2000" kern="1200" cap="none" spc="0" normalizeH="0" baseline="0" noProof="0" dirty="0">
                <a:latin typeface="Arial" panose="020B0604020202020204" pitchFamily="34" charset="0"/>
                <a:ea typeface="宋体" panose="02010600030101010101" pitchFamily="2" charset="-122"/>
                <a:cs typeface="+mn-cs"/>
              </a:rPr>
              <a:t>候选键</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顾客编码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商品编码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结算时间</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a:t>
            </a:r>
            <a:endParaRPr kumimoji="0" lang="zh-CN" altLang="en-US" sz="2000" kern="1200" cap="none" spc="0" normalizeH="0" baseline="0" noProof="0" dirty="0">
              <a:latin typeface="Arial" panose="020B0604020202020204" pitchFamily="34" charset="0"/>
              <a:ea typeface="宋体" panose="02010600030101010101" pitchFamily="2" charset="-122"/>
              <a:cs typeface="+mn-cs"/>
            </a:endParaRPr>
          </a:p>
          <a:p>
            <a:pPr marR="0" defTabSz="914400" eaLnBrk="1" hangingPunct="1">
              <a:buClrTx/>
              <a:buSzTx/>
              <a:buFont typeface="Arial" panose="020B0604020202020204" pitchFamily="34" charset="0"/>
              <a:buNone/>
              <a:defRPr/>
            </a:pPr>
            <a:r>
              <a:rPr kumimoji="0" lang="en-US" altLang="zh-CN" sz="2000" kern="1200" cap="none" spc="0" normalizeH="0" baseline="0" noProof="0" dirty="0">
                <a:latin typeface="Arial" panose="020B0604020202020204" pitchFamily="34" charset="0"/>
                <a:ea typeface="宋体" panose="02010600030101010101" pitchFamily="2" charset="-122"/>
                <a:cs typeface="+mn-cs"/>
              </a:rPr>
              <a:t>            (</a:t>
            </a:r>
            <a:r>
              <a:rPr kumimoji="0" lang="zh-CN" altLang="en-US" sz="2000" kern="1200" cap="none" spc="0" normalizeH="0" baseline="0" noProof="0" dirty="0">
                <a:latin typeface="Arial" panose="020B0604020202020204" pitchFamily="34" charset="0"/>
                <a:ea typeface="宋体" panose="02010600030101010101" pitchFamily="2" charset="-122"/>
                <a:cs typeface="+mn-cs"/>
              </a:rPr>
              <a:t>员工编码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商品编码</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r>
              <a:rPr kumimoji="0" lang="zh-CN" altLang="en-US" sz="2000" kern="1200" cap="none" spc="0" normalizeH="0" baseline="0" noProof="0" dirty="0">
                <a:latin typeface="Arial" panose="020B0604020202020204" pitchFamily="34" charset="0"/>
                <a:ea typeface="宋体" panose="02010600030101010101" pitchFamily="2" charset="-122"/>
                <a:cs typeface="+mn-cs"/>
              </a:rPr>
              <a:t>结算时间</a:t>
            </a:r>
            <a:r>
              <a:rPr kumimoji="0" lang="en-US" altLang="zh-CN" sz="2000" kern="1200" cap="none" spc="0" normalizeH="0" baseline="0" noProof="0" dirty="0">
                <a:latin typeface="Arial" panose="020B0604020202020204" pitchFamily="34" charset="0"/>
                <a:ea typeface="宋体" panose="02010600030101010101" pitchFamily="2" charset="-122"/>
                <a:cs typeface="+mn-cs"/>
              </a:rPr>
              <a:t>)</a:t>
            </a:r>
            <a:endParaRPr kumimoji="0" lang="en-US" altLang="zh-CN" sz="2000" kern="1200" cap="none" spc="0" normalizeH="0" baseline="0" noProof="0" dirty="0">
              <a:latin typeface="Arial" panose="020B0604020202020204" pitchFamily="34" charset="0"/>
              <a:ea typeface="宋体" panose="02010600030101010101" pitchFamily="2" charset="-122"/>
              <a:cs typeface="+mn-cs"/>
            </a:endParaRPr>
          </a:p>
        </p:txBody>
      </p:sp>
      <p:sp>
        <p:nvSpPr>
          <p:cNvPr id="44145" name="Rectangle 2"/>
          <p:cNvSpPr/>
          <p:nvPr/>
        </p:nvSpPr>
        <p:spPr>
          <a:xfrm>
            <a:off x="457200" y="809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二、关系模型的完整性约束</a:t>
            </a:r>
            <a:endParaRPr lang="zh-CN" altLang="en-US" sz="36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ppt_x"/>
                                          </p:val>
                                        </p:tav>
                                        <p:tav tm="100000">
                                          <p:val>
                                            <p:strVal val="#ppt_x"/>
                                          </p:val>
                                        </p:tav>
                                      </p:tavLst>
                                    </p:anim>
                                    <p:anim calcmode="lin" valueType="num">
                                      <p:cBhvr additive="base">
                                        <p:cTn id="40" dur="500" fill="hold"/>
                                        <p:tgtEl>
                                          <p:spTgt spid="14"/>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矩形 3"/>
          <p:cNvSpPr/>
          <p:nvPr/>
        </p:nvSpPr>
        <p:spPr>
          <a:xfrm>
            <a:off x="479425" y="773113"/>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1.T-SQL</a:t>
            </a:r>
            <a:r>
              <a:rPr lang="zh-CN" altLang="en-US" sz="2800" dirty="0">
                <a:solidFill>
                  <a:srgbClr val="0033CC"/>
                </a:solidFill>
                <a:latin typeface="黑体" panose="02010609060101010101" pitchFamily="49" charset="-122"/>
                <a:ea typeface="黑体" panose="02010609060101010101" pitchFamily="49" charset="-122"/>
              </a:rPr>
              <a:t>语言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505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45060" name="Rectangle 3"/>
          <p:cNvSpPr txBox="1"/>
          <p:nvPr/>
        </p:nvSpPr>
        <p:spPr>
          <a:xfrm>
            <a:off x="541338" y="1430338"/>
            <a:ext cx="8239125" cy="46799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0"/>
              </a:spcBef>
            </a:pPr>
            <a:r>
              <a:rPr lang="zh-CN" altLang="en-US" sz="2200" dirty="0">
                <a:latin typeface="华文楷体" panose="02010600040101010101" pitchFamily="2" charset="-122"/>
              </a:rPr>
              <a:t>不同的数据库管理系统厂商开发不同类型的SQL，被称为</a:t>
            </a:r>
            <a:r>
              <a:rPr lang="zh-CN" altLang="en-US" sz="2200" u="sng" dirty="0">
                <a:solidFill>
                  <a:srgbClr val="FF3300"/>
                </a:solidFill>
                <a:latin typeface="华文楷体" panose="02010600040101010101" pitchFamily="2" charset="-122"/>
              </a:rPr>
              <a:t>数据库方言。</a:t>
            </a:r>
            <a:r>
              <a:rPr lang="zh-CN" altLang="en-US" sz="2200" dirty="0">
                <a:latin typeface="华文楷体" panose="02010600040101010101" pitchFamily="2" charset="-122"/>
              </a:rPr>
              <a:t>例如：Microsoft SQL Server 产品中的SQL方言叫Transact-SQL。 </a:t>
            </a:r>
            <a:endParaRPr lang="zh-CN" altLang="en-US" sz="2200" dirty="0">
              <a:latin typeface="华文楷体" panose="02010600040101010101" pitchFamily="2" charset="-122"/>
            </a:endParaRPr>
          </a:p>
          <a:p>
            <a:pPr marL="342900" lvl="0" indent="-342900" eaLnBrk="1" hangingPunct="1">
              <a:lnSpc>
                <a:spcPct val="110000"/>
              </a:lnSpc>
            </a:pPr>
            <a:r>
              <a:rPr lang="zh-CN" altLang="en-US" sz="2200" u="sng" dirty="0">
                <a:solidFill>
                  <a:srgbClr val="FF3300"/>
                </a:solidFill>
                <a:latin typeface="华文楷体" panose="02010600040101010101" pitchFamily="2" charset="-122"/>
              </a:rPr>
              <a:t>T-SQL，即事务SQL，是对标准SQL的扩展</a:t>
            </a:r>
            <a:r>
              <a:rPr lang="zh-CN" altLang="en-US" sz="2200" dirty="0">
                <a:latin typeface="华文楷体" panose="02010600040101010101" pitchFamily="2" charset="-122"/>
              </a:rPr>
              <a:t>。</a:t>
            </a:r>
            <a:endParaRPr lang="zh-CN" altLang="en-US" sz="2200" dirty="0">
              <a:latin typeface="华文楷体" panose="02010600040101010101" pitchFamily="2" charset="-122"/>
            </a:endParaRPr>
          </a:p>
          <a:p>
            <a:pPr marL="342900" lvl="0" indent="-342900" eaLnBrk="1" hangingPunct="1">
              <a:lnSpc>
                <a:spcPct val="110000"/>
              </a:lnSpc>
            </a:pPr>
            <a:r>
              <a:rPr lang="zh-CN" altLang="en-US" sz="2200" u="sng" dirty="0">
                <a:solidFill>
                  <a:srgbClr val="0033CC"/>
                </a:solidFill>
                <a:latin typeface="华文楷体" panose="02010600040101010101" pitchFamily="2" charset="-122"/>
              </a:rPr>
              <a:t>T-SQL由SQL语句、函数和存储过程三部分组成</a:t>
            </a:r>
            <a:r>
              <a:rPr lang="zh-CN" altLang="en-US" sz="2200" dirty="0">
                <a:latin typeface="华文楷体" panose="02010600040101010101" pitchFamily="2" charset="-122"/>
              </a:rPr>
              <a:t>。</a:t>
            </a:r>
            <a:endParaRPr lang="zh-CN" altLang="en-US" sz="2200" dirty="0">
              <a:latin typeface="华文楷体" panose="02010600040101010101" pitchFamily="2" charset="-122"/>
            </a:endParaRPr>
          </a:p>
          <a:p>
            <a:pPr marL="342900" lvl="0" indent="-342900" eaLnBrk="1" hangingPunct="1">
              <a:lnSpc>
                <a:spcPct val="110000"/>
              </a:lnSpc>
              <a:spcBef>
                <a:spcPct val="50000"/>
              </a:spcBef>
            </a:pPr>
            <a:r>
              <a:rPr lang="zh-CN" altLang="en-US" sz="2200" dirty="0">
                <a:latin typeface="华文楷体" panose="02010600040101010101" pitchFamily="2" charset="-122"/>
              </a:rPr>
              <a:t>T-SQL除了具有标准的子语言：DDL，DML，DCL之外，还具有过程控制能力和事务控制能力。   </a:t>
            </a:r>
            <a:endParaRPr lang="zh-CN" altLang="en-US" sz="2200" dirty="0">
              <a:latin typeface="华文楷体" panose="02010600040101010101" pitchFamily="2" charset="-122"/>
            </a:endParaRPr>
          </a:p>
          <a:p>
            <a:pPr marL="342900" lvl="0" indent="-342900" eaLnBrk="1" hangingPunct="1">
              <a:lnSpc>
                <a:spcPct val="110000"/>
              </a:lnSpc>
            </a:pPr>
            <a:r>
              <a:rPr lang="zh-CN" altLang="en-US" sz="2200" dirty="0">
                <a:latin typeface="华文楷体" panose="02010600040101010101" pitchFamily="2" charset="-122"/>
              </a:rPr>
              <a:t>T-SQL有两类变量：</a:t>
            </a:r>
            <a:endParaRPr lang="en-US" altLang="zh-CN" sz="2200" dirty="0">
              <a:latin typeface="华文楷体" panose="02010600040101010101" pitchFamily="2" charset="-122"/>
            </a:endParaRPr>
          </a:p>
          <a:p>
            <a:pPr marL="342900" lvl="0" indent="-342900" eaLnBrk="1" hangingPunct="1">
              <a:buFont typeface="Arial" panose="020B0604020202020204" pitchFamily="34" charset="0"/>
              <a:buNone/>
            </a:pPr>
            <a:r>
              <a:rPr lang="zh-CN" altLang="en-US" sz="2200" dirty="0">
                <a:latin typeface="华文楷体" panose="02010600040101010101" pitchFamily="2" charset="-122"/>
              </a:rPr>
              <a:t>     </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局部变量：如 @name, @price</a:t>
            </a:r>
            <a:endParaRPr lang="en-US" altLang="zh-CN" sz="2200" b="0" dirty="0">
              <a:latin typeface="楷体" panose="02010609060101010101" pitchFamily="49" charset="-122"/>
              <a:ea typeface="楷体" panose="02010609060101010101" pitchFamily="49" charset="-122"/>
            </a:endParaRPr>
          </a:p>
          <a:p>
            <a:pPr marL="342900" lvl="0" indent="-342900" eaLnBrk="1" hangingPunct="1">
              <a:buFont typeface="Arial" panose="020B0604020202020204" pitchFamily="34" charset="0"/>
              <a:buNone/>
            </a:pPr>
            <a:r>
              <a:rPr lang="zh-CN" altLang="en-US" sz="2200" b="0" dirty="0">
                <a:latin typeface="楷体" panose="02010609060101010101" pitchFamily="49" charset="-122"/>
                <a:ea typeface="楷体" panose="02010609060101010101" pitchFamily="49" charset="-122"/>
              </a:rPr>
              <a:t>   </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全局变量(系统定义，用户只能引用，不能修改、定义）：如 @@error, @@rowcount</a:t>
            </a:r>
            <a:endParaRPr lang="zh-CN" altLang="en-US" sz="2200" b="0" dirty="0">
              <a:latin typeface="楷体" panose="02010609060101010101" pitchFamily="49" charset="-122"/>
              <a:ea typeface="楷体" panose="02010609060101010101" pitchFamily="49"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5" name="AutoShape 2"/>
          <p:cNvSpPr/>
          <p:nvPr/>
        </p:nvSpPr>
        <p:spPr>
          <a:xfrm>
            <a:off x="471488" y="1379538"/>
            <a:ext cx="8077200" cy="2209800"/>
          </a:xfrm>
          <a:prstGeom prst="flowChartAlternateProcess">
            <a:avLst/>
          </a:prstGeom>
          <a:solidFill>
            <a:srgbClr val="CCFFFF">
              <a:alpha val="50195"/>
            </a:srgbClr>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6" name="Rectangle 5"/>
          <p:cNvSpPr/>
          <p:nvPr/>
        </p:nvSpPr>
        <p:spPr>
          <a:xfrm>
            <a:off x="1511300" y="1916113"/>
            <a:ext cx="1828800" cy="304800"/>
          </a:xfrm>
          <a:prstGeom prst="rect">
            <a:avLst/>
          </a:prstGeom>
          <a:solidFill>
            <a:srgbClr val="CC0000">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7" name="Rectangle 10"/>
          <p:cNvSpPr/>
          <p:nvPr/>
        </p:nvSpPr>
        <p:spPr>
          <a:xfrm>
            <a:off x="1360488" y="2398713"/>
            <a:ext cx="1905000" cy="381000"/>
          </a:xfrm>
          <a:prstGeom prst="rect">
            <a:avLst/>
          </a:prstGeom>
          <a:solidFill>
            <a:srgbClr val="CC0000">
              <a:alpha val="50195"/>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8" name="Rectangle 11"/>
          <p:cNvSpPr/>
          <p:nvPr/>
        </p:nvSpPr>
        <p:spPr>
          <a:xfrm>
            <a:off x="511175" y="3532188"/>
            <a:ext cx="1905000" cy="381000"/>
          </a:xfrm>
          <a:prstGeom prst="rect">
            <a:avLst/>
          </a:prstGeom>
          <a:solidFill>
            <a:srgbClr val="FF9933">
              <a:alpha val="36862"/>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Char char="•"/>
            </a:pPr>
            <a:endParaRPr lang="zh-CN" altLang="en-US" sz="1800" dirty="0"/>
          </a:p>
        </p:txBody>
      </p:sp>
      <p:sp>
        <p:nvSpPr>
          <p:cNvPr id="38919" name="AutoShape 8"/>
          <p:cNvSpPr/>
          <p:nvPr/>
        </p:nvSpPr>
        <p:spPr>
          <a:xfrm>
            <a:off x="6618288" y="1952625"/>
            <a:ext cx="2209800" cy="1636713"/>
          </a:xfrm>
          <a:prstGeom prst="wedgeRoundRectCallout">
            <a:avLst>
              <a:gd name="adj1" fmla="val -109935"/>
              <a:gd name="adj2" fmla="val 35157"/>
              <a:gd name="adj3" fmla="val 16667"/>
            </a:avLst>
          </a:prstGeom>
          <a:solidFill>
            <a:srgbClr val="CCFFCC"/>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spcBef>
                <a:spcPct val="0"/>
              </a:spcBef>
              <a:buClrTx/>
              <a:buSzTx/>
              <a:buFont typeface="Arial" panose="020B0604020202020204" pitchFamily="34" charset="0"/>
              <a:buNone/>
            </a:pPr>
            <a:r>
              <a:rPr lang="zh-CN" altLang="en-US" sz="2400" dirty="0">
                <a:latin typeface="宋体" panose="02010600030101010101" pitchFamily="2" charset="-122"/>
              </a:rPr>
              <a:t>指明该表放在数据库中的哪个文件里，默认时为主文件</a:t>
            </a:r>
            <a:endParaRPr lang="zh-CN" altLang="en-US" sz="2400" dirty="0">
              <a:latin typeface="宋体" panose="02010600030101010101" pitchFamily="2" charset="-122"/>
            </a:endParaRPr>
          </a:p>
        </p:txBody>
      </p:sp>
      <p:sp>
        <p:nvSpPr>
          <p:cNvPr id="46087" name="Rectangle 6"/>
          <p:cNvSpPr txBox="1"/>
          <p:nvPr/>
        </p:nvSpPr>
        <p:spPr>
          <a:xfrm>
            <a:off x="503238" y="1460500"/>
            <a:ext cx="8077200" cy="48990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nSpc>
                <a:spcPct val="90000"/>
              </a:lnSpc>
              <a:spcBef>
                <a:spcPct val="50000"/>
              </a:spcBef>
              <a:buFont typeface="Arial" panose="020B0604020202020204" pitchFamily="34" charset="0"/>
              <a:buNone/>
            </a:pPr>
            <a:r>
              <a:rPr lang="en-US" altLang="zh-CN" sz="2400" dirty="0"/>
              <a:t>CREATE TABLE </a:t>
            </a:r>
            <a:r>
              <a:rPr lang="en-US" altLang="zh-CN" sz="2400" dirty="0">
                <a:latin typeface="宋体" panose="02010600030101010101" pitchFamily="2" charset="-122"/>
              </a:rPr>
              <a:t> </a:t>
            </a:r>
            <a:r>
              <a:rPr lang="en-US" altLang="zh-CN" sz="2400" dirty="0"/>
              <a:t>[ </a:t>
            </a:r>
            <a:r>
              <a:rPr lang="zh-CN" altLang="en-US" sz="2400" dirty="0"/>
              <a:t>数据库名</a:t>
            </a:r>
            <a:r>
              <a:rPr lang="en-US" altLang="zh-CN" sz="2400" dirty="0"/>
              <a:t>.[ </a:t>
            </a:r>
            <a:r>
              <a:rPr lang="zh-CN" altLang="en-US" sz="2400" dirty="0"/>
              <a:t>拥有者</a:t>
            </a:r>
            <a:r>
              <a:rPr lang="zh-CN" altLang="en-US" sz="2400" i="1" dirty="0"/>
              <a:t> </a:t>
            </a:r>
            <a:r>
              <a:rPr lang="en-US" altLang="zh-CN" sz="2400" dirty="0"/>
              <a:t>].|</a:t>
            </a:r>
            <a:r>
              <a:rPr lang="zh-CN" altLang="en-US" sz="2400" dirty="0"/>
              <a:t>拥有者</a:t>
            </a:r>
            <a:r>
              <a:rPr lang="en-US" altLang="zh-CN" sz="2400" dirty="0"/>
              <a:t>.] </a:t>
            </a:r>
            <a:r>
              <a:rPr lang="zh-CN" altLang="en-US" sz="2400" dirty="0"/>
              <a:t>表名</a:t>
            </a:r>
            <a:endParaRPr lang="zh-CN" altLang="en-US" sz="2400" dirty="0"/>
          </a:p>
          <a:p>
            <a:pPr marL="342900" lvl="0" indent="-342900">
              <a:lnSpc>
                <a:spcPct val="90000"/>
              </a:lnSpc>
              <a:spcBef>
                <a:spcPct val="0"/>
              </a:spcBef>
              <a:buFont typeface="Arial" panose="020B0604020202020204" pitchFamily="34" charset="0"/>
              <a:buNone/>
            </a:pPr>
            <a:r>
              <a:rPr lang="zh-CN" altLang="en-US" sz="2400" dirty="0"/>
              <a:t>     </a:t>
            </a:r>
            <a:r>
              <a:rPr lang="en-US" altLang="zh-CN" sz="2400" dirty="0">
                <a:solidFill>
                  <a:srgbClr val="000099"/>
                </a:solidFill>
              </a:rPr>
              <a:t>( { </a:t>
            </a:r>
            <a:r>
              <a:rPr lang="en-US" altLang="zh-CN" sz="2400" dirty="0">
                <a:solidFill>
                  <a:srgbClr val="CC0000"/>
                </a:solidFill>
              </a:rPr>
              <a:t>&lt; </a:t>
            </a:r>
            <a:r>
              <a:rPr lang="zh-CN" altLang="en-US" sz="2400" dirty="0">
                <a:solidFill>
                  <a:srgbClr val="CC0000"/>
                </a:solidFill>
              </a:rPr>
              <a:t>列定义 </a:t>
            </a:r>
            <a:r>
              <a:rPr lang="en-US" altLang="zh-CN" sz="2400" dirty="0">
                <a:solidFill>
                  <a:srgbClr val="CC0000"/>
                </a:solidFill>
              </a:rPr>
              <a:t>&gt;</a:t>
            </a:r>
            <a:endParaRPr lang="en-US" altLang="zh-CN" sz="2400" dirty="0">
              <a:solidFill>
                <a:srgbClr val="CC0000"/>
              </a:solidFill>
            </a:endParaRPr>
          </a:p>
          <a:p>
            <a:pPr marL="342900" lvl="0" indent="-342900">
              <a:lnSpc>
                <a:spcPct val="90000"/>
              </a:lnSpc>
              <a:spcBef>
                <a:spcPct val="0"/>
              </a:spcBef>
              <a:buFont typeface="Arial" panose="020B0604020202020204" pitchFamily="34" charset="0"/>
              <a:buNone/>
            </a:pPr>
            <a:r>
              <a:rPr lang="en-US" altLang="zh-CN" sz="2400" dirty="0">
                <a:solidFill>
                  <a:srgbClr val="000099"/>
                </a:solidFill>
              </a:rPr>
              <a:t>       | </a:t>
            </a:r>
            <a:r>
              <a:rPr lang="zh-CN" altLang="en-US" sz="2400" dirty="0">
                <a:solidFill>
                  <a:srgbClr val="000099"/>
                </a:solidFill>
              </a:rPr>
              <a:t>列名  </a:t>
            </a:r>
            <a:r>
              <a:rPr lang="en-US" altLang="zh-CN" sz="2400" dirty="0">
                <a:solidFill>
                  <a:srgbClr val="000099"/>
                </a:solidFill>
              </a:rPr>
              <a:t>AS  </a:t>
            </a:r>
            <a:r>
              <a:rPr lang="zh-CN" altLang="en-US" sz="2400" dirty="0">
                <a:solidFill>
                  <a:srgbClr val="000099"/>
                </a:solidFill>
              </a:rPr>
              <a:t>列计算表达式</a:t>
            </a:r>
            <a:endParaRPr lang="zh-CN" altLang="en-US" sz="2400" dirty="0">
              <a:solidFill>
                <a:srgbClr val="000099"/>
              </a:solidFill>
            </a:endParaRPr>
          </a:p>
          <a:p>
            <a:pPr marL="342900" lvl="0" indent="-342900">
              <a:lnSpc>
                <a:spcPct val="90000"/>
              </a:lnSpc>
              <a:spcBef>
                <a:spcPct val="0"/>
              </a:spcBef>
              <a:buFont typeface="Arial" panose="020B0604020202020204" pitchFamily="34" charset="0"/>
              <a:buNone/>
            </a:pPr>
            <a:r>
              <a:rPr lang="zh-CN" altLang="en-US" sz="2400" dirty="0">
                <a:solidFill>
                  <a:srgbClr val="000099"/>
                </a:solidFill>
              </a:rPr>
              <a:t>       </a:t>
            </a:r>
            <a:r>
              <a:rPr lang="en-US" altLang="zh-CN" sz="2400" dirty="0">
                <a:solidFill>
                  <a:srgbClr val="000099"/>
                </a:solidFill>
              </a:rPr>
              <a:t>| </a:t>
            </a:r>
            <a:r>
              <a:rPr lang="en-US" altLang="zh-CN" sz="2400" dirty="0">
                <a:solidFill>
                  <a:srgbClr val="CC0000"/>
                </a:solidFill>
              </a:rPr>
              <a:t>&lt; </a:t>
            </a:r>
            <a:r>
              <a:rPr lang="zh-CN" altLang="en-US" sz="2400" dirty="0">
                <a:solidFill>
                  <a:srgbClr val="CC0000"/>
                </a:solidFill>
              </a:rPr>
              <a:t>表级约束</a:t>
            </a:r>
            <a:r>
              <a:rPr lang="en-US" altLang="zh-CN" sz="2400" dirty="0">
                <a:solidFill>
                  <a:srgbClr val="CC0000"/>
                </a:solidFill>
              </a:rPr>
              <a:t>&gt;</a:t>
            </a:r>
            <a:r>
              <a:rPr lang="en-US" altLang="zh-CN" sz="2400" dirty="0">
                <a:solidFill>
                  <a:srgbClr val="000099"/>
                </a:solidFill>
              </a:rPr>
              <a:t> }</a:t>
            </a:r>
            <a:endParaRPr lang="en-US" altLang="zh-CN" sz="2400" dirty="0">
              <a:solidFill>
                <a:srgbClr val="000099"/>
              </a:solidFill>
            </a:endParaRPr>
          </a:p>
          <a:p>
            <a:pPr marL="342900" lvl="0" indent="-342900">
              <a:lnSpc>
                <a:spcPct val="90000"/>
              </a:lnSpc>
              <a:spcBef>
                <a:spcPct val="0"/>
              </a:spcBef>
              <a:buFont typeface="Arial" panose="020B0604020202020204" pitchFamily="34" charset="0"/>
              <a:buNone/>
            </a:pPr>
            <a:r>
              <a:rPr lang="en-US" altLang="zh-CN" sz="2400" dirty="0">
                <a:solidFill>
                  <a:srgbClr val="000099"/>
                </a:solidFill>
              </a:rPr>
              <a:t>       | [ { PRIMARY KEY | UNIQUE } [ ,...] ]</a:t>
            </a:r>
            <a:endParaRPr lang="en-US" altLang="zh-CN" sz="2400" dirty="0">
              <a:solidFill>
                <a:srgbClr val="000099"/>
              </a:solidFill>
            </a:endParaRPr>
          </a:p>
          <a:p>
            <a:pPr marL="342900" lvl="0" indent="-342900">
              <a:lnSpc>
                <a:spcPct val="90000"/>
              </a:lnSpc>
              <a:spcBef>
                <a:spcPct val="0"/>
              </a:spcBef>
              <a:buFont typeface="Arial" panose="020B0604020202020204" pitchFamily="34" charset="0"/>
              <a:buNone/>
            </a:pPr>
            <a:r>
              <a:rPr lang="en-US" altLang="zh-CN" sz="2400" dirty="0">
                <a:solidFill>
                  <a:srgbClr val="000099"/>
                </a:solidFill>
              </a:rPr>
              <a:t>     )    [ON {filegroup| DEFAULT}]</a:t>
            </a:r>
            <a:endParaRPr lang="en-US" altLang="zh-CN" sz="2400" dirty="0">
              <a:solidFill>
                <a:srgbClr val="000099"/>
              </a:solidFill>
            </a:endParaRPr>
          </a:p>
          <a:p>
            <a:pPr marL="342900" lvl="0" indent="-342900">
              <a:lnSpc>
                <a:spcPct val="25000"/>
              </a:lnSpc>
              <a:spcBef>
                <a:spcPct val="0"/>
              </a:spcBef>
              <a:buFont typeface="Arial" panose="020B0604020202020204" pitchFamily="34" charset="0"/>
              <a:buNone/>
            </a:pP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&lt;</a:t>
            </a:r>
            <a:r>
              <a:rPr lang="zh-CN" altLang="en-US" sz="2400" dirty="0">
                <a:solidFill>
                  <a:srgbClr val="000099"/>
                </a:solidFill>
              </a:rPr>
              <a:t>列定义</a:t>
            </a:r>
            <a:r>
              <a:rPr lang="en-US" altLang="zh-CN" sz="2400" dirty="0">
                <a:solidFill>
                  <a:srgbClr val="000099"/>
                </a:solidFill>
              </a:rPr>
              <a:t>&gt; ::= </a:t>
            </a:r>
            <a:endParaRPr lang="en-US" altLang="zh-CN" sz="2400" dirty="0">
              <a:solidFill>
                <a:srgbClr val="000099"/>
              </a:solidFill>
            </a:endParaRPr>
          </a:p>
          <a:p>
            <a:pPr marL="342900" lvl="0" indent="-342900">
              <a:lnSpc>
                <a:spcPct val="95000"/>
              </a:lnSpc>
              <a:spcBef>
                <a:spcPct val="30000"/>
              </a:spcBef>
              <a:buFont typeface="Arial" panose="020B0604020202020204" pitchFamily="34" charset="0"/>
              <a:buNone/>
            </a:pPr>
            <a:r>
              <a:rPr lang="en-US" altLang="zh-CN" sz="2400" dirty="0">
                <a:solidFill>
                  <a:srgbClr val="000099"/>
                </a:solidFill>
              </a:rPr>
              <a:t>   {  &lt;</a:t>
            </a:r>
            <a:r>
              <a:rPr lang="zh-CN" altLang="en-US" sz="2400" dirty="0">
                <a:solidFill>
                  <a:srgbClr val="000099"/>
                </a:solidFill>
              </a:rPr>
              <a:t>列名</a:t>
            </a:r>
            <a:r>
              <a:rPr lang="en-US" altLang="zh-CN" sz="2400" dirty="0">
                <a:solidFill>
                  <a:srgbClr val="000099"/>
                </a:solidFill>
              </a:rPr>
              <a:t>&gt; &lt;</a:t>
            </a:r>
            <a:r>
              <a:rPr lang="zh-CN" altLang="en-US" sz="2400" dirty="0">
                <a:solidFill>
                  <a:srgbClr val="000099"/>
                </a:solidFill>
              </a:rPr>
              <a:t>列类型</a:t>
            </a:r>
            <a:r>
              <a:rPr lang="en-US" altLang="zh-CN" sz="2400" dirty="0">
                <a:solidFill>
                  <a:srgbClr val="000099"/>
                </a:solidFill>
              </a:rPr>
              <a:t>&gt; [NULL|NOT NULL]  }</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 DEFAULT </a:t>
            </a:r>
            <a:r>
              <a:rPr lang="zh-CN" altLang="en-US" sz="2400" dirty="0">
                <a:solidFill>
                  <a:srgbClr val="000099"/>
                </a:solidFill>
              </a:rPr>
              <a:t>常数表达式</a:t>
            </a:r>
            <a:r>
              <a:rPr lang="en-US" altLang="zh-CN" sz="2400" dirty="0">
                <a:solidFill>
                  <a:srgbClr val="000099"/>
                </a:solidFill>
              </a:rPr>
              <a:t>]</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 IDENTITY [ ( </a:t>
            </a:r>
            <a:r>
              <a:rPr lang="zh-CN" altLang="en-US" sz="2400" dirty="0">
                <a:solidFill>
                  <a:srgbClr val="000099"/>
                </a:solidFill>
              </a:rPr>
              <a:t>初值</a:t>
            </a:r>
            <a:r>
              <a:rPr lang="zh-CN" altLang="en-US" sz="2400" i="1" dirty="0">
                <a:solidFill>
                  <a:srgbClr val="000099"/>
                </a:solidFill>
              </a:rPr>
              <a:t> </a:t>
            </a:r>
            <a:r>
              <a:rPr lang="en-US" altLang="zh-CN" sz="2400" dirty="0">
                <a:solidFill>
                  <a:srgbClr val="000099"/>
                </a:solidFill>
              </a:rPr>
              <a:t>, </a:t>
            </a:r>
            <a:r>
              <a:rPr lang="zh-CN" altLang="en-US" sz="2400" dirty="0">
                <a:solidFill>
                  <a:srgbClr val="000099"/>
                </a:solidFill>
              </a:rPr>
              <a:t>步长 </a:t>
            </a:r>
            <a:r>
              <a:rPr lang="en-US" altLang="zh-CN" sz="2400" dirty="0">
                <a:solidFill>
                  <a:srgbClr val="000099"/>
                </a:solidFill>
              </a:rPr>
              <a:t>) [ NOT FOR    </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REPLICATION ] ] ] </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ROWGUIDCOL]</a:t>
            </a:r>
            <a:endParaRPr lang="en-US" altLang="zh-CN" sz="2400" dirty="0">
              <a:solidFill>
                <a:srgbClr val="000099"/>
              </a:solidFill>
            </a:endParaRPr>
          </a:p>
          <a:p>
            <a:pPr marL="342900" lvl="0" indent="-342900">
              <a:lnSpc>
                <a:spcPct val="95000"/>
              </a:lnSpc>
              <a:spcBef>
                <a:spcPct val="0"/>
              </a:spcBef>
              <a:buFont typeface="Arial" panose="020B0604020202020204" pitchFamily="34" charset="0"/>
              <a:buNone/>
            </a:pPr>
            <a:r>
              <a:rPr lang="en-US" altLang="zh-CN" sz="2400" dirty="0">
                <a:solidFill>
                  <a:srgbClr val="000099"/>
                </a:solidFill>
              </a:rPr>
              <a:t>     [ </a:t>
            </a:r>
            <a:r>
              <a:rPr lang="en-US" altLang="zh-CN" sz="2400" dirty="0">
                <a:solidFill>
                  <a:srgbClr val="CC0000"/>
                </a:solidFill>
              </a:rPr>
              <a:t>&lt; </a:t>
            </a:r>
            <a:r>
              <a:rPr lang="zh-CN" altLang="en-US" sz="2400" dirty="0">
                <a:solidFill>
                  <a:srgbClr val="CC0000"/>
                </a:solidFill>
              </a:rPr>
              <a:t>列级约束 </a:t>
            </a:r>
            <a:r>
              <a:rPr lang="en-US" altLang="zh-CN" sz="2400" dirty="0">
                <a:solidFill>
                  <a:srgbClr val="CC0000"/>
                </a:solidFill>
              </a:rPr>
              <a:t>&gt;</a:t>
            </a:r>
            <a:r>
              <a:rPr lang="en-US" altLang="zh-CN" sz="2400" dirty="0">
                <a:solidFill>
                  <a:srgbClr val="000099"/>
                </a:solidFill>
              </a:rPr>
              <a:t> ] [ ...</a:t>
            </a:r>
            <a:r>
              <a:rPr lang="en-US" altLang="zh-CN" sz="2400" i="1" dirty="0">
                <a:solidFill>
                  <a:srgbClr val="000099"/>
                </a:solidFill>
              </a:rPr>
              <a:t> </a:t>
            </a:r>
            <a:r>
              <a:rPr lang="en-US" altLang="zh-CN" sz="2400" dirty="0">
                <a:solidFill>
                  <a:srgbClr val="000099"/>
                </a:solidFill>
              </a:rPr>
              <a:t>]	</a:t>
            </a:r>
            <a:endParaRPr lang="en-US" altLang="zh-CN" sz="2400" dirty="0"/>
          </a:p>
        </p:txBody>
      </p:sp>
      <p:sp>
        <p:nvSpPr>
          <p:cNvPr id="38921" name="Rectangle 12"/>
          <p:cNvSpPr/>
          <p:nvPr/>
        </p:nvSpPr>
        <p:spPr>
          <a:xfrm>
            <a:off x="642938" y="4005263"/>
            <a:ext cx="7561262" cy="2105025"/>
          </a:xfrm>
          <a:prstGeom prst="rect">
            <a:avLst/>
          </a:prstGeom>
          <a:solidFill>
            <a:srgbClr val="FFFFCC"/>
          </a:solidFill>
          <a:ln w="9525" cap="flat" cmpd="sng">
            <a:solidFill>
              <a:schemeClr val="tx1"/>
            </a:solidFill>
            <a:prstDash val="solid"/>
            <a:miter/>
            <a:headEnd type="none" w="med" len="med"/>
            <a:tailEnd type="none" w="med" len="med"/>
          </a:ln>
        </p:spPr>
        <p:txBody>
          <a:bodyPr wrap="none" lIns="90000" tIns="46800" rIns="90000" bIns="4680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&lt;</a:t>
            </a:r>
            <a:r>
              <a:rPr lang="zh-CN" altLang="en-US" sz="2400" dirty="0">
                <a:latin typeface="宋体" panose="02010600030101010101" pitchFamily="2" charset="-122"/>
              </a:rPr>
              <a:t>表级约束</a:t>
            </a:r>
            <a:r>
              <a:rPr lang="en-US" altLang="zh-CN" sz="2400" dirty="0">
                <a:latin typeface="宋体" panose="02010600030101010101" pitchFamily="2" charset="-122"/>
              </a:rPr>
              <a:t>&gt; ::= [CONSTRAINT </a:t>
            </a:r>
            <a:r>
              <a:rPr lang="zh-CN" altLang="en-US" sz="2400" dirty="0">
                <a:latin typeface="宋体" panose="02010600030101010101" pitchFamily="2" charset="-122"/>
              </a:rPr>
              <a:t>约束名</a:t>
            </a:r>
            <a:r>
              <a:rPr lang="en-US" altLang="zh-CN" sz="2400" dirty="0">
                <a:latin typeface="宋体" panose="02010600030101010101" pitchFamily="2" charset="-122"/>
              </a:rPr>
              <a:t>]</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{[FOREIGN KEY [</a:t>
            </a:r>
            <a:r>
              <a:rPr lang="zh-CN" altLang="en-US" sz="2400" dirty="0">
                <a:latin typeface="宋体" panose="02010600030101010101" pitchFamily="2" charset="-122"/>
              </a:rPr>
              <a:t>（列名</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REFERENCES </a:t>
            </a:r>
            <a:r>
              <a:rPr lang="zh-CN" altLang="en-US" sz="2400" dirty="0">
                <a:latin typeface="宋体" panose="02010600030101010101" pitchFamily="2" charset="-122"/>
              </a:rPr>
              <a:t>参照表</a:t>
            </a:r>
            <a:r>
              <a:rPr lang="en-US" altLang="zh-CN" sz="2400" dirty="0">
                <a:latin typeface="宋体" panose="02010600030101010101" pitchFamily="2" charset="-122"/>
              </a:rPr>
              <a:t>[</a:t>
            </a:r>
            <a:r>
              <a:rPr lang="zh-CN" altLang="en-US" sz="2400" dirty="0">
                <a:latin typeface="宋体" panose="02010600030101010101" pitchFamily="2" charset="-122"/>
              </a:rPr>
              <a:t>（参照列</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[ON DELETE {CASCADE | NO ACTION}]</a:t>
            </a:r>
            <a:endParaRPr lang="en-US" altLang="zh-CN" sz="24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400" dirty="0">
                <a:latin typeface="宋体" panose="02010600030101010101" pitchFamily="2" charset="-122"/>
              </a:rPr>
              <a:t>    [ON UPDATE {CASCADE | NO ACTION}]}</a:t>
            </a:r>
            <a:endParaRPr lang="en-US" altLang="zh-CN" sz="2400" dirty="0">
              <a:latin typeface="宋体" panose="02010600030101010101" pitchFamily="2" charset="-122"/>
            </a:endParaRPr>
          </a:p>
        </p:txBody>
      </p:sp>
      <p:sp>
        <p:nvSpPr>
          <p:cNvPr id="46089" name="矩形 3"/>
          <p:cNvSpPr/>
          <p:nvPr/>
        </p:nvSpPr>
        <p:spPr>
          <a:xfrm>
            <a:off x="511175" y="6873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609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dissolve">
                                      <p:cBhvr>
                                        <p:cTn id="7" dur="500"/>
                                        <p:tgtEl>
                                          <p:spTgt spid="3891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8916"/>
                                        </p:tgtEl>
                                        <p:attrNameLst>
                                          <p:attrName>style.visibility</p:attrName>
                                        </p:attrNameLst>
                                      </p:cBhvr>
                                      <p:to>
                                        <p:strVal val="visible"/>
                                      </p:to>
                                    </p:set>
                                    <p:anim calcmode="lin" valueType="num">
                                      <p:cBhvr>
                                        <p:cTn id="12" dur="500" fill="hold"/>
                                        <p:tgtEl>
                                          <p:spTgt spid="38916"/>
                                        </p:tgtEl>
                                        <p:attrNameLst>
                                          <p:attrName>ppt_w</p:attrName>
                                        </p:attrNameLst>
                                      </p:cBhvr>
                                      <p:tavLst>
                                        <p:tav tm="0">
                                          <p:val>
                                            <p:fltVal val="0.000000"/>
                                          </p:val>
                                        </p:tav>
                                        <p:tav tm="100000">
                                          <p:val>
                                            <p:strVal val="#ppt_w"/>
                                          </p:val>
                                        </p:tav>
                                      </p:tavLst>
                                    </p:anim>
                                    <p:anim calcmode="lin" valueType="num">
                                      <p:cBhvr>
                                        <p:cTn id="13" dur="500" fill="hold"/>
                                        <p:tgtEl>
                                          <p:spTgt spid="38916"/>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8918"/>
                                        </p:tgtEl>
                                        <p:attrNameLst>
                                          <p:attrName>style.visibility</p:attrName>
                                        </p:attrNameLst>
                                      </p:cBhvr>
                                      <p:to>
                                        <p:strVal val="visible"/>
                                      </p:to>
                                    </p:set>
                                    <p:anim calcmode="lin" valueType="num">
                                      <p:cBhvr>
                                        <p:cTn id="18" dur="500" fill="hold"/>
                                        <p:tgtEl>
                                          <p:spTgt spid="38918"/>
                                        </p:tgtEl>
                                        <p:attrNameLst>
                                          <p:attrName>ppt_w</p:attrName>
                                        </p:attrNameLst>
                                      </p:cBhvr>
                                      <p:tavLst>
                                        <p:tav tm="0">
                                          <p:val>
                                            <p:fltVal val="0.000000"/>
                                          </p:val>
                                        </p:tav>
                                        <p:tav tm="100000">
                                          <p:val>
                                            <p:strVal val="#ppt_w"/>
                                          </p:val>
                                        </p:tav>
                                      </p:tavLst>
                                    </p:anim>
                                    <p:anim calcmode="lin" valueType="num">
                                      <p:cBhvr>
                                        <p:cTn id="19" dur="500" fill="hold"/>
                                        <p:tgtEl>
                                          <p:spTgt spid="38918"/>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38917"/>
                                        </p:tgtEl>
                                        <p:attrNameLst>
                                          <p:attrName>style.visibility</p:attrName>
                                        </p:attrNameLst>
                                      </p:cBhvr>
                                      <p:to>
                                        <p:strVal val="visible"/>
                                      </p:to>
                                    </p:set>
                                    <p:anim calcmode="lin" valueType="num">
                                      <p:cBhvr>
                                        <p:cTn id="24" dur="500" fill="hold"/>
                                        <p:tgtEl>
                                          <p:spTgt spid="38917"/>
                                        </p:tgtEl>
                                        <p:attrNameLst>
                                          <p:attrName>ppt_w</p:attrName>
                                        </p:attrNameLst>
                                      </p:cBhvr>
                                      <p:tavLst>
                                        <p:tav tm="0">
                                          <p:val>
                                            <p:fltVal val="0.000000"/>
                                          </p:val>
                                        </p:tav>
                                        <p:tav tm="100000">
                                          <p:val>
                                            <p:strVal val="#ppt_w"/>
                                          </p:val>
                                        </p:tav>
                                      </p:tavLst>
                                    </p:anim>
                                    <p:anim calcmode="lin" valueType="num">
                                      <p:cBhvr>
                                        <p:cTn id="25" dur="500" fill="hold"/>
                                        <p:tgtEl>
                                          <p:spTgt spid="38917"/>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8919"/>
                                        </p:tgtEl>
                                        <p:attrNameLst>
                                          <p:attrName>style.visibility</p:attrName>
                                        </p:attrNameLst>
                                      </p:cBhvr>
                                      <p:to>
                                        <p:strVal val="visible"/>
                                      </p:to>
                                    </p:set>
                                    <p:animEffect transition="in" filter="blinds(horizontal)">
                                      <p:cBhvr>
                                        <p:cTn id="30" dur="500"/>
                                        <p:tgtEl>
                                          <p:spTgt spid="38919"/>
                                        </p:tgtEl>
                                      </p:cBhvr>
                                    </p:animEffect>
                                  </p:childTnLst>
                                </p:cTn>
                              </p:par>
                            </p:childTnLst>
                          </p:cTn>
                        </p:par>
                      </p:childTnLst>
                    </p:cTn>
                  </p:par>
                  <p:par>
                    <p:cTn id="31" fill="hold">
                      <p:stCondLst>
                        <p:cond delay="indefinite"/>
                      </p:stCondLst>
                      <p:childTnLst>
                        <p:par>
                          <p:cTn id="32" fill="hold">
                            <p:stCondLst>
                              <p:cond delay="0"/>
                            </p:stCondLst>
                            <p:childTnLst>
                              <p:par>
                                <p:cTn id="33" presetID="16" presetClass="entr" presetSubtype="26" fill="hold" grpId="0" nodeType="clickEffect">
                                  <p:stCondLst>
                                    <p:cond delay="0"/>
                                  </p:stCondLst>
                                  <p:childTnLst>
                                    <p:set>
                                      <p:cBhvr>
                                        <p:cTn id="34" dur="1" fill="hold">
                                          <p:stCondLst>
                                            <p:cond delay="0"/>
                                          </p:stCondLst>
                                        </p:cTn>
                                        <p:tgtEl>
                                          <p:spTgt spid="38921"/>
                                        </p:tgtEl>
                                        <p:attrNameLst>
                                          <p:attrName>style.visibility</p:attrName>
                                        </p:attrNameLst>
                                      </p:cBhvr>
                                      <p:to>
                                        <p:strVal val="visible"/>
                                      </p:to>
                                    </p:set>
                                    <p:animEffect transition="in" filter="barn(inHorizontal)">
                                      <p:cBhvr>
                                        <p:cTn id="35" dur="5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bldLvl="0" animBg="1"/>
      <p:bldP spid="38916" grpId="0" bldLvl="0" animBg="1"/>
      <p:bldP spid="38917" grpId="0" bldLvl="0" animBg="1"/>
      <p:bldP spid="38918" grpId="0" bldLvl="0" animBg="1"/>
      <p:bldP spid="38919" grpId="0" bldLvl="0" animBg="1"/>
      <p:bldP spid="38921"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7106" name="组合 12"/>
          <p:cNvGrpSpPr/>
          <p:nvPr/>
        </p:nvGrpSpPr>
        <p:grpSpPr>
          <a:xfrm>
            <a:off x="774700" y="1071563"/>
            <a:ext cx="4232275" cy="1236662"/>
            <a:chOff x="1220" y="1708"/>
            <a:chExt cx="6666" cy="1949"/>
          </a:xfrm>
        </p:grpSpPr>
        <p:sp>
          <p:nvSpPr>
            <p:cNvPr id="2" name="矩形 1"/>
            <p:cNvSpPr/>
            <p:nvPr/>
          </p:nvSpPr>
          <p:spPr>
            <a:xfrm>
              <a:off x="1943" y="2803"/>
              <a:ext cx="2673" cy="8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zh-CN" sz="2400" b="1" i="0" u="none" strike="noStrike" kern="1200" cap="none" spc="0" normalizeH="0" baseline="0" noProof="1">
                  <a:ln>
                    <a:noFill/>
                  </a:ln>
                  <a:gradFill>
                    <a:gsLst>
                      <a:gs pos="0">
                        <a:srgbClr val="FE4444"/>
                      </a:gs>
                      <a:gs pos="100000">
                        <a:srgbClr val="832B2B"/>
                      </a:gs>
                    </a:gsLst>
                    <a:lin scaled="0"/>
                  </a:gradFill>
                  <a:effectLst/>
                  <a:uLnTx/>
                  <a:uFillTx/>
                  <a:latin typeface="+mn-lt"/>
                  <a:ea typeface="+mn-ea"/>
                  <a:cs typeface="+mn-cs"/>
                </a:rPr>
                <a:t>学生</a:t>
              </a:r>
              <a:endParaRPr kumimoji="0" lang="zh-CN" altLang="zh-CN" sz="2400" b="1" i="0" u="none" strike="noStrike" kern="1200" cap="none" spc="0" normalizeH="0" baseline="0" noProof="1">
                <a:ln>
                  <a:noFill/>
                </a:ln>
                <a:gradFill>
                  <a:gsLst>
                    <a:gs pos="0">
                      <a:srgbClr val="FE4444"/>
                    </a:gs>
                    <a:gs pos="100000">
                      <a:srgbClr val="832B2B"/>
                    </a:gs>
                  </a:gsLst>
                  <a:lin scaled="0"/>
                </a:gradFill>
                <a:effectLst/>
                <a:uLnTx/>
                <a:uFillTx/>
                <a:latin typeface="+mn-lt"/>
                <a:ea typeface="+mn-ea"/>
                <a:cs typeface="+mn-cs"/>
              </a:endParaRPr>
            </a:p>
          </p:txBody>
        </p:sp>
        <p:sp>
          <p:nvSpPr>
            <p:cNvPr id="3" name="椭圆 2"/>
            <p:cNvSpPr/>
            <p:nvPr/>
          </p:nvSpPr>
          <p:spPr>
            <a:xfrm>
              <a:off x="1220" y="1708"/>
              <a:ext cx="170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1">
                  <a:ln>
                    <a:noFill/>
                  </a:ln>
                  <a:solidFill>
                    <a:srgbClr val="0033CC"/>
                  </a:solidFill>
                  <a:effectLst/>
                  <a:uLnTx/>
                  <a:uFillTx/>
                  <a:latin typeface="+mn-lt"/>
                  <a:ea typeface="+mn-ea"/>
                  <a:cs typeface="+mn-cs"/>
                </a:rPr>
                <a:t>学号</a:t>
              </a:r>
              <a:endParaRPr kumimoji="0" lang="zh-CN" altLang="en-US" sz="1800" b="1" i="0" u="sng" strike="noStrike" kern="1200" cap="none" spc="0" normalizeH="0" baseline="0" noProof="1">
                <a:ln>
                  <a:noFill/>
                </a:ln>
                <a:solidFill>
                  <a:srgbClr val="0033CC"/>
                </a:solidFill>
                <a:effectLst/>
                <a:uLnTx/>
                <a:uFillTx/>
                <a:latin typeface="+mn-lt"/>
                <a:ea typeface="+mn-ea"/>
                <a:cs typeface="+mn-cs"/>
              </a:endParaRPr>
            </a:p>
          </p:txBody>
        </p:sp>
        <p:sp>
          <p:nvSpPr>
            <p:cNvPr id="4" name="椭圆 3"/>
            <p:cNvSpPr/>
            <p:nvPr/>
          </p:nvSpPr>
          <p:spPr>
            <a:xfrm>
              <a:off x="3150" y="1708"/>
              <a:ext cx="170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姓名</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5" name="椭圆 4"/>
            <p:cNvSpPr/>
            <p:nvPr/>
          </p:nvSpPr>
          <p:spPr>
            <a:xfrm>
              <a:off x="5148" y="1708"/>
              <a:ext cx="273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所属专业</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6" name="椭圆 5"/>
            <p:cNvSpPr/>
            <p:nvPr/>
          </p:nvSpPr>
          <p:spPr>
            <a:xfrm>
              <a:off x="5148" y="2434"/>
              <a:ext cx="2738" cy="50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身份证号</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sp>
          <p:nvSpPr>
            <p:cNvPr id="7" name="椭圆 6"/>
            <p:cNvSpPr/>
            <p:nvPr/>
          </p:nvSpPr>
          <p:spPr>
            <a:xfrm>
              <a:off x="5303" y="3154"/>
              <a:ext cx="2583" cy="503"/>
            </a:xfrm>
            <a:prstGeom prst="ellipse">
              <a:avLst/>
            </a:prstGeom>
            <a:ln w="28575" cmpd="sng">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rgbClr val="0033CC"/>
                  </a:solidFill>
                  <a:effectLst/>
                  <a:uLnTx/>
                  <a:uFillTx/>
                  <a:latin typeface="+mn-lt"/>
                  <a:ea typeface="+mn-ea"/>
                  <a:cs typeface="+mn-cs"/>
                </a:rPr>
                <a:t>年龄</a:t>
              </a:r>
              <a:endParaRPr kumimoji="0" lang="zh-CN" altLang="en-US" sz="1800" b="1" i="0" u="none" strike="noStrike" kern="1200" cap="none" spc="0" normalizeH="0" baseline="0" noProof="1">
                <a:ln>
                  <a:noFill/>
                </a:ln>
                <a:solidFill>
                  <a:srgbClr val="0033CC"/>
                </a:solidFill>
                <a:effectLst/>
                <a:uLnTx/>
                <a:uFillTx/>
                <a:latin typeface="+mn-lt"/>
                <a:ea typeface="+mn-ea"/>
                <a:cs typeface="+mn-cs"/>
              </a:endParaRPr>
            </a:p>
          </p:txBody>
        </p:sp>
        <p:cxnSp>
          <p:nvCxnSpPr>
            <p:cNvPr id="8" name="直接连接符 7"/>
            <p:cNvCxnSpPr>
              <a:stCxn id="2" idx="0"/>
            </p:cNvCxnSpPr>
            <p:nvPr/>
          </p:nvCxnSpPr>
          <p:spPr>
            <a:xfrm flipH="1" flipV="1">
              <a:off x="2270" y="2211"/>
              <a:ext cx="1010" cy="5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4"/>
              <a:endCxn id="2" idx="0"/>
            </p:cNvCxnSpPr>
            <p:nvPr/>
          </p:nvCxnSpPr>
          <p:spPr>
            <a:xfrm flipH="1">
              <a:off x="3280" y="2211"/>
              <a:ext cx="725" cy="5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5" idx="3"/>
              <a:endCxn id="2" idx="0"/>
            </p:cNvCxnSpPr>
            <p:nvPr/>
          </p:nvCxnSpPr>
          <p:spPr>
            <a:xfrm flipH="1">
              <a:off x="3673" y="2136"/>
              <a:ext cx="1875" cy="6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3"/>
              <a:endCxn id="2" idx="3"/>
            </p:cNvCxnSpPr>
            <p:nvPr/>
          </p:nvCxnSpPr>
          <p:spPr>
            <a:xfrm flipH="1">
              <a:off x="4616" y="2864"/>
              <a:ext cx="933" cy="36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6" idx="3"/>
              <a:endCxn id="2" idx="3"/>
            </p:cNvCxnSpPr>
            <p:nvPr/>
          </p:nvCxnSpPr>
          <p:spPr>
            <a:xfrm flipH="1" flipV="1">
              <a:off x="4616" y="3229"/>
              <a:ext cx="700" cy="2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0179" name="文本框 2"/>
          <p:cNvSpPr txBox="1"/>
          <p:nvPr/>
        </p:nvSpPr>
        <p:spPr>
          <a:xfrm>
            <a:off x="774700" y="2519677"/>
            <a:ext cx="7673340" cy="2568575"/>
          </a:xfrm>
          <a:prstGeom prst="rect">
            <a:avLst/>
          </a:prstGeom>
          <a:solidFill>
            <a:schemeClr val="bg1"/>
          </a:solidFill>
          <a:ln w="9525">
            <a:noFill/>
          </a:ln>
        </p:spPr>
        <p:txBody>
          <a:bodyPr>
            <a:spAutoFit/>
          </a:bodyPr>
          <a:lstStyle/>
          <a:p>
            <a:pPr marR="0" defTabSz="914400" eaLnBrk="1" hangingPunct="1">
              <a:lnSpc>
                <a:spcPct val="115000"/>
              </a:lnSpc>
              <a:buClrTx/>
              <a:buSzTx/>
              <a:buFont typeface="Arial" panose="020B0604020202020204" pitchFamily="34" charset="0"/>
              <a:buNone/>
              <a:defRPr/>
            </a:pPr>
            <a:r>
              <a:rPr kumimoji="0" lang="en-US" altLang="zh-CN"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STUDENT</a:t>
            </a:r>
            <a:endPar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SNo</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solidFill>
                  <a:srgbClr val="FF0000"/>
                </a:solidFill>
                <a:latin typeface="Arial" panose="020B0604020202020204" pitchFamily="34" charset="0"/>
                <a:ea typeface="宋体" panose="02010600030101010101" pitchFamily="2" charset="-122"/>
                <a:cs typeface="+mn-cs"/>
              </a:rPr>
              <a:t>primary key,</a:t>
            </a:r>
            <a:endPar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S</a:t>
            </a:r>
            <a:r>
              <a:rPr kumimoji="0" lang="zh-CN" altLang="en-US" sz="2000" kern="1200" cap="none" spc="0" normalizeH="0" baseline="0" noProof="1">
                <a:latin typeface="Arial" panose="020B0604020202020204" pitchFamily="34" charset="0"/>
                <a:ea typeface="宋体" panose="02010600030101010101" pitchFamily="2" charset="-122"/>
                <a:cs typeface="+mn-cs"/>
              </a:rPr>
              <a:t>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 </a:t>
            </a:r>
            <a:r>
              <a:rPr kumimoji="0" lang="zh-CN" altLang="en-US" sz="2000" kern="1200" cap="none" spc="0" normalizeH="0" baseline="0" noProof="1">
                <a:solidFill>
                  <a:srgbClr val="FF0000"/>
                </a:solidFill>
                <a:latin typeface="Arial" panose="020B0604020202020204" pitchFamily="34" charset="0"/>
                <a:ea typeface="宋体" panose="02010600030101010101" pitchFamily="2" charset="-122"/>
                <a:cs typeface="+mn-cs"/>
              </a:rPr>
              <a:t>NOT NULL,</a:t>
            </a:r>
            <a:endParaRPr kumimoji="0" lang="zh-CN" altLang="en-US" sz="2000" kern="1200" cap="none" spc="0" normalizeH="0" baseline="0" noProof="1">
              <a:solidFill>
                <a:srgbClr val="FF0000"/>
              </a:solidFill>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Major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5</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0) </a:t>
            </a:r>
            <a:r>
              <a:rPr kumimoji="0" lang="en-US" altLang="zh-CN" sz="2000" kern="1200" cap="none" spc="0" normalizeH="0" baseline="0" noProof="1">
                <a:solidFill>
                  <a:srgbClr val="FF0000"/>
                </a:solidFill>
                <a:latin typeface="Arial" panose="020B0604020202020204" pitchFamily="34" charset="0"/>
                <a:ea typeface="宋体" panose="02010600030101010101" pitchFamily="2" charset="-122"/>
                <a:cs typeface="+mn-cs"/>
                <a:sym typeface="+mn-ea"/>
              </a:rPr>
              <a:t>NOT NULL,</a:t>
            </a:r>
            <a:endParaRPr kumimoji="0" lang="en-US" altLang="zh-CN" sz="2000" kern="1200" cap="none" spc="0" normalizeH="0" baseline="0" noProof="1">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5000"/>
              </a:lnSpc>
              <a:buClrTx/>
              <a:buSzTx/>
              <a:buFont typeface="Arial" panose="020B0604020202020204" pitchFamily="34" charset="0"/>
              <a:buNone/>
              <a:defRPr/>
            </a:pP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1">
                <a:latin typeface="Arial" panose="020B0604020202020204" pitchFamily="34" charset="0"/>
                <a:ea typeface="宋体" panose="02010600030101010101" pitchFamily="2" charset="-122"/>
                <a:cs typeface="+mn-cs"/>
                <a:sym typeface="+mn-ea"/>
              </a:rPr>
              <a:t>SIDC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8</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sz="2000" kern="1200" cap="none" spc="0" normalizeH="0" baseline="0" noProof="1">
                <a:solidFill>
                  <a:srgbClr val="FF0000"/>
                </a:solidFill>
                <a:latin typeface="Arial" panose="020B0604020202020204" pitchFamily="34" charset="0"/>
                <a:ea typeface="宋体" panose="02010600030101010101" pitchFamily="2" charset="-122"/>
                <a:cs typeface="+mn-cs"/>
                <a:sym typeface="+mn-ea"/>
              </a:rPr>
              <a:t>Unique,</a:t>
            </a:r>
            <a:endPar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15000"/>
              </a:lnSpc>
              <a:buClrTx/>
              <a:buSzTx/>
              <a:buFont typeface="Arial" panose="020B0604020202020204" pitchFamily="34" charset="0"/>
              <a:buNone/>
              <a:defRPr/>
            </a:pP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sz="2000" kern="1200" cap="none" spc="0" normalizeH="0" baseline="0" noProof="1">
                <a:latin typeface="Arial" panose="020B0604020202020204" pitchFamily="34" charset="0"/>
                <a:ea typeface="宋体" panose="02010600030101010101" pitchFamily="2" charset="-122"/>
                <a:cs typeface="+mn-cs"/>
                <a:sym typeface="+mn-ea"/>
              </a:rPr>
              <a:t>SAge </a:t>
            </a:r>
            <a:r>
              <a:rPr kumimoji="0" sz="2000" kern="1200" cap="none" spc="0" normalizeH="0" baseline="0" noProof="1">
                <a:solidFill>
                  <a:srgbClr val="0033CC"/>
                </a:solidFill>
                <a:latin typeface="Arial" panose="020B0604020202020204" pitchFamily="34" charset="0"/>
                <a:ea typeface="宋体" panose="02010600030101010101" pitchFamily="2" charset="-122"/>
                <a:cs typeface="+mn-cs"/>
                <a:sym typeface="+mn-ea"/>
              </a:rPr>
              <a:t>as</a:t>
            </a:r>
            <a:r>
              <a:rPr kumimoji="0" sz="2000" kern="1200" cap="none" spc="0" normalizeH="0" baseline="0" noProof="1">
                <a:latin typeface="Arial" panose="020B0604020202020204" pitchFamily="34" charset="0"/>
                <a:ea typeface="宋体" panose="02010600030101010101" pitchFamily="2" charset="-122"/>
                <a:cs typeface="+mn-cs"/>
                <a:sym typeface="+mn-ea"/>
              </a:rPr>
              <a:t> </a:t>
            </a:r>
            <a:r>
              <a:rPr kumimoji="0" sz="2000" kern="1200" cap="none" spc="0" normalizeH="0" baseline="0" noProof="1">
                <a:solidFill>
                  <a:srgbClr val="2F8212"/>
                </a:solidFill>
                <a:latin typeface="Arial" panose="020B0604020202020204" pitchFamily="34" charset="0"/>
                <a:ea typeface="宋体" panose="02010600030101010101" pitchFamily="2" charset="-122"/>
                <a:cs typeface="+mn-cs"/>
                <a:sym typeface="+mn-ea"/>
              </a:rPr>
              <a:t>datepart(yyyy,GetDate())-  </a:t>
            </a:r>
            <a:endParaRPr kumimoji="0" sz="2000" kern="1200" cap="none" spc="0" normalizeH="0" baseline="0" noProof="1">
              <a:solidFill>
                <a:srgbClr val="2F8212"/>
              </a:solidFill>
              <a:latin typeface="Arial" panose="020B0604020202020204" pitchFamily="34" charset="0"/>
              <a:ea typeface="宋体" panose="02010600030101010101" pitchFamily="2" charset="-122"/>
              <a:cs typeface="+mn-cs"/>
              <a:sym typeface="+mn-ea"/>
            </a:endParaRPr>
          </a:p>
          <a:p>
            <a:pPr marR="0" defTabSz="914400" eaLnBrk="1" hangingPunct="1">
              <a:lnSpc>
                <a:spcPct val="115000"/>
              </a:lnSpc>
              <a:buClrTx/>
              <a:buSzTx/>
              <a:buFont typeface="Arial" panose="020B0604020202020204" pitchFamily="34" charset="0"/>
              <a:buNone/>
              <a:defRPr/>
            </a:pPr>
            <a:r>
              <a:rPr kumimoji="0" sz="2000" kern="1200" cap="none" spc="0" normalizeH="0" baseline="0" noProof="1">
                <a:solidFill>
                  <a:srgbClr val="2F8212"/>
                </a:solidFill>
                <a:latin typeface="Arial" panose="020B0604020202020204" pitchFamily="34" charset="0"/>
                <a:ea typeface="宋体" panose="02010600030101010101" pitchFamily="2" charset="-122"/>
                <a:cs typeface="+mn-cs"/>
                <a:sym typeface="+mn-ea"/>
              </a:rPr>
              <a:t>        datepart(yyyy,convert(DateTime,substring(SIDC,7,8)))  </a:t>
            </a:r>
            <a:r>
              <a:rPr kumimoji="0" sz="2000" kern="1200" cap="none" spc="0" normalizeH="0" baseline="0" noProof="1">
                <a:latin typeface="Arial" panose="020B0604020202020204" pitchFamily="34" charset="0"/>
                <a:ea typeface="宋体" panose="02010600030101010101" pitchFamily="2" charset="-122"/>
                <a:cs typeface="+mn-cs"/>
                <a:sym typeface="+mn-ea"/>
              </a:rPr>
              <a:t>)</a:t>
            </a:r>
            <a:endParaRPr kumimoji="0" sz="2000" kern="1200" cap="none" spc="0" normalizeH="0" baseline="0" noProof="1">
              <a:latin typeface="Arial" panose="020B0604020202020204" pitchFamily="34" charset="0"/>
              <a:ea typeface="宋体" panose="02010600030101010101" pitchFamily="2" charset="-122"/>
              <a:cs typeface="+mn-cs"/>
              <a:sym typeface="+mn-ea"/>
            </a:endParaRPr>
          </a:p>
        </p:txBody>
      </p:sp>
      <p:sp>
        <p:nvSpPr>
          <p:cNvPr id="14" name="文本框 13"/>
          <p:cNvSpPr txBox="1"/>
          <p:nvPr/>
        </p:nvSpPr>
        <p:spPr>
          <a:xfrm>
            <a:off x="774700" y="5187950"/>
            <a:ext cx="8075613" cy="14763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insert STUDENT values('1001','王晓丽','计算机应用','120221200005110027')</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t>insert STUDENT values('100</a:t>
            </a:r>
            <a:r>
              <a:rPr lang="en-US" altLang="zh-CN" sz="1800" dirty="0"/>
              <a:t>2</a:t>
            </a:r>
            <a:r>
              <a:rPr lang="zh-CN" altLang="en-US" sz="1800" dirty="0"/>
              <a:t>','张大强','物联网','</a:t>
            </a:r>
            <a:r>
              <a:rPr lang="en-US" altLang="zh-CN" sz="1800" dirty="0"/>
              <a:t>5101061998</a:t>
            </a:r>
            <a:r>
              <a:rPr lang="zh-CN" altLang="en-US" sz="1800" dirty="0"/>
              <a:t>0</a:t>
            </a:r>
            <a:r>
              <a:rPr lang="en-US" altLang="zh-CN" sz="1800" dirty="0"/>
              <a:t>6250228</a:t>
            </a:r>
            <a:r>
              <a:rPr lang="zh-CN" altLang="en-US" sz="1800" dirty="0"/>
              <a:t>')</a:t>
            </a:r>
            <a:endParaRPr lang="zh-CN" altLang="en-US" sz="1800" dirty="0"/>
          </a:p>
          <a:p>
            <a:pPr marL="0" lvl="0" indent="0" eaLnBrk="1" hangingPunct="1">
              <a:spcBef>
                <a:spcPct val="0"/>
              </a:spcBef>
              <a:buClrTx/>
              <a:buSzTx/>
              <a:buFont typeface="Arial" panose="020B0604020202020204" pitchFamily="34" charset="0"/>
              <a:buNone/>
            </a:pPr>
            <a:r>
              <a:rPr lang="zh-CN" altLang="en-US" sz="1800" dirty="0">
                <a:sym typeface="宋体" panose="02010600030101010101" pitchFamily="2" charset="-122"/>
              </a:rPr>
              <a:t>insert STUDENT values('100</a:t>
            </a:r>
            <a:r>
              <a:rPr lang="en-US" altLang="zh-CN" sz="1800" dirty="0">
                <a:sym typeface="宋体" panose="02010600030101010101" pitchFamily="2" charset="-122"/>
              </a:rPr>
              <a:t>3</a:t>
            </a:r>
            <a:r>
              <a:rPr lang="zh-CN" altLang="en-US" sz="1800" dirty="0">
                <a:sym typeface="宋体" panose="02010600030101010101" pitchFamily="2" charset="-122"/>
              </a:rPr>
              <a:t>','余丽丽','物联网','</a:t>
            </a:r>
            <a:r>
              <a:rPr lang="en-US" altLang="zh-CN" sz="1800" dirty="0">
                <a:sym typeface="宋体" panose="02010600030101010101" pitchFamily="2" charset="-122"/>
              </a:rPr>
              <a:t>5101061999</a:t>
            </a:r>
            <a:r>
              <a:rPr lang="zh-CN" altLang="en-US" sz="1800" dirty="0">
                <a:sym typeface="宋体" panose="02010600030101010101" pitchFamily="2" charset="-122"/>
              </a:rPr>
              <a:t>0</a:t>
            </a:r>
            <a:r>
              <a:rPr lang="en-US" altLang="zh-CN" sz="1800" dirty="0">
                <a:sym typeface="宋体" panose="02010600030101010101" pitchFamily="2" charset="-122"/>
              </a:rPr>
              <a:t>8260335</a:t>
            </a:r>
            <a:r>
              <a:rPr lang="zh-CN" altLang="en-US" sz="1800" dirty="0">
                <a:sym typeface="宋体" panose="02010600030101010101" pitchFamily="2" charset="-122"/>
              </a:rPr>
              <a:t>')</a:t>
            </a:r>
            <a:endParaRPr lang="zh-CN" altLang="en-US" sz="1800" dirty="0"/>
          </a:p>
          <a:p>
            <a:pPr marL="0" lvl="0" indent="0" eaLnBrk="1" hangingPunct="1">
              <a:spcBef>
                <a:spcPct val="0"/>
              </a:spcBef>
              <a:buClrTx/>
              <a:buSzTx/>
              <a:buFont typeface="Arial" panose="020B0604020202020204" pitchFamily="34" charset="0"/>
              <a:buNone/>
            </a:pPr>
            <a:endParaRPr lang="zh-CN" altLang="en-US" sz="1800" dirty="0"/>
          </a:p>
          <a:p>
            <a:pPr marL="0" lvl="0" indent="0" eaLnBrk="1" hangingPunct="1">
              <a:spcBef>
                <a:spcPct val="0"/>
              </a:spcBef>
              <a:buClrTx/>
              <a:buSzTx/>
              <a:buFont typeface="Arial" panose="020B0604020202020204" pitchFamily="34" charset="0"/>
              <a:buNone/>
            </a:pPr>
            <a:endParaRPr lang="zh-CN" altLang="en-US" sz="1800" dirty="0"/>
          </a:p>
        </p:txBody>
      </p:sp>
      <p:sp>
        <p:nvSpPr>
          <p:cNvPr id="4710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79"/>
                                        </p:tgtEl>
                                        <p:attrNameLst>
                                          <p:attrName>style.visibility</p:attrName>
                                        </p:attrNameLst>
                                      </p:cBhvr>
                                      <p:to>
                                        <p:strVal val="visible"/>
                                      </p:to>
                                    </p:set>
                                    <p:anim calcmode="lin" valueType="num">
                                      <p:cBhvr additive="base">
                                        <p:cTn id="7" dur="500" fill="hold"/>
                                        <p:tgtEl>
                                          <p:spTgt spid="50179"/>
                                        </p:tgtEl>
                                        <p:attrNameLst>
                                          <p:attrName>ppt_x</p:attrName>
                                        </p:attrNameLst>
                                      </p:cBhvr>
                                      <p:tavLst>
                                        <p:tav tm="0">
                                          <p:val>
                                            <p:strVal val="#ppt_x"/>
                                          </p:val>
                                        </p:tav>
                                        <p:tav tm="100000">
                                          <p:val>
                                            <p:strVal val="#ppt_x"/>
                                          </p:val>
                                        </p:tav>
                                      </p:tavLst>
                                    </p:anim>
                                    <p:anim calcmode="lin" valueType="num">
                                      <p:cBhvr additive="base">
                                        <p:cTn id="8" dur="500" fill="hold"/>
                                        <p:tgtEl>
                                          <p:spTgt spid="5017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ldLvl="0" animBg="1"/>
      <p:bldP spid="50179" grpId="1" animBg="1"/>
      <p:bldP spid="14" grpId="0"/>
      <p:bldP spid="14"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文本占位符 104450"/>
          <p:cNvSpPr>
            <a:spLocks noGrp="1"/>
          </p:cNvSpPr>
          <p:nvPr/>
        </p:nvSpPr>
        <p:spPr>
          <a:xfrm>
            <a:off x="676275" y="1444625"/>
            <a:ext cx="7781925" cy="14478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spcAft>
                <a:spcPts val="40"/>
              </a:spcAft>
              <a:buClrTx/>
              <a:buSzTx/>
              <a:buNone/>
            </a:pPr>
            <a:r>
              <a:rPr lang="en-US" altLang="zh-CN" sz="2800" dirty="0"/>
              <a:t>    </a:t>
            </a:r>
            <a:r>
              <a:rPr lang="zh-CN" altLang="en-US" sz="2400" dirty="0"/>
              <a:t>（</a:t>
            </a:r>
            <a:r>
              <a:rPr lang="en-US" altLang="zh-CN" sz="2400" dirty="0"/>
              <a:t>1</a:t>
            </a:r>
            <a:r>
              <a:rPr lang="zh-CN" altLang="en-US" sz="2400" dirty="0"/>
              <a:t>）</a:t>
            </a:r>
            <a:r>
              <a:rPr lang="zh-CN" altLang="en-US" sz="2400" u="sng" dirty="0">
                <a:solidFill>
                  <a:srgbClr val="0033CC"/>
                </a:solidFill>
              </a:rPr>
              <a:t>整型数据类型 </a:t>
            </a:r>
            <a:r>
              <a:rPr lang="en-US" altLang="zh-CN" sz="2400" u="sng" dirty="0">
                <a:solidFill>
                  <a:srgbClr val="0033CC"/>
                </a:solidFill>
              </a:rPr>
              <a:t>:</a:t>
            </a:r>
            <a:r>
              <a:rPr lang="zh-CN" altLang="en-US" sz="2200" dirty="0"/>
              <a:t>整数数据类型表示可以存储整数精确数据 。有</a:t>
            </a:r>
            <a:r>
              <a:rPr lang="en-US" altLang="zh-CN" sz="2200" dirty="0"/>
              <a:t>4</a:t>
            </a:r>
            <a:r>
              <a:rPr lang="zh-CN" altLang="en-US" sz="2200" dirty="0"/>
              <a:t>种整数数据类型即</a:t>
            </a:r>
            <a:r>
              <a:rPr lang="en-US" altLang="zh-CN" sz="2200" dirty="0"/>
              <a:t>BIGINT</a:t>
            </a:r>
            <a:r>
              <a:rPr lang="zh-CN" altLang="en-US" sz="2200" dirty="0"/>
              <a:t>、</a:t>
            </a:r>
            <a:r>
              <a:rPr lang="en-US" altLang="zh-CN" sz="2200" dirty="0"/>
              <a:t>INT</a:t>
            </a:r>
            <a:r>
              <a:rPr lang="zh-CN" altLang="en-US" sz="2200" dirty="0"/>
              <a:t>、</a:t>
            </a:r>
            <a:r>
              <a:rPr lang="en-US" altLang="zh-CN" sz="2200" dirty="0"/>
              <a:t>SMALLINT</a:t>
            </a:r>
            <a:r>
              <a:rPr lang="zh-CN" altLang="en-US" sz="2200" dirty="0"/>
              <a:t>、</a:t>
            </a:r>
            <a:r>
              <a:rPr lang="en-US" altLang="zh-CN" sz="2200" dirty="0"/>
              <a:t>TINYINT </a:t>
            </a:r>
            <a:r>
              <a:rPr lang="zh-CN" altLang="en-US" sz="2200" dirty="0"/>
              <a:t>。</a:t>
            </a:r>
            <a:endParaRPr lang="zh-CN" altLang="en-US" sz="2200" dirty="0"/>
          </a:p>
          <a:p>
            <a:pPr marL="0" lvl="0" indent="0">
              <a:spcBef>
                <a:spcPct val="0"/>
              </a:spcBef>
              <a:spcAft>
                <a:spcPct val="40000"/>
              </a:spcAft>
              <a:buClrTx/>
              <a:buSzTx/>
              <a:buNone/>
            </a:pPr>
            <a:endParaRPr lang="zh-CN" altLang="en-US" sz="2200" dirty="0"/>
          </a:p>
        </p:txBody>
      </p:sp>
      <p:sp>
        <p:nvSpPr>
          <p:cNvPr id="48131" name="文本框 1"/>
          <p:cNvSpPr txBox="1"/>
          <p:nvPr/>
        </p:nvSpPr>
        <p:spPr>
          <a:xfrm>
            <a:off x="676275" y="2892425"/>
            <a:ext cx="7913688" cy="311467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300"/>
              </a:spcBef>
              <a:buClrTx/>
              <a:buSzTx/>
              <a:buFont typeface="Wingdings" panose="05000000000000000000" pitchFamily="2" charset="2"/>
              <a:buChar char="ü"/>
            </a:pPr>
            <a:r>
              <a:rPr lang="zh-CN" altLang="en-US" sz="2200" b="0" dirty="0">
                <a:latin typeface="楷体" panose="02010609060101010101" pitchFamily="49" charset="-122"/>
                <a:ea typeface="楷体" panose="02010609060101010101" pitchFamily="49" charset="-122"/>
              </a:rPr>
              <a:t>在选择整数数据类型时，默认情况下应该考虑使用</a:t>
            </a:r>
            <a:r>
              <a:rPr lang="en-US" altLang="zh-CN" sz="2200" b="0" dirty="0">
                <a:latin typeface="楷体" panose="02010609060101010101" pitchFamily="49" charset="-122"/>
                <a:ea typeface="楷体" panose="02010609060101010101" pitchFamily="49" charset="-122"/>
              </a:rPr>
              <a:t>INT</a:t>
            </a:r>
            <a:r>
              <a:rPr lang="zh-CN" altLang="en-US" sz="2200" b="0" dirty="0">
                <a:latin typeface="楷体" panose="02010609060101010101" pitchFamily="49" charset="-122"/>
                <a:ea typeface="楷体" panose="02010609060101010101" pitchFamily="49" charset="-122"/>
              </a:rPr>
              <a:t>数据类型，int型的数值默认长度为4个字节，那就是32位，用二进制换算最大长度就是（</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2^31</a:t>
            </a:r>
            <a:r>
              <a:rPr lang="en-US" altLang="zh-CN" sz="2200" b="0" dirty="0">
                <a:latin typeface="楷体" panose="02010609060101010101" pitchFamily="49" charset="-122"/>
                <a:ea typeface="楷体" panose="02010609060101010101" pitchFamily="49" charset="-122"/>
                <a:sym typeface="宋体" panose="02010600030101010101" pitchFamily="2" charset="-122"/>
              </a:rPr>
              <a:t>~ 2^31-1</a:t>
            </a:r>
            <a:r>
              <a:rPr lang="zh-CN" altLang="en-US" sz="2200" b="0" dirty="0">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b="0" dirty="0">
                <a:latin typeface="楷体" panose="02010609060101010101" pitchFamily="49" charset="-122"/>
                <a:ea typeface="楷体" panose="02010609060101010101" pitchFamily="49" charset="-122"/>
              </a:rPr>
              <a:t>如果确认将要存储的数据可能很大或很小，那么可以考虑使用</a:t>
            </a:r>
            <a:r>
              <a:rPr lang="en-US" altLang="zh-CN" sz="2200" b="0" dirty="0">
                <a:latin typeface="楷体" panose="02010609060101010101" pitchFamily="49" charset="-122"/>
                <a:ea typeface="楷体" panose="02010609060101010101" pitchFamily="49" charset="-122"/>
              </a:rPr>
              <a:t>BIGINT</a:t>
            </a:r>
            <a:r>
              <a:rPr lang="zh-CN" altLang="en-US" sz="2200" b="0" dirty="0">
                <a:latin typeface="楷体" panose="02010609060101010101" pitchFamily="49" charset="-122"/>
                <a:ea typeface="楷体" panose="02010609060101010101" pitchFamily="49" charset="-122"/>
              </a:rPr>
              <a:t>数据类型（ -2^63 </a:t>
            </a:r>
            <a:r>
              <a:rPr lang="en-US" altLang="zh-CN" sz="2200" b="0" dirty="0">
                <a:latin typeface="楷体" panose="02010609060101010101" pitchFamily="49" charset="-122"/>
                <a:ea typeface="楷体" panose="02010609060101010101" pitchFamily="49" charset="-122"/>
              </a:rPr>
              <a:t>~ 2^63-1</a:t>
            </a:r>
            <a:r>
              <a:rPr lang="zh-CN" altLang="en-US" sz="2200" b="0" dirty="0">
                <a:latin typeface="楷体" panose="02010609060101010101" pitchFamily="49" charset="-122"/>
                <a:ea typeface="楷体" panose="02010609060101010101" pitchFamily="49" charset="-122"/>
              </a:rPr>
              <a:t>）</a:t>
            </a:r>
            <a:r>
              <a:rPr lang="en-US" altLang="zh-CN" sz="2200" b="0" dirty="0">
                <a:latin typeface="楷体" panose="02010609060101010101" pitchFamily="49" charset="-122"/>
                <a:ea typeface="楷体" panose="02010609060101010101" pitchFamily="49" charset="-122"/>
              </a:rPr>
              <a:t> </a:t>
            </a:r>
            <a:r>
              <a:rPr lang="zh-CN" altLang="en-US" sz="2200" b="0" dirty="0">
                <a:latin typeface="楷体" panose="02010609060101010101" pitchFamily="49" charset="-122"/>
                <a:ea typeface="楷体" panose="02010609060101010101" pitchFamily="49" charset="-122"/>
              </a:rPr>
              <a:t>或</a:t>
            </a:r>
            <a:r>
              <a:rPr lang="en-US" altLang="zh-CN" sz="2200" b="0" dirty="0">
                <a:latin typeface="楷体" panose="02010609060101010101" pitchFamily="49" charset="-122"/>
                <a:ea typeface="楷体" panose="02010609060101010101" pitchFamily="49" charset="-122"/>
              </a:rPr>
              <a:t>SMALLINT</a:t>
            </a:r>
            <a:r>
              <a:rPr lang="zh-CN" altLang="en-US" sz="2200" b="0" dirty="0">
                <a:latin typeface="楷体" panose="02010609060101010101" pitchFamily="49" charset="-122"/>
                <a:ea typeface="楷体" panose="02010609060101010101" pitchFamily="49" charset="-122"/>
              </a:rPr>
              <a:t>数据类型（</a:t>
            </a:r>
            <a:r>
              <a:rPr lang="zh-CN" altLang="en-US" sz="2200" b="0" dirty="0">
                <a:latin typeface="楷体" panose="02010609060101010101" pitchFamily="49" charset="-122"/>
                <a:ea typeface="楷体" panose="02010609060101010101" pitchFamily="49" charset="-122"/>
                <a:sym typeface="宋体" panose="02010600030101010101" pitchFamily="2" charset="-122"/>
              </a:rPr>
              <a:t> -2^</a:t>
            </a:r>
            <a:r>
              <a:rPr lang="en-US" altLang="zh-CN" sz="2200" b="0" dirty="0">
                <a:latin typeface="楷体" panose="02010609060101010101" pitchFamily="49" charset="-122"/>
                <a:ea typeface="楷体" panose="02010609060101010101" pitchFamily="49" charset="-122"/>
                <a:sym typeface="宋体" panose="02010600030101010101" pitchFamily="2" charset="-122"/>
              </a:rPr>
              <a:t>15</a:t>
            </a:r>
            <a:r>
              <a:rPr lang="zh-CN" altLang="en-US" sz="2200" b="0" dirty="0">
                <a:latin typeface="楷体" panose="02010609060101010101" pitchFamily="49" charset="-122"/>
                <a:ea typeface="楷体" panose="02010609060101010101" pitchFamily="49" charset="-122"/>
                <a:sym typeface="宋体" panose="02010600030101010101" pitchFamily="2" charset="-122"/>
              </a:rPr>
              <a:t> </a:t>
            </a:r>
            <a:r>
              <a:rPr lang="en-US" altLang="zh-CN" sz="2200" b="0" dirty="0">
                <a:latin typeface="楷体" panose="02010609060101010101" pitchFamily="49" charset="-122"/>
                <a:ea typeface="楷体" panose="02010609060101010101" pitchFamily="49" charset="-122"/>
                <a:sym typeface="宋体" panose="02010600030101010101" pitchFamily="2" charset="-122"/>
              </a:rPr>
              <a:t>~ 2^15-1</a:t>
            </a:r>
            <a:r>
              <a:rPr lang="zh-CN" altLang="en-US" sz="2200" b="0" dirty="0">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b="0" dirty="0">
                <a:latin typeface="楷体" panose="02010609060101010101" pitchFamily="49" charset="-122"/>
                <a:ea typeface="楷体" panose="02010609060101010101" pitchFamily="49" charset="-122"/>
              </a:rPr>
              <a:t>只有当将要存储的数据不超过</a:t>
            </a:r>
            <a:r>
              <a:rPr lang="en-US" altLang="zh-CN" sz="2200" b="0" dirty="0">
                <a:latin typeface="楷体" panose="02010609060101010101" pitchFamily="49" charset="-122"/>
                <a:ea typeface="楷体" panose="02010609060101010101" pitchFamily="49" charset="-122"/>
              </a:rPr>
              <a:t>255</a:t>
            </a:r>
            <a:r>
              <a:rPr lang="zh-CN" altLang="en-US" sz="2200" b="0" dirty="0">
                <a:latin typeface="楷体" panose="02010609060101010101" pitchFamily="49" charset="-122"/>
                <a:ea typeface="楷体" panose="02010609060101010101" pitchFamily="49" charset="-122"/>
              </a:rPr>
              <a:t>且都是正数，那么才能使用</a:t>
            </a:r>
            <a:r>
              <a:rPr lang="en-US" altLang="zh-CN" sz="2200" b="0" dirty="0">
                <a:latin typeface="楷体" panose="02010609060101010101" pitchFamily="49" charset="-122"/>
                <a:ea typeface="楷体" panose="02010609060101010101" pitchFamily="49" charset="-122"/>
              </a:rPr>
              <a:t>TINYINT</a:t>
            </a:r>
            <a:r>
              <a:rPr lang="zh-CN" altLang="en-US" sz="2200" b="0" dirty="0">
                <a:latin typeface="楷体" panose="02010609060101010101" pitchFamily="49" charset="-122"/>
                <a:ea typeface="楷体" panose="02010609060101010101" pitchFamily="49" charset="-122"/>
              </a:rPr>
              <a:t>数据类型</a:t>
            </a:r>
            <a:r>
              <a:rPr lang="zh-CN" altLang="en-US" sz="2200" b="0" dirty="0">
                <a:latin typeface="楷体" panose="02010609060101010101" pitchFamily="49" charset="-122"/>
                <a:ea typeface="楷体" panose="02010609060101010101" pitchFamily="49" charset="-122"/>
                <a:sym typeface="宋体" panose="02010600030101010101" pitchFamily="2" charset="-122"/>
              </a:rPr>
              <a:t>（ </a:t>
            </a:r>
            <a:r>
              <a:rPr lang="en-US" altLang="zh-CN" sz="2200" b="0" dirty="0">
                <a:latin typeface="楷体" panose="02010609060101010101" pitchFamily="49" charset="-122"/>
                <a:ea typeface="楷体" panose="02010609060101010101" pitchFamily="49" charset="-122"/>
                <a:sym typeface="宋体" panose="02010600030101010101" pitchFamily="2" charset="-122"/>
              </a:rPr>
              <a:t>0~ 2^8-1</a:t>
            </a:r>
            <a:r>
              <a:rPr lang="zh-CN" altLang="en-US" sz="2200" b="0" dirty="0">
                <a:latin typeface="楷体" panose="02010609060101010101" pitchFamily="49" charset="-122"/>
                <a:ea typeface="楷体" panose="02010609060101010101" pitchFamily="49" charset="-122"/>
                <a:sym typeface="宋体" panose="02010600030101010101" pitchFamily="2" charset="-122"/>
              </a:rPr>
              <a:t>）</a:t>
            </a:r>
            <a:r>
              <a:rPr lang="zh-CN" altLang="en-US" sz="2200" b="0" dirty="0">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p:txBody>
      </p:sp>
      <p:sp>
        <p:nvSpPr>
          <p:cNvPr id="48132" name="矩形 3"/>
          <p:cNvSpPr/>
          <p:nvPr/>
        </p:nvSpPr>
        <p:spPr>
          <a:xfrm>
            <a:off x="520700" y="760413"/>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813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文本占位符 108546"/>
          <p:cNvSpPr>
            <a:spLocks noGrp="1"/>
          </p:cNvSpPr>
          <p:nvPr/>
        </p:nvSpPr>
        <p:spPr>
          <a:xfrm>
            <a:off x="339725" y="1441450"/>
            <a:ext cx="8515350" cy="896938"/>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spcAft>
                <a:spcPts val="40"/>
              </a:spcAft>
              <a:buClrTx/>
              <a:buSzTx/>
              <a:buNone/>
            </a:pPr>
            <a:r>
              <a:rPr lang="en-US" altLang="zh-CN" sz="2800" dirty="0"/>
              <a:t>     </a:t>
            </a:r>
            <a:r>
              <a:rPr lang="zh-CN" altLang="en-US" sz="2400" dirty="0"/>
              <a:t>（</a:t>
            </a:r>
            <a:r>
              <a:rPr lang="en-US" altLang="zh-CN" sz="2400" dirty="0"/>
              <a:t>2</a:t>
            </a:r>
            <a:r>
              <a:rPr lang="zh-CN" altLang="en-US" sz="2400" dirty="0"/>
              <a:t>）</a:t>
            </a:r>
            <a:r>
              <a:rPr lang="zh-CN" altLang="en-US" sz="2400" u="sng" dirty="0">
                <a:solidFill>
                  <a:srgbClr val="0033CC"/>
                </a:solidFill>
              </a:rPr>
              <a:t>浮点数据类型：</a:t>
            </a:r>
            <a:r>
              <a:rPr lang="zh-CN" altLang="en-US" sz="2200" dirty="0"/>
              <a:t>常用的包括</a:t>
            </a:r>
            <a:r>
              <a:rPr lang="en-US" altLang="en-US" sz="2200" dirty="0"/>
              <a:t>decimal</a:t>
            </a:r>
            <a:r>
              <a:rPr lang="zh-CN" altLang="en-US" sz="2200" dirty="0"/>
              <a:t>、</a:t>
            </a:r>
            <a:r>
              <a:rPr lang="en-US" altLang="zh-CN" sz="2200" dirty="0"/>
              <a:t>float</a:t>
            </a:r>
            <a:r>
              <a:rPr lang="zh-CN" altLang="en-US" sz="2200" dirty="0"/>
              <a:t>和</a:t>
            </a:r>
            <a:r>
              <a:rPr lang="en-US" altLang="zh-CN" sz="2200" dirty="0"/>
              <a:t>real</a:t>
            </a:r>
            <a:r>
              <a:rPr lang="zh-CN" altLang="en-US" sz="2200" dirty="0"/>
              <a:t>三种。 </a:t>
            </a:r>
            <a:endParaRPr lang="zh-CN" altLang="en-US" sz="2200" dirty="0"/>
          </a:p>
          <a:p>
            <a:pPr marL="0" lvl="0" indent="0">
              <a:spcBef>
                <a:spcPct val="0"/>
              </a:spcBef>
              <a:spcAft>
                <a:spcPct val="40000"/>
              </a:spcAft>
              <a:buClrTx/>
              <a:buSzTx/>
              <a:buNone/>
            </a:pPr>
            <a:endParaRPr lang="zh-CN" altLang="en-US" sz="2200" dirty="0"/>
          </a:p>
        </p:txBody>
      </p:sp>
      <p:sp>
        <p:nvSpPr>
          <p:cNvPr id="49155" name="文本框 1"/>
          <p:cNvSpPr txBox="1"/>
          <p:nvPr/>
        </p:nvSpPr>
        <p:spPr>
          <a:xfrm>
            <a:off x="704850" y="2047875"/>
            <a:ext cx="7981950" cy="387667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100"/>
              </a:spcBef>
              <a:buClrTx/>
              <a:buSzTx/>
              <a:buFont typeface="Wingdings" panose="05000000000000000000" pitchFamily="2" charset="2"/>
              <a:buChar char="ü"/>
            </a:pPr>
            <a:r>
              <a:rPr lang="en-US" altLang="zh-CN" sz="2200" dirty="0"/>
              <a:t>DECIMAL</a:t>
            </a:r>
            <a:r>
              <a:rPr lang="zh-CN" altLang="en-US" sz="2200" dirty="0"/>
              <a:t>数据类型的语法如下所示：</a:t>
            </a:r>
            <a:r>
              <a:rPr lang="en-US" altLang="zh-CN" sz="2200" dirty="0"/>
              <a:t> DECIMAL (p, s)</a:t>
            </a:r>
            <a:endParaRPr lang="en-US" altLang="zh-CN" sz="2200" dirty="0"/>
          </a:p>
          <a:p>
            <a:pPr marL="342900" lvl="0" indent="-342900" eaLnBrk="1" hangingPunct="1">
              <a:lnSpc>
                <a:spcPct val="110000"/>
              </a:lnSpc>
              <a:spcBef>
                <a:spcPts val="200"/>
              </a:spcBef>
              <a:buClrTx/>
              <a:buSzTx/>
              <a:buNone/>
            </a:pPr>
            <a:r>
              <a:rPr lang="zh-CN" altLang="en-US" sz="2200" dirty="0">
                <a:latin typeface="楷体" panose="02010609060101010101" pitchFamily="49" charset="-122"/>
                <a:ea typeface="楷体" panose="02010609060101010101" pitchFamily="49" charset="-122"/>
              </a:rPr>
              <a:t>   在上面的语法中，</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表示数字的精度，</a:t>
            </a:r>
            <a:r>
              <a:rPr lang="en-US" altLang="zh-CN" sz="2200" dirty="0">
                <a:latin typeface="楷体" panose="02010609060101010101" pitchFamily="49" charset="-122"/>
                <a:ea typeface="楷体" panose="02010609060101010101" pitchFamily="49" charset="-122"/>
              </a:rPr>
              <a:t>s</a:t>
            </a:r>
            <a:r>
              <a:rPr lang="zh-CN" altLang="en-US" sz="2200" dirty="0">
                <a:latin typeface="楷体" panose="02010609060101010101" pitchFamily="49" charset="-122"/>
                <a:ea typeface="楷体" panose="02010609060101010101" pitchFamily="49" charset="-122"/>
              </a:rPr>
              <a:t>表示数字的小数位数。精度</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的取值范围是</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至</a:t>
            </a:r>
            <a:r>
              <a:rPr lang="en-US" altLang="zh-CN" sz="2200" dirty="0">
                <a:latin typeface="楷体" panose="02010609060101010101" pitchFamily="49" charset="-122"/>
                <a:ea typeface="楷体" panose="02010609060101010101" pitchFamily="49" charset="-122"/>
              </a:rPr>
              <a:t>38</a:t>
            </a:r>
            <a:r>
              <a:rPr lang="zh-CN" altLang="en-US" sz="2200" dirty="0">
                <a:latin typeface="楷体" panose="02010609060101010101" pitchFamily="49" charset="-122"/>
                <a:ea typeface="楷体" panose="02010609060101010101" pitchFamily="49" charset="-122"/>
              </a:rPr>
              <a:t>，默认值是</a:t>
            </a:r>
            <a:r>
              <a:rPr lang="en-US" altLang="zh-CN" sz="2200" dirty="0">
                <a:latin typeface="楷体" panose="02010609060101010101" pitchFamily="49" charset="-122"/>
                <a:ea typeface="楷体" panose="02010609060101010101" pitchFamily="49" charset="-122"/>
              </a:rPr>
              <a:t>18</a:t>
            </a:r>
            <a:r>
              <a:rPr lang="zh-CN" altLang="en-US" sz="2200" dirty="0">
                <a:latin typeface="楷体" panose="02010609060101010101" pitchFamily="49" charset="-122"/>
                <a:ea typeface="楷体" panose="02010609060101010101" pitchFamily="49" charset="-122"/>
              </a:rPr>
              <a:t>。小数位数</a:t>
            </a:r>
            <a:r>
              <a:rPr lang="en-US" altLang="zh-CN" sz="2200" dirty="0">
                <a:latin typeface="楷体" panose="02010609060101010101" pitchFamily="49" charset="-122"/>
                <a:ea typeface="楷体" panose="02010609060101010101" pitchFamily="49" charset="-122"/>
              </a:rPr>
              <a:t>s</a:t>
            </a:r>
            <a:r>
              <a:rPr lang="zh-CN" altLang="en-US" sz="2200" dirty="0">
                <a:latin typeface="楷体" panose="02010609060101010101" pitchFamily="49" charset="-122"/>
                <a:ea typeface="楷体" panose="02010609060101010101" pitchFamily="49" charset="-122"/>
              </a:rPr>
              <a:t>的取值范围必须是</a:t>
            </a:r>
            <a:r>
              <a:rPr lang="en-US"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至</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之间的数值</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包括</a:t>
            </a:r>
            <a:r>
              <a:rPr lang="en-US" altLang="zh-CN" sz="2200" dirty="0">
                <a:latin typeface="楷体" panose="02010609060101010101" pitchFamily="49" charset="-122"/>
                <a:ea typeface="楷体" panose="02010609060101010101" pitchFamily="49" charset="-122"/>
              </a:rPr>
              <a:t>0</a:t>
            </a:r>
            <a:r>
              <a:rPr lang="zh-CN" altLang="en-US" sz="2200" dirty="0">
                <a:latin typeface="楷体" panose="02010609060101010101" pitchFamily="49" charset="-122"/>
                <a:ea typeface="楷体" panose="02010609060101010101" pitchFamily="49" charset="-122"/>
              </a:rPr>
              <a:t>和</a:t>
            </a:r>
            <a:r>
              <a:rPr lang="en-US" altLang="zh-CN" sz="2200" dirty="0">
                <a:latin typeface="楷体" panose="02010609060101010101" pitchFamily="49" charset="-122"/>
                <a:ea typeface="楷体" panose="02010609060101010101" pitchFamily="49" charset="-122"/>
              </a:rPr>
              <a:t>p)</a:t>
            </a:r>
            <a:r>
              <a:rPr lang="zh-CN" altLang="en-US" sz="2200" dirty="0">
                <a:latin typeface="楷体" panose="02010609060101010101" pitchFamily="49" charset="-122"/>
                <a:ea typeface="楷体" panose="02010609060101010101" pitchFamily="49" charset="-122"/>
              </a:rPr>
              <a:t>。 </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REAL 数据类型：REAL数据类型可精确到第7 位小数，其范围为从-3.40E -38 到3.40E +38。 每个REAL类型的数据占用4 个字节的存储空间。</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3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FLOAT 数据类型可精确到第15 位小数，其范围为从-1.79E -308 到1.79E +308。 每个FLOAT 类型的数据占用8 个字节的存储空间。 </a:t>
            </a:r>
            <a:endParaRPr lang="zh-CN" altLang="en-US" sz="2200" dirty="0">
              <a:latin typeface="楷体" panose="02010609060101010101" pitchFamily="49" charset="-122"/>
              <a:ea typeface="楷体" panose="02010609060101010101" pitchFamily="49" charset="-122"/>
            </a:endParaRPr>
          </a:p>
        </p:txBody>
      </p:sp>
      <p:sp>
        <p:nvSpPr>
          <p:cNvPr id="49156"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4915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文本框 1"/>
          <p:cNvSpPr txBox="1"/>
          <p:nvPr/>
        </p:nvSpPr>
        <p:spPr>
          <a:xfrm>
            <a:off x="665163" y="3568700"/>
            <a:ext cx="8021637" cy="2352675"/>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ts val="2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char是固定长度的字符串，不足长度时会用空格补足，长度0-255； 比如char(20)，如果实际数据是"123"，则会自动补17个空格；</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varchar是可变长度的字符串，不足时不会补空格，超过时会自动截断，长度0-255；</a:t>
            </a:r>
            <a:endParaRPr lang="zh-CN" altLang="en-US" sz="2200" dirty="0">
              <a:latin typeface="楷体" panose="02010609060101010101" pitchFamily="49" charset="-122"/>
              <a:ea typeface="楷体" panose="02010609060101010101" pitchFamily="49" charset="-122"/>
            </a:endParaRPr>
          </a:p>
          <a:p>
            <a:pPr marL="342900" lvl="0" indent="-342900" eaLnBrk="1" hangingPunct="1">
              <a:lnSpc>
                <a:spcPct val="110000"/>
              </a:lnSpc>
              <a:spcBef>
                <a:spcPts val="200"/>
              </a:spcBef>
              <a:buClrTx/>
              <a:buSzTx/>
              <a:buFont typeface="Wingdings" panose="05000000000000000000" pitchFamily="2" charset="2"/>
              <a:buChar char="ü"/>
            </a:pPr>
            <a:r>
              <a:rPr lang="zh-CN" altLang="en-US" sz="2200" dirty="0">
                <a:latin typeface="楷体" panose="02010609060101010101" pitchFamily="49" charset="-122"/>
                <a:ea typeface="楷体" panose="02010609060101010101" pitchFamily="49" charset="-122"/>
              </a:rPr>
              <a:t>TEXT存放最大长度为 65,535 个字符的字符串。</a:t>
            </a:r>
            <a:endParaRPr lang="zh-CN" altLang="en-US" dirty="0"/>
          </a:p>
        </p:txBody>
      </p:sp>
      <p:sp>
        <p:nvSpPr>
          <p:cNvPr id="50179" name="文本占位符 109570"/>
          <p:cNvSpPr>
            <a:spLocks noGrp="1"/>
          </p:cNvSpPr>
          <p:nvPr/>
        </p:nvSpPr>
        <p:spPr>
          <a:xfrm>
            <a:off x="665163" y="1479550"/>
            <a:ext cx="7958137" cy="18415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5000"/>
              </a:lnSpc>
              <a:spcBef>
                <a:spcPct val="0"/>
              </a:spcBef>
              <a:buClrTx/>
              <a:buSzTx/>
              <a:buNone/>
            </a:pPr>
            <a:r>
              <a:rPr lang="zh-CN" altLang="en-US" sz="2400" dirty="0"/>
              <a:t>      （</a:t>
            </a:r>
            <a:r>
              <a:rPr lang="en-US" altLang="zh-CN" sz="2400" dirty="0"/>
              <a:t>3</a:t>
            </a:r>
            <a:r>
              <a:rPr lang="zh-CN" altLang="en-US" sz="2400" dirty="0"/>
              <a:t>）</a:t>
            </a:r>
            <a:r>
              <a:rPr lang="zh-CN" altLang="en-US" sz="2400" u="sng" dirty="0">
                <a:solidFill>
                  <a:srgbClr val="0033CC"/>
                </a:solidFill>
              </a:rPr>
              <a:t>字符数据类型：</a:t>
            </a:r>
            <a:r>
              <a:rPr lang="zh-CN" altLang="en-US" sz="2100" dirty="0"/>
              <a:t>可以用来存储各种含字母、数字和符号组成的字符串。在</a:t>
            </a:r>
            <a:r>
              <a:rPr lang="en-US" altLang="zh-CN" sz="2100" dirty="0"/>
              <a:t>SQL</a:t>
            </a:r>
            <a:r>
              <a:rPr lang="zh-CN" altLang="en-US" sz="2100" dirty="0"/>
              <a:t>中输入字符数据时，必须将数据引在单引号中，否则</a:t>
            </a:r>
            <a:r>
              <a:rPr lang="en-US" altLang="zh-CN" sz="2100" dirty="0"/>
              <a:t>SQL</a:t>
            </a:r>
            <a:r>
              <a:rPr lang="zh-CN" altLang="en-US" sz="2100" dirty="0"/>
              <a:t>不能接受该字符数据。</a:t>
            </a:r>
            <a:r>
              <a:rPr lang="zh-CN" altLang="en-US" sz="2100" u="sng" dirty="0">
                <a:solidFill>
                  <a:srgbClr val="0033CC"/>
                </a:solidFill>
              </a:rPr>
              <a:t>提供了</a:t>
            </a:r>
            <a:r>
              <a:rPr lang="en-US" altLang="zh-CN" sz="2100" u="sng" dirty="0">
                <a:solidFill>
                  <a:srgbClr val="0033CC"/>
                </a:solidFill>
              </a:rPr>
              <a:t>CHAR</a:t>
            </a:r>
            <a:r>
              <a:rPr lang="zh-CN" altLang="en-US" sz="2100" u="sng" dirty="0">
                <a:solidFill>
                  <a:srgbClr val="0033CC"/>
                </a:solidFill>
              </a:rPr>
              <a:t>、</a:t>
            </a:r>
            <a:r>
              <a:rPr lang="en-US" altLang="zh-CN" sz="2100" u="sng" dirty="0">
                <a:solidFill>
                  <a:srgbClr val="0033CC"/>
                </a:solidFill>
              </a:rPr>
              <a:t>VARCHAR</a:t>
            </a:r>
            <a:r>
              <a:rPr lang="zh-CN" altLang="en-US" sz="2100" u="sng" dirty="0">
                <a:solidFill>
                  <a:srgbClr val="0033CC"/>
                </a:solidFill>
              </a:rPr>
              <a:t>、</a:t>
            </a:r>
            <a:r>
              <a:rPr lang="en-US" altLang="zh-CN" sz="2100" u="sng" dirty="0">
                <a:solidFill>
                  <a:srgbClr val="0033CC"/>
                </a:solidFill>
              </a:rPr>
              <a:t>TEXT</a:t>
            </a:r>
            <a:r>
              <a:rPr lang="zh-CN" altLang="en-US" sz="2100" u="sng" dirty="0">
                <a:solidFill>
                  <a:srgbClr val="0033CC"/>
                </a:solidFill>
              </a:rPr>
              <a:t>、</a:t>
            </a:r>
            <a:r>
              <a:rPr lang="en-US" altLang="zh-CN" sz="2100" u="sng" dirty="0">
                <a:solidFill>
                  <a:srgbClr val="0033CC"/>
                </a:solidFill>
              </a:rPr>
              <a:t>NCHAR</a:t>
            </a:r>
            <a:r>
              <a:rPr lang="zh-CN" altLang="en-US" sz="2100" u="sng" dirty="0">
                <a:solidFill>
                  <a:srgbClr val="0033CC"/>
                </a:solidFill>
              </a:rPr>
              <a:t>、</a:t>
            </a:r>
            <a:r>
              <a:rPr lang="en-US" altLang="zh-CN" sz="2100" u="sng" dirty="0">
                <a:solidFill>
                  <a:srgbClr val="0033CC"/>
                </a:solidFill>
              </a:rPr>
              <a:t>NVARCHAR</a:t>
            </a:r>
            <a:r>
              <a:rPr lang="zh-CN" altLang="en-US" sz="2100" u="sng" dirty="0">
                <a:solidFill>
                  <a:srgbClr val="0033CC"/>
                </a:solidFill>
              </a:rPr>
              <a:t>和</a:t>
            </a:r>
            <a:r>
              <a:rPr lang="en-US" altLang="zh-CN" sz="2100" u="sng" dirty="0">
                <a:solidFill>
                  <a:srgbClr val="0033CC"/>
                </a:solidFill>
              </a:rPr>
              <a:t>NTEXT 6</a:t>
            </a:r>
            <a:r>
              <a:rPr lang="zh-CN" altLang="en-US" sz="2100" u="sng" dirty="0">
                <a:solidFill>
                  <a:srgbClr val="0033CC"/>
                </a:solidFill>
              </a:rPr>
              <a:t>种数据类型</a:t>
            </a:r>
            <a:r>
              <a:rPr lang="zh-CN" altLang="en-US" sz="2100" dirty="0"/>
              <a:t>。前3种数据类型是非Unicode字符数据，后3种是Unicode字符数据。</a:t>
            </a:r>
            <a:endParaRPr lang="zh-CN" altLang="en-US" sz="2100" dirty="0"/>
          </a:p>
        </p:txBody>
      </p:sp>
      <p:sp>
        <p:nvSpPr>
          <p:cNvPr id="50180"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018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6" name="矩形 5"/>
          <p:cNvSpPr/>
          <p:nvPr/>
        </p:nvSpPr>
        <p:spPr>
          <a:xfrm>
            <a:off x="457200" y="3568700"/>
            <a:ext cx="8318500" cy="2462213"/>
          </a:xfrm>
          <a:prstGeom prst="rect">
            <a:avLst/>
          </a:prstGeom>
          <a:solidFill>
            <a:srgbClr val="FFFF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2200" dirty="0">
                <a:latin typeface="Söhne"/>
              </a:rPr>
              <a:t>由于</a:t>
            </a:r>
            <a:r>
              <a:rPr lang="en-US" altLang="zh-CN" sz="2200" dirty="0">
                <a:latin typeface="Söhne"/>
              </a:rPr>
              <a:t>char</a:t>
            </a:r>
            <a:r>
              <a:rPr lang="zh-CN" altLang="en-US" sz="2200" dirty="0">
                <a:latin typeface="Söhne"/>
              </a:rPr>
              <a:t>类型使用的是</a:t>
            </a:r>
            <a:r>
              <a:rPr lang="en-US" altLang="zh-CN" sz="2200" dirty="0">
                <a:latin typeface="Söhne"/>
              </a:rPr>
              <a:t>ASCII</a:t>
            </a:r>
            <a:r>
              <a:rPr lang="zh-CN" altLang="en-US" sz="2200" dirty="0">
                <a:latin typeface="Söhne"/>
              </a:rPr>
              <a:t>字符集，而</a:t>
            </a:r>
            <a:r>
              <a:rPr lang="en-US" altLang="zh-CN" sz="2200" dirty="0">
                <a:latin typeface="Söhne"/>
              </a:rPr>
              <a:t>nchar</a:t>
            </a:r>
            <a:r>
              <a:rPr lang="zh-CN" altLang="en-US" sz="2200" dirty="0">
                <a:latin typeface="Söhne"/>
              </a:rPr>
              <a:t>类型使用的是</a:t>
            </a:r>
            <a:r>
              <a:rPr lang="en-US" altLang="zh-CN" sz="2200" dirty="0">
                <a:latin typeface="Söhne"/>
              </a:rPr>
              <a:t>Unicode</a:t>
            </a:r>
            <a:r>
              <a:rPr lang="zh-CN" altLang="en-US" sz="2200" dirty="0">
                <a:latin typeface="Söhne"/>
              </a:rPr>
              <a:t>字符集，因此在选择类型时需要根据实际需要来决定。如果需要存储的字符串仅包含</a:t>
            </a:r>
            <a:r>
              <a:rPr lang="en-US" altLang="zh-CN" sz="2200" dirty="0">
                <a:latin typeface="Söhne"/>
              </a:rPr>
              <a:t>ASCII</a:t>
            </a:r>
            <a:r>
              <a:rPr lang="zh-CN" altLang="en-US" sz="2200" dirty="0">
                <a:latin typeface="Söhne"/>
              </a:rPr>
              <a:t>字符，可以选择</a:t>
            </a:r>
            <a:r>
              <a:rPr lang="en-US" altLang="zh-CN" sz="2200" dirty="0">
                <a:latin typeface="Söhne"/>
              </a:rPr>
              <a:t>char</a:t>
            </a:r>
            <a:r>
              <a:rPr lang="zh-CN" altLang="en-US" sz="2200" dirty="0">
                <a:latin typeface="Söhne"/>
              </a:rPr>
              <a:t>类型，因为它使用单字节存储，能够更加节省空间。如果需要存储的字符串包含非</a:t>
            </a:r>
            <a:r>
              <a:rPr lang="en-US" altLang="zh-CN" sz="2200" dirty="0">
                <a:latin typeface="Söhne"/>
              </a:rPr>
              <a:t>ASCII</a:t>
            </a:r>
            <a:r>
              <a:rPr lang="zh-CN" altLang="en-US" sz="2200" dirty="0">
                <a:latin typeface="Söhne"/>
              </a:rPr>
              <a:t>字符，例如中文、日文、韩文等，应该选择 </a:t>
            </a:r>
            <a:r>
              <a:rPr lang="en-US" altLang="zh-CN" sz="2200" dirty="0">
                <a:latin typeface="Söhne"/>
              </a:rPr>
              <a:t>nchar </a:t>
            </a:r>
            <a:r>
              <a:rPr lang="zh-CN" altLang="en-US" sz="2200" dirty="0">
                <a:latin typeface="Söhne"/>
              </a:rPr>
              <a:t>类型，因为它使用双字节存储，可以正确存储各种字符集的字符，避免出现乱码等问题。</a:t>
            </a:r>
            <a:endParaRPr lang="zh-CN" altLang="en-US" sz="22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文本占位符 109570"/>
          <p:cNvSpPr>
            <a:spLocks noGrp="1"/>
          </p:cNvSpPr>
          <p:nvPr/>
        </p:nvSpPr>
        <p:spPr>
          <a:xfrm>
            <a:off x="665163" y="1476375"/>
            <a:ext cx="7958137" cy="18415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5000"/>
              </a:lnSpc>
              <a:spcBef>
                <a:spcPct val="0"/>
              </a:spcBef>
              <a:buClrTx/>
              <a:buSzTx/>
              <a:buNone/>
            </a:pPr>
            <a:r>
              <a:rPr lang="zh-CN" altLang="en-US" sz="2400" dirty="0"/>
              <a:t>      （</a:t>
            </a:r>
            <a:r>
              <a:rPr lang="en-US" altLang="zh-CN" sz="2400" dirty="0"/>
              <a:t>4</a:t>
            </a:r>
            <a:r>
              <a:rPr lang="zh-CN" altLang="en-US" sz="2400" dirty="0"/>
              <a:t>）</a:t>
            </a:r>
            <a:r>
              <a:rPr lang="zh-CN" altLang="en-US" sz="2400" u="sng" dirty="0">
                <a:solidFill>
                  <a:srgbClr val="0033CC"/>
                </a:solidFill>
              </a:rPr>
              <a:t>日期和时间数据类型：</a:t>
            </a:r>
            <a:r>
              <a:rPr lang="zh-CN" altLang="en-US" sz="2100" dirty="0"/>
              <a:t>用于存储日期和时间数据。它有下面两种形式，区别在于存储长度所代表的时间范围和存储精确度的不同。</a:t>
            </a:r>
            <a:endParaRPr lang="zh-CN" altLang="en-US" sz="2100" dirty="0"/>
          </a:p>
        </p:txBody>
      </p:sp>
      <p:sp>
        <p:nvSpPr>
          <p:cNvPr id="51203" name="文本框 1"/>
          <p:cNvSpPr txBox="1"/>
          <p:nvPr/>
        </p:nvSpPr>
        <p:spPr>
          <a:xfrm>
            <a:off x="693738" y="2774950"/>
            <a:ext cx="7900987" cy="3246438"/>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85750" lvl="0" indent="-285750" eaLnBrk="1" hangingPunct="1">
              <a:lnSpc>
                <a:spcPct val="115000"/>
              </a:lnSpc>
              <a:spcBef>
                <a:spcPct val="0"/>
              </a:spcBef>
              <a:buClrTx/>
              <a:buSzTx/>
              <a:buFont typeface="Wingdings" panose="05000000000000000000" pitchFamily="2" charset="2"/>
              <a:buChar char="ü"/>
            </a:pPr>
            <a:r>
              <a:rPr lang="en-US" altLang="zh-CN" dirty="0">
                <a:latin typeface="楷体" panose="02010609060101010101" pitchFamily="49" charset="-122"/>
                <a:ea typeface="楷体" panose="02010609060101010101" pitchFamily="49" charset="-122"/>
              </a:rPr>
              <a:t>Datetime: </a:t>
            </a:r>
            <a:r>
              <a:rPr lang="zh-CN" altLang="en-US" dirty="0">
                <a:latin typeface="楷体" panose="02010609060101010101" pitchFamily="49" charset="-122"/>
                <a:ea typeface="楷体" panose="02010609060101010101" pitchFamily="49" charset="-122"/>
              </a:rPr>
              <a:t>用于存储日期和时间的结合体。格式：YYYY-MM-DD hh:mm:ss[.nnn]，范围：1753-01-01 到 9999-12-31，精度：0.00333秒，存储占</a:t>
            </a:r>
            <a:r>
              <a:rPr lang="en-US" altLang="zh-CN" dirty="0">
                <a:latin typeface="楷体" panose="02010609060101010101" pitchFamily="49" charset="-122"/>
                <a:ea typeface="楷体" panose="02010609060101010101" pitchFamily="49" charset="-122"/>
              </a:rPr>
              <a:t>8</a:t>
            </a:r>
            <a:r>
              <a:rPr lang="zh-CN" altLang="en-US" dirty="0">
                <a:latin typeface="楷体" panose="02010609060101010101" pitchFamily="49" charset="-122"/>
                <a:ea typeface="楷体" panose="02010609060101010101" pitchFamily="49" charset="-122"/>
              </a:rPr>
              <a:t>个字节；</a:t>
            </a:r>
            <a:endParaRPr lang="zh-CN" altLang="en-US" dirty="0">
              <a:latin typeface="楷体" panose="02010609060101010101" pitchFamily="49" charset="-122"/>
              <a:ea typeface="楷体" panose="02010609060101010101" pitchFamily="49" charset="-122"/>
            </a:endParaRPr>
          </a:p>
          <a:p>
            <a:pPr marL="285750" lvl="0" indent="-285750" eaLnBrk="1" hangingPunct="1">
              <a:lnSpc>
                <a:spcPct val="115000"/>
              </a:lnSpc>
              <a:spcBef>
                <a:spcPct val="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rPr>
              <a:t>smalldatetime：格式：YYYY-MM-DD hh:mm:ss ，范围：1900-01-01 到 2079-06-06，</a:t>
            </a:r>
            <a:r>
              <a:rPr lang="zh-CN" altLang="en-US" dirty="0">
                <a:latin typeface="楷体" panose="02010609060101010101" pitchFamily="49" charset="-122"/>
                <a:ea typeface="楷体" panose="02010609060101010101" pitchFamily="49" charset="-122"/>
                <a:sym typeface="宋体" panose="02010600030101010101" pitchFamily="2" charset="-122"/>
              </a:rPr>
              <a:t>精度：</a:t>
            </a:r>
            <a:r>
              <a:rPr lang="en-US" altLang="zh-CN" dirty="0">
                <a:latin typeface="楷体" panose="02010609060101010101" pitchFamily="49" charset="-122"/>
                <a:ea typeface="楷体" panose="02010609060101010101" pitchFamily="49" charset="-122"/>
                <a:sym typeface="宋体" panose="02010600030101010101" pitchFamily="2" charset="-122"/>
              </a:rPr>
              <a:t>1</a:t>
            </a:r>
            <a:r>
              <a:rPr lang="zh-CN" altLang="en-US" dirty="0">
                <a:latin typeface="楷体" panose="02010609060101010101" pitchFamily="49" charset="-122"/>
                <a:ea typeface="楷体" panose="02010609060101010101" pitchFamily="49" charset="-122"/>
                <a:sym typeface="宋体" panose="02010600030101010101" pitchFamily="2" charset="-122"/>
              </a:rPr>
              <a:t>分钟，存储占</a:t>
            </a:r>
            <a:r>
              <a:rPr lang="en-US" altLang="zh-CN" dirty="0">
                <a:latin typeface="楷体" panose="02010609060101010101" pitchFamily="49" charset="-122"/>
                <a:ea typeface="楷体" panose="02010609060101010101" pitchFamily="49" charset="-122"/>
                <a:sym typeface="宋体" panose="02010600030101010101" pitchFamily="2" charset="-122"/>
              </a:rPr>
              <a:t>4</a:t>
            </a:r>
            <a:r>
              <a:rPr lang="zh-CN" altLang="en-US" dirty="0">
                <a:latin typeface="楷体" panose="02010609060101010101" pitchFamily="49" charset="-122"/>
                <a:ea typeface="楷体" panose="02010609060101010101" pitchFamily="49" charset="-122"/>
                <a:sym typeface="宋体" panose="02010600030101010101" pitchFamily="2" charset="-122"/>
              </a:rPr>
              <a:t>个字节；</a:t>
            </a:r>
            <a:endParaRPr lang="zh-CN" altLang="en-US" dirty="0">
              <a:latin typeface="楷体" panose="02010609060101010101" pitchFamily="49" charset="-122"/>
              <a:ea typeface="楷体" panose="02010609060101010101" pitchFamily="49" charset="-122"/>
              <a:sym typeface="宋体" panose="02010600030101010101" pitchFamily="2" charset="-122"/>
            </a:endParaRPr>
          </a:p>
          <a:p>
            <a:pPr marL="285750" lvl="0" indent="-285750" eaLnBrk="1" hangingPunct="1">
              <a:lnSpc>
                <a:spcPct val="115000"/>
              </a:lnSpc>
              <a:spcBef>
                <a:spcPct val="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sym typeface="宋体" panose="02010600030101010101" pitchFamily="2" charset="-122"/>
              </a:rPr>
              <a:t>date：格式YYYY-MM-DD，0001-01-01 到 9999-12-31，精度：</a:t>
            </a:r>
            <a:r>
              <a:rPr lang="en-US" altLang="zh-CN" dirty="0">
                <a:latin typeface="楷体" panose="02010609060101010101" pitchFamily="49" charset="-122"/>
                <a:ea typeface="楷体" panose="02010609060101010101" pitchFamily="49" charset="-122"/>
                <a:sym typeface="宋体" panose="02010600030101010101" pitchFamily="2" charset="-122"/>
              </a:rPr>
              <a:t>1</a:t>
            </a:r>
            <a:r>
              <a:rPr lang="zh-CN" altLang="en-US" dirty="0">
                <a:latin typeface="楷体" panose="02010609060101010101" pitchFamily="49" charset="-122"/>
                <a:ea typeface="楷体" panose="02010609060101010101" pitchFamily="49" charset="-122"/>
                <a:sym typeface="宋体" panose="02010600030101010101" pitchFamily="2" charset="-122"/>
              </a:rPr>
              <a:t>天，存储占</a:t>
            </a:r>
            <a:r>
              <a:rPr lang="en-US" altLang="zh-CN" dirty="0">
                <a:latin typeface="楷体" panose="02010609060101010101" pitchFamily="49" charset="-122"/>
                <a:ea typeface="楷体" panose="02010609060101010101" pitchFamily="49" charset="-122"/>
                <a:sym typeface="宋体" panose="02010600030101010101" pitchFamily="2" charset="-122"/>
              </a:rPr>
              <a:t>3</a:t>
            </a:r>
            <a:r>
              <a:rPr lang="zh-CN" altLang="en-US" dirty="0">
                <a:latin typeface="楷体" panose="02010609060101010101" pitchFamily="49" charset="-122"/>
                <a:ea typeface="楷体" panose="02010609060101010101" pitchFamily="49" charset="-122"/>
                <a:sym typeface="宋体" panose="02010600030101010101" pitchFamily="2" charset="-122"/>
              </a:rPr>
              <a:t>个字节；</a:t>
            </a:r>
            <a:endParaRPr lang="zh-CN" altLang="en-US" dirty="0">
              <a:latin typeface="楷体" panose="02010609060101010101" pitchFamily="49" charset="-122"/>
              <a:ea typeface="楷体" panose="02010609060101010101" pitchFamily="49" charset="-122"/>
              <a:sym typeface="宋体" panose="02010600030101010101" pitchFamily="2" charset="-122"/>
            </a:endParaRPr>
          </a:p>
          <a:p>
            <a:pPr marL="285750" lvl="0" indent="-285750" eaLnBrk="1" hangingPunct="1">
              <a:lnSpc>
                <a:spcPct val="115000"/>
              </a:lnSpc>
              <a:spcBef>
                <a:spcPct val="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sym typeface="宋体" panose="02010600030101010101" pitchFamily="2" charset="-122"/>
              </a:rPr>
              <a:t>time：格式：hh:mm:ss[.nnnnnnn]，范围：00:00:00.0000000 到23:59:59.9999999 ，精度：</a:t>
            </a:r>
            <a:r>
              <a:rPr lang="en-US" altLang="zh-CN" dirty="0">
                <a:latin typeface="楷体" panose="02010609060101010101" pitchFamily="49" charset="-122"/>
                <a:ea typeface="楷体" panose="02010609060101010101" pitchFamily="49" charset="-122"/>
                <a:sym typeface="宋体" panose="02010600030101010101" pitchFamily="2" charset="-122"/>
              </a:rPr>
              <a:t>100</a:t>
            </a:r>
            <a:r>
              <a:rPr lang="zh-CN" altLang="en-US" dirty="0">
                <a:latin typeface="楷体" panose="02010609060101010101" pitchFamily="49" charset="-122"/>
                <a:ea typeface="楷体" panose="02010609060101010101" pitchFamily="49" charset="-122"/>
                <a:sym typeface="宋体" panose="02010600030101010101" pitchFamily="2" charset="-122"/>
              </a:rPr>
              <a:t>纳秒，存储占</a:t>
            </a:r>
            <a:r>
              <a:rPr lang="en-US" altLang="zh-CN" dirty="0">
                <a:latin typeface="楷体" panose="02010609060101010101" pitchFamily="49" charset="-122"/>
                <a:ea typeface="楷体" panose="02010609060101010101" pitchFamily="49" charset="-122"/>
                <a:sym typeface="宋体" panose="02010600030101010101" pitchFamily="2" charset="-122"/>
              </a:rPr>
              <a:t>3-5</a:t>
            </a:r>
            <a:r>
              <a:rPr lang="zh-CN" altLang="en-US" dirty="0">
                <a:latin typeface="楷体" panose="02010609060101010101" pitchFamily="49" charset="-122"/>
                <a:ea typeface="楷体" panose="02010609060101010101" pitchFamily="49" charset="-122"/>
                <a:sym typeface="宋体" panose="02010600030101010101" pitchFamily="2" charset="-122"/>
              </a:rPr>
              <a:t>个字节。</a:t>
            </a:r>
            <a:endParaRPr lang="en-US" altLang="zh-CN" dirty="0">
              <a:latin typeface="楷体" panose="02010609060101010101" pitchFamily="49" charset="-122"/>
              <a:ea typeface="楷体" panose="02010609060101010101" pitchFamily="49" charset="-122"/>
              <a:sym typeface="宋体" panose="02010600030101010101" pitchFamily="2" charset="-122"/>
            </a:endParaRPr>
          </a:p>
        </p:txBody>
      </p:sp>
      <p:sp>
        <p:nvSpPr>
          <p:cNvPr id="51204"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120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文本占位符 109570"/>
          <p:cNvSpPr>
            <a:spLocks noGrp="1"/>
          </p:cNvSpPr>
          <p:nvPr/>
        </p:nvSpPr>
        <p:spPr>
          <a:xfrm>
            <a:off x="665163" y="1439863"/>
            <a:ext cx="7958137" cy="1841500"/>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20000"/>
              </a:lnSpc>
              <a:spcBef>
                <a:spcPct val="0"/>
              </a:spcBef>
              <a:spcAft>
                <a:spcPts val="40"/>
              </a:spcAft>
              <a:buClrTx/>
              <a:buSzTx/>
              <a:buNone/>
            </a:pPr>
            <a:r>
              <a:rPr lang="zh-CN" altLang="en-US" sz="2400" dirty="0"/>
              <a:t>      （</a:t>
            </a:r>
            <a:r>
              <a:rPr lang="en-US" altLang="zh-CN" sz="2400" dirty="0"/>
              <a:t>5</a:t>
            </a:r>
            <a:r>
              <a:rPr lang="zh-CN" altLang="en-US" sz="2400" dirty="0"/>
              <a:t>）</a:t>
            </a:r>
            <a:r>
              <a:rPr lang="zh-CN" altLang="en-US" sz="2400" u="sng" dirty="0">
                <a:solidFill>
                  <a:srgbClr val="0033CC"/>
                </a:solidFill>
              </a:rPr>
              <a:t>货币数据类型：</a:t>
            </a:r>
            <a:r>
              <a:rPr lang="zh-CN" altLang="en-US" sz="2100" dirty="0">
                <a:sym typeface="宋体" panose="02010600030101010101" pitchFamily="2" charset="-122"/>
              </a:rPr>
              <a:t>用于存储货币或现金值，包括</a:t>
            </a:r>
            <a:r>
              <a:rPr lang="en-US" altLang="zh-CN" sz="2100" dirty="0">
                <a:sym typeface="宋体" panose="02010600030101010101" pitchFamily="2" charset="-122"/>
              </a:rPr>
              <a:t>money</a:t>
            </a:r>
            <a:r>
              <a:rPr lang="zh-CN" altLang="en-US" sz="2100" dirty="0">
                <a:sym typeface="宋体" panose="02010600030101010101" pitchFamily="2" charset="-122"/>
              </a:rPr>
              <a:t>型和</a:t>
            </a:r>
            <a:r>
              <a:rPr lang="en-US" altLang="zh-CN" sz="2100" dirty="0">
                <a:sym typeface="宋体" panose="02010600030101010101" pitchFamily="2" charset="-122"/>
              </a:rPr>
              <a:t>smallmoney</a:t>
            </a:r>
            <a:r>
              <a:rPr lang="zh-CN" altLang="en-US" sz="2100" dirty="0">
                <a:sym typeface="宋体" panose="02010600030101010101" pitchFamily="2" charset="-122"/>
              </a:rPr>
              <a:t>型。在使用货币数据类型时，应在数据前加上货币符号，以便系统辨识其为哪国的货币，如果不加货币符号，则系统默认为“￥”。</a:t>
            </a:r>
            <a:endParaRPr lang="zh-CN" altLang="en-US" sz="2100" dirty="0"/>
          </a:p>
        </p:txBody>
      </p:sp>
      <p:sp>
        <p:nvSpPr>
          <p:cNvPr id="52227" name="文本框 2"/>
          <p:cNvSpPr txBox="1"/>
          <p:nvPr/>
        </p:nvSpPr>
        <p:spPr>
          <a:xfrm>
            <a:off x="665163" y="3103563"/>
            <a:ext cx="7958137" cy="1592262"/>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ts val="30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rPr>
              <a:t>smallmoney货币数据值介于 -2</a:t>
            </a:r>
            <a:r>
              <a:rPr lang="en-US" altLang="zh-CN" dirty="0">
                <a:latin typeface="楷体" panose="02010609060101010101" pitchFamily="49" charset="-122"/>
                <a:ea typeface="楷体" panose="02010609060101010101" pitchFamily="49" charset="-122"/>
              </a:rPr>
              <a:t>^31</a:t>
            </a:r>
            <a:r>
              <a:rPr lang="zh-CN" altLang="en-US" dirty="0">
                <a:latin typeface="楷体" panose="02010609060101010101" pitchFamily="49" charset="-122"/>
                <a:ea typeface="楷体" panose="02010609060101010101" pitchFamily="49" charset="-122"/>
              </a:rPr>
              <a:t> 与 +2</a:t>
            </a:r>
            <a:r>
              <a:rPr lang="en-US" altLang="zh-CN" dirty="0">
                <a:latin typeface="楷体" panose="02010609060101010101" pitchFamily="49" charset="-122"/>
                <a:ea typeface="楷体" panose="02010609060101010101" pitchFamily="49" charset="-122"/>
              </a:rPr>
              <a:t>^31-1</a:t>
            </a:r>
            <a:r>
              <a:rPr lang="zh-CN" altLang="en-US" dirty="0">
                <a:latin typeface="楷体" panose="02010609060101010101" pitchFamily="49" charset="-122"/>
                <a:ea typeface="楷体" panose="02010609060101010101" pitchFamily="49" charset="-122"/>
              </a:rPr>
              <a:t> 之间，其精度为10，小数位数为4，长度为4字节。</a:t>
            </a:r>
            <a:endParaRPr lang="zh-CN" altLang="en-US" dirty="0">
              <a:latin typeface="楷体" panose="02010609060101010101" pitchFamily="49" charset="-122"/>
              <a:ea typeface="楷体" panose="02010609060101010101" pitchFamily="49" charset="-122"/>
            </a:endParaRPr>
          </a:p>
          <a:p>
            <a:pPr marL="342900" lvl="0" indent="-342900" eaLnBrk="1" hangingPunct="1">
              <a:lnSpc>
                <a:spcPct val="120000"/>
              </a:lnSpc>
              <a:spcBef>
                <a:spcPts val="300"/>
              </a:spcBef>
              <a:buClrTx/>
              <a:buSzTx/>
              <a:buFont typeface="Wingdings" panose="05000000000000000000" pitchFamily="2" charset="2"/>
              <a:buChar char="ü"/>
            </a:pPr>
            <a:r>
              <a:rPr lang="zh-CN" altLang="en-US" dirty="0">
                <a:latin typeface="楷体" panose="02010609060101010101" pitchFamily="49" charset="-122"/>
                <a:ea typeface="楷体" panose="02010609060101010101" pitchFamily="49" charset="-122"/>
              </a:rPr>
              <a:t>Money数据类型数据的数范围为-2</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63～2</a:t>
            </a:r>
            <a:r>
              <a:rPr lang="en-US" altLang="zh-CN"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63-1，其精度为19，小数位数为4，长度为8字节。</a:t>
            </a:r>
            <a:endParaRPr lang="zh-CN" altLang="en-US" dirty="0">
              <a:latin typeface="楷体" panose="02010609060101010101" pitchFamily="49" charset="-122"/>
              <a:ea typeface="楷体" panose="02010609060101010101" pitchFamily="49" charset="-122"/>
            </a:endParaRPr>
          </a:p>
        </p:txBody>
      </p:sp>
      <p:sp>
        <p:nvSpPr>
          <p:cNvPr id="52228" name="文本占位符 109570"/>
          <p:cNvSpPr>
            <a:spLocks noGrp="1"/>
          </p:cNvSpPr>
          <p:nvPr/>
        </p:nvSpPr>
        <p:spPr>
          <a:xfrm>
            <a:off x="593725" y="4787900"/>
            <a:ext cx="7956550" cy="1274763"/>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a:lnSpc>
                <a:spcPct val="120000"/>
              </a:lnSpc>
              <a:spcBef>
                <a:spcPct val="0"/>
              </a:spcBef>
              <a:spcAft>
                <a:spcPts val="40"/>
              </a:spcAft>
              <a:buClrTx/>
              <a:buSzTx/>
              <a:buNone/>
            </a:pPr>
            <a:r>
              <a:rPr lang="zh-CN" altLang="en-US" sz="2400" dirty="0"/>
              <a:t>      （</a:t>
            </a:r>
            <a:r>
              <a:rPr lang="en-US" altLang="zh-CN" sz="2400" dirty="0"/>
              <a:t>6</a:t>
            </a:r>
            <a:r>
              <a:rPr lang="zh-CN" altLang="en-US" sz="2400" dirty="0"/>
              <a:t>）</a:t>
            </a:r>
            <a:r>
              <a:rPr lang="zh-CN" altLang="en-US" sz="2400" u="sng" dirty="0">
                <a:solidFill>
                  <a:srgbClr val="0033CC"/>
                </a:solidFill>
              </a:rPr>
              <a:t>位数据类型：</a:t>
            </a:r>
            <a:r>
              <a:rPr lang="zh-CN" altLang="en-US" sz="2100" dirty="0">
                <a:sym typeface="宋体" panose="02010600030101010101" pitchFamily="2" charset="-122"/>
              </a:rPr>
              <a:t>bit称为位数据类型，只取0或1为值，长度1字节。bit值经常当作逻辑值用于判断true(1)或false(0),输入非0值时系统将其替换为1。</a:t>
            </a:r>
            <a:endParaRPr lang="zh-CN" altLang="en-US" sz="2100" dirty="0">
              <a:sym typeface="宋体" panose="02010600030101010101" pitchFamily="2" charset="-122"/>
            </a:endParaRPr>
          </a:p>
        </p:txBody>
      </p:sp>
      <p:sp>
        <p:nvSpPr>
          <p:cNvPr id="52229"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223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7" name="矩形 6"/>
          <p:cNvSpPr/>
          <p:nvPr/>
        </p:nvSpPr>
        <p:spPr>
          <a:xfrm>
            <a:off x="665163" y="1309688"/>
            <a:ext cx="8189912" cy="3478212"/>
          </a:xfrm>
          <a:prstGeom prst="rect">
            <a:avLst/>
          </a:prstGeom>
          <a:solidFill>
            <a:srgbClr val="FFFF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 typeface="Arial" panose="020B0604020202020204" pitchFamily="34" charset="0"/>
              <a:buAutoNum type="arabicPeriod"/>
            </a:pPr>
            <a:r>
              <a:rPr lang="zh-CN" altLang="en-US" dirty="0">
                <a:latin typeface="Söhne"/>
              </a:rPr>
              <a:t>精度高：</a:t>
            </a:r>
            <a:r>
              <a:rPr lang="en-US" altLang="zh-CN" dirty="0">
                <a:latin typeface="Söhne"/>
              </a:rPr>
              <a:t>money </a:t>
            </a:r>
            <a:r>
              <a:rPr lang="zh-CN" altLang="en-US" dirty="0">
                <a:latin typeface="Söhne"/>
              </a:rPr>
              <a:t>类型使用 </a:t>
            </a:r>
            <a:r>
              <a:rPr lang="en-US" altLang="zh-CN" dirty="0">
                <a:latin typeface="Söhne"/>
              </a:rPr>
              <a:t>8 </a:t>
            </a:r>
            <a:r>
              <a:rPr lang="zh-CN" altLang="en-US" dirty="0">
                <a:latin typeface="Söhne"/>
              </a:rPr>
              <a:t>个字节存储，可以存储小数点前 </a:t>
            </a:r>
            <a:r>
              <a:rPr lang="en-US" altLang="zh-CN" dirty="0">
                <a:latin typeface="Söhne"/>
              </a:rPr>
              <a:t>19 </a:t>
            </a:r>
            <a:r>
              <a:rPr lang="zh-CN" altLang="en-US" dirty="0">
                <a:latin typeface="Söhne"/>
              </a:rPr>
              <a:t>位和小数点后 </a:t>
            </a:r>
            <a:r>
              <a:rPr lang="en-US" altLang="zh-CN" dirty="0">
                <a:latin typeface="Söhne"/>
              </a:rPr>
              <a:t>4 </a:t>
            </a:r>
            <a:r>
              <a:rPr lang="zh-CN" altLang="en-US" dirty="0">
                <a:latin typeface="Söhne"/>
              </a:rPr>
              <a:t>位的数值，因此可以保证货币数值的高精度存储，避免了使用 </a:t>
            </a:r>
            <a:r>
              <a:rPr lang="en-US" altLang="zh-CN" dirty="0">
                <a:latin typeface="Söhne"/>
              </a:rPr>
              <a:t>float </a:t>
            </a:r>
            <a:r>
              <a:rPr lang="zh-CN" altLang="en-US" dirty="0">
                <a:latin typeface="Söhne"/>
              </a:rPr>
              <a:t>或 </a:t>
            </a:r>
            <a:r>
              <a:rPr lang="en-US" altLang="zh-CN" dirty="0">
                <a:latin typeface="Söhne"/>
              </a:rPr>
              <a:t>double </a:t>
            </a:r>
            <a:r>
              <a:rPr lang="zh-CN" altLang="en-US" dirty="0">
                <a:latin typeface="Söhne"/>
              </a:rPr>
              <a:t>等浮点数类型可能出现的精度损失问题。</a:t>
            </a:r>
            <a:endParaRPr lang="zh-CN" altLang="en-US" dirty="0">
              <a:latin typeface="Söhne"/>
            </a:endParaRPr>
          </a:p>
          <a:p>
            <a:pPr marL="0" lvl="0" indent="0">
              <a:spcBef>
                <a:spcPct val="0"/>
              </a:spcBef>
              <a:buClrTx/>
              <a:buSzTx/>
              <a:buFont typeface="Arial" panose="020B0604020202020204" pitchFamily="34" charset="0"/>
              <a:buAutoNum type="arabicPeriod"/>
            </a:pPr>
            <a:r>
              <a:rPr lang="zh-CN" altLang="en-US" dirty="0">
                <a:latin typeface="Söhne"/>
              </a:rPr>
              <a:t>数据类型明确：</a:t>
            </a:r>
            <a:r>
              <a:rPr lang="en-US" altLang="zh-CN" dirty="0">
                <a:latin typeface="Söhne"/>
              </a:rPr>
              <a:t>money </a:t>
            </a:r>
            <a:r>
              <a:rPr lang="zh-CN" altLang="en-US" dirty="0">
                <a:latin typeface="Söhne"/>
              </a:rPr>
              <a:t>类型是一种专门用于存储货币数值的数据类型，使用它能够清晰明确地表达数据意义，避免了使用其他数据类型（如 </a:t>
            </a:r>
            <a:r>
              <a:rPr lang="en-US" altLang="zh-CN" dirty="0">
                <a:latin typeface="Söhne"/>
              </a:rPr>
              <a:t>decimal</a:t>
            </a:r>
            <a:r>
              <a:rPr lang="zh-CN" altLang="en-US" dirty="0">
                <a:latin typeface="Söhne"/>
              </a:rPr>
              <a:t>、</a:t>
            </a:r>
            <a:r>
              <a:rPr lang="en-US" altLang="zh-CN" dirty="0">
                <a:latin typeface="Söhne"/>
              </a:rPr>
              <a:t>float </a:t>
            </a:r>
            <a:r>
              <a:rPr lang="zh-CN" altLang="en-US" dirty="0">
                <a:latin typeface="Söhne"/>
              </a:rPr>
              <a:t>等）可能引起的语义混淆。</a:t>
            </a:r>
            <a:endParaRPr lang="zh-CN" altLang="en-US" dirty="0">
              <a:latin typeface="Söhne"/>
            </a:endParaRPr>
          </a:p>
          <a:p>
            <a:pPr marL="0" lvl="0" indent="0">
              <a:spcBef>
                <a:spcPct val="0"/>
              </a:spcBef>
              <a:buClrTx/>
              <a:buSzTx/>
              <a:buFont typeface="Arial" panose="020B0604020202020204" pitchFamily="34" charset="0"/>
              <a:buAutoNum type="arabicPeriod"/>
            </a:pPr>
            <a:r>
              <a:rPr lang="zh-CN" altLang="en-US" dirty="0">
                <a:latin typeface="Söhne"/>
              </a:rPr>
              <a:t>运算安全：</a:t>
            </a:r>
            <a:r>
              <a:rPr lang="en-US" altLang="zh-CN" dirty="0">
                <a:latin typeface="Söhne"/>
              </a:rPr>
              <a:t>money </a:t>
            </a:r>
            <a:r>
              <a:rPr lang="zh-CN" altLang="en-US" dirty="0">
                <a:latin typeface="Söhne"/>
              </a:rPr>
              <a:t>类型支持基本的算术运算，如加、减、乘、除等，而且在进行运算时不会出现精度损失或四舍五入的问题，因此可以保证货币计算的准确性和安全性。</a:t>
            </a:r>
            <a:endParaRPr lang="zh-CN" altLang="en-US" dirty="0">
              <a:latin typeface="Söhne"/>
            </a:endParaRPr>
          </a:p>
          <a:p>
            <a:pPr marL="0" lvl="0" indent="0">
              <a:spcBef>
                <a:spcPct val="0"/>
              </a:spcBef>
              <a:buClrTx/>
              <a:buSzTx/>
              <a:buFont typeface="Arial" panose="020B0604020202020204" pitchFamily="34" charset="0"/>
              <a:buAutoNum type="arabicPeriod"/>
            </a:pPr>
            <a:r>
              <a:rPr lang="zh-CN" altLang="en-US" dirty="0">
                <a:latin typeface="Söhne"/>
              </a:rPr>
              <a:t>代码简洁：在进行货币计算时，使用 </a:t>
            </a:r>
            <a:r>
              <a:rPr lang="en-US" altLang="zh-CN" dirty="0">
                <a:latin typeface="Söhne"/>
              </a:rPr>
              <a:t>money </a:t>
            </a:r>
            <a:r>
              <a:rPr lang="zh-CN" altLang="en-US" dirty="0">
                <a:latin typeface="Söhne"/>
              </a:rPr>
              <a:t>类型能够简化代码逻辑，避免手动处理精度和舍入等问题，提高代码的可读性和可维护性。</a:t>
            </a:r>
            <a:endParaRPr lang="zh-CN" altLang="en-US" dirty="0">
              <a:latin typeface="Söhne"/>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250" name="组合 3"/>
          <p:cNvGrpSpPr/>
          <p:nvPr/>
        </p:nvGrpSpPr>
        <p:grpSpPr>
          <a:xfrm>
            <a:off x="741363" y="1490663"/>
            <a:ext cx="8177212" cy="2122487"/>
            <a:chOff x="8165" y="88"/>
            <a:chExt cx="12877" cy="3343"/>
          </a:xfrm>
        </p:grpSpPr>
        <p:sp>
          <p:nvSpPr>
            <p:cNvPr id="50178" name="文本框 1"/>
            <p:cNvSpPr txBox="1"/>
            <p:nvPr/>
          </p:nvSpPr>
          <p:spPr>
            <a:xfrm>
              <a:off x="8165" y="88"/>
              <a:ext cx="6530" cy="3343"/>
            </a:xfrm>
            <a:prstGeom prst="rect">
              <a:avLst/>
            </a:prstGeom>
            <a:solidFill>
              <a:schemeClr val="bg1"/>
            </a:solidFill>
            <a:ln w="9525">
              <a:noFill/>
            </a:ln>
          </p:spPr>
          <p:txBody>
            <a:bodyPr>
              <a:spAutoFit/>
            </a:bodyPr>
            <a:lstStyle/>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stu</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SGender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check(SGender in ('F','M'))</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SAge tinyint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p:txBody>
        </p:sp>
        <p:sp>
          <p:nvSpPr>
            <p:cNvPr id="50179" name="文本框 2"/>
            <p:cNvSpPr txBox="1"/>
            <p:nvPr/>
          </p:nvSpPr>
          <p:spPr>
            <a:xfrm>
              <a:off x="14695" y="88"/>
              <a:ext cx="6347" cy="2931"/>
            </a:xfrm>
            <a:prstGeom prst="rect">
              <a:avLst/>
            </a:prstGeom>
            <a:solidFill>
              <a:schemeClr val="bg1"/>
            </a:solidFill>
            <a:ln w="9525">
              <a:noFill/>
            </a:ln>
          </p:spPr>
          <p:txBody>
            <a:bodyPr>
              <a:spAutoFit/>
            </a:bodyPr>
            <a:lstStyle/>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latin typeface="Arial" panose="020B0604020202020204" pitchFamily="34" charset="0"/>
                  <a:ea typeface="宋体" panose="02010600030101010101" pitchFamily="2" charset="-122"/>
                  <a:cs typeface="+mn-cs"/>
                </a:rPr>
                <a:t>Course</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Credit</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tinyint</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5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p:txBody>
        </p:sp>
      </p:grpSp>
      <p:sp>
        <p:nvSpPr>
          <p:cNvPr id="53251" name="矩形 3"/>
          <p:cNvSpPr/>
          <p:nvPr/>
        </p:nvSpPr>
        <p:spPr>
          <a:xfrm>
            <a:off x="523875" y="7381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50182" name="矩形 5"/>
          <p:cNvSpPr/>
          <p:nvPr/>
        </p:nvSpPr>
        <p:spPr>
          <a:xfrm>
            <a:off x="741360" y="3732210"/>
            <a:ext cx="8158165" cy="2460625"/>
          </a:xfrm>
          <a:prstGeom prst="rect">
            <a:avLst/>
          </a:prstGeom>
          <a:solidFill>
            <a:schemeClr val="bg1"/>
          </a:solidFill>
          <a:ln w="9525">
            <a:noFill/>
          </a:ln>
        </p:spPr>
        <p:txBody>
          <a:bodyPr>
            <a:spAutoFit/>
          </a:bodyPr>
          <a:lstStyle/>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CREATE TABLE  ctake</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  CID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itchFamily="34" charset="-122"/>
                <a:cs typeface="+mn-cs"/>
              </a:rPr>
              <a:t> char(10)</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a:t>
            </a:r>
            <a:r>
              <a:rPr kumimoji="0" lang="en-US" altLang="zh-CN" sz="2200" b="1" i="1" u="none" strike="noStrike" kern="1200" cap="none" spc="0" normalizeH="0" baseline="0" noProof="1">
                <a:ln>
                  <a:noFill/>
                </a:ln>
                <a:solidFill>
                  <a:srgbClr val="006600"/>
                </a:solidFill>
                <a:effectLst/>
                <a:uLnTx/>
                <a:uFillTx/>
                <a:latin typeface="Times New Roman" panose="02020603050405020304" pitchFamily="18" charset="0"/>
                <a:ea typeface="Arial Unicode MS" pitchFamily="34" charset="-122"/>
                <a:cs typeface="+mn-cs"/>
              </a:rPr>
              <a:t> Foreign key references  Course(CID)</a:t>
            </a:r>
            <a:r>
              <a:rPr kumimoji="0" lang="en-US" altLang="zh-CN" sz="2200" b="1" i="1"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Arial Unicode MS" pitchFamily="34" charset="-122"/>
                <a:cs typeface="+mn-cs"/>
              </a:rPr>
              <a:t> </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SID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itchFamily="34" charset="-122"/>
                <a:cs typeface="+mn-cs"/>
              </a:rPr>
              <a:t>char(10)</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a:t>
            </a:r>
            <a:r>
              <a:rPr kumimoji="0" lang="en-US" altLang="zh-CN" sz="2200" b="1" i="1" u="none" strike="noStrike" kern="1200" cap="none" spc="0" normalizeH="0" baseline="0" noProof="1">
                <a:ln>
                  <a:noFill/>
                </a:ln>
                <a:solidFill>
                  <a:srgbClr val="006600"/>
                </a:solidFill>
                <a:effectLst/>
                <a:uLnTx/>
                <a:uFillTx/>
                <a:latin typeface="Times New Roman" panose="02020603050405020304" pitchFamily="18" charset="0"/>
                <a:ea typeface="Arial Unicode MS" pitchFamily="34" charset="-122"/>
                <a:cs typeface="+mn-cs"/>
              </a:rPr>
              <a:t>Foreign key references stu(SID) on delete cascade on update cascade</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mark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itchFamily="34" charset="-122"/>
                <a:cs typeface="+mn-cs"/>
              </a:rPr>
              <a:t>smallint</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term </a:t>
            </a:r>
            <a:r>
              <a:rPr kumimoji="0" lang="en-US" altLang="zh-CN" sz="2200" b="1" i="1" u="none" strike="noStrike" kern="1200" cap="none" spc="0" normalizeH="0" baseline="0" noProof="1">
                <a:ln>
                  <a:noFill/>
                </a:ln>
                <a:solidFill>
                  <a:srgbClr val="0033CC"/>
                </a:solidFill>
                <a:effectLst/>
                <a:uLnTx/>
                <a:uFillTx/>
                <a:latin typeface="Times New Roman" panose="02020603050405020304" pitchFamily="18" charset="0"/>
                <a:ea typeface="Arial Unicode MS" pitchFamily="34" charset="-122"/>
                <a:cs typeface="+mn-cs"/>
              </a:rPr>
              <a:t>char(6)</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endParaRPr>
          </a:p>
          <a:p>
            <a:pPr marL="533400" marR="0" lvl="0" indent="-533400" algn="l" defTabSz="914400" rtl="0" eaLnBrk="1" fontAlgn="base" latinLnBrk="0" hangingPunct="1">
              <a:lnSpc>
                <a:spcPct val="100000"/>
              </a:lnSpc>
              <a:spcBef>
                <a:spcPct val="0"/>
              </a:spcBef>
              <a:spcAft>
                <a:spcPct val="0"/>
              </a:spcAft>
              <a:buClr>
                <a:srgbClr val="0000CC"/>
              </a:buClr>
              <a:buSzPct val="80000"/>
              <a:buFont typeface="Arial" panose="020B0604020202020204" pitchFamily="34" charset="0"/>
              <a:buNone/>
              <a:defRPr/>
            </a:pP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     </a:t>
            </a:r>
            <a:r>
              <a:rPr kumimoji="0" lang="en-US" altLang="zh-CN" sz="2200" b="1" i="1" u="none" strike="noStrike" kern="1200" cap="none" spc="0" normalizeH="0" baseline="0" noProof="1">
                <a:ln>
                  <a:noFill/>
                </a:ln>
                <a:gradFill>
                  <a:gsLst>
                    <a:gs pos="0">
                      <a:srgbClr val="E30000"/>
                    </a:gs>
                    <a:gs pos="100000">
                      <a:srgbClr val="760303"/>
                    </a:gs>
                  </a:gsLst>
                  <a:lin scaled="0"/>
                </a:gradFill>
                <a:effectLst/>
                <a:uLnTx/>
                <a:uFillTx/>
                <a:latin typeface="Times New Roman" panose="02020603050405020304" pitchFamily="18" charset="0"/>
                <a:ea typeface="Arial Unicode MS" pitchFamily="34" charset="-122"/>
                <a:cs typeface="+mn-cs"/>
              </a:rPr>
              <a:t>PRIMARY KEY (CID,SID)</a:t>
            </a:r>
            <a:r>
              <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rPr>
              <a:t>)</a:t>
            </a:r>
            <a:endParaRPr kumimoji="0" lang="en-US" altLang="zh-CN" sz="2200" b="1" i="1" u="none" strike="noStrike" kern="1200" cap="none" spc="0" normalizeH="0" baseline="0" noProof="1">
              <a:ln>
                <a:noFill/>
              </a:ln>
              <a:solidFill>
                <a:schemeClr val="tx1"/>
              </a:solidFill>
              <a:effectLst/>
              <a:uLnTx/>
              <a:uFillTx/>
              <a:latin typeface="Times New Roman" panose="02020603050405020304" pitchFamily="18" charset="0"/>
              <a:ea typeface="Arial Unicode MS" pitchFamily="34" charset="-122"/>
              <a:cs typeface="+mn-cs"/>
            </a:endParaRPr>
          </a:p>
        </p:txBody>
      </p:sp>
      <p:sp>
        <p:nvSpPr>
          <p:cNvPr id="5325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矩形 3"/>
          <p:cNvSpPr/>
          <p:nvPr/>
        </p:nvSpPr>
        <p:spPr>
          <a:xfrm>
            <a:off x="785813" y="1946275"/>
            <a:ext cx="7786687" cy="828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0000"/>
              </a:lnSpc>
              <a:spcBef>
                <a:spcPct val="0"/>
              </a:spcBef>
              <a:buClrTx/>
              <a:buSzTx/>
              <a:buFont typeface="Arial" panose="020B0604020202020204" pitchFamily="34" charset="0"/>
              <a:buNone/>
            </a:pPr>
            <a:r>
              <a:rPr lang="zh-CN" altLang="en-US" sz="1800" dirty="0">
                <a:latin typeface="宋体" panose="02010600030101010101" pitchFamily="2" charset="-122"/>
              </a:rPr>
              <a:t> </a:t>
            </a:r>
            <a:r>
              <a:rPr lang="en-US" altLang="zh-CN" sz="2200" dirty="0">
                <a:latin typeface="宋体" panose="02010600030101010101" pitchFamily="2" charset="-122"/>
              </a:rPr>
              <a:t>INSERT [INTO] </a:t>
            </a:r>
            <a:r>
              <a:rPr lang="zh-CN" altLang="en-US" sz="2200" dirty="0">
                <a:latin typeface="宋体" panose="02010600030101010101" pitchFamily="2" charset="-122"/>
              </a:rPr>
              <a:t>表名或视图名 </a:t>
            </a:r>
            <a:r>
              <a:rPr lang="en-US" altLang="zh-CN" sz="2200" dirty="0">
                <a:latin typeface="宋体" panose="02010600030101010101" pitchFamily="2" charset="-122"/>
              </a:rPr>
              <a:t>[(</a:t>
            </a:r>
            <a:r>
              <a:rPr lang="zh-CN" altLang="en-US" sz="2200" dirty="0">
                <a:latin typeface="宋体" panose="02010600030101010101" pitchFamily="2" charset="-122"/>
              </a:rPr>
              <a:t>属性名序列</a:t>
            </a:r>
            <a:r>
              <a:rPr lang="en-US" altLang="zh-CN" sz="2200" dirty="0">
                <a:latin typeface="宋体" panose="02010600030101010101" pitchFamily="2" charset="-122"/>
              </a:rPr>
              <a:t>)]  </a:t>
            </a:r>
            <a:endParaRPr lang="en-US" altLang="zh-CN" sz="2200" dirty="0">
              <a:latin typeface="宋体" panose="02010600030101010101" pitchFamily="2" charset="-122"/>
            </a:endParaRPr>
          </a:p>
          <a:p>
            <a:pPr marL="0" lvl="0" indent="0">
              <a:lnSpc>
                <a:spcPct val="110000"/>
              </a:lnSpc>
              <a:spcBef>
                <a:spcPct val="0"/>
              </a:spcBef>
              <a:buClrTx/>
              <a:buSzTx/>
              <a:buFont typeface="Arial" panose="020B0604020202020204" pitchFamily="34" charset="0"/>
              <a:buNone/>
            </a:pPr>
            <a:r>
              <a:rPr lang="en-US" altLang="zh-CN" sz="2200" dirty="0">
                <a:latin typeface="宋体" panose="02010600030101010101" pitchFamily="2" charset="-122"/>
              </a:rPr>
              <a:t>     VALUES (</a:t>
            </a:r>
            <a:r>
              <a:rPr lang="zh-CN" altLang="en-US" sz="2200" dirty="0">
                <a:latin typeface="宋体" panose="02010600030101010101" pitchFamily="2" charset="-122"/>
              </a:rPr>
              <a:t>一行中各列的值</a:t>
            </a:r>
            <a:r>
              <a:rPr lang="en-US" altLang="zh-CN" sz="2200" dirty="0">
                <a:latin typeface="宋体" panose="02010600030101010101" pitchFamily="2" charset="-122"/>
              </a:rPr>
              <a:t>)</a:t>
            </a:r>
            <a:endParaRPr lang="zh-CN" altLang="en-US" sz="2200" dirty="0"/>
          </a:p>
        </p:txBody>
      </p:sp>
      <p:sp>
        <p:nvSpPr>
          <p:cNvPr id="54275" name="矩形 4"/>
          <p:cNvSpPr/>
          <p:nvPr/>
        </p:nvSpPr>
        <p:spPr>
          <a:xfrm>
            <a:off x="587375" y="1319213"/>
            <a:ext cx="7143750" cy="668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Wingdings" panose="05000000000000000000" pitchFamily="2" charset="2"/>
              <a:buChar char="n"/>
            </a:pPr>
            <a:r>
              <a:rPr lang="zh-CN" altLang="en-US" sz="2800" dirty="0">
                <a:solidFill>
                  <a:srgbClr val="0033CC"/>
                </a:solidFill>
                <a:latin typeface="宋体" panose="02010600030101010101" pitchFamily="2" charset="-122"/>
              </a:rPr>
              <a:t>向表中插入数据</a:t>
            </a:r>
            <a:endParaRPr lang="zh-CN" altLang="en-US" sz="2800" dirty="0">
              <a:solidFill>
                <a:srgbClr val="0033CC"/>
              </a:solidFill>
              <a:latin typeface="宋体" panose="02010600030101010101" pitchFamily="2" charset="-122"/>
            </a:endParaRPr>
          </a:p>
        </p:txBody>
      </p:sp>
      <p:sp>
        <p:nvSpPr>
          <p:cNvPr id="54276" name="矩形 3"/>
          <p:cNvSpPr/>
          <p:nvPr/>
        </p:nvSpPr>
        <p:spPr>
          <a:xfrm>
            <a:off x="511175" y="687388"/>
            <a:ext cx="8375650" cy="12017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grpSp>
        <p:nvGrpSpPr>
          <p:cNvPr id="6" name="组合 5"/>
          <p:cNvGrpSpPr/>
          <p:nvPr/>
        </p:nvGrpSpPr>
        <p:grpSpPr>
          <a:xfrm>
            <a:off x="587375" y="2906713"/>
            <a:ext cx="7985125" cy="2967037"/>
            <a:chOff x="925" y="4578"/>
            <a:chExt cx="12575" cy="4670"/>
          </a:xfrm>
        </p:grpSpPr>
        <p:sp>
          <p:nvSpPr>
            <p:cNvPr id="54279" name="文本框 1"/>
            <p:cNvSpPr txBox="1"/>
            <p:nvPr/>
          </p:nvSpPr>
          <p:spPr>
            <a:xfrm>
              <a:off x="925" y="4578"/>
              <a:ext cx="12574" cy="125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ct val="0"/>
                </a:spcBef>
                <a:buClrTx/>
                <a:buSzTx/>
                <a:buFont typeface="Arial" panose="020B0604020202020204" pitchFamily="34" charset="0"/>
                <a:buNone/>
              </a:pPr>
              <a:r>
                <a:rPr lang="en-US" altLang="zh-CN" dirty="0"/>
                <a:t>insert</a:t>
              </a:r>
              <a:r>
                <a:rPr lang="zh-CN" altLang="en-US" dirty="0"/>
                <a:t> stu </a:t>
              </a:r>
              <a:r>
                <a:rPr lang="en-US" altLang="zh-CN" dirty="0"/>
                <a:t>values('2015031001','</a:t>
              </a:r>
              <a:r>
                <a:rPr lang="zh-CN" altLang="zh-CN" dirty="0"/>
                <a:t>李丽</a:t>
              </a:r>
              <a:r>
                <a:rPr lang="en-US" altLang="zh-CN" dirty="0"/>
                <a:t>','F',19)</a:t>
              </a:r>
              <a:endParaRPr lang="en-US" altLang="zh-CN" dirty="0"/>
            </a:p>
            <a:p>
              <a:pPr marL="0" lvl="0" indent="0" eaLnBrk="1" hangingPunct="1">
                <a:lnSpc>
                  <a:spcPct val="115000"/>
                </a:lnSpc>
                <a:spcBef>
                  <a:spcPct val="0"/>
                </a:spcBef>
                <a:buClrTx/>
                <a:buSzTx/>
                <a:buFont typeface="Arial" panose="020B0604020202020204" pitchFamily="34" charset="0"/>
                <a:buNone/>
              </a:pPr>
              <a:r>
                <a:rPr lang="en-US" altLang="zh-CN" dirty="0"/>
                <a:t>insert</a:t>
              </a:r>
              <a:r>
                <a:rPr lang="zh-CN" altLang="en-US" dirty="0"/>
                <a:t> stu </a:t>
              </a:r>
              <a:r>
                <a:rPr lang="en-US" altLang="zh-CN" dirty="0"/>
                <a:t>values('2015031002','</a:t>
              </a:r>
              <a:r>
                <a:rPr lang="zh-CN" altLang="en-US" dirty="0"/>
                <a:t>张高</a:t>
              </a:r>
              <a:r>
                <a:rPr lang="en-US" altLang="zh-CN" dirty="0"/>
                <a:t>','M',20)</a:t>
              </a:r>
              <a:endParaRPr lang="en-US" altLang="zh-CN" dirty="0"/>
            </a:p>
          </p:txBody>
        </p:sp>
        <p:sp>
          <p:nvSpPr>
            <p:cNvPr id="54280" name="文本框 3"/>
            <p:cNvSpPr txBox="1"/>
            <p:nvPr/>
          </p:nvSpPr>
          <p:spPr>
            <a:xfrm>
              <a:off x="925" y="6045"/>
              <a:ext cx="12575" cy="130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dirty="0"/>
                <a:t>insert</a:t>
              </a:r>
              <a:r>
                <a:rPr lang="zh-CN" altLang="en-US" dirty="0"/>
                <a:t> </a:t>
              </a:r>
              <a:r>
                <a:rPr lang="en-US" altLang="zh-CN" dirty="0"/>
                <a:t>Course</a:t>
              </a:r>
              <a:r>
                <a:rPr lang="zh-CN" altLang="en-US" dirty="0"/>
                <a:t> </a:t>
              </a:r>
              <a:r>
                <a:rPr lang="en-US" altLang="zh-CN" dirty="0"/>
                <a:t>values('bk1001','</a:t>
              </a:r>
              <a:r>
                <a:rPr lang="zh-CN" altLang="en-US" dirty="0"/>
                <a:t>数据库原理</a:t>
              </a:r>
              <a:r>
                <a:rPr lang="en-US" altLang="zh-CN" dirty="0"/>
                <a:t>',3)</a:t>
              </a:r>
              <a:endParaRPr lang="en-US" altLang="zh-CN" dirty="0"/>
            </a:p>
            <a:p>
              <a:pPr marL="0" lvl="0" indent="0" eaLnBrk="1" hangingPunct="1">
                <a:lnSpc>
                  <a:spcPct val="120000"/>
                </a:lnSpc>
                <a:spcBef>
                  <a:spcPct val="0"/>
                </a:spcBef>
                <a:buClrTx/>
                <a:buSzTx/>
                <a:buFont typeface="Arial" panose="020B0604020202020204" pitchFamily="34" charset="0"/>
                <a:buNone/>
              </a:pPr>
              <a:r>
                <a:rPr lang="en-US" altLang="zh-CN" dirty="0">
                  <a:sym typeface="宋体" panose="02010600030101010101" pitchFamily="2" charset="-122"/>
                </a:rPr>
                <a:t>insert</a:t>
              </a:r>
              <a:r>
                <a:rPr lang="zh-CN" altLang="en-US" dirty="0">
                  <a:sym typeface="宋体" panose="02010600030101010101" pitchFamily="2" charset="-122"/>
                </a:rPr>
                <a:t> </a:t>
              </a:r>
              <a:r>
                <a:rPr lang="en-US" altLang="zh-CN" dirty="0"/>
                <a:t>Course</a:t>
              </a:r>
              <a:r>
                <a:rPr lang="zh-CN" altLang="en-US" dirty="0">
                  <a:sym typeface="宋体" panose="02010600030101010101" pitchFamily="2" charset="-122"/>
                </a:rPr>
                <a:t> </a:t>
              </a:r>
              <a:r>
                <a:rPr lang="en-US" altLang="zh-CN" dirty="0">
                  <a:sym typeface="宋体" panose="02010600030101010101" pitchFamily="2" charset="-122"/>
                </a:rPr>
                <a:t>values('bk1002','</a:t>
              </a:r>
              <a:r>
                <a:rPr lang="zh-CN" altLang="zh-CN" dirty="0">
                  <a:sym typeface="宋体" panose="02010600030101010101" pitchFamily="2" charset="-122"/>
                </a:rPr>
                <a:t>数据结构</a:t>
              </a:r>
              <a:r>
                <a:rPr lang="en-US" altLang="zh-CN" dirty="0">
                  <a:sym typeface="宋体" panose="02010600030101010101" pitchFamily="2" charset="-122"/>
                </a:rPr>
                <a:t>',4)</a:t>
              </a:r>
              <a:endParaRPr lang="en-US" altLang="zh-CN" dirty="0"/>
            </a:p>
          </p:txBody>
        </p:sp>
        <p:sp>
          <p:nvSpPr>
            <p:cNvPr id="54281" name="文本框 4"/>
            <p:cNvSpPr txBox="1"/>
            <p:nvPr/>
          </p:nvSpPr>
          <p:spPr>
            <a:xfrm>
              <a:off x="925" y="7506"/>
              <a:ext cx="12575" cy="174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t>insert Ctake values('bk1001','2015031001',88,'2019-1')</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insert Ctake values('bk1002','2015031002',90,'2019-2')</a:t>
              </a:r>
              <a:endParaRPr lang="en-US" altLang="zh-CN" dirty="0"/>
            </a:p>
            <a:p>
              <a:pPr marL="0" lvl="0" indent="0" eaLnBrk="1" hangingPunct="1">
                <a:lnSpc>
                  <a:spcPct val="110000"/>
                </a:lnSpc>
                <a:spcBef>
                  <a:spcPct val="0"/>
                </a:spcBef>
                <a:buClrTx/>
                <a:buSzTx/>
                <a:buFont typeface="Arial" panose="020B0604020202020204" pitchFamily="34" charset="0"/>
                <a:buNone/>
              </a:pPr>
              <a:r>
                <a:rPr lang="en-US" altLang="zh-CN" dirty="0"/>
                <a:t>insert Ctake values('bk1002','2015031001',91,'2018-2')</a:t>
              </a:r>
              <a:endParaRPr lang="en-US" altLang="zh-CN" dirty="0"/>
            </a:p>
          </p:txBody>
        </p:sp>
      </p:grpSp>
      <p:sp>
        <p:nvSpPr>
          <p:cNvPr id="5427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矩形 3"/>
          <p:cNvSpPr/>
          <p:nvPr/>
        </p:nvSpPr>
        <p:spPr>
          <a:xfrm>
            <a:off x="508000" y="785813"/>
            <a:ext cx="8375650" cy="6302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
            </a:pPr>
            <a:r>
              <a:rPr lang="zh-CN" altLang="zh-CN" sz="2600" dirty="0">
                <a:solidFill>
                  <a:srgbClr val="0033CC"/>
                </a:solidFill>
                <a:latin typeface="黑体" panose="02010609060101010101" pitchFamily="49" charset="-122"/>
                <a:ea typeface="黑体" panose="02010609060101010101" pitchFamily="49" charset="-122"/>
              </a:rPr>
              <a:t>课堂练习：</a:t>
            </a:r>
            <a:r>
              <a:rPr lang="zh-CN" altLang="zh-CN" sz="2600" dirty="0">
                <a:latin typeface="宋体" panose="02010600030101010101" pitchFamily="2" charset="-122"/>
              </a:rPr>
              <a:t>用</a:t>
            </a:r>
            <a:r>
              <a:rPr lang="en-US" altLang="zh-CN" sz="2600" dirty="0">
                <a:latin typeface="宋体" panose="02010600030101010101" pitchFamily="2" charset="-122"/>
              </a:rPr>
              <a:t>DDL</a:t>
            </a:r>
            <a:r>
              <a:rPr lang="zh-CN" altLang="zh-CN" sz="2600" dirty="0">
                <a:latin typeface="宋体" panose="02010600030101010101" pitchFamily="2" charset="-122"/>
              </a:rPr>
              <a:t>语言创建下列学生表和班级表</a:t>
            </a:r>
            <a:endParaRPr lang="zh-CN" altLang="zh-CN" sz="2600" dirty="0">
              <a:latin typeface="宋体" panose="02010600030101010101" pitchFamily="2" charset="-122"/>
            </a:endParaRPr>
          </a:p>
        </p:txBody>
      </p:sp>
      <p:sp>
        <p:nvSpPr>
          <p:cNvPr id="55299" name="文本框 3"/>
          <p:cNvSpPr txBox="1"/>
          <p:nvPr/>
        </p:nvSpPr>
        <p:spPr>
          <a:xfrm>
            <a:off x="735013" y="1454150"/>
            <a:ext cx="7621587" cy="8350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sz="2200" dirty="0"/>
              <a:t>学生表</a:t>
            </a:r>
            <a:r>
              <a:rPr lang="en-US" altLang="zh-CN" sz="2200" dirty="0"/>
              <a:t>:Student</a:t>
            </a:r>
            <a:r>
              <a:rPr lang="zh-CN" altLang="en-US" sz="2200" dirty="0"/>
              <a:t>（</a:t>
            </a:r>
            <a:r>
              <a:rPr lang="zh-CN" altLang="en-US" sz="2200" u="sng" dirty="0">
                <a:solidFill>
                  <a:srgbClr val="0033CC"/>
                </a:solidFill>
              </a:rPr>
              <a:t>学号</a:t>
            </a:r>
            <a:r>
              <a:rPr lang="zh-CN" altLang="en-US" sz="2200" dirty="0"/>
              <a:t>，姓名，性别，年龄，班号，电话）</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班级表</a:t>
            </a:r>
            <a:r>
              <a:rPr lang="en-US" altLang="zh-CN" sz="2200" dirty="0"/>
              <a:t>:Class</a:t>
            </a:r>
            <a:r>
              <a:rPr lang="zh-CN" altLang="en-US" sz="2200" dirty="0"/>
              <a:t>（</a:t>
            </a:r>
            <a:r>
              <a:rPr lang="zh-CN" altLang="en-US" sz="2200" u="sng" dirty="0">
                <a:solidFill>
                  <a:srgbClr val="0033CC"/>
                </a:solidFill>
              </a:rPr>
              <a:t>班号</a:t>
            </a:r>
            <a:r>
              <a:rPr lang="zh-CN" altLang="en-US" sz="2200" dirty="0"/>
              <a:t>，班名）</a:t>
            </a:r>
            <a:endParaRPr lang="zh-CN" altLang="en-US" sz="2200" dirty="0"/>
          </a:p>
        </p:txBody>
      </p:sp>
      <p:sp>
        <p:nvSpPr>
          <p:cNvPr id="50178" name="文本框 1"/>
          <p:cNvSpPr txBox="1"/>
          <p:nvPr/>
        </p:nvSpPr>
        <p:spPr>
          <a:xfrm>
            <a:off x="736597" y="3262313"/>
            <a:ext cx="7832725" cy="2800350"/>
          </a:xfrm>
          <a:prstGeom prst="rect">
            <a:avLst/>
          </a:prstGeom>
          <a:solidFill>
            <a:schemeClr val="bg1"/>
          </a:solidFill>
          <a:ln w="9525" cap="flat" cmpd="sng">
            <a:solidFill>
              <a:srgbClr val="0033CC"/>
            </a:solidFill>
            <a:prstDash val="dash"/>
            <a:round/>
            <a:headEnd type="none" w="med" len="med"/>
            <a:tailEnd type="none" w="med" len="med"/>
          </a:ln>
        </p:spPr>
        <p:txBody>
          <a:bodyPr>
            <a:spAutoFit/>
          </a:bodyPr>
          <a:lstStyle/>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latin typeface="Arial" panose="020B0604020202020204" pitchFamily="34" charset="0"/>
                <a:ea typeface="宋体" panose="02010600030101010101" pitchFamily="2" charset="-122"/>
                <a:cs typeface="+mn-cs"/>
              </a:rPr>
              <a:t>Student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SGender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check(SGender in ('F','M'))</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SAge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tinyint</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 NOT NULL</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en-US" altLang="zh-CN" sz="2000" kern="1200" cap="none" spc="0" normalizeH="0" baseline="0" noProof="1">
                <a:latin typeface="Arial" panose="020B0604020202020204" pitchFamily="34" charset="0"/>
                <a:ea typeface="宋体" panose="02010600030101010101" pitchFamily="2" charset="-122"/>
                <a:cs typeface="+mn-cs"/>
              </a:rPr>
              <a:t>  CID </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en-US" altLang="zh-CN"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foreign key references Class(CID)</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en-US" altLang="zh-CN" sz="2000" kern="1200" cap="none" spc="0" normalizeH="0" baseline="0" noProof="1">
                <a:latin typeface="Arial" panose="020B0604020202020204" pitchFamily="34" charset="0"/>
                <a:ea typeface="宋体" panose="02010600030101010101" pitchFamily="2" charset="-122"/>
                <a:cs typeface="+mn-cs"/>
              </a:rPr>
              <a:t>  Phone </a:t>
            </a:r>
            <a:r>
              <a:rPr kumimoji="0" lang="en-US" altLang="zh-CN" sz="2000" kern="1200" cap="none" spc="0" normalizeH="0" baseline="0" noProof="1">
                <a:solidFill>
                  <a:srgbClr val="0033CC"/>
                </a:solidFill>
                <a:latin typeface="Arial" panose="020B0604020202020204" pitchFamily="34" charset="0"/>
                <a:ea typeface="宋体" panose="02010600030101010101" pitchFamily="2" charset="-122"/>
                <a:cs typeface="+mn-cs"/>
              </a:rPr>
              <a:t>char(11)</a:t>
            </a:r>
            <a:r>
              <a:rPr kumimoji="0" lang="en-US" altLang="zh-CN"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check(Phone like '[0-9]</a:t>
            </a: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宋体" panose="02010600030101010101" pitchFamily="2" charset="-122"/>
              </a:rPr>
              <a:t>[0-9][0-9][0-9][0-9][0-9]</a:t>
            </a:r>
            <a:endPar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宋体" panose="02010600030101010101" pitchFamily="2" charset="-122"/>
            </a:endParaRPr>
          </a:p>
          <a:p>
            <a:pPr marR="0" defTabSz="914400" eaLnBrk="1" hangingPunct="1">
              <a:lnSpc>
                <a:spcPct val="110000"/>
              </a:lnSpc>
              <a:buClrTx/>
              <a:buSzTx/>
              <a:buFont typeface="Arial" panose="020B0604020202020204" pitchFamily="34" charset="0"/>
              <a:buNone/>
              <a:defRPr/>
            </a:pPr>
            <a:r>
              <a:rPr kumimoji="0" lang="en-US" altLang="zh-CN"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宋体" panose="02010600030101010101" pitchFamily="2" charset="-122"/>
              </a:rPr>
              <a:t>         [0-9][0-9][0-9][0-9][0-9]'</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p:txBody>
      </p:sp>
      <p:sp>
        <p:nvSpPr>
          <p:cNvPr id="5" name="文本框 1"/>
          <p:cNvSpPr txBox="1"/>
          <p:nvPr/>
        </p:nvSpPr>
        <p:spPr>
          <a:xfrm>
            <a:off x="736597" y="2400297"/>
            <a:ext cx="7832725" cy="768350"/>
          </a:xfrm>
          <a:prstGeom prst="rect">
            <a:avLst/>
          </a:prstGeom>
          <a:solidFill>
            <a:schemeClr val="bg1"/>
          </a:solidFill>
          <a:ln w="9525" cap="flat" cmpd="sng">
            <a:solidFill>
              <a:srgbClr val="0033CC"/>
            </a:solidFill>
            <a:prstDash val="dash"/>
            <a:round/>
            <a:headEnd type="none" w="med" len="med"/>
            <a:tailEnd type="none" w="med" len="med"/>
          </a:ln>
        </p:spPr>
        <p:txBody>
          <a:bodyPr>
            <a:spAutoFit/>
          </a:bodyPr>
          <a:lstStyle/>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create table </a:t>
            </a:r>
            <a:r>
              <a:rPr kumimoji="0" lang="en-US" altLang="zh-CN" sz="2000" kern="1200" cap="none" spc="0" normalizeH="0" baseline="0" noProof="1">
                <a:latin typeface="Arial" panose="020B0604020202020204" pitchFamily="34" charset="0"/>
                <a:ea typeface="宋体" panose="02010600030101010101" pitchFamily="2" charset="-122"/>
                <a:cs typeface="+mn-cs"/>
              </a:rPr>
              <a:t>Class</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ID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char(10)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primary key</a:t>
            </a:r>
            <a:r>
              <a:rPr kumimoji="0" lang="zh-CN" altLang="en-US" sz="2000" kern="1200" cap="none" spc="0" normalizeH="0" baseline="0" noProof="1">
                <a:latin typeface="Arial" panose="020B0604020202020204" pitchFamily="34" charset="0"/>
                <a:ea typeface="宋体" panose="02010600030101010101" pitchFamily="2" charset="-122"/>
                <a:cs typeface="+mn-cs"/>
              </a:rPr>
              <a:t>,</a:t>
            </a:r>
            <a:endParaRPr kumimoji="0" lang="zh-CN" altLang="en-US" sz="2000"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10000"/>
              </a:lnSpc>
              <a:buClrTx/>
              <a:buSzTx/>
              <a:buFont typeface="Arial" panose="020B0604020202020204" pitchFamily="34" charset="0"/>
              <a:buNone/>
              <a:defRPr/>
            </a:pP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en-US" altLang="zh-CN" sz="2000" kern="1200" cap="none" spc="0" normalizeH="0" baseline="0" noProof="1">
                <a:latin typeface="Arial" panose="020B0604020202020204" pitchFamily="34" charset="0"/>
                <a:ea typeface="宋体" panose="02010600030101010101" pitchFamily="2" charset="-122"/>
                <a:cs typeface="+mn-cs"/>
              </a:rPr>
              <a:t>C</a:t>
            </a:r>
            <a:r>
              <a:rPr kumimoji="0" lang="zh-CN" altLang="en-US" sz="2000" kern="1200" cap="none" spc="0" normalizeH="0" baseline="0" noProof="1">
                <a:latin typeface="Arial" panose="020B0604020202020204" pitchFamily="34" charset="0"/>
                <a:ea typeface="宋体" panose="02010600030101010101" pitchFamily="2" charset="-122"/>
                <a:cs typeface="+mn-cs"/>
              </a:rPr>
              <a:t>Name </a:t>
            </a:r>
            <a:r>
              <a:rPr kumimoji="0" lang="zh-CN" altLang="en-US" sz="2000" kern="1200" cap="none" spc="0" normalizeH="0" baseline="0" noProof="1">
                <a:solidFill>
                  <a:srgbClr val="0033CC"/>
                </a:solidFill>
                <a:latin typeface="Arial" panose="020B0604020202020204" pitchFamily="34" charset="0"/>
                <a:ea typeface="宋体" panose="02010600030101010101" pitchFamily="2" charset="-122"/>
                <a:cs typeface="+mn-cs"/>
              </a:rPr>
              <a:t>varchar(20)</a:t>
            </a:r>
            <a:r>
              <a:rPr kumimoji="0" lang="zh-CN" altLang="en-US" sz="2000" kern="1200" cap="none" spc="0" normalizeH="0" baseline="0" noProof="1">
                <a:latin typeface="Arial" panose="020B0604020202020204" pitchFamily="34" charset="0"/>
                <a:ea typeface="宋体" panose="02010600030101010101" pitchFamily="2" charset="-122"/>
                <a:cs typeface="+mn-cs"/>
              </a:rPr>
              <a:t> </a:t>
            </a:r>
            <a:r>
              <a:rPr kumimoji="0" lang="zh-CN" altLang="en-US" sz="2000"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rPr>
              <a:t>NOT NULL</a:t>
            </a:r>
            <a:r>
              <a:rPr kumimoji="0" lang="en-US" altLang="zh-CN" sz="2000" kern="1200" cap="none" spc="0" normalizeH="0" baseline="0" noProof="1">
                <a:latin typeface="Arial" panose="020B0604020202020204" pitchFamily="34" charset="0"/>
                <a:ea typeface="宋体" panose="02010600030101010101" pitchFamily="2" charset="-122"/>
                <a:cs typeface="+mn-cs"/>
              </a:rPr>
              <a:t>)</a:t>
            </a:r>
            <a:endParaRPr kumimoji="0" lang="en-US" altLang="zh-CN" sz="2000" kern="1200" cap="none" spc="0" normalizeH="0" baseline="0" noProof="1">
              <a:latin typeface="Arial" panose="020B0604020202020204" pitchFamily="34" charset="0"/>
              <a:ea typeface="宋体" panose="02010600030101010101" pitchFamily="2" charset="-122"/>
              <a:cs typeface="+mn-cs"/>
            </a:endParaRPr>
          </a:p>
        </p:txBody>
      </p:sp>
      <p:sp>
        <p:nvSpPr>
          <p:cNvPr id="5530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178"/>
                                        </p:tgtEl>
                                        <p:attrNameLst>
                                          <p:attrName>style.visibility</p:attrName>
                                        </p:attrNameLst>
                                      </p:cBhvr>
                                      <p:to>
                                        <p:strVal val="visible"/>
                                      </p:to>
                                    </p:set>
                                    <p:anim calcmode="lin" valueType="num">
                                      <p:cBhvr additive="base">
                                        <p:cTn id="13" dur="500" fill="hold"/>
                                        <p:tgtEl>
                                          <p:spTgt spid="50178"/>
                                        </p:tgtEl>
                                        <p:attrNameLst>
                                          <p:attrName>ppt_x</p:attrName>
                                        </p:attrNameLst>
                                      </p:cBhvr>
                                      <p:tavLst>
                                        <p:tav tm="0">
                                          <p:val>
                                            <p:strVal val="#ppt_x"/>
                                          </p:val>
                                        </p:tav>
                                        <p:tav tm="100000">
                                          <p:val>
                                            <p:strVal val="#ppt_x"/>
                                          </p:val>
                                        </p:tav>
                                      </p:tavLst>
                                    </p:anim>
                                    <p:anim calcmode="lin" valueType="num">
                                      <p:cBhvr additive="base">
                                        <p:cTn id="14" dur="500" fill="hold"/>
                                        <p:tgtEl>
                                          <p:spTgt spid="501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矩形 5"/>
          <p:cNvSpPr/>
          <p:nvPr/>
        </p:nvSpPr>
        <p:spPr>
          <a:xfrm>
            <a:off x="785813" y="1857375"/>
            <a:ext cx="8072437" cy="29051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10000"/>
              </a:lnSpc>
              <a:spcBef>
                <a:spcPct val="0"/>
              </a:spcBef>
              <a:buClrTx/>
              <a:buSzTx/>
              <a:buFont typeface="Arial" panose="020B0604020202020204" pitchFamily="34" charset="0"/>
              <a:buNone/>
            </a:pPr>
            <a:r>
              <a:rPr lang="en-US" altLang="zh-CN" sz="2400" dirty="0">
                <a:solidFill>
                  <a:srgbClr val="A50021"/>
                </a:solidFill>
                <a:latin typeface="华文楷体" panose="02010600040101010101" pitchFamily="2" charset="-122"/>
                <a:ea typeface="华文楷体" panose="02010600040101010101" pitchFamily="2" charset="-122"/>
              </a:rPr>
              <a:t>SELECT </a:t>
            </a:r>
            <a:r>
              <a:rPr lang="zh-CN" altLang="en-US" sz="2400" dirty="0">
                <a:latin typeface="华文楷体" panose="02010600040101010101" pitchFamily="2" charset="-122"/>
                <a:ea typeface="华文楷体" panose="02010600040101010101" pitchFamily="2" charset="-122"/>
              </a:rPr>
              <a:t>列表  </a:t>
            </a:r>
            <a:r>
              <a:rPr lang="en-US" altLang="zh-CN" sz="2400" dirty="0">
                <a:latin typeface="华文楷体" panose="02010600040101010101" pitchFamily="2" charset="-122"/>
                <a:ea typeface="华文楷体" panose="02010600040101010101" pitchFamily="2" charset="-122"/>
              </a:rPr>
              <a:t>[ INTO  </a:t>
            </a:r>
            <a:r>
              <a:rPr lang="zh-CN" altLang="en-US" sz="2400" dirty="0">
                <a:latin typeface="华文楷体" panose="02010600040101010101" pitchFamily="2" charset="-122"/>
                <a:ea typeface="华文楷体" panose="02010600040101010101" pitchFamily="2" charset="-122"/>
              </a:rPr>
              <a:t>新表名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solidFill>
                  <a:srgbClr val="A50021"/>
                </a:solidFill>
                <a:latin typeface="华文楷体" panose="02010600040101010101" pitchFamily="2" charset="-122"/>
                <a:ea typeface="华文楷体" panose="02010600040101010101" pitchFamily="2" charset="-122"/>
              </a:rPr>
              <a:t>FROM</a:t>
            </a:r>
            <a:r>
              <a:rPr lang="en-US" altLang="zh-CN" sz="2400" dirty="0">
                <a:latin typeface="华文楷体" panose="02010600040101010101" pitchFamily="2" charset="-122"/>
                <a:ea typeface="华文楷体" panose="02010600040101010101" pitchFamily="2" charset="-122"/>
              </a:rPr>
              <a:t> &lt;</a:t>
            </a:r>
            <a:r>
              <a:rPr lang="zh-CN" altLang="en-US" sz="2400" dirty="0">
                <a:latin typeface="华文楷体" panose="02010600040101010101" pitchFamily="2" charset="-122"/>
                <a:ea typeface="华文楷体" panose="02010600040101010101" pitchFamily="2" charset="-122"/>
              </a:rPr>
              <a:t>源表</a:t>
            </a:r>
            <a:r>
              <a:rPr lang="en-US" altLang="zh-CN" sz="2400" dirty="0">
                <a:latin typeface="华文楷体" panose="02010600040101010101" pitchFamily="2" charset="-122"/>
                <a:ea typeface="华文楷体" panose="02010600040101010101" pitchFamily="2" charset="-122"/>
              </a:rPr>
              <a:t>&gt;</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a:t>
            </a:r>
            <a:r>
              <a:rPr lang="en-US" altLang="zh-CN" sz="2400" dirty="0">
                <a:solidFill>
                  <a:srgbClr val="A50021"/>
                </a:solidFill>
                <a:latin typeface="华文楷体" panose="02010600040101010101" pitchFamily="2" charset="-122"/>
                <a:ea typeface="华文楷体" panose="02010600040101010101" pitchFamily="2" charset="-122"/>
              </a:rPr>
              <a:t>WHERE</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条件表达式 </a:t>
            </a:r>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GROUP BY </a:t>
            </a:r>
            <a:r>
              <a:rPr lang="zh-CN" altLang="en-US" sz="2400" dirty="0">
                <a:latin typeface="华文楷体" panose="02010600040101010101" pitchFamily="2" charset="-122"/>
                <a:ea typeface="华文楷体" panose="02010600040101010101" pitchFamily="2" charset="-122"/>
              </a:rPr>
              <a:t>分组表达式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HAVING  </a:t>
            </a:r>
            <a:r>
              <a:rPr lang="zh-CN" altLang="en-US" sz="2400" dirty="0">
                <a:latin typeface="华文楷体" panose="02010600040101010101" pitchFamily="2" charset="-122"/>
                <a:ea typeface="华文楷体" panose="02010600040101010101" pitchFamily="2" charset="-122"/>
              </a:rPr>
              <a:t>组内数据条件表达式 </a:t>
            </a:r>
            <a:r>
              <a:rPr lang="en-US" altLang="zh-CN" sz="2400" dirty="0">
                <a:latin typeface="华文楷体" panose="02010600040101010101" pitchFamily="2" charset="-122"/>
                <a:ea typeface="华文楷体" panose="02010600040101010101" pitchFamily="2" charset="-122"/>
              </a:rPr>
              <a:t>]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ORDER BY  </a:t>
            </a:r>
            <a:r>
              <a:rPr lang="zh-CN" altLang="en-US" sz="2400" dirty="0">
                <a:latin typeface="华文楷体" panose="02010600040101010101" pitchFamily="2" charset="-122"/>
                <a:ea typeface="华文楷体" panose="02010600040101010101" pitchFamily="2" charset="-122"/>
              </a:rPr>
              <a:t>排序表达式 </a:t>
            </a:r>
            <a:r>
              <a:rPr lang="en-US" altLang="zh-CN" sz="2400" dirty="0">
                <a:latin typeface="华文楷体" panose="02010600040101010101" pitchFamily="2" charset="-122"/>
                <a:ea typeface="华文楷体" panose="02010600040101010101" pitchFamily="2" charset="-122"/>
              </a:rPr>
              <a:t>[ ASC | DESC ] ]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 COMPUTE </a:t>
            </a:r>
            <a:endParaRPr lang="en-US" altLang="zh-CN" sz="2400" dirty="0">
              <a:latin typeface="华文楷体" panose="02010600040101010101" pitchFamily="2" charset="-122"/>
              <a:ea typeface="华文楷体" panose="02010600040101010101" pitchFamily="2" charset="-122"/>
            </a:endParaRPr>
          </a:p>
          <a:p>
            <a:pPr marL="0" lvl="0" indent="0">
              <a:lnSpc>
                <a:spcPct val="110000"/>
              </a:lnSpc>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    </a:t>
            </a:r>
            <a:r>
              <a:rPr lang="en-US" altLang="zh-CN" sz="2400" dirty="0">
                <a:latin typeface="华文楷体" panose="02010600040101010101" pitchFamily="2" charset="-122"/>
                <a:ea typeface="华文楷体" panose="02010600040101010101" pitchFamily="2" charset="-122"/>
              </a:rPr>
              <a:t> {{AVG|COUNT|MAX|MIN|SUM}(</a:t>
            </a:r>
            <a:r>
              <a:rPr lang="zh-CN" altLang="en-US" sz="2400" dirty="0">
                <a:latin typeface="华文楷体" panose="02010600040101010101" pitchFamily="2" charset="-122"/>
                <a:ea typeface="华文楷体" panose="02010600040101010101" pitchFamily="2" charset="-122"/>
              </a:rPr>
              <a:t>表达式</a:t>
            </a:r>
            <a:r>
              <a:rPr lang="en-US" altLang="zh-CN" sz="2400" dirty="0">
                <a:latin typeface="华文楷体" panose="02010600040101010101" pitchFamily="2" charset="-122"/>
                <a:ea typeface="华文楷体" panose="02010600040101010101" pitchFamily="2" charset="-122"/>
              </a:rPr>
              <a:t>)}[,...n] </a:t>
            </a:r>
            <a:br>
              <a:rPr lang="en-US" altLang="zh-CN" sz="2400" dirty="0">
                <a:latin typeface="华文楷体" panose="02010600040101010101" pitchFamily="2" charset="-122"/>
                <a:ea typeface="华文楷体" panose="02010600040101010101" pitchFamily="2" charset="-122"/>
              </a:rPr>
            </a:br>
            <a:r>
              <a:rPr lang="en-US" altLang="zh-CN" sz="2400" dirty="0">
                <a:latin typeface="华文楷体" panose="02010600040101010101" pitchFamily="2" charset="-122"/>
                <a:ea typeface="华文楷体" panose="02010600040101010101" pitchFamily="2" charset="-122"/>
              </a:rPr>
              <a:t>          [ BY expression [ ,...n ] ]]</a:t>
            </a:r>
            <a:endParaRPr lang="en-US" altLang="zh-CN" sz="2400" dirty="0">
              <a:latin typeface="华文楷体" panose="02010600040101010101" pitchFamily="2" charset="-122"/>
              <a:ea typeface="华文楷体" panose="02010600040101010101" pitchFamily="2" charset="-122"/>
            </a:endParaRPr>
          </a:p>
        </p:txBody>
      </p:sp>
      <p:sp>
        <p:nvSpPr>
          <p:cNvPr id="56323" name="矩形 6"/>
          <p:cNvSpPr/>
          <p:nvPr/>
        </p:nvSpPr>
        <p:spPr>
          <a:xfrm>
            <a:off x="585788" y="1281113"/>
            <a:ext cx="7429500" cy="666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Wingdings" panose="05000000000000000000" pitchFamily="2" charset="2"/>
              <a:buChar char="n"/>
            </a:pPr>
            <a:r>
              <a:rPr lang="zh-CN" altLang="en-US" sz="2800" dirty="0">
                <a:solidFill>
                  <a:srgbClr val="0033CC"/>
                </a:solidFill>
                <a:latin typeface="宋体" panose="02010600030101010101" pitchFamily="2" charset="-122"/>
              </a:rPr>
              <a:t>查询表中的数据</a:t>
            </a:r>
            <a:endParaRPr lang="zh-CN" altLang="en-US" sz="2800" dirty="0">
              <a:solidFill>
                <a:srgbClr val="0033CC"/>
              </a:solidFill>
              <a:latin typeface="宋体" panose="02010600030101010101" pitchFamily="2" charset="-122"/>
            </a:endParaRPr>
          </a:p>
        </p:txBody>
      </p:sp>
      <p:sp>
        <p:nvSpPr>
          <p:cNvPr id="56324" name="矩形 3"/>
          <p:cNvSpPr/>
          <p:nvPr/>
        </p:nvSpPr>
        <p:spPr>
          <a:xfrm>
            <a:off x="511175" y="758825"/>
            <a:ext cx="8375650" cy="12017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2.SQL Server</a:t>
            </a:r>
            <a:r>
              <a:rPr lang="zh-CN" altLang="en-US" sz="2800" dirty="0">
                <a:solidFill>
                  <a:srgbClr val="0033CC"/>
                </a:solidFill>
                <a:latin typeface="黑体" panose="02010609060101010101" pitchFamily="49" charset="-122"/>
                <a:ea typeface="黑体" panose="02010609060101010101" pitchFamily="49" charset="-122"/>
              </a:rPr>
              <a:t>中表定义及操作基础</a:t>
            </a:r>
            <a:endParaRPr lang="zh-CN" altLang="en-US"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2" name="文本框 1"/>
          <p:cNvSpPr txBox="1"/>
          <p:nvPr/>
        </p:nvSpPr>
        <p:spPr>
          <a:xfrm>
            <a:off x="785813" y="4775200"/>
            <a:ext cx="7621587" cy="11064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select * from stu</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select * from Course</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select * from ctake</a:t>
            </a:r>
            <a:endParaRPr lang="zh-CN" altLang="en-US" sz="2200" dirty="0"/>
          </a:p>
        </p:txBody>
      </p:sp>
      <p:sp>
        <p:nvSpPr>
          <p:cNvPr id="5632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7346" name="图片 1"/>
          <p:cNvPicPr>
            <a:picLocks noChangeAspect="1"/>
          </p:cNvPicPr>
          <p:nvPr>
            <p:custDataLst>
              <p:tags r:id="rId1"/>
            </p:custDataLst>
          </p:nvPr>
        </p:nvPicPr>
        <p:blipFill>
          <a:blip r:embed="rId2"/>
          <a:stretch>
            <a:fillRect/>
          </a:stretch>
        </p:blipFill>
        <p:spPr>
          <a:xfrm>
            <a:off x="479425" y="1425575"/>
            <a:ext cx="8185150" cy="3086100"/>
          </a:xfrm>
          <a:prstGeom prst="rect">
            <a:avLst/>
          </a:prstGeom>
          <a:noFill/>
          <a:ln w="9525">
            <a:noFill/>
          </a:ln>
        </p:spPr>
      </p:pic>
      <p:sp>
        <p:nvSpPr>
          <p:cNvPr id="57347" name="Rectangle 2"/>
          <p:cNvSpPr txBox="1"/>
          <p:nvPr/>
        </p:nvSpPr>
        <p:spPr>
          <a:xfrm>
            <a:off x="547688" y="839788"/>
            <a:ext cx="8189912" cy="581025"/>
          </a:xfrm>
          <a:prstGeom prst="rect">
            <a:avLst/>
          </a:prstGeom>
          <a:solidFill>
            <a:srgbClr val="FFFFFF"/>
          </a:solid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中宋" panose="02010600040101010101" pitchFamily="2" charset="-122"/>
                <a:ea typeface="华文中宋" panose="02010600040101010101" pitchFamily="2" charset="-122"/>
              </a:rPr>
              <a:t>补充：常用的日期处理函数</a:t>
            </a:r>
            <a:endParaRPr lang="zh-CN" altLang="en-US" sz="2800" dirty="0">
              <a:solidFill>
                <a:srgbClr val="0033CC"/>
              </a:solidFill>
              <a:latin typeface="华文中宋" panose="02010600040101010101" pitchFamily="2" charset="-122"/>
              <a:ea typeface="华文中宋" panose="02010600040101010101" pitchFamily="2" charset="-122"/>
            </a:endParaRPr>
          </a:p>
        </p:txBody>
      </p:sp>
      <p:sp>
        <p:nvSpPr>
          <p:cNvPr id="5734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
        <p:nvSpPr>
          <p:cNvPr id="10" name="文本框 3"/>
          <p:cNvSpPr txBox="1"/>
          <p:nvPr/>
        </p:nvSpPr>
        <p:spPr>
          <a:xfrm>
            <a:off x="501650" y="4397375"/>
            <a:ext cx="7835900" cy="3698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DateDiff(s,'2005-07-20','2005-7-25 22:56:32')返回值为 514592 秒</a:t>
            </a:r>
            <a:endParaRPr lang="zh-CN" altLang="en-US" sz="1800" dirty="0"/>
          </a:p>
        </p:txBody>
      </p:sp>
      <p:sp>
        <p:nvSpPr>
          <p:cNvPr id="11" name="文本框 4"/>
          <p:cNvSpPr txBox="1"/>
          <p:nvPr/>
        </p:nvSpPr>
        <p:spPr>
          <a:xfrm>
            <a:off x="498475" y="4719638"/>
            <a:ext cx="7121525"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DateDiff(d,'2005-07-20','2005-7-25 22:56:32')返回值为 5 天</a:t>
            </a:r>
            <a:endParaRPr lang="zh-CN" altLang="en-US" sz="1800" dirty="0"/>
          </a:p>
        </p:txBody>
      </p:sp>
      <p:sp>
        <p:nvSpPr>
          <p:cNvPr id="12" name="文本框 5"/>
          <p:cNvSpPr txBox="1"/>
          <p:nvPr/>
        </p:nvSpPr>
        <p:spPr>
          <a:xfrm>
            <a:off x="498475" y="5048250"/>
            <a:ext cx="79184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DatePart(w,'2005-7-25 22:56:32')返回值为 2 即星期一(周日为1，周六为7)</a:t>
            </a:r>
            <a:endParaRPr lang="zh-CN" altLang="en-US" sz="1800" dirty="0"/>
          </a:p>
        </p:txBody>
      </p:sp>
      <p:sp>
        <p:nvSpPr>
          <p:cNvPr id="13" name="文本框 6"/>
          <p:cNvSpPr txBox="1"/>
          <p:nvPr/>
        </p:nvSpPr>
        <p:spPr>
          <a:xfrm>
            <a:off x="498475" y="5354638"/>
            <a:ext cx="77533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DatePart(</a:t>
            </a:r>
            <a:r>
              <a:rPr lang="en-US" altLang="zh-CN" sz="1800" dirty="0"/>
              <a:t>d</a:t>
            </a:r>
            <a:r>
              <a:rPr lang="zh-CN" altLang="en-US" sz="1800" dirty="0"/>
              <a:t>,'2005-7-25 22:56:32')返回值为 25即25号</a:t>
            </a:r>
            <a:endParaRPr lang="zh-CN" altLang="en-US" sz="1800" dirty="0"/>
          </a:p>
        </p:txBody>
      </p:sp>
      <p:sp>
        <p:nvSpPr>
          <p:cNvPr id="14" name="文本框 7"/>
          <p:cNvSpPr txBox="1"/>
          <p:nvPr/>
        </p:nvSpPr>
        <p:spPr>
          <a:xfrm>
            <a:off x="476250" y="5653088"/>
            <a:ext cx="7143750" cy="368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zh-CN" altLang="en-US" sz="1800" dirty="0"/>
              <a:t>DatePart(yyyy,'2005-7-25 22:56:32')返回值为 2005即2005年</a:t>
            </a:r>
            <a:endParaRPr lang="zh-CN" altLang="en-US" sz="1800" dirty="0"/>
          </a:p>
        </p:txBody>
      </p:sp>
      <p:sp>
        <p:nvSpPr>
          <p:cNvPr id="15" name="矩形 14"/>
          <p:cNvSpPr/>
          <p:nvPr/>
        </p:nvSpPr>
        <p:spPr>
          <a:xfrm>
            <a:off x="6751638" y="1049338"/>
            <a:ext cx="1885950" cy="1477963"/>
          </a:xfrm>
          <a:prstGeom prst="rect">
            <a:avLst/>
          </a:prstGeom>
          <a:solidFill>
            <a:schemeClr val="accent5"/>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Y</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：返回年</a:t>
            </a:r>
            <a:endPar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D</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：返回天数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H</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：返回小时数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N</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：返回分钟数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S</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：返回秒数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p:txBody>
      </p:sp>
      <p:sp>
        <p:nvSpPr>
          <p:cNvPr id="16" name="矩形 15"/>
          <p:cNvSpPr/>
          <p:nvPr/>
        </p:nvSpPr>
        <p:spPr>
          <a:xfrm>
            <a:off x="6656388" y="2641600"/>
            <a:ext cx="2076450" cy="1754188"/>
          </a:xfrm>
          <a:prstGeom prst="rect">
            <a:avLst/>
          </a:prstGeom>
          <a:solidFill>
            <a:schemeClr val="accent5"/>
          </a:solidFill>
        </p:spPr>
        <p:txBody>
          <a:bodyPr>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YEAR</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：年份</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MONTH</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：月份</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DAY</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：日份</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HOUR</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：小时数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MINUTE</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：分钟数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SECOND</a:t>
            </a:r>
            <a:r>
              <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rPr>
              <a:t>：秒数</a:t>
            </a:r>
            <a:endParaRPr kumimoji="0" lang="zh-CN" altLang="en-US" sz="1800" b="0" i="0" u="none" strike="noStrike" kern="1200" cap="none" spc="0" normalizeH="0" baseline="0" noProof="0" dirty="0">
              <a:ln>
                <a:noFill/>
              </a:ln>
              <a:solidFill>
                <a:srgbClr val="374151"/>
              </a:solidFill>
              <a:effectLst/>
              <a:uLnTx/>
              <a:uFillTx/>
              <a:latin typeface="Söhne"/>
              <a:ea typeface="宋体" panose="02010600030101010101" pitchFamily="2" charset="-122"/>
              <a:cs typeface="+mn-cs"/>
            </a:endParaRPr>
          </a:p>
        </p:txBody>
      </p:sp>
      <p:sp>
        <p:nvSpPr>
          <p:cNvPr id="17" name="矩形 16"/>
          <p:cNvSpPr/>
          <p:nvPr/>
        </p:nvSpPr>
        <p:spPr>
          <a:xfrm>
            <a:off x="457200" y="5980113"/>
            <a:ext cx="6724650" cy="369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ClrTx/>
              <a:buSzTx/>
              <a:buFontTx/>
              <a:buNone/>
            </a:pPr>
            <a:r>
              <a:rPr lang="en-US" altLang="zh-CN" sz="1800" dirty="0">
                <a:latin typeface="Söhne Mono"/>
              </a:rPr>
              <a:t>DATENAME(MONTH, '2022-04-01') AS MonthName;</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1+#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P spid="15" grpId="0" animBg="1"/>
      <p:bldP spid="16" grpId="0" animBg="1"/>
      <p:bldP spid="1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2"/>
          <p:cNvSpPr txBox="1"/>
          <p:nvPr/>
        </p:nvSpPr>
        <p:spPr>
          <a:xfrm>
            <a:off x="547688" y="839788"/>
            <a:ext cx="8189912" cy="581025"/>
          </a:xfrm>
          <a:prstGeom prst="rect">
            <a:avLst/>
          </a:prstGeom>
          <a:solidFill>
            <a:srgbClr val="FFFFFF"/>
          </a:solid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中宋" panose="02010600040101010101" pitchFamily="2" charset="-122"/>
                <a:ea typeface="华文中宋" panose="02010600040101010101" pitchFamily="2" charset="-122"/>
              </a:rPr>
              <a:t>补充：常用的字符串处理函数</a:t>
            </a:r>
            <a:endParaRPr lang="zh-CN" altLang="en-US" sz="2800" dirty="0">
              <a:solidFill>
                <a:srgbClr val="0033CC"/>
              </a:solidFill>
              <a:latin typeface="华文中宋" panose="02010600040101010101" pitchFamily="2" charset="-122"/>
              <a:ea typeface="华文中宋" panose="02010600040101010101" pitchFamily="2" charset="-122"/>
            </a:endParaRPr>
          </a:p>
        </p:txBody>
      </p:sp>
      <p:sp>
        <p:nvSpPr>
          <p:cNvPr id="58371" name="文本框 5"/>
          <p:cNvSpPr txBox="1"/>
          <p:nvPr/>
        </p:nvSpPr>
        <p:spPr>
          <a:xfrm>
            <a:off x="661988" y="1420813"/>
            <a:ext cx="7959725"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FF0000"/>
                </a:solidFill>
              </a:rPr>
              <a:t>1、LEFT ( character_expression , integer_expression )</a:t>
            </a:r>
            <a:endParaRPr lang="zh-CN" altLang="en-US" sz="2200" dirty="0">
              <a:solidFill>
                <a:srgbClr val="FF0000"/>
              </a:solidFill>
            </a:endParaRPr>
          </a:p>
        </p:txBody>
      </p:sp>
      <p:sp>
        <p:nvSpPr>
          <p:cNvPr id="58372" name="文本框 8"/>
          <p:cNvSpPr txBox="1"/>
          <p:nvPr/>
        </p:nvSpPr>
        <p:spPr>
          <a:xfrm>
            <a:off x="796925" y="1897063"/>
            <a:ext cx="7824788" cy="1087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1800" dirty="0"/>
              <a:t>函数说明：LEFT ( '源字符串' , '要截取最左边的字符数'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返回从字符串左边开始指定个数的字符</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LEFT('SQL_Server_2008',4 )       返回结果：SQL_</a:t>
            </a:r>
            <a:endParaRPr lang="zh-CN" altLang="en-US" sz="1800" dirty="0"/>
          </a:p>
        </p:txBody>
      </p:sp>
      <p:sp>
        <p:nvSpPr>
          <p:cNvPr id="10" name="文本框 9"/>
          <p:cNvSpPr txBox="1"/>
          <p:nvPr/>
        </p:nvSpPr>
        <p:spPr>
          <a:xfrm>
            <a:off x="649288" y="3000375"/>
            <a:ext cx="7959725"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FF0000"/>
                </a:solidFill>
              </a:rPr>
              <a:t>2</a:t>
            </a:r>
            <a:r>
              <a:rPr lang="zh-CN" altLang="en-US" sz="2200" dirty="0">
                <a:solidFill>
                  <a:srgbClr val="FF0000"/>
                </a:solidFill>
              </a:rPr>
              <a:t>、RIGHT ( character_expression , integer_expression )</a:t>
            </a:r>
            <a:endParaRPr lang="zh-CN" altLang="en-US" sz="2200" dirty="0">
              <a:solidFill>
                <a:srgbClr val="FF0000"/>
              </a:solidFill>
            </a:endParaRPr>
          </a:p>
        </p:txBody>
      </p:sp>
      <p:sp>
        <p:nvSpPr>
          <p:cNvPr id="22" name="文本框 21"/>
          <p:cNvSpPr txBox="1"/>
          <p:nvPr/>
        </p:nvSpPr>
        <p:spPr>
          <a:xfrm>
            <a:off x="796925" y="3506788"/>
            <a:ext cx="7689850" cy="1087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1800" dirty="0"/>
              <a:t>函数说明：RIGHT ( '源字符串' , '要截取最右边的字符数'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返回字符串中从右边开始指定个数的 integer_expression 字符</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RIGHT('SQL_Server_2008',4 )      返回结果：2008</a:t>
            </a:r>
            <a:endParaRPr lang="zh-CN" altLang="en-US" sz="1800" dirty="0"/>
          </a:p>
        </p:txBody>
      </p:sp>
      <p:sp>
        <p:nvSpPr>
          <p:cNvPr id="23" name="文本框 22"/>
          <p:cNvSpPr txBox="1"/>
          <p:nvPr/>
        </p:nvSpPr>
        <p:spPr>
          <a:xfrm>
            <a:off x="663575" y="4564063"/>
            <a:ext cx="7959725"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FF0000"/>
                </a:solidFill>
              </a:rPr>
              <a:t>3</a:t>
            </a:r>
            <a:r>
              <a:rPr lang="zh-CN" altLang="en-US" sz="2200" dirty="0">
                <a:solidFill>
                  <a:srgbClr val="FF0000"/>
                </a:solidFill>
              </a:rPr>
              <a:t>、SUBSTRING ( character_expression , start , length )</a:t>
            </a:r>
            <a:endParaRPr lang="zh-CN" altLang="en-US" sz="2200" dirty="0">
              <a:solidFill>
                <a:srgbClr val="FF0000"/>
              </a:solidFill>
            </a:endParaRPr>
          </a:p>
        </p:txBody>
      </p:sp>
      <p:sp>
        <p:nvSpPr>
          <p:cNvPr id="29" name="文本框 28"/>
          <p:cNvSpPr txBox="1"/>
          <p:nvPr/>
        </p:nvSpPr>
        <p:spPr>
          <a:xfrm>
            <a:off x="796925" y="5060950"/>
            <a:ext cx="7824788" cy="10874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1800" dirty="0"/>
              <a:t>函数说明：SUBSTRING ( '源字符串' , '截取起始位置' , '截取长度' )</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返回字符、binary、text 或 image 表达式的一部分</a:t>
            </a:r>
            <a:endParaRPr lang="zh-CN" altLang="en-US" sz="1800" dirty="0"/>
          </a:p>
          <a:p>
            <a:pPr marL="0" lvl="0" indent="0" eaLnBrk="1" hangingPunct="1">
              <a:lnSpc>
                <a:spcPct val="120000"/>
              </a:lnSpc>
              <a:spcBef>
                <a:spcPct val="0"/>
              </a:spcBef>
              <a:buClrTx/>
              <a:buSzTx/>
              <a:buFont typeface="Arial" panose="020B0604020202020204" pitchFamily="34" charset="0"/>
              <a:buNone/>
            </a:pPr>
            <a:r>
              <a:rPr lang="zh-CN" altLang="en-US" sz="1800" dirty="0"/>
              <a:t>SUBSTRING('SQL_Server_2008',5 ,6)       返回结果：Server</a:t>
            </a:r>
            <a:endParaRPr lang="zh-CN" altLang="en-US" sz="1800" dirty="0"/>
          </a:p>
        </p:txBody>
      </p:sp>
      <p:sp>
        <p:nvSpPr>
          <p:cNvPr id="5837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ppt_x"/>
                                          </p:val>
                                        </p:tav>
                                        <p:tav tm="100000">
                                          <p:val>
                                            <p:strVal val="#ppt_x"/>
                                          </p:val>
                                        </p:tav>
                                      </p:tavLst>
                                    </p:anim>
                                    <p:anim calcmode="lin" valueType="num">
                                      <p:cBhvr>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ppt_x</p:attrName>
                                        </p:attrNameLst>
                                      </p:cBhvr>
                                      <p:tavLst>
                                        <p:tav tm="0">
                                          <p:val>
                                            <p:strVal val="#ppt_x"/>
                                          </p:val>
                                        </p:tav>
                                        <p:tav tm="100000">
                                          <p:val>
                                            <p:strVal val="#ppt_x"/>
                                          </p:val>
                                        </p:tav>
                                      </p:tavLst>
                                    </p:anim>
                                    <p:anim calcmode="lin" valueType="num">
                                      <p:cBhvr>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500" fill="hold"/>
                                        <p:tgtEl>
                                          <p:spTgt spid="23"/>
                                        </p:tgtEl>
                                        <p:attrNameLst>
                                          <p:attrName>ppt_x</p:attrName>
                                        </p:attrNameLst>
                                      </p:cBhvr>
                                      <p:tavLst>
                                        <p:tav tm="0">
                                          <p:val>
                                            <p:strVal val="#ppt_x"/>
                                          </p:val>
                                        </p:tav>
                                        <p:tav tm="100000">
                                          <p:val>
                                            <p:strVal val="#ppt_x"/>
                                          </p:val>
                                        </p:tav>
                                      </p:tavLst>
                                    </p:anim>
                                    <p:anim calcmode="lin" valueType="num">
                                      <p:cBhvr>
                                        <p:cTn id="18" dur="500" fill="hold"/>
                                        <p:tgtEl>
                                          <p:spTgt spid="23"/>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ppt_x</p:attrName>
                                        </p:attrNameLst>
                                      </p:cBhvr>
                                      <p:tavLst>
                                        <p:tav tm="0">
                                          <p:val>
                                            <p:strVal val="#ppt_x"/>
                                          </p:val>
                                        </p:tav>
                                        <p:tav tm="100000">
                                          <p:val>
                                            <p:strVal val="#ppt_x"/>
                                          </p:val>
                                        </p:tav>
                                      </p:tavLst>
                                    </p:anim>
                                    <p:anim calcmode="lin" valueType="num">
                                      <p:cBhvr>
                                        <p:cTn id="22"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p:bldP spid="23" grpId="0"/>
      <p:bldP spid="2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9394" name="组合 51"/>
          <p:cNvGrpSpPr/>
          <p:nvPr/>
        </p:nvGrpSpPr>
        <p:grpSpPr>
          <a:xfrm>
            <a:off x="844550" y="1617663"/>
            <a:ext cx="3240088" cy="1701800"/>
            <a:chOff x="507" y="5319"/>
            <a:chExt cx="4645" cy="2248"/>
          </a:xfrm>
        </p:grpSpPr>
        <p:sp>
          <p:nvSpPr>
            <p:cNvPr id="3" name="矩形 2"/>
            <p:cNvSpPr/>
            <p:nvPr/>
          </p:nvSpPr>
          <p:spPr>
            <a:xfrm>
              <a:off x="3390" y="6514"/>
              <a:ext cx="1762" cy="7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员工</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4" name="椭圆 3"/>
            <p:cNvSpPr/>
            <p:nvPr/>
          </p:nvSpPr>
          <p:spPr>
            <a:xfrm>
              <a:off x="846" y="5319"/>
              <a:ext cx="1814" cy="6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1">
                  <a:ln>
                    <a:noFill/>
                  </a:ln>
                  <a:solidFill>
                    <a:srgbClr val="FF0000"/>
                  </a:solidFill>
                  <a:effectLst/>
                  <a:uLnTx/>
                  <a:uFillTx/>
                  <a:latin typeface="+mn-lt"/>
                  <a:ea typeface="+mn-ea"/>
                  <a:cs typeface="+mn-cs"/>
                </a:rPr>
                <a:t>员工号</a:t>
              </a:r>
              <a:endParaRPr kumimoji="0" lang="zh-CN" altLang="en-US" sz="1800" b="1" i="0" u="sng" strike="noStrike" kern="1200" cap="none" spc="0" normalizeH="0" baseline="0" noProof="1">
                <a:ln>
                  <a:noFill/>
                </a:ln>
                <a:solidFill>
                  <a:srgbClr val="FF0000"/>
                </a:solidFill>
                <a:effectLst/>
                <a:uLnTx/>
                <a:uFillTx/>
                <a:latin typeface="+mn-lt"/>
                <a:ea typeface="+mn-ea"/>
                <a:cs typeface="+mn-cs"/>
              </a:endParaRPr>
            </a:p>
          </p:txBody>
        </p:sp>
        <p:sp>
          <p:nvSpPr>
            <p:cNvPr id="5" name="椭圆 4"/>
            <p:cNvSpPr/>
            <p:nvPr/>
          </p:nvSpPr>
          <p:spPr>
            <a:xfrm>
              <a:off x="1110" y="6005"/>
              <a:ext cx="1472"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姓名</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7" name="椭圆 6"/>
            <p:cNvSpPr/>
            <p:nvPr/>
          </p:nvSpPr>
          <p:spPr>
            <a:xfrm>
              <a:off x="507" y="6514"/>
              <a:ext cx="2098" cy="5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身份证号</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sp>
          <p:nvSpPr>
            <p:cNvPr id="8" name="椭圆 7"/>
            <p:cNvSpPr/>
            <p:nvPr/>
          </p:nvSpPr>
          <p:spPr>
            <a:xfrm>
              <a:off x="1110" y="7057"/>
              <a:ext cx="1472" cy="510"/>
            </a:xfrm>
            <a:prstGeom prst="ellipse">
              <a:avLst/>
            </a:prstGeom>
            <a:ln>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1">
                  <a:ln>
                    <a:noFill/>
                  </a:ln>
                  <a:solidFill>
                    <a:schemeClr val="tx1"/>
                  </a:solidFill>
                  <a:effectLst/>
                  <a:uLnTx/>
                  <a:uFillTx/>
                  <a:latin typeface="+mn-lt"/>
                  <a:ea typeface="+mn-ea"/>
                  <a:cs typeface="+mn-cs"/>
                </a:rPr>
                <a:t>年龄</a:t>
              </a:r>
              <a:endParaRPr kumimoji="0" lang="zh-CN" altLang="en-US" sz="1800" b="1" i="0" u="none" strike="noStrike" kern="1200" cap="none" spc="0" normalizeH="0" baseline="0" noProof="1">
                <a:ln>
                  <a:noFill/>
                </a:ln>
                <a:solidFill>
                  <a:schemeClr val="tx1"/>
                </a:solidFill>
                <a:effectLst/>
                <a:uLnTx/>
                <a:uFillTx/>
                <a:latin typeface="+mn-lt"/>
                <a:ea typeface="+mn-ea"/>
                <a:cs typeface="+mn-cs"/>
              </a:endParaRPr>
            </a:p>
          </p:txBody>
        </p:sp>
        <p:cxnSp>
          <p:nvCxnSpPr>
            <p:cNvPr id="18" name="直接连接符 17"/>
            <p:cNvCxnSpPr>
              <a:stCxn id="4" idx="5"/>
              <a:endCxn id="3" idx="1"/>
            </p:cNvCxnSpPr>
            <p:nvPr/>
          </p:nvCxnSpPr>
          <p:spPr>
            <a:xfrm>
              <a:off x="2394" y="5852"/>
              <a:ext cx="997" cy="102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a:endCxn id="3" idx="1"/>
            </p:cNvCxnSpPr>
            <p:nvPr/>
          </p:nvCxnSpPr>
          <p:spPr>
            <a:xfrm>
              <a:off x="2583" y="6261"/>
              <a:ext cx="790" cy="6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605" y="6770"/>
              <a:ext cx="785" cy="10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8" idx="7"/>
              <a:endCxn id="3" idx="1"/>
            </p:cNvCxnSpPr>
            <p:nvPr/>
          </p:nvCxnSpPr>
          <p:spPr>
            <a:xfrm flipV="1">
              <a:off x="2366" y="6879"/>
              <a:ext cx="1024" cy="254"/>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59395" name="Rectangle 2"/>
          <p:cNvSpPr txBox="1"/>
          <p:nvPr/>
        </p:nvSpPr>
        <p:spPr>
          <a:xfrm>
            <a:off x="547688" y="839788"/>
            <a:ext cx="8189912" cy="581025"/>
          </a:xfrm>
          <a:prstGeom prst="rect">
            <a:avLst/>
          </a:prstGeom>
          <a:solidFill>
            <a:srgbClr val="FFFFFF"/>
          </a:solid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33CC"/>
                </a:solidFill>
                <a:latin typeface="华文中宋" panose="02010600040101010101" pitchFamily="2" charset="-122"/>
                <a:ea typeface="华文中宋" panose="02010600040101010101" pitchFamily="2" charset="-122"/>
              </a:rPr>
              <a:t>补充：常用的字符串处理函数</a:t>
            </a:r>
            <a:endParaRPr lang="zh-CN" altLang="en-US" sz="2800" dirty="0">
              <a:solidFill>
                <a:srgbClr val="0033CC"/>
              </a:solidFill>
              <a:latin typeface="华文中宋" panose="02010600040101010101" pitchFamily="2" charset="-122"/>
              <a:ea typeface="华文中宋" panose="02010600040101010101" pitchFamily="2" charset="-122"/>
            </a:endParaRPr>
          </a:p>
        </p:txBody>
      </p:sp>
      <p:sp>
        <p:nvSpPr>
          <p:cNvPr id="35" name="文本框 34"/>
          <p:cNvSpPr txBox="1"/>
          <p:nvPr/>
        </p:nvSpPr>
        <p:spPr>
          <a:xfrm>
            <a:off x="930275" y="3515995"/>
            <a:ext cx="7807960" cy="2515235"/>
          </a:xfrm>
          <a:prstGeom prst="rect">
            <a:avLst/>
          </a:prstGeom>
          <a:no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sym typeface="+mn-ea"/>
              </a:rPr>
              <a:t>CREATE TABLE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ENo</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1">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EIDCard </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char(18)</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rPr>
              <a:t>Age</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rPr>
              <a:t>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rPr>
              <a:t>as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Datepart(yyyy,GetDate()</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rPr>
              <a:t>)- </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rPr>
              <a:t>              Datepart(yyyy,Convert(Datetime,SubString(EIDCard,7,8)))</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rPr>
              <a:t>)</a:t>
            </a:r>
            <a:endParaRPr kumimoji="0" lang="en-US" altLang="zh-CN" kern="1200" cap="none" spc="0" normalizeH="0" baseline="0" noProof="1">
              <a:latin typeface="Arial" panose="020B0604020202020204" pitchFamily="34" charset="0"/>
              <a:ea typeface="宋体" panose="02010600030101010101" pitchFamily="2" charset="-122"/>
              <a:cs typeface="+mn-cs"/>
            </a:endParaRPr>
          </a:p>
        </p:txBody>
      </p:sp>
      <p:sp>
        <p:nvSpPr>
          <p:cNvPr id="12" name="矩形 11"/>
          <p:cNvSpPr/>
          <p:nvPr/>
        </p:nvSpPr>
        <p:spPr>
          <a:xfrm>
            <a:off x="2193925" y="4999038"/>
            <a:ext cx="2779713" cy="292100"/>
          </a:xfrm>
          <a:prstGeom prst="rect">
            <a:avLst/>
          </a:prstGeom>
          <a:solidFill>
            <a:schemeClr val="accent1">
              <a:lumMod val="75000"/>
              <a:alpha val="55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4" name="矩形 13"/>
          <p:cNvSpPr/>
          <p:nvPr/>
        </p:nvSpPr>
        <p:spPr>
          <a:xfrm>
            <a:off x="5434013" y="5291138"/>
            <a:ext cx="2560638" cy="342900"/>
          </a:xfrm>
          <a:prstGeom prst="rect">
            <a:avLst/>
          </a:prstGeom>
          <a:gradFill>
            <a:gsLst>
              <a:gs pos="0">
                <a:srgbClr val="FBFB11">
                  <a:alpha val="0"/>
                </a:srgbClr>
              </a:gs>
              <a:gs pos="100000">
                <a:srgbClr val="838309"/>
              </a:gs>
            </a:gsLst>
            <a:lin ang="5400000" scaled="0"/>
          </a:gra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5" name="矩形 14"/>
          <p:cNvSpPr/>
          <p:nvPr/>
        </p:nvSpPr>
        <p:spPr>
          <a:xfrm>
            <a:off x="3468688" y="5291138"/>
            <a:ext cx="4591050" cy="342900"/>
          </a:xfrm>
          <a:prstGeom prst="rect">
            <a:avLst/>
          </a:prstGeom>
          <a:gradFill>
            <a:gsLst>
              <a:gs pos="0">
                <a:srgbClr val="14CD68">
                  <a:alpha val="0"/>
                </a:srgbClr>
              </a:gs>
              <a:gs pos="100000">
                <a:srgbClr val="0B6E38"/>
              </a:gs>
            </a:gsLst>
            <a:lin ang="5400000" scaled="0"/>
          </a:gra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pic>
        <p:nvPicPr>
          <p:cNvPr id="11" name="图片 10"/>
          <p:cNvPicPr>
            <a:picLocks noChangeAspect="1"/>
          </p:cNvPicPr>
          <p:nvPr/>
        </p:nvPicPr>
        <p:blipFill>
          <a:blip r:embed="rId1"/>
          <a:stretch>
            <a:fillRect/>
          </a:stretch>
        </p:blipFill>
        <p:spPr>
          <a:xfrm>
            <a:off x="1322388" y="1106488"/>
            <a:ext cx="7024687" cy="4821237"/>
          </a:xfrm>
          <a:prstGeom prst="rect">
            <a:avLst/>
          </a:prstGeom>
          <a:noFill/>
          <a:ln w="9525">
            <a:noFill/>
          </a:ln>
        </p:spPr>
      </p:pic>
      <p:sp>
        <p:nvSpPr>
          <p:cNvPr id="16" name="椭圆 15"/>
          <p:cNvSpPr/>
          <p:nvPr/>
        </p:nvSpPr>
        <p:spPr>
          <a:xfrm>
            <a:off x="1882775" y="3076575"/>
            <a:ext cx="6162675" cy="328613"/>
          </a:xfrm>
          <a:prstGeom prst="ellipse">
            <a:avLst/>
          </a:prstGeom>
          <a:noFill/>
          <a:ln>
            <a:solidFill>
              <a:srgbClr val="CC00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1">
              <a:ln>
                <a:noFill/>
              </a:ln>
              <a:solidFill>
                <a:schemeClr val="lt1"/>
              </a:solidFill>
              <a:effectLst/>
              <a:uLnTx/>
              <a:uFillTx/>
              <a:latin typeface="+mn-lt"/>
              <a:ea typeface="+mn-ea"/>
              <a:cs typeface="+mn-cs"/>
            </a:endParaRPr>
          </a:p>
        </p:txBody>
      </p:sp>
      <p:sp>
        <p:nvSpPr>
          <p:cNvPr id="17" name="文本框 16"/>
          <p:cNvSpPr txBox="1"/>
          <p:nvPr/>
        </p:nvSpPr>
        <p:spPr>
          <a:xfrm>
            <a:off x="774700" y="3628390"/>
            <a:ext cx="7735570" cy="2515235"/>
          </a:xfrm>
          <a:prstGeom prst="rect">
            <a:avLst/>
          </a:prstGeom>
          <a:solidFill>
            <a:schemeClr val="accent6">
              <a:lumMod val="20000"/>
              <a:lumOff val="80000"/>
            </a:schemeClr>
          </a:solid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sym typeface="+mn-ea"/>
              </a:rPr>
              <a:t>CREATE TABLE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Employee2</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ENo</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1">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1">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1">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EIDCard </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char(18)</a:t>
            </a:r>
            <a:r>
              <a:rPr kumimoji="0" lang="zh-CN" altLang="en-US"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1">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latin typeface="Arial" panose="020B0604020202020204" pitchFamily="34" charset="0"/>
                <a:ea typeface="宋体" panose="02010600030101010101" pitchFamily="2" charset="-122"/>
                <a:cs typeface="+mn-cs"/>
                <a:sym typeface="+mn-ea"/>
              </a:rPr>
              <a:t>Age</a:t>
            </a:r>
            <a:r>
              <a:rPr kumimoji="0" lang="en-US" altLang="zh-CN" kern="1200" cap="none" spc="0" normalizeH="0" baseline="0" noProof="1">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as  Datepart(yyyy,GetDate())- </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sym typeface="+mn-ea"/>
              </a:rPr>
              <a:t>              Convert(int,SubString(EIDCard,7,4))</a:t>
            </a:r>
            <a:endParaRPr kumimoji="0" lang="en-US" altLang="zh-CN" kern="1200" cap="none" spc="0" normalizeH="0" baseline="0" noProof="1">
              <a:solidFill>
                <a:srgbClr val="CC00FF"/>
              </a:solidFill>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1">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p:txBody>
      </p:sp>
      <p:sp>
        <p:nvSpPr>
          <p:cNvPr id="5940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ppt_x</p:attrName>
                                        </p:attrNameLst>
                                      </p:cBhvr>
                                      <p:tavLst>
                                        <p:tav tm="0">
                                          <p:val>
                                            <p:strVal val="#ppt_x"/>
                                          </p:val>
                                        </p:tav>
                                        <p:tav tm="100000">
                                          <p:val>
                                            <p:strVal val="#ppt_x"/>
                                          </p:val>
                                        </p:tav>
                                      </p:tavLst>
                                    </p:anim>
                                    <p:anim calcmode="lin" valueType="num">
                                      <p:cBhvr>
                                        <p:cTn id="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p:cTn id="13" dur="500" fill="hold"/>
                                        <p:tgtEl>
                                          <p:spTgt spid="12"/>
                                        </p:tgtEl>
                                        <p:attrNameLst>
                                          <p:attrName>ppt_x</p:attrName>
                                        </p:attrNameLst>
                                      </p:cBhvr>
                                      <p:tavLst>
                                        <p:tav tm="0">
                                          <p:val>
                                            <p:strVal val="#ppt_x"/>
                                          </p:val>
                                        </p:tav>
                                        <p:tav tm="100000">
                                          <p:val>
                                            <p:strVal val="#ppt_x"/>
                                          </p:val>
                                        </p:tav>
                                      </p:tavLst>
                                    </p:anim>
                                    <p:anim calcmode="lin" valueType="num">
                                      <p:cBhvr>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ppt_x</p:attrName>
                                        </p:attrNameLst>
                                      </p:cBhvr>
                                      <p:tavLst>
                                        <p:tav tm="0">
                                          <p:val>
                                            <p:strVal val="#ppt_x"/>
                                          </p:val>
                                        </p:tav>
                                        <p:tav tm="100000">
                                          <p:val>
                                            <p:strVal val="#ppt_x"/>
                                          </p:val>
                                        </p:tav>
                                      </p:tavLst>
                                    </p:anim>
                                    <p:anim calcmode="lin" valueType="num">
                                      <p:cBhvr>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ppt_x</p:attrName>
                                        </p:attrNameLst>
                                      </p:cBhvr>
                                      <p:tavLst>
                                        <p:tav tm="0">
                                          <p:val>
                                            <p:strVal val="#ppt_x"/>
                                          </p:val>
                                        </p:tav>
                                        <p:tav tm="100000">
                                          <p:val>
                                            <p:strVal val="#ppt_x"/>
                                          </p:val>
                                        </p:tav>
                                      </p:tavLst>
                                    </p:anim>
                                    <p:anim calcmode="lin" valueType="num">
                                      <p:cBhvr>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p:cTn id="37" dur="500" fill="hold"/>
                                        <p:tgtEl>
                                          <p:spTgt spid="16"/>
                                        </p:tgtEl>
                                        <p:attrNameLst>
                                          <p:attrName>ppt_x</p:attrName>
                                        </p:attrNameLst>
                                      </p:cBhvr>
                                      <p:tavLst>
                                        <p:tav tm="0">
                                          <p:val>
                                            <p:strVal val="#ppt_x"/>
                                          </p:val>
                                        </p:tav>
                                        <p:tav tm="100000">
                                          <p:val>
                                            <p:strVal val="#ppt_x"/>
                                          </p:val>
                                        </p:tav>
                                      </p:tavLst>
                                    </p:anim>
                                    <p:anim calcmode="lin" valueType="num">
                                      <p:cBhvr>
                                        <p:cTn id="3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500" fill="hold"/>
                                        <p:tgtEl>
                                          <p:spTgt spid="17"/>
                                        </p:tgtEl>
                                        <p:attrNameLst>
                                          <p:attrName>ppt_x</p:attrName>
                                        </p:attrNameLst>
                                      </p:cBhvr>
                                      <p:tavLst>
                                        <p:tav tm="0">
                                          <p:val>
                                            <p:strVal val="#ppt_x"/>
                                          </p:val>
                                        </p:tav>
                                        <p:tav tm="100000">
                                          <p:val>
                                            <p:strVal val="#ppt_x"/>
                                          </p:val>
                                        </p:tav>
                                      </p:tavLst>
                                    </p:anim>
                                    <p:anim calcmode="lin" valueType="num">
                                      <p:cBhvr>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ldLvl="0" animBg="1"/>
      <p:bldP spid="14" grpId="0" bldLvl="0" animBg="1"/>
      <p:bldP spid="15" grpId="0" bldLvl="0" animBg="1"/>
      <p:bldP spid="16" grpId="0" bldLvl="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33400" y="723900"/>
            <a:ext cx="8383588" cy="4375150"/>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研讨问题：</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、表间数据完整性的实现方法包括</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外键约束、</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、关系操作的特点是</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操作，关系由行和列组成，关系的行称为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，关系的列称为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，能唯一标识关系中每个元组的最小属性集合称为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、在下列基本表的定义中，数值５表示（   ） 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CREATE TABLE student 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(Sno  char(5) not null unique，Sname char(2))；</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60419" name="文本框 2"/>
          <p:cNvSpPr txBox="1"/>
          <p:nvPr/>
        </p:nvSpPr>
        <p:spPr>
          <a:xfrm>
            <a:off x="533400" y="5099050"/>
            <a:ext cx="8212138" cy="1003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A. 表中有５条记录             B. 表中有５列</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C. 表中字符串Sno 的长度     D. 表格的大小</a:t>
            </a:r>
            <a:endParaRPr lang="zh-CN" altLang="en-US" sz="2200" dirty="0"/>
          </a:p>
        </p:txBody>
      </p:sp>
      <p:sp>
        <p:nvSpPr>
          <p:cNvPr id="6042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25438" y="677863"/>
            <a:ext cx="2682875"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3" name="矩形 2"/>
          <p:cNvSpPr/>
          <p:nvPr/>
        </p:nvSpPr>
        <p:spPr>
          <a:xfrm>
            <a:off x="450850" y="1508125"/>
            <a:ext cx="8382000" cy="3635375"/>
          </a:xfrm>
          <a:prstGeom prst="rect">
            <a:avLst/>
          </a:prstGeom>
        </p:spPr>
        <p:txBody>
          <a:bodyPr>
            <a:spAutoFit/>
          </a:bodyPr>
          <a:lstStyle/>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、表间数据完整性的实现方法包括</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外键约束、</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、关系操作的特点是</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操作，关系由行和列组成，关系的行称为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，关系的列称为 </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，能唯一标识关系中每个元组的最小属性集合称为</a:t>
            </a:r>
            <a:r>
              <a:rPr kumimoji="0" lang="zh-CN" altLang="en-US"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、在下列基本表的定义中，数值５表示（   ） 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CREATE TABLE student 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(Sno  char(5) not null unique，Sname char(2))；</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60" name="文本框 59"/>
          <p:cNvSpPr txBox="1"/>
          <p:nvPr/>
        </p:nvSpPr>
        <p:spPr>
          <a:xfrm>
            <a:off x="7526338" y="1395413"/>
            <a:ext cx="1023937"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触发器</a:t>
            </a:r>
            <a:endParaRPr lang="zh-CN" altLang="en-US" sz="2200" dirty="0">
              <a:solidFill>
                <a:srgbClr val="CC00FF"/>
              </a:solidFill>
            </a:endParaRPr>
          </a:p>
        </p:txBody>
      </p:sp>
      <p:sp>
        <p:nvSpPr>
          <p:cNvPr id="4" name="文本框 3"/>
          <p:cNvSpPr txBox="1"/>
          <p:nvPr/>
        </p:nvSpPr>
        <p:spPr>
          <a:xfrm>
            <a:off x="1023938" y="1871663"/>
            <a:ext cx="744537"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断言</a:t>
            </a:r>
            <a:endParaRPr lang="zh-CN" altLang="en-US" sz="2200" dirty="0">
              <a:solidFill>
                <a:srgbClr val="CC00FF"/>
              </a:solidFill>
            </a:endParaRPr>
          </a:p>
        </p:txBody>
      </p:sp>
      <p:sp>
        <p:nvSpPr>
          <p:cNvPr id="5" name="文本框 4"/>
          <p:cNvSpPr txBox="1"/>
          <p:nvPr/>
        </p:nvSpPr>
        <p:spPr>
          <a:xfrm>
            <a:off x="3355975" y="2282825"/>
            <a:ext cx="744538" cy="5476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集合</a:t>
            </a:r>
            <a:endParaRPr lang="zh-CN" altLang="en-US" sz="2200" dirty="0">
              <a:solidFill>
                <a:srgbClr val="CC00FF"/>
              </a:solidFill>
            </a:endParaRPr>
          </a:p>
        </p:txBody>
      </p:sp>
      <p:sp>
        <p:nvSpPr>
          <p:cNvPr id="6" name="文本框 5"/>
          <p:cNvSpPr txBox="1"/>
          <p:nvPr/>
        </p:nvSpPr>
        <p:spPr>
          <a:xfrm>
            <a:off x="1503363" y="2740025"/>
            <a:ext cx="1382712"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元组</a:t>
            </a:r>
            <a:r>
              <a:rPr lang="en-US" altLang="zh-CN" sz="2200" dirty="0">
                <a:solidFill>
                  <a:srgbClr val="CC00FF"/>
                </a:solidFill>
              </a:rPr>
              <a:t>/</a:t>
            </a:r>
            <a:r>
              <a:rPr lang="zh-CN" altLang="en-US" sz="2200" dirty="0">
                <a:solidFill>
                  <a:srgbClr val="CC00FF"/>
                </a:solidFill>
              </a:rPr>
              <a:t>记录</a:t>
            </a:r>
            <a:endParaRPr lang="zh-CN" altLang="en-US" sz="2200" dirty="0">
              <a:solidFill>
                <a:srgbClr val="CC00FF"/>
              </a:solidFill>
            </a:endParaRPr>
          </a:p>
        </p:txBody>
      </p:sp>
      <p:sp>
        <p:nvSpPr>
          <p:cNvPr id="7" name="文本框 6"/>
          <p:cNvSpPr txBox="1"/>
          <p:nvPr/>
        </p:nvSpPr>
        <p:spPr>
          <a:xfrm>
            <a:off x="5408613" y="2759075"/>
            <a:ext cx="1382712" cy="5476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属性</a:t>
            </a:r>
            <a:r>
              <a:rPr lang="en-US" altLang="zh-CN" sz="2200" dirty="0">
                <a:solidFill>
                  <a:srgbClr val="CC00FF"/>
                </a:solidFill>
              </a:rPr>
              <a:t>/</a:t>
            </a:r>
            <a:r>
              <a:rPr lang="zh-CN" altLang="en-US" sz="2200" dirty="0">
                <a:solidFill>
                  <a:srgbClr val="CC00FF"/>
                </a:solidFill>
              </a:rPr>
              <a:t>字段</a:t>
            </a:r>
            <a:endParaRPr lang="zh-CN" altLang="en-US" sz="2200" dirty="0">
              <a:solidFill>
                <a:srgbClr val="CC00FF"/>
              </a:solidFill>
            </a:endParaRPr>
          </a:p>
        </p:txBody>
      </p:sp>
      <p:sp>
        <p:nvSpPr>
          <p:cNvPr id="8" name="文本框 7"/>
          <p:cNvSpPr txBox="1"/>
          <p:nvPr/>
        </p:nvSpPr>
        <p:spPr>
          <a:xfrm>
            <a:off x="5408613" y="3155950"/>
            <a:ext cx="1025525"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olidFill>
                  <a:srgbClr val="CC00FF"/>
                </a:solidFill>
              </a:rPr>
              <a:t>候选键</a:t>
            </a:r>
            <a:endParaRPr lang="zh-CN" altLang="en-US" sz="2200" dirty="0">
              <a:solidFill>
                <a:srgbClr val="CC00FF"/>
              </a:solidFill>
            </a:endParaRPr>
          </a:p>
        </p:txBody>
      </p:sp>
      <p:sp>
        <p:nvSpPr>
          <p:cNvPr id="61450" name="文本框 8"/>
          <p:cNvSpPr txBox="1"/>
          <p:nvPr/>
        </p:nvSpPr>
        <p:spPr>
          <a:xfrm>
            <a:off x="533400" y="5099050"/>
            <a:ext cx="8212138" cy="10033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t>A. 表中有５条记录             B. 表中有５列</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C. 表中字符串Sno 的长度     D. 表格的大小</a:t>
            </a:r>
            <a:endParaRPr lang="zh-CN" altLang="en-US" sz="2200" dirty="0"/>
          </a:p>
        </p:txBody>
      </p:sp>
      <p:sp>
        <p:nvSpPr>
          <p:cNvPr id="10" name="文本框 9"/>
          <p:cNvSpPr txBox="1"/>
          <p:nvPr/>
        </p:nvSpPr>
        <p:spPr>
          <a:xfrm>
            <a:off x="6245225" y="3638550"/>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C</a:t>
            </a:r>
            <a:endParaRPr lang="en-US" altLang="zh-CN" sz="2400" dirty="0">
              <a:solidFill>
                <a:srgbClr val="CC00FF"/>
              </a:solidFill>
            </a:endParaRPr>
          </a:p>
        </p:txBody>
      </p:sp>
      <p:sp>
        <p:nvSpPr>
          <p:cNvPr id="6145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500" fill="hold"/>
                                        <p:tgtEl>
                                          <p:spTgt spid="60"/>
                                        </p:tgtEl>
                                        <p:attrNameLst>
                                          <p:attrName>ppt_x</p:attrName>
                                        </p:attrNameLst>
                                      </p:cBhvr>
                                      <p:tavLst>
                                        <p:tav tm="0">
                                          <p:val>
                                            <p:strVal val="#ppt_x"/>
                                          </p:val>
                                        </p:tav>
                                        <p:tav tm="100000">
                                          <p:val>
                                            <p:strVal val="#ppt_x"/>
                                          </p:val>
                                        </p:tav>
                                      </p:tavLst>
                                    </p:anim>
                                    <p:anim calcmode="lin" valueType="num">
                                      <p:cBhvr additive="base">
                                        <p:cTn id="12" dur="500" fill="hold"/>
                                        <p:tgtEl>
                                          <p:spTgt spid="6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additive="base">
                                        <p:cTn id="29" dur="500" fill="hold"/>
                                        <p:tgtEl>
                                          <p:spTgt spid="6"/>
                                        </p:tgtEl>
                                        <p:attrNameLst>
                                          <p:attrName>ppt_x</p:attrName>
                                        </p:attrNameLst>
                                      </p:cBhvr>
                                      <p:tavLst>
                                        <p:tav tm="0">
                                          <p:val>
                                            <p:strVal val="#ppt_x"/>
                                          </p:val>
                                        </p:tav>
                                        <p:tav tm="100000">
                                          <p:val>
                                            <p:strVal val="#ppt_x"/>
                                          </p:val>
                                        </p:tav>
                                      </p:tavLst>
                                    </p:anim>
                                    <p:anim calcmode="lin" valueType="num">
                                      <p:cBhvr additive="base">
                                        <p:cTn id="3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4" grpId="0"/>
      <p:bldP spid="5" grpId="0"/>
      <p:bldP spid="6" grpId="0"/>
      <p:bldP spid="7" grpId="0"/>
      <p:bldP spid="8" grpId="0"/>
      <p:bldP spid="10"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44513" y="1411288"/>
            <a:ext cx="8383588" cy="2306638"/>
          </a:xfrm>
          <a:prstGeom prst="rect">
            <a:avLst/>
          </a:prstGeom>
        </p:spPr>
        <p:txBody>
          <a:bodyPr>
            <a:spAutoFit/>
          </a:bodyPr>
          <a:lstStyle/>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、请写出下列关系定义的</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语句。</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）学生表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Student(SID,SName,SGender,BirthDate,Age)</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各属性依次为学号</a:t>
            </a:r>
            <a:r>
              <a:rPr kumimoji="0" 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姓名、性别、出生年月、年龄</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）课程表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Course(CID,CName,Credit)</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           </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各属性依次为课程号</a:t>
            </a:r>
            <a:r>
              <a:rPr kumimoji="0" 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课程名、学分</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45" name="文本框 44"/>
          <p:cNvSpPr txBox="1"/>
          <p:nvPr/>
        </p:nvSpPr>
        <p:spPr>
          <a:xfrm>
            <a:off x="544513" y="6667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研讨问题：</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6246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544513" y="1495425"/>
            <a:ext cx="8383588" cy="3636963"/>
          </a:xfrm>
          <a:prstGeom prst="rect">
            <a:avLst/>
          </a:prstGeom>
        </p:spPr>
        <p:txBody>
          <a:bodyPr>
            <a:spAutoFit/>
          </a:bodyPr>
          <a:lstStyle/>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、请写出下列关系定义的</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语句。</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）学生表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Student(SID,SName,SGender,BirthDate,Age)</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）课程表   </a:t>
            </a: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Course(CID,CName,Credit)</a:t>
            </a:r>
            <a:endPar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45" name="文本框 44"/>
          <p:cNvSpPr txBox="1"/>
          <p:nvPr/>
        </p:nvSpPr>
        <p:spPr>
          <a:xfrm>
            <a:off x="452438" y="666750"/>
            <a:ext cx="2682875"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7" name="文本框 16"/>
          <p:cNvSpPr txBox="1"/>
          <p:nvPr/>
        </p:nvSpPr>
        <p:spPr>
          <a:xfrm>
            <a:off x="868045" y="2506345"/>
            <a:ext cx="7735570" cy="1476375"/>
          </a:xfrm>
          <a:prstGeom prst="rect">
            <a:avLst/>
          </a:prstGeom>
          <a:solidFill>
            <a:schemeClr val="accent6">
              <a:lumMod val="20000"/>
              <a:lumOff val="80000"/>
            </a:schemeClr>
          </a:solid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Student</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SID</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0">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SGender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char(2)</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BirthDate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DateTime</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1">
              <a:latin typeface="Arial" panose="020B0604020202020204" pitchFamily="34" charset="0"/>
              <a:ea typeface="宋体" panose="02010600030101010101" pitchFamily="2" charset="-122"/>
              <a:cs typeface="+mn-cs"/>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Age</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as  Datepart(yyyy,GetDate())- Datepart(yyyy,BirthDate)</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3" name="文本框 2"/>
          <p:cNvSpPr txBox="1"/>
          <p:nvPr/>
        </p:nvSpPr>
        <p:spPr>
          <a:xfrm>
            <a:off x="868045" y="4664710"/>
            <a:ext cx="7735570" cy="1476375"/>
          </a:xfrm>
          <a:prstGeom prst="rect">
            <a:avLst/>
          </a:prstGeom>
          <a:solidFill>
            <a:schemeClr val="accent6">
              <a:lumMod val="20000"/>
              <a:lumOff val="80000"/>
            </a:schemeClr>
          </a:solidFill>
        </p:spPr>
        <p:txBody>
          <a:bodyPr>
            <a:spAutoFit/>
          </a:bodyPr>
          <a:lstStyle/>
          <a:p>
            <a:pPr marR="0" defTabSz="914400" eaLnBrk="1" hangingPunct="1">
              <a:lnSpc>
                <a:spcPct val="125000"/>
              </a:lnSpc>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Course</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CID</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primary key</a:t>
            </a:r>
            <a:r>
              <a:rPr kumimoji="0" lang="zh-CN" alt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endParaRPr kumimoji="0" lang="zh-CN" altLang="en-US"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Name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varchar(20) </a:t>
            </a:r>
            <a:r>
              <a:rPr kumimoji="0" lang="en-US" altLang="zh-CN" kern="1200" cap="none" spc="0" normalizeH="0" baseline="0" noProof="0">
                <a:gradFill>
                  <a:gsLst>
                    <a:gs pos="0">
                      <a:srgbClr val="FE4444"/>
                    </a:gs>
                    <a:gs pos="100000">
                      <a:srgbClr val="832B2B"/>
                    </a:gs>
                  </a:gsLst>
                  <a:lin scaled="0"/>
                </a:gradFill>
                <a:latin typeface="Arial" panose="020B0604020202020204" pitchFamily="34" charset="0"/>
                <a:ea typeface="宋体" panose="02010600030101010101" pitchFamily="2" charset="-122"/>
                <a:cs typeface="+mn-cs"/>
                <a:sym typeface="+mn-ea"/>
              </a:rPr>
              <a:t>NOT NULL</a:t>
            </a:r>
            <a:r>
              <a:rPr kumimoji="0" lang="zh-CN" altLang="en-US" kern="1200" cap="none" spc="0" normalizeH="0" baseline="0" noProof="0">
                <a:latin typeface="Arial" panose="020B0604020202020204" pitchFamily="34" charset="0"/>
                <a:ea typeface="宋体" panose="02010600030101010101" pitchFamily="2" charset="-122"/>
                <a:cs typeface="+mn-cs"/>
                <a:sym typeface="+mn-ea"/>
              </a:rPr>
              <a:t>,</a:t>
            </a:r>
            <a:endParaRPr kumimoji="0" lang="zh-CN" altLang="en-US"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5000"/>
              </a:lnSpc>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Credit</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tinyint</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 )</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63494"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定义数据结构</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txBox="1"/>
          <p:nvPr/>
        </p:nvSpPr>
        <p:spPr>
          <a:xfrm>
            <a:off x="595313" y="1538288"/>
            <a:ext cx="8113712" cy="441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10000"/>
              </a:lnSpc>
            </a:pPr>
            <a:r>
              <a:rPr lang="zh-CN" altLang="en-US" sz="2600" u="sng" dirty="0">
                <a:solidFill>
                  <a:srgbClr val="A50021"/>
                </a:solidFill>
                <a:latin typeface="华文楷体" panose="02010600040101010101" pitchFamily="2" charset="-122"/>
              </a:rPr>
              <a:t>默认值（default）：</a:t>
            </a:r>
            <a:r>
              <a:rPr lang="zh-CN" altLang="en-US" sz="2400" dirty="0">
                <a:latin typeface="华文楷体" panose="02010600040101010101" pitchFamily="2" charset="-122"/>
              </a:rPr>
              <a:t>用于为列或用户自定义数据类型指定缺省值，每一列或自定义类型只能有一个缺省值。</a:t>
            </a:r>
            <a:endParaRPr lang="zh-CN" altLang="en-US" sz="2400" dirty="0">
              <a:latin typeface="华文楷体" panose="02010600040101010101" pitchFamily="2" charset="-122"/>
            </a:endParaRPr>
          </a:p>
          <a:p>
            <a:pPr marL="457200" lvl="0" indent="-457200" eaLnBrk="1" hangingPunct="1">
              <a:lnSpc>
                <a:spcPct val="110000"/>
              </a:lnSpc>
            </a:pPr>
            <a:r>
              <a:rPr lang="zh-CN" altLang="en-US" sz="2400" dirty="0">
                <a:latin typeface="华文楷体" panose="02010600040101010101" pitchFamily="2" charset="-122"/>
              </a:rPr>
              <a:t>当用户没有给指定有默认值的列输入数据时，RDBMS自动用该默认值代替。</a:t>
            </a:r>
            <a:endParaRPr lang="zh-CN" altLang="en-US" sz="2400" dirty="0">
              <a:latin typeface="华文楷体" panose="02010600040101010101" pitchFamily="2" charset="-122"/>
            </a:endParaRPr>
          </a:p>
          <a:p>
            <a:pPr marL="457200" lvl="0" indent="-457200" eaLnBrk="1" hangingPunct="1">
              <a:lnSpc>
                <a:spcPct val="110000"/>
              </a:lnSpc>
            </a:pPr>
            <a:r>
              <a:rPr lang="zh-CN" altLang="en-US" sz="2600" dirty="0">
                <a:latin typeface="华文楷体" panose="02010600040101010101" pitchFamily="2" charset="-122"/>
              </a:rPr>
              <a:t>两种方式：</a:t>
            </a:r>
            <a:endParaRPr lang="en-US" altLang="zh-CN" sz="2600" dirty="0">
              <a:latin typeface="华文楷体" panose="02010600040101010101" pitchFamily="2" charset="-122"/>
            </a:endParaRPr>
          </a:p>
          <a:p>
            <a:pPr marL="457200" lvl="0" indent="-457200" eaLnBrk="1" hangingPunct="1">
              <a:lnSpc>
                <a:spcPct val="120000"/>
              </a:lnSpc>
              <a:buFont typeface="Arial" panose="020B0604020202020204" pitchFamily="34" charset="0"/>
              <a:buNone/>
            </a:pPr>
            <a:r>
              <a:rPr lang="zh-CN" altLang="en-US" sz="2400" dirty="0">
                <a:solidFill>
                  <a:srgbClr val="A50021"/>
                </a:solidFill>
                <a:latin typeface="华文楷体" panose="02010600040101010101" pitchFamily="2" charset="-122"/>
              </a:rPr>
              <a:t>（</a:t>
            </a:r>
            <a:r>
              <a:rPr lang="en-US" altLang="zh-CN" sz="2400" dirty="0">
                <a:solidFill>
                  <a:srgbClr val="A50021"/>
                </a:solidFill>
                <a:latin typeface="华文楷体" panose="02010600040101010101" pitchFamily="2" charset="-122"/>
              </a:rPr>
              <a:t>1</a:t>
            </a:r>
            <a:r>
              <a:rPr lang="zh-CN" altLang="en-US" sz="2400" dirty="0">
                <a:solidFill>
                  <a:srgbClr val="A50021"/>
                </a:solidFill>
                <a:latin typeface="华文楷体" panose="02010600040101010101" pitchFamily="2" charset="-122"/>
              </a:rPr>
              <a:t>）表定义时设定</a:t>
            </a:r>
            <a:endParaRPr lang="zh-CN" altLang="en-US" sz="2400" dirty="0">
              <a:solidFill>
                <a:srgbClr val="A50021"/>
              </a:solidFill>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3200" dirty="0">
                <a:solidFill>
                  <a:schemeClr val="accent2"/>
                </a:solidFill>
                <a:latin typeface="华文楷体" panose="02010600040101010101" pitchFamily="2" charset="-122"/>
              </a:rPr>
              <a:t>	</a:t>
            </a:r>
            <a:r>
              <a:rPr lang="zh-CN" altLang="en-US" sz="2400" i="1" dirty="0">
                <a:latin typeface="华文楷体" panose="02010600040101010101" pitchFamily="2" charset="-122"/>
              </a:rPr>
              <a:t>CREATE TABLE publishers</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(pub_id	        char(4)		NOT NULL,</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pub_name      varchar(40)  	NULL,</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ctiy	        varchar(20)	DEFAULT  'Pasadena',</a:t>
            </a:r>
            <a:endParaRPr lang="zh-CN" altLang="en-US" sz="2400" i="1" dirty="0">
              <a:latin typeface="华文楷体" panose="02010600040101010101" pitchFamily="2" charset="-122"/>
            </a:endParaRPr>
          </a:p>
          <a:p>
            <a:pPr marL="457200" lvl="0" indent="-457200" eaLnBrk="1" hangingPunct="1">
              <a:lnSpc>
                <a:spcPct val="90000"/>
              </a:lnSpc>
              <a:spcBef>
                <a:spcPct val="0"/>
              </a:spcBef>
              <a:buFont typeface="Arial" panose="020B0604020202020204" pitchFamily="34" charset="0"/>
              <a:buNone/>
            </a:pPr>
            <a:r>
              <a:rPr lang="zh-CN" altLang="en-US" sz="2400" i="1" dirty="0">
                <a:latin typeface="华文楷体" panose="02010600040101010101" pitchFamily="2" charset="-122"/>
              </a:rPr>
              <a:t>	 state	       char(2)		DEFAULT 'CA')</a:t>
            </a:r>
            <a:endParaRPr lang="zh-CN" altLang="en-US" sz="2400" i="1" dirty="0">
              <a:latin typeface="华文楷体" panose="02010600040101010101" pitchFamily="2" charset="-122"/>
            </a:endParaRPr>
          </a:p>
        </p:txBody>
      </p:sp>
      <p:sp>
        <p:nvSpPr>
          <p:cNvPr id="6451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4516" name="矩形 1"/>
          <p:cNvSpPr/>
          <p:nvPr/>
        </p:nvSpPr>
        <p:spPr>
          <a:xfrm>
            <a:off x="538163" y="78105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 Box 24"/>
          <p:cNvSpPr txBox="1"/>
          <p:nvPr/>
        </p:nvSpPr>
        <p:spPr>
          <a:xfrm>
            <a:off x="638175" y="2052638"/>
            <a:ext cx="7705725" cy="2254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600"/>
              </a:spcBef>
              <a:buClrTx/>
              <a:buSzTx/>
              <a:buFont typeface="Arial" panose="020B0604020202020204" pitchFamily="34" charset="0"/>
              <a:buNone/>
            </a:pPr>
            <a:r>
              <a:rPr lang="zh-CN" altLang="en-US" sz="2400" dirty="0">
                <a:solidFill>
                  <a:srgbClr val="CC3300"/>
                </a:solidFill>
                <a:latin typeface="宋体" panose="02010600030101010101" pitchFamily="2" charset="-122"/>
              </a:rPr>
              <a:t>CREATE table</a:t>
            </a:r>
            <a:r>
              <a:rPr lang="zh-CN" altLang="en-US" sz="2400" dirty="0">
                <a:solidFill>
                  <a:srgbClr val="0000CC"/>
                </a:solidFill>
                <a:latin typeface="宋体" panose="02010600030101010101" pitchFamily="2" charset="-122"/>
              </a:rPr>
              <a:t> </a:t>
            </a:r>
            <a:r>
              <a:rPr lang="zh-CN" altLang="en-US" sz="2400" dirty="0">
                <a:latin typeface="宋体" panose="02010600030101010101" pitchFamily="2" charset="-122"/>
              </a:rPr>
              <a:t>是创建表命令。 </a:t>
            </a:r>
            <a:endParaRPr lang="zh-CN" altLang="en-US" sz="2400" dirty="0">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zh-CN" altLang="en-US" sz="2400" dirty="0">
                <a:latin typeface="宋体" panose="02010600030101010101" pitchFamily="2" charset="-122"/>
              </a:rPr>
              <a:t>在SQL Server中，对字符型数据须用单引号括起来。</a:t>
            </a:r>
            <a:endParaRPr lang="zh-CN" altLang="en-US" sz="2400" dirty="0">
              <a:latin typeface="宋体" panose="02010600030101010101" pitchFamily="2" charset="-122"/>
            </a:endParaRPr>
          </a:p>
          <a:p>
            <a:pPr marL="0" lvl="0" indent="0" eaLnBrk="1" hangingPunct="1">
              <a:lnSpc>
                <a:spcPct val="110000"/>
              </a:lnSpc>
              <a:spcBef>
                <a:spcPts val="600"/>
              </a:spcBef>
              <a:buClrTx/>
              <a:buSzTx/>
              <a:buFont typeface="Arial" panose="020B0604020202020204" pitchFamily="34" charset="0"/>
              <a:buNone/>
            </a:pPr>
            <a:r>
              <a:rPr lang="zh-CN" altLang="en-US" sz="2400" dirty="0">
                <a:latin typeface="宋体" panose="02010600030101010101" pitchFamily="2" charset="-122"/>
              </a:rPr>
              <a:t>利用两条SQL语句来验证默认的作用与效果。</a:t>
            </a:r>
            <a:endParaRPr lang="en-US" altLang="zh-CN" sz="2400" dirty="0">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CC3300"/>
                </a:solidFill>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insert publishers(pub_id,pub_name) values('0003','EST')</a:t>
            </a:r>
            <a:r>
              <a:rPr lang="en-US" altLang="zh-CN" sz="2400" dirty="0">
                <a:solidFill>
                  <a:srgbClr val="CC3300"/>
                </a:solidFill>
                <a:latin typeface="华文楷体" panose="02010600040101010101" pitchFamily="2" charset="-122"/>
                <a:ea typeface="华文楷体" panose="02010600040101010101" pitchFamily="2" charset="-122"/>
              </a:rPr>
              <a:t>     </a:t>
            </a:r>
            <a:r>
              <a:rPr lang="zh-CN" altLang="en-US" sz="2400" dirty="0">
                <a:solidFill>
                  <a:srgbClr val="CC3300"/>
                </a:solidFill>
                <a:latin typeface="华文楷体" panose="02010600040101010101" pitchFamily="2" charset="-122"/>
                <a:ea typeface="华文楷体" panose="02010600040101010101" pitchFamily="2" charset="-122"/>
              </a:rPr>
              <a:t>SELECT</a:t>
            </a:r>
            <a:r>
              <a:rPr lang="zh-CN" altLang="en-US" sz="2400" dirty="0">
                <a:solidFill>
                  <a:srgbClr val="0000CC"/>
                </a:solidFill>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 FROM publishers</a:t>
            </a:r>
            <a:endParaRPr lang="zh-CN" altLang="en-US" sz="2400" dirty="0">
              <a:latin typeface="华文楷体" panose="02010600040101010101" pitchFamily="2" charset="-122"/>
              <a:ea typeface="华文楷体" panose="02010600040101010101" pitchFamily="2" charset="-122"/>
            </a:endParaRPr>
          </a:p>
        </p:txBody>
      </p:sp>
      <p:sp>
        <p:nvSpPr>
          <p:cNvPr id="65539" name="Rectangle 2"/>
          <p:cNvSpPr txBox="1"/>
          <p:nvPr/>
        </p:nvSpPr>
        <p:spPr>
          <a:xfrm>
            <a:off x="547688" y="146685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800" dirty="0">
                <a:solidFill>
                  <a:srgbClr val="FF3300"/>
                </a:solidFill>
                <a:latin typeface="宋体" panose="02010600030101010101" pitchFamily="2" charset="-122"/>
                <a:ea typeface="黑体" panose="02010609060101010101" pitchFamily="49" charset="-122"/>
              </a:rPr>
              <a:t> 默认值的验证</a:t>
            </a:r>
            <a:endParaRPr lang="zh-CN" altLang="en-US" sz="2800" dirty="0">
              <a:solidFill>
                <a:srgbClr val="FF3300"/>
              </a:solidFill>
              <a:latin typeface="宋体" panose="02010600030101010101" pitchFamily="2" charset="-122"/>
              <a:ea typeface="黑体" panose="02010609060101010101" pitchFamily="49" charset="-122"/>
            </a:endParaRPr>
          </a:p>
        </p:txBody>
      </p:sp>
      <p:sp>
        <p:nvSpPr>
          <p:cNvPr id="65540" name="Text Box 25"/>
          <p:cNvSpPr txBox="1"/>
          <p:nvPr/>
        </p:nvSpPr>
        <p:spPr>
          <a:xfrm>
            <a:off x="3348038" y="4192588"/>
            <a:ext cx="22542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CC3300"/>
                </a:solidFill>
                <a:latin typeface="宋体" panose="02010600030101010101" pitchFamily="2" charset="-122"/>
              </a:rPr>
              <a:t>publishers</a:t>
            </a:r>
            <a:endParaRPr lang="zh-CN" altLang="en-US" sz="2800" dirty="0">
              <a:solidFill>
                <a:srgbClr val="CC3300"/>
              </a:solidFill>
              <a:latin typeface="宋体" panose="02010600030101010101" pitchFamily="2" charset="-122"/>
            </a:endParaRPr>
          </a:p>
        </p:txBody>
      </p:sp>
      <p:graphicFrame>
        <p:nvGraphicFramePr>
          <p:cNvPr id="39942" name="表格 39941"/>
          <p:cNvGraphicFramePr/>
          <p:nvPr/>
        </p:nvGraphicFramePr>
        <p:xfrm>
          <a:off x="760413" y="4838700"/>
          <a:ext cx="7816850" cy="1152525"/>
        </p:xfrm>
        <a:graphic>
          <a:graphicData uri="http://schemas.openxmlformats.org/drawingml/2006/table">
            <a:tbl>
              <a:tblPr/>
              <a:tblGrid>
                <a:gridCol w="1344613"/>
                <a:gridCol w="1541462"/>
                <a:gridCol w="1803400"/>
                <a:gridCol w="1824038"/>
                <a:gridCol w="1303337"/>
              </a:tblGrid>
              <a:tr h="5762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t>属性</a:t>
                      </a:r>
                      <a:endParaRPr lang="zh-CN" altLang="en-US" sz="24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Pub_id</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Pub_name</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city</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state</a:t>
                      </a:r>
                      <a:endParaRPr lang="zh-CN" altLang="en-US" sz="24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5762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t>元组</a:t>
                      </a:r>
                      <a:r>
                        <a:rPr lang="en-US" altLang="zh-CN" sz="2400" b="0"/>
                        <a:t>1</a:t>
                      </a:r>
                      <a:endParaRPr lang="zh-CN" altLang="en-US" sz="2400" b="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 0001</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NULL</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Pasadena</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t>CA</a:t>
                      </a:r>
                      <a:endParaRPr lang="zh-CN" altLang="en-US" sz="2400" b="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6556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5562" name="矩形 1"/>
          <p:cNvSpPr/>
          <p:nvPr/>
        </p:nvSpPr>
        <p:spPr>
          <a:xfrm>
            <a:off x="538163" y="7397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矩形 3"/>
          <p:cNvSpPr/>
          <p:nvPr/>
        </p:nvSpPr>
        <p:spPr>
          <a:xfrm>
            <a:off x="419100" y="1373188"/>
            <a:ext cx="4632325" cy="5032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20000"/>
              </a:lnSpc>
              <a:buFont typeface="Arial" panose="020B0604020202020204" pitchFamily="34" charset="0"/>
              <a:buNone/>
            </a:pPr>
            <a:r>
              <a:rPr lang="zh-CN" altLang="en-US" sz="2400" dirty="0">
                <a:solidFill>
                  <a:srgbClr val="A50021"/>
                </a:solidFill>
                <a:latin typeface="华文楷体" panose="02010600040101010101" pitchFamily="2" charset="-122"/>
              </a:rPr>
              <a:t>（</a:t>
            </a:r>
            <a:r>
              <a:rPr lang="en-US" altLang="zh-CN" sz="2400" dirty="0">
                <a:solidFill>
                  <a:srgbClr val="A50021"/>
                </a:solidFill>
                <a:latin typeface="华文楷体" panose="02010600040101010101" pitchFamily="2" charset="-122"/>
              </a:rPr>
              <a:t>2</a:t>
            </a:r>
            <a:r>
              <a:rPr lang="zh-CN" altLang="en-US" sz="2400" dirty="0">
                <a:solidFill>
                  <a:srgbClr val="A50021"/>
                </a:solidFill>
                <a:latin typeface="华文楷体" panose="02010600040101010101" pitchFamily="2" charset="-122"/>
              </a:rPr>
              <a:t>）用单独的命令来创建Default</a:t>
            </a:r>
            <a:endParaRPr lang="zh-CN" altLang="en-US" sz="2400" dirty="0">
              <a:solidFill>
                <a:srgbClr val="A50021"/>
              </a:solidFill>
              <a:latin typeface="华文楷体" panose="02010600040101010101" pitchFamily="2" charset="-122"/>
            </a:endParaRPr>
          </a:p>
        </p:txBody>
      </p:sp>
      <p:sp>
        <p:nvSpPr>
          <p:cNvPr id="40964" name="Rectangle 3"/>
          <p:cNvSpPr txBox="1"/>
          <p:nvPr/>
        </p:nvSpPr>
        <p:spPr>
          <a:xfrm>
            <a:off x="484188" y="1968500"/>
            <a:ext cx="8077200" cy="20796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79705" lvl="1" indent="0" eaLnBrk="1" hangingPunct="1">
              <a:lnSpc>
                <a:spcPct val="114000"/>
              </a:lnSpc>
              <a:buFont typeface="Arial" panose="020B0604020202020204" pitchFamily="34" charset="0"/>
              <a:buNone/>
            </a:pPr>
            <a:r>
              <a:rPr lang="zh-CN" altLang="en-US" sz="2200" dirty="0">
                <a:latin typeface="华文楷体" panose="02010600040101010101" pitchFamily="2" charset="-122"/>
              </a:rPr>
              <a:t>当多个表中的列，它们的缺省值相同时，这种方式很有用。</a:t>
            </a:r>
            <a:r>
              <a:rPr lang="zh-CN" altLang="en-US" sz="2200" dirty="0">
                <a:latin typeface="华文楷体" panose="02010600040101010101" pitchFamily="2" charset="-122"/>
                <a:sym typeface="Wingdings 3" panose="05040102010807070707" pitchFamily="18" charset="2"/>
              </a:rPr>
              <a:t> </a:t>
            </a:r>
            <a:endParaRPr lang="zh-CN" altLang="en-US" sz="2200" dirty="0">
              <a:latin typeface="华文楷体" panose="02010600040101010101" pitchFamily="2" charset="-122"/>
              <a:sym typeface="Wingdings 3" panose="05040102010807070707" pitchFamily="18" charset="2"/>
            </a:endParaRPr>
          </a:p>
          <a:p>
            <a:pPr marL="0" lvl="0" indent="0" eaLnBrk="1" hangingPunct="1">
              <a:lnSpc>
                <a:spcPct val="110000"/>
              </a:lnSpc>
              <a:spcBef>
                <a:spcPts val="200"/>
              </a:spcBef>
              <a:buFont typeface="Arial" panose="020B0604020202020204" pitchFamily="34" charset="0"/>
              <a:buNone/>
            </a:pPr>
            <a:r>
              <a:rPr lang="zh-CN" altLang="en-US" sz="2400" dirty="0">
                <a:latin typeface="华文楷体" panose="02010600040101010101" pitchFamily="2" charset="-122"/>
              </a:rPr>
              <a:t>  </a:t>
            </a:r>
            <a:r>
              <a:rPr lang="zh-CN" altLang="en-US" sz="2200" u="sng" dirty="0">
                <a:solidFill>
                  <a:srgbClr val="FF0000"/>
                </a:solidFill>
                <a:latin typeface="华文楷体" panose="02010600040101010101" pitchFamily="2" charset="-122"/>
              </a:rPr>
              <a:t>步骤：</a:t>
            </a:r>
            <a:r>
              <a:rPr lang="zh-CN" altLang="en-US" sz="2200" dirty="0">
                <a:latin typeface="华文楷体" panose="02010600040101010101" pitchFamily="2" charset="-122"/>
              </a:rPr>
              <a:t>1）</a:t>
            </a:r>
            <a:r>
              <a:rPr lang="zh-CN" altLang="en-US" sz="2200" i="1" dirty="0">
                <a:solidFill>
                  <a:srgbClr val="CC3300"/>
                </a:solidFill>
                <a:latin typeface="华文楷体" panose="02010600040101010101" pitchFamily="2" charset="-122"/>
              </a:rPr>
              <a:t>CREATE DEFAULT  缺省名  AS  缺省值</a:t>
            </a:r>
            <a:endParaRPr lang="zh-CN" altLang="en-US" sz="2200" i="1" dirty="0">
              <a:solidFill>
                <a:srgbClr val="CC3300"/>
              </a:solidFill>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r>
              <a:rPr lang="zh-CN" altLang="en-US" sz="2200" i="1" dirty="0">
                <a:solidFill>
                  <a:srgbClr val="CC3300"/>
                </a:solidFill>
                <a:latin typeface="华文楷体" panose="02010600040101010101" pitchFamily="2" charset="-122"/>
              </a:rPr>
              <a:t>              </a:t>
            </a:r>
            <a:r>
              <a:rPr lang="zh-CN" altLang="en-US" sz="2200" dirty="0">
                <a:latin typeface="华文楷体" panose="02010600040101010101" pitchFamily="2" charset="-122"/>
              </a:rPr>
              <a:t>让某个默认名的值为默认值。</a:t>
            </a:r>
            <a:endParaRPr lang="zh-CN" altLang="en-US" sz="2200" i="1"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r>
              <a:rPr lang="zh-CN" altLang="en-US" sz="2200" dirty="0">
                <a:latin typeface="华文楷体" panose="02010600040101010101" pitchFamily="2" charset="-122"/>
              </a:rPr>
              <a:t>            2）</a:t>
            </a:r>
            <a:r>
              <a:rPr lang="zh-CN" altLang="en-US" sz="2200" i="1" dirty="0">
                <a:solidFill>
                  <a:srgbClr val="CC3300"/>
                </a:solidFill>
                <a:latin typeface="华文楷体" panose="02010600040101010101" pitchFamily="2" charset="-122"/>
              </a:rPr>
              <a:t>sp_bindefault  ‘默认名’</a:t>
            </a:r>
            <a:r>
              <a:rPr lang="zh-CN" altLang="en-US" sz="2200" i="1" dirty="0">
                <a:latin typeface="华文楷体" panose="02010600040101010101" pitchFamily="2" charset="-122"/>
              </a:rPr>
              <a:t>,‘表名.列名’</a:t>
            </a:r>
            <a:endParaRPr lang="zh-CN" altLang="en-US" sz="2200" i="1"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r>
              <a:rPr lang="zh-CN" altLang="en-US" sz="2200" i="1" dirty="0">
                <a:latin typeface="华文楷体" panose="02010600040101010101" pitchFamily="2" charset="-122"/>
              </a:rPr>
              <a:t>              </a:t>
            </a:r>
            <a:r>
              <a:rPr lang="zh-CN" altLang="en-US" sz="2200" dirty="0">
                <a:latin typeface="华文楷体" panose="02010600040101010101" pitchFamily="2" charset="-122"/>
              </a:rPr>
              <a:t>将该默认名绑定到表中某个列上。</a:t>
            </a:r>
            <a:endParaRPr lang="zh-CN" altLang="en-US" sz="2200"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endParaRPr lang="zh-CN" altLang="en-US" sz="2200" b="0" dirty="0">
              <a:latin typeface="楷体" panose="02010609060101010101" pitchFamily="49" charset="-122"/>
              <a:ea typeface="楷体" panose="02010609060101010101" pitchFamily="49" charset="-122"/>
            </a:endParaRPr>
          </a:p>
        </p:txBody>
      </p:sp>
      <p:grpSp>
        <p:nvGrpSpPr>
          <p:cNvPr id="3" name="组合 2"/>
          <p:cNvGrpSpPr/>
          <p:nvPr/>
        </p:nvGrpSpPr>
        <p:grpSpPr>
          <a:xfrm>
            <a:off x="533400" y="4124325"/>
            <a:ext cx="7915275" cy="1819275"/>
            <a:chOff x="840" y="6496"/>
            <a:chExt cx="12464" cy="2863"/>
          </a:xfrm>
        </p:grpSpPr>
        <p:sp>
          <p:nvSpPr>
            <p:cNvPr id="66567" name="文本框 4"/>
            <p:cNvSpPr txBox="1"/>
            <p:nvPr/>
          </p:nvSpPr>
          <p:spPr>
            <a:xfrm>
              <a:off x="877" y="8682"/>
              <a:ext cx="12390" cy="67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dirty="0"/>
                <a:t>insert Ctake(CID,SID,mark) values('bk1001','2015031002',82)</a:t>
              </a:r>
              <a:endParaRPr lang="en-US" altLang="zh-CN" dirty="0"/>
            </a:p>
          </p:txBody>
        </p:sp>
        <p:sp>
          <p:nvSpPr>
            <p:cNvPr id="66568" name="Rectangle 3"/>
            <p:cNvSpPr txBox="1"/>
            <p:nvPr/>
          </p:nvSpPr>
          <p:spPr>
            <a:xfrm>
              <a:off x="840" y="6496"/>
              <a:ext cx="12464" cy="2047"/>
            </a:xfrm>
            <a:prstGeom prst="rect">
              <a:avLst/>
            </a:prstGeom>
            <a:solidFill>
              <a:schemeClr val="bg1"/>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79705" lvl="1" indent="0" eaLnBrk="1" hangingPunct="1">
                <a:lnSpc>
                  <a:spcPct val="110000"/>
                </a:lnSpc>
                <a:spcBef>
                  <a:spcPts val="200"/>
                </a:spcBef>
                <a:buFont typeface="Arial" panose="020B0604020202020204" pitchFamily="34" charset="0"/>
                <a:buNone/>
              </a:pPr>
              <a:r>
                <a:rPr lang="zh-CN" altLang="en-US" sz="2200" u="sng" dirty="0">
                  <a:solidFill>
                    <a:srgbClr val="FF0000"/>
                  </a:solidFill>
                  <a:latin typeface="华文楷体" panose="02010600040101010101" pitchFamily="2" charset="-122"/>
                </a:rPr>
                <a:t>例子：</a:t>
              </a:r>
              <a:r>
                <a:rPr lang="zh-CN" altLang="en-US" sz="2200" b="0" dirty="0">
                  <a:latin typeface="楷体" panose="02010609060101010101" pitchFamily="49" charset="-122"/>
                  <a:ea typeface="楷体" panose="02010609060101010101" pitchFamily="49" charset="-122"/>
                </a:rPr>
                <a:t>设定一个“全局”缺省值，可多次赋值（绑定）</a:t>
              </a:r>
              <a:endParaRPr lang="zh-CN" altLang="en-US" sz="2200" b="0" dirty="0">
                <a:latin typeface="楷体" panose="02010609060101010101" pitchFamily="49" charset="-122"/>
                <a:ea typeface="楷体" panose="02010609060101010101" pitchFamily="49" charset="-122"/>
              </a:endParaRPr>
            </a:p>
            <a:p>
              <a:pPr marL="0" lvl="0" indent="0" eaLnBrk="1" hangingPunct="1">
                <a:lnSpc>
                  <a:spcPct val="110000"/>
                </a:lnSpc>
                <a:spcBef>
                  <a:spcPts val="200"/>
                </a:spcBef>
                <a:buFont typeface="Arial" panose="020B0604020202020204" pitchFamily="34" charset="0"/>
                <a:buNone/>
              </a:pPr>
              <a:r>
                <a:rPr lang="zh-CN" altLang="zh-CN" sz="2200" dirty="0">
                  <a:latin typeface="华文楷体" panose="02010600040101010101" pitchFamily="2" charset="-122"/>
                </a:rPr>
                <a:t>   CREATE  DEFAULT  dft_term  AS  '1'</a:t>
              </a:r>
              <a:endParaRPr lang="zh-CN" altLang="zh-CN" sz="2200" dirty="0">
                <a:latin typeface="华文楷体" panose="02010600040101010101" pitchFamily="2" charset="-122"/>
              </a:endParaRPr>
            </a:p>
            <a:p>
              <a:pPr marL="0" lvl="0" indent="0" eaLnBrk="1" hangingPunct="1">
                <a:lnSpc>
                  <a:spcPct val="110000"/>
                </a:lnSpc>
                <a:spcBef>
                  <a:spcPts val="200"/>
                </a:spcBef>
                <a:buFont typeface="Arial" panose="020B0604020202020204" pitchFamily="34" charset="0"/>
                <a:buNone/>
              </a:pPr>
              <a:r>
                <a:rPr lang="zh-CN" altLang="zh-CN" sz="2200" dirty="0">
                  <a:latin typeface="华文楷体" panose="02010600040101010101" pitchFamily="2" charset="-122"/>
                </a:rPr>
                <a:t>        sp_bindefault  dft_term,'ctake.term'</a:t>
              </a:r>
              <a:endParaRPr lang="zh-CN" altLang="zh-CN" sz="2200" dirty="0">
                <a:latin typeface="华文楷体" panose="02010600040101010101" pitchFamily="2" charset="-122"/>
              </a:endParaRPr>
            </a:p>
            <a:p>
              <a:pPr marL="179705" lvl="1" indent="0" eaLnBrk="1" hangingPunct="1">
                <a:lnSpc>
                  <a:spcPct val="110000"/>
                </a:lnSpc>
                <a:spcBef>
                  <a:spcPts val="200"/>
                </a:spcBef>
                <a:buFont typeface="Arial" panose="020B0604020202020204" pitchFamily="34" charset="0"/>
                <a:buNone/>
              </a:pPr>
              <a:endParaRPr lang="zh-CN" altLang="en-US" sz="2200" b="0" dirty="0">
                <a:latin typeface="楷体" panose="02010609060101010101" pitchFamily="49" charset="-122"/>
                <a:ea typeface="楷体" panose="02010609060101010101" pitchFamily="49" charset="-122"/>
              </a:endParaRPr>
            </a:p>
          </p:txBody>
        </p:sp>
      </p:grpSp>
      <p:sp>
        <p:nvSpPr>
          <p:cNvPr id="6656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6566" name="矩形 1"/>
          <p:cNvSpPr/>
          <p:nvPr/>
        </p:nvSpPr>
        <p:spPr>
          <a:xfrm>
            <a:off x="538163" y="7397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0964">
                                            <p:txEl>
                                              <p:charRg st="0" end="28"/>
                                            </p:txEl>
                                          </p:spTgt>
                                        </p:tgtEl>
                                        <p:attrNameLst>
                                          <p:attrName>style.visibility</p:attrName>
                                        </p:attrNameLst>
                                      </p:cBhvr>
                                      <p:to>
                                        <p:strVal val="visible"/>
                                      </p:to>
                                    </p:set>
                                    <p:animEffect transition="in" filter="dissolve">
                                      <p:cBhvr>
                                        <p:cTn id="7" dur="500"/>
                                        <p:tgtEl>
                                          <p:spTgt spid="40964">
                                            <p:txEl>
                                              <p:charRg st="0" end="28"/>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0964">
                                            <p:txEl>
                                              <p:charRg st="28" end="64"/>
                                            </p:txEl>
                                          </p:spTgt>
                                        </p:tgtEl>
                                        <p:attrNameLst>
                                          <p:attrName>style.visibility</p:attrName>
                                        </p:attrNameLst>
                                      </p:cBhvr>
                                      <p:to>
                                        <p:strVal val="visible"/>
                                      </p:to>
                                    </p:set>
                                    <p:animEffect transition="in" filter="dissolve">
                                      <p:cBhvr>
                                        <p:cTn id="12" dur="500"/>
                                        <p:tgtEl>
                                          <p:spTgt spid="40964">
                                            <p:txEl>
                                              <p:charRg st="28" end="6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0964">
                                            <p:txEl>
                                              <p:charRg st="64" end="92"/>
                                            </p:txEl>
                                          </p:spTgt>
                                        </p:tgtEl>
                                        <p:attrNameLst>
                                          <p:attrName>style.visibility</p:attrName>
                                        </p:attrNameLst>
                                      </p:cBhvr>
                                      <p:to>
                                        <p:strVal val="visible"/>
                                      </p:to>
                                    </p:set>
                                    <p:animEffect transition="in" filter="dissolve">
                                      <p:cBhvr>
                                        <p:cTn id="17" dur="500"/>
                                        <p:tgtEl>
                                          <p:spTgt spid="40964">
                                            <p:txEl>
                                              <p:charRg st="64" end="9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0964">
                                            <p:txEl>
                                              <p:charRg st="92" end="135"/>
                                            </p:txEl>
                                          </p:spTgt>
                                        </p:tgtEl>
                                        <p:attrNameLst>
                                          <p:attrName>style.visibility</p:attrName>
                                        </p:attrNameLst>
                                      </p:cBhvr>
                                      <p:to>
                                        <p:strVal val="visible"/>
                                      </p:to>
                                    </p:set>
                                    <p:animEffect transition="in" filter="dissolve">
                                      <p:cBhvr>
                                        <p:cTn id="22" dur="500"/>
                                        <p:tgtEl>
                                          <p:spTgt spid="40964">
                                            <p:txEl>
                                              <p:charRg st="92" end="13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0964">
                                            <p:txEl>
                                              <p:charRg st="135" end="165"/>
                                            </p:txEl>
                                          </p:spTgt>
                                        </p:tgtEl>
                                        <p:attrNameLst>
                                          <p:attrName>style.visibility</p:attrName>
                                        </p:attrNameLst>
                                      </p:cBhvr>
                                      <p:to>
                                        <p:strVal val="visible"/>
                                      </p:to>
                                    </p:set>
                                    <p:animEffect transition="in" filter="dissolve">
                                      <p:cBhvr>
                                        <p:cTn id="27" dur="500"/>
                                        <p:tgtEl>
                                          <p:spTgt spid="40964">
                                            <p:txEl>
                                              <p:charRg st="135" end="16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500" fill="hold"/>
                                        <p:tgtEl>
                                          <p:spTgt spid="3"/>
                                        </p:tgtEl>
                                        <p:attrNameLst>
                                          <p:attrName>ppt_x</p:attrName>
                                        </p:attrNameLst>
                                      </p:cBhvr>
                                      <p:tavLst>
                                        <p:tav tm="0">
                                          <p:val>
                                            <p:strVal val="#ppt_x"/>
                                          </p:val>
                                        </p:tav>
                                        <p:tav tm="100000">
                                          <p:val>
                                            <p:strVal val="#ppt_x"/>
                                          </p:val>
                                        </p:tav>
                                      </p:tavLst>
                                    </p:anim>
                                    <p:anim calcmode="lin" valueType="num">
                                      <p:cBhvr additive="base">
                                        <p:cTn id="3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uiExpand="1"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3"/>
          <p:cNvSpPr txBox="1"/>
          <p:nvPr/>
        </p:nvSpPr>
        <p:spPr>
          <a:xfrm>
            <a:off x="606425" y="2062163"/>
            <a:ext cx="8054975" cy="349567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50000"/>
              </a:spcBef>
              <a:buSzPct val="150000"/>
              <a:buFont typeface="Arial" panose="020B0604020202020204" pitchFamily="34" charset="0"/>
              <a:buNone/>
            </a:pPr>
            <a:r>
              <a:rPr lang="zh-CN" altLang="en-US" sz="2400" dirty="0">
                <a:latin typeface="华文楷体" panose="02010600040101010101" pitchFamily="2" charset="-122"/>
              </a:rPr>
              <a:t>取消某列的缺省时，按下列步骤：</a:t>
            </a:r>
            <a:endParaRPr lang="en-US" altLang="zh-CN" sz="2400" dirty="0">
              <a:latin typeface="华文楷体" panose="02010600040101010101" pitchFamily="2" charset="-122"/>
            </a:endParaRPr>
          </a:p>
          <a:p>
            <a:pPr marL="533400" lvl="0" indent="-533400" eaLnBrk="1" hangingPunct="1">
              <a:lnSpc>
                <a:spcPct val="120000"/>
              </a:lnSpc>
              <a:spcBef>
                <a:spcPts val="600"/>
              </a:spcBef>
              <a:buSzPct val="150000"/>
              <a:buFont typeface="Arial" panose="020B0604020202020204" pitchFamily="34" charset="0"/>
              <a:buNone/>
            </a:pPr>
            <a:r>
              <a:rPr lang="en-US" altLang="zh-CN" sz="2400" i="1" dirty="0">
                <a:solidFill>
                  <a:srgbClr val="CC3300"/>
                </a:solidFill>
                <a:latin typeface="华文楷体" panose="02010600040101010101" pitchFamily="2" charset="-122"/>
              </a:rPr>
              <a:t>      </a:t>
            </a:r>
            <a:r>
              <a:rPr lang="zh-CN" altLang="en-US" sz="2400" i="1" dirty="0">
                <a:solidFill>
                  <a:srgbClr val="CC3300"/>
                </a:solidFill>
                <a:latin typeface="华文楷体" panose="02010600040101010101" pitchFamily="2" charset="-122"/>
              </a:rPr>
              <a:t>sp_unbindefault  </a:t>
            </a:r>
            <a:r>
              <a:rPr lang="zh-CN" altLang="en-US" sz="2200" i="1" dirty="0">
                <a:solidFill>
                  <a:srgbClr val="CC3300"/>
                </a:solidFill>
                <a:latin typeface="华文楷体" panose="02010600040101010101" pitchFamily="2" charset="-122"/>
              </a:rPr>
              <a:t>‘表名.列名’</a:t>
            </a:r>
            <a:r>
              <a:rPr lang="zh-CN" altLang="en-US" sz="2200" dirty="0">
                <a:latin typeface="华文楷体" panose="02010600040101010101" pitchFamily="2" charset="-122"/>
              </a:rPr>
              <a:t>----取消绑定</a:t>
            </a:r>
            <a:endParaRPr lang="zh-CN" altLang="en-US" sz="2200" dirty="0">
              <a:latin typeface="华文楷体" panose="02010600040101010101" pitchFamily="2" charset="-122"/>
            </a:endParaRPr>
          </a:p>
          <a:p>
            <a:pPr marL="914400" lvl="1" indent="-457200" eaLnBrk="1" hangingPunct="1">
              <a:lnSpc>
                <a:spcPct val="120000"/>
              </a:lnSpc>
              <a:spcBef>
                <a:spcPts val="600"/>
              </a:spcBef>
              <a:buClr>
                <a:srgbClr val="0000CC"/>
              </a:buClr>
              <a:buFont typeface="Arial" panose="020B0604020202020204" pitchFamily="34" charset="0"/>
              <a:buNone/>
            </a:pPr>
            <a:r>
              <a:rPr lang="zh-CN" altLang="en-US" sz="2400" i="1" dirty="0">
                <a:solidFill>
                  <a:srgbClr val="CC3300"/>
                </a:solidFill>
                <a:latin typeface="华文楷体" panose="02010600040101010101" pitchFamily="2" charset="-122"/>
              </a:rPr>
              <a:t>DROP  DEFAULT  缺省名</a:t>
            </a:r>
            <a:r>
              <a:rPr lang="zh-CN" altLang="en-US" sz="2400" i="1" dirty="0">
                <a:latin typeface="华文楷体" panose="02010600040101010101" pitchFamily="2" charset="-122"/>
              </a:rPr>
              <a:t> ----</a:t>
            </a:r>
            <a:r>
              <a:rPr lang="zh-CN" altLang="en-US" sz="2400" dirty="0">
                <a:latin typeface="华文楷体" panose="02010600040101010101" pitchFamily="2" charset="-122"/>
              </a:rPr>
              <a:t>删除缺省</a:t>
            </a:r>
            <a:endParaRPr lang="zh-CN" altLang="en-US" sz="2400" i="1" dirty="0">
              <a:latin typeface="华文楷体" panose="02010600040101010101" pitchFamily="2" charset="-122"/>
            </a:endParaRPr>
          </a:p>
          <a:p>
            <a:pPr marL="533400" lvl="0" indent="-533400" eaLnBrk="1" hangingPunct="1">
              <a:lnSpc>
                <a:spcPct val="135000"/>
              </a:lnSpc>
              <a:spcBef>
                <a:spcPts val="600"/>
              </a:spcBef>
              <a:buSzPct val="150000"/>
              <a:buFont typeface="Arial" panose="020B0604020202020204" pitchFamily="34" charset="0"/>
              <a:buNone/>
            </a:pPr>
            <a:r>
              <a:rPr lang="zh-CN" altLang="en-US" sz="2200" dirty="0">
                <a:latin typeface="华文楷体" panose="02010600040101010101" pitchFamily="2" charset="-122"/>
              </a:rPr>
              <a:t> 注意：应首先将默认值从绑定的列上都摘除之后，再删除缺省，否则删除不会成功。</a:t>
            </a:r>
            <a:endParaRPr lang="zh-CN" altLang="en-US" sz="2200" dirty="0">
              <a:latin typeface="华文楷体" panose="02010600040101010101" pitchFamily="2" charset="-122"/>
            </a:endParaRPr>
          </a:p>
        </p:txBody>
      </p:sp>
      <p:sp>
        <p:nvSpPr>
          <p:cNvPr id="67587" name="Rectangle 2"/>
          <p:cNvSpPr txBox="1"/>
          <p:nvPr/>
        </p:nvSpPr>
        <p:spPr>
          <a:xfrm>
            <a:off x="547688" y="142875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ea typeface="黑体" panose="02010609060101010101" pitchFamily="49" charset="-122"/>
              </a:rPr>
              <a:t> 默认值的约束的删除</a:t>
            </a:r>
            <a:endParaRPr lang="zh-CN" altLang="en-US" sz="2600" dirty="0">
              <a:solidFill>
                <a:srgbClr val="FF3300"/>
              </a:solidFill>
              <a:latin typeface="宋体" panose="02010600030101010101" pitchFamily="2" charset="-122"/>
              <a:ea typeface="黑体" panose="02010609060101010101" pitchFamily="49" charset="-122"/>
            </a:endParaRPr>
          </a:p>
        </p:txBody>
      </p:sp>
      <p:sp>
        <p:nvSpPr>
          <p:cNvPr id="6758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7589" name="矩形 1"/>
          <p:cNvSpPr/>
          <p:nvPr/>
        </p:nvSpPr>
        <p:spPr>
          <a:xfrm>
            <a:off x="538163" y="7397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默认值（default）</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0" name="Rectangle 4"/>
          <p:cNvSpPr txBox="1"/>
          <p:nvPr/>
        </p:nvSpPr>
        <p:spPr>
          <a:xfrm>
            <a:off x="522288" y="1485900"/>
            <a:ext cx="8177212" cy="48704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63855" lvl="0" indent="-363855" eaLnBrk="1" hangingPunct="1">
              <a:lnSpc>
                <a:spcPct val="125000"/>
              </a:lnSpc>
            </a:pPr>
            <a:r>
              <a:rPr lang="zh-CN" altLang="en-US" sz="2400" u="sng" dirty="0">
                <a:solidFill>
                  <a:srgbClr val="FF0000"/>
                </a:solidFill>
                <a:latin typeface="华文楷体" panose="02010600040101010101" pitchFamily="2" charset="-122"/>
              </a:rPr>
              <a:t>概念：</a:t>
            </a:r>
            <a:r>
              <a:rPr lang="zh-CN" altLang="en-US" sz="2200" dirty="0">
                <a:latin typeface="华文楷体" panose="02010600040101010101" pitchFamily="2" charset="-122"/>
              </a:rPr>
              <a:t>针对表中的某一列，指明该列的取值范围。在更新该列值时，RDBMS首先要检查是否在该规则规定的范围内。 </a:t>
            </a:r>
            <a:endParaRPr lang="zh-CN" altLang="en-US" sz="2200" dirty="0">
              <a:latin typeface="华文楷体" panose="02010600040101010101" pitchFamily="2" charset="-122"/>
            </a:endParaRPr>
          </a:p>
          <a:p>
            <a:pPr marL="363855" lvl="0" indent="-363855" eaLnBrk="1" hangingPunct="1">
              <a:lnSpc>
                <a:spcPct val="125000"/>
              </a:lnSpc>
            </a:pPr>
            <a:r>
              <a:rPr lang="zh-CN" altLang="en-US" sz="2400" u="sng" dirty="0">
                <a:solidFill>
                  <a:srgbClr val="FF0000"/>
                </a:solidFill>
                <a:latin typeface="华文楷体" panose="02010600040101010101" pitchFamily="2" charset="-122"/>
              </a:rPr>
              <a:t>设定步骤 ：</a:t>
            </a:r>
            <a:endParaRPr lang="zh-CN" altLang="en-US" sz="2400" u="sng" dirty="0">
              <a:solidFill>
                <a:srgbClr val="FF0000"/>
              </a:solidFill>
              <a:latin typeface="华文楷体" panose="02010600040101010101" pitchFamily="2" charset="-122"/>
            </a:endParaRPr>
          </a:p>
          <a:p>
            <a:pPr marL="1085850" lvl="1" indent="-457200" eaLnBrk="1" hangingPunct="1">
              <a:lnSpc>
                <a:spcPct val="90000"/>
              </a:lnSpc>
              <a:buFont typeface="Arial" panose="020B0604020202020204" pitchFamily="34" charset="0"/>
              <a:buNone/>
            </a:pPr>
            <a:r>
              <a:rPr lang="zh-CN" altLang="en-US" sz="2400" dirty="0">
                <a:solidFill>
                  <a:srgbClr val="0033CC"/>
                </a:solidFill>
                <a:latin typeface="华文楷体" panose="02010600040101010101" pitchFamily="2" charset="-122"/>
              </a:rPr>
              <a:t>1）</a:t>
            </a:r>
            <a:r>
              <a:rPr lang="zh-CN" altLang="en-US" sz="2400" i="1" dirty="0">
                <a:solidFill>
                  <a:srgbClr val="0033CC"/>
                </a:solidFill>
                <a:latin typeface="华文楷体" panose="02010600040101010101" pitchFamily="2" charset="-122"/>
              </a:rPr>
              <a:t>CREATE RULE 规则名  AS  规则</a:t>
            </a:r>
            <a:endParaRPr lang="zh-CN" altLang="en-US" sz="2400" i="1" dirty="0">
              <a:solidFill>
                <a:srgbClr val="0033CC"/>
              </a:solidFill>
              <a:latin typeface="华文楷体" panose="02010600040101010101" pitchFamily="2" charset="-122"/>
            </a:endParaRPr>
          </a:p>
          <a:p>
            <a:pPr marL="1085850" lvl="1" indent="-457200" eaLnBrk="1" hangingPunct="1">
              <a:lnSpc>
                <a:spcPct val="90000"/>
              </a:lnSpc>
              <a:buFont typeface="Arial" panose="020B0604020202020204" pitchFamily="34" charset="0"/>
              <a:buNone/>
            </a:pPr>
            <a:r>
              <a:rPr lang="zh-CN" altLang="en-US" sz="2400" dirty="0">
                <a:solidFill>
                  <a:srgbClr val="0033CC"/>
                </a:solidFill>
                <a:latin typeface="华文楷体" panose="02010600040101010101" pitchFamily="2" charset="-122"/>
              </a:rPr>
              <a:t>2）</a:t>
            </a:r>
            <a:r>
              <a:rPr lang="zh-CN" altLang="en-US" sz="2400" i="1" dirty="0">
                <a:solidFill>
                  <a:srgbClr val="0033CC"/>
                </a:solidFill>
                <a:latin typeface="华文楷体" panose="02010600040101010101" pitchFamily="2" charset="-122"/>
              </a:rPr>
              <a:t>sp_bindrule  规则名，</a:t>
            </a:r>
            <a:r>
              <a:rPr lang="en-US" altLang="zh-CN" sz="2400" i="1" dirty="0">
                <a:solidFill>
                  <a:srgbClr val="0033CC"/>
                </a:solidFill>
                <a:latin typeface="华文楷体" panose="02010600040101010101" pitchFamily="2" charset="-122"/>
              </a:rPr>
              <a:t>‘</a:t>
            </a:r>
            <a:r>
              <a:rPr lang="zh-CN" altLang="en-US" sz="2400" i="1" dirty="0">
                <a:solidFill>
                  <a:srgbClr val="0033CC"/>
                </a:solidFill>
                <a:latin typeface="华文楷体" panose="02010600040101010101" pitchFamily="2" charset="-122"/>
              </a:rPr>
              <a:t>表名.列名’</a:t>
            </a:r>
            <a:endParaRPr lang="zh-CN" altLang="en-US" sz="2400" dirty="0">
              <a:solidFill>
                <a:srgbClr val="0033CC"/>
              </a:solidFill>
              <a:latin typeface="华文楷体" panose="02010600040101010101" pitchFamily="2" charset="-122"/>
            </a:endParaRPr>
          </a:p>
          <a:p>
            <a:pPr marL="363855" lvl="0" indent="-363855" eaLnBrk="1" hangingPunct="1">
              <a:lnSpc>
                <a:spcPct val="120000"/>
              </a:lnSpc>
            </a:pPr>
            <a:r>
              <a:rPr lang="zh-CN" altLang="en-US" sz="2400" u="sng" dirty="0">
                <a:solidFill>
                  <a:srgbClr val="FF0000"/>
                </a:solidFill>
                <a:latin typeface="华文楷体" panose="02010600040101010101" pitchFamily="2" charset="-122"/>
              </a:rPr>
              <a:t>例如：</a:t>
            </a:r>
            <a:r>
              <a:rPr lang="en-US" altLang="zh-CN" sz="2200" dirty="0">
                <a:latin typeface="华文楷体" panose="02010600040101010101" pitchFamily="2" charset="-122"/>
              </a:rPr>
              <a:t>CREATE  RULE  mark_rule  AS @mark between 0 and 100    </a:t>
            </a:r>
            <a:r>
              <a:rPr lang="zh-CN" altLang="zh-CN" sz="2200" dirty="0">
                <a:latin typeface="华文楷体" panose="02010600040101010101" pitchFamily="2" charset="-122"/>
              </a:rPr>
              <a:t>sp_bindrule mark_rule,'Ctake.mark'</a:t>
            </a:r>
            <a:endParaRPr lang="zh-CN" altLang="zh-CN" sz="2200" dirty="0">
              <a:latin typeface="华文楷体" panose="02010600040101010101" pitchFamily="2" charset="-122"/>
            </a:endParaRPr>
          </a:p>
          <a:p>
            <a:pPr marL="363855" lvl="0" indent="-363855" eaLnBrk="1" hangingPunct="1">
              <a:lnSpc>
                <a:spcPct val="120000"/>
              </a:lnSpc>
            </a:pPr>
            <a:r>
              <a:rPr lang="zh-CN" altLang="en-US" sz="2400" dirty="0">
                <a:latin typeface="华文楷体" panose="02010600040101010101" pitchFamily="2" charset="-122"/>
              </a:rPr>
              <a:t>规则可用I N(…)，BETWEEN …， AND … ，关系式＜、＞、&lt;=、&gt;=、&lt;&gt;、= 和 LIKE 操作符描述 。</a:t>
            </a:r>
            <a:endParaRPr lang="zh-CN" altLang="en-US" sz="2400" dirty="0">
              <a:latin typeface="华文楷体" panose="02010600040101010101" pitchFamily="2" charset="-122"/>
            </a:endParaRPr>
          </a:p>
          <a:p>
            <a:pPr marL="363855" lvl="0" indent="-363855" eaLnBrk="1" hangingPunct="1">
              <a:lnSpc>
                <a:spcPct val="90000"/>
              </a:lnSpc>
            </a:pPr>
            <a:r>
              <a:rPr lang="zh-CN" altLang="en-US" sz="2400" dirty="0">
                <a:latin typeface="华文楷体" panose="02010600040101010101" pitchFamily="2" charset="-122"/>
              </a:rPr>
              <a:t>创建规则时，应注意AS后有一个以</a:t>
            </a:r>
            <a:r>
              <a:rPr lang="zh-CN" altLang="en-US" sz="2400" dirty="0">
                <a:solidFill>
                  <a:srgbClr val="A50021"/>
                </a:solidFill>
                <a:latin typeface="华文楷体" panose="02010600040101010101" pitchFamily="2" charset="-122"/>
              </a:rPr>
              <a:t>@</a:t>
            </a:r>
            <a:r>
              <a:rPr lang="zh-CN" altLang="en-US" sz="2400" dirty="0">
                <a:latin typeface="华文楷体" panose="02010600040101010101" pitchFamily="2" charset="-122"/>
              </a:rPr>
              <a:t>开头的临时变量。</a:t>
            </a:r>
            <a:endParaRPr lang="zh-CN" altLang="en-US" sz="2400" dirty="0">
              <a:latin typeface="华文楷体" panose="02010600040101010101" pitchFamily="2" charset="-122"/>
            </a:endParaRPr>
          </a:p>
        </p:txBody>
      </p:sp>
      <p:sp>
        <p:nvSpPr>
          <p:cNvPr id="6861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68612" name="矩形 1"/>
          <p:cNvSpPr/>
          <p:nvPr/>
        </p:nvSpPr>
        <p:spPr>
          <a:xfrm>
            <a:off x="538163" y="774700"/>
            <a:ext cx="8375650" cy="631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2.规则（rule）</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矩形 1"/>
          <p:cNvSpPr/>
          <p:nvPr/>
        </p:nvSpPr>
        <p:spPr>
          <a:xfrm>
            <a:off x="538163" y="739775"/>
            <a:ext cx="8375650" cy="631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2.规则（rule）</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69635" name="文本框 1"/>
          <p:cNvSpPr txBox="1"/>
          <p:nvPr/>
        </p:nvSpPr>
        <p:spPr>
          <a:xfrm>
            <a:off x="660400" y="1911350"/>
            <a:ext cx="7253288" cy="9017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sz="2200" dirty="0"/>
              <a:t>insert Course values('bk1003','高级程序设计',4)</a:t>
            </a:r>
            <a:endParaRPr lang="zh-CN" altLang="en-US" sz="2200" dirty="0"/>
          </a:p>
          <a:p>
            <a:pPr marL="0" lvl="0" indent="0" eaLnBrk="1" hangingPunct="1">
              <a:lnSpc>
                <a:spcPct val="120000"/>
              </a:lnSpc>
              <a:spcBef>
                <a:spcPct val="0"/>
              </a:spcBef>
              <a:buClrTx/>
              <a:buSzTx/>
              <a:buFont typeface="Arial" panose="020B0604020202020204" pitchFamily="34" charset="0"/>
              <a:buNone/>
            </a:pPr>
            <a:r>
              <a:rPr lang="en-US" altLang="zh-CN" sz="2200" dirty="0"/>
              <a:t>insert Ctake values(</a:t>
            </a:r>
            <a:r>
              <a:rPr lang="zh-CN" altLang="en-US" sz="2200" dirty="0"/>
              <a:t>'bk1003'</a:t>
            </a:r>
            <a:r>
              <a:rPr lang="en-US" altLang="zh-CN" sz="2200" dirty="0"/>
              <a:t>,'2015031001',120,5)</a:t>
            </a:r>
            <a:endParaRPr lang="en-US" altLang="zh-CN" sz="2200" dirty="0"/>
          </a:p>
        </p:txBody>
      </p:sp>
      <p:grpSp>
        <p:nvGrpSpPr>
          <p:cNvPr id="4" name="组合 3"/>
          <p:cNvGrpSpPr/>
          <p:nvPr/>
        </p:nvGrpSpPr>
        <p:grpSpPr>
          <a:xfrm>
            <a:off x="660400" y="2967038"/>
            <a:ext cx="7823200" cy="2255837"/>
            <a:chOff x="1040" y="4672"/>
            <a:chExt cx="12320" cy="3554"/>
          </a:xfrm>
        </p:grpSpPr>
        <p:sp>
          <p:nvSpPr>
            <p:cNvPr id="69639" name="矩形 4"/>
            <p:cNvSpPr/>
            <p:nvPr/>
          </p:nvSpPr>
          <p:spPr>
            <a:xfrm>
              <a:off x="1040" y="4672"/>
              <a:ext cx="12320" cy="16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ts val="300"/>
                </a:spcBef>
                <a:buClr>
                  <a:srgbClr val="0000CC"/>
                </a:buClr>
              </a:pPr>
              <a:r>
                <a:rPr lang="zh-CN" altLang="en-US" sz="2400" u="sng" dirty="0">
                  <a:solidFill>
                    <a:srgbClr val="FF0000"/>
                  </a:solidFill>
                  <a:latin typeface="华文楷体" panose="02010600040101010101" pitchFamily="2" charset="-122"/>
                </a:rPr>
                <a:t>解除规则绑定：</a:t>
              </a:r>
              <a:r>
                <a:rPr lang="zh-CN" altLang="en-US" sz="2400" i="1" dirty="0">
                  <a:latin typeface="华文楷体" panose="02010600040101010101" pitchFamily="2" charset="-122"/>
                </a:rPr>
                <a:t>sp_unbindrule ‘表名.列名’</a:t>
              </a:r>
              <a:r>
                <a:rPr lang="zh-CN" altLang="en-US" sz="2400" dirty="0">
                  <a:solidFill>
                    <a:srgbClr val="0000FF"/>
                  </a:solidFill>
                  <a:latin typeface="华文楷体" panose="02010600040101010101" pitchFamily="2" charset="-122"/>
                </a:rPr>
                <a:t> </a:t>
              </a:r>
              <a:endParaRPr lang="zh-CN" altLang="en-US" sz="2400" dirty="0">
                <a:solidFill>
                  <a:srgbClr val="0000FF"/>
                </a:solidFill>
                <a:latin typeface="华文楷体" panose="02010600040101010101" pitchFamily="2" charset="-122"/>
              </a:endParaRPr>
            </a:p>
            <a:p>
              <a:pPr marL="533400" lvl="0" indent="-533400" eaLnBrk="1" hangingPunct="1">
                <a:lnSpc>
                  <a:spcPct val="120000"/>
                </a:lnSpc>
                <a:spcBef>
                  <a:spcPts val="300"/>
                </a:spcBef>
                <a:buClr>
                  <a:srgbClr val="0000CC"/>
                </a:buClr>
              </a:pPr>
              <a:r>
                <a:rPr lang="zh-CN" altLang="en-US" sz="2400" u="sng" dirty="0">
                  <a:solidFill>
                    <a:srgbClr val="FF0000"/>
                  </a:solidFill>
                  <a:latin typeface="华文楷体" panose="02010600040101010101" pitchFamily="2" charset="-122"/>
                </a:rPr>
                <a:t>删除规则：</a:t>
              </a:r>
              <a:r>
                <a:rPr lang="zh-CN" altLang="en-US" sz="2400" i="1" dirty="0">
                  <a:latin typeface="华文楷体" panose="02010600040101010101" pitchFamily="2" charset="-122"/>
                </a:rPr>
                <a:t>DROP  RULE  规则名</a:t>
              </a:r>
              <a:endParaRPr lang="zh-CN" altLang="en-US" sz="2400" dirty="0">
                <a:solidFill>
                  <a:srgbClr val="A50021"/>
                </a:solidFill>
                <a:latin typeface="华文楷体" panose="02010600040101010101" pitchFamily="2" charset="-122"/>
              </a:endParaRPr>
            </a:p>
          </p:txBody>
        </p:sp>
        <p:sp>
          <p:nvSpPr>
            <p:cNvPr id="69640" name="文本框 2"/>
            <p:cNvSpPr txBox="1"/>
            <p:nvPr/>
          </p:nvSpPr>
          <p:spPr>
            <a:xfrm>
              <a:off x="1362" y="6272"/>
              <a:ext cx="11343" cy="195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200" dirty="0"/>
                <a:t>sp_unbindrule 'Ctake.mark'</a:t>
              </a:r>
              <a:endParaRPr lang="en-US" altLang="zh-CN" sz="2200" dirty="0"/>
            </a:p>
            <a:p>
              <a:pPr marL="0" lvl="0" indent="0" eaLnBrk="1" hangingPunct="1">
                <a:lnSpc>
                  <a:spcPct val="120000"/>
                </a:lnSpc>
                <a:spcBef>
                  <a:spcPct val="0"/>
                </a:spcBef>
                <a:buClrTx/>
                <a:buSzTx/>
                <a:buFont typeface="Arial" panose="020B0604020202020204" pitchFamily="34" charset="0"/>
                <a:buNone/>
              </a:pPr>
              <a:r>
                <a:rPr lang="en-US" altLang="zh-CN" sz="2200" dirty="0"/>
                <a:t>drop rule mark_rule</a:t>
              </a:r>
              <a:endParaRPr lang="en-US" altLang="zh-CN" sz="2200" dirty="0"/>
            </a:p>
            <a:p>
              <a:pPr marL="0" lvl="0" indent="0" eaLnBrk="1" hangingPunct="1">
                <a:spcBef>
                  <a:spcPct val="0"/>
                </a:spcBef>
                <a:buClrTx/>
                <a:buSzTx/>
                <a:buFont typeface="Arial" panose="020B0604020202020204" pitchFamily="34" charset="0"/>
                <a:buNone/>
              </a:pPr>
              <a:r>
                <a:rPr lang="en-US" altLang="zh-CN" sz="2200" dirty="0"/>
                <a:t>insert Ctake values(</a:t>
              </a:r>
              <a:r>
                <a:rPr lang="en-US" altLang="zh-CN" sz="2200" dirty="0">
                  <a:sym typeface="宋体" panose="02010600030101010101" pitchFamily="2" charset="-122"/>
                </a:rPr>
                <a:t>'bk1003','2015031001',120,5)</a:t>
              </a:r>
              <a:endParaRPr lang="zh-CN" altLang="en-US" sz="2200" dirty="0"/>
            </a:p>
          </p:txBody>
        </p:sp>
      </p:grpSp>
      <p:sp>
        <p:nvSpPr>
          <p:cNvPr id="69637" name="Rectangle 2"/>
          <p:cNvSpPr txBox="1"/>
          <p:nvPr/>
        </p:nvSpPr>
        <p:spPr>
          <a:xfrm>
            <a:off x="538163" y="1492250"/>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3300"/>
                </a:solidFill>
                <a:latin typeface="宋体" panose="02010600030101010101" pitchFamily="2" charset="-122"/>
                <a:ea typeface="黑体" panose="02010609060101010101" pitchFamily="49" charset="-122"/>
              </a:rPr>
              <a:t> 规则的验证</a:t>
            </a:r>
            <a:endParaRPr lang="zh-CN" altLang="en-US" sz="2600" dirty="0">
              <a:solidFill>
                <a:srgbClr val="FF3300"/>
              </a:solidFill>
              <a:latin typeface="宋体" panose="02010600030101010101" pitchFamily="2" charset="-122"/>
              <a:ea typeface="黑体" panose="02010609060101010101" pitchFamily="49" charset="-122"/>
            </a:endParaRPr>
          </a:p>
        </p:txBody>
      </p:sp>
      <p:sp>
        <p:nvSpPr>
          <p:cNvPr id="6963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Rectangle 2"/>
          <p:cNvSpPr txBox="1"/>
          <p:nvPr/>
        </p:nvSpPr>
        <p:spPr>
          <a:xfrm>
            <a:off x="533400" y="96202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0033CC"/>
                </a:solidFill>
                <a:latin typeface="宋体" panose="02010600030101010101" pitchFamily="2" charset="-122"/>
                <a:ea typeface="黑体" panose="02010609060101010101" pitchFamily="49" charset="-122"/>
              </a:rPr>
              <a:t> 规则和默认值的扩展用法</a:t>
            </a:r>
            <a:endParaRPr lang="zh-CN" altLang="en-US" sz="2600" dirty="0">
              <a:solidFill>
                <a:srgbClr val="0033CC"/>
              </a:solidFill>
              <a:latin typeface="宋体" panose="02010600030101010101" pitchFamily="2" charset="-122"/>
              <a:ea typeface="黑体" panose="02010609060101010101" pitchFamily="49" charset="-122"/>
            </a:endParaRPr>
          </a:p>
        </p:txBody>
      </p:sp>
      <p:sp>
        <p:nvSpPr>
          <p:cNvPr id="46083" name="Rectangle 3"/>
          <p:cNvSpPr txBox="1"/>
          <p:nvPr/>
        </p:nvSpPr>
        <p:spPr>
          <a:xfrm>
            <a:off x="533400" y="1447800"/>
            <a:ext cx="8177213" cy="45974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05000"/>
              </a:lnSpc>
              <a:buClr>
                <a:srgbClr val="0000CC"/>
              </a:buClr>
            </a:pPr>
            <a:r>
              <a:rPr lang="zh-CN" altLang="en-US" sz="2200" dirty="0">
                <a:latin typeface="华文楷体" panose="02010600040101010101" pitchFamily="2" charset="-122"/>
              </a:rPr>
              <a:t>先创建好用户定义类型，然后将创建好的缺省和规则绑定到用户定义类型上 </a:t>
            </a:r>
            <a:endParaRPr lang="zh-CN" altLang="en-US" sz="2200" dirty="0">
              <a:latin typeface="华文楷体" panose="02010600040101010101" pitchFamily="2" charset="-122"/>
            </a:endParaRPr>
          </a:p>
          <a:p>
            <a:pPr marL="533400" lvl="0" indent="-533400" eaLnBrk="1" hangingPunct="1">
              <a:lnSpc>
                <a:spcPct val="90000"/>
              </a:lnSpc>
            </a:pPr>
            <a:r>
              <a:rPr lang="zh-CN" altLang="en-US" sz="2400" dirty="0">
                <a:latin typeface="华文楷体" panose="02010600040101010101" pitchFamily="2" charset="-122"/>
              </a:rPr>
              <a:t>绑定：</a:t>
            </a:r>
            <a:r>
              <a:rPr lang="zh-CN" altLang="en-US" sz="2400" i="1" dirty="0">
                <a:latin typeface="华文楷体" panose="02010600040101010101" pitchFamily="2" charset="-122"/>
              </a:rPr>
              <a:t> </a:t>
            </a:r>
            <a:r>
              <a:rPr lang="zh-CN" altLang="en-US" dirty="0">
                <a:solidFill>
                  <a:srgbClr val="A50021"/>
                </a:solidFill>
                <a:latin typeface="华文楷体" panose="02010600040101010101" pitchFamily="2" charset="-122"/>
              </a:rPr>
              <a:t>sp_bindrule 规则名，用户定义类型</a:t>
            </a:r>
            <a:endParaRPr lang="zh-CN" altLang="en-US" dirty="0">
              <a:solidFill>
                <a:srgbClr val="A50021"/>
              </a:solidFill>
              <a:latin typeface="华文楷体" panose="02010600040101010101" pitchFamily="2" charset="-122"/>
            </a:endParaRPr>
          </a:p>
          <a:p>
            <a:pPr marL="533400" lvl="0" indent="-533400" eaLnBrk="1" hangingPunct="1">
              <a:lnSpc>
                <a:spcPct val="90000"/>
              </a:lnSpc>
              <a:spcBef>
                <a:spcPct val="0"/>
              </a:spcBef>
              <a:buFont typeface="Arial" panose="020B0604020202020204" pitchFamily="34" charset="0"/>
              <a:buNone/>
            </a:pPr>
            <a:r>
              <a:rPr lang="zh-CN" altLang="en-US" dirty="0">
                <a:solidFill>
                  <a:srgbClr val="A50021"/>
                </a:solidFill>
                <a:latin typeface="华文楷体" panose="02010600040101010101" pitchFamily="2" charset="-122"/>
              </a:rPr>
              <a:t>	                sp_bindefault  缺省名，用户定义类型</a:t>
            </a:r>
            <a:endParaRPr lang="zh-CN" altLang="en-US" dirty="0">
              <a:solidFill>
                <a:srgbClr val="A50021"/>
              </a:solidFill>
              <a:latin typeface="华文楷体" panose="02010600040101010101" pitchFamily="2" charset="-122"/>
            </a:endParaRPr>
          </a:p>
          <a:p>
            <a:pPr marL="533400" lvl="0" indent="-533400" eaLnBrk="1" hangingPunct="1">
              <a:lnSpc>
                <a:spcPct val="90000"/>
              </a:lnSpc>
              <a:spcBef>
                <a:spcPct val="0"/>
              </a:spcBef>
            </a:pPr>
            <a:r>
              <a:rPr lang="zh-CN" altLang="en-US" sz="2400" dirty="0">
                <a:latin typeface="华文楷体" panose="02010600040101010101" pitchFamily="2" charset="-122"/>
              </a:rPr>
              <a:t>摘除： </a:t>
            </a:r>
            <a:endParaRPr lang="zh-CN" altLang="en-US" sz="2400" dirty="0">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i="1" dirty="0">
                <a:latin typeface="华文楷体" panose="02010600040101010101" pitchFamily="2" charset="-122"/>
              </a:rPr>
              <a:t>  </a:t>
            </a:r>
            <a:r>
              <a:rPr lang="en-US" altLang="zh-CN" i="1" dirty="0">
                <a:latin typeface="华文楷体" panose="02010600040101010101" pitchFamily="2" charset="-122"/>
              </a:rPr>
              <a:t>--</a:t>
            </a:r>
            <a:r>
              <a:rPr lang="zh-CN" altLang="en-US" sz="2000" i="1" dirty="0">
                <a:solidFill>
                  <a:srgbClr val="A50021"/>
                </a:solidFill>
                <a:latin typeface="华文楷体" panose="02010600040101010101" pitchFamily="2" charset="-122"/>
              </a:rPr>
              <a:t>sp_unbindefault   用户定义类型</a:t>
            </a:r>
            <a:endParaRPr lang="zh-CN" altLang="en-US" sz="2000" i="1" dirty="0">
              <a:solidFill>
                <a:srgbClr val="A50021"/>
              </a:solidFill>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000" i="1" dirty="0">
                <a:solidFill>
                  <a:srgbClr val="A50021"/>
                </a:solidFill>
                <a:latin typeface="华文楷体" panose="02010600040101010101" pitchFamily="2" charset="-122"/>
              </a:rPr>
              <a:t>  </a:t>
            </a:r>
            <a:r>
              <a:rPr lang="en-US" altLang="zh-CN" sz="2000" i="1" dirty="0">
                <a:solidFill>
                  <a:srgbClr val="A50021"/>
                </a:solidFill>
                <a:latin typeface="华文楷体" panose="02010600040101010101" pitchFamily="2" charset="-122"/>
              </a:rPr>
              <a:t>--</a:t>
            </a:r>
            <a:r>
              <a:rPr lang="zh-CN" altLang="en-US" sz="2000" i="1" dirty="0">
                <a:solidFill>
                  <a:srgbClr val="A50021"/>
                </a:solidFill>
                <a:latin typeface="华文楷体" panose="02010600040101010101" pitchFamily="2" charset="-122"/>
              </a:rPr>
              <a:t> sp_unbinderule   用户定义类型</a:t>
            </a:r>
            <a:endParaRPr lang="zh-CN" altLang="en-US" sz="2000" i="1" dirty="0">
              <a:solidFill>
                <a:srgbClr val="A50021"/>
              </a:solidFill>
              <a:latin typeface="华文楷体" panose="02010600040101010101" pitchFamily="2" charset="-122"/>
            </a:endParaRPr>
          </a:p>
          <a:p>
            <a:pPr marL="533400" lvl="0" indent="-533400" eaLnBrk="1" hangingPunct="1">
              <a:spcBef>
                <a:spcPts val="300"/>
              </a:spcBef>
            </a:pPr>
            <a:r>
              <a:rPr lang="zh-CN" altLang="en-US" sz="2400" dirty="0">
                <a:latin typeface="华文楷体" panose="02010600040101010101" pitchFamily="2" charset="-122"/>
              </a:rPr>
              <a:t>查看创建规则和缺省的过程：</a:t>
            </a:r>
            <a:r>
              <a:rPr lang="zh-CN" altLang="en-US" dirty="0">
                <a:latin typeface="华文楷体" panose="02010600040101010101" pitchFamily="2" charset="-122"/>
              </a:rPr>
              <a:t> </a:t>
            </a:r>
            <a:r>
              <a:rPr lang="en-US" altLang="zh-CN" dirty="0">
                <a:latin typeface="华文楷体" panose="02010600040101010101" pitchFamily="2" charset="-122"/>
              </a:rPr>
              <a:t>--</a:t>
            </a:r>
            <a:r>
              <a:rPr lang="zh-CN" altLang="en-US" dirty="0">
                <a:latin typeface="华文楷体" panose="02010600040101010101" pitchFamily="2" charset="-122"/>
              </a:rPr>
              <a:t>sp_helptext 规则名或缺省名</a:t>
            </a:r>
            <a:endParaRPr lang="zh-CN" altLang="en-US" sz="2400" dirty="0">
              <a:latin typeface="华文楷体" panose="02010600040101010101" pitchFamily="2" charset="-122"/>
            </a:endParaRPr>
          </a:p>
          <a:p>
            <a:pPr marL="533400" lvl="0" indent="-533400" eaLnBrk="1" hangingPunct="1">
              <a:spcBef>
                <a:spcPts val="300"/>
              </a:spcBef>
            </a:pPr>
            <a:r>
              <a:rPr lang="zh-CN" altLang="en-US" sz="2200" dirty="0">
                <a:latin typeface="华文楷体" panose="02010600040101010101" pitchFamily="2" charset="-122"/>
              </a:rPr>
              <a:t>规则检查属性的取值范围。默认值提供属性在没有设定值时的缺省</a:t>
            </a:r>
            <a:r>
              <a:rPr lang="zh-CN" altLang="en-US" sz="2400" dirty="0">
                <a:latin typeface="华文楷体" panose="02010600040101010101" pitchFamily="2" charset="-122"/>
              </a:rPr>
              <a:t>。</a:t>
            </a:r>
            <a:endParaRPr lang="zh-CN" altLang="en-US" sz="2400" dirty="0">
              <a:latin typeface="华文楷体" panose="02010600040101010101" pitchFamily="2" charset="-122"/>
            </a:endParaRPr>
          </a:p>
          <a:p>
            <a:pPr marL="533400" lvl="0" indent="-533400" eaLnBrk="1" hangingPunct="1">
              <a:spcBef>
                <a:spcPts val="300"/>
              </a:spcBef>
            </a:pPr>
            <a:r>
              <a:rPr lang="zh-CN" altLang="en-US" sz="2200" dirty="0">
                <a:latin typeface="华文楷体" panose="02010600040101010101" pitchFamily="2" charset="-122"/>
              </a:rPr>
              <a:t>默认值从属于规则，当默认与规则都有时，必须同时满足。</a:t>
            </a:r>
            <a:endParaRPr lang="zh-CN" altLang="en-US" sz="2200" dirty="0">
              <a:latin typeface="华文楷体" panose="02010600040101010101" pitchFamily="2" charset="-122"/>
            </a:endParaRPr>
          </a:p>
          <a:p>
            <a:pPr marL="533400" lvl="0" indent="-533400" eaLnBrk="1" hangingPunct="1">
              <a:lnSpc>
                <a:spcPct val="110000"/>
              </a:lnSpc>
              <a:spcBef>
                <a:spcPts val="300"/>
              </a:spcBef>
            </a:pPr>
            <a:r>
              <a:rPr lang="zh-CN" altLang="en-US" sz="2200" dirty="0">
                <a:latin typeface="华文楷体" panose="02010600040101010101" pitchFamily="2" charset="-122"/>
              </a:rPr>
              <a:t>一般，绑定一个新规则或默认时，应先摘除旧规则或旧默认。如果没有摘除，则自动用新规则或新默认替换旧的。</a:t>
            </a:r>
            <a:endParaRPr lang="zh-CN" altLang="en-US" sz="2200" dirty="0">
              <a:latin typeface="华文楷体" panose="02010600040101010101" pitchFamily="2" charset="-122"/>
            </a:endParaRPr>
          </a:p>
        </p:txBody>
      </p:sp>
      <p:sp>
        <p:nvSpPr>
          <p:cNvPr id="7066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6083">
                                            <p:txEl>
                                              <p:charRg st="0" end="35"/>
                                            </p:txEl>
                                          </p:spTgt>
                                        </p:tgtEl>
                                        <p:attrNameLst>
                                          <p:attrName>style.visibility</p:attrName>
                                        </p:attrNameLst>
                                      </p:cBhvr>
                                      <p:to>
                                        <p:strVal val="visible"/>
                                      </p:to>
                                    </p:set>
                                    <p:anim calcmode="lin" valueType="num">
                                      <p:cBhvr>
                                        <p:cTn id="7" dur="1000" fill="hold"/>
                                        <p:tgtEl>
                                          <p:spTgt spid="46083">
                                            <p:txEl>
                                              <p:charRg st="0" end="35"/>
                                            </p:txEl>
                                          </p:spTgt>
                                        </p:tgtEl>
                                        <p:attrNameLst>
                                          <p:attrName>ppt_w</p:attrName>
                                        </p:attrNameLst>
                                      </p:cBhvr>
                                      <p:tavLst>
                                        <p:tav tm="0">
                                          <p:val>
                                            <p:strVal val="#ppt_w*0.70"/>
                                          </p:val>
                                        </p:tav>
                                        <p:tav tm="100000">
                                          <p:val>
                                            <p:strVal val="#ppt_w"/>
                                          </p:val>
                                        </p:tav>
                                      </p:tavLst>
                                    </p:anim>
                                    <p:anim calcmode="lin" valueType="num">
                                      <p:cBhvr>
                                        <p:cTn id="8" dur="1000" fill="hold"/>
                                        <p:tgtEl>
                                          <p:spTgt spid="46083">
                                            <p:txEl>
                                              <p:charRg st="0" end="35"/>
                                            </p:txEl>
                                          </p:spTgt>
                                        </p:tgtEl>
                                        <p:attrNameLst>
                                          <p:attrName>ppt_h</p:attrName>
                                        </p:attrNameLst>
                                      </p:cBhvr>
                                      <p:tavLst>
                                        <p:tav tm="0">
                                          <p:val>
                                            <p:strVal val="#ppt_h"/>
                                          </p:val>
                                        </p:tav>
                                        <p:tav tm="100000">
                                          <p:val>
                                            <p:strVal val="#ppt_h"/>
                                          </p:val>
                                        </p:tav>
                                      </p:tavLst>
                                    </p:anim>
                                    <p:animEffect transition="in" filter="fade">
                                      <p:cBhvr>
                                        <p:cTn id="9" dur="1000"/>
                                        <p:tgtEl>
                                          <p:spTgt spid="46083">
                                            <p:txEl>
                                              <p:charRg st="0" end="35"/>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6083">
                                            <p:txEl>
                                              <p:charRg st="35" end="62"/>
                                            </p:txEl>
                                          </p:spTgt>
                                        </p:tgtEl>
                                        <p:attrNameLst>
                                          <p:attrName>style.visibility</p:attrName>
                                        </p:attrNameLst>
                                      </p:cBhvr>
                                      <p:to>
                                        <p:strVal val="visible"/>
                                      </p:to>
                                    </p:set>
                                    <p:anim calcmode="lin" valueType="num">
                                      <p:cBhvr>
                                        <p:cTn id="14" dur="1000" fill="hold"/>
                                        <p:tgtEl>
                                          <p:spTgt spid="46083">
                                            <p:txEl>
                                              <p:charRg st="35" end="62"/>
                                            </p:txEl>
                                          </p:spTgt>
                                        </p:tgtEl>
                                        <p:attrNameLst>
                                          <p:attrName>ppt_w</p:attrName>
                                        </p:attrNameLst>
                                      </p:cBhvr>
                                      <p:tavLst>
                                        <p:tav tm="0">
                                          <p:val>
                                            <p:strVal val="#ppt_w*0.70"/>
                                          </p:val>
                                        </p:tav>
                                        <p:tav tm="100000">
                                          <p:val>
                                            <p:strVal val="#ppt_w"/>
                                          </p:val>
                                        </p:tav>
                                      </p:tavLst>
                                    </p:anim>
                                    <p:anim calcmode="lin" valueType="num">
                                      <p:cBhvr>
                                        <p:cTn id="15" dur="1000" fill="hold"/>
                                        <p:tgtEl>
                                          <p:spTgt spid="46083">
                                            <p:txEl>
                                              <p:charRg st="35" end="62"/>
                                            </p:txEl>
                                          </p:spTgt>
                                        </p:tgtEl>
                                        <p:attrNameLst>
                                          <p:attrName>ppt_h</p:attrName>
                                        </p:attrNameLst>
                                      </p:cBhvr>
                                      <p:tavLst>
                                        <p:tav tm="0">
                                          <p:val>
                                            <p:strVal val="#ppt_h"/>
                                          </p:val>
                                        </p:tav>
                                        <p:tav tm="100000">
                                          <p:val>
                                            <p:strVal val="#ppt_h"/>
                                          </p:val>
                                        </p:tav>
                                      </p:tavLst>
                                    </p:anim>
                                    <p:animEffect transition="in" filter="fade">
                                      <p:cBhvr>
                                        <p:cTn id="16" dur="1000"/>
                                        <p:tgtEl>
                                          <p:spTgt spid="46083">
                                            <p:txEl>
                                              <p:charRg st="35" end="6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6083">
                                            <p:txEl>
                                              <p:charRg st="62" end="105"/>
                                            </p:txEl>
                                          </p:spTgt>
                                        </p:tgtEl>
                                        <p:attrNameLst>
                                          <p:attrName>style.visibility</p:attrName>
                                        </p:attrNameLst>
                                      </p:cBhvr>
                                      <p:to>
                                        <p:strVal val="visible"/>
                                      </p:to>
                                    </p:set>
                                    <p:anim calcmode="lin" valueType="num">
                                      <p:cBhvr>
                                        <p:cTn id="21" dur="1000" fill="hold"/>
                                        <p:tgtEl>
                                          <p:spTgt spid="46083">
                                            <p:txEl>
                                              <p:charRg st="62" end="105"/>
                                            </p:txEl>
                                          </p:spTgt>
                                        </p:tgtEl>
                                        <p:attrNameLst>
                                          <p:attrName>ppt_w</p:attrName>
                                        </p:attrNameLst>
                                      </p:cBhvr>
                                      <p:tavLst>
                                        <p:tav tm="0">
                                          <p:val>
                                            <p:strVal val="#ppt_w*0.70"/>
                                          </p:val>
                                        </p:tav>
                                        <p:tav tm="100000">
                                          <p:val>
                                            <p:strVal val="#ppt_w"/>
                                          </p:val>
                                        </p:tav>
                                      </p:tavLst>
                                    </p:anim>
                                    <p:anim calcmode="lin" valueType="num">
                                      <p:cBhvr>
                                        <p:cTn id="22" dur="1000" fill="hold"/>
                                        <p:tgtEl>
                                          <p:spTgt spid="46083">
                                            <p:txEl>
                                              <p:charRg st="62" end="105"/>
                                            </p:txEl>
                                          </p:spTgt>
                                        </p:tgtEl>
                                        <p:attrNameLst>
                                          <p:attrName>ppt_h</p:attrName>
                                        </p:attrNameLst>
                                      </p:cBhvr>
                                      <p:tavLst>
                                        <p:tav tm="0">
                                          <p:val>
                                            <p:strVal val="#ppt_h"/>
                                          </p:val>
                                        </p:tav>
                                        <p:tav tm="100000">
                                          <p:val>
                                            <p:strVal val="#ppt_h"/>
                                          </p:val>
                                        </p:tav>
                                      </p:tavLst>
                                    </p:anim>
                                    <p:animEffect transition="in" filter="fade">
                                      <p:cBhvr>
                                        <p:cTn id="23" dur="1000"/>
                                        <p:tgtEl>
                                          <p:spTgt spid="46083">
                                            <p:txEl>
                                              <p:charRg st="62" end="10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grpId="0" nodeType="clickEffect">
                                  <p:stCondLst>
                                    <p:cond delay="0"/>
                                  </p:stCondLst>
                                  <p:childTnLst>
                                    <p:set>
                                      <p:cBhvr>
                                        <p:cTn id="27" dur="1" fill="hold">
                                          <p:stCondLst>
                                            <p:cond delay="0"/>
                                          </p:stCondLst>
                                        </p:cTn>
                                        <p:tgtEl>
                                          <p:spTgt spid="46083">
                                            <p:txEl>
                                              <p:charRg st="105" end="110"/>
                                            </p:txEl>
                                          </p:spTgt>
                                        </p:tgtEl>
                                        <p:attrNameLst>
                                          <p:attrName>style.visibility</p:attrName>
                                        </p:attrNameLst>
                                      </p:cBhvr>
                                      <p:to>
                                        <p:strVal val="visible"/>
                                      </p:to>
                                    </p:set>
                                    <p:anim calcmode="lin" valueType="num">
                                      <p:cBhvr>
                                        <p:cTn id="28" dur="1000" fill="hold"/>
                                        <p:tgtEl>
                                          <p:spTgt spid="46083">
                                            <p:txEl>
                                              <p:charRg st="105" end="110"/>
                                            </p:txEl>
                                          </p:spTgt>
                                        </p:tgtEl>
                                        <p:attrNameLst>
                                          <p:attrName>ppt_w</p:attrName>
                                        </p:attrNameLst>
                                      </p:cBhvr>
                                      <p:tavLst>
                                        <p:tav tm="0">
                                          <p:val>
                                            <p:strVal val="#ppt_w*0.70"/>
                                          </p:val>
                                        </p:tav>
                                        <p:tav tm="100000">
                                          <p:val>
                                            <p:strVal val="#ppt_w"/>
                                          </p:val>
                                        </p:tav>
                                      </p:tavLst>
                                    </p:anim>
                                    <p:anim calcmode="lin" valueType="num">
                                      <p:cBhvr>
                                        <p:cTn id="29" dur="1000" fill="hold"/>
                                        <p:tgtEl>
                                          <p:spTgt spid="46083">
                                            <p:txEl>
                                              <p:charRg st="105" end="110"/>
                                            </p:txEl>
                                          </p:spTgt>
                                        </p:tgtEl>
                                        <p:attrNameLst>
                                          <p:attrName>ppt_h</p:attrName>
                                        </p:attrNameLst>
                                      </p:cBhvr>
                                      <p:tavLst>
                                        <p:tav tm="0">
                                          <p:val>
                                            <p:strVal val="#ppt_h"/>
                                          </p:val>
                                        </p:tav>
                                        <p:tav tm="100000">
                                          <p:val>
                                            <p:strVal val="#ppt_h"/>
                                          </p:val>
                                        </p:tav>
                                      </p:tavLst>
                                    </p:anim>
                                    <p:animEffect transition="in" filter="fade">
                                      <p:cBhvr>
                                        <p:cTn id="30" dur="1000"/>
                                        <p:tgtEl>
                                          <p:spTgt spid="46083">
                                            <p:txEl>
                                              <p:charRg st="105" end="110"/>
                                            </p:txEl>
                                          </p:spTgt>
                                        </p:tgtEl>
                                      </p:cBhvr>
                                    </p:animEffect>
                                  </p:childTnLst>
                                </p:cTn>
                              </p:par>
                              <p:par>
                                <p:cTn id="31" presetID="55" presetClass="entr" presetSubtype="0" fill="hold" grpId="0" nodeType="withEffect">
                                  <p:stCondLst>
                                    <p:cond delay="0"/>
                                  </p:stCondLst>
                                  <p:childTnLst>
                                    <p:set>
                                      <p:cBhvr>
                                        <p:cTn id="32" dur="1" fill="hold">
                                          <p:stCondLst>
                                            <p:cond delay="0"/>
                                          </p:stCondLst>
                                        </p:cTn>
                                        <p:tgtEl>
                                          <p:spTgt spid="46083">
                                            <p:txEl>
                                              <p:charRg st="110" end="139"/>
                                            </p:txEl>
                                          </p:spTgt>
                                        </p:tgtEl>
                                        <p:attrNameLst>
                                          <p:attrName>style.visibility</p:attrName>
                                        </p:attrNameLst>
                                      </p:cBhvr>
                                      <p:to>
                                        <p:strVal val="visible"/>
                                      </p:to>
                                    </p:set>
                                    <p:anim calcmode="lin" valueType="num">
                                      <p:cBhvr>
                                        <p:cTn id="33" dur="1000" fill="hold"/>
                                        <p:tgtEl>
                                          <p:spTgt spid="46083">
                                            <p:txEl>
                                              <p:charRg st="110" end="139"/>
                                            </p:txEl>
                                          </p:spTgt>
                                        </p:tgtEl>
                                        <p:attrNameLst>
                                          <p:attrName>ppt_w</p:attrName>
                                        </p:attrNameLst>
                                      </p:cBhvr>
                                      <p:tavLst>
                                        <p:tav tm="0">
                                          <p:val>
                                            <p:strVal val="#ppt_w*0.70"/>
                                          </p:val>
                                        </p:tav>
                                        <p:tav tm="100000">
                                          <p:val>
                                            <p:strVal val="#ppt_w"/>
                                          </p:val>
                                        </p:tav>
                                      </p:tavLst>
                                    </p:anim>
                                    <p:anim calcmode="lin" valueType="num">
                                      <p:cBhvr>
                                        <p:cTn id="34" dur="1000" fill="hold"/>
                                        <p:tgtEl>
                                          <p:spTgt spid="46083">
                                            <p:txEl>
                                              <p:charRg st="110" end="139"/>
                                            </p:txEl>
                                          </p:spTgt>
                                        </p:tgtEl>
                                        <p:attrNameLst>
                                          <p:attrName>ppt_h</p:attrName>
                                        </p:attrNameLst>
                                      </p:cBhvr>
                                      <p:tavLst>
                                        <p:tav tm="0">
                                          <p:val>
                                            <p:strVal val="#ppt_h"/>
                                          </p:val>
                                        </p:tav>
                                        <p:tav tm="100000">
                                          <p:val>
                                            <p:strVal val="#ppt_h"/>
                                          </p:val>
                                        </p:tav>
                                      </p:tavLst>
                                    </p:anim>
                                    <p:animEffect transition="in" filter="fade">
                                      <p:cBhvr>
                                        <p:cTn id="35" dur="1000"/>
                                        <p:tgtEl>
                                          <p:spTgt spid="46083">
                                            <p:txEl>
                                              <p:charRg st="110" end="139"/>
                                            </p:txEl>
                                          </p:spTgt>
                                        </p:tgtEl>
                                      </p:cBhvr>
                                    </p:animEffect>
                                  </p:childTnLst>
                                </p:cTn>
                              </p:par>
                              <p:par>
                                <p:cTn id="36" presetID="55" presetClass="entr" presetSubtype="0" fill="hold" grpId="0" nodeType="withEffect">
                                  <p:stCondLst>
                                    <p:cond delay="0"/>
                                  </p:stCondLst>
                                  <p:childTnLst>
                                    <p:set>
                                      <p:cBhvr>
                                        <p:cTn id="37" dur="1" fill="hold">
                                          <p:stCondLst>
                                            <p:cond delay="0"/>
                                          </p:stCondLst>
                                        </p:cTn>
                                        <p:tgtEl>
                                          <p:spTgt spid="46083">
                                            <p:txEl>
                                              <p:charRg st="139" end="168"/>
                                            </p:txEl>
                                          </p:spTgt>
                                        </p:tgtEl>
                                        <p:attrNameLst>
                                          <p:attrName>style.visibility</p:attrName>
                                        </p:attrNameLst>
                                      </p:cBhvr>
                                      <p:to>
                                        <p:strVal val="visible"/>
                                      </p:to>
                                    </p:set>
                                    <p:anim calcmode="lin" valueType="num">
                                      <p:cBhvr>
                                        <p:cTn id="38" dur="1000" fill="hold"/>
                                        <p:tgtEl>
                                          <p:spTgt spid="46083">
                                            <p:txEl>
                                              <p:charRg st="139" end="168"/>
                                            </p:txEl>
                                          </p:spTgt>
                                        </p:tgtEl>
                                        <p:attrNameLst>
                                          <p:attrName>ppt_w</p:attrName>
                                        </p:attrNameLst>
                                      </p:cBhvr>
                                      <p:tavLst>
                                        <p:tav tm="0">
                                          <p:val>
                                            <p:strVal val="#ppt_w*0.70"/>
                                          </p:val>
                                        </p:tav>
                                        <p:tav tm="100000">
                                          <p:val>
                                            <p:strVal val="#ppt_w"/>
                                          </p:val>
                                        </p:tav>
                                      </p:tavLst>
                                    </p:anim>
                                    <p:anim calcmode="lin" valueType="num">
                                      <p:cBhvr>
                                        <p:cTn id="39" dur="1000" fill="hold"/>
                                        <p:tgtEl>
                                          <p:spTgt spid="46083">
                                            <p:txEl>
                                              <p:charRg st="139" end="168"/>
                                            </p:txEl>
                                          </p:spTgt>
                                        </p:tgtEl>
                                        <p:attrNameLst>
                                          <p:attrName>ppt_h</p:attrName>
                                        </p:attrNameLst>
                                      </p:cBhvr>
                                      <p:tavLst>
                                        <p:tav tm="0">
                                          <p:val>
                                            <p:strVal val="#ppt_h"/>
                                          </p:val>
                                        </p:tav>
                                        <p:tav tm="100000">
                                          <p:val>
                                            <p:strVal val="#ppt_h"/>
                                          </p:val>
                                        </p:tav>
                                      </p:tavLst>
                                    </p:anim>
                                    <p:animEffect transition="in" filter="fade">
                                      <p:cBhvr>
                                        <p:cTn id="40" dur="1000"/>
                                        <p:tgtEl>
                                          <p:spTgt spid="46083">
                                            <p:txEl>
                                              <p:charRg st="139" end="16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grpId="0" nodeType="clickEffect">
                                  <p:stCondLst>
                                    <p:cond delay="0"/>
                                  </p:stCondLst>
                                  <p:childTnLst>
                                    <p:set>
                                      <p:cBhvr>
                                        <p:cTn id="44" dur="1" fill="hold">
                                          <p:stCondLst>
                                            <p:cond delay="0"/>
                                          </p:stCondLst>
                                        </p:cTn>
                                        <p:tgtEl>
                                          <p:spTgt spid="46083">
                                            <p:txEl>
                                              <p:charRg st="168" end="204"/>
                                            </p:txEl>
                                          </p:spTgt>
                                        </p:tgtEl>
                                        <p:attrNameLst>
                                          <p:attrName>style.visibility</p:attrName>
                                        </p:attrNameLst>
                                      </p:cBhvr>
                                      <p:to>
                                        <p:strVal val="visible"/>
                                      </p:to>
                                    </p:set>
                                    <p:anim calcmode="lin" valueType="num">
                                      <p:cBhvr>
                                        <p:cTn id="45" dur="1000" fill="hold"/>
                                        <p:tgtEl>
                                          <p:spTgt spid="46083">
                                            <p:txEl>
                                              <p:charRg st="168" end="204"/>
                                            </p:txEl>
                                          </p:spTgt>
                                        </p:tgtEl>
                                        <p:attrNameLst>
                                          <p:attrName>ppt_w</p:attrName>
                                        </p:attrNameLst>
                                      </p:cBhvr>
                                      <p:tavLst>
                                        <p:tav tm="0">
                                          <p:val>
                                            <p:strVal val="#ppt_w*0.70"/>
                                          </p:val>
                                        </p:tav>
                                        <p:tav tm="100000">
                                          <p:val>
                                            <p:strVal val="#ppt_w"/>
                                          </p:val>
                                        </p:tav>
                                      </p:tavLst>
                                    </p:anim>
                                    <p:anim calcmode="lin" valueType="num">
                                      <p:cBhvr>
                                        <p:cTn id="46" dur="1000" fill="hold"/>
                                        <p:tgtEl>
                                          <p:spTgt spid="46083">
                                            <p:txEl>
                                              <p:charRg st="168" end="204"/>
                                            </p:txEl>
                                          </p:spTgt>
                                        </p:tgtEl>
                                        <p:attrNameLst>
                                          <p:attrName>ppt_h</p:attrName>
                                        </p:attrNameLst>
                                      </p:cBhvr>
                                      <p:tavLst>
                                        <p:tav tm="0">
                                          <p:val>
                                            <p:strVal val="#ppt_h"/>
                                          </p:val>
                                        </p:tav>
                                        <p:tav tm="100000">
                                          <p:val>
                                            <p:strVal val="#ppt_h"/>
                                          </p:val>
                                        </p:tav>
                                      </p:tavLst>
                                    </p:anim>
                                    <p:animEffect transition="in" filter="fade">
                                      <p:cBhvr>
                                        <p:cTn id="47" dur="1000"/>
                                        <p:tgtEl>
                                          <p:spTgt spid="46083">
                                            <p:txEl>
                                              <p:charRg st="168" end="20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grpId="0" nodeType="clickEffect">
                                  <p:stCondLst>
                                    <p:cond delay="0"/>
                                  </p:stCondLst>
                                  <p:childTnLst>
                                    <p:set>
                                      <p:cBhvr>
                                        <p:cTn id="51" dur="1" fill="hold">
                                          <p:stCondLst>
                                            <p:cond delay="0"/>
                                          </p:stCondLst>
                                        </p:cTn>
                                        <p:tgtEl>
                                          <p:spTgt spid="46083">
                                            <p:txEl>
                                              <p:charRg st="204" end="235"/>
                                            </p:txEl>
                                          </p:spTgt>
                                        </p:tgtEl>
                                        <p:attrNameLst>
                                          <p:attrName>style.visibility</p:attrName>
                                        </p:attrNameLst>
                                      </p:cBhvr>
                                      <p:to>
                                        <p:strVal val="visible"/>
                                      </p:to>
                                    </p:set>
                                    <p:anim calcmode="lin" valueType="num">
                                      <p:cBhvr>
                                        <p:cTn id="52" dur="1000" fill="hold"/>
                                        <p:tgtEl>
                                          <p:spTgt spid="46083">
                                            <p:txEl>
                                              <p:charRg st="204" end="235"/>
                                            </p:txEl>
                                          </p:spTgt>
                                        </p:tgtEl>
                                        <p:attrNameLst>
                                          <p:attrName>ppt_w</p:attrName>
                                        </p:attrNameLst>
                                      </p:cBhvr>
                                      <p:tavLst>
                                        <p:tav tm="0">
                                          <p:val>
                                            <p:strVal val="#ppt_w*0.70"/>
                                          </p:val>
                                        </p:tav>
                                        <p:tav tm="100000">
                                          <p:val>
                                            <p:strVal val="#ppt_w"/>
                                          </p:val>
                                        </p:tav>
                                      </p:tavLst>
                                    </p:anim>
                                    <p:anim calcmode="lin" valueType="num">
                                      <p:cBhvr>
                                        <p:cTn id="53" dur="1000" fill="hold"/>
                                        <p:tgtEl>
                                          <p:spTgt spid="46083">
                                            <p:txEl>
                                              <p:charRg st="204" end="235"/>
                                            </p:txEl>
                                          </p:spTgt>
                                        </p:tgtEl>
                                        <p:attrNameLst>
                                          <p:attrName>ppt_h</p:attrName>
                                        </p:attrNameLst>
                                      </p:cBhvr>
                                      <p:tavLst>
                                        <p:tav tm="0">
                                          <p:val>
                                            <p:strVal val="#ppt_h"/>
                                          </p:val>
                                        </p:tav>
                                        <p:tav tm="100000">
                                          <p:val>
                                            <p:strVal val="#ppt_h"/>
                                          </p:val>
                                        </p:tav>
                                      </p:tavLst>
                                    </p:anim>
                                    <p:animEffect transition="in" filter="fade">
                                      <p:cBhvr>
                                        <p:cTn id="54" dur="1000"/>
                                        <p:tgtEl>
                                          <p:spTgt spid="46083">
                                            <p:txEl>
                                              <p:charRg st="204" end="235"/>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grpId="0" nodeType="clickEffect">
                                  <p:stCondLst>
                                    <p:cond delay="0"/>
                                  </p:stCondLst>
                                  <p:childTnLst>
                                    <p:set>
                                      <p:cBhvr>
                                        <p:cTn id="58" dur="1" fill="hold">
                                          <p:stCondLst>
                                            <p:cond delay="0"/>
                                          </p:stCondLst>
                                        </p:cTn>
                                        <p:tgtEl>
                                          <p:spTgt spid="46083">
                                            <p:txEl>
                                              <p:charRg st="235" end="262"/>
                                            </p:txEl>
                                          </p:spTgt>
                                        </p:tgtEl>
                                        <p:attrNameLst>
                                          <p:attrName>style.visibility</p:attrName>
                                        </p:attrNameLst>
                                      </p:cBhvr>
                                      <p:to>
                                        <p:strVal val="visible"/>
                                      </p:to>
                                    </p:set>
                                    <p:anim calcmode="lin" valueType="num">
                                      <p:cBhvr>
                                        <p:cTn id="59" dur="1000" fill="hold"/>
                                        <p:tgtEl>
                                          <p:spTgt spid="46083">
                                            <p:txEl>
                                              <p:charRg st="235" end="262"/>
                                            </p:txEl>
                                          </p:spTgt>
                                        </p:tgtEl>
                                        <p:attrNameLst>
                                          <p:attrName>ppt_w</p:attrName>
                                        </p:attrNameLst>
                                      </p:cBhvr>
                                      <p:tavLst>
                                        <p:tav tm="0">
                                          <p:val>
                                            <p:strVal val="#ppt_w*0.70"/>
                                          </p:val>
                                        </p:tav>
                                        <p:tav tm="100000">
                                          <p:val>
                                            <p:strVal val="#ppt_w"/>
                                          </p:val>
                                        </p:tav>
                                      </p:tavLst>
                                    </p:anim>
                                    <p:anim calcmode="lin" valueType="num">
                                      <p:cBhvr>
                                        <p:cTn id="60" dur="1000" fill="hold"/>
                                        <p:tgtEl>
                                          <p:spTgt spid="46083">
                                            <p:txEl>
                                              <p:charRg st="235" end="262"/>
                                            </p:txEl>
                                          </p:spTgt>
                                        </p:tgtEl>
                                        <p:attrNameLst>
                                          <p:attrName>ppt_h</p:attrName>
                                        </p:attrNameLst>
                                      </p:cBhvr>
                                      <p:tavLst>
                                        <p:tav tm="0">
                                          <p:val>
                                            <p:strVal val="#ppt_h"/>
                                          </p:val>
                                        </p:tav>
                                        <p:tav tm="100000">
                                          <p:val>
                                            <p:strVal val="#ppt_h"/>
                                          </p:val>
                                        </p:tav>
                                      </p:tavLst>
                                    </p:anim>
                                    <p:animEffect transition="in" filter="fade">
                                      <p:cBhvr>
                                        <p:cTn id="61" dur="1000"/>
                                        <p:tgtEl>
                                          <p:spTgt spid="46083">
                                            <p:txEl>
                                              <p:charRg st="235" end="26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grpId="0" nodeType="clickEffect">
                                  <p:stCondLst>
                                    <p:cond delay="0"/>
                                  </p:stCondLst>
                                  <p:childTnLst>
                                    <p:set>
                                      <p:cBhvr>
                                        <p:cTn id="65" dur="1" fill="hold">
                                          <p:stCondLst>
                                            <p:cond delay="0"/>
                                          </p:stCondLst>
                                        </p:cTn>
                                        <p:tgtEl>
                                          <p:spTgt spid="46083">
                                            <p:txEl>
                                              <p:charRg st="262" end="313"/>
                                            </p:txEl>
                                          </p:spTgt>
                                        </p:tgtEl>
                                        <p:attrNameLst>
                                          <p:attrName>style.visibility</p:attrName>
                                        </p:attrNameLst>
                                      </p:cBhvr>
                                      <p:to>
                                        <p:strVal val="visible"/>
                                      </p:to>
                                    </p:set>
                                    <p:anim calcmode="lin" valueType="num">
                                      <p:cBhvr>
                                        <p:cTn id="66" dur="1000" fill="hold"/>
                                        <p:tgtEl>
                                          <p:spTgt spid="46083">
                                            <p:txEl>
                                              <p:charRg st="262" end="313"/>
                                            </p:txEl>
                                          </p:spTgt>
                                        </p:tgtEl>
                                        <p:attrNameLst>
                                          <p:attrName>ppt_w</p:attrName>
                                        </p:attrNameLst>
                                      </p:cBhvr>
                                      <p:tavLst>
                                        <p:tav tm="0">
                                          <p:val>
                                            <p:strVal val="#ppt_w*0.70"/>
                                          </p:val>
                                        </p:tav>
                                        <p:tav tm="100000">
                                          <p:val>
                                            <p:strVal val="#ppt_w"/>
                                          </p:val>
                                        </p:tav>
                                      </p:tavLst>
                                    </p:anim>
                                    <p:anim calcmode="lin" valueType="num">
                                      <p:cBhvr>
                                        <p:cTn id="67" dur="1000" fill="hold"/>
                                        <p:tgtEl>
                                          <p:spTgt spid="46083">
                                            <p:txEl>
                                              <p:charRg st="262" end="313"/>
                                            </p:txEl>
                                          </p:spTgt>
                                        </p:tgtEl>
                                        <p:attrNameLst>
                                          <p:attrName>ppt_h</p:attrName>
                                        </p:attrNameLst>
                                      </p:cBhvr>
                                      <p:tavLst>
                                        <p:tav tm="0">
                                          <p:val>
                                            <p:strVal val="#ppt_h"/>
                                          </p:val>
                                        </p:tav>
                                        <p:tav tm="100000">
                                          <p:val>
                                            <p:strVal val="#ppt_h"/>
                                          </p:val>
                                        </p:tav>
                                      </p:tavLst>
                                    </p:anim>
                                    <p:animEffect transition="in" filter="fade">
                                      <p:cBhvr>
                                        <p:cTn id="68" dur="1000"/>
                                        <p:tgtEl>
                                          <p:spTgt spid="46083">
                                            <p:txEl>
                                              <p:charRg st="262" end="3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Rectangle 4"/>
          <p:cNvSpPr txBox="1"/>
          <p:nvPr/>
        </p:nvSpPr>
        <p:spPr>
          <a:xfrm>
            <a:off x="711200" y="3705225"/>
            <a:ext cx="8186738" cy="2401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spcBef>
                <a:spcPts val="25"/>
              </a:spcBef>
              <a:buClr>
                <a:srgbClr val="0000CC"/>
              </a:buClr>
              <a:buFont typeface="Arial" panose="020B0604020202020204" pitchFamily="34" charset="0"/>
              <a:buNone/>
            </a:pPr>
            <a:r>
              <a:rPr lang="zh-CN" altLang="en-US" sz="2400" u="sng" dirty="0">
                <a:solidFill>
                  <a:srgbClr val="FF0000"/>
                </a:solidFill>
                <a:latin typeface="华文楷体" panose="02010600040101010101" pitchFamily="2" charset="-122"/>
              </a:rPr>
              <a:t>例如：</a:t>
            </a:r>
            <a:r>
              <a:rPr lang="zh-CN" altLang="en-US" sz="2400" i="1" dirty="0">
                <a:latin typeface="Times New Roman" panose="02020603050405020304" pitchFamily="18" charset="0"/>
              </a:rPr>
              <a:t>CREATE TABLE publishers</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   pub_id	 char(4)  NOT NULL</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CONSTRAINT       pub_id_constraint</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CHECK (pub_id IN('234','3344','564')</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OR  pub_id LIKE '43[0-9][0-9]' ),</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city  varchar(20)	  NULL,</a:t>
            </a:r>
            <a:endParaRPr lang="zh-CN" altLang="en-US" sz="2400" i="1" dirty="0">
              <a:latin typeface="Times New Roman" panose="02020603050405020304" pitchFamily="18" charset="0"/>
            </a:endParaRPr>
          </a:p>
          <a:p>
            <a:pPr marL="533400" lvl="0" indent="-533400" eaLnBrk="1" hangingPunct="1">
              <a:lnSpc>
                <a:spcPct val="90000"/>
              </a:lnSpc>
              <a:spcBef>
                <a:spcPts val="25"/>
              </a:spcBef>
              <a:buClr>
                <a:srgbClr val="0000CC"/>
              </a:buClr>
              <a:buFont typeface="Arial" panose="020B0604020202020204" pitchFamily="34" charset="0"/>
              <a:buNone/>
            </a:pPr>
            <a:r>
              <a:rPr lang="zh-CN" altLang="en-US" sz="2400" i="1" dirty="0">
                <a:latin typeface="Times New Roman" panose="02020603050405020304" pitchFamily="18" charset="0"/>
              </a:rPr>
              <a:t>                  state  char(2)   NULL   )</a:t>
            </a:r>
            <a:endParaRPr lang="zh-CN" altLang="en-US" sz="2400" i="1" dirty="0">
              <a:latin typeface="Times New Roman" panose="02020603050405020304" pitchFamily="18" charset="0"/>
            </a:endParaRPr>
          </a:p>
        </p:txBody>
      </p:sp>
      <p:sp>
        <p:nvSpPr>
          <p:cNvPr id="71683" name="矩形 4"/>
          <p:cNvSpPr/>
          <p:nvPr/>
        </p:nvSpPr>
        <p:spPr>
          <a:xfrm>
            <a:off x="703263" y="1427163"/>
            <a:ext cx="7874000" cy="2274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pPr>
            <a:r>
              <a:rPr lang="zh-CN" altLang="en-US" sz="2400" u="sng" dirty="0">
                <a:solidFill>
                  <a:srgbClr val="FF0000"/>
                </a:solidFill>
                <a:latin typeface="华文楷体" panose="02010600040101010101" pitchFamily="2" charset="-122"/>
              </a:rPr>
              <a:t>概念：</a:t>
            </a:r>
            <a:r>
              <a:rPr lang="zh-CN" altLang="en-US" sz="2400" dirty="0">
                <a:latin typeface="华文楷体" panose="02010600040101010101" pitchFamily="2" charset="-122"/>
              </a:rPr>
              <a:t>类似于规则，要求用户插入到列或表中的数据满足限制条件。</a:t>
            </a:r>
            <a:endParaRPr lang="en-US" altLang="zh-CN" sz="2400" dirty="0">
              <a:latin typeface="华文楷体" panose="02010600040101010101" pitchFamily="2" charset="-122"/>
            </a:endParaRPr>
          </a:p>
          <a:p>
            <a:pPr marL="0" lvl="0" indent="0" eaLnBrk="1" hangingPunct="1">
              <a:lnSpc>
                <a:spcPct val="110000"/>
              </a:lnSpc>
              <a:spcBef>
                <a:spcPts val="600"/>
              </a:spcBef>
              <a:buClrTx/>
              <a:buSzTx/>
            </a:pPr>
            <a:r>
              <a:rPr lang="zh-CN" altLang="en-US" sz="2400" dirty="0">
                <a:latin typeface="华文楷体" panose="02010600040101010101" pitchFamily="2" charset="-122"/>
              </a:rPr>
              <a:t>分为列级检查(针对表中一列）和表级检查（针对同一表中多列）。</a:t>
            </a:r>
            <a:r>
              <a:rPr lang="zh-CN" altLang="en-US" sz="2400" u="sng" dirty="0">
                <a:solidFill>
                  <a:srgbClr val="FF0000"/>
                </a:solidFill>
                <a:latin typeface="华文楷体" panose="02010600040101010101" pitchFamily="2" charset="-122"/>
              </a:rPr>
              <a:t>列级检查限制</a:t>
            </a:r>
            <a:r>
              <a:rPr lang="zh-CN" altLang="en-US" sz="2400" dirty="0">
                <a:latin typeface="华文楷体" panose="02010600040101010101" pitchFamily="2" charset="-122"/>
              </a:rPr>
              <a:t>用IN、BETWEEN、AND或LIKE表达。</a:t>
            </a:r>
            <a:endParaRPr lang="zh-CN" altLang="en-US" sz="2400" dirty="0">
              <a:latin typeface="华文楷体" panose="02010600040101010101" pitchFamily="2" charset="-122"/>
            </a:endParaRPr>
          </a:p>
        </p:txBody>
      </p:sp>
      <p:grpSp>
        <p:nvGrpSpPr>
          <p:cNvPr id="47109" name="Group 8"/>
          <p:cNvGrpSpPr/>
          <p:nvPr/>
        </p:nvGrpSpPr>
        <p:grpSpPr>
          <a:xfrm>
            <a:off x="2373313" y="3240088"/>
            <a:ext cx="4248150" cy="1655762"/>
            <a:chOff x="0" y="0"/>
            <a:chExt cx="2676" cy="1043"/>
          </a:xfrm>
        </p:grpSpPr>
        <p:sp>
          <p:nvSpPr>
            <p:cNvPr id="71690" name="Oval 9"/>
            <p:cNvSpPr/>
            <p:nvPr/>
          </p:nvSpPr>
          <p:spPr>
            <a:xfrm>
              <a:off x="1497" y="0"/>
              <a:ext cx="1179" cy="453"/>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检查约束</a:t>
              </a:r>
              <a:endParaRPr lang="zh-CN" altLang="en-US" dirty="0">
                <a:solidFill>
                  <a:srgbClr val="04040A"/>
                </a:solidFill>
                <a:latin typeface="宋体" panose="02010600030101010101" pitchFamily="2" charset="-122"/>
              </a:endParaRPr>
            </a:p>
            <a:p>
              <a:pPr marL="0" lvl="0" indent="0" algn="ctr" eaLnBrk="1" hangingPunct="1">
                <a:lnSpc>
                  <a:spcPct val="110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命令关键字</a:t>
              </a:r>
              <a:endParaRPr lang="zh-CN" altLang="en-US" dirty="0">
                <a:solidFill>
                  <a:srgbClr val="04040A"/>
                </a:solidFill>
                <a:latin typeface="宋体" panose="02010600030101010101" pitchFamily="2" charset="-122"/>
              </a:endParaRPr>
            </a:p>
          </p:txBody>
        </p:sp>
        <p:sp>
          <p:nvSpPr>
            <p:cNvPr id="71691" name="Line 10"/>
            <p:cNvSpPr/>
            <p:nvPr/>
          </p:nvSpPr>
          <p:spPr>
            <a:xfrm flipH="1">
              <a:off x="363" y="272"/>
              <a:ext cx="1134" cy="499"/>
            </a:xfrm>
            <a:prstGeom prst="line">
              <a:avLst/>
            </a:prstGeom>
            <a:ln w="38100" cap="flat" cmpd="sng">
              <a:solidFill>
                <a:srgbClr val="CC3300"/>
              </a:solidFill>
              <a:prstDash val="solid"/>
              <a:headEnd type="none" w="med" len="med"/>
              <a:tailEnd type="triangle" w="med" len="med"/>
            </a:ln>
          </p:spPr>
        </p:sp>
        <p:sp>
          <p:nvSpPr>
            <p:cNvPr id="71692" name="Line 11"/>
            <p:cNvSpPr/>
            <p:nvPr/>
          </p:nvSpPr>
          <p:spPr>
            <a:xfrm flipH="1">
              <a:off x="0" y="453"/>
              <a:ext cx="1950" cy="590"/>
            </a:xfrm>
            <a:prstGeom prst="line">
              <a:avLst/>
            </a:prstGeom>
            <a:ln w="38100" cap="flat" cmpd="sng">
              <a:solidFill>
                <a:srgbClr val="CC3300"/>
              </a:solidFill>
              <a:prstDash val="solid"/>
              <a:headEnd type="none" w="med" len="med"/>
              <a:tailEnd type="triangle" w="med" len="med"/>
            </a:ln>
          </p:spPr>
        </p:sp>
      </p:grpSp>
      <p:grpSp>
        <p:nvGrpSpPr>
          <p:cNvPr id="47113" name="Group 5"/>
          <p:cNvGrpSpPr/>
          <p:nvPr/>
        </p:nvGrpSpPr>
        <p:grpSpPr>
          <a:xfrm>
            <a:off x="5816600" y="3525838"/>
            <a:ext cx="2643188" cy="1046162"/>
            <a:chOff x="0" y="0"/>
            <a:chExt cx="1815" cy="771"/>
          </a:xfrm>
        </p:grpSpPr>
        <p:sp>
          <p:nvSpPr>
            <p:cNvPr id="71688" name="Oval 6"/>
            <p:cNvSpPr/>
            <p:nvPr/>
          </p:nvSpPr>
          <p:spPr>
            <a:xfrm>
              <a:off x="862" y="0"/>
              <a:ext cx="953" cy="453"/>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检查约束名</a:t>
              </a:r>
              <a:endParaRPr lang="zh-CN" altLang="en-US" dirty="0">
                <a:solidFill>
                  <a:srgbClr val="04040A"/>
                </a:solidFill>
                <a:latin typeface="宋体" panose="02010600030101010101" pitchFamily="2" charset="-122"/>
              </a:endParaRPr>
            </a:p>
          </p:txBody>
        </p:sp>
        <p:sp>
          <p:nvSpPr>
            <p:cNvPr id="71689" name="Line 7"/>
            <p:cNvSpPr/>
            <p:nvPr/>
          </p:nvSpPr>
          <p:spPr>
            <a:xfrm flipH="1">
              <a:off x="0" y="272"/>
              <a:ext cx="862" cy="499"/>
            </a:xfrm>
            <a:prstGeom prst="line">
              <a:avLst/>
            </a:prstGeom>
            <a:ln w="38100" cap="flat" cmpd="sng">
              <a:solidFill>
                <a:srgbClr val="CC3300"/>
              </a:solidFill>
              <a:prstDash val="solid"/>
              <a:headEnd type="none" w="med" len="med"/>
              <a:tailEnd type="triangle" w="med" len="med"/>
            </a:ln>
          </p:spPr>
        </p:sp>
      </p:grpSp>
      <p:sp>
        <p:nvSpPr>
          <p:cNvPr id="7168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71687" name="矩形 1"/>
          <p:cNvSpPr/>
          <p:nvPr/>
        </p:nvSpPr>
        <p:spPr>
          <a:xfrm>
            <a:off x="538163" y="790575"/>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3.检查约束(Check Constraint)</a:t>
            </a:r>
            <a:endParaRPr lang="en-US" altLang="zh-CN"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en-US" altLang="zh-CN" sz="2600" dirty="0">
              <a:solidFill>
                <a:srgbClr val="FF0000"/>
              </a:solidFill>
              <a:latin typeface="宋体" panose="02010600030101010101" pitchFamily="2" charset="-122"/>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7109"/>
                                        </p:tgtEl>
                                        <p:attrNameLst>
                                          <p:attrName>style.visibility</p:attrName>
                                        </p:attrNameLst>
                                      </p:cBhvr>
                                      <p:to>
                                        <p:strVal val="visible"/>
                                      </p:to>
                                    </p:set>
                                    <p:animEffect transition="in" filter="wedge">
                                      <p:cBhvr>
                                        <p:cTn id="7" dur="2000"/>
                                        <p:tgtEl>
                                          <p:spTgt spid="47109"/>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47113"/>
                                        </p:tgtEl>
                                        <p:attrNameLst>
                                          <p:attrName>style.visibility</p:attrName>
                                        </p:attrNameLst>
                                      </p:cBhvr>
                                      <p:to>
                                        <p:strVal val="visible"/>
                                      </p:to>
                                    </p:set>
                                    <p:animEffect transition="in" filter="wedge">
                                      <p:cBhvr>
                                        <p:cTn id="12"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Text Box 2"/>
          <p:cNvSpPr txBox="1"/>
          <p:nvPr/>
        </p:nvSpPr>
        <p:spPr>
          <a:xfrm>
            <a:off x="407988" y="1346200"/>
            <a:ext cx="8491537" cy="50196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250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例</a:t>
            </a:r>
            <a:r>
              <a:rPr lang="en-US" altLang="zh-CN" dirty="0">
                <a:solidFill>
                  <a:srgbClr val="FF3300"/>
                </a:solidFill>
                <a:latin typeface="黑体" panose="02010609060101010101" pitchFamily="49" charset="-122"/>
                <a:ea typeface="黑体" panose="02010609060101010101" pitchFamily="49" charset="-122"/>
              </a:rPr>
              <a:t>1</a:t>
            </a:r>
            <a:r>
              <a:rPr lang="zh-CN" altLang="en-US" dirty="0">
                <a:solidFill>
                  <a:srgbClr val="FF33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为职工表定义限制职工工资必须大于</a:t>
            </a:r>
            <a:r>
              <a:rPr lang="en-US" altLang="zh-CN" dirty="0">
                <a:latin typeface="黑体" panose="02010609060101010101" pitchFamily="49" charset="-122"/>
                <a:ea typeface="黑体" panose="02010609060101010101" pitchFamily="49" charset="-122"/>
              </a:rPr>
              <a:t>800</a:t>
            </a:r>
            <a:r>
              <a:rPr lang="zh-CN" altLang="en-US" dirty="0">
                <a:latin typeface="黑体" panose="02010609060101010101" pitchFamily="49" charset="-122"/>
                <a:ea typeface="黑体" panose="02010609060101010101" pitchFamily="49" charset="-122"/>
              </a:rPr>
              <a:t>的约束</a:t>
            </a:r>
            <a:endParaRPr lang="zh-CN" altLang="en-US" dirty="0">
              <a:latin typeface="黑体" panose="02010609060101010101" pitchFamily="49" charset="-122"/>
              <a:ea typeface="黑体" panose="02010609060101010101" pitchFamily="49" charset="-122"/>
            </a:endParaRPr>
          </a:p>
          <a:p>
            <a:pPr marL="0" lvl="0" indent="0" eaLnBrk="1" hangingPunct="1">
              <a:lnSpc>
                <a:spcPct val="120000"/>
              </a:lnSpc>
              <a:spcBef>
                <a:spcPct val="50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    </a:t>
            </a:r>
            <a:r>
              <a:rPr lang="en-US" altLang="zh-CN" dirty="0">
                <a:ea typeface="黑体" panose="02010609060101010101" pitchFamily="49" charset="-122"/>
              </a:rPr>
              <a:t>CREATE TABLE</a:t>
            </a: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职工表（</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lvl="0" indent="0" eaLnBrk="1" hangingPunct="1">
              <a:lnSpc>
                <a:spcPct val="120000"/>
              </a:lnSpc>
              <a:spcBef>
                <a:spcPct val="500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工资 </a:t>
            </a:r>
            <a:r>
              <a:rPr lang="en-US" altLang="zh-CN" dirty="0">
                <a:latin typeface="黑体" panose="02010609060101010101" pitchFamily="49" charset="-122"/>
                <a:ea typeface="黑体" panose="02010609060101010101" pitchFamily="49" charset="-122"/>
              </a:rPr>
              <a:t>SMALLINT CHECK(</a:t>
            </a:r>
            <a:r>
              <a:rPr lang="zh-CN" altLang="en-US" dirty="0">
                <a:latin typeface="黑体" panose="02010609060101010101" pitchFamily="49" charset="-122"/>
                <a:ea typeface="黑体" panose="02010609060101010101" pitchFamily="49" charset="-122"/>
              </a:rPr>
              <a:t>工资</a:t>
            </a:r>
            <a:r>
              <a:rPr lang="en-US" altLang="zh-CN" dirty="0">
                <a:latin typeface="黑体" panose="02010609060101010101" pitchFamily="49" charset="-122"/>
                <a:ea typeface="黑体" panose="02010609060101010101" pitchFamily="49" charset="-122"/>
              </a:rPr>
              <a:t>&gt;=800), </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0" lvl="0" indent="0" eaLnBrk="1" hangingPunct="1">
              <a:lnSpc>
                <a:spcPct val="125000"/>
              </a:lnSpc>
              <a:spcBef>
                <a:spcPts val="3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例</a:t>
            </a:r>
            <a:r>
              <a:rPr lang="en-US" altLang="zh-CN" dirty="0">
                <a:solidFill>
                  <a:srgbClr val="FF3300"/>
                </a:solidFill>
                <a:latin typeface="黑体" panose="02010609060101010101" pitchFamily="49" charset="-122"/>
                <a:ea typeface="黑体" panose="02010609060101010101" pitchFamily="49" charset="-122"/>
              </a:rPr>
              <a:t>2</a:t>
            </a:r>
            <a:r>
              <a:rPr lang="zh-CN" altLang="en-US" dirty="0">
                <a:solidFill>
                  <a:srgbClr val="FF3300"/>
                </a:solidFill>
                <a:latin typeface="黑体" panose="02010609060101010101" pitchFamily="49" charset="-122"/>
                <a:ea typeface="黑体" panose="02010609060101010101" pitchFamily="49" charset="-122"/>
              </a:rPr>
              <a:t>：</a:t>
            </a:r>
            <a:r>
              <a:rPr lang="zh-CN" altLang="en-US" dirty="0">
                <a:latin typeface="黑体" panose="02010609060101010101" pitchFamily="49" charset="-122"/>
                <a:ea typeface="黑体" panose="02010609060101010101" pitchFamily="49" charset="-122"/>
              </a:rPr>
              <a:t>限制工作表的</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最低工资</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小于等于</a:t>
            </a:r>
            <a:r>
              <a:rPr lang="zh-CN" altLang="en-US"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最高工资</a:t>
            </a:r>
            <a:r>
              <a:rPr lang="zh-CN" altLang="en-US" dirty="0">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CREATE TABLE </a:t>
            </a:r>
            <a:r>
              <a:rPr lang="zh-CN" altLang="en-US" dirty="0">
                <a:latin typeface="黑体" panose="02010609060101010101" pitchFamily="49" charset="-122"/>
                <a:ea typeface="黑体" panose="02010609060101010101" pitchFamily="49" charset="-122"/>
              </a:rPr>
              <a:t>工作表</a:t>
            </a:r>
            <a:r>
              <a:rPr lang="en-US" altLang="zh-CN" dirty="0">
                <a:latin typeface="黑体" panose="02010609060101010101" pitchFamily="49" charset="-122"/>
                <a:ea typeface="黑体" panose="02010609060101010101" pitchFamily="49" charset="-122"/>
              </a:rPr>
              <a:t>(</a:t>
            </a:r>
            <a:r>
              <a:rPr lang="en-US" altLang="zh-CN" sz="1800" dirty="0"/>
              <a:t>…</a:t>
            </a:r>
            <a:endParaRPr lang="en-US" altLang="zh-CN" sz="1800" dirty="0"/>
          </a:p>
          <a:p>
            <a:pPr marL="0" lvl="0" indent="0" eaLnBrk="1" hangingPunct="1">
              <a:lnSpc>
                <a:spcPct val="105000"/>
              </a:lnSpc>
              <a:spcBef>
                <a:spcPct val="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最低工资 </a:t>
            </a:r>
            <a:r>
              <a:rPr lang="en-US" altLang="zh-CN" dirty="0">
                <a:latin typeface="黑体" panose="02010609060101010101" pitchFamily="49" charset="-122"/>
                <a:ea typeface="黑体" panose="02010609060101010101" pitchFamily="49" charset="-122"/>
              </a:rPr>
              <a:t>int,</a:t>
            </a:r>
            <a:endParaRPr lang="en-US" altLang="zh-CN"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最高工资 </a:t>
            </a:r>
            <a:r>
              <a:rPr lang="en-US" altLang="zh-CN" dirty="0">
                <a:latin typeface="黑体" panose="02010609060101010101" pitchFamily="49" charset="-122"/>
                <a:ea typeface="黑体" panose="02010609060101010101" pitchFamily="49" charset="-122"/>
              </a:rPr>
              <a:t>int,</a:t>
            </a:r>
            <a:endParaRPr lang="en-US" altLang="zh-CN" dirty="0">
              <a:latin typeface="黑体" panose="02010609060101010101" pitchFamily="49" charset="-122"/>
              <a:ea typeface="黑体" panose="02010609060101010101" pitchFamily="49" charset="-122"/>
            </a:endParaRPr>
          </a:p>
          <a:p>
            <a:pPr marL="0" lvl="0" indent="0" eaLnBrk="1" hangingPunct="1">
              <a:spcBef>
                <a:spcPct val="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CHECK(</a:t>
            </a:r>
            <a:r>
              <a:rPr lang="zh-CN" altLang="en-US" dirty="0">
                <a:latin typeface="黑体" panose="02010609060101010101" pitchFamily="49" charset="-122"/>
                <a:ea typeface="黑体" panose="02010609060101010101" pitchFamily="49" charset="-122"/>
              </a:rPr>
              <a:t>最低工资</a:t>
            </a:r>
            <a:r>
              <a:rPr lang="en-US" altLang="zh-CN" dirty="0">
                <a:latin typeface="黑体" panose="02010609060101010101" pitchFamily="49" charset="-122"/>
                <a:ea typeface="黑体" panose="02010609060101010101" pitchFamily="49" charset="-122"/>
              </a:rPr>
              <a:t>&lt;=</a:t>
            </a:r>
            <a:r>
              <a:rPr lang="zh-CN" altLang="en-US" dirty="0">
                <a:latin typeface="黑体" panose="02010609060101010101" pitchFamily="49" charset="-122"/>
                <a:ea typeface="黑体" panose="02010609060101010101" pitchFamily="49" charset="-122"/>
              </a:rPr>
              <a:t>最高工资），</a:t>
            </a:r>
            <a:endParaRPr lang="zh-CN" altLang="en-US" dirty="0">
              <a:latin typeface="黑体" panose="02010609060101010101" pitchFamily="49" charset="-122"/>
              <a:ea typeface="黑体" panose="02010609060101010101" pitchFamily="49" charset="-122"/>
            </a:endParaRPr>
          </a:p>
          <a:p>
            <a:pPr marL="0" lvl="0" indent="0" eaLnBrk="1" hangingPunct="1">
              <a:lnSpc>
                <a:spcPct val="105000"/>
              </a:lnSpc>
              <a:spcBef>
                <a:spcPct val="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endParaRPr lang="zh-CN" altLang="en-US"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zh-CN" altLang="en-US" dirty="0">
                <a:solidFill>
                  <a:srgbClr val="FF3300"/>
                </a:solidFill>
                <a:latin typeface="黑体" panose="02010609060101010101" pitchFamily="49" charset="-122"/>
                <a:ea typeface="黑体" panose="02010609060101010101" pitchFamily="49" charset="-122"/>
              </a:rPr>
              <a:t>例３：</a:t>
            </a:r>
            <a:r>
              <a:rPr lang="zh-CN" altLang="en-US" dirty="0">
                <a:latin typeface="黑体" panose="02010609060101010101" pitchFamily="49" charset="-122"/>
                <a:ea typeface="黑体" panose="02010609060101010101" pitchFamily="49" charset="-122"/>
              </a:rPr>
              <a:t>限制职工电话号码取值必须是</a:t>
            </a:r>
            <a:r>
              <a:rPr lang="en-US" altLang="zh-CN" dirty="0">
                <a:latin typeface="黑体" panose="02010609060101010101" pitchFamily="49" charset="-122"/>
                <a:ea typeface="黑体" panose="02010609060101010101" pitchFamily="49" charset="-122"/>
              </a:rPr>
              <a:t>0</a:t>
            </a:r>
            <a:r>
              <a:rPr lang="zh-CN" altLang="en-US" dirty="0">
                <a:latin typeface="黑体" panose="02010609060101010101" pitchFamily="49" charset="-122"/>
                <a:ea typeface="黑体" panose="02010609060101010101" pitchFamily="49" charset="-122"/>
              </a:rPr>
              <a:t>～９之间的数字      </a:t>
            </a:r>
            <a:endParaRPr lang="zh-CN" altLang="en-US"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zh-CN" altLang="en-US" dirty="0">
                <a:latin typeface="黑体" panose="02010609060101010101" pitchFamily="49" charset="-122"/>
                <a:ea typeface="黑体" panose="02010609060101010101" pitchFamily="49" charset="-122"/>
              </a:rPr>
              <a:t>　   </a:t>
            </a:r>
            <a:r>
              <a:rPr lang="en-US" altLang="zh-CN" dirty="0">
                <a:latin typeface="黑体" panose="02010609060101010101" pitchFamily="49" charset="-122"/>
                <a:ea typeface="黑体" panose="02010609060101010101" pitchFamily="49" charset="-122"/>
              </a:rPr>
              <a:t>CREATE TABLE </a:t>
            </a:r>
            <a:r>
              <a:rPr lang="zh-CN" altLang="en-US" dirty="0">
                <a:latin typeface="黑体" panose="02010609060101010101" pitchFamily="49" charset="-122"/>
                <a:ea typeface="黑体" panose="02010609060101010101" pitchFamily="49" charset="-122"/>
              </a:rPr>
              <a:t>职工表</a:t>
            </a:r>
            <a:r>
              <a:rPr lang="en-US" altLang="zh-CN" dirty="0">
                <a:latin typeface="黑体" panose="02010609060101010101" pitchFamily="49" charset="-122"/>
                <a:ea typeface="黑体" panose="02010609060101010101" pitchFamily="49" charset="-122"/>
              </a:rPr>
              <a:t>(</a:t>
            </a:r>
            <a:r>
              <a:rPr lang="en-US" altLang="zh-CN" dirty="0">
                <a:ea typeface="黑体" panose="02010609060101010101" pitchFamily="49" charset="-122"/>
              </a:rPr>
              <a:t>…</a:t>
            </a:r>
            <a:endParaRPr lang="en-US" altLang="zh-CN"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电话　</a:t>
            </a:r>
            <a:r>
              <a:rPr lang="en-US" altLang="zh-CN" dirty="0">
                <a:latin typeface="黑体" panose="02010609060101010101" pitchFamily="49" charset="-122"/>
                <a:ea typeface="黑体" panose="02010609060101010101" pitchFamily="49" charset="-122"/>
              </a:rPr>
              <a:t>CHAR(8) CHECK(</a:t>
            </a:r>
            <a:r>
              <a:rPr lang="zh-CN" altLang="en-US" dirty="0">
                <a:latin typeface="黑体" panose="02010609060101010101" pitchFamily="49" charset="-122"/>
                <a:ea typeface="黑体" panose="02010609060101010101" pitchFamily="49" charset="-122"/>
              </a:rPr>
              <a:t>电话 </a:t>
            </a:r>
            <a:r>
              <a:rPr lang="en-US" altLang="zh-CN" dirty="0">
                <a:latin typeface="黑体" panose="02010609060101010101" pitchFamily="49" charset="-122"/>
                <a:ea typeface="黑体" panose="02010609060101010101" pitchFamily="49" charset="-122"/>
              </a:rPr>
              <a:t>LIKE </a:t>
            </a:r>
            <a:r>
              <a:rPr lang="en-US" altLang="zh-CN"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[0-9][0-9][0-9] [0-9][0-9]</a:t>
            </a:r>
            <a:endParaRPr lang="en-US" altLang="zh-CN" dirty="0">
              <a:latin typeface="黑体" panose="02010609060101010101" pitchFamily="49" charset="-122"/>
              <a:ea typeface="黑体" panose="02010609060101010101" pitchFamily="49" charset="-122"/>
            </a:endParaRPr>
          </a:p>
          <a:p>
            <a:pPr marL="0" lvl="0" indent="0" eaLnBrk="1" hangingPunct="1">
              <a:lnSpc>
                <a:spcPct val="110000"/>
              </a:lnSpc>
              <a:spcBef>
                <a:spcPct val="5000"/>
              </a:spcBef>
              <a:buClrTx/>
              <a:buSzTx/>
              <a:buFont typeface="Arial" panose="020B0604020202020204" pitchFamily="34" charset="0"/>
              <a:buNone/>
            </a:pPr>
            <a:r>
              <a:rPr lang="en-US" altLang="zh-CN" dirty="0">
                <a:latin typeface="黑体" panose="02010609060101010101" pitchFamily="49" charset="-122"/>
                <a:ea typeface="黑体" panose="02010609060101010101" pitchFamily="49" charset="-122"/>
              </a:rPr>
              <a:t>       [0-9][0-9][0-9]</a:t>
            </a:r>
            <a:r>
              <a:rPr lang="en-US" altLang="zh-CN" dirty="0">
                <a:ea typeface="黑体" panose="02010609060101010101" pitchFamily="49" charset="-122"/>
              </a:rPr>
              <a:t>’</a:t>
            </a:r>
            <a:r>
              <a:rPr lang="en-US" altLang="zh-CN" dirty="0">
                <a:latin typeface="黑体" panose="02010609060101010101" pitchFamily="49" charset="-122"/>
                <a:ea typeface="黑体" panose="02010609060101010101" pitchFamily="49" charset="-122"/>
              </a:rPr>
              <a:t>),</a:t>
            </a:r>
            <a:r>
              <a:rPr lang="en-US" altLang="zh-CN" dirty="0">
                <a:ea typeface="黑体" panose="02010609060101010101" pitchFamily="49" charset="-122"/>
              </a:rPr>
              <a:t>…</a:t>
            </a:r>
            <a:r>
              <a:rPr lang="zh-CN" altLang="en-US" dirty="0">
                <a:latin typeface="黑体" panose="02010609060101010101" pitchFamily="49" charset="-122"/>
                <a:ea typeface="黑体" panose="02010609060101010101" pitchFamily="49" charset="-122"/>
              </a:rPr>
              <a:t>）</a:t>
            </a:r>
            <a:r>
              <a:rPr lang="en-US" altLang="zh-CN" dirty="0">
                <a:latin typeface="黑体" panose="02010609060101010101" pitchFamily="49" charset="-122"/>
                <a:ea typeface="黑体" panose="02010609060101010101" pitchFamily="49" charset="-122"/>
              </a:rPr>
              <a:t>       </a:t>
            </a:r>
            <a:endParaRPr lang="en-US" altLang="zh-CN" dirty="0">
              <a:latin typeface="黑体" panose="02010609060101010101" pitchFamily="49" charset="-122"/>
              <a:ea typeface="黑体" panose="02010609060101010101" pitchFamily="49" charset="-122"/>
            </a:endParaRPr>
          </a:p>
        </p:txBody>
      </p:sp>
      <p:sp>
        <p:nvSpPr>
          <p:cNvPr id="7270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72708" name="矩形 1"/>
          <p:cNvSpPr/>
          <p:nvPr/>
        </p:nvSpPr>
        <p:spPr>
          <a:xfrm>
            <a:off x="538163" y="755650"/>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3.检查约束(Check Constraint)</a:t>
            </a:r>
            <a:endParaRPr lang="en-US" altLang="zh-CN"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en-US" altLang="zh-CN" sz="2600" dirty="0">
              <a:solidFill>
                <a:srgbClr val="FF0000"/>
              </a:solidFill>
              <a:latin typeface="宋体" panose="02010600030101010101" pitchFamily="2" charset="-122"/>
              <a:ea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8130"/>
                                        </p:tgtEl>
                                        <p:attrNameLst>
                                          <p:attrName>style.visibility</p:attrName>
                                        </p:attrNameLst>
                                      </p:cBhvr>
                                      <p:to>
                                        <p:strVal val="visible"/>
                                      </p:to>
                                    </p:set>
                                    <p:animEffect transition="in" filter="box(in)">
                                      <p:cBhvr>
                                        <p:cTn id="7" dur="500"/>
                                        <p:tgtEl>
                                          <p:spTgt spid="48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3"/>
          <p:cNvSpPr txBox="1"/>
          <p:nvPr/>
        </p:nvSpPr>
        <p:spPr>
          <a:xfrm>
            <a:off x="609600" y="1549400"/>
            <a:ext cx="8229600" cy="4305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buClr>
                <a:srgbClr val="0000CC"/>
              </a:buClr>
              <a:buFont typeface="Arial" panose="020B0604020202020204" pitchFamily="34" charset="0"/>
              <a:buNone/>
            </a:pPr>
            <a:r>
              <a:rPr lang="zh-CN" altLang="en-US" sz="2400" u="sng" dirty="0">
                <a:solidFill>
                  <a:srgbClr val="FF0000"/>
                </a:solidFill>
              </a:rPr>
              <a:t>表级检查限制</a:t>
            </a:r>
            <a:r>
              <a:rPr lang="zh-CN" altLang="en-US" dirty="0"/>
              <a:t>，例如：</a:t>
            </a:r>
            <a:endParaRPr lang="zh-CN" altLang="en-US" dirty="0"/>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CREATE TABLE discounts</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(discounttype       varchar(40)	         NOT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store_id	            char(4)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lowqty		smallint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highqty		smallint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discount	            float	                   NOT NULL,</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latin typeface="Times New Roman" panose="02020603050405020304" pitchFamily="18" charset="0"/>
              </a:rPr>
              <a:t>	</a:t>
            </a:r>
            <a:r>
              <a:rPr lang="en-US" altLang="zh-CN" sz="2400" i="1" dirty="0">
                <a:solidFill>
                  <a:srgbClr val="006600"/>
                </a:solidFill>
                <a:latin typeface="Times New Roman" panose="02020603050405020304" pitchFamily="18" charset="0"/>
              </a:rPr>
              <a:t> CONSTRAINT        low_high_check</a:t>
            </a:r>
            <a:endParaRPr lang="en-US" altLang="zh-CN" sz="2400" i="1" dirty="0">
              <a:solidFill>
                <a:srgbClr val="006600"/>
              </a:solidFill>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en-US" altLang="zh-CN" sz="2400" i="1" dirty="0">
                <a:solidFill>
                  <a:srgbClr val="006600"/>
                </a:solidFill>
                <a:latin typeface="Times New Roman" panose="02020603050405020304" pitchFamily="18" charset="0"/>
              </a:rPr>
              <a:t>	 CHECK            (lowqty &lt;= highqty)</a:t>
            </a:r>
            <a:r>
              <a:rPr lang="en-US" altLang="zh-CN" sz="2400" i="1" dirty="0">
                <a:latin typeface="Times New Roman" panose="02020603050405020304" pitchFamily="18" charset="0"/>
              </a:rPr>
              <a:t>)</a:t>
            </a:r>
            <a:endParaRPr lang="en-US" altLang="zh-CN" sz="2400" i="1" dirty="0">
              <a:latin typeface="Times New Roman" panose="02020603050405020304" pitchFamily="18" charset="0"/>
            </a:endParaRPr>
          </a:p>
          <a:p>
            <a:pPr marL="533400" lvl="0" indent="-533400" eaLnBrk="1" hangingPunct="1">
              <a:spcBef>
                <a:spcPct val="0"/>
              </a:spcBef>
              <a:buClr>
                <a:srgbClr val="0000CC"/>
              </a:buClr>
              <a:buFont typeface="Arial" panose="020B0604020202020204" pitchFamily="34" charset="0"/>
              <a:buNone/>
            </a:pPr>
            <a:r>
              <a:rPr lang="zh-CN" altLang="en-US" sz="2200" dirty="0"/>
              <a:t>列级检查限制可用表级方式写</a:t>
            </a:r>
            <a:endParaRPr lang="zh-CN" altLang="en-US" sz="2200" dirty="0"/>
          </a:p>
          <a:p>
            <a:pPr marL="533400" lvl="0" indent="-533400" eaLnBrk="1" hangingPunct="1">
              <a:spcBef>
                <a:spcPts val="300"/>
              </a:spcBef>
              <a:buFont typeface="Wingdings" panose="05000000000000000000" pitchFamily="2" charset="2"/>
              <a:buChar char="u"/>
            </a:pPr>
            <a:r>
              <a:rPr lang="zh-CN" altLang="en-US" sz="2200" dirty="0"/>
              <a:t>表级限制也能用列级方式写，但要求在第一个列定义后。</a:t>
            </a:r>
            <a:endParaRPr lang="zh-CN" altLang="en-US" sz="2200" dirty="0"/>
          </a:p>
          <a:p>
            <a:pPr marL="533400" lvl="0" indent="-533400" eaLnBrk="1" hangingPunct="1">
              <a:spcBef>
                <a:spcPts val="300"/>
              </a:spcBef>
              <a:buFont typeface="Wingdings" panose="05000000000000000000" pitchFamily="2" charset="2"/>
              <a:buChar char="u"/>
            </a:pPr>
            <a:r>
              <a:rPr lang="zh-CN" altLang="en-US" sz="2200" dirty="0"/>
              <a:t>缺省值须满足检查限制要求；</a:t>
            </a:r>
            <a:endParaRPr lang="zh-CN" altLang="en-US" sz="2200" dirty="0"/>
          </a:p>
        </p:txBody>
      </p:sp>
      <p:sp>
        <p:nvSpPr>
          <p:cNvPr id="73731" name="矩形 1"/>
          <p:cNvSpPr/>
          <p:nvPr/>
        </p:nvSpPr>
        <p:spPr>
          <a:xfrm>
            <a:off x="538163" y="790575"/>
            <a:ext cx="8375650" cy="1212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3.检查约束(Check Constraint)</a:t>
            </a:r>
            <a:endParaRPr lang="en-US" altLang="zh-CN" sz="2800" dirty="0">
              <a:solidFill>
                <a:srgbClr val="0033CC"/>
              </a:solidFill>
              <a:latin typeface="黑体" panose="02010609060101010101" pitchFamily="49" charset="-122"/>
              <a:ea typeface="黑体" panose="02010609060101010101" pitchFamily="49" charset="-122"/>
            </a:endParaRPr>
          </a:p>
          <a:p>
            <a:pPr marL="0" lvl="0" indent="0" eaLnBrk="1" hangingPunct="1">
              <a:lnSpc>
                <a:spcPct val="135000"/>
              </a:lnSpc>
              <a:spcBef>
                <a:spcPct val="0"/>
              </a:spcBef>
              <a:buClrTx/>
              <a:buSzTx/>
              <a:buFont typeface="Arial" panose="020B0604020202020204" pitchFamily="34" charset="0"/>
              <a:buNone/>
            </a:pPr>
            <a:endParaRPr lang="en-US" altLang="zh-CN" sz="2600" dirty="0">
              <a:solidFill>
                <a:srgbClr val="FF0000"/>
              </a:solidFill>
              <a:latin typeface="宋体" panose="02010600030101010101" pitchFamily="2" charset="-122"/>
              <a:ea typeface="Times New Roman" panose="02020603050405020304" pitchFamily="18" charset="0"/>
            </a:endParaRPr>
          </a:p>
        </p:txBody>
      </p:sp>
      <p:sp>
        <p:nvSpPr>
          <p:cNvPr id="7373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9154">
                                            <p:txEl>
                                              <p:charRg st="307" end="347"/>
                                            </p:txEl>
                                          </p:spTgt>
                                        </p:tgtEl>
                                        <p:attrNameLst>
                                          <p:attrName>style.visibility</p:attrName>
                                        </p:attrNameLst>
                                      </p:cBhvr>
                                      <p:to>
                                        <p:strVal val="visible"/>
                                      </p:to>
                                    </p:set>
                                    <p:animEffect transition="in" filter="dissolve">
                                      <p:cBhvr>
                                        <p:cTn id="7" dur="500"/>
                                        <p:tgtEl>
                                          <p:spTgt spid="49154">
                                            <p:txEl>
                                              <p:charRg st="307" end="347"/>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154">
                                            <p:txEl>
                                              <p:charRg st="347" end="361"/>
                                            </p:txEl>
                                          </p:spTgt>
                                        </p:tgtEl>
                                        <p:attrNameLst>
                                          <p:attrName>style.visibility</p:attrName>
                                        </p:attrNameLst>
                                      </p:cBhvr>
                                      <p:to>
                                        <p:strVal val="visible"/>
                                      </p:to>
                                    </p:set>
                                    <p:animEffect transition="in" filter="dissolve">
                                      <p:cBhvr>
                                        <p:cTn id="12" dur="500"/>
                                        <p:tgtEl>
                                          <p:spTgt spid="49154">
                                            <p:txEl>
                                              <p:charRg st="347" end="36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9154">
                                            <p:txEl>
                                              <p:charRg st="11" end="34"/>
                                            </p:txEl>
                                          </p:spTgt>
                                        </p:tgtEl>
                                        <p:attrNameLst>
                                          <p:attrName>style.visibility</p:attrName>
                                        </p:attrNameLst>
                                      </p:cBhvr>
                                      <p:to>
                                        <p:strVal val="visible"/>
                                      </p:to>
                                    </p:set>
                                    <p:animEffect transition="in" filter="dissolve">
                                      <p:cBhvr>
                                        <p:cTn id="17" dur="500"/>
                                        <p:tgtEl>
                                          <p:spTgt spid="49154">
                                            <p:txEl>
                                              <p:charRg st="11" end="3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9154">
                                            <p:txEl>
                                              <p:charRg st="34" end="86"/>
                                            </p:txEl>
                                          </p:spTgt>
                                        </p:tgtEl>
                                        <p:attrNameLst>
                                          <p:attrName>style.visibility</p:attrName>
                                        </p:attrNameLst>
                                      </p:cBhvr>
                                      <p:to>
                                        <p:strVal val="visible"/>
                                      </p:to>
                                    </p:set>
                                    <p:animEffect transition="in" filter="dissolve">
                                      <p:cBhvr>
                                        <p:cTn id="22" dur="500"/>
                                        <p:tgtEl>
                                          <p:spTgt spid="49154">
                                            <p:txEl>
                                              <p:charRg st="34" end="8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9154">
                                            <p:txEl>
                                              <p:charRg st="86" end="139"/>
                                            </p:txEl>
                                          </p:spTgt>
                                        </p:tgtEl>
                                        <p:attrNameLst>
                                          <p:attrName>style.visibility</p:attrName>
                                        </p:attrNameLst>
                                      </p:cBhvr>
                                      <p:to>
                                        <p:strVal val="visible"/>
                                      </p:to>
                                    </p:set>
                                    <p:animEffect transition="in" filter="dissolve">
                                      <p:cBhvr>
                                        <p:cTn id="27" dur="500"/>
                                        <p:tgtEl>
                                          <p:spTgt spid="49154">
                                            <p:txEl>
                                              <p:charRg st="86" end="139"/>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9154">
                                            <p:txEl>
                                              <p:charRg st="139" end="174"/>
                                            </p:txEl>
                                          </p:spTgt>
                                        </p:tgtEl>
                                        <p:attrNameLst>
                                          <p:attrName>style.visibility</p:attrName>
                                        </p:attrNameLst>
                                      </p:cBhvr>
                                      <p:to>
                                        <p:strVal val="visible"/>
                                      </p:to>
                                    </p:set>
                                    <p:animEffect transition="in" filter="dissolve">
                                      <p:cBhvr>
                                        <p:cTn id="32" dur="500"/>
                                        <p:tgtEl>
                                          <p:spTgt spid="49154">
                                            <p:txEl>
                                              <p:charRg st="139" end="17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49154">
                                            <p:txEl>
                                              <p:charRg st="174" end="213"/>
                                            </p:txEl>
                                          </p:spTgt>
                                        </p:tgtEl>
                                        <p:attrNameLst>
                                          <p:attrName>style.visibility</p:attrName>
                                        </p:attrNameLst>
                                      </p:cBhvr>
                                      <p:to>
                                        <p:strVal val="visible"/>
                                      </p:to>
                                    </p:set>
                                    <p:animEffect transition="in" filter="dissolve">
                                      <p:cBhvr>
                                        <p:cTn id="37" dur="500"/>
                                        <p:tgtEl>
                                          <p:spTgt spid="49154">
                                            <p:txEl>
                                              <p:charRg st="174" end="21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49154">
                                            <p:txEl>
                                              <p:charRg st="213" end="272"/>
                                            </p:txEl>
                                          </p:spTgt>
                                        </p:tgtEl>
                                        <p:attrNameLst>
                                          <p:attrName>style.visibility</p:attrName>
                                        </p:attrNameLst>
                                      </p:cBhvr>
                                      <p:to>
                                        <p:strVal val="visible"/>
                                      </p:to>
                                    </p:set>
                                    <p:animEffect transition="in" filter="dissolve">
                                      <p:cBhvr>
                                        <p:cTn id="42" dur="500"/>
                                        <p:tgtEl>
                                          <p:spTgt spid="49154">
                                            <p:txEl>
                                              <p:charRg st="213" end="27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49154">
                                            <p:txEl>
                                              <p:charRg st="272" end="307"/>
                                            </p:txEl>
                                          </p:spTgt>
                                        </p:tgtEl>
                                        <p:attrNameLst>
                                          <p:attrName>style.visibility</p:attrName>
                                        </p:attrNameLst>
                                      </p:cBhvr>
                                      <p:to>
                                        <p:strVal val="visible"/>
                                      </p:to>
                                    </p:set>
                                    <p:animEffect transition="in" filter="dissolve">
                                      <p:cBhvr>
                                        <p:cTn id="47" dur="500"/>
                                        <p:tgtEl>
                                          <p:spTgt spid="49154">
                                            <p:txEl>
                                              <p:charRg st="272" end="30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nodeType="clickEffect">
                                  <p:stCondLst>
                                    <p:cond delay="0"/>
                                  </p:stCondLst>
                                  <p:childTnLst>
                                    <p:set>
                                      <p:cBhvr>
                                        <p:cTn id="51" dur="1" fill="hold">
                                          <p:stCondLst>
                                            <p:cond delay="0"/>
                                          </p:stCondLst>
                                        </p:cTn>
                                        <p:tgtEl>
                                          <p:spTgt spid="49154">
                                            <p:txEl>
                                              <p:charRg st="361" end="387"/>
                                            </p:txEl>
                                          </p:spTgt>
                                        </p:tgtEl>
                                        <p:attrNameLst>
                                          <p:attrName>style.visibility</p:attrName>
                                        </p:attrNameLst>
                                      </p:cBhvr>
                                      <p:to>
                                        <p:strVal val="visible"/>
                                      </p:to>
                                    </p:set>
                                    <p:animEffect transition="in" filter="dissolve">
                                      <p:cBhvr>
                                        <p:cTn id="52" dur="500"/>
                                        <p:tgtEl>
                                          <p:spTgt spid="49154">
                                            <p:txEl>
                                              <p:charRg st="361" end="38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nodeType="clickEffect">
                                  <p:stCondLst>
                                    <p:cond delay="0"/>
                                  </p:stCondLst>
                                  <p:childTnLst>
                                    <p:set>
                                      <p:cBhvr>
                                        <p:cTn id="56" dur="1" fill="hold">
                                          <p:stCondLst>
                                            <p:cond delay="0"/>
                                          </p:stCondLst>
                                        </p:cTn>
                                        <p:tgtEl>
                                          <p:spTgt spid="49154">
                                            <p:txEl>
                                              <p:charRg st="387" end="401"/>
                                            </p:txEl>
                                          </p:spTgt>
                                        </p:tgtEl>
                                        <p:attrNameLst>
                                          <p:attrName>style.visibility</p:attrName>
                                        </p:attrNameLst>
                                      </p:cBhvr>
                                      <p:to>
                                        <p:strVal val="visible"/>
                                      </p:to>
                                    </p:set>
                                    <p:animEffect transition="in" filter="dissolve">
                                      <p:cBhvr>
                                        <p:cTn id="57" dur="500"/>
                                        <p:tgtEl>
                                          <p:spTgt spid="49154">
                                            <p:txEl>
                                              <p:charRg st="387" end="40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2"/>
          <p:cNvSpPr txBox="1"/>
          <p:nvPr/>
        </p:nvSpPr>
        <p:spPr>
          <a:xfrm>
            <a:off x="522288" y="930275"/>
            <a:ext cx="6477000" cy="838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Wingdings" panose="05000000000000000000" pitchFamily="2" charset="2"/>
              <a:buChar char="p"/>
            </a:pPr>
            <a:r>
              <a:rPr lang="zh-CN" altLang="en-US" sz="2600" dirty="0">
                <a:solidFill>
                  <a:srgbClr val="FF0000"/>
                </a:solidFill>
                <a:latin typeface="宋体" panose="02010600030101010101" pitchFamily="2" charset="-122"/>
              </a:rPr>
              <a:t> 检查约束与规则的比较</a:t>
            </a:r>
            <a:endParaRPr lang="zh-CN" altLang="en-US" sz="2600" dirty="0">
              <a:solidFill>
                <a:srgbClr val="FF0000"/>
              </a:solidFill>
              <a:latin typeface="宋体" panose="02010600030101010101" pitchFamily="2" charset="-122"/>
              <a:ea typeface="黑体" panose="02010609060101010101" pitchFamily="49" charset="-122"/>
            </a:endParaRPr>
          </a:p>
        </p:txBody>
      </p:sp>
      <p:sp>
        <p:nvSpPr>
          <p:cNvPr id="50179" name="Rectangle 3"/>
          <p:cNvSpPr txBox="1"/>
          <p:nvPr/>
        </p:nvSpPr>
        <p:spPr>
          <a:xfrm>
            <a:off x="578800" y="1406525"/>
            <a:ext cx="8316912" cy="4637087"/>
          </a:xfrm>
          <a:prstGeom prst="rect">
            <a:avLst/>
          </a:prstGeom>
          <a:noFill/>
          <a:ln w="9525">
            <a:noFill/>
          </a:ln>
        </p:spPr>
        <p:txBody>
          <a:bodyPr/>
          <a:lstStyle/>
          <a:p>
            <a:pPr marL="342900" marR="0" indent="-342900" defTabSz="914400" eaLnBrk="1" hangingPunct="1">
              <a:lnSpc>
                <a:spcPct val="125000"/>
              </a:lnSpc>
              <a:spcBef>
                <a:spcPct val="20000"/>
              </a:spcBef>
              <a:buClr>
                <a:srgbClr val="0033CC"/>
              </a:buClr>
              <a:buSzPct val="80000"/>
              <a:buFont typeface="Arial" panose="020B0604020202020204" pitchFamily="34" charset="0"/>
              <a:buNone/>
              <a:defRPr/>
            </a:pPr>
            <a:r>
              <a:rPr kumimoji="0" lang="zh-CN" altLang="en-US" sz="2400" kern="1200" cap="none" spc="0" normalizeH="0" baseline="0" noProof="1">
                <a:latin typeface="华文楷体" panose="02010600040101010101" pitchFamily="2" charset="-122"/>
                <a:ea typeface="宋体" panose="02010600030101010101" pitchFamily="2" charset="-122"/>
                <a:cs typeface="+mn-cs"/>
              </a:rPr>
              <a:t>检查约束和规则都可以对一个表中的列的值进行约束。</a:t>
            </a:r>
            <a:endParaRPr kumimoji="0" lang="zh-CN" altLang="en-US" sz="2400" kern="1200" cap="none" spc="0" normalizeH="0" baseline="0" noProof="1">
              <a:latin typeface="华文楷体" panose="02010600040101010101" pitchFamily="2" charset="-122"/>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Wingdings" panose="05000000000000000000" pitchFamily="2" charset="2"/>
              <a:buChar char="u"/>
              <a:defRPr/>
            </a:pPr>
            <a:r>
              <a:rPr kumimoji="0" lang="zh-CN" altLang="en-US" sz="2400" u="sng" kern="1200" cap="none" spc="0" normalizeH="0" baseline="0" noProof="1">
                <a:solidFill>
                  <a:srgbClr val="FF0000"/>
                </a:solidFill>
                <a:latin typeface="华文楷体" panose="02010600040101010101" pitchFamily="2" charset="-122"/>
                <a:ea typeface="宋体" panose="02010600030101010101" pitchFamily="2" charset="-122"/>
                <a:cs typeface="+mn-cs"/>
              </a:rPr>
              <a:t>例如：</a:t>
            </a:r>
            <a:r>
              <a:rPr kumimoji="0" lang="zh-CN" altLang="en-US" sz="2200" kern="1200" cap="none" spc="0" normalizeH="0" baseline="0" noProof="1">
                <a:latin typeface="华文楷体" panose="02010600040101010101" pitchFamily="2" charset="-122"/>
                <a:ea typeface="宋体" panose="02010600030101010101" pitchFamily="2" charset="-122"/>
                <a:cs typeface="+mn-cs"/>
              </a:rPr>
              <a:t>创建一个雇员关系。要求部门编号的值必须在10-100之内，雇员的职务只能为下列之一：“Sales”、“Mgr”、“Clerk”</a:t>
            </a:r>
            <a:endParaRPr kumimoji="0" lang="zh-CN" altLang="en-US" sz="2200" kern="1200" cap="none" spc="0" normalizeH="0" baseline="0" noProof="1">
              <a:latin typeface="华文楷体" panose="02010600040101010101" pitchFamily="2" charset="-122"/>
              <a:ea typeface="宋体" panose="02010600030101010101" pitchFamily="2" charset="-122"/>
              <a:cs typeface="+mn-cs"/>
            </a:endParaRPr>
          </a:p>
          <a:p>
            <a:pPr marL="342900" marR="0" indent="-342900" defTabSz="914400" eaLnBrk="1" hangingPunct="1">
              <a:lnSpc>
                <a:spcPct val="80000"/>
              </a:lnSpc>
              <a:spcBef>
                <a:spcPts val="600"/>
              </a:spcBef>
              <a:spcAft>
                <a:spcPts val="600"/>
              </a:spcAft>
              <a:buClr>
                <a:srgbClr val="0033CC"/>
              </a:buClr>
              <a:buSzPct val="80000"/>
              <a:buFont typeface="Wingdings" panose="05000000000000000000" pitchFamily="2" charset="2"/>
              <a:buChar char="u"/>
              <a:defRPr/>
            </a:pPr>
            <a:r>
              <a:rPr kumimoji="0" lang="zh-CN" altLang="en-US" sz="2400" u="sng" kern="1200" cap="none" spc="0" normalizeH="0" baseline="0" noProof="1">
                <a:solidFill>
                  <a:srgbClr val="FF0000"/>
                </a:solidFill>
                <a:latin typeface="华文楷体" panose="02010600040101010101" pitchFamily="2" charset="-122"/>
                <a:ea typeface="宋体" panose="02010600030101010101" pitchFamily="2" charset="-122"/>
                <a:cs typeface="+mn-cs"/>
              </a:rPr>
              <a:t>检查约束：</a:t>
            </a:r>
            <a:endParaRPr kumimoji="0" lang="zh-CN" altLang="en-US" sz="2400" u="sng" kern="1200" cap="none" spc="0" normalizeH="0" baseline="0" noProof="1">
              <a:solidFill>
                <a:srgbClr val="FF0000"/>
              </a:solidFill>
              <a:latin typeface="华文楷体" panose="02010600040101010101" pitchFamily="2" charset="-122"/>
              <a:ea typeface="宋体" panose="02010600030101010101" pitchFamily="2" charset="-122"/>
              <a:cs typeface="+mn-cs"/>
            </a:endParaRPr>
          </a:p>
          <a:p>
            <a:pPr marL="342900" marR="0" indent="-342900" defTabSz="914400" eaLnBrk="1" hangingPunct="1">
              <a:lnSpc>
                <a:spcPct val="80000"/>
              </a:lnSpc>
              <a:spcBef>
                <a:spcPts val="600"/>
              </a:spcBef>
              <a:spcAft>
                <a:spcPts val="0"/>
              </a:spcAft>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CREATE TABLE emp</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(id           smallint   NOT NULL,</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name     varchar(9),</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deptNo       smallint</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a:t>
            </a:r>
            <a:r>
              <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rPr>
              <a:t> CONSTRAINT   dept_constraint</a:t>
            </a:r>
            <a:endPar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rPr>
              <a:t>    CHECK (deptNo BETWEEN 10 AND 100)</a:t>
            </a:r>
            <a:r>
              <a:rPr kumimoji="0" lang="en-US" altLang="zh-CN" sz="2200" kern="1200" cap="none" spc="0" normalizeH="0" baseline="0" noProof="1">
                <a:solidFill>
                  <a:srgbClr val="006600"/>
                </a:solidFill>
                <a:latin typeface="Times New Roman" panose="02020603050405020304" pitchFamily="18" charset="0"/>
                <a:ea typeface="宋体" panose="02010600030101010101" pitchFamily="2" charset="-122"/>
                <a:cs typeface="+mn-cs"/>
              </a:rPr>
              <a:t>,</a:t>
            </a:r>
            <a:endParaRPr kumimoji="0" lang="en-US" altLang="zh-CN" sz="2200" kern="1200" cap="none" spc="0" normalizeH="0" baseline="0" noProof="1">
              <a:solidFill>
                <a:srgbClr val="006600"/>
              </a:solidFill>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job          char(5)</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CONSTRAINT   job_cons</a:t>
            </a:r>
            <a:endParaRPr kumimoji="0" lang="en-US" altLang="zh-CN" sz="2200" kern="1200" cap="none" spc="0" normalizeH="0" baseline="0" noProof="1">
              <a:latin typeface="Times New Roman" panose="02020603050405020304" pitchFamily="18" charset="0"/>
              <a:ea typeface="宋体" panose="02010600030101010101" pitchFamily="2" charset="-122"/>
              <a:cs typeface="+mn-cs"/>
            </a:endParaRPr>
          </a:p>
          <a:p>
            <a:pPr marL="342900" marR="0" indent="-342900" defTabSz="914400" eaLnBrk="1" hangingPunct="1">
              <a:lnSpc>
                <a:spcPct val="80000"/>
              </a:lnSpc>
              <a:spcBef>
                <a:spcPct val="20000"/>
              </a:spcBef>
              <a:buClr>
                <a:srgbClr val="0033CC"/>
              </a:buClr>
              <a:buSzPct val="80000"/>
              <a:buFont typeface="Arial" panose="020B0604020202020204" pitchFamily="34" charset="0"/>
              <a:buNone/>
              <a:defRPr/>
            </a:pPr>
            <a:r>
              <a:rPr kumimoji="0" lang="en-US" altLang="zh-CN" sz="2200" kern="1200" cap="none" spc="0" normalizeH="0" baseline="0" noProof="1">
                <a:latin typeface="Times New Roman" panose="02020603050405020304" pitchFamily="18" charset="0"/>
                <a:ea typeface="宋体" panose="02010600030101010101" pitchFamily="2" charset="-122"/>
                <a:cs typeface="+mn-cs"/>
              </a:rPr>
              <a:t>    </a:t>
            </a:r>
            <a:r>
              <a:rPr kumimoji="0" lang="en-US" altLang="zh-CN" sz="2200" kern="1200" cap="none" spc="0" normalizeH="0" baseline="0" noProof="1">
                <a:gradFill>
                  <a:gsLst>
                    <a:gs pos="0">
                      <a:srgbClr val="E30000"/>
                    </a:gs>
                    <a:gs pos="100000">
                      <a:srgbClr val="760303"/>
                    </a:gs>
                  </a:gsLst>
                  <a:lin scaled="0"/>
                </a:gradFill>
                <a:latin typeface="Times New Roman" panose="02020603050405020304" pitchFamily="18" charset="0"/>
                <a:ea typeface="宋体" panose="02010600030101010101" pitchFamily="2" charset="-122"/>
                <a:cs typeface="+mn-cs"/>
              </a:rPr>
              <a:t>CHECK (job IN('Sales','Mgr','Clerk')</a:t>
            </a:r>
            <a:r>
              <a:rPr kumimoji="0" lang="en-US" altLang="zh-CN" sz="2200" kern="1200" cap="none" spc="0" normalizeH="0" baseline="0" noProof="1">
                <a:latin typeface="Times New Roman" panose="02020603050405020304" pitchFamily="18" charset="0"/>
                <a:ea typeface="宋体" panose="02010600030101010101" pitchFamily="2" charset="-122"/>
                <a:cs typeface="+mn-cs"/>
              </a:rPr>
              <a:t>))</a:t>
            </a:r>
            <a:endParaRPr kumimoji="0" lang="zh-CN" altLang="en-US" sz="2200" kern="1200" cap="none" spc="0" normalizeH="0" baseline="0" noProof="1">
              <a:latin typeface="Times New Roman" panose="02020603050405020304" pitchFamily="18" charset="0"/>
              <a:ea typeface="宋体" panose="02010600030101010101" pitchFamily="2" charset="-122"/>
              <a:cs typeface="+mn-cs"/>
            </a:endParaRPr>
          </a:p>
        </p:txBody>
      </p:sp>
      <p:sp>
        <p:nvSpPr>
          <p:cNvPr id="7475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0179">
                                            <p:txEl>
                                              <p:pRg st="11" end="11"/>
                                            </p:txEl>
                                          </p:spTgt>
                                        </p:tgtEl>
                                        <p:attrNameLst>
                                          <p:attrName>style.visibility</p:attrName>
                                        </p:attrNameLst>
                                      </p:cBhvr>
                                      <p:to>
                                        <p:strVal val="visible"/>
                                      </p:to>
                                    </p:set>
                                    <p:animEffect transition="in" filter="wipe(down)">
                                      <p:cBhvr>
                                        <p:cTn id="7" dur="500"/>
                                        <p:tgtEl>
                                          <p:spTgt spid="50179">
                                            <p:txEl>
                                              <p:pRg st="11" end="1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0179">
                                            <p:txEl>
                                              <p:pRg st="3" end="3"/>
                                            </p:txEl>
                                          </p:spTgt>
                                        </p:tgtEl>
                                        <p:attrNameLst>
                                          <p:attrName>style.visibility</p:attrName>
                                        </p:attrNameLst>
                                      </p:cBhvr>
                                      <p:to>
                                        <p:strVal val="visible"/>
                                      </p:to>
                                    </p:set>
                                    <p:animEffect transition="in" filter="wipe(down)">
                                      <p:cBhvr>
                                        <p:cTn id="10" dur="500"/>
                                        <p:tgtEl>
                                          <p:spTgt spid="50179">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0179">
                                            <p:txEl>
                                              <p:pRg st="4" end="4"/>
                                            </p:txEl>
                                          </p:spTgt>
                                        </p:tgtEl>
                                        <p:attrNameLst>
                                          <p:attrName>style.visibility</p:attrName>
                                        </p:attrNameLst>
                                      </p:cBhvr>
                                      <p:to>
                                        <p:strVal val="visible"/>
                                      </p:to>
                                    </p:set>
                                    <p:animEffect transition="in" filter="wipe(down)">
                                      <p:cBhvr>
                                        <p:cTn id="13" dur="500"/>
                                        <p:tgtEl>
                                          <p:spTgt spid="50179">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0179">
                                            <p:txEl>
                                              <p:pRg st="5" end="5"/>
                                            </p:txEl>
                                          </p:spTgt>
                                        </p:tgtEl>
                                        <p:attrNameLst>
                                          <p:attrName>style.visibility</p:attrName>
                                        </p:attrNameLst>
                                      </p:cBhvr>
                                      <p:to>
                                        <p:strVal val="visible"/>
                                      </p:to>
                                    </p:set>
                                    <p:animEffect transition="in" filter="wipe(down)">
                                      <p:cBhvr>
                                        <p:cTn id="16" dur="500"/>
                                        <p:tgtEl>
                                          <p:spTgt spid="50179">
                                            <p:txEl>
                                              <p:pRg st="5" end="5"/>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0179">
                                            <p:txEl>
                                              <p:pRg st="6" end="6"/>
                                            </p:txEl>
                                          </p:spTgt>
                                        </p:tgtEl>
                                        <p:attrNameLst>
                                          <p:attrName>style.visibility</p:attrName>
                                        </p:attrNameLst>
                                      </p:cBhvr>
                                      <p:to>
                                        <p:strVal val="visible"/>
                                      </p:to>
                                    </p:set>
                                    <p:animEffect transition="in" filter="wipe(down)">
                                      <p:cBhvr>
                                        <p:cTn id="19" dur="500"/>
                                        <p:tgtEl>
                                          <p:spTgt spid="50179">
                                            <p:txEl>
                                              <p:pRg st="6" end="6"/>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50179">
                                            <p:txEl>
                                              <p:pRg st="7" end="7"/>
                                            </p:txEl>
                                          </p:spTgt>
                                        </p:tgtEl>
                                        <p:attrNameLst>
                                          <p:attrName>style.visibility</p:attrName>
                                        </p:attrNameLst>
                                      </p:cBhvr>
                                      <p:to>
                                        <p:strVal val="visible"/>
                                      </p:to>
                                    </p:set>
                                    <p:animEffect transition="in" filter="wipe(down)">
                                      <p:cBhvr>
                                        <p:cTn id="22" dur="500"/>
                                        <p:tgtEl>
                                          <p:spTgt spid="50179">
                                            <p:txEl>
                                              <p:pRg st="7" end="7"/>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50179">
                                            <p:txEl>
                                              <p:pRg st="8" end="8"/>
                                            </p:txEl>
                                          </p:spTgt>
                                        </p:tgtEl>
                                        <p:attrNameLst>
                                          <p:attrName>style.visibility</p:attrName>
                                        </p:attrNameLst>
                                      </p:cBhvr>
                                      <p:to>
                                        <p:strVal val="visible"/>
                                      </p:to>
                                    </p:set>
                                    <p:animEffect transition="in" filter="wipe(down)">
                                      <p:cBhvr>
                                        <p:cTn id="25" dur="500"/>
                                        <p:tgtEl>
                                          <p:spTgt spid="50179">
                                            <p:txEl>
                                              <p:pRg st="8" end="8"/>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50179">
                                            <p:txEl>
                                              <p:pRg st="9" end="9"/>
                                            </p:txEl>
                                          </p:spTgt>
                                        </p:tgtEl>
                                        <p:attrNameLst>
                                          <p:attrName>style.visibility</p:attrName>
                                        </p:attrNameLst>
                                      </p:cBhvr>
                                      <p:to>
                                        <p:strVal val="visible"/>
                                      </p:to>
                                    </p:set>
                                    <p:animEffect transition="in" filter="wipe(down)">
                                      <p:cBhvr>
                                        <p:cTn id="28" dur="500"/>
                                        <p:tgtEl>
                                          <p:spTgt spid="50179">
                                            <p:txEl>
                                              <p:pRg st="9" end="9"/>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0179">
                                            <p:txEl>
                                              <p:pRg st="10" end="10"/>
                                            </p:txEl>
                                          </p:spTgt>
                                        </p:tgtEl>
                                        <p:attrNameLst>
                                          <p:attrName>style.visibility</p:attrName>
                                        </p:attrNameLst>
                                      </p:cBhvr>
                                      <p:to>
                                        <p:strVal val="visible"/>
                                      </p:to>
                                    </p:set>
                                    <p:animEffect transition="in" filter="wipe(down)">
                                      <p:cBhvr>
                                        <p:cTn id="31" dur="500"/>
                                        <p:tgtEl>
                                          <p:spTgt spid="5017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3"/>
          <p:cNvSpPr txBox="1"/>
          <p:nvPr/>
        </p:nvSpPr>
        <p:spPr>
          <a:xfrm>
            <a:off x="644525" y="1095375"/>
            <a:ext cx="8108950" cy="494188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400"/>
              </a:spcBef>
            </a:pPr>
            <a:r>
              <a:rPr lang="zh-CN" altLang="en-US" sz="2400" u="sng" dirty="0">
                <a:solidFill>
                  <a:srgbClr val="FF0000"/>
                </a:solidFill>
              </a:rPr>
              <a:t>规则：</a:t>
            </a:r>
            <a:endParaRPr lang="zh-CN" altLang="en-US" sz="2400" u="sng" dirty="0">
              <a:solidFill>
                <a:srgbClr val="FF0000"/>
              </a:solidFill>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CREATE TABLE emp</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id           smallint   NOT NULL,</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name     varchar(9),</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dept       smallint,</a:t>
            </a:r>
            <a:endParaRPr lang="en-US" altLang="zh-CN"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latin typeface="Times New Roman" panose="02020603050405020304" pitchFamily="18" charset="0"/>
              </a:rPr>
              <a:t>    job         char(5))</a:t>
            </a:r>
            <a:endParaRPr lang="zh-CN" altLang="en-US" sz="2200" dirty="0">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zh-CN" altLang="en-US" sz="2200" dirty="0">
                <a:solidFill>
                  <a:srgbClr val="A50021"/>
                </a:solidFill>
                <a:latin typeface="Times New Roman" panose="02020603050405020304" pitchFamily="18" charset="0"/>
              </a:rPr>
              <a:t>CREATE RULE dept_rule AS @dept BETWEEN 10 AND 100</a:t>
            </a:r>
            <a:endParaRPr lang="zh-CN" altLang="en-US" sz="2200" dirty="0">
              <a:solidFill>
                <a:srgbClr val="A50021"/>
              </a:solidFill>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Sp_bindrule dept_rule, 'emp.dept' </a:t>
            </a:r>
            <a:endParaRPr lang="en-US" altLang="zh-CN" sz="2200" dirty="0">
              <a:solidFill>
                <a:srgbClr val="A50021"/>
              </a:solidFill>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CREATE RULE job_rule AS @job IN('Sales','Mgr','Clerk') </a:t>
            </a:r>
            <a:endParaRPr lang="en-US" altLang="zh-CN" sz="2200" dirty="0">
              <a:solidFill>
                <a:srgbClr val="A50021"/>
              </a:solidFill>
              <a:latin typeface="Times New Roman" panose="02020603050405020304" pitchFamily="18" charset="0"/>
            </a:endParaRPr>
          </a:p>
          <a:p>
            <a:pPr marL="342900" lvl="0" indent="-342900" eaLnBrk="1" hangingPunct="1">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Sp_bindrule job_rule,'emp.job‘</a:t>
            </a:r>
            <a:endParaRPr lang="en-US" altLang="zh-CN" sz="2200" dirty="0">
              <a:solidFill>
                <a:srgbClr val="A50021"/>
              </a:solidFill>
              <a:latin typeface="Times New Roman" panose="02020603050405020304" pitchFamily="18" charset="0"/>
            </a:endParaRPr>
          </a:p>
          <a:p>
            <a:pPr marL="342900" lvl="0" indent="-342900" eaLnBrk="1" hangingPunct="1">
              <a:lnSpc>
                <a:spcPct val="120000"/>
              </a:lnSpc>
              <a:spcBef>
                <a:spcPts val="400"/>
              </a:spcBef>
              <a:buFont typeface="Arial" panose="020B0604020202020204" pitchFamily="34" charset="0"/>
              <a:buNone/>
            </a:pPr>
            <a:r>
              <a:rPr lang="en-US" altLang="zh-CN" sz="2200" dirty="0">
                <a:solidFill>
                  <a:srgbClr val="A50021"/>
                </a:solidFill>
                <a:latin typeface="Times New Roman" panose="02020603050405020304" pitchFamily="18" charset="0"/>
              </a:rPr>
              <a:t>     </a:t>
            </a:r>
            <a:r>
              <a:rPr lang="zh-CN" altLang="en-US" sz="2200" dirty="0">
                <a:solidFill>
                  <a:srgbClr val="000000"/>
                </a:solidFill>
                <a:latin typeface="Times New Roman" panose="02020603050405020304" pitchFamily="18" charset="0"/>
              </a:rPr>
              <a:t>完成同一个功能可以使用</a:t>
            </a:r>
            <a:r>
              <a:rPr lang="zh-CN" altLang="en-US" sz="2200" dirty="0">
                <a:solidFill>
                  <a:srgbClr val="000000"/>
                </a:solidFill>
                <a:latin typeface="华文楷体" panose="02010600040101010101" pitchFamily="2" charset="-122"/>
              </a:rPr>
              <a:t>“</a:t>
            </a:r>
            <a:r>
              <a:rPr lang="zh-CN" altLang="en-US" sz="2200" dirty="0">
                <a:solidFill>
                  <a:srgbClr val="000000"/>
                </a:solidFill>
                <a:latin typeface="Times New Roman" panose="02020603050405020304" pitchFamily="18" charset="0"/>
              </a:rPr>
              <a:t>检查约束和</a:t>
            </a:r>
            <a:r>
              <a:rPr lang="zh-CN" altLang="en-US" sz="2200" dirty="0">
                <a:solidFill>
                  <a:srgbClr val="000000"/>
                </a:solidFill>
                <a:latin typeface="华文楷体" panose="02010600040101010101" pitchFamily="2" charset="-122"/>
              </a:rPr>
              <a:t>”</a:t>
            </a:r>
            <a:r>
              <a:rPr lang="zh-CN" altLang="en-US" sz="2200" dirty="0">
                <a:solidFill>
                  <a:srgbClr val="000000"/>
                </a:solidFill>
                <a:latin typeface="Times New Roman" panose="02020603050405020304" pitchFamily="18" charset="0"/>
              </a:rPr>
              <a:t>规则</a:t>
            </a:r>
            <a:r>
              <a:rPr lang="zh-CN" altLang="en-US" sz="2200" dirty="0">
                <a:solidFill>
                  <a:srgbClr val="000000"/>
                </a:solidFill>
                <a:latin typeface="华文楷体" panose="02010600040101010101" pitchFamily="2" charset="-122"/>
              </a:rPr>
              <a:t>“</a:t>
            </a:r>
            <a:r>
              <a:rPr lang="zh-CN" altLang="en-US" sz="2200" dirty="0">
                <a:solidFill>
                  <a:srgbClr val="000000"/>
                </a:solidFill>
                <a:latin typeface="Times New Roman" panose="02020603050405020304" pitchFamily="18" charset="0"/>
              </a:rPr>
              <a:t>两种方法。</a:t>
            </a:r>
            <a:endParaRPr lang="zh-CN" altLang="en-US" sz="2200" dirty="0">
              <a:solidFill>
                <a:srgbClr val="000000"/>
              </a:solidFill>
              <a:latin typeface="Times New Roman" panose="02020603050405020304" pitchFamily="18" charset="0"/>
            </a:endParaRPr>
          </a:p>
          <a:p>
            <a:pPr marL="342900" lvl="0" indent="-342900" eaLnBrk="1" hangingPunct="1">
              <a:lnSpc>
                <a:spcPct val="120000"/>
              </a:lnSpc>
              <a:spcBef>
                <a:spcPts val="400"/>
              </a:spcBef>
              <a:buFont typeface="Arial" panose="020B0604020202020204" pitchFamily="34" charset="0"/>
              <a:buNone/>
            </a:pPr>
            <a:r>
              <a:rPr lang="zh-CN" altLang="en-US" sz="2200" dirty="0">
                <a:solidFill>
                  <a:srgbClr val="000000"/>
                </a:solidFill>
                <a:latin typeface="Times New Roman" panose="02020603050405020304" pitchFamily="18" charset="0"/>
              </a:rPr>
              <a:t>注意两者不同的语法形式。</a:t>
            </a:r>
            <a:endParaRPr lang="zh-CN" altLang="en-US" sz="2200" dirty="0">
              <a:solidFill>
                <a:srgbClr val="000000"/>
              </a:solidFill>
              <a:latin typeface="Times New Roman" panose="02020603050405020304" pitchFamily="18" charset="0"/>
            </a:endParaRPr>
          </a:p>
        </p:txBody>
      </p:sp>
      <p:sp>
        <p:nvSpPr>
          <p:cNvPr id="7577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51202">
                                            <p:txEl>
                                              <p:charRg st="108" end="133"/>
                                            </p:txEl>
                                          </p:spTgt>
                                        </p:tgtEl>
                                        <p:attrNameLst>
                                          <p:attrName>style.visibility</p:attrName>
                                        </p:attrNameLst>
                                      </p:cBhvr>
                                      <p:to>
                                        <p:strVal val="visible"/>
                                      </p:to>
                                    </p:set>
                                    <p:animEffect transition="in" filter="wipe(down)">
                                      <p:cBhvr>
                                        <p:cTn id="7" dur="500"/>
                                        <p:tgtEl>
                                          <p:spTgt spid="51202">
                                            <p:txEl>
                                              <p:charRg st="108" end="13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1202">
                                            <p:txEl>
                                              <p:charRg st="4" end="21"/>
                                            </p:txEl>
                                          </p:spTgt>
                                        </p:tgtEl>
                                        <p:attrNameLst>
                                          <p:attrName>style.visibility</p:attrName>
                                        </p:attrNameLst>
                                      </p:cBhvr>
                                      <p:to>
                                        <p:strVal val="visible"/>
                                      </p:to>
                                    </p:set>
                                    <p:animEffect transition="in" filter="wipe(down)">
                                      <p:cBhvr>
                                        <p:cTn id="10" dur="500"/>
                                        <p:tgtEl>
                                          <p:spTgt spid="51202">
                                            <p:txEl>
                                              <p:charRg st="4" end="2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1202">
                                            <p:txEl>
                                              <p:charRg st="21" end="58"/>
                                            </p:txEl>
                                          </p:spTgt>
                                        </p:tgtEl>
                                        <p:attrNameLst>
                                          <p:attrName>style.visibility</p:attrName>
                                        </p:attrNameLst>
                                      </p:cBhvr>
                                      <p:to>
                                        <p:strVal val="visible"/>
                                      </p:to>
                                    </p:set>
                                    <p:animEffect transition="in" filter="wipe(down)">
                                      <p:cBhvr>
                                        <p:cTn id="13" dur="500"/>
                                        <p:tgtEl>
                                          <p:spTgt spid="51202">
                                            <p:txEl>
                                              <p:charRg st="21" end="58"/>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1202">
                                            <p:txEl>
                                              <p:charRg st="58" end="83"/>
                                            </p:txEl>
                                          </p:spTgt>
                                        </p:tgtEl>
                                        <p:attrNameLst>
                                          <p:attrName>style.visibility</p:attrName>
                                        </p:attrNameLst>
                                      </p:cBhvr>
                                      <p:to>
                                        <p:strVal val="visible"/>
                                      </p:to>
                                    </p:set>
                                    <p:animEffect transition="in" filter="wipe(down)">
                                      <p:cBhvr>
                                        <p:cTn id="16" dur="500"/>
                                        <p:tgtEl>
                                          <p:spTgt spid="51202">
                                            <p:txEl>
                                              <p:charRg st="58" end="8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1202">
                                            <p:txEl>
                                              <p:charRg st="83" end="108"/>
                                            </p:txEl>
                                          </p:spTgt>
                                        </p:tgtEl>
                                        <p:attrNameLst>
                                          <p:attrName>style.visibility</p:attrName>
                                        </p:attrNameLst>
                                      </p:cBhvr>
                                      <p:to>
                                        <p:strVal val="visible"/>
                                      </p:to>
                                    </p:set>
                                    <p:animEffect transition="in" filter="wipe(down)">
                                      <p:cBhvr>
                                        <p:cTn id="19" dur="500"/>
                                        <p:tgtEl>
                                          <p:spTgt spid="51202">
                                            <p:txEl>
                                              <p:charRg st="83" end="108"/>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1202">
                                            <p:txEl>
                                              <p:charRg st="133" end="183"/>
                                            </p:txEl>
                                          </p:spTgt>
                                        </p:tgtEl>
                                        <p:attrNameLst>
                                          <p:attrName>style.visibility</p:attrName>
                                        </p:attrNameLst>
                                      </p:cBhvr>
                                      <p:to>
                                        <p:strVal val="visible"/>
                                      </p:to>
                                    </p:set>
                                    <p:animEffect transition="in" filter="wipe(down)">
                                      <p:cBhvr>
                                        <p:cTn id="24" dur="500"/>
                                        <p:tgtEl>
                                          <p:spTgt spid="51202">
                                            <p:txEl>
                                              <p:charRg st="133" end="18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51202">
                                            <p:txEl>
                                              <p:charRg st="183" end="218"/>
                                            </p:txEl>
                                          </p:spTgt>
                                        </p:tgtEl>
                                        <p:attrNameLst>
                                          <p:attrName>style.visibility</p:attrName>
                                        </p:attrNameLst>
                                      </p:cBhvr>
                                      <p:to>
                                        <p:strVal val="visible"/>
                                      </p:to>
                                    </p:set>
                                    <p:animEffect transition="in" filter="wipe(down)">
                                      <p:cBhvr>
                                        <p:cTn id="29" dur="500"/>
                                        <p:tgtEl>
                                          <p:spTgt spid="51202">
                                            <p:txEl>
                                              <p:charRg st="183" end="21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51202">
                                            <p:txEl>
                                              <p:charRg st="218" end="274"/>
                                            </p:txEl>
                                          </p:spTgt>
                                        </p:tgtEl>
                                        <p:attrNameLst>
                                          <p:attrName>style.visibility</p:attrName>
                                        </p:attrNameLst>
                                      </p:cBhvr>
                                      <p:to>
                                        <p:strVal val="visible"/>
                                      </p:to>
                                    </p:set>
                                    <p:animEffect transition="in" filter="wipe(down)">
                                      <p:cBhvr>
                                        <p:cTn id="34" dur="500"/>
                                        <p:tgtEl>
                                          <p:spTgt spid="51202">
                                            <p:txEl>
                                              <p:charRg st="218" end="27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51202">
                                            <p:txEl>
                                              <p:charRg st="274" end="305"/>
                                            </p:txEl>
                                          </p:spTgt>
                                        </p:tgtEl>
                                        <p:attrNameLst>
                                          <p:attrName>style.visibility</p:attrName>
                                        </p:attrNameLst>
                                      </p:cBhvr>
                                      <p:to>
                                        <p:strVal val="visible"/>
                                      </p:to>
                                    </p:set>
                                    <p:animEffect transition="in" filter="wipe(down)">
                                      <p:cBhvr>
                                        <p:cTn id="39" dur="500"/>
                                        <p:tgtEl>
                                          <p:spTgt spid="51202">
                                            <p:txEl>
                                              <p:charRg st="274" end="305"/>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51202">
                                            <p:txEl>
                                              <p:charRg st="305" end="337"/>
                                            </p:txEl>
                                          </p:spTgt>
                                        </p:tgtEl>
                                        <p:attrNameLst>
                                          <p:attrName>style.visibility</p:attrName>
                                        </p:attrNameLst>
                                      </p:cBhvr>
                                      <p:to>
                                        <p:strVal val="visible"/>
                                      </p:to>
                                    </p:set>
                                    <p:animEffect transition="in" filter="wipe(down)">
                                      <p:cBhvr>
                                        <p:cTn id="44" dur="500"/>
                                        <p:tgtEl>
                                          <p:spTgt spid="51202">
                                            <p:txEl>
                                              <p:charRg st="305" end="33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51202">
                                            <p:txEl>
                                              <p:charRg st="337" end="350"/>
                                            </p:txEl>
                                          </p:spTgt>
                                        </p:tgtEl>
                                        <p:attrNameLst>
                                          <p:attrName>style.visibility</p:attrName>
                                        </p:attrNameLst>
                                      </p:cBhvr>
                                      <p:to>
                                        <p:strVal val="visible"/>
                                      </p:to>
                                    </p:set>
                                    <p:animEffect transition="in" filter="wipe(down)">
                                      <p:cBhvr>
                                        <p:cTn id="49" dur="500"/>
                                        <p:tgtEl>
                                          <p:spTgt spid="51202">
                                            <p:txEl>
                                              <p:charRg st="337" end="35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矩形 1"/>
          <p:cNvSpPr/>
          <p:nvPr/>
        </p:nvSpPr>
        <p:spPr>
          <a:xfrm>
            <a:off x="538163" y="76041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主键约束(Primary Key)</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52227" name="Rectangle 3"/>
          <p:cNvSpPr txBox="1"/>
          <p:nvPr/>
        </p:nvSpPr>
        <p:spPr>
          <a:xfrm>
            <a:off x="538163" y="1419225"/>
            <a:ext cx="8229600" cy="1638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ts val="25"/>
              </a:spcBef>
              <a:buClr>
                <a:srgbClr val="0000CC"/>
              </a:buClr>
            </a:pPr>
            <a:r>
              <a:rPr lang="zh-CN" altLang="en-US" sz="2200" dirty="0">
                <a:latin typeface="华文楷体" panose="02010600040101010101" pitchFamily="2" charset="-122"/>
              </a:rPr>
              <a:t>主键不能出现空值，且所有的值都是唯一的。在定义了主键限制后，系统自动为该表生成一个聚簇（Clustered）索引。 </a:t>
            </a:r>
            <a:endParaRPr lang="zh-CN" altLang="en-US" sz="2200" dirty="0">
              <a:latin typeface="华文楷体" panose="02010600040101010101" pitchFamily="2" charset="-122"/>
            </a:endParaRPr>
          </a:p>
          <a:p>
            <a:pPr marL="533400" lvl="0" indent="-533400" eaLnBrk="1" hangingPunct="1">
              <a:lnSpc>
                <a:spcPct val="110000"/>
              </a:lnSpc>
              <a:spcBef>
                <a:spcPts val="25"/>
              </a:spcBef>
              <a:buClr>
                <a:srgbClr val="0000CC"/>
              </a:buClr>
            </a:pPr>
            <a:r>
              <a:rPr lang="zh-CN" altLang="en-US" sz="2400" dirty="0">
                <a:latin typeface="华文楷体" panose="02010600040101010101" pitchFamily="2" charset="-122"/>
              </a:rPr>
              <a:t>定义方式分为列级检查和表级检查。</a:t>
            </a:r>
            <a:endParaRPr lang="zh-CN" altLang="en-US" sz="2400" dirty="0">
              <a:latin typeface="华文楷体" panose="02010600040101010101" pitchFamily="2" charset="-122"/>
            </a:endParaRPr>
          </a:p>
          <a:p>
            <a:pPr marL="533400" lvl="0" indent="-533400" eaLnBrk="1" hangingPunct="1">
              <a:lnSpc>
                <a:spcPct val="110000"/>
              </a:lnSpc>
              <a:spcBef>
                <a:spcPts val="25"/>
              </a:spcBef>
              <a:buClr>
                <a:srgbClr val="0000CC"/>
              </a:buClr>
            </a:pPr>
            <a:r>
              <a:rPr lang="zh-CN" altLang="en-US" sz="2400" dirty="0">
                <a:latin typeface="华文楷体" panose="02010600040101010101" pitchFamily="2" charset="-122"/>
              </a:rPr>
              <a:t>列级针对表中一列。</a:t>
            </a:r>
            <a:endParaRPr lang="zh-CN" altLang="en-US" sz="2200" dirty="0">
              <a:ea typeface="方正姚体" panose="02010601030101010101" pitchFamily="2" charset="-122"/>
            </a:endParaRPr>
          </a:p>
        </p:txBody>
      </p:sp>
      <p:sp>
        <p:nvSpPr>
          <p:cNvPr id="76804" name="文本框 1"/>
          <p:cNvSpPr txBox="1"/>
          <p:nvPr/>
        </p:nvSpPr>
        <p:spPr>
          <a:xfrm>
            <a:off x="827088" y="3086100"/>
            <a:ext cx="7804150" cy="3005138"/>
          </a:xfrm>
          <a:prstGeom prst="rect">
            <a:avLst/>
          </a:prstGeom>
          <a:noFill/>
          <a:ln w="9525" cap="flat" cmpd="sng">
            <a:solidFill>
              <a:srgbClr val="0033CC"/>
            </a:solidFill>
            <a:prstDash val="dash"/>
            <a:round/>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buClr>
                <a:srgbClr val="0000CC"/>
              </a:buClr>
              <a:buNone/>
            </a:pPr>
            <a:r>
              <a:rPr lang="zh-CN" altLang="zh-CN" sz="2400" u="sng" dirty="0">
                <a:solidFill>
                  <a:srgbClr val="A50021"/>
                </a:solidFill>
              </a:rPr>
              <a:t>例：列级主键约束</a:t>
            </a:r>
            <a:endParaRPr lang="zh-CN" altLang="zh-CN" sz="2400" u="sng" dirty="0">
              <a:solidFill>
                <a:srgbClr val="A50021"/>
              </a:solidFill>
            </a:endParaRPr>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create table stu</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SID char(10) primary key,</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SName varchar(20) NOT NULL,</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SGender char(1) check(SGender in ('F','M')),</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sym typeface="宋体" panose="02010600030101010101" pitchFamily="2" charset="-122"/>
              </a:rPr>
              <a:t>  SAge tinyint NOT NULL)</a:t>
            </a:r>
            <a:endParaRPr lang="zh-CN" altLang="en-US" sz="2200" dirty="0">
              <a:sym typeface="宋体" panose="02010600030101010101" pitchFamily="2" charset="-122"/>
            </a:endParaRPr>
          </a:p>
          <a:p>
            <a:pPr marL="0" lvl="0" indent="0" eaLnBrk="1" hangingPunct="1">
              <a:lnSpc>
                <a:spcPct val="115000"/>
              </a:lnSpc>
              <a:spcBef>
                <a:spcPct val="0"/>
              </a:spcBef>
              <a:buClrTx/>
              <a:buSzTx/>
              <a:buFont typeface="Arial" panose="020B0604020202020204" pitchFamily="34" charset="0"/>
              <a:buNone/>
            </a:pPr>
            <a:r>
              <a:rPr lang="en-US" altLang="zh-CN" sz="2200" dirty="0"/>
              <a:t>insert</a:t>
            </a:r>
            <a:r>
              <a:rPr lang="zh-CN" altLang="en-US" sz="2200" dirty="0"/>
              <a:t> stu </a:t>
            </a:r>
            <a:r>
              <a:rPr lang="en-US" altLang="zh-CN" sz="2200" dirty="0"/>
              <a:t>values('2015031003','</a:t>
            </a:r>
            <a:r>
              <a:rPr lang="zh-CN" altLang="en-US" sz="2200" dirty="0"/>
              <a:t>张强</a:t>
            </a:r>
            <a:r>
              <a:rPr lang="en-US" altLang="zh-CN" sz="2200" dirty="0"/>
              <a:t>','M',19)</a:t>
            </a:r>
            <a:endParaRPr lang="en-US" altLang="zh-CN" sz="2200" dirty="0"/>
          </a:p>
          <a:p>
            <a:pPr marL="0" lvl="0" indent="0" eaLnBrk="1" hangingPunct="1">
              <a:lnSpc>
                <a:spcPct val="115000"/>
              </a:lnSpc>
              <a:spcBef>
                <a:spcPct val="0"/>
              </a:spcBef>
              <a:buClrTx/>
              <a:buSzTx/>
              <a:buFont typeface="Arial" panose="020B0604020202020204" pitchFamily="34" charset="0"/>
              <a:buNone/>
            </a:pPr>
            <a:r>
              <a:rPr lang="en-US" altLang="zh-CN" sz="2200" dirty="0"/>
              <a:t>insert</a:t>
            </a:r>
            <a:r>
              <a:rPr lang="zh-CN" altLang="en-US" sz="2200" dirty="0"/>
              <a:t> stu </a:t>
            </a:r>
            <a:r>
              <a:rPr lang="en-US" altLang="zh-CN" sz="2200" dirty="0"/>
              <a:t>values(</a:t>
            </a:r>
            <a:r>
              <a:rPr lang="en-US" altLang="zh-CN" sz="2200" dirty="0">
                <a:solidFill>
                  <a:srgbClr val="FF0000"/>
                </a:solidFill>
              </a:rPr>
              <a:t>'2015031003'</a:t>
            </a:r>
            <a:r>
              <a:rPr lang="en-US" altLang="zh-CN" sz="2200" dirty="0"/>
              <a:t>,'</a:t>
            </a:r>
            <a:r>
              <a:rPr lang="zh-CN" altLang="en-US" sz="2200" dirty="0"/>
              <a:t>王红</a:t>
            </a:r>
            <a:r>
              <a:rPr lang="en-US" altLang="zh-CN" sz="2200" dirty="0"/>
              <a:t>','F',20)</a:t>
            </a:r>
            <a:endParaRPr lang="zh-CN" altLang="en-US" sz="2200" dirty="0"/>
          </a:p>
        </p:txBody>
      </p:sp>
      <p:grpSp>
        <p:nvGrpSpPr>
          <p:cNvPr id="47113" name="Group 5"/>
          <p:cNvGrpSpPr/>
          <p:nvPr/>
        </p:nvGrpSpPr>
        <p:grpSpPr>
          <a:xfrm>
            <a:off x="6515100" y="4802188"/>
            <a:ext cx="2208213" cy="1042987"/>
            <a:chOff x="0" y="0"/>
            <a:chExt cx="1516" cy="769"/>
          </a:xfrm>
        </p:grpSpPr>
        <p:sp>
          <p:nvSpPr>
            <p:cNvPr id="76807" name="Oval 6"/>
            <p:cNvSpPr/>
            <p:nvPr/>
          </p:nvSpPr>
          <p:spPr>
            <a:xfrm>
              <a:off x="440" y="0"/>
              <a:ext cx="1076" cy="551"/>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违反主键约束</a:t>
              </a:r>
              <a:endParaRPr lang="zh-CN" altLang="en-US" dirty="0">
                <a:solidFill>
                  <a:srgbClr val="04040A"/>
                </a:solidFill>
                <a:latin typeface="宋体" panose="02010600030101010101" pitchFamily="2" charset="-122"/>
              </a:endParaRPr>
            </a:p>
          </p:txBody>
        </p:sp>
        <p:sp>
          <p:nvSpPr>
            <p:cNvPr id="76808" name="Line 7"/>
            <p:cNvSpPr/>
            <p:nvPr/>
          </p:nvSpPr>
          <p:spPr>
            <a:xfrm flipH="1">
              <a:off x="0" y="387"/>
              <a:ext cx="440" cy="382"/>
            </a:xfrm>
            <a:prstGeom prst="line">
              <a:avLst/>
            </a:prstGeom>
            <a:ln w="38100" cap="flat" cmpd="sng">
              <a:solidFill>
                <a:srgbClr val="CC3300"/>
              </a:solidFill>
              <a:prstDash val="solid"/>
              <a:headEnd type="none" w="med" len="med"/>
              <a:tailEnd type="triangle" w="med" len="med"/>
            </a:ln>
          </p:spPr>
        </p:sp>
      </p:grpSp>
      <p:sp>
        <p:nvSpPr>
          <p:cNvPr id="7680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2227">
                                            <p:txEl>
                                              <p:charRg st="0" end="59"/>
                                            </p:txEl>
                                          </p:spTgt>
                                        </p:tgtEl>
                                        <p:attrNameLst>
                                          <p:attrName>style.visibility</p:attrName>
                                        </p:attrNameLst>
                                      </p:cBhvr>
                                      <p:to>
                                        <p:strVal val="visible"/>
                                      </p:to>
                                    </p:set>
                                    <p:anim calcmode="lin" valueType="num">
                                      <p:cBhvr>
                                        <p:cTn id="7" dur="500" fill="hold"/>
                                        <p:tgtEl>
                                          <p:spTgt spid="52227">
                                            <p:txEl>
                                              <p:charRg st="0" end="59"/>
                                            </p:txEl>
                                          </p:spTgt>
                                        </p:tgtEl>
                                        <p:attrNameLst>
                                          <p:attrName>ppt_w</p:attrName>
                                        </p:attrNameLst>
                                      </p:cBhvr>
                                      <p:tavLst>
                                        <p:tav tm="0">
                                          <p:val>
                                            <p:fltVal val="0.000000"/>
                                          </p:val>
                                        </p:tav>
                                        <p:tav tm="100000">
                                          <p:val>
                                            <p:strVal val="#ppt_w"/>
                                          </p:val>
                                        </p:tav>
                                      </p:tavLst>
                                    </p:anim>
                                    <p:anim calcmode="lin" valueType="num">
                                      <p:cBhvr>
                                        <p:cTn id="8" dur="500" fill="hold"/>
                                        <p:tgtEl>
                                          <p:spTgt spid="52227">
                                            <p:txEl>
                                              <p:charRg st="0" end="59"/>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2227">
                                            <p:txEl>
                                              <p:charRg st="59" end="76"/>
                                            </p:txEl>
                                          </p:spTgt>
                                        </p:tgtEl>
                                        <p:attrNameLst>
                                          <p:attrName>style.visibility</p:attrName>
                                        </p:attrNameLst>
                                      </p:cBhvr>
                                      <p:to>
                                        <p:strVal val="visible"/>
                                      </p:to>
                                    </p:set>
                                    <p:anim calcmode="lin" valueType="num">
                                      <p:cBhvr>
                                        <p:cTn id="13" dur="500" fill="hold"/>
                                        <p:tgtEl>
                                          <p:spTgt spid="52227">
                                            <p:txEl>
                                              <p:charRg st="59" end="76"/>
                                            </p:txEl>
                                          </p:spTgt>
                                        </p:tgtEl>
                                        <p:attrNameLst>
                                          <p:attrName>ppt_w</p:attrName>
                                        </p:attrNameLst>
                                      </p:cBhvr>
                                      <p:tavLst>
                                        <p:tav tm="0">
                                          <p:val>
                                            <p:fltVal val="0.000000"/>
                                          </p:val>
                                        </p:tav>
                                        <p:tav tm="100000">
                                          <p:val>
                                            <p:strVal val="#ppt_w"/>
                                          </p:val>
                                        </p:tav>
                                      </p:tavLst>
                                    </p:anim>
                                    <p:anim calcmode="lin" valueType="num">
                                      <p:cBhvr>
                                        <p:cTn id="14" dur="500" fill="hold"/>
                                        <p:tgtEl>
                                          <p:spTgt spid="52227">
                                            <p:txEl>
                                              <p:charRg st="59" end="76"/>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2227">
                                            <p:txEl>
                                              <p:charRg st="76" end="86"/>
                                            </p:txEl>
                                          </p:spTgt>
                                        </p:tgtEl>
                                        <p:attrNameLst>
                                          <p:attrName>style.visibility</p:attrName>
                                        </p:attrNameLst>
                                      </p:cBhvr>
                                      <p:to>
                                        <p:strVal val="visible"/>
                                      </p:to>
                                    </p:set>
                                    <p:anim calcmode="lin" valueType="num">
                                      <p:cBhvr>
                                        <p:cTn id="19" dur="500" fill="hold"/>
                                        <p:tgtEl>
                                          <p:spTgt spid="52227">
                                            <p:txEl>
                                              <p:charRg st="76" end="86"/>
                                            </p:txEl>
                                          </p:spTgt>
                                        </p:tgtEl>
                                        <p:attrNameLst>
                                          <p:attrName>ppt_w</p:attrName>
                                        </p:attrNameLst>
                                      </p:cBhvr>
                                      <p:tavLst>
                                        <p:tav tm="0">
                                          <p:val>
                                            <p:fltVal val="0.000000"/>
                                          </p:val>
                                        </p:tav>
                                        <p:tav tm="100000">
                                          <p:val>
                                            <p:strVal val="#ppt_w"/>
                                          </p:val>
                                        </p:tav>
                                      </p:tavLst>
                                    </p:anim>
                                    <p:anim calcmode="lin" valueType="num">
                                      <p:cBhvr>
                                        <p:cTn id="20" dur="500" fill="hold"/>
                                        <p:tgtEl>
                                          <p:spTgt spid="52227">
                                            <p:txEl>
                                              <p:charRg st="76" end="86"/>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 fill="hold">
                                          <p:stCondLst>
                                            <p:cond delay="0"/>
                                          </p:stCondLst>
                                        </p:cTn>
                                        <p:tgtEl>
                                          <p:spTgt spid="47113"/>
                                        </p:tgtEl>
                                        <p:attrNameLst>
                                          <p:attrName>style.visibility</p:attrName>
                                        </p:attrNameLst>
                                      </p:cBhvr>
                                      <p:to>
                                        <p:strVal val="visible"/>
                                      </p:to>
                                    </p:set>
                                    <p:animEffect transition="in" filter="wedge">
                                      <p:cBhvr>
                                        <p:cTn id="25"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7" grpId="0" uiExpand="1"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4"/>
          <p:cNvSpPr txBox="1"/>
          <p:nvPr/>
        </p:nvSpPr>
        <p:spPr>
          <a:xfrm>
            <a:off x="538163" y="1419225"/>
            <a:ext cx="8069262" cy="4435475"/>
          </a:xfrm>
          <a:prstGeom prst="rect">
            <a:avLst/>
          </a:prstGeom>
          <a:noFill/>
          <a:ln w="9525" cap="flat" cmpd="sng">
            <a:solidFill>
              <a:srgbClr val="0033CC"/>
            </a:solidFill>
            <a:prstDash val="dash"/>
            <a:round/>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buClr>
                <a:srgbClr val="0000CC"/>
              </a:buClr>
              <a:buFont typeface="Arial" panose="020B0604020202020204" pitchFamily="34" charset="0"/>
              <a:buNone/>
            </a:pPr>
            <a:r>
              <a:rPr lang="zh-CN" altLang="en-US" sz="2400" u="sng" dirty="0">
                <a:solidFill>
                  <a:srgbClr val="FF0000"/>
                </a:solidFill>
              </a:rPr>
              <a:t>例</a:t>
            </a:r>
            <a:r>
              <a:rPr lang="en-US" altLang="zh-CN" sz="2400" u="sng" dirty="0">
                <a:solidFill>
                  <a:srgbClr val="FF0000"/>
                </a:solidFill>
              </a:rPr>
              <a:t>2</a:t>
            </a:r>
            <a:r>
              <a:rPr lang="zh-CN" altLang="en-US" sz="2400" u="sng" dirty="0">
                <a:solidFill>
                  <a:srgbClr val="FF0000"/>
                </a:solidFill>
              </a:rPr>
              <a:t>：表级主键约束：</a:t>
            </a:r>
            <a:endParaRPr lang="zh-CN" altLang="en-US" sz="2400" u="sng" dirty="0">
              <a:solidFill>
                <a:srgbClr val="FF0000"/>
              </a:solidFill>
            </a:endParaRPr>
          </a:p>
          <a:p>
            <a:pPr marL="533400" lvl="0" indent="-533400" eaLnBrk="1" hangingPunct="1">
              <a:lnSpc>
                <a:spcPct val="105000"/>
              </a:lnSpc>
              <a:spcBef>
                <a:spcPts val="60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CREATE TABLE  ctake</a:t>
            </a:r>
            <a:endParaRPr lang="en-US" altLang="zh-CN" sz="2400" i="1" dirty="0">
              <a:latin typeface="Times New Roman" panose="02020603050405020304" pitchFamily="18" charset="0"/>
              <a:ea typeface="Arial Unicode MS" pitchFamily="3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  (  CID  char(10)  Foreign key references  Course(CID) ,</a:t>
            </a:r>
            <a:endParaRPr lang="en-US" altLang="zh-CN" sz="2400" i="1" dirty="0">
              <a:latin typeface="Times New Roman" panose="02020603050405020304" pitchFamily="18" charset="0"/>
              <a:ea typeface="Arial Unicode MS" pitchFamily="3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     SID  char(10)  Foreign key references stu(SID) on delete cascade on update cascade,</a:t>
            </a:r>
            <a:endParaRPr lang="en-US" altLang="zh-CN" sz="2400" i="1" dirty="0">
              <a:latin typeface="Times New Roman" panose="02020603050405020304" pitchFamily="18" charset="0"/>
              <a:ea typeface="Arial Unicode MS" pitchFamily="3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     mark      smallint,</a:t>
            </a:r>
            <a:endParaRPr lang="en-US" altLang="zh-CN" sz="2400" i="1" dirty="0">
              <a:latin typeface="Times New Roman" panose="02020603050405020304" pitchFamily="18" charset="0"/>
              <a:ea typeface="Arial Unicode MS" pitchFamily="3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     term char(6),</a:t>
            </a:r>
            <a:endParaRPr lang="en-US" altLang="zh-CN" sz="2400" i="1" dirty="0">
              <a:latin typeface="Times New Roman" panose="02020603050405020304" pitchFamily="18" charset="0"/>
              <a:ea typeface="Arial Unicode MS" pitchFamily="3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     </a:t>
            </a:r>
            <a:r>
              <a:rPr lang="en-US" altLang="zh-CN" sz="2400" i="1" dirty="0">
                <a:solidFill>
                  <a:srgbClr val="FF0000"/>
                </a:solidFill>
                <a:latin typeface="Times New Roman" panose="02020603050405020304" pitchFamily="18" charset="0"/>
                <a:ea typeface="Arial Unicode MS" pitchFamily="34" charset="-122"/>
              </a:rPr>
              <a:t>PRIMARY KEY (CID,SID)</a:t>
            </a:r>
            <a:endParaRPr lang="en-US" altLang="zh-CN" sz="2400" i="1" dirty="0">
              <a:solidFill>
                <a:srgbClr val="FF0000"/>
              </a:solidFill>
              <a:latin typeface="Times New Roman" panose="02020603050405020304" pitchFamily="18" charset="0"/>
              <a:ea typeface="Arial Unicode MS" pitchFamily="34" charset="-122"/>
            </a:endParaRPr>
          </a:p>
          <a:p>
            <a:pPr marL="533400" lvl="0" indent="-533400" eaLnBrk="1" hangingPunct="1">
              <a:lnSpc>
                <a:spcPct val="105000"/>
              </a:lnSpc>
              <a:spcBef>
                <a:spcPct val="0"/>
              </a:spcBef>
              <a:buClr>
                <a:srgbClr val="0000CC"/>
              </a:buClr>
              <a:buFont typeface="Arial" panose="020B0604020202020204" pitchFamily="34" charset="0"/>
              <a:buNone/>
            </a:pPr>
            <a:r>
              <a:rPr lang="en-US" altLang="zh-CN" sz="2400" i="1" dirty="0">
                <a:latin typeface="Times New Roman" panose="02020603050405020304" pitchFamily="18" charset="0"/>
                <a:ea typeface="Arial Unicode MS" pitchFamily="34" charset="-122"/>
              </a:rPr>
              <a:t>)</a:t>
            </a:r>
            <a:endParaRPr lang="en-US" altLang="zh-CN" sz="24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dirty="0">
                <a:sym typeface="宋体" panose="02010600030101010101" pitchFamily="2" charset="-122"/>
              </a:rPr>
              <a:t>insert Ctake(CID,SID,mark) values('bk1003','2015031003',88)</a:t>
            </a:r>
            <a:endParaRPr lang="en-US" altLang="zh-CN" sz="2200" dirty="0">
              <a:sym typeface="宋体" panose="02010600030101010101" pitchFamily="2" charset="-122"/>
            </a:endParaRPr>
          </a:p>
          <a:p>
            <a:pPr marL="533400" lvl="0" indent="-533400" eaLnBrk="1" hangingPunct="1">
              <a:spcBef>
                <a:spcPct val="0"/>
              </a:spcBef>
              <a:buClr>
                <a:srgbClr val="0000CC"/>
              </a:buClr>
              <a:buFont typeface="Arial" panose="020B0604020202020204" pitchFamily="34" charset="0"/>
              <a:buNone/>
            </a:pPr>
            <a:r>
              <a:rPr lang="en-US" altLang="zh-CN" sz="2200" dirty="0">
                <a:sym typeface="宋体" panose="02010600030101010101" pitchFamily="2" charset="-122"/>
              </a:rPr>
              <a:t>insert Ctake(CID,SID,mark) values(</a:t>
            </a:r>
            <a:r>
              <a:rPr lang="en-US" altLang="zh-CN" sz="2200" dirty="0">
                <a:solidFill>
                  <a:srgbClr val="FF0000"/>
                </a:solidFill>
                <a:sym typeface="宋体" panose="02010600030101010101" pitchFamily="2" charset="-122"/>
              </a:rPr>
              <a:t>'bk1003','2015031003'</a:t>
            </a:r>
            <a:r>
              <a:rPr lang="en-US" altLang="zh-CN" sz="2200" dirty="0">
                <a:sym typeface="宋体" panose="02010600030101010101" pitchFamily="2" charset="-122"/>
              </a:rPr>
              <a:t>,85)</a:t>
            </a:r>
            <a:endParaRPr lang="zh-CN" altLang="en-US" sz="2200" dirty="0"/>
          </a:p>
          <a:p>
            <a:pPr marL="533400" lvl="0" indent="-533400" eaLnBrk="1" hangingPunct="1">
              <a:spcBef>
                <a:spcPct val="0"/>
              </a:spcBef>
              <a:buClr>
                <a:srgbClr val="0000CC"/>
              </a:buClr>
              <a:buFont typeface="Arial" panose="020B0604020202020204" pitchFamily="34" charset="0"/>
              <a:buNone/>
            </a:pPr>
            <a:endParaRPr lang="en-US" altLang="zh-CN" sz="2200" dirty="0">
              <a:sym typeface="宋体" panose="02010600030101010101" pitchFamily="2" charset="-122"/>
            </a:endParaRPr>
          </a:p>
          <a:p>
            <a:pPr marL="533400" lvl="0" indent="-533400" eaLnBrk="1" hangingPunct="1">
              <a:spcBef>
                <a:spcPct val="0"/>
              </a:spcBef>
              <a:buClr>
                <a:srgbClr val="0000CC"/>
              </a:buClr>
              <a:buFont typeface="Arial" panose="020B0604020202020204" pitchFamily="34" charset="0"/>
              <a:buNone/>
            </a:pPr>
            <a:endParaRPr lang="en-US" altLang="zh-CN" sz="2400" i="1" dirty="0">
              <a:latin typeface="Times New Roman" panose="02020603050405020304" pitchFamily="18" charset="0"/>
              <a:ea typeface="Arial Unicode MS" pitchFamily="34" charset="-122"/>
            </a:endParaRPr>
          </a:p>
          <a:p>
            <a:pPr marL="533400" lvl="0" indent="-533400" eaLnBrk="1" hangingPunct="1">
              <a:lnSpc>
                <a:spcPct val="50000"/>
              </a:lnSpc>
              <a:spcBef>
                <a:spcPct val="0"/>
              </a:spcBef>
              <a:buFont typeface="Arial" panose="020B0604020202020204" pitchFamily="34" charset="0"/>
              <a:buNone/>
            </a:pPr>
            <a:r>
              <a:rPr lang="zh-CN" altLang="en-US" i="1" dirty="0">
                <a:latin typeface="Times New Roman" panose="02020603050405020304" pitchFamily="18" charset="0"/>
                <a:ea typeface="方正姚体" panose="02010601030101010101" pitchFamily="2" charset="-122"/>
              </a:rPr>
              <a:t> </a:t>
            </a:r>
            <a:endParaRPr lang="de-DE" altLang="en-US" sz="2200" dirty="0">
              <a:latin typeface="华文楷体" panose="02010600040101010101" pitchFamily="2" charset="-122"/>
            </a:endParaRPr>
          </a:p>
        </p:txBody>
      </p:sp>
      <p:grpSp>
        <p:nvGrpSpPr>
          <p:cNvPr id="47113" name="Group 5"/>
          <p:cNvGrpSpPr/>
          <p:nvPr/>
        </p:nvGrpSpPr>
        <p:grpSpPr>
          <a:xfrm>
            <a:off x="6253163" y="3854450"/>
            <a:ext cx="2249487" cy="1543050"/>
            <a:chOff x="114" y="-8"/>
            <a:chExt cx="1402" cy="967"/>
          </a:xfrm>
        </p:grpSpPr>
        <p:sp>
          <p:nvSpPr>
            <p:cNvPr id="77830" name="Oval 6"/>
            <p:cNvSpPr/>
            <p:nvPr/>
          </p:nvSpPr>
          <p:spPr>
            <a:xfrm>
              <a:off x="317" y="-8"/>
              <a:ext cx="1199" cy="551"/>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4040A"/>
                  </a:solidFill>
                  <a:latin typeface="宋体" panose="02010600030101010101" pitchFamily="2" charset="-122"/>
                </a:rPr>
                <a:t>违反主键约束</a:t>
              </a:r>
              <a:endParaRPr lang="zh-CN" altLang="en-US" dirty="0">
                <a:solidFill>
                  <a:srgbClr val="04040A"/>
                </a:solidFill>
                <a:latin typeface="宋体" panose="02010600030101010101" pitchFamily="2" charset="-122"/>
              </a:endParaRPr>
            </a:p>
          </p:txBody>
        </p:sp>
        <p:sp>
          <p:nvSpPr>
            <p:cNvPr id="77831" name="Line 7"/>
            <p:cNvSpPr/>
            <p:nvPr/>
          </p:nvSpPr>
          <p:spPr>
            <a:xfrm flipH="1">
              <a:off x="114" y="445"/>
              <a:ext cx="376" cy="514"/>
            </a:xfrm>
            <a:prstGeom prst="line">
              <a:avLst/>
            </a:prstGeom>
            <a:ln w="38100" cap="flat" cmpd="sng">
              <a:solidFill>
                <a:srgbClr val="CC3300"/>
              </a:solidFill>
              <a:prstDash val="solid"/>
              <a:headEnd type="none" w="med" len="med"/>
              <a:tailEnd type="triangle" w="med" len="med"/>
            </a:ln>
          </p:spPr>
        </p:sp>
      </p:grpSp>
      <p:sp>
        <p:nvSpPr>
          <p:cNvPr id="77828" name="矩形 1"/>
          <p:cNvSpPr/>
          <p:nvPr/>
        </p:nvSpPr>
        <p:spPr>
          <a:xfrm>
            <a:off x="538163" y="76041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主键约束(Primary Key)</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782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7113"/>
                                        </p:tgtEl>
                                        <p:attrNameLst>
                                          <p:attrName>style.visibility</p:attrName>
                                        </p:attrNameLst>
                                      </p:cBhvr>
                                      <p:to>
                                        <p:strVal val="visible"/>
                                      </p:to>
                                    </p:set>
                                    <p:animEffect transition="in" filter="wedge">
                                      <p:cBhvr>
                                        <p:cTn id="7"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5.唯一约束(Unique)</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54275" name="Rectangle 4"/>
          <p:cNvSpPr txBox="1"/>
          <p:nvPr/>
        </p:nvSpPr>
        <p:spPr>
          <a:xfrm>
            <a:off x="571500" y="1473200"/>
            <a:ext cx="8229600" cy="39878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buClr>
                <a:srgbClr val="0000CC"/>
              </a:buClr>
            </a:pPr>
            <a:r>
              <a:rPr lang="zh-CN" altLang="en-US" sz="2400" u="sng" dirty="0">
                <a:solidFill>
                  <a:srgbClr val="FF0000"/>
                </a:solidFill>
                <a:latin typeface="华文楷体" panose="02010600040101010101" pitchFamily="2" charset="-122"/>
              </a:rPr>
              <a:t>主要是针对候选键的限制。</a:t>
            </a:r>
            <a:r>
              <a:rPr lang="zh-CN" altLang="en-US" sz="2400" dirty="0">
                <a:latin typeface="华文楷体" panose="02010600040101010101" pitchFamily="2" charset="-122"/>
              </a:rPr>
              <a:t>在定义了惟一限制后，</a:t>
            </a:r>
            <a:r>
              <a:rPr lang="zh-CN" altLang="en-US" sz="2400" dirty="0">
                <a:solidFill>
                  <a:srgbClr val="0033CC"/>
                </a:solidFill>
                <a:latin typeface="华文楷体" panose="02010600040101010101" pitchFamily="2" charset="-122"/>
              </a:rPr>
              <a:t>系统自动为该表生成一个非聚簇索引。</a:t>
            </a:r>
            <a:r>
              <a:rPr lang="zh-CN" altLang="en-US" sz="2400" dirty="0">
                <a:latin typeface="华文楷体" panose="02010600040101010101" pitchFamily="2" charset="-122"/>
              </a:rPr>
              <a:t>用户在定义时也可改成聚簇索引 。</a:t>
            </a:r>
            <a:endParaRPr lang="zh-CN" altLang="en-US" sz="2400" dirty="0">
              <a:latin typeface="华文楷体" panose="02010600040101010101" pitchFamily="2" charset="-122"/>
            </a:endParaRPr>
          </a:p>
          <a:p>
            <a:pPr marL="533400" lvl="0" indent="-533400" eaLnBrk="1" hangingPunct="1">
              <a:lnSpc>
                <a:spcPct val="110000"/>
              </a:lnSpc>
              <a:buClr>
                <a:srgbClr val="0000CC"/>
              </a:buClr>
            </a:pPr>
            <a:r>
              <a:rPr lang="zh-CN" altLang="en-US" sz="2400" dirty="0">
                <a:latin typeface="华文楷体" panose="02010600040101010101" pitchFamily="2" charset="-122"/>
              </a:rPr>
              <a:t>与主键约束的区别：</a:t>
            </a:r>
            <a:r>
              <a:rPr lang="zh-CN" altLang="en-US" sz="2400" u="sng" dirty="0">
                <a:solidFill>
                  <a:srgbClr val="FF0000"/>
                </a:solidFill>
                <a:latin typeface="华文楷体" panose="02010600040101010101" pitchFamily="2" charset="-122"/>
              </a:rPr>
              <a:t>所有值唯一，最多只能有一个空值。</a:t>
            </a:r>
            <a:r>
              <a:rPr lang="zh-CN" altLang="en-US" sz="2400" dirty="0">
                <a:latin typeface="华文楷体" panose="02010600040101010101" pitchFamily="2" charset="-122"/>
              </a:rPr>
              <a:t>默认索引为非聚簇（NonClustered）索引。 </a:t>
            </a:r>
            <a:endParaRPr lang="zh-CN" altLang="en-US" sz="2400" dirty="0">
              <a:latin typeface="华文楷体" panose="02010600040101010101" pitchFamily="2" charset="-122"/>
            </a:endParaRPr>
          </a:p>
          <a:p>
            <a:pPr marL="533400" lvl="0" indent="-533400" eaLnBrk="1" hangingPunct="1">
              <a:lnSpc>
                <a:spcPct val="110000"/>
              </a:lnSpc>
              <a:buClr>
                <a:srgbClr val="0000CC"/>
              </a:buClr>
            </a:pPr>
            <a:r>
              <a:rPr lang="zh-CN" altLang="en-US" sz="2400" dirty="0">
                <a:latin typeface="华文楷体" panose="02010600040101010101" pitchFamily="2" charset="-122"/>
              </a:rPr>
              <a:t>分为列级检查和表级检查。</a:t>
            </a:r>
            <a:endParaRPr lang="zh-CN" altLang="en-US" sz="2400" dirty="0">
              <a:latin typeface="华文楷体" panose="02010600040101010101" pitchFamily="2" charset="-122"/>
            </a:endParaRPr>
          </a:p>
          <a:p>
            <a:pPr marL="533400" lvl="0" indent="-533400" eaLnBrk="1" hangingPunct="1">
              <a:lnSpc>
                <a:spcPct val="110000"/>
              </a:lnSpc>
              <a:buClr>
                <a:srgbClr val="0000CC"/>
              </a:buClr>
            </a:pPr>
            <a:r>
              <a:rPr lang="zh-CN" altLang="en-US" sz="2400" u="sng" dirty="0">
                <a:solidFill>
                  <a:srgbClr val="FF0000"/>
                </a:solidFill>
                <a:latin typeface="华文楷体" panose="02010600040101010101" pitchFamily="2" charset="-122"/>
              </a:rPr>
              <a:t>列级唯一限制</a:t>
            </a:r>
            <a:r>
              <a:rPr lang="zh-CN" altLang="en-US" sz="2400" dirty="0">
                <a:solidFill>
                  <a:srgbClr val="FF0000"/>
                </a:solidFill>
                <a:latin typeface="华文楷体" panose="02010600040101010101" pitchFamily="2" charset="-122"/>
              </a:rPr>
              <a:t>：</a:t>
            </a:r>
            <a:endParaRPr lang="zh-CN" altLang="en-US" sz="2400" dirty="0">
              <a:solidFill>
                <a:srgbClr val="FF0000"/>
              </a:solidFill>
              <a:latin typeface="华文楷体" panose="02010600040101010101" pitchFamily="2" charset="-122"/>
            </a:endParaRPr>
          </a:p>
          <a:p>
            <a:pPr marL="533400" lvl="0" indent="-533400" eaLnBrk="1" hangingPunct="1">
              <a:lnSpc>
                <a:spcPct val="90000"/>
              </a:lnSpc>
              <a:buClr>
                <a:srgbClr val="0000CC"/>
              </a:buClr>
              <a:buFont typeface="Arial" panose="020B0604020202020204" pitchFamily="34" charset="0"/>
              <a:buNone/>
            </a:pPr>
            <a:r>
              <a:rPr lang="zh-CN" altLang="en-US" sz="2400" i="1" dirty="0"/>
              <a:t>CREATE TABLE  publishers</a:t>
            </a:r>
            <a:endParaRPr lang="zh-CN" altLang="en-US" sz="2400" i="1" dirty="0"/>
          </a:p>
          <a:p>
            <a:pPr marL="533400" lvl="0" indent="-533400" eaLnBrk="1" hangingPunct="1">
              <a:lnSpc>
                <a:spcPct val="90000"/>
              </a:lnSpc>
              <a:spcBef>
                <a:spcPct val="0"/>
              </a:spcBef>
              <a:buFont typeface="Arial" panose="020B0604020202020204" pitchFamily="34" charset="0"/>
              <a:buNone/>
            </a:pPr>
            <a:r>
              <a:rPr lang="zh-CN" altLang="en-US" sz="2400" i="1" dirty="0"/>
              <a:t>    ( pub_id		char(4)	 </a:t>
            </a:r>
            <a:r>
              <a:rPr lang="de-DE" altLang="en-US" sz="2400" i="1" dirty="0">
                <a:solidFill>
                  <a:srgbClr val="A50021"/>
                </a:solidFill>
              </a:rPr>
              <a:t>UNIQUE</a:t>
            </a:r>
            <a:r>
              <a:rPr lang="zh-CN" altLang="en-US" sz="2400" i="1" dirty="0"/>
              <a:t>,</a:t>
            </a:r>
            <a:endParaRPr lang="zh-CN" altLang="en-US" sz="2400" i="1" dirty="0"/>
          </a:p>
          <a:p>
            <a:pPr marL="533400" lvl="0" indent="-533400" eaLnBrk="1" hangingPunct="1">
              <a:lnSpc>
                <a:spcPct val="90000"/>
              </a:lnSpc>
              <a:spcBef>
                <a:spcPct val="0"/>
              </a:spcBef>
              <a:buFont typeface="Arial" panose="020B0604020202020204" pitchFamily="34" charset="0"/>
              <a:buNone/>
            </a:pPr>
            <a:r>
              <a:rPr lang="zh-CN" altLang="en-US" sz="2400" i="1" dirty="0"/>
              <a:t>	pub_name	char(30))</a:t>
            </a:r>
            <a:endParaRPr lang="zh-CN" altLang="en-US" sz="2400" i="1" dirty="0"/>
          </a:p>
          <a:p>
            <a:pPr marL="533400" lvl="0" indent="-533400" eaLnBrk="1" hangingPunct="1">
              <a:lnSpc>
                <a:spcPct val="110000"/>
              </a:lnSpc>
              <a:spcBef>
                <a:spcPts val="300"/>
              </a:spcBef>
              <a:buFont typeface="Arial" panose="020B0604020202020204" pitchFamily="34" charset="0"/>
              <a:buNone/>
            </a:pPr>
            <a:r>
              <a:rPr lang="de-DE" altLang="en-US" sz="2400" dirty="0">
                <a:solidFill>
                  <a:srgbClr val="0033CC"/>
                </a:solidFill>
                <a:latin typeface="华文楷体" panose="02010600040101010101" pitchFamily="2" charset="-122"/>
              </a:rPr>
              <a:t>UNIQUE</a:t>
            </a:r>
            <a:r>
              <a:rPr lang="zh-CN" altLang="en-US" sz="2400" dirty="0">
                <a:solidFill>
                  <a:srgbClr val="0033CC"/>
                </a:solidFill>
                <a:latin typeface="华文楷体" panose="02010600040101010101" pitchFamily="2" charset="-122"/>
              </a:rPr>
              <a:t>是定义唯一约束的命令关键字。</a:t>
            </a:r>
            <a:endParaRPr lang="zh-CN" altLang="en-US" sz="2400" dirty="0">
              <a:solidFill>
                <a:srgbClr val="0033CC"/>
              </a:solidFill>
              <a:latin typeface="华文楷体" panose="02010600040101010101" pitchFamily="2" charset="-122"/>
            </a:endParaRPr>
          </a:p>
        </p:txBody>
      </p:sp>
      <p:sp>
        <p:nvSpPr>
          <p:cNvPr id="7885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4275">
                                            <p:txEl>
                                              <p:charRg st="0" end="56"/>
                                            </p:txEl>
                                          </p:spTgt>
                                        </p:tgtEl>
                                        <p:attrNameLst>
                                          <p:attrName>style.visibility</p:attrName>
                                        </p:attrNameLst>
                                      </p:cBhvr>
                                      <p:to>
                                        <p:strVal val="visible"/>
                                      </p:to>
                                    </p:set>
                                    <p:anim calcmode="lin" valueType="num">
                                      <p:cBhvr>
                                        <p:cTn id="7" dur="500" fill="hold"/>
                                        <p:tgtEl>
                                          <p:spTgt spid="54275">
                                            <p:txEl>
                                              <p:charRg st="0" end="56"/>
                                            </p:txEl>
                                          </p:spTgt>
                                        </p:tgtEl>
                                        <p:attrNameLst>
                                          <p:attrName>ppt_w</p:attrName>
                                        </p:attrNameLst>
                                      </p:cBhvr>
                                      <p:tavLst>
                                        <p:tav tm="0">
                                          <p:val>
                                            <p:fltVal val="0.000000"/>
                                          </p:val>
                                        </p:tav>
                                        <p:tav tm="100000">
                                          <p:val>
                                            <p:strVal val="#ppt_w"/>
                                          </p:val>
                                        </p:tav>
                                      </p:tavLst>
                                    </p:anim>
                                    <p:anim calcmode="lin" valueType="num">
                                      <p:cBhvr>
                                        <p:cTn id="8" dur="500" fill="hold"/>
                                        <p:tgtEl>
                                          <p:spTgt spid="54275">
                                            <p:txEl>
                                              <p:charRg st="0" end="56"/>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4275">
                                            <p:txEl>
                                              <p:charRg st="56" end="108"/>
                                            </p:txEl>
                                          </p:spTgt>
                                        </p:tgtEl>
                                        <p:attrNameLst>
                                          <p:attrName>style.visibility</p:attrName>
                                        </p:attrNameLst>
                                      </p:cBhvr>
                                      <p:to>
                                        <p:strVal val="visible"/>
                                      </p:to>
                                    </p:set>
                                    <p:anim calcmode="lin" valueType="num">
                                      <p:cBhvr>
                                        <p:cTn id="13" dur="500" fill="hold"/>
                                        <p:tgtEl>
                                          <p:spTgt spid="54275">
                                            <p:txEl>
                                              <p:charRg st="56" end="108"/>
                                            </p:txEl>
                                          </p:spTgt>
                                        </p:tgtEl>
                                        <p:attrNameLst>
                                          <p:attrName>ppt_w</p:attrName>
                                        </p:attrNameLst>
                                      </p:cBhvr>
                                      <p:tavLst>
                                        <p:tav tm="0">
                                          <p:val>
                                            <p:fltVal val="0.000000"/>
                                          </p:val>
                                        </p:tav>
                                        <p:tav tm="100000">
                                          <p:val>
                                            <p:strVal val="#ppt_w"/>
                                          </p:val>
                                        </p:tav>
                                      </p:tavLst>
                                    </p:anim>
                                    <p:anim calcmode="lin" valueType="num">
                                      <p:cBhvr>
                                        <p:cTn id="14" dur="500" fill="hold"/>
                                        <p:tgtEl>
                                          <p:spTgt spid="54275">
                                            <p:txEl>
                                              <p:charRg st="56" end="108"/>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4275">
                                            <p:txEl>
                                              <p:charRg st="108" end="121"/>
                                            </p:txEl>
                                          </p:spTgt>
                                        </p:tgtEl>
                                        <p:attrNameLst>
                                          <p:attrName>style.visibility</p:attrName>
                                        </p:attrNameLst>
                                      </p:cBhvr>
                                      <p:to>
                                        <p:strVal val="visible"/>
                                      </p:to>
                                    </p:set>
                                    <p:anim calcmode="lin" valueType="num">
                                      <p:cBhvr>
                                        <p:cTn id="19" dur="500" fill="hold"/>
                                        <p:tgtEl>
                                          <p:spTgt spid="54275">
                                            <p:txEl>
                                              <p:charRg st="108" end="121"/>
                                            </p:txEl>
                                          </p:spTgt>
                                        </p:tgtEl>
                                        <p:attrNameLst>
                                          <p:attrName>ppt_w</p:attrName>
                                        </p:attrNameLst>
                                      </p:cBhvr>
                                      <p:tavLst>
                                        <p:tav tm="0">
                                          <p:val>
                                            <p:fltVal val="0.000000"/>
                                          </p:val>
                                        </p:tav>
                                        <p:tav tm="100000">
                                          <p:val>
                                            <p:strVal val="#ppt_w"/>
                                          </p:val>
                                        </p:tav>
                                      </p:tavLst>
                                    </p:anim>
                                    <p:anim calcmode="lin" valueType="num">
                                      <p:cBhvr>
                                        <p:cTn id="20" dur="500" fill="hold"/>
                                        <p:tgtEl>
                                          <p:spTgt spid="54275">
                                            <p:txEl>
                                              <p:charRg st="108" end="121"/>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54275">
                                            <p:txEl>
                                              <p:charRg st="121" end="129"/>
                                            </p:txEl>
                                          </p:spTgt>
                                        </p:tgtEl>
                                        <p:attrNameLst>
                                          <p:attrName>style.visibility</p:attrName>
                                        </p:attrNameLst>
                                      </p:cBhvr>
                                      <p:to>
                                        <p:strVal val="visible"/>
                                      </p:to>
                                    </p:set>
                                    <p:anim calcmode="lin" valueType="num">
                                      <p:cBhvr>
                                        <p:cTn id="25" dur="500" fill="hold"/>
                                        <p:tgtEl>
                                          <p:spTgt spid="54275">
                                            <p:txEl>
                                              <p:charRg st="121" end="129"/>
                                            </p:txEl>
                                          </p:spTgt>
                                        </p:tgtEl>
                                        <p:attrNameLst>
                                          <p:attrName>ppt_w</p:attrName>
                                        </p:attrNameLst>
                                      </p:cBhvr>
                                      <p:tavLst>
                                        <p:tav tm="0">
                                          <p:val>
                                            <p:fltVal val="0.000000"/>
                                          </p:val>
                                        </p:tav>
                                        <p:tav tm="100000">
                                          <p:val>
                                            <p:strVal val="#ppt_w"/>
                                          </p:val>
                                        </p:tav>
                                      </p:tavLst>
                                    </p:anim>
                                    <p:anim calcmode="lin" valueType="num">
                                      <p:cBhvr>
                                        <p:cTn id="26" dur="500" fill="hold"/>
                                        <p:tgtEl>
                                          <p:spTgt spid="54275">
                                            <p:txEl>
                                              <p:charRg st="121" end="129"/>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54275">
                                            <p:txEl>
                                              <p:charRg st="129" end="154"/>
                                            </p:txEl>
                                          </p:spTgt>
                                        </p:tgtEl>
                                        <p:attrNameLst>
                                          <p:attrName>style.visibility</p:attrName>
                                        </p:attrNameLst>
                                      </p:cBhvr>
                                      <p:to>
                                        <p:strVal val="visible"/>
                                      </p:to>
                                    </p:set>
                                    <p:anim calcmode="lin" valueType="num">
                                      <p:cBhvr>
                                        <p:cTn id="31" dur="500" fill="hold"/>
                                        <p:tgtEl>
                                          <p:spTgt spid="54275">
                                            <p:txEl>
                                              <p:charRg st="129" end="154"/>
                                            </p:txEl>
                                          </p:spTgt>
                                        </p:tgtEl>
                                        <p:attrNameLst>
                                          <p:attrName>ppt_w</p:attrName>
                                        </p:attrNameLst>
                                      </p:cBhvr>
                                      <p:tavLst>
                                        <p:tav tm="0">
                                          <p:val>
                                            <p:fltVal val="0.000000"/>
                                          </p:val>
                                        </p:tav>
                                        <p:tav tm="100000">
                                          <p:val>
                                            <p:strVal val="#ppt_w"/>
                                          </p:val>
                                        </p:tav>
                                      </p:tavLst>
                                    </p:anim>
                                    <p:anim calcmode="lin" valueType="num">
                                      <p:cBhvr>
                                        <p:cTn id="32" dur="500" fill="hold"/>
                                        <p:tgtEl>
                                          <p:spTgt spid="54275">
                                            <p:txEl>
                                              <p:charRg st="129" end="154"/>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54275">
                                            <p:txEl>
                                              <p:charRg st="154" end="185"/>
                                            </p:txEl>
                                          </p:spTgt>
                                        </p:tgtEl>
                                        <p:attrNameLst>
                                          <p:attrName>style.visibility</p:attrName>
                                        </p:attrNameLst>
                                      </p:cBhvr>
                                      <p:to>
                                        <p:strVal val="visible"/>
                                      </p:to>
                                    </p:set>
                                    <p:anim calcmode="lin" valueType="num">
                                      <p:cBhvr>
                                        <p:cTn id="37" dur="500" fill="hold"/>
                                        <p:tgtEl>
                                          <p:spTgt spid="54275">
                                            <p:txEl>
                                              <p:charRg st="154" end="185"/>
                                            </p:txEl>
                                          </p:spTgt>
                                        </p:tgtEl>
                                        <p:attrNameLst>
                                          <p:attrName>ppt_w</p:attrName>
                                        </p:attrNameLst>
                                      </p:cBhvr>
                                      <p:tavLst>
                                        <p:tav tm="0">
                                          <p:val>
                                            <p:fltVal val="0.000000"/>
                                          </p:val>
                                        </p:tav>
                                        <p:tav tm="100000">
                                          <p:val>
                                            <p:strVal val="#ppt_w"/>
                                          </p:val>
                                        </p:tav>
                                      </p:tavLst>
                                    </p:anim>
                                    <p:anim calcmode="lin" valueType="num">
                                      <p:cBhvr>
                                        <p:cTn id="38" dur="500" fill="hold"/>
                                        <p:tgtEl>
                                          <p:spTgt spid="54275">
                                            <p:txEl>
                                              <p:charRg st="154" end="185"/>
                                            </p:txEl>
                                          </p:spTgt>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54275">
                                            <p:txEl>
                                              <p:charRg st="185" end="205"/>
                                            </p:txEl>
                                          </p:spTgt>
                                        </p:tgtEl>
                                        <p:attrNameLst>
                                          <p:attrName>style.visibility</p:attrName>
                                        </p:attrNameLst>
                                      </p:cBhvr>
                                      <p:to>
                                        <p:strVal val="visible"/>
                                      </p:to>
                                    </p:set>
                                    <p:anim calcmode="lin" valueType="num">
                                      <p:cBhvr>
                                        <p:cTn id="43" dur="500" fill="hold"/>
                                        <p:tgtEl>
                                          <p:spTgt spid="54275">
                                            <p:txEl>
                                              <p:charRg st="185" end="205"/>
                                            </p:txEl>
                                          </p:spTgt>
                                        </p:tgtEl>
                                        <p:attrNameLst>
                                          <p:attrName>ppt_w</p:attrName>
                                        </p:attrNameLst>
                                      </p:cBhvr>
                                      <p:tavLst>
                                        <p:tav tm="0">
                                          <p:val>
                                            <p:fltVal val="0.000000"/>
                                          </p:val>
                                        </p:tav>
                                        <p:tav tm="100000">
                                          <p:val>
                                            <p:strVal val="#ppt_w"/>
                                          </p:val>
                                        </p:tav>
                                      </p:tavLst>
                                    </p:anim>
                                    <p:anim calcmode="lin" valueType="num">
                                      <p:cBhvr>
                                        <p:cTn id="44" dur="500" fill="hold"/>
                                        <p:tgtEl>
                                          <p:spTgt spid="54275">
                                            <p:txEl>
                                              <p:charRg st="185" end="205"/>
                                            </p:txEl>
                                          </p:spTgt>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54275">
                                            <p:txEl>
                                              <p:charRg st="205" end="226"/>
                                            </p:txEl>
                                          </p:spTgt>
                                        </p:tgtEl>
                                        <p:attrNameLst>
                                          <p:attrName>style.visibility</p:attrName>
                                        </p:attrNameLst>
                                      </p:cBhvr>
                                      <p:to>
                                        <p:strVal val="visible"/>
                                      </p:to>
                                    </p:set>
                                    <p:anim calcmode="lin" valueType="num">
                                      <p:cBhvr>
                                        <p:cTn id="49" dur="500" fill="hold"/>
                                        <p:tgtEl>
                                          <p:spTgt spid="54275">
                                            <p:txEl>
                                              <p:charRg st="205" end="226"/>
                                            </p:txEl>
                                          </p:spTgt>
                                        </p:tgtEl>
                                        <p:attrNameLst>
                                          <p:attrName>ppt_w</p:attrName>
                                        </p:attrNameLst>
                                      </p:cBhvr>
                                      <p:tavLst>
                                        <p:tav tm="0">
                                          <p:val>
                                            <p:fltVal val="0.000000"/>
                                          </p:val>
                                        </p:tav>
                                        <p:tav tm="100000">
                                          <p:val>
                                            <p:strVal val="#ppt_w"/>
                                          </p:val>
                                        </p:tav>
                                      </p:tavLst>
                                    </p:anim>
                                    <p:anim calcmode="lin" valueType="num">
                                      <p:cBhvr>
                                        <p:cTn id="50" dur="500" fill="hold"/>
                                        <p:tgtEl>
                                          <p:spTgt spid="54275">
                                            <p:txEl>
                                              <p:charRg st="205" end="226"/>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5"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3"/>
          <p:cNvSpPr txBox="1"/>
          <p:nvPr/>
        </p:nvSpPr>
        <p:spPr>
          <a:xfrm>
            <a:off x="701675" y="1506538"/>
            <a:ext cx="7740650" cy="23637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buClr>
                <a:srgbClr val="0000CC"/>
              </a:buClr>
              <a:buFont typeface="Arial" panose="020B0604020202020204" pitchFamily="34" charset="0"/>
              <a:buNone/>
            </a:pPr>
            <a:r>
              <a:rPr lang="zh-CN" altLang="en-US" sz="2400" u="sng" dirty="0">
                <a:solidFill>
                  <a:srgbClr val="FF0000"/>
                </a:solidFill>
              </a:rPr>
              <a:t>例</a:t>
            </a:r>
            <a:r>
              <a:rPr lang="en-US" altLang="zh-CN" sz="2400" u="sng" dirty="0">
                <a:solidFill>
                  <a:srgbClr val="FF0000"/>
                </a:solidFill>
              </a:rPr>
              <a:t>1</a:t>
            </a:r>
            <a:r>
              <a:rPr lang="zh-CN" altLang="en-US" sz="2400" u="sng" dirty="0">
                <a:solidFill>
                  <a:srgbClr val="FF0000"/>
                </a:solidFill>
              </a:rPr>
              <a:t>：唯一限制：</a:t>
            </a:r>
            <a:endParaRPr lang="zh-CN" altLang="en-US" sz="2400" u="sng" dirty="0">
              <a:solidFill>
                <a:srgbClr val="FF0000"/>
              </a:solidFill>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CREATE TABLE  Stu</a:t>
            </a:r>
            <a:endParaRPr lang="en-US" altLang="zh-CN" sz="2300" i="1" dirty="0">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 SID	       char(10)	            </a:t>
            </a:r>
            <a:r>
              <a:rPr lang="en-US" altLang="zh-CN" sz="2300" i="1" dirty="0">
                <a:solidFill>
                  <a:srgbClr val="0033CC"/>
                </a:solidFill>
                <a:latin typeface="Times New Roman" panose="02020603050405020304" pitchFamily="18" charset="0"/>
              </a:rPr>
              <a:t>Primary key,</a:t>
            </a:r>
            <a:endParaRPr lang="en-US" altLang="zh-CN" sz="2300" i="1" dirty="0">
              <a:solidFill>
                <a:srgbClr val="0033CC"/>
              </a:solidFill>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SName          varchar(20)  	NOT NULL,</a:t>
            </a:r>
            <a:endParaRPr lang="en-US" altLang="zh-CN" sz="2300" i="1" dirty="0">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IDCIRD char(18) </a:t>
            </a:r>
            <a:r>
              <a:rPr lang="en-US" altLang="zh-CN" sz="2300" i="1" dirty="0">
                <a:solidFill>
                  <a:srgbClr val="FF0000"/>
                </a:solidFill>
                <a:latin typeface="黑体" panose="02010609060101010101" pitchFamily="49" charset="-122"/>
                <a:ea typeface="黑体" panose="02010609060101010101" pitchFamily="49" charset="-122"/>
              </a:rPr>
              <a:t>Unique</a:t>
            </a:r>
            <a:r>
              <a:rPr lang="en-US" altLang="zh-CN" sz="2300" i="1" dirty="0">
                <a:latin typeface="Times New Roman" panose="02020603050405020304" pitchFamily="18" charset="0"/>
              </a:rPr>
              <a:t>,</a:t>
            </a:r>
            <a:endParaRPr lang="en-US" altLang="zh-CN" sz="2300" i="1" dirty="0">
              <a:latin typeface="Times New Roman" panose="02020603050405020304" pitchFamily="18" charset="0"/>
            </a:endParaRPr>
          </a:p>
          <a:p>
            <a:pPr marL="533400" lvl="0" indent="-533400" eaLnBrk="1" hangingPunct="1">
              <a:spcBef>
                <a:spcPts val="300"/>
              </a:spcBef>
              <a:buClr>
                <a:srgbClr val="0000CC"/>
              </a:buClr>
              <a:buFont typeface="Arial" panose="020B0604020202020204" pitchFamily="34" charset="0"/>
              <a:buNone/>
            </a:pPr>
            <a:r>
              <a:rPr lang="en-US" altLang="zh-CN" sz="2300" i="1" dirty="0">
                <a:latin typeface="Times New Roman" panose="02020603050405020304" pitchFamily="18" charset="0"/>
              </a:rPr>
              <a:t>      SGender char(1) check(SGender  in('F','M')) )</a:t>
            </a:r>
            <a:endParaRPr lang="zh-CN" altLang="en-US" sz="2300" i="1" dirty="0">
              <a:latin typeface="Times New Roman" panose="02020603050405020304" pitchFamily="18" charset="0"/>
            </a:endParaRPr>
          </a:p>
          <a:p>
            <a:pPr marL="533400" lvl="0" indent="-533400" eaLnBrk="1" hangingPunct="1">
              <a:lnSpc>
                <a:spcPct val="120000"/>
              </a:lnSpc>
              <a:spcBef>
                <a:spcPct val="0"/>
              </a:spcBef>
              <a:buFont typeface="Arial" panose="020B0604020202020204" pitchFamily="34" charset="0"/>
              <a:buNone/>
            </a:pPr>
            <a:endParaRPr lang="en-US" altLang="zh-CN" sz="2300" dirty="0">
              <a:latin typeface="华文楷体" panose="02010600040101010101" pitchFamily="2" charset="-122"/>
            </a:endParaRPr>
          </a:p>
          <a:p>
            <a:pPr marL="533400" lvl="0" indent="-533400" eaLnBrk="1" hangingPunct="1">
              <a:spcBef>
                <a:spcPct val="0"/>
              </a:spcBef>
              <a:buFont typeface="Arial" panose="020B0604020202020204" pitchFamily="34" charset="0"/>
              <a:buNone/>
            </a:pPr>
            <a:endParaRPr lang="zh-CN" altLang="en-US" sz="2300" i="1" dirty="0">
              <a:latin typeface="华文楷体" panose="02010600040101010101" pitchFamily="2" charset="-122"/>
            </a:endParaRPr>
          </a:p>
          <a:p>
            <a:pPr marL="533400" lvl="0" indent="-533400" eaLnBrk="1" hangingPunct="1">
              <a:spcBef>
                <a:spcPct val="0"/>
              </a:spcBef>
              <a:buFont typeface="Arial" panose="020B0604020202020204" pitchFamily="34" charset="0"/>
              <a:buNone/>
            </a:pPr>
            <a:r>
              <a:rPr lang="zh-CN" altLang="en-US" i="1" dirty="0">
                <a:ea typeface="方正姚体" panose="02010601030101010101" pitchFamily="2" charset="-122"/>
              </a:rPr>
              <a:t> </a:t>
            </a:r>
            <a:endParaRPr lang="zh-CN" altLang="en-US" i="1" dirty="0">
              <a:ea typeface="方正姚体" panose="02010601030101010101" pitchFamily="2" charset="-122"/>
            </a:endParaRPr>
          </a:p>
        </p:txBody>
      </p:sp>
      <p:sp>
        <p:nvSpPr>
          <p:cNvPr id="2" name="Rectangle 3"/>
          <p:cNvSpPr txBox="1"/>
          <p:nvPr/>
        </p:nvSpPr>
        <p:spPr>
          <a:xfrm>
            <a:off x="312738" y="3975100"/>
            <a:ext cx="8518525" cy="1441450"/>
          </a:xfrm>
          <a:prstGeom prst="rect">
            <a:avLst/>
          </a:prstGeom>
          <a:noFill/>
          <a:ln w="9525">
            <a:noFill/>
          </a:ln>
        </p:spPr>
        <p:txBody>
          <a:bodyPr/>
          <a:lstStyle/>
          <a:p>
            <a:pPr marL="342900" marR="0" indent="-342900" defTabSz="914400" eaLnBrk="1" hangingPunct="1">
              <a:spcBef>
                <a:spcPct val="20000"/>
              </a:spcBef>
              <a:buClr>
                <a:srgbClr val="0000CC"/>
              </a:buClr>
              <a:buSzTx/>
              <a:buFont typeface="Wingdings" panose="05000000000000000000" charset="0"/>
              <a:buChar char=""/>
              <a:defRPr/>
            </a:pPr>
            <a:r>
              <a:rPr kumimoji="0" lang="zh-CN" altLang="en-US" sz="2200" kern="1200" cap="none" spc="0" normalizeH="0" baseline="0" noProof="1">
                <a:latin typeface="华文中宋" panose="02010600040101010101" pitchFamily="2" charset="-122"/>
                <a:ea typeface="华文中宋" panose="02010600040101010101" pitchFamily="2" charset="-122"/>
                <a:cs typeface="+mn-cs"/>
              </a:rPr>
              <a:t>思考：下列数据哪些能插入成功</a:t>
            </a:r>
            <a:endParaRPr kumimoji="0" lang="zh-CN" altLang="en-US" sz="2200" kern="1200" cap="none" spc="0" normalizeH="0" baseline="0" noProof="1">
              <a:latin typeface="华文中宋" panose="02010600040101010101" pitchFamily="2" charset="-122"/>
              <a:ea typeface="华文中宋" panose="02010600040101010101" pitchFamily="2" charset="-122"/>
              <a:cs typeface="+mn-cs"/>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values('2014110001','</a:t>
            </a:r>
            <a:r>
              <a:rPr kumimoji="0" lang="zh-CN" altLang="en-US" sz="2200" kern="1200" cap="none" spc="0" normalizeH="0" baseline="0" noProof="1">
                <a:latin typeface="Arial" panose="020B0604020202020204" pitchFamily="34" charset="0"/>
                <a:ea typeface="宋体" panose="02010600030101010101" pitchFamily="2" charset="-122"/>
                <a:cs typeface="+mn-cs"/>
                <a:sym typeface="+mn-ea"/>
              </a:rPr>
              <a:t>张三</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','510106199609150021','F')</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values('2014110002','</a:t>
            </a:r>
            <a:r>
              <a:rPr kumimoji="0" lang="zh-CN" altLang="zh-CN" sz="2200" kern="1200" cap="none" spc="0" normalizeH="0" baseline="0" noProof="1">
                <a:latin typeface="Arial" panose="020B0604020202020204" pitchFamily="34" charset="0"/>
                <a:ea typeface="宋体" panose="02010600030101010101" pitchFamily="2" charset="-122"/>
                <a:cs typeface="+mn-cs"/>
                <a:sym typeface="+mn-ea"/>
              </a:rPr>
              <a:t>李四</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',NULL,'M')</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values('2014110003','</a:t>
            </a:r>
            <a:r>
              <a:rPr kumimoji="0" lang="zh-CN" altLang="en-US" sz="2200" kern="1200" cap="none" spc="0" normalizeH="0" baseline="0" noProof="1">
                <a:latin typeface="Arial" panose="020B0604020202020204" pitchFamily="34" charset="0"/>
                <a:ea typeface="宋体" panose="02010600030101010101" pitchFamily="2" charset="-122"/>
                <a:cs typeface="+mn-cs"/>
                <a:sym typeface="+mn-ea"/>
              </a:rPr>
              <a:t>王五</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',NULL,'M')</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insert Stu values('2014110004','</a:t>
            </a:r>
            <a:r>
              <a:rPr kumimoji="0" lang="zh-CN" altLang="en-US" sz="2200" kern="1200" cap="none" spc="0" normalizeH="0" baseline="0" noProof="1">
                <a:latin typeface="Arial" panose="020B0604020202020204" pitchFamily="34" charset="0"/>
                <a:ea typeface="宋体" panose="02010600030101010101" pitchFamily="2" charset="-122"/>
                <a:cs typeface="+mn-cs"/>
                <a:sym typeface="+mn-ea"/>
              </a:rPr>
              <a:t>赵六</a:t>
            </a:r>
            <a:r>
              <a:rPr kumimoji="0" lang="en-US" altLang="zh-CN" sz="2200" kern="1200" cap="none" spc="0" normalizeH="0" baseline="0" noProof="1">
                <a:latin typeface="Arial" panose="020B0604020202020204" pitchFamily="34" charset="0"/>
                <a:ea typeface="宋体" panose="02010600030101010101" pitchFamily="2" charset="-122"/>
                <a:cs typeface="+mn-cs"/>
                <a:sym typeface="+mn-ea"/>
              </a:rPr>
              <a:t>','510106199609150021','F')</a:t>
            </a:r>
            <a:endParaRPr kumimoji="0" lang="en-US" altLang="zh-CN" sz="2200" kern="1200" cap="none" spc="0" normalizeH="0" baseline="0" noProof="1">
              <a:latin typeface="Arial" panose="020B0604020202020204" pitchFamily="34" charset="0"/>
              <a:ea typeface="宋体" panose="02010600030101010101" pitchFamily="2" charset="-122"/>
              <a:cs typeface="+mn-cs"/>
              <a:sym typeface="+mn-ea"/>
            </a:endParaRPr>
          </a:p>
          <a:p>
            <a:pPr marR="0" defTabSz="914400" eaLnBrk="1" hangingPunct="1">
              <a:spcBef>
                <a:spcPct val="20000"/>
              </a:spcBef>
              <a:buClr>
                <a:srgbClr val="0000CC"/>
              </a:buClr>
              <a:buSzTx/>
              <a:buFont typeface="Wingdings" panose="05000000000000000000" charset="0"/>
              <a:buNone/>
              <a:defRPr/>
            </a:pPr>
            <a:endParaRPr kumimoji="0" lang="zh-CN" altLang="en-US" sz="2200" kern="1200" cap="none" spc="0" normalizeH="0" baseline="0" noProof="1">
              <a:latin typeface="华文中宋" panose="02010600040101010101" pitchFamily="2" charset="-122"/>
              <a:ea typeface="华文中宋" panose="02010600040101010101" pitchFamily="2" charset="-122"/>
              <a:cs typeface="+mn-cs"/>
            </a:endParaRPr>
          </a:p>
        </p:txBody>
      </p:sp>
      <p:sp>
        <p:nvSpPr>
          <p:cNvPr id="79876"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5.唯一约束(Unique)</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79877"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5298">
                                            <p:txEl>
                                              <p:charRg st="0" end="9"/>
                                            </p:txEl>
                                          </p:spTgt>
                                        </p:tgtEl>
                                        <p:attrNameLst>
                                          <p:attrName>style.visibility</p:attrName>
                                        </p:attrNameLst>
                                      </p:cBhvr>
                                      <p:to>
                                        <p:strVal val="visible"/>
                                      </p:to>
                                    </p:set>
                                    <p:anim calcmode="lin" valueType="num">
                                      <p:cBhvr>
                                        <p:cTn id="7" dur="500" fill="hold"/>
                                        <p:tgtEl>
                                          <p:spTgt spid="55298">
                                            <p:txEl>
                                              <p:charRg st="0" end="9"/>
                                            </p:txEl>
                                          </p:spTgt>
                                        </p:tgtEl>
                                        <p:attrNameLst>
                                          <p:attrName>ppt_w</p:attrName>
                                        </p:attrNameLst>
                                      </p:cBhvr>
                                      <p:tavLst>
                                        <p:tav tm="0">
                                          <p:val>
                                            <p:fltVal val="0.000000"/>
                                          </p:val>
                                        </p:tav>
                                        <p:tav tm="100000">
                                          <p:val>
                                            <p:strVal val="#ppt_w"/>
                                          </p:val>
                                        </p:tav>
                                      </p:tavLst>
                                    </p:anim>
                                    <p:anim calcmode="lin" valueType="num">
                                      <p:cBhvr>
                                        <p:cTn id="8" dur="500" fill="hold"/>
                                        <p:tgtEl>
                                          <p:spTgt spid="55298">
                                            <p:txEl>
                                              <p:charRg st="0" end="9"/>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55298">
                                            <p:txEl>
                                              <p:charRg st="9" end="27"/>
                                            </p:txEl>
                                          </p:spTgt>
                                        </p:tgtEl>
                                        <p:attrNameLst>
                                          <p:attrName>style.visibility</p:attrName>
                                        </p:attrNameLst>
                                      </p:cBhvr>
                                      <p:to>
                                        <p:strVal val="visible"/>
                                      </p:to>
                                    </p:set>
                                    <p:anim calcmode="lin" valueType="num">
                                      <p:cBhvr>
                                        <p:cTn id="13" dur="500" fill="hold"/>
                                        <p:tgtEl>
                                          <p:spTgt spid="55298">
                                            <p:txEl>
                                              <p:charRg st="9" end="27"/>
                                            </p:txEl>
                                          </p:spTgt>
                                        </p:tgtEl>
                                        <p:attrNameLst>
                                          <p:attrName>ppt_w</p:attrName>
                                        </p:attrNameLst>
                                      </p:cBhvr>
                                      <p:tavLst>
                                        <p:tav tm="0">
                                          <p:val>
                                            <p:fltVal val="0.000000"/>
                                          </p:val>
                                        </p:tav>
                                        <p:tav tm="100000">
                                          <p:val>
                                            <p:strVal val="#ppt_w"/>
                                          </p:val>
                                        </p:tav>
                                      </p:tavLst>
                                    </p:anim>
                                    <p:anim calcmode="lin" valueType="num">
                                      <p:cBhvr>
                                        <p:cTn id="14" dur="500" fill="hold"/>
                                        <p:tgtEl>
                                          <p:spTgt spid="55298">
                                            <p:txEl>
                                              <p:charRg st="9" end="27"/>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55298">
                                            <p:txEl>
                                              <p:charRg st="27" end="78"/>
                                            </p:txEl>
                                          </p:spTgt>
                                        </p:tgtEl>
                                        <p:attrNameLst>
                                          <p:attrName>style.visibility</p:attrName>
                                        </p:attrNameLst>
                                      </p:cBhvr>
                                      <p:to>
                                        <p:strVal val="visible"/>
                                      </p:to>
                                    </p:set>
                                    <p:anim calcmode="lin" valueType="num">
                                      <p:cBhvr>
                                        <p:cTn id="19" dur="500" fill="hold"/>
                                        <p:tgtEl>
                                          <p:spTgt spid="55298">
                                            <p:txEl>
                                              <p:charRg st="27" end="78"/>
                                            </p:txEl>
                                          </p:spTgt>
                                        </p:tgtEl>
                                        <p:attrNameLst>
                                          <p:attrName>ppt_w</p:attrName>
                                        </p:attrNameLst>
                                      </p:cBhvr>
                                      <p:tavLst>
                                        <p:tav tm="0">
                                          <p:val>
                                            <p:fltVal val="0.000000"/>
                                          </p:val>
                                        </p:tav>
                                        <p:tav tm="100000">
                                          <p:val>
                                            <p:strVal val="#ppt_w"/>
                                          </p:val>
                                        </p:tav>
                                      </p:tavLst>
                                    </p:anim>
                                    <p:anim calcmode="lin" valueType="num">
                                      <p:cBhvr>
                                        <p:cTn id="20" dur="500" fill="hold"/>
                                        <p:tgtEl>
                                          <p:spTgt spid="55298">
                                            <p:txEl>
                                              <p:charRg st="27" end="78"/>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55298">
                                            <p:txEl>
                                              <p:charRg st="78" end="123"/>
                                            </p:txEl>
                                          </p:spTgt>
                                        </p:tgtEl>
                                        <p:attrNameLst>
                                          <p:attrName>style.visibility</p:attrName>
                                        </p:attrNameLst>
                                      </p:cBhvr>
                                      <p:to>
                                        <p:strVal val="visible"/>
                                      </p:to>
                                    </p:set>
                                    <p:anim calcmode="lin" valueType="num">
                                      <p:cBhvr>
                                        <p:cTn id="25" dur="500" fill="hold"/>
                                        <p:tgtEl>
                                          <p:spTgt spid="55298">
                                            <p:txEl>
                                              <p:charRg st="78" end="123"/>
                                            </p:txEl>
                                          </p:spTgt>
                                        </p:tgtEl>
                                        <p:attrNameLst>
                                          <p:attrName>ppt_w</p:attrName>
                                        </p:attrNameLst>
                                      </p:cBhvr>
                                      <p:tavLst>
                                        <p:tav tm="0">
                                          <p:val>
                                            <p:fltVal val="0.000000"/>
                                          </p:val>
                                        </p:tav>
                                        <p:tav tm="100000">
                                          <p:val>
                                            <p:strVal val="#ppt_w"/>
                                          </p:val>
                                        </p:tav>
                                      </p:tavLst>
                                    </p:anim>
                                    <p:anim calcmode="lin" valueType="num">
                                      <p:cBhvr>
                                        <p:cTn id="26" dur="500" fill="hold"/>
                                        <p:tgtEl>
                                          <p:spTgt spid="55298">
                                            <p:txEl>
                                              <p:charRg st="78" end="123"/>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55298">
                                            <p:txEl>
                                              <p:charRg st="123" end="153"/>
                                            </p:txEl>
                                          </p:spTgt>
                                        </p:tgtEl>
                                        <p:attrNameLst>
                                          <p:attrName>style.visibility</p:attrName>
                                        </p:attrNameLst>
                                      </p:cBhvr>
                                      <p:to>
                                        <p:strVal val="visible"/>
                                      </p:to>
                                    </p:set>
                                    <p:anim calcmode="lin" valueType="num">
                                      <p:cBhvr>
                                        <p:cTn id="31" dur="500" fill="hold"/>
                                        <p:tgtEl>
                                          <p:spTgt spid="55298">
                                            <p:txEl>
                                              <p:charRg st="123" end="153"/>
                                            </p:txEl>
                                          </p:spTgt>
                                        </p:tgtEl>
                                        <p:attrNameLst>
                                          <p:attrName>ppt_w</p:attrName>
                                        </p:attrNameLst>
                                      </p:cBhvr>
                                      <p:tavLst>
                                        <p:tav tm="0">
                                          <p:val>
                                            <p:fltVal val="0.000000"/>
                                          </p:val>
                                        </p:tav>
                                        <p:tav tm="100000">
                                          <p:val>
                                            <p:strVal val="#ppt_w"/>
                                          </p:val>
                                        </p:tav>
                                      </p:tavLst>
                                    </p:anim>
                                    <p:anim calcmode="lin" valueType="num">
                                      <p:cBhvr>
                                        <p:cTn id="32" dur="500" fill="hold"/>
                                        <p:tgtEl>
                                          <p:spTgt spid="55298">
                                            <p:txEl>
                                              <p:charRg st="123" end="153"/>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55298">
                                            <p:txEl>
                                              <p:charRg st="153" end="205"/>
                                            </p:txEl>
                                          </p:spTgt>
                                        </p:tgtEl>
                                        <p:attrNameLst>
                                          <p:attrName>style.visibility</p:attrName>
                                        </p:attrNameLst>
                                      </p:cBhvr>
                                      <p:to>
                                        <p:strVal val="visible"/>
                                      </p:to>
                                    </p:set>
                                    <p:anim calcmode="lin" valueType="num">
                                      <p:cBhvr>
                                        <p:cTn id="37" dur="500" fill="hold"/>
                                        <p:tgtEl>
                                          <p:spTgt spid="55298">
                                            <p:txEl>
                                              <p:charRg st="153" end="205"/>
                                            </p:txEl>
                                          </p:spTgt>
                                        </p:tgtEl>
                                        <p:attrNameLst>
                                          <p:attrName>ppt_w</p:attrName>
                                        </p:attrNameLst>
                                      </p:cBhvr>
                                      <p:tavLst>
                                        <p:tav tm="0">
                                          <p:val>
                                            <p:fltVal val="0.000000"/>
                                          </p:val>
                                        </p:tav>
                                        <p:tav tm="100000">
                                          <p:val>
                                            <p:strVal val="#ppt_w"/>
                                          </p:val>
                                        </p:tav>
                                      </p:tavLst>
                                    </p:anim>
                                    <p:anim calcmode="lin" valueType="num">
                                      <p:cBhvr>
                                        <p:cTn id="38" dur="500" fill="hold"/>
                                        <p:tgtEl>
                                          <p:spTgt spid="55298">
                                            <p:txEl>
                                              <p:charRg st="153" end="205"/>
                                            </p:txEl>
                                          </p:spTgt>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55298">
                                            <p:txEl>
                                              <p:charRg st="207" end="209"/>
                                            </p:txEl>
                                          </p:spTgt>
                                        </p:tgtEl>
                                        <p:attrNameLst>
                                          <p:attrName>style.visibility</p:attrName>
                                        </p:attrNameLst>
                                      </p:cBhvr>
                                      <p:to>
                                        <p:strVal val="visible"/>
                                      </p:to>
                                    </p:set>
                                    <p:anim calcmode="lin" valueType="num">
                                      <p:cBhvr>
                                        <p:cTn id="43" dur="500" fill="hold"/>
                                        <p:tgtEl>
                                          <p:spTgt spid="55298">
                                            <p:txEl>
                                              <p:charRg st="207" end="209"/>
                                            </p:txEl>
                                          </p:spTgt>
                                        </p:tgtEl>
                                        <p:attrNameLst>
                                          <p:attrName>ppt_w</p:attrName>
                                        </p:attrNameLst>
                                      </p:cBhvr>
                                      <p:tavLst>
                                        <p:tav tm="0">
                                          <p:val>
                                            <p:fltVal val="0.000000"/>
                                          </p:val>
                                        </p:tav>
                                        <p:tav tm="100000">
                                          <p:val>
                                            <p:strVal val="#ppt_w"/>
                                          </p:val>
                                        </p:tav>
                                      </p:tavLst>
                                    </p:anim>
                                    <p:anim calcmode="lin" valueType="num">
                                      <p:cBhvr>
                                        <p:cTn id="44" dur="500" fill="hold"/>
                                        <p:tgtEl>
                                          <p:spTgt spid="55298">
                                            <p:txEl>
                                              <p:charRg st="207" end="209"/>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8"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0899" name="矩形 3"/>
          <p:cNvSpPr/>
          <p:nvPr/>
        </p:nvSpPr>
        <p:spPr>
          <a:xfrm>
            <a:off x="863600" y="1370013"/>
            <a:ext cx="6769100" cy="5921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35000"/>
              </a:lnSpc>
              <a:spcBef>
                <a:spcPct val="0"/>
              </a:spcBef>
              <a:buClr>
                <a:srgbClr val="0000CC"/>
              </a:buClr>
              <a:buSzTx/>
              <a:buFont typeface="Arial" panose="020B0604020202020204" pitchFamily="34" charset="0"/>
              <a:buNone/>
            </a:pPr>
            <a:r>
              <a:rPr lang="zh-CN" altLang="en-US" sz="2400" dirty="0"/>
              <a:t>维护表间完整性实际上是从两个方向上完成的。</a:t>
            </a:r>
            <a:endParaRPr lang="zh-CN" altLang="en-US" sz="2400" dirty="0"/>
          </a:p>
        </p:txBody>
      </p:sp>
      <p:graphicFrame>
        <p:nvGraphicFramePr>
          <p:cNvPr id="56324" name="Object 4"/>
          <p:cNvGraphicFramePr>
            <a:graphicFrameLocks noChangeAspect="1"/>
          </p:cNvGraphicFramePr>
          <p:nvPr/>
        </p:nvGraphicFramePr>
        <p:xfrm>
          <a:off x="681038" y="1841500"/>
          <a:ext cx="4195762" cy="1841500"/>
        </p:xfrm>
        <a:graphic>
          <a:graphicData uri="http://schemas.openxmlformats.org/presentationml/2006/ole">
            <mc:AlternateContent xmlns:mc="http://schemas.openxmlformats.org/markup-compatibility/2006">
              <mc:Choice xmlns:v="urn:schemas-microsoft-com:vml" Requires="v">
                <p:oleObj spid="_x0000_s3081" name="" r:id="rId1" imgW="2740660" imgH="990600" progId="Word.Picture.8">
                  <p:embed/>
                </p:oleObj>
              </mc:Choice>
              <mc:Fallback>
                <p:oleObj name="" r:id="rId1" imgW="2740660" imgH="990600" progId="Word.Picture.8">
                  <p:embed/>
                  <p:pic>
                    <p:nvPicPr>
                      <p:cNvPr id="0" name="图片 3080"/>
                      <p:cNvPicPr/>
                      <p:nvPr/>
                    </p:nvPicPr>
                    <p:blipFill>
                      <a:blip r:embed="rId2"/>
                      <a:stretch>
                        <a:fillRect/>
                      </a:stretch>
                    </p:blipFill>
                    <p:spPr>
                      <a:xfrm>
                        <a:off x="681038" y="1841500"/>
                        <a:ext cx="4195762" cy="1841500"/>
                      </a:xfrm>
                      <a:prstGeom prst="rect">
                        <a:avLst/>
                      </a:prstGeom>
                      <a:noFill/>
                      <a:ln w="38100">
                        <a:noFill/>
                        <a:miter/>
                      </a:ln>
                    </p:spPr>
                  </p:pic>
                </p:oleObj>
              </mc:Fallback>
            </mc:AlternateContent>
          </a:graphicData>
        </a:graphic>
      </p:graphicFrame>
      <p:graphicFrame>
        <p:nvGraphicFramePr>
          <p:cNvPr id="56325" name="Object 5"/>
          <p:cNvGraphicFramePr>
            <a:graphicFrameLocks noChangeAspect="1"/>
          </p:cNvGraphicFramePr>
          <p:nvPr/>
        </p:nvGraphicFramePr>
        <p:xfrm>
          <a:off x="4572000" y="1828800"/>
          <a:ext cx="4572000" cy="1584325"/>
        </p:xfrm>
        <a:graphic>
          <a:graphicData uri="http://schemas.openxmlformats.org/presentationml/2006/ole">
            <mc:AlternateContent xmlns:mc="http://schemas.openxmlformats.org/markup-compatibility/2006">
              <mc:Choice xmlns:v="urn:schemas-microsoft-com:vml" Requires="v">
                <p:oleObj spid="_x0000_s3080" name="" r:id="rId3" imgW="2738120" imgH="790575" progId="Word.Picture.8">
                  <p:embed/>
                </p:oleObj>
              </mc:Choice>
              <mc:Fallback>
                <p:oleObj name="" r:id="rId3" imgW="2738120" imgH="790575" progId="Word.Picture.8">
                  <p:embed/>
                  <p:pic>
                    <p:nvPicPr>
                      <p:cNvPr id="0" name="图片 3079"/>
                      <p:cNvPicPr/>
                      <p:nvPr/>
                    </p:nvPicPr>
                    <p:blipFill>
                      <a:blip r:embed="rId4"/>
                      <a:stretch>
                        <a:fillRect/>
                      </a:stretch>
                    </p:blipFill>
                    <p:spPr>
                      <a:xfrm>
                        <a:off x="4572000" y="1828800"/>
                        <a:ext cx="4572000" cy="1584325"/>
                      </a:xfrm>
                      <a:prstGeom prst="rect">
                        <a:avLst/>
                      </a:prstGeom>
                      <a:noFill/>
                      <a:ln w="38100">
                        <a:noFill/>
                        <a:miter/>
                      </a:ln>
                    </p:spPr>
                  </p:pic>
                </p:oleObj>
              </mc:Fallback>
            </mc:AlternateContent>
          </a:graphicData>
        </a:graphic>
      </p:graphicFrame>
      <p:sp>
        <p:nvSpPr>
          <p:cNvPr id="80902" name="矩形 6"/>
          <p:cNvSpPr/>
          <p:nvPr/>
        </p:nvSpPr>
        <p:spPr>
          <a:xfrm>
            <a:off x="647700" y="3609975"/>
            <a:ext cx="8153400" cy="24606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35000"/>
              </a:lnSpc>
              <a:spcBef>
                <a:spcPct val="0"/>
              </a:spcBef>
              <a:buClrTx/>
              <a:buSzPct val="100000"/>
            </a:pPr>
            <a:r>
              <a:rPr lang="zh-CN" altLang="en-US" sz="2400" u="sng" dirty="0">
                <a:solidFill>
                  <a:srgbClr val="FF0000"/>
                </a:solidFill>
              </a:rPr>
              <a:t>外键约束定义的条件：</a:t>
            </a:r>
            <a:endParaRPr lang="en-US" altLang="zh-CN" sz="2400" u="sng" dirty="0">
              <a:solidFill>
                <a:srgbClr val="FF0000"/>
              </a:solidFill>
            </a:endParaRPr>
          </a:p>
          <a:p>
            <a:pPr marL="533400" lvl="0" indent="-533400" eaLnBrk="1" hangingPunct="1">
              <a:lnSpc>
                <a:spcPct val="135000"/>
              </a:lnSpc>
              <a:spcBef>
                <a:spcPct val="0"/>
              </a:spcBef>
              <a:buClrTx/>
              <a:buSzPct val="130000"/>
              <a:buFont typeface="Arial" panose="020B0604020202020204" pitchFamily="34" charset="0"/>
              <a:buNone/>
            </a:pPr>
            <a:r>
              <a:rPr lang="zh-CN" altLang="en-US" sz="2200" dirty="0">
                <a:solidFill>
                  <a:srgbClr val="CC3300"/>
                </a:solidFill>
                <a:latin typeface="方正姚体" panose="02010601030101010101" pitchFamily="2" charset="-122"/>
              </a:rPr>
              <a:t>   </a:t>
            </a:r>
            <a:r>
              <a:rPr lang="en-US" altLang="zh-CN" sz="2200" dirty="0">
                <a:solidFill>
                  <a:srgbClr val="CC3300"/>
                </a:solidFill>
                <a:latin typeface="方正姚体" panose="02010601030101010101" pitchFamily="2" charset="-122"/>
              </a:rPr>
              <a:t>--</a:t>
            </a:r>
            <a:r>
              <a:rPr lang="zh-CN" altLang="en-US" sz="2200" dirty="0"/>
              <a:t>在含</a:t>
            </a:r>
            <a:r>
              <a:rPr lang="zh-CN" altLang="en-US" sz="2200" dirty="0">
                <a:latin typeface="方正姚体" panose="02010601030101010101" pitchFamily="2" charset="-122"/>
              </a:rPr>
              <a:t>外键的表上定义；即是</a:t>
            </a:r>
            <a:r>
              <a:rPr lang="zh-CN" altLang="en-US" sz="2200" dirty="0">
                <a:solidFill>
                  <a:srgbClr val="A50021"/>
                </a:solidFill>
                <a:latin typeface="方正姚体" panose="02010601030101010101" pitchFamily="2" charset="-122"/>
              </a:rPr>
              <a:t>在从表上定义</a:t>
            </a:r>
            <a:r>
              <a:rPr lang="zh-CN" altLang="en-US" sz="2200" dirty="0">
                <a:solidFill>
                  <a:srgbClr val="CC3300"/>
                </a:solidFill>
                <a:latin typeface="方正姚体" panose="02010601030101010101" pitchFamily="2" charset="-122"/>
              </a:rPr>
              <a:t>。</a:t>
            </a:r>
            <a:endParaRPr lang="en-US" altLang="zh-CN" sz="2200" dirty="0">
              <a:solidFill>
                <a:srgbClr val="CC3300"/>
              </a:solidFill>
              <a:latin typeface="方正姚体" panose="02010601030101010101" pitchFamily="2" charset="-122"/>
            </a:endParaRPr>
          </a:p>
          <a:p>
            <a:pPr marL="533400" lvl="0" indent="-533400" eaLnBrk="1" hangingPunct="1">
              <a:lnSpc>
                <a:spcPct val="135000"/>
              </a:lnSpc>
              <a:spcBef>
                <a:spcPct val="0"/>
              </a:spcBef>
              <a:buClrTx/>
              <a:buSzPct val="130000"/>
              <a:buFont typeface="Arial" panose="020B0604020202020204" pitchFamily="34" charset="0"/>
              <a:buNone/>
            </a:pPr>
            <a:r>
              <a:rPr lang="zh-CN" altLang="en-US" sz="2200" dirty="0">
                <a:solidFill>
                  <a:srgbClr val="CC3300"/>
                </a:solidFill>
                <a:latin typeface="方正姚体" panose="02010601030101010101" pitchFamily="2" charset="-122"/>
              </a:rPr>
              <a:t>   </a:t>
            </a:r>
            <a:r>
              <a:rPr lang="en-US" altLang="zh-CN" sz="2200" dirty="0">
                <a:solidFill>
                  <a:srgbClr val="CC3300"/>
                </a:solidFill>
                <a:latin typeface="方正姚体" panose="02010601030101010101" pitchFamily="2" charset="-122"/>
              </a:rPr>
              <a:t>--</a:t>
            </a:r>
            <a:r>
              <a:rPr lang="zh-CN" altLang="en-US" sz="2200" dirty="0">
                <a:latin typeface="方正姚体" panose="02010601030101010101" pitchFamily="2" charset="-122"/>
              </a:rPr>
              <a:t>定义外键限制的列必须是另一个表中的主键或候选键。</a:t>
            </a:r>
            <a:endParaRPr lang="zh-CN" altLang="en-US" sz="2200" dirty="0">
              <a:latin typeface="方正姚体" panose="02010601030101010101" pitchFamily="2" charset="-122"/>
            </a:endParaRPr>
          </a:p>
          <a:p>
            <a:pPr marL="533400" lvl="0" indent="-533400" eaLnBrk="1" hangingPunct="1">
              <a:lnSpc>
                <a:spcPct val="135000"/>
              </a:lnSpc>
              <a:spcBef>
                <a:spcPct val="0"/>
              </a:spcBef>
              <a:buClrTx/>
              <a:buSzTx/>
            </a:pPr>
            <a:r>
              <a:rPr lang="zh-CN" altLang="en-US" sz="2400" u="sng" dirty="0">
                <a:solidFill>
                  <a:srgbClr val="FF0000"/>
                </a:solidFill>
                <a:latin typeface="方正姚体" panose="02010601030101010101" pitchFamily="2" charset="-122"/>
              </a:rPr>
              <a:t>外键限制分类：</a:t>
            </a:r>
            <a:r>
              <a:rPr lang="zh-CN" altLang="en-US" sz="2200" dirty="0">
                <a:latin typeface="方正姚体" panose="02010601030101010101" pitchFamily="2" charset="-122"/>
              </a:rPr>
              <a:t>列级和表级。列级针对表中一列，表级则</a:t>
            </a:r>
            <a:endParaRPr lang="en-US" altLang="zh-CN" sz="2200" dirty="0">
              <a:latin typeface="方正姚体" panose="02010601030101010101" pitchFamily="2" charset="-122"/>
            </a:endParaRPr>
          </a:p>
          <a:p>
            <a:pPr marL="533400" lvl="0" indent="-533400" eaLnBrk="1" hangingPunct="1">
              <a:lnSpc>
                <a:spcPct val="135000"/>
              </a:lnSpc>
              <a:spcBef>
                <a:spcPct val="0"/>
              </a:spcBef>
              <a:buClrTx/>
              <a:buSzTx/>
              <a:buFont typeface="Arial" panose="020B0604020202020204" pitchFamily="34" charset="0"/>
              <a:buNone/>
            </a:pPr>
            <a:r>
              <a:rPr lang="en-US" altLang="zh-CN" sz="2200" dirty="0">
                <a:latin typeface="方正姚体" panose="02010601030101010101" pitchFamily="2" charset="-122"/>
              </a:rPr>
              <a:t>                                      </a:t>
            </a:r>
            <a:r>
              <a:rPr lang="zh-CN" altLang="en-US" sz="2200" dirty="0">
                <a:latin typeface="方正姚体" panose="02010601030101010101" pitchFamily="2" charset="-122"/>
              </a:rPr>
              <a:t>针对同一表中多列。</a:t>
            </a:r>
            <a:endParaRPr lang="zh-CN" altLang="en-US" sz="2200" i="1" dirty="0"/>
          </a:p>
        </p:txBody>
      </p:sp>
      <p:sp>
        <p:nvSpPr>
          <p:cNvPr id="8090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63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63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3"/>
          <p:cNvSpPr txBox="1"/>
          <p:nvPr/>
        </p:nvSpPr>
        <p:spPr>
          <a:xfrm>
            <a:off x="457200" y="1470025"/>
            <a:ext cx="8316913" cy="48831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buClr>
                <a:srgbClr val="0000CC"/>
              </a:buClr>
            </a:pPr>
            <a:r>
              <a:rPr lang="zh-CN" altLang="en-US" sz="2600" dirty="0">
                <a:solidFill>
                  <a:srgbClr val="660066"/>
                </a:solidFill>
                <a:latin typeface="华文楷体" panose="02010600040101010101" pitchFamily="2" charset="-122"/>
              </a:rPr>
              <a:t>列级外键约束定义：（例3-14）</a:t>
            </a:r>
            <a:endParaRPr lang="zh-CN" altLang="en-US" sz="2600" dirty="0">
              <a:solidFill>
                <a:srgbClr val="660066"/>
              </a:solidFill>
              <a:latin typeface="华文楷体" panose="02010600040101010101" pitchFamily="2" charset="-122"/>
            </a:endParaRPr>
          </a:p>
          <a:p>
            <a:pPr marL="533400" lvl="0" indent="-533400" eaLnBrk="1" hangingPunct="1">
              <a:lnSpc>
                <a:spcPct val="90000"/>
              </a:lnSpc>
              <a:buClr>
                <a:srgbClr val="0000CC"/>
              </a:buClr>
              <a:buFont typeface="Arial" panose="020B0604020202020204" pitchFamily="34" charset="0"/>
              <a:buNone/>
            </a:pPr>
            <a:r>
              <a:rPr lang="zh-CN" altLang="en-US" sz="2600" dirty="0">
                <a:latin typeface="Times New Roman" panose="02020603050405020304" pitchFamily="18" charset="0"/>
              </a:rPr>
              <a:t>         </a:t>
            </a:r>
            <a:r>
              <a:rPr lang="zh-CN" altLang="en-US" dirty="0">
                <a:latin typeface="Times New Roman" panose="02020603050405020304" pitchFamily="18" charset="0"/>
              </a:rPr>
              <a:t>CREATE TABLE  titles</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              title_id	    </a:t>
            </a:r>
            <a:r>
              <a:rPr lang="en-US" altLang="zh-CN" dirty="0">
                <a:latin typeface="Times New Roman" panose="02020603050405020304" pitchFamily="18" charset="0"/>
              </a:rPr>
              <a:t>int</a:t>
            </a:r>
            <a:r>
              <a:rPr lang="zh-CN" altLang="en-US" dirty="0">
                <a:latin typeface="Times New Roman" panose="02020603050405020304" pitchFamily="18" charset="0"/>
              </a:rPr>
              <a:t>		     </a:t>
            </a:r>
            <a:r>
              <a:rPr lang="en-US" altLang="zh-CN" dirty="0">
                <a:latin typeface="Times New Roman" panose="02020603050405020304" pitchFamily="18" charset="0"/>
              </a:rPr>
              <a:t>primary key</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title              varchar(4)	 	NULL,</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pub_id	   char(4)		NULL</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CONSTRAINT      pub_id_const</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REFERENCES	  publishers (pub_id)</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ON  DELETE  CASCADE</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ON  UPDATE  NO ACTION,</a:t>
            </a:r>
            <a:endParaRPr lang="zh-CN" altLang="en-US" dirty="0">
              <a:latin typeface="Times New Roman" panose="02020603050405020304" pitchFamily="18" charset="0"/>
            </a:endParaRPr>
          </a:p>
          <a:p>
            <a:pPr marL="533400" lvl="0" indent="-533400" eaLnBrk="1" hangingPunct="1">
              <a:lnSpc>
                <a:spcPct val="90000"/>
              </a:lnSpc>
              <a:spcBef>
                <a:spcPct val="0"/>
              </a:spcBef>
              <a:buFont typeface="Arial" panose="020B0604020202020204" pitchFamily="34" charset="0"/>
              <a:buNone/>
            </a:pPr>
            <a:r>
              <a:rPr lang="zh-CN" altLang="en-US" dirty="0">
                <a:latin typeface="Times New Roman" panose="02020603050405020304" pitchFamily="18" charset="0"/>
              </a:rPr>
              <a:t>                           notes	   varchar(23)	 	NULL)</a:t>
            </a:r>
            <a:endParaRPr lang="zh-CN" altLang="en-US" dirty="0">
              <a:latin typeface="Times New Roman" panose="02020603050405020304" pitchFamily="18" charset="0"/>
            </a:endParaRPr>
          </a:p>
          <a:p>
            <a:pPr marL="533400" lvl="0" indent="-533400" eaLnBrk="1" hangingPunct="1">
              <a:lnSpc>
                <a:spcPct val="90000"/>
              </a:lnSpc>
              <a:spcBef>
                <a:spcPct val="0"/>
              </a:spcBef>
              <a:buSzPct val="150000"/>
            </a:pPr>
            <a:endParaRPr lang="zh-CN" altLang="en-US" dirty="0">
              <a:latin typeface="Times New Roman" panose="02020603050405020304" pitchFamily="18" charset="0"/>
            </a:endParaRPr>
          </a:p>
          <a:p>
            <a:pPr marL="533400" lvl="0" indent="-533400" eaLnBrk="1" hangingPunct="1">
              <a:lnSpc>
                <a:spcPct val="90000"/>
              </a:lnSpc>
              <a:spcBef>
                <a:spcPct val="0"/>
              </a:spcBef>
            </a:pPr>
            <a:r>
              <a:rPr lang="zh-CN" altLang="en-US" sz="2400" dirty="0">
                <a:latin typeface="华文楷体" panose="02010600040101010101" pitchFamily="2" charset="-122"/>
              </a:rPr>
              <a:t>定义了三个子约束：</a:t>
            </a:r>
            <a:endParaRPr lang="zh-CN" altLang="en-US" sz="2400" dirty="0">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200" dirty="0">
                <a:latin typeface="华文楷体" panose="02010600040101010101" pitchFamily="2" charset="-122"/>
              </a:rPr>
              <a:t>1</a:t>
            </a:r>
            <a:r>
              <a:rPr lang="en-US" altLang="zh-CN" sz="2200" dirty="0">
                <a:latin typeface="华文楷体" panose="02010600040101010101" pitchFamily="2" charset="-122"/>
              </a:rPr>
              <a:t>.</a:t>
            </a:r>
            <a:r>
              <a:rPr lang="zh-CN" altLang="en-US" sz="2200" dirty="0">
                <a:latin typeface="华文楷体" panose="02010600040101010101" pitchFamily="2" charset="-122"/>
              </a:rPr>
              <a:t>约束“从表→主表”方向的参照完整性；</a:t>
            </a:r>
            <a:endParaRPr lang="zh-CN" altLang="en-US" sz="2200" dirty="0">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200" dirty="0">
                <a:solidFill>
                  <a:srgbClr val="FF0000"/>
                </a:solidFill>
                <a:latin typeface="华文楷体" panose="02010600040101010101" pitchFamily="2" charset="-122"/>
              </a:rPr>
              <a:t>2</a:t>
            </a:r>
            <a:r>
              <a:rPr lang="en-US" altLang="zh-CN" sz="2200" dirty="0">
                <a:solidFill>
                  <a:srgbClr val="FF0000"/>
                </a:solidFill>
                <a:latin typeface="华文楷体" panose="02010600040101010101" pitchFamily="2" charset="-122"/>
              </a:rPr>
              <a:t>.</a:t>
            </a:r>
            <a:r>
              <a:rPr lang="zh-CN" altLang="en-US" sz="2200" dirty="0">
                <a:solidFill>
                  <a:srgbClr val="FF0000"/>
                </a:solidFill>
                <a:latin typeface="华文楷体" panose="02010600040101010101" pitchFamily="2" charset="-122"/>
              </a:rPr>
              <a:t>约束“主表(删除主键）→从表”的数据完整性。</a:t>
            </a:r>
            <a:endParaRPr lang="zh-CN" altLang="en-US" sz="2200" dirty="0">
              <a:solidFill>
                <a:srgbClr val="FF0000"/>
              </a:solidFill>
              <a:latin typeface="华文楷体" panose="02010600040101010101" pitchFamily="2" charset="-122"/>
            </a:endParaRPr>
          </a:p>
          <a:p>
            <a:pPr marL="914400" lvl="1" indent="-457200" eaLnBrk="1" hangingPunct="1">
              <a:lnSpc>
                <a:spcPct val="90000"/>
              </a:lnSpc>
              <a:spcBef>
                <a:spcPct val="0"/>
              </a:spcBef>
              <a:buFont typeface="Arial" panose="020B0604020202020204" pitchFamily="34" charset="0"/>
              <a:buNone/>
            </a:pPr>
            <a:r>
              <a:rPr lang="zh-CN" altLang="en-US" sz="2200" dirty="0">
                <a:solidFill>
                  <a:srgbClr val="FF0000"/>
                </a:solidFill>
                <a:latin typeface="华文楷体" panose="02010600040101010101" pitchFamily="2" charset="-122"/>
              </a:rPr>
              <a:t>3</a:t>
            </a:r>
            <a:r>
              <a:rPr lang="en-US" altLang="zh-CN" sz="2200" dirty="0">
                <a:solidFill>
                  <a:srgbClr val="FF0000"/>
                </a:solidFill>
                <a:latin typeface="华文楷体" panose="02010600040101010101" pitchFamily="2" charset="-122"/>
              </a:rPr>
              <a:t>.</a:t>
            </a:r>
            <a:r>
              <a:rPr lang="zh-CN" altLang="en-US" sz="2200" dirty="0">
                <a:solidFill>
                  <a:srgbClr val="FF0000"/>
                </a:solidFill>
                <a:latin typeface="华文楷体" panose="02010600040101010101" pitchFamily="2" charset="-122"/>
              </a:rPr>
              <a:t>约束“主表(修改主键）→从表”的数据完整性。</a:t>
            </a:r>
            <a:endParaRPr lang="zh-CN" altLang="en-US" sz="2200" dirty="0">
              <a:solidFill>
                <a:srgbClr val="FF0000"/>
              </a:solidFill>
              <a:latin typeface="华文楷体" panose="02010600040101010101" pitchFamily="2" charset="-122"/>
            </a:endParaRPr>
          </a:p>
        </p:txBody>
      </p:sp>
      <p:grpSp>
        <p:nvGrpSpPr>
          <p:cNvPr id="57347" name="Group 14"/>
          <p:cNvGrpSpPr/>
          <p:nvPr/>
        </p:nvGrpSpPr>
        <p:grpSpPr>
          <a:xfrm>
            <a:off x="604838" y="2238375"/>
            <a:ext cx="1439862" cy="647700"/>
            <a:chOff x="0" y="0"/>
            <a:chExt cx="907" cy="408"/>
          </a:xfrm>
        </p:grpSpPr>
        <p:sp>
          <p:nvSpPr>
            <p:cNvPr id="81936" name="Text Box 15"/>
            <p:cNvSpPr txBox="1"/>
            <p:nvPr/>
          </p:nvSpPr>
          <p:spPr>
            <a:xfrm>
              <a:off x="0" y="0"/>
              <a:ext cx="657" cy="326"/>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latin typeface="宋体" panose="02010600030101010101" pitchFamily="2" charset="-122"/>
                </a:rPr>
                <a:t>外键</a:t>
              </a:r>
              <a:endParaRPr lang="zh-CN" altLang="en-US" sz="2400" dirty="0">
                <a:latin typeface="宋体" panose="02010600030101010101" pitchFamily="2" charset="-122"/>
              </a:endParaRPr>
            </a:p>
          </p:txBody>
        </p:sp>
        <p:sp>
          <p:nvSpPr>
            <p:cNvPr id="81937" name="Line 16"/>
            <p:cNvSpPr/>
            <p:nvPr/>
          </p:nvSpPr>
          <p:spPr>
            <a:xfrm>
              <a:off x="680" y="136"/>
              <a:ext cx="227" cy="272"/>
            </a:xfrm>
            <a:prstGeom prst="line">
              <a:avLst/>
            </a:prstGeom>
            <a:ln w="28575" cap="flat" cmpd="sng">
              <a:solidFill>
                <a:srgbClr val="000000"/>
              </a:solidFill>
              <a:prstDash val="solid"/>
              <a:headEnd type="none" w="med" len="med"/>
              <a:tailEnd type="triangle" w="med" len="med"/>
            </a:ln>
          </p:spPr>
        </p:sp>
      </p:grpSp>
      <p:grpSp>
        <p:nvGrpSpPr>
          <p:cNvPr id="57350" name="Group 7"/>
          <p:cNvGrpSpPr/>
          <p:nvPr/>
        </p:nvGrpSpPr>
        <p:grpSpPr>
          <a:xfrm>
            <a:off x="0" y="2997200"/>
            <a:ext cx="2051050" cy="469900"/>
            <a:chOff x="0" y="0"/>
            <a:chExt cx="1292" cy="296"/>
          </a:xfrm>
        </p:grpSpPr>
        <p:sp>
          <p:nvSpPr>
            <p:cNvPr id="81934" name="Text Box 8"/>
            <p:cNvSpPr txBox="1"/>
            <p:nvPr/>
          </p:nvSpPr>
          <p:spPr>
            <a:xfrm>
              <a:off x="0" y="0"/>
              <a:ext cx="1225" cy="296"/>
            </a:xfrm>
            <a:prstGeom prst="rect">
              <a:avLst/>
            </a:prstGeom>
            <a:solidFill>
              <a:srgbClr val="FFFF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solidFill>
                    <a:srgbClr val="CC3300"/>
                  </a:solidFill>
                  <a:latin typeface="华文楷体" panose="02010600040101010101" pitchFamily="2" charset="-122"/>
                  <a:ea typeface="华文楷体" panose="02010600040101010101" pitchFamily="2" charset="-122"/>
                  <a:sym typeface="Wingdings 2" panose="05020102010507070707" pitchFamily="18" charset="2"/>
                </a:rPr>
                <a:t>从表参照主表</a:t>
              </a:r>
              <a:r>
                <a:rPr lang="zh-CN" altLang="en-US" i="1" dirty="0">
                  <a:solidFill>
                    <a:srgbClr val="CC3300"/>
                  </a:solidFill>
                  <a:latin typeface="宋体" panose="02010600030101010101" pitchFamily="2" charset="-122"/>
                  <a:sym typeface="Wingdings" panose="05000000000000000000" pitchFamily="2" charset="2"/>
                </a:rPr>
                <a:t> </a:t>
              </a:r>
              <a:endParaRPr lang="zh-CN" altLang="en-US" dirty="0">
                <a:latin typeface="宋体" panose="02010600030101010101" pitchFamily="2" charset="-122"/>
                <a:sym typeface="Wingdings" panose="05000000000000000000" pitchFamily="2" charset="2"/>
              </a:endParaRPr>
            </a:p>
          </p:txBody>
        </p:sp>
        <p:sp>
          <p:nvSpPr>
            <p:cNvPr id="81935" name="Line 9"/>
            <p:cNvSpPr/>
            <p:nvPr/>
          </p:nvSpPr>
          <p:spPr>
            <a:xfrm>
              <a:off x="1066" y="181"/>
              <a:ext cx="226" cy="91"/>
            </a:xfrm>
            <a:prstGeom prst="line">
              <a:avLst/>
            </a:prstGeom>
            <a:ln w="38100" cap="flat" cmpd="sng">
              <a:solidFill>
                <a:srgbClr val="CC0000"/>
              </a:solidFill>
              <a:prstDash val="solid"/>
              <a:headEnd type="none" w="med" len="med"/>
              <a:tailEnd type="triangle" w="med" len="med"/>
            </a:ln>
          </p:spPr>
        </p:sp>
      </p:grpSp>
      <p:grpSp>
        <p:nvGrpSpPr>
          <p:cNvPr id="57353" name="Group 10"/>
          <p:cNvGrpSpPr/>
          <p:nvPr/>
        </p:nvGrpSpPr>
        <p:grpSpPr>
          <a:xfrm>
            <a:off x="0" y="3644900"/>
            <a:ext cx="2051050" cy="1311275"/>
            <a:chOff x="0" y="0"/>
            <a:chExt cx="1292" cy="826"/>
          </a:xfrm>
        </p:grpSpPr>
        <p:sp>
          <p:nvSpPr>
            <p:cNvPr id="81931" name="Text Box 11"/>
            <p:cNvSpPr txBox="1"/>
            <p:nvPr/>
          </p:nvSpPr>
          <p:spPr>
            <a:xfrm>
              <a:off x="0" y="0"/>
              <a:ext cx="1225" cy="826"/>
            </a:xfrm>
            <a:prstGeom prst="rect">
              <a:avLst/>
            </a:prstGeom>
            <a:solidFill>
              <a:srgbClr val="FFFF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CC3300"/>
                  </a:solidFill>
                  <a:latin typeface="华文楷体" panose="02010600040101010101" pitchFamily="2" charset="-122"/>
                  <a:ea typeface="华文楷体" panose="02010600040101010101" pitchFamily="2" charset="-122"/>
                  <a:sym typeface="Wingdings 2" panose="05020102010507070707" pitchFamily="18" charset="2"/>
                </a:rPr>
                <a:t>主表如果有如下操作时，从表级联操作或主表不做操作</a:t>
              </a:r>
              <a:r>
                <a:rPr lang="zh-CN" altLang="en-US" i="1" dirty="0">
                  <a:solidFill>
                    <a:srgbClr val="CC3300"/>
                  </a:solidFill>
                  <a:latin typeface="宋体" panose="02010600030101010101" pitchFamily="2" charset="-122"/>
                  <a:sym typeface="Wingdings" panose="05000000000000000000" pitchFamily="2" charset="2"/>
                </a:rPr>
                <a:t> </a:t>
              </a:r>
              <a:endParaRPr lang="zh-CN" altLang="en-US" dirty="0">
                <a:latin typeface="宋体" panose="02010600030101010101" pitchFamily="2" charset="-122"/>
                <a:sym typeface="Wingdings" panose="05000000000000000000" pitchFamily="2" charset="2"/>
              </a:endParaRPr>
            </a:p>
          </p:txBody>
        </p:sp>
        <p:sp>
          <p:nvSpPr>
            <p:cNvPr id="81932" name="Line 12"/>
            <p:cNvSpPr/>
            <p:nvPr/>
          </p:nvSpPr>
          <p:spPr>
            <a:xfrm flipV="1">
              <a:off x="1111" y="0"/>
              <a:ext cx="181" cy="182"/>
            </a:xfrm>
            <a:prstGeom prst="line">
              <a:avLst/>
            </a:prstGeom>
            <a:ln w="38100" cap="flat" cmpd="sng">
              <a:solidFill>
                <a:srgbClr val="CC0000"/>
              </a:solidFill>
              <a:prstDash val="solid"/>
              <a:headEnd type="none" w="med" len="med"/>
              <a:tailEnd type="triangle" w="med" len="med"/>
            </a:ln>
          </p:spPr>
        </p:sp>
        <p:sp>
          <p:nvSpPr>
            <p:cNvPr id="81933" name="Line 13"/>
            <p:cNvSpPr/>
            <p:nvPr/>
          </p:nvSpPr>
          <p:spPr>
            <a:xfrm flipV="1">
              <a:off x="1111" y="227"/>
              <a:ext cx="181" cy="137"/>
            </a:xfrm>
            <a:prstGeom prst="line">
              <a:avLst/>
            </a:prstGeom>
            <a:ln w="38100" cap="flat" cmpd="sng">
              <a:solidFill>
                <a:srgbClr val="CC0000"/>
              </a:solidFill>
              <a:prstDash val="solid"/>
              <a:headEnd type="none" w="med" len="med"/>
              <a:tailEnd type="triangle" w="med" len="med"/>
            </a:ln>
          </p:spPr>
        </p:sp>
      </p:grpSp>
      <p:grpSp>
        <p:nvGrpSpPr>
          <p:cNvPr id="57357" name="Group 4"/>
          <p:cNvGrpSpPr/>
          <p:nvPr/>
        </p:nvGrpSpPr>
        <p:grpSpPr>
          <a:xfrm>
            <a:off x="5895975" y="2828925"/>
            <a:ext cx="2771775" cy="863600"/>
            <a:chOff x="0" y="0"/>
            <a:chExt cx="1746" cy="544"/>
          </a:xfrm>
        </p:grpSpPr>
        <p:sp>
          <p:nvSpPr>
            <p:cNvPr id="81929" name="Oval 5"/>
            <p:cNvSpPr/>
            <p:nvPr/>
          </p:nvSpPr>
          <p:spPr>
            <a:xfrm>
              <a:off x="590" y="0"/>
              <a:ext cx="1156" cy="544"/>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10000"/>
                </a:lnSpc>
                <a:spcBef>
                  <a:spcPct val="0"/>
                </a:spcBef>
                <a:buClrTx/>
                <a:buSzTx/>
                <a:buFont typeface="Arial" panose="020B0604020202020204" pitchFamily="34" charset="0"/>
                <a:buNone/>
              </a:pPr>
              <a:r>
                <a:rPr lang="zh-CN" altLang="en-US" sz="2400" dirty="0">
                  <a:latin typeface="宋体" panose="02010600030101010101" pitchFamily="2" charset="-122"/>
                </a:rPr>
                <a:t>外键约束</a:t>
              </a:r>
              <a:endParaRPr lang="zh-CN" altLang="en-US" sz="2400" dirty="0">
                <a:latin typeface="宋体" panose="02010600030101010101" pitchFamily="2" charset="-122"/>
              </a:endParaRPr>
            </a:p>
            <a:p>
              <a:pPr marL="0" lvl="0" indent="0" algn="ctr" eaLnBrk="1" hangingPunct="1">
                <a:lnSpc>
                  <a:spcPct val="110000"/>
                </a:lnSpc>
                <a:spcBef>
                  <a:spcPct val="0"/>
                </a:spcBef>
                <a:buClrTx/>
                <a:buSzTx/>
                <a:buFont typeface="Arial" panose="020B0604020202020204" pitchFamily="34" charset="0"/>
                <a:buNone/>
              </a:pPr>
              <a:r>
                <a:rPr lang="zh-CN" altLang="en-US" sz="2400" dirty="0">
                  <a:latin typeface="宋体" panose="02010600030101010101" pitchFamily="2" charset="-122"/>
                </a:rPr>
                <a:t>的名称</a:t>
              </a:r>
              <a:endParaRPr lang="zh-CN" altLang="en-US" sz="2400" dirty="0">
                <a:latin typeface="宋体" panose="02010600030101010101" pitchFamily="2" charset="-122"/>
              </a:endParaRPr>
            </a:p>
          </p:txBody>
        </p:sp>
        <p:sp>
          <p:nvSpPr>
            <p:cNvPr id="81930" name="Line 6"/>
            <p:cNvSpPr/>
            <p:nvPr/>
          </p:nvSpPr>
          <p:spPr>
            <a:xfrm flipH="1">
              <a:off x="0" y="272"/>
              <a:ext cx="590" cy="91"/>
            </a:xfrm>
            <a:prstGeom prst="line">
              <a:avLst/>
            </a:prstGeom>
            <a:ln w="28575" cap="flat" cmpd="sng">
              <a:solidFill>
                <a:schemeClr val="tx1"/>
              </a:solidFill>
              <a:prstDash val="solid"/>
              <a:headEnd type="none" w="med" len="med"/>
              <a:tailEnd type="triangle" w="med" len="med"/>
            </a:ln>
          </p:spPr>
        </p:sp>
      </p:grpSp>
      <p:sp>
        <p:nvSpPr>
          <p:cNvPr id="81927"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192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7346">
                                            <p:txEl>
                                              <p:charRg st="494" end="504"/>
                                            </p:txEl>
                                          </p:spTgt>
                                        </p:tgtEl>
                                        <p:attrNameLst>
                                          <p:attrName>style.visibility</p:attrName>
                                        </p:attrNameLst>
                                      </p:cBhvr>
                                      <p:to>
                                        <p:strVal val="visible"/>
                                      </p:to>
                                    </p:set>
                                    <p:animEffect transition="in" filter="dissolve">
                                      <p:cBhvr>
                                        <p:cTn id="7" dur="500"/>
                                        <p:tgtEl>
                                          <p:spTgt spid="57346">
                                            <p:txEl>
                                              <p:charRg st="494" end="50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7346">
                                            <p:txEl>
                                              <p:charRg st="504" end="525"/>
                                            </p:txEl>
                                          </p:spTgt>
                                        </p:tgtEl>
                                        <p:attrNameLst>
                                          <p:attrName>style.visibility</p:attrName>
                                        </p:attrNameLst>
                                      </p:cBhvr>
                                      <p:to>
                                        <p:strVal val="visible"/>
                                      </p:to>
                                    </p:set>
                                    <p:animEffect transition="in" filter="dissolve">
                                      <p:cBhvr>
                                        <p:cTn id="12" dur="500"/>
                                        <p:tgtEl>
                                          <p:spTgt spid="57346">
                                            <p:txEl>
                                              <p:charRg st="504" end="5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7346">
                                            <p:txEl>
                                              <p:charRg st="525" end="550"/>
                                            </p:txEl>
                                          </p:spTgt>
                                        </p:tgtEl>
                                        <p:attrNameLst>
                                          <p:attrName>style.visibility</p:attrName>
                                        </p:attrNameLst>
                                      </p:cBhvr>
                                      <p:to>
                                        <p:strVal val="visible"/>
                                      </p:to>
                                    </p:set>
                                    <p:animEffect transition="in" filter="dissolve">
                                      <p:cBhvr>
                                        <p:cTn id="17" dur="500"/>
                                        <p:tgtEl>
                                          <p:spTgt spid="57346">
                                            <p:txEl>
                                              <p:charRg st="525" end="550"/>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57346">
                                            <p:txEl>
                                              <p:charRg st="550" end="575"/>
                                            </p:txEl>
                                          </p:spTgt>
                                        </p:tgtEl>
                                        <p:attrNameLst>
                                          <p:attrName>style.visibility</p:attrName>
                                        </p:attrNameLst>
                                      </p:cBhvr>
                                      <p:to>
                                        <p:strVal val="visible"/>
                                      </p:to>
                                    </p:set>
                                    <p:animEffect transition="in" filter="dissolve">
                                      <p:cBhvr>
                                        <p:cTn id="20" dur="500"/>
                                        <p:tgtEl>
                                          <p:spTgt spid="57346">
                                            <p:txEl>
                                              <p:charRg st="550" end="57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7347"/>
                                        </p:tgtEl>
                                        <p:attrNameLst>
                                          <p:attrName>style.visibility</p:attrName>
                                        </p:attrNameLst>
                                      </p:cBhvr>
                                      <p:to>
                                        <p:strVal val="visible"/>
                                      </p:to>
                                    </p:set>
                                    <p:animEffect transition="in" filter="wipe(down)">
                                      <p:cBhvr>
                                        <p:cTn id="25" dur="500"/>
                                        <p:tgtEl>
                                          <p:spTgt spid="57347"/>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57350"/>
                                        </p:tgtEl>
                                        <p:attrNameLst>
                                          <p:attrName>style.visibility</p:attrName>
                                        </p:attrNameLst>
                                      </p:cBhvr>
                                      <p:to>
                                        <p:strVal val="visible"/>
                                      </p:to>
                                    </p:set>
                                    <p:anim calcmode="lin" valueType="num">
                                      <p:cBhvr>
                                        <p:cTn id="30" dur="500" fill="hold"/>
                                        <p:tgtEl>
                                          <p:spTgt spid="57350"/>
                                        </p:tgtEl>
                                        <p:attrNameLst>
                                          <p:attrName>ppt_w</p:attrName>
                                        </p:attrNameLst>
                                      </p:cBhvr>
                                      <p:tavLst>
                                        <p:tav tm="0">
                                          <p:val>
                                            <p:fltVal val="0.000000"/>
                                          </p:val>
                                        </p:tav>
                                        <p:tav tm="100000">
                                          <p:val>
                                            <p:strVal val="#ppt_w"/>
                                          </p:val>
                                        </p:tav>
                                      </p:tavLst>
                                    </p:anim>
                                    <p:anim calcmode="lin" valueType="num">
                                      <p:cBhvr>
                                        <p:cTn id="31" dur="500" fill="hold"/>
                                        <p:tgtEl>
                                          <p:spTgt spid="57350"/>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57353"/>
                                        </p:tgtEl>
                                        <p:attrNameLst>
                                          <p:attrName>style.visibility</p:attrName>
                                        </p:attrNameLst>
                                      </p:cBhvr>
                                      <p:to>
                                        <p:strVal val="visible"/>
                                      </p:to>
                                    </p:set>
                                    <p:anim calcmode="lin" valueType="num">
                                      <p:cBhvr>
                                        <p:cTn id="36" dur="1000" fill="hold"/>
                                        <p:tgtEl>
                                          <p:spTgt spid="57353"/>
                                        </p:tgtEl>
                                        <p:attrNameLst>
                                          <p:attrName>ppt_w</p:attrName>
                                        </p:attrNameLst>
                                      </p:cBhvr>
                                      <p:tavLst>
                                        <p:tav tm="0">
                                          <p:val>
                                            <p:strVal val="#ppt_w*0.70"/>
                                          </p:val>
                                        </p:tav>
                                        <p:tav tm="100000">
                                          <p:val>
                                            <p:strVal val="#ppt_w"/>
                                          </p:val>
                                        </p:tav>
                                      </p:tavLst>
                                    </p:anim>
                                    <p:anim calcmode="lin" valueType="num">
                                      <p:cBhvr>
                                        <p:cTn id="37" dur="1000" fill="hold"/>
                                        <p:tgtEl>
                                          <p:spTgt spid="57353"/>
                                        </p:tgtEl>
                                        <p:attrNameLst>
                                          <p:attrName>ppt_h</p:attrName>
                                        </p:attrNameLst>
                                      </p:cBhvr>
                                      <p:tavLst>
                                        <p:tav tm="0">
                                          <p:val>
                                            <p:strVal val="#ppt_h"/>
                                          </p:val>
                                        </p:tav>
                                        <p:tav tm="100000">
                                          <p:val>
                                            <p:strVal val="#ppt_h"/>
                                          </p:val>
                                        </p:tav>
                                      </p:tavLst>
                                    </p:anim>
                                    <p:animEffect transition="in" filter="fade">
                                      <p:cBhvr>
                                        <p:cTn id="38" dur="1000"/>
                                        <p:tgtEl>
                                          <p:spTgt spid="57353"/>
                                        </p:tgtEl>
                                      </p:cBhvr>
                                    </p:animEffect>
                                  </p:childTnLst>
                                </p:cTn>
                              </p:par>
                            </p:childTnLst>
                          </p:cTn>
                        </p:par>
                      </p:childTnLst>
                    </p:cTn>
                  </p:par>
                  <p:par>
                    <p:cTn id="39" fill="hold">
                      <p:stCondLst>
                        <p:cond delay="indefinite"/>
                      </p:stCondLst>
                      <p:childTnLst>
                        <p:par>
                          <p:cTn id="40" fill="hold">
                            <p:stCondLst>
                              <p:cond delay="0"/>
                            </p:stCondLst>
                            <p:childTnLst>
                              <p:par>
                                <p:cTn id="41" presetID="20" presetClass="entr" presetSubtype="0" fill="hold" nodeType="clickEffect">
                                  <p:stCondLst>
                                    <p:cond delay="0"/>
                                  </p:stCondLst>
                                  <p:childTnLst>
                                    <p:set>
                                      <p:cBhvr>
                                        <p:cTn id="42" dur="1" fill="hold">
                                          <p:stCondLst>
                                            <p:cond delay="0"/>
                                          </p:stCondLst>
                                        </p:cTn>
                                        <p:tgtEl>
                                          <p:spTgt spid="57357"/>
                                        </p:tgtEl>
                                        <p:attrNameLst>
                                          <p:attrName>style.visibility</p:attrName>
                                        </p:attrNameLst>
                                      </p:cBhvr>
                                      <p:to>
                                        <p:strVal val="visible"/>
                                      </p:to>
                                    </p:set>
                                    <p:animEffect transition="in" filter="wedge">
                                      <p:cBhvr>
                                        <p:cTn id="43" dur="2000"/>
                                        <p:tgtEl>
                                          <p:spTgt spid="57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
          <p:cNvSpPr txBox="1"/>
          <p:nvPr/>
        </p:nvSpPr>
        <p:spPr>
          <a:xfrm>
            <a:off x="457200" y="1531938"/>
            <a:ext cx="8316913" cy="46990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90000"/>
              </a:lnSpc>
              <a:buClr>
                <a:srgbClr val="0000CC"/>
              </a:buClr>
            </a:pPr>
            <a:r>
              <a:rPr lang="zh-CN" altLang="en-US" sz="2600" dirty="0">
                <a:solidFill>
                  <a:srgbClr val="660066"/>
                </a:solidFill>
                <a:latin typeface="华文楷体" panose="02010600040101010101" pitchFamily="2" charset="-122"/>
              </a:rPr>
              <a:t>表级外键约束定义：（例</a:t>
            </a:r>
            <a:r>
              <a:rPr lang="en-US" altLang="zh-CN" sz="2600" dirty="0">
                <a:solidFill>
                  <a:srgbClr val="660066"/>
                </a:solidFill>
                <a:latin typeface="华文楷体" panose="02010600040101010101" pitchFamily="2" charset="-122"/>
              </a:rPr>
              <a:t>2</a:t>
            </a:r>
            <a:r>
              <a:rPr lang="zh-CN" altLang="en-US" sz="2600" dirty="0">
                <a:solidFill>
                  <a:srgbClr val="660066"/>
                </a:solidFill>
                <a:latin typeface="华文楷体" panose="02010600040101010101" pitchFamily="2" charset="-122"/>
              </a:rPr>
              <a:t>）</a:t>
            </a:r>
            <a:endParaRPr lang="zh-CN" altLang="en-US" sz="2600" dirty="0">
              <a:solidFill>
                <a:srgbClr val="660066"/>
              </a:solidFill>
              <a:latin typeface="华文楷体" panose="02010600040101010101" pitchFamily="2" charset="-122"/>
            </a:endParaRPr>
          </a:p>
          <a:p>
            <a:pPr marL="533400" lvl="0" indent="-533400" eaLnBrk="1" hangingPunct="1">
              <a:spcBef>
                <a:spcPct val="0"/>
              </a:spcBef>
              <a:buClr>
                <a:srgbClr val="0000CC"/>
              </a:buClr>
              <a:buFont typeface="Arial" panose="020B0604020202020204" pitchFamily="34" charset="0"/>
              <a:buNone/>
            </a:pPr>
            <a:r>
              <a:rPr lang="zh-CN" altLang="en-US" sz="2600" dirty="0">
                <a:latin typeface="Times New Roman" panose="02020603050405020304" pitchFamily="18" charset="0"/>
              </a:rPr>
              <a:t>         </a:t>
            </a:r>
            <a:r>
              <a:rPr lang="zh-CN" altLang="en-US" dirty="0">
                <a:latin typeface="Times New Roman" panose="02020603050405020304" pitchFamily="18" charset="0"/>
              </a:rPr>
              <a:t>CREATE TABLE  </a:t>
            </a:r>
            <a:r>
              <a:rPr lang="en-US" altLang="zh-CN" dirty="0">
                <a:latin typeface="Times New Roman" panose="02020603050405020304" pitchFamily="18" charset="0"/>
              </a:rPr>
              <a:t>Ctake</a:t>
            </a:r>
            <a:endParaRPr lang="zh-CN" altLang="en-US"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    </a:t>
            </a:r>
            <a:r>
              <a:rPr lang="en-US" altLang="zh-CN" dirty="0">
                <a:latin typeface="Times New Roman" panose="02020603050405020304" pitchFamily="18" charset="0"/>
              </a:rPr>
              <a:t>CID     char(10)       </a:t>
            </a:r>
            <a:r>
              <a:rPr lang="zh-CN" altLang="en-US" dirty="0">
                <a:latin typeface="Times New Roman" panose="02020603050405020304" pitchFamily="18" charset="0"/>
              </a:rPr>
              <a:t>NOT NULL,</a:t>
            </a:r>
            <a:endParaRPr lang="zh-CN" altLang="en-US"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a:t>
            </a:r>
            <a:r>
              <a:rPr lang="en-US" altLang="zh-CN" dirty="0">
                <a:latin typeface="Times New Roman" panose="02020603050405020304" pitchFamily="18" charset="0"/>
              </a:rPr>
              <a:t>SID     char(10)        NOT </a:t>
            </a:r>
            <a:r>
              <a:rPr lang="zh-CN" altLang="en-US" dirty="0">
                <a:latin typeface="Times New Roman" panose="02020603050405020304" pitchFamily="18" charset="0"/>
              </a:rPr>
              <a:t>NULL,</a:t>
            </a:r>
            <a:endParaRPr lang="zh-CN" altLang="en-US"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a:t>
            </a:r>
            <a:r>
              <a:rPr lang="en-US" altLang="zh-CN" dirty="0">
                <a:latin typeface="Times New Roman" panose="02020603050405020304" pitchFamily="18" charset="0"/>
              </a:rPr>
              <a:t>mark  tinyint check(mark between 0 and 100),</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term  varchar(20),</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a:t>
            </a:r>
            <a:r>
              <a:rPr lang="zh-CN" altLang="en-US" dirty="0">
                <a:latin typeface="Times New Roman" panose="02020603050405020304" pitchFamily="18" charset="0"/>
              </a:rPr>
              <a:t>              CONSTRAINT     </a:t>
            </a:r>
            <a:r>
              <a:rPr lang="en-US" altLang="zh-CN" dirty="0">
                <a:latin typeface="Times New Roman" panose="02020603050405020304" pitchFamily="18" charset="0"/>
              </a:rPr>
              <a:t>CID</a:t>
            </a:r>
            <a:r>
              <a:rPr lang="zh-CN" altLang="en-US" dirty="0">
                <a:latin typeface="Times New Roman" panose="02020603050405020304" pitchFamily="18" charset="0"/>
              </a:rPr>
              <a:t>_const</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FOREIGN KEY(CID)</a:t>
            </a:r>
            <a:r>
              <a:rPr lang="zh-CN" altLang="en-US" dirty="0">
                <a:latin typeface="Times New Roman" panose="02020603050405020304" pitchFamily="18" charset="0"/>
              </a:rPr>
              <a:t>    REFERENCES </a:t>
            </a:r>
            <a:r>
              <a:rPr lang="en-US" altLang="zh-CN" dirty="0">
                <a:solidFill>
                  <a:srgbClr val="0033CC"/>
                </a:solidFill>
                <a:latin typeface="Times New Roman" panose="02020603050405020304" pitchFamily="18" charset="0"/>
              </a:rPr>
              <a:t>Course</a:t>
            </a:r>
            <a:r>
              <a:rPr lang="zh-CN" altLang="en-US" dirty="0">
                <a:solidFill>
                  <a:srgbClr val="0033CC"/>
                </a:solidFill>
                <a:latin typeface="Times New Roman" panose="02020603050405020304" pitchFamily="18" charset="0"/>
              </a:rPr>
              <a:t>(</a:t>
            </a:r>
            <a:r>
              <a:rPr lang="en-US" altLang="zh-CN" dirty="0">
                <a:solidFill>
                  <a:srgbClr val="0033CC"/>
                </a:solidFill>
                <a:latin typeface="Times New Roman" panose="02020603050405020304" pitchFamily="18" charset="0"/>
              </a:rPr>
              <a:t>CID</a:t>
            </a:r>
            <a:r>
              <a:rPr lang="zh-CN" altLang="en-US" dirty="0">
                <a:solidFill>
                  <a:srgbClr val="0033CC"/>
                </a:solidFill>
                <a:latin typeface="Times New Roman" panose="02020603050405020304" pitchFamily="18" charset="0"/>
              </a:rPr>
              <a:t>)</a:t>
            </a:r>
            <a:endParaRPr lang="zh-CN" altLang="en-US" dirty="0">
              <a:solidFill>
                <a:srgbClr val="0033CC"/>
              </a:solidFill>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ON  DELETE  CASCADE   ON  UPDATE CASCADE</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a:t>
            </a:r>
            <a:r>
              <a:rPr lang="zh-CN" altLang="en-US" dirty="0">
                <a:latin typeface="Times New Roman" panose="02020603050405020304" pitchFamily="18" charset="0"/>
              </a:rPr>
              <a:t>CONSTRAINT     </a:t>
            </a:r>
            <a:r>
              <a:rPr lang="en-US" altLang="zh-CN" dirty="0">
                <a:latin typeface="Times New Roman" panose="02020603050405020304" pitchFamily="18" charset="0"/>
              </a:rPr>
              <a:t>SID</a:t>
            </a:r>
            <a:r>
              <a:rPr lang="zh-CN" altLang="en-US" dirty="0">
                <a:latin typeface="Times New Roman" panose="02020603050405020304" pitchFamily="18" charset="0"/>
              </a:rPr>
              <a:t>_const</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FOREIGN KEY(SID)    </a:t>
            </a:r>
            <a:r>
              <a:rPr lang="zh-CN" altLang="en-US" dirty="0">
                <a:latin typeface="Times New Roman" panose="02020603050405020304" pitchFamily="18" charset="0"/>
              </a:rPr>
              <a:t>REFERENCES </a:t>
            </a:r>
            <a:r>
              <a:rPr lang="en-US" altLang="zh-CN" dirty="0">
                <a:solidFill>
                  <a:srgbClr val="0033CC"/>
                </a:solidFill>
                <a:latin typeface="Times New Roman" panose="02020603050405020304" pitchFamily="18" charset="0"/>
              </a:rPr>
              <a:t>Stu</a:t>
            </a:r>
            <a:r>
              <a:rPr lang="zh-CN" altLang="en-US" dirty="0">
                <a:solidFill>
                  <a:srgbClr val="0033CC"/>
                </a:solidFill>
                <a:latin typeface="Times New Roman" panose="02020603050405020304" pitchFamily="18" charset="0"/>
              </a:rPr>
              <a:t>(</a:t>
            </a:r>
            <a:r>
              <a:rPr lang="en-US" altLang="zh-CN" dirty="0">
                <a:solidFill>
                  <a:srgbClr val="0033CC"/>
                </a:solidFill>
                <a:latin typeface="Times New Roman" panose="02020603050405020304" pitchFamily="18" charset="0"/>
              </a:rPr>
              <a:t>SID</a:t>
            </a:r>
            <a:r>
              <a:rPr lang="zh-CN" altLang="en-US" dirty="0">
                <a:solidFill>
                  <a:srgbClr val="0033CC"/>
                </a:solidFill>
                <a:latin typeface="Times New Roman" panose="02020603050405020304" pitchFamily="18" charset="0"/>
              </a:rPr>
              <a:t>)</a:t>
            </a:r>
            <a:endParaRPr lang="zh-CN" altLang="en-US" dirty="0">
              <a:solidFill>
                <a:srgbClr val="0033CC"/>
              </a:solidFill>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ON  DELETE  </a:t>
            </a:r>
            <a:r>
              <a:rPr lang="en-US" altLang="zh-CN" dirty="0">
                <a:latin typeface="Times New Roman" panose="02020603050405020304" pitchFamily="18" charset="0"/>
              </a:rPr>
              <a:t>NOACTION</a:t>
            </a:r>
            <a:r>
              <a:rPr lang="zh-CN" altLang="en-US" dirty="0">
                <a:latin typeface="Times New Roman" panose="02020603050405020304" pitchFamily="18" charset="0"/>
              </a:rPr>
              <a:t>     ON  UPDATE  </a:t>
            </a:r>
            <a:r>
              <a:rPr lang="en-US" altLang="zh-CN" dirty="0">
                <a:latin typeface="Times New Roman" panose="02020603050405020304" pitchFamily="18" charset="0"/>
              </a:rPr>
              <a:t>NOACTION, </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en-US" altLang="zh-CN" dirty="0">
                <a:latin typeface="Times New Roman" panose="02020603050405020304" pitchFamily="18" charset="0"/>
              </a:rPr>
              <a:t>                 Primary(CID,SID)                   </a:t>
            </a:r>
            <a:endParaRPr lang="en-US" altLang="zh-CN" dirty="0">
              <a:latin typeface="Times New Roman" panose="02020603050405020304" pitchFamily="18" charset="0"/>
            </a:endParaRPr>
          </a:p>
          <a:p>
            <a:pPr marL="533400" lvl="0" indent="-533400" eaLnBrk="1" hangingPunct="1">
              <a:spcBef>
                <a:spcPct val="0"/>
              </a:spcBef>
              <a:buFont typeface="Arial" panose="020B0604020202020204" pitchFamily="34" charset="0"/>
              <a:buNone/>
            </a:pP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533400" lvl="0" indent="-533400" eaLnBrk="1" hangingPunct="1">
              <a:spcBef>
                <a:spcPct val="0"/>
              </a:spcBef>
              <a:buSzPct val="150000"/>
            </a:pPr>
            <a:endParaRPr lang="zh-CN" altLang="en-US" dirty="0">
              <a:latin typeface="Times New Roman" panose="02020603050405020304" pitchFamily="18" charset="0"/>
            </a:endParaRPr>
          </a:p>
        </p:txBody>
      </p:sp>
      <p:sp>
        <p:nvSpPr>
          <p:cNvPr id="82947"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294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5" name="Rectangle 3"/>
          <p:cNvSpPr txBox="1"/>
          <p:nvPr/>
        </p:nvSpPr>
        <p:spPr>
          <a:xfrm>
            <a:off x="596900" y="1524000"/>
            <a:ext cx="8229600" cy="34671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ts val="600"/>
              </a:spcBef>
            </a:pPr>
            <a:r>
              <a:rPr lang="zh-CN" altLang="en-US" sz="2400" dirty="0">
                <a:latin typeface="华文楷体" panose="02010600040101010101" pitchFamily="2" charset="-122"/>
              </a:rPr>
              <a:t>外键约束定义中的行动，表示当对主表的主键值做某种操作（删除或修改时），可采取的处理策略有二种</a:t>
            </a:r>
            <a:r>
              <a:rPr lang="zh-CN" altLang="en-US" sz="2400" dirty="0">
                <a:latin typeface="华文楷体" panose="02010600040101010101" pitchFamily="2" charset="-122"/>
                <a:sym typeface="Wingdings" panose="05000000000000000000" pitchFamily="2" charset="2"/>
              </a:rPr>
              <a:t>：</a:t>
            </a:r>
            <a:endParaRPr lang="zh-CN" altLang="en-US" sz="2400" dirty="0">
              <a:latin typeface="华文楷体" panose="02010600040101010101" pitchFamily="2" charset="-122"/>
            </a:endParaRPr>
          </a:p>
          <a:p>
            <a:pPr marL="914400" lvl="1" indent="-457200" eaLnBrk="1" hangingPunct="1">
              <a:lnSpc>
                <a:spcPct val="120000"/>
              </a:lnSpc>
              <a:buClr>
                <a:srgbClr val="0000CC"/>
              </a:buClr>
              <a:buSzPct val="60000"/>
              <a:buFont typeface="Arial" panose="020B0604020202020204" pitchFamily="34" charset="0"/>
              <a:buNone/>
            </a:pP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CASCADE（针对从表的策略）</a:t>
            </a:r>
            <a:endParaRPr lang="zh-CN" altLang="en-US" sz="2400" dirty="0">
              <a:solidFill>
                <a:srgbClr val="FF0000"/>
              </a:solidFill>
              <a:latin typeface="华文楷体" panose="02010600040101010101" pitchFamily="2" charset="-122"/>
            </a:endParaRPr>
          </a:p>
          <a:p>
            <a:pPr marL="914400" lvl="1" indent="-457200" eaLnBrk="1" hangingPunct="1">
              <a:lnSpc>
                <a:spcPct val="120000"/>
              </a:lnSpc>
              <a:buClr>
                <a:srgbClr val="0000CC"/>
              </a:buClr>
              <a:buSzPct val="60000"/>
              <a:buFont typeface="Arial" panose="020B0604020202020204" pitchFamily="34" charset="0"/>
              <a:buNone/>
            </a:pPr>
            <a:r>
              <a:rPr lang="en-US" altLang="zh-CN" sz="2400" dirty="0">
                <a:solidFill>
                  <a:srgbClr val="FF0000"/>
                </a:solidFill>
                <a:latin typeface="华文楷体" panose="02010600040101010101" pitchFamily="2" charset="-122"/>
              </a:rPr>
              <a:t>--</a:t>
            </a:r>
            <a:r>
              <a:rPr lang="zh-CN" altLang="en-US" sz="2400" dirty="0">
                <a:solidFill>
                  <a:srgbClr val="FF0000"/>
                </a:solidFill>
                <a:latin typeface="华文楷体" panose="02010600040101010101" pitchFamily="2" charset="-122"/>
              </a:rPr>
              <a:t>No Action（针对主表的策略）</a:t>
            </a:r>
            <a:endParaRPr lang="zh-CN" altLang="en-US" sz="2400" dirty="0">
              <a:solidFill>
                <a:srgbClr val="FF0000"/>
              </a:solidFill>
              <a:latin typeface="华文楷体" panose="02010600040101010101" pitchFamily="2" charset="-122"/>
            </a:endParaRPr>
          </a:p>
          <a:p>
            <a:pPr marL="533400" lvl="0" indent="-533400" eaLnBrk="1" hangingPunct="1">
              <a:lnSpc>
                <a:spcPct val="120000"/>
              </a:lnSpc>
              <a:buClr>
                <a:srgbClr val="0000CC"/>
              </a:buClr>
            </a:pPr>
            <a:r>
              <a:rPr lang="zh-CN" altLang="en-US" sz="2400" dirty="0">
                <a:latin typeface="华文楷体" panose="02010600040101010101" pitchFamily="2" charset="-122"/>
              </a:rPr>
              <a:t>SQL-92定义有四种策略，分别是：Cascade, No Action, Set Null 和 Set Default。但SQL SERVER 和SYBASE只支持以上两种。</a:t>
            </a:r>
            <a:endParaRPr lang="zh-CN" altLang="en-US" sz="2400" dirty="0">
              <a:latin typeface="华文楷体" panose="02010600040101010101" pitchFamily="2" charset="-122"/>
            </a:endParaRPr>
          </a:p>
          <a:p>
            <a:pPr marL="533400" lvl="0" indent="-533400" eaLnBrk="1" hangingPunct="1">
              <a:lnSpc>
                <a:spcPct val="120000"/>
              </a:lnSpc>
              <a:buClr>
                <a:srgbClr val="0000CC"/>
              </a:buClr>
            </a:pPr>
            <a:r>
              <a:rPr lang="zh-CN" altLang="en-US" sz="2400" dirty="0">
                <a:latin typeface="华文楷体" panose="02010600040101010101" pitchFamily="2" charset="-122"/>
              </a:rPr>
              <a:t>如果不定义行动，则缺省的处理为NO ACTION。</a:t>
            </a:r>
            <a:endParaRPr lang="zh-CN" altLang="en-US" sz="2400" dirty="0">
              <a:latin typeface="华文楷体" panose="02010600040101010101" pitchFamily="2" charset="-122"/>
            </a:endParaRPr>
          </a:p>
        </p:txBody>
      </p:sp>
      <p:sp>
        <p:nvSpPr>
          <p:cNvPr id="83971" name="矩形 2"/>
          <p:cNvSpPr/>
          <p:nvPr/>
        </p:nvSpPr>
        <p:spPr>
          <a:xfrm>
            <a:off x="538163"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6.外键约束(Foreign Key)</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397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59395">
                                            <p:txEl>
                                              <p:charRg st="0" end="48"/>
                                            </p:txEl>
                                          </p:spTgt>
                                        </p:tgtEl>
                                        <p:attrNameLst>
                                          <p:attrName>style.visibility</p:attrName>
                                        </p:attrNameLst>
                                      </p:cBhvr>
                                      <p:to>
                                        <p:strVal val="visible"/>
                                      </p:to>
                                    </p:set>
                                    <p:anim calcmode="lin" valueType="num">
                                      <p:cBhvr>
                                        <p:cTn id="7" dur="500" fill="hold"/>
                                        <p:tgtEl>
                                          <p:spTgt spid="59395">
                                            <p:txEl>
                                              <p:charRg st="0" end="48"/>
                                            </p:txEl>
                                          </p:spTgt>
                                        </p:tgtEl>
                                        <p:attrNameLst>
                                          <p:attrName>ppt_w</p:attrName>
                                        </p:attrNameLst>
                                      </p:cBhvr>
                                      <p:tavLst>
                                        <p:tav tm="0">
                                          <p:val>
                                            <p:fltVal val="0.000000"/>
                                          </p:val>
                                        </p:tav>
                                        <p:tav tm="100000">
                                          <p:val>
                                            <p:strVal val="#ppt_w"/>
                                          </p:val>
                                        </p:tav>
                                      </p:tavLst>
                                    </p:anim>
                                    <p:anim calcmode="lin" valueType="num">
                                      <p:cBhvr>
                                        <p:cTn id="8" dur="500" fill="hold"/>
                                        <p:tgtEl>
                                          <p:spTgt spid="59395">
                                            <p:txEl>
                                              <p:charRg st="0" end="48"/>
                                            </p:txEl>
                                          </p:spTgt>
                                        </p:tgtEl>
                                        <p:attrNameLst>
                                          <p:attrName>ppt_h</p:attrName>
                                        </p:attrNameLst>
                                      </p:cBhvr>
                                      <p:tavLst>
                                        <p:tav tm="0">
                                          <p:val>
                                            <p:strVal val="#ppt_h"/>
                                          </p:val>
                                        </p:tav>
                                        <p:tav tm="100000">
                                          <p:val>
                                            <p:strVal val="#ppt_h"/>
                                          </p:val>
                                        </p:tav>
                                      </p:tavLst>
                                    </p:anim>
                                  </p:childTnLst>
                                </p:cTn>
                              </p:par>
                              <p:par>
                                <p:cTn id="9" presetID="17" presetClass="entr" presetSubtype="10" fill="hold" grpId="0" nodeType="withEffect">
                                  <p:stCondLst>
                                    <p:cond delay="0"/>
                                  </p:stCondLst>
                                  <p:childTnLst>
                                    <p:set>
                                      <p:cBhvr>
                                        <p:cTn id="10" dur="1" fill="hold">
                                          <p:stCondLst>
                                            <p:cond delay="0"/>
                                          </p:stCondLst>
                                        </p:cTn>
                                        <p:tgtEl>
                                          <p:spTgt spid="59395">
                                            <p:txEl>
                                              <p:charRg st="48" end="67"/>
                                            </p:txEl>
                                          </p:spTgt>
                                        </p:tgtEl>
                                        <p:attrNameLst>
                                          <p:attrName>style.visibility</p:attrName>
                                        </p:attrNameLst>
                                      </p:cBhvr>
                                      <p:to>
                                        <p:strVal val="visible"/>
                                      </p:to>
                                    </p:set>
                                    <p:anim calcmode="lin" valueType="num">
                                      <p:cBhvr>
                                        <p:cTn id="11" dur="500" fill="hold"/>
                                        <p:tgtEl>
                                          <p:spTgt spid="59395">
                                            <p:txEl>
                                              <p:charRg st="48" end="67"/>
                                            </p:txEl>
                                          </p:spTgt>
                                        </p:tgtEl>
                                        <p:attrNameLst>
                                          <p:attrName>ppt_w</p:attrName>
                                        </p:attrNameLst>
                                      </p:cBhvr>
                                      <p:tavLst>
                                        <p:tav tm="0">
                                          <p:val>
                                            <p:fltVal val="0.000000"/>
                                          </p:val>
                                        </p:tav>
                                        <p:tav tm="100000">
                                          <p:val>
                                            <p:strVal val="#ppt_w"/>
                                          </p:val>
                                        </p:tav>
                                      </p:tavLst>
                                    </p:anim>
                                    <p:anim calcmode="lin" valueType="num">
                                      <p:cBhvr>
                                        <p:cTn id="12" dur="500" fill="hold"/>
                                        <p:tgtEl>
                                          <p:spTgt spid="59395">
                                            <p:txEl>
                                              <p:charRg st="48" end="67"/>
                                            </p:txEl>
                                          </p:spTgt>
                                        </p:tgtEl>
                                        <p:attrNameLst>
                                          <p:attrName>ppt_h</p:attrName>
                                        </p:attrNameLst>
                                      </p:cBhvr>
                                      <p:tavLst>
                                        <p:tav tm="0">
                                          <p:val>
                                            <p:strVal val="#ppt_h"/>
                                          </p:val>
                                        </p:tav>
                                        <p:tav tm="100000">
                                          <p:val>
                                            <p:strVal val="#ppt_h"/>
                                          </p:val>
                                        </p:tav>
                                      </p:tavLst>
                                    </p:anim>
                                  </p:childTnLst>
                                </p:cTn>
                              </p:par>
                              <p:par>
                                <p:cTn id="13" presetID="17" presetClass="entr" presetSubtype="10" fill="hold" grpId="0" nodeType="withEffect">
                                  <p:stCondLst>
                                    <p:cond delay="0"/>
                                  </p:stCondLst>
                                  <p:childTnLst>
                                    <p:set>
                                      <p:cBhvr>
                                        <p:cTn id="14" dur="1" fill="hold">
                                          <p:stCondLst>
                                            <p:cond delay="0"/>
                                          </p:stCondLst>
                                        </p:cTn>
                                        <p:tgtEl>
                                          <p:spTgt spid="59395">
                                            <p:txEl>
                                              <p:charRg st="67" end="88"/>
                                            </p:txEl>
                                          </p:spTgt>
                                        </p:tgtEl>
                                        <p:attrNameLst>
                                          <p:attrName>style.visibility</p:attrName>
                                        </p:attrNameLst>
                                      </p:cBhvr>
                                      <p:to>
                                        <p:strVal val="visible"/>
                                      </p:to>
                                    </p:set>
                                    <p:anim calcmode="lin" valueType="num">
                                      <p:cBhvr>
                                        <p:cTn id="15" dur="500" fill="hold"/>
                                        <p:tgtEl>
                                          <p:spTgt spid="59395">
                                            <p:txEl>
                                              <p:charRg st="67" end="88"/>
                                            </p:txEl>
                                          </p:spTgt>
                                        </p:tgtEl>
                                        <p:attrNameLst>
                                          <p:attrName>ppt_w</p:attrName>
                                        </p:attrNameLst>
                                      </p:cBhvr>
                                      <p:tavLst>
                                        <p:tav tm="0">
                                          <p:val>
                                            <p:fltVal val="0.000000"/>
                                          </p:val>
                                        </p:tav>
                                        <p:tav tm="100000">
                                          <p:val>
                                            <p:strVal val="#ppt_w"/>
                                          </p:val>
                                        </p:tav>
                                      </p:tavLst>
                                    </p:anim>
                                    <p:anim calcmode="lin" valueType="num">
                                      <p:cBhvr>
                                        <p:cTn id="16" dur="500" fill="hold"/>
                                        <p:tgtEl>
                                          <p:spTgt spid="59395">
                                            <p:txEl>
                                              <p:charRg st="67" end="88"/>
                                            </p:txEl>
                                          </p:spTgt>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7" presetClass="entr" presetSubtype="10" fill="hold" grpId="0" nodeType="clickEffect">
                                  <p:stCondLst>
                                    <p:cond delay="0"/>
                                  </p:stCondLst>
                                  <p:childTnLst>
                                    <p:set>
                                      <p:cBhvr>
                                        <p:cTn id="20" dur="1" fill="hold">
                                          <p:stCondLst>
                                            <p:cond delay="0"/>
                                          </p:stCondLst>
                                        </p:cTn>
                                        <p:tgtEl>
                                          <p:spTgt spid="59395">
                                            <p:txEl>
                                              <p:charRg st="88" end="177"/>
                                            </p:txEl>
                                          </p:spTgt>
                                        </p:tgtEl>
                                        <p:attrNameLst>
                                          <p:attrName>style.visibility</p:attrName>
                                        </p:attrNameLst>
                                      </p:cBhvr>
                                      <p:to>
                                        <p:strVal val="visible"/>
                                      </p:to>
                                    </p:set>
                                    <p:anim calcmode="lin" valueType="num">
                                      <p:cBhvr>
                                        <p:cTn id="21" dur="500" fill="hold"/>
                                        <p:tgtEl>
                                          <p:spTgt spid="59395">
                                            <p:txEl>
                                              <p:charRg st="88" end="177"/>
                                            </p:txEl>
                                          </p:spTgt>
                                        </p:tgtEl>
                                        <p:attrNameLst>
                                          <p:attrName>ppt_w</p:attrName>
                                        </p:attrNameLst>
                                      </p:cBhvr>
                                      <p:tavLst>
                                        <p:tav tm="0">
                                          <p:val>
                                            <p:fltVal val="0.000000"/>
                                          </p:val>
                                        </p:tav>
                                        <p:tav tm="100000">
                                          <p:val>
                                            <p:strVal val="#ppt_w"/>
                                          </p:val>
                                        </p:tav>
                                      </p:tavLst>
                                    </p:anim>
                                    <p:anim calcmode="lin" valueType="num">
                                      <p:cBhvr>
                                        <p:cTn id="22" dur="500" fill="hold"/>
                                        <p:tgtEl>
                                          <p:spTgt spid="59395">
                                            <p:txEl>
                                              <p:charRg st="88" end="177"/>
                                            </p:txEl>
                                          </p:spTgt>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59395">
                                            <p:txEl>
                                              <p:charRg st="177" end="203"/>
                                            </p:txEl>
                                          </p:spTgt>
                                        </p:tgtEl>
                                        <p:attrNameLst>
                                          <p:attrName>style.visibility</p:attrName>
                                        </p:attrNameLst>
                                      </p:cBhvr>
                                      <p:to>
                                        <p:strVal val="visible"/>
                                      </p:to>
                                    </p:set>
                                    <p:anim calcmode="lin" valueType="num">
                                      <p:cBhvr>
                                        <p:cTn id="27" dur="500" fill="hold"/>
                                        <p:tgtEl>
                                          <p:spTgt spid="59395">
                                            <p:txEl>
                                              <p:charRg st="177" end="203"/>
                                            </p:txEl>
                                          </p:spTgt>
                                        </p:tgtEl>
                                        <p:attrNameLst>
                                          <p:attrName>ppt_w</p:attrName>
                                        </p:attrNameLst>
                                      </p:cBhvr>
                                      <p:tavLst>
                                        <p:tav tm="0">
                                          <p:val>
                                            <p:fltVal val="0.000000"/>
                                          </p:val>
                                        </p:tav>
                                        <p:tav tm="100000">
                                          <p:val>
                                            <p:strVal val="#ppt_w"/>
                                          </p:val>
                                        </p:tav>
                                      </p:tavLst>
                                    </p:anim>
                                    <p:anim calcmode="lin" valueType="num">
                                      <p:cBhvr>
                                        <p:cTn id="28" dur="500" fill="hold"/>
                                        <p:tgtEl>
                                          <p:spTgt spid="59395">
                                            <p:txEl>
                                              <p:charRg st="177" end="20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4995" name="Rectangle 4"/>
          <p:cNvSpPr txBox="1"/>
          <p:nvPr/>
        </p:nvSpPr>
        <p:spPr>
          <a:xfrm>
            <a:off x="577850" y="1446213"/>
            <a:ext cx="8159750" cy="19954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pPr>
            <a:r>
              <a:rPr lang="zh-CN" altLang="en-US" sz="2200" dirty="0">
                <a:latin typeface="华文楷体" panose="02010600040101010101" pitchFamily="2" charset="-122"/>
              </a:rPr>
              <a:t>利用主表和从表的触发器，也可以保持主/从表间的数据完整一致性。 </a:t>
            </a:r>
            <a:endParaRPr lang="zh-CN" altLang="en-US" sz="2200" dirty="0">
              <a:latin typeface="华文楷体" panose="02010600040101010101" pitchFamily="2" charset="-122"/>
            </a:endParaRPr>
          </a:p>
          <a:p>
            <a:pPr marL="342900" lvl="0" indent="-342900" eaLnBrk="1" hangingPunct="1">
              <a:lnSpc>
                <a:spcPct val="114000"/>
              </a:lnSpc>
              <a:spcBef>
                <a:spcPts val="300"/>
              </a:spcBef>
            </a:pPr>
            <a:r>
              <a:rPr lang="zh-CN" altLang="en-US" sz="2200" dirty="0">
                <a:latin typeface="华文楷体" panose="02010600040101010101" pitchFamily="2" charset="-122"/>
              </a:rPr>
              <a:t>publishers表的主键是pub_id，它也出现在titles表中，即titles表中的pub_id是外键，也就是说，publishers为主表，而titles则为从表。要维护两表间的完整性，可对titles用外键限制或参照限制来维护它们间的完整性，或对publishers和titles用触发器来维护它们间的完整性。</a:t>
            </a:r>
            <a:endParaRPr lang="zh-CN" altLang="en-US" sz="2200" dirty="0">
              <a:latin typeface="华文楷体" panose="02010600040101010101" pitchFamily="2" charset="-122"/>
            </a:endParaRPr>
          </a:p>
          <a:p>
            <a:pPr marL="342900" lvl="0" indent="-342900" eaLnBrk="1" hangingPunct="1">
              <a:lnSpc>
                <a:spcPct val="90000"/>
              </a:lnSpc>
              <a:buFont typeface="Arial" panose="020B0604020202020204" pitchFamily="34" charset="0"/>
              <a:buNone/>
            </a:pPr>
            <a:endParaRPr lang="zh-CN" altLang="en-US" sz="2400" dirty="0">
              <a:latin typeface="华文楷体" panose="02010600040101010101" pitchFamily="2" charset="-122"/>
            </a:endParaRPr>
          </a:p>
        </p:txBody>
      </p:sp>
      <p:sp>
        <p:nvSpPr>
          <p:cNvPr id="84996" name="Rectangle 4"/>
          <p:cNvSpPr txBox="1"/>
          <p:nvPr/>
        </p:nvSpPr>
        <p:spPr>
          <a:xfrm>
            <a:off x="552450" y="4367213"/>
            <a:ext cx="8820150" cy="179228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90000"/>
              </a:lnSpc>
            </a:pPr>
            <a:r>
              <a:rPr lang="zh-CN" altLang="en-US" sz="2400" u="sng" dirty="0">
                <a:solidFill>
                  <a:srgbClr val="FF0000"/>
                </a:solidFill>
                <a:latin typeface="华文楷体" panose="02010600040101010101" pitchFamily="2" charset="-122"/>
              </a:rPr>
              <a:t>触发器的创建：</a:t>
            </a:r>
            <a:endParaRPr lang="zh-CN" altLang="en-US" sz="2400" u="sng" dirty="0">
              <a:solidFill>
                <a:srgbClr val="FF0000"/>
              </a:solidFill>
              <a:latin typeface="华文楷体" panose="02010600040101010101" pitchFamily="2" charset="-122"/>
            </a:endParaRPr>
          </a:p>
          <a:p>
            <a:pPr marL="342900" lvl="0" indent="-342900" eaLnBrk="1" hangingPunct="1">
              <a:lnSpc>
                <a:spcPct val="114000"/>
              </a:lnSpc>
              <a:buFont typeface="Arial" panose="020B0604020202020204" pitchFamily="34" charset="0"/>
              <a:buNone/>
            </a:pPr>
            <a:r>
              <a:rPr lang="zh-CN" altLang="en-US" sz="2400" dirty="0">
                <a:latin typeface="华文楷体" panose="02010600040101010101" pitchFamily="2" charset="-122"/>
              </a:rPr>
              <a:t>  </a:t>
            </a:r>
            <a:r>
              <a:rPr lang="zh-CN" altLang="en-US" dirty="0">
                <a:latin typeface="华文楷体" panose="02010600040101010101" pitchFamily="2" charset="-122"/>
              </a:rPr>
              <a:t>CREATE  TRIGGER 触发器名    ON 表名</a:t>
            </a:r>
            <a:endParaRPr lang="zh-CN" altLang="en-US" dirty="0">
              <a:latin typeface="华文楷体" panose="02010600040101010101" pitchFamily="2" charset="-122"/>
            </a:endParaRPr>
          </a:p>
          <a:p>
            <a:pPr marL="342900" lvl="0" indent="-342900" eaLnBrk="1" hangingPunct="1">
              <a:lnSpc>
                <a:spcPct val="114000"/>
              </a:lnSpc>
              <a:spcBef>
                <a:spcPct val="0"/>
              </a:spcBef>
              <a:buFont typeface="Arial" panose="020B0604020202020204" pitchFamily="34" charset="0"/>
              <a:buNone/>
            </a:pPr>
            <a:r>
              <a:rPr lang="zh-CN" altLang="en-US" dirty="0">
                <a:latin typeface="华文楷体" panose="02010600040101010101" pitchFamily="2" charset="-122"/>
              </a:rPr>
              <a:t>    FOR  {INSERT|UPDATE|DELETE}[，{INSERT|UPDATE|DELETE}] …</a:t>
            </a:r>
            <a:endParaRPr lang="zh-CN" altLang="en-US" dirty="0">
              <a:latin typeface="华文楷体" panose="02010600040101010101" pitchFamily="2" charset="-122"/>
            </a:endParaRPr>
          </a:p>
          <a:p>
            <a:pPr marL="342900" lvl="0" indent="-342900" eaLnBrk="1" hangingPunct="1">
              <a:lnSpc>
                <a:spcPct val="114000"/>
              </a:lnSpc>
              <a:spcBef>
                <a:spcPct val="0"/>
              </a:spcBef>
              <a:buFont typeface="Arial" panose="020B0604020202020204" pitchFamily="34" charset="0"/>
              <a:buNone/>
            </a:pPr>
            <a:r>
              <a:rPr lang="zh-CN" altLang="en-US" dirty="0">
                <a:latin typeface="华文楷体" panose="02010600040101010101" pitchFamily="2" charset="-122"/>
              </a:rPr>
              <a:t>    AS	   SQL语句组</a:t>
            </a:r>
            <a:r>
              <a:rPr lang="en-US" altLang="zh-CN" dirty="0">
                <a:latin typeface="华文楷体" panose="02010600040101010101" pitchFamily="2" charset="-122"/>
              </a:rPr>
              <a:t>   </a:t>
            </a:r>
            <a:r>
              <a:rPr lang="zh-CN" altLang="en-US" dirty="0">
                <a:latin typeface="华文楷体" panose="02010600040101010101" pitchFamily="2" charset="-122"/>
              </a:rPr>
              <a:t>    RETURN</a:t>
            </a:r>
            <a:endParaRPr lang="zh-CN" altLang="en-US" dirty="0">
              <a:latin typeface="华文楷体" panose="02010600040101010101" pitchFamily="2" charset="-122"/>
            </a:endParaRPr>
          </a:p>
        </p:txBody>
      </p:sp>
      <p:grpSp>
        <p:nvGrpSpPr>
          <p:cNvPr id="60421" name="Group 5"/>
          <p:cNvGrpSpPr/>
          <p:nvPr/>
        </p:nvGrpSpPr>
        <p:grpSpPr>
          <a:xfrm>
            <a:off x="3449638" y="3873500"/>
            <a:ext cx="1858962" cy="1054100"/>
            <a:chOff x="0" y="0"/>
            <a:chExt cx="1171" cy="664"/>
          </a:xfrm>
        </p:grpSpPr>
        <p:sp>
          <p:nvSpPr>
            <p:cNvPr id="85004" name="Oval 6"/>
            <p:cNvSpPr/>
            <p:nvPr/>
          </p:nvSpPr>
          <p:spPr>
            <a:xfrm>
              <a:off x="0" y="0"/>
              <a:ext cx="1171" cy="496"/>
            </a:xfrm>
            <a:prstGeom prst="ellipse">
              <a:avLst/>
            </a:prstGeom>
            <a:solidFill>
              <a:srgbClr val="FF99FF">
                <a:alpha val="36862"/>
              </a:srgbClr>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要建立</a:t>
              </a:r>
              <a:endParaRPr lang="zh-CN" altLang="en-US" sz="2200" dirty="0">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触发器的表</a:t>
              </a:r>
              <a:endParaRPr lang="zh-CN" altLang="en-US" sz="2200" dirty="0">
                <a:latin typeface="宋体" panose="02010600030101010101" pitchFamily="2" charset="-122"/>
              </a:endParaRPr>
            </a:p>
          </p:txBody>
        </p:sp>
        <p:sp>
          <p:nvSpPr>
            <p:cNvPr id="85005" name="Line 7"/>
            <p:cNvSpPr/>
            <p:nvPr/>
          </p:nvSpPr>
          <p:spPr>
            <a:xfrm>
              <a:off x="619" y="480"/>
              <a:ext cx="424" cy="184"/>
            </a:xfrm>
            <a:prstGeom prst="line">
              <a:avLst/>
            </a:prstGeom>
            <a:ln w="28575" cap="flat" cmpd="sng">
              <a:solidFill>
                <a:schemeClr val="tx1"/>
              </a:solidFill>
              <a:prstDash val="solid"/>
              <a:headEnd type="none" w="med" len="med"/>
              <a:tailEnd type="triangle" w="med" len="med"/>
            </a:ln>
          </p:spPr>
        </p:sp>
      </p:grpSp>
      <p:sp>
        <p:nvSpPr>
          <p:cNvPr id="84998" name="Oval 9"/>
          <p:cNvSpPr/>
          <p:nvPr/>
        </p:nvSpPr>
        <p:spPr>
          <a:xfrm>
            <a:off x="6118225" y="4013200"/>
            <a:ext cx="2708275" cy="901700"/>
          </a:xfrm>
          <a:prstGeom prst="ellipse">
            <a:avLst/>
          </a:prstGeom>
          <a:solidFill>
            <a:srgbClr val="FFFFCC"/>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FOR Update，Insert</a:t>
            </a:r>
            <a:endParaRPr lang="zh-CN" altLang="en-US" sz="2200" dirty="0">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zh-CN" altLang="en-US" sz="2200" dirty="0">
                <a:latin typeface="宋体" panose="02010600030101010101" pitchFamily="2" charset="-122"/>
              </a:rPr>
              <a:t>最多只能列三个</a:t>
            </a:r>
            <a:endParaRPr lang="zh-CN" altLang="en-US" sz="2200" dirty="0">
              <a:latin typeface="宋体" panose="02010600030101010101" pitchFamily="2" charset="-122"/>
            </a:endParaRPr>
          </a:p>
        </p:txBody>
      </p:sp>
      <p:sp>
        <p:nvSpPr>
          <p:cNvPr id="84999" name="Line 10"/>
          <p:cNvSpPr/>
          <p:nvPr/>
        </p:nvSpPr>
        <p:spPr>
          <a:xfrm flipH="1">
            <a:off x="6024563" y="4851400"/>
            <a:ext cx="647700" cy="431800"/>
          </a:xfrm>
          <a:prstGeom prst="line">
            <a:avLst/>
          </a:prstGeom>
          <a:ln w="28575" cap="flat" cmpd="sng">
            <a:solidFill>
              <a:schemeClr val="tx1"/>
            </a:solidFill>
            <a:prstDash val="solid"/>
            <a:headEnd type="none" w="med" len="med"/>
            <a:tailEnd type="triangle" w="med" len="med"/>
          </a:ln>
        </p:spPr>
      </p:sp>
      <p:grpSp>
        <p:nvGrpSpPr>
          <p:cNvPr id="60426" name="Group 11"/>
          <p:cNvGrpSpPr/>
          <p:nvPr/>
        </p:nvGrpSpPr>
        <p:grpSpPr>
          <a:xfrm>
            <a:off x="2881313" y="5618163"/>
            <a:ext cx="5919787" cy="731837"/>
            <a:chOff x="0" y="0"/>
            <a:chExt cx="2738" cy="461"/>
          </a:xfrm>
        </p:grpSpPr>
        <p:sp>
          <p:nvSpPr>
            <p:cNvPr id="85002" name="Oval 12"/>
            <p:cNvSpPr/>
            <p:nvPr/>
          </p:nvSpPr>
          <p:spPr>
            <a:xfrm>
              <a:off x="823" y="0"/>
              <a:ext cx="1915" cy="461"/>
            </a:xfrm>
            <a:prstGeom prst="ellipse">
              <a:avLst/>
            </a:prstGeom>
            <a:solidFill>
              <a:srgbClr val="CCFF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dirty="0">
                  <a:latin typeface="宋体" panose="02010600030101010101" pitchFamily="2" charset="-122"/>
                </a:rPr>
                <a:t>用户编写的一段SQL语句，要求</a:t>
              </a:r>
              <a:endParaRPr lang="en-US" altLang="zh-CN" dirty="0">
                <a:latin typeface="宋体" panose="02010600030101010101" pitchFamily="2" charset="-122"/>
              </a:endParaRPr>
            </a:p>
            <a:p>
              <a:pPr marL="0" lvl="0" indent="0" algn="ctr" eaLnBrk="1" hangingPunct="1">
                <a:spcBef>
                  <a:spcPct val="0"/>
                </a:spcBef>
                <a:buClrTx/>
                <a:buSzTx/>
                <a:buFont typeface="Arial" panose="020B0604020202020204" pitchFamily="34" charset="0"/>
                <a:buNone/>
              </a:pPr>
              <a:r>
                <a:rPr lang="zh-CN" altLang="en-US" dirty="0">
                  <a:latin typeface="宋体" panose="02010600030101010101" pitchFamily="2" charset="-122"/>
                </a:rPr>
                <a:t>该触发器被触发后应做的事情</a:t>
              </a:r>
              <a:endParaRPr lang="zh-CN" altLang="en-US" dirty="0">
                <a:latin typeface="宋体" panose="02010600030101010101" pitchFamily="2" charset="-122"/>
              </a:endParaRPr>
            </a:p>
          </p:txBody>
        </p:sp>
        <p:sp>
          <p:nvSpPr>
            <p:cNvPr id="85003" name="Line 13"/>
            <p:cNvSpPr/>
            <p:nvPr/>
          </p:nvSpPr>
          <p:spPr>
            <a:xfrm flipH="1" flipV="1">
              <a:off x="0" y="197"/>
              <a:ext cx="868" cy="121"/>
            </a:xfrm>
            <a:prstGeom prst="line">
              <a:avLst/>
            </a:prstGeom>
            <a:ln w="28575" cap="flat" cmpd="sng">
              <a:solidFill>
                <a:schemeClr val="tx1"/>
              </a:solidFill>
              <a:prstDash val="solid"/>
              <a:headEnd type="none" w="med" len="med"/>
              <a:tailEnd type="triangle" w="med" len="med"/>
            </a:ln>
          </p:spPr>
        </p:sp>
      </p:grpSp>
      <p:sp>
        <p:nvSpPr>
          <p:cNvPr id="8500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60421"/>
                                        </p:tgtEl>
                                        <p:attrNameLst>
                                          <p:attrName>style.visibility</p:attrName>
                                        </p:attrNameLst>
                                      </p:cBhvr>
                                      <p:to>
                                        <p:strVal val="visible"/>
                                      </p:to>
                                    </p:set>
                                    <p:animEffect transition="in" filter="wedge">
                                      <p:cBhvr>
                                        <p:cTn id="7" dur="2000"/>
                                        <p:tgtEl>
                                          <p:spTgt spid="60421"/>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60426"/>
                                        </p:tgtEl>
                                        <p:attrNameLst>
                                          <p:attrName>style.visibility</p:attrName>
                                        </p:attrNameLst>
                                      </p:cBhvr>
                                      <p:to>
                                        <p:strVal val="visible"/>
                                      </p:to>
                                    </p:set>
                                    <p:animEffect transition="in" filter="wedge">
                                      <p:cBhvr>
                                        <p:cTn id="12" dur="2000"/>
                                        <p:tgtEl>
                                          <p:spTgt spid="604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3" name="Rectangle 3"/>
          <p:cNvSpPr txBox="1"/>
          <p:nvPr/>
        </p:nvSpPr>
        <p:spPr>
          <a:xfrm>
            <a:off x="622300" y="1473200"/>
            <a:ext cx="8001000" cy="45720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spcBef>
                <a:spcPct val="50000"/>
              </a:spcBef>
              <a:buSzPct val="120000"/>
            </a:pPr>
            <a:r>
              <a:rPr lang="zh-CN" altLang="en-US" sz="2200" dirty="0"/>
              <a:t>触发器不带参数，不被用户和程序调用，只能由用户对DB中的表进行操作时触发（即：由操作激发）。</a:t>
            </a:r>
            <a:endParaRPr lang="zh-CN" altLang="en-US" sz="2200" dirty="0"/>
          </a:p>
          <a:p>
            <a:pPr marL="342900" lvl="0" indent="-342900" eaLnBrk="1" hangingPunct="1">
              <a:lnSpc>
                <a:spcPct val="120000"/>
              </a:lnSpc>
              <a:spcBef>
                <a:spcPct val="50000"/>
              </a:spcBef>
              <a:buSzPct val="120000"/>
            </a:pPr>
            <a:r>
              <a:rPr lang="zh-CN" altLang="en-US" sz="2200" dirty="0"/>
              <a:t>一个表中最多有三个触发器，即：插入、修改和删除，分别对应各自的操作，例如：插入操作触发“插入”触发器。 </a:t>
            </a:r>
            <a:endParaRPr lang="zh-CN" altLang="en-US" sz="2200" dirty="0"/>
          </a:p>
          <a:p>
            <a:pPr marL="342900" lvl="0" indent="-342900" eaLnBrk="1" hangingPunct="1">
              <a:lnSpc>
                <a:spcPct val="120000"/>
              </a:lnSpc>
              <a:spcBef>
                <a:spcPct val="50000"/>
              </a:spcBef>
              <a:buSzPct val="120000"/>
            </a:pPr>
            <a:r>
              <a:rPr lang="zh-CN" altLang="en-US" sz="2200" dirty="0"/>
              <a:t>主表和从表应分别建立各自的触发器，主表的触发器维护主表到从表方向的数据完整性，而从表的触发器维护从表到主表方向的参照完整性。这里，主表和从表不需要定义外键，但必须有共同的列。</a:t>
            </a:r>
            <a:endParaRPr lang="zh-CN" altLang="en-US" sz="2200" dirty="0"/>
          </a:p>
          <a:p>
            <a:pPr marL="342900" lvl="0" indent="-342900" eaLnBrk="1" hangingPunct="1">
              <a:lnSpc>
                <a:spcPct val="120000"/>
              </a:lnSpc>
              <a:spcBef>
                <a:spcPct val="50000"/>
              </a:spcBef>
              <a:buSzPct val="120000"/>
            </a:pPr>
            <a:r>
              <a:rPr lang="zh-CN" altLang="en-US" sz="2200" dirty="0"/>
              <a:t>沿用“外键约束”中的“主表和从表”，“主键和外键”的说法。</a:t>
            </a:r>
            <a:endParaRPr lang="zh-CN" altLang="en-US" sz="2200" dirty="0">
              <a:sym typeface="Wingdings" panose="05000000000000000000" pitchFamily="2" charset="2"/>
            </a:endParaRPr>
          </a:p>
        </p:txBody>
      </p:sp>
      <p:sp>
        <p:nvSpPr>
          <p:cNvPr id="86019"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86020"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1443">
                                            <p:txEl>
                                              <p:charRg st="0" end="47"/>
                                            </p:txEl>
                                          </p:spTgt>
                                        </p:tgtEl>
                                        <p:attrNameLst>
                                          <p:attrName>style.visibility</p:attrName>
                                        </p:attrNameLst>
                                      </p:cBhvr>
                                      <p:to>
                                        <p:strVal val="visible"/>
                                      </p:to>
                                    </p:set>
                                    <p:anim calcmode="lin" valueType="num">
                                      <p:cBhvr>
                                        <p:cTn id="7" dur="500" fill="hold"/>
                                        <p:tgtEl>
                                          <p:spTgt spid="61443">
                                            <p:txEl>
                                              <p:charRg st="0" end="47"/>
                                            </p:txEl>
                                          </p:spTgt>
                                        </p:tgtEl>
                                        <p:attrNameLst>
                                          <p:attrName>ppt_w</p:attrName>
                                        </p:attrNameLst>
                                      </p:cBhvr>
                                      <p:tavLst>
                                        <p:tav tm="0">
                                          <p:val>
                                            <p:fltVal val="0.000000"/>
                                          </p:val>
                                        </p:tav>
                                        <p:tav tm="100000">
                                          <p:val>
                                            <p:strVal val="#ppt_w"/>
                                          </p:val>
                                        </p:tav>
                                      </p:tavLst>
                                    </p:anim>
                                    <p:anim calcmode="lin" valueType="num">
                                      <p:cBhvr>
                                        <p:cTn id="8" dur="500" fill="hold"/>
                                        <p:tgtEl>
                                          <p:spTgt spid="61443">
                                            <p:txEl>
                                              <p:charRg st="0" end="47"/>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1443">
                                            <p:txEl>
                                              <p:charRg st="47" end="100"/>
                                            </p:txEl>
                                          </p:spTgt>
                                        </p:tgtEl>
                                        <p:attrNameLst>
                                          <p:attrName>style.visibility</p:attrName>
                                        </p:attrNameLst>
                                      </p:cBhvr>
                                      <p:to>
                                        <p:strVal val="visible"/>
                                      </p:to>
                                    </p:set>
                                    <p:anim calcmode="lin" valueType="num">
                                      <p:cBhvr>
                                        <p:cTn id="13" dur="500" fill="hold"/>
                                        <p:tgtEl>
                                          <p:spTgt spid="61443">
                                            <p:txEl>
                                              <p:charRg st="47" end="100"/>
                                            </p:txEl>
                                          </p:spTgt>
                                        </p:tgtEl>
                                        <p:attrNameLst>
                                          <p:attrName>ppt_w</p:attrName>
                                        </p:attrNameLst>
                                      </p:cBhvr>
                                      <p:tavLst>
                                        <p:tav tm="0">
                                          <p:val>
                                            <p:fltVal val="0.000000"/>
                                          </p:val>
                                        </p:tav>
                                        <p:tav tm="100000">
                                          <p:val>
                                            <p:strVal val="#ppt_w"/>
                                          </p:val>
                                        </p:tav>
                                      </p:tavLst>
                                    </p:anim>
                                    <p:anim calcmode="lin" valueType="num">
                                      <p:cBhvr>
                                        <p:cTn id="14" dur="500" fill="hold"/>
                                        <p:tgtEl>
                                          <p:spTgt spid="61443">
                                            <p:txEl>
                                              <p:charRg st="47" end="10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1443">
                                            <p:txEl>
                                              <p:charRg st="100" end="188"/>
                                            </p:txEl>
                                          </p:spTgt>
                                        </p:tgtEl>
                                        <p:attrNameLst>
                                          <p:attrName>style.visibility</p:attrName>
                                        </p:attrNameLst>
                                      </p:cBhvr>
                                      <p:to>
                                        <p:strVal val="visible"/>
                                      </p:to>
                                    </p:set>
                                    <p:anim calcmode="lin" valueType="num">
                                      <p:cBhvr>
                                        <p:cTn id="19" dur="500" fill="hold"/>
                                        <p:tgtEl>
                                          <p:spTgt spid="61443">
                                            <p:txEl>
                                              <p:charRg st="100" end="188"/>
                                            </p:txEl>
                                          </p:spTgt>
                                        </p:tgtEl>
                                        <p:attrNameLst>
                                          <p:attrName>ppt_w</p:attrName>
                                        </p:attrNameLst>
                                      </p:cBhvr>
                                      <p:tavLst>
                                        <p:tav tm="0">
                                          <p:val>
                                            <p:fltVal val="0.000000"/>
                                          </p:val>
                                        </p:tav>
                                        <p:tav tm="100000">
                                          <p:val>
                                            <p:strVal val="#ppt_w"/>
                                          </p:val>
                                        </p:tav>
                                      </p:tavLst>
                                    </p:anim>
                                    <p:anim calcmode="lin" valueType="num">
                                      <p:cBhvr>
                                        <p:cTn id="20" dur="500" fill="hold"/>
                                        <p:tgtEl>
                                          <p:spTgt spid="61443">
                                            <p:txEl>
                                              <p:charRg st="100" end="188"/>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1443">
                                            <p:txEl>
                                              <p:charRg st="188" end="218"/>
                                            </p:txEl>
                                          </p:spTgt>
                                        </p:tgtEl>
                                        <p:attrNameLst>
                                          <p:attrName>style.visibility</p:attrName>
                                        </p:attrNameLst>
                                      </p:cBhvr>
                                      <p:to>
                                        <p:strVal val="visible"/>
                                      </p:to>
                                    </p:set>
                                    <p:anim calcmode="lin" valueType="num">
                                      <p:cBhvr>
                                        <p:cTn id="25" dur="500" fill="hold"/>
                                        <p:tgtEl>
                                          <p:spTgt spid="61443">
                                            <p:txEl>
                                              <p:charRg st="188" end="218"/>
                                            </p:txEl>
                                          </p:spTgt>
                                        </p:tgtEl>
                                        <p:attrNameLst>
                                          <p:attrName>ppt_w</p:attrName>
                                        </p:attrNameLst>
                                      </p:cBhvr>
                                      <p:tavLst>
                                        <p:tav tm="0">
                                          <p:val>
                                            <p:fltVal val="0.000000"/>
                                          </p:val>
                                        </p:tav>
                                        <p:tav tm="100000">
                                          <p:val>
                                            <p:strVal val="#ppt_w"/>
                                          </p:val>
                                        </p:tav>
                                      </p:tavLst>
                                    </p:anim>
                                    <p:anim calcmode="lin" valueType="num">
                                      <p:cBhvr>
                                        <p:cTn id="26" dur="500" fill="hold"/>
                                        <p:tgtEl>
                                          <p:spTgt spid="61443">
                                            <p:txEl>
                                              <p:charRg st="188" end="218"/>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bldLvl="2"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7" name="Rectangle 4"/>
          <p:cNvSpPr txBox="1"/>
          <p:nvPr/>
        </p:nvSpPr>
        <p:spPr>
          <a:xfrm>
            <a:off x="533400" y="1427163"/>
            <a:ext cx="8242300" cy="42418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spcBef>
                <a:spcPct val="50000"/>
              </a:spcBef>
              <a:buSzPct val="100000"/>
            </a:pPr>
            <a:r>
              <a:rPr lang="zh-CN" altLang="en-US" sz="2200" dirty="0"/>
              <a:t>系统为触发器提供两张表，即：inserted和deleted。当操作为插入时，则新数据也会写入inserted表中；当操作为删除时，删除数据会保存在deleted表中；而当操作为修改时，会同时用到这两张表，先删后写。 </a:t>
            </a:r>
            <a:endParaRPr lang="zh-CN" altLang="en-US" sz="2200" dirty="0"/>
          </a:p>
          <a:p>
            <a:pPr marL="342900" lvl="0" indent="-342900" eaLnBrk="1" hangingPunct="1">
              <a:lnSpc>
                <a:spcPct val="110000"/>
              </a:lnSpc>
              <a:buSzPct val="100000"/>
            </a:pPr>
            <a:r>
              <a:rPr lang="zh-CN" altLang="en-US" sz="2400" u="sng" dirty="0">
                <a:solidFill>
                  <a:srgbClr val="0033CC"/>
                </a:solidFill>
              </a:rPr>
              <a:t>示例</a:t>
            </a:r>
            <a:r>
              <a:rPr lang="en-US" altLang="zh-CN" sz="2400" u="sng" dirty="0">
                <a:solidFill>
                  <a:srgbClr val="0033CC"/>
                </a:solidFill>
              </a:rPr>
              <a:t>1</a:t>
            </a:r>
            <a:r>
              <a:rPr lang="zh-CN" altLang="en-US" sz="2400" u="sng" dirty="0">
                <a:solidFill>
                  <a:srgbClr val="0033CC"/>
                </a:solidFill>
              </a:rPr>
              <a:t>：</a:t>
            </a:r>
            <a:r>
              <a:rPr lang="zh-CN" altLang="en-US" sz="2400" dirty="0">
                <a:solidFill>
                  <a:srgbClr val="0033CC"/>
                </a:solidFill>
              </a:rPr>
              <a:t>由删除操作激发的主表触发器</a:t>
            </a:r>
            <a:endParaRPr lang="zh-CN" altLang="en-US" sz="2400" dirty="0">
              <a:solidFill>
                <a:srgbClr val="0033CC"/>
              </a:solidFill>
            </a:endParaRPr>
          </a:p>
          <a:p>
            <a:pPr marL="342900" lvl="0" indent="-342900">
              <a:spcBef>
                <a:spcPct val="0"/>
              </a:spcBef>
            </a:pPr>
            <a:r>
              <a:rPr lang="en-US" altLang="zh-CN" dirty="0"/>
              <a:t>CREATE  TRIGGER  course_del</a:t>
            </a:r>
            <a:endParaRPr lang="en-US" altLang="zh-CN" dirty="0"/>
          </a:p>
          <a:p>
            <a:pPr marL="342900" lvl="0" indent="-342900">
              <a:spcBef>
                <a:spcPct val="0"/>
              </a:spcBef>
            </a:pPr>
            <a:r>
              <a:rPr lang="en-US" altLang="zh-CN" dirty="0"/>
              <a:t>    ON  course </a:t>
            </a:r>
            <a:endParaRPr lang="en-US" altLang="zh-CN" dirty="0"/>
          </a:p>
          <a:p>
            <a:pPr marL="342900" lvl="0" indent="-342900">
              <a:spcBef>
                <a:spcPct val="0"/>
              </a:spcBef>
            </a:pPr>
            <a:r>
              <a:rPr lang="en-US" altLang="zh-CN" dirty="0"/>
              <a:t>    FOR  DELETE</a:t>
            </a:r>
            <a:endParaRPr lang="en-US" altLang="zh-CN" dirty="0"/>
          </a:p>
          <a:p>
            <a:pPr marL="342900" lvl="0" indent="-342900">
              <a:spcBef>
                <a:spcPct val="0"/>
              </a:spcBef>
            </a:pPr>
            <a:r>
              <a:rPr lang="en-US" altLang="zh-CN" dirty="0"/>
              <a:t>    AS</a:t>
            </a:r>
            <a:endParaRPr lang="en-US" altLang="zh-CN" dirty="0"/>
          </a:p>
          <a:p>
            <a:pPr marL="342900" lvl="0" indent="-342900">
              <a:spcBef>
                <a:spcPct val="0"/>
              </a:spcBef>
            </a:pPr>
            <a:r>
              <a:rPr lang="en-US" altLang="zh-CN" dirty="0"/>
              <a:t>IF @@rowcount=0 RETURN</a:t>
            </a:r>
            <a:endParaRPr lang="en-US" altLang="zh-CN" dirty="0"/>
          </a:p>
          <a:p>
            <a:pPr marL="342900" lvl="0" indent="-342900">
              <a:spcBef>
                <a:spcPct val="0"/>
              </a:spcBef>
            </a:pPr>
            <a:r>
              <a:rPr lang="en-US" altLang="zh-CN" dirty="0"/>
              <a:t>DELETE ctake</a:t>
            </a:r>
            <a:endParaRPr lang="en-US" altLang="zh-CN" dirty="0"/>
          </a:p>
          <a:p>
            <a:pPr marL="342900" lvl="0" indent="-342900">
              <a:spcBef>
                <a:spcPct val="0"/>
              </a:spcBef>
            </a:pPr>
            <a:r>
              <a:rPr lang="en-US" altLang="zh-CN" dirty="0"/>
              <a:t>FROM  ctake t, deleted d</a:t>
            </a:r>
            <a:endParaRPr lang="en-US" altLang="zh-CN" dirty="0"/>
          </a:p>
          <a:p>
            <a:pPr marL="342900" lvl="0" indent="-342900">
              <a:spcBef>
                <a:spcPct val="0"/>
              </a:spcBef>
            </a:pPr>
            <a:r>
              <a:rPr lang="en-US" altLang="zh-CN" dirty="0"/>
              <a:t>WHERE t.CID=d.CID</a:t>
            </a:r>
            <a:endParaRPr lang="en-US" altLang="zh-CN" dirty="0"/>
          </a:p>
          <a:p>
            <a:pPr marL="342900" lvl="0" indent="-342900">
              <a:spcBef>
                <a:spcPct val="0"/>
              </a:spcBef>
            </a:pPr>
            <a:r>
              <a:rPr lang="en-US" altLang="zh-CN" dirty="0"/>
              <a:t>RETURN</a:t>
            </a:r>
            <a:endParaRPr lang="en-US" altLang="zh-CN" dirty="0"/>
          </a:p>
          <a:p>
            <a:pPr marL="342900" lvl="0" indent="-342900" eaLnBrk="1" hangingPunct="1">
              <a:lnSpc>
                <a:spcPct val="80000"/>
              </a:lnSpc>
              <a:buFont typeface="Arial" panose="020B0604020202020204" pitchFamily="34" charset="0"/>
              <a:buNone/>
            </a:pPr>
            <a:r>
              <a:rPr lang="zh-CN" altLang="en-US" sz="2400" dirty="0"/>
              <a:t> </a:t>
            </a:r>
            <a:endParaRPr lang="zh-CN" altLang="en-US" sz="2400" dirty="0"/>
          </a:p>
        </p:txBody>
      </p:sp>
      <p:sp>
        <p:nvSpPr>
          <p:cNvPr id="62468" name="Text Box 5"/>
          <p:cNvSpPr txBox="1"/>
          <p:nvPr/>
        </p:nvSpPr>
        <p:spPr>
          <a:xfrm>
            <a:off x="6148388" y="3200400"/>
            <a:ext cx="2590800" cy="1163638"/>
          </a:xfrm>
          <a:prstGeom prst="rect">
            <a:avLst/>
          </a:prstGeom>
          <a:solidFill>
            <a:srgbClr val="FFFFCC"/>
          </a:solid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50000"/>
              </a:spcBef>
              <a:buClrTx/>
              <a:buSzTx/>
              <a:buFont typeface="Arial" panose="020B0604020202020204" pitchFamily="34" charset="0"/>
              <a:buNone/>
            </a:pPr>
            <a:r>
              <a:rPr lang="zh-CN" altLang="en-US" sz="2200" dirty="0">
                <a:latin typeface="宋体" panose="02010600030101010101" pitchFamily="2" charset="-122"/>
              </a:rPr>
              <a:t>系统变量，表示 </a:t>
            </a:r>
            <a:r>
              <a:rPr lang="de-DE" altLang="en-US" sz="2200" dirty="0">
                <a:latin typeface="宋体" panose="02010600030101010101" pitchFamily="2" charset="-122"/>
              </a:rPr>
              <a:t>publishers</a:t>
            </a:r>
            <a:r>
              <a:rPr lang="zh-CN" altLang="en-US" sz="2200" dirty="0">
                <a:latin typeface="宋体" panose="02010600030101010101" pitchFamily="2" charset="-122"/>
              </a:rPr>
              <a:t>表中有几行记录被删除了。</a:t>
            </a:r>
            <a:endParaRPr lang="zh-CN" altLang="en-US" sz="2200" dirty="0">
              <a:latin typeface="宋体" panose="02010600030101010101" pitchFamily="2" charset="-122"/>
            </a:endParaRPr>
          </a:p>
        </p:txBody>
      </p:sp>
      <p:sp>
        <p:nvSpPr>
          <p:cNvPr id="62469" name="Line 6"/>
          <p:cNvSpPr/>
          <p:nvPr/>
        </p:nvSpPr>
        <p:spPr>
          <a:xfrm flipH="1">
            <a:off x="3543300" y="4941888"/>
            <a:ext cx="2613025" cy="201612"/>
          </a:xfrm>
          <a:prstGeom prst="line">
            <a:avLst/>
          </a:prstGeom>
          <a:ln w="28575" cap="flat" cmpd="sng">
            <a:solidFill>
              <a:schemeClr val="tx1"/>
            </a:solidFill>
            <a:prstDash val="solid"/>
            <a:headEnd type="none" w="med" len="med"/>
            <a:tailEnd type="triangle" w="med" len="med"/>
          </a:ln>
        </p:spPr>
      </p:sp>
      <p:sp>
        <p:nvSpPr>
          <p:cNvPr id="62470" name="Text Box 7"/>
          <p:cNvSpPr txBox="1"/>
          <p:nvPr/>
        </p:nvSpPr>
        <p:spPr>
          <a:xfrm>
            <a:off x="6156325" y="4581525"/>
            <a:ext cx="2590800" cy="1446213"/>
          </a:xfrm>
          <a:prstGeom prst="rect">
            <a:avLst/>
          </a:prstGeom>
          <a:noFill/>
          <a:ln w="9525" cap="flat" cmpd="sng">
            <a:solidFill>
              <a:schemeClr val="tx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sz="2200" dirty="0">
                <a:solidFill>
                  <a:srgbClr val="CC0000"/>
                </a:solidFill>
                <a:latin typeface="宋体" panose="02010600030101010101" pitchFamily="2" charset="-122"/>
              </a:rPr>
              <a:t>级联删除titles表中对应的行,类似于外键约束中的CASCADE行动.</a:t>
            </a:r>
            <a:endParaRPr lang="de-DE" altLang="en-US" sz="2200" dirty="0">
              <a:solidFill>
                <a:srgbClr val="CC0000"/>
              </a:solidFill>
              <a:latin typeface="宋体" panose="02010600030101010101" pitchFamily="2" charset="-122"/>
            </a:endParaRPr>
          </a:p>
        </p:txBody>
      </p:sp>
      <p:sp>
        <p:nvSpPr>
          <p:cNvPr id="62471" name="Line 8"/>
          <p:cNvSpPr/>
          <p:nvPr/>
        </p:nvSpPr>
        <p:spPr>
          <a:xfrm flipH="1">
            <a:off x="3284538" y="3759200"/>
            <a:ext cx="2808287" cy="1008063"/>
          </a:xfrm>
          <a:prstGeom prst="line">
            <a:avLst/>
          </a:prstGeom>
          <a:ln w="28575" cap="flat" cmpd="sng">
            <a:solidFill>
              <a:schemeClr val="tx1"/>
            </a:solidFill>
            <a:prstDash val="solid"/>
            <a:headEnd type="none" w="med" len="med"/>
            <a:tailEnd type="triangle" w="med" len="med"/>
          </a:ln>
        </p:spPr>
      </p:sp>
      <p:sp>
        <p:nvSpPr>
          <p:cNvPr id="87047"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704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2467">
                                            <p:txEl>
                                              <p:charRg st="0" end="110"/>
                                            </p:txEl>
                                          </p:spTgt>
                                        </p:tgtEl>
                                        <p:attrNameLst>
                                          <p:attrName>style.visibility</p:attrName>
                                        </p:attrNameLst>
                                      </p:cBhvr>
                                      <p:to>
                                        <p:strVal val="visible"/>
                                      </p:to>
                                    </p:set>
                                    <p:anim calcmode="lin" valueType="num">
                                      <p:cBhvr>
                                        <p:cTn id="7" dur="500" fill="hold"/>
                                        <p:tgtEl>
                                          <p:spTgt spid="62467">
                                            <p:txEl>
                                              <p:charRg st="0" end="110"/>
                                            </p:txEl>
                                          </p:spTgt>
                                        </p:tgtEl>
                                        <p:attrNameLst>
                                          <p:attrName>ppt_w</p:attrName>
                                        </p:attrNameLst>
                                      </p:cBhvr>
                                      <p:tavLst>
                                        <p:tav tm="0">
                                          <p:val>
                                            <p:fltVal val="0.000000"/>
                                          </p:val>
                                        </p:tav>
                                        <p:tav tm="100000">
                                          <p:val>
                                            <p:strVal val="#ppt_w"/>
                                          </p:val>
                                        </p:tav>
                                      </p:tavLst>
                                    </p:anim>
                                    <p:anim calcmode="lin" valueType="num">
                                      <p:cBhvr>
                                        <p:cTn id="8" dur="500" fill="hold"/>
                                        <p:tgtEl>
                                          <p:spTgt spid="62467">
                                            <p:txEl>
                                              <p:charRg st="0" end="110"/>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2467">
                                            <p:txEl>
                                              <p:charRg st="110" end="128"/>
                                            </p:txEl>
                                          </p:spTgt>
                                        </p:tgtEl>
                                        <p:attrNameLst>
                                          <p:attrName>style.visibility</p:attrName>
                                        </p:attrNameLst>
                                      </p:cBhvr>
                                      <p:to>
                                        <p:strVal val="visible"/>
                                      </p:to>
                                    </p:set>
                                    <p:anim calcmode="lin" valueType="num">
                                      <p:cBhvr>
                                        <p:cTn id="13" dur="500" fill="hold"/>
                                        <p:tgtEl>
                                          <p:spTgt spid="62467">
                                            <p:txEl>
                                              <p:charRg st="110" end="128"/>
                                            </p:txEl>
                                          </p:spTgt>
                                        </p:tgtEl>
                                        <p:attrNameLst>
                                          <p:attrName>ppt_w</p:attrName>
                                        </p:attrNameLst>
                                      </p:cBhvr>
                                      <p:tavLst>
                                        <p:tav tm="0">
                                          <p:val>
                                            <p:fltVal val="0.000000"/>
                                          </p:val>
                                        </p:tav>
                                        <p:tav tm="100000">
                                          <p:val>
                                            <p:strVal val="#ppt_w"/>
                                          </p:val>
                                        </p:tav>
                                      </p:tavLst>
                                    </p:anim>
                                    <p:anim calcmode="lin" valueType="num">
                                      <p:cBhvr>
                                        <p:cTn id="14" dur="500" fill="hold"/>
                                        <p:tgtEl>
                                          <p:spTgt spid="62467">
                                            <p:txEl>
                                              <p:charRg st="110" end="128"/>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62468"/>
                                        </p:tgtEl>
                                        <p:attrNameLst>
                                          <p:attrName>style.visibility</p:attrName>
                                        </p:attrNameLst>
                                      </p:cBhvr>
                                      <p:to>
                                        <p:strVal val="visible"/>
                                      </p:to>
                                    </p:set>
                                    <p:animEffect transition="in" filter="box(in)">
                                      <p:cBhvr>
                                        <p:cTn id="19" dur="500"/>
                                        <p:tgtEl>
                                          <p:spTgt spid="62468"/>
                                        </p:tgtEl>
                                      </p:cBhvr>
                                    </p:animEffect>
                                  </p:childTnLst>
                                </p:cTn>
                              </p:par>
                            </p:childTnLst>
                          </p:cTn>
                        </p:par>
                      </p:childTnLst>
                    </p:cTn>
                  </p:par>
                  <p:par>
                    <p:cTn id="20" fill="hold">
                      <p:stCondLst>
                        <p:cond delay="indefinite"/>
                      </p:stCondLst>
                      <p:childTnLst>
                        <p:par>
                          <p:cTn id="21" fill="hold">
                            <p:stCondLst>
                              <p:cond delay="0"/>
                            </p:stCondLst>
                            <p:childTnLst>
                              <p:par>
                                <p:cTn id="22" presetID="23" presetClass="entr" presetSubtype="16" fill="hold" nodeType="clickEffect">
                                  <p:stCondLst>
                                    <p:cond delay="0"/>
                                  </p:stCondLst>
                                  <p:childTnLst>
                                    <p:set>
                                      <p:cBhvr>
                                        <p:cTn id="23" dur="1" fill="hold">
                                          <p:stCondLst>
                                            <p:cond delay="0"/>
                                          </p:stCondLst>
                                        </p:cTn>
                                        <p:tgtEl>
                                          <p:spTgt spid="62469"/>
                                        </p:tgtEl>
                                        <p:attrNameLst>
                                          <p:attrName>style.visibility</p:attrName>
                                        </p:attrNameLst>
                                      </p:cBhvr>
                                      <p:to>
                                        <p:strVal val="visible"/>
                                      </p:to>
                                    </p:set>
                                    <p:anim calcmode="lin" valueType="num">
                                      <p:cBhvr>
                                        <p:cTn id="24" dur="500" fill="hold"/>
                                        <p:tgtEl>
                                          <p:spTgt spid="62469"/>
                                        </p:tgtEl>
                                        <p:attrNameLst>
                                          <p:attrName>ppt_w</p:attrName>
                                        </p:attrNameLst>
                                      </p:cBhvr>
                                      <p:tavLst>
                                        <p:tav tm="0">
                                          <p:val>
                                            <p:fltVal val="0.000000"/>
                                          </p:val>
                                        </p:tav>
                                        <p:tav tm="100000">
                                          <p:val>
                                            <p:strVal val="#ppt_w"/>
                                          </p:val>
                                        </p:tav>
                                      </p:tavLst>
                                    </p:anim>
                                    <p:anim calcmode="lin" valueType="num">
                                      <p:cBhvr>
                                        <p:cTn id="25" dur="500" fill="hold"/>
                                        <p:tgtEl>
                                          <p:spTgt spid="62469"/>
                                        </p:tgtEl>
                                        <p:attrNameLst>
                                          <p:attrName>ppt_h</p:attrName>
                                        </p:attrNameLst>
                                      </p:cBhvr>
                                      <p:tavLst>
                                        <p:tav tm="0">
                                          <p:val>
                                            <p:fltVal val="0.000000"/>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62470"/>
                                        </p:tgtEl>
                                        <p:attrNameLst>
                                          <p:attrName>style.visibility</p:attrName>
                                        </p:attrNameLst>
                                      </p:cBhvr>
                                      <p:to>
                                        <p:strVal val="visible"/>
                                      </p:to>
                                    </p:set>
                                    <p:animEffect transition="in" filter="box(in)">
                                      <p:cBhvr>
                                        <p:cTn id="30" dur="500"/>
                                        <p:tgtEl>
                                          <p:spTgt spid="62470"/>
                                        </p:tgtEl>
                                      </p:cBhvr>
                                    </p:animEffect>
                                  </p:childTnLst>
                                </p:cTn>
                              </p:par>
                            </p:childTnLst>
                          </p:cTn>
                        </p:par>
                      </p:childTnLst>
                    </p:cTn>
                  </p:par>
                  <p:par>
                    <p:cTn id="31" fill="hold">
                      <p:stCondLst>
                        <p:cond delay="indefinite"/>
                      </p:stCondLst>
                      <p:childTnLst>
                        <p:par>
                          <p:cTn id="32" fill="hold">
                            <p:stCondLst>
                              <p:cond delay="0"/>
                            </p:stCondLst>
                            <p:childTnLst>
                              <p:par>
                                <p:cTn id="33" presetID="23" presetClass="entr" presetSubtype="16" fill="hold" nodeType="clickEffect">
                                  <p:stCondLst>
                                    <p:cond delay="0"/>
                                  </p:stCondLst>
                                  <p:childTnLst>
                                    <p:set>
                                      <p:cBhvr>
                                        <p:cTn id="34" dur="1" fill="hold">
                                          <p:stCondLst>
                                            <p:cond delay="0"/>
                                          </p:stCondLst>
                                        </p:cTn>
                                        <p:tgtEl>
                                          <p:spTgt spid="62471"/>
                                        </p:tgtEl>
                                        <p:attrNameLst>
                                          <p:attrName>style.visibility</p:attrName>
                                        </p:attrNameLst>
                                      </p:cBhvr>
                                      <p:to>
                                        <p:strVal val="visible"/>
                                      </p:to>
                                    </p:set>
                                    <p:anim calcmode="lin" valueType="num">
                                      <p:cBhvr>
                                        <p:cTn id="35" dur="500" fill="hold"/>
                                        <p:tgtEl>
                                          <p:spTgt spid="62471"/>
                                        </p:tgtEl>
                                        <p:attrNameLst>
                                          <p:attrName>ppt_w</p:attrName>
                                        </p:attrNameLst>
                                      </p:cBhvr>
                                      <p:tavLst>
                                        <p:tav tm="0">
                                          <p:val>
                                            <p:fltVal val="0.000000"/>
                                          </p:val>
                                        </p:tav>
                                        <p:tav tm="100000">
                                          <p:val>
                                            <p:strVal val="#ppt_w"/>
                                          </p:val>
                                        </p:tav>
                                      </p:tavLst>
                                    </p:anim>
                                    <p:anim calcmode="lin" valueType="num">
                                      <p:cBhvr>
                                        <p:cTn id="36" dur="500" fill="hold"/>
                                        <p:tgtEl>
                                          <p:spTgt spid="62471"/>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ldLvl="2" build="p"/>
      <p:bldP spid="62468" grpId="0" animBg="1"/>
      <p:bldP spid="6247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矩形 3"/>
          <p:cNvSpPr/>
          <p:nvPr/>
        </p:nvSpPr>
        <p:spPr>
          <a:xfrm>
            <a:off x="633413" y="1444625"/>
            <a:ext cx="5651500" cy="498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buSzPct val="100000"/>
            </a:pPr>
            <a:r>
              <a:rPr lang="zh-CN" altLang="en-US" sz="2400" u="sng" dirty="0">
                <a:solidFill>
                  <a:srgbClr val="0033CC"/>
                </a:solidFill>
              </a:rPr>
              <a:t>示例</a:t>
            </a:r>
            <a:r>
              <a:rPr lang="en-US" altLang="zh-CN" sz="2400" u="sng" dirty="0">
                <a:solidFill>
                  <a:srgbClr val="0033CC"/>
                </a:solidFill>
              </a:rPr>
              <a:t>2</a:t>
            </a:r>
            <a:r>
              <a:rPr lang="zh-CN" altLang="en-US" sz="2400" u="sng" dirty="0">
                <a:solidFill>
                  <a:srgbClr val="0033CC"/>
                </a:solidFill>
              </a:rPr>
              <a:t>：</a:t>
            </a:r>
            <a:r>
              <a:rPr lang="zh-CN" altLang="en-US" sz="2400" dirty="0">
                <a:solidFill>
                  <a:srgbClr val="0033CC"/>
                </a:solidFill>
              </a:rPr>
              <a:t>由修改操作激发的主表触发器</a:t>
            </a:r>
            <a:endParaRPr lang="zh-CN" altLang="en-US" sz="2400" dirty="0">
              <a:solidFill>
                <a:srgbClr val="0033CC"/>
              </a:solidFill>
            </a:endParaRPr>
          </a:p>
        </p:txBody>
      </p:sp>
      <p:sp>
        <p:nvSpPr>
          <p:cNvPr id="88067" name="矩形 4"/>
          <p:cNvSpPr/>
          <p:nvPr/>
        </p:nvSpPr>
        <p:spPr>
          <a:xfrm>
            <a:off x="877888" y="1979613"/>
            <a:ext cx="7743825" cy="38623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ts val="300"/>
              </a:spcBef>
              <a:buFont typeface="Arial" panose="020B0604020202020204" pitchFamily="34" charset="0"/>
              <a:buNone/>
            </a:pPr>
            <a:r>
              <a:rPr lang="zh-CN" altLang="en-US" dirty="0"/>
              <a:t>CREATE  TRIGGER  pub_</a:t>
            </a:r>
            <a:r>
              <a:rPr lang="en-US" altLang="zh-CN" dirty="0"/>
              <a:t>update</a:t>
            </a:r>
            <a:endParaRPr lang="zh-CN" altLang="en-US" dirty="0"/>
          </a:p>
          <a:p>
            <a:pPr marL="342900" lvl="0" indent="-342900" eaLnBrk="1" hangingPunct="1">
              <a:spcBef>
                <a:spcPts val="300"/>
              </a:spcBef>
              <a:buFont typeface="Arial" panose="020B0604020202020204" pitchFamily="34" charset="0"/>
              <a:buNone/>
            </a:pPr>
            <a:r>
              <a:rPr lang="zh-CN" altLang="en-US" dirty="0"/>
              <a:t>    ON  publishers  </a:t>
            </a:r>
            <a:endParaRPr lang="zh-CN" altLang="en-US" dirty="0"/>
          </a:p>
          <a:p>
            <a:pPr marL="342900" lvl="0" indent="-342900" eaLnBrk="1" hangingPunct="1">
              <a:spcBef>
                <a:spcPts val="300"/>
              </a:spcBef>
              <a:buFont typeface="Arial" panose="020B0604020202020204" pitchFamily="34" charset="0"/>
              <a:buNone/>
            </a:pPr>
            <a:r>
              <a:rPr lang="zh-CN" altLang="en-US" dirty="0"/>
              <a:t>    </a:t>
            </a:r>
            <a:r>
              <a:rPr lang="en-US" altLang="zh-CN" dirty="0"/>
              <a:t>AFTER  UPDATE</a:t>
            </a:r>
            <a:endParaRPr lang="zh-CN" altLang="en-US" dirty="0"/>
          </a:p>
          <a:p>
            <a:pPr marL="342900" lvl="0" indent="-342900" eaLnBrk="1" hangingPunct="1">
              <a:spcBef>
                <a:spcPts val="300"/>
              </a:spcBef>
              <a:buFont typeface="Arial" panose="020B0604020202020204" pitchFamily="34" charset="0"/>
              <a:buNone/>
            </a:pPr>
            <a:r>
              <a:rPr lang="zh-CN" altLang="en-US" dirty="0"/>
              <a:t>    AS</a:t>
            </a:r>
            <a:endParaRPr lang="zh-CN" altLang="en-US" dirty="0"/>
          </a:p>
          <a:p>
            <a:pPr marL="342900" lvl="0" indent="-342900" eaLnBrk="1" hangingPunct="1">
              <a:spcBef>
                <a:spcPts val="300"/>
              </a:spcBef>
              <a:buFont typeface="Arial" panose="020B0604020202020204" pitchFamily="34" charset="0"/>
              <a:buNone/>
            </a:pPr>
            <a:r>
              <a:rPr lang="zh-CN" altLang="en-US" dirty="0"/>
              <a:t>		IF @@rowcount=0</a:t>
            </a:r>
            <a:r>
              <a:rPr lang="en-US" altLang="zh-CN" dirty="0"/>
              <a:t> </a:t>
            </a:r>
            <a:r>
              <a:rPr lang="zh-CN" altLang="en-US" dirty="0"/>
              <a:t>RETURN</a:t>
            </a:r>
            <a:endParaRPr lang="zh-CN" altLang="en-US" dirty="0"/>
          </a:p>
          <a:p>
            <a:pPr marL="342900" lvl="0" indent="-342900" eaLnBrk="1" hangingPunct="1">
              <a:spcBef>
                <a:spcPts val="300"/>
              </a:spcBef>
              <a:buFont typeface="Arial" panose="020B0604020202020204" pitchFamily="34" charset="0"/>
              <a:buNone/>
            </a:pPr>
            <a:r>
              <a:rPr lang="zh-CN" altLang="en-US" dirty="0"/>
              <a:t>		</a:t>
            </a:r>
            <a:r>
              <a:rPr lang="en-US" altLang="zh-CN" dirty="0"/>
              <a:t>IF UPDATE (pub_id)</a:t>
            </a:r>
            <a:endParaRPr lang="zh-CN" altLang="en-US" dirty="0"/>
          </a:p>
          <a:p>
            <a:pPr marL="342900" lvl="0" indent="-342900" eaLnBrk="1" hangingPunct="1">
              <a:spcBef>
                <a:spcPts val="300"/>
              </a:spcBef>
              <a:buFont typeface="Arial" panose="020B0604020202020204" pitchFamily="34" charset="0"/>
              <a:buNone/>
            </a:pPr>
            <a:r>
              <a:rPr lang="zh-CN" altLang="en-US" dirty="0"/>
              <a:t>		</a:t>
            </a:r>
            <a:r>
              <a:rPr lang="en-US" altLang="zh-CN" dirty="0"/>
              <a:t>BEGIN</a:t>
            </a:r>
            <a:endParaRPr lang="en-US" altLang="zh-CN" dirty="0"/>
          </a:p>
          <a:p>
            <a:pPr marL="342900" lvl="0" indent="-342900" eaLnBrk="1" hangingPunct="1">
              <a:spcBef>
                <a:spcPts val="300"/>
              </a:spcBef>
              <a:buFont typeface="Arial" panose="020B0604020202020204" pitchFamily="34" charset="0"/>
              <a:buNone/>
            </a:pPr>
            <a:r>
              <a:rPr lang="en-US" altLang="zh-CN" dirty="0"/>
              <a:t>                 UPDATE titles SET pub_id=i.pub_id from titles t,</a:t>
            </a:r>
            <a:endParaRPr lang="en-US" altLang="zh-CN" dirty="0"/>
          </a:p>
          <a:p>
            <a:pPr marL="342900" lvl="0" indent="-342900" eaLnBrk="1" hangingPunct="1">
              <a:spcBef>
                <a:spcPts val="300"/>
              </a:spcBef>
              <a:buFont typeface="Arial" panose="020B0604020202020204" pitchFamily="34" charset="0"/>
              <a:buNone/>
            </a:pPr>
            <a:r>
              <a:rPr lang="en-US" altLang="zh-CN" dirty="0"/>
              <a:t>                     deleted d,inserted I where t.pub_id=d.pub_id</a:t>
            </a:r>
            <a:endParaRPr lang="en-US" altLang="zh-CN" dirty="0"/>
          </a:p>
          <a:p>
            <a:pPr marL="342900" lvl="0" indent="-342900" eaLnBrk="1" hangingPunct="1">
              <a:spcBef>
                <a:spcPts val="300"/>
              </a:spcBef>
              <a:buFont typeface="Arial" panose="020B0604020202020204" pitchFamily="34" charset="0"/>
              <a:buNone/>
            </a:pPr>
            <a:r>
              <a:rPr lang="en-US" altLang="zh-CN" dirty="0"/>
              <a:t>     END</a:t>
            </a:r>
            <a:endParaRPr lang="en-US" altLang="zh-CN" dirty="0"/>
          </a:p>
          <a:p>
            <a:pPr marL="342900" lvl="0" indent="-342900" eaLnBrk="1" hangingPunct="1">
              <a:spcBef>
                <a:spcPts val="300"/>
              </a:spcBef>
              <a:buFont typeface="Arial" panose="020B0604020202020204" pitchFamily="34" charset="0"/>
              <a:buNone/>
            </a:pPr>
            <a:r>
              <a:rPr lang="zh-CN" altLang="en-US" dirty="0"/>
              <a:t>RETURN</a:t>
            </a:r>
            <a:endParaRPr lang="zh-CN" altLang="en-US" dirty="0"/>
          </a:p>
        </p:txBody>
      </p:sp>
      <p:sp>
        <p:nvSpPr>
          <p:cNvPr id="88068"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88069"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矩形 4"/>
          <p:cNvSpPr/>
          <p:nvPr/>
        </p:nvSpPr>
        <p:spPr>
          <a:xfrm>
            <a:off x="776288" y="2081213"/>
            <a:ext cx="7743825" cy="40941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spcBef>
                <a:spcPct val="0"/>
              </a:spcBef>
              <a:buNone/>
            </a:pPr>
            <a:r>
              <a:rPr lang="en-US" altLang="zh-CN" dirty="0"/>
              <a:t>CREATE TRIGGER ctake_iu</a:t>
            </a:r>
            <a:endParaRPr lang="en-US" altLang="zh-CN" dirty="0"/>
          </a:p>
          <a:p>
            <a:pPr marL="0" lvl="0" indent="0">
              <a:spcBef>
                <a:spcPct val="0"/>
              </a:spcBef>
              <a:buNone/>
            </a:pPr>
            <a:r>
              <a:rPr lang="en-US" altLang="zh-CN" dirty="0"/>
              <a:t>    ON [dbo].[ctake] </a:t>
            </a:r>
            <a:endParaRPr lang="en-US" altLang="zh-CN" dirty="0"/>
          </a:p>
          <a:p>
            <a:pPr marL="0" lvl="0" indent="0">
              <a:spcBef>
                <a:spcPct val="0"/>
              </a:spcBef>
              <a:buNone/>
            </a:pPr>
            <a:r>
              <a:rPr lang="en-US" altLang="zh-CN" dirty="0"/>
              <a:t>    FOR INSERT,UPDATE</a:t>
            </a:r>
            <a:endParaRPr lang="en-US" altLang="zh-CN" dirty="0"/>
          </a:p>
          <a:p>
            <a:pPr marL="0" lvl="0" indent="0">
              <a:spcBef>
                <a:spcPct val="0"/>
              </a:spcBef>
              <a:buNone/>
            </a:pPr>
            <a:r>
              <a:rPr lang="en-US" altLang="zh-CN" dirty="0"/>
              <a:t>    AS</a:t>
            </a:r>
            <a:endParaRPr lang="en-US" altLang="zh-CN" dirty="0"/>
          </a:p>
          <a:p>
            <a:pPr marL="0" lvl="0" indent="0">
              <a:spcBef>
                <a:spcPct val="0"/>
              </a:spcBef>
              <a:buNone/>
            </a:pPr>
            <a:r>
              <a:rPr lang="en-US" altLang="zh-CN" dirty="0"/>
              <a:t>       IF @@rowcount=0 RETURN</a:t>
            </a:r>
            <a:endParaRPr lang="en-US" altLang="zh-CN" dirty="0"/>
          </a:p>
          <a:p>
            <a:pPr marL="0" lvl="0" indent="0">
              <a:spcBef>
                <a:spcPct val="0"/>
              </a:spcBef>
              <a:buNone/>
            </a:pPr>
            <a:r>
              <a:rPr lang="en-US" altLang="zh-CN" dirty="0"/>
              <a:t>       IF (SELECT Count(*) FROM Course c, inserted i</a:t>
            </a:r>
            <a:endParaRPr lang="en-US" altLang="zh-CN" dirty="0"/>
          </a:p>
          <a:p>
            <a:pPr marL="0" lvl="0" indent="0">
              <a:spcBef>
                <a:spcPct val="0"/>
              </a:spcBef>
              <a:buNone/>
            </a:pPr>
            <a:r>
              <a:rPr lang="en-US" altLang="zh-CN" dirty="0"/>
              <a:t>                 WHERE C.CID=i.CID)= 0</a:t>
            </a:r>
            <a:endParaRPr lang="en-US" altLang="zh-CN" dirty="0"/>
          </a:p>
          <a:p>
            <a:pPr marL="0" lvl="0" indent="0">
              <a:spcBef>
                <a:spcPct val="0"/>
              </a:spcBef>
              <a:buNone/>
            </a:pPr>
            <a:r>
              <a:rPr lang="en-US" altLang="zh-CN" dirty="0"/>
              <a:t>        BEGIN</a:t>
            </a:r>
            <a:endParaRPr lang="en-US" altLang="zh-CN" dirty="0"/>
          </a:p>
          <a:p>
            <a:pPr marL="0" lvl="0" indent="0">
              <a:spcBef>
                <a:spcPct val="0"/>
              </a:spcBef>
              <a:buNone/>
            </a:pPr>
            <a:r>
              <a:rPr lang="en-US" altLang="zh-CN" dirty="0"/>
              <a:t>             RAISERROR('</a:t>
            </a:r>
            <a:r>
              <a:rPr lang="zh-CN" altLang="en-US" dirty="0"/>
              <a:t>试图插入或修改非法的课程</a:t>
            </a:r>
            <a:r>
              <a:rPr lang="en-US" altLang="zh-CN" dirty="0"/>
              <a:t>',16,1,1)</a:t>
            </a:r>
            <a:endParaRPr lang="zh-CN" altLang="en-US" dirty="0"/>
          </a:p>
          <a:p>
            <a:pPr marL="0" lvl="0" indent="0">
              <a:spcBef>
                <a:spcPct val="0"/>
              </a:spcBef>
              <a:buNone/>
            </a:pPr>
            <a:r>
              <a:rPr lang="en-US" altLang="zh-CN" dirty="0"/>
              <a:t>             ROLLBACK TRANSACTION </a:t>
            </a:r>
            <a:endParaRPr lang="en-US" altLang="zh-CN" dirty="0"/>
          </a:p>
          <a:p>
            <a:pPr marL="0" lvl="0" indent="0">
              <a:spcBef>
                <a:spcPct val="0"/>
              </a:spcBef>
              <a:buNone/>
            </a:pPr>
            <a:r>
              <a:rPr lang="en-US" altLang="zh-CN" dirty="0"/>
              <a:t>            RETURN</a:t>
            </a:r>
            <a:endParaRPr lang="en-US" altLang="zh-CN" dirty="0"/>
          </a:p>
          <a:p>
            <a:pPr marL="0" lvl="0" indent="0">
              <a:spcBef>
                <a:spcPct val="0"/>
              </a:spcBef>
              <a:buNone/>
            </a:pPr>
            <a:r>
              <a:rPr lang="en-US" altLang="zh-CN" dirty="0"/>
              <a:t>        END</a:t>
            </a:r>
            <a:endParaRPr lang="en-US" altLang="zh-CN" dirty="0"/>
          </a:p>
          <a:p>
            <a:pPr marL="0" lvl="0" indent="0">
              <a:spcBef>
                <a:spcPct val="0"/>
              </a:spcBef>
              <a:buNone/>
            </a:pPr>
            <a:r>
              <a:rPr lang="en-US" altLang="zh-CN" dirty="0"/>
              <a:t>RETURN</a:t>
            </a:r>
            <a:endParaRPr lang="en-US" altLang="zh-CN" dirty="0"/>
          </a:p>
        </p:txBody>
      </p:sp>
      <p:sp>
        <p:nvSpPr>
          <p:cNvPr id="89091" name="矩形 5"/>
          <p:cNvSpPr/>
          <p:nvPr/>
        </p:nvSpPr>
        <p:spPr>
          <a:xfrm>
            <a:off x="684213" y="1466850"/>
            <a:ext cx="6580187" cy="4984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10000"/>
              </a:lnSpc>
              <a:buSzPct val="100000"/>
            </a:pPr>
            <a:r>
              <a:rPr lang="zh-CN" altLang="en-US" sz="2400" u="sng" dirty="0">
                <a:solidFill>
                  <a:srgbClr val="0033CC"/>
                </a:solidFill>
              </a:rPr>
              <a:t>示例</a:t>
            </a:r>
            <a:r>
              <a:rPr lang="en-US" altLang="zh-CN" sz="2400" u="sng" dirty="0">
                <a:solidFill>
                  <a:srgbClr val="0033CC"/>
                </a:solidFill>
              </a:rPr>
              <a:t>3</a:t>
            </a:r>
            <a:r>
              <a:rPr lang="zh-CN" altLang="en-US" sz="2400" u="sng" dirty="0">
                <a:solidFill>
                  <a:srgbClr val="0033CC"/>
                </a:solidFill>
              </a:rPr>
              <a:t>：</a:t>
            </a:r>
            <a:r>
              <a:rPr lang="zh-CN" altLang="en-US" sz="2400" dirty="0">
                <a:solidFill>
                  <a:srgbClr val="0033CC"/>
                </a:solidFill>
              </a:rPr>
              <a:t>由修改和插入操作激发的从表触发器</a:t>
            </a:r>
            <a:endParaRPr lang="zh-CN" altLang="en-US" sz="2400" dirty="0">
              <a:solidFill>
                <a:srgbClr val="0033CC"/>
              </a:solidFill>
            </a:endParaRPr>
          </a:p>
        </p:txBody>
      </p:sp>
      <p:sp>
        <p:nvSpPr>
          <p:cNvPr id="89092"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8909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9" name="Rectangle 3"/>
          <p:cNvSpPr txBox="1"/>
          <p:nvPr/>
        </p:nvSpPr>
        <p:spPr>
          <a:xfrm>
            <a:off x="622300" y="1490663"/>
            <a:ext cx="8102600" cy="45720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90000"/>
              </a:lnSpc>
              <a:spcBef>
                <a:spcPct val="50000"/>
              </a:spcBef>
              <a:buSzPct val="100000"/>
            </a:pPr>
            <a:r>
              <a:rPr lang="en-US" altLang="zh-CN" sz="2400" dirty="0"/>
              <a:t> </a:t>
            </a:r>
            <a:r>
              <a:rPr lang="zh-CN" altLang="en-US" sz="2400" dirty="0"/>
              <a:t>查看触发器的创建过程: </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sp_helptext  触发器名</a:t>
            </a:r>
            <a:endParaRPr lang="zh-CN" altLang="en-US" sz="2200" dirty="0">
              <a:latin typeface="宋体" panose="02010600030101010101" pitchFamily="2" charset="-122"/>
            </a:endParaRPr>
          </a:p>
          <a:p>
            <a:pPr marL="342900" lvl="0" indent="-342900" eaLnBrk="1" hangingPunct="1">
              <a:lnSpc>
                <a:spcPct val="90000"/>
              </a:lnSpc>
              <a:spcBef>
                <a:spcPct val="50000"/>
              </a:spcBef>
              <a:buSzPct val="100000"/>
            </a:pPr>
            <a:r>
              <a:rPr lang="en-US" altLang="zh-CN" sz="2400" dirty="0">
                <a:sym typeface="Wingdings" panose="05000000000000000000" pitchFamily="2" charset="2"/>
              </a:rPr>
              <a:t> </a:t>
            </a:r>
            <a:r>
              <a:rPr lang="zh-CN" altLang="en-US" sz="2400" dirty="0">
                <a:sym typeface="Wingdings" panose="05000000000000000000" pitchFamily="2" charset="2"/>
              </a:rPr>
              <a:t>查看表依赖的触发器或触发器涉及的表:</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sp_depends 表名或触发器名 </a:t>
            </a:r>
            <a:endParaRPr lang="zh-CN" altLang="en-US" sz="2200" dirty="0">
              <a:latin typeface="宋体" panose="02010600030101010101" pitchFamily="2" charset="-122"/>
            </a:endParaRPr>
          </a:p>
          <a:p>
            <a:pPr marL="342900" lvl="0" indent="-342900" eaLnBrk="1" hangingPunct="1">
              <a:lnSpc>
                <a:spcPct val="90000"/>
              </a:lnSpc>
              <a:spcBef>
                <a:spcPct val="50000"/>
              </a:spcBef>
              <a:buSzPct val="100000"/>
            </a:pPr>
            <a:r>
              <a:rPr lang="zh-CN" altLang="en-US" sz="2400" dirty="0">
                <a:sym typeface="Wingdings" panose="05000000000000000000" pitchFamily="2" charset="2"/>
              </a:rPr>
              <a:t>删除触发器:</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t>DROP TRIGGER  触发器名 </a:t>
            </a:r>
            <a:endParaRPr lang="zh-CN" altLang="en-US" sz="2200" dirty="0"/>
          </a:p>
          <a:p>
            <a:pPr marL="342900" lvl="0" indent="-342900" eaLnBrk="1" hangingPunct="1">
              <a:lnSpc>
                <a:spcPct val="90000"/>
              </a:lnSpc>
              <a:spcBef>
                <a:spcPct val="50000"/>
              </a:spcBef>
              <a:buSzPct val="100000"/>
            </a:pPr>
            <a:r>
              <a:rPr lang="zh-CN" altLang="en-US" sz="2400" dirty="0">
                <a:sym typeface="Wingdings" panose="05000000000000000000" pitchFamily="2" charset="2"/>
              </a:rPr>
              <a:t>注意</a:t>
            </a:r>
            <a:endParaRPr lang="zh-CN" altLang="en-US" sz="2400" dirty="0">
              <a:sym typeface="Wingdings" panose="05000000000000000000" pitchFamily="2" charset="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不能对视图和临时表创建触发器;</a:t>
            </a:r>
            <a:endParaRPr lang="zh-CN" altLang="en-US" sz="2200" dirty="0">
              <a:latin typeface="宋体" panose="02010600030101010101" pitchFamily="2" charset="-122"/>
            </a:endParaRPr>
          </a:p>
          <a:p>
            <a:pPr marL="742950" lvl="1" indent="-285750" eaLnBrk="1" hangingPunct="1">
              <a:lnSpc>
                <a:spcPct val="90000"/>
              </a:lnSpc>
              <a:spcBef>
                <a:spcPct val="50000"/>
              </a:spcBef>
              <a:buFont typeface="Arial" panose="020B0604020202020204" pitchFamily="34" charset="0"/>
              <a:buNone/>
            </a:pPr>
            <a:r>
              <a:rPr lang="en-US" altLang="zh-CN" sz="2200" dirty="0">
                <a:latin typeface="宋体" panose="02010600030101010101" pitchFamily="2" charset="-122"/>
              </a:rPr>
              <a:t>--</a:t>
            </a:r>
            <a:r>
              <a:rPr lang="zh-CN" altLang="en-US" sz="2200" dirty="0">
                <a:latin typeface="宋体" panose="02010600030101010101" pitchFamily="2" charset="-122"/>
              </a:rPr>
              <a:t>如果建立触发器的表被删除,其上的触发器将被自动删除。</a:t>
            </a:r>
            <a:endParaRPr lang="zh-CN" altLang="en-US" sz="2200" dirty="0">
              <a:latin typeface="宋体" panose="02010600030101010101" pitchFamily="2" charset="-122"/>
            </a:endParaRPr>
          </a:p>
        </p:txBody>
      </p:sp>
      <p:sp>
        <p:nvSpPr>
          <p:cNvPr id="9011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
        <p:nvSpPr>
          <p:cNvPr id="90116" name="矩形 2"/>
          <p:cNvSpPr/>
          <p:nvPr/>
        </p:nvSpPr>
        <p:spPr>
          <a:xfrm>
            <a:off x="552450" y="7794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7.触发器(Trigger)</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5539">
                                            <p:txEl>
                                              <p:charRg st="0" end="14"/>
                                            </p:txEl>
                                          </p:spTgt>
                                        </p:tgtEl>
                                        <p:attrNameLst>
                                          <p:attrName>style.visibility</p:attrName>
                                        </p:attrNameLst>
                                      </p:cBhvr>
                                      <p:to>
                                        <p:strVal val="visible"/>
                                      </p:to>
                                    </p:set>
                                    <p:anim calcmode="lin" valueType="num">
                                      <p:cBhvr>
                                        <p:cTn id="7" dur="500" fill="hold"/>
                                        <p:tgtEl>
                                          <p:spTgt spid="65539">
                                            <p:txEl>
                                              <p:charRg st="0" end="14"/>
                                            </p:txEl>
                                          </p:spTgt>
                                        </p:tgtEl>
                                        <p:attrNameLst>
                                          <p:attrName>ppt_w</p:attrName>
                                        </p:attrNameLst>
                                      </p:cBhvr>
                                      <p:tavLst>
                                        <p:tav tm="0">
                                          <p:val>
                                            <p:fltVal val="0.000000"/>
                                          </p:val>
                                        </p:tav>
                                        <p:tav tm="100000">
                                          <p:val>
                                            <p:strVal val="#ppt_w"/>
                                          </p:val>
                                        </p:tav>
                                      </p:tavLst>
                                    </p:anim>
                                    <p:anim calcmode="lin" valueType="num">
                                      <p:cBhvr>
                                        <p:cTn id="8" dur="500" fill="hold"/>
                                        <p:tgtEl>
                                          <p:spTgt spid="65539">
                                            <p:txEl>
                                              <p:charRg st="0" end="14"/>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5539">
                                            <p:txEl>
                                              <p:charRg st="14" end="34"/>
                                            </p:txEl>
                                          </p:spTgt>
                                        </p:tgtEl>
                                        <p:attrNameLst>
                                          <p:attrName>style.visibility</p:attrName>
                                        </p:attrNameLst>
                                      </p:cBhvr>
                                      <p:to>
                                        <p:strVal val="visible"/>
                                      </p:to>
                                    </p:set>
                                    <p:anim calcmode="lin" valueType="num">
                                      <p:cBhvr>
                                        <p:cTn id="13" dur="500" fill="hold"/>
                                        <p:tgtEl>
                                          <p:spTgt spid="65539">
                                            <p:txEl>
                                              <p:charRg st="14" end="34"/>
                                            </p:txEl>
                                          </p:spTgt>
                                        </p:tgtEl>
                                        <p:attrNameLst>
                                          <p:attrName>ppt_w</p:attrName>
                                        </p:attrNameLst>
                                      </p:cBhvr>
                                      <p:tavLst>
                                        <p:tav tm="0">
                                          <p:val>
                                            <p:fltVal val="0.000000"/>
                                          </p:val>
                                        </p:tav>
                                        <p:tav tm="100000">
                                          <p:val>
                                            <p:strVal val="#ppt_w"/>
                                          </p:val>
                                        </p:tav>
                                      </p:tavLst>
                                    </p:anim>
                                    <p:anim calcmode="lin" valueType="num">
                                      <p:cBhvr>
                                        <p:cTn id="14" dur="500" fill="hold"/>
                                        <p:tgtEl>
                                          <p:spTgt spid="65539">
                                            <p:txEl>
                                              <p:charRg st="14" end="34"/>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5539">
                                            <p:txEl>
                                              <p:charRg st="34" end="54"/>
                                            </p:txEl>
                                          </p:spTgt>
                                        </p:tgtEl>
                                        <p:attrNameLst>
                                          <p:attrName>style.visibility</p:attrName>
                                        </p:attrNameLst>
                                      </p:cBhvr>
                                      <p:to>
                                        <p:strVal val="visible"/>
                                      </p:to>
                                    </p:set>
                                    <p:anim calcmode="lin" valueType="num">
                                      <p:cBhvr>
                                        <p:cTn id="19" dur="500" fill="hold"/>
                                        <p:tgtEl>
                                          <p:spTgt spid="65539">
                                            <p:txEl>
                                              <p:charRg st="34" end="54"/>
                                            </p:txEl>
                                          </p:spTgt>
                                        </p:tgtEl>
                                        <p:attrNameLst>
                                          <p:attrName>ppt_w</p:attrName>
                                        </p:attrNameLst>
                                      </p:cBhvr>
                                      <p:tavLst>
                                        <p:tav tm="0">
                                          <p:val>
                                            <p:fltVal val="0.000000"/>
                                          </p:val>
                                        </p:tav>
                                        <p:tav tm="100000">
                                          <p:val>
                                            <p:strVal val="#ppt_w"/>
                                          </p:val>
                                        </p:tav>
                                      </p:tavLst>
                                    </p:anim>
                                    <p:anim calcmode="lin" valueType="num">
                                      <p:cBhvr>
                                        <p:cTn id="20" dur="500" fill="hold"/>
                                        <p:tgtEl>
                                          <p:spTgt spid="65539">
                                            <p:txEl>
                                              <p:charRg st="34" end="54"/>
                                            </p:txEl>
                                          </p:spTgt>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65539">
                                            <p:txEl>
                                              <p:charRg st="54" end="76"/>
                                            </p:txEl>
                                          </p:spTgt>
                                        </p:tgtEl>
                                        <p:attrNameLst>
                                          <p:attrName>style.visibility</p:attrName>
                                        </p:attrNameLst>
                                      </p:cBhvr>
                                      <p:to>
                                        <p:strVal val="visible"/>
                                      </p:to>
                                    </p:set>
                                    <p:anim calcmode="lin" valueType="num">
                                      <p:cBhvr>
                                        <p:cTn id="25" dur="500" fill="hold"/>
                                        <p:tgtEl>
                                          <p:spTgt spid="65539">
                                            <p:txEl>
                                              <p:charRg st="54" end="76"/>
                                            </p:txEl>
                                          </p:spTgt>
                                        </p:tgtEl>
                                        <p:attrNameLst>
                                          <p:attrName>ppt_w</p:attrName>
                                        </p:attrNameLst>
                                      </p:cBhvr>
                                      <p:tavLst>
                                        <p:tav tm="0">
                                          <p:val>
                                            <p:fltVal val="0.000000"/>
                                          </p:val>
                                        </p:tav>
                                        <p:tav tm="100000">
                                          <p:val>
                                            <p:strVal val="#ppt_w"/>
                                          </p:val>
                                        </p:tav>
                                      </p:tavLst>
                                    </p:anim>
                                    <p:anim calcmode="lin" valueType="num">
                                      <p:cBhvr>
                                        <p:cTn id="26" dur="500" fill="hold"/>
                                        <p:tgtEl>
                                          <p:spTgt spid="65539">
                                            <p:txEl>
                                              <p:charRg st="54" end="76"/>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grpId="0" nodeType="clickEffect">
                                  <p:stCondLst>
                                    <p:cond delay="0"/>
                                  </p:stCondLst>
                                  <p:childTnLst>
                                    <p:set>
                                      <p:cBhvr>
                                        <p:cTn id="30" dur="1" fill="hold">
                                          <p:stCondLst>
                                            <p:cond delay="0"/>
                                          </p:stCondLst>
                                        </p:cTn>
                                        <p:tgtEl>
                                          <p:spTgt spid="65539">
                                            <p:txEl>
                                              <p:charRg st="76" end="83"/>
                                            </p:txEl>
                                          </p:spTgt>
                                        </p:tgtEl>
                                        <p:attrNameLst>
                                          <p:attrName>style.visibility</p:attrName>
                                        </p:attrNameLst>
                                      </p:cBhvr>
                                      <p:to>
                                        <p:strVal val="visible"/>
                                      </p:to>
                                    </p:set>
                                    <p:anim calcmode="lin" valueType="num">
                                      <p:cBhvr>
                                        <p:cTn id="31" dur="500" fill="hold"/>
                                        <p:tgtEl>
                                          <p:spTgt spid="65539">
                                            <p:txEl>
                                              <p:charRg st="76" end="83"/>
                                            </p:txEl>
                                          </p:spTgt>
                                        </p:tgtEl>
                                        <p:attrNameLst>
                                          <p:attrName>ppt_w</p:attrName>
                                        </p:attrNameLst>
                                      </p:cBhvr>
                                      <p:tavLst>
                                        <p:tav tm="0">
                                          <p:val>
                                            <p:fltVal val="0.000000"/>
                                          </p:val>
                                        </p:tav>
                                        <p:tav tm="100000">
                                          <p:val>
                                            <p:strVal val="#ppt_w"/>
                                          </p:val>
                                        </p:tav>
                                      </p:tavLst>
                                    </p:anim>
                                    <p:anim calcmode="lin" valueType="num">
                                      <p:cBhvr>
                                        <p:cTn id="32" dur="500" fill="hold"/>
                                        <p:tgtEl>
                                          <p:spTgt spid="65539">
                                            <p:txEl>
                                              <p:charRg st="76" end="83"/>
                                            </p:txEl>
                                          </p:spTgt>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grpId="0" nodeType="clickEffect">
                                  <p:stCondLst>
                                    <p:cond delay="0"/>
                                  </p:stCondLst>
                                  <p:childTnLst>
                                    <p:set>
                                      <p:cBhvr>
                                        <p:cTn id="36" dur="1" fill="hold">
                                          <p:stCondLst>
                                            <p:cond delay="0"/>
                                          </p:stCondLst>
                                        </p:cTn>
                                        <p:tgtEl>
                                          <p:spTgt spid="65539">
                                            <p:txEl>
                                              <p:charRg st="83" end="105"/>
                                            </p:txEl>
                                          </p:spTgt>
                                        </p:tgtEl>
                                        <p:attrNameLst>
                                          <p:attrName>style.visibility</p:attrName>
                                        </p:attrNameLst>
                                      </p:cBhvr>
                                      <p:to>
                                        <p:strVal val="visible"/>
                                      </p:to>
                                    </p:set>
                                    <p:anim calcmode="lin" valueType="num">
                                      <p:cBhvr>
                                        <p:cTn id="37" dur="500" fill="hold"/>
                                        <p:tgtEl>
                                          <p:spTgt spid="65539">
                                            <p:txEl>
                                              <p:charRg st="83" end="105"/>
                                            </p:txEl>
                                          </p:spTgt>
                                        </p:tgtEl>
                                        <p:attrNameLst>
                                          <p:attrName>ppt_w</p:attrName>
                                        </p:attrNameLst>
                                      </p:cBhvr>
                                      <p:tavLst>
                                        <p:tav tm="0">
                                          <p:val>
                                            <p:fltVal val="0.000000"/>
                                          </p:val>
                                        </p:tav>
                                        <p:tav tm="100000">
                                          <p:val>
                                            <p:strVal val="#ppt_w"/>
                                          </p:val>
                                        </p:tav>
                                      </p:tavLst>
                                    </p:anim>
                                    <p:anim calcmode="lin" valueType="num">
                                      <p:cBhvr>
                                        <p:cTn id="38" dur="500" fill="hold"/>
                                        <p:tgtEl>
                                          <p:spTgt spid="65539">
                                            <p:txEl>
                                              <p:charRg st="83" end="105"/>
                                            </p:txEl>
                                          </p:spTgt>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grpId="0" nodeType="clickEffect">
                                  <p:stCondLst>
                                    <p:cond delay="0"/>
                                  </p:stCondLst>
                                  <p:childTnLst>
                                    <p:set>
                                      <p:cBhvr>
                                        <p:cTn id="42" dur="1" fill="hold">
                                          <p:stCondLst>
                                            <p:cond delay="0"/>
                                          </p:stCondLst>
                                        </p:cTn>
                                        <p:tgtEl>
                                          <p:spTgt spid="65539">
                                            <p:txEl>
                                              <p:charRg st="105" end="108"/>
                                            </p:txEl>
                                          </p:spTgt>
                                        </p:tgtEl>
                                        <p:attrNameLst>
                                          <p:attrName>style.visibility</p:attrName>
                                        </p:attrNameLst>
                                      </p:cBhvr>
                                      <p:to>
                                        <p:strVal val="visible"/>
                                      </p:to>
                                    </p:set>
                                    <p:anim calcmode="lin" valueType="num">
                                      <p:cBhvr>
                                        <p:cTn id="43" dur="500" fill="hold"/>
                                        <p:tgtEl>
                                          <p:spTgt spid="65539">
                                            <p:txEl>
                                              <p:charRg st="105" end="108"/>
                                            </p:txEl>
                                          </p:spTgt>
                                        </p:tgtEl>
                                        <p:attrNameLst>
                                          <p:attrName>ppt_w</p:attrName>
                                        </p:attrNameLst>
                                      </p:cBhvr>
                                      <p:tavLst>
                                        <p:tav tm="0">
                                          <p:val>
                                            <p:fltVal val="0.000000"/>
                                          </p:val>
                                        </p:tav>
                                        <p:tav tm="100000">
                                          <p:val>
                                            <p:strVal val="#ppt_w"/>
                                          </p:val>
                                        </p:tav>
                                      </p:tavLst>
                                    </p:anim>
                                    <p:anim calcmode="lin" valueType="num">
                                      <p:cBhvr>
                                        <p:cTn id="44" dur="500" fill="hold"/>
                                        <p:tgtEl>
                                          <p:spTgt spid="65539">
                                            <p:txEl>
                                              <p:charRg st="105" end="108"/>
                                            </p:txEl>
                                          </p:spTgt>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7" presetClass="entr" presetSubtype="10" fill="hold" grpId="0" nodeType="clickEffect">
                                  <p:stCondLst>
                                    <p:cond delay="0"/>
                                  </p:stCondLst>
                                  <p:childTnLst>
                                    <p:set>
                                      <p:cBhvr>
                                        <p:cTn id="48" dur="1" fill="hold">
                                          <p:stCondLst>
                                            <p:cond delay="0"/>
                                          </p:stCondLst>
                                        </p:cTn>
                                        <p:tgtEl>
                                          <p:spTgt spid="65539">
                                            <p:txEl>
                                              <p:charRg st="108" end="126"/>
                                            </p:txEl>
                                          </p:spTgt>
                                        </p:tgtEl>
                                        <p:attrNameLst>
                                          <p:attrName>style.visibility</p:attrName>
                                        </p:attrNameLst>
                                      </p:cBhvr>
                                      <p:to>
                                        <p:strVal val="visible"/>
                                      </p:to>
                                    </p:set>
                                    <p:anim calcmode="lin" valueType="num">
                                      <p:cBhvr>
                                        <p:cTn id="49" dur="500" fill="hold"/>
                                        <p:tgtEl>
                                          <p:spTgt spid="65539">
                                            <p:txEl>
                                              <p:charRg st="108" end="126"/>
                                            </p:txEl>
                                          </p:spTgt>
                                        </p:tgtEl>
                                        <p:attrNameLst>
                                          <p:attrName>ppt_w</p:attrName>
                                        </p:attrNameLst>
                                      </p:cBhvr>
                                      <p:tavLst>
                                        <p:tav tm="0">
                                          <p:val>
                                            <p:fltVal val="0.000000"/>
                                          </p:val>
                                        </p:tav>
                                        <p:tav tm="100000">
                                          <p:val>
                                            <p:strVal val="#ppt_w"/>
                                          </p:val>
                                        </p:tav>
                                      </p:tavLst>
                                    </p:anim>
                                    <p:anim calcmode="lin" valueType="num">
                                      <p:cBhvr>
                                        <p:cTn id="50" dur="500" fill="hold"/>
                                        <p:tgtEl>
                                          <p:spTgt spid="65539">
                                            <p:txEl>
                                              <p:charRg st="108" end="126"/>
                                            </p:txEl>
                                          </p:spTgt>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10" fill="hold" grpId="0" nodeType="clickEffect">
                                  <p:stCondLst>
                                    <p:cond delay="0"/>
                                  </p:stCondLst>
                                  <p:childTnLst>
                                    <p:set>
                                      <p:cBhvr>
                                        <p:cTn id="54" dur="1" fill="hold">
                                          <p:stCondLst>
                                            <p:cond delay="0"/>
                                          </p:stCondLst>
                                        </p:cTn>
                                        <p:tgtEl>
                                          <p:spTgt spid="65539">
                                            <p:txEl>
                                              <p:charRg st="126" end="155"/>
                                            </p:txEl>
                                          </p:spTgt>
                                        </p:tgtEl>
                                        <p:attrNameLst>
                                          <p:attrName>style.visibility</p:attrName>
                                        </p:attrNameLst>
                                      </p:cBhvr>
                                      <p:to>
                                        <p:strVal val="visible"/>
                                      </p:to>
                                    </p:set>
                                    <p:anim calcmode="lin" valueType="num">
                                      <p:cBhvr>
                                        <p:cTn id="55" dur="500" fill="hold"/>
                                        <p:tgtEl>
                                          <p:spTgt spid="65539">
                                            <p:txEl>
                                              <p:charRg st="126" end="155"/>
                                            </p:txEl>
                                          </p:spTgt>
                                        </p:tgtEl>
                                        <p:attrNameLst>
                                          <p:attrName>ppt_w</p:attrName>
                                        </p:attrNameLst>
                                      </p:cBhvr>
                                      <p:tavLst>
                                        <p:tav tm="0">
                                          <p:val>
                                            <p:fltVal val="0.000000"/>
                                          </p:val>
                                        </p:tav>
                                        <p:tav tm="100000">
                                          <p:val>
                                            <p:strVal val="#ppt_w"/>
                                          </p:val>
                                        </p:tav>
                                      </p:tavLst>
                                    </p:anim>
                                    <p:anim calcmode="lin" valueType="num">
                                      <p:cBhvr>
                                        <p:cTn id="56" dur="500" fill="hold"/>
                                        <p:tgtEl>
                                          <p:spTgt spid="65539">
                                            <p:txEl>
                                              <p:charRg st="126" end="15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bldLvl="2"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Text Box 7"/>
          <p:cNvSpPr txBox="1"/>
          <p:nvPr/>
        </p:nvSpPr>
        <p:spPr>
          <a:xfrm>
            <a:off x="457200" y="896938"/>
            <a:ext cx="7864475" cy="5492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200" dirty="0">
                <a:latin typeface="宋体" panose="02010600030101010101" pitchFamily="2" charset="-122"/>
              </a:rPr>
              <a:t>SQL Server</a:t>
            </a:r>
            <a:r>
              <a:rPr lang="zh-CN" altLang="en-US" sz="2200" dirty="0">
                <a:latin typeface="宋体" panose="02010600030101010101" pitchFamily="2" charset="-122"/>
              </a:rPr>
              <a:t>中的数据完整性可粗分为两大类，如下表。 </a:t>
            </a:r>
            <a:endParaRPr lang="zh-CN" altLang="en-US" sz="2200" dirty="0">
              <a:latin typeface="宋体" panose="02010600030101010101" pitchFamily="2" charset="-122"/>
            </a:endParaRPr>
          </a:p>
        </p:txBody>
      </p:sp>
      <p:graphicFrame>
        <p:nvGraphicFramePr>
          <p:cNvPr id="37891" name="表格 37890"/>
          <p:cNvGraphicFramePr>
            <a:graphicFrameLocks noGrp="1"/>
          </p:cNvGraphicFramePr>
          <p:nvPr/>
        </p:nvGraphicFramePr>
        <p:xfrm>
          <a:off x="546100" y="1574800"/>
          <a:ext cx="8140700" cy="4402138"/>
        </p:xfrm>
        <a:graphic>
          <a:graphicData uri="http://schemas.openxmlformats.org/drawingml/2006/table">
            <a:tbl>
              <a:tblPr/>
              <a:tblGrid>
                <a:gridCol w="1250950"/>
                <a:gridCol w="3187700"/>
                <a:gridCol w="3702050"/>
              </a:tblGrid>
              <a:tr h="709613">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完整性</a:t>
                      </a:r>
                      <a:endParaRPr kumimoji="0" lang="en-US" altLang="zh-CN"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分类</a:t>
                      </a:r>
                      <a:endPar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现有实现方式</a:t>
                      </a:r>
                      <a:endPar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rPr>
                        <a:t>备  注</a:t>
                      </a:r>
                      <a:endParaRPr kumimoji="0" lang="zh-CN" altLang="en-US" sz="2000" b="1" i="0" u="none" strike="noStrike" cap="none" normalizeH="0" baseline="0" smtClean="0">
                        <a:ln>
                          <a:noFill/>
                        </a:ln>
                        <a:solidFill>
                          <a:srgbClr val="0033CC"/>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rowSpan="5">
                  <a:txBody>
                    <a:bodyPr/>
                    <a:lstStyle>
                      <a:lvl1pPr marL="342900" indent="-342900" defTabSz="0">
                        <a:spcBef>
                          <a:spcPct val="20000"/>
                        </a:spcBef>
                        <a:buClr>
                          <a:srgbClr val="0033CC"/>
                        </a:buClr>
                        <a:buSzPct val="80000"/>
                        <a:buFont typeface="Wingdings" panose="05000000000000000000" pitchFamily="2" charset="2"/>
                        <a:tabLst>
                          <a:tab pos="266700" algn="r"/>
                          <a:tab pos="2636520" algn="ctr"/>
                          <a:tab pos="5273675" algn="r"/>
                        </a:tabLst>
                        <a:defRPr b="1">
                          <a:solidFill>
                            <a:schemeClr val="tx1"/>
                          </a:solidFill>
                          <a:latin typeface="Arial" panose="020B0604020202020204" pitchFamily="34" charset="0"/>
                          <a:ea typeface="宋体" panose="02010600030101010101" pitchFamily="2" charset="-122"/>
                        </a:defRPr>
                      </a:lvl1pPr>
                      <a:lvl2pPr marL="742950" indent="-285750" defTabSz="0">
                        <a:spcBef>
                          <a:spcPct val="20000"/>
                        </a:spcBef>
                        <a:buClr>
                          <a:schemeClr val="accent2"/>
                        </a:buClr>
                        <a:buSzPct val="70000"/>
                        <a:buFont typeface="Wingdings" panose="05000000000000000000" pitchFamily="2" charset="2"/>
                        <a:tabLst>
                          <a:tab pos="266700" algn="r"/>
                          <a:tab pos="2636520" algn="ctr"/>
                          <a:tab pos="5273675" algn="r"/>
                        </a:tabLst>
                        <a:defRPr sz="2400" b="1">
                          <a:solidFill>
                            <a:schemeClr val="tx1"/>
                          </a:solidFill>
                          <a:latin typeface="Arial" panose="020B0604020202020204" pitchFamily="34" charset="0"/>
                          <a:ea typeface="宋体" panose="02010600030101010101" pitchFamily="2" charset="-122"/>
                        </a:defRPr>
                      </a:lvl2pPr>
                      <a:lvl3pPr marL="1143000" indent="-228600" defTabSz="0">
                        <a:spcBef>
                          <a:spcPct val="20000"/>
                        </a:spcBef>
                        <a:buClr>
                          <a:schemeClr val="accent2"/>
                        </a:buClr>
                        <a:buSzPct val="60000"/>
                        <a:buFont typeface="Wingdings" panose="05000000000000000000" pitchFamily="2" charset="2"/>
                        <a:tabLst>
                          <a:tab pos="266700" algn="r"/>
                          <a:tab pos="2636520" algn="ctr"/>
                          <a:tab pos="5273675" algn="r"/>
                        </a:tabLst>
                        <a:defRPr sz="1400" b="1">
                          <a:solidFill>
                            <a:schemeClr val="tx1"/>
                          </a:solidFill>
                          <a:latin typeface="Arial" panose="020B0604020202020204" pitchFamily="34" charset="0"/>
                          <a:ea typeface="宋体" panose="02010600030101010101" pitchFamily="2" charset="-122"/>
                        </a:defRPr>
                      </a:lvl3pPr>
                      <a:lvl4pPr marL="1600200" indent="-228600" defTabSz="0">
                        <a:spcBef>
                          <a:spcPct val="20000"/>
                        </a:spcBef>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4pPr>
                      <a:lvl5pPr marL="2057400" indent="-228600" defTabSz="0">
                        <a:spcBef>
                          <a:spcPct val="20000"/>
                        </a:spcBef>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5pPr>
                      <a:lvl6pPr marL="25146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6pPr>
                      <a:lvl7pPr marL="29718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7pPr>
                      <a:lvl8pPr marL="34290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8pPr>
                      <a:lvl9pPr marL="3886200" indent="-228600" defTabSz="0" eaLnBrk="0" fontAlgn="base" hangingPunct="0">
                        <a:spcBef>
                          <a:spcPct val="20000"/>
                        </a:spcBef>
                        <a:spcAft>
                          <a:spcPct val="0"/>
                        </a:spcAft>
                        <a:buFont typeface="Wingdings" panose="05000000000000000000" pitchFamily="2" charset="2"/>
                        <a:tabLst>
                          <a:tab pos="266700" algn="r"/>
                          <a:tab pos="2636520" algn="ctr"/>
                          <a:tab pos="5273675" algn="r"/>
                        </a:tabLst>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0" rtl="0" eaLnBrk="1" fontAlgn="base" latinLnBrk="0" hangingPunct="1">
                        <a:lnSpc>
                          <a:spcPct val="100000"/>
                        </a:lnSpc>
                        <a:spcBef>
                          <a:spcPct val="0"/>
                        </a:spcBef>
                        <a:spcAft>
                          <a:spcPct val="0"/>
                        </a:spcAft>
                        <a:buClr>
                          <a:srgbClr val="000000"/>
                        </a:buClr>
                        <a:buSzPct val="80000"/>
                        <a:buFont typeface="Arial" panose="020B0604020202020204" pitchFamily="34" charset="0"/>
                        <a:buNone/>
                        <a:tabLst>
                          <a:tab pos="266700" algn="r"/>
                          <a:tab pos="2636520" algn="ctr"/>
                          <a:tab pos="5273675" algn="r"/>
                        </a:tabLst>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表本身的</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0" rtl="0" eaLnBrk="1" fontAlgn="base" latinLnBrk="0" hangingPunct="1">
                        <a:lnSpc>
                          <a:spcPct val="100000"/>
                        </a:lnSpc>
                        <a:spcBef>
                          <a:spcPct val="0"/>
                        </a:spcBef>
                        <a:spcAft>
                          <a:spcPct val="0"/>
                        </a:spcAft>
                        <a:buClr>
                          <a:srgbClr val="000000"/>
                        </a:buClr>
                        <a:buSzPct val="80000"/>
                        <a:buFont typeface="Arial" panose="020B0604020202020204" pitchFamily="34" charset="0"/>
                        <a:buNone/>
                        <a:tabLst>
                          <a:tab pos="266700" algn="r"/>
                          <a:tab pos="2636520" algn="ctr"/>
                          <a:tab pos="5273675" algn="r"/>
                        </a:tabLst>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完整性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Default</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（缺省）</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指定列（或域）的缺省值</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Rule</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（规则）</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指定列（或域）的取值范围</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6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Check Constraint</a:t>
                      </a:r>
                      <a:endPar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（检查限制）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均有列级（即只涉及一列）和</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表级（涉及表中多列）</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68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Primary Key</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（主键限制）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3968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Unique</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（惟一限制）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cPr/>
                </a:tc>
              </a:tr>
              <a:tr h="701675">
                <a:tc rowSpan="2">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表间的</a:t>
                      </a:r>
                      <a:endPar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ctr"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完整性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Foreign Key</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（外键限制）</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或 </a:t>
                      </a: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References(</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参照限制</a:t>
                      </a: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a:t>
                      </a:r>
                      <a:endPar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参照完整性限制的体现，亦分列级与表级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01675">
                <a:tc vMerge="1">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en-US" altLang="zh-CN"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Trigger</a:t>
                      </a: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（触发器）</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342900" indent="-342900">
                        <a:spcBef>
                          <a:spcPct val="20000"/>
                        </a:spcBef>
                        <a:buClr>
                          <a:srgbClr val="0033CC"/>
                        </a:buClr>
                        <a:buSzPct val="80000"/>
                        <a:buFont typeface="Wingdings" panose="05000000000000000000" pitchFamily="2" charset="2"/>
                        <a:defRPr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7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defRPr sz="14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Wingdings" panose="05000000000000000000" pitchFamily="2" charset="2"/>
                        <a:defRPr sz="1200"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
                          <a:srgbClr val="000000"/>
                        </a:buClr>
                        <a:buSzPct val="80000"/>
                        <a:buFont typeface="Arial" panose="020B0604020202020204" pitchFamily="34" charset="0"/>
                        <a:buNone/>
                      </a:pPr>
                      <a:r>
                        <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rPr>
                        <a:t>可用触发器来维护表间数据完整性</a:t>
                      </a:r>
                      <a:endParaRPr kumimoji="0" lang="zh-CN" altLang="en-US" sz="2000" b="1" i="0" u="none" strike="noStrike" cap="none" normalizeH="0" baseline="0" smtClean="0">
                        <a:ln>
                          <a:noFill/>
                        </a:ln>
                        <a:solidFill>
                          <a:schemeClr val="accent2"/>
                        </a:solidFill>
                        <a:effectLst/>
                        <a:latin typeface="宋体" panose="02010600030101010101" pitchFamily="2" charset="-122"/>
                        <a:ea typeface="宋体" panose="02010600030101010101" pitchFamily="2" charset="-122"/>
                        <a:cs typeface="Times New Roman" panose="02020603050405020304" pitchFamily="18"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91170"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58451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问题研讨：</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SQL Server为外键约束提供的2种行动/策略分别是</a:t>
            </a:r>
            <a:r>
              <a:rPr kumimoji="0" sz="22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、数据库完整性约束的建立需要使用DBMS提供的（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数据定义语言     B. 数据操纵语言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 数据查询语言     D. 数据控制语言</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、限制输入到一列或多列值的范围，使用（    ）约束。</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CHECK      B. PRIMARY KEY    C. FOREIGN KEY    D. UNIQUE</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、DBMS系统利用下列哪种方法防止用户的非法数据进入数据库？（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并发控制    B 完整性约束    C 权限控制    D 故障恢复功能</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92163"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58451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问题解析：</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SQL Server为外键约束提供的2种行动/策略分别是</a:t>
            </a:r>
            <a:r>
              <a:rPr kumimoji="0" sz="22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和</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sz="2400" b="1" i="0" u="sng"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r>
              <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3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、数据库完整性约束的建立需要使用DBMS提供的（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数据定义语言     B. 数据操纵语言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 数据查询语言     D. 数据控制语言</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3</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、限制输入到一列或多列值的范围，使用（    ）约束。</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CHECK      B. PRIMARY KEY    C. FOREIGN KEY    D. UNIQUE</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400"/>
              </a:spcBef>
              <a:spcAft>
                <a:spcPts val="0"/>
              </a:spcAft>
              <a:buClrTx/>
              <a:buSzTx/>
              <a:buFont typeface="Arial" panose="020B0604020202020204" pitchFamily="34" charset="0"/>
              <a:buNone/>
              <a:defRPr/>
            </a:pPr>
            <a:r>
              <a:rPr kumimoji="0" lang="en-US" altLang="zh-CN"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4</a:t>
            </a: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、DBMS系统利用下列哪种方法防止用户的非法数据进入数据库？（      ）</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 并发控制    B 完整性约束    C 权限控制    D 故障恢复功能</a:t>
            </a: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4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60" name="文本框 59"/>
          <p:cNvSpPr txBox="1"/>
          <p:nvPr/>
        </p:nvSpPr>
        <p:spPr>
          <a:xfrm>
            <a:off x="7318375" y="1384300"/>
            <a:ext cx="1312863"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1800" dirty="0">
                <a:solidFill>
                  <a:srgbClr val="CC00FF"/>
                </a:solidFill>
              </a:rPr>
              <a:t>CASCADE</a:t>
            </a:r>
            <a:endParaRPr lang="en-US" altLang="zh-CN" sz="1800" dirty="0">
              <a:solidFill>
                <a:srgbClr val="CC00FF"/>
              </a:solidFill>
            </a:endParaRPr>
          </a:p>
        </p:txBody>
      </p:sp>
      <p:sp>
        <p:nvSpPr>
          <p:cNvPr id="61" name="文本框 60"/>
          <p:cNvSpPr txBox="1"/>
          <p:nvPr/>
        </p:nvSpPr>
        <p:spPr>
          <a:xfrm>
            <a:off x="687388" y="1820863"/>
            <a:ext cx="1401762"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1800" dirty="0">
                <a:solidFill>
                  <a:srgbClr val="CC00FF"/>
                </a:solidFill>
              </a:rPr>
              <a:t>NOACTION</a:t>
            </a:r>
            <a:endParaRPr lang="en-US" altLang="zh-CN" sz="1800" dirty="0">
              <a:solidFill>
                <a:srgbClr val="CC00FF"/>
              </a:solidFill>
            </a:endParaRPr>
          </a:p>
        </p:txBody>
      </p:sp>
      <p:sp>
        <p:nvSpPr>
          <p:cNvPr id="62" name="文本框 61"/>
          <p:cNvSpPr txBox="1"/>
          <p:nvPr/>
        </p:nvSpPr>
        <p:spPr>
          <a:xfrm>
            <a:off x="7729538" y="220503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A</a:t>
            </a:r>
            <a:endParaRPr lang="en-US" altLang="zh-CN" sz="2400" dirty="0">
              <a:solidFill>
                <a:srgbClr val="CC00FF"/>
              </a:solidFill>
            </a:endParaRPr>
          </a:p>
        </p:txBody>
      </p:sp>
      <p:sp>
        <p:nvSpPr>
          <p:cNvPr id="63" name="文本框 62"/>
          <p:cNvSpPr txBox="1"/>
          <p:nvPr/>
        </p:nvSpPr>
        <p:spPr>
          <a:xfrm>
            <a:off x="6618288" y="3570288"/>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A</a:t>
            </a:r>
            <a:endParaRPr lang="en-US" altLang="zh-CN" sz="2400" dirty="0">
              <a:solidFill>
                <a:srgbClr val="CC00FF"/>
              </a:solidFill>
            </a:endParaRPr>
          </a:p>
        </p:txBody>
      </p:sp>
      <p:sp>
        <p:nvSpPr>
          <p:cNvPr id="64" name="文本框 63"/>
          <p:cNvSpPr txBox="1"/>
          <p:nvPr/>
        </p:nvSpPr>
        <p:spPr>
          <a:xfrm>
            <a:off x="1914525" y="4926013"/>
            <a:ext cx="403225" cy="58896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CC00FF"/>
                </a:solidFill>
              </a:rPr>
              <a:t>B</a:t>
            </a:r>
            <a:endParaRPr lang="en-US" altLang="zh-CN" sz="2400" dirty="0">
              <a:solidFill>
                <a:srgbClr val="CC00FF"/>
              </a:solidFill>
            </a:endParaRPr>
          </a:p>
        </p:txBody>
      </p:sp>
      <p:sp>
        <p:nvSpPr>
          <p:cNvPr id="93192"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0"/>
                                        </p:tgtEl>
                                        <p:attrNameLst>
                                          <p:attrName>style.visibility</p:attrName>
                                        </p:attrNameLst>
                                      </p:cBhvr>
                                      <p:to>
                                        <p:strVal val="visible"/>
                                      </p:to>
                                    </p:set>
                                    <p:anim calcmode="lin" valueType="num">
                                      <p:cBhvr additive="base">
                                        <p:cTn id="11" dur="500" fill="hold"/>
                                        <p:tgtEl>
                                          <p:spTgt spid="60"/>
                                        </p:tgtEl>
                                        <p:attrNameLst>
                                          <p:attrName>ppt_x</p:attrName>
                                        </p:attrNameLst>
                                      </p:cBhvr>
                                      <p:tavLst>
                                        <p:tav tm="0">
                                          <p:val>
                                            <p:strVal val="#ppt_x"/>
                                          </p:val>
                                        </p:tav>
                                        <p:tav tm="100000">
                                          <p:val>
                                            <p:strVal val="#ppt_x"/>
                                          </p:val>
                                        </p:tav>
                                      </p:tavLst>
                                    </p:anim>
                                    <p:anim calcmode="lin" valueType="num">
                                      <p:cBhvr additive="base">
                                        <p:cTn id="12" dur="500" fill="hold"/>
                                        <p:tgtEl>
                                          <p:spTgt spid="6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500" fill="hold"/>
                                        <p:tgtEl>
                                          <p:spTgt spid="62"/>
                                        </p:tgtEl>
                                        <p:attrNameLst>
                                          <p:attrName>ppt_x</p:attrName>
                                        </p:attrNameLst>
                                      </p:cBhvr>
                                      <p:tavLst>
                                        <p:tav tm="0">
                                          <p:val>
                                            <p:strVal val="#ppt_x"/>
                                          </p:val>
                                        </p:tav>
                                        <p:tav tm="100000">
                                          <p:val>
                                            <p:strVal val="#ppt_x"/>
                                          </p:val>
                                        </p:tav>
                                      </p:tavLst>
                                    </p:anim>
                                    <p:anim calcmode="lin" valueType="num">
                                      <p:cBhvr additive="base">
                                        <p:cTn id="18"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 calcmode="lin" valueType="num">
                                      <p:cBhvr additive="base">
                                        <p:cTn id="23" dur="500" fill="hold"/>
                                        <p:tgtEl>
                                          <p:spTgt spid="63"/>
                                        </p:tgtEl>
                                        <p:attrNameLst>
                                          <p:attrName>ppt_x</p:attrName>
                                        </p:attrNameLst>
                                      </p:cBhvr>
                                      <p:tavLst>
                                        <p:tav tm="0">
                                          <p:val>
                                            <p:strVal val="#ppt_x"/>
                                          </p:val>
                                        </p:tav>
                                        <p:tav tm="100000">
                                          <p:val>
                                            <p:strVal val="#ppt_x"/>
                                          </p:val>
                                        </p:tav>
                                      </p:tavLst>
                                    </p:anim>
                                    <p:anim calcmode="lin" valueType="num">
                                      <p:cBhvr additive="base">
                                        <p:cTn id="24" dur="500" fill="hold"/>
                                        <p:tgtEl>
                                          <p:spTgt spid="6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64"/>
                                        </p:tgtEl>
                                        <p:attrNameLst>
                                          <p:attrName>style.visibility</p:attrName>
                                        </p:attrNameLst>
                                      </p:cBhvr>
                                      <p:to>
                                        <p:strVal val="visible"/>
                                      </p:to>
                                    </p:set>
                                    <p:anim calcmode="lin" valueType="num">
                                      <p:cBhvr additive="base">
                                        <p:cTn id="29" dur="500" fill="hold"/>
                                        <p:tgtEl>
                                          <p:spTgt spid="64"/>
                                        </p:tgtEl>
                                        <p:attrNameLst>
                                          <p:attrName>ppt_x</p:attrName>
                                        </p:attrNameLst>
                                      </p:cBhvr>
                                      <p:tavLst>
                                        <p:tav tm="0">
                                          <p:val>
                                            <p:strVal val="#ppt_x"/>
                                          </p:val>
                                        </p:tav>
                                        <p:tav tm="100000">
                                          <p:val>
                                            <p:strVal val="#ppt_x"/>
                                          </p:val>
                                        </p:tav>
                                      </p:tavLst>
                                    </p:anim>
                                    <p:anim calcmode="lin" valueType="num">
                                      <p:cBhvr additive="base">
                                        <p:cTn id="30" dur="5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2" grpId="0"/>
      <p:bldP spid="63" grpId="0"/>
      <p:bldP spid="64"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16795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问题研讨：</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5</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、在下面的数据库表中，若学生表的主码是学号，系别表的主码是系别号，用 SQL语言不能执行的下面操作是（        ）</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pic>
        <p:nvPicPr>
          <p:cNvPr id="94211" name="图片 2"/>
          <p:cNvPicPr>
            <a:picLocks noChangeAspect="1"/>
          </p:cNvPicPr>
          <p:nvPr/>
        </p:nvPicPr>
        <p:blipFill>
          <a:blip r:embed="rId1"/>
          <a:stretch>
            <a:fillRect/>
          </a:stretch>
        </p:blipFill>
        <p:spPr>
          <a:xfrm>
            <a:off x="704850" y="2555875"/>
            <a:ext cx="7962900" cy="1708150"/>
          </a:xfrm>
          <a:prstGeom prst="rect">
            <a:avLst/>
          </a:prstGeom>
          <a:noFill/>
          <a:ln w="9525">
            <a:noFill/>
          </a:ln>
        </p:spPr>
      </p:pic>
      <p:sp>
        <p:nvSpPr>
          <p:cNvPr id="94212" name="文本框 99"/>
          <p:cNvSpPr txBox="1"/>
          <p:nvPr/>
        </p:nvSpPr>
        <p:spPr>
          <a:xfrm>
            <a:off x="704850" y="4391025"/>
            <a:ext cx="7610475" cy="17526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b="0" dirty="0">
                <a:solidFill>
                  <a:srgbClr val="000000"/>
                </a:solidFill>
              </a:rPr>
              <a:t>A</a:t>
            </a:r>
            <a:r>
              <a:rPr lang="en-US" altLang="zh-CN" b="0" dirty="0">
                <a:solidFill>
                  <a:srgbClr val="000000"/>
                </a:solidFill>
                <a:cs typeface="Arial" panose="020B0604020202020204" pitchFamily="34" charset="0"/>
              </a:rPr>
              <a:t> </a:t>
            </a:r>
            <a:r>
              <a:rPr lang="zh-CN" altLang="zh-CN" b="0" dirty="0">
                <a:solidFill>
                  <a:srgbClr val="000000"/>
                </a:solidFill>
              </a:rPr>
              <a:t>从学生表中删除行（</a:t>
            </a:r>
            <a:r>
              <a:rPr lang="en-US" altLang="zh-CN" b="0" dirty="0">
                <a:solidFill>
                  <a:srgbClr val="000000"/>
                </a:solidFill>
              </a:rPr>
              <a:t>’005’</a:t>
            </a:r>
            <a:r>
              <a:rPr lang="zh-CN" altLang="zh-CN" b="0" dirty="0">
                <a:solidFill>
                  <a:srgbClr val="000000"/>
                </a:solidFill>
              </a:rPr>
              <a:t>，</a:t>
            </a:r>
            <a:r>
              <a:rPr lang="en-US" altLang="zh-CN" b="0" dirty="0">
                <a:solidFill>
                  <a:srgbClr val="000000"/>
                </a:solidFill>
              </a:rPr>
              <a:t>’</a:t>
            </a:r>
            <a:r>
              <a:rPr lang="zh-CN" altLang="zh-CN" b="0" dirty="0">
                <a:solidFill>
                  <a:srgbClr val="000000"/>
                </a:solidFill>
              </a:rPr>
              <a:t>王明</a:t>
            </a:r>
            <a:r>
              <a:rPr lang="en-US" altLang="zh-CN" b="0" dirty="0">
                <a:solidFill>
                  <a:srgbClr val="000000"/>
                </a:solidFill>
              </a:rPr>
              <a:t>’</a:t>
            </a:r>
            <a:r>
              <a:rPr lang="zh-CN" altLang="zh-CN" b="0" dirty="0">
                <a:solidFill>
                  <a:srgbClr val="000000"/>
                </a:solidFill>
              </a:rPr>
              <a:t>，</a:t>
            </a:r>
            <a:r>
              <a:rPr lang="en-US" altLang="zh-CN" b="0" dirty="0">
                <a:solidFill>
                  <a:srgbClr val="000000"/>
                </a:solidFill>
              </a:rPr>
              <a:t>20</a:t>
            </a:r>
            <a:r>
              <a:rPr lang="zh-CN" altLang="zh-CN" b="0" dirty="0">
                <a:solidFill>
                  <a:srgbClr val="000000"/>
                </a:solidFill>
              </a:rPr>
              <a:t>，</a:t>
            </a:r>
            <a:r>
              <a:rPr lang="en-US" altLang="zh-CN" b="0" dirty="0">
                <a:solidFill>
                  <a:srgbClr val="000000"/>
                </a:solidFill>
              </a:rPr>
              <a:t>’01’</a:t>
            </a:r>
            <a:r>
              <a:rPr lang="zh-CN" altLang="zh-CN" b="0" dirty="0">
                <a:solidFill>
                  <a:srgbClr val="000000"/>
                </a:solidFill>
              </a:rPr>
              <a:t>）</a:t>
            </a:r>
            <a:endParaRPr lang="en-US" altLang="zh-CN" b="0" dirty="0">
              <a:solidFill>
                <a:srgbClr val="000000"/>
              </a:solidFill>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b="0" dirty="0">
                <a:solidFill>
                  <a:srgbClr val="000000"/>
                </a:solidFill>
                <a:cs typeface="Arial" panose="020B0604020202020204" pitchFamily="34" charset="0"/>
              </a:rPr>
              <a:t>B </a:t>
            </a:r>
            <a:r>
              <a:rPr lang="zh-CN" altLang="zh-CN" b="0" dirty="0">
                <a:solidFill>
                  <a:srgbClr val="000000"/>
                </a:solidFill>
              </a:rPr>
              <a:t>将行（</a:t>
            </a:r>
            <a:r>
              <a:rPr lang="en-US" altLang="zh-CN" b="0" dirty="0">
                <a:solidFill>
                  <a:srgbClr val="000000"/>
                </a:solidFill>
              </a:rPr>
              <a:t>’</a:t>
            </a:r>
            <a:r>
              <a:rPr lang="en-US" altLang="zh-CN" b="0" dirty="0">
                <a:solidFill>
                  <a:srgbClr val="000000"/>
                </a:solidFill>
                <a:cs typeface="Arial" panose="020B0604020202020204" pitchFamily="34" charset="0"/>
              </a:rPr>
              <a:t>S</a:t>
            </a:r>
            <a:r>
              <a:rPr lang="en-US" altLang="zh-CN" b="0" dirty="0">
                <a:solidFill>
                  <a:srgbClr val="000000"/>
                </a:solidFill>
              </a:rPr>
              <a:t>05’</a:t>
            </a:r>
            <a:r>
              <a:rPr lang="zh-CN" altLang="zh-CN" b="0" dirty="0">
                <a:solidFill>
                  <a:srgbClr val="000000"/>
                </a:solidFill>
              </a:rPr>
              <a:t>，</a:t>
            </a:r>
            <a:r>
              <a:rPr lang="en-US" altLang="zh-CN" b="0" dirty="0">
                <a:solidFill>
                  <a:srgbClr val="000000"/>
                </a:solidFill>
              </a:rPr>
              <a:t>’</a:t>
            </a:r>
            <a:r>
              <a:rPr lang="zh-CN" altLang="zh-CN" b="0" dirty="0">
                <a:solidFill>
                  <a:srgbClr val="000000"/>
                </a:solidFill>
              </a:rPr>
              <a:t>王山</a:t>
            </a:r>
            <a:r>
              <a:rPr lang="en-US" altLang="zh-CN" b="0" dirty="0">
                <a:solidFill>
                  <a:srgbClr val="000000"/>
                </a:solidFill>
              </a:rPr>
              <a:t>’</a:t>
            </a:r>
            <a:r>
              <a:rPr lang="zh-CN" altLang="zh-CN" b="0" dirty="0">
                <a:solidFill>
                  <a:srgbClr val="000000"/>
                </a:solidFill>
              </a:rPr>
              <a:t>，</a:t>
            </a:r>
            <a:r>
              <a:rPr lang="en-US" altLang="zh-CN" b="0" dirty="0">
                <a:solidFill>
                  <a:srgbClr val="000000"/>
                </a:solidFill>
              </a:rPr>
              <a:t>19</a:t>
            </a:r>
            <a:r>
              <a:rPr lang="zh-CN" altLang="zh-CN" b="0" dirty="0">
                <a:solidFill>
                  <a:srgbClr val="000000"/>
                </a:solidFill>
              </a:rPr>
              <a:t>，</a:t>
            </a:r>
            <a:r>
              <a:rPr lang="en-US" altLang="zh-CN" b="0" dirty="0">
                <a:solidFill>
                  <a:srgbClr val="000000"/>
                </a:solidFill>
              </a:rPr>
              <a:t>’04’</a:t>
            </a:r>
            <a:r>
              <a:rPr lang="zh-CN" altLang="zh-CN" b="0" dirty="0">
                <a:solidFill>
                  <a:srgbClr val="000000"/>
                </a:solidFill>
              </a:rPr>
              <a:t>）插入到学生表中</a:t>
            </a:r>
            <a:endParaRPr lang="en-US" altLang="zh-CN" b="0" dirty="0">
              <a:solidFill>
                <a:srgbClr val="000000"/>
              </a:solidFill>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b="0" dirty="0">
                <a:solidFill>
                  <a:srgbClr val="000000"/>
                </a:solidFill>
                <a:cs typeface="Arial" panose="020B0604020202020204" pitchFamily="34" charset="0"/>
              </a:rPr>
              <a:t>C </a:t>
            </a:r>
            <a:r>
              <a:rPr lang="zh-CN" altLang="zh-CN" b="0" dirty="0">
                <a:solidFill>
                  <a:srgbClr val="000000"/>
                </a:solidFill>
              </a:rPr>
              <a:t>将学号为</a:t>
            </a:r>
            <a:r>
              <a:rPr lang="en-US" altLang="zh-CN" b="0" dirty="0">
                <a:solidFill>
                  <a:srgbClr val="000000"/>
                </a:solidFill>
              </a:rPr>
              <a:t>’</a:t>
            </a:r>
            <a:r>
              <a:rPr lang="en-US" altLang="zh-CN" b="0" dirty="0">
                <a:solidFill>
                  <a:srgbClr val="000000"/>
                </a:solidFill>
                <a:cs typeface="Arial" panose="020B0604020202020204" pitchFamily="34" charset="0"/>
              </a:rPr>
              <a:t>S</a:t>
            </a:r>
            <a:r>
              <a:rPr lang="en-US" altLang="zh-CN" b="0" dirty="0">
                <a:solidFill>
                  <a:srgbClr val="000000"/>
                </a:solidFill>
              </a:rPr>
              <a:t>01’</a:t>
            </a:r>
            <a:r>
              <a:rPr lang="zh-CN" altLang="zh-CN" b="0" dirty="0">
                <a:solidFill>
                  <a:srgbClr val="000000"/>
                </a:solidFill>
              </a:rPr>
              <a:t>的年龄改为</a:t>
            </a:r>
            <a:r>
              <a:rPr lang="en-US" altLang="zh-CN" b="0" dirty="0">
                <a:solidFill>
                  <a:srgbClr val="000000"/>
                </a:solidFill>
              </a:rPr>
              <a:t>18</a:t>
            </a:r>
            <a:endParaRPr lang="en-US" altLang="zh-CN" b="0" dirty="0">
              <a:solidFill>
                <a:srgbClr val="000000"/>
              </a:solidFill>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b="0" dirty="0">
                <a:solidFill>
                  <a:srgbClr val="000000"/>
                </a:solidFill>
                <a:cs typeface="Arial" panose="020B0604020202020204" pitchFamily="34" charset="0"/>
              </a:rPr>
              <a:t>D </a:t>
            </a:r>
            <a:r>
              <a:rPr lang="zh-CN" altLang="zh-CN" b="0" dirty="0">
                <a:solidFill>
                  <a:srgbClr val="000000"/>
                </a:solidFill>
              </a:rPr>
              <a:t>将学号为</a:t>
            </a:r>
            <a:r>
              <a:rPr lang="en-US" altLang="zh-CN" b="0" dirty="0">
                <a:solidFill>
                  <a:srgbClr val="000000"/>
                </a:solidFill>
              </a:rPr>
              <a:t>’</a:t>
            </a:r>
            <a:r>
              <a:rPr lang="en-US" altLang="zh-CN" b="0" dirty="0">
                <a:solidFill>
                  <a:srgbClr val="000000"/>
                </a:solidFill>
                <a:cs typeface="Arial" panose="020B0604020202020204" pitchFamily="34" charset="0"/>
              </a:rPr>
              <a:t>S</a:t>
            </a:r>
            <a:r>
              <a:rPr lang="en-US" altLang="zh-CN" b="0" dirty="0">
                <a:solidFill>
                  <a:srgbClr val="000000"/>
                </a:solidFill>
              </a:rPr>
              <a:t>10’</a:t>
            </a:r>
            <a:r>
              <a:rPr lang="zh-CN" altLang="zh-CN" b="0" dirty="0">
                <a:solidFill>
                  <a:srgbClr val="000000"/>
                </a:solidFill>
              </a:rPr>
              <a:t>的系别号改为</a:t>
            </a:r>
            <a:r>
              <a:rPr lang="en-US" altLang="zh-CN" b="0" dirty="0">
                <a:solidFill>
                  <a:srgbClr val="000000"/>
                </a:solidFill>
              </a:rPr>
              <a:t>’04’</a:t>
            </a:r>
            <a:endParaRPr lang="zh-CN" altLang="en-US" dirty="0"/>
          </a:p>
        </p:txBody>
      </p:sp>
      <p:sp>
        <p:nvSpPr>
          <p:cNvPr id="94213" name="文本框 3"/>
          <p:cNvSpPr txBox="1"/>
          <p:nvPr/>
        </p:nvSpPr>
        <p:spPr>
          <a:xfrm>
            <a:off x="704850" y="2166938"/>
            <a:ext cx="94932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dirty="0">
                <a:solidFill>
                  <a:srgbClr val="CC00FF"/>
                </a:solidFill>
                <a:sym typeface="+mn-ea"/>
              </a:rPr>
              <a:t>学生表</a:t>
            </a:r>
            <a:endParaRPr lang="zh-CN" altLang="en-US" dirty="0">
              <a:solidFill>
                <a:srgbClr val="CC00FF"/>
              </a:solidFill>
              <a:sym typeface="+mn-ea"/>
            </a:endParaRPr>
          </a:p>
        </p:txBody>
      </p:sp>
      <p:sp>
        <p:nvSpPr>
          <p:cNvPr id="94214" name="文本框 4"/>
          <p:cNvSpPr txBox="1"/>
          <p:nvPr/>
        </p:nvSpPr>
        <p:spPr>
          <a:xfrm>
            <a:off x="5334000" y="2166938"/>
            <a:ext cx="94932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dirty="0">
                <a:solidFill>
                  <a:srgbClr val="CC00FF"/>
                </a:solidFill>
                <a:sym typeface="+mn-ea"/>
              </a:rPr>
              <a:t>系别表</a:t>
            </a:r>
            <a:endParaRPr lang="zh-CN" altLang="en-US" dirty="0"/>
          </a:p>
        </p:txBody>
      </p:sp>
      <p:sp>
        <p:nvSpPr>
          <p:cNvPr id="6" name="文本框 5"/>
          <p:cNvSpPr txBox="1"/>
          <p:nvPr/>
        </p:nvSpPr>
        <p:spPr>
          <a:xfrm>
            <a:off x="7096125" y="1763713"/>
            <a:ext cx="585788"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CC00FF"/>
                </a:solidFill>
                <a:sym typeface="+mn-ea"/>
              </a:rPr>
              <a:t>BD</a:t>
            </a:r>
            <a:endParaRPr lang="en-US" altLang="zh-CN" sz="2200" dirty="0">
              <a:solidFill>
                <a:srgbClr val="CC00FF"/>
              </a:solidFill>
              <a:sym typeface="+mn-ea"/>
            </a:endParaRPr>
          </a:p>
        </p:txBody>
      </p:sp>
      <p:sp>
        <p:nvSpPr>
          <p:cNvPr id="94216"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4649788"/>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问题研讨：</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6</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、按要求用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语言创建表。</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）选课表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Ctake(SID,CID,Grade)</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各字段的含义：学号、课程号、成绩</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定义主键和外键约束，并为列</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Grade</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定义</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check</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检查（域值</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0-100</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2</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）员工表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Employee(ENo,EName,EntryDate,EGender,DNo</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   </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各字段的含义：员工号、姓名、入职时间、性别、部门编码</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定义主键和外键约束（部门编码参照</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Depart(DNo)</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），并为列</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EGender</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定义</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check</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检查（域值</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男</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或</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女</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95235"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
          <p:cNvSpPr/>
          <p:nvPr/>
        </p:nvSpPr>
        <p:spPr>
          <a:xfrm>
            <a:off x="606425" y="631825"/>
            <a:ext cx="8456613" cy="3800475"/>
          </a:xfrm>
          <a:prstGeom prst="rect">
            <a:avLst/>
          </a:prstGeom>
        </p:spPr>
        <p:txBody>
          <a:bodyPr>
            <a:spAutoFit/>
          </a:bodyPr>
          <a:lstStyle/>
          <a:p>
            <a:pPr marL="457200" marR="0" lvl="0" indent="-457200" algn="just" defTabSz="914400" rtl="0" eaLnBrk="1" fontAlgn="base" latinLnBrk="0" hangingPunct="1">
              <a:lnSpc>
                <a:spcPct val="150000"/>
              </a:lnSpc>
              <a:spcBef>
                <a:spcPct val="0"/>
              </a:spcBef>
              <a:spcAft>
                <a:spcPts val="0"/>
              </a:spcAft>
              <a:buClrTx/>
              <a:buSzTx/>
              <a:buFont typeface="Wingdings" panose="05000000000000000000" pitchFamily="2" charset="2"/>
              <a:buChar char="p"/>
              <a:defRPr/>
            </a:pPr>
            <a:r>
              <a:rPr kumimoji="0" lang="zh-CN"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rPr>
              <a:t>问题解析：</a:t>
            </a:r>
            <a:endParaRPr kumimoji="0" lang="en-US" altLang="zh-CN" sz="3200" b="1" i="0" u="none" strike="noStrike" kern="100" cap="none" spc="0" normalizeH="0" baseline="0" noProof="0" dirty="0">
              <a:ln>
                <a:noFill/>
              </a:ln>
              <a:solidFill>
                <a:srgbClr val="FF0000"/>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6</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、按要求用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DDL</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语言创建表。</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1</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rPr>
              <a:t>）选课表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Ctake(SID,CID,Grade)</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endParaRPr>
          </a:p>
          <a:p>
            <a:pPr marL="0" marR="0" lvl="0" indent="0" algn="just" defTabSz="914400" rtl="0" eaLnBrk="1" fontAlgn="base" latinLnBrk="0" hangingPunct="1">
              <a:lnSpc>
                <a:spcPct val="120000"/>
              </a:lnSpc>
              <a:spcBef>
                <a:spcPts val="0"/>
              </a:spcBef>
              <a:spcAft>
                <a:spcPts val="0"/>
              </a:spcAft>
              <a:buClrTx/>
              <a:buSzTx/>
              <a:buFont typeface="Arial" panose="020B0604020202020204" pitchFamily="34" charset="0"/>
              <a:buNone/>
              <a:defRPr/>
            </a:pP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2</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）员工表</a:t>
            </a:r>
            <a:r>
              <a:rPr kumimoji="0" lang="en-US" altLang="zh-CN"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Employee(ENo,EName,EntryDate,EGender,DNo</a:t>
            </a:r>
            <a:r>
              <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sym typeface="+mn-ea"/>
              </a:rPr>
              <a:t>）   </a:t>
            </a:r>
            <a:endParaRPr kumimoji="0" lang="zh-CN" altLang="en-US" sz="2300" b="1" i="0" u="none" strike="noStrike" kern="100" cap="none" spc="0" normalizeH="0" baseline="0" noProof="0" dirty="0">
              <a:ln>
                <a:noFill/>
              </a:ln>
              <a:solidFill>
                <a:schemeClr val="tx1"/>
              </a:solidFill>
              <a:effectLst/>
              <a:uLnTx/>
              <a:uFillTx/>
              <a:latin typeface="Calibri" panose="020F0502020204030204" pitchFamily="34" charset="0"/>
              <a:ea typeface="宋体" panose="02010600030101010101" pitchFamily="2" charset="-122"/>
              <a:cs typeface="Times New Roman" panose="02020603050405020304" pitchFamily="18" charset="0"/>
            </a:endParaRPr>
          </a:p>
        </p:txBody>
      </p:sp>
      <p:sp>
        <p:nvSpPr>
          <p:cNvPr id="17" name="文本框 16"/>
          <p:cNvSpPr txBox="1"/>
          <p:nvPr/>
        </p:nvSpPr>
        <p:spPr>
          <a:xfrm>
            <a:off x="804545" y="2251710"/>
            <a:ext cx="7735570" cy="1614170"/>
          </a:xfrm>
          <a:prstGeom prst="rect">
            <a:avLst/>
          </a:prstGeom>
          <a:solidFill>
            <a:schemeClr val="accent6">
              <a:lumMod val="20000"/>
              <a:lumOff val="80000"/>
            </a:schemeClr>
          </a:solidFill>
        </p:spPr>
        <p:txBody>
          <a:bodyPr>
            <a:spAutoFit/>
          </a:bodyPr>
          <a:lstStyle/>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Ctake</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S</a:t>
            </a:r>
            <a:r>
              <a:rPr kumimoji="0" lang="en-US" kern="1200" cap="none" spc="0" normalizeH="0" baseline="0" noProof="0">
                <a:latin typeface="Arial" panose="020B0604020202020204" pitchFamily="34" charset="0"/>
                <a:ea typeface="宋体" panose="02010600030101010101" pitchFamily="2" charset="-122"/>
                <a:cs typeface="+mn-cs"/>
                <a:sym typeface="+mn-ea"/>
              </a:rPr>
              <a:t>ID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foreign key references Student(SID),</a:t>
            </a:r>
            <a:endPar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CID</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foreign key references Course(CID),</a:t>
            </a:r>
            <a:endPar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grade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tinyint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check(grade between 1 and 100),</a:t>
            </a:r>
            <a:endPar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primary key(SID,CID)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3" name="文本框 2"/>
          <p:cNvSpPr txBox="1"/>
          <p:nvPr/>
        </p:nvSpPr>
        <p:spPr>
          <a:xfrm>
            <a:off x="804545" y="4432935"/>
            <a:ext cx="7735570" cy="1614170"/>
          </a:xfrm>
          <a:prstGeom prst="rect">
            <a:avLst/>
          </a:prstGeom>
          <a:solidFill>
            <a:schemeClr val="accent6">
              <a:lumMod val="20000"/>
              <a:lumOff val="80000"/>
            </a:schemeClr>
          </a:solidFill>
        </p:spPr>
        <p:txBody>
          <a:bodyPr>
            <a:spAutoFit/>
          </a:bodyPr>
          <a:lstStyle/>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latin typeface="Arial" panose="020B0604020202020204" pitchFamily="34" charset="0"/>
                <a:ea typeface="宋体" panose="02010600030101010101" pitchFamily="2" charset="-122"/>
                <a:cs typeface="+mn-cs"/>
                <a:sym typeface="+mn-ea"/>
              </a:rPr>
              <a:t>CREATE TABLE </a:t>
            </a:r>
            <a:r>
              <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rPr>
              <a:t>Employee</a:t>
            </a:r>
            <a:endParaRPr kumimoji="0" lang="en-US" kern="1200" cap="none" spc="0" normalizeH="0" baseline="0" noProof="0">
              <a:gradFill>
                <a:gsLst>
                  <a:gs pos="0">
                    <a:srgbClr val="E30000"/>
                  </a:gs>
                  <a:gs pos="100000">
                    <a:srgbClr val="760303"/>
                  </a:gs>
                </a:gsLst>
                <a:lin scaled="0"/>
              </a:gra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zh-CN" altLang="en-US" kern="1200" cap="none" spc="0" normalizeH="0" baseline="0" noProof="0">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ENo</a:t>
            </a:r>
            <a:r>
              <a:rPr kumimoji="0" lang="en-US" kern="1200" cap="none" spc="0" normalizeH="0" baseline="0" noProof="0">
                <a:latin typeface="Arial" panose="020B0604020202020204" pitchFamily="34" charset="0"/>
                <a:ea typeface="宋体" panose="02010600030101010101" pitchFamily="2" charset="-122"/>
                <a:cs typeface="+mn-cs"/>
                <a:sym typeface="+mn-ea"/>
              </a:rPr>
              <a:t>  </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char(10)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primary key,</a:t>
            </a:r>
            <a:endPar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EName</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var</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2</a:t>
            </a:r>
            <a:r>
              <a:rPr kumimoji="0" lang="zh-CN" altLang="en-US" kern="1200" cap="none" spc="0" normalizeH="0" baseline="0" noProof="0">
                <a:solidFill>
                  <a:srgbClr val="0033CC"/>
                </a:solidFill>
                <a:latin typeface="Arial" panose="020B0604020202020204" pitchFamily="34" charset="0"/>
                <a:ea typeface="宋体" panose="02010600030101010101" pitchFamily="2" charset="-122"/>
                <a:cs typeface="+mn-cs"/>
                <a:sym typeface="+mn-ea"/>
              </a:rPr>
              <a:t>0)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NOT NULL,</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EntryDate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Datetime</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EGender </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char(2)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check(EGender in(</a:t>
            </a:r>
            <a:r>
              <a:rPr kumimoji="0" lang="en-US" altLang="zh-CN"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男</a:t>
            </a:r>
            <a:r>
              <a:rPr kumimoji="0" lang="en-US" altLang="zh-CN"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a:t>
            </a:r>
            <a:r>
              <a:rPr kumimoji="0" lang="zh-CN" altLang="en-US"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女</a:t>
            </a:r>
            <a:r>
              <a:rPr kumimoji="0" lang="en-US" altLang="zh-CN" kern="100" cap="none" spc="0" normalizeH="0" baseline="0" noProof="0" dirty="0">
                <a:latin typeface="Calibri" panose="020F0502020204030204" pitchFamily="34" charset="0"/>
                <a:ea typeface="宋体" panose="02010600030101010101" pitchFamily="2" charset="-122"/>
                <a:cs typeface="Times New Roman" panose="02020603050405020304" pitchFamily="18" charset="0"/>
                <a:sym typeface="+mn-ea"/>
              </a:rPr>
              <a:t>'</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endPar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endParaRPr>
          </a:p>
          <a:p>
            <a:pPr marR="0" defTabSz="914400" eaLnBrk="1" hangingPunct="1">
              <a:lnSpc>
                <a:spcPct val="110000"/>
              </a:lnSpc>
              <a:spcBef>
                <a:spcPts val="0"/>
              </a:spcBef>
              <a:spcAft>
                <a:spcPts val="0"/>
              </a:spcAft>
              <a:buClrTx/>
              <a:buSzTx/>
              <a:buFont typeface="Arial" panose="020B0604020202020204" pitchFamily="34" charset="0"/>
              <a:buNone/>
              <a:defRPr/>
            </a:pP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DNo</a:t>
            </a:r>
            <a:r>
              <a:rPr kumimoji="0" lang="en-US" altLang="zh-CN" kern="1200" cap="none" spc="0" normalizeH="0" baseline="0" noProof="0">
                <a:solidFill>
                  <a:srgbClr val="0033CC"/>
                </a:solidFill>
                <a:latin typeface="Arial" panose="020B0604020202020204" pitchFamily="34" charset="0"/>
                <a:ea typeface="宋体" panose="02010600030101010101" pitchFamily="2" charset="-122"/>
                <a:cs typeface="+mn-cs"/>
                <a:sym typeface="+mn-ea"/>
              </a:rPr>
              <a:t> char(10) </a:t>
            </a:r>
            <a:r>
              <a:rPr kumimoji="0" lang="en-US" altLang="zh-CN"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kern="1200" cap="none" spc="0" normalizeH="0" baseline="0" noProof="0">
                <a:solidFill>
                  <a:srgbClr val="CC00FF"/>
                </a:solidFill>
                <a:latin typeface="Arial" panose="020B0604020202020204" pitchFamily="34" charset="0"/>
                <a:ea typeface="宋体" panose="02010600030101010101" pitchFamily="2" charset="-122"/>
                <a:cs typeface="+mn-cs"/>
                <a:sym typeface="+mn-ea"/>
              </a:rPr>
              <a:t>foreign key referencesDepart(DNo)</a:t>
            </a:r>
            <a:r>
              <a:rPr kumimoji="0" lang="en-US" altLang="zh-CN"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kern="1200" cap="none" spc="0" normalizeH="0" baseline="0" noProof="0">
              <a:latin typeface="Arial" panose="020B0604020202020204" pitchFamily="34" charset="0"/>
              <a:ea typeface="宋体" panose="02010600030101010101" pitchFamily="2" charset="-122"/>
              <a:cs typeface="+mn-cs"/>
              <a:sym typeface="+mn-ea"/>
            </a:endParaRPr>
          </a:p>
        </p:txBody>
      </p:sp>
      <p:sp>
        <p:nvSpPr>
          <p:cNvPr id="96261" name="Rectangle 2"/>
          <p:cNvSpPr/>
          <p:nvPr/>
        </p:nvSpPr>
        <p:spPr>
          <a:xfrm>
            <a:off x="457200" y="122238"/>
            <a:ext cx="8397875"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三、</a:t>
            </a:r>
            <a:r>
              <a:rPr lang="en-US" altLang="zh-CN" sz="3200" dirty="0">
                <a:solidFill>
                  <a:srgbClr val="FF0000"/>
                </a:solidFill>
                <a:ea typeface="黑体" panose="02010609060101010101" pitchFamily="49" charset="-122"/>
              </a:rPr>
              <a:t>SQL Server</a:t>
            </a:r>
            <a:r>
              <a:rPr lang="zh-CN" altLang="en-US" sz="3200" dirty="0">
                <a:solidFill>
                  <a:srgbClr val="FF0000"/>
                </a:solidFill>
                <a:ea typeface="黑体" panose="02010609060101010101" pitchFamily="49" charset="-122"/>
              </a:rPr>
              <a:t>完整性验证</a:t>
            </a:r>
            <a:r>
              <a:rPr lang="en-US" altLang="zh-CN" sz="32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完整性验证</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
        <p:nvSpPr>
          <p:cNvPr id="97283" name="矩形 2"/>
          <p:cNvSpPr/>
          <p:nvPr/>
        </p:nvSpPr>
        <p:spPr>
          <a:xfrm>
            <a:off x="538163" y="854075"/>
            <a:ext cx="8178800" cy="8556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宋体" panose="02010600030101010101" pitchFamily="2" charset="-122"/>
              </a:rPr>
              <a:t>    </a:t>
            </a:r>
            <a:r>
              <a:rPr lang="en-US" altLang="zh-CN" sz="2400" dirty="0">
                <a:latin typeface="宋体" panose="02010600030101010101" pitchFamily="2" charset="-122"/>
              </a:rPr>
              <a:t>ERM</a:t>
            </a:r>
            <a:r>
              <a:rPr lang="zh-CN" altLang="en-US" sz="2400" dirty="0">
                <a:latin typeface="宋体" panose="02010600030101010101" pitchFamily="2" charset="-122"/>
              </a:rPr>
              <a:t>向关系模型的转换，是将</a:t>
            </a:r>
            <a:r>
              <a:rPr lang="en-US" altLang="zh-CN" sz="2400" dirty="0">
                <a:latin typeface="宋体" panose="02010600030101010101" pitchFamily="2" charset="-122"/>
              </a:rPr>
              <a:t>ER</a:t>
            </a:r>
            <a:r>
              <a:rPr lang="zh-CN" altLang="en-US" sz="2400" dirty="0">
                <a:latin typeface="宋体" panose="02010600030101010101" pitchFamily="2" charset="-122"/>
              </a:rPr>
              <a:t>图转换成带有相关约束的表的集合。</a:t>
            </a:r>
            <a:endParaRPr lang="zh-CN" altLang="en-US" sz="2400" dirty="0">
              <a:latin typeface="宋体" panose="02010600030101010101" pitchFamily="2" charset="-122"/>
            </a:endParaRPr>
          </a:p>
        </p:txBody>
      </p:sp>
      <p:graphicFrame>
        <p:nvGraphicFramePr>
          <p:cNvPr id="70660" name="表格 70659"/>
          <p:cNvGraphicFramePr/>
          <p:nvPr/>
        </p:nvGraphicFramePr>
        <p:xfrm>
          <a:off x="677863" y="1795463"/>
          <a:ext cx="7932738" cy="4543425"/>
        </p:xfrm>
        <a:graphic>
          <a:graphicData uri="http://schemas.openxmlformats.org/drawingml/2006/table">
            <a:tbl>
              <a:tblPr/>
              <a:tblGrid>
                <a:gridCol w="2619375"/>
                <a:gridCol w="2668588"/>
                <a:gridCol w="2644775"/>
              </a:tblGrid>
              <a:tr h="82313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solidFill>
                            <a:srgbClr val="A50021"/>
                          </a:solidFill>
                        </a:rPr>
                        <a:t>概念模式与逻辑模式的对应</a:t>
                      </a:r>
                      <a:endParaRPr lang="zh-CN" altLang="en-US" sz="2400" b="0">
                        <a:solidFill>
                          <a:srgbClr val="A50021"/>
                        </a:solidFill>
                      </a:endParaRPr>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400" b="0"/>
                        <a:t>ER</a:t>
                      </a:r>
                      <a:r>
                        <a:rPr lang="zh-CN" altLang="en-US" sz="2400" b="0"/>
                        <a:t>模型</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关系数据模型</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207371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数据结构</a:t>
                      </a:r>
                      <a:endParaRPr lang="zh-CN" altLang="en-US" sz="2400" b="0"/>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ts val="300"/>
                        </a:spcBef>
                        <a:buClr>
                          <a:srgbClr val="000000"/>
                        </a:buClr>
                        <a:buFont typeface="Arial" panose="020B0604020202020204" pitchFamily="34" charset="0"/>
                        <a:buNone/>
                      </a:pPr>
                      <a:r>
                        <a:rPr lang="zh-CN" altLang="en-US" sz="2400" b="0"/>
                        <a:t>实体集</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实体集属性</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联系集与属性</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实体的实例</a:t>
                      </a:r>
                      <a:endParaRPr lang="zh-CN" altLang="en-US" sz="2400" b="0"/>
                    </a:p>
                    <a:p>
                      <a:pPr marL="0" lvl="0" indent="0" eaLnBrk="1" hangingPunct="1">
                        <a:spcBef>
                          <a:spcPts val="300"/>
                        </a:spcBef>
                        <a:buClr>
                          <a:srgbClr val="000000"/>
                        </a:buClr>
                        <a:buFont typeface="Arial" panose="020B0604020202020204" pitchFamily="34" charset="0"/>
                        <a:buNone/>
                      </a:pPr>
                      <a:r>
                        <a:rPr lang="zh-CN" altLang="en-US" sz="2400" b="0"/>
                        <a:t>主键</a:t>
                      </a:r>
                      <a:r>
                        <a:rPr lang="en-US" altLang="zh-CN" sz="2400" b="0"/>
                        <a:t>/</a:t>
                      </a:r>
                      <a:r>
                        <a:rPr lang="zh-CN" altLang="en-US" sz="2400" b="0"/>
                        <a:t>候选键</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en-US" altLang="zh-CN" sz="2400" b="0"/>
                        <a:t>?</a:t>
                      </a:r>
                      <a:endParaRPr lang="en-US" altLang="zh-CN" sz="2400" b="0"/>
                    </a:p>
                    <a:p>
                      <a:pPr marL="0" lvl="0" indent="0" eaLnBrk="1" hangingPunct="1">
                        <a:spcBef>
                          <a:spcPct val="0"/>
                        </a:spcBef>
                        <a:buClr>
                          <a:srgbClr val="000000"/>
                        </a:buClr>
                        <a:buFont typeface="Arial" panose="020B0604020202020204" pitchFamily="34" charset="0"/>
                        <a:buNone/>
                      </a:pPr>
                      <a:r>
                        <a:rPr lang="en-US" altLang="zh-CN" sz="2400" b="0"/>
                        <a:t>?</a:t>
                      </a:r>
                      <a:endParaRPr lang="en-US" altLang="zh-CN" sz="2400" b="0"/>
                    </a:p>
                    <a:p>
                      <a:pPr marL="0" lvl="0" indent="0" eaLnBrk="1" hangingPunct="1">
                        <a:spcBef>
                          <a:spcPct val="0"/>
                        </a:spcBef>
                        <a:buClr>
                          <a:srgbClr val="000000"/>
                        </a:buClr>
                        <a:buFont typeface="Arial" panose="020B0604020202020204" pitchFamily="34" charset="0"/>
                        <a:buNone/>
                      </a:pPr>
                      <a:r>
                        <a:rPr lang="zh-CN" altLang="en-US" sz="2400" b="0"/>
                        <a:t>？</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4572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数据操作</a:t>
                      </a:r>
                      <a:endParaRPr lang="zh-CN" altLang="en-US" sz="2400" b="0"/>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en-US" altLang="zh-CN" sz="2400" b="0"/>
                        <a:t>/</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r h="11892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数据约束</a:t>
                      </a:r>
                      <a:endParaRPr lang="zh-CN" altLang="en-US" sz="2400" b="0"/>
                    </a:p>
                  </a:txBody>
                  <a:tcPr marT="45730" marB="45730">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2F2F2">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2400" b="0"/>
                        <a:t>联系类型约束</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键约束</a:t>
                      </a:r>
                      <a:endParaRPr lang="zh-CN" altLang="en-US" sz="2400" b="0"/>
                    </a:p>
                    <a:p>
                      <a:pPr marL="0" lvl="0" indent="0" eaLnBrk="1" hangingPunct="1">
                        <a:spcBef>
                          <a:spcPct val="0"/>
                        </a:spcBef>
                        <a:buClr>
                          <a:srgbClr val="000000"/>
                        </a:buClr>
                        <a:buFont typeface="Arial" panose="020B0604020202020204" pitchFamily="34" charset="0"/>
                        <a:buNone/>
                      </a:pPr>
                      <a:r>
                        <a:rPr lang="zh-CN" altLang="en-US" sz="2400" b="0"/>
                        <a:t>完全参与约束</a:t>
                      </a:r>
                      <a:endParaRPr lang="zh-CN" altLang="en-US" sz="2400" b="0"/>
                    </a:p>
                  </a:txBody>
                  <a:tcPr marT="45730" marB="4573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FFCC">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400" b="0"/>
                        <a:t>？ </a:t>
                      </a:r>
                      <a:endParaRPr lang="zh-CN" altLang="en-US" sz="2400" b="0"/>
                    </a:p>
                  </a:txBody>
                  <a:tcPr marT="45730" marB="45730">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DFEFFD">
                        <a:alpha val="100000"/>
                      </a:srgbClr>
                    </a:solidFill>
                  </a:tcPr>
                </a:tc>
              </a:tr>
            </a:tbl>
          </a:graphicData>
        </a:graphic>
      </p:graphicFrame>
      <p:sp>
        <p:nvSpPr>
          <p:cNvPr id="97306" name="Text Box 25"/>
          <p:cNvSpPr txBox="1"/>
          <p:nvPr/>
        </p:nvSpPr>
        <p:spPr>
          <a:xfrm>
            <a:off x="5970588" y="2332038"/>
            <a:ext cx="1296987" cy="503237"/>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关系表</a:t>
            </a:r>
            <a:endParaRPr lang="zh-CN" altLang="en-US" dirty="0">
              <a:solidFill>
                <a:srgbClr val="CC0000"/>
              </a:solidFill>
              <a:latin typeface="宋体" panose="02010600030101010101" pitchFamily="2" charset="-122"/>
            </a:endParaRPr>
          </a:p>
        </p:txBody>
      </p:sp>
      <p:sp>
        <p:nvSpPr>
          <p:cNvPr id="97307" name="Text Box 26"/>
          <p:cNvSpPr txBox="1"/>
          <p:nvPr/>
        </p:nvSpPr>
        <p:spPr>
          <a:xfrm>
            <a:off x="5981700" y="4140200"/>
            <a:ext cx="2613025" cy="498475"/>
          </a:xfrm>
          <a:prstGeom prst="rect">
            <a:avLst/>
          </a:prstGeom>
          <a:solidFill>
            <a:srgbClr val="DFEFFD"/>
          </a:solidFill>
          <a:ln w="9525">
            <a:noFill/>
          </a:ln>
        </p:spPr>
        <p:txBody>
          <a:bodyPr t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表的主键/候选键</a:t>
            </a:r>
            <a:endParaRPr lang="zh-CN" altLang="en-US" sz="2400" dirty="0">
              <a:solidFill>
                <a:srgbClr val="CC0000"/>
              </a:solidFill>
              <a:latin typeface="宋体" panose="02010600030101010101" pitchFamily="2" charset="-122"/>
            </a:endParaRPr>
          </a:p>
        </p:txBody>
      </p:sp>
      <p:sp>
        <p:nvSpPr>
          <p:cNvPr id="97308" name="Text Box 27"/>
          <p:cNvSpPr txBox="1"/>
          <p:nvPr/>
        </p:nvSpPr>
        <p:spPr>
          <a:xfrm>
            <a:off x="5981700" y="2786063"/>
            <a:ext cx="1296988" cy="519112"/>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表的列</a:t>
            </a:r>
            <a:endParaRPr lang="zh-CN" altLang="en-US" dirty="0">
              <a:solidFill>
                <a:srgbClr val="CC0000"/>
              </a:solidFill>
              <a:latin typeface="宋体" panose="02010600030101010101" pitchFamily="2" charset="-122"/>
            </a:endParaRPr>
          </a:p>
        </p:txBody>
      </p:sp>
      <p:sp>
        <p:nvSpPr>
          <p:cNvPr id="97309" name="Text Box 28"/>
          <p:cNvSpPr txBox="1"/>
          <p:nvPr/>
        </p:nvSpPr>
        <p:spPr>
          <a:xfrm>
            <a:off x="5970588" y="3217863"/>
            <a:ext cx="1439862" cy="519112"/>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表和列</a:t>
            </a:r>
            <a:endParaRPr lang="zh-CN" altLang="en-US" dirty="0">
              <a:solidFill>
                <a:srgbClr val="CC0000"/>
              </a:solidFill>
              <a:latin typeface="宋体" panose="02010600030101010101" pitchFamily="2" charset="-122"/>
            </a:endParaRPr>
          </a:p>
        </p:txBody>
      </p:sp>
      <p:sp>
        <p:nvSpPr>
          <p:cNvPr id="97310" name="Text Box 29"/>
          <p:cNvSpPr txBox="1"/>
          <p:nvPr/>
        </p:nvSpPr>
        <p:spPr>
          <a:xfrm>
            <a:off x="5970588" y="3678238"/>
            <a:ext cx="2160587" cy="517525"/>
          </a:xfrm>
          <a:prstGeom prst="rect">
            <a:avLst/>
          </a:prstGeom>
          <a:solidFill>
            <a:srgbClr val="DFEFFD"/>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表中的各行</a:t>
            </a:r>
            <a:endParaRPr lang="zh-CN" altLang="en-US" dirty="0">
              <a:solidFill>
                <a:srgbClr val="CC0000"/>
              </a:solidFill>
              <a:latin typeface="宋体" panose="02010600030101010101" pitchFamily="2" charset="-122"/>
            </a:endParaRPr>
          </a:p>
        </p:txBody>
      </p:sp>
      <p:sp>
        <p:nvSpPr>
          <p:cNvPr id="97311" name="Text Box 30"/>
          <p:cNvSpPr txBox="1"/>
          <p:nvPr/>
        </p:nvSpPr>
        <p:spPr>
          <a:xfrm>
            <a:off x="5981700" y="4578350"/>
            <a:ext cx="2613025" cy="708025"/>
          </a:xfrm>
          <a:prstGeom prst="rect">
            <a:avLst/>
          </a:prstGeom>
          <a:solidFill>
            <a:srgbClr val="CCEC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solidFill>
                  <a:srgbClr val="CC0000"/>
                </a:solidFill>
                <a:latin typeface="宋体" panose="02010600030101010101" pitchFamily="2" charset="-122"/>
              </a:rPr>
              <a:t>使用SQL语句对表进行操作</a:t>
            </a:r>
            <a:endParaRPr lang="zh-CN" altLang="en-US" dirty="0">
              <a:solidFill>
                <a:srgbClr val="CC0000"/>
              </a:solidFill>
              <a:latin typeface="宋体" panose="02010600030101010101" pitchFamily="2" charset="-122"/>
            </a:endParaRPr>
          </a:p>
        </p:txBody>
      </p:sp>
      <p:sp>
        <p:nvSpPr>
          <p:cNvPr id="70688" name="Text Box 31"/>
          <p:cNvSpPr txBox="1"/>
          <p:nvPr/>
        </p:nvSpPr>
        <p:spPr>
          <a:xfrm>
            <a:off x="5981700" y="5268913"/>
            <a:ext cx="2644775" cy="995362"/>
          </a:xfrm>
          <a:prstGeom prst="rect">
            <a:avLst/>
          </a:prstGeom>
          <a:solidFill>
            <a:srgbClr val="DFEFFD"/>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CC0000"/>
                </a:solidFill>
                <a:latin typeface="宋体" panose="02010600030101010101" pitchFamily="2" charset="-122"/>
              </a:rPr>
              <a:t>域约束、主键约束、唯一约束、外键约束、检查约束、断言</a:t>
            </a:r>
            <a:endParaRPr lang="zh-CN" altLang="en-US" dirty="0">
              <a:solidFill>
                <a:srgbClr val="CC0000"/>
              </a:solidFill>
              <a:latin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0688"/>
                                        </p:tgtEl>
                                        <p:attrNameLst>
                                          <p:attrName>style.visibility</p:attrName>
                                        </p:attrNameLst>
                                      </p:cBhvr>
                                      <p:to>
                                        <p:strVal val="visible"/>
                                      </p:to>
                                    </p:set>
                                    <p:animEffect transition="in" filter="wipe(down)">
                                      <p:cBhvr>
                                        <p:cTn id="7" dur="500"/>
                                        <p:tgtEl>
                                          <p:spTgt spid="706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88"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矩形 3"/>
          <p:cNvSpPr/>
          <p:nvPr/>
        </p:nvSpPr>
        <p:spPr>
          <a:xfrm>
            <a:off x="538163" y="806450"/>
            <a:ext cx="74739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实体转换方法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1683" name="Rectangle 3"/>
          <p:cNvSpPr txBox="1"/>
          <p:nvPr/>
        </p:nvSpPr>
        <p:spPr>
          <a:xfrm>
            <a:off x="495300" y="1404938"/>
            <a:ext cx="8343900" cy="49657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solidFill>
                  <a:srgbClr val="A50021"/>
                </a:solidFill>
                <a:latin typeface="华文楷体" panose="02010600040101010101" pitchFamily="2" charset="-122"/>
              </a:rPr>
              <a:t>  </a:t>
            </a:r>
            <a:endParaRPr lang="en-US" altLang="zh-CN" sz="2200" dirty="0">
              <a:latin typeface="华文楷体" panose="02010600040101010101" pitchFamily="2" charset="-122"/>
            </a:endParaRPr>
          </a:p>
          <a:p>
            <a:pPr marL="533400" lvl="0" indent="-533400" eaLnBrk="1" hangingPunct="1">
              <a:buFont typeface="Arial" panose="020B0604020202020204" pitchFamily="34" charset="0"/>
              <a:buNone/>
            </a:pPr>
            <a:r>
              <a:rPr lang="zh-CN" altLang="en-US" sz="2400" dirty="0">
                <a:solidFill>
                  <a:srgbClr val="A50021"/>
                </a:solidFill>
                <a:latin typeface="华文楷体" panose="02010600040101010101" pitchFamily="2" charset="-122"/>
              </a:rPr>
              <a:t>   </a:t>
            </a:r>
            <a:endParaRPr lang="zh-CN" altLang="en-US" sz="2400" dirty="0">
              <a:latin typeface="华文楷体" panose="02010600040101010101" pitchFamily="2" charset="-122"/>
              <a:sym typeface="Wingdings" panose="05000000000000000000" pitchFamily="2" charset="2"/>
            </a:endParaRPr>
          </a:p>
        </p:txBody>
      </p:sp>
      <p:sp>
        <p:nvSpPr>
          <p:cNvPr id="71684" name="Rectangle 3"/>
          <p:cNvSpPr>
            <a:spLocks noGrp="1"/>
          </p:cNvSpPr>
          <p:nvPr/>
        </p:nvSpPr>
        <p:spPr>
          <a:xfrm>
            <a:off x="512763" y="1557338"/>
            <a:ext cx="7772400" cy="2462213"/>
          </a:xfrm>
          <a:prstGeom prst="rect">
            <a:avLst/>
          </a:prstGeom>
          <a:noFill/>
          <a:ln w="9525">
            <a:noFill/>
          </a:ln>
        </p:spPr>
        <p:txBody>
          <a:bodyPr/>
          <a:lstStyle>
            <a:lvl1pPr marL="342900" indent="-342900">
              <a:buFont typeface="Arial" panose="020B0604020202020204" pitchFamily="34" charset="0"/>
              <a:defRPr b="1">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b="1">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25000"/>
              </a:lnSpc>
              <a:spcBef>
                <a:spcPct val="20000"/>
              </a:spcBef>
              <a:spcAft>
                <a:spcPct val="0"/>
              </a:spcAft>
              <a:buClr>
                <a:srgbClr val="0033CC"/>
              </a:buClr>
              <a:buSzPct val="80000"/>
              <a:buFont typeface="Wingdings" panose="05000000000000000000" pitchFamily="2" charset="2"/>
              <a:buNone/>
              <a:defRPr/>
            </a:pPr>
            <a:r>
              <a:rPr kumimoji="0" lang="zh-CN" altLang="en-US" sz="2400" b="1" i="0" u="sng" strike="noStrike" kern="1200" cap="none" spc="0" normalizeH="0" baseline="0" noProof="1"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一个实体型转换为一个关系模式</a:t>
            </a:r>
            <a:endParaRPr kumimoji="0" lang="zh-CN" altLang="en-US" sz="2400" b="1" i="0" u="sng" strike="noStrike" kern="1200" cap="none" spc="0" normalizeH="0" baseline="0" noProof="1" smtClean="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0000"/>
              </a:lnSpc>
              <a:spcBef>
                <a:spcPts val="300"/>
              </a:spcBef>
              <a:spcAft>
                <a:spcPct val="0"/>
              </a:spcAft>
              <a:buClr>
                <a:schemeClr val="accent2"/>
              </a:buClr>
              <a:buSzTx/>
              <a:buFont typeface="Wingdings" panose="05000000000000000000" pitchFamily="2" charset="2"/>
              <a:buChar char="Ø"/>
              <a:defRPr/>
            </a:pPr>
            <a:r>
              <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关系名：实体名</a:t>
            </a:r>
            <a:endPar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0000"/>
              </a:lnSpc>
              <a:spcBef>
                <a:spcPts val="300"/>
              </a:spcBef>
              <a:spcAft>
                <a:spcPct val="0"/>
              </a:spcAft>
              <a:buClr>
                <a:schemeClr val="accent2"/>
              </a:buClr>
              <a:buSzTx/>
              <a:buFont typeface="Wingdings" panose="05000000000000000000" pitchFamily="2" charset="2"/>
              <a:buChar char="Ø"/>
              <a:defRPr/>
            </a:pPr>
            <a:r>
              <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关系的属性</a:t>
            </a:r>
            <a:r>
              <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：实体型的属性</a:t>
            </a:r>
            <a:endPar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0000"/>
              </a:lnSpc>
              <a:spcBef>
                <a:spcPts val="300"/>
              </a:spcBef>
              <a:spcAft>
                <a:spcPct val="0"/>
              </a:spcAft>
              <a:buClr>
                <a:schemeClr val="accent2"/>
              </a:buClr>
              <a:buSzTx/>
              <a:buFont typeface="Wingdings" panose="05000000000000000000" pitchFamily="2" charset="2"/>
              <a:buChar char="Ø"/>
              <a:defRPr/>
            </a:pPr>
            <a:r>
              <a:rPr kumimoji="0" lang="zh-CN" altLang="en-US" sz="2200" b="1" i="1"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关系的主键</a:t>
            </a:r>
            <a:r>
              <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：实体型的标识符</a:t>
            </a:r>
            <a:endPar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ts val="600"/>
              </a:spcBef>
              <a:spcAft>
                <a:spcPct val="0"/>
              </a:spcAft>
              <a:buClr>
                <a:schemeClr val="accent2"/>
              </a:buClr>
              <a:buSzPct val="70000"/>
              <a:buFont typeface="Wingdings" panose="05000000000000000000" pitchFamily="2" charset="2"/>
              <a:buNone/>
              <a:defRPr/>
            </a:pPr>
            <a:endParaRPr kumimoji="0" lang="zh-CN" altLang="en-US" sz="2200" b="1" i="0" u="none" strike="noStrike" kern="1200" cap="none" spc="0" normalizeH="0" baseline="0" noProof="1" smtClean="0">
              <a:ln>
                <a:noFill/>
              </a:ln>
              <a:solidFill>
                <a:srgbClr val="0033CC"/>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None/>
              <a:defRPr/>
            </a:pPr>
            <a:r>
              <a:rPr kumimoji="0" lang="zh-CN" altLang="en-US" sz="2000" b="1"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rPr>
              <a:t>    </a:t>
            </a:r>
            <a:endParaRPr kumimoji="0" lang="zh-CN" altLang="en-US" sz="2000" b="1" i="0" u="none" strike="noStrike" kern="1200" cap="none" spc="0" normalizeH="0" baseline="0" noProof="1" smtClean="0">
              <a:ln>
                <a:noFill/>
              </a:ln>
              <a:solidFill>
                <a:schemeClr val="tx1"/>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endParaRPr>
          </a:p>
        </p:txBody>
      </p:sp>
      <p:grpSp>
        <p:nvGrpSpPr>
          <p:cNvPr id="98309" name="Group 6"/>
          <p:cNvGrpSpPr/>
          <p:nvPr/>
        </p:nvGrpSpPr>
        <p:grpSpPr>
          <a:xfrm>
            <a:off x="5295900" y="1692275"/>
            <a:ext cx="3184525" cy="4200525"/>
            <a:chOff x="0" y="0"/>
            <a:chExt cx="2236" cy="2858"/>
          </a:xfrm>
        </p:grpSpPr>
        <p:sp>
          <p:nvSpPr>
            <p:cNvPr id="98336" name="Rectangle 5"/>
            <p:cNvSpPr/>
            <p:nvPr/>
          </p:nvSpPr>
          <p:spPr>
            <a:xfrm>
              <a:off x="635" y="580"/>
              <a:ext cx="816"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学生    </a:t>
              </a:r>
              <a:endParaRPr lang="zh-CN" altLang="en-US" sz="1800" dirty="0"/>
            </a:p>
          </p:txBody>
        </p:sp>
        <p:sp>
          <p:nvSpPr>
            <p:cNvPr id="98337" name="AutoShape 6"/>
            <p:cNvSpPr/>
            <p:nvPr/>
          </p:nvSpPr>
          <p:spPr>
            <a:xfrm>
              <a:off x="0" y="26"/>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学号 </a:t>
              </a:r>
              <a:endParaRPr lang="zh-CN" altLang="en-US" sz="1800" dirty="0"/>
            </a:p>
          </p:txBody>
        </p:sp>
        <p:sp>
          <p:nvSpPr>
            <p:cNvPr id="98338" name="AutoShape 7"/>
            <p:cNvSpPr/>
            <p:nvPr/>
          </p:nvSpPr>
          <p:spPr>
            <a:xfrm>
              <a:off x="764" y="8"/>
              <a:ext cx="531" cy="348"/>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姓名 </a:t>
              </a:r>
              <a:endParaRPr lang="zh-CN" altLang="en-US" sz="1800" dirty="0"/>
            </a:p>
          </p:txBody>
        </p:sp>
        <p:sp>
          <p:nvSpPr>
            <p:cNvPr id="98339" name="AutoShape 8"/>
            <p:cNvSpPr/>
            <p:nvPr/>
          </p:nvSpPr>
          <p:spPr>
            <a:xfrm>
              <a:off x="1445" y="0"/>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性别 </a:t>
              </a:r>
              <a:endParaRPr lang="zh-CN" altLang="en-US" sz="1800" dirty="0"/>
            </a:p>
          </p:txBody>
        </p:sp>
        <p:sp>
          <p:nvSpPr>
            <p:cNvPr id="98340" name="AutoShape 9"/>
            <p:cNvSpPr/>
            <p:nvPr/>
          </p:nvSpPr>
          <p:spPr>
            <a:xfrm>
              <a:off x="580" y="1102"/>
              <a:ext cx="871" cy="574"/>
            </a:xfrm>
            <a:prstGeom prst="diamond">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选课 </a:t>
              </a:r>
              <a:endParaRPr lang="zh-CN" altLang="en-US" sz="1800" dirty="0"/>
            </a:p>
          </p:txBody>
        </p:sp>
        <p:sp>
          <p:nvSpPr>
            <p:cNvPr id="98341" name="AutoShape 10"/>
            <p:cNvSpPr/>
            <p:nvPr/>
          </p:nvSpPr>
          <p:spPr>
            <a:xfrm>
              <a:off x="1704" y="1237"/>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成绩 </a:t>
              </a:r>
              <a:endParaRPr lang="zh-CN" altLang="en-US" sz="1800" dirty="0"/>
            </a:p>
          </p:txBody>
        </p:sp>
        <p:sp>
          <p:nvSpPr>
            <p:cNvPr id="98342" name="Rectangle 11"/>
            <p:cNvSpPr/>
            <p:nvPr/>
          </p:nvSpPr>
          <p:spPr>
            <a:xfrm>
              <a:off x="635" y="1920"/>
              <a:ext cx="861"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课程    </a:t>
              </a:r>
              <a:endParaRPr lang="zh-CN" altLang="en-US" sz="1800" dirty="0"/>
            </a:p>
          </p:txBody>
        </p:sp>
        <p:sp>
          <p:nvSpPr>
            <p:cNvPr id="98343" name="AutoShape 12"/>
            <p:cNvSpPr/>
            <p:nvPr/>
          </p:nvSpPr>
          <p:spPr>
            <a:xfrm>
              <a:off x="76" y="2509"/>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课程号 </a:t>
              </a:r>
              <a:endParaRPr lang="zh-CN" altLang="en-US" sz="1800" dirty="0"/>
            </a:p>
          </p:txBody>
        </p:sp>
        <p:sp>
          <p:nvSpPr>
            <p:cNvPr id="98344" name="AutoShape 13"/>
            <p:cNvSpPr/>
            <p:nvPr/>
          </p:nvSpPr>
          <p:spPr>
            <a:xfrm>
              <a:off x="767" y="2491"/>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课程名 </a:t>
              </a:r>
              <a:endParaRPr lang="zh-CN" altLang="en-US" sz="1800" dirty="0"/>
            </a:p>
          </p:txBody>
        </p:sp>
        <p:sp>
          <p:nvSpPr>
            <p:cNvPr id="98345" name="AutoShape 14"/>
            <p:cNvSpPr/>
            <p:nvPr/>
          </p:nvSpPr>
          <p:spPr>
            <a:xfrm>
              <a:off x="1522" y="2483"/>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学分 </a:t>
              </a:r>
              <a:endParaRPr lang="zh-CN" altLang="en-US" sz="1800" dirty="0"/>
            </a:p>
          </p:txBody>
        </p:sp>
        <p:sp>
          <p:nvSpPr>
            <p:cNvPr id="98346" name="Line 15"/>
            <p:cNvSpPr/>
            <p:nvPr/>
          </p:nvSpPr>
          <p:spPr>
            <a:xfrm>
              <a:off x="322" y="361"/>
              <a:ext cx="484" cy="226"/>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98347" name="Line 16"/>
            <p:cNvSpPr/>
            <p:nvPr/>
          </p:nvSpPr>
          <p:spPr>
            <a:xfrm flipH="1">
              <a:off x="1022" y="350"/>
              <a:ext cx="10" cy="25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48" name="Line 17"/>
            <p:cNvSpPr/>
            <p:nvPr/>
          </p:nvSpPr>
          <p:spPr>
            <a:xfrm flipH="1">
              <a:off x="1158" y="343"/>
              <a:ext cx="370" cy="225"/>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49" name="Line 18"/>
            <p:cNvSpPr/>
            <p:nvPr/>
          </p:nvSpPr>
          <p:spPr>
            <a:xfrm flipH="1">
              <a:off x="1003" y="877"/>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0" name="Rectangle 19"/>
            <p:cNvSpPr/>
            <p:nvPr/>
          </p:nvSpPr>
          <p:spPr>
            <a:xfrm>
              <a:off x="1034" y="876"/>
              <a:ext cx="272" cy="315"/>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m</a:t>
              </a:r>
              <a:endParaRPr lang="en-US" altLang="zh-CN" sz="1800" dirty="0"/>
            </a:p>
          </p:txBody>
        </p:sp>
        <p:sp>
          <p:nvSpPr>
            <p:cNvPr id="98351" name="Rectangle 20"/>
            <p:cNvSpPr/>
            <p:nvPr/>
          </p:nvSpPr>
          <p:spPr>
            <a:xfrm>
              <a:off x="1079" y="1609"/>
              <a:ext cx="246" cy="316"/>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n</a:t>
              </a:r>
              <a:endParaRPr lang="en-US" altLang="zh-CN" sz="1800" dirty="0"/>
            </a:p>
          </p:txBody>
        </p:sp>
        <p:sp>
          <p:nvSpPr>
            <p:cNvPr id="98352" name="Line 21"/>
            <p:cNvSpPr/>
            <p:nvPr/>
          </p:nvSpPr>
          <p:spPr>
            <a:xfrm flipH="1">
              <a:off x="995" y="1661"/>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3" name="Line 22"/>
            <p:cNvSpPr/>
            <p:nvPr/>
          </p:nvSpPr>
          <p:spPr>
            <a:xfrm flipH="1">
              <a:off x="1018" y="2229"/>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4" name="Line 23"/>
            <p:cNvSpPr/>
            <p:nvPr/>
          </p:nvSpPr>
          <p:spPr>
            <a:xfrm flipH="1">
              <a:off x="487" y="2222"/>
              <a:ext cx="339" cy="278"/>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98355" name="Line 24"/>
            <p:cNvSpPr/>
            <p:nvPr/>
          </p:nvSpPr>
          <p:spPr>
            <a:xfrm>
              <a:off x="1238" y="2233"/>
              <a:ext cx="443" cy="226"/>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grpSp>
      <p:sp>
        <p:nvSpPr>
          <p:cNvPr id="98310" name="Rectangle 27"/>
          <p:cNvSpPr/>
          <p:nvPr/>
        </p:nvSpPr>
        <p:spPr>
          <a:xfrm>
            <a:off x="735013" y="3873500"/>
            <a:ext cx="3346450"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Student</a:t>
            </a:r>
            <a:r>
              <a:rPr lang="en-US" altLang="zh-CN" dirty="0"/>
              <a:t>(</a:t>
            </a:r>
            <a:r>
              <a:rPr lang="en-US" altLang="zh-CN" u="sng" dirty="0">
                <a:solidFill>
                  <a:srgbClr val="0033CC"/>
                </a:solidFill>
              </a:rPr>
              <a:t>Sno</a:t>
            </a:r>
            <a:r>
              <a:rPr lang="en-US" altLang="zh-CN" dirty="0"/>
              <a:t>,Sname,Ssex)</a:t>
            </a:r>
            <a:endParaRPr lang="zh-CN" altLang="en-US" dirty="0"/>
          </a:p>
        </p:txBody>
      </p:sp>
      <p:sp>
        <p:nvSpPr>
          <p:cNvPr id="98311" name="Rectangle 28"/>
          <p:cNvSpPr/>
          <p:nvPr/>
        </p:nvSpPr>
        <p:spPr>
          <a:xfrm>
            <a:off x="766763" y="5016500"/>
            <a:ext cx="3608387"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course</a:t>
            </a:r>
            <a:r>
              <a:rPr lang="en-US" altLang="zh-CN" dirty="0"/>
              <a:t> (</a:t>
            </a:r>
            <a:r>
              <a:rPr lang="en-US" altLang="zh-CN" u="sng" dirty="0">
                <a:solidFill>
                  <a:srgbClr val="0033CC"/>
                </a:solidFill>
              </a:rPr>
              <a:t>Cno</a:t>
            </a:r>
            <a:r>
              <a:rPr lang="en-US" altLang="zh-CN" dirty="0"/>
              <a:t>,Cname,C</a:t>
            </a:r>
            <a:r>
              <a:rPr lang="en-US" altLang="zh-CN" sz="1800" dirty="0"/>
              <a:t>credit </a:t>
            </a:r>
            <a:r>
              <a:rPr lang="en-US" altLang="zh-CN" dirty="0"/>
              <a:t>)</a:t>
            </a:r>
            <a:endParaRPr lang="zh-CN" altLang="en-US" dirty="0"/>
          </a:p>
        </p:txBody>
      </p:sp>
      <p:sp>
        <p:nvSpPr>
          <p:cNvPr id="98312" name="Line 29"/>
          <p:cNvSpPr/>
          <p:nvPr/>
        </p:nvSpPr>
        <p:spPr>
          <a:xfrm flipV="1">
            <a:off x="7389813" y="3724275"/>
            <a:ext cx="355600" cy="20638"/>
          </a:xfrm>
          <a:prstGeom prst="line">
            <a:avLst/>
          </a:prstGeom>
          <a:ln w="9525" cap="flat" cmpd="sng">
            <a:solidFill>
              <a:schemeClr val="tx1"/>
            </a:solidFill>
            <a:prstDash val="solid"/>
            <a:headEnd type="none" w="med" len="med"/>
            <a:tailEnd type="none" w="med" len="med"/>
          </a:ln>
          <a:effectLst>
            <a:outerShdw dist="17961" dir="2699999" algn="ctr" rotWithShape="0">
              <a:srgbClr val="000000"/>
            </a:outerShdw>
          </a:effectLst>
        </p:spPr>
      </p:sp>
      <p:cxnSp>
        <p:nvCxnSpPr>
          <p:cNvPr id="98313" name="直接连接符 67"/>
          <p:cNvCxnSpPr/>
          <p:nvPr/>
        </p:nvCxnSpPr>
        <p:spPr>
          <a:xfrm rot="5400000">
            <a:off x="5975350" y="2305050"/>
            <a:ext cx="295275" cy="190500"/>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cxnSp>
        <p:nvCxnSpPr>
          <p:cNvPr id="98314" name="直接连接符 68"/>
          <p:cNvCxnSpPr/>
          <p:nvPr/>
        </p:nvCxnSpPr>
        <p:spPr>
          <a:xfrm>
            <a:off x="6011863" y="5040313"/>
            <a:ext cx="330200" cy="211137"/>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graphicFrame>
        <p:nvGraphicFramePr>
          <p:cNvPr id="71711" name="表格 71710"/>
          <p:cNvGraphicFramePr/>
          <p:nvPr/>
        </p:nvGraphicFramePr>
        <p:xfrm>
          <a:off x="858838" y="4418013"/>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Sno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Ssex</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71721" name="表格 71720"/>
          <p:cNvGraphicFramePr/>
          <p:nvPr/>
        </p:nvGraphicFramePr>
        <p:xfrm>
          <a:off x="877888" y="5557838"/>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Cno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Ccredit</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9833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1683">
                                            <p:txEl>
                                              <p:charRg st="0" end="3"/>
                                            </p:txEl>
                                          </p:spTgt>
                                        </p:tgtEl>
                                        <p:attrNameLst>
                                          <p:attrName>style.visibility</p:attrName>
                                        </p:attrNameLst>
                                      </p:cBhvr>
                                      <p:to>
                                        <p:strVal val="visible"/>
                                      </p:to>
                                    </p:set>
                                    <p:anim calcmode="lin" valueType="num">
                                      <p:cBhvr>
                                        <p:cTn id="7" dur="500" fill="hold"/>
                                        <p:tgtEl>
                                          <p:spTgt spid="71683">
                                            <p:txEl>
                                              <p:charRg st="0" end="3"/>
                                            </p:txEl>
                                          </p:spTgt>
                                        </p:tgtEl>
                                        <p:attrNameLst>
                                          <p:attrName>ppt_w</p:attrName>
                                        </p:attrNameLst>
                                      </p:cBhvr>
                                      <p:tavLst>
                                        <p:tav tm="0">
                                          <p:val>
                                            <p:fltVal val="0.000000"/>
                                          </p:val>
                                        </p:tav>
                                        <p:tav tm="100000">
                                          <p:val>
                                            <p:strVal val="#ppt_w"/>
                                          </p:val>
                                        </p:tav>
                                      </p:tavLst>
                                    </p:anim>
                                    <p:anim calcmode="lin" valueType="num">
                                      <p:cBhvr>
                                        <p:cTn id="8" dur="500" fill="hold"/>
                                        <p:tgtEl>
                                          <p:spTgt spid="71683">
                                            <p:txEl>
                                              <p:charRg st="0" end="3"/>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71683">
                                            <p:txEl>
                                              <p:charRg st="3" end="7"/>
                                            </p:txEl>
                                          </p:spTgt>
                                        </p:tgtEl>
                                        <p:attrNameLst>
                                          <p:attrName>style.visibility</p:attrName>
                                        </p:attrNameLst>
                                      </p:cBhvr>
                                      <p:to>
                                        <p:strVal val="visible"/>
                                      </p:to>
                                    </p:set>
                                    <p:anim calcmode="lin" valueType="num">
                                      <p:cBhvr>
                                        <p:cTn id="13" dur="500" fill="hold"/>
                                        <p:tgtEl>
                                          <p:spTgt spid="71683">
                                            <p:txEl>
                                              <p:charRg st="3" end="7"/>
                                            </p:txEl>
                                          </p:spTgt>
                                        </p:tgtEl>
                                        <p:attrNameLst>
                                          <p:attrName>ppt_w</p:attrName>
                                        </p:attrNameLst>
                                      </p:cBhvr>
                                      <p:tavLst>
                                        <p:tav tm="0">
                                          <p:val>
                                            <p:fltVal val="0.000000"/>
                                          </p:val>
                                        </p:tav>
                                        <p:tav tm="100000">
                                          <p:val>
                                            <p:strVal val="#ppt_w"/>
                                          </p:val>
                                        </p:tav>
                                      </p:tavLst>
                                    </p:anim>
                                    <p:anim calcmode="lin" valueType="num">
                                      <p:cBhvr>
                                        <p:cTn id="14" dur="500" fill="hold"/>
                                        <p:tgtEl>
                                          <p:spTgt spid="71683">
                                            <p:txEl>
                                              <p:charRg st="3" end="7"/>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9330" name="Picture 30"/>
          <p:cNvPicPr>
            <a:picLocks noChangeAspect="1"/>
          </p:cNvPicPr>
          <p:nvPr/>
        </p:nvPicPr>
        <p:blipFill>
          <a:blip r:embed="rId1"/>
          <a:stretch>
            <a:fillRect/>
          </a:stretch>
        </p:blipFill>
        <p:spPr>
          <a:xfrm>
            <a:off x="712788" y="2014538"/>
            <a:ext cx="6867525" cy="3943350"/>
          </a:xfrm>
          <a:prstGeom prst="rect">
            <a:avLst/>
          </a:prstGeom>
          <a:noFill/>
          <a:ln w="9525">
            <a:noFill/>
          </a:ln>
          <a:effectLst>
            <a:outerShdw dist="17961" dir="2699999" algn="ctr" rotWithShape="0">
              <a:srgbClr val="708688"/>
            </a:outerShdw>
          </a:effectLst>
        </p:spPr>
      </p:pic>
      <p:grpSp>
        <p:nvGrpSpPr>
          <p:cNvPr id="72707" name="组合 6"/>
          <p:cNvGrpSpPr/>
          <p:nvPr/>
        </p:nvGrpSpPr>
        <p:grpSpPr>
          <a:xfrm>
            <a:off x="1612900" y="1223963"/>
            <a:ext cx="7005638" cy="5130800"/>
            <a:chOff x="0" y="0"/>
            <a:chExt cx="7005484" cy="5359862"/>
          </a:xfrm>
        </p:grpSpPr>
        <p:pic>
          <p:nvPicPr>
            <p:cNvPr id="99335" name="Picture 2"/>
            <p:cNvPicPr>
              <a:picLocks noChangeAspect="1"/>
            </p:cNvPicPr>
            <p:nvPr/>
          </p:nvPicPr>
          <p:blipFill>
            <a:blip r:embed="rId2"/>
            <a:stretch>
              <a:fillRect/>
            </a:stretch>
          </p:blipFill>
          <p:spPr>
            <a:xfrm>
              <a:off x="0" y="406301"/>
              <a:ext cx="7005484" cy="4953561"/>
            </a:xfrm>
            <a:prstGeom prst="rect">
              <a:avLst/>
            </a:prstGeom>
            <a:noFill/>
            <a:ln w="9525">
              <a:noFill/>
            </a:ln>
            <a:effectLst>
              <a:outerShdw dist="17961" dir="2699999" algn="ctr" rotWithShape="0">
                <a:srgbClr val="708688"/>
              </a:outerShdw>
            </a:effectLst>
          </p:spPr>
        </p:pic>
        <p:sp>
          <p:nvSpPr>
            <p:cNvPr id="72709" name="Rectangle 3"/>
            <p:cNvSpPr txBox="1"/>
            <p:nvPr/>
          </p:nvSpPr>
          <p:spPr>
            <a:xfrm>
              <a:off x="3790867" y="0"/>
              <a:ext cx="3027296" cy="2766166"/>
            </a:xfrm>
            <a:prstGeom prst="rect">
              <a:avLst/>
            </a:prstGeom>
            <a:noFill/>
            <a:ln w="9525">
              <a:noFill/>
            </a:ln>
          </p:spPr>
          <p:txBody>
            <a:bodyPr/>
            <a:lstStyle/>
            <a:p>
              <a:pPr marL="742950" marR="0" lvl="1" indent="-285750" algn="l" defTabSz="914400" rtl="0" eaLnBrk="1" fontAlgn="base" latinLnBrk="0" hangingPunct="1">
                <a:lnSpc>
                  <a:spcPct val="130000"/>
                </a:lnSpc>
                <a:spcBef>
                  <a:spcPct val="15000"/>
                </a:spcBef>
                <a:spcAft>
                  <a:spcPct val="0"/>
                </a:spcAft>
                <a:buClr>
                  <a:srgbClr val="0033CC"/>
                </a:buClr>
                <a:buSzTx/>
                <a:buFont typeface="Wingdings" panose="05000000000000000000" pitchFamily="2" charset="2"/>
                <a:buChar char="Ø"/>
                <a:defRPr/>
              </a:pPr>
              <a:r>
                <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多值属性的转换</a:t>
              </a:r>
              <a:endPar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grpSp>
      <p:sp>
        <p:nvSpPr>
          <p:cNvPr id="72710" name="Rectangle 3"/>
          <p:cNvSpPr txBox="1"/>
          <p:nvPr/>
        </p:nvSpPr>
        <p:spPr>
          <a:xfrm>
            <a:off x="242888" y="1417638"/>
            <a:ext cx="4727575" cy="2765425"/>
          </a:xfrm>
          <a:prstGeom prst="rect">
            <a:avLst/>
          </a:prstGeom>
          <a:noFill/>
          <a:ln w="9525">
            <a:noFill/>
          </a:ln>
        </p:spPr>
        <p:txBody>
          <a:bodyPr/>
          <a:lstStyle/>
          <a:p>
            <a:pPr marL="742950" marR="0" lvl="1" indent="-285750" algn="l" defTabSz="914400" rtl="0" eaLnBrk="1" fontAlgn="base" latinLnBrk="0" hangingPunct="1">
              <a:lnSpc>
                <a:spcPct val="130000"/>
              </a:lnSpc>
              <a:spcBef>
                <a:spcPct val="15000"/>
              </a:spcBef>
              <a:spcAft>
                <a:spcPct val="0"/>
              </a:spcAft>
              <a:buClr>
                <a:srgbClr val="0033CC"/>
              </a:buClr>
              <a:buSzTx/>
              <a:buFont typeface="Wingdings" panose="05000000000000000000" pitchFamily="2" charset="2"/>
              <a:buChar char="Ø"/>
              <a:defRPr/>
            </a:pPr>
            <a:r>
              <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复合属性的转化规则</a:t>
            </a:r>
            <a:endParaRPr kumimoji="0" lang="zh-CN" altLang="en-US" sz="22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99333" name="矩形 8"/>
          <p:cNvSpPr/>
          <p:nvPr/>
        </p:nvSpPr>
        <p:spPr>
          <a:xfrm>
            <a:off x="538163" y="806450"/>
            <a:ext cx="74739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实体转换方法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99334"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ppt_x"/>
                                          </p:val>
                                        </p:tav>
                                        <p:tav tm="100000">
                                          <p:val>
                                            <p:strVal val="#ppt_x"/>
                                          </p:val>
                                        </p:tav>
                                      </p:tavLst>
                                    </p:anim>
                                    <p:anim calcmode="lin" valueType="num">
                                      <p:cBhvr additive="base">
                                        <p:cTn id="8" dur="500" fill="hold"/>
                                        <p:tgtEl>
                                          <p:spTgt spid="727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3731" name="Rectangle 3"/>
          <p:cNvSpPr txBox="1"/>
          <p:nvPr/>
        </p:nvSpPr>
        <p:spPr>
          <a:xfrm>
            <a:off x="549275" y="1509713"/>
            <a:ext cx="8353425" cy="2570163"/>
          </a:xfrm>
          <a:prstGeom prst="rect">
            <a:avLst/>
          </a:prstGeom>
          <a:noFill/>
          <a:ln w="9525">
            <a:noFill/>
          </a:ln>
        </p:spPr>
        <p:txBody>
          <a:bodyPr/>
          <a:lstStyle/>
          <a:p>
            <a:pPr marL="342900" marR="0" indent="-342900" defTabSz="914400" eaLnBrk="1" hangingPunct="1">
              <a:spcBef>
                <a:spcPct val="20000"/>
              </a:spcBef>
              <a:buClr>
                <a:srgbClr val="FF0000"/>
              </a:buClr>
              <a:buSzTx/>
              <a:buFont typeface="Wingdings" panose="05000000000000000000" pitchFamily="2" charset="2"/>
              <a:buChar char="p"/>
              <a:defRPr/>
            </a:pP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一个</a:t>
            </a:r>
            <a:r>
              <a:rPr kumimoji="0" lang="en-US" altLang="x-none"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m:n</a:t>
            </a: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联系转换为一个关系模式</a:t>
            </a:r>
            <a:endPar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25000"/>
              </a:lnSpc>
              <a:spcBef>
                <a:spcPts val="900"/>
              </a:spcBef>
              <a:spcAft>
                <a:spcPct val="0"/>
              </a:spcAft>
              <a:buClr>
                <a:schemeClr val="accent2"/>
              </a:buClr>
              <a:buSzTx/>
              <a:buFont typeface="Wingdings" panose="05000000000000000000" pitchFamily="2" charset="2"/>
              <a:buChar char="Ø"/>
              <a:defRPr/>
            </a:pP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关系的属性：与该联系相连的各实体的标识符以及联系本身的属性</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25000"/>
              </a:lnSpc>
              <a:spcBef>
                <a:spcPts val="600"/>
              </a:spcBef>
              <a:spcAft>
                <a:spcPct val="0"/>
              </a:spcAft>
              <a:buClr>
                <a:schemeClr val="accent2"/>
              </a:buClr>
              <a:buSzTx/>
              <a:buFont typeface="Wingdings" panose="05000000000000000000" pitchFamily="2" charset="2"/>
              <a:buChar char="Ø"/>
              <a:defRPr/>
            </a:pP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关系的主键：各实体标识符的组合</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25000"/>
              </a:lnSpc>
              <a:spcBef>
                <a:spcPts val="600"/>
              </a:spcBef>
              <a:buClr>
                <a:srgbClr val="0033CC"/>
              </a:buClr>
              <a:buSzPct val="80000"/>
              <a:buFont typeface="Wingdings" panose="05000000000000000000" pitchFamily="2" charset="2"/>
              <a:buNone/>
              <a:defRPr/>
            </a:pP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例，“选修”联系是一个</a:t>
            </a: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m:n</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联系，可以将它转换为如下关系模式，其中学号与课程号为关系的组合码：选修（</a:t>
            </a:r>
            <a:r>
              <a:rPr kumimoji="0" lang="zh-CN" altLang="en-US" sz="2000" u="sng"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学号</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a:t>
            </a:r>
            <a:r>
              <a:rPr kumimoji="0" lang="zh-CN" altLang="en-US" sz="2000" u="sng"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课程号</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，成绩）</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grpSp>
        <p:nvGrpSpPr>
          <p:cNvPr id="100356" name="Group 5"/>
          <p:cNvGrpSpPr/>
          <p:nvPr/>
        </p:nvGrpSpPr>
        <p:grpSpPr>
          <a:xfrm>
            <a:off x="681038" y="3778250"/>
            <a:ext cx="4191000" cy="2073275"/>
            <a:chOff x="0" y="0"/>
            <a:chExt cx="2640" cy="1306"/>
          </a:xfrm>
        </p:grpSpPr>
        <p:grpSp>
          <p:nvGrpSpPr>
            <p:cNvPr id="100359" name="Group 6"/>
            <p:cNvGrpSpPr/>
            <p:nvPr/>
          </p:nvGrpSpPr>
          <p:grpSpPr>
            <a:xfrm>
              <a:off x="0" y="288"/>
              <a:ext cx="2640" cy="1019"/>
              <a:chOff x="0" y="0"/>
              <a:chExt cx="4764" cy="1704"/>
            </a:xfrm>
          </p:grpSpPr>
          <p:sp>
            <p:nvSpPr>
              <p:cNvPr id="100361" name="Text Box 5"/>
              <p:cNvSpPr txBox="1"/>
              <p:nvPr/>
            </p:nvSpPr>
            <p:spPr>
              <a:xfrm>
                <a:off x="1104" y="4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sp>
            <p:nvSpPr>
              <p:cNvPr id="100362" name="Oval 6"/>
              <p:cNvSpPr/>
              <p:nvPr/>
            </p:nvSpPr>
            <p:spPr>
              <a:xfrm>
                <a:off x="36"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k</a:t>
                </a:r>
                <a:endParaRPr lang="en-US" altLang="zh-CN" dirty="0">
                  <a:latin typeface="Times New Roman" panose="02020603050405020304" pitchFamily="18" charset="0"/>
                </a:endParaRPr>
              </a:p>
            </p:txBody>
          </p:sp>
          <p:sp>
            <p:nvSpPr>
              <p:cNvPr id="100363" name="AutoShape 7"/>
              <p:cNvSpPr/>
              <p:nvPr/>
            </p:nvSpPr>
            <p:spPr>
              <a:xfrm>
                <a:off x="2052" y="4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spcBef>
                    <a:spcPct val="0"/>
                  </a:spcBef>
                  <a:buClrTx/>
                  <a:buSzTx/>
                  <a:buNone/>
                </a:pP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sp>
            <p:nvSpPr>
              <p:cNvPr id="100364" name="Rectangle 8"/>
              <p:cNvSpPr/>
              <p:nvPr/>
            </p:nvSpPr>
            <p:spPr>
              <a:xfrm>
                <a:off x="1728" y="3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25000"/>
                  </a:lnSpc>
                  <a:spcBef>
                    <a:spcPct val="0"/>
                  </a:spcBef>
                  <a:buClrTx/>
                  <a:buSzTx/>
                  <a:buNone/>
                </a:pPr>
                <a:r>
                  <a:rPr lang="en-US" altLang="zh-CN" dirty="0">
                    <a:latin typeface="Times New Roman" panose="02020603050405020304" pitchFamily="18" charset="0"/>
                  </a:rPr>
                  <a:t>M</a:t>
                </a:r>
                <a:endParaRPr lang="en-US" altLang="zh-CN" dirty="0">
                  <a:latin typeface="Times New Roman" panose="02020603050405020304" pitchFamily="18" charset="0"/>
                </a:endParaRPr>
              </a:p>
            </p:txBody>
          </p:sp>
          <p:sp>
            <p:nvSpPr>
              <p:cNvPr id="100365" name="Oval 9"/>
              <p:cNvSpPr/>
              <p:nvPr/>
            </p:nvSpPr>
            <p:spPr>
              <a:xfrm>
                <a:off x="0" y="7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100366" name="Line 10"/>
              <p:cNvSpPr/>
              <p:nvPr/>
            </p:nvSpPr>
            <p:spPr>
              <a:xfrm>
                <a:off x="732" y="216"/>
                <a:ext cx="372" cy="360"/>
              </a:xfrm>
              <a:prstGeom prst="line">
                <a:avLst/>
              </a:prstGeom>
              <a:ln w="9525" cap="flat" cmpd="sng">
                <a:solidFill>
                  <a:srgbClr val="000000"/>
                </a:solidFill>
                <a:prstDash val="solid"/>
                <a:headEnd type="none" w="med" len="med"/>
                <a:tailEnd type="none" w="med" len="med"/>
              </a:ln>
            </p:spPr>
          </p:sp>
          <p:sp>
            <p:nvSpPr>
              <p:cNvPr id="100367" name="Oval 11"/>
              <p:cNvSpPr/>
              <p:nvPr/>
            </p:nvSpPr>
            <p:spPr>
              <a:xfrm>
                <a:off x="4056" y="24"/>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sp>
            <p:nvSpPr>
              <p:cNvPr id="100368" name="Text Box 12"/>
              <p:cNvSpPr txBox="1"/>
              <p:nvPr/>
            </p:nvSpPr>
            <p:spPr>
              <a:xfrm>
                <a:off x="3192" y="480"/>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sp>
            <p:nvSpPr>
              <p:cNvPr id="100369" name="Line 13"/>
              <p:cNvSpPr/>
              <p:nvPr/>
            </p:nvSpPr>
            <p:spPr>
              <a:xfrm flipV="1">
                <a:off x="696" y="732"/>
                <a:ext cx="408" cy="240"/>
              </a:xfrm>
              <a:prstGeom prst="line">
                <a:avLst/>
              </a:prstGeom>
              <a:ln w="9525" cap="flat" cmpd="sng">
                <a:solidFill>
                  <a:srgbClr val="000000"/>
                </a:solidFill>
                <a:prstDash val="solid"/>
                <a:headEnd type="none" w="med" len="med"/>
                <a:tailEnd type="none" w="med" len="med"/>
              </a:ln>
            </p:spPr>
          </p:sp>
          <p:sp>
            <p:nvSpPr>
              <p:cNvPr id="100370" name="Line 14"/>
              <p:cNvSpPr/>
              <p:nvPr/>
            </p:nvSpPr>
            <p:spPr>
              <a:xfrm>
                <a:off x="1644" y="684"/>
                <a:ext cx="420" cy="0"/>
              </a:xfrm>
              <a:prstGeom prst="line">
                <a:avLst/>
              </a:prstGeom>
              <a:ln w="9525" cap="flat" cmpd="sng">
                <a:solidFill>
                  <a:srgbClr val="000000"/>
                </a:solidFill>
                <a:prstDash val="solid"/>
                <a:headEnd type="none" w="med" len="med"/>
                <a:tailEnd type="none" w="med" len="med"/>
              </a:ln>
            </p:spPr>
          </p:sp>
          <p:sp>
            <p:nvSpPr>
              <p:cNvPr id="100371" name="Line 15"/>
              <p:cNvSpPr/>
              <p:nvPr/>
            </p:nvSpPr>
            <p:spPr>
              <a:xfrm>
                <a:off x="2784" y="684"/>
                <a:ext cx="420" cy="0"/>
              </a:xfrm>
              <a:prstGeom prst="line">
                <a:avLst/>
              </a:prstGeom>
              <a:ln w="9525" cap="flat" cmpd="sng">
                <a:solidFill>
                  <a:srgbClr val="000000"/>
                </a:solidFill>
                <a:prstDash val="solid"/>
                <a:headEnd type="none" w="med" len="med"/>
                <a:tailEnd type="none" w="med" len="med"/>
              </a:ln>
            </p:spPr>
          </p:sp>
          <p:sp>
            <p:nvSpPr>
              <p:cNvPr id="100372" name="Oval 16"/>
              <p:cNvSpPr/>
              <p:nvPr/>
            </p:nvSpPr>
            <p:spPr>
              <a:xfrm>
                <a:off x="4032" y="756"/>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100373" name="Oval 17"/>
              <p:cNvSpPr/>
              <p:nvPr/>
            </p:nvSpPr>
            <p:spPr>
              <a:xfrm>
                <a:off x="2064" y="127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sp>
            <p:nvSpPr>
              <p:cNvPr id="100374" name="Rectangle 18"/>
              <p:cNvSpPr/>
              <p:nvPr/>
            </p:nvSpPr>
            <p:spPr>
              <a:xfrm>
                <a:off x="2808" y="348"/>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25000"/>
                  </a:lnSpc>
                  <a:spcBef>
                    <a:spcPct val="0"/>
                  </a:spcBef>
                  <a:buClrTx/>
                  <a:buSzTx/>
                  <a:buNone/>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sp>
            <p:nvSpPr>
              <p:cNvPr id="100375" name="Line 19"/>
              <p:cNvSpPr/>
              <p:nvPr/>
            </p:nvSpPr>
            <p:spPr>
              <a:xfrm flipV="1">
                <a:off x="3708" y="276"/>
                <a:ext cx="372" cy="300"/>
              </a:xfrm>
              <a:prstGeom prst="line">
                <a:avLst/>
              </a:prstGeom>
              <a:ln w="9525" cap="flat" cmpd="sng">
                <a:solidFill>
                  <a:srgbClr val="000000"/>
                </a:solidFill>
                <a:prstDash val="solid"/>
                <a:headEnd type="none" w="med" len="med"/>
                <a:tailEnd type="none" w="med" len="med"/>
              </a:ln>
            </p:spPr>
          </p:sp>
          <p:sp>
            <p:nvSpPr>
              <p:cNvPr id="100376" name="Line 20"/>
              <p:cNvSpPr/>
              <p:nvPr/>
            </p:nvSpPr>
            <p:spPr>
              <a:xfrm>
                <a:off x="3708" y="744"/>
                <a:ext cx="372" cy="108"/>
              </a:xfrm>
              <a:prstGeom prst="line">
                <a:avLst/>
              </a:prstGeom>
              <a:ln w="9525" cap="flat" cmpd="sng">
                <a:solidFill>
                  <a:srgbClr val="000000"/>
                </a:solidFill>
                <a:prstDash val="solid"/>
                <a:headEnd type="none" w="med" len="med"/>
                <a:tailEnd type="none" w="med" len="med"/>
              </a:ln>
            </p:spPr>
          </p:sp>
          <p:sp>
            <p:nvSpPr>
              <p:cNvPr id="100377" name="Line 21"/>
              <p:cNvSpPr/>
              <p:nvPr/>
            </p:nvSpPr>
            <p:spPr>
              <a:xfrm>
                <a:off x="2400" y="936"/>
                <a:ext cx="0" cy="348"/>
              </a:xfrm>
              <a:prstGeom prst="line">
                <a:avLst/>
              </a:prstGeom>
              <a:ln w="9525" cap="flat" cmpd="sng">
                <a:solidFill>
                  <a:srgbClr val="000000"/>
                </a:solidFill>
                <a:prstDash val="solid"/>
                <a:headEnd type="none" w="med" len="med"/>
                <a:tailEnd type="none" w="med" len="med"/>
              </a:ln>
            </p:spPr>
          </p:sp>
          <p:sp>
            <p:nvSpPr>
              <p:cNvPr id="100378" name="Line 22"/>
              <p:cNvSpPr/>
              <p:nvPr/>
            </p:nvSpPr>
            <p:spPr>
              <a:xfrm flipH="1">
                <a:off x="744" y="216"/>
                <a:ext cx="180" cy="240"/>
              </a:xfrm>
              <a:prstGeom prst="line">
                <a:avLst/>
              </a:prstGeom>
              <a:ln w="9525" cap="flat" cmpd="sng">
                <a:solidFill>
                  <a:srgbClr val="000000"/>
                </a:solidFill>
                <a:prstDash val="solid"/>
                <a:headEnd type="none" w="med" len="med"/>
                <a:tailEnd type="none" w="med" len="med"/>
              </a:ln>
            </p:spPr>
          </p:sp>
          <p:sp>
            <p:nvSpPr>
              <p:cNvPr id="100379" name="Line 23"/>
              <p:cNvSpPr/>
              <p:nvPr/>
            </p:nvSpPr>
            <p:spPr>
              <a:xfrm>
                <a:off x="3840" y="288"/>
                <a:ext cx="168" cy="204"/>
              </a:xfrm>
              <a:prstGeom prst="line">
                <a:avLst/>
              </a:prstGeom>
              <a:ln w="9525" cap="flat" cmpd="sng">
                <a:solidFill>
                  <a:srgbClr val="000000"/>
                </a:solidFill>
                <a:prstDash val="solid"/>
                <a:headEnd type="none" w="med" len="med"/>
                <a:tailEnd type="none" w="med" len="med"/>
              </a:ln>
            </p:spPr>
          </p:sp>
        </p:grpSp>
        <p:sp>
          <p:nvSpPr>
            <p:cNvPr id="100360" name="Rectangle 24"/>
            <p:cNvSpPr/>
            <p:nvPr/>
          </p:nvSpPr>
          <p:spPr>
            <a:xfrm>
              <a:off x="720" y="0"/>
              <a:ext cx="1152" cy="31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Wingdings" panose="05000000000000000000" pitchFamily="2" charset="2"/>
                <a:buChar char="•"/>
              </a:pPr>
              <a:endParaRPr lang="zh-CN" altLang="en-US" dirty="0">
                <a:latin typeface="Times New Roman" panose="02020603050405020304" pitchFamily="18" charset="0"/>
              </a:endParaRPr>
            </a:p>
          </p:txBody>
        </p:sp>
      </p:grpSp>
      <p:sp>
        <p:nvSpPr>
          <p:cNvPr id="100357" name="Rectangle 26"/>
          <p:cNvSpPr/>
          <p:nvPr/>
        </p:nvSpPr>
        <p:spPr>
          <a:xfrm>
            <a:off x="5027613" y="3986213"/>
            <a:ext cx="3506787" cy="2095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0000"/>
              </a:lnSpc>
              <a:spcBef>
                <a:spcPct val="0"/>
              </a:spcBef>
              <a:buClrTx/>
              <a:buSzTx/>
              <a:buNone/>
            </a:pPr>
            <a:r>
              <a:rPr lang="zh-CN" altLang="en-US" dirty="0">
                <a:latin typeface="Times New Roman" panose="02020603050405020304" pitchFamily="18" charset="0"/>
              </a:rPr>
              <a:t>变换关系模式为：</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1</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2</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3</a:t>
            </a:r>
            <a:r>
              <a:rPr lang="zh-CN" altLang="en-US" dirty="0">
                <a:latin typeface="Times New Roman" panose="02020603050405020304" pitchFamily="18" charset="0"/>
              </a:rPr>
              <a:t>（ </a:t>
            </a:r>
            <a:r>
              <a:rPr lang="en-US" altLang="zh-CN" u="sng" dirty="0">
                <a:latin typeface="Times New Roman" panose="02020603050405020304" pitchFamily="18" charset="0"/>
              </a:rPr>
              <a:t>h</a:t>
            </a:r>
            <a:r>
              <a:rPr lang="en-US" altLang="zh-CN" dirty="0">
                <a:latin typeface="Times New Roman" panose="02020603050405020304" pitchFamily="18" charset="0"/>
              </a:rPr>
              <a:t> </a:t>
            </a:r>
            <a:r>
              <a:rPr lang="zh-CN" altLang="en-US" dirty="0">
                <a:latin typeface="Times New Roman" panose="02020603050405020304" pitchFamily="18" charset="0"/>
              </a:rPr>
              <a:t>， </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s</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0" lvl="0" indent="0" algn="just" eaLnBrk="1" hangingPunct="1">
              <a:lnSpc>
                <a:spcPct val="110000"/>
              </a:lnSpc>
              <a:spcBef>
                <a:spcPct val="0"/>
              </a:spcBef>
              <a:buClrTx/>
              <a:buSzTx/>
              <a:buNone/>
            </a:pPr>
            <a:r>
              <a:rPr lang="zh-CN" altLang="en-US" dirty="0">
                <a:latin typeface="Times New Roman" panose="02020603050405020304" pitchFamily="18" charset="0"/>
              </a:rPr>
              <a:t>（</a:t>
            </a:r>
            <a:r>
              <a:rPr lang="en-US" altLang="zh-CN" dirty="0">
                <a:latin typeface="Times New Roman" panose="02020603050405020304" pitchFamily="18" charset="0"/>
              </a:rPr>
              <a:t>k,h</a:t>
            </a:r>
            <a:r>
              <a:rPr lang="zh-CN" altLang="en-US" dirty="0">
                <a:latin typeface="Times New Roman" panose="02020603050405020304" pitchFamily="18" charset="0"/>
              </a:rPr>
              <a:t>组成复合主键，</a:t>
            </a:r>
            <a:r>
              <a:rPr lang="en-US" altLang="zh-CN"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h</a:t>
            </a:r>
            <a:r>
              <a:rPr lang="zh-CN" altLang="en-US" dirty="0">
                <a:latin typeface="Times New Roman" panose="02020603050405020304" pitchFamily="18" charset="0"/>
              </a:rPr>
              <a:t>分别为外键）</a:t>
            </a:r>
            <a:endParaRPr lang="zh-CN" altLang="en-US" dirty="0">
              <a:latin typeface="Times New Roman" panose="02020603050405020304" pitchFamily="18" charset="0"/>
            </a:endParaRPr>
          </a:p>
        </p:txBody>
      </p:sp>
      <p:sp>
        <p:nvSpPr>
          <p:cNvPr id="100358"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1378" name="Group 6"/>
          <p:cNvGrpSpPr/>
          <p:nvPr/>
        </p:nvGrpSpPr>
        <p:grpSpPr>
          <a:xfrm>
            <a:off x="5322888" y="1946275"/>
            <a:ext cx="3184525" cy="4200525"/>
            <a:chOff x="0" y="0"/>
            <a:chExt cx="2236" cy="2858"/>
          </a:xfrm>
        </p:grpSpPr>
        <p:sp>
          <p:nvSpPr>
            <p:cNvPr id="101421" name="Rectangle 5"/>
            <p:cNvSpPr/>
            <p:nvPr/>
          </p:nvSpPr>
          <p:spPr>
            <a:xfrm>
              <a:off x="635" y="580"/>
              <a:ext cx="816"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学生    </a:t>
              </a:r>
              <a:endParaRPr lang="zh-CN" altLang="en-US" sz="1800" dirty="0"/>
            </a:p>
          </p:txBody>
        </p:sp>
        <p:sp>
          <p:nvSpPr>
            <p:cNvPr id="101422" name="AutoShape 6"/>
            <p:cNvSpPr/>
            <p:nvPr/>
          </p:nvSpPr>
          <p:spPr>
            <a:xfrm>
              <a:off x="0" y="26"/>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学号 </a:t>
              </a:r>
              <a:endParaRPr lang="zh-CN" altLang="en-US" sz="1800" dirty="0"/>
            </a:p>
          </p:txBody>
        </p:sp>
        <p:sp>
          <p:nvSpPr>
            <p:cNvPr id="101423" name="AutoShape 7"/>
            <p:cNvSpPr/>
            <p:nvPr/>
          </p:nvSpPr>
          <p:spPr>
            <a:xfrm>
              <a:off x="764" y="8"/>
              <a:ext cx="531" cy="348"/>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姓名 </a:t>
              </a:r>
              <a:endParaRPr lang="zh-CN" altLang="en-US" sz="1800" dirty="0"/>
            </a:p>
          </p:txBody>
        </p:sp>
        <p:sp>
          <p:nvSpPr>
            <p:cNvPr id="101424" name="AutoShape 8"/>
            <p:cNvSpPr/>
            <p:nvPr/>
          </p:nvSpPr>
          <p:spPr>
            <a:xfrm>
              <a:off x="1445" y="0"/>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性别 </a:t>
              </a:r>
              <a:endParaRPr lang="zh-CN" altLang="en-US" sz="1800" dirty="0"/>
            </a:p>
          </p:txBody>
        </p:sp>
        <p:sp>
          <p:nvSpPr>
            <p:cNvPr id="101425" name="AutoShape 9"/>
            <p:cNvSpPr/>
            <p:nvPr/>
          </p:nvSpPr>
          <p:spPr>
            <a:xfrm>
              <a:off x="580" y="1102"/>
              <a:ext cx="871" cy="574"/>
            </a:xfrm>
            <a:prstGeom prst="diamond">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选课 </a:t>
              </a:r>
              <a:endParaRPr lang="zh-CN" altLang="en-US" sz="1800" dirty="0"/>
            </a:p>
          </p:txBody>
        </p:sp>
        <p:sp>
          <p:nvSpPr>
            <p:cNvPr id="101426" name="AutoShape 10"/>
            <p:cNvSpPr/>
            <p:nvPr/>
          </p:nvSpPr>
          <p:spPr>
            <a:xfrm>
              <a:off x="1704" y="1237"/>
              <a:ext cx="532"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成绩 </a:t>
              </a:r>
              <a:endParaRPr lang="zh-CN" altLang="en-US" sz="1800" dirty="0"/>
            </a:p>
          </p:txBody>
        </p:sp>
        <p:sp>
          <p:nvSpPr>
            <p:cNvPr id="101427" name="Rectangle 11"/>
            <p:cNvSpPr/>
            <p:nvPr/>
          </p:nvSpPr>
          <p:spPr>
            <a:xfrm>
              <a:off x="635" y="1920"/>
              <a:ext cx="861" cy="322"/>
            </a:xfrm>
            <a:prstGeom prst="rect">
              <a:avLst/>
            </a:prstGeom>
            <a:noFill/>
            <a:ln w="9525" cap="flat" cmpd="sng">
              <a:solidFill>
                <a:srgbClr val="000000"/>
              </a:solidFill>
              <a:prstDash val="solid"/>
              <a:miter/>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     课程    </a:t>
              </a:r>
              <a:endParaRPr lang="zh-CN" altLang="en-US" sz="1800" dirty="0"/>
            </a:p>
          </p:txBody>
        </p:sp>
        <p:sp>
          <p:nvSpPr>
            <p:cNvPr id="101428" name="AutoShape 12"/>
            <p:cNvSpPr/>
            <p:nvPr/>
          </p:nvSpPr>
          <p:spPr>
            <a:xfrm>
              <a:off x="76" y="2509"/>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课程号 </a:t>
              </a:r>
              <a:endParaRPr lang="zh-CN" altLang="en-US" sz="1800" dirty="0"/>
            </a:p>
          </p:txBody>
        </p:sp>
        <p:sp>
          <p:nvSpPr>
            <p:cNvPr id="101429" name="AutoShape 13"/>
            <p:cNvSpPr/>
            <p:nvPr/>
          </p:nvSpPr>
          <p:spPr>
            <a:xfrm>
              <a:off x="767" y="2491"/>
              <a:ext cx="693"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课程名 </a:t>
              </a:r>
              <a:endParaRPr lang="zh-CN" altLang="en-US" sz="1800" dirty="0"/>
            </a:p>
          </p:txBody>
        </p:sp>
        <p:sp>
          <p:nvSpPr>
            <p:cNvPr id="101430" name="AutoShape 14"/>
            <p:cNvSpPr/>
            <p:nvPr/>
          </p:nvSpPr>
          <p:spPr>
            <a:xfrm>
              <a:off x="1522" y="2483"/>
              <a:ext cx="531" cy="349"/>
            </a:xfrm>
            <a:prstGeom prst="roundRect">
              <a:avLst>
                <a:gd name="adj" fmla="val 16667"/>
              </a:avLst>
            </a:prstGeom>
            <a:noFill/>
            <a:ln w="9525" cap="flat" cmpd="sng">
              <a:solidFill>
                <a:srgbClr val="000000"/>
              </a:solidFill>
              <a:prstDash val="solid"/>
              <a:headEnd type="none" w="med" len="med"/>
              <a:tailEnd type="none" w="med" len="med"/>
            </a:ln>
            <a:effectLst>
              <a:prstShdw prst="shdw17" dist="17961" dir="2699999">
                <a:srgbClr val="000000"/>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zh-CN" altLang="en-US" sz="1800" dirty="0"/>
                <a:t>学分 </a:t>
              </a:r>
              <a:endParaRPr lang="zh-CN" altLang="en-US" sz="1800" dirty="0"/>
            </a:p>
          </p:txBody>
        </p:sp>
        <p:sp>
          <p:nvSpPr>
            <p:cNvPr id="101431" name="Line 15"/>
            <p:cNvSpPr/>
            <p:nvPr/>
          </p:nvSpPr>
          <p:spPr>
            <a:xfrm>
              <a:off x="322" y="361"/>
              <a:ext cx="484" cy="226"/>
            </a:xfrm>
            <a:prstGeom prst="line">
              <a:avLst/>
            </a:prstGeom>
            <a:ln w="9525" cap="flat" cmpd="sng">
              <a:solidFill>
                <a:schemeClr val="tx1"/>
              </a:solidFill>
              <a:prstDash val="solid"/>
              <a:headEnd type="none" w="med" len="med"/>
              <a:tailEnd type="none" w="med" len="med"/>
            </a:ln>
            <a:effectLst>
              <a:prstShdw prst="shdw17" dist="17961" dir="2699999">
                <a:srgbClr val="000000"/>
              </a:prstShdw>
            </a:effectLst>
          </p:spPr>
        </p:sp>
        <p:sp>
          <p:nvSpPr>
            <p:cNvPr id="101432" name="Line 16"/>
            <p:cNvSpPr/>
            <p:nvPr/>
          </p:nvSpPr>
          <p:spPr>
            <a:xfrm flipH="1">
              <a:off x="1022" y="350"/>
              <a:ext cx="10" cy="25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3" name="Line 17"/>
            <p:cNvSpPr/>
            <p:nvPr/>
          </p:nvSpPr>
          <p:spPr>
            <a:xfrm flipH="1">
              <a:off x="1158" y="343"/>
              <a:ext cx="370" cy="225"/>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4" name="Line 18"/>
            <p:cNvSpPr/>
            <p:nvPr/>
          </p:nvSpPr>
          <p:spPr>
            <a:xfrm flipH="1">
              <a:off x="1003" y="877"/>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5" name="Rectangle 19"/>
            <p:cNvSpPr/>
            <p:nvPr/>
          </p:nvSpPr>
          <p:spPr>
            <a:xfrm>
              <a:off x="1034" y="876"/>
              <a:ext cx="272" cy="315"/>
            </a:xfrm>
            <a:prstGeom prst="rect">
              <a:avLst/>
            </a:prstGeom>
            <a:noFill/>
            <a:ln w="9525">
              <a:noFill/>
            </a:ln>
            <a:effectLst>
              <a:prstShdw prst="shdw17" dist="17961" dir="2699999">
                <a:srgbClr val="708688"/>
              </a:prst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m</a:t>
              </a:r>
              <a:endParaRPr lang="en-US" altLang="zh-CN" sz="1800" dirty="0"/>
            </a:p>
          </p:txBody>
        </p:sp>
        <p:sp>
          <p:nvSpPr>
            <p:cNvPr id="101436" name="Rectangle 20"/>
            <p:cNvSpPr/>
            <p:nvPr/>
          </p:nvSpPr>
          <p:spPr>
            <a:xfrm>
              <a:off x="1079" y="1609"/>
              <a:ext cx="246" cy="316"/>
            </a:xfrm>
            <a:prstGeom prst="rect">
              <a:avLst/>
            </a:prstGeom>
            <a:noFill/>
            <a:ln w="9525">
              <a:noFill/>
            </a:ln>
            <a:effectLst>
              <a:prstShdw prst="shdw17" dist="17961" dir="2699999">
                <a:srgbClr val="708688"/>
              </a:prstShdw>
            </a:effectLst>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262255" lvl="0" indent="-262255" algn="ctr" eaLnBrk="1" hangingPunct="1">
                <a:lnSpc>
                  <a:spcPct val="135000"/>
                </a:lnSpc>
                <a:spcBef>
                  <a:spcPct val="0"/>
                </a:spcBef>
                <a:buClrTx/>
                <a:buSzTx/>
                <a:buNone/>
              </a:pPr>
              <a:r>
                <a:rPr lang="en-US" altLang="zh-CN" sz="1800" dirty="0"/>
                <a:t>n</a:t>
              </a:r>
              <a:endParaRPr lang="en-US" altLang="zh-CN" sz="1800" dirty="0"/>
            </a:p>
          </p:txBody>
        </p:sp>
        <p:sp>
          <p:nvSpPr>
            <p:cNvPr id="101437" name="Line 21"/>
            <p:cNvSpPr/>
            <p:nvPr/>
          </p:nvSpPr>
          <p:spPr>
            <a:xfrm flipH="1">
              <a:off x="995" y="1661"/>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8" name="Line 22"/>
            <p:cNvSpPr/>
            <p:nvPr/>
          </p:nvSpPr>
          <p:spPr>
            <a:xfrm flipH="1">
              <a:off x="1018" y="2229"/>
              <a:ext cx="10" cy="267"/>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39" name="Line 23"/>
            <p:cNvSpPr/>
            <p:nvPr/>
          </p:nvSpPr>
          <p:spPr>
            <a:xfrm flipH="1">
              <a:off x="487" y="2222"/>
              <a:ext cx="339" cy="278"/>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sp>
          <p:nvSpPr>
            <p:cNvPr id="101440" name="Line 24"/>
            <p:cNvSpPr/>
            <p:nvPr/>
          </p:nvSpPr>
          <p:spPr>
            <a:xfrm>
              <a:off x="1238" y="2233"/>
              <a:ext cx="443" cy="226"/>
            </a:xfrm>
            <a:prstGeom prst="line">
              <a:avLst/>
            </a:prstGeom>
            <a:ln w="9525" cap="flat" cmpd="sng">
              <a:solidFill>
                <a:srgbClr val="000000"/>
              </a:solidFill>
              <a:prstDash val="solid"/>
              <a:headEnd type="none" w="med" len="med"/>
              <a:tailEnd type="none" w="med" len="med"/>
            </a:ln>
            <a:effectLst>
              <a:prstShdw prst="shdw17" dist="17961" dir="2699999">
                <a:srgbClr val="000000"/>
              </a:prstShdw>
            </a:effectLst>
          </p:spPr>
        </p:sp>
      </p:grpSp>
      <p:sp>
        <p:nvSpPr>
          <p:cNvPr id="101379" name="Rectangle 27"/>
          <p:cNvSpPr/>
          <p:nvPr/>
        </p:nvSpPr>
        <p:spPr>
          <a:xfrm>
            <a:off x="749300" y="2143125"/>
            <a:ext cx="3346450"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Student</a:t>
            </a:r>
            <a:r>
              <a:rPr lang="en-US" altLang="zh-CN" dirty="0"/>
              <a:t>(</a:t>
            </a:r>
            <a:r>
              <a:rPr lang="en-US" altLang="zh-CN" u="sng" dirty="0">
                <a:solidFill>
                  <a:srgbClr val="0033CC"/>
                </a:solidFill>
              </a:rPr>
              <a:t>Sno</a:t>
            </a:r>
            <a:r>
              <a:rPr lang="en-US" altLang="zh-CN" dirty="0"/>
              <a:t>,Sname,Ssex)</a:t>
            </a:r>
            <a:endParaRPr lang="zh-CN" altLang="en-US" dirty="0"/>
          </a:p>
        </p:txBody>
      </p:sp>
      <p:sp>
        <p:nvSpPr>
          <p:cNvPr id="101380" name="Rectangle 28"/>
          <p:cNvSpPr/>
          <p:nvPr/>
        </p:nvSpPr>
        <p:spPr>
          <a:xfrm>
            <a:off x="750888" y="4937125"/>
            <a:ext cx="3608387" cy="503238"/>
          </a:xfrm>
          <a:prstGeom prst="rect">
            <a:avLst/>
          </a:prstGeom>
          <a:noFill/>
          <a:ln w="9525">
            <a:noFill/>
          </a:ln>
          <a:effectLst>
            <a:outerShdw dist="17961" dir="2699999" algn="ctr" rotWithShape="0">
              <a:srgbClr val="708688"/>
            </a:outerShdw>
          </a:effectLst>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u="sng" dirty="0">
                <a:solidFill>
                  <a:srgbClr val="0033CC"/>
                </a:solidFill>
              </a:rPr>
              <a:t>course</a:t>
            </a:r>
            <a:r>
              <a:rPr lang="en-US" altLang="zh-CN" dirty="0"/>
              <a:t> (</a:t>
            </a:r>
            <a:r>
              <a:rPr lang="en-US" altLang="zh-CN" u="sng" dirty="0">
                <a:solidFill>
                  <a:srgbClr val="0033CC"/>
                </a:solidFill>
              </a:rPr>
              <a:t>Cno</a:t>
            </a:r>
            <a:r>
              <a:rPr lang="en-US" altLang="zh-CN" dirty="0"/>
              <a:t>,Cname,C</a:t>
            </a:r>
            <a:r>
              <a:rPr lang="en-US" altLang="zh-CN" sz="1800" dirty="0"/>
              <a:t>credit </a:t>
            </a:r>
            <a:r>
              <a:rPr lang="en-US" altLang="zh-CN" dirty="0"/>
              <a:t>)</a:t>
            </a:r>
            <a:endParaRPr lang="zh-CN" altLang="en-US" dirty="0"/>
          </a:p>
        </p:txBody>
      </p:sp>
      <p:sp>
        <p:nvSpPr>
          <p:cNvPr id="101381" name="Line 29"/>
          <p:cNvSpPr/>
          <p:nvPr/>
        </p:nvSpPr>
        <p:spPr>
          <a:xfrm flipV="1">
            <a:off x="7412038" y="4154488"/>
            <a:ext cx="355600" cy="20637"/>
          </a:xfrm>
          <a:prstGeom prst="line">
            <a:avLst/>
          </a:prstGeom>
          <a:ln w="9525" cap="flat" cmpd="sng">
            <a:solidFill>
              <a:schemeClr val="tx1"/>
            </a:solidFill>
            <a:prstDash val="solid"/>
            <a:headEnd type="none" w="med" len="med"/>
            <a:tailEnd type="none" w="med" len="med"/>
          </a:ln>
          <a:effectLst>
            <a:outerShdw dist="17961" dir="2699999" algn="ctr" rotWithShape="0">
              <a:srgbClr val="000000"/>
            </a:outerShdw>
          </a:effectLst>
        </p:spPr>
      </p:sp>
      <p:cxnSp>
        <p:nvCxnSpPr>
          <p:cNvPr id="101382" name="直接连接符 27"/>
          <p:cNvCxnSpPr/>
          <p:nvPr/>
        </p:nvCxnSpPr>
        <p:spPr>
          <a:xfrm rot="5400000">
            <a:off x="5967413" y="2570163"/>
            <a:ext cx="295275" cy="193675"/>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cxnSp>
        <p:nvCxnSpPr>
          <p:cNvPr id="101383" name="直接连接符 28"/>
          <p:cNvCxnSpPr/>
          <p:nvPr/>
        </p:nvCxnSpPr>
        <p:spPr>
          <a:xfrm>
            <a:off x="5989638" y="5322888"/>
            <a:ext cx="330200" cy="211137"/>
          </a:xfrm>
          <a:prstGeom prst="line">
            <a:avLst/>
          </a:prstGeom>
          <a:ln w="9525" cap="flat" cmpd="sng">
            <a:solidFill>
              <a:schemeClr val="accent1"/>
            </a:solidFill>
            <a:prstDash val="solid"/>
            <a:headEnd type="none" w="med" len="med"/>
            <a:tailEnd type="none" w="med" len="med"/>
          </a:ln>
          <a:effectLst>
            <a:outerShdw dist="17961" dir="2699999" algn="ctr" rotWithShape="0">
              <a:srgbClr val="708688"/>
            </a:outerShdw>
          </a:effectLst>
        </p:spPr>
      </p:cxnSp>
      <p:sp>
        <p:nvSpPr>
          <p:cNvPr id="101384" name="Rectangle 30"/>
          <p:cNvSpPr/>
          <p:nvPr/>
        </p:nvSpPr>
        <p:spPr>
          <a:xfrm>
            <a:off x="647700" y="3498850"/>
            <a:ext cx="2933700" cy="508000"/>
          </a:xfrm>
          <a:prstGeom prst="rect">
            <a:avLst/>
          </a:prstGeom>
          <a:noFill/>
          <a:ln w="9525">
            <a:noFill/>
          </a:ln>
          <a:effectLst>
            <a:outerShdw dist="17961" dir="2699999" algn="ctr" rotWithShape="0">
              <a:srgbClr val="708688"/>
            </a:outerShdw>
          </a:effectLst>
        </p:spPr>
        <p:txBody>
          <a:bodyPr wrap="none"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nSpc>
                <a:spcPct val="135000"/>
              </a:lnSpc>
              <a:spcBef>
                <a:spcPct val="0"/>
              </a:spcBef>
              <a:buClrTx/>
              <a:buSzTx/>
              <a:buFont typeface="Arial" panose="020B0604020202020204" pitchFamily="34" charset="0"/>
              <a:buNone/>
            </a:pPr>
            <a:r>
              <a:rPr lang="en-US" altLang="zh-CN" u="sng" dirty="0">
                <a:solidFill>
                  <a:srgbClr val="0033CC"/>
                </a:solidFill>
              </a:rPr>
              <a:t>Ctake(Sno,Cno</a:t>
            </a:r>
            <a:r>
              <a:rPr lang="en-US" altLang="zh-CN" dirty="0">
                <a:solidFill>
                  <a:srgbClr val="0033CC"/>
                </a:solidFill>
              </a:rPr>
              <a:t>,</a:t>
            </a:r>
            <a:r>
              <a:rPr lang="en-US" altLang="zh-CN" dirty="0"/>
              <a:t>mark </a:t>
            </a:r>
            <a:r>
              <a:rPr lang="en-US" altLang="zh-CN" dirty="0">
                <a:solidFill>
                  <a:srgbClr val="0033CC"/>
                </a:solidFill>
              </a:rPr>
              <a:t>) </a:t>
            </a:r>
            <a:endParaRPr lang="en-US" altLang="zh-CN" dirty="0">
              <a:solidFill>
                <a:srgbClr val="0033CC"/>
              </a:solidFill>
            </a:endParaRPr>
          </a:p>
        </p:txBody>
      </p:sp>
      <p:graphicFrame>
        <p:nvGraphicFramePr>
          <p:cNvPr id="74781" name="表格 74780"/>
          <p:cNvGraphicFramePr/>
          <p:nvPr/>
        </p:nvGraphicFramePr>
        <p:xfrm>
          <a:off x="827088" y="2760663"/>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Sno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Ssex</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74791" name="表格 74790"/>
          <p:cNvGraphicFramePr/>
          <p:nvPr/>
        </p:nvGraphicFramePr>
        <p:xfrm>
          <a:off x="773113" y="5522913"/>
          <a:ext cx="3873500" cy="465138"/>
        </p:xfrm>
        <a:graphic>
          <a:graphicData uri="http://schemas.openxmlformats.org/drawingml/2006/table">
            <a:tbl>
              <a:tblPr/>
              <a:tblGrid>
                <a:gridCol w="1600200"/>
                <a:gridCol w="1270000"/>
                <a:gridCol w="1003300"/>
              </a:tblGrid>
              <a:tr h="4651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Cno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Cname</a:t>
                      </a:r>
                      <a:endParaRPr lang="en-US" altLang="x-none"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Ccredit</a:t>
                      </a:r>
                      <a:endParaRPr lang="en-US" altLang="x-none" sz="1800"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74801" name="表格 74800"/>
          <p:cNvGraphicFramePr/>
          <p:nvPr/>
        </p:nvGraphicFramePr>
        <p:xfrm>
          <a:off x="773113" y="4092575"/>
          <a:ext cx="3873500" cy="465138"/>
        </p:xfrm>
        <a:graphic>
          <a:graphicData uri="http://schemas.openxmlformats.org/drawingml/2006/table">
            <a:tbl>
              <a:tblPr/>
              <a:tblGrid>
                <a:gridCol w="1600200"/>
                <a:gridCol w="1270000"/>
                <a:gridCol w="1003300"/>
              </a:tblGrid>
              <a:tr h="4651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Sno</a:t>
                      </a:r>
                      <a:endParaRPr lang="zh-CN" altLang="en-US" sz="2000" u="sng" dirty="0">
                        <a:solidFill>
                          <a:srgbClr val="0033CC"/>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2000" u="sng" dirty="0">
                          <a:solidFill>
                            <a:srgbClr val="0033CC"/>
                          </a:solidFill>
                        </a:rPr>
                        <a:t>Cno</a:t>
                      </a:r>
                      <a:endParaRPr lang="en-US" altLang="x-none" sz="2000" u="sng" dirty="0">
                        <a:solidFill>
                          <a:srgbClr val="0033CC"/>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33CC"/>
                        </a:buClr>
                        <a:buSzPct val="80000"/>
                        <a:buFont typeface="Wingdings" panose="05000000000000000000" pitchFamily="2" charset="2"/>
                        <a:buNone/>
                      </a:pPr>
                      <a:r>
                        <a:rPr lang="en-US" altLang="x-none" sz="1800" b="0" dirty="0"/>
                        <a:t>mark</a:t>
                      </a:r>
                      <a:endParaRPr lang="en-US" altLang="x-none" b="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cxnSp>
        <p:nvCxnSpPr>
          <p:cNvPr id="101415" name="直接箭头连接符 33"/>
          <p:cNvCxnSpPr/>
          <p:nvPr/>
        </p:nvCxnSpPr>
        <p:spPr>
          <a:xfrm>
            <a:off x="327025" y="3284538"/>
            <a:ext cx="914400" cy="914400"/>
          </a:xfrm>
          <a:prstGeom prst="straightConnector1">
            <a:avLst/>
          </a:prstGeom>
          <a:ln w="9525">
            <a:noFill/>
          </a:ln>
          <a:effectLst>
            <a:outerShdw dist="17961" dir="2699999" algn="ctr" rotWithShape="0">
              <a:srgbClr val="708688"/>
            </a:outerShdw>
          </a:effectLst>
        </p:spPr>
      </p:cxnSp>
      <p:cxnSp>
        <p:nvCxnSpPr>
          <p:cNvPr id="101416" name="曲线连接符 34"/>
          <p:cNvCxnSpPr/>
          <p:nvPr/>
        </p:nvCxnSpPr>
        <p:spPr>
          <a:xfrm rot="-10800000" flipV="1">
            <a:off x="1035050" y="4464050"/>
            <a:ext cx="1711325" cy="1136650"/>
          </a:xfrm>
          <a:prstGeom prst="curvedConnector3">
            <a:avLst>
              <a:gd name="adj1" fmla="val 50000"/>
            </a:avLst>
          </a:prstGeom>
          <a:ln w="9525" cap="flat" cmpd="sng">
            <a:solidFill>
              <a:srgbClr val="FF3300"/>
            </a:solidFill>
            <a:prstDash val="solid"/>
            <a:headEnd type="none" w="med" len="med"/>
            <a:tailEnd type="arrow" w="med" len="med"/>
          </a:ln>
          <a:effectLst>
            <a:outerShdw dist="17961" dir="2699999" algn="ctr" rotWithShape="0">
              <a:srgbClr val="708688"/>
            </a:outerShdw>
          </a:effectLst>
        </p:spPr>
      </p:cxnSp>
      <p:cxnSp>
        <p:nvCxnSpPr>
          <p:cNvPr id="101417" name="曲线连接符 35"/>
          <p:cNvCxnSpPr/>
          <p:nvPr/>
        </p:nvCxnSpPr>
        <p:spPr>
          <a:xfrm rot="-5400000" flipV="1">
            <a:off x="547688" y="3609975"/>
            <a:ext cx="1150937" cy="176213"/>
          </a:xfrm>
          <a:prstGeom prst="curvedConnector3">
            <a:avLst>
              <a:gd name="adj1" fmla="val 50000"/>
            </a:avLst>
          </a:prstGeom>
          <a:ln w="9525" cap="flat" cmpd="sng">
            <a:solidFill>
              <a:srgbClr val="FF3300"/>
            </a:solidFill>
            <a:prstDash val="solid"/>
            <a:headEnd type="none" w="med" len="med"/>
            <a:tailEnd type="arrow" w="med" len="med"/>
          </a:ln>
          <a:effectLst>
            <a:outerShdw dist="17961" dir="2699999" algn="ctr" rotWithShape="0">
              <a:srgbClr val="708688"/>
            </a:outerShdw>
          </a:effectLst>
        </p:spPr>
      </p:cxnSp>
      <p:sp>
        <p:nvSpPr>
          <p:cNvPr id="101418" name="矩形 60"/>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74815" name="Rectangle 3"/>
          <p:cNvSpPr txBox="1"/>
          <p:nvPr/>
        </p:nvSpPr>
        <p:spPr>
          <a:xfrm>
            <a:off x="577850" y="1466850"/>
            <a:ext cx="5314950" cy="536575"/>
          </a:xfrm>
          <a:prstGeom prst="rect">
            <a:avLst/>
          </a:prstGeom>
          <a:noFill/>
          <a:ln w="9525">
            <a:noFill/>
          </a:ln>
        </p:spPr>
        <p:txBody>
          <a:bodyPr/>
          <a:lstStyle/>
          <a:p>
            <a:pPr marL="342900" marR="0" indent="-342900" defTabSz="914400" eaLnBrk="1" hangingPunct="1">
              <a:spcBef>
                <a:spcPct val="20000"/>
              </a:spcBef>
              <a:buClr>
                <a:srgbClr val="FF0000"/>
              </a:buClr>
              <a:buSzTx/>
              <a:buFont typeface="Wingdings" panose="05000000000000000000" pitchFamily="2" charset="2"/>
              <a:buChar char="p"/>
              <a:defRPr/>
            </a:pP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一个</a:t>
            </a:r>
            <a:r>
              <a:rPr kumimoji="0" lang="en-US" altLang="x-none"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m:n</a:t>
            </a:r>
            <a:r>
              <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联系转换实例</a:t>
            </a:r>
            <a:endParaRPr kumimoji="0" lang="zh-CN" altLang="en-US" sz="24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sp>
        <p:nvSpPr>
          <p:cNvPr id="10142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矩形 1"/>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2403" name="矩形 3"/>
          <p:cNvSpPr/>
          <p:nvPr/>
        </p:nvSpPr>
        <p:spPr>
          <a:xfrm>
            <a:off x="776288" y="1408113"/>
            <a:ext cx="7831137"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student</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(Ssno 	char(10)	 	PRIMARY KEY,</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Sname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Ssex             char(1)                     NOT NULL)</a:t>
            </a:r>
            <a:endParaRPr lang="en-US" altLang="zh-CN" sz="2200" i="1" dirty="0">
              <a:latin typeface="Times New Roman" panose="02020603050405020304" pitchFamily="18" charset="0"/>
              <a:ea typeface="Arial Unicode MS" pitchFamily="34" charset="-122"/>
            </a:endParaRPr>
          </a:p>
        </p:txBody>
      </p:sp>
      <p:sp>
        <p:nvSpPr>
          <p:cNvPr id="102404" name="矩形 4"/>
          <p:cNvSpPr/>
          <p:nvPr/>
        </p:nvSpPr>
        <p:spPr>
          <a:xfrm>
            <a:off x="754063" y="2938463"/>
            <a:ext cx="7831137" cy="1446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course</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char(10)	 	PRIMARY KEY,</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Cname	varchar(30)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Ccredit      smallint                       NOT NULL)</a:t>
            </a:r>
            <a:endParaRPr lang="en-US" altLang="zh-CN" sz="2200" i="1" dirty="0">
              <a:latin typeface="Times New Roman" panose="02020603050405020304" pitchFamily="18" charset="0"/>
              <a:ea typeface="Arial Unicode MS" pitchFamily="34" charset="-122"/>
            </a:endParaRPr>
          </a:p>
        </p:txBody>
      </p:sp>
      <p:sp>
        <p:nvSpPr>
          <p:cNvPr id="102405" name="矩形 5"/>
          <p:cNvSpPr/>
          <p:nvPr/>
        </p:nvSpPr>
        <p:spPr>
          <a:xfrm>
            <a:off x="820738" y="4498975"/>
            <a:ext cx="7829550" cy="17859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ctake</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char(10)  Foreign key references course(Cno),</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Ssno 	char(10)  Foreign key references student(Ssno),</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mark      smallint         check(mark between 10 and 100),</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PRIMARY KEY (Cno,Ssno))</a:t>
            </a:r>
            <a:endParaRPr lang="en-US" altLang="zh-CN" sz="2200" i="1" dirty="0">
              <a:latin typeface="Times New Roman" panose="02020603050405020304" pitchFamily="18" charset="0"/>
              <a:ea typeface="Arial Unicode MS" pitchFamily="34" charset="-122"/>
            </a:endParaRPr>
          </a:p>
        </p:txBody>
      </p:sp>
      <p:sp>
        <p:nvSpPr>
          <p:cNvPr id="102406"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3"/>
          <p:cNvSpPr>
            <a:spLocks noGrp="1"/>
          </p:cNvSpPr>
          <p:nvPr/>
        </p:nvSpPr>
        <p:spPr>
          <a:xfrm>
            <a:off x="579438" y="1527175"/>
            <a:ext cx="8353425" cy="1916113"/>
          </a:xfrm>
          <a:prstGeom prst="rect">
            <a:avLst/>
          </a:prstGeom>
          <a:noFill/>
          <a:ln w="9525">
            <a:noFill/>
          </a:ln>
        </p:spPr>
        <p:txBody>
          <a:bodyPr/>
          <a:lstStyle/>
          <a:p>
            <a:pPr marL="342900" marR="0" lvl="0" indent="-342900" algn="l" defTabSz="914400" rtl="0" eaLnBrk="1" fontAlgn="base" latinLnBrk="0" hangingPunct="1">
              <a:lnSpc>
                <a:spcPct val="135000"/>
              </a:lnSpc>
              <a:spcBef>
                <a:spcPct val="20000"/>
              </a:spcBef>
              <a:spcAft>
                <a:spcPct val="0"/>
              </a:spcAft>
              <a:buClr>
                <a:srgbClr val="0033CC"/>
              </a:buClr>
              <a:buSzPct val="80000"/>
              <a:buFont typeface="Wingdings" panose="05000000000000000000" pitchFamily="2" charset="2"/>
              <a:buChar char="p"/>
              <a:defRPr/>
            </a:pPr>
            <a:r>
              <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一个</a:t>
            </a:r>
            <a:r>
              <a:rPr kumimoji="0" lang="en-US" altLang="x-none"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1:n</a:t>
            </a:r>
            <a:r>
              <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联系可以转换为一个独立的关系模式，也可以与</a:t>
            </a:r>
            <a:r>
              <a:rPr kumimoji="0" lang="en-US" altLang="x-none"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n</a:t>
            </a:r>
            <a:r>
              <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端对应的关系模式合并</a:t>
            </a:r>
            <a:endParaRPr kumimoji="0" lang="zh-CN" altLang="en-US" sz="22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342900" marR="0" lvl="0" indent="-342900" algn="l" defTabSz="914400" rtl="0" eaLnBrk="1" fontAlgn="base" latinLnBrk="0" hangingPunct="1">
              <a:lnSpc>
                <a:spcPct val="135000"/>
              </a:lnSpc>
              <a:spcBef>
                <a:spcPct val="20000"/>
              </a:spcBef>
              <a:spcAft>
                <a:spcPct val="0"/>
              </a:spcAft>
              <a:buClr>
                <a:srgbClr val="0033CC"/>
              </a:buClr>
              <a:buSzPct val="80000"/>
              <a:buFont typeface="Arial" panose="020B0604020202020204" pitchFamily="34" charset="0"/>
              <a:buNone/>
              <a:defRPr/>
            </a:pPr>
            <a:r>
              <a:rPr kumimoji="0" lang="zh-CN" altLang="en-US" sz="24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  </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（1）</a:t>
            </a:r>
            <a:r>
              <a:rPr kumimoji="0" lang="en-US" altLang="x-none"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 </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转换为一个独立的关系模式</a:t>
            </a:r>
            <a:endPar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25000"/>
              </a:lnSpc>
              <a:spcBef>
                <a:spcPts val="600"/>
              </a:spcBef>
              <a:spcAft>
                <a:spcPct val="0"/>
              </a:spcAft>
              <a:buClr>
                <a:schemeClr val="accent2"/>
              </a:buClr>
              <a:buSzPct val="70000"/>
              <a:buFont typeface="Wingdings" panose="05000000000000000000" pitchFamily="2" charset="2"/>
              <a:buChar char="Ø"/>
              <a:defRPr/>
            </a:pPr>
            <a:r>
              <a:rPr kumimoji="0" lang="zh-CN" altLang="en-US" sz="20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关系的属性：</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与该联系相连的各实体的标识符以及联系本身的属性</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25000"/>
              </a:lnSpc>
              <a:spcBef>
                <a:spcPts val="600"/>
              </a:spcBef>
              <a:spcAft>
                <a:spcPct val="0"/>
              </a:spcAft>
              <a:buClr>
                <a:schemeClr val="accent2"/>
              </a:buClr>
              <a:buSzPct val="70000"/>
              <a:buFont typeface="Wingdings" panose="05000000000000000000" pitchFamily="2" charset="2"/>
              <a:buChar char="Ø"/>
              <a:defRPr/>
            </a:pPr>
            <a:r>
              <a:rPr kumimoji="0" lang="zh-CN" altLang="en-US" sz="20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关系的主键：</a:t>
            </a:r>
            <a:r>
              <a:rPr kumimoji="0" lang="en-US" altLang="x-none"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n</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端实体的标识符</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grpSp>
        <p:nvGrpSpPr>
          <p:cNvPr id="103427" name="Group 5"/>
          <p:cNvGrpSpPr/>
          <p:nvPr/>
        </p:nvGrpSpPr>
        <p:grpSpPr>
          <a:xfrm>
            <a:off x="750888" y="3578225"/>
            <a:ext cx="4191000" cy="2335213"/>
            <a:chOff x="0" y="0"/>
            <a:chExt cx="2640" cy="1306"/>
          </a:xfrm>
        </p:grpSpPr>
        <p:grpSp>
          <p:nvGrpSpPr>
            <p:cNvPr id="103431" name="Group 6"/>
            <p:cNvGrpSpPr/>
            <p:nvPr/>
          </p:nvGrpSpPr>
          <p:grpSpPr>
            <a:xfrm>
              <a:off x="0" y="288"/>
              <a:ext cx="2640" cy="1019"/>
              <a:chOff x="0" y="0"/>
              <a:chExt cx="4764" cy="1704"/>
            </a:xfrm>
          </p:grpSpPr>
          <p:sp>
            <p:nvSpPr>
              <p:cNvPr id="103433" name="Text Box 5"/>
              <p:cNvSpPr txBox="1"/>
              <p:nvPr/>
            </p:nvSpPr>
            <p:spPr>
              <a:xfrm>
                <a:off x="1104" y="4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sp>
            <p:nvSpPr>
              <p:cNvPr id="103434" name="Oval 6"/>
              <p:cNvSpPr/>
              <p:nvPr/>
            </p:nvSpPr>
            <p:spPr>
              <a:xfrm>
                <a:off x="36"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k</a:t>
                </a:r>
                <a:endParaRPr lang="en-US" altLang="zh-CN" dirty="0">
                  <a:latin typeface="Times New Roman" panose="02020603050405020304" pitchFamily="18" charset="0"/>
                </a:endParaRPr>
              </a:p>
            </p:txBody>
          </p:sp>
          <p:sp>
            <p:nvSpPr>
              <p:cNvPr id="103435" name="AutoShape 7"/>
              <p:cNvSpPr/>
              <p:nvPr/>
            </p:nvSpPr>
            <p:spPr>
              <a:xfrm>
                <a:off x="2052" y="4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sp>
            <p:nvSpPr>
              <p:cNvPr id="103436" name="Rectangle 8"/>
              <p:cNvSpPr/>
              <p:nvPr/>
            </p:nvSpPr>
            <p:spPr>
              <a:xfrm>
                <a:off x="1728" y="3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sp>
            <p:nvSpPr>
              <p:cNvPr id="103437" name="Oval 9"/>
              <p:cNvSpPr/>
              <p:nvPr/>
            </p:nvSpPr>
            <p:spPr>
              <a:xfrm>
                <a:off x="0" y="7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103438" name="Line 10"/>
              <p:cNvSpPr/>
              <p:nvPr/>
            </p:nvSpPr>
            <p:spPr>
              <a:xfrm>
                <a:off x="732" y="216"/>
                <a:ext cx="372" cy="360"/>
              </a:xfrm>
              <a:prstGeom prst="line">
                <a:avLst/>
              </a:prstGeom>
              <a:ln w="9525" cap="flat" cmpd="sng">
                <a:solidFill>
                  <a:srgbClr val="000000"/>
                </a:solidFill>
                <a:prstDash val="solid"/>
                <a:headEnd type="none" w="med" len="med"/>
                <a:tailEnd type="none" w="med" len="med"/>
              </a:ln>
            </p:spPr>
          </p:sp>
          <p:sp>
            <p:nvSpPr>
              <p:cNvPr id="103439" name="Oval 11"/>
              <p:cNvSpPr/>
              <p:nvPr/>
            </p:nvSpPr>
            <p:spPr>
              <a:xfrm>
                <a:off x="4056" y="24"/>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sp>
            <p:nvSpPr>
              <p:cNvPr id="103440" name="Text Box 12"/>
              <p:cNvSpPr txBox="1"/>
              <p:nvPr/>
            </p:nvSpPr>
            <p:spPr>
              <a:xfrm>
                <a:off x="3192" y="480"/>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sp>
            <p:nvSpPr>
              <p:cNvPr id="103441" name="Line 13"/>
              <p:cNvSpPr/>
              <p:nvPr/>
            </p:nvSpPr>
            <p:spPr>
              <a:xfrm flipV="1">
                <a:off x="696" y="732"/>
                <a:ext cx="408" cy="240"/>
              </a:xfrm>
              <a:prstGeom prst="line">
                <a:avLst/>
              </a:prstGeom>
              <a:ln w="9525" cap="flat" cmpd="sng">
                <a:solidFill>
                  <a:srgbClr val="000000"/>
                </a:solidFill>
                <a:prstDash val="solid"/>
                <a:headEnd type="none" w="med" len="med"/>
                <a:tailEnd type="none" w="med" len="med"/>
              </a:ln>
            </p:spPr>
          </p:sp>
          <p:sp>
            <p:nvSpPr>
              <p:cNvPr id="103442" name="Line 14"/>
              <p:cNvSpPr/>
              <p:nvPr/>
            </p:nvSpPr>
            <p:spPr>
              <a:xfrm>
                <a:off x="1644" y="684"/>
                <a:ext cx="420" cy="0"/>
              </a:xfrm>
              <a:prstGeom prst="line">
                <a:avLst/>
              </a:prstGeom>
              <a:ln w="9525" cap="flat" cmpd="sng">
                <a:solidFill>
                  <a:srgbClr val="000000"/>
                </a:solidFill>
                <a:prstDash val="solid"/>
                <a:headEnd type="none" w="med" len="med"/>
                <a:tailEnd type="none" w="med" len="med"/>
              </a:ln>
            </p:spPr>
          </p:sp>
          <p:sp>
            <p:nvSpPr>
              <p:cNvPr id="103443" name="Line 15"/>
              <p:cNvSpPr/>
              <p:nvPr/>
            </p:nvSpPr>
            <p:spPr>
              <a:xfrm>
                <a:off x="2784" y="684"/>
                <a:ext cx="420" cy="0"/>
              </a:xfrm>
              <a:prstGeom prst="line">
                <a:avLst/>
              </a:prstGeom>
              <a:ln w="9525" cap="flat" cmpd="sng">
                <a:solidFill>
                  <a:srgbClr val="000000"/>
                </a:solidFill>
                <a:prstDash val="solid"/>
                <a:headEnd type="none" w="med" len="med"/>
                <a:tailEnd type="none" w="med" len="med"/>
              </a:ln>
            </p:spPr>
          </p:sp>
          <p:sp>
            <p:nvSpPr>
              <p:cNvPr id="103444" name="Oval 16"/>
              <p:cNvSpPr/>
              <p:nvPr/>
            </p:nvSpPr>
            <p:spPr>
              <a:xfrm>
                <a:off x="4032" y="756"/>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103445" name="Oval 17"/>
              <p:cNvSpPr/>
              <p:nvPr/>
            </p:nvSpPr>
            <p:spPr>
              <a:xfrm>
                <a:off x="2064" y="127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sp>
            <p:nvSpPr>
              <p:cNvPr id="103446" name="Rectangle 18"/>
              <p:cNvSpPr/>
              <p:nvPr/>
            </p:nvSpPr>
            <p:spPr>
              <a:xfrm>
                <a:off x="2808" y="348"/>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N</a:t>
                </a:r>
                <a:endParaRPr lang="en-US" altLang="zh-CN" dirty="0">
                  <a:latin typeface="Times New Roman" panose="02020603050405020304" pitchFamily="18" charset="0"/>
                </a:endParaRPr>
              </a:p>
            </p:txBody>
          </p:sp>
          <p:sp>
            <p:nvSpPr>
              <p:cNvPr id="103447" name="Line 19"/>
              <p:cNvSpPr/>
              <p:nvPr/>
            </p:nvSpPr>
            <p:spPr>
              <a:xfrm flipV="1">
                <a:off x="3708" y="276"/>
                <a:ext cx="372" cy="300"/>
              </a:xfrm>
              <a:prstGeom prst="line">
                <a:avLst/>
              </a:prstGeom>
              <a:ln w="9525" cap="flat" cmpd="sng">
                <a:solidFill>
                  <a:srgbClr val="000000"/>
                </a:solidFill>
                <a:prstDash val="solid"/>
                <a:headEnd type="none" w="med" len="med"/>
                <a:tailEnd type="none" w="med" len="med"/>
              </a:ln>
            </p:spPr>
          </p:sp>
          <p:sp>
            <p:nvSpPr>
              <p:cNvPr id="103448" name="Line 20"/>
              <p:cNvSpPr/>
              <p:nvPr/>
            </p:nvSpPr>
            <p:spPr>
              <a:xfrm>
                <a:off x="3708" y="744"/>
                <a:ext cx="372" cy="108"/>
              </a:xfrm>
              <a:prstGeom prst="line">
                <a:avLst/>
              </a:prstGeom>
              <a:ln w="9525" cap="flat" cmpd="sng">
                <a:solidFill>
                  <a:srgbClr val="000000"/>
                </a:solidFill>
                <a:prstDash val="solid"/>
                <a:headEnd type="none" w="med" len="med"/>
                <a:tailEnd type="none" w="med" len="med"/>
              </a:ln>
            </p:spPr>
          </p:sp>
          <p:sp>
            <p:nvSpPr>
              <p:cNvPr id="103449" name="Line 21"/>
              <p:cNvSpPr/>
              <p:nvPr/>
            </p:nvSpPr>
            <p:spPr>
              <a:xfrm>
                <a:off x="2400" y="936"/>
                <a:ext cx="0" cy="348"/>
              </a:xfrm>
              <a:prstGeom prst="line">
                <a:avLst/>
              </a:prstGeom>
              <a:ln w="9525" cap="flat" cmpd="sng">
                <a:solidFill>
                  <a:srgbClr val="000000"/>
                </a:solidFill>
                <a:prstDash val="solid"/>
                <a:headEnd type="none" w="med" len="med"/>
                <a:tailEnd type="none" w="med" len="med"/>
              </a:ln>
            </p:spPr>
          </p:sp>
          <p:sp>
            <p:nvSpPr>
              <p:cNvPr id="103450" name="Line 22"/>
              <p:cNvSpPr/>
              <p:nvPr/>
            </p:nvSpPr>
            <p:spPr>
              <a:xfrm flipH="1">
                <a:off x="744" y="216"/>
                <a:ext cx="180" cy="240"/>
              </a:xfrm>
              <a:prstGeom prst="line">
                <a:avLst/>
              </a:prstGeom>
              <a:ln w="9525" cap="flat" cmpd="sng">
                <a:solidFill>
                  <a:srgbClr val="000000"/>
                </a:solidFill>
                <a:prstDash val="solid"/>
                <a:headEnd type="none" w="med" len="med"/>
                <a:tailEnd type="none" w="med" len="med"/>
              </a:ln>
            </p:spPr>
          </p:sp>
          <p:sp>
            <p:nvSpPr>
              <p:cNvPr id="103451" name="Line 23"/>
              <p:cNvSpPr/>
              <p:nvPr/>
            </p:nvSpPr>
            <p:spPr>
              <a:xfrm>
                <a:off x="3840" y="288"/>
                <a:ext cx="168" cy="204"/>
              </a:xfrm>
              <a:prstGeom prst="line">
                <a:avLst/>
              </a:prstGeom>
              <a:ln w="9525" cap="flat" cmpd="sng">
                <a:solidFill>
                  <a:srgbClr val="000000"/>
                </a:solidFill>
                <a:prstDash val="solid"/>
                <a:headEnd type="none" w="med" len="med"/>
                <a:tailEnd type="none" w="med" len="med"/>
              </a:ln>
            </p:spPr>
          </p:sp>
        </p:grpSp>
        <p:sp>
          <p:nvSpPr>
            <p:cNvPr id="103432" name="Rectangle 24"/>
            <p:cNvSpPr/>
            <p:nvPr/>
          </p:nvSpPr>
          <p:spPr>
            <a:xfrm>
              <a:off x="720" y="0"/>
              <a:ext cx="1152" cy="28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Wingdings" panose="05000000000000000000" pitchFamily="2" charset="2"/>
                <a:buChar char="•"/>
              </a:pPr>
              <a:endParaRPr lang="zh-CN" altLang="en-US" dirty="0">
                <a:latin typeface="Times New Roman" panose="02020603050405020304" pitchFamily="18" charset="0"/>
              </a:endParaRPr>
            </a:p>
          </p:txBody>
        </p:sp>
      </p:grpSp>
      <p:sp>
        <p:nvSpPr>
          <p:cNvPr id="103428" name="Rectangle 25"/>
          <p:cNvSpPr/>
          <p:nvPr/>
        </p:nvSpPr>
        <p:spPr>
          <a:xfrm>
            <a:off x="5457825" y="4402138"/>
            <a:ext cx="2960688" cy="14192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转换关系模式为：</a:t>
            </a:r>
            <a:endParaRPr lang="zh-CN" altLang="en-US" dirty="0">
              <a:latin typeface="Times New Roman" panose="02020603050405020304" pitchFamily="18" charset="0"/>
            </a:endParaRPr>
          </a:p>
          <a:p>
            <a:pPr marL="0" lvl="0" indent="0" algn="just" eaLnBrk="1" hangingPunct="1">
              <a:lnSpc>
                <a:spcPct val="115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1</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115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2</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    </a:t>
            </a:r>
            <a:endParaRPr lang="en-US" altLang="zh-CN"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25000" dirty="0">
                <a:latin typeface="Times New Roman" panose="02020603050405020304" pitchFamily="18" charset="0"/>
              </a:rPr>
              <a:t>3 </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k </a:t>
            </a:r>
            <a:r>
              <a:rPr lang="zh-CN" altLang="en-US" dirty="0">
                <a:latin typeface="Times New Roman" panose="02020603050405020304" pitchFamily="18" charset="0"/>
              </a:rPr>
              <a:t>，</a:t>
            </a:r>
            <a:r>
              <a:rPr lang="en-US" altLang="zh-CN" dirty="0">
                <a:latin typeface="Times New Roman" panose="02020603050405020304" pitchFamily="18" charset="0"/>
              </a:rPr>
              <a:t>S </a:t>
            </a:r>
            <a:r>
              <a:rPr lang="zh-CN" altLang="en-US" dirty="0">
                <a:latin typeface="Times New Roman" panose="02020603050405020304" pitchFamily="18" charset="0"/>
              </a:rPr>
              <a:t>） </a:t>
            </a:r>
            <a:endParaRPr lang="zh-CN" altLang="en-US" dirty="0">
              <a:latin typeface="Times New Roman" panose="02020603050405020304" pitchFamily="18" charset="0"/>
            </a:endParaRPr>
          </a:p>
        </p:txBody>
      </p:sp>
      <p:sp>
        <p:nvSpPr>
          <p:cNvPr id="103429" name="矩形 28"/>
          <p:cNvSpPr/>
          <p:nvPr/>
        </p:nvSpPr>
        <p:spPr>
          <a:xfrm>
            <a:off x="538163" y="792163"/>
            <a:ext cx="83756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343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矩形 1"/>
          <p:cNvSpPr/>
          <p:nvPr/>
        </p:nvSpPr>
        <p:spPr>
          <a:xfrm>
            <a:off x="538163" y="792163"/>
            <a:ext cx="83756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4451" name="Group 3"/>
          <p:cNvGrpSpPr/>
          <p:nvPr/>
        </p:nvGrpSpPr>
        <p:grpSpPr>
          <a:xfrm>
            <a:off x="449263" y="1887538"/>
            <a:ext cx="7126287" cy="1639887"/>
            <a:chOff x="0" y="0"/>
            <a:chExt cx="6141" cy="2078"/>
          </a:xfrm>
        </p:grpSpPr>
        <p:sp>
          <p:nvSpPr>
            <p:cNvPr id="104496" name="Text Box 76"/>
            <p:cNvSpPr txBox="1"/>
            <p:nvPr/>
          </p:nvSpPr>
          <p:spPr>
            <a:xfrm>
              <a:off x="1426" y="920"/>
              <a:ext cx="802" cy="589"/>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电影公司</a:t>
              </a:r>
              <a:endParaRPr lang="zh-CN" altLang="en-US" sz="1600" dirty="0">
                <a:latin typeface="Times New Roman" panose="02020603050405020304" pitchFamily="18" charset="0"/>
              </a:endParaRPr>
            </a:p>
          </p:txBody>
        </p:sp>
        <p:sp>
          <p:nvSpPr>
            <p:cNvPr id="104497" name="Oval 77"/>
            <p:cNvSpPr/>
            <p:nvPr/>
          </p:nvSpPr>
          <p:spPr>
            <a:xfrm>
              <a:off x="0" y="402"/>
              <a:ext cx="1078" cy="481"/>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u="sng" dirty="0">
                  <a:latin typeface="Times New Roman" panose="02020603050405020304" pitchFamily="18" charset="0"/>
                </a:rPr>
                <a:t>公司名称</a:t>
              </a:r>
              <a:endParaRPr lang="zh-CN" altLang="en-US" sz="1600" u="sng" dirty="0">
                <a:latin typeface="Times New Roman" panose="02020603050405020304" pitchFamily="18" charset="0"/>
              </a:endParaRPr>
            </a:p>
          </p:txBody>
        </p:sp>
        <p:sp>
          <p:nvSpPr>
            <p:cNvPr id="104498" name="AutoShape 78"/>
            <p:cNvSpPr/>
            <p:nvPr/>
          </p:nvSpPr>
          <p:spPr>
            <a:xfrm>
              <a:off x="2671" y="680"/>
              <a:ext cx="843" cy="736"/>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出版</a:t>
              </a:r>
              <a:endParaRPr lang="zh-CN" altLang="en-US" sz="1600" dirty="0">
                <a:latin typeface="Times New Roman" panose="02020603050405020304" pitchFamily="18" charset="0"/>
              </a:endParaRPr>
            </a:p>
          </p:txBody>
        </p:sp>
        <p:sp>
          <p:nvSpPr>
            <p:cNvPr id="104499" name="Rectangle 79"/>
            <p:cNvSpPr/>
            <p:nvPr/>
          </p:nvSpPr>
          <p:spPr>
            <a:xfrm>
              <a:off x="2311" y="701"/>
              <a:ext cx="352"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1</a:t>
              </a:r>
              <a:endParaRPr lang="en-US" altLang="zh-CN" sz="1600" dirty="0">
                <a:latin typeface="Times New Roman" panose="02020603050405020304" pitchFamily="18" charset="0"/>
              </a:endParaRPr>
            </a:p>
          </p:txBody>
        </p:sp>
        <p:sp>
          <p:nvSpPr>
            <p:cNvPr id="104500" name="Oval 80"/>
            <p:cNvSpPr/>
            <p:nvPr/>
          </p:nvSpPr>
          <p:spPr>
            <a:xfrm>
              <a:off x="75" y="1159"/>
              <a:ext cx="1062" cy="441"/>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电话</a:t>
              </a:r>
              <a:endParaRPr lang="zh-CN" altLang="en-US" sz="1600" dirty="0">
                <a:latin typeface="Times New Roman" panose="02020603050405020304" pitchFamily="18" charset="0"/>
              </a:endParaRPr>
            </a:p>
          </p:txBody>
        </p:sp>
        <p:sp>
          <p:nvSpPr>
            <p:cNvPr id="104501" name="Line 81"/>
            <p:cNvSpPr/>
            <p:nvPr/>
          </p:nvSpPr>
          <p:spPr>
            <a:xfrm>
              <a:off x="1040" y="655"/>
              <a:ext cx="428" cy="360"/>
            </a:xfrm>
            <a:prstGeom prst="line">
              <a:avLst/>
            </a:prstGeom>
            <a:ln w="9525" cap="flat" cmpd="sng">
              <a:solidFill>
                <a:srgbClr val="000000"/>
              </a:solidFill>
              <a:prstDash val="solid"/>
              <a:headEnd type="none" w="med" len="med"/>
              <a:tailEnd type="none" w="med" len="med"/>
            </a:ln>
          </p:spPr>
        </p:sp>
        <p:sp>
          <p:nvSpPr>
            <p:cNvPr id="104502" name="Oval 82"/>
            <p:cNvSpPr/>
            <p:nvPr/>
          </p:nvSpPr>
          <p:spPr>
            <a:xfrm>
              <a:off x="3910" y="0"/>
              <a:ext cx="1193" cy="473"/>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u="sng" dirty="0">
                  <a:latin typeface="Times New Roman" panose="02020603050405020304" pitchFamily="18" charset="0"/>
                </a:rPr>
                <a:t>电影编号</a:t>
              </a:r>
              <a:endParaRPr lang="zh-CN" altLang="en-US" sz="1600" u="sng" dirty="0">
                <a:latin typeface="Times New Roman" panose="02020603050405020304" pitchFamily="18" charset="0"/>
              </a:endParaRPr>
            </a:p>
          </p:txBody>
        </p:sp>
        <p:sp>
          <p:nvSpPr>
            <p:cNvPr id="104503" name="Text Box 83"/>
            <p:cNvSpPr txBox="1"/>
            <p:nvPr/>
          </p:nvSpPr>
          <p:spPr>
            <a:xfrm>
              <a:off x="3996" y="845"/>
              <a:ext cx="594" cy="396"/>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a:t>
              </a:r>
              <a:endParaRPr lang="zh-CN" altLang="en-US" sz="1600" dirty="0">
                <a:latin typeface="Times New Roman" panose="02020603050405020304" pitchFamily="18" charset="0"/>
              </a:endParaRPr>
            </a:p>
          </p:txBody>
        </p:sp>
        <p:sp>
          <p:nvSpPr>
            <p:cNvPr id="104504" name="Line 84"/>
            <p:cNvSpPr/>
            <p:nvPr/>
          </p:nvSpPr>
          <p:spPr>
            <a:xfrm flipV="1">
              <a:off x="1123" y="1097"/>
              <a:ext cx="470" cy="240"/>
            </a:xfrm>
            <a:prstGeom prst="line">
              <a:avLst/>
            </a:prstGeom>
            <a:ln w="9525" cap="flat" cmpd="sng">
              <a:solidFill>
                <a:srgbClr val="000000"/>
              </a:solidFill>
              <a:prstDash val="solid"/>
              <a:headEnd type="none" w="med" len="med"/>
              <a:tailEnd type="none" w="med" len="med"/>
            </a:ln>
          </p:spPr>
        </p:sp>
        <p:sp>
          <p:nvSpPr>
            <p:cNvPr id="104505" name="Line 85"/>
            <p:cNvSpPr/>
            <p:nvPr/>
          </p:nvSpPr>
          <p:spPr>
            <a:xfrm>
              <a:off x="2214" y="1049"/>
              <a:ext cx="484" cy="0"/>
            </a:xfrm>
            <a:prstGeom prst="line">
              <a:avLst/>
            </a:prstGeom>
            <a:ln w="9525" cap="flat" cmpd="sng">
              <a:solidFill>
                <a:srgbClr val="000000"/>
              </a:solidFill>
              <a:prstDash val="solid"/>
              <a:headEnd type="none" w="med" len="med"/>
              <a:tailEnd type="none" w="med" len="med"/>
            </a:ln>
          </p:spPr>
        </p:sp>
        <p:sp>
          <p:nvSpPr>
            <p:cNvPr id="104506" name="Line 86"/>
            <p:cNvSpPr/>
            <p:nvPr/>
          </p:nvSpPr>
          <p:spPr>
            <a:xfrm>
              <a:off x="3527" y="1049"/>
              <a:ext cx="483" cy="0"/>
            </a:xfrm>
            <a:prstGeom prst="line">
              <a:avLst/>
            </a:prstGeom>
            <a:ln w="9525" cap="flat" cmpd="sng">
              <a:solidFill>
                <a:srgbClr val="000000"/>
              </a:solidFill>
              <a:prstDash val="solid"/>
              <a:headEnd type="none" w="med" len="med"/>
              <a:tailEnd type="none" w="med" len="med"/>
            </a:ln>
          </p:spPr>
        </p:sp>
        <p:sp>
          <p:nvSpPr>
            <p:cNvPr id="104507" name="Oval 87"/>
            <p:cNvSpPr/>
            <p:nvPr/>
          </p:nvSpPr>
          <p:spPr>
            <a:xfrm>
              <a:off x="4986" y="570"/>
              <a:ext cx="1143" cy="419"/>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电影名称</a:t>
              </a:r>
              <a:endParaRPr lang="zh-CN" altLang="en-US" sz="1600" dirty="0">
                <a:latin typeface="Times New Roman" panose="02020603050405020304" pitchFamily="18" charset="0"/>
              </a:endParaRPr>
            </a:p>
          </p:txBody>
        </p:sp>
        <p:sp>
          <p:nvSpPr>
            <p:cNvPr id="104508" name="Rectangle 88"/>
            <p:cNvSpPr/>
            <p:nvPr/>
          </p:nvSpPr>
          <p:spPr>
            <a:xfrm>
              <a:off x="3554" y="713"/>
              <a:ext cx="353"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04509" name="Line 89"/>
            <p:cNvSpPr/>
            <p:nvPr/>
          </p:nvSpPr>
          <p:spPr>
            <a:xfrm flipV="1">
              <a:off x="4290" y="461"/>
              <a:ext cx="8" cy="384"/>
            </a:xfrm>
            <a:prstGeom prst="line">
              <a:avLst/>
            </a:prstGeom>
            <a:ln w="9525" cap="flat" cmpd="sng">
              <a:solidFill>
                <a:srgbClr val="000000"/>
              </a:solidFill>
              <a:prstDash val="solid"/>
              <a:headEnd type="none" w="med" len="med"/>
              <a:tailEnd type="none" w="med" len="med"/>
            </a:ln>
          </p:spPr>
        </p:sp>
        <p:sp>
          <p:nvSpPr>
            <p:cNvPr id="104510" name="Line 90"/>
            <p:cNvSpPr/>
            <p:nvPr/>
          </p:nvSpPr>
          <p:spPr>
            <a:xfrm flipV="1">
              <a:off x="4602" y="761"/>
              <a:ext cx="392" cy="168"/>
            </a:xfrm>
            <a:prstGeom prst="line">
              <a:avLst/>
            </a:prstGeom>
            <a:ln w="9525" cap="flat" cmpd="sng">
              <a:solidFill>
                <a:srgbClr val="000000"/>
              </a:solidFill>
              <a:prstDash val="solid"/>
              <a:headEnd type="none" w="med" len="med"/>
              <a:tailEnd type="none" w="med" len="med"/>
            </a:ln>
          </p:spPr>
        </p:sp>
        <p:sp>
          <p:nvSpPr>
            <p:cNvPr id="104511" name="Oval 92"/>
            <p:cNvSpPr/>
            <p:nvPr/>
          </p:nvSpPr>
          <p:spPr>
            <a:xfrm>
              <a:off x="5002" y="1097"/>
              <a:ext cx="1139" cy="429"/>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电影类型</a:t>
              </a:r>
              <a:endParaRPr lang="zh-CN" altLang="en-US" sz="1600" dirty="0">
                <a:latin typeface="Times New Roman" panose="02020603050405020304" pitchFamily="18" charset="0"/>
              </a:endParaRPr>
            </a:p>
          </p:txBody>
        </p:sp>
        <p:sp>
          <p:nvSpPr>
            <p:cNvPr id="104512" name="Line 93"/>
            <p:cNvSpPr/>
            <p:nvPr/>
          </p:nvSpPr>
          <p:spPr>
            <a:xfrm>
              <a:off x="4294" y="1229"/>
              <a:ext cx="0" cy="468"/>
            </a:xfrm>
            <a:prstGeom prst="line">
              <a:avLst/>
            </a:prstGeom>
            <a:ln w="9525" cap="flat" cmpd="sng">
              <a:solidFill>
                <a:srgbClr val="000000"/>
              </a:solidFill>
              <a:prstDash val="solid"/>
              <a:headEnd type="none" w="med" len="med"/>
              <a:tailEnd type="none" w="med" len="med"/>
            </a:ln>
          </p:spPr>
        </p:sp>
        <p:sp>
          <p:nvSpPr>
            <p:cNvPr id="104513" name="Oval 94"/>
            <p:cNvSpPr/>
            <p:nvPr/>
          </p:nvSpPr>
          <p:spPr>
            <a:xfrm>
              <a:off x="3848" y="1648"/>
              <a:ext cx="1280" cy="430"/>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对白语言</a:t>
              </a:r>
              <a:endParaRPr lang="zh-CN" altLang="en-US" sz="1600" dirty="0">
                <a:latin typeface="Times New Roman" panose="02020603050405020304" pitchFamily="18" charset="0"/>
              </a:endParaRPr>
            </a:p>
          </p:txBody>
        </p:sp>
        <p:sp>
          <p:nvSpPr>
            <p:cNvPr id="104514" name="Line 96"/>
            <p:cNvSpPr/>
            <p:nvPr/>
          </p:nvSpPr>
          <p:spPr>
            <a:xfrm>
              <a:off x="4582" y="1145"/>
              <a:ext cx="408" cy="144"/>
            </a:xfrm>
            <a:prstGeom prst="line">
              <a:avLst/>
            </a:prstGeom>
            <a:ln w="9525" cap="flat" cmpd="sng">
              <a:solidFill>
                <a:srgbClr val="000000"/>
              </a:solidFill>
              <a:prstDash val="solid"/>
              <a:headEnd type="none" w="med" len="med"/>
              <a:tailEnd type="none" w="med" len="med"/>
            </a:ln>
          </p:spPr>
        </p:sp>
      </p:grpSp>
      <p:sp>
        <p:nvSpPr>
          <p:cNvPr id="104452" name="Oval 87"/>
          <p:cNvSpPr/>
          <p:nvPr/>
        </p:nvSpPr>
        <p:spPr>
          <a:xfrm>
            <a:off x="3455988" y="1749425"/>
            <a:ext cx="1327150" cy="330200"/>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出版年份</a:t>
            </a:r>
            <a:endParaRPr lang="zh-CN" altLang="en-US" sz="1600" dirty="0">
              <a:latin typeface="Times New Roman" panose="02020603050405020304" pitchFamily="18" charset="0"/>
            </a:endParaRPr>
          </a:p>
        </p:txBody>
      </p:sp>
      <p:sp>
        <p:nvSpPr>
          <p:cNvPr id="104453" name="Line 89"/>
          <p:cNvSpPr/>
          <p:nvPr/>
        </p:nvSpPr>
        <p:spPr>
          <a:xfrm flipV="1">
            <a:off x="4041775" y="2112963"/>
            <a:ext cx="9525" cy="303212"/>
          </a:xfrm>
          <a:prstGeom prst="line">
            <a:avLst/>
          </a:prstGeom>
          <a:ln w="9525" cap="flat" cmpd="sng">
            <a:solidFill>
              <a:srgbClr val="000000"/>
            </a:solidFill>
            <a:prstDash val="solid"/>
            <a:headEnd type="none" w="med" len="med"/>
            <a:tailEnd type="none" w="med" len="med"/>
          </a:ln>
        </p:spPr>
      </p:sp>
      <p:graphicFrame>
        <p:nvGraphicFramePr>
          <p:cNvPr id="77850" name="表格 77849"/>
          <p:cNvGraphicFramePr/>
          <p:nvPr/>
        </p:nvGraphicFramePr>
        <p:xfrm>
          <a:off x="1204913" y="4411663"/>
          <a:ext cx="2351088" cy="374650"/>
        </p:xfrm>
        <a:graphic>
          <a:graphicData uri="http://schemas.openxmlformats.org/drawingml/2006/table">
            <a:tbl>
              <a:tblPr/>
              <a:tblGrid>
                <a:gridCol w="1176337"/>
                <a:gridCol w="1174750"/>
              </a:tblGrid>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公司名称</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电话</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104462" name="Rectangle 25"/>
          <p:cNvSpPr/>
          <p:nvPr/>
        </p:nvSpPr>
        <p:spPr>
          <a:xfrm>
            <a:off x="1089025" y="3851275"/>
            <a:ext cx="2960688" cy="4143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电影公司：</a:t>
            </a:r>
            <a:endParaRPr lang="zh-CN" altLang="en-US" dirty="0">
              <a:latin typeface="Times New Roman" panose="02020603050405020304" pitchFamily="18" charset="0"/>
            </a:endParaRPr>
          </a:p>
        </p:txBody>
      </p:sp>
      <p:sp>
        <p:nvSpPr>
          <p:cNvPr id="104463" name="Rectangle 25"/>
          <p:cNvSpPr/>
          <p:nvPr/>
        </p:nvSpPr>
        <p:spPr>
          <a:xfrm>
            <a:off x="4449763" y="3857625"/>
            <a:ext cx="2960687" cy="4143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电影：</a:t>
            </a:r>
            <a:endParaRPr lang="zh-CN" altLang="en-US" dirty="0">
              <a:latin typeface="Times New Roman" panose="02020603050405020304" pitchFamily="18" charset="0"/>
            </a:endParaRPr>
          </a:p>
        </p:txBody>
      </p:sp>
      <p:graphicFrame>
        <p:nvGraphicFramePr>
          <p:cNvPr id="77860" name="表格 77859"/>
          <p:cNvGraphicFramePr/>
          <p:nvPr/>
        </p:nvGraphicFramePr>
        <p:xfrm>
          <a:off x="3903663" y="4402138"/>
          <a:ext cx="4775200" cy="371475"/>
        </p:xfrm>
        <a:graphic>
          <a:graphicData uri="http://schemas.openxmlformats.org/drawingml/2006/table">
            <a:tbl>
              <a:tblPr/>
              <a:tblGrid>
                <a:gridCol w="1193800"/>
                <a:gridCol w="1193800"/>
                <a:gridCol w="1193800"/>
                <a:gridCol w="1193800"/>
              </a:tblGrid>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电影编号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电影名称</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电影类型</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a:t>对白语言</a:t>
                      </a:r>
                      <a:endParaRPr lang="zh-CN" altLang="en-US" sz="1800"/>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sp>
        <p:nvSpPr>
          <p:cNvPr id="104476" name="Rectangle 25"/>
          <p:cNvSpPr/>
          <p:nvPr/>
        </p:nvSpPr>
        <p:spPr>
          <a:xfrm>
            <a:off x="1081088" y="5440363"/>
            <a:ext cx="2960687" cy="414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出版：</a:t>
            </a:r>
            <a:endParaRPr lang="zh-CN" altLang="en-US" dirty="0">
              <a:latin typeface="Times New Roman" panose="02020603050405020304" pitchFamily="18" charset="0"/>
            </a:endParaRPr>
          </a:p>
        </p:txBody>
      </p:sp>
      <p:graphicFrame>
        <p:nvGraphicFramePr>
          <p:cNvPr id="77873" name="表格 77872"/>
          <p:cNvGraphicFramePr/>
          <p:nvPr/>
        </p:nvGraphicFramePr>
        <p:xfrm>
          <a:off x="2497138" y="5184775"/>
          <a:ext cx="6096000" cy="371475"/>
        </p:xfrm>
        <a:graphic>
          <a:graphicData uri="http://schemas.openxmlformats.org/drawingml/2006/table">
            <a:tbl>
              <a:tblPr/>
              <a:tblGrid>
                <a:gridCol w="2032000"/>
                <a:gridCol w="2032000"/>
                <a:gridCol w="2032000"/>
              </a:tblGrid>
              <a:tr h="371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公司名称</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电影编号</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0"/>
                        </a:spcBef>
                        <a:buClr>
                          <a:srgbClr val="000000"/>
                        </a:buClr>
                        <a:buFont typeface="Arial" panose="020B0604020202020204" pitchFamily="34" charset="0"/>
                        <a:buNone/>
                      </a:pPr>
                      <a:r>
                        <a:rPr lang="zh-CN" altLang="en-US" sz="1800" u="sng">
                          <a:solidFill>
                            <a:srgbClr val="FF0000"/>
                          </a:solidFill>
                        </a:rPr>
                        <a:t>出版年份</a:t>
                      </a:r>
                      <a:endParaRPr lang="zh-CN" altLang="en-US" sz="1800" u="sng">
                        <a:solidFill>
                          <a:srgbClr val="FF0000"/>
                        </a:solidFill>
                      </a:endParaRPr>
                    </a:p>
                  </a:txBody>
                  <a:tcPr>
                    <a:lnL w="12700" cap="flat" cmpd="sng">
                      <a:solidFill>
                        <a:schemeClr val="bg1"/>
                      </a:solidFill>
                      <a:prstDash val="solid"/>
                      <a:headEnd type="none" w="med" len="med"/>
                      <a:tailEnd type="none" w="med" len="med"/>
                    </a:lnL>
                    <a:lnR w="12700" cap="flat" cmpd="sng">
                      <a:solidFill>
                        <a:schemeClr val="bg1"/>
                      </a:solidFill>
                      <a:prstDash val="solid"/>
                      <a:headEnd type="none" w="med" len="med"/>
                      <a:tailEnd type="none" w="med" len="med"/>
                    </a:lnR>
                    <a:lnT w="12700" cap="flat" cmpd="sng">
                      <a:solidFill>
                        <a:schemeClr val="bg1"/>
                      </a:solidFill>
                      <a:prstDash val="solid"/>
                      <a:headEnd type="none" w="med" len="med"/>
                      <a:tailEnd type="none" w="med" len="med"/>
                    </a:lnT>
                    <a:lnB w="38100" cap="flat" cmpd="sng">
                      <a:solidFill>
                        <a:schemeClr val="bg1"/>
                      </a:solidFill>
                      <a:prstDash val="solid"/>
                      <a:headEnd type="none" w="med" len="med"/>
                      <a:tailEnd type="none" w="med" len="med"/>
                    </a:lnB>
                    <a:lnTlToBr>
                      <a:noFill/>
                    </a:lnTlToBr>
                    <a:lnBlToTr>
                      <a:noFill/>
                    </a:lnBlToTr>
                    <a:solidFill>
                      <a:schemeClr val="accent1">
                        <a:alpha val="100000"/>
                      </a:schemeClr>
                    </a:solidFill>
                  </a:tcPr>
                </a:tc>
              </a:tr>
            </a:tbl>
          </a:graphicData>
        </a:graphic>
      </p:graphicFrame>
      <p:cxnSp>
        <p:nvCxnSpPr>
          <p:cNvPr id="104487" name="直接箭头连接符 35"/>
          <p:cNvCxnSpPr/>
          <p:nvPr/>
        </p:nvCxnSpPr>
        <p:spPr>
          <a:xfrm rot="5400000" flipH="1" flipV="1">
            <a:off x="928688" y="4702175"/>
            <a:ext cx="420687" cy="363538"/>
          </a:xfrm>
          <a:prstGeom prst="straightConnector1">
            <a:avLst/>
          </a:prstGeom>
          <a:ln w="9525" cap="flat" cmpd="sng">
            <a:solidFill>
              <a:schemeClr val="tx1"/>
            </a:solidFill>
            <a:prstDash val="solid"/>
            <a:headEnd type="none" w="med" len="med"/>
            <a:tailEnd type="arrow" w="med" len="med"/>
          </a:ln>
        </p:spPr>
      </p:cxnSp>
      <p:cxnSp>
        <p:nvCxnSpPr>
          <p:cNvPr id="104488" name="直接箭头连接符 38"/>
          <p:cNvCxnSpPr/>
          <p:nvPr/>
        </p:nvCxnSpPr>
        <p:spPr>
          <a:xfrm>
            <a:off x="1030288" y="5240338"/>
            <a:ext cx="1568450" cy="42862"/>
          </a:xfrm>
          <a:prstGeom prst="straightConnector1">
            <a:avLst/>
          </a:prstGeom>
          <a:ln w="9525" cap="flat" cmpd="sng">
            <a:solidFill>
              <a:schemeClr val="tx1"/>
            </a:solidFill>
            <a:prstDash val="solid"/>
            <a:headEnd type="none" w="med" len="med"/>
            <a:tailEnd type="arrow" w="med" len="med"/>
          </a:ln>
        </p:spPr>
      </p:cxnSp>
      <p:sp>
        <p:nvSpPr>
          <p:cNvPr id="104489" name="Rectangle 25"/>
          <p:cNvSpPr/>
          <p:nvPr/>
        </p:nvSpPr>
        <p:spPr>
          <a:xfrm>
            <a:off x="246063" y="4859338"/>
            <a:ext cx="1235075" cy="4460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主键：</a:t>
            </a:r>
            <a:endParaRPr lang="zh-CN" altLang="en-US" dirty="0">
              <a:latin typeface="Times New Roman" panose="02020603050405020304" pitchFamily="18" charset="0"/>
            </a:endParaRPr>
          </a:p>
        </p:txBody>
      </p:sp>
      <p:sp>
        <p:nvSpPr>
          <p:cNvPr id="104490" name="Rectangle 25"/>
          <p:cNvSpPr/>
          <p:nvPr/>
        </p:nvSpPr>
        <p:spPr>
          <a:xfrm>
            <a:off x="246063" y="5127625"/>
            <a:ext cx="1235075" cy="4460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外键：</a:t>
            </a:r>
            <a:endParaRPr lang="zh-CN" altLang="en-US" dirty="0">
              <a:latin typeface="Times New Roman" panose="02020603050405020304" pitchFamily="18" charset="0"/>
            </a:endParaRPr>
          </a:p>
        </p:txBody>
      </p:sp>
      <p:cxnSp>
        <p:nvCxnSpPr>
          <p:cNvPr id="104491" name="直接箭头连接符 45"/>
          <p:cNvCxnSpPr/>
          <p:nvPr/>
        </p:nvCxnSpPr>
        <p:spPr>
          <a:xfrm rot="5400000" flipH="1" flipV="1">
            <a:off x="3228975" y="5080000"/>
            <a:ext cx="1328738" cy="211138"/>
          </a:xfrm>
          <a:prstGeom prst="straightConnector1">
            <a:avLst/>
          </a:prstGeom>
          <a:ln w="9525" cap="flat" cmpd="sng">
            <a:solidFill>
              <a:schemeClr val="tx1"/>
            </a:solidFill>
            <a:prstDash val="solid"/>
            <a:headEnd type="none" w="med" len="med"/>
            <a:tailEnd type="arrow" w="med" len="med"/>
          </a:ln>
        </p:spPr>
      </p:cxnSp>
      <p:cxnSp>
        <p:nvCxnSpPr>
          <p:cNvPr id="104492" name="直接箭头连接符 47"/>
          <p:cNvCxnSpPr/>
          <p:nvPr/>
        </p:nvCxnSpPr>
        <p:spPr>
          <a:xfrm flipV="1">
            <a:off x="4078288" y="5494338"/>
            <a:ext cx="1182687" cy="311150"/>
          </a:xfrm>
          <a:prstGeom prst="straightConnector1">
            <a:avLst/>
          </a:prstGeom>
          <a:ln w="9525" cap="flat" cmpd="sng">
            <a:solidFill>
              <a:schemeClr val="tx1"/>
            </a:solidFill>
            <a:prstDash val="solid"/>
            <a:headEnd type="none" w="med" len="med"/>
            <a:tailEnd type="arrow" w="med" len="med"/>
          </a:ln>
        </p:spPr>
      </p:cxnSp>
      <p:sp>
        <p:nvSpPr>
          <p:cNvPr id="104493" name="Rectangle 25"/>
          <p:cNvSpPr/>
          <p:nvPr/>
        </p:nvSpPr>
        <p:spPr>
          <a:xfrm>
            <a:off x="3025775" y="5708650"/>
            <a:ext cx="1233488" cy="4460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主键：</a:t>
            </a:r>
            <a:endParaRPr lang="zh-CN" altLang="en-US" dirty="0">
              <a:latin typeface="Times New Roman" panose="02020603050405020304" pitchFamily="18" charset="0"/>
            </a:endParaRPr>
          </a:p>
        </p:txBody>
      </p:sp>
      <p:sp>
        <p:nvSpPr>
          <p:cNvPr id="104494" name="Rectangle 25"/>
          <p:cNvSpPr/>
          <p:nvPr/>
        </p:nvSpPr>
        <p:spPr>
          <a:xfrm>
            <a:off x="3897313" y="5745163"/>
            <a:ext cx="1233487" cy="4460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外键：</a:t>
            </a:r>
            <a:endParaRPr lang="zh-CN" altLang="en-US" dirty="0">
              <a:latin typeface="Times New Roman" panose="02020603050405020304" pitchFamily="18" charset="0"/>
            </a:endParaRPr>
          </a:p>
        </p:txBody>
      </p:sp>
      <p:sp>
        <p:nvSpPr>
          <p:cNvPr id="10449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3"/>
          <p:cNvSpPr>
            <a:spLocks noGrp="1"/>
          </p:cNvSpPr>
          <p:nvPr/>
        </p:nvSpPr>
        <p:spPr>
          <a:xfrm>
            <a:off x="212725" y="1524000"/>
            <a:ext cx="8423275" cy="1916113"/>
          </a:xfrm>
          <a:prstGeom prst="rect">
            <a:avLst/>
          </a:prstGeom>
          <a:noFill/>
          <a:ln w="9525">
            <a:noFill/>
          </a:ln>
        </p:spPr>
        <p:txBody>
          <a:bodyPr/>
          <a:lstStyle/>
          <a:p>
            <a:pPr marL="742950" marR="0" lvl="1" indent="-285750" algn="l" defTabSz="914400" rtl="0" eaLnBrk="1" fontAlgn="base" latinLnBrk="0" hangingPunct="1">
              <a:lnSpc>
                <a:spcPct val="90000"/>
              </a:lnSpc>
              <a:spcBef>
                <a:spcPct val="40000"/>
              </a:spcBef>
              <a:spcAft>
                <a:spcPct val="0"/>
              </a:spcAft>
              <a:buClr>
                <a:schemeClr val="accent2"/>
              </a:buClr>
              <a:buSzPct val="70000"/>
              <a:buFont typeface="Wingdings" panose="05000000000000000000" pitchFamily="2" charset="2"/>
              <a:buNone/>
              <a:defRPr/>
            </a:pP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a:t>
            </a:r>
            <a:r>
              <a:rPr kumimoji="0" lang="en-US" altLang="x-none"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2</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）与</a:t>
            </a:r>
            <a:r>
              <a:rPr kumimoji="0" lang="en-US" altLang="x-none"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n</a:t>
            </a:r>
            <a:r>
              <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端对应的关系模式合并</a:t>
            </a:r>
            <a:endParaRPr kumimoji="0" lang="zh-CN" altLang="en-US" sz="24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15000"/>
              </a:lnSpc>
              <a:spcBef>
                <a:spcPct val="40000"/>
              </a:spcBef>
              <a:spcAft>
                <a:spcPct val="0"/>
              </a:spcAft>
              <a:buClr>
                <a:schemeClr val="accent2"/>
              </a:buClr>
              <a:buSzPct val="70000"/>
              <a:buFont typeface="Wingdings" panose="05000000000000000000" pitchFamily="2" charset="2"/>
              <a:buChar char="Ø"/>
              <a:defRPr/>
            </a:pPr>
            <a:r>
              <a:rPr kumimoji="0" lang="zh-CN" altLang="en-US" sz="22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合并后关系的属性：</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在</a:t>
            </a:r>
            <a:r>
              <a:rPr kumimoji="0" lang="en-US" altLang="x-none"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n</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端关系中加入</a:t>
            </a:r>
            <a:r>
              <a:rPr kumimoji="0" lang="en-US" altLang="x-none"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1</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端关系的主键和联系本身的属性</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90000"/>
              </a:lnSpc>
              <a:spcBef>
                <a:spcPts val="600"/>
              </a:spcBef>
              <a:spcAft>
                <a:spcPct val="0"/>
              </a:spcAft>
              <a:buClr>
                <a:schemeClr val="accent2"/>
              </a:buClr>
              <a:buSzPct val="70000"/>
              <a:buFont typeface="Wingdings" panose="05000000000000000000" pitchFamily="2" charset="2"/>
              <a:buChar char="Ø"/>
              <a:defRPr/>
            </a:pPr>
            <a:r>
              <a:rPr kumimoji="0" lang="zh-CN" altLang="en-US" sz="2200" b="1" i="0" u="sng" strike="noStrike" kern="1200" cap="none" spc="0" normalizeH="0" baseline="0" noProof="1">
                <a:ln>
                  <a:noFill/>
                </a:ln>
                <a:solidFill>
                  <a:srgbClr val="FF3300"/>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合并后关系的主键：</a:t>
            </a:r>
            <a:r>
              <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不变</a:t>
            </a:r>
            <a:endParaRPr kumimoji="0" lang="zh-CN" altLang="en-US" sz="2000" b="1" i="0" u="none"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grpSp>
        <p:nvGrpSpPr>
          <p:cNvPr id="105475" name="Group 3"/>
          <p:cNvGrpSpPr/>
          <p:nvPr/>
        </p:nvGrpSpPr>
        <p:grpSpPr>
          <a:xfrm>
            <a:off x="838200" y="3036888"/>
            <a:ext cx="6405563" cy="1638300"/>
            <a:chOff x="0" y="0"/>
            <a:chExt cx="5520" cy="2076"/>
          </a:xfrm>
        </p:grpSpPr>
        <p:sp>
          <p:nvSpPr>
            <p:cNvPr id="105510" name="Text Box 76"/>
            <p:cNvSpPr txBox="1"/>
            <p:nvPr/>
          </p:nvSpPr>
          <p:spPr>
            <a:xfrm>
              <a:off x="1271" y="804"/>
              <a:ext cx="635" cy="420"/>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班级</a:t>
              </a:r>
              <a:endParaRPr lang="zh-CN" altLang="en-US" sz="1600" dirty="0">
                <a:latin typeface="Times New Roman" panose="02020603050405020304" pitchFamily="18" charset="0"/>
              </a:endParaRPr>
            </a:p>
          </p:txBody>
        </p:sp>
        <p:sp>
          <p:nvSpPr>
            <p:cNvPr id="105511" name="Oval 77"/>
            <p:cNvSpPr/>
            <p:nvPr/>
          </p:nvSpPr>
          <p:spPr>
            <a:xfrm>
              <a:off x="41" y="324"/>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班号</a:t>
              </a:r>
              <a:endParaRPr lang="zh-CN" altLang="en-US" sz="1600" dirty="0">
                <a:latin typeface="Times New Roman" panose="02020603050405020304" pitchFamily="18" charset="0"/>
              </a:endParaRPr>
            </a:p>
          </p:txBody>
        </p:sp>
        <p:sp>
          <p:nvSpPr>
            <p:cNvPr id="105512" name="AutoShape 78"/>
            <p:cNvSpPr/>
            <p:nvPr/>
          </p:nvSpPr>
          <p:spPr>
            <a:xfrm>
              <a:off x="2362" y="768"/>
              <a:ext cx="843"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属于</a:t>
              </a:r>
              <a:endParaRPr lang="zh-CN" altLang="en-US" sz="1600" dirty="0">
                <a:latin typeface="Times New Roman" panose="02020603050405020304" pitchFamily="18" charset="0"/>
              </a:endParaRPr>
            </a:p>
          </p:txBody>
        </p:sp>
        <p:sp>
          <p:nvSpPr>
            <p:cNvPr id="105513" name="Rectangle 79"/>
            <p:cNvSpPr/>
            <p:nvPr/>
          </p:nvSpPr>
          <p:spPr>
            <a:xfrm>
              <a:off x="1989" y="660"/>
              <a:ext cx="352"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1</a:t>
              </a:r>
              <a:endParaRPr lang="en-US" altLang="zh-CN" sz="1600" dirty="0">
                <a:latin typeface="Times New Roman" panose="02020603050405020304" pitchFamily="18" charset="0"/>
              </a:endParaRPr>
            </a:p>
          </p:txBody>
        </p:sp>
        <p:sp>
          <p:nvSpPr>
            <p:cNvPr id="105514" name="Oval 80"/>
            <p:cNvSpPr/>
            <p:nvPr/>
          </p:nvSpPr>
          <p:spPr>
            <a:xfrm>
              <a:off x="0" y="1104"/>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班名</a:t>
              </a:r>
              <a:endParaRPr lang="zh-CN" altLang="en-US" sz="1600" dirty="0">
                <a:latin typeface="Times New Roman" panose="02020603050405020304" pitchFamily="18" charset="0"/>
              </a:endParaRPr>
            </a:p>
          </p:txBody>
        </p:sp>
        <p:sp>
          <p:nvSpPr>
            <p:cNvPr id="105515" name="Line 81"/>
            <p:cNvSpPr/>
            <p:nvPr/>
          </p:nvSpPr>
          <p:spPr>
            <a:xfrm>
              <a:off x="843" y="540"/>
              <a:ext cx="428" cy="360"/>
            </a:xfrm>
            <a:prstGeom prst="line">
              <a:avLst/>
            </a:prstGeom>
            <a:ln w="9525" cap="flat" cmpd="sng">
              <a:solidFill>
                <a:srgbClr val="000000"/>
              </a:solidFill>
              <a:prstDash val="solid"/>
              <a:headEnd type="none" w="med" len="med"/>
              <a:tailEnd type="none" w="med" len="med"/>
            </a:ln>
          </p:spPr>
        </p:sp>
        <p:sp>
          <p:nvSpPr>
            <p:cNvPr id="105516" name="Oval 82"/>
            <p:cNvSpPr/>
            <p:nvPr/>
          </p:nvSpPr>
          <p:spPr>
            <a:xfrm>
              <a:off x="3588" y="0"/>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学号</a:t>
              </a:r>
              <a:endParaRPr lang="zh-CN" altLang="en-US" sz="1600" dirty="0">
                <a:latin typeface="Times New Roman" panose="02020603050405020304" pitchFamily="18" charset="0"/>
              </a:endParaRPr>
            </a:p>
          </p:txBody>
        </p:sp>
        <p:sp>
          <p:nvSpPr>
            <p:cNvPr id="105517" name="Text Box 83"/>
            <p:cNvSpPr txBox="1"/>
            <p:nvPr/>
          </p:nvSpPr>
          <p:spPr>
            <a:xfrm>
              <a:off x="3674" y="804"/>
              <a:ext cx="594" cy="396"/>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学生</a:t>
              </a:r>
              <a:endParaRPr lang="zh-CN" altLang="en-US" sz="1600" dirty="0">
                <a:latin typeface="Times New Roman" panose="02020603050405020304" pitchFamily="18" charset="0"/>
              </a:endParaRPr>
            </a:p>
          </p:txBody>
        </p:sp>
        <p:sp>
          <p:nvSpPr>
            <p:cNvPr id="105518" name="Line 84"/>
            <p:cNvSpPr/>
            <p:nvPr/>
          </p:nvSpPr>
          <p:spPr>
            <a:xfrm flipV="1">
              <a:off x="801" y="1056"/>
              <a:ext cx="470" cy="240"/>
            </a:xfrm>
            <a:prstGeom prst="line">
              <a:avLst/>
            </a:prstGeom>
            <a:ln w="9525" cap="flat" cmpd="sng">
              <a:solidFill>
                <a:srgbClr val="000000"/>
              </a:solidFill>
              <a:prstDash val="solid"/>
              <a:headEnd type="none" w="med" len="med"/>
              <a:tailEnd type="none" w="med" len="med"/>
            </a:ln>
          </p:spPr>
        </p:sp>
        <p:sp>
          <p:nvSpPr>
            <p:cNvPr id="105519" name="Line 85"/>
            <p:cNvSpPr/>
            <p:nvPr/>
          </p:nvSpPr>
          <p:spPr>
            <a:xfrm>
              <a:off x="1892" y="1008"/>
              <a:ext cx="484" cy="0"/>
            </a:xfrm>
            <a:prstGeom prst="line">
              <a:avLst/>
            </a:prstGeom>
            <a:ln w="9525" cap="flat" cmpd="sng">
              <a:solidFill>
                <a:srgbClr val="000000"/>
              </a:solidFill>
              <a:prstDash val="solid"/>
              <a:headEnd type="none" w="med" len="med"/>
              <a:tailEnd type="none" w="med" len="med"/>
            </a:ln>
          </p:spPr>
        </p:sp>
        <p:sp>
          <p:nvSpPr>
            <p:cNvPr id="105520" name="Line 86"/>
            <p:cNvSpPr/>
            <p:nvPr/>
          </p:nvSpPr>
          <p:spPr>
            <a:xfrm>
              <a:off x="3205" y="1008"/>
              <a:ext cx="483" cy="0"/>
            </a:xfrm>
            <a:prstGeom prst="line">
              <a:avLst/>
            </a:prstGeom>
            <a:ln w="9525" cap="flat" cmpd="sng">
              <a:solidFill>
                <a:srgbClr val="000000"/>
              </a:solidFill>
              <a:prstDash val="solid"/>
              <a:headEnd type="none" w="med" len="med"/>
              <a:tailEnd type="none" w="med" len="med"/>
            </a:ln>
          </p:spPr>
        </p:sp>
        <p:sp>
          <p:nvSpPr>
            <p:cNvPr id="105521" name="Oval 87"/>
            <p:cNvSpPr/>
            <p:nvPr/>
          </p:nvSpPr>
          <p:spPr>
            <a:xfrm>
              <a:off x="4664" y="516"/>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姓名</a:t>
              </a:r>
              <a:endParaRPr lang="zh-CN" altLang="en-US" sz="1600" dirty="0">
                <a:latin typeface="Times New Roman" panose="02020603050405020304" pitchFamily="18" charset="0"/>
              </a:endParaRPr>
            </a:p>
          </p:txBody>
        </p:sp>
        <p:sp>
          <p:nvSpPr>
            <p:cNvPr id="105522" name="Rectangle 88"/>
            <p:cNvSpPr/>
            <p:nvPr/>
          </p:nvSpPr>
          <p:spPr>
            <a:xfrm>
              <a:off x="3232" y="672"/>
              <a:ext cx="353"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05523" name="Line 89"/>
            <p:cNvSpPr/>
            <p:nvPr/>
          </p:nvSpPr>
          <p:spPr>
            <a:xfrm flipV="1">
              <a:off x="3968" y="420"/>
              <a:ext cx="8" cy="384"/>
            </a:xfrm>
            <a:prstGeom prst="line">
              <a:avLst/>
            </a:prstGeom>
            <a:ln w="9525" cap="flat" cmpd="sng">
              <a:solidFill>
                <a:srgbClr val="000000"/>
              </a:solidFill>
              <a:prstDash val="solid"/>
              <a:headEnd type="none" w="med" len="med"/>
              <a:tailEnd type="none" w="med" len="med"/>
            </a:ln>
          </p:spPr>
        </p:sp>
        <p:sp>
          <p:nvSpPr>
            <p:cNvPr id="105524" name="Line 90"/>
            <p:cNvSpPr/>
            <p:nvPr/>
          </p:nvSpPr>
          <p:spPr>
            <a:xfrm flipV="1">
              <a:off x="4280" y="720"/>
              <a:ext cx="392" cy="168"/>
            </a:xfrm>
            <a:prstGeom prst="line">
              <a:avLst/>
            </a:prstGeom>
            <a:ln w="9525" cap="flat" cmpd="sng">
              <a:solidFill>
                <a:srgbClr val="000000"/>
              </a:solidFill>
              <a:prstDash val="solid"/>
              <a:headEnd type="none" w="med" len="med"/>
              <a:tailEnd type="none" w="med" len="med"/>
            </a:ln>
          </p:spPr>
        </p:sp>
        <p:sp>
          <p:nvSpPr>
            <p:cNvPr id="105525" name="Line 91"/>
            <p:cNvSpPr/>
            <p:nvPr/>
          </p:nvSpPr>
          <p:spPr>
            <a:xfrm flipH="1">
              <a:off x="856" y="540"/>
              <a:ext cx="208" cy="240"/>
            </a:xfrm>
            <a:prstGeom prst="line">
              <a:avLst/>
            </a:prstGeom>
            <a:ln w="9525" cap="flat" cmpd="sng">
              <a:solidFill>
                <a:srgbClr val="000000"/>
              </a:solidFill>
              <a:prstDash val="solid"/>
              <a:headEnd type="none" w="med" len="med"/>
              <a:tailEnd type="none" w="med" len="med"/>
            </a:ln>
          </p:spPr>
        </p:sp>
        <p:sp>
          <p:nvSpPr>
            <p:cNvPr id="105526" name="Oval 92"/>
            <p:cNvSpPr/>
            <p:nvPr/>
          </p:nvSpPr>
          <p:spPr>
            <a:xfrm>
              <a:off x="4680" y="1056"/>
              <a:ext cx="840" cy="408"/>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性别</a:t>
              </a:r>
              <a:endParaRPr lang="zh-CN" altLang="en-US" sz="1600" dirty="0">
                <a:latin typeface="Times New Roman" panose="02020603050405020304" pitchFamily="18" charset="0"/>
              </a:endParaRPr>
            </a:p>
          </p:txBody>
        </p:sp>
        <p:sp>
          <p:nvSpPr>
            <p:cNvPr id="105527" name="Line 93"/>
            <p:cNvSpPr/>
            <p:nvPr/>
          </p:nvSpPr>
          <p:spPr>
            <a:xfrm>
              <a:off x="3972" y="1188"/>
              <a:ext cx="0" cy="468"/>
            </a:xfrm>
            <a:prstGeom prst="line">
              <a:avLst/>
            </a:prstGeom>
            <a:ln w="9525" cap="flat" cmpd="sng">
              <a:solidFill>
                <a:srgbClr val="000000"/>
              </a:solidFill>
              <a:prstDash val="solid"/>
              <a:headEnd type="none" w="med" len="med"/>
              <a:tailEnd type="none" w="med" len="med"/>
            </a:ln>
          </p:spPr>
        </p:sp>
        <p:sp>
          <p:nvSpPr>
            <p:cNvPr id="105528" name="Oval 94"/>
            <p:cNvSpPr/>
            <p:nvPr/>
          </p:nvSpPr>
          <p:spPr>
            <a:xfrm>
              <a:off x="3564" y="1644"/>
              <a:ext cx="815"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年龄</a:t>
              </a:r>
              <a:endParaRPr lang="zh-CN" altLang="en-US" sz="1600" dirty="0">
                <a:latin typeface="Times New Roman" panose="02020603050405020304" pitchFamily="18" charset="0"/>
              </a:endParaRPr>
            </a:p>
          </p:txBody>
        </p:sp>
        <p:sp>
          <p:nvSpPr>
            <p:cNvPr id="105529" name="Line 95"/>
            <p:cNvSpPr/>
            <p:nvPr/>
          </p:nvSpPr>
          <p:spPr>
            <a:xfrm flipV="1">
              <a:off x="3840" y="612"/>
              <a:ext cx="264" cy="12"/>
            </a:xfrm>
            <a:prstGeom prst="line">
              <a:avLst/>
            </a:prstGeom>
            <a:ln w="9525" cap="flat" cmpd="sng">
              <a:solidFill>
                <a:srgbClr val="000000"/>
              </a:solidFill>
              <a:prstDash val="solid"/>
              <a:headEnd type="none" w="med" len="med"/>
              <a:tailEnd type="none" w="med" len="med"/>
            </a:ln>
          </p:spPr>
        </p:sp>
        <p:sp>
          <p:nvSpPr>
            <p:cNvPr id="105530" name="Line 96"/>
            <p:cNvSpPr/>
            <p:nvPr/>
          </p:nvSpPr>
          <p:spPr>
            <a:xfrm>
              <a:off x="4260" y="1104"/>
              <a:ext cx="408" cy="144"/>
            </a:xfrm>
            <a:prstGeom prst="line">
              <a:avLst/>
            </a:prstGeom>
            <a:ln w="9525" cap="flat" cmpd="sng">
              <a:solidFill>
                <a:srgbClr val="000000"/>
              </a:solidFill>
              <a:prstDash val="solid"/>
              <a:headEnd type="none" w="med" len="med"/>
              <a:tailEnd type="none" w="med" len="med"/>
            </a:ln>
          </p:spPr>
        </p:sp>
      </p:grpSp>
      <p:grpSp>
        <p:nvGrpSpPr>
          <p:cNvPr id="105476" name="Group 25"/>
          <p:cNvGrpSpPr/>
          <p:nvPr/>
        </p:nvGrpSpPr>
        <p:grpSpPr>
          <a:xfrm>
            <a:off x="777875" y="4903788"/>
            <a:ext cx="5867400" cy="904875"/>
            <a:chOff x="0" y="0"/>
            <a:chExt cx="3456" cy="624"/>
          </a:xfrm>
        </p:grpSpPr>
        <p:grpSp>
          <p:nvGrpSpPr>
            <p:cNvPr id="105483" name="Group 26"/>
            <p:cNvGrpSpPr/>
            <p:nvPr/>
          </p:nvGrpSpPr>
          <p:grpSpPr>
            <a:xfrm>
              <a:off x="672" y="0"/>
              <a:ext cx="1639" cy="237"/>
              <a:chOff x="0" y="0"/>
              <a:chExt cx="1130" cy="333"/>
            </a:xfrm>
          </p:grpSpPr>
          <p:grpSp>
            <p:nvGrpSpPr>
              <p:cNvPr id="105502" name="Group 27"/>
              <p:cNvGrpSpPr/>
              <p:nvPr/>
            </p:nvGrpSpPr>
            <p:grpSpPr>
              <a:xfrm>
                <a:off x="3" y="3"/>
                <a:ext cx="1124" cy="327"/>
                <a:chOff x="0" y="0"/>
                <a:chExt cx="1124" cy="327"/>
              </a:xfrm>
            </p:grpSpPr>
            <p:grpSp>
              <p:nvGrpSpPr>
                <p:cNvPr id="105504" name="Group 28"/>
                <p:cNvGrpSpPr/>
                <p:nvPr/>
              </p:nvGrpSpPr>
              <p:grpSpPr>
                <a:xfrm>
                  <a:off x="0" y="0"/>
                  <a:ext cx="438" cy="327"/>
                  <a:chOff x="0" y="0"/>
                  <a:chExt cx="438" cy="327"/>
                </a:xfrm>
              </p:grpSpPr>
              <p:sp>
                <p:nvSpPr>
                  <p:cNvPr id="105508" name="Rectangle 97"/>
                  <p:cNvSpPr/>
                  <p:nvPr/>
                </p:nvSpPr>
                <p:spPr>
                  <a:xfrm>
                    <a:off x="43" y="0"/>
                    <a:ext cx="352"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rgbClr val="FF0000"/>
                        </a:solidFill>
                        <a:latin typeface="Times New Roman" panose="02020603050405020304" pitchFamily="18" charset="0"/>
                      </a:rPr>
                      <a:t>班号</a:t>
                    </a:r>
                    <a:endParaRPr lang="zh-CN" altLang="en-US" sz="1600" dirty="0">
                      <a:solidFill>
                        <a:srgbClr val="FF0000"/>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509" name="Rectangle 99"/>
                  <p:cNvSpPr/>
                  <p:nvPr/>
                </p:nvSpPr>
                <p:spPr>
                  <a:xfrm>
                    <a:off x="0" y="0"/>
                    <a:ext cx="438"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505" name="Group 31"/>
                <p:cNvGrpSpPr/>
                <p:nvPr/>
              </p:nvGrpSpPr>
              <p:grpSpPr>
                <a:xfrm>
                  <a:off x="438" y="0"/>
                  <a:ext cx="686" cy="327"/>
                  <a:chOff x="0" y="0"/>
                  <a:chExt cx="686" cy="327"/>
                </a:xfrm>
              </p:grpSpPr>
              <p:sp>
                <p:nvSpPr>
                  <p:cNvPr id="105506" name="Rectangle 98"/>
                  <p:cNvSpPr/>
                  <p:nvPr/>
                </p:nvSpPr>
                <p:spPr>
                  <a:xfrm>
                    <a:off x="43" y="0"/>
                    <a:ext cx="600"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班名</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507" name="Rectangle 101"/>
                  <p:cNvSpPr/>
                  <p:nvPr/>
                </p:nvSpPr>
                <p:spPr>
                  <a:xfrm>
                    <a:off x="0" y="0"/>
                    <a:ext cx="686"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sp>
            <p:nvSpPr>
              <p:cNvPr id="105503" name="Rectangle 104"/>
              <p:cNvSpPr/>
              <p:nvPr/>
            </p:nvSpPr>
            <p:spPr>
              <a:xfrm>
                <a:off x="0" y="0"/>
                <a:ext cx="1130" cy="333"/>
              </a:xfrm>
              <a:prstGeom prst="rect">
                <a:avLst/>
              </a:prstGeom>
              <a:noFill/>
              <a:ln w="9525"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84" name="Group 35"/>
            <p:cNvGrpSpPr/>
            <p:nvPr/>
          </p:nvGrpSpPr>
          <p:grpSpPr>
            <a:xfrm>
              <a:off x="0" y="384"/>
              <a:ext cx="3456" cy="240"/>
              <a:chOff x="0" y="0"/>
              <a:chExt cx="2383" cy="333"/>
            </a:xfrm>
          </p:grpSpPr>
          <p:grpSp>
            <p:nvGrpSpPr>
              <p:cNvPr id="105485" name="Group 36"/>
              <p:cNvGrpSpPr/>
              <p:nvPr/>
            </p:nvGrpSpPr>
            <p:grpSpPr>
              <a:xfrm>
                <a:off x="3" y="3"/>
                <a:ext cx="2377" cy="327"/>
                <a:chOff x="0" y="0"/>
                <a:chExt cx="2377" cy="327"/>
              </a:xfrm>
            </p:grpSpPr>
            <p:grpSp>
              <p:nvGrpSpPr>
                <p:cNvPr id="105487" name="Group 37"/>
                <p:cNvGrpSpPr/>
                <p:nvPr/>
              </p:nvGrpSpPr>
              <p:grpSpPr>
                <a:xfrm>
                  <a:off x="0" y="0"/>
                  <a:ext cx="426" cy="327"/>
                  <a:chOff x="0" y="0"/>
                  <a:chExt cx="426" cy="327"/>
                </a:xfrm>
              </p:grpSpPr>
              <p:sp>
                <p:nvSpPr>
                  <p:cNvPr id="105500" name="Rectangle 107"/>
                  <p:cNvSpPr/>
                  <p:nvPr/>
                </p:nvSpPr>
                <p:spPr>
                  <a:xfrm>
                    <a:off x="43" y="0"/>
                    <a:ext cx="340"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u="sng" dirty="0">
                        <a:solidFill>
                          <a:schemeClr val="tx2"/>
                        </a:solidFill>
                        <a:latin typeface="Times New Roman" panose="02020603050405020304" pitchFamily="18" charset="0"/>
                      </a:rPr>
                      <a:t>学号</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501" name="Rectangle 112"/>
                  <p:cNvSpPr/>
                  <p:nvPr/>
                </p:nvSpPr>
                <p:spPr>
                  <a:xfrm>
                    <a:off x="0" y="0"/>
                    <a:ext cx="426"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88" name="Group 40"/>
                <p:cNvGrpSpPr/>
                <p:nvPr/>
              </p:nvGrpSpPr>
              <p:grpSpPr>
                <a:xfrm>
                  <a:off x="426" y="0"/>
                  <a:ext cx="445" cy="327"/>
                  <a:chOff x="0" y="0"/>
                  <a:chExt cx="445" cy="327"/>
                </a:xfrm>
              </p:grpSpPr>
              <p:sp>
                <p:nvSpPr>
                  <p:cNvPr id="105498" name="Rectangle 108"/>
                  <p:cNvSpPr/>
                  <p:nvPr/>
                </p:nvSpPr>
                <p:spPr>
                  <a:xfrm>
                    <a:off x="43" y="0"/>
                    <a:ext cx="359"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姓名</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9" name="Rectangle 114"/>
                  <p:cNvSpPr/>
                  <p:nvPr/>
                </p:nvSpPr>
                <p:spPr>
                  <a:xfrm>
                    <a:off x="0" y="0"/>
                    <a:ext cx="445"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89" name="Group 43"/>
                <p:cNvGrpSpPr/>
                <p:nvPr/>
              </p:nvGrpSpPr>
              <p:grpSpPr>
                <a:xfrm>
                  <a:off x="871" y="0"/>
                  <a:ext cx="524" cy="327"/>
                  <a:chOff x="0" y="0"/>
                  <a:chExt cx="524" cy="327"/>
                </a:xfrm>
              </p:grpSpPr>
              <p:sp>
                <p:nvSpPr>
                  <p:cNvPr id="105496" name="Rectangle 109"/>
                  <p:cNvSpPr/>
                  <p:nvPr/>
                </p:nvSpPr>
                <p:spPr>
                  <a:xfrm>
                    <a:off x="43" y="0"/>
                    <a:ext cx="438"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性别</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7" name="Rectangle 116"/>
                  <p:cNvSpPr/>
                  <p:nvPr/>
                </p:nvSpPr>
                <p:spPr>
                  <a:xfrm>
                    <a:off x="0" y="0"/>
                    <a:ext cx="524"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90" name="Group 46"/>
                <p:cNvGrpSpPr/>
                <p:nvPr/>
              </p:nvGrpSpPr>
              <p:grpSpPr>
                <a:xfrm>
                  <a:off x="1395" y="0"/>
                  <a:ext cx="491" cy="327"/>
                  <a:chOff x="0" y="0"/>
                  <a:chExt cx="491" cy="327"/>
                </a:xfrm>
              </p:grpSpPr>
              <p:sp>
                <p:nvSpPr>
                  <p:cNvPr id="105494" name="Rectangle 110"/>
                  <p:cNvSpPr/>
                  <p:nvPr/>
                </p:nvSpPr>
                <p:spPr>
                  <a:xfrm>
                    <a:off x="43" y="0"/>
                    <a:ext cx="405"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dirty="0">
                        <a:solidFill>
                          <a:schemeClr val="tx2"/>
                        </a:solidFill>
                        <a:latin typeface="Times New Roman" panose="02020603050405020304" pitchFamily="18" charset="0"/>
                      </a:rPr>
                      <a:t>年龄</a:t>
                    </a:r>
                    <a:endParaRPr lang="zh-CN" altLang="en-US" sz="1600" dirty="0">
                      <a:solidFill>
                        <a:schemeClr val="tx2"/>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5" name="Rectangle 118"/>
                  <p:cNvSpPr/>
                  <p:nvPr/>
                </p:nvSpPr>
                <p:spPr>
                  <a:xfrm>
                    <a:off x="0" y="0"/>
                    <a:ext cx="491"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nvGrpSpPr>
                <p:cNvPr id="105491" name="Group 49"/>
                <p:cNvGrpSpPr/>
                <p:nvPr/>
              </p:nvGrpSpPr>
              <p:grpSpPr>
                <a:xfrm>
                  <a:off x="1886" y="0"/>
                  <a:ext cx="491" cy="327"/>
                  <a:chOff x="0" y="0"/>
                  <a:chExt cx="491" cy="327"/>
                </a:xfrm>
              </p:grpSpPr>
              <p:sp>
                <p:nvSpPr>
                  <p:cNvPr id="105492" name="Rectangle 111"/>
                  <p:cNvSpPr/>
                  <p:nvPr/>
                </p:nvSpPr>
                <p:spPr>
                  <a:xfrm>
                    <a:off x="43" y="0"/>
                    <a:ext cx="405" cy="3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zh-CN" altLang="en-US" sz="1600" u="sng" dirty="0">
                        <a:solidFill>
                          <a:srgbClr val="FF0000"/>
                        </a:solidFill>
                        <a:latin typeface="Times New Roman" panose="02020603050405020304" pitchFamily="18" charset="0"/>
                      </a:rPr>
                      <a:t>班号</a:t>
                    </a:r>
                    <a:endParaRPr lang="zh-CN" altLang="en-US" sz="1600" u="sng" dirty="0">
                      <a:solidFill>
                        <a:srgbClr val="FF0000"/>
                      </a:solidFill>
                    </a:endParaRPr>
                  </a:p>
                  <a:p>
                    <a:pPr marL="0" lvl="0" indent="0" algn="ctr">
                      <a:lnSpc>
                        <a:spcPct val="135000"/>
                      </a:lnSpc>
                      <a:spcBef>
                        <a:spcPct val="0"/>
                      </a:spcBef>
                      <a:buClrTx/>
                      <a:buSzTx/>
                      <a:buFont typeface="Wingdings" panose="05000000000000000000" pitchFamily="2" charset="2"/>
                      <a:buChar char="•"/>
                    </a:pPr>
                    <a:endParaRPr lang="en-US" altLang="zh-CN" sz="1600" dirty="0">
                      <a:solidFill>
                        <a:schemeClr val="tx2"/>
                      </a:solidFill>
                    </a:endParaRPr>
                  </a:p>
                </p:txBody>
              </p:sp>
              <p:sp>
                <p:nvSpPr>
                  <p:cNvPr id="105493" name="Rectangle 120"/>
                  <p:cNvSpPr/>
                  <p:nvPr/>
                </p:nvSpPr>
                <p:spPr>
                  <a:xfrm>
                    <a:off x="0" y="0"/>
                    <a:ext cx="491" cy="327"/>
                  </a:xfrm>
                  <a:prstGeom prst="rect">
                    <a:avLst/>
                  </a:prstGeom>
                  <a:noFill/>
                  <a:ln w="7"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sp>
            <p:nvSpPr>
              <p:cNvPr id="105486" name="Rectangle 123"/>
              <p:cNvSpPr/>
              <p:nvPr/>
            </p:nvSpPr>
            <p:spPr>
              <a:xfrm>
                <a:off x="0" y="0"/>
                <a:ext cx="2383" cy="333"/>
              </a:xfrm>
              <a:prstGeom prst="rect">
                <a:avLst/>
              </a:prstGeom>
              <a:noFill/>
              <a:ln w="9525" cap="flat" cmpd="sng">
                <a:solidFill>
                  <a:srgbClr val="A0A0A0"/>
                </a:solidFill>
                <a:prstDash val="solid"/>
                <a:miter/>
                <a:headEnd type="none" w="med" len="med"/>
                <a:tailEnd type="none" w="med" len="med"/>
              </a:ln>
            </p:spPr>
            <p:txBody>
              <a:bodyPr wrap="none"/>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
                </a:pPr>
                <a:endParaRPr lang="zh-CN" altLang="en-US" sz="1600" dirty="0"/>
              </a:p>
            </p:txBody>
          </p:sp>
        </p:grpSp>
      </p:grpSp>
      <p:sp>
        <p:nvSpPr>
          <p:cNvPr id="105477" name="矩形 57"/>
          <p:cNvSpPr/>
          <p:nvPr/>
        </p:nvSpPr>
        <p:spPr>
          <a:xfrm>
            <a:off x="538163" y="792163"/>
            <a:ext cx="8375650" cy="674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cxnSp>
        <p:nvCxnSpPr>
          <p:cNvPr id="105478" name="直接箭头连接符 55"/>
          <p:cNvCxnSpPr/>
          <p:nvPr/>
        </p:nvCxnSpPr>
        <p:spPr>
          <a:xfrm rot="-10800000" flipV="1">
            <a:off x="4732338" y="5037138"/>
            <a:ext cx="1900237" cy="158750"/>
          </a:xfrm>
          <a:prstGeom prst="straightConnector1">
            <a:avLst/>
          </a:prstGeom>
          <a:ln w="9525" cap="flat" cmpd="sng">
            <a:solidFill>
              <a:schemeClr val="tx1"/>
            </a:solidFill>
            <a:prstDash val="solid"/>
            <a:headEnd type="none" w="med" len="med"/>
            <a:tailEnd type="arrow" w="med" len="med"/>
          </a:ln>
        </p:spPr>
      </p:cxnSp>
      <p:cxnSp>
        <p:nvCxnSpPr>
          <p:cNvPr id="105479" name="直接箭头连接符 59"/>
          <p:cNvCxnSpPr/>
          <p:nvPr/>
        </p:nvCxnSpPr>
        <p:spPr>
          <a:xfrm rot="-10800000" flipV="1">
            <a:off x="5994400" y="5189538"/>
            <a:ext cx="790575" cy="238125"/>
          </a:xfrm>
          <a:prstGeom prst="straightConnector1">
            <a:avLst/>
          </a:prstGeom>
          <a:ln w="9525" cap="flat" cmpd="sng">
            <a:solidFill>
              <a:schemeClr val="tx1"/>
            </a:solidFill>
            <a:prstDash val="solid"/>
            <a:headEnd type="none" w="med" len="med"/>
            <a:tailEnd type="arrow" w="med" len="med"/>
          </a:ln>
        </p:spPr>
      </p:cxnSp>
      <p:sp>
        <p:nvSpPr>
          <p:cNvPr id="105480" name="Rectangle 25"/>
          <p:cNvSpPr/>
          <p:nvPr/>
        </p:nvSpPr>
        <p:spPr>
          <a:xfrm>
            <a:off x="6618288" y="4684713"/>
            <a:ext cx="1233487" cy="4460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主键：</a:t>
            </a:r>
            <a:endParaRPr lang="zh-CN" altLang="en-US" dirty="0">
              <a:latin typeface="Times New Roman" panose="02020603050405020304" pitchFamily="18" charset="0"/>
            </a:endParaRPr>
          </a:p>
        </p:txBody>
      </p:sp>
      <p:sp>
        <p:nvSpPr>
          <p:cNvPr id="105481" name="Rectangle 25"/>
          <p:cNvSpPr/>
          <p:nvPr/>
        </p:nvSpPr>
        <p:spPr>
          <a:xfrm>
            <a:off x="6792913" y="5026025"/>
            <a:ext cx="1233487" cy="4460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115000"/>
              </a:lnSpc>
              <a:spcBef>
                <a:spcPct val="0"/>
              </a:spcBef>
              <a:buClrTx/>
              <a:buSzTx/>
              <a:buNone/>
            </a:pPr>
            <a:r>
              <a:rPr lang="zh-CN" altLang="en-US" dirty="0">
                <a:latin typeface="Times New Roman" panose="02020603050405020304" pitchFamily="18" charset="0"/>
              </a:rPr>
              <a:t>外键：</a:t>
            </a:r>
            <a:endParaRPr lang="zh-CN" altLang="en-US" dirty="0">
              <a:latin typeface="Times New Roman" panose="02020603050405020304" pitchFamily="18" charset="0"/>
            </a:endParaRPr>
          </a:p>
        </p:txBody>
      </p:sp>
      <p:sp>
        <p:nvSpPr>
          <p:cNvPr id="105482"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Text Box 2"/>
          <p:cNvSpPr txBox="1"/>
          <p:nvPr/>
        </p:nvSpPr>
        <p:spPr>
          <a:xfrm>
            <a:off x="582613" y="1449388"/>
            <a:ext cx="8140700" cy="863600"/>
          </a:xfrm>
          <a:prstGeom prst="rect">
            <a:avLst/>
          </a:prstGeom>
          <a:noFill/>
          <a:ln w="9525">
            <a:noFill/>
          </a:ln>
        </p:spPr>
        <p:txBody>
          <a:bodyPr>
            <a:spAutoFit/>
          </a:bodyPr>
          <a:lstStyle/>
          <a:p>
            <a:pPr marL="342900" marR="0" indent="-342900" defTabSz="914400" eaLnBrk="1" hangingPunct="1">
              <a:lnSpc>
                <a:spcPct val="115000"/>
              </a:lnSpc>
              <a:buClr>
                <a:schemeClr val="accent2"/>
              </a:buClr>
              <a:buSzTx/>
              <a:buFont typeface="Wingdings" panose="05000000000000000000" pitchFamily="2" charset="2"/>
              <a:buChar char="p"/>
              <a:defRPr/>
            </a:pP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一个</a:t>
            </a:r>
            <a:r>
              <a:rPr kumimoji="0" lang="en-US" altLang="x-none"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1:1</a:t>
            </a: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联系可以转换为一个独立的关系模式，也可以与任意一端对应的关系模式合并。</a:t>
            </a:r>
            <a:endPar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sp>
        <p:nvSpPr>
          <p:cNvPr id="79875" name="Rectangle 3"/>
          <p:cNvSpPr txBox="1"/>
          <p:nvPr/>
        </p:nvSpPr>
        <p:spPr>
          <a:xfrm>
            <a:off x="606425" y="2341563"/>
            <a:ext cx="8142288" cy="2351088"/>
          </a:xfrm>
          <a:prstGeom prst="rect">
            <a:avLst/>
          </a:prstGeom>
          <a:noFill/>
          <a:ln w="9525">
            <a:noFill/>
          </a:ln>
        </p:spPr>
        <p:txBody>
          <a:bodyPr/>
          <a:lstStyle/>
          <a:p>
            <a:pPr marL="342900" marR="0" indent="-342900" defTabSz="914400" eaLnBrk="1" hangingPunct="1">
              <a:lnSpc>
                <a:spcPct val="110000"/>
              </a:lnSpc>
              <a:spcBef>
                <a:spcPts val="300"/>
              </a:spcBef>
              <a:buClr>
                <a:srgbClr val="0033CC"/>
              </a:buClr>
              <a:buSzPct val="80000"/>
              <a:buFont typeface="Wingdings" panose="05000000000000000000" pitchFamily="2" charset="2"/>
              <a:buNone/>
              <a:defRPr/>
            </a:pP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1）</a:t>
            </a: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转换为一个独立的关系模式</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关系的属性：</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与该联系相连的各实体的标识符以及联系本身的属性</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关系的候选键：</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每个实体的标识符均是该关系的候选键</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None/>
              <a:defRPr/>
            </a:pP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2</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）与某一端对应的关系模式合并</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合并后关系的属性：</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加入对应关系的主键和联系本身的属性</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0000"/>
              </a:lnSpc>
              <a:spcBef>
                <a:spcPts val="300"/>
              </a:spcBef>
              <a:buClr>
                <a:srgbClr val="0033CC"/>
              </a:buClr>
              <a:buSzTx/>
              <a:buFont typeface="Wingdings" panose="05000000000000000000" pitchFamily="2" charset="2"/>
              <a:buChar char="Ø"/>
              <a:defRPr/>
            </a:pPr>
            <a:r>
              <a:rPr kumimoji="0" lang="zh-CN" altLang="en-US" sz="2000" u="sng" kern="1200" cap="none" spc="0" normalizeH="0" baseline="0" noProof="1">
                <a:solidFill>
                  <a:srgbClr val="FF3300"/>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合并后关系的主键：</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不变</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grpSp>
        <p:nvGrpSpPr>
          <p:cNvPr id="106500" name="Group 6"/>
          <p:cNvGrpSpPr/>
          <p:nvPr/>
        </p:nvGrpSpPr>
        <p:grpSpPr>
          <a:xfrm>
            <a:off x="774700" y="4727575"/>
            <a:ext cx="4191000" cy="1600200"/>
            <a:chOff x="0" y="0"/>
            <a:chExt cx="2640" cy="1081"/>
          </a:xfrm>
        </p:grpSpPr>
        <p:grpSp>
          <p:nvGrpSpPr>
            <p:cNvPr id="106504" name="Group 7"/>
            <p:cNvGrpSpPr/>
            <p:nvPr/>
          </p:nvGrpSpPr>
          <p:grpSpPr>
            <a:xfrm>
              <a:off x="0" y="62"/>
              <a:ext cx="2640" cy="1019"/>
              <a:chOff x="0" y="0"/>
              <a:chExt cx="4764" cy="1704"/>
            </a:xfrm>
          </p:grpSpPr>
          <p:sp>
            <p:nvSpPr>
              <p:cNvPr id="106506" name="Text Box 50"/>
              <p:cNvSpPr txBox="1"/>
              <p:nvPr/>
            </p:nvSpPr>
            <p:spPr>
              <a:xfrm>
                <a:off x="1104" y="4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1</a:t>
                </a:r>
                <a:endParaRPr lang="en-US" altLang="zh-CN" dirty="0">
                  <a:latin typeface="Times New Roman" panose="02020603050405020304" pitchFamily="18" charset="0"/>
                </a:endParaRPr>
              </a:p>
            </p:txBody>
          </p:sp>
          <p:sp>
            <p:nvSpPr>
              <p:cNvPr id="106507" name="Oval 51"/>
              <p:cNvSpPr/>
              <p:nvPr/>
            </p:nvSpPr>
            <p:spPr>
              <a:xfrm>
                <a:off x="36"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k</a:t>
                </a:r>
                <a:endParaRPr lang="en-US" altLang="zh-CN" dirty="0">
                  <a:latin typeface="Times New Roman" panose="02020603050405020304" pitchFamily="18" charset="0"/>
                </a:endParaRPr>
              </a:p>
            </p:txBody>
          </p:sp>
          <p:sp>
            <p:nvSpPr>
              <p:cNvPr id="106508" name="AutoShape 52"/>
              <p:cNvSpPr/>
              <p:nvPr/>
            </p:nvSpPr>
            <p:spPr>
              <a:xfrm>
                <a:off x="2052" y="4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r</a:t>
                </a:r>
                <a:endParaRPr lang="en-US" altLang="zh-CN" dirty="0">
                  <a:latin typeface="Times New Roman" panose="02020603050405020304" pitchFamily="18" charset="0"/>
                </a:endParaRPr>
              </a:p>
            </p:txBody>
          </p:sp>
          <p:sp>
            <p:nvSpPr>
              <p:cNvPr id="106509" name="Rectangle 53"/>
              <p:cNvSpPr/>
              <p:nvPr/>
            </p:nvSpPr>
            <p:spPr>
              <a:xfrm>
                <a:off x="1728" y="3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sp>
            <p:nvSpPr>
              <p:cNvPr id="106510" name="Oval 54"/>
              <p:cNvSpPr/>
              <p:nvPr/>
            </p:nvSpPr>
            <p:spPr>
              <a:xfrm>
                <a:off x="0" y="7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5000"/>
                  </a:lnSpc>
                  <a:spcBef>
                    <a:spcPct val="0"/>
                  </a:spcBef>
                  <a:buClrTx/>
                  <a:buSzTx/>
                  <a:buNone/>
                </a:pPr>
                <a:r>
                  <a:rPr lang="en-US" altLang="zh-CN" dirty="0">
                    <a:latin typeface="Times New Roman" panose="02020603050405020304" pitchFamily="18" charset="0"/>
                  </a:rPr>
                  <a:t>a</a:t>
                </a:r>
                <a:endParaRPr lang="en-US" altLang="zh-CN" dirty="0">
                  <a:latin typeface="Times New Roman" panose="02020603050405020304" pitchFamily="18" charset="0"/>
                </a:endParaRPr>
              </a:p>
            </p:txBody>
          </p:sp>
          <p:sp>
            <p:nvSpPr>
              <p:cNvPr id="106511" name="Line 55"/>
              <p:cNvSpPr/>
              <p:nvPr/>
            </p:nvSpPr>
            <p:spPr>
              <a:xfrm>
                <a:off x="732" y="216"/>
                <a:ext cx="372" cy="360"/>
              </a:xfrm>
              <a:prstGeom prst="line">
                <a:avLst/>
              </a:prstGeom>
              <a:ln w="9525" cap="flat" cmpd="sng">
                <a:solidFill>
                  <a:srgbClr val="000000"/>
                </a:solidFill>
                <a:prstDash val="solid"/>
                <a:headEnd type="none" w="med" len="med"/>
                <a:tailEnd type="none" w="med" len="med"/>
              </a:ln>
            </p:spPr>
          </p:sp>
          <p:sp>
            <p:nvSpPr>
              <p:cNvPr id="106512" name="Oval 56"/>
              <p:cNvSpPr/>
              <p:nvPr/>
            </p:nvSpPr>
            <p:spPr>
              <a:xfrm>
                <a:off x="4056" y="24"/>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h</a:t>
                </a:r>
                <a:endParaRPr lang="en-US" altLang="zh-CN" dirty="0">
                  <a:latin typeface="Times New Roman" panose="02020603050405020304" pitchFamily="18" charset="0"/>
                </a:endParaRPr>
              </a:p>
            </p:txBody>
          </p:sp>
          <p:sp>
            <p:nvSpPr>
              <p:cNvPr id="106513" name="Text Box 57"/>
              <p:cNvSpPr txBox="1"/>
              <p:nvPr/>
            </p:nvSpPr>
            <p:spPr>
              <a:xfrm>
                <a:off x="3192" y="480"/>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1080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E</a:t>
                </a:r>
                <a:r>
                  <a:rPr lang="en-US" altLang="zh-CN" baseline="-25000" dirty="0">
                    <a:latin typeface="Times New Roman" panose="02020603050405020304" pitchFamily="18" charset="0"/>
                  </a:rPr>
                  <a:t>2</a:t>
                </a:r>
                <a:endParaRPr lang="en-US" altLang="zh-CN" dirty="0">
                  <a:latin typeface="Times New Roman" panose="02020603050405020304" pitchFamily="18" charset="0"/>
                </a:endParaRPr>
              </a:p>
            </p:txBody>
          </p:sp>
          <p:sp>
            <p:nvSpPr>
              <p:cNvPr id="106514" name="Line 58"/>
              <p:cNvSpPr/>
              <p:nvPr/>
            </p:nvSpPr>
            <p:spPr>
              <a:xfrm flipV="1">
                <a:off x="696" y="732"/>
                <a:ext cx="408" cy="240"/>
              </a:xfrm>
              <a:prstGeom prst="line">
                <a:avLst/>
              </a:prstGeom>
              <a:ln w="9525" cap="flat" cmpd="sng">
                <a:solidFill>
                  <a:srgbClr val="000000"/>
                </a:solidFill>
                <a:prstDash val="solid"/>
                <a:headEnd type="none" w="med" len="med"/>
                <a:tailEnd type="none" w="med" len="med"/>
              </a:ln>
            </p:spPr>
          </p:sp>
          <p:sp>
            <p:nvSpPr>
              <p:cNvPr id="106515" name="Line 59"/>
              <p:cNvSpPr/>
              <p:nvPr/>
            </p:nvSpPr>
            <p:spPr>
              <a:xfrm>
                <a:off x="1644" y="684"/>
                <a:ext cx="420" cy="0"/>
              </a:xfrm>
              <a:prstGeom prst="line">
                <a:avLst/>
              </a:prstGeom>
              <a:ln w="9525" cap="flat" cmpd="sng">
                <a:solidFill>
                  <a:srgbClr val="000000"/>
                </a:solidFill>
                <a:prstDash val="solid"/>
                <a:headEnd type="none" w="med" len="med"/>
                <a:tailEnd type="none" w="med" len="med"/>
              </a:ln>
            </p:spPr>
          </p:sp>
          <p:sp>
            <p:nvSpPr>
              <p:cNvPr id="106516" name="Line 60"/>
              <p:cNvSpPr/>
              <p:nvPr/>
            </p:nvSpPr>
            <p:spPr>
              <a:xfrm>
                <a:off x="2784" y="684"/>
                <a:ext cx="420" cy="0"/>
              </a:xfrm>
              <a:prstGeom prst="line">
                <a:avLst/>
              </a:prstGeom>
              <a:ln w="9525" cap="flat" cmpd="sng">
                <a:solidFill>
                  <a:srgbClr val="000000"/>
                </a:solidFill>
                <a:prstDash val="solid"/>
                <a:headEnd type="none" w="med" len="med"/>
                <a:tailEnd type="none" w="med" len="med"/>
              </a:ln>
            </p:spPr>
          </p:sp>
          <p:sp>
            <p:nvSpPr>
              <p:cNvPr id="106517" name="Oval 61"/>
              <p:cNvSpPr/>
              <p:nvPr/>
            </p:nvSpPr>
            <p:spPr>
              <a:xfrm>
                <a:off x="4032" y="756"/>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dirty="0">
                    <a:latin typeface="Times New Roman" panose="02020603050405020304" pitchFamily="18" charset="0"/>
                  </a:rPr>
                  <a:t>b</a:t>
                </a:r>
                <a:endParaRPr lang="en-US" altLang="zh-CN" dirty="0">
                  <a:latin typeface="Times New Roman" panose="02020603050405020304" pitchFamily="18" charset="0"/>
                </a:endParaRPr>
              </a:p>
            </p:txBody>
          </p:sp>
          <p:sp>
            <p:nvSpPr>
              <p:cNvPr id="106518" name="Oval 62"/>
              <p:cNvSpPr/>
              <p:nvPr/>
            </p:nvSpPr>
            <p:spPr>
              <a:xfrm>
                <a:off x="2064" y="127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en-US" altLang="zh-CN" dirty="0">
                    <a:latin typeface="Times New Roman" panose="02020603050405020304" pitchFamily="18" charset="0"/>
                  </a:rPr>
                  <a:t>s</a:t>
                </a:r>
                <a:endParaRPr lang="en-US" altLang="zh-CN" dirty="0">
                  <a:latin typeface="Times New Roman" panose="02020603050405020304" pitchFamily="18" charset="0"/>
                </a:endParaRPr>
              </a:p>
            </p:txBody>
          </p:sp>
          <p:sp>
            <p:nvSpPr>
              <p:cNvPr id="106519" name="Rectangle 63"/>
              <p:cNvSpPr/>
              <p:nvPr/>
            </p:nvSpPr>
            <p:spPr>
              <a:xfrm>
                <a:off x="2808" y="348"/>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dirty="0">
                    <a:latin typeface="Times New Roman" panose="02020603050405020304" pitchFamily="18" charset="0"/>
                  </a:rPr>
                  <a:t>1</a:t>
                </a:r>
                <a:endParaRPr lang="en-US" altLang="zh-CN" dirty="0">
                  <a:latin typeface="Times New Roman" panose="02020603050405020304" pitchFamily="18" charset="0"/>
                </a:endParaRPr>
              </a:p>
            </p:txBody>
          </p:sp>
          <p:sp>
            <p:nvSpPr>
              <p:cNvPr id="106520" name="Line 64"/>
              <p:cNvSpPr/>
              <p:nvPr/>
            </p:nvSpPr>
            <p:spPr>
              <a:xfrm flipV="1">
                <a:off x="3708" y="276"/>
                <a:ext cx="372" cy="300"/>
              </a:xfrm>
              <a:prstGeom prst="line">
                <a:avLst/>
              </a:prstGeom>
              <a:ln w="9525" cap="flat" cmpd="sng">
                <a:solidFill>
                  <a:srgbClr val="000000"/>
                </a:solidFill>
                <a:prstDash val="solid"/>
                <a:headEnd type="none" w="med" len="med"/>
                <a:tailEnd type="none" w="med" len="med"/>
              </a:ln>
            </p:spPr>
          </p:sp>
          <p:sp>
            <p:nvSpPr>
              <p:cNvPr id="106521" name="Line 65"/>
              <p:cNvSpPr/>
              <p:nvPr/>
            </p:nvSpPr>
            <p:spPr>
              <a:xfrm>
                <a:off x="3708" y="744"/>
                <a:ext cx="372" cy="108"/>
              </a:xfrm>
              <a:prstGeom prst="line">
                <a:avLst/>
              </a:prstGeom>
              <a:ln w="9525" cap="flat" cmpd="sng">
                <a:solidFill>
                  <a:srgbClr val="000000"/>
                </a:solidFill>
                <a:prstDash val="solid"/>
                <a:headEnd type="none" w="med" len="med"/>
                <a:tailEnd type="none" w="med" len="med"/>
              </a:ln>
            </p:spPr>
          </p:sp>
          <p:sp>
            <p:nvSpPr>
              <p:cNvPr id="106522" name="Line 66"/>
              <p:cNvSpPr/>
              <p:nvPr/>
            </p:nvSpPr>
            <p:spPr>
              <a:xfrm>
                <a:off x="2400" y="936"/>
                <a:ext cx="0" cy="348"/>
              </a:xfrm>
              <a:prstGeom prst="line">
                <a:avLst/>
              </a:prstGeom>
              <a:ln w="9525" cap="flat" cmpd="sng">
                <a:solidFill>
                  <a:srgbClr val="000000"/>
                </a:solidFill>
                <a:prstDash val="solid"/>
                <a:headEnd type="none" w="med" len="med"/>
                <a:tailEnd type="none" w="med" len="med"/>
              </a:ln>
            </p:spPr>
          </p:sp>
          <p:sp>
            <p:nvSpPr>
              <p:cNvPr id="106523" name="Line 67"/>
              <p:cNvSpPr/>
              <p:nvPr/>
            </p:nvSpPr>
            <p:spPr>
              <a:xfrm flipH="1">
                <a:off x="744" y="216"/>
                <a:ext cx="180" cy="240"/>
              </a:xfrm>
              <a:prstGeom prst="line">
                <a:avLst/>
              </a:prstGeom>
              <a:ln w="9525" cap="flat" cmpd="sng">
                <a:solidFill>
                  <a:srgbClr val="000000"/>
                </a:solidFill>
                <a:prstDash val="solid"/>
                <a:headEnd type="none" w="med" len="med"/>
                <a:tailEnd type="none" w="med" len="med"/>
              </a:ln>
            </p:spPr>
          </p:sp>
          <p:sp>
            <p:nvSpPr>
              <p:cNvPr id="106524" name="Line 68"/>
              <p:cNvSpPr/>
              <p:nvPr/>
            </p:nvSpPr>
            <p:spPr>
              <a:xfrm>
                <a:off x="3840" y="288"/>
                <a:ext cx="168" cy="204"/>
              </a:xfrm>
              <a:prstGeom prst="line">
                <a:avLst/>
              </a:prstGeom>
              <a:ln w="9525" cap="flat" cmpd="sng">
                <a:solidFill>
                  <a:srgbClr val="000000"/>
                </a:solidFill>
                <a:prstDash val="solid"/>
                <a:headEnd type="none" w="med" len="med"/>
                <a:tailEnd type="none" w="med" len="med"/>
              </a:ln>
            </p:spPr>
          </p:sp>
        </p:grpSp>
        <p:sp>
          <p:nvSpPr>
            <p:cNvPr id="106505" name="Rectangle 69"/>
            <p:cNvSpPr/>
            <p:nvPr/>
          </p:nvSpPr>
          <p:spPr>
            <a:xfrm>
              <a:off x="720" y="0"/>
              <a:ext cx="1152" cy="31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None/>
              </a:pPr>
              <a:r>
                <a:rPr lang="en-US" altLang="zh-CN" dirty="0">
                  <a:latin typeface="Times New Roman" panose="02020603050405020304" pitchFamily="18" charset="0"/>
                </a:rPr>
                <a:t>l</a:t>
              </a:r>
              <a:r>
                <a:rPr lang="zh-CN" altLang="en-US" dirty="0">
                  <a:latin typeface="Times New Roman" panose="02020603050405020304" pitchFamily="18" charset="0"/>
                </a:rPr>
                <a:t>：</a:t>
              </a:r>
              <a:r>
                <a:rPr lang="en-US" altLang="zh-CN" dirty="0">
                  <a:latin typeface="Times New Roman" panose="02020603050405020304" pitchFamily="18" charset="0"/>
                </a:rPr>
                <a:t>l </a:t>
              </a:r>
              <a:r>
                <a:rPr lang="zh-CN" altLang="en-US" dirty="0">
                  <a:latin typeface="Times New Roman" panose="02020603050405020304" pitchFamily="18" charset="0"/>
                </a:rPr>
                <a:t>联系 </a:t>
              </a:r>
              <a:endParaRPr lang="zh-CN" altLang="en-US" dirty="0">
                <a:latin typeface="Times New Roman" panose="02020603050405020304" pitchFamily="18" charset="0"/>
              </a:endParaRPr>
            </a:p>
          </p:txBody>
        </p:sp>
      </p:grpSp>
      <p:sp>
        <p:nvSpPr>
          <p:cNvPr id="106501" name="Rectangle 102"/>
          <p:cNvSpPr/>
          <p:nvPr/>
        </p:nvSpPr>
        <p:spPr>
          <a:xfrm>
            <a:off x="5408613" y="5305425"/>
            <a:ext cx="3092450"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90000"/>
              </a:lnSpc>
              <a:spcBef>
                <a:spcPct val="0"/>
              </a:spcBef>
              <a:buClrTx/>
              <a:buSzTx/>
              <a:buNone/>
            </a:pPr>
            <a:r>
              <a:rPr lang="zh-CN" altLang="en-US" dirty="0">
                <a:latin typeface="Times New Roman" panose="02020603050405020304" pitchFamily="18" charset="0"/>
              </a:rPr>
              <a:t>可以一个关系模式：</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zh-CN" altLang="en-US" dirty="0">
                <a:latin typeface="Times New Roman" panose="02020603050405020304" pitchFamily="18" charset="0"/>
              </a:rPr>
              <a:t>（ </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 </a:t>
            </a:r>
            <a:r>
              <a:rPr lang="zh-CN" altLang="en-US" dirty="0">
                <a:latin typeface="Times New Roman" panose="02020603050405020304" pitchFamily="18" charset="0"/>
              </a:rPr>
              <a:t>， </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r>
              <a:rPr lang="en-US" altLang="zh-CN" dirty="0">
                <a:latin typeface="Times New Roman" panose="02020603050405020304" pitchFamily="18" charset="0"/>
              </a:rPr>
              <a:t>s </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
        <p:nvSpPr>
          <p:cNvPr id="106502" name="矩形 29"/>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二元联系的转换方法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6503"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Text Box 6"/>
          <p:cNvSpPr txBox="1"/>
          <p:nvPr/>
        </p:nvSpPr>
        <p:spPr>
          <a:xfrm>
            <a:off x="536575" y="1452563"/>
            <a:ext cx="8607425" cy="457200"/>
          </a:xfrm>
          <a:prstGeom prst="rect">
            <a:avLst/>
          </a:prstGeom>
          <a:noFill/>
          <a:ln w="9525">
            <a:noFill/>
          </a:ln>
        </p:spPr>
        <p:txBody>
          <a:bodyPr>
            <a:spAutoFit/>
          </a:bodyPr>
          <a:lstStyle/>
          <a:p>
            <a:pPr marL="342900" marR="0" indent="-342900" defTabSz="914400" eaLnBrk="1" hangingPunct="1">
              <a:lnSpc>
                <a:spcPct val="120000"/>
              </a:lnSpc>
              <a:buClrTx/>
              <a:buSzTx/>
              <a:buFont typeface="Wingdings" panose="05000000000000000000" pitchFamily="2" charset="2"/>
              <a:buChar char="p"/>
              <a:defRPr/>
            </a:pP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三个或三个以上实体间的一个多元联系转换为一个关系模式。</a:t>
            </a:r>
            <a:endPar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p:txBody>
      </p:sp>
      <p:sp>
        <p:nvSpPr>
          <p:cNvPr id="80899" name="Text Box 7"/>
          <p:cNvSpPr txBox="1"/>
          <p:nvPr/>
        </p:nvSpPr>
        <p:spPr>
          <a:xfrm>
            <a:off x="498475" y="1962150"/>
            <a:ext cx="8645525" cy="823913"/>
          </a:xfrm>
          <a:prstGeom prst="rect">
            <a:avLst/>
          </a:prstGeom>
          <a:noFill/>
          <a:ln w="9525">
            <a:noFill/>
          </a:ln>
        </p:spPr>
        <p:txBody>
          <a:bodyPr>
            <a:spAutoFit/>
          </a:bodyPr>
          <a:lstStyle/>
          <a:p>
            <a:pPr marL="742950" marR="0" lvl="1" indent="-285750" algn="l" defTabSz="914400" rtl="0" eaLnBrk="1" fontAlgn="base" latinLnBrk="0" hangingPunct="1">
              <a:lnSpc>
                <a:spcPct val="115000"/>
              </a:lnSpc>
              <a:spcBef>
                <a:spcPct val="10000"/>
              </a:spcBef>
              <a:spcAft>
                <a:spcPct val="0"/>
              </a:spcAft>
              <a:buClr>
                <a:srgbClr val="0033CC"/>
              </a:buClr>
              <a:buSzTx/>
              <a:buFont typeface="Wingdings" panose="05000000000000000000" pitchFamily="2" charset="2"/>
              <a:buChar char="Ø"/>
              <a:defRPr/>
            </a:pPr>
            <a:r>
              <a:rPr kumimoji="0" lang="zh-CN" altLang="en-US" sz="20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关系的属性：</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与该联系相连的各实体的标识符以及联系本身的属性</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a:p>
            <a:pPr marL="742950" marR="0" lvl="1" indent="-285750" algn="l" defTabSz="914400" rtl="0" eaLnBrk="1" fontAlgn="base" latinLnBrk="0" hangingPunct="1">
              <a:lnSpc>
                <a:spcPct val="115000"/>
              </a:lnSpc>
              <a:spcBef>
                <a:spcPct val="10000"/>
              </a:spcBef>
              <a:spcAft>
                <a:spcPct val="0"/>
              </a:spcAft>
              <a:buClr>
                <a:srgbClr val="0033CC"/>
              </a:buClr>
              <a:buSzTx/>
              <a:buFont typeface="Wingdings" panose="05000000000000000000" pitchFamily="2" charset="2"/>
              <a:buChar char="Ø"/>
              <a:defRPr/>
            </a:pPr>
            <a:r>
              <a:rPr kumimoji="0" lang="zh-CN" altLang="en-US" sz="2000" b="1" i="0" u="sng" strike="noStrike" kern="1200" cap="none" spc="0" normalizeH="0" baseline="0" noProof="1">
                <a:ln>
                  <a:noFill/>
                </a:ln>
                <a:solidFill>
                  <a:srgbClr val="0033CC"/>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关系的主键：</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sym typeface="Arial" panose="020B0604020202020204" pitchFamily="34" charset="0"/>
              </a:rPr>
              <a:t>各实体标识符的组合</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sym typeface="Arial" panose="020B0604020202020204" pitchFamily="34" charset="0"/>
            </a:endParaRPr>
          </a:p>
        </p:txBody>
      </p:sp>
      <p:sp>
        <p:nvSpPr>
          <p:cNvPr id="107524" name="Rectangle 25"/>
          <p:cNvSpPr/>
          <p:nvPr/>
        </p:nvSpPr>
        <p:spPr>
          <a:xfrm>
            <a:off x="4625975" y="2863850"/>
            <a:ext cx="4587875" cy="201453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just" eaLnBrk="1" hangingPunct="1">
              <a:lnSpc>
                <a:spcPct val="90000"/>
              </a:lnSpc>
              <a:spcBef>
                <a:spcPct val="0"/>
              </a:spcBef>
              <a:buClrTx/>
              <a:buSzTx/>
              <a:buNone/>
            </a:pPr>
            <a:r>
              <a:rPr lang="zh-CN" altLang="en-US" dirty="0">
                <a:latin typeface="宋体" panose="02010600030101010101" pitchFamily="2" charset="-122"/>
              </a:rPr>
              <a:t>转换的关系模式为：</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1</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dirty="0">
                <a:latin typeface="Times New Roman" panose="02020603050405020304" pitchFamily="18" charset="0"/>
              </a:rPr>
              <a:t>，</a:t>
            </a:r>
            <a:r>
              <a:rPr lang="en-US" altLang="zh-CN"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2</a:t>
            </a:r>
            <a:r>
              <a:rPr lang="zh-CN" altLang="en-US" dirty="0">
                <a:latin typeface="Times New Roman" panose="02020603050405020304" pitchFamily="18" charset="0"/>
              </a:rPr>
              <a:t>（</a:t>
            </a:r>
            <a:r>
              <a:rPr lang="en-US" altLang="zh-CN" u="sng" dirty="0">
                <a:latin typeface="Times New Roman" panose="02020603050405020304" pitchFamily="18" charset="0"/>
              </a:rPr>
              <a:t>h</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3</a:t>
            </a:r>
            <a:r>
              <a:rPr lang="zh-CN" altLang="en-US" dirty="0">
                <a:latin typeface="Times New Roman" panose="02020603050405020304" pitchFamily="18" charset="0"/>
              </a:rPr>
              <a:t>（</a:t>
            </a:r>
            <a:r>
              <a:rPr lang="en-US" altLang="zh-CN" u="sng" dirty="0">
                <a:latin typeface="Times New Roman" panose="02020603050405020304" pitchFamily="18" charset="0"/>
              </a:rPr>
              <a:t>j </a:t>
            </a:r>
            <a:r>
              <a:rPr lang="zh-CN" altLang="en-US" dirty="0">
                <a:latin typeface="Times New Roman" panose="02020603050405020304" pitchFamily="18" charset="0"/>
              </a:rPr>
              <a:t>，</a:t>
            </a:r>
            <a:r>
              <a:rPr lang="en-US" altLang="zh-CN" dirty="0">
                <a:latin typeface="Times New Roman" panose="02020603050405020304" pitchFamily="18" charset="0"/>
              </a:rPr>
              <a:t>c</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R</a:t>
            </a:r>
            <a:r>
              <a:rPr lang="en-US" altLang="zh-CN" baseline="-30000" dirty="0">
                <a:latin typeface="Times New Roman" panose="02020603050405020304" pitchFamily="18" charset="0"/>
              </a:rPr>
              <a:t>4</a:t>
            </a:r>
            <a:r>
              <a:rPr lang="zh-CN" altLang="en-US" dirty="0">
                <a:latin typeface="Times New Roman" panose="02020603050405020304" pitchFamily="18" charset="0"/>
              </a:rPr>
              <a:t>（</a:t>
            </a:r>
            <a:r>
              <a:rPr lang="en-US" altLang="zh-CN" u="sng" dirty="0">
                <a:latin typeface="Times New Roman" panose="02020603050405020304" pitchFamily="18" charset="0"/>
              </a:rPr>
              <a:t>k</a:t>
            </a:r>
            <a:r>
              <a:rPr lang="zh-CN" altLang="en-US" u="sng" dirty="0">
                <a:latin typeface="Times New Roman" panose="02020603050405020304" pitchFamily="18" charset="0"/>
              </a:rPr>
              <a:t>，</a:t>
            </a:r>
            <a:r>
              <a:rPr lang="en-US" altLang="zh-CN" u="sng" dirty="0">
                <a:latin typeface="Times New Roman" panose="02020603050405020304" pitchFamily="18" charset="0"/>
              </a:rPr>
              <a:t>h</a:t>
            </a:r>
            <a:r>
              <a:rPr lang="zh-CN" altLang="en-US" u="sng" dirty="0">
                <a:latin typeface="Times New Roman" panose="02020603050405020304" pitchFamily="18" charset="0"/>
              </a:rPr>
              <a:t>，</a:t>
            </a:r>
            <a:r>
              <a:rPr lang="en-US" altLang="zh-CN" u="sng" dirty="0">
                <a:latin typeface="Times New Roman" panose="02020603050405020304" pitchFamily="18" charset="0"/>
              </a:rPr>
              <a:t>j</a:t>
            </a:r>
            <a:r>
              <a:rPr lang="zh-CN" altLang="en-US" dirty="0">
                <a:latin typeface="Times New Roman" panose="02020603050405020304" pitchFamily="18" charset="0"/>
              </a:rPr>
              <a:t>， </a:t>
            </a:r>
            <a:r>
              <a:rPr lang="en-US" altLang="zh-CN" dirty="0">
                <a:latin typeface="Times New Roman" panose="02020603050405020304" pitchFamily="18" charset="0"/>
              </a:rPr>
              <a:t>s</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marL="0" lvl="0" indent="0" algn="just" eaLnBrk="1" hangingPunct="1">
              <a:lnSpc>
                <a:spcPct val="90000"/>
              </a:lnSpc>
              <a:spcBef>
                <a:spcPct val="0"/>
              </a:spcBef>
              <a:buClrTx/>
              <a:buSzTx/>
              <a:buNone/>
            </a:pPr>
            <a:r>
              <a:rPr lang="en-US" altLang="zh-CN" dirty="0">
                <a:latin typeface="Times New Roman" panose="02020603050405020304" pitchFamily="18" charset="0"/>
              </a:rPr>
              <a:t>(</a:t>
            </a:r>
            <a:r>
              <a:rPr lang="en-US" altLang="zh-CN" u="sng" dirty="0">
                <a:latin typeface="Times New Roman" panose="02020603050405020304" pitchFamily="18" charset="0"/>
              </a:rPr>
              <a:t>k,h,j</a:t>
            </a:r>
            <a:r>
              <a:rPr lang="en-US" altLang="zh-CN" dirty="0">
                <a:latin typeface="Times New Roman" panose="02020603050405020304" pitchFamily="18" charset="0"/>
              </a:rPr>
              <a:t> </a:t>
            </a:r>
            <a:r>
              <a:rPr lang="zh-CN" altLang="en-US" dirty="0">
                <a:latin typeface="Times New Roman" panose="02020603050405020304" pitchFamily="18" charset="0"/>
              </a:rPr>
              <a:t>组成复合主健，</a:t>
            </a:r>
            <a:r>
              <a:rPr lang="en-US" altLang="zh-CN" dirty="0">
                <a:latin typeface="Times New Roman" panose="02020603050405020304" pitchFamily="18" charset="0"/>
              </a:rPr>
              <a:t>k,h,j</a:t>
            </a:r>
            <a:r>
              <a:rPr lang="zh-CN" altLang="en-US" dirty="0">
                <a:latin typeface="Times New Roman" panose="02020603050405020304" pitchFamily="18" charset="0"/>
              </a:rPr>
              <a:t>分别为外键</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marL="0" lvl="0" indent="0" algn="just" eaLnBrk="1" hangingPunct="1">
              <a:lnSpc>
                <a:spcPct val="90000"/>
              </a:lnSpc>
              <a:spcBef>
                <a:spcPct val="0"/>
              </a:spcBef>
              <a:buClrTx/>
              <a:buSzTx/>
              <a:buFont typeface="Wingdings" panose="05000000000000000000" pitchFamily="2" charset="2"/>
              <a:buChar char="•"/>
            </a:pPr>
            <a:endParaRPr lang="en-US" altLang="zh-CN" dirty="0">
              <a:latin typeface="Times New Roman" panose="02020603050405020304" pitchFamily="18" charset="0"/>
            </a:endParaRPr>
          </a:p>
        </p:txBody>
      </p:sp>
      <p:grpSp>
        <p:nvGrpSpPr>
          <p:cNvPr id="107525" name="Group 7"/>
          <p:cNvGrpSpPr/>
          <p:nvPr/>
        </p:nvGrpSpPr>
        <p:grpSpPr>
          <a:xfrm>
            <a:off x="347663" y="2835275"/>
            <a:ext cx="4191000" cy="2133600"/>
            <a:chOff x="0" y="0"/>
            <a:chExt cx="4776" cy="2604"/>
          </a:xfrm>
        </p:grpSpPr>
        <p:sp>
          <p:nvSpPr>
            <p:cNvPr id="107553" name="Text Box 83"/>
            <p:cNvSpPr txBox="1"/>
            <p:nvPr/>
          </p:nvSpPr>
          <p:spPr>
            <a:xfrm>
              <a:off x="1104" y="1080"/>
              <a:ext cx="552" cy="420"/>
            </a:xfrm>
            <a:prstGeom prst="rect">
              <a:avLst/>
            </a:prstGeom>
            <a:solidFill>
              <a:srgbClr val="FFFFFF"/>
            </a:solidFill>
            <a:ln w="9525" cap="flat" cmpd="sng">
              <a:solidFill>
                <a:srgbClr val="000000"/>
              </a:solidFill>
              <a:prstDash val="solid"/>
              <a:miter/>
              <a:headEnd type="none" w="med" len="med"/>
              <a:tailEnd type="none" w="med" len="med"/>
            </a:ln>
          </p:spPr>
          <p:txBody>
            <a:bodyPr t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E</a:t>
              </a:r>
              <a:r>
                <a:rPr lang="en-US" altLang="zh-CN" sz="1400" baseline="-25000" dirty="0">
                  <a:latin typeface="Times New Roman" panose="02020603050405020304" pitchFamily="18" charset="0"/>
                </a:rPr>
                <a:t>1</a:t>
              </a:r>
              <a:endParaRPr lang="en-US" altLang="zh-CN" sz="1400" dirty="0">
                <a:latin typeface="Times New Roman" panose="02020603050405020304" pitchFamily="18" charset="0"/>
              </a:endParaRPr>
            </a:p>
          </p:txBody>
        </p:sp>
        <p:sp>
          <p:nvSpPr>
            <p:cNvPr id="107554" name="Oval 84"/>
            <p:cNvSpPr/>
            <p:nvPr/>
          </p:nvSpPr>
          <p:spPr>
            <a:xfrm>
              <a:off x="36" y="60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k</a:t>
              </a:r>
              <a:endParaRPr lang="en-US" altLang="zh-CN" sz="1400" dirty="0">
                <a:latin typeface="Times New Roman" panose="02020603050405020304" pitchFamily="18" charset="0"/>
              </a:endParaRPr>
            </a:p>
          </p:txBody>
        </p:sp>
        <p:sp>
          <p:nvSpPr>
            <p:cNvPr id="107555" name="AutoShape 85"/>
            <p:cNvSpPr/>
            <p:nvPr/>
          </p:nvSpPr>
          <p:spPr>
            <a:xfrm>
              <a:off x="2052" y="1044"/>
              <a:ext cx="732" cy="492"/>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r</a:t>
              </a:r>
              <a:endParaRPr lang="en-US" altLang="zh-CN" sz="1400" dirty="0">
                <a:latin typeface="Times New Roman" panose="02020603050405020304" pitchFamily="18" charset="0"/>
              </a:endParaRPr>
            </a:p>
          </p:txBody>
        </p:sp>
        <p:sp>
          <p:nvSpPr>
            <p:cNvPr id="107556" name="Rectangle 86"/>
            <p:cNvSpPr/>
            <p:nvPr/>
          </p:nvSpPr>
          <p:spPr>
            <a:xfrm>
              <a:off x="1728" y="936"/>
              <a:ext cx="306"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M</a:t>
              </a:r>
              <a:endParaRPr lang="en-US" altLang="zh-CN" sz="1400" dirty="0">
                <a:latin typeface="Times New Roman" panose="02020603050405020304" pitchFamily="18" charset="0"/>
              </a:endParaRPr>
            </a:p>
          </p:txBody>
        </p:sp>
        <p:sp>
          <p:nvSpPr>
            <p:cNvPr id="107557" name="Oval 87"/>
            <p:cNvSpPr/>
            <p:nvPr/>
          </p:nvSpPr>
          <p:spPr>
            <a:xfrm>
              <a:off x="0" y="138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a</a:t>
              </a:r>
              <a:endParaRPr lang="en-US" altLang="zh-CN" sz="1400" dirty="0">
                <a:latin typeface="Times New Roman" panose="02020603050405020304" pitchFamily="18" charset="0"/>
              </a:endParaRPr>
            </a:p>
          </p:txBody>
        </p:sp>
        <p:sp>
          <p:nvSpPr>
            <p:cNvPr id="107558" name="Line 88"/>
            <p:cNvSpPr/>
            <p:nvPr/>
          </p:nvSpPr>
          <p:spPr>
            <a:xfrm>
              <a:off x="732" y="816"/>
              <a:ext cx="372" cy="360"/>
            </a:xfrm>
            <a:prstGeom prst="line">
              <a:avLst/>
            </a:prstGeom>
            <a:ln w="9525" cap="flat" cmpd="sng">
              <a:solidFill>
                <a:srgbClr val="000000"/>
              </a:solidFill>
              <a:prstDash val="solid"/>
              <a:headEnd type="none" w="med" len="med"/>
              <a:tailEnd type="none" w="med" len="med"/>
            </a:ln>
          </p:spPr>
        </p:sp>
        <p:sp>
          <p:nvSpPr>
            <p:cNvPr id="107559" name="Line 89"/>
            <p:cNvSpPr/>
            <p:nvPr/>
          </p:nvSpPr>
          <p:spPr>
            <a:xfrm flipV="1">
              <a:off x="696" y="1332"/>
              <a:ext cx="408" cy="240"/>
            </a:xfrm>
            <a:prstGeom prst="line">
              <a:avLst/>
            </a:prstGeom>
            <a:ln w="9525" cap="flat" cmpd="sng">
              <a:solidFill>
                <a:srgbClr val="000000"/>
              </a:solidFill>
              <a:prstDash val="solid"/>
              <a:headEnd type="none" w="med" len="med"/>
              <a:tailEnd type="none" w="med" len="med"/>
            </a:ln>
          </p:spPr>
        </p:sp>
        <p:sp>
          <p:nvSpPr>
            <p:cNvPr id="107560" name="Line 90"/>
            <p:cNvSpPr/>
            <p:nvPr/>
          </p:nvSpPr>
          <p:spPr>
            <a:xfrm>
              <a:off x="1644" y="1284"/>
              <a:ext cx="420" cy="0"/>
            </a:xfrm>
            <a:prstGeom prst="line">
              <a:avLst/>
            </a:prstGeom>
            <a:ln w="9525" cap="flat" cmpd="sng">
              <a:solidFill>
                <a:srgbClr val="000000"/>
              </a:solidFill>
              <a:prstDash val="solid"/>
              <a:headEnd type="none" w="med" len="med"/>
              <a:tailEnd type="none" w="med" len="med"/>
            </a:ln>
          </p:spPr>
        </p:sp>
        <p:sp>
          <p:nvSpPr>
            <p:cNvPr id="107561" name="Line 91"/>
            <p:cNvSpPr/>
            <p:nvPr/>
          </p:nvSpPr>
          <p:spPr>
            <a:xfrm flipV="1">
              <a:off x="2424" y="684"/>
              <a:ext cx="780" cy="384"/>
            </a:xfrm>
            <a:prstGeom prst="line">
              <a:avLst/>
            </a:prstGeom>
            <a:ln w="9525" cap="flat" cmpd="sng">
              <a:solidFill>
                <a:srgbClr val="000000"/>
              </a:solidFill>
              <a:prstDash val="solid"/>
              <a:headEnd type="none" w="med" len="med"/>
              <a:tailEnd type="none" w="med" len="med"/>
            </a:ln>
          </p:spPr>
        </p:sp>
        <p:sp>
          <p:nvSpPr>
            <p:cNvPr id="107562" name="Oval 92"/>
            <p:cNvSpPr/>
            <p:nvPr/>
          </p:nvSpPr>
          <p:spPr>
            <a:xfrm>
              <a:off x="3180" y="1092"/>
              <a:ext cx="708" cy="336"/>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en-US" altLang="zh-CN" sz="1400" dirty="0">
                  <a:latin typeface="Times New Roman" panose="02020603050405020304" pitchFamily="18" charset="0"/>
                </a:rPr>
                <a:t>s</a:t>
              </a:r>
              <a:endParaRPr lang="en-US" altLang="zh-CN" sz="1400" dirty="0">
                <a:latin typeface="Times New Roman" panose="02020603050405020304" pitchFamily="18" charset="0"/>
              </a:endParaRPr>
            </a:p>
          </p:txBody>
        </p:sp>
        <p:sp>
          <p:nvSpPr>
            <p:cNvPr id="107563" name="Rectangle 93"/>
            <p:cNvSpPr/>
            <p:nvPr/>
          </p:nvSpPr>
          <p:spPr>
            <a:xfrm>
              <a:off x="2628" y="504"/>
              <a:ext cx="354" cy="33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N</a:t>
              </a:r>
              <a:endParaRPr lang="en-US" altLang="zh-CN" sz="1400" dirty="0">
                <a:latin typeface="Times New Roman" panose="02020603050405020304" pitchFamily="18" charset="0"/>
              </a:endParaRPr>
            </a:p>
          </p:txBody>
        </p:sp>
        <p:sp>
          <p:nvSpPr>
            <p:cNvPr id="107564" name="Line 94"/>
            <p:cNvSpPr/>
            <p:nvPr/>
          </p:nvSpPr>
          <p:spPr>
            <a:xfrm>
              <a:off x="2772" y="1284"/>
              <a:ext cx="432" cy="0"/>
            </a:xfrm>
            <a:prstGeom prst="line">
              <a:avLst/>
            </a:prstGeom>
            <a:ln w="9525" cap="flat" cmpd="sng">
              <a:solidFill>
                <a:srgbClr val="000000"/>
              </a:solidFill>
              <a:prstDash val="solid"/>
              <a:headEnd type="none" w="med" len="med"/>
              <a:tailEnd type="none" w="med" len="med"/>
            </a:ln>
          </p:spPr>
        </p:sp>
        <p:sp>
          <p:nvSpPr>
            <p:cNvPr id="107565" name="Line 95"/>
            <p:cNvSpPr/>
            <p:nvPr/>
          </p:nvSpPr>
          <p:spPr>
            <a:xfrm flipH="1">
              <a:off x="744" y="816"/>
              <a:ext cx="180" cy="240"/>
            </a:xfrm>
            <a:prstGeom prst="line">
              <a:avLst/>
            </a:prstGeom>
            <a:ln w="9525" cap="flat" cmpd="sng">
              <a:solidFill>
                <a:srgbClr val="000000"/>
              </a:solidFill>
              <a:prstDash val="solid"/>
              <a:headEnd type="none" w="med" len="med"/>
              <a:tailEnd type="none" w="med" len="med"/>
            </a:ln>
          </p:spPr>
        </p:sp>
        <p:grpSp>
          <p:nvGrpSpPr>
            <p:cNvPr id="107566" name="Group 21"/>
            <p:cNvGrpSpPr/>
            <p:nvPr/>
          </p:nvGrpSpPr>
          <p:grpSpPr>
            <a:xfrm>
              <a:off x="3192" y="0"/>
              <a:ext cx="1572" cy="1164"/>
              <a:chOff x="0" y="0"/>
              <a:chExt cx="1572" cy="1164"/>
            </a:xfrm>
          </p:grpSpPr>
          <p:sp>
            <p:nvSpPr>
              <p:cNvPr id="107576" name="Oval 97"/>
              <p:cNvSpPr/>
              <p:nvPr/>
            </p:nvSpPr>
            <p:spPr>
              <a:xfrm>
                <a:off x="864"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h</a:t>
                </a:r>
                <a:endParaRPr lang="en-US" altLang="zh-CN" sz="1400" dirty="0">
                  <a:latin typeface="Times New Roman" panose="02020603050405020304" pitchFamily="18" charset="0"/>
                </a:endParaRPr>
              </a:p>
            </p:txBody>
          </p:sp>
          <p:sp>
            <p:nvSpPr>
              <p:cNvPr id="107577" name="Text Box 98"/>
              <p:cNvSpPr txBox="1"/>
              <p:nvPr/>
            </p:nvSpPr>
            <p:spPr>
              <a:xfrm>
                <a:off x="0" y="456"/>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E</a:t>
                </a:r>
                <a:r>
                  <a:rPr lang="en-US" altLang="zh-CN" sz="1400" baseline="-25000" dirty="0">
                    <a:latin typeface="Times New Roman" panose="02020603050405020304" pitchFamily="18" charset="0"/>
                  </a:rPr>
                  <a:t>2</a:t>
                </a:r>
                <a:endParaRPr lang="en-US" altLang="zh-CN" sz="1400" dirty="0">
                  <a:latin typeface="Times New Roman" panose="02020603050405020304" pitchFamily="18" charset="0"/>
                </a:endParaRPr>
              </a:p>
            </p:txBody>
          </p:sp>
          <p:sp>
            <p:nvSpPr>
              <p:cNvPr id="107578" name="Oval 99"/>
              <p:cNvSpPr/>
              <p:nvPr/>
            </p:nvSpPr>
            <p:spPr>
              <a:xfrm>
                <a:off x="840" y="73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b</a:t>
                </a:r>
                <a:endParaRPr lang="en-US" altLang="zh-CN" sz="1400" dirty="0">
                  <a:latin typeface="Times New Roman" panose="02020603050405020304" pitchFamily="18" charset="0"/>
                </a:endParaRPr>
              </a:p>
            </p:txBody>
          </p:sp>
          <p:sp>
            <p:nvSpPr>
              <p:cNvPr id="107579" name="Line 100"/>
              <p:cNvSpPr/>
              <p:nvPr/>
            </p:nvSpPr>
            <p:spPr>
              <a:xfrm flipV="1">
                <a:off x="516" y="252"/>
                <a:ext cx="372" cy="300"/>
              </a:xfrm>
              <a:prstGeom prst="line">
                <a:avLst/>
              </a:prstGeom>
              <a:ln w="9525" cap="flat" cmpd="sng">
                <a:solidFill>
                  <a:srgbClr val="000000"/>
                </a:solidFill>
                <a:prstDash val="solid"/>
                <a:headEnd type="none" w="med" len="med"/>
                <a:tailEnd type="none" w="med" len="med"/>
              </a:ln>
            </p:spPr>
          </p:sp>
          <p:sp>
            <p:nvSpPr>
              <p:cNvPr id="107580" name="Line 101"/>
              <p:cNvSpPr/>
              <p:nvPr/>
            </p:nvSpPr>
            <p:spPr>
              <a:xfrm>
                <a:off x="516" y="720"/>
                <a:ext cx="372" cy="108"/>
              </a:xfrm>
              <a:prstGeom prst="line">
                <a:avLst/>
              </a:prstGeom>
              <a:ln w="9525" cap="flat" cmpd="sng">
                <a:solidFill>
                  <a:srgbClr val="000000"/>
                </a:solidFill>
                <a:prstDash val="solid"/>
                <a:headEnd type="none" w="med" len="med"/>
                <a:tailEnd type="none" w="med" len="med"/>
              </a:ln>
            </p:spPr>
          </p:sp>
          <p:sp>
            <p:nvSpPr>
              <p:cNvPr id="107581" name="Line 102"/>
              <p:cNvSpPr/>
              <p:nvPr/>
            </p:nvSpPr>
            <p:spPr>
              <a:xfrm>
                <a:off x="648" y="264"/>
                <a:ext cx="168" cy="204"/>
              </a:xfrm>
              <a:prstGeom prst="line">
                <a:avLst/>
              </a:prstGeom>
              <a:ln w="9525" cap="flat" cmpd="sng">
                <a:solidFill>
                  <a:srgbClr val="000000"/>
                </a:solidFill>
                <a:prstDash val="solid"/>
                <a:headEnd type="none" w="med" len="med"/>
                <a:tailEnd type="none" w="med" len="med"/>
              </a:ln>
            </p:spPr>
          </p:sp>
        </p:grpSp>
        <p:grpSp>
          <p:nvGrpSpPr>
            <p:cNvPr id="107567" name="Group 28"/>
            <p:cNvGrpSpPr/>
            <p:nvPr/>
          </p:nvGrpSpPr>
          <p:grpSpPr>
            <a:xfrm>
              <a:off x="3204" y="1440"/>
              <a:ext cx="1572" cy="1164"/>
              <a:chOff x="0" y="0"/>
              <a:chExt cx="1572" cy="1164"/>
            </a:xfrm>
          </p:grpSpPr>
          <p:sp>
            <p:nvSpPr>
              <p:cNvPr id="107570" name="Oval 104"/>
              <p:cNvSpPr/>
              <p:nvPr/>
            </p:nvSpPr>
            <p:spPr>
              <a:xfrm>
                <a:off x="864" y="0"/>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j</a:t>
                </a:r>
                <a:endParaRPr lang="en-US" altLang="zh-CN" sz="1400" dirty="0">
                  <a:latin typeface="Times New Roman" panose="02020603050405020304" pitchFamily="18" charset="0"/>
                </a:endParaRPr>
              </a:p>
            </p:txBody>
          </p:sp>
          <p:sp>
            <p:nvSpPr>
              <p:cNvPr id="107571" name="Text Box 105"/>
              <p:cNvSpPr txBox="1"/>
              <p:nvPr/>
            </p:nvSpPr>
            <p:spPr>
              <a:xfrm>
                <a:off x="0" y="456"/>
                <a:ext cx="516" cy="396"/>
              </a:xfrm>
              <a:prstGeom prst="rect">
                <a:avLst/>
              </a:prstGeom>
              <a:solidFill>
                <a:srgbClr val="FFFFFF"/>
              </a:solidFill>
              <a:ln w="9525" cap="flat" cmpd="sng">
                <a:solidFill>
                  <a:srgbClr val="000000"/>
                </a:solidFill>
                <a:prstDash val="solid"/>
                <a:miter/>
                <a:headEnd type="none" w="med" len="med"/>
                <a:tailEnd type="none" w="med" len="med"/>
              </a:ln>
            </p:spPr>
            <p:txBody>
              <a:bodyPr t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E</a:t>
                </a:r>
                <a:r>
                  <a:rPr lang="en-US" altLang="zh-CN" sz="1400" baseline="-25000" dirty="0">
                    <a:latin typeface="Times New Roman" panose="02020603050405020304" pitchFamily="18" charset="0"/>
                  </a:rPr>
                  <a:t>3</a:t>
                </a:r>
                <a:endParaRPr lang="en-US" altLang="zh-CN" sz="1400" dirty="0">
                  <a:latin typeface="Times New Roman" panose="02020603050405020304" pitchFamily="18" charset="0"/>
                </a:endParaRPr>
              </a:p>
            </p:txBody>
          </p:sp>
          <p:sp>
            <p:nvSpPr>
              <p:cNvPr id="107572" name="Oval 106"/>
              <p:cNvSpPr/>
              <p:nvPr/>
            </p:nvSpPr>
            <p:spPr>
              <a:xfrm>
                <a:off x="840" y="732"/>
                <a:ext cx="708"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c</a:t>
                </a:r>
                <a:endParaRPr lang="en-US" altLang="zh-CN" sz="1400" dirty="0">
                  <a:latin typeface="Times New Roman" panose="02020603050405020304" pitchFamily="18" charset="0"/>
                </a:endParaRPr>
              </a:p>
            </p:txBody>
          </p:sp>
          <p:sp>
            <p:nvSpPr>
              <p:cNvPr id="107573" name="Line 107"/>
              <p:cNvSpPr/>
              <p:nvPr/>
            </p:nvSpPr>
            <p:spPr>
              <a:xfrm flipV="1">
                <a:off x="516" y="252"/>
                <a:ext cx="372" cy="300"/>
              </a:xfrm>
              <a:prstGeom prst="line">
                <a:avLst/>
              </a:prstGeom>
              <a:ln w="9525" cap="flat" cmpd="sng">
                <a:solidFill>
                  <a:srgbClr val="000000"/>
                </a:solidFill>
                <a:prstDash val="solid"/>
                <a:headEnd type="none" w="med" len="med"/>
                <a:tailEnd type="none" w="med" len="med"/>
              </a:ln>
            </p:spPr>
          </p:sp>
          <p:sp>
            <p:nvSpPr>
              <p:cNvPr id="107574" name="Line 108"/>
              <p:cNvSpPr/>
              <p:nvPr/>
            </p:nvSpPr>
            <p:spPr>
              <a:xfrm>
                <a:off x="516" y="720"/>
                <a:ext cx="372" cy="108"/>
              </a:xfrm>
              <a:prstGeom prst="line">
                <a:avLst/>
              </a:prstGeom>
              <a:ln w="9525" cap="flat" cmpd="sng">
                <a:solidFill>
                  <a:srgbClr val="000000"/>
                </a:solidFill>
                <a:prstDash val="solid"/>
                <a:headEnd type="none" w="med" len="med"/>
                <a:tailEnd type="none" w="med" len="med"/>
              </a:ln>
            </p:spPr>
          </p:sp>
          <p:sp>
            <p:nvSpPr>
              <p:cNvPr id="107575" name="Line 109"/>
              <p:cNvSpPr/>
              <p:nvPr/>
            </p:nvSpPr>
            <p:spPr>
              <a:xfrm>
                <a:off x="648" y="264"/>
                <a:ext cx="168" cy="204"/>
              </a:xfrm>
              <a:prstGeom prst="line">
                <a:avLst/>
              </a:prstGeom>
              <a:ln w="9525" cap="flat" cmpd="sng">
                <a:solidFill>
                  <a:srgbClr val="000000"/>
                </a:solidFill>
                <a:prstDash val="solid"/>
                <a:headEnd type="none" w="med" len="med"/>
                <a:tailEnd type="none" w="med" len="med"/>
              </a:ln>
            </p:spPr>
          </p:sp>
        </p:grpSp>
        <p:sp>
          <p:nvSpPr>
            <p:cNvPr id="107568" name="Line 110"/>
            <p:cNvSpPr/>
            <p:nvPr/>
          </p:nvSpPr>
          <p:spPr>
            <a:xfrm>
              <a:off x="2412" y="1548"/>
              <a:ext cx="792" cy="540"/>
            </a:xfrm>
            <a:prstGeom prst="line">
              <a:avLst/>
            </a:prstGeom>
            <a:ln w="9525" cap="flat" cmpd="sng">
              <a:solidFill>
                <a:srgbClr val="000000"/>
              </a:solidFill>
              <a:prstDash val="solid"/>
              <a:headEnd type="none" w="med" len="med"/>
              <a:tailEnd type="none" w="med" len="med"/>
            </a:ln>
          </p:spPr>
        </p:sp>
        <p:sp>
          <p:nvSpPr>
            <p:cNvPr id="107569" name="Rectangle 111"/>
            <p:cNvSpPr/>
            <p:nvPr/>
          </p:nvSpPr>
          <p:spPr>
            <a:xfrm>
              <a:off x="2496" y="1812"/>
              <a:ext cx="354" cy="33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P</a:t>
              </a:r>
              <a:endParaRPr lang="en-US" altLang="zh-CN" sz="1400" dirty="0">
                <a:latin typeface="Times New Roman" panose="02020603050405020304" pitchFamily="18" charset="0"/>
              </a:endParaRPr>
            </a:p>
          </p:txBody>
        </p:sp>
      </p:grpSp>
      <p:grpSp>
        <p:nvGrpSpPr>
          <p:cNvPr id="107526" name="Group 37"/>
          <p:cNvGrpSpPr/>
          <p:nvPr/>
        </p:nvGrpSpPr>
        <p:grpSpPr>
          <a:xfrm>
            <a:off x="636588" y="4832350"/>
            <a:ext cx="7869237" cy="1728788"/>
            <a:chOff x="0" y="0"/>
            <a:chExt cx="5878" cy="2280"/>
          </a:xfrm>
        </p:grpSpPr>
        <p:sp>
          <p:nvSpPr>
            <p:cNvPr id="107529" name="Text Box 113"/>
            <p:cNvSpPr txBox="1"/>
            <p:nvPr/>
          </p:nvSpPr>
          <p:spPr>
            <a:xfrm>
              <a:off x="1383" y="779"/>
              <a:ext cx="646" cy="421"/>
            </a:xfrm>
            <a:prstGeom prst="rect">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工程</a:t>
              </a:r>
              <a:endParaRPr lang="zh-CN" altLang="en-US" sz="1600" dirty="0">
                <a:latin typeface="Times New Roman" panose="02020603050405020304" pitchFamily="18" charset="0"/>
              </a:endParaRPr>
            </a:p>
          </p:txBody>
        </p:sp>
        <p:sp>
          <p:nvSpPr>
            <p:cNvPr id="107530" name="Oval 114"/>
            <p:cNvSpPr/>
            <p:nvPr/>
          </p:nvSpPr>
          <p:spPr>
            <a:xfrm>
              <a:off x="0" y="720"/>
              <a:ext cx="913" cy="432"/>
            </a:xfrm>
            <a:prstGeom prst="ellipse">
              <a:avLst/>
            </a:prstGeom>
            <a:solidFill>
              <a:srgbClr val="FFFFFF"/>
            </a:solidFill>
            <a:ln w="9525" cap="flat" cmpd="sng">
              <a:solidFill>
                <a:srgbClr val="000000"/>
              </a:solidFill>
              <a:prstDash val="solid"/>
              <a:headEnd type="none" w="med" len="med"/>
              <a:tailEnd type="none" w="med" len="med"/>
            </a:ln>
          </p:spPr>
          <p:txBody>
            <a:bodyPr wrap="none"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05000"/>
                </a:lnSpc>
                <a:spcBef>
                  <a:spcPct val="0"/>
                </a:spcBef>
                <a:buClrTx/>
                <a:buSzTx/>
                <a:buNone/>
              </a:pPr>
              <a:r>
                <a:rPr lang="zh-CN" altLang="en-US" sz="1600" dirty="0">
                  <a:latin typeface="Times New Roman" panose="02020603050405020304" pitchFamily="18" charset="0"/>
                </a:rPr>
                <a:t>工程号</a:t>
              </a:r>
              <a:endParaRPr lang="zh-CN" altLang="en-US" sz="1600" dirty="0">
                <a:latin typeface="Times New Roman" panose="02020603050405020304" pitchFamily="18" charset="0"/>
              </a:endParaRPr>
            </a:p>
          </p:txBody>
        </p:sp>
        <p:sp>
          <p:nvSpPr>
            <p:cNvPr id="107531" name="AutoShape 115"/>
            <p:cNvSpPr/>
            <p:nvPr/>
          </p:nvSpPr>
          <p:spPr>
            <a:xfrm>
              <a:off x="2493" y="743"/>
              <a:ext cx="858" cy="493"/>
            </a:xfrm>
            <a:prstGeom prst="flowChartDecision">
              <a:avLst/>
            </a:prstGeom>
            <a:solidFill>
              <a:srgbClr val="FFFFFF"/>
            </a:solidFill>
            <a:ln w="9525" cap="flat" cmpd="sng">
              <a:solidFill>
                <a:srgbClr val="00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10000"/>
                </a:lnSpc>
                <a:spcBef>
                  <a:spcPct val="0"/>
                </a:spcBef>
                <a:buClrTx/>
                <a:buSzTx/>
                <a:buNone/>
              </a:pPr>
              <a:r>
                <a:rPr lang="zh-CN" altLang="en-US" sz="1600" dirty="0">
                  <a:latin typeface="Times New Roman" panose="02020603050405020304" pitchFamily="18" charset="0"/>
                </a:rPr>
                <a:t>供应</a:t>
              </a:r>
              <a:endParaRPr lang="zh-CN" altLang="en-US" sz="1600" dirty="0">
                <a:latin typeface="Times New Roman" panose="02020603050405020304" pitchFamily="18" charset="0"/>
              </a:endParaRPr>
            </a:p>
          </p:txBody>
        </p:sp>
        <p:sp>
          <p:nvSpPr>
            <p:cNvPr id="107532" name="Rectangle 116"/>
            <p:cNvSpPr/>
            <p:nvPr/>
          </p:nvSpPr>
          <p:spPr>
            <a:xfrm>
              <a:off x="2114" y="635"/>
              <a:ext cx="358"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M</a:t>
              </a:r>
              <a:endParaRPr lang="en-US" altLang="zh-CN" sz="1600" dirty="0">
                <a:latin typeface="Times New Roman" panose="02020603050405020304" pitchFamily="18" charset="0"/>
              </a:endParaRPr>
            </a:p>
          </p:txBody>
        </p:sp>
        <p:sp>
          <p:nvSpPr>
            <p:cNvPr id="107533" name="Oval 117"/>
            <p:cNvSpPr/>
            <p:nvPr/>
          </p:nvSpPr>
          <p:spPr>
            <a:xfrm>
              <a:off x="258" y="1224"/>
              <a:ext cx="444" cy="432"/>
            </a:xfrm>
            <a:prstGeom prst="ellipse">
              <a:avLst/>
            </a:prstGeom>
            <a:noFill/>
            <a:ln w="9525">
              <a:noFill/>
            </a:ln>
          </p:spPr>
          <p:txBody>
            <a:bodyPr vert="eaVert"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400" dirty="0">
                  <a:latin typeface="Times New Roman" panose="02020603050405020304" pitchFamily="18" charset="0"/>
                </a:rPr>
                <a:t>…</a:t>
              </a:r>
              <a:endParaRPr lang="en-US" altLang="zh-CN" sz="1400" dirty="0">
                <a:latin typeface="Times New Roman" panose="02020603050405020304" pitchFamily="18" charset="0"/>
              </a:endParaRPr>
            </a:p>
          </p:txBody>
        </p:sp>
        <p:sp>
          <p:nvSpPr>
            <p:cNvPr id="107534" name="Line 118"/>
            <p:cNvSpPr/>
            <p:nvPr/>
          </p:nvSpPr>
          <p:spPr>
            <a:xfrm>
              <a:off x="924" y="948"/>
              <a:ext cx="458" cy="0"/>
            </a:xfrm>
            <a:prstGeom prst="line">
              <a:avLst/>
            </a:prstGeom>
            <a:ln w="9525" cap="flat" cmpd="sng">
              <a:solidFill>
                <a:srgbClr val="000000"/>
              </a:solidFill>
              <a:prstDash val="solid"/>
              <a:headEnd type="none" w="med" len="med"/>
              <a:tailEnd type="none" w="med" len="med"/>
            </a:ln>
          </p:spPr>
        </p:sp>
        <p:sp>
          <p:nvSpPr>
            <p:cNvPr id="107535" name="Text Box 119"/>
            <p:cNvSpPr txBox="1"/>
            <p:nvPr/>
          </p:nvSpPr>
          <p:spPr>
            <a:xfrm>
              <a:off x="3816" y="36"/>
              <a:ext cx="604" cy="397"/>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零件</a:t>
              </a:r>
              <a:endParaRPr lang="zh-CN" altLang="en-US" sz="1600" dirty="0">
                <a:latin typeface="Times New Roman" panose="02020603050405020304" pitchFamily="18" charset="0"/>
              </a:endParaRPr>
            </a:p>
          </p:txBody>
        </p:sp>
        <p:sp>
          <p:nvSpPr>
            <p:cNvPr id="107536" name="Line 120"/>
            <p:cNvSpPr/>
            <p:nvPr/>
          </p:nvSpPr>
          <p:spPr>
            <a:xfrm>
              <a:off x="2015" y="983"/>
              <a:ext cx="492" cy="0"/>
            </a:xfrm>
            <a:prstGeom prst="line">
              <a:avLst/>
            </a:prstGeom>
            <a:ln w="9525" cap="flat" cmpd="sng">
              <a:solidFill>
                <a:srgbClr val="000000"/>
              </a:solidFill>
              <a:prstDash val="solid"/>
              <a:headEnd type="none" w="med" len="med"/>
              <a:tailEnd type="none" w="med" len="med"/>
            </a:ln>
          </p:spPr>
        </p:sp>
        <p:sp>
          <p:nvSpPr>
            <p:cNvPr id="107537" name="Line 121"/>
            <p:cNvSpPr/>
            <p:nvPr/>
          </p:nvSpPr>
          <p:spPr>
            <a:xfrm>
              <a:off x="3351" y="983"/>
              <a:ext cx="491" cy="0"/>
            </a:xfrm>
            <a:prstGeom prst="line">
              <a:avLst/>
            </a:prstGeom>
            <a:ln w="9525" cap="flat" cmpd="sng">
              <a:solidFill>
                <a:srgbClr val="000000"/>
              </a:solidFill>
              <a:prstDash val="solid"/>
              <a:headEnd type="none" w="med" len="med"/>
              <a:tailEnd type="none" w="med" len="med"/>
            </a:ln>
          </p:spPr>
        </p:sp>
        <p:sp>
          <p:nvSpPr>
            <p:cNvPr id="107538" name="Oval 122"/>
            <p:cNvSpPr/>
            <p:nvPr/>
          </p:nvSpPr>
          <p:spPr>
            <a:xfrm>
              <a:off x="4930" y="0"/>
              <a:ext cx="912"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零件号</a:t>
              </a:r>
              <a:endParaRPr lang="zh-CN" altLang="en-US" sz="1600" dirty="0">
                <a:latin typeface="Times New Roman" panose="02020603050405020304" pitchFamily="18" charset="0"/>
              </a:endParaRPr>
            </a:p>
          </p:txBody>
        </p:sp>
        <p:sp>
          <p:nvSpPr>
            <p:cNvPr id="107539" name="Rectangle 123"/>
            <p:cNvSpPr/>
            <p:nvPr/>
          </p:nvSpPr>
          <p:spPr>
            <a:xfrm>
              <a:off x="3030" y="288"/>
              <a:ext cx="359"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N</a:t>
              </a:r>
              <a:endParaRPr lang="en-US" altLang="zh-CN" sz="1600" dirty="0">
                <a:latin typeface="Times New Roman" panose="02020603050405020304" pitchFamily="18" charset="0"/>
              </a:endParaRPr>
            </a:p>
          </p:txBody>
        </p:sp>
        <p:sp>
          <p:nvSpPr>
            <p:cNvPr id="107540" name="Line 124"/>
            <p:cNvSpPr/>
            <p:nvPr/>
          </p:nvSpPr>
          <p:spPr>
            <a:xfrm>
              <a:off x="4408" y="228"/>
              <a:ext cx="506" cy="0"/>
            </a:xfrm>
            <a:prstGeom prst="line">
              <a:avLst/>
            </a:prstGeom>
            <a:ln w="9525" cap="flat" cmpd="sng">
              <a:solidFill>
                <a:srgbClr val="000000"/>
              </a:solidFill>
              <a:prstDash val="solid"/>
              <a:headEnd type="none" w="med" len="med"/>
              <a:tailEnd type="none" w="med" len="med"/>
            </a:ln>
          </p:spPr>
        </p:sp>
        <p:sp>
          <p:nvSpPr>
            <p:cNvPr id="107541" name="Text Box 125"/>
            <p:cNvSpPr txBox="1"/>
            <p:nvPr/>
          </p:nvSpPr>
          <p:spPr>
            <a:xfrm>
              <a:off x="3852" y="1356"/>
              <a:ext cx="604" cy="397"/>
            </a:xfrm>
            <a:prstGeom prst="rect">
              <a:avLst/>
            </a:prstGeom>
            <a:solidFill>
              <a:srgbClr val="FFFFFF"/>
            </a:solidFill>
            <a:ln w="9525" cap="flat" cmpd="sng">
              <a:solidFill>
                <a:srgbClr val="000000"/>
              </a:solidFill>
              <a:prstDash val="solid"/>
              <a:miter/>
              <a:headEnd type="none" w="med" len="med"/>
              <a:tailEnd type="none" w="med" len="med"/>
            </a:ln>
          </p:spPr>
          <p:txBody>
            <a:bodyPr lIns="0" tIns="10800" r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公司</a:t>
              </a:r>
              <a:endParaRPr lang="zh-CN" altLang="en-US" sz="1600" dirty="0">
                <a:latin typeface="Times New Roman" panose="02020603050405020304" pitchFamily="18" charset="0"/>
              </a:endParaRPr>
            </a:p>
          </p:txBody>
        </p:sp>
        <p:sp>
          <p:nvSpPr>
            <p:cNvPr id="107542" name="Oval 126"/>
            <p:cNvSpPr/>
            <p:nvPr/>
          </p:nvSpPr>
          <p:spPr>
            <a:xfrm>
              <a:off x="3854" y="756"/>
              <a:ext cx="986" cy="408"/>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供应量</a:t>
              </a:r>
              <a:endParaRPr lang="zh-CN" altLang="en-US" sz="1600" dirty="0">
                <a:latin typeface="Times New Roman" panose="02020603050405020304" pitchFamily="18" charset="0"/>
              </a:endParaRPr>
            </a:p>
          </p:txBody>
        </p:sp>
        <p:sp>
          <p:nvSpPr>
            <p:cNvPr id="107543" name="Oval 127"/>
            <p:cNvSpPr/>
            <p:nvPr/>
          </p:nvSpPr>
          <p:spPr>
            <a:xfrm>
              <a:off x="4966" y="1356"/>
              <a:ext cx="912" cy="432"/>
            </a:xfrm>
            <a:prstGeom prst="ellipse">
              <a:avLst/>
            </a:prstGeom>
            <a:solidFill>
              <a:srgbClr val="FFFFFF"/>
            </a:solidFill>
            <a:ln w="9525" cap="flat" cmpd="sng">
              <a:solidFill>
                <a:srgbClr val="000000"/>
              </a:solidFill>
              <a:prstDash val="solid"/>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zh-CN" altLang="en-US" sz="1600" dirty="0">
                  <a:latin typeface="Times New Roman" panose="02020603050405020304" pitchFamily="18" charset="0"/>
                </a:rPr>
                <a:t>公司名</a:t>
              </a:r>
              <a:endParaRPr lang="zh-CN" altLang="en-US" sz="1600" dirty="0">
                <a:latin typeface="Times New Roman" panose="02020603050405020304" pitchFamily="18" charset="0"/>
              </a:endParaRPr>
            </a:p>
          </p:txBody>
        </p:sp>
        <p:sp>
          <p:nvSpPr>
            <p:cNvPr id="107544" name="Line 128"/>
            <p:cNvSpPr/>
            <p:nvPr/>
          </p:nvSpPr>
          <p:spPr>
            <a:xfrm>
              <a:off x="4456" y="1560"/>
              <a:ext cx="506" cy="0"/>
            </a:xfrm>
            <a:prstGeom prst="line">
              <a:avLst/>
            </a:prstGeom>
            <a:ln w="9525" cap="flat" cmpd="sng">
              <a:solidFill>
                <a:srgbClr val="000000"/>
              </a:solidFill>
              <a:prstDash val="solid"/>
              <a:headEnd type="none" w="med" len="med"/>
              <a:tailEnd type="none" w="med" len="med"/>
            </a:ln>
          </p:spPr>
        </p:sp>
        <p:sp>
          <p:nvSpPr>
            <p:cNvPr id="107545" name="Line 129"/>
            <p:cNvSpPr/>
            <p:nvPr/>
          </p:nvSpPr>
          <p:spPr>
            <a:xfrm>
              <a:off x="2910" y="1236"/>
              <a:ext cx="948" cy="348"/>
            </a:xfrm>
            <a:prstGeom prst="line">
              <a:avLst/>
            </a:prstGeom>
            <a:ln w="9525" cap="flat" cmpd="sng">
              <a:solidFill>
                <a:srgbClr val="000000"/>
              </a:solidFill>
              <a:prstDash val="solid"/>
              <a:headEnd type="none" w="med" len="med"/>
              <a:tailEnd type="none" w="med" len="med"/>
            </a:ln>
          </p:spPr>
        </p:sp>
        <p:sp>
          <p:nvSpPr>
            <p:cNvPr id="107546" name="Line 130"/>
            <p:cNvSpPr/>
            <p:nvPr/>
          </p:nvSpPr>
          <p:spPr>
            <a:xfrm flipV="1">
              <a:off x="2934" y="228"/>
              <a:ext cx="876" cy="516"/>
            </a:xfrm>
            <a:prstGeom prst="line">
              <a:avLst/>
            </a:prstGeom>
            <a:ln w="9525" cap="flat" cmpd="sng">
              <a:solidFill>
                <a:srgbClr val="000000"/>
              </a:solidFill>
              <a:prstDash val="solid"/>
              <a:headEnd type="none" w="med" len="med"/>
              <a:tailEnd type="none" w="med" len="med"/>
            </a:ln>
          </p:spPr>
        </p:sp>
        <p:sp>
          <p:nvSpPr>
            <p:cNvPr id="107547" name="Rectangle 131"/>
            <p:cNvSpPr/>
            <p:nvPr/>
          </p:nvSpPr>
          <p:spPr>
            <a:xfrm>
              <a:off x="3126" y="1404"/>
              <a:ext cx="359" cy="276"/>
            </a:xfrm>
            <a:prstGeom prst="rect">
              <a:avLst/>
            </a:prstGeom>
            <a:noFill/>
            <a:ln w="9525">
              <a:noFill/>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P</a:t>
              </a:r>
              <a:endParaRPr lang="en-US" altLang="zh-CN" sz="1600" dirty="0">
                <a:latin typeface="Times New Roman" panose="02020603050405020304" pitchFamily="18" charset="0"/>
              </a:endParaRPr>
            </a:p>
          </p:txBody>
        </p:sp>
        <p:sp>
          <p:nvSpPr>
            <p:cNvPr id="107548" name="Line 132"/>
            <p:cNvSpPr/>
            <p:nvPr/>
          </p:nvSpPr>
          <p:spPr>
            <a:xfrm>
              <a:off x="4698" y="72"/>
              <a:ext cx="0" cy="240"/>
            </a:xfrm>
            <a:prstGeom prst="line">
              <a:avLst/>
            </a:prstGeom>
            <a:ln w="9525" cap="flat" cmpd="sng">
              <a:solidFill>
                <a:srgbClr val="000000"/>
              </a:solidFill>
              <a:prstDash val="solid"/>
              <a:headEnd type="none" w="med" len="med"/>
              <a:tailEnd type="none" w="med" len="med"/>
            </a:ln>
          </p:spPr>
        </p:sp>
        <p:sp>
          <p:nvSpPr>
            <p:cNvPr id="107549" name="Line 133"/>
            <p:cNvSpPr/>
            <p:nvPr/>
          </p:nvSpPr>
          <p:spPr>
            <a:xfrm>
              <a:off x="4734" y="1428"/>
              <a:ext cx="0" cy="240"/>
            </a:xfrm>
            <a:prstGeom prst="line">
              <a:avLst/>
            </a:prstGeom>
            <a:ln w="9525" cap="flat" cmpd="sng">
              <a:solidFill>
                <a:srgbClr val="000000"/>
              </a:solidFill>
              <a:prstDash val="solid"/>
              <a:headEnd type="none" w="med" len="med"/>
              <a:tailEnd type="none" w="med" len="med"/>
            </a:ln>
          </p:spPr>
        </p:sp>
        <p:sp>
          <p:nvSpPr>
            <p:cNvPr id="107550" name="Line 134"/>
            <p:cNvSpPr/>
            <p:nvPr/>
          </p:nvSpPr>
          <p:spPr>
            <a:xfrm>
              <a:off x="1134" y="840"/>
              <a:ext cx="0" cy="240"/>
            </a:xfrm>
            <a:prstGeom prst="line">
              <a:avLst/>
            </a:prstGeom>
            <a:ln w="9525" cap="flat" cmpd="sng">
              <a:solidFill>
                <a:srgbClr val="000000"/>
              </a:solidFill>
              <a:prstDash val="solid"/>
              <a:headEnd type="none" w="med" len="med"/>
              <a:tailEnd type="none" w="med" len="med"/>
            </a:ln>
          </p:spPr>
        </p:sp>
        <p:sp>
          <p:nvSpPr>
            <p:cNvPr id="107551" name="Oval 135"/>
            <p:cNvSpPr/>
            <p:nvPr/>
          </p:nvSpPr>
          <p:spPr>
            <a:xfrm>
              <a:off x="5238" y="480"/>
              <a:ext cx="444" cy="432"/>
            </a:xfrm>
            <a:prstGeom prst="ellipse">
              <a:avLst/>
            </a:prstGeom>
            <a:noFill/>
            <a:ln w="9525">
              <a:noFill/>
            </a:ln>
          </p:spPr>
          <p:txBody>
            <a:bodyPr vert="eaVert"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a:t>
              </a:r>
              <a:endParaRPr lang="en-US" altLang="zh-CN" sz="1600" dirty="0">
                <a:latin typeface="Times New Roman" panose="02020603050405020304" pitchFamily="18" charset="0"/>
              </a:endParaRPr>
            </a:p>
          </p:txBody>
        </p:sp>
        <p:sp>
          <p:nvSpPr>
            <p:cNvPr id="107552" name="Oval 136"/>
            <p:cNvSpPr/>
            <p:nvPr/>
          </p:nvSpPr>
          <p:spPr>
            <a:xfrm>
              <a:off x="5238" y="1848"/>
              <a:ext cx="444" cy="432"/>
            </a:xfrm>
            <a:prstGeom prst="ellipse">
              <a:avLst/>
            </a:prstGeom>
            <a:noFill/>
            <a:ln w="9525">
              <a:noFill/>
            </a:ln>
          </p:spPr>
          <p:txBody>
            <a:bodyPr vert="eaVert"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a:lnSpc>
                  <a:spcPct val="135000"/>
                </a:lnSpc>
                <a:spcBef>
                  <a:spcPct val="0"/>
                </a:spcBef>
                <a:buClrTx/>
                <a:buSzTx/>
                <a:buNone/>
              </a:pPr>
              <a:r>
                <a:rPr lang="en-US" altLang="zh-CN" sz="1600" dirty="0">
                  <a:latin typeface="Times New Roman" panose="02020603050405020304" pitchFamily="18" charset="0"/>
                </a:rPr>
                <a:t>…</a:t>
              </a:r>
              <a:endParaRPr lang="en-US" altLang="zh-CN" sz="1600" dirty="0">
                <a:latin typeface="Times New Roman" panose="02020603050405020304" pitchFamily="18" charset="0"/>
              </a:endParaRPr>
            </a:p>
          </p:txBody>
        </p:sp>
      </p:grpSp>
      <p:sp>
        <p:nvSpPr>
          <p:cNvPr id="107527" name="矩形 62"/>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多元联系的转换方法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7528"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8546" name="Picture 3"/>
          <p:cNvPicPr>
            <a:picLocks noChangeAspect="1"/>
          </p:cNvPicPr>
          <p:nvPr/>
        </p:nvPicPr>
        <p:blipFill>
          <a:blip r:embed="rId1"/>
          <a:stretch>
            <a:fillRect/>
          </a:stretch>
        </p:blipFill>
        <p:spPr>
          <a:xfrm>
            <a:off x="4819650" y="3706813"/>
            <a:ext cx="4324350" cy="2571750"/>
          </a:xfrm>
          <a:prstGeom prst="rect">
            <a:avLst/>
          </a:prstGeom>
          <a:noFill/>
          <a:ln w="9525">
            <a:noFill/>
          </a:ln>
          <a:effectLst>
            <a:outerShdw dist="17961" dir="2699999" algn="ctr" rotWithShape="0">
              <a:srgbClr val="708688"/>
            </a:outerShdw>
          </a:effectLst>
        </p:spPr>
      </p:pic>
      <p:pic>
        <p:nvPicPr>
          <p:cNvPr id="108547" name="Picture 2"/>
          <p:cNvPicPr>
            <a:picLocks noChangeAspect="1"/>
          </p:cNvPicPr>
          <p:nvPr/>
        </p:nvPicPr>
        <p:blipFill>
          <a:blip r:embed="rId2"/>
          <a:stretch>
            <a:fillRect/>
          </a:stretch>
        </p:blipFill>
        <p:spPr>
          <a:xfrm>
            <a:off x="273050" y="1509713"/>
            <a:ext cx="4976813" cy="3009900"/>
          </a:xfrm>
          <a:prstGeom prst="rect">
            <a:avLst/>
          </a:prstGeom>
          <a:noFill/>
          <a:ln w="9525">
            <a:noFill/>
          </a:ln>
          <a:effectLst>
            <a:outerShdw dist="17961" dir="2699999" algn="ctr" rotWithShape="0">
              <a:srgbClr val="708688"/>
            </a:outerShdw>
          </a:effectLst>
        </p:spPr>
      </p:pic>
      <p:sp>
        <p:nvSpPr>
          <p:cNvPr id="81924" name="Rectangle 3"/>
          <p:cNvSpPr txBox="1"/>
          <p:nvPr/>
        </p:nvSpPr>
        <p:spPr>
          <a:xfrm>
            <a:off x="4972050" y="1255713"/>
            <a:ext cx="4011613" cy="2765425"/>
          </a:xfrm>
          <a:prstGeom prst="rect">
            <a:avLst/>
          </a:prstGeom>
          <a:noFill/>
          <a:ln w="9525">
            <a:noFill/>
          </a:ln>
        </p:spPr>
        <p:txBody>
          <a:bodyPr/>
          <a:lstStyle/>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设联系集的属性集合为</a:t>
            </a:r>
            <a:r>
              <a:rPr kumimoji="0" lang="en-US" altLang="x-none"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B,</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所</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有参与实体集的标识符属性</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集合为Ａ。则此联系集可映</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射为这样一个表，此表的各</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a:p>
            <a:pPr marL="742950" marR="0" lvl="1" indent="-285750" algn="l" defTabSz="914400" rtl="0" eaLnBrk="1" fontAlgn="base" latinLnBrk="0" hangingPunct="1">
              <a:lnSpc>
                <a:spcPct val="130000"/>
              </a:lnSpc>
              <a:spcBef>
                <a:spcPct val="15000"/>
              </a:spcBef>
              <a:spcAft>
                <a:spcPct val="0"/>
              </a:spcAft>
              <a:buClr>
                <a:srgbClr val="0033CC"/>
              </a:buClr>
              <a:buSzTx/>
              <a:buFont typeface="Arial" panose="020B0604020202020204" pitchFamily="34" charset="0"/>
              <a:buNone/>
              <a:defRPr/>
            </a:pP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列对应于属性集合Ａ</a:t>
            </a:r>
            <a:r>
              <a:rPr kumimoji="0" lang="en-US" altLang="x-none"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U</a:t>
            </a:r>
            <a:r>
              <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ea"/>
              </a:rPr>
              <a:t>Ｂ。</a:t>
            </a:r>
            <a:endParaRPr kumimoji="0" lang="zh-CN" altLang="en-US" sz="20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08549" name="矩形 6"/>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多元联系的转换方法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855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3"/>
          <p:cNvSpPr txBox="1"/>
          <p:nvPr/>
        </p:nvSpPr>
        <p:spPr>
          <a:xfrm>
            <a:off x="268288" y="1428750"/>
            <a:ext cx="8645525" cy="2814638"/>
          </a:xfrm>
          <a:prstGeom prst="rect">
            <a:avLst/>
          </a:prstGeom>
          <a:noFill/>
          <a:ln w="9525">
            <a:noFill/>
          </a:ln>
        </p:spPr>
        <p:txBody>
          <a:bodyPr/>
          <a:lstStyle/>
          <a:p>
            <a:pPr marL="342900" marR="0" indent="-342900" defTabSz="914400" eaLnBrk="1" hangingPunct="1">
              <a:lnSpc>
                <a:spcPct val="120000"/>
              </a:lnSpc>
              <a:spcBef>
                <a:spcPct val="20000"/>
              </a:spcBef>
              <a:buClr>
                <a:srgbClr val="0033CC"/>
              </a:buClr>
              <a:buSzPct val="80000"/>
              <a:buFont typeface="Wingdings" panose="05000000000000000000" pitchFamily="2" charset="2"/>
              <a:buNone/>
              <a:defRPr/>
            </a:pPr>
            <a:r>
              <a:rPr kumimoji="0" lang="zh-CN" altLang="en-US" sz="2200"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　　　</a:t>
            </a:r>
            <a:r>
              <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ea"/>
                <a:sym typeface="Arial" panose="020B0604020202020204" pitchFamily="34" charset="0"/>
              </a:rPr>
              <a:t>同一实体集的实体间的联系，即自联系，也可按二元联系中的情况分别处理。</a:t>
            </a:r>
            <a:endParaRPr kumimoji="0" lang="zh-CN" altLang="en-US" sz="2200" u="sng" kern="1200" cap="none" spc="0" normalizeH="0" baseline="0" noProof="1">
              <a:solidFill>
                <a:srgbClr val="0033CC"/>
              </a:solidFill>
              <a:effectLst>
                <a:outerShdw blurRad="38100" dist="38100" dir="2700000">
                  <a:srgbClr val="C0C0C0"/>
                </a:outerShdw>
              </a:effectLst>
              <a:latin typeface="Arial" panose="020B0604020202020204" pitchFamily="34" charset="0"/>
              <a:ea typeface="宋体" panose="02010600030101010101" pitchFamily="2" charset="-122"/>
              <a:cs typeface="+mn-cs"/>
              <a:sym typeface="Arial" panose="020B0604020202020204" pitchFamily="34" charset="0"/>
            </a:endParaRPr>
          </a:p>
          <a:p>
            <a:pPr marL="342900" marR="0" indent="-342900" defTabSz="914400" eaLnBrk="1" hangingPunct="1">
              <a:lnSpc>
                <a:spcPct val="114000"/>
              </a:lnSpc>
              <a:spcBef>
                <a:spcPct val="20000"/>
              </a:spcBef>
              <a:buClr>
                <a:srgbClr val="0033CC"/>
              </a:buClr>
              <a:buSzPct val="80000"/>
              <a:buFont typeface="Wingdings" panose="05000000000000000000" pitchFamily="2" charset="2"/>
              <a:buNone/>
              <a:defRPr/>
            </a:pPr>
            <a:r>
              <a:rPr kumimoji="0" lang="zh-CN" altLang="en-US" sz="24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例，如果教师实体集内部存在领导与被领导的</a:t>
            </a:r>
            <a:r>
              <a:rPr kumimoji="0" lang="en-US" altLang="x-none"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1:n</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自联系，我们可以将该联系与教师实体合并，这时主码职工号将多次出现，但作用不同，可用不同的属性名加以区分：</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a:p>
            <a:pPr marL="342900" marR="0" indent="-342900" defTabSz="914400" eaLnBrk="1" hangingPunct="1">
              <a:lnSpc>
                <a:spcPct val="115000"/>
              </a:lnSpc>
              <a:spcBef>
                <a:spcPct val="25000"/>
              </a:spcBef>
              <a:buClr>
                <a:srgbClr val="0033CC"/>
              </a:buClr>
              <a:buSzPct val="80000"/>
              <a:buFont typeface="Wingdings" panose="05000000000000000000" pitchFamily="2" charset="2"/>
              <a:buNone/>
              <a:defRPr/>
            </a:pP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        教师：｛</a:t>
            </a:r>
            <a:r>
              <a:rPr kumimoji="0" lang="zh-CN" altLang="en-US" sz="2000" u="sng"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职工号</a:t>
            </a:r>
            <a:r>
              <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ea"/>
              </a:rPr>
              <a:t>，姓名，性别，职称，系主任｝</a:t>
            </a:r>
            <a:endParaRPr kumimoji="0" lang="zh-CN" altLang="en-US" sz="2000" kern="1200" cap="none" spc="0" normalizeH="0" baseline="0" noProof="1">
              <a:effectLst>
                <a:outerShdw blurRad="38100" dist="38100" dir="2700000">
                  <a:srgbClr val="C0C0C0"/>
                </a:outerShdw>
              </a:effectLst>
              <a:latin typeface="Arial" panose="020B0604020202020204" pitchFamily="34" charset="0"/>
              <a:ea typeface="宋体" panose="02010600030101010101" pitchFamily="2" charset="-122"/>
              <a:cs typeface="+mn-cs"/>
            </a:endParaRPr>
          </a:p>
        </p:txBody>
      </p:sp>
      <p:pic>
        <p:nvPicPr>
          <p:cNvPr id="109571" name="Picture 8"/>
          <p:cNvPicPr>
            <a:picLocks noChangeAspect="1"/>
          </p:cNvPicPr>
          <p:nvPr/>
        </p:nvPicPr>
        <p:blipFill>
          <a:blip r:embed="rId1"/>
          <a:stretch>
            <a:fillRect/>
          </a:stretch>
        </p:blipFill>
        <p:spPr>
          <a:xfrm>
            <a:off x="442913" y="4151313"/>
            <a:ext cx="4276725" cy="1012825"/>
          </a:xfrm>
          <a:prstGeom prst="rect">
            <a:avLst/>
          </a:prstGeom>
          <a:noFill/>
          <a:ln w="9525">
            <a:noFill/>
          </a:ln>
          <a:effectLst>
            <a:outerShdw dist="17961" dir="2699999" algn="ctr" rotWithShape="0">
              <a:srgbClr val="708688"/>
            </a:outerShdw>
          </a:effectLst>
        </p:spPr>
      </p:pic>
      <p:pic>
        <p:nvPicPr>
          <p:cNvPr id="109572" name="Picture 9"/>
          <p:cNvPicPr>
            <a:picLocks noChangeAspect="1"/>
          </p:cNvPicPr>
          <p:nvPr/>
        </p:nvPicPr>
        <p:blipFill>
          <a:blip r:embed="rId2"/>
          <a:stretch>
            <a:fillRect/>
          </a:stretch>
        </p:blipFill>
        <p:spPr>
          <a:xfrm>
            <a:off x="4852988" y="4065588"/>
            <a:ext cx="3981450" cy="1725612"/>
          </a:xfrm>
          <a:prstGeom prst="rect">
            <a:avLst/>
          </a:prstGeom>
          <a:noFill/>
          <a:ln w="9525">
            <a:noFill/>
          </a:ln>
          <a:effectLst>
            <a:outerShdw dist="17961" dir="2699999" algn="ctr" rotWithShape="0">
              <a:srgbClr val="708688"/>
            </a:outerShdw>
          </a:effectLst>
        </p:spPr>
      </p:pic>
      <p:sp>
        <p:nvSpPr>
          <p:cNvPr id="109573" name="Rectangle 7"/>
          <p:cNvSpPr/>
          <p:nvPr/>
        </p:nvSpPr>
        <p:spPr>
          <a:xfrm>
            <a:off x="487363" y="5265738"/>
            <a:ext cx="3760787"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rgbClr val="CC0000"/>
              </a:buClr>
              <a:buSzPct val="75000"/>
              <a:buFont typeface="Wingdings" panose="05000000000000000000" pitchFamily="2" charset="2"/>
              <a:buChar char="p"/>
            </a:pPr>
            <a:r>
              <a:rPr lang="zh-CN" altLang="en-US" sz="2400" dirty="0">
                <a:solidFill>
                  <a:srgbClr val="FF3300"/>
                </a:solidFill>
                <a:latin typeface="宋体" panose="02010600030101010101" pitchFamily="2" charset="-122"/>
              </a:rPr>
              <a:t> 职工与经理间</a:t>
            </a:r>
            <a:r>
              <a:rPr lang="en-US" altLang="zh-CN" sz="2400" dirty="0">
                <a:solidFill>
                  <a:srgbClr val="FF3300"/>
                </a:solidFill>
                <a:latin typeface="宋体" panose="02010600030101010101" pitchFamily="2" charset="-122"/>
              </a:rPr>
              <a:t>1:N</a:t>
            </a:r>
            <a:r>
              <a:rPr lang="zh-CN" altLang="en-US" sz="2400" dirty="0">
                <a:solidFill>
                  <a:srgbClr val="FF3300"/>
                </a:solidFill>
                <a:latin typeface="宋体" panose="02010600030101010101" pitchFamily="2" charset="-122"/>
              </a:rPr>
              <a:t>联系</a:t>
            </a:r>
            <a:endParaRPr lang="zh-CN" altLang="en-US" sz="2400" dirty="0">
              <a:solidFill>
                <a:srgbClr val="CC0000"/>
              </a:solidFill>
              <a:latin typeface="宋体" panose="02010600030101010101" pitchFamily="2" charset="-122"/>
            </a:endParaRPr>
          </a:p>
        </p:txBody>
      </p:sp>
      <p:sp>
        <p:nvSpPr>
          <p:cNvPr id="109574" name="Rectangle 7"/>
          <p:cNvSpPr/>
          <p:nvPr/>
        </p:nvSpPr>
        <p:spPr>
          <a:xfrm>
            <a:off x="5064125" y="5688013"/>
            <a:ext cx="3759200" cy="6096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buClr>
                <a:srgbClr val="CC0000"/>
              </a:buClr>
              <a:buSzPct val="75000"/>
              <a:buFont typeface="Wingdings" panose="05000000000000000000" pitchFamily="2" charset="2"/>
              <a:buChar char="p"/>
            </a:pPr>
            <a:r>
              <a:rPr lang="zh-CN" altLang="en-US" sz="2400" dirty="0">
                <a:solidFill>
                  <a:srgbClr val="FF3300"/>
                </a:solidFill>
                <a:latin typeface="宋体" panose="02010600030101010101" pitchFamily="2" charset="-122"/>
              </a:rPr>
              <a:t> 物料单的递归联系</a:t>
            </a:r>
            <a:endParaRPr lang="zh-CN" altLang="en-US" sz="2400" dirty="0">
              <a:solidFill>
                <a:srgbClr val="CC0000"/>
              </a:solidFill>
              <a:latin typeface="宋体" panose="02010600030101010101" pitchFamily="2" charset="-122"/>
            </a:endParaRPr>
          </a:p>
        </p:txBody>
      </p:sp>
      <p:sp>
        <p:nvSpPr>
          <p:cNvPr id="109575" name="矩形 9"/>
          <p:cNvSpPr/>
          <p:nvPr/>
        </p:nvSpPr>
        <p:spPr>
          <a:xfrm>
            <a:off x="552450"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一元联系的转换方法</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09576"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83970" name="Object 7"/>
          <p:cNvGraphicFramePr>
            <a:graphicFrameLocks noGrp="1" noChangeAspect="1"/>
          </p:cNvGraphicFramePr>
          <p:nvPr/>
        </p:nvGraphicFramePr>
        <p:xfrm>
          <a:off x="465138" y="1600200"/>
          <a:ext cx="8361362" cy="4351338"/>
        </p:xfrm>
        <a:graphic>
          <a:graphicData uri="http://schemas.openxmlformats.org/presentationml/2006/ole">
            <mc:AlternateContent xmlns:mc="http://schemas.openxmlformats.org/markup-compatibility/2006">
              <mc:Choice xmlns:v="urn:schemas-microsoft-com:vml" Requires="v">
                <p:oleObj spid="_x0000_s3082" name="" r:id="rId1" imgW="3781425" imgH="1695450" progId="Word.Picture.8">
                  <p:embed/>
                </p:oleObj>
              </mc:Choice>
              <mc:Fallback>
                <p:oleObj name="" r:id="rId1" imgW="3781425" imgH="1695450" progId="Word.Picture.8">
                  <p:embed/>
                  <p:pic>
                    <p:nvPicPr>
                      <p:cNvPr id="0" name="图片 3081"/>
                      <p:cNvPicPr/>
                      <p:nvPr/>
                    </p:nvPicPr>
                    <p:blipFill>
                      <a:blip r:embed="rId2"/>
                      <a:stretch>
                        <a:fillRect/>
                      </a:stretch>
                    </p:blipFill>
                    <p:spPr>
                      <a:xfrm>
                        <a:off x="465138" y="1600200"/>
                        <a:ext cx="8361362" cy="4351338"/>
                      </a:xfrm>
                      <a:prstGeom prst="rect">
                        <a:avLst/>
                      </a:prstGeom>
                      <a:noFill/>
                      <a:ln w="38100">
                        <a:noFill/>
                        <a:miter/>
                      </a:ln>
                    </p:spPr>
                  </p:pic>
                </p:oleObj>
              </mc:Fallback>
            </mc:AlternateContent>
          </a:graphicData>
        </a:graphic>
      </p:graphicFrame>
      <p:sp>
        <p:nvSpPr>
          <p:cNvPr id="110595" name="矩形 2"/>
          <p:cNvSpPr/>
          <p:nvPr/>
        </p:nvSpPr>
        <p:spPr>
          <a:xfrm>
            <a:off x="552450"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5.ERM</a:t>
            </a:r>
            <a:r>
              <a:rPr lang="zh-CN" altLang="en-US" sz="2800" dirty="0">
                <a:solidFill>
                  <a:srgbClr val="0033CC"/>
                </a:solidFill>
                <a:latin typeface="黑体" panose="02010609060101010101" pitchFamily="49" charset="-122"/>
                <a:ea typeface="黑体" panose="02010609060101010101" pitchFamily="49" charset="-122"/>
              </a:rPr>
              <a:t>向关系模式转换小结</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0596"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diamond(in)">
                                      <p:cBhvr>
                                        <p:cTn id="7" dur="2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8" name="Rectangle 3"/>
          <p:cNvSpPr txBox="1"/>
          <p:nvPr/>
        </p:nvSpPr>
        <p:spPr>
          <a:xfrm>
            <a:off x="642938" y="1427163"/>
            <a:ext cx="7964487" cy="38417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4000"/>
              </a:lnSpc>
              <a:spcAft>
                <a:spcPts val="600"/>
              </a:spcAft>
              <a:buFont typeface="Arial" panose="020B0604020202020204" pitchFamily="34" charset="0"/>
              <a:buNone/>
            </a:pPr>
            <a:r>
              <a:rPr lang="zh-CN" altLang="en-US" sz="2200" dirty="0"/>
              <a:t>       </a:t>
            </a:r>
            <a:r>
              <a:rPr lang="zh-CN" altLang="en-US" sz="2200" dirty="0">
                <a:latin typeface="华文楷体" panose="02010600040101010101" pitchFamily="2" charset="-122"/>
              </a:rPr>
              <a:t>请为一家IT培训的公司建立一个概念数据模型以满足该公司的数据需求。公司有:</a:t>
            </a:r>
            <a:endParaRPr lang="zh-CN" altLang="en-US" sz="2200" dirty="0">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教师（教师编号、姓名、性别、年龄、职称)；</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学员（学员编号、姓名、年龄、单位）；</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培训课程（课程编号、名称、学时）；</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教师应分属各教研组（组号、组名）；</a:t>
            </a:r>
            <a:endParaRPr lang="zh-CN" altLang="en-US" sz="2200" u="sng" dirty="0">
              <a:solidFill>
                <a:srgbClr val="FF3300"/>
              </a:solidFill>
              <a:latin typeface="华文楷体" panose="02010600040101010101" pitchFamily="2" charset="-122"/>
            </a:endParaRPr>
          </a:p>
          <a:p>
            <a:pPr marL="0" lvl="0" indent="0" eaLnBrk="1" hangingPunct="1">
              <a:lnSpc>
                <a:spcPct val="90000"/>
              </a:lnSpc>
              <a:buFont typeface="Wingdings" panose="05000000000000000000" pitchFamily="2" charset="2"/>
              <a:buChar char="Ø"/>
            </a:pPr>
            <a:r>
              <a:rPr lang="zh-CN" altLang="en-US" sz="2200" u="sng" dirty="0">
                <a:solidFill>
                  <a:srgbClr val="FF3300"/>
                </a:solidFill>
                <a:latin typeface="华文楷体" panose="02010600040101010101" pitchFamily="2" charset="-122"/>
              </a:rPr>
              <a:t> 学员分属各培训班（班号、班名、人数）；</a:t>
            </a:r>
            <a:endParaRPr lang="zh-CN" altLang="en-US" sz="2200" u="sng" dirty="0">
              <a:solidFill>
                <a:srgbClr val="FF3300"/>
              </a:solidFill>
              <a:latin typeface="华文楷体" panose="02010600040101010101" pitchFamily="2" charset="-122"/>
            </a:endParaRPr>
          </a:p>
          <a:p>
            <a:pPr marL="0" lvl="0" indent="0" eaLnBrk="1" hangingPunct="1">
              <a:lnSpc>
                <a:spcPct val="114000"/>
              </a:lnSpc>
              <a:spcBef>
                <a:spcPts val="600"/>
              </a:spcBef>
              <a:buFont typeface="Arial" panose="020B0604020202020204" pitchFamily="34" charset="0"/>
              <a:buNone/>
            </a:pPr>
            <a:r>
              <a:rPr lang="zh-CN" altLang="en-US" sz="2200" dirty="0">
                <a:latin typeface="华文楷体" panose="02010600040101010101" pitchFamily="2" charset="-122"/>
              </a:rPr>
              <a:t>        实体间的联系及它们的属性有：教师属于教研组，一个组可有多名教师，但一个教师只属一个教研组；学员属于培训班，一个班可有多名学员，但一个学员只属一个培训班；学员学习课程，为多对多联系，含成绩属性；教师为培训班讲授课程，为m:n:k联系，含讲授年度属性。</a:t>
            </a:r>
            <a:endParaRPr lang="zh-CN" altLang="en-US" sz="2200" dirty="0">
              <a:latin typeface="华文楷体" panose="02010600040101010101" pitchFamily="2" charset="-122"/>
            </a:endParaRPr>
          </a:p>
        </p:txBody>
      </p:sp>
      <p:sp>
        <p:nvSpPr>
          <p:cNvPr id="111619" name="矩形 4"/>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162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2642" name="Object 3"/>
          <p:cNvGraphicFramePr>
            <a:graphicFrameLocks noChangeAspect="1"/>
          </p:cNvGraphicFramePr>
          <p:nvPr/>
        </p:nvGraphicFramePr>
        <p:xfrm>
          <a:off x="368300" y="2133600"/>
          <a:ext cx="8453438" cy="4014788"/>
        </p:xfrm>
        <a:graphic>
          <a:graphicData uri="http://schemas.openxmlformats.org/presentationml/2006/ole">
            <mc:AlternateContent xmlns:mc="http://schemas.openxmlformats.org/markup-compatibility/2006">
              <mc:Choice xmlns:v="urn:schemas-microsoft-com:vml" Requires="v">
                <p:oleObj spid="_x0000_s3083" name="" r:id="rId1" imgW="4467225" imgH="1638300" progId="Word.Picture.8">
                  <p:embed/>
                </p:oleObj>
              </mc:Choice>
              <mc:Fallback>
                <p:oleObj name="" r:id="rId1" imgW="4467225" imgH="1638300" progId="Word.Picture.8">
                  <p:embed/>
                  <p:pic>
                    <p:nvPicPr>
                      <p:cNvPr id="0" name="图片 3082"/>
                      <p:cNvPicPr/>
                      <p:nvPr/>
                    </p:nvPicPr>
                    <p:blipFill>
                      <a:blip r:embed="rId2"/>
                      <a:stretch>
                        <a:fillRect/>
                      </a:stretch>
                    </p:blipFill>
                    <p:spPr>
                      <a:xfrm>
                        <a:off x="368300" y="2133600"/>
                        <a:ext cx="8453438" cy="4014788"/>
                      </a:xfrm>
                      <a:prstGeom prst="rect">
                        <a:avLst/>
                      </a:prstGeom>
                      <a:noFill/>
                      <a:ln w="38100">
                        <a:noFill/>
                        <a:miter/>
                      </a:ln>
                    </p:spPr>
                  </p:pic>
                </p:oleObj>
              </mc:Fallback>
            </mc:AlternateContent>
          </a:graphicData>
        </a:graphic>
      </p:graphicFrame>
      <p:sp>
        <p:nvSpPr>
          <p:cNvPr id="112643" name="Rectangle 2"/>
          <p:cNvSpPr txBox="1"/>
          <p:nvPr/>
        </p:nvSpPr>
        <p:spPr>
          <a:xfrm>
            <a:off x="711200" y="1465263"/>
            <a:ext cx="7910513" cy="9652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宋体" panose="02010600030101010101" pitchFamily="2" charset="-122"/>
              </a:rPr>
              <a:t>画出ER图，标出实体的主键、联系的约束类型和键约束。 </a:t>
            </a:r>
            <a:endParaRPr lang="zh-CN" altLang="en-US" sz="2400" b="0" dirty="0">
              <a:latin typeface="宋体" panose="02010600030101010101" pitchFamily="2" charset="-122"/>
            </a:endParaRPr>
          </a:p>
        </p:txBody>
      </p:sp>
      <p:sp>
        <p:nvSpPr>
          <p:cNvPr id="112644" name="矩形 6"/>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264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6" name="Rectangle 3"/>
          <p:cNvSpPr txBox="1"/>
          <p:nvPr/>
        </p:nvSpPr>
        <p:spPr>
          <a:xfrm>
            <a:off x="647700" y="2278063"/>
            <a:ext cx="8047038" cy="3860800"/>
          </a:xfrm>
          <a:prstGeom prst="rect">
            <a:avLst/>
          </a:prstGeom>
          <a:solidFill>
            <a:srgbClr val="F3F8FF"/>
          </a:solidFill>
          <a:ln w="9525" cap="flat" cmpd="sng">
            <a:solidFill>
              <a:srgbClr val="0070C0"/>
            </a:solidFill>
            <a:prstDash val="dash"/>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pPr>
            <a:r>
              <a:rPr lang="zh-CN" altLang="en-US" dirty="0">
                <a:solidFill>
                  <a:srgbClr val="A50021"/>
                </a:solidFill>
              </a:rPr>
              <a:t>教研组</a:t>
            </a:r>
            <a:r>
              <a:rPr lang="zh-CN" altLang="en-US" dirty="0"/>
              <a:t>（</a:t>
            </a:r>
            <a:r>
              <a:rPr lang="zh-CN" altLang="en-US" u="sng" dirty="0"/>
              <a:t>组号</a:t>
            </a:r>
            <a:r>
              <a:rPr lang="zh-CN" altLang="en-US" dirty="0"/>
              <a:t>，组名）。</a:t>
            </a:r>
            <a:endParaRPr lang="zh-CN" altLang="en-US" dirty="0"/>
          </a:p>
          <a:p>
            <a:pPr marL="342900" lvl="0" indent="-342900" eaLnBrk="1" hangingPunct="1">
              <a:lnSpc>
                <a:spcPct val="120000"/>
              </a:lnSpc>
            </a:pPr>
            <a:r>
              <a:rPr lang="zh-CN" altLang="en-US" dirty="0">
                <a:solidFill>
                  <a:srgbClr val="A50021"/>
                </a:solidFill>
              </a:rPr>
              <a:t>培训班</a:t>
            </a:r>
            <a:r>
              <a:rPr lang="zh-CN" altLang="en-US" dirty="0"/>
              <a:t>（</a:t>
            </a:r>
            <a:r>
              <a:rPr lang="zh-CN" altLang="en-US" u="sng" dirty="0"/>
              <a:t>班号</a:t>
            </a:r>
            <a:r>
              <a:rPr lang="zh-CN" altLang="en-US" dirty="0"/>
              <a:t>，班名，人数）。</a:t>
            </a:r>
            <a:endParaRPr lang="zh-CN" altLang="en-US" dirty="0"/>
          </a:p>
          <a:p>
            <a:pPr marL="342900" lvl="0" indent="-342900" eaLnBrk="1" hangingPunct="1">
              <a:lnSpc>
                <a:spcPct val="120000"/>
              </a:lnSpc>
            </a:pPr>
            <a:r>
              <a:rPr lang="zh-CN" altLang="en-US" dirty="0">
                <a:solidFill>
                  <a:srgbClr val="A50021"/>
                </a:solidFill>
              </a:rPr>
              <a:t>教师</a:t>
            </a:r>
            <a:r>
              <a:rPr lang="zh-CN" altLang="en-US" dirty="0"/>
              <a:t>（</a:t>
            </a:r>
            <a:r>
              <a:rPr lang="zh-CN" altLang="en-US" u="sng" dirty="0"/>
              <a:t>教师编号</a:t>
            </a:r>
            <a:r>
              <a:rPr lang="zh-CN" altLang="en-US" dirty="0"/>
              <a:t>，姓名，性别，年龄，职称，组号），组号为外键。</a:t>
            </a:r>
            <a:endParaRPr lang="zh-CN" altLang="en-US" dirty="0"/>
          </a:p>
          <a:p>
            <a:pPr marL="342900" lvl="0" indent="-342900" eaLnBrk="1" hangingPunct="1">
              <a:lnSpc>
                <a:spcPct val="120000"/>
              </a:lnSpc>
            </a:pPr>
            <a:r>
              <a:rPr lang="zh-CN" altLang="en-US" dirty="0">
                <a:solidFill>
                  <a:srgbClr val="A50021"/>
                </a:solidFill>
              </a:rPr>
              <a:t>学员</a:t>
            </a:r>
            <a:r>
              <a:rPr lang="zh-CN" altLang="en-US" dirty="0"/>
              <a:t>（</a:t>
            </a:r>
            <a:r>
              <a:rPr lang="zh-CN" altLang="en-US" u="sng" dirty="0"/>
              <a:t>学员编号</a:t>
            </a:r>
            <a:r>
              <a:rPr lang="zh-CN" altLang="en-US" dirty="0"/>
              <a:t>，姓名，年龄，单位，班号），班号为外键。</a:t>
            </a:r>
            <a:endParaRPr lang="zh-CN" altLang="en-US" dirty="0"/>
          </a:p>
          <a:p>
            <a:pPr marL="342900" lvl="0" indent="-342900" eaLnBrk="1" hangingPunct="1">
              <a:lnSpc>
                <a:spcPct val="120000"/>
              </a:lnSpc>
            </a:pPr>
            <a:r>
              <a:rPr lang="zh-CN" altLang="en-US" dirty="0">
                <a:solidFill>
                  <a:srgbClr val="A50021"/>
                </a:solidFill>
              </a:rPr>
              <a:t>课程</a:t>
            </a:r>
            <a:r>
              <a:rPr lang="zh-CN" altLang="en-US" dirty="0"/>
              <a:t>（</a:t>
            </a:r>
            <a:r>
              <a:rPr lang="zh-CN" altLang="en-US" u="sng" dirty="0"/>
              <a:t>课程编号</a:t>
            </a:r>
            <a:r>
              <a:rPr lang="zh-CN" altLang="en-US" dirty="0"/>
              <a:t>，名称，学时）。</a:t>
            </a:r>
            <a:endParaRPr lang="zh-CN" altLang="en-US" dirty="0"/>
          </a:p>
          <a:p>
            <a:pPr marL="342900" lvl="0" indent="-342900" eaLnBrk="1" hangingPunct="1">
              <a:lnSpc>
                <a:spcPct val="120000"/>
              </a:lnSpc>
            </a:pPr>
            <a:r>
              <a:rPr lang="zh-CN" altLang="en-US" dirty="0"/>
              <a:t>讲授（</a:t>
            </a:r>
            <a:r>
              <a:rPr lang="zh-CN" altLang="en-US" u="sng" dirty="0"/>
              <a:t>教师编号，班号，课程编号</a:t>
            </a:r>
            <a:r>
              <a:rPr lang="zh-CN" altLang="en-US" dirty="0"/>
              <a:t>，年度），教师编号、班号和课程编号均各为外键。</a:t>
            </a:r>
            <a:endParaRPr lang="zh-CN" altLang="en-US" dirty="0"/>
          </a:p>
          <a:p>
            <a:pPr marL="342900" lvl="0" indent="-342900" eaLnBrk="1" hangingPunct="1">
              <a:lnSpc>
                <a:spcPct val="120000"/>
              </a:lnSpc>
            </a:pPr>
            <a:r>
              <a:rPr lang="zh-CN" altLang="en-US" dirty="0"/>
              <a:t>学习（</a:t>
            </a:r>
            <a:r>
              <a:rPr lang="zh-CN" altLang="en-US" u="sng" dirty="0"/>
              <a:t>课程编号，学员编号</a:t>
            </a:r>
            <a:r>
              <a:rPr lang="zh-CN" altLang="en-US" dirty="0"/>
              <a:t>，成绩），课程编号和学员编号均各为外键。</a:t>
            </a:r>
            <a:endParaRPr lang="zh-CN" altLang="en-US" dirty="0"/>
          </a:p>
        </p:txBody>
      </p:sp>
      <p:sp>
        <p:nvSpPr>
          <p:cNvPr id="113667" name="Rectangle 2"/>
          <p:cNvSpPr txBox="1"/>
          <p:nvPr/>
        </p:nvSpPr>
        <p:spPr>
          <a:xfrm>
            <a:off x="682625" y="1392238"/>
            <a:ext cx="7939088" cy="10080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宋体" panose="02010600030101010101" pitchFamily="2" charset="-122"/>
              </a:rPr>
              <a:t>    将ER图转换为关系模型，要求标出各关系的主键，如果存在的话还应指明外键。 </a:t>
            </a:r>
            <a:endParaRPr lang="zh-CN" altLang="en-US" sz="2400" dirty="0">
              <a:latin typeface="宋体" panose="02010600030101010101" pitchFamily="2" charset="-122"/>
            </a:endParaRPr>
          </a:p>
        </p:txBody>
      </p:sp>
      <p:sp>
        <p:nvSpPr>
          <p:cNvPr id="113668" name="矩形 5"/>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3669"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90" name="矩形 1"/>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4691" name="矩形 3"/>
          <p:cNvSpPr/>
          <p:nvPr/>
        </p:nvSpPr>
        <p:spPr>
          <a:xfrm>
            <a:off x="776288" y="1320800"/>
            <a:ext cx="7831137" cy="1446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jiaoyanzu</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(Jno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jSname	char(10)	NOT NULL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4692" name="矩形 4"/>
          <p:cNvSpPr/>
          <p:nvPr/>
        </p:nvSpPr>
        <p:spPr>
          <a:xfrm>
            <a:off x="754063" y="2430463"/>
            <a:ext cx="7831137" cy="1785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peixunban</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pSname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pnum  int check(pnum between 10 and 100))</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4693" name="矩形 5"/>
          <p:cNvSpPr/>
          <p:nvPr/>
        </p:nvSpPr>
        <p:spPr>
          <a:xfrm>
            <a:off x="688975" y="3903663"/>
            <a:ext cx="7831138" cy="2462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jiaoshi</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tSname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tage  int check(tage between 20 and 80),</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tsex char(1)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trank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Jno      int  foreign key references jiaoyanzu(Jno)   )</a:t>
            </a:r>
            <a:endParaRPr lang="en-US" altLang="zh-CN" sz="2200" i="1" dirty="0">
              <a:latin typeface="Times New Roman" panose="02020603050405020304" pitchFamily="18" charset="0"/>
              <a:ea typeface="Arial Unicode MS" pitchFamily="34" charset="-122"/>
            </a:endParaRPr>
          </a:p>
        </p:txBody>
      </p:sp>
      <p:sp>
        <p:nvSpPr>
          <p:cNvPr id="114694" name="矩形 6"/>
          <p:cNvSpPr/>
          <p:nvPr/>
        </p:nvSpPr>
        <p:spPr>
          <a:xfrm>
            <a:off x="7400925" y="1700213"/>
            <a:ext cx="1035050" cy="4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A50021"/>
                </a:solidFill>
              </a:rPr>
              <a:t>教研组</a:t>
            </a:r>
            <a:endParaRPr lang="zh-CN" altLang="en-US" sz="2200" dirty="0"/>
          </a:p>
        </p:txBody>
      </p:sp>
      <p:sp>
        <p:nvSpPr>
          <p:cNvPr id="88072" name="右大括号 7"/>
          <p:cNvSpPr/>
          <p:nvPr/>
        </p:nvSpPr>
        <p:spPr>
          <a:xfrm>
            <a:off x="6981825" y="1465263"/>
            <a:ext cx="406400" cy="885825"/>
          </a:xfrm>
          <a:prstGeom prst="rightBrace">
            <a:avLst>
              <a:gd name="adj1" fmla="val 8335"/>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4696" name="矩形 8"/>
          <p:cNvSpPr/>
          <p:nvPr/>
        </p:nvSpPr>
        <p:spPr>
          <a:xfrm>
            <a:off x="7378700" y="2970213"/>
            <a:ext cx="1035050" cy="4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A50021"/>
                </a:solidFill>
              </a:rPr>
              <a:t>培训班</a:t>
            </a:r>
            <a:endParaRPr lang="zh-CN" altLang="en-US" sz="2200" dirty="0"/>
          </a:p>
        </p:txBody>
      </p:sp>
      <p:sp>
        <p:nvSpPr>
          <p:cNvPr id="88074" name="右大括号 9"/>
          <p:cNvSpPr/>
          <p:nvPr/>
        </p:nvSpPr>
        <p:spPr>
          <a:xfrm>
            <a:off x="6959600" y="2735263"/>
            <a:ext cx="406400" cy="885825"/>
          </a:xfrm>
          <a:prstGeom prst="rightBrace">
            <a:avLst>
              <a:gd name="adj1" fmla="val 8335"/>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4698" name="矩形 10"/>
          <p:cNvSpPr/>
          <p:nvPr/>
        </p:nvSpPr>
        <p:spPr>
          <a:xfrm>
            <a:off x="7573963" y="4764088"/>
            <a:ext cx="752475"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教师</a:t>
            </a:r>
            <a:endParaRPr lang="zh-CN" altLang="en-US" sz="2200" dirty="0">
              <a:solidFill>
                <a:srgbClr val="FF0000"/>
              </a:solidFill>
            </a:endParaRPr>
          </a:p>
        </p:txBody>
      </p:sp>
      <p:sp>
        <p:nvSpPr>
          <p:cNvPr id="88076" name="右大括号 11"/>
          <p:cNvSpPr/>
          <p:nvPr/>
        </p:nvSpPr>
        <p:spPr>
          <a:xfrm>
            <a:off x="7112000" y="4137025"/>
            <a:ext cx="406400" cy="2124075"/>
          </a:xfrm>
          <a:prstGeom prst="rightBrace">
            <a:avLst>
              <a:gd name="adj1" fmla="val 8323"/>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4700"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4" name="矩形 1"/>
          <p:cNvSpPr/>
          <p:nvPr/>
        </p:nvSpPr>
        <p:spPr>
          <a:xfrm>
            <a:off x="776288" y="1611313"/>
            <a:ext cx="7831137" cy="19748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kecheng</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Cname	varchar(30)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Ccredit  int check(Ccredit between 1 and 5)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5715"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5716" name="矩形 4"/>
          <p:cNvSpPr/>
          <p:nvPr/>
        </p:nvSpPr>
        <p:spPr>
          <a:xfrm>
            <a:off x="798513" y="3375025"/>
            <a:ext cx="7831137" cy="23764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xueyuan</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(Xno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Xname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Xage  int check(Xage between 14 and 60),</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Xdep  varchar(30)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4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Pno    int Foreign Key references peixunban(Pno)   )</a:t>
            </a:r>
            <a:endParaRPr lang="en-US" altLang="zh-CN" sz="2200" i="1" dirty="0">
              <a:latin typeface="Times New Roman" panose="02020603050405020304" pitchFamily="18" charset="0"/>
              <a:ea typeface="Arial Unicode MS" pitchFamily="34" charset="-122"/>
            </a:endParaRPr>
          </a:p>
        </p:txBody>
      </p:sp>
      <p:sp>
        <p:nvSpPr>
          <p:cNvPr id="115717" name="矩形 8"/>
          <p:cNvSpPr/>
          <p:nvPr/>
        </p:nvSpPr>
        <p:spPr>
          <a:xfrm>
            <a:off x="7415213" y="2092325"/>
            <a:ext cx="750887"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课程</a:t>
            </a:r>
            <a:endParaRPr lang="zh-CN" altLang="en-US" sz="2200" dirty="0">
              <a:solidFill>
                <a:srgbClr val="FF0000"/>
              </a:solidFill>
            </a:endParaRPr>
          </a:p>
        </p:txBody>
      </p:sp>
      <p:sp>
        <p:nvSpPr>
          <p:cNvPr id="89095" name="右大括号 9"/>
          <p:cNvSpPr/>
          <p:nvPr/>
        </p:nvSpPr>
        <p:spPr>
          <a:xfrm>
            <a:off x="6951663" y="1698625"/>
            <a:ext cx="406400" cy="1511300"/>
          </a:xfrm>
          <a:prstGeom prst="rightBrace">
            <a:avLst>
              <a:gd name="adj1" fmla="val 8332"/>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5719" name="矩形 10"/>
          <p:cNvSpPr/>
          <p:nvPr/>
        </p:nvSpPr>
        <p:spPr>
          <a:xfrm>
            <a:off x="7929563" y="4248150"/>
            <a:ext cx="752475"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学员</a:t>
            </a:r>
            <a:endParaRPr lang="zh-CN" altLang="en-US" sz="2200" dirty="0">
              <a:solidFill>
                <a:srgbClr val="FF0000"/>
              </a:solidFill>
            </a:endParaRPr>
          </a:p>
        </p:txBody>
      </p:sp>
      <p:sp>
        <p:nvSpPr>
          <p:cNvPr id="89097" name="右大括号 11"/>
          <p:cNvSpPr/>
          <p:nvPr/>
        </p:nvSpPr>
        <p:spPr>
          <a:xfrm>
            <a:off x="7467600" y="3852863"/>
            <a:ext cx="406400" cy="2160588"/>
          </a:xfrm>
          <a:prstGeom prst="rightBrace">
            <a:avLst>
              <a:gd name="adj1" fmla="val 8343"/>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5721"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8" name="矩形 1"/>
          <p:cNvSpPr/>
          <p:nvPr/>
        </p:nvSpPr>
        <p:spPr>
          <a:xfrm>
            <a:off x="638175" y="1531938"/>
            <a:ext cx="7831138" cy="2462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jiangshou</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(tno   int  Foreign Key references jiaoshi(tno),</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pno	 int  Foreign Key references peixunban(pno),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int Foreign Key references kecheng(Cno)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Jyear char(4)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PRIMARY KEY(tno,pno,Cno,Jyear))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6739" name="矩形 3"/>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5.</a:t>
            </a:r>
            <a:r>
              <a:rPr lang="zh-CN" altLang="en-US" sz="2800" dirty="0">
                <a:solidFill>
                  <a:srgbClr val="0033CC"/>
                </a:solidFill>
                <a:latin typeface="黑体" panose="02010609060101010101" pitchFamily="49" charset="-122"/>
                <a:ea typeface="黑体" panose="02010609060101010101" pitchFamily="49" charset="-122"/>
              </a:rPr>
              <a:t>实体联系模型向关系模型转换实例</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6740" name="矩形 5"/>
          <p:cNvSpPr/>
          <p:nvPr/>
        </p:nvSpPr>
        <p:spPr>
          <a:xfrm>
            <a:off x="7415213" y="2092325"/>
            <a:ext cx="750887"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讲授</a:t>
            </a:r>
            <a:endParaRPr lang="zh-CN" altLang="en-US" sz="2200" dirty="0">
              <a:solidFill>
                <a:srgbClr val="FF0000"/>
              </a:solidFill>
            </a:endParaRPr>
          </a:p>
        </p:txBody>
      </p:sp>
      <p:sp>
        <p:nvSpPr>
          <p:cNvPr id="90118" name="右大括号 6"/>
          <p:cNvSpPr/>
          <p:nvPr/>
        </p:nvSpPr>
        <p:spPr>
          <a:xfrm>
            <a:off x="6951663" y="169862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6742" name="矩形 7"/>
          <p:cNvSpPr/>
          <p:nvPr/>
        </p:nvSpPr>
        <p:spPr>
          <a:xfrm>
            <a:off x="615950" y="3744913"/>
            <a:ext cx="7831138" cy="24622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xuexi</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(Xno   int  Foreign Key references xueyuan(Xno),</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int Foreign Key references kecheng(Cno) ,</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mark int check(mark between 0 and 100),</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PRIMARY KEY(Xno, Cno))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6743" name="矩形 9"/>
          <p:cNvSpPr/>
          <p:nvPr/>
        </p:nvSpPr>
        <p:spPr>
          <a:xfrm>
            <a:off x="7567613" y="4276725"/>
            <a:ext cx="750887"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学习</a:t>
            </a:r>
            <a:endParaRPr lang="zh-CN" altLang="en-US" sz="2200" dirty="0">
              <a:solidFill>
                <a:srgbClr val="FF0000"/>
              </a:solidFill>
            </a:endParaRPr>
          </a:p>
        </p:txBody>
      </p:sp>
      <p:sp>
        <p:nvSpPr>
          <p:cNvPr id="90121" name="右大括号 10"/>
          <p:cNvSpPr/>
          <p:nvPr/>
        </p:nvSpPr>
        <p:spPr>
          <a:xfrm>
            <a:off x="7104063" y="388302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6745"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2" name="矩形 1"/>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17763" name="组合 85"/>
          <p:cNvGrpSpPr/>
          <p:nvPr/>
        </p:nvGrpSpPr>
        <p:grpSpPr>
          <a:xfrm>
            <a:off x="365125" y="1539875"/>
            <a:ext cx="8474075" cy="4443413"/>
            <a:chOff x="0" y="0"/>
            <a:chExt cx="8686800" cy="5068888"/>
          </a:xfrm>
        </p:grpSpPr>
        <p:grpSp>
          <p:nvGrpSpPr>
            <p:cNvPr id="117769" name="Group 4"/>
            <p:cNvGrpSpPr/>
            <p:nvPr/>
          </p:nvGrpSpPr>
          <p:grpSpPr>
            <a:xfrm>
              <a:off x="3962400" y="1371600"/>
              <a:ext cx="1181100" cy="2225675"/>
              <a:chOff x="0" y="0"/>
              <a:chExt cx="744" cy="1402"/>
            </a:xfrm>
          </p:grpSpPr>
          <p:sp>
            <p:nvSpPr>
              <p:cNvPr id="117846" name="AutoShape 5"/>
              <p:cNvSpPr/>
              <p:nvPr/>
            </p:nvSpPr>
            <p:spPr>
              <a:xfrm>
                <a:off x="0" y="528"/>
                <a:ext cx="720" cy="384"/>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组成</a:t>
                </a:r>
                <a:endParaRPr lang="zh-CN" altLang="en-US" sz="1600" dirty="0">
                  <a:solidFill>
                    <a:srgbClr val="0000CC"/>
                  </a:solidFill>
                  <a:latin typeface="宋体" panose="02010600030101010101" pitchFamily="2" charset="-122"/>
                </a:endParaRPr>
              </a:p>
            </p:txBody>
          </p:sp>
          <p:sp>
            <p:nvSpPr>
              <p:cNvPr id="117847" name="Text Box 6"/>
              <p:cNvSpPr txBox="1"/>
              <p:nvPr/>
            </p:nvSpPr>
            <p:spPr>
              <a:xfrm>
                <a:off x="240"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sp>
            <p:nvSpPr>
              <p:cNvPr id="117848" name="Line 7"/>
              <p:cNvSpPr/>
              <p:nvPr/>
            </p:nvSpPr>
            <p:spPr>
              <a:xfrm flipH="1" flipV="1">
                <a:off x="264" y="0"/>
                <a:ext cx="72" cy="528"/>
              </a:xfrm>
              <a:prstGeom prst="line">
                <a:avLst/>
              </a:prstGeom>
              <a:ln w="50800" cap="flat" cmpd="sng">
                <a:solidFill>
                  <a:srgbClr val="CC0000"/>
                </a:solidFill>
                <a:prstDash val="solid"/>
                <a:headEnd type="none" w="med" len="med"/>
                <a:tailEnd type="none" w="med" len="med"/>
              </a:ln>
            </p:spPr>
          </p:sp>
          <p:sp>
            <p:nvSpPr>
              <p:cNvPr id="117849" name="Line 8"/>
              <p:cNvSpPr/>
              <p:nvPr/>
            </p:nvSpPr>
            <p:spPr>
              <a:xfrm flipH="1" flipV="1">
                <a:off x="384" y="912"/>
                <a:ext cx="48" cy="490"/>
              </a:xfrm>
              <a:prstGeom prst="line">
                <a:avLst/>
              </a:prstGeom>
              <a:ln w="50800" cap="flat" cmpd="sng">
                <a:solidFill>
                  <a:srgbClr val="CC0000"/>
                </a:solidFill>
                <a:prstDash val="solid"/>
                <a:headEnd type="none" w="med" len="med"/>
                <a:tailEnd type="triangle" w="med" len="med"/>
              </a:ln>
            </p:spPr>
          </p:sp>
          <p:sp>
            <p:nvSpPr>
              <p:cNvPr id="117850" name="Text Box 9"/>
              <p:cNvSpPr txBox="1"/>
              <p:nvPr/>
            </p:nvSpPr>
            <p:spPr>
              <a:xfrm>
                <a:off x="456" y="1008"/>
                <a:ext cx="288"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grpSp>
        <p:grpSp>
          <p:nvGrpSpPr>
            <p:cNvPr id="117770" name="Group 10"/>
            <p:cNvGrpSpPr/>
            <p:nvPr/>
          </p:nvGrpSpPr>
          <p:grpSpPr>
            <a:xfrm>
              <a:off x="179389" y="134939"/>
              <a:ext cx="2128838" cy="1655764"/>
              <a:chOff x="0" y="0"/>
              <a:chExt cx="1341" cy="1043"/>
            </a:xfrm>
          </p:grpSpPr>
          <p:sp>
            <p:nvSpPr>
              <p:cNvPr id="117839" name="Rectangle 11"/>
              <p:cNvSpPr/>
              <p:nvPr/>
            </p:nvSpPr>
            <p:spPr>
              <a:xfrm>
                <a:off x="765" y="624"/>
                <a:ext cx="576" cy="240"/>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dirty="0">
                    <a:solidFill>
                      <a:srgbClr val="000000"/>
                    </a:solidFill>
                    <a:latin typeface="宋体" panose="02010600030101010101" pitchFamily="2" charset="-122"/>
                  </a:rPr>
                  <a:t>系</a:t>
                </a:r>
                <a:endParaRPr lang="zh-CN" altLang="en-US" dirty="0">
                  <a:solidFill>
                    <a:srgbClr val="000000"/>
                  </a:solidFill>
                  <a:latin typeface="宋体" panose="02010600030101010101" pitchFamily="2" charset="-122"/>
                </a:endParaRPr>
              </a:p>
            </p:txBody>
          </p:sp>
          <p:sp>
            <p:nvSpPr>
              <p:cNvPr id="117840" name="Oval 12"/>
              <p:cNvSpPr/>
              <p:nvPr/>
            </p:nvSpPr>
            <p:spPr>
              <a:xfrm>
                <a:off x="0" y="725"/>
                <a:ext cx="508" cy="31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电话</a:t>
                </a:r>
                <a:endParaRPr lang="zh-CN" altLang="en-US" sz="1600" dirty="0">
                  <a:solidFill>
                    <a:srgbClr val="0000CC"/>
                  </a:solidFill>
                  <a:latin typeface="宋体" panose="02010600030101010101" pitchFamily="2" charset="-122"/>
                </a:endParaRPr>
              </a:p>
            </p:txBody>
          </p:sp>
          <p:sp>
            <p:nvSpPr>
              <p:cNvPr id="117841" name="Line 13"/>
              <p:cNvSpPr/>
              <p:nvPr/>
            </p:nvSpPr>
            <p:spPr>
              <a:xfrm flipH="1">
                <a:off x="499" y="771"/>
                <a:ext cx="272" cy="90"/>
              </a:xfrm>
              <a:prstGeom prst="line">
                <a:avLst/>
              </a:prstGeom>
              <a:ln w="25400" cap="flat" cmpd="sng">
                <a:solidFill>
                  <a:srgbClr val="000000"/>
                </a:solidFill>
                <a:prstDash val="solid"/>
                <a:headEnd type="none" w="med" len="med"/>
                <a:tailEnd type="none" w="med" len="med"/>
              </a:ln>
            </p:spPr>
          </p:sp>
          <p:sp>
            <p:nvSpPr>
              <p:cNvPr id="117842" name="Oval 14"/>
              <p:cNvSpPr/>
              <p:nvPr/>
            </p:nvSpPr>
            <p:spPr>
              <a:xfrm>
                <a:off x="285" y="0"/>
                <a:ext cx="713" cy="43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系名</a:t>
                </a:r>
                <a:endParaRPr lang="zh-CN" altLang="en-US" sz="1600" u="sng" dirty="0">
                  <a:solidFill>
                    <a:srgbClr val="0000CC"/>
                  </a:solidFill>
                  <a:latin typeface="宋体" panose="02010600030101010101" pitchFamily="2" charset="-122"/>
                </a:endParaRPr>
              </a:p>
            </p:txBody>
          </p:sp>
          <p:sp>
            <p:nvSpPr>
              <p:cNvPr id="117843" name="Oval 15"/>
              <p:cNvSpPr/>
              <p:nvPr/>
            </p:nvSpPr>
            <p:spPr>
              <a:xfrm>
                <a:off x="0" y="408"/>
                <a:ext cx="476" cy="29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地址</a:t>
                </a:r>
                <a:endParaRPr lang="zh-CN" altLang="en-US" sz="1600" dirty="0">
                  <a:solidFill>
                    <a:srgbClr val="0000CC"/>
                  </a:solidFill>
                  <a:latin typeface="宋体" panose="02010600030101010101" pitchFamily="2" charset="-122"/>
                </a:endParaRPr>
              </a:p>
            </p:txBody>
          </p:sp>
          <p:sp>
            <p:nvSpPr>
              <p:cNvPr id="117844" name="Line 16"/>
              <p:cNvSpPr/>
              <p:nvPr/>
            </p:nvSpPr>
            <p:spPr>
              <a:xfrm>
                <a:off x="817" y="408"/>
                <a:ext cx="90" cy="227"/>
              </a:xfrm>
              <a:prstGeom prst="line">
                <a:avLst/>
              </a:prstGeom>
              <a:ln w="25400" cap="flat" cmpd="sng">
                <a:solidFill>
                  <a:srgbClr val="000000"/>
                </a:solidFill>
                <a:prstDash val="solid"/>
                <a:headEnd type="none" w="med" len="med"/>
                <a:tailEnd type="none" w="med" len="med"/>
              </a:ln>
            </p:spPr>
          </p:sp>
          <p:sp>
            <p:nvSpPr>
              <p:cNvPr id="117845" name="Line 17"/>
              <p:cNvSpPr/>
              <p:nvPr/>
            </p:nvSpPr>
            <p:spPr>
              <a:xfrm flipH="1" flipV="1">
                <a:off x="454" y="589"/>
                <a:ext cx="317" cy="136"/>
              </a:xfrm>
              <a:prstGeom prst="line">
                <a:avLst/>
              </a:prstGeom>
              <a:ln w="25400" cap="flat" cmpd="sng">
                <a:solidFill>
                  <a:srgbClr val="000000"/>
                </a:solidFill>
                <a:prstDash val="solid"/>
                <a:headEnd type="none" w="med" len="med"/>
                <a:tailEnd type="none" w="med" len="med"/>
              </a:ln>
            </p:spPr>
          </p:sp>
        </p:grpSp>
        <p:grpSp>
          <p:nvGrpSpPr>
            <p:cNvPr id="117771" name="Group 18"/>
            <p:cNvGrpSpPr/>
            <p:nvPr/>
          </p:nvGrpSpPr>
          <p:grpSpPr>
            <a:xfrm>
              <a:off x="6248402" y="0"/>
              <a:ext cx="2335213" cy="1604964"/>
              <a:chOff x="0" y="0"/>
              <a:chExt cx="1471" cy="1011"/>
            </a:xfrm>
          </p:grpSpPr>
          <p:sp>
            <p:nvSpPr>
              <p:cNvPr id="117830" name="Rectangle 19"/>
              <p:cNvSpPr/>
              <p:nvPr/>
            </p:nvSpPr>
            <p:spPr>
              <a:xfrm>
                <a:off x="96" y="723"/>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辅导员</a:t>
                </a:r>
                <a:endParaRPr lang="de-DE" altLang="en-US" sz="1800" dirty="0">
                  <a:solidFill>
                    <a:srgbClr val="000000"/>
                  </a:solidFill>
                  <a:latin typeface="宋体" panose="02010600030101010101" pitchFamily="2" charset="-122"/>
                </a:endParaRPr>
              </a:p>
            </p:txBody>
          </p:sp>
          <p:sp>
            <p:nvSpPr>
              <p:cNvPr id="117831" name="Oval 20"/>
              <p:cNvSpPr/>
              <p:nvPr/>
            </p:nvSpPr>
            <p:spPr>
              <a:xfrm>
                <a:off x="927" y="408"/>
                <a:ext cx="454" cy="27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性别</a:t>
                </a:r>
                <a:endParaRPr lang="zh-CN" altLang="en-US" sz="1600" dirty="0">
                  <a:solidFill>
                    <a:srgbClr val="0000CC"/>
                  </a:solidFill>
                  <a:latin typeface="宋体" panose="02010600030101010101" pitchFamily="2" charset="-122"/>
                </a:endParaRPr>
              </a:p>
            </p:txBody>
          </p:sp>
          <p:sp>
            <p:nvSpPr>
              <p:cNvPr id="117832" name="Oval 21"/>
              <p:cNvSpPr/>
              <p:nvPr/>
            </p:nvSpPr>
            <p:spPr>
              <a:xfrm>
                <a:off x="0" y="99"/>
                <a:ext cx="720"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工作证号</a:t>
                </a:r>
                <a:endParaRPr lang="zh-CN" altLang="en-US" sz="1600" u="sng" dirty="0">
                  <a:solidFill>
                    <a:srgbClr val="0000CC"/>
                  </a:solidFill>
                  <a:latin typeface="宋体" panose="02010600030101010101" pitchFamily="2" charset="-122"/>
                </a:endParaRPr>
              </a:p>
            </p:txBody>
          </p:sp>
          <p:sp>
            <p:nvSpPr>
              <p:cNvPr id="117833" name="Line 22"/>
              <p:cNvSpPr/>
              <p:nvPr/>
            </p:nvSpPr>
            <p:spPr>
              <a:xfrm>
                <a:off x="288" y="483"/>
                <a:ext cx="96" cy="240"/>
              </a:xfrm>
              <a:prstGeom prst="line">
                <a:avLst/>
              </a:prstGeom>
              <a:ln w="25400" cap="flat" cmpd="sng">
                <a:solidFill>
                  <a:srgbClr val="000000"/>
                </a:solidFill>
                <a:prstDash val="solid"/>
                <a:headEnd type="none" w="med" len="med"/>
                <a:tailEnd type="none" w="med" len="med"/>
              </a:ln>
            </p:spPr>
          </p:sp>
          <p:sp>
            <p:nvSpPr>
              <p:cNvPr id="117834" name="Line 23"/>
              <p:cNvSpPr/>
              <p:nvPr/>
            </p:nvSpPr>
            <p:spPr>
              <a:xfrm flipH="1">
                <a:off x="672" y="544"/>
                <a:ext cx="255" cy="272"/>
              </a:xfrm>
              <a:prstGeom prst="line">
                <a:avLst/>
              </a:prstGeom>
              <a:ln w="25400" cap="flat" cmpd="sng">
                <a:solidFill>
                  <a:srgbClr val="000000"/>
                </a:solidFill>
                <a:prstDash val="solid"/>
                <a:headEnd type="none" w="med" len="med"/>
                <a:tailEnd type="none" w="med" len="med"/>
              </a:ln>
            </p:spPr>
          </p:sp>
          <p:sp>
            <p:nvSpPr>
              <p:cNvPr id="117835" name="Oval 24"/>
              <p:cNvSpPr/>
              <p:nvPr/>
            </p:nvSpPr>
            <p:spPr>
              <a:xfrm>
                <a:off x="768" y="0"/>
                <a:ext cx="604"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姓名</a:t>
                </a:r>
                <a:endParaRPr lang="zh-CN" altLang="en-US" sz="1600" dirty="0">
                  <a:solidFill>
                    <a:srgbClr val="0000CC"/>
                  </a:solidFill>
                  <a:latin typeface="宋体" panose="02010600030101010101" pitchFamily="2" charset="-122"/>
                </a:endParaRPr>
              </a:p>
            </p:txBody>
          </p:sp>
          <p:sp>
            <p:nvSpPr>
              <p:cNvPr id="117836" name="Oval 25"/>
              <p:cNvSpPr/>
              <p:nvPr/>
            </p:nvSpPr>
            <p:spPr>
              <a:xfrm>
                <a:off x="1017" y="725"/>
                <a:ext cx="454" cy="27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电话</a:t>
                </a:r>
                <a:endParaRPr lang="zh-CN" altLang="en-US" sz="1600" dirty="0">
                  <a:solidFill>
                    <a:srgbClr val="0000CC"/>
                  </a:solidFill>
                  <a:latin typeface="宋体" panose="02010600030101010101" pitchFamily="2" charset="-122"/>
                </a:endParaRPr>
              </a:p>
            </p:txBody>
          </p:sp>
          <p:sp>
            <p:nvSpPr>
              <p:cNvPr id="117837" name="Line 26"/>
              <p:cNvSpPr/>
              <p:nvPr/>
            </p:nvSpPr>
            <p:spPr>
              <a:xfrm flipH="1">
                <a:off x="528" y="317"/>
                <a:ext cx="308" cy="403"/>
              </a:xfrm>
              <a:prstGeom prst="line">
                <a:avLst/>
              </a:prstGeom>
              <a:ln w="25400" cap="flat" cmpd="sng">
                <a:solidFill>
                  <a:srgbClr val="000000"/>
                </a:solidFill>
                <a:prstDash val="solid"/>
                <a:headEnd type="none" w="med" len="med"/>
                <a:tailEnd type="none" w="med" len="med"/>
              </a:ln>
            </p:spPr>
          </p:sp>
          <p:sp>
            <p:nvSpPr>
              <p:cNvPr id="117838" name="Line 27"/>
              <p:cNvSpPr/>
              <p:nvPr/>
            </p:nvSpPr>
            <p:spPr>
              <a:xfrm flipH="1">
                <a:off x="672" y="861"/>
                <a:ext cx="345" cy="51"/>
              </a:xfrm>
              <a:prstGeom prst="line">
                <a:avLst/>
              </a:prstGeom>
              <a:ln w="25400" cap="flat" cmpd="sng">
                <a:solidFill>
                  <a:srgbClr val="000000"/>
                </a:solidFill>
                <a:prstDash val="solid"/>
                <a:headEnd type="none" w="med" len="med"/>
                <a:tailEnd type="none" w="med" len="med"/>
              </a:ln>
            </p:spPr>
          </p:sp>
        </p:grpSp>
        <p:grpSp>
          <p:nvGrpSpPr>
            <p:cNvPr id="117772" name="Group 28"/>
            <p:cNvGrpSpPr/>
            <p:nvPr/>
          </p:nvGrpSpPr>
          <p:grpSpPr>
            <a:xfrm>
              <a:off x="3935416" y="7939"/>
              <a:ext cx="1703388" cy="1363663"/>
              <a:chOff x="0" y="0"/>
              <a:chExt cx="1073" cy="859"/>
            </a:xfrm>
          </p:grpSpPr>
          <p:sp>
            <p:nvSpPr>
              <p:cNvPr id="117825" name="Line 29"/>
              <p:cNvSpPr/>
              <p:nvPr/>
            </p:nvSpPr>
            <p:spPr>
              <a:xfrm flipV="1">
                <a:off x="449" y="379"/>
                <a:ext cx="144" cy="192"/>
              </a:xfrm>
              <a:prstGeom prst="line">
                <a:avLst/>
              </a:prstGeom>
              <a:ln w="25400" cap="flat" cmpd="sng">
                <a:solidFill>
                  <a:srgbClr val="000000"/>
                </a:solidFill>
                <a:prstDash val="solid"/>
                <a:headEnd type="none" w="med" len="med"/>
                <a:tailEnd type="none" w="med" len="med"/>
              </a:ln>
            </p:spPr>
          </p:sp>
          <p:sp>
            <p:nvSpPr>
              <p:cNvPr id="117826" name="Line 30"/>
              <p:cNvSpPr/>
              <p:nvPr/>
            </p:nvSpPr>
            <p:spPr>
              <a:xfrm flipH="1" flipV="1">
                <a:off x="227" y="273"/>
                <a:ext cx="78" cy="298"/>
              </a:xfrm>
              <a:prstGeom prst="line">
                <a:avLst/>
              </a:prstGeom>
              <a:ln w="25400" cap="flat" cmpd="sng">
                <a:solidFill>
                  <a:srgbClr val="000000"/>
                </a:solidFill>
                <a:prstDash val="solid"/>
                <a:headEnd type="none" w="med" len="med"/>
                <a:tailEnd type="none" w="med" len="med"/>
              </a:ln>
            </p:spPr>
          </p:sp>
          <p:sp>
            <p:nvSpPr>
              <p:cNvPr id="117827" name="Oval 31"/>
              <p:cNvSpPr/>
              <p:nvPr/>
            </p:nvSpPr>
            <p:spPr>
              <a:xfrm>
                <a:off x="545" y="139"/>
                <a:ext cx="528" cy="331"/>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班名</a:t>
                </a:r>
                <a:endParaRPr lang="de-DE" altLang="en-US" sz="1600" dirty="0">
                  <a:solidFill>
                    <a:srgbClr val="0000CC"/>
                  </a:solidFill>
                  <a:latin typeface="宋体" panose="02010600030101010101" pitchFamily="2" charset="-122"/>
                </a:endParaRPr>
              </a:p>
            </p:txBody>
          </p:sp>
          <p:sp>
            <p:nvSpPr>
              <p:cNvPr id="117828" name="Oval 32"/>
              <p:cNvSpPr/>
              <p:nvPr/>
            </p:nvSpPr>
            <p:spPr>
              <a:xfrm>
                <a:off x="0" y="0"/>
                <a:ext cx="576" cy="28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班号</a:t>
                </a:r>
                <a:endParaRPr lang="de-DE" altLang="en-US" sz="1600" u="sng" dirty="0">
                  <a:solidFill>
                    <a:srgbClr val="0000CC"/>
                  </a:solidFill>
                  <a:latin typeface="宋体" panose="02010600030101010101" pitchFamily="2" charset="-122"/>
                </a:endParaRPr>
              </a:p>
            </p:txBody>
          </p:sp>
          <p:sp>
            <p:nvSpPr>
              <p:cNvPr id="117829" name="Rectangle 33"/>
              <p:cNvSpPr/>
              <p:nvPr/>
            </p:nvSpPr>
            <p:spPr>
              <a:xfrm>
                <a:off x="17" y="571"/>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班级</a:t>
                </a:r>
                <a:endParaRPr lang="de-DE" altLang="en-US" sz="1800" dirty="0">
                  <a:solidFill>
                    <a:srgbClr val="000000"/>
                  </a:solidFill>
                  <a:latin typeface="宋体" panose="02010600030101010101" pitchFamily="2" charset="-122"/>
                </a:endParaRPr>
              </a:p>
            </p:txBody>
          </p:sp>
        </p:grpSp>
        <p:grpSp>
          <p:nvGrpSpPr>
            <p:cNvPr id="117773" name="Group 34"/>
            <p:cNvGrpSpPr/>
            <p:nvPr/>
          </p:nvGrpSpPr>
          <p:grpSpPr>
            <a:xfrm>
              <a:off x="3429000" y="3505200"/>
              <a:ext cx="3348038" cy="1563688"/>
              <a:chOff x="0" y="0"/>
              <a:chExt cx="2109" cy="985"/>
            </a:xfrm>
          </p:grpSpPr>
          <p:sp>
            <p:nvSpPr>
              <p:cNvPr id="117816" name="Rectangle 35"/>
              <p:cNvSpPr/>
              <p:nvPr/>
            </p:nvSpPr>
            <p:spPr>
              <a:xfrm>
                <a:off x="414"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学生</a:t>
                </a:r>
                <a:endParaRPr lang="zh-CN" altLang="en-US" sz="1800" dirty="0">
                  <a:solidFill>
                    <a:srgbClr val="000000"/>
                  </a:solidFill>
                  <a:latin typeface="宋体" panose="02010600030101010101" pitchFamily="2" charset="-122"/>
                </a:endParaRPr>
              </a:p>
            </p:txBody>
          </p:sp>
          <p:sp>
            <p:nvSpPr>
              <p:cNvPr id="117817" name="Oval 36"/>
              <p:cNvSpPr/>
              <p:nvPr/>
            </p:nvSpPr>
            <p:spPr>
              <a:xfrm>
                <a:off x="1389" y="283"/>
                <a:ext cx="720"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出生年月</a:t>
                </a:r>
                <a:endParaRPr lang="de-DE" altLang="en-US" sz="1600" dirty="0">
                  <a:solidFill>
                    <a:srgbClr val="0000CC"/>
                  </a:solidFill>
                  <a:latin typeface="宋体" panose="02010600030101010101" pitchFamily="2" charset="-122"/>
                </a:endParaRPr>
              </a:p>
            </p:txBody>
          </p:sp>
          <p:sp>
            <p:nvSpPr>
              <p:cNvPr id="117818" name="Oval 37"/>
              <p:cNvSpPr/>
              <p:nvPr/>
            </p:nvSpPr>
            <p:spPr>
              <a:xfrm>
                <a:off x="0" y="601"/>
                <a:ext cx="720" cy="38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学号</a:t>
                </a:r>
                <a:endParaRPr lang="zh-CN" altLang="en-US" sz="1600" u="sng" dirty="0">
                  <a:solidFill>
                    <a:srgbClr val="0000CC"/>
                  </a:solidFill>
                  <a:latin typeface="宋体" panose="02010600030101010101" pitchFamily="2" charset="-122"/>
                </a:endParaRPr>
              </a:p>
            </p:txBody>
          </p:sp>
          <p:sp>
            <p:nvSpPr>
              <p:cNvPr id="117819" name="Line 38"/>
              <p:cNvSpPr/>
              <p:nvPr/>
            </p:nvSpPr>
            <p:spPr>
              <a:xfrm>
                <a:off x="998" y="238"/>
                <a:ext cx="408" cy="181"/>
              </a:xfrm>
              <a:prstGeom prst="line">
                <a:avLst/>
              </a:prstGeom>
              <a:ln w="25400" cap="flat" cmpd="sng">
                <a:solidFill>
                  <a:srgbClr val="000000"/>
                </a:solidFill>
                <a:prstDash val="solid"/>
                <a:headEnd type="none" w="med" len="med"/>
                <a:tailEnd type="none" w="med" len="med"/>
              </a:ln>
            </p:spPr>
          </p:sp>
          <p:sp>
            <p:nvSpPr>
              <p:cNvPr id="117820" name="Oval 39"/>
              <p:cNvSpPr/>
              <p:nvPr/>
            </p:nvSpPr>
            <p:spPr>
              <a:xfrm>
                <a:off x="726" y="646"/>
                <a:ext cx="454" cy="339"/>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姓名</a:t>
                </a:r>
                <a:endParaRPr lang="zh-CN" altLang="en-US" sz="1600" dirty="0">
                  <a:solidFill>
                    <a:srgbClr val="0000CC"/>
                  </a:solidFill>
                  <a:latin typeface="宋体" panose="02010600030101010101" pitchFamily="2" charset="-122"/>
                </a:endParaRPr>
              </a:p>
            </p:txBody>
          </p:sp>
          <p:sp>
            <p:nvSpPr>
              <p:cNvPr id="117821" name="Oval 40"/>
              <p:cNvSpPr/>
              <p:nvPr/>
            </p:nvSpPr>
            <p:spPr>
              <a:xfrm>
                <a:off x="1179" y="646"/>
                <a:ext cx="454" cy="339"/>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性别</a:t>
                </a:r>
                <a:endParaRPr lang="zh-CN" altLang="en-US" sz="1600" dirty="0">
                  <a:solidFill>
                    <a:srgbClr val="0000CC"/>
                  </a:solidFill>
                  <a:latin typeface="宋体" panose="02010600030101010101" pitchFamily="2" charset="-122"/>
                </a:endParaRPr>
              </a:p>
            </p:txBody>
          </p:sp>
          <p:sp>
            <p:nvSpPr>
              <p:cNvPr id="117822" name="Line 41"/>
              <p:cNvSpPr/>
              <p:nvPr/>
            </p:nvSpPr>
            <p:spPr>
              <a:xfrm>
                <a:off x="726" y="283"/>
                <a:ext cx="227" cy="363"/>
              </a:xfrm>
              <a:prstGeom prst="line">
                <a:avLst/>
              </a:prstGeom>
              <a:ln w="25400" cap="flat" cmpd="sng">
                <a:solidFill>
                  <a:srgbClr val="000000"/>
                </a:solidFill>
                <a:prstDash val="solid"/>
                <a:headEnd type="none" w="med" len="med"/>
                <a:tailEnd type="none" w="med" len="med"/>
              </a:ln>
            </p:spPr>
          </p:sp>
          <p:sp>
            <p:nvSpPr>
              <p:cNvPr id="117823" name="Line 42"/>
              <p:cNvSpPr/>
              <p:nvPr/>
            </p:nvSpPr>
            <p:spPr>
              <a:xfrm>
                <a:off x="817" y="283"/>
                <a:ext cx="544" cy="363"/>
              </a:xfrm>
              <a:prstGeom prst="line">
                <a:avLst/>
              </a:prstGeom>
              <a:ln w="25400" cap="flat" cmpd="sng">
                <a:solidFill>
                  <a:srgbClr val="000000"/>
                </a:solidFill>
                <a:prstDash val="solid"/>
                <a:headEnd type="none" w="med" len="med"/>
                <a:tailEnd type="none" w="med" len="med"/>
              </a:ln>
            </p:spPr>
          </p:sp>
          <p:sp>
            <p:nvSpPr>
              <p:cNvPr id="117824" name="Line 43"/>
              <p:cNvSpPr/>
              <p:nvPr/>
            </p:nvSpPr>
            <p:spPr>
              <a:xfrm flipH="1">
                <a:off x="336" y="298"/>
                <a:ext cx="192" cy="318"/>
              </a:xfrm>
              <a:prstGeom prst="line">
                <a:avLst/>
              </a:prstGeom>
              <a:ln w="25400" cap="flat" cmpd="sng">
                <a:solidFill>
                  <a:srgbClr val="000000"/>
                </a:solidFill>
                <a:prstDash val="solid"/>
                <a:headEnd type="none" w="med" len="med"/>
                <a:tailEnd type="none" w="med" len="med"/>
              </a:ln>
            </p:spPr>
          </p:sp>
        </p:grpSp>
        <p:grpSp>
          <p:nvGrpSpPr>
            <p:cNvPr id="117774" name="Group 44"/>
            <p:cNvGrpSpPr/>
            <p:nvPr/>
          </p:nvGrpSpPr>
          <p:grpSpPr>
            <a:xfrm>
              <a:off x="7620000" y="3589341"/>
              <a:ext cx="1066800" cy="1363663"/>
              <a:chOff x="0" y="0"/>
              <a:chExt cx="672" cy="859"/>
            </a:xfrm>
          </p:grpSpPr>
          <p:sp>
            <p:nvSpPr>
              <p:cNvPr id="117813" name="Line 45"/>
              <p:cNvSpPr/>
              <p:nvPr/>
            </p:nvSpPr>
            <p:spPr>
              <a:xfrm flipV="1">
                <a:off x="288" y="293"/>
                <a:ext cx="48" cy="278"/>
              </a:xfrm>
              <a:prstGeom prst="line">
                <a:avLst/>
              </a:prstGeom>
              <a:ln w="25400" cap="flat" cmpd="sng">
                <a:solidFill>
                  <a:srgbClr val="000000"/>
                </a:solidFill>
                <a:prstDash val="solid"/>
                <a:headEnd type="none" w="med" len="med"/>
                <a:tailEnd type="none" w="med" len="med"/>
              </a:ln>
            </p:spPr>
          </p:sp>
          <p:sp>
            <p:nvSpPr>
              <p:cNvPr id="117814" name="Oval 46"/>
              <p:cNvSpPr/>
              <p:nvPr/>
            </p:nvSpPr>
            <p:spPr>
              <a:xfrm>
                <a:off x="0" y="571"/>
                <a:ext cx="576" cy="28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u="sng" dirty="0">
                    <a:solidFill>
                      <a:srgbClr val="0000CC"/>
                    </a:solidFill>
                    <a:latin typeface="宋体" panose="02010600030101010101" pitchFamily="2" charset="-122"/>
                  </a:rPr>
                  <a:t>宿舍号</a:t>
                </a:r>
                <a:endParaRPr lang="de-DE" altLang="en-US" sz="1600" u="sng" dirty="0">
                  <a:solidFill>
                    <a:srgbClr val="0000CC"/>
                  </a:solidFill>
                  <a:latin typeface="宋体" panose="02010600030101010101" pitchFamily="2" charset="-122"/>
                </a:endParaRPr>
              </a:p>
            </p:txBody>
          </p:sp>
          <p:sp>
            <p:nvSpPr>
              <p:cNvPr id="117815" name="Rectangle 47"/>
              <p:cNvSpPr/>
              <p:nvPr/>
            </p:nvSpPr>
            <p:spPr>
              <a:xfrm>
                <a:off x="96" y="0"/>
                <a:ext cx="576" cy="288"/>
              </a:xfrm>
              <a:prstGeom prst="rect">
                <a:avLst/>
              </a:prstGeom>
              <a:solidFill>
                <a:srgbClr val="FECF70"/>
              </a:solidFill>
              <a:ln w="9525" cap="flat"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800" dirty="0">
                    <a:solidFill>
                      <a:srgbClr val="000000"/>
                    </a:solidFill>
                    <a:latin typeface="宋体" panose="02010600030101010101" pitchFamily="2" charset="-122"/>
                  </a:rPr>
                  <a:t>宿舍</a:t>
                </a:r>
                <a:endParaRPr lang="de-DE" altLang="en-US" sz="1800" dirty="0">
                  <a:solidFill>
                    <a:srgbClr val="000000"/>
                  </a:solidFill>
                  <a:latin typeface="宋体" panose="02010600030101010101" pitchFamily="2" charset="-122"/>
                </a:endParaRPr>
              </a:p>
            </p:txBody>
          </p:sp>
        </p:grpSp>
        <p:grpSp>
          <p:nvGrpSpPr>
            <p:cNvPr id="117775" name="Group 48"/>
            <p:cNvGrpSpPr/>
            <p:nvPr/>
          </p:nvGrpSpPr>
          <p:grpSpPr>
            <a:xfrm>
              <a:off x="2286000" y="914400"/>
              <a:ext cx="1676400" cy="990600"/>
              <a:chOff x="0" y="0"/>
              <a:chExt cx="1056" cy="624"/>
            </a:xfrm>
          </p:grpSpPr>
          <p:sp>
            <p:nvSpPr>
              <p:cNvPr id="117808" name="AutoShape 49"/>
              <p:cNvSpPr/>
              <p:nvPr/>
            </p:nvSpPr>
            <p:spPr>
              <a:xfrm>
                <a:off x="144" y="288"/>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有</a:t>
                </a:r>
                <a:endParaRPr lang="zh-CN" altLang="en-US" sz="1600" dirty="0">
                  <a:solidFill>
                    <a:srgbClr val="0000CC"/>
                  </a:solidFill>
                  <a:latin typeface="宋体" panose="02010600030101010101" pitchFamily="2" charset="-122"/>
                </a:endParaRPr>
              </a:p>
            </p:txBody>
          </p:sp>
          <p:sp>
            <p:nvSpPr>
              <p:cNvPr id="117809" name="Line 50"/>
              <p:cNvSpPr/>
              <p:nvPr/>
            </p:nvSpPr>
            <p:spPr>
              <a:xfrm>
                <a:off x="0" y="240"/>
                <a:ext cx="192" cy="192"/>
              </a:xfrm>
              <a:prstGeom prst="line">
                <a:avLst/>
              </a:prstGeom>
              <a:ln w="50800" cap="flat" cmpd="sng">
                <a:solidFill>
                  <a:srgbClr val="CC0000"/>
                </a:solidFill>
                <a:prstDash val="solid"/>
                <a:headEnd type="none" w="med" len="med"/>
                <a:tailEnd type="none" w="med" len="med"/>
              </a:ln>
            </p:spPr>
          </p:sp>
          <p:sp>
            <p:nvSpPr>
              <p:cNvPr id="117810" name="Line 51"/>
              <p:cNvSpPr/>
              <p:nvPr/>
            </p:nvSpPr>
            <p:spPr>
              <a:xfrm flipH="1">
                <a:off x="864" y="144"/>
                <a:ext cx="192" cy="336"/>
              </a:xfrm>
              <a:prstGeom prst="line">
                <a:avLst/>
              </a:prstGeom>
              <a:ln w="50800" cap="flat" cmpd="sng">
                <a:solidFill>
                  <a:srgbClr val="CC0000"/>
                </a:solidFill>
                <a:prstDash val="solid"/>
                <a:headEnd type="none" w="med" len="med"/>
                <a:tailEnd type="triangle" w="med" len="med"/>
              </a:ln>
            </p:spPr>
          </p:sp>
          <p:sp>
            <p:nvSpPr>
              <p:cNvPr id="117811" name="Text Box 52"/>
              <p:cNvSpPr txBox="1"/>
              <p:nvPr/>
            </p:nvSpPr>
            <p:spPr>
              <a:xfrm>
                <a:off x="96"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sp>
            <p:nvSpPr>
              <p:cNvPr id="117812" name="Text Box 53"/>
              <p:cNvSpPr txBox="1"/>
              <p:nvPr/>
            </p:nvSpPr>
            <p:spPr>
              <a:xfrm>
                <a:off x="768"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grpSp>
        <p:grpSp>
          <p:nvGrpSpPr>
            <p:cNvPr id="117776" name="Group 54"/>
            <p:cNvGrpSpPr/>
            <p:nvPr/>
          </p:nvGrpSpPr>
          <p:grpSpPr>
            <a:xfrm>
              <a:off x="4876800" y="990600"/>
              <a:ext cx="1524000" cy="1066800"/>
              <a:chOff x="0" y="0"/>
              <a:chExt cx="960" cy="672"/>
            </a:xfrm>
          </p:grpSpPr>
          <p:sp>
            <p:nvSpPr>
              <p:cNvPr id="117803" name="Line 55"/>
              <p:cNvSpPr/>
              <p:nvPr/>
            </p:nvSpPr>
            <p:spPr>
              <a:xfrm flipH="1">
                <a:off x="864" y="240"/>
                <a:ext cx="96" cy="288"/>
              </a:xfrm>
              <a:prstGeom prst="line">
                <a:avLst/>
              </a:prstGeom>
              <a:ln w="50800" cap="flat" cmpd="sng">
                <a:solidFill>
                  <a:srgbClr val="CC0000"/>
                </a:solidFill>
                <a:prstDash val="solid"/>
                <a:headEnd type="none" w="med" len="med"/>
                <a:tailEnd type="none" w="med" len="med"/>
              </a:ln>
            </p:spPr>
          </p:sp>
          <p:sp>
            <p:nvSpPr>
              <p:cNvPr id="117804" name="AutoShape 56"/>
              <p:cNvSpPr/>
              <p:nvPr/>
            </p:nvSpPr>
            <p:spPr>
              <a:xfrm>
                <a:off x="144" y="336"/>
                <a:ext cx="720"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r>
                  <a:rPr lang="zh-CN" altLang="en-US" sz="1600" dirty="0">
                    <a:solidFill>
                      <a:srgbClr val="0000CC"/>
                    </a:solidFill>
                    <a:latin typeface="宋体" panose="02010600030101010101" pitchFamily="2" charset="-122"/>
                  </a:rPr>
                  <a:t>管理</a:t>
                </a:r>
                <a:endParaRPr lang="zh-CN" altLang="en-US" sz="1600" dirty="0">
                  <a:solidFill>
                    <a:srgbClr val="0000CC"/>
                  </a:solidFill>
                  <a:latin typeface="宋体" panose="02010600030101010101" pitchFamily="2" charset="-122"/>
                </a:endParaRPr>
              </a:p>
            </p:txBody>
          </p:sp>
          <p:sp>
            <p:nvSpPr>
              <p:cNvPr id="117805" name="Line 57"/>
              <p:cNvSpPr/>
              <p:nvPr/>
            </p:nvSpPr>
            <p:spPr>
              <a:xfrm>
                <a:off x="0" y="144"/>
                <a:ext cx="192" cy="384"/>
              </a:xfrm>
              <a:prstGeom prst="line">
                <a:avLst/>
              </a:prstGeom>
              <a:ln w="50800" cap="flat" cmpd="sng">
                <a:solidFill>
                  <a:srgbClr val="CC0000"/>
                </a:solidFill>
                <a:prstDash val="solid"/>
                <a:headEnd type="none" w="med" len="med"/>
                <a:tailEnd type="triangle" w="med" len="med"/>
              </a:ln>
            </p:spPr>
          </p:sp>
          <p:sp>
            <p:nvSpPr>
              <p:cNvPr id="117806" name="Text Box 58"/>
              <p:cNvSpPr txBox="1"/>
              <p:nvPr/>
            </p:nvSpPr>
            <p:spPr>
              <a:xfrm>
                <a:off x="720" y="96"/>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sp>
            <p:nvSpPr>
              <p:cNvPr id="117807" name="Text Box 59"/>
              <p:cNvSpPr txBox="1"/>
              <p:nvPr/>
            </p:nvSpPr>
            <p:spPr>
              <a:xfrm>
                <a:off x="96" y="0"/>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grpSp>
        <p:grpSp>
          <p:nvGrpSpPr>
            <p:cNvPr id="117777" name="Group 60"/>
            <p:cNvGrpSpPr/>
            <p:nvPr/>
          </p:nvGrpSpPr>
          <p:grpSpPr>
            <a:xfrm>
              <a:off x="4995859" y="2747964"/>
              <a:ext cx="3157535" cy="866776"/>
              <a:chOff x="0" y="0"/>
              <a:chExt cx="1989" cy="546"/>
            </a:xfrm>
          </p:grpSpPr>
          <p:sp>
            <p:nvSpPr>
              <p:cNvPr id="117798" name="Line 61"/>
              <p:cNvSpPr/>
              <p:nvPr/>
            </p:nvSpPr>
            <p:spPr>
              <a:xfrm flipV="1">
                <a:off x="0" y="307"/>
                <a:ext cx="635" cy="182"/>
              </a:xfrm>
              <a:prstGeom prst="line">
                <a:avLst/>
              </a:prstGeom>
              <a:ln w="28575" cap="flat" cmpd="sng">
                <a:solidFill>
                  <a:schemeClr val="tx1"/>
                </a:solidFill>
                <a:prstDash val="solid"/>
                <a:headEnd type="none" w="med" len="med"/>
                <a:tailEnd type="triangle" w="med" len="med"/>
              </a:ln>
            </p:spPr>
          </p:sp>
          <p:sp>
            <p:nvSpPr>
              <p:cNvPr id="117799" name="AutoShape 62"/>
              <p:cNvSpPr/>
              <p:nvPr/>
            </p:nvSpPr>
            <p:spPr>
              <a:xfrm>
                <a:off x="645" y="114"/>
                <a:ext cx="768" cy="336"/>
              </a:xfrm>
              <a:prstGeom prst="diamond">
                <a:avLst/>
              </a:prstGeom>
              <a:solidFill>
                <a:schemeClr val="folHlink"/>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r>
                  <a:rPr lang="zh-CN" altLang="en-US" sz="1600" dirty="0">
                    <a:solidFill>
                      <a:srgbClr val="0000CC"/>
                    </a:solidFill>
                    <a:latin typeface="宋体" panose="02010600030101010101" pitchFamily="2" charset="-122"/>
                  </a:rPr>
                  <a:t>住宿</a:t>
                </a:r>
                <a:endParaRPr lang="zh-CN" altLang="en-US" sz="1600" dirty="0">
                  <a:solidFill>
                    <a:srgbClr val="0000CC"/>
                  </a:solidFill>
                  <a:latin typeface="宋体" panose="02010600030101010101" pitchFamily="2" charset="-122"/>
                </a:endParaRPr>
              </a:p>
            </p:txBody>
          </p:sp>
          <p:sp>
            <p:nvSpPr>
              <p:cNvPr id="117800" name="Line 63"/>
              <p:cNvSpPr/>
              <p:nvPr/>
            </p:nvSpPr>
            <p:spPr>
              <a:xfrm>
                <a:off x="1413" y="295"/>
                <a:ext cx="576" cy="251"/>
              </a:xfrm>
              <a:prstGeom prst="line">
                <a:avLst/>
              </a:prstGeom>
              <a:ln w="57150" cap="flat" cmpd="sng">
                <a:solidFill>
                  <a:srgbClr val="CC0000"/>
                </a:solidFill>
                <a:prstDash val="solid"/>
                <a:headEnd type="none" w="med" len="med"/>
                <a:tailEnd type="none" w="med" len="med"/>
              </a:ln>
            </p:spPr>
          </p:sp>
          <p:sp>
            <p:nvSpPr>
              <p:cNvPr id="117801" name="Text Box 64"/>
              <p:cNvSpPr txBox="1"/>
              <p:nvPr/>
            </p:nvSpPr>
            <p:spPr>
              <a:xfrm>
                <a:off x="357" y="0"/>
                <a:ext cx="212"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sp>
            <p:nvSpPr>
              <p:cNvPr id="117802" name="Text Box 65"/>
              <p:cNvSpPr txBox="1"/>
              <p:nvPr/>
            </p:nvSpPr>
            <p:spPr>
              <a:xfrm>
                <a:off x="1605" y="59"/>
                <a:ext cx="220" cy="37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de-DE" altLang="en-US"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grpSp>
        <p:grpSp>
          <p:nvGrpSpPr>
            <p:cNvPr id="117778" name="Group 66"/>
            <p:cNvGrpSpPr/>
            <p:nvPr/>
          </p:nvGrpSpPr>
          <p:grpSpPr>
            <a:xfrm>
              <a:off x="2286000" y="2720986"/>
              <a:ext cx="1860550" cy="952503"/>
              <a:chOff x="0" y="0"/>
              <a:chExt cx="1172" cy="600"/>
            </a:xfrm>
          </p:grpSpPr>
          <p:sp>
            <p:nvSpPr>
              <p:cNvPr id="117793" name="Text Box 67"/>
              <p:cNvSpPr txBox="1"/>
              <p:nvPr/>
            </p:nvSpPr>
            <p:spPr>
              <a:xfrm>
                <a:off x="18" y="0"/>
                <a:ext cx="226"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n</a:t>
                </a:r>
                <a:endParaRPr lang="de-DE" altLang="en-US" sz="2400" dirty="0">
                  <a:solidFill>
                    <a:srgbClr val="0033CC"/>
                  </a:solidFill>
                  <a:latin typeface="宋体" panose="02010600030101010101" pitchFamily="2" charset="-122"/>
                </a:endParaRPr>
              </a:p>
            </p:txBody>
          </p:sp>
          <p:sp>
            <p:nvSpPr>
              <p:cNvPr id="117794" name="AutoShape 68"/>
              <p:cNvSpPr/>
              <p:nvPr/>
            </p:nvSpPr>
            <p:spPr>
              <a:xfrm>
                <a:off x="240" y="120"/>
                <a:ext cx="640" cy="336"/>
              </a:xfrm>
              <a:prstGeom prst="diamond">
                <a:avLst/>
              </a:prstGeom>
              <a:solidFill>
                <a:schemeClr val="folHlink"/>
              </a:solidFill>
              <a:ln w="50800" cap="flat" cmpd="sng">
                <a:solidFill>
                  <a:srgbClr val="CC0000"/>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有</a:t>
                </a:r>
                <a:endParaRPr lang="zh-CN" altLang="en-US" sz="1600" dirty="0">
                  <a:solidFill>
                    <a:srgbClr val="0000CC"/>
                  </a:solidFill>
                  <a:latin typeface="宋体" panose="02010600030101010101" pitchFamily="2" charset="-122"/>
                </a:endParaRPr>
              </a:p>
            </p:txBody>
          </p:sp>
          <p:sp>
            <p:nvSpPr>
              <p:cNvPr id="117795" name="Line 69"/>
              <p:cNvSpPr/>
              <p:nvPr/>
            </p:nvSpPr>
            <p:spPr>
              <a:xfrm>
                <a:off x="864" y="302"/>
                <a:ext cx="288" cy="298"/>
              </a:xfrm>
              <a:prstGeom prst="line">
                <a:avLst/>
              </a:prstGeom>
              <a:ln w="50800" cap="flat" cmpd="sng">
                <a:solidFill>
                  <a:srgbClr val="CC0000"/>
                </a:solidFill>
                <a:prstDash val="solid"/>
                <a:headEnd type="none" w="med" len="med"/>
                <a:tailEnd type="none" w="med" len="med"/>
              </a:ln>
            </p:spPr>
          </p:sp>
          <p:sp>
            <p:nvSpPr>
              <p:cNvPr id="117796" name="Line 70"/>
              <p:cNvSpPr/>
              <p:nvPr/>
            </p:nvSpPr>
            <p:spPr>
              <a:xfrm flipH="1">
                <a:off x="0" y="302"/>
                <a:ext cx="288" cy="154"/>
              </a:xfrm>
              <a:prstGeom prst="line">
                <a:avLst/>
              </a:prstGeom>
              <a:ln w="50800" cap="flat" cmpd="sng">
                <a:solidFill>
                  <a:srgbClr val="CC0000"/>
                </a:solidFill>
                <a:prstDash val="solid"/>
                <a:headEnd type="none" w="med" len="med"/>
                <a:tailEnd type="none" w="med" len="med"/>
              </a:ln>
            </p:spPr>
          </p:sp>
          <p:sp>
            <p:nvSpPr>
              <p:cNvPr id="117797" name="Text Box 71"/>
              <p:cNvSpPr txBox="1"/>
              <p:nvPr/>
            </p:nvSpPr>
            <p:spPr>
              <a:xfrm>
                <a:off x="960" y="161"/>
                <a:ext cx="212"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solidFill>
                      <a:srgbClr val="0033CC"/>
                    </a:solidFill>
                    <a:latin typeface="宋体" panose="02010600030101010101" pitchFamily="2" charset="-122"/>
                  </a:rPr>
                  <a:t>1</a:t>
                </a:r>
                <a:endParaRPr lang="de-DE" altLang="en-US" sz="2400" dirty="0">
                  <a:solidFill>
                    <a:srgbClr val="0033CC"/>
                  </a:solidFill>
                  <a:latin typeface="宋体" panose="02010600030101010101" pitchFamily="2" charset="-122"/>
                </a:endParaRPr>
              </a:p>
            </p:txBody>
          </p:sp>
        </p:grpSp>
        <p:grpSp>
          <p:nvGrpSpPr>
            <p:cNvPr id="117779" name="Group 72"/>
            <p:cNvGrpSpPr/>
            <p:nvPr/>
          </p:nvGrpSpPr>
          <p:grpSpPr>
            <a:xfrm>
              <a:off x="0" y="2378075"/>
              <a:ext cx="2519363" cy="2393950"/>
              <a:chOff x="0" y="0"/>
              <a:chExt cx="1587" cy="1508"/>
            </a:xfrm>
          </p:grpSpPr>
          <p:sp>
            <p:nvSpPr>
              <p:cNvPr id="117780" name="Rectangle 73"/>
              <p:cNvSpPr/>
              <p:nvPr/>
            </p:nvSpPr>
            <p:spPr>
              <a:xfrm>
                <a:off x="720" y="672"/>
                <a:ext cx="867" cy="422"/>
              </a:xfrm>
              <a:prstGeom prst="rect">
                <a:avLst/>
              </a:prstGeom>
              <a:solidFill>
                <a:srgbClr val="FECF70"/>
              </a:solidFill>
              <a:ln w="50800" cap="flat" cmpd="sng">
                <a:solidFill>
                  <a:srgbClr val="CC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solidFill>
                      <a:srgbClr val="000000"/>
                    </a:solidFill>
                    <a:latin typeface="宋体" panose="02010600030101010101" pitchFamily="2" charset="-122"/>
                  </a:rPr>
                  <a:t>学生家长 </a:t>
                </a:r>
                <a:endParaRPr lang="zh-CN" altLang="en-US" dirty="0">
                  <a:solidFill>
                    <a:srgbClr val="000000"/>
                  </a:solidFill>
                  <a:latin typeface="宋体" panose="02010600030101010101" pitchFamily="2" charset="-122"/>
                </a:endParaRPr>
              </a:p>
            </p:txBody>
          </p:sp>
          <p:sp>
            <p:nvSpPr>
              <p:cNvPr id="117781" name="Oval 74"/>
              <p:cNvSpPr/>
              <p:nvPr/>
            </p:nvSpPr>
            <p:spPr>
              <a:xfrm>
                <a:off x="96" y="1190"/>
                <a:ext cx="508" cy="318"/>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电话</a:t>
                </a:r>
                <a:endParaRPr lang="zh-CN" altLang="en-US" sz="1600" dirty="0">
                  <a:solidFill>
                    <a:srgbClr val="0000CC"/>
                  </a:solidFill>
                  <a:latin typeface="宋体" panose="02010600030101010101" pitchFamily="2" charset="-122"/>
                </a:endParaRPr>
              </a:p>
            </p:txBody>
          </p:sp>
          <p:sp>
            <p:nvSpPr>
              <p:cNvPr id="117782" name="Oval 75"/>
              <p:cNvSpPr/>
              <p:nvPr/>
            </p:nvSpPr>
            <p:spPr>
              <a:xfrm>
                <a:off x="192" y="0"/>
                <a:ext cx="576" cy="336"/>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姓名</a:t>
                </a:r>
                <a:endParaRPr lang="zh-CN" altLang="en-US" sz="1600" dirty="0">
                  <a:solidFill>
                    <a:srgbClr val="0000CC"/>
                  </a:solidFill>
                  <a:latin typeface="宋体" panose="02010600030101010101" pitchFamily="2" charset="-122"/>
                </a:endParaRPr>
              </a:p>
            </p:txBody>
          </p:sp>
          <p:sp>
            <p:nvSpPr>
              <p:cNvPr id="117783" name="Oval 76"/>
              <p:cNvSpPr/>
              <p:nvPr/>
            </p:nvSpPr>
            <p:spPr>
              <a:xfrm>
                <a:off x="0" y="854"/>
                <a:ext cx="476" cy="294"/>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地址</a:t>
                </a:r>
                <a:endParaRPr lang="zh-CN" altLang="en-US" sz="1600" dirty="0">
                  <a:solidFill>
                    <a:srgbClr val="0000CC"/>
                  </a:solidFill>
                  <a:latin typeface="宋体" panose="02010600030101010101" pitchFamily="2" charset="-122"/>
                </a:endParaRPr>
              </a:p>
            </p:txBody>
          </p:sp>
          <p:sp>
            <p:nvSpPr>
              <p:cNvPr id="117784" name="Line 77"/>
              <p:cNvSpPr/>
              <p:nvPr/>
            </p:nvSpPr>
            <p:spPr>
              <a:xfrm flipH="1">
                <a:off x="960" y="336"/>
                <a:ext cx="240" cy="336"/>
              </a:xfrm>
              <a:prstGeom prst="line">
                <a:avLst/>
              </a:prstGeom>
              <a:ln w="25400" cap="flat" cmpd="sng">
                <a:solidFill>
                  <a:srgbClr val="000000"/>
                </a:solidFill>
                <a:prstDash val="solid"/>
                <a:headEnd type="none" w="med" len="med"/>
                <a:tailEnd type="none" w="med" len="med"/>
              </a:ln>
            </p:spPr>
          </p:sp>
          <p:sp>
            <p:nvSpPr>
              <p:cNvPr id="117785" name="Line 78"/>
              <p:cNvSpPr/>
              <p:nvPr/>
            </p:nvSpPr>
            <p:spPr>
              <a:xfrm flipH="1" flipV="1">
                <a:off x="480" y="672"/>
                <a:ext cx="240" cy="144"/>
              </a:xfrm>
              <a:prstGeom prst="line">
                <a:avLst/>
              </a:prstGeom>
              <a:ln w="25400" cap="flat" cmpd="sng">
                <a:solidFill>
                  <a:srgbClr val="000000"/>
                </a:solidFill>
                <a:prstDash val="solid"/>
                <a:headEnd type="none" w="med" len="med"/>
                <a:tailEnd type="none" w="med" len="med"/>
              </a:ln>
            </p:spPr>
          </p:sp>
          <p:sp>
            <p:nvSpPr>
              <p:cNvPr id="117786" name="Oval 79"/>
              <p:cNvSpPr/>
              <p:nvPr/>
            </p:nvSpPr>
            <p:spPr>
              <a:xfrm>
                <a:off x="0" y="374"/>
                <a:ext cx="576" cy="336"/>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性别</a:t>
                </a:r>
                <a:endParaRPr lang="zh-CN" altLang="en-US" sz="1600" dirty="0">
                  <a:solidFill>
                    <a:srgbClr val="0000CC"/>
                  </a:solidFill>
                  <a:latin typeface="宋体" panose="02010600030101010101" pitchFamily="2" charset="-122"/>
                </a:endParaRPr>
              </a:p>
            </p:txBody>
          </p:sp>
          <p:sp>
            <p:nvSpPr>
              <p:cNvPr id="117787" name="Oval 80"/>
              <p:cNvSpPr/>
              <p:nvPr/>
            </p:nvSpPr>
            <p:spPr>
              <a:xfrm>
                <a:off x="942" y="12"/>
                <a:ext cx="576" cy="336"/>
              </a:xfrm>
              <a:prstGeom prst="ellipse">
                <a:avLst/>
              </a:prstGeom>
              <a:solidFill>
                <a:srgbClr val="FFCCFF"/>
              </a:solidFill>
              <a:ln w="9525" cap="flat" cmpd="sng">
                <a:solidFill>
                  <a:schemeClr val="tx1"/>
                </a:solidFill>
                <a:prstDash val="dash"/>
                <a:headEnd type="none" w="med" len="med"/>
                <a:tailEnd type="none" w="med" len="med"/>
              </a:ln>
            </p:spPr>
            <p:txBody>
              <a:bodyPr wrap="none" tIns="108000"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ts val="1200"/>
                  </a:spcBef>
                  <a:buClrTx/>
                  <a:buSzTx/>
                  <a:buFont typeface="Arial" panose="020B0604020202020204" pitchFamily="34" charset="0"/>
                  <a:buNone/>
                </a:pPr>
                <a:r>
                  <a:rPr lang="zh-CN" altLang="en-US" sz="1600" dirty="0">
                    <a:solidFill>
                      <a:srgbClr val="0000CC"/>
                    </a:solidFill>
                    <a:latin typeface="宋体" panose="02010600030101010101" pitchFamily="2" charset="-122"/>
                  </a:rPr>
                  <a:t>称谓</a:t>
                </a:r>
                <a:endParaRPr lang="zh-CN" altLang="en-US" sz="1600" dirty="0">
                  <a:solidFill>
                    <a:srgbClr val="0000CC"/>
                  </a:solidFill>
                  <a:latin typeface="宋体" panose="02010600030101010101" pitchFamily="2" charset="-122"/>
                </a:endParaRPr>
              </a:p>
              <a:p>
                <a:pPr marL="0" lvl="0" indent="0" algn="ctr" eaLnBrk="1" hangingPunct="1">
                  <a:lnSpc>
                    <a:spcPct val="135000"/>
                  </a:lnSpc>
                  <a:spcBef>
                    <a:spcPct val="0"/>
                  </a:spcBef>
                  <a:buClrTx/>
                  <a:buSzTx/>
                  <a:buFont typeface="Arial" panose="020B0604020202020204" pitchFamily="34" charset="0"/>
                  <a:buChar char="•"/>
                </a:pPr>
                <a:endParaRPr lang="zh-CN" altLang="en-US" sz="1600" dirty="0">
                  <a:solidFill>
                    <a:srgbClr val="0000CC"/>
                  </a:solidFill>
                  <a:latin typeface="宋体" panose="02010600030101010101" pitchFamily="2" charset="-122"/>
                </a:endParaRPr>
              </a:p>
            </p:txBody>
          </p:sp>
          <p:sp>
            <p:nvSpPr>
              <p:cNvPr id="117788" name="Line 81"/>
              <p:cNvSpPr/>
              <p:nvPr/>
            </p:nvSpPr>
            <p:spPr>
              <a:xfrm flipH="1">
                <a:off x="480" y="998"/>
                <a:ext cx="240" cy="240"/>
              </a:xfrm>
              <a:prstGeom prst="line">
                <a:avLst/>
              </a:prstGeom>
              <a:ln w="25400" cap="flat" cmpd="sng">
                <a:solidFill>
                  <a:srgbClr val="000000"/>
                </a:solidFill>
                <a:prstDash val="solid"/>
                <a:headEnd type="none" w="med" len="med"/>
                <a:tailEnd type="none" w="med" len="med"/>
              </a:ln>
            </p:spPr>
          </p:sp>
          <p:sp>
            <p:nvSpPr>
              <p:cNvPr id="117789" name="Line 82"/>
              <p:cNvSpPr/>
              <p:nvPr/>
            </p:nvSpPr>
            <p:spPr>
              <a:xfrm>
                <a:off x="672" y="288"/>
                <a:ext cx="144" cy="384"/>
              </a:xfrm>
              <a:prstGeom prst="line">
                <a:avLst/>
              </a:prstGeom>
              <a:ln w="25400" cap="flat" cmpd="sng">
                <a:solidFill>
                  <a:srgbClr val="000000"/>
                </a:solidFill>
                <a:prstDash val="solid"/>
                <a:headEnd type="none" w="med" len="med"/>
                <a:tailEnd type="none" w="med" len="med"/>
              </a:ln>
            </p:spPr>
          </p:sp>
          <p:sp>
            <p:nvSpPr>
              <p:cNvPr id="117790" name="Line 83"/>
              <p:cNvSpPr/>
              <p:nvPr/>
            </p:nvSpPr>
            <p:spPr>
              <a:xfrm flipV="1">
                <a:off x="480" y="950"/>
                <a:ext cx="240" cy="48"/>
              </a:xfrm>
              <a:prstGeom prst="line">
                <a:avLst/>
              </a:prstGeom>
              <a:ln w="25400" cap="flat" cmpd="sng">
                <a:solidFill>
                  <a:srgbClr val="000000"/>
                </a:solidFill>
                <a:prstDash val="solid"/>
                <a:headEnd type="none" w="med" len="med"/>
                <a:tailEnd type="none" w="med" len="med"/>
              </a:ln>
            </p:spPr>
          </p:sp>
          <p:sp>
            <p:nvSpPr>
              <p:cNvPr id="117791" name="Line 84"/>
              <p:cNvSpPr/>
              <p:nvPr/>
            </p:nvSpPr>
            <p:spPr>
              <a:xfrm>
                <a:off x="1008" y="230"/>
                <a:ext cx="432" cy="0"/>
              </a:xfrm>
              <a:prstGeom prst="line">
                <a:avLst/>
              </a:prstGeom>
              <a:ln w="28575" cap="flat" cmpd="sng">
                <a:solidFill>
                  <a:schemeClr val="tx1"/>
                </a:solidFill>
                <a:prstDash val="dash"/>
                <a:headEnd type="none" w="med" len="med"/>
                <a:tailEnd type="none" w="med" len="med"/>
              </a:ln>
            </p:spPr>
          </p:sp>
          <p:sp>
            <p:nvSpPr>
              <p:cNvPr id="117792" name="Line 85"/>
              <p:cNvSpPr/>
              <p:nvPr/>
            </p:nvSpPr>
            <p:spPr>
              <a:xfrm>
                <a:off x="288" y="278"/>
                <a:ext cx="336" cy="0"/>
              </a:xfrm>
              <a:prstGeom prst="line">
                <a:avLst/>
              </a:prstGeom>
              <a:ln w="28575" cap="flat" cmpd="sng">
                <a:solidFill>
                  <a:schemeClr val="tx1"/>
                </a:solidFill>
                <a:prstDash val="dash"/>
                <a:headEnd type="none" w="med" len="med"/>
                <a:tailEnd type="none" w="med" len="med"/>
              </a:ln>
            </p:spPr>
          </p:sp>
        </p:grpSp>
      </p:grpSp>
      <p:sp>
        <p:nvSpPr>
          <p:cNvPr id="117764" name="Oval 46"/>
          <p:cNvSpPr/>
          <p:nvPr/>
        </p:nvSpPr>
        <p:spPr>
          <a:xfrm>
            <a:off x="6905625" y="5689600"/>
            <a:ext cx="976313" cy="417513"/>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宿舍名</a:t>
            </a:r>
            <a:endParaRPr lang="de-DE" altLang="en-US" sz="1600" dirty="0">
              <a:solidFill>
                <a:srgbClr val="0000CC"/>
              </a:solidFill>
              <a:latin typeface="宋体" panose="02010600030101010101" pitchFamily="2" charset="-122"/>
            </a:endParaRPr>
          </a:p>
        </p:txBody>
      </p:sp>
      <p:sp>
        <p:nvSpPr>
          <p:cNvPr id="117765" name="Line 45"/>
          <p:cNvSpPr/>
          <p:nvPr/>
        </p:nvSpPr>
        <p:spPr>
          <a:xfrm flipV="1">
            <a:off x="7591425" y="5100638"/>
            <a:ext cx="531813" cy="603250"/>
          </a:xfrm>
          <a:prstGeom prst="line">
            <a:avLst/>
          </a:prstGeom>
          <a:ln w="25400" cap="flat" cmpd="sng">
            <a:solidFill>
              <a:srgbClr val="000000"/>
            </a:solidFill>
            <a:prstDash val="solid"/>
            <a:headEnd type="none" w="med" len="med"/>
            <a:tailEnd type="none" w="med" len="med"/>
          </a:ln>
        </p:spPr>
      </p:sp>
      <p:sp>
        <p:nvSpPr>
          <p:cNvPr id="117766" name="Oval 46"/>
          <p:cNvSpPr/>
          <p:nvPr/>
        </p:nvSpPr>
        <p:spPr>
          <a:xfrm>
            <a:off x="8169275" y="3925888"/>
            <a:ext cx="974725" cy="417512"/>
          </a:xfrm>
          <a:prstGeom prst="ellipse">
            <a:avLst/>
          </a:prstGeom>
          <a:solidFill>
            <a:srgbClr val="FFCCFF"/>
          </a:solid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1600" dirty="0">
                <a:solidFill>
                  <a:srgbClr val="0000CC"/>
                </a:solidFill>
                <a:latin typeface="宋体" panose="02010600030101010101" pitchFamily="2" charset="-122"/>
              </a:rPr>
              <a:t>地址</a:t>
            </a:r>
            <a:endParaRPr lang="de-DE" altLang="en-US" sz="1600" dirty="0">
              <a:solidFill>
                <a:srgbClr val="0000CC"/>
              </a:solidFill>
              <a:latin typeface="宋体" panose="02010600030101010101" pitchFamily="2" charset="-122"/>
            </a:endParaRPr>
          </a:p>
        </p:txBody>
      </p:sp>
      <p:sp>
        <p:nvSpPr>
          <p:cNvPr id="117767" name="Line 45"/>
          <p:cNvSpPr/>
          <p:nvPr/>
        </p:nvSpPr>
        <p:spPr>
          <a:xfrm flipV="1">
            <a:off x="8483600" y="4332288"/>
            <a:ext cx="74613" cy="387350"/>
          </a:xfrm>
          <a:prstGeom prst="line">
            <a:avLst/>
          </a:prstGeom>
          <a:ln w="25400" cap="flat" cmpd="sng">
            <a:solidFill>
              <a:srgbClr val="000000"/>
            </a:solidFill>
            <a:prstDash val="solid"/>
            <a:headEnd type="none" w="med" len="med"/>
            <a:tailEnd type="none" w="med" len="med"/>
          </a:ln>
        </p:spPr>
      </p:sp>
      <p:sp>
        <p:nvSpPr>
          <p:cNvPr id="117768"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矩形 3"/>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8787" name="Rectangle 3"/>
          <p:cNvSpPr txBox="1"/>
          <p:nvPr/>
        </p:nvSpPr>
        <p:spPr>
          <a:xfrm>
            <a:off x="706438" y="2625725"/>
            <a:ext cx="8047037" cy="3165475"/>
          </a:xfrm>
          <a:prstGeom prst="rect">
            <a:avLst/>
          </a:prstGeom>
          <a:solidFill>
            <a:srgbClr val="F3F8FF"/>
          </a:solidFill>
          <a:ln w="9525" cap="flat" cmpd="sng">
            <a:solidFill>
              <a:srgbClr val="0070C0"/>
            </a:solidFill>
            <a:prstDash val="dash"/>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5000"/>
              </a:lnSpc>
            </a:pPr>
            <a:r>
              <a:rPr lang="zh-CN" altLang="en-US" dirty="0">
                <a:solidFill>
                  <a:srgbClr val="A50021"/>
                </a:solidFill>
              </a:rPr>
              <a:t>系</a:t>
            </a:r>
            <a:r>
              <a:rPr lang="zh-CN" altLang="en-US" dirty="0"/>
              <a:t>（</a:t>
            </a:r>
            <a:r>
              <a:rPr lang="zh-CN" altLang="en-US" u="sng" dirty="0"/>
              <a:t>系名</a:t>
            </a:r>
            <a:r>
              <a:rPr lang="zh-CN" altLang="en-US" dirty="0"/>
              <a:t>，地址，电话）。</a:t>
            </a:r>
            <a:endParaRPr lang="zh-CN" altLang="en-US" dirty="0"/>
          </a:p>
          <a:p>
            <a:pPr marL="342900" lvl="0" indent="-342900" eaLnBrk="1" hangingPunct="1">
              <a:lnSpc>
                <a:spcPct val="125000"/>
              </a:lnSpc>
            </a:pPr>
            <a:r>
              <a:rPr lang="zh-CN" altLang="en-US" dirty="0">
                <a:solidFill>
                  <a:srgbClr val="A50021"/>
                </a:solidFill>
              </a:rPr>
              <a:t>班级</a:t>
            </a:r>
            <a:r>
              <a:rPr lang="zh-CN" altLang="en-US" dirty="0"/>
              <a:t>（</a:t>
            </a:r>
            <a:r>
              <a:rPr lang="zh-CN" altLang="en-US" u="sng" dirty="0"/>
              <a:t>班号</a:t>
            </a:r>
            <a:r>
              <a:rPr lang="zh-CN" altLang="en-US" dirty="0"/>
              <a:t>，班名，</a:t>
            </a:r>
            <a:r>
              <a:rPr lang="zh-CN" altLang="en-US" dirty="0">
                <a:solidFill>
                  <a:srgbClr val="0033CC"/>
                </a:solidFill>
              </a:rPr>
              <a:t>系名，工作证号</a:t>
            </a:r>
            <a:r>
              <a:rPr lang="zh-CN" altLang="en-US" dirty="0"/>
              <a:t>），系名，工作证号为外键。</a:t>
            </a:r>
            <a:endParaRPr lang="zh-CN" altLang="en-US" dirty="0"/>
          </a:p>
          <a:p>
            <a:pPr marL="342900" lvl="0" indent="-342900" eaLnBrk="1" hangingPunct="1">
              <a:lnSpc>
                <a:spcPct val="125000"/>
              </a:lnSpc>
            </a:pPr>
            <a:r>
              <a:rPr lang="zh-CN" altLang="en-US" dirty="0">
                <a:solidFill>
                  <a:srgbClr val="A50021"/>
                </a:solidFill>
              </a:rPr>
              <a:t>辅导员</a:t>
            </a:r>
            <a:r>
              <a:rPr lang="zh-CN" altLang="en-US" dirty="0"/>
              <a:t>（</a:t>
            </a:r>
            <a:r>
              <a:rPr lang="zh-CN" altLang="en-US" u="sng" dirty="0"/>
              <a:t>工作证号</a:t>
            </a:r>
            <a:r>
              <a:rPr lang="zh-CN" altLang="en-US" dirty="0"/>
              <a:t>，姓名，性别，电话）。</a:t>
            </a:r>
            <a:endParaRPr lang="zh-CN" altLang="en-US" dirty="0"/>
          </a:p>
          <a:p>
            <a:pPr marL="342900" lvl="0" indent="-342900" eaLnBrk="1" hangingPunct="1">
              <a:lnSpc>
                <a:spcPct val="125000"/>
              </a:lnSpc>
            </a:pPr>
            <a:r>
              <a:rPr lang="zh-CN" altLang="en-US" dirty="0">
                <a:solidFill>
                  <a:srgbClr val="A50021"/>
                </a:solidFill>
              </a:rPr>
              <a:t>学生</a:t>
            </a:r>
            <a:r>
              <a:rPr lang="zh-CN" altLang="en-US" dirty="0"/>
              <a:t>（</a:t>
            </a:r>
            <a:r>
              <a:rPr lang="zh-CN" altLang="en-US" u="sng" dirty="0"/>
              <a:t>学号</a:t>
            </a:r>
            <a:r>
              <a:rPr lang="zh-CN" altLang="en-US" dirty="0"/>
              <a:t>，姓名，性别，出生年月，</a:t>
            </a:r>
            <a:r>
              <a:rPr lang="zh-CN" altLang="en-US" dirty="0">
                <a:solidFill>
                  <a:srgbClr val="0033CC"/>
                </a:solidFill>
              </a:rPr>
              <a:t>班号，宿舍号</a:t>
            </a:r>
            <a:r>
              <a:rPr lang="zh-CN" altLang="en-US" dirty="0"/>
              <a:t>），班号，宿舍号为外键。</a:t>
            </a:r>
            <a:endParaRPr lang="zh-CN" altLang="en-US" dirty="0"/>
          </a:p>
          <a:p>
            <a:pPr marL="342900" lvl="0" indent="-342900" eaLnBrk="1" hangingPunct="1">
              <a:lnSpc>
                <a:spcPct val="125000"/>
              </a:lnSpc>
            </a:pPr>
            <a:r>
              <a:rPr lang="zh-CN" altLang="en-US" dirty="0">
                <a:solidFill>
                  <a:srgbClr val="A50021"/>
                </a:solidFill>
              </a:rPr>
              <a:t>宿舍</a:t>
            </a:r>
            <a:r>
              <a:rPr lang="zh-CN" altLang="en-US" dirty="0"/>
              <a:t>（</a:t>
            </a:r>
            <a:r>
              <a:rPr lang="zh-CN" altLang="en-US" u="sng" dirty="0"/>
              <a:t>宿舍号</a:t>
            </a:r>
            <a:r>
              <a:rPr lang="zh-CN" altLang="en-US" dirty="0"/>
              <a:t>，宿舍名，地址）。</a:t>
            </a:r>
            <a:endParaRPr lang="zh-CN" altLang="en-US" dirty="0"/>
          </a:p>
          <a:p>
            <a:pPr marL="342900" lvl="0" indent="-342900" eaLnBrk="1" hangingPunct="1">
              <a:lnSpc>
                <a:spcPct val="125000"/>
              </a:lnSpc>
            </a:pPr>
            <a:r>
              <a:rPr lang="zh-CN" altLang="en-US" dirty="0"/>
              <a:t>学生家长（</a:t>
            </a:r>
            <a:r>
              <a:rPr lang="zh-CN" altLang="en-US" u="sng" dirty="0"/>
              <a:t>学号，称谓，姓名</a:t>
            </a:r>
            <a:r>
              <a:rPr lang="zh-CN" altLang="en-US" dirty="0"/>
              <a:t>，性别，地址，电话），学号为外键。</a:t>
            </a:r>
            <a:endParaRPr lang="zh-CN" altLang="en-US" dirty="0"/>
          </a:p>
        </p:txBody>
      </p:sp>
      <p:sp>
        <p:nvSpPr>
          <p:cNvPr id="118788" name="Rectangle 2"/>
          <p:cNvSpPr txBox="1"/>
          <p:nvPr/>
        </p:nvSpPr>
        <p:spPr>
          <a:xfrm>
            <a:off x="682625" y="1450975"/>
            <a:ext cx="7939088" cy="10080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latin typeface="宋体" panose="02010600030101010101" pitchFamily="2" charset="-122"/>
              </a:rPr>
              <a:t>    将ER图转换为关系模型，要求标出各关系的主键，如果存在的话还应指明外键。 </a:t>
            </a:r>
            <a:endParaRPr lang="zh-CN" altLang="en-US" sz="2400" dirty="0">
              <a:latin typeface="宋体" panose="02010600030101010101" pitchFamily="2" charset="-122"/>
            </a:endParaRPr>
          </a:p>
        </p:txBody>
      </p:sp>
      <p:sp>
        <p:nvSpPr>
          <p:cNvPr id="118789"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19811" name="矩形 3"/>
          <p:cNvSpPr/>
          <p:nvPr/>
        </p:nvSpPr>
        <p:spPr>
          <a:xfrm>
            <a:off x="660400" y="1465263"/>
            <a:ext cx="7292975" cy="2293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depart</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(dname      varchar(20) 	PRIMARY KEY,</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dadrress	varchar(40)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dtele  char(11) check(dtele like '[0-9][0-9][0-9][0-9][0-9][0-9][0-9][0-9][0-9][0-9][0-9]'))</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9812" name="矩形 5"/>
          <p:cNvSpPr/>
          <p:nvPr/>
        </p:nvSpPr>
        <p:spPr>
          <a:xfrm>
            <a:off x="7999413" y="2106613"/>
            <a:ext cx="468312" cy="4968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系</a:t>
            </a:r>
            <a:endParaRPr lang="zh-CN" altLang="en-US" sz="2200" dirty="0">
              <a:solidFill>
                <a:srgbClr val="FF0000"/>
              </a:solidFill>
            </a:endParaRPr>
          </a:p>
        </p:txBody>
      </p:sp>
      <p:sp>
        <p:nvSpPr>
          <p:cNvPr id="93190" name="右大括号 6"/>
          <p:cNvSpPr/>
          <p:nvPr/>
        </p:nvSpPr>
        <p:spPr>
          <a:xfrm>
            <a:off x="7480300" y="159702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9814" name="矩形 8"/>
          <p:cNvSpPr/>
          <p:nvPr/>
        </p:nvSpPr>
        <p:spPr>
          <a:xfrm>
            <a:off x="754063" y="3533775"/>
            <a:ext cx="7294562" cy="2665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assistent</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(aID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aname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asex char(1)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1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atele  char(11) check(atele like '[0-9][0-9][0-9][0-9][0-9][0-9][0-9][0-9][0-9][0-9][0-9]'))</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19815" name="矩形 9"/>
          <p:cNvSpPr/>
          <p:nvPr/>
        </p:nvSpPr>
        <p:spPr>
          <a:xfrm>
            <a:off x="8007350" y="4219575"/>
            <a:ext cx="1035050"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辅导员</a:t>
            </a:r>
            <a:endParaRPr lang="zh-CN" altLang="en-US" sz="2200" dirty="0">
              <a:solidFill>
                <a:srgbClr val="FF0000"/>
              </a:solidFill>
            </a:endParaRPr>
          </a:p>
        </p:txBody>
      </p:sp>
      <p:sp>
        <p:nvSpPr>
          <p:cNvPr id="93193" name="右大括号 10"/>
          <p:cNvSpPr/>
          <p:nvPr/>
        </p:nvSpPr>
        <p:spPr>
          <a:xfrm>
            <a:off x="7486650" y="3708400"/>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19817"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4" name="矩形 1"/>
          <p:cNvSpPr/>
          <p:nvPr/>
        </p:nvSpPr>
        <p:spPr>
          <a:xfrm>
            <a:off x="747713" y="1495425"/>
            <a:ext cx="7292975" cy="2800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classes</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cname varchar(20)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dname  varchar(20) foreign key references depart(dname),</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aID int  foreign key references assistent(aID))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20835" name="矩形 3"/>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20836" name="矩形 5"/>
          <p:cNvSpPr/>
          <p:nvPr/>
        </p:nvSpPr>
        <p:spPr>
          <a:xfrm>
            <a:off x="8391525" y="2122488"/>
            <a:ext cx="752475"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班级</a:t>
            </a:r>
            <a:endParaRPr lang="zh-CN" altLang="en-US" sz="2200" dirty="0">
              <a:solidFill>
                <a:srgbClr val="FF0000"/>
              </a:solidFill>
            </a:endParaRPr>
          </a:p>
        </p:txBody>
      </p:sp>
      <p:sp>
        <p:nvSpPr>
          <p:cNvPr id="94214" name="右大括号 6"/>
          <p:cNvSpPr/>
          <p:nvPr/>
        </p:nvSpPr>
        <p:spPr>
          <a:xfrm>
            <a:off x="7870825" y="1611313"/>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0838" name="矩形 8"/>
          <p:cNvSpPr/>
          <p:nvPr/>
        </p:nvSpPr>
        <p:spPr>
          <a:xfrm>
            <a:off x="682625" y="3810000"/>
            <a:ext cx="7292975" cy="23939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dorm</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(dno    char(4) PRIMARY KEY,</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dname varchar(20)	NOT NULL,</a:t>
            </a:r>
            <a:endParaRPr lang="en-US" altLang="zh-CN" sz="2200" i="1" dirty="0">
              <a:latin typeface="Times New Roman" panose="02020603050405020304" pitchFamily="18" charset="0"/>
              <a:ea typeface="Arial Unicode MS" pitchFamily="34" charset="-122"/>
            </a:endParaRPr>
          </a:p>
          <a:p>
            <a:pPr marL="533400" lvl="0" indent="-533400" eaLnBrk="1" hangingPunct="1">
              <a:lnSpc>
                <a:spcPct val="120000"/>
              </a:lnSpc>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daddr  varchar(40) NOT NULL)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20839" name="矩形 9"/>
          <p:cNvSpPr/>
          <p:nvPr/>
        </p:nvSpPr>
        <p:spPr>
          <a:xfrm>
            <a:off x="8391525" y="4248150"/>
            <a:ext cx="752475" cy="4968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宿舍</a:t>
            </a:r>
            <a:endParaRPr lang="zh-CN" altLang="en-US" sz="2200" dirty="0">
              <a:solidFill>
                <a:srgbClr val="FF0000"/>
              </a:solidFill>
            </a:endParaRPr>
          </a:p>
        </p:txBody>
      </p:sp>
      <p:sp>
        <p:nvSpPr>
          <p:cNvPr id="94217" name="右大括号 10"/>
          <p:cNvSpPr/>
          <p:nvPr/>
        </p:nvSpPr>
        <p:spPr>
          <a:xfrm>
            <a:off x="7870825" y="3736975"/>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0841" name="Rectangle 2"/>
          <p:cNvSpPr/>
          <p:nvPr/>
        </p:nvSpPr>
        <p:spPr>
          <a:xfrm>
            <a:off x="457200" y="11271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 课堂练习：将下面的</a:t>
            </a:r>
            <a:r>
              <a:rPr lang="en-US" altLang="zh-CN" sz="2800" dirty="0">
                <a:solidFill>
                  <a:srgbClr val="0033CC"/>
                </a:solidFill>
                <a:latin typeface="黑体" panose="02010609060101010101" pitchFamily="49" charset="-122"/>
                <a:ea typeface="黑体" panose="02010609060101010101" pitchFamily="49" charset="-122"/>
              </a:rPr>
              <a:t>ERM</a:t>
            </a:r>
            <a:r>
              <a:rPr lang="zh-CN" altLang="en-US" sz="2800" dirty="0">
                <a:solidFill>
                  <a:srgbClr val="0033CC"/>
                </a:solidFill>
                <a:latin typeface="黑体" panose="02010609060101010101" pitchFamily="49" charset="-122"/>
                <a:ea typeface="黑体" panose="02010609060101010101" pitchFamily="49" charset="-122"/>
              </a:rPr>
              <a:t>转换为关系</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21859" name="矩形 4"/>
          <p:cNvSpPr/>
          <p:nvPr/>
        </p:nvSpPr>
        <p:spPr>
          <a:xfrm>
            <a:off x="615950" y="1465263"/>
            <a:ext cx="7294563" cy="28019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students</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(Sno    int identity(1,1) 	PRIMARY KEY,</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Sname varchar(20)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Ssex  char(1) Check( Ssex in ('F','M')),</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Sbirth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cno  int  foreign key references classes(cno),</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dno char(4) foreign key references dorm(dno))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endParaRPr lang="en-US" altLang="zh-CN" sz="2200" i="1" dirty="0">
              <a:latin typeface="Times New Roman" panose="02020603050405020304" pitchFamily="18" charset="0"/>
              <a:ea typeface="Arial Unicode MS" pitchFamily="34" charset="-122"/>
            </a:endParaRPr>
          </a:p>
        </p:txBody>
      </p:sp>
      <p:sp>
        <p:nvSpPr>
          <p:cNvPr id="121860" name="矩形 6"/>
          <p:cNvSpPr/>
          <p:nvPr/>
        </p:nvSpPr>
        <p:spPr>
          <a:xfrm>
            <a:off x="7826375" y="2427288"/>
            <a:ext cx="750888"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学生</a:t>
            </a:r>
            <a:endParaRPr lang="zh-CN" altLang="en-US" sz="2200" dirty="0">
              <a:solidFill>
                <a:srgbClr val="FF0000"/>
              </a:solidFill>
            </a:endParaRPr>
          </a:p>
        </p:txBody>
      </p:sp>
      <p:sp>
        <p:nvSpPr>
          <p:cNvPr id="95238" name="右大括号 7"/>
          <p:cNvSpPr/>
          <p:nvPr/>
        </p:nvSpPr>
        <p:spPr>
          <a:xfrm>
            <a:off x="7305675" y="1916113"/>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1862" name="矩形 9"/>
          <p:cNvSpPr/>
          <p:nvPr/>
        </p:nvSpPr>
        <p:spPr>
          <a:xfrm>
            <a:off x="754063" y="3883025"/>
            <a:ext cx="7294562" cy="2462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CREATE TABLE  parents</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(Sno    int  foreign key references students(Sno) ,</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title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pname  char(10)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paddr varchar(30)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ptele char(11) NOT NULL,</a:t>
            </a:r>
            <a:endParaRPr lang="en-US" altLang="zh-CN" sz="2200" i="1" dirty="0">
              <a:latin typeface="Times New Roman" panose="02020603050405020304" pitchFamily="18" charset="0"/>
              <a:ea typeface="Arial Unicode MS" pitchFamily="34" charset="-122"/>
            </a:endParaRPr>
          </a:p>
          <a:p>
            <a:pPr marL="533400" lvl="0" indent="-533400" eaLnBrk="1" hangingPunct="1">
              <a:spcBef>
                <a:spcPct val="0"/>
              </a:spcBef>
              <a:buClr>
                <a:srgbClr val="0000CC"/>
              </a:buClr>
              <a:buFont typeface="Arial" panose="020B0604020202020204" pitchFamily="34" charset="0"/>
              <a:buNone/>
            </a:pPr>
            <a:r>
              <a:rPr lang="en-US" altLang="zh-CN" sz="2200" i="1" dirty="0">
                <a:latin typeface="Times New Roman" panose="02020603050405020304" pitchFamily="18" charset="0"/>
                <a:ea typeface="Arial Unicode MS" pitchFamily="34" charset="-122"/>
              </a:rPr>
              <a:t>     PRIMARY KEY(Sno,title,pname))      </a:t>
            </a:r>
            <a:endParaRPr lang="en-US" altLang="zh-CN" sz="2200" i="1" dirty="0">
              <a:latin typeface="Times New Roman" panose="02020603050405020304" pitchFamily="18" charset="0"/>
              <a:ea typeface="Arial Unicode MS" pitchFamily="34" charset="-122"/>
            </a:endParaRPr>
          </a:p>
        </p:txBody>
      </p:sp>
      <p:sp>
        <p:nvSpPr>
          <p:cNvPr id="121863" name="矩形 10"/>
          <p:cNvSpPr/>
          <p:nvPr/>
        </p:nvSpPr>
        <p:spPr>
          <a:xfrm>
            <a:off x="7832725" y="4713288"/>
            <a:ext cx="752475" cy="4953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200" dirty="0">
                <a:solidFill>
                  <a:srgbClr val="FF0000"/>
                </a:solidFill>
              </a:rPr>
              <a:t>家长</a:t>
            </a:r>
            <a:endParaRPr lang="zh-CN" altLang="en-US" sz="2200" dirty="0">
              <a:solidFill>
                <a:srgbClr val="FF0000"/>
              </a:solidFill>
            </a:endParaRPr>
          </a:p>
        </p:txBody>
      </p:sp>
      <p:sp>
        <p:nvSpPr>
          <p:cNvPr id="95241" name="右大括号 11"/>
          <p:cNvSpPr/>
          <p:nvPr/>
        </p:nvSpPr>
        <p:spPr>
          <a:xfrm>
            <a:off x="7312025" y="4202113"/>
            <a:ext cx="406400" cy="1800225"/>
          </a:xfrm>
          <a:prstGeom prst="rightBrace">
            <a:avLst>
              <a:gd name="adj1" fmla="val 8326"/>
              <a:gd name="adj2" fmla="val 50000"/>
            </a:avLst>
          </a:prstGeom>
          <a:noFill/>
          <a:ln w="9525" cap="flat" cmpd="dbl">
            <a:solidFill>
              <a:schemeClr val="tx1"/>
            </a:solidFill>
            <a:prstDash val="solid"/>
            <a:headEnd type="none" w="med" len="med"/>
            <a:tailEnd type="none" w="med" len="med"/>
          </a:ln>
        </p:spPr>
        <p:txBody>
          <a:bodyPr anchor="ctr">
            <a:spAutoFit/>
          </a:bodyPr>
          <a:lstStyle/>
          <a:p>
            <a:pPr marL="262255" marR="0" lvl="0" indent="-262255" algn="l" defTabSz="914400" rtl="0" eaLnBrk="1" fontAlgn="base" latinLnBrk="0" hangingPunct="1">
              <a:lnSpc>
                <a:spcPct val="135000"/>
              </a:lnSpc>
              <a:spcBef>
                <a:spcPct val="0"/>
              </a:spcBef>
              <a:spcAft>
                <a:spcPct val="0"/>
              </a:spcAft>
              <a:buClrTx/>
              <a:buSzTx/>
              <a:buFont typeface="Arial" panose="020B0604020202020204" pitchFamily="34" charset="0"/>
              <a:buBlip>
                <a:blip r:embed="rId1"/>
              </a:buBlip>
              <a:defRPr/>
            </a:pPr>
            <a:endParaRPr kumimoji="0" lang="zh-CN" altLang="en-US" sz="1800" b="1" i="0" u="none" strike="noStrike" kern="1200" cap="none" spc="0" normalizeH="0" baseline="0" noProof="1">
              <a:ln>
                <a:noFill/>
              </a:ln>
              <a:solidFill>
                <a:schemeClr val="tx1"/>
              </a:solidFill>
              <a:effectLst>
                <a:outerShdw blurRad="38100" dist="38100" dir="2700000">
                  <a:srgbClr val="C0C0C0"/>
                </a:outerShdw>
              </a:effectLst>
              <a:uLnTx/>
              <a:uFillTx/>
              <a:latin typeface="Arial" panose="020B0604020202020204" pitchFamily="34" charset="0"/>
              <a:ea typeface="宋体" panose="02010600030101010101" pitchFamily="2" charset="-122"/>
              <a:cs typeface="+mn-cs"/>
            </a:endParaRPr>
          </a:p>
        </p:txBody>
      </p:sp>
      <p:sp>
        <p:nvSpPr>
          <p:cNvPr id="121865"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508000" y="660400"/>
            <a:ext cx="2681288" cy="830263"/>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22883" name="文本框 2"/>
          <p:cNvSpPr txBox="1"/>
          <p:nvPr/>
        </p:nvSpPr>
        <p:spPr>
          <a:xfrm>
            <a:off x="538163" y="2519363"/>
            <a:ext cx="84010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2</a:t>
            </a:r>
            <a:r>
              <a:rPr lang="zh-CN" altLang="en-US" sz="2200" dirty="0"/>
              <a:t>、</a:t>
            </a:r>
            <a:r>
              <a:rPr lang="zh-CN" altLang="zh-CN" sz="2200" dirty="0"/>
              <a:t>若将下图所示的E-R图转换成关系模式，可以转换成（   ）关系模式</a:t>
            </a:r>
            <a:r>
              <a:rPr lang="zh-CN" altLang="en-US" sz="2200" dirty="0"/>
              <a:t>。</a:t>
            </a:r>
            <a:endParaRPr lang="zh-CN" altLang="en-US" sz="2200" dirty="0"/>
          </a:p>
        </p:txBody>
      </p:sp>
      <p:sp>
        <p:nvSpPr>
          <p:cNvPr id="122884" name="文本框 99"/>
          <p:cNvSpPr txBox="1"/>
          <p:nvPr/>
        </p:nvSpPr>
        <p:spPr>
          <a:xfrm>
            <a:off x="538163" y="1460500"/>
            <a:ext cx="8175625" cy="1014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200"/>
              </a:spcBef>
              <a:buClrTx/>
              <a:buSzTx/>
              <a:buFont typeface="Arial" panose="020B0604020202020204" pitchFamily="34" charset="0"/>
              <a:buNone/>
            </a:pPr>
            <a:r>
              <a:rPr lang="en-US" altLang="zh-CN" dirty="0"/>
              <a:t>1</a:t>
            </a:r>
            <a:r>
              <a:rPr lang="zh-CN" altLang="en-US" dirty="0"/>
              <a:t>、</a:t>
            </a:r>
            <a:r>
              <a:rPr lang="en-US" altLang="zh-CN" dirty="0"/>
              <a:t> </a:t>
            </a:r>
            <a:r>
              <a:rPr lang="zh-CN" altLang="zh-CN" dirty="0">
                <a:cs typeface="Arial" panose="020B0604020202020204" pitchFamily="34" charset="0"/>
              </a:rPr>
              <a:t>删除表中的主键，外键约束的处理方案可以是（     ）。</a:t>
            </a:r>
            <a:endParaRPr lang="zh-CN" altLang="zh-CN" dirty="0">
              <a:cs typeface="Arial" panose="020B0604020202020204" pitchFamily="34" charset="0"/>
            </a:endParaRPr>
          </a:p>
          <a:p>
            <a:pPr marL="0" lvl="0" indent="0" eaLnBrk="1" hangingPunct="1">
              <a:spcBef>
                <a:spcPts val="200"/>
              </a:spcBef>
              <a:buClrTx/>
              <a:buSzTx/>
              <a:buFont typeface="Arial" panose="020B0604020202020204" pitchFamily="34" charset="0"/>
              <a:buNone/>
            </a:pPr>
            <a:r>
              <a:rPr lang="zh-CN" altLang="zh-CN" b="0" dirty="0">
                <a:cs typeface="Arial" panose="020B0604020202020204" pitchFamily="34" charset="0"/>
              </a:rPr>
              <a:t>A. 让从表SELECT           B. 让从表No Action   </a:t>
            </a:r>
            <a:endParaRPr lang="zh-CN" altLang="zh-CN" b="0" dirty="0">
              <a:cs typeface="Arial" panose="020B0604020202020204" pitchFamily="34" charset="0"/>
            </a:endParaRPr>
          </a:p>
          <a:p>
            <a:pPr marL="0" lvl="0" indent="0" eaLnBrk="1" hangingPunct="1">
              <a:spcBef>
                <a:spcPts val="200"/>
              </a:spcBef>
              <a:buClrTx/>
              <a:buSzTx/>
              <a:buFont typeface="Arial" panose="020B0604020202020204" pitchFamily="34" charset="0"/>
              <a:buNone/>
            </a:pPr>
            <a:r>
              <a:rPr lang="zh-CN" altLang="zh-CN" b="0" dirty="0">
                <a:cs typeface="Arial" panose="020B0604020202020204" pitchFamily="34" charset="0"/>
              </a:rPr>
              <a:t>C. 让主表CASCADE         D. 让主表No Action</a:t>
            </a:r>
            <a:endParaRPr lang="zh-CN" altLang="en-US" dirty="0"/>
          </a:p>
        </p:txBody>
      </p:sp>
      <p:sp>
        <p:nvSpPr>
          <p:cNvPr id="22" name="文本框 21"/>
          <p:cNvSpPr txBox="1"/>
          <p:nvPr/>
        </p:nvSpPr>
        <p:spPr>
          <a:xfrm>
            <a:off x="6427788" y="1377950"/>
            <a:ext cx="366712"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D</a:t>
            </a:r>
            <a:endParaRPr lang="en-US" altLang="zh-CN" dirty="0">
              <a:solidFill>
                <a:srgbClr val="FF0000"/>
              </a:solidFill>
            </a:endParaRPr>
          </a:p>
        </p:txBody>
      </p:sp>
      <p:sp>
        <p:nvSpPr>
          <p:cNvPr id="122886" name="文本框 1"/>
          <p:cNvSpPr txBox="1"/>
          <p:nvPr/>
        </p:nvSpPr>
        <p:spPr>
          <a:xfrm>
            <a:off x="654050" y="3989388"/>
            <a:ext cx="7500938" cy="527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100" dirty="0">
                <a:latin typeface="Calibri" panose="020F0502020204030204" pitchFamily="34" charset="0"/>
                <a:cs typeface="Times New Roman" panose="02020603050405020304" pitchFamily="18" charset="0"/>
              </a:rPr>
              <a:t>A.</a:t>
            </a:r>
            <a:r>
              <a:rPr lang="en-US" altLang="zh-CN" sz="2100" dirty="0">
                <a:latin typeface="Calibri" panose="020F0502020204030204" pitchFamily="34" charset="0"/>
              </a:rPr>
              <a:t> 1</a:t>
            </a:r>
            <a:r>
              <a:rPr lang="zh-CN" altLang="zh-CN" sz="2100" dirty="0">
                <a:latin typeface="Calibri" panose="020F0502020204030204" pitchFamily="34" charset="0"/>
              </a:rPr>
              <a:t>个       </a:t>
            </a:r>
            <a:r>
              <a:rPr lang="en-US" altLang="zh-CN" sz="2100" dirty="0">
                <a:latin typeface="Calibri" panose="020F0502020204030204" pitchFamily="34" charset="0"/>
              </a:rPr>
              <a:t>B.2</a:t>
            </a:r>
            <a:r>
              <a:rPr lang="zh-CN" altLang="zh-CN" sz="2100" dirty="0">
                <a:latin typeface="Calibri" panose="020F0502020204030204" pitchFamily="34" charset="0"/>
              </a:rPr>
              <a:t>个        </a:t>
            </a:r>
            <a:r>
              <a:rPr lang="en-US" altLang="zh-CN" sz="2100" dirty="0">
                <a:latin typeface="Calibri" panose="020F0502020204030204" pitchFamily="34" charset="0"/>
              </a:rPr>
              <a:t>C.3</a:t>
            </a:r>
            <a:r>
              <a:rPr lang="zh-CN" altLang="zh-CN" sz="2100" dirty="0">
                <a:latin typeface="Calibri" panose="020F0502020204030204" pitchFamily="34" charset="0"/>
              </a:rPr>
              <a:t>个        </a:t>
            </a:r>
            <a:r>
              <a:rPr lang="en-US" altLang="zh-CN" sz="2100" dirty="0">
                <a:latin typeface="Calibri" panose="020F0502020204030204" pitchFamily="34" charset="0"/>
              </a:rPr>
              <a:t>D.4</a:t>
            </a:r>
            <a:r>
              <a:rPr lang="zh-CN" altLang="zh-CN" sz="2100" dirty="0">
                <a:latin typeface="Calibri" panose="020F0502020204030204" pitchFamily="34" charset="0"/>
              </a:rPr>
              <a:t>个</a:t>
            </a:r>
            <a:endParaRPr lang="zh-CN" altLang="en-US" sz="2100" dirty="0"/>
          </a:p>
        </p:txBody>
      </p:sp>
      <p:sp>
        <p:nvSpPr>
          <p:cNvPr id="4" name="文本框 3"/>
          <p:cNvSpPr txBox="1"/>
          <p:nvPr/>
        </p:nvSpPr>
        <p:spPr>
          <a:xfrm>
            <a:off x="7713663" y="2446338"/>
            <a:ext cx="36671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C</a:t>
            </a:r>
            <a:endParaRPr lang="en-US" altLang="zh-CN" dirty="0">
              <a:solidFill>
                <a:srgbClr val="FF0000"/>
              </a:solidFill>
            </a:endParaRPr>
          </a:p>
        </p:txBody>
      </p:sp>
      <p:pic>
        <p:nvPicPr>
          <p:cNvPr id="122888" name="图片 3"/>
          <p:cNvPicPr>
            <a:picLocks noChangeAspect="1"/>
          </p:cNvPicPr>
          <p:nvPr/>
        </p:nvPicPr>
        <p:blipFill>
          <a:blip r:embed="rId1"/>
          <a:stretch>
            <a:fillRect/>
          </a:stretch>
        </p:blipFill>
        <p:spPr>
          <a:xfrm>
            <a:off x="654050" y="3287713"/>
            <a:ext cx="4556125" cy="833437"/>
          </a:xfrm>
          <a:prstGeom prst="rect">
            <a:avLst/>
          </a:prstGeom>
          <a:noFill/>
          <a:ln w="9525">
            <a:noFill/>
          </a:ln>
        </p:spPr>
      </p:pic>
      <p:sp>
        <p:nvSpPr>
          <p:cNvPr id="122889" name="文本框 22"/>
          <p:cNvSpPr txBox="1"/>
          <p:nvPr/>
        </p:nvSpPr>
        <p:spPr>
          <a:xfrm>
            <a:off x="654050" y="4516438"/>
            <a:ext cx="8285163" cy="17383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b="0" dirty="0">
                <a:latin typeface="Calibri" panose="020F0502020204030204" pitchFamily="34" charset="0"/>
              </a:rPr>
              <a:t>3</a:t>
            </a:r>
            <a:r>
              <a:rPr lang="zh-CN" altLang="en-US" b="0" dirty="0">
                <a:latin typeface="Calibri" panose="020F0502020204030204" pitchFamily="34" charset="0"/>
              </a:rPr>
              <a:t>、</a:t>
            </a:r>
            <a:r>
              <a:rPr lang="zh-CN" altLang="zh-CN" b="0" dirty="0">
                <a:latin typeface="Calibri" panose="020F0502020204030204" pitchFamily="34" charset="0"/>
              </a:rPr>
              <a:t>用下面的DDL语句建立一个基本表，</a:t>
            </a:r>
            <a:r>
              <a:rPr lang="zh-CN" altLang="zh-CN" b="0" dirty="0">
                <a:latin typeface="Calibri" panose="020F0502020204030204" pitchFamily="34" charset="0"/>
                <a:sym typeface="+mn-ea"/>
              </a:rPr>
              <a:t> 可以插入到表中的元组是（    ）</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CREATE TABLE Student(Sno CHAR(4) Primary key, </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SName char(8) NOT NULL, Sex char(2),Age int)</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A.’5021’,’刘洋’,男,21             B.NULL,’刘洋’,NULL,21     </a:t>
            </a:r>
            <a:endParaRPr lang="zh-CN" altLang="zh-CN"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zh-CN" altLang="zh-CN" b="0" dirty="0">
                <a:latin typeface="Calibri" panose="020F0502020204030204" pitchFamily="34" charset="0"/>
              </a:rPr>
              <a:t>           C.’5021’,’刘洋’,NULL,NULL         D.’5021’,NULL,男,21  </a:t>
            </a:r>
            <a:endParaRPr lang="zh-CN" altLang="zh-CN" b="0" dirty="0">
              <a:latin typeface="Calibri" panose="020F0502020204030204" pitchFamily="34" charset="0"/>
            </a:endParaRPr>
          </a:p>
        </p:txBody>
      </p:sp>
      <p:sp>
        <p:nvSpPr>
          <p:cNvPr id="29" name="文本框 28"/>
          <p:cNvSpPr txBox="1"/>
          <p:nvPr/>
        </p:nvSpPr>
        <p:spPr>
          <a:xfrm>
            <a:off x="8154988" y="4529138"/>
            <a:ext cx="36671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C</a:t>
            </a:r>
            <a:endParaRPr lang="en-US" altLang="zh-CN" dirty="0">
              <a:solidFill>
                <a:srgbClr val="FF0000"/>
              </a:solidFill>
            </a:endParaRPr>
          </a:p>
        </p:txBody>
      </p:sp>
      <p:sp>
        <p:nvSpPr>
          <p:cNvPr id="12289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4" grpId="0"/>
      <p:bldP spid="29"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71513"/>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dirty="0">
              <a:latin typeface="Arial" panose="020B0604020202020204" pitchFamily="34" charset="0"/>
              <a:ea typeface="宋体" panose="02010600030101010101" pitchFamily="2" charset="-122"/>
              <a:cs typeface="+mn-cs"/>
            </a:endParaRPr>
          </a:p>
        </p:txBody>
      </p:sp>
      <p:sp>
        <p:nvSpPr>
          <p:cNvPr id="123907" name="文本框 2"/>
          <p:cNvSpPr txBox="1"/>
          <p:nvPr/>
        </p:nvSpPr>
        <p:spPr>
          <a:xfrm>
            <a:off x="484188" y="1539875"/>
            <a:ext cx="8401050"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4</a:t>
            </a:r>
            <a:r>
              <a:rPr lang="zh-CN" altLang="en-US" sz="2200" dirty="0"/>
              <a:t>、将下列员工与工作部门和工作地点的</a:t>
            </a:r>
            <a:r>
              <a:rPr lang="en-US" altLang="zh-CN" sz="2200" dirty="0"/>
              <a:t>ER</a:t>
            </a:r>
            <a:r>
              <a:rPr lang="zh-CN" altLang="en-US" sz="2200" dirty="0"/>
              <a:t>图转换为关系模式。</a:t>
            </a:r>
            <a:endParaRPr lang="zh-CN" altLang="en-US" sz="2200" dirty="0"/>
          </a:p>
        </p:txBody>
      </p:sp>
      <p:grpSp>
        <p:nvGrpSpPr>
          <p:cNvPr id="61" name="组合 60"/>
          <p:cNvGrpSpPr/>
          <p:nvPr/>
        </p:nvGrpSpPr>
        <p:grpSpPr>
          <a:xfrm>
            <a:off x="411163" y="2179638"/>
            <a:ext cx="8372475" cy="2865437"/>
            <a:chOff x="598" y="5890"/>
            <a:chExt cx="13184" cy="4200"/>
          </a:xfrm>
        </p:grpSpPr>
        <p:grpSp>
          <p:nvGrpSpPr>
            <p:cNvPr id="123910" name="组合 51"/>
            <p:cNvGrpSpPr/>
            <p:nvPr/>
          </p:nvGrpSpPr>
          <p:grpSpPr>
            <a:xfrm>
              <a:off x="598" y="5890"/>
              <a:ext cx="13184" cy="4200"/>
              <a:chOff x="507" y="5319"/>
              <a:chExt cx="13184" cy="4540"/>
            </a:xfrm>
          </p:grpSpPr>
          <p:sp>
            <p:nvSpPr>
              <p:cNvPr id="5" name="矩形 4"/>
              <p:cNvSpPr/>
              <p:nvPr/>
            </p:nvSpPr>
            <p:spPr>
              <a:xfrm>
                <a:off x="338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员工</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6" name="椭圆 5"/>
              <p:cNvSpPr/>
              <p:nvPr/>
            </p:nvSpPr>
            <p:spPr>
              <a:xfrm>
                <a:off x="847" y="5319"/>
                <a:ext cx="1812"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员工号</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7" name="椭圆 6"/>
              <p:cNvSpPr/>
              <p:nvPr/>
            </p:nvSpPr>
            <p:spPr>
              <a:xfrm>
                <a:off x="622" y="6006"/>
                <a:ext cx="1960" cy="5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姓名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8" name="椭圆 7"/>
              <p:cNvSpPr/>
              <p:nvPr/>
            </p:nvSpPr>
            <p:spPr>
              <a:xfrm>
                <a:off x="507" y="6516"/>
                <a:ext cx="2097" cy="5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入职时间</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9" name="椭圆 8"/>
              <p:cNvSpPr/>
              <p:nvPr/>
            </p:nvSpPr>
            <p:spPr>
              <a:xfrm>
                <a:off x="534" y="7057"/>
                <a:ext cx="2047" cy="511"/>
              </a:xfrm>
              <a:prstGeom prst="ellipse">
                <a:avLst/>
              </a:prstGeom>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出生年月</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1" name="矩形 10"/>
              <p:cNvSpPr/>
              <p:nvPr/>
            </p:nvSpPr>
            <p:spPr>
              <a:xfrm>
                <a:off x="6584" y="8169"/>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地点</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2" name="椭圆 11"/>
              <p:cNvSpPr/>
              <p:nvPr/>
            </p:nvSpPr>
            <p:spPr>
              <a:xfrm>
                <a:off x="5329" y="9235"/>
                <a:ext cx="2200"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地址</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3" name="椭圆 12"/>
              <p:cNvSpPr/>
              <p:nvPr/>
            </p:nvSpPr>
            <p:spPr>
              <a:xfrm>
                <a:off x="7806" y="9235"/>
                <a:ext cx="2090" cy="5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容量</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4" name="矩形 13"/>
              <p:cNvSpPr/>
              <p:nvPr/>
            </p:nvSpPr>
            <p:spPr>
              <a:xfrm>
                <a:off x="917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部门</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5" name="椭圆 14"/>
              <p:cNvSpPr/>
              <p:nvPr/>
            </p:nvSpPr>
            <p:spPr>
              <a:xfrm>
                <a:off x="11539" y="5948"/>
                <a:ext cx="2152" cy="6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部门号</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6" name="椭圆 15"/>
              <p:cNvSpPr/>
              <p:nvPr/>
            </p:nvSpPr>
            <p:spPr>
              <a:xfrm>
                <a:off x="11539" y="6634"/>
                <a:ext cx="1957" cy="51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部门名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7" name="椭圆 16"/>
              <p:cNvSpPr/>
              <p:nvPr/>
            </p:nvSpPr>
            <p:spPr>
              <a:xfrm>
                <a:off x="11539" y="7145"/>
                <a:ext cx="1957" cy="5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经费</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18" name="直接连接符 17"/>
              <p:cNvCxnSpPr>
                <a:stCxn id="6" idx="5"/>
                <a:endCxn id="5" idx="1"/>
              </p:cNvCxnSpPr>
              <p:nvPr/>
            </p:nvCxnSpPr>
            <p:spPr>
              <a:xfrm>
                <a:off x="2394" y="5852"/>
                <a:ext cx="995" cy="102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7" idx="6"/>
              </p:cNvCxnSpPr>
              <p:nvPr/>
            </p:nvCxnSpPr>
            <p:spPr>
              <a:xfrm>
                <a:off x="2582"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8" idx="6"/>
                <a:endCxn id="5" idx="1"/>
              </p:cNvCxnSpPr>
              <p:nvPr/>
            </p:nvCxnSpPr>
            <p:spPr>
              <a:xfrm>
                <a:off x="2604" y="6770"/>
                <a:ext cx="785" cy="1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9" idx="7"/>
                <a:endCxn id="5" idx="1"/>
              </p:cNvCxnSpPr>
              <p:nvPr/>
            </p:nvCxnSpPr>
            <p:spPr>
              <a:xfrm flipV="1">
                <a:off x="2282" y="6881"/>
                <a:ext cx="1107" cy="24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6" y="6260"/>
                <a:ext cx="597" cy="6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6" y="6881"/>
                <a:ext cx="597" cy="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4" y="6941"/>
                <a:ext cx="570" cy="45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3"/>
                <a:ext cx="880"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4" y="8883"/>
                <a:ext cx="1387"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0" name="菱形 29"/>
              <p:cNvSpPr/>
              <p:nvPr/>
            </p:nvSpPr>
            <p:spPr>
              <a:xfrm>
                <a:off x="6204" y="6436"/>
                <a:ext cx="2250" cy="905"/>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工作于</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4" name="直接连接符 33"/>
              <p:cNvCxnSpPr>
                <a:stCxn id="30" idx="1"/>
                <a:endCxn id="5" idx="3"/>
              </p:cNvCxnSpPr>
              <p:nvPr/>
            </p:nvCxnSpPr>
            <p:spPr>
              <a:xfrm flipH="1" flipV="1">
                <a:off x="5152" y="6881"/>
                <a:ext cx="1052" cy="8"/>
              </a:xfrm>
              <a:prstGeom prst="line">
                <a:avLst/>
              </a:prstGeom>
              <a:ln>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4" y="6886"/>
                <a:ext cx="707" cy="3"/>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2" y="5495"/>
                <a:ext cx="2242" cy="511"/>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起始期</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8" name="直接连接符 37"/>
              <p:cNvCxnSpPr>
                <a:endCxn id="30" idx="0"/>
              </p:cNvCxnSpPr>
              <p:nvPr/>
            </p:nvCxnSpPr>
            <p:spPr>
              <a:xfrm>
                <a:off x="6704" y="5998"/>
                <a:ext cx="625"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123911" name="文本框 53"/>
            <p:cNvSpPr txBox="1"/>
            <p:nvPr/>
          </p:nvSpPr>
          <p:spPr>
            <a:xfrm>
              <a:off x="8632" y="6640"/>
              <a:ext cx="510" cy="7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sp>
          <p:nvSpPr>
            <p:cNvPr id="123912" name="文本框 56"/>
            <p:cNvSpPr txBox="1"/>
            <p:nvPr/>
          </p:nvSpPr>
          <p:spPr>
            <a:xfrm>
              <a:off x="5547" y="6460"/>
              <a:ext cx="747" cy="7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cxnSp>
          <p:nvCxnSpPr>
            <p:cNvPr id="59" name="直接连接符 58"/>
            <p:cNvCxnSpPr>
              <a:endCxn id="30" idx="2"/>
            </p:cNvCxnSpPr>
            <p:nvPr/>
          </p:nvCxnSpPr>
          <p:spPr>
            <a:xfrm flipV="1">
              <a:off x="7420" y="7761"/>
              <a:ext cx="0" cy="78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123914" name="文本框 59"/>
            <p:cNvSpPr txBox="1"/>
            <p:nvPr/>
          </p:nvSpPr>
          <p:spPr>
            <a:xfrm>
              <a:off x="7392" y="7580"/>
              <a:ext cx="510" cy="74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grpSp>
      <p:sp>
        <p:nvSpPr>
          <p:cNvPr id="123909"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 calcmode="lin" valueType="num">
                                      <p:cBhvr additive="base">
                                        <p:cTn id="7" dur="500" fill="hold"/>
                                        <p:tgtEl>
                                          <p:spTgt spid="61"/>
                                        </p:tgtEl>
                                        <p:attrNameLst>
                                          <p:attrName>ppt_x</p:attrName>
                                        </p:attrNameLst>
                                      </p:cBhvr>
                                      <p:tavLst>
                                        <p:tav tm="0">
                                          <p:val>
                                            <p:strVal val="#ppt_x"/>
                                          </p:val>
                                        </p:tav>
                                        <p:tav tm="100000">
                                          <p:val>
                                            <p:strVal val="#ppt_x"/>
                                          </p:val>
                                        </p:tav>
                                      </p:tavLst>
                                    </p:anim>
                                    <p:anim calcmode="lin" valueType="num">
                                      <p:cBhvr additive="base">
                                        <p:cTn id="8" dur="500" fill="hold"/>
                                        <p:tgtEl>
                                          <p:spTgt spid="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3" name="文本框 2"/>
          <p:cNvSpPr txBox="1"/>
          <p:nvPr/>
        </p:nvSpPr>
        <p:spPr>
          <a:xfrm>
            <a:off x="777875" y="2527300"/>
            <a:ext cx="8074025" cy="119856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员工</a:t>
            </a:r>
            <a:r>
              <a:rPr lang="en-US" altLang="zh-CN" dirty="0">
                <a:sym typeface="+mn-ea"/>
              </a:rPr>
              <a:t>(</a:t>
            </a:r>
            <a:r>
              <a:rPr lang="zh-CN" altLang="en-US" u="sng" dirty="0">
                <a:solidFill>
                  <a:srgbClr val="FF0000"/>
                </a:solidFill>
                <a:sym typeface="+mn-ea"/>
              </a:rPr>
              <a:t>员工号</a:t>
            </a:r>
            <a:r>
              <a:rPr lang="en-US" altLang="zh-CN" u="sng" dirty="0">
                <a:solidFill>
                  <a:srgbClr val="FF0000"/>
                </a:solidFill>
                <a:sym typeface="+mn-ea"/>
              </a:rPr>
              <a:t>,</a:t>
            </a:r>
            <a:r>
              <a:rPr lang="zh-CN" altLang="en-US" dirty="0">
                <a:sym typeface="+mn-ea"/>
              </a:rPr>
              <a:t>姓名</a:t>
            </a:r>
            <a:r>
              <a:rPr lang="en-US" altLang="zh-CN" dirty="0">
                <a:sym typeface="+mn-ea"/>
              </a:rPr>
              <a:t>,</a:t>
            </a:r>
            <a:r>
              <a:rPr lang="zh-CN" altLang="en-US" dirty="0">
                <a:sym typeface="+mn-ea"/>
              </a:rPr>
              <a:t>入职时间</a:t>
            </a:r>
            <a:r>
              <a:rPr lang="en-US" altLang="zh-CN" dirty="0">
                <a:sym typeface="+mn-ea"/>
              </a:rPr>
              <a:t>,</a:t>
            </a:r>
            <a:r>
              <a:rPr lang="zh-CN" altLang="en-US" dirty="0">
                <a:sym typeface="+mn-ea"/>
              </a:rPr>
              <a:t>出生年月</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部门</a:t>
            </a:r>
            <a:r>
              <a:rPr lang="en-US" altLang="zh-CN" dirty="0">
                <a:sym typeface="+mn-ea"/>
              </a:rPr>
              <a:t>(</a:t>
            </a:r>
            <a:r>
              <a:rPr lang="zh-CN" altLang="en-US" u="sng" dirty="0">
                <a:solidFill>
                  <a:srgbClr val="FF0000"/>
                </a:solidFill>
                <a:sym typeface="+mn-ea"/>
              </a:rPr>
              <a:t>部门号</a:t>
            </a:r>
            <a:r>
              <a:rPr lang="en-US" altLang="zh-CN" dirty="0">
                <a:sym typeface="+mn-ea"/>
              </a:rPr>
              <a:t>,</a:t>
            </a:r>
            <a:r>
              <a:rPr lang="zh-CN" altLang="en-US" dirty="0">
                <a:sym typeface="+mn-ea"/>
              </a:rPr>
              <a:t>部门名</a:t>
            </a:r>
            <a:r>
              <a:rPr lang="en-US" altLang="zh-CN" dirty="0">
                <a:sym typeface="+mn-ea"/>
              </a:rPr>
              <a:t>,</a:t>
            </a:r>
            <a:r>
              <a:rPr lang="zh-CN" altLang="en-US" dirty="0">
                <a:sym typeface="+mn-ea"/>
              </a:rPr>
              <a:t>经费</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地点</a:t>
            </a:r>
            <a:r>
              <a:rPr lang="en-US" altLang="zh-CN" dirty="0">
                <a:sym typeface="+mn-ea"/>
              </a:rPr>
              <a:t>(</a:t>
            </a:r>
            <a:r>
              <a:rPr lang="zh-CN" altLang="en-US" u="sng" dirty="0">
                <a:solidFill>
                  <a:srgbClr val="FF0000"/>
                </a:solidFill>
                <a:sym typeface="+mn-ea"/>
              </a:rPr>
              <a:t>地址</a:t>
            </a:r>
            <a:r>
              <a:rPr lang="en-US" altLang="zh-CN" dirty="0">
                <a:sym typeface="+mn-ea"/>
              </a:rPr>
              <a:t>,</a:t>
            </a:r>
            <a:r>
              <a:rPr lang="zh-CN" altLang="en-US" dirty="0">
                <a:sym typeface="+mn-ea"/>
              </a:rPr>
              <a:t>容量</a:t>
            </a:r>
            <a:r>
              <a:rPr lang="en-US" altLang="zh-CN" dirty="0">
                <a:sym typeface="+mn-ea"/>
              </a:rPr>
              <a:t>)</a:t>
            </a:r>
            <a:endParaRPr lang="en-US" altLang="zh-CN" dirty="0">
              <a:sym typeface="+mn-ea"/>
            </a:endParaRPr>
          </a:p>
        </p:txBody>
      </p:sp>
      <p:sp>
        <p:nvSpPr>
          <p:cNvPr id="4" name="文本框 3"/>
          <p:cNvSpPr txBox="1"/>
          <p:nvPr/>
        </p:nvSpPr>
        <p:spPr>
          <a:xfrm>
            <a:off x="719138" y="1976438"/>
            <a:ext cx="236696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1</a:t>
            </a:r>
            <a:r>
              <a:rPr lang="zh-CN" altLang="en-US" dirty="0">
                <a:solidFill>
                  <a:srgbClr val="FF0000"/>
                </a:solidFill>
              </a:rPr>
              <a:t>步，实体的转换</a:t>
            </a:r>
            <a:endParaRPr lang="zh-CN" altLang="en-US" dirty="0">
              <a:solidFill>
                <a:srgbClr val="FF0000"/>
              </a:solidFill>
            </a:endParaRPr>
          </a:p>
        </p:txBody>
      </p:sp>
      <p:sp>
        <p:nvSpPr>
          <p:cNvPr id="5" name="文本框 4"/>
          <p:cNvSpPr txBox="1"/>
          <p:nvPr/>
        </p:nvSpPr>
        <p:spPr>
          <a:xfrm>
            <a:off x="777875" y="3725863"/>
            <a:ext cx="236537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2</a:t>
            </a:r>
            <a:r>
              <a:rPr lang="zh-CN" altLang="en-US" dirty="0">
                <a:solidFill>
                  <a:srgbClr val="FF0000"/>
                </a:solidFill>
              </a:rPr>
              <a:t>步，联系的转换</a:t>
            </a:r>
            <a:endParaRPr lang="zh-CN" altLang="en-US" dirty="0">
              <a:solidFill>
                <a:srgbClr val="FF0000"/>
              </a:solidFill>
            </a:endParaRPr>
          </a:p>
        </p:txBody>
      </p:sp>
      <p:sp>
        <p:nvSpPr>
          <p:cNvPr id="33" name="文本框 32"/>
          <p:cNvSpPr txBox="1"/>
          <p:nvPr/>
        </p:nvSpPr>
        <p:spPr>
          <a:xfrm>
            <a:off x="777875" y="4232275"/>
            <a:ext cx="8074025" cy="163036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dirty="0">
                <a:sym typeface="+mn-ea"/>
              </a:rPr>
              <a:t>员工</a:t>
            </a:r>
            <a:r>
              <a:rPr lang="en-US" altLang="zh-CN" dirty="0">
                <a:sym typeface="+mn-ea"/>
              </a:rPr>
              <a:t>(</a:t>
            </a:r>
            <a:r>
              <a:rPr lang="zh-CN" altLang="en-US" u="sng" dirty="0">
                <a:solidFill>
                  <a:srgbClr val="FF0000"/>
                </a:solidFill>
                <a:sym typeface="+mn-ea"/>
              </a:rPr>
              <a:t>员工号</a:t>
            </a:r>
            <a:r>
              <a:rPr lang="en-US" altLang="zh-CN" u="sng" dirty="0">
                <a:solidFill>
                  <a:srgbClr val="FF0000"/>
                </a:solidFill>
                <a:sym typeface="+mn-ea"/>
              </a:rPr>
              <a:t>,</a:t>
            </a:r>
            <a:r>
              <a:rPr lang="zh-CN" altLang="en-US" dirty="0">
                <a:sym typeface="+mn-ea"/>
              </a:rPr>
              <a:t>姓名</a:t>
            </a:r>
            <a:r>
              <a:rPr lang="en-US" altLang="zh-CN" dirty="0">
                <a:sym typeface="+mn-ea"/>
              </a:rPr>
              <a:t>,</a:t>
            </a:r>
            <a:r>
              <a:rPr lang="zh-CN" altLang="en-US" dirty="0">
                <a:sym typeface="+mn-ea"/>
              </a:rPr>
              <a:t>入职时间</a:t>
            </a:r>
            <a:r>
              <a:rPr lang="en-US" altLang="zh-CN" dirty="0">
                <a:sym typeface="+mn-ea"/>
              </a:rPr>
              <a:t>,</a:t>
            </a:r>
            <a:r>
              <a:rPr lang="zh-CN" altLang="en-US" dirty="0">
                <a:sym typeface="+mn-ea"/>
              </a:rPr>
              <a:t>出生年月</a:t>
            </a:r>
            <a:r>
              <a:rPr lang="en-US" altLang="zh-CN" dirty="0">
                <a:sym typeface="+mn-ea"/>
              </a:rPr>
              <a:t>)</a:t>
            </a:r>
            <a:endParaRPr lang="en-US" altLang="zh-CN" dirty="0">
              <a:sym typeface="+mn-ea"/>
            </a:endParaRPr>
          </a:p>
          <a:p>
            <a:pPr marL="0" lvl="0" indent="0" eaLnBrk="1" hangingPunct="1">
              <a:lnSpc>
                <a:spcPct val="125000"/>
              </a:lnSpc>
              <a:spcBef>
                <a:spcPct val="0"/>
              </a:spcBef>
              <a:buClrTx/>
              <a:buSzTx/>
              <a:buFont typeface="Arial" panose="020B0604020202020204" pitchFamily="34" charset="0"/>
              <a:buNone/>
            </a:pPr>
            <a:r>
              <a:rPr lang="zh-CN" altLang="en-US" dirty="0">
                <a:sym typeface="+mn-ea"/>
              </a:rPr>
              <a:t>部门</a:t>
            </a:r>
            <a:r>
              <a:rPr lang="en-US" altLang="zh-CN" dirty="0">
                <a:sym typeface="+mn-ea"/>
              </a:rPr>
              <a:t>(</a:t>
            </a:r>
            <a:r>
              <a:rPr lang="zh-CN" altLang="en-US" u="sng" dirty="0">
                <a:solidFill>
                  <a:srgbClr val="FF0000"/>
                </a:solidFill>
                <a:sym typeface="+mn-ea"/>
              </a:rPr>
              <a:t>部门号</a:t>
            </a:r>
            <a:r>
              <a:rPr lang="en-US" altLang="zh-CN" dirty="0">
                <a:sym typeface="+mn-ea"/>
              </a:rPr>
              <a:t>,</a:t>
            </a:r>
            <a:r>
              <a:rPr lang="zh-CN" altLang="en-US" dirty="0">
                <a:sym typeface="+mn-ea"/>
              </a:rPr>
              <a:t>部门名</a:t>
            </a:r>
            <a:r>
              <a:rPr lang="en-US" altLang="zh-CN" dirty="0">
                <a:sym typeface="+mn-ea"/>
              </a:rPr>
              <a:t>,</a:t>
            </a:r>
            <a:r>
              <a:rPr lang="zh-CN" altLang="en-US" dirty="0">
                <a:sym typeface="+mn-ea"/>
              </a:rPr>
              <a:t>经费</a:t>
            </a:r>
            <a:r>
              <a:rPr lang="en-US" altLang="zh-CN" dirty="0">
                <a:sym typeface="+mn-ea"/>
              </a:rPr>
              <a:t>)</a:t>
            </a:r>
            <a:endParaRPr lang="en-US" altLang="zh-CN" dirty="0">
              <a:sym typeface="+mn-ea"/>
            </a:endParaRPr>
          </a:p>
          <a:p>
            <a:pPr marL="0" lvl="0" indent="0" eaLnBrk="1" hangingPunct="1">
              <a:lnSpc>
                <a:spcPct val="125000"/>
              </a:lnSpc>
              <a:spcBef>
                <a:spcPct val="0"/>
              </a:spcBef>
              <a:buClrTx/>
              <a:buSzTx/>
              <a:buFont typeface="Arial" panose="020B0604020202020204" pitchFamily="34" charset="0"/>
              <a:buNone/>
            </a:pPr>
            <a:r>
              <a:rPr lang="zh-CN" altLang="en-US" dirty="0">
                <a:sym typeface="+mn-ea"/>
              </a:rPr>
              <a:t>地点</a:t>
            </a:r>
            <a:r>
              <a:rPr lang="en-US" altLang="zh-CN" dirty="0">
                <a:sym typeface="+mn-ea"/>
              </a:rPr>
              <a:t>(</a:t>
            </a:r>
            <a:r>
              <a:rPr lang="zh-CN" altLang="en-US" u="sng" dirty="0">
                <a:solidFill>
                  <a:srgbClr val="FF0000"/>
                </a:solidFill>
                <a:sym typeface="+mn-ea"/>
              </a:rPr>
              <a:t>地址</a:t>
            </a:r>
            <a:r>
              <a:rPr lang="en-US" altLang="zh-CN" dirty="0">
                <a:sym typeface="+mn-ea"/>
              </a:rPr>
              <a:t>,</a:t>
            </a:r>
            <a:r>
              <a:rPr lang="zh-CN" altLang="en-US" dirty="0">
                <a:sym typeface="+mn-ea"/>
              </a:rPr>
              <a:t>容量</a:t>
            </a:r>
            <a:r>
              <a:rPr lang="en-US" altLang="zh-CN" dirty="0">
                <a:sym typeface="+mn-ea"/>
              </a:rPr>
              <a:t>)</a:t>
            </a:r>
            <a:endParaRPr lang="en-US" altLang="zh-CN" dirty="0">
              <a:sym typeface="+mn-ea"/>
            </a:endParaRPr>
          </a:p>
          <a:p>
            <a:pPr marL="0" lvl="0" indent="0" eaLnBrk="1" hangingPunct="1">
              <a:lnSpc>
                <a:spcPct val="125000"/>
              </a:lnSpc>
              <a:spcBef>
                <a:spcPct val="0"/>
              </a:spcBef>
              <a:buClrTx/>
              <a:buSzTx/>
              <a:buFont typeface="Arial" panose="020B0604020202020204" pitchFamily="34" charset="0"/>
              <a:buNone/>
            </a:pPr>
            <a:r>
              <a:rPr lang="zh-CN" altLang="en-US" dirty="0">
                <a:sym typeface="+mn-ea"/>
              </a:rPr>
              <a:t>工作</a:t>
            </a:r>
            <a:r>
              <a:rPr lang="en-US" altLang="zh-CN" dirty="0">
                <a:sym typeface="+mn-ea"/>
              </a:rPr>
              <a:t>(</a:t>
            </a:r>
            <a:r>
              <a:rPr lang="zh-CN" altLang="en-US" u="sng" dirty="0">
                <a:solidFill>
                  <a:srgbClr val="0033CC"/>
                </a:solidFill>
                <a:sym typeface="+mn-ea"/>
              </a:rPr>
              <a:t>员工号</a:t>
            </a:r>
            <a:r>
              <a:rPr lang="en-US" altLang="zh-CN" dirty="0">
                <a:solidFill>
                  <a:srgbClr val="0033CC"/>
                </a:solidFill>
                <a:sym typeface="+mn-ea"/>
              </a:rPr>
              <a:t>,</a:t>
            </a:r>
            <a:r>
              <a:rPr lang="zh-CN" altLang="en-US" dirty="0">
                <a:solidFill>
                  <a:srgbClr val="0033CC"/>
                </a:solidFill>
                <a:sym typeface="+mn-ea"/>
              </a:rPr>
              <a:t>部门号</a:t>
            </a:r>
            <a:r>
              <a:rPr lang="en-US" altLang="zh-CN" dirty="0">
                <a:solidFill>
                  <a:srgbClr val="0033CC"/>
                </a:solidFill>
                <a:sym typeface="+mn-ea"/>
              </a:rPr>
              <a:t>,</a:t>
            </a:r>
            <a:r>
              <a:rPr lang="zh-CN" altLang="en-US" dirty="0">
                <a:solidFill>
                  <a:srgbClr val="0033CC"/>
                </a:solidFill>
                <a:sym typeface="+mn-ea"/>
              </a:rPr>
              <a:t>地址</a:t>
            </a:r>
            <a:r>
              <a:rPr lang="en-US" altLang="zh-CN" dirty="0">
                <a:sym typeface="+mn-ea"/>
              </a:rPr>
              <a:t>,</a:t>
            </a:r>
            <a:r>
              <a:rPr lang="zh-CN" altLang="en-US" u="sng" dirty="0">
                <a:sym typeface="+mn-ea"/>
              </a:rPr>
              <a:t>起始期</a:t>
            </a:r>
            <a:r>
              <a:rPr lang="en-US" altLang="zh-CN" dirty="0">
                <a:sym typeface="+mn-ea"/>
              </a:rPr>
              <a:t>)</a:t>
            </a:r>
            <a:r>
              <a:rPr lang="zh-CN" altLang="en-US" i="1" dirty="0">
                <a:solidFill>
                  <a:srgbClr val="0033CC"/>
                </a:solidFill>
                <a:sym typeface="+mn-ea"/>
              </a:rPr>
              <a:t>员工号</a:t>
            </a:r>
            <a:r>
              <a:rPr lang="en-US" altLang="zh-CN" i="1" dirty="0">
                <a:solidFill>
                  <a:srgbClr val="0033CC"/>
                </a:solidFill>
                <a:sym typeface="+mn-ea"/>
              </a:rPr>
              <a:t>,</a:t>
            </a:r>
            <a:r>
              <a:rPr lang="zh-CN" altLang="en-US" i="1" dirty="0">
                <a:solidFill>
                  <a:srgbClr val="0033CC"/>
                </a:solidFill>
                <a:sym typeface="+mn-ea"/>
              </a:rPr>
              <a:t>部门号和地址为外键</a:t>
            </a:r>
            <a:endParaRPr lang="zh-CN" altLang="en-US" i="1" dirty="0">
              <a:solidFill>
                <a:srgbClr val="0033CC"/>
              </a:solidFill>
              <a:sym typeface="+mn-ea"/>
            </a:endParaRPr>
          </a:p>
        </p:txBody>
      </p:sp>
      <p:sp>
        <p:nvSpPr>
          <p:cNvPr id="124935" name="文本框 36"/>
          <p:cNvSpPr txBox="1"/>
          <p:nvPr/>
        </p:nvSpPr>
        <p:spPr>
          <a:xfrm>
            <a:off x="484188" y="1482725"/>
            <a:ext cx="8401050"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4</a:t>
            </a:r>
            <a:r>
              <a:rPr lang="zh-CN" altLang="en-US" sz="2200" dirty="0"/>
              <a:t>、将下列员工与工作部门和工作地点的</a:t>
            </a:r>
            <a:r>
              <a:rPr lang="en-US" altLang="zh-CN" sz="2200" dirty="0"/>
              <a:t>ER</a:t>
            </a:r>
            <a:r>
              <a:rPr lang="zh-CN" altLang="en-US" sz="2200" dirty="0"/>
              <a:t>图转换为关系模式。</a:t>
            </a:r>
            <a:endParaRPr lang="zh-CN" altLang="en-US" sz="2200" dirty="0"/>
          </a:p>
        </p:txBody>
      </p:sp>
      <p:sp>
        <p:nvSpPr>
          <p:cNvPr id="124936"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anim calcmode="lin" valueType="num">
                                      <p:cBhvr additive="base">
                                        <p:cTn id="21" dur="500" fill="hold"/>
                                        <p:tgtEl>
                                          <p:spTgt spid="33"/>
                                        </p:tgtEl>
                                        <p:attrNameLst>
                                          <p:attrName>ppt_x</p:attrName>
                                        </p:attrNameLst>
                                      </p:cBhvr>
                                      <p:tavLst>
                                        <p:tav tm="0">
                                          <p:val>
                                            <p:strVal val="#ppt_x"/>
                                          </p:val>
                                        </p:tav>
                                        <p:tav tm="100000">
                                          <p:val>
                                            <p:strVal val="#ppt_x"/>
                                          </p:val>
                                        </p:tav>
                                      </p:tavLst>
                                    </p:anim>
                                    <p:anim calcmode="lin" valueType="num">
                                      <p:cBhvr additive="base">
                                        <p:cTn id="2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33" grpId="0" bldLvl="0" animBg="1"/>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5954" name="组合 2"/>
          <p:cNvGrpSpPr/>
          <p:nvPr/>
        </p:nvGrpSpPr>
        <p:grpSpPr>
          <a:xfrm>
            <a:off x="257175" y="2033588"/>
            <a:ext cx="8886825" cy="1739900"/>
            <a:chOff x="203" y="6383"/>
            <a:chExt cx="13994" cy="2740"/>
          </a:xfrm>
        </p:grpSpPr>
        <p:sp>
          <p:nvSpPr>
            <p:cNvPr id="125957" name="Freeform 2"/>
            <p:cNvSpPr/>
            <p:nvPr/>
          </p:nvSpPr>
          <p:spPr>
            <a:xfrm>
              <a:off x="2962" y="6723"/>
              <a:ext cx="1137" cy="855"/>
            </a:xfrm>
            <a:custGeom>
              <a:avLst/>
              <a:gdLst>
                <a:gd name="txL" fmla="*/ 0 w 619"/>
                <a:gd name="txT" fmla="*/ 0 h 318"/>
                <a:gd name="txR" fmla="*/ 619 w 619"/>
                <a:gd name="txB" fmla="*/ 318 h 31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5958" name="Freeform 6"/>
            <p:cNvSpPr/>
            <p:nvPr/>
          </p:nvSpPr>
          <p:spPr>
            <a:xfrm>
              <a:off x="7055" y="8172"/>
              <a:ext cx="2515" cy="951"/>
            </a:xfrm>
            <a:custGeom>
              <a:avLst/>
              <a:gdLst>
                <a:gd name="txL" fmla="*/ 0 w 1113"/>
                <a:gd name="txT" fmla="*/ 0 h 427"/>
                <a:gd name="txR" fmla="*/ 1113 w 1113"/>
                <a:gd name="txB" fmla="*/ 427 h 427"/>
              </a:gdLst>
              <a:ahLst/>
              <a:cxnLst>
                <a:cxn ang="0">
                  <a:pos x="2147483646" y="0"/>
                </a:cxn>
                <a:cxn ang="0">
                  <a:pos x="0" y="2147483646"/>
                </a:cxn>
                <a:cxn ang="0">
                  <a:pos x="2147483646" y="2147483646"/>
                </a:cxn>
                <a:cxn ang="0">
                  <a:pos x="2147483646" y="2147483646"/>
                </a:cxn>
                <a:cxn ang="0">
                  <a:pos x="2147483646" y="0"/>
                </a:cxn>
              </a:cxnLst>
              <a:rect l="txL" t="txT" r="txR" b="txB"/>
              <a:pathLst>
                <a:path w="1113" h="427">
                  <a:moveTo>
                    <a:pt x="555" y="0"/>
                  </a:moveTo>
                  <a:lnTo>
                    <a:pt x="0" y="214"/>
                  </a:lnTo>
                  <a:lnTo>
                    <a:pt x="555" y="427"/>
                  </a:lnTo>
                  <a:lnTo>
                    <a:pt x="1113" y="214"/>
                  </a:lnTo>
                  <a:lnTo>
                    <a:pt x="555" y="0"/>
                  </a:lnTo>
                  <a:close/>
                </a:path>
              </a:pathLst>
            </a:custGeom>
            <a:solidFill>
              <a:srgbClr val="CCFFFF">
                <a:alpha val="100000"/>
              </a:srgbClr>
            </a:solidFill>
            <a:ln w="9525">
              <a:noFill/>
            </a:ln>
          </p:spPr>
          <p:txBody>
            <a:bodyPr/>
            <a:p>
              <a:endParaRPr lang="zh-CN" altLang="en-US"/>
            </a:p>
          </p:txBody>
        </p:sp>
        <p:sp>
          <p:nvSpPr>
            <p:cNvPr id="125959" name="Freeform 7"/>
            <p:cNvSpPr/>
            <p:nvPr/>
          </p:nvSpPr>
          <p:spPr>
            <a:xfrm>
              <a:off x="7165" y="8087"/>
              <a:ext cx="2515" cy="951"/>
            </a:xfrm>
            <a:custGeom>
              <a:avLst/>
              <a:gdLst>
                <a:gd name="txL" fmla="*/ 0 w 1113"/>
                <a:gd name="txT" fmla="*/ 0 h 427"/>
                <a:gd name="txR" fmla="*/ 1113 w 1113"/>
                <a:gd name="txB" fmla="*/ 427 h 427"/>
              </a:gdLst>
              <a:ahLst/>
              <a:cxnLst>
                <a:cxn ang="0">
                  <a:pos x="2147483646" y="0"/>
                </a:cxn>
                <a:cxn ang="0">
                  <a:pos x="0" y="2147483646"/>
                </a:cxn>
                <a:cxn ang="0">
                  <a:pos x="2147483646" y="2147483646"/>
                </a:cxn>
                <a:cxn ang="0">
                  <a:pos x="2147483646" y="2147483646"/>
                </a:cxn>
                <a:cxn ang="0">
                  <a:pos x="2147483646" y="0"/>
                </a:cxn>
              </a:cxnLst>
              <a:rect l="txL" t="txT" r="txR" b="txB"/>
              <a:pathLst>
                <a:path w="1113" h="427">
                  <a:moveTo>
                    <a:pt x="555" y="0"/>
                  </a:moveTo>
                  <a:lnTo>
                    <a:pt x="0" y="214"/>
                  </a:lnTo>
                  <a:lnTo>
                    <a:pt x="555" y="427"/>
                  </a:lnTo>
                  <a:lnTo>
                    <a:pt x="1113" y="214"/>
                  </a:lnTo>
                  <a:lnTo>
                    <a:pt x="555" y="0"/>
                  </a:lnTo>
                  <a:close/>
                </a:path>
              </a:pathLst>
            </a:custGeom>
            <a:solidFill>
              <a:srgbClr val="FFCCFF">
                <a:alpha val="100000"/>
              </a:srgbClr>
            </a:solidFill>
            <a:ln w="47625" cap="flat" cmpd="sng">
              <a:solidFill>
                <a:srgbClr val="FF0000">
                  <a:alpha val="100000"/>
                </a:srgbClr>
              </a:solidFill>
              <a:prstDash val="solid"/>
              <a:miter lim="800000"/>
              <a:headEnd type="none" w="med" len="med"/>
              <a:tailEnd type="none" w="med" len="med"/>
            </a:ln>
          </p:spPr>
          <p:txBody>
            <a:bodyPr/>
            <a:p>
              <a:endParaRPr lang="zh-CN" altLang="en-US"/>
            </a:p>
          </p:txBody>
        </p:sp>
        <p:sp>
          <p:nvSpPr>
            <p:cNvPr id="125960" name="Rectangle 8"/>
            <p:cNvSpPr/>
            <p:nvPr/>
          </p:nvSpPr>
          <p:spPr>
            <a:xfrm>
              <a:off x="7830" y="8146"/>
              <a:ext cx="976" cy="78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zh-CN" sz="2400" dirty="0">
                  <a:solidFill>
                    <a:srgbClr val="000000"/>
                  </a:solidFill>
                  <a:latin typeface="宋体" panose="02010600030101010101" pitchFamily="2" charset="-122"/>
                </a:rPr>
                <a:t>监护</a:t>
              </a:r>
              <a:endParaRPr lang="zh-CN" altLang="zh-CN" sz="2400" dirty="0">
                <a:solidFill>
                  <a:srgbClr val="000000"/>
                </a:solidFill>
                <a:latin typeface="宋体" panose="02010600030101010101" pitchFamily="2" charset="-122"/>
              </a:endParaRPr>
            </a:p>
          </p:txBody>
        </p:sp>
        <p:sp>
          <p:nvSpPr>
            <p:cNvPr id="125961" name="Rectangle 10"/>
            <p:cNvSpPr/>
            <p:nvPr/>
          </p:nvSpPr>
          <p:spPr>
            <a:xfrm>
              <a:off x="5144" y="8350"/>
              <a:ext cx="81" cy="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sz="1800" dirty="0">
                  <a:solidFill>
                    <a:srgbClr val="000000"/>
                  </a:solidFill>
                  <a:latin typeface="Times New Roman" panose="02020603050405020304" pitchFamily="18" charset="0"/>
                </a:rPr>
                <a:t> </a:t>
              </a:r>
              <a:endParaRPr lang="de-DE" altLang="en-US" sz="2800" dirty="0">
                <a:solidFill>
                  <a:srgbClr val="0033CC"/>
                </a:solidFill>
                <a:latin typeface="宋体" panose="02010600030101010101" pitchFamily="2" charset="-122"/>
              </a:endParaRPr>
            </a:p>
          </p:txBody>
        </p:sp>
        <p:sp>
          <p:nvSpPr>
            <p:cNvPr id="125962" name="Freeform 15"/>
            <p:cNvSpPr/>
            <p:nvPr/>
          </p:nvSpPr>
          <p:spPr>
            <a:xfrm>
              <a:off x="4116" y="6705"/>
              <a:ext cx="1129"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alpha val="100000"/>
              </a:srgbClr>
            </a:solid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63" name="Rectangle 16"/>
            <p:cNvSpPr/>
            <p:nvPr/>
          </p:nvSpPr>
          <p:spPr>
            <a:xfrm>
              <a:off x="4296" y="6650"/>
              <a:ext cx="1049"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dirty="0">
                  <a:solidFill>
                    <a:srgbClr val="000000"/>
                  </a:solidFill>
                  <a:latin typeface="宋体" panose="02010600030101010101" pitchFamily="2" charset="-122"/>
                </a:rPr>
                <a:t>姓名</a:t>
              </a:r>
              <a:endParaRPr lang="de-DE" altLang="en-US" dirty="0">
                <a:solidFill>
                  <a:srgbClr val="0033CC"/>
                </a:solidFill>
                <a:latin typeface="宋体" panose="02010600030101010101" pitchFamily="2" charset="-122"/>
              </a:endParaRPr>
            </a:p>
          </p:txBody>
        </p:sp>
        <p:sp>
          <p:nvSpPr>
            <p:cNvPr id="125964" name="Freeform 18"/>
            <p:cNvSpPr/>
            <p:nvPr/>
          </p:nvSpPr>
          <p:spPr>
            <a:xfrm>
              <a:off x="5319" y="6707"/>
              <a:ext cx="2007"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close/>
                </a:path>
              </a:pathLst>
            </a:custGeom>
            <a:solidFill>
              <a:srgbClr val="FFCCFF">
                <a:alpha val="100000"/>
              </a:srgbClr>
            </a:solidFill>
            <a:ln w="9525">
              <a:noFill/>
            </a:ln>
          </p:spPr>
          <p:txBody>
            <a:bodyPr/>
            <a:p>
              <a:endParaRPr lang="zh-CN" altLang="en-US"/>
            </a:p>
          </p:txBody>
        </p:sp>
        <p:sp>
          <p:nvSpPr>
            <p:cNvPr id="125965" name="Freeform 19"/>
            <p:cNvSpPr/>
            <p:nvPr/>
          </p:nvSpPr>
          <p:spPr>
            <a:xfrm>
              <a:off x="5318" y="6687"/>
              <a:ext cx="2009"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66" name="Rectangle 20"/>
            <p:cNvSpPr/>
            <p:nvPr/>
          </p:nvSpPr>
          <p:spPr>
            <a:xfrm>
              <a:off x="5428" y="6650"/>
              <a:ext cx="1627"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出生年月</a:t>
              </a:r>
              <a:endParaRPr lang="zh-CN" altLang="de-DE" dirty="0">
                <a:solidFill>
                  <a:srgbClr val="0033CC"/>
                </a:solidFill>
                <a:latin typeface="宋体" panose="02010600030101010101" pitchFamily="2" charset="-122"/>
              </a:endParaRPr>
            </a:p>
          </p:txBody>
        </p:sp>
        <p:sp>
          <p:nvSpPr>
            <p:cNvPr id="125967" name="Line 21"/>
            <p:cNvSpPr/>
            <p:nvPr/>
          </p:nvSpPr>
          <p:spPr>
            <a:xfrm>
              <a:off x="3793" y="7487"/>
              <a:ext cx="1000" cy="732"/>
            </a:xfrm>
            <a:prstGeom prst="line">
              <a:avLst/>
            </a:prstGeom>
            <a:ln w="17463" cap="flat" cmpd="sng">
              <a:solidFill>
                <a:srgbClr val="000000"/>
              </a:solidFill>
              <a:prstDash val="solid"/>
              <a:headEnd type="none" w="med" len="med"/>
              <a:tailEnd type="none" w="med" len="med"/>
            </a:ln>
          </p:spPr>
        </p:sp>
        <p:sp>
          <p:nvSpPr>
            <p:cNvPr id="125968" name="Line 22"/>
            <p:cNvSpPr/>
            <p:nvPr/>
          </p:nvSpPr>
          <p:spPr>
            <a:xfrm>
              <a:off x="4573" y="7399"/>
              <a:ext cx="249" cy="773"/>
            </a:xfrm>
            <a:prstGeom prst="line">
              <a:avLst/>
            </a:prstGeom>
            <a:ln w="17463" cap="flat" cmpd="sng">
              <a:solidFill>
                <a:srgbClr val="000000"/>
              </a:solidFill>
              <a:prstDash val="solid"/>
              <a:headEnd type="none" w="med" len="med"/>
              <a:tailEnd type="none" w="med" len="med"/>
            </a:ln>
          </p:spPr>
        </p:sp>
        <p:sp>
          <p:nvSpPr>
            <p:cNvPr id="125969" name="Line 23"/>
            <p:cNvSpPr/>
            <p:nvPr/>
          </p:nvSpPr>
          <p:spPr>
            <a:xfrm flipH="1">
              <a:off x="4822" y="7417"/>
              <a:ext cx="1094" cy="801"/>
            </a:xfrm>
            <a:prstGeom prst="line">
              <a:avLst/>
            </a:prstGeom>
            <a:ln w="17463" cap="flat" cmpd="sng">
              <a:solidFill>
                <a:srgbClr val="000000"/>
              </a:solidFill>
              <a:prstDash val="solid"/>
              <a:headEnd type="none" w="med" len="med"/>
              <a:tailEnd type="none" w="med" len="med"/>
            </a:ln>
          </p:spPr>
        </p:sp>
        <p:sp>
          <p:nvSpPr>
            <p:cNvPr id="125970" name="Line 25"/>
            <p:cNvSpPr/>
            <p:nvPr/>
          </p:nvSpPr>
          <p:spPr>
            <a:xfrm>
              <a:off x="5659" y="8533"/>
              <a:ext cx="1360" cy="116"/>
            </a:xfrm>
            <a:prstGeom prst="line">
              <a:avLst/>
            </a:prstGeom>
            <a:ln w="17463" cap="flat" cmpd="sng">
              <a:solidFill>
                <a:srgbClr val="000000"/>
              </a:solidFill>
              <a:prstDash val="solid"/>
              <a:headEnd type="none" w="med" len="med"/>
              <a:tailEnd type="none" w="med" len="med"/>
            </a:ln>
          </p:spPr>
        </p:sp>
        <p:sp>
          <p:nvSpPr>
            <p:cNvPr id="125971" name="Rectangle 26"/>
            <p:cNvSpPr/>
            <p:nvPr/>
          </p:nvSpPr>
          <p:spPr>
            <a:xfrm>
              <a:off x="3101" y="6809"/>
              <a:ext cx="915" cy="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u="sng" dirty="0">
                  <a:solidFill>
                    <a:srgbClr val="000000"/>
                  </a:solidFill>
                  <a:latin typeface="宋体" panose="02010600030101010101" pitchFamily="2" charset="-122"/>
                </a:rPr>
                <a:t>学号</a:t>
              </a:r>
              <a:endParaRPr lang="de-DE" altLang="en-US" sz="1800" u="sng" dirty="0">
                <a:solidFill>
                  <a:srgbClr val="000000"/>
                </a:solidFill>
                <a:latin typeface="宋体" panose="02010600030101010101" pitchFamily="2" charset="-122"/>
              </a:endParaRPr>
            </a:p>
          </p:txBody>
        </p:sp>
        <p:sp>
          <p:nvSpPr>
            <p:cNvPr id="125972" name="Rectangle 27"/>
            <p:cNvSpPr/>
            <p:nvPr/>
          </p:nvSpPr>
          <p:spPr>
            <a:xfrm>
              <a:off x="4266" y="8219"/>
              <a:ext cx="1676" cy="712"/>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3300"/>
                  </a:solidFill>
                  <a:latin typeface="宋体" panose="02010600030101010101" pitchFamily="2" charset="-122"/>
                </a:rPr>
                <a:t>学生</a:t>
              </a:r>
              <a:endParaRPr lang="zh-CN" altLang="en-US" sz="2400" dirty="0">
                <a:solidFill>
                  <a:srgbClr val="003300"/>
                </a:solidFill>
                <a:latin typeface="宋体" panose="02010600030101010101" pitchFamily="2" charset="-122"/>
              </a:endParaRPr>
            </a:p>
          </p:txBody>
        </p:sp>
        <p:sp>
          <p:nvSpPr>
            <p:cNvPr id="125973" name="Rectangle 28"/>
            <p:cNvSpPr/>
            <p:nvPr/>
          </p:nvSpPr>
          <p:spPr>
            <a:xfrm>
              <a:off x="10650" y="8112"/>
              <a:ext cx="1674" cy="712"/>
            </a:xfrm>
            <a:prstGeom prst="rect">
              <a:avLst/>
            </a:prstGeom>
            <a:solidFill>
              <a:srgbClr val="FFCCFF"/>
            </a:solidFill>
            <a:ln w="50800" cap="flat" cmpd="sng">
              <a:solidFill>
                <a:srgbClr val="CC00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000000"/>
                  </a:solidFill>
                  <a:latin typeface="宋体" panose="02010600030101010101" pitchFamily="2" charset="-122"/>
                </a:rPr>
                <a:t> </a:t>
              </a:r>
              <a:r>
                <a:rPr lang="zh-CN" altLang="en-US" sz="2400" dirty="0">
                  <a:solidFill>
                    <a:srgbClr val="000000"/>
                  </a:solidFill>
                  <a:latin typeface="宋体" panose="02010600030101010101" pitchFamily="2" charset="-122"/>
                </a:rPr>
                <a:t>家长</a:t>
              </a:r>
              <a:endParaRPr lang="zh-CN" altLang="en-US" sz="2400" dirty="0">
                <a:solidFill>
                  <a:srgbClr val="000000"/>
                </a:solidFill>
                <a:latin typeface="宋体" panose="02010600030101010101" pitchFamily="2" charset="-122"/>
              </a:endParaRPr>
            </a:p>
          </p:txBody>
        </p:sp>
        <p:sp>
          <p:nvSpPr>
            <p:cNvPr id="125974" name="Freeform 29"/>
            <p:cNvSpPr/>
            <p:nvPr/>
          </p:nvSpPr>
          <p:spPr>
            <a:xfrm>
              <a:off x="9782" y="6705"/>
              <a:ext cx="139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6"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6"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alpha val="100000"/>
              </a:srgbClr>
            </a:solidFill>
            <a:ln w="9525"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75" name="Rectangle 30"/>
            <p:cNvSpPr/>
            <p:nvPr/>
          </p:nvSpPr>
          <p:spPr>
            <a:xfrm>
              <a:off x="10028" y="6630"/>
              <a:ext cx="1071"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33CC"/>
                  </a:solidFill>
                  <a:latin typeface="宋体" panose="02010600030101010101" pitchFamily="2" charset="-122"/>
                </a:rPr>
                <a:t>称谓</a:t>
              </a:r>
              <a:endParaRPr lang="zh-CN" altLang="en-US" dirty="0">
                <a:solidFill>
                  <a:srgbClr val="0033CC"/>
                </a:solidFill>
                <a:latin typeface="宋体" panose="02010600030101010101" pitchFamily="2" charset="-122"/>
              </a:endParaRPr>
            </a:p>
          </p:txBody>
        </p:sp>
        <p:sp>
          <p:nvSpPr>
            <p:cNvPr id="125976" name="Rectangle 31"/>
            <p:cNvSpPr/>
            <p:nvPr/>
          </p:nvSpPr>
          <p:spPr>
            <a:xfrm>
              <a:off x="10824" y="7057"/>
              <a:ext cx="68" cy="490"/>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sz="1500" dirty="0">
                  <a:solidFill>
                    <a:srgbClr val="000000"/>
                  </a:solidFill>
                  <a:latin typeface="Times New Roman" panose="02020603050405020304" pitchFamily="18" charset="0"/>
                </a:rPr>
                <a:t> </a:t>
              </a:r>
              <a:endParaRPr lang="de-DE" altLang="en-US" sz="2800" dirty="0">
                <a:solidFill>
                  <a:srgbClr val="0033CC"/>
                </a:solidFill>
                <a:latin typeface="宋体" panose="02010600030101010101" pitchFamily="2" charset="-122"/>
              </a:endParaRPr>
            </a:p>
          </p:txBody>
        </p:sp>
        <p:sp>
          <p:nvSpPr>
            <p:cNvPr id="125977" name="Freeform 32"/>
            <p:cNvSpPr/>
            <p:nvPr/>
          </p:nvSpPr>
          <p:spPr>
            <a:xfrm>
              <a:off x="11524" y="6775"/>
              <a:ext cx="139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alpha val="100000"/>
              </a:srgbClr>
            </a:solidFill>
            <a:ln w="9525">
              <a:noFill/>
            </a:ln>
          </p:spPr>
          <p:txBody>
            <a:bodyPr/>
            <a:p>
              <a:endParaRPr lang="zh-CN" altLang="en-US"/>
            </a:p>
          </p:txBody>
        </p:sp>
        <p:sp>
          <p:nvSpPr>
            <p:cNvPr id="125978" name="Freeform 33"/>
            <p:cNvSpPr/>
            <p:nvPr/>
          </p:nvSpPr>
          <p:spPr>
            <a:xfrm>
              <a:off x="11445" y="6747"/>
              <a:ext cx="139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79" name="Rectangle 34"/>
            <p:cNvSpPr/>
            <p:nvPr/>
          </p:nvSpPr>
          <p:spPr>
            <a:xfrm>
              <a:off x="11585" y="6704"/>
              <a:ext cx="1395"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姓名</a:t>
              </a:r>
              <a:endParaRPr lang="zh-CN" altLang="de-DE" dirty="0">
                <a:solidFill>
                  <a:srgbClr val="0033CC"/>
                </a:solidFill>
                <a:latin typeface="宋体" panose="02010600030101010101" pitchFamily="2" charset="-122"/>
              </a:endParaRPr>
            </a:p>
          </p:txBody>
        </p:sp>
        <p:sp>
          <p:nvSpPr>
            <p:cNvPr id="125980" name="Line 35"/>
            <p:cNvSpPr/>
            <p:nvPr/>
          </p:nvSpPr>
          <p:spPr>
            <a:xfrm>
              <a:off x="10408" y="7460"/>
              <a:ext cx="1116" cy="681"/>
            </a:xfrm>
            <a:prstGeom prst="line">
              <a:avLst/>
            </a:prstGeom>
            <a:ln w="17463" cap="flat" cmpd="sng">
              <a:solidFill>
                <a:srgbClr val="000000"/>
              </a:solidFill>
              <a:prstDash val="solid"/>
              <a:headEnd type="none" w="med" len="med"/>
              <a:tailEnd type="none" w="med" len="med"/>
            </a:ln>
          </p:spPr>
        </p:sp>
        <p:sp>
          <p:nvSpPr>
            <p:cNvPr id="125981" name="Line 36"/>
            <p:cNvSpPr/>
            <p:nvPr/>
          </p:nvSpPr>
          <p:spPr>
            <a:xfrm flipH="1">
              <a:off x="11525" y="7399"/>
              <a:ext cx="246" cy="742"/>
            </a:xfrm>
            <a:prstGeom prst="line">
              <a:avLst/>
            </a:prstGeom>
            <a:ln w="17463" cap="flat" cmpd="sng">
              <a:solidFill>
                <a:srgbClr val="000000"/>
              </a:solidFill>
              <a:prstDash val="solid"/>
              <a:headEnd type="none" w="med" len="med"/>
              <a:tailEnd type="none" w="med" len="med"/>
            </a:ln>
          </p:spPr>
        </p:sp>
        <p:sp>
          <p:nvSpPr>
            <p:cNvPr id="125982" name="Line 37"/>
            <p:cNvSpPr/>
            <p:nvPr/>
          </p:nvSpPr>
          <p:spPr>
            <a:xfrm flipV="1">
              <a:off x="9566" y="8540"/>
              <a:ext cx="1048" cy="107"/>
            </a:xfrm>
            <a:prstGeom prst="line">
              <a:avLst/>
            </a:prstGeom>
            <a:ln w="50800" cap="flat" cmpd="sng">
              <a:solidFill>
                <a:srgbClr val="FF0000"/>
              </a:solidFill>
              <a:prstDash val="solid"/>
              <a:headEnd type="triangle" w="med" len="med"/>
              <a:tailEnd type="none" w="med" len="med"/>
            </a:ln>
          </p:spPr>
        </p:sp>
        <p:sp>
          <p:nvSpPr>
            <p:cNvPr id="125983" name="Line 38"/>
            <p:cNvSpPr/>
            <p:nvPr/>
          </p:nvSpPr>
          <p:spPr>
            <a:xfrm>
              <a:off x="10101" y="7244"/>
              <a:ext cx="759" cy="2"/>
            </a:xfrm>
            <a:prstGeom prst="line">
              <a:avLst/>
            </a:prstGeom>
            <a:ln w="38100" cap="flat" cmpd="sng">
              <a:solidFill>
                <a:srgbClr val="000000"/>
              </a:solidFill>
              <a:prstDash val="sysDot"/>
              <a:headEnd type="none" w="med" len="med"/>
              <a:tailEnd type="none" w="med" len="med"/>
            </a:ln>
          </p:spPr>
        </p:sp>
        <p:sp>
          <p:nvSpPr>
            <p:cNvPr id="125984" name="Text Box 39"/>
            <p:cNvSpPr txBox="1"/>
            <p:nvPr/>
          </p:nvSpPr>
          <p:spPr>
            <a:xfrm>
              <a:off x="6421" y="8112"/>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1</a:t>
              </a:r>
              <a:endParaRPr lang="de-DE" altLang="en-US" dirty="0">
                <a:solidFill>
                  <a:srgbClr val="0033CC"/>
                </a:solidFill>
                <a:latin typeface="宋体" panose="02010600030101010101" pitchFamily="2" charset="-122"/>
              </a:endParaRPr>
            </a:p>
          </p:txBody>
        </p:sp>
        <p:sp>
          <p:nvSpPr>
            <p:cNvPr id="125985" name="Text Box 40"/>
            <p:cNvSpPr txBox="1"/>
            <p:nvPr/>
          </p:nvSpPr>
          <p:spPr>
            <a:xfrm>
              <a:off x="9782" y="7829"/>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N</a:t>
              </a:r>
              <a:endParaRPr lang="de-DE" altLang="en-US" dirty="0">
                <a:solidFill>
                  <a:srgbClr val="0033CC"/>
                </a:solidFill>
                <a:latin typeface="宋体" panose="02010600030101010101" pitchFamily="2" charset="-122"/>
              </a:endParaRPr>
            </a:p>
          </p:txBody>
        </p:sp>
        <p:sp>
          <p:nvSpPr>
            <p:cNvPr id="125986" name="Line 23"/>
            <p:cNvSpPr/>
            <p:nvPr/>
          </p:nvSpPr>
          <p:spPr>
            <a:xfrm flipH="1">
              <a:off x="4822" y="7944"/>
              <a:ext cx="1591" cy="283"/>
            </a:xfrm>
            <a:prstGeom prst="line">
              <a:avLst/>
            </a:prstGeom>
            <a:ln w="17463" cap="flat" cmpd="sng">
              <a:solidFill>
                <a:srgbClr val="000000"/>
              </a:solidFill>
              <a:prstDash val="solid"/>
              <a:headEnd type="none" w="med" len="med"/>
              <a:tailEnd type="none" w="med" len="med"/>
            </a:ln>
          </p:spPr>
        </p:sp>
        <p:sp>
          <p:nvSpPr>
            <p:cNvPr id="125987" name="Freeform 32"/>
            <p:cNvSpPr/>
            <p:nvPr/>
          </p:nvSpPr>
          <p:spPr>
            <a:xfrm>
              <a:off x="12303" y="7459"/>
              <a:ext cx="1894" cy="511"/>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close/>
                </a:path>
              </a:pathLst>
            </a:custGeom>
            <a:solidFill>
              <a:srgbClr val="CCFFCC">
                <a:alpha val="100000"/>
              </a:srgbClr>
            </a:solidFill>
            <a:ln w="9525">
              <a:noFill/>
            </a:ln>
          </p:spPr>
          <p:txBody>
            <a:bodyPr/>
            <a:p>
              <a:endParaRPr lang="zh-CN" altLang="en-US"/>
            </a:p>
          </p:txBody>
        </p:sp>
        <p:sp>
          <p:nvSpPr>
            <p:cNvPr id="125988" name="Freeform 33"/>
            <p:cNvSpPr/>
            <p:nvPr/>
          </p:nvSpPr>
          <p:spPr>
            <a:xfrm>
              <a:off x="12324" y="7397"/>
              <a:ext cx="1873"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0"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0"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89" name="Rectangle 34"/>
            <p:cNvSpPr/>
            <p:nvPr/>
          </p:nvSpPr>
          <p:spPr>
            <a:xfrm>
              <a:off x="12325" y="7358"/>
              <a:ext cx="1633"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联系电话</a:t>
              </a:r>
              <a:endParaRPr lang="zh-CN" altLang="de-DE" dirty="0">
                <a:solidFill>
                  <a:srgbClr val="0033CC"/>
                </a:solidFill>
                <a:latin typeface="宋体" panose="02010600030101010101" pitchFamily="2" charset="-122"/>
              </a:endParaRPr>
            </a:p>
          </p:txBody>
        </p:sp>
        <p:sp>
          <p:nvSpPr>
            <p:cNvPr id="125990" name="Line 36"/>
            <p:cNvSpPr/>
            <p:nvPr/>
          </p:nvSpPr>
          <p:spPr>
            <a:xfrm flipH="1">
              <a:off x="11586" y="7753"/>
              <a:ext cx="717" cy="356"/>
            </a:xfrm>
            <a:prstGeom prst="line">
              <a:avLst/>
            </a:prstGeom>
            <a:ln w="17463" cap="flat" cmpd="sng">
              <a:solidFill>
                <a:srgbClr val="000000"/>
              </a:solidFill>
              <a:prstDash val="solid"/>
              <a:headEnd type="none" w="med" len="med"/>
              <a:tailEnd type="none" w="med" len="med"/>
            </a:ln>
          </p:spPr>
        </p:sp>
        <p:sp>
          <p:nvSpPr>
            <p:cNvPr id="125991" name="Rectangle 27"/>
            <p:cNvSpPr/>
            <p:nvPr/>
          </p:nvSpPr>
          <p:spPr>
            <a:xfrm>
              <a:off x="249" y="8238"/>
              <a:ext cx="1676" cy="712"/>
            </a:xfrm>
            <a:prstGeom prst="rect">
              <a:avLst/>
            </a:prstGeom>
            <a:solidFill>
              <a:srgbClr val="28CE0C"/>
            </a:solidFill>
            <a:ln w="19050" cap="flat" cmpd="sng">
              <a:solidFill>
                <a:srgbClr val="99CC00"/>
              </a:solidFill>
              <a:prstDash val="solid"/>
              <a:miter/>
              <a:headEnd type="none" w="med" len="med"/>
              <a:tailEnd type="none" w="med" len="med"/>
            </a:ln>
          </p:spPr>
          <p:txBody>
            <a:bodyPr lIns="0" tIns="0" rIns="0" bIns="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3300"/>
                  </a:solidFill>
                  <a:latin typeface="宋体" panose="02010600030101010101" pitchFamily="2" charset="-122"/>
                </a:rPr>
                <a:t>班级</a:t>
              </a:r>
              <a:endParaRPr lang="zh-CN" altLang="en-US" sz="2400" dirty="0">
                <a:solidFill>
                  <a:srgbClr val="003300"/>
                </a:solidFill>
                <a:latin typeface="宋体" panose="02010600030101010101" pitchFamily="2" charset="-122"/>
              </a:endParaRPr>
            </a:p>
          </p:txBody>
        </p:sp>
        <p:sp>
          <p:nvSpPr>
            <p:cNvPr id="125992" name="Freeform 2"/>
            <p:cNvSpPr/>
            <p:nvPr/>
          </p:nvSpPr>
          <p:spPr>
            <a:xfrm>
              <a:off x="203" y="6383"/>
              <a:ext cx="1185" cy="855"/>
            </a:xfrm>
            <a:custGeom>
              <a:avLst/>
              <a:gdLst>
                <a:gd name="txL" fmla="*/ 0 w 619"/>
                <a:gd name="txT" fmla="*/ 0 h 318"/>
                <a:gd name="txR" fmla="*/ 619 w 619"/>
                <a:gd name="txB" fmla="*/ 318 h 318"/>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9" h="318">
                  <a:moveTo>
                    <a:pt x="308" y="0"/>
                  </a:moveTo>
                  <a:lnTo>
                    <a:pt x="278" y="0"/>
                  </a:lnTo>
                  <a:lnTo>
                    <a:pt x="245" y="3"/>
                  </a:lnTo>
                  <a:lnTo>
                    <a:pt x="218" y="9"/>
                  </a:lnTo>
                  <a:lnTo>
                    <a:pt x="187" y="14"/>
                  </a:lnTo>
                  <a:lnTo>
                    <a:pt x="163" y="20"/>
                  </a:lnTo>
                  <a:lnTo>
                    <a:pt x="135" y="28"/>
                  </a:lnTo>
                  <a:lnTo>
                    <a:pt x="113" y="36"/>
                  </a:lnTo>
                  <a:lnTo>
                    <a:pt x="91" y="47"/>
                  </a:lnTo>
                  <a:lnTo>
                    <a:pt x="72" y="58"/>
                  </a:lnTo>
                  <a:lnTo>
                    <a:pt x="53" y="72"/>
                  </a:lnTo>
                  <a:lnTo>
                    <a:pt x="39" y="83"/>
                  </a:lnTo>
                  <a:lnTo>
                    <a:pt x="25" y="96"/>
                  </a:lnTo>
                  <a:lnTo>
                    <a:pt x="20" y="104"/>
                  </a:lnTo>
                  <a:lnTo>
                    <a:pt x="14" y="113"/>
                  </a:lnTo>
                  <a:lnTo>
                    <a:pt x="11" y="121"/>
                  </a:lnTo>
                  <a:lnTo>
                    <a:pt x="6" y="126"/>
                  </a:lnTo>
                  <a:lnTo>
                    <a:pt x="3" y="135"/>
                  </a:lnTo>
                  <a:lnTo>
                    <a:pt x="3" y="143"/>
                  </a:lnTo>
                  <a:lnTo>
                    <a:pt x="0" y="151"/>
                  </a:lnTo>
                  <a:lnTo>
                    <a:pt x="0" y="159"/>
                  </a:lnTo>
                  <a:lnTo>
                    <a:pt x="0" y="167"/>
                  </a:lnTo>
                  <a:lnTo>
                    <a:pt x="3" y="176"/>
                  </a:lnTo>
                  <a:lnTo>
                    <a:pt x="3" y="184"/>
                  </a:lnTo>
                  <a:lnTo>
                    <a:pt x="6" y="192"/>
                  </a:lnTo>
                  <a:lnTo>
                    <a:pt x="11" y="200"/>
                  </a:lnTo>
                  <a:lnTo>
                    <a:pt x="14" y="206"/>
                  </a:lnTo>
                  <a:lnTo>
                    <a:pt x="20" y="214"/>
                  </a:lnTo>
                  <a:lnTo>
                    <a:pt x="25" y="222"/>
                  </a:lnTo>
                  <a:lnTo>
                    <a:pt x="39" y="236"/>
                  </a:lnTo>
                  <a:lnTo>
                    <a:pt x="53" y="247"/>
                  </a:lnTo>
                  <a:lnTo>
                    <a:pt x="72" y="260"/>
                  </a:lnTo>
                  <a:lnTo>
                    <a:pt x="91" y="271"/>
                  </a:lnTo>
                  <a:lnTo>
                    <a:pt x="113" y="282"/>
                  </a:lnTo>
                  <a:lnTo>
                    <a:pt x="135" y="291"/>
                  </a:lnTo>
                  <a:lnTo>
                    <a:pt x="163" y="299"/>
                  </a:lnTo>
                  <a:lnTo>
                    <a:pt x="187" y="304"/>
                  </a:lnTo>
                  <a:lnTo>
                    <a:pt x="218" y="310"/>
                  </a:lnTo>
                  <a:lnTo>
                    <a:pt x="245" y="315"/>
                  </a:lnTo>
                  <a:lnTo>
                    <a:pt x="278" y="318"/>
                  </a:lnTo>
                  <a:lnTo>
                    <a:pt x="308" y="318"/>
                  </a:lnTo>
                  <a:lnTo>
                    <a:pt x="341" y="318"/>
                  </a:lnTo>
                  <a:lnTo>
                    <a:pt x="371" y="315"/>
                  </a:lnTo>
                  <a:lnTo>
                    <a:pt x="402" y="310"/>
                  </a:lnTo>
                  <a:lnTo>
                    <a:pt x="429" y="304"/>
                  </a:lnTo>
                  <a:lnTo>
                    <a:pt x="457" y="299"/>
                  </a:lnTo>
                  <a:lnTo>
                    <a:pt x="481" y="291"/>
                  </a:lnTo>
                  <a:lnTo>
                    <a:pt x="506" y="282"/>
                  </a:lnTo>
                  <a:lnTo>
                    <a:pt x="528" y="271"/>
                  </a:lnTo>
                  <a:lnTo>
                    <a:pt x="547" y="260"/>
                  </a:lnTo>
                  <a:lnTo>
                    <a:pt x="566" y="247"/>
                  </a:lnTo>
                  <a:lnTo>
                    <a:pt x="583" y="236"/>
                  </a:lnTo>
                  <a:lnTo>
                    <a:pt x="594" y="222"/>
                  </a:lnTo>
                  <a:lnTo>
                    <a:pt x="599" y="214"/>
                  </a:lnTo>
                  <a:lnTo>
                    <a:pt x="605" y="206"/>
                  </a:lnTo>
                  <a:lnTo>
                    <a:pt x="608" y="200"/>
                  </a:lnTo>
                  <a:lnTo>
                    <a:pt x="613" y="192"/>
                  </a:lnTo>
                  <a:lnTo>
                    <a:pt x="616" y="184"/>
                  </a:lnTo>
                  <a:lnTo>
                    <a:pt x="616" y="176"/>
                  </a:lnTo>
                  <a:lnTo>
                    <a:pt x="619" y="167"/>
                  </a:lnTo>
                  <a:lnTo>
                    <a:pt x="619" y="159"/>
                  </a:lnTo>
                  <a:lnTo>
                    <a:pt x="619" y="151"/>
                  </a:lnTo>
                  <a:lnTo>
                    <a:pt x="616" y="143"/>
                  </a:lnTo>
                  <a:lnTo>
                    <a:pt x="616" y="135"/>
                  </a:lnTo>
                  <a:lnTo>
                    <a:pt x="613" y="126"/>
                  </a:lnTo>
                  <a:lnTo>
                    <a:pt x="608" y="121"/>
                  </a:lnTo>
                  <a:lnTo>
                    <a:pt x="605" y="113"/>
                  </a:lnTo>
                  <a:lnTo>
                    <a:pt x="599" y="104"/>
                  </a:lnTo>
                  <a:lnTo>
                    <a:pt x="594" y="96"/>
                  </a:lnTo>
                  <a:lnTo>
                    <a:pt x="583" y="83"/>
                  </a:lnTo>
                  <a:lnTo>
                    <a:pt x="566" y="72"/>
                  </a:lnTo>
                  <a:lnTo>
                    <a:pt x="547" y="58"/>
                  </a:lnTo>
                  <a:lnTo>
                    <a:pt x="528" y="47"/>
                  </a:lnTo>
                  <a:lnTo>
                    <a:pt x="506" y="36"/>
                  </a:lnTo>
                  <a:lnTo>
                    <a:pt x="481" y="28"/>
                  </a:lnTo>
                  <a:lnTo>
                    <a:pt x="457" y="20"/>
                  </a:lnTo>
                  <a:lnTo>
                    <a:pt x="429" y="14"/>
                  </a:lnTo>
                  <a:lnTo>
                    <a:pt x="402" y="9"/>
                  </a:lnTo>
                  <a:lnTo>
                    <a:pt x="371" y="3"/>
                  </a:lnTo>
                  <a:lnTo>
                    <a:pt x="341" y="0"/>
                  </a:lnTo>
                  <a:lnTo>
                    <a:pt x="308" y="0"/>
                  </a:lnTo>
                  <a:close/>
                </a:path>
              </a:pathLst>
            </a:custGeom>
            <a:solidFill>
              <a:srgbClr val="FFCCFF">
                <a:alpha val="100000"/>
              </a:srgbClr>
            </a:solidFill>
            <a:ln w="9525" cap="flat" cmpd="sng">
              <a:solidFill>
                <a:schemeClr val="tx1">
                  <a:alpha val="100000"/>
                </a:schemeClr>
              </a:solidFill>
              <a:prstDash val="solid"/>
              <a:miter lim="800000"/>
              <a:headEnd type="none" w="med" len="med"/>
              <a:tailEnd type="none" w="med" len="med"/>
            </a:ln>
          </p:spPr>
          <p:txBody>
            <a:bodyPr/>
            <a:p>
              <a:endParaRPr lang="zh-CN" altLang="en-US"/>
            </a:p>
          </p:txBody>
        </p:sp>
        <p:sp>
          <p:nvSpPr>
            <p:cNvPr id="125993" name="Rectangle 26"/>
            <p:cNvSpPr/>
            <p:nvPr/>
          </p:nvSpPr>
          <p:spPr>
            <a:xfrm>
              <a:off x="393" y="6469"/>
              <a:ext cx="915" cy="588"/>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u="sng" dirty="0">
                  <a:solidFill>
                    <a:srgbClr val="000000"/>
                  </a:solidFill>
                  <a:latin typeface="宋体" panose="02010600030101010101" pitchFamily="2" charset="-122"/>
                </a:rPr>
                <a:t>班号</a:t>
              </a:r>
              <a:endParaRPr lang="de-DE" altLang="en-US" sz="1800" u="sng" dirty="0">
                <a:solidFill>
                  <a:srgbClr val="000000"/>
                </a:solidFill>
                <a:latin typeface="宋体" panose="02010600030101010101" pitchFamily="2" charset="-122"/>
              </a:endParaRPr>
            </a:p>
          </p:txBody>
        </p:sp>
        <p:sp>
          <p:nvSpPr>
            <p:cNvPr id="125994" name="Freeform 15"/>
            <p:cNvSpPr/>
            <p:nvPr/>
          </p:nvSpPr>
          <p:spPr>
            <a:xfrm>
              <a:off x="1469" y="6537"/>
              <a:ext cx="1316"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8" y="0"/>
                  </a:moveTo>
                  <a:lnTo>
                    <a:pt x="277" y="0"/>
                  </a:lnTo>
                  <a:lnTo>
                    <a:pt x="244" y="2"/>
                  </a:lnTo>
                  <a:lnTo>
                    <a:pt x="217" y="8"/>
                  </a:lnTo>
                  <a:lnTo>
                    <a:pt x="187" y="13"/>
                  </a:lnTo>
                  <a:lnTo>
                    <a:pt x="162" y="19"/>
                  </a:lnTo>
                  <a:lnTo>
                    <a:pt x="135" y="27"/>
                  </a:lnTo>
                  <a:lnTo>
                    <a:pt x="113" y="35"/>
                  </a:lnTo>
                  <a:lnTo>
                    <a:pt x="91" y="46"/>
                  </a:lnTo>
                  <a:lnTo>
                    <a:pt x="71" y="57"/>
                  </a:lnTo>
                  <a:lnTo>
                    <a:pt x="52" y="71"/>
                  </a:lnTo>
                  <a:lnTo>
                    <a:pt x="38" y="85"/>
                  </a:lnTo>
                  <a:lnTo>
                    <a:pt x="25" y="98"/>
                  </a:lnTo>
                  <a:lnTo>
                    <a:pt x="19" y="106"/>
                  </a:lnTo>
                  <a:lnTo>
                    <a:pt x="14" y="112"/>
                  </a:lnTo>
                  <a:lnTo>
                    <a:pt x="11" y="120"/>
                  </a:lnTo>
                  <a:lnTo>
                    <a:pt x="5" y="128"/>
                  </a:lnTo>
                  <a:lnTo>
                    <a:pt x="3" y="137"/>
                  </a:lnTo>
                  <a:lnTo>
                    <a:pt x="3" y="145"/>
                  </a:lnTo>
                  <a:lnTo>
                    <a:pt x="0" y="153"/>
                  </a:lnTo>
                  <a:lnTo>
                    <a:pt x="0" y="161"/>
                  </a:lnTo>
                  <a:lnTo>
                    <a:pt x="0" y="169"/>
                  </a:lnTo>
                  <a:lnTo>
                    <a:pt x="3" y="178"/>
                  </a:lnTo>
                  <a:lnTo>
                    <a:pt x="3" y="186"/>
                  </a:lnTo>
                  <a:lnTo>
                    <a:pt x="5" y="194"/>
                  </a:lnTo>
                  <a:lnTo>
                    <a:pt x="11" y="202"/>
                  </a:lnTo>
                  <a:lnTo>
                    <a:pt x="14" y="208"/>
                  </a:lnTo>
                  <a:lnTo>
                    <a:pt x="19" y="216"/>
                  </a:lnTo>
                  <a:lnTo>
                    <a:pt x="25" y="224"/>
                  </a:lnTo>
                  <a:lnTo>
                    <a:pt x="38" y="238"/>
                  </a:lnTo>
                  <a:lnTo>
                    <a:pt x="52" y="249"/>
                  </a:lnTo>
                  <a:lnTo>
                    <a:pt x="71" y="262"/>
                  </a:lnTo>
                  <a:lnTo>
                    <a:pt x="91" y="273"/>
                  </a:lnTo>
                  <a:lnTo>
                    <a:pt x="113" y="284"/>
                  </a:lnTo>
                  <a:lnTo>
                    <a:pt x="135" y="293"/>
                  </a:lnTo>
                  <a:lnTo>
                    <a:pt x="162" y="301"/>
                  </a:lnTo>
                  <a:lnTo>
                    <a:pt x="187" y="306"/>
                  </a:lnTo>
                  <a:lnTo>
                    <a:pt x="217" y="312"/>
                  </a:lnTo>
                  <a:lnTo>
                    <a:pt x="244" y="317"/>
                  </a:lnTo>
                  <a:lnTo>
                    <a:pt x="277" y="320"/>
                  </a:lnTo>
                  <a:lnTo>
                    <a:pt x="308" y="320"/>
                  </a:lnTo>
                  <a:lnTo>
                    <a:pt x="341" y="320"/>
                  </a:lnTo>
                  <a:lnTo>
                    <a:pt x="371" y="317"/>
                  </a:lnTo>
                  <a:lnTo>
                    <a:pt x="401" y="312"/>
                  </a:lnTo>
                  <a:lnTo>
                    <a:pt x="429" y="306"/>
                  </a:lnTo>
                  <a:lnTo>
                    <a:pt x="456" y="301"/>
                  </a:lnTo>
                  <a:lnTo>
                    <a:pt x="481" y="293"/>
                  </a:lnTo>
                  <a:lnTo>
                    <a:pt x="505" y="284"/>
                  </a:lnTo>
                  <a:lnTo>
                    <a:pt x="527" y="273"/>
                  </a:lnTo>
                  <a:lnTo>
                    <a:pt x="547" y="262"/>
                  </a:lnTo>
                  <a:lnTo>
                    <a:pt x="566" y="249"/>
                  </a:lnTo>
                  <a:lnTo>
                    <a:pt x="582" y="238"/>
                  </a:lnTo>
                  <a:lnTo>
                    <a:pt x="593" y="224"/>
                  </a:lnTo>
                  <a:lnTo>
                    <a:pt x="599" y="216"/>
                  </a:lnTo>
                  <a:lnTo>
                    <a:pt x="604" y="208"/>
                  </a:lnTo>
                  <a:lnTo>
                    <a:pt x="607" y="202"/>
                  </a:lnTo>
                  <a:lnTo>
                    <a:pt x="613" y="194"/>
                  </a:lnTo>
                  <a:lnTo>
                    <a:pt x="615" y="186"/>
                  </a:lnTo>
                  <a:lnTo>
                    <a:pt x="615" y="178"/>
                  </a:lnTo>
                  <a:lnTo>
                    <a:pt x="618" y="169"/>
                  </a:lnTo>
                  <a:lnTo>
                    <a:pt x="618" y="161"/>
                  </a:lnTo>
                  <a:lnTo>
                    <a:pt x="618" y="153"/>
                  </a:lnTo>
                  <a:lnTo>
                    <a:pt x="615" y="145"/>
                  </a:lnTo>
                  <a:lnTo>
                    <a:pt x="615" y="137"/>
                  </a:lnTo>
                  <a:lnTo>
                    <a:pt x="613" y="128"/>
                  </a:lnTo>
                  <a:lnTo>
                    <a:pt x="607" y="120"/>
                  </a:lnTo>
                  <a:lnTo>
                    <a:pt x="604" y="112"/>
                  </a:lnTo>
                  <a:lnTo>
                    <a:pt x="599" y="106"/>
                  </a:lnTo>
                  <a:lnTo>
                    <a:pt x="593" y="98"/>
                  </a:lnTo>
                  <a:lnTo>
                    <a:pt x="582" y="85"/>
                  </a:lnTo>
                  <a:lnTo>
                    <a:pt x="566" y="71"/>
                  </a:lnTo>
                  <a:lnTo>
                    <a:pt x="547" y="57"/>
                  </a:lnTo>
                  <a:lnTo>
                    <a:pt x="527" y="46"/>
                  </a:lnTo>
                  <a:lnTo>
                    <a:pt x="505" y="35"/>
                  </a:lnTo>
                  <a:lnTo>
                    <a:pt x="481" y="27"/>
                  </a:lnTo>
                  <a:lnTo>
                    <a:pt x="456" y="19"/>
                  </a:lnTo>
                  <a:lnTo>
                    <a:pt x="429" y="13"/>
                  </a:lnTo>
                  <a:lnTo>
                    <a:pt x="401" y="8"/>
                  </a:lnTo>
                  <a:lnTo>
                    <a:pt x="371" y="2"/>
                  </a:lnTo>
                  <a:lnTo>
                    <a:pt x="341" y="0"/>
                  </a:lnTo>
                  <a:lnTo>
                    <a:pt x="308" y="0"/>
                  </a:lnTo>
                </a:path>
              </a:pathLst>
            </a:custGeom>
            <a:solidFill>
              <a:srgbClr val="FFCCFF">
                <a:alpha val="100000"/>
              </a:srgbClr>
            </a:solidFill>
            <a:ln w="17463" cap="flat" cmpd="sng">
              <a:solidFill>
                <a:srgbClr val="000000">
                  <a:alpha val="100000"/>
                </a:srgbClr>
              </a:solidFill>
              <a:prstDash val="solid"/>
              <a:miter lim="800000"/>
              <a:headEnd type="none" w="med" len="med"/>
              <a:tailEnd type="none" w="med" len="med"/>
            </a:ln>
          </p:spPr>
          <p:txBody>
            <a:bodyPr/>
            <a:p>
              <a:endParaRPr lang="zh-CN" altLang="en-US"/>
            </a:p>
          </p:txBody>
        </p:sp>
        <p:sp>
          <p:nvSpPr>
            <p:cNvPr id="125995" name="Rectangle 16"/>
            <p:cNvSpPr/>
            <p:nvPr/>
          </p:nvSpPr>
          <p:spPr>
            <a:xfrm>
              <a:off x="1736" y="6410"/>
              <a:ext cx="1049"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de-DE" altLang="en-US" dirty="0">
                  <a:solidFill>
                    <a:srgbClr val="000000"/>
                  </a:solidFill>
                  <a:latin typeface="宋体" panose="02010600030101010101" pitchFamily="2" charset="-122"/>
                </a:rPr>
                <a:t>姓名</a:t>
              </a:r>
              <a:endParaRPr lang="de-DE" altLang="en-US" dirty="0">
                <a:solidFill>
                  <a:srgbClr val="0033CC"/>
                </a:solidFill>
                <a:latin typeface="宋体" panose="02010600030101010101" pitchFamily="2" charset="-122"/>
              </a:endParaRPr>
            </a:p>
          </p:txBody>
        </p:sp>
        <p:sp>
          <p:nvSpPr>
            <p:cNvPr id="14" name="菱形 13"/>
            <p:cNvSpPr/>
            <p:nvPr/>
          </p:nvSpPr>
          <p:spPr>
            <a:xfrm>
              <a:off x="2403" y="8193"/>
              <a:ext cx="1390" cy="827"/>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25997" name="Rectangle 16"/>
            <p:cNvSpPr/>
            <p:nvPr/>
          </p:nvSpPr>
          <p:spPr>
            <a:xfrm>
              <a:off x="2634" y="8224"/>
              <a:ext cx="1049"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组成</a:t>
              </a:r>
              <a:endParaRPr lang="zh-CN" altLang="de-DE" dirty="0">
                <a:solidFill>
                  <a:srgbClr val="0033CC"/>
                </a:solidFill>
                <a:latin typeface="宋体" panose="02010600030101010101" pitchFamily="2" charset="-122"/>
              </a:endParaRPr>
            </a:p>
          </p:txBody>
        </p:sp>
        <p:cxnSp>
          <p:nvCxnSpPr>
            <p:cNvPr id="16" name="直接连接符 15"/>
            <p:cNvCxnSpPr>
              <a:stCxn id="125991" idx="3"/>
              <a:endCxn id="14" idx="1"/>
            </p:cNvCxnSpPr>
            <p:nvPr/>
          </p:nvCxnSpPr>
          <p:spPr>
            <a:xfrm>
              <a:off x="1925" y="8573"/>
              <a:ext cx="477" cy="15"/>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3778" y="8608"/>
              <a:ext cx="477" cy="12"/>
            </a:xfrm>
            <a:prstGeom prst="line">
              <a:avLst/>
            </a:prstGeom>
            <a:ln w="444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26000" name="Text Box 39"/>
            <p:cNvSpPr txBox="1"/>
            <p:nvPr/>
          </p:nvSpPr>
          <p:spPr>
            <a:xfrm>
              <a:off x="2094" y="7940"/>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1</a:t>
              </a:r>
              <a:endParaRPr lang="de-DE" altLang="en-US" dirty="0">
                <a:solidFill>
                  <a:srgbClr val="0033CC"/>
                </a:solidFill>
                <a:latin typeface="宋体" panose="02010600030101010101" pitchFamily="2" charset="-122"/>
              </a:endParaRPr>
            </a:p>
          </p:txBody>
        </p:sp>
        <p:sp>
          <p:nvSpPr>
            <p:cNvPr id="126001" name="Text Box 40"/>
            <p:cNvSpPr txBox="1"/>
            <p:nvPr/>
          </p:nvSpPr>
          <p:spPr>
            <a:xfrm>
              <a:off x="3884" y="7879"/>
              <a:ext cx="542"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en-US" altLang="zh-CN" dirty="0">
                  <a:solidFill>
                    <a:srgbClr val="0033CC"/>
                  </a:solidFill>
                  <a:latin typeface="宋体" panose="02010600030101010101" pitchFamily="2" charset="-122"/>
                </a:rPr>
                <a:t>N</a:t>
              </a:r>
              <a:endParaRPr lang="de-DE" altLang="en-US" dirty="0">
                <a:solidFill>
                  <a:srgbClr val="0033CC"/>
                </a:solidFill>
                <a:latin typeface="宋体" panose="02010600030101010101" pitchFamily="2" charset="-122"/>
              </a:endParaRPr>
            </a:p>
          </p:txBody>
        </p:sp>
        <p:sp>
          <p:nvSpPr>
            <p:cNvPr id="126002" name="Line 23"/>
            <p:cNvSpPr/>
            <p:nvPr/>
          </p:nvSpPr>
          <p:spPr>
            <a:xfrm flipH="1">
              <a:off x="1043" y="7237"/>
              <a:ext cx="1051" cy="982"/>
            </a:xfrm>
            <a:prstGeom prst="line">
              <a:avLst/>
            </a:prstGeom>
            <a:ln w="17463" cap="flat" cmpd="sng">
              <a:solidFill>
                <a:srgbClr val="000000"/>
              </a:solidFill>
              <a:prstDash val="solid"/>
              <a:headEnd type="none" w="med" len="med"/>
              <a:tailEnd type="none" w="med" len="med"/>
            </a:ln>
          </p:spPr>
        </p:sp>
        <p:sp>
          <p:nvSpPr>
            <p:cNvPr id="126003" name="Line 23"/>
            <p:cNvSpPr/>
            <p:nvPr/>
          </p:nvSpPr>
          <p:spPr>
            <a:xfrm>
              <a:off x="597" y="7237"/>
              <a:ext cx="386" cy="1062"/>
            </a:xfrm>
            <a:prstGeom prst="line">
              <a:avLst/>
            </a:prstGeom>
            <a:ln w="17463" cap="flat" cmpd="sng">
              <a:solidFill>
                <a:srgbClr val="000000"/>
              </a:solidFill>
              <a:prstDash val="solid"/>
              <a:headEnd type="none" w="med" len="med"/>
              <a:tailEnd type="none" w="med" len="med"/>
            </a:ln>
          </p:spPr>
        </p:sp>
        <p:sp>
          <p:nvSpPr>
            <p:cNvPr id="126004" name="Rectangle 20"/>
            <p:cNvSpPr/>
            <p:nvPr/>
          </p:nvSpPr>
          <p:spPr>
            <a:xfrm>
              <a:off x="6755" y="7426"/>
              <a:ext cx="867" cy="654"/>
            </a:xfrm>
            <a:prstGeom prst="rect">
              <a:avLst/>
            </a:prstGeom>
            <a:noFill/>
            <a:ln w="9525">
              <a:noFill/>
            </a:ln>
          </p:spPr>
          <p:txBody>
            <a:bodyPr lIns="0" tIns="0" rIns="0" bIns="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de-DE" dirty="0">
                  <a:solidFill>
                    <a:srgbClr val="0033CC"/>
                  </a:solidFill>
                  <a:latin typeface="宋体" panose="02010600030101010101" pitchFamily="2" charset="-122"/>
                </a:rPr>
                <a:t>年龄</a:t>
              </a:r>
              <a:endParaRPr lang="zh-CN" altLang="de-DE" dirty="0">
                <a:solidFill>
                  <a:srgbClr val="0033CC"/>
                </a:solidFill>
                <a:latin typeface="宋体" panose="02010600030101010101" pitchFamily="2" charset="-122"/>
              </a:endParaRPr>
            </a:p>
          </p:txBody>
        </p:sp>
        <p:sp>
          <p:nvSpPr>
            <p:cNvPr id="126005" name="Freeform 19"/>
            <p:cNvSpPr/>
            <p:nvPr/>
          </p:nvSpPr>
          <p:spPr>
            <a:xfrm>
              <a:off x="6413" y="7487"/>
              <a:ext cx="1417" cy="712"/>
            </a:xfrm>
            <a:custGeom>
              <a:avLst/>
              <a:gdLst>
                <a:gd name="txL" fmla="*/ 0 w 618"/>
                <a:gd name="txT" fmla="*/ 0 h 320"/>
                <a:gd name="txR" fmla="*/ 618 w 618"/>
                <a:gd name="txB" fmla="*/ 320 h 320"/>
              </a:gdLst>
              <a:ahLst/>
              <a:cxnLst>
                <a:cxn ang="0">
                  <a:pos x="2147483646" y="0"/>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0" y="2147483646"/>
                </a:cxn>
                <a:cxn ang="0">
                  <a:pos x="0"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2147483646"/>
                </a:cxn>
                <a:cxn ang="0">
                  <a:pos x="2147483646" y="0"/>
                </a:cxn>
              </a:cxnLst>
              <a:rect l="txL" t="txT" r="txR" b="txB"/>
              <a:pathLst>
                <a:path w="618" h="320">
                  <a:moveTo>
                    <a:pt x="307" y="0"/>
                  </a:moveTo>
                  <a:lnTo>
                    <a:pt x="277" y="0"/>
                  </a:lnTo>
                  <a:lnTo>
                    <a:pt x="244" y="2"/>
                  </a:lnTo>
                  <a:lnTo>
                    <a:pt x="217" y="8"/>
                  </a:lnTo>
                  <a:lnTo>
                    <a:pt x="187" y="13"/>
                  </a:lnTo>
                  <a:lnTo>
                    <a:pt x="162" y="19"/>
                  </a:lnTo>
                  <a:lnTo>
                    <a:pt x="134" y="27"/>
                  </a:lnTo>
                  <a:lnTo>
                    <a:pt x="112" y="35"/>
                  </a:lnTo>
                  <a:lnTo>
                    <a:pt x="90" y="46"/>
                  </a:lnTo>
                  <a:lnTo>
                    <a:pt x="71" y="57"/>
                  </a:lnTo>
                  <a:lnTo>
                    <a:pt x="52" y="71"/>
                  </a:lnTo>
                  <a:lnTo>
                    <a:pt x="38" y="85"/>
                  </a:lnTo>
                  <a:lnTo>
                    <a:pt x="24" y="98"/>
                  </a:lnTo>
                  <a:lnTo>
                    <a:pt x="19" y="106"/>
                  </a:lnTo>
                  <a:lnTo>
                    <a:pt x="13" y="112"/>
                  </a:lnTo>
                  <a:lnTo>
                    <a:pt x="11" y="120"/>
                  </a:lnTo>
                  <a:lnTo>
                    <a:pt x="5" y="128"/>
                  </a:lnTo>
                  <a:lnTo>
                    <a:pt x="2" y="137"/>
                  </a:lnTo>
                  <a:lnTo>
                    <a:pt x="2" y="145"/>
                  </a:lnTo>
                  <a:lnTo>
                    <a:pt x="0" y="153"/>
                  </a:lnTo>
                  <a:lnTo>
                    <a:pt x="0" y="161"/>
                  </a:lnTo>
                  <a:lnTo>
                    <a:pt x="0" y="169"/>
                  </a:lnTo>
                  <a:lnTo>
                    <a:pt x="2" y="178"/>
                  </a:lnTo>
                  <a:lnTo>
                    <a:pt x="2" y="186"/>
                  </a:lnTo>
                  <a:lnTo>
                    <a:pt x="5" y="194"/>
                  </a:lnTo>
                  <a:lnTo>
                    <a:pt x="11" y="202"/>
                  </a:lnTo>
                  <a:lnTo>
                    <a:pt x="13" y="208"/>
                  </a:lnTo>
                  <a:lnTo>
                    <a:pt x="19" y="216"/>
                  </a:lnTo>
                  <a:lnTo>
                    <a:pt x="24" y="224"/>
                  </a:lnTo>
                  <a:lnTo>
                    <a:pt x="38" y="238"/>
                  </a:lnTo>
                  <a:lnTo>
                    <a:pt x="52" y="249"/>
                  </a:lnTo>
                  <a:lnTo>
                    <a:pt x="71" y="262"/>
                  </a:lnTo>
                  <a:lnTo>
                    <a:pt x="90" y="273"/>
                  </a:lnTo>
                  <a:lnTo>
                    <a:pt x="112" y="284"/>
                  </a:lnTo>
                  <a:lnTo>
                    <a:pt x="134" y="293"/>
                  </a:lnTo>
                  <a:lnTo>
                    <a:pt x="162" y="301"/>
                  </a:lnTo>
                  <a:lnTo>
                    <a:pt x="187" y="306"/>
                  </a:lnTo>
                  <a:lnTo>
                    <a:pt x="217" y="312"/>
                  </a:lnTo>
                  <a:lnTo>
                    <a:pt x="244" y="317"/>
                  </a:lnTo>
                  <a:lnTo>
                    <a:pt x="277" y="320"/>
                  </a:lnTo>
                  <a:lnTo>
                    <a:pt x="307" y="320"/>
                  </a:lnTo>
                  <a:lnTo>
                    <a:pt x="340" y="320"/>
                  </a:lnTo>
                  <a:lnTo>
                    <a:pt x="371" y="317"/>
                  </a:lnTo>
                  <a:lnTo>
                    <a:pt x="401" y="312"/>
                  </a:lnTo>
                  <a:lnTo>
                    <a:pt x="428" y="306"/>
                  </a:lnTo>
                  <a:lnTo>
                    <a:pt x="456" y="301"/>
                  </a:lnTo>
                  <a:lnTo>
                    <a:pt x="481" y="293"/>
                  </a:lnTo>
                  <a:lnTo>
                    <a:pt x="505" y="284"/>
                  </a:lnTo>
                  <a:lnTo>
                    <a:pt x="527" y="273"/>
                  </a:lnTo>
                  <a:lnTo>
                    <a:pt x="546" y="262"/>
                  </a:lnTo>
                  <a:lnTo>
                    <a:pt x="566" y="249"/>
                  </a:lnTo>
                  <a:lnTo>
                    <a:pt x="582" y="238"/>
                  </a:lnTo>
                  <a:lnTo>
                    <a:pt x="593" y="224"/>
                  </a:lnTo>
                  <a:lnTo>
                    <a:pt x="599" y="216"/>
                  </a:lnTo>
                  <a:lnTo>
                    <a:pt x="604" y="208"/>
                  </a:lnTo>
                  <a:lnTo>
                    <a:pt x="607" y="202"/>
                  </a:lnTo>
                  <a:lnTo>
                    <a:pt x="612" y="194"/>
                  </a:lnTo>
                  <a:lnTo>
                    <a:pt x="615" y="186"/>
                  </a:lnTo>
                  <a:lnTo>
                    <a:pt x="615" y="178"/>
                  </a:lnTo>
                  <a:lnTo>
                    <a:pt x="618" y="169"/>
                  </a:lnTo>
                  <a:lnTo>
                    <a:pt x="618" y="161"/>
                  </a:lnTo>
                  <a:lnTo>
                    <a:pt x="618" y="153"/>
                  </a:lnTo>
                  <a:lnTo>
                    <a:pt x="615" y="145"/>
                  </a:lnTo>
                  <a:lnTo>
                    <a:pt x="615" y="137"/>
                  </a:lnTo>
                  <a:lnTo>
                    <a:pt x="612" y="128"/>
                  </a:lnTo>
                  <a:lnTo>
                    <a:pt x="607" y="120"/>
                  </a:lnTo>
                  <a:lnTo>
                    <a:pt x="604" y="112"/>
                  </a:lnTo>
                  <a:lnTo>
                    <a:pt x="599" y="106"/>
                  </a:lnTo>
                  <a:lnTo>
                    <a:pt x="593" y="98"/>
                  </a:lnTo>
                  <a:lnTo>
                    <a:pt x="582" y="85"/>
                  </a:lnTo>
                  <a:lnTo>
                    <a:pt x="566" y="71"/>
                  </a:lnTo>
                  <a:lnTo>
                    <a:pt x="546" y="57"/>
                  </a:lnTo>
                  <a:lnTo>
                    <a:pt x="527" y="46"/>
                  </a:lnTo>
                  <a:lnTo>
                    <a:pt x="505" y="35"/>
                  </a:lnTo>
                  <a:lnTo>
                    <a:pt x="481" y="27"/>
                  </a:lnTo>
                  <a:lnTo>
                    <a:pt x="456" y="19"/>
                  </a:lnTo>
                  <a:lnTo>
                    <a:pt x="428" y="13"/>
                  </a:lnTo>
                  <a:lnTo>
                    <a:pt x="401" y="8"/>
                  </a:lnTo>
                  <a:lnTo>
                    <a:pt x="371" y="2"/>
                  </a:lnTo>
                  <a:lnTo>
                    <a:pt x="340" y="0"/>
                  </a:lnTo>
                  <a:lnTo>
                    <a:pt x="307" y="0"/>
                  </a:lnTo>
                </a:path>
              </a:pathLst>
            </a:custGeom>
            <a:noFill/>
            <a:ln w="17463" cap="flat" cmpd="sng">
              <a:solidFill>
                <a:srgbClr val="000000">
                  <a:alpha val="100000"/>
                </a:srgbClr>
              </a:solidFill>
              <a:prstDash val="dash"/>
              <a:miter lim="800000"/>
              <a:headEnd type="none" w="med" len="med"/>
              <a:tailEnd type="none" w="med" len="med"/>
            </a:ln>
          </p:spPr>
          <p:txBody>
            <a:bodyPr/>
            <a:p>
              <a:endParaRPr lang="zh-CN" altLang="en-US"/>
            </a:p>
          </p:txBody>
        </p:sp>
      </p:grpSp>
      <p:sp>
        <p:nvSpPr>
          <p:cNvPr id="125955" name="文本框 21"/>
          <p:cNvSpPr txBox="1"/>
          <p:nvPr/>
        </p:nvSpPr>
        <p:spPr>
          <a:xfrm>
            <a:off x="461963" y="985838"/>
            <a:ext cx="84010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5</a:t>
            </a:r>
            <a:r>
              <a:rPr lang="zh-CN" altLang="en-US" sz="2200" dirty="0"/>
              <a:t>、将下列学生监护人管理的</a:t>
            </a:r>
            <a:r>
              <a:rPr lang="en-US" altLang="zh-CN" sz="2200" dirty="0"/>
              <a:t>ER</a:t>
            </a:r>
            <a:r>
              <a:rPr lang="zh-CN" altLang="en-US" sz="2200" dirty="0"/>
              <a:t>图转换为关系模式。并写出创建关系的</a:t>
            </a:r>
            <a:r>
              <a:rPr lang="en-US" altLang="zh-CN" sz="2200" dirty="0"/>
              <a:t>DDL</a:t>
            </a:r>
            <a:r>
              <a:rPr lang="zh-CN" altLang="en-US" sz="2200" dirty="0"/>
              <a:t>语句。</a:t>
            </a:r>
            <a:endParaRPr lang="zh-CN" altLang="en-US" sz="2200" dirty="0"/>
          </a:p>
        </p:txBody>
      </p:sp>
      <p:sp>
        <p:nvSpPr>
          <p:cNvPr id="125956"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26979" name="文本框 1"/>
          <p:cNvSpPr txBox="1"/>
          <p:nvPr/>
        </p:nvSpPr>
        <p:spPr>
          <a:xfrm>
            <a:off x="484188" y="1482725"/>
            <a:ext cx="5389562" cy="4302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）写出关系模式，并标明主键和外键；</a:t>
            </a:r>
            <a:endParaRPr lang="zh-CN" altLang="en-US" sz="2200" dirty="0"/>
          </a:p>
        </p:txBody>
      </p:sp>
      <p:sp>
        <p:nvSpPr>
          <p:cNvPr id="3" name="文本框 2"/>
          <p:cNvSpPr txBox="1"/>
          <p:nvPr/>
        </p:nvSpPr>
        <p:spPr>
          <a:xfrm>
            <a:off x="777875" y="2376488"/>
            <a:ext cx="8074025" cy="1198562"/>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班级</a:t>
            </a:r>
            <a:r>
              <a:rPr lang="en-US" altLang="zh-CN" dirty="0">
                <a:sym typeface="+mn-ea"/>
              </a:rPr>
              <a:t>(</a:t>
            </a:r>
            <a:r>
              <a:rPr lang="zh-CN" altLang="en-US" u="sng" dirty="0">
                <a:solidFill>
                  <a:srgbClr val="FF0000"/>
                </a:solidFill>
                <a:sym typeface="+mn-ea"/>
              </a:rPr>
              <a:t>班号</a:t>
            </a:r>
            <a:r>
              <a:rPr lang="en-US" altLang="zh-CN" u="sng" dirty="0">
                <a:solidFill>
                  <a:srgbClr val="FF0000"/>
                </a:solidFill>
                <a:sym typeface="+mn-ea"/>
              </a:rPr>
              <a:t>,</a:t>
            </a:r>
            <a:r>
              <a:rPr lang="zh-CN" altLang="en-US" dirty="0">
                <a:sym typeface="+mn-ea"/>
              </a:rPr>
              <a:t>班名</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学生</a:t>
            </a:r>
            <a:r>
              <a:rPr lang="en-US" altLang="zh-CN" dirty="0">
                <a:sym typeface="+mn-ea"/>
              </a:rPr>
              <a:t>(</a:t>
            </a:r>
            <a:r>
              <a:rPr lang="zh-CN" altLang="en-US" u="sng" dirty="0">
                <a:solidFill>
                  <a:srgbClr val="FF0000"/>
                </a:solidFill>
                <a:sym typeface="+mn-ea"/>
              </a:rPr>
              <a:t>学号</a:t>
            </a:r>
            <a:r>
              <a:rPr lang="en-US" altLang="zh-CN" dirty="0">
                <a:sym typeface="+mn-ea"/>
              </a:rPr>
              <a:t>,</a:t>
            </a:r>
            <a:r>
              <a:rPr lang="zh-CN" altLang="en-US" dirty="0">
                <a:sym typeface="+mn-ea"/>
              </a:rPr>
              <a:t>姓名</a:t>
            </a:r>
            <a:r>
              <a:rPr lang="en-US" altLang="zh-CN" dirty="0">
                <a:sym typeface="+mn-ea"/>
              </a:rPr>
              <a:t>,</a:t>
            </a:r>
            <a:r>
              <a:rPr lang="zh-CN" altLang="en-US" dirty="0">
                <a:sym typeface="+mn-ea"/>
              </a:rPr>
              <a:t>出生年月</a:t>
            </a:r>
            <a:r>
              <a:rPr lang="en-US" altLang="zh-CN" dirty="0">
                <a:sym typeface="+mn-ea"/>
              </a:rPr>
              <a:t>,</a:t>
            </a:r>
            <a:r>
              <a:rPr lang="zh-CN" altLang="en-US" dirty="0">
                <a:sym typeface="+mn-ea"/>
              </a:rPr>
              <a:t>年龄</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家长</a:t>
            </a:r>
            <a:r>
              <a:rPr lang="en-US" altLang="zh-CN" dirty="0">
                <a:sym typeface="+mn-ea"/>
              </a:rPr>
              <a:t>(</a:t>
            </a:r>
            <a:r>
              <a:rPr lang="zh-CN" altLang="en-US" dirty="0">
                <a:solidFill>
                  <a:srgbClr val="FF0000"/>
                </a:solidFill>
                <a:sym typeface="+mn-ea"/>
              </a:rPr>
              <a:t>称谓</a:t>
            </a:r>
            <a:r>
              <a:rPr lang="en-US" altLang="zh-CN" dirty="0">
                <a:sym typeface="+mn-ea"/>
              </a:rPr>
              <a:t>,</a:t>
            </a:r>
            <a:r>
              <a:rPr lang="zh-CN" altLang="en-US" dirty="0">
                <a:sym typeface="+mn-ea"/>
              </a:rPr>
              <a:t>姓名</a:t>
            </a:r>
            <a:r>
              <a:rPr lang="en-US" altLang="zh-CN" dirty="0">
                <a:sym typeface="+mn-ea"/>
              </a:rPr>
              <a:t>,</a:t>
            </a:r>
            <a:r>
              <a:rPr lang="zh-CN" altLang="en-US" dirty="0">
                <a:sym typeface="+mn-ea"/>
              </a:rPr>
              <a:t>联系电话</a:t>
            </a:r>
            <a:r>
              <a:rPr lang="en-US" altLang="zh-CN" dirty="0">
                <a:sym typeface="+mn-ea"/>
              </a:rPr>
              <a:t>)</a:t>
            </a:r>
            <a:r>
              <a:rPr lang="zh-CN" altLang="en-US" dirty="0">
                <a:sym typeface="+mn-ea"/>
              </a:rPr>
              <a:t>称谓为部分键</a:t>
            </a:r>
            <a:endParaRPr lang="zh-CN" altLang="en-US" dirty="0">
              <a:sym typeface="+mn-ea"/>
            </a:endParaRPr>
          </a:p>
        </p:txBody>
      </p:sp>
      <p:sp>
        <p:nvSpPr>
          <p:cNvPr id="4" name="文本框 3"/>
          <p:cNvSpPr txBox="1"/>
          <p:nvPr/>
        </p:nvSpPr>
        <p:spPr>
          <a:xfrm>
            <a:off x="719138" y="1827213"/>
            <a:ext cx="236696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1</a:t>
            </a:r>
            <a:r>
              <a:rPr lang="zh-CN" altLang="en-US" dirty="0">
                <a:solidFill>
                  <a:srgbClr val="FF0000"/>
                </a:solidFill>
              </a:rPr>
              <a:t>步，实体的转换</a:t>
            </a:r>
            <a:endParaRPr lang="zh-CN" altLang="en-US" dirty="0">
              <a:solidFill>
                <a:srgbClr val="FF0000"/>
              </a:solidFill>
            </a:endParaRPr>
          </a:p>
        </p:txBody>
      </p:sp>
      <p:sp>
        <p:nvSpPr>
          <p:cNvPr id="5" name="文本框 4"/>
          <p:cNvSpPr txBox="1"/>
          <p:nvPr/>
        </p:nvSpPr>
        <p:spPr>
          <a:xfrm>
            <a:off x="777875" y="3575050"/>
            <a:ext cx="2365375"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2</a:t>
            </a:r>
            <a:r>
              <a:rPr lang="zh-CN" altLang="en-US" dirty="0">
                <a:solidFill>
                  <a:srgbClr val="FF0000"/>
                </a:solidFill>
              </a:rPr>
              <a:t>步，联系的转换</a:t>
            </a:r>
            <a:endParaRPr lang="zh-CN" altLang="en-US" dirty="0">
              <a:solidFill>
                <a:srgbClr val="FF0000"/>
              </a:solidFill>
            </a:endParaRPr>
          </a:p>
        </p:txBody>
      </p:sp>
      <p:sp>
        <p:nvSpPr>
          <p:cNvPr id="6" name="文本框 5"/>
          <p:cNvSpPr txBox="1"/>
          <p:nvPr/>
        </p:nvSpPr>
        <p:spPr>
          <a:xfrm>
            <a:off x="719138" y="4064000"/>
            <a:ext cx="8075612" cy="1198563"/>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班级</a:t>
            </a:r>
            <a:r>
              <a:rPr lang="en-US" altLang="zh-CN" dirty="0">
                <a:sym typeface="+mn-ea"/>
              </a:rPr>
              <a:t>(</a:t>
            </a:r>
            <a:r>
              <a:rPr lang="zh-CN" altLang="en-US" u="sng" dirty="0">
                <a:solidFill>
                  <a:srgbClr val="FF0000"/>
                </a:solidFill>
                <a:sym typeface="+mn-ea"/>
              </a:rPr>
              <a:t>班号</a:t>
            </a:r>
            <a:r>
              <a:rPr lang="en-US" altLang="zh-CN" u="sng" dirty="0">
                <a:solidFill>
                  <a:srgbClr val="FF0000"/>
                </a:solidFill>
                <a:sym typeface="+mn-ea"/>
              </a:rPr>
              <a:t>,</a:t>
            </a:r>
            <a:r>
              <a:rPr lang="zh-CN" altLang="en-US" dirty="0">
                <a:sym typeface="+mn-ea"/>
              </a:rPr>
              <a:t>班名</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学生</a:t>
            </a:r>
            <a:r>
              <a:rPr lang="en-US" altLang="zh-CN" dirty="0">
                <a:sym typeface="+mn-ea"/>
              </a:rPr>
              <a:t>(</a:t>
            </a:r>
            <a:r>
              <a:rPr lang="zh-CN" altLang="en-US" u="sng" dirty="0">
                <a:solidFill>
                  <a:srgbClr val="FF0000"/>
                </a:solidFill>
                <a:sym typeface="+mn-ea"/>
              </a:rPr>
              <a:t>学号</a:t>
            </a:r>
            <a:r>
              <a:rPr lang="en-US" altLang="zh-CN" dirty="0">
                <a:sym typeface="+mn-ea"/>
              </a:rPr>
              <a:t>,</a:t>
            </a:r>
            <a:r>
              <a:rPr lang="zh-CN" altLang="en-US" dirty="0">
                <a:sym typeface="+mn-ea"/>
              </a:rPr>
              <a:t>姓名</a:t>
            </a:r>
            <a:r>
              <a:rPr lang="en-US" altLang="zh-CN" dirty="0">
                <a:sym typeface="+mn-ea"/>
              </a:rPr>
              <a:t>,</a:t>
            </a:r>
            <a:r>
              <a:rPr lang="zh-CN" altLang="en-US" dirty="0">
                <a:sym typeface="+mn-ea"/>
              </a:rPr>
              <a:t>出生年月</a:t>
            </a:r>
            <a:r>
              <a:rPr lang="en-US" altLang="zh-CN" dirty="0">
                <a:sym typeface="+mn-ea"/>
              </a:rPr>
              <a:t>,</a:t>
            </a:r>
            <a:r>
              <a:rPr lang="zh-CN" altLang="en-US" dirty="0">
                <a:sym typeface="+mn-ea"/>
              </a:rPr>
              <a:t>年龄</a:t>
            </a:r>
            <a:r>
              <a:rPr lang="en-US" altLang="zh-CN" dirty="0">
                <a:sym typeface="+mn-ea"/>
              </a:rPr>
              <a:t>,</a:t>
            </a:r>
            <a:r>
              <a:rPr lang="zh-CN" altLang="en-US" dirty="0">
                <a:solidFill>
                  <a:srgbClr val="0033CC"/>
                </a:solidFill>
                <a:sym typeface="+mn-ea"/>
              </a:rPr>
              <a:t>班号</a:t>
            </a:r>
            <a:r>
              <a:rPr lang="en-US" altLang="zh-CN" dirty="0">
                <a:sym typeface="+mn-ea"/>
              </a:rPr>
              <a:t>)</a:t>
            </a:r>
            <a:r>
              <a:rPr lang="zh-CN" altLang="en-US" i="1" dirty="0">
                <a:solidFill>
                  <a:srgbClr val="0033CC"/>
                </a:solidFill>
                <a:sym typeface="+mn-ea"/>
              </a:rPr>
              <a:t>班号为外键</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家长</a:t>
            </a:r>
            <a:r>
              <a:rPr lang="en-US" altLang="zh-CN" dirty="0">
                <a:sym typeface="+mn-ea"/>
              </a:rPr>
              <a:t>(</a:t>
            </a:r>
            <a:r>
              <a:rPr lang="zh-CN" altLang="en-US" u="sng" dirty="0">
                <a:solidFill>
                  <a:srgbClr val="FF0000"/>
                </a:solidFill>
                <a:sym typeface="+mn-ea"/>
              </a:rPr>
              <a:t>称谓</a:t>
            </a:r>
            <a:r>
              <a:rPr lang="en-US" altLang="zh-CN" dirty="0">
                <a:sym typeface="+mn-ea"/>
              </a:rPr>
              <a:t>,</a:t>
            </a:r>
            <a:r>
              <a:rPr lang="zh-CN" altLang="en-US" dirty="0">
                <a:sym typeface="+mn-ea"/>
              </a:rPr>
              <a:t>姓名</a:t>
            </a:r>
            <a:r>
              <a:rPr lang="en-US" altLang="zh-CN" dirty="0">
                <a:sym typeface="+mn-ea"/>
              </a:rPr>
              <a:t>,</a:t>
            </a:r>
            <a:r>
              <a:rPr lang="zh-CN" altLang="en-US" dirty="0">
                <a:sym typeface="+mn-ea"/>
              </a:rPr>
              <a:t>联系电话</a:t>
            </a:r>
            <a:r>
              <a:rPr lang="en-US" altLang="zh-CN" dirty="0">
                <a:sym typeface="+mn-ea"/>
              </a:rPr>
              <a:t>,</a:t>
            </a:r>
            <a:r>
              <a:rPr lang="zh-CN" altLang="en-US" u="sng" dirty="0">
                <a:solidFill>
                  <a:srgbClr val="0033CC"/>
                </a:solidFill>
                <a:sym typeface="+mn-ea"/>
              </a:rPr>
              <a:t>学号</a:t>
            </a:r>
            <a:r>
              <a:rPr lang="en-US" altLang="zh-CN" dirty="0">
                <a:sym typeface="+mn-ea"/>
              </a:rPr>
              <a:t>)</a:t>
            </a:r>
            <a:r>
              <a:rPr lang="zh-CN" altLang="en-US" i="1" dirty="0">
                <a:solidFill>
                  <a:srgbClr val="0033CC"/>
                </a:solidFill>
                <a:sym typeface="+mn-ea"/>
              </a:rPr>
              <a:t>学号为外键</a:t>
            </a:r>
            <a:endParaRPr lang="zh-CN" altLang="en-US" i="1" dirty="0">
              <a:solidFill>
                <a:srgbClr val="0033CC"/>
              </a:solidFill>
              <a:sym typeface="+mn-ea"/>
            </a:endParaRPr>
          </a:p>
        </p:txBody>
      </p:sp>
      <p:sp>
        <p:nvSpPr>
          <p:cNvPr id="53" name="矩形 52"/>
          <p:cNvSpPr/>
          <p:nvPr/>
        </p:nvSpPr>
        <p:spPr>
          <a:xfrm>
            <a:off x="4159250" y="4524375"/>
            <a:ext cx="609600" cy="276225"/>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7" name="矩形 6"/>
          <p:cNvSpPr/>
          <p:nvPr/>
        </p:nvSpPr>
        <p:spPr>
          <a:xfrm>
            <a:off x="3549650" y="4873625"/>
            <a:ext cx="609600"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26986"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 calcmode="lin" valueType="num">
                                      <p:cBhvr additive="base">
                                        <p:cTn id="27" dur="500" fill="hold"/>
                                        <p:tgtEl>
                                          <p:spTgt spid="53"/>
                                        </p:tgtEl>
                                        <p:attrNameLst>
                                          <p:attrName>ppt_x</p:attrName>
                                        </p:attrNameLst>
                                      </p:cBhvr>
                                      <p:tavLst>
                                        <p:tav tm="0">
                                          <p:val>
                                            <p:strVal val="#ppt_x"/>
                                          </p:val>
                                        </p:tav>
                                        <p:tav tm="100000">
                                          <p:val>
                                            <p:strVal val="#ppt_x"/>
                                          </p:val>
                                        </p:tav>
                                      </p:tavLst>
                                    </p:anim>
                                    <p:anim calcmode="lin" valueType="num">
                                      <p:cBhvr additive="base">
                                        <p:cTn id="28"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additive="base">
                                        <p:cTn id="33" dur="500" fill="hold"/>
                                        <p:tgtEl>
                                          <p:spTgt spid="7"/>
                                        </p:tgtEl>
                                        <p:attrNameLst>
                                          <p:attrName>ppt_x</p:attrName>
                                        </p:attrNameLst>
                                      </p:cBhvr>
                                      <p:tavLst>
                                        <p:tav tm="0">
                                          <p:val>
                                            <p:strVal val="#ppt_x"/>
                                          </p:val>
                                        </p:tav>
                                        <p:tav tm="100000">
                                          <p:val>
                                            <p:strVal val="#ppt_x"/>
                                          </p:val>
                                        </p:tav>
                                      </p:tavLst>
                                    </p:anim>
                                    <p:anim calcmode="lin" valueType="num">
                                      <p:cBhvr additive="base">
                                        <p:cTn id="3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6" grpId="0" bldLvl="0" animBg="1"/>
      <p:bldP spid="53" grpId="0" bldLvl="0" animBg="1"/>
      <p:bldP spid="7" grpId="0" bldLvl="0" animBg="1"/>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文本框 1"/>
          <p:cNvSpPr txBox="1"/>
          <p:nvPr/>
        </p:nvSpPr>
        <p:spPr>
          <a:xfrm>
            <a:off x="3260725" y="955675"/>
            <a:ext cx="4659313" cy="4127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t>（</a:t>
            </a:r>
            <a:r>
              <a:rPr lang="en-US" altLang="zh-CN" sz="2100" dirty="0"/>
              <a:t>2</a:t>
            </a:r>
            <a:r>
              <a:rPr lang="zh-CN" altLang="en-US" sz="2100" dirty="0"/>
              <a:t>）</a:t>
            </a:r>
            <a:r>
              <a:rPr lang="zh-CN" altLang="en-US" sz="2100" dirty="0">
                <a:sym typeface="+mn-ea"/>
              </a:rPr>
              <a:t>写出创建关系的</a:t>
            </a:r>
            <a:r>
              <a:rPr lang="en-US" altLang="zh-CN" sz="2100" dirty="0">
                <a:sym typeface="+mn-ea"/>
              </a:rPr>
              <a:t>DDL</a:t>
            </a:r>
            <a:r>
              <a:rPr lang="zh-CN" altLang="en-US" sz="2100" dirty="0">
                <a:sym typeface="+mn-ea"/>
              </a:rPr>
              <a:t>语句。</a:t>
            </a:r>
            <a:endParaRPr lang="zh-CN" altLang="en-US" sz="2100" dirty="0"/>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5122" name="Rectangle 3"/>
          <p:cNvSpPr txBox="1"/>
          <p:nvPr/>
        </p:nvSpPr>
        <p:spPr>
          <a:xfrm>
            <a:off x="692150" y="1400175"/>
            <a:ext cx="8251825" cy="1036638"/>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sz="1900" dirty="0"/>
              <a:t>CREATE  TABLE 班级</a:t>
            </a:r>
            <a:endParaRPr lang="zh-CN" altLang="en-US" sz="1900" dirty="0"/>
          </a:p>
          <a:p>
            <a:pPr marL="533400" lvl="0" indent="-533400" eaLnBrk="1" hangingPunct="1">
              <a:spcBef>
                <a:spcPts val="25"/>
              </a:spcBef>
              <a:buNone/>
            </a:pPr>
            <a:r>
              <a:rPr lang="zh-CN" altLang="en-US" sz="1900" dirty="0"/>
              <a:t> ( </a:t>
            </a:r>
            <a:r>
              <a:rPr lang="en-US" altLang="zh-CN" sz="1900" dirty="0"/>
              <a:t>C</a:t>
            </a:r>
            <a:r>
              <a:rPr lang="zh-CN" altLang="en-US" sz="1900" dirty="0"/>
              <a:t>No Char(8) </a:t>
            </a:r>
            <a:r>
              <a:rPr lang="zh-CN" altLang="en-US" sz="1900" dirty="0">
                <a:solidFill>
                  <a:srgbClr val="FF0000"/>
                </a:solidFill>
              </a:rPr>
              <a:t>primary key</a:t>
            </a:r>
            <a:r>
              <a:rPr lang="zh-CN" altLang="en-US" sz="1900" dirty="0"/>
              <a:t>,</a:t>
            </a:r>
            <a:endParaRPr lang="zh-CN" altLang="en-US" sz="1900" dirty="0"/>
          </a:p>
          <a:p>
            <a:pPr marL="533400" lvl="0" indent="-533400" eaLnBrk="1" hangingPunct="1">
              <a:spcBef>
                <a:spcPts val="25"/>
              </a:spcBef>
              <a:buNone/>
            </a:pPr>
            <a:r>
              <a:rPr lang="zh-CN" altLang="en-US" sz="1900" dirty="0"/>
              <a:t>   </a:t>
            </a:r>
            <a:r>
              <a:rPr lang="en-US" altLang="zh-CN" sz="1900" dirty="0"/>
              <a:t>C</a:t>
            </a:r>
            <a:r>
              <a:rPr lang="zh-CN" altLang="en-US" sz="1900" dirty="0"/>
              <a:t>Name varchar(20) NOT NULL  )</a:t>
            </a:r>
            <a:endParaRPr lang="zh-CN" altLang="en-US" sz="1900" dirty="0"/>
          </a:p>
        </p:txBody>
      </p:sp>
      <p:sp>
        <p:nvSpPr>
          <p:cNvPr id="7171" name="Rectangle 3"/>
          <p:cNvSpPr txBox="1"/>
          <p:nvPr/>
        </p:nvSpPr>
        <p:spPr>
          <a:xfrm>
            <a:off x="692150" y="4478338"/>
            <a:ext cx="8213725" cy="1814512"/>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05000"/>
              </a:lnSpc>
              <a:spcBef>
                <a:spcPct val="0"/>
              </a:spcBef>
              <a:buNone/>
            </a:pPr>
            <a:r>
              <a:rPr lang="zh-CN" altLang="en-US" sz="1800" dirty="0"/>
              <a:t> CREATE  TABLE  监护人</a:t>
            </a:r>
            <a:endParaRPr lang="zh-CN" altLang="en-US" sz="1800" dirty="0"/>
          </a:p>
          <a:p>
            <a:pPr marL="533400" lvl="0" indent="-533400" eaLnBrk="1" hangingPunct="1">
              <a:lnSpc>
                <a:spcPct val="105000"/>
              </a:lnSpc>
              <a:spcBef>
                <a:spcPct val="0"/>
              </a:spcBef>
              <a:buNone/>
            </a:pPr>
            <a:r>
              <a:rPr lang="zh-CN" altLang="en-US" sz="1800" dirty="0"/>
              <a:t>(   </a:t>
            </a:r>
            <a:r>
              <a:rPr lang="en-US" altLang="zh-CN" sz="1800" dirty="0">
                <a:sym typeface="+mn-ea"/>
              </a:rPr>
              <a:t>S</a:t>
            </a:r>
            <a:r>
              <a:rPr lang="zh-CN" altLang="en-US" sz="1800" dirty="0">
                <a:sym typeface="+mn-ea"/>
              </a:rPr>
              <a:t>No Char(</a:t>
            </a:r>
            <a:r>
              <a:rPr lang="en-US" altLang="zh-CN" sz="1800" dirty="0">
                <a:sym typeface="+mn-ea"/>
              </a:rPr>
              <a:t>10</a:t>
            </a:r>
            <a:r>
              <a:rPr lang="zh-CN" altLang="en-US" sz="1800" dirty="0">
                <a:sym typeface="+mn-ea"/>
              </a:rPr>
              <a:t>) </a:t>
            </a:r>
            <a:r>
              <a:rPr lang="en-US" altLang="zh-CN" sz="1800" dirty="0">
                <a:solidFill>
                  <a:srgbClr val="0033CC"/>
                </a:solidFill>
              </a:rPr>
              <a:t>foreign</a:t>
            </a:r>
            <a:r>
              <a:rPr lang="zh-CN" altLang="en-US" sz="1800" dirty="0">
                <a:solidFill>
                  <a:srgbClr val="0033CC"/>
                </a:solidFill>
              </a:rPr>
              <a:t> key </a:t>
            </a:r>
            <a:r>
              <a:rPr lang="en-US" altLang="zh-CN" sz="1800" dirty="0">
                <a:solidFill>
                  <a:srgbClr val="0033CC"/>
                </a:solidFill>
              </a:rPr>
              <a:t>references </a:t>
            </a:r>
            <a:r>
              <a:rPr lang="zh-CN" altLang="en-US" sz="1800" dirty="0">
                <a:solidFill>
                  <a:srgbClr val="0033CC"/>
                </a:solidFill>
              </a:rPr>
              <a:t>课程</a:t>
            </a:r>
            <a:r>
              <a:rPr lang="en-US" altLang="zh-CN" sz="1800" dirty="0">
                <a:solidFill>
                  <a:srgbClr val="0033CC"/>
                </a:solidFill>
              </a:rPr>
              <a:t>(CNo)</a:t>
            </a:r>
            <a:r>
              <a:rPr lang="zh-CN" altLang="en-US" sz="1800" dirty="0"/>
              <a:t>,</a:t>
            </a:r>
            <a:endParaRPr lang="zh-CN" altLang="en-US" sz="1800" dirty="0"/>
          </a:p>
          <a:p>
            <a:pPr marL="533400" lvl="0" indent="-533400" eaLnBrk="1" hangingPunct="1">
              <a:lnSpc>
                <a:spcPct val="105000"/>
              </a:lnSpc>
              <a:spcBef>
                <a:spcPct val="0"/>
              </a:spcBef>
              <a:buNone/>
            </a:pPr>
            <a:r>
              <a:rPr lang="zh-CN" altLang="en-US" sz="1800" dirty="0"/>
              <a:t>    </a:t>
            </a:r>
            <a:r>
              <a:rPr lang="en-US" altLang="zh-CN" sz="1800" dirty="0"/>
              <a:t>PTitle</a:t>
            </a:r>
            <a:r>
              <a:rPr lang="zh-CN" altLang="en-US" sz="1800" dirty="0"/>
              <a:t> </a:t>
            </a:r>
            <a:r>
              <a:rPr lang="en-US" altLang="zh-CN" sz="1800" dirty="0"/>
              <a:t>var</a:t>
            </a:r>
            <a:r>
              <a:rPr lang="zh-CN" altLang="en-US" sz="1800" dirty="0">
                <a:sym typeface="+mn-ea"/>
              </a:rPr>
              <a:t>char(</a:t>
            </a:r>
            <a:r>
              <a:rPr lang="en-US" altLang="zh-CN" sz="1800" dirty="0">
                <a:sym typeface="+mn-ea"/>
              </a:rPr>
              <a:t>20</a:t>
            </a:r>
            <a:r>
              <a:rPr lang="zh-CN" altLang="en-US" sz="1800" dirty="0">
                <a:sym typeface="+mn-ea"/>
              </a:rPr>
              <a:t>) </a:t>
            </a:r>
            <a:r>
              <a:rPr lang="en-US" altLang="zh-CN" sz="1800" dirty="0">
                <a:sym typeface="+mn-ea"/>
              </a:rPr>
              <a:t>NOT NULL,</a:t>
            </a:r>
            <a:endParaRPr lang="en-US" altLang="zh-CN" sz="1800" dirty="0">
              <a:sym typeface="+mn-ea"/>
            </a:endParaRPr>
          </a:p>
          <a:p>
            <a:pPr marL="533400" lvl="0" indent="-533400" eaLnBrk="1" hangingPunct="1">
              <a:lnSpc>
                <a:spcPct val="105000"/>
              </a:lnSpc>
              <a:spcBef>
                <a:spcPct val="0"/>
              </a:spcBef>
              <a:buNone/>
            </a:pPr>
            <a:r>
              <a:rPr lang="en-US" altLang="zh-CN" sz="1800" dirty="0">
                <a:sym typeface="+mn-ea"/>
              </a:rPr>
              <a:t>    PName var</a:t>
            </a:r>
            <a:r>
              <a:rPr lang="zh-CN" altLang="en-US" sz="1800" dirty="0">
                <a:sym typeface="+mn-ea"/>
              </a:rPr>
              <a:t>char(</a:t>
            </a:r>
            <a:r>
              <a:rPr lang="en-US" altLang="zh-CN" sz="1800" dirty="0">
                <a:sym typeface="+mn-ea"/>
              </a:rPr>
              <a:t>20</a:t>
            </a:r>
            <a:r>
              <a:rPr lang="zh-CN" altLang="en-US" sz="1800" dirty="0">
                <a:sym typeface="+mn-ea"/>
              </a:rPr>
              <a:t>) </a:t>
            </a:r>
            <a:r>
              <a:rPr lang="en-US" altLang="zh-CN" sz="1800" dirty="0">
                <a:sym typeface="+mn-ea"/>
              </a:rPr>
              <a:t>NOT NULL,</a:t>
            </a:r>
            <a:endParaRPr lang="en-US" altLang="zh-CN" sz="1800" dirty="0">
              <a:sym typeface="+mn-ea"/>
            </a:endParaRPr>
          </a:p>
          <a:p>
            <a:pPr marL="533400" lvl="0" indent="-533400" eaLnBrk="1" hangingPunct="1">
              <a:lnSpc>
                <a:spcPct val="105000"/>
              </a:lnSpc>
              <a:spcBef>
                <a:spcPct val="0"/>
              </a:spcBef>
              <a:buNone/>
            </a:pPr>
            <a:r>
              <a:rPr lang="en-US" altLang="zh-CN" sz="1800" dirty="0">
                <a:sym typeface="+mn-ea"/>
              </a:rPr>
              <a:t>    PTel char(11) NOT NULL,</a:t>
            </a:r>
            <a:endParaRPr lang="en-US" altLang="zh-CN" sz="1800" dirty="0">
              <a:sym typeface="+mn-ea"/>
            </a:endParaRPr>
          </a:p>
          <a:p>
            <a:pPr marL="533400" lvl="0" indent="-533400" eaLnBrk="1" hangingPunct="1">
              <a:lnSpc>
                <a:spcPct val="105000"/>
              </a:lnSpc>
              <a:spcBef>
                <a:spcPct val="0"/>
              </a:spcBef>
              <a:buNone/>
            </a:pPr>
            <a:r>
              <a:rPr lang="en-US" altLang="zh-CN" sz="1800" dirty="0">
                <a:sym typeface="+mn-ea"/>
              </a:rPr>
              <a:t>    </a:t>
            </a:r>
            <a:r>
              <a:rPr lang="en-US" altLang="zh-CN" sz="1800" dirty="0">
                <a:solidFill>
                  <a:srgbClr val="FF0000"/>
                </a:solidFill>
                <a:sym typeface="+mn-ea"/>
              </a:rPr>
              <a:t>Primary key(SNo,STitle)</a:t>
            </a:r>
            <a:r>
              <a:rPr lang="zh-CN" altLang="en-US" sz="1800" dirty="0"/>
              <a:t> )</a:t>
            </a:r>
            <a:endParaRPr lang="zh-CN" altLang="en-US" sz="1800" dirty="0"/>
          </a:p>
        </p:txBody>
      </p:sp>
      <p:sp>
        <p:nvSpPr>
          <p:cNvPr id="4" name="Rectangle 3"/>
          <p:cNvSpPr txBox="1"/>
          <p:nvPr/>
        </p:nvSpPr>
        <p:spPr>
          <a:xfrm>
            <a:off x="652463" y="2417763"/>
            <a:ext cx="8251825" cy="2012950"/>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sz="1900" dirty="0"/>
              <a:t>CREATE  TABLE 学生</a:t>
            </a:r>
            <a:endParaRPr lang="zh-CN" altLang="en-US" sz="1900" dirty="0"/>
          </a:p>
          <a:p>
            <a:pPr marL="533400" lvl="0" indent="-533400" eaLnBrk="1" hangingPunct="1">
              <a:spcBef>
                <a:spcPts val="25"/>
              </a:spcBef>
              <a:buNone/>
            </a:pPr>
            <a:r>
              <a:rPr lang="zh-CN" altLang="en-US" sz="1900" dirty="0"/>
              <a:t> ( </a:t>
            </a:r>
            <a:r>
              <a:rPr lang="en-US" altLang="zh-CN" sz="1900" dirty="0"/>
              <a:t>S</a:t>
            </a:r>
            <a:r>
              <a:rPr lang="zh-CN" altLang="en-US" sz="1900" dirty="0"/>
              <a:t>No Char(</a:t>
            </a:r>
            <a:r>
              <a:rPr lang="en-US" altLang="zh-CN" sz="1900" dirty="0"/>
              <a:t>10</a:t>
            </a:r>
            <a:r>
              <a:rPr lang="zh-CN" altLang="en-US" sz="1900" dirty="0"/>
              <a:t>) </a:t>
            </a:r>
            <a:r>
              <a:rPr lang="zh-CN" altLang="en-US" sz="1900" dirty="0">
                <a:solidFill>
                  <a:srgbClr val="FF0000"/>
                </a:solidFill>
              </a:rPr>
              <a:t>primary key</a:t>
            </a:r>
            <a:r>
              <a:rPr lang="zh-CN" altLang="en-US" sz="1900" dirty="0"/>
              <a:t>,</a:t>
            </a:r>
            <a:endParaRPr lang="zh-CN" altLang="en-US" sz="1900" dirty="0"/>
          </a:p>
          <a:p>
            <a:pPr marL="533400" lvl="0" indent="-533400" eaLnBrk="1" hangingPunct="1">
              <a:spcBef>
                <a:spcPts val="25"/>
              </a:spcBef>
              <a:buNone/>
            </a:pPr>
            <a:r>
              <a:rPr lang="zh-CN" altLang="en-US" sz="1900" dirty="0"/>
              <a:t>   </a:t>
            </a:r>
            <a:r>
              <a:rPr lang="en-US" altLang="zh-CN" sz="1900" dirty="0"/>
              <a:t>S</a:t>
            </a:r>
            <a:r>
              <a:rPr lang="zh-CN" altLang="en-US" sz="1900" dirty="0"/>
              <a:t>Name varchar(20) NOT NULL</a:t>
            </a:r>
            <a:r>
              <a:rPr lang="en-US" altLang="zh-CN" sz="1900" dirty="0"/>
              <a:t>,</a:t>
            </a:r>
            <a:endParaRPr lang="en-US" altLang="zh-CN" sz="1900" dirty="0"/>
          </a:p>
          <a:p>
            <a:pPr marL="533400" lvl="0" indent="-533400" eaLnBrk="1" hangingPunct="1">
              <a:spcBef>
                <a:spcPts val="25"/>
              </a:spcBef>
              <a:buNone/>
            </a:pPr>
            <a:r>
              <a:rPr lang="en-US" altLang="zh-CN" sz="1900" dirty="0"/>
              <a:t>   SBirthDate datetime,</a:t>
            </a:r>
            <a:endParaRPr lang="en-US" altLang="zh-CN" sz="1900" dirty="0"/>
          </a:p>
          <a:p>
            <a:pPr marL="533400" lvl="0" indent="-533400" eaLnBrk="1" hangingPunct="1">
              <a:spcBef>
                <a:spcPts val="25"/>
              </a:spcBef>
              <a:buNone/>
            </a:pPr>
            <a:r>
              <a:rPr lang="en-US" altLang="zh-CN" sz="1900" dirty="0"/>
              <a:t>  </a:t>
            </a:r>
            <a:r>
              <a:rPr lang="en-US" altLang="zh-CN" sz="1900" dirty="0">
                <a:solidFill>
                  <a:srgbClr val="CC00FF"/>
                </a:solidFill>
              </a:rPr>
              <a:t> Age</a:t>
            </a:r>
            <a:r>
              <a:rPr lang="en-US" altLang="zh-CN" sz="1900" dirty="0"/>
              <a:t> </a:t>
            </a:r>
            <a:r>
              <a:rPr lang="en-US" altLang="zh-CN" sz="1900" dirty="0">
                <a:solidFill>
                  <a:srgbClr val="CC00FF"/>
                </a:solidFill>
              </a:rPr>
              <a:t>as Datepart(yyyy,GetDate()</a:t>
            </a:r>
            <a:r>
              <a:rPr lang="zh-CN" altLang="en-US" sz="1900" dirty="0">
                <a:solidFill>
                  <a:srgbClr val="CC00FF"/>
                </a:solidFill>
              </a:rPr>
              <a:t>)</a:t>
            </a:r>
            <a:r>
              <a:rPr lang="en-US" altLang="zh-CN" sz="1900" dirty="0">
                <a:solidFill>
                  <a:srgbClr val="CC00FF"/>
                </a:solidFill>
              </a:rPr>
              <a:t>-Datepaert(yyyy,</a:t>
            </a:r>
            <a:r>
              <a:rPr lang="en-US" altLang="zh-CN" sz="1900" dirty="0">
                <a:solidFill>
                  <a:srgbClr val="CC00FF"/>
                </a:solidFill>
                <a:sym typeface="+mn-ea"/>
              </a:rPr>
              <a:t>SBirthDate),</a:t>
            </a:r>
            <a:endParaRPr lang="en-US" altLang="zh-CN" sz="1900" dirty="0">
              <a:solidFill>
                <a:srgbClr val="CC00FF"/>
              </a:solidFill>
              <a:sym typeface="+mn-ea"/>
            </a:endParaRPr>
          </a:p>
          <a:p>
            <a:pPr marL="533400" lvl="0" indent="-533400" eaLnBrk="1" hangingPunct="1">
              <a:spcBef>
                <a:spcPts val="25"/>
              </a:spcBef>
              <a:buNone/>
            </a:pPr>
            <a:r>
              <a:rPr lang="en-US" altLang="zh-CN" sz="1900" dirty="0">
                <a:solidFill>
                  <a:srgbClr val="CC00FF"/>
                </a:solidFill>
                <a:sym typeface="+mn-ea"/>
              </a:rPr>
              <a:t>   </a:t>
            </a:r>
            <a:r>
              <a:rPr lang="en-US" altLang="zh-CN" sz="1900" dirty="0">
                <a:sym typeface="+mn-ea"/>
              </a:rPr>
              <a:t>C</a:t>
            </a:r>
            <a:r>
              <a:rPr lang="zh-CN" altLang="en-US" sz="1900" dirty="0">
                <a:sym typeface="+mn-ea"/>
              </a:rPr>
              <a:t>No Char(8) </a:t>
            </a:r>
            <a:r>
              <a:rPr lang="en-US" altLang="zh-CN" sz="1900" dirty="0">
                <a:solidFill>
                  <a:srgbClr val="0033CC"/>
                </a:solidFill>
                <a:sym typeface="+mn-ea"/>
              </a:rPr>
              <a:t>foreign key references </a:t>
            </a:r>
            <a:r>
              <a:rPr lang="zh-CN" altLang="en-US" sz="1900" dirty="0">
                <a:solidFill>
                  <a:srgbClr val="0033CC"/>
                </a:solidFill>
                <a:sym typeface="+mn-ea"/>
              </a:rPr>
              <a:t>班级</a:t>
            </a:r>
            <a:r>
              <a:rPr lang="en-US" altLang="zh-CN" sz="1900" dirty="0">
                <a:solidFill>
                  <a:srgbClr val="0033CC"/>
                </a:solidFill>
                <a:sym typeface="+mn-ea"/>
              </a:rPr>
              <a:t>(CNo)</a:t>
            </a:r>
            <a:r>
              <a:rPr lang="en-US" altLang="zh-CN" sz="1900" dirty="0">
                <a:solidFill>
                  <a:srgbClr val="CC00FF"/>
                </a:solidFill>
                <a:sym typeface="+mn-ea"/>
              </a:rPr>
              <a:t> </a:t>
            </a:r>
            <a:r>
              <a:rPr lang="en-US" altLang="zh-CN" sz="1900" dirty="0">
                <a:sym typeface="+mn-ea"/>
              </a:rPr>
              <a:t>)</a:t>
            </a:r>
            <a:endParaRPr lang="zh-CN" altLang="en-US" sz="1900" dirty="0">
              <a:sym typeface="+mn-ea"/>
            </a:endParaRPr>
          </a:p>
        </p:txBody>
      </p:sp>
      <p:sp>
        <p:nvSpPr>
          <p:cNvPr id="128007"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171"/>
                                        </p:tgtEl>
                                        <p:attrNameLst>
                                          <p:attrName>style.visibility</p:attrName>
                                        </p:attrNameLst>
                                      </p:cBhvr>
                                      <p:to>
                                        <p:strVal val="visible"/>
                                      </p:to>
                                    </p:set>
                                    <p:anim calcmode="lin" valueType="num">
                                      <p:cBhvr additive="base">
                                        <p:cTn id="19" dur="500" fill="hold"/>
                                        <p:tgtEl>
                                          <p:spTgt spid="7171"/>
                                        </p:tgtEl>
                                        <p:attrNameLst>
                                          <p:attrName>ppt_x</p:attrName>
                                        </p:attrNameLst>
                                      </p:cBhvr>
                                      <p:tavLst>
                                        <p:tav tm="0">
                                          <p:val>
                                            <p:strVal val="#ppt_x"/>
                                          </p:val>
                                        </p:tav>
                                        <p:tav tm="100000">
                                          <p:val>
                                            <p:strVal val="#ppt_x"/>
                                          </p:val>
                                        </p:tav>
                                      </p:tavLst>
                                    </p:anim>
                                    <p:anim calcmode="lin" valueType="num">
                                      <p:cBhvr additive="base">
                                        <p:cTn id="20"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7171" grpId="0" bldLvl="0" animBg="1"/>
      <p:bldP spid="4" grpId="0" bldLvl="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9026" name="组合 51"/>
          <p:cNvGrpSpPr/>
          <p:nvPr/>
        </p:nvGrpSpPr>
        <p:grpSpPr>
          <a:xfrm>
            <a:off x="655638" y="2054225"/>
            <a:ext cx="7989887" cy="2925763"/>
            <a:chOff x="1109" y="5319"/>
            <a:chExt cx="12582" cy="4540"/>
          </a:xfrm>
        </p:grpSpPr>
        <p:sp>
          <p:nvSpPr>
            <p:cNvPr id="3" name="矩形 2"/>
            <p:cNvSpPr/>
            <p:nvPr/>
          </p:nvSpPr>
          <p:spPr>
            <a:xfrm>
              <a:off x="338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学生</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4" name="椭圆 3"/>
            <p:cNvSpPr/>
            <p:nvPr/>
          </p:nvSpPr>
          <p:spPr>
            <a:xfrm>
              <a:off x="1109" y="5319"/>
              <a:ext cx="1475" cy="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学号</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5" name="椭圆 4"/>
            <p:cNvSpPr/>
            <p:nvPr/>
          </p:nvSpPr>
          <p:spPr>
            <a:xfrm>
              <a:off x="1109" y="6004"/>
              <a:ext cx="1475" cy="51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姓名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7" name="椭圆 6"/>
            <p:cNvSpPr/>
            <p:nvPr/>
          </p:nvSpPr>
          <p:spPr>
            <a:xfrm>
              <a:off x="1109" y="6516"/>
              <a:ext cx="1475"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性别</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1" name="矩形 10"/>
            <p:cNvSpPr/>
            <p:nvPr/>
          </p:nvSpPr>
          <p:spPr>
            <a:xfrm>
              <a:off x="6584" y="8169"/>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专业</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2" name="椭圆 11"/>
            <p:cNvSpPr/>
            <p:nvPr/>
          </p:nvSpPr>
          <p:spPr>
            <a:xfrm>
              <a:off x="5329" y="9236"/>
              <a:ext cx="2200" cy="62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专业编码</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3" name="椭圆 12"/>
            <p:cNvSpPr/>
            <p:nvPr/>
          </p:nvSpPr>
          <p:spPr>
            <a:xfrm>
              <a:off x="7806" y="9236"/>
              <a:ext cx="2090"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专业名称</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4" name="矩形 13"/>
            <p:cNvSpPr/>
            <p:nvPr/>
          </p:nvSpPr>
          <p:spPr>
            <a:xfrm>
              <a:off x="9179" y="6516"/>
              <a:ext cx="1762" cy="7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课程</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5" name="椭圆 14"/>
            <p:cNvSpPr/>
            <p:nvPr/>
          </p:nvSpPr>
          <p:spPr>
            <a:xfrm>
              <a:off x="11539" y="5947"/>
              <a:ext cx="2152" cy="62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sng" strike="noStrike" kern="1200" cap="none" spc="0" normalizeH="0" baseline="0" noProof="0">
                  <a:ln>
                    <a:noFill/>
                  </a:ln>
                  <a:solidFill>
                    <a:srgbClr val="FF0000"/>
                  </a:solidFill>
                  <a:effectLst/>
                  <a:uLnTx/>
                  <a:uFillTx/>
                  <a:latin typeface="+mn-lt"/>
                  <a:ea typeface="+mn-ea"/>
                  <a:cs typeface="+mn-cs"/>
                </a:rPr>
                <a:t>课程编码</a:t>
              </a:r>
              <a:endParaRPr kumimoji="0" lang="zh-CN" altLang="en-US" sz="1800" b="1" i="0" u="sng" strike="noStrike" kern="1200" cap="none" spc="0" normalizeH="0" baseline="0" noProof="0">
                <a:ln>
                  <a:noFill/>
                </a:ln>
                <a:solidFill>
                  <a:srgbClr val="FF0000"/>
                </a:solidFill>
                <a:effectLst/>
                <a:uLnTx/>
                <a:uFillTx/>
                <a:latin typeface="+mn-lt"/>
                <a:ea typeface="+mn-ea"/>
                <a:cs typeface="+mn-cs"/>
              </a:endParaRPr>
            </a:p>
          </p:txBody>
        </p:sp>
        <p:sp>
          <p:nvSpPr>
            <p:cNvPr id="16" name="椭圆 15"/>
            <p:cNvSpPr/>
            <p:nvPr/>
          </p:nvSpPr>
          <p:spPr>
            <a:xfrm>
              <a:off x="11539" y="663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课程名</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17" name="椭圆 16"/>
            <p:cNvSpPr/>
            <p:nvPr/>
          </p:nvSpPr>
          <p:spPr>
            <a:xfrm>
              <a:off x="11539" y="7144"/>
              <a:ext cx="1957" cy="5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学分</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18" name="直接连接符 17"/>
            <p:cNvCxnSpPr>
              <a:stCxn id="4" idx="5"/>
              <a:endCxn id="3" idx="1"/>
            </p:cNvCxnSpPr>
            <p:nvPr/>
          </p:nvCxnSpPr>
          <p:spPr>
            <a:xfrm>
              <a:off x="2366" y="5851"/>
              <a:ext cx="1022" cy="103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6"/>
            </p:cNvCxnSpPr>
            <p:nvPr/>
          </p:nvCxnSpPr>
          <p:spPr>
            <a:xfrm>
              <a:off x="2584" y="6260"/>
              <a:ext cx="790" cy="6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7" idx="6"/>
              <a:endCxn id="3" idx="1"/>
            </p:cNvCxnSpPr>
            <p:nvPr/>
          </p:nvCxnSpPr>
          <p:spPr>
            <a:xfrm>
              <a:off x="2584" y="6770"/>
              <a:ext cx="805" cy="1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a:endCxn id="15" idx="2"/>
            </p:cNvCxnSpPr>
            <p:nvPr/>
          </p:nvCxnSpPr>
          <p:spPr>
            <a:xfrm flipV="1">
              <a:off x="10956" y="6260"/>
              <a:ext cx="597" cy="62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14" idx="3"/>
              <a:endCxn id="16" idx="2"/>
            </p:cNvCxnSpPr>
            <p:nvPr/>
          </p:nvCxnSpPr>
          <p:spPr>
            <a:xfrm>
              <a:off x="10956" y="6881"/>
              <a:ext cx="597" cy="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endCxn id="17" idx="2"/>
            </p:cNvCxnSpPr>
            <p:nvPr/>
          </p:nvCxnSpPr>
          <p:spPr>
            <a:xfrm>
              <a:off x="10984" y="6942"/>
              <a:ext cx="570" cy="45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2"/>
            </p:cNvCxnSpPr>
            <p:nvPr/>
          </p:nvCxnSpPr>
          <p:spPr>
            <a:xfrm flipV="1">
              <a:off x="6584" y="8881"/>
              <a:ext cx="882"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13" idx="0"/>
              <a:endCxn id="11" idx="2"/>
            </p:cNvCxnSpPr>
            <p:nvPr/>
          </p:nvCxnSpPr>
          <p:spPr>
            <a:xfrm flipH="1" flipV="1">
              <a:off x="7466" y="8881"/>
              <a:ext cx="1385" cy="3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菱形 28"/>
            <p:cNvSpPr/>
            <p:nvPr/>
          </p:nvSpPr>
          <p:spPr>
            <a:xfrm>
              <a:off x="3114" y="8024"/>
              <a:ext cx="2312"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属于</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30" name="菱形 29"/>
            <p:cNvSpPr/>
            <p:nvPr/>
          </p:nvSpPr>
          <p:spPr>
            <a:xfrm>
              <a:off x="6476" y="6435"/>
              <a:ext cx="1977"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36195" rIns="0" b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选课</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31" name="菱形 30"/>
            <p:cNvSpPr/>
            <p:nvPr/>
          </p:nvSpPr>
          <p:spPr>
            <a:xfrm>
              <a:off x="9084" y="8046"/>
              <a:ext cx="1975" cy="90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36195"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设置</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2" name="直接连接符 31"/>
            <p:cNvCxnSpPr>
              <a:stCxn id="3" idx="2"/>
              <a:endCxn id="29" idx="0"/>
            </p:cNvCxnSpPr>
            <p:nvPr/>
          </p:nvCxnSpPr>
          <p:spPr>
            <a:xfrm>
              <a:off x="4271" y="7245"/>
              <a:ext cx="0" cy="778"/>
            </a:xfrm>
            <a:prstGeom prst="line">
              <a:avLst/>
            </a:prstGeom>
            <a:ln w="15875">
              <a:solidFill>
                <a:srgbClr val="CC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1"/>
              <a:endCxn id="29" idx="3"/>
            </p:cNvCxnSpPr>
            <p:nvPr/>
          </p:nvCxnSpPr>
          <p:spPr>
            <a:xfrm flipH="1" flipV="1">
              <a:off x="5426" y="8477"/>
              <a:ext cx="1157"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30" idx="1"/>
              <a:endCxn id="3" idx="3"/>
            </p:cNvCxnSpPr>
            <p:nvPr/>
          </p:nvCxnSpPr>
          <p:spPr>
            <a:xfrm flipH="1" flipV="1">
              <a:off x="5151" y="6881"/>
              <a:ext cx="1325" cy="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flipV="1">
              <a:off x="8454" y="6886"/>
              <a:ext cx="707" cy="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6" name="椭圆 35"/>
            <p:cNvSpPr/>
            <p:nvPr/>
          </p:nvSpPr>
          <p:spPr>
            <a:xfrm>
              <a:off x="5871" y="5494"/>
              <a:ext cx="1475"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学期</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sp>
          <p:nvSpPr>
            <p:cNvPr id="37" name="椭圆 36"/>
            <p:cNvSpPr/>
            <p:nvPr/>
          </p:nvSpPr>
          <p:spPr>
            <a:xfrm>
              <a:off x="7379" y="5494"/>
              <a:ext cx="1472" cy="510"/>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成绩</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38" name="直接连接符 37"/>
            <p:cNvCxnSpPr>
              <a:endCxn id="30" idx="0"/>
            </p:cNvCxnSpPr>
            <p:nvPr/>
          </p:nvCxnSpPr>
          <p:spPr>
            <a:xfrm>
              <a:off x="6841" y="5996"/>
              <a:ext cx="625" cy="43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7" idx="4"/>
              <a:endCxn id="30" idx="0"/>
            </p:cNvCxnSpPr>
            <p:nvPr/>
          </p:nvCxnSpPr>
          <p:spPr>
            <a:xfrm flipH="1">
              <a:off x="7466" y="6004"/>
              <a:ext cx="650" cy="43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8346" y="8494"/>
              <a:ext cx="795" cy="1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a:stCxn id="31" idx="0"/>
              <a:endCxn id="14" idx="2"/>
            </p:cNvCxnSpPr>
            <p:nvPr/>
          </p:nvCxnSpPr>
          <p:spPr>
            <a:xfrm flipH="1" flipV="1">
              <a:off x="10061" y="7245"/>
              <a:ext cx="10" cy="80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2" name="菱形 41"/>
            <p:cNvSpPr/>
            <p:nvPr/>
          </p:nvSpPr>
          <p:spPr>
            <a:xfrm>
              <a:off x="9296" y="5381"/>
              <a:ext cx="1645" cy="737"/>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先导</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43" name="直接连接符 42"/>
            <p:cNvCxnSpPr>
              <a:stCxn id="42" idx="1"/>
            </p:cNvCxnSpPr>
            <p:nvPr/>
          </p:nvCxnSpPr>
          <p:spPr>
            <a:xfrm>
              <a:off x="9296" y="5750"/>
              <a:ext cx="350" cy="798"/>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42" idx="3"/>
            </p:cNvCxnSpPr>
            <p:nvPr/>
          </p:nvCxnSpPr>
          <p:spPr>
            <a:xfrm flipH="1">
              <a:off x="10486" y="5750"/>
              <a:ext cx="455" cy="766"/>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11539" y="8221"/>
              <a:ext cx="2097" cy="567"/>
            </a:xfrm>
            <a:prstGeom prst="ellipse">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课程类型</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51" name="直接连接符 50"/>
            <p:cNvCxnSpPr>
              <a:stCxn id="31" idx="3"/>
              <a:endCxn id="50" idx="2"/>
            </p:cNvCxnSpPr>
            <p:nvPr/>
          </p:nvCxnSpPr>
          <p:spPr>
            <a:xfrm>
              <a:off x="11059" y="8499"/>
              <a:ext cx="480" cy="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9" name="文本框 48"/>
          <p:cNvSpPr txBox="1"/>
          <p:nvPr/>
        </p:nvSpPr>
        <p:spPr>
          <a:xfrm>
            <a:off x="2749550" y="3149600"/>
            <a:ext cx="338138" cy="5064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53" name="文本框 52"/>
          <p:cNvSpPr txBox="1"/>
          <p:nvPr/>
        </p:nvSpPr>
        <p:spPr>
          <a:xfrm>
            <a:off x="3484563" y="3621088"/>
            <a:ext cx="323850"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sp>
        <p:nvSpPr>
          <p:cNvPr id="54" name="文本框 53"/>
          <p:cNvSpPr txBox="1"/>
          <p:nvPr/>
        </p:nvSpPr>
        <p:spPr>
          <a:xfrm>
            <a:off x="5429250" y="3552825"/>
            <a:ext cx="338138" cy="5064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55" name="文本框 54"/>
          <p:cNvSpPr txBox="1"/>
          <p:nvPr/>
        </p:nvSpPr>
        <p:spPr>
          <a:xfrm>
            <a:off x="6410325" y="3167063"/>
            <a:ext cx="409575"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m</a:t>
            </a:r>
            <a:endParaRPr lang="en-US" altLang="zh-CN" dirty="0">
              <a:solidFill>
                <a:srgbClr val="FF0000"/>
              </a:solidFill>
            </a:endParaRPr>
          </a:p>
        </p:txBody>
      </p:sp>
      <p:sp>
        <p:nvSpPr>
          <p:cNvPr id="56" name="文本框 55"/>
          <p:cNvSpPr txBox="1"/>
          <p:nvPr/>
        </p:nvSpPr>
        <p:spPr>
          <a:xfrm>
            <a:off x="5373688" y="2581275"/>
            <a:ext cx="376237"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57" name="文本框 56"/>
          <p:cNvSpPr txBox="1"/>
          <p:nvPr/>
        </p:nvSpPr>
        <p:spPr>
          <a:xfrm>
            <a:off x="3524250" y="2584450"/>
            <a:ext cx="425450"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m</a:t>
            </a:r>
            <a:endParaRPr lang="en-US" altLang="zh-CN" dirty="0">
              <a:solidFill>
                <a:srgbClr val="FF0000"/>
              </a:solidFill>
            </a:endParaRPr>
          </a:p>
        </p:txBody>
      </p:sp>
      <p:sp>
        <p:nvSpPr>
          <p:cNvPr id="58" name="文本框 57"/>
          <p:cNvSpPr txBox="1"/>
          <p:nvPr/>
        </p:nvSpPr>
        <p:spPr>
          <a:xfrm>
            <a:off x="6680200" y="2379663"/>
            <a:ext cx="40798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m</a:t>
            </a:r>
            <a:endParaRPr lang="en-US" altLang="zh-CN" dirty="0">
              <a:solidFill>
                <a:srgbClr val="FF0000"/>
              </a:solidFill>
            </a:endParaRPr>
          </a:p>
        </p:txBody>
      </p:sp>
      <p:sp>
        <p:nvSpPr>
          <p:cNvPr id="59" name="文本框 58"/>
          <p:cNvSpPr txBox="1"/>
          <p:nvPr/>
        </p:nvSpPr>
        <p:spPr>
          <a:xfrm>
            <a:off x="5699125" y="2328863"/>
            <a:ext cx="33813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129035" name="文本框 1"/>
          <p:cNvSpPr txBox="1"/>
          <p:nvPr/>
        </p:nvSpPr>
        <p:spPr>
          <a:xfrm>
            <a:off x="492125" y="1004888"/>
            <a:ext cx="8401050"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6</a:t>
            </a:r>
            <a:r>
              <a:rPr lang="zh-CN" altLang="en-US" sz="2200" dirty="0"/>
              <a:t>、将下列学生、课程与专业管理的</a:t>
            </a:r>
            <a:r>
              <a:rPr lang="en-US" altLang="zh-CN" sz="2200" dirty="0"/>
              <a:t>ER</a:t>
            </a:r>
            <a:r>
              <a:rPr lang="zh-CN" altLang="en-US" sz="2200" dirty="0"/>
              <a:t>图转换为关系模式，标注出主外键。并写出创建学生、课程和先导关系的</a:t>
            </a:r>
            <a:r>
              <a:rPr lang="en-US" altLang="zh-CN" sz="2200" dirty="0"/>
              <a:t>DDL</a:t>
            </a:r>
            <a:r>
              <a:rPr lang="zh-CN" altLang="en-US" sz="2200" dirty="0"/>
              <a:t>语句。</a:t>
            </a:r>
            <a:endParaRPr lang="zh-CN" altLang="en-US" sz="2200" dirty="0"/>
          </a:p>
        </p:txBody>
      </p:sp>
      <p:sp>
        <p:nvSpPr>
          <p:cNvPr id="6" name="菱形 5"/>
          <p:cNvSpPr/>
          <p:nvPr/>
        </p:nvSpPr>
        <p:spPr>
          <a:xfrm>
            <a:off x="2141538" y="2108200"/>
            <a:ext cx="1044575" cy="476250"/>
          </a:xfrm>
          <a:prstGeom prst="diamond">
            <a:avLst/>
          </a:prstGeom>
          <a:gradFill>
            <a:gsLst>
              <a:gs pos="0">
                <a:srgbClr val="FBFB11"/>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800" b="1" i="0" u="none" strike="noStrike" kern="1200" cap="none" spc="0" normalizeH="0" baseline="0" noProof="0">
                <a:ln>
                  <a:noFill/>
                </a:ln>
                <a:solidFill>
                  <a:schemeClr val="tx1"/>
                </a:solidFill>
                <a:effectLst/>
                <a:uLnTx/>
                <a:uFillTx/>
                <a:latin typeface="+mn-lt"/>
                <a:ea typeface="+mn-ea"/>
                <a:cs typeface="+mn-cs"/>
              </a:rPr>
              <a:t>管理</a:t>
            </a:r>
            <a:endParaRPr kumimoji="0" lang="zh-CN" altLang="en-US" sz="1800" b="1" i="0" u="none" strike="noStrike" kern="1200" cap="none" spc="0" normalizeH="0" baseline="0" noProof="0">
              <a:ln>
                <a:noFill/>
              </a:ln>
              <a:solidFill>
                <a:schemeClr val="tx1"/>
              </a:solidFill>
              <a:effectLst/>
              <a:uLnTx/>
              <a:uFillTx/>
              <a:latin typeface="+mn-lt"/>
              <a:ea typeface="+mn-ea"/>
              <a:cs typeface="+mn-cs"/>
            </a:endParaRPr>
          </a:p>
        </p:txBody>
      </p:sp>
      <p:cxnSp>
        <p:nvCxnSpPr>
          <p:cNvPr id="45" name="直接连接符 44"/>
          <p:cNvCxnSpPr>
            <a:stCxn id="6" idx="1"/>
          </p:cNvCxnSpPr>
          <p:nvPr/>
        </p:nvCxnSpPr>
        <p:spPr>
          <a:xfrm>
            <a:off x="2141538" y="2346325"/>
            <a:ext cx="153988" cy="47942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6" idx="3"/>
          </p:cNvCxnSpPr>
          <p:nvPr/>
        </p:nvCxnSpPr>
        <p:spPr>
          <a:xfrm flipH="1">
            <a:off x="3051175" y="2346325"/>
            <a:ext cx="134938" cy="474663"/>
          </a:xfrm>
          <a:prstGeom prst="line">
            <a:avLst/>
          </a:prstGeom>
          <a:ln>
            <a:solidFill>
              <a:schemeClr val="accent2"/>
            </a:solidFill>
            <a:headEnd type="triangle"/>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1930400" y="2330450"/>
            <a:ext cx="323850"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1</a:t>
            </a:r>
            <a:endParaRPr lang="en-US" altLang="zh-CN" dirty="0">
              <a:solidFill>
                <a:srgbClr val="FF0000"/>
              </a:solidFill>
            </a:endParaRPr>
          </a:p>
        </p:txBody>
      </p:sp>
      <p:sp>
        <p:nvSpPr>
          <p:cNvPr id="48" name="文本框 47"/>
          <p:cNvSpPr txBox="1"/>
          <p:nvPr/>
        </p:nvSpPr>
        <p:spPr>
          <a:xfrm>
            <a:off x="3146425" y="2335213"/>
            <a:ext cx="338138"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FF0000"/>
                </a:solidFill>
              </a:rPr>
              <a:t>n</a:t>
            </a:r>
            <a:endParaRPr lang="en-US" altLang="zh-CN" dirty="0">
              <a:solidFill>
                <a:srgbClr val="FF0000"/>
              </a:solidFill>
            </a:endParaRPr>
          </a:p>
        </p:txBody>
      </p:sp>
      <p:sp>
        <p:nvSpPr>
          <p:cNvPr id="12904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additive="base">
                                        <p:cTn id="7" dur="500" fill="hold"/>
                                        <p:tgtEl>
                                          <p:spTgt spid="49"/>
                                        </p:tgtEl>
                                        <p:attrNameLst>
                                          <p:attrName>ppt_x</p:attrName>
                                        </p:attrNameLst>
                                      </p:cBhvr>
                                      <p:tavLst>
                                        <p:tav tm="0">
                                          <p:val>
                                            <p:strVal val="#ppt_x"/>
                                          </p:val>
                                        </p:tav>
                                        <p:tav tm="100000">
                                          <p:val>
                                            <p:strVal val="#ppt_x"/>
                                          </p:val>
                                        </p:tav>
                                      </p:tavLst>
                                    </p:anim>
                                    <p:anim calcmode="lin" valueType="num">
                                      <p:cBhvr additive="base">
                                        <p:cTn id="8" dur="500" fill="hold"/>
                                        <p:tgtEl>
                                          <p:spTgt spid="4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3"/>
                                        </p:tgtEl>
                                        <p:attrNameLst>
                                          <p:attrName>style.visibility</p:attrName>
                                        </p:attrNameLst>
                                      </p:cBhvr>
                                      <p:to>
                                        <p:strVal val="visible"/>
                                      </p:to>
                                    </p:set>
                                    <p:anim calcmode="lin" valueType="num">
                                      <p:cBhvr additive="base">
                                        <p:cTn id="11" dur="500" fill="hold"/>
                                        <p:tgtEl>
                                          <p:spTgt spid="53"/>
                                        </p:tgtEl>
                                        <p:attrNameLst>
                                          <p:attrName>ppt_x</p:attrName>
                                        </p:attrNameLst>
                                      </p:cBhvr>
                                      <p:tavLst>
                                        <p:tav tm="0">
                                          <p:val>
                                            <p:strVal val="#ppt_x"/>
                                          </p:val>
                                        </p:tav>
                                        <p:tav tm="100000">
                                          <p:val>
                                            <p:strVal val="#ppt_x"/>
                                          </p:val>
                                        </p:tav>
                                      </p:tavLst>
                                    </p:anim>
                                    <p:anim calcmode="lin" valueType="num">
                                      <p:cBhvr additive="base">
                                        <p:cTn id="1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4"/>
                                        </p:tgtEl>
                                        <p:attrNameLst>
                                          <p:attrName>style.visibility</p:attrName>
                                        </p:attrNameLst>
                                      </p:cBhvr>
                                      <p:to>
                                        <p:strVal val="visible"/>
                                      </p:to>
                                    </p:set>
                                    <p:anim calcmode="lin" valueType="num">
                                      <p:cBhvr additive="base">
                                        <p:cTn id="17" dur="500" fill="hold"/>
                                        <p:tgtEl>
                                          <p:spTgt spid="54"/>
                                        </p:tgtEl>
                                        <p:attrNameLst>
                                          <p:attrName>ppt_x</p:attrName>
                                        </p:attrNameLst>
                                      </p:cBhvr>
                                      <p:tavLst>
                                        <p:tav tm="0">
                                          <p:val>
                                            <p:strVal val="#ppt_x"/>
                                          </p:val>
                                        </p:tav>
                                        <p:tav tm="100000">
                                          <p:val>
                                            <p:strVal val="#ppt_x"/>
                                          </p:val>
                                        </p:tav>
                                      </p:tavLst>
                                    </p:anim>
                                    <p:anim calcmode="lin" valueType="num">
                                      <p:cBhvr additive="base">
                                        <p:cTn id="18" dur="500" fill="hold"/>
                                        <p:tgtEl>
                                          <p:spTgt spid="5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anim calcmode="lin" valueType="num">
                                      <p:cBhvr additive="base">
                                        <p:cTn id="21" dur="500" fill="hold"/>
                                        <p:tgtEl>
                                          <p:spTgt spid="55"/>
                                        </p:tgtEl>
                                        <p:attrNameLst>
                                          <p:attrName>ppt_x</p:attrName>
                                        </p:attrNameLst>
                                      </p:cBhvr>
                                      <p:tavLst>
                                        <p:tav tm="0">
                                          <p:val>
                                            <p:strVal val="#ppt_x"/>
                                          </p:val>
                                        </p:tav>
                                        <p:tav tm="100000">
                                          <p:val>
                                            <p:strVal val="#ppt_x"/>
                                          </p:val>
                                        </p:tav>
                                      </p:tavLst>
                                    </p:anim>
                                    <p:anim calcmode="lin" valueType="num">
                                      <p:cBhvr additive="base">
                                        <p:cTn id="22"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 calcmode="lin" valueType="num">
                                      <p:cBhvr additive="base">
                                        <p:cTn id="27" dur="500" fill="hold"/>
                                        <p:tgtEl>
                                          <p:spTgt spid="57"/>
                                        </p:tgtEl>
                                        <p:attrNameLst>
                                          <p:attrName>ppt_x</p:attrName>
                                        </p:attrNameLst>
                                      </p:cBhvr>
                                      <p:tavLst>
                                        <p:tav tm="0">
                                          <p:val>
                                            <p:strVal val="#ppt_x"/>
                                          </p:val>
                                        </p:tav>
                                        <p:tav tm="100000">
                                          <p:val>
                                            <p:strVal val="#ppt_x"/>
                                          </p:val>
                                        </p:tav>
                                      </p:tavLst>
                                    </p:anim>
                                    <p:anim calcmode="lin" valueType="num">
                                      <p:cBhvr additive="base">
                                        <p:cTn id="28" dur="500" fill="hold"/>
                                        <p:tgtEl>
                                          <p:spTgt spid="5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6"/>
                                        </p:tgtEl>
                                        <p:attrNameLst>
                                          <p:attrName>style.visibility</p:attrName>
                                        </p:attrNameLst>
                                      </p:cBhvr>
                                      <p:to>
                                        <p:strVal val="visible"/>
                                      </p:to>
                                    </p:set>
                                    <p:anim calcmode="lin" valueType="num">
                                      <p:cBhvr additive="base">
                                        <p:cTn id="31" dur="500" fill="hold"/>
                                        <p:tgtEl>
                                          <p:spTgt spid="56"/>
                                        </p:tgtEl>
                                        <p:attrNameLst>
                                          <p:attrName>ppt_x</p:attrName>
                                        </p:attrNameLst>
                                      </p:cBhvr>
                                      <p:tavLst>
                                        <p:tav tm="0">
                                          <p:val>
                                            <p:strVal val="#ppt_x"/>
                                          </p:val>
                                        </p:tav>
                                        <p:tav tm="100000">
                                          <p:val>
                                            <p:strVal val="#ppt_x"/>
                                          </p:val>
                                        </p:tav>
                                      </p:tavLst>
                                    </p:anim>
                                    <p:anim calcmode="lin" valueType="num">
                                      <p:cBhvr additive="base">
                                        <p:cTn id="32"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8"/>
                                        </p:tgtEl>
                                        <p:attrNameLst>
                                          <p:attrName>style.visibility</p:attrName>
                                        </p:attrNameLst>
                                      </p:cBhvr>
                                      <p:to>
                                        <p:strVal val="visible"/>
                                      </p:to>
                                    </p:set>
                                    <p:anim calcmode="lin" valueType="num">
                                      <p:cBhvr additive="base">
                                        <p:cTn id="37" dur="500" fill="hold"/>
                                        <p:tgtEl>
                                          <p:spTgt spid="58"/>
                                        </p:tgtEl>
                                        <p:attrNameLst>
                                          <p:attrName>ppt_x</p:attrName>
                                        </p:attrNameLst>
                                      </p:cBhvr>
                                      <p:tavLst>
                                        <p:tav tm="0">
                                          <p:val>
                                            <p:strVal val="#ppt_x"/>
                                          </p:val>
                                        </p:tav>
                                        <p:tav tm="100000">
                                          <p:val>
                                            <p:strVal val="#ppt_x"/>
                                          </p:val>
                                        </p:tav>
                                      </p:tavLst>
                                    </p:anim>
                                    <p:anim calcmode="lin" valueType="num">
                                      <p:cBhvr additive="base">
                                        <p:cTn id="38" dur="500" fill="hold"/>
                                        <p:tgtEl>
                                          <p:spTgt spid="58"/>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9"/>
                                        </p:tgtEl>
                                        <p:attrNameLst>
                                          <p:attrName>style.visibility</p:attrName>
                                        </p:attrNameLst>
                                      </p:cBhvr>
                                      <p:to>
                                        <p:strVal val="visible"/>
                                      </p:to>
                                    </p:set>
                                    <p:anim calcmode="lin" valueType="num">
                                      <p:cBhvr additive="base">
                                        <p:cTn id="41" dur="500" fill="hold"/>
                                        <p:tgtEl>
                                          <p:spTgt spid="59"/>
                                        </p:tgtEl>
                                        <p:attrNameLst>
                                          <p:attrName>ppt_x</p:attrName>
                                        </p:attrNameLst>
                                      </p:cBhvr>
                                      <p:tavLst>
                                        <p:tav tm="0">
                                          <p:val>
                                            <p:strVal val="#ppt_x"/>
                                          </p:val>
                                        </p:tav>
                                        <p:tav tm="100000">
                                          <p:val>
                                            <p:strVal val="#ppt_x"/>
                                          </p:val>
                                        </p:tav>
                                      </p:tavLst>
                                    </p:anim>
                                    <p:anim calcmode="lin" valueType="num">
                                      <p:cBhvr additive="base">
                                        <p:cTn id="42" dur="500" fill="hold"/>
                                        <p:tgtEl>
                                          <p:spTgt spid="5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anim calcmode="lin" valueType="num">
                                      <p:cBhvr additive="base">
                                        <p:cTn id="45" dur="500" fill="hold"/>
                                        <p:tgtEl>
                                          <p:spTgt spid="47"/>
                                        </p:tgtEl>
                                        <p:attrNameLst>
                                          <p:attrName>ppt_x</p:attrName>
                                        </p:attrNameLst>
                                      </p:cBhvr>
                                      <p:tavLst>
                                        <p:tav tm="0">
                                          <p:val>
                                            <p:strVal val="#ppt_x"/>
                                          </p:val>
                                        </p:tav>
                                        <p:tav tm="100000">
                                          <p:val>
                                            <p:strVal val="#ppt_x"/>
                                          </p:val>
                                        </p:tav>
                                      </p:tavLst>
                                    </p:anim>
                                    <p:anim calcmode="lin" valueType="num">
                                      <p:cBhvr additive="base">
                                        <p:cTn id="4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48"/>
                                        </p:tgtEl>
                                        <p:attrNameLst>
                                          <p:attrName>style.visibility</p:attrName>
                                        </p:attrNameLst>
                                      </p:cBhvr>
                                      <p:to>
                                        <p:strVal val="visible"/>
                                      </p:to>
                                    </p:set>
                                    <p:anim calcmode="lin" valueType="num">
                                      <p:cBhvr additive="base">
                                        <p:cTn id="51" dur="500" fill="hold"/>
                                        <p:tgtEl>
                                          <p:spTgt spid="48"/>
                                        </p:tgtEl>
                                        <p:attrNameLst>
                                          <p:attrName>ppt_x</p:attrName>
                                        </p:attrNameLst>
                                      </p:cBhvr>
                                      <p:tavLst>
                                        <p:tav tm="0">
                                          <p:val>
                                            <p:strVal val="#ppt_x"/>
                                          </p:val>
                                        </p:tav>
                                        <p:tav tm="100000">
                                          <p:val>
                                            <p:strVal val="#ppt_x"/>
                                          </p:val>
                                        </p:tav>
                                      </p:tavLst>
                                    </p:anim>
                                    <p:anim calcmode="lin" valueType="num">
                                      <p:cBhvr additive="base">
                                        <p:cTn id="5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3" grpId="0"/>
      <p:bldP spid="54" grpId="0"/>
      <p:bldP spid="55" grpId="0"/>
      <p:bldP spid="56" grpId="0"/>
      <p:bldP spid="57" grpId="0"/>
      <p:bldP spid="58" grpId="0"/>
      <p:bldP spid="59" grpId="0"/>
      <p:bldP spid="47" grpId="0"/>
      <p:bldP spid="48"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30051" name="文本框 1"/>
          <p:cNvSpPr txBox="1"/>
          <p:nvPr/>
        </p:nvSpPr>
        <p:spPr>
          <a:xfrm>
            <a:off x="484188" y="1397000"/>
            <a:ext cx="5389562" cy="4302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a:t>
            </a:r>
            <a:r>
              <a:rPr lang="en-US" altLang="zh-CN" sz="2200" dirty="0">
                <a:sym typeface="+mn-ea"/>
              </a:rPr>
              <a:t>1</a:t>
            </a:r>
            <a:r>
              <a:rPr lang="zh-CN" altLang="en-US" sz="2200" dirty="0">
                <a:sym typeface="+mn-ea"/>
              </a:rPr>
              <a:t>）写出关系模式，并标明主键和外键；</a:t>
            </a:r>
            <a:endParaRPr lang="zh-CN" altLang="en-US" sz="2200" dirty="0"/>
          </a:p>
        </p:txBody>
      </p:sp>
      <p:sp>
        <p:nvSpPr>
          <p:cNvPr id="3" name="文本框 2"/>
          <p:cNvSpPr txBox="1"/>
          <p:nvPr/>
        </p:nvSpPr>
        <p:spPr>
          <a:xfrm>
            <a:off x="777875" y="2185988"/>
            <a:ext cx="8074025" cy="1198562"/>
          </a:xfrm>
          <a:prstGeom prst="rect">
            <a:avLst/>
          </a:prstGeom>
          <a:solidFill>
            <a:schemeClr val="bg1"/>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zh-CN" altLang="en-US" dirty="0">
                <a:sym typeface="+mn-ea"/>
              </a:rPr>
              <a:t>学生</a:t>
            </a:r>
            <a:r>
              <a:rPr lang="en-US" altLang="zh-CN" dirty="0">
                <a:sym typeface="+mn-ea"/>
              </a:rPr>
              <a:t>(</a:t>
            </a:r>
            <a:r>
              <a:rPr lang="zh-CN" altLang="en-US" u="sng" dirty="0">
                <a:solidFill>
                  <a:srgbClr val="FF0000"/>
                </a:solidFill>
                <a:sym typeface="+mn-ea"/>
              </a:rPr>
              <a:t>学号</a:t>
            </a:r>
            <a:r>
              <a:rPr lang="en-US" altLang="zh-CN" u="sng" dirty="0">
                <a:solidFill>
                  <a:srgbClr val="FF0000"/>
                </a:solidFill>
                <a:sym typeface="+mn-ea"/>
              </a:rPr>
              <a:t>,</a:t>
            </a:r>
            <a:r>
              <a:rPr lang="zh-CN" altLang="en-US" dirty="0">
                <a:sym typeface="+mn-ea"/>
              </a:rPr>
              <a:t>姓名</a:t>
            </a:r>
            <a:r>
              <a:rPr lang="en-US" altLang="zh-CN" dirty="0">
                <a:sym typeface="+mn-ea"/>
              </a:rPr>
              <a:t>,</a:t>
            </a:r>
            <a:r>
              <a:rPr lang="zh-CN" altLang="en-US" dirty="0">
                <a:sym typeface="+mn-ea"/>
              </a:rPr>
              <a:t>性别</a:t>
            </a:r>
            <a:r>
              <a:rPr lang="en-US" altLang="zh-CN" dirty="0">
                <a:sym typeface="+mn-ea"/>
              </a:rPr>
              <a:t>,</a:t>
            </a:r>
            <a:r>
              <a:rPr lang="zh-CN" altLang="en-US" dirty="0">
                <a:sym typeface="+mn-ea"/>
              </a:rPr>
              <a:t>生日</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课程</a:t>
            </a:r>
            <a:r>
              <a:rPr lang="en-US" altLang="zh-CN" dirty="0">
                <a:sym typeface="+mn-ea"/>
              </a:rPr>
              <a:t>(</a:t>
            </a:r>
            <a:r>
              <a:rPr lang="zh-CN" altLang="en-US" u="sng" dirty="0">
                <a:solidFill>
                  <a:srgbClr val="FF0000"/>
                </a:solidFill>
                <a:sym typeface="+mn-ea"/>
              </a:rPr>
              <a:t>课程编码</a:t>
            </a:r>
            <a:r>
              <a:rPr lang="en-US" altLang="zh-CN" dirty="0">
                <a:sym typeface="+mn-ea"/>
              </a:rPr>
              <a:t>,</a:t>
            </a:r>
            <a:r>
              <a:rPr lang="zh-CN" altLang="en-US" dirty="0">
                <a:sym typeface="+mn-ea"/>
              </a:rPr>
              <a:t>课程名</a:t>
            </a:r>
            <a:r>
              <a:rPr lang="en-US" altLang="zh-CN" dirty="0">
                <a:sym typeface="+mn-ea"/>
              </a:rPr>
              <a:t>,</a:t>
            </a:r>
            <a:r>
              <a:rPr lang="zh-CN" altLang="en-US" dirty="0">
                <a:sym typeface="+mn-ea"/>
              </a:rPr>
              <a:t>学分</a:t>
            </a:r>
            <a:r>
              <a:rPr lang="en-US" altLang="zh-CN" dirty="0">
                <a:sym typeface="+mn-ea"/>
              </a:rPr>
              <a:t>)</a:t>
            </a:r>
            <a:endParaRPr lang="en-US" altLang="zh-CN" dirty="0">
              <a:sym typeface="+mn-ea"/>
            </a:endParaRPr>
          </a:p>
          <a:p>
            <a:pPr marL="0" lvl="0" indent="0" eaLnBrk="1" hangingPunct="1">
              <a:lnSpc>
                <a:spcPct val="120000"/>
              </a:lnSpc>
              <a:spcBef>
                <a:spcPct val="0"/>
              </a:spcBef>
              <a:buClrTx/>
              <a:buSzTx/>
              <a:buFont typeface="Arial" panose="020B0604020202020204" pitchFamily="34" charset="0"/>
              <a:buNone/>
            </a:pPr>
            <a:r>
              <a:rPr lang="zh-CN" altLang="en-US" dirty="0">
                <a:sym typeface="+mn-ea"/>
              </a:rPr>
              <a:t>专业</a:t>
            </a:r>
            <a:r>
              <a:rPr lang="en-US" altLang="zh-CN" dirty="0">
                <a:sym typeface="+mn-ea"/>
              </a:rPr>
              <a:t>(</a:t>
            </a:r>
            <a:r>
              <a:rPr lang="zh-CN" altLang="en-US" u="sng" dirty="0">
                <a:solidFill>
                  <a:srgbClr val="FF0000"/>
                </a:solidFill>
                <a:sym typeface="+mn-ea"/>
              </a:rPr>
              <a:t>专业编码</a:t>
            </a:r>
            <a:r>
              <a:rPr lang="en-US" altLang="zh-CN" dirty="0">
                <a:sym typeface="+mn-ea"/>
              </a:rPr>
              <a:t>,</a:t>
            </a:r>
            <a:r>
              <a:rPr lang="zh-CN" altLang="en-US" dirty="0">
                <a:sym typeface="+mn-ea"/>
              </a:rPr>
              <a:t>专业名称</a:t>
            </a:r>
            <a:r>
              <a:rPr lang="en-US" altLang="zh-CN" dirty="0">
                <a:sym typeface="+mn-ea"/>
              </a:rPr>
              <a:t>)</a:t>
            </a:r>
            <a:endParaRPr lang="en-US" altLang="zh-CN" dirty="0">
              <a:sym typeface="+mn-ea"/>
            </a:endParaRPr>
          </a:p>
        </p:txBody>
      </p:sp>
      <p:sp>
        <p:nvSpPr>
          <p:cNvPr id="4" name="文本框 3"/>
          <p:cNvSpPr txBox="1"/>
          <p:nvPr/>
        </p:nvSpPr>
        <p:spPr>
          <a:xfrm>
            <a:off x="719138" y="1665288"/>
            <a:ext cx="2366962" cy="5064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1</a:t>
            </a:r>
            <a:r>
              <a:rPr lang="zh-CN" altLang="en-US" dirty="0">
                <a:solidFill>
                  <a:srgbClr val="FF0000"/>
                </a:solidFill>
              </a:rPr>
              <a:t>步，实体的转换</a:t>
            </a:r>
            <a:endParaRPr lang="zh-CN" altLang="en-US" dirty="0">
              <a:solidFill>
                <a:srgbClr val="FF0000"/>
              </a:solidFill>
            </a:endParaRPr>
          </a:p>
        </p:txBody>
      </p:sp>
      <p:sp>
        <p:nvSpPr>
          <p:cNvPr id="5" name="文本框 4"/>
          <p:cNvSpPr txBox="1"/>
          <p:nvPr/>
        </p:nvSpPr>
        <p:spPr>
          <a:xfrm>
            <a:off x="777875" y="3384550"/>
            <a:ext cx="2365375" cy="5080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第</a:t>
            </a:r>
            <a:r>
              <a:rPr lang="en-US" altLang="zh-CN" dirty="0">
                <a:solidFill>
                  <a:srgbClr val="FF0000"/>
                </a:solidFill>
              </a:rPr>
              <a:t>2</a:t>
            </a:r>
            <a:r>
              <a:rPr lang="zh-CN" altLang="en-US" dirty="0">
                <a:solidFill>
                  <a:srgbClr val="FF0000"/>
                </a:solidFill>
              </a:rPr>
              <a:t>步，联系的转换</a:t>
            </a:r>
            <a:endParaRPr lang="zh-CN" altLang="en-US" dirty="0">
              <a:solidFill>
                <a:srgbClr val="FF0000"/>
              </a:solidFill>
            </a:endParaRPr>
          </a:p>
        </p:txBody>
      </p:sp>
      <p:sp>
        <p:nvSpPr>
          <p:cNvPr id="49" name="文本框 48"/>
          <p:cNvSpPr txBox="1"/>
          <p:nvPr/>
        </p:nvSpPr>
        <p:spPr>
          <a:xfrm>
            <a:off x="777875" y="3871913"/>
            <a:ext cx="8229600" cy="2306638"/>
          </a:xfrm>
          <a:prstGeom prst="rect">
            <a:avLst/>
          </a:prstGeom>
          <a:solidFill>
            <a:schemeClr val="bg1"/>
          </a:solidFill>
          <a:ln>
            <a:solidFill>
              <a:schemeClr val="accent1"/>
            </a:solidFill>
          </a:ln>
        </p:spPr>
        <p:txBody>
          <a:bodyPr>
            <a:spAutoFit/>
          </a:bodyPr>
          <a:lstStyle/>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学生</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姓名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性别</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监管学号</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ea"/>
                <a:sym typeface="+mn-ea"/>
              </a:rPr>
              <a:t>监管学号,</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专业编码为外键</a:t>
            </a:r>
            <a:endPar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课程</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课程编码</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课程名</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学分</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sz="2000"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专业</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专业编码</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专业名称</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endParaRPr kumimoji="0" lang="en-US" altLang="zh-CN" sz="2000" kern="1200" cap="none" spc="0" normalizeH="0" baseline="0" noProof="0">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选课</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学号</a:t>
            </a:r>
            <a:r>
              <a:rPr kumimoji="0" lang="en-US" altLang="zh-CN"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u="sng"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latin typeface="Arial" panose="020B0604020202020204" pitchFamily="34" charset="0"/>
                <a:ea typeface="宋体" panose="02010600030101010101" pitchFamily="2" charset="-122"/>
                <a:cs typeface="+mn-cs"/>
                <a:sym typeface="+mn-ea"/>
              </a:rPr>
              <a:t>学期</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成绩</a:t>
            </a:r>
            <a:r>
              <a:rPr kumimoji="0" lang="en-US" altLang="zh-CN" sz="2000" kern="1200" cap="none" spc="0" normalizeH="0" baseline="0" noProof="0">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学号</a:t>
            </a:r>
            <a:r>
              <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课程编码为外键</a:t>
            </a:r>
            <a:endPar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设置</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a:t>
            </a:r>
            <a:r>
              <a:rPr kumimoji="0" lang="en-US" altLang="zh-CN"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kern="1200" cap="none" spc="0" normalizeH="0" baseline="0" noProof="0">
                <a:latin typeface="Arial" panose="020B0604020202020204" pitchFamily="34" charset="0"/>
                <a:ea typeface="宋体" panose="02010600030101010101" pitchFamily="2" charset="-122"/>
                <a:cs typeface="+mn-cs"/>
                <a:sym typeface="+mn-ea"/>
              </a:rPr>
              <a:t>课程类型</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专业编码</a:t>
            </a:r>
            <a:r>
              <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课程编码为外键</a:t>
            </a:r>
            <a:endPar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a:p>
            <a:pPr marR="0" defTabSz="914400" eaLnBrk="1" hangingPunct="1">
              <a:lnSpc>
                <a:spcPct val="120000"/>
              </a:lnSpc>
              <a:spcBef>
                <a:spcPts val="0"/>
              </a:spcBef>
              <a:spcAft>
                <a:spcPts val="0"/>
              </a:spcAft>
              <a:buClrTx/>
              <a:buSzTx/>
              <a:buFont typeface="Arial" panose="020B0604020202020204" pitchFamily="34" charset="0"/>
              <a:buNone/>
              <a:defRPr/>
            </a:pPr>
            <a:r>
              <a:rPr kumimoji="0" lang="zh-CN" altLang="en-US"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先导</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u="sng" kern="1200" cap="none" spc="0" normalizeH="0" baseline="0" noProof="0">
                <a:solidFill>
                  <a:srgbClr val="0033CC"/>
                </a:solidFill>
                <a:latin typeface="Arial" panose="020B0604020202020204" pitchFamily="34" charset="0"/>
                <a:ea typeface="宋体" panose="02010600030101010101" pitchFamily="2" charset="-122"/>
                <a:cs typeface="+mn-cs"/>
                <a:sym typeface="+mn-ea"/>
              </a:rPr>
              <a:t>先导课程编码</a:t>
            </a:r>
            <a:r>
              <a:rPr kumimoji="0" lang="en-US" altLang="zh-CN" sz="20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课程编码</a:t>
            </a:r>
            <a:r>
              <a:rPr kumimoji="0" lang="en-US" altLang="zh-CN"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a:t>
            </a:r>
            <a:r>
              <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rPr>
              <a:t>先导课程编码为外键</a:t>
            </a:r>
            <a:endParaRPr kumimoji="0" lang="zh-CN" altLang="en-US" sz="2000" i="1" kern="1200" cap="none" spc="0" normalizeH="0" baseline="0" noProof="0">
              <a:solidFill>
                <a:srgbClr val="0033CC"/>
              </a:solidFill>
              <a:latin typeface="Arial" panose="020B0604020202020204" pitchFamily="34" charset="0"/>
              <a:ea typeface="宋体" panose="02010600030101010101" pitchFamily="2" charset="-122"/>
              <a:cs typeface="+mn-cs"/>
              <a:sym typeface="+mn-ea"/>
            </a:endParaRPr>
          </a:p>
        </p:txBody>
      </p:sp>
      <p:sp>
        <p:nvSpPr>
          <p:cNvPr id="53" name="矩形 52"/>
          <p:cNvSpPr/>
          <p:nvPr/>
        </p:nvSpPr>
        <p:spPr>
          <a:xfrm>
            <a:off x="4349750" y="3997325"/>
            <a:ext cx="928688"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4" name="矩形 53"/>
          <p:cNvSpPr/>
          <p:nvPr/>
        </p:nvSpPr>
        <p:spPr>
          <a:xfrm>
            <a:off x="1495425" y="5095875"/>
            <a:ext cx="2727325" cy="276225"/>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5" name="矩形 54"/>
          <p:cNvSpPr/>
          <p:nvPr/>
        </p:nvSpPr>
        <p:spPr>
          <a:xfrm>
            <a:off x="1495425" y="5454650"/>
            <a:ext cx="3200400" cy="276225"/>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6" name="矩形 55"/>
          <p:cNvSpPr/>
          <p:nvPr/>
        </p:nvSpPr>
        <p:spPr>
          <a:xfrm>
            <a:off x="1495425" y="5829300"/>
            <a:ext cx="2593975"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57" name="矩形 56"/>
          <p:cNvSpPr/>
          <p:nvPr/>
        </p:nvSpPr>
        <p:spPr>
          <a:xfrm>
            <a:off x="3284538" y="3997325"/>
            <a:ext cx="938213" cy="274638"/>
          </a:xfrm>
          <a:prstGeom prst="rect">
            <a:avLst/>
          </a:prstGeom>
          <a:gradFill>
            <a:gsLst>
              <a:gs pos="0">
                <a:srgbClr val="FBFB11">
                  <a:alpha val="0"/>
                </a:srgbClr>
              </a:gs>
              <a:gs pos="100000">
                <a:srgbClr val="83830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3006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fill="hold"/>
                                        <p:tgtEl>
                                          <p:spTgt spid="49"/>
                                        </p:tgtEl>
                                        <p:attrNameLst>
                                          <p:attrName>ppt_x</p:attrName>
                                        </p:attrNameLst>
                                      </p:cBhvr>
                                      <p:tavLst>
                                        <p:tav tm="0">
                                          <p:val>
                                            <p:strVal val="#ppt_x"/>
                                          </p:val>
                                        </p:tav>
                                        <p:tav tm="100000">
                                          <p:val>
                                            <p:strVal val="#ppt_x"/>
                                          </p:val>
                                        </p:tav>
                                      </p:tavLst>
                                    </p:anim>
                                    <p:anim calcmode="lin" valueType="num">
                                      <p:cBhvr additive="base">
                                        <p:cTn id="22"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7"/>
                                        </p:tgtEl>
                                        <p:attrNameLst>
                                          <p:attrName>style.visibility</p:attrName>
                                        </p:attrNameLst>
                                      </p:cBhvr>
                                      <p:to>
                                        <p:strVal val="visible"/>
                                      </p:to>
                                    </p:set>
                                    <p:anim calcmode="lin" valueType="num">
                                      <p:cBhvr additive="base">
                                        <p:cTn id="27" dur="500" fill="hold"/>
                                        <p:tgtEl>
                                          <p:spTgt spid="57"/>
                                        </p:tgtEl>
                                        <p:attrNameLst>
                                          <p:attrName>ppt_x</p:attrName>
                                        </p:attrNameLst>
                                      </p:cBhvr>
                                      <p:tavLst>
                                        <p:tav tm="0">
                                          <p:val>
                                            <p:strVal val="#ppt_x"/>
                                          </p:val>
                                        </p:tav>
                                        <p:tav tm="100000">
                                          <p:val>
                                            <p:strVal val="#ppt_x"/>
                                          </p:val>
                                        </p:tav>
                                      </p:tavLst>
                                    </p:anim>
                                    <p:anim calcmode="lin" valueType="num">
                                      <p:cBhvr additive="base">
                                        <p:cTn id="28" dur="500" fill="hold"/>
                                        <p:tgtEl>
                                          <p:spTgt spid="57"/>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additive="base">
                                        <p:cTn id="31" dur="500" fill="hold"/>
                                        <p:tgtEl>
                                          <p:spTgt spid="53"/>
                                        </p:tgtEl>
                                        <p:attrNameLst>
                                          <p:attrName>ppt_x</p:attrName>
                                        </p:attrNameLst>
                                      </p:cBhvr>
                                      <p:tavLst>
                                        <p:tav tm="0">
                                          <p:val>
                                            <p:strVal val="#ppt_x"/>
                                          </p:val>
                                        </p:tav>
                                        <p:tav tm="100000">
                                          <p:val>
                                            <p:strVal val="#ppt_x"/>
                                          </p:val>
                                        </p:tav>
                                      </p:tavLst>
                                    </p:anim>
                                    <p:anim calcmode="lin" valueType="num">
                                      <p:cBhvr additive="base">
                                        <p:cTn id="32" dur="500" fill="hold"/>
                                        <p:tgtEl>
                                          <p:spTgt spid="53"/>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anim calcmode="lin" valueType="num">
                                      <p:cBhvr additive="base">
                                        <p:cTn id="35" dur="500" fill="hold"/>
                                        <p:tgtEl>
                                          <p:spTgt spid="54"/>
                                        </p:tgtEl>
                                        <p:attrNameLst>
                                          <p:attrName>ppt_x</p:attrName>
                                        </p:attrNameLst>
                                      </p:cBhvr>
                                      <p:tavLst>
                                        <p:tav tm="0">
                                          <p:val>
                                            <p:strVal val="#ppt_x"/>
                                          </p:val>
                                        </p:tav>
                                        <p:tav tm="100000">
                                          <p:val>
                                            <p:strVal val="#ppt_x"/>
                                          </p:val>
                                        </p:tav>
                                      </p:tavLst>
                                    </p:anim>
                                    <p:anim calcmode="lin" valueType="num">
                                      <p:cBhvr additive="base">
                                        <p:cTn id="36" dur="500" fill="hold"/>
                                        <p:tgtEl>
                                          <p:spTgt spid="5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5"/>
                                        </p:tgtEl>
                                        <p:attrNameLst>
                                          <p:attrName>style.visibility</p:attrName>
                                        </p:attrNameLst>
                                      </p:cBhvr>
                                      <p:to>
                                        <p:strVal val="visible"/>
                                      </p:to>
                                    </p:set>
                                    <p:anim calcmode="lin" valueType="num">
                                      <p:cBhvr additive="base">
                                        <p:cTn id="39" dur="500" fill="hold"/>
                                        <p:tgtEl>
                                          <p:spTgt spid="55"/>
                                        </p:tgtEl>
                                        <p:attrNameLst>
                                          <p:attrName>ppt_x</p:attrName>
                                        </p:attrNameLst>
                                      </p:cBhvr>
                                      <p:tavLst>
                                        <p:tav tm="0">
                                          <p:val>
                                            <p:strVal val="#ppt_x"/>
                                          </p:val>
                                        </p:tav>
                                        <p:tav tm="100000">
                                          <p:val>
                                            <p:strVal val="#ppt_x"/>
                                          </p:val>
                                        </p:tav>
                                      </p:tavLst>
                                    </p:anim>
                                    <p:anim calcmode="lin" valueType="num">
                                      <p:cBhvr additive="base">
                                        <p:cTn id="40" dur="500" fill="hold"/>
                                        <p:tgtEl>
                                          <p:spTgt spid="55"/>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anim calcmode="lin" valueType="num">
                                      <p:cBhvr additive="base">
                                        <p:cTn id="43" dur="500" fill="hold"/>
                                        <p:tgtEl>
                                          <p:spTgt spid="56"/>
                                        </p:tgtEl>
                                        <p:attrNameLst>
                                          <p:attrName>ppt_x</p:attrName>
                                        </p:attrNameLst>
                                      </p:cBhvr>
                                      <p:tavLst>
                                        <p:tav tm="0">
                                          <p:val>
                                            <p:strVal val="#ppt_x"/>
                                          </p:val>
                                        </p:tav>
                                        <p:tav tm="100000">
                                          <p:val>
                                            <p:strVal val="#ppt_x"/>
                                          </p:val>
                                        </p:tav>
                                      </p:tavLst>
                                    </p:anim>
                                    <p:anim calcmode="lin" valueType="num">
                                      <p:cBhvr additive="base">
                                        <p:cTn id="44"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p:bldP spid="5" grpId="0"/>
      <p:bldP spid="49" grpId="0" bldLvl="0" animBg="1"/>
      <p:bldP spid="53" grpId="0" bldLvl="0" animBg="1"/>
      <p:bldP spid="54" grpId="0" animBg="1"/>
      <p:bldP spid="55" grpId="0" animBg="1"/>
      <p:bldP spid="56" grpId="0" animBg="1"/>
      <p:bldP spid="57"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文本框 1"/>
          <p:cNvSpPr txBox="1"/>
          <p:nvPr/>
        </p:nvSpPr>
        <p:spPr>
          <a:xfrm>
            <a:off x="528638" y="1258888"/>
            <a:ext cx="8401050" cy="414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t>（</a:t>
            </a:r>
            <a:r>
              <a:rPr lang="en-US" altLang="zh-CN" sz="2100" dirty="0"/>
              <a:t>2</a:t>
            </a:r>
            <a:r>
              <a:rPr lang="zh-CN" altLang="en-US" sz="2100" dirty="0"/>
              <a:t>）</a:t>
            </a:r>
            <a:r>
              <a:rPr lang="zh-CN" altLang="en-US" sz="2100" dirty="0">
                <a:sym typeface="+mn-ea"/>
              </a:rPr>
              <a:t>写出创建学生、课程和先导关系的</a:t>
            </a:r>
            <a:r>
              <a:rPr lang="en-US" altLang="zh-CN" sz="2100" dirty="0">
                <a:sym typeface="+mn-ea"/>
              </a:rPr>
              <a:t>DDL</a:t>
            </a:r>
            <a:r>
              <a:rPr lang="zh-CN" altLang="en-US" sz="2100" dirty="0">
                <a:sym typeface="+mn-ea"/>
              </a:rPr>
              <a:t>语句。</a:t>
            </a:r>
            <a:endParaRPr lang="zh-CN" altLang="en-US" sz="2100" dirty="0"/>
          </a:p>
        </p:txBody>
      </p:sp>
      <p:sp>
        <p:nvSpPr>
          <p:cNvPr id="45" name="文本框 44"/>
          <p:cNvSpPr txBox="1"/>
          <p:nvPr/>
        </p:nvSpPr>
        <p:spPr>
          <a:xfrm>
            <a:off x="484188" y="55880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5122" name="Rectangle 3"/>
          <p:cNvSpPr txBox="1"/>
          <p:nvPr/>
        </p:nvSpPr>
        <p:spPr>
          <a:xfrm>
            <a:off x="715963" y="3527425"/>
            <a:ext cx="8213725" cy="1470025"/>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dirty="0"/>
              <a:t>CREATE  TABLE 课程</a:t>
            </a:r>
            <a:endParaRPr lang="zh-CN" altLang="en-US" dirty="0"/>
          </a:p>
          <a:p>
            <a:pPr marL="533400" lvl="0" indent="-533400" eaLnBrk="1" hangingPunct="1">
              <a:spcBef>
                <a:spcPts val="25"/>
              </a:spcBef>
              <a:buNone/>
            </a:pPr>
            <a:r>
              <a:rPr lang="zh-CN" altLang="en-US" dirty="0"/>
              <a:t> ( </a:t>
            </a:r>
            <a:r>
              <a:rPr lang="en-US" altLang="zh-CN" dirty="0"/>
              <a:t>C</a:t>
            </a:r>
            <a:r>
              <a:rPr lang="zh-CN" altLang="en-US" dirty="0"/>
              <a:t>No Char(8) </a:t>
            </a:r>
            <a:r>
              <a:rPr lang="zh-CN" altLang="en-US" dirty="0">
                <a:solidFill>
                  <a:srgbClr val="FF0000"/>
                </a:solidFill>
              </a:rPr>
              <a:t>primary key</a:t>
            </a:r>
            <a:r>
              <a:rPr lang="zh-CN" altLang="en-US" dirty="0"/>
              <a:t>,</a:t>
            </a:r>
            <a:endParaRPr lang="zh-CN" altLang="en-US" dirty="0"/>
          </a:p>
          <a:p>
            <a:pPr marL="533400" lvl="0" indent="-533400" eaLnBrk="1" hangingPunct="1">
              <a:spcBef>
                <a:spcPts val="25"/>
              </a:spcBef>
              <a:buNone/>
            </a:pPr>
            <a:r>
              <a:rPr lang="zh-CN" altLang="en-US" dirty="0"/>
              <a:t>   </a:t>
            </a:r>
            <a:r>
              <a:rPr lang="en-US" altLang="zh-CN" dirty="0"/>
              <a:t>C</a:t>
            </a:r>
            <a:r>
              <a:rPr lang="zh-CN" altLang="en-US" dirty="0"/>
              <a:t>Name varchar(20) NOT NULL,</a:t>
            </a:r>
            <a:endParaRPr lang="zh-CN" altLang="en-US" dirty="0"/>
          </a:p>
          <a:p>
            <a:pPr marL="533400" lvl="0" indent="-533400" eaLnBrk="1" hangingPunct="1">
              <a:spcBef>
                <a:spcPts val="25"/>
              </a:spcBef>
              <a:buNone/>
            </a:pPr>
            <a:r>
              <a:rPr lang="zh-CN" altLang="en-US" dirty="0"/>
              <a:t>   </a:t>
            </a:r>
            <a:r>
              <a:rPr lang="en-US" altLang="zh-CN" dirty="0"/>
              <a:t>Credit tinyint check(</a:t>
            </a:r>
            <a:r>
              <a:rPr lang="en-US" altLang="zh-CN" dirty="0">
                <a:sym typeface="+mn-ea"/>
              </a:rPr>
              <a:t>Credit between 1 and 6)</a:t>
            </a:r>
            <a:r>
              <a:rPr lang="zh-CN" altLang="en-US" dirty="0"/>
              <a:t> )</a:t>
            </a:r>
            <a:endParaRPr lang="zh-CN" altLang="en-US" dirty="0"/>
          </a:p>
        </p:txBody>
      </p:sp>
      <p:sp>
        <p:nvSpPr>
          <p:cNvPr id="7171" name="Rectangle 3"/>
          <p:cNvSpPr txBox="1"/>
          <p:nvPr/>
        </p:nvSpPr>
        <p:spPr>
          <a:xfrm>
            <a:off x="715963" y="4908550"/>
            <a:ext cx="8213725" cy="1409700"/>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05000"/>
              </a:lnSpc>
              <a:spcBef>
                <a:spcPct val="0"/>
              </a:spcBef>
              <a:buNone/>
            </a:pPr>
            <a:r>
              <a:rPr lang="zh-CN" altLang="en-US" sz="2100" dirty="0"/>
              <a:t> </a:t>
            </a:r>
            <a:r>
              <a:rPr lang="zh-CN" altLang="en-US" sz="1900" dirty="0"/>
              <a:t>CREATE  TABLE  先导</a:t>
            </a:r>
            <a:endParaRPr lang="zh-CN" altLang="en-US" sz="1900" dirty="0"/>
          </a:p>
          <a:p>
            <a:pPr marL="533400" lvl="0" indent="-533400" eaLnBrk="1" hangingPunct="1">
              <a:lnSpc>
                <a:spcPct val="105000"/>
              </a:lnSpc>
              <a:spcBef>
                <a:spcPct val="0"/>
              </a:spcBef>
              <a:buNone/>
            </a:pPr>
            <a:r>
              <a:rPr lang="zh-CN" altLang="en-US" sz="1900" dirty="0"/>
              <a:t>(   </a:t>
            </a:r>
            <a:r>
              <a:rPr lang="en-US" altLang="zh-CN" sz="1900" dirty="0"/>
              <a:t>C</a:t>
            </a:r>
            <a:r>
              <a:rPr lang="zh-CN" altLang="en-US" sz="1900" dirty="0"/>
              <a:t>No char(8) </a:t>
            </a:r>
            <a:r>
              <a:rPr lang="en-US" altLang="zh-CN" sz="1900" dirty="0">
                <a:solidFill>
                  <a:srgbClr val="0033CC"/>
                </a:solidFill>
              </a:rPr>
              <a:t>foreign</a:t>
            </a:r>
            <a:r>
              <a:rPr lang="zh-CN" altLang="en-US" sz="1900" dirty="0">
                <a:solidFill>
                  <a:srgbClr val="0033CC"/>
                </a:solidFill>
              </a:rPr>
              <a:t> key </a:t>
            </a:r>
            <a:r>
              <a:rPr lang="en-US" altLang="zh-CN" sz="1900" dirty="0">
                <a:solidFill>
                  <a:srgbClr val="0033CC"/>
                </a:solidFill>
              </a:rPr>
              <a:t>references </a:t>
            </a:r>
            <a:r>
              <a:rPr lang="zh-CN" altLang="en-US" sz="1900" dirty="0">
                <a:solidFill>
                  <a:srgbClr val="0033CC"/>
                </a:solidFill>
              </a:rPr>
              <a:t>课程</a:t>
            </a:r>
            <a:r>
              <a:rPr lang="en-US" altLang="zh-CN" sz="1900" dirty="0">
                <a:solidFill>
                  <a:srgbClr val="0033CC"/>
                </a:solidFill>
              </a:rPr>
              <a:t>(CNo)</a:t>
            </a:r>
            <a:r>
              <a:rPr lang="zh-CN" altLang="en-US" sz="1900" dirty="0"/>
              <a:t>,</a:t>
            </a:r>
            <a:endParaRPr lang="zh-CN" altLang="en-US" sz="1900" dirty="0"/>
          </a:p>
          <a:p>
            <a:pPr marL="533400" lvl="0" indent="-533400" eaLnBrk="1" hangingPunct="1">
              <a:lnSpc>
                <a:spcPct val="105000"/>
              </a:lnSpc>
              <a:spcBef>
                <a:spcPct val="0"/>
              </a:spcBef>
              <a:buNone/>
            </a:pPr>
            <a:r>
              <a:rPr lang="zh-CN" altLang="en-US" sz="1900" dirty="0"/>
              <a:t>    </a:t>
            </a:r>
            <a:r>
              <a:rPr lang="en-US" altLang="zh-CN" sz="1900" dirty="0"/>
              <a:t>PCNo</a:t>
            </a:r>
            <a:r>
              <a:rPr lang="zh-CN" altLang="en-US" sz="1900" dirty="0"/>
              <a:t> </a:t>
            </a:r>
            <a:r>
              <a:rPr lang="zh-CN" altLang="en-US" sz="1900" dirty="0">
                <a:sym typeface="+mn-ea"/>
              </a:rPr>
              <a:t>char(8) </a:t>
            </a:r>
            <a:r>
              <a:rPr lang="en-US" altLang="zh-CN" sz="1900" dirty="0">
                <a:solidFill>
                  <a:srgbClr val="0033CC"/>
                </a:solidFill>
                <a:sym typeface="+mn-ea"/>
              </a:rPr>
              <a:t>foreign</a:t>
            </a:r>
            <a:r>
              <a:rPr lang="zh-CN" altLang="en-US" sz="1900" dirty="0">
                <a:solidFill>
                  <a:srgbClr val="0033CC"/>
                </a:solidFill>
                <a:sym typeface="+mn-ea"/>
              </a:rPr>
              <a:t> key </a:t>
            </a:r>
            <a:r>
              <a:rPr lang="en-US" altLang="zh-CN" sz="1900" dirty="0">
                <a:solidFill>
                  <a:srgbClr val="0033CC"/>
                </a:solidFill>
                <a:sym typeface="+mn-ea"/>
              </a:rPr>
              <a:t>references </a:t>
            </a:r>
            <a:r>
              <a:rPr lang="zh-CN" altLang="en-US" sz="1900" dirty="0">
                <a:solidFill>
                  <a:srgbClr val="0033CC"/>
                </a:solidFill>
                <a:sym typeface="+mn-ea"/>
              </a:rPr>
              <a:t>课程</a:t>
            </a:r>
            <a:r>
              <a:rPr lang="en-US" altLang="zh-CN" sz="1900" dirty="0">
                <a:solidFill>
                  <a:srgbClr val="0033CC"/>
                </a:solidFill>
                <a:sym typeface="+mn-ea"/>
              </a:rPr>
              <a:t>(CNo)</a:t>
            </a:r>
            <a:r>
              <a:rPr lang="en-US" altLang="zh-CN" sz="1900" dirty="0">
                <a:sym typeface="+mn-ea"/>
              </a:rPr>
              <a:t>,</a:t>
            </a:r>
            <a:endParaRPr lang="en-US" altLang="zh-CN" sz="1900" dirty="0">
              <a:sym typeface="+mn-ea"/>
            </a:endParaRPr>
          </a:p>
          <a:p>
            <a:pPr marL="533400" lvl="0" indent="-533400" eaLnBrk="1" hangingPunct="1">
              <a:lnSpc>
                <a:spcPct val="105000"/>
              </a:lnSpc>
              <a:spcBef>
                <a:spcPct val="0"/>
              </a:spcBef>
              <a:buNone/>
            </a:pPr>
            <a:r>
              <a:rPr lang="en-US" altLang="zh-CN" sz="1900" dirty="0">
                <a:sym typeface="+mn-ea"/>
              </a:rPr>
              <a:t>    </a:t>
            </a:r>
            <a:r>
              <a:rPr lang="en-US" altLang="zh-CN" sz="1900" dirty="0">
                <a:solidFill>
                  <a:srgbClr val="FF0000"/>
                </a:solidFill>
                <a:sym typeface="+mn-ea"/>
              </a:rPr>
              <a:t>Primary key(CNo,PCNo)</a:t>
            </a:r>
            <a:r>
              <a:rPr lang="zh-CN" altLang="en-US" sz="1900" dirty="0"/>
              <a:t> )</a:t>
            </a:r>
            <a:endParaRPr lang="zh-CN" altLang="en-US" sz="1900" dirty="0"/>
          </a:p>
        </p:txBody>
      </p:sp>
      <p:sp>
        <p:nvSpPr>
          <p:cNvPr id="5" name="椭圆 4"/>
          <p:cNvSpPr/>
          <p:nvPr/>
        </p:nvSpPr>
        <p:spPr>
          <a:xfrm>
            <a:off x="715963" y="5867400"/>
            <a:ext cx="3876675" cy="347663"/>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7" name="Rectangle 3"/>
          <p:cNvSpPr txBox="1"/>
          <p:nvPr/>
        </p:nvSpPr>
        <p:spPr>
          <a:xfrm>
            <a:off x="677863" y="1654175"/>
            <a:ext cx="8123237" cy="1470025"/>
          </a:xfrm>
          <a:prstGeom prst="rect">
            <a:avLst/>
          </a:prstGeom>
          <a:solidFill>
            <a:srgbClr val="F4FEFE"/>
          </a:solid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25"/>
              </a:spcBef>
              <a:buNone/>
            </a:pPr>
            <a:r>
              <a:rPr lang="zh-CN" altLang="en-US" sz="2100" dirty="0"/>
              <a:t> </a:t>
            </a:r>
            <a:r>
              <a:rPr lang="zh-CN" altLang="en-US" sz="1900" dirty="0"/>
              <a:t>CREATE  TABLE 学生</a:t>
            </a:r>
            <a:endParaRPr lang="zh-CN" altLang="en-US" sz="1900" dirty="0"/>
          </a:p>
          <a:p>
            <a:pPr marL="533400" lvl="0" indent="-533400" eaLnBrk="1" hangingPunct="1">
              <a:spcBef>
                <a:spcPts val="25"/>
              </a:spcBef>
              <a:buNone/>
            </a:pPr>
            <a:r>
              <a:rPr lang="zh-CN" altLang="en-US" sz="1900" dirty="0"/>
              <a:t> ( </a:t>
            </a:r>
            <a:r>
              <a:rPr lang="en-US" altLang="zh-CN" sz="1900" dirty="0"/>
              <a:t>S</a:t>
            </a:r>
            <a:r>
              <a:rPr lang="zh-CN" altLang="en-US" sz="1900" dirty="0"/>
              <a:t>No Char(</a:t>
            </a:r>
            <a:r>
              <a:rPr lang="en-US" altLang="zh-CN" sz="1900" dirty="0"/>
              <a:t>10</a:t>
            </a:r>
            <a:r>
              <a:rPr lang="zh-CN" altLang="en-US" sz="1900" dirty="0"/>
              <a:t>) </a:t>
            </a:r>
            <a:r>
              <a:rPr lang="zh-CN" altLang="en-US" sz="1900" dirty="0">
                <a:solidFill>
                  <a:srgbClr val="FF0000"/>
                </a:solidFill>
              </a:rPr>
              <a:t>primary key</a:t>
            </a:r>
            <a:r>
              <a:rPr lang="zh-CN" altLang="en-US" sz="1900" dirty="0"/>
              <a:t>,</a:t>
            </a:r>
            <a:endParaRPr lang="zh-CN" altLang="en-US" sz="1900" dirty="0"/>
          </a:p>
          <a:p>
            <a:pPr marL="533400" lvl="0" indent="-533400" eaLnBrk="1" hangingPunct="1">
              <a:spcBef>
                <a:spcPts val="25"/>
              </a:spcBef>
              <a:buNone/>
            </a:pPr>
            <a:r>
              <a:rPr lang="zh-CN" altLang="en-US" sz="1900" dirty="0"/>
              <a:t>   </a:t>
            </a:r>
            <a:r>
              <a:rPr lang="en-US" altLang="zh-CN" sz="1900" dirty="0"/>
              <a:t>S</a:t>
            </a:r>
            <a:r>
              <a:rPr lang="zh-CN" altLang="en-US" sz="1900" dirty="0"/>
              <a:t>Name varchar(20) NOT NULL,</a:t>
            </a:r>
            <a:endParaRPr lang="zh-CN" altLang="en-US" sz="1900" dirty="0"/>
          </a:p>
          <a:p>
            <a:pPr marL="533400" lvl="0" indent="-533400" eaLnBrk="1" hangingPunct="1">
              <a:spcBef>
                <a:spcPts val="25"/>
              </a:spcBef>
              <a:buNone/>
            </a:pPr>
            <a:r>
              <a:rPr lang="zh-CN" altLang="en-US" sz="1900" dirty="0"/>
              <a:t>   </a:t>
            </a:r>
            <a:r>
              <a:rPr lang="en-US" altLang="zh-CN" sz="1900" dirty="0"/>
              <a:t>SGender char(2) check(</a:t>
            </a:r>
            <a:r>
              <a:rPr lang="en-US" altLang="zh-CN" sz="1900" dirty="0">
                <a:sym typeface="+mn-ea"/>
              </a:rPr>
              <a:t>SGender in('</a:t>
            </a:r>
            <a:r>
              <a:rPr lang="zh-CN" altLang="en-US" sz="1900" dirty="0">
                <a:sym typeface="+mn-ea"/>
              </a:rPr>
              <a:t>男</a:t>
            </a:r>
            <a:r>
              <a:rPr lang="en-US" altLang="zh-CN" sz="1900" dirty="0">
                <a:sym typeface="+mn-ea"/>
              </a:rPr>
              <a:t>','</a:t>
            </a:r>
            <a:r>
              <a:rPr lang="zh-CN" altLang="en-US" sz="1900" dirty="0">
                <a:sym typeface="+mn-ea"/>
              </a:rPr>
              <a:t>女</a:t>
            </a:r>
            <a:r>
              <a:rPr lang="en-US" altLang="zh-CN" sz="1900" dirty="0">
                <a:sym typeface="+mn-ea"/>
              </a:rPr>
              <a:t>'))</a:t>
            </a:r>
            <a:r>
              <a:rPr lang="zh-CN" altLang="en-US" sz="1900" dirty="0">
                <a:sym typeface="+mn-ea"/>
              </a:rPr>
              <a:t>,</a:t>
            </a:r>
            <a:endParaRPr lang="zh-CN" altLang="en-US" sz="1900" dirty="0">
              <a:sym typeface="+mn-ea"/>
            </a:endParaRPr>
          </a:p>
          <a:p>
            <a:pPr marL="533400" lvl="0" indent="-533400" eaLnBrk="1" hangingPunct="1">
              <a:spcBef>
                <a:spcPts val="25"/>
              </a:spcBef>
              <a:buNone/>
            </a:pPr>
            <a:r>
              <a:rPr lang="zh-CN" altLang="en-US" sz="1900" dirty="0">
                <a:sym typeface="+mn-ea"/>
              </a:rPr>
              <a:t>   </a:t>
            </a:r>
            <a:r>
              <a:rPr lang="en-US" altLang="zh-CN" sz="1900" dirty="0">
                <a:sym typeface="+mn-ea"/>
              </a:rPr>
              <a:t>JSNo char(10) </a:t>
            </a:r>
            <a:r>
              <a:rPr lang="en-US" altLang="zh-CN" sz="1900" dirty="0">
                <a:solidFill>
                  <a:srgbClr val="0033CC"/>
                </a:solidFill>
                <a:sym typeface="+mn-ea"/>
              </a:rPr>
              <a:t>foreign key references </a:t>
            </a:r>
            <a:r>
              <a:rPr lang="zh-CN" altLang="en-US" sz="1900" dirty="0">
                <a:solidFill>
                  <a:srgbClr val="0033CC"/>
                </a:solidFill>
                <a:sym typeface="+mn-ea"/>
              </a:rPr>
              <a:t>学生</a:t>
            </a:r>
            <a:r>
              <a:rPr lang="en-US" altLang="zh-CN" sz="1900" dirty="0">
                <a:solidFill>
                  <a:srgbClr val="0033CC"/>
                </a:solidFill>
                <a:sym typeface="+mn-ea"/>
              </a:rPr>
              <a:t>(SNo)</a:t>
            </a:r>
            <a:r>
              <a:rPr lang="en-US" altLang="zh-CN" sz="1900" dirty="0">
                <a:sym typeface="+mn-ea"/>
              </a:rPr>
              <a:t>,</a:t>
            </a:r>
            <a:endParaRPr lang="zh-CN" altLang="en-US" sz="1900" dirty="0"/>
          </a:p>
          <a:p>
            <a:pPr marL="533400" lvl="0" indent="-533400" eaLnBrk="1" hangingPunct="1">
              <a:spcBef>
                <a:spcPts val="25"/>
              </a:spcBef>
              <a:buNone/>
            </a:pPr>
            <a:r>
              <a:rPr lang="zh-CN" altLang="en-US" sz="1900" dirty="0"/>
              <a:t>   </a:t>
            </a:r>
            <a:r>
              <a:rPr lang="en-US" altLang="zh-CN" sz="1900" dirty="0"/>
              <a:t>SMajor char(8) </a:t>
            </a:r>
            <a:r>
              <a:rPr lang="en-US" altLang="zh-CN" sz="1900" dirty="0">
                <a:solidFill>
                  <a:srgbClr val="0033CC"/>
                </a:solidFill>
                <a:sym typeface="+mn-ea"/>
              </a:rPr>
              <a:t>foreign key references  </a:t>
            </a:r>
            <a:r>
              <a:rPr lang="zh-CN" altLang="en-US" sz="1900" dirty="0">
                <a:solidFill>
                  <a:srgbClr val="0033CC"/>
                </a:solidFill>
                <a:sym typeface="+mn-ea"/>
              </a:rPr>
              <a:t>专业</a:t>
            </a:r>
            <a:r>
              <a:rPr lang="en-US" altLang="zh-CN" sz="1900" dirty="0">
                <a:solidFill>
                  <a:srgbClr val="0033CC"/>
                </a:solidFill>
                <a:sym typeface="+mn-ea"/>
              </a:rPr>
              <a:t>(MNo)</a:t>
            </a:r>
            <a:r>
              <a:rPr lang="zh-CN" altLang="en-US" sz="1900" dirty="0">
                <a:solidFill>
                  <a:srgbClr val="0033CC"/>
                </a:solidFill>
              </a:rPr>
              <a:t> </a:t>
            </a:r>
            <a:r>
              <a:rPr lang="zh-CN" altLang="en-US" sz="1900" dirty="0"/>
              <a:t>)</a:t>
            </a:r>
            <a:endParaRPr lang="zh-CN" altLang="en-US" sz="1900" dirty="0"/>
          </a:p>
        </p:txBody>
      </p:sp>
      <p:sp>
        <p:nvSpPr>
          <p:cNvPr id="8" name="椭圆 7"/>
          <p:cNvSpPr/>
          <p:nvPr/>
        </p:nvSpPr>
        <p:spPr>
          <a:xfrm>
            <a:off x="715963" y="2887663"/>
            <a:ext cx="5975350" cy="346075"/>
          </a:xfrm>
          <a:prstGeom prst="ellipse">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31081" name="Rectangle 2"/>
          <p:cNvSpPr/>
          <p:nvPr/>
        </p:nvSpPr>
        <p:spPr>
          <a:xfrm>
            <a:off x="457200" y="104775"/>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FF0000"/>
                </a:solidFill>
                <a:ea typeface="黑体" panose="02010609060101010101" pitchFamily="49" charset="-122"/>
              </a:rPr>
              <a:t>四、实体联系模型向关系模型的转换</a:t>
            </a:r>
            <a:endParaRPr lang="en-US" altLang="zh-CN" sz="3200" dirty="0">
              <a:solidFill>
                <a:srgbClr val="FF0000"/>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2"/>
                                        </p:tgtEl>
                                        <p:attrNameLst>
                                          <p:attrName>style.visibility</p:attrName>
                                        </p:attrNameLst>
                                      </p:cBhvr>
                                      <p:to>
                                        <p:strVal val="visible"/>
                                      </p:to>
                                    </p:set>
                                    <p:anim calcmode="lin" valueType="num">
                                      <p:cBhvr additive="base">
                                        <p:cTn id="19" dur="500" fill="hold"/>
                                        <p:tgtEl>
                                          <p:spTgt spid="5122"/>
                                        </p:tgtEl>
                                        <p:attrNameLst>
                                          <p:attrName>ppt_x</p:attrName>
                                        </p:attrNameLst>
                                      </p:cBhvr>
                                      <p:tavLst>
                                        <p:tav tm="0">
                                          <p:val>
                                            <p:strVal val="#ppt_x"/>
                                          </p:val>
                                        </p:tav>
                                        <p:tav tm="100000">
                                          <p:val>
                                            <p:strVal val="#ppt_x"/>
                                          </p:val>
                                        </p:tav>
                                      </p:tavLst>
                                    </p:anim>
                                    <p:anim calcmode="lin" valueType="num">
                                      <p:cBhvr additive="base">
                                        <p:cTn id="20"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1"/>
                                        </p:tgtEl>
                                        <p:attrNameLst>
                                          <p:attrName>style.visibility</p:attrName>
                                        </p:attrNameLst>
                                      </p:cBhvr>
                                      <p:to>
                                        <p:strVal val="visible"/>
                                      </p:to>
                                    </p:set>
                                    <p:anim calcmode="lin" valueType="num">
                                      <p:cBhvr additive="base">
                                        <p:cTn id="25" dur="500" fill="hold"/>
                                        <p:tgtEl>
                                          <p:spTgt spid="7171"/>
                                        </p:tgtEl>
                                        <p:attrNameLst>
                                          <p:attrName>ppt_x</p:attrName>
                                        </p:attrNameLst>
                                      </p:cBhvr>
                                      <p:tavLst>
                                        <p:tav tm="0">
                                          <p:val>
                                            <p:strVal val="#ppt_x"/>
                                          </p:val>
                                        </p:tav>
                                        <p:tav tm="100000">
                                          <p:val>
                                            <p:strVal val="#ppt_x"/>
                                          </p:val>
                                        </p:tav>
                                      </p:tavLst>
                                    </p:anim>
                                    <p:anim calcmode="lin" valueType="num">
                                      <p:cBhvr additive="base">
                                        <p:cTn id="26" dur="500" fill="hold"/>
                                        <p:tgtEl>
                                          <p:spTgt spid="717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7171" grpId="0" bldLvl="0" animBg="1"/>
      <p:bldP spid="5" grpId="0" bldLvl="0" animBg="1"/>
      <p:bldP spid="7" grpId="0" bldLvl="0" animBg="1"/>
      <p:bldP spid="8" grpId="0" bldLvl="0" animBg="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8" name="Rectangle 3"/>
          <p:cNvSpPr txBox="1"/>
          <p:nvPr/>
        </p:nvSpPr>
        <p:spPr>
          <a:xfrm>
            <a:off x="600075" y="1450975"/>
            <a:ext cx="7977188" cy="48339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gn="just" eaLnBrk="1" hangingPunct="1">
              <a:spcBef>
                <a:spcPts val="1200"/>
              </a:spcBef>
            </a:pPr>
            <a:r>
              <a:rPr lang="zh-CN" altLang="en-US" sz="2400" dirty="0">
                <a:latin typeface="华文楷体" panose="02010600040101010101" pitchFamily="2" charset="-122"/>
              </a:rPr>
              <a:t>关系代数：Relational Algebra</a:t>
            </a:r>
            <a:endParaRPr lang="zh-CN" altLang="en-US" sz="2400" dirty="0">
              <a:latin typeface="华文楷体" panose="02010600040101010101" pitchFamily="2" charset="-122"/>
            </a:endParaRPr>
          </a:p>
          <a:p>
            <a:pPr marL="342900" lvl="0" indent="-342900" algn="just" eaLnBrk="1" hangingPunct="1">
              <a:spcBef>
                <a:spcPts val="1200"/>
              </a:spcBef>
            </a:pPr>
            <a:r>
              <a:rPr lang="zh-CN" altLang="en-US" sz="2400" dirty="0">
                <a:latin typeface="华文楷体" panose="02010600040101010101" pitchFamily="2" charset="-122"/>
              </a:rPr>
              <a:t>关系运算：Relational Calculus</a:t>
            </a:r>
            <a:endParaRPr lang="zh-CN" altLang="en-US" sz="2400" dirty="0">
              <a:latin typeface="华文楷体" panose="02010600040101010101" pitchFamily="2" charset="-122"/>
            </a:endParaRPr>
          </a:p>
          <a:p>
            <a:pPr marL="342900" lvl="0" indent="-342900" algn="just" eaLnBrk="1" hangingPunct="1">
              <a:spcBef>
                <a:spcPts val="1200"/>
              </a:spcBef>
            </a:pPr>
            <a:r>
              <a:rPr lang="zh-CN" altLang="en-US" sz="2400" dirty="0">
                <a:latin typeface="华文楷体" panose="02010600040101010101" pitchFamily="2" charset="-122"/>
              </a:rPr>
              <a:t>关系代数和关系运算是数据库的理论基础之一。</a:t>
            </a:r>
            <a:endParaRPr lang="zh-CN" altLang="en-US" sz="2400" dirty="0">
              <a:latin typeface="华文楷体" panose="02010600040101010101" pitchFamily="2" charset="-122"/>
            </a:endParaRPr>
          </a:p>
          <a:p>
            <a:pPr marL="342900" lvl="0" indent="-342900" algn="just" eaLnBrk="1" hangingPunct="1">
              <a:lnSpc>
                <a:spcPct val="150000"/>
              </a:lnSpc>
              <a:spcBef>
                <a:spcPts val="600"/>
              </a:spcBef>
            </a:pPr>
            <a:r>
              <a:rPr lang="zh-CN" altLang="en-US" sz="2400" dirty="0">
                <a:latin typeface="华文楷体" panose="02010600040101010101" pitchFamily="2" charset="-122"/>
              </a:rPr>
              <a:t>书中称它们为查询语言，只关注查询。</a:t>
            </a:r>
            <a:endParaRPr lang="zh-CN" altLang="en-US" sz="2400" dirty="0">
              <a:latin typeface="华文楷体" panose="02010600040101010101" pitchFamily="2" charset="-122"/>
            </a:endParaRPr>
          </a:p>
          <a:p>
            <a:pPr marL="342900" lvl="0" indent="-342900" algn="just" eaLnBrk="1" hangingPunct="1">
              <a:lnSpc>
                <a:spcPct val="110000"/>
              </a:lnSpc>
              <a:spcBef>
                <a:spcPts val="600"/>
              </a:spcBef>
            </a:pPr>
            <a:r>
              <a:rPr lang="zh-CN" altLang="en-US" sz="2400" dirty="0">
                <a:latin typeface="华文楷体" panose="02010600040101010101" pitchFamily="2" charset="-122"/>
              </a:rPr>
              <a:t>区别：关系代数中的查询着重“过程”，故由“操作符”集合组成，是“过程化”的查询；而关系运算中的查询侧重“结果”，故主要描述结果应满足的“条件”，是“非过程化”的查询。</a:t>
            </a:r>
            <a:endParaRPr lang="zh-CN" altLang="en-US" sz="2400" dirty="0">
              <a:latin typeface="华文楷体" panose="02010600040101010101" pitchFamily="2" charset="-122"/>
            </a:endParaRPr>
          </a:p>
          <a:p>
            <a:pPr marL="342900" lvl="0" indent="-342900" algn="just" eaLnBrk="1" hangingPunct="1">
              <a:lnSpc>
                <a:spcPct val="110000"/>
              </a:lnSpc>
              <a:spcBef>
                <a:spcPts val="600"/>
              </a:spcBef>
            </a:pPr>
            <a:r>
              <a:rPr lang="zh-CN" altLang="en-US" sz="2400" dirty="0">
                <a:latin typeface="华文楷体" panose="02010600040101010101" pitchFamily="2" charset="-122"/>
              </a:rPr>
              <a:t>查询的输入输出均是“关系”，即输入为关系，结果输出仍为关系。因此，可以组合查询</a:t>
            </a:r>
            <a:r>
              <a:rPr lang="zh-CN" altLang="en-US" sz="2600" dirty="0">
                <a:latin typeface="华文楷体" panose="02010600040101010101" pitchFamily="2" charset="-122"/>
              </a:rPr>
              <a:t>。</a:t>
            </a:r>
            <a:endParaRPr lang="zh-CN" altLang="en-US" sz="2600" dirty="0">
              <a:latin typeface="华文楷体" panose="02010600040101010101" pitchFamily="2" charset="-122"/>
            </a:endParaRPr>
          </a:p>
        </p:txBody>
      </p:sp>
      <p:sp>
        <p:nvSpPr>
          <p:cNvPr id="13209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
        <p:nvSpPr>
          <p:cNvPr id="132100" name="矩形 3"/>
          <p:cNvSpPr/>
          <p:nvPr/>
        </p:nvSpPr>
        <p:spPr>
          <a:xfrm>
            <a:off x="538163" y="777875"/>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a:t>
            </a:r>
            <a:r>
              <a:rPr lang="zh-CN" altLang="en-US" sz="2800" dirty="0">
                <a:solidFill>
                  <a:srgbClr val="0033CC"/>
                </a:solidFill>
                <a:latin typeface="黑体" panose="02010609060101010101" pitchFamily="49" charset="-122"/>
                <a:ea typeface="黑体" panose="02010609060101010101" pitchFamily="49" charset="-122"/>
              </a:rPr>
              <a:t>关系代数与关系运算简介</a:t>
            </a:r>
            <a:endParaRPr lang="zh-CN" altLang="en-US"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6" name="矩形 2"/>
          <p:cNvSpPr/>
          <p:nvPr/>
        </p:nvSpPr>
        <p:spPr>
          <a:xfrm>
            <a:off x="538163" y="777875"/>
            <a:ext cx="837565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a:t>
            </a:r>
            <a:r>
              <a:rPr lang="zh-CN" altLang="en-US" sz="2800" dirty="0">
                <a:solidFill>
                  <a:srgbClr val="0033CC"/>
                </a:solidFill>
                <a:latin typeface="黑体" panose="02010609060101010101" pitchFamily="49" charset="-122"/>
                <a:ea typeface="黑体" panose="02010609060101010101" pitchFamily="49" charset="-122"/>
              </a:rPr>
              <a:t>关系代数</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34147" name="Rectangle 3"/>
          <p:cNvSpPr txBox="1"/>
          <p:nvPr/>
        </p:nvSpPr>
        <p:spPr>
          <a:xfrm>
            <a:off x="609600" y="1446213"/>
            <a:ext cx="8054975" cy="4940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algn="just" eaLnBrk="1" hangingPunct="1">
              <a:lnSpc>
                <a:spcPct val="110000"/>
              </a:lnSpc>
              <a:spcBef>
                <a:spcPts val="300"/>
              </a:spcBef>
            </a:pPr>
            <a:r>
              <a:rPr lang="zh-CN" altLang="en-US" sz="2200" dirty="0">
                <a:latin typeface="华文楷体" panose="02010600040101010101" pitchFamily="2" charset="-122"/>
              </a:rPr>
              <a:t>基本的代数表达式：由基本的代数操作符（Operator）对操作数（Operand）进行一元或二元的操作。</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基本的操作符：</a:t>
            </a:r>
            <a:r>
              <a:rPr lang="zh-CN" altLang="en-US" sz="2200" dirty="0">
                <a:solidFill>
                  <a:srgbClr val="A50021"/>
                </a:solidFill>
                <a:latin typeface="华文楷体" panose="02010600040101010101" pitchFamily="2" charset="-122"/>
              </a:rPr>
              <a:t>SELECTION（选择) PROJECTION(投影) UNION(并) INTERSECTION (交) DIFFERENCE(差) CROSS-PRODUCT(积，笛卡尔积)</a:t>
            </a:r>
            <a:endParaRPr lang="zh-CN" altLang="en-US" sz="2200" dirty="0">
              <a:solidFill>
                <a:srgbClr val="A50021"/>
              </a:solidFill>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操作数则是关系实例。</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关系查询时，既可用列（属性）名，也可用列（属性）位置来表示列（属性）。</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操作的过程类似于集合运算。返回的结果是一个关系实例。这个结果还可以作为关系代数的输入。</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如果结果中有重复的元组，理论上去掉重复元组。</a:t>
            </a:r>
            <a:endParaRPr lang="zh-CN" altLang="en-US" sz="2200" dirty="0">
              <a:latin typeface="华文楷体" panose="02010600040101010101" pitchFamily="2" charset="-122"/>
            </a:endParaRPr>
          </a:p>
          <a:p>
            <a:pPr marL="342900" lvl="0" indent="-342900" algn="just" eaLnBrk="1" hangingPunct="1">
              <a:lnSpc>
                <a:spcPct val="110000"/>
              </a:lnSpc>
              <a:spcBef>
                <a:spcPts val="300"/>
              </a:spcBef>
            </a:pPr>
            <a:r>
              <a:rPr lang="zh-CN" altLang="en-US" sz="2200" dirty="0">
                <a:latin typeface="华文楷体" panose="02010600040101010101" pitchFamily="2" charset="-122"/>
              </a:rPr>
              <a:t>基于基本操作符，可递归定义关系代数表达式。</a:t>
            </a:r>
            <a:endParaRPr lang="zh-CN" altLang="en-US" sz="2200" dirty="0">
              <a:latin typeface="华文楷体" panose="02010600040101010101" pitchFamily="2" charset="-122"/>
            </a:endParaRPr>
          </a:p>
        </p:txBody>
      </p:sp>
      <p:sp>
        <p:nvSpPr>
          <p:cNvPr id="13414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4"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36195" name="Rectangle 2"/>
          <p:cNvSpPr txBox="1"/>
          <p:nvPr/>
        </p:nvSpPr>
        <p:spPr>
          <a:xfrm>
            <a:off x="682625" y="14509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1</a:t>
            </a:r>
            <a:r>
              <a:rPr lang="zh-CN" altLang="en-US" sz="2400" dirty="0">
                <a:solidFill>
                  <a:srgbClr val="0033CC"/>
                </a:solidFill>
                <a:latin typeface="宋体" panose="02010600030101010101" pitchFamily="2" charset="-122"/>
              </a:rPr>
              <a:t>）选择（</a:t>
            </a:r>
            <a:r>
              <a:rPr lang="en-US" altLang="zh-CN" sz="2400" dirty="0">
                <a:solidFill>
                  <a:srgbClr val="0033CC"/>
                </a:solidFill>
                <a:latin typeface="宋体" panose="02010600030101010101" pitchFamily="2" charset="-122"/>
              </a:rPr>
              <a:t>Selection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sp>
        <p:nvSpPr>
          <p:cNvPr id="100356" name="Text Box 79"/>
          <p:cNvSpPr txBox="1"/>
          <p:nvPr/>
        </p:nvSpPr>
        <p:spPr>
          <a:xfrm>
            <a:off x="798513" y="3255963"/>
            <a:ext cx="7735887" cy="29908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sym typeface="Symbol" panose="05050102010706020507" pitchFamily="18" charset="2"/>
              </a:rPr>
              <a:t>操作符：</a:t>
            </a:r>
            <a:r>
              <a:rPr lang="zh-CN" altLang="en-US" sz="2400" baseline="-25000" dirty="0">
                <a:solidFill>
                  <a:srgbClr val="0000CC"/>
                </a:solidFill>
                <a:latin typeface="宋体" panose="02010600030101010101" pitchFamily="2" charset="-122"/>
                <a:sym typeface="Symbol" panose="05050102010706020507" pitchFamily="18" charset="2"/>
              </a:rPr>
              <a:t>C</a:t>
            </a:r>
            <a:r>
              <a:rPr lang="zh-CN" altLang="en-US" sz="2400" dirty="0">
                <a:solidFill>
                  <a:srgbClr val="0000CC"/>
                </a:solidFill>
                <a:latin typeface="宋体" panose="02010600030101010101" pitchFamily="2" charset="-122"/>
                <a:sym typeface="Symbol" panose="05050102010706020507" pitchFamily="18" charset="2"/>
              </a:rPr>
              <a:t>（R）</a:t>
            </a:r>
            <a:endParaRPr lang="zh-CN" altLang="en-US"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① 条件表达式中使用</a:t>
            </a:r>
            <a:r>
              <a:rPr lang="zh-CN" altLang="en-US" sz="2400" dirty="0">
                <a:solidFill>
                  <a:srgbClr val="CC0000"/>
                </a:solidFill>
                <a:latin typeface="宋体" panose="02010600030101010101" pitchFamily="2" charset="-122"/>
              </a:rPr>
              <a:t>&gt;,</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CC0000"/>
                </a:solidFill>
                <a:latin typeface="宋体" panose="02010600030101010101" pitchFamily="2" charset="-122"/>
              </a:rPr>
              <a:t>,&lt;, </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CC0000"/>
                </a:solidFill>
                <a:latin typeface="宋体" panose="02010600030101010101" pitchFamily="2" charset="-122"/>
              </a:rPr>
              <a:t>,=,！</a:t>
            </a:r>
            <a:r>
              <a:rPr lang="en-US" altLang="zh-CN" sz="2400" dirty="0">
                <a:solidFill>
                  <a:srgbClr val="CC0000"/>
                </a:solidFill>
                <a:latin typeface="宋体" panose="02010600030101010101" pitchFamily="2" charset="-122"/>
              </a:rPr>
              <a:t>=</a:t>
            </a:r>
            <a:r>
              <a:rPr lang="zh-CN" altLang="en-US" sz="2400" dirty="0">
                <a:solidFill>
                  <a:srgbClr val="CC0000"/>
                </a:solidFill>
                <a:latin typeface="宋体" panose="02010600030101010101" pitchFamily="2" charset="-122"/>
              </a:rPr>
              <a:t>,&lt;&gt;</a:t>
            </a:r>
            <a:endParaRPr lang="en-US" altLang="zh-CN" sz="2400" dirty="0">
              <a:solidFill>
                <a:srgbClr val="CC0000"/>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② 对关系表达式可用逻辑运算符“与”、“或”、“非”</a:t>
            </a:r>
            <a:endParaRPr lang="en-US" altLang="zh-CN"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a:t>
            </a:r>
            <a:r>
              <a:rPr lang="zh-CN" altLang="en-US" sz="2400" dirty="0">
                <a:solidFill>
                  <a:srgbClr val="0000CC"/>
                </a:solidFill>
                <a:latin typeface="宋体" panose="02010600030101010101" pitchFamily="2" charset="-122"/>
              </a:rPr>
              <a:t>，在关系代数中分别用 “∧”、“∨”、“┓”表</a:t>
            </a:r>
            <a:endParaRPr lang="en-US" altLang="zh-CN"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a:t>
            </a:r>
            <a:r>
              <a:rPr lang="zh-CN" altLang="en-US" sz="2400" dirty="0">
                <a:solidFill>
                  <a:srgbClr val="0000CC"/>
                </a:solidFill>
                <a:latin typeface="宋体" panose="02010600030101010101" pitchFamily="2" charset="-122"/>
              </a:rPr>
              <a:t>示，如</a:t>
            </a:r>
            <a:r>
              <a:rPr lang="en-US" altLang="zh-CN" sz="2400" dirty="0">
                <a:solidFill>
                  <a:srgbClr val="0000CC"/>
                </a:solidFill>
                <a:latin typeface="宋体" panose="02010600030101010101" pitchFamily="2" charset="-122"/>
              </a:rPr>
              <a:t>a&gt;2 </a:t>
            </a:r>
            <a:r>
              <a:rPr lang="zh-CN" altLang="en-US" sz="2400" dirty="0">
                <a:solidFill>
                  <a:srgbClr val="0000CC"/>
                </a:solidFill>
                <a:latin typeface="宋体" panose="02010600030101010101" pitchFamily="2" charset="-122"/>
              </a:rPr>
              <a:t>∧ </a:t>
            </a:r>
            <a:r>
              <a:rPr lang="en-US" altLang="zh-CN" sz="2400" dirty="0">
                <a:solidFill>
                  <a:srgbClr val="0000CC"/>
                </a:solidFill>
                <a:latin typeface="宋体" panose="02010600030101010101" pitchFamily="2" charset="-122"/>
              </a:rPr>
              <a:t>a&lt;5</a:t>
            </a:r>
            <a:endParaRPr lang="en-US" altLang="zh-CN" sz="2400" dirty="0">
              <a:solidFill>
                <a:srgbClr val="0000CC"/>
              </a:solidFill>
              <a:latin typeface="宋体" panose="02010600030101010101" pitchFamily="2" charset="-122"/>
            </a:endParaRPr>
          </a:p>
          <a:p>
            <a:pPr marL="0" lvl="0" indent="0" eaLnBrk="1" hangingPunct="1">
              <a:lnSpc>
                <a:spcPct val="125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a:t>
            </a:r>
            <a:r>
              <a:rPr lang="zh-CN" altLang="en-US" sz="2400" dirty="0">
                <a:solidFill>
                  <a:srgbClr val="0000CC"/>
                </a:solidFill>
                <a:latin typeface="宋体" panose="02010600030101010101" pitchFamily="2" charset="-122"/>
              </a:rPr>
              <a:t>在</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中用“</a:t>
            </a:r>
            <a:r>
              <a:rPr lang="en-US" altLang="zh-CN" sz="2400" dirty="0">
                <a:solidFill>
                  <a:srgbClr val="0000CC"/>
                </a:solidFill>
                <a:latin typeface="宋体" panose="02010600030101010101" pitchFamily="2" charset="-122"/>
              </a:rPr>
              <a:t>AND”</a:t>
            </a:r>
            <a:r>
              <a:rPr lang="zh-CN" altLang="en-US" sz="2400" dirty="0">
                <a:solidFill>
                  <a:srgbClr val="0000CC"/>
                </a:solidFill>
                <a:latin typeface="宋体" panose="02010600030101010101" pitchFamily="2" charset="-122"/>
              </a:rPr>
              <a:t>、“</a:t>
            </a:r>
            <a:r>
              <a:rPr lang="en-US" altLang="zh-CN" sz="2400" dirty="0">
                <a:solidFill>
                  <a:srgbClr val="0000CC"/>
                </a:solidFill>
                <a:latin typeface="宋体" panose="02010600030101010101" pitchFamily="2" charset="-122"/>
              </a:rPr>
              <a:t>OR”</a:t>
            </a:r>
            <a:r>
              <a:rPr lang="zh-CN" altLang="en-US" sz="2400" dirty="0">
                <a:solidFill>
                  <a:srgbClr val="0000CC"/>
                </a:solidFill>
                <a:latin typeface="宋体" panose="02010600030101010101" pitchFamily="2" charset="-122"/>
              </a:rPr>
              <a:t>和“</a:t>
            </a:r>
            <a:r>
              <a:rPr lang="en-US" altLang="zh-CN" sz="2400" dirty="0">
                <a:solidFill>
                  <a:srgbClr val="0000CC"/>
                </a:solidFill>
                <a:latin typeface="宋体" panose="02010600030101010101" pitchFamily="2" charset="-122"/>
              </a:rPr>
              <a:t>NOT</a:t>
            </a:r>
            <a:r>
              <a:rPr lang="zh-CN" altLang="en-US" sz="2400" dirty="0">
                <a:solidFill>
                  <a:srgbClr val="0000CC"/>
                </a:solidFill>
                <a:latin typeface="宋体" panose="02010600030101010101" pitchFamily="2" charset="-122"/>
              </a:rPr>
              <a:t>”表示。</a:t>
            </a:r>
            <a:endParaRPr lang="de-DE" altLang="en-US" sz="2400" dirty="0">
              <a:solidFill>
                <a:srgbClr val="0000CC"/>
              </a:solidFill>
              <a:latin typeface="宋体" panose="02010600030101010101" pitchFamily="2" charset="-122"/>
            </a:endParaRPr>
          </a:p>
        </p:txBody>
      </p:sp>
      <p:sp>
        <p:nvSpPr>
          <p:cNvPr id="136197" name="矩形 5"/>
          <p:cNvSpPr/>
          <p:nvPr/>
        </p:nvSpPr>
        <p:spPr>
          <a:xfrm>
            <a:off x="4314825" y="1033463"/>
            <a:ext cx="4329113" cy="9048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从</a:t>
            </a:r>
            <a:r>
              <a:rPr lang="zh-CN" altLang="en-US" sz="2400" dirty="0">
                <a:solidFill>
                  <a:srgbClr val="CC0000"/>
                </a:solidFill>
                <a:latin typeface="宋体" panose="02010600030101010101" pitchFamily="2" charset="-122"/>
              </a:rPr>
              <a:t>关系实例</a:t>
            </a:r>
            <a:r>
              <a:rPr lang="zh-CN" altLang="en-US" sz="2400" dirty="0">
                <a:solidFill>
                  <a:srgbClr val="0000CC"/>
                </a:solidFill>
                <a:latin typeface="宋体" panose="02010600030101010101" pitchFamily="2" charset="-122"/>
              </a:rPr>
              <a:t>中选择出</a:t>
            </a:r>
            <a:r>
              <a:rPr lang="zh-CN" altLang="en-US" sz="2400" dirty="0">
                <a:solidFill>
                  <a:srgbClr val="CC0000"/>
                </a:solidFill>
                <a:latin typeface="宋体" panose="02010600030101010101" pitchFamily="2" charset="-122"/>
              </a:rPr>
              <a:t>满足条件</a:t>
            </a:r>
            <a:r>
              <a:rPr lang="zh-CN" altLang="en-US" sz="2400" dirty="0">
                <a:solidFill>
                  <a:srgbClr val="0000CC"/>
                </a:solidFill>
                <a:latin typeface="宋体" panose="02010600030101010101" pitchFamily="2" charset="-122"/>
              </a:rPr>
              <a:t>的</a:t>
            </a:r>
            <a:r>
              <a:rPr lang="zh-CN" altLang="en-US" sz="2400" dirty="0">
                <a:solidFill>
                  <a:srgbClr val="CC0000"/>
                </a:solidFill>
                <a:latin typeface="宋体" panose="02010600030101010101" pitchFamily="2" charset="-122"/>
              </a:rPr>
              <a:t>行</a:t>
            </a:r>
            <a:r>
              <a:rPr lang="en-US" altLang="zh-CN" sz="2400" dirty="0">
                <a:solidFill>
                  <a:srgbClr val="CC0000"/>
                </a:solidFill>
                <a:latin typeface="宋体" panose="02010600030101010101" pitchFamily="2" charset="-122"/>
              </a:rPr>
              <a:t>,</a:t>
            </a:r>
            <a:r>
              <a:rPr lang="zh-CN" altLang="en-US" sz="2400" dirty="0">
                <a:solidFill>
                  <a:srgbClr val="CC0000"/>
                </a:solidFill>
                <a:latin typeface="宋体" panose="02010600030101010101" pitchFamily="2" charset="-122"/>
              </a:rPr>
              <a:t>相当于对关系做横向剪切</a:t>
            </a:r>
            <a:r>
              <a:rPr lang="zh-CN" altLang="en-US" sz="2400" dirty="0">
                <a:solidFill>
                  <a:srgbClr val="0000CC"/>
                </a:solidFill>
                <a:latin typeface="宋体" panose="02010600030101010101" pitchFamily="2" charset="-122"/>
              </a:rPr>
              <a:t>。</a:t>
            </a:r>
            <a:endParaRPr lang="zh-CN" altLang="en-US" sz="2400" dirty="0">
              <a:solidFill>
                <a:srgbClr val="0000CC"/>
              </a:solidFill>
              <a:latin typeface="宋体" panose="02010600030101010101" pitchFamily="2" charset="-122"/>
            </a:endParaRPr>
          </a:p>
        </p:txBody>
      </p:sp>
      <p:sp>
        <p:nvSpPr>
          <p:cNvPr id="13619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grpSp>
        <p:nvGrpSpPr>
          <p:cNvPr id="7" name="组合 6"/>
          <p:cNvGrpSpPr/>
          <p:nvPr/>
        </p:nvGrpSpPr>
        <p:grpSpPr>
          <a:xfrm>
            <a:off x="3052128" y="2019300"/>
            <a:ext cx="5521960" cy="1588163"/>
            <a:chOff x="5026" y="3461"/>
            <a:chExt cx="7849" cy="2477"/>
          </a:xfrm>
          <a:solidFill>
            <a:schemeClr val="bg1">
              <a:lumMod val="95000"/>
            </a:schemeClr>
          </a:solidFill>
        </p:grpSpPr>
        <p:pic>
          <p:nvPicPr>
            <p:cNvPr id="8" name="图片 7"/>
            <p:cNvPicPr>
              <a:picLocks noChangeAspect="1"/>
            </p:cNvPicPr>
            <p:nvPr/>
          </p:nvPicPr>
          <p:blipFill>
            <a:blip r:embed="rId1"/>
            <a:stretch>
              <a:fillRect/>
            </a:stretch>
          </p:blipFill>
          <p:spPr>
            <a:xfrm>
              <a:off x="5026" y="3461"/>
              <a:ext cx="2949" cy="2477"/>
            </a:xfrm>
            <a:prstGeom prst="rect">
              <a:avLst/>
            </a:prstGeom>
            <a:grpFill/>
          </p:spPr>
        </p:pic>
        <p:pic>
          <p:nvPicPr>
            <p:cNvPr id="9" name="图片 8"/>
            <p:cNvPicPr>
              <a:picLocks noChangeAspect="1"/>
            </p:cNvPicPr>
            <p:nvPr/>
          </p:nvPicPr>
          <p:blipFill>
            <a:blip r:embed="rId2"/>
            <a:stretch>
              <a:fillRect/>
            </a:stretch>
          </p:blipFill>
          <p:spPr>
            <a:xfrm>
              <a:off x="8113" y="4565"/>
              <a:ext cx="1270" cy="400"/>
            </a:xfrm>
            <a:prstGeom prst="rect">
              <a:avLst/>
            </a:prstGeom>
            <a:grpFill/>
          </p:spPr>
        </p:pic>
        <p:sp>
          <p:nvSpPr>
            <p:cNvPr id="10" name="文本框 9"/>
            <p:cNvSpPr txBox="1"/>
            <p:nvPr/>
          </p:nvSpPr>
          <p:spPr>
            <a:xfrm>
              <a:off x="8113" y="3843"/>
              <a:ext cx="1530" cy="793"/>
            </a:xfrm>
            <a:prstGeom prst="rect">
              <a:avLst/>
            </a:prstGeom>
            <a:grpFill/>
          </p:spPr>
          <p:txBody>
            <a:bodyPr>
              <a:spAutoFit/>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mn-cs"/>
                  <a:sym typeface="Symbol" panose="05050102010706020507" pitchFamily="18" charset="2"/>
                </a:rPr>
                <a:t></a:t>
              </a:r>
              <a:r>
                <a:rPr kumimoji="0" lang="zh-CN" altLang="en-US" sz="2200" b="1" i="0" u="none" strike="noStrike" kern="1200" cap="none" spc="0" normalizeH="0" baseline="-25000" noProof="0" dirty="0">
                  <a:ln>
                    <a:noFill/>
                  </a:ln>
                  <a:solidFill>
                    <a:srgbClr val="0000CC"/>
                  </a:solidFill>
                  <a:effectLst/>
                  <a:uLnTx/>
                  <a:uFillTx/>
                  <a:latin typeface="宋体" panose="02010600030101010101" pitchFamily="2" charset="-122"/>
                  <a:ea typeface="宋体" panose="02010600030101010101" pitchFamily="2" charset="-122"/>
                  <a:cs typeface="+mn-cs"/>
                  <a:sym typeface="Symbol" panose="05050102010706020507" pitchFamily="18" charset="2"/>
                </a:rPr>
                <a:t>C</a:t>
              </a:r>
              <a:r>
                <a:rPr kumimoji="0" lang="zh-CN" altLang="en-US" sz="2200" b="1" i="0" u="none" strike="noStrike" kern="1200" cap="none" spc="0" normalizeH="0" baseline="0" noProof="0" dirty="0">
                  <a:ln>
                    <a:noFill/>
                  </a:ln>
                  <a:solidFill>
                    <a:srgbClr val="0000CC"/>
                  </a:solidFill>
                  <a:effectLst/>
                  <a:uLnTx/>
                  <a:uFillTx/>
                  <a:latin typeface="宋体" panose="02010600030101010101" pitchFamily="2" charset="-122"/>
                  <a:ea typeface="宋体" panose="02010600030101010101" pitchFamily="2" charset="-122"/>
                  <a:cs typeface="+mn-cs"/>
                  <a:sym typeface="Symbol" panose="05050102010706020507" pitchFamily="18" charset="2"/>
                </a:rPr>
                <a:t>（R）</a:t>
              </a:r>
              <a:endParaRPr kumimoji="0" lang="zh-CN" altLang="en-US" sz="22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pic>
          <p:nvPicPr>
            <p:cNvPr id="11" name="图片 10"/>
            <p:cNvPicPr>
              <a:picLocks noChangeAspect="1"/>
            </p:cNvPicPr>
            <p:nvPr/>
          </p:nvPicPr>
          <p:blipFill>
            <a:blip r:embed="rId3"/>
            <a:stretch>
              <a:fillRect/>
            </a:stretch>
          </p:blipFill>
          <p:spPr>
            <a:xfrm>
              <a:off x="9643" y="4188"/>
              <a:ext cx="3232" cy="1155"/>
            </a:xfrm>
            <a:prstGeom prst="rect">
              <a:avLst/>
            </a:prstGeom>
            <a:grpFill/>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box(in)">
                                      <p:cBhvr>
                                        <p:cTn id="7" dur="500"/>
                                        <p:tgtEl>
                                          <p:spTgt spid="100356"/>
                                        </p:tgtEl>
                                      </p:cBhvr>
                                    </p:animEffect>
                                  </p:childTnLst>
                                  <p:subTnLst>
                                    <p:set>
                                      <p:cBhvr override="childStyle">
                                        <p:cTn dur="1" fill="hold" display="0" masterRel="nextClick" afterEffect="1"/>
                                        <p:tgtEl>
                                          <p:spTgt spid="100356"/>
                                        </p:tgtEl>
                                        <p:attrNameLst>
                                          <p:attrName>style.visibility</p:attrName>
                                        </p:attrNameLst>
                                      </p:cBhvr>
                                      <p:to>
                                        <p:strVal val="hidden"/>
                                      </p:to>
                                    </p:set>
                                  </p:subTnLst>
                                </p:cTn>
                              </p:par>
                              <p:par>
                                <p:cTn id="8" presetID="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 calcmode="lin" valueType="num">
                                      <p:cBhvr additive="base">
                                        <p:cTn id="10" dur="500" fill="hold"/>
                                        <p:tgtEl>
                                          <p:spTgt spid="7"/>
                                        </p:tgtEl>
                                        <p:attrNameLst>
                                          <p:attrName>ppt_x</p:attrName>
                                        </p:attrNameLst>
                                      </p:cBhvr>
                                      <p:tavLst>
                                        <p:tav tm="0">
                                          <p:val>
                                            <p:strVal val="#ppt_x"/>
                                          </p:val>
                                        </p:tav>
                                        <p:tav tm="100000">
                                          <p:val>
                                            <p:strVal val="#ppt_x"/>
                                          </p:val>
                                        </p:tav>
                                      </p:tavLst>
                                    </p:anim>
                                    <p:anim calcmode="lin" valueType="num">
                                      <p:cBhvr additive="base">
                                        <p:cTn id="1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animBg="1"/>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2" name="Rectangle 2"/>
          <p:cNvSpPr txBox="1"/>
          <p:nvPr/>
        </p:nvSpPr>
        <p:spPr>
          <a:xfrm>
            <a:off x="682625" y="14509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1</a:t>
            </a:r>
            <a:r>
              <a:rPr lang="zh-CN" altLang="en-US" sz="2400" dirty="0">
                <a:solidFill>
                  <a:srgbClr val="0033CC"/>
                </a:solidFill>
                <a:latin typeface="宋体" panose="02010600030101010101" pitchFamily="2" charset="-122"/>
              </a:rPr>
              <a:t>）选择（</a:t>
            </a:r>
            <a:r>
              <a:rPr lang="en-US" altLang="zh-CN" sz="2400" dirty="0">
                <a:solidFill>
                  <a:srgbClr val="0033CC"/>
                </a:solidFill>
                <a:latin typeface="宋体" panose="02010600030101010101" pitchFamily="2" charset="-122"/>
              </a:rPr>
              <a:t>Selection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sp>
        <p:nvSpPr>
          <p:cNvPr id="138243" name="矩形 3"/>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2404" name="Group 3"/>
          <p:cNvGrpSpPr/>
          <p:nvPr/>
        </p:nvGrpSpPr>
        <p:grpSpPr>
          <a:xfrm>
            <a:off x="711200" y="1944688"/>
            <a:ext cx="4267200" cy="2176462"/>
            <a:chOff x="0" y="0"/>
            <a:chExt cx="2688" cy="1581"/>
          </a:xfrm>
        </p:grpSpPr>
        <p:sp>
          <p:nvSpPr>
            <p:cNvPr id="138253"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endParaRPr lang="de-DE" altLang="en-US" sz="2400" dirty="0">
                <a:solidFill>
                  <a:srgbClr val="0000CC"/>
                </a:solidFill>
                <a:latin typeface="宋体" panose="02010600030101010101" pitchFamily="2" charset="-122"/>
              </a:endParaRPr>
            </a:p>
          </p:txBody>
        </p:sp>
        <p:sp>
          <p:nvSpPr>
            <p:cNvPr id="138254"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38255"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38256"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38257"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38258"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38259"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38260"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38261"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38262"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38263"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38264"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38265"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38266"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38267"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38268"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38269"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38270"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8271"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8272"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8273"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38274"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38275"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38276"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38277"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38278"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38279"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38280"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38281"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38282"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38283"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38284"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2437" name="Rectangle 76"/>
          <p:cNvSpPr/>
          <p:nvPr/>
        </p:nvSpPr>
        <p:spPr>
          <a:xfrm>
            <a:off x="5029200" y="2370138"/>
            <a:ext cx="1717675"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σ</a:t>
            </a:r>
            <a:r>
              <a:rPr lang="zh-CN" altLang="en-US" sz="2400" baseline="-25000" dirty="0"/>
              <a:t>grade&gt;=3</a:t>
            </a:r>
            <a:r>
              <a:rPr lang="zh-CN" altLang="en-US" sz="2400" dirty="0"/>
              <a:t>(S)</a:t>
            </a:r>
            <a:endParaRPr lang="zh-CN" altLang="en-US" sz="2400" dirty="0"/>
          </a:p>
        </p:txBody>
      </p:sp>
      <p:sp>
        <p:nvSpPr>
          <p:cNvPr id="102438" name="Line 77"/>
          <p:cNvSpPr/>
          <p:nvPr/>
        </p:nvSpPr>
        <p:spPr>
          <a:xfrm>
            <a:off x="5054600" y="3032125"/>
            <a:ext cx="939800" cy="146050"/>
          </a:xfrm>
          <a:prstGeom prst="line">
            <a:avLst/>
          </a:prstGeom>
          <a:ln w="50800" cap="flat" cmpd="sng">
            <a:solidFill>
              <a:srgbClr val="CC0000"/>
            </a:solidFill>
            <a:prstDash val="solid"/>
            <a:headEnd type="none" w="med" len="med"/>
            <a:tailEnd type="stealth" w="med" len="med"/>
          </a:ln>
        </p:spPr>
      </p:sp>
      <p:sp>
        <p:nvSpPr>
          <p:cNvPr id="102439" name="Text Box 78"/>
          <p:cNvSpPr txBox="1"/>
          <p:nvPr/>
        </p:nvSpPr>
        <p:spPr>
          <a:xfrm>
            <a:off x="5951538" y="3063875"/>
            <a:ext cx="2960687" cy="70802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{（11，李峰，20，3）,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(35，陈胜，21，4)}</a:t>
            </a:r>
            <a:endParaRPr lang="de-DE" altLang="en-US" dirty="0">
              <a:solidFill>
                <a:srgbClr val="0000CC"/>
              </a:solidFill>
              <a:latin typeface="宋体" panose="02010600030101010101" pitchFamily="2" charset="-122"/>
            </a:endParaRPr>
          </a:p>
        </p:txBody>
      </p:sp>
      <p:sp>
        <p:nvSpPr>
          <p:cNvPr id="102440" name="Text Box 79"/>
          <p:cNvSpPr txBox="1"/>
          <p:nvPr/>
        </p:nvSpPr>
        <p:spPr>
          <a:xfrm>
            <a:off x="725488" y="4895850"/>
            <a:ext cx="7735887" cy="133826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 from S where grade&gt;=3</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 from S where age&lt;20</a:t>
            </a:r>
            <a:endParaRPr lang="de-DE" altLang="en-US" sz="2400" dirty="0">
              <a:solidFill>
                <a:srgbClr val="0000CC"/>
              </a:solidFill>
              <a:latin typeface="宋体" panose="02010600030101010101" pitchFamily="2" charset="-122"/>
            </a:endParaRPr>
          </a:p>
        </p:txBody>
      </p:sp>
      <p:sp>
        <p:nvSpPr>
          <p:cNvPr id="102441" name="Line 77"/>
          <p:cNvSpPr/>
          <p:nvPr/>
        </p:nvSpPr>
        <p:spPr>
          <a:xfrm>
            <a:off x="5018088" y="4098925"/>
            <a:ext cx="947737" cy="241300"/>
          </a:xfrm>
          <a:prstGeom prst="line">
            <a:avLst/>
          </a:prstGeom>
          <a:ln w="50800" cap="flat" cmpd="sng">
            <a:solidFill>
              <a:srgbClr val="CC0000"/>
            </a:solidFill>
            <a:prstDash val="solid"/>
            <a:headEnd type="none" w="med" len="med"/>
            <a:tailEnd type="stealth" w="med" len="med"/>
          </a:ln>
        </p:spPr>
      </p:sp>
      <p:sp>
        <p:nvSpPr>
          <p:cNvPr id="102442" name="Rectangle 76"/>
          <p:cNvSpPr/>
          <p:nvPr/>
        </p:nvSpPr>
        <p:spPr>
          <a:xfrm>
            <a:off x="4833938" y="3609975"/>
            <a:ext cx="1589087" cy="592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σ </a:t>
            </a:r>
            <a:r>
              <a:rPr lang="en-US" altLang="zh-CN" sz="2400" baseline="-25000" dirty="0"/>
              <a:t>age&lt;20</a:t>
            </a:r>
            <a:r>
              <a:rPr lang="zh-CN" altLang="en-US" sz="2400" dirty="0"/>
              <a:t>(S)</a:t>
            </a:r>
            <a:endParaRPr lang="zh-CN" altLang="en-US" sz="2400" dirty="0"/>
          </a:p>
        </p:txBody>
      </p:sp>
      <p:sp>
        <p:nvSpPr>
          <p:cNvPr id="102443" name="Text Box 78"/>
          <p:cNvSpPr txBox="1"/>
          <p:nvPr/>
        </p:nvSpPr>
        <p:spPr>
          <a:xfrm>
            <a:off x="5870575" y="4130675"/>
            <a:ext cx="2960688" cy="70802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8</a:t>
            </a:r>
            <a:r>
              <a:rPr lang="zh-CN" altLang="en-US" dirty="0">
                <a:solidFill>
                  <a:srgbClr val="0000CC"/>
                </a:solidFill>
                <a:latin typeface="宋体" panose="02010600030101010101" pitchFamily="2" charset="-122"/>
              </a:rPr>
              <a:t>，何大明，</a:t>
            </a:r>
            <a:r>
              <a:rPr lang="en-US" altLang="zh-CN" dirty="0">
                <a:solidFill>
                  <a:srgbClr val="0000CC"/>
                </a:solidFill>
                <a:latin typeface="宋体" panose="02010600030101010101" pitchFamily="2" charset="-122"/>
              </a:rPr>
              <a:t>19</a:t>
            </a: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2</a:t>
            </a:r>
            <a:r>
              <a:rPr lang="zh-CN" altLang="en-US" dirty="0">
                <a:solidFill>
                  <a:srgbClr val="0000CC"/>
                </a:solidFill>
                <a:latin typeface="宋体" panose="02010600030101010101" pitchFamily="2" charset="-122"/>
              </a:rPr>
              <a:t>）,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6</a:t>
            </a:r>
            <a:r>
              <a:rPr lang="zh-CN" altLang="en-US" dirty="0">
                <a:solidFill>
                  <a:srgbClr val="0000CC"/>
                </a:solidFill>
                <a:latin typeface="宋体" panose="02010600030101010101" pitchFamily="2" charset="-122"/>
              </a:rPr>
              <a:t>，张大卫，</a:t>
            </a:r>
            <a:r>
              <a:rPr lang="en-US" altLang="zh-CN" dirty="0">
                <a:solidFill>
                  <a:srgbClr val="0000CC"/>
                </a:solidFill>
                <a:latin typeface="宋体" panose="02010600030101010101" pitchFamily="2" charset="-122"/>
              </a:rPr>
              <a:t>18</a:t>
            </a:r>
            <a:r>
              <a:rPr lang="zh-CN" altLang="en-US" dirty="0">
                <a:solidFill>
                  <a:srgbClr val="0000CC"/>
                </a:solidFill>
                <a:latin typeface="宋体" panose="02010600030101010101" pitchFamily="2" charset="-122"/>
              </a:rPr>
              <a:t>，</a:t>
            </a:r>
            <a:r>
              <a:rPr lang="en-US" altLang="zh-CN" dirty="0">
                <a:solidFill>
                  <a:srgbClr val="0000CC"/>
                </a:solidFill>
                <a:latin typeface="宋体" panose="02010600030101010101" pitchFamily="2" charset="-122"/>
              </a:rPr>
              <a:t>1</a:t>
            </a:r>
            <a:r>
              <a:rPr lang="zh-CN" altLang="en-US" dirty="0">
                <a:solidFill>
                  <a:srgbClr val="0000CC"/>
                </a:solidFill>
                <a:latin typeface="宋体" panose="02010600030101010101" pitchFamily="2" charset="-122"/>
              </a:rPr>
              <a:t>)}</a:t>
            </a:r>
            <a:endParaRPr lang="de-DE" altLang="en-US" dirty="0">
              <a:solidFill>
                <a:srgbClr val="0000CC"/>
              </a:solidFill>
              <a:latin typeface="宋体" panose="02010600030101010101" pitchFamily="2" charset="-122"/>
            </a:endParaRPr>
          </a:p>
        </p:txBody>
      </p:sp>
      <p:sp>
        <p:nvSpPr>
          <p:cNvPr id="13825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2404"/>
                                        </p:tgtEl>
                                        <p:attrNameLst>
                                          <p:attrName>style.visibility</p:attrName>
                                        </p:attrNameLst>
                                      </p:cBhvr>
                                      <p:to>
                                        <p:strVal val="visible"/>
                                      </p:to>
                                    </p:set>
                                    <p:anim calcmode="lin" valueType="num">
                                      <p:cBhvr>
                                        <p:cTn id="7" dur="500" fill="hold"/>
                                        <p:tgtEl>
                                          <p:spTgt spid="102404"/>
                                        </p:tgtEl>
                                        <p:attrNameLst>
                                          <p:attrName>ppt_w</p:attrName>
                                        </p:attrNameLst>
                                      </p:cBhvr>
                                      <p:tavLst>
                                        <p:tav tm="0">
                                          <p:val>
                                            <p:fltVal val="0.000000"/>
                                          </p:val>
                                        </p:tav>
                                        <p:tav tm="100000">
                                          <p:val>
                                            <p:strVal val="#ppt_w"/>
                                          </p:val>
                                        </p:tav>
                                      </p:tavLst>
                                    </p:anim>
                                    <p:anim calcmode="lin" valueType="num">
                                      <p:cBhvr>
                                        <p:cTn id="8" dur="500" fill="hold"/>
                                        <p:tgtEl>
                                          <p:spTgt spid="10240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02437"/>
                                        </p:tgtEl>
                                        <p:attrNameLst>
                                          <p:attrName>style.visibility</p:attrName>
                                        </p:attrNameLst>
                                      </p:cBhvr>
                                      <p:to>
                                        <p:strVal val="visible"/>
                                      </p:to>
                                    </p:set>
                                    <p:animEffect transition="in" filter="box(in)">
                                      <p:cBhvr>
                                        <p:cTn id="13" dur="500"/>
                                        <p:tgtEl>
                                          <p:spTgt spid="102437"/>
                                        </p:tgtEl>
                                      </p:cBhvr>
                                    </p:animEffect>
                                  </p:childTnLst>
                                </p:cTn>
                              </p:par>
                            </p:childTnLst>
                          </p:cTn>
                        </p:par>
                      </p:childTnLst>
                    </p:cTn>
                  </p:par>
                  <p:par>
                    <p:cTn id="14" fill="hold">
                      <p:stCondLst>
                        <p:cond delay="indefinite"/>
                      </p:stCondLst>
                      <p:childTnLst>
                        <p:par>
                          <p:cTn id="15" fill="hold">
                            <p:stCondLst>
                              <p:cond delay="0"/>
                            </p:stCondLst>
                            <p:childTnLst>
                              <p:par>
                                <p:cTn id="16" presetID="23" presetClass="entr" presetSubtype="16" fill="hold" nodeType="clickEffect">
                                  <p:stCondLst>
                                    <p:cond delay="0"/>
                                  </p:stCondLst>
                                  <p:childTnLst>
                                    <p:set>
                                      <p:cBhvr>
                                        <p:cTn id="17" dur="1" fill="hold">
                                          <p:stCondLst>
                                            <p:cond delay="0"/>
                                          </p:stCondLst>
                                        </p:cTn>
                                        <p:tgtEl>
                                          <p:spTgt spid="102438"/>
                                        </p:tgtEl>
                                        <p:attrNameLst>
                                          <p:attrName>style.visibility</p:attrName>
                                        </p:attrNameLst>
                                      </p:cBhvr>
                                      <p:to>
                                        <p:strVal val="visible"/>
                                      </p:to>
                                    </p:set>
                                    <p:anim calcmode="lin" valueType="num">
                                      <p:cBhvr>
                                        <p:cTn id="18" dur="500" fill="hold"/>
                                        <p:tgtEl>
                                          <p:spTgt spid="102438"/>
                                        </p:tgtEl>
                                        <p:attrNameLst>
                                          <p:attrName>ppt_w</p:attrName>
                                        </p:attrNameLst>
                                      </p:cBhvr>
                                      <p:tavLst>
                                        <p:tav tm="0">
                                          <p:val>
                                            <p:fltVal val="0.000000"/>
                                          </p:val>
                                        </p:tav>
                                        <p:tav tm="100000">
                                          <p:val>
                                            <p:strVal val="#ppt_w"/>
                                          </p:val>
                                        </p:tav>
                                      </p:tavLst>
                                    </p:anim>
                                    <p:anim calcmode="lin" valueType="num">
                                      <p:cBhvr>
                                        <p:cTn id="19" dur="500" fill="hold"/>
                                        <p:tgtEl>
                                          <p:spTgt spid="102438"/>
                                        </p:tgtEl>
                                        <p:attrNameLst>
                                          <p:attrName>ppt_h</p:attrName>
                                        </p:attrNameLst>
                                      </p:cBhvr>
                                      <p:tavLst>
                                        <p:tav tm="0">
                                          <p:val>
                                            <p:fltVal val="0.00000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02439"/>
                                        </p:tgtEl>
                                        <p:attrNameLst>
                                          <p:attrName>style.visibility</p:attrName>
                                        </p:attrNameLst>
                                      </p:cBhvr>
                                      <p:to>
                                        <p:strVal val="visible"/>
                                      </p:to>
                                    </p:set>
                                    <p:animEffect transition="in" filter="dissolve">
                                      <p:cBhvr>
                                        <p:cTn id="24" dur="500"/>
                                        <p:tgtEl>
                                          <p:spTgt spid="102439"/>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02441"/>
                                        </p:tgtEl>
                                        <p:attrNameLst>
                                          <p:attrName>style.visibility</p:attrName>
                                        </p:attrNameLst>
                                      </p:cBhvr>
                                      <p:to>
                                        <p:strVal val="visible"/>
                                      </p:to>
                                    </p:set>
                                    <p:anim calcmode="lin" valueType="num">
                                      <p:cBhvr>
                                        <p:cTn id="29" dur="500" fill="hold"/>
                                        <p:tgtEl>
                                          <p:spTgt spid="102441"/>
                                        </p:tgtEl>
                                        <p:attrNameLst>
                                          <p:attrName>ppt_w</p:attrName>
                                        </p:attrNameLst>
                                      </p:cBhvr>
                                      <p:tavLst>
                                        <p:tav tm="0">
                                          <p:val>
                                            <p:fltVal val="0.000000"/>
                                          </p:val>
                                        </p:tav>
                                        <p:tav tm="100000">
                                          <p:val>
                                            <p:strVal val="#ppt_w"/>
                                          </p:val>
                                        </p:tav>
                                      </p:tavLst>
                                    </p:anim>
                                    <p:anim calcmode="lin" valueType="num">
                                      <p:cBhvr>
                                        <p:cTn id="30" dur="500" fill="hold"/>
                                        <p:tgtEl>
                                          <p:spTgt spid="102441"/>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02442"/>
                                        </p:tgtEl>
                                        <p:attrNameLst>
                                          <p:attrName>style.visibility</p:attrName>
                                        </p:attrNameLst>
                                      </p:cBhvr>
                                      <p:to>
                                        <p:strVal val="visible"/>
                                      </p:to>
                                    </p:set>
                                    <p:animEffect transition="in" filter="box(in)">
                                      <p:cBhvr>
                                        <p:cTn id="35" dur="500"/>
                                        <p:tgtEl>
                                          <p:spTgt spid="10244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102443"/>
                                        </p:tgtEl>
                                        <p:attrNameLst>
                                          <p:attrName>style.visibility</p:attrName>
                                        </p:attrNameLst>
                                      </p:cBhvr>
                                      <p:to>
                                        <p:strVal val="visible"/>
                                      </p:to>
                                    </p:set>
                                    <p:animEffect transition="in" filter="dissolve">
                                      <p:cBhvr>
                                        <p:cTn id="40" dur="500"/>
                                        <p:tgtEl>
                                          <p:spTgt spid="10244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02440"/>
                                        </p:tgtEl>
                                        <p:attrNameLst>
                                          <p:attrName>style.visibility</p:attrName>
                                        </p:attrNameLst>
                                      </p:cBhvr>
                                      <p:to>
                                        <p:strVal val="visible"/>
                                      </p:to>
                                    </p:set>
                                    <p:animEffect transition="in" filter="wipe(down)">
                                      <p:cBhvr>
                                        <p:cTn id="45" dur="500"/>
                                        <p:tgtEl>
                                          <p:spTgt spid="102440"/>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02440">
                                            <p:txEl>
                                              <p:charRg st="0" end="10"/>
                                            </p:txEl>
                                          </p:spTgt>
                                        </p:tgtEl>
                                        <p:attrNameLst>
                                          <p:attrName>style.visibility</p:attrName>
                                        </p:attrNameLst>
                                      </p:cBhvr>
                                      <p:to>
                                        <p:strVal val="visible"/>
                                      </p:to>
                                    </p:set>
                                    <p:animEffect transition="in" filter="wipe(down)">
                                      <p:cBhvr>
                                        <p:cTn id="48" dur="500"/>
                                        <p:tgtEl>
                                          <p:spTgt spid="102440">
                                            <p:txEl>
                                              <p:charRg st="0" end="10"/>
                                            </p:txEl>
                                          </p:spTgt>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02440">
                                            <p:txEl>
                                              <p:charRg st="10" end="44"/>
                                            </p:txEl>
                                          </p:spTgt>
                                        </p:tgtEl>
                                        <p:attrNameLst>
                                          <p:attrName>style.visibility</p:attrName>
                                        </p:attrNameLst>
                                      </p:cBhvr>
                                      <p:to>
                                        <p:strVal val="visible"/>
                                      </p:to>
                                    </p:set>
                                    <p:animEffect transition="in" filter="wipe(down)">
                                      <p:cBhvr>
                                        <p:cTn id="51" dur="500"/>
                                        <p:tgtEl>
                                          <p:spTgt spid="102440">
                                            <p:txEl>
                                              <p:charRg st="10" end="44"/>
                                            </p:txEl>
                                          </p:spTgt>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02440">
                                            <p:txEl>
                                              <p:charRg st="44" end="76"/>
                                            </p:txEl>
                                          </p:spTgt>
                                        </p:tgtEl>
                                        <p:attrNameLst>
                                          <p:attrName>style.visibility</p:attrName>
                                        </p:attrNameLst>
                                      </p:cBhvr>
                                      <p:to>
                                        <p:strVal val="visible"/>
                                      </p:to>
                                    </p:set>
                                    <p:animEffect transition="in" filter="wipe(down)">
                                      <p:cBhvr>
                                        <p:cTn id="54" dur="500"/>
                                        <p:tgtEl>
                                          <p:spTgt spid="102440">
                                            <p:txEl>
                                              <p:charRg st="44" end="7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7" grpId="0"/>
      <p:bldP spid="102439" grpId="0" animBg="1"/>
      <p:bldP spid="102440" grpId="0" animBg="1" build="allAtOnce"/>
      <p:bldP spid="102442" grpId="0"/>
      <p:bldP spid="102443"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sp>
        <p:nvSpPr>
          <p:cNvPr id="139267" name="Rectangle 2"/>
          <p:cNvSpPr txBox="1"/>
          <p:nvPr/>
        </p:nvSpPr>
        <p:spPr>
          <a:xfrm>
            <a:off x="682625" y="14509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2</a:t>
            </a:r>
            <a:r>
              <a:rPr lang="zh-CN" altLang="en-US" sz="2400" dirty="0">
                <a:solidFill>
                  <a:srgbClr val="0033CC"/>
                </a:solidFill>
                <a:latin typeface="宋体" panose="02010600030101010101" pitchFamily="2" charset="-122"/>
              </a:rPr>
              <a:t>）投影（</a:t>
            </a:r>
            <a:r>
              <a:rPr lang="en-US" altLang="zh-CN" sz="2400" dirty="0">
                <a:solidFill>
                  <a:srgbClr val="0033CC"/>
                </a:solidFill>
                <a:latin typeface="宋体" panose="02010600030101010101" pitchFamily="2" charset="-122"/>
              </a:rPr>
              <a:t>Projection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sp>
        <p:nvSpPr>
          <p:cNvPr id="139268" name="矩形 4"/>
          <p:cNvSpPr/>
          <p:nvPr/>
        </p:nvSpPr>
        <p:spPr>
          <a:xfrm>
            <a:off x="4456113" y="1246188"/>
            <a:ext cx="4078287" cy="13112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从</a:t>
            </a:r>
            <a:r>
              <a:rPr lang="zh-CN" altLang="en-US" sz="2400" dirty="0">
                <a:solidFill>
                  <a:srgbClr val="CC0000"/>
                </a:solidFill>
                <a:latin typeface="宋体" panose="02010600030101010101" pitchFamily="2" charset="-122"/>
              </a:rPr>
              <a:t>关系实例</a:t>
            </a:r>
            <a:r>
              <a:rPr lang="zh-CN" altLang="en-US" sz="2400" dirty="0">
                <a:solidFill>
                  <a:srgbClr val="0000CC"/>
                </a:solidFill>
                <a:latin typeface="宋体" panose="02010600030101010101" pitchFamily="2" charset="-122"/>
              </a:rPr>
              <a:t>中选择出</a:t>
            </a:r>
            <a:r>
              <a:rPr lang="zh-CN" altLang="en-US" sz="2400" dirty="0">
                <a:solidFill>
                  <a:srgbClr val="CC0000"/>
                </a:solidFill>
                <a:latin typeface="宋体" panose="02010600030101010101" pitchFamily="2" charset="-122"/>
              </a:rPr>
              <a:t>满足条件</a:t>
            </a:r>
            <a:r>
              <a:rPr lang="zh-CN" altLang="en-US" sz="2400" dirty="0">
                <a:solidFill>
                  <a:srgbClr val="0000CC"/>
                </a:solidFill>
                <a:latin typeface="宋体" panose="02010600030101010101" pitchFamily="2" charset="-122"/>
              </a:rPr>
              <a:t>的</a:t>
            </a:r>
            <a:r>
              <a:rPr lang="zh-CN" altLang="en-US" sz="2400" dirty="0">
                <a:solidFill>
                  <a:srgbClr val="CC0000"/>
                </a:solidFill>
                <a:latin typeface="宋体" panose="02010600030101010101" pitchFamily="2" charset="-122"/>
              </a:rPr>
              <a:t>一列或多列</a:t>
            </a:r>
            <a:r>
              <a:rPr lang="en-US" altLang="zh-CN" sz="2400" dirty="0">
                <a:solidFill>
                  <a:srgbClr val="CC0000"/>
                </a:solidFill>
                <a:latin typeface="宋体" panose="02010600030101010101" pitchFamily="2" charset="-122"/>
              </a:rPr>
              <a:t>,</a:t>
            </a:r>
            <a:r>
              <a:rPr lang="zh-CN" altLang="en-US" sz="2400" dirty="0">
                <a:solidFill>
                  <a:srgbClr val="CC0000"/>
                </a:solidFill>
                <a:latin typeface="宋体" panose="02010600030101010101" pitchFamily="2" charset="-122"/>
              </a:rPr>
              <a:t>相当于对关系做纵向剪切</a:t>
            </a:r>
            <a:r>
              <a:rPr lang="zh-CN" altLang="en-US" sz="2400" dirty="0">
                <a:solidFill>
                  <a:srgbClr val="0000CC"/>
                </a:solidFill>
                <a:latin typeface="宋体" panose="02010600030101010101" pitchFamily="2" charset="-122"/>
              </a:rPr>
              <a:t>。</a:t>
            </a:r>
            <a:endParaRPr lang="zh-CN" altLang="en-US" sz="2400" dirty="0">
              <a:solidFill>
                <a:srgbClr val="0000CC"/>
              </a:solidFill>
              <a:latin typeface="宋体" panose="02010600030101010101" pitchFamily="2" charset="-122"/>
            </a:endParaRPr>
          </a:p>
        </p:txBody>
      </p:sp>
      <p:sp>
        <p:nvSpPr>
          <p:cNvPr id="103429" name="Text Box 83"/>
          <p:cNvSpPr txBox="1"/>
          <p:nvPr/>
        </p:nvSpPr>
        <p:spPr>
          <a:xfrm>
            <a:off x="882650" y="2465388"/>
            <a:ext cx="6432550" cy="5238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0000CC"/>
                </a:solidFill>
                <a:latin typeface="宋体" panose="02010600030101010101" pitchFamily="2" charset="-122"/>
                <a:sym typeface="Symbol" panose="05050102010706020507" pitchFamily="18" charset="2"/>
              </a:rPr>
              <a:t>操作符：</a:t>
            </a:r>
            <a:r>
              <a:rPr lang="zh-CN" altLang="en-US" sz="2800" baseline="-25000" dirty="0">
                <a:solidFill>
                  <a:srgbClr val="0000CC"/>
                </a:solidFill>
                <a:latin typeface="宋体" panose="02010600030101010101" pitchFamily="2" charset="-122"/>
                <a:sym typeface="Symbol" panose="05050102010706020507" pitchFamily="18" charset="2"/>
              </a:rPr>
              <a:t>&lt;attribute list&gt;</a:t>
            </a:r>
            <a:r>
              <a:rPr lang="zh-CN" altLang="en-US" sz="2800" dirty="0">
                <a:solidFill>
                  <a:srgbClr val="0000CC"/>
                </a:solidFill>
                <a:latin typeface="宋体" panose="02010600030101010101" pitchFamily="2" charset="-122"/>
                <a:sym typeface="Symbol" panose="05050102010706020507" pitchFamily="18" charset="2"/>
              </a:rPr>
              <a:t>(R)</a:t>
            </a:r>
            <a:endParaRPr lang="zh-CN" altLang="en-US" sz="2400" dirty="0">
              <a:solidFill>
                <a:srgbClr val="0000CC"/>
              </a:solidFill>
              <a:latin typeface="宋体" panose="02010600030101010101" pitchFamily="2" charset="-122"/>
            </a:endParaRPr>
          </a:p>
        </p:txBody>
      </p:sp>
      <p:grpSp>
        <p:nvGrpSpPr>
          <p:cNvPr id="103430" name="组合 43"/>
          <p:cNvGrpSpPr/>
          <p:nvPr/>
        </p:nvGrpSpPr>
        <p:grpSpPr>
          <a:xfrm>
            <a:off x="4713288" y="4129088"/>
            <a:ext cx="2255837" cy="609600"/>
            <a:chOff x="0" y="0"/>
            <a:chExt cx="2255838" cy="609600"/>
          </a:xfrm>
        </p:grpSpPr>
        <p:sp>
          <p:nvSpPr>
            <p:cNvPr id="139312" name="Rectangle 80"/>
            <p:cNvSpPr/>
            <p:nvPr/>
          </p:nvSpPr>
          <p:spPr>
            <a:xfrm>
              <a:off x="0" y="0"/>
              <a:ext cx="2255838" cy="5730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sname,grade</a:t>
              </a:r>
              <a:r>
                <a:rPr lang="zh-CN" altLang="en-US" sz="2600" dirty="0"/>
                <a:t>(S)</a:t>
              </a:r>
              <a:endParaRPr lang="de-DE" altLang="en-US" sz="2600" dirty="0"/>
            </a:p>
          </p:txBody>
        </p:sp>
        <p:sp>
          <p:nvSpPr>
            <p:cNvPr id="139313" name="Line 81"/>
            <p:cNvSpPr/>
            <p:nvPr/>
          </p:nvSpPr>
          <p:spPr>
            <a:xfrm>
              <a:off x="76200" y="609600"/>
              <a:ext cx="2133600" cy="0"/>
            </a:xfrm>
            <a:prstGeom prst="line">
              <a:avLst/>
            </a:prstGeom>
            <a:ln w="50800" cap="flat" cmpd="sng">
              <a:solidFill>
                <a:srgbClr val="CC0000"/>
              </a:solidFill>
              <a:prstDash val="solid"/>
              <a:headEnd type="none" w="med" len="med"/>
              <a:tailEnd type="stealth" w="med" len="med"/>
            </a:ln>
          </p:spPr>
        </p:sp>
      </p:grpSp>
      <p:sp>
        <p:nvSpPr>
          <p:cNvPr id="103433" name="Text Box 86"/>
          <p:cNvSpPr txBox="1"/>
          <p:nvPr/>
        </p:nvSpPr>
        <p:spPr>
          <a:xfrm>
            <a:off x="6923088" y="3976688"/>
            <a:ext cx="2046287" cy="132397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de-DE" altLang="en-US" dirty="0">
                <a:solidFill>
                  <a:srgbClr val="0000FF"/>
                </a:solidFill>
                <a:latin typeface="宋体" panose="02010600030101010101" pitchFamily="2" charset="-122"/>
              </a:rPr>
              <a:t>何大明</a:t>
            </a:r>
            <a:r>
              <a:rPr lang="zh-CN" altLang="en-US" dirty="0">
                <a:solidFill>
                  <a:srgbClr val="0000FF"/>
                </a:solidFill>
                <a:latin typeface="宋体" panose="02010600030101010101" pitchFamily="2" charset="-122"/>
              </a:rPr>
              <a:t>，2）,（</a:t>
            </a:r>
            <a:r>
              <a:rPr lang="zh-CN" altLang="en-US" dirty="0">
                <a:solidFill>
                  <a:srgbClr val="0000CC"/>
                </a:solidFill>
                <a:latin typeface="宋体" panose="02010600030101010101" pitchFamily="2" charset="-122"/>
              </a:rPr>
              <a:t>李峰，3）,（陈胜，4) ,（</a:t>
            </a:r>
            <a:r>
              <a:rPr lang="zh-CN" altLang="en-US" dirty="0">
                <a:solidFill>
                  <a:srgbClr val="0000FF"/>
                </a:solidFill>
                <a:latin typeface="宋体" panose="02010600030101010101" pitchFamily="2" charset="-122"/>
              </a:rPr>
              <a:t>张</a:t>
            </a:r>
            <a:r>
              <a:rPr lang="de-DE" altLang="en-US" dirty="0">
                <a:solidFill>
                  <a:srgbClr val="0000FF"/>
                </a:solidFill>
                <a:latin typeface="宋体" panose="02010600030101010101" pitchFamily="2" charset="-122"/>
              </a:rPr>
              <a:t>大</a:t>
            </a:r>
            <a:r>
              <a:rPr lang="zh-CN" altLang="en-US" dirty="0">
                <a:solidFill>
                  <a:srgbClr val="0000FF"/>
                </a:solidFill>
                <a:latin typeface="宋体" panose="02010600030101010101" pitchFamily="2" charset="-122"/>
              </a:rPr>
              <a:t>卫，1）}</a:t>
            </a:r>
            <a:endParaRPr lang="de-DE" altLang="en-US" dirty="0">
              <a:solidFill>
                <a:srgbClr val="0000FF"/>
              </a:solidFill>
              <a:latin typeface="宋体" panose="02010600030101010101" pitchFamily="2" charset="-122"/>
            </a:endParaRPr>
          </a:p>
        </p:txBody>
      </p:sp>
      <p:grpSp>
        <p:nvGrpSpPr>
          <p:cNvPr id="103434" name="Group 3"/>
          <p:cNvGrpSpPr/>
          <p:nvPr/>
        </p:nvGrpSpPr>
        <p:grpSpPr>
          <a:xfrm>
            <a:off x="449263" y="3033713"/>
            <a:ext cx="4267200" cy="2176462"/>
            <a:chOff x="0" y="0"/>
            <a:chExt cx="2688" cy="1581"/>
          </a:xfrm>
        </p:grpSpPr>
        <p:sp>
          <p:nvSpPr>
            <p:cNvPr id="139280"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endParaRPr lang="de-DE" altLang="en-US" sz="2400" dirty="0">
                <a:solidFill>
                  <a:srgbClr val="0000CC"/>
                </a:solidFill>
                <a:latin typeface="宋体" panose="02010600030101010101" pitchFamily="2" charset="-122"/>
              </a:endParaRPr>
            </a:p>
          </p:txBody>
        </p:sp>
        <p:sp>
          <p:nvSpPr>
            <p:cNvPr id="139281"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39282"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39283"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39284"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39285"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39286"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39287"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39288"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39289"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39290"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39291"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39292"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39293"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39294"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39295"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39296"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39297"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9298"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9299"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39300"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39301"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39302"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39303"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39304"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39305"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39306"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39307"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39308"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39309"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39310"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39311"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3467" name="Text Box 79"/>
          <p:cNvSpPr txBox="1"/>
          <p:nvPr/>
        </p:nvSpPr>
        <p:spPr>
          <a:xfrm>
            <a:off x="479425" y="5273675"/>
            <a:ext cx="7735888" cy="9429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sname,grade from S </a:t>
            </a:r>
            <a:endParaRPr lang="de-DE" altLang="en-US" sz="2400" dirty="0">
              <a:solidFill>
                <a:srgbClr val="0000CC"/>
              </a:solidFill>
              <a:latin typeface="宋体" panose="02010600030101010101" pitchFamily="2" charset="-122"/>
            </a:endParaRPr>
          </a:p>
        </p:txBody>
      </p:sp>
      <p:sp>
        <p:nvSpPr>
          <p:cNvPr id="13927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
        <p:nvSpPr>
          <p:cNvPr id="46" name="矩形 45"/>
          <p:cNvSpPr/>
          <p:nvPr/>
        </p:nvSpPr>
        <p:spPr>
          <a:xfrm>
            <a:off x="4794250" y="901700"/>
            <a:ext cx="3546475" cy="21320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pic>
        <p:nvPicPr>
          <p:cNvPr id="47" name="图片 46"/>
          <p:cNvPicPr>
            <a:picLocks noChangeAspect="1"/>
          </p:cNvPicPr>
          <p:nvPr/>
        </p:nvPicPr>
        <p:blipFill>
          <a:blip r:embed="rId1"/>
          <a:stretch>
            <a:fillRect/>
          </a:stretch>
        </p:blipFill>
        <p:spPr>
          <a:xfrm>
            <a:off x="4953000" y="987425"/>
            <a:ext cx="1211263" cy="1997075"/>
          </a:xfrm>
          <a:prstGeom prst="rect">
            <a:avLst/>
          </a:prstGeom>
          <a:noFill/>
          <a:ln w="9525">
            <a:noFill/>
          </a:ln>
        </p:spPr>
      </p:pic>
      <p:pic>
        <p:nvPicPr>
          <p:cNvPr id="48" name="图片 47"/>
          <p:cNvPicPr>
            <a:picLocks noChangeAspect="1"/>
          </p:cNvPicPr>
          <p:nvPr/>
        </p:nvPicPr>
        <p:blipFill>
          <a:blip r:embed="rId2"/>
          <a:stretch>
            <a:fillRect/>
          </a:stretch>
        </p:blipFill>
        <p:spPr>
          <a:xfrm>
            <a:off x="7829550" y="1044575"/>
            <a:ext cx="403225" cy="1882775"/>
          </a:xfrm>
          <a:prstGeom prst="rect">
            <a:avLst/>
          </a:prstGeom>
          <a:noFill/>
          <a:ln w="9525">
            <a:noFill/>
          </a:ln>
        </p:spPr>
      </p:pic>
      <p:pic>
        <p:nvPicPr>
          <p:cNvPr id="49" name="图片 48"/>
          <p:cNvPicPr>
            <a:picLocks noChangeAspect="1"/>
          </p:cNvPicPr>
          <p:nvPr/>
        </p:nvPicPr>
        <p:blipFill>
          <a:blip r:embed="rId3"/>
          <a:stretch>
            <a:fillRect/>
          </a:stretch>
        </p:blipFill>
        <p:spPr>
          <a:xfrm>
            <a:off x="6057900" y="2033588"/>
            <a:ext cx="1771650" cy="276225"/>
          </a:xfrm>
          <a:prstGeom prst="rect">
            <a:avLst/>
          </a:prstGeom>
          <a:noFill/>
          <a:ln w="9525">
            <a:noFill/>
          </a:ln>
        </p:spPr>
      </p:pic>
      <p:sp>
        <p:nvSpPr>
          <p:cNvPr id="50" name="文本框 49"/>
          <p:cNvSpPr txBox="1"/>
          <p:nvPr/>
        </p:nvSpPr>
        <p:spPr>
          <a:xfrm>
            <a:off x="6164263" y="1444625"/>
            <a:ext cx="1508125"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solidFill>
                  <a:srgbClr val="0000CC"/>
                </a:solidFill>
                <a:latin typeface="宋体" panose="02010600030101010101" pitchFamily="2" charset="-122"/>
                <a:sym typeface="Symbol" panose="05050102010706020507" pitchFamily="18" charset="2"/>
              </a:rPr>
              <a:t></a:t>
            </a:r>
            <a:r>
              <a:rPr lang="zh-CN" altLang="en-US" sz="1800" baseline="-25000" dirty="0">
                <a:solidFill>
                  <a:srgbClr val="0000CC"/>
                </a:solidFill>
                <a:latin typeface="宋体" panose="02010600030101010101" pitchFamily="2" charset="-122"/>
                <a:sym typeface="Symbol" panose="05050102010706020507" pitchFamily="18" charset="2"/>
              </a:rPr>
              <a:t>&lt;attribute list&gt;</a:t>
            </a:r>
            <a:endParaRPr lang="zh-CN" altLang="en-US" sz="1800"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3429"/>
                                        </p:tgtEl>
                                        <p:attrNameLst>
                                          <p:attrName>style.visibility</p:attrName>
                                        </p:attrNameLst>
                                      </p:cBhvr>
                                      <p:to>
                                        <p:strVal val="visible"/>
                                      </p:to>
                                    </p:set>
                                    <p:animEffect transition="in" filter="wipe(down)">
                                      <p:cBhvr>
                                        <p:cTn id="7" dur="500"/>
                                        <p:tgtEl>
                                          <p:spTgt spid="10342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3429">
                                            <p:txEl>
                                              <p:charRg st="0" end="25"/>
                                            </p:txEl>
                                          </p:spTgt>
                                        </p:tgtEl>
                                        <p:attrNameLst>
                                          <p:attrName>style.visibility</p:attrName>
                                        </p:attrNameLst>
                                      </p:cBhvr>
                                      <p:to>
                                        <p:strVal val="visible"/>
                                      </p:to>
                                    </p:set>
                                    <p:animEffect transition="in" filter="wipe(down)">
                                      <p:cBhvr>
                                        <p:cTn id="12" dur="500"/>
                                        <p:tgtEl>
                                          <p:spTgt spid="103429">
                                            <p:txEl>
                                              <p:charRg st="0" end="2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3434"/>
                                        </p:tgtEl>
                                        <p:attrNameLst>
                                          <p:attrName>style.visibility</p:attrName>
                                        </p:attrNameLst>
                                      </p:cBhvr>
                                      <p:to>
                                        <p:strVal val="visible"/>
                                      </p:to>
                                    </p:set>
                                    <p:anim calcmode="lin" valueType="num">
                                      <p:cBhvr additive="base">
                                        <p:cTn id="17" dur="500" fill="hold"/>
                                        <p:tgtEl>
                                          <p:spTgt spid="103434"/>
                                        </p:tgtEl>
                                        <p:attrNameLst>
                                          <p:attrName>ppt_x</p:attrName>
                                        </p:attrNameLst>
                                      </p:cBhvr>
                                      <p:tavLst>
                                        <p:tav tm="0">
                                          <p:val>
                                            <p:strVal val="#ppt_x"/>
                                          </p:val>
                                        </p:tav>
                                        <p:tav tm="100000">
                                          <p:val>
                                            <p:strVal val="#ppt_x"/>
                                          </p:val>
                                        </p:tav>
                                      </p:tavLst>
                                    </p:anim>
                                    <p:anim calcmode="lin" valueType="num">
                                      <p:cBhvr additive="base">
                                        <p:cTn id="18" dur="500" fill="hold"/>
                                        <p:tgtEl>
                                          <p:spTgt spid="10343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03430"/>
                                        </p:tgtEl>
                                        <p:attrNameLst>
                                          <p:attrName>style.visibility</p:attrName>
                                        </p:attrNameLst>
                                      </p:cBhvr>
                                      <p:to>
                                        <p:strVal val="visible"/>
                                      </p:to>
                                    </p:set>
                                    <p:anim calcmode="lin" valueType="num">
                                      <p:cBhvr additive="base">
                                        <p:cTn id="23" dur="500" fill="hold"/>
                                        <p:tgtEl>
                                          <p:spTgt spid="103430"/>
                                        </p:tgtEl>
                                        <p:attrNameLst>
                                          <p:attrName>ppt_x</p:attrName>
                                        </p:attrNameLst>
                                      </p:cBhvr>
                                      <p:tavLst>
                                        <p:tav tm="0">
                                          <p:val>
                                            <p:strVal val="#ppt_x"/>
                                          </p:val>
                                        </p:tav>
                                        <p:tav tm="100000">
                                          <p:val>
                                            <p:strVal val="#ppt_x"/>
                                          </p:val>
                                        </p:tav>
                                      </p:tavLst>
                                    </p:anim>
                                    <p:anim calcmode="lin" valueType="num">
                                      <p:cBhvr additive="base">
                                        <p:cTn id="24" dur="500" fill="hold"/>
                                        <p:tgtEl>
                                          <p:spTgt spid="10343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03433"/>
                                        </p:tgtEl>
                                        <p:attrNameLst>
                                          <p:attrName>style.visibility</p:attrName>
                                        </p:attrNameLst>
                                      </p:cBhvr>
                                      <p:to>
                                        <p:strVal val="visible"/>
                                      </p:to>
                                    </p:set>
                                    <p:animEffect transition="in" filter="wipe(down)">
                                      <p:cBhvr>
                                        <p:cTn id="29" dur="500"/>
                                        <p:tgtEl>
                                          <p:spTgt spid="10343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03433">
                                            <p:txEl>
                                              <p:charRg st="0" end="33"/>
                                            </p:txEl>
                                          </p:spTgt>
                                        </p:tgtEl>
                                        <p:attrNameLst>
                                          <p:attrName>style.visibility</p:attrName>
                                        </p:attrNameLst>
                                      </p:cBhvr>
                                      <p:to>
                                        <p:strVal val="visible"/>
                                      </p:to>
                                    </p:set>
                                    <p:animEffect transition="in" filter="wipe(down)">
                                      <p:cBhvr>
                                        <p:cTn id="34" dur="500"/>
                                        <p:tgtEl>
                                          <p:spTgt spid="103433">
                                            <p:txEl>
                                              <p:charRg st="0" end="3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03467"/>
                                        </p:tgtEl>
                                        <p:attrNameLst>
                                          <p:attrName>style.visibility</p:attrName>
                                        </p:attrNameLst>
                                      </p:cBhvr>
                                      <p:to>
                                        <p:strVal val="visible"/>
                                      </p:to>
                                    </p:set>
                                    <p:animEffect transition="in" filter="wipe(down)">
                                      <p:cBhvr>
                                        <p:cTn id="39" dur="500"/>
                                        <p:tgtEl>
                                          <p:spTgt spid="103467"/>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03467">
                                            <p:txEl>
                                              <p:charRg st="0" end="10"/>
                                            </p:txEl>
                                          </p:spTgt>
                                        </p:tgtEl>
                                        <p:attrNameLst>
                                          <p:attrName>style.visibility</p:attrName>
                                        </p:attrNameLst>
                                      </p:cBhvr>
                                      <p:to>
                                        <p:strVal val="visible"/>
                                      </p:to>
                                    </p:set>
                                    <p:animEffect transition="in" filter="wipe(down)">
                                      <p:cBhvr>
                                        <p:cTn id="44" dur="500"/>
                                        <p:tgtEl>
                                          <p:spTgt spid="103467">
                                            <p:txEl>
                                              <p:charRg st="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03467">
                                            <p:txEl>
                                              <p:charRg st="10" end="40"/>
                                            </p:txEl>
                                          </p:spTgt>
                                        </p:tgtEl>
                                        <p:attrNameLst>
                                          <p:attrName>style.visibility</p:attrName>
                                        </p:attrNameLst>
                                      </p:cBhvr>
                                      <p:to>
                                        <p:strVal val="visible"/>
                                      </p:to>
                                    </p:set>
                                    <p:animEffect transition="in" filter="wipe(down)">
                                      <p:cBhvr>
                                        <p:cTn id="49" dur="500"/>
                                        <p:tgtEl>
                                          <p:spTgt spid="103467">
                                            <p:txEl>
                                              <p:charRg st="10" end="4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46"/>
                                        </p:tgtEl>
                                        <p:attrNameLst>
                                          <p:attrName>style.visibility</p:attrName>
                                        </p:attrNameLst>
                                      </p:cBhvr>
                                      <p:to>
                                        <p:strVal val="visible"/>
                                      </p:to>
                                    </p:set>
                                    <p:anim calcmode="lin" valueType="num">
                                      <p:cBhvr additive="base">
                                        <p:cTn id="54" dur="500" fill="hold"/>
                                        <p:tgtEl>
                                          <p:spTgt spid="46"/>
                                        </p:tgtEl>
                                        <p:attrNameLst>
                                          <p:attrName>ppt_x</p:attrName>
                                        </p:attrNameLst>
                                      </p:cBhvr>
                                      <p:tavLst>
                                        <p:tav tm="0">
                                          <p:val>
                                            <p:strVal val="#ppt_x"/>
                                          </p:val>
                                        </p:tav>
                                        <p:tav tm="100000">
                                          <p:val>
                                            <p:strVal val="#ppt_x"/>
                                          </p:val>
                                        </p:tav>
                                      </p:tavLst>
                                    </p:anim>
                                    <p:anim calcmode="lin" valueType="num">
                                      <p:cBhvr additive="base">
                                        <p:cTn id="55" dur="500" fill="hold"/>
                                        <p:tgtEl>
                                          <p:spTgt spid="46"/>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47"/>
                                        </p:tgtEl>
                                        <p:attrNameLst>
                                          <p:attrName>style.visibility</p:attrName>
                                        </p:attrNameLst>
                                      </p:cBhvr>
                                      <p:to>
                                        <p:strVal val="visible"/>
                                      </p:to>
                                    </p:set>
                                    <p:anim calcmode="lin" valueType="num">
                                      <p:cBhvr additive="base">
                                        <p:cTn id="58" dur="500" fill="hold"/>
                                        <p:tgtEl>
                                          <p:spTgt spid="47"/>
                                        </p:tgtEl>
                                        <p:attrNameLst>
                                          <p:attrName>ppt_x</p:attrName>
                                        </p:attrNameLst>
                                      </p:cBhvr>
                                      <p:tavLst>
                                        <p:tav tm="0">
                                          <p:val>
                                            <p:strVal val="#ppt_x"/>
                                          </p:val>
                                        </p:tav>
                                        <p:tav tm="100000">
                                          <p:val>
                                            <p:strVal val="#ppt_x"/>
                                          </p:val>
                                        </p:tav>
                                      </p:tavLst>
                                    </p:anim>
                                    <p:anim calcmode="lin" valueType="num">
                                      <p:cBhvr additive="base">
                                        <p:cTn id="59" dur="500" fill="hold"/>
                                        <p:tgtEl>
                                          <p:spTgt spid="47"/>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50"/>
                                        </p:tgtEl>
                                        <p:attrNameLst>
                                          <p:attrName>style.visibility</p:attrName>
                                        </p:attrNameLst>
                                      </p:cBhvr>
                                      <p:to>
                                        <p:strVal val="visible"/>
                                      </p:to>
                                    </p:set>
                                    <p:anim calcmode="lin" valueType="num">
                                      <p:cBhvr additive="base">
                                        <p:cTn id="62" dur="500" fill="hold"/>
                                        <p:tgtEl>
                                          <p:spTgt spid="50"/>
                                        </p:tgtEl>
                                        <p:attrNameLst>
                                          <p:attrName>ppt_x</p:attrName>
                                        </p:attrNameLst>
                                      </p:cBhvr>
                                      <p:tavLst>
                                        <p:tav tm="0">
                                          <p:val>
                                            <p:strVal val="#ppt_x"/>
                                          </p:val>
                                        </p:tav>
                                        <p:tav tm="100000">
                                          <p:val>
                                            <p:strVal val="#ppt_x"/>
                                          </p:val>
                                        </p:tav>
                                      </p:tavLst>
                                    </p:anim>
                                    <p:anim calcmode="lin" valueType="num">
                                      <p:cBhvr additive="base">
                                        <p:cTn id="63" dur="500" fill="hold"/>
                                        <p:tgtEl>
                                          <p:spTgt spid="50"/>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49"/>
                                        </p:tgtEl>
                                        <p:attrNameLst>
                                          <p:attrName>style.visibility</p:attrName>
                                        </p:attrNameLst>
                                      </p:cBhvr>
                                      <p:to>
                                        <p:strVal val="visible"/>
                                      </p:to>
                                    </p:set>
                                    <p:anim calcmode="lin" valueType="num">
                                      <p:cBhvr additive="base">
                                        <p:cTn id="66" dur="500" fill="hold"/>
                                        <p:tgtEl>
                                          <p:spTgt spid="49"/>
                                        </p:tgtEl>
                                        <p:attrNameLst>
                                          <p:attrName>ppt_x</p:attrName>
                                        </p:attrNameLst>
                                      </p:cBhvr>
                                      <p:tavLst>
                                        <p:tav tm="0">
                                          <p:val>
                                            <p:strVal val="#ppt_x"/>
                                          </p:val>
                                        </p:tav>
                                        <p:tav tm="100000">
                                          <p:val>
                                            <p:strVal val="#ppt_x"/>
                                          </p:val>
                                        </p:tav>
                                      </p:tavLst>
                                    </p:anim>
                                    <p:anim calcmode="lin" valueType="num">
                                      <p:cBhvr additive="base">
                                        <p:cTn id="67" dur="500" fill="hold"/>
                                        <p:tgtEl>
                                          <p:spTgt spid="49"/>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48"/>
                                        </p:tgtEl>
                                        <p:attrNameLst>
                                          <p:attrName>style.visibility</p:attrName>
                                        </p:attrNameLst>
                                      </p:cBhvr>
                                      <p:to>
                                        <p:strVal val="visible"/>
                                      </p:to>
                                    </p:set>
                                    <p:anim calcmode="lin" valueType="num">
                                      <p:cBhvr additive="base">
                                        <p:cTn id="70" dur="500" fill="hold"/>
                                        <p:tgtEl>
                                          <p:spTgt spid="48"/>
                                        </p:tgtEl>
                                        <p:attrNameLst>
                                          <p:attrName>ppt_x</p:attrName>
                                        </p:attrNameLst>
                                      </p:cBhvr>
                                      <p:tavLst>
                                        <p:tav tm="0">
                                          <p:val>
                                            <p:strVal val="#ppt_x"/>
                                          </p:val>
                                        </p:tav>
                                        <p:tav tm="100000">
                                          <p:val>
                                            <p:strVal val="#ppt_x"/>
                                          </p:val>
                                        </p:tav>
                                      </p:tavLst>
                                    </p:anim>
                                    <p:anim calcmode="lin" valueType="num">
                                      <p:cBhvr additive="base">
                                        <p:cTn id="71"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29" grpId="0" animBg="1" build="p"/>
      <p:bldP spid="103433" grpId="0" animBg="1" build="p"/>
      <p:bldP spid="103467" grpId="0" animBg="1" build="p"/>
      <p:bldP spid="46" grpId="0" animBg="1"/>
      <p:bldP spid="50" grpId="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4450" name="Group 3"/>
          <p:cNvGrpSpPr/>
          <p:nvPr/>
        </p:nvGrpSpPr>
        <p:grpSpPr>
          <a:xfrm>
            <a:off x="434975" y="1757363"/>
            <a:ext cx="4267200" cy="2176462"/>
            <a:chOff x="0" y="0"/>
            <a:chExt cx="2688" cy="1581"/>
          </a:xfrm>
        </p:grpSpPr>
        <p:sp>
          <p:nvSpPr>
            <p:cNvPr id="140305" name="Text Box 4"/>
            <p:cNvSpPr txBox="1"/>
            <p:nvPr/>
          </p:nvSpPr>
          <p:spPr>
            <a:xfrm>
              <a:off x="768" y="0"/>
              <a:ext cx="1056" cy="42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r>
                <a:rPr lang="en-US" altLang="zh-CN" sz="2400" dirty="0">
                  <a:solidFill>
                    <a:srgbClr val="0000CC"/>
                  </a:solidFill>
                  <a:latin typeface="宋体" panose="02010600030101010101" pitchFamily="2" charset="-122"/>
                </a:rPr>
                <a:t>2</a:t>
              </a:r>
              <a:endParaRPr lang="de-DE" altLang="en-US" sz="2400" dirty="0">
                <a:solidFill>
                  <a:srgbClr val="0000CC"/>
                </a:solidFill>
                <a:latin typeface="宋体" panose="02010600030101010101" pitchFamily="2" charset="-122"/>
              </a:endParaRPr>
            </a:p>
          </p:txBody>
        </p:sp>
        <p:sp>
          <p:nvSpPr>
            <p:cNvPr id="140306"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4</a:t>
              </a:r>
              <a:endParaRPr lang="de-DE" altLang="en-US" dirty="0">
                <a:ea typeface="华文楷体" panose="02010600040101010101" pitchFamily="2" charset="-122"/>
              </a:endParaRPr>
            </a:p>
          </p:txBody>
        </p:sp>
        <p:sp>
          <p:nvSpPr>
            <p:cNvPr id="140307"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23</a:t>
              </a:r>
              <a:endParaRPr lang="de-DE" altLang="en-US" dirty="0">
                <a:ea typeface="华文楷体" panose="02010600040101010101" pitchFamily="2" charset="-122"/>
              </a:endParaRPr>
            </a:p>
          </p:txBody>
        </p:sp>
        <p:sp>
          <p:nvSpPr>
            <p:cNvPr id="140308"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ea typeface="华文楷体" panose="02010600040101010101" pitchFamily="2" charset="-122"/>
                </a:rPr>
                <a:t>孙笑天</a:t>
              </a:r>
              <a:endParaRPr lang="zh-CN" altLang="en-US" dirty="0">
                <a:ea typeface="华文楷体" panose="02010600040101010101" pitchFamily="2" charset="-122"/>
              </a:endParaRPr>
            </a:p>
          </p:txBody>
        </p:sp>
        <p:sp>
          <p:nvSpPr>
            <p:cNvPr id="140309"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r>
                <a:rPr lang="en-US" altLang="zh-CN" dirty="0"/>
                <a:t>6</a:t>
              </a:r>
              <a:endParaRPr lang="de-DE" altLang="en-US" dirty="0">
                <a:ea typeface="华文楷体" panose="02010600040101010101" pitchFamily="2" charset="-122"/>
              </a:endParaRPr>
            </a:p>
          </p:txBody>
        </p:sp>
        <p:sp>
          <p:nvSpPr>
            <p:cNvPr id="140310"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3</a:t>
              </a:r>
              <a:endParaRPr lang="de-DE" altLang="en-US" dirty="0">
                <a:ea typeface="华文楷体" panose="02010600040101010101" pitchFamily="2" charset="-122"/>
              </a:endParaRPr>
            </a:p>
          </p:txBody>
        </p:sp>
        <p:sp>
          <p:nvSpPr>
            <p:cNvPr id="140311"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0312"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ea typeface="华文楷体" panose="02010600040101010101" pitchFamily="2" charset="-122"/>
                </a:rPr>
                <a:t>吴索为</a:t>
              </a:r>
              <a:endParaRPr lang="zh-CN" altLang="en-US" dirty="0">
                <a:ea typeface="华文楷体" panose="02010600040101010101" pitchFamily="2" charset="-122"/>
              </a:endParaRPr>
            </a:p>
          </p:txBody>
        </p:sp>
        <p:sp>
          <p:nvSpPr>
            <p:cNvPr id="140313"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52</a:t>
              </a:r>
              <a:endParaRPr lang="de-DE" altLang="en-US" dirty="0">
                <a:ea typeface="华文楷体" panose="02010600040101010101" pitchFamily="2" charset="-122"/>
              </a:endParaRPr>
            </a:p>
          </p:txBody>
        </p:sp>
        <p:sp>
          <p:nvSpPr>
            <p:cNvPr id="140314"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0315"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0316"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dirty="0">
                  <a:ea typeface="华文楷体" panose="02010600040101010101" pitchFamily="2" charset="-122"/>
                </a:rPr>
                <a:t>钱   途</a:t>
              </a:r>
              <a:endParaRPr lang="de-DE" altLang="en-US" dirty="0">
                <a:ea typeface="华文楷体" panose="02010600040101010101" pitchFamily="2" charset="-122"/>
              </a:endParaRPr>
            </a:p>
          </p:txBody>
        </p:sp>
        <p:sp>
          <p:nvSpPr>
            <p:cNvPr id="140317"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0318" name="Rectangle 17"/>
            <p:cNvSpPr/>
            <p:nvPr/>
          </p:nvSpPr>
          <p:spPr>
            <a:xfrm>
              <a:off x="2099" y="585"/>
              <a:ext cx="589" cy="22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1</a:t>
              </a:r>
              <a:endParaRPr lang="de-DE" altLang="en-US" dirty="0">
                <a:ea typeface="华文楷体" panose="02010600040101010101" pitchFamily="2" charset="-122"/>
              </a:endParaRPr>
            </a:p>
          </p:txBody>
        </p:sp>
        <p:sp>
          <p:nvSpPr>
            <p:cNvPr id="140319"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r>
                <a:rPr lang="en-US" altLang="zh-CN" dirty="0"/>
                <a:t>8</a:t>
              </a:r>
              <a:endParaRPr lang="de-DE" altLang="en-US" dirty="0">
                <a:ea typeface="华文楷体" panose="02010600040101010101" pitchFamily="2" charset="-122"/>
              </a:endParaRPr>
            </a:p>
          </p:txBody>
        </p:sp>
        <p:sp>
          <p:nvSpPr>
            <p:cNvPr id="140320"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李英明</a:t>
              </a:r>
              <a:endParaRPr lang="de-DE" altLang="en-US" dirty="0">
                <a:ea typeface="华文楷体" panose="02010600040101010101" pitchFamily="2" charset="-122"/>
              </a:endParaRPr>
            </a:p>
          </p:txBody>
        </p:sp>
        <p:sp>
          <p:nvSpPr>
            <p:cNvPr id="140321"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en-US" altLang="zh-CN" dirty="0"/>
                <a:t>6</a:t>
              </a:r>
              <a:endParaRPr lang="de-DE" altLang="en-US" dirty="0">
                <a:ea typeface="华文楷体" panose="02010600040101010101" pitchFamily="2" charset="-122"/>
              </a:endParaRPr>
            </a:p>
          </p:txBody>
        </p:sp>
        <p:sp>
          <p:nvSpPr>
            <p:cNvPr id="140322"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0323"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0324"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0325"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0326"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0327"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0328"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0329"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0330"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0331"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0332"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0333"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0334"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0335"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0336"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40291" name="矩形 35"/>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4484" name="组合 36"/>
          <p:cNvGrpSpPr/>
          <p:nvPr/>
        </p:nvGrpSpPr>
        <p:grpSpPr>
          <a:xfrm>
            <a:off x="4699000" y="2720975"/>
            <a:ext cx="2209800" cy="633413"/>
            <a:chOff x="0" y="0"/>
            <a:chExt cx="2209800" cy="632481"/>
          </a:xfrm>
        </p:grpSpPr>
        <p:sp>
          <p:nvSpPr>
            <p:cNvPr id="140303" name="Rectangle 80"/>
            <p:cNvSpPr/>
            <p:nvPr/>
          </p:nvSpPr>
          <p:spPr>
            <a:xfrm>
              <a:off x="0" y="0"/>
              <a:ext cx="1675459" cy="63248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grade</a:t>
              </a:r>
              <a:r>
                <a:rPr lang="zh-CN" altLang="en-US" sz="2600" dirty="0"/>
                <a:t>(S</a:t>
              </a:r>
              <a:r>
                <a:rPr lang="en-US" altLang="zh-CN" sz="2600" dirty="0"/>
                <a:t>2</a:t>
              </a:r>
              <a:r>
                <a:rPr lang="zh-CN" altLang="en-US" sz="2600" dirty="0"/>
                <a:t>)</a:t>
              </a:r>
              <a:endParaRPr lang="de-DE" altLang="en-US" sz="2600" dirty="0"/>
            </a:p>
          </p:txBody>
        </p:sp>
        <p:sp>
          <p:nvSpPr>
            <p:cNvPr id="140304" name="Line 81"/>
            <p:cNvSpPr/>
            <p:nvPr/>
          </p:nvSpPr>
          <p:spPr>
            <a:xfrm>
              <a:off x="76200" y="609600"/>
              <a:ext cx="2133600" cy="0"/>
            </a:xfrm>
            <a:prstGeom prst="line">
              <a:avLst/>
            </a:prstGeom>
            <a:ln w="50800" cap="flat" cmpd="sng">
              <a:solidFill>
                <a:srgbClr val="CC0000"/>
              </a:solidFill>
              <a:prstDash val="solid"/>
              <a:headEnd type="none" w="med" len="med"/>
              <a:tailEnd type="stealth" w="med" len="med"/>
            </a:ln>
          </p:spPr>
        </p:sp>
      </p:grpSp>
      <p:sp>
        <p:nvSpPr>
          <p:cNvPr id="140293" name="Rectangle 2"/>
          <p:cNvSpPr txBox="1"/>
          <p:nvPr/>
        </p:nvSpPr>
        <p:spPr>
          <a:xfrm>
            <a:off x="552450" y="1349375"/>
            <a:ext cx="7939088" cy="6096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5000"/>
              </a:lnSpc>
              <a:spcBef>
                <a:spcPct val="0"/>
              </a:spcBef>
              <a:buClrTx/>
              <a:buSzTx/>
              <a:buFont typeface="Arial" panose="020B0604020202020204" pitchFamily="34" charset="0"/>
              <a:buNone/>
            </a:pPr>
            <a:r>
              <a:rPr lang="zh-CN" altLang="en-US" sz="2400" dirty="0">
                <a:solidFill>
                  <a:srgbClr val="0033CC"/>
                </a:solidFill>
                <a:latin typeface="宋体" panose="02010600030101010101" pitchFamily="2" charset="-122"/>
              </a:rPr>
              <a:t>（</a:t>
            </a:r>
            <a:r>
              <a:rPr lang="en-US" altLang="zh-CN" sz="2400" dirty="0">
                <a:solidFill>
                  <a:srgbClr val="0033CC"/>
                </a:solidFill>
                <a:latin typeface="宋体" panose="02010600030101010101" pitchFamily="2" charset="-122"/>
              </a:rPr>
              <a:t>2</a:t>
            </a:r>
            <a:r>
              <a:rPr lang="zh-CN" altLang="en-US" sz="2400" dirty="0">
                <a:solidFill>
                  <a:srgbClr val="0033CC"/>
                </a:solidFill>
                <a:latin typeface="宋体" panose="02010600030101010101" pitchFamily="2" charset="-122"/>
              </a:rPr>
              <a:t>）投影（</a:t>
            </a:r>
            <a:r>
              <a:rPr lang="en-US" altLang="zh-CN" sz="2400" dirty="0">
                <a:solidFill>
                  <a:srgbClr val="0033CC"/>
                </a:solidFill>
                <a:latin typeface="宋体" panose="02010600030101010101" pitchFamily="2" charset="-122"/>
              </a:rPr>
              <a:t>Projection</a:t>
            </a:r>
            <a:r>
              <a:rPr lang="zh-CN" altLang="en-US" sz="2400" dirty="0">
                <a:solidFill>
                  <a:srgbClr val="0033CC"/>
                </a:solidFill>
                <a:latin typeface="宋体" panose="02010600030101010101" pitchFamily="2" charset="-122"/>
              </a:rPr>
              <a:t>）：</a:t>
            </a:r>
            <a:endParaRPr lang="zh-CN" altLang="en-US" sz="2400" dirty="0">
              <a:solidFill>
                <a:srgbClr val="0033CC"/>
              </a:solidFill>
              <a:latin typeface="宋体" panose="02010600030101010101" pitchFamily="2" charset="-122"/>
            </a:endParaRPr>
          </a:p>
        </p:txBody>
      </p:sp>
      <p:grpSp>
        <p:nvGrpSpPr>
          <p:cNvPr id="104488" name="组合 46"/>
          <p:cNvGrpSpPr/>
          <p:nvPr/>
        </p:nvGrpSpPr>
        <p:grpSpPr>
          <a:xfrm>
            <a:off x="7053263" y="1655763"/>
            <a:ext cx="1828800" cy="1490662"/>
            <a:chOff x="0" y="0"/>
            <a:chExt cx="1829482" cy="1490479"/>
          </a:xfrm>
        </p:grpSpPr>
        <p:sp>
          <p:nvSpPr>
            <p:cNvPr id="140301" name="Text Box 86"/>
            <p:cNvSpPr txBox="1"/>
            <p:nvPr/>
          </p:nvSpPr>
          <p:spPr>
            <a:xfrm>
              <a:off x="0" y="1028814"/>
              <a:ext cx="1829482" cy="46166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a:t>
              </a:r>
              <a:r>
                <a:rPr lang="en-US" altLang="zh-CN" sz="2400" dirty="0">
                  <a:solidFill>
                    <a:srgbClr val="0000CC"/>
                  </a:solidFill>
                  <a:latin typeface="宋体" panose="02010600030101010101" pitchFamily="2" charset="-122"/>
                </a:rPr>
                <a:t>1,3,3,4</a:t>
              </a:r>
              <a:r>
                <a:rPr lang="zh-CN" altLang="en-US" sz="2400" dirty="0">
                  <a:solidFill>
                    <a:srgbClr val="0000FF"/>
                  </a:solidFill>
                  <a:latin typeface="宋体" panose="02010600030101010101" pitchFamily="2" charset="-122"/>
                </a:rPr>
                <a:t>}</a:t>
              </a:r>
              <a:endParaRPr lang="de-DE" altLang="en-US" sz="2400" dirty="0">
                <a:solidFill>
                  <a:srgbClr val="0000FF"/>
                </a:solidFill>
                <a:latin typeface="宋体" panose="02010600030101010101" pitchFamily="2" charset="-122"/>
              </a:endParaRPr>
            </a:p>
          </p:txBody>
        </p:sp>
        <p:pic>
          <p:nvPicPr>
            <p:cNvPr id="140302" name="Picture 2"/>
            <p:cNvPicPr>
              <a:picLocks noChangeAspect="1"/>
            </p:cNvPicPr>
            <p:nvPr/>
          </p:nvPicPr>
          <p:blipFill>
            <a:blip r:embed="rId1"/>
            <a:stretch>
              <a:fillRect/>
            </a:stretch>
          </p:blipFill>
          <p:spPr>
            <a:xfrm>
              <a:off x="1067198" y="0"/>
              <a:ext cx="601886" cy="939685"/>
            </a:xfrm>
            <a:prstGeom prst="rect">
              <a:avLst/>
            </a:prstGeom>
            <a:noFill/>
            <a:ln w="9525">
              <a:noFill/>
            </a:ln>
            <a:effectLst>
              <a:prstShdw prst="shdw17" dist="17961" dir="2699999">
                <a:srgbClr val="708688"/>
              </a:prstShdw>
            </a:effectLst>
          </p:spPr>
        </p:pic>
      </p:grpSp>
      <p:grpSp>
        <p:nvGrpSpPr>
          <p:cNvPr id="104491" name="组合 47"/>
          <p:cNvGrpSpPr/>
          <p:nvPr/>
        </p:nvGrpSpPr>
        <p:grpSpPr>
          <a:xfrm>
            <a:off x="7075488" y="3403600"/>
            <a:ext cx="1873250" cy="1028700"/>
            <a:chOff x="0" y="0"/>
            <a:chExt cx="1873023" cy="1028471"/>
          </a:xfrm>
        </p:grpSpPr>
        <p:sp>
          <p:nvSpPr>
            <p:cNvPr id="140299" name="Text Box 86"/>
            <p:cNvSpPr txBox="1"/>
            <p:nvPr/>
          </p:nvSpPr>
          <p:spPr>
            <a:xfrm>
              <a:off x="0" y="0"/>
              <a:ext cx="1829482" cy="46166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a:t>
              </a:r>
              <a:r>
                <a:rPr lang="en-US" altLang="zh-CN" sz="2400" dirty="0">
                  <a:solidFill>
                    <a:srgbClr val="0000CC"/>
                  </a:solidFill>
                  <a:latin typeface="宋体" panose="02010600030101010101" pitchFamily="2" charset="-122"/>
                </a:rPr>
                <a:t>1,3,4</a:t>
              </a:r>
              <a:r>
                <a:rPr lang="zh-CN" altLang="en-US" sz="2400" dirty="0">
                  <a:solidFill>
                    <a:srgbClr val="0000FF"/>
                  </a:solidFill>
                  <a:latin typeface="宋体" panose="02010600030101010101" pitchFamily="2" charset="-122"/>
                </a:rPr>
                <a:t>}</a:t>
              </a:r>
              <a:endParaRPr lang="de-DE" altLang="en-US" sz="2400" dirty="0">
                <a:solidFill>
                  <a:srgbClr val="0000FF"/>
                </a:solidFill>
                <a:latin typeface="宋体" panose="02010600030101010101" pitchFamily="2" charset="-122"/>
              </a:endParaRPr>
            </a:p>
          </p:txBody>
        </p:sp>
        <p:pic>
          <p:nvPicPr>
            <p:cNvPr id="140300" name="Picture 2"/>
            <p:cNvPicPr>
              <a:picLocks noChangeAspect="1"/>
            </p:cNvPicPr>
            <p:nvPr/>
          </p:nvPicPr>
          <p:blipFill>
            <a:blip r:embed="rId1"/>
            <a:stretch>
              <a:fillRect/>
            </a:stretch>
          </p:blipFill>
          <p:spPr>
            <a:xfrm>
              <a:off x="1271433" y="88880"/>
              <a:ext cx="601590" cy="939591"/>
            </a:xfrm>
            <a:prstGeom prst="rect">
              <a:avLst/>
            </a:prstGeom>
            <a:noFill/>
            <a:ln w="9525">
              <a:noFill/>
            </a:ln>
            <a:effectLst>
              <a:prstShdw prst="shdw17" dist="17961" dir="2699999">
                <a:srgbClr val="708688"/>
              </a:prstShdw>
            </a:effectLst>
          </p:spPr>
        </p:pic>
      </p:grpSp>
      <p:sp>
        <p:nvSpPr>
          <p:cNvPr id="104494" name="Text Box 79"/>
          <p:cNvSpPr txBox="1"/>
          <p:nvPr/>
        </p:nvSpPr>
        <p:spPr>
          <a:xfrm>
            <a:off x="493713" y="4227513"/>
            <a:ext cx="8083550" cy="8255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说明：</a:t>
            </a:r>
            <a:r>
              <a:rPr lang="zh-CN" altLang="en-US" sz="2200" dirty="0">
                <a:solidFill>
                  <a:srgbClr val="0000CC"/>
                </a:solidFill>
                <a:latin typeface="宋体" panose="02010600030101010101" pitchFamily="2" charset="-122"/>
              </a:rPr>
              <a:t>对关系代数和关系运算，如结果中有重复的元组，将去掉重复元组</a:t>
            </a:r>
            <a:r>
              <a:rPr lang="en-US" altLang="zh-CN" sz="2200" dirty="0">
                <a:solidFill>
                  <a:srgbClr val="0000CC"/>
                </a:solidFill>
                <a:latin typeface="宋体" panose="02010600030101010101" pitchFamily="2" charset="-122"/>
              </a:rPr>
              <a:t>,</a:t>
            </a:r>
            <a:r>
              <a:rPr lang="zh-CN" altLang="en-US" sz="2200" dirty="0">
                <a:solidFill>
                  <a:srgbClr val="0000CC"/>
                </a:solidFill>
                <a:latin typeface="宋体" panose="02010600030101010101" pitchFamily="2" charset="-122"/>
              </a:rPr>
              <a:t>在</a:t>
            </a:r>
            <a:r>
              <a:rPr lang="en-US" altLang="zh-CN" sz="2200" dirty="0">
                <a:solidFill>
                  <a:srgbClr val="0000CC"/>
                </a:solidFill>
                <a:latin typeface="宋体" panose="02010600030101010101" pitchFamily="2" charset="-122"/>
              </a:rPr>
              <a:t>DBMS</a:t>
            </a:r>
            <a:r>
              <a:rPr lang="zh-CN" altLang="en-US" sz="2200" dirty="0">
                <a:solidFill>
                  <a:srgbClr val="0000CC"/>
                </a:solidFill>
                <a:latin typeface="宋体" panose="02010600030101010101" pitchFamily="2" charset="-122"/>
              </a:rPr>
              <a:t>中去掉重复元组开销很大，故将保留。</a:t>
            </a:r>
            <a:r>
              <a:rPr lang="en-US" altLang="zh-CN" sz="2200" dirty="0">
                <a:solidFill>
                  <a:srgbClr val="0000CC"/>
                </a:solidFill>
                <a:latin typeface="宋体" panose="02010600030101010101" pitchFamily="2" charset="-122"/>
              </a:rPr>
              <a:t>   </a:t>
            </a:r>
            <a:endParaRPr lang="de-DE" altLang="en-US" sz="2200" dirty="0">
              <a:solidFill>
                <a:srgbClr val="0000CC"/>
              </a:solidFill>
              <a:latin typeface="宋体" panose="02010600030101010101" pitchFamily="2" charset="-122"/>
            </a:endParaRPr>
          </a:p>
        </p:txBody>
      </p:sp>
      <p:sp>
        <p:nvSpPr>
          <p:cNvPr id="104495" name="Text Box 79"/>
          <p:cNvSpPr txBox="1"/>
          <p:nvPr/>
        </p:nvSpPr>
        <p:spPr>
          <a:xfrm>
            <a:off x="479425" y="5186363"/>
            <a:ext cx="8113713" cy="94297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distinct grade from S2 </a:t>
            </a:r>
            <a:endParaRPr lang="de-DE" altLang="en-US" sz="2400" dirty="0">
              <a:solidFill>
                <a:srgbClr val="0000CC"/>
              </a:solidFill>
              <a:latin typeface="宋体" panose="02010600030101010101" pitchFamily="2" charset="-122"/>
            </a:endParaRPr>
          </a:p>
        </p:txBody>
      </p:sp>
      <p:sp>
        <p:nvSpPr>
          <p:cNvPr id="14029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4450"/>
                                        </p:tgtEl>
                                        <p:attrNameLst>
                                          <p:attrName>style.visibility</p:attrName>
                                        </p:attrNameLst>
                                      </p:cBhvr>
                                      <p:to>
                                        <p:strVal val="visible"/>
                                      </p:to>
                                    </p:set>
                                    <p:anim calcmode="lin" valueType="num">
                                      <p:cBhvr>
                                        <p:cTn id="7" dur="500" fill="hold"/>
                                        <p:tgtEl>
                                          <p:spTgt spid="104450"/>
                                        </p:tgtEl>
                                        <p:attrNameLst>
                                          <p:attrName>ppt_w</p:attrName>
                                        </p:attrNameLst>
                                      </p:cBhvr>
                                      <p:tavLst>
                                        <p:tav tm="0">
                                          <p:val>
                                            <p:fltVal val="0.000000"/>
                                          </p:val>
                                        </p:tav>
                                        <p:tav tm="100000">
                                          <p:val>
                                            <p:strVal val="#ppt_w"/>
                                          </p:val>
                                        </p:tav>
                                      </p:tavLst>
                                    </p:anim>
                                    <p:anim calcmode="lin" valueType="num">
                                      <p:cBhvr>
                                        <p:cTn id="8" dur="500" fill="hold"/>
                                        <p:tgtEl>
                                          <p:spTgt spid="10445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4484"/>
                                        </p:tgtEl>
                                        <p:attrNameLst>
                                          <p:attrName>style.visibility</p:attrName>
                                        </p:attrNameLst>
                                      </p:cBhvr>
                                      <p:to>
                                        <p:strVal val="visible"/>
                                      </p:to>
                                    </p:set>
                                    <p:anim calcmode="lin" valueType="num">
                                      <p:cBhvr additive="base">
                                        <p:cTn id="13" dur="500" fill="hold"/>
                                        <p:tgtEl>
                                          <p:spTgt spid="104484"/>
                                        </p:tgtEl>
                                        <p:attrNameLst>
                                          <p:attrName>ppt_x</p:attrName>
                                        </p:attrNameLst>
                                      </p:cBhvr>
                                      <p:tavLst>
                                        <p:tav tm="0">
                                          <p:val>
                                            <p:strVal val="#ppt_x"/>
                                          </p:val>
                                        </p:tav>
                                        <p:tav tm="100000">
                                          <p:val>
                                            <p:strVal val="#ppt_x"/>
                                          </p:val>
                                        </p:tav>
                                      </p:tavLst>
                                    </p:anim>
                                    <p:anim calcmode="lin" valueType="num">
                                      <p:cBhvr additive="base">
                                        <p:cTn id="14" dur="500" fill="hold"/>
                                        <p:tgtEl>
                                          <p:spTgt spid="1044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4488"/>
                                        </p:tgtEl>
                                        <p:attrNameLst>
                                          <p:attrName>style.visibility</p:attrName>
                                        </p:attrNameLst>
                                      </p:cBhvr>
                                      <p:to>
                                        <p:strVal val="visible"/>
                                      </p:to>
                                    </p:set>
                                    <p:anim calcmode="lin" valueType="num">
                                      <p:cBhvr additive="base">
                                        <p:cTn id="19" dur="500" fill="hold"/>
                                        <p:tgtEl>
                                          <p:spTgt spid="104488"/>
                                        </p:tgtEl>
                                        <p:attrNameLst>
                                          <p:attrName>ppt_x</p:attrName>
                                        </p:attrNameLst>
                                      </p:cBhvr>
                                      <p:tavLst>
                                        <p:tav tm="0">
                                          <p:val>
                                            <p:strVal val="#ppt_x"/>
                                          </p:val>
                                        </p:tav>
                                        <p:tav tm="100000">
                                          <p:val>
                                            <p:strVal val="#ppt_x"/>
                                          </p:val>
                                        </p:tav>
                                      </p:tavLst>
                                    </p:anim>
                                    <p:anim calcmode="lin" valueType="num">
                                      <p:cBhvr additive="base">
                                        <p:cTn id="20" dur="500" fill="hold"/>
                                        <p:tgtEl>
                                          <p:spTgt spid="10448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4491"/>
                                        </p:tgtEl>
                                        <p:attrNameLst>
                                          <p:attrName>style.visibility</p:attrName>
                                        </p:attrNameLst>
                                      </p:cBhvr>
                                      <p:to>
                                        <p:strVal val="visible"/>
                                      </p:to>
                                    </p:set>
                                    <p:anim calcmode="lin" valueType="num">
                                      <p:cBhvr additive="base">
                                        <p:cTn id="25" dur="500" fill="hold"/>
                                        <p:tgtEl>
                                          <p:spTgt spid="104491"/>
                                        </p:tgtEl>
                                        <p:attrNameLst>
                                          <p:attrName>ppt_x</p:attrName>
                                        </p:attrNameLst>
                                      </p:cBhvr>
                                      <p:tavLst>
                                        <p:tav tm="0">
                                          <p:val>
                                            <p:strVal val="#ppt_x"/>
                                          </p:val>
                                        </p:tav>
                                        <p:tav tm="100000">
                                          <p:val>
                                            <p:strVal val="#ppt_x"/>
                                          </p:val>
                                        </p:tav>
                                      </p:tavLst>
                                    </p:anim>
                                    <p:anim calcmode="lin" valueType="num">
                                      <p:cBhvr additive="base">
                                        <p:cTn id="26" dur="500" fill="hold"/>
                                        <p:tgtEl>
                                          <p:spTgt spid="10449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04494"/>
                                        </p:tgtEl>
                                        <p:attrNameLst>
                                          <p:attrName>style.visibility</p:attrName>
                                        </p:attrNameLst>
                                      </p:cBhvr>
                                      <p:to>
                                        <p:strVal val="visible"/>
                                      </p:to>
                                    </p:set>
                                    <p:animEffect transition="in" filter="wipe(down)">
                                      <p:cBhvr>
                                        <p:cTn id="31" dur="500"/>
                                        <p:tgtEl>
                                          <p:spTgt spid="10449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04494">
                                            <p:txEl>
                                              <p:charRg st="0" end="59"/>
                                            </p:txEl>
                                          </p:spTgt>
                                        </p:tgtEl>
                                        <p:attrNameLst>
                                          <p:attrName>style.visibility</p:attrName>
                                        </p:attrNameLst>
                                      </p:cBhvr>
                                      <p:to>
                                        <p:strVal val="visible"/>
                                      </p:to>
                                    </p:set>
                                    <p:animEffect transition="in" filter="wipe(down)">
                                      <p:cBhvr>
                                        <p:cTn id="36" dur="500"/>
                                        <p:tgtEl>
                                          <p:spTgt spid="104494">
                                            <p:txEl>
                                              <p:charRg st="0" end="59"/>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104495"/>
                                        </p:tgtEl>
                                        <p:attrNameLst>
                                          <p:attrName>style.visibility</p:attrName>
                                        </p:attrNameLst>
                                      </p:cBhvr>
                                      <p:to>
                                        <p:strVal val="visible"/>
                                      </p:to>
                                    </p:set>
                                    <p:animEffect transition="in" filter="wipe(down)">
                                      <p:cBhvr>
                                        <p:cTn id="41" dur="500"/>
                                        <p:tgtEl>
                                          <p:spTgt spid="10449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04495">
                                            <p:txEl>
                                              <p:charRg st="0" end="10"/>
                                            </p:txEl>
                                          </p:spTgt>
                                        </p:tgtEl>
                                        <p:attrNameLst>
                                          <p:attrName>style.visibility</p:attrName>
                                        </p:attrNameLst>
                                      </p:cBhvr>
                                      <p:to>
                                        <p:strVal val="visible"/>
                                      </p:to>
                                    </p:set>
                                    <p:animEffect transition="in" filter="wipe(down)">
                                      <p:cBhvr>
                                        <p:cTn id="46" dur="500"/>
                                        <p:tgtEl>
                                          <p:spTgt spid="104495">
                                            <p:txEl>
                                              <p:charRg st="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04495">
                                            <p:txEl>
                                              <p:charRg st="10" end="44"/>
                                            </p:txEl>
                                          </p:spTgt>
                                        </p:tgtEl>
                                        <p:attrNameLst>
                                          <p:attrName>style.visibility</p:attrName>
                                        </p:attrNameLst>
                                      </p:cBhvr>
                                      <p:to>
                                        <p:strVal val="visible"/>
                                      </p:to>
                                    </p:set>
                                    <p:animEffect transition="in" filter="wipe(down)">
                                      <p:cBhvr>
                                        <p:cTn id="51" dur="500"/>
                                        <p:tgtEl>
                                          <p:spTgt spid="104495">
                                            <p:txEl>
                                              <p:charRg st="10" end="4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94" grpId="0" animBg="1" build="p"/>
      <p:bldP spid="104495" grpId="0" animBg="1" build="p"/>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4"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a:t>
            </a:r>
            <a:r>
              <a:rPr lang="zh-CN" altLang="en-US" sz="2800" dirty="0">
                <a:solidFill>
                  <a:srgbClr val="0033CC"/>
                </a:solidFill>
                <a:latin typeface="黑体" panose="02010609060101010101" pitchFamily="49" charset="-122"/>
                <a:ea typeface="黑体" panose="02010609060101010101" pitchFamily="49" charset="-122"/>
              </a:rPr>
              <a:t>选择与投影</a:t>
            </a:r>
            <a:endParaRPr lang="zh-CN" altLang="en-US" sz="2800" dirty="0">
              <a:solidFill>
                <a:srgbClr val="0033CC"/>
              </a:solidFill>
              <a:latin typeface="黑体" panose="02010609060101010101" pitchFamily="49" charset="-122"/>
              <a:ea typeface="黑体" panose="02010609060101010101" pitchFamily="49" charset="-122"/>
            </a:endParaRPr>
          </a:p>
        </p:txBody>
      </p:sp>
      <p:grpSp>
        <p:nvGrpSpPr>
          <p:cNvPr id="105475" name="组合 129"/>
          <p:cNvGrpSpPr/>
          <p:nvPr/>
        </p:nvGrpSpPr>
        <p:grpSpPr>
          <a:xfrm>
            <a:off x="4198938" y="5392738"/>
            <a:ext cx="4567237" cy="641350"/>
            <a:chOff x="0" y="0"/>
            <a:chExt cx="4567918" cy="642257"/>
          </a:xfrm>
        </p:grpSpPr>
        <p:sp>
          <p:nvSpPr>
            <p:cNvPr id="141379" name="Text Box 82"/>
            <p:cNvSpPr txBox="1"/>
            <p:nvPr/>
          </p:nvSpPr>
          <p:spPr>
            <a:xfrm>
              <a:off x="2304143" y="134257"/>
              <a:ext cx="2263775" cy="508000"/>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solidFill>
                    <a:srgbClr val="0000CC"/>
                  </a:solidFill>
                  <a:latin typeface="宋体" panose="02010600030101010101" pitchFamily="2" charset="-122"/>
                </a:rPr>
                <a:t>（101，数据库）</a:t>
              </a:r>
              <a:endParaRPr lang="de-DE" altLang="en-US" dirty="0">
                <a:solidFill>
                  <a:srgbClr val="0000FF"/>
                </a:solidFill>
                <a:latin typeface="宋体" panose="02010600030101010101" pitchFamily="2" charset="-122"/>
              </a:endParaRPr>
            </a:p>
          </p:txBody>
        </p:sp>
        <p:cxnSp>
          <p:nvCxnSpPr>
            <p:cNvPr id="141380" name="AutoShape 85"/>
            <p:cNvCxnSpPr/>
            <p:nvPr/>
          </p:nvCxnSpPr>
          <p:spPr>
            <a:xfrm>
              <a:off x="0" y="0"/>
              <a:ext cx="2209800" cy="457200"/>
            </a:xfrm>
            <a:prstGeom prst="bentConnector3">
              <a:avLst>
                <a:gd name="adj1" fmla="val 50000"/>
              </a:avLst>
            </a:prstGeom>
            <a:ln w="50800" cap="flat" cmpd="sng">
              <a:solidFill>
                <a:srgbClr val="CC0000"/>
              </a:solidFill>
              <a:prstDash val="solid"/>
              <a:miter/>
              <a:headEnd type="none" w="med" len="med"/>
              <a:tailEnd type="triangle" w="med" len="med"/>
            </a:ln>
          </p:spPr>
        </p:cxnSp>
      </p:grpSp>
      <p:grpSp>
        <p:nvGrpSpPr>
          <p:cNvPr id="105478" name="组合 126"/>
          <p:cNvGrpSpPr/>
          <p:nvPr/>
        </p:nvGrpSpPr>
        <p:grpSpPr>
          <a:xfrm>
            <a:off x="4583113" y="3192463"/>
            <a:ext cx="4010025" cy="766762"/>
            <a:chOff x="0" y="0"/>
            <a:chExt cx="4009574" cy="765966"/>
          </a:xfrm>
        </p:grpSpPr>
        <p:sp>
          <p:nvSpPr>
            <p:cNvPr id="141377" name="Text Box 86"/>
            <p:cNvSpPr txBox="1"/>
            <p:nvPr/>
          </p:nvSpPr>
          <p:spPr>
            <a:xfrm>
              <a:off x="2079174" y="58080"/>
              <a:ext cx="1930400" cy="707886"/>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a:t>
              </a:r>
              <a:r>
                <a:rPr lang="zh-CN" altLang="en-US" dirty="0">
                  <a:solidFill>
                    <a:srgbClr val="0000FF"/>
                  </a:solidFill>
                  <a:latin typeface="宋体" panose="02010600030101010101" pitchFamily="2" charset="-122"/>
                </a:rPr>
                <a:t>（</a:t>
              </a:r>
              <a:r>
                <a:rPr lang="zh-CN" altLang="en-US" dirty="0">
                  <a:solidFill>
                    <a:srgbClr val="0000CC"/>
                  </a:solidFill>
                  <a:latin typeface="宋体" panose="02010600030101010101" pitchFamily="2" charset="-122"/>
                </a:rPr>
                <a:t>李峰，3）,（陈胜，4)</a:t>
              </a:r>
              <a:r>
                <a:rPr lang="zh-CN" altLang="en-US" dirty="0">
                  <a:solidFill>
                    <a:srgbClr val="0000FF"/>
                  </a:solidFill>
                  <a:latin typeface="宋体" panose="02010600030101010101" pitchFamily="2" charset="-122"/>
                </a:rPr>
                <a:t>}</a:t>
              </a:r>
              <a:endParaRPr lang="de-DE" altLang="en-US" dirty="0">
                <a:solidFill>
                  <a:srgbClr val="0000FF"/>
                </a:solidFill>
                <a:latin typeface="宋体" panose="02010600030101010101" pitchFamily="2" charset="-122"/>
              </a:endParaRPr>
            </a:p>
          </p:txBody>
        </p:sp>
        <p:cxnSp>
          <p:nvCxnSpPr>
            <p:cNvPr id="141378" name="AutoShape 85"/>
            <p:cNvCxnSpPr/>
            <p:nvPr/>
          </p:nvCxnSpPr>
          <p:spPr>
            <a:xfrm>
              <a:off x="0" y="0"/>
              <a:ext cx="2064658" cy="464480"/>
            </a:xfrm>
            <a:prstGeom prst="bentConnector3">
              <a:avLst>
                <a:gd name="adj1" fmla="val 50000"/>
              </a:avLst>
            </a:prstGeom>
            <a:ln w="50800" cap="flat" cmpd="sng">
              <a:solidFill>
                <a:srgbClr val="CC0000"/>
              </a:solidFill>
              <a:prstDash val="solid"/>
              <a:miter/>
              <a:headEnd type="none" w="med" len="med"/>
              <a:tailEnd type="triangle" w="med" len="med"/>
            </a:ln>
          </p:spPr>
        </p:cxnSp>
      </p:grpSp>
      <p:grpSp>
        <p:nvGrpSpPr>
          <p:cNvPr id="105481" name="组合 125"/>
          <p:cNvGrpSpPr/>
          <p:nvPr/>
        </p:nvGrpSpPr>
        <p:grpSpPr>
          <a:xfrm>
            <a:off x="260350" y="962025"/>
            <a:ext cx="8680450" cy="2538413"/>
            <a:chOff x="0" y="0"/>
            <a:chExt cx="8679997" cy="2537925"/>
          </a:xfrm>
        </p:grpSpPr>
        <p:sp>
          <p:nvSpPr>
            <p:cNvPr id="141342" name="Rectangle 80"/>
            <p:cNvSpPr/>
            <p:nvPr/>
          </p:nvSpPr>
          <p:spPr>
            <a:xfrm>
              <a:off x="4234997" y="1323746"/>
              <a:ext cx="4038600" cy="1214179"/>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sname,grade</a:t>
              </a:r>
              <a:r>
                <a:rPr lang="zh-CN" altLang="en-US" sz="2600" dirty="0"/>
                <a:t>(</a:t>
              </a:r>
              <a:r>
                <a:rPr lang="zh-CN" altLang="en-US" sz="2800" dirty="0"/>
                <a:t>σ</a:t>
              </a:r>
              <a:r>
                <a:rPr lang="zh-CN" altLang="en-US" sz="2800" baseline="-25000" dirty="0"/>
                <a:t>grade&gt;=3</a:t>
              </a:r>
              <a:r>
                <a:rPr lang="zh-CN" altLang="en-US" sz="2800" dirty="0"/>
                <a:t>(S)</a:t>
              </a:r>
              <a:r>
                <a:rPr lang="en-US" altLang="zh-CN" sz="2800" dirty="0"/>
                <a:t>)</a:t>
              </a:r>
              <a:endParaRPr lang="zh-CN" altLang="en-US" sz="2800" dirty="0"/>
            </a:p>
            <a:p>
              <a:pPr marL="0" lvl="0" indent="0" eaLnBrk="1" hangingPunct="1">
                <a:lnSpc>
                  <a:spcPct val="135000"/>
                </a:lnSpc>
                <a:spcBef>
                  <a:spcPct val="0"/>
                </a:spcBef>
                <a:buClrTx/>
                <a:buSzTx/>
                <a:buFont typeface="Arial" panose="020B0604020202020204" pitchFamily="34" charset="0"/>
                <a:buNone/>
              </a:pPr>
              <a:endParaRPr lang="de-DE" altLang="en-US" sz="2600" dirty="0"/>
            </a:p>
          </p:txBody>
        </p:sp>
        <p:grpSp>
          <p:nvGrpSpPr>
            <p:cNvPr id="141343" name="Group 3"/>
            <p:cNvGrpSpPr/>
            <p:nvPr/>
          </p:nvGrpSpPr>
          <p:grpSpPr>
            <a:xfrm>
              <a:off x="0" y="315455"/>
              <a:ext cx="4267200" cy="2176463"/>
              <a:chOff x="0" y="0"/>
              <a:chExt cx="2688" cy="1581"/>
            </a:xfrm>
          </p:grpSpPr>
          <p:sp>
            <p:nvSpPr>
              <p:cNvPr id="141345"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a:t>
                </a:r>
                <a:endParaRPr lang="de-DE" altLang="en-US" sz="2400" dirty="0">
                  <a:solidFill>
                    <a:srgbClr val="0000CC"/>
                  </a:solidFill>
                  <a:latin typeface="宋体" panose="02010600030101010101" pitchFamily="2" charset="-122"/>
                </a:endParaRPr>
              </a:p>
            </p:txBody>
          </p:sp>
          <p:sp>
            <p:nvSpPr>
              <p:cNvPr id="141346"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1347"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1348"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1349"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1350"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1351"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1352"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41353"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41354"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1355"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1356"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1357"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1358"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41359"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41360"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41361"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41362"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1363"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1364"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1365"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1366"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1367"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1368"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1369"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1370"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1371"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1372"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1373"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1374"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1375"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1376"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41344" name="Text Box 79"/>
            <p:cNvSpPr txBox="1"/>
            <p:nvPr/>
          </p:nvSpPr>
          <p:spPr>
            <a:xfrm>
              <a:off x="4601485" y="0"/>
              <a:ext cx="4078512" cy="13496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   Select sname,grade from S where grade&gt;=3</a:t>
              </a:r>
              <a:endParaRPr lang="de-DE" altLang="en-US" sz="2400" dirty="0">
                <a:solidFill>
                  <a:srgbClr val="0000CC"/>
                </a:solidFill>
                <a:latin typeface="宋体" panose="02010600030101010101" pitchFamily="2" charset="-122"/>
              </a:endParaRPr>
            </a:p>
          </p:txBody>
        </p:sp>
      </p:grpSp>
      <p:grpSp>
        <p:nvGrpSpPr>
          <p:cNvPr id="105517" name="组合 128"/>
          <p:cNvGrpSpPr/>
          <p:nvPr/>
        </p:nvGrpSpPr>
        <p:grpSpPr>
          <a:xfrm>
            <a:off x="333375" y="4184650"/>
            <a:ext cx="8345488" cy="1968500"/>
            <a:chOff x="0" y="0"/>
            <a:chExt cx="8346169" cy="1968926"/>
          </a:xfrm>
        </p:grpSpPr>
        <p:grpSp>
          <p:nvGrpSpPr>
            <p:cNvPr id="141320" name="Group 36"/>
            <p:cNvGrpSpPr/>
            <p:nvPr/>
          </p:nvGrpSpPr>
          <p:grpSpPr>
            <a:xfrm>
              <a:off x="0" y="387776"/>
              <a:ext cx="3429000" cy="1581150"/>
              <a:chOff x="0" y="0"/>
              <a:chExt cx="2160" cy="1065"/>
            </a:xfrm>
          </p:grpSpPr>
          <p:sp>
            <p:nvSpPr>
              <p:cNvPr id="141323" name="Text Box 37"/>
              <p:cNvSpPr txBox="1"/>
              <p:nvPr/>
            </p:nvSpPr>
            <p:spPr>
              <a:xfrm>
                <a:off x="672" y="0"/>
                <a:ext cx="126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课程表 C</a:t>
                </a:r>
                <a:endParaRPr lang="de-DE" altLang="en-US" sz="2400" dirty="0">
                  <a:solidFill>
                    <a:srgbClr val="0000CC"/>
                  </a:solidFill>
                  <a:latin typeface="宋体" panose="02010600030101010101" pitchFamily="2" charset="-122"/>
                </a:endParaRPr>
              </a:p>
            </p:txBody>
          </p:sp>
          <p:sp>
            <p:nvSpPr>
              <p:cNvPr id="141324" name="Rectangle 38"/>
              <p:cNvSpPr/>
              <p:nvPr/>
            </p:nvSpPr>
            <p:spPr>
              <a:xfrm>
                <a:off x="1456" y="336"/>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credit</a:t>
                </a:r>
                <a:endParaRPr lang="de-DE" altLang="en-US" sz="1800" dirty="0"/>
              </a:p>
            </p:txBody>
          </p:sp>
          <p:sp>
            <p:nvSpPr>
              <p:cNvPr id="141325" name="Rectangle 39"/>
              <p:cNvSpPr/>
              <p:nvPr/>
            </p:nvSpPr>
            <p:spPr>
              <a:xfrm>
                <a:off x="657" y="336"/>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cname</a:t>
                </a:r>
                <a:endParaRPr lang="de-DE" altLang="en-US" sz="1800" dirty="0"/>
              </a:p>
            </p:txBody>
          </p:sp>
          <p:sp>
            <p:nvSpPr>
              <p:cNvPr id="141326" name="Rectangle 40"/>
              <p:cNvSpPr/>
              <p:nvPr/>
            </p:nvSpPr>
            <p:spPr>
              <a:xfrm>
                <a:off x="0" y="336"/>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41327" name="Rectangle 41"/>
              <p:cNvSpPr/>
              <p:nvPr/>
            </p:nvSpPr>
            <p:spPr>
              <a:xfrm>
                <a:off x="1456" y="835"/>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2</a:t>
                </a:r>
                <a:endParaRPr lang="zh-CN" altLang="en-US" sz="1800" dirty="0"/>
              </a:p>
            </p:txBody>
          </p:sp>
          <p:sp>
            <p:nvSpPr>
              <p:cNvPr id="141328" name="Rectangle 42"/>
              <p:cNvSpPr/>
              <p:nvPr/>
            </p:nvSpPr>
            <p:spPr>
              <a:xfrm>
                <a:off x="657" y="835"/>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数据结构</a:t>
                </a:r>
                <a:endParaRPr lang="zh-CN" altLang="en-US" sz="1800" dirty="0"/>
              </a:p>
            </p:txBody>
          </p:sp>
          <p:sp>
            <p:nvSpPr>
              <p:cNvPr id="141329" name="Rectangle 43"/>
              <p:cNvSpPr/>
              <p:nvPr/>
            </p:nvSpPr>
            <p:spPr>
              <a:xfrm>
                <a:off x="0" y="835"/>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41330" name="Rectangle 44"/>
              <p:cNvSpPr/>
              <p:nvPr/>
            </p:nvSpPr>
            <p:spPr>
              <a:xfrm>
                <a:off x="1456" y="566"/>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3</a:t>
                </a:r>
                <a:endParaRPr lang="zh-CN" altLang="en-US" sz="1800" dirty="0"/>
              </a:p>
            </p:txBody>
          </p:sp>
          <p:sp>
            <p:nvSpPr>
              <p:cNvPr id="141331" name="Rectangle 45"/>
              <p:cNvSpPr/>
              <p:nvPr/>
            </p:nvSpPr>
            <p:spPr>
              <a:xfrm>
                <a:off x="657" y="566"/>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数据库</a:t>
                </a:r>
                <a:endParaRPr lang="zh-CN" altLang="en-US" sz="1800" dirty="0"/>
              </a:p>
            </p:txBody>
          </p:sp>
          <p:sp>
            <p:nvSpPr>
              <p:cNvPr id="141332" name="Rectangle 46"/>
              <p:cNvSpPr/>
              <p:nvPr/>
            </p:nvSpPr>
            <p:spPr>
              <a:xfrm>
                <a:off x="0" y="566"/>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41333" name="Line 47"/>
              <p:cNvSpPr/>
              <p:nvPr/>
            </p:nvSpPr>
            <p:spPr>
              <a:xfrm>
                <a:off x="0" y="336"/>
                <a:ext cx="2160" cy="0"/>
              </a:xfrm>
              <a:prstGeom prst="line">
                <a:avLst/>
              </a:prstGeom>
              <a:ln w="28575" cap="sq" cmpd="sng">
                <a:solidFill>
                  <a:schemeClr val="tx1"/>
                </a:solidFill>
                <a:prstDash val="solid"/>
                <a:headEnd type="none" w="med" len="med"/>
                <a:tailEnd type="none" w="med" len="med"/>
              </a:ln>
            </p:spPr>
          </p:sp>
          <p:sp>
            <p:nvSpPr>
              <p:cNvPr id="141334" name="Line 48"/>
              <p:cNvSpPr/>
              <p:nvPr/>
            </p:nvSpPr>
            <p:spPr>
              <a:xfrm>
                <a:off x="0" y="835"/>
                <a:ext cx="2160" cy="0"/>
              </a:xfrm>
              <a:prstGeom prst="line">
                <a:avLst/>
              </a:prstGeom>
              <a:ln w="12700" cap="flat" cmpd="sng">
                <a:solidFill>
                  <a:schemeClr val="tx1"/>
                </a:solidFill>
                <a:prstDash val="solid"/>
                <a:headEnd type="none" w="med" len="med"/>
                <a:tailEnd type="none" w="med" len="med"/>
              </a:ln>
            </p:spPr>
          </p:sp>
          <p:sp>
            <p:nvSpPr>
              <p:cNvPr id="141335" name="Line 49"/>
              <p:cNvSpPr/>
              <p:nvPr/>
            </p:nvSpPr>
            <p:spPr>
              <a:xfrm>
                <a:off x="0" y="1065"/>
                <a:ext cx="2160" cy="0"/>
              </a:xfrm>
              <a:prstGeom prst="line">
                <a:avLst/>
              </a:prstGeom>
              <a:ln w="28575" cap="sq" cmpd="sng">
                <a:solidFill>
                  <a:schemeClr val="tx1"/>
                </a:solidFill>
                <a:prstDash val="solid"/>
                <a:headEnd type="none" w="med" len="med"/>
                <a:tailEnd type="none" w="med" len="med"/>
              </a:ln>
            </p:spPr>
          </p:sp>
          <p:sp>
            <p:nvSpPr>
              <p:cNvPr id="141336" name="Line 50"/>
              <p:cNvSpPr/>
              <p:nvPr/>
            </p:nvSpPr>
            <p:spPr>
              <a:xfrm>
                <a:off x="0" y="336"/>
                <a:ext cx="0" cy="729"/>
              </a:xfrm>
              <a:prstGeom prst="line">
                <a:avLst/>
              </a:prstGeom>
              <a:ln w="28575" cap="sq" cmpd="sng">
                <a:solidFill>
                  <a:schemeClr val="tx1"/>
                </a:solidFill>
                <a:prstDash val="solid"/>
                <a:headEnd type="none" w="med" len="med"/>
                <a:tailEnd type="none" w="med" len="med"/>
              </a:ln>
            </p:spPr>
          </p:sp>
          <p:sp>
            <p:nvSpPr>
              <p:cNvPr id="141337" name="Line 51"/>
              <p:cNvSpPr/>
              <p:nvPr/>
            </p:nvSpPr>
            <p:spPr>
              <a:xfrm>
                <a:off x="657" y="336"/>
                <a:ext cx="0" cy="729"/>
              </a:xfrm>
              <a:prstGeom prst="line">
                <a:avLst/>
              </a:prstGeom>
              <a:ln w="12700" cap="flat" cmpd="sng">
                <a:solidFill>
                  <a:schemeClr val="tx1"/>
                </a:solidFill>
                <a:prstDash val="solid"/>
                <a:headEnd type="none" w="med" len="med"/>
                <a:tailEnd type="none" w="med" len="med"/>
              </a:ln>
            </p:spPr>
          </p:sp>
          <p:sp>
            <p:nvSpPr>
              <p:cNvPr id="141338" name="Line 52"/>
              <p:cNvSpPr/>
              <p:nvPr/>
            </p:nvSpPr>
            <p:spPr>
              <a:xfrm>
                <a:off x="1456" y="336"/>
                <a:ext cx="0" cy="729"/>
              </a:xfrm>
              <a:prstGeom prst="line">
                <a:avLst/>
              </a:prstGeom>
              <a:ln w="12700" cap="flat" cmpd="sng">
                <a:solidFill>
                  <a:schemeClr val="tx1"/>
                </a:solidFill>
                <a:prstDash val="solid"/>
                <a:headEnd type="none" w="med" len="med"/>
                <a:tailEnd type="none" w="med" len="med"/>
              </a:ln>
            </p:spPr>
          </p:sp>
          <p:sp>
            <p:nvSpPr>
              <p:cNvPr id="141339" name="Line 53"/>
              <p:cNvSpPr/>
              <p:nvPr/>
            </p:nvSpPr>
            <p:spPr>
              <a:xfrm>
                <a:off x="2160" y="336"/>
                <a:ext cx="0" cy="499"/>
              </a:xfrm>
              <a:prstGeom prst="line">
                <a:avLst/>
              </a:prstGeom>
              <a:ln w="12700" cap="flat" cmpd="sng">
                <a:solidFill>
                  <a:schemeClr val="tx1"/>
                </a:solidFill>
                <a:prstDash val="solid"/>
                <a:headEnd type="none" w="med" len="med"/>
                <a:tailEnd type="none" w="med" len="med"/>
              </a:ln>
            </p:spPr>
          </p:sp>
          <p:sp>
            <p:nvSpPr>
              <p:cNvPr id="141340" name="Line 54"/>
              <p:cNvSpPr/>
              <p:nvPr/>
            </p:nvSpPr>
            <p:spPr>
              <a:xfrm>
                <a:off x="2160" y="835"/>
                <a:ext cx="0" cy="230"/>
              </a:xfrm>
              <a:prstGeom prst="line">
                <a:avLst/>
              </a:prstGeom>
              <a:ln w="28575" cap="sq" cmpd="sng">
                <a:solidFill>
                  <a:schemeClr val="tx1"/>
                </a:solidFill>
                <a:prstDash val="solid"/>
                <a:headEnd type="none" w="med" len="med"/>
                <a:tailEnd type="none" w="med" len="med"/>
              </a:ln>
            </p:spPr>
          </p:sp>
          <p:sp>
            <p:nvSpPr>
              <p:cNvPr id="141341" name="Line 55"/>
              <p:cNvSpPr/>
              <p:nvPr/>
            </p:nvSpPr>
            <p:spPr>
              <a:xfrm>
                <a:off x="0" y="566"/>
                <a:ext cx="2160" cy="0"/>
              </a:xfrm>
              <a:prstGeom prst="line">
                <a:avLst/>
              </a:prstGeom>
              <a:ln w="12700" cap="flat" cmpd="sng">
                <a:solidFill>
                  <a:schemeClr val="tx1"/>
                </a:solidFill>
                <a:prstDash val="solid"/>
                <a:headEnd type="none" w="med" len="med"/>
                <a:tailEnd type="none" w="med" len="med"/>
              </a:ln>
            </p:spPr>
          </p:sp>
        </p:grpSp>
        <p:sp>
          <p:nvSpPr>
            <p:cNvPr id="141321" name="Rectangle 84"/>
            <p:cNvSpPr/>
            <p:nvPr/>
          </p:nvSpPr>
          <p:spPr>
            <a:xfrm>
              <a:off x="3552825" y="525435"/>
              <a:ext cx="3810000" cy="6096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t>π</a:t>
              </a:r>
              <a:r>
                <a:rPr lang="zh-CN" altLang="en-US" sz="2600" baseline="-25000" dirty="0"/>
                <a:t>cid，cname</a:t>
              </a:r>
              <a:r>
                <a:rPr lang="zh-CN" altLang="en-US" sz="2600" dirty="0"/>
                <a:t>(</a:t>
              </a:r>
              <a:r>
                <a:rPr lang="zh-CN" altLang="en-US" sz="2800" dirty="0"/>
                <a:t>σ</a:t>
              </a:r>
              <a:r>
                <a:rPr lang="zh-CN" altLang="en-US" sz="2800" baseline="-25000" dirty="0"/>
                <a:t>credit&gt;=3</a:t>
              </a:r>
              <a:r>
                <a:rPr lang="zh-CN" altLang="en-US" sz="2800" dirty="0"/>
                <a:t>(C)</a:t>
              </a:r>
              <a:r>
                <a:rPr lang="zh-CN" altLang="en-US" sz="2600" dirty="0"/>
                <a:t> )</a:t>
              </a:r>
              <a:endParaRPr lang="de-DE" altLang="en-US" sz="2600" dirty="0"/>
            </a:p>
          </p:txBody>
        </p:sp>
        <p:sp>
          <p:nvSpPr>
            <p:cNvPr id="141322" name="Text Box 79"/>
            <p:cNvSpPr txBox="1"/>
            <p:nvPr/>
          </p:nvSpPr>
          <p:spPr>
            <a:xfrm>
              <a:off x="653599" y="0"/>
              <a:ext cx="7692570" cy="49859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r>
                <a:rPr lang="en-US" altLang="zh-CN" sz="2400" dirty="0">
                  <a:solidFill>
                    <a:srgbClr val="0000CC"/>
                  </a:solidFill>
                  <a:latin typeface="宋体" panose="02010600030101010101" pitchFamily="2" charset="-122"/>
                </a:rPr>
                <a:t>Select cid,cname from C where credit&gt;=3 </a:t>
              </a:r>
              <a:endParaRPr lang="de-DE" altLang="en-US" sz="2400" dirty="0">
                <a:solidFill>
                  <a:srgbClr val="0000CC"/>
                </a:solidFill>
                <a:latin typeface="宋体" panose="02010600030101010101" pitchFamily="2" charset="-122"/>
              </a:endParaRPr>
            </a:p>
          </p:txBody>
        </p:sp>
      </p:grpSp>
      <p:sp>
        <p:nvSpPr>
          <p:cNvPr id="14131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481"/>
                                        </p:tgtEl>
                                        <p:attrNameLst>
                                          <p:attrName>style.visibility</p:attrName>
                                        </p:attrNameLst>
                                      </p:cBhvr>
                                      <p:to>
                                        <p:strVal val="visible"/>
                                      </p:to>
                                    </p:set>
                                    <p:anim calcmode="lin" valueType="num">
                                      <p:cBhvr additive="base">
                                        <p:cTn id="7" dur="500" fill="hold"/>
                                        <p:tgtEl>
                                          <p:spTgt spid="105481"/>
                                        </p:tgtEl>
                                        <p:attrNameLst>
                                          <p:attrName>ppt_x</p:attrName>
                                        </p:attrNameLst>
                                      </p:cBhvr>
                                      <p:tavLst>
                                        <p:tav tm="0">
                                          <p:val>
                                            <p:strVal val="#ppt_x"/>
                                          </p:val>
                                        </p:tav>
                                        <p:tav tm="100000">
                                          <p:val>
                                            <p:strVal val="#ppt_x"/>
                                          </p:val>
                                        </p:tav>
                                      </p:tavLst>
                                    </p:anim>
                                    <p:anim calcmode="lin" valueType="num">
                                      <p:cBhvr additive="base">
                                        <p:cTn id="8" dur="500" fill="hold"/>
                                        <p:tgtEl>
                                          <p:spTgt spid="1054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5478"/>
                                        </p:tgtEl>
                                        <p:attrNameLst>
                                          <p:attrName>style.visibility</p:attrName>
                                        </p:attrNameLst>
                                      </p:cBhvr>
                                      <p:to>
                                        <p:strVal val="visible"/>
                                      </p:to>
                                    </p:set>
                                    <p:anim calcmode="lin" valueType="num">
                                      <p:cBhvr additive="base">
                                        <p:cTn id="13" dur="500" fill="hold"/>
                                        <p:tgtEl>
                                          <p:spTgt spid="105478"/>
                                        </p:tgtEl>
                                        <p:attrNameLst>
                                          <p:attrName>ppt_x</p:attrName>
                                        </p:attrNameLst>
                                      </p:cBhvr>
                                      <p:tavLst>
                                        <p:tav tm="0">
                                          <p:val>
                                            <p:strVal val="#ppt_x"/>
                                          </p:val>
                                        </p:tav>
                                        <p:tav tm="100000">
                                          <p:val>
                                            <p:strVal val="#ppt_x"/>
                                          </p:val>
                                        </p:tav>
                                      </p:tavLst>
                                    </p:anim>
                                    <p:anim calcmode="lin" valueType="num">
                                      <p:cBhvr additive="base">
                                        <p:cTn id="14" dur="500" fill="hold"/>
                                        <p:tgtEl>
                                          <p:spTgt spid="10547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5517"/>
                                        </p:tgtEl>
                                        <p:attrNameLst>
                                          <p:attrName>style.visibility</p:attrName>
                                        </p:attrNameLst>
                                      </p:cBhvr>
                                      <p:to>
                                        <p:strVal val="visible"/>
                                      </p:to>
                                    </p:set>
                                    <p:anim calcmode="lin" valueType="num">
                                      <p:cBhvr additive="base">
                                        <p:cTn id="19" dur="500" fill="hold"/>
                                        <p:tgtEl>
                                          <p:spTgt spid="105517"/>
                                        </p:tgtEl>
                                        <p:attrNameLst>
                                          <p:attrName>ppt_x</p:attrName>
                                        </p:attrNameLst>
                                      </p:cBhvr>
                                      <p:tavLst>
                                        <p:tav tm="0">
                                          <p:val>
                                            <p:strVal val="#ppt_x"/>
                                          </p:val>
                                        </p:tav>
                                        <p:tav tm="100000">
                                          <p:val>
                                            <p:strVal val="#ppt_x"/>
                                          </p:val>
                                        </p:tav>
                                      </p:tavLst>
                                    </p:anim>
                                    <p:anim calcmode="lin" valueType="num">
                                      <p:cBhvr additive="base">
                                        <p:cTn id="20" dur="500" fill="hold"/>
                                        <p:tgtEl>
                                          <p:spTgt spid="10551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5475"/>
                                        </p:tgtEl>
                                        <p:attrNameLst>
                                          <p:attrName>style.visibility</p:attrName>
                                        </p:attrNameLst>
                                      </p:cBhvr>
                                      <p:to>
                                        <p:strVal val="visible"/>
                                      </p:to>
                                    </p:set>
                                    <p:anim calcmode="lin" valueType="num">
                                      <p:cBhvr additive="base">
                                        <p:cTn id="25" dur="500" fill="hold"/>
                                        <p:tgtEl>
                                          <p:spTgt spid="105475"/>
                                        </p:tgtEl>
                                        <p:attrNameLst>
                                          <p:attrName>ppt_x</p:attrName>
                                        </p:attrNameLst>
                                      </p:cBhvr>
                                      <p:tavLst>
                                        <p:tav tm="0">
                                          <p:val>
                                            <p:strVal val="#ppt_x"/>
                                          </p:val>
                                        </p:tav>
                                        <p:tav tm="100000">
                                          <p:val>
                                            <p:strVal val="#ppt_x"/>
                                          </p:val>
                                        </p:tav>
                                      </p:tavLst>
                                    </p:anim>
                                    <p:anim calcmode="lin" valueType="num">
                                      <p:cBhvr additive="base">
                                        <p:cTn id="26" dur="500" fill="hold"/>
                                        <p:tgtEl>
                                          <p:spTgt spid="1054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42339" name="文本框 99"/>
          <p:cNvSpPr txBox="1"/>
          <p:nvPr/>
        </p:nvSpPr>
        <p:spPr>
          <a:xfrm>
            <a:off x="669925" y="2974975"/>
            <a:ext cx="8016875" cy="5064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rPr>
              <a:t>2</a:t>
            </a:r>
            <a:r>
              <a:rPr lang="zh-CN" altLang="en-US" dirty="0">
                <a:latin typeface="Calibri" panose="020F0502020204030204" pitchFamily="34" charset="0"/>
              </a:rPr>
              <a:t>、</a:t>
            </a:r>
            <a:r>
              <a:rPr lang="zh-CN" altLang="zh-CN" dirty="0">
                <a:latin typeface="Calibri" panose="020F0502020204030204" pitchFamily="34" charset="0"/>
              </a:rPr>
              <a:t>去除关系中的某些列，并消去重复元组的关系代数运算称为（     ）</a:t>
            </a:r>
            <a:endParaRPr lang="zh-CN" altLang="en-US" dirty="0"/>
          </a:p>
        </p:txBody>
      </p:sp>
      <p:sp>
        <p:nvSpPr>
          <p:cNvPr id="2" name="文本框 1"/>
          <p:cNvSpPr txBox="1"/>
          <p:nvPr/>
        </p:nvSpPr>
        <p:spPr>
          <a:xfrm>
            <a:off x="2090738" y="1860550"/>
            <a:ext cx="366712" cy="5064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solidFill>
                  <a:srgbClr val="CC00FF"/>
                </a:solidFill>
              </a:rPr>
              <a:t>A</a:t>
            </a:r>
            <a:endParaRPr lang="en-US" altLang="zh-CN" dirty="0">
              <a:solidFill>
                <a:srgbClr val="CC00FF"/>
              </a:solidFill>
            </a:endParaRPr>
          </a:p>
        </p:txBody>
      </p:sp>
      <p:sp>
        <p:nvSpPr>
          <p:cNvPr id="142341" name="文本框 2"/>
          <p:cNvSpPr txBox="1"/>
          <p:nvPr/>
        </p:nvSpPr>
        <p:spPr>
          <a:xfrm>
            <a:off x="873125" y="2468563"/>
            <a:ext cx="6829425"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18" charset="0"/>
              </a:rPr>
              <a:t>A.</a:t>
            </a:r>
            <a:r>
              <a:rPr lang="zh-CN" altLang="zh-CN" dirty="0">
                <a:latin typeface="Calibri" panose="020F0502020204030204" pitchFamily="34" charset="0"/>
              </a:rPr>
              <a:t>选择         </a:t>
            </a:r>
            <a:r>
              <a:rPr lang="en-US" altLang="zh-CN" dirty="0">
                <a:latin typeface="Calibri" panose="020F0502020204030204" pitchFamily="34" charset="0"/>
              </a:rPr>
              <a:t>B.</a:t>
            </a:r>
            <a:r>
              <a:rPr lang="zh-CN" altLang="zh-CN" dirty="0">
                <a:latin typeface="Calibri" panose="020F0502020204030204" pitchFamily="34" charset="0"/>
              </a:rPr>
              <a:t>投影         </a:t>
            </a:r>
            <a:r>
              <a:rPr lang="en-US" altLang="zh-CN" dirty="0">
                <a:latin typeface="Calibri" panose="020F0502020204030204" pitchFamily="34" charset="0"/>
              </a:rPr>
              <a:t>C.</a:t>
            </a:r>
            <a:r>
              <a:rPr lang="zh-CN" altLang="zh-CN" dirty="0">
                <a:latin typeface="Calibri" panose="020F0502020204030204" pitchFamily="34" charset="0"/>
              </a:rPr>
              <a:t>连接       </a:t>
            </a:r>
            <a:r>
              <a:rPr lang="en-US" altLang="zh-CN" dirty="0">
                <a:latin typeface="Calibri" panose="020F0502020204030204" pitchFamily="34" charset="0"/>
              </a:rPr>
              <a:t>D.</a:t>
            </a:r>
            <a:r>
              <a:rPr lang="zh-CN" altLang="zh-CN" dirty="0">
                <a:latin typeface="Calibri" panose="020F0502020204030204" pitchFamily="34" charset="0"/>
              </a:rPr>
              <a:t>扫描</a:t>
            </a:r>
            <a:endParaRPr lang="zh-CN" altLang="en-US" dirty="0"/>
          </a:p>
        </p:txBody>
      </p:sp>
      <p:sp>
        <p:nvSpPr>
          <p:cNvPr id="142342" name="文本框 3"/>
          <p:cNvSpPr txBox="1"/>
          <p:nvPr/>
        </p:nvSpPr>
        <p:spPr>
          <a:xfrm>
            <a:off x="669925" y="1474788"/>
            <a:ext cx="8016875"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rPr>
              <a:t>1</a:t>
            </a:r>
            <a:r>
              <a:rPr lang="zh-CN" altLang="en-US" dirty="0">
                <a:latin typeface="Calibri" panose="020F0502020204030204" pitchFamily="34" charset="0"/>
              </a:rPr>
              <a:t>、</a:t>
            </a:r>
            <a:r>
              <a:rPr lang="zh-CN" altLang="zh-CN" dirty="0">
                <a:latin typeface="Calibri" panose="020F0502020204030204" pitchFamily="34" charset="0"/>
              </a:rPr>
              <a:t>在关系代数的专门关系运算中，从表中选出满足某种条件的元组的操作称为（</a:t>
            </a:r>
            <a:r>
              <a:rPr lang="en-US" altLang="zh-CN" dirty="0">
                <a:latin typeface="Calibri" panose="020F0502020204030204" pitchFamily="34" charset="0"/>
                <a:cs typeface="Times New Roman" panose="02020603050405020304" pitchFamily="18" charset="0"/>
              </a:rPr>
              <a:t>  </a:t>
            </a:r>
            <a:r>
              <a:rPr lang="zh-CN" altLang="zh-CN" dirty="0">
                <a:latin typeface="Calibri" panose="020F0502020204030204" pitchFamily="34" charset="0"/>
              </a:rPr>
              <a:t>  ）</a:t>
            </a:r>
            <a:endParaRPr lang="zh-CN" altLang="en-US" dirty="0"/>
          </a:p>
        </p:txBody>
      </p:sp>
      <p:sp>
        <p:nvSpPr>
          <p:cNvPr id="142343" name="文本框 4"/>
          <p:cNvSpPr txBox="1"/>
          <p:nvPr/>
        </p:nvSpPr>
        <p:spPr>
          <a:xfrm>
            <a:off x="873125" y="3719513"/>
            <a:ext cx="7116763"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dirty="0">
                <a:latin typeface="Calibri" panose="020F0502020204030204" pitchFamily="34" charset="0"/>
                <a:cs typeface="Times New Roman" panose="02020603050405020304" pitchFamily="18" charset="0"/>
              </a:rPr>
              <a:t>A. </a:t>
            </a:r>
            <a:r>
              <a:rPr lang="zh-CN" altLang="zh-CN" dirty="0">
                <a:latin typeface="Calibri" panose="020F0502020204030204" pitchFamily="34" charset="0"/>
              </a:rPr>
              <a:t>取列运算      </a:t>
            </a:r>
            <a:r>
              <a:rPr lang="en-US" altLang="zh-CN" dirty="0">
                <a:latin typeface="Calibri" panose="020F0502020204030204" pitchFamily="34" charset="0"/>
              </a:rPr>
              <a:t>B. </a:t>
            </a:r>
            <a:r>
              <a:rPr lang="zh-CN" altLang="zh-CN" dirty="0">
                <a:latin typeface="Calibri" panose="020F0502020204030204" pitchFamily="34" charset="0"/>
              </a:rPr>
              <a:t>投影运算       </a:t>
            </a:r>
            <a:r>
              <a:rPr lang="en-US" altLang="zh-CN" dirty="0">
                <a:latin typeface="Calibri" panose="020F0502020204030204" pitchFamily="34" charset="0"/>
              </a:rPr>
              <a:t>C. </a:t>
            </a:r>
            <a:r>
              <a:rPr lang="zh-CN" altLang="zh-CN" dirty="0">
                <a:latin typeface="Calibri" panose="020F0502020204030204" pitchFamily="34" charset="0"/>
              </a:rPr>
              <a:t>连接运算       </a:t>
            </a:r>
            <a:r>
              <a:rPr lang="en-US" altLang="zh-CN" dirty="0">
                <a:latin typeface="Calibri" panose="020F0502020204030204" pitchFamily="34" charset="0"/>
              </a:rPr>
              <a:t>D. </a:t>
            </a:r>
            <a:r>
              <a:rPr lang="zh-CN" altLang="zh-CN" dirty="0">
                <a:latin typeface="Calibri" panose="020F0502020204030204" pitchFamily="34" charset="0"/>
              </a:rPr>
              <a:t>选择运算</a:t>
            </a:r>
            <a:endParaRPr lang="zh-CN" altLang="en-US" dirty="0"/>
          </a:p>
        </p:txBody>
      </p:sp>
      <p:sp>
        <p:nvSpPr>
          <p:cNvPr id="6" name="文本框 5"/>
          <p:cNvSpPr txBox="1"/>
          <p:nvPr/>
        </p:nvSpPr>
        <p:spPr>
          <a:xfrm>
            <a:off x="7989888" y="2974975"/>
            <a:ext cx="347662" cy="46513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1800" dirty="0">
                <a:solidFill>
                  <a:srgbClr val="CC00FF"/>
                </a:solidFill>
              </a:rPr>
              <a:t>B</a:t>
            </a:r>
            <a:endParaRPr lang="en-US" altLang="zh-CN" sz="1800" dirty="0">
              <a:solidFill>
                <a:srgbClr val="CC00FF"/>
              </a:solidFill>
            </a:endParaRPr>
          </a:p>
        </p:txBody>
      </p:sp>
      <p:sp>
        <p:nvSpPr>
          <p:cNvPr id="14234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graphicFrame>
        <p:nvGraphicFramePr>
          <p:cNvPr id="13318" name="表格 13317"/>
          <p:cNvGraphicFramePr/>
          <p:nvPr/>
        </p:nvGraphicFramePr>
        <p:xfrm>
          <a:off x="584200" y="1905000"/>
          <a:ext cx="7935913" cy="2157413"/>
        </p:xfrm>
        <a:graphic>
          <a:graphicData uri="http://schemas.openxmlformats.org/drawingml/2006/table">
            <a:tbl>
              <a:tblPr/>
              <a:tblGrid>
                <a:gridCol w="1137240"/>
                <a:gridCol w="1474411"/>
                <a:gridCol w="1323922"/>
                <a:gridCol w="1316302"/>
                <a:gridCol w="1482666"/>
                <a:gridCol w="1201372"/>
              </a:tblGrid>
              <a:tr h="422337">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t>SName</a:t>
                      </a:r>
                      <a:endParaRPr lang="en-US" altLang="zh-CN" sz="2000" b="0"/>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u="sng">
                          <a:solidFill>
                            <a:srgbClr val="FF0000"/>
                          </a:solidFill>
                        </a:rPr>
                        <a:t>SNo</a:t>
                      </a:r>
                      <a:endParaRPr lang="en-US" altLang="zh-CN" sz="2000" b="0" u="sng">
                        <a:solidFill>
                          <a:srgbClr val="FF0000"/>
                        </a:solidFill>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de-DE" sz="2000" b="0" dirty="0">
                          <a:ea typeface="华文楷体" panose="02010600040101010101" pitchFamily="2" charset="-122"/>
                        </a:rPr>
                        <a:t>SGender</a:t>
                      </a:r>
                      <a:endParaRPr lang="en-US" altLang="de-DE"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ea typeface="华文楷体" panose="02010600040101010101" pitchFamily="2" charset="-122"/>
                        </a:rPr>
                        <a:t>IDCARD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ClassID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Dom</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张三</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120</a:t>
                      </a:r>
                      <a:r>
                        <a:rPr lang="zh-CN" altLang="en-US" sz="2000" b="0" dirty="0">
                          <a:ea typeface="华文楷体" panose="02010600040101010101" pitchFamily="2" charset="-122"/>
                        </a:rPr>
                        <a:t>******</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4888">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李四</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510</a:t>
                      </a:r>
                      <a:r>
                        <a:rPr lang="zh-CN" altLang="en-US" sz="2000" b="0" dirty="0">
                          <a:ea typeface="华文楷体" panose="02010600040101010101" pitchFamily="2" charset="-122"/>
                        </a:rPr>
                        <a:t>******</a:t>
                      </a:r>
                      <a:endParaRPr lang="zh-CN"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337">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王五</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女</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210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1503</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孙六</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330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7234</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43408" name="Text Box 30"/>
          <p:cNvSpPr txBox="1"/>
          <p:nvPr/>
        </p:nvSpPr>
        <p:spPr>
          <a:xfrm>
            <a:off x="371475" y="1287463"/>
            <a:ext cx="7935913"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3</a:t>
            </a:r>
            <a:r>
              <a:rPr lang="zh-CN" altLang="en-US" sz="2400" dirty="0">
                <a:solidFill>
                  <a:srgbClr val="0000CC"/>
                </a:solidFill>
                <a:latin typeface="宋体" panose="02010600030101010101" pitchFamily="2" charset="-122"/>
              </a:rPr>
              <a:t>、学生表</a:t>
            </a:r>
            <a:r>
              <a:rPr lang="en-US" altLang="zh-CN" sz="2400" dirty="0">
                <a:solidFill>
                  <a:srgbClr val="0000CC"/>
                </a:solidFill>
                <a:latin typeface="宋体" panose="02010600030101010101" pitchFamily="2" charset="-122"/>
              </a:rPr>
              <a:t>-Stu</a:t>
            </a:r>
            <a:r>
              <a:rPr lang="zh-CN" altLang="en-US" sz="2400" dirty="0">
                <a:solidFill>
                  <a:srgbClr val="0000CC"/>
                </a:solidFill>
                <a:latin typeface="宋体" panose="02010600030101010101" pitchFamily="2" charset="-122"/>
              </a:rPr>
              <a:t>：用关系代数和</a:t>
            </a:r>
            <a:r>
              <a:rPr lang="en-US" altLang="zh-CN" sz="2400" dirty="0">
                <a:solidFill>
                  <a:srgbClr val="0000CC"/>
                </a:solidFill>
                <a:latin typeface="宋体" panose="02010600030101010101" pitchFamily="2" charset="-122"/>
              </a:rPr>
              <a:t>SQL</a:t>
            </a:r>
            <a:r>
              <a:rPr lang="zh-CN" altLang="zh-CN" sz="2400" dirty="0">
                <a:solidFill>
                  <a:srgbClr val="0000CC"/>
                </a:solidFill>
                <a:latin typeface="宋体" panose="02010600030101010101" pitchFamily="2" charset="-122"/>
              </a:rPr>
              <a:t>语句检索</a:t>
            </a:r>
            <a:r>
              <a:rPr lang="en-US" altLang="zh-CN" sz="2400" dirty="0">
                <a:solidFill>
                  <a:srgbClr val="0000CC"/>
                </a:solidFill>
                <a:latin typeface="宋体" panose="02010600030101010101" pitchFamily="2" charset="-122"/>
              </a:rPr>
              <a:t>物联网-1男生</a:t>
            </a:r>
            <a:endParaRPr lang="zh-CN" altLang="en-US" sz="2400" dirty="0">
              <a:solidFill>
                <a:srgbClr val="0000CC"/>
              </a:solidFill>
              <a:latin typeface="宋体" panose="02010600030101010101" pitchFamily="2" charset="-122"/>
            </a:endParaRPr>
          </a:p>
        </p:txBody>
      </p:sp>
      <p:graphicFrame>
        <p:nvGraphicFramePr>
          <p:cNvPr id="3" name="表格 2"/>
          <p:cNvGraphicFramePr/>
          <p:nvPr/>
        </p:nvGraphicFramePr>
        <p:xfrm>
          <a:off x="584200" y="1916113"/>
          <a:ext cx="7935913" cy="2157413"/>
        </p:xfrm>
        <a:graphic>
          <a:graphicData uri="http://schemas.openxmlformats.org/drawingml/2006/table">
            <a:tbl>
              <a:tblPr/>
              <a:tblGrid>
                <a:gridCol w="1137240"/>
                <a:gridCol w="1474411"/>
                <a:gridCol w="1323922"/>
                <a:gridCol w="1316302"/>
                <a:gridCol w="1482666"/>
                <a:gridCol w="1201372"/>
              </a:tblGrid>
              <a:tr h="422337">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t>SName</a:t>
                      </a:r>
                      <a:endParaRPr lang="en-US" altLang="zh-CN" sz="2000" b="0"/>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u="sng">
                          <a:solidFill>
                            <a:srgbClr val="FF0000"/>
                          </a:solidFill>
                        </a:rPr>
                        <a:t>SNo</a:t>
                      </a:r>
                      <a:endParaRPr lang="en-US" altLang="zh-CN" sz="2000" b="0" u="sng">
                        <a:solidFill>
                          <a:srgbClr val="FF0000"/>
                        </a:solidFill>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de-DE" sz="2000" b="0" dirty="0">
                          <a:ea typeface="华文楷体" panose="02010600040101010101" pitchFamily="2" charset="-122"/>
                        </a:rPr>
                        <a:t>SGender</a:t>
                      </a:r>
                      <a:endParaRPr lang="en-US" altLang="de-DE"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zh-CN" sz="2000" b="0">
                          <a:ea typeface="华文楷体" panose="02010600040101010101" pitchFamily="2" charset="-122"/>
                        </a:rPr>
                        <a:t>IDCARD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ClassID</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zh-CN" sz="2000" b="0">
                          <a:ea typeface="华文楷体" panose="02010600040101010101" pitchFamily="2" charset="-122"/>
                        </a:rPr>
                        <a:t>Dom</a:t>
                      </a:r>
                      <a:endParaRPr lang="en-US" altLang="zh-CN" sz="2000" b="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张三</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120</a:t>
                      </a:r>
                      <a:r>
                        <a:rPr lang="zh-CN" altLang="en-US" sz="2000" b="0" dirty="0">
                          <a:ea typeface="华文楷体" panose="02010600040101010101" pitchFamily="2" charset="-122"/>
                        </a:rPr>
                        <a:t>******</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4888">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李四</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en-US" altLang="x-none" sz="2000" b="0" dirty="0">
                          <a:ea typeface="华文楷体" panose="02010600040101010101" pitchFamily="2" charset="-122"/>
                        </a:rPr>
                        <a:t>510</a:t>
                      </a:r>
                      <a:r>
                        <a:rPr lang="zh-CN" altLang="en-US" sz="2000" b="0" dirty="0">
                          <a:ea typeface="华文楷体" panose="02010600040101010101" pitchFamily="2" charset="-122"/>
                        </a:rPr>
                        <a:t>******</a:t>
                      </a:r>
                      <a:endParaRPr lang="zh-CN"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 自动化</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8102</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2337">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王五</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101</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女</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210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1503</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23925">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孙六</a:t>
                      </a:r>
                      <a:endParaRPr lang="de-DE" altLang="en-US" sz="2000" b="0" dirty="0">
                        <a:ea typeface="华文楷体" panose="02010600040101010101" pitchFamily="2" charset="-122"/>
                      </a:endParaRPr>
                    </a:p>
                  </a:txBody>
                  <a:tcPr marL="91436" marR="91436" marT="45727" marB="4572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t>20</a:t>
                      </a:r>
                      <a:r>
                        <a:rPr lang="en-US" altLang="x-none" sz="2000" b="0" dirty="0"/>
                        <a:t>150</a:t>
                      </a:r>
                      <a:r>
                        <a:rPr lang="zh-CN" altLang="en-US" sz="2000" b="0" dirty="0"/>
                        <a:t>10</a:t>
                      </a:r>
                      <a:r>
                        <a:rPr lang="en-US" altLang="x-none" sz="2000" b="0" dirty="0"/>
                        <a:t>2</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algn="ctr" eaLnBrk="1" hangingPunct="1">
                        <a:spcBef>
                          <a:spcPct val="20000"/>
                        </a:spcBef>
                        <a:buClr>
                          <a:srgbClr val="000000"/>
                        </a:buClr>
                        <a:buFont typeface="Arial" panose="020B0604020202020204" pitchFamily="34" charset="0"/>
                        <a:buNone/>
                      </a:pPr>
                      <a:r>
                        <a:rPr lang="zh-CN" altLang="en-US" sz="2000" b="0" dirty="0">
                          <a:ea typeface="华文楷体" panose="02010600040101010101" pitchFamily="2" charset="-122"/>
                        </a:rPr>
                        <a:t>男</a:t>
                      </a:r>
                      <a:endParaRPr lang="de-DE" altLang="en-US" sz="2000" b="0" dirty="0">
                        <a:ea typeface="华文楷体" panose="02010600040101010101" pitchFamily="2" charset="-122"/>
                      </a:endParaRPr>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330</a:t>
                      </a:r>
                      <a:r>
                        <a:rPr lang="zh-CN" altLang="en-US" sz="1800" b="0" dirty="0"/>
                        <a:t>*******</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zh-CN" altLang="en-US" sz="1800" b="0" dirty="0"/>
                        <a:t>物联网</a:t>
                      </a:r>
                      <a:r>
                        <a:rPr lang="en-US" altLang="x-none" sz="1800" b="0" dirty="0"/>
                        <a:t>-1</a:t>
                      </a:r>
                      <a:endParaRPr lang="zh-CN" altLang="en-US" sz="1800" b="0" dirty="0"/>
                    </a:p>
                  </a:txBody>
                  <a:tcPr marL="91436" marR="91436" marT="45727" marB="4572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p>
                      <a:pPr marL="0" lvl="0" indent="0" eaLnBrk="1" hangingPunct="1">
                        <a:spcBef>
                          <a:spcPct val="0"/>
                        </a:spcBef>
                        <a:buClr>
                          <a:srgbClr val="000000"/>
                        </a:buClr>
                        <a:buFont typeface="Arial" panose="020B0604020202020204" pitchFamily="34" charset="0"/>
                        <a:buNone/>
                      </a:pPr>
                      <a:r>
                        <a:rPr lang="en-US" altLang="x-none" sz="1800" b="0" dirty="0"/>
                        <a:t>7234</a:t>
                      </a:r>
                      <a:endParaRPr lang="zh-CN" altLang="en-US" sz="1800" b="0" dirty="0"/>
                    </a:p>
                  </a:txBody>
                  <a:tcPr marL="91436" marR="91436" marT="45727" marB="4572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02437" name="Rectangle 76"/>
          <p:cNvSpPr/>
          <p:nvPr/>
        </p:nvSpPr>
        <p:spPr>
          <a:xfrm>
            <a:off x="457200" y="4386263"/>
            <a:ext cx="721360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800" dirty="0">
                <a:solidFill>
                  <a:srgbClr val="FF0066"/>
                </a:solidFill>
              </a:rPr>
              <a:t>σ</a:t>
            </a:r>
            <a:r>
              <a:rPr lang="en-US" altLang="zh-CN" sz="2800" baseline="-25000" dirty="0">
                <a:solidFill>
                  <a:srgbClr val="FF0066"/>
                </a:solidFill>
              </a:rPr>
              <a:t>ClassID</a:t>
            </a:r>
            <a:r>
              <a:rPr lang="zh-CN" altLang="en-US" sz="2800" baseline="-25000" dirty="0">
                <a:solidFill>
                  <a:srgbClr val="FF0066"/>
                </a:solidFill>
              </a:rPr>
              <a:t>=</a:t>
            </a:r>
            <a:r>
              <a:rPr lang="en-US" altLang="zh-CN" sz="2800" baseline="-25000" dirty="0">
                <a:solidFill>
                  <a:srgbClr val="FF0066"/>
                </a:solidFill>
              </a:rPr>
              <a:t>'</a:t>
            </a:r>
            <a:r>
              <a:rPr lang="zh-CN" altLang="zh-CN" sz="2800" baseline="-25000" dirty="0">
                <a:solidFill>
                  <a:srgbClr val="FF0066"/>
                </a:solidFill>
              </a:rPr>
              <a:t>物联网</a:t>
            </a:r>
            <a:r>
              <a:rPr lang="en-US" altLang="zh-CN" sz="2800" baseline="-25000" dirty="0">
                <a:solidFill>
                  <a:srgbClr val="FF0066"/>
                </a:solidFill>
              </a:rPr>
              <a:t>-1'</a:t>
            </a:r>
            <a:r>
              <a:rPr lang="zh-CN" altLang="en-US" sz="2800" baseline="-25000" dirty="0">
                <a:solidFill>
                  <a:srgbClr val="FF0066"/>
                </a:solidFill>
              </a:rPr>
              <a:t> </a:t>
            </a:r>
            <a:r>
              <a:rPr lang="zh-CN" altLang="en-US" sz="2800" baseline="-25000" dirty="0">
                <a:solidFill>
                  <a:srgbClr val="FF0066"/>
                </a:solidFill>
                <a:latin typeface="宋体" panose="02010600030101010101" pitchFamily="2" charset="-122"/>
              </a:rPr>
              <a:t>∧</a:t>
            </a:r>
            <a:r>
              <a:rPr lang="en-US" altLang="zh-CN" sz="2800" baseline="-25000" dirty="0">
                <a:solidFill>
                  <a:srgbClr val="FF0066"/>
                </a:solidFill>
                <a:latin typeface="宋体" panose="02010600030101010101" pitchFamily="2" charset="-122"/>
              </a:rPr>
              <a:t>SGender='</a:t>
            </a:r>
            <a:r>
              <a:rPr lang="zh-CN" altLang="zh-CN" sz="2800" baseline="-25000" dirty="0">
                <a:solidFill>
                  <a:srgbClr val="FF0066"/>
                </a:solidFill>
                <a:latin typeface="宋体" panose="02010600030101010101" pitchFamily="2" charset="-122"/>
              </a:rPr>
              <a:t>男</a:t>
            </a:r>
            <a:r>
              <a:rPr lang="en-US" altLang="zh-CN" sz="2800" baseline="-25000" dirty="0">
                <a:solidFill>
                  <a:srgbClr val="FF0066"/>
                </a:solidFill>
                <a:latin typeface="宋体" panose="02010600030101010101" pitchFamily="2" charset="-122"/>
              </a:rPr>
              <a:t>'</a:t>
            </a:r>
            <a:r>
              <a:rPr lang="zh-CN" altLang="en-US" sz="2800" dirty="0"/>
              <a:t>(</a:t>
            </a:r>
            <a:r>
              <a:rPr lang="en-US" altLang="zh-CN" sz="2800" dirty="0">
                <a:solidFill>
                  <a:srgbClr val="006600"/>
                </a:solidFill>
              </a:rPr>
              <a:t>Stu</a:t>
            </a:r>
            <a:r>
              <a:rPr lang="zh-CN" altLang="en-US" sz="2800" dirty="0"/>
              <a:t>)</a:t>
            </a:r>
            <a:endParaRPr lang="zh-CN" altLang="en-US" sz="2800" dirty="0"/>
          </a:p>
        </p:txBody>
      </p:sp>
      <p:sp>
        <p:nvSpPr>
          <p:cNvPr id="104495" name="Text Box 79"/>
          <p:cNvSpPr txBox="1"/>
          <p:nvPr/>
        </p:nvSpPr>
        <p:spPr>
          <a:xfrm>
            <a:off x="479425" y="5176838"/>
            <a:ext cx="8512175" cy="9080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zh-CN" altLang="en-US" sz="2400" dirty="0">
                <a:solidFill>
                  <a:srgbClr val="0000CC"/>
                </a:solidFill>
                <a:latin typeface="宋体" panose="02010600030101010101" pitchFamily="2" charset="-122"/>
              </a:rPr>
              <a:t>对应的</a:t>
            </a: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en-US" altLang="zh-CN"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200" dirty="0">
                <a:solidFill>
                  <a:srgbClr val="0000CC"/>
                </a:solidFill>
                <a:latin typeface="宋体" panose="02010600030101010101" pitchFamily="2" charset="-122"/>
              </a:rPr>
              <a:t>Select * </a:t>
            </a:r>
            <a:r>
              <a:rPr lang="en-US" altLang="zh-CN" sz="2200" dirty="0">
                <a:solidFill>
                  <a:srgbClr val="006600"/>
                </a:solidFill>
                <a:latin typeface="宋体" panose="02010600030101010101" pitchFamily="2" charset="-122"/>
              </a:rPr>
              <a:t>from Stu</a:t>
            </a:r>
            <a:r>
              <a:rPr lang="en-US" altLang="zh-CN" sz="2200" dirty="0">
                <a:solidFill>
                  <a:srgbClr val="0000CC"/>
                </a:solidFill>
                <a:latin typeface="宋体" panose="02010600030101010101" pitchFamily="2" charset="-122"/>
              </a:rPr>
              <a:t> </a:t>
            </a:r>
            <a:r>
              <a:rPr lang="en-US" altLang="zh-CN" sz="2200" dirty="0">
                <a:solidFill>
                  <a:srgbClr val="FF0066"/>
                </a:solidFill>
                <a:latin typeface="宋体" panose="02010600030101010101" pitchFamily="2" charset="-122"/>
              </a:rPr>
              <a:t>where ClassID='</a:t>
            </a:r>
            <a:r>
              <a:rPr lang="zh-CN" altLang="en-US" sz="2200" dirty="0">
                <a:solidFill>
                  <a:srgbClr val="FF0066"/>
                </a:solidFill>
                <a:latin typeface="宋体" panose="02010600030101010101" pitchFamily="2" charset="-122"/>
              </a:rPr>
              <a:t>物联网</a:t>
            </a:r>
            <a:r>
              <a:rPr lang="en-US" altLang="zh-CN" sz="2200" dirty="0">
                <a:solidFill>
                  <a:srgbClr val="FF0066"/>
                </a:solidFill>
                <a:latin typeface="宋体" panose="02010600030101010101" pitchFamily="2" charset="-122"/>
              </a:rPr>
              <a:t>-1' and SGender='</a:t>
            </a:r>
            <a:r>
              <a:rPr lang="zh-CN" altLang="zh-CN" sz="2200" dirty="0">
                <a:solidFill>
                  <a:srgbClr val="FF0066"/>
                </a:solidFill>
                <a:latin typeface="宋体" panose="02010600030101010101" pitchFamily="2" charset="-122"/>
              </a:rPr>
              <a:t>男</a:t>
            </a:r>
            <a:r>
              <a:rPr lang="en-US" altLang="zh-CN" sz="2200" dirty="0">
                <a:solidFill>
                  <a:srgbClr val="FF0066"/>
                </a:solidFill>
                <a:latin typeface="宋体" panose="02010600030101010101" pitchFamily="2" charset="-122"/>
              </a:rPr>
              <a:t>'</a:t>
            </a:r>
            <a:endParaRPr lang="en-US" altLang="zh-CN" sz="2200" dirty="0">
              <a:solidFill>
                <a:srgbClr val="FF0066"/>
              </a:solidFill>
              <a:latin typeface="宋体" panose="02010600030101010101" pitchFamily="2" charset="-122"/>
            </a:endParaRPr>
          </a:p>
        </p:txBody>
      </p:sp>
      <p:sp>
        <p:nvSpPr>
          <p:cNvPr id="14345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02437"/>
                                        </p:tgtEl>
                                        <p:attrNameLst>
                                          <p:attrName>style.visibility</p:attrName>
                                        </p:attrNameLst>
                                      </p:cBhvr>
                                      <p:to>
                                        <p:strVal val="visible"/>
                                      </p:to>
                                    </p:set>
                                    <p:animEffect transition="in" filter="box(in)">
                                      <p:cBhvr>
                                        <p:cTn id="7" dur="500"/>
                                        <p:tgtEl>
                                          <p:spTgt spid="10243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04495"/>
                                        </p:tgtEl>
                                        <p:attrNameLst>
                                          <p:attrName>style.visibility</p:attrName>
                                        </p:attrNameLst>
                                      </p:cBhvr>
                                      <p:to>
                                        <p:strVal val="visible"/>
                                      </p:to>
                                    </p:set>
                                    <p:anim calcmode="lin" valueType="num">
                                      <p:cBhvr additive="base">
                                        <p:cTn id="12" dur="500" fill="hold"/>
                                        <p:tgtEl>
                                          <p:spTgt spid="104495"/>
                                        </p:tgtEl>
                                        <p:attrNameLst>
                                          <p:attrName>ppt_x</p:attrName>
                                        </p:attrNameLst>
                                      </p:cBhvr>
                                      <p:tavLst>
                                        <p:tav tm="0">
                                          <p:val>
                                            <p:strVal val="#ppt_x"/>
                                          </p:val>
                                        </p:tav>
                                        <p:tav tm="100000">
                                          <p:val>
                                            <p:strVal val="#ppt_x"/>
                                          </p:val>
                                        </p:tav>
                                      </p:tavLst>
                                    </p:anim>
                                    <p:anim calcmode="lin" valueType="num">
                                      <p:cBhvr additive="base">
                                        <p:cTn id="13" dur="500" fill="hold"/>
                                        <p:tgtEl>
                                          <p:spTgt spid="1044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7" grpId="0"/>
      <p:bldP spid="104495" grpId="0" bldLvl="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44386" name="Group 36"/>
          <p:cNvGrpSpPr/>
          <p:nvPr/>
        </p:nvGrpSpPr>
        <p:grpSpPr>
          <a:xfrm>
            <a:off x="528638" y="2417763"/>
            <a:ext cx="3429000" cy="1684337"/>
            <a:chOff x="0" y="-70"/>
            <a:chExt cx="2160" cy="1135"/>
          </a:xfrm>
        </p:grpSpPr>
        <p:sp>
          <p:nvSpPr>
            <p:cNvPr id="144392" name="Text Box 37"/>
            <p:cNvSpPr txBox="1"/>
            <p:nvPr/>
          </p:nvSpPr>
          <p:spPr>
            <a:xfrm>
              <a:off x="657" y="-70"/>
              <a:ext cx="1266" cy="39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课程表 C</a:t>
              </a:r>
              <a:endParaRPr lang="de-DE" altLang="en-US" sz="2400" dirty="0">
                <a:solidFill>
                  <a:srgbClr val="0000CC"/>
                </a:solidFill>
                <a:latin typeface="宋体" panose="02010600030101010101" pitchFamily="2" charset="-122"/>
              </a:endParaRPr>
            </a:p>
          </p:txBody>
        </p:sp>
        <p:sp>
          <p:nvSpPr>
            <p:cNvPr id="144393" name="Rectangle 38"/>
            <p:cNvSpPr/>
            <p:nvPr/>
          </p:nvSpPr>
          <p:spPr>
            <a:xfrm>
              <a:off x="1456" y="336"/>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buClrTx/>
                <a:buSzTx/>
                <a:buFont typeface="Arial" panose="020B0604020202020204" pitchFamily="34" charset="0"/>
                <a:buNone/>
              </a:pPr>
              <a:r>
                <a:rPr lang="zh-CN" altLang="en-US" sz="1800" dirty="0"/>
                <a:t>credit</a:t>
              </a:r>
              <a:endParaRPr lang="de-DE" altLang="en-US" sz="1800" dirty="0"/>
            </a:p>
          </p:txBody>
        </p:sp>
        <p:sp>
          <p:nvSpPr>
            <p:cNvPr id="144394" name="Rectangle 39"/>
            <p:cNvSpPr/>
            <p:nvPr/>
          </p:nvSpPr>
          <p:spPr>
            <a:xfrm>
              <a:off x="657" y="336"/>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cname</a:t>
              </a:r>
              <a:endParaRPr lang="de-DE" altLang="en-US" sz="1800" dirty="0"/>
            </a:p>
          </p:txBody>
        </p:sp>
        <p:sp>
          <p:nvSpPr>
            <p:cNvPr id="144395" name="Rectangle 40"/>
            <p:cNvSpPr/>
            <p:nvPr/>
          </p:nvSpPr>
          <p:spPr>
            <a:xfrm>
              <a:off x="0" y="336"/>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u="sng" dirty="0"/>
                <a:t>cid</a:t>
              </a:r>
              <a:endParaRPr lang="de-DE" altLang="en-US" sz="1800" u="sng" dirty="0"/>
            </a:p>
          </p:txBody>
        </p:sp>
        <p:sp>
          <p:nvSpPr>
            <p:cNvPr id="144396" name="Rectangle 41"/>
            <p:cNvSpPr/>
            <p:nvPr/>
          </p:nvSpPr>
          <p:spPr>
            <a:xfrm>
              <a:off x="1456" y="835"/>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2</a:t>
              </a:r>
              <a:endParaRPr lang="zh-CN" altLang="en-US" sz="1800" dirty="0"/>
            </a:p>
          </p:txBody>
        </p:sp>
        <p:sp>
          <p:nvSpPr>
            <p:cNvPr id="144397" name="Rectangle 42"/>
            <p:cNvSpPr/>
            <p:nvPr/>
          </p:nvSpPr>
          <p:spPr>
            <a:xfrm>
              <a:off x="657" y="835"/>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数据结构</a:t>
              </a:r>
              <a:endParaRPr lang="zh-CN" altLang="en-US" sz="1800" dirty="0"/>
            </a:p>
          </p:txBody>
        </p:sp>
        <p:sp>
          <p:nvSpPr>
            <p:cNvPr id="144398" name="Rectangle 43"/>
            <p:cNvSpPr/>
            <p:nvPr/>
          </p:nvSpPr>
          <p:spPr>
            <a:xfrm>
              <a:off x="0" y="835"/>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44399" name="Rectangle 44"/>
            <p:cNvSpPr/>
            <p:nvPr/>
          </p:nvSpPr>
          <p:spPr>
            <a:xfrm>
              <a:off x="1456" y="566"/>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3</a:t>
              </a:r>
              <a:endParaRPr lang="zh-CN" altLang="en-US" sz="1800" dirty="0"/>
            </a:p>
          </p:txBody>
        </p:sp>
        <p:sp>
          <p:nvSpPr>
            <p:cNvPr id="144400" name="Rectangle 45"/>
            <p:cNvSpPr/>
            <p:nvPr/>
          </p:nvSpPr>
          <p:spPr>
            <a:xfrm>
              <a:off x="657" y="566"/>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数据库</a:t>
              </a:r>
              <a:endParaRPr lang="zh-CN" altLang="en-US" sz="1800" dirty="0"/>
            </a:p>
          </p:txBody>
        </p:sp>
        <p:sp>
          <p:nvSpPr>
            <p:cNvPr id="144401" name="Rectangle 46"/>
            <p:cNvSpPr/>
            <p:nvPr/>
          </p:nvSpPr>
          <p:spPr>
            <a:xfrm>
              <a:off x="0" y="566"/>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44402" name="Line 47"/>
            <p:cNvSpPr/>
            <p:nvPr/>
          </p:nvSpPr>
          <p:spPr>
            <a:xfrm>
              <a:off x="0" y="336"/>
              <a:ext cx="2160" cy="0"/>
            </a:xfrm>
            <a:prstGeom prst="line">
              <a:avLst/>
            </a:prstGeom>
            <a:ln w="28575" cap="sq" cmpd="sng">
              <a:solidFill>
                <a:schemeClr val="tx1"/>
              </a:solidFill>
              <a:prstDash val="solid"/>
              <a:headEnd type="none" w="med" len="med"/>
              <a:tailEnd type="none" w="med" len="med"/>
            </a:ln>
          </p:spPr>
        </p:sp>
        <p:sp>
          <p:nvSpPr>
            <p:cNvPr id="144403" name="Line 48"/>
            <p:cNvSpPr/>
            <p:nvPr/>
          </p:nvSpPr>
          <p:spPr>
            <a:xfrm>
              <a:off x="0" y="835"/>
              <a:ext cx="2160" cy="0"/>
            </a:xfrm>
            <a:prstGeom prst="line">
              <a:avLst/>
            </a:prstGeom>
            <a:ln w="12700" cap="flat" cmpd="sng">
              <a:solidFill>
                <a:schemeClr val="tx1"/>
              </a:solidFill>
              <a:prstDash val="solid"/>
              <a:headEnd type="none" w="med" len="med"/>
              <a:tailEnd type="none" w="med" len="med"/>
            </a:ln>
          </p:spPr>
        </p:sp>
        <p:sp>
          <p:nvSpPr>
            <p:cNvPr id="144404" name="Line 49"/>
            <p:cNvSpPr/>
            <p:nvPr/>
          </p:nvSpPr>
          <p:spPr>
            <a:xfrm>
              <a:off x="0" y="1065"/>
              <a:ext cx="2160" cy="0"/>
            </a:xfrm>
            <a:prstGeom prst="line">
              <a:avLst/>
            </a:prstGeom>
            <a:ln w="28575" cap="sq" cmpd="sng">
              <a:solidFill>
                <a:schemeClr val="tx1"/>
              </a:solidFill>
              <a:prstDash val="solid"/>
              <a:headEnd type="none" w="med" len="med"/>
              <a:tailEnd type="none" w="med" len="med"/>
            </a:ln>
          </p:spPr>
        </p:sp>
        <p:sp>
          <p:nvSpPr>
            <p:cNvPr id="144405" name="Line 50"/>
            <p:cNvSpPr/>
            <p:nvPr/>
          </p:nvSpPr>
          <p:spPr>
            <a:xfrm>
              <a:off x="0" y="336"/>
              <a:ext cx="0" cy="729"/>
            </a:xfrm>
            <a:prstGeom prst="line">
              <a:avLst/>
            </a:prstGeom>
            <a:ln w="28575" cap="sq" cmpd="sng">
              <a:solidFill>
                <a:schemeClr val="tx1"/>
              </a:solidFill>
              <a:prstDash val="solid"/>
              <a:headEnd type="none" w="med" len="med"/>
              <a:tailEnd type="none" w="med" len="med"/>
            </a:ln>
          </p:spPr>
        </p:sp>
        <p:sp>
          <p:nvSpPr>
            <p:cNvPr id="144406" name="Line 51"/>
            <p:cNvSpPr/>
            <p:nvPr/>
          </p:nvSpPr>
          <p:spPr>
            <a:xfrm>
              <a:off x="657" y="336"/>
              <a:ext cx="0" cy="729"/>
            </a:xfrm>
            <a:prstGeom prst="line">
              <a:avLst/>
            </a:prstGeom>
            <a:ln w="12700" cap="flat" cmpd="sng">
              <a:solidFill>
                <a:schemeClr val="tx1"/>
              </a:solidFill>
              <a:prstDash val="solid"/>
              <a:headEnd type="none" w="med" len="med"/>
              <a:tailEnd type="none" w="med" len="med"/>
            </a:ln>
          </p:spPr>
        </p:sp>
        <p:sp>
          <p:nvSpPr>
            <p:cNvPr id="144407" name="Line 52"/>
            <p:cNvSpPr/>
            <p:nvPr/>
          </p:nvSpPr>
          <p:spPr>
            <a:xfrm>
              <a:off x="1456" y="336"/>
              <a:ext cx="0" cy="729"/>
            </a:xfrm>
            <a:prstGeom prst="line">
              <a:avLst/>
            </a:prstGeom>
            <a:ln w="12700" cap="flat" cmpd="sng">
              <a:solidFill>
                <a:schemeClr val="tx1"/>
              </a:solidFill>
              <a:prstDash val="solid"/>
              <a:headEnd type="none" w="med" len="med"/>
              <a:tailEnd type="none" w="med" len="med"/>
            </a:ln>
          </p:spPr>
        </p:sp>
        <p:sp>
          <p:nvSpPr>
            <p:cNvPr id="144408" name="Line 53"/>
            <p:cNvSpPr/>
            <p:nvPr/>
          </p:nvSpPr>
          <p:spPr>
            <a:xfrm>
              <a:off x="2160" y="336"/>
              <a:ext cx="0" cy="499"/>
            </a:xfrm>
            <a:prstGeom prst="line">
              <a:avLst/>
            </a:prstGeom>
            <a:ln w="12700" cap="flat" cmpd="sng">
              <a:solidFill>
                <a:schemeClr val="tx1"/>
              </a:solidFill>
              <a:prstDash val="solid"/>
              <a:headEnd type="none" w="med" len="med"/>
              <a:tailEnd type="none" w="med" len="med"/>
            </a:ln>
          </p:spPr>
        </p:sp>
        <p:sp>
          <p:nvSpPr>
            <p:cNvPr id="144409" name="Line 54"/>
            <p:cNvSpPr/>
            <p:nvPr/>
          </p:nvSpPr>
          <p:spPr>
            <a:xfrm>
              <a:off x="2160" y="835"/>
              <a:ext cx="0" cy="230"/>
            </a:xfrm>
            <a:prstGeom prst="line">
              <a:avLst/>
            </a:prstGeom>
            <a:ln w="28575" cap="sq" cmpd="sng">
              <a:solidFill>
                <a:schemeClr val="tx1"/>
              </a:solidFill>
              <a:prstDash val="solid"/>
              <a:headEnd type="none" w="med" len="med"/>
              <a:tailEnd type="none" w="med" len="med"/>
            </a:ln>
          </p:spPr>
        </p:sp>
        <p:sp>
          <p:nvSpPr>
            <p:cNvPr id="144410" name="Line 55"/>
            <p:cNvSpPr/>
            <p:nvPr/>
          </p:nvSpPr>
          <p:spPr>
            <a:xfrm>
              <a:off x="0" y="566"/>
              <a:ext cx="2160" cy="0"/>
            </a:xfrm>
            <a:prstGeom prst="line">
              <a:avLst/>
            </a:prstGeom>
            <a:ln w="12700" cap="flat" cmpd="sng">
              <a:solidFill>
                <a:schemeClr val="tx1"/>
              </a:solidFill>
              <a:prstDash val="solid"/>
              <a:headEnd type="none" w="med" len="med"/>
              <a:tailEnd type="none" w="med" len="med"/>
            </a:ln>
          </p:spPr>
        </p:sp>
      </p:grpSp>
      <p:sp>
        <p:nvSpPr>
          <p:cNvPr id="144387" name="Text Box 30"/>
          <p:cNvSpPr txBox="1"/>
          <p:nvPr/>
        </p:nvSpPr>
        <p:spPr>
          <a:xfrm>
            <a:off x="479425" y="1433513"/>
            <a:ext cx="7935913" cy="10874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4</a:t>
            </a:r>
            <a:r>
              <a:rPr lang="zh-CN" altLang="en-US" sz="2400" dirty="0">
                <a:solidFill>
                  <a:srgbClr val="0000CC"/>
                </a:solidFill>
                <a:latin typeface="宋体" panose="02010600030101010101" pitchFamily="2" charset="-122"/>
              </a:rPr>
              <a:t>、课程表</a:t>
            </a:r>
            <a:r>
              <a:rPr lang="en-US" altLang="zh-CN" sz="2400" dirty="0">
                <a:solidFill>
                  <a:srgbClr val="0000CC"/>
                </a:solidFill>
                <a:latin typeface="宋体" panose="02010600030101010101" pitchFamily="2" charset="-122"/>
              </a:rPr>
              <a:t>-C</a:t>
            </a:r>
            <a:r>
              <a:rPr lang="zh-CN" altLang="en-US" sz="2400" dirty="0">
                <a:solidFill>
                  <a:srgbClr val="0000CC"/>
                </a:solidFill>
                <a:latin typeface="宋体" panose="02010600030101010101" pitchFamily="2" charset="-122"/>
              </a:rPr>
              <a:t>：用关系代数和</a:t>
            </a:r>
            <a:r>
              <a:rPr lang="en-US" altLang="zh-CN" sz="2400" dirty="0">
                <a:solidFill>
                  <a:srgbClr val="0000CC"/>
                </a:solidFill>
                <a:latin typeface="宋体" panose="02010600030101010101" pitchFamily="2" charset="-122"/>
              </a:rPr>
              <a:t>SQL</a:t>
            </a:r>
            <a:r>
              <a:rPr lang="zh-CN" altLang="zh-CN" sz="2400" dirty="0">
                <a:solidFill>
                  <a:srgbClr val="0000CC"/>
                </a:solidFill>
                <a:latin typeface="宋体" panose="02010600030101010101" pitchFamily="2" charset="-122"/>
              </a:rPr>
              <a:t>语句检索学分大于等于</a:t>
            </a:r>
            <a:r>
              <a:rPr lang="en-US" altLang="zh-CN" sz="2400" dirty="0">
                <a:solidFill>
                  <a:srgbClr val="0000CC"/>
                </a:solidFill>
                <a:latin typeface="宋体" panose="02010600030101010101" pitchFamily="2" charset="-122"/>
              </a:rPr>
              <a:t>3</a:t>
            </a:r>
            <a:r>
              <a:rPr lang="zh-CN" altLang="en-US" sz="2400" dirty="0">
                <a:solidFill>
                  <a:srgbClr val="0000CC"/>
                </a:solidFill>
                <a:latin typeface="宋体" panose="02010600030101010101" pitchFamily="2" charset="-122"/>
              </a:rPr>
              <a:t>的课程的课程号和课程名</a:t>
            </a:r>
            <a:endParaRPr lang="zh-CN" altLang="en-US" sz="2400" dirty="0">
              <a:solidFill>
                <a:srgbClr val="0000CC"/>
              </a:solidFill>
              <a:latin typeface="宋体" panose="02010600030101010101" pitchFamily="2" charset="-122"/>
            </a:endParaRPr>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22905" name="Rectangle 84"/>
          <p:cNvSpPr/>
          <p:nvPr/>
        </p:nvSpPr>
        <p:spPr>
          <a:xfrm>
            <a:off x="595313" y="4286250"/>
            <a:ext cx="3714750"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solidFill>
                  <a:schemeClr val="accent2"/>
                </a:solidFill>
              </a:rPr>
              <a:t>π</a:t>
            </a:r>
            <a:r>
              <a:rPr lang="zh-CN" altLang="en-US" sz="2600" baseline="-25000" dirty="0">
                <a:solidFill>
                  <a:schemeClr val="accent2"/>
                </a:solidFill>
              </a:rPr>
              <a:t>cid，cname</a:t>
            </a:r>
            <a:r>
              <a:rPr lang="zh-CN" altLang="en-US" sz="2600" dirty="0"/>
              <a:t>(</a:t>
            </a:r>
            <a:r>
              <a:rPr lang="zh-CN" altLang="en-US" sz="2800" dirty="0">
                <a:solidFill>
                  <a:srgbClr val="FF0066"/>
                </a:solidFill>
              </a:rPr>
              <a:t>σ</a:t>
            </a:r>
            <a:r>
              <a:rPr lang="zh-CN" altLang="en-US" sz="2800" baseline="-25000" dirty="0">
                <a:solidFill>
                  <a:srgbClr val="FF0066"/>
                </a:solidFill>
              </a:rPr>
              <a:t>credit&gt;=3</a:t>
            </a:r>
            <a:r>
              <a:rPr lang="zh-CN" altLang="en-US" sz="2800" dirty="0"/>
              <a:t>(</a:t>
            </a:r>
            <a:r>
              <a:rPr lang="zh-CN" altLang="en-US" sz="2800" dirty="0">
                <a:solidFill>
                  <a:srgbClr val="006600"/>
                </a:solidFill>
              </a:rPr>
              <a:t>C</a:t>
            </a:r>
            <a:r>
              <a:rPr lang="zh-CN" altLang="en-US" sz="2800" dirty="0"/>
              <a:t>)</a:t>
            </a:r>
            <a:r>
              <a:rPr lang="zh-CN" altLang="en-US" sz="2600" dirty="0"/>
              <a:t> )</a:t>
            </a:r>
            <a:endParaRPr lang="de-DE" altLang="en-US" sz="2600" dirty="0"/>
          </a:p>
        </p:txBody>
      </p:sp>
      <p:sp>
        <p:nvSpPr>
          <p:cNvPr id="119874" name="Text Box 79"/>
          <p:cNvSpPr txBox="1"/>
          <p:nvPr/>
        </p:nvSpPr>
        <p:spPr>
          <a:xfrm>
            <a:off x="601663" y="5091113"/>
            <a:ext cx="7691437" cy="9763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400" dirty="0">
                <a:solidFill>
                  <a:srgbClr val="0000CC"/>
                </a:solidFill>
                <a:latin typeface="宋体" panose="02010600030101010101" pitchFamily="2" charset="-122"/>
              </a:rPr>
              <a:t>SQL</a:t>
            </a:r>
            <a:r>
              <a:rPr lang="zh-CN" altLang="en-US" sz="2400" dirty="0">
                <a:solidFill>
                  <a:srgbClr val="0000CC"/>
                </a:solidFill>
                <a:latin typeface="宋体" panose="02010600030101010101" pitchFamily="2" charset="-122"/>
              </a:rPr>
              <a:t>语句：</a:t>
            </a:r>
            <a:endParaRPr lang="zh-CN" altLang="en-US" sz="2400" dirty="0">
              <a:solidFill>
                <a:srgbClr val="0000CC"/>
              </a:solidFill>
              <a:latin typeface="宋体" panose="02010600030101010101" pitchFamily="2" charset="-122"/>
            </a:endParaRPr>
          </a:p>
          <a:p>
            <a:pPr marL="0" lvl="0" indent="0" eaLnBrk="1" hangingPunct="1">
              <a:lnSpc>
                <a:spcPct val="110000"/>
              </a:lnSpc>
              <a:spcBef>
                <a:spcPts val="300"/>
              </a:spcBef>
              <a:buClrTx/>
              <a:buSzTx/>
              <a:buFont typeface="Arial" panose="020B0604020202020204" pitchFamily="34" charset="0"/>
              <a:buNone/>
            </a:pPr>
            <a:r>
              <a:rPr lang="en-US" altLang="zh-CN" sz="2600" dirty="0">
                <a:solidFill>
                  <a:srgbClr val="0000CC"/>
                </a:solidFill>
                <a:latin typeface="宋体" panose="02010600030101010101" pitchFamily="2" charset="-122"/>
              </a:rPr>
              <a:t>Select cid,cname </a:t>
            </a:r>
            <a:r>
              <a:rPr lang="en-US" altLang="zh-CN" sz="2600" dirty="0">
                <a:solidFill>
                  <a:srgbClr val="006600"/>
                </a:solidFill>
                <a:latin typeface="宋体" panose="02010600030101010101" pitchFamily="2" charset="-122"/>
              </a:rPr>
              <a:t>from C</a:t>
            </a:r>
            <a:r>
              <a:rPr lang="en-US" altLang="zh-CN" sz="2600" dirty="0">
                <a:solidFill>
                  <a:srgbClr val="0000CC"/>
                </a:solidFill>
                <a:latin typeface="宋体" panose="02010600030101010101" pitchFamily="2" charset="-122"/>
              </a:rPr>
              <a:t> </a:t>
            </a:r>
            <a:r>
              <a:rPr lang="en-US" altLang="zh-CN" sz="2600" dirty="0">
                <a:solidFill>
                  <a:srgbClr val="FF0066"/>
                </a:solidFill>
                <a:latin typeface="宋体" panose="02010600030101010101" pitchFamily="2" charset="-122"/>
              </a:rPr>
              <a:t>where credit&gt;=3</a:t>
            </a:r>
            <a:r>
              <a:rPr lang="en-US" altLang="zh-CN" sz="2400" dirty="0">
                <a:solidFill>
                  <a:srgbClr val="0000CC"/>
                </a:solidFill>
                <a:latin typeface="宋体" panose="02010600030101010101" pitchFamily="2" charset="-122"/>
              </a:rPr>
              <a:t> </a:t>
            </a:r>
            <a:endParaRPr lang="de-DE" altLang="en-US" sz="2400" dirty="0">
              <a:solidFill>
                <a:srgbClr val="0000CC"/>
              </a:solidFill>
              <a:latin typeface="宋体" panose="02010600030101010101" pitchFamily="2" charset="-122"/>
            </a:endParaRPr>
          </a:p>
        </p:txBody>
      </p:sp>
      <p:sp>
        <p:nvSpPr>
          <p:cNvPr id="14439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5"/>
                                        </p:tgtEl>
                                        <p:attrNameLst>
                                          <p:attrName>style.visibility</p:attrName>
                                        </p:attrNameLst>
                                      </p:cBhvr>
                                      <p:to>
                                        <p:strVal val="visible"/>
                                      </p:to>
                                    </p:set>
                                    <p:anim calcmode="lin" valueType="num">
                                      <p:cBhvr additive="base">
                                        <p:cTn id="7" dur="500" fill="hold"/>
                                        <p:tgtEl>
                                          <p:spTgt spid="122905"/>
                                        </p:tgtEl>
                                        <p:attrNameLst>
                                          <p:attrName>ppt_x</p:attrName>
                                        </p:attrNameLst>
                                      </p:cBhvr>
                                      <p:tavLst>
                                        <p:tav tm="0">
                                          <p:val>
                                            <p:strVal val="#ppt_x"/>
                                          </p:val>
                                        </p:tav>
                                        <p:tav tm="100000">
                                          <p:val>
                                            <p:strVal val="#ppt_x"/>
                                          </p:val>
                                        </p:tav>
                                      </p:tavLst>
                                    </p:anim>
                                    <p:anim calcmode="lin" valueType="num">
                                      <p:cBhvr additive="base">
                                        <p:cTn id="8" dur="500" fill="hold"/>
                                        <p:tgtEl>
                                          <p:spTgt spid="1229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74"/>
                                        </p:tgtEl>
                                        <p:attrNameLst>
                                          <p:attrName>style.visibility</p:attrName>
                                        </p:attrNameLst>
                                      </p:cBhvr>
                                      <p:to>
                                        <p:strVal val="visible"/>
                                      </p:to>
                                    </p:set>
                                    <p:anim calcmode="lin" valueType="num">
                                      <p:cBhvr additive="base">
                                        <p:cTn id="13" dur="500" fill="hold"/>
                                        <p:tgtEl>
                                          <p:spTgt spid="119874"/>
                                        </p:tgtEl>
                                        <p:attrNameLst>
                                          <p:attrName>ppt_x</p:attrName>
                                        </p:attrNameLst>
                                      </p:cBhvr>
                                      <p:tavLst>
                                        <p:tav tm="0">
                                          <p:val>
                                            <p:strVal val="#ppt_x"/>
                                          </p:val>
                                        </p:tav>
                                        <p:tav tm="100000">
                                          <p:val>
                                            <p:strVal val="#ppt_x"/>
                                          </p:val>
                                        </p:tav>
                                      </p:tavLst>
                                    </p:anim>
                                    <p:anim calcmode="lin" valueType="num">
                                      <p:cBhvr additive="base">
                                        <p:cTn id="14" dur="500" fill="hold"/>
                                        <p:tgtEl>
                                          <p:spTgt spid="1198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5" grpId="0"/>
      <p:bldP spid="119874" grpId="0" bldLvl="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10" name="Text Box 30"/>
          <p:cNvSpPr txBox="1"/>
          <p:nvPr/>
        </p:nvSpPr>
        <p:spPr>
          <a:xfrm>
            <a:off x="479425" y="1262063"/>
            <a:ext cx="7935913"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5</a:t>
            </a:r>
            <a:r>
              <a:rPr lang="zh-CN" altLang="en-US" sz="2400" dirty="0">
                <a:solidFill>
                  <a:srgbClr val="0000CC"/>
                </a:solidFill>
                <a:latin typeface="宋体" panose="02010600030101010101" pitchFamily="2" charset="-122"/>
              </a:rPr>
              <a:t>、设有如下</a:t>
            </a:r>
            <a:r>
              <a:rPr lang="en-US" altLang="zh-CN" sz="2400" dirty="0">
                <a:solidFill>
                  <a:srgbClr val="0000CC"/>
                </a:solidFill>
                <a:latin typeface="宋体" panose="02010600030101010101" pitchFamily="2" charset="-122"/>
              </a:rPr>
              <a:t>2</a:t>
            </a:r>
            <a:r>
              <a:rPr lang="zh-CN" altLang="en-US" sz="2400" dirty="0">
                <a:solidFill>
                  <a:srgbClr val="0000CC"/>
                </a:solidFill>
                <a:latin typeface="宋体" panose="02010600030101010101" pitchFamily="2" charset="-122"/>
              </a:rPr>
              <a:t>个关系：</a:t>
            </a:r>
            <a:endParaRPr lang="zh-CN" altLang="en-US" sz="2400" dirty="0">
              <a:solidFill>
                <a:srgbClr val="0000CC"/>
              </a:solidFill>
              <a:latin typeface="宋体" panose="02010600030101010101" pitchFamily="2" charset="-122"/>
            </a:endParaRPr>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3" name="文本框 2"/>
          <p:cNvSpPr txBox="1"/>
          <p:nvPr/>
        </p:nvSpPr>
        <p:spPr>
          <a:xfrm>
            <a:off x="484188" y="1851025"/>
            <a:ext cx="5495925" cy="1138238"/>
          </a:xfrm>
          <a:prstGeom prst="rect">
            <a:avLst/>
          </a:prstGeom>
          <a:noFill/>
        </p:spPr>
        <p:txBody>
          <a:bodyPr wrap="none">
            <a:spAutoFit/>
          </a:bodyPr>
          <a:lstStyle/>
          <a:p>
            <a:pPr marL="457200" marR="0" lvl="1" indent="0" algn="l" defTabSz="914400" rtl="0" eaLnBrk="1" fontAlgn="base" latinLnBrk="0" hangingPunct="1">
              <a:lnSpc>
                <a:spcPct val="100000"/>
              </a:lnSpc>
              <a:spcBef>
                <a:spcPct val="20000"/>
              </a:spcBef>
              <a:spcAft>
                <a:spcPct val="0"/>
              </a:spcAft>
              <a:buClr>
                <a:schemeClr val="accent2"/>
              </a:buClr>
              <a:buSzPct val="70000"/>
              <a:buFont typeface="Arial" panose="020B0604020202020204" pitchFamily="34" charset="0"/>
              <a:buNone/>
              <a:defRPr/>
            </a:pP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Sid</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学号</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Sname</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姓名</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 Age</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年龄</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),Sex(</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性别</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endParaRPr>
          </a:p>
          <a:p>
            <a:pPr marL="0" marR="0" lvl="1" indent="0" algn="l" defTabSz="914400" rtl="0" eaLnBrk="1" fontAlgn="base" latinLnBrk="0" hangingPunct="1">
              <a:lnSpc>
                <a:spcPct val="100000"/>
              </a:lnSpc>
              <a:spcBef>
                <a:spcPct val="20000"/>
              </a:spcBef>
              <a:spcAft>
                <a:spcPct val="0"/>
              </a:spcAft>
              <a:buClr>
                <a:schemeClr val="accent2"/>
              </a:buClr>
              <a:buSzPct val="70000"/>
              <a:buFont typeface="Arial" panose="020B0604020202020204" pitchFamily="34" charset="0"/>
              <a:buNone/>
              <a:defRPr/>
            </a:pP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       C(</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Cid(</a:t>
            </a:r>
            <a:r>
              <a:rPr kumimoji="0" lang="zh-CN" altLang="en-US"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课程号</a:t>
            </a:r>
            <a:r>
              <a:rPr kumimoji="0" lang="en-US" altLang="zh-CN" sz="2000" b="1" i="0" u="sng"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,Cname(</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课程名</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 </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Teacher(</a:t>
            </a:r>
            <a:r>
              <a:rPr kumimoji="0" lang="zh-CN" altLang="en-US"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教师</a:t>
            </a:r>
            <a:r>
              <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rPr>
              <a:t>))</a:t>
            </a:r>
            <a:endParaRPr kumimoji="0" lang="en-US" altLang="zh-CN" sz="2000" b="1" i="0" u="none" strike="noStrike" kern="1200" cap="none" spc="0" normalizeH="0" baseline="0" noProof="0" dirty="0">
              <a:ln>
                <a:noFill/>
              </a:ln>
              <a:solidFill>
                <a:schemeClr val="tx1"/>
              </a:solidFill>
              <a:effectLst/>
              <a:uLnTx/>
              <a:uFillTx/>
              <a:latin typeface="华文楷体" panose="02010600040101010101" pitchFamily="2" charset="-122"/>
              <a:ea typeface="宋体" panose="02010600030101010101" pitchFamily="2" charset="-122"/>
              <a:cs typeface="+mn-cs"/>
              <a:sym typeface="+mn-ea"/>
            </a:endParaRPr>
          </a:p>
          <a:p>
            <a:pPr marL="457200" marR="0" lvl="1" indent="0" algn="l" defTabSz="914400" rtl="0" eaLnBrk="1" fontAlgn="base" latinLnBrk="0" hangingPunct="1">
              <a:lnSpc>
                <a:spcPct val="100000"/>
              </a:lnSpc>
              <a:spcBef>
                <a:spcPct val="20000"/>
              </a:spcBef>
              <a:spcAft>
                <a:spcPct val="0"/>
              </a:spcAft>
              <a:buClr>
                <a:schemeClr val="accent2"/>
              </a:buClr>
              <a:buSzPct val="70000"/>
              <a:buFont typeface="Arial" panose="020B0604020202020204" pitchFamily="34" charset="0"/>
              <a:buNone/>
              <a:defRPr/>
            </a:pP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5413" name="文本框 5"/>
          <p:cNvSpPr txBox="1"/>
          <p:nvPr/>
        </p:nvSpPr>
        <p:spPr>
          <a:xfrm>
            <a:off x="896938" y="2571750"/>
            <a:ext cx="7102475" cy="527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0033CC"/>
                </a:solidFill>
                <a:latin typeface="华文楷体" panose="02010600040101010101" pitchFamily="2" charset="-122"/>
                <a:sym typeface="+mn-ea"/>
              </a:rPr>
              <a:t>试用关系代数表达式表达下列查询，并写出</a:t>
            </a:r>
            <a:r>
              <a:rPr lang="en-US" altLang="zh-CN" sz="2100" dirty="0">
                <a:solidFill>
                  <a:srgbClr val="0033CC"/>
                </a:solidFill>
                <a:latin typeface="华文楷体" panose="02010600040101010101" pitchFamily="2" charset="-122"/>
                <a:sym typeface="+mn-ea"/>
              </a:rPr>
              <a:t>SQL</a:t>
            </a:r>
            <a:r>
              <a:rPr lang="zh-CN" altLang="en-US" sz="2100" dirty="0">
                <a:solidFill>
                  <a:srgbClr val="0033CC"/>
                </a:solidFill>
                <a:latin typeface="华文楷体" panose="02010600040101010101" pitchFamily="2" charset="-122"/>
                <a:sym typeface="+mn-ea"/>
              </a:rPr>
              <a:t>查询语句。</a:t>
            </a:r>
            <a:endParaRPr lang="en-US" altLang="zh-CN" sz="2100" dirty="0">
              <a:solidFill>
                <a:srgbClr val="0033CC"/>
              </a:solidFill>
              <a:latin typeface="华文楷体" panose="02010600040101010101" pitchFamily="2" charset="-122"/>
              <a:sym typeface="+mn-ea"/>
            </a:endParaRPr>
          </a:p>
        </p:txBody>
      </p:sp>
      <p:sp>
        <p:nvSpPr>
          <p:cNvPr id="145414" name="文本框 6"/>
          <p:cNvSpPr txBox="1"/>
          <p:nvPr/>
        </p:nvSpPr>
        <p:spPr>
          <a:xfrm>
            <a:off x="896938" y="3041650"/>
            <a:ext cx="5837237" cy="527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0033CC"/>
                </a:solidFill>
                <a:latin typeface="华文楷体" panose="02010600040101010101" pitchFamily="2" charset="-122"/>
                <a:sym typeface="+mn-ea"/>
              </a:rPr>
              <a:t>（</a:t>
            </a:r>
            <a:r>
              <a:rPr lang="en-US" altLang="zh-CN" sz="2100" dirty="0">
                <a:solidFill>
                  <a:srgbClr val="0033CC"/>
                </a:solidFill>
                <a:latin typeface="华文楷体" panose="02010600040101010101" pitchFamily="2" charset="-122"/>
                <a:sym typeface="+mn-ea"/>
              </a:rPr>
              <a:t>1</a:t>
            </a:r>
            <a:r>
              <a:rPr lang="zh-CN" altLang="en-US" sz="2100" dirty="0">
                <a:solidFill>
                  <a:srgbClr val="0033CC"/>
                </a:solidFill>
                <a:latin typeface="华文楷体" panose="02010600040101010101" pitchFamily="2" charset="-122"/>
                <a:sym typeface="+mn-ea"/>
              </a:rPr>
              <a:t>）检索</a:t>
            </a:r>
            <a:r>
              <a:rPr lang="en-US" altLang="zh-CN" sz="2100" dirty="0">
                <a:solidFill>
                  <a:srgbClr val="0033CC"/>
                </a:solidFill>
                <a:latin typeface="华文楷体" panose="02010600040101010101" pitchFamily="2" charset="-122"/>
                <a:sym typeface="+mn-ea"/>
              </a:rPr>
              <a:t>LIU</a:t>
            </a:r>
            <a:r>
              <a:rPr lang="zh-CN" altLang="en-US" sz="2100" dirty="0">
                <a:solidFill>
                  <a:srgbClr val="0033CC"/>
                </a:solidFill>
                <a:latin typeface="华文楷体" panose="02010600040101010101" pitchFamily="2" charset="-122"/>
                <a:sym typeface="+mn-ea"/>
              </a:rPr>
              <a:t>老师所授课程的课程号和课程名。</a:t>
            </a:r>
            <a:endParaRPr lang="zh-CN" altLang="en-US" sz="2100" dirty="0">
              <a:solidFill>
                <a:srgbClr val="0033CC"/>
              </a:solidFill>
              <a:latin typeface="华文楷体" panose="02010600040101010101" pitchFamily="2" charset="-122"/>
              <a:sym typeface="+mn-ea"/>
            </a:endParaRPr>
          </a:p>
        </p:txBody>
      </p:sp>
      <p:sp>
        <p:nvSpPr>
          <p:cNvPr id="145415" name="文本框 7"/>
          <p:cNvSpPr txBox="1"/>
          <p:nvPr/>
        </p:nvSpPr>
        <p:spPr>
          <a:xfrm>
            <a:off x="896938" y="4505325"/>
            <a:ext cx="5919787" cy="5270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100" dirty="0">
                <a:solidFill>
                  <a:srgbClr val="0033CC"/>
                </a:solidFill>
                <a:latin typeface="华文楷体" panose="02010600040101010101" pitchFamily="2" charset="-122"/>
                <a:sym typeface="+mn-ea"/>
              </a:rPr>
              <a:t>（</a:t>
            </a:r>
            <a:r>
              <a:rPr lang="en-US" altLang="zh-CN" sz="2100" dirty="0">
                <a:solidFill>
                  <a:srgbClr val="0033CC"/>
                </a:solidFill>
                <a:latin typeface="华文楷体" panose="02010600040101010101" pitchFamily="2" charset="-122"/>
                <a:sym typeface="+mn-ea"/>
              </a:rPr>
              <a:t>2</a:t>
            </a:r>
            <a:r>
              <a:rPr lang="zh-CN" altLang="en-US" sz="2100" dirty="0">
                <a:solidFill>
                  <a:srgbClr val="0033CC"/>
                </a:solidFill>
                <a:latin typeface="华文楷体" panose="02010600040101010101" pitchFamily="2" charset="-122"/>
                <a:sym typeface="+mn-ea"/>
              </a:rPr>
              <a:t>）检索年龄大于</a:t>
            </a:r>
            <a:r>
              <a:rPr lang="en-US" altLang="zh-CN" sz="2100" dirty="0">
                <a:solidFill>
                  <a:srgbClr val="0033CC"/>
                </a:solidFill>
                <a:latin typeface="华文楷体" panose="02010600040101010101" pitchFamily="2" charset="-122"/>
                <a:sym typeface="+mn-ea"/>
              </a:rPr>
              <a:t>23</a:t>
            </a:r>
            <a:r>
              <a:rPr lang="zh-CN" altLang="en-US" sz="2100" dirty="0">
                <a:solidFill>
                  <a:srgbClr val="0033CC"/>
                </a:solidFill>
                <a:latin typeface="华文楷体" panose="02010600040101010101" pitchFamily="2" charset="-122"/>
                <a:sym typeface="+mn-ea"/>
              </a:rPr>
              <a:t>岁的男学生的学号和姓名。</a:t>
            </a:r>
            <a:endParaRPr lang="zh-CN" altLang="en-US" sz="2100" dirty="0">
              <a:solidFill>
                <a:srgbClr val="0033CC"/>
              </a:solidFill>
              <a:latin typeface="华文楷体" panose="02010600040101010101" pitchFamily="2" charset="-122"/>
              <a:sym typeface="+mn-ea"/>
            </a:endParaRPr>
          </a:p>
        </p:txBody>
      </p:sp>
      <p:sp>
        <p:nvSpPr>
          <p:cNvPr id="122905" name="Rectangle 84"/>
          <p:cNvSpPr/>
          <p:nvPr/>
        </p:nvSpPr>
        <p:spPr>
          <a:xfrm>
            <a:off x="1123950" y="3311525"/>
            <a:ext cx="4138613"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solidFill>
                  <a:schemeClr val="accent2"/>
                </a:solidFill>
              </a:rPr>
              <a:t>π</a:t>
            </a:r>
            <a:r>
              <a:rPr lang="zh-CN" altLang="en-US" sz="2600" baseline="-25000" dirty="0">
                <a:solidFill>
                  <a:schemeClr val="accent2"/>
                </a:solidFill>
              </a:rPr>
              <a:t>cid，cname</a:t>
            </a:r>
            <a:r>
              <a:rPr lang="zh-CN" altLang="en-US" sz="2600" dirty="0"/>
              <a:t>(</a:t>
            </a:r>
            <a:r>
              <a:rPr lang="zh-CN" altLang="en-US" sz="2800" dirty="0">
                <a:solidFill>
                  <a:srgbClr val="FF0066"/>
                </a:solidFill>
              </a:rPr>
              <a:t>σ</a:t>
            </a:r>
            <a:r>
              <a:rPr lang="en-US" altLang="zh-CN" sz="2800" baseline="-25000" dirty="0">
                <a:solidFill>
                  <a:srgbClr val="FF0066"/>
                </a:solidFill>
              </a:rPr>
              <a:t>Teacher='Liu'</a:t>
            </a:r>
            <a:r>
              <a:rPr lang="zh-CN" altLang="en-US" sz="2800" dirty="0"/>
              <a:t>(</a:t>
            </a:r>
            <a:r>
              <a:rPr lang="zh-CN" altLang="en-US" sz="2800" dirty="0">
                <a:solidFill>
                  <a:srgbClr val="006600"/>
                </a:solidFill>
              </a:rPr>
              <a:t>C</a:t>
            </a:r>
            <a:r>
              <a:rPr lang="zh-CN" altLang="en-US" sz="2800" dirty="0"/>
              <a:t>)</a:t>
            </a:r>
            <a:r>
              <a:rPr lang="zh-CN" altLang="en-US" sz="2600" dirty="0"/>
              <a:t> )</a:t>
            </a:r>
            <a:endParaRPr lang="de-DE" altLang="en-US" sz="2600" dirty="0"/>
          </a:p>
        </p:txBody>
      </p:sp>
      <p:sp>
        <p:nvSpPr>
          <p:cNvPr id="119874" name="Text Box 79"/>
          <p:cNvSpPr txBox="1"/>
          <p:nvPr/>
        </p:nvSpPr>
        <p:spPr>
          <a:xfrm>
            <a:off x="1123950" y="3979863"/>
            <a:ext cx="7691438" cy="4968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100" dirty="0">
                <a:solidFill>
                  <a:srgbClr val="0000CC"/>
                </a:solidFill>
                <a:latin typeface="宋体" panose="02010600030101010101" pitchFamily="2" charset="-122"/>
              </a:rPr>
              <a:t>Select cid,cname </a:t>
            </a:r>
            <a:r>
              <a:rPr lang="en-US" altLang="zh-CN" sz="2100" dirty="0">
                <a:solidFill>
                  <a:srgbClr val="006600"/>
                </a:solidFill>
                <a:latin typeface="宋体" panose="02010600030101010101" pitchFamily="2" charset="-122"/>
              </a:rPr>
              <a:t>from C</a:t>
            </a:r>
            <a:r>
              <a:rPr lang="en-US" altLang="zh-CN" sz="2100" dirty="0">
                <a:solidFill>
                  <a:srgbClr val="0000CC"/>
                </a:solidFill>
                <a:latin typeface="宋体" panose="02010600030101010101" pitchFamily="2" charset="-122"/>
              </a:rPr>
              <a:t> </a:t>
            </a:r>
            <a:r>
              <a:rPr lang="en-US" altLang="zh-CN" sz="2100" dirty="0">
                <a:solidFill>
                  <a:srgbClr val="FF0066"/>
                </a:solidFill>
                <a:latin typeface="宋体" panose="02010600030101010101" pitchFamily="2" charset="-122"/>
              </a:rPr>
              <a:t>where Teacher='LIU'</a:t>
            </a:r>
            <a:r>
              <a:rPr lang="en-US" altLang="zh-CN" sz="2400" dirty="0">
                <a:solidFill>
                  <a:srgbClr val="0000CC"/>
                </a:solidFill>
                <a:latin typeface="宋体" panose="02010600030101010101" pitchFamily="2" charset="-122"/>
              </a:rPr>
              <a:t> </a:t>
            </a:r>
            <a:endParaRPr lang="de-DE" altLang="en-US" sz="2400" dirty="0">
              <a:solidFill>
                <a:srgbClr val="0000CC"/>
              </a:solidFill>
              <a:latin typeface="宋体" panose="02010600030101010101" pitchFamily="2" charset="-122"/>
            </a:endParaRPr>
          </a:p>
        </p:txBody>
      </p:sp>
      <p:sp>
        <p:nvSpPr>
          <p:cNvPr id="11" name="Rectangle 84"/>
          <p:cNvSpPr/>
          <p:nvPr/>
        </p:nvSpPr>
        <p:spPr>
          <a:xfrm>
            <a:off x="1058863" y="4822825"/>
            <a:ext cx="4632325"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600" dirty="0">
                <a:solidFill>
                  <a:schemeClr val="accent2"/>
                </a:solidFill>
              </a:rPr>
              <a:t>π</a:t>
            </a:r>
            <a:r>
              <a:rPr lang="en-US" altLang="zh-CN" sz="2600" baseline="-25000" dirty="0">
                <a:solidFill>
                  <a:schemeClr val="accent2"/>
                </a:solidFill>
              </a:rPr>
              <a:t>S</a:t>
            </a:r>
            <a:r>
              <a:rPr lang="zh-CN" altLang="en-US" sz="2600" baseline="-25000" dirty="0">
                <a:solidFill>
                  <a:schemeClr val="accent2"/>
                </a:solidFill>
              </a:rPr>
              <a:t>id，</a:t>
            </a:r>
            <a:r>
              <a:rPr lang="en-US" altLang="zh-CN" sz="2600" baseline="-25000" dirty="0">
                <a:solidFill>
                  <a:schemeClr val="accent2"/>
                </a:solidFill>
              </a:rPr>
              <a:t>S</a:t>
            </a:r>
            <a:r>
              <a:rPr lang="zh-CN" altLang="en-US" sz="2600" baseline="-25000" dirty="0">
                <a:solidFill>
                  <a:schemeClr val="accent2"/>
                </a:solidFill>
              </a:rPr>
              <a:t>name</a:t>
            </a:r>
            <a:r>
              <a:rPr lang="zh-CN" altLang="en-US" sz="2600" dirty="0"/>
              <a:t>(</a:t>
            </a:r>
            <a:r>
              <a:rPr lang="zh-CN" altLang="en-US" sz="2800" dirty="0">
                <a:solidFill>
                  <a:srgbClr val="FF0066"/>
                </a:solidFill>
              </a:rPr>
              <a:t>σ</a:t>
            </a:r>
            <a:r>
              <a:rPr lang="en-US" altLang="zh-CN" sz="2800" baseline="-25000" dirty="0">
                <a:solidFill>
                  <a:srgbClr val="FF0066"/>
                </a:solidFill>
              </a:rPr>
              <a:t>Age&gt;23 </a:t>
            </a:r>
            <a:r>
              <a:rPr lang="en-US" altLang="zh-CN" sz="2800" baseline="-25000" dirty="0">
                <a:solidFill>
                  <a:srgbClr val="FF0066"/>
                </a:solidFill>
                <a:cs typeface="Arial" panose="020B0604020202020204" pitchFamily="34" charset="0"/>
              </a:rPr>
              <a:t>^Sex='</a:t>
            </a:r>
            <a:r>
              <a:rPr lang="zh-CN" altLang="en-US" sz="2800" baseline="-25000" dirty="0">
                <a:solidFill>
                  <a:srgbClr val="FF0066"/>
                </a:solidFill>
                <a:cs typeface="Arial" panose="020B0604020202020204" pitchFamily="34" charset="0"/>
              </a:rPr>
              <a:t>男</a:t>
            </a:r>
            <a:r>
              <a:rPr lang="en-US" altLang="zh-CN" sz="2800" baseline="-25000" dirty="0">
                <a:solidFill>
                  <a:srgbClr val="FF0066"/>
                </a:solidFill>
                <a:cs typeface="Arial" panose="020B0604020202020204" pitchFamily="34" charset="0"/>
              </a:rPr>
              <a:t>'</a:t>
            </a:r>
            <a:r>
              <a:rPr lang="zh-CN" altLang="en-US" sz="2800" dirty="0"/>
              <a:t>(</a:t>
            </a:r>
            <a:r>
              <a:rPr lang="en-US" altLang="zh-CN" sz="2800" dirty="0">
                <a:solidFill>
                  <a:srgbClr val="006600"/>
                </a:solidFill>
              </a:rPr>
              <a:t>S</a:t>
            </a:r>
            <a:r>
              <a:rPr lang="zh-CN" altLang="en-US" sz="2800" dirty="0"/>
              <a:t>)</a:t>
            </a:r>
            <a:r>
              <a:rPr lang="zh-CN" altLang="en-US" sz="2600" dirty="0"/>
              <a:t> )</a:t>
            </a:r>
            <a:endParaRPr lang="de-DE" altLang="en-US" sz="2600" dirty="0"/>
          </a:p>
        </p:txBody>
      </p:sp>
      <p:sp>
        <p:nvSpPr>
          <p:cNvPr id="12" name="Text Box 79"/>
          <p:cNvSpPr txBox="1"/>
          <p:nvPr/>
        </p:nvSpPr>
        <p:spPr>
          <a:xfrm>
            <a:off x="1058863" y="5540375"/>
            <a:ext cx="7691437" cy="4984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None/>
            </a:pPr>
            <a:r>
              <a:rPr lang="en-US" altLang="zh-CN" sz="2100" dirty="0">
                <a:solidFill>
                  <a:srgbClr val="0000CC"/>
                </a:solidFill>
                <a:latin typeface="宋体" panose="02010600030101010101" pitchFamily="2" charset="-122"/>
              </a:rPr>
              <a:t>Select Sid,Sname </a:t>
            </a:r>
            <a:r>
              <a:rPr lang="en-US" altLang="zh-CN" sz="2100" dirty="0">
                <a:solidFill>
                  <a:srgbClr val="006600"/>
                </a:solidFill>
                <a:latin typeface="宋体" panose="02010600030101010101" pitchFamily="2" charset="-122"/>
              </a:rPr>
              <a:t>from S</a:t>
            </a:r>
            <a:r>
              <a:rPr lang="en-US" altLang="zh-CN" sz="2100" dirty="0">
                <a:solidFill>
                  <a:srgbClr val="0000CC"/>
                </a:solidFill>
                <a:latin typeface="宋体" panose="02010600030101010101" pitchFamily="2" charset="-122"/>
              </a:rPr>
              <a:t> </a:t>
            </a:r>
            <a:r>
              <a:rPr lang="en-US" altLang="zh-CN" sz="2100" dirty="0">
                <a:solidFill>
                  <a:srgbClr val="FF0066"/>
                </a:solidFill>
                <a:latin typeface="宋体" panose="02010600030101010101" pitchFamily="2" charset="-122"/>
              </a:rPr>
              <a:t>where Age&gt;23 and Sex='</a:t>
            </a:r>
            <a:r>
              <a:rPr lang="zh-CN" altLang="en-US" sz="2100" dirty="0">
                <a:solidFill>
                  <a:srgbClr val="FF0066"/>
                </a:solidFill>
                <a:latin typeface="宋体" panose="02010600030101010101" pitchFamily="2" charset="-122"/>
              </a:rPr>
              <a:t>男</a:t>
            </a:r>
            <a:r>
              <a:rPr lang="en-US" altLang="zh-CN" sz="2100" dirty="0">
                <a:solidFill>
                  <a:srgbClr val="FF0066"/>
                </a:solidFill>
                <a:latin typeface="宋体" panose="02010600030101010101" pitchFamily="2" charset="-122"/>
              </a:rPr>
              <a:t>'</a:t>
            </a:r>
            <a:r>
              <a:rPr lang="en-US" altLang="zh-CN" sz="2400" dirty="0">
                <a:solidFill>
                  <a:srgbClr val="0000CC"/>
                </a:solidFill>
                <a:latin typeface="宋体" panose="02010600030101010101" pitchFamily="2" charset="-122"/>
              </a:rPr>
              <a:t> </a:t>
            </a:r>
            <a:endParaRPr lang="de-DE" altLang="en-US" sz="2400" dirty="0">
              <a:solidFill>
                <a:srgbClr val="0000CC"/>
              </a:solidFill>
              <a:latin typeface="宋体" panose="02010600030101010101" pitchFamily="2" charset="-122"/>
            </a:endParaRPr>
          </a:p>
        </p:txBody>
      </p:sp>
      <p:sp>
        <p:nvSpPr>
          <p:cNvPr id="14542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05"/>
                                        </p:tgtEl>
                                        <p:attrNameLst>
                                          <p:attrName>style.visibility</p:attrName>
                                        </p:attrNameLst>
                                      </p:cBhvr>
                                      <p:to>
                                        <p:strVal val="visible"/>
                                      </p:to>
                                    </p:set>
                                    <p:anim calcmode="lin" valueType="num">
                                      <p:cBhvr additive="base">
                                        <p:cTn id="7" dur="500" fill="hold"/>
                                        <p:tgtEl>
                                          <p:spTgt spid="122905"/>
                                        </p:tgtEl>
                                        <p:attrNameLst>
                                          <p:attrName>ppt_x</p:attrName>
                                        </p:attrNameLst>
                                      </p:cBhvr>
                                      <p:tavLst>
                                        <p:tav tm="0">
                                          <p:val>
                                            <p:strVal val="#ppt_x"/>
                                          </p:val>
                                        </p:tav>
                                        <p:tav tm="100000">
                                          <p:val>
                                            <p:strVal val="#ppt_x"/>
                                          </p:val>
                                        </p:tav>
                                      </p:tavLst>
                                    </p:anim>
                                    <p:anim calcmode="lin" valueType="num">
                                      <p:cBhvr additive="base">
                                        <p:cTn id="8" dur="500" fill="hold"/>
                                        <p:tgtEl>
                                          <p:spTgt spid="1229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9874"/>
                                        </p:tgtEl>
                                        <p:attrNameLst>
                                          <p:attrName>style.visibility</p:attrName>
                                        </p:attrNameLst>
                                      </p:cBhvr>
                                      <p:to>
                                        <p:strVal val="visible"/>
                                      </p:to>
                                    </p:set>
                                    <p:anim calcmode="lin" valueType="num">
                                      <p:cBhvr additive="base">
                                        <p:cTn id="13" dur="500" fill="hold"/>
                                        <p:tgtEl>
                                          <p:spTgt spid="119874"/>
                                        </p:tgtEl>
                                        <p:attrNameLst>
                                          <p:attrName>ppt_x</p:attrName>
                                        </p:attrNameLst>
                                      </p:cBhvr>
                                      <p:tavLst>
                                        <p:tav tm="0">
                                          <p:val>
                                            <p:strVal val="#ppt_x"/>
                                          </p:val>
                                        </p:tav>
                                        <p:tav tm="100000">
                                          <p:val>
                                            <p:strVal val="#ppt_x"/>
                                          </p:val>
                                        </p:tav>
                                      </p:tavLst>
                                    </p:anim>
                                    <p:anim calcmode="lin" valueType="num">
                                      <p:cBhvr additive="base">
                                        <p:cTn id="14" dur="500" fill="hold"/>
                                        <p:tgtEl>
                                          <p:spTgt spid="1198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5" grpId="0"/>
      <p:bldP spid="119874" grpId="0"/>
      <p:bldP spid="11" grpId="0"/>
      <p:bldP spid="12"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4" name="矩形 2"/>
          <p:cNvSpPr/>
          <p:nvPr/>
        </p:nvSpPr>
        <p:spPr>
          <a:xfrm>
            <a:off x="479425" y="749300"/>
            <a:ext cx="837565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集合并与交</a:t>
            </a:r>
            <a:endParaRPr lang="zh-CN" altLang="en-US" sz="2600" dirty="0">
              <a:solidFill>
                <a:srgbClr val="FF3300"/>
              </a:solidFill>
              <a:latin typeface="黑体" panose="02010609060101010101" pitchFamily="49" charset="-122"/>
              <a:ea typeface="黑体" panose="02010609060101010101" pitchFamily="49" charset="-122"/>
            </a:endParaRPr>
          </a:p>
        </p:txBody>
      </p:sp>
      <p:grpSp>
        <p:nvGrpSpPr>
          <p:cNvPr id="106499" name="Group 3"/>
          <p:cNvGrpSpPr/>
          <p:nvPr/>
        </p:nvGrpSpPr>
        <p:grpSpPr>
          <a:xfrm>
            <a:off x="203200" y="1277938"/>
            <a:ext cx="4122738" cy="2568575"/>
            <a:chOff x="0" y="0"/>
            <a:chExt cx="2688" cy="1610"/>
          </a:xfrm>
        </p:grpSpPr>
        <p:sp>
          <p:nvSpPr>
            <p:cNvPr id="146478" name="Text Box 4"/>
            <p:cNvSpPr txBox="1"/>
            <p:nvPr/>
          </p:nvSpPr>
          <p:spPr>
            <a:xfrm>
              <a:off x="768" y="0"/>
              <a:ext cx="1056"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4647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648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648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648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648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648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648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4648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4648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648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648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649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649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4649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4649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4649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4649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9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9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9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649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650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650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650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650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650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650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650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6507" name="Line 33"/>
            <p:cNvSpPr/>
            <p:nvPr/>
          </p:nvSpPr>
          <p:spPr>
            <a:xfrm>
              <a:off x="1425" y="365"/>
              <a:ext cx="0" cy="1245"/>
            </a:xfrm>
            <a:prstGeom prst="line">
              <a:avLst/>
            </a:prstGeom>
            <a:ln w="12700" cap="flat" cmpd="sng">
              <a:solidFill>
                <a:schemeClr val="tx1"/>
              </a:solidFill>
              <a:prstDash val="solid"/>
              <a:headEnd type="none" w="med" len="med"/>
              <a:tailEnd type="none" w="med" len="med"/>
            </a:ln>
          </p:spPr>
        </p:sp>
        <p:sp>
          <p:nvSpPr>
            <p:cNvPr id="14650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650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6532" name="Rectangle 36"/>
          <p:cNvSpPr/>
          <p:nvPr/>
        </p:nvSpPr>
        <p:spPr>
          <a:xfrm>
            <a:off x="4354513" y="1628775"/>
            <a:ext cx="1174750"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S2</a:t>
            </a:r>
            <a:endParaRPr lang="zh-CN" altLang="en-US" sz="2400" dirty="0"/>
          </a:p>
        </p:txBody>
      </p:sp>
      <p:sp>
        <p:nvSpPr>
          <p:cNvPr id="106533" name="Line 37"/>
          <p:cNvSpPr/>
          <p:nvPr/>
        </p:nvSpPr>
        <p:spPr>
          <a:xfrm flipV="1">
            <a:off x="4572000" y="2238375"/>
            <a:ext cx="914400" cy="0"/>
          </a:xfrm>
          <a:prstGeom prst="line">
            <a:avLst/>
          </a:prstGeom>
          <a:ln w="50800" cap="flat" cmpd="sng">
            <a:solidFill>
              <a:srgbClr val="CC0000"/>
            </a:solidFill>
            <a:prstDash val="solid"/>
            <a:headEnd type="none" w="med" len="med"/>
            <a:tailEnd type="stealth" w="med" len="med"/>
          </a:ln>
        </p:spPr>
      </p:sp>
      <p:sp>
        <p:nvSpPr>
          <p:cNvPr id="106534" name="Text Box 38"/>
          <p:cNvSpPr txBox="1"/>
          <p:nvPr/>
        </p:nvSpPr>
        <p:spPr>
          <a:xfrm>
            <a:off x="5638800" y="1095375"/>
            <a:ext cx="3200400" cy="2247900"/>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{（8，</a:t>
            </a:r>
            <a:r>
              <a:rPr lang="de-DE" altLang="en-US" dirty="0">
                <a:solidFill>
                  <a:srgbClr val="0000FF"/>
                </a:solidFill>
                <a:latin typeface="宋体" panose="02010600030101010101" pitchFamily="2" charset="-122"/>
              </a:rPr>
              <a:t>何大明</a:t>
            </a:r>
            <a:r>
              <a:rPr lang="zh-CN" altLang="en-US" dirty="0">
                <a:solidFill>
                  <a:srgbClr val="0000CC"/>
                </a:solidFill>
                <a:latin typeface="宋体" panose="02010600030101010101" pitchFamily="2" charset="-122"/>
              </a:rPr>
              <a:t>，19，2）,（11，李峰，20，3）, (35，陈胜，21，4), （6，</a:t>
            </a:r>
            <a:r>
              <a:rPr lang="zh-CN" altLang="en-US" dirty="0">
                <a:solidFill>
                  <a:srgbClr val="0000FF"/>
                </a:solidFill>
                <a:latin typeface="宋体" panose="02010600030101010101" pitchFamily="2" charset="-122"/>
              </a:rPr>
              <a:t>张</a:t>
            </a:r>
            <a:r>
              <a:rPr lang="de-DE" altLang="en-US" dirty="0">
                <a:solidFill>
                  <a:srgbClr val="0000FF"/>
                </a:solidFill>
                <a:latin typeface="宋体" panose="02010600030101010101" pitchFamily="2" charset="-122"/>
              </a:rPr>
              <a:t>大</a:t>
            </a:r>
            <a:r>
              <a:rPr lang="zh-CN" altLang="en-US" dirty="0">
                <a:solidFill>
                  <a:srgbClr val="0000FF"/>
                </a:solidFill>
                <a:latin typeface="宋体" panose="02010600030101010101" pitchFamily="2" charset="-122"/>
              </a:rPr>
              <a:t>卫</a:t>
            </a:r>
            <a:r>
              <a:rPr lang="zh-CN" altLang="en-US" dirty="0">
                <a:solidFill>
                  <a:srgbClr val="0000CC"/>
                </a:solidFill>
                <a:latin typeface="宋体" panose="02010600030101010101" pitchFamily="2" charset="-122"/>
              </a:rPr>
              <a:t>，18，1),（10，孙小惠，20，3）,（81，李峰，17，1）, （22，董一溪，21，4）}</a:t>
            </a:r>
            <a:endParaRPr lang="de-DE" altLang="en-US" dirty="0">
              <a:solidFill>
                <a:srgbClr val="0000CC"/>
              </a:solidFill>
              <a:latin typeface="宋体" panose="02010600030101010101" pitchFamily="2" charset="-122"/>
            </a:endParaRPr>
          </a:p>
        </p:txBody>
      </p:sp>
      <p:sp>
        <p:nvSpPr>
          <p:cNvPr id="106535" name="Line 39"/>
          <p:cNvSpPr/>
          <p:nvPr/>
        </p:nvSpPr>
        <p:spPr>
          <a:xfrm>
            <a:off x="4648200" y="3838575"/>
            <a:ext cx="914400" cy="0"/>
          </a:xfrm>
          <a:prstGeom prst="line">
            <a:avLst/>
          </a:prstGeom>
          <a:ln w="50800" cap="flat" cmpd="sng">
            <a:solidFill>
              <a:srgbClr val="CC0000"/>
            </a:solidFill>
            <a:prstDash val="solid"/>
            <a:headEnd type="none" w="med" len="med"/>
            <a:tailEnd type="stealth" w="med" len="med"/>
          </a:ln>
        </p:spPr>
      </p:sp>
      <p:grpSp>
        <p:nvGrpSpPr>
          <p:cNvPr id="106536" name="Group 40"/>
          <p:cNvGrpSpPr/>
          <p:nvPr/>
        </p:nvGrpSpPr>
        <p:grpSpPr>
          <a:xfrm>
            <a:off x="217488" y="3903663"/>
            <a:ext cx="4092575" cy="2293937"/>
            <a:chOff x="0" y="0"/>
            <a:chExt cx="2688" cy="1581"/>
          </a:xfrm>
        </p:grpSpPr>
        <p:sp>
          <p:nvSpPr>
            <p:cNvPr id="146446" name="Text Box 41"/>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S2</a:t>
              </a:r>
              <a:endParaRPr lang="de-DE" altLang="en-US" sz="2400" dirty="0">
                <a:solidFill>
                  <a:srgbClr val="0000CC"/>
                </a:solidFill>
                <a:latin typeface="宋体" panose="02010600030101010101" pitchFamily="2" charset="-122"/>
              </a:endParaRPr>
            </a:p>
          </p:txBody>
        </p:sp>
        <p:sp>
          <p:nvSpPr>
            <p:cNvPr id="146447" name="Rectangle 42"/>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6448" name="Rectangle 43"/>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6449" name="Rectangle 44"/>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6450" name="Rectangle 45"/>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6451" name="Rectangle 46"/>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6452" name="Rectangle 47"/>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6453" name="Rectangle 48"/>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董一溪</a:t>
              </a:r>
              <a:endParaRPr lang="zh-CN" altLang="en-US" dirty="0"/>
            </a:p>
          </p:txBody>
        </p:sp>
        <p:sp>
          <p:nvSpPr>
            <p:cNvPr id="146454" name="Rectangle 49"/>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22</a:t>
              </a:r>
              <a:endParaRPr lang="de-DE" altLang="en-US" dirty="0">
                <a:ea typeface="华文楷体" panose="02010600040101010101" pitchFamily="2" charset="-122"/>
              </a:endParaRPr>
            </a:p>
          </p:txBody>
        </p:sp>
        <p:sp>
          <p:nvSpPr>
            <p:cNvPr id="146455" name="Rectangle 50"/>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6456" name="Rectangle 51"/>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17</a:t>
              </a:r>
              <a:endParaRPr lang="de-DE" altLang="en-US" dirty="0">
                <a:ea typeface="华文楷体" panose="02010600040101010101" pitchFamily="2" charset="-122"/>
              </a:endParaRPr>
            </a:p>
          </p:txBody>
        </p:sp>
        <p:sp>
          <p:nvSpPr>
            <p:cNvPr id="146457" name="Rectangle 52"/>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6458" name="Rectangle 53"/>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81</a:t>
              </a:r>
              <a:endParaRPr lang="de-DE" altLang="en-US" dirty="0">
                <a:ea typeface="华文楷体" panose="02010600040101010101" pitchFamily="2" charset="-122"/>
              </a:endParaRPr>
            </a:p>
          </p:txBody>
        </p:sp>
        <p:sp>
          <p:nvSpPr>
            <p:cNvPr id="146459" name="Rectangle 54"/>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6460" name="Rectangle 55"/>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6461" name="Rectangle 56"/>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solidFill>
                    <a:srgbClr val="0000FF"/>
                  </a:solidFill>
                </a:rPr>
                <a:t>孙小惠</a:t>
              </a:r>
              <a:endParaRPr lang="zh-CN" altLang="en-US" dirty="0">
                <a:solidFill>
                  <a:srgbClr val="0000FF"/>
                </a:solidFill>
              </a:endParaRPr>
            </a:p>
          </p:txBody>
        </p:sp>
        <p:sp>
          <p:nvSpPr>
            <p:cNvPr id="146462" name="Rectangle 57"/>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10</a:t>
              </a:r>
              <a:endParaRPr lang="de-DE" altLang="en-US" dirty="0">
                <a:ea typeface="华文楷体" panose="02010600040101010101" pitchFamily="2" charset="-122"/>
              </a:endParaRPr>
            </a:p>
          </p:txBody>
        </p:sp>
        <p:sp>
          <p:nvSpPr>
            <p:cNvPr id="146463" name="Rectangle 58"/>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64" name="Rectangle 59"/>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65" name="Rectangle 60"/>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6466" name="Rectangle 61"/>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6467" name="Line 62"/>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6468" name="Line 63"/>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6469" name="Line 64"/>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6470" name="Line 65"/>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6471" name="Line 66"/>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6472" name="Line 67"/>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6473" name="Line 68"/>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6474" name="Line 69"/>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6475" name="Line 70"/>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6476" name="Line 71"/>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6477" name="Line 72"/>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6569" name="Rectangle 73"/>
          <p:cNvSpPr/>
          <p:nvPr/>
        </p:nvSpPr>
        <p:spPr>
          <a:xfrm>
            <a:off x="4419600" y="3228975"/>
            <a:ext cx="1174750"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S2</a:t>
            </a:r>
            <a:endParaRPr lang="de-DE" altLang="en-US" sz="2400" dirty="0"/>
          </a:p>
        </p:txBody>
      </p:sp>
      <p:sp>
        <p:nvSpPr>
          <p:cNvPr id="106570" name="Text Box 74"/>
          <p:cNvSpPr txBox="1"/>
          <p:nvPr/>
        </p:nvSpPr>
        <p:spPr>
          <a:xfrm>
            <a:off x="4572000" y="3609975"/>
            <a:ext cx="4343400" cy="286226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ea typeface="方正姚体" panose="02010601030101010101" pitchFamily="2" charset="-122"/>
                <a:sym typeface="Symbol" panose="05050102010706020507" pitchFamily="18" charset="2"/>
              </a:rPr>
              <a:t> </a:t>
            </a:r>
            <a:r>
              <a:rPr lang="zh-CN" altLang="en-US" dirty="0">
                <a:latin typeface="宋体" panose="02010600030101010101" pitchFamily="2" charset="-122"/>
              </a:rPr>
              <a:t>R</a:t>
            </a:r>
            <a:r>
              <a:rPr lang="zh-CN" altLang="en-US" dirty="0">
                <a:latin typeface="宋体" panose="02010600030101010101" pitchFamily="2" charset="-122"/>
                <a:sym typeface="Symbol" panose="05050102010706020507" pitchFamily="18" charset="2"/>
              </a:rPr>
              <a:t></a:t>
            </a:r>
            <a:r>
              <a:rPr lang="zh-CN" altLang="en-US" dirty="0">
                <a:latin typeface="宋体" panose="02010600030101010101" pitchFamily="2" charset="-122"/>
              </a:rPr>
              <a:t>S</a:t>
            </a:r>
            <a:r>
              <a:rPr lang="zh-CN" altLang="en-US" dirty="0">
                <a:solidFill>
                  <a:srgbClr val="0000CC"/>
                </a:solidFill>
                <a:latin typeface="宋体" panose="02010600030101010101" pitchFamily="2" charset="-122"/>
              </a:rPr>
              <a:t>为二元关系操作符。</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结果包含R和S关系实例中的所有元组。</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前提条件是R、S关系模式兼容。即R，S中列的个数相同，对应列的类型一致，对应列名不要求一致。</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SQL语句：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S1</a:t>
            </a:r>
            <a:r>
              <a:rPr lang="zh-CN" altLang="en-US" dirty="0">
                <a:solidFill>
                  <a:srgbClr val="0000CC"/>
                </a:solidFill>
                <a:latin typeface="宋体" panose="02010600030101010101" pitchFamily="2" charset="-122"/>
              </a:rPr>
              <a:t>   </a:t>
            </a:r>
            <a:r>
              <a:rPr lang="de-DE" altLang="en-US" dirty="0">
                <a:solidFill>
                  <a:srgbClr val="0000CC"/>
                </a:solidFill>
                <a:latin typeface="宋体" panose="02010600030101010101" pitchFamily="2" charset="-122"/>
              </a:rPr>
              <a:t>UNION</a:t>
            </a:r>
            <a:endParaRPr lang="de-DE"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S2</a:t>
            </a:r>
            <a:endParaRPr lang="de-DE" altLang="en-US" dirty="0">
              <a:solidFill>
                <a:srgbClr val="0000CC"/>
              </a:solidFill>
              <a:latin typeface="宋体" panose="02010600030101010101" pitchFamily="2" charset="-122"/>
            </a:endParaRPr>
          </a:p>
        </p:txBody>
      </p:sp>
      <p:sp>
        <p:nvSpPr>
          <p:cNvPr id="106571" name="Text Box 75"/>
          <p:cNvSpPr txBox="1"/>
          <p:nvPr/>
        </p:nvSpPr>
        <p:spPr>
          <a:xfrm>
            <a:off x="4464050" y="4138613"/>
            <a:ext cx="4343400" cy="237013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Char char="•"/>
            </a:pPr>
            <a:r>
              <a:rPr lang="zh-CN" altLang="en-US" dirty="0">
                <a:latin typeface="宋体" panose="02010600030101010101" pitchFamily="2" charset="-122"/>
              </a:rPr>
              <a:t> R</a:t>
            </a:r>
            <a:r>
              <a:rPr lang="zh-CN" altLang="en-US" sz="2800" dirty="0">
                <a:latin typeface="宋体" panose="02010600030101010101" pitchFamily="2" charset="-122"/>
                <a:sym typeface="Symbol" panose="05050102010706020507" pitchFamily="18" charset="2"/>
              </a:rPr>
              <a:t></a:t>
            </a:r>
            <a:r>
              <a:rPr lang="zh-CN" altLang="en-US" dirty="0">
                <a:latin typeface="宋体" panose="02010600030101010101" pitchFamily="2" charset="-122"/>
              </a:rPr>
              <a:t>S</a:t>
            </a:r>
            <a:r>
              <a:rPr lang="zh-CN" altLang="en-US" dirty="0">
                <a:solidFill>
                  <a:srgbClr val="0000CC"/>
                </a:solidFill>
                <a:latin typeface="宋体" panose="02010600030101010101" pitchFamily="2" charset="-122"/>
              </a:rPr>
              <a:t>为二元关系操作符。</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结果包含R和S关系实例中的相同的元组。</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前提条件是R、S关系模式兼容。</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 SQL语句： </a:t>
            </a:r>
            <a:endParaRPr lang="zh-CN"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S1</a:t>
            </a:r>
            <a:r>
              <a:rPr lang="zh-CN" altLang="en-US" dirty="0">
                <a:solidFill>
                  <a:srgbClr val="0000CC"/>
                </a:solidFill>
                <a:latin typeface="宋体" panose="02010600030101010101" pitchFamily="2" charset="-122"/>
              </a:rPr>
              <a:t> INTERSECT</a:t>
            </a:r>
            <a:endParaRPr lang="de-DE" altLang="en-US" dirty="0">
              <a:solidFill>
                <a:srgbClr val="0000CC"/>
              </a:solidFill>
              <a:latin typeface="宋体" panose="02010600030101010101" pitchFamily="2" charset="-122"/>
            </a:endParaRPr>
          </a:p>
          <a:p>
            <a:pPr marL="0" lvl="0" indent="0" eaLnBrk="1" hangingPunct="1">
              <a:spcBef>
                <a:spcPct val="0"/>
              </a:spcBef>
              <a:buClrTx/>
              <a:buSzTx/>
              <a:buFont typeface="Arial" panose="020B0604020202020204" pitchFamily="34" charset="0"/>
              <a:buChar char="•"/>
            </a:pPr>
            <a:r>
              <a:rPr lang="zh-CN" altLang="en-US" dirty="0">
                <a:solidFill>
                  <a:srgbClr val="0000CC"/>
                </a:solidFill>
                <a:latin typeface="宋体" panose="02010600030101010101" pitchFamily="2" charset="-122"/>
              </a:rPr>
              <a:t>Select </a:t>
            </a:r>
            <a:r>
              <a:rPr lang="de-DE" altLang="en-US" dirty="0">
                <a:solidFill>
                  <a:srgbClr val="0000CC"/>
                </a:solidFill>
                <a:latin typeface="宋体" panose="02010600030101010101" pitchFamily="2" charset="-122"/>
              </a:rPr>
              <a:t>* FROM S2</a:t>
            </a:r>
            <a:endParaRPr lang="de-DE" altLang="en-US" dirty="0">
              <a:solidFill>
                <a:srgbClr val="0000CC"/>
              </a:solidFill>
              <a:latin typeface="宋体" panose="02010600030101010101" pitchFamily="2" charset="-122"/>
            </a:endParaRPr>
          </a:p>
        </p:txBody>
      </p:sp>
      <p:sp>
        <p:nvSpPr>
          <p:cNvPr id="106572" name="Text Box 76"/>
          <p:cNvSpPr txBox="1"/>
          <p:nvPr/>
        </p:nvSpPr>
        <p:spPr>
          <a:xfrm>
            <a:off x="5791200" y="3533775"/>
            <a:ext cx="3048000" cy="447675"/>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dirty="0">
                <a:solidFill>
                  <a:srgbClr val="0000CC"/>
                </a:solidFill>
                <a:latin typeface="宋体" panose="02010600030101010101" pitchFamily="2" charset="-122"/>
              </a:rPr>
              <a:t>（6，</a:t>
            </a:r>
            <a:r>
              <a:rPr lang="zh-CN" altLang="en-US" dirty="0">
                <a:solidFill>
                  <a:srgbClr val="0000FF"/>
                </a:solidFill>
                <a:latin typeface="宋体" panose="02010600030101010101" pitchFamily="2" charset="-122"/>
              </a:rPr>
              <a:t>张</a:t>
            </a:r>
            <a:r>
              <a:rPr lang="de-DE" altLang="en-US" dirty="0">
                <a:solidFill>
                  <a:srgbClr val="0000FF"/>
                </a:solidFill>
                <a:latin typeface="宋体" panose="02010600030101010101" pitchFamily="2" charset="-122"/>
              </a:rPr>
              <a:t>大</a:t>
            </a:r>
            <a:r>
              <a:rPr lang="zh-CN" altLang="en-US" dirty="0">
                <a:solidFill>
                  <a:srgbClr val="0000FF"/>
                </a:solidFill>
                <a:latin typeface="宋体" panose="02010600030101010101" pitchFamily="2" charset="-122"/>
              </a:rPr>
              <a:t>卫</a:t>
            </a:r>
            <a:r>
              <a:rPr lang="zh-CN" altLang="en-US" dirty="0">
                <a:solidFill>
                  <a:srgbClr val="0000CC"/>
                </a:solidFill>
                <a:latin typeface="宋体" panose="02010600030101010101" pitchFamily="2" charset="-122"/>
              </a:rPr>
              <a:t>，18，1）</a:t>
            </a:r>
            <a:endParaRPr lang="de-DE" altLang="en-US" dirty="0">
              <a:solidFill>
                <a:srgbClr val="0000CC"/>
              </a:solidFill>
              <a:latin typeface="宋体" panose="02010600030101010101" pitchFamily="2" charset="-122"/>
            </a:endParaRPr>
          </a:p>
        </p:txBody>
      </p:sp>
      <p:sp>
        <p:nvSpPr>
          <p:cNvPr id="14644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6499"/>
                                        </p:tgtEl>
                                        <p:attrNameLst>
                                          <p:attrName>style.visibility</p:attrName>
                                        </p:attrNameLst>
                                      </p:cBhvr>
                                      <p:to>
                                        <p:strVal val="visible"/>
                                      </p:to>
                                    </p:set>
                                    <p:animEffect transition="in" filter="box(in)">
                                      <p:cBhvr>
                                        <p:cTn id="7" dur="500"/>
                                        <p:tgtEl>
                                          <p:spTgt spid="10649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6536"/>
                                        </p:tgtEl>
                                        <p:attrNameLst>
                                          <p:attrName>style.visibility</p:attrName>
                                        </p:attrNameLst>
                                      </p:cBhvr>
                                      <p:to>
                                        <p:strVal val="visible"/>
                                      </p:to>
                                    </p:set>
                                    <p:animEffect transition="in" filter="box(in)">
                                      <p:cBhvr>
                                        <p:cTn id="12" dur="500"/>
                                        <p:tgtEl>
                                          <p:spTgt spid="10653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6532"/>
                                        </p:tgtEl>
                                        <p:attrNameLst>
                                          <p:attrName>style.visibility</p:attrName>
                                        </p:attrNameLst>
                                      </p:cBhvr>
                                      <p:to>
                                        <p:strVal val="visible"/>
                                      </p:to>
                                    </p:set>
                                    <p:animEffect transition="in" filter="dissolve">
                                      <p:cBhvr>
                                        <p:cTn id="17" dur="500"/>
                                        <p:tgtEl>
                                          <p:spTgt spid="106532"/>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06533"/>
                                        </p:tgtEl>
                                        <p:attrNameLst>
                                          <p:attrName>style.visibility</p:attrName>
                                        </p:attrNameLst>
                                      </p:cBhvr>
                                      <p:to>
                                        <p:strVal val="visible"/>
                                      </p:to>
                                    </p:set>
                                    <p:anim calcmode="lin" valueType="num">
                                      <p:cBhvr>
                                        <p:cTn id="22" dur="500" fill="hold"/>
                                        <p:tgtEl>
                                          <p:spTgt spid="106533"/>
                                        </p:tgtEl>
                                        <p:attrNameLst>
                                          <p:attrName>ppt_w</p:attrName>
                                        </p:attrNameLst>
                                      </p:cBhvr>
                                      <p:tavLst>
                                        <p:tav tm="0">
                                          <p:val>
                                            <p:fltVal val="0.000000"/>
                                          </p:val>
                                        </p:tav>
                                        <p:tav tm="100000">
                                          <p:val>
                                            <p:strVal val="#ppt_w"/>
                                          </p:val>
                                        </p:tav>
                                      </p:tavLst>
                                    </p:anim>
                                    <p:anim calcmode="lin" valueType="num">
                                      <p:cBhvr>
                                        <p:cTn id="23" dur="500" fill="hold"/>
                                        <p:tgtEl>
                                          <p:spTgt spid="106533"/>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106534"/>
                                        </p:tgtEl>
                                        <p:attrNameLst>
                                          <p:attrName>style.visibility</p:attrName>
                                        </p:attrNameLst>
                                      </p:cBhvr>
                                      <p:to>
                                        <p:strVal val="visible"/>
                                      </p:to>
                                    </p:set>
                                    <p:anim calcmode="lin" valueType="num">
                                      <p:cBhvr>
                                        <p:cTn id="28" dur="500" fill="hold"/>
                                        <p:tgtEl>
                                          <p:spTgt spid="106534"/>
                                        </p:tgtEl>
                                        <p:attrNameLst>
                                          <p:attrName>ppt_x</p:attrName>
                                        </p:attrNameLst>
                                      </p:cBhvr>
                                      <p:tavLst>
                                        <p:tav tm="0">
                                          <p:val>
                                            <p:strVal val="#ppt_x"/>
                                          </p:val>
                                        </p:tav>
                                        <p:tav tm="100000">
                                          <p:val>
                                            <p:strVal val="#ppt_x"/>
                                          </p:val>
                                        </p:tav>
                                      </p:tavLst>
                                    </p:anim>
                                    <p:anim calcmode="lin" valueType="num">
                                      <p:cBhvr>
                                        <p:cTn id="29" dur="500" fill="hold"/>
                                        <p:tgtEl>
                                          <p:spTgt spid="106534"/>
                                        </p:tgtEl>
                                        <p:attrNameLst>
                                          <p:attrName>ppt_y</p:attrName>
                                        </p:attrNameLst>
                                      </p:cBhvr>
                                      <p:tavLst>
                                        <p:tav tm="0">
                                          <p:val>
                                            <p:strVal val="#ppt_y-#ppt_h/2"/>
                                          </p:val>
                                        </p:tav>
                                        <p:tav tm="100000">
                                          <p:val>
                                            <p:strVal val="#ppt_y"/>
                                          </p:val>
                                        </p:tav>
                                      </p:tavLst>
                                    </p:anim>
                                    <p:anim calcmode="lin" valueType="num">
                                      <p:cBhvr>
                                        <p:cTn id="30" dur="500" fill="hold"/>
                                        <p:tgtEl>
                                          <p:spTgt spid="106534"/>
                                        </p:tgtEl>
                                        <p:attrNameLst>
                                          <p:attrName>ppt_w</p:attrName>
                                        </p:attrNameLst>
                                      </p:cBhvr>
                                      <p:tavLst>
                                        <p:tav tm="0">
                                          <p:val>
                                            <p:strVal val="#ppt_w"/>
                                          </p:val>
                                        </p:tav>
                                        <p:tav tm="100000">
                                          <p:val>
                                            <p:strVal val="#ppt_w"/>
                                          </p:val>
                                        </p:tav>
                                      </p:tavLst>
                                    </p:anim>
                                    <p:anim calcmode="lin" valueType="num">
                                      <p:cBhvr>
                                        <p:cTn id="31" dur="500" fill="hold"/>
                                        <p:tgtEl>
                                          <p:spTgt spid="106534"/>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6570"/>
                                        </p:tgtEl>
                                        <p:attrNameLst>
                                          <p:attrName>style.visibility</p:attrName>
                                        </p:attrNameLst>
                                      </p:cBhvr>
                                      <p:to>
                                        <p:strVal val="visible"/>
                                      </p:to>
                                    </p:set>
                                    <p:animEffect transition="in" filter="dissolve">
                                      <p:cBhvr>
                                        <p:cTn id="36" dur="500"/>
                                        <p:tgtEl>
                                          <p:spTgt spid="106570"/>
                                        </p:tgtEl>
                                      </p:cBhvr>
                                    </p:animEffect>
                                  </p:childTnLst>
                                  <p:subTnLst>
                                    <p:set>
                                      <p:cBhvr override="childStyle">
                                        <p:cTn dur="1" fill="hold" display="0" masterRel="nextClick" afterEffect="1"/>
                                        <p:tgtEl>
                                          <p:spTgt spid="106570"/>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106569"/>
                                        </p:tgtEl>
                                        <p:attrNameLst>
                                          <p:attrName>style.visibility</p:attrName>
                                        </p:attrNameLst>
                                      </p:cBhvr>
                                      <p:to>
                                        <p:strVal val="visible"/>
                                      </p:to>
                                    </p:set>
                                    <p:animEffect transition="in" filter="dissolve">
                                      <p:cBhvr>
                                        <p:cTn id="41" dur="500"/>
                                        <p:tgtEl>
                                          <p:spTgt spid="106569"/>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nodeType="clickEffect">
                                  <p:stCondLst>
                                    <p:cond delay="0"/>
                                  </p:stCondLst>
                                  <p:childTnLst>
                                    <p:set>
                                      <p:cBhvr>
                                        <p:cTn id="45" dur="1" fill="hold">
                                          <p:stCondLst>
                                            <p:cond delay="0"/>
                                          </p:stCondLst>
                                        </p:cTn>
                                        <p:tgtEl>
                                          <p:spTgt spid="106535"/>
                                        </p:tgtEl>
                                        <p:attrNameLst>
                                          <p:attrName>style.visibility</p:attrName>
                                        </p:attrNameLst>
                                      </p:cBhvr>
                                      <p:to>
                                        <p:strVal val="visible"/>
                                      </p:to>
                                    </p:set>
                                    <p:anim calcmode="lin" valueType="num">
                                      <p:cBhvr>
                                        <p:cTn id="46" dur="500" fill="hold"/>
                                        <p:tgtEl>
                                          <p:spTgt spid="106535"/>
                                        </p:tgtEl>
                                        <p:attrNameLst>
                                          <p:attrName>ppt_w</p:attrName>
                                        </p:attrNameLst>
                                      </p:cBhvr>
                                      <p:tavLst>
                                        <p:tav tm="0">
                                          <p:val>
                                            <p:fltVal val="0.000000"/>
                                          </p:val>
                                        </p:tav>
                                        <p:tav tm="100000">
                                          <p:val>
                                            <p:strVal val="#ppt_w"/>
                                          </p:val>
                                        </p:tav>
                                      </p:tavLst>
                                    </p:anim>
                                    <p:anim calcmode="lin" valueType="num">
                                      <p:cBhvr>
                                        <p:cTn id="47" dur="500" fill="hold"/>
                                        <p:tgtEl>
                                          <p:spTgt spid="106535"/>
                                        </p:tgtEl>
                                        <p:attrNameLst>
                                          <p:attrName>ppt_h</p:attrName>
                                        </p:attrNameLst>
                                      </p:cBhvr>
                                      <p:tavLst>
                                        <p:tav tm="0">
                                          <p:val>
                                            <p:fltVal val="0.000000"/>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1" fill="hold" grpId="0" nodeType="clickEffect">
                                  <p:stCondLst>
                                    <p:cond delay="0"/>
                                  </p:stCondLst>
                                  <p:childTnLst>
                                    <p:set>
                                      <p:cBhvr>
                                        <p:cTn id="51" dur="1" fill="hold">
                                          <p:stCondLst>
                                            <p:cond delay="0"/>
                                          </p:stCondLst>
                                        </p:cTn>
                                        <p:tgtEl>
                                          <p:spTgt spid="106572"/>
                                        </p:tgtEl>
                                        <p:attrNameLst>
                                          <p:attrName>style.visibility</p:attrName>
                                        </p:attrNameLst>
                                      </p:cBhvr>
                                      <p:to>
                                        <p:strVal val="visible"/>
                                      </p:to>
                                    </p:set>
                                    <p:anim calcmode="lin" valueType="num">
                                      <p:cBhvr>
                                        <p:cTn id="52" dur="500" fill="hold"/>
                                        <p:tgtEl>
                                          <p:spTgt spid="106572"/>
                                        </p:tgtEl>
                                        <p:attrNameLst>
                                          <p:attrName>ppt_x</p:attrName>
                                        </p:attrNameLst>
                                      </p:cBhvr>
                                      <p:tavLst>
                                        <p:tav tm="0">
                                          <p:val>
                                            <p:strVal val="#ppt_x"/>
                                          </p:val>
                                        </p:tav>
                                        <p:tav tm="100000">
                                          <p:val>
                                            <p:strVal val="#ppt_x"/>
                                          </p:val>
                                        </p:tav>
                                      </p:tavLst>
                                    </p:anim>
                                    <p:anim calcmode="lin" valueType="num">
                                      <p:cBhvr>
                                        <p:cTn id="53" dur="500" fill="hold"/>
                                        <p:tgtEl>
                                          <p:spTgt spid="106572"/>
                                        </p:tgtEl>
                                        <p:attrNameLst>
                                          <p:attrName>ppt_y</p:attrName>
                                        </p:attrNameLst>
                                      </p:cBhvr>
                                      <p:tavLst>
                                        <p:tav tm="0">
                                          <p:val>
                                            <p:strVal val="#ppt_y-#ppt_h/2"/>
                                          </p:val>
                                        </p:tav>
                                        <p:tav tm="100000">
                                          <p:val>
                                            <p:strVal val="#ppt_y"/>
                                          </p:val>
                                        </p:tav>
                                      </p:tavLst>
                                    </p:anim>
                                    <p:anim calcmode="lin" valueType="num">
                                      <p:cBhvr>
                                        <p:cTn id="54" dur="500" fill="hold"/>
                                        <p:tgtEl>
                                          <p:spTgt spid="106572"/>
                                        </p:tgtEl>
                                        <p:attrNameLst>
                                          <p:attrName>ppt_w</p:attrName>
                                        </p:attrNameLst>
                                      </p:cBhvr>
                                      <p:tavLst>
                                        <p:tav tm="0">
                                          <p:val>
                                            <p:strVal val="#ppt_w"/>
                                          </p:val>
                                        </p:tav>
                                        <p:tav tm="100000">
                                          <p:val>
                                            <p:strVal val="#ppt_w"/>
                                          </p:val>
                                        </p:tav>
                                      </p:tavLst>
                                    </p:anim>
                                    <p:anim calcmode="lin" valueType="num">
                                      <p:cBhvr>
                                        <p:cTn id="55" dur="500" fill="hold"/>
                                        <p:tgtEl>
                                          <p:spTgt spid="106572"/>
                                        </p:tgtEl>
                                        <p:attrNameLst>
                                          <p:attrName>ppt_h</p:attrName>
                                        </p:attrNameLst>
                                      </p:cBhvr>
                                      <p:tavLst>
                                        <p:tav tm="0">
                                          <p:val>
                                            <p:fltVal val="0.00000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06571"/>
                                        </p:tgtEl>
                                        <p:attrNameLst>
                                          <p:attrName>style.visibility</p:attrName>
                                        </p:attrNameLst>
                                      </p:cBhvr>
                                      <p:to>
                                        <p:strVal val="visible"/>
                                      </p:to>
                                    </p:set>
                                    <p:animEffect transition="in" filter="dissolve">
                                      <p:cBhvr>
                                        <p:cTn id="60" dur="500"/>
                                        <p:tgtEl>
                                          <p:spTgt spid="106571"/>
                                        </p:tgtEl>
                                      </p:cBhvr>
                                    </p:animEffect>
                                  </p:childTnLst>
                                  <p:subTnLst>
                                    <p:set>
                                      <p:cBhvr override="childStyle">
                                        <p:cTn dur="1" fill="hold" display="0" masterRel="nextClick" afterEffect="1"/>
                                        <p:tgtEl>
                                          <p:spTgt spid="10657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32" grpId="0"/>
      <p:bldP spid="106534" grpId="0" animBg="1"/>
      <p:bldP spid="106569" grpId="0"/>
      <p:bldP spid="106570" grpId="0" animBg="1"/>
      <p:bldP spid="106571" grpId="0" animBg="1"/>
      <p:bldP spid="106572"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07522" name="Group 3"/>
          <p:cNvGrpSpPr/>
          <p:nvPr/>
        </p:nvGrpSpPr>
        <p:grpSpPr>
          <a:xfrm>
            <a:off x="174625" y="1335088"/>
            <a:ext cx="4222750" cy="2379662"/>
            <a:chOff x="0" y="0"/>
            <a:chExt cx="2688" cy="1581"/>
          </a:xfrm>
        </p:grpSpPr>
        <p:sp>
          <p:nvSpPr>
            <p:cNvPr id="147498" name="Text Box 4"/>
            <p:cNvSpPr txBox="1"/>
            <p:nvPr/>
          </p:nvSpPr>
          <p:spPr>
            <a:xfrm>
              <a:off x="768" y="0"/>
              <a:ext cx="1056"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4749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750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750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750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750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750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750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4750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4750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750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750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751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4751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4751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4751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4751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4751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51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51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51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751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752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752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752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752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752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752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752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7527"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752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752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7555" name="Rectangle 36"/>
          <p:cNvSpPr/>
          <p:nvPr/>
        </p:nvSpPr>
        <p:spPr>
          <a:xfrm>
            <a:off x="4529138" y="1387475"/>
            <a:ext cx="1039812" cy="536575"/>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S2</a:t>
            </a:r>
            <a:endParaRPr lang="zh-CN" altLang="en-US" sz="2400" dirty="0"/>
          </a:p>
        </p:txBody>
      </p:sp>
      <p:sp>
        <p:nvSpPr>
          <p:cNvPr id="107556" name="Line 37"/>
          <p:cNvSpPr/>
          <p:nvPr/>
        </p:nvSpPr>
        <p:spPr>
          <a:xfrm flipV="1">
            <a:off x="4572000" y="1992313"/>
            <a:ext cx="914400" cy="0"/>
          </a:xfrm>
          <a:prstGeom prst="line">
            <a:avLst/>
          </a:prstGeom>
          <a:ln w="50800" cap="flat" cmpd="sng">
            <a:solidFill>
              <a:srgbClr val="CC0000"/>
            </a:solidFill>
            <a:prstDash val="solid"/>
            <a:headEnd type="none" w="med" len="med"/>
            <a:tailEnd type="stealth" w="med" len="med"/>
          </a:ln>
        </p:spPr>
      </p:sp>
      <p:sp>
        <p:nvSpPr>
          <p:cNvPr id="107557" name="Text Box 38"/>
          <p:cNvSpPr txBox="1"/>
          <p:nvPr/>
        </p:nvSpPr>
        <p:spPr>
          <a:xfrm>
            <a:off x="5638800" y="1450975"/>
            <a:ext cx="3200400" cy="1016000"/>
          </a:xfrm>
          <a:prstGeom prst="rect">
            <a:avLst/>
          </a:prstGeom>
          <a:noFill/>
          <a:ln w="9525" cap="flat" cmpd="sng">
            <a:solidFill>
              <a:srgbClr val="339966"/>
            </a:solidFill>
            <a:prstDash val="dash"/>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{（8，</a:t>
            </a:r>
            <a:r>
              <a:rPr lang="de-DE" altLang="en-US" dirty="0">
                <a:solidFill>
                  <a:srgbClr val="0000FF"/>
                </a:solidFill>
                <a:latin typeface="宋体" panose="02010600030101010101" pitchFamily="2" charset="-122"/>
              </a:rPr>
              <a:t>何大明</a:t>
            </a:r>
            <a:r>
              <a:rPr lang="zh-CN" altLang="en-US" dirty="0">
                <a:solidFill>
                  <a:srgbClr val="0000CC"/>
                </a:solidFill>
                <a:latin typeface="宋体" panose="02010600030101010101" pitchFamily="2" charset="-122"/>
              </a:rPr>
              <a:t>，19，2）,（</a:t>
            </a:r>
            <a:r>
              <a:rPr lang="zh-CN" altLang="en-US" dirty="0">
                <a:solidFill>
                  <a:srgbClr val="0000CC"/>
                </a:solidFill>
                <a:latin typeface="宋体" panose="02010600030101010101" pitchFamily="2" charset="-122"/>
                <a:ea typeface="方正姚体" panose="02010601030101010101" pitchFamily="2" charset="-122"/>
              </a:rPr>
              <a:t>11，李峰，20，3）, (35，陈胜，21，4)}</a:t>
            </a:r>
            <a:endParaRPr lang="de-DE" altLang="en-US" dirty="0">
              <a:solidFill>
                <a:srgbClr val="0000CC"/>
              </a:solidFill>
              <a:latin typeface="宋体" panose="02010600030101010101" pitchFamily="2" charset="-122"/>
            </a:endParaRPr>
          </a:p>
        </p:txBody>
      </p:sp>
      <p:grpSp>
        <p:nvGrpSpPr>
          <p:cNvPr id="107558" name="Group 39"/>
          <p:cNvGrpSpPr/>
          <p:nvPr/>
        </p:nvGrpSpPr>
        <p:grpSpPr>
          <a:xfrm>
            <a:off x="261938" y="3802063"/>
            <a:ext cx="4005262" cy="2452687"/>
            <a:chOff x="0" y="0"/>
            <a:chExt cx="2688" cy="1581"/>
          </a:xfrm>
        </p:grpSpPr>
        <p:sp>
          <p:nvSpPr>
            <p:cNvPr id="147466" name="Text Box 40"/>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S2</a:t>
              </a:r>
              <a:endParaRPr lang="de-DE" altLang="en-US" sz="2400" dirty="0">
                <a:solidFill>
                  <a:srgbClr val="0000CC"/>
                </a:solidFill>
                <a:latin typeface="宋体" panose="02010600030101010101" pitchFamily="2" charset="-122"/>
              </a:endParaRPr>
            </a:p>
          </p:txBody>
        </p:sp>
        <p:sp>
          <p:nvSpPr>
            <p:cNvPr id="147467" name="Rectangle 41"/>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7468" name="Rectangle 42"/>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47469" name="Rectangle 43"/>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47470" name="Rectangle 44"/>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47471" name="Rectangle 45"/>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47472" name="Rectangle 46"/>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47473" name="Rectangle 47"/>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董一溪</a:t>
              </a:r>
              <a:endParaRPr lang="zh-CN" altLang="en-US" dirty="0"/>
            </a:p>
          </p:txBody>
        </p:sp>
        <p:sp>
          <p:nvSpPr>
            <p:cNvPr id="147474" name="Rectangle 48"/>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22</a:t>
              </a:r>
              <a:endParaRPr lang="de-DE" altLang="en-US" dirty="0">
                <a:ea typeface="华文楷体" panose="02010600040101010101" pitchFamily="2" charset="-122"/>
              </a:endParaRPr>
            </a:p>
          </p:txBody>
        </p:sp>
        <p:sp>
          <p:nvSpPr>
            <p:cNvPr id="147475" name="Rectangle 49"/>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47476" name="Rectangle 50"/>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17</a:t>
              </a:r>
              <a:endParaRPr lang="de-DE" altLang="en-US" dirty="0">
                <a:ea typeface="华文楷体" panose="02010600040101010101" pitchFamily="2" charset="-122"/>
              </a:endParaRPr>
            </a:p>
          </p:txBody>
        </p:sp>
        <p:sp>
          <p:nvSpPr>
            <p:cNvPr id="147477" name="Rectangle 51"/>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47478" name="Rectangle 52"/>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81</a:t>
              </a:r>
              <a:endParaRPr lang="de-DE" altLang="en-US" dirty="0">
                <a:ea typeface="华文楷体" panose="02010600040101010101" pitchFamily="2" charset="-122"/>
              </a:endParaRPr>
            </a:p>
          </p:txBody>
        </p:sp>
        <p:sp>
          <p:nvSpPr>
            <p:cNvPr id="147479" name="Rectangle 53"/>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47480" name="Rectangle 54"/>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47481" name="Rectangle 55"/>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solidFill>
                    <a:srgbClr val="0000FF"/>
                  </a:solidFill>
                </a:rPr>
                <a:t>孙小惠</a:t>
              </a:r>
              <a:endParaRPr lang="zh-CN" altLang="en-US" dirty="0">
                <a:solidFill>
                  <a:srgbClr val="0000FF"/>
                </a:solidFill>
              </a:endParaRPr>
            </a:p>
          </p:txBody>
        </p:sp>
        <p:sp>
          <p:nvSpPr>
            <p:cNvPr id="147482" name="Rectangle 56"/>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10</a:t>
              </a:r>
              <a:endParaRPr lang="de-DE" altLang="en-US" dirty="0">
                <a:ea typeface="华文楷体" panose="02010600040101010101" pitchFamily="2" charset="-122"/>
              </a:endParaRPr>
            </a:p>
          </p:txBody>
        </p:sp>
        <p:sp>
          <p:nvSpPr>
            <p:cNvPr id="147483" name="Rectangle 57"/>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484" name="Rectangle 58"/>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485" name="Rectangle 59"/>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47486" name="Rectangle 60"/>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47487" name="Line 61"/>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47488" name="Line 62"/>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47489" name="Line 63"/>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47490" name="Line 64"/>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47491" name="Line 65"/>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47492" name="Line 66"/>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47493" name="Line 67"/>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47494" name="Line 68"/>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47495" name="Line 69"/>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47496" name="Line 70"/>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47497" name="Line 71"/>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07591" name="Text Box 72"/>
          <p:cNvSpPr txBox="1"/>
          <p:nvPr/>
        </p:nvSpPr>
        <p:spPr>
          <a:xfrm>
            <a:off x="4419600" y="2830513"/>
            <a:ext cx="4572000" cy="369093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300"/>
              </a:spcBef>
              <a:buClrTx/>
              <a:buSzTx/>
              <a:buFont typeface="Arial" panose="020B0604020202020204" pitchFamily="34" charset="0"/>
              <a:buChar char="•"/>
            </a:pPr>
            <a:r>
              <a:rPr lang="zh-CN" altLang="en-US" dirty="0">
                <a:solidFill>
                  <a:srgbClr val="0000CC"/>
                </a:solidFill>
                <a:latin typeface="宋体" panose="02010600030101010101" pitchFamily="2" charset="-122"/>
                <a:ea typeface="方正姚体" panose="02010601030101010101" pitchFamily="2" charset="-122"/>
                <a:sym typeface="Symbol" panose="05050102010706020507" pitchFamily="18" charset="2"/>
              </a:rPr>
              <a:t> </a:t>
            </a:r>
            <a:r>
              <a:rPr lang="zh-CN" altLang="en-US"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rPr>
              <a:t>S，从R中把与S相同的元组减去。</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结果模式与R一致。</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前提条件是R、S关系模式兼容。即R，S中列的个数相同，对应列的类型一致，对应列名不要求一致。</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 SQL语句： </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Select </a:t>
            </a:r>
            <a:r>
              <a:rPr lang="de-DE" altLang="en-US" dirty="0">
                <a:latin typeface="华文楷体" panose="02010600040101010101" pitchFamily="2" charset="-122"/>
                <a:ea typeface="华文楷体" panose="02010600040101010101" pitchFamily="2" charset="-122"/>
              </a:rPr>
              <a:t>* FROM S1</a:t>
            </a:r>
            <a:r>
              <a:rPr lang="zh-CN" altLang="en-US" dirty="0">
                <a:latin typeface="华文楷体" panose="02010600040101010101" pitchFamily="2" charset="-122"/>
                <a:ea typeface="华文楷体" panose="02010600040101010101" pitchFamily="2" charset="-122"/>
              </a:rPr>
              <a:t>   EXCEPT</a:t>
            </a:r>
            <a:endParaRPr lang="de-DE"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Select </a:t>
            </a:r>
            <a:r>
              <a:rPr lang="de-DE" altLang="en-US" dirty="0">
                <a:latin typeface="华文楷体" panose="02010600040101010101" pitchFamily="2" charset="-122"/>
                <a:ea typeface="华文楷体" panose="02010600040101010101" pitchFamily="2" charset="-122"/>
              </a:rPr>
              <a:t>* FROM S2</a:t>
            </a:r>
            <a:endParaRPr lang="zh-CN" altLang="en-US" dirty="0">
              <a:latin typeface="华文楷体" panose="02010600040101010101" pitchFamily="2" charset="-122"/>
              <a:ea typeface="华文楷体" panose="02010600040101010101" pitchFamily="2" charset="-122"/>
            </a:endParaRPr>
          </a:p>
          <a:p>
            <a:pPr marL="0" lvl="0" indent="0" eaLnBrk="1" hangingPunct="1">
              <a:lnSpc>
                <a:spcPct val="110000"/>
              </a:lnSpc>
              <a:spcBef>
                <a:spcPts val="300"/>
              </a:spcBef>
              <a:buClrTx/>
              <a:buSzTx/>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rPr>
              <a:t>由于R</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rPr>
              <a:t>S </a:t>
            </a:r>
            <a:r>
              <a:rPr lang="de-DE" altLang="en-US" dirty="0">
                <a:latin typeface="华文楷体" panose="02010600040101010101" pitchFamily="2" charset="-122"/>
                <a:ea typeface="华文楷体" panose="02010600040101010101" pitchFamily="2" charset="-122"/>
              </a:rPr>
              <a:t>=R-(R-S),</a:t>
            </a:r>
            <a:r>
              <a:rPr lang="zh-CN" altLang="en-US" dirty="0">
                <a:latin typeface="华文楷体" panose="02010600040101010101" pitchFamily="2" charset="-122"/>
                <a:ea typeface="华文楷体" panose="02010600040101010101" pitchFamily="2" charset="-122"/>
              </a:rPr>
              <a:t> 所以一些数据库书上省略介绍R</a:t>
            </a:r>
            <a:r>
              <a:rPr lang="zh-CN" altLang="en-US" dirty="0">
                <a:latin typeface="华文楷体" panose="02010600040101010101" pitchFamily="2" charset="-122"/>
                <a:ea typeface="华文楷体" panose="02010600040101010101" pitchFamily="2" charset="-122"/>
                <a:sym typeface="Symbol" panose="05050102010706020507" pitchFamily="18" charset="2"/>
              </a:rPr>
              <a:t></a:t>
            </a:r>
            <a:r>
              <a:rPr lang="zh-CN" altLang="en-US" dirty="0">
                <a:latin typeface="华文楷体" panose="02010600040101010101" pitchFamily="2" charset="-122"/>
                <a:ea typeface="华文楷体" panose="02010600040101010101" pitchFamily="2" charset="-122"/>
              </a:rPr>
              <a:t>S。</a:t>
            </a:r>
            <a:endParaRPr lang="zh-CN" altLang="en-US" dirty="0">
              <a:latin typeface="华文楷体" panose="02010600040101010101" pitchFamily="2" charset="-122"/>
              <a:ea typeface="华文楷体" panose="02010600040101010101" pitchFamily="2" charset="-122"/>
            </a:endParaRPr>
          </a:p>
        </p:txBody>
      </p:sp>
      <p:sp>
        <p:nvSpPr>
          <p:cNvPr id="147464" name="矩形 7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集合差</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4746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07522"/>
                                        </p:tgtEl>
                                        <p:attrNameLst>
                                          <p:attrName>style.visibility</p:attrName>
                                        </p:attrNameLst>
                                      </p:cBhvr>
                                      <p:to>
                                        <p:strVal val="visible"/>
                                      </p:to>
                                    </p:set>
                                    <p:animEffect transition="in" filter="box(in)">
                                      <p:cBhvr>
                                        <p:cTn id="7" dur="500"/>
                                        <p:tgtEl>
                                          <p:spTgt spid="10752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7558"/>
                                        </p:tgtEl>
                                        <p:attrNameLst>
                                          <p:attrName>style.visibility</p:attrName>
                                        </p:attrNameLst>
                                      </p:cBhvr>
                                      <p:to>
                                        <p:strVal val="visible"/>
                                      </p:to>
                                    </p:set>
                                    <p:animEffect transition="in" filter="box(in)">
                                      <p:cBhvr>
                                        <p:cTn id="12" dur="500"/>
                                        <p:tgtEl>
                                          <p:spTgt spid="10755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07555"/>
                                        </p:tgtEl>
                                        <p:attrNameLst>
                                          <p:attrName>style.visibility</p:attrName>
                                        </p:attrNameLst>
                                      </p:cBhvr>
                                      <p:to>
                                        <p:strVal val="visible"/>
                                      </p:to>
                                    </p:set>
                                    <p:animEffect transition="in" filter="dissolve">
                                      <p:cBhvr>
                                        <p:cTn id="17" dur="500"/>
                                        <p:tgtEl>
                                          <p:spTgt spid="10755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07556"/>
                                        </p:tgtEl>
                                        <p:attrNameLst>
                                          <p:attrName>style.visibility</p:attrName>
                                        </p:attrNameLst>
                                      </p:cBhvr>
                                      <p:to>
                                        <p:strVal val="visible"/>
                                      </p:to>
                                    </p:set>
                                    <p:anim calcmode="lin" valueType="num">
                                      <p:cBhvr>
                                        <p:cTn id="22" dur="500" fill="hold"/>
                                        <p:tgtEl>
                                          <p:spTgt spid="107556"/>
                                        </p:tgtEl>
                                        <p:attrNameLst>
                                          <p:attrName>ppt_w</p:attrName>
                                        </p:attrNameLst>
                                      </p:cBhvr>
                                      <p:tavLst>
                                        <p:tav tm="0">
                                          <p:val>
                                            <p:fltVal val="0.000000"/>
                                          </p:val>
                                        </p:tav>
                                        <p:tav tm="100000">
                                          <p:val>
                                            <p:strVal val="#ppt_w"/>
                                          </p:val>
                                        </p:tav>
                                      </p:tavLst>
                                    </p:anim>
                                    <p:anim calcmode="lin" valueType="num">
                                      <p:cBhvr>
                                        <p:cTn id="23" dur="500" fill="hold"/>
                                        <p:tgtEl>
                                          <p:spTgt spid="107556"/>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1" fill="hold" grpId="0" nodeType="clickEffect">
                                  <p:stCondLst>
                                    <p:cond delay="0"/>
                                  </p:stCondLst>
                                  <p:childTnLst>
                                    <p:set>
                                      <p:cBhvr>
                                        <p:cTn id="27" dur="1" fill="hold">
                                          <p:stCondLst>
                                            <p:cond delay="0"/>
                                          </p:stCondLst>
                                        </p:cTn>
                                        <p:tgtEl>
                                          <p:spTgt spid="107557"/>
                                        </p:tgtEl>
                                        <p:attrNameLst>
                                          <p:attrName>style.visibility</p:attrName>
                                        </p:attrNameLst>
                                      </p:cBhvr>
                                      <p:to>
                                        <p:strVal val="visible"/>
                                      </p:to>
                                    </p:set>
                                    <p:anim calcmode="lin" valueType="num">
                                      <p:cBhvr>
                                        <p:cTn id="28" dur="500" fill="hold"/>
                                        <p:tgtEl>
                                          <p:spTgt spid="107557"/>
                                        </p:tgtEl>
                                        <p:attrNameLst>
                                          <p:attrName>ppt_x</p:attrName>
                                        </p:attrNameLst>
                                      </p:cBhvr>
                                      <p:tavLst>
                                        <p:tav tm="0">
                                          <p:val>
                                            <p:strVal val="#ppt_x"/>
                                          </p:val>
                                        </p:tav>
                                        <p:tav tm="100000">
                                          <p:val>
                                            <p:strVal val="#ppt_x"/>
                                          </p:val>
                                        </p:tav>
                                      </p:tavLst>
                                    </p:anim>
                                    <p:anim calcmode="lin" valueType="num">
                                      <p:cBhvr>
                                        <p:cTn id="29" dur="500" fill="hold"/>
                                        <p:tgtEl>
                                          <p:spTgt spid="107557"/>
                                        </p:tgtEl>
                                        <p:attrNameLst>
                                          <p:attrName>ppt_y</p:attrName>
                                        </p:attrNameLst>
                                      </p:cBhvr>
                                      <p:tavLst>
                                        <p:tav tm="0">
                                          <p:val>
                                            <p:strVal val="#ppt_y-#ppt_h/2"/>
                                          </p:val>
                                        </p:tav>
                                        <p:tav tm="100000">
                                          <p:val>
                                            <p:strVal val="#ppt_y"/>
                                          </p:val>
                                        </p:tav>
                                      </p:tavLst>
                                    </p:anim>
                                    <p:anim calcmode="lin" valueType="num">
                                      <p:cBhvr>
                                        <p:cTn id="30" dur="500" fill="hold"/>
                                        <p:tgtEl>
                                          <p:spTgt spid="107557"/>
                                        </p:tgtEl>
                                        <p:attrNameLst>
                                          <p:attrName>ppt_w</p:attrName>
                                        </p:attrNameLst>
                                      </p:cBhvr>
                                      <p:tavLst>
                                        <p:tav tm="0">
                                          <p:val>
                                            <p:strVal val="#ppt_w"/>
                                          </p:val>
                                        </p:tav>
                                        <p:tav tm="100000">
                                          <p:val>
                                            <p:strVal val="#ppt_w"/>
                                          </p:val>
                                        </p:tav>
                                      </p:tavLst>
                                    </p:anim>
                                    <p:anim calcmode="lin" valueType="num">
                                      <p:cBhvr>
                                        <p:cTn id="31" dur="500" fill="hold"/>
                                        <p:tgtEl>
                                          <p:spTgt spid="107557"/>
                                        </p:tgtEl>
                                        <p:attrNameLst>
                                          <p:attrName>ppt_h</p:attrName>
                                        </p:attrNameLst>
                                      </p:cBhvr>
                                      <p:tavLst>
                                        <p:tav tm="0">
                                          <p:val>
                                            <p:fltVal val="0.00000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107591"/>
                                        </p:tgtEl>
                                        <p:attrNameLst>
                                          <p:attrName>style.visibility</p:attrName>
                                        </p:attrNameLst>
                                      </p:cBhvr>
                                      <p:to>
                                        <p:strVal val="visible"/>
                                      </p:to>
                                    </p:set>
                                    <p:animEffect transition="in" filter="dissolve">
                                      <p:cBhvr>
                                        <p:cTn id="36" dur="500"/>
                                        <p:tgtEl>
                                          <p:spTgt spid="107591"/>
                                        </p:tgtEl>
                                      </p:cBhvr>
                                    </p:animEffect>
                                  </p:childTnLst>
                                  <p:subTnLst>
                                    <p:set>
                                      <p:cBhvr override="childStyle">
                                        <p:cTn dur="1" fill="hold" display="0" masterRel="nextClick" afterEffect="1"/>
                                        <p:tgtEl>
                                          <p:spTgt spid="10759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55" grpId="0"/>
      <p:bldP spid="107557" grpId="0" animBg="1"/>
      <p:bldP spid="107591"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矩形 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笛卡尔积</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48483" name="Rectangle 37"/>
          <p:cNvSpPr/>
          <p:nvPr/>
        </p:nvSpPr>
        <p:spPr>
          <a:xfrm>
            <a:off x="660400" y="1357313"/>
            <a:ext cx="3370263" cy="592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400" dirty="0"/>
              <a:t>Cross-Product</a:t>
            </a:r>
            <a:r>
              <a:rPr lang="zh-CN" altLang="en-US" sz="2400" dirty="0"/>
              <a:t>：</a:t>
            </a:r>
            <a:r>
              <a:rPr lang="en-US" altLang="zh-CN" sz="2400" dirty="0"/>
              <a:t>R×S</a:t>
            </a:r>
            <a:endParaRPr lang="de-DE" altLang="en-US" sz="2400" dirty="0"/>
          </a:p>
        </p:txBody>
      </p:sp>
      <p:sp>
        <p:nvSpPr>
          <p:cNvPr id="108548" name="Text Box 38"/>
          <p:cNvSpPr txBox="1"/>
          <p:nvPr/>
        </p:nvSpPr>
        <p:spPr>
          <a:xfrm>
            <a:off x="581025" y="2938463"/>
            <a:ext cx="8362950" cy="3121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宋体" panose="02010600030101010101" pitchFamily="2" charset="-122"/>
                <a:ea typeface="方正姚体" panose="02010601030101010101" pitchFamily="2" charset="-122"/>
                <a:sym typeface="Symbol" panose="05050102010706020507" pitchFamily="18" charset="2"/>
              </a:rPr>
              <a:t> </a:t>
            </a:r>
            <a:r>
              <a:rPr lang="zh-CN" altLang="en-US" sz="2200" dirty="0">
                <a:latin typeface="华文楷体" panose="02010600040101010101" pitchFamily="2" charset="-122"/>
                <a:ea typeface="华文楷体" panose="02010600040101010101" pitchFamily="2" charset="-122"/>
              </a:rPr>
              <a:t>R</a:t>
            </a:r>
            <a:r>
              <a:rPr lang="zh-CN" altLang="en-US" sz="2200" dirty="0">
                <a:latin typeface="华文楷体" panose="02010600040101010101" pitchFamily="2" charset="-122"/>
                <a:ea typeface="华文楷体" panose="02010600040101010101" pitchFamily="2" charset="-122"/>
                <a:sym typeface="Symbol" panose="05050102010706020507" pitchFamily="18" charset="2"/>
              </a:rPr>
              <a:t>S</a:t>
            </a:r>
            <a:r>
              <a:rPr lang="zh-CN" altLang="en-US" sz="2200" dirty="0">
                <a:solidFill>
                  <a:srgbClr val="0000CC"/>
                </a:solidFill>
                <a:latin typeface="华文楷体" panose="02010600040101010101" pitchFamily="2" charset="-122"/>
                <a:ea typeface="华文楷体" panose="02010600040101010101" pitchFamily="2" charset="-122"/>
              </a:rPr>
              <a:t>为二元关系操作符。</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 结果包含R和S中所有的列。如R中有M个属性p个元组,S中N个属性q个元组,则R</a:t>
            </a:r>
            <a:r>
              <a:rPr lang="zh-CN" altLang="en-US" sz="2200" dirty="0">
                <a:solidFill>
                  <a:srgbClr val="0000CC"/>
                </a:solidFill>
                <a:latin typeface="华文楷体" panose="02010600040101010101" pitchFamily="2" charset="-122"/>
                <a:ea typeface="华文楷体" panose="02010600040101010101" pitchFamily="2" charset="-122"/>
                <a:sym typeface="Symbol" panose="05050102010706020507" pitchFamily="18" charset="2"/>
              </a:rPr>
              <a:t>S的结果关系有M+N个属性(列)，p  q个</a:t>
            </a:r>
            <a:r>
              <a:rPr lang="zh-CN" altLang="en-US" sz="2200" dirty="0">
                <a:solidFill>
                  <a:srgbClr val="0000CC"/>
                </a:solidFill>
                <a:latin typeface="华文楷体" panose="02010600040101010101" pitchFamily="2" charset="-122"/>
                <a:ea typeface="华文楷体" panose="02010600040101010101" pitchFamily="2" charset="-122"/>
              </a:rPr>
              <a:t>元组</a:t>
            </a:r>
            <a:r>
              <a:rPr lang="zh-CN" altLang="en-US" sz="2200" dirty="0">
                <a:solidFill>
                  <a:srgbClr val="0000CC"/>
                </a:solidFill>
                <a:latin typeface="华文楷体" panose="02010600040101010101" pitchFamily="2" charset="-122"/>
                <a:ea typeface="华文楷体" panose="02010600040101010101" pitchFamily="2" charset="-122"/>
                <a:sym typeface="Symbol" panose="05050102010706020507" pitchFamily="18" charset="2"/>
              </a:rPr>
              <a:t>。</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 如果有相同的列名，则在结果字段中不命名，只用位置表示。</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 相应的SQL语句： </a:t>
            </a:r>
            <a:endParaRPr lang="zh-CN"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Select S1</a:t>
            </a:r>
            <a:r>
              <a:rPr lang="de-DE" altLang="en-US" sz="2200" dirty="0">
                <a:solidFill>
                  <a:srgbClr val="0000CC"/>
                </a:solidFill>
                <a:latin typeface="华文楷体" panose="02010600040101010101" pitchFamily="2" charset="-122"/>
                <a:ea typeface="华文楷体" panose="02010600040101010101" pitchFamily="2" charset="-122"/>
              </a:rPr>
              <a:t>.sid,sname,age,grade,E.sid,cid,scoreFROM S1,E</a:t>
            </a:r>
            <a:endParaRPr lang="de-DE" altLang="en-US" sz="2200" dirty="0">
              <a:solidFill>
                <a:srgbClr val="0000CC"/>
              </a:solidFill>
              <a:latin typeface="华文楷体" panose="02010600040101010101" pitchFamily="2" charset="-122"/>
              <a:ea typeface="华文楷体" panose="02010600040101010101" pitchFamily="2" charset="-122"/>
            </a:endParaRPr>
          </a:p>
          <a:p>
            <a:pPr marL="0" lvl="0" indent="0" eaLnBrk="1" hangingPunct="1">
              <a:lnSpc>
                <a:spcPct val="110000"/>
              </a:lnSpc>
              <a:spcBef>
                <a:spcPts val="100"/>
              </a:spcBef>
              <a:buClrTx/>
              <a:buSzTx/>
              <a:buFont typeface="Wingdings" panose="05000000000000000000" pitchFamily="2" charset="2"/>
              <a:buChar char="Ø"/>
            </a:pPr>
            <a:r>
              <a:rPr lang="zh-CN" altLang="en-US" sz="2200" dirty="0">
                <a:solidFill>
                  <a:srgbClr val="0000CC"/>
                </a:solidFill>
                <a:latin typeface="华文楷体" panose="02010600040101010101" pitchFamily="2" charset="-122"/>
                <a:ea typeface="华文楷体" panose="02010600040101010101" pitchFamily="2" charset="-122"/>
              </a:rPr>
              <a:t>注：</a:t>
            </a:r>
            <a:r>
              <a:rPr lang="de-DE" altLang="en-US" sz="2200" dirty="0">
                <a:solidFill>
                  <a:srgbClr val="0000CC"/>
                </a:solidFill>
                <a:latin typeface="华文楷体" panose="02010600040101010101" pitchFamily="2" charset="-122"/>
                <a:ea typeface="华文楷体" panose="02010600040101010101" pitchFamily="2" charset="-122"/>
              </a:rPr>
              <a:t>S1</a:t>
            </a:r>
            <a:r>
              <a:rPr lang="zh-CN" altLang="en-US" sz="2200" dirty="0">
                <a:solidFill>
                  <a:srgbClr val="0000CC"/>
                </a:solidFill>
                <a:latin typeface="华文楷体" panose="02010600040101010101" pitchFamily="2" charset="-122"/>
                <a:ea typeface="华文楷体" panose="02010600040101010101" pitchFamily="2" charset="-122"/>
              </a:rPr>
              <a:t>和</a:t>
            </a:r>
            <a:r>
              <a:rPr lang="de-DE" altLang="en-US" sz="2200" dirty="0">
                <a:solidFill>
                  <a:srgbClr val="0000CC"/>
                </a:solidFill>
                <a:latin typeface="华文楷体" panose="02010600040101010101" pitchFamily="2" charset="-122"/>
                <a:ea typeface="华文楷体" panose="02010600040101010101" pitchFamily="2" charset="-122"/>
              </a:rPr>
              <a:t>E</a:t>
            </a:r>
            <a:r>
              <a:rPr lang="zh-CN" altLang="en-US" sz="2200" dirty="0">
                <a:solidFill>
                  <a:srgbClr val="0000CC"/>
                </a:solidFill>
                <a:latin typeface="华文楷体" panose="02010600040101010101" pitchFamily="2" charset="-122"/>
                <a:ea typeface="华文楷体" panose="02010600040101010101" pitchFamily="2" charset="-122"/>
              </a:rPr>
              <a:t>表中都有</a:t>
            </a:r>
            <a:r>
              <a:rPr lang="de-DE" altLang="en-US" sz="2200" dirty="0">
                <a:solidFill>
                  <a:srgbClr val="0000CC"/>
                </a:solidFill>
                <a:latin typeface="华文楷体" panose="02010600040101010101" pitchFamily="2" charset="-122"/>
                <a:ea typeface="华文楷体" panose="02010600040101010101" pitchFamily="2" charset="-122"/>
              </a:rPr>
              <a:t>sid</a:t>
            </a:r>
            <a:r>
              <a:rPr lang="zh-CN" altLang="en-US" sz="2200" dirty="0">
                <a:solidFill>
                  <a:srgbClr val="0000CC"/>
                </a:solidFill>
                <a:latin typeface="华文楷体" panose="02010600040101010101" pitchFamily="2" charset="-122"/>
                <a:ea typeface="华文楷体" panose="02010600040101010101" pitchFamily="2" charset="-122"/>
              </a:rPr>
              <a:t>，则需要注上表名，即采用“表名</a:t>
            </a:r>
            <a:r>
              <a:rPr lang="de-DE" altLang="en-US" sz="2200" dirty="0">
                <a:solidFill>
                  <a:srgbClr val="0000CC"/>
                </a:solidFill>
                <a:latin typeface="华文楷体" panose="02010600040101010101" pitchFamily="2" charset="-122"/>
                <a:ea typeface="华文楷体" panose="02010600040101010101" pitchFamily="2" charset="-122"/>
              </a:rPr>
              <a:t>.</a:t>
            </a:r>
            <a:r>
              <a:rPr lang="zh-CN" altLang="en-US" sz="2200" dirty="0">
                <a:solidFill>
                  <a:srgbClr val="0000CC"/>
                </a:solidFill>
                <a:latin typeface="华文楷体" panose="02010600040101010101" pitchFamily="2" charset="-122"/>
                <a:ea typeface="华文楷体" panose="02010600040101010101" pitchFamily="2" charset="-122"/>
              </a:rPr>
              <a:t>列名”方式。</a:t>
            </a:r>
            <a:endParaRPr lang="zh-CN" altLang="en-US" sz="2200" dirty="0">
              <a:solidFill>
                <a:srgbClr val="0000CC"/>
              </a:solidFill>
              <a:latin typeface="华文楷体" panose="02010600040101010101" pitchFamily="2" charset="-122"/>
              <a:ea typeface="华文楷体" panose="02010600040101010101" pitchFamily="2" charset="-122"/>
            </a:endParaRPr>
          </a:p>
        </p:txBody>
      </p:sp>
      <p:sp>
        <p:nvSpPr>
          <p:cNvPr id="148485" name="矩形 60"/>
          <p:cNvSpPr/>
          <p:nvPr/>
        </p:nvSpPr>
        <p:spPr>
          <a:xfrm>
            <a:off x="676275" y="1919288"/>
            <a:ext cx="7335838" cy="922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dirty="0"/>
              <a:t>R×S = { (r</a:t>
            </a:r>
            <a:r>
              <a:rPr lang="en-US" altLang="zh-CN" sz="1800" dirty="0"/>
              <a:t>1</a:t>
            </a:r>
            <a:r>
              <a:rPr lang="en-US" altLang="zh-CN" dirty="0"/>
              <a:t>,r</a:t>
            </a:r>
            <a:r>
              <a:rPr lang="en-US" altLang="zh-CN" sz="1800" dirty="0"/>
              <a:t>2</a:t>
            </a:r>
            <a:r>
              <a:rPr lang="en-US" altLang="zh-CN" dirty="0"/>
              <a:t>,…</a:t>
            </a:r>
            <a:r>
              <a:rPr lang="zh-CN" altLang="en-US" dirty="0"/>
              <a:t>，</a:t>
            </a:r>
            <a:r>
              <a:rPr lang="en-US" altLang="zh-CN" dirty="0"/>
              <a:t>r</a:t>
            </a:r>
            <a:r>
              <a:rPr lang="en-US" altLang="zh-CN" sz="1800" dirty="0"/>
              <a:t>n</a:t>
            </a:r>
            <a:r>
              <a:rPr lang="en-US" altLang="zh-CN" dirty="0"/>
              <a:t>,s1,s2, …,s</a:t>
            </a:r>
            <a:r>
              <a:rPr lang="en-US" altLang="zh-CN" sz="1800" dirty="0"/>
              <a:t>m</a:t>
            </a:r>
            <a:r>
              <a:rPr lang="en-US" altLang="zh-CN" dirty="0"/>
              <a:t>) | (r1,r2,…</a:t>
            </a:r>
            <a:r>
              <a:rPr lang="zh-CN" altLang="en-US" dirty="0"/>
              <a:t>，</a:t>
            </a:r>
            <a:r>
              <a:rPr lang="en-US" altLang="zh-CN" dirty="0"/>
              <a:t>rn) ∈R </a:t>
            </a:r>
            <a:r>
              <a:rPr lang="en-US" altLang="zh-CN" dirty="0">
                <a:latin typeface="宋体" panose="02010600030101010101" pitchFamily="2" charset="-122"/>
              </a:rPr>
              <a:t>∧</a:t>
            </a:r>
            <a:endParaRPr lang="en-US" altLang="zh-CN" dirty="0">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None/>
            </a:pPr>
            <a:r>
              <a:rPr lang="en-US" altLang="zh-CN" dirty="0">
                <a:latin typeface="宋体" panose="02010600030101010101" pitchFamily="2" charset="-122"/>
              </a:rPr>
              <a:t>    </a:t>
            </a:r>
            <a:r>
              <a:rPr lang="en-US" altLang="zh-CN" dirty="0"/>
              <a:t>       (s1,s2, …,sm) ∈S}</a:t>
            </a:r>
            <a:endParaRPr lang="de-DE" altLang="en-US" dirty="0"/>
          </a:p>
        </p:txBody>
      </p:sp>
      <p:sp>
        <p:nvSpPr>
          <p:cNvPr id="14848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pic>
        <p:nvPicPr>
          <p:cNvPr id="7" name="图片 6"/>
          <p:cNvPicPr>
            <a:picLocks noChangeAspect="1"/>
          </p:cNvPicPr>
          <p:nvPr>
            <p:custDataLst>
              <p:tags r:id="rId1"/>
            </p:custDataLst>
          </p:nvPr>
        </p:nvPicPr>
        <p:blipFill>
          <a:blip r:embed="rId2"/>
          <a:stretch>
            <a:fillRect/>
          </a:stretch>
        </p:blipFill>
        <p:spPr>
          <a:xfrm>
            <a:off x="2446338" y="3673475"/>
            <a:ext cx="6381750" cy="24892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08548"/>
                                        </p:tgtEl>
                                        <p:attrNameLst>
                                          <p:attrName>style.visibility</p:attrName>
                                        </p:attrNameLst>
                                      </p:cBhvr>
                                      <p:to>
                                        <p:strVal val="visible"/>
                                      </p:to>
                                    </p:set>
                                    <p:anim calcmode="lin" valueType="num">
                                      <p:cBhvr>
                                        <p:cTn id="7" dur="500" fill="hold"/>
                                        <p:tgtEl>
                                          <p:spTgt spid="108548"/>
                                        </p:tgtEl>
                                        <p:attrNameLst>
                                          <p:attrName>ppt_w</p:attrName>
                                        </p:attrNameLst>
                                      </p:cBhvr>
                                      <p:tavLst>
                                        <p:tav tm="0">
                                          <p:val>
                                            <p:fltVal val="0.000000"/>
                                          </p:val>
                                        </p:tav>
                                        <p:tav tm="100000">
                                          <p:val>
                                            <p:strVal val="#ppt_w"/>
                                          </p:val>
                                        </p:tav>
                                      </p:tavLst>
                                    </p:anim>
                                    <p:anim calcmode="lin" valueType="num">
                                      <p:cBhvr>
                                        <p:cTn id="8" dur="500" fill="hold"/>
                                        <p:tgtEl>
                                          <p:spTgt spid="10854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8"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0" name="矩形 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笛卡尔积</a:t>
            </a:r>
            <a:endParaRPr lang="zh-CN" altLang="en-US" sz="2600" dirty="0">
              <a:solidFill>
                <a:srgbClr val="FF3300"/>
              </a:solidFill>
              <a:latin typeface="黑体" panose="02010609060101010101" pitchFamily="49" charset="-122"/>
              <a:ea typeface="黑体" panose="02010609060101010101" pitchFamily="49" charset="-122"/>
            </a:endParaRPr>
          </a:p>
        </p:txBody>
      </p:sp>
      <p:grpSp>
        <p:nvGrpSpPr>
          <p:cNvPr id="110595" name="Group 3"/>
          <p:cNvGrpSpPr/>
          <p:nvPr/>
        </p:nvGrpSpPr>
        <p:grpSpPr>
          <a:xfrm>
            <a:off x="319088" y="1404938"/>
            <a:ext cx="3948112" cy="2509837"/>
            <a:chOff x="0" y="0"/>
            <a:chExt cx="2688" cy="1581"/>
          </a:xfrm>
        </p:grpSpPr>
        <p:sp>
          <p:nvSpPr>
            <p:cNvPr id="150637" name="Text Box 4"/>
            <p:cNvSpPr txBox="1"/>
            <p:nvPr/>
          </p:nvSpPr>
          <p:spPr>
            <a:xfrm>
              <a:off x="768" y="0"/>
              <a:ext cx="1258" cy="37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50638"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50639"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50640"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50641"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50642"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50643"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50644"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50645"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50646"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50647"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50648"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50649"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50650"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50651"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50652"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50653"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50654"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0655"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0656"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0657"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50658"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50659"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50660"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50661"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50662"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50663"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50664"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50665"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50666"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50667"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50668"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10628" name="未知"/>
          <p:cNvSpPr/>
          <p:nvPr/>
        </p:nvSpPr>
        <p:spPr>
          <a:xfrm>
            <a:off x="4419600" y="2166938"/>
            <a:ext cx="1066800" cy="609600"/>
          </a:xfrm>
          <a:custGeom>
            <a:avLst/>
            <a:gdLst/>
            <a:ahLst/>
            <a:cxnLst>
              <a:cxn ang="0">
                <a:pos x="0" y="0"/>
              </a:cxn>
              <a:cxn ang="0">
                <a:pos x="2147483646" y="2147483646"/>
              </a:cxn>
              <a:cxn ang="0">
                <a:pos x="2147483646" y="2147483646"/>
              </a:cxn>
            </a:cxnLst>
            <a:pathLst>
              <a:path w="605" h="356">
                <a:moveTo>
                  <a:pt x="0" y="0"/>
                </a:moveTo>
                <a:lnTo>
                  <a:pt x="592" y="8"/>
                </a:lnTo>
                <a:lnTo>
                  <a:pt x="605" y="356"/>
                </a:lnTo>
              </a:path>
            </a:pathLst>
          </a:custGeom>
          <a:noFill/>
          <a:ln w="50800" cap="flat" cmpd="sng">
            <a:solidFill>
              <a:srgbClr val="CC0000">
                <a:alpha val="100000"/>
              </a:srgbClr>
            </a:solidFill>
            <a:prstDash val="solid"/>
            <a:miter lim="800000"/>
            <a:headEnd type="none" w="med" len="med"/>
            <a:tailEnd type="stealth" w="med" len="med"/>
          </a:ln>
        </p:spPr>
        <p:txBody>
          <a:bodyPr/>
          <a:p>
            <a:endParaRPr lang="zh-CN" altLang="en-US"/>
          </a:p>
        </p:txBody>
      </p:sp>
      <p:sp>
        <p:nvSpPr>
          <p:cNvPr id="110629" name="Rectangle 37"/>
          <p:cNvSpPr/>
          <p:nvPr/>
        </p:nvSpPr>
        <p:spPr>
          <a:xfrm>
            <a:off x="4419600" y="1633538"/>
            <a:ext cx="935038" cy="5349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E</a:t>
            </a:r>
            <a:endParaRPr lang="de-DE" altLang="en-US" sz="2400" dirty="0"/>
          </a:p>
        </p:txBody>
      </p:sp>
      <p:grpSp>
        <p:nvGrpSpPr>
          <p:cNvPr id="110630" name="Group 39"/>
          <p:cNvGrpSpPr/>
          <p:nvPr/>
        </p:nvGrpSpPr>
        <p:grpSpPr>
          <a:xfrm>
            <a:off x="344488" y="4037013"/>
            <a:ext cx="2759075" cy="2000250"/>
            <a:chOff x="0" y="0"/>
            <a:chExt cx="1738" cy="1414"/>
          </a:xfrm>
        </p:grpSpPr>
        <p:sp>
          <p:nvSpPr>
            <p:cNvPr id="150618" name="Text Box 40"/>
            <p:cNvSpPr txBox="1"/>
            <p:nvPr/>
          </p:nvSpPr>
          <p:spPr>
            <a:xfrm>
              <a:off x="241" y="0"/>
              <a:ext cx="1119" cy="36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50619" name="Rectangle 41"/>
            <p:cNvSpPr/>
            <p:nvPr/>
          </p:nvSpPr>
          <p:spPr>
            <a:xfrm>
              <a:off x="1012" y="402"/>
              <a:ext cx="726" cy="316"/>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50620" name="Rectangle 42"/>
            <p:cNvSpPr/>
            <p:nvPr/>
          </p:nvSpPr>
          <p:spPr>
            <a:xfrm>
              <a:off x="487" y="402"/>
              <a:ext cx="593" cy="316"/>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50621" name="Rectangle 43"/>
            <p:cNvSpPr/>
            <p:nvPr/>
          </p:nvSpPr>
          <p:spPr>
            <a:xfrm>
              <a:off x="0" y="402"/>
              <a:ext cx="487" cy="316"/>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50622" name="Rectangle 44"/>
            <p:cNvSpPr/>
            <p:nvPr/>
          </p:nvSpPr>
          <p:spPr>
            <a:xfrm>
              <a:off x="1080" y="1090"/>
              <a:ext cx="522" cy="31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50623" name="Rectangle 45"/>
            <p:cNvSpPr/>
            <p:nvPr/>
          </p:nvSpPr>
          <p:spPr>
            <a:xfrm>
              <a:off x="487" y="1090"/>
              <a:ext cx="593" cy="31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50624" name="Rectangle 46"/>
            <p:cNvSpPr/>
            <p:nvPr/>
          </p:nvSpPr>
          <p:spPr>
            <a:xfrm>
              <a:off x="0" y="1090"/>
              <a:ext cx="487" cy="317"/>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50625" name="Rectangle 47"/>
            <p:cNvSpPr/>
            <p:nvPr/>
          </p:nvSpPr>
          <p:spPr>
            <a:xfrm>
              <a:off x="1080" y="718"/>
              <a:ext cx="522" cy="3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50626" name="Rectangle 48"/>
            <p:cNvSpPr/>
            <p:nvPr/>
          </p:nvSpPr>
          <p:spPr>
            <a:xfrm>
              <a:off x="487" y="718"/>
              <a:ext cx="593" cy="3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50627" name="Rectangle 49"/>
            <p:cNvSpPr/>
            <p:nvPr/>
          </p:nvSpPr>
          <p:spPr>
            <a:xfrm>
              <a:off x="0" y="718"/>
              <a:ext cx="487" cy="37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50628" name="Line 50"/>
            <p:cNvSpPr/>
            <p:nvPr/>
          </p:nvSpPr>
          <p:spPr>
            <a:xfrm>
              <a:off x="0" y="402"/>
              <a:ext cx="1602" cy="0"/>
            </a:xfrm>
            <a:prstGeom prst="line">
              <a:avLst/>
            </a:prstGeom>
            <a:ln w="28575" cap="sq" cmpd="sng">
              <a:solidFill>
                <a:schemeClr val="tx1"/>
              </a:solidFill>
              <a:prstDash val="solid"/>
              <a:headEnd type="none" w="med" len="med"/>
              <a:tailEnd type="none" w="med" len="med"/>
            </a:ln>
          </p:spPr>
        </p:sp>
        <p:sp>
          <p:nvSpPr>
            <p:cNvPr id="150629" name="Line 51"/>
            <p:cNvSpPr/>
            <p:nvPr/>
          </p:nvSpPr>
          <p:spPr>
            <a:xfrm>
              <a:off x="0" y="1090"/>
              <a:ext cx="1602" cy="0"/>
            </a:xfrm>
            <a:prstGeom prst="line">
              <a:avLst/>
            </a:prstGeom>
            <a:ln w="12700" cap="flat" cmpd="sng">
              <a:solidFill>
                <a:schemeClr val="tx1"/>
              </a:solidFill>
              <a:prstDash val="solid"/>
              <a:headEnd type="none" w="med" len="med"/>
              <a:tailEnd type="none" w="med" len="med"/>
            </a:ln>
          </p:spPr>
        </p:sp>
        <p:sp>
          <p:nvSpPr>
            <p:cNvPr id="150630" name="Line 52"/>
            <p:cNvSpPr/>
            <p:nvPr/>
          </p:nvSpPr>
          <p:spPr>
            <a:xfrm>
              <a:off x="0" y="1407"/>
              <a:ext cx="1602" cy="0"/>
            </a:xfrm>
            <a:prstGeom prst="line">
              <a:avLst/>
            </a:prstGeom>
            <a:ln w="28575" cap="sq" cmpd="sng">
              <a:solidFill>
                <a:schemeClr val="tx1"/>
              </a:solidFill>
              <a:prstDash val="solid"/>
              <a:headEnd type="none" w="med" len="med"/>
              <a:tailEnd type="none" w="med" len="med"/>
            </a:ln>
          </p:spPr>
        </p:sp>
        <p:sp>
          <p:nvSpPr>
            <p:cNvPr id="150631" name="Line 53"/>
            <p:cNvSpPr/>
            <p:nvPr/>
          </p:nvSpPr>
          <p:spPr>
            <a:xfrm>
              <a:off x="0" y="402"/>
              <a:ext cx="0" cy="1005"/>
            </a:xfrm>
            <a:prstGeom prst="line">
              <a:avLst/>
            </a:prstGeom>
            <a:ln w="28575" cap="sq" cmpd="sng">
              <a:solidFill>
                <a:schemeClr val="tx1"/>
              </a:solidFill>
              <a:prstDash val="solid"/>
              <a:headEnd type="none" w="med" len="med"/>
              <a:tailEnd type="none" w="med" len="med"/>
            </a:ln>
          </p:spPr>
        </p:sp>
        <p:sp>
          <p:nvSpPr>
            <p:cNvPr id="150632" name="Line 54"/>
            <p:cNvSpPr/>
            <p:nvPr/>
          </p:nvSpPr>
          <p:spPr>
            <a:xfrm>
              <a:off x="487" y="402"/>
              <a:ext cx="0" cy="1005"/>
            </a:xfrm>
            <a:prstGeom prst="line">
              <a:avLst/>
            </a:prstGeom>
            <a:ln w="12700" cap="flat" cmpd="sng">
              <a:solidFill>
                <a:schemeClr val="tx1"/>
              </a:solidFill>
              <a:prstDash val="solid"/>
              <a:headEnd type="none" w="med" len="med"/>
              <a:tailEnd type="none" w="med" len="med"/>
            </a:ln>
          </p:spPr>
        </p:sp>
        <p:sp>
          <p:nvSpPr>
            <p:cNvPr id="150633" name="Line 55"/>
            <p:cNvSpPr/>
            <p:nvPr/>
          </p:nvSpPr>
          <p:spPr>
            <a:xfrm>
              <a:off x="1012" y="409"/>
              <a:ext cx="0" cy="1005"/>
            </a:xfrm>
            <a:prstGeom prst="line">
              <a:avLst/>
            </a:prstGeom>
            <a:ln w="12700" cap="flat" cmpd="sng">
              <a:solidFill>
                <a:schemeClr val="tx1"/>
              </a:solidFill>
              <a:prstDash val="solid"/>
              <a:headEnd type="none" w="med" len="med"/>
              <a:tailEnd type="none" w="med" len="med"/>
            </a:ln>
          </p:spPr>
        </p:sp>
        <p:sp>
          <p:nvSpPr>
            <p:cNvPr id="150634" name="Line 56"/>
            <p:cNvSpPr/>
            <p:nvPr/>
          </p:nvSpPr>
          <p:spPr>
            <a:xfrm>
              <a:off x="1602" y="402"/>
              <a:ext cx="0" cy="688"/>
            </a:xfrm>
            <a:prstGeom prst="line">
              <a:avLst/>
            </a:prstGeom>
            <a:ln w="12700" cap="flat" cmpd="sng">
              <a:solidFill>
                <a:schemeClr val="tx1"/>
              </a:solidFill>
              <a:prstDash val="solid"/>
              <a:headEnd type="none" w="med" len="med"/>
              <a:tailEnd type="none" w="med" len="med"/>
            </a:ln>
          </p:spPr>
        </p:sp>
        <p:sp>
          <p:nvSpPr>
            <p:cNvPr id="150635" name="Line 57"/>
            <p:cNvSpPr/>
            <p:nvPr/>
          </p:nvSpPr>
          <p:spPr>
            <a:xfrm>
              <a:off x="1602" y="1090"/>
              <a:ext cx="0" cy="317"/>
            </a:xfrm>
            <a:prstGeom prst="line">
              <a:avLst/>
            </a:prstGeom>
            <a:ln w="28575" cap="sq" cmpd="sng">
              <a:solidFill>
                <a:schemeClr val="tx1"/>
              </a:solidFill>
              <a:prstDash val="solid"/>
              <a:headEnd type="none" w="med" len="med"/>
              <a:tailEnd type="none" w="med" len="med"/>
            </a:ln>
          </p:spPr>
        </p:sp>
        <p:sp>
          <p:nvSpPr>
            <p:cNvPr id="150636" name="Line 58"/>
            <p:cNvSpPr/>
            <p:nvPr/>
          </p:nvSpPr>
          <p:spPr>
            <a:xfrm>
              <a:off x="0" y="718"/>
              <a:ext cx="1602" cy="0"/>
            </a:xfrm>
            <a:prstGeom prst="line">
              <a:avLst/>
            </a:prstGeom>
            <a:ln w="12700" cap="flat" cmpd="sng">
              <a:solidFill>
                <a:schemeClr val="tx1"/>
              </a:solidFill>
              <a:prstDash val="solid"/>
              <a:headEnd type="none" w="med" len="med"/>
              <a:tailEnd type="none" w="med" len="med"/>
            </a:ln>
          </p:spPr>
        </p:sp>
      </p:grpSp>
      <p:graphicFrame>
        <p:nvGraphicFramePr>
          <p:cNvPr id="110650" name="表格 110649"/>
          <p:cNvGraphicFramePr/>
          <p:nvPr/>
        </p:nvGraphicFramePr>
        <p:xfrm>
          <a:off x="2698750" y="2784475"/>
          <a:ext cx="6126163" cy="3438525"/>
        </p:xfrm>
        <a:graphic>
          <a:graphicData uri="http://schemas.openxmlformats.org/drawingml/2006/table">
            <a:tbl>
              <a:tblPr/>
              <a:tblGrid>
                <a:gridCol w="857250"/>
                <a:gridCol w="1016000"/>
                <a:gridCol w="623888"/>
                <a:gridCol w="869950"/>
                <a:gridCol w="828675"/>
                <a:gridCol w="1019175"/>
                <a:gridCol w="911225"/>
              </a:tblGrid>
              <a:tr h="46676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BD0F5E"/>
                          </a:solidFill>
                        </a:rPr>
                        <a:t>(sid)</a:t>
                      </a:r>
                      <a:endParaRPr lang="de-DE" altLang="en-US" sz="2000" b="0" dirty="0">
                        <a:solidFill>
                          <a:srgbClr val="BD0F5E"/>
                        </a:solidFill>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sname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age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grade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cid</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score</a:t>
                      </a:r>
                      <a:endParaRPr lang="de-DE" altLang="en-US" sz="20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7468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sz="1800" b="0" dirty="0"/>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r>
              <a:tr h="37627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sz="1800" b="0" dirty="0"/>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F7F8">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993">
                        <a:alpha val="100000"/>
                      </a:srgbClr>
                    </a:solidFill>
                  </a:tcPr>
                </a:tc>
              </a:tr>
              <a:tr h="36674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sz="1800" b="0" dirty="0">
                        <a:solidFill>
                          <a:srgbClr val="0000FF"/>
                        </a:solidFill>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6579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sz="1800" b="0" dirty="0">
                        <a:solidFill>
                          <a:srgbClr val="0000FF"/>
                        </a:solidFill>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6833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6579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7627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7786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sz="1800" b="0">
                        <a:solidFill>
                          <a:srgbClr val="0000FF"/>
                        </a:solidFill>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sz="1800" b="0" dirty="0">
                        <a:ea typeface="华文楷体" panose="02010600040101010101" pitchFamily="2" charset="-122"/>
                      </a:endParaRPr>
                    </a:p>
                  </a:txBody>
                  <a:tcPr marT="45724" marB="4572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5061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10595"/>
                                        </p:tgtEl>
                                        <p:attrNameLst>
                                          <p:attrName>style.visibility</p:attrName>
                                        </p:attrNameLst>
                                      </p:cBhvr>
                                      <p:to>
                                        <p:strVal val="visible"/>
                                      </p:to>
                                    </p:set>
                                    <p:animEffect transition="in" filter="wipe(down)">
                                      <p:cBhvr>
                                        <p:cTn id="7" dur="500"/>
                                        <p:tgtEl>
                                          <p:spTgt spid="11059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10630"/>
                                        </p:tgtEl>
                                        <p:attrNameLst>
                                          <p:attrName>style.visibility</p:attrName>
                                        </p:attrNameLst>
                                      </p:cBhvr>
                                      <p:to>
                                        <p:strVal val="visible"/>
                                      </p:to>
                                    </p:set>
                                    <p:animEffect transition="in" filter="wipe(down)">
                                      <p:cBhvr>
                                        <p:cTn id="12" dur="500"/>
                                        <p:tgtEl>
                                          <p:spTgt spid="11063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0629"/>
                                        </p:tgtEl>
                                        <p:attrNameLst>
                                          <p:attrName>style.visibility</p:attrName>
                                        </p:attrNameLst>
                                      </p:cBhvr>
                                      <p:to>
                                        <p:strVal val="visible"/>
                                      </p:to>
                                    </p:set>
                                    <p:animEffect transition="in" filter="dissolve">
                                      <p:cBhvr>
                                        <p:cTn id="17" dur="500"/>
                                        <p:tgtEl>
                                          <p:spTgt spid="110629"/>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10628"/>
                                        </p:tgtEl>
                                        <p:attrNameLst>
                                          <p:attrName>style.visibility</p:attrName>
                                        </p:attrNameLst>
                                      </p:cBhvr>
                                      <p:to>
                                        <p:strVal val="visible"/>
                                      </p:to>
                                    </p:set>
                                    <p:anim calcmode="lin" valueType="num">
                                      <p:cBhvr>
                                        <p:cTn id="22" dur="500" fill="hold"/>
                                        <p:tgtEl>
                                          <p:spTgt spid="110628"/>
                                        </p:tgtEl>
                                        <p:attrNameLst>
                                          <p:attrName>ppt_w</p:attrName>
                                        </p:attrNameLst>
                                      </p:cBhvr>
                                      <p:tavLst>
                                        <p:tav tm="0">
                                          <p:val>
                                            <p:fltVal val="0.000000"/>
                                          </p:val>
                                        </p:tav>
                                        <p:tav tm="100000">
                                          <p:val>
                                            <p:strVal val="#ppt_w"/>
                                          </p:val>
                                        </p:tav>
                                      </p:tavLst>
                                    </p:anim>
                                    <p:anim calcmode="lin" valueType="num">
                                      <p:cBhvr>
                                        <p:cTn id="23" dur="500" fill="hold"/>
                                        <p:tgtEl>
                                          <p:spTgt spid="110628"/>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10650"/>
                                        </p:tgtEl>
                                        <p:attrNameLst>
                                          <p:attrName>style.visibility</p:attrName>
                                        </p:attrNameLst>
                                      </p:cBhvr>
                                      <p:to>
                                        <p:strVal val="visible"/>
                                      </p:to>
                                    </p:set>
                                    <p:animEffect transition="in" filter="dissolve">
                                      <p:cBhvr>
                                        <p:cTn id="28" dur="500"/>
                                        <p:tgtEl>
                                          <p:spTgt spid="110650"/>
                                        </p:tgtEl>
                                      </p:cBhvr>
                                    </p:animEffect>
                                  </p:childTnLst>
                                  <p:subTnLst>
                                    <p:set>
                                      <p:cBhvr override="childStyle">
                                        <p:cTn dur="1" fill="hold" display="0" masterRel="nextClick" afterEffect="1"/>
                                        <p:tgtEl>
                                          <p:spTgt spid="11065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29"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8" name="矩形 2"/>
          <p:cNvSpPr/>
          <p:nvPr/>
        </p:nvSpPr>
        <p:spPr>
          <a:xfrm>
            <a:off x="479425"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4.</a:t>
            </a:r>
            <a:r>
              <a:rPr lang="zh-CN" altLang="en-US" sz="2800" dirty="0">
                <a:solidFill>
                  <a:srgbClr val="0033CC"/>
                </a:solidFill>
                <a:latin typeface="黑体" panose="02010609060101010101" pitchFamily="49" charset="-122"/>
                <a:ea typeface="黑体" panose="02010609060101010101" pitchFamily="49" charset="-122"/>
              </a:rPr>
              <a:t>集合操作</a:t>
            </a:r>
            <a:r>
              <a:rPr lang="en-US" altLang="zh-CN" sz="2600" dirty="0">
                <a:solidFill>
                  <a:srgbClr val="FF3300"/>
                </a:solidFill>
                <a:latin typeface="黑体" panose="02010609060101010101" pitchFamily="49" charset="-122"/>
                <a:ea typeface="黑体" panose="02010609060101010101" pitchFamily="49" charset="-122"/>
              </a:rPr>
              <a:t>—</a:t>
            </a:r>
            <a:r>
              <a:rPr lang="zh-CN" altLang="en-US" sz="2600" dirty="0">
                <a:solidFill>
                  <a:srgbClr val="FF3300"/>
                </a:solidFill>
                <a:latin typeface="黑体" panose="02010609060101010101" pitchFamily="49" charset="-122"/>
                <a:ea typeface="黑体" panose="02010609060101010101" pitchFamily="49" charset="-122"/>
              </a:rPr>
              <a:t>SELECT-FROM-WHERE与关系代数</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12643" name="Rectangle 3"/>
          <p:cNvSpPr txBox="1"/>
          <p:nvPr/>
        </p:nvSpPr>
        <p:spPr>
          <a:xfrm>
            <a:off x="5540375" y="1660525"/>
            <a:ext cx="3502025" cy="1619250"/>
          </a:xfrm>
          <a:prstGeom prst="rect">
            <a:avLst/>
          </a:prstGeom>
          <a:noFill/>
          <a:ln w="28575" cap="flat" cmpd="sng">
            <a:solidFill>
              <a:srgbClr val="000000"/>
            </a:solidFill>
            <a:prstDash val="lgDashDotDot"/>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0"/>
              </a:spcBef>
              <a:buFont typeface="Arial" panose="020B0604020202020204" pitchFamily="34" charset="0"/>
              <a:buNone/>
            </a:pPr>
            <a:r>
              <a:rPr lang="zh-CN" altLang="en-US" sz="2400" dirty="0">
                <a:solidFill>
                  <a:srgbClr val="003300"/>
                </a:solidFill>
              </a:rPr>
              <a:t>SELECT</a:t>
            </a:r>
            <a:r>
              <a:rPr lang="zh-CN" altLang="en-US" sz="2400" dirty="0"/>
              <a:t> S1.sid, sname,   </a:t>
            </a:r>
            <a:endParaRPr lang="zh-CN" altLang="en-US" sz="2400" dirty="0"/>
          </a:p>
          <a:p>
            <a:pPr marL="342900" lvl="0" indent="-342900" eaLnBrk="1" hangingPunct="1">
              <a:spcBef>
                <a:spcPct val="0"/>
              </a:spcBef>
              <a:buFont typeface="Arial" panose="020B0604020202020204" pitchFamily="34" charset="0"/>
              <a:buNone/>
            </a:pPr>
            <a:r>
              <a:rPr lang="zh-CN" altLang="en-US" sz="2400" dirty="0"/>
              <a:t>   E.cid, score</a:t>
            </a:r>
            <a:endParaRPr lang="zh-CN" altLang="en-US" sz="2400" dirty="0"/>
          </a:p>
          <a:p>
            <a:pPr marL="342900" lvl="0" indent="-342900" eaLnBrk="1" hangingPunct="1">
              <a:spcBef>
                <a:spcPct val="0"/>
              </a:spcBef>
              <a:buFont typeface="Arial" panose="020B0604020202020204" pitchFamily="34" charset="0"/>
              <a:buNone/>
            </a:pPr>
            <a:r>
              <a:rPr lang="zh-CN" altLang="en-US" sz="2400" dirty="0">
                <a:solidFill>
                  <a:srgbClr val="003300"/>
                </a:solidFill>
              </a:rPr>
              <a:t>FROM</a:t>
            </a:r>
            <a:r>
              <a:rPr lang="zh-CN" altLang="en-US" sz="2400" dirty="0"/>
              <a:t> S1,E </a:t>
            </a:r>
            <a:endParaRPr lang="zh-CN" altLang="en-US" sz="2400" dirty="0"/>
          </a:p>
          <a:p>
            <a:pPr marL="342900" lvl="0" indent="-342900" eaLnBrk="1" hangingPunct="1">
              <a:spcBef>
                <a:spcPct val="0"/>
              </a:spcBef>
              <a:buFont typeface="Arial" panose="020B0604020202020204" pitchFamily="34" charset="0"/>
              <a:buNone/>
            </a:pPr>
            <a:r>
              <a:rPr lang="zh-CN" altLang="en-US" sz="2400" dirty="0">
                <a:solidFill>
                  <a:srgbClr val="003300"/>
                </a:solidFill>
              </a:rPr>
              <a:t>WHERE</a:t>
            </a:r>
            <a:r>
              <a:rPr lang="zh-CN" altLang="en-US" sz="2400" dirty="0"/>
              <a:t> S1.sid=E.sid</a:t>
            </a:r>
            <a:endParaRPr lang="zh-CN" altLang="en-US" sz="2400" dirty="0"/>
          </a:p>
        </p:txBody>
      </p:sp>
      <p:grpSp>
        <p:nvGrpSpPr>
          <p:cNvPr id="112644" name="Group 4"/>
          <p:cNvGrpSpPr/>
          <p:nvPr/>
        </p:nvGrpSpPr>
        <p:grpSpPr>
          <a:xfrm>
            <a:off x="319088" y="1444625"/>
            <a:ext cx="4267200" cy="2509838"/>
            <a:chOff x="0" y="0"/>
            <a:chExt cx="2688" cy="1581"/>
          </a:xfrm>
        </p:grpSpPr>
        <p:sp>
          <p:nvSpPr>
            <p:cNvPr id="152731" name="Text Box 5"/>
            <p:cNvSpPr txBox="1"/>
            <p:nvPr/>
          </p:nvSpPr>
          <p:spPr>
            <a:xfrm>
              <a:off x="768" y="0"/>
              <a:ext cx="1056" cy="2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52732" name="Rectangle 6"/>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52733" name="Rectangle 7"/>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52734" name="Rectangle 8"/>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张大卫</a:t>
              </a:r>
              <a:endParaRPr lang="zh-CN" altLang="en-US" dirty="0"/>
            </a:p>
          </p:txBody>
        </p:sp>
        <p:sp>
          <p:nvSpPr>
            <p:cNvPr id="152735" name="Rectangle 9"/>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52736" name="Rectangle 10"/>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52737" name="Rectangle 11"/>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52738" name="Rectangle 12"/>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陈胜</a:t>
              </a:r>
              <a:endParaRPr lang="zh-CN" altLang="en-US" dirty="0"/>
            </a:p>
          </p:txBody>
        </p:sp>
        <p:sp>
          <p:nvSpPr>
            <p:cNvPr id="152739" name="Rectangle 13"/>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52740" name="Rectangle 14"/>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52741" name="Rectangle 15"/>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52742" name="Rectangle 16"/>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ea typeface="华文楷体" panose="02010600040101010101" pitchFamily="2" charset="-122"/>
                </a:rPr>
                <a:t>李峰</a:t>
              </a:r>
              <a:endParaRPr lang="de-DE" altLang="en-US" dirty="0">
                <a:solidFill>
                  <a:srgbClr val="0000FF"/>
                </a:solidFill>
                <a:ea typeface="华文楷体" panose="02010600040101010101" pitchFamily="2" charset="-122"/>
              </a:endParaRPr>
            </a:p>
          </p:txBody>
        </p:sp>
        <p:sp>
          <p:nvSpPr>
            <p:cNvPr id="152743" name="Rectangle 17"/>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52744" name="Rectangle 18"/>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52745" name="Rectangle 19"/>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52746" name="Rectangle 20"/>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ea typeface="华文楷体" panose="02010600040101010101" pitchFamily="2" charset="-122"/>
                </a:rPr>
                <a:t>何大明</a:t>
              </a:r>
              <a:endParaRPr lang="de-DE" altLang="en-US" dirty="0">
                <a:solidFill>
                  <a:srgbClr val="0000FF"/>
                </a:solidFill>
                <a:ea typeface="华文楷体" panose="02010600040101010101" pitchFamily="2" charset="-122"/>
              </a:endParaRPr>
            </a:p>
          </p:txBody>
        </p:sp>
        <p:sp>
          <p:nvSpPr>
            <p:cNvPr id="152747" name="Rectangle 21"/>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52748" name="Rectangle 22"/>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49" name="Rectangle 23"/>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50" name="Rectangle 24"/>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51" name="Rectangle 25"/>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52752" name="Line 26"/>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52753" name="Line 27"/>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52754" name="Line 28"/>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52755" name="Line 29"/>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52756" name="Line 30"/>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52757" name="Line 31"/>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52758" name="Line 32"/>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52759" name="Line 33"/>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52760" name="Line 34"/>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52761" name="Line 35"/>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52762" name="Line 36"/>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52581" name="Rectangle 37"/>
          <p:cNvSpPr/>
          <p:nvPr/>
        </p:nvSpPr>
        <p:spPr>
          <a:xfrm>
            <a:off x="1471613" y="1444625"/>
            <a:ext cx="1863725" cy="534988"/>
          </a:xfrm>
          <a:prstGeom prst="rect">
            <a:avLst/>
          </a:prstGeom>
          <a:solidFill>
            <a:srgbClr val="FF99CC"/>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t>S1</a:t>
            </a:r>
            <a:r>
              <a:rPr lang="zh-CN" altLang="en-US" sz="2400" dirty="0">
                <a:sym typeface="Symbol" panose="05050102010706020507" pitchFamily="18" charset="2"/>
              </a:rPr>
              <a:t></a:t>
            </a:r>
            <a:r>
              <a:rPr lang="zh-CN" altLang="en-US" sz="2400" dirty="0"/>
              <a:t>E</a:t>
            </a:r>
            <a:endParaRPr lang="de-DE" altLang="en-US" sz="2400" dirty="0"/>
          </a:p>
        </p:txBody>
      </p:sp>
      <p:grpSp>
        <p:nvGrpSpPr>
          <p:cNvPr id="112678" name="Group 38"/>
          <p:cNvGrpSpPr/>
          <p:nvPr/>
        </p:nvGrpSpPr>
        <p:grpSpPr>
          <a:xfrm>
            <a:off x="296863" y="4111625"/>
            <a:ext cx="3429000" cy="1614488"/>
            <a:chOff x="0" y="0"/>
            <a:chExt cx="2160" cy="1017"/>
          </a:xfrm>
        </p:grpSpPr>
        <p:sp>
          <p:nvSpPr>
            <p:cNvPr id="152712" name="Text Box 39"/>
            <p:cNvSpPr txBox="1"/>
            <p:nvPr/>
          </p:nvSpPr>
          <p:spPr>
            <a:xfrm>
              <a:off x="528" y="0"/>
              <a:ext cx="1152" cy="2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52713" name="Rectangle 40"/>
            <p:cNvSpPr/>
            <p:nvPr/>
          </p:nvSpPr>
          <p:spPr>
            <a:xfrm>
              <a:off x="1456" y="288"/>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52714" name="Rectangle 41"/>
            <p:cNvSpPr/>
            <p:nvPr/>
          </p:nvSpPr>
          <p:spPr>
            <a:xfrm>
              <a:off x="657" y="288"/>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52715" name="Rectangle 42"/>
            <p:cNvSpPr/>
            <p:nvPr/>
          </p:nvSpPr>
          <p:spPr>
            <a:xfrm>
              <a:off x="0" y="288"/>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52716" name="Rectangle 43"/>
            <p:cNvSpPr/>
            <p:nvPr/>
          </p:nvSpPr>
          <p:spPr>
            <a:xfrm>
              <a:off x="1456" y="787"/>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52717" name="Rectangle 44"/>
            <p:cNvSpPr/>
            <p:nvPr/>
          </p:nvSpPr>
          <p:spPr>
            <a:xfrm>
              <a:off x="657" y="787"/>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52718" name="Rectangle 45"/>
            <p:cNvSpPr/>
            <p:nvPr/>
          </p:nvSpPr>
          <p:spPr>
            <a:xfrm>
              <a:off x="0" y="787"/>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52719" name="Rectangle 46"/>
            <p:cNvSpPr/>
            <p:nvPr/>
          </p:nvSpPr>
          <p:spPr>
            <a:xfrm>
              <a:off x="1456" y="518"/>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52720" name="Rectangle 47"/>
            <p:cNvSpPr/>
            <p:nvPr/>
          </p:nvSpPr>
          <p:spPr>
            <a:xfrm>
              <a:off x="657" y="518"/>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52721" name="Rectangle 48"/>
            <p:cNvSpPr/>
            <p:nvPr/>
          </p:nvSpPr>
          <p:spPr>
            <a:xfrm>
              <a:off x="0" y="518"/>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52722" name="Line 49"/>
            <p:cNvSpPr/>
            <p:nvPr/>
          </p:nvSpPr>
          <p:spPr>
            <a:xfrm>
              <a:off x="0" y="288"/>
              <a:ext cx="2160" cy="0"/>
            </a:xfrm>
            <a:prstGeom prst="line">
              <a:avLst/>
            </a:prstGeom>
            <a:ln w="28575" cap="sq" cmpd="sng">
              <a:solidFill>
                <a:schemeClr val="tx1"/>
              </a:solidFill>
              <a:prstDash val="solid"/>
              <a:headEnd type="none" w="med" len="med"/>
              <a:tailEnd type="none" w="med" len="med"/>
            </a:ln>
          </p:spPr>
        </p:sp>
        <p:sp>
          <p:nvSpPr>
            <p:cNvPr id="152723" name="Line 50"/>
            <p:cNvSpPr/>
            <p:nvPr/>
          </p:nvSpPr>
          <p:spPr>
            <a:xfrm>
              <a:off x="0" y="787"/>
              <a:ext cx="2160" cy="0"/>
            </a:xfrm>
            <a:prstGeom prst="line">
              <a:avLst/>
            </a:prstGeom>
            <a:ln w="12700" cap="flat" cmpd="sng">
              <a:solidFill>
                <a:schemeClr val="tx1"/>
              </a:solidFill>
              <a:prstDash val="solid"/>
              <a:headEnd type="none" w="med" len="med"/>
              <a:tailEnd type="none" w="med" len="med"/>
            </a:ln>
          </p:spPr>
        </p:sp>
        <p:sp>
          <p:nvSpPr>
            <p:cNvPr id="152724" name="Line 51"/>
            <p:cNvSpPr/>
            <p:nvPr/>
          </p:nvSpPr>
          <p:spPr>
            <a:xfrm>
              <a:off x="0" y="1017"/>
              <a:ext cx="2160" cy="0"/>
            </a:xfrm>
            <a:prstGeom prst="line">
              <a:avLst/>
            </a:prstGeom>
            <a:ln w="28575" cap="sq" cmpd="sng">
              <a:solidFill>
                <a:schemeClr val="tx1"/>
              </a:solidFill>
              <a:prstDash val="solid"/>
              <a:headEnd type="none" w="med" len="med"/>
              <a:tailEnd type="none" w="med" len="med"/>
            </a:ln>
          </p:spPr>
        </p:sp>
        <p:sp>
          <p:nvSpPr>
            <p:cNvPr id="152725" name="Line 52"/>
            <p:cNvSpPr/>
            <p:nvPr/>
          </p:nvSpPr>
          <p:spPr>
            <a:xfrm>
              <a:off x="0" y="288"/>
              <a:ext cx="0" cy="729"/>
            </a:xfrm>
            <a:prstGeom prst="line">
              <a:avLst/>
            </a:prstGeom>
            <a:ln w="28575" cap="sq" cmpd="sng">
              <a:solidFill>
                <a:schemeClr val="tx1"/>
              </a:solidFill>
              <a:prstDash val="solid"/>
              <a:headEnd type="none" w="med" len="med"/>
              <a:tailEnd type="none" w="med" len="med"/>
            </a:ln>
          </p:spPr>
        </p:sp>
        <p:sp>
          <p:nvSpPr>
            <p:cNvPr id="152726" name="Line 53"/>
            <p:cNvSpPr/>
            <p:nvPr/>
          </p:nvSpPr>
          <p:spPr>
            <a:xfrm>
              <a:off x="657" y="288"/>
              <a:ext cx="0" cy="729"/>
            </a:xfrm>
            <a:prstGeom prst="line">
              <a:avLst/>
            </a:prstGeom>
            <a:ln w="12700" cap="flat" cmpd="sng">
              <a:solidFill>
                <a:schemeClr val="tx1"/>
              </a:solidFill>
              <a:prstDash val="solid"/>
              <a:headEnd type="none" w="med" len="med"/>
              <a:tailEnd type="none" w="med" len="med"/>
            </a:ln>
          </p:spPr>
        </p:sp>
        <p:sp>
          <p:nvSpPr>
            <p:cNvPr id="152727" name="Line 54"/>
            <p:cNvSpPr/>
            <p:nvPr/>
          </p:nvSpPr>
          <p:spPr>
            <a:xfrm>
              <a:off x="1456" y="288"/>
              <a:ext cx="0" cy="729"/>
            </a:xfrm>
            <a:prstGeom prst="line">
              <a:avLst/>
            </a:prstGeom>
            <a:ln w="12700" cap="flat" cmpd="sng">
              <a:solidFill>
                <a:schemeClr val="tx1"/>
              </a:solidFill>
              <a:prstDash val="solid"/>
              <a:headEnd type="none" w="med" len="med"/>
              <a:tailEnd type="none" w="med" len="med"/>
            </a:ln>
          </p:spPr>
        </p:sp>
        <p:sp>
          <p:nvSpPr>
            <p:cNvPr id="152728" name="Line 55"/>
            <p:cNvSpPr/>
            <p:nvPr/>
          </p:nvSpPr>
          <p:spPr>
            <a:xfrm>
              <a:off x="2160" y="288"/>
              <a:ext cx="0" cy="499"/>
            </a:xfrm>
            <a:prstGeom prst="line">
              <a:avLst/>
            </a:prstGeom>
            <a:ln w="12700" cap="flat" cmpd="sng">
              <a:solidFill>
                <a:schemeClr val="tx1"/>
              </a:solidFill>
              <a:prstDash val="solid"/>
              <a:headEnd type="none" w="med" len="med"/>
              <a:tailEnd type="none" w="med" len="med"/>
            </a:ln>
          </p:spPr>
        </p:sp>
        <p:sp>
          <p:nvSpPr>
            <p:cNvPr id="152729" name="Line 56"/>
            <p:cNvSpPr/>
            <p:nvPr/>
          </p:nvSpPr>
          <p:spPr>
            <a:xfrm>
              <a:off x="2160" y="787"/>
              <a:ext cx="0" cy="230"/>
            </a:xfrm>
            <a:prstGeom prst="line">
              <a:avLst/>
            </a:prstGeom>
            <a:ln w="28575" cap="sq" cmpd="sng">
              <a:solidFill>
                <a:schemeClr val="tx1"/>
              </a:solidFill>
              <a:prstDash val="solid"/>
              <a:headEnd type="none" w="med" len="med"/>
              <a:tailEnd type="none" w="med" len="med"/>
            </a:ln>
          </p:spPr>
        </p:sp>
        <p:sp>
          <p:nvSpPr>
            <p:cNvPr id="152730" name="Line 57"/>
            <p:cNvSpPr/>
            <p:nvPr/>
          </p:nvSpPr>
          <p:spPr>
            <a:xfrm>
              <a:off x="0" y="518"/>
              <a:ext cx="2160" cy="0"/>
            </a:xfrm>
            <a:prstGeom prst="line">
              <a:avLst/>
            </a:prstGeom>
            <a:ln w="12700" cap="flat" cmpd="sng">
              <a:solidFill>
                <a:schemeClr val="tx1"/>
              </a:solidFill>
              <a:prstDash val="solid"/>
              <a:headEnd type="none" w="med" len="med"/>
              <a:tailEnd type="none" w="med" len="med"/>
            </a:ln>
          </p:spPr>
        </p:sp>
      </p:grpSp>
      <p:graphicFrame>
        <p:nvGraphicFramePr>
          <p:cNvPr id="112698" name="表格 112697"/>
          <p:cNvGraphicFramePr/>
          <p:nvPr/>
        </p:nvGraphicFramePr>
        <p:xfrm>
          <a:off x="68263" y="1947863"/>
          <a:ext cx="5508625" cy="4641850"/>
        </p:xfrm>
        <a:graphic>
          <a:graphicData uri="http://schemas.openxmlformats.org/drawingml/2006/table">
            <a:tbl>
              <a:tblPr/>
              <a:tblGrid>
                <a:gridCol w="755650"/>
                <a:gridCol w="1042988"/>
                <a:gridCol w="612775"/>
                <a:gridCol w="792162"/>
                <a:gridCol w="792163"/>
                <a:gridCol w="685800"/>
                <a:gridCol w="827087"/>
              </a:tblGrid>
              <a:tr h="546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BD0F5E"/>
                          </a:solidFill>
                        </a:rPr>
                        <a:t>(sid)</a:t>
                      </a:r>
                      <a:endParaRPr lang="de-DE" altLang="en-US" sz="2000" b="0" dirty="0">
                        <a:solidFill>
                          <a:srgbClr val="BD0F5E"/>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sname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age</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grade</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cid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score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323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49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何大</a:t>
                      </a:r>
                      <a:r>
                        <a:rPr lang="zh-CN" altLang="en-US" sz="1800" b="0" dirty="0">
                          <a:solidFill>
                            <a:srgbClr val="0000FF"/>
                          </a:solidFill>
                        </a:rPr>
                        <a:t>明</a:t>
                      </a:r>
                      <a:endParaRPr lang="zh-CN" altLang="en-US"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286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b="0" dirty="0">
                        <a:solidFill>
                          <a:srgbClr val="0000FF"/>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1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FF"/>
                          </a:solidFill>
                          <a:ea typeface="华文楷体" panose="02010600040101010101" pitchFamily="2" charset="-122"/>
                        </a:rPr>
                        <a:t>李峰</a:t>
                      </a:r>
                      <a:endParaRPr lang="de-DE" altLang="en-US" b="0" dirty="0">
                        <a:solidFill>
                          <a:srgbClr val="0000FF"/>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1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陈胜</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476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50641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FF"/>
                          </a:solidFill>
                        </a:rPr>
                        <a:t>张大卫</a:t>
                      </a:r>
                      <a:endParaRPr lang="zh-CN" altLang="en-US" b="0">
                        <a:solidFill>
                          <a:srgbClr val="0000FF"/>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12780" name="AutoShape 140"/>
          <p:cNvSpPr/>
          <p:nvPr/>
        </p:nvSpPr>
        <p:spPr>
          <a:xfrm>
            <a:off x="5975350" y="3627438"/>
            <a:ext cx="2863850" cy="784225"/>
          </a:xfrm>
          <a:prstGeom prst="wedgeRoundRectCallout">
            <a:avLst>
              <a:gd name="adj1" fmla="val -3056"/>
              <a:gd name="adj2" fmla="val -95523"/>
              <a:gd name="adj3" fmla="val 16667"/>
            </a:avLst>
          </a:prstGeom>
          <a:solidFill>
            <a:srgbClr val="CCFFFF"/>
          </a:solidFill>
          <a:ln w="9525" cap="flat" cmpd="sng">
            <a:solidFill>
              <a:schemeClr val="tx1"/>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宋体" panose="02010600030101010101" pitchFamily="2" charset="-122"/>
              </a:rPr>
              <a:t>1.</a:t>
            </a:r>
            <a:r>
              <a:rPr lang="zh-CN" altLang="en-US" dirty="0">
                <a:solidFill>
                  <a:srgbClr val="0000CC"/>
                </a:solidFill>
                <a:latin typeface="宋体" panose="02010600030101010101" pitchFamily="2" charset="-122"/>
              </a:rPr>
              <a:t>读取</a:t>
            </a:r>
            <a:r>
              <a:rPr lang="zh-CN" altLang="en-US" dirty="0">
                <a:solidFill>
                  <a:srgbClr val="336600"/>
                </a:solidFill>
                <a:latin typeface="宋体" panose="02010600030101010101" pitchFamily="2" charset="-122"/>
              </a:rPr>
              <a:t>FROM</a:t>
            </a:r>
            <a:r>
              <a:rPr lang="zh-CN" altLang="en-US" dirty="0">
                <a:solidFill>
                  <a:srgbClr val="0000CC"/>
                </a:solidFill>
                <a:latin typeface="宋体" panose="02010600030101010101" pitchFamily="2" charset="-122"/>
              </a:rPr>
              <a:t>子句中表的数据，做笛卡尔乘积。</a:t>
            </a:r>
            <a:endParaRPr lang="zh-CN" altLang="en-US" dirty="0">
              <a:solidFill>
                <a:srgbClr val="0000CC"/>
              </a:solidFill>
              <a:latin typeface="宋体" panose="02010600030101010101" pitchFamily="2" charset="-122"/>
            </a:endParaRPr>
          </a:p>
          <a:p>
            <a:pPr marL="0" lvl="0" indent="0" eaLnBrk="1" hangingPunct="1">
              <a:lnSpc>
                <a:spcPct val="135000"/>
              </a:lnSpc>
              <a:spcBef>
                <a:spcPct val="0"/>
              </a:spcBef>
              <a:buClrTx/>
              <a:buSzTx/>
              <a:buFont typeface="Arial" panose="020B0604020202020204" pitchFamily="34" charset="0"/>
              <a:buChar char="•"/>
            </a:pPr>
            <a:endParaRPr lang="zh-CN" altLang="en-US" sz="2400" dirty="0">
              <a:solidFill>
                <a:srgbClr val="0000CC"/>
              </a:solidFill>
              <a:latin typeface="宋体" panose="02010600030101010101" pitchFamily="2" charset="-122"/>
            </a:endParaRPr>
          </a:p>
        </p:txBody>
      </p:sp>
      <p:sp>
        <p:nvSpPr>
          <p:cNvPr id="112781" name="Rectangle 141"/>
          <p:cNvSpPr/>
          <p:nvPr/>
        </p:nvSpPr>
        <p:spPr>
          <a:xfrm>
            <a:off x="68263" y="2597150"/>
            <a:ext cx="5508625" cy="360363"/>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2" name="Rectangle 142"/>
          <p:cNvSpPr/>
          <p:nvPr/>
        </p:nvSpPr>
        <p:spPr>
          <a:xfrm>
            <a:off x="68263" y="6137275"/>
            <a:ext cx="5508625" cy="358775"/>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52668" name="Rectangle 143"/>
          <p:cNvSpPr/>
          <p:nvPr/>
        </p:nvSpPr>
        <p:spPr>
          <a:xfrm>
            <a:off x="0" y="1876425"/>
            <a:ext cx="68263" cy="71438"/>
          </a:xfrm>
          <a:prstGeom prst="rect">
            <a:avLst/>
          </a:prstGeom>
          <a:solidFill>
            <a:srgbClr val="CCFF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4" name="AutoShape 144"/>
          <p:cNvSpPr/>
          <p:nvPr/>
        </p:nvSpPr>
        <p:spPr>
          <a:xfrm>
            <a:off x="5975350" y="4694238"/>
            <a:ext cx="2951163" cy="782637"/>
          </a:xfrm>
          <a:prstGeom prst="roundRect">
            <a:avLst>
              <a:gd name="adj" fmla="val 16667"/>
            </a:avLst>
          </a:prstGeom>
          <a:solidFill>
            <a:srgbClr val="CCFFFF"/>
          </a:solid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2.选择满足</a:t>
            </a:r>
            <a:r>
              <a:rPr lang="zh-CN" altLang="en-US" dirty="0">
                <a:solidFill>
                  <a:srgbClr val="336600"/>
                </a:solidFill>
                <a:latin typeface="宋体" panose="02010600030101010101" pitchFamily="2" charset="-122"/>
              </a:rPr>
              <a:t>WHERE</a:t>
            </a:r>
            <a:r>
              <a:rPr lang="zh-CN" altLang="en-US" dirty="0">
                <a:solidFill>
                  <a:srgbClr val="0000CC"/>
                </a:solidFill>
                <a:latin typeface="宋体" panose="02010600030101010101" pitchFamily="2" charset="-122"/>
              </a:rPr>
              <a:t>子句中条件的纪录。</a:t>
            </a:r>
            <a:endParaRPr lang="zh-CN" altLang="en-US" dirty="0">
              <a:solidFill>
                <a:srgbClr val="0000CC"/>
              </a:solidFill>
              <a:latin typeface="宋体" panose="02010600030101010101" pitchFamily="2" charset="-122"/>
            </a:endParaRPr>
          </a:p>
        </p:txBody>
      </p:sp>
      <p:sp>
        <p:nvSpPr>
          <p:cNvPr id="112785" name="AutoShape 145"/>
          <p:cNvSpPr/>
          <p:nvPr/>
        </p:nvSpPr>
        <p:spPr>
          <a:xfrm>
            <a:off x="5975350" y="5554663"/>
            <a:ext cx="3168650" cy="782637"/>
          </a:xfrm>
          <a:prstGeom prst="roundRect">
            <a:avLst>
              <a:gd name="adj" fmla="val 16667"/>
            </a:avLst>
          </a:prstGeom>
          <a:solidFill>
            <a:srgbClr val="CCFFFF"/>
          </a:solid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0000CC"/>
                </a:solidFill>
                <a:latin typeface="宋体" panose="02010600030101010101" pitchFamily="2" charset="-122"/>
              </a:rPr>
              <a:t>3.按</a:t>
            </a:r>
            <a:r>
              <a:rPr lang="zh-CN" altLang="en-US" dirty="0">
                <a:solidFill>
                  <a:srgbClr val="336600"/>
                </a:solidFill>
                <a:latin typeface="宋体" panose="02010600030101010101" pitchFamily="2" charset="-122"/>
              </a:rPr>
              <a:t>SELECT</a:t>
            </a:r>
            <a:r>
              <a:rPr lang="zh-CN" altLang="en-US" dirty="0">
                <a:solidFill>
                  <a:srgbClr val="0000CC"/>
                </a:solidFill>
                <a:latin typeface="宋体" panose="02010600030101010101" pitchFamily="2" charset="-122"/>
              </a:rPr>
              <a:t>子句中指定的属性输出</a:t>
            </a:r>
            <a:endParaRPr lang="zh-CN" altLang="en-US" dirty="0">
              <a:solidFill>
                <a:srgbClr val="0000CC"/>
              </a:solidFill>
              <a:latin typeface="宋体" panose="02010600030101010101" pitchFamily="2" charset="-122"/>
            </a:endParaRPr>
          </a:p>
        </p:txBody>
      </p:sp>
      <p:sp>
        <p:nvSpPr>
          <p:cNvPr id="112786" name="Rectangle 146"/>
          <p:cNvSpPr/>
          <p:nvPr/>
        </p:nvSpPr>
        <p:spPr>
          <a:xfrm rot="-5400000" flipV="1">
            <a:off x="-1770062" y="4110038"/>
            <a:ext cx="4470400" cy="431800"/>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7" name="Rectangle 147"/>
          <p:cNvSpPr/>
          <p:nvPr/>
        </p:nvSpPr>
        <p:spPr>
          <a:xfrm rot="-5400000" flipV="1">
            <a:off x="-992187" y="3981450"/>
            <a:ext cx="4568825" cy="647700"/>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8" name="Rectangle 148"/>
          <p:cNvSpPr/>
          <p:nvPr/>
        </p:nvSpPr>
        <p:spPr>
          <a:xfrm rot="-5400000" flipV="1">
            <a:off x="2909888" y="3967163"/>
            <a:ext cx="4540250" cy="647700"/>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2789" name="Rectangle 149"/>
          <p:cNvSpPr/>
          <p:nvPr/>
        </p:nvSpPr>
        <p:spPr>
          <a:xfrm rot="-5400000" flipV="1">
            <a:off x="2152650" y="4003675"/>
            <a:ext cx="4540250" cy="574675"/>
          </a:xfrm>
          <a:prstGeom prst="rect">
            <a:avLst/>
          </a:prstGeom>
          <a:solidFill>
            <a:srgbClr val="CCFFFF">
              <a:alpha val="45097"/>
            </a:srgbClr>
          </a:solidFill>
          <a:ln w="9525" cap="flat" cmpd="sng">
            <a:solidFill>
              <a:srgbClr val="336699"/>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nvGrpSpPr>
          <p:cNvPr id="112790" name="Group 150"/>
          <p:cNvGrpSpPr/>
          <p:nvPr/>
        </p:nvGrpSpPr>
        <p:grpSpPr>
          <a:xfrm>
            <a:off x="247650" y="2119313"/>
            <a:ext cx="5257800" cy="3962400"/>
            <a:chOff x="0" y="0"/>
            <a:chExt cx="2721" cy="1588"/>
          </a:xfrm>
        </p:grpSpPr>
        <p:sp>
          <p:nvSpPr>
            <p:cNvPr id="152678" name="Rectangle 151"/>
            <p:cNvSpPr/>
            <p:nvPr/>
          </p:nvSpPr>
          <p:spPr>
            <a:xfrm>
              <a:off x="0" y="0"/>
              <a:ext cx="2721" cy="1588"/>
            </a:xfrm>
            <a:prstGeom prst="rect">
              <a:avLst/>
            </a:prstGeom>
            <a:solidFill>
              <a:srgbClr val="C6EAB4"/>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nvGrpSpPr>
            <p:cNvPr id="152679" name="Group 152"/>
            <p:cNvGrpSpPr/>
            <p:nvPr/>
          </p:nvGrpSpPr>
          <p:grpSpPr>
            <a:xfrm>
              <a:off x="0" y="0"/>
              <a:ext cx="2688" cy="1581"/>
              <a:chOff x="0" y="0"/>
              <a:chExt cx="2688" cy="1581"/>
            </a:xfrm>
          </p:grpSpPr>
          <p:sp>
            <p:nvSpPr>
              <p:cNvPr id="152680" name="Text Box 153"/>
              <p:cNvSpPr txBox="1"/>
              <p:nvPr/>
            </p:nvSpPr>
            <p:spPr>
              <a:xfrm>
                <a:off x="768" y="0"/>
                <a:ext cx="1056" cy="150"/>
              </a:xfrm>
              <a:prstGeom prst="rect">
                <a:avLst/>
              </a:prstGeom>
              <a:solidFill>
                <a:srgbClr val="C6EAB4"/>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结果表</a:t>
                </a:r>
                <a:endParaRPr lang="zh-CN" altLang="en-US" sz="2400" dirty="0">
                  <a:solidFill>
                    <a:srgbClr val="0000CC"/>
                  </a:solidFill>
                  <a:latin typeface="宋体" panose="02010600030101010101" pitchFamily="2" charset="-122"/>
                </a:endParaRPr>
              </a:p>
            </p:txBody>
          </p:sp>
          <p:sp>
            <p:nvSpPr>
              <p:cNvPr id="152681" name="Rectangle 154"/>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2" name="Rectangle 155"/>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3" name="Rectangle 156"/>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zh-CN" altLang="en-US" dirty="0"/>
              </a:p>
            </p:txBody>
          </p:sp>
          <p:sp>
            <p:nvSpPr>
              <p:cNvPr id="152684" name="Rectangle 157"/>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5" name="Rectangle 158"/>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6" name="Rectangle 159"/>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7" name="Rectangle 160"/>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zh-CN" altLang="en-US" dirty="0"/>
              </a:p>
            </p:txBody>
          </p:sp>
          <p:sp>
            <p:nvSpPr>
              <p:cNvPr id="152688" name="Rectangle 161"/>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endParaRPr lang="de-DE" altLang="en-US" dirty="0">
                  <a:ea typeface="华文楷体" panose="02010600040101010101" pitchFamily="2" charset="-122"/>
                </a:endParaRPr>
              </a:p>
            </p:txBody>
          </p:sp>
          <p:sp>
            <p:nvSpPr>
              <p:cNvPr id="152689" name="Rectangle 162"/>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80</a:t>
                </a:r>
                <a:endParaRPr lang="de-DE" altLang="en-US" dirty="0"/>
              </a:p>
            </p:txBody>
          </p:sp>
          <p:sp>
            <p:nvSpPr>
              <p:cNvPr id="152690" name="Rectangle 163"/>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p>
            </p:txBody>
          </p:sp>
          <p:sp>
            <p:nvSpPr>
              <p:cNvPr id="152691" name="Rectangle 164"/>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2400" dirty="0">
                    <a:ea typeface="华文楷体" panose="02010600040101010101" pitchFamily="2" charset="-122"/>
                  </a:rPr>
                  <a:t>张大卫</a:t>
                </a:r>
                <a:endParaRPr lang="zh-CN" altLang="en-US" sz="2400" dirty="0">
                  <a:ea typeface="华文楷体" panose="02010600040101010101" pitchFamily="2" charset="-122"/>
                </a:endParaRPr>
              </a:p>
              <a:p>
                <a:pPr marL="0" lvl="0" indent="0" algn="ctr" eaLnBrk="1" hangingPunct="1">
                  <a:lnSpc>
                    <a:spcPct val="135000"/>
                  </a:lnSpc>
                  <a:spcBef>
                    <a:spcPct val="0"/>
                  </a:spcBef>
                  <a:buClrTx/>
                  <a:buSzTx/>
                  <a:buFont typeface="Arial" panose="020B0604020202020204" pitchFamily="34" charset="0"/>
                  <a:buNone/>
                </a:pPr>
                <a:endParaRPr lang="de-DE" altLang="en-US" sz="2400" dirty="0">
                  <a:solidFill>
                    <a:srgbClr val="0000FF"/>
                  </a:solidFill>
                  <a:ea typeface="华文楷体" panose="02010600040101010101" pitchFamily="2" charset="-122"/>
                </a:endParaRPr>
              </a:p>
            </p:txBody>
          </p:sp>
          <p:sp>
            <p:nvSpPr>
              <p:cNvPr id="152692" name="Rectangle 165"/>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6</a:t>
                </a:r>
                <a:endParaRPr lang="de-DE" altLang="en-US" dirty="0"/>
              </a:p>
            </p:txBody>
          </p:sp>
          <p:sp>
            <p:nvSpPr>
              <p:cNvPr id="152693" name="Rectangle 166"/>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91</a:t>
                </a:r>
                <a:endParaRPr lang="de-DE" altLang="en-US" dirty="0"/>
              </a:p>
            </p:txBody>
          </p:sp>
          <p:sp>
            <p:nvSpPr>
              <p:cNvPr id="152694" name="Rectangle 167"/>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t>8</a:t>
                </a:r>
                <a:endParaRPr lang="de-DE" altLang="en-US" dirty="0"/>
              </a:p>
            </p:txBody>
          </p:sp>
          <p:sp>
            <p:nvSpPr>
              <p:cNvPr id="152695" name="Rectangle 168"/>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sz="2400" dirty="0">
                    <a:ea typeface="华文楷体" panose="02010600040101010101" pitchFamily="2" charset="-122"/>
                  </a:rPr>
                  <a:t>何大明</a:t>
                </a:r>
                <a:endParaRPr lang="de-DE" altLang="en-US" sz="2400" dirty="0">
                  <a:ea typeface="华文楷体" panose="02010600040101010101" pitchFamily="2" charset="-122"/>
                </a:endParaRPr>
              </a:p>
            </p:txBody>
          </p:sp>
          <p:sp>
            <p:nvSpPr>
              <p:cNvPr id="152696" name="Rectangle 169"/>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52697" name="Rectangle 170"/>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rPr>
                  <a:t>score</a:t>
                </a:r>
                <a:endParaRPr lang="de-DE" altLang="en-US" dirty="0">
                  <a:solidFill>
                    <a:srgbClr val="0000FF"/>
                  </a:solidFill>
                  <a:latin typeface="Times New Roman" panose="02020603050405020304" pitchFamily="18" charset="0"/>
                </a:endParaRPr>
              </a:p>
            </p:txBody>
          </p:sp>
          <p:sp>
            <p:nvSpPr>
              <p:cNvPr id="152698" name="Rectangle 171"/>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rPr>
                  <a:t>cid</a:t>
                </a:r>
                <a:endParaRPr lang="de-DE" altLang="en-US" dirty="0">
                  <a:solidFill>
                    <a:srgbClr val="0000FF"/>
                  </a:solidFill>
                  <a:latin typeface="Times New Roman" panose="02020603050405020304" pitchFamily="18" charset="0"/>
                </a:endParaRPr>
              </a:p>
            </p:txBody>
          </p:sp>
          <p:sp>
            <p:nvSpPr>
              <p:cNvPr id="152699" name="Rectangle 172"/>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52700" name="Rectangle 173"/>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sid</a:t>
                </a:r>
                <a:endParaRPr lang="de-DE" altLang="en-US" dirty="0">
                  <a:ea typeface="华文楷体" panose="02010600040101010101" pitchFamily="2" charset="-122"/>
                </a:endParaRPr>
              </a:p>
            </p:txBody>
          </p:sp>
          <p:sp>
            <p:nvSpPr>
              <p:cNvPr id="152701" name="Line 174"/>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52702" name="Line 175"/>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52703" name="Line 176"/>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52704" name="Line 177"/>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52705" name="Line 178"/>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52706" name="Line 179"/>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52707" name="Line 180"/>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52708" name="Line 181"/>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52709" name="Line 182"/>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52710" name="Line 183"/>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52711" name="Line 184"/>
              <p:cNvSpPr/>
              <p:nvPr/>
            </p:nvSpPr>
            <p:spPr>
              <a:xfrm>
                <a:off x="2688" y="336"/>
                <a:ext cx="0" cy="1245"/>
              </a:xfrm>
              <a:prstGeom prst="line">
                <a:avLst/>
              </a:prstGeom>
              <a:ln w="28575" cap="sq" cmpd="sng">
                <a:solidFill>
                  <a:schemeClr val="tx1"/>
                </a:solidFill>
                <a:prstDash val="solid"/>
                <a:headEnd type="none" w="med" len="med"/>
                <a:tailEnd type="none" w="med" len="med"/>
              </a:ln>
            </p:spPr>
          </p:sp>
        </p:grpSp>
      </p:grpSp>
      <p:sp>
        <p:nvSpPr>
          <p:cNvPr id="112825" name="AutoShape 185"/>
          <p:cNvSpPr/>
          <p:nvPr/>
        </p:nvSpPr>
        <p:spPr>
          <a:xfrm>
            <a:off x="247650" y="5476875"/>
            <a:ext cx="5688013" cy="574675"/>
          </a:xfrm>
          <a:prstGeom prst="roundRect">
            <a:avLst>
              <a:gd name="adj" fmla="val 16667"/>
            </a:avLst>
          </a:prstGeom>
          <a:solidFill>
            <a:srgbClr val="FFE1E2"/>
          </a:solidFill>
          <a:ln w="9525" cap="flat" cmpd="sng">
            <a:solidFill>
              <a:schemeClr val="tx1"/>
            </a:solidFill>
            <a:prstDash val="solid"/>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el-GR" altLang="en-US" sz="2800" dirty="0">
                <a:solidFill>
                  <a:srgbClr val="000066"/>
                </a:solidFill>
                <a:latin typeface="Times New Roman" panose="02020603050405020304" pitchFamily="18" charset="0"/>
              </a:rPr>
              <a:t>Π</a:t>
            </a:r>
            <a:r>
              <a:rPr lang="zh-CN" altLang="en-US" sz="2400" baseline="-25000" dirty="0">
                <a:solidFill>
                  <a:srgbClr val="000066"/>
                </a:solidFill>
                <a:latin typeface="Times New Roman" panose="02020603050405020304" pitchFamily="18" charset="0"/>
              </a:rPr>
              <a:t>sid,sname,cid,score</a:t>
            </a:r>
            <a:r>
              <a:rPr lang="el-GR" altLang="en-US" sz="2800" dirty="0">
                <a:solidFill>
                  <a:srgbClr val="000066"/>
                </a:solidFill>
                <a:latin typeface="Times New Roman" panose="02020603050405020304" pitchFamily="18" charset="0"/>
              </a:rPr>
              <a:t> </a:t>
            </a:r>
            <a:r>
              <a:rPr lang="zh-CN" altLang="en-US" sz="2800" dirty="0">
                <a:solidFill>
                  <a:srgbClr val="000066"/>
                </a:solidFill>
                <a:latin typeface="Times New Roman" panose="02020603050405020304" pitchFamily="18" charset="0"/>
              </a:rPr>
              <a:t>(</a:t>
            </a:r>
            <a:r>
              <a:rPr lang="el-GR" altLang="en-US" sz="2800" dirty="0">
                <a:solidFill>
                  <a:srgbClr val="000066"/>
                </a:solidFill>
                <a:latin typeface="Times New Roman" panose="02020603050405020304" pitchFamily="18" charset="0"/>
              </a:rPr>
              <a:t>σ </a:t>
            </a:r>
            <a:r>
              <a:rPr lang="zh-CN" altLang="en-US" sz="2400" baseline="-25000" dirty="0">
                <a:solidFill>
                  <a:srgbClr val="000066"/>
                </a:solidFill>
                <a:latin typeface="Times New Roman" panose="02020603050405020304" pitchFamily="18" charset="0"/>
              </a:rPr>
              <a:t>S1.sid=E.sid</a:t>
            </a:r>
            <a:r>
              <a:rPr lang="el-GR" altLang="en-US" sz="2800" dirty="0">
                <a:solidFill>
                  <a:srgbClr val="000066"/>
                </a:solidFill>
                <a:latin typeface="Times New Roman" panose="02020603050405020304" pitchFamily="18" charset="0"/>
              </a:rPr>
              <a:t> </a:t>
            </a:r>
            <a:r>
              <a:rPr lang="zh-CN" altLang="en-US" sz="2800" dirty="0">
                <a:solidFill>
                  <a:srgbClr val="000066"/>
                </a:solidFill>
                <a:latin typeface="Times New Roman" panose="02020603050405020304" pitchFamily="18" charset="0"/>
              </a:rPr>
              <a:t>(S1×E))</a:t>
            </a:r>
            <a:endParaRPr lang="zh-CN" altLang="en-US" sz="2800" dirty="0">
              <a:solidFill>
                <a:srgbClr val="000066"/>
              </a:solidFill>
              <a:latin typeface="Times New Roman" panose="02020603050405020304" pitchFamily="18" charset="0"/>
              <a:ea typeface="Times New Roman" panose="02020603050405020304" pitchFamily="18" charset="0"/>
            </a:endParaRPr>
          </a:p>
        </p:txBody>
      </p:sp>
      <p:sp>
        <p:nvSpPr>
          <p:cNvPr id="15267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2644"/>
                                        </p:tgtEl>
                                        <p:attrNameLst>
                                          <p:attrName>style.visibility</p:attrName>
                                        </p:attrNameLst>
                                      </p:cBhvr>
                                      <p:to>
                                        <p:strVal val="visible"/>
                                      </p:to>
                                    </p:set>
                                    <p:animEffect transition="in" filter="box(in)">
                                      <p:cBhvr>
                                        <p:cTn id="7" dur="500"/>
                                        <p:tgtEl>
                                          <p:spTgt spid="11264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2678"/>
                                        </p:tgtEl>
                                        <p:attrNameLst>
                                          <p:attrName>style.visibility</p:attrName>
                                        </p:attrNameLst>
                                      </p:cBhvr>
                                      <p:to>
                                        <p:strVal val="visible"/>
                                      </p:to>
                                    </p:set>
                                    <p:animEffect transition="in" filter="box(in)">
                                      <p:cBhvr>
                                        <p:cTn id="12" dur="500"/>
                                        <p:tgtEl>
                                          <p:spTgt spid="11267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643"/>
                                        </p:tgtEl>
                                        <p:attrNameLst>
                                          <p:attrName>style.visibility</p:attrName>
                                        </p:attrNameLst>
                                      </p:cBhvr>
                                      <p:to>
                                        <p:strVal val="visible"/>
                                      </p:to>
                                    </p:set>
                                    <p:animEffect transition="in" filter="dissolve">
                                      <p:cBhvr>
                                        <p:cTn id="17" dur="500"/>
                                        <p:tgtEl>
                                          <p:spTgt spid="11264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12643">
                                            <p:txEl>
                                              <p:charRg st="0" end="25"/>
                                            </p:txEl>
                                          </p:spTgt>
                                        </p:tgtEl>
                                        <p:attrNameLst>
                                          <p:attrName>style.visibility</p:attrName>
                                        </p:attrNameLst>
                                      </p:cBhvr>
                                      <p:to>
                                        <p:strVal val="visible"/>
                                      </p:to>
                                    </p:set>
                                    <p:animEffect transition="in" filter="dissolve">
                                      <p:cBhvr>
                                        <p:cTn id="22" dur="500"/>
                                        <p:tgtEl>
                                          <p:spTgt spid="112643">
                                            <p:txEl>
                                              <p:charRg st="0" end="2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2643">
                                            <p:txEl>
                                              <p:charRg st="25" end="41"/>
                                            </p:txEl>
                                          </p:spTgt>
                                        </p:tgtEl>
                                        <p:attrNameLst>
                                          <p:attrName>style.visibility</p:attrName>
                                        </p:attrNameLst>
                                      </p:cBhvr>
                                      <p:to>
                                        <p:strVal val="visible"/>
                                      </p:to>
                                    </p:set>
                                    <p:animEffect transition="in" filter="dissolve">
                                      <p:cBhvr>
                                        <p:cTn id="27" dur="500"/>
                                        <p:tgtEl>
                                          <p:spTgt spid="112643">
                                            <p:txEl>
                                              <p:charRg st="25" end="4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12643">
                                            <p:txEl>
                                              <p:charRg st="41" end="52"/>
                                            </p:txEl>
                                          </p:spTgt>
                                        </p:tgtEl>
                                        <p:attrNameLst>
                                          <p:attrName>style.visibility</p:attrName>
                                        </p:attrNameLst>
                                      </p:cBhvr>
                                      <p:to>
                                        <p:strVal val="visible"/>
                                      </p:to>
                                    </p:set>
                                    <p:animEffect transition="in" filter="dissolve">
                                      <p:cBhvr>
                                        <p:cTn id="32" dur="500"/>
                                        <p:tgtEl>
                                          <p:spTgt spid="112643">
                                            <p:txEl>
                                              <p:charRg st="41" end="5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12643">
                                            <p:txEl>
                                              <p:charRg st="52" end="71"/>
                                            </p:txEl>
                                          </p:spTgt>
                                        </p:tgtEl>
                                        <p:attrNameLst>
                                          <p:attrName>style.visibility</p:attrName>
                                        </p:attrNameLst>
                                      </p:cBhvr>
                                      <p:to>
                                        <p:strVal val="visible"/>
                                      </p:to>
                                    </p:set>
                                    <p:animEffect transition="in" filter="dissolve">
                                      <p:cBhvr>
                                        <p:cTn id="37" dur="500"/>
                                        <p:tgtEl>
                                          <p:spTgt spid="112643">
                                            <p:txEl>
                                              <p:charRg st="52" end="7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12780"/>
                                        </p:tgtEl>
                                        <p:attrNameLst>
                                          <p:attrName>style.visibility</p:attrName>
                                        </p:attrNameLst>
                                      </p:cBhvr>
                                      <p:to>
                                        <p:strVal val="visible"/>
                                      </p:to>
                                    </p:set>
                                    <p:animEffect transition="in" filter="dissolve">
                                      <p:cBhvr>
                                        <p:cTn id="42" dur="500"/>
                                        <p:tgtEl>
                                          <p:spTgt spid="112780"/>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499"/>
                                          </p:stCondLst>
                                        </p:cTn>
                                        <p:tgtEl>
                                          <p:spTgt spid="11269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12784"/>
                                        </p:tgtEl>
                                        <p:attrNameLst>
                                          <p:attrName>style.visibility</p:attrName>
                                        </p:attrNameLst>
                                      </p:cBhvr>
                                      <p:to>
                                        <p:strVal val="visible"/>
                                      </p:to>
                                    </p:set>
                                    <p:animEffect transition="in" filter="dissolve">
                                      <p:cBhvr>
                                        <p:cTn id="51" dur="500"/>
                                        <p:tgtEl>
                                          <p:spTgt spid="112784"/>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499"/>
                                          </p:stCondLst>
                                        </p:cTn>
                                        <p:tgtEl>
                                          <p:spTgt spid="112781"/>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499"/>
                                          </p:stCondLst>
                                        </p:cTn>
                                        <p:tgtEl>
                                          <p:spTgt spid="11278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grpId="0" nodeType="clickEffect">
                                  <p:stCondLst>
                                    <p:cond delay="0"/>
                                  </p:stCondLst>
                                  <p:childTnLst>
                                    <p:set>
                                      <p:cBhvr>
                                        <p:cTn id="63" dur="1" fill="hold">
                                          <p:stCondLst>
                                            <p:cond delay="0"/>
                                          </p:stCondLst>
                                        </p:cTn>
                                        <p:tgtEl>
                                          <p:spTgt spid="112785"/>
                                        </p:tgtEl>
                                        <p:attrNameLst>
                                          <p:attrName>style.visibility</p:attrName>
                                        </p:attrNameLst>
                                      </p:cBhvr>
                                      <p:to>
                                        <p:strVal val="visible"/>
                                      </p:to>
                                    </p:set>
                                    <p:animEffect transition="in" filter="dissolve">
                                      <p:cBhvr>
                                        <p:cTn id="64" dur="500"/>
                                        <p:tgtEl>
                                          <p:spTgt spid="112785"/>
                                        </p:tgtEl>
                                      </p:cBhvr>
                                    </p:animEffec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499"/>
                                          </p:stCondLst>
                                        </p:cTn>
                                        <p:tgtEl>
                                          <p:spTgt spid="11278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499"/>
                                          </p:stCondLst>
                                        </p:cTn>
                                        <p:tgtEl>
                                          <p:spTgt spid="112787"/>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499"/>
                                          </p:stCondLst>
                                        </p:cTn>
                                        <p:tgtEl>
                                          <p:spTgt spid="11278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499"/>
                                          </p:stCondLst>
                                        </p:cTn>
                                        <p:tgtEl>
                                          <p:spTgt spid="112788"/>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112790"/>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9" presetClass="entr" presetSubtype="0" fill="hold" grpId="0" nodeType="clickEffect">
                                  <p:stCondLst>
                                    <p:cond delay="0"/>
                                  </p:stCondLst>
                                  <p:childTnLst>
                                    <p:set>
                                      <p:cBhvr>
                                        <p:cTn id="88" dur="1" fill="hold">
                                          <p:stCondLst>
                                            <p:cond delay="0"/>
                                          </p:stCondLst>
                                        </p:cTn>
                                        <p:tgtEl>
                                          <p:spTgt spid="112825"/>
                                        </p:tgtEl>
                                        <p:attrNameLst>
                                          <p:attrName>style.visibility</p:attrName>
                                        </p:attrNameLst>
                                      </p:cBhvr>
                                      <p:to>
                                        <p:strVal val="visible"/>
                                      </p:to>
                                    </p:set>
                                    <p:animEffect transition="in" filter="dissolve">
                                      <p:cBhvr>
                                        <p:cTn id="89" dur="500"/>
                                        <p:tgtEl>
                                          <p:spTgt spid="112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animBg="1" build="p"/>
      <p:bldP spid="112780" grpId="0" animBg="1"/>
      <p:bldP spid="112781" grpId="0" animBg="1"/>
      <p:bldP spid="112782" grpId="0" animBg="1"/>
      <p:bldP spid="112784" grpId="0" animBg="1"/>
      <p:bldP spid="112785" grpId="0" animBg="1"/>
      <p:bldP spid="112786" grpId="0" animBg="1"/>
      <p:bldP spid="112787" grpId="0" animBg="1"/>
      <p:bldP spid="112788" grpId="0" animBg="1"/>
      <p:bldP spid="112789" grpId="0" animBg="1"/>
      <p:bldP spid="112825"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079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53603" name="文本框 99"/>
          <p:cNvSpPr txBox="1"/>
          <p:nvPr/>
        </p:nvSpPr>
        <p:spPr>
          <a:xfrm>
            <a:off x="368300" y="1381125"/>
            <a:ext cx="8686800" cy="1460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200" dirty="0">
                <a:latin typeface="Calibri" panose="020F0502020204030204" pitchFamily="34" charset="0"/>
              </a:rPr>
              <a:t>1、关系代数中的</a:t>
            </a:r>
            <a:r>
              <a:rPr lang="zh-CN" altLang="zh-CN" sz="2200" dirty="0">
                <a:cs typeface="Arial" panose="020B0604020202020204" pitchFamily="34" charset="0"/>
              </a:rPr>
              <a:t>п</a:t>
            </a:r>
            <a:r>
              <a:rPr lang="zh-CN" altLang="zh-CN" sz="2200" dirty="0">
                <a:sym typeface="+mn-ea"/>
              </a:rPr>
              <a:t>运算符对应</a:t>
            </a:r>
            <a:r>
              <a:rPr lang="en-US" altLang="zh-CN" sz="2200" dirty="0">
                <a:cs typeface="Arial" panose="020B0604020202020204" pitchFamily="34" charset="0"/>
                <a:sym typeface="+mn-ea"/>
              </a:rPr>
              <a:t>SELECT</a:t>
            </a:r>
            <a:r>
              <a:rPr lang="zh-CN" altLang="zh-CN" sz="2200" dirty="0">
                <a:sym typeface="+mn-ea"/>
              </a:rPr>
              <a:t>语句中的以下哪个子句？（    ）</a:t>
            </a:r>
            <a:endParaRPr lang="en-US" altLang="zh-CN" sz="2200" dirty="0">
              <a:cs typeface="Arial" panose="020B0604020202020204" pitchFamily="34" charset="0"/>
              <a:sym typeface="+mn-ea"/>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sym typeface="+mn-ea"/>
              </a:rPr>
              <a:t>     A</a:t>
            </a:r>
            <a:r>
              <a:rPr lang="zh-CN" altLang="zh-CN" sz="2200" dirty="0">
                <a:sym typeface="+mn-ea"/>
              </a:rPr>
              <a:t>、</a:t>
            </a:r>
            <a:r>
              <a:rPr lang="en-US" altLang="zh-CN" sz="2200" dirty="0">
                <a:sym typeface="+mn-ea"/>
              </a:rPr>
              <a:t>SELECT      B</a:t>
            </a:r>
            <a:r>
              <a:rPr lang="zh-CN" altLang="zh-CN" sz="2200" dirty="0">
                <a:sym typeface="+mn-ea"/>
              </a:rPr>
              <a:t>、</a:t>
            </a:r>
            <a:r>
              <a:rPr lang="en-US" altLang="zh-CN" sz="2200" dirty="0">
                <a:sym typeface="+mn-ea"/>
              </a:rPr>
              <a:t>FROM       C</a:t>
            </a:r>
            <a:r>
              <a:rPr lang="zh-CN" altLang="zh-CN" sz="2200" dirty="0">
                <a:sym typeface="+mn-ea"/>
              </a:rPr>
              <a:t>、</a:t>
            </a:r>
            <a:r>
              <a:rPr lang="en-US" altLang="zh-CN" sz="2200" dirty="0">
                <a:sym typeface="+mn-ea"/>
              </a:rPr>
              <a:t>WHERE       D</a:t>
            </a:r>
            <a:r>
              <a:rPr lang="zh-CN" altLang="zh-CN" sz="2200" dirty="0">
                <a:sym typeface="+mn-ea"/>
              </a:rPr>
              <a:t>、</a:t>
            </a:r>
            <a:r>
              <a:rPr lang="en-US" altLang="zh-CN" sz="2200" dirty="0">
                <a:sym typeface="+mn-ea"/>
              </a:rPr>
              <a:t>GROUP BY</a:t>
            </a:r>
            <a:endParaRPr lang="zh-CN" altLang="en-US" sz="2200" dirty="0"/>
          </a:p>
          <a:p>
            <a:pPr marL="0" lvl="0" indent="0" eaLnBrk="1" hangingPunct="1">
              <a:spcBef>
                <a:spcPct val="0"/>
              </a:spcBef>
              <a:buClrTx/>
              <a:buSzTx/>
              <a:buFont typeface="Arial" panose="020B0604020202020204" pitchFamily="34" charset="0"/>
              <a:buNone/>
            </a:pPr>
            <a:endParaRPr lang="zh-CN" altLang="en-US" sz="2200" dirty="0">
              <a:ea typeface="Arial" panose="020B0604020202020204" pitchFamily="34" charset="0"/>
            </a:endParaRPr>
          </a:p>
        </p:txBody>
      </p:sp>
      <p:sp>
        <p:nvSpPr>
          <p:cNvPr id="153604" name="文本框 5"/>
          <p:cNvSpPr txBox="1"/>
          <p:nvPr/>
        </p:nvSpPr>
        <p:spPr>
          <a:xfrm>
            <a:off x="407988" y="2373313"/>
            <a:ext cx="8507412" cy="3708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2</a:t>
            </a:r>
            <a:r>
              <a:rPr lang="zh-CN" altLang="en-US" sz="2200" dirty="0">
                <a:latin typeface="Calibri" panose="020F0502020204030204" pitchFamily="34" charset="0"/>
              </a:rPr>
              <a:t>、</a:t>
            </a:r>
            <a:r>
              <a:rPr lang="zh-CN" altLang="zh-CN" sz="2200" dirty="0">
                <a:latin typeface="Calibri" panose="020F0502020204030204" pitchFamily="34" charset="0"/>
              </a:rPr>
              <a:t>下列关系运算中，（</a:t>
            </a:r>
            <a:r>
              <a:rPr lang="en-US" altLang="zh-CN" sz="2200" dirty="0">
                <a:latin typeface="Calibri" panose="020F0502020204030204" pitchFamily="34" charset="0"/>
                <a:cs typeface="Times New Roman" panose="02020603050405020304" pitchFamily="18" charset="0"/>
              </a:rPr>
              <a:t>     </a:t>
            </a:r>
            <a:r>
              <a:rPr lang="zh-CN" altLang="zh-CN" sz="2200" dirty="0">
                <a:latin typeface="Calibri" panose="020F0502020204030204" pitchFamily="34" charset="0"/>
              </a:rPr>
              <a:t>）运算不属于专门的关系运算。</a:t>
            </a:r>
            <a:endParaRPr lang="en-US" altLang="zh-CN" sz="2200" dirty="0">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rPr>
              <a:t>    A</a:t>
            </a:r>
            <a:r>
              <a:rPr lang="zh-CN" altLang="zh-CN" sz="2200" dirty="0"/>
              <a:t>、选择        </a:t>
            </a:r>
            <a:r>
              <a:rPr lang="en-US" altLang="zh-CN" sz="2200" dirty="0"/>
              <a:t>B</a:t>
            </a:r>
            <a:r>
              <a:rPr lang="zh-CN" altLang="zh-CN" sz="2200" dirty="0"/>
              <a:t>、连接         </a:t>
            </a:r>
            <a:r>
              <a:rPr lang="en-US" altLang="zh-CN" sz="2200" dirty="0"/>
              <a:t>C</a:t>
            </a:r>
            <a:r>
              <a:rPr lang="zh-CN" altLang="zh-CN" sz="2200" dirty="0"/>
              <a:t>、广义笛卡尔积       </a:t>
            </a:r>
            <a:r>
              <a:rPr lang="en-US" altLang="zh-CN" sz="2200" dirty="0"/>
              <a:t>D</a:t>
            </a:r>
            <a:r>
              <a:rPr lang="zh-CN" altLang="zh-CN" sz="2200" dirty="0"/>
              <a:t>、投影</a:t>
            </a:r>
            <a:endParaRPr lang="zh-CN" altLang="zh-CN" sz="2200" dirty="0"/>
          </a:p>
          <a:p>
            <a:pPr marL="0" lvl="0" indent="0" eaLnBrk="1" hangingPunct="1">
              <a:spcBef>
                <a:spcPts val="300"/>
              </a:spcBef>
              <a:buClrTx/>
              <a:buSzTx/>
              <a:buFont typeface="Arial" panose="020B0604020202020204" pitchFamily="34" charset="0"/>
              <a:buNone/>
            </a:pPr>
            <a:r>
              <a:rPr lang="zh-CN" altLang="en-US" sz="2200" dirty="0"/>
              <a:t>3、设关系R和S的属性个数分别为r和s，那么(R x S)操作结果的属性个数为（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A、r十s       B、r-s      C、r×s      D、max(r,s)</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4</a:t>
            </a:r>
            <a:r>
              <a:rPr lang="zh-CN" altLang="en-US" sz="2200" dirty="0"/>
              <a:t>、设关系R和s的结构相同,且各有100个元组，则这两个关系的并操作结果的元组个数为（D） 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A、100   B、小于等于100   C、200   D、小于等于200</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5</a:t>
            </a:r>
            <a:r>
              <a:rPr lang="zh-CN" altLang="en-US" sz="2200" dirty="0"/>
              <a:t>、有关系R和S，R∩S的运算等价于（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A、S-(R-S)    B、R-(R-S)    C、(R-S)∪S    D、R∪(R-S)</a:t>
            </a:r>
            <a:endParaRPr lang="zh-CN" altLang="en-US" sz="2200" dirty="0"/>
          </a:p>
        </p:txBody>
      </p:sp>
      <p:sp>
        <p:nvSpPr>
          <p:cNvPr id="15360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54627" name="文本框 4"/>
          <p:cNvSpPr txBox="1"/>
          <p:nvPr/>
        </p:nvSpPr>
        <p:spPr>
          <a:xfrm>
            <a:off x="368300" y="1381125"/>
            <a:ext cx="8686800" cy="14605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200" dirty="0">
                <a:latin typeface="Calibri" panose="020F0502020204030204" pitchFamily="34" charset="0"/>
              </a:rPr>
              <a:t>1、关系代数中的</a:t>
            </a:r>
            <a:r>
              <a:rPr lang="zh-CN" altLang="zh-CN" sz="2200" dirty="0">
                <a:cs typeface="Arial" panose="020B0604020202020204" pitchFamily="34" charset="0"/>
              </a:rPr>
              <a:t>п</a:t>
            </a:r>
            <a:r>
              <a:rPr lang="zh-CN" altLang="zh-CN" sz="2200" dirty="0">
                <a:sym typeface="+mn-ea"/>
              </a:rPr>
              <a:t>运算符对应</a:t>
            </a:r>
            <a:r>
              <a:rPr lang="en-US" altLang="zh-CN" sz="2200" dirty="0">
                <a:cs typeface="Arial" panose="020B0604020202020204" pitchFamily="34" charset="0"/>
                <a:sym typeface="+mn-ea"/>
              </a:rPr>
              <a:t>SELECT</a:t>
            </a:r>
            <a:r>
              <a:rPr lang="zh-CN" altLang="zh-CN" sz="2200" dirty="0">
                <a:sym typeface="+mn-ea"/>
              </a:rPr>
              <a:t>语句中的以下哪个子句？（    ）</a:t>
            </a:r>
            <a:endParaRPr lang="en-US" altLang="zh-CN" sz="2200" dirty="0">
              <a:cs typeface="Arial" panose="020B0604020202020204" pitchFamily="34" charset="0"/>
              <a:sym typeface="+mn-ea"/>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sym typeface="+mn-ea"/>
              </a:rPr>
              <a:t>     A</a:t>
            </a:r>
            <a:r>
              <a:rPr lang="zh-CN" altLang="zh-CN" sz="2200" dirty="0">
                <a:sym typeface="+mn-ea"/>
              </a:rPr>
              <a:t>、</a:t>
            </a:r>
            <a:r>
              <a:rPr lang="en-US" altLang="zh-CN" sz="2200" dirty="0">
                <a:sym typeface="+mn-ea"/>
              </a:rPr>
              <a:t>SELECT      B</a:t>
            </a:r>
            <a:r>
              <a:rPr lang="zh-CN" altLang="zh-CN" sz="2200" dirty="0">
                <a:sym typeface="+mn-ea"/>
              </a:rPr>
              <a:t>、</a:t>
            </a:r>
            <a:r>
              <a:rPr lang="en-US" altLang="zh-CN" sz="2200" dirty="0">
                <a:sym typeface="+mn-ea"/>
              </a:rPr>
              <a:t>FROM       C</a:t>
            </a:r>
            <a:r>
              <a:rPr lang="zh-CN" altLang="zh-CN" sz="2200" dirty="0">
                <a:sym typeface="+mn-ea"/>
              </a:rPr>
              <a:t>、</a:t>
            </a:r>
            <a:r>
              <a:rPr lang="en-US" altLang="zh-CN" sz="2200" dirty="0">
                <a:sym typeface="+mn-ea"/>
              </a:rPr>
              <a:t>WHERE       D</a:t>
            </a:r>
            <a:r>
              <a:rPr lang="zh-CN" altLang="zh-CN" sz="2200" dirty="0">
                <a:sym typeface="+mn-ea"/>
              </a:rPr>
              <a:t>、</a:t>
            </a:r>
            <a:r>
              <a:rPr lang="en-US" altLang="zh-CN" sz="2200" dirty="0">
                <a:sym typeface="+mn-ea"/>
              </a:rPr>
              <a:t>GROUP BY</a:t>
            </a:r>
            <a:endParaRPr lang="zh-CN" altLang="en-US" sz="2200" dirty="0"/>
          </a:p>
          <a:p>
            <a:pPr marL="0" lvl="0" indent="0" eaLnBrk="1" hangingPunct="1">
              <a:spcBef>
                <a:spcPct val="0"/>
              </a:spcBef>
              <a:buClrTx/>
              <a:buSzTx/>
              <a:buFont typeface="Arial" panose="020B0604020202020204" pitchFamily="34" charset="0"/>
              <a:buNone/>
            </a:pPr>
            <a:endParaRPr lang="zh-CN" altLang="en-US" sz="2200" dirty="0">
              <a:ea typeface="Arial" panose="020B0604020202020204" pitchFamily="34" charset="0"/>
            </a:endParaRPr>
          </a:p>
        </p:txBody>
      </p:sp>
      <p:sp>
        <p:nvSpPr>
          <p:cNvPr id="154628" name="文本框 5"/>
          <p:cNvSpPr txBox="1"/>
          <p:nvPr/>
        </p:nvSpPr>
        <p:spPr>
          <a:xfrm>
            <a:off x="407988" y="2373313"/>
            <a:ext cx="8507412" cy="3708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2</a:t>
            </a:r>
            <a:r>
              <a:rPr lang="zh-CN" altLang="en-US" sz="2200" dirty="0">
                <a:latin typeface="Calibri" panose="020F0502020204030204" pitchFamily="34" charset="0"/>
              </a:rPr>
              <a:t>、</a:t>
            </a:r>
            <a:r>
              <a:rPr lang="zh-CN" altLang="zh-CN" sz="2200" dirty="0">
                <a:latin typeface="Calibri" panose="020F0502020204030204" pitchFamily="34" charset="0"/>
              </a:rPr>
              <a:t>下列关系运算中，（</a:t>
            </a:r>
            <a:r>
              <a:rPr lang="en-US" altLang="zh-CN" sz="2200" dirty="0">
                <a:latin typeface="Calibri" panose="020F0502020204030204" pitchFamily="34" charset="0"/>
                <a:cs typeface="Times New Roman" panose="02020603050405020304" pitchFamily="18" charset="0"/>
              </a:rPr>
              <a:t>     </a:t>
            </a:r>
            <a:r>
              <a:rPr lang="zh-CN" altLang="zh-CN" sz="2200" dirty="0">
                <a:latin typeface="Calibri" panose="020F0502020204030204" pitchFamily="34" charset="0"/>
              </a:rPr>
              <a:t>）运算不属于专门的关系运算。</a:t>
            </a:r>
            <a:endParaRPr lang="en-US" altLang="zh-CN" sz="2200" dirty="0">
              <a:cs typeface="Arial" panose="020B0604020202020204" pitchFamily="34" charset="0"/>
            </a:endParaRPr>
          </a:p>
          <a:p>
            <a:pPr marL="0" lvl="0" indent="0" eaLnBrk="1" hangingPunct="1">
              <a:spcBef>
                <a:spcPct val="0"/>
              </a:spcBef>
              <a:buClrTx/>
              <a:buSzTx/>
              <a:buFont typeface="Arial" panose="020B0604020202020204" pitchFamily="34" charset="0"/>
              <a:buNone/>
            </a:pPr>
            <a:r>
              <a:rPr lang="en-US" altLang="zh-CN" sz="2200" dirty="0">
                <a:cs typeface="Arial" panose="020B0604020202020204" pitchFamily="34" charset="0"/>
              </a:rPr>
              <a:t>    A</a:t>
            </a:r>
            <a:r>
              <a:rPr lang="zh-CN" altLang="zh-CN" sz="2200" dirty="0"/>
              <a:t>、选择        </a:t>
            </a:r>
            <a:r>
              <a:rPr lang="en-US" altLang="zh-CN" sz="2200" dirty="0"/>
              <a:t>B</a:t>
            </a:r>
            <a:r>
              <a:rPr lang="zh-CN" altLang="zh-CN" sz="2200" dirty="0"/>
              <a:t>、连接         </a:t>
            </a:r>
            <a:r>
              <a:rPr lang="en-US" altLang="zh-CN" sz="2200" dirty="0"/>
              <a:t>C</a:t>
            </a:r>
            <a:r>
              <a:rPr lang="zh-CN" altLang="zh-CN" sz="2200" dirty="0"/>
              <a:t>、广义笛卡尔积       </a:t>
            </a:r>
            <a:r>
              <a:rPr lang="en-US" altLang="zh-CN" sz="2200" dirty="0"/>
              <a:t>D</a:t>
            </a:r>
            <a:r>
              <a:rPr lang="zh-CN" altLang="zh-CN" sz="2200" dirty="0"/>
              <a:t>、投影</a:t>
            </a:r>
            <a:endParaRPr lang="zh-CN" altLang="zh-CN" sz="2200" dirty="0"/>
          </a:p>
          <a:p>
            <a:pPr marL="0" lvl="0" indent="0" eaLnBrk="1" hangingPunct="1">
              <a:spcBef>
                <a:spcPts val="300"/>
              </a:spcBef>
              <a:buClrTx/>
              <a:buSzTx/>
              <a:buFont typeface="Arial" panose="020B0604020202020204" pitchFamily="34" charset="0"/>
              <a:buNone/>
            </a:pPr>
            <a:r>
              <a:rPr lang="zh-CN" altLang="en-US" sz="2200" dirty="0"/>
              <a:t>3、设关系R和S的属性个数分别为r和s，那么(R x S)操作结果的属性个数为（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A、r十s       B、r-s      C、r×s      D、max(r,s)</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4</a:t>
            </a:r>
            <a:r>
              <a:rPr lang="zh-CN" altLang="en-US" sz="2200" dirty="0"/>
              <a:t>、设关系R和s的结构相同,且各有100个元组，则这两个关系的并操作结果的元组个数为（    ） 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A、100   B、小于等于100   C、200   D、小于等于200</a:t>
            </a:r>
            <a:endParaRPr lang="zh-CN" altLang="en-US" sz="2200" dirty="0"/>
          </a:p>
          <a:p>
            <a:pPr marL="0" lvl="0" indent="0" eaLnBrk="1" hangingPunct="1">
              <a:spcBef>
                <a:spcPts val="300"/>
              </a:spcBef>
              <a:buClrTx/>
              <a:buSzTx/>
              <a:buFont typeface="Arial" panose="020B0604020202020204" pitchFamily="34" charset="0"/>
              <a:buNone/>
            </a:pPr>
            <a:r>
              <a:rPr lang="en-US" altLang="zh-CN" sz="2200" dirty="0"/>
              <a:t>5</a:t>
            </a:r>
            <a:r>
              <a:rPr lang="zh-CN" altLang="en-US" sz="2200" dirty="0"/>
              <a:t>、有关系R和S，R∩S的运算等价于（   ）</a:t>
            </a:r>
            <a:endParaRPr lang="zh-CN" altLang="en-US" sz="2200" dirty="0"/>
          </a:p>
          <a:p>
            <a:pPr marL="0" lvl="0" indent="0" eaLnBrk="1" hangingPunct="1">
              <a:spcBef>
                <a:spcPts val="300"/>
              </a:spcBef>
              <a:buClrTx/>
              <a:buSzTx/>
              <a:buFont typeface="Arial" panose="020B0604020202020204" pitchFamily="34" charset="0"/>
              <a:buNone/>
            </a:pPr>
            <a:r>
              <a:rPr lang="zh-CN" altLang="en-US" sz="2200" dirty="0"/>
              <a:t>    A、S-(R-S)    B、R-(R-S)    C、(R-S)∪S    D、R∪(R-S)</a:t>
            </a:r>
            <a:endParaRPr lang="zh-CN" altLang="en-US" sz="2200" dirty="0"/>
          </a:p>
        </p:txBody>
      </p:sp>
      <p:sp>
        <p:nvSpPr>
          <p:cNvPr id="7" name="文本框 6"/>
          <p:cNvSpPr txBox="1"/>
          <p:nvPr/>
        </p:nvSpPr>
        <p:spPr>
          <a:xfrm>
            <a:off x="8574088" y="1330325"/>
            <a:ext cx="366713"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A</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8" name="文本框 7"/>
          <p:cNvSpPr txBox="1"/>
          <p:nvPr/>
        </p:nvSpPr>
        <p:spPr>
          <a:xfrm>
            <a:off x="3405188" y="2252663"/>
            <a:ext cx="366713"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C</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9" name="文本框 8"/>
          <p:cNvSpPr txBox="1"/>
          <p:nvPr/>
        </p:nvSpPr>
        <p:spPr>
          <a:xfrm>
            <a:off x="1843088" y="3235325"/>
            <a:ext cx="366713"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A</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11" name="文本框 10"/>
          <p:cNvSpPr txBox="1"/>
          <p:nvPr/>
        </p:nvSpPr>
        <p:spPr>
          <a:xfrm>
            <a:off x="3570288" y="4365625"/>
            <a:ext cx="366713"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D</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12" name="文本框 11"/>
          <p:cNvSpPr txBox="1"/>
          <p:nvPr/>
        </p:nvSpPr>
        <p:spPr>
          <a:xfrm>
            <a:off x="5233988" y="5102225"/>
            <a:ext cx="366713" cy="588963"/>
          </a:xfrm>
          <a:prstGeom prst="rect">
            <a:avLst/>
          </a:prstGeom>
          <a:noFill/>
        </p:spPr>
        <p:txBody>
          <a:bodyPr>
            <a:spAutoFit/>
          </a:bodyPr>
          <a:lstStyle/>
          <a:p>
            <a:pPr marR="0" defTabSz="914400" eaLnBrk="1" hangingPunct="1">
              <a:buClrTx/>
              <a:buSzTx/>
              <a:buFont typeface="Arial" panose="020B0604020202020204" pitchFamily="34" charset="0"/>
              <a:buNone/>
              <a:defRPr/>
            </a:pPr>
            <a:r>
              <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B</a:t>
            </a:r>
            <a:endParaRPr kumimoji="0" lang="en-US" altLang="zh-CN" sz="24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endParaRPr>
          </a:p>
        </p:txBody>
      </p:sp>
      <p:sp>
        <p:nvSpPr>
          <p:cNvPr id="15463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ppt_x"/>
                                          </p:val>
                                        </p:tav>
                                        <p:tav tm="100000">
                                          <p:val>
                                            <p:strVal val="#ppt_x"/>
                                          </p:val>
                                        </p:tav>
                                      </p:tavLst>
                                    </p:anim>
                                    <p:anim calcmode="lin" valueType="num">
                                      <p:cBhvr additive="base">
                                        <p:cTn id="2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07988" y="6540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2" name="文本框 1"/>
          <p:cNvSpPr txBox="1"/>
          <p:nvPr/>
        </p:nvSpPr>
        <p:spPr>
          <a:xfrm>
            <a:off x="495300" y="1381125"/>
            <a:ext cx="8128000" cy="2582863"/>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zh-CN" sz="2400" b="0" kern="1200" cap="none" spc="0" normalizeH="0" baseline="0" noProof="0">
                <a:latin typeface="+mj-ea"/>
                <a:ea typeface="+mj-ea"/>
                <a:cs typeface="+mj-ea"/>
              </a:rPr>
              <a:t>6、给出如下</a:t>
            </a:r>
            <a:r>
              <a:rPr kumimoji="0" lang="en-US" sz="2400" b="0" kern="1200" cap="none" spc="0" normalizeH="0" baseline="0" noProof="0">
                <a:latin typeface="+mj-ea"/>
                <a:ea typeface="+mj-ea"/>
                <a:cs typeface="+mj-ea"/>
              </a:rPr>
              <a:t>3</a:t>
            </a:r>
            <a:r>
              <a:rPr kumimoji="0" lang="zh-CN" sz="2400" b="0" kern="1200" cap="none" spc="0" normalizeH="0" baseline="0" noProof="0">
                <a:latin typeface="+mj-ea"/>
                <a:ea typeface="+mj-ea"/>
                <a:cs typeface="+mj-ea"/>
              </a:rPr>
              <a:t>个域：</a:t>
            </a:r>
            <a:endParaRPr kumimoji="0" lang="en-US"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en-US" sz="2400" b="0" kern="1200" cap="none" spc="0" normalizeH="0" baseline="0" noProof="0">
                <a:latin typeface="+mj-ea"/>
                <a:ea typeface="+mj-ea"/>
                <a:cs typeface="+mj-ea"/>
              </a:rPr>
              <a:t>D1=</a:t>
            </a:r>
            <a:r>
              <a:rPr kumimoji="0" lang="zh-CN" sz="2400" b="0" kern="1200" cap="none" spc="0" normalizeH="0" baseline="0" noProof="0">
                <a:latin typeface="+mj-ea"/>
                <a:ea typeface="+mj-ea"/>
                <a:cs typeface="+mj-ea"/>
              </a:rPr>
              <a:t>导师集合</a:t>
            </a:r>
            <a:r>
              <a:rPr kumimoji="0" lang="en-US" sz="2400" b="0" kern="1200" cap="none" spc="0" normalizeH="0" baseline="0" noProof="0">
                <a:latin typeface="+mj-ea"/>
                <a:ea typeface="+mj-ea"/>
                <a:cs typeface="+mj-ea"/>
              </a:rPr>
              <a:t>SUPERVISOR={</a:t>
            </a:r>
            <a:r>
              <a:rPr kumimoji="0" lang="zh-CN" sz="2400" b="0" kern="1200" cap="none" spc="0" normalizeH="0" baseline="0" noProof="0">
                <a:latin typeface="+mj-ea"/>
                <a:ea typeface="+mj-ea"/>
                <a:cs typeface="+mj-ea"/>
              </a:rPr>
              <a:t>张清玫</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刘逸</a:t>
            </a:r>
            <a:r>
              <a:rPr kumimoji="0" lang="en-US" sz="2400" b="0" kern="1200" cap="none" spc="0" normalizeH="0" baseline="0" noProof="0">
                <a:latin typeface="+mj-ea"/>
                <a:ea typeface="+mj-ea"/>
                <a:cs typeface="+mj-ea"/>
              </a:rPr>
              <a:t>}</a:t>
            </a:r>
            <a:endParaRPr kumimoji="0" lang="en-US"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en-US" sz="2400" b="0" kern="1200" cap="none" spc="0" normalizeH="0" baseline="0" noProof="0">
                <a:latin typeface="+mj-ea"/>
                <a:ea typeface="+mj-ea"/>
                <a:cs typeface="+mj-ea"/>
              </a:rPr>
              <a:t>D2=</a:t>
            </a:r>
            <a:r>
              <a:rPr kumimoji="0" lang="zh-CN" sz="2400" b="0" kern="1200" cap="none" spc="0" normalizeH="0" baseline="0" noProof="0">
                <a:latin typeface="+mj-ea"/>
                <a:ea typeface="+mj-ea"/>
                <a:cs typeface="+mj-ea"/>
              </a:rPr>
              <a:t>专业集合</a:t>
            </a:r>
            <a:r>
              <a:rPr kumimoji="0" lang="en-US" sz="2400" b="0" kern="1200" cap="none" spc="0" normalizeH="0" baseline="0" noProof="0">
                <a:latin typeface="+mj-ea"/>
                <a:ea typeface="+mj-ea"/>
                <a:cs typeface="+mj-ea"/>
              </a:rPr>
              <a:t>SPECIALITY={</a:t>
            </a:r>
            <a:r>
              <a:rPr kumimoji="0" lang="zh-CN" sz="2400" b="0" kern="1200" cap="none" spc="0" normalizeH="0" baseline="0" noProof="0">
                <a:latin typeface="+mj-ea"/>
                <a:ea typeface="+mj-ea"/>
                <a:cs typeface="+mj-ea"/>
              </a:rPr>
              <a:t>计算机专业</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信息专业</a:t>
            </a:r>
            <a:r>
              <a:rPr kumimoji="0" lang="en-US" sz="2400" b="0" kern="1200" cap="none" spc="0" normalizeH="0" baseline="0" noProof="0">
                <a:latin typeface="+mj-ea"/>
                <a:ea typeface="+mj-ea"/>
                <a:cs typeface="+mj-ea"/>
              </a:rPr>
              <a:t>}</a:t>
            </a:r>
            <a:endParaRPr kumimoji="0" lang="en-US"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en-US" sz="2400" b="0" kern="1200" cap="none" spc="0" normalizeH="0" baseline="0" noProof="0">
                <a:latin typeface="+mj-ea"/>
                <a:ea typeface="+mj-ea"/>
                <a:cs typeface="+mj-ea"/>
              </a:rPr>
              <a:t>D3=</a:t>
            </a:r>
            <a:r>
              <a:rPr kumimoji="0" lang="zh-CN" sz="2400" b="0" kern="1200" cap="none" spc="0" normalizeH="0" baseline="0" noProof="0">
                <a:latin typeface="+mj-ea"/>
                <a:ea typeface="+mj-ea"/>
                <a:cs typeface="+mj-ea"/>
              </a:rPr>
              <a:t>研究生集合</a:t>
            </a:r>
            <a:r>
              <a:rPr kumimoji="0" lang="en-US" sz="2400" b="0" kern="1200" cap="none" spc="0" normalizeH="0" baseline="0" noProof="0">
                <a:latin typeface="+mj-ea"/>
                <a:ea typeface="+mj-ea"/>
                <a:cs typeface="+mj-ea"/>
              </a:rPr>
              <a:t>POSTGRADUATE={</a:t>
            </a:r>
            <a:r>
              <a:rPr kumimoji="0" lang="zh-CN" sz="2400" b="0" kern="1200" cap="none" spc="0" normalizeH="0" baseline="0" noProof="0">
                <a:latin typeface="+mj-ea"/>
                <a:ea typeface="+mj-ea"/>
                <a:cs typeface="+mj-ea"/>
              </a:rPr>
              <a:t>李勇</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刘晨</a:t>
            </a:r>
            <a:r>
              <a:rPr kumimoji="0" lang="en-US" sz="2400" b="0" kern="1200" cap="none" spc="0" normalizeH="0" baseline="0" noProof="0">
                <a:latin typeface="+mj-ea"/>
                <a:ea typeface="+mj-ea"/>
                <a:cs typeface="+mj-ea"/>
              </a:rPr>
              <a:t>,</a:t>
            </a:r>
            <a:r>
              <a:rPr kumimoji="0" lang="zh-CN" sz="2400" b="0" kern="1200" cap="none" spc="0" normalizeH="0" baseline="0" noProof="0">
                <a:latin typeface="+mj-ea"/>
                <a:ea typeface="+mj-ea"/>
                <a:cs typeface="+mj-ea"/>
              </a:rPr>
              <a:t>王敏</a:t>
            </a:r>
            <a:r>
              <a:rPr kumimoji="0" lang="en-US" sz="2400" b="0" kern="1200" cap="none" spc="0" normalizeH="0" baseline="0" noProof="0">
                <a:latin typeface="+mj-ea"/>
                <a:ea typeface="+mj-ea"/>
                <a:cs typeface="+mj-ea"/>
              </a:rPr>
              <a:t>}</a:t>
            </a:r>
            <a:endParaRPr kumimoji="0" lang="zh-CN" sz="2400" b="0" kern="1200" cap="none" spc="0" normalizeH="0" baseline="0" noProof="0">
              <a:latin typeface="+mj-ea"/>
              <a:ea typeface="+mj-ea"/>
              <a:cs typeface="+mj-ea"/>
            </a:endParaRPr>
          </a:p>
          <a:p>
            <a:pPr marR="0" defTabSz="914400" eaLnBrk="1" hangingPunct="1">
              <a:buClrTx/>
              <a:buSzTx/>
              <a:buFont typeface="Arial" panose="020B0604020202020204" pitchFamily="34" charset="0"/>
              <a:buNone/>
              <a:defRPr/>
            </a:pPr>
            <a:r>
              <a:rPr kumimoji="0" lang="zh-CN" sz="2400" b="0" kern="1200" cap="none" spc="0" normalizeH="0" baseline="0" noProof="0">
                <a:latin typeface="+mj-ea"/>
                <a:ea typeface="+mj-ea"/>
                <a:cs typeface="+mj-ea"/>
              </a:rPr>
              <a:t>求：</a:t>
            </a:r>
            <a:r>
              <a:rPr kumimoji="0" lang="en-US" sz="2400" b="0" kern="1200" cap="none" spc="0" normalizeH="0" baseline="0" noProof="0">
                <a:latin typeface="+mj-ea"/>
                <a:ea typeface="+mj-ea"/>
                <a:cs typeface="+mj-ea"/>
              </a:rPr>
              <a:t>D1×D2×D3</a:t>
            </a:r>
            <a:endParaRPr kumimoji="0" lang="zh-CN" altLang="en-US" sz="2400" kern="1200" cap="none" spc="0" normalizeH="0" baseline="0" noProof="0">
              <a:latin typeface="+mj-ea"/>
              <a:ea typeface="+mj-ea"/>
              <a:cs typeface="+mj-ea"/>
            </a:endParaRPr>
          </a:p>
        </p:txBody>
      </p:sp>
      <p:sp>
        <p:nvSpPr>
          <p:cNvPr id="15565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56675" name="文本框 100"/>
          <p:cNvSpPr txBox="1"/>
          <p:nvPr/>
        </p:nvSpPr>
        <p:spPr>
          <a:xfrm>
            <a:off x="3533775" y="1020763"/>
            <a:ext cx="4305300" cy="5262562"/>
          </a:xfrm>
          <a:prstGeom prst="rect">
            <a:avLst/>
          </a:prstGeom>
          <a:solidFill>
            <a:schemeClr val="accent1">
              <a:alpha val="32941"/>
            </a:schemeClr>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张清玫</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李勇</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刘晨</a:t>
            </a:r>
            <a:r>
              <a:rPr lang="en-US" altLang="zh-CN" sz="2400" b="0" dirty="0">
                <a:latin typeface="Calibri" panose="020F0502020204030204" pitchFamily="34" charset="0"/>
              </a:rPr>
              <a:t>),</a:t>
            </a:r>
            <a:endParaRPr lang="en-US" altLang="zh-CN" sz="2400" b="0" dirty="0">
              <a:latin typeface="Calibri" panose="020F0502020204030204" pitchFamily="34" charset="0"/>
              <a:cs typeface="Times New Roman" panose="02020603050405020304" pitchFamily="18"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计算机专业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    (</a:t>
            </a:r>
            <a:r>
              <a:rPr lang="zh-CN" altLang="zh-CN" sz="2400" b="0" dirty="0">
                <a:latin typeface="Calibri" panose="020F0502020204030204" pitchFamily="34" charset="0"/>
              </a:rPr>
              <a:t>刘逸</a:t>
            </a:r>
            <a:r>
              <a:rPr lang="en-US" altLang="zh-CN" sz="2400" b="0" dirty="0">
                <a:latin typeface="Calibri" panose="020F0502020204030204" pitchFamily="34" charset="0"/>
              </a:rPr>
              <a:t>,</a:t>
            </a:r>
            <a:r>
              <a:rPr lang="zh-CN" altLang="zh-CN" sz="2400" b="0" dirty="0">
                <a:latin typeface="Calibri" panose="020F0502020204030204" pitchFamily="34" charset="0"/>
              </a:rPr>
              <a:t>信息专业</a:t>
            </a:r>
            <a:r>
              <a:rPr lang="en-US" altLang="zh-CN" sz="2400" b="0" dirty="0">
                <a:latin typeface="Calibri" panose="020F0502020204030204" pitchFamily="34" charset="0"/>
              </a:rPr>
              <a:t>,</a:t>
            </a:r>
            <a:r>
              <a:rPr lang="zh-CN" altLang="zh-CN" sz="2400" b="0" dirty="0">
                <a:latin typeface="Calibri" panose="020F0502020204030204" pitchFamily="34" charset="0"/>
              </a:rPr>
              <a:t>王敏</a:t>
            </a:r>
            <a:r>
              <a:rPr lang="en-US" altLang="zh-CN" sz="2400" b="0" dirty="0">
                <a:latin typeface="Calibri" panose="020F0502020204030204" pitchFamily="34" charset="0"/>
              </a:rPr>
              <a:t>)   </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a:t>
            </a:r>
            <a:endParaRPr lang="zh-CN" altLang="en-US" sz="2400" dirty="0"/>
          </a:p>
        </p:txBody>
      </p:sp>
      <p:sp>
        <p:nvSpPr>
          <p:cNvPr id="156676" name="文本框 1"/>
          <p:cNvSpPr txBox="1"/>
          <p:nvPr/>
        </p:nvSpPr>
        <p:spPr>
          <a:xfrm>
            <a:off x="1087438" y="3092450"/>
            <a:ext cx="2289175" cy="673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800" dirty="0">
                <a:solidFill>
                  <a:srgbClr val="C00000"/>
                </a:solidFill>
                <a:latin typeface="Calibri" panose="020F0502020204030204" pitchFamily="34" charset="0"/>
                <a:cs typeface="Times New Roman" panose="02020603050405020304" pitchFamily="18" charset="0"/>
                <a:sym typeface="+mn-ea"/>
              </a:rPr>
              <a:t>D1</a:t>
            </a:r>
            <a:r>
              <a:rPr lang="en-US" altLang="zh-CN" sz="2800" dirty="0">
                <a:solidFill>
                  <a:srgbClr val="C00000"/>
                </a:solidFill>
                <a:sym typeface="+mn-ea"/>
              </a:rPr>
              <a:t>×</a:t>
            </a:r>
            <a:r>
              <a:rPr lang="en-US" altLang="zh-CN" sz="2800" dirty="0">
                <a:solidFill>
                  <a:srgbClr val="C00000"/>
                </a:solidFill>
                <a:latin typeface="Calibri" panose="020F0502020204030204" pitchFamily="34" charset="0"/>
                <a:cs typeface="Times New Roman" panose="02020603050405020304" pitchFamily="18" charset="0"/>
                <a:sym typeface="+mn-ea"/>
              </a:rPr>
              <a:t>D2</a:t>
            </a:r>
            <a:r>
              <a:rPr lang="en-US" altLang="zh-CN" sz="2800" dirty="0">
                <a:solidFill>
                  <a:srgbClr val="C00000"/>
                </a:solidFill>
                <a:sym typeface="+mn-ea"/>
              </a:rPr>
              <a:t>×</a:t>
            </a:r>
            <a:r>
              <a:rPr lang="en-US" altLang="zh-CN" sz="2800" dirty="0">
                <a:solidFill>
                  <a:srgbClr val="C00000"/>
                </a:solidFill>
                <a:latin typeface="Calibri" panose="020F0502020204030204" pitchFamily="34" charset="0"/>
                <a:cs typeface="Times New Roman" panose="02020603050405020304" pitchFamily="18" charset="0"/>
                <a:sym typeface="+mn-ea"/>
              </a:rPr>
              <a:t>D3=</a:t>
            </a:r>
            <a:endParaRPr lang="en-US" altLang="en-US" sz="2800" dirty="0">
              <a:solidFill>
                <a:srgbClr val="C00000"/>
              </a:solidFill>
              <a:latin typeface="Calibri" panose="020F0502020204030204" pitchFamily="34" charset="0"/>
              <a:ea typeface="Times New Roman" panose="02020603050405020304" pitchFamily="18" charset="0"/>
              <a:sym typeface="+mn-ea"/>
            </a:endParaRPr>
          </a:p>
        </p:txBody>
      </p:sp>
      <p:sp>
        <p:nvSpPr>
          <p:cNvPr id="15667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(1)</a:t>
            </a:r>
            <a:r>
              <a:rPr lang="zh-CN" altLang="en-US" sz="2800" dirty="0">
                <a:solidFill>
                  <a:srgbClr val="0033CC"/>
                </a:solidFill>
                <a:ea typeface="黑体" panose="02010609060101010101" pitchFamily="49" charset="-122"/>
              </a:rPr>
              <a:t>基本操作符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8" name="矩形 2"/>
          <p:cNvSpPr/>
          <p:nvPr/>
        </p:nvSpPr>
        <p:spPr>
          <a:xfrm>
            <a:off x="479425" y="6762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1.改名</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13667" name="Rectangle 3"/>
          <p:cNvSpPr/>
          <p:nvPr/>
        </p:nvSpPr>
        <p:spPr>
          <a:xfrm>
            <a:off x="1042988" y="1169988"/>
            <a:ext cx="7034212" cy="5318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sym typeface="Symbol" panose="05050102010706020507" pitchFamily="18" charset="2"/>
              </a:rPr>
              <a:t>（D（1</a:t>
            </a:r>
            <a:r>
              <a:rPr lang="zh-CN" altLang="en-US" sz="2400" dirty="0">
                <a:sym typeface="Wingdings 3" panose="05040102010807070707" pitchFamily="18" charset="2"/>
              </a:rPr>
              <a:t>sid，5 sid2），</a:t>
            </a:r>
            <a:r>
              <a:rPr lang="zh-CN" altLang="en-US" sz="2400" dirty="0"/>
              <a:t>S1</a:t>
            </a:r>
            <a:r>
              <a:rPr lang="zh-CN" altLang="en-US" sz="2400" dirty="0">
                <a:sym typeface="Symbol" panose="05050102010706020507" pitchFamily="18" charset="2"/>
              </a:rPr>
              <a:t></a:t>
            </a:r>
            <a:r>
              <a:rPr lang="zh-CN" altLang="en-US" sz="2400" dirty="0"/>
              <a:t>E</a:t>
            </a:r>
            <a:r>
              <a:rPr lang="zh-CN" altLang="en-US" sz="2400" dirty="0">
                <a:sym typeface="Wingdings 3" panose="05040102010807070707" pitchFamily="18" charset="2"/>
              </a:rPr>
              <a:t> ）</a:t>
            </a:r>
            <a:endParaRPr lang="zh-CN" altLang="en-US" sz="2400" dirty="0">
              <a:sym typeface="Wingdings 3" panose="05040102010807070707" pitchFamily="18" charset="2"/>
            </a:endParaRPr>
          </a:p>
        </p:txBody>
      </p:sp>
      <p:graphicFrame>
        <p:nvGraphicFramePr>
          <p:cNvPr id="113668" name="表格 113667"/>
          <p:cNvGraphicFramePr/>
          <p:nvPr/>
        </p:nvGraphicFramePr>
        <p:xfrm>
          <a:off x="2519363" y="1746250"/>
          <a:ext cx="6378575" cy="3924300"/>
        </p:xfrm>
        <a:graphic>
          <a:graphicData uri="http://schemas.openxmlformats.org/drawingml/2006/table">
            <a:tbl>
              <a:tblPr/>
              <a:tblGrid>
                <a:gridCol w="1031875"/>
                <a:gridCol w="1020763"/>
                <a:gridCol w="620712"/>
                <a:gridCol w="914400"/>
                <a:gridCol w="922338"/>
                <a:gridCol w="919162"/>
                <a:gridCol w="94932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sname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age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grade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cid</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score</a:t>
                      </a:r>
                      <a:endParaRPr lang="de-DE" altLang="en-US" sz="20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何大</a:t>
                      </a:r>
                      <a:r>
                        <a:rPr lang="zh-CN" altLang="en-US" sz="1800" b="0" dirty="0">
                          <a:ea typeface="华文楷体" panose="02010600040101010101" pitchFamily="2" charset="-122"/>
                        </a:rPr>
                        <a:t>明</a:t>
                      </a:r>
                      <a:endParaRPr lang="zh-CN"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何大</a:t>
                      </a:r>
                      <a:r>
                        <a:rPr lang="zh-CN" altLang="en-US" sz="1800" b="0" dirty="0">
                          <a:ea typeface="华文楷体" panose="02010600040101010101" pitchFamily="2" charset="-122"/>
                        </a:rPr>
                        <a:t>明</a:t>
                      </a:r>
                      <a:endParaRPr lang="zh-CN"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李峰</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11</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ea typeface="华文楷体" panose="02010600040101010101" pitchFamily="2" charset="-122"/>
                        </a:rPr>
                        <a:t>李峰</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陈胜</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35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陈胜</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4</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张大卫</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91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ea typeface="华文楷体" panose="02010600040101010101" pitchFamily="2" charset="-122"/>
                        </a:rPr>
                        <a:t>张大卫</a:t>
                      </a:r>
                      <a:endParaRPr lang="zh-CN" altLang="en-US" b="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18</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6</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103</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80</a:t>
                      </a:r>
                      <a:endParaRPr lang="de-DE" altLang="en-US"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13750" name="Line 86"/>
          <p:cNvSpPr/>
          <p:nvPr/>
        </p:nvSpPr>
        <p:spPr>
          <a:xfrm>
            <a:off x="1365250" y="1689100"/>
            <a:ext cx="1046163" cy="1079500"/>
          </a:xfrm>
          <a:prstGeom prst="line">
            <a:avLst/>
          </a:prstGeom>
          <a:ln w="50800" cap="flat" cmpd="sng">
            <a:solidFill>
              <a:srgbClr val="CC0000"/>
            </a:solidFill>
            <a:prstDash val="solid"/>
            <a:headEnd type="none" w="med" len="med"/>
            <a:tailEnd type="stealth" w="med" len="med"/>
          </a:ln>
        </p:spPr>
      </p:sp>
      <p:graphicFrame>
        <p:nvGraphicFramePr>
          <p:cNvPr id="113751" name="表格 113750"/>
          <p:cNvGraphicFramePr/>
          <p:nvPr/>
        </p:nvGraphicFramePr>
        <p:xfrm>
          <a:off x="2484438" y="2597150"/>
          <a:ext cx="6342063" cy="3808413"/>
        </p:xfrm>
        <a:graphic>
          <a:graphicData uri="http://schemas.openxmlformats.org/drawingml/2006/table">
            <a:tbl>
              <a:tblPr/>
              <a:tblGrid>
                <a:gridCol w="1025525"/>
                <a:gridCol w="954088"/>
                <a:gridCol w="677862"/>
                <a:gridCol w="911225"/>
                <a:gridCol w="915988"/>
                <a:gridCol w="990600"/>
                <a:gridCol w="86677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sid2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score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191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159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13833" name="Rectangle 169"/>
          <p:cNvSpPr/>
          <p:nvPr/>
        </p:nvSpPr>
        <p:spPr>
          <a:xfrm>
            <a:off x="2771775" y="1760538"/>
            <a:ext cx="468313" cy="360362"/>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3834" name="Rectangle 170"/>
          <p:cNvSpPr/>
          <p:nvPr/>
        </p:nvSpPr>
        <p:spPr>
          <a:xfrm>
            <a:off x="6372225" y="1833563"/>
            <a:ext cx="647700" cy="360362"/>
          </a:xfrm>
          <a:prstGeom prst="rect">
            <a:avLst/>
          </a:prstGeom>
          <a:solidFill>
            <a:srgbClr val="FF6600">
              <a:alpha val="2196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13835" name="Text Box 171"/>
          <p:cNvSpPr txBox="1"/>
          <p:nvPr/>
        </p:nvSpPr>
        <p:spPr>
          <a:xfrm>
            <a:off x="588963" y="3317875"/>
            <a:ext cx="8323262" cy="3108325"/>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Char char="•"/>
            </a:pPr>
            <a:r>
              <a:rPr lang="zh-CN" altLang="en-US" sz="2200" dirty="0">
                <a:latin typeface="华文楷体" panose="02010600040101010101" pitchFamily="2" charset="-122"/>
                <a:ea typeface="华文楷体" panose="02010600040101010101" pitchFamily="2" charset="-122"/>
                <a:sym typeface="Symbol" panose="05050102010706020507" pitchFamily="18" charset="2"/>
              </a:rPr>
              <a:t>为解决</a:t>
            </a:r>
            <a:r>
              <a:rPr lang="zh-CN" altLang="en-US" sz="2200" dirty="0">
                <a:latin typeface="华文楷体" panose="02010600040101010101" pitchFamily="2" charset="-122"/>
                <a:ea typeface="华文楷体" panose="02010600040101010101" pitchFamily="2" charset="-122"/>
              </a:rPr>
              <a:t>R</a:t>
            </a:r>
            <a:r>
              <a:rPr lang="zh-CN" altLang="en-US" sz="2200" dirty="0">
                <a:latin typeface="华文楷体" panose="02010600040101010101" pitchFamily="2" charset="-122"/>
                <a:ea typeface="华文楷体" panose="02010600040101010101" pitchFamily="2" charset="-122"/>
                <a:sym typeface="Symbol" panose="05050102010706020507" pitchFamily="18" charset="2"/>
              </a:rPr>
              <a:t>S中产生的名字冲突，引入改名操作：</a:t>
            </a:r>
            <a:endParaRPr lang="zh-CN" altLang="en-US" sz="2200" dirty="0">
              <a:solidFill>
                <a:srgbClr val="A50021"/>
              </a:solidFill>
              <a:latin typeface="华文楷体" panose="02010600040101010101" pitchFamily="2" charset="-122"/>
              <a:ea typeface="华文楷体" panose="02010600040101010101" pitchFamily="2" charset="-122"/>
              <a:sym typeface="Symbol" panose="05050102010706020507" pitchFamily="18" charset="2"/>
            </a:endParaRPr>
          </a:p>
          <a:p>
            <a:pPr marL="0" lvl="0" indent="0" eaLnBrk="1" hangingPunct="1">
              <a:spcBef>
                <a:spcPts val="600"/>
              </a:spcBef>
              <a:buClrTx/>
              <a:buSzTx/>
              <a:buFont typeface="Arial" panose="020B0604020202020204" pitchFamily="34" charset="0"/>
              <a:buChar char="•"/>
            </a:pPr>
            <a:r>
              <a:rPr lang="zh-CN" altLang="en-US" sz="2200" dirty="0">
                <a:solidFill>
                  <a:srgbClr val="A50021"/>
                </a:solidFill>
                <a:latin typeface="华文楷体" panose="02010600040101010101" pitchFamily="2" charset="-122"/>
                <a:ea typeface="华文楷体" panose="02010600040101010101" pitchFamily="2" charset="-122"/>
                <a:sym typeface="Symbol" panose="05050102010706020507" pitchFamily="18" charset="2"/>
              </a:rPr>
              <a:t>（R（F）</a:t>
            </a: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a:t>
            </a:r>
            <a:r>
              <a:rPr lang="zh-CN" altLang="en-US" sz="2200" dirty="0">
                <a:solidFill>
                  <a:srgbClr val="A50021"/>
                </a:solidFill>
                <a:latin typeface="华文楷体" panose="02010600040101010101" pitchFamily="2" charset="-122"/>
                <a:ea typeface="华文楷体" panose="02010600040101010101" pitchFamily="2" charset="-122"/>
              </a:rPr>
              <a:t>S）</a:t>
            </a:r>
            <a:endParaRPr lang="zh-CN" altLang="en-US" sz="2200" dirty="0">
              <a:solidFill>
                <a:srgbClr val="A50021"/>
              </a:solidFill>
              <a:latin typeface="华文楷体" panose="02010600040101010101" pitchFamily="2" charset="-122"/>
              <a:ea typeface="华文楷体" panose="02010600040101010101" pitchFamily="2" charset="-122"/>
            </a:endParaRPr>
          </a:p>
          <a:p>
            <a:pPr marL="0" lvl="0" indent="0" eaLnBrk="1" hangingPunct="1">
              <a:spcBef>
                <a:spcPts val="600"/>
              </a:spcBef>
              <a:buClrTx/>
              <a:buSzTx/>
              <a:buFont typeface="Arial" panose="020B0604020202020204" pitchFamily="34" charset="0"/>
              <a:buChar char="•"/>
            </a:pPr>
            <a:r>
              <a:rPr lang="zh-CN" altLang="en-US" sz="2200" dirty="0">
                <a:latin typeface="华文楷体" panose="02010600040101010101" pitchFamily="2" charset="-122"/>
                <a:ea typeface="华文楷体" panose="02010600040101010101" pitchFamily="2" charset="-122"/>
              </a:rPr>
              <a:t> 对任意</a:t>
            </a:r>
            <a:r>
              <a:rPr lang="zh-CN" altLang="en-US" sz="2200" u="sng" dirty="0">
                <a:latin typeface="华文楷体" panose="02010600040101010101" pitchFamily="2" charset="-122"/>
                <a:ea typeface="华文楷体" panose="02010600040101010101" pitchFamily="2" charset="-122"/>
              </a:rPr>
              <a:t>代数表达式S</a:t>
            </a:r>
            <a:r>
              <a:rPr lang="zh-CN" altLang="en-US" sz="2200" dirty="0">
                <a:latin typeface="华文楷体" panose="02010600040101010101" pitchFamily="2" charset="-122"/>
                <a:ea typeface="华文楷体" panose="02010600040101010101" pitchFamily="2" charset="-122"/>
              </a:rPr>
              <a:t>，改名操作返回一个新的关系实例R，其元组与S相同，模式与S相同。仅那些在F这个改名列表中列出的字段名改变了，语义不变。</a:t>
            </a:r>
            <a:endParaRPr lang="zh-CN" altLang="en-US" sz="2200" dirty="0">
              <a:latin typeface="华文楷体" panose="02010600040101010101" pitchFamily="2" charset="-122"/>
              <a:ea typeface="华文楷体" panose="02010600040101010101" pitchFamily="2" charset="-122"/>
            </a:endParaRPr>
          </a:p>
          <a:p>
            <a:pPr marL="0" lvl="0" indent="0" eaLnBrk="1" hangingPunct="1">
              <a:spcBef>
                <a:spcPts val="600"/>
              </a:spcBef>
              <a:buClrTx/>
              <a:buSzTx/>
              <a:buFont typeface="Arial" panose="020B0604020202020204" pitchFamily="34" charset="0"/>
              <a:buChar char="•"/>
            </a:pPr>
            <a:r>
              <a:rPr lang="zh-CN" altLang="en-US" sz="2200" dirty="0">
                <a:latin typeface="华文楷体" panose="02010600040101010101" pitchFamily="2" charset="-122"/>
                <a:ea typeface="华文楷体" panose="02010600040101010101" pitchFamily="2" charset="-122"/>
              </a:rPr>
              <a:t>  </a:t>
            </a:r>
            <a:r>
              <a:rPr lang="zh-CN" altLang="en-US" sz="2200" dirty="0">
                <a:solidFill>
                  <a:srgbClr val="A50021"/>
                </a:solidFill>
                <a:latin typeface="华文楷体" panose="02010600040101010101" pitchFamily="2" charset="-122"/>
                <a:ea typeface="华文楷体" panose="02010600040101010101" pitchFamily="2" charset="-122"/>
              </a:rPr>
              <a:t>F的形式为： 旧名</a:t>
            </a: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新名，或位置新名</a:t>
            </a:r>
            <a:endPar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endParaRPr>
          </a:p>
          <a:p>
            <a:pPr marL="0" lvl="0" indent="0" eaLnBrk="1" hangingPunct="1">
              <a:spcBef>
                <a:spcPts val="600"/>
              </a:spcBef>
              <a:buClrTx/>
              <a:buSzTx/>
              <a:buFont typeface="Arial" panose="020B0604020202020204" pitchFamily="34" charset="0"/>
              <a:buChar char="•"/>
            </a:pP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可以利用改名操作，将中间结果放在一个新关系中，此时，S中没有属性名冲突，则F可省略，只写成 </a:t>
            </a:r>
            <a:r>
              <a:rPr lang="zh-CN" altLang="en-US" sz="2200" dirty="0">
                <a:solidFill>
                  <a:srgbClr val="A50021"/>
                </a:solidFill>
                <a:latin typeface="华文楷体" panose="02010600040101010101" pitchFamily="2" charset="-122"/>
                <a:ea typeface="华文楷体" panose="02010600040101010101" pitchFamily="2" charset="-122"/>
                <a:sym typeface="Symbol" panose="05050102010706020507" pitchFamily="18" charset="2"/>
              </a:rPr>
              <a:t>（R</a:t>
            </a:r>
            <a:r>
              <a:rPr lang="zh-CN" altLang="en-US" sz="2200" dirty="0">
                <a:solidFill>
                  <a:srgbClr val="A50021"/>
                </a:solidFill>
                <a:latin typeface="华文楷体" panose="02010600040101010101" pitchFamily="2" charset="-122"/>
                <a:ea typeface="华文楷体" panose="02010600040101010101" pitchFamily="2" charset="-122"/>
                <a:sym typeface="Wingdings 3" panose="05040102010807070707" pitchFamily="18" charset="2"/>
              </a:rPr>
              <a:t>，</a:t>
            </a:r>
            <a:r>
              <a:rPr lang="zh-CN" altLang="en-US" sz="2200" dirty="0">
                <a:solidFill>
                  <a:srgbClr val="A50021"/>
                </a:solidFill>
                <a:latin typeface="华文楷体" panose="02010600040101010101" pitchFamily="2" charset="-122"/>
                <a:ea typeface="华文楷体" panose="02010600040101010101" pitchFamily="2" charset="-122"/>
              </a:rPr>
              <a:t>S）。</a:t>
            </a:r>
            <a:endParaRPr lang="de-DE" altLang="en-US" sz="2200" dirty="0">
              <a:solidFill>
                <a:srgbClr val="A50021"/>
              </a:solidFill>
              <a:latin typeface="华文楷体" panose="02010600040101010101" pitchFamily="2" charset="-122"/>
              <a:ea typeface="华文楷体" panose="02010600040101010101" pitchFamily="2" charset="-122"/>
            </a:endParaRPr>
          </a:p>
        </p:txBody>
      </p:sp>
      <p:sp>
        <p:nvSpPr>
          <p:cNvPr id="15786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3668"/>
                                        </p:tgtEl>
                                        <p:attrNameLst>
                                          <p:attrName>style.visibility</p:attrName>
                                        </p:attrNameLst>
                                      </p:cBhvr>
                                      <p:to>
                                        <p:strVal val="visible"/>
                                      </p:to>
                                    </p:set>
                                    <p:animEffect transition="in" filter="dissolve">
                                      <p:cBhvr>
                                        <p:cTn id="7" dur="500"/>
                                        <p:tgtEl>
                                          <p:spTgt spid="11366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1383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11383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3667"/>
                                        </p:tgtEl>
                                        <p:attrNameLst>
                                          <p:attrName>style.visibility</p:attrName>
                                        </p:attrNameLst>
                                      </p:cBhvr>
                                      <p:to>
                                        <p:strVal val="visible"/>
                                      </p:to>
                                    </p:set>
                                    <p:animEffect transition="in" filter="dissolve">
                                      <p:cBhvr>
                                        <p:cTn id="20" dur="500"/>
                                        <p:tgtEl>
                                          <p:spTgt spid="113667"/>
                                        </p:tgtEl>
                                      </p:cBhvr>
                                    </p:animEffect>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13750"/>
                                        </p:tgtEl>
                                        <p:attrNameLst>
                                          <p:attrName>style.visibility</p:attrName>
                                        </p:attrNameLst>
                                      </p:cBhvr>
                                      <p:to>
                                        <p:strVal val="visible"/>
                                      </p:to>
                                    </p:set>
                                    <p:anim calcmode="lin" valueType="num">
                                      <p:cBhvr>
                                        <p:cTn id="25" dur="500" fill="hold"/>
                                        <p:tgtEl>
                                          <p:spTgt spid="113750"/>
                                        </p:tgtEl>
                                        <p:attrNameLst>
                                          <p:attrName>ppt_w</p:attrName>
                                        </p:attrNameLst>
                                      </p:cBhvr>
                                      <p:tavLst>
                                        <p:tav tm="0">
                                          <p:val>
                                            <p:fltVal val="0.000000"/>
                                          </p:val>
                                        </p:tav>
                                        <p:tav tm="100000">
                                          <p:val>
                                            <p:strVal val="#ppt_w"/>
                                          </p:val>
                                        </p:tav>
                                      </p:tavLst>
                                    </p:anim>
                                    <p:anim calcmode="lin" valueType="num">
                                      <p:cBhvr>
                                        <p:cTn id="26" dur="500" fill="hold"/>
                                        <p:tgtEl>
                                          <p:spTgt spid="113750"/>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13751"/>
                                        </p:tgtEl>
                                        <p:attrNameLst>
                                          <p:attrName>style.visibility</p:attrName>
                                        </p:attrNameLst>
                                      </p:cBhvr>
                                      <p:to>
                                        <p:strVal val="visible"/>
                                      </p:to>
                                    </p:set>
                                    <p:animEffect transition="in" filter="dissolve">
                                      <p:cBhvr>
                                        <p:cTn id="31" dur="500"/>
                                        <p:tgtEl>
                                          <p:spTgt spid="113751"/>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10" fill="hold" grpId="0" nodeType="clickEffect">
                                  <p:stCondLst>
                                    <p:cond delay="0"/>
                                  </p:stCondLst>
                                  <p:childTnLst>
                                    <p:set>
                                      <p:cBhvr>
                                        <p:cTn id="35" dur="1" fill="hold">
                                          <p:stCondLst>
                                            <p:cond delay="0"/>
                                          </p:stCondLst>
                                        </p:cTn>
                                        <p:tgtEl>
                                          <p:spTgt spid="113835"/>
                                        </p:tgtEl>
                                        <p:attrNameLst>
                                          <p:attrName>style.visibility</p:attrName>
                                        </p:attrNameLst>
                                      </p:cBhvr>
                                      <p:to>
                                        <p:strVal val="visible"/>
                                      </p:to>
                                    </p:set>
                                    <p:anim calcmode="lin" valueType="num">
                                      <p:cBhvr>
                                        <p:cTn id="36" dur="500" fill="hold"/>
                                        <p:tgtEl>
                                          <p:spTgt spid="113835"/>
                                        </p:tgtEl>
                                        <p:attrNameLst>
                                          <p:attrName>ppt_w</p:attrName>
                                        </p:attrNameLst>
                                      </p:cBhvr>
                                      <p:tavLst>
                                        <p:tav tm="0">
                                          <p:val>
                                            <p:fltVal val="0.000000"/>
                                          </p:val>
                                        </p:tav>
                                        <p:tav tm="100000">
                                          <p:val>
                                            <p:strVal val="#ppt_w"/>
                                          </p:val>
                                        </p:tav>
                                      </p:tavLst>
                                    </p:anim>
                                    <p:anim calcmode="lin" valueType="num">
                                      <p:cBhvr>
                                        <p:cTn id="37" dur="500" fill="hold"/>
                                        <p:tgtEl>
                                          <p:spTgt spid="11383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p:bldP spid="113833" grpId="0" animBg="1"/>
      <p:bldP spid="113834" grpId="0" animBg="1"/>
      <p:bldP spid="113835"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2.除操作</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58723" name="Rectangle 3"/>
          <p:cNvSpPr txBox="1"/>
          <p:nvPr/>
        </p:nvSpPr>
        <p:spPr>
          <a:xfrm>
            <a:off x="509588" y="1311275"/>
            <a:ext cx="8286750" cy="440531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spcBef>
                <a:spcPts val="400"/>
              </a:spcBef>
            </a:pPr>
            <a:r>
              <a:rPr lang="zh-CN" altLang="en-US" sz="2400" dirty="0">
                <a:latin typeface="华文楷体" panose="02010600040101010101" pitchFamily="2" charset="-122"/>
              </a:rPr>
              <a:t>{</a:t>
            </a:r>
            <a:r>
              <a:rPr lang="zh-CN" altLang="en-US" sz="2400" dirty="0">
                <a:latin typeface="华文楷体" panose="02010600040101010101" pitchFamily="2" charset="-122"/>
                <a:sym typeface="Symbol" panose="05050102010706020507" pitchFamily="18" charset="2"/>
              </a:rPr>
              <a:t>、、、、</a:t>
            </a:r>
            <a:r>
              <a:rPr lang="zh-CN" altLang="en-US" sz="2400" dirty="0">
                <a:latin typeface="华文楷体" panose="02010600040101010101" pitchFamily="2" charset="-122"/>
              </a:rPr>
              <a:t>} 是五个基本的关系代数操作，已被证明是一个完备集合。任何其他关系代数操作都可以用这个集合中的操作构成的操作序列来表示。</a:t>
            </a:r>
            <a:endParaRPr lang="zh-CN" altLang="en-US" sz="2400" dirty="0">
              <a:latin typeface="华文楷体" panose="02010600040101010101" pitchFamily="2" charset="-122"/>
            </a:endParaRPr>
          </a:p>
          <a:p>
            <a:pPr marL="533400" lvl="0" indent="-533400" eaLnBrk="1" hangingPunct="1">
              <a:lnSpc>
                <a:spcPct val="125000"/>
              </a:lnSpc>
              <a:spcBef>
                <a:spcPts val="400"/>
              </a:spcBef>
            </a:pPr>
            <a:r>
              <a:rPr lang="zh-CN" altLang="en-US" sz="2400" dirty="0">
                <a:latin typeface="华文楷体" panose="02010600040101010101" pitchFamily="2" charset="-122"/>
              </a:rPr>
              <a:t>有些操作在表达特殊查询时有用，就单独设计出来，提高效率，而不采用将基本关系代数操作组合构成的方式。</a:t>
            </a:r>
            <a:endParaRPr lang="zh-CN" altLang="en-US" sz="2400" dirty="0">
              <a:latin typeface="华文楷体" panose="02010600040101010101" pitchFamily="2" charset="-122"/>
            </a:endParaRPr>
          </a:p>
          <a:p>
            <a:pPr marL="533400" lvl="0" indent="-533400" eaLnBrk="1" hangingPunct="1">
              <a:lnSpc>
                <a:spcPct val="125000"/>
              </a:lnSpc>
              <a:spcBef>
                <a:spcPts val="400"/>
              </a:spcBef>
            </a:pPr>
            <a:r>
              <a:rPr lang="zh-CN" altLang="en-US" sz="2400" dirty="0">
                <a:latin typeface="华文楷体" panose="02010600040101010101" pitchFamily="2" charset="-122"/>
              </a:rPr>
              <a:t>例如：除（Division）R/S，R÷S</a:t>
            </a:r>
            <a:endParaRPr lang="zh-CN" altLang="en-US" sz="2400" dirty="0">
              <a:latin typeface="华文楷体" panose="02010600040101010101" pitchFamily="2" charset="-122"/>
            </a:endParaRPr>
          </a:p>
          <a:p>
            <a:pPr marL="914400" lvl="1" indent="-457200" eaLnBrk="1" hangingPunct="1">
              <a:lnSpc>
                <a:spcPct val="125000"/>
              </a:lnSpc>
              <a:spcBef>
                <a:spcPts val="400"/>
              </a:spcBef>
              <a:buFont typeface="Arial" panose="020B0604020202020204" pitchFamily="34" charset="0"/>
              <a:buNone/>
            </a:pPr>
            <a:r>
              <a:rPr lang="en-US" altLang="zh-CN" sz="2400" dirty="0">
                <a:latin typeface="华文楷体" panose="02010600040101010101" pitchFamily="2" charset="-122"/>
              </a:rPr>
              <a:t>--</a:t>
            </a:r>
            <a:r>
              <a:rPr lang="zh-CN" altLang="en-US" sz="2400" dirty="0">
                <a:latin typeface="华文楷体" panose="02010600040101010101" pitchFamily="2" charset="-122"/>
              </a:rPr>
              <a:t>如存在R(x,y)和S(y)两个关系，即R有两个属性x和y，S有一个与R中相同的属性y，则R/S为：</a:t>
            </a:r>
            <a:endParaRPr lang="zh-CN" altLang="en-US" sz="2400" dirty="0">
              <a:latin typeface="华文楷体" panose="02010600040101010101" pitchFamily="2" charset="-122"/>
            </a:endParaRPr>
          </a:p>
          <a:p>
            <a:pPr marL="914400" lvl="1" indent="-457200" eaLnBrk="1" hangingPunct="1">
              <a:lnSpc>
                <a:spcPct val="125000"/>
              </a:lnSpc>
              <a:spcBef>
                <a:spcPts val="400"/>
              </a:spcBef>
              <a:buFont typeface="Arial" panose="020B0604020202020204" pitchFamily="34" charset="0"/>
              <a:buNone/>
            </a:pPr>
            <a:r>
              <a:rPr lang="zh-CN" altLang="en-US" sz="2400" dirty="0">
                <a:latin typeface="华文楷体" panose="02010600040101010101" pitchFamily="2" charset="-122"/>
              </a:rPr>
              <a:t>  结果关系中每一个元组u与S中的每一个元组v组成的新元组（u，v）一定在关系R中。</a:t>
            </a:r>
            <a:endParaRPr lang="zh-CN" altLang="en-US" sz="2400" dirty="0">
              <a:latin typeface="华文楷体" panose="02010600040101010101" pitchFamily="2" charset="-122"/>
            </a:endParaRPr>
          </a:p>
        </p:txBody>
      </p:sp>
      <p:sp>
        <p:nvSpPr>
          <p:cNvPr id="15872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pic>
        <p:nvPicPr>
          <p:cNvPr id="5" name="图片 4"/>
          <p:cNvPicPr>
            <a:picLocks noChangeAspect="1"/>
          </p:cNvPicPr>
          <p:nvPr/>
        </p:nvPicPr>
        <p:blipFill>
          <a:blip r:embed="rId1"/>
          <a:stretch>
            <a:fillRect/>
          </a:stretch>
        </p:blipFill>
        <p:spPr>
          <a:xfrm>
            <a:off x="1979613" y="1322388"/>
            <a:ext cx="6869112" cy="2278062"/>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15714" name="表格 115713"/>
          <p:cNvGraphicFramePr/>
          <p:nvPr/>
        </p:nvGraphicFramePr>
        <p:xfrm>
          <a:off x="638175" y="1973263"/>
          <a:ext cx="8170863" cy="2176463"/>
        </p:xfrm>
        <a:graphic>
          <a:graphicData uri="http://schemas.openxmlformats.org/drawingml/2006/table">
            <a:tbl>
              <a:tblPr/>
              <a:tblGrid>
                <a:gridCol w="1711325"/>
                <a:gridCol w="1670050"/>
                <a:gridCol w="1033463"/>
                <a:gridCol w="2141537"/>
                <a:gridCol w="1614488"/>
              </a:tblGrid>
              <a:tr h="4413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u="sng"/>
                        <a:t>教师证号</a:t>
                      </a:r>
                      <a:endParaRPr lang="zh-CN" altLang="en-US" sz="1800" b="0" u="sng"/>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190500" lvl="1" indent="0" algn="ctr" eaLnBrk="1" hangingPunct="1">
                        <a:spcBef>
                          <a:spcPct val="20000"/>
                        </a:spcBef>
                        <a:buClr>
                          <a:srgbClr val="000000"/>
                        </a:buClr>
                        <a:buFont typeface="Arial" panose="020B0604020202020204" pitchFamily="34" charset="0"/>
                        <a:buNone/>
                      </a:pPr>
                      <a:r>
                        <a:rPr lang="zh-CN" altLang="en-US" sz="1800" b="0"/>
                        <a:t>性别</a:t>
                      </a:r>
                      <a:endParaRPr lang="zh-CN" altLang="en-US" sz="24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大学名称</a:t>
                      </a: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1600" b="0" dirty="0"/>
                        <a:t>工作开始日期</a:t>
                      </a:r>
                      <a:endParaRPr lang="de-DE" altLang="en-US" sz="24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49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20001234</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B.Bach</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女</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TU Darm</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2000.9.1</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33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19880122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C. Kaser</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女</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Uni. Marburg</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1988.12.5</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33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19754332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D.Busch</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男</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Uni. Aachen</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1975.1.18</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333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20040201</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A.Schwack</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男</a:t>
                      </a:r>
                      <a:endParaRPr lang="zh-CN" altLang="en-US" sz="1800" b="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TU Darm</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1800" b="0" dirty="0"/>
                        <a:t>2004.3.22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5754" name="表格 115753"/>
          <p:cNvGraphicFramePr/>
          <p:nvPr/>
        </p:nvGraphicFramePr>
        <p:xfrm>
          <a:off x="555625" y="4792663"/>
          <a:ext cx="1454150" cy="939800"/>
        </p:xfrm>
        <a:graphic>
          <a:graphicData uri="http://schemas.openxmlformats.org/drawingml/2006/table">
            <a:tbl>
              <a:tblPr/>
              <a:tblGrid>
                <a:gridCol w="1454150"/>
              </a:tblGrid>
              <a:tr h="4699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a:t>大学名称</a:t>
                      </a:r>
                      <a:endParaRPr lang="zh-CN" altLang="en-US" sz="2000" b="0" u="sng"/>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4699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t>TU Darm</a:t>
                      </a:r>
                      <a:endParaRPr lang="de-DE" altLang="en-US" sz="2000" b="0" dirty="0">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5762" name="Text Box 51"/>
          <p:cNvSpPr txBox="1"/>
          <p:nvPr/>
        </p:nvSpPr>
        <p:spPr>
          <a:xfrm>
            <a:off x="646113" y="1382713"/>
            <a:ext cx="1447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教师表J</a:t>
            </a:r>
            <a:endParaRPr lang="de-DE" altLang="en-US" sz="2400" dirty="0">
              <a:solidFill>
                <a:srgbClr val="0000CC"/>
              </a:solidFill>
              <a:latin typeface="宋体" panose="02010600030101010101" pitchFamily="2" charset="-122"/>
            </a:endParaRPr>
          </a:p>
        </p:txBody>
      </p:sp>
      <p:sp>
        <p:nvSpPr>
          <p:cNvPr id="115763" name="Text Box 52"/>
          <p:cNvSpPr txBox="1"/>
          <p:nvPr/>
        </p:nvSpPr>
        <p:spPr>
          <a:xfrm>
            <a:off x="584200" y="4292600"/>
            <a:ext cx="1447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大学表U</a:t>
            </a:r>
            <a:endParaRPr lang="de-DE" altLang="en-US" sz="2400" dirty="0">
              <a:solidFill>
                <a:srgbClr val="0000CC"/>
              </a:solidFill>
              <a:latin typeface="宋体" panose="02010600030101010101" pitchFamily="2" charset="-122"/>
            </a:endParaRPr>
          </a:p>
        </p:txBody>
      </p:sp>
      <p:sp>
        <p:nvSpPr>
          <p:cNvPr id="115764" name="Text Box 53"/>
          <p:cNvSpPr txBox="1"/>
          <p:nvPr/>
        </p:nvSpPr>
        <p:spPr>
          <a:xfrm>
            <a:off x="1927225" y="4775200"/>
            <a:ext cx="1066800" cy="674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J/U</a:t>
            </a:r>
            <a:endParaRPr lang="de-DE" altLang="en-US" sz="2800" dirty="0">
              <a:latin typeface="宋体" panose="02010600030101010101" pitchFamily="2" charset="-122"/>
            </a:endParaRPr>
          </a:p>
        </p:txBody>
      </p:sp>
      <p:sp>
        <p:nvSpPr>
          <p:cNvPr id="115765" name="Line 54"/>
          <p:cNvSpPr/>
          <p:nvPr/>
        </p:nvSpPr>
        <p:spPr>
          <a:xfrm flipV="1">
            <a:off x="2903538" y="5133975"/>
            <a:ext cx="609600" cy="0"/>
          </a:xfrm>
          <a:prstGeom prst="line">
            <a:avLst/>
          </a:prstGeom>
          <a:ln w="50800" cap="flat" cmpd="sng">
            <a:solidFill>
              <a:srgbClr val="CC0000"/>
            </a:solidFill>
            <a:prstDash val="solid"/>
            <a:headEnd type="none" w="med" len="med"/>
            <a:tailEnd type="stealth" w="med" len="med"/>
          </a:ln>
        </p:spPr>
      </p:sp>
      <p:graphicFrame>
        <p:nvGraphicFramePr>
          <p:cNvPr id="115766" name="表格 115765"/>
          <p:cNvGraphicFramePr/>
          <p:nvPr/>
        </p:nvGraphicFramePr>
        <p:xfrm>
          <a:off x="3705225" y="4406900"/>
          <a:ext cx="5148263" cy="1598613"/>
        </p:xfrm>
        <a:graphic>
          <a:graphicData uri="http://schemas.openxmlformats.org/drawingml/2006/table">
            <a:tbl>
              <a:tblPr/>
              <a:tblGrid>
                <a:gridCol w="1325563"/>
                <a:gridCol w="1400175"/>
                <a:gridCol w="935037"/>
                <a:gridCol w="1487488"/>
              </a:tblGrid>
              <a:tr h="64005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u="sng"/>
                        <a:t>教师证号</a:t>
                      </a:r>
                      <a:endParaRPr lang="zh-CN" altLang="en-US" sz="1800" b="0" u="sng"/>
                    </a:p>
                  </a:txBody>
                  <a:tcPr marT="45707" marB="4570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姓名</a:t>
                      </a:r>
                      <a:endParaRPr lang="zh-CN" altLang="en-US" sz="18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179705" lvl="1" indent="0" eaLnBrk="1" hangingPunct="1">
                        <a:spcBef>
                          <a:spcPct val="20000"/>
                        </a:spcBef>
                        <a:buClr>
                          <a:srgbClr val="000000"/>
                        </a:buClr>
                        <a:buFont typeface="Arial" panose="020B0604020202020204" pitchFamily="34" charset="0"/>
                        <a:buNone/>
                      </a:pPr>
                      <a:r>
                        <a:rPr lang="zh-CN" altLang="en-US" sz="1800" b="0"/>
                        <a:t>性别</a:t>
                      </a:r>
                      <a:endParaRPr lang="zh-CN" altLang="en-US" sz="24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工作起始日期</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6340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20001234</a:t>
                      </a:r>
                      <a:endParaRPr lang="de-DE" altLang="en-US" sz="1800" b="0" dirty="0">
                        <a:ea typeface="华文楷体" panose="02010600040101010101" pitchFamily="2" charset="-122"/>
                      </a:endParaRPr>
                    </a:p>
                  </a:txBody>
                  <a:tcPr marT="45707" marB="4570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B.Bach</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女</a:t>
                      </a:r>
                      <a:endParaRPr lang="zh-CN" altLang="en-US" sz="18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2000.9.1</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951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20040201</a:t>
                      </a:r>
                      <a:endParaRPr lang="de-DE" altLang="en-US" sz="1800" b="0" dirty="0">
                        <a:ea typeface="华文楷体" panose="02010600040101010101" pitchFamily="2" charset="-122"/>
                      </a:endParaRPr>
                    </a:p>
                  </a:txBody>
                  <a:tcPr marT="45707" marB="45707">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A.Schwack</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t>男</a:t>
                      </a:r>
                      <a:endParaRPr lang="zh-CN" altLang="en-US" sz="1800" b="0"/>
                    </a:p>
                  </a:txBody>
                  <a:tcPr marT="45707" marB="45707">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t>2004.3.22</a:t>
                      </a:r>
                      <a:endParaRPr lang="de-DE" altLang="en-US" sz="1800" b="0" dirty="0">
                        <a:ea typeface="华文楷体" panose="02010600040101010101" pitchFamily="2" charset="-122"/>
                      </a:endParaRPr>
                    </a:p>
                  </a:txBody>
                  <a:tcPr marT="45707" marB="45707">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sp>
        <p:nvSpPr>
          <p:cNvPr id="115788" name="Text Box 77"/>
          <p:cNvSpPr txBox="1"/>
          <p:nvPr/>
        </p:nvSpPr>
        <p:spPr>
          <a:xfrm>
            <a:off x="2038350" y="5359400"/>
            <a:ext cx="176371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b="0" dirty="0">
                <a:latin typeface="华文楷体" panose="02010600040101010101" pitchFamily="2" charset="-122"/>
                <a:ea typeface="华文楷体" panose="02010600040101010101" pitchFamily="2" charset="-122"/>
              </a:rPr>
              <a:t>查询在TU Darm工作的所有教师信息</a:t>
            </a:r>
            <a:endParaRPr lang="zh-CN" altLang="en-US" b="0" dirty="0">
              <a:latin typeface="华文楷体" panose="02010600040101010101" pitchFamily="2" charset="-122"/>
              <a:ea typeface="华文楷体" panose="02010600040101010101" pitchFamily="2" charset="-122"/>
            </a:endParaRPr>
          </a:p>
        </p:txBody>
      </p:sp>
      <p:sp>
        <p:nvSpPr>
          <p:cNvPr id="15982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
        <p:nvSpPr>
          <p:cNvPr id="15982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2.除操作</a:t>
            </a:r>
            <a:endParaRPr lang="en-US" altLang="zh-CN" sz="2800" dirty="0">
              <a:solidFill>
                <a:srgbClr val="0033CC"/>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5762"/>
                                        </p:tgtEl>
                                        <p:attrNameLst>
                                          <p:attrName>style.visibility</p:attrName>
                                        </p:attrNameLst>
                                      </p:cBhvr>
                                      <p:to>
                                        <p:strVal val="visible"/>
                                      </p:to>
                                    </p:set>
                                    <p:animEffect transition="in" filter="dissolve">
                                      <p:cBhvr>
                                        <p:cTn id="7" dur="500"/>
                                        <p:tgtEl>
                                          <p:spTgt spid="115762"/>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15714"/>
                                        </p:tgtEl>
                                        <p:attrNameLst>
                                          <p:attrName>style.visibility</p:attrName>
                                        </p:attrNameLst>
                                      </p:cBhvr>
                                      <p:to>
                                        <p:strVal val="visible"/>
                                      </p:to>
                                    </p:set>
                                    <p:anim calcmode="lin" valueType="num">
                                      <p:cBhvr>
                                        <p:cTn id="12" dur="500" fill="hold"/>
                                        <p:tgtEl>
                                          <p:spTgt spid="115714"/>
                                        </p:tgtEl>
                                        <p:attrNameLst>
                                          <p:attrName>ppt_w</p:attrName>
                                        </p:attrNameLst>
                                      </p:cBhvr>
                                      <p:tavLst>
                                        <p:tav tm="0">
                                          <p:val>
                                            <p:fltVal val="0.000000"/>
                                          </p:val>
                                        </p:tav>
                                        <p:tav tm="100000">
                                          <p:val>
                                            <p:strVal val="#ppt_w"/>
                                          </p:val>
                                        </p:tav>
                                      </p:tavLst>
                                    </p:anim>
                                    <p:anim calcmode="lin" valueType="num">
                                      <p:cBhvr>
                                        <p:cTn id="13" dur="500" fill="hold"/>
                                        <p:tgtEl>
                                          <p:spTgt spid="115714"/>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15763"/>
                                        </p:tgtEl>
                                        <p:attrNameLst>
                                          <p:attrName>style.visibility</p:attrName>
                                        </p:attrNameLst>
                                      </p:cBhvr>
                                      <p:to>
                                        <p:strVal val="visible"/>
                                      </p:to>
                                    </p:set>
                                    <p:animEffect transition="in" filter="dissolve">
                                      <p:cBhvr>
                                        <p:cTn id="18" dur="500"/>
                                        <p:tgtEl>
                                          <p:spTgt spid="115763"/>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115754"/>
                                        </p:tgtEl>
                                        <p:attrNameLst>
                                          <p:attrName>style.visibility</p:attrName>
                                        </p:attrNameLst>
                                      </p:cBhvr>
                                      <p:to>
                                        <p:strVal val="visible"/>
                                      </p:to>
                                    </p:set>
                                    <p:anim calcmode="lin" valueType="num">
                                      <p:cBhvr>
                                        <p:cTn id="23" dur="500" fill="hold"/>
                                        <p:tgtEl>
                                          <p:spTgt spid="115754"/>
                                        </p:tgtEl>
                                        <p:attrNameLst>
                                          <p:attrName>ppt_w</p:attrName>
                                        </p:attrNameLst>
                                      </p:cBhvr>
                                      <p:tavLst>
                                        <p:tav tm="0">
                                          <p:val>
                                            <p:fltVal val="0.000000"/>
                                          </p:val>
                                        </p:tav>
                                        <p:tav tm="100000">
                                          <p:val>
                                            <p:strVal val="#ppt_w"/>
                                          </p:val>
                                        </p:tav>
                                      </p:tavLst>
                                    </p:anim>
                                    <p:anim calcmode="lin" valueType="num">
                                      <p:cBhvr>
                                        <p:cTn id="24" dur="500" fill="hold"/>
                                        <p:tgtEl>
                                          <p:spTgt spid="115754"/>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115788"/>
                                        </p:tgtEl>
                                        <p:attrNameLst>
                                          <p:attrName>style.visibility</p:attrName>
                                        </p:attrNameLst>
                                      </p:cBhvr>
                                      <p:to>
                                        <p:strVal val="visible"/>
                                      </p:to>
                                    </p:set>
                                    <p:animEffect transition="in" filter="dissolve">
                                      <p:cBhvr>
                                        <p:cTn id="29" dur="500"/>
                                        <p:tgtEl>
                                          <p:spTgt spid="115788"/>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115764"/>
                                        </p:tgtEl>
                                        <p:attrNameLst>
                                          <p:attrName>style.visibility</p:attrName>
                                        </p:attrNameLst>
                                      </p:cBhvr>
                                      <p:to>
                                        <p:strVal val="visible"/>
                                      </p:to>
                                    </p:set>
                                    <p:animEffect transition="in" filter="box(in)">
                                      <p:cBhvr>
                                        <p:cTn id="34" dur="500"/>
                                        <p:tgtEl>
                                          <p:spTgt spid="115764"/>
                                        </p:tgtEl>
                                      </p:cBhvr>
                                    </p:animEffect>
                                  </p:childTnLst>
                                </p:cTn>
                              </p:par>
                            </p:childTnLst>
                          </p:cTn>
                        </p:par>
                      </p:childTnLst>
                    </p:cTn>
                  </p:par>
                  <p:par>
                    <p:cTn id="35" fill="hold">
                      <p:stCondLst>
                        <p:cond delay="indefinite"/>
                      </p:stCondLst>
                      <p:childTnLst>
                        <p:par>
                          <p:cTn id="36" fill="hold">
                            <p:stCondLst>
                              <p:cond delay="0"/>
                            </p:stCondLst>
                            <p:childTnLst>
                              <p:par>
                                <p:cTn id="37" presetID="23" presetClass="entr" presetSubtype="16" fill="hold" nodeType="clickEffect">
                                  <p:stCondLst>
                                    <p:cond delay="0"/>
                                  </p:stCondLst>
                                  <p:childTnLst>
                                    <p:set>
                                      <p:cBhvr>
                                        <p:cTn id="38" dur="1" fill="hold">
                                          <p:stCondLst>
                                            <p:cond delay="0"/>
                                          </p:stCondLst>
                                        </p:cTn>
                                        <p:tgtEl>
                                          <p:spTgt spid="115765"/>
                                        </p:tgtEl>
                                        <p:attrNameLst>
                                          <p:attrName>style.visibility</p:attrName>
                                        </p:attrNameLst>
                                      </p:cBhvr>
                                      <p:to>
                                        <p:strVal val="visible"/>
                                      </p:to>
                                    </p:set>
                                    <p:anim calcmode="lin" valueType="num">
                                      <p:cBhvr>
                                        <p:cTn id="39" dur="500" fill="hold"/>
                                        <p:tgtEl>
                                          <p:spTgt spid="115765"/>
                                        </p:tgtEl>
                                        <p:attrNameLst>
                                          <p:attrName>ppt_w</p:attrName>
                                        </p:attrNameLst>
                                      </p:cBhvr>
                                      <p:tavLst>
                                        <p:tav tm="0">
                                          <p:val>
                                            <p:fltVal val="0.000000"/>
                                          </p:val>
                                        </p:tav>
                                        <p:tav tm="100000">
                                          <p:val>
                                            <p:strVal val="#ppt_w"/>
                                          </p:val>
                                        </p:tav>
                                      </p:tavLst>
                                    </p:anim>
                                    <p:anim calcmode="lin" valueType="num">
                                      <p:cBhvr>
                                        <p:cTn id="40" dur="500" fill="hold"/>
                                        <p:tgtEl>
                                          <p:spTgt spid="115765"/>
                                        </p:tgtEl>
                                        <p:attrNameLst>
                                          <p:attrName>ppt_h</p:attrName>
                                        </p:attrNameLst>
                                      </p:cBhvr>
                                      <p:tavLst>
                                        <p:tav tm="0">
                                          <p:val>
                                            <p:fltVal val="0.000000"/>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115766"/>
                                        </p:tgtEl>
                                        <p:attrNameLst>
                                          <p:attrName>style.visibility</p:attrName>
                                        </p:attrNameLst>
                                      </p:cBhvr>
                                      <p:to>
                                        <p:strVal val="visible"/>
                                      </p:to>
                                    </p:set>
                                    <p:anim calcmode="lin" valueType="num">
                                      <p:cBhvr>
                                        <p:cTn id="45" dur="500" fill="hold"/>
                                        <p:tgtEl>
                                          <p:spTgt spid="115766"/>
                                        </p:tgtEl>
                                        <p:attrNameLst>
                                          <p:attrName>ppt_w</p:attrName>
                                        </p:attrNameLst>
                                      </p:cBhvr>
                                      <p:tavLst>
                                        <p:tav tm="0">
                                          <p:val>
                                            <p:fltVal val="0.000000"/>
                                          </p:val>
                                        </p:tav>
                                        <p:tav tm="100000">
                                          <p:val>
                                            <p:strVal val="#ppt_w"/>
                                          </p:val>
                                        </p:tav>
                                      </p:tavLst>
                                    </p:anim>
                                    <p:anim calcmode="lin" valueType="num">
                                      <p:cBhvr>
                                        <p:cTn id="46" dur="500" fill="hold"/>
                                        <p:tgtEl>
                                          <p:spTgt spid="1157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62" grpId="0"/>
      <p:bldP spid="115763" grpId="0"/>
      <p:bldP spid="115764" grpId="0"/>
      <p:bldP spid="115788" grpId="0"/>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70" name="Text Box 51"/>
          <p:cNvSpPr txBox="1"/>
          <p:nvPr/>
        </p:nvSpPr>
        <p:spPr>
          <a:xfrm>
            <a:off x="566738" y="1295400"/>
            <a:ext cx="666750" cy="590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a:t>
            </a:r>
            <a:endParaRPr lang="de-DE" altLang="en-US" sz="2400" dirty="0">
              <a:solidFill>
                <a:srgbClr val="0000CC"/>
              </a:solidFill>
              <a:latin typeface="宋体" panose="02010600030101010101" pitchFamily="2" charset="-122"/>
            </a:endParaRPr>
          </a:p>
        </p:txBody>
      </p:sp>
      <p:graphicFrame>
        <p:nvGraphicFramePr>
          <p:cNvPr id="116739" name="表格 116738"/>
          <p:cNvGraphicFramePr/>
          <p:nvPr/>
        </p:nvGraphicFramePr>
        <p:xfrm>
          <a:off x="638175" y="1973263"/>
          <a:ext cx="1873250" cy="3744913"/>
        </p:xfrm>
        <a:graphic>
          <a:graphicData uri="http://schemas.openxmlformats.org/drawingml/2006/table">
            <a:tbl>
              <a:tblPr/>
              <a:tblGrid>
                <a:gridCol w="947738"/>
                <a:gridCol w="925512"/>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zh-CN" altLang="en-US" sz="1800" b="0"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101</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103</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5</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101</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5</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8</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60806" name="Text Box 51"/>
          <p:cNvSpPr txBox="1"/>
          <p:nvPr/>
        </p:nvSpPr>
        <p:spPr>
          <a:xfrm>
            <a:off x="3171825" y="1258888"/>
            <a:ext cx="666750" cy="5191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S11</a:t>
            </a:r>
            <a:endParaRPr lang="de-DE" altLang="en-US" sz="2400" dirty="0">
              <a:solidFill>
                <a:srgbClr val="0000CC"/>
              </a:solidFill>
              <a:latin typeface="宋体" panose="02010600030101010101" pitchFamily="2" charset="-122"/>
            </a:endParaRPr>
          </a:p>
        </p:txBody>
      </p:sp>
      <p:graphicFrame>
        <p:nvGraphicFramePr>
          <p:cNvPr id="116775" name="表格 116774"/>
          <p:cNvGraphicFramePr/>
          <p:nvPr/>
        </p:nvGraphicFramePr>
        <p:xfrm>
          <a:off x="3208338" y="1905000"/>
          <a:ext cx="947738" cy="754063"/>
        </p:xfrm>
        <a:graphic>
          <a:graphicData uri="http://schemas.openxmlformats.org/drawingml/2006/table">
            <a:tbl>
              <a:tblPr/>
              <a:tblGrid>
                <a:gridCol w="947737"/>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en-US" altLang="x-none"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6783" name="Text Box 51"/>
          <p:cNvSpPr txBox="1"/>
          <p:nvPr/>
        </p:nvSpPr>
        <p:spPr>
          <a:xfrm>
            <a:off x="4244975" y="1492250"/>
            <a:ext cx="1038225" cy="590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R/S11</a:t>
            </a:r>
            <a:endParaRPr lang="de-DE" altLang="en-US" sz="2400" dirty="0">
              <a:solidFill>
                <a:srgbClr val="0000CC"/>
              </a:solidFill>
              <a:latin typeface="宋体" panose="02010600030101010101" pitchFamily="2" charset="-122"/>
            </a:endParaRPr>
          </a:p>
        </p:txBody>
      </p:sp>
      <p:sp>
        <p:nvSpPr>
          <p:cNvPr id="116784" name="Line 54"/>
          <p:cNvSpPr/>
          <p:nvPr/>
        </p:nvSpPr>
        <p:spPr>
          <a:xfrm flipV="1">
            <a:off x="4195763" y="2170113"/>
            <a:ext cx="1116012" cy="0"/>
          </a:xfrm>
          <a:prstGeom prst="line">
            <a:avLst/>
          </a:prstGeom>
          <a:ln w="50800" cap="flat" cmpd="sng">
            <a:solidFill>
              <a:srgbClr val="CC0000"/>
            </a:solidFill>
            <a:prstDash val="solid"/>
            <a:headEnd type="none" w="med" len="med"/>
            <a:tailEnd type="stealth" w="med" len="med"/>
          </a:ln>
        </p:spPr>
      </p:sp>
      <p:graphicFrame>
        <p:nvGraphicFramePr>
          <p:cNvPr id="116785" name="表格 116784"/>
          <p:cNvGraphicFramePr/>
          <p:nvPr/>
        </p:nvGraphicFramePr>
        <p:xfrm>
          <a:off x="5695950" y="1270000"/>
          <a:ext cx="947738" cy="1876425"/>
        </p:xfrm>
        <a:graphic>
          <a:graphicData uri="http://schemas.openxmlformats.org/drawingml/2006/table">
            <a:tbl>
              <a:tblPr/>
              <a:tblGrid>
                <a:gridCol w="947738"/>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5</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8</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6800" name="表格 116799"/>
          <p:cNvGraphicFramePr/>
          <p:nvPr/>
        </p:nvGraphicFramePr>
        <p:xfrm>
          <a:off x="3228975" y="3189288"/>
          <a:ext cx="947738" cy="1128713"/>
        </p:xfrm>
        <a:graphic>
          <a:graphicData uri="http://schemas.openxmlformats.org/drawingml/2006/table">
            <a:tbl>
              <a:tblPr/>
              <a:tblGrid>
                <a:gridCol w="947738"/>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en-US" altLang="x-none"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6810" name="Text Box 51"/>
          <p:cNvSpPr txBox="1"/>
          <p:nvPr/>
        </p:nvSpPr>
        <p:spPr>
          <a:xfrm>
            <a:off x="4295775" y="3051175"/>
            <a:ext cx="1038225" cy="5191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R/S12</a:t>
            </a:r>
            <a:endParaRPr lang="de-DE" altLang="en-US" sz="2400" dirty="0">
              <a:solidFill>
                <a:srgbClr val="0000CC"/>
              </a:solidFill>
              <a:latin typeface="宋体" panose="02010600030101010101" pitchFamily="2" charset="-122"/>
            </a:endParaRPr>
          </a:p>
        </p:txBody>
      </p:sp>
      <p:sp>
        <p:nvSpPr>
          <p:cNvPr id="116811" name="Line 54"/>
          <p:cNvSpPr/>
          <p:nvPr/>
        </p:nvSpPr>
        <p:spPr>
          <a:xfrm flipV="1">
            <a:off x="4246563" y="3817938"/>
            <a:ext cx="1116012" cy="0"/>
          </a:xfrm>
          <a:prstGeom prst="line">
            <a:avLst/>
          </a:prstGeom>
          <a:ln w="50800" cap="flat" cmpd="sng">
            <a:solidFill>
              <a:srgbClr val="CC0000"/>
            </a:solidFill>
            <a:prstDash val="solid"/>
            <a:headEnd type="none" w="med" len="med"/>
            <a:tailEnd type="stealth" w="med" len="med"/>
          </a:ln>
        </p:spPr>
      </p:sp>
      <p:sp>
        <p:nvSpPr>
          <p:cNvPr id="160843" name="Text Box 51"/>
          <p:cNvSpPr txBox="1"/>
          <p:nvPr/>
        </p:nvSpPr>
        <p:spPr>
          <a:xfrm>
            <a:off x="3236913" y="2703513"/>
            <a:ext cx="66675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S12</a:t>
            </a:r>
            <a:endParaRPr lang="de-DE" altLang="en-US" sz="2400" dirty="0">
              <a:solidFill>
                <a:srgbClr val="0000CC"/>
              </a:solidFill>
              <a:latin typeface="宋体" panose="02010600030101010101" pitchFamily="2" charset="-122"/>
            </a:endParaRPr>
          </a:p>
        </p:txBody>
      </p:sp>
      <p:graphicFrame>
        <p:nvGraphicFramePr>
          <p:cNvPr id="116813" name="表格 116812"/>
          <p:cNvGraphicFramePr/>
          <p:nvPr/>
        </p:nvGraphicFramePr>
        <p:xfrm>
          <a:off x="5675313" y="3409950"/>
          <a:ext cx="947738" cy="1128713"/>
        </p:xfrm>
        <a:graphic>
          <a:graphicData uri="http://schemas.openxmlformats.org/drawingml/2006/table">
            <a:tbl>
              <a:tblPr/>
              <a:tblGrid>
                <a:gridCol w="947737"/>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graphicFrame>
        <p:nvGraphicFramePr>
          <p:cNvPr id="116823" name="表格 116822"/>
          <p:cNvGraphicFramePr/>
          <p:nvPr/>
        </p:nvGraphicFramePr>
        <p:xfrm>
          <a:off x="3192463" y="4735513"/>
          <a:ext cx="947738" cy="1503363"/>
        </p:xfrm>
        <a:graphic>
          <a:graphicData uri="http://schemas.openxmlformats.org/drawingml/2006/table">
            <a:tbl>
              <a:tblPr/>
              <a:tblGrid>
                <a:gridCol w="947737"/>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cid</a:t>
                      </a:r>
                      <a:endParaRPr lang="en-US" altLang="x-none" sz="1800"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101</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102</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46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104</a:t>
                      </a:r>
                      <a:endParaRPr lang="de-DE" altLang="en-US" sz="1800"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60866" name="Text Box 51"/>
          <p:cNvSpPr txBox="1"/>
          <p:nvPr/>
        </p:nvSpPr>
        <p:spPr>
          <a:xfrm>
            <a:off x="3316288" y="4264025"/>
            <a:ext cx="668337"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S13</a:t>
            </a:r>
            <a:endParaRPr lang="de-DE" altLang="en-US" sz="2400" dirty="0">
              <a:solidFill>
                <a:srgbClr val="0000CC"/>
              </a:solidFill>
              <a:latin typeface="宋体" panose="02010600030101010101" pitchFamily="2" charset="-122"/>
            </a:endParaRPr>
          </a:p>
        </p:txBody>
      </p:sp>
      <p:sp>
        <p:nvSpPr>
          <p:cNvPr id="116836" name="Line 54"/>
          <p:cNvSpPr/>
          <p:nvPr/>
        </p:nvSpPr>
        <p:spPr>
          <a:xfrm flipV="1">
            <a:off x="4238625" y="5480050"/>
            <a:ext cx="1117600" cy="0"/>
          </a:xfrm>
          <a:prstGeom prst="line">
            <a:avLst/>
          </a:prstGeom>
          <a:ln w="50800" cap="flat" cmpd="sng">
            <a:solidFill>
              <a:srgbClr val="CC0000"/>
            </a:solidFill>
            <a:prstDash val="solid"/>
            <a:headEnd type="none" w="med" len="med"/>
            <a:tailEnd type="stealth" w="med" len="med"/>
          </a:ln>
        </p:spPr>
      </p:sp>
      <p:sp>
        <p:nvSpPr>
          <p:cNvPr id="116837" name="Text Box 51"/>
          <p:cNvSpPr txBox="1"/>
          <p:nvPr/>
        </p:nvSpPr>
        <p:spPr>
          <a:xfrm>
            <a:off x="4244975" y="4859338"/>
            <a:ext cx="1038225"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en-US" altLang="zh-CN" sz="2400" dirty="0">
                <a:solidFill>
                  <a:srgbClr val="0000CC"/>
                </a:solidFill>
                <a:latin typeface="宋体" panose="02010600030101010101" pitchFamily="2" charset="-122"/>
              </a:rPr>
              <a:t>R/S13</a:t>
            </a:r>
            <a:endParaRPr lang="de-DE" altLang="en-US" sz="2400" dirty="0">
              <a:solidFill>
                <a:srgbClr val="0000CC"/>
              </a:solidFill>
              <a:latin typeface="宋体" panose="02010600030101010101" pitchFamily="2" charset="-122"/>
            </a:endParaRPr>
          </a:p>
        </p:txBody>
      </p:sp>
      <p:graphicFrame>
        <p:nvGraphicFramePr>
          <p:cNvPr id="116838" name="表格 116837"/>
          <p:cNvGraphicFramePr/>
          <p:nvPr/>
        </p:nvGraphicFramePr>
        <p:xfrm>
          <a:off x="5594350" y="5057775"/>
          <a:ext cx="947738" cy="754063"/>
        </p:xfrm>
        <a:graphic>
          <a:graphicData uri="http://schemas.openxmlformats.org/drawingml/2006/table">
            <a:tbl>
              <a:tblPr/>
              <a:tblGrid>
                <a:gridCol w="947738"/>
              </a:tblGrid>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x-none" sz="1800" b="0" dirty="0"/>
                        <a:t>sid</a:t>
                      </a:r>
                      <a:endParaRPr lang="zh-CN" altLang="en-US" b="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730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1800" b="0" dirty="0">
                          <a:ea typeface="华文楷体" panose="02010600040101010101" pitchFamily="2" charset="-122"/>
                        </a:rPr>
                        <a:t>3</a:t>
                      </a:r>
                      <a:endParaRPr lang="de-DE" altLang="en-US" b="0" dirty="0">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16846" name="Text Box 77"/>
          <p:cNvSpPr txBox="1"/>
          <p:nvPr/>
        </p:nvSpPr>
        <p:spPr>
          <a:xfrm>
            <a:off x="6740525" y="1266825"/>
            <a:ext cx="1881188" cy="7080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查询在</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中选修了</a:t>
            </a:r>
            <a:r>
              <a:rPr lang="en-US" altLang="zh-CN" dirty="0">
                <a:latin typeface="华文楷体" panose="02010600040101010101" pitchFamily="2" charset="-122"/>
                <a:ea typeface="华文楷体" panose="02010600040101010101" pitchFamily="2" charset="-122"/>
              </a:rPr>
              <a:t>102</a:t>
            </a:r>
            <a:r>
              <a:rPr lang="zh-CN" altLang="en-US" dirty="0">
                <a:latin typeface="华文楷体" panose="02010600040101010101" pitchFamily="2" charset="-122"/>
                <a:ea typeface="华文楷体" panose="02010600040101010101" pitchFamily="2" charset="-122"/>
              </a:rPr>
              <a:t>的学生</a:t>
            </a:r>
            <a:endParaRPr lang="zh-CN" altLang="en-US" dirty="0">
              <a:latin typeface="华文楷体" panose="02010600040101010101" pitchFamily="2" charset="-122"/>
              <a:ea typeface="华文楷体" panose="02010600040101010101" pitchFamily="2" charset="-122"/>
            </a:endParaRPr>
          </a:p>
        </p:txBody>
      </p:sp>
      <p:sp>
        <p:nvSpPr>
          <p:cNvPr id="116847" name="Text Box 77"/>
          <p:cNvSpPr txBox="1"/>
          <p:nvPr/>
        </p:nvSpPr>
        <p:spPr>
          <a:xfrm>
            <a:off x="6777038" y="3233738"/>
            <a:ext cx="1881187" cy="13223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查询在</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中同时选修了</a:t>
            </a:r>
            <a:r>
              <a:rPr lang="en-US" altLang="zh-CN" dirty="0">
                <a:latin typeface="华文楷体" panose="02010600040101010101" pitchFamily="2" charset="-122"/>
                <a:ea typeface="华文楷体" panose="02010600040101010101" pitchFamily="2" charset="-122"/>
              </a:rPr>
              <a:t>102</a:t>
            </a:r>
            <a:r>
              <a:rPr lang="zh-CN" altLang="en-US" dirty="0">
                <a:latin typeface="华文楷体" panose="02010600040101010101" pitchFamily="2" charset="-122"/>
                <a:ea typeface="华文楷体" panose="02010600040101010101" pitchFamily="2" charset="-122"/>
              </a:rPr>
              <a:t>和</a:t>
            </a:r>
            <a:r>
              <a:rPr lang="en-US" altLang="zh-CN" dirty="0">
                <a:latin typeface="华文楷体" panose="02010600040101010101" pitchFamily="2" charset="-122"/>
                <a:ea typeface="华文楷体" panose="02010600040101010101" pitchFamily="2" charset="-122"/>
              </a:rPr>
              <a:t>104</a:t>
            </a:r>
            <a:r>
              <a:rPr lang="zh-CN" altLang="en-US" dirty="0">
                <a:latin typeface="华文楷体" panose="02010600040101010101" pitchFamily="2" charset="-122"/>
                <a:ea typeface="华文楷体" panose="02010600040101010101" pitchFamily="2" charset="-122"/>
              </a:rPr>
              <a:t>两门课题的学生</a:t>
            </a:r>
            <a:endParaRPr lang="zh-CN" altLang="en-US" dirty="0">
              <a:latin typeface="华文楷体" panose="02010600040101010101" pitchFamily="2" charset="-122"/>
              <a:ea typeface="华文楷体" panose="02010600040101010101" pitchFamily="2" charset="-122"/>
            </a:endParaRPr>
          </a:p>
        </p:txBody>
      </p:sp>
      <p:sp>
        <p:nvSpPr>
          <p:cNvPr id="116848" name="Text Box 77"/>
          <p:cNvSpPr txBox="1"/>
          <p:nvPr/>
        </p:nvSpPr>
        <p:spPr>
          <a:xfrm>
            <a:off x="6886575" y="4822825"/>
            <a:ext cx="1879600" cy="13223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查询在</a:t>
            </a:r>
            <a:r>
              <a:rPr lang="en-US" altLang="zh-CN" dirty="0">
                <a:latin typeface="华文楷体" panose="02010600040101010101" pitchFamily="2" charset="-122"/>
                <a:ea typeface="华文楷体" panose="02010600040101010101" pitchFamily="2" charset="-122"/>
              </a:rPr>
              <a:t>R</a:t>
            </a:r>
            <a:r>
              <a:rPr lang="zh-CN" altLang="en-US" dirty="0">
                <a:latin typeface="华文楷体" panose="02010600040101010101" pitchFamily="2" charset="-122"/>
                <a:ea typeface="华文楷体" panose="02010600040101010101" pitchFamily="2" charset="-122"/>
              </a:rPr>
              <a:t>中同时选修了</a:t>
            </a:r>
            <a:r>
              <a:rPr lang="en-US" altLang="zh-CN" dirty="0">
                <a:latin typeface="华文楷体" panose="02010600040101010101" pitchFamily="2" charset="-122"/>
                <a:ea typeface="华文楷体" panose="02010600040101010101" pitchFamily="2" charset="-122"/>
              </a:rPr>
              <a:t>101</a:t>
            </a:r>
            <a:r>
              <a:rPr lang="zh-CN" altLang="en-US" dirty="0">
                <a:latin typeface="华文楷体" panose="02010600040101010101" pitchFamily="2" charset="-122"/>
                <a:ea typeface="华文楷体" panose="02010600040101010101" pitchFamily="2" charset="-122"/>
              </a:rPr>
              <a:t>、</a:t>
            </a:r>
            <a:r>
              <a:rPr lang="en-US" altLang="zh-CN" dirty="0">
                <a:latin typeface="华文楷体" panose="02010600040101010101" pitchFamily="2" charset="-122"/>
                <a:ea typeface="华文楷体" panose="02010600040101010101" pitchFamily="2" charset="-122"/>
              </a:rPr>
              <a:t>102</a:t>
            </a:r>
            <a:r>
              <a:rPr lang="zh-CN" altLang="en-US" dirty="0">
                <a:latin typeface="华文楷体" panose="02010600040101010101" pitchFamily="2" charset="-122"/>
                <a:ea typeface="华文楷体" panose="02010600040101010101" pitchFamily="2" charset="-122"/>
              </a:rPr>
              <a:t>和</a:t>
            </a:r>
            <a:r>
              <a:rPr lang="en-US" altLang="zh-CN" dirty="0">
                <a:latin typeface="华文楷体" panose="02010600040101010101" pitchFamily="2" charset="-122"/>
                <a:ea typeface="华文楷体" panose="02010600040101010101" pitchFamily="2" charset="-122"/>
              </a:rPr>
              <a:t>104</a:t>
            </a:r>
            <a:r>
              <a:rPr lang="zh-CN" altLang="en-US" dirty="0">
                <a:latin typeface="华文楷体" panose="02010600040101010101" pitchFamily="2" charset="-122"/>
                <a:ea typeface="华文楷体" panose="02010600040101010101" pitchFamily="2" charset="-122"/>
              </a:rPr>
              <a:t>三门课题的学生</a:t>
            </a:r>
            <a:endParaRPr lang="zh-CN" altLang="en-US" dirty="0">
              <a:latin typeface="华文楷体" panose="02010600040101010101" pitchFamily="2" charset="-122"/>
              <a:ea typeface="华文楷体" panose="02010600040101010101" pitchFamily="2" charset="-122"/>
            </a:endParaRPr>
          </a:p>
        </p:txBody>
      </p:sp>
      <p:sp>
        <p:nvSpPr>
          <p:cNvPr id="160880"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2.除操作</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6088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6783"/>
                                        </p:tgtEl>
                                        <p:attrNameLst>
                                          <p:attrName>style.visibility</p:attrName>
                                        </p:attrNameLst>
                                      </p:cBhvr>
                                      <p:to>
                                        <p:strVal val="visible"/>
                                      </p:to>
                                    </p:set>
                                    <p:animEffect transition="in" filter="dissolve">
                                      <p:cBhvr>
                                        <p:cTn id="7" dur="500"/>
                                        <p:tgtEl>
                                          <p:spTgt spid="116783"/>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16784"/>
                                        </p:tgtEl>
                                        <p:attrNameLst>
                                          <p:attrName>style.visibility</p:attrName>
                                        </p:attrNameLst>
                                      </p:cBhvr>
                                      <p:to>
                                        <p:strVal val="visible"/>
                                      </p:to>
                                    </p:set>
                                    <p:anim calcmode="lin" valueType="num">
                                      <p:cBhvr>
                                        <p:cTn id="12" dur="500" fill="hold"/>
                                        <p:tgtEl>
                                          <p:spTgt spid="116784"/>
                                        </p:tgtEl>
                                        <p:attrNameLst>
                                          <p:attrName>ppt_w</p:attrName>
                                        </p:attrNameLst>
                                      </p:cBhvr>
                                      <p:tavLst>
                                        <p:tav tm="0">
                                          <p:val>
                                            <p:fltVal val="0.000000"/>
                                          </p:val>
                                        </p:tav>
                                        <p:tav tm="100000">
                                          <p:val>
                                            <p:strVal val="#ppt_w"/>
                                          </p:val>
                                        </p:tav>
                                      </p:tavLst>
                                    </p:anim>
                                    <p:anim calcmode="lin" valueType="num">
                                      <p:cBhvr>
                                        <p:cTn id="13" dur="500" fill="hold"/>
                                        <p:tgtEl>
                                          <p:spTgt spid="116784"/>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0" fill="hold" nodeType="clickEffect">
                                  <p:stCondLst>
                                    <p:cond delay="0"/>
                                  </p:stCondLst>
                                  <p:childTnLst>
                                    <p:set>
                                      <p:cBhvr>
                                        <p:cTn id="17" dur="1" fill="hold">
                                          <p:stCondLst>
                                            <p:cond delay="0"/>
                                          </p:stCondLst>
                                        </p:cTn>
                                        <p:tgtEl>
                                          <p:spTgt spid="116785"/>
                                        </p:tgtEl>
                                        <p:attrNameLst>
                                          <p:attrName>style.visibility</p:attrName>
                                        </p:attrNameLst>
                                      </p:cBhvr>
                                      <p:to>
                                        <p:strVal val="visible"/>
                                      </p:to>
                                    </p:set>
                                    <p:anim calcmode="lin" valueType="num">
                                      <p:cBhvr>
                                        <p:cTn id="18" dur="500" fill="hold"/>
                                        <p:tgtEl>
                                          <p:spTgt spid="116785"/>
                                        </p:tgtEl>
                                        <p:attrNameLst>
                                          <p:attrName>ppt_w</p:attrName>
                                        </p:attrNameLst>
                                      </p:cBhvr>
                                      <p:tavLst>
                                        <p:tav tm="0">
                                          <p:val>
                                            <p:fltVal val="0.000000"/>
                                          </p:val>
                                        </p:tav>
                                        <p:tav tm="100000">
                                          <p:val>
                                            <p:strVal val="#ppt_w"/>
                                          </p:val>
                                        </p:tav>
                                      </p:tavLst>
                                    </p:anim>
                                    <p:anim calcmode="lin" valueType="num">
                                      <p:cBhvr>
                                        <p:cTn id="19" dur="500" fill="hold"/>
                                        <p:tgtEl>
                                          <p:spTgt spid="116785"/>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16810"/>
                                        </p:tgtEl>
                                        <p:attrNameLst>
                                          <p:attrName>style.visibility</p:attrName>
                                        </p:attrNameLst>
                                      </p:cBhvr>
                                      <p:to>
                                        <p:strVal val="visible"/>
                                      </p:to>
                                    </p:set>
                                    <p:animEffect transition="in" filter="dissolve">
                                      <p:cBhvr>
                                        <p:cTn id="24" dur="500"/>
                                        <p:tgtEl>
                                          <p:spTgt spid="116810"/>
                                        </p:tgtEl>
                                      </p:cBhvr>
                                    </p:animEffect>
                                  </p:childTnLst>
                                </p:cTn>
                              </p:par>
                            </p:childTnLst>
                          </p:cTn>
                        </p:par>
                      </p:childTnLst>
                    </p:cTn>
                  </p:par>
                  <p:par>
                    <p:cTn id="25" fill="hold">
                      <p:stCondLst>
                        <p:cond delay="indefinite"/>
                      </p:stCondLst>
                      <p:childTnLst>
                        <p:par>
                          <p:cTn id="26" fill="hold">
                            <p:stCondLst>
                              <p:cond delay="0"/>
                            </p:stCondLst>
                            <p:childTnLst>
                              <p:par>
                                <p:cTn id="27" presetID="23" presetClass="entr" presetSubtype="16" fill="hold" nodeType="clickEffect">
                                  <p:stCondLst>
                                    <p:cond delay="0"/>
                                  </p:stCondLst>
                                  <p:childTnLst>
                                    <p:set>
                                      <p:cBhvr>
                                        <p:cTn id="28" dur="1" fill="hold">
                                          <p:stCondLst>
                                            <p:cond delay="0"/>
                                          </p:stCondLst>
                                        </p:cTn>
                                        <p:tgtEl>
                                          <p:spTgt spid="116811"/>
                                        </p:tgtEl>
                                        <p:attrNameLst>
                                          <p:attrName>style.visibility</p:attrName>
                                        </p:attrNameLst>
                                      </p:cBhvr>
                                      <p:to>
                                        <p:strVal val="visible"/>
                                      </p:to>
                                    </p:set>
                                    <p:anim calcmode="lin" valueType="num">
                                      <p:cBhvr>
                                        <p:cTn id="29" dur="500" fill="hold"/>
                                        <p:tgtEl>
                                          <p:spTgt spid="116811"/>
                                        </p:tgtEl>
                                        <p:attrNameLst>
                                          <p:attrName>ppt_w</p:attrName>
                                        </p:attrNameLst>
                                      </p:cBhvr>
                                      <p:tavLst>
                                        <p:tav tm="0">
                                          <p:val>
                                            <p:fltVal val="0.000000"/>
                                          </p:val>
                                        </p:tav>
                                        <p:tav tm="100000">
                                          <p:val>
                                            <p:strVal val="#ppt_w"/>
                                          </p:val>
                                        </p:tav>
                                      </p:tavLst>
                                    </p:anim>
                                    <p:anim calcmode="lin" valueType="num">
                                      <p:cBhvr>
                                        <p:cTn id="30" dur="500" fill="hold"/>
                                        <p:tgtEl>
                                          <p:spTgt spid="116811"/>
                                        </p:tgtEl>
                                        <p:attrNameLst>
                                          <p:attrName>ppt_h</p:attrName>
                                        </p:attrNameLst>
                                      </p:cBhvr>
                                      <p:tavLst>
                                        <p:tav tm="0">
                                          <p:val>
                                            <p:fltVal val="0.000000"/>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7" presetClass="entr" presetSubtype="10" fill="hold" nodeType="clickEffect">
                                  <p:stCondLst>
                                    <p:cond delay="0"/>
                                  </p:stCondLst>
                                  <p:childTnLst>
                                    <p:set>
                                      <p:cBhvr>
                                        <p:cTn id="34" dur="1" fill="hold">
                                          <p:stCondLst>
                                            <p:cond delay="0"/>
                                          </p:stCondLst>
                                        </p:cTn>
                                        <p:tgtEl>
                                          <p:spTgt spid="116813"/>
                                        </p:tgtEl>
                                        <p:attrNameLst>
                                          <p:attrName>style.visibility</p:attrName>
                                        </p:attrNameLst>
                                      </p:cBhvr>
                                      <p:to>
                                        <p:strVal val="visible"/>
                                      </p:to>
                                    </p:set>
                                    <p:anim calcmode="lin" valueType="num">
                                      <p:cBhvr>
                                        <p:cTn id="35" dur="500" fill="hold"/>
                                        <p:tgtEl>
                                          <p:spTgt spid="116813"/>
                                        </p:tgtEl>
                                        <p:attrNameLst>
                                          <p:attrName>ppt_w</p:attrName>
                                        </p:attrNameLst>
                                      </p:cBhvr>
                                      <p:tavLst>
                                        <p:tav tm="0">
                                          <p:val>
                                            <p:fltVal val="0.000000"/>
                                          </p:val>
                                        </p:tav>
                                        <p:tav tm="100000">
                                          <p:val>
                                            <p:strVal val="#ppt_w"/>
                                          </p:val>
                                        </p:tav>
                                      </p:tavLst>
                                    </p:anim>
                                    <p:anim calcmode="lin" valueType="num">
                                      <p:cBhvr>
                                        <p:cTn id="36" dur="500" fill="hold"/>
                                        <p:tgtEl>
                                          <p:spTgt spid="116813"/>
                                        </p:tgtEl>
                                        <p:attrNameLst>
                                          <p:attrName>ppt_h</p:attrName>
                                        </p:attrNameLst>
                                      </p:cBhvr>
                                      <p:tavLst>
                                        <p:tav tm="0">
                                          <p:val>
                                            <p:strVal val="#ppt_h"/>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nodeType="clickEffect">
                                  <p:stCondLst>
                                    <p:cond delay="0"/>
                                  </p:stCondLst>
                                  <p:childTnLst>
                                    <p:set>
                                      <p:cBhvr>
                                        <p:cTn id="40" dur="1" fill="hold">
                                          <p:stCondLst>
                                            <p:cond delay="0"/>
                                          </p:stCondLst>
                                        </p:cTn>
                                        <p:tgtEl>
                                          <p:spTgt spid="116836"/>
                                        </p:tgtEl>
                                        <p:attrNameLst>
                                          <p:attrName>style.visibility</p:attrName>
                                        </p:attrNameLst>
                                      </p:cBhvr>
                                      <p:to>
                                        <p:strVal val="visible"/>
                                      </p:to>
                                    </p:set>
                                    <p:anim calcmode="lin" valueType="num">
                                      <p:cBhvr>
                                        <p:cTn id="41" dur="500" fill="hold"/>
                                        <p:tgtEl>
                                          <p:spTgt spid="116836"/>
                                        </p:tgtEl>
                                        <p:attrNameLst>
                                          <p:attrName>ppt_w</p:attrName>
                                        </p:attrNameLst>
                                      </p:cBhvr>
                                      <p:tavLst>
                                        <p:tav tm="0">
                                          <p:val>
                                            <p:fltVal val="0.000000"/>
                                          </p:val>
                                        </p:tav>
                                        <p:tav tm="100000">
                                          <p:val>
                                            <p:strVal val="#ppt_w"/>
                                          </p:val>
                                        </p:tav>
                                      </p:tavLst>
                                    </p:anim>
                                    <p:anim calcmode="lin" valueType="num">
                                      <p:cBhvr>
                                        <p:cTn id="42" dur="500" fill="hold"/>
                                        <p:tgtEl>
                                          <p:spTgt spid="116836"/>
                                        </p:tgtEl>
                                        <p:attrNameLst>
                                          <p:attrName>ppt_h</p:attrName>
                                        </p:attrNameLst>
                                      </p:cBhvr>
                                      <p:tavLst>
                                        <p:tav tm="0">
                                          <p:val>
                                            <p:fltVal val="0.00000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6837"/>
                                        </p:tgtEl>
                                        <p:attrNameLst>
                                          <p:attrName>style.visibility</p:attrName>
                                        </p:attrNameLst>
                                      </p:cBhvr>
                                      <p:to>
                                        <p:strVal val="visible"/>
                                      </p:to>
                                    </p:set>
                                    <p:animEffect transition="in" filter="dissolve">
                                      <p:cBhvr>
                                        <p:cTn id="47" dur="500"/>
                                        <p:tgtEl>
                                          <p:spTgt spid="116837"/>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116838"/>
                                        </p:tgtEl>
                                        <p:attrNameLst>
                                          <p:attrName>style.visibility</p:attrName>
                                        </p:attrNameLst>
                                      </p:cBhvr>
                                      <p:to>
                                        <p:strVal val="visible"/>
                                      </p:to>
                                    </p:set>
                                    <p:anim calcmode="lin" valueType="num">
                                      <p:cBhvr>
                                        <p:cTn id="52" dur="500" fill="hold"/>
                                        <p:tgtEl>
                                          <p:spTgt spid="116838"/>
                                        </p:tgtEl>
                                        <p:attrNameLst>
                                          <p:attrName>ppt_w</p:attrName>
                                        </p:attrNameLst>
                                      </p:cBhvr>
                                      <p:tavLst>
                                        <p:tav tm="0">
                                          <p:val>
                                            <p:fltVal val="0.000000"/>
                                          </p:val>
                                        </p:tav>
                                        <p:tav tm="100000">
                                          <p:val>
                                            <p:strVal val="#ppt_w"/>
                                          </p:val>
                                        </p:tav>
                                      </p:tavLst>
                                    </p:anim>
                                    <p:anim calcmode="lin" valueType="num">
                                      <p:cBhvr>
                                        <p:cTn id="53" dur="500" fill="hold"/>
                                        <p:tgtEl>
                                          <p:spTgt spid="116838"/>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116846"/>
                                        </p:tgtEl>
                                        <p:attrNameLst>
                                          <p:attrName>style.visibility</p:attrName>
                                        </p:attrNameLst>
                                      </p:cBhvr>
                                      <p:to>
                                        <p:strVal val="visible"/>
                                      </p:to>
                                    </p:set>
                                    <p:animEffect transition="in" filter="dissolve">
                                      <p:cBhvr>
                                        <p:cTn id="58" dur="500"/>
                                        <p:tgtEl>
                                          <p:spTgt spid="116846"/>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116847"/>
                                        </p:tgtEl>
                                        <p:attrNameLst>
                                          <p:attrName>style.visibility</p:attrName>
                                        </p:attrNameLst>
                                      </p:cBhvr>
                                      <p:to>
                                        <p:strVal val="visible"/>
                                      </p:to>
                                    </p:set>
                                    <p:animEffect transition="in" filter="dissolve">
                                      <p:cBhvr>
                                        <p:cTn id="63" dur="500"/>
                                        <p:tgtEl>
                                          <p:spTgt spid="116847"/>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116848"/>
                                        </p:tgtEl>
                                        <p:attrNameLst>
                                          <p:attrName>style.visibility</p:attrName>
                                        </p:attrNameLst>
                                      </p:cBhvr>
                                      <p:to>
                                        <p:strVal val="visible"/>
                                      </p:to>
                                    </p:set>
                                    <p:animEffect transition="in" filter="dissolve">
                                      <p:cBhvr>
                                        <p:cTn id="68" dur="500"/>
                                        <p:tgtEl>
                                          <p:spTgt spid="1168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83" grpId="0"/>
      <p:bldP spid="116810" grpId="0"/>
      <p:bldP spid="116837" grpId="0"/>
      <p:bldP spid="116846" grpId="0"/>
      <p:bldP spid="116847" grpId="0"/>
      <p:bldP spid="116848" grpId="0"/>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4" name="Rectangle 2"/>
          <p:cNvSpPr txBox="1"/>
          <p:nvPr/>
        </p:nvSpPr>
        <p:spPr>
          <a:xfrm>
            <a:off x="501650" y="1398588"/>
            <a:ext cx="8439150" cy="525621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spcBef>
                <a:spcPts val="300"/>
              </a:spcBef>
            </a:pPr>
            <a:r>
              <a:rPr lang="zh-CN" altLang="en-US" sz="2200" dirty="0">
                <a:latin typeface="华文楷体" panose="02010600040101010101" pitchFamily="2" charset="-122"/>
                <a:sym typeface="Symbol" panose="05050102010706020507" pitchFamily="18" charset="2"/>
              </a:rPr>
              <a:t>关系的笛卡尔积占用很大的空间，效率不高。为了提高效率，减少空间成本和查询开销，引入了联结。</a:t>
            </a:r>
            <a:endParaRPr lang="zh-CN" altLang="en-US" sz="2200" dirty="0">
              <a:latin typeface="华文楷体" panose="02010600040101010101" pitchFamily="2" charset="-122"/>
              <a:sym typeface="Symbol" panose="05050102010706020507" pitchFamily="18" charset="2"/>
            </a:endParaRPr>
          </a:p>
          <a:p>
            <a:pPr marL="533400" lvl="0" indent="-533400" eaLnBrk="1" hangingPunct="1">
              <a:spcBef>
                <a:spcPts val="300"/>
              </a:spcBef>
            </a:pPr>
            <a:r>
              <a:rPr lang="zh-CN" altLang="en-US" sz="2200" dirty="0">
                <a:solidFill>
                  <a:srgbClr val="CC0000"/>
                </a:solidFill>
                <a:latin typeface="华文楷体" panose="02010600040101010101" pitchFamily="2" charset="-122"/>
              </a:rPr>
              <a:t>是重要的关系操作</a:t>
            </a:r>
            <a:r>
              <a:rPr lang="zh-CN" altLang="en-US" sz="2200" dirty="0">
                <a:solidFill>
                  <a:srgbClr val="000099"/>
                </a:solidFill>
                <a:latin typeface="华文楷体" panose="02010600040101010101" pitchFamily="2" charset="-122"/>
              </a:rPr>
              <a:t>，</a:t>
            </a:r>
            <a:r>
              <a:rPr lang="zh-CN" altLang="en-US" sz="2200" dirty="0">
                <a:latin typeface="华文楷体" panose="02010600040101010101" pitchFamily="2" charset="-122"/>
              </a:rPr>
              <a:t>用于将两个关系中的相关元组组合成单个元组，相当于</a:t>
            </a:r>
            <a:r>
              <a:rPr lang="zh-CN" altLang="en-US" sz="2200" dirty="0">
                <a:latin typeface="华文楷体" panose="02010600040101010101" pitchFamily="2" charset="-122"/>
                <a:sym typeface="Symbol" panose="05050102010706020507" pitchFamily="18" charset="2"/>
              </a:rPr>
              <a:t>（</a:t>
            </a:r>
            <a:r>
              <a:rPr lang="zh-CN" altLang="en-US" sz="2200" dirty="0">
                <a:latin typeface="华文楷体" panose="02010600040101010101" pitchFamily="2" charset="-122"/>
              </a:rPr>
              <a:t>R</a:t>
            </a:r>
            <a:r>
              <a:rPr lang="zh-CN" altLang="en-US" sz="2200" dirty="0">
                <a:latin typeface="华文楷体" panose="02010600040101010101" pitchFamily="2" charset="-122"/>
                <a:sym typeface="Symbol" panose="05050102010706020507" pitchFamily="18" charset="2"/>
              </a:rPr>
              <a:t>S）。而联结的空间效率高，比乘积用的更广泛。</a:t>
            </a:r>
            <a:endParaRPr lang="zh-CN" altLang="en-US" sz="2200" dirty="0">
              <a:latin typeface="华文楷体" panose="02010600040101010101" pitchFamily="2" charset="-122"/>
              <a:sym typeface="Symbol" panose="05050102010706020507" pitchFamily="18" charset="2"/>
            </a:endParaRPr>
          </a:p>
          <a:p>
            <a:pPr marL="533400" lvl="0" indent="-533400" eaLnBrk="1" hangingPunct="1">
              <a:spcBef>
                <a:spcPts val="300"/>
              </a:spcBef>
            </a:pPr>
            <a:r>
              <a:rPr lang="zh-CN" altLang="en-US" sz="2200" dirty="0">
                <a:latin typeface="华文楷体" panose="02010600040101010101" pitchFamily="2" charset="-122"/>
              </a:rPr>
              <a:t>种类有：</a:t>
            </a:r>
            <a:r>
              <a:rPr lang="zh-CN" altLang="en-US" sz="2200" dirty="0">
                <a:solidFill>
                  <a:srgbClr val="CC0000"/>
                </a:solidFill>
                <a:latin typeface="华文楷体" panose="02010600040101010101" pitchFamily="2" charset="-122"/>
              </a:rPr>
              <a:t>条件联结、等联结、自然联结、外联结。</a:t>
            </a:r>
            <a:endParaRPr lang="zh-CN" altLang="en-US" sz="2200" dirty="0">
              <a:solidFill>
                <a:srgbClr val="CC0000"/>
              </a:solidFill>
              <a:latin typeface="华文楷体" panose="02010600040101010101" pitchFamily="2" charset="-122"/>
            </a:endParaRPr>
          </a:p>
          <a:p>
            <a:pPr marL="533400" lvl="0" indent="-533400" eaLnBrk="1" hangingPunct="1">
              <a:lnSpc>
                <a:spcPct val="120000"/>
              </a:lnSpc>
              <a:spcBef>
                <a:spcPts val="300"/>
              </a:spcBef>
              <a:buFont typeface="Arial" panose="020B0604020202020204" pitchFamily="34" charset="0"/>
              <a:buNone/>
            </a:pPr>
            <a:r>
              <a:rPr lang="zh-CN" altLang="en-US" sz="2400" dirty="0">
                <a:solidFill>
                  <a:srgbClr val="0033CC"/>
                </a:solidFill>
                <a:latin typeface="华文楷体" panose="02010600040101010101" pitchFamily="2" charset="-122"/>
              </a:rPr>
              <a:t>（</a:t>
            </a:r>
            <a:r>
              <a:rPr lang="en-US" altLang="zh-CN" sz="2400" dirty="0">
                <a:solidFill>
                  <a:srgbClr val="0033CC"/>
                </a:solidFill>
                <a:latin typeface="华文楷体" panose="02010600040101010101" pitchFamily="2" charset="-122"/>
              </a:rPr>
              <a:t>1</a:t>
            </a:r>
            <a:r>
              <a:rPr lang="zh-CN" altLang="en-US" sz="2400" dirty="0">
                <a:solidFill>
                  <a:srgbClr val="0033CC"/>
                </a:solidFill>
                <a:latin typeface="华文楷体" panose="02010600040101010101" pitchFamily="2" charset="-122"/>
              </a:rPr>
              <a:t>）条件联结（Condition Joins）</a:t>
            </a:r>
            <a:endParaRPr lang="zh-CN" altLang="en-US" sz="2400" dirty="0">
              <a:solidFill>
                <a:srgbClr val="0033CC"/>
              </a:solidFill>
              <a:latin typeface="华文楷体" panose="02010600040101010101" pitchFamily="2" charset="-122"/>
            </a:endParaRPr>
          </a:p>
          <a:p>
            <a:pPr marL="533400" lvl="0" indent="-533400" eaLnBrk="1" hangingPunct="1">
              <a:spcBef>
                <a:spcPts val="300"/>
              </a:spcBef>
            </a:pPr>
            <a:r>
              <a:rPr lang="zh-CN" altLang="en-US" sz="2400" dirty="0">
                <a:latin typeface="华文楷体" panose="02010600040101010101" pitchFamily="2" charset="-122"/>
              </a:rPr>
              <a:t>定义： 对两个关系进行有条件的联结。</a:t>
            </a:r>
            <a:endParaRPr lang="zh-CN" altLang="en-US" sz="2400" dirty="0">
              <a:latin typeface="华文楷体" panose="02010600040101010101" pitchFamily="2" charset="-122"/>
            </a:endParaRPr>
          </a:p>
          <a:p>
            <a:pPr marL="533400" lvl="0" indent="-533400" eaLnBrk="1" hangingPunct="1">
              <a:lnSpc>
                <a:spcPct val="90000"/>
              </a:lnSpc>
              <a:buFont typeface="Arial" panose="020B0604020202020204" pitchFamily="34" charset="0"/>
              <a:buNone/>
            </a:pPr>
            <a:endParaRPr lang="zh-CN" altLang="en-US" sz="2400" dirty="0">
              <a:latin typeface="华文楷体" panose="02010600040101010101" pitchFamily="2" charset="-122"/>
            </a:endParaRPr>
          </a:p>
          <a:p>
            <a:pPr marL="533400" lvl="0" indent="-533400" eaLnBrk="1" hangingPunct="1">
              <a:lnSpc>
                <a:spcPct val="110000"/>
              </a:lnSpc>
            </a:pPr>
            <a:r>
              <a:rPr lang="zh-CN" altLang="en-US" sz="2200" dirty="0">
                <a:latin typeface="华文楷体" panose="02010600040101010101" pitchFamily="2" charset="-122"/>
              </a:rPr>
              <a:t>组合条件式C：</a:t>
            </a:r>
            <a:r>
              <a:rPr lang="de-DE" altLang="en-US" sz="2200" dirty="0">
                <a:latin typeface="华文楷体" panose="02010600040101010101" pitchFamily="2" charset="-122"/>
              </a:rPr>
              <a:t>&lt;</a:t>
            </a:r>
            <a:r>
              <a:rPr lang="zh-CN" altLang="en-US" sz="2200" dirty="0">
                <a:latin typeface="华文楷体" panose="02010600040101010101" pitchFamily="2" charset="-122"/>
              </a:rPr>
              <a:t>条件1&gt;AND&lt;条件2&gt;AND&lt;条件3&gt;AND…</a:t>
            </a:r>
            <a:endParaRPr lang="zh-CN" altLang="en-US" sz="2200" dirty="0">
              <a:latin typeface="华文楷体" panose="02010600040101010101" pitchFamily="2" charset="-122"/>
            </a:endParaRPr>
          </a:p>
          <a:p>
            <a:pPr marL="533400" lvl="0" indent="-533400" eaLnBrk="1" hangingPunct="1">
              <a:lnSpc>
                <a:spcPct val="110000"/>
              </a:lnSpc>
            </a:pPr>
            <a:r>
              <a:rPr lang="zh-CN" altLang="en-US" sz="2200" dirty="0">
                <a:latin typeface="华文楷体" panose="02010600040101010101" pitchFamily="2" charset="-122"/>
              </a:rPr>
              <a:t>每个条件是</a:t>
            </a:r>
            <a:r>
              <a:rPr lang="zh-CN" altLang="en-US" sz="2200" dirty="0">
                <a:solidFill>
                  <a:srgbClr val="3333FF"/>
                </a:solidFill>
                <a:latin typeface="华文楷体" panose="02010600040101010101" pitchFamily="2" charset="-122"/>
              </a:rPr>
              <a:t>a</a:t>
            </a:r>
            <a:r>
              <a:rPr lang="zh-CN" altLang="en-US" sz="2200" dirty="0">
                <a:solidFill>
                  <a:srgbClr val="3333FF"/>
                </a:solidFill>
                <a:latin typeface="华文楷体" panose="02010600040101010101" pitchFamily="2" charset="-122"/>
                <a:sym typeface="Symbol" panose="05050102010706020507" pitchFamily="18" charset="2"/>
              </a:rPr>
              <a:t>b</a:t>
            </a:r>
            <a:r>
              <a:rPr lang="zh-CN" altLang="en-US" sz="2200" dirty="0">
                <a:latin typeface="华文楷体" panose="02010600040101010101" pitchFamily="2" charset="-122"/>
                <a:sym typeface="Symbol" panose="05050102010706020507" pitchFamily="18" charset="2"/>
              </a:rPr>
              <a:t>的形式，a是R的一个属性，b是S的一个属性。a</a:t>
            </a:r>
            <a:r>
              <a:rPr lang="de-DE" altLang="en-US" sz="2200" dirty="0">
                <a:latin typeface="华文楷体" panose="02010600040101010101" pitchFamily="2" charset="-122"/>
                <a:sym typeface="Symbol" panose="05050102010706020507" pitchFamily="18" charset="2"/>
              </a:rPr>
              <a:t>,b</a:t>
            </a:r>
            <a:r>
              <a:rPr lang="zh-CN" altLang="en-US" sz="2200" dirty="0">
                <a:latin typeface="华文楷体" panose="02010600040101010101" pitchFamily="2" charset="-122"/>
                <a:sym typeface="Symbol" panose="05050102010706020507" pitchFamily="18" charset="2"/>
              </a:rPr>
              <a:t>具有相同的域。是比较操作符（</a:t>
            </a:r>
            <a:r>
              <a:rPr lang="zh-CN" altLang="en-US" sz="2200" dirty="0">
                <a:latin typeface="华文楷体" panose="02010600040101010101" pitchFamily="2" charset="-122"/>
              </a:rPr>
              <a:t>&gt;, </a:t>
            </a:r>
            <a:r>
              <a:rPr lang="de-DE" altLang="en-US" sz="2200" dirty="0">
                <a:latin typeface="华文楷体" panose="02010600040101010101" pitchFamily="2" charset="-122"/>
              </a:rPr>
              <a:t>=,&lt;,&lt;=,=,&lt;&gt;</a:t>
            </a:r>
            <a:r>
              <a:rPr lang="zh-CN" altLang="en-US" sz="2200" dirty="0">
                <a:latin typeface="华文楷体" panose="02010600040101010101" pitchFamily="2" charset="-122"/>
                <a:sym typeface="Symbol" panose="05050102010706020507" pitchFamily="18" charset="2"/>
              </a:rPr>
              <a:t>）中的一个。</a:t>
            </a:r>
            <a:endParaRPr lang="zh-CN" altLang="en-US" sz="2200" dirty="0">
              <a:latin typeface="华文楷体" panose="02010600040101010101" pitchFamily="2" charset="-122"/>
              <a:sym typeface="Symbol" panose="05050102010706020507" pitchFamily="18" charset="2"/>
            </a:endParaRPr>
          </a:p>
        </p:txBody>
      </p:sp>
      <p:grpSp>
        <p:nvGrpSpPr>
          <p:cNvPr id="161795" name="Group 3"/>
          <p:cNvGrpSpPr/>
          <p:nvPr/>
        </p:nvGrpSpPr>
        <p:grpSpPr>
          <a:xfrm>
            <a:off x="1908175" y="4164013"/>
            <a:ext cx="3733800" cy="914400"/>
            <a:chOff x="0" y="0"/>
            <a:chExt cx="2352" cy="576"/>
          </a:xfrm>
        </p:grpSpPr>
        <p:sp>
          <p:nvSpPr>
            <p:cNvPr id="161798" name="Rectangle 4"/>
            <p:cNvSpPr/>
            <p:nvPr/>
          </p:nvSpPr>
          <p:spPr>
            <a:xfrm>
              <a:off x="0" y="0"/>
              <a:ext cx="2352" cy="576"/>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latin typeface="方正姚体" panose="02010601030101010101" pitchFamily="2" charset="-122"/>
                  <a:ea typeface="方正姚体" panose="02010601030101010101" pitchFamily="2" charset="-122"/>
                </a:rPr>
                <a:t>R     </a:t>
              </a:r>
              <a:r>
                <a:rPr lang="zh-CN" altLang="en-US" sz="2400" baseline="-25000" dirty="0">
                  <a:latin typeface="方正姚体" panose="02010601030101010101" pitchFamily="2" charset="-122"/>
                  <a:ea typeface="方正姚体" panose="02010601030101010101" pitchFamily="2" charset="-122"/>
                </a:rPr>
                <a:t>c  </a:t>
              </a:r>
              <a:r>
                <a:rPr lang="zh-CN" altLang="en-US" sz="2400" dirty="0">
                  <a:latin typeface="方正姚体" panose="02010601030101010101" pitchFamily="2" charset="-122"/>
                  <a:ea typeface="方正姚体" panose="02010601030101010101" pitchFamily="2" charset="-122"/>
                </a:rPr>
                <a:t>S = σ</a:t>
              </a:r>
              <a:r>
                <a:rPr lang="zh-CN" altLang="en-US" sz="2400" baseline="-25000" dirty="0">
                  <a:latin typeface="方正姚体" panose="02010601030101010101" pitchFamily="2" charset="-122"/>
                  <a:ea typeface="方正姚体" panose="02010601030101010101" pitchFamily="2" charset="-122"/>
                </a:rPr>
                <a:t>c</a:t>
              </a:r>
              <a:r>
                <a:rPr lang="zh-CN" altLang="en-US" sz="2400" dirty="0">
                  <a:latin typeface="方正姚体" panose="02010601030101010101" pitchFamily="2" charset="-122"/>
                  <a:ea typeface="方正姚体" panose="02010601030101010101" pitchFamily="2" charset="-122"/>
                </a:rPr>
                <a:t>(R ×S)</a:t>
              </a:r>
              <a:endParaRPr lang="de-DE" altLang="en-US" sz="2400" dirty="0">
                <a:latin typeface="方正姚体" panose="02010601030101010101" pitchFamily="2" charset="-122"/>
                <a:ea typeface="方正姚体" panose="02010601030101010101" pitchFamily="2" charset="-122"/>
              </a:endParaRPr>
            </a:p>
          </p:txBody>
        </p:sp>
        <p:grpSp>
          <p:nvGrpSpPr>
            <p:cNvPr id="161799" name="Group 5"/>
            <p:cNvGrpSpPr/>
            <p:nvPr/>
          </p:nvGrpSpPr>
          <p:grpSpPr>
            <a:xfrm>
              <a:off x="589" y="254"/>
              <a:ext cx="182" cy="96"/>
              <a:chOff x="0" y="0"/>
              <a:chExt cx="182" cy="136"/>
            </a:xfrm>
          </p:grpSpPr>
          <p:sp>
            <p:nvSpPr>
              <p:cNvPr id="161800" name="Line 6"/>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1801" name="Line 7"/>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1802" name="Line 8"/>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1803" name="Line 9"/>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sp>
        <p:nvSpPr>
          <p:cNvPr id="161796" name="矩形 10"/>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3.联接（JOIN）</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6179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8" name="矩形 3"/>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3.1条件联接</a:t>
            </a:r>
            <a:endParaRPr lang="en-US" altLang="zh-CN" sz="2800" dirty="0">
              <a:solidFill>
                <a:srgbClr val="0033CC"/>
              </a:solidFill>
              <a:latin typeface="黑体" panose="02010609060101010101" pitchFamily="49" charset="-122"/>
              <a:ea typeface="黑体" panose="02010609060101010101" pitchFamily="49" charset="-122"/>
            </a:endParaRPr>
          </a:p>
        </p:txBody>
      </p:sp>
      <p:grpSp>
        <p:nvGrpSpPr>
          <p:cNvPr id="118787" name="Group 3"/>
          <p:cNvGrpSpPr/>
          <p:nvPr/>
        </p:nvGrpSpPr>
        <p:grpSpPr>
          <a:xfrm>
            <a:off x="115888" y="1260475"/>
            <a:ext cx="4089400" cy="2324100"/>
            <a:chOff x="0" y="0"/>
            <a:chExt cx="2688" cy="1581"/>
          </a:xfrm>
        </p:grpSpPr>
        <p:sp>
          <p:nvSpPr>
            <p:cNvPr id="162908"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6290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6291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6291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6291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6291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6291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6291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6291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6291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6291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6291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6292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6292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6292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6292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6292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6292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6292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6292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6292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6292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6293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6293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6293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6293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6293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6293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6293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62937"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6293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6293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grpSp>
        <p:nvGrpSpPr>
          <p:cNvPr id="118820" name="Group 36"/>
          <p:cNvGrpSpPr/>
          <p:nvPr/>
        </p:nvGrpSpPr>
        <p:grpSpPr>
          <a:xfrm>
            <a:off x="5048250" y="1720850"/>
            <a:ext cx="3286125" cy="1614488"/>
            <a:chOff x="0" y="0"/>
            <a:chExt cx="2160" cy="1017"/>
          </a:xfrm>
        </p:grpSpPr>
        <p:sp>
          <p:nvSpPr>
            <p:cNvPr id="162889" name="Text Box 37"/>
            <p:cNvSpPr txBox="1"/>
            <p:nvPr/>
          </p:nvSpPr>
          <p:spPr>
            <a:xfrm>
              <a:off x="528" y="0"/>
              <a:ext cx="1152"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62890" name="Rectangle 38"/>
            <p:cNvSpPr/>
            <p:nvPr/>
          </p:nvSpPr>
          <p:spPr>
            <a:xfrm>
              <a:off x="1456" y="288"/>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62891" name="Rectangle 39"/>
            <p:cNvSpPr/>
            <p:nvPr/>
          </p:nvSpPr>
          <p:spPr>
            <a:xfrm>
              <a:off x="657" y="288"/>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62892" name="Rectangle 40"/>
            <p:cNvSpPr/>
            <p:nvPr/>
          </p:nvSpPr>
          <p:spPr>
            <a:xfrm>
              <a:off x="0" y="288"/>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62893" name="Rectangle 41"/>
            <p:cNvSpPr/>
            <p:nvPr/>
          </p:nvSpPr>
          <p:spPr>
            <a:xfrm>
              <a:off x="1456" y="787"/>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62894" name="Rectangle 42"/>
            <p:cNvSpPr/>
            <p:nvPr/>
          </p:nvSpPr>
          <p:spPr>
            <a:xfrm>
              <a:off x="657" y="787"/>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62895" name="Rectangle 43"/>
            <p:cNvSpPr/>
            <p:nvPr/>
          </p:nvSpPr>
          <p:spPr>
            <a:xfrm>
              <a:off x="0" y="787"/>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62896" name="Rectangle 44"/>
            <p:cNvSpPr/>
            <p:nvPr/>
          </p:nvSpPr>
          <p:spPr>
            <a:xfrm>
              <a:off x="1456" y="518"/>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62897" name="Rectangle 45"/>
            <p:cNvSpPr/>
            <p:nvPr/>
          </p:nvSpPr>
          <p:spPr>
            <a:xfrm>
              <a:off x="657" y="518"/>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62898" name="Rectangle 46"/>
            <p:cNvSpPr/>
            <p:nvPr/>
          </p:nvSpPr>
          <p:spPr>
            <a:xfrm>
              <a:off x="0" y="518"/>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62899" name="Line 47"/>
            <p:cNvSpPr/>
            <p:nvPr/>
          </p:nvSpPr>
          <p:spPr>
            <a:xfrm>
              <a:off x="0" y="288"/>
              <a:ext cx="2160" cy="0"/>
            </a:xfrm>
            <a:prstGeom prst="line">
              <a:avLst/>
            </a:prstGeom>
            <a:ln w="28575" cap="sq" cmpd="sng">
              <a:solidFill>
                <a:schemeClr val="tx1"/>
              </a:solidFill>
              <a:prstDash val="solid"/>
              <a:headEnd type="none" w="med" len="med"/>
              <a:tailEnd type="none" w="med" len="med"/>
            </a:ln>
          </p:spPr>
        </p:sp>
        <p:sp>
          <p:nvSpPr>
            <p:cNvPr id="162900" name="Line 48"/>
            <p:cNvSpPr/>
            <p:nvPr/>
          </p:nvSpPr>
          <p:spPr>
            <a:xfrm>
              <a:off x="0" y="787"/>
              <a:ext cx="2160" cy="0"/>
            </a:xfrm>
            <a:prstGeom prst="line">
              <a:avLst/>
            </a:prstGeom>
            <a:ln w="12700" cap="flat" cmpd="sng">
              <a:solidFill>
                <a:schemeClr val="tx1"/>
              </a:solidFill>
              <a:prstDash val="solid"/>
              <a:headEnd type="none" w="med" len="med"/>
              <a:tailEnd type="none" w="med" len="med"/>
            </a:ln>
          </p:spPr>
        </p:sp>
        <p:sp>
          <p:nvSpPr>
            <p:cNvPr id="162901" name="Line 49"/>
            <p:cNvSpPr/>
            <p:nvPr/>
          </p:nvSpPr>
          <p:spPr>
            <a:xfrm>
              <a:off x="0" y="1017"/>
              <a:ext cx="2160" cy="0"/>
            </a:xfrm>
            <a:prstGeom prst="line">
              <a:avLst/>
            </a:prstGeom>
            <a:ln w="28575" cap="sq" cmpd="sng">
              <a:solidFill>
                <a:schemeClr val="tx1"/>
              </a:solidFill>
              <a:prstDash val="solid"/>
              <a:headEnd type="none" w="med" len="med"/>
              <a:tailEnd type="none" w="med" len="med"/>
            </a:ln>
          </p:spPr>
        </p:sp>
        <p:sp>
          <p:nvSpPr>
            <p:cNvPr id="162902" name="Line 50"/>
            <p:cNvSpPr/>
            <p:nvPr/>
          </p:nvSpPr>
          <p:spPr>
            <a:xfrm>
              <a:off x="0" y="288"/>
              <a:ext cx="0" cy="729"/>
            </a:xfrm>
            <a:prstGeom prst="line">
              <a:avLst/>
            </a:prstGeom>
            <a:ln w="28575" cap="sq" cmpd="sng">
              <a:solidFill>
                <a:schemeClr val="tx1"/>
              </a:solidFill>
              <a:prstDash val="solid"/>
              <a:headEnd type="none" w="med" len="med"/>
              <a:tailEnd type="none" w="med" len="med"/>
            </a:ln>
          </p:spPr>
        </p:sp>
        <p:sp>
          <p:nvSpPr>
            <p:cNvPr id="162903" name="Line 51"/>
            <p:cNvSpPr/>
            <p:nvPr/>
          </p:nvSpPr>
          <p:spPr>
            <a:xfrm>
              <a:off x="657" y="288"/>
              <a:ext cx="0" cy="729"/>
            </a:xfrm>
            <a:prstGeom prst="line">
              <a:avLst/>
            </a:prstGeom>
            <a:ln w="12700" cap="flat" cmpd="sng">
              <a:solidFill>
                <a:schemeClr val="tx1"/>
              </a:solidFill>
              <a:prstDash val="solid"/>
              <a:headEnd type="none" w="med" len="med"/>
              <a:tailEnd type="none" w="med" len="med"/>
            </a:ln>
          </p:spPr>
        </p:sp>
        <p:sp>
          <p:nvSpPr>
            <p:cNvPr id="162904" name="Line 52"/>
            <p:cNvSpPr/>
            <p:nvPr/>
          </p:nvSpPr>
          <p:spPr>
            <a:xfrm>
              <a:off x="1456" y="288"/>
              <a:ext cx="0" cy="729"/>
            </a:xfrm>
            <a:prstGeom prst="line">
              <a:avLst/>
            </a:prstGeom>
            <a:ln w="12700" cap="flat" cmpd="sng">
              <a:solidFill>
                <a:schemeClr val="tx1"/>
              </a:solidFill>
              <a:prstDash val="solid"/>
              <a:headEnd type="none" w="med" len="med"/>
              <a:tailEnd type="none" w="med" len="med"/>
            </a:ln>
          </p:spPr>
        </p:sp>
        <p:sp>
          <p:nvSpPr>
            <p:cNvPr id="162905" name="Line 53"/>
            <p:cNvSpPr/>
            <p:nvPr/>
          </p:nvSpPr>
          <p:spPr>
            <a:xfrm>
              <a:off x="2160" y="288"/>
              <a:ext cx="0" cy="499"/>
            </a:xfrm>
            <a:prstGeom prst="line">
              <a:avLst/>
            </a:prstGeom>
            <a:ln w="12700" cap="flat" cmpd="sng">
              <a:solidFill>
                <a:schemeClr val="tx1"/>
              </a:solidFill>
              <a:prstDash val="solid"/>
              <a:headEnd type="none" w="med" len="med"/>
              <a:tailEnd type="none" w="med" len="med"/>
            </a:ln>
          </p:spPr>
        </p:sp>
        <p:sp>
          <p:nvSpPr>
            <p:cNvPr id="162906" name="Line 54"/>
            <p:cNvSpPr/>
            <p:nvPr/>
          </p:nvSpPr>
          <p:spPr>
            <a:xfrm>
              <a:off x="2160" y="787"/>
              <a:ext cx="0" cy="230"/>
            </a:xfrm>
            <a:prstGeom prst="line">
              <a:avLst/>
            </a:prstGeom>
            <a:ln w="28575" cap="sq" cmpd="sng">
              <a:solidFill>
                <a:schemeClr val="tx1"/>
              </a:solidFill>
              <a:prstDash val="solid"/>
              <a:headEnd type="none" w="med" len="med"/>
              <a:tailEnd type="none" w="med" len="med"/>
            </a:ln>
          </p:spPr>
        </p:sp>
        <p:sp>
          <p:nvSpPr>
            <p:cNvPr id="162907" name="Line 55"/>
            <p:cNvSpPr/>
            <p:nvPr/>
          </p:nvSpPr>
          <p:spPr>
            <a:xfrm>
              <a:off x="0" y="518"/>
              <a:ext cx="2160" cy="0"/>
            </a:xfrm>
            <a:prstGeom prst="line">
              <a:avLst/>
            </a:prstGeom>
            <a:ln w="12700" cap="flat" cmpd="sng">
              <a:solidFill>
                <a:schemeClr val="tx1"/>
              </a:solidFill>
              <a:prstDash val="solid"/>
              <a:headEnd type="none" w="med" len="med"/>
              <a:tailEnd type="none" w="med" len="med"/>
            </a:ln>
          </p:spPr>
        </p:sp>
      </p:grpSp>
      <p:grpSp>
        <p:nvGrpSpPr>
          <p:cNvPr id="118840" name="Group 56"/>
          <p:cNvGrpSpPr/>
          <p:nvPr/>
        </p:nvGrpSpPr>
        <p:grpSpPr>
          <a:xfrm>
            <a:off x="6488113" y="3449638"/>
            <a:ext cx="2655887" cy="641350"/>
            <a:chOff x="0" y="0"/>
            <a:chExt cx="1598" cy="404"/>
          </a:xfrm>
        </p:grpSpPr>
        <p:sp>
          <p:nvSpPr>
            <p:cNvPr id="162883" name="Rectangle 57"/>
            <p:cNvSpPr/>
            <p:nvPr/>
          </p:nvSpPr>
          <p:spPr>
            <a:xfrm>
              <a:off x="0" y="0"/>
              <a:ext cx="1598" cy="404"/>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000" dirty="0">
                  <a:latin typeface="方正姚体" panose="02010601030101010101" pitchFamily="2" charset="-122"/>
                  <a:ea typeface="方正姚体" panose="02010601030101010101" pitchFamily="2" charset="-122"/>
                </a:rPr>
                <a:t>S</a:t>
              </a:r>
              <a:r>
                <a:rPr lang="zh-CN" altLang="en-US" sz="2800" dirty="0">
                  <a:latin typeface="方正姚体" panose="02010601030101010101" pitchFamily="2" charset="-122"/>
                  <a:ea typeface="方正姚体" panose="02010601030101010101" pitchFamily="2" charset="-122"/>
                </a:rPr>
                <a:t>1      </a:t>
              </a:r>
              <a:r>
                <a:rPr lang="zh-CN" altLang="en-US" sz="2800" baseline="-25000" dirty="0">
                  <a:latin typeface="方正姚体" panose="02010601030101010101" pitchFamily="2" charset="-122"/>
                  <a:ea typeface="方正姚体" panose="02010601030101010101" pitchFamily="2" charset="-122"/>
                </a:rPr>
                <a:t>S1.sid</a:t>
              </a:r>
              <a:r>
                <a:rPr lang="de-DE" altLang="en-US" sz="2800" baseline="-25000" dirty="0">
                  <a:latin typeface="方正姚体" panose="02010601030101010101" pitchFamily="2" charset="-122"/>
                  <a:ea typeface="方正姚体" panose="02010601030101010101" pitchFamily="2" charset="-122"/>
                </a:rPr>
                <a:t>&gt;E.sid</a:t>
              </a:r>
              <a:r>
                <a:rPr lang="zh-CN" altLang="en-US" sz="2800" dirty="0">
                  <a:latin typeface="方正姚体" panose="02010601030101010101" pitchFamily="2" charset="-122"/>
                  <a:ea typeface="方正姚体" panose="02010601030101010101" pitchFamily="2" charset="-122"/>
                </a:rPr>
                <a:t>E</a:t>
              </a:r>
              <a:endParaRPr lang="de-DE" altLang="en-US" sz="2800" dirty="0"/>
            </a:p>
          </p:txBody>
        </p:sp>
        <p:grpSp>
          <p:nvGrpSpPr>
            <p:cNvPr id="162884" name="Group 58"/>
            <p:cNvGrpSpPr/>
            <p:nvPr/>
          </p:nvGrpSpPr>
          <p:grpSpPr>
            <a:xfrm>
              <a:off x="403" y="129"/>
              <a:ext cx="182" cy="164"/>
              <a:chOff x="0" y="0"/>
              <a:chExt cx="182" cy="136"/>
            </a:xfrm>
          </p:grpSpPr>
          <p:sp>
            <p:nvSpPr>
              <p:cNvPr id="162885" name="Line 59"/>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2886" name="Line 60"/>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2887" name="Line 61"/>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2888" name="Line 62"/>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graphicFrame>
        <p:nvGraphicFramePr>
          <p:cNvPr id="118847" name="表格 118846"/>
          <p:cNvGraphicFramePr/>
          <p:nvPr/>
        </p:nvGraphicFramePr>
        <p:xfrm>
          <a:off x="352425" y="3729038"/>
          <a:ext cx="5840413" cy="2544763"/>
        </p:xfrm>
        <a:graphic>
          <a:graphicData uri="http://schemas.openxmlformats.org/drawingml/2006/table">
            <a:tbl>
              <a:tblPr/>
              <a:tblGrid>
                <a:gridCol w="835025"/>
                <a:gridCol w="960438"/>
                <a:gridCol w="708025"/>
                <a:gridCol w="833437"/>
                <a:gridCol w="835025"/>
                <a:gridCol w="833438"/>
                <a:gridCol w="835025"/>
              </a:tblGrid>
              <a:tr h="4984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score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206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a:t>
                      </a:r>
                      <a:endParaRPr lang="de-DE" altLang="en-US" sz="1800"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b="0" dirty="0">
                          <a:solidFill>
                            <a:srgbClr val="003300"/>
                          </a:solidFill>
                          <a:ea typeface="华文楷体" panose="02010600040101010101" pitchFamily="2" charset="-122"/>
                        </a:rPr>
                        <a:t>何大明</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19</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2</a:t>
                      </a:r>
                      <a:endParaRPr lang="de-DE" altLang="en-US" sz="20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80</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095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11</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2000" b="0" dirty="0">
                          <a:solidFill>
                            <a:srgbClr val="003300"/>
                          </a:solidFill>
                          <a:ea typeface="华文楷体" panose="02010600040101010101" pitchFamily="2" charset="-122"/>
                        </a:rPr>
                        <a:t>李峰</a:t>
                      </a:r>
                      <a:endParaRPr lang="zh-CN"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20</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095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11</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de-DE" altLang="en-US" sz="2000" b="0" dirty="0">
                          <a:solidFill>
                            <a:srgbClr val="003300"/>
                          </a:solidFill>
                          <a:ea typeface="华文楷体" panose="02010600040101010101" pitchFamily="2" charset="-122"/>
                        </a:rPr>
                        <a:t>李峰</a:t>
                      </a:r>
                      <a:endParaRPr lang="zh-CN"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20</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80</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095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35</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ea typeface="华文楷体" panose="02010600040101010101" pitchFamily="2" charset="-122"/>
                        </a:rPr>
                        <a:t>陈胜</a:t>
                      </a:r>
                      <a:endParaRPr lang="zh-CN" altLang="en-US" sz="20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91</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35</a:t>
                      </a:r>
                      <a:endParaRPr lang="de-DE" altLang="en-US" sz="18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ea typeface="华文楷体" panose="02010600040101010101" pitchFamily="2" charset="-122"/>
                        </a:rPr>
                        <a:t>陈胜</a:t>
                      </a:r>
                      <a:endParaRPr lang="zh-CN" altLang="en-US" sz="20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sz="18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18905" name="Line 129"/>
          <p:cNvSpPr/>
          <p:nvPr/>
        </p:nvSpPr>
        <p:spPr>
          <a:xfrm flipH="1">
            <a:off x="6559550" y="4097338"/>
            <a:ext cx="622300" cy="360362"/>
          </a:xfrm>
          <a:prstGeom prst="line">
            <a:avLst/>
          </a:prstGeom>
          <a:ln w="38100" cap="flat" cmpd="sng">
            <a:solidFill>
              <a:srgbClr val="C50739"/>
            </a:solidFill>
            <a:prstDash val="solid"/>
            <a:headEnd type="none" w="med" len="med"/>
            <a:tailEnd type="triangle" w="med" len="med"/>
          </a:ln>
        </p:spPr>
      </p:sp>
      <p:sp>
        <p:nvSpPr>
          <p:cNvPr id="118906" name="Text Box 130"/>
          <p:cNvSpPr txBox="1"/>
          <p:nvPr/>
        </p:nvSpPr>
        <p:spPr>
          <a:xfrm>
            <a:off x="1951038" y="1938338"/>
            <a:ext cx="4162425" cy="3500437"/>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30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相应的SQL查询描述:</a:t>
            </a:r>
            <a:endParaRPr lang="zh-CN" altLang="en-US" sz="2400"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SELECT  S1.sid, sname, age, grade,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E.sid, cid, score  </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FROM  S1  </a:t>
            </a:r>
            <a:r>
              <a:rPr lang="zh-CN" altLang="en-US" dirty="0">
                <a:solidFill>
                  <a:srgbClr val="0000FF"/>
                </a:solidFill>
                <a:latin typeface="华文楷体" panose="02010600040101010101" pitchFamily="2" charset="-122"/>
                <a:ea typeface="华文楷体" panose="02010600040101010101" pitchFamily="2" charset="-122"/>
              </a:rPr>
              <a:t>CROSS  JOIN</a:t>
            </a:r>
            <a:r>
              <a:rPr lang="zh-CN" altLang="en-US" dirty="0">
                <a:latin typeface="华文楷体" panose="02010600040101010101" pitchFamily="2" charset="-122"/>
                <a:ea typeface="华文楷体" panose="02010600040101010101" pitchFamily="2" charset="-122"/>
              </a:rPr>
              <a:t>  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WHERE S1.sid </a:t>
            </a:r>
            <a:r>
              <a:rPr lang="de-DE" altLang="en-US" dirty="0">
                <a:latin typeface="华文楷体" panose="02010600040101010101" pitchFamily="2" charset="-122"/>
                <a:ea typeface="华文楷体" panose="02010600040101010101" pitchFamily="2" charset="-122"/>
              </a:rPr>
              <a:t>&gt;</a:t>
            </a:r>
            <a:r>
              <a:rPr lang="zh-CN" altLang="en-US" dirty="0">
                <a:latin typeface="华文楷体" panose="02010600040101010101" pitchFamily="2" charset="-122"/>
                <a:ea typeface="华文楷体" panose="02010600040101010101" pitchFamily="2" charset="-122"/>
              </a:rPr>
              <a:t> E.sid</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或</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SELECT  S1.sid, sname, age, grade,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            E.sid, cid, score  </a:t>
            </a:r>
            <a:endParaRPr lang="zh-CN" altLang="en-US" dirty="0">
              <a:latin typeface="华文楷体" panose="02010600040101010101" pitchFamily="2" charset="-122"/>
              <a:ea typeface="华文楷体" panose="02010600040101010101" pitchFamily="2" charset="-122"/>
            </a:endParaRPr>
          </a:p>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FROM  S1，E</a:t>
            </a:r>
            <a:endParaRPr lang="zh-CN" altLang="en-US" dirty="0">
              <a:latin typeface="华文楷体" panose="02010600040101010101" pitchFamily="2" charset="-122"/>
              <a:ea typeface="华文楷体" panose="02010600040101010101" pitchFamily="2" charset="-122"/>
            </a:endParaRPr>
          </a:p>
          <a:p>
            <a:pPr marL="0" lvl="0" indent="0" eaLnBrk="1" hangingPunct="1">
              <a:spcBef>
                <a:spcPct val="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WHERE S1.sid </a:t>
            </a:r>
            <a:r>
              <a:rPr lang="de-DE" altLang="en-US" dirty="0">
                <a:latin typeface="华文楷体" panose="02010600040101010101" pitchFamily="2" charset="-122"/>
                <a:ea typeface="华文楷体" panose="02010600040101010101" pitchFamily="2" charset="-122"/>
              </a:rPr>
              <a:t>&gt;</a:t>
            </a:r>
            <a:r>
              <a:rPr lang="zh-CN" altLang="en-US" dirty="0">
                <a:latin typeface="华文楷体" panose="02010600040101010101" pitchFamily="2" charset="-122"/>
                <a:ea typeface="华文楷体" panose="02010600040101010101" pitchFamily="2" charset="-122"/>
              </a:rPr>
              <a:t> E.sid</a:t>
            </a:r>
            <a:endParaRPr lang="zh-CN" altLang="en-US" dirty="0">
              <a:solidFill>
                <a:schemeClr val="accent2"/>
              </a:solidFill>
              <a:latin typeface="华文楷体" panose="02010600040101010101" pitchFamily="2" charset="-122"/>
              <a:ea typeface="华文楷体" panose="02010600040101010101" pitchFamily="2" charset="-122"/>
            </a:endParaRPr>
          </a:p>
        </p:txBody>
      </p:sp>
      <p:sp>
        <p:nvSpPr>
          <p:cNvPr id="16288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8787"/>
                                        </p:tgtEl>
                                        <p:attrNameLst>
                                          <p:attrName>style.visibility</p:attrName>
                                        </p:attrNameLst>
                                      </p:cBhvr>
                                      <p:to>
                                        <p:strVal val="visible"/>
                                      </p:to>
                                    </p:set>
                                    <p:animEffect transition="in" filter="box(in)">
                                      <p:cBhvr>
                                        <p:cTn id="7" dur="500"/>
                                        <p:tgtEl>
                                          <p:spTgt spid="11878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8820"/>
                                        </p:tgtEl>
                                        <p:attrNameLst>
                                          <p:attrName>style.visibility</p:attrName>
                                        </p:attrNameLst>
                                      </p:cBhvr>
                                      <p:to>
                                        <p:strVal val="visible"/>
                                      </p:to>
                                    </p:set>
                                    <p:animEffect transition="in" filter="box(in)">
                                      <p:cBhvr>
                                        <p:cTn id="12" dur="500"/>
                                        <p:tgtEl>
                                          <p:spTgt spid="118820"/>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8840"/>
                                        </p:tgtEl>
                                        <p:attrNameLst>
                                          <p:attrName>style.visibility</p:attrName>
                                        </p:attrNameLst>
                                      </p:cBhvr>
                                      <p:to>
                                        <p:strVal val="visible"/>
                                      </p:to>
                                    </p:set>
                                    <p:animEffect transition="in" filter="dissolve">
                                      <p:cBhvr>
                                        <p:cTn id="17" dur="500"/>
                                        <p:tgtEl>
                                          <p:spTgt spid="118840"/>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18905"/>
                                        </p:tgtEl>
                                        <p:attrNameLst>
                                          <p:attrName>style.visibility</p:attrName>
                                        </p:attrNameLst>
                                      </p:cBhvr>
                                      <p:to>
                                        <p:strVal val="visible"/>
                                      </p:to>
                                    </p:set>
                                    <p:anim calcmode="lin" valueType="num">
                                      <p:cBhvr>
                                        <p:cTn id="22" dur="1000" fill="hold"/>
                                        <p:tgtEl>
                                          <p:spTgt spid="118905"/>
                                        </p:tgtEl>
                                        <p:attrNameLst>
                                          <p:attrName>ppt_w</p:attrName>
                                        </p:attrNameLst>
                                      </p:cBhvr>
                                      <p:tavLst>
                                        <p:tav tm="0">
                                          <p:val>
                                            <p:strVal val="#ppt_w*0.70"/>
                                          </p:val>
                                        </p:tav>
                                        <p:tav tm="100000">
                                          <p:val>
                                            <p:strVal val="#ppt_w"/>
                                          </p:val>
                                        </p:tav>
                                      </p:tavLst>
                                    </p:anim>
                                    <p:anim calcmode="lin" valueType="num">
                                      <p:cBhvr>
                                        <p:cTn id="23" dur="1000" fill="hold"/>
                                        <p:tgtEl>
                                          <p:spTgt spid="118905"/>
                                        </p:tgtEl>
                                        <p:attrNameLst>
                                          <p:attrName>ppt_h</p:attrName>
                                        </p:attrNameLst>
                                      </p:cBhvr>
                                      <p:tavLst>
                                        <p:tav tm="0">
                                          <p:val>
                                            <p:strVal val="#ppt_h"/>
                                          </p:val>
                                        </p:tav>
                                        <p:tav tm="100000">
                                          <p:val>
                                            <p:strVal val="#ppt_h"/>
                                          </p:val>
                                        </p:tav>
                                      </p:tavLst>
                                    </p:anim>
                                    <p:animEffect transition="in" filter="fade">
                                      <p:cBhvr>
                                        <p:cTn id="24" dur="1000"/>
                                        <p:tgtEl>
                                          <p:spTgt spid="118905"/>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118847"/>
                                        </p:tgtEl>
                                        <p:attrNameLst>
                                          <p:attrName>style.visibility</p:attrName>
                                        </p:attrNameLst>
                                      </p:cBhvr>
                                      <p:to>
                                        <p:strVal val="visible"/>
                                      </p:to>
                                    </p:set>
                                    <p:animEffect transition="in" filter="dissolve">
                                      <p:cBhvr>
                                        <p:cTn id="29" dur="500"/>
                                        <p:tgtEl>
                                          <p:spTgt spid="118847"/>
                                        </p:tgtEl>
                                      </p:cBhvr>
                                    </p:animEffect>
                                  </p:childTnLst>
                                </p:cTn>
                              </p:par>
                            </p:childTnLst>
                          </p:cTn>
                        </p:par>
                      </p:childTnLst>
                    </p:cTn>
                  </p:par>
                  <p:par>
                    <p:cTn id="30" fill="hold">
                      <p:stCondLst>
                        <p:cond delay="indefinite"/>
                      </p:stCondLst>
                      <p:childTnLst>
                        <p:par>
                          <p:cTn id="31" fill="hold">
                            <p:stCondLst>
                              <p:cond delay="0"/>
                            </p:stCondLst>
                            <p:childTnLst>
                              <p:par>
                                <p:cTn id="32" presetID="17" presetClass="entr" presetSubtype="1" fill="hold" grpId="0" nodeType="clickEffect">
                                  <p:stCondLst>
                                    <p:cond delay="0"/>
                                  </p:stCondLst>
                                  <p:childTnLst>
                                    <p:set>
                                      <p:cBhvr>
                                        <p:cTn id="33" dur="1" fill="hold">
                                          <p:stCondLst>
                                            <p:cond delay="0"/>
                                          </p:stCondLst>
                                        </p:cTn>
                                        <p:tgtEl>
                                          <p:spTgt spid="118906"/>
                                        </p:tgtEl>
                                        <p:attrNameLst>
                                          <p:attrName>style.visibility</p:attrName>
                                        </p:attrNameLst>
                                      </p:cBhvr>
                                      <p:to>
                                        <p:strVal val="visible"/>
                                      </p:to>
                                    </p:set>
                                    <p:anim calcmode="lin" valueType="num">
                                      <p:cBhvr>
                                        <p:cTn id="34" dur="500" fill="hold"/>
                                        <p:tgtEl>
                                          <p:spTgt spid="118906"/>
                                        </p:tgtEl>
                                        <p:attrNameLst>
                                          <p:attrName>ppt_x</p:attrName>
                                        </p:attrNameLst>
                                      </p:cBhvr>
                                      <p:tavLst>
                                        <p:tav tm="0">
                                          <p:val>
                                            <p:strVal val="#ppt_x"/>
                                          </p:val>
                                        </p:tav>
                                        <p:tav tm="100000">
                                          <p:val>
                                            <p:strVal val="#ppt_x"/>
                                          </p:val>
                                        </p:tav>
                                      </p:tavLst>
                                    </p:anim>
                                    <p:anim calcmode="lin" valueType="num">
                                      <p:cBhvr>
                                        <p:cTn id="35" dur="500" fill="hold"/>
                                        <p:tgtEl>
                                          <p:spTgt spid="118906"/>
                                        </p:tgtEl>
                                        <p:attrNameLst>
                                          <p:attrName>ppt_y</p:attrName>
                                        </p:attrNameLst>
                                      </p:cBhvr>
                                      <p:tavLst>
                                        <p:tav tm="0">
                                          <p:val>
                                            <p:strVal val="#ppt_y-#ppt_h/2"/>
                                          </p:val>
                                        </p:tav>
                                        <p:tav tm="100000">
                                          <p:val>
                                            <p:strVal val="#ppt_y"/>
                                          </p:val>
                                        </p:tav>
                                      </p:tavLst>
                                    </p:anim>
                                    <p:anim calcmode="lin" valueType="num">
                                      <p:cBhvr>
                                        <p:cTn id="36" dur="500" fill="hold"/>
                                        <p:tgtEl>
                                          <p:spTgt spid="118906"/>
                                        </p:tgtEl>
                                        <p:attrNameLst>
                                          <p:attrName>ppt_w</p:attrName>
                                        </p:attrNameLst>
                                      </p:cBhvr>
                                      <p:tavLst>
                                        <p:tav tm="0">
                                          <p:val>
                                            <p:strVal val="#ppt_w"/>
                                          </p:val>
                                        </p:tav>
                                        <p:tav tm="100000">
                                          <p:val>
                                            <p:strVal val="#ppt_w"/>
                                          </p:val>
                                        </p:tav>
                                      </p:tavLst>
                                    </p:anim>
                                    <p:anim calcmode="lin" valueType="num">
                                      <p:cBhvr>
                                        <p:cTn id="37" dur="500" fill="hold"/>
                                        <p:tgtEl>
                                          <p:spTgt spid="11890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906"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3.2 等连接</a:t>
            </a:r>
            <a:endParaRPr lang="en-US" altLang="zh-CN" sz="2800" dirty="0">
              <a:solidFill>
                <a:srgbClr val="0033CC"/>
              </a:solidFill>
              <a:latin typeface="黑体" panose="02010609060101010101" pitchFamily="49" charset="-122"/>
              <a:ea typeface="黑体" panose="02010609060101010101" pitchFamily="49" charset="-122"/>
            </a:endParaRPr>
          </a:p>
        </p:txBody>
      </p:sp>
      <p:grpSp>
        <p:nvGrpSpPr>
          <p:cNvPr id="119811" name="Group 3"/>
          <p:cNvGrpSpPr/>
          <p:nvPr/>
        </p:nvGrpSpPr>
        <p:grpSpPr>
          <a:xfrm>
            <a:off x="260350" y="1216025"/>
            <a:ext cx="4267200" cy="2224088"/>
            <a:chOff x="0" y="0"/>
            <a:chExt cx="2688" cy="1581"/>
          </a:xfrm>
        </p:grpSpPr>
        <p:sp>
          <p:nvSpPr>
            <p:cNvPr id="163908" name="Text Box 4"/>
            <p:cNvSpPr txBox="1"/>
            <p:nvPr/>
          </p:nvSpPr>
          <p:spPr>
            <a:xfrm>
              <a:off x="768" y="0"/>
              <a:ext cx="1056" cy="34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学生表 S1</a:t>
              </a:r>
              <a:endParaRPr lang="de-DE" altLang="en-US" sz="2400" dirty="0">
                <a:latin typeface="华文楷体" panose="02010600040101010101" pitchFamily="2" charset="-122"/>
                <a:ea typeface="华文楷体" panose="02010600040101010101" pitchFamily="2" charset="-122"/>
              </a:endParaRPr>
            </a:p>
          </p:txBody>
        </p:sp>
        <p:sp>
          <p:nvSpPr>
            <p:cNvPr id="163909"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a:t>
              </a:r>
              <a:endParaRPr lang="de-DE" altLang="en-US" dirty="0">
                <a:latin typeface="华文楷体" panose="02010600040101010101" pitchFamily="2" charset="-122"/>
                <a:ea typeface="华文楷体" panose="02010600040101010101" pitchFamily="2" charset="-122"/>
              </a:endParaRPr>
            </a:p>
          </p:txBody>
        </p:sp>
        <p:sp>
          <p:nvSpPr>
            <p:cNvPr id="163910"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18</a:t>
              </a:r>
              <a:endParaRPr lang="de-DE" altLang="en-US" dirty="0">
                <a:latin typeface="华文楷体" panose="02010600040101010101" pitchFamily="2" charset="-122"/>
                <a:ea typeface="华文楷体" panose="02010600040101010101" pitchFamily="2" charset="-122"/>
              </a:endParaRPr>
            </a:p>
          </p:txBody>
        </p:sp>
        <p:sp>
          <p:nvSpPr>
            <p:cNvPr id="163911"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张大卫</a:t>
              </a:r>
              <a:endParaRPr lang="zh-CN" altLang="en-US" dirty="0">
                <a:latin typeface="华文楷体" panose="02010600040101010101" pitchFamily="2" charset="-122"/>
                <a:ea typeface="华文楷体" panose="02010600040101010101" pitchFamily="2" charset="-122"/>
              </a:endParaRPr>
            </a:p>
          </p:txBody>
        </p:sp>
        <p:sp>
          <p:nvSpPr>
            <p:cNvPr id="163912"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6</a:t>
              </a:r>
              <a:endParaRPr lang="de-DE" altLang="en-US" dirty="0">
                <a:latin typeface="华文楷体" panose="02010600040101010101" pitchFamily="2" charset="-122"/>
                <a:ea typeface="华文楷体" panose="02010600040101010101" pitchFamily="2" charset="-122"/>
              </a:endParaRPr>
            </a:p>
          </p:txBody>
        </p:sp>
        <p:sp>
          <p:nvSpPr>
            <p:cNvPr id="163913"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4</a:t>
              </a:r>
              <a:endParaRPr lang="de-DE" altLang="en-US" dirty="0">
                <a:latin typeface="华文楷体" panose="02010600040101010101" pitchFamily="2" charset="-122"/>
                <a:ea typeface="华文楷体" panose="02010600040101010101" pitchFamily="2" charset="-122"/>
              </a:endParaRPr>
            </a:p>
          </p:txBody>
        </p:sp>
        <p:sp>
          <p:nvSpPr>
            <p:cNvPr id="163914"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21</a:t>
              </a:r>
              <a:endParaRPr lang="de-DE" altLang="en-US" dirty="0">
                <a:latin typeface="华文楷体" panose="02010600040101010101" pitchFamily="2" charset="-122"/>
                <a:ea typeface="华文楷体" panose="02010600040101010101" pitchFamily="2" charset="-122"/>
              </a:endParaRPr>
            </a:p>
          </p:txBody>
        </p:sp>
        <p:sp>
          <p:nvSpPr>
            <p:cNvPr id="163915"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陈胜</a:t>
              </a:r>
              <a:endParaRPr lang="zh-CN" altLang="en-US" dirty="0">
                <a:latin typeface="华文楷体" panose="02010600040101010101" pitchFamily="2" charset="-122"/>
                <a:ea typeface="华文楷体" panose="02010600040101010101" pitchFamily="2" charset="-122"/>
              </a:endParaRPr>
            </a:p>
          </p:txBody>
        </p:sp>
        <p:sp>
          <p:nvSpPr>
            <p:cNvPr id="163916"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35</a:t>
              </a:r>
              <a:endParaRPr lang="de-DE" altLang="en-US" dirty="0">
                <a:latin typeface="华文楷体" panose="02010600040101010101" pitchFamily="2" charset="-122"/>
                <a:ea typeface="华文楷体" panose="02010600040101010101" pitchFamily="2" charset="-122"/>
              </a:endParaRPr>
            </a:p>
          </p:txBody>
        </p:sp>
        <p:sp>
          <p:nvSpPr>
            <p:cNvPr id="163917"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3</a:t>
              </a:r>
              <a:endParaRPr lang="de-DE" altLang="en-US" dirty="0">
                <a:latin typeface="华文楷体" panose="02010600040101010101" pitchFamily="2" charset="-122"/>
                <a:ea typeface="华文楷体" panose="02010600040101010101" pitchFamily="2" charset="-122"/>
              </a:endParaRPr>
            </a:p>
          </p:txBody>
        </p:sp>
        <p:sp>
          <p:nvSpPr>
            <p:cNvPr id="163918"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20</a:t>
              </a:r>
              <a:endParaRPr lang="de-DE" altLang="en-US" dirty="0">
                <a:latin typeface="华文楷体" panose="02010600040101010101" pitchFamily="2" charset="-122"/>
                <a:ea typeface="华文楷体" panose="02010600040101010101" pitchFamily="2" charset="-122"/>
              </a:endParaRPr>
            </a:p>
          </p:txBody>
        </p:sp>
        <p:sp>
          <p:nvSpPr>
            <p:cNvPr id="163919"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李峰</a:t>
              </a:r>
              <a:endParaRPr lang="de-DE" altLang="en-US" dirty="0">
                <a:latin typeface="华文楷体" panose="02010600040101010101" pitchFamily="2" charset="-122"/>
                <a:ea typeface="华文楷体" panose="02010600040101010101" pitchFamily="2" charset="-122"/>
              </a:endParaRPr>
            </a:p>
          </p:txBody>
        </p:sp>
        <p:sp>
          <p:nvSpPr>
            <p:cNvPr id="163920"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11</a:t>
              </a:r>
              <a:endParaRPr lang="de-DE" altLang="en-US" dirty="0">
                <a:latin typeface="华文楷体" panose="02010600040101010101" pitchFamily="2" charset="-122"/>
                <a:ea typeface="华文楷体" panose="02010600040101010101" pitchFamily="2" charset="-122"/>
              </a:endParaRPr>
            </a:p>
          </p:txBody>
        </p:sp>
        <p:sp>
          <p:nvSpPr>
            <p:cNvPr id="163921"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2</a:t>
              </a:r>
              <a:endParaRPr lang="de-DE" altLang="en-US" dirty="0">
                <a:latin typeface="华文楷体" panose="02010600040101010101" pitchFamily="2" charset="-122"/>
                <a:ea typeface="华文楷体" panose="02010600040101010101" pitchFamily="2" charset="-122"/>
              </a:endParaRPr>
            </a:p>
          </p:txBody>
        </p:sp>
        <p:sp>
          <p:nvSpPr>
            <p:cNvPr id="163922"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19</a:t>
              </a:r>
              <a:endParaRPr lang="de-DE" altLang="en-US" dirty="0">
                <a:latin typeface="华文楷体" panose="02010600040101010101" pitchFamily="2" charset="-122"/>
                <a:ea typeface="华文楷体" panose="02010600040101010101" pitchFamily="2" charset="-122"/>
              </a:endParaRPr>
            </a:p>
          </p:txBody>
        </p:sp>
        <p:sp>
          <p:nvSpPr>
            <p:cNvPr id="163923"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何大明</a:t>
              </a:r>
              <a:endParaRPr lang="de-DE" altLang="en-US" dirty="0">
                <a:latin typeface="华文楷体" panose="02010600040101010101" pitchFamily="2" charset="-122"/>
                <a:ea typeface="华文楷体" panose="02010600040101010101" pitchFamily="2" charset="-122"/>
              </a:endParaRPr>
            </a:p>
          </p:txBody>
        </p:sp>
        <p:sp>
          <p:nvSpPr>
            <p:cNvPr id="163924"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8</a:t>
              </a:r>
              <a:endParaRPr lang="de-DE" altLang="en-US" dirty="0">
                <a:latin typeface="华文楷体" panose="02010600040101010101" pitchFamily="2" charset="-122"/>
                <a:ea typeface="华文楷体" panose="02010600040101010101" pitchFamily="2" charset="-122"/>
              </a:endParaRPr>
            </a:p>
          </p:txBody>
        </p:sp>
        <p:sp>
          <p:nvSpPr>
            <p:cNvPr id="163925"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grade</a:t>
              </a:r>
              <a:endParaRPr lang="de-DE" altLang="en-US" dirty="0">
                <a:latin typeface="华文楷体" panose="02010600040101010101" pitchFamily="2" charset="-122"/>
                <a:ea typeface="华文楷体" panose="02010600040101010101" pitchFamily="2" charset="-122"/>
              </a:endParaRPr>
            </a:p>
          </p:txBody>
        </p:sp>
        <p:sp>
          <p:nvSpPr>
            <p:cNvPr id="163926"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age</a:t>
              </a:r>
              <a:endParaRPr lang="de-DE" altLang="en-US" dirty="0">
                <a:latin typeface="华文楷体" panose="02010600040101010101" pitchFamily="2" charset="-122"/>
                <a:ea typeface="华文楷体" panose="02010600040101010101" pitchFamily="2" charset="-122"/>
              </a:endParaRPr>
            </a:p>
          </p:txBody>
        </p:sp>
        <p:sp>
          <p:nvSpPr>
            <p:cNvPr id="163927"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latin typeface="华文楷体" panose="02010600040101010101" pitchFamily="2" charset="-122"/>
                  <a:ea typeface="华文楷体" panose="02010600040101010101" pitchFamily="2" charset="-122"/>
                </a:rPr>
                <a:t>sname</a:t>
              </a:r>
              <a:endParaRPr lang="de-DE" altLang="en-US" dirty="0">
                <a:latin typeface="华文楷体" panose="02010600040101010101" pitchFamily="2" charset="-122"/>
                <a:ea typeface="华文楷体" panose="02010600040101010101" pitchFamily="2" charset="-122"/>
              </a:endParaRPr>
            </a:p>
          </p:txBody>
        </p:sp>
        <p:sp>
          <p:nvSpPr>
            <p:cNvPr id="163928"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latin typeface="华文楷体" panose="02010600040101010101" pitchFamily="2" charset="-122"/>
                  <a:ea typeface="华文楷体" panose="02010600040101010101" pitchFamily="2" charset="-122"/>
                </a:rPr>
                <a:t>sid</a:t>
              </a:r>
              <a:endParaRPr lang="de-DE" altLang="en-US" u="sng" dirty="0">
                <a:latin typeface="华文楷体" panose="02010600040101010101" pitchFamily="2" charset="-122"/>
                <a:ea typeface="华文楷体" panose="02010600040101010101" pitchFamily="2" charset="-122"/>
              </a:endParaRPr>
            </a:p>
          </p:txBody>
        </p:sp>
        <p:sp>
          <p:nvSpPr>
            <p:cNvPr id="163929"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63930"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63931"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63932"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63933"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63934"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63935"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63936"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63937"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63938"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63939"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19844" name="未知"/>
          <p:cNvSpPr/>
          <p:nvPr/>
        </p:nvSpPr>
        <p:spPr>
          <a:xfrm>
            <a:off x="4078288" y="4524375"/>
            <a:ext cx="914400" cy="1066800"/>
          </a:xfrm>
          <a:custGeom>
            <a:avLst/>
            <a:gdLst/>
            <a:ahLst/>
            <a:cxnLst>
              <a:cxn ang="0">
                <a:pos x="0" y="0"/>
              </a:cxn>
              <a:cxn ang="0">
                <a:pos x="2147483646" y="2147483646"/>
              </a:cxn>
              <a:cxn ang="0">
                <a:pos x="2147483646" y="2147483646"/>
              </a:cxn>
            </a:cxnLst>
            <a:pathLst>
              <a:path w="605" h="356">
                <a:moveTo>
                  <a:pt x="0" y="0"/>
                </a:moveTo>
                <a:lnTo>
                  <a:pt x="592" y="8"/>
                </a:lnTo>
                <a:lnTo>
                  <a:pt x="605" y="356"/>
                </a:lnTo>
              </a:path>
            </a:pathLst>
          </a:custGeom>
          <a:noFill/>
          <a:ln w="50800" cap="flat" cmpd="sng">
            <a:solidFill>
              <a:srgbClr val="CC0000">
                <a:alpha val="100000"/>
              </a:srgbClr>
            </a:solidFill>
            <a:prstDash val="solid"/>
            <a:miter lim="800000"/>
            <a:headEnd type="none" w="med" len="med"/>
            <a:tailEnd type="stealth" w="med" len="med"/>
          </a:ln>
        </p:spPr>
        <p:txBody>
          <a:bodyPr/>
          <a:p>
            <a:endParaRPr lang="zh-CN" altLang="en-US"/>
          </a:p>
        </p:txBody>
      </p:sp>
      <p:grpSp>
        <p:nvGrpSpPr>
          <p:cNvPr id="119845" name="Group 37"/>
          <p:cNvGrpSpPr/>
          <p:nvPr/>
        </p:nvGrpSpPr>
        <p:grpSpPr>
          <a:xfrm>
            <a:off x="203200" y="3490913"/>
            <a:ext cx="3443288" cy="1516062"/>
            <a:chOff x="0" y="0"/>
            <a:chExt cx="2169" cy="1152"/>
          </a:xfrm>
        </p:grpSpPr>
        <p:sp>
          <p:nvSpPr>
            <p:cNvPr id="163889" name="Text Box 38"/>
            <p:cNvSpPr txBox="1"/>
            <p:nvPr/>
          </p:nvSpPr>
          <p:spPr>
            <a:xfrm>
              <a:off x="583" y="0"/>
              <a:ext cx="1152"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63890" name="Rectangle 39"/>
            <p:cNvSpPr/>
            <p:nvPr/>
          </p:nvSpPr>
          <p:spPr>
            <a:xfrm>
              <a:off x="1456" y="423"/>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63891" name="Rectangle 40"/>
            <p:cNvSpPr/>
            <p:nvPr/>
          </p:nvSpPr>
          <p:spPr>
            <a:xfrm>
              <a:off x="657" y="423"/>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63892" name="Rectangle 41"/>
            <p:cNvSpPr/>
            <p:nvPr/>
          </p:nvSpPr>
          <p:spPr>
            <a:xfrm>
              <a:off x="0" y="423"/>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sNO</a:t>
              </a:r>
              <a:endParaRPr lang="de-DE" altLang="en-US" sz="1800" u="sng" dirty="0"/>
            </a:p>
          </p:txBody>
        </p:sp>
        <p:sp>
          <p:nvSpPr>
            <p:cNvPr id="163893" name="Rectangle 42"/>
            <p:cNvSpPr/>
            <p:nvPr/>
          </p:nvSpPr>
          <p:spPr>
            <a:xfrm>
              <a:off x="1456" y="922"/>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63894" name="Rectangle 43"/>
            <p:cNvSpPr/>
            <p:nvPr/>
          </p:nvSpPr>
          <p:spPr>
            <a:xfrm>
              <a:off x="657" y="922"/>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63895" name="Rectangle 44"/>
            <p:cNvSpPr/>
            <p:nvPr/>
          </p:nvSpPr>
          <p:spPr>
            <a:xfrm>
              <a:off x="0" y="922"/>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63896" name="Rectangle 45"/>
            <p:cNvSpPr/>
            <p:nvPr/>
          </p:nvSpPr>
          <p:spPr>
            <a:xfrm>
              <a:off x="1456" y="653"/>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63897" name="Rectangle 46"/>
            <p:cNvSpPr/>
            <p:nvPr/>
          </p:nvSpPr>
          <p:spPr>
            <a:xfrm>
              <a:off x="657" y="653"/>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63898" name="Rectangle 47"/>
            <p:cNvSpPr/>
            <p:nvPr/>
          </p:nvSpPr>
          <p:spPr>
            <a:xfrm>
              <a:off x="0" y="653"/>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63899" name="Line 48"/>
            <p:cNvSpPr/>
            <p:nvPr/>
          </p:nvSpPr>
          <p:spPr>
            <a:xfrm>
              <a:off x="9" y="423"/>
              <a:ext cx="2160" cy="0"/>
            </a:xfrm>
            <a:prstGeom prst="line">
              <a:avLst/>
            </a:prstGeom>
            <a:ln w="28575" cap="sq" cmpd="sng">
              <a:solidFill>
                <a:schemeClr val="tx1"/>
              </a:solidFill>
              <a:prstDash val="solid"/>
              <a:headEnd type="none" w="med" len="med"/>
              <a:tailEnd type="none" w="med" len="med"/>
            </a:ln>
          </p:spPr>
        </p:sp>
        <p:sp>
          <p:nvSpPr>
            <p:cNvPr id="163900" name="Line 49"/>
            <p:cNvSpPr/>
            <p:nvPr/>
          </p:nvSpPr>
          <p:spPr>
            <a:xfrm>
              <a:off x="0" y="922"/>
              <a:ext cx="2160" cy="0"/>
            </a:xfrm>
            <a:prstGeom prst="line">
              <a:avLst/>
            </a:prstGeom>
            <a:ln w="12700" cap="flat" cmpd="sng">
              <a:solidFill>
                <a:schemeClr val="tx1"/>
              </a:solidFill>
              <a:prstDash val="solid"/>
              <a:headEnd type="none" w="med" len="med"/>
              <a:tailEnd type="none" w="med" len="med"/>
            </a:ln>
          </p:spPr>
        </p:sp>
        <p:sp>
          <p:nvSpPr>
            <p:cNvPr id="163901" name="Line 50"/>
            <p:cNvSpPr/>
            <p:nvPr/>
          </p:nvSpPr>
          <p:spPr>
            <a:xfrm>
              <a:off x="0" y="1152"/>
              <a:ext cx="2160" cy="0"/>
            </a:xfrm>
            <a:prstGeom prst="line">
              <a:avLst/>
            </a:prstGeom>
            <a:ln w="28575" cap="sq" cmpd="sng">
              <a:solidFill>
                <a:schemeClr val="tx1"/>
              </a:solidFill>
              <a:prstDash val="solid"/>
              <a:headEnd type="none" w="med" len="med"/>
              <a:tailEnd type="none" w="med" len="med"/>
            </a:ln>
          </p:spPr>
        </p:sp>
        <p:sp>
          <p:nvSpPr>
            <p:cNvPr id="163902" name="Line 51"/>
            <p:cNvSpPr/>
            <p:nvPr/>
          </p:nvSpPr>
          <p:spPr>
            <a:xfrm>
              <a:off x="0" y="423"/>
              <a:ext cx="0" cy="729"/>
            </a:xfrm>
            <a:prstGeom prst="line">
              <a:avLst/>
            </a:prstGeom>
            <a:ln w="28575" cap="sq" cmpd="sng">
              <a:solidFill>
                <a:schemeClr val="tx1"/>
              </a:solidFill>
              <a:prstDash val="solid"/>
              <a:headEnd type="none" w="med" len="med"/>
              <a:tailEnd type="none" w="med" len="med"/>
            </a:ln>
          </p:spPr>
        </p:sp>
        <p:sp>
          <p:nvSpPr>
            <p:cNvPr id="163903" name="Line 52"/>
            <p:cNvSpPr/>
            <p:nvPr/>
          </p:nvSpPr>
          <p:spPr>
            <a:xfrm>
              <a:off x="657" y="423"/>
              <a:ext cx="0" cy="729"/>
            </a:xfrm>
            <a:prstGeom prst="line">
              <a:avLst/>
            </a:prstGeom>
            <a:ln w="12700" cap="flat" cmpd="sng">
              <a:solidFill>
                <a:schemeClr val="tx1"/>
              </a:solidFill>
              <a:prstDash val="solid"/>
              <a:headEnd type="none" w="med" len="med"/>
              <a:tailEnd type="none" w="med" len="med"/>
            </a:ln>
          </p:spPr>
        </p:sp>
        <p:sp>
          <p:nvSpPr>
            <p:cNvPr id="163904" name="Line 53"/>
            <p:cNvSpPr/>
            <p:nvPr/>
          </p:nvSpPr>
          <p:spPr>
            <a:xfrm>
              <a:off x="1456" y="423"/>
              <a:ext cx="0" cy="729"/>
            </a:xfrm>
            <a:prstGeom prst="line">
              <a:avLst/>
            </a:prstGeom>
            <a:ln w="12700" cap="flat" cmpd="sng">
              <a:solidFill>
                <a:schemeClr val="tx1"/>
              </a:solidFill>
              <a:prstDash val="solid"/>
              <a:headEnd type="none" w="med" len="med"/>
              <a:tailEnd type="none" w="med" len="med"/>
            </a:ln>
          </p:spPr>
        </p:sp>
        <p:sp>
          <p:nvSpPr>
            <p:cNvPr id="163905" name="Line 54"/>
            <p:cNvSpPr/>
            <p:nvPr/>
          </p:nvSpPr>
          <p:spPr>
            <a:xfrm>
              <a:off x="2160" y="423"/>
              <a:ext cx="0" cy="499"/>
            </a:xfrm>
            <a:prstGeom prst="line">
              <a:avLst/>
            </a:prstGeom>
            <a:ln w="12700" cap="flat" cmpd="sng">
              <a:solidFill>
                <a:schemeClr val="tx1"/>
              </a:solidFill>
              <a:prstDash val="solid"/>
              <a:headEnd type="none" w="med" len="med"/>
              <a:tailEnd type="none" w="med" len="med"/>
            </a:ln>
          </p:spPr>
        </p:sp>
        <p:sp>
          <p:nvSpPr>
            <p:cNvPr id="163906" name="Line 55"/>
            <p:cNvSpPr/>
            <p:nvPr/>
          </p:nvSpPr>
          <p:spPr>
            <a:xfrm>
              <a:off x="2160" y="922"/>
              <a:ext cx="0" cy="230"/>
            </a:xfrm>
            <a:prstGeom prst="line">
              <a:avLst/>
            </a:prstGeom>
            <a:ln w="28575" cap="sq" cmpd="sng">
              <a:solidFill>
                <a:schemeClr val="tx1"/>
              </a:solidFill>
              <a:prstDash val="solid"/>
              <a:headEnd type="none" w="med" len="med"/>
              <a:tailEnd type="none" w="med" len="med"/>
            </a:ln>
          </p:spPr>
        </p:sp>
        <p:sp>
          <p:nvSpPr>
            <p:cNvPr id="163907" name="Line 56"/>
            <p:cNvSpPr/>
            <p:nvPr/>
          </p:nvSpPr>
          <p:spPr>
            <a:xfrm>
              <a:off x="0" y="653"/>
              <a:ext cx="2160" cy="0"/>
            </a:xfrm>
            <a:prstGeom prst="line">
              <a:avLst/>
            </a:prstGeom>
            <a:ln w="12700" cap="flat" cmpd="sng">
              <a:solidFill>
                <a:schemeClr val="tx1"/>
              </a:solidFill>
              <a:prstDash val="solid"/>
              <a:headEnd type="none" w="med" len="med"/>
              <a:tailEnd type="none" w="med" len="med"/>
            </a:ln>
          </p:spPr>
        </p:sp>
      </p:grpSp>
      <p:grpSp>
        <p:nvGrpSpPr>
          <p:cNvPr id="119865" name="Group 57"/>
          <p:cNvGrpSpPr/>
          <p:nvPr/>
        </p:nvGrpSpPr>
        <p:grpSpPr>
          <a:xfrm>
            <a:off x="3429000" y="3813175"/>
            <a:ext cx="2871788" cy="715963"/>
            <a:chOff x="0" y="0"/>
            <a:chExt cx="1679" cy="451"/>
          </a:xfrm>
        </p:grpSpPr>
        <p:sp>
          <p:nvSpPr>
            <p:cNvPr id="163883" name="Rectangle 58"/>
            <p:cNvSpPr/>
            <p:nvPr/>
          </p:nvSpPr>
          <p:spPr>
            <a:xfrm>
              <a:off x="0" y="0"/>
              <a:ext cx="1679" cy="451"/>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400" dirty="0">
                  <a:latin typeface="方正姚体" panose="02010601030101010101" pitchFamily="2" charset="-122"/>
                  <a:ea typeface="方正姚体" panose="02010601030101010101" pitchFamily="2" charset="-122"/>
                </a:rPr>
                <a:t>S1     </a:t>
              </a:r>
              <a:r>
                <a:rPr lang="zh-CN" altLang="en-US" sz="2400" baseline="-25000" dirty="0">
                  <a:latin typeface="方正姚体" panose="02010601030101010101" pitchFamily="2" charset="-122"/>
                  <a:ea typeface="方正姚体" panose="02010601030101010101" pitchFamily="2" charset="-122"/>
                </a:rPr>
                <a:t>S</a:t>
              </a:r>
              <a:r>
                <a:rPr lang="zh-CN" altLang="en-US" sz="2800" baseline="-25000" dirty="0">
                  <a:latin typeface="方正姚体" panose="02010601030101010101" pitchFamily="2" charset="-122"/>
                  <a:ea typeface="方正姚体" panose="02010601030101010101" pitchFamily="2" charset="-122"/>
                </a:rPr>
                <a:t>1.sid</a:t>
              </a:r>
              <a:r>
                <a:rPr lang="de-DE" altLang="en-US" sz="2800" baseline="-25000" dirty="0">
                  <a:latin typeface="方正姚体" panose="02010601030101010101" pitchFamily="2" charset="-122"/>
                  <a:ea typeface="方正姚体" panose="02010601030101010101" pitchFamily="2" charset="-122"/>
                </a:rPr>
                <a:t>=E.sNO</a:t>
              </a:r>
              <a:r>
                <a:rPr lang="zh-CN" altLang="en-US" sz="3000" dirty="0">
                  <a:latin typeface="方正姚体" panose="02010601030101010101" pitchFamily="2" charset="-122"/>
                  <a:ea typeface="方正姚体" panose="02010601030101010101" pitchFamily="2" charset="-122"/>
                </a:rPr>
                <a:t>E</a:t>
              </a:r>
              <a:endParaRPr lang="de-DE" altLang="en-US" sz="2800" dirty="0"/>
            </a:p>
          </p:txBody>
        </p:sp>
        <p:grpSp>
          <p:nvGrpSpPr>
            <p:cNvPr id="163884" name="Group 59"/>
            <p:cNvGrpSpPr/>
            <p:nvPr/>
          </p:nvGrpSpPr>
          <p:grpSpPr>
            <a:xfrm>
              <a:off x="384" y="113"/>
              <a:ext cx="182" cy="144"/>
              <a:chOff x="0" y="0"/>
              <a:chExt cx="182" cy="136"/>
            </a:xfrm>
          </p:grpSpPr>
          <p:sp>
            <p:nvSpPr>
              <p:cNvPr id="163885" name="Line 60"/>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3886" name="Line 61"/>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3887" name="Line 62"/>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3888" name="Line 63"/>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graphicFrame>
        <p:nvGraphicFramePr>
          <p:cNvPr id="119872" name="表格 119871"/>
          <p:cNvGraphicFramePr/>
          <p:nvPr/>
        </p:nvGraphicFramePr>
        <p:xfrm>
          <a:off x="200025" y="5140325"/>
          <a:ext cx="6275388" cy="1158875"/>
        </p:xfrm>
        <a:graphic>
          <a:graphicData uri="http://schemas.openxmlformats.org/drawingml/2006/table">
            <a:tbl>
              <a:tblPr/>
              <a:tblGrid>
                <a:gridCol w="896938"/>
                <a:gridCol w="1047750"/>
                <a:gridCol w="746125"/>
                <a:gridCol w="895350"/>
                <a:gridCol w="895350"/>
                <a:gridCol w="896937"/>
                <a:gridCol w="896938"/>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sNO</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score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381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19906" name="Text Box 106"/>
          <p:cNvSpPr txBox="1"/>
          <p:nvPr/>
        </p:nvSpPr>
        <p:spPr>
          <a:xfrm>
            <a:off x="4675188" y="1373188"/>
            <a:ext cx="4468812" cy="4672012"/>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10000"/>
              </a:lnSpc>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SELECT  S1.sid, sname, age, grade,               cid, score  </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FROM  S1  ，E</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Tx/>
              <a:buSzTx/>
              <a:buFont typeface="Arial" panose="020B0604020202020204" pitchFamily="34" charset="0"/>
              <a:buNone/>
            </a:pPr>
            <a:r>
              <a:rPr lang="zh-CN" altLang="en-US" dirty="0">
                <a:latin typeface="华文楷体" panose="02010600040101010101" pitchFamily="2" charset="-122"/>
                <a:ea typeface="华文楷体" panose="02010600040101010101" pitchFamily="2" charset="-122"/>
              </a:rPr>
              <a:t>WHERE S1.sid </a:t>
            </a:r>
            <a:r>
              <a:rPr lang="de-DE" altLang="en-US"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 E.sNo</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
                <a:schemeClr val="tx1"/>
              </a:buClr>
              <a:buSzPct val="110000"/>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sym typeface="Symbol" panose="05050102010706020507" pitchFamily="18" charset="2"/>
              </a:rPr>
              <a:t>如果联结条件中只包含相等比较。这种联结叫</a:t>
            </a:r>
            <a:r>
              <a:rPr lang="zh-CN" altLang="en-US" dirty="0">
                <a:solidFill>
                  <a:srgbClr val="CC0000"/>
                </a:solidFill>
                <a:latin typeface="华文楷体" panose="02010600040101010101" pitchFamily="2" charset="-122"/>
                <a:ea typeface="华文楷体" panose="02010600040101010101" pitchFamily="2" charset="-122"/>
                <a:sym typeface="Symbol" panose="05050102010706020507" pitchFamily="18" charset="2"/>
              </a:rPr>
              <a:t>等联结（EQUIJOIN）。这是条件联结的特例</a:t>
            </a:r>
            <a:r>
              <a:rPr lang="zh-CN" altLang="en-US" dirty="0">
                <a:solidFill>
                  <a:srgbClr val="000099"/>
                </a:solidFill>
                <a:latin typeface="华文楷体" panose="02010600040101010101" pitchFamily="2" charset="-122"/>
                <a:ea typeface="华文楷体" panose="02010600040101010101" pitchFamily="2" charset="-122"/>
                <a:sym typeface="Symbol" panose="05050102010706020507" pitchFamily="18" charset="2"/>
              </a:rPr>
              <a:t>。</a:t>
            </a:r>
            <a:endParaRPr lang="zh-CN" altLang="en-US" dirty="0">
              <a:solidFill>
                <a:srgbClr val="000099"/>
              </a:solidFill>
              <a:latin typeface="华文楷体" panose="02010600040101010101" pitchFamily="2" charset="-122"/>
              <a:ea typeface="华文楷体" panose="02010600040101010101" pitchFamily="2" charset="-122"/>
              <a:sym typeface="Symbol" panose="05050102010706020507" pitchFamily="18" charset="2"/>
            </a:endParaRPr>
          </a:p>
          <a:p>
            <a:pPr marL="457200" lvl="0" indent="-457200" eaLnBrk="1" hangingPunct="1">
              <a:lnSpc>
                <a:spcPct val="110000"/>
              </a:lnSpc>
              <a:spcBef>
                <a:spcPts val="300"/>
              </a:spcBef>
              <a:buClrTx/>
              <a:buSzTx/>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rPr>
              <a:t>要求条件是等式, 即两个可能不同名的属性的值相等。（暗含两属性的数据类型一致）</a:t>
            </a:r>
            <a:endParaRPr lang="zh-CN" altLang="en-US" dirty="0">
              <a:latin typeface="华文楷体" panose="02010600040101010101" pitchFamily="2" charset="-122"/>
              <a:ea typeface="华文楷体" panose="02010600040101010101" pitchFamily="2" charset="-122"/>
            </a:endParaRPr>
          </a:p>
          <a:p>
            <a:pPr marL="457200" lvl="0" indent="-457200" eaLnBrk="1" hangingPunct="1">
              <a:lnSpc>
                <a:spcPct val="110000"/>
              </a:lnSpc>
              <a:spcBef>
                <a:spcPts val="300"/>
              </a:spcBef>
              <a:buClrTx/>
              <a:buSzTx/>
              <a:buFont typeface="Wingdings" panose="05000000000000000000" pitchFamily="2" charset="2"/>
              <a:buChar char="Ø"/>
            </a:pPr>
            <a:r>
              <a:rPr lang="zh-CN" altLang="en-US" dirty="0">
                <a:latin typeface="华文楷体" panose="02010600040101010101" pitchFamily="2" charset="-122"/>
                <a:ea typeface="华文楷体" panose="02010600040101010101" pitchFamily="2" charset="-122"/>
              </a:rPr>
              <a:t>由于两字段值相等，如果结果中两个字段名也相同，在等联结定义中将此重复字段在结果中去掉。</a:t>
            </a:r>
            <a:endParaRPr lang="zh-CN" altLang="en-US" dirty="0">
              <a:latin typeface="华文楷体" panose="02010600040101010101" pitchFamily="2" charset="-122"/>
              <a:ea typeface="华文楷体" panose="02010600040101010101" pitchFamily="2" charset="-122"/>
            </a:endParaRPr>
          </a:p>
        </p:txBody>
      </p:sp>
      <p:sp>
        <p:nvSpPr>
          <p:cNvPr id="16388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19811"/>
                                        </p:tgtEl>
                                        <p:attrNameLst>
                                          <p:attrName>style.visibility</p:attrName>
                                        </p:attrNameLst>
                                      </p:cBhvr>
                                      <p:to>
                                        <p:strVal val="visible"/>
                                      </p:to>
                                    </p:set>
                                    <p:animEffect transition="in" filter="box(in)">
                                      <p:cBhvr>
                                        <p:cTn id="7" dur="500"/>
                                        <p:tgtEl>
                                          <p:spTgt spid="119811"/>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19845"/>
                                        </p:tgtEl>
                                        <p:attrNameLst>
                                          <p:attrName>style.visibility</p:attrName>
                                        </p:attrNameLst>
                                      </p:cBhvr>
                                      <p:to>
                                        <p:strVal val="visible"/>
                                      </p:to>
                                    </p:set>
                                    <p:animEffect transition="in" filter="box(in)">
                                      <p:cBhvr>
                                        <p:cTn id="12" dur="500"/>
                                        <p:tgtEl>
                                          <p:spTgt spid="11984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19865"/>
                                        </p:tgtEl>
                                        <p:attrNameLst>
                                          <p:attrName>style.visibility</p:attrName>
                                        </p:attrNameLst>
                                      </p:cBhvr>
                                      <p:to>
                                        <p:strVal val="visible"/>
                                      </p:to>
                                    </p:set>
                                    <p:animEffect transition="in" filter="dissolve">
                                      <p:cBhvr>
                                        <p:cTn id="17" dur="500"/>
                                        <p:tgtEl>
                                          <p:spTgt spid="119865"/>
                                        </p:tgtEl>
                                      </p:cBhvr>
                                    </p:animEffect>
                                  </p:childTnLst>
                                </p:cTn>
                              </p:par>
                            </p:childTnLst>
                          </p:cTn>
                        </p:par>
                      </p:childTnLst>
                    </p:cTn>
                  </p:par>
                  <p:par>
                    <p:cTn id="18" fill="hold">
                      <p:stCondLst>
                        <p:cond delay="indefinite"/>
                      </p:stCondLst>
                      <p:childTnLst>
                        <p:par>
                          <p:cTn id="19" fill="hold">
                            <p:stCondLst>
                              <p:cond delay="0"/>
                            </p:stCondLst>
                            <p:childTnLst>
                              <p:par>
                                <p:cTn id="20" presetID="23" presetClass="entr" presetSubtype="16" fill="hold" nodeType="clickEffect">
                                  <p:stCondLst>
                                    <p:cond delay="0"/>
                                  </p:stCondLst>
                                  <p:childTnLst>
                                    <p:set>
                                      <p:cBhvr>
                                        <p:cTn id="21" dur="1" fill="hold">
                                          <p:stCondLst>
                                            <p:cond delay="0"/>
                                          </p:stCondLst>
                                        </p:cTn>
                                        <p:tgtEl>
                                          <p:spTgt spid="119844"/>
                                        </p:tgtEl>
                                        <p:attrNameLst>
                                          <p:attrName>style.visibility</p:attrName>
                                        </p:attrNameLst>
                                      </p:cBhvr>
                                      <p:to>
                                        <p:strVal val="visible"/>
                                      </p:to>
                                    </p:set>
                                    <p:anim calcmode="lin" valueType="num">
                                      <p:cBhvr>
                                        <p:cTn id="22" dur="500" fill="hold"/>
                                        <p:tgtEl>
                                          <p:spTgt spid="119844"/>
                                        </p:tgtEl>
                                        <p:attrNameLst>
                                          <p:attrName>ppt_w</p:attrName>
                                        </p:attrNameLst>
                                      </p:cBhvr>
                                      <p:tavLst>
                                        <p:tav tm="0">
                                          <p:val>
                                            <p:fltVal val="0.000000"/>
                                          </p:val>
                                        </p:tav>
                                        <p:tav tm="100000">
                                          <p:val>
                                            <p:strVal val="#ppt_w"/>
                                          </p:val>
                                        </p:tav>
                                      </p:tavLst>
                                    </p:anim>
                                    <p:anim calcmode="lin" valueType="num">
                                      <p:cBhvr>
                                        <p:cTn id="23" dur="500" fill="hold"/>
                                        <p:tgtEl>
                                          <p:spTgt spid="119844"/>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19872"/>
                                        </p:tgtEl>
                                        <p:attrNameLst>
                                          <p:attrName>style.visibility</p:attrName>
                                        </p:attrNameLst>
                                      </p:cBhvr>
                                      <p:to>
                                        <p:strVal val="visible"/>
                                      </p:to>
                                    </p:set>
                                    <p:animEffect transition="in" filter="dissolve">
                                      <p:cBhvr>
                                        <p:cTn id="28" dur="500"/>
                                        <p:tgtEl>
                                          <p:spTgt spid="119872"/>
                                        </p:tgtEl>
                                      </p:cBhvr>
                                    </p:animEffect>
                                  </p:childTnLst>
                                </p:cTn>
                              </p:par>
                            </p:childTnLst>
                          </p:cTn>
                        </p:par>
                      </p:childTnLst>
                    </p:cTn>
                  </p:par>
                  <p:par>
                    <p:cTn id="29" fill="hold">
                      <p:stCondLst>
                        <p:cond delay="indefinite"/>
                      </p:stCondLst>
                      <p:childTnLst>
                        <p:par>
                          <p:cTn id="30" fill="hold">
                            <p:stCondLst>
                              <p:cond delay="0"/>
                            </p:stCondLst>
                            <p:childTnLst>
                              <p:par>
                                <p:cTn id="31" presetID="17" presetClass="entr" presetSubtype="1" fill="hold" grpId="0" nodeType="clickEffect">
                                  <p:stCondLst>
                                    <p:cond delay="0"/>
                                  </p:stCondLst>
                                  <p:childTnLst>
                                    <p:set>
                                      <p:cBhvr>
                                        <p:cTn id="32" dur="1" fill="hold">
                                          <p:stCondLst>
                                            <p:cond delay="0"/>
                                          </p:stCondLst>
                                        </p:cTn>
                                        <p:tgtEl>
                                          <p:spTgt spid="119906"/>
                                        </p:tgtEl>
                                        <p:attrNameLst>
                                          <p:attrName>style.visibility</p:attrName>
                                        </p:attrNameLst>
                                      </p:cBhvr>
                                      <p:to>
                                        <p:strVal val="visible"/>
                                      </p:to>
                                    </p:set>
                                    <p:anim calcmode="lin" valueType="num">
                                      <p:cBhvr>
                                        <p:cTn id="33" dur="500" fill="hold"/>
                                        <p:tgtEl>
                                          <p:spTgt spid="119906"/>
                                        </p:tgtEl>
                                        <p:attrNameLst>
                                          <p:attrName>ppt_x</p:attrName>
                                        </p:attrNameLst>
                                      </p:cBhvr>
                                      <p:tavLst>
                                        <p:tav tm="0">
                                          <p:val>
                                            <p:strVal val="#ppt_x"/>
                                          </p:val>
                                        </p:tav>
                                        <p:tav tm="100000">
                                          <p:val>
                                            <p:strVal val="#ppt_x"/>
                                          </p:val>
                                        </p:tav>
                                      </p:tavLst>
                                    </p:anim>
                                    <p:anim calcmode="lin" valueType="num">
                                      <p:cBhvr>
                                        <p:cTn id="34" dur="500" fill="hold"/>
                                        <p:tgtEl>
                                          <p:spTgt spid="119906"/>
                                        </p:tgtEl>
                                        <p:attrNameLst>
                                          <p:attrName>ppt_y</p:attrName>
                                        </p:attrNameLst>
                                      </p:cBhvr>
                                      <p:tavLst>
                                        <p:tav tm="0">
                                          <p:val>
                                            <p:strVal val="#ppt_y-#ppt_h/2"/>
                                          </p:val>
                                        </p:tav>
                                        <p:tav tm="100000">
                                          <p:val>
                                            <p:strVal val="#ppt_y"/>
                                          </p:val>
                                        </p:tav>
                                      </p:tavLst>
                                    </p:anim>
                                    <p:anim calcmode="lin" valueType="num">
                                      <p:cBhvr>
                                        <p:cTn id="35" dur="500" fill="hold"/>
                                        <p:tgtEl>
                                          <p:spTgt spid="119906"/>
                                        </p:tgtEl>
                                        <p:attrNameLst>
                                          <p:attrName>ppt_w</p:attrName>
                                        </p:attrNameLst>
                                      </p:cBhvr>
                                      <p:tavLst>
                                        <p:tav tm="0">
                                          <p:val>
                                            <p:strVal val="#ppt_w"/>
                                          </p:val>
                                        </p:tav>
                                        <p:tav tm="100000">
                                          <p:val>
                                            <p:strVal val="#ppt_w"/>
                                          </p:val>
                                        </p:tav>
                                      </p:tavLst>
                                    </p:anim>
                                    <p:anim calcmode="lin" valueType="num">
                                      <p:cBhvr>
                                        <p:cTn id="36" dur="500" fill="hold"/>
                                        <p:tgtEl>
                                          <p:spTgt spid="11990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906"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矩形 2"/>
          <p:cNvSpPr/>
          <p:nvPr/>
        </p:nvSpPr>
        <p:spPr>
          <a:xfrm>
            <a:off x="509588" y="792163"/>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3.3自然连接</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64867" name="Rectangle 3"/>
          <p:cNvSpPr txBox="1"/>
          <p:nvPr/>
        </p:nvSpPr>
        <p:spPr>
          <a:xfrm>
            <a:off x="541338" y="1481138"/>
            <a:ext cx="8126412" cy="44418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spcBef>
                <a:spcPts val="600"/>
              </a:spcBef>
            </a:pPr>
            <a:r>
              <a:rPr lang="zh-CN" altLang="en-US" sz="2400" dirty="0">
                <a:solidFill>
                  <a:srgbClr val="CC0000"/>
                </a:solidFill>
                <a:latin typeface="华文楷体" panose="02010600040101010101" pitchFamily="2" charset="-122"/>
              </a:rPr>
              <a:t>自然联结是等联结的特例</a:t>
            </a:r>
            <a:r>
              <a:rPr lang="zh-CN" altLang="en-US" sz="2400" dirty="0">
                <a:solidFill>
                  <a:srgbClr val="000099"/>
                </a:solidFill>
                <a:latin typeface="华文楷体" panose="02010600040101010101" pitchFamily="2" charset="-122"/>
              </a:rPr>
              <a:t>，即：当等式中所涉及的字段名也相同时，可</a:t>
            </a:r>
            <a:r>
              <a:rPr lang="zh-CN" altLang="en-US" sz="2400" dirty="0">
                <a:solidFill>
                  <a:srgbClr val="990099"/>
                </a:solidFill>
                <a:latin typeface="华文楷体" panose="02010600040101010101" pitchFamily="2" charset="-122"/>
              </a:rPr>
              <a:t>省略联结条件</a:t>
            </a:r>
            <a:r>
              <a:rPr lang="zh-CN" altLang="en-US" sz="2400" dirty="0">
                <a:solidFill>
                  <a:srgbClr val="000099"/>
                </a:solidFill>
                <a:latin typeface="华文楷体" panose="02010600040101010101" pitchFamily="2" charset="-122"/>
              </a:rPr>
              <a:t>，即为：</a:t>
            </a:r>
            <a:endParaRPr lang="en-US" altLang="zh-CN" sz="2400" dirty="0">
              <a:solidFill>
                <a:srgbClr val="000099"/>
              </a:solidFill>
              <a:latin typeface="华文楷体" panose="02010600040101010101" pitchFamily="2" charset="-122"/>
            </a:endParaRPr>
          </a:p>
          <a:p>
            <a:pPr marL="533400" lvl="0" indent="-533400" eaLnBrk="1" hangingPunct="1">
              <a:lnSpc>
                <a:spcPct val="125000"/>
              </a:lnSpc>
              <a:spcBef>
                <a:spcPts val="600"/>
              </a:spcBef>
              <a:buFont typeface="Arial" panose="020B0604020202020204" pitchFamily="34" charset="0"/>
              <a:buNone/>
            </a:pPr>
            <a:r>
              <a:rPr lang="en-US" altLang="zh-CN" sz="2400" dirty="0">
                <a:solidFill>
                  <a:srgbClr val="000099"/>
                </a:solidFill>
                <a:latin typeface="华文楷体" panose="02010600040101010101" pitchFamily="2" charset="-122"/>
                <a:sym typeface="Symbol" panose="05050102010706020507" pitchFamily="18" charset="2"/>
              </a:rPr>
              <a:t>       </a:t>
            </a:r>
            <a:endParaRPr lang="zh-CN" altLang="en-US" sz="2400" dirty="0">
              <a:solidFill>
                <a:srgbClr val="000099"/>
              </a:solidFill>
              <a:latin typeface="华文楷体" panose="02010600040101010101" pitchFamily="2" charset="-122"/>
              <a:sym typeface="Symbol" panose="05050102010706020507" pitchFamily="18" charset="2"/>
            </a:endParaRPr>
          </a:p>
          <a:p>
            <a:pPr marL="533400" lvl="0" indent="-533400" eaLnBrk="1" hangingPunct="1">
              <a:lnSpc>
                <a:spcPct val="125000"/>
              </a:lnSpc>
              <a:spcBef>
                <a:spcPts val="600"/>
              </a:spcBef>
            </a:pPr>
            <a:r>
              <a:rPr lang="zh-CN" altLang="en-US" sz="2400" dirty="0">
                <a:solidFill>
                  <a:srgbClr val="000099"/>
                </a:solidFill>
                <a:latin typeface="华文楷体" panose="02010600040101010101" pitchFamily="2" charset="-122"/>
              </a:rPr>
              <a:t>例如，上例E中的sNO也是sid,则可改为 </a:t>
            </a:r>
            <a:endParaRPr lang="zh-CN" altLang="en-US" sz="2400" dirty="0">
              <a:solidFill>
                <a:srgbClr val="000099"/>
              </a:solidFill>
              <a:latin typeface="华文楷体" panose="02010600040101010101" pitchFamily="2" charset="-122"/>
            </a:endParaRPr>
          </a:p>
          <a:p>
            <a:pPr marL="533400" lvl="0" indent="-533400" eaLnBrk="1" hangingPunct="1">
              <a:lnSpc>
                <a:spcPct val="125000"/>
              </a:lnSpc>
              <a:spcBef>
                <a:spcPts val="600"/>
              </a:spcBef>
            </a:pPr>
            <a:r>
              <a:rPr lang="zh-CN" altLang="en-US" sz="2400" dirty="0">
                <a:solidFill>
                  <a:srgbClr val="000099"/>
                </a:solidFill>
                <a:latin typeface="华文楷体" panose="02010600040101010101" pitchFamily="2" charset="-122"/>
              </a:rPr>
              <a:t>查询结果同上，相应的SQL语句为：</a:t>
            </a:r>
            <a:endParaRPr lang="zh-CN" altLang="en-US" sz="2400" dirty="0">
              <a:solidFill>
                <a:srgbClr val="000099"/>
              </a:solidFill>
              <a:latin typeface="华文楷体" panose="02010600040101010101" pitchFamily="2" charset="-122"/>
            </a:endParaRPr>
          </a:p>
          <a:p>
            <a:pPr marL="533400" lvl="0" indent="-533400" eaLnBrk="1" hangingPunct="1">
              <a:lnSpc>
                <a:spcPct val="120000"/>
              </a:lnSpc>
              <a:spcBef>
                <a:spcPts val="600"/>
              </a:spcBef>
              <a:buFont typeface="Arial" panose="020B0604020202020204" pitchFamily="34" charset="0"/>
              <a:buNone/>
            </a:pPr>
            <a:r>
              <a:rPr lang="en-US" altLang="zh-CN" sz="2400" dirty="0">
                <a:solidFill>
                  <a:srgbClr val="000099"/>
                </a:solidFill>
                <a:latin typeface="华文楷体" panose="02010600040101010101" pitchFamily="2" charset="-122"/>
              </a:rPr>
              <a:t>      </a:t>
            </a:r>
            <a:r>
              <a:rPr lang="zh-CN" altLang="en-US" sz="2400" dirty="0">
                <a:solidFill>
                  <a:srgbClr val="000099"/>
                </a:solidFill>
                <a:latin typeface="华文楷体" panose="02010600040101010101" pitchFamily="2" charset="-122"/>
              </a:rPr>
              <a:t>SELECT  S1.sid, sname, age, grade,cid, score  </a:t>
            </a:r>
            <a:endParaRPr lang="zh-CN" altLang="en-US" sz="2400" dirty="0">
              <a:solidFill>
                <a:srgbClr val="000099"/>
              </a:solidFill>
              <a:latin typeface="华文楷体" panose="02010600040101010101" pitchFamily="2" charset="-122"/>
            </a:endParaRPr>
          </a:p>
          <a:p>
            <a:pPr marL="533400" lvl="0" indent="-533400" eaLnBrk="1" hangingPunct="1">
              <a:lnSpc>
                <a:spcPct val="120000"/>
              </a:lnSpc>
              <a:spcBef>
                <a:spcPts val="600"/>
              </a:spcBef>
              <a:buFont typeface="Arial" panose="020B0604020202020204" pitchFamily="34" charset="0"/>
              <a:buNone/>
            </a:pPr>
            <a:r>
              <a:rPr lang="zh-CN" altLang="en-US" sz="2400" dirty="0">
                <a:solidFill>
                  <a:srgbClr val="000099"/>
                </a:solidFill>
                <a:latin typeface="华文楷体" panose="02010600040101010101" pitchFamily="2" charset="-122"/>
              </a:rPr>
              <a:t>FROM  S1 </a:t>
            </a:r>
            <a:r>
              <a:rPr lang="zh-CN" altLang="en-US" sz="2400" i="1" dirty="0">
                <a:solidFill>
                  <a:srgbClr val="A50021"/>
                </a:solidFill>
                <a:latin typeface="华文楷体" panose="02010600040101010101" pitchFamily="2" charset="-122"/>
              </a:rPr>
              <a:t>NATURAL JOIN</a:t>
            </a:r>
            <a:r>
              <a:rPr lang="zh-CN" altLang="en-US" sz="2400" dirty="0">
                <a:solidFill>
                  <a:srgbClr val="000099"/>
                </a:solidFill>
                <a:latin typeface="华文楷体" panose="02010600040101010101" pitchFamily="2" charset="-122"/>
              </a:rPr>
              <a:t> </a:t>
            </a:r>
            <a:r>
              <a:rPr lang="en-US" altLang="zh-CN" sz="2400" dirty="0">
                <a:solidFill>
                  <a:srgbClr val="000099"/>
                </a:solidFill>
                <a:latin typeface="华文楷体" panose="02010600040101010101" pitchFamily="2" charset="-122"/>
              </a:rPr>
              <a:t> </a:t>
            </a:r>
            <a:r>
              <a:rPr lang="zh-CN" altLang="en-US" sz="2400" dirty="0">
                <a:solidFill>
                  <a:srgbClr val="000099"/>
                </a:solidFill>
                <a:latin typeface="华文楷体" panose="02010600040101010101" pitchFamily="2" charset="-122"/>
              </a:rPr>
              <a:t>E</a:t>
            </a:r>
            <a:endParaRPr lang="zh-CN" altLang="en-US" sz="2400" dirty="0">
              <a:solidFill>
                <a:srgbClr val="000099"/>
              </a:solidFill>
              <a:latin typeface="华文楷体" panose="02010600040101010101" pitchFamily="2" charset="-122"/>
              <a:sym typeface="Symbol" panose="05050102010706020507" pitchFamily="18" charset="2"/>
            </a:endParaRPr>
          </a:p>
        </p:txBody>
      </p:sp>
      <p:pic>
        <p:nvPicPr>
          <p:cNvPr id="164868" name="Picture 18" descr="BIRD_OF"/>
          <p:cNvPicPr>
            <a:picLocks noChangeAspect="1"/>
          </p:cNvPicPr>
          <p:nvPr/>
        </p:nvPicPr>
        <p:blipFill>
          <a:blip r:embed="rId1"/>
          <a:stretch>
            <a:fillRect/>
          </a:stretch>
        </p:blipFill>
        <p:spPr>
          <a:xfrm>
            <a:off x="6772275" y="3925888"/>
            <a:ext cx="2103438" cy="2378075"/>
          </a:xfrm>
          <a:prstGeom prst="rect">
            <a:avLst/>
          </a:prstGeom>
          <a:noFill/>
          <a:ln w="9525">
            <a:noFill/>
          </a:ln>
        </p:spPr>
      </p:pic>
      <p:sp>
        <p:nvSpPr>
          <p:cNvPr id="164869" name="Rectangle 57"/>
          <p:cNvSpPr/>
          <p:nvPr/>
        </p:nvSpPr>
        <p:spPr>
          <a:xfrm>
            <a:off x="2119313" y="2317750"/>
            <a:ext cx="2655887" cy="641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000" dirty="0">
                <a:latin typeface="方正姚体" panose="02010601030101010101" pitchFamily="2" charset="-122"/>
                <a:ea typeface="方正姚体" panose="02010601030101010101" pitchFamily="2" charset="-122"/>
              </a:rPr>
              <a:t>S</a:t>
            </a:r>
            <a:r>
              <a:rPr lang="zh-CN" altLang="en-US" sz="2800" dirty="0">
                <a:latin typeface="方正姚体" panose="02010601030101010101" pitchFamily="2" charset="-122"/>
                <a:ea typeface="方正姚体" panose="02010601030101010101" pitchFamily="2" charset="-122"/>
              </a:rPr>
              <a:t>1      E</a:t>
            </a:r>
            <a:endParaRPr lang="de-DE" altLang="en-US" sz="2800" dirty="0"/>
          </a:p>
        </p:txBody>
      </p:sp>
      <p:sp>
        <p:nvSpPr>
          <p:cNvPr id="164870" name="Line 59"/>
          <p:cNvSpPr/>
          <p:nvPr/>
        </p:nvSpPr>
        <p:spPr>
          <a:xfrm>
            <a:off x="2673350" y="2565400"/>
            <a:ext cx="0" cy="260350"/>
          </a:xfrm>
          <a:prstGeom prst="line">
            <a:avLst/>
          </a:prstGeom>
          <a:ln w="38100" cap="flat" cmpd="sng">
            <a:solidFill>
              <a:schemeClr val="tx1"/>
            </a:solidFill>
            <a:prstDash val="solid"/>
            <a:headEnd type="none" w="med" len="med"/>
            <a:tailEnd type="none" w="med" len="med"/>
          </a:ln>
        </p:spPr>
      </p:sp>
      <p:sp>
        <p:nvSpPr>
          <p:cNvPr id="164871" name="Line 61"/>
          <p:cNvSpPr/>
          <p:nvPr/>
        </p:nvSpPr>
        <p:spPr>
          <a:xfrm>
            <a:off x="2673350" y="2565400"/>
            <a:ext cx="301625" cy="260350"/>
          </a:xfrm>
          <a:prstGeom prst="line">
            <a:avLst/>
          </a:prstGeom>
          <a:ln w="38100" cap="flat" cmpd="sng">
            <a:solidFill>
              <a:schemeClr val="tx1"/>
            </a:solidFill>
            <a:prstDash val="solid"/>
            <a:headEnd type="none" w="med" len="med"/>
            <a:tailEnd type="none" w="med" len="med"/>
          </a:ln>
        </p:spPr>
      </p:sp>
      <p:sp>
        <p:nvSpPr>
          <p:cNvPr id="164872" name="Line 62"/>
          <p:cNvSpPr/>
          <p:nvPr/>
        </p:nvSpPr>
        <p:spPr>
          <a:xfrm flipH="1">
            <a:off x="2673350" y="2565400"/>
            <a:ext cx="301625" cy="260350"/>
          </a:xfrm>
          <a:prstGeom prst="line">
            <a:avLst/>
          </a:prstGeom>
          <a:ln w="38100" cap="flat" cmpd="sng">
            <a:solidFill>
              <a:schemeClr val="tx1"/>
            </a:solidFill>
            <a:prstDash val="solid"/>
            <a:headEnd type="none" w="med" len="med"/>
            <a:tailEnd type="none" w="med" len="med"/>
          </a:ln>
        </p:spPr>
      </p:sp>
      <p:sp>
        <p:nvSpPr>
          <p:cNvPr id="164873" name="Line 59"/>
          <p:cNvSpPr/>
          <p:nvPr/>
        </p:nvSpPr>
        <p:spPr>
          <a:xfrm>
            <a:off x="2970213" y="2573338"/>
            <a:ext cx="0" cy="260350"/>
          </a:xfrm>
          <a:prstGeom prst="line">
            <a:avLst/>
          </a:prstGeom>
          <a:ln w="38100" cap="flat" cmpd="sng">
            <a:solidFill>
              <a:schemeClr val="tx1"/>
            </a:solidFill>
            <a:prstDash val="solid"/>
            <a:headEnd type="none" w="med" len="med"/>
            <a:tailEnd type="none" w="med" len="med"/>
          </a:ln>
        </p:spPr>
      </p:sp>
      <p:sp>
        <p:nvSpPr>
          <p:cNvPr id="16487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9" name="Rectangle 3"/>
          <p:cNvSpPr txBox="1"/>
          <p:nvPr/>
        </p:nvSpPr>
        <p:spPr>
          <a:xfrm>
            <a:off x="611188" y="1125538"/>
            <a:ext cx="8077200" cy="47561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r>
              <a:rPr lang="zh-CN" altLang="en-US" sz="2400" dirty="0">
                <a:latin typeface="华文楷体" panose="02010600040101010101" pitchFamily="2" charset="-122"/>
              </a:rPr>
              <a:t>一个大学数据库有以下关系</a:t>
            </a:r>
            <a:endParaRPr lang="zh-CN" altLang="en-US" sz="24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教师 T（</a:t>
            </a:r>
            <a:r>
              <a:rPr lang="zh-CN" altLang="en-US" sz="2200" u="sng" dirty="0">
                <a:latin typeface="华文楷体" panose="02010600040101010101" pitchFamily="2" charset="-122"/>
              </a:rPr>
              <a:t>Tid</a:t>
            </a:r>
            <a:r>
              <a:rPr lang="zh-CN" altLang="en-US" sz="2200" dirty="0">
                <a:latin typeface="华文楷体" panose="02010600040101010101" pitchFamily="2" charset="-122"/>
              </a:rPr>
              <a:t>，Tname, Title)</a:t>
            </a:r>
            <a:endParaRPr lang="zh-CN" altLang="en-US" sz="22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课程 C（</a:t>
            </a:r>
            <a:r>
              <a:rPr lang="zh-CN" altLang="en-US" sz="2200" u="sng" dirty="0">
                <a:latin typeface="华文楷体" panose="02010600040101010101" pitchFamily="2" charset="-122"/>
              </a:rPr>
              <a:t>Cid</a:t>
            </a:r>
            <a:r>
              <a:rPr lang="zh-CN" altLang="en-US" sz="2200" dirty="0">
                <a:latin typeface="华文楷体" panose="02010600040101010101" pitchFamily="2" charset="-122"/>
              </a:rPr>
              <a:t>，Cname，Tid)</a:t>
            </a:r>
            <a:endParaRPr lang="zh-CN" altLang="en-US" sz="22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学生 S（</a:t>
            </a:r>
            <a:r>
              <a:rPr lang="zh-CN" altLang="en-US" sz="2200" u="sng" dirty="0">
                <a:latin typeface="华文楷体" panose="02010600040101010101" pitchFamily="2" charset="-122"/>
              </a:rPr>
              <a:t>Sid</a:t>
            </a:r>
            <a:r>
              <a:rPr lang="zh-CN" altLang="en-US" sz="2200" dirty="0">
                <a:latin typeface="华文楷体" panose="02010600040101010101" pitchFamily="2" charset="-122"/>
              </a:rPr>
              <a:t>，Sname, Age，Gender）</a:t>
            </a:r>
            <a:endParaRPr lang="zh-CN" altLang="en-US" sz="22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en-US" altLang="zh-CN" sz="2200" dirty="0">
                <a:latin typeface="华文楷体" panose="02010600040101010101" pitchFamily="2" charset="-122"/>
              </a:rPr>
              <a:t>--</a:t>
            </a:r>
            <a:r>
              <a:rPr lang="zh-CN" altLang="en-US" sz="2200" dirty="0">
                <a:latin typeface="华文楷体" panose="02010600040101010101" pitchFamily="2" charset="-122"/>
              </a:rPr>
              <a:t>选课 SC（</a:t>
            </a:r>
            <a:r>
              <a:rPr lang="zh-CN" altLang="en-US" sz="2200" u="sng" dirty="0">
                <a:latin typeface="华文楷体" panose="02010600040101010101" pitchFamily="2" charset="-122"/>
              </a:rPr>
              <a:t>Sid， Cid</a:t>
            </a:r>
            <a:r>
              <a:rPr lang="zh-CN" altLang="en-US" sz="2200" dirty="0">
                <a:latin typeface="华文楷体" panose="02010600040101010101" pitchFamily="2" charset="-122"/>
              </a:rPr>
              <a:t>， Score) </a:t>
            </a:r>
            <a:endParaRPr lang="zh-CN" altLang="en-US" sz="2200" dirty="0">
              <a:latin typeface="华文楷体" panose="02010600040101010101" pitchFamily="2" charset="-122"/>
            </a:endParaRPr>
          </a:p>
          <a:p>
            <a:pPr marL="342900" lvl="0" indent="-342900" eaLnBrk="1" hangingPunct="1">
              <a:lnSpc>
                <a:spcPct val="125000"/>
              </a:lnSpc>
              <a:spcBef>
                <a:spcPts val="600"/>
              </a:spcBef>
            </a:pPr>
            <a:r>
              <a:rPr lang="zh-CN" altLang="en-US" sz="2400" dirty="0">
                <a:latin typeface="华文楷体" panose="02010600040101010101" pitchFamily="2" charset="-122"/>
              </a:rPr>
              <a:t>要求查询学习课程号为C123的学生的学号和成绩。</a:t>
            </a:r>
            <a:endParaRPr lang="zh-CN" altLang="en-US" sz="2400" dirty="0">
              <a:latin typeface="华文楷体" panose="02010600040101010101" pitchFamily="2" charset="-122"/>
            </a:endParaRPr>
          </a:p>
          <a:p>
            <a:pPr marL="742950" lvl="1" indent="-285750" eaLnBrk="1" hangingPunct="1">
              <a:buFont typeface="Arial" panose="020B0604020202020204" pitchFamily="34" charset="0"/>
              <a:buNone/>
            </a:pPr>
            <a:r>
              <a:rPr lang="en-US" altLang="zh-CN" dirty="0">
                <a:latin typeface="华文楷体" panose="02010600040101010101" pitchFamily="2" charset="-122"/>
              </a:rPr>
              <a:t>--</a:t>
            </a:r>
            <a:r>
              <a:rPr lang="zh-CN" altLang="en-US" dirty="0">
                <a:latin typeface="华文楷体" panose="02010600040101010101" pitchFamily="2" charset="-122"/>
              </a:rPr>
              <a:t> </a:t>
            </a:r>
            <a:r>
              <a:rPr lang="el-GR" altLang="en-US" dirty="0">
                <a:latin typeface="华文楷体" panose="02010600040101010101" pitchFamily="2" charset="-122"/>
              </a:rPr>
              <a:t>π</a:t>
            </a:r>
            <a:r>
              <a:rPr lang="zh-CN" altLang="en-US" baseline="-25000" dirty="0">
                <a:latin typeface="华文楷体" panose="02010600040101010101" pitchFamily="2" charset="-122"/>
              </a:rPr>
              <a:t>S</a:t>
            </a:r>
            <a:r>
              <a:rPr lang="el-GR" altLang="en-US" baseline="-25000" dirty="0">
                <a:latin typeface="华文楷体" panose="02010600040101010101" pitchFamily="2" charset="-122"/>
              </a:rPr>
              <a:t>id</a:t>
            </a:r>
            <a:r>
              <a:rPr lang="zh-CN" altLang="en-US" baseline="-25000" dirty="0">
                <a:latin typeface="华文楷体" panose="02010600040101010101" pitchFamily="2" charset="-122"/>
              </a:rPr>
              <a:t>,Score</a:t>
            </a:r>
            <a:r>
              <a:rPr lang="zh-CN" altLang="en-US" dirty="0">
                <a:latin typeface="华文楷体" panose="02010600040101010101" pitchFamily="2" charset="-122"/>
              </a:rPr>
              <a:t>(</a:t>
            </a:r>
            <a:r>
              <a:rPr lang="el-GR" altLang="en-US" dirty="0">
                <a:latin typeface="华文楷体" panose="02010600040101010101" pitchFamily="2" charset="-122"/>
              </a:rPr>
              <a:t>σ</a:t>
            </a:r>
            <a:r>
              <a:rPr lang="zh-CN" altLang="en-US" dirty="0">
                <a:latin typeface="华文楷体" panose="02010600040101010101" pitchFamily="2" charset="-122"/>
              </a:rPr>
              <a:t> </a:t>
            </a:r>
            <a:r>
              <a:rPr lang="zh-CN" altLang="en-US" baseline="-25000" dirty="0">
                <a:latin typeface="华文楷体" panose="02010600040101010101" pitchFamily="2" charset="-122"/>
              </a:rPr>
              <a:t>C</a:t>
            </a:r>
            <a:r>
              <a:rPr lang="el-GR" altLang="en-US" baseline="-25000" dirty="0">
                <a:latin typeface="华文楷体" panose="02010600040101010101" pitchFamily="2" charset="-122"/>
              </a:rPr>
              <a:t>id</a:t>
            </a:r>
            <a:r>
              <a:rPr lang="zh-CN" altLang="en-US" baseline="-25000" dirty="0">
                <a:latin typeface="华文楷体" panose="02010600040101010101" pitchFamily="2" charset="-122"/>
              </a:rPr>
              <a:t>=‘C123’</a:t>
            </a:r>
            <a:r>
              <a:rPr lang="zh-CN" altLang="en-US" dirty="0">
                <a:latin typeface="华文楷体" panose="02010600040101010101" pitchFamily="2" charset="-122"/>
              </a:rPr>
              <a:t> (SC))</a:t>
            </a:r>
            <a:endParaRPr lang="zh-CN" altLang="en-US" dirty="0">
              <a:latin typeface="华文楷体" panose="02010600040101010101" pitchFamily="2" charset="-122"/>
            </a:endParaRPr>
          </a:p>
          <a:p>
            <a:pPr marL="342900" lvl="0" indent="-342900" eaLnBrk="1" hangingPunct="1">
              <a:lnSpc>
                <a:spcPct val="120000"/>
              </a:lnSpc>
            </a:pPr>
            <a:r>
              <a:rPr lang="zh-CN" altLang="en-US" sz="2400" dirty="0">
                <a:solidFill>
                  <a:srgbClr val="990099"/>
                </a:solidFill>
                <a:latin typeface="华文楷体" panose="02010600040101010101" pitchFamily="2" charset="-122"/>
              </a:rPr>
              <a:t>也可以用属性位置来查询</a:t>
            </a:r>
            <a:endParaRPr lang="zh-CN" altLang="en-US" sz="2400" dirty="0">
              <a:solidFill>
                <a:srgbClr val="990099"/>
              </a:solidFill>
              <a:latin typeface="华文楷体" panose="02010600040101010101" pitchFamily="2" charset="-122"/>
            </a:endParaRPr>
          </a:p>
          <a:p>
            <a:pPr marL="742950" lvl="1" indent="-285750" eaLnBrk="1" hangingPunct="1">
              <a:buFont typeface="Arial" panose="020B0604020202020204" pitchFamily="34" charset="0"/>
              <a:buNone/>
            </a:pPr>
            <a:r>
              <a:rPr lang="en-US" altLang="zh-CN" dirty="0">
                <a:latin typeface="华文楷体" panose="02010600040101010101" pitchFamily="2" charset="-122"/>
              </a:rPr>
              <a:t>--</a:t>
            </a:r>
            <a:r>
              <a:rPr lang="zh-CN" altLang="en-US" dirty="0">
                <a:latin typeface="华文楷体" panose="02010600040101010101" pitchFamily="2" charset="-122"/>
              </a:rPr>
              <a:t> </a:t>
            </a:r>
            <a:r>
              <a:rPr lang="el-GR" altLang="en-US" dirty="0">
                <a:latin typeface="华文楷体" panose="02010600040101010101" pitchFamily="2" charset="-122"/>
              </a:rPr>
              <a:t>π</a:t>
            </a:r>
            <a:r>
              <a:rPr lang="el-GR" altLang="en-US" baseline="-25000" dirty="0">
                <a:latin typeface="华文楷体" panose="02010600040101010101" pitchFamily="2" charset="-122"/>
              </a:rPr>
              <a:t>1</a:t>
            </a:r>
            <a:r>
              <a:rPr lang="zh-CN" altLang="en-US" baseline="-25000" dirty="0">
                <a:latin typeface="华文楷体" panose="02010600040101010101" pitchFamily="2" charset="-122"/>
              </a:rPr>
              <a:t>,3 </a:t>
            </a:r>
            <a:r>
              <a:rPr lang="zh-CN" altLang="en-US" dirty="0">
                <a:latin typeface="华文楷体" panose="02010600040101010101" pitchFamily="2" charset="-122"/>
              </a:rPr>
              <a:t>(</a:t>
            </a:r>
            <a:r>
              <a:rPr lang="el-GR" altLang="en-US" dirty="0">
                <a:latin typeface="华文楷体" panose="02010600040101010101" pitchFamily="2" charset="-122"/>
              </a:rPr>
              <a:t>σ</a:t>
            </a:r>
            <a:r>
              <a:rPr lang="zh-CN" altLang="en-US" baseline="-25000" dirty="0">
                <a:latin typeface="华文楷体" panose="02010600040101010101" pitchFamily="2" charset="-122"/>
              </a:rPr>
              <a:t> 2 =‘C123’</a:t>
            </a:r>
            <a:r>
              <a:rPr lang="zh-CN" altLang="en-US" dirty="0">
                <a:latin typeface="华文楷体" panose="02010600040101010101" pitchFamily="2" charset="-122"/>
              </a:rPr>
              <a:t> (SC))</a:t>
            </a:r>
            <a:endParaRPr lang="zh-CN" altLang="en-US" dirty="0">
              <a:latin typeface="华文楷体" panose="02010600040101010101" pitchFamily="2" charset="-122"/>
            </a:endParaRPr>
          </a:p>
        </p:txBody>
      </p:sp>
      <p:sp>
        <p:nvSpPr>
          <p:cNvPr id="16589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1859">
                                            <p:txEl>
                                              <p:charRg st="141" end="174"/>
                                            </p:txEl>
                                          </p:spTgt>
                                        </p:tgtEl>
                                        <p:attrNameLst>
                                          <p:attrName>style.visibility</p:attrName>
                                        </p:attrNameLst>
                                      </p:cBhvr>
                                      <p:to>
                                        <p:strVal val="visible"/>
                                      </p:to>
                                    </p:set>
                                    <p:animEffect transition="in" filter="dissolve">
                                      <p:cBhvr>
                                        <p:cTn id="7" dur="500"/>
                                        <p:tgtEl>
                                          <p:spTgt spid="121859">
                                            <p:txEl>
                                              <p:charRg st="141" end="174"/>
                                            </p:txEl>
                                          </p:spTgt>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121859">
                                            <p:txEl>
                                              <p:charRg st="174" end="186"/>
                                            </p:txEl>
                                          </p:spTgt>
                                        </p:tgtEl>
                                        <p:attrNameLst>
                                          <p:attrName>style.visibility</p:attrName>
                                        </p:attrNameLst>
                                      </p:cBhvr>
                                      <p:to>
                                        <p:strVal val="visible"/>
                                      </p:to>
                                    </p:set>
                                    <p:anim calcmode="lin" valueType="num">
                                      <p:cBhvr>
                                        <p:cTn id="12" dur="500" fill="hold"/>
                                        <p:tgtEl>
                                          <p:spTgt spid="121859">
                                            <p:txEl>
                                              <p:charRg st="174" end="186"/>
                                            </p:txEl>
                                          </p:spTgt>
                                        </p:tgtEl>
                                        <p:attrNameLst>
                                          <p:attrName>ppt_w</p:attrName>
                                        </p:attrNameLst>
                                      </p:cBhvr>
                                      <p:tavLst>
                                        <p:tav tm="0">
                                          <p:val>
                                            <p:fltVal val="0.000000"/>
                                          </p:val>
                                        </p:tav>
                                        <p:tav tm="100000">
                                          <p:val>
                                            <p:strVal val="#ppt_w"/>
                                          </p:val>
                                        </p:tav>
                                      </p:tavLst>
                                    </p:anim>
                                    <p:anim calcmode="lin" valueType="num">
                                      <p:cBhvr>
                                        <p:cTn id="13" dur="500" fill="hold"/>
                                        <p:tgtEl>
                                          <p:spTgt spid="121859">
                                            <p:txEl>
                                              <p:charRg st="174" end="186"/>
                                            </p:txEl>
                                          </p:spTgt>
                                        </p:tgtEl>
                                        <p:attrNameLst>
                                          <p:attrName>ppt_h</p:attrName>
                                        </p:attrNameLst>
                                      </p:cBhvr>
                                      <p:tavLst>
                                        <p:tav tm="0">
                                          <p:val>
                                            <p:fltVal val="0.000000"/>
                                          </p:val>
                                        </p:tav>
                                        <p:tav tm="100000">
                                          <p:val>
                                            <p:strVal val="#ppt_h"/>
                                          </p:val>
                                        </p:tav>
                                      </p:tavLst>
                                    </p:anim>
                                    <p:anim calcmode="lin" valueType="num">
                                      <p:cBhvr>
                                        <p:cTn id="14" dur="500" fill="hold"/>
                                        <p:tgtEl>
                                          <p:spTgt spid="121859">
                                            <p:txEl>
                                              <p:charRg st="174" end="186"/>
                                            </p:txEl>
                                          </p:spTgt>
                                        </p:tgtEl>
                                        <p:attrNameLst>
                                          <p:attrName>style.rotation</p:attrName>
                                        </p:attrNameLst>
                                      </p:cBhvr>
                                      <p:tavLst>
                                        <p:tav tm="0">
                                          <p:val>
                                            <p:fltVal val="360.000000"/>
                                          </p:val>
                                        </p:tav>
                                        <p:tav tm="100000">
                                          <p:val>
                                            <p:fltVal val="0.000000"/>
                                          </p:val>
                                        </p:tav>
                                      </p:tavLst>
                                    </p:anim>
                                    <p:animEffect transition="in" filter="fade">
                                      <p:cBhvr>
                                        <p:cTn id="15" dur="500"/>
                                        <p:tgtEl>
                                          <p:spTgt spid="121859">
                                            <p:txEl>
                                              <p:charRg st="174" end="18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1859">
                                            <p:txEl>
                                              <p:charRg st="186" end="213"/>
                                            </p:txEl>
                                          </p:spTgt>
                                        </p:tgtEl>
                                        <p:attrNameLst>
                                          <p:attrName>style.visibility</p:attrName>
                                        </p:attrNameLst>
                                      </p:cBhvr>
                                      <p:to>
                                        <p:strVal val="visible"/>
                                      </p:to>
                                    </p:set>
                                    <p:animEffect transition="in" filter="dissolve">
                                      <p:cBhvr>
                                        <p:cTn id="20" dur="500"/>
                                        <p:tgtEl>
                                          <p:spTgt spid="121859">
                                            <p:txEl>
                                              <p:charRg st="186" end="2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矩形 2"/>
          <p:cNvSpPr/>
          <p:nvPr/>
        </p:nvSpPr>
        <p:spPr>
          <a:xfrm>
            <a:off x="509588" y="749300"/>
            <a:ext cx="8375650" cy="631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p"/>
            </a:pPr>
            <a:r>
              <a:rPr lang="zh-CN" altLang="en-US" sz="2600" dirty="0">
                <a:solidFill>
                  <a:srgbClr val="FF3300"/>
                </a:solidFill>
                <a:latin typeface="黑体" panose="02010609060101010101" pitchFamily="49" charset="-122"/>
                <a:ea typeface="黑体" panose="02010609060101010101" pitchFamily="49" charset="-122"/>
              </a:rPr>
              <a:t>例子</a:t>
            </a:r>
            <a:endParaRPr lang="zh-CN" altLang="en-US" sz="2600" dirty="0">
              <a:solidFill>
                <a:srgbClr val="FF3300"/>
              </a:solidFill>
              <a:latin typeface="黑体" panose="02010609060101010101" pitchFamily="49" charset="-122"/>
              <a:ea typeface="黑体" panose="02010609060101010101" pitchFamily="49" charset="-122"/>
            </a:endParaRPr>
          </a:p>
        </p:txBody>
      </p:sp>
      <p:sp>
        <p:nvSpPr>
          <p:cNvPr id="122883" name="Rectangle 2"/>
          <p:cNvSpPr txBox="1"/>
          <p:nvPr/>
        </p:nvSpPr>
        <p:spPr>
          <a:xfrm>
            <a:off x="303213" y="1406525"/>
            <a:ext cx="8281987" cy="5321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教师 T（</a:t>
            </a:r>
            <a:r>
              <a:rPr lang="zh-CN" altLang="en-US" sz="2000" u="sng" dirty="0">
                <a:latin typeface="华文楷体" panose="02010600040101010101" pitchFamily="2" charset="-122"/>
              </a:rPr>
              <a:t>Tid</a:t>
            </a:r>
            <a:r>
              <a:rPr lang="zh-CN" altLang="en-US" sz="2000" dirty="0">
                <a:latin typeface="华文楷体" panose="02010600040101010101" pitchFamily="2" charset="-122"/>
              </a:rPr>
              <a:t>，Tname, Title)</a:t>
            </a:r>
            <a:endParaRPr lang="zh-CN" altLang="en-US" sz="2000" dirty="0">
              <a:latin typeface="华文楷体" panose="02010600040101010101" pitchFamily="2" charset="-122"/>
            </a:endParaRPr>
          </a:p>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课程 C（</a:t>
            </a:r>
            <a:r>
              <a:rPr lang="zh-CN" altLang="en-US" sz="2000" u="sng" dirty="0">
                <a:latin typeface="华文楷体" panose="02010600040101010101" pitchFamily="2" charset="-122"/>
              </a:rPr>
              <a:t>Cid</a:t>
            </a:r>
            <a:r>
              <a:rPr lang="zh-CN" altLang="en-US" sz="2000" dirty="0">
                <a:latin typeface="华文楷体" panose="02010600040101010101" pitchFamily="2" charset="-122"/>
              </a:rPr>
              <a:t>，Cname，Tid)</a:t>
            </a:r>
            <a:endParaRPr lang="zh-CN" altLang="en-US" sz="2000" dirty="0">
              <a:latin typeface="华文楷体" panose="02010600040101010101" pitchFamily="2" charset="-122"/>
            </a:endParaRPr>
          </a:p>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学生 S（</a:t>
            </a:r>
            <a:r>
              <a:rPr lang="zh-CN" altLang="en-US" sz="2000" u="sng" dirty="0">
                <a:latin typeface="华文楷体" panose="02010600040101010101" pitchFamily="2" charset="-122"/>
              </a:rPr>
              <a:t>Sid</a:t>
            </a:r>
            <a:r>
              <a:rPr lang="zh-CN" altLang="en-US" sz="2000" dirty="0">
                <a:latin typeface="华文楷体" panose="02010600040101010101" pitchFamily="2" charset="-122"/>
              </a:rPr>
              <a:t>，Sname, Age，Gender）</a:t>
            </a:r>
            <a:endParaRPr lang="zh-CN" altLang="en-US" sz="2000" dirty="0">
              <a:latin typeface="华文楷体" panose="02010600040101010101" pitchFamily="2" charset="-122"/>
            </a:endParaRPr>
          </a:p>
          <a:p>
            <a:pPr marL="742950" lvl="1" indent="-285750" eaLnBrk="1" hangingPunct="1">
              <a:lnSpc>
                <a:spcPct val="80000"/>
              </a:lnSpc>
              <a:buFont typeface="Arial" panose="020B0604020202020204" pitchFamily="34" charset="0"/>
              <a:buNone/>
            </a:pPr>
            <a:r>
              <a:rPr lang="zh-CN" altLang="en-US" sz="2000" dirty="0">
                <a:latin typeface="华文楷体" panose="02010600040101010101" pitchFamily="2" charset="-122"/>
              </a:rPr>
              <a:t>选课 SC（</a:t>
            </a:r>
            <a:r>
              <a:rPr lang="zh-CN" altLang="en-US" sz="2000" u="sng" dirty="0">
                <a:latin typeface="华文楷体" panose="02010600040101010101" pitchFamily="2" charset="-122"/>
              </a:rPr>
              <a:t>Sid， Cid</a:t>
            </a:r>
            <a:r>
              <a:rPr lang="zh-CN" altLang="en-US" sz="2000" dirty="0">
                <a:latin typeface="华文楷体" panose="02010600040101010101" pitchFamily="2" charset="-122"/>
              </a:rPr>
              <a:t>， Score) </a:t>
            </a:r>
            <a:endParaRPr lang="zh-CN" altLang="en-US" sz="2000" dirty="0">
              <a:latin typeface="华文楷体" panose="02010600040101010101" pitchFamily="2" charset="-122"/>
            </a:endParaRPr>
          </a:p>
          <a:p>
            <a:pPr marL="342900" lvl="0" indent="-342900" eaLnBrk="1" hangingPunct="1">
              <a:lnSpc>
                <a:spcPct val="90000"/>
              </a:lnSpc>
              <a:buFont typeface="Wingdings" panose="05000000000000000000" pitchFamily="2" charset="2"/>
              <a:buChar char="u"/>
            </a:pPr>
            <a:r>
              <a:rPr lang="zh-CN" altLang="en-US" sz="2400" dirty="0">
                <a:latin typeface="华文楷体" panose="02010600040101010101" pitchFamily="2" charset="-122"/>
              </a:rPr>
              <a:t>要求查询选修了Liu老师课程中一门的学生的学号和姓名。</a:t>
            </a:r>
            <a:endParaRPr lang="zh-CN" altLang="en-US" sz="2400" dirty="0">
              <a:latin typeface="华文楷体" panose="02010600040101010101" pitchFamily="2" charset="-122"/>
            </a:endParaRPr>
          </a:p>
          <a:p>
            <a:pPr marL="742950" lvl="1" indent="-285750" eaLnBrk="1" hangingPunct="1">
              <a:lnSpc>
                <a:spcPct val="90000"/>
              </a:lnSpc>
              <a:buFont typeface="Wingdings" panose="05000000000000000000" pitchFamily="2" charset="2"/>
              <a:buChar char="l"/>
            </a:pPr>
            <a:r>
              <a:rPr lang="zh-CN" altLang="en-US" sz="2000" dirty="0">
                <a:latin typeface="华文楷体" panose="02010600040101010101" pitchFamily="2" charset="-122"/>
              </a:rPr>
              <a:t>该查询涉及到了SC，S，C，T四个关系。</a:t>
            </a:r>
            <a:endParaRPr lang="zh-CN" altLang="en-US" sz="2000" dirty="0">
              <a:latin typeface="华文楷体" panose="02010600040101010101" pitchFamily="2" charset="-122"/>
            </a:endParaRPr>
          </a:p>
          <a:p>
            <a:pPr marL="742950" lvl="1" indent="-285750" eaLnBrk="1" hangingPunct="1">
              <a:lnSpc>
                <a:spcPct val="90000"/>
              </a:lnSpc>
              <a:buFont typeface="Wingdings" panose="05000000000000000000" pitchFamily="2" charset="2"/>
              <a:buChar char="l"/>
            </a:pPr>
            <a:r>
              <a:rPr lang="zh-CN" altLang="en-US" sz="2000" dirty="0">
                <a:latin typeface="华文楷体" panose="02010600040101010101" pitchFamily="2" charset="-122"/>
              </a:rPr>
              <a:t>将四个关系进行自然联结，然后选择Tname=‘Liu’的元组，再投影到学号和姓名属性上。</a:t>
            </a:r>
            <a:endParaRPr lang="zh-CN" altLang="en-US" sz="2000" dirty="0">
              <a:latin typeface="华文楷体" panose="02010600040101010101" pitchFamily="2" charset="-122"/>
            </a:endParaRPr>
          </a:p>
          <a:p>
            <a:pPr marL="742950" lvl="1" indent="-285750" eaLnBrk="1" hangingPunct="1">
              <a:lnSpc>
                <a:spcPct val="90000"/>
              </a:lnSpc>
              <a:spcBef>
                <a:spcPct val="0"/>
              </a:spcBef>
            </a:pPr>
            <a:r>
              <a:rPr lang="el-GR" altLang="en-US" dirty="0">
                <a:latin typeface="华文楷体" panose="02010600040101010101" pitchFamily="2" charset="-122"/>
              </a:rPr>
              <a:t>π</a:t>
            </a:r>
            <a:r>
              <a:rPr lang="zh-CN" altLang="en-US" baseline="-25000" dirty="0">
                <a:latin typeface="华文楷体" panose="02010600040101010101" pitchFamily="2" charset="-122"/>
              </a:rPr>
              <a:t>S</a:t>
            </a:r>
            <a:r>
              <a:rPr lang="el-GR" altLang="en-US" baseline="-25000" dirty="0">
                <a:latin typeface="华文楷体" panose="02010600040101010101" pitchFamily="2" charset="-122"/>
              </a:rPr>
              <a:t>id</a:t>
            </a:r>
            <a:r>
              <a:rPr lang="zh-CN" altLang="en-US" baseline="-25000" dirty="0">
                <a:latin typeface="华文楷体" panose="02010600040101010101" pitchFamily="2" charset="-122"/>
              </a:rPr>
              <a:t>,Sname</a:t>
            </a:r>
            <a:r>
              <a:rPr lang="zh-CN" altLang="en-US" dirty="0">
                <a:latin typeface="华文楷体" panose="02010600040101010101" pitchFamily="2" charset="-122"/>
              </a:rPr>
              <a:t>(</a:t>
            </a:r>
            <a:r>
              <a:rPr lang="el-GR" altLang="en-US" dirty="0">
                <a:latin typeface="华文楷体" panose="02010600040101010101" pitchFamily="2" charset="-122"/>
              </a:rPr>
              <a:t>σ</a:t>
            </a:r>
            <a:r>
              <a:rPr lang="zh-CN" altLang="en-US" dirty="0">
                <a:latin typeface="华文楷体" panose="02010600040101010101" pitchFamily="2" charset="-122"/>
              </a:rPr>
              <a:t> </a:t>
            </a:r>
            <a:r>
              <a:rPr lang="zh-CN" altLang="en-US" baseline="-25000" dirty="0">
                <a:latin typeface="华文楷体" panose="02010600040101010101" pitchFamily="2" charset="-122"/>
              </a:rPr>
              <a:t>T.Tname=‘Liu’</a:t>
            </a:r>
            <a:r>
              <a:rPr lang="zh-CN" altLang="en-US" dirty="0">
                <a:latin typeface="华文楷体" panose="02010600040101010101" pitchFamily="2" charset="-122"/>
              </a:rPr>
              <a:t> ( T    C     SC     S ))</a:t>
            </a:r>
            <a:endParaRPr lang="zh-CN" altLang="en-US" dirty="0">
              <a:latin typeface="华文楷体" panose="02010600040101010101" pitchFamily="2" charset="-122"/>
            </a:endParaRPr>
          </a:p>
          <a:p>
            <a:pPr marL="342900" lvl="0" indent="-342900" eaLnBrk="1" hangingPunct="1">
              <a:lnSpc>
                <a:spcPct val="90000"/>
              </a:lnSpc>
            </a:pPr>
            <a:r>
              <a:rPr lang="zh-CN" altLang="en-US" sz="2400" dirty="0">
                <a:solidFill>
                  <a:srgbClr val="990099"/>
                </a:solidFill>
                <a:latin typeface="华文楷体" panose="02010600040101010101" pitchFamily="2" charset="-122"/>
              </a:rPr>
              <a:t>另一个方法是：</a:t>
            </a:r>
            <a:endParaRPr lang="zh-CN" altLang="en-US" sz="2400" dirty="0">
              <a:solidFill>
                <a:srgbClr val="990099"/>
              </a:solidFill>
              <a:latin typeface="华文楷体" panose="02010600040101010101" pitchFamily="2" charset="-122"/>
            </a:endParaRPr>
          </a:p>
          <a:p>
            <a:pPr marL="742950" lvl="1" indent="-285750" eaLnBrk="1" hangingPunct="1">
              <a:lnSpc>
                <a:spcPct val="90000"/>
              </a:lnSpc>
            </a:pPr>
            <a:r>
              <a:rPr lang="zh-CN" altLang="en-US" sz="2000" dirty="0">
                <a:latin typeface="华文楷体" panose="02010600040101010101" pitchFamily="2" charset="-122"/>
              </a:rPr>
              <a:t>首先，从T     C中找到Tname=‘Liu’的行，构成一个中间结果表，表中为Liu老师所教的所有课程；</a:t>
            </a:r>
            <a:endParaRPr lang="zh-CN" altLang="en-US" sz="2000" dirty="0">
              <a:latin typeface="华文楷体" panose="02010600040101010101" pitchFamily="2" charset="-122"/>
            </a:endParaRPr>
          </a:p>
          <a:p>
            <a:pPr marL="742950" lvl="1" indent="-285750" eaLnBrk="1" hangingPunct="1">
              <a:lnSpc>
                <a:spcPct val="90000"/>
              </a:lnSpc>
            </a:pPr>
            <a:r>
              <a:rPr lang="zh-CN" altLang="en-US" sz="2000" dirty="0">
                <a:latin typeface="华文楷体" panose="02010600040101010101" pitchFamily="2" charset="-122"/>
              </a:rPr>
              <a:t>中间结果表与SC自然联结，再与S自然联结，得到另一个中间结果；</a:t>
            </a:r>
            <a:endParaRPr lang="zh-CN" altLang="en-US" sz="2000" dirty="0">
              <a:latin typeface="华文楷体" panose="02010600040101010101" pitchFamily="2" charset="-122"/>
            </a:endParaRPr>
          </a:p>
          <a:p>
            <a:pPr marL="742950" lvl="1" indent="-285750" eaLnBrk="1" hangingPunct="1">
              <a:lnSpc>
                <a:spcPct val="90000"/>
              </a:lnSpc>
            </a:pPr>
            <a:r>
              <a:rPr lang="zh-CN" altLang="en-US" sz="2000" dirty="0">
                <a:latin typeface="华文楷体" panose="02010600040101010101" pitchFamily="2" charset="-122"/>
              </a:rPr>
              <a:t>最后，从中间结果中检索出要求属性的关系。</a:t>
            </a:r>
            <a:endParaRPr lang="zh-CN" altLang="en-US" dirty="0">
              <a:latin typeface="华文楷体" panose="02010600040101010101" pitchFamily="2" charset="-122"/>
            </a:endParaRPr>
          </a:p>
        </p:txBody>
      </p:sp>
      <p:grpSp>
        <p:nvGrpSpPr>
          <p:cNvPr id="166916" name="Group 4"/>
          <p:cNvGrpSpPr/>
          <p:nvPr/>
        </p:nvGrpSpPr>
        <p:grpSpPr>
          <a:xfrm>
            <a:off x="4905375" y="3962400"/>
            <a:ext cx="1741488" cy="333375"/>
            <a:chOff x="0" y="0"/>
            <a:chExt cx="964" cy="153"/>
          </a:xfrm>
        </p:grpSpPr>
        <p:grpSp>
          <p:nvGrpSpPr>
            <p:cNvPr id="166942" name="Group 5"/>
            <p:cNvGrpSpPr/>
            <p:nvPr/>
          </p:nvGrpSpPr>
          <p:grpSpPr>
            <a:xfrm>
              <a:off x="0" y="0"/>
              <a:ext cx="182" cy="153"/>
              <a:chOff x="0" y="0"/>
              <a:chExt cx="182" cy="136"/>
            </a:xfrm>
          </p:grpSpPr>
          <p:sp>
            <p:nvSpPr>
              <p:cNvPr id="166953" name="Line 6"/>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54" name="Line 7"/>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55" name="Line 8"/>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56" name="Line 9"/>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43" name="Group 10"/>
            <p:cNvGrpSpPr/>
            <p:nvPr/>
          </p:nvGrpSpPr>
          <p:grpSpPr>
            <a:xfrm>
              <a:off x="318" y="0"/>
              <a:ext cx="182" cy="153"/>
              <a:chOff x="0" y="0"/>
              <a:chExt cx="182" cy="136"/>
            </a:xfrm>
          </p:grpSpPr>
          <p:sp>
            <p:nvSpPr>
              <p:cNvPr id="166949" name="Line 11"/>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50" name="Line 12"/>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51" name="Line 13"/>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52" name="Line 14"/>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44" name="Group 15"/>
            <p:cNvGrpSpPr/>
            <p:nvPr/>
          </p:nvGrpSpPr>
          <p:grpSpPr>
            <a:xfrm>
              <a:off x="817" y="0"/>
              <a:ext cx="182" cy="153"/>
              <a:chOff x="0" y="0"/>
              <a:chExt cx="182" cy="136"/>
            </a:xfrm>
          </p:grpSpPr>
          <p:sp>
            <p:nvSpPr>
              <p:cNvPr id="166945" name="Line 16"/>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46" name="Line 17"/>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47" name="Line 18"/>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48" name="Line 19"/>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sp>
        <p:nvSpPr>
          <p:cNvPr id="166917" name="Rectangle 20"/>
          <p:cNvSpPr/>
          <p:nvPr/>
        </p:nvSpPr>
        <p:spPr>
          <a:xfrm>
            <a:off x="914400" y="6024563"/>
            <a:ext cx="6075363" cy="387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80000"/>
              </a:lnSpc>
              <a:buClr>
                <a:schemeClr val="tx1"/>
              </a:buClr>
              <a:buSzPct val="50000"/>
              <a:buNone/>
            </a:pPr>
            <a:r>
              <a:rPr lang="el-GR" altLang="en-US" sz="2400" dirty="0">
                <a:solidFill>
                  <a:srgbClr val="0000CC"/>
                </a:solidFill>
                <a:latin typeface="Times New Roman" panose="02020603050405020304" pitchFamily="18" charset="0"/>
                <a:ea typeface="MingLiU" pitchFamily="1" charset="-120"/>
              </a:rPr>
              <a:t>π</a:t>
            </a:r>
            <a:r>
              <a:rPr lang="el-GR" altLang="en-US" sz="2400" baseline="-25000" dirty="0">
                <a:solidFill>
                  <a:srgbClr val="0000CC"/>
                </a:solidFill>
                <a:latin typeface="Times New Roman" panose="02020603050405020304" pitchFamily="18" charset="0"/>
              </a:rPr>
              <a:t>Sid</a:t>
            </a:r>
            <a:r>
              <a:rPr lang="zh-CN" altLang="en-US" sz="2400" baseline="-25000" dirty="0">
                <a:solidFill>
                  <a:srgbClr val="0000CC"/>
                </a:solidFill>
                <a:latin typeface="Times New Roman" panose="02020603050405020304" pitchFamily="18" charset="0"/>
              </a:rPr>
              <a:t>,Sname</a:t>
            </a:r>
            <a:r>
              <a:rPr lang="zh-CN" altLang="en-US" sz="2400" dirty="0">
                <a:solidFill>
                  <a:srgbClr val="0000CC"/>
                </a:solidFill>
                <a:latin typeface="Times New Roman" panose="02020603050405020304" pitchFamily="18" charset="0"/>
              </a:rPr>
              <a:t>(</a:t>
            </a:r>
            <a:r>
              <a:rPr lang="zh-CN" altLang="en-US" sz="2400" dirty="0">
                <a:solidFill>
                  <a:srgbClr val="0000CC"/>
                </a:solidFill>
                <a:latin typeface="Times New Roman" panose="02020603050405020304" pitchFamily="18" charset="0"/>
                <a:ea typeface="MingLiU" pitchFamily="1" charset="-120"/>
              </a:rPr>
              <a:t>(</a:t>
            </a:r>
            <a:r>
              <a:rPr lang="el-GR" altLang="en-US" sz="2400" dirty="0">
                <a:solidFill>
                  <a:srgbClr val="0000CC"/>
                </a:solidFill>
                <a:latin typeface="Times New Roman" panose="02020603050405020304" pitchFamily="18" charset="0"/>
                <a:ea typeface="MingLiU" pitchFamily="1" charset="-120"/>
              </a:rPr>
              <a:t>σ</a:t>
            </a:r>
            <a:r>
              <a:rPr lang="zh-CN" altLang="en-US" sz="2400" dirty="0">
                <a:solidFill>
                  <a:srgbClr val="0000CC"/>
                </a:solidFill>
                <a:latin typeface="Times New Roman" panose="02020603050405020304" pitchFamily="18" charset="0"/>
                <a:ea typeface="MingLiU" pitchFamily="1" charset="-120"/>
              </a:rPr>
              <a:t> </a:t>
            </a:r>
            <a:r>
              <a:rPr lang="zh-CN" altLang="en-US" sz="2400" baseline="-25000" dirty="0">
                <a:solidFill>
                  <a:srgbClr val="0000CC"/>
                </a:solidFill>
                <a:latin typeface="Times New Roman" panose="02020603050405020304" pitchFamily="18" charset="0"/>
              </a:rPr>
              <a:t>Tname=‘Liu’</a:t>
            </a:r>
            <a:r>
              <a:rPr lang="zh-CN" altLang="en-US" sz="2400" dirty="0">
                <a:solidFill>
                  <a:srgbClr val="0000CC"/>
                </a:solidFill>
                <a:latin typeface="Times New Roman" panose="02020603050405020304" pitchFamily="18" charset="0"/>
              </a:rPr>
              <a:t> ( T     C))      SC      S )</a:t>
            </a:r>
            <a:endParaRPr lang="zh-CN" altLang="en-US" sz="2400" dirty="0">
              <a:solidFill>
                <a:srgbClr val="0000CC"/>
              </a:solidFill>
              <a:latin typeface="Times New Roman" panose="02020603050405020304" pitchFamily="18" charset="0"/>
            </a:endParaRPr>
          </a:p>
        </p:txBody>
      </p:sp>
      <p:grpSp>
        <p:nvGrpSpPr>
          <p:cNvPr id="166918" name="Group 21"/>
          <p:cNvGrpSpPr/>
          <p:nvPr/>
        </p:nvGrpSpPr>
        <p:grpSpPr>
          <a:xfrm>
            <a:off x="5378450" y="6046788"/>
            <a:ext cx="233363" cy="230187"/>
            <a:chOff x="0" y="0"/>
            <a:chExt cx="182" cy="136"/>
          </a:xfrm>
        </p:grpSpPr>
        <p:sp>
          <p:nvSpPr>
            <p:cNvPr id="166938" name="Line 22"/>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39" name="Line 23"/>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40" name="Line 24"/>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41" name="Line 25"/>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19" name="Group 26"/>
          <p:cNvGrpSpPr/>
          <p:nvPr/>
        </p:nvGrpSpPr>
        <p:grpSpPr>
          <a:xfrm>
            <a:off x="6170613" y="6046788"/>
            <a:ext cx="233362" cy="230187"/>
            <a:chOff x="0" y="0"/>
            <a:chExt cx="182" cy="136"/>
          </a:xfrm>
        </p:grpSpPr>
        <p:sp>
          <p:nvSpPr>
            <p:cNvPr id="166934" name="Line 27"/>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35" name="Line 28"/>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36" name="Line 29"/>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37" name="Line 30"/>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20" name="Group 31"/>
          <p:cNvGrpSpPr/>
          <p:nvPr/>
        </p:nvGrpSpPr>
        <p:grpSpPr>
          <a:xfrm>
            <a:off x="4514850" y="6046788"/>
            <a:ext cx="233363" cy="230187"/>
            <a:chOff x="0" y="0"/>
            <a:chExt cx="182" cy="136"/>
          </a:xfrm>
        </p:grpSpPr>
        <p:sp>
          <p:nvSpPr>
            <p:cNvPr id="166930" name="Line 32"/>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31" name="Line 33"/>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32" name="Line 34"/>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33" name="Line 35"/>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grpSp>
        <p:nvGrpSpPr>
          <p:cNvPr id="166921" name="Group 36"/>
          <p:cNvGrpSpPr/>
          <p:nvPr/>
        </p:nvGrpSpPr>
        <p:grpSpPr>
          <a:xfrm>
            <a:off x="2390775" y="4802188"/>
            <a:ext cx="233363" cy="230187"/>
            <a:chOff x="0" y="0"/>
            <a:chExt cx="182" cy="136"/>
          </a:xfrm>
        </p:grpSpPr>
        <p:sp>
          <p:nvSpPr>
            <p:cNvPr id="166926" name="Line 37"/>
            <p:cNvSpPr/>
            <p:nvPr/>
          </p:nvSpPr>
          <p:spPr>
            <a:xfrm>
              <a:off x="0" y="0"/>
              <a:ext cx="0" cy="136"/>
            </a:xfrm>
            <a:prstGeom prst="line">
              <a:avLst/>
            </a:prstGeom>
            <a:ln w="38100" cap="flat" cmpd="sng">
              <a:solidFill>
                <a:schemeClr val="tx1"/>
              </a:solidFill>
              <a:prstDash val="solid"/>
              <a:headEnd type="none" w="med" len="med"/>
              <a:tailEnd type="none" w="med" len="med"/>
            </a:ln>
          </p:spPr>
        </p:sp>
        <p:sp>
          <p:nvSpPr>
            <p:cNvPr id="166927" name="Line 38"/>
            <p:cNvSpPr/>
            <p:nvPr/>
          </p:nvSpPr>
          <p:spPr>
            <a:xfrm>
              <a:off x="182" y="0"/>
              <a:ext cx="0" cy="136"/>
            </a:xfrm>
            <a:prstGeom prst="line">
              <a:avLst/>
            </a:prstGeom>
            <a:ln w="38100" cap="flat" cmpd="sng">
              <a:solidFill>
                <a:schemeClr val="tx1"/>
              </a:solidFill>
              <a:prstDash val="solid"/>
              <a:headEnd type="none" w="med" len="med"/>
              <a:tailEnd type="none" w="med" len="med"/>
            </a:ln>
          </p:spPr>
        </p:sp>
        <p:sp>
          <p:nvSpPr>
            <p:cNvPr id="166928" name="Line 39"/>
            <p:cNvSpPr/>
            <p:nvPr/>
          </p:nvSpPr>
          <p:spPr>
            <a:xfrm>
              <a:off x="0" y="0"/>
              <a:ext cx="182" cy="136"/>
            </a:xfrm>
            <a:prstGeom prst="line">
              <a:avLst/>
            </a:prstGeom>
            <a:ln w="38100" cap="flat" cmpd="sng">
              <a:solidFill>
                <a:schemeClr val="tx1"/>
              </a:solidFill>
              <a:prstDash val="solid"/>
              <a:headEnd type="none" w="med" len="med"/>
              <a:tailEnd type="none" w="med" len="med"/>
            </a:ln>
          </p:spPr>
        </p:sp>
        <p:sp>
          <p:nvSpPr>
            <p:cNvPr id="166929" name="Line 40"/>
            <p:cNvSpPr/>
            <p:nvPr/>
          </p:nvSpPr>
          <p:spPr>
            <a:xfrm flipH="1">
              <a:off x="0" y="0"/>
              <a:ext cx="182" cy="136"/>
            </a:xfrm>
            <a:prstGeom prst="line">
              <a:avLst/>
            </a:prstGeom>
            <a:ln w="38100" cap="flat" cmpd="sng">
              <a:solidFill>
                <a:schemeClr val="tx1"/>
              </a:solidFill>
              <a:prstDash val="solid"/>
              <a:headEnd type="none" w="med" len="med"/>
              <a:tailEnd type="none" w="med" len="med"/>
            </a:ln>
          </p:spPr>
        </p:sp>
      </p:grpSp>
      <p:sp>
        <p:nvSpPr>
          <p:cNvPr id="122921" name="Rectangle 41"/>
          <p:cNvSpPr/>
          <p:nvPr/>
        </p:nvSpPr>
        <p:spPr>
          <a:xfrm>
            <a:off x="454025" y="3956050"/>
            <a:ext cx="8240713" cy="407988"/>
          </a:xfrm>
          <a:prstGeom prst="rect">
            <a:avLst/>
          </a:prstGeom>
          <a:solidFill>
            <a:srgbClr val="F2F2F2"/>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22922" name="Rectangle 42"/>
          <p:cNvSpPr/>
          <p:nvPr/>
        </p:nvSpPr>
        <p:spPr>
          <a:xfrm>
            <a:off x="466725" y="4430713"/>
            <a:ext cx="8299450" cy="2020887"/>
          </a:xfrm>
          <a:prstGeom prst="rect">
            <a:avLst/>
          </a:prstGeom>
          <a:solidFill>
            <a:srgbClr val="F2F2F2"/>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66924" name="Line 43"/>
          <p:cNvSpPr/>
          <p:nvPr/>
        </p:nvSpPr>
        <p:spPr>
          <a:xfrm>
            <a:off x="2643188" y="1531938"/>
            <a:ext cx="1223962" cy="69850"/>
          </a:xfrm>
          <a:prstGeom prst="line">
            <a:avLst/>
          </a:prstGeom>
          <a:ln w="9525">
            <a:noFill/>
          </a:ln>
        </p:spPr>
      </p:sp>
      <p:sp>
        <p:nvSpPr>
          <p:cNvPr id="166925"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22883">
                                            <p:txEl>
                                              <p:charRg st="95" end="123"/>
                                            </p:txEl>
                                          </p:spTgt>
                                        </p:tgtEl>
                                        <p:attrNameLst>
                                          <p:attrName>style.visibility</p:attrName>
                                        </p:attrNameLst>
                                      </p:cBhvr>
                                      <p:to>
                                        <p:strVal val="visible"/>
                                      </p:to>
                                    </p:set>
                                    <p:anim calcmode="lin" valueType="num">
                                      <p:cBhvr>
                                        <p:cTn id="7" dur="500" fill="hold"/>
                                        <p:tgtEl>
                                          <p:spTgt spid="122883">
                                            <p:txEl>
                                              <p:charRg st="95" end="123"/>
                                            </p:txEl>
                                          </p:spTgt>
                                        </p:tgtEl>
                                        <p:attrNameLst>
                                          <p:attrName>ppt_w</p:attrName>
                                        </p:attrNameLst>
                                      </p:cBhvr>
                                      <p:tavLst>
                                        <p:tav tm="0">
                                          <p:val>
                                            <p:fltVal val="0.000000"/>
                                          </p:val>
                                        </p:tav>
                                        <p:tav tm="100000">
                                          <p:val>
                                            <p:strVal val="#ppt_w"/>
                                          </p:val>
                                        </p:tav>
                                      </p:tavLst>
                                    </p:anim>
                                    <p:anim calcmode="lin" valueType="num">
                                      <p:cBhvr>
                                        <p:cTn id="8" dur="500" fill="hold"/>
                                        <p:tgtEl>
                                          <p:spTgt spid="122883">
                                            <p:txEl>
                                              <p:charRg st="95" end="123"/>
                                            </p:txEl>
                                          </p:spTgt>
                                        </p:tgtEl>
                                        <p:attrNameLst>
                                          <p:attrName>ppt_h</p:attrName>
                                        </p:attrNameLst>
                                      </p:cBhvr>
                                      <p:tavLst>
                                        <p:tav tm="0">
                                          <p:val>
                                            <p:fltVal val="0.000000"/>
                                          </p:val>
                                        </p:tav>
                                        <p:tav tm="100000">
                                          <p:val>
                                            <p:strVal val="#ppt_h"/>
                                          </p:val>
                                        </p:tav>
                                      </p:tavLst>
                                    </p:anim>
                                    <p:anim calcmode="lin" valueType="num">
                                      <p:cBhvr>
                                        <p:cTn id="9" dur="500" fill="hold"/>
                                        <p:tgtEl>
                                          <p:spTgt spid="122883">
                                            <p:txEl>
                                              <p:charRg st="95" end="123"/>
                                            </p:txEl>
                                          </p:spTgt>
                                        </p:tgtEl>
                                        <p:attrNameLst>
                                          <p:attrName>style.rotation</p:attrName>
                                        </p:attrNameLst>
                                      </p:cBhvr>
                                      <p:tavLst>
                                        <p:tav tm="0">
                                          <p:val>
                                            <p:fltVal val="360.000000"/>
                                          </p:val>
                                        </p:tav>
                                        <p:tav tm="100000">
                                          <p:val>
                                            <p:fltVal val="0.000000"/>
                                          </p:val>
                                        </p:tav>
                                      </p:tavLst>
                                    </p:anim>
                                    <p:animEffect transition="in" filter="fade">
                                      <p:cBhvr>
                                        <p:cTn id="10" dur="500"/>
                                        <p:tgtEl>
                                          <p:spTgt spid="122883">
                                            <p:txEl>
                                              <p:charRg st="95" end="12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122883">
                                            <p:txEl>
                                              <p:charRg st="123" end="144"/>
                                            </p:txEl>
                                          </p:spTgt>
                                        </p:tgtEl>
                                        <p:attrNameLst>
                                          <p:attrName>style.visibility</p:attrName>
                                        </p:attrNameLst>
                                      </p:cBhvr>
                                      <p:to>
                                        <p:strVal val="visible"/>
                                      </p:to>
                                    </p:set>
                                    <p:animEffect transition="in" filter="dissolve">
                                      <p:cBhvr>
                                        <p:cTn id="15" dur="500"/>
                                        <p:tgtEl>
                                          <p:spTgt spid="122883">
                                            <p:txEl>
                                              <p:charRg st="123" end="144"/>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122883">
                                            <p:txEl>
                                              <p:charRg st="144" end="189"/>
                                            </p:txEl>
                                          </p:spTgt>
                                        </p:tgtEl>
                                        <p:attrNameLst>
                                          <p:attrName>style.visibility</p:attrName>
                                        </p:attrNameLst>
                                      </p:cBhvr>
                                      <p:to>
                                        <p:strVal val="visible"/>
                                      </p:to>
                                    </p:set>
                                    <p:animEffect transition="in" filter="dissolve">
                                      <p:cBhvr>
                                        <p:cTn id="18" dur="500"/>
                                        <p:tgtEl>
                                          <p:spTgt spid="122883">
                                            <p:txEl>
                                              <p:charRg st="144" end="189"/>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xit" presetSubtype="4" fill="hold" grpId="0" nodeType="clickEffect">
                                  <p:stCondLst>
                                    <p:cond delay="0"/>
                                  </p:stCondLst>
                                  <p:childTnLst>
                                    <p:animEffect transition="out" filter="slide(fromBottom)">
                                      <p:cBhvr>
                                        <p:cTn id="22" dur="500"/>
                                        <p:tgtEl>
                                          <p:spTgt spid="122921"/>
                                        </p:tgtEl>
                                      </p:cBhvr>
                                    </p:animEffect>
                                    <p:set>
                                      <p:cBhvr>
                                        <p:cTn id="23" dur="1" fill="hold">
                                          <p:stCondLst>
                                            <p:cond delay="499"/>
                                          </p:stCondLst>
                                        </p:cTn>
                                        <p:tgtEl>
                                          <p:spTgt spid="122921"/>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9" presetClass="entr" presetSubtype="0" decel="100000" fill="hold" nodeType="clickEffect">
                                  <p:stCondLst>
                                    <p:cond delay="0"/>
                                  </p:stCondLst>
                                  <p:childTnLst>
                                    <p:set>
                                      <p:cBhvr>
                                        <p:cTn id="27" dur="1" fill="hold">
                                          <p:stCondLst>
                                            <p:cond delay="0"/>
                                          </p:stCondLst>
                                        </p:cTn>
                                        <p:tgtEl>
                                          <p:spTgt spid="122883">
                                            <p:txEl>
                                              <p:charRg st="241" end="249"/>
                                            </p:txEl>
                                          </p:spTgt>
                                        </p:tgtEl>
                                        <p:attrNameLst>
                                          <p:attrName>style.visibility</p:attrName>
                                        </p:attrNameLst>
                                      </p:cBhvr>
                                      <p:to>
                                        <p:strVal val="visible"/>
                                      </p:to>
                                    </p:set>
                                    <p:anim calcmode="lin" valueType="num">
                                      <p:cBhvr>
                                        <p:cTn id="28" dur="500" fill="hold"/>
                                        <p:tgtEl>
                                          <p:spTgt spid="122883">
                                            <p:txEl>
                                              <p:charRg st="241" end="249"/>
                                            </p:txEl>
                                          </p:spTgt>
                                        </p:tgtEl>
                                        <p:attrNameLst>
                                          <p:attrName>ppt_w</p:attrName>
                                        </p:attrNameLst>
                                      </p:cBhvr>
                                      <p:tavLst>
                                        <p:tav tm="0">
                                          <p:val>
                                            <p:fltVal val="0.000000"/>
                                          </p:val>
                                        </p:tav>
                                        <p:tav tm="100000">
                                          <p:val>
                                            <p:strVal val="#ppt_w"/>
                                          </p:val>
                                        </p:tav>
                                      </p:tavLst>
                                    </p:anim>
                                    <p:anim calcmode="lin" valueType="num">
                                      <p:cBhvr>
                                        <p:cTn id="29" dur="500" fill="hold"/>
                                        <p:tgtEl>
                                          <p:spTgt spid="122883">
                                            <p:txEl>
                                              <p:charRg st="241" end="249"/>
                                            </p:txEl>
                                          </p:spTgt>
                                        </p:tgtEl>
                                        <p:attrNameLst>
                                          <p:attrName>ppt_h</p:attrName>
                                        </p:attrNameLst>
                                      </p:cBhvr>
                                      <p:tavLst>
                                        <p:tav tm="0">
                                          <p:val>
                                            <p:fltVal val="0.000000"/>
                                          </p:val>
                                        </p:tav>
                                        <p:tav tm="100000">
                                          <p:val>
                                            <p:strVal val="#ppt_h"/>
                                          </p:val>
                                        </p:tav>
                                      </p:tavLst>
                                    </p:anim>
                                    <p:anim calcmode="lin" valueType="num">
                                      <p:cBhvr>
                                        <p:cTn id="30" dur="500" fill="hold"/>
                                        <p:tgtEl>
                                          <p:spTgt spid="122883">
                                            <p:txEl>
                                              <p:charRg st="241" end="249"/>
                                            </p:txEl>
                                          </p:spTgt>
                                        </p:tgtEl>
                                        <p:attrNameLst>
                                          <p:attrName>style.rotation</p:attrName>
                                        </p:attrNameLst>
                                      </p:cBhvr>
                                      <p:tavLst>
                                        <p:tav tm="0">
                                          <p:val>
                                            <p:fltVal val="360.000000"/>
                                          </p:val>
                                        </p:tav>
                                        <p:tav tm="100000">
                                          <p:val>
                                            <p:fltVal val="0.000000"/>
                                          </p:val>
                                        </p:tav>
                                      </p:tavLst>
                                    </p:anim>
                                    <p:animEffect transition="in" filter="fade">
                                      <p:cBhvr>
                                        <p:cTn id="31" dur="500"/>
                                        <p:tgtEl>
                                          <p:spTgt spid="122883">
                                            <p:txEl>
                                              <p:charRg st="241" end="24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xit" presetSubtype="4" fill="hold" grpId="0" nodeType="clickEffect">
                                  <p:stCondLst>
                                    <p:cond delay="0"/>
                                  </p:stCondLst>
                                  <p:childTnLst>
                                    <p:animEffect transition="out" filter="slide(fromBottom)">
                                      <p:cBhvr>
                                        <p:cTn id="35" dur="500"/>
                                        <p:tgtEl>
                                          <p:spTgt spid="122922"/>
                                        </p:tgtEl>
                                      </p:cBhvr>
                                    </p:animEffect>
                                    <p:set>
                                      <p:cBhvr>
                                        <p:cTn id="36" dur="1" fill="hold">
                                          <p:stCondLst>
                                            <p:cond delay="499"/>
                                          </p:stCondLst>
                                        </p:cTn>
                                        <p:tgtEl>
                                          <p:spTgt spid="1229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1" grpId="0" animBg="1"/>
      <p:bldP spid="122922" grpId="0" animBg="1"/>
    </p:bld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8" name="矩形 2"/>
          <p:cNvSpPr/>
          <p:nvPr/>
        </p:nvSpPr>
        <p:spPr>
          <a:xfrm>
            <a:off x="509588" y="792163"/>
            <a:ext cx="8375650" cy="5540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2600" dirty="0">
                <a:solidFill>
                  <a:srgbClr val="0033CC"/>
                </a:solidFill>
                <a:latin typeface="黑体" panose="02010609060101010101" pitchFamily="49" charset="-122"/>
                <a:ea typeface="黑体" panose="02010609060101010101" pitchFamily="49" charset="-122"/>
              </a:rPr>
              <a:t> 课堂练习</a:t>
            </a:r>
            <a:endParaRPr lang="zh-CN" altLang="en-US" sz="2600" dirty="0">
              <a:solidFill>
                <a:srgbClr val="0033CC"/>
              </a:solidFill>
              <a:latin typeface="黑体" panose="02010609060101010101" pitchFamily="49" charset="-122"/>
              <a:ea typeface="黑体" panose="02010609060101010101" pitchFamily="49" charset="-122"/>
            </a:endParaRPr>
          </a:p>
        </p:txBody>
      </p:sp>
      <p:sp>
        <p:nvSpPr>
          <p:cNvPr id="167939" name="Rectangle 2"/>
          <p:cNvSpPr txBox="1"/>
          <p:nvPr/>
        </p:nvSpPr>
        <p:spPr>
          <a:xfrm>
            <a:off x="317500" y="1536700"/>
            <a:ext cx="8281988" cy="4703763"/>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742950" lvl="1" indent="-285750" eaLnBrk="1" hangingPunct="1">
              <a:lnSpc>
                <a:spcPct val="80000"/>
              </a:lnSpc>
              <a:buFont typeface="Arial" panose="020B0604020202020204" pitchFamily="34" charset="0"/>
              <a:buNone/>
            </a:pPr>
            <a:r>
              <a:rPr lang="zh-CN" altLang="en-US" sz="2400" dirty="0">
                <a:latin typeface="华文楷体" panose="02010600040101010101" pitchFamily="2" charset="-122"/>
              </a:rPr>
              <a:t>设有如下</a:t>
            </a:r>
            <a:r>
              <a:rPr lang="en-US" altLang="zh-CN" sz="2400" dirty="0">
                <a:latin typeface="华文楷体" panose="02010600040101010101" pitchFamily="2" charset="-122"/>
              </a:rPr>
              <a:t>3</a:t>
            </a:r>
            <a:r>
              <a:rPr lang="zh-CN" altLang="en-US" sz="2400" dirty="0">
                <a:latin typeface="华文楷体" panose="02010600040101010101" pitchFamily="2" charset="-122"/>
              </a:rPr>
              <a:t>个关系：</a:t>
            </a:r>
            <a:endParaRPr lang="en-US" altLang="zh-CN" sz="24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zh-CN" altLang="en-US" sz="2000" dirty="0">
                <a:latin typeface="华文楷体" panose="02010600040101010101" pitchFamily="2" charset="-122"/>
              </a:rPr>
              <a:t>S（</a:t>
            </a:r>
            <a:r>
              <a:rPr lang="zh-CN" altLang="en-US" sz="2000" u="sng" dirty="0">
                <a:latin typeface="华文楷体" panose="02010600040101010101" pitchFamily="2" charset="-122"/>
              </a:rPr>
              <a:t>Sid（学号）</a:t>
            </a:r>
            <a:r>
              <a:rPr lang="zh-CN" altLang="en-US" sz="2000" dirty="0">
                <a:latin typeface="华文楷体" panose="02010600040101010101" pitchFamily="2" charset="-122"/>
              </a:rPr>
              <a:t>，Sname（姓名）, Age（年龄），</a:t>
            </a:r>
            <a:r>
              <a:rPr lang="en-US" altLang="zh-CN" sz="2000" dirty="0">
                <a:latin typeface="华文楷体" panose="02010600040101010101" pitchFamily="2" charset="-122"/>
              </a:rPr>
              <a:t>Sex</a:t>
            </a:r>
            <a:r>
              <a:rPr lang="zh-CN" altLang="en-US" sz="2000" dirty="0">
                <a:latin typeface="华文楷体" panose="02010600040101010101" pitchFamily="2" charset="-122"/>
              </a:rPr>
              <a:t>（性别））</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en-US" altLang="zh-CN" sz="2000" dirty="0">
                <a:latin typeface="华文楷体" panose="02010600040101010101" pitchFamily="2" charset="-122"/>
              </a:rPr>
              <a:t>SC</a:t>
            </a:r>
            <a:r>
              <a:rPr lang="zh-CN" altLang="en-US" sz="2000" dirty="0">
                <a:latin typeface="华文楷体" panose="02010600040101010101" pitchFamily="2" charset="-122"/>
              </a:rPr>
              <a:t>（</a:t>
            </a:r>
            <a:r>
              <a:rPr lang="zh-CN" altLang="en-US" sz="2000" u="sng" dirty="0">
                <a:latin typeface="华文楷体" panose="02010600040101010101" pitchFamily="2" charset="-122"/>
              </a:rPr>
              <a:t>Sid（学号）， Cid（课程号）</a:t>
            </a:r>
            <a:r>
              <a:rPr lang="zh-CN" altLang="en-US" sz="2000" dirty="0">
                <a:latin typeface="华文楷体" panose="02010600040101010101" pitchFamily="2" charset="-122"/>
              </a:rPr>
              <a:t>， Score（成绩））</a:t>
            </a:r>
            <a:endParaRPr lang="en-US" altLang="zh-CN" sz="2000" dirty="0">
              <a:latin typeface="华文楷体" panose="02010600040101010101" pitchFamily="2" charset="-122"/>
            </a:endParaRPr>
          </a:p>
          <a:p>
            <a:pPr marL="742950" lvl="1" indent="-285750" eaLnBrk="1" hangingPunct="1">
              <a:lnSpc>
                <a:spcPct val="110000"/>
              </a:lnSpc>
              <a:buFont typeface="Arial" panose="020B0604020202020204" pitchFamily="34" charset="0"/>
              <a:buNone/>
            </a:pPr>
            <a:r>
              <a:rPr lang="en-US" altLang="zh-CN" sz="2000" dirty="0">
                <a:latin typeface="华文楷体" panose="02010600040101010101" pitchFamily="2" charset="-122"/>
              </a:rPr>
              <a:t>C</a:t>
            </a:r>
            <a:r>
              <a:rPr lang="zh-CN" altLang="en-US" sz="2000" dirty="0">
                <a:latin typeface="华文楷体" panose="02010600040101010101" pitchFamily="2" charset="-122"/>
              </a:rPr>
              <a:t>（</a:t>
            </a:r>
            <a:r>
              <a:rPr lang="en-US" altLang="zh-CN" sz="2000" dirty="0">
                <a:latin typeface="华文楷体" panose="02010600040101010101" pitchFamily="2" charset="-122"/>
              </a:rPr>
              <a:t>Cid</a:t>
            </a:r>
            <a:r>
              <a:rPr lang="zh-CN" altLang="en-US" sz="2000" u="sng" dirty="0">
                <a:latin typeface="华文楷体" panose="02010600040101010101" pitchFamily="2" charset="-122"/>
              </a:rPr>
              <a:t> （课程号）</a:t>
            </a:r>
            <a:r>
              <a:rPr lang="zh-CN" altLang="en-US" sz="2000" dirty="0">
                <a:latin typeface="华文楷体" panose="02010600040101010101" pitchFamily="2" charset="-122"/>
              </a:rPr>
              <a:t>，</a:t>
            </a:r>
            <a:r>
              <a:rPr lang="en-US" altLang="zh-CN" sz="2000" dirty="0">
                <a:latin typeface="华文楷体" panose="02010600040101010101" pitchFamily="2" charset="-122"/>
              </a:rPr>
              <a:t>Cname</a:t>
            </a:r>
            <a:r>
              <a:rPr lang="zh-CN" altLang="en-US" sz="2000" dirty="0">
                <a:latin typeface="华文楷体" panose="02010600040101010101" pitchFamily="2" charset="-122"/>
              </a:rPr>
              <a:t>（课程名），</a:t>
            </a:r>
            <a:r>
              <a:rPr lang="en-US" altLang="zh-CN" sz="2000" dirty="0">
                <a:latin typeface="华文楷体" panose="02010600040101010101" pitchFamily="2" charset="-122"/>
              </a:rPr>
              <a:t>Teacher</a:t>
            </a:r>
            <a:r>
              <a:rPr lang="zh-CN" altLang="en-US" sz="2000" dirty="0">
                <a:latin typeface="华文楷体" panose="02010600040101010101" pitchFamily="2" charset="-122"/>
              </a:rPr>
              <a:t>（教师））</a:t>
            </a:r>
            <a:endParaRPr lang="en-US" altLang="zh-CN" sz="2000" dirty="0">
              <a:latin typeface="华文楷体" panose="02010600040101010101" pitchFamily="2" charset="-122"/>
            </a:endParaRPr>
          </a:p>
          <a:p>
            <a:pPr marL="742950" lvl="1" indent="-285750" eaLnBrk="1" hangingPunct="1">
              <a:lnSpc>
                <a:spcPct val="125000"/>
              </a:lnSpc>
              <a:buFont typeface="Arial" panose="020B0604020202020204" pitchFamily="34" charset="0"/>
              <a:buNone/>
            </a:pPr>
            <a:r>
              <a:rPr lang="zh-CN" altLang="en-US" sz="2000" dirty="0">
                <a:latin typeface="华文楷体" panose="02010600040101010101" pitchFamily="2" charset="-122"/>
              </a:rPr>
              <a:t>试用关系代数表达式表达下列查询，并写出</a:t>
            </a:r>
            <a:r>
              <a:rPr lang="en-US" altLang="zh-CN" sz="2000" dirty="0">
                <a:latin typeface="华文楷体" panose="02010600040101010101" pitchFamily="2" charset="-122"/>
              </a:rPr>
              <a:t>SQL</a:t>
            </a:r>
            <a:r>
              <a:rPr lang="zh-CN" altLang="en-US" sz="2000" dirty="0">
                <a:latin typeface="华文楷体" panose="02010600040101010101" pitchFamily="2" charset="-122"/>
              </a:rPr>
              <a:t>查询语句</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1</a:t>
            </a:r>
            <a:r>
              <a:rPr lang="zh-CN" altLang="en-US" sz="2000" dirty="0">
                <a:latin typeface="华文楷体" panose="02010600040101010101" pitchFamily="2" charset="-122"/>
              </a:rPr>
              <a:t>）检索</a:t>
            </a:r>
            <a:r>
              <a:rPr lang="en-US" altLang="zh-CN" sz="2000" dirty="0">
                <a:latin typeface="华文楷体" panose="02010600040101010101" pitchFamily="2" charset="-122"/>
              </a:rPr>
              <a:t>LIU</a:t>
            </a:r>
            <a:r>
              <a:rPr lang="zh-CN" altLang="en-US" sz="2000" dirty="0">
                <a:latin typeface="华文楷体" panose="02010600040101010101" pitchFamily="2" charset="-122"/>
              </a:rPr>
              <a:t>老师所授课程的课程号和课程名。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2</a:t>
            </a:r>
            <a:r>
              <a:rPr lang="zh-CN" altLang="en-US" sz="2000" dirty="0">
                <a:latin typeface="华文楷体" panose="02010600040101010101" pitchFamily="2" charset="-122"/>
              </a:rPr>
              <a:t>）检索年龄大于</a:t>
            </a:r>
            <a:r>
              <a:rPr lang="en-US" altLang="zh-CN" sz="2000" dirty="0">
                <a:latin typeface="华文楷体" panose="02010600040101010101" pitchFamily="2" charset="-122"/>
              </a:rPr>
              <a:t>23</a:t>
            </a:r>
            <a:r>
              <a:rPr lang="zh-CN" altLang="en-US" sz="2000" dirty="0">
                <a:latin typeface="华文楷体" panose="02010600040101010101" pitchFamily="2" charset="-122"/>
              </a:rPr>
              <a:t>岁的男学生的学号和姓名。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3</a:t>
            </a:r>
            <a:r>
              <a:rPr lang="zh-CN" altLang="en-US" sz="2000" dirty="0">
                <a:latin typeface="华文楷体" panose="02010600040101010101" pitchFamily="2" charset="-122"/>
              </a:rPr>
              <a:t>）检索学号为</a:t>
            </a:r>
            <a:r>
              <a:rPr lang="en-US" altLang="zh-CN" sz="2000" dirty="0">
                <a:latin typeface="华文楷体" panose="02010600040101010101" pitchFamily="2" charset="-122"/>
              </a:rPr>
              <a:t>S3</a:t>
            </a:r>
            <a:r>
              <a:rPr lang="zh-CN" altLang="en-US" sz="2000" dirty="0">
                <a:latin typeface="华文楷体" panose="02010600040101010101" pitchFamily="2" charset="-122"/>
              </a:rPr>
              <a:t>的学生所学课程的课程名和任课教师名。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4</a:t>
            </a:r>
            <a:r>
              <a:rPr lang="zh-CN" altLang="en-US" sz="2000" dirty="0">
                <a:latin typeface="华文楷体" panose="02010600040101010101" pitchFamily="2" charset="-122"/>
              </a:rPr>
              <a:t>）检索至少选修</a:t>
            </a:r>
            <a:r>
              <a:rPr lang="en-US" altLang="zh-CN" sz="2000" dirty="0">
                <a:latin typeface="华文楷体" panose="02010600040101010101" pitchFamily="2" charset="-122"/>
              </a:rPr>
              <a:t>LIU</a:t>
            </a:r>
            <a:r>
              <a:rPr lang="zh-CN" altLang="en-US" sz="2000" dirty="0">
                <a:latin typeface="华文楷体" panose="02010600040101010101" pitchFamily="2" charset="-122"/>
              </a:rPr>
              <a:t>老师所授课程中一门课的女生姓名。</a:t>
            </a:r>
            <a:endParaRPr lang="en-US" altLang="zh-CN" sz="2000" dirty="0">
              <a:latin typeface="华文楷体" panose="02010600040101010101" pitchFamily="2" charset="-122"/>
            </a:endParaRPr>
          </a:p>
          <a:p>
            <a:pPr marL="742950" lvl="1" indent="-285750" eaLnBrk="1" hangingPunct="1">
              <a:lnSpc>
                <a:spcPct val="120000"/>
              </a:lnSpc>
              <a:buFont typeface="Arial" panose="020B0604020202020204" pitchFamily="34" charset="0"/>
              <a:buNone/>
            </a:pPr>
            <a:r>
              <a:rPr lang="zh-CN" altLang="en-US" sz="2000" dirty="0">
                <a:latin typeface="华文楷体" panose="02010600040101010101" pitchFamily="2" charset="-122"/>
              </a:rPr>
              <a:t>（</a:t>
            </a:r>
            <a:r>
              <a:rPr lang="en-US" altLang="zh-CN" sz="2000" dirty="0">
                <a:latin typeface="华文楷体" panose="02010600040101010101" pitchFamily="2" charset="-122"/>
              </a:rPr>
              <a:t>5</a:t>
            </a:r>
            <a:r>
              <a:rPr lang="zh-CN" altLang="en-US" sz="2000" dirty="0">
                <a:latin typeface="华文楷体" panose="02010600040101010101" pitchFamily="2" charset="-122"/>
              </a:rPr>
              <a:t>）</a:t>
            </a:r>
            <a:r>
              <a:rPr lang="en-US" altLang="zh-CN" sz="2000" dirty="0">
                <a:latin typeface="华文楷体" panose="02010600040101010101" pitchFamily="2" charset="-122"/>
              </a:rPr>
              <a:t>WANG </a:t>
            </a:r>
            <a:r>
              <a:rPr lang="zh-CN" altLang="en-US" sz="2000" dirty="0">
                <a:latin typeface="华文楷体" panose="02010600040101010101" pitchFamily="2" charset="-122"/>
              </a:rPr>
              <a:t>同学不学课程的课程号。</a:t>
            </a:r>
            <a:endParaRPr lang="zh-CN" altLang="en-US" sz="2000" dirty="0">
              <a:latin typeface="华文楷体" panose="02010600040101010101" pitchFamily="2" charset="-122"/>
            </a:endParaRPr>
          </a:p>
        </p:txBody>
      </p:sp>
      <p:sp>
        <p:nvSpPr>
          <p:cNvPr id="16794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外联结（Outer joins）</a:t>
            </a:r>
            <a:endParaRPr lang="en-US" altLang="zh-CN" sz="2800" dirty="0">
              <a:solidFill>
                <a:srgbClr val="0033CC"/>
              </a:solidFill>
              <a:latin typeface="黑体" panose="02010609060101010101" pitchFamily="49" charset="-122"/>
              <a:ea typeface="黑体" panose="02010609060101010101" pitchFamily="49" charset="-122"/>
            </a:endParaRPr>
          </a:p>
        </p:txBody>
      </p:sp>
      <p:sp>
        <p:nvSpPr>
          <p:cNvPr id="124931" name="Rectangle 4"/>
          <p:cNvSpPr txBox="1"/>
          <p:nvPr/>
        </p:nvSpPr>
        <p:spPr>
          <a:xfrm>
            <a:off x="439738" y="1495425"/>
            <a:ext cx="8385175" cy="483235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r>
              <a:rPr lang="zh-CN" altLang="en-US" sz="2400" dirty="0">
                <a:solidFill>
                  <a:srgbClr val="CC0000"/>
                </a:solidFill>
                <a:latin typeface="华文楷体" panose="02010600040101010101" pitchFamily="2" charset="-122"/>
              </a:rPr>
              <a:t>外联结是自然联结的特例</a:t>
            </a:r>
            <a:r>
              <a:rPr lang="zh-CN" altLang="en-US" sz="2400" dirty="0">
                <a:latin typeface="华文楷体" panose="02010600040101010101" pitchFamily="2" charset="-122"/>
              </a:rPr>
              <a:t>，涉及有空值的自然联结。</a:t>
            </a:r>
            <a:endParaRPr lang="zh-CN" altLang="en-US" sz="2400" dirty="0">
              <a:latin typeface="华文楷体" panose="02010600040101010101" pitchFamily="2" charset="-122"/>
            </a:endParaRPr>
          </a:p>
          <a:p>
            <a:pPr marL="533400" lvl="0" indent="-533400" eaLnBrk="1" hangingPunct="1"/>
            <a:r>
              <a:rPr lang="zh-CN" altLang="en-US" sz="2400" dirty="0">
                <a:latin typeface="华文楷体" panose="02010600040101010101" pitchFamily="2" charset="-122"/>
              </a:rPr>
              <a:t>说明：</a:t>
            </a:r>
            <a:r>
              <a:rPr lang="zh-CN" altLang="en-US" sz="2200" dirty="0">
                <a:latin typeface="华文楷体" panose="02010600040101010101" pitchFamily="2" charset="-122"/>
              </a:rPr>
              <a:t>自然联结是寻找相同字段名值也相等的行。但如果一个关系中的某字段在另一关系中没有值相等的对应行，自然联结不会显示该行，而外联结则将以NULL值形式显示该行。</a:t>
            </a:r>
            <a:endParaRPr lang="zh-CN" altLang="en-US" sz="2400" dirty="0">
              <a:latin typeface="华文楷体" panose="02010600040101010101" pitchFamily="2" charset="-122"/>
            </a:endParaRPr>
          </a:p>
          <a:p>
            <a:pPr marL="533400" lvl="0" indent="-533400" eaLnBrk="1" hangingPunct="1"/>
            <a:r>
              <a:rPr lang="zh-CN" altLang="en-US" sz="2400" dirty="0">
                <a:latin typeface="华文楷体" panose="02010600040101010101" pitchFamily="2" charset="-122"/>
              </a:rPr>
              <a:t>外联结的种类：</a:t>
            </a:r>
            <a:endParaRPr lang="zh-CN" altLang="en-US" sz="2400" dirty="0">
              <a:latin typeface="华文楷体" panose="02010600040101010101" pitchFamily="2" charset="-122"/>
            </a:endParaRPr>
          </a:p>
          <a:p>
            <a:pPr marL="914400" lvl="1" indent="-457200" eaLnBrk="1" hangingPunct="1"/>
            <a:r>
              <a:rPr lang="zh-CN" altLang="en-US" sz="2000" dirty="0">
                <a:latin typeface="华文楷体" panose="02010600040101010101" pitchFamily="2" charset="-122"/>
              </a:rPr>
              <a:t>左外联结      （LEFT  OUTER  JOIN）</a:t>
            </a:r>
            <a:endParaRPr lang="zh-CN" altLang="en-US" sz="2000" dirty="0">
              <a:latin typeface="华文楷体" panose="02010600040101010101" pitchFamily="2" charset="-122"/>
            </a:endParaRPr>
          </a:p>
          <a:p>
            <a:pPr marL="914400" lvl="1" indent="-457200" eaLnBrk="1" hangingPunct="1"/>
            <a:r>
              <a:rPr lang="zh-CN" altLang="en-US" sz="2000" dirty="0">
                <a:latin typeface="华文楷体" panose="02010600040101010101" pitchFamily="2" charset="-122"/>
              </a:rPr>
              <a:t>右外联结      （RIGHT OUTER  JOIN）</a:t>
            </a:r>
            <a:endParaRPr lang="zh-CN" altLang="en-US" sz="2000" dirty="0">
              <a:latin typeface="华文楷体" panose="02010600040101010101" pitchFamily="2" charset="-122"/>
            </a:endParaRPr>
          </a:p>
          <a:p>
            <a:pPr marL="914400" lvl="1" indent="-457200" eaLnBrk="1" hangingPunct="1"/>
            <a:r>
              <a:rPr lang="zh-CN" altLang="en-US" sz="2000" dirty="0">
                <a:latin typeface="华文楷体" panose="02010600040101010101" pitchFamily="2" charset="-122"/>
              </a:rPr>
              <a:t>全外联结      （FULL  OUTER  JOIN）</a:t>
            </a:r>
            <a:endParaRPr lang="zh-CN" altLang="en-US" sz="2000" dirty="0">
              <a:latin typeface="华文楷体" panose="02010600040101010101" pitchFamily="2" charset="-122"/>
            </a:endParaRPr>
          </a:p>
          <a:p>
            <a:pPr marL="533400" lvl="0" indent="-533400" eaLnBrk="1" hangingPunct="1"/>
            <a:r>
              <a:rPr lang="zh-CN" altLang="en-US" sz="2400" dirty="0">
                <a:latin typeface="华文楷体" panose="02010600040101010101" pitchFamily="2" charset="-122"/>
              </a:rPr>
              <a:t>与外联结对应，前面三种联结（条件、自然、等联结）称为内联结（</a:t>
            </a:r>
            <a:r>
              <a:rPr lang="zh-CN" altLang="en-US" sz="2200" dirty="0">
                <a:latin typeface="华文楷体" panose="02010600040101010101" pitchFamily="2" charset="-122"/>
              </a:rPr>
              <a:t>Inner Join）。</a:t>
            </a:r>
            <a:endParaRPr lang="zh-CN" altLang="en-US" sz="2200" dirty="0">
              <a:latin typeface="华文楷体" panose="02010600040101010101" pitchFamily="2" charset="-122"/>
            </a:endParaRPr>
          </a:p>
          <a:p>
            <a:pPr marL="533400" lvl="0" indent="-533400" eaLnBrk="1" hangingPunct="1"/>
            <a:r>
              <a:rPr lang="zh-CN" altLang="en-US" sz="2200" dirty="0">
                <a:latin typeface="华文楷体" panose="02010600040101010101" pitchFamily="2" charset="-122"/>
              </a:rPr>
              <a:t>关系代数中没有外联结的描述，但SQL标准中有相应的三种外联结查询语句。</a:t>
            </a:r>
            <a:endParaRPr lang="zh-CN" altLang="en-US" sz="2200" dirty="0">
              <a:latin typeface="华文楷体" panose="02010600040101010101" pitchFamily="2" charset="-122"/>
            </a:endParaRPr>
          </a:p>
        </p:txBody>
      </p:sp>
      <p:grpSp>
        <p:nvGrpSpPr>
          <p:cNvPr id="124932" name="Group 5"/>
          <p:cNvGrpSpPr/>
          <p:nvPr/>
        </p:nvGrpSpPr>
        <p:grpSpPr>
          <a:xfrm>
            <a:off x="2622550" y="3535363"/>
            <a:ext cx="361950" cy="215900"/>
            <a:chOff x="0" y="0"/>
            <a:chExt cx="228" cy="136"/>
          </a:xfrm>
        </p:grpSpPr>
        <p:sp>
          <p:nvSpPr>
            <p:cNvPr id="168983" name="Line 6"/>
            <p:cNvSpPr/>
            <p:nvPr/>
          </p:nvSpPr>
          <p:spPr>
            <a:xfrm>
              <a:off x="46" y="0"/>
              <a:ext cx="0" cy="136"/>
            </a:xfrm>
            <a:prstGeom prst="line">
              <a:avLst/>
            </a:prstGeom>
            <a:ln w="28575" cap="flat" cmpd="sng">
              <a:solidFill>
                <a:srgbClr val="C50739"/>
              </a:solidFill>
              <a:prstDash val="solid"/>
              <a:headEnd type="none" w="med" len="med"/>
              <a:tailEnd type="none" w="med" len="med"/>
            </a:ln>
          </p:spPr>
        </p:sp>
        <p:sp>
          <p:nvSpPr>
            <p:cNvPr id="168984" name="Line 7"/>
            <p:cNvSpPr/>
            <p:nvPr/>
          </p:nvSpPr>
          <p:spPr>
            <a:xfrm>
              <a:off x="228" y="0"/>
              <a:ext cx="0" cy="136"/>
            </a:xfrm>
            <a:prstGeom prst="line">
              <a:avLst/>
            </a:prstGeom>
            <a:ln w="28575" cap="flat" cmpd="sng">
              <a:solidFill>
                <a:srgbClr val="C50739"/>
              </a:solidFill>
              <a:prstDash val="solid"/>
              <a:headEnd type="none" w="med" len="med"/>
              <a:tailEnd type="none" w="med" len="med"/>
            </a:ln>
          </p:spPr>
        </p:sp>
        <p:sp>
          <p:nvSpPr>
            <p:cNvPr id="168985" name="Line 8"/>
            <p:cNvSpPr/>
            <p:nvPr/>
          </p:nvSpPr>
          <p:spPr>
            <a:xfrm>
              <a:off x="46" y="0"/>
              <a:ext cx="182" cy="136"/>
            </a:xfrm>
            <a:prstGeom prst="line">
              <a:avLst/>
            </a:prstGeom>
            <a:ln w="28575" cap="flat" cmpd="sng">
              <a:solidFill>
                <a:srgbClr val="C50739"/>
              </a:solidFill>
              <a:prstDash val="solid"/>
              <a:headEnd type="none" w="med" len="med"/>
              <a:tailEnd type="none" w="med" len="med"/>
            </a:ln>
          </p:spPr>
        </p:sp>
        <p:sp>
          <p:nvSpPr>
            <p:cNvPr id="168986" name="Line 9"/>
            <p:cNvSpPr/>
            <p:nvPr/>
          </p:nvSpPr>
          <p:spPr>
            <a:xfrm flipH="1">
              <a:off x="46" y="0"/>
              <a:ext cx="182" cy="136"/>
            </a:xfrm>
            <a:prstGeom prst="line">
              <a:avLst/>
            </a:prstGeom>
            <a:ln w="28575" cap="flat" cmpd="sng">
              <a:solidFill>
                <a:srgbClr val="C50739"/>
              </a:solidFill>
              <a:prstDash val="solid"/>
              <a:headEnd type="none" w="med" len="med"/>
              <a:tailEnd type="none" w="med" len="med"/>
            </a:ln>
          </p:spPr>
        </p:sp>
        <p:sp>
          <p:nvSpPr>
            <p:cNvPr id="168987" name="Line 10"/>
            <p:cNvSpPr/>
            <p:nvPr/>
          </p:nvSpPr>
          <p:spPr>
            <a:xfrm>
              <a:off x="0" y="0"/>
              <a:ext cx="46" cy="0"/>
            </a:xfrm>
            <a:prstGeom prst="line">
              <a:avLst/>
            </a:prstGeom>
            <a:ln w="28575" cap="flat" cmpd="sng">
              <a:solidFill>
                <a:srgbClr val="C50739"/>
              </a:solidFill>
              <a:prstDash val="solid"/>
              <a:headEnd type="none" w="med" len="med"/>
              <a:tailEnd type="none" w="med" len="med"/>
            </a:ln>
          </p:spPr>
        </p:sp>
        <p:sp>
          <p:nvSpPr>
            <p:cNvPr id="168988" name="Line 11"/>
            <p:cNvSpPr/>
            <p:nvPr/>
          </p:nvSpPr>
          <p:spPr>
            <a:xfrm>
              <a:off x="0" y="136"/>
              <a:ext cx="46" cy="0"/>
            </a:xfrm>
            <a:prstGeom prst="line">
              <a:avLst/>
            </a:prstGeom>
            <a:ln w="28575" cap="flat" cmpd="sng">
              <a:solidFill>
                <a:srgbClr val="C50739"/>
              </a:solidFill>
              <a:prstDash val="solid"/>
              <a:headEnd type="none" w="med" len="med"/>
              <a:tailEnd type="none" w="med" len="med"/>
            </a:ln>
          </p:spPr>
        </p:sp>
      </p:grpSp>
      <p:grpSp>
        <p:nvGrpSpPr>
          <p:cNvPr id="124939" name="Group 12"/>
          <p:cNvGrpSpPr/>
          <p:nvPr/>
        </p:nvGrpSpPr>
        <p:grpSpPr>
          <a:xfrm>
            <a:off x="2659063" y="3860800"/>
            <a:ext cx="360362" cy="215900"/>
            <a:chOff x="0" y="0"/>
            <a:chExt cx="227" cy="136"/>
          </a:xfrm>
        </p:grpSpPr>
        <p:sp>
          <p:nvSpPr>
            <p:cNvPr id="168977" name="Line 13"/>
            <p:cNvSpPr/>
            <p:nvPr/>
          </p:nvSpPr>
          <p:spPr>
            <a:xfrm>
              <a:off x="0" y="0"/>
              <a:ext cx="0" cy="136"/>
            </a:xfrm>
            <a:prstGeom prst="line">
              <a:avLst/>
            </a:prstGeom>
            <a:ln w="28575" cap="flat" cmpd="sng">
              <a:solidFill>
                <a:srgbClr val="C50739"/>
              </a:solidFill>
              <a:prstDash val="solid"/>
              <a:headEnd type="none" w="med" len="med"/>
              <a:tailEnd type="none" w="med" len="med"/>
            </a:ln>
          </p:spPr>
        </p:sp>
        <p:sp>
          <p:nvSpPr>
            <p:cNvPr id="168978" name="Line 14"/>
            <p:cNvSpPr/>
            <p:nvPr/>
          </p:nvSpPr>
          <p:spPr>
            <a:xfrm>
              <a:off x="182" y="0"/>
              <a:ext cx="0" cy="136"/>
            </a:xfrm>
            <a:prstGeom prst="line">
              <a:avLst/>
            </a:prstGeom>
            <a:ln w="28575" cap="flat" cmpd="sng">
              <a:solidFill>
                <a:srgbClr val="C50739"/>
              </a:solidFill>
              <a:prstDash val="solid"/>
              <a:headEnd type="none" w="med" len="med"/>
              <a:tailEnd type="none" w="med" len="med"/>
            </a:ln>
          </p:spPr>
        </p:sp>
        <p:sp>
          <p:nvSpPr>
            <p:cNvPr id="168979" name="Line 15"/>
            <p:cNvSpPr/>
            <p:nvPr/>
          </p:nvSpPr>
          <p:spPr>
            <a:xfrm>
              <a:off x="0" y="0"/>
              <a:ext cx="182" cy="136"/>
            </a:xfrm>
            <a:prstGeom prst="line">
              <a:avLst/>
            </a:prstGeom>
            <a:ln w="28575" cap="flat" cmpd="sng">
              <a:solidFill>
                <a:srgbClr val="C50739"/>
              </a:solidFill>
              <a:prstDash val="solid"/>
              <a:headEnd type="none" w="med" len="med"/>
              <a:tailEnd type="none" w="med" len="med"/>
            </a:ln>
          </p:spPr>
        </p:sp>
        <p:sp>
          <p:nvSpPr>
            <p:cNvPr id="168980" name="Line 16"/>
            <p:cNvSpPr/>
            <p:nvPr/>
          </p:nvSpPr>
          <p:spPr>
            <a:xfrm flipH="1">
              <a:off x="0" y="0"/>
              <a:ext cx="182" cy="136"/>
            </a:xfrm>
            <a:prstGeom prst="line">
              <a:avLst/>
            </a:prstGeom>
            <a:ln w="28575" cap="flat" cmpd="sng">
              <a:solidFill>
                <a:srgbClr val="C50739"/>
              </a:solidFill>
              <a:prstDash val="solid"/>
              <a:headEnd type="none" w="med" len="med"/>
              <a:tailEnd type="none" w="med" len="med"/>
            </a:ln>
          </p:spPr>
        </p:sp>
        <p:sp>
          <p:nvSpPr>
            <p:cNvPr id="168981" name="Line 17"/>
            <p:cNvSpPr/>
            <p:nvPr/>
          </p:nvSpPr>
          <p:spPr>
            <a:xfrm>
              <a:off x="181" y="0"/>
              <a:ext cx="46" cy="0"/>
            </a:xfrm>
            <a:prstGeom prst="line">
              <a:avLst/>
            </a:prstGeom>
            <a:ln w="28575" cap="flat" cmpd="sng">
              <a:solidFill>
                <a:srgbClr val="C50739"/>
              </a:solidFill>
              <a:prstDash val="solid"/>
              <a:headEnd type="none" w="med" len="med"/>
              <a:tailEnd type="none" w="med" len="med"/>
            </a:ln>
          </p:spPr>
        </p:sp>
        <p:sp>
          <p:nvSpPr>
            <p:cNvPr id="168982" name="Line 18"/>
            <p:cNvSpPr/>
            <p:nvPr/>
          </p:nvSpPr>
          <p:spPr>
            <a:xfrm>
              <a:off x="181" y="136"/>
              <a:ext cx="46" cy="0"/>
            </a:xfrm>
            <a:prstGeom prst="line">
              <a:avLst/>
            </a:prstGeom>
            <a:ln w="28575" cap="flat" cmpd="sng">
              <a:solidFill>
                <a:srgbClr val="C50739"/>
              </a:solidFill>
              <a:prstDash val="solid"/>
              <a:headEnd type="none" w="med" len="med"/>
              <a:tailEnd type="none" w="med" len="med"/>
            </a:ln>
          </p:spPr>
        </p:sp>
      </p:grpSp>
      <p:grpSp>
        <p:nvGrpSpPr>
          <p:cNvPr id="124946" name="Group 19"/>
          <p:cNvGrpSpPr/>
          <p:nvPr/>
        </p:nvGrpSpPr>
        <p:grpSpPr>
          <a:xfrm>
            <a:off x="2622550" y="4256088"/>
            <a:ext cx="433388" cy="215900"/>
            <a:chOff x="0" y="0"/>
            <a:chExt cx="273" cy="136"/>
          </a:xfrm>
        </p:grpSpPr>
        <p:grpSp>
          <p:nvGrpSpPr>
            <p:cNvPr id="168968" name="Group 20"/>
            <p:cNvGrpSpPr/>
            <p:nvPr/>
          </p:nvGrpSpPr>
          <p:grpSpPr>
            <a:xfrm>
              <a:off x="0" y="0"/>
              <a:ext cx="228" cy="136"/>
              <a:chOff x="0" y="0"/>
              <a:chExt cx="228" cy="136"/>
            </a:xfrm>
          </p:grpSpPr>
          <p:sp>
            <p:nvSpPr>
              <p:cNvPr id="168971" name="Line 21"/>
              <p:cNvSpPr/>
              <p:nvPr/>
            </p:nvSpPr>
            <p:spPr>
              <a:xfrm>
                <a:off x="46" y="0"/>
                <a:ext cx="0" cy="136"/>
              </a:xfrm>
              <a:prstGeom prst="line">
                <a:avLst/>
              </a:prstGeom>
              <a:ln w="28575" cap="flat" cmpd="sng">
                <a:solidFill>
                  <a:srgbClr val="C50739"/>
                </a:solidFill>
                <a:prstDash val="solid"/>
                <a:headEnd type="none" w="med" len="med"/>
                <a:tailEnd type="none" w="med" len="med"/>
              </a:ln>
            </p:spPr>
          </p:sp>
          <p:sp>
            <p:nvSpPr>
              <p:cNvPr id="168972" name="Line 22"/>
              <p:cNvSpPr/>
              <p:nvPr/>
            </p:nvSpPr>
            <p:spPr>
              <a:xfrm>
                <a:off x="228" y="0"/>
                <a:ext cx="0" cy="136"/>
              </a:xfrm>
              <a:prstGeom prst="line">
                <a:avLst/>
              </a:prstGeom>
              <a:ln w="28575" cap="flat" cmpd="sng">
                <a:solidFill>
                  <a:srgbClr val="C50739"/>
                </a:solidFill>
                <a:prstDash val="solid"/>
                <a:headEnd type="none" w="med" len="med"/>
                <a:tailEnd type="none" w="med" len="med"/>
              </a:ln>
            </p:spPr>
          </p:sp>
          <p:sp>
            <p:nvSpPr>
              <p:cNvPr id="168973" name="Line 23"/>
              <p:cNvSpPr/>
              <p:nvPr/>
            </p:nvSpPr>
            <p:spPr>
              <a:xfrm>
                <a:off x="46" y="0"/>
                <a:ext cx="182" cy="136"/>
              </a:xfrm>
              <a:prstGeom prst="line">
                <a:avLst/>
              </a:prstGeom>
              <a:ln w="28575" cap="flat" cmpd="sng">
                <a:solidFill>
                  <a:srgbClr val="C50739"/>
                </a:solidFill>
                <a:prstDash val="solid"/>
                <a:headEnd type="none" w="med" len="med"/>
                <a:tailEnd type="none" w="med" len="med"/>
              </a:ln>
            </p:spPr>
          </p:sp>
          <p:sp>
            <p:nvSpPr>
              <p:cNvPr id="168974" name="Line 24"/>
              <p:cNvSpPr/>
              <p:nvPr/>
            </p:nvSpPr>
            <p:spPr>
              <a:xfrm flipH="1">
                <a:off x="46" y="0"/>
                <a:ext cx="182" cy="136"/>
              </a:xfrm>
              <a:prstGeom prst="line">
                <a:avLst/>
              </a:prstGeom>
              <a:ln w="28575" cap="flat" cmpd="sng">
                <a:solidFill>
                  <a:srgbClr val="C50739"/>
                </a:solidFill>
                <a:prstDash val="solid"/>
                <a:headEnd type="none" w="med" len="med"/>
                <a:tailEnd type="none" w="med" len="med"/>
              </a:ln>
            </p:spPr>
          </p:sp>
          <p:sp>
            <p:nvSpPr>
              <p:cNvPr id="168975" name="Line 25"/>
              <p:cNvSpPr/>
              <p:nvPr/>
            </p:nvSpPr>
            <p:spPr>
              <a:xfrm>
                <a:off x="0" y="0"/>
                <a:ext cx="46" cy="0"/>
              </a:xfrm>
              <a:prstGeom prst="line">
                <a:avLst/>
              </a:prstGeom>
              <a:ln w="28575" cap="flat" cmpd="sng">
                <a:solidFill>
                  <a:srgbClr val="C50739"/>
                </a:solidFill>
                <a:prstDash val="solid"/>
                <a:headEnd type="none" w="med" len="med"/>
                <a:tailEnd type="none" w="med" len="med"/>
              </a:ln>
            </p:spPr>
          </p:sp>
          <p:sp>
            <p:nvSpPr>
              <p:cNvPr id="168976" name="Line 26"/>
              <p:cNvSpPr/>
              <p:nvPr/>
            </p:nvSpPr>
            <p:spPr>
              <a:xfrm>
                <a:off x="0" y="136"/>
                <a:ext cx="46" cy="0"/>
              </a:xfrm>
              <a:prstGeom prst="line">
                <a:avLst/>
              </a:prstGeom>
              <a:ln w="28575" cap="flat" cmpd="sng">
                <a:solidFill>
                  <a:srgbClr val="C50739"/>
                </a:solidFill>
                <a:prstDash val="solid"/>
                <a:headEnd type="none" w="med" len="med"/>
                <a:tailEnd type="none" w="med" len="med"/>
              </a:ln>
            </p:spPr>
          </p:sp>
        </p:grpSp>
        <p:sp>
          <p:nvSpPr>
            <p:cNvPr id="168969" name="Line 27"/>
            <p:cNvSpPr/>
            <p:nvPr/>
          </p:nvSpPr>
          <p:spPr>
            <a:xfrm>
              <a:off x="227" y="0"/>
              <a:ext cx="46" cy="0"/>
            </a:xfrm>
            <a:prstGeom prst="line">
              <a:avLst/>
            </a:prstGeom>
            <a:ln w="28575" cap="flat" cmpd="sng">
              <a:solidFill>
                <a:srgbClr val="C50739"/>
              </a:solidFill>
              <a:prstDash val="solid"/>
              <a:headEnd type="none" w="med" len="med"/>
              <a:tailEnd type="none" w="med" len="med"/>
            </a:ln>
          </p:spPr>
        </p:sp>
        <p:sp>
          <p:nvSpPr>
            <p:cNvPr id="168970" name="Line 28"/>
            <p:cNvSpPr/>
            <p:nvPr/>
          </p:nvSpPr>
          <p:spPr>
            <a:xfrm>
              <a:off x="227" y="136"/>
              <a:ext cx="46" cy="0"/>
            </a:xfrm>
            <a:prstGeom prst="line">
              <a:avLst/>
            </a:prstGeom>
            <a:ln w="28575" cap="flat" cmpd="sng">
              <a:solidFill>
                <a:srgbClr val="C50739"/>
              </a:solidFill>
              <a:prstDash val="solid"/>
              <a:headEnd type="none" w="med" len="med"/>
              <a:tailEnd type="none" w="med" len="med"/>
            </a:ln>
          </p:spPr>
        </p:sp>
      </p:grpSp>
      <p:sp>
        <p:nvSpPr>
          <p:cNvPr id="168967"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4931">
                                            <p:txEl>
                                              <p:charRg st="0" end="24"/>
                                            </p:txEl>
                                          </p:spTgt>
                                        </p:tgtEl>
                                        <p:attrNameLst>
                                          <p:attrName>style.visibility</p:attrName>
                                        </p:attrNameLst>
                                      </p:cBhvr>
                                      <p:to>
                                        <p:strVal val="visible"/>
                                      </p:to>
                                    </p:set>
                                    <p:animEffect transition="in" filter="checkerboard(across)">
                                      <p:cBhvr>
                                        <p:cTn id="7" dur="500"/>
                                        <p:tgtEl>
                                          <p:spTgt spid="124931">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4931">
                                            <p:txEl>
                                              <p:charRg st="24" end="105"/>
                                            </p:txEl>
                                          </p:spTgt>
                                        </p:tgtEl>
                                        <p:attrNameLst>
                                          <p:attrName>style.visibility</p:attrName>
                                        </p:attrNameLst>
                                      </p:cBhvr>
                                      <p:to>
                                        <p:strVal val="visible"/>
                                      </p:to>
                                    </p:set>
                                    <p:animEffect transition="in" filter="checkerboard(across)">
                                      <p:cBhvr>
                                        <p:cTn id="12" dur="500"/>
                                        <p:tgtEl>
                                          <p:spTgt spid="124931">
                                            <p:txEl>
                                              <p:charRg st="24" end="10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24931">
                                            <p:txEl>
                                              <p:charRg st="105" end="113"/>
                                            </p:txEl>
                                          </p:spTgt>
                                        </p:tgtEl>
                                        <p:attrNameLst>
                                          <p:attrName>style.visibility</p:attrName>
                                        </p:attrNameLst>
                                      </p:cBhvr>
                                      <p:to>
                                        <p:strVal val="visible"/>
                                      </p:to>
                                    </p:set>
                                    <p:animEffect transition="in" filter="checkerboard(across)">
                                      <p:cBhvr>
                                        <p:cTn id="17" dur="500"/>
                                        <p:tgtEl>
                                          <p:spTgt spid="124931">
                                            <p:txEl>
                                              <p:charRg st="105" end="11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24931">
                                            <p:txEl>
                                              <p:charRg st="113" end="143"/>
                                            </p:txEl>
                                          </p:spTgt>
                                        </p:tgtEl>
                                        <p:attrNameLst>
                                          <p:attrName>style.visibility</p:attrName>
                                        </p:attrNameLst>
                                      </p:cBhvr>
                                      <p:to>
                                        <p:strVal val="visible"/>
                                      </p:to>
                                    </p:set>
                                    <p:animEffect transition="in" filter="checkerboard(across)">
                                      <p:cBhvr>
                                        <p:cTn id="22" dur="500"/>
                                        <p:tgtEl>
                                          <p:spTgt spid="124931">
                                            <p:txEl>
                                              <p:charRg st="113" end="14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24931">
                                            <p:txEl>
                                              <p:charRg st="143" end="173"/>
                                            </p:txEl>
                                          </p:spTgt>
                                        </p:tgtEl>
                                        <p:attrNameLst>
                                          <p:attrName>style.visibility</p:attrName>
                                        </p:attrNameLst>
                                      </p:cBhvr>
                                      <p:to>
                                        <p:strVal val="visible"/>
                                      </p:to>
                                    </p:set>
                                    <p:animEffect transition="in" filter="checkerboard(across)">
                                      <p:cBhvr>
                                        <p:cTn id="27" dur="500"/>
                                        <p:tgtEl>
                                          <p:spTgt spid="124931">
                                            <p:txEl>
                                              <p:charRg st="143" end="17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24931">
                                            <p:txEl>
                                              <p:charRg st="173" end="203"/>
                                            </p:txEl>
                                          </p:spTgt>
                                        </p:tgtEl>
                                        <p:attrNameLst>
                                          <p:attrName>style.visibility</p:attrName>
                                        </p:attrNameLst>
                                      </p:cBhvr>
                                      <p:to>
                                        <p:strVal val="visible"/>
                                      </p:to>
                                    </p:set>
                                    <p:animEffect transition="in" filter="checkerboard(across)">
                                      <p:cBhvr>
                                        <p:cTn id="32" dur="500"/>
                                        <p:tgtEl>
                                          <p:spTgt spid="124931">
                                            <p:txEl>
                                              <p:charRg st="173" end="20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24931">
                                            <p:txEl>
                                              <p:charRg st="203" end="246"/>
                                            </p:txEl>
                                          </p:spTgt>
                                        </p:tgtEl>
                                        <p:attrNameLst>
                                          <p:attrName>style.visibility</p:attrName>
                                        </p:attrNameLst>
                                      </p:cBhvr>
                                      <p:to>
                                        <p:strVal val="visible"/>
                                      </p:to>
                                    </p:set>
                                    <p:animEffect transition="in" filter="checkerboard(across)">
                                      <p:cBhvr>
                                        <p:cTn id="37" dur="500"/>
                                        <p:tgtEl>
                                          <p:spTgt spid="124931">
                                            <p:txEl>
                                              <p:charRg st="203" end="24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24931">
                                            <p:txEl>
                                              <p:charRg st="246" end="282"/>
                                            </p:txEl>
                                          </p:spTgt>
                                        </p:tgtEl>
                                        <p:attrNameLst>
                                          <p:attrName>style.visibility</p:attrName>
                                        </p:attrNameLst>
                                      </p:cBhvr>
                                      <p:to>
                                        <p:strVal val="visible"/>
                                      </p:to>
                                    </p:set>
                                    <p:animEffect transition="in" filter="checkerboard(across)">
                                      <p:cBhvr>
                                        <p:cTn id="42" dur="500"/>
                                        <p:tgtEl>
                                          <p:spTgt spid="124931">
                                            <p:txEl>
                                              <p:charRg st="246" end="28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124932"/>
                                        </p:tgtEl>
                                        <p:attrNameLst>
                                          <p:attrName>style.visibility</p:attrName>
                                        </p:attrNameLst>
                                      </p:cBhvr>
                                      <p:to>
                                        <p:strVal val="visible"/>
                                      </p:to>
                                    </p:set>
                                    <p:anim calcmode="lin" valueType="num">
                                      <p:cBhvr>
                                        <p:cTn id="47" dur="500" fill="hold"/>
                                        <p:tgtEl>
                                          <p:spTgt spid="124932"/>
                                        </p:tgtEl>
                                        <p:attrNameLst>
                                          <p:attrName>ppt_w</p:attrName>
                                        </p:attrNameLst>
                                      </p:cBhvr>
                                      <p:tavLst>
                                        <p:tav tm="0">
                                          <p:val>
                                            <p:fltVal val="0.000000"/>
                                          </p:val>
                                        </p:tav>
                                        <p:tav tm="100000">
                                          <p:val>
                                            <p:strVal val="#ppt_w"/>
                                          </p:val>
                                        </p:tav>
                                      </p:tavLst>
                                    </p:anim>
                                    <p:anim calcmode="lin" valueType="num">
                                      <p:cBhvr>
                                        <p:cTn id="48" dur="500" fill="hold"/>
                                        <p:tgtEl>
                                          <p:spTgt spid="124932"/>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17" presetClass="entr" presetSubtype="10" fill="hold" nodeType="clickEffect">
                                  <p:stCondLst>
                                    <p:cond delay="0"/>
                                  </p:stCondLst>
                                  <p:childTnLst>
                                    <p:set>
                                      <p:cBhvr>
                                        <p:cTn id="52" dur="1" fill="hold">
                                          <p:stCondLst>
                                            <p:cond delay="0"/>
                                          </p:stCondLst>
                                        </p:cTn>
                                        <p:tgtEl>
                                          <p:spTgt spid="124939"/>
                                        </p:tgtEl>
                                        <p:attrNameLst>
                                          <p:attrName>style.visibility</p:attrName>
                                        </p:attrNameLst>
                                      </p:cBhvr>
                                      <p:to>
                                        <p:strVal val="visible"/>
                                      </p:to>
                                    </p:set>
                                    <p:anim calcmode="lin" valueType="num">
                                      <p:cBhvr>
                                        <p:cTn id="53" dur="500" fill="hold"/>
                                        <p:tgtEl>
                                          <p:spTgt spid="124939"/>
                                        </p:tgtEl>
                                        <p:attrNameLst>
                                          <p:attrName>ppt_w</p:attrName>
                                        </p:attrNameLst>
                                      </p:cBhvr>
                                      <p:tavLst>
                                        <p:tav tm="0">
                                          <p:val>
                                            <p:fltVal val="0.000000"/>
                                          </p:val>
                                        </p:tav>
                                        <p:tav tm="100000">
                                          <p:val>
                                            <p:strVal val="#ppt_w"/>
                                          </p:val>
                                        </p:tav>
                                      </p:tavLst>
                                    </p:anim>
                                    <p:anim calcmode="lin" valueType="num">
                                      <p:cBhvr>
                                        <p:cTn id="54" dur="500" fill="hold"/>
                                        <p:tgtEl>
                                          <p:spTgt spid="124939"/>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7" presetClass="entr" presetSubtype="10" fill="hold" nodeType="clickEffect">
                                  <p:stCondLst>
                                    <p:cond delay="0"/>
                                  </p:stCondLst>
                                  <p:childTnLst>
                                    <p:set>
                                      <p:cBhvr>
                                        <p:cTn id="58" dur="1" fill="hold">
                                          <p:stCondLst>
                                            <p:cond delay="0"/>
                                          </p:stCondLst>
                                        </p:cTn>
                                        <p:tgtEl>
                                          <p:spTgt spid="124946"/>
                                        </p:tgtEl>
                                        <p:attrNameLst>
                                          <p:attrName>style.visibility</p:attrName>
                                        </p:attrNameLst>
                                      </p:cBhvr>
                                      <p:to>
                                        <p:strVal val="visible"/>
                                      </p:to>
                                    </p:set>
                                    <p:anim calcmode="lin" valueType="num">
                                      <p:cBhvr>
                                        <p:cTn id="59" dur="500" fill="hold"/>
                                        <p:tgtEl>
                                          <p:spTgt spid="124946"/>
                                        </p:tgtEl>
                                        <p:attrNameLst>
                                          <p:attrName>ppt_w</p:attrName>
                                        </p:attrNameLst>
                                      </p:cBhvr>
                                      <p:tavLst>
                                        <p:tav tm="0">
                                          <p:val>
                                            <p:fltVal val="0.000000"/>
                                          </p:val>
                                        </p:tav>
                                        <p:tav tm="100000">
                                          <p:val>
                                            <p:strVal val="#ppt_w"/>
                                          </p:val>
                                        </p:tav>
                                      </p:tavLst>
                                    </p:anim>
                                    <p:anim calcmode="lin" valueType="num">
                                      <p:cBhvr>
                                        <p:cTn id="60" dur="500" fill="hold"/>
                                        <p:tgtEl>
                                          <p:spTgt spid="12494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1" grpId="0" bldLvl="2" build="p"/>
    </p:bld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5955" name="Group 4"/>
          <p:cNvGrpSpPr/>
          <p:nvPr/>
        </p:nvGrpSpPr>
        <p:grpSpPr>
          <a:xfrm>
            <a:off x="333375" y="1273175"/>
            <a:ext cx="3933825" cy="2224088"/>
            <a:chOff x="0" y="0"/>
            <a:chExt cx="2688" cy="1581"/>
          </a:xfrm>
        </p:grpSpPr>
        <p:sp>
          <p:nvSpPr>
            <p:cNvPr id="170044" name="Text Box 5"/>
            <p:cNvSpPr txBox="1"/>
            <p:nvPr/>
          </p:nvSpPr>
          <p:spPr>
            <a:xfrm>
              <a:off x="768" y="0"/>
              <a:ext cx="1365" cy="42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70045" name="Rectangle 6"/>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70046" name="Rectangle 7"/>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70047" name="Rectangle 8"/>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70048" name="Rectangle 9"/>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70049" name="Rectangle 10"/>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70050" name="Rectangle 11"/>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70051" name="Rectangle 12"/>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70052" name="Rectangle 13"/>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70053" name="Rectangle 14"/>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70054" name="Rectangle 15"/>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70055" name="Rectangle 16"/>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70056" name="Rectangle 17"/>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70057" name="Rectangle 18"/>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70058" name="Rectangle 19"/>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70059" name="Rectangle 20"/>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70060" name="Rectangle 21"/>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70061" name="Rectangle 22"/>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0062" name="Rectangle 23"/>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0063" name="Rectangle 24"/>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0064" name="Rectangle 25"/>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70065" name="Line 26"/>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70066" name="Line 27"/>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70067" name="Line 28"/>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70068" name="Line 29"/>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70069" name="Line 30"/>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70070" name="Line 31"/>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70071" name="Line 32"/>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70072" name="Line 33"/>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70073" name="Line 34"/>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70074" name="Line 35"/>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70075" name="Line 36"/>
            <p:cNvSpPr/>
            <p:nvPr/>
          </p:nvSpPr>
          <p:spPr>
            <a:xfrm>
              <a:off x="2688" y="336"/>
              <a:ext cx="0" cy="1245"/>
            </a:xfrm>
            <a:prstGeom prst="line">
              <a:avLst/>
            </a:prstGeom>
            <a:ln w="28575" cap="sq" cmpd="sng">
              <a:solidFill>
                <a:schemeClr val="tx1"/>
              </a:solidFill>
              <a:prstDash val="solid"/>
              <a:headEnd type="none" w="med" len="med"/>
              <a:tailEnd type="none" w="med" len="med"/>
            </a:ln>
          </p:spPr>
        </p:sp>
      </p:grpSp>
      <p:grpSp>
        <p:nvGrpSpPr>
          <p:cNvPr id="125988" name="Group 37"/>
          <p:cNvGrpSpPr/>
          <p:nvPr/>
        </p:nvGrpSpPr>
        <p:grpSpPr>
          <a:xfrm>
            <a:off x="420688" y="3462338"/>
            <a:ext cx="3429000" cy="1589087"/>
            <a:chOff x="0" y="0"/>
            <a:chExt cx="2160" cy="1117"/>
          </a:xfrm>
        </p:grpSpPr>
        <p:sp>
          <p:nvSpPr>
            <p:cNvPr id="170025" name="Text Box 38"/>
            <p:cNvSpPr txBox="1"/>
            <p:nvPr/>
          </p:nvSpPr>
          <p:spPr>
            <a:xfrm>
              <a:off x="464" y="0"/>
              <a:ext cx="1152"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70026" name="Rectangle 39"/>
            <p:cNvSpPr/>
            <p:nvPr/>
          </p:nvSpPr>
          <p:spPr>
            <a:xfrm>
              <a:off x="1456" y="388"/>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70027" name="Rectangle 40"/>
            <p:cNvSpPr/>
            <p:nvPr/>
          </p:nvSpPr>
          <p:spPr>
            <a:xfrm>
              <a:off x="657" y="388"/>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70028" name="Rectangle 41"/>
            <p:cNvSpPr/>
            <p:nvPr/>
          </p:nvSpPr>
          <p:spPr>
            <a:xfrm>
              <a:off x="0" y="388"/>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70029" name="Rectangle 42"/>
            <p:cNvSpPr/>
            <p:nvPr/>
          </p:nvSpPr>
          <p:spPr>
            <a:xfrm>
              <a:off x="1456" y="887"/>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70030" name="Rectangle 43"/>
            <p:cNvSpPr/>
            <p:nvPr/>
          </p:nvSpPr>
          <p:spPr>
            <a:xfrm>
              <a:off x="657" y="887"/>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70031" name="Rectangle 44"/>
            <p:cNvSpPr/>
            <p:nvPr/>
          </p:nvSpPr>
          <p:spPr>
            <a:xfrm>
              <a:off x="0" y="887"/>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70032" name="Rectangle 45"/>
            <p:cNvSpPr/>
            <p:nvPr/>
          </p:nvSpPr>
          <p:spPr>
            <a:xfrm>
              <a:off x="1456" y="618"/>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70033" name="Rectangle 46"/>
            <p:cNvSpPr/>
            <p:nvPr/>
          </p:nvSpPr>
          <p:spPr>
            <a:xfrm>
              <a:off x="657" y="618"/>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70034" name="Rectangle 47"/>
            <p:cNvSpPr/>
            <p:nvPr/>
          </p:nvSpPr>
          <p:spPr>
            <a:xfrm>
              <a:off x="0" y="618"/>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70035" name="Line 48"/>
            <p:cNvSpPr/>
            <p:nvPr/>
          </p:nvSpPr>
          <p:spPr>
            <a:xfrm>
              <a:off x="0" y="388"/>
              <a:ext cx="2160" cy="0"/>
            </a:xfrm>
            <a:prstGeom prst="line">
              <a:avLst/>
            </a:prstGeom>
            <a:ln w="28575" cap="sq" cmpd="sng">
              <a:solidFill>
                <a:schemeClr val="tx1"/>
              </a:solidFill>
              <a:prstDash val="solid"/>
              <a:headEnd type="none" w="med" len="med"/>
              <a:tailEnd type="none" w="med" len="med"/>
            </a:ln>
          </p:spPr>
        </p:sp>
        <p:sp>
          <p:nvSpPr>
            <p:cNvPr id="170036" name="Line 49"/>
            <p:cNvSpPr/>
            <p:nvPr/>
          </p:nvSpPr>
          <p:spPr>
            <a:xfrm>
              <a:off x="0" y="887"/>
              <a:ext cx="2160" cy="0"/>
            </a:xfrm>
            <a:prstGeom prst="line">
              <a:avLst/>
            </a:prstGeom>
            <a:ln w="12700" cap="flat" cmpd="sng">
              <a:solidFill>
                <a:schemeClr val="tx1"/>
              </a:solidFill>
              <a:prstDash val="solid"/>
              <a:headEnd type="none" w="med" len="med"/>
              <a:tailEnd type="none" w="med" len="med"/>
            </a:ln>
          </p:spPr>
        </p:sp>
        <p:sp>
          <p:nvSpPr>
            <p:cNvPr id="170037" name="Line 50"/>
            <p:cNvSpPr/>
            <p:nvPr/>
          </p:nvSpPr>
          <p:spPr>
            <a:xfrm>
              <a:off x="0" y="1107"/>
              <a:ext cx="2160" cy="0"/>
            </a:xfrm>
            <a:prstGeom prst="line">
              <a:avLst/>
            </a:prstGeom>
            <a:ln w="28575" cap="sq" cmpd="sng">
              <a:solidFill>
                <a:schemeClr val="tx1"/>
              </a:solidFill>
              <a:prstDash val="solid"/>
              <a:headEnd type="none" w="med" len="med"/>
              <a:tailEnd type="none" w="med" len="med"/>
            </a:ln>
          </p:spPr>
        </p:sp>
        <p:sp>
          <p:nvSpPr>
            <p:cNvPr id="170038" name="Line 51"/>
            <p:cNvSpPr/>
            <p:nvPr/>
          </p:nvSpPr>
          <p:spPr>
            <a:xfrm>
              <a:off x="0" y="388"/>
              <a:ext cx="0" cy="729"/>
            </a:xfrm>
            <a:prstGeom prst="line">
              <a:avLst/>
            </a:prstGeom>
            <a:ln w="28575" cap="sq" cmpd="sng">
              <a:solidFill>
                <a:schemeClr val="tx1"/>
              </a:solidFill>
              <a:prstDash val="solid"/>
              <a:headEnd type="none" w="med" len="med"/>
              <a:tailEnd type="none" w="med" len="med"/>
            </a:ln>
          </p:spPr>
        </p:sp>
        <p:sp>
          <p:nvSpPr>
            <p:cNvPr id="170039" name="Line 52"/>
            <p:cNvSpPr/>
            <p:nvPr/>
          </p:nvSpPr>
          <p:spPr>
            <a:xfrm>
              <a:off x="657" y="388"/>
              <a:ext cx="0" cy="729"/>
            </a:xfrm>
            <a:prstGeom prst="line">
              <a:avLst/>
            </a:prstGeom>
            <a:ln w="12700" cap="flat" cmpd="sng">
              <a:solidFill>
                <a:schemeClr val="tx1"/>
              </a:solidFill>
              <a:prstDash val="solid"/>
              <a:headEnd type="none" w="med" len="med"/>
              <a:tailEnd type="none" w="med" len="med"/>
            </a:ln>
          </p:spPr>
        </p:sp>
        <p:sp>
          <p:nvSpPr>
            <p:cNvPr id="170040" name="Line 53"/>
            <p:cNvSpPr/>
            <p:nvPr/>
          </p:nvSpPr>
          <p:spPr>
            <a:xfrm>
              <a:off x="1456" y="388"/>
              <a:ext cx="0" cy="729"/>
            </a:xfrm>
            <a:prstGeom prst="line">
              <a:avLst/>
            </a:prstGeom>
            <a:ln w="12700" cap="flat" cmpd="sng">
              <a:solidFill>
                <a:schemeClr val="tx1"/>
              </a:solidFill>
              <a:prstDash val="solid"/>
              <a:headEnd type="none" w="med" len="med"/>
              <a:tailEnd type="none" w="med" len="med"/>
            </a:ln>
          </p:spPr>
        </p:sp>
        <p:sp>
          <p:nvSpPr>
            <p:cNvPr id="170041" name="Line 54"/>
            <p:cNvSpPr/>
            <p:nvPr/>
          </p:nvSpPr>
          <p:spPr>
            <a:xfrm>
              <a:off x="2160" y="388"/>
              <a:ext cx="0" cy="499"/>
            </a:xfrm>
            <a:prstGeom prst="line">
              <a:avLst/>
            </a:prstGeom>
            <a:ln w="12700" cap="flat" cmpd="sng">
              <a:solidFill>
                <a:schemeClr val="tx1"/>
              </a:solidFill>
              <a:prstDash val="solid"/>
              <a:headEnd type="none" w="med" len="med"/>
              <a:tailEnd type="none" w="med" len="med"/>
            </a:ln>
          </p:spPr>
        </p:sp>
        <p:sp>
          <p:nvSpPr>
            <p:cNvPr id="170042" name="Line 55"/>
            <p:cNvSpPr/>
            <p:nvPr/>
          </p:nvSpPr>
          <p:spPr>
            <a:xfrm>
              <a:off x="2160" y="887"/>
              <a:ext cx="0" cy="230"/>
            </a:xfrm>
            <a:prstGeom prst="line">
              <a:avLst/>
            </a:prstGeom>
            <a:ln w="28575" cap="sq" cmpd="sng">
              <a:solidFill>
                <a:schemeClr val="tx1"/>
              </a:solidFill>
              <a:prstDash val="solid"/>
              <a:headEnd type="none" w="med" len="med"/>
              <a:tailEnd type="none" w="med" len="med"/>
            </a:ln>
          </p:spPr>
        </p:sp>
        <p:sp>
          <p:nvSpPr>
            <p:cNvPr id="170043" name="Line 56"/>
            <p:cNvSpPr/>
            <p:nvPr/>
          </p:nvSpPr>
          <p:spPr>
            <a:xfrm>
              <a:off x="0" y="618"/>
              <a:ext cx="2160" cy="0"/>
            </a:xfrm>
            <a:prstGeom prst="line">
              <a:avLst/>
            </a:prstGeom>
            <a:ln w="12700" cap="flat" cmpd="sng">
              <a:solidFill>
                <a:schemeClr val="tx1"/>
              </a:solidFill>
              <a:prstDash val="solid"/>
              <a:headEnd type="none" w="med" len="med"/>
              <a:tailEnd type="none" w="med" len="med"/>
            </a:ln>
          </p:spPr>
        </p:sp>
      </p:grpSp>
      <p:sp>
        <p:nvSpPr>
          <p:cNvPr id="126008" name="Text Box 57"/>
          <p:cNvSpPr txBox="1"/>
          <p:nvPr/>
        </p:nvSpPr>
        <p:spPr>
          <a:xfrm>
            <a:off x="4284663" y="1676400"/>
            <a:ext cx="4859337" cy="784225"/>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SELECT  S1.sid, sname, cid, score  </a:t>
            </a:r>
            <a:endParaRPr lang="zh-CN" altLang="en-US" dirty="0">
              <a:ea typeface="方正姚体" panose="02010601030101010101" pitchFamily="2" charset="-122"/>
            </a:endParaRPr>
          </a:p>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FROM  S1 </a:t>
            </a:r>
            <a:r>
              <a:rPr lang="zh-CN" altLang="en-US" sz="1800" i="1" dirty="0">
                <a:solidFill>
                  <a:srgbClr val="CC0000"/>
                </a:solidFill>
                <a:ea typeface="方正姚体" panose="02010601030101010101" pitchFamily="2" charset="-122"/>
              </a:rPr>
              <a:t>NATURAL LEFT OUTERJOIN</a:t>
            </a:r>
            <a:r>
              <a:rPr lang="zh-CN" altLang="en-US" dirty="0">
                <a:ea typeface="方正姚体" panose="02010601030101010101" pitchFamily="2" charset="-122"/>
              </a:rPr>
              <a:t> E</a:t>
            </a:r>
            <a:endParaRPr lang="zh-CN" altLang="en-US" dirty="0">
              <a:solidFill>
                <a:schemeClr val="accent2"/>
              </a:solidFill>
              <a:ea typeface="方正姚体" panose="02010601030101010101" pitchFamily="2" charset="-122"/>
            </a:endParaRPr>
          </a:p>
        </p:txBody>
      </p:sp>
      <p:graphicFrame>
        <p:nvGraphicFramePr>
          <p:cNvPr id="126009" name="表格 126008"/>
          <p:cNvGraphicFramePr/>
          <p:nvPr/>
        </p:nvGraphicFramePr>
        <p:xfrm>
          <a:off x="4470400" y="2859088"/>
          <a:ext cx="4267200" cy="2286000"/>
        </p:xfrm>
        <a:graphic>
          <a:graphicData uri="http://schemas.openxmlformats.org/drawingml/2006/table">
            <a:tbl>
              <a:tblPr/>
              <a:tblGrid>
                <a:gridCol w="1114425"/>
                <a:gridCol w="1135063"/>
                <a:gridCol w="1041400"/>
                <a:gridCol w="976312"/>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sid</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sname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cid</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score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ea typeface="华文楷体" panose="02010600040101010101" pitchFamily="2" charset="-122"/>
                        </a:rPr>
                        <a:t>何大</a:t>
                      </a:r>
                      <a:r>
                        <a:rPr lang="zh-CN" altLang="en-US" sz="2400" b="0" dirty="0">
                          <a:solidFill>
                            <a:srgbClr val="003300"/>
                          </a:solidFill>
                          <a:ea typeface="华文楷体" panose="02010600040101010101" pitchFamily="2" charset="-122"/>
                        </a:rPr>
                        <a:t>明</a:t>
                      </a:r>
                      <a:endParaRPr lang="zh-CN"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91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11</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ea typeface="华文楷体" panose="02010600040101010101" pitchFamily="2" charset="-122"/>
                        </a:rPr>
                        <a:t>李峰</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35</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ea typeface="华文楷体" panose="02010600040101010101" pitchFamily="2" charset="-122"/>
                        </a:rPr>
                        <a:t>陈胜</a:t>
                      </a:r>
                      <a:endParaRPr lang="zh-CN" altLang="en-US" sz="24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6</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ea typeface="华文楷体" panose="02010600040101010101" pitchFamily="2" charset="-122"/>
                        </a:rPr>
                        <a:t>张大卫</a:t>
                      </a:r>
                      <a:endParaRPr lang="zh-CN" altLang="en-US" sz="2400" b="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103</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80</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26041" name="Line 90"/>
          <p:cNvSpPr/>
          <p:nvPr/>
        </p:nvSpPr>
        <p:spPr>
          <a:xfrm>
            <a:off x="6324600" y="2387600"/>
            <a:ext cx="0" cy="533400"/>
          </a:xfrm>
          <a:prstGeom prst="line">
            <a:avLst/>
          </a:prstGeom>
          <a:ln w="50800" cap="flat" cmpd="sng">
            <a:solidFill>
              <a:srgbClr val="CC0000"/>
            </a:solidFill>
            <a:prstDash val="solid"/>
            <a:headEnd type="none" w="med" len="med"/>
            <a:tailEnd type="stealth" w="med" len="med"/>
          </a:ln>
        </p:spPr>
      </p:sp>
      <p:sp>
        <p:nvSpPr>
          <p:cNvPr id="126042" name="Text Box 91"/>
          <p:cNvSpPr txBox="1"/>
          <p:nvPr/>
        </p:nvSpPr>
        <p:spPr>
          <a:xfrm>
            <a:off x="358775" y="5181600"/>
            <a:ext cx="8523288" cy="1200150"/>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003300"/>
                </a:solidFill>
                <a:latin typeface="华文楷体" panose="02010600040101010101" pitchFamily="2" charset="-122"/>
                <a:ea typeface="华文楷体" panose="02010600040101010101" pitchFamily="2" charset="-122"/>
              </a:rPr>
              <a:t>左外联结的实际结果以操作符左边的关系为准，即左边关系中被选择的行均应出现在结果中，如果在右边关系中没有对应的行，则在结果中以NULL表示。</a:t>
            </a:r>
            <a:endParaRPr lang="de-DE" altLang="en-US" sz="2400" dirty="0">
              <a:solidFill>
                <a:srgbClr val="003300"/>
              </a:solidFill>
              <a:latin typeface="华文楷体" panose="02010600040101010101" pitchFamily="2" charset="-122"/>
              <a:ea typeface="华文楷体" panose="02010600040101010101" pitchFamily="2" charset="-122"/>
            </a:endParaRPr>
          </a:p>
        </p:txBody>
      </p:sp>
      <p:sp>
        <p:nvSpPr>
          <p:cNvPr id="170023"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左外连接</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7002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5955"/>
                                        </p:tgtEl>
                                        <p:attrNameLst>
                                          <p:attrName>style.visibility</p:attrName>
                                        </p:attrNameLst>
                                      </p:cBhvr>
                                      <p:to>
                                        <p:strVal val="visible"/>
                                      </p:to>
                                    </p:set>
                                    <p:animEffect transition="in" filter="box(in)">
                                      <p:cBhvr>
                                        <p:cTn id="7" dur="500"/>
                                        <p:tgtEl>
                                          <p:spTgt spid="12595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5988"/>
                                        </p:tgtEl>
                                        <p:attrNameLst>
                                          <p:attrName>style.visibility</p:attrName>
                                        </p:attrNameLst>
                                      </p:cBhvr>
                                      <p:to>
                                        <p:strVal val="visible"/>
                                      </p:to>
                                    </p:set>
                                    <p:animEffect transition="in" filter="box(in)">
                                      <p:cBhvr>
                                        <p:cTn id="12" dur="500"/>
                                        <p:tgtEl>
                                          <p:spTgt spid="125988"/>
                                        </p:tgtEl>
                                      </p:cBhvr>
                                    </p:animEffect>
                                  </p:childTnLst>
                                </p:cTn>
                              </p:par>
                            </p:childTnLst>
                          </p:cTn>
                        </p:par>
                      </p:childTnLst>
                    </p:cTn>
                  </p:par>
                  <p:par>
                    <p:cTn id="13" fill="hold">
                      <p:stCondLst>
                        <p:cond delay="indefinite"/>
                      </p:stCondLst>
                      <p:childTnLst>
                        <p:par>
                          <p:cTn id="14" fill="hold">
                            <p:stCondLst>
                              <p:cond delay="0"/>
                            </p:stCondLst>
                            <p:childTnLst>
                              <p:par>
                                <p:cTn id="15" presetID="17" presetClass="entr" presetSubtype="1" fill="hold" grpId="0" nodeType="clickEffect">
                                  <p:stCondLst>
                                    <p:cond delay="0"/>
                                  </p:stCondLst>
                                  <p:childTnLst>
                                    <p:set>
                                      <p:cBhvr>
                                        <p:cTn id="16" dur="1" fill="hold">
                                          <p:stCondLst>
                                            <p:cond delay="0"/>
                                          </p:stCondLst>
                                        </p:cTn>
                                        <p:tgtEl>
                                          <p:spTgt spid="126008"/>
                                        </p:tgtEl>
                                        <p:attrNameLst>
                                          <p:attrName>style.visibility</p:attrName>
                                        </p:attrNameLst>
                                      </p:cBhvr>
                                      <p:to>
                                        <p:strVal val="visible"/>
                                      </p:to>
                                    </p:set>
                                    <p:anim calcmode="lin" valueType="num">
                                      <p:cBhvr>
                                        <p:cTn id="17" dur="500" fill="hold"/>
                                        <p:tgtEl>
                                          <p:spTgt spid="126008"/>
                                        </p:tgtEl>
                                        <p:attrNameLst>
                                          <p:attrName>ppt_x</p:attrName>
                                        </p:attrNameLst>
                                      </p:cBhvr>
                                      <p:tavLst>
                                        <p:tav tm="0">
                                          <p:val>
                                            <p:strVal val="#ppt_x"/>
                                          </p:val>
                                        </p:tav>
                                        <p:tav tm="100000">
                                          <p:val>
                                            <p:strVal val="#ppt_x"/>
                                          </p:val>
                                        </p:tav>
                                      </p:tavLst>
                                    </p:anim>
                                    <p:anim calcmode="lin" valueType="num">
                                      <p:cBhvr>
                                        <p:cTn id="18" dur="500" fill="hold"/>
                                        <p:tgtEl>
                                          <p:spTgt spid="126008"/>
                                        </p:tgtEl>
                                        <p:attrNameLst>
                                          <p:attrName>ppt_y</p:attrName>
                                        </p:attrNameLst>
                                      </p:cBhvr>
                                      <p:tavLst>
                                        <p:tav tm="0">
                                          <p:val>
                                            <p:strVal val="#ppt_y-#ppt_h/2"/>
                                          </p:val>
                                        </p:tav>
                                        <p:tav tm="100000">
                                          <p:val>
                                            <p:strVal val="#ppt_y"/>
                                          </p:val>
                                        </p:tav>
                                      </p:tavLst>
                                    </p:anim>
                                    <p:anim calcmode="lin" valueType="num">
                                      <p:cBhvr>
                                        <p:cTn id="19" dur="500" fill="hold"/>
                                        <p:tgtEl>
                                          <p:spTgt spid="126008"/>
                                        </p:tgtEl>
                                        <p:attrNameLst>
                                          <p:attrName>ppt_w</p:attrName>
                                        </p:attrNameLst>
                                      </p:cBhvr>
                                      <p:tavLst>
                                        <p:tav tm="0">
                                          <p:val>
                                            <p:strVal val="#ppt_w"/>
                                          </p:val>
                                        </p:tav>
                                        <p:tav tm="100000">
                                          <p:val>
                                            <p:strVal val="#ppt_w"/>
                                          </p:val>
                                        </p:tav>
                                      </p:tavLst>
                                    </p:anim>
                                    <p:anim calcmode="lin" valueType="num">
                                      <p:cBhvr>
                                        <p:cTn id="20" dur="500" fill="hold"/>
                                        <p:tgtEl>
                                          <p:spTgt spid="126008"/>
                                        </p:tgtEl>
                                        <p:attrNameLst>
                                          <p:attrName>ppt_h</p:attrName>
                                        </p:attrNameLst>
                                      </p:cBhvr>
                                      <p:tavLst>
                                        <p:tav tm="0">
                                          <p:val>
                                            <p:fltVal val="0.00000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126041"/>
                                        </p:tgtEl>
                                        <p:attrNameLst>
                                          <p:attrName>style.visibility</p:attrName>
                                        </p:attrNameLst>
                                      </p:cBhvr>
                                      <p:to>
                                        <p:strVal val="visible"/>
                                      </p:to>
                                    </p:set>
                                    <p:anim calcmode="lin" valueType="num">
                                      <p:cBhvr>
                                        <p:cTn id="25" dur="500" fill="hold"/>
                                        <p:tgtEl>
                                          <p:spTgt spid="126041"/>
                                        </p:tgtEl>
                                        <p:attrNameLst>
                                          <p:attrName>ppt_w</p:attrName>
                                        </p:attrNameLst>
                                      </p:cBhvr>
                                      <p:tavLst>
                                        <p:tav tm="0">
                                          <p:val>
                                            <p:fltVal val="0.000000"/>
                                          </p:val>
                                        </p:tav>
                                        <p:tav tm="100000">
                                          <p:val>
                                            <p:strVal val="#ppt_w"/>
                                          </p:val>
                                        </p:tav>
                                      </p:tavLst>
                                    </p:anim>
                                    <p:anim calcmode="lin" valueType="num">
                                      <p:cBhvr>
                                        <p:cTn id="26" dur="500" fill="hold"/>
                                        <p:tgtEl>
                                          <p:spTgt spid="126041"/>
                                        </p:tgtEl>
                                        <p:attrNameLst>
                                          <p:attrName>ppt_h</p:attrName>
                                        </p:attrNameLst>
                                      </p:cBhvr>
                                      <p:tavLst>
                                        <p:tav tm="0">
                                          <p:val>
                                            <p:fltVal val="0.00000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126009"/>
                                        </p:tgtEl>
                                        <p:attrNameLst>
                                          <p:attrName>style.visibility</p:attrName>
                                        </p:attrNameLst>
                                      </p:cBhvr>
                                      <p:to>
                                        <p:strVal val="visible"/>
                                      </p:to>
                                    </p:set>
                                    <p:animEffect transition="in" filter="dissolve">
                                      <p:cBhvr>
                                        <p:cTn id="31" dur="500"/>
                                        <p:tgtEl>
                                          <p:spTgt spid="126009"/>
                                        </p:tgtEl>
                                      </p:cBhvr>
                                    </p:animEffect>
                                  </p:childTnLst>
                                </p:cTn>
                              </p:par>
                            </p:childTnLst>
                          </p:cTn>
                        </p:par>
                      </p:childTnLst>
                    </p:cTn>
                  </p:par>
                  <p:par>
                    <p:cTn id="32" fill="hold">
                      <p:stCondLst>
                        <p:cond delay="indefinite"/>
                      </p:stCondLst>
                      <p:childTnLst>
                        <p:par>
                          <p:cTn id="33" fill="hold">
                            <p:stCondLst>
                              <p:cond delay="0"/>
                            </p:stCondLst>
                            <p:childTnLst>
                              <p:par>
                                <p:cTn id="34" presetID="17" presetClass="entr" presetSubtype="1" fill="hold" grpId="0" nodeType="clickEffect">
                                  <p:stCondLst>
                                    <p:cond delay="0"/>
                                  </p:stCondLst>
                                  <p:childTnLst>
                                    <p:set>
                                      <p:cBhvr>
                                        <p:cTn id="35" dur="1" fill="hold">
                                          <p:stCondLst>
                                            <p:cond delay="0"/>
                                          </p:stCondLst>
                                        </p:cTn>
                                        <p:tgtEl>
                                          <p:spTgt spid="126042"/>
                                        </p:tgtEl>
                                        <p:attrNameLst>
                                          <p:attrName>style.visibility</p:attrName>
                                        </p:attrNameLst>
                                      </p:cBhvr>
                                      <p:to>
                                        <p:strVal val="visible"/>
                                      </p:to>
                                    </p:set>
                                    <p:anim calcmode="lin" valueType="num">
                                      <p:cBhvr>
                                        <p:cTn id="36" dur="500" fill="hold"/>
                                        <p:tgtEl>
                                          <p:spTgt spid="126042"/>
                                        </p:tgtEl>
                                        <p:attrNameLst>
                                          <p:attrName>ppt_x</p:attrName>
                                        </p:attrNameLst>
                                      </p:cBhvr>
                                      <p:tavLst>
                                        <p:tav tm="0">
                                          <p:val>
                                            <p:strVal val="#ppt_x"/>
                                          </p:val>
                                        </p:tav>
                                        <p:tav tm="100000">
                                          <p:val>
                                            <p:strVal val="#ppt_x"/>
                                          </p:val>
                                        </p:tav>
                                      </p:tavLst>
                                    </p:anim>
                                    <p:anim calcmode="lin" valueType="num">
                                      <p:cBhvr>
                                        <p:cTn id="37" dur="500" fill="hold"/>
                                        <p:tgtEl>
                                          <p:spTgt spid="126042"/>
                                        </p:tgtEl>
                                        <p:attrNameLst>
                                          <p:attrName>ppt_y</p:attrName>
                                        </p:attrNameLst>
                                      </p:cBhvr>
                                      <p:tavLst>
                                        <p:tav tm="0">
                                          <p:val>
                                            <p:strVal val="#ppt_y-#ppt_h/2"/>
                                          </p:val>
                                        </p:tav>
                                        <p:tav tm="100000">
                                          <p:val>
                                            <p:strVal val="#ppt_y"/>
                                          </p:val>
                                        </p:tav>
                                      </p:tavLst>
                                    </p:anim>
                                    <p:anim calcmode="lin" valueType="num">
                                      <p:cBhvr>
                                        <p:cTn id="38" dur="500" fill="hold"/>
                                        <p:tgtEl>
                                          <p:spTgt spid="126042"/>
                                        </p:tgtEl>
                                        <p:attrNameLst>
                                          <p:attrName>ppt_w</p:attrName>
                                        </p:attrNameLst>
                                      </p:cBhvr>
                                      <p:tavLst>
                                        <p:tav tm="0">
                                          <p:val>
                                            <p:strVal val="#ppt_w"/>
                                          </p:val>
                                        </p:tav>
                                        <p:tav tm="100000">
                                          <p:val>
                                            <p:strVal val="#ppt_w"/>
                                          </p:val>
                                        </p:tav>
                                      </p:tavLst>
                                    </p:anim>
                                    <p:anim calcmode="lin" valueType="num">
                                      <p:cBhvr>
                                        <p:cTn id="39" dur="500" fill="hold"/>
                                        <p:tgtEl>
                                          <p:spTgt spid="126042"/>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008" grpId="0" animBg="1"/>
      <p:bldP spid="126042" grpId="0" animBg="1"/>
    </p:bld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6979" name="Group 3"/>
          <p:cNvGrpSpPr/>
          <p:nvPr/>
        </p:nvGrpSpPr>
        <p:grpSpPr>
          <a:xfrm>
            <a:off x="392113" y="1287463"/>
            <a:ext cx="3990975" cy="2413000"/>
            <a:chOff x="0" y="0"/>
            <a:chExt cx="2688" cy="1581"/>
          </a:xfrm>
        </p:grpSpPr>
        <p:sp>
          <p:nvSpPr>
            <p:cNvPr id="171062" name="Text Box 4"/>
            <p:cNvSpPr txBox="1"/>
            <p:nvPr/>
          </p:nvSpPr>
          <p:spPr>
            <a:xfrm>
              <a:off x="768" y="0"/>
              <a:ext cx="1056" cy="326"/>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71063"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71064"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71065"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71066"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71067"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71068"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71069"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71070"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71071"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71072"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71073"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71074"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71075"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71076"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71077"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71078"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71079"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1080"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1081"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1082"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71083"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71084"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71085"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71086"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71087"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71088"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71089"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71090"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71091"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71092"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71093"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27012" name="Text Box 36"/>
          <p:cNvSpPr txBox="1"/>
          <p:nvPr/>
        </p:nvSpPr>
        <p:spPr>
          <a:xfrm>
            <a:off x="4503738" y="1806575"/>
            <a:ext cx="4394200" cy="862013"/>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50000"/>
              </a:spcBef>
              <a:buClrTx/>
              <a:buSzTx/>
              <a:buFont typeface="Arial" panose="020B0604020202020204" pitchFamily="34" charset="0"/>
              <a:buNone/>
            </a:pPr>
            <a:r>
              <a:rPr lang="zh-CN" altLang="en-US" dirty="0">
                <a:ea typeface="方正姚体" panose="02010601030101010101" pitchFamily="2" charset="-122"/>
              </a:rPr>
              <a:t>SELECT  E.sid，cid, sname FROM</a:t>
            </a:r>
            <a:endParaRPr lang="zh-CN" altLang="en-US" dirty="0">
              <a:ea typeface="方正姚体" panose="02010601030101010101" pitchFamily="2" charset="-122"/>
            </a:endParaRPr>
          </a:p>
          <a:p>
            <a:pPr marL="0" lvl="0" indent="0" eaLnBrk="1" hangingPunct="1">
              <a:spcBef>
                <a:spcPct val="50000"/>
              </a:spcBef>
              <a:buClrTx/>
              <a:buSzTx/>
              <a:buFont typeface="Arial" panose="020B0604020202020204" pitchFamily="34" charset="0"/>
              <a:buNone/>
            </a:pPr>
            <a:r>
              <a:rPr lang="zh-CN" altLang="en-US" dirty="0">
                <a:ea typeface="方正姚体" panose="02010601030101010101" pitchFamily="2" charset="-122"/>
              </a:rPr>
              <a:t>S1 </a:t>
            </a:r>
            <a:r>
              <a:rPr lang="zh-CN" altLang="en-US" sz="1800" i="1" dirty="0">
                <a:solidFill>
                  <a:srgbClr val="CC0000"/>
                </a:solidFill>
                <a:ea typeface="方正姚体" panose="02010601030101010101" pitchFamily="2" charset="-122"/>
              </a:rPr>
              <a:t>NATURAL RIGHT OUTER JOIN</a:t>
            </a:r>
            <a:r>
              <a:rPr lang="zh-CN" altLang="en-US" dirty="0">
                <a:ea typeface="方正姚体" panose="02010601030101010101" pitchFamily="2" charset="-122"/>
              </a:rPr>
              <a:t> E</a:t>
            </a:r>
            <a:endParaRPr lang="zh-CN" altLang="en-US" dirty="0">
              <a:ea typeface="方正姚体" panose="02010601030101010101" pitchFamily="2" charset="-122"/>
            </a:endParaRPr>
          </a:p>
        </p:txBody>
      </p:sp>
      <p:graphicFrame>
        <p:nvGraphicFramePr>
          <p:cNvPr id="127013" name="表格 127012"/>
          <p:cNvGraphicFramePr/>
          <p:nvPr/>
        </p:nvGraphicFramePr>
        <p:xfrm>
          <a:off x="4583113" y="3436938"/>
          <a:ext cx="3810000" cy="1917700"/>
        </p:xfrm>
        <a:graphic>
          <a:graphicData uri="http://schemas.openxmlformats.org/drawingml/2006/table">
            <a:tbl>
              <a:tblPr/>
              <a:tblGrid>
                <a:gridCol w="1290638"/>
                <a:gridCol w="1314450"/>
                <a:gridCol w="1204912"/>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sid</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cid</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sname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514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何大</a:t>
                      </a:r>
                      <a:r>
                        <a:rPr lang="zh-CN" altLang="en-US" sz="2400" b="0" dirty="0">
                          <a:solidFill>
                            <a:srgbClr val="003300"/>
                          </a:solidFill>
                          <a:latin typeface="华文楷体" panose="02010600040101010101" pitchFamily="2" charset="-122"/>
                          <a:ea typeface="华文楷体" panose="02010600040101010101" pitchFamily="2" charset="-122"/>
                        </a:rPr>
                        <a:t>明</a:t>
                      </a:r>
                      <a:endParaRPr lang="zh-CN"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6</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103</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latin typeface="华文楷体" panose="02010600040101010101" pitchFamily="2" charset="-122"/>
                          <a:ea typeface="华文楷体" panose="02010600040101010101" pitchFamily="2" charset="-122"/>
                        </a:rPr>
                        <a:t>张大卫</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20</a:t>
                      </a:r>
                      <a:endParaRPr lang="de-DE" altLang="en-US" sz="2400"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105</a:t>
                      </a:r>
                      <a:endParaRPr lang="de-DE" altLang="en-US" sz="2400"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NULL</a:t>
                      </a:r>
                      <a:endParaRPr lang="de-DE"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27035" name="Line 68"/>
          <p:cNvSpPr/>
          <p:nvPr/>
        </p:nvSpPr>
        <p:spPr>
          <a:xfrm>
            <a:off x="6415088" y="2720975"/>
            <a:ext cx="0" cy="685800"/>
          </a:xfrm>
          <a:prstGeom prst="line">
            <a:avLst/>
          </a:prstGeom>
          <a:ln w="50800" cap="flat" cmpd="sng">
            <a:solidFill>
              <a:srgbClr val="CC0000"/>
            </a:solidFill>
            <a:prstDash val="solid"/>
            <a:headEnd type="none" w="med" len="med"/>
            <a:tailEnd type="stealth" w="med" len="med"/>
          </a:ln>
        </p:spPr>
      </p:sp>
      <p:sp>
        <p:nvSpPr>
          <p:cNvPr id="127036" name="Text Box 69"/>
          <p:cNvSpPr txBox="1"/>
          <p:nvPr/>
        </p:nvSpPr>
        <p:spPr>
          <a:xfrm>
            <a:off x="349250" y="5700713"/>
            <a:ext cx="8305800" cy="552450"/>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003300"/>
                </a:solidFill>
                <a:latin typeface="华文楷体" panose="02010600040101010101" pitchFamily="2" charset="-122"/>
                <a:ea typeface="华文楷体" panose="02010600040101010101" pitchFamily="2" charset="-122"/>
              </a:rPr>
              <a:t>右外联结的实际结果以操作符右边的关系为准。</a:t>
            </a:r>
            <a:endParaRPr lang="de-DE" altLang="en-US" sz="2400" dirty="0">
              <a:solidFill>
                <a:srgbClr val="003300"/>
              </a:solidFill>
              <a:latin typeface="华文楷体" panose="02010600040101010101" pitchFamily="2" charset="-122"/>
              <a:ea typeface="华文楷体" panose="02010600040101010101" pitchFamily="2" charset="-122"/>
            </a:endParaRPr>
          </a:p>
        </p:txBody>
      </p:sp>
      <p:grpSp>
        <p:nvGrpSpPr>
          <p:cNvPr id="127037" name="Group 70"/>
          <p:cNvGrpSpPr/>
          <p:nvPr/>
        </p:nvGrpSpPr>
        <p:grpSpPr>
          <a:xfrm>
            <a:off x="468313" y="3716338"/>
            <a:ext cx="3467100" cy="1857375"/>
            <a:chOff x="0" y="0"/>
            <a:chExt cx="2184" cy="1419"/>
          </a:xfrm>
        </p:grpSpPr>
        <p:sp>
          <p:nvSpPr>
            <p:cNvPr id="171039" name="Text Box 71"/>
            <p:cNvSpPr txBox="1"/>
            <p:nvPr/>
          </p:nvSpPr>
          <p:spPr>
            <a:xfrm>
              <a:off x="528" y="0"/>
              <a:ext cx="1152"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71040" name="Rectangle 72"/>
            <p:cNvSpPr/>
            <p:nvPr/>
          </p:nvSpPr>
          <p:spPr>
            <a:xfrm>
              <a:off x="1456" y="391"/>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190500" lvl="1" indent="0" eaLnBrk="1" hangingPunct="1">
                <a:lnSpc>
                  <a:spcPct val="135000"/>
                </a:lnSpc>
                <a:buClrTx/>
                <a:buSzTx/>
                <a:buFont typeface="Arial" panose="020B0604020202020204" pitchFamily="34" charset="0"/>
                <a:buNone/>
              </a:pPr>
              <a:r>
                <a:rPr lang="zh-CN" altLang="en-US" sz="1800" dirty="0"/>
                <a:t>score</a:t>
              </a:r>
              <a:endParaRPr lang="de-DE" altLang="en-US" sz="1800" dirty="0"/>
            </a:p>
          </p:txBody>
        </p:sp>
        <p:sp>
          <p:nvSpPr>
            <p:cNvPr id="171041" name="Rectangle 73"/>
            <p:cNvSpPr/>
            <p:nvPr/>
          </p:nvSpPr>
          <p:spPr>
            <a:xfrm>
              <a:off x="657" y="391"/>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cid</a:t>
              </a:r>
              <a:endParaRPr lang="de-DE" altLang="en-US" sz="1800" u="sng" dirty="0"/>
            </a:p>
          </p:txBody>
        </p:sp>
        <p:sp>
          <p:nvSpPr>
            <p:cNvPr id="171042" name="Rectangle 74"/>
            <p:cNvSpPr/>
            <p:nvPr/>
          </p:nvSpPr>
          <p:spPr>
            <a:xfrm>
              <a:off x="0" y="391"/>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u="sng" dirty="0"/>
                <a:t>sid</a:t>
              </a:r>
              <a:endParaRPr lang="de-DE" altLang="en-US" sz="1800" u="sng" dirty="0"/>
            </a:p>
          </p:txBody>
        </p:sp>
        <p:sp>
          <p:nvSpPr>
            <p:cNvPr id="171043" name="Rectangle 75"/>
            <p:cNvSpPr/>
            <p:nvPr/>
          </p:nvSpPr>
          <p:spPr>
            <a:xfrm>
              <a:off x="1456" y="890"/>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80</a:t>
              </a:r>
              <a:endParaRPr lang="zh-CN" altLang="en-US" sz="1800" dirty="0"/>
            </a:p>
          </p:txBody>
        </p:sp>
        <p:sp>
          <p:nvSpPr>
            <p:cNvPr id="171044" name="Rectangle 76"/>
            <p:cNvSpPr/>
            <p:nvPr/>
          </p:nvSpPr>
          <p:spPr>
            <a:xfrm>
              <a:off x="657" y="890"/>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103</a:t>
              </a:r>
              <a:endParaRPr lang="de-DE" altLang="en-US" sz="1800" dirty="0">
                <a:ea typeface="华文楷体" panose="02010600040101010101" pitchFamily="2" charset="-122"/>
              </a:endParaRPr>
            </a:p>
          </p:txBody>
        </p:sp>
        <p:sp>
          <p:nvSpPr>
            <p:cNvPr id="171045" name="Rectangle 77"/>
            <p:cNvSpPr/>
            <p:nvPr/>
          </p:nvSpPr>
          <p:spPr>
            <a:xfrm>
              <a:off x="0" y="890"/>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6</a:t>
              </a:r>
              <a:endParaRPr lang="de-DE" altLang="en-US" sz="1800" dirty="0">
                <a:ea typeface="华文楷体" panose="02010600040101010101" pitchFamily="2" charset="-122"/>
              </a:endParaRPr>
            </a:p>
          </p:txBody>
        </p:sp>
        <p:sp>
          <p:nvSpPr>
            <p:cNvPr id="171046" name="Rectangle 78"/>
            <p:cNvSpPr/>
            <p:nvPr/>
          </p:nvSpPr>
          <p:spPr>
            <a:xfrm>
              <a:off x="1456" y="621"/>
              <a:ext cx="704"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91</a:t>
              </a:r>
              <a:endParaRPr lang="zh-CN" altLang="en-US" sz="1800" dirty="0"/>
            </a:p>
          </p:txBody>
        </p:sp>
        <p:sp>
          <p:nvSpPr>
            <p:cNvPr id="171047" name="Rectangle 79"/>
            <p:cNvSpPr/>
            <p:nvPr/>
          </p:nvSpPr>
          <p:spPr>
            <a:xfrm>
              <a:off x="657" y="621"/>
              <a:ext cx="799"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101</a:t>
              </a:r>
              <a:endParaRPr lang="de-DE" altLang="en-US" sz="1800" dirty="0">
                <a:ea typeface="华文楷体" panose="02010600040101010101" pitchFamily="2" charset="-122"/>
              </a:endParaRPr>
            </a:p>
          </p:txBody>
        </p:sp>
        <p:sp>
          <p:nvSpPr>
            <p:cNvPr id="171048" name="Rectangle 80"/>
            <p:cNvSpPr/>
            <p:nvPr/>
          </p:nvSpPr>
          <p:spPr>
            <a:xfrm>
              <a:off x="0" y="621"/>
              <a:ext cx="657" cy="26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a:t>
              </a:r>
              <a:endParaRPr lang="de-DE" altLang="en-US" sz="1800" dirty="0">
                <a:ea typeface="华文楷体" panose="02010600040101010101" pitchFamily="2" charset="-122"/>
              </a:endParaRPr>
            </a:p>
          </p:txBody>
        </p:sp>
        <p:sp>
          <p:nvSpPr>
            <p:cNvPr id="171049" name="Line 81"/>
            <p:cNvSpPr/>
            <p:nvPr/>
          </p:nvSpPr>
          <p:spPr>
            <a:xfrm>
              <a:off x="0" y="391"/>
              <a:ext cx="2160" cy="0"/>
            </a:xfrm>
            <a:prstGeom prst="line">
              <a:avLst/>
            </a:prstGeom>
            <a:ln w="28575" cap="sq" cmpd="sng">
              <a:solidFill>
                <a:schemeClr val="tx1"/>
              </a:solidFill>
              <a:prstDash val="solid"/>
              <a:headEnd type="none" w="med" len="med"/>
              <a:tailEnd type="none" w="med" len="med"/>
            </a:ln>
          </p:spPr>
        </p:sp>
        <p:sp>
          <p:nvSpPr>
            <p:cNvPr id="171050" name="Line 82"/>
            <p:cNvSpPr/>
            <p:nvPr/>
          </p:nvSpPr>
          <p:spPr>
            <a:xfrm>
              <a:off x="0" y="890"/>
              <a:ext cx="2160" cy="0"/>
            </a:xfrm>
            <a:prstGeom prst="line">
              <a:avLst/>
            </a:prstGeom>
            <a:ln w="12700" cap="flat" cmpd="sng">
              <a:solidFill>
                <a:schemeClr val="tx1"/>
              </a:solidFill>
              <a:prstDash val="solid"/>
              <a:headEnd type="none" w="med" len="med"/>
              <a:tailEnd type="none" w="med" len="med"/>
            </a:ln>
          </p:spPr>
        </p:sp>
        <p:sp>
          <p:nvSpPr>
            <p:cNvPr id="171051" name="Line 83"/>
            <p:cNvSpPr/>
            <p:nvPr/>
          </p:nvSpPr>
          <p:spPr>
            <a:xfrm>
              <a:off x="0" y="1120"/>
              <a:ext cx="2160" cy="0"/>
            </a:xfrm>
            <a:prstGeom prst="line">
              <a:avLst/>
            </a:prstGeom>
            <a:ln w="28575" cap="sq" cmpd="sng">
              <a:solidFill>
                <a:schemeClr val="tx1"/>
              </a:solidFill>
              <a:prstDash val="solid"/>
              <a:headEnd type="none" w="med" len="med"/>
              <a:tailEnd type="none" w="med" len="med"/>
            </a:ln>
          </p:spPr>
        </p:sp>
        <p:sp>
          <p:nvSpPr>
            <p:cNvPr id="171052" name="Line 84"/>
            <p:cNvSpPr/>
            <p:nvPr/>
          </p:nvSpPr>
          <p:spPr>
            <a:xfrm>
              <a:off x="0" y="391"/>
              <a:ext cx="0" cy="1028"/>
            </a:xfrm>
            <a:prstGeom prst="line">
              <a:avLst/>
            </a:prstGeom>
            <a:ln w="28575" cap="sq" cmpd="sng">
              <a:solidFill>
                <a:schemeClr val="tx1"/>
              </a:solidFill>
              <a:prstDash val="solid"/>
              <a:headEnd type="none" w="med" len="med"/>
              <a:tailEnd type="none" w="med" len="med"/>
            </a:ln>
          </p:spPr>
        </p:sp>
        <p:sp>
          <p:nvSpPr>
            <p:cNvPr id="171053" name="Line 85"/>
            <p:cNvSpPr/>
            <p:nvPr/>
          </p:nvSpPr>
          <p:spPr>
            <a:xfrm flipH="1">
              <a:off x="635" y="391"/>
              <a:ext cx="22" cy="1028"/>
            </a:xfrm>
            <a:prstGeom prst="line">
              <a:avLst/>
            </a:prstGeom>
            <a:ln w="12700" cap="flat" cmpd="sng">
              <a:solidFill>
                <a:schemeClr val="tx1"/>
              </a:solidFill>
              <a:prstDash val="solid"/>
              <a:headEnd type="none" w="med" len="med"/>
              <a:tailEnd type="none" w="med" len="med"/>
            </a:ln>
          </p:spPr>
        </p:sp>
        <p:sp>
          <p:nvSpPr>
            <p:cNvPr id="171054" name="Line 86"/>
            <p:cNvSpPr/>
            <p:nvPr/>
          </p:nvSpPr>
          <p:spPr>
            <a:xfrm flipH="1">
              <a:off x="1452" y="391"/>
              <a:ext cx="4" cy="1028"/>
            </a:xfrm>
            <a:prstGeom prst="line">
              <a:avLst/>
            </a:prstGeom>
            <a:ln w="12700" cap="flat" cmpd="sng">
              <a:solidFill>
                <a:schemeClr val="tx1"/>
              </a:solidFill>
              <a:prstDash val="solid"/>
              <a:headEnd type="none" w="med" len="med"/>
              <a:tailEnd type="none" w="med" len="med"/>
            </a:ln>
          </p:spPr>
        </p:sp>
        <p:sp>
          <p:nvSpPr>
            <p:cNvPr id="171055" name="Line 87"/>
            <p:cNvSpPr/>
            <p:nvPr/>
          </p:nvSpPr>
          <p:spPr>
            <a:xfrm>
              <a:off x="2160" y="391"/>
              <a:ext cx="0" cy="499"/>
            </a:xfrm>
            <a:prstGeom prst="line">
              <a:avLst/>
            </a:prstGeom>
            <a:ln w="12700" cap="flat" cmpd="sng">
              <a:solidFill>
                <a:schemeClr val="tx1"/>
              </a:solidFill>
              <a:prstDash val="solid"/>
              <a:headEnd type="none" w="med" len="med"/>
              <a:tailEnd type="none" w="med" len="med"/>
            </a:ln>
          </p:spPr>
        </p:sp>
        <p:sp>
          <p:nvSpPr>
            <p:cNvPr id="171056" name="Line 88"/>
            <p:cNvSpPr/>
            <p:nvPr/>
          </p:nvSpPr>
          <p:spPr>
            <a:xfrm>
              <a:off x="2160" y="890"/>
              <a:ext cx="18" cy="529"/>
            </a:xfrm>
            <a:prstGeom prst="line">
              <a:avLst/>
            </a:prstGeom>
            <a:ln w="28575" cap="sq" cmpd="sng">
              <a:solidFill>
                <a:schemeClr val="tx1"/>
              </a:solidFill>
              <a:prstDash val="solid"/>
              <a:headEnd type="none" w="med" len="med"/>
              <a:tailEnd type="none" w="med" len="med"/>
            </a:ln>
          </p:spPr>
        </p:sp>
        <p:sp>
          <p:nvSpPr>
            <p:cNvPr id="171057" name="Line 89"/>
            <p:cNvSpPr/>
            <p:nvPr/>
          </p:nvSpPr>
          <p:spPr>
            <a:xfrm>
              <a:off x="0" y="621"/>
              <a:ext cx="2160" cy="0"/>
            </a:xfrm>
            <a:prstGeom prst="line">
              <a:avLst/>
            </a:prstGeom>
            <a:ln w="12700" cap="flat" cmpd="sng">
              <a:solidFill>
                <a:schemeClr val="tx1"/>
              </a:solidFill>
              <a:prstDash val="solid"/>
              <a:headEnd type="none" w="med" len="med"/>
              <a:tailEnd type="none" w="med" len="med"/>
            </a:ln>
          </p:spPr>
        </p:sp>
        <p:sp>
          <p:nvSpPr>
            <p:cNvPr id="171058" name="Rectangle 90"/>
            <p:cNvSpPr/>
            <p:nvPr/>
          </p:nvSpPr>
          <p:spPr>
            <a:xfrm>
              <a:off x="1480" y="1101"/>
              <a:ext cx="704"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88</a:t>
              </a:r>
              <a:endParaRPr lang="de-DE" altLang="en-US" sz="1800" dirty="0"/>
            </a:p>
          </p:txBody>
        </p:sp>
        <p:sp>
          <p:nvSpPr>
            <p:cNvPr id="171059" name="Rectangle 91"/>
            <p:cNvSpPr/>
            <p:nvPr/>
          </p:nvSpPr>
          <p:spPr>
            <a:xfrm>
              <a:off x="681" y="1101"/>
              <a:ext cx="799"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sz="1800" dirty="0"/>
                <a:t>105</a:t>
              </a:r>
              <a:endParaRPr lang="de-DE" altLang="en-US" sz="1800" dirty="0">
                <a:ea typeface="华文楷体" panose="02010600040101010101" pitchFamily="2" charset="-122"/>
              </a:endParaRPr>
            </a:p>
          </p:txBody>
        </p:sp>
        <p:sp>
          <p:nvSpPr>
            <p:cNvPr id="171060" name="Rectangle 92"/>
            <p:cNvSpPr/>
            <p:nvPr/>
          </p:nvSpPr>
          <p:spPr>
            <a:xfrm>
              <a:off x="24" y="1101"/>
              <a:ext cx="657" cy="23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sz="1800" dirty="0"/>
                <a:t>20</a:t>
              </a:r>
              <a:endParaRPr lang="de-DE" altLang="en-US" sz="1800" dirty="0"/>
            </a:p>
          </p:txBody>
        </p:sp>
        <p:sp>
          <p:nvSpPr>
            <p:cNvPr id="171061" name="Line 93"/>
            <p:cNvSpPr/>
            <p:nvPr/>
          </p:nvSpPr>
          <p:spPr>
            <a:xfrm>
              <a:off x="0" y="1419"/>
              <a:ext cx="2160" cy="0"/>
            </a:xfrm>
            <a:prstGeom prst="line">
              <a:avLst/>
            </a:prstGeom>
            <a:ln w="12700" cap="flat" cmpd="sng">
              <a:solidFill>
                <a:schemeClr val="tx1"/>
              </a:solidFill>
              <a:prstDash val="solid"/>
              <a:headEnd type="none" w="med" len="med"/>
              <a:tailEnd type="none" w="med" len="med"/>
            </a:ln>
          </p:spPr>
        </p:sp>
      </p:grpSp>
      <p:sp>
        <p:nvSpPr>
          <p:cNvPr id="171037"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右外连接</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7103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6979"/>
                                        </p:tgtEl>
                                        <p:attrNameLst>
                                          <p:attrName>style.visibility</p:attrName>
                                        </p:attrNameLst>
                                      </p:cBhvr>
                                      <p:to>
                                        <p:strVal val="visible"/>
                                      </p:to>
                                    </p:set>
                                    <p:animEffect transition="in" filter="box(in)">
                                      <p:cBhvr>
                                        <p:cTn id="7" dur="500"/>
                                        <p:tgtEl>
                                          <p:spTgt spid="126979"/>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27037"/>
                                        </p:tgtEl>
                                        <p:attrNameLst>
                                          <p:attrName>style.visibility</p:attrName>
                                        </p:attrNameLst>
                                      </p:cBhvr>
                                      <p:to>
                                        <p:strVal val="visible"/>
                                      </p:to>
                                    </p:set>
                                    <p:anim calcmode="lin" valueType="num">
                                      <p:cBhvr>
                                        <p:cTn id="12" dur="500" fill="hold"/>
                                        <p:tgtEl>
                                          <p:spTgt spid="127037"/>
                                        </p:tgtEl>
                                        <p:attrNameLst>
                                          <p:attrName>ppt_w</p:attrName>
                                        </p:attrNameLst>
                                      </p:cBhvr>
                                      <p:tavLst>
                                        <p:tav tm="0">
                                          <p:val>
                                            <p:fltVal val="0.000000"/>
                                          </p:val>
                                        </p:tav>
                                        <p:tav tm="100000">
                                          <p:val>
                                            <p:strVal val="#ppt_w"/>
                                          </p:val>
                                        </p:tav>
                                      </p:tavLst>
                                    </p:anim>
                                    <p:anim calcmode="lin" valueType="num">
                                      <p:cBhvr>
                                        <p:cTn id="13" dur="500" fill="hold"/>
                                        <p:tgtEl>
                                          <p:spTgt spid="127037"/>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17" presetClass="entr" presetSubtype="1" fill="hold" grpId="0" nodeType="clickEffect">
                                  <p:stCondLst>
                                    <p:cond delay="0"/>
                                  </p:stCondLst>
                                  <p:childTnLst>
                                    <p:set>
                                      <p:cBhvr>
                                        <p:cTn id="17" dur="1" fill="hold">
                                          <p:stCondLst>
                                            <p:cond delay="0"/>
                                          </p:stCondLst>
                                        </p:cTn>
                                        <p:tgtEl>
                                          <p:spTgt spid="127012"/>
                                        </p:tgtEl>
                                        <p:attrNameLst>
                                          <p:attrName>style.visibility</p:attrName>
                                        </p:attrNameLst>
                                      </p:cBhvr>
                                      <p:to>
                                        <p:strVal val="visible"/>
                                      </p:to>
                                    </p:set>
                                    <p:anim calcmode="lin" valueType="num">
                                      <p:cBhvr>
                                        <p:cTn id="18" dur="500" fill="hold"/>
                                        <p:tgtEl>
                                          <p:spTgt spid="127012"/>
                                        </p:tgtEl>
                                        <p:attrNameLst>
                                          <p:attrName>ppt_x</p:attrName>
                                        </p:attrNameLst>
                                      </p:cBhvr>
                                      <p:tavLst>
                                        <p:tav tm="0">
                                          <p:val>
                                            <p:strVal val="#ppt_x"/>
                                          </p:val>
                                        </p:tav>
                                        <p:tav tm="100000">
                                          <p:val>
                                            <p:strVal val="#ppt_x"/>
                                          </p:val>
                                        </p:tav>
                                      </p:tavLst>
                                    </p:anim>
                                    <p:anim calcmode="lin" valueType="num">
                                      <p:cBhvr>
                                        <p:cTn id="19" dur="500" fill="hold"/>
                                        <p:tgtEl>
                                          <p:spTgt spid="127012"/>
                                        </p:tgtEl>
                                        <p:attrNameLst>
                                          <p:attrName>ppt_y</p:attrName>
                                        </p:attrNameLst>
                                      </p:cBhvr>
                                      <p:tavLst>
                                        <p:tav tm="0">
                                          <p:val>
                                            <p:strVal val="#ppt_y-#ppt_h/2"/>
                                          </p:val>
                                        </p:tav>
                                        <p:tav tm="100000">
                                          <p:val>
                                            <p:strVal val="#ppt_y"/>
                                          </p:val>
                                        </p:tav>
                                      </p:tavLst>
                                    </p:anim>
                                    <p:anim calcmode="lin" valueType="num">
                                      <p:cBhvr>
                                        <p:cTn id="20" dur="500" fill="hold"/>
                                        <p:tgtEl>
                                          <p:spTgt spid="127012"/>
                                        </p:tgtEl>
                                        <p:attrNameLst>
                                          <p:attrName>ppt_w</p:attrName>
                                        </p:attrNameLst>
                                      </p:cBhvr>
                                      <p:tavLst>
                                        <p:tav tm="0">
                                          <p:val>
                                            <p:strVal val="#ppt_w"/>
                                          </p:val>
                                        </p:tav>
                                        <p:tav tm="100000">
                                          <p:val>
                                            <p:strVal val="#ppt_w"/>
                                          </p:val>
                                        </p:tav>
                                      </p:tavLst>
                                    </p:anim>
                                    <p:anim calcmode="lin" valueType="num">
                                      <p:cBhvr>
                                        <p:cTn id="21" dur="500" fill="hold"/>
                                        <p:tgtEl>
                                          <p:spTgt spid="127012"/>
                                        </p:tgtEl>
                                        <p:attrNameLst>
                                          <p:attrName>ppt_h</p:attrName>
                                        </p:attrNameLst>
                                      </p:cBhvr>
                                      <p:tavLst>
                                        <p:tav tm="0">
                                          <p:val>
                                            <p:fltVal val="0.00000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23" presetClass="entr" presetSubtype="16" fill="hold" nodeType="clickEffect">
                                  <p:stCondLst>
                                    <p:cond delay="0"/>
                                  </p:stCondLst>
                                  <p:childTnLst>
                                    <p:set>
                                      <p:cBhvr>
                                        <p:cTn id="25" dur="1" fill="hold">
                                          <p:stCondLst>
                                            <p:cond delay="0"/>
                                          </p:stCondLst>
                                        </p:cTn>
                                        <p:tgtEl>
                                          <p:spTgt spid="127035"/>
                                        </p:tgtEl>
                                        <p:attrNameLst>
                                          <p:attrName>style.visibility</p:attrName>
                                        </p:attrNameLst>
                                      </p:cBhvr>
                                      <p:to>
                                        <p:strVal val="visible"/>
                                      </p:to>
                                    </p:set>
                                    <p:anim calcmode="lin" valueType="num">
                                      <p:cBhvr>
                                        <p:cTn id="26" dur="500" fill="hold"/>
                                        <p:tgtEl>
                                          <p:spTgt spid="127035"/>
                                        </p:tgtEl>
                                        <p:attrNameLst>
                                          <p:attrName>ppt_w</p:attrName>
                                        </p:attrNameLst>
                                      </p:cBhvr>
                                      <p:tavLst>
                                        <p:tav tm="0">
                                          <p:val>
                                            <p:fltVal val="0.000000"/>
                                          </p:val>
                                        </p:tav>
                                        <p:tav tm="100000">
                                          <p:val>
                                            <p:strVal val="#ppt_w"/>
                                          </p:val>
                                        </p:tav>
                                      </p:tavLst>
                                    </p:anim>
                                    <p:anim calcmode="lin" valueType="num">
                                      <p:cBhvr>
                                        <p:cTn id="27" dur="500" fill="hold"/>
                                        <p:tgtEl>
                                          <p:spTgt spid="127035"/>
                                        </p:tgtEl>
                                        <p:attrNameLst>
                                          <p:attrName>ppt_h</p:attrName>
                                        </p:attrNameLst>
                                      </p:cBhvr>
                                      <p:tavLst>
                                        <p:tav tm="0">
                                          <p:val>
                                            <p:fltVal val="0.000000"/>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7013"/>
                                        </p:tgtEl>
                                        <p:attrNameLst>
                                          <p:attrName>style.visibility</p:attrName>
                                        </p:attrNameLst>
                                      </p:cBhvr>
                                      <p:to>
                                        <p:strVal val="visible"/>
                                      </p:to>
                                    </p:set>
                                    <p:animEffect transition="in" filter="dissolve">
                                      <p:cBhvr>
                                        <p:cTn id="32" dur="500"/>
                                        <p:tgtEl>
                                          <p:spTgt spid="127013"/>
                                        </p:tgtEl>
                                      </p:cBhvr>
                                    </p:animEffect>
                                  </p:childTnLst>
                                </p:cTn>
                              </p:par>
                            </p:childTnLst>
                          </p:cTn>
                        </p:par>
                      </p:childTnLst>
                    </p:cTn>
                  </p:par>
                  <p:par>
                    <p:cTn id="33" fill="hold">
                      <p:stCondLst>
                        <p:cond delay="indefinite"/>
                      </p:stCondLst>
                      <p:childTnLst>
                        <p:par>
                          <p:cTn id="34" fill="hold">
                            <p:stCondLst>
                              <p:cond delay="0"/>
                            </p:stCondLst>
                            <p:childTnLst>
                              <p:par>
                                <p:cTn id="35" presetID="17" presetClass="entr" presetSubtype="1" fill="hold" grpId="0" nodeType="clickEffect">
                                  <p:stCondLst>
                                    <p:cond delay="0"/>
                                  </p:stCondLst>
                                  <p:childTnLst>
                                    <p:set>
                                      <p:cBhvr>
                                        <p:cTn id="36" dur="1" fill="hold">
                                          <p:stCondLst>
                                            <p:cond delay="0"/>
                                          </p:stCondLst>
                                        </p:cTn>
                                        <p:tgtEl>
                                          <p:spTgt spid="127036"/>
                                        </p:tgtEl>
                                        <p:attrNameLst>
                                          <p:attrName>style.visibility</p:attrName>
                                        </p:attrNameLst>
                                      </p:cBhvr>
                                      <p:to>
                                        <p:strVal val="visible"/>
                                      </p:to>
                                    </p:set>
                                    <p:anim calcmode="lin" valueType="num">
                                      <p:cBhvr>
                                        <p:cTn id="37" dur="500" fill="hold"/>
                                        <p:tgtEl>
                                          <p:spTgt spid="127036"/>
                                        </p:tgtEl>
                                        <p:attrNameLst>
                                          <p:attrName>ppt_x</p:attrName>
                                        </p:attrNameLst>
                                      </p:cBhvr>
                                      <p:tavLst>
                                        <p:tav tm="0">
                                          <p:val>
                                            <p:strVal val="#ppt_x"/>
                                          </p:val>
                                        </p:tav>
                                        <p:tav tm="100000">
                                          <p:val>
                                            <p:strVal val="#ppt_x"/>
                                          </p:val>
                                        </p:tav>
                                      </p:tavLst>
                                    </p:anim>
                                    <p:anim calcmode="lin" valueType="num">
                                      <p:cBhvr>
                                        <p:cTn id="38" dur="500" fill="hold"/>
                                        <p:tgtEl>
                                          <p:spTgt spid="127036"/>
                                        </p:tgtEl>
                                        <p:attrNameLst>
                                          <p:attrName>ppt_y</p:attrName>
                                        </p:attrNameLst>
                                      </p:cBhvr>
                                      <p:tavLst>
                                        <p:tav tm="0">
                                          <p:val>
                                            <p:strVal val="#ppt_y-#ppt_h/2"/>
                                          </p:val>
                                        </p:tav>
                                        <p:tav tm="100000">
                                          <p:val>
                                            <p:strVal val="#ppt_y"/>
                                          </p:val>
                                        </p:tav>
                                      </p:tavLst>
                                    </p:anim>
                                    <p:anim calcmode="lin" valueType="num">
                                      <p:cBhvr>
                                        <p:cTn id="39" dur="500" fill="hold"/>
                                        <p:tgtEl>
                                          <p:spTgt spid="127036"/>
                                        </p:tgtEl>
                                        <p:attrNameLst>
                                          <p:attrName>ppt_w</p:attrName>
                                        </p:attrNameLst>
                                      </p:cBhvr>
                                      <p:tavLst>
                                        <p:tav tm="0">
                                          <p:val>
                                            <p:strVal val="#ppt_w"/>
                                          </p:val>
                                        </p:tav>
                                        <p:tav tm="100000">
                                          <p:val>
                                            <p:strVal val="#ppt_w"/>
                                          </p:val>
                                        </p:tav>
                                      </p:tavLst>
                                    </p:anim>
                                    <p:anim calcmode="lin" valueType="num">
                                      <p:cBhvr>
                                        <p:cTn id="40" dur="500" fill="hold"/>
                                        <p:tgtEl>
                                          <p:spTgt spid="127036"/>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7012" grpId="0" animBg="1"/>
      <p:bldP spid="127036" grpId="0" animBg="1"/>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28003" name="Group 3"/>
          <p:cNvGrpSpPr/>
          <p:nvPr/>
        </p:nvGrpSpPr>
        <p:grpSpPr>
          <a:xfrm>
            <a:off x="333375" y="1273175"/>
            <a:ext cx="4049713" cy="2268538"/>
            <a:chOff x="0" y="0"/>
            <a:chExt cx="2688" cy="1581"/>
          </a:xfrm>
        </p:grpSpPr>
        <p:sp>
          <p:nvSpPr>
            <p:cNvPr id="172093" name="Text Box 4"/>
            <p:cNvSpPr txBox="1"/>
            <p:nvPr/>
          </p:nvSpPr>
          <p:spPr>
            <a:xfrm>
              <a:off x="768" y="0"/>
              <a:ext cx="1056"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学生表 S1</a:t>
              </a:r>
              <a:endParaRPr lang="de-DE" altLang="en-US" sz="2400" dirty="0">
                <a:solidFill>
                  <a:srgbClr val="0000CC"/>
                </a:solidFill>
                <a:latin typeface="宋体" panose="02010600030101010101" pitchFamily="2" charset="-122"/>
              </a:endParaRPr>
            </a:p>
          </p:txBody>
        </p:sp>
        <p:sp>
          <p:nvSpPr>
            <p:cNvPr id="172094" name="Rectangle 5"/>
            <p:cNvSpPr/>
            <p:nvPr/>
          </p:nvSpPr>
          <p:spPr>
            <a:xfrm>
              <a:off x="2099" y="1332"/>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a:t>
              </a:r>
              <a:endParaRPr lang="de-DE" altLang="en-US" dirty="0">
                <a:ea typeface="华文楷体" panose="02010600040101010101" pitchFamily="2" charset="-122"/>
              </a:endParaRPr>
            </a:p>
          </p:txBody>
        </p:sp>
        <p:sp>
          <p:nvSpPr>
            <p:cNvPr id="172095" name="Rectangle 6"/>
            <p:cNvSpPr/>
            <p:nvPr/>
          </p:nvSpPr>
          <p:spPr>
            <a:xfrm>
              <a:off x="1425" y="1332"/>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18</a:t>
              </a:r>
              <a:endParaRPr lang="de-DE" altLang="en-US" dirty="0">
                <a:ea typeface="华文楷体" panose="02010600040101010101" pitchFamily="2" charset="-122"/>
              </a:endParaRPr>
            </a:p>
          </p:txBody>
        </p:sp>
        <p:sp>
          <p:nvSpPr>
            <p:cNvPr id="172096" name="Rectangle 7"/>
            <p:cNvSpPr/>
            <p:nvPr/>
          </p:nvSpPr>
          <p:spPr>
            <a:xfrm>
              <a:off x="528" y="1332"/>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张大卫</a:t>
              </a:r>
              <a:endParaRPr lang="zh-CN" altLang="en-US" dirty="0">
                <a:ea typeface="华文楷体" panose="02010600040101010101" pitchFamily="2" charset="-122"/>
              </a:endParaRPr>
            </a:p>
          </p:txBody>
        </p:sp>
        <p:sp>
          <p:nvSpPr>
            <p:cNvPr id="172097" name="Rectangle 8"/>
            <p:cNvSpPr/>
            <p:nvPr/>
          </p:nvSpPr>
          <p:spPr>
            <a:xfrm>
              <a:off x="0" y="1332"/>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6</a:t>
              </a:r>
              <a:endParaRPr lang="de-DE" altLang="en-US" dirty="0">
                <a:ea typeface="华文楷体" panose="02010600040101010101" pitchFamily="2" charset="-122"/>
              </a:endParaRPr>
            </a:p>
          </p:txBody>
        </p:sp>
        <p:sp>
          <p:nvSpPr>
            <p:cNvPr id="172098" name="Rectangle 9"/>
            <p:cNvSpPr/>
            <p:nvPr/>
          </p:nvSpPr>
          <p:spPr>
            <a:xfrm>
              <a:off x="2099" y="1083"/>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4</a:t>
              </a:r>
              <a:endParaRPr lang="de-DE" altLang="en-US" dirty="0">
                <a:ea typeface="华文楷体" panose="02010600040101010101" pitchFamily="2" charset="-122"/>
              </a:endParaRPr>
            </a:p>
          </p:txBody>
        </p:sp>
        <p:sp>
          <p:nvSpPr>
            <p:cNvPr id="172099" name="Rectangle 10"/>
            <p:cNvSpPr/>
            <p:nvPr/>
          </p:nvSpPr>
          <p:spPr>
            <a:xfrm>
              <a:off x="1425" y="1083"/>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21</a:t>
              </a:r>
              <a:endParaRPr lang="de-DE" altLang="en-US" dirty="0">
                <a:ea typeface="华文楷体" panose="02010600040101010101" pitchFamily="2" charset="-122"/>
              </a:endParaRPr>
            </a:p>
          </p:txBody>
        </p:sp>
        <p:sp>
          <p:nvSpPr>
            <p:cNvPr id="172100" name="Rectangle 11"/>
            <p:cNvSpPr/>
            <p:nvPr/>
          </p:nvSpPr>
          <p:spPr>
            <a:xfrm>
              <a:off x="528" y="1083"/>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ea typeface="华文楷体" panose="02010600040101010101" pitchFamily="2" charset="-122"/>
                </a:rPr>
                <a:t>陈胜</a:t>
              </a:r>
              <a:endParaRPr lang="zh-CN" altLang="en-US" dirty="0">
                <a:ea typeface="华文楷体" panose="02010600040101010101" pitchFamily="2" charset="-122"/>
              </a:endParaRPr>
            </a:p>
          </p:txBody>
        </p:sp>
        <p:sp>
          <p:nvSpPr>
            <p:cNvPr id="172101" name="Rectangle 12"/>
            <p:cNvSpPr/>
            <p:nvPr/>
          </p:nvSpPr>
          <p:spPr>
            <a:xfrm>
              <a:off x="0" y="1083"/>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35</a:t>
              </a:r>
              <a:endParaRPr lang="de-DE" altLang="en-US" dirty="0">
                <a:ea typeface="华文楷体" panose="02010600040101010101" pitchFamily="2" charset="-122"/>
              </a:endParaRPr>
            </a:p>
          </p:txBody>
        </p:sp>
        <p:sp>
          <p:nvSpPr>
            <p:cNvPr id="172102" name="Rectangle 13"/>
            <p:cNvSpPr/>
            <p:nvPr/>
          </p:nvSpPr>
          <p:spPr>
            <a:xfrm>
              <a:off x="2099" y="834"/>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3</a:t>
              </a:r>
              <a:endParaRPr lang="de-DE" altLang="en-US" dirty="0">
                <a:ea typeface="华文楷体" panose="02010600040101010101" pitchFamily="2" charset="-122"/>
              </a:endParaRPr>
            </a:p>
          </p:txBody>
        </p:sp>
        <p:sp>
          <p:nvSpPr>
            <p:cNvPr id="172103" name="Rectangle 14"/>
            <p:cNvSpPr/>
            <p:nvPr/>
          </p:nvSpPr>
          <p:spPr>
            <a:xfrm>
              <a:off x="1425" y="834"/>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20</a:t>
              </a:r>
              <a:endParaRPr lang="de-DE" altLang="en-US" dirty="0">
                <a:ea typeface="华文楷体" panose="02010600040101010101" pitchFamily="2" charset="-122"/>
              </a:endParaRPr>
            </a:p>
          </p:txBody>
        </p:sp>
        <p:sp>
          <p:nvSpPr>
            <p:cNvPr id="172104" name="Rectangle 15"/>
            <p:cNvSpPr/>
            <p:nvPr/>
          </p:nvSpPr>
          <p:spPr>
            <a:xfrm>
              <a:off x="528" y="834"/>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dirty="0">
                  <a:ea typeface="华文楷体" panose="02010600040101010101" pitchFamily="2" charset="-122"/>
                </a:rPr>
                <a:t>李峰</a:t>
              </a:r>
              <a:endParaRPr lang="de-DE" altLang="en-US" dirty="0">
                <a:ea typeface="华文楷体" panose="02010600040101010101" pitchFamily="2" charset="-122"/>
              </a:endParaRPr>
            </a:p>
          </p:txBody>
        </p:sp>
        <p:sp>
          <p:nvSpPr>
            <p:cNvPr id="172105" name="Rectangle 16"/>
            <p:cNvSpPr/>
            <p:nvPr/>
          </p:nvSpPr>
          <p:spPr>
            <a:xfrm>
              <a:off x="0" y="834"/>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11</a:t>
              </a:r>
              <a:endParaRPr lang="de-DE" altLang="en-US" dirty="0">
                <a:ea typeface="华文楷体" panose="02010600040101010101" pitchFamily="2" charset="-122"/>
              </a:endParaRPr>
            </a:p>
          </p:txBody>
        </p:sp>
        <p:sp>
          <p:nvSpPr>
            <p:cNvPr id="172106" name="Rectangle 17"/>
            <p:cNvSpPr/>
            <p:nvPr/>
          </p:nvSpPr>
          <p:spPr>
            <a:xfrm>
              <a:off x="2099" y="585"/>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2</a:t>
              </a:r>
              <a:endParaRPr lang="de-DE" altLang="en-US" dirty="0">
                <a:ea typeface="华文楷体" panose="02010600040101010101" pitchFamily="2" charset="-122"/>
              </a:endParaRPr>
            </a:p>
          </p:txBody>
        </p:sp>
        <p:sp>
          <p:nvSpPr>
            <p:cNvPr id="172107" name="Rectangle 18"/>
            <p:cNvSpPr/>
            <p:nvPr/>
          </p:nvSpPr>
          <p:spPr>
            <a:xfrm>
              <a:off x="1425" y="585"/>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19</a:t>
              </a:r>
              <a:endParaRPr lang="de-DE" altLang="en-US" dirty="0">
                <a:ea typeface="华文楷体" panose="02010600040101010101" pitchFamily="2" charset="-122"/>
              </a:endParaRPr>
            </a:p>
          </p:txBody>
        </p:sp>
        <p:sp>
          <p:nvSpPr>
            <p:cNvPr id="172108" name="Rectangle 19"/>
            <p:cNvSpPr/>
            <p:nvPr/>
          </p:nvSpPr>
          <p:spPr>
            <a:xfrm>
              <a:off x="528" y="585"/>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ea typeface="华文楷体" panose="02010600040101010101" pitchFamily="2" charset="-122"/>
                </a:rPr>
                <a:t>何大明</a:t>
              </a:r>
              <a:endParaRPr lang="de-DE" altLang="en-US" dirty="0">
                <a:ea typeface="华文楷体" panose="02010600040101010101" pitchFamily="2" charset="-122"/>
              </a:endParaRPr>
            </a:p>
          </p:txBody>
        </p:sp>
        <p:sp>
          <p:nvSpPr>
            <p:cNvPr id="172109" name="Rectangle 20"/>
            <p:cNvSpPr/>
            <p:nvPr/>
          </p:nvSpPr>
          <p:spPr>
            <a:xfrm>
              <a:off x="0" y="585"/>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zh-CN" altLang="en-US" dirty="0"/>
                <a:t>8</a:t>
              </a:r>
              <a:endParaRPr lang="de-DE" altLang="en-US" dirty="0">
                <a:ea typeface="华文楷体" panose="02010600040101010101" pitchFamily="2" charset="-122"/>
              </a:endParaRPr>
            </a:p>
          </p:txBody>
        </p:sp>
        <p:sp>
          <p:nvSpPr>
            <p:cNvPr id="172110" name="Rectangle 21"/>
            <p:cNvSpPr/>
            <p:nvPr/>
          </p:nvSpPr>
          <p:spPr>
            <a:xfrm>
              <a:off x="2099" y="336"/>
              <a:ext cx="589"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grade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2111" name="Rectangle 22"/>
            <p:cNvSpPr/>
            <p:nvPr/>
          </p:nvSpPr>
          <p:spPr>
            <a:xfrm>
              <a:off x="1425" y="336"/>
              <a:ext cx="674"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age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2112" name="Rectangle 23"/>
            <p:cNvSpPr/>
            <p:nvPr/>
          </p:nvSpPr>
          <p:spPr>
            <a:xfrm>
              <a:off x="528" y="336"/>
              <a:ext cx="897"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buClrTx/>
                <a:buSzTx/>
                <a:buFont typeface="Arial" panose="020B0604020202020204" pitchFamily="34" charset="0"/>
                <a:buNone/>
              </a:pPr>
              <a:r>
                <a:rPr lang="de-DE" altLang="en-US" dirty="0">
                  <a:solidFill>
                    <a:srgbClr val="0000FF"/>
                  </a:solidFill>
                  <a:latin typeface="Times New Roman" panose="02020603050405020304" pitchFamily="18" charset="0"/>
                  <a:ea typeface="华文楷体" panose="02010600040101010101" pitchFamily="2" charset="-122"/>
                </a:rPr>
                <a:t>sname</a:t>
              </a:r>
              <a:endParaRPr lang="de-DE" altLang="en-US" dirty="0">
                <a:solidFill>
                  <a:srgbClr val="0000FF"/>
                </a:solidFill>
                <a:latin typeface="Times New Roman" panose="02020603050405020304" pitchFamily="18" charset="0"/>
                <a:ea typeface="华文楷体" panose="02010600040101010101" pitchFamily="2" charset="-122"/>
              </a:endParaRPr>
            </a:p>
          </p:txBody>
        </p:sp>
        <p:sp>
          <p:nvSpPr>
            <p:cNvPr id="172113" name="Rectangle 24"/>
            <p:cNvSpPr/>
            <p:nvPr/>
          </p:nvSpPr>
          <p:spPr>
            <a:xfrm>
              <a:off x="0" y="336"/>
              <a:ext cx="528" cy="249"/>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de-DE" altLang="en-US" u="sng" dirty="0">
                  <a:solidFill>
                    <a:srgbClr val="0000FF"/>
                  </a:solidFill>
                  <a:latin typeface="Times New Roman" panose="02020603050405020304" pitchFamily="18" charset="0"/>
                  <a:ea typeface="华文楷体" panose="02010600040101010101" pitchFamily="2" charset="-122"/>
                </a:rPr>
                <a:t>sid</a:t>
              </a:r>
              <a:endParaRPr lang="de-DE" altLang="en-US" u="sng" dirty="0">
                <a:ea typeface="华文楷体" panose="02010600040101010101" pitchFamily="2" charset="-122"/>
              </a:endParaRPr>
            </a:p>
          </p:txBody>
        </p:sp>
        <p:sp>
          <p:nvSpPr>
            <p:cNvPr id="172114" name="Line 25"/>
            <p:cNvSpPr/>
            <p:nvPr/>
          </p:nvSpPr>
          <p:spPr>
            <a:xfrm>
              <a:off x="0" y="336"/>
              <a:ext cx="2688" cy="0"/>
            </a:xfrm>
            <a:prstGeom prst="line">
              <a:avLst/>
            </a:prstGeom>
            <a:ln w="28575" cap="sq" cmpd="sng">
              <a:solidFill>
                <a:schemeClr val="tx1"/>
              </a:solidFill>
              <a:prstDash val="solid"/>
              <a:headEnd type="none" w="med" len="med"/>
              <a:tailEnd type="none" w="med" len="med"/>
            </a:ln>
          </p:spPr>
        </p:sp>
        <p:sp>
          <p:nvSpPr>
            <p:cNvPr id="172115" name="Line 26"/>
            <p:cNvSpPr/>
            <p:nvPr/>
          </p:nvSpPr>
          <p:spPr>
            <a:xfrm>
              <a:off x="0" y="585"/>
              <a:ext cx="2688" cy="0"/>
            </a:xfrm>
            <a:prstGeom prst="line">
              <a:avLst/>
            </a:prstGeom>
            <a:ln w="12700" cap="flat" cmpd="sng">
              <a:solidFill>
                <a:schemeClr val="tx1"/>
              </a:solidFill>
              <a:prstDash val="solid"/>
              <a:headEnd type="none" w="med" len="med"/>
              <a:tailEnd type="none" w="med" len="med"/>
            </a:ln>
          </p:spPr>
        </p:sp>
        <p:sp>
          <p:nvSpPr>
            <p:cNvPr id="172116" name="Line 27"/>
            <p:cNvSpPr/>
            <p:nvPr/>
          </p:nvSpPr>
          <p:spPr>
            <a:xfrm>
              <a:off x="0" y="834"/>
              <a:ext cx="2688" cy="0"/>
            </a:xfrm>
            <a:prstGeom prst="line">
              <a:avLst/>
            </a:prstGeom>
            <a:ln w="12700" cap="flat" cmpd="sng">
              <a:solidFill>
                <a:schemeClr val="tx1"/>
              </a:solidFill>
              <a:prstDash val="solid"/>
              <a:headEnd type="none" w="med" len="med"/>
              <a:tailEnd type="none" w="med" len="med"/>
            </a:ln>
          </p:spPr>
        </p:sp>
        <p:sp>
          <p:nvSpPr>
            <p:cNvPr id="172117" name="Line 28"/>
            <p:cNvSpPr/>
            <p:nvPr/>
          </p:nvSpPr>
          <p:spPr>
            <a:xfrm>
              <a:off x="0" y="1083"/>
              <a:ext cx="2688" cy="0"/>
            </a:xfrm>
            <a:prstGeom prst="line">
              <a:avLst/>
            </a:prstGeom>
            <a:ln w="12700" cap="flat" cmpd="sng">
              <a:solidFill>
                <a:schemeClr val="tx1"/>
              </a:solidFill>
              <a:prstDash val="solid"/>
              <a:headEnd type="none" w="med" len="med"/>
              <a:tailEnd type="none" w="med" len="med"/>
            </a:ln>
          </p:spPr>
        </p:sp>
        <p:sp>
          <p:nvSpPr>
            <p:cNvPr id="172118" name="Line 29"/>
            <p:cNvSpPr/>
            <p:nvPr/>
          </p:nvSpPr>
          <p:spPr>
            <a:xfrm>
              <a:off x="0" y="1332"/>
              <a:ext cx="2688" cy="0"/>
            </a:xfrm>
            <a:prstGeom prst="line">
              <a:avLst/>
            </a:prstGeom>
            <a:ln w="12700" cap="flat" cmpd="sng">
              <a:solidFill>
                <a:schemeClr val="tx1"/>
              </a:solidFill>
              <a:prstDash val="solid"/>
              <a:headEnd type="none" w="med" len="med"/>
              <a:tailEnd type="none" w="med" len="med"/>
            </a:ln>
          </p:spPr>
        </p:sp>
        <p:sp>
          <p:nvSpPr>
            <p:cNvPr id="172119" name="Line 30"/>
            <p:cNvSpPr/>
            <p:nvPr/>
          </p:nvSpPr>
          <p:spPr>
            <a:xfrm>
              <a:off x="0" y="1581"/>
              <a:ext cx="2688" cy="0"/>
            </a:xfrm>
            <a:prstGeom prst="line">
              <a:avLst/>
            </a:prstGeom>
            <a:ln w="28575" cap="sq" cmpd="sng">
              <a:solidFill>
                <a:schemeClr val="tx1"/>
              </a:solidFill>
              <a:prstDash val="solid"/>
              <a:headEnd type="none" w="med" len="med"/>
              <a:tailEnd type="none" w="med" len="med"/>
            </a:ln>
          </p:spPr>
        </p:sp>
        <p:sp>
          <p:nvSpPr>
            <p:cNvPr id="172120" name="Line 31"/>
            <p:cNvSpPr/>
            <p:nvPr/>
          </p:nvSpPr>
          <p:spPr>
            <a:xfrm>
              <a:off x="0" y="336"/>
              <a:ext cx="0" cy="1245"/>
            </a:xfrm>
            <a:prstGeom prst="line">
              <a:avLst/>
            </a:prstGeom>
            <a:ln w="28575" cap="sq" cmpd="sng">
              <a:solidFill>
                <a:schemeClr val="tx1"/>
              </a:solidFill>
              <a:prstDash val="solid"/>
              <a:headEnd type="none" w="med" len="med"/>
              <a:tailEnd type="none" w="med" len="med"/>
            </a:ln>
          </p:spPr>
        </p:sp>
        <p:sp>
          <p:nvSpPr>
            <p:cNvPr id="172121" name="Line 32"/>
            <p:cNvSpPr/>
            <p:nvPr/>
          </p:nvSpPr>
          <p:spPr>
            <a:xfrm>
              <a:off x="528" y="336"/>
              <a:ext cx="0" cy="1245"/>
            </a:xfrm>
            <a:prstGeom prst="line">
              <a:avLst/>
            </a:prstGeom>
            <a:ln w="12700" cap="flat" cmpd="sng">
              <a:solidFill>
                <a:schemeClr val="tx1"/>
              </a:solidFill>
              <a:prstDash val="solid"/>
              <a:headEnd type="none" w="med" len="med"/>
              <a:tailEnd type="none" w="med" len="med"/>
            </a:ln>
          </p:spPr>
        </p:sp>
        <p:sp>
          <p:nvSpPr>
            <p:cNvPr id="172122" name="Line 33"/>
            <p:cNvSpPr/>
            <p:nvPr/>
          </p:nvSpPr>
          <p:spPr>
            <a:xfrm>
              <a:off x="1425" y="336"/>
              <a:ext cx="0" cy="1245"/>
            </a:xfrm>
            <a:prstGeom prst="line">
              <a:avLst/>
            </a:prstGeom>
            <a:ln w="12700" cap="flat" cmpd="sng">
              <a:solidFill>
                <a:schemeClr val="tx1"/>
              </a:solidFill>
              <a:prstDash val="solid"/>
              <a:headEnd type="none" w="med" len="med"/>
              <a:tailEnd type="none" w="med" len="med"/>
            </a:ln>
          </p:spPr>
        </p:sp>
        <p:sp>
          <p:nvSpPr>
            <p:cNvPr id="172123" name="Line 34"/>
            <p:cNvSpPr/>
            <p:nvPr/>
          </p:nvSpPr>
          <p:spPr>
            <a:xfrm>
              <a:off x="2099" y="336"/>
              <a:ext cx="0" cy="1245"/>
            </a:xfrm>
            <a:prstGeom prst="line">
              <a:avLst/>
            </a:prstGeom>
            <a:ln w="12700" cap="flat" cmpd="sng">
              <a:solidFill>
                <a:schemeClr val="tx1"/>
              </a:solidFill>
              <a:prstDash val="solid"/>
              <a:headEnd type="none" w="med" len="med"/>
              <a:tailEnd type="none" w="med" len="med"/>
            </a:ln>
          </p:spPr>
        </p:sp>
        <p:sp>
          <p:nvSpPr>
            <p:cNvPr id="172124" name="Line 35"/>
            <p:cNvSpPr/>
            <p:nvPr/>
          </p:nvSpPr>
          <p:spPr>
            <a:xfrm>
              <a:off x="2688" y="336"/>
              <a:ext cx="0" cy="1245"/>
            </a:xfrm>
            <a:prstGeom prst="line">
              <a:avLst/>
            </a:prstGeom>
            <a:ln w="28575" cap="sq" cmpd="sng">
              <a:solidFill>
                <a:schemeClr val="tx1"/>
              </a:solidFill>
              <a:prstDash val="solid"/>
              <a:headEnd type="none" w="med" len="med"/>
              <a:tailEnd type="none" w="med" len="med"/>
            </a:ln>
          </p:spPr>
        </p:sp>
      </p:grpSp>
      <p:sp>
        <p:nvSpPr>
          <p:cNvPr id="128036" name="Text Box 36"/>
          <p:cNvSpPr txBox="1"/>
          <p:nvPr/>
        </p:nvSpPr>
        <p:spPr>
          <a:xfrm>
            <a:off x="881063" y="3563938"/>
            <a:ext cx="1828800"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0000CC"/>
                </a:solidFill>
                <a:latin typeface="宋体" panose="02010600030101010101" pitchFamily="2" charset="-122"/>
              </a:rPr>
              <a:t>选课表 E</a:t>
            </a:r>
            <a:endParaRPr lang="de-DE" altLang="en-US" sz="2400" dirty="0">
              <a:solidFill>
                <a:srgbClr val="0000CC"/>
              </a:solidFill>
              <a:latin typeface="宋体" panose="02010600030101010101" pitchFamily="2" charset="-122"/>
            </a:endParaRPr>
          </a:p>
        </p:txBody>
      </p:sp>
      <p:sp>
        <p:nvSpPr>
          <p:cNvPr id="128037" name="Text Box 37"/>
          <p:cNvSpPr txBox="1"/>
          <p:nvPr/>
        </p:nvSpPr>
        <p:spPr>
          <a:xfrm>
            <a:off x="4706938" y="1428750"/>
            <a:ext cx="4117975" cy="1092200"/>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SELECT  S1.sid，sname，E.cid FROM</a:t>
            </a:r>
            <a:endParaRPr lang="zh-CN" altLang="en-US" dirty="0">
              <a:ea typeface="方正姚体" panose="02010601030101010101" pitchFamily="2" charset="-122"/>
            </a:endParaRPr>
          </a:p>
          <a:p>
            <a:pPr marL="0" lvl="0" indent="0" eaLnBrk="1" hangingPunct="1">
              <a:spcBef>
                <a:spcPts val="600"/>
              </a:spcBef>
              <a:buClrTx/>
              <a:buSzTx/>
              <a:buFont typeface="Arial" panose="020B0604020202020204" pitchFamily="34" charset="0"/>
              <a:buNone/>
            </a:pPr>
            <a:r>
              <a:rPr lang="zh-CN" altLang="en-US" dirty="0">
                <a:ea typeface="方正姚体" panose="02010601030101010101" pitchFamily="2" charset="-122"/>
              </a:rPr>
              <a:t>S1 </a:t>
            </a:r>
            <a:r>
              <a:rPr lang="zh-CN" altLang="en-US" sz="1800" i="1" dirty="0">
                <a:solidFill>
                  <a:srgbClr val="CC0000"/>
                </a:solidFill>
                <a:ea typeface="方正姚体" panose="02010601030101010101" pitchFamily="2" charset="-122"/>
              </a:rPr>
              <a:t>NATURAL FULL OUTER JOIN</a:t>
            </a:r>
            <a:r>
              <a:rPr lang="zh-CN" altLang="en-US" dirty="0">
                <a:ea typeface="方正姚体" panose="02010601030101010101" pitchFamily="2" charset="-122"/>
              </a:rPr>
              <a:t> E</a:t>
            </a:r>
            <a:endParaRPr lang="zh-CN" altLang="en-US" dirty="0">
              <a:ea typeface="方正姚体" panose="02010601030101010101" pitchFamily="2" charset="-122"/>
            </a:endParaRPr>
          </a:p>
        </p:txBody>
      </p:sp>
      <p:graphicFrame>
        <p:nvGraphicFramePr>
          <p:cNvPr id="128038" name="表格 128037"/>
          <p:cNvGraphicFramePr/>
          <p:nvPr/>
        </p:nvGraphicFramePr>
        <p:xfrm>
          <a:off x="4710113" y="2892425"/>
          <a:ext cx="3808413" cy="2743200"/>
        </p:xfrm>
        <a:graphic>
          <a:graphicData uri="http://schemas.openxmlformats.org/drawingml/2006/table">
            <a:tbl>
              <a:tblPr/>
              <a:tblGrid>
                <a:gridCol w="1328738"/>
                <a:gridCol w="1239837"/>
                <a:gridCol w="1239838"/>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sid</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sname</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cid</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8</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何大</a:t>
                      </a:r>
                      <a:r>
                        <a:rPr lang="zh-CN" altLang="en-US" sz="2400" b="0" dirty="0">
                          <a:solidFill>
                            <a:srgbClr val="003300"/>
                          </a:solidFill>
                          <a:latin typeface="华文楷体" panose="02010600040101010101" pitchFamily="2" charset="-122"/>
                          <a:ea typeface="华文楷体" panose="02010600040101010101" pitchFamily="2" charset="-122"/>
                        </a:rPr>
                        <a:t>明</a:t>
                      </a:r>
                      <a:endParaRPr lang="zh-CN"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101</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11</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latin typeface="华文楷体" panose="02010600040101010101" pitchFamily="2" charset="-122"/>
                          <a:ea typeface="华文楷体" panose="02010600040101010101" pitchFamily="2" charset="-122"/>
                        </a:rPr>
                        <a:t>李峰</a:t>
                      </a:r>
                      <a:endParaRPr lang="zh-CN" altLang="en-US" sz="2400" b="0" dirty="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35</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latin typeface="华文楷体" panose="02010600040101010101" pitchFamily="2" charset="-122"/>
                          <a:ea typeface="华文楷体" panose="02010600040101010101" pitchFamily="2" charset="-122"/>
                        </a:rPr>
                        <a:t>陈胜</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NULL</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6</a:t>
                      </a:r>
                      <a:endParaRPr lang="de-DE" altLang="en-US" sz="24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003300"/>
                          </a:solidFill>
                          <a:latin typeface="华文楷体" panose="02010600040101010101" pitchFamily="2" charset="-122"/>
                          <a:ea typeface="华文楷体" panose="02010600040101010101" pitchFamily="2" charset="-122"/>
                        </a:rPr>
                        <a:t>张大卫</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003300"/>
                          </a:solidFill>
                        </a:rPr>
                        <a:t>103</a:t>
                      </a:r>
                      <a:endParaRPr lang="de-DE" altLang="en-US" sz="24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21</a:t>
                      </a:r>
                      <a:endParaRPr lang="de-DE" altLang="en-US" sz="2400"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b="0">
                          <a:solidFill>
                            <a:srgbClr val="003300"/>
                          </a:solidFill>
                          <a:latin typeface="华文楷体" panose="02010600040101010101" pitchFamily="2" charset="-122"/>
                          <a:ea typeface="华文楷体" panose="02010600040101010101" pitchFamily="2" charset="-122"/>
                        </a:rPr>
                        <a:t>NULL</a:t>
                      </a:r>
                      <a:endParaRPr lang="zh-CN" altLang="en-US" sz="24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b="0" dirty="0">
                          <a:solidFill>
                            <a:srgbClr val="003300"/>
                          </a:solidFill>
                        </a:rPr>
                        <a:t>100</a:t>
                      </a:r>
                      <a:endParaRPr lang="de-DE" altLang="en-US" sz="24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FCCFF">
                        <a:alpha val="100000"/>
                      </a:srgbClr>
                    </a:solidFill>
                  </a:tcPr>
                </a:tc>
              </a:tr>
            </a:tbl>
          </a:graphicData>
        </a:graphic>
      </p:graphicFrame>
      <p:sp>
        <p:nvSpPr>
          <p:cNvPr id="128068" name="Line 76"/>
          <p:cNvSpPr/>
          <p:nvPr/>
        </p:nvSpPr>
        <p:spPr>
          <a:xfrm>
            <a:off x="6502400" y="2489200"/>
            <a:ext cx="0" cy="533400"/>
          </a:xfrm>
          <a:prstGeom prst="line">
            <a:avLst/>
          </a:prstGeom>
          <a:ln w="50800" cap="flat" cmpd="sng">
            <a:solidFill>
              <a:srgbClr val="CC0000"/>
            </a:solidFill>
            <a:prstDash val="solid"/>
            <a:headEnd type="none" w="med" len="med"/>
            <a:tailEnd type="stealth" w="med" len="med"/>
          </a:ln>
        </p:spPr>
      </p:sp>
      <p:sp>
        <p:nvSpPr>
          <p:cNvPr id="128069" name="Text Box 77"/>
          <p:cNvSpPr txBox="1"/>
          <p:nvPr/>
        </p:nvSpPr>
        <p:spPr>
          <a:xfrm>
            <a:off x="377825" y="5757863"/>
            <a:ext cx="8097838" cy="592137"/>
          </a:xfrm>
          <a:prstGeom prst="rect">
            <a:avLst/>
          </a:prstGeom>
          <a:solidFill>
            <a:srgbClr val="CCFF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003300"/>
                </a:solidFill>
                <a:latin typeface="华文楷体" panose="02010600040101010101" pitchFamily="2" charset="-122"/>
                <a:ea typeface="华文楷体" panose="02010600040101010101" pitchFamily="2" charset="-122"/>
              </a:rPr>
              <a:t>在全外联结中，所有没有匹配上的行，都出现在结果中。</a:t>
            </a:r>
            <a:endParaRPr lang="de-DE" altLang="en-US" sz="2400" dirty="0">
              <a:solidFill>
                <a:srgbClr val="003300"/>
              </a:solidFill>
              <a:latin typeface="华文楷体" panose="02010600040101010101" pitchFamily="2" charset="-122"/>
              <a:ea typeface="华文楷体" panose="02010600040101010101" pitchFamily="2" charset="-122"/>
            </a:endParaRPr>
          </a:p>
        </p:txBody>
      </p:sp>
      <p:graphicFrame>
        <p:nvGraphicFramePr>
          <p:cNvPr id="128070" name="表格 128069"/>
          <p:cNvGraphicFramePr/>
          <p:nvPr/>
        </p:nvGraphicFramePr>
        <p:xfrm>
          <a:off x="541338" y="4121150"/>
          <a:ext cx="2522538" cy="1587500"/>
        </p:xfrm>
        <a:graphic>
          <a:graphicData uri="http://schemas.openxmlformats.org/drawingml/2006/table">
            <a:tbl>
              <a:tblPr/>
              <a:tblGrid>
                <a:gridCol w="719138"/>
                <a:gridCol w="1019175"/>
                <a:gridCol w="78422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a:latin typeface="Times New Roman" panose="02020603050405020304" pitchFamily="18" charset="0"/>
                        </a:rPr>
                        <a:t>sid</a:t>
                      </a:r>
                      <a:endParaRPr lang="zh-CN" altLang="en-US" sz="200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a:latin typeface="Times New Roman" panose="02020603050405020304" pitchFamily="18" charset="0"/>
                        </a:rPr>
                        <a:t>cid</a:t>
                      </a:r>
                      <a:endParaRPr lang="zh-CN" altLang="en-US" sz="200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a:latin typeface="Times New Roman" panose="02020603050405020304" pitchFamily="18" charset="0"/>
                        </a:rPr>
                        <a:t>score</a:t>
                      </a:r>
                      <a:endParaRPr lang="zh-CN" altLang="en-US" sz="200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8</a:t>
                      </a:r>
                      <a:endParaRPr lang="zh-CN" altLang="en-US" sz="2000" b="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101</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91</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6</a:t>
                      </a:r>
                      <a:endParaRPr lang="zh-CN" altLang="en-US" sz="2000" b="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103</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80</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21</a:t>
                      </a:r>
                      <a:endParaRPr lang="zh-CN" altLang="en-US" sz="2000" b="0">
                        <a:latin typeface="Times New Roman" panose="02020603050405020304" pitchFamily="18" charset="0"/>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100</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latin typeface="Times New Roman" panose="02020603050405020304" pitchFamily="18" charset="0"/>
                        </a:rPr>
                        <a:t>85</a:t>
                      </a:r>
                      <a:endParaRPr lang="zh-CN" altLang="en-US" sz="2000" b="0">
                        <a:latin typeface="Times New Roman" panose="02020603050405020304" pitchFamily="18" charset="0"/>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
        <p:nvSpPr>
          <p:cNvPr id="172091" name="矩形 2"/>
          <p:cNvSpPr/>
          <p:nvPr/>
        </p:nvSpPr>
        <p:spPr>
          <a:xfrm>
            <a:off x="509588" y="749300"/>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2800" dirty="0">
                <a:solidFill>
                  <a:srgbClr val="0033CC"/>
                </a:solidFill>
                <a:latin typeface="黑体" panose="02010609060101010101" pitchFamily="49" charset="-122"/>
                <a:ea typeface="黑体" panose="02010609060101010101" pitchFamily="49" charset="-122"/>
              </a:rPr>
              <a:t>3.4 外联结</a:t>
            </a:r>
            <a:r>
              <a:rPr lang="en-US" altLang="zh-CN" sz="2400" dirty="0">
                <a:solidFill>
                  <a:srgbClr val="FF0000"/>
                </a:solidFill>
                <a:latin typeface="黑体" panose="02010609060101010101" pitchFamily="49" charset="-122"/>
                <a:ea typeface="黑体" panose="02010609060101010101" pitchFamily="49" charset="-122"/>
              </a:rPr>
              <a:t>--</a:t>
            </a:r>
            <a:r>
              <a:rPr lang="zh-CN" altLang="en-US" sz="2400" dirty="0">
                <a:solidFill>
                  <a:srgbClr val="FF0000"/>
                </a:solidFill>
                <a:latin typeface="黑体" panose="02010609060101010101" pitchFamily="49" charset="-122"/>
                <a:ea typeface="黑体" panose="02010609060101010101" pitchFamily="49" charset="-122"/>
              </a:rPr>
              <a:t>全外连接</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17209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8003"/>
                                        </p:tgtEl>
                                        <p:attrNameLst>
                                          <p:attrName>style.visibility</p:attrName>
                                        </p:attrNameLst>
                                      </p:cBhvr>
                                      <p:to>
                                        <p:strVal val="visible"/>
                                      </p:to>
                                    </p:set>
                                    <p:animEffect transition="in" filter="box(in)">
                                      <p:cBhvr>
                                        <p:cTn id="7" dur="500"/>
                                        <p:tgtEl>
                                          <p:spTgt spid="12800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8070"/>
                                        </p:tgtEl>
                                        <p:attrNameLst>
                                          <p:attrName>style.visibility</p:attrName>
                                        </p:attrNameLst>
                                      </p:cBhvr>
                                      <p:to>
                                        <p:strVal val="visible"/>
                                      </p:to>
                                    </p:set>
                                    <p:animEffect transition="in" filter="wipe(down)">
                                      <p:cBhvr>
                                        <p:cTn id="12" dur="500"/>
                                        <p:tgtEl>
                                          <p:spTgt spid="128070"/>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128036"/>
                                        </p:tgtEl>
                                        <p:attrNameLst>
                                          <p:attrName>style.visibility</p:attrName>
                                        </p:attrNameLst>
                                      </p:cBhvr>
                                      <p:to>
                                        <p:strVal val="visible"/>
                                      </p:to>
                                    </p:set>
                                    <p:animEffect transition="in" filter="wipe(down)">
                                      <p:cBhvr>
                                        <p:cTn id="15" dur="500"/>
                                        <p:tgtEl>
                                          <p:spTgt spid="128036"/>
                                        </p:tgtEl>
                                      </p:cBhvr>
                                    </p:animEffect>
                                  </p:childTnLst>
                                </p:cTn>
                              </p:par>
                            </p:childTnLst>
                          </p:cTn>
                        </p:par>
                      </p:childTnLst>
                    </p:cTn>
                  </p:par>
                  <p:par>
                    <p:cTn id="16" fill="hold">
                      <p:stCondLst>
                        <p:cond delay="indefinite"/>
                      </p:stCondLst>
                      <p:childTnLst>
                        <p:par>
                          <p:cTn id="17" fill="hold">
                            <p:stCondLst>
                              <p:cond delay="0"/>
                            </p:stCondLst>
                            <p:childTnLst>
                              <p:par>
                                <p:cTn id="18" presetID="17" presetClass="entr" presetSubtype="1" fill="hold" grpId="0" nodeType="clickEffect">
                                  <p:stCondLst>
                                    <p:cond delay="0"/>
                                  </p:stCondLst>
                                  <p:childTnLst>
                                    <p:set>
                                      <p:cBhvr>
                                        <p:cTn id="19" dur="1" fill="hold">
                                          <p:stCondLst>
                                            <p:cond delay="0"/>
                                          </p:stCondLst>
                                        </p:cTn>
                                        <p:tgtEl>
                                          <p:spTgt spid="128037"/>
                                        </p:tgtEl>
                                        <p:attrNameLst>
                                          <p:attrName>style.visibility</p:attrName>
                                        </p:attrNameLst>
                                      </p:cBhvr>
                                      <p:to>
                                        <p:strVal val="visible"/>
                                      </p:to>
                                    </p:set>
                                    <p:anim calcmode="lin" valueType="num">
                                      <p:cBhvr>
                                        <p:cTn id="20" dur="500" fill="hold"/>
                                        <p:tgtEl>
                                          <p:spTgt spid="128037"/>
                                        </p:tgtEl>
                                        <p:attrNameLst>
                                          <p:attrName>ppt_x</p:attrName>
                                        </p:attrNameLst>
                                      </p:cBhvr>
                                      <p:tavLst>
                                        <p:tav tm="0">
                                          <p:val>
                                            <p:strVal val="#ppt_x"/>
                                          </p:val>
                                        </p:tav>
                                        <p:tav tm="100000">
                                          <p:val>
                                            <p:strVal val="#ppt_x"/>
                                          </p:val>
                                        </p:tav>
                                      </p:tavLst>
                                    </p:anim>
                                    <p:anim calcmode="lin" valueType="num">
                                      <p:cBhvr>
                                        <p:cTn id="21" dur="500" fill="hold"/>
                                        <p:tgtEl>
                                          <p:spTgt spid="128037"/>
                                        </p:tgtEl>
                                        <p:attrNameLst>
                                          <p:attrName>ppt_y</p:attrName>
                                        </p:attrNameLst>
                                      </p:cBhvr>
                                      <p:tavLst>
                                        <p:tav tm="0">
                                          <p:val>
                                            <p:strVal val="#ppt_y-#ppt_h/2"/>
                                          </p:val>
                                        </p:tav>
                                        <p:tav tm="100000">
                                          <p:val>
                                            <p:strVal val="#ppt_y"/>
                                          </p:val>
                                        </p:tav>
                                      </p:tavLst>
                                    </p:anim>
                                    <p:anim calcmode="lin" valueType="num">
                                      <p:cBhvr>
                                        <p:cTn id="22" dur="500" fill="hold"/>
                                        <p:tgtEl>
                                          <p:spTgt spid="128037"/>
                                        </p:tgtEl>
                                        <p:attrNameLst>
                                          <p:attrName>ppt_w</p:attrName>
                                        </p:attrNameLst>
                                      </p:cBhvr>
                                      <p:tavLst>
                                        <p:tav tm="0">
                                          <p:val>
                                            <p:strVal val="#ppt_w"/>
                                          </p:val>
                                        </p:tav>
                                        <p:tav tm="100000">
                                          <p:val>
                                            <p:strVal val="#ppt_w"/>
                                          </p:val>
                                        </p:tav>
                                      </p:tavLst>
                                    </p:anim>
                                    <p:anim calcmode="lin" valueType="num">
                                      <p:cBhvr>
                                        <p:cTn id="23" dur="500" fill="hold"/>
                                        <p:tgtEl>
                                          <p:spTgt spid="128037"/>
                                        </p:tgtEl>
                                        <p:attrNameLst>
                                          <p:attrName>ppt_h</p:attrName>
                                        </p:attrNameLst>
                                      </p:cBhvr>
                                      <p:tavLst>
                                        <p:tav tm="0">
                                          <p:val>
                                            <p:fltVal val="0.000000"/>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28068"/>
                                        </p:tgtEl>
                                        <p:attrNameLst>
                                          <p:attrName>style.visibility</p:attrName>
                                        </p:attrNameLst>
                                      </p:cBhvr>
                                      <p:to>
                                        <p:strVal val="visible"/>
                                      </p:to>
                                    </p:set>
                                    <p:anim calcmode="lin" valueType="num">
                                      <p:cBhvr>
                                        <p:cTn id="28" dur="500" fill="hold"/>
                                        <p:tgtEl>
                                          <p:spTgt spid="128068"/>
                                        </p:tgtEl>
                                        <p:attrNameLst>
                                          <p:attrName>ppt_w</p:attrName>
                                        </p:attrNameLst>
                                      </p:cBhvr>
                                      <p:tavLst>
                                        <p:tav tm="0">
                                          <p:val>
                                            <p:fltVal val="0.000000"/>
                                          </p:val>
                                        </p:tav>
                                        <p:tav tm="100000">
                                          <p:val>
                                            <p:strVal val="#ppt_w"/>
                                          </p:val>
                                        </p:tav>
                                      </p:tavLst>
                                    </p:anim>
                                    <p:anim calcmode="lin" valueType="num">
                                      <p:cBhvr>
                                        <p:cTn id="29" dur="500" fill="hold"/>
                                        <p:tgtEl>
                                          <p:spTgt spid="128068"/>
                                        </p:tgtEl>
                                        <p:attrNameLst>
                                          <p:attrName>ppt_h</p:attrName>
                                        </p:attrNameLst>
                                      </p:cBhvr>
                                      <p:tavLst>
                                        <p:tav tm="0">
                                          <p:val>
                                            <p:fltVal val="0.00000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nodeType="clickEffect">
                                  <p:stCondLst>
                                    <p:cond delay="0"/>
                                  </p:stCondLst>
                                  <p:childTnLst>
                                    <p:set>
                                      <p:cBhvr>
                                        <p:cTn id="33" dur="1" fill="hold">
                                          <p:stCondLst>
                                            <p:cond delay="0"/>
                                          </p:stCondLst>
                                        </p:cTn>
                                        <p:tgtEl>
                                          <p:spTgt spid="128038"/>
                                        </p:tgtEl>
                                        <p:attrNameLst>
                                          <p:attrName>style.visibility</p:attrName>
                                        </p:attrNameLst>
                                      </p:cBhvr>
                                      <p:to>
                                        <p:strVal val="visible"/>
                                      </p:to>
                                    </p:set>
                                    <p:animEffect transition="in" filter="dissolve">
                                      <p:cBhvr>
                                        <p:cTn id="34" dur="500"/>
                                        <p:tgtEl>
                                          <p:spTgt spid="128038"/>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 fill="hold" grpId="0" nodeType="clickEffect">
                                  <p:stCondLst>
                                    <p:cond delay="0"/>
                                  </p:stCondLst>
                                  <p:childTnLst>
                                    <p:set>
                                      <p:cBhvr>
                                        <p:cTn id="38" dur="1" fill="hold">
                                          <p:stCondLst>
                                            <p:cond delay="0"/>
                                          </p:stCondLst>
                                        </p:cTn>
                                        <p:tgtEl>
                                          <p:spTgt spid="128069"/>
                                        </p:tgtEl>
                                        <p:attrNameLst>
                                          <p:attrName>style.visibility</p:attrName>
                                        </p:attrNameLst>
                                      </p:cBhvr>
                                      <p:to>
                                        <p:strVal val="visible"/>
                                      </p:to>
                                    </p:set>
                                    <p:anim calcmode="lin" valueType="num">
                                      <p:cBhvr>
                                        <p:cTn id="39" dur="500" fill="hold"/>
                                        <p:tgtEl>
                                          <p:spTgt spid="128069"/>
                                        </p:tgtEl>
                                        <p:attrNameLst>
                                          <p:attrName>ppt_x</p:attrName>
                                        </p:attrNameLst>
                                      </p:cBhvr>
                                      <p:tavLst>
                                        <p:tav tm="0">
                                          <p:val>
                                            <p:strVal val="#ppt_x"/>
                                          </p:val>
                                        </p:tav>
                                        <p:tav tm="100000">
                                          <p:val>
                                            <p:strVal val="#ppt_x"/>
                                          </p:val>
                                        </p:tav>
                                      </p:tavLst>
                                    </p:anim>
                                    <p:anim calcmode="lin" valueType="num">
                                      <p:cBhvr>
                                        <p:cTn id="40" dur="500" fill="hold"/>
                                        <p:tgtEl>
                                          <p:spTgt spid="128069"/>
                                        </p:tgtEl>
                                        <p:attrNameLst>
                                          <p:attrName>ppt_y</p:attrName>
                                        </p:attrNameLst>
                                      </p:cBhvr>
                                      <p:tavLst>
                                        <p:tav tm="0">
                                          <p:val>
                                            <p:strVal val="#ppt_y-#ppt_h/2"/>
                                          </p:val>
                                        </p:tav>
                                        <p:tav tm="100000">
                                          <p:val>
                                            <p:strVal val="#ppt_y"/>
                                          </p:val>
                                        </p:tav>
                                      </p:tavLst>
                                    </p:anim>
                                    <p:anim calcmode="lin" valueType="num">
                                      <p:cBhvr>
                                        <p:cTn id="41" dur="500" fill="hold"/>
                                        <p:tgtEl>
                                          <p:spTgt spid="128069"/>
                                        </p:tgtEl>
                                        <p:attrNameLst>
                                          <p:attrName>ppt_w</p:attrName>
                                        </p:attrNameLst>
                                      </p:cBhvr>
                                      <p:tavLst>
                                        <p:tav tm="0">
                                          <p:val>
                                            <p:strVal val="#ppt_w"/>
                                          </p:val>
                                        </p:tav>
                                        <p:tav tm="100000">
                                          <p:val>
                                            <p:strVal val="#ppt_w"/>
                                          </p:val>
                                        </p:tav>
                                      </p:tavLst>
                                    </p:anim>
                                    <p:anim calcmode="lin" valueType="num">
                                      <p:cBhvr>
                                        <p:cTn id="42" dur="500" fill="hold"/>
                                        <p:tgtEl>
                                          <p:spTgt spid="128069"/>
                                        </p:tgtEl>
                                        <p:attrNameLst>
                                          <p:attrName>ppt_h</p:attrName>
                                        </p:attrNameLst>
                                      </p:cBhvr>
                                      <p:tavLst>
                                        <p:tav tm="0">
                                          <p:val>
                                            <p:fltVal val="0.00000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36" grpId="0"/>
      <p:bldP spid="128037" grpId="0" animBg="1"/>
      <p:bldP spid="128069" grpId="0" animBg="1"/>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73059" name="文本框 101"/>
          <p:cNvSpPr txBox="1"/>
          <p:nvPr/>
        </p:nvSpPr>
        <p:spPr>
          <a:xfrm>
            <a:off x="484188" y="1336675"/>
            <a:ext cx="8609012" cy="8302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400" dirty="0">
                <a:latin typeface="Calibri" panose="020F0502020204030204" pitchFamily="34" charset="0"/>
              </a:rPr>
              <a:t> 1、如下图所示，两个关系R1和R2，它们进行（     ）运算后得到R3。</a:t>
            </a:r>
            <a:endParaRPr lang="zh-CN" altLang="zh-CN" sz="2400" dirty="0">
              <a:latin typeface="Calibri" panose="020F0502020204030204" pitchFamily="34" charset="0"/>
            </a:endParaRPr>
          </a:p>
        </p:txBody>
      </p:sp>
      <p:pic>
        <p:nvPicPr>
          <p:cNvPr id="173060" name="图片 7"/>
          <p:cNvPicPr>
            <a:picLocks noChangeAspect="1"/>
          </p:cNvPicPr>
          <p:nvPr/>
        </p:nvPicPr>
        <p:blipFill>
          <a:blip r:embed="rId1"/>
          <a:stretch>
            <a:fillRect/>
          </a:stretch>
        </p:blipFill>
        <p:spPr>
          <a:xfrm>
            <a:off x="1889125" y="1844675"/>
            <a:ext cx="5810250" cy="1584325"/>
          </a:xfrm>
          <a:prstGeom prst="rect">
            <a:avLst/>
          </a:prstGeom>
          <a:noFill/>
          <a:ln w="9525">
            <a:noFill/>
          </a:ln>
        </p:spPr>
      </p:pic>
      <p:sp>
        <p:nvSpPr>
          <p:cNvPr id="173061" name="文本框 1"/>
          <p:cNvSpPr txBox="1"/>
          <p:nvPr/>
        </p:nvSpPr>
        <p:spPr>
          <a:xfrm>
            <a:off x="749300" y="3336925"/>
            <a:ext cx="7442200" cy="546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cs typeface="Times New Roman" panose="02020603050405020304" pitchFamily="18" charset="0"/>
              </a:rPr>
              <a:t>  A</a:t>
            </a:r>
            <a:r>
              <a:rPr lang="zh-CN" altLang="zh-CN" sz="2200" dirty="0">
                <a:latin typeface="Calibri" panose="020F0502020204030204" pitchFamily="34" charset="0"/>
              </a:rPr>
              <a:t>、交             </a:t>
            </a:r>
            <a:r>
              <a:rPr lang="en-US" altLang="zh-CN" sz="2200" dirty="0">
                <a:latin typeface="Calibri" panose="020F0502020204030204" pitchFamily="34" charset="0"/>
              </a:rPr>
              <a:t>B</a:t>
            </a:r>
            <a:r>
              <a:rPr lang="zh-CN" altLang="zh-CN" sz="2200" dirty="0">
                <a:latin typeface="Calibri" panose="020F0502020204030204" pitchFamily="34" charset="0"/>
              </a:rPr>
              <a:t>、并              </a:t>
            </a:r>
            <a:r>
              <a:rPr lang="en-US" altLang="zh-CN" sz="2200" dirty="0">
                <a:latin typeface="Calibri" panose="020F0502020204030204" pitchFamily="34" charset="0"/>
              </a:rPr>
              <a:t>C</a:t>
            </a:r>
            <a:r>
              <a:rPr lang="zh-CN" altLang="zh-CN" sz="2200" dirty="0">
                <a:latin typeface="Calibri" panose="020F0502020204030204" pitchFamily="34" charset="0"/>
              </a:rPr>
              <a:t>、笛卡尔积           </a:t>
            </a:r>
            <a:r>
              <a:rPr lang="en-US" altLang="zh-CN" sz="2200" dirty="0">
                <a:latin typeface="Calibri" panose="020F0502020204030204" pitchFamily="34" charset="0"/>
              </a:rPr>
              <a:t>D</a:t>
            </a:r>
            <a:r>
              <a:rPr lang="zh-CN" altLang="zh-CN" sz="2200" dirty="0">
                <a:latin typeface="Calibri" panose="020F0502020204030204" pitchFamily="34" charset="0"/>
              </a:rPr>
              <a:t>、联接</a:t>
            </a:r>
            <a:endParaRPr lang="zh-CN" altLang="en-US" sz="2200" dirty="0">
              <a:latin typeface="Calibri" panose="020F0502020204030204" pitchFamily="34" charset="0"/>
            </a:endParaRPr>
          </a:p>
        </p:txBody>
      </p:sp>
      <p:sp>
        <p:nvSpPr>
          <p:cNvPr id="173062" name="文本框 4"/>
          <p:cNvSpPr txBox="1"/>
          <p:nvPr/>
        </p:nvSpPr>
        <p:spPr>
          <a:xfrm>
            <a:off x="484188" y="3962400"/>
            <a:ext cx="8416925" cy="16478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5000"/>
              </a:lnSpc>
              <a:spcBef>
                <a:spcPct val="0"/>
              </a:spcBef>
              <a:buClrTx/>
              <a:buSzTx/>
              <a:buFont typeface="Arial" panose="020B0604020202020204" pitchFamily="34" charset="0"/>
              <a:buNone/>
            </a:pPr>
            <a:r>
              <a:rPr lang="en-US" altLang="zh-CN" sz="2200" dirty="0">
                <a:latin typeface="Calibri" panose="020F0502020204030204" pitchFamily="34" charset="0"/>
              </a:rPr>
              <a:t>2</a:t>
            </a:r>
            <a:r>
              <a:rPr lang="zh-CN" altLang="zh-CN" sz="2200" dirty="0">
                <a:latin typeface="Calibri" panose="020F0502020204030204" pitchFamily="34" charset="0"/>
              </a:rPr>
              <a:t>、学校数据库中有学生和宿舍两个关系：学生</a:t>
            </a:r>
            <a:r>
              <a:rPr lang="en-US" altLang="zh-CN" sz="2200" dirty="0">
                <a:latin typeface="Calibri" panose="020F0502020204030204" pitchFamily="34" charset="0"/>
                <a:cs typeface="Times New Roman" panose="02020603050405020304" pitchFamily="18" charset="0"/>
              </a:rPr>
              <a:t>(</a:t>
            </a:r>
            <a:r>
              <a:rPr lang="zh-CN" altLang="zh-CN" sz="2200" dirty="0">
                <a:latin typeface="Calibri" panose="020F0502020204030204" pitchFamily="34" charset="0"/>
              </a:rPr>
              <a:t>学号</a:t>
            </a:r>
            <a:r>
              <a:rPr lang="en-US" altLang="zh-CN" sz="2200" dirty="0">
                <a:latin typeface="Calibri" panose="020F0502020204030204" pitchFamily="34" charset="0"/>
              </a:rPr>
              <a:t>,</a:t>
            </a:r>
            <a:r>
              <a:rPr lang="zh-CN" altLang="zh-CN" sz="2200" dirty="0">
                <a:latin typeface="Calibri" panose="020F0502020204030204" pitchFamily="34" charset="0"/>
              </a:rPr>
              <a:t>姓名</a:t>
            </a:r>
            <a:r>
              <a:rPr lang="en-US" altLang="zh-CN" sz="2200" dirty="0">
                <a:latin typeface="Calibri" panose="020F0502020204030204" pitchFamily="34" charset="0"/>
              </a:rPr>
              <a:t>) </a:t>
            </a:r>
            <a:r>
              <a:rPr lang="zh-CN" altLang="zh-CN" sz="2200" dirty="0">
                <a:latin typeface="Calibri" panose="020F0502020204030204" pitchFamily="34" charset="0"/>
              </a:rPr>
              <a:t>和宿舍</a:t>
            </a:r>
            <a:r>
              <a:rPr lang="en-US" altLang="zh-CN" sz="2200" dirty="0">
                <a:latin typeface="Calibri" panose="020F0502020204030204" pitchFamily="34" charset="0"/>
              </a:rPr>
              <a:t>(</a:t>
            </a:r>
            <a:r>
              <a:rPr lang="zh-CN" altLang="zh-CN" sz="2200" dirty="0">
                <a:latin typeface="Calibri" panose="020F0502020204030204" pitchFamily="34" charset="0"/>
              </a:rPr>
              <a:t>楼名</a:t>
            </a:r>
            <a:r>
              <a:rPr lang="en-US" altLang="zh-CN" sz="2200" dirty="0">
                <a:latin typeface="Calibri" panose="020F0502020204030204" pitchFamily="34" charset="0"/>
              </a:rPr>
              <a:t>,</a:t>
            </a:r>
            <a:r>
              <a:rPr lang="zh-CN" altLang="zh-CN" sz="2200" dirty="0">
                <a:latin typeface="Calibri" panose="020F0502020204030204" pitchFamily="34" charset="0"/>
              </a:rPr>
              <a:t>房间号</a:t>
            </a:r>
            <a:r>
              <a:rPr lang="en-US" altLang="zh-CN" sz="2200" dirty="0">
                <a:latin typeface="Calibri" panose="020F0502020204030204" pitchFamily="34" charset="0"/>
              </a:rPr>
              <a:t>,</a:t>
            </a:r>
            <a:r>
              <a:rPr lang="zh-CN" altLang="zh-CN" sz="2200" dirty="0">
                <a:latin typeface="Calibri" panose="020F0502020204030204" pitchFamily="34" charset="0"/>
              </a:rPr>
              <a:t>床位号</a:t>
            </a:r>
            <a:r>
              <a:rPr lang="en-US" altLang="zh-CN" sz="2200" dirty="0">
                <a:latin typeface="Calibri" panose="020F0502020204030204" pitchFamily="34" charset="0"/>
              </a:rPr>
              <a:t>,</a:t>
            </a:r>
            <a:r>
              <a:rPr lang="zh-CN" altLang="zh-CN" sz="2200" dirty="0">
                <a:latin typeface="Calibri" panose="020F0502020204030204" pitchFamily="34" charset="0"/>
              </a:rPr>
              <a:t>学号</a:t>
            </a:r>
            <a:r>
              <a:rPr lang="en-US" altLang="zh-CN" sz="2200" dirty="0">
                <a:latin typeface="Calibri" panose="020F0502020204030204" pitchFamily="34" charset="0"/>
              </a:rPr>
              <a:t>)</a:t>
            </a:r>
            <a:r>
              <a:rPr lang="zh-CN" altLang="zh-CN" sz="2200" dirty="0">
                <a:latin typeface="Calibri" panose="020F0502020204030204" pitchFamily="34" charset="0"/>
              </a:rPr>
              <a:t>，假设有的学生不住宿，床位可以空闲，如果要列出所有学生住所和宿舍分配的情况，包括没有住所的学生和空闲的床位，则应执行（    ）。</a:t>
            </a:r>
            <a:endParaRPr lang="zh-CN" altLang="en-US" sz="2200" dirty="0"/>
          </a:p>
        </p:txBody>
      </p:sp>
      <p:sp>
        <p:nvSpPr>
          <p:cNvPr id="173063" name="文本框 5"/>
          <p:cNvSpPr txBox="1"/>
          <p:nvPr/>
        </p:nvSpPr>
        <p:spPr>
          <a:xfrm>
            <a:off x="863600" y="5548313"/>
            <a:ext cx="7975600" cy="5476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zh-CN" sz="2200" dirty="0">
                <a:latin typeface="Calibri" panose="020F0502020204030204" pitchFamily="34" charset="0"/>
              </a:rPr>
              <a:t>A、全外联接</a:t>
            </a:r>
            <a:r>
              <a:rPr lang="en-US" altLang="zh-CN" sz="2200" dirty="0">
                <a:latin typeface="Calibri" panose="020F0502020204030204" pitchFamily="34" charset="0"/>
                <a:cs typeface="Times New Roman" panose="02020603050405020304" pitchFamily="18" charset="0"/>
              </a:rPr>
              <a:t>   B</a:t>
            </a:r>
            <a:r>
              <a:rPr lang="zh-CN" altLang="zh-CN" sz="2200" dirty="0">
                <a:latin typeface="Calibri" panose="020F0502020204030204" pitchFamily="34" charset="0"/>
              </a:rPr>
              <a:t>、左外联接     </a:t>
            </a:r>
            <a:r>
              <a:rPr lang="en-US" altLang="zh-CN" sz="2200" dirty="0">
                <a:latin typeface="Calibri" panose="020F0502020204030204" pitchFamily="34" charset="0"/>
              </a:rPr>
              <a:t>C</a:t>
            </a:r>
            <a:r>
              <a:rPr lang="zh-CN" altLang="zh-CN" sz="2200" dirty="0">
                <a:latin typeface="Calibri" panose="020F0502020204030204" pitchFamily="34" charset="0"/>
              </a:rPr>
              <a:t>、右外联接     </a:t>
            </a:r>
            <a:r>
              <a:rPr lang="en-US" altLang="zh-CN" sz="2200" dirty="0">
                <a:latin typeface="Calibri" panose="020F0502020204030204" pitchFamily="34" charset="0"/>
              </a:rPr>
              <a:t>D</a:t>
            </a:r>
            <a:r>
              <a:rPr lang="zh-CN" altLang="zh-CN" sz="2200" dirty="0">
                <a:latin typeface="Calibri" panose="020F0502020204030204" pitchFamily="34" charset="0"/>
              </a:rPr>
              <a:t>、自然联接</a:t>
            </a:r>
            <a:endParaRPr lang="zh-CN" altLang="en-US" sz="2200" dirty="0"/>
          </a:p>
        </p:txBody>
      </p:sp>
      <p:sp>
        <p:nvSpPr>
          <p:cNvPr id="9" name="文本框 8"/>
          <p:cNvSpPr txBox="1"/>
          <p:nvPr/>
        </p:nvSpPr>
        <p:spPr>
          <a:xfrm>
            <a:off x="6942138" y="1222375"/>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D</a:t>
            </a:r>
            <a:endParaRPr lang="en-US" altLang="zh-CN" sz="2400" dirty="0">
              <a:solidFill>
                <a:srgbClr val="FF0000"/>
              </a:solidFill>
            </a:endParaRPr>
          </a:p>
        </p:txBody>
      </p:sp>
      <p:sp>
        <p:nvSpPr>
          <p:cNvPr id="10" name="文本框 9"/>
          <p:cNvSpPr txBox="1"/>
          <p:nvPr/>
        </p:nvSpPr>
        <p:spPr>
          <a:xfrm>
            <a:off x="3881438" y="5019675"/>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A</a:t>
            </a:r>
            <a:endParaRPr lang="en-US" altLang="zh-CN" sz="2400" dirty="0">
              <a:solidFill>
                <a:srgbClr val="FF0000"/>
              </a:solidFill>
            </a:endParaRPr>
          </a:p>
        </p:txBody>
      </p:sp>
      <p:sp>
        <p:nvSpPr>
          <p:cNvPr id="17306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文本框 3"/>
          <p:cNvSpPr txBox="1"/>
          <p:nvPr/>
        </p:nvSpPr>
        <p:spPr>
          <a:xfrm>
            <a:off x="484188" y="1431925"/>
            <a:ext cx="8278812"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3</a:t>
            </a:r>
            <a:r>
              <a:rPr lang="zh-CN" altLang="en-US" sz="2200" dirty="0">
                <a:latin typeface="Calibri" panose="020F0502020204030204" pitchFamily="34" charset="0"/>
              </a:rPr>
              <a:t>、</a:t>
            </a:r>
            <a:r>
              <a:rPr lang="zh-CN" altLang="zh-CN" sz="2200" dirty="0">
                <a:latin typeface="Calibri" panose="020F0502020204030204" pitchFamily="34" charset="0"/>
              </a:rPr>
              <a:t>设有关系</a:t>
            </a:r>
            <a:r>
              <a:rPr lang="en-US" altLang="zh-CN" sz="2200" dirty="0">
                <a:latin typeface="Calibri" panose="020F0502020204030204" pitchFamily="34" charset="0"/>
                <a:cs typeface="Times New Roman" panose="02020603050405020304" pitchFamily="18" charset="0"/>
              </a:rPr>
              <a:t>R(A,B,C)</a:t>
            </a:r>
            <a:r>
              <a:rPr lang="zh-CN" altLang="zh-CN" sz="2200" dirty="0">
                <a:latin typeface="Calibri" panose="020F0502020204030204" pitchFamily="34" charset="0"/>
              </a:rPr>
              <a:t>和</a:t>
            </a:r>
            <a:r>
              <a:rPr lang="en-US" altLang="zh-CN" sz="2200" dirty="0">
                <a:latin typeface="Calibri" panose="020F0502020204030204" pitchFamily="34" charset="0"/>
              </a:rPr>
              <a:t>S(C,D)</a:t>
            </a:r>
            <a:r>
              <a:rPr lang="zh-CN" altLang="zh-CN" sz="2200" dirty="0">
                <a:latin typeface="Calibri" panose="020F0502020204030204" pitchFamily="34" charset="0"/>
              </a:rPr>
              <a:t>。与</a:t>
            </a:r>
            <a:r>
              <a:rPr lang="en-US" altLang="zh-CN" sz="2200" dirty="0">
                <a:latin typeface="Calibri" panose="020F0502020204030204" pitchFamily="34" charset="0"/>
              </a:rPr>
              <a:t>SQL</a:t>
            </a:r>
            <a:r>
              <a:rPr lang="zh-CN" altLang="zh-CN" sz="2200" dirty="0">
                <a:latin typeface="Calibri" panose="020F0502020204030204" pitchFamily="34" charset="0"/>
              </a:rPr>
              <a:t>语句</a:t>
            </a:r>
            <a:r>
              <a:rPr lang="en-US" altLang="zh-CN" sz="2200" dirty="0">
                <a:latin typeface="Calibri" panose="020F0502020204030204" pitchFamily="34" charset="0"/>
              </a:rPr>
              <a:t>Select A,B,D from R,S Where R.C=S.C</a:t>
            </a:r>
            <a:r>
              <a:rPr lang="zh-CN" altLang="zh-CN" sz="2200" dirty="0">
                <a:latin typeface="Calibri" panose="020F0502020204030204" pitchFamily="34" charset="0"/>
              </a:rPr>
              <a:t>等价的关系代数表达式是（   </a:t>
            </a:r>
            <a:r>
              <a:rPr lang="en-US" altLang="zh-CN" sz="2200" dirty="0">
                <a:latin typeface="Calibri" panose="020F0502020204030204" pitchFamily="34" charset="0"/>
              </a:rPr>
              <a:t>    </a:t>
            </a:r>
            <a:r>
              <a:rPr lang="zh-CN" altLang="zh-CN" sz="2200" dirty="0">
                <a:latin typeface="Calibri" panose="020F0502020204030204" pitchFamily="34" charset="0"/>
              </a:rPr>
              <a:t>）</a:t>
            </a:r>
            <a:endParaRPr lang="zh-CN" altLang="en-US" sz="2200" dirty="0"/>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pic>
        <p:nvPicPr>
          <p:cNvPr id="174084" name="图片 54"/>
          <p:cNvPicPr>
            <a:picLocks noChangeAspect="1"/>
          </p:cNvPicPr>
          <p:nvPr/>
        </p:nvPicPr>
        <p:blipFill>
          <a:blip r:embed="rId1"/>
          <a:srcRect l="3616" t="44473" r="28113" b="4352"/>
          <a:stretch>
            <a:fillRect/>
          </a:stretch>
        </p:blipFill>
        <p:spPr>
          <a:xfrm>
            <a:off x="411163" y="2212975"/>
            <a:ext cx="8321675" cy="865188"/>
          </a:xfrm>
          <a:prstGeom prst="rect">
            <a:avLst/>
          </a:prstGeom>
          <a:noFill/>
          <a:ln w="9525">
            <a:noFill/>
          </a:ln>
        </p:spPr>
      </p:pic>
      <p:sp>
        <p:nvSpPr>
          <p:cNvPr id="9" name="文本框 8"/>
          <p:cNvSpPr txBox="1"/>
          <p:nvPr/>
        </p:nvSpPr>
        <p:spPr>
          <a:xfrm>
            <a:off x="5684838" y="1616075"/>
            <a:ext cx="403225" cy="59055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B</a:t>
            </a:r>
            <a:endParaRPr lang="en-US" altLang="zh-CN" sz="2400" dirty="0">
              <a:solidFill>
                <a:srgbClr val="FF0000"/>
              </a:solidFill>
            </a:endParaRPr>
          </a:p>
        </p:txBody>
      </p:sp>
      <p:sp>
        <p:nvSpPr>
          <p:cNvPr id="5" name="文本框 4"/>
          <p:cNvSpPr txBox="1"/>
          <p:nvPr/>
        </p:nvSpPr>
        <p:spPr>
          <a:xfrm>
            <a:off x="484188" y="3052763"/>
            <a:ext cx="8456612" cy="5064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dirty="0">
                <a:solidFill>
                  <a:srgbClr val="FF0000"/>
                </a:solidFill>
              </a:rPr>
              <a:t>A、</a:t>
            </a:r>
            <a:r>
              <a:rPr lang="en-US" altLang="zh-CN" dirty="0">
                <a:solidFill>
                  <a:srgbClr val="FF0000"/>
                </a:solidFill>
              </a:rPr>
              <a:t>C</a:t>
            </a:r>
            <a:r>
              <a:rPr lang="zh-CN" altLang="en-US" dirty="0">
                <a:solidFill>
                  <a:srgbClr val="FF0000"/>
                </a:solidFill>
              </a:rPr>
              <a:t>、</a:t>
            </a:r>
            <a:r>
              <a:rPr lang="en-US" altLang="zh-CN" dirty="0">
                <a:solidFill>
                  <a:srgbClr val="FF0000"/>
                </a:solidFill>
              </a:rPr>
              <a:t>D</a:t>
            </a:r>
            <a:r>
              <a:rPr lang="zh-CN" altLang="en-US" dirty="0">
                <a:solidFill>
                  <a:srgbClr val="FF0000"/>
                </a:solidFill>
              </a:rPr>
              <a:t>：先投影再选择，而投影后并不存在C这个属性，也就无法选择；</a:t>
            </a:r>
            <a:endParaRPr lang="zh-CN" altLang="en-US" dirty="0">
              <a:solidFill>
                <a:srgbClr val="FF0000"/>
              </a:solidFill>
            </a:endParaRPr>
          </a:p>
        </p:txBody>
      </p:sp>
      <p:sp>
        <p:nvSpPr>
          <p:cNvPr id="174087" name="文本框 101"/>
          <p:cNvSpPr txBox="1"/>
          <p:nvPr/>
        </p:nvSpPr>
        <p:spPr>
          <a:xfrm>
            <a:off x="544513" y="3630613"/>
            <a:ext cx="8335962" cy="768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4</a:t>
            </a:r>
            <a:r>
              <a:rPr lang="zh-CN" altLang="en-US" sz="2200" dirty="0">
                <a:latin typeface="Calibri" panose="020F0502020204030204" pitchFamily="34" charset="0"/>
              </a:rPr>
              <a:t>、</a:t>
            </a:r>
            <a:r>
              <a:rPr lang="zh-CN" altLang="zh-CN" sz="2200" dirty="0">
                <a:latin typeface="Calibri" panose="020F0502020204030204" pitchFamily="34" charset="0"/>
              </a:rPr>
              <a:t>设有关系</a:t>
            </a:r>
            <a:r>
              <a:rPr lang="en-US" altLang="zh-CN" sz="2200" dirty="0">
                <a:latin typeface="Calibri" panose="020F0502020204030204" pitchFamily="34" charset="0"/>
                <a:cs typeface="Times New Roman" panose="02020603050405020304" pitchFamily="18" charset="0"/>
              </a:rPr>
              <a:t>R</a:t>
            </a:r>
            <a:r>
              <a:rPr lang="zh-CN" altLang="zh-CN" sz="2200" dirty="0">
                <a:latin typeface="Calibri" panose="020F0502020204030204" pitchFamily="34" charset="0"/>
              </a:rPr>
              <a:t>和</a:t>
            </a:r>
            <a:r>
              <a:rPr lang="en-US" altLang="zh-CN" sz="2200" dirty="0">
                <a:latin typeface="Calibri" panose="020F0502020204030204" pitchFamily="34" charset="0"/>
              </a:rPr>
              <a:t>S</a:t>
            </a:r>
            <a:r>
              <a:rPr lang="zh-CN" altLang="zh-CN" sz="2200" dirty="0">
                <a:latin typeface="Calibri" panose="020F0502020204030204" pitchFamily="34" charset="0"/>
              </a:rPr>
              <a:t>进行如图</a:t>
            </a:r>
            <a:r>
              <a:rPr lang="en-US" altLang="zh-CN" sz="2200" dirty="0">
                <a:latin typeface="Calibri" panose="020F0502020204030204" pitchFamily="34" charset="0"/>
              </a:rPr>
              <a:t>3</a:t>
            </a:r>
            <a:r>
              <a:rPr lang="zh-CN" altLang="zh-CN" sz="2200" dirty="0">
                <a:latin typeface="Calibri" panose="020F0502020204030204" pitchFamily="34" charset="0"/>
              </a:rPr>
              <a:t>所示的运算，则运算结果中含有元组的数目是（      ）</a:t>
            </a:r>
            <a:endParaRPr lang="zh-CN" altLang="en-US" sz="2200" dirty="0"/>
          </a:p>
        </p:txBody>
      </p:sp>
      <p:pic>
        <p:nvPicPr>
          <p:cNvPr id="174088" name="图片 9"/>
          <p:cNvPicPr>
            <a:picLocks noChangeAspect="1"/>
          </p:cNvPicPr>
          <p:nvPr/>
        </p:nvPicPr>
        <p:blipFill>
          <a:blip r:embed="rId2"/>
          <a:stretch>
            <a:fillRect/>
          </a:stretch>
        </p:blipFill>
        <p:spPr>
          <a:xfrm>
            <a:off x="4667250" y="4297363"/>
            <a:ext cx="3689350" cy="1727200"/>
          </a:xfrm>
          <a:prstGeom prst="rect">
            <a:avLst/>
          </a:prstGeom>
          <a:noFill/>
          <a:ln w="9525">
            <a:noFill/>
          </a:ln>
        </p:spPr>
      </p:pic>
      <p:sp>
        <p:nvSpPr>
          <p:cNvPr id="174089" name="文本框 10"/>
          <p:cNvSpPr txBox="1"/>
          <p:nvPr/>
        </p:nvSpPr>
        <p:spPr>
          <a:xfrm>
            <a:off x="823913" y="4456113"/>
            <a:ext cx="3224212"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cs typeface="Times New Roman" panose="02020603050405020304" pitchFamily="18" charset="0"/>
              </a:rPr>
              <a:t>A</a:t>
            </a:r>
            <a:r>
              <a:rPr lang="zh-CN" altLang="zh-CN" sz="2400" b="0" dirty="0">
                <a:latin typeface="Calibri" panose="020F0502020204030204" pitchFamily="34" charset="0"/>
              </a:rPr>
              <a:t>、</a:t>
            </a:r>
            <a:r>
              <a:rPr lang="en-US" altLang="zh-CN" sz="2400" b="0" dirty="0">
                <a:latin typeface="Calibri" panose="020F0502020204030204" pitchFamily="34" charset="0"/>
              </a:rPr>
              <a:t>6         B</a:t>
            </a:r>
            <a:r>
              <a:rPr lang="zh-CN" altLang="zh-CN" sz="2400" b="0" dirty="0">
                <a:latin typeface="Calibri" panose="020F0502020204030204" pitchFamily="34" charset="0"/>
              </a:rPr>
              <a:t>、</a:t>
            </a:r>
            <a:r>
              <a:rPr lang="en-US" altLang="zh-CN" sz="2400" b="0" dirty="0">
                <a:latin typeface="Calibri" panose="020F0502020204030204" pitchFamily="34" charset="0"/>
              </a:rPr>
              <a:t>7       </a:t>
            </a:r>
            <a:endParaRPr lang="en-US" altLang="zh-CN" sz="2400" b="0" dirty="0">
              <a:latin typeface="Calibri" panose="020F0502020204030204" pitchFamily="34" charset="0"/>
            </a:endParaRPr>
          </a:p>
          <a:p>
            <a:pPr marL="0" lvl="0" indent="0" eaLnBrk="1" hangingPunct="1">
              <a:spcBef>
                <a:spcPct val="0"/>
              </a:spcBef>
              <a:buClrTx/>
              <a:buSzTx/>
              <a:buFont typeface="Arial" panose="020B0604020202020204" pitchFamily="34" charset="0"/>
              <a:buNone/>
            </a:pPr>
            <a:r>
              <a:rPr lang="en-US" altLang="zh-CN" sz="2400" b="0" dirty="0">
                <a:latin typeface="Calibri" panose="020F0502020204030204" pitchFamily="34" charset="0"/>
              </a:rPr>
              <a:t>C</a:t>
            </a:r>
            <a:r>
              <a:rPr lang="zh-CN" altLang="zh-CN" sz="2400" b="0" dirty="0">
                <a:latin typeface="Calibri" panose="020F0502020204030204" pitchFamily="34" charset="0"/>
              </a:rPr>
              <a:t>、</a:t>
            </a:r>
            <a:r>
              <a:rPr lang="en-US" altLang="zh-CN" sz="2400" b="0" dirty="0">
                <a:latin typeface="Calibri" panose="020F0502020204030204" pitchFamily="34" charset="0"/>
              </a:rPr>
              <a:t>8         D</a:t>
            </a:r>
            <a:r>
              <a:rPr lang="zh-CN" altLang="zh-CN" sz="2400" b="0" dirty="0">
                <a:latin typeface="Calibri" panose="020F0502020204030204" pitchFamily="34" charset="0"/>
              </a:rPr>
              <a:t>、</a:t>
            </a:r>
            <a:r>
              <a:rPr lang="en-US" altLang="zh-CN" sz="2400" b="0" dirty="0">
                <a:latin typeface="Calibri" panose="020F0502020204030204" pitchFamily="34" charset="0"/>
              </a:rPr>
              <a:t>9</a:t>
            </a:r>
            <a:endParaRPr lang="zh-CN" altLang="en-US" sz="2400" dirty="0"/>
          </a:p>
        </p:txBody>
      </p:sp>
      <p:sp>
        <p:nvSpPr>
          <p:cNvPr id="12" name="文本框 11"/>
          <p:cNvSpPr txBox="1"/>
          <p:nvPr/>
        </p:nvSpPr>
        <p:spPr>
          <a:xfrm>
            <a:off x="1724025" y="3810000"/>
            <a:ext cx="403225" cy="58896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400" dirty="0">
                <a:solidFill>
                  <a:srgbClr val="FF0000"/>
                </a:solidFill>
              </a:rPr>
              <a:t>A</a:t>
            </a:r>
            <a:endParaRPr lang="en-US" altLang="zh-CN" sz="2400" dirty="0">
              <a:solidFill>
                <a:srgbClr val="FF0000"/>
              </a:solidFill>
            </a:endParaRPr>
          </a:p>
        </p:txBody>
      </p:sp>
      <p:graphicFrame>
        <p:nvGraphicFramePr>
          <p:cNvPr id="13" name="表格 12"/>
          <p:cNvGraphicFramePr/>
          <p:nvPr/>
        </p:nvGraphicFramePr>
        <p:xfrm>
          <a:off x="544513" y="2565400"/>
          <a:ext cx="3349625" cy="3657600"/>
        </p:xfrm>
        <a:graphic>
          <a:graphicData uri="http://schemas.openxmlformats.org/drawingml/2006/table">
            <a:tbl>
              <a:tblPr firstRow="1" bandRow="1">
                <a:tableStyleId>{5C22544A-7EE6-4342-B048-85BDC9FD1C3A}</a:tableStyleId>
              </a:tblPr>
              <a:tblGrid>
                <a:gridCol w="723265"/>
                <a:gridCol w="608965"/>
                <a:gridCol w="685165"/>
                <a:gridCol w="697865"/>
                <a:gridCol w="634365"/>
              </a:tblGrid>
              <a:tr h="365760">
                <a:tc>
                  <a:txBody>
                    <a:bodyPr/>
                    <a:lstStyle/>
                    <a:p>
                      <a:pPr algn="ctr">
                        <a:lnSpc>
                          <a:spcPct val="100000"/>
                        </a:lnSpc>
                        <a:buNone/>
                      </a:pPr>
                      <a:r>
                        <a:rPr lang="en-US" altLang="zh-CN">
                          <a:solidFill>
                            <a:srgbClr val="FF0000"/>
                          </a:solidFill>
                        </a:rPr>
                        <a:t>A</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B</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C</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D</a:t>
                      </a:r>
                      <a:endParaRPr lang="en-US" altLang="zh-CN">
                        <a:solidFill>
                          <a:srgbClr val="FF0000"/>
                        </a:solidFill>
                      </a:endParaRPr>
                    </a:p>
                  </a:txBody>
                  <a:tcPr/>
                </a:tc>
                <a:tc>
                  <a:txBody>
                    <a:bodyPr/>
                    <a:lstStyle/>
                    <a:p>
                      <a:pPr algn="ctr">
                        <a:lnSpc>
                          <a:spcPct val="100000"/>
                        </a:lnSpc>
                        <a:buNone/>
                      </a:pPr>
                      <a:r>
                        <a:rPr lang="en-US" altLang="zh-CN">
                          <a:solidFill>
                            <a:srgbClr val="FF0000"/>
                          </a:solidFill>
                        </a:rPr>
                        <a:t>E</a:t>
                      </a:r>
                      <a:endParaRPr lang="en-US" altLang="zh-CN">
                        <a:solidFill>
                          <a:srgbClr val="FF0000"/>
                        </a:solidFill>
                      </a:endParaRPr>
                    </a:p>
                  </a:txBody>
                  <a:tcPr/>
                </a:tc>
              </a:tr>
              <a:tr h="365760">
                <a:tc>
                  <a:txBody>
                    <a:bodyPr/>
                    <a:lstStyle/>
                    <a:p>
                      <a:pPr algn="ctr">
                        <a:lnSpc>
                          <a:spcPct val="100000"/>
                        </a:lnSpc>
                        <a:buNone/>
                      </a:pPr>
                      <a:r>
                        <a:rPr lang="en-US" altLang="zh-CN">
                          <a:solidFill>
                            <a:schemeClr val="tx1"/>
                          </a:solidFill>
                        </a:rPr>
                        <a:t>1</a:t>
                      </a:r>
                      <a:endParaRPr lang="en-US" altLang="zh-CN">
                        <a:solidFill>
                          <a:schemeClr val="tx1"/>
                        </a:solidFill>
                      </a:endParaRPr>
                    </a:p>
                  </a:txBody>
                  <a:tcPr/>
                </a:tc>
                <a:tc>
                  <a:txBody>
                    <a:bodyPr/>
                    <a:lstStyle/>
                    <a:p>
                      <a:pPr algn="ctr">
                        <a:lnSpc>
                          <a:spcPct val="100000"/>
                        </a:lnSpc>
                        <a:buNone/>
                      </a:pPr>
                      <a:r>
                        <a:rPr lang="en-US" altLang="zh-CN">
                          <a:solidFill>
                            <a:schemeClr val="tx1"/>
                          </a:solidFill>
                        </a:rPr>
                        <a:t>2</a:t>
                      </a:r>
                      <a:endParaRPr lang="en-US" altLang="zh-CN">
                        <a:solidFill>
                          <a:schemeClr val="tx1"/>
                        </a:solidFill>
                      </a:endParaRPr>
                    </a:p>
                  </a:txBody>
                  <a:tcPr/>
                </a:tc>
                <a:tc>
                  <a:txBody>
                    <a:bodyPr/>
                    <a:lstStyle/>
                    <a:p>
                      <a:pPr algn="ctr">
                        <a:lnSpc>
                          <a:spcPct val="100000"/>
                        </a:lnSpc>
                        <a:buNone/>
                      </a:pPr>
                      <a:r>
                        <a:rPr lang="en-US" altLang="zh-CN">
                          <a:solidFill>
                            <a:schemeClr val="tx1"/>
                          </a:solidFill>
                        </a:rPr>
                        <a:t>3</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1</a:t>
                      </a:r>
                      <a:endParaRPr lang="en-US" altLang="zh-CN">
                        <a:solidFill>
                          <a:schemeClr val="tx1"/>
                        </a:solidFill>
                      </a:endParaRPr>
                    </a:p>
                  </a:txBody>
                  <a:tcPr/>
                </a:tc>
                <a:tc>
                  <a:txBody>
                    <a:bodyPr/>
                    <a:lstStyle/>
                    <a:p>
                      <a:pPr algn="ctr">
                        <a:lnSpc>
                          <a:spcPct val="100000"/>
                        </a:lnSpc>
                        <a:buNone/>
                      </a:pPr>
                      <a:r>
                        <a:rPr lang="en-US" altLang="zh-CN">
                          <a:solidFill>
                            <a:schemeClr val="tx1"/>
                          </a:solidFill>
                        </a:rPr>
                        <a:t>2</a:t>
                      </a:r>
                      <a:endParaRPr lang="en-US" altLang="zh-CN">
                        <a:solidFill>
                          <a:schemeClr val="tx1"/>
                        </a:solidFill>
                      </a:endParaRPr>
                    </a:p>
                  </a:txBody>
                  <a:tcPr/>
                </a:tc>
                <a:tc>
                  <a:txBody>
                    <a:bodyPr/>
                    <a:lstStyle/>
                    <a:p>
                      <a:pPr algn="ctr">
                        <a:lnSpc>
                          <a:spcPct val="100000"/>
                        </a:lnSpc>
                        <a:buNone/>
                      </a:pPr>
                      <a:r>
                        <a:rPr lang="en-US" altLang="zh-CN">
                          <a:solidFill>
                            <a:schemeClr val="tx1"/>
                          </a:solidFill>
                        </a:rPr>
                        <a:t>3</a:t>
                      </a:r>
                      <a:endParaRPr lang="en-US" altLang="zh-CN">
                        <a:solidFill>
                          <a:schemeClr val="tx1"/>
                        </a:solidFill>
                      </a:endParaRPr>
                    </a:p>
                  </a:txBody>
                  <a:tcPr/>
                </a:tc>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1</a:t>
                      </a:r>
                      <a:endParaRPr lang="en-US" altLang="zh-CN">
                        <a:solidFill>
                          <a:schemeClr val="tx1"/>
                        </a:solidFill>
                      </a:endParaRPr>
                    </a:p>
                  </a:txBody>
                  <a:tcPr/>
                </a:tc>
                <a:tc>
                  <a:txBody>
                    <a:bodyPr/>
                    <a:lstStyle/>
                    <a:p>
                      <a:pPr algn="ctr">
                        <a:lnSpc>
                          <a:spcPct val="100000"/>
                        </a:lnSpc>
                        <a:buNone/>
                      </a:pPr>
                      <a:r>
                        <a:rPr lang="en-US" altLang="zh-CN">
                          <a:solidFill>
                            <a:schemeClr val="tx1"/>
                          </a:solidFill>
                        </a:rPr>
                        <a:t>2</a:t>
                      </a:r>
                      <a:endParaRPr lang="en-US" altLang="zh-CN">
                        <a:solidFill>
                          <a:schemeClr val="tx1"/>
                        </a:solidFill>
                      </a:endParaRPr>
                    </a:p>
                  </a:txBody>
                  <a:tcPr/>
                </a:tc>
                <a:tc>
                  <a:txBody>
                    <a:bodyPr/>
                    <a:lstStyle/>
                    <a:p>
                      <a:pPr algn="ctr">
                        <a:lnSpc>
                          <a:spcPct val="100000"/>
                        </a:lnSpc>
                        <a:buNone/>
                      </a:pPr>
                      <a:r>
                        <a:rPr lang="en-US" altLang="zh-CN">
                          <a:solidFill>
                            <a:schemeClr val="tx1"/>
                          </a:solidFill>
                        </a:rPr>
                        <a:t>3</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10</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4</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4</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4</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10</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5</a:t>
                      </a:r>
                      <a:endParaRPr lang="en-US" altLang="zh-CN">
                        <a:solidFill>
                          <a:schemeClr val="tx1"/>
                        </a:solidFill>
                      </a:endParaRPr>
                    </a:p>
                  </a:txBody>
                  <a:tcPr/>
                </a:tc>
                <a:tc>
                  <a:txBody>
                    <a:bodyPr/>
                    <a:lstStyle/>
                    <a:p>
                      <a:pPr algn="ctr">
                        <a:lnSpc>
                          <a:spcPct val="100000"/>
                        </a:lnSpc>
                        <a:buNone/>
                      </a:pPr>
                      <a:r>
                        <a:rPr lang="en-US" altLang="zh-CN">
                          <a:solidFill>
                            <a:schemeClr val="tx1"/>
                          </a:solidFill>
                        </a:rPr>
                        <a:t>6</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r>
              <a:tr h="365760">
                <a:tc>
                  <a:txBody>
                    <a:bodyPr/>
                    <a:lstStyle/>
                    <a:p>
                      <a:pPr algn="ctr">
                        <a:lnSpc>
                          <a:spcPct val="100000"/>
                        </a:lnSpc>
                        <a:buNone/>
                      </a:pPr>
                      <a:r>
                        <a:rPr lang="en-US" altLang="zh-CN">
                          <a:solidFill>
                            <a:schemeClr val="tx1"/>
                          </a:solidFill>
                        </a:rPr>
                        <a:t>7</a:t>
                      </a:r>
                      <a:endParaRPr lang="en-US" altLang="zh-CN">
                        <a:solidFill>
                          <a:schemeClr val="tx1"/>
                        </a:solidFill>
                      </a:endParaRPr>
                    </a:p>
                  </a:txBody>
                  <a:tcPr/>
                </a:tc>
                <a:tc>
                  <a:txBody>
                    <a:bodyPr/>
                    <a:lstStyle/>
                    <a:p>
                      <a:pPr algn="ctr">
                        <a:lnSpc>
                          <a:spcPct val="100000"/>
                        </a:lnSpc>
                        <a:buNone/>
                      </a:pPr>
                      <a:r>
                        <a:rPr lang="en-US" altLang="zh-CN">
                          <a:solidFill>
                            <a:schemeClr val="tx1"/>
                          </a:solidFill>
                        </a:rPr>
                        <a:t>8</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9</a:t>
                      </a:r>
                      <a:endParaRPr lang="en-US" altLang="zh-CN">
                        <a:solidFill>
                          <a:schemeClr val="tx1"/>
                        </a:solidFill>
                      </a:endParaRPr>
                    </a:p>
                  </a:txBody>
                  <a:tcPr/>
                </a:tc>
                <a:tc>
                  <a:txBody>
                    <a:bodyPr/>
                    <a:lstStyle/>
                    <a:p>
                      <a:pPr algn="ctr">
                        <a:lnSpc>
                          <a:spcPct val="100000"/>
                        </a:lnSpc>
                        <a:buNone/>
                      </a:pPr>
                      <a:r>
                        <a:rPr lang="en-US" altLang="zh-CN">
                          <a:solidFill>
                            <a:schemeClr val="tx1"/>
                          </a:solidFill>
                        </a:rPr>
                        <a:t>10</a:t>
                      </a:r>
                      <a:endParaRPr lang="en-US" altLang="zh-CN">
                        <a:solidFill>
                          <a:schemeClr val="tx1"/>
                        </a:solidFill>
                      </a:endParaRPr>
                    </a:p>
                  </a:txBody>
                  <a:tcPr/>
                </a:tc>
              </a:tr>
            </a:tbl>
          </a:graphicData>
        </a:graphic>
      </p:graphicFrame>
      <p:cxnSp>
        <p:nvCxnSpPr>
          <p:cNvPr id="15" name="直接连接符 14"/>
          <p:cNvCxnSpPr/>
          <p:nvPr/>
        </p:nvCxnSpPr>
        <p:spPr>
          <a:xfrm flipV="1">
            <a:off x="690563" y="4198938"/>
            <a:ext cx="3048000" cy="0"/>
          </a:xfrm>
          <a:prstGeom prst="line">
            <a:avLst/>
          </a:prstGeom>
          <a:ln w="444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690563" y="5286375"/>
            <a:ext cx="3048000" cy="0"/>
          </a:xfrm>
          <a:prstGeom prst="line">
            <a:avLst/>
          </a:prstGeom>
          <a:ln w="44450">
            <a:solidFill>
              <a:srgbClr val="CC00FF"/>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709613" y="5641975"/>
            <a:ext cx="3048000" cy="0"/>
          </a:xfrm>
          <a:prstGeom prst="line">
            <a:avLst/>
          </a:prstGeom>
          <a:ln w="44450">
            <a:solidFill>
              <a:srgbClr val="CC00FF"/>
            </a:solidFill>
          </a:ln>
        </p:spPr>
        <p:style>
          <a:lnRef idx="1">
            <a:schemeClr val="accent1"/>
          </a:lnRef>
          <a:fillRef idx="0">
            <a:schemeClr val="accent1"/>
          </a:fillRef>
          <a:effectRef idx="0">
            <a:schemeClr val="accent1"/>
          </a:effectRef>
          <a:fontRef idx="minor">
            <a:schemeClr val="tx1"/>
          </a:fontRef>
        </p:style>
      </p:cxnSp>
      <p:sp>
        <p:nvSpPr>
          <p:cNvPr id="17416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ppt_x"/>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5" grpId="0"/>
      <p:bldP spid="12" grpId="0"/>
    </p:bld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6" name="文本框 3"/>
          <p:cNvSpPr txBox="1"/>
          <p:nvPr/>
        </p:nvSpPr>
        <p:spPr>
          <a:xfrm>
            <a:off x="484188" y="1431925"/>
            <a:ext cx="8278812"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latin typeface="Calibri" panose="020F0502020204030204" pitchFamily="34" charset="0"/>
              </a:rPr>
              <a:t>5</a:t>
            </a:r>
            <a:r>
              <a:rPr lang="zh-CN" altLang="en-US" sz="2200" dirty="0">
                <a:latin typeface="Calibri" panose="020F0502020204030204" pitchFamily="34" charset="0"/>
              </a:rPr>
              <a:t>、</a:t>
            </a:r>
            <a:r>
              <a:rPr lang="zh-CN" altLang="zh-CN" sz="2200" dirty="0">
                <a:latin typeface="Calibri" panose="020F0502020204030204" pitchFamily="34" charset="0"/>
              </a:rPr>
              <a:t>写出</a:t>
            </a:r>
            <a:r>
              <a:rPr lang="en-US" altLang="zh-CN" sz="2200" dirty="0">
                <a:latin typeface="Calibri" panose="020F0502020204030204" pitchFamily="34" charset="0"/>
              </a:rPr>
              <a:t>R</a:t>
            </a:r>
            <a:r>
              <a:rPr lang="en-US" altLang="zh-CN" sz="2200" dirty="0"/>
              <a:t>÷S</a:t>
            </a:r>
            <a:r>
              <a:rPr lang="zh-CN" altLang="en-US" sz="2200" dirty="0"/>
              <a:t>的结果</a:t>
            </a:r>
            <a:endParaRPr lang="zh-CN" altLang="en-US" sz="2200" dirty="0"/>
          </a:p>
        </p:txBody>
      </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graphicFrame>
        <p:nvGraphicFramePr>
          <p:cNvPr id="3" name="表格 2"/>
          <p:cNvGraphicFramePr/>
          <p:nvPr/>
        </p:nvGraphicFramePr>
        <p:xfrm>
          <a:off x="7700963" y="1330325"/>
          <a:ext cx="922338" cy="939800"/>
        </p:xfrm>
        <a:graphic>
          <a:graphicData uri="http://schemas.openxmlformats.org/drawingml/2006/table">
            <a:tbl>
              <a:tblPr firstRow="1" bandRow="1">
                <a:tableStyleId>{5C22544A-7EE6-4342-B048-85BDC9FD1C3A}</a:tableStyleId>
              </a:tblPr>
              <a:tblGrid>
                <a:gridCol w="922337"/>
              </a:tblGrid>
              <a:tr h="366156">
                <a:tc>
                  <a:txBody>
                    <a:bodyPr/>
                    <a:lstStyle/>
                    <a:p>
                      <a:pPr algn="ctr">
                        <a:lnSpc>
                          <a:spcPct val="100000"/>
                        </a:lnSpc>
                        <a:buNone/>
                      </a:pPr>
                      <a:r>
                        <a:rPr lang="en-US" altLang="zh-CN" sz="1800">
                          <a:solidFill>
                            <a:srgbClr val="FF0000"/>
                          </a:solidFill>
                        </a:rPr>
                        <a:t>A</a:t>
                      </a:r>
                      <a:endParaRPr lang="en-US" altLang="zh-CN" sz="1800">
                        <a:solidFill>
                          <a:srgbClr val="FF0000"/>
                        </a:solidFill>
                      </a:endParaRPr>
                    </a:p>
                  </a:txBody>
                  <a:tcPr marL="91408" marR="91408" marT="45769" marB="45769"/>
                </a:tc>
              </a:tr>
              <a:tr h="286822">
                <a:tc>
                  <a:txBody>
                    <a:bodyPr/>
                    <a:lstStyle/>
                    <a:p>
                      <a:pPr algn="ctr">
                        <a:lnSpc>
                          <a:spcPct val="80000"/>
                        </a:lnSpc>
                        <a:buNone/>
                      </a:pPr>
                      <a:r>
                        <a:rPr lang="en-US" altLang="zh-CN" sz="1600">
                          <a:solidFill>
                            <a:srgbClr val="CC00FF"/>
                          </a:solidFill>
                        </a:rPr>
                        <a:t>b</a:t>
                      </a:r>
                      <a:endParaRPr lang="en-US" altLang="zh-CN" sz="1600">
                        <a:solidFill>
                          <a:srgbClr val="CC00FF"/>
                        </a:solidFill>
                      </a:endParaRPr>
                    </a:p>
                  </a:txBody>
                  <a:tcPr marL="91408" marR="91408" marT="45769" marB="45769"/>
                </a:tc>
              </a:tr>
              <a:tr h="286822">
                <a:tc>
                  <a:txBody>
                    <a:bodyPr/>
                    <a:lstStyle/>
                    <a:p>
                      <a:pPr algn="ctr">
                        <a:lnSpc>
                          <a:spcPct val="80000"/>
                        </a:lnSpc>
                        <a:buNone/>
                      </a:pPr>
                      <a:r>
                        <a:rPr lang="en-US" altLang="zh-CN" sz="1600">
                          <a:solidFill>
                            <a:srgbClr val="CC00FF"/>
                          </a:solidFill>
                        </a:rPr>
                        <a:t>d</a:t>
                      </a:r>
                      <a:endParaRPr lang="en-US" altLang="zh-CN" sz="1600">
                        <a:solidFill>
                          <a:srgbClr val="CC00FF"/>
                        </a:solidFill>
                      </a:endParaRPr>
                    </a:p>
                  </a:txBody>
                  <a:tcPr marL="91408" marR="91408" marT="45769" marB="45769"/>
                </a:tc>
              </a:tr>
            </a:tbl>
          </a:graphicData>
        </a:graphic>
      </p:graphicFrame>
      <p:sp>
        <p:nvSpPr>
          <p:cNvPr id="5" name="右箭头 4"/>
          <p:cNvSpPr/>
          <p:nvPr/>
        </p:nvSpPr>
        <p:spPr>
          <a:xfrm>
            <a:off x="6602413" y="1654175"/>
            <a:ext cx="1022350"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100" name="文本框 99"/>
          <p:cNvSpPr txBox="1"/>
          <p:nvPr/>
        </p:nvSpPr>
        <p:spPr>
          <a:xfrm>
            <a:off x="484188" y="3244850"/>
            <a:ext cx="5080000" cy="527050"/>
          </a:xfrm>
          <a:prstGeom prst="rect">
            <a:avLst/>
          </a:prstGeom>
          <a:noFill/>
          <a:ln w="9525">
            <a:noFill/>
          </a:ln>
        </p:spPr>
        <p:txBody>
          <a:bodyPr>
            <a:spAutoFit/>
          </a:bodyPr>
          <a:lstStyle/>
          <a:p>
            <a:pPr marR="0" defTabSz="914400" eaLnBrk="1" hangingPunct="1">
              <a:buClrTx/>
              <a:buSzTx/>
              <a:buFont typeface="Arial" panose="020B0604020202020204" pitchFamily="34" charset="0"/>
              <a:buNone/>
              <a:defRPr/>
            </a:pPr>
            <a:r>
              <a:rPr kumimoji="0" lang="en-US" altLang="zh-CN" sz="2100" kern="1200" cap="none" spc="0" normalizeH="0" baseline="0" noProof="0">
                <a:latin typeface="Calibri" panose="020F0502020204030204" pitchFamily="34" charset="0"/>
                <a:ea typeface="宋体" panose="02010600030101010101" pitchFamily="2" charset="-122"/>
                <a:cs typeface="+mn-cs"/>
              </a:rPr>
              <a:t>6</a:t>
            </a:r>
            <a:r>
              <a:rPr kumimoji="0" lang="zh-CN" altLang="en-US" sz="2100" kern="1200" cap="none" spc="0" normalizeH="0" baseline="0" noProof="0">
                <a:latin typeface="Calibri" panose="020F0502020204030204" pitchFamily="34" charset="0"/>
                <a:ea typeface="宋体" panose="02010600030101010101" pitchFamily="2" charset="-122"/>
                <a:cs typeface="+mn-cs"/>
              </a:rPr>
              <a:t>、</a:t>
            </a:r>
            <a:r>
              <a:rPr kumimoji="0" lang="zh-CN" sz="2100" kern="1200" cap="none" spc="0" normalizeH="0" baseline="0" noProof="0">
                <a:latin typeface="Calibri" panose="020F0502020204030204" pitchFamily="34" charset="0"/>
                <a:ea typeface="宋体" panose="02010600030101010101" pitchFamily="2" charset="-122"/>
                <a:cs typeface="+mn-cs"/>
              </a:rPr>
              <a:t>设有两个关系如下图，试计算：</a:t>
            </a:r>
            <a:endParaRPr kumimoji="0" lang="en-US" altLang="zh-CN" sz="1050" b="0" kern="1200" cap="none" spc="0" normalizeH="0" baseline="0" noProof="0">
              <a:latin typeface="Calibri" panose="020F0502020204030204" pitchFamily="34" charset="0"/>
              <a:ea typeface="宋体" panose="02010600030101010101" pitchFamily="2" charset="-122"/>
              <a:cs typeface="+mn-cs"/>
            </a:endParaRPr>
          </a:p>
        </p:txBody>
      </p:sp>
      <p:graphicFrame>
        <p:nvGraphicFramePr>
          <p:cNvPr id="6" name="表格 5"/>
          <p:cNvGraphicFramePr/>
          <p:nvPr/>
        </p:nvGraphicFramePr>
        <p:xfrm>
          <a:off x="3543300" y="1165225"/>
          <a:ext cx="1460500" cy="2030413"/>
        </p:xfrm>
        <a:graphic>
          <a:graphicData uri="http://schemas.openxmlformats.org/drawingml/2006/table">
            <a:tbl>
              <a:tblPr firstRow="1" bandRow="1">
                <a:tableStyleId>{5C22544A-7EE6-4342-B048-85BDC9FD1C3A}</a:tableStyleId>
              </a:tblPr>
              <a:tblGrid>
                <a:gridCol w="511588"/>
                <a:gridCol w="470331"/>
                <a:gridCol w="478582"/>
              </a:tblGrid>
              <a:tr h="310964">
                <a:tc>
                  <a:txBody>
                    <a:bodyPr/>
                    <a:lstStyle/>
                    <a:p>
                      <a:pPr algn="ctr">
                        <a:lnSpc>
                          <a:spcPct val="80000"/>
                        </a:lnSpc>
                        <a:buNone/>
                      </a:pPr>
                      <a:r>
                        <a:rPr lang="en-US" altLang="zh-CN" sz="1800">
                          <a:solidFill>
                            <a:srgbClr val="FF0000"/>
                          </a:solidFill>
                        </a:rPr>
                        <a:t>A</a:t>
                      </a:r>
                      <a:endParaRPr lang="en-US" altLang="zh-CN" sz="1800">
                        <a:solidFill>
                          <a:srgbClr val="FF0000"/>
                        </a:solidFill>
                      </a:endParaRPr>
                    </a:p>
                  </a:txBody>
                  <a:tcPr marL="91400" marR="91400" marT="45730" marB="45730"/>
                </a:tc>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L="91400" marR="91400" marT="45730" marB="45730"/>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L="91400" marR="91400" marT="45730" marB="45730"/>
                </a:tc>
              </a:tr>
              <a:tr h="286575">
                <a:tc>
                  <a:txBody>
                    <a:bodyPr/>
                    <a:lstStyle/>
                    <a:p>
                      <a:pPr algn="ctr">
                        <a:lnSpc>
                          <a:spcPct val="80000"/>
                        </a:lnSpc>
                        <a:buNone/>
                      </a:pPr>
                      <a:r>
                        <a:rPr lang="en-US" altLang="zh-CN" sz="1600"/>
                        <a:t>a</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b</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b</a:t>
                      </a:r>
                      <a:endParaRPr lang="en-US" altLang="zh-CN" sz="1600"/>
                    </a:p>
                  </a:txBody>
                  <a:tcPr marL="91400" marR="91400" marT="45730" marB="45730"/>
                </a:tc>
                <a:tc>
                  <a:txBody>
                    <a:bodyPr/>
                    <a:lstStyle/>
                    <a:p>
                      <a:pPr algn="ctr">
                        <a:lnSpc>
                          <a:spcPct val="80000"/>
                        </a:lnSpc>
                        <a:buNone/>
                      </a:pPr>
                      <a:r>
                        <a:rPr lang="en-US" altLang="zh-CN" sz="1600"/>
                        <a:t>3</a:t>
                      </a:r>
                      <a:endParaRPr lang="en-US" altLang="zh-CN" sz="1600"/>
                    </a:p>
                  </a:txBody>
                  <a:tcPr marL="91400" marR="91400" marT="45730" marB="45730"/>
                </a:tc>
                <a:tc>
                  <a:txBody>
                    <a:bodyPr/>
                    <a:lstStyle/>
                    <a:p>
                      <a:pPr algn="ctr">
                        <a:lnSpc>
                          <a:spcPct val="80000"/>
                        </a:lnSpc>
                        <a:buNone/>
                      </a:pPr>
                      <a:r>
                        <a:rPr lang="en-US" altLang="zh-CN" sz="1600"/>
                        <a:t>4</a:t>
                      </a:r>
                      <a:endParaRPr lang="en-US" altLang="zh-CN" sz="1600"/>
                    </a:p>
                  </a:txBody>
                  <a:tcPr marL="91400" marR="91400" marT="45730" marB="45730"/>
                </a:tc>
              </a:tr>
              <a:tr h="286575">
                <a:tc>
                  <a:txBody>
                    <a:bodyPr/>
                    <a:lstStyle/>
                    <a:p>
                      <a:pPr algn="ctr">
                        <a:lnSpc>
                          <a:spcPct val="80000"/>
                        </a:lnSpc>
                        <a:buNone/>
                      </a:pPr>
                      <a:r>
                        <a:rPr lang="en-US" altLang="zh-CN" sz="1600"/>
                        <a:t>c</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d</a:t>
                      </a:r>
                      <a:endParaRPr lang="en-US" altLang="zh-CN" sz="1600"/>
                    </a:p>
                  </a:txBody>
                  <a:tcPr marL="91400" marR="91400" marT="45730" marB="45730"/>
                </a:tc>
                <a:tc>
                  <a:txBody>
                    <a:bodyPr/>
                    <a:lstStyle/>
                    <a:p>
                      <a:pPr algn="ctr">
                        <a:lnSpc>
                          <a:spcPct val="80000"/>
                        </a:lnSpc>
                        <a:buNone/>
                      </a:pPr>
                      <a:r>
                        <a:rPr lang="en-US" altLang="zh-CN" sz="1600"/>
                        <a:t>1</a:t>
                      </a:r>
                      <a:endParaRPr lang="en-US" altLang="zh-CN" sz="1600"/>
                    </a:p>
                  </a:txBody>
                  <a:tcPr marL="91400" marR="91400" marT="45730" marB="45730"/>
                </a:tc>
                <a:tc>
                  <a:txBody>
                    <a:bodyPr/>
                    <a:lstStyle/>
                    <a:p>
                      <a:pPr algn="ctr">
                        <a:lnSpc>
                          <a:spcPct val="80000"/>
                        </a:lnSpc>
                        <a:buNone/>
                      </a:pPr>
                      <a:r>
                        <a:rPr lang="en-US" altLang="zh-CN" sz="1600"/>
                        <a:t>2</a:t>
                      </a:r>
                      <a:endParaRPr lang="en-US" altLang="zh-CN" sz="1600"/>
                    </a:p>
                  </a:txBody>
                  <a:tcPr marL="91400" marR="91400" marT="45730" marB="45730"/>
                </a:tc>
              </a:tr>
              <a:tr h="286575">
                <a:tc>
                  <a:txBody>
                    <a:bodyPr/>
                    <a:lstStyle/>
                    <a:p>
                      <a:pPr algn="ctr">
                        <a:lnSpc>
                          <a:spcPct val="80000"/>
                        </a:lnSpc>
                        <a:buNone/>
                      </a:pPr>
                      <a:r>
                        <a:rPr lang="en-US" altLang="zh-CN" sz="1600"/>
                        <a:t>d</a:t>
                      </a:r>
                      <a:endParaRPr lang="en-US" altLang="zh-CN" sz="1600"/>
                    </a:p>
                  </a:txBody>
                  <a:tcPr marL="91400" marR="91400" marT="45730" marB="45730"/>
                </a:tc>
                <a:tc>
                  <a:txBody>
                    <a:bodyPr/>
                    <a:lstStyle/>
                    <a:p>
                      <a:pPr algn="ctr">
                        <a:lnSpc>
                          <a:spcPct val="80000"/>
                        </a:lnSpc>
                        <a:buNone/>
                      </a:pPr>
                      <a:r>
                        <a:rPr lang="en-US" altLang="zh-CN" sz="1600"/>
                        <a:t>3</a:t>
                      </a:r>
                      <a:endParaRPr lang="en-US" altLang="zh-CN" sz="1600"/>
                    </a:p>
                  </a:txBody>
                  <a:tcPr marL="91400" marR="91400" marT="45730" marB="45730"/>
                </a:tc>
                <a:tc>
                  <a:txBody>
                    <a:bodyPr/>
                    <a:lstStyle/>
                    <a:p>
                      <a:pPr algn="ctr">
                        <a:lnSpc>
                          <a:spcPct val="80000"/>
                        </a:lnSpc>
                        <a:buNone/>
                      </a:pPr>
                      <a:r>
                        <a:rPr lang="en-US" altLang="zh-CN" sz="1600"/>
                        <a:t>4</a:t>
                      </a:r>
                      <a:endParaRPr lang="en-US" altLang="zh-CN" sz="1600"/>
                    </a:p>
                  </a:txBody>
                  <a:tcPr marL="91400" marR="91400" marT="45730" marB="45730"/>
                </a:tc>
              </a:tr>
            </a:tbl>
          </a:graphicData>
        </a:graphic>
      </p:graphicFrame>
      <p:sp>
        <p:nvSpPr>
          <p:cNvPr id="175154" name="文本框 6"/>
          <p:cNvSpPr txBox="1"/>
          <p:nvPr/>
        </p:nvSpPr>
        <p:spPr>
          <a:xfrm>
            <a:off x="3128963" y="971550"/>
            <a:ext cx="385762" cy="5476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a:t>
            </a:r>
            <a:endParaRPr lang="en-US" altLang="zh-CN" sz="2200" dirty="0">
              <a:solidFill>
                <a:srgbClr val="0033CC"/>
              </a:solidFill>
            </a:endParaRPr>
          </a:p>
        </p:txBody>
      </p:sp>
      <p:sp>
        <p:nvSpPr>
          <p:cNvPr id="8" name="文本框 7"/>
          <p:cNvSpPr txBox="1"/>
          <p:nvPr/>
        </p:nvSpPr>
        <p:spPr>
          <a:xfrm>
            <a:off x="5146675" y="974725"/>
            <a:ext cx="368300" cy="547688"/>
          </a:xfrm>
          <a:prstGeom prst="rect">
            <a:avLst/>
          </a:prstGeom>
          <a:noFill/>
        </p:spPr>
        <p:txBody>
          <a:bodyPr wrap="none">
            <a:spAutoFit/>
          </a:bodyPr>
          <a:lstStyle/>
          <a:p>
            <a:pPr marR="0" defTabSz="914400" eaLnBrk="1" hangingPunct="1">
              <a:buClrTx/>
              <a:buSzTx/>
              <a:buFont typeface="Arial" panose="020B0604020202020204" pitchFamily="34" charset="0"/>
              <a:buNone/>
              <a:defRPr/>
            </a:pPr>
            <a:r>
              <a:rPr kumimoji="0" lang="en-US" altLang="zh-CN" sz="2200" kern="1200" cap="none" spc="0" normalizeH="0" baseline="0" noProof="0">
                <a:solidFill>
                  <a:srgbClr val="0033CC"/>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rPr>
              <a:t>S</a:t>
            </a:r>
            <a:endParaRPr kumimoji="0" lang="en-US" altLang="zh-CN" sz="2200" kern="1200" cap="none" spc="0" normalizeH="0" baseline="0" noProof="0">
              <a:solidFill>
                <a:srgbClr val="0033CC"/>
              </a:solidFill>
              <a:effectLst>
                <a:outerShdw blurRad="38100" dist="38100" dir="2700000" algn="tl">
                  <a:srgbClr val="000000">
                    <a:alpha val="43137"/>
                  </a:srgbClr>
                </a:outerShdw>
              </a:effectLst>
              <a:latin typeface="Arial" panose="020B0604020202020204" pitchFamily="34" charset="0"/>
              <a:ea typeface="宋体" panose="02010600030101010101" pitchFamily="2" charset="-122"/>
              <a:cs typeface="+mn-cs"/>
            </a:endParaRPr>
          </a:p>
        </p:txBody>
      </p:sp>
      <p:graphicFrame>
        <p:nvGraphicFramePr>
          <p:cNvPr id="9" name="表格 8"/>
          <p:cNvGraphicFramePr/>
          <p:nvPr/>
        </p:nvGraphicFramePr>
        <p:xfrm>
          <a:off x="5514975" y="1196975"/>
          <a:ext cx="949325" cy="884238"/>
        </p:xfrm>
        <a:graphic>
          <a:graphicData uri="http://schemas.openxmlformats.org/drawingml/2006/table">
            <a:tbl>
              <a:tblPr firstRow="1" bandRow="1">
                <a:tableStyleId>{5C22544A-7EE6-4342-B048-85BDC9FD1C3A}</a:tableStyleId>
              </a:tblPr>
              <a:tblGrid>
                <a:gridCol w="470535"/>
                <a:gridCol w="478790"/>
              </a:tblGrid>
              <a:tr h="311008">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T="45736" marB="45736"/>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T="45736" marB="45736"/>
                </a:tc>
              </a:tr>
              <a:tr h="286615">
                <a:tc>
                  <a:txBody>
                    <a:bodyPr/>
                    <a:lstStyle/>
                    <a:p>
                      <a:pPr algn="ctr">
                        <a:lnSpc>
                          <a:spcPct val="80000"/>
                        </a:lnSpc>
                        <a:buNone/>
                      </a:pPr>
                      <a:r>
                        <a:rPr lang="en-US" altLang="zh-CN" sz="1600"/>
                        <a:t>1</a:t>
                      </a:r>
                      <a:endParaRPr lang="en-US" altLang="zh-CN" sz="1600"/>
                    </a:p>
                  </a:txBody>
                  <a:tcPr marT="45736" marB="45736"/>
                </a:tc>
                <a:tc>
                  <a:txBody>
                    <a:bodyPr/>
                    <a:lstStyle/>
                    <a:p>
                      <a:pPr algn="ctr">
                        <a:lnSpc>
                          <a:spcPct val="80000"/>
                        </a:lnSpc>
                        <a:buNone/>
                      </a:pPr>
                      <a:r>
                        <a:rPr lang="en-US" altLang="zh-CN" sz="1600"/>
                        <a:t>2</a:t>
                      </a:r>
                      <a:endParaRPr lang="en-US" altLang="zh-CN" sz="1600"/>
                    </a:p>
                  </a:txBody>
                  <a:tcPr marT="45736" marB="45736"/>
                </a:tc>
              </a:tr>
              <a:tr h="286615">
                <a:tc>
                  <a:txBody>
                    <a:bodyPr/>
                    <a:lstStyle/>
                    <a:p>
                      <a:pPr algn="ctr">
                        <a:lnSpc>
                          <a:spcPct val="80000"/>
                        </a:lnSpc>
                        <a:buNone/>
                      </a:pPr>
                      <a:r>
                        <a:rPr lang="en-US" altLang="zh-CN" sz="1600"/>
                        <a:t>3</a:t>
                      </a:r>
                      <a:endParaRPr lang="en-US" altLang="zh-CN" sz="1600"/>
                    </a:p>
                  </a:txBody>
                  <a:tcPr marT="45736" marB="45736"/>
                </a:tc>
                <a:tc>
                  <a:txBody>
                    <a:bodyPr/>
                    <a:lstStyle/>
                    <a:p>
                      <a:pPr algn="ctr">
                        <a:lnSpc>
                          <a:spcPct val="80000"/>
                        </a:lnSpc>
                        <a:buNone/>
                      </a:pPr>
                      <a:r>
                        <a:rPr lang="en-US" altLang="zh-CN" sz="1600"/>
                        <a:t>4</a:t>
                      </a:r>
                      <a:endParaRPr lang="en-US" altLang="zh-CN" sz="1600"/>
                    </a:p>
                  </a:txBody>
                  <a:tcPr marT="45736" marB="45736"/>
                </a:tc>
              </a:tr>
            </a:tbl>
          </a:graphicData>
        </a:graphic>
      </p:graphicFrame>
      <p:sp>
        <p:nvSpPr>
          <p:cNvPr id="10" name="文本框 9"/>
          <p:cNvSpPr txBox="1"/>
          <p:nvPr/>
        </p:nvSpPr>
        <p:spPr>
          <a:xfrm>
            <a:off x="6688138" y="1108075"/>
            <a:ext cx="850900"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R÷S</a:t>
            </a:r>
            <a:endParaRPr lang="en-US" altLang="zh-CN" sz="2200" dirty="0">
              <a:solidFill>
                <a:srgbClr val="0033CC"/>
              </a:solidFill>
            </a:endParaRPr>
          </a:p>
        </p:txBody>
      </p:sp>
      <p:graphicFrame>
        <p:nvGraphicFramePr>
          <p:cNvPr id="12" name="表格 11"/>
          <p:cNvGraphicFramePr/>
          <p:nvPr/>
        </p:nvGraphicFramePr>
        <p:xfrm>
          <a:off x="871538" y="3805238"/>
          <a:ext cx="949325" cy="1169988"/>
        </p:xfrm>
        <a:graphic>
          <a:graphicData uri="http://schemas.openxmlformats.org/drawingml/2006/table">
            <a:tbl>
              <a:tblPr firstRow="1" bandRow="1">
                <a:tableStyleId>{5C22544A-7EE6-4342-B048-85BDC9FD1C3A}</a:tableStyleId>
              </a:tblPr>
              <a:tblGrid>
                <a:gridCol w="470535"/>
                <a:gridCol w="478790"/>
              </a:tblGrid>
              <a:tr h="310783">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T="45673" marB="45673"/>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T="45673" marB="45673"/>
                </a:tc>
              </a:tr>
              <a:tr h="286401">
                <a:tc>
                  <a:txBody>
                    <a:bodyPr/>
                    <a:lstStyle/>
                    <a:p>
                      <a:pPr algn="ctr">
                        <a:lnSpc>
                          <a:spcPct val="80000"/>
                        </a:lnSpc>
                        <a:buNone/>
                      </a:pPr>
                      <a:r>
                        <a:rPr lang="en-US" altLang="zh-CN" sz="1600"/>
                        <a:t>b</a:t>
                      </a:r>
                      <a:endParaRPr lang="en-US" altLang="zh-CN" sz="1600"/>
                    </a:p>
                  </a:txBody>
                  <a:tcPr marT="45673" marB="45673"/>
                </a:tc>
                <a:tc>
                  <a:txBody>
                    <a:bodyPr/>
                    <a:lstStyle/>
                    <a:p>
                      <a:pPr algn="ctr">
                        <a:lnSpc>
                          <a:spcPct val="80000"/>
                        </a:lnSpc>
                        <a:buNone/>
                      </a:pPr>
                      <a:r>
                        <a:rPr lang="en-US" altLang="zh-CN" sz="1600"/>
                        <a:t>2</a:t>
                      </a:r>
                      <a:endParaRPr lang="en-US" altLang="zh-CN" sz="1600"/>
                    </a:p>
                  </a:txBody>
                  <a:tcPr marT="45673" marB="45673"/>
                </a:tc>
              </a:tr>
              <a:tr h="286401">
                <a:tc>
                  <a:txBody>
                    <a:bodyPr/>
                    <a:lstStyle/>
                    <a:p>
                      <a:pPr algn="ctr">
                        <a:lnSpc>
                          <a:spcPct val="80000"/>
                        </a:lnSpc>
                        <a:buNone/>
                      </a:pPr>
                      <a:r>
                        <a:rPr lang="en-US" altLang="zh-CN" sz="1600"/>
                        <a:t>a</a:t>
                      </a:r>
                      <a:endParaRPr lang="en-US" altLang="zh-CN" sz="1600"/>
                    </a:p>
                  </a:txBody>
                  <a:tcPr marT="45673" marB="45673"/>
                </a:tc>
                <a:tc>
                  <a:txBody>
                    <a:bodyPr/>
                    <a:lstStyle/>
                    <a:p>
                      <a:pPr algn="ctr">
                        <a:lnSpc>
                          <a:spcPct val="80000"/>
                        </a:lnSpc>
                        <a:buNone/>
                      </a:pPr>
                      <a:r>
                        <a:rPr lang="en-US" altLang="zh-CN" sz="1600"/>
                        <a:t>d</a:t>
                      </a:r>
                      <a:endParaRPr lang="en-US" altLang="zh-CN" sz="1600"/>
                    </a:p>
                  </a:txBody>
                  <a:tcPr marT="45673" marB="45673"/>
                </a:tc>
              </a:tr>
              <a:tr h="286401">
                <a:tc>
                  <a:txBody>
                    <a:bodyPr/>
                    <a:lstStyle/>
                    <a:p>
                      <a:pPr algn="ctr">
                        <a:lnSpc>
                          <a:spcPct val="80000"/>
                        </a:lnSpc>
                        <a:buNone/>
                      </a:pPr>
                      <a:r>
                        <a:rPr lang="en-US" altLang="zh-CN" sz="1600"/>
                        <a:t>5</a:t>
                      </a:r>
                      <a:endParaRPr lang="en-US" altLang="zh-CN" sz="1600"/>
                    </a:p>
                  </a:txBody>
                  <a:tcPr marT="45673" marB="45673"/>
                </a:tc>
                <a:tc>
                  <a:txBody>
                    <a:bodyPr/>
                    <a:lstStyle/>
                    <a:p>
                      <a:pPr algn="ctr">
                        <a:lnSpc>
                          <a:spcPct val="80000"/>
                        </a:lnSpc>
                        <a:buNone/>
                      </a:pPr>
                      <a:r>
                        <a:rPr lang="en-US" altLang="zh-CN" sz="1600"/>
                        <a:t>8</a:t>
                      </a:r>
                      <a:endParaRPr lang="en-US" altLang="zh-CN" sz="1600"/>
                    </a:p>
                  </a:txBody>
                  <a:tcPr marT="45673" marB="45673"/>
                </a:tc>
              </a:tr>
            </a:tbl>
          </a:graphicData>
        </a:graphic>
      </p:graphicFrame>
      <p:sp>
        <p:nvSpPr>
          <p:cNvPr id="175188" name="文本框 12"/>
          <p:cNvSpPr txBox="1"/>
          <p:nvPr/>
        </p:nvSpPr>
        <p:spPr>
          <a:xfrm>
            <a:off x="457200" y="3613150"/>
            <a:ext cx="385763"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a:t>
            </a:r>
            <a:endParaRPr lang="en-US" altLang="zh-CN" sz="2200" dirty="0">
              <a:solidFill>
                <a:srgbClr val="0033CC"/>
              </a:solidFill>
            </a:endParaRPr>
          </a:p>
        </p:txBody>
      </p:sp>
      <p:graphicFrame>
        <p:nvGraphicFramePr>
          <p:cNvPr id="14" name="表格 13"/>
          <p:cNvGraphicFramePr/>
          <p:nvPr/>
        </p:nvGraphicFramePr>
        <p:xfrm>
          <a:off x="2593975" y="3790950"/>
          <a:ext cx="949325" cy="1169988"/>
        </p:xfrm>
        <a:graphic>
          <a:graphicData uri="http://schemas.openxmlformats.org/drawingml/2006/table">
            <a:tbl>
              <a:tblPr firstRow="1" bandRow="1">
                <a:tableStyleId>{5C22544A-7EE6-4342-B048-85BDC9FD1C3A}</a:tableStyleId>
              </a:tblPr>
              <a:tblGrid>
                <a:gridCol w="470535"/>
                <a:gridCol w="478790"/>
              </a:tblGrid>
              <a:tr h="310783">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T="45673" marB="45673"/>
                </a:tc>
                <a:tc>
                  <a:txBody>
                    <a:bodyPr/>
                    <a:lstStyle/>
                    <a:p>
                      <a:pPr algn="ctr">
                        <a:lnSpc>
                          <a:spcPct val="80000"/>
                        </a:lnSpc>
                        <a:buNone/>
                      </a:pPr>
                      <a:r>
                        <a:rPr lang="en-US" altLang="zh-CN" sz="1800">
                          <a:solidFill>
                            <a:srgbClr val="FF0000"/>
                          </a:solidFill>
                        </a:rPr>
                        <a:t>D</a:t>
                      </a:r>
                      <a:endParaRPr lang="en-US" altLang="zh-CN" sz="1800">
                        <a:solidFill>
                          <a:srgbClr val="FF0000"/>
                        </a:solidFill>
                      </a:endParaRPr>
                    </a:p>
                  </a:txBody>
                  <a:tcPr marT="45673" marB="45673"/>
                </a:tc>
              </a:tr>
              <a:tr h="286402">
                <a:tc>
                  <a:txBody>
                    <a:bodyPr/>
                    <a:lstStyle/>
                    <a:p>
                      <a:pPr algn="ctr">
                        <a:lnSpc>
                          <a:spcPct val="80000"/>
                        </a:lnSpc>
                        <a:buNone/>
                      </a:pPr>
                      <a:r>
                        <a:rPr lang="en-US" altLang="zh-CN" sz="1600"/>
                        <a:t>2</a:t>
                      </a:r>
                      <a:endParaRPr lang="en-US" altLang="zh-CN" sz="1600"/>
                    </a:p>
                  </a:txBody>
                  <a:tcPr marT="45673" marB="45673"/>
                </a:tc>
                <a:tc>
                  <a:txBody>
                    <a:bodyPr/>
                    <a:lstStyle/>
                    <a:p>
                      <a:pPr algn="ctr">
                        <a:lnSpc>
                          <a:spcPct val="80000"/>
                        </a:lnSpc>
                        <a:buNone/>
                      </a:pPr>
                      <a:r>
                        <a:rPr lang="en-US" altLang="zh-CN" sz="1600"/>
                        <a:t>6</a:t>
                      </a:r>
                      <a:endParaRPr lang="en-US" altLang="zh-CN" sz="1600"/>
                    </a:p>
                  </a:txBody>
                  <a:tcPr marT="45673" marB="45673"/>
                </a:tc>
              </a:tr>
              <a:tr h="286402">
                <a:tc>
                  <a:txBody>
                    <a:bodyPr/>
                    <a:lstStyle/>
                    <a:p>
                      <a:pPr algn="ctr">
                        <a:lnSpc>
                          <a:spcPct val="80000"/>
                        </a:lnSpc>
                        <a:buNone/>
                      </a:pPr>
                      <a:r>
                        <a:rPr lang="en-US" altLang="zh-CN" sz="1600"/>
                        <a:t>d</a:t>
                      </a:r>
                      <a:endParaRPr lang="en-US" altLang="zh-CN" sz="1600"/>
                    </a:p>
                  </a:txBody>
                  <a:tcPr marT="45673" marB="45673"/>
                </a:tc>
                <a:tc>
                  <a:txBody>
                    <a:bodyPr/>
                    <a:lstStyle/>
                    <a:p>
                      <a:pPr algn="ctr">
                        <a:lnSpc>
                          <a:spcPct val="80000"/>
                        </a:lnSpc>
                        <a:buNone/>
                      </a:pPr>
                      <a:r>
                        <a:rPr lang="en-US" altLang="zh-CN" sz="1600"/>
                        <a:t>a</a:t>
                      </a:r>
                      <a:endParaRPr lang="en-US" altLang="zh-CN" sz="1600"/>
                    </a:p>
                  </a:txBody>
                  <a:tcPr marT="45673" marB="45673"/>
                </a:tc>
              </a:tr>
              <a:tr h="286402">
                <a:tc>
                  <a:txBody>
                    <a:bodyPr/>
                    <a:lstStyle/>
                    <a:p>
                      <a:pPr algn="ctr">
                        <a:lnSpc>
                          <a:spcPct val="80000"/>
                        </a:lnSpc>
                        <a:buNone/>
                      </a:pPr>
                      <a:r>
                        <a:rPr lang="en-US" altLang="zh-CN" sz="1600"/>
                        <a:t>7</a:t>
                      </a:r>
                      <a:endParaRPr lang="en-US" altLang="zh-CN" sz="1600"/>
                    </a:p>
                  </a:txBody>
                  <a:tcPr marT="45673" marB="45673"/>
                </a:tc>
                <a:tc>
                  <a:txBody>
                    <a:bodyPr/>
                    <a:lstStyle/>
                    <a:p>
                      <a:pPr algn="ctr">
                        <a:lnSpc>
                          <a:spcPct val="80000"/>
                        </a:lnSpc>
                        <a:buNone/>
                      </a:pPr>
                      <a:r>
                        <a:rPr lang="en-US" altLang="zh-CN" sz="1600"/>
                        <a:t>c</a:t>
                      </a:r>
                      <a:endParaRPr lang="en-US" altLang="zh-CN" sz="1600"/>
                    </a:p>
                  </a:txBody>
                  <a:tcPr marT="45673" marB="45673"/>
                </a:tc>
              </a:tr>
            </a:tbl>
          </a:graphicData>
        </a:graphic>
      </p:graphicFrame>
      <p:sp>
        <p:nvSpPr>
          <p:cNvPr id="175206" name="文本框 14"/>
          <p:cNvSpPr txBox="1"/>
          <p:nvPr/>
        </p:nvSpPr>
        <p:spPr>
          <a:xfrm>
            <a:off x="2179638" y="3606800"/>
            <a:ext cx="369887" cy="547688"/>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S</a:t>
            </a:r>
            <a:endParaRPr lang="en-US" altLang="zh-CN" sz="2200" dirty="0">
              <a:solidFill>
                <a:srgbClr val="0033CC"/>
              </a:solidFill>
            </a:endParaRPr>
          </a:p>
        </p:txBody>
      </p:sp>
      <p:sp>
        <p:nvSpPr>
          <p:cNvPr id="175207" name="文本框 15"/>
          <p:cNvSpPr txBox="1"/>
          <p:nvPr/>
        </p:nvSpPr>
        <p:spPr>
          <a:xfrm>
            <a:off x="4562475" y="3297238"/>
            <a:ext cx="3062288" cy="46513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1800" dirty="0"/>
              <a:t>（</a:t>
            </a:r>
            <a:r>
              <a:rPr lang="en-US" altLang="zh-CN" sz="1800" dirty="0"/>
              <a:t>1</a:t>
            </a:r>
            <a:r>
              <a:rPr lang="zh-CN" altLang="en-US" sz="1800" dirty="0"/>
              <a:t>）</a:t>
            </a:r>
            <a:r>
              <a:rPr lang="en-US" altLang="zh-CN" sz="1800" dirty="0"/>
              <a:t>R×S</a:t>
            </a:r>
            <a:r>
              <a:rPr lang="zh-CN" altLang="en-US" sz="1800" dirty="0"/>
              <a:t>；（</a:t>
            </a:r>
            <a:r>
              <a:rPr lang="en-US" altLang="zh-CN" sz="1800" dirty="0"/>
              <a:t>2</a:t>
            </a:r>
            <a:r>
              <a:rPr lang="zh-CN" altLang="en-US" sz="1800" dirty="0"/>
              <a:t>）</a:t>
            </a:r>
            <a:r>
              <a:rPr lang="en-US" altLang="zh-CN" sz="1800" dirty="0"/>
              <a:t>R      S</a:t>
            </a:r>
            <a:r>
              <a:rPr lang="zh-CN" altLang="en-US" sz="1800" dirty="0"/>
              <a:t>。</a:t>
            </a:r>
            <a:endParaRPr lang="zh-CN" altLang="en-US" sz="1800" dirty="0"/>
          </a:p>
        </p:txBody>
      </p:sp>
      <p:grpSp>
        <p:nvGrpSpPr>
          <p:cNvPr id="18" name="组合 17"/>
          <p:cNvGrpSpPr/>
          <p:nvPr/>
        </p:nvGrpSpPr>
        <p:grpSpPr>
          <a:xfrm>
            <a:off x="6842125" y="3465513"/>
            <a:ext cx="214313" cy="204787"/>
            <a:chOff x="4210" y="4040"/>
            <a:chExt cx="474" cy="423"/>
          </a:xfrm>
        </p:grpSpPr>
        <p:sp>
          <p:nvSpPr>
            <p:cNvPr id="175294"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5295"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5296"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5297"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23" name="右箭头 22"/>
          <p:cNvSpPr/>
          <p:nvPr/>
        </p:nvSpPr>
        <p:spPr>
          <a:xfrm>
            <a:off x="3762375" y="4229100"/>
            <a:ext cx="1022350"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24" name="文本框 23"/>
          <p:cNvSpPr txBox="1"/>
          <p:nvPr/>
        </p:nvSpPr>
        <p:spPr>
          <a:xfrm>
            <a:off x="3846513" y="3683000"/>
            <a:ext cx="852487" cy="5461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R×S</a:t>
            </a:r>
            <a:endParaRPr lang="en-US" altLang="zh-CN" sz="2200" dirty="0">
              <a:solidFill>
                <a:srgbClr val="0033CC"/>
              </a:solidFill>
            </a:endParaRPr>
          </a:p>
        </p:txBody>
      </p:sp>
      <p:graphicFrame>
        <p:nvGraphicFramePr>
          <p:cNvPr id="25" name="表格 24"/>
          <p:cNvGraphicFramePr/>
          <p:nvPr/>
        </p:nvGraphicFramePr>
        <p:xfrm>
          <a:off x="4856163" y="3757613"/>
          <a:ext cx="2198688" cy="2908300"/>
        </p:xfrm>
        <a:graphic>
          <a:graphicData uri="http://schemas.openxmlformats.org/drawingml/2006/table">
            <a:tbl>
              <a:tblPr firstRow="1" bandRow="1">
                <a:tableStyleId>{5C22544A-7EE6-4342-B048-85BDC9FD1C3A}</a:tableStyleId>
              </a:tblPr>
              <a:tblGrid>
                <a:gridCol w="542368"/>
                <a:gridCol w="551895"/>
                <a:gridCol w="552530"/>
                <a:gridCol w="551895"/>
              </a:tblGrid>
              <a:tr h="330272">
                <a:tc>
                  <a:txBody>
                    <a:bodyPr/>
                    <a:lstStyle/>
                    <a:p>
                      <a:pPr algn="ctr">
                        <a:lnSpc>
                          <a:spcPct val="70000"/>
                        </a:lnSpc>
                        <a:buNone/>
                      </a:pPr>
                      <a:r>
                        <a:rPr lang="en-US" altLang="zh-CN" sz="1800">
                          <a:solidFill>
                            <a:srgbClr val="FF0000"/>
                          </a:solidFill>
                        </a:rPr>
                        <a:t>B</a:t>
                      </a:r>
                      <a:endParaRPr lang="en-US" altLang="zh-CN" sz="1800">
                        <a:solidFill>
                          <a:srgbClr val="FF0000"/>
                        </a:solidFill>
                      </a:endParaRPr>
                    </a:p>
                  </a:txBody>
                  <a:tcPr marL="91453" marR="91453" marT="45730" marB="45730"/>
                </a:tc>
                <a:tc>
                  <a:txBody>
                    <a:bodyPr/>
                    <a:lstStyle/>
                    <a:p>
                      <a:pPr algn="ctr">
                        <a:lnSpc>
                          <a:spcPct val="70000"/>
                        </a:lnSpc>
                        <a:buNone/>
                      </a:pPr>
                      <a:r>
                        <a:rPr lang="en-US" altLang="zh-CN" sz="1800">
                          <a:solidFill>
                            <a:srgbClr val="FF0000"/>
                          </a:solidFill>
                        </a:rPr>
                        <a:t>(C)</a:t>
                      </a:r>
                      <a:endParaRPr lang="en-US" altLang="zh-CN" sz="1800">
                        <a:solidFill>
                          <a:srgbClr val="FF0000"/>
                        </a:solidFill>
                      </a:endParaRPr>
                    </a:p>
                  </a:txBody>
                  <a:tcPr marL="91453" marR="91453" marT="45730" marB="45730"/>
                </a:tc>
                <a:tc>
                  <a:txBody>
                    <a:bodyPr/>
                    <a:lstStyle/>
                    <a:p>
                      <a:pPr algn="ctr">
                        <a:lnSpc>
                          <a:spcPct val="70000"/>
                        </a:lnSpc>
                        <a:buNone/>
                      </a:pPr>
                      <a:r>
                        <a:rPr lang="en-US" altLang="zh-CN" sz="1800">
                          <a:solidFill>
                            <a:srgbClr val="FF0000"/>
                          </a:solidFill>
                          <a:sym typeface="+mn-ea"/>
                        </a:rPr>
                        <a:t>(C)</a:t>
                      </a:r>
                      <a:endParaRPr lang="en-US" altLang="zh-CN" sz="1800">
                        <a:solidFill>
                          <a:srgbClr val="FF0000"/>
                        </a:solidFill>
                      </a:endParaRPr>
                    </a:p>
                  </a:txBody>
                  <a:tcPr marL="91453" marR="91453" marT="45730" marB="45730"/>
                </a:tc>
                <a:tc>
                  <a:txBody>
                    <a:bodyPr/>
                    <a:lstStyle/>
                    <a:p>
                      <a:pPr algn="ctr">
                        <a:lnSpc>
                          <a:spcPct val="70000"/>
                        </a:lnSpc>
                        <a:buNone/>
                      </a:pPr>
                      <a:r>
                        <a:rPr lang="en-US" altLang="zh-CN" sz="1800">
                          <a:solidFill>
                            <a:srgbClr val="FF0000"/>
                          </a:solidFill>
                        </a:rPr>
                        <a:t>D</a:t>
                      </a:r>
                      <a:endParaRPr lang="en-US" altLang="zh-CN" sz="1800">
                        <a:solidFill>
                          <a:srgbClr val="FF0000"/>
                        </a:solidFill>
                      </a:endParaRPr>
                    </a:p>
                  </a:txBody>
                  <a:tcPr marL="91453" marR="91453" marT="45730" marB="45730"/>
                </a:tc>
              </a:tr>
              <a:tr h="286448">
                <a:tc>
                  <a:txBody>
                    <a:bodyPr/>
                    <a:lstStyle/>
                    <a:p>
                      <a:pPr algn="ctr">
                        <a:lnSpc>
                          <a:spcPct val="70000"/>
                        </a:lnSpc>
                        <a:buNone/>
                      </a:pPr>
                      <a:r>
                        <a:rPr lang="en-US" altLang="zh-CN" sz="1600"/>
                        <a:t>b</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6</a:t>
                      </a:r>
                      <a:endParaRPr lang="en-US" altLang="zh-CN" sz="1600"/>
                    </a:p>
                  </a:txBody>
                  <a:tcPr marL="91453" marR="91453" marT="45730" marB="45730"/>
                </a:tc>
              </a:tr>
              <a:tr h="286448">
                <a:tc>
                  <a:txBody>
                    <a:bodyPr/>
                    <a:lstStyle/>
                    <a:p>
                      <a:pPr algn="ctr">
                        <a:lnSpc>
                          <a:spcPct val="70000"/>
                        </a:lnSpc>
                        <a:buNone/>
                      </a:pPr>
                      <a:r>
                        <a:rPr lang="en-US" altLang="zh-CN" sz="1600"/>
                        <a:t>a</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6</a:t>
                      </a:r>
                      <a:endParaRPr lang="en-US" altLang="zh-CN" sz="1600"/>
                    </a:p>
                  </a:txBody>
                  <a:tcPr marL="91453" marR="91453" marT="45730" marB="45730"/>
                </a:tc>
              </a:tr>
              <a:tr h="286448">
                <a:tc>
                  <a:txBody>
                    <a:bodyPr/>
                    <a:lstStyle/>
                    <a:p>
                      <a:pPr algn="ctr">
                        <a:lnSpc>
                          <a:spcPct val="70000"/>
                        </a:lnSpc>
                        <a:buNone/>
                      </a:pPr>
                      <a:r>
                        <a:rPr lang="en-US" altLang="zh-CN" sz="1600"/>
                        <a:t>5</a:t>
                      </a:r>
                      <a:endParaRPr lang="en-US" altLang="zh-CN" sz="1600"/>
                    </a:p>
                  </a:txBody>
                  <a:tcPr marL="91453" marR="91453" marT="45730" marB="45730"/>
                </a:tc>
                <a:tc>
                  <a:txBody>
                    <a:bodyPr/>
                    <a:lstStyle/>
                    <a:p>
                      <a:pPr algn="ctr">
                        <a:lnSpc>
                          <a:spcPct val="70000"/>
                        </a:lnSpc>
                        <a:buNone/>
                      </a:pPr>
                      <a:r>
                        <a:rPr lang="en-US" altLang="zh-CN" sz="1600"/>
                        <a:t>8</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6</a:t>
                      </a:r>
                      <a:endParaRPr lang="en-US" altLang="zh-CN" sz="1600"/>
                    </a:p>
                  </a:txBody>
                  <a:tcPr marL="91453" marR="91453" marT="45730" marB="45730"/>
                </a:tc>
              </a:tr>
              <a:tr h="286448">
                <a:tc>
                  <a:txBody>
                    <a:bodyPr/>
                    <a:lstStyle/>
                    <a:p>
                      <a:pPr algn="ctr">
                        <a:lnSpc>
                          <a:spcPct val="70000"/>
                        </a:lnSpc>
                        <a:buNone/>
                      </a:pPr>
                      <a:r>
                        <a:rPr lang="en-US" altLang="zh-CN" sz="1600"/>
                        <a:t>b</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a</a:t>
                      </a:r>
                      <a:endParaRPr lang="en-US" altLang="zh-CN" sz="1600"/>
                    </a:p>
                  </a:txBody>
                  <a:tcPr marL="91453" marR="91453" marT="45730" marB="45730"/>
                </a:tc>
              </a:tr>
              <a:tr h="286448">
                <a:tc>
                  <a:txBody>
                    <a:bodyPr/>
                    <a:lstStyle/>
                    <a:p>
                      <a:pPr algn="ctr">
                        <a:lnSpc>
                          <a:spcPct val="70000"/>
                        </a:lnSpc>
                        <a:buNone/>
                      </a:pPr>
                      <a:r>
                        <a:rPr lang="en-US" altLang="zh-CN" sz="1600"/>
                        <a:t>a</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a</a:t>
                      </a:r>
                      <a:endParaRPr lang="en-US" altLang="zh-CN" sz="1600"/>
                    </a:p>
                  </a:txBody>
                  <a:tcPr marL="91453" marR="91453" marT="45730" marB="45730"/>
                </a:tc>
              </a:tr>
              <a:tr h="286448">
                <a:tc>
                  <a:txBody>
                    <a:bodyPr/>
                    <a:lstStyle/>
                    <a:p>
                      <a:pPr algn="ctr">
                        <a:lnSpc>
                          <a:spcPct val="70000"/>
                        </a:lnSpc>
                        <a:buNone/>
                      </a:pPr>
                      <a:r>
                        <a:rPr lang="en-US" altLang="zh-CN" sz="1600"/>
                        <a:t>5</a:t>
                      </a:r>
                      <a:endParaRPr lang="en-US" altLang="zh-CN" sz="1600"/>
                    </a:p>
                  </a:txBody>
                  <a:tcPr marL="91453" marR="91453" marT="45730" marB="45730"/>
                </a:tc>
                <a:tc>
                  <a:txBody>
                    <a:bodyPr/>
                    <a:lstStyle/>
                    <a:p>
                      <a:pPr algn="ctr">
                        <a:lnSpc>
                          <a:spcPct val="70000"/>
                        </a:lnSpc>
                        <a:buNone/>
                      </a:pPr>
                      <a:r>
                        <a:rPr lang="en-US" altLang="zh-CN" sz="1600"/>
                        <a:t>8</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a</a:t>
                      </a:r>
                      <a:endParaRPr lang="en-US" altLang="zh-CN" sz="1600"/>
                    </a:p>
                  </a:txBody>
                  <a:tcPr marL="91453" marR="91453" marT="45730" marB="45730"/>
                </a:tc>
              </a:tr>
              <a:tr h="286448">
                <a:tc>
                  <a:txBody>
                    <a:bodyPr/>
                    <a:lstStyle/>
                    <a:p>
                      <a:pPr algn="ctr">
                        <a:lnSpc>
                          <a:spcPct val="70000"/>
                        </a:lnSpc>
                        <a:buNone/>
                      </a:pPr>
                      <a:r>
                        <a:rPr lang="en-US" altLang="zh-CN" sz="1600"/>
                        <a:t>b</a:t>
                      </a:r>
                      <a:endParaRPr lang="en-US" altLang="zh-CN" sz="1600"/>
                    </a:p>
                  </a:txBody>
                  <a:tcPr marL="91453" marR="91453" marT="45730" marB="45730"/>
                </a:tc>
                <a:tc>
                  <a:txBody>
                    <a:bodyPr/>
                    <a:lstStyle/>
                    <a:p>
                      <a:pPr algn="ctr">
                        <a:lnSpc>
                          <a:spcPct val="70000"/>
                        </a:lnSpc>
                        <a:buNone/>
                      </a:pPr>
                      <a:r>
                        <a:rPr lang="en-US" altLang="zh-CN" sz="1600"/>
                        <a:t>2</a:t>
                      </a:r>
                      <a:endParaRPr lang="en-US" altLang="zh-CN" sz="1600"/>
                    </a:p>
                  </a:txBody>
                  <a:tcPr marL="91453" marR="91453" marT="45730" marB="45730"/>
                </a:tc>
                <a:tc>
                  <a:txBody>
                    <a:bodyPr/>
                    <a:lstStyle/>
                    <a:p>
                      <a:pPr algn="ctr">
                        <a:lnSpc>
                          <a:spcPct val="70000"/>
                        </a:lnSpc>
                        <a:buNone/>
                      </a:pPr>
                      <a:r>
                        <a:rPr lang="en-US" altLang="zh-CN" sz="1600"/>
                        <a:t>7</a:t>
                      </a:r>
                      <a:endParaRPr lang="en-US" altLang="zh-CN" sz="1600"/>
                    </a:p>
                  </a:txBody>
                  <a:tcPr marL="91453" marR="91453" marT="45730" marB="45730"/>
                </a:tc>
                <a:tc>
                  <a:txBody>
                    <a:bodyPr/>
                    <a:lstStyle/>
                    <a:p>
                      <a:pPr algn="ctr">
                        <a:lnSpc>
                          <a:spcPct val="70000"/>
                        </a:lnSpc>
                        <a:buNone/>
                      </a:pPr>
                      <a:r>
                        <a:rPr lang="en-US" altLang="zh-CN" sz="1600"/>
                        <a:t>c</a:t>
                      </a:r>
                      <a:endParaRPr lang="en-US" altLang="zh-CN" sz="1600"/>
                    </a:p>
                  </a:txBody>
                  <a:tcPr marL="91453" marR="91453" marT="45730" marB="45730"/>
                </a:tc>
              </a:tr>
              <a:tr h="286448">
                <a:tc>
                  <a:txBody>
                    <a:bodyPr/>
                    <a:lstStyle/>
                    <a:p>
                      <a:pPr algn="ctr">
                        <a:lnSpc>
                          <a:spcPct val="70000"/>
                        </a:lnSpc>
                        <a:buNone/>
                      </a:pPr>
                      <a:r>
                        <a:rPr lang="en-US" altLang="zh-CN" sz="1600"/>
                        <a:t>a</a:t>
                      </a:r>
                      <a:endParaRPr lang="en-US" altLang="zh-CN" sz="1600"/>
                    </a:p>
                  </a:txBody>
                  <a:tcPr marL="91453" marR="91453" marT="45730" marB="45730"/>
                </a:tc>
                <a:tc>
                  <a:txBody>
                    <a:bodyPr/>
                    <a:lstStyle/>
                    <a:p>
                      <a:pPr algn="ctr">
                        <a:lnSpc>
                          <a:spcPct val="70000"/>
                        </a:lnSpc>
                        <a:buNone/>
                      </a:pPr>
                      <a:r>
                        <a:rPr lang="en-US" altLang="zh-CN" sz="1600"/>
                        <a:t>d</a:t>
                      </a:r>
                      <a:endParaRPr lang="en-US" altLang="zh-CN" sz="1600"/>
                    </a:p>
                  </a:txBody>
                  <a:tcPr marL="91453" marR="91453" marT="45730" marB="45730"/>
                </a:tc>
                <a:tc>
                  <a:txBody>
                    <a:bodyPr/>
                    <a:lstStyle/>
                    <a:p>
                      <a:pPr algn="ctr">
                        <a:lnSpc>
                          <a:spcPct val="70000"/>
                        </a:lnSpc>
                        <a:buNone/>
                      </a:pPr>
                      <a:r>
                        <a:rPr lang="en-US" altLang="zh-CN" sz="1600"/>
                        <a:t>7</a:t>
                      </a:r>
                      <a:endParaRPr lang="en-US" altLang="zh-CN" sz="1600"/>
                    </a:p>
                  </a:txBody>
                  <a:tcPr marL="91453" marR="91453" marT="45730" marB="45730"/>
                </a:tc>
                <a:tc>
                  <a:txBody>
                    <a:bodyPr/>
                    <a:lstStyle/>
                    <a:p>
                      <a:pPr algn="ctr">
                        <a:lnSpc>
                          <a:spcPct val="70000"/>
                        </a:lnSpc>
                        <a:buNone/>
                      </a:pPr>
                      <a:r>
                        <a:rPr lang="en-US" altLang="zh-CN" sz="1600"/>
                        <a:t>c</a:t>
                      </a:r>
                      <a:endParaRPr lang="en-US" altLang="zh-CN" sz="1600"/>
                    </a:p>
                  </a:txBody>
                  <a:tcPr marL="91453" marR="91453" marT="45730" marB="45730"/>
                </a:tc>
              </a:tr>
              <a:tr h="286448">
                <a:tc>
                  <a:txBody>
                    <a:bodyPr/>
                    <a:lstStyle/>
                    <a:p>
                      <a:pPr algn="ctr">
                        <a:lnSpc>
                          <a:spcPct val="70000"/>
                        </a:lnSpc>
                        <a:buNone/>
                      </a:pPr>
                      <a:r>
                        <a:rPr lang="en-US" altLang="zh-CN" sz="1600"/>
                        <a:t>5</a:t>
                      </a:r>
                      <a:endParaRPr lang="en-US" altLang="zh-CN" sz="1600"/>
                    </a:p>
                  </a:txBody>
                  <a:tcPr marL="91453" marR="91453" marT="45730" marB="45730"/>
                </a:tc>
                <a:tc>
                  <a:txBody>
                    <a:bodyPr/>
                    <a:lstStyle/>
                    <a:p>
                      <a:pPr algn="ctr">
                        <a:lnSpc>
                          <a:spcPct val="70000"/>
                        </a:lnSpc>
                        <a:buNone/>
                      </a:pPr>
                      <a:r>
                        <a:rPr lang="en-US" altLang="zh-CN" sz="1600"/>
                        <a:t>8</a:t>
                      </a:r>
                      <a:endParaRPr lang="en-US" altLang="zh-CN" sz="1600"/>
                    </a:p>
                  </a:txBody>
                  <a:tcPr marL="91453" marR="91453" marT="45730" marB="45730"/>
                </a:tc>
                <a:tc>
                  <a:txBody>
                    <a:bodyPr/>
                    <a:lstStyle/>
                    <a:p>
                      <a:pPr algn="ctr">
                        <a:lnSpc>
                          <a:spcPct val="70000"/>
                        </a:lnSpc>
                        <a:buNone/>
                      </a:pPr>
                      <a:r>
                        <a:rPr lang="en-US" altLang="zh-CN" sz="1600"/>
                        <a:t>7</a:t>
                      </a:r>
                      <a:endParaRPr lang="en-US" altLang="zh-CN" sz="1600"/>
                    </a:p>
                  </a:txBody>
                  <a:tcPr marL="91453" marR="91453" marT="45730" marB="45730"/>
                </a:tc>
                <a:tc>
                  <a:txBody>
                    <a:bodyPr/>
                    <a:lstStyle/>
                    <a:p>
                      <a:pPr algn="ctr">
                        <a:lnSpc>
                          <a:spcPct val="70000"/>
                        </a:lnSpc>
                        <a:buNone/>
                      </a:pPr>
                      <a:r>
                        <a:rPr lang="en-US" altLang="zh-CN" sz="1600"/>
                        <a:t>c</a:t>
                      </a:r>
                      <a:endParaRPr lang="en-US" altLang="zh-CN" sz="1600"/>
                    </a:p>
                  </a:txBody>
                  <a:tcPr marL="91453" marR="91453" marT="45730" marB="45730"/>
                </a:tc>
              </a:tr>
            </a:tbl>
          </a:graphicData>
        </a:graphic>
      </p:graphicFrame>
      <p:graphicFrame>
        <p:nvGraphicFramePr>
          <p:cNvPr id="28" name="表格 27"/>
          <p:cNvGraphicFramePr/>
          <p:nvPr/>
        </p:nvGraphicFramePr>
        <p:xfrm>
          <a:off x="2795588" y="5321300"/>
          <a:ext cx="1292225" cy="884238"/>
        </p:xfrm>
        <a:graphic>
          <a:graphicData uri="http://schemas.openxmlformats.org/drawingml/2006/table">
            <a:tbl>
              <a:tblPr firstRow="1" bandRow="1">
                <a:tableStyleId>{5C22544A-7EE6-4342-B048-85BDC9FD1C3A}</a:tableStyleId>
              </a:tblPr>
              <a:tblGrid>
                <a:gridCol w="425876"/>
                <a:gridCol w="433492"/>
                <a:gridCol w="432857"/>
              </a:tblGrid>
              <a:tr h="311008">
                <a:tc>
                  <a:txBody>
                    <a:bodyPr/>
                    <a:lstStyle/>
                    <a:p>
                      <a:pPr algn="ctr">
                        <a:lnSpc>
                          <a:spcPct val="80000"/>
                        </a:lnSpc>
                        <a:buNone/>
                      </a:pPr>
                      <a:r>
                        <a:rPr lang="en-US" altLang="zh-CN" sz="1800">
                          <a:solidFill>
                            <a:srgbClr val="FF0000"/>
                          </a:solidFill>
                        </a:rPr>
                        <a:t>B</a:t>
                      </a:r>
                      <a:endParaRPr lang="en-US" altLang="zh-CN" sz="1800">
                        <a:solidFill>
                          <a:srgbClr val="FF0000"/>
                        </a:solidFill>
                      </a:endParaRPr>
                    </a:p>
                  </a:txBody>
                  <a:tcPr marL="91395" marR="91395" marT="45736" marB="45736"/>
                </a:tc>
                <a:tc>
                  <a:txBody>
                    <a:bodyPr/>
                    <a:lstStyle/>
                    <a:p>
                      <a:pPr algn="ctr">
                        <a:lnSpc>
                          <a:spcPct val="80000"/>
                        </a:lnSpc>
                        <a:buNone/>
                      </a:pPr>
                      <a:r>
                        <a:rPr lang="en-US" altLang="zh-CN" sz="1800">
                          <a:solidFill>
                            <a:srgbClr val="FF0000"/>
                          </a:solidFill>
                        </a:rPr>
                        <a:t>C</a:t>
                      </a:r>
                      <a:endParaRPr lang="en-US" altLang="zh-CN" sz="1800">
                        <a:solidFill>
                          <a:srgbClr val="FF0000"/>
                        </a:solidFill>
                      </a:endParaRPr>
                    </a:p>
                  </a:txBody>
                  <a:tcPr marL="91395" marR="91395" marT="45736" marB="45736"/>
                </a:tc>
                <a:tc>
                  <a:txBody>
                    <a:bodyPr/>
                    <a:lstStyle/>
                    <a:p>
                      <a:pPr algn="ctr">
                        <a:lnSpc>
                          <a:spcPct val="80000"/>
                        </a:lnSpc>
                        <a:buNone/>
                      </a:pPr>
                      <a:r>
                        <a:rPr lang="en-US" altLang="zh-CN" sz="1800">
                          <a:solidFill>
                            <a:srgbClr val="FF0000"/>
                          </a:solidFill>
                        </a:rPr>
                        <a:t>D</a:t>
                      </a:r>
                      <a:endParaRPr lang="en-US" altLang="zh-CN" sz="1800">
                        <a:solidFill>
                          <a:srgbClr val="FF0000"/>
                        </a:solidFill>
                      </a:endParaRPr>
                    </a:p>
                  </a:txBody>
                  <a:tcPr marL="91395" marR="91395" marT="45736" marB="45736"/>
                </a:tc>
              </a:tr>
              <a:tr h="286615">
                <a:tc>
                  <a:txBody>
                    <a:bodyPr/>
                    <a:lstStyle/>
                    <a:p>
                      <a:pPr algn="ctr">
                        <a:lnSpc>
                          <a:spcPct val="80000"/>
                        </a:lnSpc>
                        <a:buNone/>
                      </a:pPr>
                      <a:r>
                        <a:rPr lang="en-US" altLang="zh-CN" sz="1600"/>
                        <a:t>b</a:t>
                      </a:r>
                      <a:endParaRPr lang="en-US" altLang="zh-CN" sz="1600"/>
                    </a:p>
                  </a:txBody>
                  <a:tcPr marL="91395" marR="91395" marT="45736" marB="45736"/>
                </a:tc>
                <a:tc>
                  <a:txBody>
                    <a:bodyPr/>
                    <a:lstStyle/>
                    <a:p>
                      <a:pPr algn="ctr">
                        <a:lnSpc>
                          <a:spcPct val="80000"/>
                        </a:lnSpc>
                        <a:buNone/>
                      </a:pPr>
                      <a:r>
                        <a:rPr lang="en-US" altLang="zh-CN" sz="1600"/>
                        <a:t>2</a:t>
                      </a:r>
                      <a:endParaRPr lang="en-US" altLang="zh-CN" sz="1600"/>
                    </a:p>
                  </a:txBody>
                  <a:tcPr marL="91395" marR="91395" marT="45736" marB="45736"/>
                </a:tc>
                <a:tc>
                  <a:txBody>
                    <a:bodyPr/>
                    <a:lstStyle/>
                    <a:p>
                      <a:pPr algn="ctr">
                        <a:lnSpc>
                          <a:spcPct val="80000"/>
                        </a:lnSpc>
                        <a:buNone/>
                      </a:pPr>
                      <a:r>
                        <a:rPr lang="en-US" altLang="zh-CN" sz="1600"/>
                        <a:t>6</a:t>
                      </a:r>
                      <a:endParaRPr lang="en-US" altLang="zh-CN" sz="1600"/>
                    </a:p>
                  </a:txBody>
                  <a:tcPr marL="91395" marR="91395" marT="45736" marB="45736"/>
                </a:tc>
              </a:tr>
              <a:tr h="286615">
                <a:tc>
                  <a:txBody>
                    <a:bodyPr/>
                    <a:lstStyle/>
                    <a:p>
                      <a:pPr algn="ctr">
                        <a:lnSpc>
                          <a:spcPct val="80000"/>
                        </a:lnSpc>
                        <a:buNone/>
                      </a:pPr>
                      <a:r>
                        <a:rPr lang="en-US" altLang="zh-CN" sz="1600"/>
                        <a:t>a</a:t>
                      </a:r>
                      <a:endParaRPr lang="en-US" altLang="zh-CN" sz="1600"/>
                    </a:p>
                  </a:txBody>
                  <a:tcPr marL="91395" marR="91395" marT="45736" marB="45736"/>
                </a:tc>
                <a:tc>
                  <a:txBody>
                    <a:bodyPr/>
                    <a:lstStyle/>
                    <a:p>
                      <a:pPr algn="ctr">
                        <a:lnSpc>
                          <a:spcPct val="80000"/>
                        </a:lnSpc>
                        <a:buNone/>
                      </a:pPr>
                      <a:r>
                        <a:rPr lang="en-US" altLang="zh-CN" sz="1600"/>
                        <a:t>d</a:t>
                      </a:r>
                      <a:endParaRPr lang="en-US" altLang="zh-CN" sz="1600"/>
                    </a:p>
                  </a:txBody>
                  <a:tcPr marL="91395" marR="91395" marT="45736" marB="45736"/>
                </a:tc>
                <a:tc>
                  <a:txBody>
                    <a:bodyPr/>
                    <a:lstStyle/>
                    <a:p>
                      <a:pPr algn="ctr">
                        <a:lnSpc>
                          <a:spcPct val="80000"/>
                        </a:lnSpc>
                        <a:buNone/>
                      </a:pPr>
                      <a:r>
                        <a:rPr lang="en-US" altLang="zh-CN" sz="1600"/>
                        <a:t>a</a:t>
                      </a:r>
                      <a:endParaRPr lang="en-US" altLang="zh-CN" sz="1600"/>
                    </a:p>
                  </a:txBody>
                  <a:tcPr marL="91395" marR="91395" marT="45736" marB="45736"/>
                </a:tc>
              </a:tr>
            </a:tbl>
          </a:graphicData>
        </a:graphic>
      </p:graphicFrame>
      <p:sp>
        <p:nvSpPr>
          <p:cNvPr id="29" name="右箭头 28"/>
          <p:cNvSpPr/>
          <p:nvPr/>
        </p:nvSpPr>
        <p:spPr>
          <a:xfrm rot="1380000">
            <a:off x="1293813" y="5226050"/>
            <a:ext cx="1511300" cy="292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1" i="0" u="none" strike="noStrike" kern="1200" cap="none" spc="0" normalizeH="0" baseline="0" noProof="0">
              <a:ln>
                <a:noFill/>
              </a:ln>
              <a:solidFill>
                <a:schemeClr val="lt1"/>
              </a:solidFill>
              <a:effectLst/>
              <a:uLnTx/>
              <a:uFillTx/>
              <a:latin typeface="+mn-lt"/>
              <a:ea typeface="+mn-ea"/>
              <a:cs typeface="+mn-cs"/>
            </a:endParaRPr>
          </a:p>
        </p:txBody>
      </p:sp>
      <p:sp>
        <p:nvSpPr>
          <p:cNvPr id="30" name="文本框 29"/>
          <p:cNvSpPr txBox="1"/>
          <p:nvPr/>
        </p:nvSpPr>
        <p:spPr>
          <a:xfrm rot="1500000">
            <a:off x="1924050" y="4862513"/>
            <a:ext cx="881063" cy="54768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solidFill>
                  <a:srgbClr val="0033CC"/>
                </a:solidFill>
              </a:rPr>
              <a:t>R    S</a:t>
            </a:r>
            <a:endParaRPr lang="en-US" altLang="zh-CN" sz="2200" dirty="0">
              <a:solidFill>
                <a:srgbClr val="0033CC"/>
              </a:solidFill>
            </a:endParaRPr>
          </a:p>
        </p:txBody>
      </p:sp>
      <p:grpSp>
        <p:nvGrpSpPr>
          <p:cNvPr id="31" name="组合 30"/>
          <p:cNvGrpSpPr/>
          <p:nvPr/>
        </p:nvGrpSpPr>
        <p:grpSpPr>
          <a:xfrm rot="1260000">
            <a:off x="2235200" y="5046663"/>
            <a:ext cx="214313" cy="204787"/>
            <a:chOff x="4210" y="4040"/>
            <a:chExt cx="474" cy="423"/>
          </a:xfrm>
        </p:grpSpPr>
        <p:sp>
          <p:nvSpPr>
            <p:cNvPr id="175290"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75291"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75292"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75293"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7528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(2)</a:t>
            </a:r>
            <a:r>
              <a:rPr lang="zh-CN" altLang="en-US" sz="2800" dirty="0">
                <a:solidFill>
                  <a:srgbClr val="0033CC"/>
                </a:solidFill>
                <a:ea typeface="黑体" panose="02010609060101010101" pitchFamily="49" charset="-122"/>
              </a:rPr>
              <a:t>扩展操作符</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additive="base">
                                        <p:cTn id="25" dur="500" fill="hold"/>
                                        <p:tgtEl>
                                          <p:spTgt spid="23"/>
                                        </p:tgtEl>
                                        <p:attrNameLst>
                                          <p:attrName>ppt_x</p:attrName>
                                        </p:attrNameLst>
                                      </p:cBhvr>
                                      <p:tavLst>
                                        <p:tav tm="0">
                                          <p:val>
                                            <p:strVal val="#ppt_x"/>
                                          </p:val>
                                        </p:tav>
                                        <p:tav tm="100000">
                                          <p:val>
                                            <p:strVal val="#ppt_x"/>
                                          </p:val>
                                        </p:tav>
                                      </p:tavLst>
                                    </p:anim>
                                    <p:anim calcmode="lin" valueType="num">
                                      <p:cBhvr additive="base">
                                        <p:cTn id="26" dur="500" fill="hold"/>
                                        <p:tgtEl>
                                          <p:spTgt spid="2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anim calcmode="lin" valueType="num">
                                      <p:cBhvr additive="base">
                                        <p:cTn id="29" dur="500" fill="hold"/>
                                        <p:tgtEl>
                                          <p:spTgt spid="24"/>
                                        </p:tgtEl>
                                        <p:attrNameLst>
                                          <p:attrName>ppt_x</p:attrName>
                                        </p:attrNameLst>
                                      </p:cBhvr>
                                      <p:tavLst>
                                        <p:tav tm="0">
                                          <p:val>
                                            <p:strVal val="#ppt_x"/>
                                          </p:val>
                                        </p:tav>
                                        <p:tav tm="100000">
                                          <p:val>
                                            <p:strVal val="#ppt_x"/>
                                          </p:val>
                                        </p:tav>
                                      </p:tavLst>
                                    </p:anim>
                                    <p:anim calcmode="lin" valueType="num">
                                      <p:cBhvr additive="base">
                                        <p:cTn id="30" dur="500" fill="hold"/>
                                        <p:tgtEl>
                                          <p:spTgt spid="24"/>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ppt_x"/>
                                          </p:val>
                                        </p:tav>
                                        <p:tav tm="100000">
                                          <p:val>
                                            <p:strVal val="#ppt_x"/>
                                          </p:val>
                                        </p:tav>
                                      </p:tavLst>
                                    </p:anim>
                                    <p:anim calcmode="lin" valueType="num">
                                      <p:cBhvr additive="base">
                                        <p:cTn id="3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 calcmode="lin" valueType="num">
                                      <p:cBhvr additive="base">
                                        <p:cTn id="39" dur="500" fill="hold"/>
                                        <p:tgtEl>
                                          <p:spTgt spid="28"/>
                                        </p:tgtEl>
                                        <p:attrNameLst>
                                          <p:attrName>ppt_x</p:attrName>
                                        </p:attrNameLst>
                                      </p:cBhvr>
                                      <p:tavLst>
                                        <p:tav tm="0">
                                          <p:val>
                                            <p:strVal val="#ppt_x"/>
                                          </p:val>
                                        </p:tav>
                                        <p:tav tm="100000">
                                          <p:val>
                                            <p:strVal val="#ppt_x"/>
                                          </p:val>
                                        </p:tav>
                                      </p:tavLst>
                                    </p:anim>
                                    <p:anim calcmode="lin" valueType="num">
                                      <p:cBhvr additive="base">
                                        <p:cTn id="40" dur="500" fill="hold"/>
                                        <p:tgtEl>
                                          <p:spTgt spid="28"/>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9"/>
                                        </p:tgtEl>
                                        <p:attrNameLst>
                                          <p:attrName>style.visibility</p:attrName>
                                        </p:attrNameLst>
                                      </p:cBhvr>
                                      <p:to>
                                        <p:strVal val="visible"/>
                                      </p:to>
                                    </p:set>
                                    <p:anim calcmode="lin" valueType="num">
                                      <p:cBhvr additive="base">
                                        <p:cTn id="43" dur="500" fill="hold"/>
                                        <p:tgtEl>
                                          <p:spTgt spid="29"/>
                                        </p:tgtEl>
                                        <p:attrNameLst>
                                          <p:attrName>ppt_x</p:attrName>
                                        </p:attrNameLst>
                                      </p:cBhvr>
                                      <p:tavLst>
                                        <p:tav tm="0">
                                          <p:val>
                                            <p:strVal val="#ppt_x"/>
                                          </p:val>
                                        </p:tav>
                                        <p:tav tm="100000">
                                          <p:val>
                                            <p:strVal val="#ppt_x"/>
                                          </p:val>
                                        </p:tav>
                                      </p:tavLst>
                                    </p:anim>
                                    <p:anim calcmode="lin" valueType="num">
                                      <p:cBhvr additive="base">
                                        <p:cTn id="44" dur="500" fill="hold"/>
                                        <p:tgtEl>
                                          <p:spTgt spid="2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0" grpId="0"/>
      <p:bldP spid="23" grpId="0" animBg="1"/>
      <p:bldP spid="24" grpId="0"/>
      <p:bldP spid="29" grpId="0" animBg="1"/>
      <p:bldP spid="30"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Rectangle 3"/>
          <p:cNvSpPr txBox="1"/>
          <p:nvPr/>
        </p:nvSpPr>
        <p:spPr>
          <a:xfrm>
            <a:off x="685800" y="1225550"/>
            <a:ext cx="8008938" cy="48212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533400" lvl="0" indent="-533400" eaLnBrk="1" hangingPunct="1">
              <a:lnSpc>
                <a:spcPct val="125000"/>
              </a:lnSpc>
              <a:buFont typeface="Arial" panose="020B0604020202020204" pitchFamily="34" charset="0"/>
              <a:buNone/>
            </a:pPr>
            <a:r>
              <a:rPr lang="zh-CN" altLang="en-US" sz="2400" dirty="0"/>
              <a:t>要写出关系代数式，按照以下</a:t>
            </a:r>
            <a:r>
              <a:rPr lang="zh-CN" altLang="en-US" sz="2400" dirty="0">
                <a:latin typeface="华文楷体" panose="02010600040101010101" pitchFamily="2" charset="-122"/>
              </a:rPr>
              <a:t>“</a:t>
            </a:r>
            <a:r>
              <a:rPr lang="zh-CN" altLang="en-US" sz="2400" dirty="0">
                <a:solidFill>
                  <a:srgbClr val="A50021"/>
                </a:solidFill>
              </a:rPr>
              <a:t>三步曲</a:t>
            </a:r>
            <a:r>
              <a:rPr lang="zh-CN" altLang="en-US" sz="2400" dirty="0">
                <a:latin typeface="华文楷体" panose="02010600040101010101" pitchFamily="2" charset="-122"/>
              </a:rPr>
              <a:t>”</a:t>
            </a:r>
            <a:r>
              <a:rPr lang="zh-CN" altLang="en-US" sz="2400" dirty="0"/>
              <a:t>：</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确定最后的结果中所要的属性；</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确定该查询涉及几个关系；</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制定查询思路。</a:t>
            </a:r>
            <a:endParaRPr lang="zh-CN" altLang="en-US" sz="2400" dirty="0"/>
          </a:p>
          <a:p>
            <a:pPr marL="533400" lvl="0" indent="-533400" eaLnBrk="1" hangingPunct="1">
              <a:lnSpc>
                <a:spcPct val="125000"/>
              </a:lnSpc>
              <a:buFont typeface="Wingdings" panose="05000000000000000000" pitchFamily="2" charset="2"/>
              <a:buChar char="u"/>
            </a:pPr>
            <a:r>
              <a:rPr lang="zh-CN" altLang="en-US" sz="2400" dirty="0"/>
              <a:t>一个查询问题可以采用多种查询方式，取得同样的结果。然而，各个查询表达式的执行效率是不同的。应该尽量选用中间结果最小的那个查询表达式，这是重要的</a:t>
            </a:r>
            <a:r>
              <a:rPr lang="zh-CN" altLang="en-US" sz="2400" dirty="0">
                <a:latin typeface="华文楷体" panose="02010600040101010101" pitchFamily="2" charset="-122"/>
              </a:rPr>
              <a:t>“</a:t>
            </a:r>
            <a:r>
              <a:rPr lang="zh-CN" altLang="en-US" sz="2400" dirty="0">
                <a:solidFill>
                  <a:srgbClr val="CC0000"/>
                </a:solidFill>
              </a:rPr>
              <a:t>查询优化</a:t>
            </a:r>
            <a:r>
              <a:rPr lang="zh-CN" altLang="en-US" sz="2400" dirty="0">
                <a:latin typeface="华文楷体" panose="02010600040101010101" pitchFamily="2" charset="-122"/>
              </a:rPr>
              <a:t>”</a:t>
            </a:r>
            <a:r>
              <a:rPr lang="zh-CN" altLang="en-US" sz="2400" dirty="0"/>
              <a:t>问题。</a:t>
            </a:r>
            <a:endParaRPr lang="zh-CN" altLang="en-US" sz="2400" dirty="0"/>
          </a:p>
        </p:txBody>
      </p:sp>
      <p:sp>
        <p:nvSpPr>
          <p:cNvPr id="17613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Text Box 2"/>
          <p:cNvSpPr txBox="1"/>
          <p:nvPr/>
        </p:nvSpPr>
        <p:spPr>
          <a:xfrm>
            <a:off x="4484688" y="1144588"/>
            <a:ext cx="1447800"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solidFill>
                  <a:srgbClr val="0000CC"/>
                </a:solidFill>
                <a:latin typeface="宋体" panose="02010600030101010101" pitchFamily="2" charset="-122"/>
              </a:rPr>
              <a:t>C</a:t>
            </a:r>
            <a:endParaRPr lang="de-DE" altLang="en-US" sz="2800" dirty="0">
              <a:solidFill>
                <a:srgbClr val="0000CC"/>
              </a:solidFill>
              <a:latin typeface="宋体" panose="02010600030101010101" pitchFamily="2" charset="-122"/>
            </a:endParaRPr>
          </a:p>
        </p:txBody>
      </p:sp>
      <p:graphicFrame>
        <p:nvGraphicFramePr>
          <p:cNvPr id="130051" name="表格 130050"/>
          <p:cNvGraphicFramePr/>
          <p:nvPr/>
        </p:nvGraphicFramePr>
        <p:xfrm>
          <a:off x="1066800" y="1395413"/>
          <a:ext cx="3613150" cy="2857500"/>
        </p:xfrm>
        <a:graphic>
          <a:graphicData uri="http://schemas.openxmlformats.org/drawingml/2006/table">
            <a:tbl>
              <a:tblPr/>
              <a:tblGrid>
                <a:gridCol w="1038225"/>
                <a:gridCol w="1058863"/>
                <a:gridCol w="652462"/>
                <a:gridCol w="863600"/>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sid</a:t>
                      </a:r>
                      <a:endParaRPr lang="de-DE" altLang="en-US" sz="2000" b="0" u="sng"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sname</a:t>
                      </a:r>
                      <a:endParaRPr lang="de-DE" altLang="en-US" sz="20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age</a:t>
                      </a:r>
                      <a:endParaRPr lang="de-DE" altLang="en-US" sz="20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grade</a:t>
                      </a:r>
                      <a:endParaRPr lang="de-DE" altLang="en-US" sz="20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00"/>
                          </a:solidFill>
                        </a:rPr>
                        <a:t>何大</a:t>
                      </a:r>
                      <a:r>
                        <a:rPr lang="zh-CN" altLang="en-US" sz="1800" b="0" dirty="0">
                          <a:solidFill>
                            <a:srgbClr val="000000"/>
                          </a:solidFill>
                        </a:rPr>
                        <a:t>明</a:t>
                      </a:r>
                      <a:endParaRPr lang="zh-CN" altLang="en-US" sz="1800" b="0" dirty="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19</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11</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0000"/>
                          </a:solidFill>
                        </a:rPr>
                        <a:t>李峰</a:t>
                      </a:r>
                      <a:endParaRPr lang="de-DE" altLang="en-US" sz="1800" b="0" dirty="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20</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35</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陈胜</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21</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4</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6</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张大卫</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18</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85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22</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董一溪</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21</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4</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a:t>
                      </a:r>
                      <a:endParaRPr lang="de-DE" altLang="en-US" sz="1800" b="0" dirty="0">
                        <a:solidFill>
                          <a:srgbClr val="0000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0000"/>
                          </a:solidFill>
                        </a:rPr>
                        <a:t>孙小惠</a:t>
                      </a:r>
                      <a:endParaRPr lang="zh-CN" altLang="en-US" sz="1800" b="0">
                        <a:solidFill>
                          <a:srgbClr val="000000"/>
                        </a:solidFill>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20</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a:t>
                      </a:r>
                      <a:endParaRPr lang="de-DE" altLang="en-US" sz="1800" b="0" dirty="0">
                        <a:solidFill>
                          <a:srgbClr val="0000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bl>
          </a:graphicData>
        </a:graphic>
      </p:graphicFrame>
      <p:sp>
        <p:nvSpPr>
          <p:cNvPr id="177197" name="Text Box 45"/>
          <p:cNvSpPr txBox="1"/>
          <p:nvPr/>
        </p:nvSpPr>
        <p:spPr>
          <a:xfrm>
            <a:off x="304800" y="1228725"/>
            <a:ext cx="685800" cy="588963"/>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S</a:t>
            </a:r>
            <a:endParaRPr lang="de-DE" altLang="en-US" sz="2800" dirty="0">
              <a:latin typeface="宋体" panose="02010600030101010101" pitchFamily="2" charset="-122"/>
            </a:endParaRPr>
          </a:p>
        </p:txBody>
      </p:sp>
      <p:graphicFrame>
        <p:nvGraphicFramePr>
          <p:cNvPr id="130094" name="表格 130093"/>
          <p:cNvGraphicFramePr/>
          <p:nvPr/>
        </p:nvGraphicFramePr>
        <p:xfrm>
          <a:off x="5540375" y="1235075"/>
          <a:ext cx="3197225" cy="2025650"/>
        </p:xfrm>
        <a:graphic>
          <a:graphicData uri="http://schemas.openxmlformats.org/drawingml/2006/table">
            <a:tbl>
              <a:tblPr/>
              <a:tblGrid>
                <a:gridCol w="795338"/>
                <a:gridCol w="1530350"/>
                <a:gridCol w="871537"/>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cid</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cname</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credit</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4381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101</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0000"/>
                          </a:solidFill>
                          <a:latin typeface="宋体" panose="02010600030101010101" pitchFamily="2" charset="-122"/>
                        </a:rPr>
                        <a:t>数据库</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3</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102</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0000"/>
                          </a:solidFill>
                          <a:latin typeface="宋体" panose="02010600030101010101" pitchFamily="2" charset="-122"/>
                        </a:rPr>
                        <a:t>计算机网络</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2</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103</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0000"/>
                          </a:solidFill>
                          <a:latin typeface="宋体" panose="02010600030101010101" pitchFamily="2" charset="-122"/>
                        </a:rPr>
                        <a:t>数据结构</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3</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104</a:t>
                      </a:r>
                      <a:endParaRPr lang="de-DE" altLang="en-US" sz="2000" b="0" dirty="0">
                        <a:solidFill>
                          <a:srgbClr val="0000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0000"/>
                          </a:solidFill>
                          <a:latin typeface="宋体" panose="02010600030101010101" pitchFamily="2" charset="-122"/>
                        </a:rPr>
                        <a:t>Java</a:t>
                      </a:r>
                      <a:r>
                        <a:rPr lang="zh-CN" altLang="en-US" sz="2000" b="0">
                          <a:solidFill>
                            <a:srgbClr val="000000"/>
                          </a:solidFill>
                          <a:latin typeface="宋体" panose="02010600030101010101" pitchFamily="2" charset="-122"/>
                        </a:rPr>
                        <a:t>语言</a:t>
                      </a:r>
                      <a:endParaRPr lang="zh-CN" altLang="en-US" sz="2000" b="0">
                        <a:solidFill>
                          <a:srgbClr val="000000"/>
                        </a:solidFill>
                        <a:latin typeface="宋体" panose="0201060003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0000"/>
                          </a:solidFill>
                        </a:rPr>
                        <a:t>2</a:t>
                      </a:r>
                      <a:endParaRPr lang="de-DE" altLang="en-US" sz="2000" b="0" dirty="0">
                        <a:solidFill>
                          <a:srgbClr val="0000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bl>
          </a:graphicData>
        </a:graphic>
      </p:graphicFrame>
      <p:graphicFrame>
        <p:nvGraphicFramePr>
          <p:cNvPr id="130120" name="表格 130119"/>
          <p:cNvGraphicFramePr/>
          <p:nvPr/>
        </p:nvGraphicFramePr>
        <p:xfrm>
          <a:off x="5568950" y="3451225"/>
          <a:ext cx="2436813" cy="2597150"/>
        </p:xfrm>
        <a:graphic>
          <a:graphicData uri="http://schemas.openxmlformats.org/drawingml/2006/table">
            <a:tbl>
              <a:tblPr/>
              <a:tblGrid>
                <a:gridCol w="990600"/>
                <a:gridCol w="566738"/>
                <a:gridCol w="87947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sid</a:t>
                      </a:r>
                      <a:endParaRPr lang="de-DE" altLang="en-US" sz="2000" b="0" u="sng"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0000"/>
                          </a:solidFill>
                        </a:rPr>
                        <a:t>cid</a:t>
                      </a:r>
                      <a:endParaRPr lang="de-DE" altLang="en-US" sz="2000" b="0" u="sng"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0000"/>
                          </a:solidFill>
                        </a:rPr>
                        <a:t>score</a:t>
                      </a:r>
                      <a:endParaRPr lang="de-DE" altLang="en-US" sz="2000" b="0" dirty="0">
                        <a:solidFill>
                          <a:srgbClr val="000000"/>
                        </a:solidFill>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101</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91</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11</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104</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74</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35</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102</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80</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35</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104</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93</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101</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88</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a:t>
                      </a:r>
                      <a:endParaRPr lang="de-DE" altLang="en-US" sz="1800" b="0" dirty="0">
                        <a:solidFill>
                          <a:srgbClr val="0000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103</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0000"/>
                          </a:solidFill>
                        </a:rPr>
                        <a:t>69</a:t>
                      </a:r>
                      <a:endParaRPr lang="de-DE" altLang="en-US" sz="1800" b="0" dirty="0">
                        <a:solidFill>
                          <a:srgbClr val="0000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4FEFE">
                        <a:alpha val="100000"/>
                      </a:srgbClr>
                    </a:solidFill>
                  </a:tcPr>
                </a:tc>
              </a:tr>
            </a:tbl>
          </a:graphicData>
        </a:graphic>
      </p:graphicFrame>
      <p:sp>
        <p:nvSpPr>
          <p:cNvPr id="177258" name="Text Box 106"/>
          <p:cNvSpPr txBox="1"/>
          <p:nvPr/>
        </p:nvSpPr>
        <p:spPr>
          <a:xfrm>
            <a:off x="4864100" y="3478213"/>
            <a:ext cx="685800" cy="5889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E</a:t>
            </a:r>
            <a:endParaRPr lang="de-DE" altLang="en-US" sz="2800" dirty="0">
              <a:latin typeface="宋体" panose="02010600030101010101" pitchFamily="2" charset="-122"/>
            </a:endParaRPr>
          </a:p>
        </p:txBody>
      </p:sp>
      <p:sp>
        <p:nvSpPr>
          <p:cNvPr id="177259" name="Rectangle 107"/>
          <p:cNvSpPr/>
          <p:nvPr/>
        </p:nvSpPr>
        <p:spPr>
          <a:xfrm>
            <a:off x="409575" y="4591050"/>
            <a:ext cx="3598863" cy="10160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查询</a:t>
            </a:r>
            <a:r>
              <a:rPr lang="zh-CN" altLang="en-US" sz="2400" u="sng" dirty="0">
                <a:solidFill>
                  <a:srgbClr val="CC0000"/>
                </a:solidFill>
                <a:latin typeface="宋体" panose="02010600030101010101" pitchFamily="2" charset="-122"/>
              </a:rPr>
              <a:t>选修</a:t>
            </a:r>
            <a:r>
              <a:rPr lang="zh-CN" altLang="en-US" sz="2400" dirty="0">
                <a:solidFill>
                  <a:srgbClr val="CC0000"/>
                </a:solidFill>
                <a:latin typeface="宋体" panose="02010600030101010101" pitchFamily="2" charset="-122"/>
              </a:rPr>
              <a:t>了</a:t>
            </a:r>
            <a:r>
              <a:rPr lang="zh-CN" altLang="en-US" sz="2400" u="sng" dirty="0">
                <a:solidFill>
                  <a:srgbClr val="CC0000"/>
                </a:solidFill>
                <a:latin typeface="宋体" panose="02010600030101010101" pitchFamily="2" charset="-122"/>
              </a:rPr>
              <a:t>学分为3</a:t>
            </a:r>
            <a:r>
              <a:rPr lang="zh-CN" altLang="en-US" sz="2400" dirty="0">
                <a:solidFill>
                  <a:srgbClr val="CC0000"/>
                </a:solidFill>
                <a:latin typeface="宋体" panose="02010600030101010101" pitchFamily="2" charset="-122"/>
              </a:rPr>
              <a:t>课程的</a:t>
            </a:r>
            <a:r>
              <a:rPr lang="zh-CN" altLang="en-US" sz="2400" u="sng" dirty="0">
                <a:solidFill>
                  <a:srgbClr val="CC0000"/>
                </a:solidFill>
                <a:latin typeface="宋体" panose="02010600030101010101" pitchFamily="2" charset="-122"/>
              </a:rPr>
              <a:t>学生姓名</a:t>
            </a:r>
            <a:endParaRPr lang="zh-CN" altLang="en-US" sz="2400" u="sng" dirty="0">
              <a:solidFill>
                <a:srgbClr val="CC0000"/>
              </a:solidFill>
              <a:latin typeface="宋体" panose="02010600030101010101" pitchFamily="2" charset="-122"/>
            </a:endParaRPr>
          </a:p>
        </p:txBody>
      </p:sp>
      <p:sp>
        <p:nvSpPr>
          <p:cNvPr id="130156" name="Oval 108"/>
          <p:cNvSpPr/>
          <p:nvPr/>
        </p:nvSpPr>
        <p:spPr>
          <a:xfrm>
            <a:off x="2182813" y="1344613"/>
            <a:ext cx="863600" cy="50323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0157" name="Oval 109"/>
          <p:cNvSpPr/>
          <p:nvPr/>
        </p:nvSpPr>
        <p:spPr>
          <a:xfrm>
            <a:off x="7826375" y="1182688"/>
            <a:ext cx="863600" cy="503237"/>
          </a:xfrm>
          <a:prstGeom prst="ellipse">
            <a:avLst/>
          </a:prstGeom>
          <a:noFill/>
          <a:ln w="28575"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0158" name="Oval 110"/>
          <p:cNvSpPr/>
          <p:nvPr/>
        </p:nvSpPr>
        <p:spPr>
          <a:xfrm>
            <a:off x="5553075" y="3394075"/>
            <a:ext cx="1584325" cy="503238"/>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7263"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30156"/>
                                        </p:tgtEl>
                                        <p:attrNameLst>
                                          <p:attrName>style.visibility</p:attrName>
                                        </p:attrNameLst>
                                      </p:cBhvr>
                                      <p:to>
                                        <p:strVal val="visible"/>
                                      </p:to>
                                    </p:set>
                                    <p:animEffect transition="in" filter="wedge">
                                      <p:cBhvr>
                                        <p:cTn id="7" dur="2000"/>
                                        <p:tgtEl>
                                          <p:spTgt spid="130156"/>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30157"/>
                                        </p:tgtEl>
                                        <p:attrNameLst>
                                          <p:attrName>style.visibility</p:attrName>
                                        </p:attrNameLst>
                                      </p:cBhvr>
                                      <p:to>
                                        <p:strVal val="visible"/>
                                      </p:to>
                                    </p:set>
                                    <p:animEffect transition="in" filter="wedge">
                                      <p:cBhvr>
                                        <p:cTn id="12" dur="2000"/>
                                        <p:tgtEl>
                                          <p:spTgt spid="130157"/>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30158"/>
                                        </p:tgtEl>
                                        <p:attrNameLst>
                                          <p:attrName>style.visibility</p:attrName>
                                        </p:attrNameLst>
                                      </p:cBhvr>
                                      <p:to>
                                        <p:strVal val="visible"/>
                                      </p:to>
                                    </p:set>
                                    <p:animEffect transition="in" filter="wedge">
                                      <p:cBhvr>
                                        <p:cTn id="17" dur="2000"/>
                                        <p:tgtEl>
                                          <p:spTgt spid="130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156" grpId="0" bldLvl="0" animBg="1"/>
      <p:bldP spid="130157" grpId="0" bldLvl="0" animBg="1"/>
      <p:bldP spid="130158" grpId="0" bldLvl="0" animBg="1"/>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Rectangle 2"/>
          <p:cNvSpPr txBox="1"/>
          <p:nvPr/>
        </p:nvSpPr>
        <p:spPr>
          <a:xfrm>
            <a:off x="473075" y="877888"/>
            <a:ext cx="7308850" cy="5334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800" dirty="0">
                <a:solidFill>
                  <a:srgbClr val="3333CC"/>
                </a:solidFill>
                <a:ea typeface="黑体" panose="02010609060101010101" pitchFamily="49" charset="-122"/>
              </a:rPr>
              <a:t>举例：查询选修了学分为3课程的学生姓名</a:t>
            </a:r>
            <a:r>
              <a:rPr lang="zh-CN" altLang="en-US" sz="2600" b="0" dirty="0">
                <a:latin typeface="方正姚体" panose="02010601030101010101" pitchFamily="2" charset="-122"/>
                <a:ea typeface="方正姚体" panose="02010601030101010101" pitchFamily="2" charset="-122"/>
              </a:rPr>
              <a:t> </a:t>
            </a:r>
            <a:endParaRPr lang="de-DE" altLang="en-US" sz="2600" b="0" dirty="0">
              <a:latin typeface="方正姚体" panose="02010601030101010101" pitchFamily="2" charset="-122"/>
              <a:ea typeface="方正姚体" panose="02010601030101010101" pitchFamily="2" charset="-122"/>
            </a:endParaRPr>
          </a:p>
        </p:txBody>
      </p:sp>
      <p:sp>
        <p:nvSpPr>
          <p:cNvPr id="131075" name="Rectangle 3"/>
          <p:cNvSpPr/>
          <p:nvPr/>
        </p:nvSpPr>
        <p:spPr>
          <a:xfrm>
            <a:off x="319088" y="1600200"/>
            <a:ext cx="4191000" cy="517525"/>
          </a:xfrm>
          <a:prstGeom prst="rect">
            <a:avLst/>
          </a:prstGeom>
          <a:solidFill>
            <a:srgbClr val="CCFF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确定最后的结果中所要的属性</a:t>
            </a:r>
            <a:endParaRPr lang="zh-CN" altLang="en-US" sz="2400" dirty="0">
              <a:solidFill>
                <a:srgbClr val="0000CC"/>
              </a:solidFill>
              <a:latin typeface="宋体" panose="02010600030101010101" pitchFamily="2" charset="-122"/>
            </a:endParaRPr>
          </a:p>
        </p:txBody>
      </p:sp>
      <p:sp>
        <p:nvSpPr>
          <p:cNvPr id="131076" name="Rectangle 4"/>
          <p:cNvSpPr/>
          <p:nvPr/>
        </p:nvSpPr>
        <p:spPr>
          <a:xfrm>
            <a:off x="347663" y="2405063"/>
            <a:ext cx="2590800" cy="831850"/>
          </a:xfrm>
          <a:prstGeom prst="rect">
            <a:avLst/>
          </a:prstGeom>
          <a:solidFill>
            <a:srgbClr val="CCFF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确定该查询涉及几个关系</a:t>
            </a:r>
            <a:endParaRPr lang="zh-CN" altLang="en-US" sz="2400" dirty="0">
              <a:solidFill>
                <a:srgbClr val="0000CC"/>
              </a:solidFill>
              <a:latin typeface="宋体" panose="02010600030101010101" pitchFamily="2" charset="-122"/>
            </a:endParaRPr>
          </a:p>
        </p:txBody>
      </p:sp>
      <p:sp>
        <p:nvSpPr>
          <p:cNvPr id="131077" name="Rectangle 5"/>
          <p:cNvSpPr/>
          <p:nvPr/>
        </p:nvSpPr>
        <p:spPr>
          <a:xfrm>
            <a:off x="304800" y="3589338"/>
            <a:ext cx="2819400" cy="519112"/>
          </a:xfrm>
          <a:prstGeom prst="rect">
            <a:avLst/>
          </a:prstGeom>
          <a:solidFill>
            <a:srgbClr val="CCFFFF"/>
          </a:solidFill>
          <a:ln w="9525" cap="flat" cmpd="sng">
            <a:solidFill>
              <a:schemeClr val="tx1"/>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None/>
            </a:pPr>
            <a:r>
              <a:rPr lang="zh-CN" altLang="en-US" sz="2400" dirty="0">
                <a:solidFill>
                  <a:srgbClr val="0000CC"/>
                </a:solidFill>
                <a:latin typeface="宋体" panose="02010600030101010101" pitchFamily="2" charset="-122"/>
              </a:rPr>
              <a:t>制定查询思路</a:t>
            </a:r>
            <a:endParaRPr lang="zh-CN" altLang="en-US" sz="2400" dirty="0">
              <a:solidFill>
                <a:srgbClr val="0000CC"/>
              </a:solidFill>
              <a:latin typeface="宋体" panose="02010600030101010101" pitchFamily="2" charset="-122"/>
            </a:endParaRPr>
          </a:p>
        </p:txBody>
      </p:sp>
      <p:sp>
        <p:nvSpPr>
          <p:cNvPr id="131078" name="Line 6"/>
          <p:cNvSpPr/>
          <p:nvPr/>
        </p:nvSpPr>
        <p:spPr>
          <a:xfrm>
            <a:off x="4487863" y="1892300"/>
            <a:ext cx="990600" cy="0"/>
          </a:xfrm>
          <a:prstGeom prst="line">
            <a:avLst/>
          </a:prstGeom>
          <a:ln w="28575" cap="flat" cmpd="sng">
            <a:solidFill>
              <a:schemeClr val="tx1"/>
            </a:solidFill>
            <a:prstDash val="dash"/>
            <a:headEnd type="none" w="med" len="med"/>
            <a:tailEnd type="triangle" w="med" len="med"/>
          </a:ln>
        </p:spPr>
      </p:sp>
      <p:sp>
        <p:nvSpPr>
          <p:cNvPr id="131079" name="Text Box 7"/>
          <p:cNvSpPr txBox="1"/>
          <p:nvPr/>
        </p:nvSpPr>
        <p:spPr>
          <a:xfrm>
            <a:off x="5435600" y="1647825"/>
            <a:ext cx="1828800" cy="519113"/>
          </a:xfrm>
          <a:prstGeom prst="rect">
            <a:avLst/>
          </a:prstGeom>
          <a:no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学生姓名</a:t>
            </a:r>
            <a:endParaRPr lang="zh-CN" altLang="en-US" sz="2400" dirty="0">
              <a:solidFill>
                <a:srgbClr val="CC0000"/>
              </a:solidFill>
              <a:latin typeface="宋体" panose="02010600030101010101" pitchFamily="2" charset="-122"/>
            </a:endParaRPr>
          </a:p>
        </p:txBody>
      </p:sp>
      <p:sp>
        <p:nvSpPr>
          <p:cNvPr id="131080" name="Line 8"/>
          <p:cNvSpPr/>
          <p:nvPr/>
        </p:nvSpPr>
        <p:spPr>
          <a:xfrm>
            <a:off x="3073400" y="3908425"/>
            <a:ext cx="457200" cy="0"/>
          </a:xfrm>
          <a:prstGeom prst="line">
            <a:avLst/>
          </a:prstGeom>
          <a:ln w="28575" cap="flat" cmpd="sng">
            <a:solidFill>
              <a:schemeClr val="tx1"/>
            </a:solidFill>
            <a:prstDash val="dash"/>
            <a:headEnd type="none" w="med" len="med"/>
            <a:tailEnd type="triangle" w="med" len="med"/>
          </a:ln>
        </p:spPr>
      </p:sp>
      <p:sp>
        <p:nvSpPr>
          <p:cNvPr id="131081" name="Text Box 9"/>
          <p:cNvSpPr txBox="1"/>
          <p:nvPr/>
        </p:nvSpPr>
        <p:spPr>
          <a:xfrm>
            <a:off x="3548063" y="2405063"/>
            <a:ext cx="5334000" cy="831850"/>
          </a:xfrm>
          <a:prstGeom prst="rect">
            <a:avLst/>
          </a:prstGeom>
          <a:no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CC0000"/>
                </a:solidFill>
                <a:latin typeface="宋体" panose="02010600030101010101" pitchFamily="2" charset="-122"/>
              </a:rPr>
              <a:t>学分</a:t>
            </a:r>
            <a:r>
              <a:rPr lang="zh-CN" altLang="en-US" sz="2400" dirty="0">
                <a:latin typeface="宋体" panose="02010600030101010101" pitchFamily="2" charset="-122"/>
              </a:rPr>
              <a:t>在</a:t>
            </a:r>
            <a:r>
              <a:rPr lang="zh-CN" altLang="en-US" sz="2400" dirty="0">
                <a:solidFill>
                  <a:srgbClr val="800080"/>
                </a:solidFill>
                <a:latin typeface="宋体" panose="02010600030101010101" pitchFamily="2" charset="-122"/>
              </a:rPr>
              <a:t>C</a:t>
            </a:r>
            <a:r>
              <a:rPr lang="zh-CN" altLang="en-US" sz="2400" dirty="0">
                <a:latin typeface="宋体" panose="02010600030101010101" pitchFamily="2" charset="-122"/>
              </a:rPr>
              <a:t>中，</a:t>
            </a:r>
            <a:r>
              <a:rPr lang="zh-CN" altLang="en-US" sz="2400" dirty="0">
                <a:solidFill>
                  <a:srgbClr val="CC0000"/>
                </a:solidFill>
                <a:latin typeface="宋体" panose="02010600030101010101" pitchFamily="2" charset="-122"/>
              </a:rPr>
              <a:t>学号和课程号</a:t>
            </a:r>
            <a:r>
              <a:rPr lang="zh-CN" altLang="en-US" sz="2400" dirty="0">
                <a:latin typeface="宋体" panose="02010600030101010101" pitchFamily="2" charset="-122"/>
              </a:rPr>
              <a:t>在</a:t>
            </a:r>
            <a:r>
              <a:rPr lang="zh-CN" altLang="en-US" sz="2400" dirty="0">
                <a:solidFill>
                  <a:srgbClr val="800080"/>
                </a:solidFill>
                <a:latin typeface="宋体" panose="02010600030101010101" pitchFamily="2" charset="-122"/>
              </a:rPr>
              <a:t>E</a:t>
            </a:r>
            <a:r>
              <a:rPr lang="zh-CN" altLang="en-US" sz="2400" dirty="0">
                <a:latin typeface="宋体" panose="02010600030101010101" pitchFamily="2" charset="-122"/>
              </a:rPr>
              <a:t>中，</a:t>
            </a:r>
            <a:r>
              <a:rPr lang="zh-CN" altLang="en-US" sz="2400" dirty="0">
                <a:solidFill>
                  <a:srgbClr val="CC0000"/>
                </a:solidFill>
                <a:latin typeface="宋体" panose="02010600030101010101" pitchFamily="2" charset="-122"/>
              </a:rPr>
              <a:t>姓名</a:t>
            </a:r>
            <a:r>
              <a:rPr lang="zh-CN" altLang="en-US" sz="2400" dirty="0">
                <a:latin typeface="宋体" panose="02010600030101010101" pitchFamily="2" charset="-122"/>
              </a:rPr>
              <a:t>在</a:t>
            </a:r>
            <a:r>
              <a:rPr lang="zh-CN" altLang="en-US" sz="2400" dirty="0">
                <a:solidFill>
                  <a:srgbClr val="800080"/>
                </a:solidFill>
                <a:latin typeface="宋体" panose="02010600030101010101" pitchFamily="2" charset="-122"/>
              </a:rPr>
              <a:t>S</a:t>
            </a:r>
            <a:r>
              <a:rPr lang="zh-CN" altLang="en-US" sz="2400" dirty="0">
                <a:latin typeface="宋体" panose="02010600030101010101" pitchFamily="2" charset="-122"/>
              </a:rPr>
              <a:t>中。该查询涉及S，C，E。</a:t>
            </a:r>
            <a:endParaRPr lang="de-DE" altLang="en-US" sz="2400" dirty="0">
              <a:latin typeface="宋体" panose="02010600030101010101" pitchFamily="2" charset="-122"/>
            </a:endParaRPr>
          </a:p>
        </p:txBody>
      </p:sp>
      <p:sp>
        <p:nvSpPr>
          <p:cNvPr id="131082" name="Text Box 10"/>
          <p:cNvSpPr txBox="1"/>
          <p:nvPr/>
        </p:nvSpPr>
        <p:spPr>
          <a:xfrm>
            <a:off x="3490913" y="3376613"/>
            <a:ext cx="5459412" cy="2384425"/>
          </a:xfrm>
          <a:prstGeom prst="rect">
            <a:avLst/>
          </a:prstGeom>
          <a:no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ts val="200"/>
              </a:spcBef>
              <a:buClrTx/>
              <a:buSzTx/>
              <a:buFont typeface="Arial" panose="020B0604020202020204" pitchFamily="34" charset="0"/>
              <a:buAutoNum type="arabicPeriod"/>
            </a:pPr>
            <a:r>
              <a:rPr lang="zh-CN" altLang="en-US" sz="2400" dirty="0">
                <a:latin typeface="宋体" panose="02010600030101010101" pitchFamily="2" charset="-122"/>
              </a:rPr>
              <a:t>先在C中选择学分为3的行 </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 </a:t>
            </a:r>
            <a:endParaRPr lang="zh-CN" altLang="en-US" sz="2400" dirty="0">
              <a:latin typeface="宋体" panose="02010600030101010101" pitchFamily="2" charset="-122"/>
            </a:endParaRPr>
          </a:p>
          <a:p>
            <a:pPr marL="457200" lvl="0" indent="-457200" eaLnBrk="1" hangingPunct="1">
              <a:spcBef>
                <a:spcPts val="200"/>
              </a:spcBef>
              <a:buClrTx/>
              <a:buSzTx/>
              <a:buFont typeface="Arial" panose="020B0604020202020204" pitchFamily="34" charset="0"/>
              <a:buAutoNum type="arabicPeriod"/>
            </a:pPr>
            <a:r>
              <a:rPr lang="zh-CN" altLang="en-US" sz="2400" dirty="0">
                <a:latin typeface="宋体" panose="02010600030101010101" pitchFamily="2" charset="-122"/>
                <a:sym typeface="Symbol" panose="05050102010706020507" pitchFamily="18" charset="2"/>
              </a:rPr>
              <a:t>将结果投影到课程号上；</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AutoNum type="arabicPeriod"/>
            </a:pPr>
            <a:r>
              <a:rPr lang="zh-CN" altLang="en-US" sz="2400" dirty="0">
                <a:latin typeface="宋体" panose="02010600030101010101" pitchFamily="2" charset="-122"/>
                <a:sym typeface="Symbol" panose="05050102010706020507" pitchFamily="18" charset="2"/>
              </a:rPr>
              <a:t>利用改名操作，将中间结果命名为</a:t>
            </a:r>
            <a:r>
              <a:rPr lang="de-DE" altLang="en-US" sz="2400" dirty="0">
                <a:latin typeface="宋体" panose="02010600030101010101" pitchFamily="2" charset="-122"/>
                <a:sym typeface="Symbol" panose="05050102010706020507" pitchFamily="18" charset="2"/>
              </a:rPr>
              <a:t>tmp1;</a:t>
            </a:r>
            <a:r>
              <a:rPr lang="zh-CN" altLang="en-US" sz="2400" dirty="0">
                <a:latin typeface="宋体" panose="02010600030101010101" pitchFamily="2" charset="-122"/>
                <a:sym typeface="Symbol" panose="05050102010706020507" pitchFamily="18" charset="2"/>
              </a:rPr>
              <a:t>   </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en-US" altLang="zh-CN" sz="2400" dirty="0">
                <a:latin typeface="宋体" panose="02010600030101010101" pitchFamily="2" charset="-122"/>
                <a:sym typeface="Symbol" panose="05050102010706020507" pitchFamily="18" charset="2"/>
              </a:rPr>
              <a:t>   </a:t>
            </a:r>
            <a:r>
              <a:rPr lang="zh-CN" altLang="en-US" sz="2400" dirty="0">
                <a:latin typeface="宋体" panose="02010600030101010101" pitchFamily="2" charset="-122"/>
                <a:sym typeface="Symbol" panose="05050102010706020507" pitchFamily="18" charset="2"/>
              </a:rPr>
              <a:t>（tmp1，</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a:t>
            </a:r>
            <a:endParaRPr lang="zh-CN" altLang="en-US" sz="2400" dirty="0">
              <a:latin typeface="宋体" panose="02010600030101010101" pitchFamily="2" charset="-122"/>
              <a:sym typeface="Symbol" panose="05050102010706020507" pitchFamily="18" charset="2"/>
            </a:endParaRPr>
          </a:p>
        </p:txBody>
      </p:sp>
      <p:sp>
        <p:nvSpPr>
          <p:cNvPr id="131083" name="Line 11"/>
          <p:cNvSpPr/>
          <p:nvPr/>
        </p:nvSpPr>
        <p:spPr>
          <a:xfrm>
            <a:off x="2989263" y="2714625"/>
            <a:ext cx="457200" cy="0"/>
          </a:xfrm>
          <a:prstGeom prst="line">
            <a:avLst/>
          </a:prstGeom>
          <a:ln w="28575" cap="flat" cmpd="sng">
            <a:solidFill>
              <a:schemeClr val="tx1"/>
            </a:solidFill>
            <a:prstDash val="dash"/>
            <a:headEnd type="none" w="med" len="med"/>
            <a:tailEnd type="triangle" w="med" len="med"/>
          </a:ln>
        </p:spPr>
      </p:sp>
      <p:grpSp>
        <p:nvGrpSpPr>
          <p:cNvPr id="131084" name="组合 54"/>
          <p:cNvGrpSpPr/>
          <p:nvPr/>
        </p:nvGrpSpPr>
        <p:grpSpPr>
          <a:xfrm>
            <a:off x="179388" y="4654550"/>
            <a:ext cx="8964612" cy="1646238"/>
            <a:chOff x="0" y="0"/>
            <a:chExt cx="8964613" cy="1646237"/>
          </a:xfrm>
        </p:grpSpPr>
        <p:sp>
          <p:nvSpPr>
            <p:cNvPr id="178204" name="Text Box 13"/>
            <p:cNvSpPr txBox="1"/>
            <p:nvPr/>
          </p:nvSpPr>
          <p:spPr>
            <a:xfrm>
              <a:off x="0" y="0"/>
              <a:ext cx="8964613" cy="1646237"/>
            </a:xfrm>
            <a:prstGeom prst="rect">
              <a:avLst/>
            </a:prstGeom>
            <a:solidFill>
              <a:srgbClr val="F5CDA5"/>
            </a:solidFill>
            <a:ln w="9525" cap="flat" cmpd="sng">
              <a:solidFill>
                <a:srgbClr val="CC0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4.与E自然联结产生选修了指定课程的学号，（tmp2,tmp1     E)</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5.将结果与S自然联结产生选修了指定课程的学生信息</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   （tmp3,tmp2     S)</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ts val="20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6.将结果投影到学生姓名上.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zh-CN" altLang="en-US" sz="2400" dirty="0">
                  <a:latin typeface="宋体" panose="02010600030101010101" pitchFamily="2" charset="-122"/>
                  <a:sym typeface="Symbol" panose="05050102010706020507" pitchFamily="18" charset="2"/>
                </a:rPr>
                <a:t>（tmp3)</a:t>
              </a:r>
              <a:endParaRPr lang="de-DE" altLang="en-US" sz="2400" dirty="0">
                <a:latin typeface="宋体" panose="02010600030101010101" pitchFamily="2" charset="-122"/>
              </a:endParaRPr>
            </a:p>
          </p:txBody>
        </p:sp>
        <p:sp>
          <p:nvSpPr>
            <p:cNvPr id="178205" name="Line 21"/>
            <p:cNvSpPr/>
            <p:nvPr/>
          </p:nvSpPr>
          <p:spPr>
            <a:xfrm flipH="1">
              <a:off x="8070105" y="177801"/>
              <a:ext cx="0" cy="152400"/>
            </a:xfrm>
            <a:prstGeom prst="line">
              <a:avLst/>
            </a:prstGeom>
            <a:ln w="28575" cap="flat" cmpd="sng">
              <a:solidFill>
                <a:schemeClr val="tx1"/>
              </a:solidFill>
              <a:prstDash val="solid"/>
              <a:headEnd type="none" w="med" len="med"/>
              <a:tailEnd type="none" w="med" len="med"/>
            </a:ln>
          </p:spPr>
        </p:sp>
        <p:sp>
          <p:nvSpPr>
            <p:cNvPr id="178206" name="Line 22"/>
            <p:cNvSpPr/>
            <p:nvPr/>
          </p:nvSpPr>
          <p:spPr>
            <a:xfrm flipH="1">
              <a:off x="8070105" y="177801"/>
              <a:ext cx="471734" cy="152400"/>
            </a:xfrm>
            <a:prstGeom prst="line">
              <a:avLst/>
            </a:prstGeom>
            <a:ln w="28575" cap="flat" cmpd="sng">
              <a:solidFill>
                <a:schemeClr val="tx1"/>
              </a:solidFill>
              <a:prstDash val="solid"/>
              <a:headEnd type="none" w="med" len="med"/>
              <a:tailEnd type="none" w="med" len="med"/>
            </a:ln>
          </p:spPr>
        </p:sp>
        <p:sp>
          <p:nvSpPr>
            <p:cNvPr id="178207" name="Line 23"/>
            <p:cNvSpPr/>
            <p:nvPr/>
          </p:nvSpPr>
          <p:spPr>
            <a:xfrm>
              <a:off x="8070105" y="177801"/>
              <a:ext cx="471734" cy="152400"/>
            </a:xfrm>
            <a:prstGeom prst="line">
              <a:avLst/>
            </a:prstGeom>
            <a:ln w="28575" cap="flat" cmpd="sng">
              <a:solidFill>
                <a:schemeClr val="tx1"/>
              </a:solidFill>
              <a:prstDash val="solid"/>
              <a:headEnd type="none" w="med" len="med"/>
              <a:tailEnd type="none" w="med" len="med"/>
            </a:ln>
          </p:spPr>
        </p:sp>
        <p:sp>
          <p:nvSpPr>
            <p:cNvPr id="178208" name="Line 21"/>
            <p:cNvSpPr/>
            <p:nvPr/>
          </p:nvSpPr>
          <p:spPr>
            <a:xfrm flipH="1">
              <a:off x="8512785" y="156033"/>
              <a:ext cx="0" cy="152400"/>
            </a:xfrm>
            <a:prstGeom prst="line">
              <a:avLst/>
            </a:prstGeom>
            <a:ln w="28575" cap="flat" cmpd="sng">
              <a:solidFill>
                <a:schemeClr val="tx1"/>
              </a:solidFill>
              <a:prstDash val="solid"/>
              <a:headEnd type="none" w="med" len="med"/>
              <a:tailEnd type="none" w="med" len="med"/>
            </a:ln>
          </p:spPr>
        </p:sp>
        <p:sp>
          <p:nvSpPr>
            <p:cNvPr id="178209" name="Line 21"/>
            <p:cNvSpPr/>
            <p:nvPr/>
          </p:nvSpPr>
          <p:spPr>
            <a:xfrm flipH="1">
              <a:off x="2590962" y="954315"/>
              <a:ext cx="0" cy="152400"/>
            </a:xfrm>
            <a:prstGeom prst="line">
              <a:avLst/>
            </a:prstGeom>
            <a:ln w="28575" cap="flat" cmpd="sng">
              <a:solidFill>
                <a:schemeClr val="tx1"/>
              </a:solidFill>
              <a:prstDash val="solid"/>
              <a:headEnd type="none" w="med" len="med"/>
              <a:tailEnd type="none" w="med" len="med"/>
            </a:ln>
          </p:spPr>
        </p:sp>
        <p:sp>
          <p:nvSpPr>
            <p:cNvPr id="178210" name="Line 22"/>
            <p:cNvSpPr/>
            <p:nvPr/>
          </p:nvSpPr>
          <p:spPr>
            <a:xfrm flipH="1">
              <a:off x="2590962" y="954315"/>
              <a:ext cx="471734" cy="152400"/>
            </a:xfrm>
            <a:prstGeom prst="line">
              <a:avLst/>
            </a:prstGeom>
            <a:ln w="28575" cap="flat" cmpd="sng">
              <a:solidFill>
                <a:schemeClr val="tx1"/>
              </a:solidFill>
              <a:prstDash val="solid"/>
              <a:headEnd type="none" w="med" len="med"/>
              <a:tailEnd type="none" w="med" len="med"/>
            </a:ln>
          </p:spPr>
        </p:sp>
        <p:sp>
          <p:nvSpPr>
            <p:cNvPr id="178211" name="Line 23"/>
            <p:cNvSpPr/>
            <p:nvPr/>
          </p:nvSpPr>
          <p:spPr>
            <a:xfrm>
              <a:off x="2590962" y="954315"/>
              <a:ext cx="471734" cy="152400"/>
            </a:xfrm>
            <a:prstGeom prst="line">
              <a:avLst/>
            </a:prstGeom>
            <a:ln w="28575" cap="flat" cmpd="sng">
              <a:solidFill>
                <a:schemeClr val="tx1"/>
              </a:solidFill>
              <a:prstDash val="solid"/>
              <a:headEnd type="none" w="med" len="med"/>
              <a:tailEnd type="none" w="med" len="med"/>
            </a:ln>
          </p:spPr>
        </p:sp>
        <p:sp>
          <p:nvSpPr>
            <p:cNvPr id="178212" name="Line 21"/>
            <p:cNvSpPr/>
            <p:nvPr/>
          </p:nvSpPr>
          <p:spPr>
            <a:xfrm flipH="1">
              <a:off x="3033642" y="932547"/>
              <a:ext cx="0" cy="152400"/>
            </a:xfrm>
            <a:prstGeom prst="line">
              <a:avLst/>
            </a:prstGeom>
            <a:ln w="28575" cap="flat" cmpd="sng">
              <a:solidFill>
                <a:schemeClr val="tx1"/>
              </a:solidFill>
              <a:prstDash val="solid"/>
              <a:headEnd type="none" w="med" len="med"/>
              <a:tailEnd type="none" w="med" len="med"/>
            </a:ln>
          </p:spPr>
        </p:sp>
      </p:grpSp>
      <p:grpSp>
        <p:nvGrpSpPr>
          <p:cNvPr id="131094" name="组合 67"/>
          <p:cNvGrpSpPr/>
          <p:nvPr/>
        </p:nvGrpSpPr>
        <p:grpSpPr>
          <a:xfrm>
            <a:off x="293688" y="3927475"/>
            <a:ext cx="8467725" cy="1736725"/>
            <a:chOff x="0" y="0"/>
            <a:chExt cx="8467726" cy="1736726"/>
          </a:xfrm>
        </p:grpSpPr>
        <p:grpSp>
          <p:nvGrpSpPr>
            <p:cNvPr id="178191" name="Group 24"/>
            <p:cNvGrpSpPr/>
            <p:nvPr/>
          </p:nvGrpSpPr>
          <p:grpSpPr>
            <a:xfrm>
              <a:off x="0" y="0"/>
              <a:ext cx="8467726" cy="1736726"/>
              <a:chOff x="0" y="0"/>
              <a:chExt cx="5334" cy="1094"/>
            </a:xfrm>
          </p:grpSpPr>
          <p:sp>
            <p:nvSpPr>
              <p:cNvPr id="178202" name="Text Box 25"/>
              <p:cNvSpPr txBox="1"/>
              <p:nvPr/>
            </p:nvSpPr>
            <p:spPr>
              <a:xfrm>
                <a:off x="0" y="57"/>
                <a:ext cx="5280" cy="1037"/>
              </a:xfrm>
              <a:prstGeom prst="rect">
                <a:avLst/>
              </a:prstGeom>
              <a:solidFill>
                <a:srgbClr val="CCFFFF"/>
              </a:solidFill>
              <a:ln w="9525" cap="flat" cmpd="sng">
                <a:solidFill>
                  <a:srgbClr val="80008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最后的表达式:</a:t>
                </a:r>
                <a:endParaRPr lang="zh-CN" altLang="en-US" sz="2400" dirty="0">
                  <a:latin typeface="宋体" panose="02010600030101010101" pitchFamily="2" charset="-122"/>
                </a:endParaRPr>
              </a:p>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对应的SQL语句为</a:t>
                </a:r>
                <a:endParaRPr lang="en-US" altLang="zh-CN" sz="2400" dirty="0">
                  <a:latin typeface="宋体" panose="02010600030101010101" pitchFamily="2" charset="-122"/>
                </a:endParaRPr>
              </a:p>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 Select sname From  S, C, E</a:t>
                </a:r>
                <a:endParaRPr lang="zh-CN" altLang="en-US" sz="2400" dirty="0">
                  <a:latin typeface="宋体" panose="02010600030101010101" pitchFamily="2" charset="-122"/>
                </a:endParaRPr>
              </a:p>
              <a:p>
                <a:pPr marL="0" lvl="0" indent="0" eaLnBrk="1" hangingPunct="1">
                  <a:spcBef>
                    <a:spcPts val="200"/>
                  </a:spcBef>
                  <a:buClrTx/>
                  <a:buSzTx/>
                  <a:buFont typeface="Arial" panose="020B0604020202020204" pitchFamily="34" charset="0"/>
                  <a:buNone/>
                </a:pPr>
                <a:r>
                  <a:rPr lang="zh-CN" altLang="en-US" sz="2400" dirty="0">
                    <a:latin typeface="宋体" panose="02010600030101010101" pitchFamily="2" charset="-122"/>
                  </a:rPr>
                  <a:t> Where S.sid=E.sid AND E.cid=C.cid AND C.credit=3</a:t>
                </a:r>
                <a:endParaRPr lang="de-DE" altLang="en-US" sz="2400" dirty="0">
                  <a:latin typeface="宋体" panose="02010600030101010101" pitchFamily="2" charset="-122"/>
                </a:endParaRPr>
              </a:p>
            </p:txBody>
          </p:sp>
          <p:sp>
            <p:nvSpPr>
              <p:cNvPr id="178203" name="Rectangle 26"/>
              <p:cNvSpPr/>
              <p:nvPr/>
            </p:nvSpPr>
            <p:spPr>
              <a:xfrm>
                <a:off x="1398" y="0"/>
                <a:ext cx="3936" cy="48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Char char="•"/>
                </a:pP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zh-CN" altLang="en-US" sz="2400" dirty="0">
                    <a:latin typeface="宋体" panose="02010600030101010101" pitchFamily="2" charset="-122"/>
                    <a:sym typeface="Symbol" panose="05050102010706020507" pitchFamily="18" charset="2"/>
                  </a:rPr>
                  <a:t>(（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    E)    S)</a:t>
                </a:r>
                <a:endParaRPr lang="de-DE" altLang="en-US" sz="2400" dirty="0">
                  <a:latin typeface="宋体" panose="02010600030101010101" pitchFamily="2" charset="-122"/>
                </a:endParaRPr>
              </a:p>
            </p:txBody>
          </p:sp>
        </p:grpSp>
        <p:grpSp>
          <p:nvGrpSpPr>
            <p:cNvPr id="178192" name="Group 8"/>
            <p:cNvGrpSpPr/>
            <p:nvPr/>
          </p:nvGrpSpPr>
          <p:grpSpPr>
            <a:xfrm flipH="1">
              <a:off x="6402616" y="353640"/>
              <a:ext cx="472272" cy="166968"/>
              <a:chOff x="0" y="0"/>
              <a:chExt cx="188" cy="149"/>
            </a:xfrm>
          </p:grpSpPr>
          <p:sp>
            <p:nvSpPr>
              <p:cNvPr id="178198" name="Line 9"/>
              <p:cNvSpPr/>
              <p:nvPr/>
            </p:nvSpPr>
            <p:spPr>
              <a:xfrm>
                <a:off x="0" y="13"/>
                <a:ext cx="0" cy="136"/>
              </a:xfrm>
              <a:prstGeom prst="line">
                <a:avLst/>
              </a:prstGeom>
              <a:ln w="19050" cap="flat" cmpd="sng">
                <a:solidFill>
                  <a:schemeClr val="tx1"/>
                </a:solidFill>
                <a:prstDash val="solid"/>
                <a:headEnd type="none" w="med" len="med"/>
                <a:tailEnd type="none" w="med" len="med"/>
              </a:ln>
            </p:spPr>
          </p:sp>
          <p:sp>
            <p:nvSpPr>
              <p:cNvPr id="178199"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78200" name="Line 11"/>
              <p:cNvSpPr/>
              <p:nvPr/>
            </p:nvSpPr>
            <p:spPr>
              <a:xfrm>
                <a:off x="6" y="13"/>
                <a:ext cx="182" cy="136"/>
              </a:xfrm>
              <a:prstGeom prst="line">
                <a:avLst/>
              </a:prstGeom>
              <a:ln w="19050" cap="flat" cmpd="sng">
                <a:solidFill>
                  <a:schemeClr val="tx1"/>
                </a:solidFill>
                <a:prstDash val="solid"/>
                <a:headEnd type="none" w="med" len="med"/>
                <a:tailEnd type="none" w="med" len="med"/>
              </a:ln>
            </p:spPr>
          </p:sp>
          <p:sp>
            <p:nvSpPr>
              <p:cNvPr id="178201" name="Line 12"/>
              <p:cNvSpPr/>
              <p:nvPr/>
            </p:nvSpPr>
            <p:spPr>
              <a:xfrm flipH="1">
                <a:off x="6" y="13"/>
                <a:ext cx="182" cy="136"/>
              </a:xfrm>
              <a:prstGeom prst="line">
                <a:avLst/>
              </a:prstGeom>
              <a:ln w="19050" cap="flat" cmpd="sng">
                <a:solidFill>
                  <a:schemeClr val="tx1"/>
                </a:solidFill>
                <a:prstDash val="solid"/>
                <a:headEnd type="none" w="med" len="med"/>
                <a:tailEnd type="none" w="med" len="med"/>
              </a:ln>
            </p:spPr>
          </p:sp>
        </p:grpSp>
        <p:grpSp>
          <p:nvGrpSpPr>
            <p:cNvPr id="178193" name="Group 8"/>
            <p:cNvGrpSpPr/>
            <p:nvPr/>
          </p:nvGrpSpPr>
          <p:grpSpPr>
            <a:xfrm flipH="1">
              <a:off x="7426990" y="375469"/>
              <a:ext cx="484833" cy="181535"/>
              <a:chOff x="0" y="0"/>
              <a:chExt cx="193" cy="162"/>
            </a:xfrm>
          </p:grpSpPr>
          <p:sp>
            <p:nvSpPr>
              <p:cNvPr id="178194" name="Line 9"/>
              <p:cNvSpPr/>
              <p:nvPr/>
            </p:nvSpPr>
            <p:spPr>
              <a:xfrm>
                <a:off x="17" y="0"/>
                <a:ext cx="0" cy="136"/>
              </a:xfrm>
              <a:prstGeom prst="line">
                <a:avLst/>
              </a:prstGeom>
              <a:ln w="19050" cap="flat" cmpd="sng">
                <a:solidFill>
                  <a:schemeClr val="tx1"/>
                </a:solidFill>
                <a:prstDash val="solid"/>
                <a:headEnd type="none" w="med" len="med"/>
                <a:tailEnd type="none" w="med" len="med"/>
              </a:ln>
            </p:spPr>
          </p:sp>
          <p:sp>
            <p:nvSpPr>
              <p:cNvPr id="178195" name="Line 10"/>
              <p:cNvSpPr/>
              <p:nvPr/>
            </p:nvSpPr>
            <p:spPr>
              <a:xfrm>
                <a:off x="193" y="26"/>
                <a:ext cx="0" cy="136"/>
              </a:xfrm>
              <a:prstGeom prst="line">
                <a:avLst/>
              </a:prstGeom>
              <a:ln w="19050" cap="flat" cmpd="sng">
                <a:solidFill>
                  <a:schemeClr val="tx1"/>
                </a:solidFill>
                <a:prstDash val="solid"/>
                <a:headEnd type="none" w="med" len="med"/>
                <a:tailEnd type="none" w="med" len="med"/>
              </a:ln>
            </p:spPr>
          </p:sp>
          <p:sp>
            <p:nvSpPr>
              <p:cNvPr id="178196"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78197"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grpSp>
      <p:sp>
        <p:nvSpPr>
          <p:cNvPr id="17819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31075"/>
                                        </p:tgtEl>
                                        <p:attrNameLst>
                                          <p:attrName>style.visibility</p:attrName>
                                        </p:attrNameLst>
                                      </p:cBhvr>
                                      <p:to>
                                        <p:strVal val="visible"/>
                                      </p:to>
                                    </p:set>
                                    <p:animEffect transition="in" filter="box(in)">
                                      <p:cBhvr>
                                        <p:cTn id="7" dur="500"/>
                                        <p:tgtEl>
                                          <p:spTgt spid="13107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nodeType="clickEffect">
                                  <p:stCondLst>
                                    <p:cond delay="0"/>
                                  </p:stCondLst>
                                  <p:childTnLst>
                                    <p:set>
                                      <p:cBhvr>
                                        <p:cTn id="11" dur="1" fill="hold">
                                          <p:stCondLst>
                                            <p:cond delay="0"/>
                                          </p:stCondLst>
                                        </p:cTn>
                                        <p:tgtEl>
                                          <p:spTgt spid="131078"/>
                                        </p:tgtEl>
                                        <p:attrNameLst>
                                          <p:attrName>style.visibility</p:attrName>
                                        </p:attrNameLst>
                                      </p:cBhvr>
                                      <p:to>
                                        <p:strVal val="visible"/>
                                      </p:to>
                                    </p:set>
                                    <p:anim calcmode="lin" valueType="num">
                                      <p:cBhvr>
                                        <p:cTn id="12" dur="500" fill="hold"/>
                                        <p:tgtEl>
                                          <p:spTgt spid="131078"/>
                                        </p:tgtEl>
                                        <p:attrNameLst>
                                          <p:attrName>ppt_w</p:attrName>
                                        </p:attrNameLst>
                                      </p:cBhvr>
                                      <p:tavLst>
                                        <p:tav tm="0">
                                          <p:val>
                                            <p:fltVal val="0.000000"/>
                                          </p:val>
                                        </p:tav>
                                        <p:tav tm="100000">
                                          <p:val>
                                            <p:strVal val="#ppt_w"/>
                                          </p:val>
                                        </p:tav>
                                      </p:tavLst>
                                    </p:anim>
                                    <p:anim calcmode="lin" valueType="num">
                                      <p:cBhvr>
                                        <p:cTn id="13" dur="500" fill="hold"/>
                                        <p:tgtEl>
                                          <p:spTgt spid="131078"/>
                                        </p:tgtEl>
                                        <p:attrNameLst>
                                          <p:attrName>ppt_h</p:attrName>
                                        </p:attrNameLst>
                                      </p:cBhvr>
                                      <p:tavLst>
                                        <p:tav tm="0">
                                          <p:val>
                                            <p:fltVal val="0.00000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131079"/>
                                        </p:tgtEl>
                                        <p:attrNameLst>
                                          <p:attrName>style.visibility</p:attrName>
                                        </p:attrNameLst>
                                      </p:cBhvr>
                                      <p:to>
                                        <p:strVal val="visible"/>
                                      </p:to>
                                    </p:set>
                                    <p:animEffect transition="in" filter="dissolve">
                                      <p:cBhvr>
                                        <p:cTn id="18" dur="500"/>
                                        <p:tgtEl>
                                          <p:spTgt spid="131079"/>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131076"/>
                                        </p:tgtEl>
                                        <p:attrNameLst>
                                          <p:attrName>style.visibility</p:attrName>
                                        </p:attrNameLst>
                                      </p:cBhvr>
                                      <p:to>
                                        <p:strVal val="visible"/>
                                      </p:to>
                                    </p:set>
                                    <p:animEffect transition="in" filter="box(in)">
                                      <p:cBhvr>
                                        <p:cTn id="23" dur="500"/>
                                        <p:tgtEl>
                                          <p:spTgt spid="131076"/>
                                        </p:tgtEl>
                                      </p:cBhvr>
                                    </p:animEffect>
                                  </p:childTnLst>
                                </p:cTn>
                              </p:par>
                            </p:childTnLst>
                          </p:cTn>
                        </p:par>
                      </p:childTnLst>
                    </p:cTn>
                  </p:par>
                  <p:par>
                    <p:cTn id="24" fill="hold">
                      <p:stCondLst>
                        <p:cond delay="indefinite"/>
                      </p:stCondLst>
                      <p:childTnLst>
                        <p:par>
                          <p:cTn id="25" fill="hold">
                            <p:stCondLst>
                              <p:cond delay="0"/>
                            </p:stCondLst>
                            <p:childTnLst>
                              <p:par>
                                <p:cTn id="26" presetID="23" presetClass="entr" presetSubtype="16" fill="hold" nodeType="clickEffect">
                                  <p:stCondLst>
                                    <p:cond delay="0"/>
                                  </p:stCondLst>
                                  <p:childTnLst>
                                    <p:set>
                                      <p:cBhvr>
                                        <p:cTn id="27" dur="1" fill="hold">
                                          <p:stCondLst>
                                            <p:cond delay="0"/>
                                          </p:stCondLst>
                                        </p:cTn>
                                        <p:tgtEl>
                                          <p:spTgt spid="131083"/>
                                        </p:tgtEl>
                                        <p:attrNameLst>
                                          <p:attrName>style.visibility</p:attrName>
                                        </p:attrNameLst>
                                      </p:cBhvr>
                                      <p:to>
                                        <p:strVal val="visible"/>
                                      </p:to>
                                    </p:set>
                                    <p:anim calcmode="lin" valueType="num">
                                      <p:cBhvr>
                                        <p:cTn id="28" dur="500" fill="hold"/>
                                        <p:tgtEl>
                                          <p:spTgt spid="131083"/>
                                        </p:tgtEl>
                                        <p:attrNameLst>
                                          <p:attrName>ppt_w</p:attrName>
                                        </p:attrNameLst>
                                      </p:cBhvr>
                                      <p:tavLst>
                                        <p:tav tm="0">
                                          <p:val>
                                            <p:fltVal val="0.000000"/>
                                          </p:val>
                                        </p:tav>
                                        <p:tav tm="100000">
                                          <p:val>
                                            <p:strVal val="#ppt_w"/>
                                          </p:val>
                                        </p:tav>
                                      </p:tavLst>
                                    </p:anim>
                                    <p:anim calcmode="lin" valueType="num">
                                      <p:cBhvr>
                                        <p:cTn id="29" dur="500" fill="hold"/>
                                        <p:tgtEl>
                                          <p:spTgt spid="131083"/>
                                        </p:tgtEl>
                                        <p:attrNameLst>
                                          <p:attrName>ppt_h</p:attrName>
                                        </p:attrNameLst>
                                      </p:cBhvr>
                                      <p:tavLst>
                                        <p:tav tm="0">
                                          <p:val>
                                            <p:fltVal val="0.00000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1081"/>
                                        </p:tgtEl>
                                        <p:attrNameLst>
                                          <p:attrName>style.visibility</p:attrName>
                                        </p:attrNameLst>
                                      </p:cBhvr>
                                      <p:to>
                                        <p:strVal val="visible"/>
                                      </p:to>
                                    </p:set>
                                    <p:animEffect transition="in" filter="dissolve">
                                      <p:cBhvr>
                                        <p:cTn id="34" dur="500"/>
                                        <p:tgtEl>
                                          <p:spTgt spid="131081"/>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31077"/>
                                        </p:tgtEl>
                                        <p:attrNameLst>
                                          <p:attrName>style.visibility</p:attrName>
                                        </p:attrNameLst>
                                      </p:cBhvr>
                                      <p:to>
                                        <p:strVal val="visible"/>
                                      </p:to>
                                    </p:set>
                                    <p:animEffect transition="in" filter="box(in)">
                                      <p:cBhvr>
                                        <p:cTn id="39" dur="500"/>
                                        <p:tgtEl>
                                          <p:spTgt spid="131077"/>
                                        </p:tgtEl>
                                      </p:cBhvr>
                                    </p:animEffect>
                                  </p:childTnLst>
                                </p:cTn>
                              </p:par>
                            </p:childTnLst>
                          </p:cTn>
                        </p:par>
                      </p:childTnLst>
                    </p:cTn>
                  </p:par>
                  <p:par>
                    <p:cTn id="40" fill="hold">
                      <p:stCondLst>
                        <p:cond delay="indefinite"/>
                      </p:stCondLst>
                      <p:childTnLst>
                        <p:par>
                          <p:cTn id="41" fill="hold">
                            <p:stCondLst>
                              <p:cond delay="0"/>
                            </p:stCondLst>
                            <p:childTnLst>
                              <p:par>
                                <p:cTn id="42" presetID="23" presetClass="entr" presetSubtype="16" fill="hold" nodeType="clickEffect">
                                  <p:stCondLst>
                                    <p:cond delay="0"/>
                                  </p:stCondLst>
                                  <p:childTnLst>
                                    <p:set>
                                      <p:cBhvr>
                                        <p:cTn id="43" dur="1" fill="hold">
                                          <p:stCondLst>
                                            <p:cond delay="0"/>
                                          </p:stCondLst>
                                        </p:cTn>
                                        <p:tgtEl>
                                          <p:spTgt spid="131080"/>
                                        </p:tgtEl>
                                        <p:attrNameLst>
                                          <p:attrName>style.visibility</p:attrName>
                                        </p:attrNameLst>
                                      </p:cBhvr>
                                      <p:to>
                                        <p:strVal val="visible"/>
                                      </p:to>
                                    </p:set>
                                    <p:anim calcmode="lin" valueType="num">
                                      <p:cBhvr>
                                        <p:cTn id="44" dur="500" fill="hold"/>
                                        <p:tgtEl>
                                          <p:spTgt spid="131080"/>
                                        </p:tgtEl>
                                        <p:attrNameLst>
                                          <p:attrName>ppt_w</p:attrName>
                                        </p:attrNameLst>
                                      </p:cBhvr>
                                      <p:tavLst>
                                        <p:tav tm="0">
                                          <p:val>
                                            <p:fltVal val="0.000000"/>
                                          </p:val>
                                        </p:tav>
                                        <p:tav tm="100000">
                                          <p:val>
                                            <p:strVal val="#ppt_w"/>
                                          </p:val>
                                        </p:tav>
                                      </p:tavLst>
                                    </p:anim>
                                    <p:anim calcmode="lin" valueType="num">
                                      <p:cBhvr>
                                        <p:cTn id="45" dur="500" fill="hold"/>
                                        <p:tgtEl>
                                          <p:spTgt spid="131080"/>
                                        </p:tgtEl>
                                        <p:attrNameLst>
                                          <p:attrName>ppt_h</p:attrName>
                                        </p:attrNameLst>
                                      </p:cBhvr>
                                      <p:tavLst>
                                        <p:tav tm="0">
                                          <p:val>
                                            <p:fltVal val="0.000000"/>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grpId="0" nodeType="clickEffect">
                                  <p:stCondLst>
                                    <p:cond delay="0"/>
                                  </p:stCondLst>
                                  <p:childTnLst>
                                    <p:set>
                                      <p:cBhvr>
                                        <p:cTn id="49" dur="1" fill="hold">
                                          <p:stCondLst>
                                            <p:cond delay="0"/>
                                          </p:stCondLst>
                                        </p:cTn>
                                        <p:tgtEl>
                                          <p:spTgt spid="131082"/>
                                        </p:tgtEl>
                                        <p:attrNameLst>
                                          <p:attrName>style.visibility</p:attrName>
                                        </p:attrNameLst>
                                      </p:cBhvr>
                                      <p:to>
                                        <p:strVal val="visible"/>
                                      </p:to>
                                    </p:set>
                                    <p:animEffect transition="in" filter="dissolve">
                                      <p:cBhvr>
                                        <p:cTn id="50" dur="500"/>
                                        <p:tgtEl>
                                          <p:spTgt spid="131082"/>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grpId="0" nodeType="clickEffect">
                                  <p:stCondLst>
                                    <p:cond delay="0"/>
                                  </p:stCondLst>
                                  <p:childTnLst>
                                    <p:set>
                                      <p:cBhvr>
                                        <p:cTn id="54" dur="1" fill="hold">
                                          <p:stCondLst>
                                            <p:cond delay="0"/>
                                          </p:stCondLst>
                                        </p:cTn>
                                        <p:tgtEl>
                                          <p:spTgt spid="131082">
                                            <p:txEl>
                                              <p:charRg st="0" end="27"/>
                                            </p:txEl>
                                          </p:spTgt>
                                        </p:tgtEl>
                                        <p:attrNameLst>
                                          <p:attrName>style.visibility</p:attrName>
                                        </p:attrNameLst>
                                      </p:cBhvr>
                                      <p:to>
                                        <p:strVal val="visible"/>
                                      </p:to>
                                    </p:set>
                                    <p:animEffect transition="in" filter="dissolve">
                                      <p:cBhvr>
                                        <p:cTn id="55" dur="500"/>
                                        <p:tgtEl>
                                          <p:spTgt spid="131082">
                                            <p:txEl>
                                              <p:charRg st="0" end="27"/>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131082">
                                            <p:txEl>
                                              <p:charRg st="27" end="39"/>
                                            </p:txEl>
                                          </p:spTgt>
                                        </p:tgtEl>
                                        <p:attrNameLst>
                                          <p:attrName>style.visibility</p:attrName>
                                        </p:attrNameLst>
                                      </p:cBhvr>
                                      <p:to>
                                        <p:strVal val="visible"/>
                                      </p:to>
                                    </p:set>
                                    <p:animEffect transition="in" filter="dissolve">
                                      <p:cBhvr>
                                        <p:cTn id="60" dur="500"/>
                                        <p:tgtEl>
                                          <p:spTgt spid="131082">
                                            <p:txEl>
                                              <p:charRg st="27" end="39"/>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grpId="0" nodeType="clickEffect">
                                  <p:stCondLst>
                                    <p:cond delay="0"/>
                                  </p:stCondLst>
                                  <p:childTnLst>
                                    <p:set>
                                      <p:cBhvr>
                                        <p:cTn id="64" dur="1" fill="hold">
                                          <p:stCondLst>
                                            <p:cond delay="0"/>
                                          </p:stCondLst>
                                        </p:cTn>
                                        <p:tgtEl>
                                          <p:spTgt spid="131082">
                                            <p:txEl>
                                              <p:charRg st="39" end="63"/>
                                            </p:txEl>
                                          </p:spTgt>
                                        </p:tgtEl>
                                        <p:attrNameLst>
                                          <p:attrName>style.visibility</p:attrName>
                                        </p:attrNameLst>
                                      </p:cBhvr>
                                      <p:to>
                                        <p:strVal val="visible"/>
                                      </p:to>
                                    </p:set>
                                    <p:animEffect transition="in" filter="dissolve">
                                      <p:cBhvr>
                                        <p:cTn id="65" dur="500"/>
                                        <p:tgtEl>
                                          <p:spTgt spid="131082">
                                            <p:txEl>
                                              <p:charRg st="39" end="63"/>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131082">
                                            <p:txEl>
                                              <p:charRg st="63" end="93"/>
                                            </p:txEl>
                                          </p:spTgt>
                                        </p:tgtEl>
                                        <p:attrNameLst>
                                          <p:attrName>style.visibility</p:attrName>
                                        </p:attrNameLst>
                                      </p:cBhvr>
                                      <p:to>
                                        <p:strVal val="visible"/>
                                      </p:to>
                                    </p:set>
                                    <p:animEffect transition="in" filter="dissolve">
                                      <p:cBhvr>
                                        <p:cTn id="70" dur="500"/>
                                        <p:tgtEl>
                                          <p:spTgt spid="131082">
                                            <p:txEl>
                                              <p:charRg st="63" end="93"/>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nodeType="clickEffect">
                                  <p:stCondLst>
                                    <p:cond delay="0"/>
                                  </p:stCondLst>
                                  <p:childTnLst>
                                    <p:set>
                                      <p:cBhvr>
                                        <p:cTn id="74" dur="1" fill="hold">
                                          <p:stCondLst>
                                            <p:cond delay="0"/>
                                          </p:stCondLst>
                                        </p:cTn>
                                        <p:tgtEl>
                                          <p:spTgt spid="131084"/>
                                        </p:tgtEl>
                                        <p:attrNameLst>
                                          <p:attrName>style.visibility</p:attrName>
                                        </p:attrNameLst>
                                      </p:cBhvr>
                                      <p:to>
                                        <p:strVal val="visible"/>
                                      </p:to>
                                    </p:set>
                                    <p:anim calcmode="lin" valueType="num">
                                      <p:cBhvr additive="base">
                                        <p:cTn id="75" dur="500" fill="hold"/>
                                        <p:tgtEl>
                                          <p:spTgt spid="131084"/>
                                        </p:tgtEl>
                                        <p:attrNameLst>
                                          <p:attrName>ppt_x</p:attrName>
                                        </p:attrNameLst>
                                      </p:cBhvr>
                                      <p:tavLst>
                                        <p:tav tm="0">
                                          <p:val>
                                            <p:strVal val="#ppt_x"/>
                                          </p:val>
                                        </p:tav>
                                        <p:tav tm="100000">
                                          <p:val>
                                            <p:strVal val="#ppt_x"/>
                                          </p:val>
                                        </p:tav>
                                      </p:tavLst>
                                    </p:anim>
                                    <p:anim calcmode="lin" valueType="num">
                                      <p:cBhvr additive="base">
                                        <p:cTn id="76" dur="500" fill="hold"/>
                                        <p:tgtEl>
                                          <p:spTgt spid="131084"/>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131094"/>
                                        </p:tgtEl>
                                        <p:attrNameLst>
                                          <p:attrName>style.visibility</p:attrName>
                                        </p:attrNameLst>
                                      </p:cBhvr>
                                      <p:to>
                                        <p:strVal val="visible"/>
                                      </p:to>
                                    </p:set>
                                    <p:anim calcmode="lin" valueType="num">
                                      <p:cBhvr additive="base">
                                        <p:cTn id="81" dur="500" fill="hold"/>
                                        <p:tgtEl>
                                          <p:spTgt spid="131094"/>
                                        </p:tgtEl>
                                        <p:attrNameLst>
                                          <p:attrName>ppt_x</p:attrName>
                                        </p:attrNameLst>
                                      </p:cBhvr>
                                      <p:tavLst>
                                        <p:tav tm="0">
                                          <p:val>
                                            <p:strVal val="#ppt_x"/>
                                          </p:val>
                                        </p:tav>
                                        <p:tav tm="100000">
                                          <p:val>
                                            <p:strVal val="#ppt_x"/>
                                          </p:val>
                                        </p:tav>
                                      </p:tavLst>
                                    </p:anim>
                                    <p:anim calcmode="lin" valueType="num">
                                      <p:cBhvr additive="base">
                                        <p:cTn id="82" dur="500" fill="hold"/>
                                        <p:tgtEl>
                                          <p:spTgt spid="1310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5" grpId="0" animBg="1"/>
      <p:bldP spid="131076" grpId="0" animBg="1"/>
      <p:bldP spid="131077" grpId="0" animBg="1"/>
      <p:bldP spid="131079" grpId="0" animBg="1"/>
      <p:bldP spid="131081" grpId="0" animBg="1"/>
      <p:bldP spid="131082" grpId="0" animBg="1" build="p"/>
    </p:bld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2" name="Text Box 2"/>
          <p:cNvSpPr txBox="1"/>
          <p:nvPr/>
        </p:nvSpPr>
        <p:spPr>
          <a:xfrm>
            <a:off x="4075113" y="628650"/>
            <a:ext cx="1447800" cy="7556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solidFill>
                  <a:srgbClr val="0000CC"/>
                </a:solidFill>
                <a:latin typeface="宋体" panose="02010600030101010101" pitchFamily="2" charset="-122"/>
              </a:rPr>
              <a:t>C</a:t>
            </a:r>
            <a:endParaRPr lang="de-DE" altLang="en-US" sz="3200" dirty="0">
              <a:solidFill>
                <a:srgbClr val="0000CC"/>
              </a:solidFill>
              <a:latin typeface="宋体" panose="02010600030101010101" pitchFamily="2" charset="-122"/>
            </a:endParaRPr>
          </a:p>
        </p:txBody>
      </p:sp>
      <p:graphicFrame>
        <p:nvGraphicFramePr>
          <p:cNvPr id="132099" name="表格 132098"/>
          <p:cNvGraphicFramePr/>
          <p:nvPr/>
        </p:nvGraphicFramePr>
        <p:xfrm>
          <a:off x="815975" y="1304925"/>
          <a:ext cx="3446463" cy="2620963"/>
        </p:xfrm>
        <a:graphic>
          <a:graphicData uri="http://schemas.openxmlformats.org/drawingml/2006/table">
            <a:tbl>
              <a:tblPr/>
              <a:tblGrid>
                <a:gridCol w="912813"/>
                <a:gridCol w="971550"/>
                <a:gridCol w="682625"/>
                <a:gridCol w="87947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003300"/>
                          </a:solidFill>
                        </a:rPr>
                        <a:t>sid</a:t>
                      </a:r>
                      <a:endParaRPr lang="de-DE" altLang="en-US" sz="200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8422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8</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何大</a:t>
                      </a:r>
                      <a:r>
                        <a:rPr lang="zh-CN" altLang="en-US" sz="1800" b="0" dirty="0">
                          <a:solidFill>
                            <a:srgbClr val="003300"/>
                          </a:solidFill>
                        </a:rPr>
                        <a:t>明</a:t>
                      </a:r>
                      <a:endParaRPr lang="zh-CN" altLang="en-US" sz="1800" b="0" dirty="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7310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11</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李峰</a:t>
                      </a:r>
                      <a:endParaRPr lang="de-DE" altLang="en-US" sz="1800" b="0" dirty="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35</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陈胜</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6</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张大卫</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22</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董一溪</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4">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sz="180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sz="1800" b="0">
                        <a:solidFill>
                          <a:srgbClr val="003300"/>
                        </a:solidFill>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79245" name="Text Box 45"/>
          <p:cNvSpPr txBox="1"/>
          <p:nvPr/>
        </p:nvSpPr>
        <p:spPr>
          <a:xfrm>
            <a:off x="198438" y="1104900"/>
            <a:ext cx="68580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800" dirty="0">
                <a:latin typeface="宋体" panose="02010600030101010101" pitchFamily="2" charset="-122"/>
              </a:rPr>
              <a:t>S</a:t>
            </a:r>
            <a:endParaRPr lang="de-DE" altLang="en-US" sz="2800" dirty="0">
              <a:latin typeface="宋体" panose="02010600030101010101" pitchFamily="2" charset="-122"/>
            </a:endParaRPr>
          </a:p>
        </p:txBody>
      </p:sp>
      <p:graphicFrame>
        <p:nvGraphicFramePr>
          <p:cNvPr id="132142" name="表格 132141"/>
          <p:cNvGraphicFramePr/>
          <p:nvPr/>
        </p:nvGraphicFramePr>
        <p:xfrm>
          <a:off x="5014913" y="1130300"/>
          <a:ext cx="3956050" cy="1984375"/>
        </p:xfrm>
        <a:graphic>
          <a:graphicData uri="http://schemas.openxmlformats.org/drawingml/2006/table">
            <a:tbl>
              <a:tblPr/>
              <a:tblGrid>
                <a:gridCol w="1038225"/>
                <a:gridCol w="1785938"/>
                <a:gridCol w="1131887"/>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cid</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credit</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101</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latin typeface="华文楷体" panose="02010600040101010101" pitchFamily="2" charset="-122"/>
                          <a:ea typeface="华文楷体" panose="02010600040101010101" pitchFamily="2" charset="-122"/>
                        </a:rPr>
                        <a:t>数据库</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102</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latin typeface="华文楷体" panose="02010600040101010101" pitchFamily="2" charset="-122"/>
                          <a:ea typeface="华文楷体" panose="02010600040101010101" pitchFamily="2" charset="-122"/>
                        </a:rPr>
                        <a:t>计算机网络</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103</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latin typeface="华文楷体" panose="02010600040101010101" pitchFamily="2" charset="-122"/>
                          <a:ea typeface="华文楷体" panose="02010600040101010101" pitchFamily="2" charset="-122"/>
                        </a:rPr>
                        <a:t>数据结构</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003300"/>
                          </a:solidFill>
                        </a:rPr>
                        <a:t>104</a:t>
                      </a:r>
                      <a:endParaRPr lang="de-DE" altLang="en-US" sz="200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3300"/>
                          </a:solidFill>
                          <a:latin typeface="华文楷体" panose="02010600040101010101" pitchFamily="2" charset="-122"/>
                          <a:ea typeface="华文楷体" panose="02010600040101010101" pitchFamily="2" charset="-122"/>
                        </a:rPr>
                        <a:t>Java</a:t>
                      </a:r>
                      <a:r>
                        <a:rPr lang="zh-CN" altLang="en-US" sz="2000" b="0">
                          <a:solidFill>
                            <a:srgbClr val="003300"/>
                          </a:solidFill>
                          <a:latin typeface="华文楷体" panose="02010600040101010101" pitchFamily="2" charset="-122"/>
                          <a:ea typeface="华文楷体" panose="02010600040101010101" pitchFamily="2" charset="-122"/>
                        </a:rPr>
                        <a:t>语言</a:t>
                      </a:r>
                      <a:endParaRPr lang="zh-CN" altLang="en-US" sz="2000" b="0">
                        <a:solidFill>
                          <a:srgbClr val="003300"/>
                        </a:solidFill>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2168" name="表格 132167"/>
          <p:cNvGraphicFramePr/>
          <p:nvPr/>
        </p:nvGraphicFramePr>
        <p:xfrm>
          <a:off x="6053138" y="3429000"/>
          <a:ext cx="2436813" cy="2859088"/>
        </p:xfrm>
        <a:graphic>
          <a:graphicData uri="http://schemas.openxmlformats.org/drawingml/2006/table">
            <a:tbl>
              <a:tblPr/>
              <a:tblGrid>
                <a:gridCol w="990600"/>
                <a:gridCol w="571500"/>
                <a:gridCol w="874713"/>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003300"/>
                          </a:solidFill>
                        </a:rPr>
                        <a:t>sid</a:t>
                      </a:r>
                      <a:endParaRPr lang="de-DE" altLang="en-US" sz="2000" u="sng"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8</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11</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35</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0018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35</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0018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sz="180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79306" name="Text Box 106"/>
          <p:cNvSpPr txBox="1"/>
          <p:nvPr/>
        </p:nvSpPr>
        <p:spPr>
          <a:xfrm>
            <a:off x="5348288" y="3849688"/>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E</a:t>
            </a:r>
            <a:endParaRPr lang="de-DE" altLang="en-US" sz="3200" dirty="0">
              <a:latin typeface="宋体" panose="02010600030101010101" pitchFamily="2" charset="-122"/>
            </a:endParaRPr>
          </a:p>
        </p:txBody>
      </p:sp>
      <p:grpSp>
        <p:nvGrpSpPr>
          <p:cNvPr id="132203" name="Group 107"/>
          <p:cNvGrpSpPr/>
          <p:nvPr/>
        </p:nvGrpSpPr>
        <p:grpSpPr>
          <a:xfrm>
            <a:off x="4433888" y="1606550"/>
            <a:ext cx="4183062" cy="1465263"/>
            <a:chOff x="0" y="0"/>
            <a:chExt cx="2384" cy="923"/>
          </a:xfrm>
        </p:grpSpPr>
        <p:sp>
          <p:nvSpPr>
            <p:cNvPr id="179400" name="Rectangle 108"/>
            <p:cNvSpPr/>
            <p:nvPr/>
          </p:nvSpPr>
          <p:spPr>
            <a:xfrm>
              <a:off x="479" y="0"/>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401" name="Rectangle 109"/>
            <p:cNvSpPr/>
            <p:nvPr/>
          </p:nvSpPr>
          <p:spPr>
            <a:xfrm>
              <a:off x="454" y="507"/>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402" name="Rectangle 110"/>
            <p:cNvSpPr/>
            <p:nvPr/>
          </p:nvSpPr>
          <p:spPr>
            <a:xfrm>
              <a:off x="0" y="446"/>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grpSp>
      <p:sp>
        <p:nvSpPr>
          <p:cNvPr id="132207" name="Rectangle 125"/>
          <p:cNvSpPr/>
          <p:nvPr/>
        </p:nvSpPr>
        <p:spPr>
          <a:xfrm>
            <a:off x="4433888" y="1119188"/>
            <a:ext cx="658812" cy="8397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graphicFrame>
        <p:nvGraphicFramePr>
          <p:cNvPr id="132208" name="表格 132207"/>
          <p:cNvGraphicFramePr/>
          <p:nvPr/>
        </p:nvGraphicFramePr>
        <p:xfrm>
          <a:off x="6054725" y="3386138"/>
          <a:ext cx="2592388" cy="2857500"/>
        </p:xfrm>
        <a:graphic>
          <a:graphicData uri="http://schemas.openxmlformats.org/drawingml/2006/table">
            <a:tbl>
              <a:tblPr/>
              <a:tblGrid>
                <a:gridCol w="1054100"/>
                <a:gridCol w="603250"/>
                <a:gridCol w="935038"/>
              </a:tblGrid>
              <a:tr h="6477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cid</a:t>
                      </a:r>
                      <a:endParaRPr lang="de-DE" altLang="en-US" sz="2000" b="0" u="sng"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921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0961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0802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grpSp>
        <p:nvGrpSpPr>
          <p:cNvPr id="132230" name="Group 148"/>
          <p:cNvGrpSpPr/>
          <p:nvPr/>
        </p:nvGrpSpPr>
        <p:grpSpPr>
          <a:xfrm>
            <a:off x="5291138" y="3019425"/>
            <a:ext cx="1150937" cy="757238"/>
            <a:chOff x="0" y="0"/>
            <a:chExt cx="725" cy="477"/>
          </a:xfrm>
        </p:grpSpPr>
        <p:sp>
          <p:nvSpPr>
            <p:cNvPr id="179398" name="Rectangle 149"/>
            <p:cNvSpPr/>
            <p:nvPr/>
          </p:nvSpPr>
          <p:spPr>
            <a:xfrm>
              <a:off x="0" y="0"/>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79399" name="Line 150"/>
            <p:cNvSpPr/>
            <p:nvPr/>
          </p:nvSpPr>
          <p:spPr>
            <a:xfrm>
              <a:off x="317" y="91"/>
              <a:ext cx="408" cy="227"/>
            </a:xfrm>
            <a:prstGeom prst="line">
              <a:avLst/>
            </a:prstGeom>
            <a:ln w="38100" cap="flat" cmpd="sng">
              <a:solidFill>
                <a:srgbClr val="CC0000"/>
              </a:solidFill>
              <a:prstDash val="solid"/>
              <a:headEnd type="triangle" w="med" len="med"/>
              <a:tailEnd type="triangle" w="med" len="med"/>
            </a:ln>
          </p:spPr>
        </p:sp>
      </p:grpSp>
      <p:graphicFrame>
        <p:nvGraphicFramePr>
          <p:cNvPr id="132233" name="表格 132232"/>
          <p:cNvGraphicFramePr/>
          <p:nvPr/>
        </p:nvGraphicFramePr>
        <p:xfrm>
          <a:off x="246063" y="4587875"/>
          <a:ext cx="5768975" cy="1612900"/>
        </p:xfrm>
        <a:graphic>
          <a:graphicData uri="http://schemas.openxmlformats.org/drawingml/2006/table">
            <a:tbl>
              <a:tblPr/>
              <a:tblGrid>
                <a:gridCol w="830263"/>
                <a:gridCol w="1287462"/>
                <a:gridCol w="722313"/>
                <a:gridCol w="976312"/>
                <a:gridCol w="976313"/>
                <a:gridCol w="976312"/>
              </a:tblGrid>
              <a:tr h="3984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003300"/>
                          </a:solidFill>
                        </a:rPr>
                        <a:t>sid</a:t>
                      </a:r>
                      <a:endParaRPr lang="de-DE" altLang="en-US" sz="200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43973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8</a:t>
                      </a:r>
                      <a:endParaRPr lang="de-DE" altLang="en-US"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rPr>
                        <a:t>明</a:t>
                      </a:r>
                      <a:endParaRPr lang="zh-CN" altLang="en-US"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87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87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dirty="0">
                          <a:solidFill>
                            <a:srgbClr val="003300"/>
                          </a:solidFill>
                        </a:rPr>
                        <a:t>10</a:t>
                      </a:r>
                      <a:endParaRPr lang="de-DE" altLang="en-US"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grpSp>
        <p:nvGrpSpPr>
          <p:cNvPr id="132274" name="Group 200"/>
          <p:cNvGrpSpPr/>
          <p:nvPr/>
        </p:nvGrpSpPr>
        <p:grpSpPr>
          <a:xfrm>
            <a:off x="4729163" y="3630613"/>
            <a:ext cx="3671887" cy="2520950"/>
            <a:chOff x="0" y="0"/>
            <a:chExt cx="2313" cy="1588"/>
          </a:xfrm>
        </p:grpSpPr>
        <p:sp>
          <p:nvSpPr>
            <p:cNvPr id="179394" name="Rectangle 201"/>
            <p:cNvSpPr/>
            <p:nvPr/>
          </p:nvSpPr>
          <p:spPr>
            <a:xfrm>
              <a:off x="861" y="136"/>
              <a:ext cx="1451" cy="181"/>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395" name="Rectangle 202"/>
            <p:cNvSpPr/>
            <p:nvPr/>
          </p:nvSpPr>
          <p:spPr>
            <a:xfrm>
              <a:off x="906" y="1407"/>
              <a:ext cx="1406" cy="181"/>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79396" name="Rectangle 203"/>
            <p:cNvSpPr/>
            <p:nvPr/>
          </p:nvSpPr>
          <p:spPr>
            <a:xfrm>
              <a:off x="0" y="0"/>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79397" name="Rectangle 204"/>
            <p:cNvSpPr/>
            <p:nvPr/>
          </p:nvSpPr>
          <p:spPr>
            <a:xfrm>
              <a:off x="907" y="1134"/>
              <a:ext cx="1406" cy="182"/>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2279" name="Rectangle 205"/>
          <p:cNvSpPr/>
          <p:nvPr/>
        </p:nvSpPr>
        <p:spPr>
          <a:xfrm>
            <a:off x="1284288" y="4611688"/>
            <a:ext cx="865187" cy="1514475"/>
          </a:xfrm>
          <a:prstGeom prst="rect">
            <a:avLst/>
          </a:prstGeom>
          <a:solidFill>
            <a:srgbClr val="FFFF00">
              <a:alpha val="29019"/>
            </a:srgbClr>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zh-CN" altLang="en-US" sz="1800" dirty="0">
              <a:ea typeface="华文楷体" panose="02010600040101010101" pitchFamily="2" charset="-122"/>
            </a:endParaRPr>
          </a:p>
        </p:txBody>
      </p:sp>
      <p:grpSp>
        <p:nvGrpSpPr>
          <p:cNvPr id="132280" name="Group 206"/>
          <p:cNvGrpSpPr/>
          <p:nvPr/>
        </p:nvGrpSpPr>
        <p:grpSpPr>
          <a:xfrm>
            <a:off x="1658938" y="3943350"/>
            <a:ext cx="3384550" cy="757238"/>
            <a:chOff x="0" y="0"/>
            <a:chExt cx="2132" cy="477"/>
          </a:xfrm>
        </p:grpSpPr>
        <p:sp>
          <p:nvSpPr>
            <p:cNvPr id="179391" name="Line 207"/>
            <p:cNvSpPr/>
            <p:nvPr/>
          </p:nvSpPr>
          <p:spPr>
            <a:xfrm>
              <a:off x="0" y="43"/>
              <a:ext cx="2132" cy="182"/>
            </a:xfrm>
            <a:prstGeom prst="line">
              <a:avLst/>
            </a:prstGeom>
            <a:ln w="38100" cap="flat" cmpd="sng">
              <a:solidFill>
                <a:srgbClr val="CC0000"/>
              </a:solidFill>
              <a:prstDash val="solid"/>
              <a:headEnd type="triangle" w="med" len="med"/>
              <a:tailEnd type="triangle" w="med" len="med"/>
            </a:ln>
          </p:spPr>
        </p:sp>
        <p:sp>
          <p:nvSpPr>
            <p:cNvPr id="179392" name="Text Box 208"/>
            <p:cNvSpPr txBox="1"/>
            <p:nvPr/>
          </p:nvSpPr>
          <p:spPr>
            <a:xfrm>
              <a:off x="672" y="68"/>
              <a:ext cx="635" cy="326"/>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tmp3</a:t>
              </a:r>
              <a:endParaRPr lang="zh-CN" altLang="en-US" sz="2400" dirty="0">
                <a:solidFill>
                  <a:srgbClr val="CC0000"/>
                </a:solidFill>
                <a:latin typeface="宋体" panose="02010600030101010101" pitchFamily="2" charset="-122"/>
              </a:endParaRPr>
            </a:p>
          </p:txBody>
        </p:sp>
        <p:sp>
          <p:nvSpPr>
            <p:cNvPr id="179393" name="Rectangle 209"/>
            <p:cNvSpPr/>
            <p:nvPr/>
          </p:nvSpPr>
          <p:spPr>
            <a:xfrm>
              <a:off x="102" y="0"/>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grpSp>
      <p:sp>
        <p:nvSpPr>
          <p:cNvPr id="132284" name="Text Box 210"/>
          <p:cNvSpPr txBox="1"/>
          <p:nvPr/>
        </p:nvSpPr>
        <p:spPr>
          <a:xfrm>
            <a:off x="6346825" y="2997200"/>
            <a:ext cx="1008063" cy="51752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2400" dirty="0">
                <a:solidFill>
                  <a:srgbClr val="CC0000"/>
                </a:solidFill>
                <a:latin typeface="宋体" panose="02010600030101010101" pitchFamily="2" charset="-122"/>
              </a:rPr>
              <a:t>tmp2</a:t>
            </a:r>
            <a:endParaRPr lang="zh-CN" altLang="en-US" sz="2400" dirty="0">
              <a:solidFill>
                <a:srgbClr val="CC0000"/>
              </a:solidFill>
              <a:latin typeface="宋体" panose="02010600030101010101" pitchFamily="2" charset="-122"/>
            </a:endParaRPr>
          </a:p>
        </p:txBody>
      </p:sp>
      <p:grpSp>
        <p:nvGrpSpPr>
          <p:cNvPr id="132285" name="Group 121"/>
          <p:cNvGrpSpPr/>
          <p:nvPr/>
        </p:nvGrpSpPr>
        <p:grpSpPr>
          <a:xfrm>
            <a:off x="4249738" y="985838"/>
            <a:ext cx="1700212" cy="2159000"/>
            <a:chOff x="0" y="0"/>
            <a:chExt cx="1071" cy="1360"/>
          </a:xfrm>
        </p:grpSpPr>
        <p:sp>
          <p:nvSpPr>
            <p:cNvPr id="179389" name="Rectangle 122"/>
            <p:cNvSpPr/>
            <p:nvPr/>
          </p:nvSpPr>
          <p:spPr>
            <a:xfrm>
              <a:off x="0" y="440"/>
              <a:ext cx="522"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en-US" altLang="zh-CN" sz="3600" dirty="0">
                  <a:solidFill>
                    <a:srgbClr val="CC0000"/>
                  </a:solidFill>
                  <a:latin typeface="宋体" panose="02010600030101010101" pitchFamily="2" charset="-122"/>
                  <a:sym typeface="Wingdings 2" panose="05020102010507070707" pitchFamily="18" charset="2"/>
                </a:rPr>
                <a:t> </a:t>
              </a: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79390" name="Rectangle 123"/>
            <p:cNvSpPr/>
            <p:nvPr/>
          </p:nvSpPr>
          <p:spPr>
            <a:xfrm>
              <a:off x="662" y="0"/>
              <a:ext cx="409" cy="1360"/>
            </a:xfrm>
            <a:prstGeom prst="rect">
              <a:avLst/>
            </a:prstGeom>
            <a:solidFill>
              <a:srgbClr val="CCFFFF">
                <a:alpha val="5098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aphicFrame>
        <p:nvGraphicFramePr>
          <p:cNvPr id="132288" name="表格 132287"/>
          <p:cNvGraphicFramePr/>
          <p:nvPr/>
        </p:nvGraphicFramePr>
        <p:xfrm>
          <a:off x="5056188" y="1147763"/>
          <a:ext cx="1008063" cy="1990725"/>
        </p:xfrm>
        <a:graphic>
          <a:graphicData uri="http://schemas.openxmlformats.org/drawingml/2006/table">
            <a:tbl>
              <a:tblPr/>
              <a:tblGrid>
                <a:gridCol w="1008062"/>
              </a:tblGrid>
              <a:tr h="6370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u="sng" dirty="0">
                          <a:solidFill>
                            <a:srgbClr val="333300"/>
                          </a:solidFill>
                        </a:rPr>
                        <a:t>cid</a:t>
                      </a:r>
                      <a:endParaRPr lang="de-DE" altLang="en-US" sz="2000" u="sng" dirty="0">
                        <a:solidFill>
                          <a:srgbClr val="333300"/>
                        </a:solidFill>
                        <a:ea typeface="华文楷体" panose="02010600040101010101" pitchFamily="2" charset="-122"/>
                      </a:endParaRPr>
                    </a:p>
                  </a:txBody>
                  <a:tcPr marT="45756" marB="4575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70859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333300"/>
                          </a:solidFill>
                        </a:rPr>
                        <a:t>101</a:t>
                      </a:r>
                      <a:endParaRPr lang="de-DE" altLang="en-US" sz="2000" dirty="0">
                        <a:solidFill>
                          <a:srgbClr val="333300"/>
                        </a:solidFill>
                        <a:ea typeface="华文楷体" panose="02010600040101010101" pitchFamily="2" charset="-122"/>
                      </a:endParaRPr>
                    </a:p>
                  </a:txBody>
                  <a:tcPr marT="45756" marB="4575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645039">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dirty="0">
                          <a:solidFill>
                            <a:srgbClr val="333300"/>
                          </a:solidFill>
                        </a:rPr>
                        <a:t>103</a:t>
                      </a:r>
                      <a:endParaRPr lang="de-DE" altLang="en-US" sz="2000" dirty="0">
                        <a:solidFill>
                          <a:srgbClr val="333300"/>
                        </a:solidFill>
                        <a:ea typeface="华文楷体" panose="02010600040101010101" pitchFamily="2" charset="-122"/>
                      </a:endParaRPr>
                    </a:p>
                  </a:txBody>
                  <a:tcPr marT="45756" marB="45756">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sp>
        <p:nvSpPr>
          <p:cNvPr id="179388"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32203"/>
                                        </p:tgtEl>
                                        <p:attrNameLst>
                                          <p:attrName>style.visibility</p:attrName>
                                        </p:attrNameLst>
                                      </p:cBhvr>
                                      <p:to>
                                        <p:strVal val="visible"/>
                                      </p:to>
                                    </p:set>
                                    <p:anim calcmode="lin" valueType="num">
                                      <p:cBhvr>
                                        <p:cTn id="7" dur="1000" fill="hold"/>
                                        <p:tgtEl>
                                          <p:spTgt spid="132203"/>
                                        </p:tgtEl>
                                        <p:attrNameLst>
                                          <p:attrName>ppt_w</p:attrName>
                                        </p:attrNameLst>
                                      </p:cBhvr>
                                      <p:tavLst>
                                        <p:tav tm="0">
                                          <p:val>
                                            <p:strVal val="#ppt_w*0.70"/>
                                          </p:val>
                                        </p:tav>
                                        <p:tav tm="100000">
                                          <p:val>
                                            <p:strVal val="#ppt_w"/>
                                          </p:val>
                                        </p:tav>
                                      </p:tavLst>
                                    </p:anim>
                                    <p:anim calcmode="lin" valueType="num">
                                      <p:cBhvr>
                                        <p:cTn id="8" dur="1000" fill="hold"/>
                                        <p:tgtEl>
                                          <p:spTgt spid="132203"/>
                                        </p:tgtEl>
                                        <p:attrNameLst>
                                          <p:attrName>ppt_h</p:attrName>
                                        </p:attrNameLst>
                                      </p:cBhvr>
                                      <p:tavLst>
                                        <p:tav tm="0">
                                          <p:val>
                                            <p:strVal val="#ppt_h"/>
                                          </p:val>
                                        </p:tav>
                                        <p:tav tm="100000">
                                          <p:val>
                                            <p:strVal val="#ppt_h"/>
                                          </p:val>
                                        </p:tav>
                                      </p:tavLst>
                                    </p:anim>
                                    <p:animEffect transition="in" filter="fade">
                                      <p:cBhvr>
                                        <p:cTn id="9" dur="1000"/>
                                        <p:tgtEl>
                                          <p:spTgt spid="132203"/>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nodeType="clickEffect">
                                  <p:stCondLst>
                                    <p:cond delay="0"/>
                                  </p:stCondLst>
                                  <p:childTnLst>
                                    <p:set>
                                      <p:cBhvr>
                                        <p:cTn id="13" dur="1" fill="hold">
                                          <p:stCondLst>
                                            <p:cond delay="0"/>
                                          </p:stCondLst>
                                        </p:cTn>
                                        <p:tgtEl>
                                          <p:spTgt spid="132285"/>
                                        </p:tgtEl>
                                        <p:attrNameLst>
                                          <p:attrName>style.visibility</p:attrName>
                                        </p:attrNameLst>
                                      </p:cBhvr>
                                      <p:to>
                                        <p:strVal val="visible"/>
                                      </p:to>
                                    </p:set>
                                    <p:animEffect transition="in" filter="plus(in)">
                                      <p:cBhvr>
                                        <p:cTn id="14" dur="2000"/>
                                        <p:tgtEl>
                                          <p:spTgt spid="132285"/>
                                        </p:tgtEl>
                                      </p:cBhvr>
                                    </p:animEffect>
                                  </p:childTnLst>
                                </p:cTn>
                              </p:par>
                            </p:childTnLst>
                          </p:cTn>
                        </p:par>
                      </p:childTnLst>
                    </p:cTn>
                  </p:par>
                  <p:par>
                    <p:cTn id="15" fill="hold">
                      <p:stCondLst>
                        <p:cond delay="indefinite"/>
                      </p:stCondLst>
                      <p:childTnLst>
                        <p:par>
                          <p:cTn id="16" fill="hold">
                            <p:stCondLst>
                              <p:cond delay="0"/>
                            </p:stCondLst>
                            <p:childTnLst>
                              <p:par>
                                <p:cTn id="17" presetID="13" presetClass="entr" presetSubtype="16" fill="hold" grpId="0" nodeType="clickEffect">
                                  <p:stCondLst>
                                    <p:cond delay="0"/>
                                  </p:stCondLst>
                                  <p:childTnLst>
                                    <p:set>
                                      <p:cBhvr>
                                        <p:cTn id="18" dur="1" fill="hold">
                                          <p:stCondLst>
                                            <p:cond delay="0"/>
                                          </p:stCondLst>
                                        </p:cTn>
                                        <p:tgtEl>
                                          <p:spTgt spid="132207"/>
                                        </p:tgtEl>
                                        <p:attrNameLst>
                                          <p:attrName>style.visibility</p:attrName>
                                        </p:attrNameLst>
                                      </p:cBhvr>
                                      <p:to>
                                        <p:strVal val="visible"/>
                                      </p:to>
                                    </p:set>
                                    <p:animEffect transition="in" filter="plus(in)">
                                      <p:cBhvr>
                                        <p:cTn id="19" dur="2000"/>
                                        <p:tgtEl>
                                          <p:spTgt spid="132207"/>
                                        </p:tgtEl>
                                      </p:cBhvr>
                                    </p:animEffect>
                                  </p:childTnLst>
                                </p:cTn>
                              </p:par>
                              <p:par>
                                <p:cTn id="20" presetID="13" presetClass="entr" presetSubtype="16" fill="hold" nodeType="withEffect">
                                  <p:stCondLst>
                                    <p:cond delay="0"/>
                                  </p:stCondLst>
                                  <p:childTnLst>
                                    <p:set>
                                      <p:cBhvr>
                                        <p:cTn id="21" dur="1" fill="hold">
                                          <p:stCondLst>
                                            <p:cond delay="0"/>
                                          </p:stCondLst>
                                        </p:cTn>
                                        <p:tgtEl>
                                          <p:spTgt spid="132288"/>
                                        </p:tgtEl>
                                        <p:attrNameLst>
                                          <p:attrName>style.visibility</p:attrName>
                                        </p:attrNameLst>
                                      </p:cBhvr>
                                      <p:to>
                                        <p:strVal val="visible"/>
                                      </p:to>
                                    </p:set>
                                    <p:animEffect transition="in" filter="plus(in)">
                                      <p:cBhvr>
                                        <p:cTn id="22" dur="2000"/>
                                        <p:tgtEl>
                                          <p:spTgt spid="132288"/>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132230"/>
                                        </p:tgtEl>
                                        <p:attrNameLst>
                                          <p:attrName>style.visibility</p:attrName>
                                        </p:attrNameLst>
                                      </p:cBhvr>
                                      <p:to>
                                        <p:strVal val="visible"/>
                                      </p:to>
                                    </p:set>
                                    <p:anim calcmode="lin" valueType="num">
                                      <p:cBhvr>
                                        <p:cTn id="27" dur="1000" fill="hold"/>
                                        <p:tgtEl>
                                          <p:spTgt spid="132230"/>
                                        </p:tgtEl>
                                        <p:attrNameLst>
                                          <p:attrName>ppt_w</p:attrName>
                                        </p:attrNameLst>
                                      </p:cBhvr>
                                      <p:tavLst>
                                        <p:tav tm="0">
                                          <p:val>
                                            <p:strVal val="#ppt_w*0.70"/>
                                          </p:val>
                                        </p:tav>
                                        <p:tav tm="100000">
                                          <p:val>
                                            <p:strVal val="#ppt_w"/>
                                          </p:val>
                                        </p:tav>
                                      </p:tavLst>
                                    </p:anim>
                                    <p:anim calcmode="lin" valueType="num">
                                      <p:cBhvr>
                                        <p:cTn id="28" dur="1000" fill="hold"/>
                                        <p:tgtEl>
                                          <p:spTgt spid="132230"/>
                                        </p:tgtEl>
                                        <p:attrNameLst>
                                          <p:attrName>ppt_h</p:attrName>
                                        </p:attrNameLst>
                                      </p:cBhvr>
                                      <p:tavLst>
                                        <p:tav tm="0">
                                          <p:val>
                                            <p:strVal val="#ppt_h"/>
                                          </p:val>
                                        </p:tav>
                                        <p:tav tm="100000">
                                          <p:val>
                                            <p:strVal val="#ppt_h"/>
                                          </p:val>
                                        </p:tav>
                                      </p:tavLst>
                                    </p:anim>
                                    <p:animEffect transition="in" filter="fade">
                                      <p:cBhvr>
                                        <p:cTn id="29" dur="1000"/>
                                        <p:tgtEl>
                                          <p:spTgt spid="132230"/>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132274"/>
                                        </p:tgtEl>
                                        <p:attrNameLst>
                                          <p:attrName>style.visibility</p:attrName>
                                        </p:attrNameLst>
                                      </p:cBhvr>
                                      <p:to>
                                        <p:strVal val="visible"/>
                                      </p:to>
                                    </p:set>
                                    <p:anim calcmode="lin" valueType="num">
                                      <p:cBhvr>
                                        <p:cTn id="34" dur="1000" fill="hold"/>
                                        <p:tgtEl>
                                          <p:spTgt spid="132274"/>
                                        </p:tgtEl>
                                        <p:attrNameLst>
                                          <p:attrName>ppt_w</p:attrName>
                                        </p:attrNameLst>
                                      </p:cBhvr>
                                      <p:tavLst>
                                        <p:tav tm="0">
                                          <p:val>
                                            <p:strVal val="#ppt_w*0.70"/>
                                          </p:val>
                                        </p:tav>
                                        <p:tav tm="100000">
                                          <p:val>
                                            <p:strVal val="#ppt_w"/>
                                          </p:val>
                                        </p:tav>
                                      </p:tavLst>
                                    </p:anim>
                                    <p:anim calcmode="lin" valueType="num">
                                      <p:cBhvr>
                                        <p:cTn id="35" dur="1000" fill="hold"/>
                                        <p:tgtEl>
                                          <p:spTgt spid="132274"/>
                                        </p:tgtEl>
                                        <p:attrNameLst>
                                          <p:attrName>ppt_h</p:attrName>
                                        </p:attrNameLst>
                                      </p:cBhvr>
                                      <p:tavLst>
                                        <p:tav tm="0">
                                          <p:val>
                                            <p:strVal val="#ppt_h"/>
                                          </p:val>
                                        </p:tav>
                                        <p:tav tm="100000">
                                          <p:val>
                                            <p:strVal val="#ppt_h"/>
                                          </p:val>
                                        </p:tav>
                                      </p:tavLst>
                                    </p:anim>
                                    <p:animEffect transition="in" filter="fade">
                                      <p:cBhvr>
                                        <p:cTn id="36" dur="1000"/>
                                        <p:tgtEl>
                                          <p:spTgt spid="132274"/>
                                        </p:tgtEl>
                                      </p:cBhvr>
                                    </p:animEffect>
                                  </p:childTnLst>
                                  <p:subTnLst>
                                    <p:set>
                                      <p:cBhvr override="childStyle">
                                        <p:cTn dur="1" fill="hold" display="0" masterRel="nextClick" afterEffect="1"/>
                                        <p:tgtEl>
                                          <p:spTgt spid="132274"/>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13" presetClass="entr" presetSubtype="16" fill="hold" nodeType="clickEffect">
                                  <p:stCondLst>
                                    <p:cond delay="0"/>
                                  </p:stCondLst>
                                  <p:childTnLst>
                                    <p:set>
                                      <p:cBhvr>
                                        <p:cTn id="40" dur="1" fill="hold">
                                          <p:stCondLst>
                                            <p:cond delay="0"/>
                                          </p:stCondLst>
                                        </p:cTn>
                                        <p:tgtEl>
                                          <p:spTgt spid="132208"/>
                                        </p:tgtEl>
                                        <p:attrNameLst>
                                          <p:attrName>style.visibility</p:attrName>
                                        </p:attrNameLst>
                                      </p:cBhvr>
                                      <p:to>
                                        <p:strVal val="visible"/>
                                      </p:to>
                                    </p:set>
                                    <p:animEffect transition="in" filter="plus(in)">
                                      <p:cBhvr>
                                        <p:cTn id="41" dur="2000"/>
                                        <p:tgtEl>
                                          <p:spTgt spid="132208"/>
                                        </p:tgtEl>
                                      </p:cBhvr>
                                    </p:animEffect>
                                  </p:childTnLst>
                                </p:cTn>
                              </p:par>
                              <p:par>
                                <p:cTn id="42" presetID="13" presetClass="entr" presetSubtype="16" fill="hold" grpId="0" nodeType="withEffect">
                                  <p:stCondLst>
                                    <p:cond delay="0"/>
                                  </p:stCondLst>
                                  <p:childTnLst>
                                    <p:set>
                                      <p:cBhvr>
                                        <p:cTn id="43" dur="1" fill="hold">
                                          <p:stCondLst>
                                            <p:cond delay="0"/>
                                          </p:stCondLst>
                                        </p:cTn>
                                        <p:tgtEl>
                                          <p:spTgt spid="132284"/>
                                        </p:tgtEl>
                                        <p:attrNameLst>
                                          <p:attrName>style.visibility</p:attrName>
                                        </p:attrNameLst>
                                      </p:cBhvr>
                                      <p:to>
                                        <p:strVal val="visible"/>
                                      </p:to>
                                    </p:set>
                                    <p:animEffect transition="in" filter="plus(in)">
                                      <p:cBhvr>
                                        <p:cTn id="44" dur="2000"/>
                                        <p:tgtEl>
                                          <p:spTgt spid="132284"/>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132280"/>
                                        </p:tgtEl>
                                        <p:attrNameLst>
                                          <p:attrName>style.visibility</p:attrName>
                                        </p:attrNameLst>
                                      </p:cBhvr>
                                      <p:to>
                                        <p:strVal val="visible"/>
                                      </p:to>
                                    </p:set>
                                    <p:anim calcmode="lin" valueType="num">
                                      <p:cBhvr>
                                        <p:cTn id="49" dur="1000" fill="hold"/>
                                        <p:tgtEl>
                                          <p:spTgt spid="132280"/>
                                        </p:tgtEl>
                                        <p:attrNameLst>
                                          <p:attrName>ppt_w</p:attrName>
                                        </p:attrNameLst>
                                      </p:cBhvr>
                                      <p:tavLst>
                                        <p:tav tm="0">
                                          <p:val>
                                            <p:strVal val="#ppt_w*0.70"/>
                                          </p:val>
                                        </p:tav>
                                        <p:tav tm="100000">
                                          <p:val>
                                            <p:strVal val="#ppt_w"/>
                                          </p:val>
                                        </p:tav>
                                      </p:tavLst>
                                    </p:anim>
                                    <p:anim calcmode="lin" valueType="num">
                                      <p:cBhvr>
                                        <p:cTn id="50" dur="1000" fill="hold"/>
                                        <p:tgtEl>
                                          <p:spTgt spid="132280"/>
                                        </p:tgtEl>
                                        <p:attrNameLst>
                                          <p:attrName>ppt_h</p:attrName>
                                        </p:attrNameLst>
                                      </p:cBhvr>
                                      <p:tavLst>
                                        <p:tav tm="0">
                                          <p:val>
                                            <p:strVal val="#ppt_h"/>
                                          </p:val>
                                        </p:tav>
                                        <p:tav tm="100000">
                                          <p:val>
                                            <p:strVal val="#ppt_h"/>
                                          </p:val>
                                        </p:tav>
                                      </p:tavLst>
                                    </p:anim>
                                    <p:animEffect transition="in" filter="fade">
                                      <p:cBhvr>
                                        <p:cTn id="51" dur="1000"/>
                                        <p:tgtEl>
                                          <p:spTgt spid="132280"/>
                                        </p:tgtEl>
                                      </p:cBhvr>
                                    </p:animEffect>
                                  </p:childTnLst>
                                </p:cTn>
                              </p:par>
                            </p:childTnLst>
                          </p:cTn>
                        </p:par>
                      </p:childTnLst>
                    </p:cTn>
                  </p:par>
                  <p:par>
                    <p:cTn id="52" fill="hold">
                      <p:stCondLst>
                        <p:cond delay="indefinite"/>
                      </p:stCondLst>
                      <p:childTnLst>
                        <p:par>
                          <p:cTn id="53" fill="hold">
                            <p:stCondLst>
                              <p:cond delay="0"/>
                            </p:stCondLst>
                            <p:childTnLst>
                              <p:par>
                                <p:cTn id="54" presetID="13" presetClass="entr" presetSubtype="16" fill="hold" nodeType="clickEffect">
                                  <p:stCondLst>
                                    <p:cond delay="0"/>
                                  </p:stCondLst>
                                  <p:childTnLst>
                                    <p:set>
                                      <p:cBhvr>
                                        <p:cTn id="55" dur="1" fill="hold">
                                          <p:stCondLst>
                                            <p:cond delay="0"/>
                                          </p:stCondLst>
                                        </p:cTn>
                                        <p:tgtEl>
                                          <p:spTgt spid="132233"/>
                                        </p:tgtEl>
                                        <p:attrNameLst>
                                          <p:attrName>style.visibility</p:attrName>
                                        </p:attrNameLst>
                                      </p:cBhvr>
                                      <p:to>
                                        <p:strVal val="visible"/>
                                      </p:to>
                                    </p:set>
                                    <p:animEffect transition="in" filter="plus(in)">
                                      <p:cBhvr>
                                        <p:cTn id="56" dur="2000"/>
                                        <p:tgtEl>
                                          <p:spTgt spid="132233"/>
                                        </p:tgtEl>
                                      </p:cBhvr>
                                    </p:animEffect>
                                  </p:childTnLst>
                                </p:cTn>
                              </p:par>
                            </p:childTnLst>
                          </p:cTn>
                        </p:par>
                      </p:childTnLst>
                    </p:cTn>
                  </p:par>
                  <p:par>
                    <p:cTn id="57" fill="hold">
                      <p:stCondLst>
                        <p:cond delay="indefinite"/>
                      </p:stCondLst>
                      <p:childTnLst>
                        <p:par>
                          <p:cTn id="58" fill="hold">
                            <p:stCondLst>
                              <p:cond delay="0"/>
                            </p:stCondLst>
                            <p:childTnLst>
                              <p:par>
                                <p:cTn id="59" presetID="13" presetClass="entr" presetSubtype="16" fill="hold" grpId="0" nodeType="clickEffect">
                                  <p:stCondLst>
                                    <p:cond delay="0"/>
                                  </p:stCondLst>
                                  <p:childTnLst>
                                    <p:set>
                                      <p:cBhvr>
                                        <p:cTn id="60" dur="1" fill="hold">
                                          <p:stCondLst>
                                            <p:cond delay="0"/>
                                          </p:stCondLst>
                                        </p:cTn>
                                        <p:tgtEl>
                                          <p:spTgt spid="132279"/>
                                        </p:tgtEl>
                                        <p:attrNameLst>
                                          <p:attrName>style.visibility</p:attrName>
                                        </p:attrNameLst>
                                      </p:cBhvr>
                                      <p:to>
                                        <p:strVal val="visible"/>
                                      </p:to>
                                    </p:set>
                                    <p:animEffect transition="in" filter="plus(in)">
                                      <p:cBhvr>
                                        <p:cTn id="61" dur="2000"/>
                                        <p:tgtEl>
                                          <p:spTgt spid="132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207" grpId="0"/>
      <p:bldP spid="132279" grpId="0" bldLvl="0" animBg="1"/>
      <p:bldP spid="132284" grpId="0"/>
    </p:bld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6" name="Rectangle 3"/>
          <p:cNvSpPr txBox="1"/>
          <p:nvPr/>
        </p:nvSpPr>
        <p:spPr>
          <a:xfrm>
            <a:off x="598488" y="1114425"/>
            <a:ext cx="8124825" cy="4559300"/>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lnSpc>
                <a:spcPct val="120000"/>
              </a:lnSpc>
            </a:pPr>
            <a:r>
              <a:rPr lang="zh-CN" altLang="en-US" sz="2400" dirty="0">
                <a:latin typeface="华文楷体" panose="02010600040101010101" pitchFamily="2" charset="-122"/>
              </a:rPr>
              <a:t>Selection,Projection,(Natural)Join是关系代数中最常使用的操作。</a:t>
            </a:r>
            <a:endParaRPr lang="zh-CN" altLang="en-US" sz="2400" dirty="0">
              <a:latin typeface="华文楷体" panose="02010600040101010101" pitchFamily="2" charset="-122"/>
            </a:endParaRPr>
          </a:p>
          <a:p>
            <a:pPr marL="342900" lvl="0" indent="-342900" eaLnBrk="1" hangingPunct="1"/>
            <a:r>
              <a:rPr lang="zh-CN" altLang="en-US" sz="2400" dirty="0">
                <a:latin typeface="华文楷体" panose="02010600040101010101" pitchFamily="2" charset="-122"/>
              </a:rPr>
              <a:t>RDBMS的优化研究主要是指SPJ查询。</a:t>
            </a:r>
            <a:endParaRPr lang="zh-CN" altLang="en-US" sz="2400" dirty="0">
              <a:latin typeface="华文楷体" panose="02010600040101010101" pitchFamily="2" charset="-122"/>
            </a:endParaRPr>
          </a:p>
          <a:p>
            <a:pPr marL="342900" lvl="0" indent="-342900" eaLnBrk="1" hangingPunct="1"/>
            <a:r>
              <a:rPr lang="zh-CN" altLang="en-US" sz="2400" dirty="0">
                <a:latin typeface="华文楷体" panose="02010600040101010101" pitchFamily="2" charset="-122"/>
              </a:rPr>
              <a:t>例如上例结果是：</a:t>
            </a:r>
            <a:endParaRPr lang="zh-CN" altLang="en-US" sz="2400" dirty="0">
              <a:latin typeface="华文楷体" panose="02010600040101010101" pitchFamily="2" charset="-122"/>
            </a:endParaRPr>
          </a:p>
          <a:p>
            <a:pPr marL="342900" lvl="0" indent="-342900" eaLnBrk="1" hangingPunct="1"/>
            <a:endParaRPr lang="zh-CN" altLang="en-US" sz="2400" dirty="0">
              <a:latin typeface="华文楷体" panose="02010600040101010101" pitchFamily="2" charset="-122"/>
            </a:endParaRPr>
          </a:p>
          <a:p>
            <a:pPr marL="342900" lvl="0" indent="-342900" eaLnBrk="1" hangingPunct="1"/>
            <a:endParaRPr lang="zh-CN" altLang="en-US" sz="2400" dirty="0">
              <a:latin typeface="华文楷体" panose="02010600040101010101" pitchFamily="2" charset="-122"/>
            </a:endParaRPr>
          </a:p>
          <a:p>
            <a:pPr marL="342900" lvl="0" indent="-342900" eaLnBrk="1" hangingPunct="1"/>
            <a:r>
              <a:rPr lang="zh-CN" altLang="en-US" sz="2400" dirty="0">
                <a:latin typeface="华文楷体" panose="02010600040101010101" pitchFamily="2" charset="-122"/>
              </a:rPr>
              <a:t>可以做如下优化：</a:t>
            </a:r>
            <a:endParaRPr lang="zh-CN" altLang="en-US" sz="2400" dirty="0">
              <a:latin typeface="华文楷体" panose="02010600040101010101" pitchFamily="2" charset="-122"/>
            </a:endParaRPr>
          </a:p>
        </p:txBody>
      </p:sp>
      <p:sp>
        <p:nvSpPr>
          <p:cNvPr id="180227" name="Rectangle 18"/>
          <p:cNvSpPr/>
          <p:nvPr/>
        </p:nvSpPr>
        <p:spPr>
          <a:xfrm>
            <a:off x="738188" y="2933700"/>
            <a:ext cx="6248400" cy="762000"/>
          </a:xfrm>
          <a:prstGeom prst="rect">
            <a:avLst/>
          </a:prstGeom>
          <a:no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zh-CN" altLang="en-US" sz="2400" dirty="0">
                <a:latin typeface="宋体" panose="02010600030101010101" pitchFamily="2" charset="-122"/>
                <a:sym typeface="Symbol" panose="05050102010706020507" pitchFamily="18" charset="2"/>
              </a:rPr>
              <a:t>(（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a:t>
            </a:r>
            <a:r>
              <a:rPr lang="zh-CN" altLang="en-US" sz="2400" dirty="0">
                <a:latin typeface="宋体" panose="02010600030101010101" pitchFamily="2" charset="-122"/>
                <a:sym typeface="Symbol" panose="05050102010706020507" pitchFamily="18" charset="2"/>
              </a:rPr>
              <a:t>(C)）    E)    S)</a:t>
            </a:r>
            <a:endParaRPr lang="de-DE" altLang="en-US" sz="2400" dirty="0">
              <a:latin typeface="宋体" panose="02010600030101010101" pitchFamily="2" charset="-122"/>
            </a:endParaRPr>
          </a:p>
        </p:txBody>
      </p:sp>
      <p:grpSp>
        <p:nvGrpSpPr>
          <p:cNvPr id="180228" name="Group 8"/>
          <p:cNvGrpSpPr/>
          <p:nvPr/>
        </p:nvGrpSpPr>
        <p:grpSpPr>
          <a:xfrm flipH="1">
            <a:off x="4895850" y="3262313"/>
            <a:ext cx="387350" cy="217487"/>
            <a:chOff x="0" y="0"/>
            <a:chExt cx="182" cy="136"/>
          </a:xfrm>
        </p:grpSpPr>
        <p:sp>
          <p:nvSpPr>
            <p:cNvPr id="180246" name="Line 9"/>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47"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48"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49"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grpSp>
        <p:nvGrpSpPr>
          <p:cNvPr id="180229" name="Group 8"/>
          <p:cNvGrpSpPr/>
          <p:nvPr/>
        </p:nvGrpSpPr>
        <p:grpSpPr>
          <a:xfrm flipH="1">
            <a:off x="5854700" y="3290888"/>
            <a:ext cx="430213" cy="233362"/>
            <a:chOff x="0" y="0"/>
            <a:chExt cx="182" cy="136"/>
          </a:xfrm>
        </p:grpSpPr>
        <p:sp>
          <p:nvSpPr>
            <p:cNvPr id="180242" name="Line 9"/>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43"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44"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45"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sp>
        <p:nvSpPr>
          <p:cNvPr id="180230" name="Rectangle 4"/>
          <p:cNvSpPr/>
          <p:nvPr/>
        </p:nvSpPr>
        <p:spPr>
          <a:xfrm>
            <a:off x="920750" y="4297363"/>
            <a:ext cx="7345363" cy="6032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50000"/>
              </a:spcBef>
              <a:buClrTx/>
              <a:buSzTx/>
              <a:buFont typeface="Arial" panose="020B0604020202020204" pitchFamily="34" charset="0"/>
              <a:buNone/>
            </a:pPr>
            <a:r>
              <a:rPr lang="de-DE" altLang="en-US" sz="2800" dirty="0">
                <a:latin typeface="宋体" panose="02010600030101010101" pitchFamily="2" charset="-122"/>
                <a:sym typeface="Symbol" panose="05050102010706020507" pitchFamily="18" charset="2"/>
              </a:rPr>
              <a:t></a:t>
            </a:r>
            <a:r>
              <a:rPr lang="zh-CN" altLang="en-US" sz="2800" baseline="-25000" dirty="0">
                <a:latin typeface="宋体" panose="02010600030101010101" pitchFamily="2" charset="-122"/>
                <a:sym typeface="Symbol" panose="05050102010706020507" pitchFamily="18" charset="2"/>
              </a:rPr>
              <a:t>sname</a:t>
            </a:r>
            <a:r>
              <a:rPr lang="zh-CN" altLang="en-US" sz="2800" dirty="0">
                <a:latin typeface="宋体" panose="02010600030101010101" pitchFamily="2" charset="-122"/>
                <a:sym typeface="Symbol" panose="05050102010706020507" pitchFamily="18" charset="2"/>
              </a:rPr>
              <a:t> (</a:t>
            </a:r>
            <a:r>
              <a:rPr lang="de-DE" altLang="en-US" sz="2800" dirty="0">
                <a:solidFill>
                  <a:srgbClr val="CC0000"/>
                </a:solidFill>
                <a:latin typeface="宋体" panose="02010600030101010101" pitchFamily="2" charset="-122"/>
                <a:sym typeface="Symbol" panose="05050102010706020507" pitchFamily="18" charset="2"/>
              </a:rPr>
              <a:t></a:t>
            </a:r>
            <a:r>
              <a:rPr lang="zh-CN" altLang="en-US" sz="2800" baseline="-25000" dirty="0">
                <a:solidFill>
                  <a:srgbClr val="CC0000"/>
                </a:solidFill>
                <a:latin typeface="宋体" panose="02010600030101010101" pitchFamily="2" charset="-122"/>
                <a:sym typeface="Symbol" panose="05050102010706020507" pitchFamily="18" charset="2"/>
              </a:rPr>
              <a:t>sid</a:t>
            </a:r>
            <a:r>
              <a:rPr lang="zh-CN" altLang="en-US" sz="2800" dirty="0">
                <a:latin typeface="宋体" panose="02010600030101010101" pitchFamily="2" charset="-122"/>
                <a:sym typeface="Symbol" panose="05050102010706020507" pitchFamily="18" charset="2"/>
              </a:rPr>
              <a:t>( </a:t>
            </a:r>
            <a:r>
              <a:rPr lang="de-DE" altLang="en-US" sz="2800" dirty="0">
                <a:latin typeface="宋体" panose="02010600030101010101" pitchFamily="2" charset="-122"/>
                <a:sym typeface="Symbol" panose="05050102010706020507" pitchFamily="18" charset="2"/>
              </a:rPr>
              <a:t></a:t>
            </a:r>
            <a:r>
              <a:rPr lang="zh-CN" altLang="en-US" sz="2800" baseline="-25000" dirty="0">
                <a:latin typeface="宋体" panose="02010600030101010101" pitchFamily="2" charset="-122"/>
                <a:sym typeface="Symbol" panose="05050102010706020507" pitchFamily="18" charset="2"/>
              </a:rPr>
              <a:t>cid</a:t>
            </a:r>
            <a:r>
              <a:rPr lang="zh-CN" altLang="en-US" sz="2800" dirty="0">
                <a:latin typeface="宋体" panose="02010600030101010101" pitchFamily="2" charset="-122"/>
                <a:sym typeface="Symbol" panose="05050102010706020507" pitchFamily="18" charset="2"/>
              </a:rPr>
              <a:t>（</a:t>
            </a:r>
            <a:r>
              <a:rPr lang="zh-CN" altLang="en-US" sz="2800" baseline="-25000" dirty="0">
                <a:latin typeface="宋体" panose="02010600030101010101" pitchFamily="2" charset="-122"/>
                <a:sym typeface="Symbol" panose="05050102010706020507" pitchFamily="18" charset="2"/>
              </a:rPr>
              <a:t>credit=3</a:t>
            </a:r>
            <a:r>
              <a:rPr lang="zh-CN" altLang="en-US" sz="2800" dirty="0">
                <a:latin typeface="宋体" panose="02010600030101010101" pitchFamily="2" charset="-122"/>
                <a:sym typeface="Symbol" panose="05050102010706020507" pitchFamily="18" charset="2"/>
              </a:rPr>
              <a:t>(C))   E)   S)</a:t>
            </a:r>
            <a:endParaRPr lang="de-DE" altLang="en-US" sz="2800" dirty="0">
              <a:latin typeface="宋体" panose="02010600030101010101" pitchFamily="2" charset="-122"/>
              <a:sym typeface="Symbol" panose="05050102010706020507" pitchFamily="18" charset="2"/>
            </a:endParaRPr>
          </a:p>
        </p:txBody>
      </p:sp>
      <p:grpSp>
        <p:nvGrpSpPr>
          <p:cNvPr id="180231" name="Group 8"/>
          <p:cNvGrpSpPr/>
          <p:nvPr/>
        </p:nvGrpSpPr>
        <p:grpSpPr>
          <a:xfrm flipH="1">
            <a:off x="5897563" y="4510088"/>
            <a:ext cx="379412" cy="219075"/>
            <a:chOff x="0" y="0"/>
            <a:chExt cx="182" cy="136"/>
          </a:xfrm>
        </p:grpSpPr>
        <p:sp>
          <p:nvSpPr>
            <p:cNvPr id="180238" name="Line 9"/>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39" name="Line 10"/>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40" name="Line 11"/>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41" name="Line 12"/>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grpSp>
        <p:nvGrpSpPr>
          <p:cNvPr id="180232" name="Group 13"/>
          <p:cNvGrpSpPr/>
          <p:nvPr/>
        </p:nvGrpSpPr>
        <p:grpSpPr>
          <a:xfrm flipH="1">
            <a:off x="6834188" y="4510088"/>
            <a:ext cx="379412" cy="219075"/>
            <a:chOff x="0" y="0"/>
            <a:chExt cx="182" cy="136"/>
          </a:xfrm>
        </p:grpSpPr>
        <p:sp>
          <p:nvSpPr>
            <p:cNvPr id="180234" name="Line 14"/>
            <p:cNvSpPr/>
            <p:nvPr/>
          </p:nvSpPr>
          <p:spPr>
            <a:xfrm>
              <a:off x="0" y="0"/>
              <a:ext cx="0" cy="136"/>
            </a:xfrm>
            <a:prstGeom prst="line">
              <a:avLst/>
            </a:prstGeom>
            <a:ln w="19050" cap="flat" cmpd="sng">
              <a:solidFill>
                <a:schemeClr val="tx1"/>
              </a:solidFill>
              <a:prstDash val="solid"/>
              <a:headEnd type="none" w="med" len="med"/>
              <a:tailEnd type="none" w="med" len="med"/>
            </a:ln>
          </p:spPr>
        </p:sp>
        <p:sp>
          <p:nvSpPr>
            <p:cNvPr id="180235" name="Line 15"/>
            <p:cNvSpPr/>
            <p:nvPr/>
          </p:nvSpPr>
          <p:spPr>
            <a:xfrm>
              <a:off x="182" y="0"/>
              <a:ext cx="0" cy="136"/>
            </a:xfrm>
            <a:prstGeom prst="line">
              <a:avLst/>
            </a:prstGeom>
            <a:ln w="19050" cap="flat" cmpd="sng">
              <a:solidFill>
                <a:schemeClr val="tx1"/>
              </a:solidFill>
              <a:prstDash val="solid"/>
              <a:headEnd type="none" w="med" len="med"/>
              <a:tailEnd type="none" w="med" len="med"/>
            </a:ln>
          </p:spPr>
        </p:sp>
        <p:sp>
          <p:nvSpPr>
            <p:cNvPr id="180236" name="Line 16"/>
            <p:cNvSpPr/>
            <p:nvPr/>
          </p:nvSpPr>
          <p:spPr>
            <a:xfrm>
              <a:off x="0" y="0"/>
              <a:ext cx="182" cy="136"/>
            </a:xfrm>
            <a:prstGeom prst="line">
              <a:avLst/>
            </a:prstGeom>
            <a:ln w="19050" cap="flat" cmpd="sng">
              <a:solidFill>
                <a:schemeClr val="tx1"/>
              </a:solidFill>
              <a:prstDash val="solid"/>
              <a:headEnd type="none" w="med" len="med"/>
              <a:tailEnd type="none" w="med" len="med"/>
            </a:ln>
          </p:spPr>
        </p:sp>
        <p:sp>
          <p:nvSpPr>
            <p:cNvPr id="180237" name="Line 17"/>
            <p:cNvSpPr/>
            <p:nvPr/>
          </p:nvSpPr>
          <p:spPr>
            <a:xfrm flipH="1">
              <a:off x="0" y="0"/>
              <a:ext cx="182" cy="136"/>
            </a:xfrm>
            <a:prstGeom prst="line">
              <a:avLst/>
            </a:prstGeom>
            <a:ln w="19050" cap="flat" cmpd="sng">
              <a:solidFill>
                <a:schemeClr val="tx1"/>
              </a:solidFill>
              <a:prstDash val="solid"/>
              <a:headEnd type="none" w="med" len="med"/>
              <a:tailEnd type="none" w="med" len="med"/>
            </a:ln>
          </p:spPr>
        </p:sp>
      </p:grpSp>
      <p:sp>
        <p:nvSpPr>
          <p:cNvPr id="180233"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p:nvPr/>
        </p:nvSpPr>
        <p:spPr>
          <a:xfrm>
            <a:off x="0" y="4452938"/>
            <a:ext cx="6488113" cy="193833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de-DE" altLang="en-US" sz="2400" dirty="0">
                <a:latin typeface="宋体" panose="02010600030101010101" pitchFamily="2" charset="-122"/>
                <a:sym typeface="Symbol" panose="05050102010706020507" pitchFamily="18" charset="2"/>
              </a:rPr>
              <a:t>1. </a:t>
            </a:r>
            <a:r>
              <a:rPr lang="de-DE"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（tmp,（</a:t>
            </a:r>
            <a:r>
              <a:rPr lang="zh-CN" altLang="en-US" sz="2400" baseline="-25000" dirty="0">
                <a:latin typeface="Times New Roman" panose="02020603050405020304" pitchFamily="18" charset="0"/>
                <a:sym typeface="Symbol" panose="05050102010706020507" pitchFamily="18" charset="2"/>
              </a:rPr>
              <a:t>credit=3</a:t>
            </a:r>
            <a:r>
              <a:rPr lang="zh-CN" altLang="en-US" sz="2400" dirty="0">
                <a:latin typeface="Times New Roman" panose="02020603050405020304" pitchFamily="18" charset="0"/>
                <a:sym typeface="Symbol" panose="05050102010706020507" pitchFamily="18" charset="2"/>
              </a:rPr>
              <a:t>(C) ）</a:t>
            </a:r>
            <a:r>
              <a:rPr lang="zh-CN" altLang="en-US" sz="2400" dirty="0">
                <a:latin typeface="宋体" panose="02010600030101010101" pitchFamily="2" charset="-122"/>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 </a:t>
            </a:r>
            <a:r>
              <a:rPr lang="zh-CN" altLang="en-US" sz="2400" baseline="-25000" dirty="0">
                <a:latin typeface="Times New Roman" panose="02020603050405020304" pitchFamily="18" charset="0"/>
                <a:sym typeface="Symbol" panose="05050102010706020507" pitchFamily="18" charset="2"/>
              </a:rPr>
              <a:t>credit=4</a:t>
            </a:r>
            <a:r>
              <a:rPr lang="zh-CN" altLang="en-US" sz="2400" dirty="0">
                <a:latin typeface="Times New Roman" panose="02020603050405020304" pitchFamily="18" charset="0"/>
                <a:sym typeface="Symbol" panose="05050102010706020507" pitchFamily="18" charset="2"/>
              </a:rPr>
              <a:t>(C) ） ）</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latin typeface="Times New Roman" panose="02020603050405020304" pitchFamily="18" charset="0"/>
                <a:sym typeface="Symbol" panose="05050102010706020507" pitchFamily="18" charset="2"/>
              </a:rPr>
              <a:t>2.  </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(tmp)</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AutoNum type="arabicPeriod" startAt="3"/>
            </a:pP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(tmp)      E</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AutoNum type="arabicPeriod" startAt="3"/>
            </a:pPr>
            <a:r>
              <a:rPr lang="de-DE" altLang="en-US" sz="2400" dirty="0">
                <a:latin typeface="Times New Roman" panose="02020603050405020304" pitchFamily="18" charset="0"/>
                <a:sym typeface="Symbol" panose="05050102010706020507" pitchFamily="18" charset="2"/>
              </a:rPr>
              <a:t>5.  </a:t>
            </a:r>
            <a:r>
              <a:rPr lang="zh-CN" altLang="en-US" sz="2400" baseline="-25000" dirty="0">
                <a:latin typeface="Times New Roman" panose="02020603050405020304" pitchFamily="18" charset="0"/>
                <a:sym typeface="Symbol" panose="05050102010706020507" pitchFamily="18" charset="2"/>
              </a:rPr>
              <a:t>sname</a:t>
            </a:r>
            <a:r>
              <a:rPr lang="de-DE" altLang="en-US" sz="2400" dirty="0">
                <a:latin typeface="Times New Roman" panose="02020603050405020304" pitchFamily="18" charset="0"/>
                <a:sym typeface="Symbol" panose="05050102010706020507" pitchFamily="18" charset="2"/>
              </a:rPr>
              <a:t> (</a:t>
            </a:r>
            <a:r>
              <a:rPr lang="zh-CN"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a:t>
            </a:r>
            <a:r>
              <a:rPr lang="zh-CN" altLang="en-US" sz="2400" dirty="0">
                <a:latin typeface="Times New Roman" panose="02020603050405020304" pitchFamily="18" charset="0"/>
                <a:sym typeface="Symbol" panose="05050102010706020507" pitchFamily="18" charset="2"/>
              </a:rPr>
              <a:t> (tmp)     E     S）</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990099"/>
                </a:solidFill>
                <a:latin typeface="宋体" panose="02010600030101010101" pitchFamily="2" charset="-122"/>
                <a:sym typeface="Wingdings" panose="05000000000000000000" pitchFamily="2" charset="2"/>
              </a:rPr>
              <a:t>   </a:t>
            </a:r>
            <a:r>
              <a:rPr lang="de-DE"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sname</a:t>
            </a:r>
            <a:r>
              <a:rPr lang="de-DE" altLang="en-US" sz="2400" dirty="0">
                <a:latin typeface="宋体" panose="02010600030101010101" pitchFamily="2" charset="-122"/>
                <a:sym typeface="Symbol" panose="05050102010706020507" pitchFamily="18" charset="2"/>
              </a:rPr>
              <a:t>(</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cid</a:t>
            </a:r>
            <a:r>
              <a:rPr lang="zh-CN" altLang="en-US" sz="2400" dirty="0">
                <a:latin typeface="宋体" panose="02010600030101010101" pitchFamily="2" charset="-122"/>
                <a:sym typeface="Symbol" panose="05050102010706020507" pitchFamily="18" charset="2"/>
              </a:rPr>
              <a:t>(</a:t>
            </a:r>
            <a:r>
              <a:rPr lang="zh-CN" altLang="en-US" sz="2400" baseline="-25000" dirty="0">
                <a:latin typeface="宋体" panose="02010600030101010101" pitchFamily="2" charset="-122"/>
                <a:sym typeface="Symbol" panose="05050102010706020507" pitchFamily="18" charset="2"/>
              </a:rPr>
              <a:t>credit=3 ∨credit=4</a:t>
            </a:r>
            <a:r>
              <a:rPr lang="zh-CN" altLang="en-US" sz="2400" dirty="0">
                <a:latin typeface="宋体" panose="02010600030101010101" pitchFamily="2" charset="-122"/>
                <a:sym typeface="Symbol" panose="05050102010706020507" pitchFamily="18" charset="2"/>
              </a:rPr>
              <a:t> (C))  E   S）</a:t>
            </a:r>
            <a:endParaRPr lang="zh-CN" altLang="en-US" sz="2400" dirty="0">
              <a:latin typeface="宋体" panose="02010600030101010101" pitchFamily="2" charset="-122"/>
              <a:sym typeface="Symbol" panose="05050102010706020507" pitchFamily="18" charset="2"/>
            </a:endParaRPr>
          </a:p>
        </p:txBody>
      </p:sp>
      <p:sp>
        <p:nvSpPr>
          <p:cNvPr id="181251" name="Text Box 3"/>
          <p:cNvSpPr txBox="1"/>
          <p:nvPr/>
        </p:nvSpPr>
        <p:spPr>
          <a:xfrm>
            <a:off x="4464050" y="985838"/>
            <a:ext cx="1447800" cy="6604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solidFill>
                  <a:srgbClr val="0000CC"/>
                </a:solidFill>
                <a:latin typeface="宋体" panose="02010600030101010101" pitchFamily="2" charset="-122"/>
              </a:rPr>
              <a:t>C</a:t>
            </a:r>
            <a:endParaRPr lang="de-DE" altLang="en-US" sz="3200" dirty="0">
              <a:solidFill>
                <a:srgbClr val="0000CC"/>
              </a:solidFill>
              <a:latin typeface="宋体" panose="02010600030101010101" pitchFamily="2" charset="-122"/>
            </a:endParaRPr>
          </a:p>
        </p:txBody>
      </p:sp>
      <p:graphicFrame>
        <p:nvGraphicFramePr>
          <p:cNvPr id="135172" name="表格 135171"/>
          <p:cNvGraphicFramePr/>
          <p:nvPr/>
        </p:nvGraphicFramePr>
        <p:xfrm>
          <a:off x="1044575" y="1058863"/>
          <a:ext cx="3770313" cy="2597150"/>
        </p:xfrm>
        <a:graphic>
          <a:graphicData uri="http://schemas.openxmlformats.org/drawingml/2006/table">
            <a:tbl>
              <a:tblPr/>
              <a:tblGrid>
                <a:gridCol w="944563"/>
                <a:gridCol w="1143000"/>
                <a:gridCol w="720725"/>
                <a:gridCol w="96202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22</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董一溪</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孙小惠</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1294" name="Text Box 46"/>
          <p:cNvSpPr txBox="1"/>
          <p:nvPr/>
        </p:nvSpPr>
        <p:spPr>
          <a:xfrm>
            <a:off x="431800" y="1058863"/>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a:t>
            </a:r>
            <a:endParaRPr lang="de-DE" altLang="en-US" sz="3200" dirty="0">
              <a:latin typeface="宋体" panose="02010600030101010101" pitchFamily="2" charset="-122"/>
            </a:endParaRPr>
          </a:p>
        </p:txBody>
      </p:sp>
      <p:graphicFrame>
        <p:nvGraphicFramePr>
          <p:cNvPr id="135215" name="表格 135214"/>
          <p:cNvGraphicFramePr/>
          <p:nvPr/>
        </p:nvGraphicFramePr>
        <p:xfrm>
          <a:off x="5616575" y="985838"/>
          <a:ext cx="3309938" cy="2212975"/>
        </p:xfrm>
        <a:graphic>
          <a:graphicData uri="http://schemas.openxmlformats.org/drawingml/2006/table">
            <a:tbl>
              <a:tblPr/>
              <a:tblGrid>
                <a:gridCol w="798513"/>
                <a:gridCol w="1509712"/>
                <a:gridCol w="1001713"/>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credit</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101</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数据库</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7148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102</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计算机网络</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4</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5508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103</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数据结构</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104</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3300"/>
                          </a:solidFill>
                        </a:rPr>
                        <a:t>Java</a:t>
                      </a:r>
                      <a:r>
                        <a:rPr lang="zh-CN" altLang="en-US" sz="2000" b="0">
                          <a:solidFill>
                            <a:srgbClr val="003300"/>
                          </a:solidFill>
                        </a:rPr>
                        <a:t>语言</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5241" name="表格 135240"/>
          <p:cNvGraphicFramePr/>
          <p:nvPr/>
        </p:nvGraphicFramePr>
        <p:xfrm>
          <a:off x="6400800" y="3703638"/>
          <a:ext cx="2401888" cy="2597150"/>
        </p:xfrm>
        <a:graphic>
          <a:graphicData uri="http://schemas.openxmlformats.org/drawingml/2006/table">
            <a:tbl>
              <a:tblPr/>
              <a:tblGrid>
                <a:gridCol w="955675"/>
                <a:gridCol w="566738"/>
                <a:gridCol w="87947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cid</a:t>
                      </a:r>
                      <a:endParaRPr lang="de-DE" altLang="en-US" sz="2000" b="0" u="sng"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sp>
        <p:nvSpPr>
          <p:cNvPr id="181355" name="Text Box 107"/>
          <p:cNvSpPr txBox="1"/>
          <p:nvPr/>
        </p:nvSpPr>
        <p:spPr>
          <a:xfrm>
            <a:off x="5545138" y="3690938"/>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E</a:t>
            </a:r>
            <a:endParaRPr lang="de-DE" altLang="en-US" sz="3200" dirty="0">
              <a:latin typeface="宋体" panose="02010600030101010101" pitchFamily="2" charset="-122"/>
            </a:endParaRPr>
          </a:p>
        </p:txBody>
      </p:sp>
      <p:sp>
        <p:nvSpPr>
          <p:cNvPr id="135276" name="Rectangle 108"/>
          <p:cNvSpPr/>
          <p:nvPr/>
        </p:nvSpPr>
        <p:spPr>
          <a:xfrm>
            <a:off x="203200" y="3725863"/>
            <a:ext cx="399097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例题：写出选修了学分为3或4课程的学生的姓名</a:t>
            </a:r>
            <a:endParaRPr lang="zh-CN" altLang="en-US" sz="2400" dirty="0">
              <a:latin typeface="华文楷体" panose="02010600040101010101" pitchFamily="2" charset="-122"/>
              <a:ea typeface="华文楷体" panose="02010600040101010101" pitchFamily="2" charset="-122"/>
            </a:endParaRPr>
          </a:p>
        </p:txBody>
      </p:sp>
      <p:grpSp>
        <p:nvGrpSpPr>
          <p:cNvPr id="135277" name="Group 109"/>
          <p:cNvGrpSpPr/>
          <p:nvPr/>
        </p:nvGrpSpPr>
        <p:grpSpPr>
          <a:xfrm>
            <a:off x="4999038" y="1344613"/>
            <a:ext cx="3744912" cy="1368425"/>
            <a:chOff x="0" y="0"/>
            <a:chExt cx="2359" cy="862"/>
          </a:xfrm>
        </p:grpSpPr>
        <p:sp>
          <p:nvSpPr>
            <p:cNvPr id="181397" name="Rectangle 110"/>
            <p:cNvSpPr/>
            <p:nvPr/>
          </p:nvSpPr>
          <p:spPr>
            <a:xfrm>
              <a:off x="454" y="0"/>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8" name="Rectangle 111"/>
            <p:cNvSpPr/>
            <p:nvPr/>
          </p:nvSpPr>
          <p:spPr>
            <a:xfrm>
              <a:off x="454" y="726"/>
              <a:ext cx="1905" cy="136"/>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9" name="Rectangle 112"/>
            <p:cNvSpPr/>
            <p:nvPr/>
          </p:nvSpPr>
          <p:spPr>
            <a:xfrm>
              <a:off x="0" y="227"/>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400" name="Rectangle 113"/>
            <p:cNvSpPr/>
            <p:nvPr/>
          </p:nvSpPr>
          <p:spPr>
            <a:xfrm>
              <a:off x="453" y="272"/>
              <a:ext cx="1905" cy="182"/>
            </a:xfrm>
            <a:prstGeom prst="rect">
              <a:avLst/>
            </a:prstGeom>
            <a:solidFill>
              <a:srgbClr val="339966">
                <a:alpha val="38823"/>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58" name="Group 114"/>
          <p:cNvGrpSpPr/>
          <p:nvPr/>
        </p:nvGrpSpPr>
        <p:grpSpPr>
          <a:xfrm>
            <a:off x="3168650" y="5762625"/>
            <a:ext cx="228600" cy="152400"/>
            <a:chOff x="0" y="0"/>
            <a:chExt cx="384" cy="288"/>
          </a:xfrm>
        </p:grpSpPr>
        <p:sp>
          <p:nvSpPr>
            <p:cNvPr id="181395" name="AutoShape 115"/>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6" name="AutoShape 116"/>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59" name="Group 117"/>
          <p:cNvGrpSpPr/>
          <p:nvPr/>
        </p:nvGrpSpPr>
        <p:grpSpPr>
          <a:xfrm>
            <a:off x="5259388" y="6062663"/>
            <a:ext cx="228600" cy="152400"/>
            <a:chOff x="0" y="0"/>
            <a:chExt cx="384" cy="288"/>
          </a:xfrm>
        </p:grpSpPr>
        <p:sp>
          <p:nvSpPr>
            <p:cNvPr id="181393" name="AutoShape 118"/>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4" name="AutoShape 119"/>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60" name="Group 120"/>
          <p:cNvGrpSpPr/>
          <p:nvPr/>
        </p:nvGrpSpPr>
        <p:grpSpPr>
          <a:xfrm>
            <a:off x="5807075" y="6076950"/>
            <a:ext cx="228600" cy="152400"/>
            <a:chOff x="0" y="0"/>
            <a:chExt cx="384" cy="288"/>
          </a:xfrm>
        </p:grpSpPr>
        <p:sp>
          <p:nvSpPr>
            <p:cNvPr id="181391" name="AutoShape 121"/>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2" name="AutoShape 122"/>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61" name="Group 123"/>
          <p:cNvGrpSpPr/>
          <p:nvPr/>
        </p:nvGrpSpPr>
        <p:grpSpPr>
          <a:xfrm>
            <a:off x="3730625" y="5719763"/>
            <a:ext cx="228600" cy="152400"/>
            <a:chOff x="0" y="0"/>
            <a:chExt cx="384" cy="288"/>
          </a:xfrm>
        </p:grpSpPr>
        <p:sp>
          <p:nvSpPr>
            <p:cNvPr id="181389" name="AutoShape 124"/>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90" name="AutoShape 125"/>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35294" name="Group 126"/>
          <p:cNvGrpSpPr/>
          <p:nvPr/>
        </p:nvGrpSpPr>
        <p:grpSpPr>
          <a:xfrm>
            <a:off x="5184775" y="985838"/>
            <a:ext cx="1296988" cy="3062287"/>
            <a:chOff x="0" y="0"/>
            <a:chExt cx="817" cy="1929"/>
          </a:xfrm>
        </p:grpSpPr>
        <p:sp>
          <p:nvSpPr>
            <p:cNvPr id="181387" name="Rectangle 127"/>
            <p:cNvSpPr/>
            <p:nvPr/>
          </p:nvSpPr>
          <p:spPr>
            <a:xfrm>
              <a:off x="0" y="1452"/>
              <a:ext cx="376"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388" name="Rectangle 128"/>
            <p:cNvSpPr/>
            <p:nvPr/>
          </p:nvSpPr>
          <p:spPr>
            <a:xfrm>
              <a:off x="272" y="0"/>
              <a:ext cx="545" cy="1678"/>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81363" name="Group 129"/>
          <p:cNvGrpSpPr/>
          <p:nvPr/>
        </p:nvGrpSpPr>
        <p:grpSpPr>
          <a:xfrm>
            <a:off x="1914525" y="5343525"/>
            <a:ext cx="228600" cy="152400"/>
            <a:chOff x="0" y="0"/>
            <a:chExt cx="384" cy="288"/>
          </a:xfrm>
        </p:grpSpPr>
        <p:sp>
          <p:nvSpPr>
            <p:cNvPr id="181385" name="AutoShape 130"/>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6" name="AutoShape 131"/>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5300" name="Rectangle 132"/>
          <p:cNvSpPr/>
          <p:nvPr/>
        </p:nvSpPr>
        <p:spPr>
          <a:xfrm>
            <a:off x="0" y="6034088"/>
            <a:ext cx="6337300" cy="433387"/>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5301" name="Rectangle 133"/>
          <p:cNvSpPr/>
          <p:nvPr/>
        </p:nvSpPr>
        <p:spPr>
          <a:xfrm>
            <a:off x="0" y="5302250"/>
            <a:ext cx="5651500" cy="287338"/>
          </a:xfrm>
          <a:prstGeom prst="rect">
            <a:avLst/>
          </a:prstGeom>
          <a:solidFill>
            <a:srgbClr val="DAEDEF">
              <a:alpha val="98822"/>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5302" name="Rectangle 134"/>
          <p:cNvSpPr/>
          <p:nvPr/>
        </p:nvSpPr>
        <p:spPr>
          <a:xfrm>
            <a:off x="0" y="5618163"/>
            <a:ext cx="5651500" cy="433387"/>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5303" name="Rectangle 135"/>
          <p:cNvSpPr/>
          <p:nvPr/>
        </p:nvSpPr>
        <p:spPr>
          <a:xfrm>
            <a:off x="319088" y="4662488"/>
            <a:ext cx="5976937" cy="1568450"/>
          </a:xfrm>
          <a:prstGeom prst="rect">
            <a:avLst/>
          </a:prstGeom>
          <a:solidFill>
            <a:srgbClr val="CCECFF"/>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zh-CN" altLang="en-US" sz="2400" dirty="0">
                <a:solidFill>
                  <a:srgbClr val="663300"/>
                </a:solidFill>
                <a:latin typeface="宋体" panose="02010600030101010101" pitchFamily="2" charset="-122"/>
                <a:sym typeface="Symbol" panose="05050102010706020507" pitchFamily="18" charset="2"/>
              </a:rPr>
              <a:t>SELECT sname</a:t>
            </a:r>
            <a:endParaRPr lang="zh-CN" altLang="en-US" sz="2400" dirty="0">
              <a:solidFill>
                <a:srgbClr val="663300"/>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663300"/>
                </a:solidFill>
                <a:latin typeface="宋体" panose="02010600030101010101" pitchFamily="2" charset="-122"/>
                <a:sym typeface="Symbol" panose="05050102010706020507" pitchFamily="18" charset="2"/>
              </a:rPr>
              <a:t>FROM C, E, S</a:t>
            </a:r>
            <a:endParaRPr lang="zh-CN" altLang="en-US" sz="2400" dirty="0">
              <a:solidFill>
                <a:srgbClr val="663300"/>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663300"/>
                </a:solidFill>
                <a:latin typeface="宋体" panose="02010600030101010101" pitchFamily="2" charset="-122"/>
                <a:sym typeface="Symbol" panose="05050102010706020507" pitchFamily="18" charset="2"/>
              </a:rPr>
              <a:t>WHERE (C.credit=3 OR C.credit=4)AND </a:t>
            </a:r>
            <a:endParaRPr lang="zh-CN" altLang="en-US" sz="2400" dirty="0">
              <a:solidFill>
                <a:srgbClr val="663300"/>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en-US" altLang="zh-CN" sz="2400" dirty="0">
                <a:solidFill>
                  <a:srgbClr val="663300"/>
                </a:solidFill>
                <a:latin typeface="宋体" panose="02010600030101010101" pitchFamily="2" charset="-122"/>
                <a:sym typeface="Symbol" panose="05050102010706020507" pitchFamily="18" charset="2"/>
              </a:rPr>
              <a:t>  </a:t>
            </a:r>
            <a:r>
              <a:rPr lang="zh-CN" altLang="en-US" sz="2400" dirty="0">
                <a:solidFill>
                  <a:srgbClr val="663300"/>
                </a:solidFill>
                <a:latin typeface="宋体" panose="02010600030101010101" pitchFamily="2" charset="-122"/>
                <a:sym typeface="Symbol" panose="05050102010706020507" pitchFamily="18" charset="2"/>
              </a:rPr>
              <a:t> C.cid=E.cid AND E.sid=S.sid</a:t>
            </a:r>
            <a:endParaRPr lang="zh-CN" altLang="en-US" sz="2400" dirty="0">
              <a:solidFill>
                <a:srgbClr val="663300"/>
              </a:solidFill>
              <a:latin typeface="宋体" panose="02010600030101010101" pitchFamily="2" charset="-122"/>
              <a:sym typeface="Symbol" panose="05050102010706020507" pitchFamily="18" charset="2"/>
            </a:endParaRPr>
          </a:p>
        </p:txBody>
      </p:sp>
      <p:grpSp>
        <p:nvGrpSpPr>
          <p:cNvPr id="135304" name="Group 136"/>
          <p:cNvGrpSpPr/>
          <p:nvPr/>
        </p:nvGrpSpPr>
        <p:grpSpPr>
          <a:xfrm>
            <a:off x="6119813" y="2924175"/>
            <a:ext cx="2543175" cy="3214688"/>
            <a:chOff x="0" y="0"/>
            <a:chExt cx="1089" cy="2288"/>
          </a:xfrm>
        </p:grpSpPr>
        <p:sp>
          <p:nvSpPr>
            <p:cNvPr id="181379" name="Rectangle 137"/>
            <p:cNvSpPr/>
            <p:nvPr/>
          </p:nvSpPr>
          <p:spPr>
            <a:xfrm>
              <a:off x="348" y="0"/>
              <a:ext cx="255"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380" name="Line 138"/>
            <p:cNvSpPr/>
            <p:nvPr/>
          </p:nvSpPr>
          <p:spPr>
            <a:xfrm>
              <a:off x="0" y="246"/>
              <a:ext cx="408" cy="227"/>
            </a:xfrm>
            <a:prstGeom prst="line">
              <a:avLst/>
            </a:prstGeom>
            <a:ln w="38100" cap="flat" cmpd="sng">
              <a:solidFill>
                <a:srgbClr val="CC0000"/>
              </a:solidFill>
              <a:prstDash val="solid"/>
              <a:headEnd type="triangle" w="med" len="med"/>
              <a:tailEnd type="triangle" w="med" len="med"/>
            </a:ln>
          </p:spPr>
        </p:sp>
        <p:sp>
          <p:nvSpPr>
            <p:cNvPr id="181381" name="Rectangle 139"/>
            <p:cNvSpPr/>
            <p:nvPr/>
          </p:nvSpPr>
          <p:spPr>
            <a:xfrm>
              <a:off x="66" y="925"/>
              <a:ext cx="998" cy="272"/>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2" name="Rectangle 140"/>
            <p:cNvSpPr/>
            <p:nvPr/>
          </p:nvSpPr>
          <p:spPr>
            <a:xfrm>
              <a:off x="91" y="1335"/>
              <a:ext cx="952" cy="227"/>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3" name="Rectangle 141"/>
            <p:cNvSpPr/>
            <p:nvPr/>
          </p:nvSpPr>
          <p:spPr>
            <a:xfrm>
              <a:off x="91" y="2061"/>
              <a:ext cx="998" cy="227"/>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84" name="Rectangle 142"/>
            <p:cNvSpPr/>
            <p:nvPr/>
          </p:nvSpPr>
          <p:spPr>
            <a:xfrm>
              <a:off x="91" y="1788"/>
              <a:ext cx="952" cy="272"/>
            </a:xfrm>
            <a:prstGeom prst="rect">
              <a:avLst/>
            </a:prstGeom>
            <a:solidFill>
              <a:srgbClr val="FF7C80">
                <a:alpha val="1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grpSp>
        <p:nvGrpSpPr>
          <p:cNvPr id="135311" name="Group 143"/>
          <p:cNvGrpSpPr/>
          <p:nvPr/>
        </p:nvGrpSpPr>
        <p:grpSpPr>
          <a:xfrm>
            <a:off x="1092200" y="1273175"/>
            <a:ext cx="4681538" cy="3341688"/>
            <a:chOff x="0" y="0"/>
            <a:chExt cx="2949" cy="2311"/>
          </a:xfrm>
        </p:grpSpPr>
        <p:sp>
          <p:nvSpPr>
            <p:cNvPr id="181371" name="Line 144"/>
            <p:cNvSpPr/>
            <p:nvPr/>
          </p:nvSpPr>
          <p:spPr>
            <a:xfrm>
              <a:off x="454" y="1587"/>
              <a:ext cx="2495" cy="499"/>
            </a:xfrm>
            <a:prstGeom prst="line">
              <a:avLst/>
            </a:prstGeom>
            <a:ln w="38100" cap="flat" cmpd="sng">
              <a:solidFill>
                <a:srgbClr val="CC0000"/>
              </a:solidFill>
              <a:prstDash val="solid"/>
              <a:headEnd type="triangle" w="med" len="med"/>
              <a:tailEnd type="triangle" w="med" len="med"/>
            </a:ln>
          </p:spPr>
        </p:sp>
        <p:sp>
          <p:nvSpPr>
            <p:cNvPr id="181372" name="Rectangle 145"/>
            <p:cNvSpPr/>
            <p:nvPr/>
          </p:nvSpPr>
          <p:spPr>
            <a:xfrm>
              <a:off x="1818" y="1834"/>
              <a:ext cx="635" cy="477"/>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600" dirty="0">
                  <a:solidFill>
                    <a:srgbClr val="CC0000"/>
                  </a:solidFill>
                  <a:latin typeface="宋体" panose="02010600030101010101" pitchFamily="2" charset="-122"/>
                  <a:sym typeface="Wingdings 2" panose="05020102010507070707" pitchFamily="18" charset="2"/>
                </a:rPr>
                <a:t></a:t>
              </a:r>
              <a:endParaRPr lang="zh-CN" altLang="en-US" sz="3600" dirty="0">
                <a:solidFill>
                  <a:srgbClr val="CC0000"/>
                </a:solidFill>
                <a:latin typeface="宋体" panose="02010600030101010101" pitchFamily="2" charset="-122"/>
                <a:sym typeface="Wingdings 2" panose="05020102010507070707" pitchFamily="18" charset="2"/>
              </a:endParaRPr>
            </a:p>
          </p:txBody>
        </p:sp>
        <p:sp>
          <p:nvSpPr>
            <p:cNvPr id="181373" name="Rectangle 146"/>
            <p:cNvSpPr/>
            <p:nvPr/>
          </p:nvSpPr>
          <p:spPr>
            <a:xfrm>
              <a:off x="0" y="0"/>
              <a:ext cx="2087" cy="272"/>
            </a:xfrm>
            <a:prstGeom prst="rect">
              <a:avLst/>
            </a:prstGeom>
            <a:solidFill>
              <a:srgbClr val="CC00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4" name="Rectangle 147"/>
            <p:cNvSpPr/>
            <p:nvPr/>
          </p:nvSpPr>
          <p:spPr>
            <a:xfrm>
              <a:off x="590" y="0"/>
              <a:ext cx="635" cy="272"/>
            </a:xfrm>
            <a:prstGeom prst="rect">
              <a:avLst/>
            </a:prstGeom>
            <a:solidFill>
              <a:srgbClr val="00FF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5" name="Rectangle 148"/>
            <p:cNvSpPr/>
            <p:nvPr/>
          </p:nvSpPr>
          <p:spPr>
            <a:xfrm>
              <a:off x="0" y="544"/>
              <a:ext cx="2041" cy="227"/>
            </a:xfrm>
            <a:prstGeom prst="rect">
              <a:avLst/>
            </a:prstGeom>
            <a:solidFill>
              <a:srgbClr val="CC00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6" name="Rectangle 149"/>
            <p:cNvSpPr/>
            <p:nvPr/>
          </p:nvSpPr>
          <p:spPr>
            <a:xfrm>
              <a:off x="46" y="1315"/>
              <a:ext cx="2041" cy="227"/>
            </a:xfrm>
            <a:prstGeom prst="rect">
              <a:avLst/>
            </a:prstGeom>
            <a:solidFill>
              <a:srgbClr val="CC00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7" name="Rectangle 150"/>
            <p:cNvSpPr/>
            <p:nvPr/>
          </p:nvSpPr>
          <p:spPr>
            <a:xfrm>
              <a:off x="590" y="544"/>
              <a:ext cx="635" cy="227"/>
            </a:xfrm>
            <a:prstGeom prst="rect">
              <a:avLst/>
            </a:prstGeom>
            <a:solidFill>
              <a:srgbClr val="00FF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1378" name="Rectangle 151"/>
            <p:cNvSpPr/>
            <p:nvPr/>
          </p:nvSpPr>
          <p:spPr>
            <a:xfrm>
              <a:off x="590" y="1315"/>
              <a:ext cx="635" cy="227"/>
            </a:xfrm>
            <a:prstGeom prst="rect">
              <a:avLst/>
            </a:prstGeom>
            <a:solidFill>
              <a:srgbClr val="00FF00">
                <a:alpha val="29019"/>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81370"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276"/>
                                        </p:tgtEl>
                                        <p:attrNameLst>
                                          <p:attrName>style.visibility</p:attrName>
                                        </p:attrNameLst>
                                      </p:cBhvr>
                                      <p:to>
                                        <p:strVal val="visible"/>
                                      </p:to>
                                    </p:set>
                                    <p:animEffect transition="in" filter="dissolve">
                                      <p:cBhvr>
                                        <p:cTn id="7" dur="500"/>
                                        <p:tgtEl>
                                          <p:spTgt spid="135276"/>
                                        </p:tgtEl>
                                      </p:cBhvr>
                                    </p:animEffec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35277"/>
                                        </p:tgtEl>
                                        <p:attrNameLst>
                                          <p:attrName>style.visibility</p:attrName>
                                        </p:attrNameLst>
                                      </p:cBhvr>
                                      <p:to>
                                        <p:strVal val="visible"/>
                                      </p:to>
                                    </p:set>
                                    <p:anim calcmode="lin" valueType="num">
                                      <p:cBhvr>
                                        <p:cTn id="12" dur="500" fill="hold"/>
                                        <p:tgtEl>
                                          <p:spTgt spid="135277"/>
                                        </p:tgtEl>
                                        <p:attrNameLst>
                                          <p:attrName>ppt_w</p:attrName>
                                        </p:attrNameLst>
                                      </p:cBhvr>
                                      <p:tavLst>
                                        <p:tav tm="0">
                                          <p:val>
                                            <p:fltVal val="0.000000"/>
                                          </p:val>
                                        </p:tav>
                                        <p:tav tm="100000">
                                          <p:val>
                                            <p:strVal val="#ppt_w"/>
                                          </p:val>
                                        </p:tav>
                                      </p:tavLst>
                                    </p:anim>
                                    <p:anim calcmode="lin" valueType="num">
                                      <p:cBhvr>
                                        <p:cTn id="13" dur="500" fill="hold"/>
                                        <p:tgtEl>
                                          <p:spTgt spid="135277"/>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nodeType="clickEffect">
                                  <p:stCondLst>
                                    <p:cond delay="0"/>
                                  </p:stCondLst>
                                  <p:childTnLst>
                                    <p:set>
                                      <p:cBhvr>
                                        <p:cTn id="17" dur="1" fill="hold">
                                          <p:stCondLst>
                                            <p:cond delay="0"/>
                                          </p:stCondLst>
                                        </p:cTn>
                                        <p:tgtEl>
                                          <p:spTgt spid="135170">
                                            <p:txEl>
                                              <p:charRg st="0" end="44"/>
                                            </p:txEl>
                                          </p:spTgt>
                                        </p:tgtEl>
                                        <p:attrNameLst>
                                          <p:attrName>style.visibility</p:attrName>
                                        </p:attrNameLst>
                                      </p:cBhvr>
                                      <p:to>
                                        <p:strVal val="visible"/>
                                      </p:to>
                                    </p:set>
                                    <p:anim calcmode="lin" valueType="num">
                                      <p:cBhvr>
                                        <p:cTn id="18" dur="500" fill="hold"/>
                                        <p:tgtEl>
                                          <p:spTgt spid="135170">
                                            <p:txEl>
                                              <p:charRg st="0" end="44"/>
                                            </p:txEl>
                                          </p:spTgt>
                                        </p:tgtEl>
                                        <p:attrNameLst>
                                          <p:attrName>ppt_w</p:attrName>
                                        </p:attrNameLst>
                                      </p:cBhvr>
                                      <p:tavLst>
                                        <p:tav tm="0">
                                          <p:val>
                                            <p:fltVal val="0.000000"/>
                                          </p:val>
                                        </p:tav>
                                        <p:tav tm="100000">
                                          <p:val>
                                            <p:strVal val="#ppt_w"/>
                                          </p:val>
                                        </p:tav>
                                      </p:tavLst>
                                    </p:anim>
                                    <p:anim calcmode="lin" valueType="num">
                                      <p:cBhvr>
                                        <p:cTn id="19" dur="500" fill="hold"/>
                                        <p:tgtEl>
                                          <p:spTgt spid="135170">
                                            <p:txEl>
                                              <p:charRg st="0" end="44"/>
                                            </p:txEl>
                                          </p:spTgt>
                                        </p:tgtEl>
                                        <p:attrNameLst>
                                          <p:attrName>ppt_h</p:attrName>
                                        </p:attrNameLst>
                                      </p:cBhvr>
                                      <p:tavLst>
                                        <p:tav tm="0">
                                          <p:val>
                                            <p:fltVal val="0.000000"/>
                                          </p:val>
                                        </p:tav>
                                        <p:tav tm="100000">
                                          <p:val>
                                            <p:strVal val="#ppt_h"/>
                                          </p:val>
                                        </p:tav>
                                      </p:tavLst>
                                    </p:anim>
                                    <p:anim calcmode="lin" valueType="num">
                                      <p:cBhvr>
                                        <p:cTn id="20" dur="500" fill="hold"/>
                                        <p:tgtEl>
                                          <p:spTgt spid="135170">
                                            <p:txEl>
                                              <p:charRg st="0" end="44"/>
                                            </p:txEl>
                                          </p:spTgt>
                                        </p:tgtEl>
                                        <p:attrNameLst>
                                          <p:attrName>style.rotation</p:attrName>
                                        </p:attrNameLst>
                                      </p:cBhvr>
                                      <p:tavLst>
                                        <p:tav tm="0">
                                          <p:val>
                                            <p:fltVal val="360.000000"/>
                                          </p:val>
                                        </p:tav>
                                        <p:tav tm="100000">
                                          <p:val>
                                            <p:fltVal val="0.000000"/>
                                          </p:val>
                                        </p:tav>
                                      </p:tavLst>
                                    </p:anim>
                                    <p:animEffect transition="in" filter="fade">
                                      <p:cBhvr>
                                        <p:cTn id="21" dur="500"/>
                                        <p:tgtEl>
                                          <p:spTgt spid="135170">
                                            <p:txEl>
                                              <p:charRg st="0" end="4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nodeType="clickEffect">
                                  <p:stCondLst>
                                    <p:cond delay="0"/>
                                  </p:stCondLst>
                                  <p:childTnLst>
                                    <p:set>
                                      <p:cBhvr>
                                        <p:cTn id="25" dur="1" fill="hold">
                                          <p:stCondLst>
                                            <p:cond delay="0"/>
                                          </p:stCondLst>
                                        </p:cTn>
                                        <p:tgtEl>
                                          <p:spTgt spid="135294"/>
                                        </p:tgtEl>
                                        <p:attrNameLst>
                                          <p:attrName>style.visibility</p:attrName>
                                        </p:attrNameLst>
                                      </p:cBhvr>
                                      <p:to>
                                        <p:strVal val="visible"/>
                                      </p:to>
                                    </p:set>
                                    <p:animEffect transition="in" filter="checkerboard(across)">
                                      <p:cBhvr>
                                        <p:cTn id="26" dur="500"/>
                                        <p:tgtEl>
                                          <p:spTgt spid="135294"/>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nodeType="clickEffect">
                                  <p:stCondLst>
                                    <p:cond delay="0"/>
                                  </p:stCondLst>
                                  <p:childTnLst>
                                    <p:set>
                                      <p:cBhvr>
                                        <p:cTn id="30" dur="1" fill="hold">
                                          <p:stCondLst>
                                            <p:cond delay="0"/>
                                          </p:stCondLst>
                                        </p:cTn>
                                        <p:tgtEl>
                                          <p:spTgt spid="135170">
                                            <p:txEl>
                                              <p:charRg st="44" end="59"/>
                                            </p:txEl>
                                          </p:spTgt>
                                        </p:tgtEl>
                                        <p:attrNameLst>
                                          <p:attrName>style.visibility</p:attrName>
                                        </p:attrNameLst>
                                      </p:cBhvr>
                                      <p:to>
                                        <p:strVal val="visible"/>
                                      </p:to>
                                    </p:set>
                                    <p:anim calcmode="lin" valueType="num">
                                      <p:cBhvr>
                                        <p:cTn id="31" dur="500" fill="hold"/>
                                        <p:tgtEl>
                                          <p:spTgt spid="135170">
                                            <p:txEl>
                                              <p:charRg st="44" end="59"/>
                                            </p:txEl>
                                          </p:spTgt>
                                        </p:tgtEl>
                                        <p:attrNameLst>
                                          <p:attrName>ppt_w</p:attrName>
                                        </p:attrNameLst>
                                      </p:cBhvr>
                                      <p:tavLst>
                                        <p:tav tm="0">
                                          <p:val>
                                            <p:fltVal val="0.000000"/>
                                          </p:val>
                                        </p:tav>
                                        <p:tav tm="100000">
                                          <p:val>
                                            <p:strVal val="#ppt_w"/>
                                          </p:val>
                                        </p:tav>
                                      </p:tavLst>
                                    </p:anim>
                                    <p:anim calcmode="lin" valueType="num">
                                      <p:cBhvr>
                                        <p:cTn id="32" dur="500" fill="hold"/>
                                        <p:tgtEl>
                                          <p:spTgt spid="135170">
                                            <p:txEl>
                                              <p:charRg st="44" end="59"/>
                                            </p:txEl>
                                          </p:spTgt>
                                        </p:tgtEl>
                                        <p:attrNameLst>
                                          <p:attrName>ppt_h</p:attrName>
                                        </p:attrNameLst>
                                      </p:cBhvr>
                                      <p:tavLst>
                                        <p:tav tm="0">
                                          <p:val>
                                            <p:fltVal val="0.000000"/>
                                          </p:val>
                                        </p:tav>
                                        <p:tav tm="100000">
                                          <p:val>
                                            <p:strVal val="#ppt_h"/>
                                          </p:val>
                                        </p:tav>
                                      </p:tavLst>
                                    </p:anim>
                                    <p:anim calcmode="lin" valueType="num">
                                      <p:cBhvr>
                                        <p:cTn id="33" dur="500" fill="hold"/>
                                        <p:tgtEl>
                                          <p:spTgt spid="135170">
                                            <p:txEl>
                                              <p:charRg st="44" end="59"/>
                                            </p:txEl>
                                          </p:spTgt>
                                        </p:tgtEl>
                                        <p:attrNameLst>
                                          <p:attrName>style.rotation</p:attrName>
                                        </p:attrNameLst>
                                      </p:cBhvr>
                                      <p:tavLst>
                                        <p:tav tm="0">
                                          <p:val>
                                            <p:fltVal val="360.000000"/>
                                          </p:val>
                                        </p:tav>
                                        <p:tav tm="100000">
                                          <p:val>
                                            <p:fltVal val="0.000000"/>
                                          </p:val>
                                        </p:tav>
                                      </p:tavLst>
                                    </p:anim>
                                    <p:animEffect transition="in" filter="fade">
                                      <p:cBhvr>
                                        <p:cTn id="34" dur="500"/>
                                        <p:tgtEl>
                                          <p:spTgt spid="135170">
                                            <p:txEl>
                                              <p:charRg st="44" end="5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135304"/>
                                        </p:tgtEl>
                                        <p:attrNameLst>
                                          <p:attrName>style.visibility</p:attrName>
                                        </p:attrNameLst>
                                      </p:cBhvr>
                                      <p:to>
                                        <p:strVal val="visible"/>
                                      </p:to>
                                    </p:set>
                                    <p:anim calcmode="lin" valueType="num">
                                      <p:cBhvr>
                                        <p:cTn id="39" dur="500" fill="hold"/>
                                        <p:tgtEl>
                                          <p:spTgt spid="135304"/>
                                        </p:tgtEl>
                                        <p:attrNameLst>
                                          <p:attrName>ppt_w</p:attrName>
                                        </p:attrNameLst>
                                      </p:cBhvr>
                                      <p:tavLst>
                                        <p:tav tm="0">
                                          <p:val>
                                            <p:fltVal val="0.000000"/>
                                          </p:val>
                                        </p:tav>
                                        <p:tav tm="100000">
                                          <p:val>
                                            <p:strVal val="#ppt_w"/>
                                          </p:val>
                                        </p:tav>
                                      </p:tavLst>
                                    </p:anim>
                                    <p:anim calcmode="lin" valueType="num">
                                      <p:cBhvr>
                                        <p:cTn id="40" dur="500" fill="hold"/>
                                        <p:tgtEl>
                                          <p:spTgt spid="135304"/>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4" presetClass="exit" presetSubtype="16" fill="hold" grpId="0" nodeType="clickEffect">
                                  <p:stCondLst>
                                    <p:cond delay="0"/>
                                  </p:stCondLst>
                                  <p:childTnLst>
                                    <p:animEffect transition="out" filter="box(in)">
                                      <p:cBhvr>
                                        <p:cTn id="44" dur="500"/>
                                        <p:tgtEl>
                                          <p:spTgt spid="135301"/>
                                        </p:tgtEl>
                                      </p:cBhvr>
                                    </p:animEffect>
                                    <p:set>
                                      <p:cBhvr>
                                        <p:cTn id="45" dur="1" fill="hold">
                                          <p:stCondLst>
                                            <p:cond delay="499"/>
                                          </p:stCondLst>
                                        </p:cTn>
                                        <p:tgtEl>
                                          <p:spTgt spid="135301"/>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3" presetClass="entr" presetSubtype="16" fill="hold" nodeType="clickEffect">
                                  <p:stCondLst>
                                    <p:cond delay="0"/>
                                  </p:stCondLst>
                                  <p:childTnLst>
                                    <p:set>
                                      <p:cBhvr>
                                        <p:cTn id="49" dur="1" fill="hold">
                                          <p:stCondLst>
                                            <p:cond delay="0"/>
                                          </p:stCondLst>
                                        </p:cTn>
                                        <p:tgtEl>
                                          <p:spTgt spid="135311"/>
                                        </p:tgtEl>
                                        <p:attrNameLst>
                                          <p:attrName>style.visibility</p:attrName>
                                        </p:attrNameLst>
                                      </p:cBhvr>
                                      <p:to>
                                        <p:strVal val="visible"/>
                                      </p:to>
                                    </p:set>
                                    <p:animEffect transition="in" filter="plus(in)">
                                      <p:cBhvr>
                                        <p:cTn id="50" dur="2000"/>
                                        <p:tgtEl>
                                          <p:spTgt spid="135311"/>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xit" presetSubtype="16" fill="hold" grpId="0" nodeType="clickEffect">
                                  <p:stCondLst>
                                    <p:cond delay="0"/>
                                  </p:stCondLst>
                                  <p:childTnLst>
                                    <p:animEffect transition="out" filter="box(in)">
                                      <p:cBhvr>
                                        <p:cTn id="54" dur="500"/>
                                        <p:tgtEl>
                                          <p:spTgt spid="135302"/>
                                        </p:tgtEl>
                                      </p:cBhvr>
                                    </p:animEffect>
                                    <p:set>
                                      <p:cBhvr>
                                        <p:cTn id="55" dur="1" fill="hold">
                                          <p:stCondLst>
                                            <p:cond delay="499"/>
                                          </p:stCondLst>
                                        </p:cTn>
                                        <p:tgtEl>
                                          <p:spTgt spid="135302"/>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4" presetClass="exit" presetSubtype="16" fill="hold" grpId="0" nodeType="clickEffect">
                                  <p:stCondLst>
                                    <p:cond delay="0"/>
                                  </p:stCondLst>
                                  <p:childTnLst>
                                    <p:animEffect transition="out" filter="box(in)">
                                      <p:cBhvr>
                                        <p:cTn id="59" dur="500"/>
                                        <p:tgtEl>
                                          <p:spTgt spid="135300"/>
                                        </p:tgtEl>
                                      </p:cBhvr>
                                    </p:animEffect>
                                    <p:set>
                                      <p:cBhvr>
                                        <p:cTn id="60" dur="1" fill="hold">
                                          <p:stCondLst>
                                            <p:cond delay="499"/>
                                          </p:stCondLst>
                                        </p:cTn>
                                        <p:tgtEl>
                                          <p:spTgt spid="13530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35303"/>
                                        </p:tgtEl>
                                        <p:attrNameLst>
                                          <p:attrName>style.visibility</p:attrName>
                                        </p:attrNameLst>
                                      </p:cBhvr>
                                      <p:to>
                                        <p:strVal val="visible"/>
                                      </p:to>
                                    </p:set>
                                    <p:anim calcmode="lin" valueType="num">
                                      <p:cBhvr additive="base">
                                        <p:cTn id="65" dur="500" fill="hold"/>
                                        <p:tgtEl>
                                          <p:spTgt spid="135303"/>
                                        </p:tgtEl>
                                        <p:attrNameLst>
                                          <p:attrName>ppt_x</p:attrName>
                                        </p:attrNameLst>
                                      </p:cBhvr>
                                      <p:tavLst>
                                        <p:tav tm="0">
                                          <p:val>
                                            <p:strVal val="#ppt_x"/>
                                          </p:val>
                                        </p:tav>
                                        <p:tav tm="100000">
                                          <p:val>
                                            <p:strVal val="#ppt_x"/>
                                          </p:val>
                                        </p:tav>
                                      </p:tavLst>
                                    </p:anim>
                                    <p:anim calcmode="lin" valueType="num">
                                      <p:cBhvr additive="base">
                                        <p:cTn id="66" dur="500" fill="hold"/>
                                        <p:tgtEl>
                                          <p:spTgt spid="13530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276" grpId="0"/>
      <p:bldP spid="135300" grpId="0" animBg="1"/>
      <p:bldP spid="135301" grpId="0" animBg="1"/>
      <p:bldP spid="135302" grpId="0" animBg="1"/>
      <p:bldP spid="135303" grpId="0" animBg="1"/>
    </p:bld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Rectangle 3"/>
          <p:cNvSpPr txBox="1"/>
          <p:nvPr/>
        </p:nvSpPr>
        <p:spPr>
          <a:xfrm>
            <a:off x="539750" y="1408113"/>
            <a:ext cx="8353425" cy="4716462"/>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r>
              <a:rPr lang="zh-CN" altLang="en-US" sz="2400" dirty="0">
                <a:latin typeface="华文楷体" panose="02010600040101010101" pitchFamily="2" charset="-122"/>
              </a:rPr>
              <a:t>上道例题还可以写成：</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SELECT   S1.sname</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FROM      S </a:t>
            </a:r>
            <a:r>
              <a:rPr lang="zh-CN" altLang="en-US" sz="2400" dirty="0">
                <a:solidFill>
                  <a:srgbClr val="A50021"/>
                </a:solidFill>
                <a:latin typeface="华文楷体" panose="02010600040101010101" pitchFamily="2" charset="-122"/>
              </a:rPr>
              <a:t>S1</a:t>
            </a:r>
            <a:r>
              <a:rPr lang="zh-CN" altLang="en-US" sz="2400" dirty="0">
                <a:latin typeface="华文楷体" panose="02010600040101010101" pitchFamily="2" charset="-122"/>
              </a:rPr>
              <a:t>, E </a:t>
            </a:r>
            <a:r>
              <a:rPr lang="zh-CN" altLang="en-US" sz="2400" dirty="0">
                <a:solidFill>
                  <a:srgbClr val="A50021"/>
                </a:solidFill>
                <a:latin typeface="华文楷体" panose="02010600040101010101" pitchFamily="2" charset="-122"/>
              </a:rPr>
              <a:t>E1</a:t>
            </a:r>
            <a:r>
              <a:rPr lang="zh-CN" altLang="en-US" sz="2400" dirty="0">
                <a:latin typeface="华文楷体" panose="02010600040101010101" pitchFamily="2" charset="-122"/>
              </a:rPr>
              <a:t>, C </a:t>
            </a:r>
            <a:r>
              <a:rPr lang="zh-CN" altLang="en-US" sz="2400" dirty="0">
                <a:solidFill>
                  <a:srgbClr val="A50021"/>
                </a:solidFill>
                <a:latin typeface="华文楷体" panose="02010600040101010101" pitchFamily="2" charset="-122"/>
              </a:rPr>
              <a:t>C1</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WHERE   C1.credit=3 AND C1.cid=E1.cid AND E1.sid = S1.sid</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solidFill>
                  <a:srgbClr val="A50021"/>
                </a:solidFill>
                <a:latin typeface="华文楷体" panose="02010600040101010101" pitchFamily="2" charset="-122"/>
              </a:rPr>
              <a:t>UNION</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SELECT S2.sname</a:t>
            </a:r>
            <a:endParaRPr lang="zh-CN" altLang="en-US" sz="2400" dirty="0">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FROM    S </a:t>
            </a:r>
            <a:r>
              <a:rPr lang="zh-CN" altLang="en-US" sz="2400" dirty="0">
                <a:solidFill>
                  <a:srgbClr val="A50021"/>
                </a:solidFill>
                <a:latin typeface="华文楷体" panose="02010600040101010101" pitchFamily="2" charset="-122"/>
              </a:rPr>
              <a:t>S2</a:t>
            </a:r>
            <a:r>
              <a:rPr lang="zh-CN" altLang="en-US" sz="2400" dirty="0">
                <a:latin typeface="华文楷体" panose="02010600040101010101" pitchFamily="2" charset="-122"/>
              </a:rPr>
              <a:t>, E </a:t>
            </a:r>
            <a:r>
              <a:rPr lang="zh-CN" altLang="en-US" sz="2400" dirty="0">
                <a:solidFill>
                  <a:srgbClr val="A50021"/>
                </a:solidFill>
                <a:latin typeface="华文楷体" panose="02010600040101010101" pitchFamily="2" charset="-122"/>
              </a:rPr>
              <a:t>E2</a:t>
            </a:r>
            <a:r>
              <a:rPr lang="zh-CN" altLang="en-US" sz="2400" dirty="0">
                <a:latin typeface="华文楷体" panose="02010600040101010101" pitchFamily="2" charset="-122"/>
              </a:rPr>
              <a:t>, C </a:t>
            </a:r>
            <a:r>
              <a:rPr lang="zh-CN" altLang="en-US" sz="2400" dirty="0">
                <a:solidFill>
                  <a:srgbClr val="A50021"/>
                </a:solidFill>
                <a:latin typeface="华文楷体" panose="02010600040101010101" pitchFamily="2" charset="-122"/>
              </a:rPr>
              <a:t>C2</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latin typeface="华文楷体" panose="02010600040101010101" pitchFamily="2" charset="-122"/>
              </a:rPr>
              <a:t>WHERE C2.credit=4 AND C2.cid=E2.cid AND E2.sid = S2.sid</a:t>
            </a:r>
            <a:endParaRPr lang="zh-CN" altLang="en-US" sz="2400" dirty="0">
              <a:solidFill>
                <a:srgbClr val="A50021"/>
              </a:solidFill>
              <a:latin typeface="华文楷体" panose="02010600040101010101" pitchFamily="2" charset="-122"/>
            </a:endParaRPr>
          </a:p>
          <a:p>
            <a:pPr marL="0" lvl="0" indent="0" eaLnBrk="1" hangingPunct="1">
              <a:buFont typeface="Arial" panose="020B0604020202020204" pitchFamily="34" charset="0"/>
              <a:buNone/>
            </a:pPr>
            <a:r>
              <a:rPr lang="zh-CN" altLang="en-US" sz="2400" dirty="0">
                <a:solidFill>
                  <a:srgbClr val="000099"/>
                </a:solidFill>
                <a:latin typeface="华文楷体" panose="02010600040101010101" pitchFamily="2" charset="-122"/>
              </a:rPr>
              <a:t>这里的S1, S2, E1, E2, C1 C2各是表的别名。因为每张表要使用两次，需要用别名来区别。</a:t>
            </a:r>
            <a:endParaRPr lang="zh-CN" altLang="en-US" sz="2400" dirty="0">
              <a:solidFill>
                <a:srgbClr val="000099"/>
              </a:solidFill>
              <a:latin typeface="华文楷体" panose="02010600040101010101" pitchFamily="2" charset="-122"/>
            </a:endParaRPr>
          </a:p>
          <a:p>
            <a:pPr marL="0" lvl="0" indent="0" eaLnBrk="1" hangingPunct="1"/>
            <a:r>
              <a:rPr lang="zh-CN" altLang="en-US" sz="2400" dirty="0">
                <a:solidFill>
                  <a:srgbClr val="000099"/>
                </a:solidFill>
                <a:latin typeface="华文楷体" panose="02010600040101010101" pitchFamily="2" charset="-122"/>
              </a:rPr>
              <a:t> 有时候，一张表要自己和自己运算，也需要用别名来区别。</a:t>
            </a:r>
            <a:endParaRPr lang="zh-CN" altLang="en-US" sz="2400" dirty="0">
              <a:solidFill>
                <a:srgbClr val="000099"/>
              </a:solidFill>
              <a:latin typeface="华文楷体" panose="02010600040101010101" pitchFamily="2" charset="-122"/>
            </a:endParaRPr>
          </a:p>
        </p:txBody>
      </p:sp>
      <p:sp>
        <p:nvSpPr>
          <p:cNvPr id="182275" name="矩形 4"/>
          <p:cNvSpPr/>
          <p:nvPr/>
        </p:nvSpPr>
        <p:spPr>
          <a:xfrm>
            <a:off x="509588" y="777875"/>
            <a:ext cx="8375650" cy="673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lnSpc>
                <a:spcPct val="135000"/>
              </a:lnSpc>
              <a:spcBef>
                <a:spcPct val="0"/>
              </a:spcBef>
              <a:buClrTx/>
              <a:buSzTx/>
              <a:buFont typeface="Wingdings" panose="05000000000000000000" pitchFamily="2" charset="2"/>
              <a:buChar char="p"/>
            </a:pPr>
            <a:r>
              <a:rPr lang="zh-CN" altLang="en-US" sz="2800" dirty="0">
                <a:solidFill>
                  <a:srgbClr val="0033CC"/>
                </a:solidFill>
                <a:latin typeface="黑体" panose="02010609060101010101" pitchFamily="49" charset="-122"/>
                <a:ea typeface="黑体" panose="02010609060101010101" pitchFamily="49" charset="-122"/>
              </a:rPr>
              <a:t>表的别名</a:t>
            </a:r>
            <a:endParaRPr lang="en-US" altLang="zh-CN" sz="2600" dirty="0">
              <a:solidFill>
                <a:srgbClr val="FF3300"/>
              </a:solidFill>
              <a:latin typeface="黑体" panose="02010609060101010101" pitchFamily="49" charset="-122"/>
              <a:ea typeface="黑体" panose="02010609060101010101" pitchFamily="49" charset="-122"/>
            </a:endParaRPr>
          </a:p>
        </p:txBody>
      </p:sp>
      <p:sp>
        <p:nvSpPr>
          <p:cNvPr id="18227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83298" name="Group 2"/>
          <p:cNvGrpSpPr/>
          <p:nvPr/>
        </p:nvGrpSpPr>
        <p:grpSpPr>
          <a:xfrm>
            <a:off x="3135313" y="6148388"/>
            <a:ext cx="228600" cy="152400"/>
            <a:chOff x="0" y="0"/>
            <a:chExt cx="384" cy="288"/>
          </a:xfrm>
        </p:grpSpPr>
        <p:sp>
          <p:nvSpPr>
            <p:cNvPr id="183426" name="AutoShape 3"/>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7" name="AutoShape 4"/>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83299" name="Rectangle 5"/>
          <p:cNvSpPr/>
          <p:nvPr/>
        </p:nvSpPr>
        <p:spPr>
          <a:xfrm>
            <a:off x="236538" y="4076700"/>
            <a:ext cx="6629400" cy="23685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de-DE" altLang="en-US" sz="2400" dirty="0">
                <a:latin typeface="宋体" panose="02010600030101010101" pitchFamily="2" charset="-122"/>
                <a:sym typeface="Symbol" panose="05050102010706020507" pitchFamily="18" charset="2"/>
              </a:rPr>
              <a:t>1. </a:t>
            </a:r>
            <a:r>
              <a:rPr lang="zh-CN" altLang="en-US" sz="2400" dirty="0">
                <a:latin typeface="Times New Roman" panose="02020603050405020304" pitchFamily="18" charset="0"/>
                <a:sym typeface="Symbol" panose="05050102010706020507" pitchFamily="18" charset="2"/>
              </a:rPr>
              <a:t>学生选课投影：  </a:t>
            </a:r>
            <a:r>
              <a:rPr lang="de-DE" altLang="en-US" sz="2400" dirty="0">
                <a:latin typeface="Times New Roman" panose="02020603050405020304" pitchFamily="18" charset="0"/>
                <a:sym typeface="Symbol" panose="05050102010706020507" pitchFamily="18" charset="2"/>
              </a:rPr>
              <a:t></a:t>
            </a:r>
            <a:r>
              <a:rPr lang="de-DE" altLang="en-US" sz="2400" baseline="-25000" dirty="0">
                <a:latin typeface="Times New Roman" panose="02020603050405020304" pitchFamily="18" charset="0"/>
                <a:sym typeface="Symbol" panose="05050102010706020507" pitchFamily="18" charset="2"/>
              </a:rPr>
              <a:t>sid,</a:t>
            </a:r>
            <a:r>
              <a:rPr lang="de-DE" altLang="en-US" sz="2400" dirty="0">
                <a:latin typeface="Times New Roman" panose="02020603050405020304" pitchFamily="18" charset="0"/>
                <a:sym typeface="Symbol" panose="05050102010706020507" pitchFamily="18" charset="2"/>
              </a:rPr>
              <a:t> </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(E)</a:t>
            </a:r>
            <a:endParaRPr lang="zh-CN" altLang="en-US" sz="2800" dirty="0">
              <a:solidFill>
                <a:srgbClr val="A50021"/>
              </a:solidFill>
              <a:latin typeface="Times New Roman" panose="02020603050405020304" pitchFamily="18" charset="0"/>
              <a:sym typeface="Wingdings 2" panose="05020102010507070707" pitchFamily="18" charset="2"/>
            </a:endParaRPr>
          </a:p>
          <a:p>
            <a:pPr marL="457200" lvl="0" indent="-457200" eaLnBrk="1" hangingPunct="1">
              <a:spcBef>
                <a:spcPct val="0"/>
              </a:spcBef>
              <a:buClrTx/>
              <a:buSzTx/>
              <a:buFont typeface="Arial" panose="020B0604020202020204" pitchFamily="34" charset="0"/>
              <a:buNone/>
            </a:pPr>
            <a:r>
              <a:rPr lang="de-DE" altLang="en-US" sz="2400" dirty="0">
                <a:latin typeface="Times New Roman" panose="02020603050405020304" pitchFamily="18" charset="0"/>
                <a:sym typeface="Symbol" panose="05050102010706020507" pitchFamily="18" charset="2"/>
              </a:rPr>
              <a:t>2.   </a:t>
            </a:r>
            <a:r>
              <a:rPr lang="zh-CN" altLang="en-US" sz="2400" dirty="0">
                <a:latin typeface="Times New Roman" panose="02020603050405020304" pitchFamily="18" charset="0"/>
                <a:sym typeface="Symbol" panose="05050102010706020507" pitchFamily="18" charset="2"/>
              </a:rPr>
              <a:t>全部课程编号： </a:t>
            </a:r>
            <a:r>
              <a:rPr lang="zh-CN" altLang="en-US" sz="2400" baseline="-25000" dirty="0">
                <a:latin typeface="Times New Roman" panose="02020603050405020304" pitchFamily="18" charset="0"/>
                <a:sym typeface="Symbol" panose="05050102010706020507" pitchFamily="18" charset="2"/>
              </a:rPr>
              <a:t>cid </a:t>
            </a:r>
            <a:r>
              <a:rPr lang="zh-CN" altLang="en-US" sz="2400" dirty="0">
                <a:latin typeface="Times New Roman" panose="02020603050405020304" pitchFamily="18" charset="0"/>
                <a:sym typeface="Symbol" panose="05050102010706020507" pitchFamily="18" charset="2"/>
              </a:rPr>
              <a:t>(C)</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AutoNum type="arabicPeriod" startAt="3"/>
            </a:pPr>
            <a:r>
              <a:rPr lang="zh-CN" altLang="en-US" sz="2400" dirty="0">
                <a:latin typeface="Times New Roman" panose="02020603050405020304" pitchFamily="18" charset="0"/>
                <a:sym typeface="Symbol" panose="05050102010706020507" pitchFamily="18" charset="2"/>
              </a:rPr>
              <a:t>学了全部课程的学生的学号可以用除法得</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latin typeface="Times New Roman" panose="02020603050405020304" pitchFamily="18" charset="0"/>
                <a:sym typeface="Symbol" panose="05050102010706020507" pitchFamily="18" charset="2"/>
              </a:rPr>
              <a:t>      到：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sid, cid </a:t>
            </a:r>
            <a:r>
              <a:rPr lang="zh-CN" altLang="en-US" sz="2400" dirty="0">
                <a:latin typeface="Times New Roman" panose="02020603050405020304" pitchFamily="18" charset="0"/>
                <a:sym typeface="Symbol" panose="05050102010706020507" pitchFamily="18" charset="2"/>
              </a:rPr>
              <a:t>(E) </a:t>
            </a:r>
            <a:r>
              <a:rPr lang="zh-CN" altLang="en-US" sz="28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a:t>
            </a:r>
            <a:r>
              <a:rPr lang="zh-CN" altLang="en-US" sz="2400" dirty="0">
                <a:latin typeface="Times New Roman" panose="02020603050405020304" pitchFamily="18" charset="0"/>
                <a:sym typeface="Symbol" panose="05050102010706020507" pitchFamily="18" charset="2"/>
              </a:rPr>
              <a:t> (C) </a:t>
            </a:r>
            <a:endParaRPr lang="zh-CN" altLang="en-US" sz="2400" dirty="0">
              <a:latin typeface="Times New Roman" panose="02020603050405020304" pitchFamily="18" charset="0"/>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4. 学生的学号与S自然联结，然后投影到学生</a:t>
            </a:r>
            <a:endParaRPr lang="zh-CN" altLang="en-US" sz="2400" dirty="0">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zh-CN" altLang="en-US" sz="2400" dirty="0">
                <a:latin typeface="宋体" panose="02010600030101010101" pitchFamily="2" charset="-122"/>
                <a:sym typeface="Symbol" panose="05050102010706020507" pitchFamily="18" charset="2"/>
              </a:rPr>
              <a:t>   姓名上: </a:t>
            </a:r>
            <a:r>
              <a:rPr lang="de-DE" altLang="en-US" sz="2400" dirty="0">
                <a:latin typeface="Times New Roman" panose="02020603050405020304" pitchFamily="18" charset="0"/>
                <a:sym typeface="Symbol" panose="05050102010706020507" pitchFamily="18" charset="2"/>
              </a:rPr>
              <a:t></a:t>
            </a:r>
            <a:r>
              <a:rPr lang="de-DE" altLang="en-US" sz="2400" baseline="-25000" dirty="0">
                <a:latin typeface="Times New Roman" panose="02020603050405020304" pitchFamily="18" charset="0"/>
                <a:sym typeface="Symbol" panose="05050102010706020507" pitchFamily="18" charset="2"/>
              </a:rPr>
              <a:t>sname</a:t>
            </a:r>
            <a:r>
              <a:rPr lang="de-DE" altLang="en-US" sz="2400" dirty="0">
                <a:latin typeface="Times New Roman" panose="02020603050405020304" pitchFamily="18" charset="0"/>
                <a:sym typeface="Symbol" panose="05050102010706020507" pitchFamily="18" charset="2"/>
              </a:rPr>
              <a:t>(</a:t>
            </a:r>
            <a:r>
              <a:rPr lang="zh-CN" altLang="en-US" sz="2400" dirty="0">
                <a:latin typeface="Times New Roman" panose="02020603050405020304" pitchFamily="18" charset="0"/>
                <a:sym typeface="Symbol" panose="05050102010706020507" pitchFamily="18" charset="2"/>
              </a:rPr>
              <a:t>S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sid, cid </a:t>
            </a:r>
            <a:r>
              <a:rPr lang="zh-CN" altLang="en-US" sz="2400" dirty="0">
                <a:latin typeface="Times New Roman" panose="02020603050405020304" pitchFamily="18" charset="0"/>
                <a:sym typeface="Symbol" panose="05050102010706020507" pitchFamily="18" charset="2"/>
              </a:rPr>
              <a:t>(E) / </a:t>
            </a:r>
            <a:r>
              <a:rPr lang="de-DE" altLang="en-US" sz="2400" dirty="0">
                <a:latin typeface="Times New Roman" panose="02020603050405020304" pitchFamily="18" charset="0"/>
                <a:sym typeface="Symbol" panose="05050102010706020507" pitchFamily="18" charset="2"/>
              </a:rPr>
              <a:t></a:t>
            </a:r>
            <a:r>
              <a:rPr lang="zh-CN" altLang="en-US" sz="2400" baseline="-25000" dirty="0">
                <a:latin typeface="Times New Roman" panose="02020603050405020304" pitchFamily="18" charset="0"/>
                <a:sym typeface="Symbol" panose="05050102010706020507" pitchFamily="18" charset="2"/>
              </a:rPr>
              <a:t>cid</a:t>
            </a:r>
            <a:r>
              <a:rPr lang="zh-CN" altLang="en-US" sz="2400" dirty="0">
                <a:latin typeface="Times New Roman" panose="02020603050405020304" pitchFamily="18" charset="0"/>
                <a:sym typeface="Symbol" panose="05050102010706020507" pitchFamily="18" charset="2"/>
              </a:rPr>
              <a:t> (C) ））</a:t>
            </a:r>
            <a:endParaRPr lang="zh-CN" altLang="en-US" sz="2400" dirty="0">
              <a:latin typeface="Times New Roman" panose="02020603050405020304" pitchFamily="18" charset="0"/>
              <a:sym typeface="Symbol" panose="05050102010706020507" pitchFamily="18" charset="2"/>
            </a:endParaRPr>
          </a:p>
        </p:txBody>
      </p:sp>
      <p:sp>
        <p:nvSpPr>
          <p:cNvPr id="137222" name="Rectangle 6"/>
          <p:cNvSpPr/>
          <p:nvPr/>
        </p:nvSpPr>
        <p:spPr>
          <a:xfrm>
            <a:off x="0" y="5573713"/>
            <a:ext cx="6459538" cy="863600"/>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83301" name="Text Box 7"/>
          <p:cNvSpPr txBox="1"/>
          <p:nvPr/>
        </p:nvSpPr>
        <p:spPr>
          <a:xfrm>
            <a:off x="4600575" y="841375"/>
            <a:ext cx="1447800" cy="6604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solidFill>
                  <a:srgbClr val="0000CC"/>
                </a:solidFill>
                <a:latin typeface="宋体" panose="02010600030101010101" pitchFamily="2" charset="-122"/>
              </a:rPr>
              <a:t>C</a:t>
            </a:r>
            <a:endParaRPr lang="de-DE" altLang="en-US" sz="2400" dirty="0">
              <a:solidFill>
                <a:srgbClr val="A50021"/>
              </a:solidFill>
              <a:latin typeface="宋体" panose="02010600030101010101" pitchFamily="2" charset="-122"/>
              <a:sym typeface="Wingdings 2" panose="05020102010507070707" pitchFamily="18" charset="2"/>
            </a:endParaRPr>
          </a:p>
        </p:txBody>
      </p:sp>
      <p:graphicFrame>
        <p:nvGraphicFramePr>
          <p:cNvPr id="137224" name="表格 137223"/>
          <p:cNvGraphicFramePr/>
          <p:nvPr/>
        </p:nvGraphicFramePr>
        <p:xfrm>
          <a:off x="1281113" y="841375"/>
          <a:ext cx="3625850" cy="2597150"/>
        </p:xfrm>
        <a:graphic>
          <a:graphicData uri="http://schemas.openxmlformats.org/drawingml/2006/table">
            <a:tbl>
              <a:tblPr/>
              <a:tblGrid>
                <a:gridCol w="1041400"/>
                <a:gridCol w="1063625"/>
                <a:gridCol w="660400"/>
                <a:gridCol w="860425"/>
              </a:tblGrid>
              <a:tr h="39692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sname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age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grade</a:t>
                      </a:r>
                      <a:endParaRPr lang="de-DE" altLang="en-US" sz="20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ea typeface="华文楷体" panose="02010600040101010101" pitchFamily="2" charset="-122"/>
                        </a:rPr>
                        <a:t>明</a:t>
                      </a:r>
                      <a:endParaRPr lang="zh-CN"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834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李峰</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0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陈胜</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张大卫</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22</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董一溪</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4</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5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26" marB="45726">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ea typeface="华文楷体" panose="02010600040101010101" pitchFamily="2" charset="-122"/>
                        </a:rPr>
                        <a:t>孙小惠</a:t>
                      </a:r>
                      <a:endParaRPr lang="zh-CN" altLang="en-US" sz="1800" b="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a:t>
                      </a:r>
                      <a:endParaRPr lang="de-DE" altLang="en-US" sz="1800" b="0" dirty="0">
                        <a:solidFill>
                          <a:srgbClr val="003300"/>
                        </a:solidFill>
                        <a:ea typeface="华文楷体" panose="02010600040101010101" pitchFamily="2" charset="-122"/>
                      </a:endParaRPr>
                    </a:p>
                  </a:txBody>
                  <a:tcPr marT="45726" marB="45726">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3344" name="Text Box 50"/>
          <p:cNvSpPr txBox="1"/>
          <p:nvPr/>
        </p:nvSpPr>
        <p:spPr>
          <a:xfrm>
            <a:off x="495300" y="798513"/>
            <a:ext cx="685800" cy="65881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a:t>
            </a:r>
            <a:endParaRPr lang="de-DE" altLang="en-US" sz="3200" dirty="0">
              <a:latin typeface="宋体" panose="02010600030101010101" pitchFamily="2" charset="-122"/>
            </a:endParaRPr>
          </a:p>
        </p:txBody>
      </p:sp>
      <p:graphicFrame>
        <p:nvGraphicFramePr>
          <p:cNvPr id="137267" name="表格 137266"/>
          <p:cNvGraphicFramePr/>
          <p:nvPr/>
        </p:nvGraphicFramePr>
        <p:xfrm>
          <a:off x="5573713" y="971550"/>
          <a:ext cx="3270250" cy="2103438"/>
        </p:xfrm>
        <a:graphic>
          <a:graphicData uri="http://schemas.openxmlformats.org/drawingml/2006/table">
            <a:tbl>
              <a:tblPr/>
              <a:tblGrid>
                <a:gridCol w="849313"/>
                <a:gridCol w="1560512"/>
                <a:gridCol w="860425"/>
              </a:tblGrid>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cname</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credit</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101</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数据库</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5143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102</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计算机网络</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4</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103</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a:solidFill>
                            <a:srgbClr val="003300"/>
                          </a:solidFill>
                        </a:rPr>
                        <a:t>数据结构</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3</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4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104</a:t>
                      </a:r>
                      <a:endParaRPr lang="de-DE" altLang="en-US" sz="2000"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000" b="0">
                          <a:solidFill>
                            <a:srgbClr val="003300"/>
                          </a:solidFill>
                        </a:rPr>
                        <a:t>Java</a:t>
                      </a:r>
                      <a:r>
                        <a:rPr lang="zh-CN" altLang="en-US" sz="2000" b="0">
                          <a:solidFill>
                            <a:srgbClr val="003300"/>
                          </a:solidFill>
                        </a:rPr>
                        <a:t>语言</a:t>
                      </a:r>
                      <a:endParaRPr lang="zh-CN" altLang="en-US" sz="2000"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2</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7293" name="表格 137292"/>
          <p:cNvGraphicFramePr/>
          <p:nvPr/>
        </p:nvGraphicFramePr>
        <p:xfrm>
          <a:off x="6516688" y="3500438"/>
          <a:ext cx="2436813" cy="2857500"/>
        </p:xfrm>
        <a:graphic>
          <a:graphicData uri="http://schemas.openxmlformats.org/drawingml/2006/table">
            <a:tbl>
              <a:tblPr/>
              <a:tblGrid>
                <a:gridCol w="990600"/>
                <a:gridCol w="566738"/>
                <a:gridCol w="879475"/>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cid</a:t>
                      </a:r>
                      <a:endParaRPr lang="de-DE" altLang="en-US" sz="2000" b="0" u="sng"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3405" name="Text Box 111"/>
          <p:cNvSpPr txBox="1"/>
          <p:nvPr/>
        </p:nvSpPr>
        <p:spPr>
          <a:xfrm>
            <a:off x="5724525" y="3357563"/>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E</a:t>
            </a:r>
            <a:endParaRPr lang="de-DE" altLang="en-US" sz="3200" dirty="0">
              <a:latin typeface="宋体" panose="02010600030101010101" pitchFamily="2" charset="-122"/>
            </a:endParaRPr>
          </a:p>
        </p:txBody>
      </p:sp>
      <p:sp>
        <p:nvSpPr>
          <p:cNvPr id="183406" name="Rectangle 112"/>
          <p:cNvSpPr/>
          <p:nvPr/>
        </p:nvSpPr>
        <p:spPr>
          <a:xfrm>
            <a:off x="265113" y="3386138"/>
            <a:ext cx="4752975" cy="830262"/>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800000"/>
                </a:solidFill>
                <a:latin typeface="华文楷体" panose="02010600040101010101" pitchFamily="2" charset="-122"/>
                <a:ea typeface="华文楷体" panose="02010600040101010101" pitchFamily="2" charset="-122"/>
              </a:rPr>
              <a:t>例题：写出选修了所有课程的学生名字的代数表达式</a:t>
            </a:r>
            <a:r>
              <a:rPr lang="zh-CN" altLang="en-US" sz="2400" dirty="0">
                <a:latin typeface="华文楷体" panose="02010600040101010101" pitchFamily="2" charset="-122"/>
                <a:ea typeface="华文楷体" panose="02010600040101010101" pitchFamily="2" charset="-122"/>
              </a:rPr>
              <a:t> </a:t>
            </a:r>
            <a:endParaRPr lang="zh-CN" altLang="en-US" sz="2400" dirty="0">
              <a:latin typeface="华文楷体" panose="02010600040101010101" pitchFamily="2" charset="-122"/>
              <a:ea typeface="华文楷体" panose="02010600040101010101" pitchFamily="2" charset="-122"/>
            </a:endParaRPr>
          </a:p>
        </p:txBody>
      </p:sp>
      <p:grpSp>
        <p:nvGrpSpPr>
          <p:cNvPr id="137329" name="Group 113"/>
          <p:cNvGrpSpPr/>
          <p:nvPr/>
        </p:nvGrpSpPr>
        <p:grpSpPr>
          <a:xfrm>
            <a:off x="6516688" y="3021013"/>
            <a:ext cx="1511300" cy="3287712"/>
            <a:chOff x="0" y="0"/>
            <a:chExt cx="952" cy="2071"/>
          </a:xfrm>
        </p:grpSpPr>
        <p:sp>
          <p:nvSpPr>
            <p:cNvPr id="183424" name="Rectangle 114"/>
            <p:cNvSpPr/>
            <p:nvPr/>
          </p:nvSpPr>
          <p:spPr>
            <a:xfrm>
              <a:off x="45" y="302"/>
              <a:ext cx="907" cy="1769"/>
            </a:xfrm>
            <a:prstGeom prst="rect">
              <a:avLst/>
            </a:prstGeom>
            <a:solidFill>
              <a:srgbClr val="99CCFF">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5" name="Rectangle 115"/>
            <p:cNvSpPr/>
            <p:nvPr/>
          </p:nvSpPr>
          <p:spPr>
            <a:xfrm>
              <a:off x="0" y="0"/>
              <a:ext cx="347" cy="4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200" dirty="0">
                  <a:solidFill>
                    <a:srgbClr val="A50021"/>
                  </a:solidFill>
                  <a:latin typeface="宋体" panose="02010600030101010101" pitchFamily="2" charset="-122"/>
                  <a:sym typeface="Wingdings 2" panose="05020102010507070707" pitchFamily="18" charset="2"/>
                </a:rPr>
                <a:t></a:t>
              </a:r>
              <a:endParaRPr lang="zh-CN" altLang="en-US" sz="3200" dirty="0">
                <a:solidFill>
                  <a:srgbClr val="A50021"/>
                </a:solidFill>
                <a:latin typeface="宋体" panose="02010600030101010101" pitchFamily="2" charset="-122"/>
                <a:sym typeface="Wingdings 2" panose="05020102010507070707" pitchFamily="18" charset="2"/>
              </a:endParaRPr>
            </a:p>
          </p:txBody>
        </p:sp>
      </p:grpSp>
      <p:grpSp>
        <p:nvGrpSpPr>
          <p:cNvPr id="137332" name="Group 116"/>
          <p:cNvGrpSpPr/>
          <p:nvPr/>
        </p:nvGrpSpPr>
        <p:grpSpPr>
          <a:xfrm>
            <a:off x="4973638" y="957263"/>
            <a:ext cx="1512887" cy="2178050"/>
            <a:chOff x="0" y="0"/>
            <a:chExt cx="953" cy="1678"/>
          </a:xfrm>
        </p:grpSpPr>
        <p:sp>
          <p:nvSpPr>
            <p:cNvPr id="183422" name="Rectangle 117"/>
            <p:cNvSpPr/>
            <p:nvPr/>
          </p:nvSpPr>
          <p:spPr>
            <a:xfrm>
              <a:off x="408" y="0"/>
              <a:ext cx="545" cy="1678"/>
            </a:xfrm>
            <a:prstGeom prst="rect">
              <a:avLst/>
            </a:prstGeom>
            <a:solidFill>
              <a:srgbClr val="99CCFF">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3" name="Rectangle 118"/>
            <p:cNvSpPr/>
            <p:nvPr/>
          </p:nvSpPr>
          <p:spPr>
            <a:xfrm>
              <a:off x="0" y="726"/>
              <a:ext cx="318" cy="384"/>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2800" dirty="0">
                  <a:solidFill>
                    <a:srgbClr val="A50021"/>
                  </a:solidFill>
                  <a:latin typeface="宋体" panose="02010600030101010101" pitchFamily="2" charset="-122"/>
                  <a:sym typeface="Wingdings 2" panose="05020102010507070707" pitchFamily="18" charset="2"/>
                </a:rPr>
                <a:t></a:t>
              </a:r>
              <a:endParaRPr lang="zh-CN" altLang="en-US" sz="2800" dirty="0">
                <a:solidFill>
                  <a:srgbClr val="A50021"/>
                </a:solidFill>
                <a:latin typeface="宋体" panose="02010600030101010101" pitchFamily="2" charset="-122"/>
                <a:sym typeface="Wingdings 2" panose="05020102010507070707" pitchFamily="18" charset="2"/>
              </a:endParaRPr>
            </a:p>
          </p:txBody>
        </p:sp>
      </p:grpSp>
      <p:grpSp>
        <p:nvGrpSpPr>
          <p:cNvPr id="137335" name="Group 119"/>
          <p:cNvGrpSpPr/>
          <p:nvPr/>
        </p:nvGrpSpPr>
        <p:grpSpPr>
          <a:xfrm>
            <a:off x="755650" y="2336800"/>
            <a:ext cx="2633663" cy="1079500"/>
            <a:chOff x="0" y="0"/>
            <a:chExt cx="1659" cy="672"/>
          </a:xfrm>
        </p:grpSpPr>
        <p:sp>
          <p:nvSpPr>
            <p:cNvPr id="183420" name="Rectangle 120"/>
            <p:cNvSpPr/>
            <p:nvPr/>
          </p:nvSpPr>
          <p:spPr>
            <a:xfrm>
              <a:off x="979" y="400"/>
              <a:ext cx="680" cy="272"/>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21" name="Rectangle 121"/>
            <p:cNvSpPr/>
            <p:nvPr/>
          </p:nvSpPr>
          <p:spPr>
            <a:xfrm>
              <a:off x="0" y="0"/>
              <a:ext cx="347" cy="4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200" dirty="0">
                  <a:solidFill>
                    <a:srgbClr val="A50021"/>
                  </a:solidFill>
                  <a:latin typeface="宋体" panose="02010600030101010101" pitchFamily="2" charset="-122"/>
                  <a:sym typeface="Wingdings 2" panose="05020102010507070707" pitchFamily="18" charset="2"/>
                </a:rPr>
                <a:t></a:t>
              </a:r>
              <a:endParaRPr lang="zh-CN" altLang="en-US" sz="3200" dirty="0">
                <a:solidFill>
                  <a:srgbClr val="A50021"/>
                </a:solidFill>
                <a:latin typeface="宋体" panose="02010600030101010101" pitchFamily="2" charset="-122"/>
                <a:sym typeface="Wingdings 2" panose="05020102010507070707" pitchFamily="18" charset="2"/>
              </a:endParaRPr>
            </a:p>
          </p:txBody>
        </p:sp>
      </p:grpSp>
      <p:grpSp>
        <p:nvGrpSpPr>
          <p:cNvPr id="137338" name="Group 122"/>
          <p:cNvGrpSpPr/>
          <p:nvPr/>
        </p:nvGrpSpPr>
        <p:grpSpPr>
          <a:xfrm>
            <a:off x="6084888" y="4365625"/>
            <a:ext cx="1439862" cy="1944688"/>
            <a:chOff x="0" y="0"/>
            <a:chExt cx="1361" cy="1225"/>
          </a:xfrm>
        </p:grpSpPr>
        <p:sp>
          <p:nvSpPr>
            <p:cNvPr id="183415" name="Rectangle 123"/>
            <p:cNvSpPr/>
            <p:nvPr/>
          </p:nvSpPr>
          <p:spPr>
            <a:xfrm>
              <a:off x="363" y="272"/>
              <a:ext cx="998" cy="226"/>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6" name="Rectangle 124"/>
            <p:cNvSpPr/>
            <p:nvPr/>
          </p:nvSpPr>
          <p:spPr>
            <a:xfrm>
              <a:off x="363" y="0"/>
              <a:ext cx="998" cy="272"/>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7" name="Rectangle 125"/>
            <p:cNvSpPr/>
            <p:nvPr/>
          </p:nvSpPr>
          <p:spPr>
            <a:xfrm>
              <a:off x="363" y="725"/>
              <a:ext cx="998" cy="272"/>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8" name="Rectangle 126"/>
            <p:cNvSpPr/>
            <p:nvPr/>
          </p:nvSpPr>
          <p:spPr>
            <a:xfrm>
              <a:off x="363" y="998"/>
              <a:ext cx="998" cy="227"/>
            </a:xfrm>
            <a:prstGeom prst="rect">
              <a:avLst/>
            </a:prstGeom>
            <a:solidFill>
              <a:srgbClr val="FF7C80">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3419" name="Rectangle 127"/>
            <p:cNvSpPr/>
            <p:nvPr/>
          </p:nvSpPr>
          <p:spPr>
            <a:xfrm>
              <a:off x="0" y="90"/>
              <a:ext cx="520" cy="431"/>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None/>
              </a:pPr>
              <a:r>
                <a:rPr lang="zh-CN" altLang="en-US" sz="3200" dirty="0">
                  <a:solidFill>
                    <a:srgbClr val="A50021"/>
                  </a:solidFill>
                  <a:latin typeface="宋体" panose="02010600030101010101" pitchFamily="2" charset="-122"/>
                  <a:sym typeface="Wingdings 2" panose="05020102010507070707" pitchFamily="18" charset="2"/>
                </a:rPr>
                <a:t></a:t>
              </a:r>
              <a:endParaRPr lang="zh-CN" altLang="en-US" sz="3200" dirty="0">
                <a:solidFill>
                  <a:srgbClr val="A50021"/>
                </a:solidFill>
                <a:latin typeface="宋体" panose="02010600030101010101" pitchFamily="2" charset="-122"/>
                <a:sym typeface="Wingdings 2" panose="05020102010507070707" pitchFamily="18" charset="2"/>
              </a:endParaRPr>
            </a:p>
          </p:txBody>
        </p:sp>
      </p:grpSp>
      <p:sp>
        <p:nvSpPr>
          <p:cNvPr id="137344" name="Rectangle 128"/>
          <p:cNvSpPr/>
          <p:nvPr/>
        </p:nvSpPr>
        <p:spPr>
          <a:xfrm>
            <a:off x="0" y="4132263"/>
            <a:ext cx="4824413" cy="360362"/>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37345" name="Rectangle 129"/>
          <p:cNvSpPr/>
          <p:nvPr/>
        </p:nvSpPr>
        <p:spPr>
          <a:xfrm>
            <a:off x="0" y="4522788"/>
            <a:ext cx="4824413" cy="360362"/>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37346" name="Rectangle 130"/>
          <p:cNvSpPr/>
          <p:nvPr/>
        </p:nvSpPr>
        <p:spPr>
          <a:xfrm>
            <a:off x="0" y="4803775"/>
            <a:ext cx="6342063" cy="863600"/>
          </a:xfrm>
          <a:prstGeom prst="rect">
            <a:avLst/>
          </a:prstGeom>
          <a:solidFill>
            <a:srgbClr val="DAEDEF"/>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0"/>
              </a:spcBef>
              <a:buClrTx/>
              <a:buSzTx/>
              <a:buFont typeface="Arial" panose="020B0604020202020204" pitchFamily="34" charset="0"/>
              <a:buChar char="•"/>
            </a:pPr>
            <a:endParaRPr lang="de-DE" altLang="en-US" sz="2400" dirty="0">
              <a:solidFill>
                <a:srgbClr val="0000CC"/>
              </a:solidFill>
              <a:latin typeface="Tahoma" panose="020B0604030504040204" pitchFamily="34" charset="0"/>
            </a:endParaRPr>
          </a:p>
        </p:txBody>
      </p:sp>
      <p:sp>
        <p:nvSpPr>
          <p:cNvPr id="183414"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137344"/>
                                        </p:tgtEl>
                                      </p:cBhvr>
                                    </p:animEffect>
                                    <p:set>
                                      <p:cBhvr>
                                        <p:cTn id="7" dur="1" fill="hold">
                                          <p:stCondLst>
                                            <p:cond delay="499"/>
                                          </p:stCondLst>
                                        </p:cTn>
                                        <p:tgtEl>
                                          <p:spTgt spid="137344"/>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7" presetClass="entr" presetSubtype="10" fill="hold" nodeType="clickEffect">
                                  <p:stCondLst>
                                    <p:cond delay="0"/>
                                  </p:stCondLst>
                                  <p:childTnLst>
                                    <p:set>
                                      <p:cBhvr>
                                        <p:cTn id="11" dur="1" fill="hold">
                                          <p:stCondLst>
                                            <p:cond delay="0"/>
                                          </p:stCondLst>
                                        </p:cTn>
                                        <p:tgtEl>
                                          <p:spTgt spid="137329"/>
                                        </p:tgtEl>
                                        <p:attrNameLst>
                                          <p:attrName>style.visibility</p:attrName>
                                        </p:attrNameLst>
                                      </p:cBhvr>
                                      <p:to>
                                        <p:strVal val="visible"/>
                                      </p:to>
                                    </p:set>
                                    <p:anim calcmode="lin" valueType="num">
                                      <p:cBhvr>
                                        <p:cTn id="12" dur="500" fill="hold"/>
                                        <p:tgtEl>
                                          <p:spTgt spid="137329"/>
                                        </p:tgtEl>
                                        <p:attrNameLst>
                                          <p:attrName>ppt_w</p:attrName>
                                        </p:attrNameLst>
                                      </p:cBhvr>
                                      <p:tavLst>
                                        <p:tav tm="0">
                                          <p:val>
                                            <p:fltVal val="0.000000"/>
                                          </p:val>
                                        </p:tav>
                                        <p:tav tm="100000">
                                          <p:val>
                                            <p:strVal val="#ppt_w"/>
                                          </p:val>
                                        </p:tav>
                                      </p:tavLst>
                                    </p:anim>
                                    <p:anim calcmode="lin" valueType="num">
                                      <p:cBhvr>
                                        <p:cTn id="13" dur="500" fill="hold"/>
                                        <p:tgtEl>
                                          <p:spTgt spid="137329"/>
                                        </p:tgtEl>
                                        <p:attrNameLst>
                                          <p:attrName>ppt_h</p:attrName>
                                        </p:attrNameLst>
                                      </p:cBhvr>
                                      <p:tavLst>
                                        <p:tav tm="0">
                                          <p:val>
                                            <p:strVal val="#ppt_h"/>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4" presetClass="exit" presetSubtype="16" fill="hold" grpId="0" nodeType="clickEffect">
                                  <p:stCondLst>
                                    <p:cond delay="0"/>
                                  </p:stCondLst>
                                  <p:childTnLst>
                                    <p:animEffect transition="out" filter="box(in)">
                                      <p:cBhvr>
                                        <p:cTn id="17" dur="500"/>
                                        <p:tgtEl>
                                          <p:spTgt spid="137345"/>
                                        </p:tgtEl>
                                      </p:cBhvr>
                                    </p:animEffect>
                                    <p:set>
                                      <p:cBhvr>
                                        <p:cTn id="18" dur="1" fill="hold">
                                          <p:stCondLst>
                                            <p:cond delay="499"/>
                                          </p:stCondLst>
                                        </p:cTn>
                                        <p:tgtEl>
                                          <p:spTgt spid="13734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137332"/>
                                        </p:tgtEl>
                                        <p:attrNameLst>
                                          <p:attrName>style.visibility</p:attrName>
                                        </p:attrNameLst>
                                      </p:cBhvr>
                                      <p:to>
                                        <p:strVal val="visible"/>
                                      </p:to>
                                    </p:set>
                                    <p:anim calcmode="lin" valueType="num">
                                      <p:cBhvr>
                                        <p:cTn id="23" dur="500" fill="hold"/>
                                        <p:tgtEl>
                                          <p:spTgt spid="137332"/>
                                        </p:tgtEl>
                                        <p:attrNameLst>
                                          <p:attrName>ppt_w</p:attrName>
                                        </p:attrNameLst>
                                      </p:cBhvr>
                                      <p:tavLst>
                                        <p:tav tm="0">
                                          <p:val>
                                            <p:fltVal val="0.000000"/>
                                          </p:val>
                                        </p:tav>
                                        <p:tav tm="100000">
                                          <p:val>
                                            <p:strVal val="#ppt_w"/>
                                          </p:val>
                                        </p:tav>
                                      </p:tavLst>
                                    </p:anim>
                                    <p:anim calcmode="lin" valueType="num">
                                      <p:cBhvr>
                                        <p:cTn id="24" dur="500" fill="hold"/>
                                        <p:tgtEl>
                                          <p:spTgt spid="137332"/>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3" presetClass="exit" presetSubtype="10" fill="hold" grpId="0" nodeType="clickEffect">
                                  <p:stCondLst>
                                    <p:cond delay="0"/>
                                  </p:stCondLst>
                                  <p:childTnLst>
                                    <p:animEffect transition="out" filter="blinds(horizontal)">
                                      <p:cBhvr>
                                        <p:cTn id="28" dur="500"/>
                                        <p:tgtEl>
                                          <p:spTgt spid="137346"/>
                                        </p:tgtEl>
                                      </p:cBhvr>
                                    </p:animEffect>
                                    <p:set>
                                      <p:cBhvr>
                                        <p:cTn id="29" dur="1" fill="hold">
                                          <p:stCondLst>
                                            <p:cond delay="499"/>
                                          </p:stCondLst>
                                        </p:cTn>
                                        <p:tgtEl>
                                          <p:spTgt spid="13734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4" presetClass="entr" presetSubtype="10" fill="hold" nodeType="clickEffect">
                                  <p:stCondLst>
                                    <p:cond delay="0"/>
                                  </p:stCondLst>
                                  <p:childTnLst>
                                    <p:set>
                                      <p:cBhvr>
                                        <p:cTn id="33" dur="1" fill="hold">
                                          <p:stCondLst>
                                            <p:cond delay="0"/>
                                          </p:stCondLst>
                                        </p:cTn>
                                        <p:tgtEl>
                                          <p:spTgt spid="137338"/>
                                        </p:tgtEl>
                                        <p:attrNameLst>
                                          <p:attrName>style.visibility</p:attrName>
                                        </p:attrNameLst>
                                      </p:cBhvr>
                                      <p:to>
                                        <p:strVal val="visible"/>
                                      </p:to>
                                    </p:set>
                                    <p:animEffect transition="in" filter="randombar(horizontal)">
                                      <p:cBhvr>
                                        <p:cTn id="34" dur="500"/>
                                        <p:tgtEl>
                                          <p:spTgt spid="137338"/>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xit" presetSubtype="4" fill="hold" grpId="0" nodeType="clickEffect">
                                  <p:stCondLst>
                                    <p:cond delay="0"/>
                                  </p:stCondLst>
                                  <p:childTnLst>
                                    <p:anim calcmode="lin" valueType="num">
                                      <p:cBhvr additive="base">
                                        <p:cTn id="38" dur="500"/>
                                        <p:tgtEl>
                                          <p:spTgt spid="137222"/>
                                        </p:tgtEl>
                                        <p:attrNameLst>
                                          <p:attrName>ppt_x</p:attrName>
                                        </p:attrNameLst>
                                      </p:cBhvr>
                                      <p:tavLst>
                                        <p:tav tm="0">
                                          <p:val>
                                            <p:strVal val="ppt_x"/>
                                          </p:val>
                                        </p:tav>
                                        <p:tav tm="100000">
                                          <p:val>
                                            <p:strVal val="ppt_x"/>
                                          </p:val>
                                        </p:tav>
                                      </p:tavLst>
                                    </p:anim>
                                    <p:anim calcmode="lin" valueType="num">
                                      <p:cBhvr additive="base">
                                        <p:cTn id="39" dur="500"/>
                                        <p:tgtEl>
                                          <p:spTgt spid="137222"/>
                                        </p:tgtEl>
                                        <p:attrNameLst>
                                          <p:attrName>ppt_y</p:attrName>
                                        </p:attrNameLst>
                                      </p:cBhvr>
                                      <p:tavLst>
                                        <p:tav tm="0">
                                          <p:val>
                                            <p:strVal val="ppt_y"/>
                                          </p:val>
                                        </p:tav>
                                        <p:tav tm="100000">
                                          <p:val>
                                            <p:strVal val="1+ppt_h/2"/>
                                          </p:val>
                                        </p:tav>
                                      </p:tavLst>
                                    </p:anim>
                                    <p:set>
                                      <p:cBhvr>
                                        <p:cTn id="40" dur="1" fill="hold">
                                          <p:stCondLst>
                                            <p:cond delay="499"/>
                                          </p:stCondLst>
                                        </p:cTn>
                                        <p:tgtEl>
                                          <p:spTgt spid="137222"/>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137335"/>
                                        </p:tgtEl>
                                        <p:attrNameLst>
                                          <p:attrName>style.visibility</p:attrName>
                                        </p:attrNameLst>
                                      </p:cBhvr>
                                      <p:to>
                                        <p:strVal val="visible"/>
                                      </p:to>
                                    </p:set>
                                    <p:animEffect transition="in" filter="dissolve">
                                      <p:cBhvr>
                                        <p:cTn id="45" dur="500"/>
                                        <p:tgtEl>
                                          <p:spTgt spid="1373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22" grpId="0" animBg="1"/>
      <p:bldP spid="137344" grpId="0" animBg="1"/>
      <p:bldP spid="137345" grpId="0" animBg="1"/>
      <p:bldP spid="137346" grpId="0" animBg="1"/>
    </p:bld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38242" name="表格 138241"/>
          <p:cNvGraphicFramePr/>
          <p:nvPr/>
        </p:nvGraphicFramePr>
        <p:xfrm>
          <a:off x="2195513" y="914400"/>
          <a:ext cx="3133725" cy="2692400"/>
        </p:xfrm>
        <a:graphic>
          <a:graphicData uri="http://schemas.openxmlformats.org/drawingml/2006/table">
            <a:tbl>
              <a:tblPr/>
              <a:tblGrid>
                <a:gridCol w="990600"/>
                <a:gridCol w="1009650"/>
                <a:gridCol w="566738"/>
                <a:gridCol w="566737"/>
              </a:tblGrid>
              <a:tr h="3921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u="sng" dirty="0">
                          <a:solidFill>
                            <a:srgbClr val="003300"/>
                          </a:solidFill>
                        </a:rPr>
                        <a:t>sid</a:t>
                      </a:r>
                      <a:endParaRPr lang="de-DE" altLang="en-US"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sname</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age</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sex</a:t>
                      </a:r>
                      <a:endParaRPr lang="de-DE" altLang="en-US" b="0" dirty="0">
                        <a:solidFill>
                          <a:srgbClr val="003300"/>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7306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何大</a:t>
                      </a:r>
                      <a:r>
                        <a:rPr lang="zh-CN" altLang="en-US" sz="1800" b="0" dirty="0">
                          <a:solidFill>
                            <a:srgbClr val="003300"/>
                          </a:solidFill>
                        </a:rPr>
                        <a:t>明</a:t>
                      </a:r>
                      <a:endParaRPr lang="zh-CN" altLang="en-US"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19</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男</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1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11</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ea typeface="华文楷体" panose="02010600040101010101" pitchFamily="2" charset="-122"/>
                        </a:rPr>
                        <a:t>李</a:t>
                      </a:r>
                      <a:r>
                        <a:rPr lang="zh-CN" altLang="en-US" sz="1800" b="0" dirty="0">
                          <a:solidFill>
                            <a:srgbClr val="003300"/>
                          </a:solidFill>
                        </a:rPr>
                        <a:t>荭</a:t>
                      </a:r>
                      <a:endParaRPr lang="de-DE" altLang="en-US" b="0" dirty="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女</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671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陈胜</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男</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张大卫</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18</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男</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000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22</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董一溪</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21</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女</a:t>
                      </a:r>
                      <a:endParaRPr lang="zh-CN" altLang="en-US" b="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孙小惠</a:t>
                      </a:r>
                      <a:endParaRPr lang="zh-CN" altLang="en-US" b="0">
                        <a:solidFill>
                          <a:srgbClr val="0033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20</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女</a:t>
                      </a:r>
                      <a:endParaRPr lang="zh-CN" altLang="en-US" b="0">
                        <a:solidFill>
                          <a:srgbClr val="003300"/>
                        </a:solidFill>
                      </a:endParaRPr>
                    </a:p>
                  </a:txBody>
                  <a:tcPr>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4366" name="Text Box 62"/>
          <p:cNvSpPr txBox="1"/>
          <p:nvPr/>
        </p:nvSpPr>
        <p:spPr>
          <a:xfrm>
            <a:off x="1692275" y="914400"/>
            <a:ext cx="53975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a:t>
            </a:r>
            <a:endParaRPr lang="de-DE" altLang="en-US" sz="3200" dirty="0">
              <a:latin typeface="宋体" panose="02010600030101010101" pitchFamily="2" charset="-122"/>
            </a:endParaRPr>
          </a:p>
        </p:txBody>
      </p:sp>
      <p:graphicFrame>
        <p:nvGraphicFramePr>
          <p:cNvPr id="138287" name="表格 138286"/>
          <p:cNvGraphicFramePr/>
          <p:nvPr/>
        </p:nvGraphicFramePr>
        <p:xfrm>
          <a:off x="5651500" y="914400"/>
          <a:ext cx="3249613" cy="2089150"/>
        </p:xfrm>
        <a:graphic>
          <a:graphicData uri="http://schemas.openxmlformats.org/drawingml/2006/table">
            <a:tbl>
              <a:tblPr/>
              <a:tblGrid>
                <a:gridCol w="749300"/>
                <a:gridCol w="1363663"/>
                <a:gridCol w="1136650"/>
              </a:tblGrid>
              <a:tr h="38086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cid</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cname</a:t>
                      </a:r>
                      <a:endParaRPr lang="de-DE" altLang="en-US" sz="1800" b="0" dirty="0">
                        <a:solidFill>
                          <a:srgbClr val="003300"/>
                        </a:solidFill>
                        <a:ea typeface="华文楷体" panose="02010600040101010101" pitchFamily="2" charset="-122"/>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teacher</a:t>
                      </a:r>
                      <a:endParaRPr lang="de-DE" altLang="en-US" sz="1800" b="0" dirty="0">
                        <a:solidFill>
                          <a:srgbClr val="003300"/>
                        </a:solidFill>
                      </a:endParaRPr>
                    </a:p>
                  </a:txBody>
                  <a:tcPr marT="45704" marB="45704">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728">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数据库</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吴茗</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8878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计算机网络</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刘萧</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386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103</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数据结构</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陈黎</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991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04" marB="45704">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1800" b="0">
                          <a:solidFill>
                            <a:srgbClr val="003300"/>
                          </a:solidFill>
                        </a:rPr>
                        <a:t>Java</a:t>
                      </a:r>
                      <a:r>
                        <a:rPr lang="zh-CN" altLang="en-US" sz="1800" b="0">
                          <a:solidFill>
                            <a:srgbClr val="003300"/>
                          </a:solidFill>
                        </a:rPr>
                        <a:t>语言</a:t>
                      </a:r>
                      <a:endParaRPr lang="zh-CN" altLang="en-US" sz="1800" b="0">
                        <a:solidFill>
                          <a:srgbClr val="003300"/>
                        </a:solidFill>
                      </a:endParaRPr>
                    </a:p>
                  </a:txBody>
                  <a:tcPr marT="45704" marB="45704">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a:solidFill>
                            <a:srgbClr val="003300"/>
                          </a:solidFill>
                        </a:rPr>
                        <a:t>刘萧</a:t>
                      </a:r>
                      <a:endParaRPr lang="zh-CN" altLang="en-US" sz="1800" b="0">
                        <a:solidFill>
                          <a:srgbClr val="003300"/>
                        </a:solidFill>
                      </a:endParaRPr>
                    </a:p>
                  </a:txBody>
                  <a:tcPr marT="45704" marB="45704">
                    <a:lnL w="28575"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graphicFrame>
        <p:nvGraphicFramePr>
          <p:cNvPr id="138315" name="表格 138314"/>
          <p:cNvGraphicFramePr/>
          <p:nvPr/>
        </p:nvGraphicFramePr>
        <p:xfrm>
          <a:off x="6415088" y="3417888"/>
          <a:ext cx="2436813" cy="2857500"/>
        </p:xfrm>
        <a:graphic>
          <a:graphicData uri="http://schemas.openxmlformats.org/drawingml/2006/table">
            <a:tbl>
              <a:tblPr/>
              <a:tblGrid>
                <a:gridCol w="990600"/>
                <a:gridCol w="566738"/>
                <a:gridCol w="879475"/>
              </a:tblGrid>
              <a:tr h="39700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000" b="0" dirty="0">
                          <a:solidFill>
                            <a:srgbClr val="003300"/>
                          </a:solidFill>
                        </a:rPr>
                        <a:t>score</a:t>
                      </a:r>
                      <a:endParaRPr lang="de-DE" altLang="en-US" sz="2000" b="0" dirty="0">
                        <a:solidFill>
                          <a:srgbClr val="003300"/>
                        </a:solidFill>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5735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44147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74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65882">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10</a:t>
                      </a:r>
                      <a:endParaRPr lang="de-DE" altLang="en-US" sz="1800" b="0" dirty="0">
                        <a:solidFill>
                          <a:srgbClr val="003300"/>
                        </a:solidFill>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80</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35</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93</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sz="1800" b="0" dirty="0">
                        <a:solidFill>
                          <a:srgbClr val="003300"/>
                        </a:solidFill>
                        <a:ea typeface="华文楷体" panose="02010600040101010101" pitchFamily="2" charset="-122"/>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101</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88</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r h="398596">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22</a:t>
                      </a:r>
                      <a:endParaRPr lang="de-DE" altLang="en-US" sz="1800" b="0" dirty="0">
                        <a:solidFill>
                          <a:srgbClr val="003300"/>
                        </a:solidFill>
                      </a:endParaRPr>
                    </a:p>
                  </a:txBody>
                  <a:tcPr marT="45735" marB="45735">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69</a:t>
                      </a:r>
                      <a:endParaRPr lang="de-DE" altLang="en-US" sz="1800" b="0" dirty="0">
                        <a:solidFill>
                          <a:srgbClr val="003300"/>
                        </a:solidFill>
                        <a:ea typeface="华文楷体" panose="02010600040101010101" pitchFamily="2" charset="-122"/>
                      </a:endParaRPr>
                    </a:p>
                  </a:txBody>
                  <a:tcPr marT="45735" marB="45735">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FCEEE0">
                        <a:alpha val="100000"/>
                      </a:srgbClr>
                    </a:solidFill>
                  </a:tcPr>
                </a:tc>
              </a:tr>
            </a:tbl>
          </a:graphicData>
        </a:graphic>
      </p:graphicFrame>
      <p:sp>
        <p:nvSpPr>
          <p:cNvPr id="184429" name="Text Box 137"/>
          <p:cNvSpPr txBox="1"/>
          <p:nvPr/>
        </p:nvSpPr>
        <p:spPr>
          <a:xfrm>
            <a:off x="8215313" y="2913063"/>
            <a:ext cx="685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SC</a:t>
            </a:r>
            <a:endParaRPr lang="de-DE" altLang="en-US" sz="3200" dirty="0">
              <a:latin typeface="宋体" panose="02010600030101010101" pitchFamily="2" charset="-122"/>
            </a:endParaRPr>
          </a:p>
        </p:txBody>
      </p:sp>
      <p:sp>
        <p:nvSpPr>
          <p:cNvPr id="184430" name="Rectangle 138"/>
          <p:cNvSpPr/>
          <p:nvPr/>
        </p:nvSpPr>
        <p:spPr>
          <a:xfrm>
            <a:off x="179388" y="900113"/>
            <a:ext cx="1606550" cy="2676525"/>
          </a:xfrm>
          <a:prstGeom prst="rect">
            <a:avLst/>
          </a:prstGeom>
          <a:solidFill>
            <a:srgbClr val="F4FEFE"/>
          </a:solidFill>
          <a:ln w="9525" cap="flat" cmpd="sng">
            <a:solidFill>
              <a:srgbClr val="3366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400" dirty="0">
                <a:solidFill>
                  <a:srgbClr val="800000"/>
                </a:solidFill>
                <a:latin typeface="宋体" panose="02010600030101010101" pitchFamily="2" charset="-122"/>
              </a:rPr>
              <a:t>例题：检索至少选修了刘萧老师所授课程中两门课的女生姓名。 </a:t>
            </a:r>
            <a:endParaRPr lang="zh-CN" altLang="en-US" sz="2400" dirty="0">
              <a:solidFill>
                <a:srgbClr val="800000"/>
              </a:solidFill>
              <a:latin typeface="宋体" panose="02010600030101010101" pitchFamily="2" charset="-122"/>
            </a:endParaRPr>
          </a:p>
        </p:txBody>
      </p:sp>
      <p:sp>
        <p:nvSpPr>
          <p:cNvPr id="184431" name="Text Box 139"/>
          <p:cNvSpPr txBox="1"/>
          <p:nvPr/>
        </p:nvSpPr>
        <p:spPr>
          <a:xfrm>
            <a:off x="5219700" y="725488"/>
            <a:ext cx="43180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algn="ctr" eaLnBrk="1" hangingPunct="1">
              <a:lnSpc>
                <a:spcPct val="135000"/>
              </a:lnSpc>
              <a:spcBef>
                <a:spcPct val="50000"/>
              </a:spcBef>
              <a:buClrTx/>
              <a:buSzTx/>
              <a:buFont typeface="Arial" panose="020B0604020202020204" pitchFamily="34" charset="0"/>
              <a:buNone/>
            </a:pPr>
            <a:r>
              <a:rPr lang="zh-CN" altLang="en-US" sz="3200" dirty="0">
                <a:latin typeface="宋体" panose="02010600030101010101" pitchFamily="2" charset="-122"/>
              </a:rPr>
              <a:t>C</a:t>
            </a:r>
            <a:endParaRPr lang="de-DE" altLang="en-US" sz="3200" dirty="0">
              <a:latin typeface="宋体" panose="02010600030101010101" pitchFamily="2" charset="-122"/>
            </a:endParaRPr>
          </a:p>
        </p:txBody>
      </p:sp>
      <p:grpSp>
        <p:nvGrpSpPr>
          <p:cNvPr id="138352" name="Group 140"/>
          <p:cNvGrpSpPr/>
          <p:nvPr/>
        </p:nvGrpSpPr>
        <p:grpSpPr>
          <a:xfrm>
            <a:off x="5637213" y="652463"/>
            <a:ext cx="3168650" cy="2366962"/>
            <a:chOff x="0" y="0"/>
            <a:chExt cx="1996" cy="1624"/>
          </a:xfrm>
        </p:grpSpPr>
        <p:sp>
          <p:nvSpPr>
            <p:cNvPr id="184470" name="Rectangle 141"/>
            <p:cNvSpPr/>
            <p:nvPr/>
          </p:nvSpPr>
          <p:spPr>
            <a:xfrm>
              <a:off x="82" y="693"/>
              <a:ext cx="1905" cy="272"/>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71" name="Rectangle 142"/>
            <p:cNvSpPr/>
            <p:nvPr/>
          </p:nvSpPr>
          <p:spPr>
            <a:xfrm>
              <a:off x="91" y="1352"/>
              <a:ext cx="1905" cy="272"/>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72" name="Rectangle 143"/>
            <p:cNvSpPr/>
            <p:nvPr/>
          </p:nvSpPr>
          <p:spPr>
            <a:xfrm>
              <a:off x="0" y="0"/>
              <a:ext cx="490" cy="1543"/>
            </a:xfrm>
            <a:prstGeom prst="rect">
              <a:avLst/>
            </a:prstGeom>
            <a:solidFill>
              <a:srgbClr val="99CCFF">
                <a:alpha val="34117"/>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8356" name="Line 144"/>
          <p:cNvSpPr/>
          <p:nvPr/>
        </p:nvSpPr>
        <p:spPr>
          <a:xfrm>
            <a:off x="4787900" y="3794125"/>
            <a:ext cx="1584325" cy="719138"/>
          </a:xfrm>
          <a:prstGeom prst="line">
            <a:avLst/>
          </a:prstGeom>
          <a:ln w="38100" cap="flat" cmpd="sng">
            <a:solidFill>
              <a:srgbClr val="CC0000"/>
            </a:solidFill>
            <a:prstDash val="solid"/>
            <a:headEnd type="triangle" w="med" len="med"/>
            <a:tailEnd type="triangle" w="med" len="med"/>
          </a:ln>
        </p:spPr>
      </p:sp>
      <p:grpSp>
        <p:nvGrpSpPr>
          <p:cNvPr id="138357" name="Group 145"/>
          <p:cNvGrpSpPr/>
          <p:nvPr/>
        </p:nvGrpSpPr>
        <p:grpSpPr>
          <a:xfrm>
            <a:off x="6367463" y="4281488"/>
            <a:ext cx="2295525" cy="1944687"/>
            <a:chOff x="0" y="0"/>
            <a:chExt cx="1446" cy="1225"/>
          </a:xfrm>
        </p:grpSpPr>
        <p:sp>
          <p:nvSpPr>
            <p:cNvPr id="184466" name="Rectangle 146"/>
            <p:cNvSpPr/>
            <p:nvPr/>
          </p:nvSpPr>
          <p:spPr>
            <a:xfrm>
              <a:off x="46" y="272"/>
              <a:ext cx="1400"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7" name="Rectangle 147"/>
            <p:cNvSpPr/>
            <p:nvPr/>
          </p:nvSpPr>
          <p:spPr>
            <a:xfrm>
              <a:off x="46" y="0"/>
              <a:ext cx="1400"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8" name="Rectangle 148"/>
            <p:cNvSpPr/>
            <p:nvPr/>
          </p:nvSpPr>
          <p:spPr>
            <a:xfrm>
              <a:off x="0" y="544"/>
              <a:ext cx="1436"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9" name="Rectangle 149"/>
            <p:cNvSpPr/>
            <p:nvPr/>
          </p:nvSpPr>
          <p:spPr>
            <a:xfrm>
              <a:off x="46" y="998"/>
              <a:ext cx="1400" cy="227"/>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8362" name="Rectangle 150"/>
          <p:cNvSpPr/>
          <p:nvPr/>
        </p:nvSpPr>
        <p:spPr>
          <a:xfrm>
            <a:off x="3217863" y="3244850"/>
            <a:ext cx="936625" cy="360363"/>
          </a:xfrm>
          <a:prstGeom prst="rect">
            <a:avLst/>
          </a:prstGeom>
          <a:solidFill>
            <a:srgbClr val="A026B8">
              <a:alpha val="20000"/>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aphicFrame>
        <p:nvGraphicFramePr>
          <p:cNvPr id="138363" name="表格 138362"/>
          <p:cNvGraphicFramePr/>
          <p:nvPr/>
        </p:nvGraphicFramePr>
        <p:xfrm>
          <a:off x="6415088" y="3417888"/>
          <a:ext cx="1512888" cy="2736850"/>
        </p:xfrm>
        <a:graphic>
          <a:graphicData uri="http://schemas.openxmlformats.org/drawingml/2006/table">
            <a:tbl>
              <a:tblPr/>
              <a:tblGrid>
                <a:gridCol w="792162"/>
                <a:gridCol w="720725"/>
              </a:tblGrid>
              <a:tr h="4730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u="sng" dirty="0">
                          <a:solidFill>
                            <a:srgbClr val="003300"/>
                          </a:solidFill>
                        </a:rPr>
                        <a:t>sid</a:t>
                      </a:r>
                      <a:endParaRPr lang="de-DE" altLang="en-US" sz="2000" b="0" u="sng"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000" b="0" dirty="0">
                          <a:solidFill>
                            <a:srgbClr val="003300"/>
                          </a:solidFill>
                        </a:rPr>
                        <a:t>cid</a:t>
                      </a:r>
                      <a:endParaRPr lang="de-DE" altLang="en-US" sz="2000"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614363">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10</a:t>
                      </a:r>
                      <a:endParaRPr lang="de-DE" altLang="en-US"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55245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a:t>
                      </a:r>
                      <a:endParaRPr lang="de-DE" altLang="en-US" b="0" dirty="0">
                        <a:solidFill>
                          <a:srgbClr val="003300"/>
                        </a:solidFill>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102</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547687">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35</a:t>
                      </a:r>
                      <a:endParaRPr lang="de-DE" altLang="en-US"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1800" b="0" dirty="0">
                          <a:solidFill>
                            <a:srgbClr val="003300"/>
                          </a:solidFill>
                        </a:rPr>
                        <a:t>104</a:t>
                      </a:r>
                      <a:endParaRPr lang="de-DE" altLang="en-US" b="0" dirty="0">
                        <a:solidFill>
                          <a:srgbClr val="003300"/>
                        </a:solidFill>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r h="5492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22</a:t>
                      </a:r>
                      <a:endParaRPr lang="de-DE" altLang="en-US" b="0" dirty="0">
                        <a:solidFill>
                          <a:srgbClr val="0033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1800" b="0" dirty="0">
                          <a:solidFill>
                            <a:srgbClr val="003300"/>
                          </a:solidFill>
                        </a:rPr>
                        <a:t>102</a:t>
                      </a:r>
                      <a:endParaRPr lang="de-DE" altLang="en-US" b="0" dirty="0">
                        <a:solidFill>
                          <a:srgbClr val="0033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rgbClr val="CCECFF">
                        <a:alpha val="100000"/>
                      </a:srgbClr>
                    </a:solidFill>
                  </a:tcPr>
                </a:tc>
              </a:tr>
            </a:tbl>
          </a:graphicData>
        </a:graphic>
      </p:graphicFrame>
      <p:sp>
        <p:nvSpPr>
          <p:cNvPr id="138383" name="Rectangle 177"/>
          <p:cNvSpPr/>
          <p:nvPr/>
        </p:nvSpPr>
        <p:spPr>
          <a:xfrm>
            <a:off x="6488113" y="3921125"/>
            <a:ext cx="1439862" cy="1081088"/>
          </a:xfrm>
          <a:prstGeom prst="rect">
            <a:avLst/>
          </a:prstGeom>
          <a:solidFill>
            <a:srgbClr val="6CC67F">
              <a:alpha val="41176"/>
            </a:srgbClr>
          </a:solidFill>
          <a:ln w="9525">
            <a:noFill/>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38384" name="Rectangle 178"/>
          <p:cNvSpPr/>
          <p:nvPr/>
        </p:nvSpPr>
        <p:spPr>
          <a:xfrm>
            <a:off x="130175" y="3171825"/>
            <a:ext cx="8785225" cy="3251200"/>
          </a:xfrm>
          <a:prstGeom prst="rect">
            <a:avLst/>
          </a:prstGeom>
          <a:solidFill>
            <a:srgbClr val="FCEBE8"/>
          </a:solid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1. </a:t>
            </a:r>
            <a:r>
              <a:rPr lang="zh-CN" altLang="en-US" sz="2400" dirty="0">
                <a:solidFill>
                  <a:srgbClr val="000066"/>
                </a:solidFill>
                <a:latin typeface="宋体" panose="02010600030101010101" pitchFamily="2" charset="-122"/>
                <a:sym typeface="Symbol" panose="05050102010706020507" pitchFamily="18" charset="2"/>
              </a:rPr>
              <a:t>查刘老师课程号：  </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baseline="-25000" dirty="0">
                <a:solidFill>
                  <a:srgbClr val="000066"/>
                </a:solidFill>
                <a:latin typeface="宋体" panose="02010600030101010101" pitchFamily="2" charset="-122"/>
                <a:sym typeface="Symbol" panose="05050102010706020507" pitchFamily="18" charset="2"/>
              </a:rPr>
              <a:t>cid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Teacher</a:t>
            </a:r>
            <a:r>
              <a:rPr lang="zh-CN" altLang="en-US" sz="2400" baseline="-25000" dirty="0">
                <a:solidFill>
                  <a:srgbClr val="000066"/>
                </a:solidFill>
                <a:latin typeface="宋体" panose="02010600030101010101" pitchFamily="2" charset="-122"/>
                <a:sym typeface="Symbol" panose="05050102010706020507" pitchFamily="18" charset="2"/>
              </a:rPr>
              <a:t>=‘刘萧’</a:t>
            </a:r>
            <a:r>
              <a:rPr lang="zh-CN" altLang="en-US" sz="2400" dirty="0">
                <a:solidFill>
                  <a:srgbClr val="000066"/>
                </a:solidFill>
                <a:latin typeface="宋体" panose="02010600030101010101" pitchFamily="2" charset="-122"/>
                <a:sym typeface="Symbol" panose="05050102010706020507" pitchFamily="18" charset="2"/>
              </a:rPr>
              <a:t>(C))</a:t>
            </a:r>
            <a:endParaRPr lang="zh-CN" altLang="en-US" sz="2400" dirty="0">
              <a:solidFill>
                <a:srgbClr val="000066"/>
              </a:solidFill>
              <a:latin typeface="宋体" panose="02010600030101010101" pitchFamily="2" charset="-122"/>
              <a:sym typeface="Wingdings 2" panose="05020102010507070707" pitchFamily="18" charset="2"/>
            </a:endParaRPr>
          </a:p>
          <a:p>
            <a:pPr marL="457200" lvl="0" indent="-457200" eaLnBrk="1" hangingPunct="1">
              <a:spcBef>
                <a:spcPct val="0"/>
              </a:spcBef>
              <a:buClrTx/>
              <a:buSzTx/>
              <a:buFont typeface="Arial" panose="020B0604020202020204" pitchFamily="34" charset="0"/>
              <a:buAutoNum type="arabicPeriod" startAt="2"/>
            </a:pPr>
            <a:r>
              <a:rPr lang="zh-CN" altLang="en-US" sz="2400" dirty="0">
                <a:solidFill>
                  <a:srgbClr val="000066"/>
                </a:solidFill>
                <a:latin typeface="宋体" panose="02010600030101010101" pitchFamily="2" charset="-122"/>
                <a:sym typeface="Symbol" panose="05050102010706020507" pitchFamily="18" charset="2"/>
              </a:rPr>
              <a:t>与</a:t>
            </a:r>
            <a:r>
              <a:rPr lang="de-DE" altLang="en-US" sz="2400" dirty="0">
                <a:solidFill>
                  <a:srgbClr val="000066"/>
                </a:solidFill>
                <a:latin typeface="宋体" panose="02010600030101010101" pitchFamily="2" charset="-122"/>
                <a:sym typeface="Symbol" panose="05050102010706020507" pitchFamily="18" charset="2"/>
              </a:rPr>
              <a:t>SC</a:t>
            </a:r>
            <a:r>
              <a:rPr lang="zh-CN" altLang="en-US" sz="2400" dirty="0">
                <a:solidFill>
                  <a:srgbClr val="000066"/>
                </a:solidFill>
                <a:latin typeface="宋体" panose="02010600030101010101" pitchFamily="2" charset="-122"/>
                <a:sym typeface="Symbol" panose="05050102010706020507" pitchFamily="18" charset="2"/>
              </a:rPr>
              <a:t>自然联结，投影到</a:t>
            </a:r>
            <a:r>
              <a:rPr lang="de-DE" altLang="en-US" sz="2400" dirty="0">
                <a:solidFill>
                  <a:srgbClr val="000066"/>
                </a:solidFill>
                <a:latin typeface="宋体" panose="02010600030101010101" pitchFamily="2" charset="-122"/>
                <a:sym typeface="Symbol" panose="05050102010706020507" pitchFamily="18" charset="2"/>
              </a:rPr>
              <a:t>sid,cid</a:t>
            </a:r>
            <a:r>
              <a:rPr lang="zh-CN" altLang="en-US" sz="2400" dirty="0">
                <a:solidFill>
                  <a:srgbClr val="000066"/>
                </a:solidFill>
                <a:latin typeface="宋体" panose="02010600030101010101" pitchFamily="2" charset="-122"/>
                <a:sym typeface="Symbol" panose="05050102010706020507" pitchFamily="18" charset="2"/>
              </a:rPr>
              <a:t>上：</a:t>
            </a:r>
            <a:endParaRPr lang="zh-CN"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 tmp =</a:t>
            </a:r>
            <a:r>
              <a:rPr lang="de-DE" altLang="en-US" sz="2400" baseline="-25000" dirty="0">
                <a:solidFill>
                  <a:srgbClr val="000066"/>
                </a:solidFill>
                <a:latin typeface="宋体" panose="02010600030101010101" pitchFamily="2" charset="-122"/>
                <a:sym typeface="Symbol" panose="05050102010706020507" pitchFamily="18" charset="2"/>
              </a:rPr>
              <a:t>sid,</a:t>
            </a:r>
            <a:r>
              <a:rPr lang="zh-CN" altLang="en-US" sz="2400" baseline="-25000" dirty="0">
                <a:solidFill>
                  <a:srgbClr val="000066"/>
                </a:solidFill>
                <a:latin typeface="宋体" panose="02010600030101010101" pitchFamily="2" charset="-122"/>
                <a:sym typeface="Symbol" panose="05050102010706020507" pitchFamily="18" charset="2"/>
              </a:rPr>
              <a:t>cid</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baseline="-25000" dirty="0">
                <a:solidFill>
                  <a:srgbClr val="000066"/>
                </a:solidFill>
                <a:latin typeface="宋体" panose="02010600030101010101" pitchFamily="2" charset="-122"/>
                <a:sym typeface="Symbol" panose="05050102010706020507" pitchFamily="18" charset="2"/>
              </a:rPr>
              <a:t>cid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Teacher</a:t>
            </a:r>
            <a:r>
              <a:rPr lang="zh-CN" altLang="en-US" sz="2400" baseline="-25000" dirty="0">
                <a:solidFill>
                  <a:srgbClr val="000066"/>
                </a:solidFill>
                <a:latin typeface="宋体" panose="02010600030101010101" pitchFamily="2" charset="-122"/>
                <a:sym typeface="Symbol" panose="05050102010706020507" pitchFamily="18" charset="2"/>
              </a:rPr>
              <a:t>=‘刘萧’</a:t>
            </a:r>
            <a:r>
              <a:rPr lang="zh-CN" altLang="en-US" sz="2400" dirty="0">
                <a:solidFill>
                  <a:srgbClr val="000066"/>
                </a:solidFill>
                <a:latin typeface="宋体" panose="02010600030101010101" pitchFamily="2" charset="-122"/>
                <a:sym typeface="Symbol" panose="05050102010706020507" pitchFamily="18" charset="2"/>
              </a:rPr>
              <a:t>(C)) </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SC)</a:t>
            </a:r>
            <a:endParaRPr lang="zh-CN" altLang="en-US" sz="2400" dirty="0">
              <a:solidFill>
                <a:srgbClr val="000066"/>
              </a:solidFill>
              <a:latin typeface="宋体" panose="02010600030101010101" pitchFamily="2" charset="-122"/>
              <a:sym typeface="Wingdings 2" panose="050201020105070707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3. </a:t>
            </a:r>
            <a:r>
              <a:rPr lang="zh-CN" altLang="en-US" sz="2400" dirty="0">
                <a:solidFill>
                  <a:srgbClr val="000066"/>
                </a:solidFill>
                <a:latin typeface="宋体" panose="02010600030101010101" pitchFamily="2" charset="-122"/>
                <a:sym typeface="Symbol" panose="05050102010706020507" pitchFamily="18" charset="2"/>
              </a:rPr>
              <a:t>选修了至少两门</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体现在：同一个</a:t>
            </a:r>
            <a:r>
              <a:rPr lang="de-DE" altLang="en-US" sz="2400" dirty="0">
                <a:solidFill>
                  <a:srgbClr val="000066"/>
                </a:solidFill>
                <a:latin typeface="宋体" panose="02010600030101010101" pitchFamily="2" charset="-122"/>
                <a:sym typeface="Symbol" panose="05050102010706020507" pitchFamily="18" charset="2"/>
              </a:rPr>
              <a:t>sid,</a:t>
            </a:r>
            <a:r>
              <a:rPr lang="zh-CN" altLang="en-US" sz="2400" dirty="0">
                <a:solidFill>
                  <a:srgbClr val="000066"/>
                </a:solidFill>
                <a:latin typeface="宋体" panose="02010600030101010101" pitchFamily="2" charset="-122"/>
                <a:sym typeface="Symbol" panose="05050102010706020507" pitchFamily="18" charset="2"/>
              </a:rPr>
              <a:t>不同的</a:t>
            </a:r>
            <a:r>
              <a:rPr lang="de-DE" altLang="en-US" sz="2400" dirty="0">
                <a:solidFill>
                  <a:srgbClr val="000066"/>
                </a:solidFill>
                <a:latin typeface="宋体" panose="02010600030101010101" pitchFamily="2" charset="-122"/>
                <a:sym typeface="Symbol" panose="05050102010706020507" pitchFamily="18" charset="2"/>
              </a:rPr>
              <a:t>cid.</a:t>
            </a:r>
            <a:endParaRPr lang="de-DE"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 </a:t>
            </a:r>
            <a:r>
              <a:rPr lang="zh-CN" altLang="en-US" sz="2400" baseline="-25000" dirty="0">
                <a:solidFill>
                  <a:srgbClr val="000066"/>
                </a:solidFill>
                <a:latin typeface="宋体" panose="02010600030101010101" pitchFamily="2" charset="-122"/>
                <a:sym typeface="Symbol" panose="05050102010706020507" pitchFamily="18" charset="2"/>
              </a:rPr>
              <a:t>sid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1</a:t>
            </a:r>
            <a:r>
              <a:rPr lang="zh-CN" altLang="en-US" sz="2400" baseline="-25000" dirty="0">
                <a:solidFill>
                  <a:srgbClr val="000066"/>
                </a:solidFill>
                <a:latin typeface="宋体" panose="02010600030101010101" pitchFamily="2" charset="-122"/>
                <a:sym typeface="Symbol" panose="05050102010706020507" pitchFamily="18" charset="2"/>
              </a:rPr>
              <a:t>=3∧2≠ 4</a:t>
            </a:r>
            <a:r>
              <a:rPr lang="zh-CN" altLang="en-US" sz="2400" dirty="0">
                <a:solidFill>
                  <a:srgbClr val="000066"/>
                </a:solidFill>
                <a:latin typeface="宋体" panose="02010600030101010101" pitchFamily="2" charset="-122"/>
                <a:sym typeface="Symbol" panose="05050102010706020507" pitchFamily="18" charset="2"/>
              </a:rPr>
              <a:t>(tmp</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tmp))</a:t>
            </a:r>
            <a:endParaRPr lang="zh-CN" altLang="en-US" sz="2400" dirty="0">
              <a:solidFill>
                <a:srgbClr val="000066"/>
              </a:solidFill>
              <a:latin typeface="宋体" panose="02010600030101010101" pitchFamily="2" charset="-122"/>
              <a:sym typeface="Wingdings 2" panose="05020102010507070707" pitchFamily="18" charset="2"/>
            </a:endParaRPr>
          </a:p>
          <a:p>
            <a:pPr marL="457200" lvl="0" indent="-457200" eaLnBrk="1" hangingPunct="1">
              <a:spcBef>
                <a:spcPct val="0"/>
              </a:spcBef>
              <a:buClrTx/>
              <a:buSzTx/>
              <a:buFont typeface="Arial" panose="020B0604020202020204" pitchFamily="34" charset="0"/>
              <a:buNone/>
            </a:pPr>
            <a:r>
              <a:rPr lang="zh-CN" altLang="en-US" sz="2400" dirty="0">
                <a:solidFill>
                  <a:srgbClr val="000066"/>
                </a:solidFill>
                <a:latin typeface="宋体" panose="02010600030101010101" pitchFamily="2" charset="-122"/>
                <a:sym typeface="Symbol" panose="05050102010706020507" pitchFamily="18" charset="2"/>
              </a:rPr>
              <a:t>4. 学生的学号与S自然联结，然后选择女生，再投影到学生姓名上，如果没有这样的女生，结果可为空关系: </a:t>
            </a:r>
            <a:endParaRPr lang="zh-CN"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spcBef>
                <a:spcPct val="0"/>
              </a:spcBef>
              <a:buClrTx/>
              <a:buSzTx/>
              <a:buFont typeface="Arial" panose="020B0604020202020204" pitchFamily="34" charset="0"/>
              <a:buNone/>
            </a:pPr>
            <a:r>
              <a:rPr lang="de-DE" altLang="en-US" sz="2400" dirty="0">
                <a:solidFill>
                  <a:srgbClr val="000066"/>
                </a:solidFill>
                <a:latin typeface="宋体" panose="02010600030101010101" pitchFamily="2" charset="-122"/>
                <a:sym typeface="Symbol" panose="05050102010706020507" pitchFamily="18" charset="2"/>
              </a:rPr>
              <a:t></a:t>
            </a:r>
            <a:r>
              <a:rPr lang="de-DE" altLang="en-US" sz="2400" baseline="-25000" dirty="0">
                <a:solidFill>
                  <a:srgbClr val="000066"/>
                </a:solidFill>
                <a:latin typeface="宋体" panose="02010600030101010101" pitchFamily="2" charset="-122"/>
                <a:sym typeface="Symbol" panose="05050102010706020507" pitchFamily="18" charset="2"/>
              </a:rPr>
              <a:t>sname</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sex</a:t>
            </a:r>
            <a:r>
              <a:rPr lang="zh-CN" altLang="en-US" sz="2400" baseline="-25000" dirty="0">
                <a:solidFill>
                  <a:srgbClr val="000066"/>
                </a:solidFill>
                <a:latin typeface="宋体" panose="02010600030101010101" pitchFamily="2" charset="-122"/>
                <a:sym typeface="Symbol" panose="05050102010706020507" pitchFamily="18" charset="2"/>
              </a:rPr>
              <a:t>=‘女’</a:t>
            </a:r>
            <a:r>
              <a:rPr lang="zh-CN" altLang="en-US" sz="2400" dirty="0">
                <a:solidFill>
                  <a:srgbClr val="000066"/>
                </a:solidFill>
                <a:latin typeface="宋体" panose="02010600030101010101" pitchFamily="2" charset="-122"/>
                <a:sym typeface="Symbol" panose="05050102010706020507" pitchFamily="18" charset="2"/>
              </a:rPr>
              <a:t>（</a:t>
            </a:r>
            <a:r>
              <a:rPr lang="de-DE" altLang="en-US" sz="2400" dirty="0">
                <a:solidFill>
                  <a:srgbClr val="000066"/>
                </a:solidFill>
                <a:latin typeface="宋体" panose="02010600030101010101" pitchFamily="2" charset="-122"/>
                <a:sym typeface="Symbol" panose="05050102010706020507" pitchFamily="18" charset="2"/>
              </a:rPr>
              <a:t></a:t>
            </a:r>
            <a:r>
              <a:rPr lang="zh-CN" altLang="en-US" sz="2400" baseline="-25000" dirty="0">
                <a:solidFill>
                  <a:srgbClr val="000066"/>
                </a:solidFill>
                <a:latin typeface="宋体" panose="02010600030101010101" pitchFamily="2" charset="-122"/>
                <a:sym typeface="Symbol" panose="05050102010706020507" pitchFamily="18" charset="2"/>
              </a:rPr>
              <a:t>sid</a:t>
            </a:r>
            <a:r>
              <a:rPr lang="zh-CN" altLang="en-US" sz="2400" dirty="0">
                <a:solidFill>
                  <a:srgbClr val="000066"/>
                </a:solidFill>
                <a:latin typeface="宋体" panose="02010600030101010101" pitchFamily="2" charset="-122"/>
                <a:sym typeface="Symbol" panose="05050102010706020507" pitchFamily="18" charset="2"/>
              </a:rPr>
              <a:t>（</a:t>
            </a:r>
            <a:r>
              <a:rPr lang="el-GR" altLang="en-US" sz="2400" dirty="0">
                <a:solidFill>
                  <a:srgbClr val="000066"/>
                </a:solidFill>
                <a:latin typeface="宋体" panose="02010600030101010101" pitchFamily="2" charset="-122"/>
                <a:sym typeface="Symbol" panose="05050102010706020507" pitchFamily="18" charset="2"/>
              </a:rPr>
              <a:t>σ</a:t>
            </a:r>
            <a:r>
              <a:rPr lang="el-GR" altLang="en-US" sz="2400" baseline="-25000" dirty="0">
                <a:solidFill>
                  <a:srgbClr val="000066"/>
                </a:solidFill>
                <a:latin typeface="宋体" panose="02010600030101010101" pitchFamily="2" charset="-122"/>
                <a:sym typeface="Symbol" panose="05050102010706020507" pitchFamily="18" charset="2"/>
              </a:rPr>
              <a:t>1</a:t>
            </a:r>
            <a:r>
              <a:rPr lang="zh-CN" altLang="en-US" sz="2400" baseline="-25000" dirty="0">
                <a:solidFill>
                  <a:srgbClr val="000066"/>
                </a:solidFill>
                <a:latin typeface="宋体" panose="02010600030101010101" pitchFamily="2" charset="-122"/>
                <a:sym typeface="Symbol" panose="05050102010706020507" pitchFamily="18" charset="2"/>
              </a:rPr>
              <a:t>=3∧2≠ 4</a:t>
            </a:r>
            <a:r>
              <a:rPr lang="zh-CN" altLang="en-US" sz="2400" dirty="0">
                <a:solidFill>
                  <a:srgbClr val="000066"/>
                </a:solidFill>
                <a:latin typeface="宋体" panose="02010600030101010101" pitchFamily="2" charset="-122"/>
                <a:sym typeface="Symbol" panose="05050102010706020507" pitchFamily="18" charset="2"/>
              </a:rPr>
              <a:t>(tmp×tmp))</a:t>
            </a:r>
            <a:r>
              <a:rPr lang="zh-CN" altLang="en-US" sz="2400" dirty="0">
                <a:solidFill>
                  <a:srgbClr val="CC0000"/>
                </a:solidFill>
                <a:latin typeface="宋体" panose="02010600030101010101" pitchFamily="2" charset="-122"/>
                <a:sym typeface="Symbol" panose="05050102010706020507" pitchFamily="18" charset="2"/>
              </a:rPr>
              <a:t>∞</a:t>
            </a:r>
            <a:r>
              <a:rPr lang="zh-CN" altLang="en-US" sz="2400" dirty="0">
                <a:solidFill>
                  <a:srgbClr val="000066"/>
                </a:solidFill>
                <a:latin typeface="宋体" panose="02010600030101010101" pitchFamily="2" charset="-122"/>
                <a:sym typeface="Symbol" panose="05050102010706020507" pitchFamily="18" charset="2"/>
              </a:rPr>
              <a:t>S））</a:t>
            </a:r>
            <a:endParaRPr lang="zh-CN" altLang="en-US" sz="2400" dirty="0">
              <a:solidFill>
                <a:srgbClr val="000066"/>
              </a:solidFill>
              <a:latin typeface="宋体" panose="02010600030101010101" pitchFamily="2" charset="-122"/>
              <a:sym typeface="Symbol" panose="05050102010706020507" pitchFamily="18" charset="2"/>
            </a:endParaRPr>
          </a:p>
          <a:p>
            <a:pPr marL="457200" lvl="0" indent="-457200" eaLnBrk="1" hangingPunct="1">
              <a:lnSpc>
                <a:spcPct val="110000"/>
              </a:lnSpc>
              <a:spcBef>
                <a:spcPct val="0"/>
              </a:spcBef>
              <a:buClrTx/>
              <a:buSzTx/>
              <a:buFont typeface="Arial" panose="020B0604020202020204" pitchFamily="34" charset="0"/>
              <a:buChar char="•"/>
            </a:pPr>
            <a:endParaRPr lang="zh-CN" altLang="en-US" sz="1200" dirty="0">
              <a:solidFill>
                <a:srgbClr val="000066"/>
              </a:solidFill>
              <a:latin typeface="宋体" panose="02010600030101010101" pitchFamily="2" charset="-122"/>
              <a:sym typeface="Symbol" panose="05050102010706020507" pitchFamily="18" charset="2"/>
            </a:endParaRPr>
          </a:p>
        </p:txBody>
      </p:sp>
      <p:grpSp>
        <p:nvGrpSpPr>
          <p:cNvPr id="138385" name="Group 179"/>
          <p:cNvGrpSpPr/>
          <p:nvPr/>
        </p:nvGrpSpPr>
        <p:grpSpPr>
          <a:xfrm>
            <a:off x="3348038" y="914400"/>
            <a:ext cx="5400675" cy="3382963"/>
            <a:chOff x="0" y="0"/>
            <a:chExt cx="3402" cy="2131"/>
          </a:xfrm>
        </p:grpSpPr>
        <p:sp>
          <p:nvSpPr>
            <p:cNvPr id="184462" name="Oval 180"/>
            <p:cNvSpPr/>
            <p:nvPr/>
          </p:nvSpPr>
          <p:spPr>
            <a:xfrm>
              <a:off x="862" y="0"/>
              <a:ext cx="317"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3" name="Oval 181"/>
            <p:cNvSpPr/>
            <p:nvPr/>
          </p:nvSpPr>
          <p:spPr>
            <a:xfrm>
              <a:off x="0" y="0"/>
              <a:ext cx="544"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4" name="Oval 182"/>
            <p:cNvSpPr/>
            <p:nvPr/>
          </p:nvSpPr>
          <p:spPr>
            <a:xfrm>
              <a:off x="2812" y="0"/>
              <a:ext cx="590"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4465" name="Oval 183"/>
            <p:cNvSpPr/>
            <p:nvPr/>
          </p:nvSpPr>
          <p:spPr>
            <a:xfrm>
              <a:off x="1905" y="1814"/>
              <a:ext cx="953" cy="317"/>
            </a:xfrm>
            <a:prstGeom prst="ellipse">
              <a:avLst/>
            </a:prstGeom>
            <a:noFill/>
            <a:ln w="38100" cap="flat" cmpd="sng">
              <a:solidFill>
                <a:srgbClr val="FF3300"/>
              </a:solidFill>
              <a:prstDash val="sysDot"/>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38390" name="Line 184"/>
          <p:cNvSpPr/>
          <p:nvPr/>
        </p:nvSpPr>
        <p:spPr>
          <a:xfrm>
            <a:off x="5967413" y="3027363"/>
            <a:ext cx="647700" cy="287337"/>
          </a:xfrm>
          <a:prstGeom prst="line">
            <a:avLst/>
          </a:prstGeom>
          <a:ln w="38100" cap="flat" cmpd="sng">
            <a:solidFill>
              <a:srgbClr val="CC0000"/>
            </a:solidFill>
            <a:prstDash val="solid"/>
            <a:headEnd type="triangle" w="med" len="med"/>
            <a:tailEnd type="triangle" w="med" len="med"/>
          </a:ln>
        </p:spPr>
      </p:sp>
      <p:sp>
        <p:nvSpPr>
          <p:cNvPr id="138391" name="Rectangle 185"/>
          <p:cNvSpPr/>
          <p:nvPr/>
        </p:nvSpPr>
        <p:spPr>
          <a:xfrm>
            <a:off x="188913" y="4198938"/>
            <a:ext cx="8713787" cy="1646237"/>
          </a:xfrm>
          <a:prstGeom prst="rect">
            <a:avLst/>
          </a:prstGeom>
          <a:solidFill>
            <a:srgbClr val="E6F1FE"/>
          </a:solidFill>
          <a:ln w="9525" cap="flat" cmpd="sng">
            <a:solidFill>
              <a:srgbClr val="4D0DBF"/>
            </a:solidFill>
            <a:prstDash val="solid"/>
            <a:miter/>
            <a:headEnd type="none" w="med" len="med"/>
            <a:tailEnd type="none" w="med" len="med"/>
          </a:ln>
        </p:spPr>
        <p:txBody>
          <a:bodyPr anchor="ctr" anchorCtr="0">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ts val="300"/>
              </a:spcBef>
              <a:buClrTx/>
              <a:buSzTx/>
              <a:buFont typeface="Arial" panose="020B0604020202020204" pitchFamily="34" charset="0"/>
              <a:buNone/>
            </a:pPr>
            <a:r>
              <a:rPr lang="zh-CN" altLang="en-US" sz="2400" dirty="0">
                <a:solidFill>
                  <a:srgbClr val="000066"/>
                </a:solidFill>
                <a:latin typeface="宋体" panose="02010600030101010101" pitchFamily="2" charset="-122"/>
              </a:rPr>
              <a:t>SELECT sname</a:t>
            </a:r>
            <a:endParaRPr lang="zh-CN" altLang="en-US" sz="2400" dirty="0">
              <a:solidFill>
                <a:srgbClr val="000066"/>
              </a:solidFill>
              <a:latin typeface="宋体" panose="02010600030101010101" pitchFamily="2" charset="-122"/>
            </a:endParaRPr>
          </a:p>
          <a:p>
            <a:pPr marL="0" lvl="0" indent="0" eaLnBrk="1" hangingPunct="1">
              <a:spcBef>
                <a:spcPts val="300"/>
              </a:spcBef>
              <a:buClrTx/>
              <a:buSzTx/>
              <a:buFont typeface="Arial" panose="020B0604020202020204" pitchFamily="34" charset="0"/>
              <a:buNone/>
            </a:pPr>
            <a:r>
              <a:rPr lang="zh-CN" altLang="en-US" sz="2400" dirty="0">
                <a:solidFill>
                  <a:srgbClr val="000066"/>
                </a:solidFill>
                <a:latin typeface="宋体" panose="02010600030101010101" pitchFamily="2" charset="-122"/>
              </a:rPr>
              <a:t>FROM S, C, SC X, SC Y</a:t>
            </a:r>
            <a:endParaRPr lang="zh-CN" altLang="en-US" sz="2400" dirty="0">
              <a:solidFill>
                <a:srgbClr val="000066"/>
              </a:solidFill>
              <a:latin typeface="宋体" panose="02010600030101010101" pitchFamily="2" charset="-122"/>
            </a:endParaRPr>
          </a:p>
          <a:p>
            <a:pPr marL="0" lvl="0" indent="0" eaLnBrk="1" hangingPunct="1">
              <a:spcBef>
                <a:spcPts val="300"/>
              </a:spcBef>
              <a:buClrTx/>
              <a:buSzTx/>
              <a:buFont typeface="Arial" panose="020B0604020202020204" pitchFamily="34" charset="0"/>
              <a:buNone/>
            </a:pPr>
            <a:r>
              <a:rPr lang="zh-CN" altLang="en-US" sz="2400" dirty="0">
                <a:solidFill>
                  <a:srgbClr val="000066"/>
                </a:solidFill>
                <a:latin typeface="宋体" panose="02010600030101010101" pitchFamily="2" charset="-122"/>
              </a:rPr>
              <a:t>WHERE teacher=‘刘萧’AND C.cid=SC.cid AND S.sid=SC.sid AND X.sid=Y.sid AND X.cid ！= Y.cid AND S.sex=‘女’</a:t>
            </a:r>
            <a:endParaRPr lang="zh-CN" altLang="en-US" sz="2400" dirty="0">
              <a:solidFill>
                <a:srgbClr val="000066"/>
              </a:solidFill>
              <a:latin typeface="宋体" panose="02010600030101010101" pitchFamily="2" charset="-122"/>
            </a:endParaRPr>
          </a:p>
        </p:txBody>
      </p:sp>
      <p:sp>
        <p:nvSpPr>
          <p:cNvPr id="18446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38385"/>
                                        </p:tgtEl>
                                        <p:attrNameLst>
                                          <p:attrName>style.visibility</p:attrName>
                                        </p:attrNameLst>
                                      </p:cBhvr>
                                      <p:to>
                                        <p:strVal val="visible"/>
                                      </p:to>
                                    </p:set>
                                    <p:anim calcmode="lin" valueType="num">
                                      <p:cBhvr>
                                        <p:cTn id="7" dur="1000" fill="hold"/>
                                        <p:tgtEl>
                                          <p:spTgt spid="138385"/>
                                        </p:tgtEl>
                                        <p:attrNameLst>
                                          <p:attrName>ppt_w</p:attrName>
                                        </p:attrNameLst>
                                      </p:cBhvr>
                                      <p:tavLst>
                                        <p:tav tm="0">
                                          <p:val>
                                            <p:fltVal val="0.000000"/>
                                          </p:val>
                                        </p:tav>
                                        <p:tav tm="100000">
                                          <p:val>
                                            <p:strVal val="#ppt_w"/>
                                          </p:val>
                                        </p:tav>
                                      </p:tavLst>
                                    </p:anim>
                                    <p:anim calcmode="lin" valueType="num">
                                      <p:cBhvr>
                                        <p:cTn id="8" dur="1000" fill="hold"/>
                                        <p:tgtEl>
                                          <p:spTgt spid="138385"/>
                                        </p:tgtEl>
                                        <p:attrNameLst>
                                          <p:attrName>ppt_h</p:attrName>
                                        </p:attrNameLst>
                                      </p:cBhvr>
                                      <p:tavLst>
                                        <p:tav tm="0">
                                          <p:val>
                                            <p:fltVal val="0.000000"/>
                                          </p:val>
                                        </p:tav>
                                        <p:tav tm="100000">
                                          <p:val>
                                            <p:strVal val="#ppt_h"/>
                                          </p:val>
                                        </p:tav>
                                      </p:tavLst>
                                    </p:anim>
                                    <p:anim calcmode="lin" valueType="num">
                                      <p:cBhvr>
                                        <p:cTn id="9" dur="1000" fill="hold"/>
                                        <p:tgtEl>
                                          <p:spTgt spid="138385"/>
                                        </p:tgtEl>
                                        <p:attrNameLst>
                                          <p:attrName>style.rotation</p:attrName>
                                        </p:attrNameLst>
                                      </p:cBhvr>
                                      <p:tavLst>
                                        <p:tav tm="0">
                                          <p:val>
                                            <p:fltVal val="360.000000"/>
                                          </p:val>
                                        </p:tav>
                                        <p:tav tm="100000">
                                          <p:val>
                                            <p:fltVal val="0.000000"/>
                                          </p:val>
                                        </p:tav>
                                      </p:tavLst>
                                    </p:anim>
                                    <p:animEffect transition="in" filter="fade">
                                      <p:cBhvr>
                                        <p:cTn id="10" dur="1000"/>
                                        <p:tgtEl>
                                          <p:spTgt spid="138385"/>
                                        </p:tgtEl>
                                      </p:cBhvr>
                                    </p:animEffect>
                                  </p:childTnLst>
                                  <p:subTnLst>
                                    <p:set>
                                      <p:cBhvr override="childStyle">
                                        <p:cTn dur="1" fill="hold" display="0" masterRel="nextClick" afterEffect="1"/>
                                        <p:tgtEl>
                                          <p:spTgt spid="138385"/>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55" presetClass="entr" presetSubtype="0" fill="hold" nodeType="clickEffect">
                                  <p:stCondLst>
                                    <p:cond delay="0"/>
                                  </p:stCondLst>
                                  <p:childTnLst>
                                    <p:set>
                                      <p:cBhvr>
                                        <p:cTn id="14" dur="1" fill="hold">
                                          <p:stCondLst>
                                            <p:cond delay="0"/>
                                          </p:stCondLst>
                                        </p:cTn>
                                        <p:tgtEl>
                                          <p:spTgt spid="138352"/>
                                        </p:tgtEl>
                                        <p:attrNameLst>
                                          <p:attrName>style.visibility</p:attrName>
                                        </p:attrNameLst>
                                      </p:cBhvr>
                                      <p:to>
                                        <p:strVal val="visible"/>
                                      </p:to>
                                    </p:set>
                                    <p:anim calcmode="lin" valueType="num">
                                      <p:cBhvr>
                                        <p:cTn id="15" dur="1000" fill="hold"/>
                                        <p:tgtEl>
                                          <p:spTgt spid="138352"/>
                                        </p:tgtEl>
                                        <p:attrNameLst>
                                          <p:attrName>ppt_w</p:attrName>
                                        </p:attrNameLst>
                                      </p:cBhvr>
                                      <p:tavLst>
                                        <p:tav tm="0">
                                          <p:val>
                                            <p:strVal val="#ppt_w*0.70"/>
                                          </p:val>
                                        </p:tav>
                                        <p:tav tm="100000">
                                          <p:val>
                                            <p:strVal val="#ppt_w"/>
                                          </p:val>
                                        </p:tav>
                                      </p:tavLst>
                                    </p:anim>
                                    <p:anim calcmode="lin" valueType="num">
                                      <p:cBhvr>
                                        <p:cTn id="16" dur="1000" fill="hold"/>
                                        <p:tgtEl>
                                          <p:spTgt spid="138352"/>
                                        </p:tgtEl>
                                        <p:attrNameLst>
                                          <p:attrName>ppt_h</p:attrName>
                                        </p:attrNameLst>
                                      </p:cBhvr>
                                      <p:tavLst>
                                        <p:tav tm="0">
                                          <p:val>
                                            <p:strVal val="#ppt_h"/>
                                          </p:val>
                                        </p:tav>
                                        <p:tav tm="100000">
                                          <p:val>
                                            <p:strVal val="#ppt_h"/>
                                          </p:val>
                                        </p:tav>
                                      </p:tavLst>
                                    </p:anim>
                                    <p:animEffect transition="in" filter="fade">
                                      <p:cBhvr>
                                        <p:cTn id="17" dur="1000"/>
                                        <p:tgtEl>
                                          <p:spTgt spid="138352"/>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38390"/>
                                        </p:tgtEl>
                                        <p:attrNameLst>
                                          <p:attrName>style.visibility</p:attrName>
                                        </p:attrNameLst>
                                      </p:cBhvr>
                                      <p:to>
                                        <p:strVal val="visible"/>
                                      </p:to>
                                    </p:set>
                                    <p:anim calcmode="lin" valueType="num">
                                      <p:cBhvr>
                                        <p:cTn id="22" dur="1000" fill="hold"/>
                                        <p:tgtEl>
                                          <p:spTgt spid="138390"/>
                                        </p:tgtEl>
                                        <p:attrNameLst>
                                          <p:attrName>ppt_w</p:attrName>
                                        </p:attrNameLst>
                                      </p:cBhvr>
                                      <p:tavLst>
                                        <p:tav tm="0">
                                          <p:val>
                                            <p:strVal val="#ppt_w*0.70"/>
                                          </p:val>
                                        </p:tav>
                                        <p:tav tm="100000">
                                          <p:val>
                                            <p:strVal val="#ppt_w"/>
                                          </p:val>
                                        </p:tav>
                                      </p:tavLst>
                                    </p:anim>
                                    <p:anim calcmode="lin" valueType="num">
                                      <p:cBhvr>
                                        <p:cTn id="23" dur="1000" fill="hold"/>
                                        <p:tgtEl>
                                          <p:spTgt spid="138390"/>
                                        </p:tgtEl>
                                        <p:attrNameLst>
                                          <p:attrName>ppt_h</p:attrName>
                                        </p:attrNameLst>
                                      </p:cBhvr>
                                      <p:tavLst>
                                        <p:tav tm="0">
                                          <p:val>
                                            <p:strVal val="#ppt_h"/>
                                          </p:val>
                                        </p:tav>
                                        <p:tav tm="100000">
                                          <p:val>
                                            <p:strVal val="#ppt_h"/>
                                          </p:val>
                                        </p:tav>
                                      </p:tavLst>
                                    </p:anim>
                                    <p:animEffect transition="in" filter="fade">
                                      <p:cBhvr>
                                        <p:cTn id="24" dur="1000"/>
                                        <p:tgtEl>
                                          <p:spTgt spid="138390"/>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138357"/>
                                        </p:tgtEl>
                                        <p:attrNameLst>
                                          <p:attrName>style.visibility</p:attrName>
                                        </p:attrNameLst>
                                      </p:cBhvr>
                                      <p:to>
                                        <p:strVal val="visible"/>
                                      </p:to>
                                    </p:set>
                                    <p:anim calcmode="lin" valueType="num">
                                      <p:cBhvr>
                                        <p:cTn id="29" dur="1000" fill="hold"/>
                                        <p:tgtEl>
                                          <p:spTgt spid="138357"/>
                                        </p:tgtEl>
                                        <p:attrNameLst>
                                          <p:attrName>ppt_w</p:attrName>
                                        </p:attrNameLst>
                                      </p:cBhvr>
                                      <p:tavLst>
                                        <p:tav tm="0">
                                          <p:val>
                                            <p:strVal val="#ppt_w*0.70"/>
                                          </p:val>
                                        </p:tav>
                                        <p:tav tm="100000">
                                          <p:val>
                                            <p:strVal val="#ppt_w"/>
                                          </p:val>
                                        </p:tav>
                                      </p:tavLst>
                                    </p:anim>
                                    <p:anim calcmode="lin" valueType="num">
                                      <p:cBhvr>
                                        <p:cTn id="30" dur="1000" fill="hold"/>
                                        <p:tgtEl>
                                          <p:spTgt spid="138357"/>
                                        </p:tgtEl>
                                        <p:attrNameLst>
                                          <p:attrName>ppt_h</p:attrName>
                                        </p:attrNameLst>
                                      </p:cBhvr>
                                      <p:tavLst>
                                        <p:tav tm="0">
                                          <p:val>
                                            <p:strVal val="#ppt_h"/>
                                          </p:val>
                                        </p:tav>
                                        <p:tav tm="100000">
                                          <p:val>
                                            <p:strVal val="#ppt_h"/>
                                          </p:val>
                                        </p:tav>
                                      </p:tavLst>
                                    </p:anim>
                                    <p:animEffect transition="in" filter="fade">
                                      <p:cBhvr>
                                        <p:cTn id="31" dur="1000"/>
                                        <p:tgtEl>
                                          <p:spTgt spid="138357"/>
                                        </p:tgtEl>
                                      </p:cBhvr>
                                    </p:animEffect>
                                  </p:childTnLst>
                                </p:cTn>
                              </p:par>
                            </p:childTnLst>
                          </p:cTn>
                        </p:par>
                      </p:childTnLst>
                    </p:cTn>
                  </p:par>
                  <p:par>
                    <p:cTn id="32" fill="hold">
                      <p:stCondLst>
                        <p:cond delay="indefinite"/>
                      </p:stCondLst>
                      <p:childTnLst>
                        <p:par>
                          <p:cTn id="33" fill="hold">
                            <p:stCondLst>
                              <p:cond delay="0"/>
                            </p:stCondLst>
                            <p:childTnLst>
                              <p:par>
                                <p:cTn id="34" presetID="13" presetClass="entr" presetSubtype="16" fill="hold" nodeType="clickEffect">
                                  <p:stCondLst>
                                    <p:cond delay="0"/>
                                  </p:stCondLst>
                                  <p:iterate type="lt">
                                    <p:tmAbs val="0"/>
                                  </p:iterate>
                                  <p:childTnLst>
                                    <p:set>
                                      <p:cBhvr>
                                        <p:cTn id="35" dur="1" fill="hold">
                                          <p:stCondLst>
                                            <p:cond delay="0"/>
                                          </p:stCondLst>
                                        </p:cTn>
                                        <p:tgtEl>
                                          <p:spTgt spid="138363"/>
                                        </p:tgtEl>
                                        <p:attrNameLst>
                                          <p:attrName>style.visibility</p:attrName>
                                        </p:attrNameLst>
                                      </p:cBhvr>
                                      <p:to>
                                        <p:strVal val="visible"/>
                                      </p:to>
                                    </p:set>
                                    <p:animEffect transition="in" filter="plus(in)">
                                      <p:cBhvr>
                                        <p:cTn id="36" dur="2000"/>
                                        <p:tgtEl>
                                          <p:spTgt spid="138363"/>
                                        </p:tgtEl>
                                      </p:cBhvr>
                                    </p:animEffect>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iterate type="lt">
                                    <p:tmPct val="5000"/>
                                  </p:iterate>
                                  <p:childTnLst>
                                    <p:set>
                                      <p:cBhvr>
                                        <p:cTn id="40" dur="1" fill="hold">
                                          <p:stCondLst>
                                            <p:cond delay="0"/>
                                          </p:stCondLst>
                                        </p:cTn>
                                        <p:tgtEl>
                                          <p:spTgt spid="138363"/>
                                        </p:tgtEl>
                                        <p:attrNameLst>
                                          <p:attrName>style.visibility</p:attrName>
                                        </p:attrNameLst>
                                      </p:cBhvr>
                                      <p:to>
                                        <p:strVal val="visible"/>
                                      </p:to>
                                    </p:set>
                                    <p:anim calcmode="lin" valueType="num">
                                      <p:cBhvr>
                                        <p:cTn id="41" dur="1000" fill="hold"/>
                                        <p:tgtEl>
                                          <p:spTgt spid="138363"/>
                                        </p:tgtEl>
                                        <p:attrNameLst>
                                          <p:attrName>ppt_w</p:attrName>
                                        </p:attrNameLst>
                                      </p:cBhvr>
                                      <p:tavLst>
                                        <p:tav tm="0">
                                          <p:val>
                                            <p:fltVal val="0.000000"/>
                                          </p:val>
                                        </p:tav>
                                        <p:tav tm="100000">
                                          <p:val>
                                            <p:strVal val="#ppt_w"/>
                                          </p:val>
                                        </p:tav>
                                      </p:tavLst>
                                    </p:anim>
                                    <p:anim calcmode="lin" valueType="num">
                                      <p:cBhvr>
                                        <p:cTn id="42" dur="1000" fill="hold"/>
                                        <p:tgtEl>
                                          <p:spTgt spid="138363"/>
                                        </p:tgtEl>
                                        <p:attrNameLst>
                                          <p:attrName>ppt_h</p:attrName>
                                        </p:attrNameLst>
                                      </p:cBhvr>
                                      <p:tavLst>
                                        <p:tav tm="0">
                                          <p:val>
                                            <p:fltVal val="0.000000"/>
                                          </p:val>
                                        </p:tav>
                                        <p:tav tm="100000">
                                          <p:val>
                                            <p:strVal val="#ppt_h"/>
                                          </p:val>
                                        </p:tav>
                                      </p:tavLst>
                                    </p:anim>
                                    <p:anim calcmode="lin" valueType="num">
                                      <p:cBhvr>
                                        <p:cTn id="43" dur="1000" fill="hold"/>
                                        <p:tgtEl>
                                          <p:spTgt spid="138363"/>
                                        </p:tgtEl>
                                        <p:attrNameLst>
                                          <p:attrName>style.rotation</p:attrName>
                                        </p:attrNameLst>
                                      </p:cBhvr>
                                      <p:tavLst>
                                        <p:tav tm="0">
                                          <p:val>
                                            <p:fltVal val="90.000000"/>
                                          </p:val>
                                        </p:tav>
                                        <p:tav tm="100000">
                                          <p:val>
                                            <p:fltVal val="0.000000"/>
                                          </p:val>
                                        </p:tav>
                                      </p:tavLst>
                                    </p:anim>
                                    <p:animEffect transition="in" filter="fade">
                                      <p:cBhvr>
                                        <p:cTn id="44" dur="1000"/>
                                        <p:tgtEl>
                                          <p:spTgt spid="138363"/>
                                        </p:tgtEl>
                                      </p:cBhvr>
                                    </p:animEffect>
                                  </p:childTnLst>
                                </p:cTn>
                              </p:par>
                            </p:childTnLst>
                          </p:cTn>
                        </p:par>
                      </p:childTnLst>
                    </p:cTn>
                  </p:par>
                  <p:par>
                    <p:cTn id="45" fill="hold">
                      <p:stCondLst>
                        <p:cond delay="indefinite"/>
                      </p:stCondLst>
                      <p:childTnLst>
                        <p:par>
                          <p:cTn id="46" fill="hold">
                            <p:stCondLst>
                              <p:cond delay="0"/>
                            </p:stCondLst>
                            <p:childTnLst>
                              <p:par>
                                <p:cTn id="47" presetID="31" presetClass="entr" presetSubtype="0" fill="hold" grpId="0" nodeType="clickEffect">
                                  <p:stCondLst>
                                    <p:cond delay="0"/>
                                  </p:stCondLst>
                                  <p:iterate type="lt">
                                    <p:tmPct val="5000"/>
                                  </p:iterate>
                                  <p:childTnLst>
                                    <p:set>
                                      <p:cBhvr>
                                        <p:cTn id="48" dur="1" fill="hold">
                                          <p:stCondLst>
                                            <p:cond delay="0"/>
                                          </p:stCondLst>
                                        </p:cTn>
                                        <p:tgtEl>
                                          <p:spTgt spid="138383"/>
                                        </p:tgtEl>
                                        <p:attrNameLst>
                                          <p:attrName>style.visibility</p:attrName>
                                        </p:attrNameLst>
                                      </p:cBhvr>
                                      <p:to>
                                        <p:strVal val="visible"/>
                                      </p:to>
                                    </p:set>
                                    <p:anim calcmode="lin" valueType="num">
                                      <p:cBhvr>
                                        <p:cTn id="49" dur="1000" fill="hold"/>
                                        <p:tgtEl>
                                          <p:spTgt spid="138383"/>
                                        </p:tgtEl>
                                        <p:attrNameLst>
                                          <p:attrName>ppt_w</p:attrName>
                                        </p:attrNameLst>
                                      </p:cBhvr>
                                      <p:tavLst>
                                        <p:tav tm="0">
                                          <p:val>
                                            <p:fltVal val="0.000000"/>
                                          </p:val>
                                        </p:tav>
                                        <p:tav tm="100000">
                                          <p:val>
                                            <p:strVal val="#ppt_w"/>
                                          </p:val>
                                        </p:tav>
                                      </p:tavLst>
                                    </p:anim>
                                    <p:anim calcmode="lin" valueType="num">
                                      <p:cBhvr>
                                        <p:cTn id="50" dur="1000" fill="hold"/>
                                        <p:tgtEl>
                                          <p:spTgt spid="138383"/>
                                        </p:tgtEl>
                                        <p:attrNameLst>
                                          <p:attrName>ppt_h</p:attrName>
                                        </p:attrNameLst>
                                      </p:cBhvr>
                                      <p:tavLst>
                                        <p:tav tm="0">
                                          <p:val>
                                            <p:fltVal val="0.000000"/>
                                          </p:val>
                                        </p:tav>
                                        <p:tav tm="100000">
                                          <p:val>
                                            <p:strVal val="#ppt_h"/>
                                          </p:val>
                                        </p:tav>
                                      </p:tavLst>
                                    </p:anim>
                                    <p:anim calcmode="lin" valueType="num">
                                      <p:cBhvr>
                                        <p:cTn id="51" dur="1000" fill="hold"/>
                                        <p:tgtEl>
                                          <p:spTgt spid="138383"/>
                                        </p:tgtEl>
                                        <p:attrNameLst>
                                          <p:attrName>style.rotation</p:attrName>
                                        </p:attrNameLst>
                                      </p:cBhvr>
                                      <p:tavLst>
                                        <p:tav tm="0">
                                          <p:val>
                                            <p:fltVal val="90.000000"/>
                                          </p:val>
                                        </p:tav>
                                        <p:tav tm="100000">
                                          <p:val>
                                            <p:fltVal val="0.000000"/>
                                          </p:val>
                                        </p:tav>
                                      </p:tavLst>
                                    </p:anim>
                                    <p:animEffect transition="in" filter="fade">
                                      <p:cBhvr>
                                        <p:cTn id="52" dur="1000"/>
                                        <p:tgtEl>
                                          <p:spTgt spid="138383"/>
                                        </p:tgtEl>
                                      </p:cBhvr>
                                    </p:animEffect>
                                  </p:childTnLst>
                                </p:cTn>
                              </p:par>
                            </p:childTnLst>
                          </p:cTn>
                        </p:par>
                      </p:childTnLst>
                    </p:cTn>
                  </p:par>
                  <p:par>
                    <p:cTn id="53" fill="hold">
                      <p:stCondLst>
                        <p:cond delay="indefinite"/>
                      </p:stCondLst>
                      <p:childTnLst>
                        <p:par>
                          <p:cTn id="54" fill="hold">
                            <p:stCondLst>
                              <p:cond delay="0"/>
                            </p:stCondLst>
                            <p:childTnLst>
                              <p:par>
                                <p:cTn id="55" presetID="55" presetClass="entr" presetSubtype="0" fill="hold" nodeType="clickEffect">
                                  <p:stCondLst>
                                    <p:cond delay="0"/>
                                  </p:stCondLst>
                                  <p:childTnLst>
                                    <p:set>
                                      <p:cBhvr>
                                        <p:cTn id="56" dur="1" fill="hold">
                                          <p:stCondLst>
                                            <p:cond delay="0"/>
                                          </p:stCondLst>
                                        </p:cTn>
                                        <p:tgtEl>
                                          <p:spTgt spid="138356"/>
                                        </p:tgtEl>
                                        <p:attrNameLst>
                                          <p:attrName>style.visibility</p:attrName>
                                        </p:attrNameLst>
                                      </p:cBhvr>
                                      <p:to>
                                        <p:strVal val="visible"/>
                                      </p:to>
                                    </p:set>
                                    <p:anim calcmode="lin" valueType="num">
                                      <p:cBhvr>
                                        <p:cTn id="57" dur="1000" fill="hold"/>
                                        <p:tgtEl>
                                          <p:spTgt spid="138356"/>
                                        </p:tgtEl>
                                        <p:attrNameLst>
                                          <p:attrName>ppt_w</p:attrName>
                                        </p:attrNameLst>
                                      </p:cBhvr>
                                      <p:tavLst>
                                        <p:tav tm="0">
                                          <p:val>
                                            <p:strVal val="#ppt_w*0.70"/>
                                          </p:val>
                                        </p:tav>
                                        <p:tav tm="100000">
                                          <p:val>
                                            <p:strVal val="#ppt_w"/>
                                          </p:val>
                                        </p:tav>
                                      </p:tavLst>
                                    </p:anim>
                                    <p:anim calcmode="lin" valueType="num">
                                      <p:cBhvr>
                                        <p:cTn id="58" dur="1000" fill="hold"/>
                                        <p:tgtEl>
                                          <p:spTgt spid="138356"/>
                                        </p:tgtEl>
                                        <p:attrNameLst>
                                          <p:attrName>ppt_h</p:attrName>
                                        </p:attrNameLst>
                                      </p:cBhvr>
                                      <p:tavLst>
                                        <p:tav tm="0">
                                          <p:val>
                                            <p:strVal val="#ppt_h"/>
                                          </p:val>
                                        </p:tav>
                                        <p:tav tm="100000">
                                          <p:val>
                                            <p:strVal val="#ppt_h"/>
                                          </p:val>
                                        </p:tav>
                                      </p:tavLst>
                                    </p:anim>
                                    <p:animEffect transition="in" filter="fade">
                                      <p:cBhvr>
                                        <p:cTn id="59" dur="1000"/>
                                        <p:tgtEl>
                                          <p:spTgt spid="138356"/>
                                        </p:tgtEl>
                                      </p:cBhvr>
                                    </p:animEffect>
                                  </p:childTnLst>
                                </p:cTn>
                              </p:par>
                            </p:childTnLst>
                          </p:cTn>
                        </p:par>
                      </p:childTnLst>
                    </p:cTn>
                  </p:par>
                  <p:par>
                    <p:cTn id="60" fill="hold">
                      <p:stCondLst>
                        <p:cond delay="indefinite"/>
                      </p:stCondLst>
                      <p:childTnLst>
                        <p:par>
                          <p:cTn id="61" fill="hold">
                            <p:stCondLst>
                              <p:cond delay="0"/>
                            </p:stCondLst>
                            <p:childTnLst>
                              <p:par>
                                <p:cTn id="62" presetID="31" presetClass="entr" presetSubtype="0" fill="hold" grpId="0" nodeType="clickEffect">
                                  <p:stCondLst>
                                    <p:cond delay="0"/>
                                  </p:stCondLst>
                                  <p:iterate type="lt">
                                    <p:tmPct val="5000"/>
                                  </p:iterate>
                                  <p:childTnLst>
                                    <p:set>
                                      <p:cBhvr>
                                        <p:cTn id="63" dur="1" fill="hold">
                                          <p:stCondLst>
                                            <p:cond delay="0"/>
                                          </p:stCondLst>
                                        </p:cTn>
                                        <p:tgtEl>
                                          <p:spTgt spid="138362"/>
                                        </p:tgtEl>
                                        <p:attrNameLst>
                                          <p:attrName>style.visibility</p:attrName>
                                        </p:attrNameLst>
                                      </p:cBhvr>
                                      <p:to>
                                        <p:strVal val="visible"/>
                                      </p:to>
                                    </p:set>
                                    <p:anim calcmode="lin" valueType="num">
                                      <p:cBhvr>
                                        <p:cTn id="64" dur="1000" fill="hold"/>
                                        <p:tgtEl>
                                          <p:spTgt spid="138362"/>
                                        </p:tgtEl>
                                        <p:attrNameLst>
                                          <p:attrName>ppt_w</p:attrName>
                                        </p:attrNameLst>
                                      </p:cBhvr>
                                      <p:tavLst>
                                        <p:tav tm="0">
                                          <p:val>
                                            <p:fltVal val="0.000000"/>
                                          </p:val>
                                        </p:tav>
                                        <p:tav tm="100000">
                                          <p:val>
                                            <p:strVal val="#ppt_w"/>
                                          </p:val>
                                        </p:tav>
                                      </p:tavLst>
                                    </p:anim>
                                    <p:anim calcmode="lin" valueType="num">
                                      <p:cBhvr>
                                        <p:cTn id="65" dur="1000" fill="hold"/>
                                        <p:tgtEl>
                                          <p:spTgt spid="138362"/>
                                        </p:tgtEl>
                                        <p:attrNameLst>
                                          <p:attrName>ppt_h</p:attrName>
                                        </p:attrNameLst>
                                      </p:cBhvr>
                                      <p:tavLst>
                                        <p:tav tm="0">
                                          <p:val>
                                            <p:fltVal val="0.000000"/>
                                          </p:val>
                                        </p:tav>
                                        <p:tav tm="100000">
                                          <p:val>
                                            <p:strVal val="#ppt_h"/>
                                          </p:val>
                                        </p:tav>
                                      </p:tavLst>
                                    </p:anim>
                                    <p:anim calcmode="lin" valueType="num">
                                      <p:cBhvr>
                                        <p:cTn id="66" dur="1000" fill="hold"/>
                                        <p:tgtEl>
                                          <p:spTgt spid="138362"/>
                                        </p:tgtEl>
                                        <p:attrNameLst>
                                          <p:attrName>style.rotation</p:attrName>
                                        </p:attrNameLst>
                                      </p:cBhvr>
                                      <p:tavLst>
                                        <p:tav tm="0">
                                          <p:val>
                                            <p:fltVal val="90.000000"/>
                                          </p:val>
                                        </p:tav>
                                        <p:tav tm="100000">
                                          <p:val>
                                            <p:fltVal val="0.000000"/>
                                          </p:val>
                                        </p:tav>
                                      </p:tavLst>
                                    </p:anim>
                                    <p:animEffect transition="in" filter="fade">
                                      <p:cBhvr>
                                        <p:cTn id="67" dur="1000"/>
                                        <p:tgtEl>
                                          <p:spTgt spid="138362"/>
                                        </p:tgtEl>
                                      </p:cBhvr>
                                    </p:animEffect>
                                  </p:childTnLst>
                                </p:cTn>
                              </p:par>
                            </p:childTnLst>
                          </p:cTn>
                        </p:par>
                      </p:childTnLst>
                    </p:cTn>
                  </p:par>
                  <p:par>
                    <p:cTn id="68" fill="hold">
                      <p:stCondLst>
                        <p:cond delay="indefinite"/>
                      </p:stCondLst>
                      <p:childTnLst>
                        <p:par>
                          <p:cTn id="69" fill="hold">
                            <p:stCondLst>
                              <p:cond delay="0"/>
                            </p:stCondLst>
                            <p:childTnLst>
                              <p:par>
                                <p:cTn id="70" presetID="55" presetClass="entr" presetSubtype="0" fill="hold" grpId="0" nodeType="clickEffect">
                                  <p:stCondLst>
                                    <p:cond delay="0"/>
                                  </p:stCondLst>
                                  <p:childTnLst>
                                    <p:set>
                                      <p:cBhvr>
                                        <p:cTn id="71" dur="1" fill="hold">
                                          <p:stCondLst>
                                            <p:cond delay="0"/>
                                          </p:stCondLst>
                                        </p:cTn>
                                        <p:tgtEl>
                                          <p:spTgt spid="138384"/>
                                        </p:tgtEl>
                                        <p:attrNameLst>
                                          <p:attrName>style.visibility</p:attrName>
                                        </p:attrNameLst>
                                      </p:cBhvr>
                                      <p:to>
                                        <p:strVal val="visible"/>
                                      </p:to>
                                    </p:set>
                                    <p:anim calcmode="lin" valueType="num">
                                      <p:cBhvr>
                                        <p:cTn id="72" dur="1000" fill="hold"/>
                                        <p:tgtEl>
                                          <p:spTgt spid="138384"/>
                                        </p:tgtEl>
                                        <p:attrNameLst>
                                          <p:attrName>ppt_w</p:attrName>
                                        </p:attrNameLst>
                                      </p:cBhvr>
                                      <p:tavLst>
                                        <p:tav tm="0">
                                          <p:val>
                                            <p:strVal val="#ppt_w*0.70"/>
                                          </p:val>
                                        </p:tav>
                                        <p:tav tm="100000">
                                          <p:val>
                                            <p:strVal val="#ppt_w"/>
                                          </p:val>
                                        </p:tav>
                                      </p:tavLst>
                                    </p:anim>
                                    <p:anim calcmode="lin" valueType="num">
                                      <p:cBhvr>
                                        <p:cTn id="73" dur="1000" fill="hold"/>
                                        <p:tgtEl>
                                          <p:spTgt spid="138384"/>
                                        </p:tgtEl>
                                        <p:attrNameLst>
                                          <p:attrName>ppt_h</p:attrName>
                                        </p:attrNameLst>
                                      </p:cBhvr>
                                      <p:tavLst>
                                        <p:tav tm="0">
                                          <p:val>
                                            <p:strVal val="#ppt_h"/>
                                          </p:val>
                                        </p:tav>
                                        <p:tav tm="100000">
                                          <p:val>
                                            <p:strVal val="#ppt_h"/>
                                          </p:val>
                                        </p:tav>
                                      </p:tavLst>
                                    </p:anim>
                                    <p:animEffect transition="in" filter="fade">
                                      <p:cBhvr>
                                        <p:cTn id="74" dur="1000"/>
                                        <p:tgtEl>
                                          <p:spTgt spid="138384"/>
                                        </p:tgtEl>
                                      </p:cBhvr>
                                    </p:animEffect>
                                  </p:childTnLst>
                                </p:cTn>
                              </p:par>
                            </p:childTnLst>
                          </p:cTn>
                        </p:par>
                      </p:childTnLst>
                    </p:cTn>
                  </p:par>
                  <p:par>
                    <p:cTn id="75" fill="hold">
                      <p:stCondLst>
                        <p:cond delay="indefinite"/>
                      </p:stCondLst>
                      <p:childTnLst>
                        <p:par>
                          <p:cTn id="76" fill="hold">
                            <p:stCondLst>
                              <p:cond delay="0"/>
                            </p:stCondLst>
                            <p:childTnLst>
                              <p:par>
                                <p:cTn id="77" presetID="12" presetClass="entr" presetSubtype="4" fill="hold" grpId="0" nodeType="clickEffect">
                                  <p:stCondLst>
                                    <p:cond delay="0"/>
                                  </p:stCondLst>
                                  <p:childTnLst>
                                    <p:set>
                                      <p:cBhvr>
                                        <p:cTn id="78" dur="1" fill="hold">
                                          <p:stCondLst>
                                            <p:cond delay="0"/>
                                          </p:stCondLst>
                                        </p:cTn>
                                        <p:tgtEl>
                                          <p:spTgt spid="138391"/>
                                        </p:tgtEl>
                                        <p:attrNameLst>
                                          <p:attrName>style.visibility</p:attrName>
                                        </p:attrNameLst>
                                      </p:cBhvr>
                                      <p:to>
                                        <p:strVal val="visible"/>
                                      </p:to>
                                    </p:set>
                                    <p:animEffect transition="in" filter="slide(fromBottom)">
                                      <p:cBhvr>
                                        <p:cTn id="79" dur="500"/>
                                        <p:tgtEl>
                                          <p:spTgt spid="1383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362" grpId="0" animBg="1"/>
      <p:bldP spid="138383" grpId="0" animBg="1"/>
      <p:bldP spid="138384" grpId="0" animBg="1"/>
      <p:bldP spid="138391"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85347" name="文本框 6"/>
          <p:cNvSpPr txBox="1"/>
          <p:nvPr/>
        </p:nvSpPr>
        <p:spPr>
          <a:xfrm>
            <a:off x="534988" y="1368425"/>
            <a:ext cx="8115300" cy="17843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en-US" altLang="zh-CN" sz="2200" dirty="0"/>
              <a:t>1</a:t>
            </a:r>
            <a:r>
              <a:rPr lang="zh-CN" altLang="en-US" sz="2200" dirty="0"/>
              <a:t>、现有关系数据库如下： </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学生(学号，姓名，性别，专业，奖学金) </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课程(课程号，名称，学分)</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学习(学号，课程号，分数)。 </a:t>
            </a:r>
            <a:endParaRPr lang="zh-CN" altLang="en-US" sz="2200" dirty="0"/>
          </a:p>
          <a:p>
            <a:pPr marL="0" lvl="0" indent="0" eaLnBrk="1" hangingPunct="1">
              <a:spcBef>
                <a:spcPct val="0"/>
              </a:spcBef>
              <a:buClrTx/>
              <a:buSzTx/>
              <a:buFont typeface="Arial" panose="020B0604020202020204" pitchFamily="34" charset="0"/>
              <a:buNone/>
            </a:pPr>
            <a:r>
              <a:rPr lang="zh-CN" altLang="en-US" sz="2200" dirty="0"/>
              <a:t>用关系代数表达式和</a:t>
            </a:r>
            <a:r>
              <a:rPr lang="en-US" altLang="zh-CN" sz="2200" dirty="0"/>
              <a:t>SQL</a:t>
            </a:r>
            <a:r>
              <a:rPr lang="zh-CN" altLang="en-US" sz="2200" dirty="0"/>
              <a:t>语句实现下列</a:t>
            </a:r>
            <a:r>
              <a:rPr lang="en-US" altLang="zh-CN" sz="2200" dirty="0"/>
              <a:t>(1)</a:t>
            </a:r>
            <a:r>
              <a:rPr lang="zh-CN" altLang="en-US" sz="2200" dirty="0"/>
              <a:t>-</a:t>
            </a:r>
            <a:r>
              <a:rPr lang="en-US" altLang="zh-CN" sz="2200" dirty="0"/>
              <a:t>(</a:t>
            </a:r>
            <a:r>
              <a:rPr lang="zh-CN" altLang="en-US" sz="2200" dirty="0"/>
              <a:t>4</a:t>
            </a:r>
            <a:r>
              <a:rPr lang="en-US" altLang="zh-CN" sz="2200" dirty="0"/>
              <a:t>)</a:t>
            </a:r>
            <a:r>
              <a:rPr lang="zh-CN" altLang="en-US" sz="2200" dirty="0"/>
              <a:t>小题： </a:t>
            </a:r>
            <a:endParaRPr lang="zh-CN" altLang="en-US" sz="2200" dirty="0"/>
          </a:p>
        </p:txBody>
      </p:sp>
      <p:sp>
        <p:nvSpPr>
          <p:cNvPr id="185348" name="文本框 2"/>
          <p:cNvSpPr txBox="1"/>
          <p:nvPr/>
        </p:nvSpPr>
        <p:spPr>
          <a:xfrm>
            <a:off x="503238" y="3152775"/>
            <a:ext cx="8147050" cy="306705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2200" dirty="0"/>
              <a:t>    </a:t>
            </a:r>
            <a:r>
              <a:rPr lang="zh-CN" altLang="en-US" sz="2200" dirty="0"/>
              <a:t>（</a:t>
            </a:r>
            <a:r>
              <a:rPr lang="en-US" altLang="zh-CN" sz="2200" dirty="0"/>
              <a:t>1</a:t>
            </a:r>
            <a:r>
              <a:rPr lang="zh-CN" altLang="en-US" sz="2200" dirty="0"/>
              <a:t>）检索"英语"专业学生所学课程的信息，包括学号、姓名、课程名和分数。</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    （</a:t>
            </a:r>
            <a:r>
              <a:rPr lang="en-US" altLang="zh-CN" sz="2200" dirty="0"/>
              <a:t>2</a:t>
            </a:r>
            <a:r>
              <a:rPr lang="zh-CN" altLang="en-US" sz="2200" dirty="0"/>
              <a:t>）检索"数据库原理"课程成绩高于90分的所有学生的学号、姓名、专业和分数。</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    （</a:t>
            </a:r>
            <a:r>
              <a:rPr lang="en-US" altLang="zh-CN" sz="2200" dirty="0"/>
              <a:t>3</a:t>
            </a:r>
            <a:r>
              <a:rPr lang="zh-CN" altLang="en-US" sz="2200" dirty="0"/>
              <a:t>）检索不学课程号为"C135"课程的学生信息，包括学号，姓名和专业。</a:t>
            </a:r>
            <a:endParaRPr lang="zh-CN" altLang="en-US" sz="2200" dirty="0"/>
          </a:p>
          <a:p>
            <a:pPr marL="0" lvl="0" indent="0" eaLnBrk="1" hangingPunct="1">
              <a:lnSpc>
                <a:spcPct val="110000"/>
              </a:lnSpc>
              <a:spcBef>
                <a:spcPct val="0"/>
              </a:spcBef>
              <a:buClrTx/>
              <a:buSzTx/>
              <a:buFont typeface="Arial" panose="020B0604020202020204" pitchFamily="34" charset="0"/>
              <a:buNone/>
            </a:pPr>
            <a:r>
              <a:rPr lang="zh-CN" altLang="en-US" sz="2200" dirty="0"/>
              <a:t>   （</a:t>
            </a:r>
            <a:r>
              <a:rPr lang="en-US" altLang="zh-CN" sz="2200" dirty="0"/>
              <a:t>4</a:t>
            </a:r>
            <a:r>
              <a:rPr lang="zh-CN" altLang="en-US" sz="2200" dirty="0"/>
              <a:t>）检索没有任何一门课程成绩不及格的所有学生的信息，包括学号、姓名和专业。</a:t>
            </a:r>
            <a:endParaRPr lang="zh-CN" altLang="en-US" sz="2200" dirty="0"/>
          </a:p>
        </p:txBody>
      </p:sp>
      <p:sp>
        <p:nvSpPr>
          <p:cNvPr id="18534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86371" name="文本框 2"/>
          <p:cNvSpPr txBox="1"/>
          <p:nvPr/>
        </p:nvSpPr>
        <p:spPr>
          <a:xfrm>
            <a:off x="466725" y="1393825"/>
            <a:ext cx="8210550" cy="866775"/>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1</a:t>
            </a:r>
            <a:r>
              <a:rPr lang="zh-CN" altLang="en-US" sz="2100" dirty="0">
                <a:sym typeface="+mn-ea"/>
              </a:rPr>
              <a:t>）检索"英语"专业学生所学课程的信息，包括学号、姓名、课程名和分数。</a:t>
            </a:r>
            <a:endParaRPr lang="zh-CN" altLang="en-US" sz="2100" dirty="0"/>
          </a:p>
        </p:txBody>
      </p:sp>
      <p:sp>
        <p:nvSpPr>
          <p:cNvPr id="4" name="文本框 3"/>
          <p:cNvSpPr txBox="1"/>
          <p:nvPr/>
        </p:nvSpPr>
        <p:spPr>
          <a:xfrm>
            <a:off x="506413" y="2174875"/>
            <a:ext cx="8389938" cy="126523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分数</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n-US" sz="2100" kern="0" cap="none" spc="0" normalizeH="0" baseline="-25000" noProof="0" dirty="0">
                <a:solidFill>
                  <a:srgbClr val="990387"/>
                </a:solidFill>
                <a:latin typeface="+mj-ea"/>
                <a:ea typeface="+mn-ea"/>
                <a:cs typeface="+mn-cs"/>
                <a:sym typeface="+mn-ea"/>
              </a:rPr>
              <a:t>专业</a:t>
            </a:r>
            <a:r>
              <a:rPr kumimoji="1" lang="en-US" altLang="zh-CN" sz="2100" kern="0" cap="none" spc="0" normalizeH="0" baseline="-25000" noProof="0" dirty="0">
                <a:solidFill>
                  <a:srgbClr val="990387"/>
                </a:solidFill>
                <a:latin typeface="+mj-ea"/>
                <a:ea typeface="+mn-ea"/>
                <a:cs typeface="+mn-cs"/>
                <a:sym typeface="+mn-ea"/>
              </a:rPr>
              <a:t>='</a:t>
            </a:r>
            <a:r>
              <a:rPr kumimoji="1" lang="zh-CN" altLang="en-US" sz="2100" kern="0" cap="none" spc="0" normalizeH="0" baseline="-25000" noProof="0" dirty="0">
                <a:solidFill>
                  <a:srgbClr val="990387"/>
                </a:solidFill>
                <a:latin typeface="+mj-ea"/>
                <a:ea typeface="+mn-ea"/>
                <a:cs typeface="+mn-cs"/>
                <a:sym typeface="+mn-ea"/>
              </a:rPr>
              <a:t>英语</a:t>
            </a:r>
            <a:r>
              <a:rPr kumimoji="1" lang="en-US" altLang="zh-CN" sz="2100" kern="0" cap="none" spc="0" normalizeH="0" baseline="-25000" noProof="0" dirty="0">
                <a:solidFill>
                  <a:srgbClr val="990387"/>
                </a:solidFill>
                <a:latin typeface="+mj-ea"/>
                <a:ea typeface="+mn-ea"/>
                <a:cs typeface="+mn-cs"/>
                <a:sym typeface="+mn-ea"/>
              </a:rPr>
              <a:t>'</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zh-CN" altLang="en-US" sz="2100" kern="0" cap="none" spc="0" normalizeH="0" baseline="0" noProof="0" dirty="0">
                <a:solidFill>
                  <a:srgbClr val="00B050"/>
                </a:solidFill>
                <a:latin typeface="+mj-ea"/>
                <a:ea typeface="+mn-ea"/>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课程</a:t>
            </a:r>
            <a:r>
              <a:rPr kumimoji="1" lang="en-US" altLang="zh-CN" sz="2100" kern="0" cap="none" spc="0" normalizeH="0" baseline="0" noProof="0" dirty="0">
                <a:solidFill>
                  <a:srgbClr val="00B050"/>
                </a:solidFill>
                <a:latin typeface="+mj-ea"/>
                <a:ea typeface="+mn-ea"/>
                <a:cs typeface="+mn-cs"/>
                <a:sym typeface="+mn-ea"/>
              </a:rPr>
              <a:t>)</a:t>
            </a:r>
            <a:r>
              <a:rPr kumimoji="1" lang="en-US" altLang="zh-CN" sz="2100" kern="0" cap="none" spc="0" normalizeH="0" baseline="0" noProof="0" dirty="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课程名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分数</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专业</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英语</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a:t>
            </a:r>
            <a:endParaRPr kumimoji="0" lang="zh-CN" altLang="en-US" sz="2100" kern="1200" cap="none" spc="0" normalizeH="0" baseline="0" noProof="0">
              <a:latin typeface="Arial" panose="020B0604020202020204" pitchFamily="34" charset="0"/>
              <a:ea typeface="宋体" panose="02010600030101010101" pitchFamily="2" charset="-122"/>
              <a:cs typeface="+mn-cs"/>
            </a:endParaRPr>
          </a:p>
        </p:txBody>
      </p:sp>
      <p:grpSp>
        <p:nvGrpSpPr>
          <p:cNvPr id="5" name="组合 4"/>
          <p:cNvGrpSpPr/>
          <p:nvPr/>
        </p:nvGrpSpPr>
        <p:grpSpPr>
          <a:xfrm>
            <a:off x="5245100" y="2251075"/>
            <a:ext cx="301625" cy="269875"/>
            <a:chOff x="4210" y="4040"/>
            <a:chExt cx="474" cy="423"/>
          </a:xfrm>
        </p:grpSpPr>
        <p:sp>
          <p:nvSpPr>
            <p:cNvPr id="186392"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93"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94"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95"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grpSp>
        <p:nvGrpSpPr>
          <p:cNvPr id="6" name="组合 5"/>
          <p:cNvGrpSpPr/>
          <p:nvPr/>
        </p:nvGrpSpPr>
        <p:grpSpPr>
          <a:xfrm>
            <a:off x="6223000" y="2243138"/>
            <a:ext cx="301625" cy="268287"/>
            <a:chOff x="4210" y="4040"/>
            <a:chExt cx="474" cy="423"/>
          </a:xfrm>
        </p:grpSpPr>
        <p:sp>
          <p:nvSpPr>
            <p:cNvPr id="186388"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89"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90"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91"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6375" name="文本框 10"/>
          <p:cNvSpPr txBox="1"/>
          <p:nvPr/>
        </p:nvSpPr>
        <p:spPr>
          <a:xfrm>
            <a:off x="504825" y="3500438"/>
            <a:ext cx="8347075" cy="865187"/>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2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2</a:t>
            </a:r>
            <a:r>
              <a:rPr lang="zh-CN" altLang="en-US" sz="2100" dirty="0">
                <a:sym typeface="+mn-ea"/>
              </a:rPr>
              <a:t>）检索"数据库原理"课程成绩高于90分的所有学生的学号、姓名、专业和分数。</a:t>
            </a:r>
            <a:endParaRPr lang="zh-CN" altLang="en-US" sz="2100" dirty="0"/>
          </a:p>
        </p:txBody>
      </p:sp>
      <p:sp>
        <p:nvSpPr>
          <p:cNvPr id="12" name="文本框 11"/>
          <p:cNvSpPr txBox="1"/>
          <p:nvPr/>
        </p:nvSpPr>
        <p:spPr>
          <a:xfrm>
            <a:off x="484188" y="4346575"/>
            <a:ext cx="8389938" cy="165258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分数</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n-US" sz="2100" kern="0" cap="none" spc="0" normalizeH="0" baseline="-25000" noProof="0" dirty="0">
                <a:solidFill>
                  <a:srgbClr val="990387"/>
                </a:solidFill>
                <a:latin typeface="+mj-ea"/>
                <a:ea typeface="+mn-ea"/>
                <a:cs typeface="+mn-cs"/>
                <a:sym typeface="+mn-ea"/>
              </a:rPr>
              <a:t>课程名</a:t>
            </a:r>
            <a:r>
              <a:rPr kumimoji="1" lang="en-US" altLang="zh-CN" sz="2100" kern="0" cap="none" spc="0" normalizeH="0" baseline="-25000" noProof="0" dirty="0">
                <a:solidFill>
                  <a:srgbClr val="990387"/>
                </a:solidFill>
                <a:latin typeface="+mj-ea"/>
                <a:ea typeface="+mn-ea"/>
                <a:cs typeface="+mn-cs"/>
                <a:sym typeface="+mn-ea"/>
              </a:rPr>
              <a:t>='</a:t>
            </a:r>
            <a:r>
              <a:rPr kumimoji="1" lang="zh-CN" altLang="en-US" sz="2100" kern="0" cap="none" spc="0" normalizeH="0" baseline="-25000" noProof="0" dirty="0">
                <a:solidFill>
                  <a:srgbClr val="990387"/>
                </a:solidFill>
                <a:latin typeface="+mj-ea"/>
                <a:ea typeface="+mn-ea"/>
                <a:cs typeface="+mn-cs"/>
                <a:sym typeface="+mn-ea"/>
              </a:rPr>
              <a:t>数据库原理</a:t>
            </a:r>
            <a:r>
              <a:rPr kumimoji="1" lang="en-US" altLang="zh-CN" sz="2100" kern="0" cap="none" spc="0" normalizeH="0" baseline="-25000" noProof="0" dirty="0">
                <a:solidFill>
                  <a:srgbClr val="990387"/>
                </a:solidFill>
                <a:latin typeface="+mj-ea"/>
                <a:ea typeface="+mn-ea"/>
                <a:cs typeface="+mn-cs"/>
                <a:sym typeface="+mn-ea"/>
              </a:rPr>
              <a:t>' </a:t>
            </a:r>
            <a:r>
              <a:rPr kumimoji="1" lang="en-US" altLang="zh-CN"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 </a:t>
            </a:r>
            <a:r>
              <a:rPr kumimoji="1" lang="zh-CN" altLang="en-US"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分数</a:t>
            </a:r>
            <a:r>
              <a:rPr kumimoji="1" lang="en-US" altLang="zh-CN"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&gt;90</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zh-CN" altLang="en-US" sz="2100" kern="0" cap="none" spc="0" normalizeH="0" baseline="0" noProof="0" dirty="0">
                <a:solidFill>
                  <a:srgbClr val="00B050"/>
                </a:solidFill>
                <a:latin typeface="+mj-ea"/>
                <a:ea typeface="+mn-ea"/>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课程</a:t>
            </a:r>
            <a:r>
              <a:rPr kumimoji="1" lang="en-US" altLang="zh-CN" sz="2100" kern="0" cap="none" spc="0" normalizeH="0" baseline="0" noProof="0" dirty="0">
                <a:solidFill>
                  <a:srgbClr val="00B050"/>
                </a:solidFill>
                <a:latin typeface="+mj-ea"/>
                <a:ea typeface="+mn-ea"/>
                <a:cs typeface="+mn-cs"/>
                <a:sym typeface="+mn-ea"/>
              </a:rPr>
              <a:t>)</a:t>
            </a:r>
            <a:r>
              <a:rPr kumimoji="1" lang="en-US" altLang="zh-CN" sz="2100" kern="0" cap="none" spc="0" normalizeH="0" baseline="0" noProof="0" dirty="0">
                <a:latin typeface="+mj-ea"/>
                <a:ea typeface="+mn-ea"/>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分数</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课程号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课程名</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数据库原理</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 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分数</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&gt;90</a:t>
            </a:r>
            <a:endPar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13" name="组合 12"/>
          <p:cNvGrpSpPr/>
          <p:nvPr/>
        </p:nvGrpSpPr>
        <p:grpSpPr>
          <a:xfrm>
            <a:off x="6632575" y="4422775"/>
            <a:ext cx="301625" cy="268288"/>
            <a:chOff x="4210" y="4040"/>
            <a:chExt cx="474" cy="423"/>
          </a:xfrm>
        </p:grpSpPr>
        <p:sp>
          <p:nvSpPr>
            <p:cNvPr id="186384"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85"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86"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87"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grpSp>
        <p:nvGrpSpPr>
          <p:cNvPr id="18" name="组合 17"/>
          <p:cNvGrpSpPr/>
          <p:nvPr/>
        </p:nvGrpSpPr>
        <p:grpSpPr>
          <a:xfrm>
            <a:off x="7599363" y="4414838"/>
            <a:ext cx="301625" cy="268287"/>
            <a:chOff x="4210" y="4040"/>
            <a:chExt cx="474" cy="423"/>
          </a:xfrm>
        </p:grpSpPr>
        <p:sp>
          <p:nvSpPr>
            <p:cNvPr id="186380"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6381"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6382"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6383"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6379"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问题解析：</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2" name="文本框 11"/>
          <p:cNvSpPr txBox="1"/>
          <p:nvPr/>
        </p:nvSpPr>
        <p:spPr>
          <a:xfrm>
            <a:off x="592138" y="2192338"/>
            <a:ext cx="8389938" cy="126523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l-GR" sz="2100" kern="0" cap="none" spc="0" normalizeH="0" baseline="-25000" noProof="0" dirty="0">
                <a:solidFill>
                  <a:srgbClr val="990387"/>
                </a:solidFill>
                <a:latin typeface="+mj-ea"/>
                <a:ea typeface="+mn-ea"/>
                <a:cs typeface="+mn-cs"/>
                <a:sym typeface="+mn-ea"/>
              </a:rPr>
              <a:t>课程号</a:t>
            </a:r>
            <a:r>
              <a:rPr kumimoji="1" lang="en-US" altLang="zh-CN" sz="2100" kern="0" cap="none" spc="0" normalizeH="0" baseline="-25000" noProof="0" dirty="0">
                <a:solidFill>
                  <a:srgbClr val="990387"/>
                </a:solidFill>
                <a:latin typeface="+mj-ea"/>
                <a:ea typeface="+mn-ea"/>
                <a:cs typeface="+mn-cs"/>
                <a:sym typeface="+mn-ea"/>
              </a:rPr>
              <a:t>='C135'</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学生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 </a:t>
            </a:r>
            <a:r>
              <a:rPr kumimoji="0" lang="en-US" altLang="zh-CN" sz="21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except</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课程号</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='C135'</a:t>
            </a:r>
            <a:endPar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18" name="组合 17"/>
          <p:cNvGrpSpPr/>
          <p:nvPr/>
        </p:nvGrpSpPr>
        <p:grpSpPr>
          <a:xfrm>
            <a:off x="7707313" y="2260600"/>
            <a:ext cx="301625" cy="268288"/>
            <a:chOff x="4210" y="4040"/>
            <a:chExt cx="474" cy="423"/>
          </a:xfrm>
        </p:grpSpPr>
        <p:sp>
          <p:nvSpPr>
            <p:cNvPr id="187406"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7407"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7408"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7409"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7397" name="文本框 22"/>
          <p:cNvSpPr txBox="1"/>
          <p:nvPr/>
        </p:nvSpPr>
        <p:spPr>
          <a:xfrm>
            <a:off x="592138" y="1393825"/>
            <a:ext cx="8143875" cy="801688"/>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3</a:t>
            </a:r>
            <a:r>
              <a:rPr lang="zh-CN" altLang="en-US" sz="2100" dirty="0">
                <a:sym typeface="+mn-ea"/>
              </a:rPr>
              <a:t>）检索不学课程号为"C135"课程的学生信息，包括学号，姓名和专业。</a:t>
            </a:r>
            <a:endParaRPr lang="zh-CN" altLang="en-US" sz="2100" dirty="0"/>
          </a:p>
        </p:txBody>
      </p:sp>
      <p:sp>
        <p:nvSpPr>
          <p:cNvPr id="187398" name="文本框 23"/>
          <p:cNvSpPr txBox="1"/>
          <p:nvPr/>
        </p:nvSpPr>
        <p:spPr>
          <a:xfrm>
            <a:off x="592138" y="3527425"/>
            <a:ext cx="8143875" cy="8001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en-US" altLang="zh-CN" sz="2100" dirty="0">
                <a:sym typeface="+mn-ea"/>
              </a:rPr>
              <a:t>      </a:t>
            </a:r>
            <a:r>
              <a:rPr lang="zh-CN" altLang="en-US" sz="2100" dirty="0">
                <a:sym typeface="+mn-ea"/>
              </a:rPr>
              <a:t>（</a:t>
            </a:r>
            <a:r>
              <a:rPr lang="en-US" altLang="zh-CN" sz="2100" dirty="0">
                <a:sym typeface="+mn-ea"/>
              </a:rPr>
              <a:t>4</a:t>
            </a:r>
            <a:r>
              <a:rPr lang="zh-CN" altLang="en-US" sz="2100" dirty="0">
                <a:sym typeface="+mn-ea"/>
              </a:rPr>
              <a:t>）检索没有任何一门课程成绩不及格的所有学生的信息，包括学号、姓名和专业。</a:t>
            </a:r>
            <a:endParaRPr lang="zh-CN" altLang="en-US" sz="2100" dirty="0"/>
          </a:p>
        </p:txBody>
      </p:sp>
      <p:sp>
        <p:nvSpPr>
          <p:cNvPr id="25" name="文本框 24"/>
          <p:cNvSpPr txBox="1"/>
          <p:nvPr/>
        </p:nvSpPr>
        <p:spPr>
          <a:xfrm>
            <a:off x="592138" y="4470400"/>
            <a:ext cx="8389938" cy="1266825"/>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l-GR" sz="2100" kern="0" cap="none" spc="0" normalizeH="0" baseline="-25000" noProof="0" dirty="0">
                <a:solidFill>
                  <a:srgbClr val="990387"/>
                </a:solidFill>
                <a:latin typeface="+mj-ea"/>
                <a:ea typeface="+mn-ea"/>
                <a:cs typeface="+mn-cs"/>
                <a:sym typeface="+mn-ea"/>
              </a:rPr>
              <a:t>成绩</a:t>
            </a:r>
            <a:r>
              <a:rPr kumimoji="1" lang="en-US" altLang="zh-CN" sz="2100" kern="0" cap="none" spc="0" normalizeH="0" baseline="-25000" noProof="0" dirty="0">
                <a:solidFill>
                  <a:srgbClr val="990387"/>
                </a:solidFill>
                <a:latin typeface="+mj-ea"/>
                <a:ea typeface="+mn-ea"/>
                <a:cs typeface="+mn-cs"/>
                <a:sym typeface="+mn-ea"/>
              </a:rPr>
              <a:t>&lt;60</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学生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 </a:t>
            </a:r>
            <a:r>
              <a:rPr kumimoji="0" lang="en-US" altLang="zh-CN" sz="2100" kern="1200" cap="none" spc="0" normalizeH="0" baseline="0" noProof="0">
                <a:solidFill>
                  <a:srgbClr val="0033CC"/>
                </a:solidFill>
                <a:latin typeface="Arial" panose="020B0604020202020204" pitchFamily="34" charset="0"/>
                <a:ea typeface="宋体" panose="02010600030101010101" pitchFamily="2" charset="-122"/>
                <a:cs typeface="+mn-cs"/>
                <a:sym typeface="+mn-ea"/>
              </a:rPr>
              <a:t>except</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 </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Select </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姓名</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专业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from</a:t>
            </a:r>
            <a:r>
              <a:rPr kumimoji="0" lang="en-US" altLang="zh-CN" sz="2100" kern="1200" cap="none" spc="0" normalizeH="0" baseline="0" noProof="0">
                <a:solidFill>
                  <a:srgbClr val="FF0000"/>
                </a:solidFill>
                <a:latin typeface="Arial" panose="020B0604020202020204" pitchFamily="34" charset="0"/>
                <a:ea typeface="宋体" panose="02010600030101010101" pitchFamily="2" charset="-122"/>
                <a:cs typeface="+mn-cs"/>
                <a:sym typeface="+mn-ea"/>
              </a:rPr>
              <a:t>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 </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where </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学生</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学习</a:t>
            </a:r>
            <a:r>
              <a:rPr kumimoji="0" lang="en-US" altLang="zh-CN"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a:t>
            </a:r>
            <a:r>
              <a:rPr kumimoji="0" lang="zh-CN" altLang="en-US" sz="2100" kern="1200" cap="none" spc="0" normalizeH="0" baseline="0" noProof="0">
                <a:solidFill>
                  <a:srgbClr val="006600"/>
                </a:solidFill>
                <a:latin typeface="Arial" panose="020B0604020202020204" pitchFamily="34" charset="0"/>
                <a:ea typeface="宋体" panose="02010600030101010101" pitchFamily="2" charset="-122"/>
                <a:cs typeface="+mn-cs"/>
                <a:sym typeface="+mn-ea"/>
              </a:rPr>
              <a:t>学号 </a:t>
            </a:r>
            <a:r>
              <a:rPr kumimoji="0" lang="en-US" altLang="zh-CN"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and </a:t>
            </a:r>
            <a:r>
              <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cs"/>
                <a:sym typeface="+mn-ea"/>
              </a:rPr>
              <a:t>成绩</a:t>
            </a:r>
            <a:r>
              <a:rPr kumimoji="0" 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rPr>
              <a:t>&lt;60</a:t>
            </a:r>
            <a:endParaRPr kumimoji="0" 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26" name="组合 25"/>
          <p:cNvGrpSpPr/>
          <p:nvPr/>
        </p:nvGrpSpPr>
        <p:grpSpPr>
          <a:xfrm>
            <a:off x="7212013" y="4540250"/>
            <a:ext cx="301625" cy="268288"/>
            <a:chOff x="4210" y="4040"/>
            <a:chExt cx="474" cy="423"/>
          </a:xfrm>
        </p:grpSpPr>
        <p:sp>
          <p:nvSpPr>
            <p:cNvPr id="187402"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7403"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7404"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7405"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7401"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ppt_x"/>
                                          </p:val>
                                        </p:tav>
                                        <p:tav tm="100000">
                                          <p:val>
                                            <p:strVal val="#ppt_x"/>
                                          </p:val>
                                        </p:tav>
                                      </p:tavLst>
                                    </p:anim>
                                    <p:anim calcmode="lin" valueType="num">
                                      <p:cBhvr additive="base">
                                        <p:cTn id="18" dur="500" fill="hold"/>
                                        <p:tgtEl>
                                          <p:spTgt spid="2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additive="base">
                                        <p:cTn id="21" dur="500" fill="hold"/>
                                        <p:tgtEl>
                                          <p:spTgt spid="26"/>
                                        </p:tgtEl>
                                        <p:attrNameLst>
                                          <p:attrName>ppt_x</p:attrName>
                                        </p:attrNameLst>
                                      </p:cBhvr>
                                      <p:tavLst>
                                        <p:tav tm="0">
                                          <p:val>
                                            <p:strVal val="#ppt_x"/>
                                          </p:val>
                                        </p:tav>
                                        <p:tav tm="100000">
                                          <p:val>
                                            <p:strVal val="#ppt_x"/>
                                          </p:val>
                                        </p:tav>
                                      </p:tavLst>
                                    </p:anim>
                                    <p:anim calcmode="lin" valueType="num">
                                      <p:cBhvr additive="base">
                                        <p:cTn id="2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18" name="文本框 1"/>
          <p:cNvSpPr txBox="1"/>
          <p:nvPr/>
        </p:nvSpPr>
        <p:spPr>
          <a:xfrm>
            <a:off x="554038" y="1433513"/>
            <a:ext cx="5310187"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2200" dirty="0">
                <a:sym typeface="+mn-ea"/>
              </a:rPr>
              <a:t>用关系代数表达式写出下列</a:t>
            </a:r>
            <a:r>
              <a:rPr lang="en-US" altLang="zh-CN" sz="2200" dirty="0">
                <a:sym typeface="+mn-ea"/>
              </a:rPr>
              <a:t>(5)</a:t>
            </a:r>
            <a:r>
              <a:rPr lang="zh-CN" altLang="en-US" sz="2200" dirty="0">
                <a:sym typeface="+mn-ea"/>
              </a:rPr>
              <a:t>-</a:t>
            </a:r>
            <a:r>
              <a:rPr lang="en-US" altLang="zh-CN" sz="2200" dirty="0">
                <a:sym typeface="+mn-ea"/>
              </a:rPr>
              <a:t>(6)</a:t>
            </a:r>
            <a:r>
              <a:rPr lang="zh-CN" altLang="en-US" sz="2200" dirty="0">
                <a:sym typeface="+mn-ea"/>
              </a:rPr>
              <a:t>小题： </a:t>
            </a:r>
            <a:endParaRPr lang="zh-CN" altLang="en-US" sz="2200" dirty="0"/>
          </a:p>
        </p:txBody>
      </p:sp>
      <p:sp>
        <p:nvSpPr>
          <p:cNvPr id="188419" name="文本框 2"/>
          <p:cNvSpPr txBox="1"/>
          <p:nvPr/>
        </p:nvSpPr>
        <p:spPr>
          <a:xfrm>
            <a:off x="554038" y="1966913"/>
            <a:ext cx="8491537" cy="430212"/>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ym typeface="+mn-ea"/>
              </a:rPr>
              <a:t>（</a:t>
            </a:r>
            <a:r>
              <a:rPr lang="en-US" altLang="zh-CN" dirty="0">
                <a:sym typeface="+mn-ea"/>
              </a:rPr>
              <a:t>5</a:t>
            </a:r>
            <a:r>
              <a:rPr lang="zh-CN" altLang="en-US" dirty="0">
                <a:sym typeface="+mn-ea"/>
              </a:rPr>
              <a:t>）检索有两门或两门以上课程成绩不及格的同学的学号、姓名和专业。</a:t>
            </a:r>
            <a:endParaRPr lang="zh-CN" altLang="en-US" dirty="0"/>
          </a:p>
        </p:txBody>
      </p:sp>
      <p:sp>
        <p:nvSpPr>
          <p:cNvPr id="12" name="文本框 11"/>
          <p:cNvSpPr txBox="1"/>
          <p:nvPr/>
        </p:nvSpPr>
        <p:spPr>
          <a:xfrm>
            <a:off x="554038" y="2500313"/>
            <a:ext cx="8389938" cy="879475"/>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n-US" altLang="el-GR" sz="2100" kern="0" cap="none" spc="0" normalizeH="0" baseline="0" noProof="0" dirty="0">
                <a:solidFill>
                  <a:srgbClr val="FF0000"/>
                </a:solidFill>
                <a:latin typeface="+mj-ea"/>
                <a:ea typeface="+mj-ea"/>
                <a:cs typeface="+mj-cs"/>
                <a:sym typeface="+mn-ea"/>
              </a:rPr>
              <a:t> </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学生</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学号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姓名</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专业</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学生    </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en-US" sz="2100" kern="0" cap="none" spc="0" normalizeH="0" baseline="-25000" noProof="0" dirty="0">
                <a:solidFill>
                  <a:srgbClr val="990387"/>
                </a:solidFill>
                <a:latin typeface="+mj-ea"/>
                <a:ea typeface="+mn-ea"/>
                <a:cs typeface="+mn-cs"/>
                <a:sym typeface="+mn-ea"/>
              </a:rPr>
              <a:t>2&lt;&gt;5 </a:t>
            </a:r>
            <a:r>
              <a:rPr kumimoji="1" lang="en-US" sz="2100" kern="0" cap="none" spc="0" normalizeH="0" baseline="-25000" noProof="0" dirty="0">
                <a:solidFill>
                  <a:srgbClr val="990387"/>
                </a:solidFill>
                <a:latin typeface="Arial" panose="020B0604020202020204" pitchFamily="34" charset="0"/>
                <a:ea typeface="+mn-ea"/>
                <a:cs typeface="Arial" panose="020B0604020202020204" pitchFamily="34" charset="0"/>
                <a:sym typeface="+mn-ea"/>
              </a:rPr>
              <a:t>^1=4 ^ 3&lt;60 ^ 6&lt;60</a:t>
            </a:r>
            <a:r>
              <a:rPr kumimoji="1" lang="en-US" sz="2100" kern="0" cap="none" spc="0" normalizeH="0" baseline="-25000" noProof="0" dirty="0">
                <a:solidFill>
                  <a:srgbClr val="990387"/>
                </a:solidFill>
                <a:latin typeface="+mj-ea"/>
                <a:ea typeface="+mn-ea"/>
                <a:cs typeface="+mn-cs"/>
                <a:sym typeface="+mn-ea"/>
              </a:rPr>
              <a:t> </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学习</a:t>
            </a:r>
            <a:r>
              <a:rPr kumimoji="1" lang="zh-CN" altLang="en-US" sz="2100" kern="0" cap="none" spc="0" normalizeH="0" baseline="0" noProof="0" dirty="0">
                <a:solidFill>
                  <a:srgbClr val="00B050"/>
                </a:solidFill>
                <a:latin typeface="Arial" panose="020B0604020202020204" pitchFamily="34" charset="0"/>
                <a:ea typeface="+mn-ea"/>
                <a:cs typeface="+mn-cs"/>
                <a:sym typeface="+mn-ea"/>
              </a:rPr>
              <a:t>×学习））</a:t>
            </a:r>
            <a:r>
              <a:rPr kumimoji="1" lang="zh-CN" altLang="en-US" sz="2100" kern="0" cap="none" spc="0" normalizeH="0" baseline="0" noProof="0" dirty="0">
                <a:solidFill>
                  <a:srgbClr val="006600"/>
                </a:solidFill>
                <a:latin typeface="+mj-ea"/>
                <a:ea typeface="+mn-ea"/>
                <a:cs typeface="+mn-cs"/>
                <a:sym typeface="+mn-ea"/>
              </a:rPr>
              <a:t> </a:t>
            </a:r>
            <a:endParaRPr kumimoji="1" lang="en-US" altLang="zh-CN" sz="2100" kern="0" cap="none" spc="0" normalizeH="0" baseline="0" noProof="0" dirty="0">
              <a:latin typeface="+mj-ea"/>
              <a:ea typeface="+mn-ea"/>
              <a:cs typeface="+mn-cs"/>
              <a:sym typeface="+mn-ea"/>
            </a:endParaRPr>
          </a:p>
          <a:p>
            <a:pPr marR="0" defTabSz="914400" eaLnBrk="1" fontAlgn="auto" hangingPunct="1">
              <a:lnSpc>
                <a:spcPct val="120000"/>
              </a:lnSpc>
              <a:spcBef>
                <a:spcPts val="600"/>
              </a:spcBef>
              <a:spcAft>
                <a:spcPts val="0"/>
              </a:spcAft>
              <a:buClrTx/>
              <a:buSzTx/>
              <a:buFontTx/>
              <a:buNone/>
              <a:defRPr/>
            </a:pPr>
            <a:endParaRPr kumimoji="0" lang="zh-CN" altLang="en-US" sz="2100" kern="1200" cap="none" spc="0" normalizeH="0" baseline="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18" name="组合 17"/>
          <p:cNvGrpSpPr/>
          <p:nvPr/>
        </p:nvGrpSpPr>
        <p:grpSpPr>
          <a:xfrm>
            <a:off x="3519488" y="2579688"/>
            <a:ext cx="300037" cy="268287"/>
            <a:chOff x="4210" y="4040"/>
            <a:chExt cx="474" cy="423"/>
          </a:xfrm>
        </p:grpSpPr>
        <p:sp>
          <p:nvSpPr>
            <p:cNvPr id="188431"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8432"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8433"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8434"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188422" name="文本框 3"/>
          <p:cNvSpPr txBox="1"/>
          <p:nvPr/>
        </p:nvSpPr>
        <p:spPr>
          <a:xfrm>
            <a:off x="554038" y="3159125"/>
            <a:ext cx="7726362" cy="430213"/>
          </a:xfrm>
          <a:prstGeom prst="rect">
            <a:avLst/>
          </a:prstGeom>
          <a:noFill/>
          <a:ln w="9525">
            <a:noFill/>
          </a:ln>
        </p:spPr>
        <p:txBody>
          <a:bodyPr wrap="none">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10000"/>
              </a:lnSpc>
              <a:spcBef>
                <a:spcPct val="0"/>
              </a:spcBef>
              <a:buClrTx/>
              <a:buSzTx/>
              <a:buFont typeface="Arial" panose="020B0604020202020204" pitchFamily="34" charset="0"/>
              <a:buNone/>
            </a:pPr>
            <a:r>
              <a:rPr lang="zh-CN" altLang="en-US" dirty="0">
                <a:sym typeface="+mn-ea"/>
              </a:rPr>
              <a:t>（</a:t>
            </a:r>
            <a:r>
              <a:rPr lang="en-US" altLang="zh-CN" dirty="0">
                <a:sym typeface="+mn-ea"/>
              </a:rPr>
              <a:t>6</a:t>
            </a:r>
            <a:r>
              <a:rPr lang="zh-CN" altLang="en-US" dirty="0">
                <a:sym typeface="+mn-ea"/>
              </a:rPr>
              <a:t>）检索计算机专业全部学生都选修了的课程的课程号和课程名。</a:t>
            </a:r>
            <a:endParaRPr lang="zh-CN" altLang="en-US" dirty="0"/>
          </a:p>
        </p:txBody>
      </p:sp>
      <p:sp>
        <p:nvSpPr>
          <p:cNvPr id="5" name="文本框 4"/>
          <p:cNvSpPr txBox="1"/>
          <p:nvPr/>
        </p:nvSpPr>
        <p:spPr>
          <a:xfrm>
            <a:off x="254000" y="3757613"/>
            <a:ext cx="9013825" cy="414338"/>
          </a:xfrm>
          <a:prstGeom prst="rect">
            <a:avLst/>
          </a:prstGeom>
          <a:noFill/>
        </p:spPr>
        <p:txBody>
          <a:bodyPr>
            <a:spAutoFit/>
          </a:bodyPr>
          <a:lstStyle/>
          <a:p>
            <a:pPr marR="0" defTabSz="914400" eaLnBrk="1" fontAlgn="auto" hangingPunct="1">
              <a:spcBef>
                <a:spcPts val="0"/>
              </a:spcBef>
              <a:spcAft>
                <a:spcPts val="0"/>
              </a:spcAft>
              <a:buClrTx/>
              <a:buSzTx/>
              <a:buFontTx/>
              <a:buNone/>
              <a:defRPr/>
            </a:pPr>
            <a:r>
              <a:rPr kumimoji="1" lang="en-US" altLang="el-GR" sz="2100" kern="0" cap="none" spc="0" normalizeH="0" baseline="0" noProof="0" dirty="0">
                <a:solidFill>
                  <a:srgbClr val="FF0000"/>
                </a:solidFill>
                <a:latin typeface="+mj-ea"/>
                <a:ea typeface="+mj-ea"/>
                <a:cs typeface="+mj-cs"/>
                <a:sym typeface="+mn-ea"/>
              </a:rPr>
              <a:t> </a:t>
            </a:r>
            <a:r>
              <a:rPr kumimoji="1" lang="el-GR" altLang="zh-CN" sz="2100" kern="0" cap="none" spc="0" normalizeH="0" baseline="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课程号</a:t>
            </a:r>
            <a:r>
              <a:rPr kumimoji="1" lang="en-US" altLang="zh-CN" sz="2100" kern="0" cap="none" spc="0" normalizeH="0" baseline="-25000" noProof="0" dirty="0" err="1">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课程名</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6600"/>
                </a:solidFill>
                <a:latin typeface="+mj-ea"/>
                <a:ea typeface="+mn-ea"/>
                <a:cs typeface="+mn-cs"/>
                <a:sym typeface="+mn-ea"/>
              </a:rPr>
              <a:t>课程   </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l-GR" sz="2100" kern="0" cap="none" spc="0" normalizeH="0" baseline="-25000" noProof="0" dirty="0">
                <a:solidFill>
                  <a:srgbClr val="FF0000"/>
                </a:solidFill>
                <a:latin typeface="+mj-ea"/>
                <a:ea typeface="+mj-ea"/>
                <a:cs typeface="+mj-cs"/>
                <a:sym typeface="+mn-ea"/>
              </a:rPr>
              <a:t>学号</a:t>
            </a:r>
            <a:r>
              <a:rPr kumimoji="1" lang="en-US" altLang="zh-CN" sz="2100" kern="0" cap="none" spc="0" normalizeH="0" baseline="-25000" noProof="0" dirty="0">
                <a:solidFill>
                  <a:srgbClr val="FF0000"/>
                </a:solidFill>
                <a:latin typeface="+mj-ea"/>
                <a:ea typeface="+mj-ea"/>
                <a:cs typeface="+mj-cs"/>
                <a:sym typeface="+mn-ea"/>
              </a:rPr>
              <a:t>,</a:t>
            </a:r>
            <a:r>
              <a:rPr kumimoji="1" lang="zh-CN" altLang="en-US" sz="2100" kern="0" cap="none" spc="0" normalizeH="0" baseline="-25000" noProof="0" dirty="0" err="1">
                <a:solidFill>
                  <a:srgbClr val="FF0000"/>
                </a:solidFill>
                <a:latin typeface="+mj-ea"/>
                <a:ea typeface="+mj-ea"/>
                <a:cs typeface="+mj-cs"/>
                <a:sym typeface="+mn-ea"/>
              </a:rPr>
              <a:t>课程号</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学习</a:t>
            </a:r>
            <a:r>
              <a:rPr kumimoji="1" lang="en-US" altLang="zh-CN" sz="2100" kern="0" cap="none" spc="0" normalizeH="0" baseline="0" noProof="0" dirty="0">
                <a:solidFill>
                  <a:srgbClr val="006600"/>
                </a:solidFill>
                <a:latin typeface="+mj-ea"/>
                <a:ea typeface="+mn-ea"/>
                <a:cs typeface="+mn-cs"/>
                <a:sym typeface="+mn-ea"/>
              </a:rPr>
              <a:t>)/</a:t>
            </a:r>
            <a:r>
              <a:rPr kumimoji="1" lang="el-GR" altLang="zh-CN" sz="2100" kern="0" cap="none" spc="0" normalizeH="0" baseline="0" noProof="0" dirty="0">
                <a:solidFill>
                  <a:srgbClr val="FF0000"/>
                </a:solidFill>
                <a:latin typeface="+mj-ea"/>
                <a:ea typeface="+mj-ea"/>
                <a:cs typeface="+mj-cs"/>
                <a:sym typeface="+mn-ea"/>
              </a:rPr>
              <a:t>∏</a:t>
            </a:r>
            <a:r>
              <a:rPr kumimoji="1" lang="zh-CN" altLang="el-GR" sz="2100" kern="0" cap="none" spc="0" normalizeH="0" baseline="-25000" noProof="0" dirty="0">
                <a:solidFill>
                  <a:srgbClr val="FF0000"/>
                </a:solidFill>
                <a:latin typeface="+mj-ea"/>
                <a:ea typeface="+mj-ea"/>
                <a:cs typeface="+mj-cs"/>
                <a:sym typeface="+mn-ea"/>
              </a:rPr>
              <a:t>学号</a:t>
            </a:r>
            <a:r>
              <a:rPr kumimoji="1" lang="en-US" altLang="zh-CN" sz="2100" kern="0" cap="none" spc="0" normalizeH="0" baseline="0" noProof="0" dirty="0">
                <a:solidFill>
                  <a:srgbClr val="00B050"/>
                </a:solidFill>
                <a:latin typeface="+mj-ea"/>
                <a:ea typeface="+mn-ea"/>
                <a:cs typeface="+mn-cs"/>
                <a:sym typeface="+mn-ea"/>
              </a:rPr>
              <a:t>(</a:t>
            </a:r>
            <a:r>
              <a:rPr kumimoji="1" lang="el-GR" altLang="zh-CN" sz="2100" kern="0" cap="none" spc="0" normalizeH="0" baseline="0" noProof="0" dirty="0">
                <a:solidFill>
                  <a:srgbClr val="990387"/>
                </a:solidFill>
                <a:latin typeface="+mj-ea"/>
                <a:ea typeface="+mn-ea"/>
                <a:cs typeface="+mn-cs"/>
                <a:sym typeface="+mn-ea"/>
              </a:rPr>
              <a:t>σ</a:t>
            </a:r>
            <a:r>
              <a:rPr kumimoji="1" lang="zh-CN" altLang="el-GR" sz="2100" kern="0" cap="none" spc="0" normalizeH="0" baseline="-25000" noProof="0" dirty="0">
                <a:solidFill>
                  <a:srgbClr val="990387"/>
                </a:solidFill>
                <a:latin typeface="+mj-ea"/>
                <a:ea typeface="+mn-ea"/>
                <a:cs typeface="+mn-cs"/>
                <a:sym typeface="+mn-ea"/>
              </a:rPr>
              <a:t>专业</a:t>
            </a:r>
            <a:r>
              <a:rPr kumimoji="1" lang="en-US" altLang="zh-CN" sz="2100" kern="0" cap="none" spc="0" normalizeH="0" baseline="-25000" noProof="0" dirty="0">
                <a:solidFill>
                  <a:srgbClr val="990387"/>
                </a:solidFill>
                <a:latin typeface="+mj-ea"/>
                <a:ea typeface="+mn-ea"/>
                <a:cs typeface="+mn-cs"/>
                <a:sym typeface="+mn-ea"/>
              </a:rPr>
              <a:t>='</a:t>
            </a:r>
            <a:r>
              <a:rPr kumimoji="1" lang="zh-CN" altLang="en-US" sz="2100" kern="0" cap="none" spc="0" normalizeH="0" baseline="-25000" noProof="0" dirty="0">
                <a:solidFill>
                  <a:srgbClr val="990387"/>
                </a:solidFill>
                <a:latin typeface="+mj-ea"/>
                <a:ea typeface="+mn-ea"/>
                <a:cs typeface="+mn-cs"/>
                <a:sym typeface="+mn-ea"/>
              </a:rPr>
              <a:t>计算机</a:t>
            </a:r>
            <a:r>
              <a:rPr kumimoji="1" lang="en-US" altLang="zh-CN" sz="2100" kern="0" cap="none" spc="0" normalizeH="0" baseline="-25000" noProof="0" dirty="0">
                <a:solidFill>
                  <a:srgbClr val="990387"/>
                </a:solidFill>
                <a:latin typeface="+mj-ea"/>
                <a:ea typeface="+mn-ea"/>
                <a:cs typeface="+mn-cs"/>
                <a:sym typeface="+mn-ea"/>
              </a:rPr>
              <a:t>'</a:t>
            </a:r>
            <a:r>
              <a:rPr kumimoji="1" lang="en-US" altLang="zh-CN" sz="2100" kern="0" cap="none" spc="0" normalizeH="0" baseline="0" noProof="0" dirty="0">
                <a:solidFill>
                  <a:srgbClr val="00B050"/>
                </a:solidFill>
                <a:latin typeface="+mj-ea"/>
                <a:ea typeface="+mn-ea"/>
                <a:cs typeface="+mn-cs"/>
                <a:sym typeface="+mn-ea"/>
              </a:rPr>
              <a:t>(</a:t>
            </a:r>
            <a:r>
              <a:rPr kumimoji="1" lang="zh-CN" altLang="en-US" sz="2100" kern="0" cap="none" spc="0" normalizeH="0" baseline="0" noProof="0" dirty="0">
                <a:solidFill>
                  <a:srgbClr val="00B050"/>
                </a:solidFill>
                <a:latin typeface="+mj-ea"/>
                <a:ea typeface="+mn-ea"/>
                <a:cs typeface="+mn-cs"/>
                <a:sym typeface="+mn-ea"/>
              </a:rPr>
              <a:t>学生</a:t>
            </a:r>
            <a:r>
              <a:rPr kumimoji="1" lang="en-US" sz="2100" kern="0" cap="none" spc="0" normalizeH="0" baseline="0" noProof="0" dirty="0">
                <a:solidFill>
                  <a:srgbClr val="00B050"/>
                </a:solidFill>
                <a:latin typeface="+mj-ea"/>
                <a:ea typeface="+mn-ea"/>
                <a:cs typeface="+mn-cs"/>
                <a:sym typeface="+mn-ea"/>
              </a:rPr>
              <a:t>))</a:t>
            </a:r>
            <a:endParaRPr kumimoji="0" lang="en-US" sz="2100" kern="1200" cap="none" spc="0" normalizeH="0" baseline="-25000" noProof="0">
              <a:solidFill>
                <a:srgbClr val="CC00FF"/>
              </a:solidFill>
              <a:latin typeface="Arial" panose="020B0604020202020204" pitchFamily="34" charset="0"/>
              <a:ea typeface="宋体" panose="02010600030101010101" pitchFamily="2" charset="-122"/>
              <a:cs typeface="+mn-ea"/>
              <a:sym typeface="+mn-ea"/>
            </a:endParaRPr>
          </a:p>
        </p:txBody>
      </p:sp>
      <p:grpSp>
        <p:nvGrpSpPr>
          <p:cNvPr id="6" name="组合 5"/>
          <p:cNvGrpSpPr/>
          <p:nvPr/>
        </p:nvGrpSpPr>
        <p:grpSpPr>
          <a:xfrm>
            <a:off x="3057525" y="3835400"/>
            <a:ext cx="301625" cy="268288"/>
            <a:chOff x="4210" y="4040"/>
            <a:chExt cx="474" cy="423"/>
          </a:xfrm>
        </p:grpSpPr>
        <p:sp>
          <p:nvSpPr>
            <p:cNvPr id="188427" name="Line 59"/>
            <p:cNvSpPr/>
            <p:nvPr/>
          </p:nvSpPr>
          <p:spPr>
            <a:xfrm>
              <a:off x="4210" y="4040"/>
              <a:ext cx="0" cy="410"/>
            </a:xfrm>
            <a:prstGeom prst="line">
              <a:avLst/>
            </a:prstGeom>
            <a:ln w="38100" cap="flat" cmpd="sng">
              <a:solidFill>
                <a:srgbClr val="006600"/>
              </a:solidFill>
              <a:prstDash val="solid"/>
              <a:headEnd type="none" w="med" len="med"/>
              <a:tailEnd type="none" w="med" len="med"/>
            </a:ln>
          </p:spPr>
        </p:sp>
        <p:sp>
          <p:nvSpPr>
            <p:cNvPr id="188428" name="Line 61"/>
            <p:cNvSpPr/>
            <p:nvPr/>
          </p:nvSpPr>
          <p:spPr>
            <a:xfrm>
              <a:off x="4210" y="4040"/>
              <a:ext cx="475" cy="410"/>
            </a:xfrm>
            <a:prstGeom prst="line">
              <a:avLst/>
            </a:prstGeom>
            <a:ln w="38100" cap="flat" cmpd="sng">
              <a:solidFill>
                <a:srgbClr val="006600"/>
              </a:solidFill>
              <a:prstDash val="solid"/>
              <a:headEnd type="none" w="med" len="med"/>
              <a:tailEnd type="none" w="med" len="med"/>
            </a:ln>
          </p:spPr>
        </p:sp>
        <p:sp>
          <p:nvSpPr>
            <p:cNvPr id="188429" name="Line 62"/>
            <p:cNvSpPr/>
            <p:nvPr/>
          </p:nvSpPr>
          <p:spPr>
            <a:xfrm flipH="1">
              <a:off x="4210" y="4040"/>
              <a:ext cx="475" cy="410"/>
            </a:xfrm>
            <a:prstGeom prst="line">
              <a:avLst/>
            </a:prstGeom>
            <a:ln w="15875" cap="flat" cmpd="sng">
              <a:solidFill>
                <a:srgbClr val="006600"/>
              </a:solidFill>
              <a:prstDash val="solid"/>
              <a:headEnd type="none" w="med" len="med"/>
              <a:tailEnd type="none" w="med" len="med"/>
            </a:ln>
          </p:spPr>
        </p:sp>
        <p:sp>
          <p:nvSpPr>
            <p:cNvPr id="188430" name="Line 59"/>
            <p:cNvSpPr/>
            <p:nvPr/>
          </p:nvSpPr>
          <p:spPr>
            <a:xfrm>
              <a:off x="4678" y="4053"/>
              <a:ext cx="0" cy="410"/>
            </a:xfrm>
            <a:prstGeom prst="line">
              <a:avLst/>
            </a:prstGeom>
            <a:ln w="38100" cap="flat" cmpd="sng">
              <a:solidFill>
                <a:srgbClr val="006600"/>
              </a:solidFill>
              <a:prstDash val="solid"/>
              <a:headEnd type="none" w="med" len="med"/>
              <a:tailEnd type="none" w="med" len="med"/>
            </a:ln>
          </p:spPr>
        </p:sp>
      </p:grpSp>
      <p:sp>
        <p:nvSpPr>
          <p:cNvPr id="45" name="文本框 44"/>
          <p:cNvSpPr txBox="1"/>
          <p:nvPr/>
        </p:nvSpPr>
        <p:spPr>
          <a:xfrm>
            <a:off x="484188" y="615950"/>
            <a:ext cx="2681288" cy="828675"/>
          </a:xfrm>
          <a:prstGeom prst="rect">
            <a:avLst/>
          </a:prstGeom>
          <a:noFill/>
        </p:spPr>
        <p:txBody>
          <a:bodyPr wrap="none">
            <a:spAutoFit/>
          </a:bodyPr>
          <a:lstStyle/>
          <a:p>
            <a:pPr marL="457200" marR="0" indent="-457200" algn="just" defTabSz="914400" eaLnBrk="1" hangingPunct="1">
              <a:lnSpc>
                <a:spcPct val="150000"/>
              </a:lnSpc>
              <a:spcAft>
                <a:spcPts val="0"/>
              </a:spcAft>
              <a:buClrTx/>
              <a:buSzTx/>
              <a:buFont typeface="Wingdings" panose="05000000000000000000" pitchFamily="2" charset="2"/>
              <a:buChar char="p"/>
              <a:defRPr/>
            </a:pPr>
            <a:r>
              <a:rPr kumimoji="0" lang="zh-CN" altLang="zh-CN" sz="3200" kern="100" cap="none" spc="0" normalizeH="0" baseline="0" noProof="0" dirty="0">
                <a:solidFill>
                  <a:srgbClr val="FF0000"/>
                </a:solidFill>
                <a:latin typeface="Calibri" panose="020F0502020204030204" pitchFamily="34" charset="0"/>
                <a:ea typeface="宋体" panose="02010600030101010101" pitchFamily="2" charset="-122"/>
                <a:cs typeface="Times New Roman" panose="02020603050405020304" pitchFamily="18" charset="0"/>
                <a:sym typeface="+mn-ea"/>
              </a:rPr>
              <a:t>问题研讨：</a:t>
            </a:r>
            <a:endParaRPr kumimoji="0" lang="zh-CN" altLang="en-US" sz="3200" kern="1200" cap="none" spc="0" normalizeH="0" baseline="0" noProof="0">
              <a:latin typeface="Arial" panose="020B0604020202020204" pitchFamily="34" charset="0"/>
              <a:ea typeface="宋体" panose="02010600030101010101" pitchFamily="2" charset="-122"/>
              <a:cs typeface="+mn-cs"/>
            </a:endParaRPr>
          </a:p>
        </p:txBody>
      </p:sp>
      <p:sp>
        <p:nvSpPr>
          <p:cNvPr id="188426"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5"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2" name="矩形 2"/>
          <p:cNvSpPr/>
          <p:nvPr/>
        </p:nvSpPr>
        <p:spPr>
          <a:xfrm>
            <a:off x="509588" y="749300"/>
            <a:ext cx="8375650" cy="660400"/>
          </a:xfrm>
          <a:prstGeom prst="rect">
            <a:avLst/>
          </a:prstGeom>
          <a:noFill/>
          <a:ln w="9525">
            <a:noFill/>
          </a:ln>
        </p:spPr>
        <p:txBody>
          <a:bodyPr>
            <a:spAutoFit/>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Wingdings" panose="05000000000000000000" pitchFamily="2" charset="2"/>
              <a:buChar char="p"/>
            </a:pPr>
            <a:r>
              <a:rPr lang="zh-CN" altLang="en-US" sz="3200" dirty="0">
                <a:solidFill>
                  <a:srgbClr val="FF3300"/>
                </a:solidFill>
                <a:latin typeface="黑体" panose="02010609060101010101" pitchFamily="49" charset="-122"/>
                <a:ea typeface="黑体" panose="02010609060101010101" pitchFamily="49" charset="-122"/>
              </a:rPr>
              <a:t> 关系代数操作小结</a:t>
            </a:r>
            <a:endParaRPr lang="en-US" altLang="zh-CN" sz="3200" dirty="0">
              <a:solidFill>
                <a:srgbClr val="FF3300"/>
              </a:solidFill>
              <a:latin typeface="黑体" panose="02010609060101010101" pitchFamily="49" charset="-122"/>
              <a:ea typeface="黑体" panose="02010609060101010101" pitchFamily="49" charset="-122"/>
            </a:endParaRPr>
          </a:p>
        </p:txBody>
      </p:sp>
      <p:graphicFrame>
        <p:nvGraphicFramePr>
          <p:cNvPr id="139267" name="表格 139266"/>
          <p:cNvGraphicFramePr/>
          <p:nvPr/>
        </p:nvGraphicFramePr>
        <p:xfrm>
          <a:off x="581025" y="1500188"/>
          <a:ext cx="8154988" cy="4816475"/>
        </p:xfrm>
        <a:graphic>
          <a:graphicData uri="http://schemas.openxmlformats.org/drawingml/2006/table">
            <a:tbl>
              <a:tblPr/>
              <a:tblGrid>
                <a:gridCol w="1465263"/>
                <a:gridCol w="5384800"/>
                <a:gridCol w="1304925"/>
              </a:tblGrid>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操作              </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目的</a:t>
                      </a:r>
                      <a:endParaRPr lang="zh-CN" altLang="en-US" sz="24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符号</a:t>
                      </a:r>
                      <a:endParaRPr lang="zh-CN" altLang="en-US" sz="24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dirty="0">
                          <a:solidFill>
                            <a:srgbClr val="CC0000"/>
                          </a:solidFill>
                          <a:latin typeface="华文楷体" panose="02010600040101010101" pitchFamily="2" charset="-122"/>
                          <a:ea typeface="华文楷体" panose="02010600040101010101" pitchFamily="2" charset="-122"/>
                        </a:rPr>
                        <a:t>选择</a:t>
                      </a:r>
                      <a:endParaRPr lang="de-DE" altLang="en-US" sz="2400" b="0" dirty="0">
                        <a:solidFill>
                          <a:srgbClr val="CC0000"/>
                        </a:solidFill>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选出</a:t>
                      </a:r>
                      <a:r>
                        <a:rPr lang="en-US" altLang="zh-CN" sz="2200" b="0">
                          <a:latin typeface="华文楷体" panose="02010600040101010101" pitchFamily="2" charset="-122"/>
                          <a:ea typeface="华文楷体" panose="02010600040101010101" pitchFamily="2" charset="-122"/>
                        </a:rPr>
                        <a:t>R</a:t>
                      </a:r>
                      <a:r>
                        <a:rPr lang="zh-CN" altLang="en-US" sz="2200" b="0">
                          <a:latin typeface="华文楷体" panose="02010600040101010101" pitchFamily="2" charset="-122"/>
                          <a:ea typeface="华文楷体" panose="02010600040101010101" pitchFamily="2" charset="-122"/>
                        </a:rPr>
                        <a:t>中满足条件的所有行</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en-US" altLang="zh-CN" sz="2400">
                          <a:latin typeface="华文楷体" panose="02010600040101010101" pitchFamily="2" charset="-122"/>
                          <a:ea typeface="华文楷体" panose="02010600040101010101" pitchFamily="2" charset="-122"/>
                          <a:sym typeface="Symbol" panose="05050102010706020507" pitchFamily="18" charset="2"/>
                        </a:rPr>
                        <a:t></a:t>
                      </a:r>
                      <a:endParaRPr lang="zh-CN" altLang="en-US" sz="240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CC0000"/>
                          </a:solidFill>
                          <a:latin typeface="华文楷体" panose="02010600040101010101" pitchFamily="2" charset="-122"/>
                          <a:ea typeface="华文楷体" panose="02010600040101010101" pitchFamily="2" charset="-122"/>
                        </a:rPr>
                        <a:t>投影</a:t>
                      </a:r>
                      <a:endParaRPr lang="zh-CN" altLang="en-US" sz="2400" b="0">
                        <a:solidFill>
                          <a:srgbClr val="CC0000"/>
                        </a:solidFill>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产生一个新关系，它含有</a:t>
                      </a:r>
                      <a:r>
                        <a:rPr lang="en-US" altLang="zh-CN" sz="2200" b="0">
                          <a:latin typeface="华文楷体" panose="02010600040101010101" pitchFamily="2" charset="-122"/>
                          <a:ea typeface="华文楷体" panose="02010600040101010101" pitchFamily="2" charset="-122"/>
                        </a:rPr>
                        <a:t>R</a:t>
                      </a:r>
                      <a:r>
                        <a:rPr lang="zh-CN" altLang="en-US" sz="2200" b="0">
                          <a:latin typeface="华文楷体" panose="02010600040101010101" pitchFamily="2" charset="-122"/>
                          <a:ea typeface="华文楷体" panose="02010600040101010101" pitchFamily="2" charset="-122"/>
                        </a:rPr>
                        <a:t>的某些属性，并去除重复元组</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de-DE" altLang="en-US" sz="2400" dirty="0">
                        <a:latin typeface="华文楷体" panose="02010600040101010101" pitchFamily="2" charset="-122"/>
                        <a:ea typeface="华文楷体" panose="02010600040101010101" pitchFamily="2" charset="-122"/>
                        <a:sym typeface="Symbol" panose="05050102010706020507" pitchFamily="18" charset="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solidFill>
                            <a:srgbClr val="CC0000"/>
                          </a:solidFill>
                          <a:latin typeface="华文楷体" panose="02010600040101010101" pitchFamily="2" charset="-122"/>
                          <a:ea typeface="华文楷体" panose="02010600040101010101" pitchFamily="2" charset="-122"/>
                        </a:rPr>
                        <a:t>自然联结</a:t>
                      </a:r>
                      <a:endParaRPr lang="zh-CN" altLang="en-US" sz="2400" b="0">
                        <a:solidFill>
                          <a:srgbClr val="CC0000"/>
                        </a:solidFill>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用相同的属性名联结两个关系，然后去掉重复的属性</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endParaRPr lang="de-DE" altLang="en-US" sz="20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4572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集合并</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a:latin typeface="华文楷体" panose="02010600040101010101" pitchFamily="2" charset="-122"/>
                          <a:ea typeface="华文楷体" panose="02010600040101010101" pitchFamily="2" charset="-122"/>
                        </a:rPr>
                        <a:t>生成一个关系，包含了</a:t>
                      </a:r>
                      <a:r>
                        <a:rPr lang="en-US" altLang="zh-CN" sz="2200" b="0">
                          <a:latin typeface="华文楷体" panose="02010600040101010101" pitchFamily="2" charset="-122"/>
                          <a:ea typeface="华文楷体" panose="02010600040101010101" pitchFamily="2" charset="-122"/>
                        </a:rPr>
                        <a:t>R</a:t>
                      </a:r>
                      <a:r>
                        <a:rPr lang="zh-CN" altLang="en-US" sz="2200" b="0">
                          <a:latin typeface="华文楷体" panose="02010600040101010101" pitchFamily="2" charset="-122"/>
                          <a:ea typeface="华文楷体" panose="02010600040101010101" pitchFamily="2" charset="-122"/>
                        </a:rPr>
                        <a:t>和</a:t>
                      </a:r>
                      <a:r>
                        <a:rPr lang="en-US" altLang="zh-CN" sz="2200" b="0">
                          <a:latin typeface="华文楷体" panose="02010600040101010101" pitchFamily="2" charset="-122"/>
                          <a:ea typeface="华文楷体" panose="02010600040101010101" pitchFamily="2" charset="-122"/>
                        </a:rPr>
                        <a:t>S</a:t>
                      </a:r>
                      <a:r>
                        <a:rPr lang="zh-CN" altLang="en-US" sz="2200" b="0">
                          <a:latin typeface="华文楷体" panose="02010600040101010101" pitchFamily="2" charset="-122"/>
                          <a:ea typeface="华文楷体" panose="02010600040101010101" pitchFamily="2" charset="-122"/>
                        </a:rPr>
                        <a:t>中的所有元组</a:t>
                      </a:r>
                      <a:endParaRPr lang="zh-CN" altLang="en-US" sz="2200" b="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de-DE" altLang="en-US"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集合差</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dirty="0">
                          <a:latin typeface="华文楷体" panose="02010600040101010101" pitchFamily="2" charset="-122"/>
                          <a:ea typeface="华文楷体" panose="02010600040101010101" pitchFamily="2" charset="-122"/>
                        </a:rPr>
                        <a:t>生成一个关系，包含了在R但不在S中的所有元组</a:t>
                      </a:r>
                      <a:endParaRPr lang="de-DE" altLang="en-US" sz="22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dirty="0">
                          <a:latin typeface="华文楷体" panose="02010600040101010101" pitchFamily="2" charset="-122"/>
                          <a:ea typeface="华文楷体" panose="02010600040101010101" pitchFamily="2" charset="-122"/>
                        </a:rPr>
                        <a:t>-</a:t>
                      </a:r>
                      <a:endParaRPr lang="de-DE" altLang="en-US"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762000">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zh-CN" altLang="en-US" sz="2400" b="0">
                          <a:latin typeface="华文楷体" panose="02010600040101010101" pitchFamily="2" charset="-122"/>
                          <a:ea typeface="华文楷体" panose="02010600040101010101" pitchFamily="2" charset="-122"/>
                        </a:rPr>
                        <a:t>笛卡尔积</a:t>
                      </a:r>
                      <a:endParaRPr lang="zh-CN" altLang="en-US" sz="2400" b="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eaLnBrk="1" hangingPunct="1">
                        <a:spcBef>
                          <a:spcPct val="20000"/>
                        </a:spcBef>
                        <a:buClr>
                          <a:srgbClr val="000000"/>
                        </a:buClr>
                        <a:buFont typeface="Arial" panose="020B0604020202020204" pitchFamily="34" charset="0"/>
                        <a:buNone/>
                      </a:pPr>
                      <a:r>
                        <a:rPr lang="zh-CN" altLang="en-US" sz="2200" b="0" dirty="0">
                          <a:latin typeface="华文楷体" panose="02010600040101010101" pitchFamily="2" charset="-122"/>
                          <a:ea typeface="华文楷体" panose="02010600040101010101" pitchFamily="2" charset="-122"/>
                        </a:rPr>
                        <a:t>生成一个关系，具有R和S的属性，含R，S中元组的所有组合</a:t>
                      </a:r>
                      <a:endParaRPr lang="de-DE" altLang="en-US" sz="22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20000"/>
                        </a:spcBef>
                        <a:buClr>
                          <a:srgbClr val="000000"/>
                        </a:buClr>
                        <a:buFont typeface="Arial" panose="020B0604020202020204" pitchFamily="34" charset="0"/>
                        <a:buNone/>
                      </a:pPr>
                      <a:r>
                        <a:rPr lang="de-DE" altLang="en-US" sz="2400" dirty="0">
                          <a:latin typeface="华文楷体" panose="02010600040101010101" pitchFamily="2" charset="-122"/>
                          <a:ea typeface="华文楷体" panose="02010600040101010101" pitchFamily="2" charset="-122"/>
                          <a:sym typeface="Symbol" panose="05050102010706020507" pitchFamily="18" charset="2"/>
                        </a:rPr>
                        <a:t></a:t>
                      </a:r>
                      <a:endParaRPr lang="de-DE" altLang="en-US" sz="240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r h="396875">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en-US" altLang="zh-CN" sz="2000">
                          <a:latin typeface="华文楷体" panose="02010600040101010101" pitchFamily="2" charset="-122"/>
                          <a:ea typeface="华文楷体" panose="02010600040101010101" pitchFamily="2" charset="-122"/>
                        </a:rPr>
                        <a:t>…</a:t>
                      </a:r>
                      <a:endParaRPr lang="zh-CN" altLang="en-US" sz="2000">
                        <a:latin typeface="华文楷体" panose="02010600040101010101" pitchFamily="2" charset="-122"/>
                        <a:ea typeface="华文楷体" panose="02010600040101010101" pitchFamily="2" charset="-122"/>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a:t>
                      </a:r>
                      <a:endParaRPr lang="de-DE" altLang="en-US" sz="20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c>
                  <a:txBody>
                    <a:bodyPr/>
                    <a:lstStyle>
                      <a:lvl1pPr marL="342900" lvl="0" indent="-342900" algn="l" defTabSz="914400" eaLnBrk="0" fontAlgn="base" latinLnBrk="0" hangingPunct="0">
                        <a:lnSpc>
                          <a:spcPct val="100000"/>
                        </a:lnSpc>
                        <a:spcBef>
                          <a:spcPct val="20000"/>
                        </a:spcBef>
                        <a:spcAft>
                          <a:spcPct val="0"/>
                        </a:spcAft>
                        <a:buClr>
                          <a:srgbClr val="0033CC"/>
                        </a:buClr>
                        <a:buSzPct val="80000"/>
                        <a:buFont typeface="Wingdings" panose="05000000000000000000" pitchFamily="2" charset="2"/>
                        <a:buChar char="u"/>
                        <a:defRPr sz="1800" b="0" i="0" u="none" kern="1200" baseline="0">
                          <a:solidFill>
                            <a:schemeClr val="tx1"/>
                          </a:solidFill>
                          <a:latin typeface="Arial" panose="020B0604020202020204" pitchFamily="34" charset="0"/>
                          <a:ea typeface="宋体" panose="02010600030101010101" pitchFamily="2" charset="-122"/>
                        </a:defRPr>
                      </a:lvl1pPr>
                      <a:lvl2pPr marL="742950" lvl="1" indent="-285750" algn="l">
                        <a:buClr>
                          <a:schemeClr val="accent2"/>
                        </a:buClr>
                        <a:defRPr sz="2400" b="0" kern="1200"/>
                      </a:lvl2pPr>
                      <a:lvl3pPr marL="1143000" lvl="2" indent="-228600" algn="l">
                        <a:defRPr sz="1400" b="0" kern="1200"/>
                      </a:lvl3pPr>
                      <a:lvl4pPr marL="1600200" lvl="3" indent="-228600" algn="l">
                        <a:defRPr sz="1200" b="0" kern="1200"/>
                      </a:lvl4pPr>
                      <a:lvl5pPr marL="2057400" lvl="4" indent="-228600" algn="l">
                        <a:defRPr sz="1200" b="0" kern="1200"/>
                      </a:lvl5pPr>
                    </a:lstStyle>
                    <a:p>
                      <a:pPr marL="0" lvl="0" indent="0" algn="ctr" eaLnBrk="1" hangingPunct="1">
                        <a:spcBef>
                          <a:spcPct val="0"/>
                        </a:spcBef>
                        <a:buClr>
                          <a:srgbClr val="000000"/>
                        </a:buClr>
                        <a:buFont typeface="Arial" panose="020B0604020202020204" pitchFamily="34" charset="0"/>
                        <a:buNone/>
                      </a:pPr>
                      <a:r>
                        <a:rPr lang="zh-CN" altLang="en-US" sz="2000" dirty="0">
                          <a:latin typeface="华文楷体" panose="02010600040101010101" pitchFamily="2" charset="-122"/>
                          <a:ea typeface="华文楷体" panose="02010600040101010101" pitchFamily="2" charset="-122"/>
                        </a:rPr>
                        <a:t>…</a:t>
                      </a:r>
                      <a:endParaRPr lang="de-DE" altLang="en-US" sz="2000" b="0" dirty="0">
                        <a:latin typeface="华文楷体" panose="02010600040101010101" pitchFamily="2" charset="-122"/>
                        <a:ea typeface="华文楷体" panose="02010600040101010101" pitchFamily="2" charset="-122"/>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alpha val="100000"/>
                      </a:schemeClr>
                    </a:solidFill>
                  </a:tcPr>
                </a:tc>
              </a:tr>
            </a:tbl>
          </a:graphicData>
        </a:graphic>
      </p:graphicFrame>
      <p:grpSp>
        <p:nvGrpSpPr>
          <p:cNvPr id="189481" name="Group 41"/>
          <p:cNvGrpSpPr/>
          <p:nvPr/>
        </p:nvGrpSpPr>
        <p:grpSpPr>
          <a:xfrm>
            <a:off x="7967663" y="3397250"/>
            <a:ext cx="228600" cy="152400"/>
            <a:chOff x="0" y="0"/>
            <a:chExt cx="384" cy="288"/>
          </a:xfrm>
        </p:grpSpPr>
        <p:sp>
          <p:nvSpPr>
            <p:cNvPr id="189483" name="AutoShape 42"/>
            <p:cNvSpPr/>
            <p:nvPr/>
          </p:nvSpPr>
          <p:spPr>
            <a:xfrm rot="5505317">
              <a:off x="-48"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sp>
          <p:nvSpPr>
            <p:cNvPr id="189484" name="AutoShape 43"/>
            <p:cNvSpPr/>
            <p:nvPr/>
          </p:nvSpPr>
          <p:spPr>
            <a:xfrm rot="-5007422">
              <a:off x="144" y="48"/>
              <a:ext cx="288" cy="192"/>
            </a:xfrm>
            <a:prstGeom prst="triangle">
              <a:avLst>
                <a:gd name="adj" fmla="val 50000"/>
              </a:avLst>
            </a:prstGeom>
            <a:noFill/>
            <a:ln w="38100"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lnSpc>
                  <a:spcPct val="135000"/>
                </a:lnSpc>
                <a:spcBef>
                  <a:spcPct val="0"/>
                </a:spcBef>
                <a:buClrTx/>
                <a:buSzTx/>
                <a:buFont typeface="Arial" panose="020B0604020202020204" pitchFamily="34" charset="0"/>
                <a:buChar char="•"/>
              </a:pPr>
              <a:endParaRPr lang="zh-CN" altLang="en-US" sz="1800" dirty="0"/>
            </a:p>
          </p:txBody>
        </p:sp>
      </p:grpSp>
      <p:sp>
        <p:nvSpPr>
          <p:cNvPr id="189482" name="Rectangle 2"/>
          <p:cNvSpPr/>
          <p:nvPr/>
        </p:nvSpPr>
        <p:spPr>
          <a:xfrm>
            <a:off x="457200" y="68263"/>
            <a:ext cx="8229600" cy="692150"/>
          </a:xfrm>
          <a:prstGeom prst="rect">
            <a:avLst/>
          </a:prstGeom>
          <a:noFill/>
          <a:ln w="9525">
            <a:noFill/>
          </a:ln>
        </p:spPr>
        <p:txBody>
          <a:bodyPr anchor="ctr" anchorCtr="0"/>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600" dirty="0">
                <a:solidFill>
                  <a:srgbClr val="FF0000"/>
                </a:solidFill>
                <a:ea typeface="黑体" panose="02010609060101010101" pitchFamily="49" charset="-122"/>
              </a:rPr>
              <a:t>五、关系代数</a:t>
            </a:r>
            <a:r>
              <a:rPr lang="en-US" altLang="zh-CN" sz="3600" dirty="0">
                <a:solidFill>
                  <a:srgbClr val="FF0000"/>
                </a:solidFill>
                <a:ea typeface="黑体" panose="02010609060101010101" pitchFamily="49" charset="-122"/>
              </a:rPr>
              <a:t>--</a:t>
            </a:r>
            <a:r>
              <a:rPr lang="en-US" altLang="zh-CN" sz="2800" dirty="0">
                <a:solidFill>
                  <a:srgbClr val="0033CC"/>
                </a:solidFill>
                <a:ea typeface="黑体" panose="02010609060101010101" pitchFamily="49" charset="-122"/>
              </a:rPr>
              <a:t>(3)</a:t>
            </a:r>
            <a:r>
              <a:rPr lang="zh-CN" altLang="en-US" sz="2800" dirty="0">
                <a:solidFill>
                  <a:srgbClr val="0033CC"/>
                </a:solidFill>
                <a:ea typeface="黑体" panose="02010609060101010101" pitchFamily="49" charset="-122"/>
              </a:rPr>
              <a:t>关系代数式的写法</a:t>
            </a:r>
            <a:endParaRPr lang="zh-CN" altLang="en-US" sz="2800" dirty="0">
              <a:solidFill>
                <a:srgbClr val="0033CC"/>
              </a:solidFill>
              <a:ea typeface="黑体" panose="02010609060101010101" pitchFamily="49" charset="-122"/>
            </a:endParaRP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0466" name="Rectangle 3"/>
          <p:cNvSpPr txBox="1"/>
          <p:nvPr/>
        </p:nvSpPr>
        <p:spPr>
          <a:xfrm>
            <a:off x="381000" y="1001713"/>
            <a:ext cx="8458200" cy="5178425"/>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342900" lvl="0" indent="-342900" eaLnBrk="1" hangingPunct="1">
              <a:spcBef>
                <a:spcPct val="50000"/>
              </a:spcBef>
              <a:buFont typeface="Wingdings" panose="05000000000000000000" pitchFamily="2" charset="2"/>
              <a:buChar char="p"/>
            </a:pPr>
            <a:r>
              <a:rPr lang="zh-CN" altLang="en-US" sz="2400" dirty="0">
                <a:latin typeface="华文楷体" panose="02010600040101010101" pitchFamily="2" charset="-122"/>
              </a:rPr>
              <a:t>关系数据库模型</a:t>
            </a:r>
            <a:endParaRPr lang="zh-CN" altLang="en-US" sz="2400" dirty="0">
              <a:latin typeface="华文楷体" panose="02010600040101010101" pitchFamily="2"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关系（表），字段（列），元组（行），域，主键，外键</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关系模式的性质</a:t>
            </a:r>
            <a:endParaRPr lang="zh-CN" altLang="en-US" sz="2200" b="0" dirty="0">
              <a:latin typeface="楷体" panose="02010609060101010101" pitchFamily="49" charset="-122"/>
              <a:ea typeface="楷体" panose="02010609060101010101" pitchFamily="49"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完整性约束</a:t>
            </a:r>
            <a:endParaRPr lang="zh-CN" altLang="en-US" sz="2400" dirty="0">
              <a:latin typeface="华文楷体" panose="02010600040101010101" pitchFamily="2"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域约束、主键约束、唯一约束、外键约束</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SQL Server中的数据完整性约束</a:t>
            </a:r>
            <a:endParaRPr lang="zh-CN" altLang="en-US" sz="2200" b="0" dirty="0">
              <a:latin typeface="楷体" panose="02010609060101010101" pitchFamily="49" charset="-122"/>
              <a:ea typeface="楷体" panose="02010609060101010101" pitchFamily="49"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视图</a:t>
            </a:r>
            <a:endParaRPr lang="zh-CN" altLang="en-US" sz="2400" dirty="0">
              <a:latin typeface="华文楷体" panose="02010600040101010101" pitchFamily="2"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ER模型向关系数据库模型的转换</a:t>
            </a:r>
            <a:endParaRPr lang="zh-CN" altLang="en-US" sz="2400" dirty="0">
              <a:latin typeface="华文楷体" panose="02010600040101010101" pitchFamily="2" charset="-122"/>
            </a:endParaRPr>
          </a:p>
          <a:p>
            <a:pPr marL="342900" lvl="0" indent="-342900" eaLnBrk="1" hangingPunct="1">
              <a:spcBef>
                <a:spcPts val="600"/>
              </a:spcBef>
              <a:buFont typeface="Wingdings" panose="05000000000000000000" pitchFamily="2" charset="2"/>
              <a:buChar char="p"/>
            </a:pPr>
            <a:r>
              <a:rPr lang="zh-CN" altLang="en-US" sz="2400" dirty="0">
                <a:latin typeface="华文楷体" panose="02010600040101010101" pitchFamily="2" charset="-122"/>
              </a:rPr>
              <a:t>关系代数</a:t>
            </a:r>
            <a:endParaRPr lang="zh-CN" altLang="en-US" sz="2400" dirty="0">
              <a:latin typeface="华文楷体" panose="02010600040101010101" pitchFamily="2"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五个基本操作（选择、投影、集合并、几何差，集合积）</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自然联结</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关系代数式的构成</a:t>
            </a:r>
            <a:endParaRPr lang="zh-CN" altLang="en-US" sz="2200" b="0" dirty="0">
              <a:latin typeface="楷体" panose="02010609060101010101" pitchFamily="49" charset="-122"/>
              <a:ea typeface="楷体" panose="02010609060101010101" pitchFamily="49" charset="-122"/>
            </a:endParaRPr>
          </a:p>
          <a:p>
            <a:pPr marL="742950" lvl="1" indent="-285750" eaLnBrk="1" hangingPunct="1">
              <a:lnSpc>
                <a:spcPct val="110000"/>
              </a:lnSpc>
              <a:spcBef>
                <a:spcPct val="0"/>
              </a:spcBef>
              <a:buFont typeface="Arial" panose="020B0604020202020204" pitchFamily="34" charset="0"/>
              <a:buNone/>
            </a:pP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SPJ操作，关系代数的优化</a:t>
            </a:r>
            <a:endParaRPr lang="zh-CN" altLang="en-US" sz="2200" b="0" dirty="0">
              <a:latin typeface="楷体" panose="02010609060101010101" pitchFamily="49" charset="-122"/>
              <a:ea typeface="楷体" panose="02010609060101010101" pitchFamily="49" charset="-122"/>
            </a:endParaRPr>
          </a:p>
        </p:txBody>
      </p:sp>
      <p:sp>
        <p:nvSpPr>
          <p:cNvPr id="190467" name="Rectangle 4"/>
          <p:cNvSpPr txBox="1"/>
          <p:nvPr/>
        </p:nvSpPr>
        <p:spPr>
          <a:xfrm>
            <a:off x="530225" y="101600"/>
            <a:ext cx="8229600" cy="706438"/>
          </a:xfrm>
          <a:prstGeom prst="rect">
            <a:avLst/>
          </a:prstGeom>
          <a:noFill/>
          <a:ln w="9525">
            <a:noFill/>
          </a:ln>
        </p:spPr>
        <p:txBody>
          <a:bodyPr/>
          <a:lstStyle>
            <a:lvl1pPr marL="342900" indent="-342900" algn="l" rtl="0" eaLnBrk="0" fontAlgn="base" hangingPunct="0">
              <a:spcBef>
                <a:spcPct val="20000"/>
              </a:spcBef>
              <a:spcAft>
                <a:spcPct val="0"/>
              </a:spcAft>
              <a:buClr>
                <a:srgbClr val="0033CC"/>
              </a:buClr>
              <a:buSzPct val="80000"/>
              <a:buFont typeface="Wingdings" panose="05000000000000000000" pitchFamily="2" charset="2"/>
              <a:buChar char="u"/>
              <a:defRPr sz="2000" kern="1200">
                <a:solidFill>
                  <a:schemeClr val="tx1"/>
                </a:solidFill>
                <a:latin typeface="+mn-lt"/>
                <a:ea typeface="+mn-ea"/>
                <a:cs typeface="+mn-cs"/>
              </a:defRPr>
            </a:lvl1pPr>
            <a:lvl2pPr marL="742950" lvl="1" indent="-285750" algn="l" rtl="0" eaLnBrk="0" fontAlgn="base" hangingPunct="0">
              <a:spcBef>
                <a:spcPct val="20000"/>
              </a:spcBef>
              <a:spcAft>
                <a:spcPct val="0"/>
              </a:spcAft>
              <a:buClr>
                <a:schemeClr val="accent2"/>
              </a:buClr>
              <a:buSzPct val="70000"/>
              <a:buFont typeface="Wingdings" panose="05000000000000000000" pitchFamily="2" charset="2"/>
              <a:buChar char="l"/>
              <a:defRPr sz="2800" b="1" kern="1200">
                <a:solidFill>
                  <a:schemeClr val="tx1"/>
                </a:solidFill>
                <a:latin typeface="+mn-lt"/>
                <a:ea typeface="+mn-ea"/>
                <a:cs typeface="+mn-cs"/>
              </a:defRPr>
            </a:lvl2pPr>
            <a:lvl3pPr marL="1143000" lvl="2" indent="-228600" algn="l" rtl="0" eaLnBrk="0" fontAlgn="base" hangingPunct="0">
              <a:spcBef>
                <a:spcPct val="20000"/>
              </a:spcBef>
              <a:spcAft>
                <a:spcPct val="0"/>
              </a:spcAft>
              <a:buClr>
                <a:schemeClr val="accent2"/>
              </a:buClr>
              <a:buSzPct val="60000"/>
              <a:buFont typeface="Wingdings" panose="05000000000000000000" pitchFamily="2" charset="2"/>
              <a:buChar char="l"/>
              <a:defRPr sz="1600" b="1" kern="1200">
                <a:solidFill>
                  <a:schemeClr val="tx1"/>
                </a:solidFill>
                <a:latin typeface="+mn-lt"/>
                <a:ea typeface="+mn-ea"/>
                <a:cs typeface="+mn-cs"/>
              </a:defRPr>
            </a:lvl3pPr>
            <a:lvl4pPr marL="1600200" lvl="3"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4pPr>
            <a:lvl5pPr marL="2057400" lvl="4" indent="-228600" algn="l" rtl="0" eaLnBrk="0" fontAlgn="base" hangingPunct="0">
              <a:spcBef>
                <a:spcPct val="20000"/>
              </a:spcBef>
              <a:spcAft>
                <a:spcPct val="0"/>
              </a:spcAft>
              <a:buFont typeface="Wingdings" panose="05000000000000000000" pitchFamily="2" charset="2"/>
              <a:buChar char="»"/>
              <a:defRPr sz="1400" b="1" kern="1200">
                <a:solidFill>
                  <a:schemeClr val="tx1"/>
                </a:solidFill>
                <a:latin typeface="+mn-lt"/>
                <a:ea typeface="+mn-ea"/>
                <a:cs typeface="+mn-cs"/>
              </a:defRPr>
            </a:lvl5pPr>
          </a:lstStyle>
          <a:p>
            <a:pPr marL="0" lvl="0" indent="0" eaLnBrk="1" hangingPunct="1">
              <a:spcBef>
                <a:spcPct val="0"/>
              </a:spcBef>
              <a:buClrTx/>
              <a:buSzTx/>
              <a:buFont typeface="Arial" panose="020B0604020202020204" pitchFamily="34" charset="0"/>
              <a:buNone/>
            </a:pPr>
            <a:r>
              <a:rPr lang="zh-CN" altLang="en-US" sz="3200" dirty="0">
                <a:solidFill>
                  <a:srgbClr val="3333CC"/>
                </a:solidFill>
                <a:latin typeface="楷体_GB2312"/>
                <a:ea typeface="楷体_GB2312"/>
              </a:rPr>
              <a:t>本章小结</a:t>
            </a:r>
            <a:endParaRPr lang="de-DE" altLang="en-US" sz="3200" dirty="0">
              <a:solidFill>
                <a:srgbClr val="3333CC"/>
              </a:solidFill>
              <a:latin typeface="楷体_GB2312"/>
              <a:ea typeface="楷体_GB2312"/>
            </a:endParaRPr>
          </a:p>
        </p:txBody>
      </p:sp>
    </p:spTree>
  </p:cSld>
  <p:clrMapOvr>
    <a:masterClrMapping/>
  </p:clrMapOvr>
  <p:transition/>
</p:sld>
</file>

<file path=ppt/tags/tag1.xml><?xml version="1.0" encoding="utf-8"?>
<p:tagLst xmlns:p="http://schemas.openxmlformats.org/presentationml/2006/main">
  <p:tag name="REFSHAPE" val="681607852"/>
  <p:tag name="KSO_WM_UNIT_PLACING_PICTURE_USER_VIEWPORT" val="{&quot;height&quot;:4000,&quot;width&quot;:10610}"/>
</p:tagLst>
</file>

<file path=ppt/tags/tag2.xml><?xml version="1.0" encoding="utf-8"?>
<p:tagLst xmlns:p="http://schemas.openxmlformats.org/presentationml/2006/main">
  <p:tag name="REFSHAPE" val="1551062068"/>
  <p:tag name="KSO_WM_UNIT_PLACING_PICTURE_USER_VIEWPORT" val="{&quot;height&quot;:3920,&quot;width&quot;:10050}"/>
</p:tagLst>
</file>

<file path=ppt/theme/theme1.xml><?xml version="1.0" encoding="utf-8"?>
<a:theme xmlns:a="http://schemas.openxmlformats.org/drawingml/2006/main" name="1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2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默认设计模板">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5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Balance</Template>
  <TotalTime>0</TotalTime>
  <Words>53666</Words>
  <Application>WPS 演示</Application>
  <PresentationFormat/>
  <Paragraphs>7386</Paragraphs>
  <Slides>176</Slides>
  <Notes>5</Notes>
  <HiddenSlides>0</HiddenSlides>
  <MMClips>0</MMClips>
  <ScaleCrop>false</ScaleCrop>
  <HeadingPairs>
    <vt:vector size="8" baseType="variant">
      <vt:variant>
        <vt:lpstr>已用的字体</vt:lpstr>
      </vt:variant>
      <vt:variant>
        <vt:i4>28</vt:i4>
      </vt:variant>
      <vt:variant>
        <vt:lpstr>主题</vt:lpstr>
      </vt:variant>
      <vt:variant>
        <vt:i4>4</vt:i4>
      </vt:variant>
      <vt:variant>
        <vt:lpstr>嵌入 OLE 服务器</vt:lpstr>
      </vt:variant>
      <vt:variant>
        <vt:i4>8</vt:i4>
      </vt:variant>
      <vt:variant>
        <vt:lpstr>幻灯片标题</vt:lpstr>
      </vt:variant>
      <vt:variant>
        <vt:i4>176</vt:i4>
      </vt:variant>
    </vt:vector>
  </HeadingPairs>
  <TitlesOfParts>
    <vt:vector size="216" baseType="lpstr">
      <vt:lpstr>Arial</vt:lpstr>
      <vt:lpstr>宋体</vt:lpstr>
      <vt:lpstr>Wingdings</vt:lpstr>
      <vt:lpstr>黑体</vt:lpstr>
      <vt:lpstr>Times New Roman</vt:lpstr>
      <vt:lpstr>楷体_GB2312</vt:lpstr>
      <vt:lpstr>新宋体</vt:lpstr>
      <vt:lpstr>方正舒体</vt:lpstr>
      <vt:lpstr>Tahoma</vt:lpstr>
      <vt:lpstr>楷体</vt:lpstr>
      <vt:lpstr>华文楷体</vt:lpstr>
      <vt:lpstr>方正姚体</vt:lpstr>
      <vt:lpstr>仿宋</vt:lpstr>
      <vt:lpstr>+mn-ea</vt:lpstr>
      <vt:lpstr>ksdb</vt:lpstr>
      <vt:lpstr>Calibri</vt:lpstr>
      <vt:lpstr>Arial Unicode MS</vt:lpstr>
      <vt:lpstr>华文中宋</vt:lpstr>
      <vt:lpstr>Söhne</vt:lpstr>
      <vt:lpstr>Söhne Mono</vt:lpstr>
      <vt:lpstr>Wingdings 3</vt:lpstr>
      <vt:lpstr>Wingdings 2</vt:lpstr>
      <vt:lpstr>Symbol</vt:lpstr>
      <vt:lpstr>MingLiU</vt:lpstr>
      <vt:lpstr>MingLiU-ExtB</vt:lpstr>
      <vt:lpstr>微软雅黑</vt:lpstr>
      <vt:lpstr>Arial Unicode MS</vt:lpstr>
      <vt:lpstr>Wingdings</vt:lpstr>
      <vt:lpstr>1_默认设计模板</vt:lpstr>
      <vt:lpstr>2_默认设计模板</vt:lpstr>
      <vt:lpstr>3_默认设计模板</vt:lpstr>
      <vt:lpstr>5_默认设计模板</vt:lpstr>
      <vt:lpstr>Paint.Picture</vt:lpstr>
      <vt:lpstr>Word.Picture.8</vt:lpstr>
      <vt:lpstr>Word.Picture.8</vt:lpstr>
      <vt:lpstr>Word.Picture.8</vt:lpstr>
      <vt:lpstr>Word.Picture.8</vt:lpstr>
      <vt:lpstr>Word.Picture.8</vt:lpstr>
      <vt:lpstr>Word.Picture.8</vt:lpstr>
      <vt:lpstr>Word.Picture.8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王淑营</dc:creator>
  <cp:lastModifiedBy>王淑营</cp:lastModifiedBy>
  <cp:revision>2951</cp:revision>
  <dcterms:created xsi:type="dcterms:W3CDTF">2001-06-18T05:13:16Z</dcterms:created>
  <dcterms:modified xsi:type="dcterms:W3CDTF">2025-03-19T11:16:11Z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58163BA18DBC4D62B359A1A7E6B0B53E_13</vt:lpwstr>
  </property>
</Properties>
</file>