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64"/>
  </p:notesMasterIdLst>
  <p:sldIdLst>
    <p:sldId id="2232" r:id="rId4"/>
    <p:sldId id="1192" r:id="rId5"/>
    <p:sldId id="2075" r:id="rId6"/>
    <p:sldId id="2149" r:id="rId7"/>
    <p:sldId id="1193" r:id="rId8"/>
    <p:sldId id="2076" r:id="rId9"/>
    <p:sldId id="1196" r:id="rId10"/>
    <p:sldId id="1197" r:id="rId11"/>
    <p:sldId id="1203" r:id="rId12"/>
    <p:sldId id="2153" r:id="rId13"/>
    <p:sldId id="2154" r:id="rId14"/>
    <p:sldId id="1199" r:id="rId15"/>
    <p:sldId id="2181" r:id="rId16"/>
    <p:sldId id="2182" r:id="rId17"/>
    <p:sldId id="2077" r:id="rId18"/>
    <p:sldId id="2183" r:id="rId19"/>
    <p:sldId id="2184" r:id="rId20"/>
    <p:sldId id="1200" r:id="rId21"/>
    <p:sldId id="1204" r:id="rId22"/>
    <p:sldId id="1205" r:id="rId23"/>
    <p:sldId id="2078" r:id="rId24"/>
    <p:sldId id="1218" r:id="rId25"/>
    <p:sldId id="1219" r:id="rId26"/>
    <p:sldId id="1220" r:id="rId27"/>
    <p:sldId id="1221" r:id="rId28"/>
    <p:sldId id="1222" r:id="rId29"/>
    <p:sldId id="1223" r:id="rId30"/>
    <p:sldId id="1224" r:id="rId31"/>
    <p:sldId id="1225" r:id="rId32"/>
    <p:sldId id="2205" r:id="rId33"/>
    <p:sldId id="2206" r:id="rId34"/>
    <p:sldId id="2211" r:id="rId35"/>
    <p:sldId id="2208" r:id="rId36"/>
    <p:sldId id="2209" r:id="rId37"/>
    <p:sldId id="2210" r:id="rId38"/>
    <p:sldId id="1207" r:id="rId39"/>
    <p:sldId id="2079" r:id="rId40"/>
    <p:sldId id="1210" r:id="rId41"/>
    <p:sldId id="2199" r:id="rId42"/>
    <p:sldId id="2200" r:id="rId43"/>
    <p:sldId id="2201" r:id="rId44"/>
    <p:sldId id="2202" r:id="rId45"/>
    <p:sldId id="2203" r:id="rId46"/>
    <p:sldId id="2204" r:id="rId47"/>
    <p:sldId id="1214" r:id="rId48"/>
    <p:sldId id="2213" r:id="rId49"/>
    <p:sldId id="2214" r:id="rId50"/>
    <p:sldId id="2215" r:id="rId51"/>
    <p:sldId id="2216" r:id="rId52"/>
    <p:sldId id="2217" r:id="rId53"/>
    <p:sldId id="2212" r:id="rId54"/>
    <p:sldId id="2194" r:id="rId55"/>
    <p:sldId id="2196" r:id="rId56"/>
    <p:sldId id="2195" r:id="rId57"/>
    <p:sldId id="2197" r:id="rId58"/>
    <p:sldId id="2198" r:id="rId59"/>
    <p:sldId id="2190" r:id="rId60"/>
    <p:sldId id="2191" r:id="rId61"/>
    <p:sldId id="2192" r:id="rId62"/>
    <p:sldId id="2193" r:id="rId63"/>
  </p:sldIdLst>
  <p:sldSz cx="9144000" cy="6858000" type="screen4x3"/>
  <p:notesSz cx="6781800" cy="9926320"/>
  <p:custDataLst>
    <p:tags r:id="rId68"/>
  </p:custDataLst>
  <p:defaultTextStyle>
    <a:defPPr>
      <a:defRPr lang="zh-CN"/>
    </a:defPPr>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Arial" panose="020B0604020202020204" pitchFamily="34" charset="0"/>
        <a:ea typeface="宋体" panose="02010600030101010101" pitchFamily="2" charset="-122"/>
      </a:defRPr>
    </a:lvl9pPr>
  </p:defaultTextStyle>
  <p:extLst>
    <p:ext uri="{EFAFB233-063F-42B5-8137-9DF3F51BA10A}">
      <p15:sldGuideLst xmlns:p15="http://schemas.microsoft.com/office/powerpoint/2012/main">
        <p15:guide id="1" orient="horz" pos="508" userDrawn="1">
          <p15:clr>
            <a:srgbClr val="A4A3A4"/>
          </p15:clr>
        </p15:guide>
        <p15:guide id="2" pos="2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02C2"/>
    <a:srgbClr val="006600"/>
    <a:srgbClr val="D60093"/>
    <a:srgbClr val="FF9933"/>
    <a:srgbClr val="0033CC"/>
    <a:srgbClr val="FF3300"/>
    <a:srgbClr val="000099"/>
    <a:srgbClr val="CC0000"/>
    <a:srgbClr val="FFFFCC"/>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77" d="100"/>
          <a:sy n="77" d="100"/>
        </p:scale>
        <p:origin x="258" y="-6"/>
      </p:cViewPr>
      <p:guideLst>
        <p:guide orient="horz" pos="508"/>
        <p:guide pos="267"/>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8" Type="http://schemas.openxmlformats.org/officeDocument/2006/relationships/tags" Target="tags/tag2.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notesMaster" Target="notesMasters/notesMaster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7.wmf"/><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image" Target="../media/image2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p:cNvSpPr>
          <p:nvPr>
            <p:ph type="hdr" sz="quarter"/>
          </p:nvPr>
        </p:nvSpPr>
        <p:spPr>
          <a:xfrm>
            <a:off x="0" y="0"/>
            <a:ext cx="2938463" cy="496888"/>
          </a:xfrm>
          <a:prstGeom prst="rect">
            <a:avLst/>
          </a:prstGeom>
          <a:noFill/>
          <a:ln w="9525">
            <a:noFill/>
          </a:ln>
        </p:spPr>
        <p:txBody>
          <a:bodyPr/>
          <a:lstStyle/>
          <a:p>
            <a:pPr lvl="0" eaLnBrk="1" fontAlgn="base" hangingPunct="1"/>
            <a:endParaRPr lang="en-US" altLang="x-none" sz="1200" b="0" strike="noStrike" noProof="1">
              <a:latin typeface="Times New Roman" panose="02020603050405020304" pitchFamily="2" charset="0"/>
            </a:endParaRPr>
          </a:p>
        </p:txBody>
      </p:sp>
      <p:sp>
        <p:nvSpPr>
          <p:cNvPr id="3075" name="Rectangle 3"/>
          <p:cNvSpPr>
            <a:spLocks noGrp="1"/>
          </p:cNvSpPr>
          <p:nvPr>
            <p:ph type="dt" idx="1"/>
          </p:nvPr>
        </p:nvSpPr>
        <p:spPr>
          <a:xfrm>
            <a:off x="3843338" y="0"/>
            <a:ext cx="2938463" cy="496888"/>
          </a:xfrm>
          <a:prstGeom prst="rect">
            <a:avLst/>
          </a:prstGeom>
          <a:noFill/>
          <a:ln w="9525">
            <a:noFill/>
          </a:ln>
        </p:spPr>
        <p:txBody>
          <a:bodyPr/>
          <a:lstStyle/>
          <a:p>
            <a:pPr lvl="0" algn="r" eaLnBrk="1" fontAlgn="base" hangingPunct="1"/>
            <a:endParaRPr lang="en-US" altLang="x-none" sz="1200" b="0" strike="noStrike" noProof="1">
              <a:latin typeface="Times New Roman" panose="02020603050405020304" pitchFamily="2" charset="0"/>
            </a:endParaRPr>
          </a:p>
        </p:txBody>
      </p:sp>
      <p:sp>
        <p:nvSpPr>
          <p:cNvPr id="3076" name="Rectangle 4"/>
          <p:cNvSpPr>
            <a:spLocks noGrp="1" noRot="1" noChangeAspect="1"/>
          </p:cNvSpPr>
          <p:nvPr>
            <p:ph type="sldImg"/>
          </p:nvPr>
        </p:nvSpPr>
        <p:spPr>
          <a:xfrm>
            <a:off x="909638" y="744538"/>
            <a:ext cx="4964112" cy="3722687"/>
          </a:xfrm>
          <a:prstGeom prst="rect">
            <a:avLst/>
          </a:prstGeom>
          <a:noFill/>
          <a:ln w="9525">
            <a:noFill/>
          </a:ln>
        </p:spPr>
      </p:sp>
      <p:sp>
        <p:nvSpPr>
          <p:cNvPr id="3077" name="Rectangle 5"/>
          <p:cNvSpPr>
            <a:spLocks noGrp="1"/>
          </p:cNvSpPr>
          <p:nvPr>
            <p:ph type="body" sz="quarter"/>
          </p:nvPr>
        </p:nvSpPr>
        <p:spPr>
          <a:xfrm>
            <a:off x="904875" y="4714875"/>
            <a:ext cx="4972050" cy="4467225"/>
          </a:xfrm>
          <a:prstGeom prst="rect">
            <a:avLst/>
          </a:prstGeom>
          <a:noFill/>
          <a:ln w="9525">
            <a:noFill/>
          </a:ln>
        </p:spPr>
        <p:txBody>
          <a:bodyPr anchor="t"/>
          <a:lstStyle/>
          <a:p>
            <a:pPr lvl="0" indent="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3078" name="Rectangle 6"/>
          <p:cNvSpPr>
            <a:spLocks noGrp="1"/>
          </p:cNvSpPr>
          <p:nvPr>
            <p:ph type="ftr" sz="quarter" idx="4"/>
          </p:nvPr>
        </p:nvSpPr>
        <p:spPr>
          <a:xfrm>
            <a:off x="0" y="9429750"/>
            <a:ext cx="2938463" cy="496888"/>
          </a:xfrm>
          <a:prstGeom prst="rect">
            <a:avLst/>
          </a:prstGeom>
          <a:noFill/>
          <a:ln w="9525">
            <a:noFill/>
          </a:ln>
        </p:spPr>
        <p:txBody>
          <a:bodyPr anchor="b"/>
          <a:lstStyle/>
          <a:p>
            <a:pPr lvl="0" eaLnBrk="1" fontAlgn="base" hangingPunct="1"/>
            <a:endParaRPr lang="en-US" altLang="x-none" sz="1200" b="0" strike="noStrike" noProof="1">
              <a:latin typeface="Times New Roman" panose="02020603050405020304" pitchFamily="2" charset="0"/>
            </a:endParaRPr>
          </a:p>
        </p:txBody>
      </p:sp>
      <p:sp>
        <p:nvSpPr>
          <p:cNvPr id="3079" name="Rectangle 7"/>
          <p:cNvSpPr>
            <a:spLocks noGrp="1"/>
          </p:cNvSpPr>
          <p:nvPr>
            <p:ph type="sldNum" sz="quarter" idx="5"/>
          </p:nvPr>
        </p:nvSpPr>
        <p:spPr>
          <a:xfrm>
            <a:off x="3843338" y="9429750"/>
            <a:ext cx="2938463" cy="496888"/>
          </a:xfrm>
          <a:prstGeom prst="rect">
            <a:avLst/>
          </a:prstGeom>
          <a:noFill/>
          <a:ln w="9525">
            <a:noFill/>
          </a:ln>
        </p:spPr>
        <p:txBody>
          <a:bodyPr anchor="b"/>
          <a:lstStyle/>
          <a:p>
            <a:pPr lvl="0" algn="r" eaLnBrk="1" fontAlgn="base" hangingPunct="1"/>
            <a:fld id="{9A0DB2DC-4C9A-4742-B13C-FB6460FD3503}" type="slidenum">
              <a:rPr lang="en-US" altLang="x-none" sz="1200" b="0" strike="noStrike" noProof="1" dirty="0">
                <a:latin typeface="Times New Roman" panose="02020603050405020304" pitchFamily="2" charset="0"/>
                <a:ea typeface="宋体" panose="02010600030101010101" pitchFamily="2" charset="-122"/>
                <a:cs typeface="+mn-ea"/>
              </a:rPr>
            </a:fld>
            <a:endParaRPr lang="en-US" altLang="x-none" sz="1200" b="0" strike="noStrike" noProof="1">
              <a:latin typeface="Times New Roman" panose="02020603050405020304" pitchFamily="2" charset="0"/>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2pPr>
    <a:lvl3pPr marL="914400" lvl="2"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3pPr>
    <a:lvl4pPr marL="1371600" lvl="3"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4pPr>
    <a:lvl5pPr marL="1828800" lvl="4"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996950"/>
            <a:ext cx="4032504" cy="512921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144463"/>
            <a:ext cx="6052930" cy="59817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1026" name="Rectangle 9"/>
          <p:cNvSpPr/>
          <p:nvPr/>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lnSpc>
                <a:spcPct val="135000"/>
              </a:lnSpc>
              <a:buChar char="•"/>
            </a:pPr>
            <a:endParaRPr lang="zh-CN" altLang="en-US" dirty="0">
              <a:latin typeface="Arial" panose="020B0604020202020204" pitchFamily="34" charset="0"/>
              <a:ea typeface="宋体" panose="02010600030101010101" pitchFamily="2" charset="-122"/>
            </a:endParaRPr>
          </a:p>
        </p:txBody>
      </p:sp>
      <p:sp>
        <p:nvSpPr>
          <p:cNvPr id="1028" name="Rectangle 10"/>
          <p:cNvSpPr/>
          <p:nvPr/>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lnSpc>
                <a:spcPct val="135000"/>
              </a:lnSpc>
              <a:buChar char="•"/>
            </a:pPr>
            <a:endParaRPr lang="zh-CN" altLang="en-US" dirty="0">
              <a:latin typeface="Arial" panose="020B0604020202020204" pitchFamily="34" charset="0"/>
              <a:ea typeface="宋体" panose="02010600030101010101" pitchFamily="2" charset="-122"/>
            </a:endParaRPr>
          </a:p>
        </p:txBody>
      </p:sp>
      <p:sp>
        <p:nvSpPr>
          <p:cNvPr id="1029" name="Rectangle 11"/>
          <p:cNvSpPr/>
          <p:nvPr/>
        </p:nvSpPr>
        <p:spPr>
          <a:xfrm>
            <a:off x="8178800" y="6511925"/>
            <a:ext cx="889000" cy="269875"/>
          </a:xfrm>
          <a:prstGeom prst="rect">
            <a:avLst/>
          </a:prstGeom>
          <a:noFill/>
          <a:ln w="9525">
            <a:noFill/>
          </a:ln>
        </p:spPr>
        <p:txBody>
          <a:bodyPr anchor="t"/>
          <a:lstStyle/>
          <a:p>
            <a:pPr lvl="0" indent="0" algn="r"/>
            <a:fld id="{9A0DB2DC-4C9A-4742-B13C-FB6460FD3503}" type="slidenum">
              <a:rPr lang="en-US" altLang="x-none" sz="1400" b="0" dirty="0">
                <a:solidFill>
                  <a:schemeClr val="bg1"/>
                </a:solidFill>
                <a:latin typeface="Arial" panose="020B0604020202020204" pitchFamily="34" charset="0"/>
                <a:ea typeface="楷体_GB2312"/>
              </a:rPr>
            </a:fld>
            <a:endParaRPr lang="en-US" altLang="x-none" sz="1400" b="0" dirty="0">
              <a:solidFill>
                <a:schemeClr val="bg1"/>
              </a:solidFill>
              <a:latin typeface="Arial" panose="020B0604020202020204" pitchFamily="34" charset="0"/>
              <a:ea typeface="楷体_GB2312"/>
            </a:endParaRPr>
          </a:p>
        </p:txBody>
      </p:sp>
      <p:sp>
        <p:nvSpPr>
          <p:cNvPr id="1030"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31" name="Rectangle 15"/>
          <p:cNvSpPr>
            <a:spLocks noGrp="1"/>
          </p:cNvSpPr>
          <p:nvPr>
            <p:ph type="title"/>
          </p:nvPr>
        </p:nvSpPr>
        <p:spPr>
          <a:xfrm>
            <a:off x="457200" y="144463"/>
            <a:ext cx="8229600" cy="577850"/>
          </a:xfrm>
          <a:prstGeom prst="rect">
            <a:avLst/>
          </a:prstGeom>
          <a:noFill/>
          <a:ln w="9525">
            <a:noFill/>
          </a:ln>
        </p:spPr>
        <p:txBody>
          <a:bodyPr anchor="ctr"/>
          <a:lstStyle/>
          <a:p>
            <a:pPr lvl="0" indent="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a:xfrm>
          <a:off x="0" y="0"/>
          <a:ext cx="0" cy="0"/>
          <a:chOff x="0" y="0"/>
          <a:chExt cx="0" cy="0"/>
        </a:xfrm>
      </p:grpSpPr>
      <p:sp>
        <p:nvSpPr>
          <p:cNvPr id="1026" name="Rectangle 9"/>
          <p:cNvSpPr/>
          <p:nvPr/>
        </p:nvSpPr>
        <p:spPr>
          <a:xfrm>
            <a:off x="-12700" y="6489700"/>
            <a:ext cx="9156700" cy="368300"/>
          </a:xfrm>
          <a:prstGeom prst="rect">
            <a:avLst/>
          </a:prstGeom>
          <a:solidFill>
            <a:schemeClr val="accent2">
              <a:alpha val="81000"/>
            </a:schemeClr>
          </a:solidFill>
          <a:ln w="9525" cap="flat" cmpd="sng">
            <a:solidFill>
              <a:schemeClr val="tx1"/>
            </a:solidFill>
            <a:prstDash val="solid"/>
            <a:miter/>
            <a:headEnd type="none" w="med" len="med"/>
            <a:tailEnd type="none" w="med" len="med"/>
          </a:ln>
        </p:spPr>
        <p:txBody>
          <a:bodyPr wrap="none" anchor="ctr"/>
          <a:lstStyle/>
          <a:p>
            <a:pPr lvl="0" indent="0">
              <a:lnSpc>
                <a:spcPct val="135000"/>
              </a:lnSpc>
              <a:buChar char="•"/>
            </a:pPr>
            <a:endParaRPr lang="zh-CN" altLang="en-US" dirty="0">
              <a:latin typeface="Arial" panose="020B0604020202020204" pitchFamily="34" charset="0"/>
              <a:ea typeface="宋体" panose="02010600030101010101" pitchFamily="2" charset="-122"/>
            </a:endParaRPr>
          </a:p>
        </p:txBody>
      </p:sp>
      <p:sp>
        <p:nvSpPr>
          <p:cNvPr id="1028" name="Rectangle 10"/>
          <p:cNvSpPr/>
          <p:nvPr/>
        </p:nvSpPr>
        <p:spPr>
          <a:xfrm>
            <a:off x="282575" y="774700"/>
            <a:ext cx="8582025" cy="50800"/>
          </a:xfrm>
          <a:prstGeom prst="rect">
            <a:avLst/>
          </a:prstGeom>
          <a:gradFill rotWithShape="1">
            <a:gsLst>
              <a:gs pos="0">
                <a:srgbClr val="FFFF00"/>
              </a:gs>
              <a:gs pos="50000">
                <a:srgbClr val="FF0066"/>
              </a:gs>
              <a:gs pos="100000">
                <a:srgbClr val="FFFF00"/>
              </a:gs>
            </a:gsLst>
            <a:lin ang="0" scaled="1"/>
            <a:tileRect/>
          </a:gradFill>
          <a:ln w="9525">
            <a:noFill/>
          </a:ln>
        </p:spPr>
        <p:txBody>
          <a:bodyPr wrap="none" anchor="ctr"/>
          <a:lstStyle/>
          <a:p>
            <a:pPr lvl="0" indent="0">
              <a:lnSpc>
                <a:spcPct val="135000"/>
              </a:lnSpc>
              <a:buChar char="•"/>
            </a:pPr>
            <a:endParaRPr lang="zh-CN" altLang="en-US" dirty="0">
              <a:latin typeface="Arial" panose="020B0604020202020204" pitchFamily="34" charset="0"/>
              <a:ea typeface="宋体" panose="02010600030101010101" pitchFamily="2" charset="-122"/>
            </a:endParaRPr>
          </a:p>
        </p:txBody>
      </p:sp>
      <p:sp>
        <p:nvSpPr>
          <p:cNvPr id="1029" name="Rectangle 11"/>
          <p:cNvSpPr/>
          <p:nvPr/>
        </p:nvSpPr>
        <p:spPr>
          <a:xfrm>
            <a:off x="8178800" y="6511925"/>
            <a:ext cx="889000" cy="269875"/>
          </a:xfrm>
          <a:prstGeom prst="rect">
            <a:avLst/>
          </a:prstGeom>
          <a:noFill/>
          <a:ln w="9525">
            <a:noFill/>
          </a:ln>
        </p:spPr>
        <p:txBody>
          <a:bodyPr anchor="t"/>
          <a:lstStyle/>
          <a:p>
            <a:pPr lvl="0" indent="0" algn="r"/>
            <a:fld id="{9A0DB2DC-4C9A-4742-B13C-FB6460FD3503}" type="slidenum">
              <a:rPr lang="en-US" altLang="x-none" sz="1400" b="0" dirty="0">
                <a:solidFill>
                  <a:schemeClr val="bg1"/>
                </a:solidFill>
                <a:latin typeface="Arial" panose="020B0604020202020204" pitchFamily="34" charset="0"/>
                <a:ea typeface="楷体_GB2312"/>
              </a:rPr>
            </a:fld>
            <a:endParaRPr lang="en-US" altLang="x-none" sz="1400" b="0" dirty="0">
              <a:solidFill>
                <a:schemeClr val="bg1"/>
              </a:solidFill>
              <a:latin typeface="Arial" panose="020B0604020202020204" pitchFamily="34" charset="0"/>
              <a:ea typeface="楷体_GB2312"/>
            </a:endParaRPr>
          </a:p>
        </p:txBody>
      </p:sp>
      <p:sp>
        <p:nvSpPr>
          <p:cNvPr id="1030" name="Rectangle 14"/>
          <p:cNvSpPr>
            <a:spLocks noGrp="1"/>
          </p:cNvSpPr>
          <p:nvPr>
            <p:ph type="body"/>
          </p:nvPr>
        </p:nvSpPr>
        <p:spPr>
          <a:xfrm>
            <a:off x="457200" y="996950"/>
            <a:ext cx="8229600" cy="5129213"/>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31" name="Rectangle 15"/>
          <p:cNvSpPr>
            <a:spLocks noGrp="1"/>
          </p:cNvSpPr>
          <p:nvPr>
            <p:ph type="title"/>
          </p:nvPr>
        </p:nvSpPr>
        <p:spPr>
          <a:xfrm>
            <a:off x="457200" y="144463"/>
            <a:ext cx="8229600" cy="577850"/>
          </a:xfrm>
          <a:prstGeom prst="rect">
            <a:avLst/>
          </a:prstGeom>
          <a:noFill/>
          <a:ln w="9525">
            <a:noFill/>
          </a:ln>
        </p:spPr>
        <p:txBody>
          <a:bodyPr anchor="ctr"/>
          <a:lstStyle/>
          <a:p>
            <a:pPr lvl="0" indent="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p:hf sldNum="0" hdr="0" ftr="0" dt="0"/>
  <p:txStyles>
    <p:titleStyle>
      <a:lvl1pPr marL="0" lvl="0" indent="0" algn="l" defTabSz="914400" eaLnBrk="0" fontAlgn="base" latinLnBrk="0" hangingPunct="0">
        <a:lnSpc>
          <a:spcPct val="100000"/>
        </a:lnSpc>
        <a:spcBef>
          <a:spcPct val="0"/>
        </a:spcBef>
        <a:spcAft>
          <a:spcPct val="0"/>
        </a:spcAft>
        <a:buClr>
          <a:srgbClr val="000000"/>
        </a:buClr>
        <a:buNone/>
        <a:defRPr sz="3200" b="1" i="0" u="none" kern="1200" baseline="0">
          <a:solidFill>
            <a:srgbClr val="3333CC"/>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2000" b="1"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sz="2800" b="1"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lr>
          <a:schemeClr val="accent2"/>
        </a:buClr>
        <a:buSzPct val="60000"/>
        <a:buFont typeface="Wingdings" panose="05000000000000000000" pitchFamily="2" charset="2"/>
        <a:buChar char="l"/>
        <a:defRPr sz="1600" b="1"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wmf"/></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8.xml"/><Relationship Id="rId2" Type="http://schemas.openxmlformats.org/officeDocument/2006/relationships/image" Target="../media/image3.e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8.xml"/><Relationship Id="rId8" Type="http://schemas.openxmlformats.org/officeDocument/2006/relationships/image" Target="../media/image7.wmf"/><Relationship Id="rId7" Type="http://schemas.openxmlformats.org/officeDocument/2006/relationships/oleObject" Target="../embeddings/oleObject5.bin"/><Relationship Id="rId6" Type="http://schemas.openxmlformats.org/officeDocument/2006/relationships/image" Target="../media/image6.wmf"/><Relationship Id="rId5" Type="http://schemas.openxmlformats.org/officeDocument/2006/relationships/oleObject" Target="../embeddings/oleObject4.bin"/><Relationship Id="rId4" Type="http://schemas.openxmlformats.org/officeDocument/2006/relationships/image" Target="../media/image5.wmf"/><Relationship Id="rId3" Type="http://schemas.openxmlformats.org/officeDocument/2006/relationships/oleObject" Target="../embeddings/oleObject3.bin"/><Relationship Id="rId2" Type="http://schemas.openxmlformats.org/officeDocument/2006/relationships/image" Target="../media/image4.wmf"/><Relationship Id="rId10" Type="http://schemas.openxmlformats.org/officeDocument/2006/relationships/vmlDrawing" Target="../drawings/vmlDrawing2.vml"/><Relationship Id="rId1"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8.xml"/><Relationship Id="rId7" Type="http://schemas.openxmlformats.org/officeDocument/2006/relationships/image" Target="../media/image15.wmf"/><Relationship Id="rId6" Type="http://schemas.openxmlformats.org/officeDocument/2006/relationships/oleObject" Target="../embeddings/oleObject8.bin"/><Relationship Id="rId5" Type="http://schemas.openxmlformats.org/officeDocument/2006/relationships/image" Target="../media/image14.wmf"/><Relationship Id="rId4" Type="http://schemas.openxmlformats.org/officeDocument/2006/relationships/oleObject" Target="../embeddings/oleObject7.bin"/><Relationship Id="rId3" Type="http://schemas.openxmlformats.org/officeDocument/2006/relationships/image" Target="../media/image13.png"/><Relationship Id="rId2" Type="http://schemas.openxmlformats.org/officeDocument/2006/relationships/image" Target="../media/image12.wmf"/><Relationship Id="rId1"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8.xml"/><Relationship Id="rId2" Type="http://schemas.openxmlformats.org/officeDocument/2006/relationships/image" Target="../media/image16.emf"/><Relationship Id="rId1" Type="http://schemas.openxmlformats.org/officeDocument/2006/relationships/oleObject" Target="../embeddings/oleObject9.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8.xml"/><Relationship Id="rId2" Type="http://schemas.openxmlformats.org/officeDocument/2006/relationships/image" Target="../media/image17.emf"/><Relationship Id="rId1" Type="http://schemas.openxmlformats.org/officeDocument/2006/relationships/oleObject" Target="../embeddings/oleObject10.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8.xml"/><Relationship Id="rId2" Type="http://schemas.openxmlformats.org/officeDocument/2006/relationships/image" Target="../media/image18.wmf"/><Relationship Id="rId1" Type="http://schemas.openxmlformats.org/officeDocument/2006/relationships/oleObject" Target="../embeddings/oleObject11.bin"/></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20.png"/><Relationship Id="rId1"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8.xml"/><Relationship Id="rId3" Type="http://schemas.openxmlformats.org/officeDocument/2006/relationships/image" Target="../media/image22.png"/><Relationship Id="rId2" Type="http://schemas.openxmlformats.org/officeDocument/2006/relationships/image" Target="../media/image21.emf"/><Relationship Id="rId1" Type="http://schemas.openxmlformats.org/officeDocument/2006/relationships/oleObject" Target="../embeddings/oleObject12.bin"/></Relationships>
</file>

<file path=ppt/slides/_rels/slide37.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8.xml"/><Relationship Id="rId6" Type="http://schemas.openxmlformats.org/officeDocument/2006/relationships/image" Target="../media/image25.emf"/><Relationship Id="rId5" Type="http://schemas.openxmlformats.org/officeDocument/2006/relationships/oleObject" Target="../embeddings/oleObject15.bin"/><Relationship Id="rId4" Type="http://schemas.openxmlformats.org/officeDocument/2006/relationships/image" Target="../media/image24.emf"/><Relationship Id="rId3" Type="http://schemas.openxmlformats.org/officeDocument/2006/relationships/oleObject" Target="../embeddings/oleObject14.bin"/><Relationship Id="rId2" Type="http://schemas.openxmlformats.org/officeDocument/2006/relationships/image" Target="../media/image23.emf"/><Relationship Id="rId1" Type="http://schemas.openxmlformats.org/officeDocument/2006/relationships/oleObject" Target="../embeddings/oleObject13.bin"/></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8.xml"/><Relationship Id="rId2" Type="http://schemas.openxmlformats.org/officeDocument/2006/relationships/image" Target="../media/image26.wmf"/><Relationship Id="rId1" Type="http://schemas.openxmlformats.org/officeDocument/2006/relationships/oleObject" Target="../embeddings/oleObject16.bin"/></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40.xml.rels><?xml version="1.0" encoding="UTF-8" standalone="yes"?>
<Relationships xmlns="http://schemas.openxmlformats.org/package/2006/relationships"><Relationship Id="rId7"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41.xml.rels><?xml version="1.0" encoding="UTF-8" standalone="yes"?>
<Relationships xmlns="http://schemas.openxmlformats.org/package/2006/relationships"><Relationship Id="rId7" Type="http://schemas.openxmlformats.org/officeDocument/2006/relationships/slideLayout" Target="../slideLayouts/slideLayout8.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42.xml.rels><?xml version="1.0" encoding="UTF-8" standalone="yes"?>
<Relationships xmlns="http://schemas.openxmlformats.org/package/2006/relationships"><Relationship Id="rId7" Type="http://schemas.openxmlformats.org/officeDocument/2006/relationships/slideLayout" Target="../slideLayouts/slideLayout8.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48.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53.png"/><Relationship Id="rId1" Type="http://schemas.openxmlformats.org/officeDocument/2006/relationships/image" Target="../media/image52.png"/></Relationships>
</file>

<file path=ppt/slides/_rels/slide45.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8.xml"/><Relationship Id="rId2" Type="http://schemas.openxmlformats.org/officeDocument/2006/relationships/image" Target="../media/image54.wmf"/><Relationship Id="rId1" Type="http://schemas.openxmlformats.org/officeDocument/2006/relationships/oleObject" Target="../embeddings/oleObject17.bin"/></Relationships>
</file>

<file path=ppt/slides/_rels/slide46.xml.rels><?xml version="1.0" encoding="UTF-8" standalone="yes"?>
<Relationships xmlns="http://schemas.openxmlformats.org/package/2006/relationships"><Relationship Id="rId7" Type="http://schemas.openxmlformats.org/officeDocument/2006/relationships/slideLayout" Target="../slideLayouts/slideLayout8.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47.xml.rels><?xml version="1.0" encoding="UTF-8" standalone="yes"?>
<Relationships xmlns="http://schemas.openxmlformats.org/package/2006/relationships"><Relationship Id="rId7" Type="http://schemas.openxmlformats.org/officeDocument/2006/relationships/slideLayout" Target="../slideLayouts/slideLayout8.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61.png"/></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67.png"/></Relationships>
</file>

<file path=ppt/slides/_rels/slide49.xml.rels><?xml version="1.0" encoding="UTF-8" standalone="yes"?>
<Relationships xmlns="http://schemas.openxmlformats.org/package/2006/relationships"><Relationship Id="rId9" Type="http://schemas.openxmlformats.org/officeDocument/2006/relationships/image" Target="../media/image79.png"/><Relationship Id="rId8" Type="http://schemas.openxmlformats.org/officeDocument/2006/relationships/image" Target="../media/image78.png"/><Relationship Id="rId7" Type="http://schemas.openxmlformats.org/officeDocument/2006/relationships/image" Target="../media/image77.png"/><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 Id="rId3" Type="http://schemas.openxmlformats.org/officeDocument/2006/relationships/image" Target="../media/image73.png"/><Relationship Id="rId2" Type="http://schemas.openxmlformats.org/officeDocument/2006/relationships/image" Target="../media/image72.png"/><Relationship Id="rId13" Type="http://schemas.openxmlformats.org/officeDocument/2006/relationships/slideLayout" Target="../slideLayouts/slideLayout8.xml"/><Relationship Id="rId12" Type="http://schemas.openxmlformats.org/officeDocument/2006/relationships/image" Target="../media/image82.png"/><Relationship Id="rId11" Type="http://schemas.openxmlformats.org/officeDocument/2006/relationships/image" Target="../media/image81.png"/><Relationship Id="rId10" Type="http://schemas.openxmlformats.org/officeDocument/2006/relationships/image" Target="../media/image80.png"/><Relationship Id="rId1" Type="http://schemas.openxmlformats.org/officeDocument/2006/relationships/image" Target="../media/image71.png"/></Relationships>
</file>

<file path=ppt/slides/_rels/slide50.xml.rels><?xml version="1.0" encoding="UTF-8" standalone="yes"?>
<Relationships xmlns="http://schemas.openxmlformats.org/package/2006/relationships"><Relationship Id="rId9" Type="http://schemas.openxmlformats.org/officeDocument/2006/relationships/image" Target="../media/image91.png"/><Relationship Id="rId8" Type="http://schemas.openxmlformats.org/officeDocument/2006/relationships/image" Target="../media/image90.png"/><Relationship Id="rId7" Type="http://schemas.openxmlformats.org/officeDocument/2006/relationships/image" Target="../media/image89.png"/><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 Id="rId3" Type="http://schemas.openxmlformats.org/officeDocument/2006/relationships/image" Target="../media/image85.png"/><Relationship Id="rId2" Type="http://schemas.openxmlformats.org/officeDocument/2006/relationships/image" Target="../media/image84.png"/><Relationship Id="rId10" Type="http://schemas.openxmlformats.org/officeDocument/2006/relationships/slideLayout" Target="../slideLayouts/slideLayout8.xml"/><Relationship Id="rId1" Type="http://schemas.openxmlformats.org/officeDocument/2006/relationships/image" Target="../media/image8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92.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AutoShape 51"/>
          <p:cNvSpPr/>
          <p:nvPr/>
        </p:nvSpPr>
        <p:spPr>
          <a:xfrm>
            <a:off x="1317625" y="1441450"/>
            <a:ext cx="6870700" cy="1586230"/>
          </a:xfrm>
          <a:prstGeom prst="roundRect">
            <a:avLst>
              <a:gd name="adj" fmla="val 50000"/>
            </a:avLst>
          </a:prstGeom>
          <a:solidFill>
            <a:srgbClr val="99CCFF"/>
          </a:solidFill>
          <a:ln w="28575" cap="flat" cmpd="sng">
            <a:solidFill>
              <a:srgbClr val="C0C0C0"/>
            </a:solidFill>
            <a:prstDash val="solid"/>
            <a:round/>
            <a:headEnd type="none" w="med" len="med"/>
            <a:tailEnd type="none" w="med" len="med"/>
          </a:ln>
        </p:spPr>
        <p:txBody>
          <a:bodyPr anchor="ctr"/>
          <a:lstStyle/>
          <a:p>
            <a:pPr lvl="0" indent="0" algn="ctr" eaLnBrk="0" hangingPunct="0">
              <a:lnSpc>
                <a:spcPct val="115000"/>
              </a:lnSpc>
              <a:spcBef>
                <a:spcPts val="50"/>
              </a:spcBef>
              <a:spcAft>
                <a:spcPts val="0"/>
              </a:spcAft>
            </a:pPr>
            <a:r>
              <a:rPr lang="zh-CN" altLang="en-US" sz="3600" dirty="0">
                <a:latin typeface="华文中宋" panose="02010600040101010101" charset="-122"/>
                <a:ea typeface="华文中宋" panose="02010600040101010101" charset="-122"/>
              </a:rPr>
              <a:t>第五章：数据库的保护</a:t>
            </a:r>
            <a:r>
              <a:rPr lang="en-US" altLang="zh-CN" sz="3600" dirty="0">
                <a:latin typeface="华文中宋" panose="02010600040101010101" charset="-122"/>
                <a:ea typeface="华文中宋" panose="02010600040101010101" charset="-122"/>
              </a:rPr>
              <a:t>--</a:t>
            </a:r>
            <a:endParaRPr lang="en-US" altLang="zh-CN" sz="3600" dirty="0">
              <a:latin typeface="华文中宋" panose="02010600040101010101" charset="-122"/>
              <a:ea typeface="华文中宋" panose="02010600040101010101" charset="-122"/>
            </a:endParaRPr>
          </a:p>
          <a:p>
            <a:pPr lvl="0" indent="0" algn="ctr" eaLnBrk="0" hangingPunct="0">
              <a:lnSpc>
                <a:spcPct val="115000"/>
              </a:lnSpc>
              <a:spcBef>
                <a:spcPts val="600"/>
              </a:spcBef>
              <a:spcAft>
                <a:spcPts val="0"/>
              </a:spcAft>
            </a:pPr>
            <a:r>
              <a:rPr lang="zh-CN" altLang="x-none" sz="3200" dirty="0">
                <a:solidFill>
                  <a:srgbClr val="0033CC"/>
                </a:solidFill>
                <a:latin typeface="华文中宋" panose="02010600040101010101" charset="-122"/>
                <a:ea typeface="华文中宋" panose="02010600040101010101" charset="-122"/>
              </a:rPr>
              <a:t>第</a:t>
            </a:r>
            <a:r>
              <a:rPr lang="en-US" altLang="zh-CN" sz="3200" dirty="0">
                <a:solidFill>
                  <a:srgbClr val="0033CC"/>
                </a:solidFill>
                <a:latin typeface="华文中宋" panose="02010600040101010101" charset="-122"/>
                <a:ea typeface="华文中宋" panose="02010600040101010101" charset="-122"/>
              </a:rPr>
              <a:t>2</a:t>
            </a:r>
            <a:r>
              <a:rPr lang="zh-CN" altLang="en-US" sz="3200" dirty="0">
                <a:solidFill>
                  <a:srgbClr val="0033CC"/>
                </a:solidFill>
                <a:latin typeface="华文中宋" panose="02010600040101010101" charset="-122"/>
                <a:ea typeface="华文中宋" panose="02010600040101010101" charset="-122"/>
              </a:rPr>
              <a:t>讲</a:t>
            </a:r>
            <a:r>
              <a:rPr lang="zh-CN" altLang="en-US" sz="3200" dirty="0" smtClean="0">
                <a:solidFill>
                  <a:srgbClr val="0033CC"/>
                </a:solidFill>
                <a:latin typeface="华文中宋" panose="02010600040101010101" charset="-122"/>
                <a:ea typeface="华文中宋" panose="02010600040101010101" charset="-122"/>
              </a:rPr>
              <a:t>：事务与故障恢复</a:t>
            </a:r>
            <a:r>
              <a:rPr lang="zh-CN" altLang="en-US" sz="3200" dirty="0" smtClean="0">
                <a:solidFill>
                  <a:srgbClr val="0033CC"/>
                </a:solidFill>
                <a:latin typeface="华文中宋" panose="02010600040101010101" charset="-122"/>
                <a:ea typeface="华文中宋" panose="02010600040101010101" charset="-122"/>
              </a:rPr>
              <a:t>技术</a:t>
            </a:r>
            <a:endParaRPr lang="zh-CN" altLang="en-US" sz="3200" dirty="0" smtClean="0">
              <a:solidFill>
                <a:srgbClr val="0033CC"/>
              </a:solidFill>
              <a:latin typeface="华文中宋" panose="02010600040101010101" charset="-122"/>
              <a:ea typeface="华文中宋" panose="02010600040101010101" charset="-122"/>
            </a:endParaRPr>
          </a:p>
        </p:txBody>
      </p:sp>
      <p:sp>
        <p:nvSpPr>
          <p:cNvPr id="5122" name="Rectangle 7"/>
          <p:cNvSpPr>
            <a:spLocks noGrp="1"/>
          </p:cNvSpPr>
          <p:nvPr>
            <p:ph type="body" idx="4294967295"/>
          </p:nvPr>
        </p:nvSpPr>
        <p:spPr>
          <a:xfrm>
            <a:off x="1640205" y="4156075"/>
            <a:ext cx="6429375" cy="1456055"/>
          </a:xfrm>
        </p:spPr>
        <p:txBody>
          <a:bodyPr wrap="square" lIns="0" tIns="0" rIns="0" bIns="0" anchor="t"/>
          <a:lstStyle/>
          <a:p>
            <a:pPr marL="342900" lvl="1" indent="-342900">
              <a:lnSpc>
                <a:spcPct val="110000"/>
              </a:lnSpc>
              <a:spcBef>
                <a:spcPts val="300"/>
              </a:spcBef>
              <a:buClr>
                <a:srgbClr val="0033CC"/>
              </a:buClr>
            </a:pPr>
            <a:r>
              <a:rPr lang="en-US" altLang="zh-CN" sz="2400">
                <a:latin typeface="宋体" panose="02010600030101010101" pitchFamily="2" charset="-122"/>
              </a:rPr>
              <a:t>DBMS</a:t>
            </a:r>
            <a:r>
              <a:rPr lang="zh-CN" altLang="en-US" sz="2400">
                <a:latin typeface="宋体" panose="02010600030101010101" pitchFamily="2" charset="-122"/>
              </a:rPr>
              <a:t>中的事务机制与事务管理</a:t>
            </a:r>
            <a:endParaRPr lang="zh-CN" altLang="en-US" sz="2400">
              <a:latin typeface="宋体" panose="02010600030101010101" pitchFamily="2" charset="-122"/>
            </a:endParaRPr>
          </a:p>
          <a:p>
            <a:pPr marL="342900" lvl="1" indent="-342900">
              <a:lnSpc>
                <a:spcPct val="110000"/>
              </a:lnSpc>
              <a:spcBef>
                <a:spcPts val="300"/>
              </a:spcBef>
              <a:buClr>
                <a:srgbClr val="0033CC"/>
              </a:buClr>
            </a:pPr>
            <a:r>
              <a:rPr lang="zh-CN" altLang="en-US" sz="2400">
                <a:latin typeface="宋体" panose="02010600030101010101" pitchFamily="2" charset="-122"/>
              </a:rPr>
              <a:t>数据库故障恢复技术</a:t>
            </a:r>
            <a:endParaRPr lang="zh-CN" altLang="en-US" sz="2400">
              <a:latin typeface="宋体" panose="02010600030101010101" pitchFamily="2" charset="-122"/>
            </a:endParaRPr>
          </a:p>
          <a:p>
            <a:pPr marL="342900" lvl="1" indent="-342900">
              <a:buClrTx/>
              <a:buNone/>
            </a:pPr>
            <a:endParaRPr lang="zh-CN" altLang="en-US" sz="2200">
              <a:latin typeface="楷体" panose="02010609060101010101" pitchFamily="1" charset="-122"/>
              <a:ea typeface="楷体" panose="02010609060101010101" pitchFamily="1" charset="-122"/>
            </a:endParaRPr>
          </a:p>
        </p:txBody>
      </p:sp>
      <p:sp>
        <p:nvSpPr>
          <p:cNvPr id="5123" name="Rectangle 8"/>
          <p:cNvSpPr/>
          <p:nvPr/>
        </p:nvSpPr>
        <p:spPr>
          <a:xfrm>
            <a:off x="1369060" y="3984854"/>
            <a:ext cx="6804050" cy="1692012"/>
          </a:xfrm>
          <a:prstGeom prst="rect">
            <a:avLst/>
          </a:prstGeom>
          <a:noFill/>
          <a:ln w="9525" cap="flat" cmpd="sng">
            <a:solidFill>
              <a:srgbClr val="0000FF"/>
            </a:solidFill>
            <a:prstDash val="solid"/>
            <a:miter/>
            <a:headEnd type="none" w="med" len="med"/>
            <a:tailEnd type="none" w="med" len="med"/>
          </a:ln>
          <a:effectLst>
            <a:prstShdw prst="shdw17" dist="17961" dir="2699999">
              <a:srgbClr val="000099"/>
            </a:prstShdw>
          </a:effectLst>
        </p:spPr>
        <p:txBody>
          <a:bodyPr wrap="square" anchor="ctr">
            <a:spAutoFit/>
          </a:bodyPr>
          <a:lstStyle/>
          <a:p>
            <a:pPr lvl="0" indent="0">
              <a:lnSpc>
                <a:spcPct val="135000"/>
              </a:lnSpc>
              <a:buChar char="•"/>
            </a:pPr>
            <a:endParaRPr lang="zh-CN" altLang="en-US" dirty="0">
              <a:latin typeface="Arial" panose="020B0604020202020204" pitchFamily="34" charset="0"/>
              <a:ea typeface="宋体" panose="02010600030101010101" pitchFamily="2" charset="-122"/>
            </a:endParaRPr>
          </a:p>
        </p:txBody>
      </p:sp>
      <p:pic>
        <p:nvPicPr>
          <p:cNvPr id="5124" name="Picture 6" descr="j0233174"/>
          <p:cNvPicPr>
            <a:picLocks noChangeAspect="1"/>
          </p:cNvPicPr>
          <p:nvPr/>
        </p:nvPicPr>
        <p:blipFill>
          <a:blip r:embed="rId1"/>
          <a:stretch>
            <a:fillRect/>
          </a:stretch>
        </p:blipFill>
        <p:spPr>
          <a:xfrm>
            <a:off x="242888" y="4079875"/>
            <a:ext cx="1460500" cy="1882775"/>
          </a:xfrm>
          <a:prstGeom prst="rect">
            <a:avLst/>
          </a:prstGeom>
          <a:noFill/>
          <a:ln w="9525">
            <a:noFill/>
          </a:ln>
        </p:spPr>
      </p:pic>
      <p:sp>
        <p:nvSpPr>
          <p:cNvPr id="5125" name="Text Box 10"/>
          <p:cNvSpPr txBox="1"/>
          <p:nvPr/>
        </p:nvSpPr>
        <p:spPr>
          <a:xfrm>
            <a:off x="1292225" y="3240088"/>
            <a:ext cx="4348163" cy="681037"/>
          </a:xfrm>
          <a:prstGeom prst="rect">
            <a:avLst/>
          </a:prstGeom>
          <a:noFill/>
          <a:ln w="9525">
            <a:noFill/>
          </a:ln>
        </p:spPr>
        <p:txBody>
          <a:bodyPr anchor="t">
            <a:spAutoFit/>
          </a:bodyPr>
          <a:lstStyle/>
          <a:p>
            <a:pPr lvl="0" indent="0">
              <a:lnSpc>
                <a:spcPct val="135000"/>
              </a:lnSpc>
              <a:spcBef>
                <a:spcPct val="50000"/>
              </a:spcBef>
            </a:pPr>
            <a:r>
              <a:rPr lang="zh-CN" altLang="en-US" sz="3200" dirty="0">
                <a:latin typeface="Times New Roman" panose="02020603050405020304" pitchFamily="2" charset="0"/>
                <a:ea typeface="方正舒体" panose="02010601030101010101" pitchFamily="2" charset="-122"/>
              </a:rPr>
              <a:t>学习目的和要求</a:t>
            </a:r>
            <a:endParaRPr lang="zh-CN" altLang="en-US" sz="3200" dirty="0">
              <a:latin typeface="Times New Roman" panose="02020603050405020304" pitchFamily="2" charset="0"/>
              <a:ea typeface="方正舒体" panose="02010601030101010101" pitchFamily="2" charset="-122"/>
            </a:endParaRPr>
          </a:p>
        </p:txBody>
      </p:sp>
    </p:spTree>
  </p:cSld>
  <p:clrMapOvr>
    <a:masterClrMapping/>
  </p:clrMapOvr>
  <p:transition advTm="54672"/>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二、事务机制与事务管理</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51202" name="Rectangle 7"/>
          <p:cNvSpPr/>
          <p:nvPr/>
        </p:nvSpPr>
        <p:spPr>
          <a:xfrm>
            <a:off x="457200" y="8064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、事务管理的基本概念</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51205" name="Text Box 4"/>
          <p:cNvSpPr txBox="1"/>
          <p:nvPr/>
        </p:nvSpPr>
        <p:spPr>
          <a:xfrm>
            <a:off x="585470" y="1473200"/>
            <a:ext cx="6620510" cy="1612900"/>
          </a:xfrm>
          <a:prstGeom prst="rect">
            <a:avLst/>
          </a:prstGeom>
          <a:noFill/>
          <a:ln w="9525">
            <a:solidFill>
              <a:srgbClr val="3402C2"/>
            </a:solidFill>
            <a:prstDash val="dash"/>
          </a:ln>
        </p:spPr>
        <p:txBody>
          <a:bodyPr wrap="square" anchor="t">
            <a:spAutoFit/>
          </a:bodyPr>
          <a:lstStyle/>
          <a:p>
            <a:pPr lvl="0" indent="0">
              <a:lnSpc>
                <a:spcPct val="110000"/>
              </a:lnSpc>
              <a:spcBef>
                <a:spcPts val="50"/>
              </a:spcBef>
              <a:spcAft>
                <a:spcPts val="0"/>
              </a:spcAft>
              <a:buFont typeface="Wingdings" panose="05000000000000000000" pitchFamily="2" charset="2"/>
              <a:buChar char="p"/>
            </a:pPr>
            <a:r>
              <a:rPr lang="zh-CN" altLang="en-US" sz="2400" u="sng" dirty="0">
                <a:solidFill>
                  <a:srgbClr val="0033CC"/>
                </a:solidFill>
                <a:latin typeface="宋体" panose="02010600030101010101" pitchFamily="2" charset="-122"/>
                <a:ea typeface="宋体" panose="02010600030101010101" pitchFamily="2" charset="-122"/>
              </a:rPr>
              <a:t>事务的概念：</a:t>
            </a:r>
            <a:r>
              <a:rPr lang="zh-CN" altLang="en-US" sz="2200" dirty="0">
                <a:latin typeface="华文楷体" panose="02010600040101010101" pitchFamily="2" charset="-122"/>
                <a:ea typeface="华文楷体" panose="02010600040101010101" pitchFamily="2" charset="-122"/>
              </a:rPr>
              <a:t>有时，某个工作的完成要分若干步骤。只有所有步骤都成功做完，则该项工作才完成；否则，其中任一步失败，该工作亦失败。</a:t>
            </a:r>
            <a:r>
              <a:rPr lang="zh-CN" altLang="en-US" sz="2200" u="sng" dirty="0">
                <a:solidFill>
                  <a:srgbClr val="FF0000"/>
                </a:solidFill>
                <a:latin typeface="华文楷体" panose="02010600040101010101" pitchFamily="2" charset="-122"/>
                <a:ea typeface="华文楷体" panose="02010600040101010101" pitchFamily="2" charset="-122"/>
              </a:rPr>
              <a:t>在</a:t>
            </a:r>
            <a:r>
              <a:rPr lang="en-US" altLang="zh-CN" sz="2200" u="sng" dirty="0">
                <a:solidFill>
                  <a:srgbClr val="FF0000"/>
                </a:solidFill>
                <a:latin typeface="华文楷体" panose="02010600040101010101" pitchFamily="2" charset="-122"/>
                <a:ea typeface="华文楷体" panose="02010600040101010101" pitchFamily="2" charset="-122"/>
              </a:rPr>
              <a:t>DBMS</a:t>
            </a:r>
            <a:r>
              <a:rPr lang="zh-CN" altLang="zh-CN" sz="2200" u="sng" dirty="0">
                <a:solidFill>
                  <a:srgbClr val="FF0000"/>
                </a:solidFill>
                <a:latin typeface="华文楷体" panose="02010600040101010101" pitchFamily="2" charset="-122"/>
                <a:ea typeface="华文楷体" panose="02010600040101010101" pitchFamily="2" charset="-122"/>
              </a:rPr>
              <a:t>中定义此类工作为事务，并保证其执行特点</a:t>
            </a:r>
            <a:r>
              <a:rPr lang="zh-CN" altLang="zh-CN" sz="2200" dirty="0">
                <a:latin typeface="华文楷体" panose="02010600040101010101" pitchFamily="2" charset="-122"/>
                <a:ea typeface="华文楷体" panose="02010600040101010101" pitchFamily="2" charset="-122"/>
              </a:rPr>
              <a:t>。</a:t>
            </a:r>
            <a:endParaRPr lang="zh-CN" altLang="zh-CN" sz="2200" dirty="0">
              <a:latin typeface="华文楷体" panose="02010600040101010101" pitchFamily="2" charset="-122"/>
              <a:ea typeface="华文楷体" panose="02010600040101010101" pitchFamily="2" charset="-122"/>
            </a:endParaRPr>
          </a:p>
        </p:txBody>
      </p:sp>
      <p:sp>
        <p:nvSpPr>
          <p:cNvPr id="53257" name="Text Box 4"/>
          <p:cNvSpPr txBox="1"/>
          <p:nvPr/>
        </p:nvSpPr>
        <p:spPr>
          <a:xfrm>
            <a:off x="585470" y="3218815"/>
            <a:ext cx="8100695" cy="2872105"/>
          </a:xfrm>
          <a:prstGeom prst="rect">
            <a:avLst/>
          </a:prstGeom>
          <a:noFill/>
          <a:ln w="9525">
            <a:noFill/>
          </a:ln>
        </p:spPr>
        <p:txBody>
          <a:bodyPr wrap="square" anchor="t">
            <a:spAutoFit/>
          </a:bodyPr>
          <a:lstStyle/>
          <a:p>
            <a:pPr lvl="0" indent="0">
              <a:lnSpc>
                <a:spcPct val="90000"/>
              </a:lnSpc>
              <a:spcBef>
                <a:spcPts val="600"/>
              </a:spcBef>
              <a:spcAft>
                <a:spcPts val="0"/>
              </a:spcAft>
              <a:buFont typeface="Wingdings" panose="05000000000000000000" pitchFamily="2" charset="2"/>
              <a:buChar char="Ø"/>
            </a:pPr>
            <a:r>
              <a:rPr lang="zh-CN" altLang="en-US" sz="2600" u="sng" dirty="0">
                <a:solidFill>
                  <a:srgbClr val="FF0000"/>
                </a:solidFill>
                <a:latin typeface="华文中宋" panose="02010600040101010101" charset="-122"/>
                <a:ea typeface="华文中宋" panose="02010600040101010101" charset="-122"/>
              </a:rPr>
              <a:t>例：</a:t>
            </a:r>
            <a:r>
              <a:rPr lang="zh-CN" altLang="en-US" sz="2300" dirty="0">
                <a:solidFill>
                  <a:schemeClr val="tx1"/>
                </a:solidFill>
                <a:latin typeface="华文楷体" panose="02010600040101010101" pitchFamily="2" charset="-122"/>
                <a:ea typeface="华文楷体" panose="02010600040101010101" pitchFamily="2" charset="-122"/>
              </a:rPr>
              <a:t>从账户</a:t>
            </a:r>
            <a:r>
              <a:rPr lang="en-US" altLang="x-none" sz="2300" dirty="0">
                <a:solidFill>
                  <a:schemeClr val="tx1"/>
                </a:solidFill>
                <a:latin typeface="华文楷体" panose="02010600040101010101" pitchFamily="2" charset="-122"/>
                <a:ea typeface="华文楷体" panose="02010600040101010101" pitchFamily="2" charset="-122"/>
              </a:rPr>
              <a:t>A</a:t>
            </a:r>
            <a:r>
              <a:rPr lang="zh-CN" altLang="en-US" sz="2300" dirty="0">
                <a:solidFill>
                  <a:schemeClr val="tx1"/>
                </a:solidFill>
                <a:latin typeface="华文楷体" panose="02010600040101010101" pitchFamily="2" charset="-122"/>
                <a:ea typeface="华文楷体" panose="02010600040101010101" pitchFamily="2" charset="-122"/>
              </a:rPr>
              <a:t>转一笔款</a:t>
            </a:r>
            <a:r>
              <a:rPr lang="en-US" altLang="x-none" sz="2300" dirty="0">
                <a:solidFill>
                  <a:schemeClr val="tx1"/>
                </a:solidFill>
                <a:latin typeface="华文楷体" panose="02010600040101010101" pitchFamily="2" charset="-122"/>
                <a:ea typeface="华文楷体" panose="02010600040101010101" pitchFamily="2" charset="-122"/>
              </a:rPr>
              <a:t>(90</a:t>
            </a:r>
            <a:r>
              <a:rPr lang="zh-CN" altLang="en-US" sz="2300" dirty="0">
                <a:solidFill>
                  <a:schemeClr val="tx1"/>
                </a:solidFill>
                <a:latin typeface="华文楷体" panose="02010600040101010101" pitchFamily="2" charset="-122"/>
                <a:ea typeface="华文楷体" panose="02010600040101010101" pitchFamily="2" charset="-122"/>
              </a:rPr>
              <a:t>元</a:t>
            </a:r>
            <a:r>
              <a:rPr lang="en-US" altLang="x-none" sz="2300" dirty="0">
                <a:solidFill>
                  <a:schemeClr val="tx1"/>
                </a:solidFill>
                <a:latin typeface="华文楷体" panose="02010600040101010101" pitchFamily="2" charset="-122"/>
                <a:ea typeface="华文楷体" panose="02010600040101010101" pitchFamily="2" charset="-122"/>
              </a:rPr>
              <a:t>)</a:t>
            </a:r>
            <a:r>
              <a:rPr lang="zh-CN" altLang="en-US" sz="2300" dirty="0">
                <a:solidFill>
                  <a:schemeClr val="tx1"/>
                </a:solidFill>
                <a:latin typeface="华文楷体" panose="02010600040101010101" pitchFamily="2" charset="-122"/>
                <a:ea typeface="华文楷体" panose="02010600040101010101" pitchFamily="2" charset="-122"/>
              </a:rPr>
              <a:t>到账户</a:t>
            </a:r>
            <a:r>
              <a:rPr lang="en-US" altLang="x-none" sz="2300" dirty="0">
                <a:solidFill>
                  <a:schemeClr val="tx1"/>
                </a:solidFill>
                <a:latin typeface="华文楷体" panose="02010600040101010101" pitchFamily="2" charset="-122"/>
                <a:ea typeface="华文楷体" panose="02010600040101010101" pitchFamily="2" charset="-122"/>
              </a:rPr>
              <a:t>B</a:t>
            </a:r>
            <a:r>
              <a:rPr lang="zh-CN" altLang="en-US" sz="2300" dirty="0">
                <a:solidFill>
                  <a:schemeClr val="tx1"/>
                </a:solidFill>
                <a:latin typeface="华文楷体" panose="02010600040101010101" pitchFamily="2" charset="-122"/>
                <a:ea typeface="华文楷体" panose="02010600040101010101" pitchFamily="2" charset="-122"/>
              </a:rPr>
              <a:t>。其中有下列步骤：</a:t>
            </a:r>
            <a:endParaRPr lang="zh-CN" altLang="en-US" sz="2300" dirty="0">
              <a:solidFill>
                <a:schemeClr val="tx1"/>
              </a:solidFill>
              <a:latin typeface="华文楷体" panose="02010600040101010101" pitchFamily="2" charset="-122"/>
              <a:ea typeface="华文楷体" panose="02010600040101010101" pitchFamily="2" charset="-122"/>
            </a:endParaRPr>
          </a:p>
          <a:p>
            <a:pPr lvl="0" indent="0">
              <a:lnSpc>
                <a:spcPct val="90000"/>
              </a:lnSpc>
              <a:spcBef>
                <a:spcPts val="600"/>
              </a:spcBef>
              <a:spcAft>
                <a:spcPts val="0"/>
              </a:spcAft>
            </a:pPr>
            <a:r>
              <a:rPr lang="en-US" altLang="x-none" sz="2300" dirty="0">
                <a:solidFill>
                  <a:schemeClr val="tx1"/>
                </a:solidFill>
                <a:latin typeface="华文楷体" panose="02010600040101010101" pitchFamily="2" charset="-122"/>
                <a:ea typeface="华文楷体" panose="02010600040101010101" pitchFamily="2" charset="-122"/>
              </a:rPr>
              <a:t>read(A); A:=A-90; write(A); read(B); B:=B+90</a:t>
            </a:r>
            <a:r>
              <a:rPr lang="zh-CN" altLang="en-US" sz="2300" dirty="0">
                <a:solidFill>
                  <a:schemeClr val="tx1"/>
                </a:solidFill>
                <a:latin typeface="华文楷体" panose="02010600040101010101" pitchFamily="2" charset="-122"/>
                <a:ea typeface="华文楷体" panose="02010600040101010101" pitchFamily="2" charset="-122"/>
              </a:rPr>
              <a:t>；</a:t>
            </a:r>
            <a:r>
              <a:rPr lang="en-US" altLang="x-none" sz="2300" dirty="0">
                <a:solidFill>
                  <a:schemeClr val="tx1"/>
                </a:solidFill>
                <a:latin typeface="华文楷体" panose="02010600040101010101" pitchFamily="2" charset="-122"/>
                <a:ea typeface="华文楷体" panose="02010600040101010101" pitchFamily="2" charset="-122"/>
              </a:rPr>
              <a:t>write(B). </a:t>
            </a:r>
            <a:endParaRPr lang="en-US" altLang="x-none" sz="2300" dirty="0">
              <a:solidFill>
                <a:schemeClr val="tx1"/>
              </a:solidFill>
              <a:latin typeface="华文楷体" panose="02010600040101010101" pitchFamily="2" charset="-122"/>
              <a:ea typeface="华文楷体" panose="02010600040101010101" pitchFamily="2" charset="-122"/>
            </a:endParaRPr>
          </a:p>
          <a:p>
            <a:pPr lvl="0" indent="0">
              <a:lnSpc>
                <a:spcPct val="100000"/>
              </a:lnSpc>
              <a:spcBef>
                <a:spcPts val="800"/>
              </a:spcBef>
              <a:spcAft>
                <a:spcPts val="0"/>
              </a:spcAft>
              <a:buFont typeface="Wingdings" panose="05000000000000000000" pitchFamily="2" charset="2"/>
              <a:buChar char="Ø"/>
            </a:pPr>
            <a:r>
              <a:rPr lang="zh-CN" altLang="en-US" sz="2400" dirty="0">
                <a:latin typeface="华文楷体" panose="02010600040101010101" pitchFamily="2" charset="-122"/>
                <a:ea typeface="华文楷体" panose="02010600040101010101" pitchFamily="2" charset="-122"/>
              </a:rPr>
              <a:t>这所有操作应视为一个整体，要么全部完成，要么全部不做，决不允许只做一半操作。针对此类工作特点，引入“事务”（</a:t>
            </a:r>
            <a:r>
              <a:rPr lang="en-US" altLang="x-none" sz="2400" dirty="0">
                <a:latin typeface="华文楷体" panose="02010600040101010101" pitchFamily="2" charset="-122"/>
                <a:ea typeface="华文楷体" panose="02010600040101010101" pitchFamily="2" charset="-122"/>
              </a:rPr>
              <a:t>Transaction</a:t>
            </a:r>
            <a:r>
              <a:rPr lang="zh-CN" altLang="en-US" sz="2400" dirty="0">
                <a:latin typeface="华文楷体" panose="02010600040101010101" pitchFamily="2" charset="-122"/>
                <a:ea typeface="华文楷体" panose="02010600040101010101" pitchFamily="2" charset="-122"/>
              </a:rPr>
              <a:t>）概念。</a:t>
            </a:r>
            <a:endParaRPr lang="zh-CN" altLang="en-US" sz="2400" dirty="0">
              <a:latin typeface="华文楷体" panose="02010600040101010101" pitchFamily="2" charset="-122"/>
              <a:ea typeface="华文楷体" panose="02010600040101010101" pitchFamily="2" charset="-122"/>
            </a:endParaRPr>
          </a:p>
          <a:p>
            <a:pPr lvl="0" indent="0">
              <a:spcBef>
                <a:spcPts val="600"/>
              </a:spcBef>
              <a:buFont typeface="Wingdings" panose="05000000000000000000" pitchFamily="2" charset="2"/>
              <a:buChar char="Ø"/>
            </a:pPr>
            <a:r>
              <a:rPr lang="zh-CN" altLang="en-US" sz="2400" u="sng" dirty="0">
                <a:solidFill>
                  <a:srgbClr val="3402C2"/>
                </a:solidFill>
                <a:latin typeface="华文楷体" panose="02010600040101010101" pitchFamily="2" charset="-122"/>
                <a:ea typeface="华文楷体" panose="02010600040101010101" pitchFamily="2" charset="-122"/>
              </a:rPr>
              <a:t>事务是构成单一逻辑工作单元的操作集合</a:t>
            </a:r>
            <a:r>
              <a:rPr lang="zh-CN" altLang="en-US" sz="2400" dirty="0">
                <a:latin typeface="华文楷体" panose="02010600040101010101" pitchFamily="2" charset="-122"/>
                <a:ea typeface="华文楷体" panose="02010600040101010101" pitchFamily="2" charset="-122"/>
              </a:rPr>
              <a:t>。</a:t>
            </a:r>
            <a:r>
              <a:rPr lang="en-US" altLang="x-none" sz="2400" dirty="0">
                <a:latin typeface="华文楷体" panose="02010600040101010101" pitchFamily="2" charset="-122"/>
                <a:ea typeface="华文楷体" panose="02010600040101010101" pitchFamily="2" charset="-122"/>
              </a:rPr>
              <a:t>DBMS</a:t>
            </a:r>
            <a:r>
              <a:rPr lang="zh-CN" altLang="en-US" sz="2400" dirty="0">
                <a:latin typeface="华文楷体" panose="02010600040101010101" pitchFamily="2" charset="-122"/>
                <a:ea typeface="华文楷体" panose="02010600040101010101" pitchFamily="2" charset="-122"/>
              </a:rPr>
              <a:t>必须保证事务正确完整的执行。</a:t>
            </a:r>
            <a:endParaRPr lang="zh-CN" altLang="en-US" sz="2800" dirty="0">
              <a:latin typeface="华文楷体" panose="02010600040101010101" pitchFamily="2" charset="-122"/>
              <a:ea typeface="华文楷体" panose="02010600040101010101" pitchFamily="2" charset="-122"/>
            </a:endParaRPr>
          </a:p>
        </p:txBody>
      </p:sp>
      <p:pic>
        <p:nvPicPr>
          <p:cNvPr id="2" name="Picture 4" descr="JamesGray"/>
          <p:cNvPicPr>
            <a:picLocks noChangeAspect="1"/>
          </p:cNvPicPr>
          <p:nvPr/>
        </p:nvPicPr>
        <p:blipFill>
          <a:blip r:embed="rId1"/>
          <a:srcRect b="13028"/>
          <a:stretch>
            <a:fillRect/>
          </a:stretch>
        </p:blipFill>
        <p:spPr>
          <a:xfrm>
            <a:off x="7269798" y="965518"/>
            <a:ext cx="1480185" cy="2094230"/>
          </a:xfrm>
          <a:prstGeom prst="rect">
            <a:avLst/>
          </a:prstGeom>
          <a:noFill/>
          <a:ln w="9525">
            <a:noFill/>
          </a:ln>
        </p:spPr>
      </p:pic>
      <p:sp>
        <p:nvSpPr>
          <p:cNvPr id="3" name="Rectangle 5"/>
          <p:cNvSpPr/>
          <p:nvPr/>
        </p:nvSpPr>
        <p:spPr>
          <a:xfrm>
            <a:off x="7269798" y="2751137"/>
            <a:ext cx="1479550" cy="368300"/>
          </a:xfrm>
          <a:prstGeom prst="rect">
            <a:avLst/>
          </a:prstGeom>
          <a:solidFill>
            <a:schemeClr val="accent1"/>
          </a:solidFill>
          <a:ln w="9525">
            <a:noFill/>
          </a:ln>
        </p:spPr>
        <p:txBody>
          <a:bodyPr wrap="square" anchor="t">
            <a:spAutoFit/>
          </a:bodyPr>
          <a:lstStyle/>
          <a:p>
            <a:pPr lvl="0" indent="0">
              <a:lnSpc>
                <a:spcPct val="90000"/>
              </a:lnSpc>
              <a:spcBef>
                <a:spcPts val="0"/>
              </a:spcBef>
              <a:spcAft>
                <a:spcPts val="0"/>
              </a:spcAft>
            </a:pPr>
            <a:r>
              <a:rPr lang="zh-CN" altLang="en-US" sz="2000" i="1" dirty="0">
                <a:latin typeface="宋体" panose="02010600030101010101" pitchFamily="2" charset="-122"/>
                <a:ea typeface="宋体" panose="02010600030101010101" pitchFamily="2" charset="-122"/>
              </a:rPr>
              <a:t>James Gray</a:t>
            </a:r>
            <a:endParaRPr lang="zh-CN" altLang="en-US" sz="2000" i="1" dirty="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3257">
                                            <p:txEl>
                                              <p:pRg st="0" end="0"/>
                                            </p:txEl>
                                          </p:spTgt>
                                        </p:tgtEl>
                                        <p:attrNameLst>
                                          <p:attrName>style.visibility</p:attrName>
                                        </p:attrNameLst>
                                      </p:cBhvr>
                                      <p:to>
                                        <p:strVal val="visible"/>
                                      </p:to>
                                    </p:set>
                                    <p:animEffect transition="in" filter="wipe(down)">
                                      <p:cBhvr>
                                        <p:cTn id="7" dur="500"/>
                                        <p:tgtEl>
                                          <p:spTgt spid="53257">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3257">
                                            <p:txEl>
                                              <p:pRg st="1" end="1"/>
                                            </p:txEl>
                                          </p:spTgt>
                                        </p:tgtEl>
                                        <p:attrNameLst>
                                          <p:attrName>style.visibility</p:attrName>
                                        </p:attrNameLst>
                                      </p:cBhvr>
                                      <p:to>
                                        <p:strVal val="visible"/>
                                      </p:to>
                                    </p:set>
                                    <p:animEffect transition="in" filter="wipe(down)">
                                      <p:cBhvr>
                                        <p:cTn id="10" dur="500"/>
                                        <p:tgtEl>
                                          <p:spTgt spid="53257">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3257">
                                            <p:txEl>
                                              <p:pRg st="2" end="2"/>
                                            </p:txEl>
                                          </p:spTgt>
                                        </p:tgtEl>
                                        <p:attrNameLst>
                                          <p:attrName>style.visibility</p:attrName>
                                        </p:attrNameLst>
                                      </p:cBhvr>
                                      <p:to>
                                        <p:strVal val="visible"/>
                                      </p:to>
                                    </p:set>
                                    <p:animEffect transition="in" filter="wipe(down)">
                                      <p:cBhvr>
                                        <p:cTn id="13" dur="500"/>
                                        <p:tgtEl>
                                          <p:spTgt spid="53257">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3257">
                                            <p:txEl>
                                              <p:pRg st="3" end="3"/>
                                            </p:txEl>
                                          </p:spTgt>
                                        </p:tgtEl>
                                        <p:attrNameLst>
                                          <p:attrName>style.visibility</p:attrName>
                                        </p:attrNameLst>
                                      </p:cBhvr>
                                      <p:to>
                                        <p:strVal val="visible"/>
                                      </p:to>
                                    </p:set>
                                    <p:animEffect transition="in" filter="wipe(down)">
                                      <p:cBhvr>
                                        <p:cTn id="16" dur="500"/>
                                        <p:tgtEl>
                                          <p:spTgt spid="5325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7" grpId="0" uiExpand="1"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4"/>
          <p:cNvSpPr txBox="1"/>
          <p:nvPr/>
        </p:nvSpPr>
        <p:spPr>
          <a:xfrm>
            <a:off x="643255" y="1818005"/>
            <a:ext cx="7934960" cy="1581150"/>
          </a:xfrm>
          <a:prstGeom prst="rect">
            <a:avLst/>
          </a:prstGeom>
          <a:noFill/>
          <a:ln w="9525">
            <a:solidFill>
              <a:srgbClr val="000099"/>
            </a:solidFill>
            <a:prstDash val="dash"/>
          </a:ln>
        </p:spPr>
        <p:txBody>
          <a:bodyPr wrap="square" anchor="t">
            <a:spAutoFit/>
          </a:bodyPr>
          <a:lstStyle/>
          <a:p>
            <a:pPr marL="342900" lvl="0" indent="-342900">
              <a:lnSpc>
                <a:spcPct val="105000"/>
              </a:lnSpc>
              <a:spcBef>
                <a:spcPct val="50000"/>
              </a:spcBef>
              <a:buFont typeface="Wingdings" panose="05000000000000000000" charset="0"/>
              <a:buChar char=""/>
            </a:pPr>
            <a:r>
              <a:rPr lang="zh-CN" altLang="en-US" sz="2400" u="sng" dirty="0">
                <a:solidFill>
                  <a:srgbClr val="FF0000"/>
                </a:solidFill>
                <a:latin typeface="华文中宋" panose="02010600040101010101" charset="-122"/>
                <a:ea typeface="华文中宋" panose="02010600040101010101" charset="-122"/>
              </a:rPr>
              <a:t>隐式的事务控制：</a:t>
            </a:r>
            <a:r>
              <a:rPr lang="zh-CN" altLang="en-US" sz="2200" dirty="0">
                <a:latin typeface="华文楷体" panose="02010600040101010101" pitchFamily="2" charset="-122"/>
                <a:ea typeface="华文楷体" panose="02010600040101010101" pitchFamily="2" charset="-122"/>
              </a:rPr>
              <a:t>默认情况下，</a:t>
            </a:r>
            <a:r>
              <a:rPr lang="en-US" altLang="x-none" sz="2200" dirty="0">
                <a:latin typeface="华文楷体" panose="02010600040101010101" pitchFamily="2" charset="-122"/>
                <a:ea typeface="华文楷体" panose="02010600040101010101" pitchFamily="2" charset="-122"/>
              </a:rPr>
              <a:t>DBMS</a:t>
            </a:r>
            <a:r>
              <a:rPr lang="zh-CN" altLang="en-US" sz="2200" dirty="0">
                <a:latin typeface="华文楷体" panose="02010600040101010101" pitchFamily="2" charset="-122"/>
                <a:ea typeface="华文楷体" panose="02010600040101010101" pitchFamily="2" charset="-122"/>
              </a:rPr>
              <a:t>一般将一个数据库操作（如一条</a:t>
            </a:r>
            <a:r>
              <a:rPr lang="en-US" altLang="x-none" sz="2200" dirty="0">
                <a:latin typeface="华文楷体" panose="02010600040101010101" pitchFamily="2" charset="-122"/>
                <a:ea typeface="华文楷体" panose="02010600040101010101" pitchFamily="2" charset="-122"/>
              </a:rPr>
              <a:t>SQL</a:t>
            </a:r>
            <a:r>
              <a:rPr lang="zh-CN" altLang="en-US" sz="2200" dirty="0">
                <a:latin typeface="华文楷体" panose="02010600040101010101" pitchFamily="2" charset="-122"/>
                <a:ea typeface="华文楷体" panose="02010600040101010101" pitchFamily="2" charset="-122"/>
              </a:rPr>
              <a:t>语句）当作一个事务来控制执行。</a:t>
            </a:r>
            <a:endParaRPr lang="zh-CN" altLang="en-US" sz="2200" dirty="0">
              <a:latin typeface="华文楷体" panose="02010600040101010101" pitchFamily="2" charset="-122"/>
              <a:ea typeface="华文楷体" panose="02010600040101010101" pitchFamily="2" charset="-122"/>
            </a:endParaRPr>
          </a:p>
          <a:p>
            <a:pPr lvl="0">
              <a:lnSpc>
                <a:spcPct val="90000"/>
              </a:lnSpc>
              <a:spcBef>
                <a:spcPts val="600"/>
              </a:spcBef>
              <a:spcAft>
                <a:spcPts val="0"/>
              </a:spcAft>
              <a:buFont typeface="Wingdings" panose="05000000000000000000" charset="0"/>
            </a:pPr>
            <a:r>
              <a:rPr lang="en-US" altLang="x-none" sz="2200" dirty="0">
                <a:latin typeface="华文楷体" panose="02010600040101010101" pitchFamily="2" charset="-122"/>
                <a:ea typeface="华文楷体" panose="02010600040101010101" pitchFamily="2" charset="-122"/>
              </a:rPr>
              <a:t>      </a:t>
            </a:r>
            <a:r>
              <a:rPr lang="en-US" altLang="x-none" sz="2400" dirty="0">
                <a:latin typeface="华文楷体" panose="02010600040101010101" pitchFamily="2" charset="-122"/>
                <a:ea typeface="华文楷体" panose="02010600040101010101" pitchFamily="2" charset="-122"/>
              </a:rPr>
              <a:t>- -</a:t>
            </a:r>
            <a:r>
              <a:rPr lang="zh-CN" altLang="en-US" sz="2300" dirty="0">
                <a:latin typeface="华文楷体" panose="02010600040101010101" pitchFamily="2" charset="-122"/>
                <a:ea typeface="华文楷体" panose="02010600040101010101" pitchFamily="2" charset="-122"/>
              </a:rPr>
              <a:t>事实上，有时一条</a:t>
            </a:r>
            <a:r>
              <a:rPr lang="en-US" altLang="x-none" sz="2300" dirty="0">
                <a:latin typeface="华文楷体" panose="02010600040101010101" pitchFamily="2" charset="-122"/>
                <a:ea typeface="华文楷体" panose="02010600040101010101" pitchFamily="2" charset="-122"/>
              </a:rPr>
              <a:t>SQL</a:t>
            </a:r>
            <a:r>
              <a:rPr lang="zh-CN" altLang="en-US" sz="2300" dirty="0">
                <a:latin typeface="华文楷体" panose="02010600040101010101" pitchFamily="2" charset="-122"/>
                <a:ea typeface="华文楷体" panose="02010600040101010101" pitchFamily="2" charset="-122"/>
              </a:rPr>
              <a:t>语句的工作也有事务特点，例如</a:t>
            </a:r>
            <a:endParaRPr lang="zh-CN" altLang="en-US" sz="2300" dirty="0">
              <a:latin typeface="华文楷体" panose="02010600040101010101" pitchFamily="2" charset="-122"/>
              <a:ea typeface="华文楷体" panose="02010600040101010101" pitchFamily="2" charset="-122"/>
            </a:endParaRPr>
          </a:p>
          <a:p>
            <a:pPr lvl="0">
              <a:lnSpc>
                <a:spcPct val="90000"/>
              </a:lnSpc>
              <a:spcBef>
                <a:spcPts val="50"/>
              </a:spcBef>
              <a:spcAft>
                <a:spcPts val="0"/>
              </a:spcAft>
              <a:buFont typeface="Wingdings" panose="05000000000000000000" charset="0"/>
            </a:pPr>
            <a:r>
              <a:rPr lang="zh-CN" altLang="en-US" sz="2400" dirty="0">
                <a:latin typeface="华文楷体" panose="02010600040101010101" pitchFamily="2" charset="-122"/>
                <a:ea typeface="华文楷体" panose="02010600040101010101" pitchFamily="2" charset="-122"/>
              </a:rPr>
              <a:t>         </a:t>
            </a:r>
            <a:r>
              <a:rPr lang="zh-CN" altLang="en-US" sz="2300" dirty="0">
                <a:latin typeface="华文楷体" panose="02010600040101010101" pitchFamily="2" charset="-122"/>
                <a:ea typeface="华文楷体" panose="02010600040101010101" pitchFamily="2" charset="-122"/>
              </a:rPr>
              <a:t>一条删除多行数据的</a:t>
            </a:r>
            <a:r>
              <a:rPr lang="en-US" altLang="x-none" sz="2300" dirty="0">
                <a:latin typeface="华文楷体" panose="02010600040101010101" pitchFamily="2" charset="-122"/>
                <a:ea typeface="华文楷体" panose="02010600040101010101" pitchFamily="2" charset="-122"/>
              </a:rPr>
              <a:t>SQL</a:t>
            </a:r>
            <a:r>
              <a:rPr lang="zh-CN" altLang="en-US" sz="2300" dirty="0">
                <a:latin typeface="华文楷体" panose="02010600040101010101" pitchFamily="2" charset="-122"/>
                <a:ea typeface="华文楷体" panose="02010600040101010101" pitchFamily="2" charset="-122"/>
              </a:rPr>
              <a:t>语句。</a:t>
            </a:r>
            <a:r>
              <a:rPr lang="en-US" altLang="x-none" sz="2300" dirty="0">
                <a:solidFill>
                  <a:srgbClr val="1E3A2B"/>
                </a:solidFill>
                <a:latin typeface="华文楷体" panose="02010600040101010101" pitchFamily="2" charset="-122"/>
                <a:ea typeface="华文楷体" panose="02010600040101010101" pitchFamily="2" charset="-122"/>
              </a:rPr>
              <a:t> </a:t>
            </a:r>
            <a:endParaRPr lang="en-US" altLang="x-none" sz="2300" dirty="0">
              <a:solidFill>
                <a:srgbClr val="1E3A2B"/>
              </a:solidFill>
              <a:latin typeface="华文楷体" panose="02010600040101010101" pitchFamily="2" charset="-122"/>
              <a:ea typeface="华文楷体" panose="02010600040101010101" pitchFamily="2" charset="-122"/>
            </a:endParaRPr>
          </a:p>
        </p:txBody>
      </p:sp>
      <p:sp>
        <p:nvSpPr>
          <p:cNvPr id="52227" name="Rectangle 7"/>
          <p:cNvSpPr/>
          <p:nvPr/>
        </p:nvSpPr>
        <p:spPr>
          <a:xfrm>
            <a:off x="539750" y="7937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、事务的执行保证</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2"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二、事务机制与事务管理</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3" name="文本框 2"/>
          <p:cNvSpPr txBox="1"/>
          <p:nvPr/>
        </p:nvSpPr>
        <p:spPr>
          <a:xfrm>
            <a:off x="773430" y="1339850"/>
            <a:ext cx="4585970" cy="478155"/>
          </a:xfrm>
          <a:prstGeom prst="rect">
            <a:avLst/>
          </a:prstGeom>
          <a:noFill/>
        </p:spPr>
        <p:txBody>
          <a:bodyPr wrap="none" rtlCol="0" anchor="t">
            <a:spAutoFit/>
          </a:bodyPr>
          <a:lstStyle/>
          <a:p>
            <a:pPr lvl="0" indent="0">
              <a:lnSpc>
                <a:spcPct val="105000"/>
              </a:lnSpc>
              <a:spcBef>
                <a:spcPct val="50000"/>
              </a:spcBef>
            </a:pPr>
            <a:r>
              <a:rPr lang="en-US" altLang="x-none" dirty="0">
                <a:latin typeface="宋体" panose="02010600030101010101" pitchFamily="2" charset="-122"/>
                <a:sym typeface="+mn-ea"/>
              </a:rPr>
              <a:t> </a:t>
            </a:r>
            <a:r>
              <a:rPr lang="en-US" altLang="x-none" sz="2400" dirty="0">
                <a:latin typeface="宋体" panose="02010600030101010101" pitchFamily="2" charset="-122"/>
                <a:sym typeface="+mn-ea"/>
              </a:rPr>
              <a:t>DBMS</a:t>
            </a:r>
            <a:r>
              <a:rPr lang="zh-CN" altLang="en-US" sz="2400" dirty="0">
                <a:latin typeface="宋体" panose="02010600030101010101" pitchFamily="2" charset="-122"/>
                <a:sym typeface="+mn-ea"/>
              </a:rPr>
              <a:t>对事务的控制有两种方法：</a:t>
            </a:r>
            <a:endParaRPr lang="zh-CN" altLang="en-US" sz="2400"/>
          </a:p>
        </p:txBody>
      </p:sp>
      <p:sp>
        <p:nvSpPr>
          <p:cNvPr id="5" name="Text Box 4"/>
          <p:cNvSpPr txBox="1"/>
          <p:nvPr/>
        </p:nvSpPr>
        <p:spPr>
          <a:xfrm>
            <a:off x="630555" y="3456305"/>
            <a:ext cx="7934960" cy="2626995"/>
          </a:xfrm>
          <a:prstGeom prst="rect">
            <a:avLst/>
          </a:prstGeom>
          <a:noFill/>
          <a:ln w="9525">
            <a:solidFill>
              <a:srgbClr val="000099"/>
            </a:solidFill>
            <a:prstDash val="dash"/>
          </a:ln>
        </p:spPr>
        <p:txBody>
          <a:bodyPr wrap="square" anchor="t">
            <a:spAutoFit/>
          </a:bodyPr>
          <a:lstStyle/>
          <a:p>
            <a:pPr marL="342900" lvl="0" indent="-342900">
              <a:lnSpc>
                <a:spcPct val="105000"/>
              </a:lnSpc>
              <a:spcBef>
                <a:spcPct val="50000"/>
              </a:spcBef>
              <a:buFont typeface="Wingdings" panose="05000000000000000000" charset="0"/>
              <a:buChar char=""/>
            </a:pPr>
            <a:r>
              <a:rPr lang="zh-CN" altLang="en-US" sz="2400" u="sng" dirty="0">
                <a:solidFill>
                  <a:srgbClr val="FF0000"/>
                </a:solidFill>
                <a:latin typeface="华文中宋" panose="02010600040101010101" charset="-122"/>
                <a:ea typeface="华文中宋" panose="02010600040101010101" charset="-122"/>
              </a:rPr>
              <a:t>显式的事务控制：</a:t>
            </a:r>
            <a:r>
              <a:rPr lang="zh-CN" altLang="en-US" sz="2200" dirty="0">
                <a:latin typeface="华文楷体" panose="02010600040101010101" pitchFamily="2" charset="-122"/>
                <a:ea typeface="华文楷体" panose="02010600040101010101" pitchFamily="2" charset="-122"/>
                <a:sym typeface="+mn-ea"/>
              </a:rPr>
              <a:t>对涉及多步操作的（一般含多条</a:t>
            </a:r>
            <a:r>
              <a:rPr lang="en-US" altLang="x-none" sz="2200" dirty="0">
                <a:latin typeface="华文楷体" panose="02010600040101010101" pitchFamily="2" charset="-122"/>
                <a:ea typeface="华文楷体" panose="02010600040101010101" pitchFamily="2" charset="-122"/>
                <a:sym typeface="+mn-ea"/>
              </a:rPr>
              <a:t>SQL</a:t>
            </a:r>
            <a:r>
              <a:rPr lang="zh-CN" altLang="en-US" sz="2200" dirty="0">
                <a:latin typeface="华文楷体" panose="02010600040101010101" pitchFamily="2" charset="-122"/>
                <a:ea typeface="华文楷体" panose="02010600040101010101" pitchFamily="2" charset="-122"/>
                <a:sym typeface="+mn-ea"/>
              </a:rPr>
              <a:t>语句）、有事务特点的工作，则需要人为地、显式地将这些操作“界定”组合成一个事务交给</a:t>
            </a:r>
            <a:r>
              <a:rPr lang="en-US" altLang="x-none" sz="2200" dirty="0">
                <a:latin typeface="华文楷体" panose="02010600040101010101" pitchFamily="2" charset="-122"/>
                <a:ea typeface="华文楷体" panose="02010600040101010101" pitchFamily="2" charset="-122"/>
                <a:sym typeface="+mn-ea"/>
              </a:rPr>
              <a:t>DBMS</a:t>
            </a:r>
            <a:r>
              <a:rPr lang="zh-CN" altLang="en-US" sz="2200" dirty="0">
                <a:latin typeface="华文楷体" panose="02010600040101010101" pitchFamily="2" charset="-122"/>
                <a:ea typeface="华文楷体" panose="02010600040101010101" pitchFamily="2" charset="-122"/>
                <a:sym typeface="+mn-ea"/>
              </a:rPr>
              <a:t>控制执行。</a:t>
            </a:r>
            <a:r>
              <a:rPr lang="en-US" altLang="x-none" sz="2300" dirty="0">
                <a:solidFill>
                  <a:srgbClr val="1E3A2B"/>
                </a:solidFill>
                <a:latin typeface="华文楷体" panose="02010600040101010101" pitchFamily="2" charset="-122"/>
                <a:ea typeface="华文楷体" panose="02010600040101010101" pitchFamily="2" charset="-122"/>
              </a:rPr>
              <a:t> </a:t>
            </a:r>
            <a:endParaRPr lang="en-US" altLang="x-none" sz="2300" dirty="0">
              <a:solidFill>
                <a:srgbClr val="1E3A2B"/>
              </a:solidFill>
              <a:latin typeface="华文楷体" panose="02010600040101010101" pitchFamily="2" charset="-122"/>
              <a:ea typeface="华文楷体" panose="02010600040101010101" pitchFamily="2" charset="-122"/>
            </a:endParaRPr>
          </a:p>
          <a:p>
            <a:pPr marL="342900" lvl="0" indent="-342900">
              <a:lnSpc>
                <a:spcPct val="100000"/>
              </a:lnSpc>
              <a:spcBef>
                <a:spcPts val="50"/>
              </a:spcBef>
              <a:spcAft>
                <a:spcPts val="0"/>
              </a:spcAft>
              <a:buFont typeface="Wingdings" panose="05000000000000000000" charset="0"/>
              <a:buChar char=""/>
            </a:pPr>
            <a:r>
              <a:rPr lang="en-US" altLang="x-none" sz="2300" dirty="0">
                <a:solidFill>
                  <a:srgbClr val="FF0000"/>
                </a:solidFill>
                <a:latin typeface="华文楷体" panose="02010600040101010101" pitchFamily="2" charset="-122"/>
                <a:ea typeface="华文楷体" panose="02010600040101010101" pitchFamily="2" charset="-122"/>
                <a:sym typeface="+mn-ea"/>
              </a:rPr>
              <a:t>SQL SERVER</a:t>
            </a:r>
            <a:r>
              <a:rPr lang="zh-CN" altLang="en-US" sz="2300" dirty="0">
                <a:solidFill>
                  <a:srgbClr val="FF0000"/>
                </a:solidFill>
                <a:latin typeface="华文楷体" panose="02010600040101010101" pitchFamily="2" charset="-122"/>
                <a:ea typeface="华文楷体" panose="02010600040101010101" pitchFamily="2" charset="-122"/>
                <a:sym typeface="+mn-ea"/>
              </a:rPr>
              <a:t>提供的界定事务的常用语句： </a:t>
            </a:r>
            <a:endParaRPr lang="zh-CN" altLang="en-US" sz="2300" dirty="0">
              <a:solidFill>
                <a:srgbClr val="FF0000"/>
              </a:solidFill>
              <a:latin typeface="华文楷体" panose="02010600040101010101" pitchFamily="2" charset="-122"/>
              <a:ea typeface="华文楷体" panose="02010600040101010101" pitchFamily="2" charset="-122"/>
            </a:endParaRPr>
          </a:p>
          <a:p>
            <a:pPr lvl="0" indent="0">
              <a:lnSpc>
                <a:spcPct val="100000"/>
              </a:lnSpc>
            </a:pPr>
            <a:r>
              <a:rPr lang="en-US" altLang="x-none" sz="2300" dirty="0">
                <a:solidFill>
                  <a:srgbClr val="1E3A2B"/>
                </a:solidFill>
                <a:latin typeface="华文楷体" panose="02010600040101010101" pitchFamily="2" charset="-122"/>
                <a:ea typeface="华文楷体" panose="02010600040101010101" pitchFamily="2" charset="-122"/>
                <a:sym typeface="+mn-ea"/>
              </a:rPr>
              <a:t>BEGIN { TRANSACTION | TRAN | WORK } [</a:t>
            </a:r>
            <a:r>
              <a:rPr lang="zh-CN" altLang="en-US" sz="2300" dirty="0">
                <a:solidFill>
                  <a:srgbClr val="1E3A2B"/>
                </a:solidFill>
                <a:latin typeface="华文楷体" panose="02010600040101010101" pitchFamily="2" charset="-122"/>
                <a:ea typeface="华文楷体" panose="02010600040101010101" pitchFamily="2" charset="-122"/>
                <a:sym typeface="+mn-ea"/>
              </a:rPr>
              <a:t>事务名</a:t>
            </a:r>
            <a:r>
              <a:rPr lang="en-US" altLang="x-none" sz="2300" dirty="0">
                <a:solidFill>
                  <a:srgbClr val="1E3A2B"/>
                </a:solidFill>
                <a:latin typeface="华文楷体" panose="02010600040101010101" pitchFamily="2" charset="-122"/>
                <a:ea typeface="华文楷体" panose="02010600040101010101" pitchFamily="2" charset="-122"/>
                <a:sym typeface="+mn-ea"/>
              </a:rPr>
              <a:t>] </a:t>
            </a:r>
            <a:endParaRPr lang="en-US" altLang="x-none" sz="2300" dirty="0">
              <a:solidFill>
                <a:srgbClr val="1E3A2B"/>
              </a:solidFill>
              <a:latin typeface="华文楷体" panose="02010600040101010101" pitchFamily="2" charset="-122"/>
              <a:ea typeface="华文楷体" panose="02010600040101010101" pitchFamily="2" charset="-122"/>
            </a:endParaRPr>
          </a:p>
          <a:p>
            <a:pPr lvl="0" indent="0">
              <a:lnSpc>
                <a:spcPct val="100000"/>
              </a:lnSpc>
            </a:pPr>
            <a:r>
              <a:rPr lang="en-US" altLang="x-none" sz="2300" dirty="0">
                <a:solidFill>
                  <a:srgbClr val="1E3A2B"/>
                </a:solidFill>
                <a:latin typeface="华文楷体" panose="02010600040101010101" pitchFamily="2" charset="-122"/>
                <a:ea typeface="华文楷体" panose="02010600040101010101" pitchFamily="2" charset="-122"/>
                <a:sym typeface="+mn-ea"/>
              </a:rPr>
              <a:t>ROLLBACK { TRANSACTION | TRAN | WORK } [ </a:t>
            </a:r>
            <a:r>
              <a:rPr lang="zh-CN" altLang="en-US" sz="2300" dirty="0">
                <a:solidFill>
                  <a:srgbClr val="1E3A2B"/>
                </a:solidFill>
                <a:latin typeface="华文楷体" panose="02010600040101010101" pitchFamily="2" charset="-122"/>
                <a:ea typeface="华文楷体" panose="02010600040101010101" pitchFamily="2" charset="-122"/>
                <a:sym typeface="+mn-ea"/>
              </a:rPr>
              <a:t>事务名</a:t>
            </a:r>
            <a:r>
              <a:rPr lang="en-US" altLang="x-none" sz="2300" dirty="0">
                <a:solidFill>
                  <a:srgbClr val="1E3A2B"/>
                </a:solidFill>
                <a:latin typeface="华文楷体" panose="02010600040101010101" pitchFamily="2" charset="-122"/>
                <a:ea typeface="华文楷体" panose="02010600040101010101" pitchFamily="2" charset="-122"/>
                <a:sym typeface="+mn-ea"/>
              </a:rPr>
              <a:t>]</a:t>
            </a:r>
            <a:endParaRPr lang="en-US" altLang="x-none" sz="2300" dirty="0">
              <a:solidFill>
                <a:srgbClr val="1E3A2B"/>
              </a:solidFill>
              <a:latin typeface="华文楷体" panose="02010600040101010101" pitchFamily="2" charset="-122"/>
              <a:ea typeface="华文楷体" panose="02010600040101010101" pitchFamily="2" charset="-122"/>
            </a:endParaRPr>
          </a:p>
          <a:p>
            <a:pPr lvl="0" indent="0">
              <a:lnSpc>
                <a:spcPct val="100000"/>
              </a:lnSpc>
            </a:pPr>
            <a:r>
              <a:rPr lang="en-US" altLang="x-none" sz="2300" dirty="0">
                <a:solidFill>
                  <a:srgbClr val="1E3A2B"/>
                </a:solidFill>
                <a:latin typeface="华文楷体" panose="02010600040101010101" pitchFamily="2" charset="-122"/>
                <a:ea typeface="华文楷体" panose="02010600040101010101" pitchFamily="2" charset="-122"/>
                <a:sym typeface="+mn-ea"/>
              </a:rPr>
              <a:t>COMMIT { TRANSACTION | TRAN | WORK } [</a:t>
            </a:r>
            <a:r>
              <a:rPr lang="zh-CN" altLang="en-US" sz="2300" dirty="0">
                <a:solidFill>
                  <a:srgbClr val="1E3A2B"/>
                </a:solidFill>
                <a:latin typeface="华文楷体" panose="02010600040101010101" pitchFamily="2" charset="-122"/>
                <a:ea typeface="华文楷体" panose="02010600040101010101" pitchFamily="2" charset="-122"/>
                <a:sym typeface="+mn-ea"/>
              </a:rPr>
              <a:t>事务名</a:t>
            </a:r>
            <a:r>
              <a:rPr lang="en-US" altLang="x-none" sz="2300" dirty="0">
                <a:solidFill>
                  <a:srgbClr val="1E3A2B"/>
                </a:solidFill>
                <a:latin typeface="华文楷体" panose="02010600040101010101" pitchFamily="2" charset="-122"/>
                <a:ea typeface="华文楷体" panose="02010600040101010101" pitchFamily="2" charset="-122"/>
                <a:sym typeface="+mn-ea"/>
              </a:rPr>
              <a:t>] </a:t>
            </a:r>
            <a:endParaRPr lang="en-US" altLang="x-none" sz="2300" dirty="0">
              <a:solidFill>
                <a:srgbClr val="1E3A2B"/>
              </a:solidFill>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59394"/>
                                        </p:tgtEl>
                                        <p:attrNameLst>
                                          <p:attrName>style.visibility</p:attrName>
                                        </p:attrNameLst>
                                      </p:cBhvr>
                                      <p:to>
                                        <p:strVal val="visible"/>
                                      </p:to>
                                    </p:set>
                                    <p:anim calcmode="lin" valueType="num">
                                      <p:cBhvr>
                                        <p:cTn id="7" dur="500" fill="hold"/>
                                        <p:tgtEl>
                                          <p:spTgt spid="59394"/>
                                        </p:tgtEl>
                                        <p:attrNameLst>
                                          <p:attrName>ppt_x</p:attrName>
                                        </p:attrNameLst>
                                      </p:cBhvr>
                                      <p:tavLst>
                                        <p:tav tm="0">
                                          <p:val>
                                            <p:strVal val="0-#ppt_w/2"/>
                                          </p:val>
                                        </p:tav>
                                        <p:tav tm="100000">
                                          <p:val>
                                            <p:strVal val="#ppt_x"/>
                                          </p:val>
                                        </p:tav>
                                      </p:tavLst>
                                    </p:anim>
                                    <p:anim calcmode="lin" valueType="num">
                                      <p:cBhvr>
                                        <p:cTn id="8" dur="500" fill="hold"/>
                                        <p:tgtEl>
                                          <p:spTgt spid="5939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2"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0-#ppt_w/2"/>
                                          </p:val>
                                        </p:tav>
                                        <p:tav tm="100000">
                                          <p:val>
                                            <p:strVal val="#ppt_x"/>
                                          </p:val>
                                        </p:tav>
                                      </p:tavLst>
                                    </p:anim>
                                    <p:anim calcmode="lin" valueType="num">
                                      <p:cBhvr>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bldLvl="0" animBg="1"/>
      <p:bldP spid="5"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634365" y="2043430"/>
            <a:ext cx="7877175" cy="1553845"/>
          </a:xfrm>
          <a:prstGeom prst="rect">
            <a:avLst/>
          </a:prstGeom>
          <a:ln>
            <a:solidFill>
              <a:schemeClr val="accent1"/>
            </a:solidFill>
          </a:ln>
        </p:spPr>
        <p:txBody>
          <a:bodyPr/>
          <a:lstStyle/>
          <a:p>
            <a:pPr marL="342900" marR="0" lvl="0" indent="-342900" algn="l" defTabSz="914400" rtl="0" eaLnBrk="0" fontAlgn="base" latinLnBrk="0" hangingPunct="0">
              <a:lnSpc>
                <a:spcPct val="125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一个数据库操作序列</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25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一个不可分割的工作单位</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25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恢复和并发控制的基本单位</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9" name="Rectangle 2"/>
          <p:cNvSpPr txBox="1">
            <a:spLocks noChangeArrowheads="1"/>
          </p:cNvSpPr>
          <p:nvPr/>
        </p:nvSpPr>
        <p:spPr>
          <a:xfrm>
            <a:off x="518795" y="1479550"/>
            <a:ext cx="7086600" cy="569595"/>
          </a:xfrm>
          <a:prstGeom prst="rect">
            <a:avLst/>
          </a:prstGeom>
        </p:spPr>
        <p:txBody>
          <a:bodyPr/>
          <a:lstStyle/>
          <a:p>
            <a:pPr marR="0" lvl="0" algn="l" defTabSz="914400" rtl="0" eaLnBrk="0" fontAlgn="base" latinLnBrk="0" hangingPunct="0">
              <a:lnSpc>
                <a:spcPct val="100000"/>
              </a:lnSpc>
              <a:spcBef>
                <a:spcPct val="0"/>
              </a:spcBef>
              <a:spcAft>
                <a:spcPct val="0"/>
              </a:spcAft>
              <a:buClrTx/>
              <a:buSzTx/>
              <a:buFont typeface="Wingdings" panose="05000000000000000000" charset="0"/>
              <a:buNone/>
              <a:defRPr/>
            </a:pPr>
            <a:r>
              <a:rPr kumimoji="1" lang="zh-CN" altLang="en-US" sz="28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事务的含义</a:t>
            </a:r>
            <a:endParaRPr kumimoji="1" lang="zh-CN" altLang="en-US" sz="28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5" name="Rectangle 3"/>
          <p:cNvSpPr txBox="1">
            <a:spLocks noChangeArrowheads="1"/>
          </p:cNvSpPr>
          <p:nvPr/>
        </p:nvSpPr>
        <p:spPr>
          <a:xfrm>
            <a:off x="622935" y="4350385"/>
            <a:ext cx="7877175" cy="1553845"/>
          </a:xfrm>
          <a:prstGeom prst="rect">
            <a:avLst/>
          </a:prstGeom>
          <a:ln>
            <a:solidFill>
              <a:schemeClr val="accent1"/>
            </a:solidFill>
          </a:ln>
        </p:spPr>
        <p:txBody>
          <a:bodyPr lIns="0" rIns="0"/>
          <a:lstStyle/>
          <a:p>
            <a:pPr marL="342900" marR="0" lvl="0" indent="-342900" algn="l" defTabSz="914400" rtl="0" eaLnBrk="0" fontAlgn="base" latinLnBrk="0" hangingPunct="0">
              <a:lnSpc>
                <a:spcPct val="125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在关系数据库中，一个事务可以是一条或多条</a:t>
            </a:r>
            <a:r>
              <a:rPr kumimoji="0" lang="en-US" altLang="zh-CN"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SQL</a:t>
            </a: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语句，也可以包含一个或多个程序</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25000"/>
              </a:lnSpc>
              <a:spcBef>
                <a:spcPts val="200"/>
              </a:spcBef>
              <a:spcAft>
                <a:spcPts val="0"/>
              </a:spcAft>
              <a:buClr>
                <a:srgbClr val="0033CC"/>
              </a:buClr>
              <a:buSzPct val="80000"/>
              <a:buFont typeface="Wingdings" panose="05000000000000000000" pitchFamily="2" charset="2"/>
              <a:buChar char="u"/>
              <a:defRPr/>
            </a:pPr>
            <a:r>
              <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一个程序通常包含多个事务</a:t>
            </a:r>
            <a:endParaRPr kumimoji="0" lang="zh-CN" altLang="en-US" sz="24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p:txBody>
      </p:sp>
      <p:sp>
        <p:nvSpPr>
          <p:cNvPr id="6" name="Rectangle 2"/>
          <p:cNvSpPr txBox="1">
            <a:spLocks noChangeArrowheads="1"/>
          </p:cNvSpPr>
          <p:nvPr/>
        </p:nvSpPr>
        <p:spPr>
          <a:xfrm>
            <a:off x="634365" y="3797935"/>
            <a:ext cx="7086600" cy="569595"/>
          </a:xfrm>
          <a:prstGeom prst="rect">
            <a:avLst/>
          </a:prstGeom>
        </p:spPr>
        <p:txBody>
          <a:bodyPr/>
          <a:lstStyle/>
          <a:p>
            <a:pPr marR="0" lvl="0" algn="l" defTabSz="914400" rtl="0" eaLnBrk="0" fontAlgn="base" latinLnBrk="0" hangingPunct="0">
              <a:lnSpc>
                <a:spcPct val="100000"/>
              </a:lnSpc>
              <a:spcBef>
                <a:spcPct val="0"/>
              </a:spcBef>
              <a:spcAft>
                <a:spcPct val="0"/>
              </a:spcAft>
              <a:buClrTx/>
              <a:buSzTx/>
              <a:buFont typeface="Wingdings" panose="05000000000000000000" charset="0"/>
              <a:buNone/>
              <a:defRPr/>
            </a:pPr>
            <a:r>
              <a:rPr kumimoji="1" lang="zh-CN" altLang="en-US" sz="2800" b="1" i="0" u="none" strike="noStrike" kern="0" cap="none" spc="0" normalizeH="0" baseline="0" noProof="0" dirty="0" smtClean="0">
                <a:ln>
                  <a:noFill/>
                </a:ln>
                <a:solidFill>
                  <a:srgbClr val="3333CC"/>
                </a:solidFill>
                <a:effectLst/>
                <a:uLnTx/>
                <a:uFillTx/>
                <a:latin typeface="宋体" panose="02010600030101010101" pitchFamily="2" charset="-122"/>
                <a:ea typeface="+mj-ea"/>
                <a:cs typeface="+mj-cs"/>
              </a:rPr>
              <a:t>事务和</a:t>
            </a:r>
            <a:r>
              <a:rPr kumimoji="1" lang="zh-CN" altLang="en-US" sz="2800" b="1" i="0" u="none" strike="noStrike" kern="0" cap="none" spc="0" normalizeH="0" baseline="0" noProof="0" dirty="0">
                <a:ln>
                  <a:noFill/>
                </a:ln>
                <a:solidFill>
                  <a:srgbClr val="3333CC"/>
                </a:solidFill>
                <a:effectLst/>
                <a:uLnTx/>
                <a:uFillTx/>
                <a:latin typeface="宋体" panose="02010600030101010101" pitchFamily="2" charset="-122"/>
                <a:ea typeface="+mj-ea"/>
                <a:cs typeface="+mj-cs"/>
              </a:rPr>
              <a:t>程序的比较</a:t>
            </a:r>
            <a:endParaRPr kumimoji="1" lang="zh-CN" altLang="en-US" sz="2800" b="1" i="0" u="none" strike="noStrike" kern="0" cap="none" spc="0" normalizeH="0" baseline="0" noProof="0" dirty="0">
              <a:ln>
                <a:noFill/>
              </a:ln>
              <a:solidFill>
                <a:srgbClr val="3333CC"/>
              </a:solidFill>
              <a:effectLst/>
              <a:uLnTx/>
              <a:uFillTx/>
              <a:latin typeface="宋体" panose="02010600030101010101" pitchFamily="2" charset="-122"/>
              <a:ea typeface="+mj-ea"/>
              <a:cs typeface="+mj-cs"/>
            </a:endParaRPr>
          </a:p>
        </p:txBody>
      </p:sp>
      <p:sp>
        <p:nvSpPr>
          <p:cNvPr id="2"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二、事务机制与事务管理</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52227" name="Rectangle 7"/>
          <p:cNvSpPr/>
          <p:nvPr/>
        </p:nvSpPr>
        <p:spPr>
          <a:xfrm>
            <a:off x="539750" y="7937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、事务的执行保证</a:t>
            </a:r>
            <a:endParaRPr lang="en-US" altLang="x-none"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二、事务机制与事务管理</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55299" name="Text Box 3"/>
          <p:cNvSpPr txBox="1"/>
          <p:nvPr/>
        </p:nvSpPr>
        <p:spPr>
          <a:xfrm>
            <a:off x="557530" y="1365250"/>
            <a:ext cx="8167370" cy="889635"/>
          </a:xfrm>
          <a:prstGeom prst="rect">
            <a:avLst/>
          </a:prstGeom>
          <a:noFill/>
          <a:ln w="9525">
            <a:noFill/>
          </a:ln>
        </p:spPr>
        <p:txBody>
          <a:bodyPr anchor="t"/>
          <a:lstStyle/>
          <a:p>
            <a:pPr lvl="0" eaLnBrk="0" hangingPunct="0">
              <a:lnSpc>
                <a:spcPct val="110000"/>
              </a:lnSpc>
              <a:spcBef>
                <a:spcPts val="300"/>
              </a:spcBef>
              <a:buClr>
                <a:srgbClr val="0033CC"/>
              </a:buClr>
              <a:buSzPct val="80000"/>
              <a:buFont typeface="Wingdings" panose="05000000000000000000" pitchFamily="2" charset="2"/>
            </a:pPr>
            <a:r>
              <a:rPr lang="en-US" altLang="zh-CN" sz="2400" dirty="0">
                <a:latin typeface="华文楷体" panose="02010600040101010101" pitchFamily="2" charset="-122"/>
                <a:ea typeface="宋体" panose="02010600030101010101" pitchFamily="2" charset="-122"/>
              </a:rPr>
              <a:t>     </a:t>
            </a:r>
            <a:r>
              <a:rPr lang="zh-CN" altLang="en-US" sz="2400" dirty="0">
                <a:latin typeface="华文楷体" panose="02010600040101010101" pitchFamily="2" charset="-122"/>
                <a:ea typeface="宋体" panose="02010600030101010101" pitchFamily="2" charset="-122"/>
              </a:rPr>
              <a:t> </a:t>
            </a:r>
            <a:r>
              <a:rPr lang="zh-CN" altLang="en-US" sz="2200" dirty="0">
                <a:latin typeface="华文楷体" panose="02010600040101010101" pitchFamily="2" charset="-122"/>
                <a:ea typeface="宋体" panose="02010600030101010101" pitchFamily="2" charset="-122"/>
              </a:rPr>
              <a:t>在程序中</a:t>
            </a:r>
            <a:r>
              <a:rPr lang="zh-CN" altLang="en-US" sz="2200" u="sng" dirty="0">
                <a:solidFill>
                  <a:srgbClr val="0033CC"/>
                </a:solidFill>
                <a:latin typeface="华文楷体" panose="02010600040101010101" pitchFamily="2" charset="-122"/>
                <a:ea typeface="宋体" panose="02010600030101010101" pitchFamily="2" charset="-122"/>
              </a:rPr>
              <a:t>事务以</a:t>
            </a:r>
            <a:r>
              <a:rPr lang="en-US" altLang="x-none" sz="2200" u="sng" dirty="0">
                <a:solidFill>
                  <a:srgbClr val="0033CC"/>
                </a:solidFill>
                <a:latin typeface="华文中宋" panose="02010600040101010101" charset="-122"/>
                <a:ea typeface="华文中宋" panose="02010600040101010101" charset="-122"/>
              </a:rPr>
              <a:t>BEGIN TRANSACTION </a:t>
            </a:r>
            <a:r>
              <a:rPr lang="zh-CN" altLang="en-US" sz="2200" u="sng" dirty="0">
                <a:solidFill>
                  <a:srgbClr val="0033CC"/>
                </a:solidFill>
                <a:latin typeface="华文楷体" panose="02010600040101010101" pitchFamily="2" charset="-122"/>
                <a:ea typeface="宋体" panose="02010600030101010101" pitchFamily="2" charset="-122"/>
              </a:rPr>
              <a:t>开始，以</a:t>
            </a:r>
            <a:r>
              <a:rPr lang="en-US" altLang="x-none" sz="2200" u="sng" dirty="0">
                <a:solidFill>
                  <a:srgbClr val="FF0000"/>
                </a:solidFill>
                <a:latin typeface="华文中宋" panose="02010600040101010101" charset="-122"/>
                <a:ea typeface="华文中宋" panose="02010600040101010101" charset="-122"/>
              </a:rPr>
              <a:t>COMMIT</a:t>
            </a:r>
            <a:r>
              <a:rPr lang="zh-CN" altLang="en-US" sz="2200" u="sng" dirty="0">
                <a:solidFill>
                  <a:srgbClr val="0033CC"/>
                </a:solidFill>
                <a:latin typeface="华文楷体" panose="02010600040101010101" pitchFamily="2" charset="-122"/>
                <a:ea typeface="宋体" panose="02010600030101010101" pitchFamily="2" charset="-122"/>
              </a:rPr>
              <a:t>语句或</a:t>
            </a:r>
            <a:r>
              <a:rPr lang="en-US" altLang="x-none" sz="2200" u="sng" dirty="0">
                <a:solidFill>
                  <a:srgbClr val="FF0000"/>
                </a:solidFill>
                <a:latin typeface="华文中宋" panose="02010600040101010101" charset="-122"/>
                <a:ea typeface="华文中宋" panose="02010600040101010101" charset="-122"/>
              </a:rPr>
              <a:t>ROLLBACK</a:t>
            </a:r>
            <a:r>
              <a:rPr lang="zh-CN" altLang="en-US" sz="2200" u="sng" dirty="0">
                <a:solidFill>
                  <a:srgbClr val="0033CC"/>
                </a:solidFill>
                <a:latin typeface="华文楷体" panose="02010600040101010101" pitchFamily="2" charset="-122"/>
                <a:ea typeface="宋体" panose="02010600030101010101" pitchFamily="2" charset="-122"/>
              </a:rPr>
              <a:t>语句结束。</a:t>
            </a:r>
            <a:endParaRPr lang="zh-CN" altLang="en-US" sz="2200" u="sng" dirty="0">
              <a:solidFill>
                <a:srgbClr val="0033CC"/>
              </a:solidFill>
              <a:latin typeface="华文楷体" panose="02010600040101010101" pitchFamily="2" charset="-122"/>
              <a:ea typeface="宋体" panose="02010600030101010101" pitchFamily="2" charset="-122"/>
            </a:endParaRPr>
          </a:p>
          <a:p>
            <a:pPr lvl="0" eaLnBrk="0" hangingPunct="0">
              <a:lnSpc>
                <a:spcPct val="110000"/>
              </a:lnSpc>
              <a:spcBef>
                <a:spcPts val="300"/>
              </a:spcBef>
              <a:buClr>
                <a:srgbClr val="0033CC"/>
              </a:buClr>
              <a:buSzPct val="80000"/>
              <a:buFont typeface="Wingdings" panose="05000000000000000000" pitchFamily="2" charset="2"/>
            </a:pPr>
            <a:endParaRPr lang="zh-CN" altLang="en-US" sz="2300" u="sng" dirty="0">
              <a:solidFill>
                <a:srgbClr val="0033CC"/>
              </a:solidFill>
              <a:latin typeface="华文楷体" panose="02010600040101010101" pitchFamily="2" charset="-122"/>
              <a:ea typeface="宋体" panose="02010600030101010101" pitchFamily="2" charset="-122"/>
            </a:endParaRPr>
          </a:p>
          <a:p>
            <a:pPr lvl="0" eaLnBrk="0" hangingPunct="0">
              <a:lnSpc>
                <a:spcPct val="110000"/>
              </a:lnSpc>
              <a:spcBef>
                <a:spcPts val="300"/>
              </a:spcBef>
              <a:buClr>
                <a:srgbClr val="0033CC"/>
              </a:buClr>
              <a:buSzPct val="80000"/>
              <a:buFont typeface="Wingdings" panose="05000000000000000000" pitchFamily="2" charset="2"/>
            </a:pPr>
            <a:endParaRPr lang="zh-CN" altLang="en-US" sz="2300" u="sng" dirty="0">
              <a:solidFill>
                <a:srgbClr val="0033CC"/>
              </a:solidFill>
              <a:latin typeface="华文楷体" panose="02010600040101010101" pitchFamily="2" charset="-122"/>
              <a:ea typeface="宋体" panose="02010600030101010101" pitchFamily="2" charset="-122"/>
            </a:endParaRPr>
          </a:p>
          <a:p>
            <a:pPr lvl="0" eaLnBrk="0" hangingPunct="0">
              <a:lnSpc>
                <a:spcPct val="110000"/>
              </a:lnSpc>
              <a:spcBef>
                <a:spcPts val="300"/>
              </a:spcBef>
              <a:buClr>
                <a:srgbClr val="0033CC"/>
              </a:buClr>
              <a:buSzPct val="80000"/>
              <a:buFont typeface="Wingdings" panose="05000000000000000000" pitchFamily="2" charset="2"/>
            </a:pPr>
            <a:endParaRPr lang="zh-CN" altLang="en-US" sz="2300" u="sng" dirty="0">
              <a:solidFill>
                <a:srgbClr val="0033CC"/>
              </a:solidFill>
              <a:latin typeface="华文楷体" panose="02010600040101010101" pitchFamily="2" charset="-122"/>
              <a:ea typeface="宋体" panose="02010600030101010101" pitchFamily="2" charset="-122"/>
            </a:endParaRPr>
          </a:p>
          <a:p>
            <a:pPr lvl="0" eaLnBrk="0" hangingPunct="0">
              <a:lnSpc>
                <a:spcPct val="110000"/>
              </a:lnSpc>
              <a:spcBef>
                <a:spcPts val="300"/>
              </a:spcBef>
              <a:buClr>
                <a:srgbClr val="0033CC"/>
              </a:buClr>
              <a:buSzPct val="80000"/>
              <a:buFont typeface="Wingdings" panose="05000000000000000000" pitchFamily="2" charset="2"/>
            </a:pPr>
            <a:endParaRPr lang="zh-CN" altLang="en-US" sz="2400" dirty="0">
              <a:latin typeface="华文楷体" panose="02010600040101010101" pitchFamily="2" charset="-122"/>
              <a:ea typeface="宋体" panose="02010600030101010101" pitchFamily="2" charset="-122"/>
            </a:endParaRPr>
          </a:p>
        </p:txBody>
      </p:sp>
      <p:sp>
        <p:nvSpPr>
          <p:cNvPr id="3" name="Text Box 3"/>
          <p:cNvSpPr txBox="1"/>
          <p:nvPr/>
        </p:nvSpPr>
        <p:spPr>
          <a:xfrm>
            <a:off x="659130" y="2305685"/>
            <a:ext cx="7989570" cy="1207135"/>
          </a:xfrm>
          <a:prstGeom prst="rect">
            <a:avLst/>
          </a:prstGeom>
          <a:noFill/>
          <a:ln w="9525">
            <a:solidFill>
              <a:srgbClr val="3402C2"/>
            </a:solidFill>
            <a:prstDash val="dash"/>
          </a:ln>
        </p:spPr>
        <p:txBody>
          <a:bodyPr anchor="t"/>
          <a:lstStyle/>
          <a:p>
            <a:pPr marL="342900" lvl="0" indent="-342900" eaLnBrk="0" hangingPunct="0">
              <a:lnSpc>
                <a:spcPct val="100000"/>
              </a:lnSpc>
              <a:spcBef>
                <a:spcPts val="300"/>
              </a:spcBef>
              <a:buClr>
                <a:srgbClr val="0033CC"/>
              </a:buClr>
              <a:buSzPct val="80000"/>
              <a:buFont typeface="Wingdings" panose="05000000000000000000" charset="0"/>
              <a:buChar char=""/>
            </a:pPr>
            <a:r>
              <a:rPr lang="en-US" altLang="x-none" sz="2300" dirty="0">
                <a:latin typeface="楷体" panose="02010609060101010101" pitchFamily="1" charset="-122"/>
                <a:ea typeface="楷体" panose="02010609060101010101" pitchFamily="1" charset="-122"/>
                <a:sym typeface="+mn-ea"/>
              </a:rPr>
              <a:t>Commit</a:t>
            </a:r>
            <a:r>
              <a:rPr lang="zh-CN" altLang="en-US" sz="2300" dirty="0">
                <a:latin typeface="楷体" panose="02010609060101010101" pitchFamily="1" charset="-122"/>
                <a:ea typeface="楷体" panose="02010609060101010101" pitchFamily="1" charset="-122"/>
                <a:sym typeface="+mn-ea"/>
              </a:rPr>
              <a:t>表示事务执行成功地结束（提交）。</a:t>
            </a:r>
            <a:endParaRPr lang="zh-CN" altLang="en-US" sz="2300" dirty="0">
              <a:latin typeface="楷体" panose="02010609060101010101" pitchFamily="1" charset="-122"/>
              <a:ea typeface="楷体" panose="02010609060101010101" pitchFamily="1" charset="-122"/>
              <a:sym typeface="+mn-ea"/>
            </a:endParaRPr>
          </a:p>
          <a:p>
            <a:pPr marL="342900" lvl="0" indent="-342900" eaLnBrk="0" hangingPunct="0">
              <a:lnSpc>
                <a:spcPct val="100000"/>
              </a:lnSpc>
              <a:spcBef>
                <a:spcPts val="300"/>
              </a:spcBef>
              <a:buClr>
                <a:srgbClr val="0033CC"/>
              </a:buClr>
              <a:buSzPct val="80000"/>
              <a:buFont typeface="Wingdings" panose="05000000000000000000" charset="0"/>
              <a:buChar char=""/>
            </a:pPr>
            <a:r>
              <a:rPr lang="en-US" altLang="x-none" sz="2300" dirty="0">
                <a:latin typeface="楷体" panose="02010609060101010101" pitchFamily="1" charset="-122"/>
                <a:ea typeface="楷体" panose="02010609060101010101" pitchFamily="1" charset="-122"/>
                <a:sym typeface="+mn-ea"/>
              </a:rPr>
              <a:t>Rollback</a:t>
            </a:r>
            <a:r>
              <a:rPr lang="zh-CN" altLang="en-US" sz="2300" dirty="0">
                <a:latin typeface="楷体" panose="02010609060101010101" pitchFamily="1" charset="-122"/>
                <a:ea typeface="楷体" panose="02010609060101010101" pitchFamily="1" charset="-122"/>
                <a:sym typeface="+mn-ea"/>
              </a:rPr>
              <a:t>表示事务执行不成功（回退），</a:t>
            </a:r>
            <a:r>
              <a:rPr lang="en-US" altLang="x-none" sz="2300" dirty="0">
                <a:latin typeface="楷体" panose="02010609060101010101" pitchFamily="1" charset="-122"/>
                <a:ea typeface="楷体" panose="02010609060101010101" pitchFamily="1" charset="-122"/>
                <a:sym typeface="+mn-ea"/>
              </a:rPr>
              <a:t>DBMS</a:t>
            </a:r>
            <a:r>
              <a:rPr lang="zh-CN" altLang="en-US" sz="2300" dirty="0">
                <a:latin typeface="楷体" panose="02010609060101010101" pitchFamily="1" charset="-122"/>
                <a:ea typeface="楷体" panose="02010609060101010101" pitchFamily="1" charset="-122"/>
                <a:sym typeface="+mn-ea"/>
              </a:rPr>
              <a:t>将事务中对数据库的所有已完成的更新操作全部撤销。</a:t>
            </a:r>
            <a:endParaRPr lang="zh-CN" altLang="en-US" sz="2300" dirty="0">
              <a:latin typeface="楷体" panose="02010609060101010101" pitchFamily="1" charset="-122"/>
              <a:ea typeface="楷体" panose="02010609060101010101" pitchFamily="1" charset="-122"/>
            </a:endParaRPr>
          </a:p>
        </p:txBody>
      </p:sp>
      <p:grpSp>
        <p:nvGrpSpPr>
          <p:cNvPr id="5" name="组合 4"/>
          <p:cNvGrpSpPr/>
          <p:nvPr/>
        </p:nvGrpSpPr>
        <p:grpSpPr>
          <a:xfrm>
            <a:off x="688975" y="3550920"/>
            <a:ext cx="7973695" cy="2581275"/>
            <a:chOff x="1085" y="5592"/>
            <a:chExt cx="12557" cy="4065"/>
          </a:xfrm>
        </p:grpSpPr>
        <p:graphicFrame>
          <p:nvGraphicFramePr>
            <p:cNvPr id="56323" name="Object 2"/>
            <p:cNvGraphicFramePr>
              <a:graphicFrameLocks noGrp="1" noChangeAspect="1"/>
            </p:cNvGraphicFramePr>
            <p:nvPr/>
          </p:nvGraphicFramePr>
          <p:xfrm>
            <a:off x="1098" y="5592"/>
            <a:ext cx="12544" cy="3574"/>
          </p:xfrm>
          <a:graphic>
            <a:graphicData uri="http://schemas.openxmlformats.org/presentationml/2006/ole">
              <mc:AlternateContent xmlns:mc="http://schemas.openxmlformats.org/markup-compatibility/2006">
                <mc:Choice xmlns:v="urn:schemas-microsoft-com:vml" Requires="v">
                  <p:oleObj spid="_x0000_s3112" name="" r:id="rId1" imgW="5029200" imgH="1388110" progId="Word.Picture.8">
                    <p:embed/>
                  </p:oleObj>
                </mc:Choice>
                <mc:Fallback>
                  <p:oleObj name="" r:id="rId1" imgW="5029200" imgH="1388110" progId="Word.Picture.8">
                    <p:embed/>
                    <p:pic>
                      <p:nvPicPr>
                        <p:cNvPr id="0" name="图片 3078"/>
                        <p:cNvPicPr/>
                        <p:nvPr/>
                      </p:nvPicPr>
                      <p:blipFill>
                        <a:blip r:embed="rId2"/>
                        <a:stretch>
                          <a:fillRect/>
                        </a:stretch>
                      </p:blipFill>
                      <p:spPr>
                        <a:xfrm>
                          <a:off x="1098" y="5592"/>
                          <a:ext cx="12544" cy="3574"/>
                        </a:xfrm>
                        <a:prstGeom prst="rect">
                          <a:avLst/>
                        </a:prstGeom>
                        <a:noFill/>
                        <a:ln w="38100">
                          <a:noFill/>
                          <a:miter/>
                        </a:ln>
                      </p:spPr>
                    </p:pic>
                  </p:oleObj>
                </mc:Fallback>
              </mc:AlternateContent>
            </a:graphicData>
          </a:graphic>
        </p:graphicFrame>
        <p:sp>
          <p:nvSpPr>
            <p:cNvPr id="56322" name="Text Box 2"/>
            <p:cNvSpPr txBox="1"/>
            <p:nvPr/>
          </p:nvSpPr>
          <p:spPr>
            <a:xfrm>
              <a:off x="1085" y="8447"/>
              <a:ext cx="12475" cy="1210"/>
            </a:xfrm>
            <a:prstGeom prst="rect">
              <a:avLst/>
            </a:prstGeom>
            <a:noFill/>
            <a:ln w="9525">
              <a:noFill/>
            </a:ln>
          </p:spPr>
          <p:txBody>
            <a:bodyPr anchor="t">
              <a:spAutoFit/>
            </a:bodyPr>
            <a:lstStyle/>
            <a:p>
              <a:pPr lvl="0" indent="0">
                <a:lnSpc>
                  <a:spcPct val="100000"/>
                </a:lnSpc>
                <a:spcBef>
                  <a:spcPct val="50000"/>
                </a:spcBef>
                <a:buFont typeface="Wingdings" panose="05000000000000000000" pitchFamily="2" charset="2"/>
                <a:buChar char="Ø"/>
              </a:pPr>
              <a:r>
                <a:rPr lang="en-US" altLang="x-none" sz="2200" u="sng" dirty="0">
                  <a:solidFill>
                    <a:srgbClr val="3402C2"/>
                  </a:solidFill>
                  <a:latin typeface="华文中宋" panose="02010600040101010101" charset="-122"/>
                  <a:ea typeface="华文中宋" panose="02010600040101010101" charset="-122"/>
                  <a:cs typeface="+mn-ea"/>
                </a:rPr>
                <a:t>事务状态有：</a:t>
              </a:r>
              <a:r>
                <a:rPr lang="zh-CN" altLang="en-US" sz="2200" dirty="0">
                  <a:latin typeface="华文楷体" panose="02010600040101010101" pitchFamily="2" charset="-122"/>
                  <a:ea typeface="宋体" panose="02010600030101010101" pitchFamily="2" charset="-122"/>
                  <a:cs typeface="+mn-ea"/>
                </a:rPr>
                <a:t>活动状态、操作结束、事务提交、事务结束、事务失败、回退。</a:t>
              </a:r>
              <a:endParaRPr lang="zh-CN" altLang="en-US" sz="2200" dirty="0">
                <a:latin typeface="华文楷体" panose="02010600040101010101" pitchFamily="2" charset="-122"/>
                <a:ea typeface="宋体" panose="02010600030101010101" pitchFamily="2" charset="-122"/>
                <a:cs typeface="+mn-ea"/>
              </a:endParaRPr>
            </a:p>
          </p:txBody>
        </p:sp>
      </p:grpSp>
      <p:sp>
        <p:nvSpPr>
          <p:cNvPr id="6" name="Rectangle 7"/>
          <p:cNvSpPr/>
          <p:nvPr/>
        </p:nvSpPr>
        <p:spPr>
          <a:xfrm>
            <a:off x="539750" y="7937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、事务的执行保证</a:t>
            </a:r>
            <a:endParaRPr lang="en-US" altLang="x-none"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7"/>
          <p:cNvSpPr/>
          <p:nvPr/>
        </p:nvSpPr>
        <p:spPr>
          <a:xfrm>
            <a:off x="552450" y="8064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2</a:t>
            </a:r>
            <a:r>
              <a:rPr lang="zh-CN" altLang="en-US" sz="2800" dirty="0">
                <a:solidFill>
                  <a:srgbClr val="FF0000"/>
                </a:solidFill>
                <a:latin typeface="黑体" panose="02010609060101010101" pitchFamily="1" charset="-122"/>
                <a:ea typeface="黑体" panose="02010609060101010101" pitchFamily="1" charset="-122"/>
              </a:rPr>
              <a:t>、事务的执行保证</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2"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二、事务机制与事务管理</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60418" name="Text Box 3"/>
          <p:cNvSpPr txBox="1"/>
          <p:nvPr/>
        </p:nvSpPr>
        <p:spPr>
          <a:xfrm>
            <a:off x="643255" y="1939925"/>
            <a:ext cx="7858125" cy="3992245"/>
          </a:xfrm>
          <a:prstGeom prst="rect">
            <a:avLst/>
          </a:prstGeom>
          <a:noFill/>
          <a:ln w="9525">
            <a:solidFill>
              <a:srgbClr val="3402C2"/>
            </a:solidFill>
            <a:prstDash val="dash"/>
          </a:ln>
        </p:spPr>
        <p:txBody>
          <a:bodyPr wrap="square" anchor="t">
            <a:spAutoFit/>
          </a:bodyPr>
          <a:lstStyle/>
          <a:p>
            <a:pPr lvl="0" indent="0">
              <a:lnSpc>
                <a:spcPct val="92000"/>
              </a:lnSpc>
              <a:spcBef>
                <a:spcPts val="0"/>
              </a:spcBef>
              <a:spcAft>
                <a:spcPts val="0"/>
              </a:spcAft>
            </a:pPr>
            <a:r>
              <a:rPr lang="en-US" altLang="x-none" sz="2300" dirty="0">
                <a:latin typeface="华文楷体" panose="02010600040101010101" pitchFamily="2" charset="-122"/>
                <a:ea typeface="华文楷体" panose="02010600040101010101" pitchFamily="2" charset="-122"/>
              </a:rPr>
              <a:t> BEGIN TRAN  accout_transfer</a:t>
            </a:r>
            <a:endParaRPr lang="en-US" altLang="x-none" sz="2300" dirty="0">
              <a:latin typeface="华文楷体" panose="02010600040101010101" pitchFamily="2" charset="-122"/>
              <a:ea typeface="华文楷体" panose="02010600040101010101" pitchFamily="2" charset="-122"/>
            </a:endParaRPr>
          </a:p>
          <a:p>
            <a:pPr lvl="0" indent="0">
              <a:lnSpc>
                <a:spcPct val="92000"/>
              </a:lnSpc>
              <a:spcBef>
                <a:spcPts val="0"/>
              </a:spcBef>
              <a:spcAft>
                <a:spcPts val="0"/>
              </a:spcAft>
            </a:pPr>
            <a:r>
              <a:rPr lang="en-US" altLang="x-none" sz="2300" dirty="0">
                <a:latin typeface="华文楷体" panose="02010600040101010101" pitchFamily="2" charset="-122"/>
                <a:ea typeface="华文楷体" panose="02010600040101010101" pitchFamily="2" charset="-122"/>
              </a:rPr>
              <a:t>     UPDATE  Accounts</a:t>
            </a:r>
            <a:endParaRPr lang="en-US" altLang="x-none" sz="2300" dirty="0">
              <a:latin typeface="华文楷体" panose="02010600040101010101" pitchFamily="2" charset="-122"/>
              <a:ea typeface="华文楷体" panose="02010600040101010101" pitchFamily="2" charset="-122"/>
            </a:endParaRPr>
          </a:p>
          <a:p>
            <a:pPr lvl="0" indent="0">
              <a:lnSpc>
                <a:spcPct val="92000"/>
              </a:lnSpc>
              <a:spcBef>
                <a:spcPts val="0"/>
              </a:spcBef>
              <a:spcAft>
                <a:spcPts val="0"/>
              </a:spcAft>
            </a:pPr>
            <a:r>
              <a:rPr lang="en-US" altLang="x-none" sz="2300" dirty="0">
                <a:latin typeface="华文楷体" panose="02010600040101010101" pitchFamily="2" charset="-122"/>
                <a:ea typeface="华文楷体" panose="02010600040101010101" pitchFamily="2" charset="-122"/>
              </a:rPr>
              <a:t>     SET balance = balance – 900</a:t>
            </a:r>
            <a:endParaRPr lang="en-US" altLang="x-none" sz="2300" dirty="0">
              <a:latin typeface="华文楷体" panose="02010600040101010101" pitchFamily="2" charset="-122"/>
              <a:ea typeface="华文楷体" panose="02010600040101010101" pitchFamily="2" charset="-122"/>
            </a:endParaRPr>
          </a:p>
          <a:p>
            <a:pPr lvl="0" indent="0">
              <a:lnSpc>
                <a:spcPct val="92000"/>
              </a:lnSpc>
              <a:spcBef>
                <a:spcPts val="0"/>
              </a:spcBef>
              <a:spcAft>
                <a:spcPts val="0"/>
              </a:spcAft>
            </a:pPr>
            <a:r>
              <a:rPr lang="en-US" altLang="x-none" sz="2300" dirty="0">
                <a:latin typeface="华文楷体" panose="02010600040101010101" pitchFamily="2" charset="-122"/>
                <a:ea typeface="华文楷体" panose="02010600040101010101" pitchFamily="2" charset="-122"/>
              </a:rPr>
              <a:t>     WHERE account_id='A'</a:t>
            </a:r>
            <a:endParaRPr lang="en-US" altLang="x-none" sz="2300" dirty="0">
              <a:latin typeface="华文楷体" panose="02010600040101010101" pitchFamily="2" charset="-122"/>
              <a:ea typeface="华文楷体" panose="02010600040101010101" pitchFamily="2" charset="-122"/>
            </a:endParaRPr>
          </a:p>
          <a:p>
            <a:pPr lvl="0" indent="0">
              <a:lnSpc>
                <a:spcPct val="92000"/>
              </a:lnSpc>
              <a:spcBef>
                <a:spcPts val="0"/>
              </a:spcBef>
              <a:spcAft>
                <a:spcPts val="0"/>
              </a:spcAft>
            </a:pPr>
            <a:r>
              <a:rPr lang="en-US" altLang="x-none" sz="2300" dirty="0">
                <a:latin typeface="华文楷体" panose="02010600040101010101" pitchFamily="2" charset="-122"/>
                <a:ea typeface="华文楷体" panose="02010600040101010101" pitchFamily="2" charset="-122"/>
              </a:rPr>
              <a:t>  </a:t>
            </a:r>
            <a:r>
              <a:rPr lang="en-US" altLang="x-none" sz="2300" dirty="0">
                <a:solidFill>
                  <a:srgbClr val="3402C2"/>
                </a:solidFill>
                <a:latin typeface="华文楷体" panose="02010600040101010101" pitchFamily="2" charset="-122"/>
                <a:ea typeface="华文楷体" panose="02010600040101010101" pitchFamily="2" charset="-122"/>
              </a:rPr>
              <a:t>   IF @@transtate = 2			/* </a:t>
            </a:r>
            <a:r>
              <a:rPr lang="zh-CN" altLang="en-US" sz="2300" dirty="0">
                <a:solidFill>
                  <a:srgbClr val="3402C2"/>
                </a:solidFill>
                <a:latin typeface="华文楷体" panose="02010600040101010101" pitchFamily="2" charset="-122"/>
                <a:ea typeface="华文楷体" panose="02010600040101010101" pitchFamily="2" charset="-122"/>
              </a:rPr>
              <a:t>有错误出现 *</a:t>
            </a:r>
            <a:r>
              <a:rPr lang="en-US" altLang="x-none" sz="2300" dirty="0">
                <a:solidFill>
                  <a:srgbClr val="3402C2"/>
                </a:solidFill>
                <a:latin typeface="华文楷体" panose="02010600040101010101" pitchFamily="2" charset="-122"/>
                <a:ea typeface="华文楷体" panose="02010600040101010101" pitchFamily="2" charset="-122"/>
              </a:rPr>
              <a:t>/</a:t>
            </a:r>
            <a:endParaRPr lang="en-US" altLang="x-none" sz="2300" dirty="0">
              <a:solidFill>
                <a:srgbClr val="3402C2"/>
              </a:solidFill>
              <a:latin typeface="华文楷体" panose="02010600040101010101" pitchFamily="2" charset="-122"/>
              <a:ea typeface="华文楷体" panose="02010600040101010101" pitchFamily="2" charset="-122"/>
            </a:endParaRPr>
          </a:p>
          <a:p>
            <a:pPr lvl="0" indent="0">
              <a:lnSpc>
                <a:spcPct val="92000"/>
              </a:lnSpc>
              <a:spcBef>
                <a:spcPts val="0"/>
              </a:spcBef>
              <a:spcAft>
                <a:spcPts val="0"/>
              </a:spcAft>
            </a:pPr>
            <a:r>
              <a:rPr lang="en-US" altLang="x-none" sz="2300" dirty="0">
                <a:solidFill>
                  <a:srgbClr val="3402C2"/>
                </a:solidFill>
                <a:latin typeface="华文楷体" panose="02010600040101010101" pitchFamily="2" charset="-122"/>
                <a:ea typeface="华文楷体" panose="02010600040101010101" pitchFamily="2" charset="-122"/>
              </a:rPr>
              <a:t>	  ROLLBACK TRAN		/* </a:t>
            </a:r>
            <a:r>
              <a:rPr lang="zh-CN" altLang="en-US" sz="2300" dirty="0">
                <a:solidFill>
                  <a:srgbClr val="3402C2"/>
                </a:solidFill>
                <a:latin typeface="华文楷体" panose="02010600040101010101" pitchFamily="2" charset="-122"/>
                <a:ea typeface="华文楷体" panose="02010600040101010101" pitchFamily="2" charset="-122"/>
              </a:rPr>
              <a:t>回退事务 *</a:t>
            </a:r>
            <a:r>
              <a:rPr lang="en-US" altLang="x-none" sz="2300" dirty="0">
                <a:solidFill>
                  <a:srgbClr val="3402C2"/>
                </a:solidFill>
                <a:latin typeface="华文楷体" panose="02010600040101010101" pitchFamily="2" charset="-122"/>
                <a:ea typeface="华文楷体" panose="02010600040101010101" pitchFamily="2" charset="-122"/>
              </a:rPr>
              <a:t>/</a:t>
            </a:r>
            <a:endParaRPr lang="en-US" altLang="x-none" sz="2300" dirty="0">
              <a:solidFill>
                <a:srgbClr val="3402C2"/>
              </a:solidFill>
              <a:latin typeface="华文楷体" panose="02010600040101010101" pitchFamily="2" charset="-122"/>
              <a:ea typeface="华文楷体" panose="02010600040101010101" pitchFamily="2" charset="-122"/>
            </a:endParaRPr>
          </a:p>
          <a:p>
            <a:pPr lvl="0" indent="0">
              <a:lnSpc>
                <a:spcPct val="92000"/>
              </a:lnSpc>
              <a:spcBef>
                <a:spcPts val="0"/>
              </a:spcBef>
              <a:spcAft>
                <a:spcPts val="0"/>
              </a:spcAft>
            </a:pPr>
            <a:r>
              <a:rPr lang="en-US" altLang="x-none" sz="2300" dirty="0">
                <a:latin typeface="华文楷体" panose="02010600040101010101" pitchFamily="2" charset="-122"/>
                <a:ea typeface="华文楷体" panose="02010600040101010101" pitchFamily="2" charset="-122"/>
              </a:rPr>
              <a:t>     UPDATE  Accounts</a:t>
            </a:r>
            <a:endParaRPr lang="en-US" altLang="x-none" sz="2300" dirty="0">
              <a:latin typeface="华文楷体" panose="02010600040101010101" pitchFamily="2" charset="-122"/>
              <a:ea typeface="华文楷体" panose="02010600040101010101" pitchFamily="2" charset="-122"/>
            </a:endParaRPr>
          </a:p>
          <a:p>
            <a:pPr lvl="0" indent="0">
              <a:lnSpc>
                <a:spcPct val="92000"/>
              </a:lnSpc>
              <a:spcBef>
                <a:spcPts val="0"/>
              </a:spcBef>
              <a:spcAft>
                <a:spcPts val="0"/>
              </a:spcAft>
            </a:pPr>
            <a:r>
              <a:rPr lang="en-US" altLang="x-none" sz="2300" dirty="0">
                <a:latin typeface="华文楷体" panose="02010600040101010101" pitchFamily="2" charset="-122"/>
                <a:ea typeface="华文楷体" panose="02010600040101010101" pitchFamily="2" charset="-122"/>
              </a:rPr>
              <a:t>     SET balance = balance + 900</a:t>
            </a:r>
            <a:endParaRPr lang="en-US" altLang="x-none" sz="2300" dirty="0">
              <a:latin typeface="华文楷体" panose="02010600040101010101" pitchFamily="2" charset="-122"/>
              <a:ea typeface="华文楷体" panose="02010600040101010101" pitchFamily="2" charset="-122"/>
            </a:endParaRPr>
          </a:p>
          <a:p>
            <a:pPr lvl="0" indent="0">
              <a:lnSpc>
                <a:spcPct val="92000"/>
              </a:lnSpc>
              <a:spcBef>
                <a:spcPts val="0"/>
              </a:spcBef>
              <a:spcAft>
                <a:spcPts val="0"/>
              </a:spcAft>
            </a:pPr>
            <a:r>
              <a:rPr lang="en-US" altLang="x-none" sz="2300" dirty="0">
                <a:latin typeface="华文楷体" panose="02010600040101010101" pitchFamily="2" charset="-122"/>
                <a:ea typeface="华文楷体" panose="02010600040101010101" pitchFamily="2" charset="-122"/>
              </a:rPr>
              <a:t>     WHERE account_id='B'</a:t>
            </a:r>
            <a:endParaRPr lang="en-US" altLang="x-none" sz="2300" dirty="0">
              <a:latin typeface="华文楷体" panose="02010600040101010101" pitchFamily="2" charset="-122"/>
              <a:ea typeface="华文楷体" panose="02010600040101010101" pitchFamily="2" charset="-122"/>
            </a:endParaRPr>
          </a:p>
          <a:p>
            <a:pPr lvl="0" indent="0">
              <a:lnSpc>
                <a:spcPct val="92000"/>
              </a:lnSpc>
              <a:spcBef>
                <a:spcPts val="0"/>
              </a:spcBef>
              <a:spcAft>
                <a:spcPts val="0"/>
              </a:spcAft>
            </a:pPr>
            <a:r>
              <a:rPr lang="en-US" altLang="x-none" sz="2300" dirty="0">
                <a:latin typeface="华文楷体" panose="02010600040101010101" pitchFamily="2" charset="-122"/>
                <a:ea typeface="华文楷体" panose="02010600040101010101" pitchFamily="2" charset="-122"/>
              </a:rPr>
              <a:t>    </a:t>
            </a:r>
            <a:r>
              <a:rPr lang="en-US" altLang="x-none" sz="2300" dirty="0">
                <a:solidFill>
                  <a:srgbClr val="3402C2"/>
                </a:solidFill>
                <a:latin typeface="华文楷体" panose="02010600040101010101" pitchFamily="2" charset="-122"/>
                <a:ea typeface="华文楷体" panose="02010600040101010101" pitchFamily="2" charset="-122"/>
              </a:rPr>
              <a:t> IF @@transtate = 2			/* </a:t>
            </a:r>
            <a:r>
              <a:rPr lang="zh-CN" altLang="en-US" sz="2300" dirty="0">
                <a:solidFill>
                  <a:srgbClr val="3402C2"/>
                </a:solidFill>
                <a:latin typeface="华文楷体" panose="02010600040101010101" pitchFamily="2" charset="-122"/>
                <a:ea typeface="华文楷体" panose="02010600040101010101" pitchFamily="2" charset="-122"/>
              </a:rPr>
              <a:t>有错误出现 *</a:t>
            </a:r>
            <a:r>
              <a:rPr lang="en-US" altLang="x-none" sz="2300" dirty="0">
                <a:solidFill>
                  <a:srgbClr val="3402C2"/>
                </a:solidFill>
                <a:latin typeface="华文楷体" panose="02010600040101010101" pitchFamily="2" charset="-122"/>
                <a:ea typeface="华文楷体" panose="02010600040101010101" pitchFamily="2" charset="-122"/>
              </a:rPr>
              <a:t>/</a:t>
            </a:r>
            <a:endParaRPr lang="en-US" altLang="x-none" sz="2300" dirty="0">
              <a:solidFill>
                <a:srgbClr val="3402C2"/>
              </a:solidFill>
              <a:latin typeface="华文楷体" panose="02010600040101010101" pitchFamily="2" charset="-122"/>
              <a:ea typeface="华文楷体" panose="02010600040101010101" pitchFamily="2" charset="-122"/>
            </a:endParaRPr>
          </a:p>
          <a:p>
            <a:pPr lvl="0" indent="0">
              <a:lnSpc>
                <a:spcPct val="92000"/>
              </a:lnSpc>
              <a:spcBef>
                <a:spcPts val="0"/>
              </a:spcBef>
              <a:spcAft>
                <a:spcPts val="0"/>
              </a:spcAft>
            </a:pPr>
            <a:r>
              <a:rPr lang="en-US" altLang="x-none" sz="2300" dirty="0">
                <a:solidFill>
                  <a:srgbClr val="3402C2"/>
                </a:solidFill>
                <a:latin typeface="华文楷体" panose="02010600040101010101" pitchFamily="2" charset="-122"/>
                <a:ea typeface="华文楷体" panose="02010600040101010101" pitchFamily="2" charset="-122"/>
              </a:rPr>
              <a:t>	  ROLLBACK TRAN</a:t>
            </a:r>
            <a:endParaRPr lang="en-US" altLang="x-none" sz="2300" dirty="0">
              <a:solidFill>
                <a:srgbClr val="3402C2"/>
              </a:solidFill>
              <a:latin typeface="华文楷体" panose="02010600040101010101" pitchFamily="2" charset="-122"/>
              <a:ea typeface="华文楷体" panose="02010600040101010101" pitchFamily="2" charset="-122"/>
            </a:endParaRPr>
          </a:p>
          <a:p>
            <a:pPr lvl="0" indent="0">
              <a:lnSpc>
                <a:spcPct val="92000"/>
              </a:lnSpc>
              <a:spcBef>
                <a:spcPts val="0"/>
              </a:spcBef>
              <a:spcAft>
                <a:spcPts val="0"/>
              </a:spcAft>
            </a:pPr>
            <a:r>
              <a:rPr lang="en-US" altLang="x-none" sz="2300" dirty="0">
                <a:latin typeface="华文楷体" panose="02010600040101010101" pitchFamily="2" charset="-122"/>
                <a:ea typeface="华文楷体" panose="02010600040101010101" pitchFamily="2" charset="-122"/>
              </a:rPr>
              <a:t>    </a:t>
            </a:r>
            <a:r>
              <a:rPr lang="en-US" altLang="x-none" sz="2300" dirty="0">
                <a:solidFill>
                  <a:srgbClr val="FF0000"/>
                </a:solidFill>
                <a:latin typeface="华文楷体" panose="02010600040101010101" pitchFamily="2" charset="-122"/>
                <a:ea typeface="华文楷体" panose="02010600040101010101" pitchFamily="2" charset="-122"/>
              </a:rPr>
              <a:t> ELSE  COMMIT TRAN</a:t>
            </a:r>
            <a:r>
              <a:rPr lang="en-US" altLang="x-none" sz="2300" dirty="0">
                <a:latin typeface="华文楷体" panose="02010600040101010101" pitchFamily="2" charset="-122"/>
                <a:ea typeface="华文楷体" panose="02010600040101010101" pitchFamily="2" charset="-122"/>
              </a:rPr>
              <a:t>	        </a:t>
            </a:r>
            <a:r>
              <a:rPr lang="en-US" altLang="x-none" sz="2300" dirty="0">
                <a:solidFill>
                  <a:srgbClr val="FF0000"/>
                </a:solidFill>
                <a:latin typeface="华文楷体" panose="02010600040101010101" pitchFamily="2" charset="-122"/>
                <a:ea typeface="华文楷体" panose="02010600040101010101" pitchFamily="2" charset="-122"/>
              </a:rPr>
              <a:t>   /* </a:t>
            </a:r>
            <a:r>
              <a:rPr lang="zh-CN" altLang="en-US" sz="2300" dirty="0">
                <a:solidFill>
                  <a:srgbClr val="FF0000"/>
                </a:solidFill>
                <a:latin typeface="华文楷体" panose="02010600040101010101" pitchFamily="2" charset="-122"/>
                <a:ea typeface="华文楷体" panose="02010600040101010101" pitchFamily="2" charset="-122"/>
              </a:rPr>
              <a:t>提交事务 *</a:t>
            </a:r>
            <a:r>
              <a:rPr lang="en-US" altLang="x-none" sz="2300" dirty="0">
                <a:solidFill>
                  <a:srgbClr val="FF0000"/>
                </a:solidFill>
                <a:latin typeface="华文楷体" panose="02010600040101010101" pitchFamily="2" charset="-122"/>
                <a:ea typeface="华文楷体" panose="02010600040101010101" pitchFamily="2" charset="-122"/>
              </a:rPr>
              <a:t>/ </a:t>
            </a:r>
            <a:endParaRPr lang="en-US" altLang="x-none" sz="2300" dirty="0">
              <a:solidFill>
                <a:srgbClr val="FF0000"/>
              </a:solidFill>
              <a:latin typeface="华文楷体" panose="02010600040101010101" pitchFamily="2" charset="-122"/>
              <a:ea typeface="华文楷体" panose="02010600040101010101" pitchFamily="2" charset="-122"/>
            </a:endParaRPr>
          </a:p>
        </p:txBody>
      </p:sp>
      <p:sp>
        <p:nvSpPr>
          <p:cNvPr id="60419" name="Text Box 2"/>
          <p:cNvSpPr txBox="1"/>
          <p:nvPr/>
        </p:nvSpPr>
        <p:spPr>
          <a:xfrm>
            <a:off x="566738" y="1365250"/>
            <a:ext cx="7921625" cy="491490"/>
          </a:xfrm>
          <a:prstGeom prst="rect">
            <a:avLst/>
          </a:prstGeom>
          <a:noFill/>
          <a:ln w="9525">
            <a:noFill/>
          </a:ln>
        </p:spPr>
        <p:txBody>
          <a:bodyPr anchor="t">
            <a:spAutoFit/>
          </a:bodyPr>
          <a:lstStyle/>
          <a:p>
            <a:pPr lvl="0" indent="0">
              <a:buFont typeface="Wingdings" panose="05000000000000000000" pitchFamily="2" charset="2"/>
              <a:buChar char="p"/>
            </a:pPr>
            <a:r>
              <a:rPr lang="zh-CN" altLang="en-US" sz="2600" dirty="0">
                <a:solidFill>
                  <a:srgbClr val="FF0000"/>
                </a:solidFill>
                <a:latin typeface="华文中宋" panose="02010600040101010101" charset="-122"/>
                <a:ea typeface="华文中宋" panose="02010600040101010101" charset="-122"/>
              </a:rPr>
              <a:t>例：</a:t>
            </a:r>
            <a:r>
              <a:rPr lang="zh-CN" altLang="en-US" sz="2400" dirty="0">
                <a:solidFill>
                  <a:schemeClr val="tx1"/>
                </a:solidFill>
                <a:latin typeface="宋体" panose="02010600030101010101" pitchFamily="2" charset="-122"/>
              </a:rPr>
              <a:t>银行转账的显式事务控制 </a:t>
            </a:r>
            <a:endParaRPr lang="zh-CN" altLang="en-US" sz="2400" dirty="0">
              <a:solidFill>
                <a:schemeClr val="tx1"/>
              </a:solidFill>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0418"/>
                                        </p:tgtEl>
                                        <p:attrNameLst>
                                          <p:attrName>style.visibility</p:attrName>
                                        </p:attrNameLst>
                                      </p:cBhvr>
                                      <p:to>
                                        <p:strVal val="visible"/>
                                      </p:to>
                                    </p:set>
                                    <p:anim calcmode="lin" valueType="num">
                                      <p:cBhvr>
                                        <p:cTn id="7" dur="500" fill="hold"/>
                                        <p:tgtEl>
                                          <p:spTgt spid="60418"/>
                                        </p:tgtEl>
                                        <p:attrNameLst>
                                          <p:attrName>ppt_x</p:attrName>
                                        </p:attrNameLst>
                                      </p:cBhvr>
                                      <p:tavLst>
                                        <p:tav tm="0">
                                          <p:val>
                                            <p:strVal val="#ppt_x"/>
                                          </p:val>
                                        </p:tav>
                                        <p:tav tm="100000">
                                          <p:val>
                                            <p:strVal val="#ppt_x"/>
                                          </p:val>
                                        </p:tav>
                                      </p:tavLst>
                                    </p:anim>
                                    <p:anim calcmode="lin" valueType="num">
                                      <p:cBhvr>
                                        <p:cTn id="8" dur="500" fill="hold"/>
                                        <p:tgtEl>
                                          <p:spTgt spid="6041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0419"/>
                                        </p:tgtEl>
                                        <p:attrNameLst>
                                          <p:attrName>style.visibility</p:attrName>
                                        </p:attrNameLst>
                                      </p:cBhvr>
                                      <p:to>
                                        <p:strVal val="visible"/>
                                      </p:to>
                                    </p:set>
                                    <p:anim calcmode="lin" valueType="num">
                                      <p:cBhvr>
                                        <p:cTn id="12" dur="500" fill="hold"/>
                                        <p:tgtEl>
                                          <p:spTgt spid="60419"/>
                                        </p:tgtEl>
                                        <p:attrNameLst>
                                          <p:attrName>ppt_x</p:attrName>
                                        </p:attrNameLst>
                                      </p:cBhvr>
                                      <p:tavLst>
                                        <p:tav tm="0">
                                          <p:val>
                                            <p:strVal val="0-#ppt_w/2"/>
                                          </p:val>
                                        </p:tav>
                                        <p:tav tm="100000">
                                          <p:val>
                                            <p:strVal val="#ppt_x"/>
                                          </p:val>
                                        </p:tav>
                                      </p:tavLst>
                                    </p:anim>
                                    <p:anim calcmode="lin" valueType="num">
                                      <p:cBhvr>
                                        <p:cTn id="13" dur="500" fill="hold"/>
                                        <p:tgtEl>
                                          <p:spTgt spid="604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bldLvl="0" animBg="1"/>
      <p:bldP spid="604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4"/>
          <p:cNvSpPr txBox="1"/>
          <p:nvPr/>
        </p:nvSpPr>
        <p:spPr>
          <a:xfrm>
            <a:off x="590550" y="2351723"/>
            <a:ext cx="8067675" cy="1612900"/>
          </a:xfrm>
          <a:prstGeom prst="rect">
            <a:avLst/>
          </a:prstGeom>
          <a:noFill/>
          <a:ln w="9525" cap="flat" cmpd="sng">
            <a:solidFill>
              <a:srgbClr val="CC0000"/>
            </a:solidFill>
            <a:prstDash val="solid"/>
            <a:miter/>
            <a:headEnd type="none" w="med" len="med"/>
            <a:tailEnd type="none" w="med" len="med"/>
          </a:ln>
        </p:spPr>
        <p:txBody>
          <a:bodyPr anchor="t">
            <a:spAutoFit/>
          </a:bodyPr>
          <a:lstStyle/>
          <a:p>
            <a:pPr marL="186055" lvl="0" indent="-186055">
              <a:lnSpc>
                <a:spcPct val="110000"/>
              </a:lnSpc>
              <a:spcBef>
                <a:spcPts val="0"/>
              </a:spcBef>
              <a:spcAft>
                <a:spcPts val="0"/>
              </a:spcAft>
              <a:buFont typeface="Wingdings" panose="05000000000000000000" pitchFamily="2" charset="2"/>
              <a:buChar char="p"/>
            </a:pPr>
            <a:r>
              <a:rPr lang="zh-CN" altLang="en-US" sz="2400" u="sng" dirty="0">
                <a:solidFill>
                  <a:srgbClr val="FF0000"/>
                </a:solidFill>
                <a:latin typeface="华文中宋" panose="02010600040101010101" charset="-122"/>
                <a:ea typeface="华文中宋" panose="02010600040101010101" charset="-122"/>
              </a:rPr>
              <a:t>原子性</a:t>
            </a:r>
            <a:r>
              <a:rPr lang="en-US" altLang="x-none" sz="2400" u="sng" dirty="0">
                <a:solidFill>
                  <a:srgbClr val="FF0000"/>
                </a:solidFill>
                <a:latin typeface="华文中宋" panose="02010600040101010101" charset="-122"/>
                <a:ea typeface="华文中宋" panose="02010600040101010101" charset="-122"/>
              </a:rPr>
              <a:t>(Atomicity)</a:t>
            </a:r>
            <a:r>
              <a:rPr lang="zh-CN" altLang="en-US" sz="2400" dirty="0">
                <a:solidFill>
                  <a:srgbClr val="FF0000"/>
                </a:solidFill>
                <a:latin typeface="华文中宋" panose="02010600040101010101" charset="-122"/>
                <a:ea typeface="华文中宋" panose="02010600040101010101" charset="-122"/>
              </a:rPr>
              <a:t>：</a:t>
            </a:r>
            <a:r>
              <a:rPr lang="zh-CN" altLang="en-US" sz="2200" dirty="0">
                <a:latin typeface="华文楷体" panose="02010600040101010101" pitchFamily="2" charset="-122"/>
                <a:ea typeface="华文楷体" panose="02010600040101010101" pitchFamily="2" charset="-122"/>
              </a:rPr>
              <a:t>一个事务对数据库的所有操作是一个整体，要么成功执行，要么都不执行</a:t>
            </a:r>
            <a:r>
              <a:rPr lang="en-US" altLang="x-none" sz="2200" dirty="0">
                <a:latin typeface="华文楷体" panose="02010600040101010101" pitchFamily="2" charset="-122"/>
                <a:ea typeface="华文楷体" panose="02010600040101010101" pitchFamily="2" charset="-122"/>
              </a:rPr>
              <a:t>(Nothing or All)</a:t>
            </a:r>
            <a:r>
              <a:rPr lang="zh-CN" altLang="en-US" sz="2200" dirty="0">
                <a:latin typeface="华文楷体" panose="02010600040101010101" pitchFamily="2" charset="-122"/>
                <a:ea typeface="华文楷体" panose="02010600040101010101" pitchFamily="2" charset="-122"/>
              </a:rPr>
              <a:t>。保证原子性由</a:t>
            </a:r>
            <a:r>
              <a:rPr lang="en-US" altLang="x-none" sz="2200" dirty="0">
                <a:latin typeface="华文楷体" panose="02010600040101010101" pitchFamily="2" charset="-122"/>
                <a:ea typeface="华文楷体" panose="02010600040101010101" pitchFamily="2" charset="-122"/>
              </a:rPr>
              <a:t>DBMS</a:t>
            </a:r>
            <a:r>
              <a:rPr lang="zh-CN" altLang="en-US" sz="2200" dirty="0">
                <a:latin typeface="华文楷体" panose="02010600040101010101" pitchFamily="2" charset="-122"/>
                <a:ea typeface="华文楷体" panose="02010600040101010101" pitchFamily="2" charset="-122"/>
              </a:rPr>
              <a:t>的事务管理器</a:t>
            </a:r>
            <a:r>
              <a:rPr lang="en-US" altLang="x-none" sz="2200" dirty="0">
                <a:latin typeface="华文楷体" panose="02010600040101010101" pitchFamily="2" charset="-122"/>
                <a:ea typeface="华文楷体" panose="02010600040101010101" pitchFamily="2" charset="-122"/>
              </a:rPr>
              <a:t>(Transaction Manager)</a:t>
            </a:r>
            <a:r>
              <a:rPr lang="zh-CN" altLang="en-US" sz="2200" dirty="0">
                <a:latin typeface="华文楷体" panose="02010600040101010101" pitchFamily="2" charset="-122"/>
                <a:ea typeface="华文楷体" panose="02010600040101010101" pitchFamily="2" charset="-122"/>
              </a:rPr>
              <a:t>负责，“提交</a:t>
            </a:r>
            <a:r>
              <a:rPr lang="en-US" altLang="x-none" sz="2200" dirty="0">
                <a:latin typeface="华文楷体" panose="02010600040101010101" pitchFamily="2" charset="-122"/>
                <a:ea typeface="华文楷体" panose="02010600040101010101" pitchFamily="2" charset="-122"/>
              </a:rPr>
              <a:t>(Commit)”</a:t>
            </a:r>
            <a:r>
              <a:rPr lang="zh-CN" altLang="en-US" sz="2200" dirty="0">
                <a:latin typeface="华文楷体" panose="02010600040101010101" pitchFamily="2" charset="-122"/>
                <a:ea typeface="华文楷体" panose="02010600040101010101" pitchFamily="2" charset="-122"/>
              </a:rPr>
              <a:t>和“回退</a:t>
            </a:r>
            <a:r>
              <a:rPr lang="en-US" altLang="x-none" sz="2200" dirty="0">
                <a:latin typeface="华文楷体" panose="02010600040101010101" pitchFamily="2" charset="-122"/>
                <a:ea typeface="华文楷体" panose="02010600040101010101" pitchFamily="2" charset="-122"/>
              </a:rPr>
              <a:t>(Rollback)”</a:t>
            </a:r>
            <a:r>
              <a:rPr lang="zh-CN" altLang="en-US" sz="2200" dirty="0">
                <a:latin typeface="华文楷体" panose="02010600040101010101" pitchFamily="2" charset="-122"/>
                <a:ea typeface="华文楷体" panose="02010600040101010101" pitchFamily="2" charset="-122"/>
              </a:rPr>
              <a:t>操作是其中的关键。 </a:t>
            </a:r>
            <a:endParaRPr lang="zh-CN" altLang="en-US" sz="2200" dirty="0">
              <a:latin typeface="华文楷体" panose="02010600040101010101" pitchFamily="2" charset="-122"/>
              <a:ea typeface="华文楷体" panose="02010600040101010101" pitchFamily="2" charset="-122"/>
            </a:endParaRPr>
          </a:p>
        </p:txBody>
      </p:sp>
      <p:sp>
        <p:nvSpPr>
          <p:cNvPr id="57347" name="Text Box 5"/>
          <p:cNvSpPr txBox="1"/>
          <p:nvPr/>
        </p:nvSpPr>
        <p:spPr>
          <a:xfrm>
            <a:off x="600075" y="1403350"/>
            <a:ext cx="8058150" cy="886460"/>
          </a:xfrm>
          <a:prstGeom prst="rect">
            <a:avLst/>
          </a:prstGeom>
          <a:noFill/>
          <a:ln w="9525">
            <a:noFill/>
          </a:ln>
        </p:spPr>
        <p:txBody>
          <a:bodyPr wrap="square" anchor="t">
            <a:spAutoFit/>
          </a:bodyPr>
          <a:lstStyle/>
          <a:p>
            <a:pPr lvl="0" indent="0">
              <a:lnSpc>
                <a:spcPct val="110000"/>
              </a:lnSpc>
              <a:spcBef>
                <a:spcPts val="600"/>
              </a:spcBef>
              <a:spcAft>
                <a:spcPts val="0"/>
              </a:spcAft>
            </a:pPr>
            <a:r>
              <a:rPr lang="en-US" altLang="x-none" sz="2400" dirty="0">
                <a:latin typeface="宋体" panose="02010600030101010101" pitchFamily="2" charset="-122"/>
                <a:ea typeface="宋体" panose="02010600030101010101" pitchFamily="2" charset="-122"/>
              </a:rPr>
              <a:t>    </a:t>
            </a:r>
            <a:r>
              <a:rPr lang="en-US" altLang="x-none" sz="2300" dirty="0">
                <a:latin typeface="宋体" panose="02010600030101010101" pitchFamily="2" charset="-122"/>
                <a:ea typeface="宋体" panose="02010600030101010101" pitchFamily="2" charset="-122"/>
              </a:rPr>
              <a:t>DBMS</a:t>
            </a:r>
            <a:r>
              <a:rPr lang="zh-CN" altLang="en-US" sz="2300" dirty="0">
                <a:latin typeface="宋体" panose="02010600030101010101" pitchFamily="2" charset="-122"/>
                <a:ea typeface="宋体" panose="02010600030101010101" pitchFamily="2" charset="-122"/>
              </a:rPr>
              <a:t>为保证在并发访问和故障情况下对数据的维护，要求事务有如下四个重要特征或准则</a:t>
            </a:r>
            <a:r>
              <a:rPr lang="en-US" altLang="x-none" sz="2300" dirty="0">
                <a:latin typeface="宋体" panose="02010600030101010101" pitchFamily="2" charset="-122"/>
                <a:ea typeface="宋体" panose="02010600030101010101" pitchFamily="2" charset="-122"/>
              </a:rPr>
              <a:t>(ACID)</a:t>
            </a:r>
            <a:r>
              <a:rPr lang="zh-CN" altLang="en-US" sz="2300" dirty="0">
                <a:latin typeface="宋体" panose="02010600030101010101" pitchFamily="2" charset="-122"/>
                <a:ea typeface="宋体" panose="02010600030101010101" pitchFamily="2" charset="-122"/>
              </a:rPr>
              <a:t>：</a:t>
            </a:r>
            <a:endParaRPr lang="zh-CN" altLang="en-US" sz="2300" dirty="0">
              <a:latin typeface="宋体" panose="02010600030101010101" pitchFamily="2" charset="-122"/>
              <a:ea typeface="宋体" panose="02010600030101010101" pitchFamily="2" charset="-122"/>
            </a:endParaRPr>
          </a:p>
        </p:txBody>
      </p:sp>
      <p:sp>
        <p:nvSpPr>
          <p:cNvPr id="57348" name="Rectangle 6" descr="Rectangle: Click to edit Master text styles&#10;Second level&#10;Third level&#10;Fourth level&#10;Fifth level"/>
          <p:cNvSpPr txBox="1"/>
          <p:nvPr/>
        </p:nvSpPr>
        <p:spPr>
          <a:xfrm>
            <a:off x="590550" y="4088130"/>
            <a:ext cx="8077200" cy="1894205"/>
          </a:xfrm>
          <a:prstGeom prst="rect">
            <a:avLst/>
          </a:prstGeom>
          <a:noFill/>
          <a:ln w="9525" cap="flat" cmpd="sng">
            <a:solidFill>
              <a:srgbClr val="CC0000"/>
            </a:solidFill>
            <a:prstDash val="solid"/>
            <a:miter/>
            <a:headEnd type="none" w="med" len="med"/>
            <a:tailEnd type="none" w="med" len="med"/>
          </a:ln>
        </p:spPr>
        <p:txBody>
          <a:bodyPr anchor="t"/>
          <a:lstStyle/>
          <a:p>
            <a:pPr marL="342900" lvl="0" indent="-342900" eaLnBrk="0" hangingPunct="0">
              <a:lnSpc>
                <a:spcPct val="110000"/>
              </a:lnSpc>
              <a:spcBef>
                <a:spcPts val="0"/>
              </a:spcBef>
              <a:spcAft>
                <a:spcPts val="0"/>
              </a:spcAft>
              <a:buClr>
                <a:srgbClr val="FF0000"/>
              </a:buClr>
              <a:buFont typeface="Wingdings" panose="05000000000000000000" pitchFamily="2" charset="2"/>
              <a:buChar char="p"/>
            </a:pPr>
            <a:r>
              <a:rPr lang="zh-CN" altLang="en-US" sz="2400" u="sng" dirty="0">
                <a:solidFill>
                  <a:srgbClr val="FF0000"/>
                </a:solidFill>
                <a:latin typeface="华文中宋" panose="02010600040101010101" charset="-122"/>
                <a:ea typeface="华文中宋" panose="02010600040101010101" charset="-122"/>
              </a:rPr>
              <a:t>一致性</a:t>
            </a:r>
            <a:r>
              <a:rPr lang="en-US" altLang="x-none" sz="2400" u="sng" dirty="0">
                <a:solidFill>
                  <a:srgbClr val="FF0000"/>
                </a:solidFill>
                <a:latin typeface="华文中宋" panose="02010600040101010101" charset="-122"/>
                <a:ea typeface="华文中宋" panose="02010600040101010101" charset="-122"/>
              </a:rPr>
              <a:t>(Consistency)</a:t>
            </a:r>
            <a:r>
              <a:rPr lang="zh-CN" altLang="en-US" sz="2400" dirty="0">
                <a:solidFill>
                  <a:srgbClr val="FF0000"/>
                </a:solidFill>
                <a:latin typeface="华文中宋" panose="02010600040101010101" charset="-122"/>
                <a:ea typeface="华文中宋" panose="02010600040101010101" charset="-122"/>
              </a:rPr>
              <a:t>：</a:t>
            </a:r>
            <a:r>
              <a:rPr lang="zh-CN" altLang="en-US" sz="2100" dirty="0">
                <a:latin typeface="华文楷体" panose="02010600040101010101" pitchFamily="2" charset="-122"/>
                <a:ea typeface="华文楷体" panose="02010600040101010101" pitchFamily="2" charset="-122"/>
              </a:rPr>
              <a:t>在无其它事务并发执行时，单独运行</a:t>
            </a:r>
            <a:endParaRPr lang="en-US" altLang="x-none" sz="2100" dirty="0">
              <a:latin typeface="华文楷体" panose="02010600040101010101" pitchFamily="2" charset="-122"/>
              <a:ea typeface="华文楷体" panose="02010600040101010101" pitchFamily="2" charset="-122"/>
            </a:endParaRPr>
          </a:p>
          <a:p>
            <a:pPr marL="342900" lvl="0" indent="-342900" eaLnBrk="0" hangingPunct="0">
              <a:lnSpc>
                <a:spcPct val="110000"/>
              </a:lnSpc>
              <a:spcBef>
                <a:spcPts val="0"/>
              </a:spcBef>
              <a:spcAft>
                <a:spcPts val="0"/>
              </a:spcAft>
              <a:buClr>
                <a:srgbClr val="C00000"/>
              </a:buClr>
            </a:pPr>
            <a:r>
              <a:rPr lang="zh-CN" altLang="en-US" sz="2100" dirty="0">
                <a:latin typeface="华文楷体" panose="02010600040101010101" pitchFamily="2" charset="-122"/>
                <a:ea typeface="华文楷体" panose="02010600040101010101" pitchFamily="2" charset="-122"/>
              </a:rPr>
              <a:t>的事务应保证</a:t>
            </a:r>
            <a:r>
              <a:rPr lang="en-US" altLang="x-none" sz="2100" dirty="0">
                <a:latin typeface="华文楷体" panose="02010600040101010101" pitchFamily="2" charset="-122"/>
                <a:ea typeface="华文楷体" panose="02010600040101010101" pitchFamily="2" charset="-122"/>
              </a:rPr>
              <a:t>DB</a:t>
            </a:r>
            <a:r>
              <a:rPr lang="zh-CN" altLang="en-US" sz="2100" dirty="0">
                <a:latin typeface="华文楷体" panose="02010600040101010101" pitchFamily="2" charset="-122"/>
                <a:ea typeface="华文楷体" panose="02010600040101010101" pitchFamily="2" charset="-122"/>
              </a:rPr>
              <a:t>从一个一致状态转到另一个一致状态。但事务管理</a:t>
            </a:r>
            <a:endParaRPr lang="en-US" altLang="x-none" sz="2100" dirty="0">
              <a:latin typeface="华文楷体" panose="02010600040101010101" pitchFamily="2" charset="-122"/>
              <a:ea typeface="华文楷体" panose="02010600040101010101" pitchFamily="2" charset="-122"/>
            </a:endParaRPr>
          </a:p>
          <a:p>
            <a:pPr marL="342900" lvl="0" indent="-342900" eaLnBrk="0" hangingPunct="0">
              <a:lnSpc>
                <a:spcPct val="110000"/>
              </a:lnSpc>
              <a:spcBef>
                <a:spcPts val="0"/>
              </a:spcBef>
              <a:spcAft>
                <a:spcPts val="0"/>
              </a:spcAft>
              <a:buClr>
                <a:srgbClr val="C00000"/>
              </a:buClr>
            </a:pPr>
            <a:r>
              <a:rPr lang="zh-CN" altLang="en-US" sz="2100" dirty="0">
                <a:latin typeface="华文楷体" panose="02010600040101010101" pitchFamily="2" charset="-122"/>
                <a:ea typeface="华文楷体" panose="02010600040101010101" pitchFamily="2" charset="-122"/>
              </a:rPr>
              <a:t>器无法保证事务内的一致性，例如：如果系统用户在设计转帐事务</a:t>
            </a:r>
            <a:endParaRPr lang="en-US" altLang="x-none" sz="2100" dirty="0">
              <a:latin typeface="华文楷体" panose="02010600040101010101" pitchFamily="2" charset="-122"/>
              <a:ea typeface="华文楷体" panose="02010600040101010101" pitchFamily="2" charset="-122"/>
            </a:endParaRPr>
          </a:p>
          <a:p>
            <a:pPr marL="342900" lvl="0" indent="-342900" eaLnBrk="0" hangingPunct="0">
              <a:lnSpc>
                <a:spcPct val="110000"/>
              </a:lnSpc>
              <a:spcBef>
                <a:spcPts val="0"/>
              </a:spcBef>
              <a:spcAft>
                <a:spcPts val="0"/>
              </a:spcAft>
              <a:buClr>
                <a:srgbClr val="C00000"/>
              </a:buClr>
            </a:pPr>
            <a:r>
              <a:rPr lang="zh-CN" altLang="en-US" sz="2100" dirty="0">
                <a:latin typeface="华文楷体" panose="02010600040101010101" pitchFamily="2" charset="-122"/>
                <a:ea typeface="华文楷体" panose="02010600040101010101" pitchFamily="2" charset="-122"/>
              </a:rPr>
              <a:t>时，只编写了第一步代码（从</a:t>
            </a:r>
            <a:r>
              <a:rPr lang="en-US" altLang="x-none" sz="2100" dirty="0">
                <a:latin typeface="华文楷体" panose="02010600040101010101" pitchFamily="2" charset="-122"/>
                <a:ea typeface="华文楷体" panose="02010600040101010101" pitchFamily="2" charset="-122"/>
              </a:rPr>
              <a:t>A</a:t>
            </a:r>
            <a:r>
              <a:rPr lang="zh-CN" altLang="en-US" sz="2100" dirty="0">
                <a:latin typeface="华文楷体" panose="02010600040101010101" pitchFamily="2" charset="-122"/>
                <a:ea typeface="华文楷体" panose="02010600040101010101" pitchFamily="2" charset="-122"/>
              </a:rPr>
              <a:t>账户中转出</a:t>
            </a:r>
            <a:r>
              <a:rPr lang="en-US" altLang="x-none" sz="2100" dirty="0">
                <a:latin typeface="华文楷体" panose="02010600040101010101" pitchFamily="2" charset="-122"/>
                <a:ea typeface="华文楷体" panose="02010600040101010101" pitchFamily="2" charset="-122"/>
              </a:rPr>
              <a:t>90</a:t>
            </a:r>
            <a:r>
              <a:rPr lang="zh-CN" altLang="en-US" sz="2100" dirty="0">
                <a:latin typeface="华文楷体" panose="02010600040101010101" pitchFamily="2" charset="-122"/>
                <a:ea typeface="华文楷体" panose="02010600040101010101" pitchFamily="2" charset="-122"/>
              </a:rPr>
              <a:t>元），而没有编写了</a:t>
            </a:r>
            <a:endParaRPr lang="en-US" altLang="x-none" sz="2100" dirty="0">
              <a:latin typeface="华文楷体" panose="02010600040101010101" pitchFamily="2" charset="-122"/>
              <a:ea typeface="华文楷体" panose="02010600040101010101" pitchFamily="2" charset="-122"/>
            </a:endParaRPr>
          </a:p>
          <a:p>
            <a:pPr marL="342900" lvl="0" indent="-342900" eaLnBrk="0" hangingPunct="0">
              <a:lnSpc>
                <a:spcPct val="110000"/>
              </a:lnSpc>
              <a:spcBef>
                <a:spcPts val="0"/>
              </a:spcBef>
              <a:spcAft>
                <a:spcPts val="0"/>
              </a:spcAft>
              <a:buClr>
                <a:srgbClr val="C00000"/>
              </a:buClr>
            </a:pPr>
            <a:r>
              <a:rPr lang="zh-CN" altLang="en-US" sz="2100" dirty="0">
                <a:latin typeface="华文楷体" panose="02010600040101010101" pitchFamily="2" charset="-122"/>
                <a:ea typeface="华文楷体" panose="02010600040101010101" pitchFamily="2" charset="-122"/>
              </a:rPr>
              <a:t>第二步代码，这样造成的数据库不一致，需由系统用户负责。</a:t>
            </a:r>
            <a:endParaRPr lang="zh-CN" altLang="en-US" sz="2100" dirty="0">
              <a:latin typeface="华文楷体" panose="02010600040101010101" pitchFamily="2" charset="-122"/>
              <a:ea typeface="华文楷体" panose="02010600040101010101" pitchFamily="2" charset="-122"/>
            </a:endParaRPr>
          </a:p>
        </p:txBody>
      </p:sp>
      <p:sp>
        <p:nvSpPr>
          <p:cNvPr id="55301" name="Rectangle 7"/>
          <p:cNvSpPr/>
          <p:nvPr/>
        </p:nvSpPr>
        <p:spPr>
          <a:xfrm>
            <a:off x="501650" y="8191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、事务的</a:t>
            </a:r>
            <a:r>
              <a:rPr lang="en-US" altLang="zh-CN" sz="2800" dirty="0">
                <a:solidFill>
                  <a:srgbClr val="FF0000"/>
                </a:solidFill>
                <a:latin typeface="黑体" panose="02010609060101010101" pitchFamily="1" charset="-122"/>
                <a:ea typeface="黑体" panose="02010609060101010101" pitchFamily="1" charset="-122"/>
              </a:rPr>
              <a:t>ACID</a:t>
            </a:r>
            <a:r>
              <a:rPr lang="zh-CN" altLang="en-US" sz="2800" dirty="0">
                <a:solidFill>
                  <a:srgbClr val="FF0000"/>
                </a:solidFill>
                <a:latin typeface="黑体" panose="02010609060101010101" pitchFamily="1" charset="-122"/>
                <a:ea typeface="黑体" panose="02010609060101010101" pitchFamily="1" charset="-122"/>
              </a:rPr>
              <a:t>准则</a:t>
            </a:r>
            <a:endParaRPr lang="zh-CN" altLang="en-US" sz="2800" dirty="0">
              <a:solidFill>
                <a:srgbClr val="FF0000"/>
              </a:solidFill>
              <a:latin typeface="黑体" panose="02010609060101010101" pitchFamily="1" charset="-122"/>
              <a:ea typeface="黑体" panose="02010609060101010101" pitchFamily="1" charset="-122"/>
            </a:endParaRPr>
          </a:p>
        </p:txBody>
      </p:sp>
      <p:sp>
        <p:nvSpPr>
          <p:cNvPr id="51201"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二、事务机制与事务管理</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7347"/>
                                        </p:tgtEl>
                                        <p:attrNameLst>
                                          <p:attrName>style.visibility</p:attrName>
                                        </p:attrNameLst>
                                      </p:cBhvr>
                                      <p:to>
                                        <p:strVal val="visible"/>
                                      </p:to>
                                    </p:set>
                                    <p:animEffect transition="in" filter="checkerboard(across)">
                                      <p:cBhvr>
                                        <p:cTn id="7" dur="500"/>
                                        <p:tgtEl>
                                          <p:spTgt spid="5734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7346"/>
                                        </p:tgtEl>
                                        <p:attrNameLst>
                                          <p:attrName>style.visibility</p:attrName>
                                        </p:attrNameLst>
                                      </p:cBhvr>
                                      <p:to>
                                        <p:strVal val="visible"/>
                                      </p:to>
                                    </p:set>
                                    <p:animEffect transition="in" filter="barn(outHorizontal)">
                                      <p:cBhvr>
                                        <p:cTn id="12" dur="500"/>
                                        <p:tgtEl>
                                          <p:spTgt spid="5734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57348"/>
                                        </p:tgtEl>
                                        <p:attrNameLst>
                                          <p:attrName>style.visibility</p:attrName>
                                        </p:attrNameLst>
                                      </p:cBhvr>
                                      <p:to>
                                        <p:strVal val="visible"/>
                                      </p:to>
                                    </p:set>
                                    <p:animEffect transition="in" filter="barn(outHorizontal)">
                                      <p:cBhvr>
                                        <p:cTn id="17" dur="500"/>
                                        <p:tgtEl>
                                          <p:spTgt spid="57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bldLvl="0" animBg="1"/>
      <p:bldP spid="57347" grpId="0"/>
      <p:bldP spid="57348"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txBox="1"/>
          <p:nvPr/>
        </p:nvSpPr>
        <p:spPr>
          <a:xfrm>
            <a:off x="697865" y="1475105"/>
            <a:ext cx="7832725" cy="2219325"/>
          </a:xfrm>
          <a:prstGeom prst="rect">
            <a:avLst/>
          </a:prstGeom>
          <a:noFill/>
          <a:ln w="9525" cap="flat" cmpd="sng">
            <a:solidFill>
              <a:srgbClr val="CC0000"/>
            </a:solidFill>
            <a:prstDash val="solid"/>
            <a:miter/>
            <a:headEnd type="none" w="med" len="med"/>
            <a:tailEnd type="none" w="med" len="med"/>
          </a:ln>
        </p:spPr>
        <p:txBody>
          <a:bodyPr anchor="t"/>
          <a:lstStyle/>
          <a:p>
            <a:pPr marL="186055" lvl="0" indent="-186055" eaLnBrk="0" hangingPunct="0">
              <a:lnSpc>
                <a:spcPct val="120000"/>
              </a:lnSpc>
              <a:spcBef>
                <a:spcPts val="0"/>
              </a:spcBef>
              <a:spcAft>
                <a:spcPts val="0"/>
              </a:spcAft>
              <a:buClr>
                <a:srgbClr val="FF0000"/>
              </a:buClr>
              <a:buFont typeface="Wingdings" panose="05000000000000000000" pitchFamily="2" charset="2"/>
              <a:buChar char="p"/>
            </a:pPr>
            <a:r>
              <a:rPr lang="zh-CN" altLang="en-US" sz="2400" u="sng" dirty="0">
                <a:solidFill>
                  <a:srgbClr val="FF0000"/>
                </a:solidFill>
                <a:latin typeface="华文中宋" panose="02010600040101010101" charset="-122"/>
                <a:ea typeface="华文中宋" panose="02010600040101010101" charset="-122"/>
              </a:rPr>
              <a:t>隔离性</a:t>
            </a:r>
            <a:r>
              <a:rPr lang="en-US" altLang="x-none" sz="2400" u="sng" dirty="0">
                <a:solidFill>
                  <a:srgbClr val="FF0000"/>
                </a:solidFill>
                <a:latin typeface="华文中宋" panose="02010600040101010101" charset="-122"/>
                <a:ea typeface="华文中宋" panose="02010600040101010101" charset="-122"/>
              </a:rPr>
              <a:t>(Isolation)</a:t>
            </a:r>
            <a:r>
              <a:rPr lang="zh-CN" altLang="en-US" sz="2400" u="sng" dirty="0">
                <a:solidFill>
                  <a:srgbClr val="FF0000"/>
                </a:solidFill>
                <a:latin typeface="华文中宋" panose="02010600040101010101" charset="-122"/>
                <a:ea typeface="华文中宋" panose="02010600040101010101" charset="-122"/>
              </a:rPr>
              <a:t>：</a:t>
            </a:r>
            <a:r>
              <a:rPr lang="en-US" altLang="x-none" sz="2200" dirty="0">
                <a:latin typeface="华文楷体" panose="02010600040101010101" pitchFamily="2" charset="-122"/>
                <a:ea typeface="华文楷体" panose="02010600040101010101" pitchFamily="2" charset="-122"/>
              </a:rPr>
              <a:t>DBMS</a:t>
            </a:r>
            <a:r>
              <a:rPr lang="zh-CN" altLang="en-US" sz="2200" dirty="0">
                <a:latin typeface="华文楷体" panose="02010600040101010101" pitchFamily="2" charset="-122"/>
                <a:ea typeface="华文楷体" panose="02010600040101010101" pitchFamily="2" charset="-122"/>
              </a:rPr>
              <a:t>为改善性能要交错执行几个事务的操作，但要求这些并发执行的事务，对用户而言象是单独执行一样。</a:t>
            </a:r>
            <a:r>
              <a:rPr lang="zh-CN" altLang="en-US" sz="2200" u="sng" dirty="0">
                <a:solidFill>
                  <a:srgbClr val="3402C2"/>
                </a:solidFill>
                <a:latin typeface="华文楷体" panose="02010600040101010101" pitchFamily="2" charset="-122"/>
                <a:ea typeface="华文楷体" panose="02010600040101010101" pitchFamily="2" charset="-122"/>
              </a:rPr>
              <a:t>任一事务内的更新操作对数据库的改变，只有在其提交后对其他事务才是可见的，也就是说，并发执行的事务间互不干扰</a:t>
            </a:r>
            <a:r>
              <a:rPr lang="zh-CN" altLang="en-US" sz="2200" dirty="0">
                <a:latin typeface="华文楷体" panose="02010600040101010101" pitchFamily="2" charset="-122"/>
                <a:ea typeface="华文楷体" panose="02010600040101010101" pitchFamily="2" charset="-122"/>
              </a:rPr>
              <a:t>。该特性由并发控制负责。</a:t>
            </a:r>
            <a:endParaRPr lang="zh-CN" altLang="en-US" sz="2200" dirty="0">
              <a:latin typeface="华文楷体" panose="02010600040101010101" pitchFamily="2" charset="-122"/>
              <a:ea typeface="华文楷体" panose="02010600040101010101" pitchFamily="2" charset="-122"/>
            </a:endParaRPr>
          </a:p>
        </p:txBody>
      </p:sp>
      <p:sp>
        <p:nvSpPr>
          <p:cNvPr id="58371" name="Text Box 4"/>
          <p:cNvSpPr txBox="1"/>
          <p:nvPr/>
        </p:nvSpPr>
        <p:spPr>
          <a:xfrm>
            <a:off x="706755" y="3791585"/>
            <a:ext cx="7832090" cy="1753235"/>
          </a:xfrm>
          <a:prstGeom prst="rect">
            <a:avLst/>
          </a:prstGeom>
          <a:noFill/>
          <a:ln w="9525" cap="flat" cmpd="sng">
            <a:solidFill>
              <a:srgbClr val="CC0000"/>
            </a:solidFill>
            <a:prstDash val="solid"/>
            <a:miter/>
            <a:headEnd type="none" w="med" len="med"/>
            <a:tailEnd type="none" w="med" len="med"/>
          </a:ln>
        </p:spPr>
        <p:txBody>
          <a:bodyPr wrap="square" lIns="90000" tIns="46800" rIns="90000" bIns="46800" anchor="t">
            <a:spAutoFit/>
          </a:bodyPr>
          <a:lstStyle/>
          <a:p>
            <a:pPr lvl="0" indent="0">
              <a:lnSpc>
                <a:spcPct val="120000"/>
              </a:lnSpc>
              <a:spcBef>
                <a:spcPts val="0"/>
              </a:spcBef>
              <a:spcAft>
                <a:spcPts val="0"/>
              </a:spcAft>
              <a:buFont typeface="Wingdings" panose="05000000000000000000" pitchFamily="2" charset="2"/>
              <a:buChar char="p"/>
            </a:pPr>
            <a:r>
              <a:rPr lang="zh-CN" altLang="en-US" sz="2400" u="sng" dirty="0">
                <a:solidFill>
                  <a:srgbClr val="FF0000"/>
                </a:solidFill>
                <a:latin typeface="华文中宋" panose="02010600040101010101" charset="-122"/>
                <a:ea typeface="华文中宋" panose="02010600040101010101" charset="-122"/>
              </a:rPr>
              <a:t>持久性</a:t>
            </a:r>
            <a:r>
              <a:rPr lang="en-US" altLang="x-none" sz="2400" u="sng" dirty="0">
                <a:solidFill>
                  <a:srgbClr val="FF0000"/>
                </a:solidFill>
                <a:latin typeface="华文中宋" panose="02010600040101010101" charset="-122"/>
                <a:ea typeface="华文中宋" panose="02010600040101010101" charset="-122"/>
              </a:rPr>
              <a:t>(Durability)</a:t>
            </a:r>
            <a:r>
              <a:rPr lang="zh-CN" altLang="en-US" sz="2400" u="sng" dirty="0">
                <a:solidFill>
                  <a:srgbClr val="FF0000"/>
                </a:solidFill>
                <a:latin typeface="华文中宋" panose="02010600040101010101" charset="-122"/>
                <a:ea typeface="华文中宋" panose="02010600040101010101" charset="-122"/>
              </a:rPr>
              <a:t>：</a:t>
            </a:r>
            <a:r>
              <a:rPr lang="zh-CN" altLang="en-US" sz="2200" dirty="0">
                <a:latin typeface="华文楷体" panose="02010600040101010101" pitchFamily="2" charset="-122"/>
                <a:ea typeface="华文楷体" panose="02010600040101010101" pitchFamily="2" charset="-122"/>
              </a:rPr>
              <a:t>一旦</a:t>
            </a:r>
            <a:r>
              <a:rPr lang="en-US" altLang="x-none" sz="2200" dirty="0">
                <a:latin typeface="华文楷体" panose="02010600040101010101" pitchFamily="2" charset="-122"/>
                <a:ea typeface="华文楷体" panose="02010600040101010101" pitchFamily="2" charset="-122"/>
              </a:rPr>
              <a:t>DBMS</a:t>
            </a:r>
            <a:r>
              <a:rPr lang="zh-CN" altLang="en-US" sz="2200" dirty="0">
                <a:latin typeface="华文楷体" panose="02010600040101010101" pitchFamily="2" charset="-122"/>
                <a:ea typeface="华文楷体" panose="02010600040101010101" pitchFamily="2" charset="-122"/>
              </a:rPr>
              <a:t>告诉用户事务成功执行，其对数据库的影响应是持久的，即使在事务导致的变化写盘之前，系统崩溃了仍应如此。该特性和第一个特性由故障恢复通过日志负责。</a:t>
            </a:r>
            <a:endParaRPr lang="zh-CN" altLang="en-US" sz="2200" dirty="0">
              <a:latin typeface="华文楷体" panose="02010600040101010101" pitchFamily="2" charset="-122"/>
              <a:ea typeface="华文楷体" panose="02010600040101010101" pitchFamily="2" charset="-122"/>
            </a:endParaRPr>
          </a:p>
        </p:txBody>
      </p:sp>
      <p:sp>
        <p:nvSpPr>
          <p:cNvPr id="51201"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二、事务机制与事务管理</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55301" name="Rectangle 7"/>
          <p:cNvSpPr/>
          <p:nvPr/>
        </p:nvSpPr>
        <p:spPr>
          <a:xfrm>
            <a:off x="552450" y="8191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3</a:t>
            </a:r>
            <a:r>
              <a:rPr lang="zh-CN" altLang="en-US" sz="2800" dirty="0">
                <a:solidFill>
                  <a:srgbClr val="FF0000"/>
                </a:solidFill>
                <a:latin typeface="黑体" panose="02010609060101010101" pitchFamily="1" charset="-122"/>
                <a:ea typeface="黑体" panose="02010609060101010101" pitchFamily="1" charset="-122"/>
              </a:rPr>
              <a:t>、事务的</a:t>
            </a:r>
            <a:r>
              <a:rPr lang="en-US" altLang="zh-CN" sz="2800" dirty="0">
                <a:solidFill>
                  <a:srgbClr val="FF0000"/>
                </a:solidFill>
                <a:latin typeface="黑体" panose="02010609060101010101" pitchFamily="1" charset="-122"/>
                <a:ea typeface="黑体" panose="02010609060101010101" pitchFamily="1" charset="-122"/>
              </a:rPr>
              <a:t>ACID</a:t>
            </a:r>
            <a:r>
              <a:rPr lang="zh-CN" altLang="en-US" sz="2800" dirty="0">
                <a:solidFill>
                  <a:srgbClr val="FF0000"/>
                </a:solidFill>
                <a:latin typeface="黑体" panose="02010609060101010101" pitchFamily="1" charset="-122"/>
                <a:ea typeface="黑体" panose="02010609060101010101" pitchFamily="1" charset="-122"/>
              </a:rPr>
              <a:t>准则</a:t>
            </a:r>
            <a:endParaRPr lang="zh-CN" altLang="en-US"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58370"/>
                                        </p:tgtEl>
                                        <p:attrNameLst>
                                          <p:attrName>style.visibility</p:attrName>
                                        </p:attrNameLst>
                                      </p:cBhvr>
                                      <p:to>
                                        <p:strVal val="visible"/>
                                      </p:to>
                                    </p:set>
                                    <p:animEffect transition="in" filter="barn(outHorizontal)">
                                      <p:cBhvr>
                                        <p:cTn id="7" dur="500"/>
                                        <p:tgtEl>
                                          <p:spTgt spid="5837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8371"/>
                                        </p:tgtEl>
                                        <p:attrNameLst>
                                          <p:attrName>style.visibility</p:attrName>
                                        </p:attrNameLst>
                                      </p:cBhvr>
                                      <p:to>
                                        <p:strVal val="visible"/>
                                      </p:to>
                                    </p:set>
                                    <p:animEffect transition="in" filter="barn(outHorizontal)">
                                      <p:cBhvr>
                                        <p:cTn id="12" dur="500"/>
                                        <p:tgtEl>
                                          <p:spTgt spid="58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bldLvl="0" animBg="1"/>
      <p:bldP spid="58371"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7"/>
          <p:cNvSpPr/>
          <p:nvPr/>
        </p:nvSpPr>
        <p:spPr>
          <a:xfrm>
            <a:off x="501650" y="806450"/>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4</a:t>
            </a:r>
            <a:r>
              <a:rPr lang="zh-CN" altLang="en-US" sz="2800" dirty="0">
                <a:solidFill>
                  <a:srgbClr val="FF0000"/>
                </a:solidFill>
                <a:latin typeface="黑体" panose="02010609060101010101" pitchFamily="1" charset="-122"/>
                <a:ea typeface="黑体" panose="02010609060101010101" pitchFamily="1" charset="-122"/>
              </a:rPr>
              <a:t>、事务管理的内容</a:t>
            </a:r>
            <a:endParaRPr lang="zh-CN" altLang="en-US" sz="2800" dirty="0">
              <a:solidFill>
                <a:srgbClr val="FF0000"/>
              </a:solidFill>
              <a:latin typeface="黑体" panose="02010609060101010101" pitchFamily="1" charset="-122"/>
              <a:ea typeface="黑体" panose="02010609060101010101" pitchFamily="1" charset="-122"/>
            </a:endParaRPr>
          </a:p>
        </p:txBody>
      </p:sp>
      <p:sp>
        <p:nvSpPr>
          <p:cNvPr id="51201" name="Rectangle 2"/>
          <p:cNvSpPr/>
          <p:nvPr/>
        </p:nvSpPr>
        <p:spPr>
          <a:xfrm>
            <a:off x="457200" y="8858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二、事务机制与事务管理</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2" name="Text Box 4"/>
          <p:cNvSpPr txBox="1"/>
          <p:nvPr/>
        </p:nvSpPr>
        <p:spPr>
          <a:xfrm>
            <a:off x="567690" y="1377950"/>
            <a:ext cx="8009255" cy="497205"/>
          </a:xfrm>
          <a:prstGeom prst="rect">
            <a:avLst/>
          </a:prstGeom>
          <a:noFill/>
          <a:ln w="9525">
            <a:noFill/>
          </a:ln>
        </p:spPr>
        <p:txBody>
          <a:bodyPr wrap="square" anchor="t">
            <a:spAutoFit/>
          </a:bodyPr>
          <a:lstStyle/>
          <a:p>
            <a:pPr lvl="0" indent="0">
              <a:lnSpc>
                <a:spcPct val="110000"/>
              </a:lnSpc>
              <a:buFont typeface="Wingdings" panose="05000000000000000000" pitchFamily="2" charset="2"/>
              <a:buChar char="p"/>
            </a:pPr>
            <a:r>
              <a:rPr lang="en-US" altLang="zh-CN" sz="2400" dirty="0">
                <a:solidFill>
                  <a:srgbClr val="A50021"/>
                </a:solidFill>
                <a:latin typeface="宋体" panose="02010600030101010101" pitchFamily="2" charset="-122"/>
                <a:ea typeface="宋体" panose="02010600030101010101" pitchFamily="2" charset="-122"/>
              </a:rPr>
              <a:t> </a:t>
            </a:r>
            <a:r>
              <a:rPr lang="zh-CN" altLang="en-US" sz="2400" u="sng" dirty="0">
                <a:solidFill>
                  <a:srgbClr val="A50021"/>
                </a:solidFill>
                <a:latin typeface="宋体" panose="02010600030101010101" pitchFamily="2" charset="-122"/>
                <a:ea typeface="宋体" panose="02010600030101010101" pitchFamily="2" charset="-122"/>
              </a:rPr>
              <a:t>引起事务不完全的原因：</a:t>
            </a:r>
            <a:endParaRPr lang="zh-CN" altLang="en-US" sz="2400" dirty="0">
              <a:latin typeface="华文楷体" panose="02010600040101010101" pitchFamily="2" charset="-122"/>
              <a:ea typeface="华文楷体" panose="02010600040101010101" pitchFamily="2" charset="-122"/>
            </a:endParaRPr>
          </a:p>
        </p:txBody>
      </p:sp>
      <p:sp>
        <p:nvSpPr>
          <p:cNvPr id="4" name="文本框 3"/>
          <p:cNvSpPr txBox="1"/>
          <p:nvPr/>
        </p:nvSpPr>
        <p:spPr>
          <a:xfrm>
            <a:off x="794385" y="1913255"/>
            <a:ext cx="7757160" cy="1257935"/>
          </a:xfrm>
          <a:prstGeom prst="rect">
            <a:avLst/>
          </a:prstGeom>
          <a:noFill/>
          <a:ln>
            <a:solidFill>
              <a:srgbClr val="0033CC"/>
            </a:solidFill>
            <a:prstDash val="dash"/>
          </a:ln>
        </p:spPr>
        <p:txBody>
          <a:bodyPr wrap="square" rtlCol="0" anchor="t">
            <a:spAutoFit/>
          </a:bodyPr>
          <a:lstStyle/>
          <a:p>
            <a:pPr lvl="0" indent="0">
              <a:lnSpc>
                <a:spcPct val="110000"/>
              </a:lnSpc>
              <a:spcBef>
                <a:spcPts val="200"/>
              </a:spcBef>
            </a:pPr>
            <a:r>
              <a:rPr lang="en-US" altLang="x-none" sz="2200" dirty="0">
                <a:latin typeface="华文楷体" panose="02010600040101010101" pitchFamily="2" charset="-122"/>
                <a:ea typeface="华文楷体" panose="02010600040101010101" pitchFamily="2" charset="-122"/>
                <a:sym typeface="+mn-ea"/>
              </a:rPr>
              <a:t>--</a:t>
            </a:r>
            <a:r>
              <a:rPr lang="zh-CN" altLang="en-US" sz="2200" dirty="0">
                <a:latin typeface="华文楷体" panose="02010600040101010101" pitchFamily="2" charset="-122"/>
                <a:ea typeface="华文楷体" panose="02010600040101010101" pitchFamily="2" charset="-122"/>
                <a:sym typeface="+mn-ea"/>
              </a:rPr>
              <a:t>由于出现异常，中途中止或不成功退出；</a:t>
            </a:r>
            <a:endParaRPr lang="en-US" altLang="x-none" sz="2200" dirty="0">
              <a:latin typeface="华文楷体" panose="02010600040101010101" pitchFamily="2" charset="-122"/>
              <a:ea typeface="华文楷体" panose="02010600040101010101" pitchFamily="2" charset="-122"/>
            </a:endParaRPr>
          </a:p>
          <a:p>
            <a:pPr lvl="0" indent="0">
              <a:lnSpc>
                <a:spcPct val="110000"/>
              </a:lnSpc>
              <a:spcBef>
                <a:spcPts val="200"/>
              </a:spcBef>
            </a:pPr>
            <a:r>
              <a:rPr lang="en-US" altLang="x-none" sz="2200" dirty="0">
                <a:latin typeface="华文楷体" panose="02010600040101010101" pitchFamily="2" charset="-122"/>
                <a:ea typeface="华文楷体" panose="02010600040101010101" pitchFamily="2" charset="-122"/>
                <a:sym typeface="+mn-ea"/>
              </a:rPr>
              <a:t>--</a:t>
            </a:r>
            <a:r>
              <a:rPr lang="zh-CN" altLang="en-US" sz="2200" dirty="0">
                <a:latin typeface="华文楷体" panose="02010600040101010101" pitchFamily="2" charset="-122"/>
                <a:ea typeface="华文楷体" panose="02010600040101010101" pitchFamily="2" charset="-122"/>
                <a:sym typeface="+mn-ea"/>
              </a:rPr>
              <a:t>可能因电源等故障，系统崩溃；</a:t>
            </a:r>
            <a:endParaRPr lang="en-US" altLang="x-none" sz="2200" dirty="0">
              <a:latin typeface="华文楷体" panose="02010600040101010101" pitchFamily="2" charset="-122"/>
              <a:ea typeface="华文楷体" panose="02010600040101010101" pitchFamily="2" charset="-122"/>
            </a:endParaRPr>
          </a:p>
          <a:p>
            <a:pPr lvl="0" indent="0">
              <a:lnSpc>
                <a:spcPct val="110000"/>
              </a:lnSpc>
              <a:spcBef>
                <a:spcPts val="200"/>
              </a:spcBef>
              <a:spcAft>
                <a:spcPts val="300"/>
              </a:spcAft>
            </a:pPr>
            <a:r>
              <a:rPr lang="en-US" altLang="x-none" sz="2200" dirty="0">
                <a:latin typeface="华文楷体" panose="02010600040101010101" pitchFamily="2" charset="-122"/>
                <a:ea typeface="华文楷体" panose="02010600040101010101" pitchFamily="2" charset="-122"/>
                <a:sym typeface="+mn-ea"/>
              </a:rPr>
              <a:t>--</a:t>
            </a:r>
            <a:r>
              <a:rPr lang="zh-CN" altLang="en-US" sz="2200" dirty="0">
                <a:latin typeface="华文楷体" panose="02010600040101010101" pitchFamily="2" charset="-122"/>
                <a:ea typeface="华文楷体" panose="02010600040101010101" pitchFamily="2" charset="-122"/>
                <a:sym typeface="+mn-ea"/>
              </a:rPr>
              <a:t>遇到如不能访盘等异常状态而中止。</a:t>
            </a:r>
            <a:endParaRPr lang="zh-CN" altLang="en-US" sz="2200"/>
          </a:p>
        </p:txBody>
      </p:sp>
      <p:grpSp>
        <p:nvGrpSpPr>
          <p:cNvPr id="6" name="组合 5"/>
          <p:cNvGrpSpPr/>
          <p:nvPr/>
        </p:nvGrpSpPr>
        <p:grpSpPr>
          <a:xfrm>
            <a:off x="581025" y="3292475"/>
            <a:ext cx="7995920" cy="2619375"/>
            <a:chOff x="915" y="5145"/>
            <a:chExt cx="12592" cy="4125"/>
          </a:xfrm>
        </p:grpSpPr>
        <p:sp>
          <p:nvSpPr>
            <p:cNvPr id="3" name="Text Box 4"/>
            <p:cNvSpPr txBox="1"/>
            <p:nvPr/>
          </p:nvSpPr>
          <p:spPr>
            <a:xfrm>
              <a:off x="915" y="5145"/>
              <a:ext cx="12592" cy="2533"/>
            </a:xfrm>
            <a:prstGeom prst="rect">
              <a:avLst/>
            </a:prstGeom>
            <a:noFill/>
            <a:ln w="9525">
              <a:noFill/>
            </a:ln>
          </p:spPr>
          <p:txBody>
            <a:bodyPr wrap="square" anchor="t">
              <a:spAutoFit/>
            </a:bodyPr>
            <a:lstStyle/>
            <a:p>
              <a:pPr marL="342900" lvl="0" indent="-342900">
                <a:lnSpc>
                  <a:spcPct val="105000"/>
                </a:lnSpc>
                <a:spcBef>
                  <a:spcPts val="0"/>
                </a:spcBef>
                <a:spcAft>
                  <a:spcPts val="0"/>
                </a:spcAft>
                <a:buFont typeface="Wingdings" panose="05000000000000000000" charset="0"/>
                <a:buChar char=""/>
              </a:pPr>
              <a:r>
                <a:rPr lang="en-US" altLang="x-none" sz="2400" u="sng" dirty="0">
                  <a:solidFill>
                    <a:srgbClr val="C00000"/>
                  </a:solidFill>
                  <a:latin typeface="宋体" panose="02010600030101010101" pitchFamily="2" charset="-122"/>
                  <a:ea typeface="宋体" panose="02010600030101010101" pitchFamily="2" charset="-122"/>
                </a:rPr>
                <a:t>ACID</a:t>
              </a:r>
              <a:r>
                <a:rPr lang="zh-CN" altLang="en-US" sz="2400" u="sng" dirty="0">
                  <a:solidFill>
                    <a:srgbClr val="C00000"/>
                  </a:solidFill>
                  <a:latin typeface="宋体" panose="02010600030101010101" pitchFamily="2" charset="-122"/>
                  <a:ea typeface="宋体" panose="02010600030101010101" pitchFamily="2" charset="-122"/>
                </a:rPr>
                <a:t>准则不容破坏：</a:t>
              </a:r>
              <a:r>
                <a:rPr lang="zh-CN" altLang="en-US" sz="2300" dirty="0">
                  <a:latin typeface="华文楷体" panose="02010600040101010101" pitchFamily="2" charset="-122"/>
                  <a:ea typeface="华文楷体" panose="02010600040101010101" pitchFamily="2" charset="-122"/>
                </a:rPr>
                <a:t>不仅在系统正常如此，在系统故障</a:t>
              </a:r>
              <a:r>
                <a:rPr lang="en-US" altLang="x-none" sz="2300" dirty="0">
                  <a:latin typeface="华文楷体" panose="02010600040101010101" pitchFamily="2" charset="-122"/>
                  <a:ea typeface="华文楷体" panose="02010600040101010101" pitchFamily="2" charset="-122"/>
                </a:rPr>
                <a:t>    </a:t>
              </a:r>
              <a:r>
                <a:rPr lang="zh-CN" altLang="en-US" sz="2300" dirty="0">
                  <a:latin typeface="华文楷体" panose="02010600040101010101" pitchFamily="2" charset="-122"/>
                  <a:ea typeface="华文楷体" panose="02010600040101010101" pitchFamily="2" charset="-122"/>
                </a:rPr>
                <a:t>时也应如此；在单个事务执行时如此，在事务并发执行</a:t>
              </a:r>
              <a:r>
                <a:rPr lang="en-US" altLang="x-none" sz="2300" dirty="0">
                  <a:latin typeface="华文楷体" panose="02010600040101010101" pitchFamily="2" charset="-122"/>
                  <a:ea typeface="华文楷体" panose="02010600040101010101" pitchFamily="2" charset="-122"/>
                </a:rPr>
                <a:t>    </a:t>
              </a:r>
              <a:r>
                <a:rPr lang="zh-CN" altLang="en-US" sz="2300" dirty="0">
                  <a:latin typeface="华文楷体" panose="02010600040101010101" pitchFamily="2" charset="-122"/>
                  <a:ea typeface="华文楷体" panose="02010600040101010101" pitchFamily="2" charset="-122"/>
                </a:rPr>
                <a:t>时也应如此。对事务的管理，保证</a:t>
              </a:r>
              <a:r>
                <a:rPr lang="en-US" altLang="zh-CN" sz="2300" dirty="0">
                  <a:latin typeface="华文楷体" panose="02010600040101010101" pitchFamily="2" charset="-122"/>
                  <a:ea typeface="华文楷体" panose="02010600040101010101" pitchFamily="2" charset="-122"/>
                </a:rPr>
                <a:t>ACID</a:t>
              </a:r>
              <a:r>
                <a:rPr lang="zh-CN" altLang="zh-CN" sz="2300" dirty="0">
                  <a:latin typeface="华文楷体" panose="02010600040101010101" pitchFamily="2" charset="-122"/>
                  <a:ea typeface="华文楷体" panose="02010600040101010101" pitchFamily="2" charset="-122"/>
                </a:rPr>
                <a:t>特性，实质上涉及</a:t>
              </a:r>
              <a:r>
                <a:rPr lang="en-US" altLang="zh-CN" sz="2300" dirty="0">
                  <a:latin typeface="华文楷体" panose="02010600040101010101" pitchFamily="2" charset="-122"/>
                  <a:ea typeface="华文楷体" panose="02010600040101010101" pitchFamily="2" charset="-122"/>
                </a:rPr>
                <a:t>DBMS</a:t>
              </a:r>
              <a:r>
                <a:rPr lang="zh-CN" altLang="en-US" sz="2300" dirty="0">
                  <a:latin typeface="华文楷体" panose="02010600040101010101" pitchFamily="2" charset="-122"/>
                  <a:ea typeface="华文楷体" panose="02010600040101010101" pitchFamily="2" charset="-122"/>
                </a:rPr>
                <a:t>的另外两个功能的实现：</a:t>
              </a:r>
              <a:r>
                <a:rPr lang="zh-CN" altLang="en-US" sz="2400" dirty="0">
                  <a:solidFill>
                    <a:srgbClr val="3402C2"/>
                  </a:solidFill>
                  <a:latin typeface="华文中宋" panose="02010600040101010101" charset="-122"/>
                  <a:ea typeface="华文中宋" panose="02010600040101010101" charset="-122"/>
                </a:rPr>
                <a:t>故障恢复</a:t>
              </a:r>
              <a:r>
                <a:rPr lang="zh-CN" altLang="en-US" sz="2400" dirty="0">
                  <a:latin typeface="华文楷体" panose="02010600040101010101" pitchFamily="2" charset="-122"/>
                  <a:ea typeface="华文楷体" panose="02010600040101010101" pitchFamily="2" charset="-122"/>
                </a:rPr>
                <a:t>和</a:t>
              </a:r>
              <a:r>
                <a:rPr lang="zh-CN" altLang="en-US" sz="2400" dirty="0">
                  <a:solidFill>
                    <a:srgbClr val="3402C2"/>
                  </a:solidFill>
                  <a:latin typeface="华文中宋" panose="02010600040101010101" charset="-122"/>
                  <a:ea typeface="华文中宋" panose="02010600040101010101" charset="-122"/>
                  <a:cs typeface="+mn-ea"/>
                </a:rPr>
                <a:t>并发控制</a:t>
              </a:r>
              <a:r>
                <a:rPr lang="zh-CN" altLang="en-US" sz="2400" dirty="0">
                  <a:latin typeface="华文楷体" panose="02010600040101010101" pitchFamily="2" charset="-122"/>
                  <a:ea typeface="华文楷体" panose="02010600040101010101" pitchFamily="2" charset="-122"/>
                </a:rPr>
                <a:t>。</a:t>
              </a:r>
              <a:endParaRPr lang="zh-CN" altLang="en-US" sz="2400" dirty="0">
                <a:latin typeface="华文楷体" panose="02010600040101010101" pitchFamily="2" charset="-122"/>
                <a:ea typeface="华文楷体" panose="02010600040101010101" pitchFamily="2" charset="-122"/>
              </a:endParaRPr>
            </a:p>
          </p:txBody>
        </p:sp>
        <p:sp>
          <p:nvSpPr>
            <p:cNvPr id="5" name="Text Box 4"/>
            <p:cNvSpPr txBox="1"/>
            <p:nvPr/>
          </p:nvSpPr>
          <p:spPr>
            <a:xfrm>
              <a:off x="1094" y="7786"/>
              <a:ext cx="12391" cy="1485"/>
            </a:xfrm>
            <a:prstGeom prst="rect">
              <a:avLst/>
            </a:prstGeom>
            <a:noFill/>
            <a:ln w="9525">
              <a:solidFill>
                <a:srgbClr val="0033CC"/>
              </a:solidFill>
              <a:prstDash val="dash"/>
            </a:ln>
          </p:spPr>
          <p:txBody>
            <a:bodyPr wrap="square" anchor="t">
              <a:spAutoFit/>
            </a:bodyPr>
            <a:lstStyle/>
            <a:p>
              <a:pPr marL="342900" lvl="0" indent="-342900">
                <a:lnSpc>
                  <a:spcPct val="115000"/>
                </a:lnSpc>
                <a:spcBef>
                  <a:spcPts val="300"/>
                </a:spcBef>
                <a:spcAft>
                  <a:spcPts val="0"/>
                </a:spcAft>
                <a:buFont typeface="Wingdings" panose="05000000000000000000" pitchFamily="2" charset="2"/>
                <a:buChar char="Ø"/>
              </a:pPr>
              <a:r>
                <a:rPr lang="zh-CN" altLang="en-US" sz="2200" u="sng" dirty="0">
                  <a:solidFill>
                    <a:srgbClr val="3402C2"/>
                  </a:solidFill>
                  <a:latin typeface="华文中宋" panose="02010600040101010101" charset="-122"/>
                  <a:ea typeface="华文中宋" panose="02010600040101010101" charset="-122"/>
                </a:rPr>
                <a:t>故障恢复：</a:t>
              </a:r>
              <a:r>
                <a:rPr lang="zh-CN" altLang="en-US" sz="2300" dirty="0">
                  <a:latin typeface="华文楷体" panose="02010600040101010101" pitchFamily="2" charset="-122"/>
                  <a:ea typeface="华文楷体" panose="02010600040101010101" pitchFamily="2" charset="-122"/>
                </a:rPr>
                <a:t>保证事务在故障时满足</a:t>
              </a:r>
              <a:r>
                <a:rPr lang="en-US" altLang="x-none" sz="2300" dirty="0">
                  <a:latin typeface="华文楷体" panose="02010600040101010101" pitchFamily="2" charset="-122"/>
                  <a:ea typeface="华文楷体" panose="02010600040101010101" pitchFamily="2" charset="-122"/>
                </a:rPr>
                <a:t>ACID </a:t>
              </a:r>
              <a:r>
                <a:rPr lang="zh-CN" altLang="en-US" sz="2300" dirty="0">
                  <a:latin typeface="华文楷体" panose="02010600040101010101" pitchFamily="2" charset="-122"/>
                  <a:ea typeface="华文楷体" panose="02010600040101010101" pitchFamily="2" charset="-122"/>
                </a:rPr>
                <a:t>准则的技术；</a:t>
              </a:r>
              <a:endParaRPr lang="zh-CN" altLang="en-US" sz="2300" dirty="0">
                <a:latin typeface="华文楷体" panose="02010600040101010101" pitchFamily="2" charset="-122"/>
                <a:ea typeface="华文楷体" panose="02010600040101010101" pitchFamily="2" charset="-122"/>
              </a:endParaRPr>
            </a:p>
            <a:p>
              <a:pPr marL="342900" lvl="0" indent="-342900" algn="l">
                <a:lnSpc>
                  <a:spcPct val="115000"/>
                </a:lnSpc>
                <a:spcBef>
                  <a:spcPts val="300"/>
                </a:spcBef>
                <a:spcAft>
                  <a:spcPts val="0"/>
                </a:spcAft>
                <a:buFont typeface="Wingdings" panose="05000000000000000000" pitchFamily="2" charset="2"/>
                <a:buChar char="Ø"/>
              </a:pPr>
              <a:r>
                <a:rPr lang="zh-CN" altLang="en-US" sz="2200" u="sng" dirty="0">
                  <a:solidFill>
                    <a:srgbClr val="3402C2"/>
                  </a:solidFill>
                  <a:latin typeface="华文中宋" panose="02010600040101010101" charset="-122"/>
                  <a:ea typeface="华文中宋" panose="02010600040101010101" charset="-122"/>
                  <a:cs typeface="+mn-ea"/>
                </a:rPr>
                <a:t>并发控制：</a:t>
              </a:r>
              <a:r>
                <a:rPr lang="zh-CN" altLang="en-US" sz="2300" dirty="0">
                  <a:latin typeface="华文楷体" panose="02010600040101010101" pitchFamily="2" charset="-122"/>
                  <a:ea typeface="华文楷体" panose="02010600040101010101" pitchFamily="2" charset="-122"/>
                  <a:cs typeface="+mn-ea"/>
                </a:rPr>
                <a:t>保证事务在并发执行时满足ACID准则的技术。</a:t>
              </a:r>
              <a:endParaRPr lang="zh-CN" altLang="en-US" sz="2200" u="sng" dirty="0">
                <a:solidFill>
                  <a:srgbClr val="A50021"/>
                </a:solidFill>
                <a:latin typeface="宋体" panose="02010600030101010101" pitchFamily="2" charset="-122"/>
                <a:cs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44"/>
          <p:cNvSpPr txBox="1"/>
          <p:nvPr/>
        </p:nvSpPr>
        <p:spPr>
          <a:xfrm>
            <a:off x="442913" y="659765"/>
            <a:ext cx="2681605" cy="829945"/>
          </a:xfrm>
          <a:prstGeom prst="rect">
            <a:avLst/>
          </a:prstGeom>
          <a:noFill/>
        </p:spPr>
        <p:txBody>
          <a:bodyPr wrap="none" rtlCol="0" anchor="t">
            <a:spAutoFit/>
          </a:bodyPr>
          <a:lstStyle/>
          <a:p>
            <a:pPr marL="457200" indent="-457200" algn="just">
              <a:lnSpc>
                <a:spcPct val="150000"/>
              </a:lnSpc>
              <a:spcAft>
                <a:spcPts val="0"/>
              </a:spcAft>
              <a:buFont typeface="Wingdings" panose="05000000000000000000" pitchFamily="2" charset="2"/>
              <a:buChar char="p"/>
            </a:pPr>
            <a:r>
              <a:rPr lang="zh-CN" altLang="zh-CN" sz="3200" kern="100" dirty="0" smtClean="0">
                <a:solidFill>
                  <a:srgbClr val="FF0000"/>
                </a:solidFill>
                <a:latin typeface="Calibri" panose="020F0502020204030204" charset="0"/>
                <a:cs typeface="Times New Roman" panose="02020603050405020304" pitchFamily="2" charset="0"/>
                <a:sym typeface="+mn-ea"/>
              </a:rPr>
              <a:t>问题研讨：</a:t>
            </a:r>
            <a:endParaRPr lang="zh-CN" altLang="en-US" sz="3200"/>
          </a:p>
        </p:txBody>
      </p:sp>
      <p:sp>
        <p:nvSpPr>
          <p:cNvPr id="5" name="文本框 4"/>
          <p:cNvSpPr txBox="1"/>
          <p:nvPr/>
        </p:nvSpPr>
        <p:spPr>
          <a:xfrm>
            <a:off x="554355" y="1374140"/>
            <a:ext cx="8294370" cy="547370"/>
          </a:xfrm>
          <a:prstGeom prst="rect">
            <a:avLst/>
          </a:prstGeom>
          <a:noFill/>
        </p:spPr>
        <p:txBody>
          <a:bodyPr wrap="square" rtlCol="0" anchor="t">
            <a:spAutoFit/>
          </a:bodyPr>
          <a:lstStyle/>
          <a:p>
            <a:pPr>
              <a:buNone/>
            </a:pPr>
            <a:r>
              <a:rPr lang="en-US" altLang="zh-CN" sz="2200"/>
              <a:t>1</a:t>
            </a:r>
            <a:r>
              <a:rPr lang="zh-CN" altLang="en-US" sz="2200"/>
              <a:t>、事务的四个基本特征是</a:t>
            </a:r>
            <a:r>
              <a:rPr lang="zh-CN" altLang="en-US" sz="2200" u="sng"/>
              <a:t>           </a:t>
            </a:r>
            <a:r>
              <a:rPr lang="zh-CN" altLang="en-US" sz="2200"/>
              <a:t>、</a:t>
            </a:r>
            <a:r>
              <a:rPr lang="zh-CN" altLang="en-US" sz="2200" u="sng"/>
              <a:t>           </a:t>
            </a:r>
            <a:r>
              <a:rPr lang="zh-CN" altLang="en-US" sz="2200"/>
              <a:t> </a:t>
            </a:r>
            <a:r>
              <a:rPr lang="zh-CN" altLang="en-US" sz="2200">
                <a:sym typeface="+mn-ea"/>
              </a:rPr>
              <a:t>、</a:t>
            </a:r>
            <a:r>
              <a:rPr lang="zh-CN" altLang="en-US" sz="2200" u="sng">
                <a:sym typeface="+mn-ea"/>
              </a:rPr>
              <a:t>             </a:t>
            </a:r>
            <a:r>
              <a:rPr lang="zh-CN" altLang="en-US" sz="2200">
                <a:sym typeface="+mn-ea"/>
              </a:rPr>
              <a:t> 和</a:t>
            </a:r>
            <a:r>
              <a:rPr lang="zh-CN" altLang="en-US" sz="2200" u="sng">
                <a:sym typeface="+mn-ea"/>
              </a:rPr>
              <a:t>           </a:t>
            </a:r>
            <a:r>
              <a:rPr lang="zh-CN" altLang="en-US" sz="2200">
                <a:sym typeface="+mn-ea"/>
              </a:rPr>
              <a:t> </a:t>
            </a:r>
            <a:r>
              <a:rPr lang="zh-CN" altLang="en-US" sz="2200"/>
              <a:t>。</a:t>
            </a:r>
            <a:endParaRPr lang="zh-CN" altLang="en-US" sz="2200"/>
          </a:p>
        </p:txBody>
      </p:sp>
      <p:sp>
        <p:nvSpPr>
          <p:cNvPr id="2" name="文本框 1"/>
          <p:cNvSpPr txBox="1"/>
          <p:nvPr/>
        </p:nvSpPr>
        <p:spPr>
          <a:xfrm>
            <a:off x="3874135" y="1372235"/>
            <a:ext cx="948690" cy="506730"/>
          </a:xfrm>
          <a:prstGeom prst="rect">
            <a:avLst/>
          </a:prstGeom>
          <a:noFill/>
        </p:spPr>
        <p:txBody>
          <a:bodyPr wrap="none" rtlCol="0" anchor="t">
            <a:spAutoFit/>
          </a:bodyPr>
          <a:lstStyle/>
          <a:p>
            <a:pPr>
              <a:buNone/>
            </a:pPr>
            <a:r>
              <a:rPr lang="zh-CN" altLang="en-US" sz="2000" dirty="0">
                <a:solidFill>
                  <a:srgbClr val="0033CC"/>
                </a:solidFill>
                <a:latin typeface="黑体" panose="02010609060101010101" pitchFamily="1" charset="-122"/>
                <a:ea typeface="黑体" panose="02010609060101010101" pitchFamily="1" charset="-122"/>
                <a:sym typeface="+mn-ea"/>
              </a:rPr>
              <a:t>原子性</a:t>
            </a:r>
            <a:endParaRPr lang="zh-CN" altLang="en-US" sz="2000" dirty="0">
              <a:solidFill>
                <a:srgbClr val="0033CC"/>
              </a:solidFill>
              <a:latin typeface="黑体" panose="02010609060101010101" pitchFamily="1" charset="-122"/>
              <a:ea typeface="黑体" panose="02010609060101010101" pitchFamily="1" charset="-122"/>
              <a:sym typeface="+mn-ea"/>
            </a:endParaRPr>
          </a:p>
        </p:txBody>
      </p:sp>
      <p:sp>
        <p:nvSpPr>
          <p:cNvPr id="3" name="文本框 2"/>
          <p:cNvSpPr txBox="1"/>
          <p:nvPr/>
        </p:nvSpPr>
        <p:spPr>
          <a:xfrm>
            <a:off x="4939665" y="1372235"/>
            <a:ext cx="948690" cy="506730"/>
          </a:xfrm>
          <a:prstGeom prst="rect">
            <a:avLst/>
          </a:prstGeom>
          <a:noFill/>
        </p:spPr>
        <p:txBody>
          <a:bodyPr wrap="none" rtlCol="0" anchor="t">
            <a:spAutoFit/>
          </a:bodyPr>
          <a:lstStyle/>
          <a:p>
            <a:pPr>
              <a:buNone/>
            </a:pPr>
            <a:r>
              <a:rPr lang="zh-CN" altLang="en-US" sz="2000" dirty="0">
                <a:solidFill>
                  <a:srgbClr val="0033CC"/>
                </a:solidFill>
                <a:latin typeface="黑体" panose="02010609060101010101" pitchFamily="1" charset="-122"/>
                <a:ea typeface="黑体" panose="02010609060101010101" pitchFamily="1" charset="-122"/>
                <a:sym typeface="+mn-ea"/>
              </a:rPr>
              <a:t>一致性</a:t>
            </a:r>
            <a:endParaRPr lang="zh-CN" altLang="en-US" sz="2000" dirty="0">
              <a:solidFill>
                <a:srgbClr val="0033CC"/>
              </a:solidFill>
              <a:latin typeface="黑体" panose="02010609060101010101" pitchFamily="1" charset="-122"/>
              <a:ea typeface="黑体" panose="02010609060101010101" pitchFamily="1" charset="-122"/>
              <a:sym typeface="+mn-ea"/>
            </a:endParaRPr>
          </a:p>
        </p:txBody>
      </p:sp>
      <p:sp>
        <p:nvSpPr>
          <p:cNvPr id="4" name="文本框 3"/>
          <p:cNvSpPr txBox="1"/>
          <p:nvPr/>
        </p:nvSpPr>
        <p:spPr>
          <a:xfrm>
            <a:off x="6218555" y="1372235"/>
            <a:ext cx="948690" cy="506730"/>
          </a:xfrm>
          <a:prstGeom prst="rect">
            <a:avLst/>
          </a:prstGeom>
          <a:noFill/>
        </p:spPr>
        <p:txBody>
          <a:bodyPr wrap="none" rtlCol="0" anchor="t">
            <a:spAutoFit/>
          </a:bodyPr>
          <a:lstStyle/>
          <a:p>
            <a:pPr>
              <a:buNone/>
            </a:pPr>
            <a:r>
              <a:rPr lang="zh-CN" altLang="en-US" sz="2000" dirty="0">
                <a:solidFill>
                  <a:srgbClr val="0033CC"/>
                </a:solidFill>
                <a:latin typeface="黑体" panose="02010609060101010101" pitchFamily="1" charset="-122"/>
                <a:ea typeface="黑体" panose="02010609060101010101" pitchFamily="1" charset="-122"/>
                <a:sym typeface="+mn-ea"/>
              </a:rPr>
              <a:t>隔离性</a:t>
            </a:r>
            <a:endParaRPr lang="zh-CN" altLang="en-US" sz="2000" dirty="0">
              <a:solidFill>
                <a:srgbClr val="0033CC"/>
              </a:solidFill>
              <a:latin typeface="黑体" panose="02010609060101010101" pitchFamily="1" charset="-122"/>
              <a:ea typeface="黑体" panose="02010609060101010101" pitchFamily="1" charset="-122"/>
              <a:sym typeface="+mn-ea"/>
            </a:endParaRPr>
          </a:p>
        </p:txBody>
      </p:sp>
      <p:sp>
        <p:nvSpPr>
          <p:cNvPr id="6" name="文本框 5"/>
          <p:cNvSpPr txBox="1"/>
          <p:nvPr/>
        </p:nvSpPr>
        <p:spPr>
          <a:xfrm>
            <a:off x="7608570" y="1372235"/>
            <a:ext cx="948690" cy="506730"/>
          </a:xfrm>
          <a:prstGeom prst="rect">
            <a:avLst/>
          </a:prstGeom>
          <a:noFill/>
        </p:spPr>
        <p:txBody>
          <a:bodyPr wrap="none" rtlCol="0" anchor="t">
            <a:spAutoFit/>
          </a:bodyPr>
          <a:lstStyle/>
          <a:p>
            <a:pPr>
              <a:buNone/>
            </a:pPr>
            <a:r>
              <a:rPr lang="zh-CN" altLang="en-US" sz="2000" dirty="0">
                <a:solidFill>
                  <a:srgbClr val="0033CC"/>
                </a:solidFill>
                <a:latin typeface="黑体" panose="02010609060101010101" pitchFamily="1" charset="-122"/>
                <a:ea typeface="黑体" panose="02010609060101010101" pitchFamily="1" charset="-122"/>
                <a:sym typeface="+mn-ea"/>
              </a:rPr>
              <a:t>持久性</a:t>
            </a:r>
            <a:endParaRPr lang="zh-CN" altLang="en-US" sz="2000" dirty="0">
              <a:solidFill>
                <a:srgbClr val="0033CC"/>
              </a:solidFill>
              <a:latin typeface="黑体" panose="02010609060101010101" pitchFamily="1" charset="-122"/>
              <a:ea typeface="黑体" panose="02010609060101010101" pitchFamily="1" charset="-122"/>
              <a:sym typeface="+mn-ea"/>
            </a:endParaRPr>
          </a:p>
        </p:txBody>
      </p:sp>
      <p:sp>
        <p:nvSpPr>
          <p:cNvPr id="12" name="文本框 11"/>
          <p:cNvSpPr txBox="1"/>
          <p:nvPr/>
        </p:nvSpPr>
        <p:spPr>
          <a:xfrm>
            <a:off x="579755" y="1905000"/>
            <a:ext cx="8233410" cy="506730"/>
          </a:xfrm>
          <a:prstGeom prst="rect">
            <a:avLst/>
          </a:prstGeom>
          <a:noFill/>
        </p:spPr>
        <p:txBody>
          <a:bodyPr wrap="square" rtlCol="0" anchor="t">
            <a:spAutoFit/>
          </a:bodyPr>
          <a:lstStyle/>
          <a:p>
            <a:pPr>
              <a:buNone/>
            </a:pPr>
            <a:r>
              <a:rPr lang="en-US" altLang="zh-CN" sz="2000"/>
              <a:t>2</a:t>
            </a:r>
            <a:r>
              <a:rPr lang="zh-CN" altLang="en-US" sz="2000"/>
              <a:t>、</a:t>
            </a:r>
            <a:r>
              <a:rPr lang="zh-CN" altLang="en-US" sz="2000" u="sng"/>
              <a:t>           </a:t>
            </a:r>
            <a:r>
              <a:rPr lang="zh-CN" altLang="en-US" sz="2000"/>
              <a:t>是一系列的数据库操作，是数据库应用程序的基本逻辑单元。</a:t>
            </a:r>
            <a:endParaRPr lang="zh-CN" altLang="en-US" sz="2000"/>
          </a:p>
        </p:txBody>
      </p:sp>
      <p:sp>
        <p:nvSpPr>
          <p:cNvPr id="13" name="文本框 12"/>
          <p:cNvSpPr txBox="1"/>
          <p:nvPr/>
        </p:nvSpPr>
        <p:spPr>
          <a:xfrm>
            <a:off x="1025525" y="1835785"/>
            <a:ext cx="693420" cy="506730"/>
          </a:xfrm>
          <a:prstGeom prst="rect">
            <a:avLst/>
          </a:prstGeom>
          <a:noFill/>
        </p:spPr>
        <p:txBody>
          <a:bodyPr wrap="none" rtlCol="0" anchor="t">
            <a:spAutoFit/>
          </a:bodyPr>
          <a:lstStyle/>
          <a:p>
            <a:pPr>
              <a:buNone/>
            </a:pPr>
            <a:r>
              <a:rPr lang="zh-CN" altLang="en-US" sz="2000" dirty="0">
                <a:solidFill>
                  <a:srgbClr val="0033CC"/>
                </a:solidFill>
                <a:latin typeface="黑体" panose="02010609060101010101" pitchFamily="1" charset="-122"/>
                <a:ea typeface="黑体" panose="02010609060101010101" pitchFamily="1" charset="-122"/>
                <a:sym typeface="+mn-ea"/>
              </a:rPr>
              <a:t>事务</a:t>
            </a:r>
            <a:endParaRPr lang="zh-CN" altLang="en-US" sz="2000" dirty="0">
              <a:solidFill>
                <a:srgbClr val="0033CC"/>
              </a:solidFill>
              <a:latin typeface="黑体" panose="02010609060101010101" pitchFamily="1" charset="-122"/>
              <a:ea typeface="黑体" panose="02010609060101010101" pitchFamily="1" charset="-122"/>
              <a:sym typeface="+mn-ea"/>
            </a:endParaRPr>
          </a:p>
        </p:txBody>
      </p:sp>
      <p:sp>
        <p:nvSpPr>
          <p:cNvPr id="15" name="文本框 14"/>
          <p:cNvSpPr txBox="1"/>
          <p:nvPr/>
        </p:nvSpPr>
        <p:spPr>
          <a:xfrm>
            <a:off x="589915" y="2411730"/>
            <a:ext cx="8060690" cy="922020"/>
          </a:xfrm>
          <a:prstGeom prst="rect">
            <a:avLst/>
          </a:prstGeom>
          <a:noFill/>
        </p:spPr>
        <p:txBody>
          <a:bodyPr wrap="square" rtlCol="0" anchor="t">
            <a:spAutoFit/>
          </a:bodyPr>
          <a:lstStyle/>
          <a:p>
            <a:pPr>
              <a:buNone/>
            </a:pPr>
            <a:r>
              <a:rPr lang="en-US" altLang="zh-CN" sz="2000"/>
              <a:t>3</a:t>
            </a:r>
            <a:r>
              <a:rPr lang="zh-CN" altLang="en-US" sz="2000"/>
              <a:t>、在SQL语言中，事务以BEGIN TRANSACTION开始，以</a:t>
            </a:r>
            <a:r>
              <a:rPr lang="zh-CN" altLang="en-US" sz="2000" u="sng"/>
              <a:t>             </a:t>
            </a:r>
            <a:r>
              <a:rPr lang="zh-CN" altLang="en-US" sz="2000"/>
              <a:t>或</a:t>
            </a:r>
            <a:endParaRPr lang="zh-CN" altLang="en-US" sz="2000"/>
          </a:p>
          <a:p>
            <a:pPr>
              <a:buNone/>
            </a:pPr>
            <a:r>
              <a:rPr lang="zh-CN" altLang="en-US" sz="2000"/>
              <a:t>或</a:t>
            </a:r>
            <a:r>
              <a:rPr lang="zh-CN" altLang="en-US" sz="2000" u="sng"/>
              <a:t>                   </a:t>
            </a:r>
            <a:r>
              <a:rPr lang="zh-CN" altLang="en-US" sz="2000"/>
              <a:t>结束。</a:t>
            </a:r>
            <a:endParaRPr lang="zh-CN" altLang="en-US" sz="2000"/>
          </a:p>
        </p:txBody>
      </p:sp>
      <p:sp>
        <p:nvSpPr>
          <p:cNvPr id="16" name="文本框 15"/>
          <p:cNvSpPr txBox="1"/>
          <p:nvPr/>
        </p:nvSpPr>
        <p:spPr>
          <a:xfrm>
            <a:off x="7376795" y="2342515"/>
            <a:ext cx="952500" cy="506730"/>
          </a:xfrm>
          <a:prstGeom prst="rect">
            <a:avLst/>
          </a:prstGeom>
          <a:noFill/>
        </p:spPr>
        <p:txBody>
          <a:bodyPr wrap="none" rtlCol="0" anchor="t">
            <a:spAutoFit/>
          </a:bodyPr>
          <a:lstStyle/>
          <a:p>
            <a:pPr>
              <a:buNone/>
            </a:pPr>
            <a:r>
              <a:rPr lang="en-US" altLang="zh-CN" sz="2000" dirty="0">
                <a:solidFill>
                  <a:srgbClr val="0033CC"/>
                </a:solidFill>
                <a:latin typeface="黑体" panose="02010609060101010101" pitchFamily="1" charset="-122"/>
                <a:ea typeface="黑体" panose="02010609060101010101" pitchFamily="1" charset="-122"/>
                <a:sym typeface="+mn-ea"/>
              </a:rPr>
              <a:t>COMMIT</a:t>
            </a:r>
            <a:endParaRPr lang="en-US" altLang="zh-CN" sz="2000" dirty="0">
              <a:solidFill>
                <a:srgbClr val="0033CC"/>
              </a:solidFill>
              <a:latin typeface="黑体" panose="02010609060101010101" pitchFamily="1" charset="-122"/>
              <a:ea typeface="黑体" panose="02010609060101010101" pitchFamily="1" charset="-122"/>
              <a:sym typeface="+mn-ea"/>
            </a:endParaRPr>
          </a:p>
        </p:txBody>
      </p:sp>
      <p:sp>
        <p:nvSpPr>
          <p:cNvPr id="17" name="文本框 16"/>
          <p:cNvSpPr txBox="1"/>
          <p:nvPr/>
        </p:nvSpPr>
        <p:spPr>
          <a:xfrm>
            <a:off x="1118870" y="2785745"/>
            <a:ext cx="1209040" cy="506730"/>
          </a:xfrm>
          <a:prstGeom prst="rect">
            <a:avLst/>
          </a:prstGeom>
          <a:noFill/>
        </p:spPr>
        <p:txBody>
          <a:bodyPr wrap="none" rtlCol="0" anchor="t">
            <a:spAutoFit/>
          </a:bodyPr>
          <a:lstStyle/>
          <a:p>
            <a:pPr>
              <a:buNone/>
            </a:pPr>
            <a:r>
              <a:rPr lang="en-US" altLang="zh-CN" sz="2000" dirty="0">
                <a:solidFill>
                  <a:srgbClr val="0033CC"/>
                </a:solidFill>
                <a:latin typeface="黑体" panose="02010609060101010101" pitchFamily="1" charset="-122"/>
                <a:ea typeface="黑体" panose="02010609060101010101" pitchFamily="1" charset="-122"/>
                <a:sym typeface="+mn-ea"/>
              </a:rPr>
              <a:t>ROLLBACK</a:t>
            </a:r>
            <a:endParaRPr lang="en-US" altLang="zh-CN" sz="2000" dirty="0">
              <a:solidFill>
                <a:srgbClr val="0033CC"/>
              </a:solidFill>
              <a:latin typeface="黑体" panose="02010609060101010101" pitchFamily="1" charset="-122"/>
              <a:ea typeface="黑体" panose="02010609060101010101" pitchFamily="1" charset="-122"/>
              <a:sym typeface="+mn-ea"/>
            </a:endParaRPr>
          </a:p>
        </p:txBody>
      </p:sp>
      <p:sp>
        <p:nvSpPr>
          <p:cNvPr id="23" name="文本框 22"/>
          <p:cNvSpPr txBox="1"/>
          <p:nvPr/>
        </p:nvSpPr>
        <p:spPr>
          <a:xfrm>
            <a:off x="579755" y="3333750"/>
            <a:ext cx="8564245" cy="829945"/>
          </a:xfrm>
          <a:prstGeom prst="rect">
            <a:avLst/>
          </a:prstGeom>
          <a:noFill/>
        </p:spPr>
        <p:txBody>
          <a:bodyPr wrap="square" rtlCol="0" anchor="t">
            <a:spAutoFit/>
          </a:bodyPr>
          <a:lstStyle/>
          <a:p>
            <a:pPr>
              <a:lnSpc>
                <a:spcPct val="120000"/>
              </a:lnSpc>
              <a:spcBef>
                <a:spcPts val="0"/>
              </a:spcBef>
              <a:spcAft>
                <a:spcPts val="0"/>
              </a:spcAft>
              <a:buNone/>
            </a:pPr>
            <a:r>
              <a:rPr lang="en-US" altLang="zh-CN" sz="2000"/>
              <a:t>4</a:t>
            </a:r>
            <a:r>
              <a:rPr lang="zh-CN" altLang="en-US" sz="2000"/>
              <a:t>、事务是</a:t>
            </a:r>
            <a:r>
              <a:rPr lang="en-US" altLang="zh-CN" sz="2000"/>
              <a:t>DBMS</a:t>
            </a:r>
            <a:r>
              <a:rPr lang="zh-CN" altLang="en-US" sz="2000"/>
              <a:t>最小的</a:t>
            </a:r>
            <a:r>
              <a:rPr lang="zh-CN" altLang="en-US" sz="2000" u="sng"/>
              <a:t>         </a:t>
            </a:r>
            <a:r>
              <a:rPr lang="zh-CN" altLang="en-US" sz="2000"/>
              <a:t>单元，也是最小的</a:t>
            </a:r>
            <a:r>
              <a:rPr lang="zh-CN" altLang="en-US" sz="2000" u="sng"/>
              <a:t>                  </a:t>
            </a:r>
            <a:r>
              <a:rPr lang="zh-CN" altLang="en-US" sz="2000"/>
              <a:t>和 </a:t>
            </a:r>
            <a:r>
              <a:rPr lang="zh-CN" altLang="en-US" sz="2000" u="sng"/>
              <a:t>               </a:t>
            </a:r>
            <a:r>
              <a:rPr lang="zh-CN" altLang="en-US" sz="2000"/>
              <a:t>单元。</a:t>
            </a:r>
            <a:endParaRPr lang="zh-CN" altLang="en-US" sz="2000"/>
          </a:p>
        </p:txBody>
      </p:sp>
      <p:sp>
        <p:nvSpPr>
          <p:cNvPr id="25" name="文本框 24"/>
          <p:cNvSpPr txBox="1"/>
          <p:nvPr/>
        </p:nvSpPr>
        <p:spPr>
          <a:xfrm>
            <a:off x="3380740" y="3256915"/>
            <a:ext cx="693420" cy="506730"/>
          </a:xfrm>
          <a:prstGeom prst="rect">
            <a:avLst/>
          </a:prstGeom>
          <a:noFill/>
        </p:spPr>
        <p:txBody>
          <a:bodyPr wrap="none" rtlCol="0" anchor="t">
            <a:spAutoFit/>
          </a:bodyPr>
          <a:lstStyle/>
          <a:p>
            <a:pPr>
              <a:buNone/>
            </a:pPr>
            <a:r>
              <a:rPr lang="zh-CN" altLang="en-US" sz="2000" dirty="0">
                <a:solidFill>
                  <a:srgbClr val="0033CC"/>
                </a:solidFill>
                <a:latin typeface="黑体" panose="02010609060101010101" pitchFamily="1" charset="-122"/>
                <a:ea typeface="黑体" panose="02010609060101010101" pitchFamily="1" charset="-122"/>
                <a:sym typeface="+mn-ea"/>
              </a:rPr>
              <a:t>执行</a:t>
            </a:r>
            <a:endParaRPr lang="zh-CN" altLang="en-US" sz="2000" dirty="0">
              <a:solidFill>
                <a:srgbClr val="0033CC"/>
              </a:solidFill>
              <a:latin typeface="黑体" panose="02010609060101010101" pitchFamily="1" charset="-122"/>
              <a:ea typeface="黑体" panose="02010609060101010101" pitchFamily="1" charset="-122"/>
              <a:sym typeface="+mn-ea"/>
            </a:endParaRPr>
          </a:p>
        </p:txBody>
      </p:sp>
      <p:sp>
        <p:nvSpPr>
          <p:cNvPr id="26" name="文本框 25"/>
          <p:cNvSpPr txBox="1"/>
          <p:nvPr/>
        </p:nvSpPr>
        <p:spPr>
          <a:xfrm>
            <a:off x="6078855" y="3237865"/>
            <a:ext cx="1203960" cy="506730"/>
          </a:xfrm>
          <a:prstGeom prst="rect">
            <a:avLst/>
          </a:prstGeom>
          <a:noFill/>
        </p:spPr>
        <p:txBody>
          <a:bodyPr wrap="none" rtlCol="0" anchor="t">
            <a:spAutoFit/>
          </a:bodyPr>
          <a:lstStyle/>
          <a:p>
            <a:pPr>
              <a:buNone/>
            </a:pPr>
            <a:r>
              <a:rPr lang="zh-CN" altLang="en-US" sz="2000" dirty="0">
                <a:solidFill>
                  <a:srgbClr val="0033CC"/>
                </a:solidFill>
                <a:latin typeface="黑体" panose="02010609060101010101" pitchFamily="1" charset="-122"/>
                <a:ea typeface="黑体" panose="02010609060101010101" pitchFamily="1" charset="-122"/>
                <a:sym typeface="+mn-ea"/>
              </a:rPr>
              <a:t>故障恢复</a:t>
            </a:r>
            <a:endParaRPr lang="zh-CN" altLang="en-US" sz="2000" dirty="0">
              <a:solidFill>
                <a:srgbClr val="0033CC"/>
              </a:solidFill>
              <a:latin typeface="黑体" panose="02010609060101010101" pitchFamily="1" charset="-122"/>
              <a:ea typeface="黑体" panose="02010609060101010101" pitchFamily="1" charset="-122"/>
              <a:sym typeface="+mn-ea"/>
            </a:endParaRPr>
          </a:p>
        </p:txBody>
      </p:sp>
      <p:sp>
        <p:nvSpPr>
          <p:cNvPr id="27" name="文本框 26"/>
          <p:cNvSpPr txBox="1"/>
          <p:nvPr/>
        </p:nvSpPr>
        <p:spPr>
          <a:xfrm>
            <a:off x="7536180" y="3237865"/>
            <a:ext cx="1203960" cy="506730"/>
          </a:xfrm>
          <a:prstGeom prst="rect">
            <a:avLst/>
          </a:prstGeom>
          <a:noFill/>
        </p:spPr>
        <p:txBody>
          <a:bodyPr wrap="none" rtlCol="0" anchor="t">
            <a:spAutoFit/>
          </a:bodyPr>
          <a:lstStyle/>
          <a:p>
            <a:pPr>
              <a:buNone/>
            </a:pPr>
            <a:r>
              <a:rPr lang="zh-CN" altLang="en-US" sz="2000" dirty="0">
                <a:solidFill>
                  <a:srgbClr val="0033CC"/>
                </a:solidFill>
                <a:latin typeface="黑体" panose="02010609060101010101" pitchFamily="1" charset="-122"/>
                <a:ea typeface="黑体" panose="02010609060101010101" pitchFamily="1" charset="-122"/>
                <a:sym typeface="+mn-ea"/>
              </a:rPr>
              <a:t>并发控制</a:t>
            </a:r>
            <a:endParaRPr lang="zh-CN" altLang="en-US" sz="2000" dirty="0">
              <a:solidFill>
                <a:srgbClr val="0033CC"/>
              </a:solidFill>
              <a:latin typeface="黑体" panose="02010609060101010101" pitchFamily="1" charset="-122"/>
              <a:ea typeface="黑体" panose="02010609060101010101" pitchFamily="1" charset="-122"/>
              <a:sym typeface="+mn-ea"/>
            </a:endParaRPr>
          </a:p>
        </p:txBody>
      </p:sp>
      <p:sp>
        <p:nvSpPr>
          <p:cNvPr id="28" name="文本框 27"/>
          <p:cNvSpPr txBox="1"/>
          <p:nvPr/>
        </p:nvSpPr>
        <p:spPr>
          <a:xfrm>
            <a:off x="589280" y="4138930"/>
            <a:ext cx="8564245" cy="1198880"/>
          </a:xfrm>
          <a:prstGeom prst="rect">
            <a:avLst/>
          </a:prstGeom>
          <a:noFill/>
        </p:spPr>
        <p:txBody>
          <a:bodyPr wrap="square" rtlCol="0" anchor="t">
            <a:spAutoFit/>
          </a:bodyPr>
          <a:lstStyle/>
          <a:p>
            <a:pPr>
              <a:lnSpc>
                <a:spcPct val="120000"/>
              </a:lnSpc>
              <a:spcBef>
                <a:spcPts val="0"/>
              </a:spcBef>
              <a:spcAft>
                <a:spcPts val="0"/>
              </a:spcAft>
              <a:buNone/>
            </a:pPr>
            <a:r>
              <a:rPr lang="en-US" altLang="zh-CN" sz="2000"/>
              <a:t>5</a:t>
            </a:r>
            <a:r>
              <a:rPr lang="zh-CN" altLang="en-US" sz="2000"/>
              <a:t>、一个事务的执行，要么全部完成，要么全部不做，一个事务中对数据库的所有操作是一个不可分割的操作序列的属性是（       ）</a:t>
            </a:r>
            <a:endParaRPr lang="zh-CN" altLang="en-US" sz="2000"/>
          </a:p>
          <a:p>
            <a:pPr>
              <a:lnSpc>
                <a:spcPct val="120000"/>
              </a:lnSpc>
              <a:spcBef>
                <a:spcPts val="0"/>
              </a:spcBef>
              <a:spcAft>
                <a:spcPts val="0"/>
              </a:spcAft>
              <a:buNone/>
            </a:pPr>
            <a:r>
              <a:rPr lang="zh-CN" altLang="en-US" sz="2000"/>
              <a:t>  </a:t>
            </a:r>
            <a:r>
              <a:rPr lang="en-US" altLang="zh-CN" sz="2000"/>
              <a:t>A</a:t>
            </a:r>
            <a:r>
              <a:rPr lang="zh-CN" altLang="en-US" sz="2000"/>
              <a:t>、原子性       </a:t>
            </a:r>
            <a:r>
              <a:rPr lang="en-US" altLang="zh-CN" sz="2000"/>
              <a:t>B</a:t>
            </a:r>
            <a:r>
              <a:rPr lang="zh-CN" altLang="en-US" sz="2000"/>
              <a:t>、一致性        </a:t>
            </a:r>
            <a:r>
              <a:rPr lang="en-US" altLang="zh-CN" sz="2000"/>
              <a:t>C</a:t>
            </a:r>
            <a:r>
              <a:rPr lang="zh-CN" altLang="en-US" sz="2000"/>
              <a:t>、独立性        </a:t>
            </a:r>
            <a:r>
              <a:rPr lang="en-US" altLang="zh-CN" sz="2000"/>
              <a:t>D</a:t>
            </a:r>
            <a:r>
              <a:rPr lang="zh-CN" altLang="en-US" sz="2000"/>
              <a:t>、持久性</a:t>
            </a:r>
            <a:endParaRPr lang="zh-CN" altLang="en-US" sz="2000"/>
          </a:p>
        </p:txBody>
      </p:sp>
      <p:sp>
        <p:nvSpPr>
          <p:cNvPr id="29" name="文本框 28"/>
          <p:cNvSpPr txBox="1"/>
          <p:nvPr/>
        </p:nvSpPr>
        <p:spPr>
          <a:xfrm>
            <a:off x="6343650" y="4527550"/>
            <a:ext cx="403225" cy="485775"/>
          </a:xfrm>
          <a:prstGeom prst="rect">
            <a:avLst/>
          </a:prstGeom>
          <a:noFill/>
        </p:spPr>
        <p:txBody>
          <a:bodyPr wrap="none" rtlCol="0" anchor="t">
            <a:noAutofit/>
          </a:bodyPr>
          <a:lstStyle/>
          <a:p>
            <a:pPr>
              <a:buNone/>
            </a:pPr>
            <a:r>
              <a:rPr lang="en-US" altLang="zh-CN" sz="2400">
                <a:solidFill>
                  <a:srgbClr val="C00000"/>
                </a:solidFill>
              </a:rPr>
              <a:t>A</a:t>
            </a:r>
            <a:endParaRPr lang="en-US" altLang="zh-CN" sz="2400">
              <a:solidFill>
                <a:srgbClr val="C00000"/>
              </a:solidFill>
            </a:endParaRPr>
          </a:p>
        </p:txBody>
      </p:sp>
      <p:sp>
        <p:nvSpPr>
          <p:cNvPr id="31" name="文本框 30"/>
          <p:cNvSpPr txBox="1"/>
          <p:nvPr/>
        </p:nvSpPr>
        <p:spPr>
          <a:xfrm>
            <a:off x="554355" y="5266690"/>
            <a:ext cx="8564245" cy="829945"/>
          </a:xfrm>
          <a:prstGeom prst="rect">
            <a:avLst/>
          </a:prstGeom>
          <a:noFill/>
        </p:spPr>
        <p:txBody>
          <a:bodyPr wrap="square" rtlCol="0" anchor="t">
            <a:spAutoFit/>
          </a:bodyPr>
          <a:lstStyle/>
          <a:p>
            <a:pPr>
              <a:lnSpc>
                <a:spcPct val="120000"/>
              </a:lnSpc>
              <a:spcBef>
                <a:spcPts val="0"/>
              </a:spcBef>
              <a:spcAft>
                <a:spcPts val="0"/>
              </a:spcAft>
              <a:buNone/>
            </a:pPr>
            <a:r>
              <a:rPr lang="en-US" altLang="zh-CN" sz="2000"/>
              <a:t>6</a:t>
            </a:r>
            <a:r>
              <a:rPr lang="zh-CN" altLang="en-US" sz="2000"/>
              <a:t>、</a:t>
            </a:r>
            <a:r>
              <a:rPr lang="en-US" altLang="zh-CN" sz="2000"/>
              <a:t>SQL</a:t>
            </a:r>
            <a:r>
              <a:rPr lang="zh-CN" altLang="en-US" sz="2000"/>
              <a:t>语言中的</a:t>
            </a:r>
            <a:r>
              <a:rPr lang="en-US" altLang="zh-CN" sz="2000"/>
              <a:t>COMMIT</a:t>
            </a:r>
            <a:r>
              <a:rPr lang="zh-CN" altLang="en-US" sz="2000"/>
              <a:t>语句主要作用是（       ）</a:t>
            </a:r>
            <a:endParaRPr lang="zh-CN" altLang="en-US" sz="2000"/>
          </a:p>
          <a:p>
            <a:pPr>
              <a:lnSpc>
                <a:spcPct val="120000"/>
              </a:lnSpc>
              <a:spcBef>
                <a:spcPts val="0"/>
              </a:spcBef>
              <a:spcAft>
                <a:spcPts val="0"/>
              </a:spcAft>
              <a:buNone/>
            </a:pPr>
            <a:r>
              <a:rPr lang="zh-CN" altLang="en-US" sz="2000"/>
              <a:t>  </a:t>
            </a:r>
            <a:r>
              <a:rPr lang="en-US" altLang="zh-CN" sz="2000"/>
              <a:t>A</a:t>
            </a:r>
            <a:r>
              <a:rPr lang="zh-CN" altLang="en-US" sz="2000"/>
              <a:t>、结束事务       </a:t>
            </a:r>
            <a:r>
              <a:rPr lang="en-US" altLang="zh-CN" sz="2000"/>
              <a:t>B</a:t>
            </a:r>
            <a:r>
              <a:rPr lang="zh-CN" altLang="en-US" sz="2000"/>
              <a:t>、返回系统        </a:t>
            </a:r>
            <a:r>
              <a:rPr lang="en-US" altLang="zh-CN" sz="2000"/>
              <a:t>C</a:t>
            </a:r>
            <a:r>
              <a:rPr lang="zh-CN" altLang="en-US" sz="2000"/>
              <a:t>、提交事务        </a:t>
            </a:r>
            <a:r>
              <a:rPr lang="en-US" altLang="zh-CN" sz="2000"/>
              <a:t>D</a:t>
            </a:r>
            <a:r>
              <a:rPr lang="zh-CN" altLang="en-US" sz="2000"/>
              <a:t>、存储数据</a:t>
            </a:r>
            <a:endParaRPr lang="zh-CN" altLang="en-US" sz="2000"/>
          </a:p>
        </p:txBody>
      </p:sp>
      <p:sp>
        <p:nvSpPr>
          <p:cNvPr id="32" name="文本框 31"/>
          <p:cNvSpPr txBox="1"/>
          <p:nvPr/>
        </p:nvSpPr>
        <p:spPr>
          <a:xfrm>
            <a:off x="5695950" y="5266690"/>
            <a:ext cx="403225" cy="495300"/>
          </a:xfrm>
          <a:prstGeom prst="rect">
            <a:avLst/>
          </a:prstGeom>
          <a:noFill/>
        </p:spPr>
        <p:txBody>
          <a:bodyPr wrap="none" rtlCol="0" anchor="t">
            <a:noAutofit/>
          </a:bodyPr>
          <a:lstStyle/>
          <a:p>
            <a:pPr>
              <a:buNone/>
            </a:pPr>
            <a:r>
              <a:rPr lang="en-US" altLang="zh-CN" sz="2400">
                <a:solidFill>
                  <a:srgbClr val="C00000"/>
                </a:solidFill>
              </a:rPr>
              <a:t>C</a:t>
            </a:r>
            <a:endParaRPr lang="en-US" altLang="zh-CN" sz="2400">
              <a:solidFill>
                <a:srgbClr val="C00000"/>
              </a:solidFill>
            </a:endParaRPr>
          </a:p>
        </p:txBody>
      </p:sp>
      <p:sp>
        <p:nvSpPr>
          <p:cNvPr id="51201" name="Rectangle 2"/>
          <p:cNvSpPr/>
          <p:nvPr/>
        </p:nvSpPr>
        <p:spPr>
          <a:xfrm>
            <a:off x="457200" y="8858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二、事务机制与事务管理</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additive="base">
                                        <p:cTn id="41" dur="500" fill="hold"/>
                                        <p:tgtEl>
                                          <p:spTgt spid="25"/>
                                        </p:tgtEl>
                                        <p:attrNameLst>
                                          <p:attrName>ppt_x</p:attrName>
                                        </p:attrNameLst>
                                      </p:cBhvr>
                                      <p:tavLst>
                                        <p:tav tm="0">
                                          <p:val>
                                            <p:strVal val="#ppt_x"/>
                                          </p:val>
                                        </p:tav>
                                        <p:tav tm="100000">
                                          <p:val>
                                            <p:strVal val="#ppt_x"/>
                                          </p:val>
                                        </p:tav>
                                      </p:tavLst>
                                    </p:anim>
                                    <p:anim calcmode="lin" valueType="num">
                                      <p:cBhvr additive="base">
                                        <p:cTn id="42" dur="500" fill="hold"/>
                                        <p:tgtEl>
                                          <p:spTgt spid="25"/>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 calcmode="lin" valueType="num">
                                      <p:cBhvr additive="base">
                                        <p:cTn id="45" dur="500" fill="hold"/>
                                        <p:tgtEl>
                                          <p:spTgt spid="26"/>
                                        </p:tgtEl>
                                        <p:attrNameLst>
                                          <p:attrName>ppt_x</p:attrName>
                                        </p:attrNameLst>
                                      </p:cBhvr>
                                      <p:tavLst>
                                        <p:tav tm="0">
                                          <p:val>
                                            <p:strVal val="#ppt_x"/>
                                          </p:val>
                                        </p:tav>
                                        <p:tav tm="100000">
                                          <p:val>
                                            <p:strVal val="#ppt_x"/>
                                          </p:val>
                                        </p:tav>
                                      </p:tavLst>
                                    </p:anim>
                                    <p:anim calcmode="lin" valueType="num">
                                      <p:cBhvr additive="base">
                                        <p:cTn id="46" dur="500" fill="hold"/>
                                        <p:tgtEl>
                                          <p:spTgt spid="26"/>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anim calcmode="lin" valueType="num">
                                      <p:cBhvr additive="base">
                                        <p:cTn id="49" dur="500" fill="hold"/>
                                        <p:tgtEl>
                                          <p:spTgt spid="27"/>
                                        </p:tgtEl>
                                        <p:attrNameLst>
                                          <p:attrName>ppt_x</p:attrName>
                                        </p:attrNameLst>
                                      </p:cBhvr>
                                      <p:tavLst>
                                        <p:tav tm="0">
                                          <p:val>
                                            <p:strVal val="#ppt_x"/>
                                          </p:val>
                                        </p:tav>
                                        <p:tav tm="100000">
                                          <p:val>
                                            <p:strVal val="#ppt_x"/>
                                          </p:val>
                                        </p:tav>
                                      </p:tavLst>
                                    </p:anim>
                                    <p:anim calcmode="lin" valueType="num">
                                      <p:cBhvr additive="base">
                                        <p:cTn id="50"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additive="base">
                                        <p:cTn id="55" dur="500" fill="hold"/>
                                        <p:tgtEl>
                                          <p:spTgt spid="29"/>
                                        </p:tgtEl>
                                        <p:attrNameLst>
                                          <p:attrName>ppt_x</p:attrName>
                                        </p:attrNameLst>
                                      </p:cBhvr>
                                      <p:tavLst>
                                        <p:tav tm="0">
                                          <p:val>
                                            <p:strVal val="#ppt_x"/>
                                          </p:val>
                                        </p:tav>
                                        <p:tav tm="100000">
                                          <p:val>
                                            <p:strVal val="#ppt_x"/>
                                          </p:val>
                                        </p:tav>
                                      </p:tavLst>
                                    </p:anim>
                                    <p:anim calcmode="lin" valueType="num">
                                      <p:cBhvr additive="base">
                                        <p:cTn id="5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anim calcmode="lin" valueType="num">
                                      <p:cBhvr additive="base">
                                        <p:cTn id="61" dur="500" fill="hold"/>
                                        <p:tgtEl>
                                          <p:spTgt spid="32"/>
                                        </p:tgtEl>
                                        <p:attrNameLst>
                                          <p:attrName>ppt_x</p:attrName>
                                        </p:attrNameLst>
                                      </p:cBhvr>
                                      <p:tavLst>
                                        <p:tav tm="0">
                                          <p:val>
                                            <p:strVal val="#ppt_x"/>
                                          </p:val>
                                        </p:tav>
                                        <p:tav tm="100000">
                                          <p:val>
                                            <p:strVal val="#ppt_x"/>
                                          </p:val>
                                        </p:tav>
                                      </p:tavLst>
                                    </p:anim>
                                    <p:anim calcmode="lin" valueType="num">
                                      <p:cBhvr additive="base">
                                        <p:cTn id="62"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P spid="13" grpId="0"/>
      <p:bldP spid="16" grpId="0"/>
      <p:bldP spid="17" grpId="0"/>
      <p:bldP spid="25" grpId="0"/>
      <p:bldP spid="26" grpId="0"/>
      <p:bldP spid="27" grpId="0"/>
      <p:bldP spid="29" grpId="0"/>
      <p:bldP spid="3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框 30"/>
          <p:cNvSpPr txBox="1"/>
          <p:nvPr/>
        </p:nvSpPr>
        <p:spPr>
          <a:xfrm>
            <a:off x="579755" y="1386840"/>
            <a:ext cx="8564245" cy="1891665"/>
          </a:xfrm>
          <a:prstGeom prst="rect">
            <a:avLst/>
          </a:prstGeom>
          <a:noFill/>
        </p:spPr>
        <p:txBody>
          <a:bodyPr wrap="square" rtlCol="0" anchor="t">
            <a:spAutoFit/>
          </a:bodyPr>
          <a:lstStyle/>
          <a:p>
            <a:pPr>
              <a:lnSpc>
                <a:spcPct val="125000"/>
              </a:lnSpc>
              <a:spcBef>
                <a:spcPts val="0"/>
              </a:spcBef>
              <a:spcAft>
                <a:spcPts val="0"/>
              </a:spcAft>
              <a:buNone/>
            </a:pPr>
            <a:r>
              <a:rPr lang="en-US" altLang="zh-CN" sz="2000"/>
              <a:t>7</a:t>
            </a:r>
            <a:r>
              <a:rPr lang="zh-CN" altLang="en-US" sz="2000"/>
              <a:t>、事务的持久性是指（       ）</a:t>
            </a:r>
            <a:endParaRPr lang="zh-CN" altLang="en-US" sz="2000"/>
          </a:p>
          <a:p>
            <a:pPr>
              <a:lnSpc>
                <a:spcPct val="115000"/>
              </a:lnSpc>
              <a:spcBef>
                <a:spcPts val="0"/>
              </a:spcBef>
              <a:spcAft>
                <a:spcPts val="0"/>
              </a:spcAft>
              <a:buNone/>
            </a:pPr>
            <a:r>
              <a:rPr lang="zh-CN" altLang="en-US" sz="2000"/>
              <a:t>  </a:t>
            </a:r>
            <a:r>
              <a:rPr lang="en-US" altLang="zh-CN" sz="2000"/>
              <a:t>A</a:t>
            </a:r>
            <a:r>
              <a:rPr lang="zh-CN" altLang="en-US" sz="2000"/>
              <a:t>、事务中包含的所有操作要么都做，要么都不做</a:t>
            </a:r>
            <a:endParaRPr lang="zh-CN" altLang="en-US" sz="2000"/>
          </a:p>
          <a:p>
            <a:pPr>
              <a:lnSpc>
                <a:spcPct val="115000"/>
              </a:lnSpc>
              <a:spcBef>
                <a:spcPts val="0"/>
              </a:spcBef>
              <a:spcAft>
                <a:spcPts val="0"/>
              </a:spcAft>
              <a:buNone/>
            </a:pPr>
            <a:r>
              <a:rPr lang="zh-CN" altLang="en-US" sz="2000"/>
              <a:t>  </a:t>
            </a:r>
            <a:r>
              <a:rPr lang="en-US" altLang="zh-CN" sz="2000"/>
              <a:t>B</a:t>
            </a:r>
            <a:r>
              <a:rPr lang="zh-CN" altLang="en-US" sz="2000"/>
              <a:t>、事务一旦提交，对数据库的改变是永久的</a:t>
            </a:r>
            <a:endParaRPr lang="zh-CN" altLang="en-US" sz="2000"/>
          </a:p>
          <a:p>
            <a:pPr>
              <a:lnSpc>
                <a:spcPct val="115000"/>
              </a:lnSpc>
              <a:spcBef>
                <a:spcPts val="0"/>
              </a:spcBef>
              <a:spcAft>
                <a:spcPts val="0"/>
              </a:spcAft>
              <a:buNone/>
            </a:pPr>
            <a:r>
              <a:rPr lang="zh-CN" altLang="en-US" sz="2000"/>
              <a:t>  </a:t>
            </a:r>
            <a:r>
              <a:rPr lang="en-US" altLang="zh-CN" sz="2000"/>
              <a:t>C</a:t>
            </a:r>
            <a:r>
              <a:rPr lang="zh-CN" altLang="en-US" sz="2000"/>
              <a:t>、一个事务内部的操作及使用的数据对并发的其它事务是隔离的</a:t>
            </a:r>
            <a:endParaRPr lang="zh-CN" altLang="en-US" sz="2000"/>
          </a:p>
          <a:p>
            <a:pPr>
              <a:lnSpc>
                <a:spcPct val="115000"/>
              </a:lnSpc>
              <a:spcBef>
                <a:spcPts val="0"/>
              </a:spcBef>
              <a:spcAft>
                <a:spcPts val="0"/>
              </a:spcAft>
              <a:buNone/>
            </a:pPr>
            <a:r>
              <a:rPr lang="zh-CN" altLang="en-US" sz="2000"/>
              <a:t>  </a:t>
            </a:r>
            <a:r>
              <a:rPr lang="en-US" altLang="zh-CN" sz="2000"/>
              <a:t>D</a:t>
            </a:r>
            <a:r>
              <a:rPr lang="zh-CN" altLang="en-US" sz="2000"/>
              <a:t>、事务的提交使数据库从一个一致性状态变到另外一个一致性状态</a:t>
            </a:r>
            <a:endParaRPr lang="zh-CN" altLang="en-US" sz="2000"/>
          </a:p>
        </p:txBody>
      </p:sp>
      <p:sp>
        <p:nvSpPr>
          <p:cNvPr id="45" name="文本框 44"/>
          <p:cNvSpPr txBox="1"/>
          <p:nvPr/>
        </p:nvSpPr>
        <p:spPr>
          <a:xfrm>
            <a:off x="442913" y="659765"/>
            <a:ext cx="2681605" cy="829945"/>
          </a:xfrm>
          <a:prstGeom prst="rect">
            <a:avLst/>
          </a:prstGeom>
          <a:noFill/>
        </p:spPr>
        <p:txBody>
          <a:bodyPr wrap="none" rtlCol="0" anchor="t">
            <a:spAutoFit/>
          </a:bodyPr>
          <a:lstStyle/>
          <a:p>
            <a:pPr marL="457200" indent="-457200" algn="just">
              <a:lnSpc>
                <a:spcPct val="150000"/>
              </a:lnSpc>
              <a:spcAft>
                <a:spcPts val="0"/>
              </a:spcAft>
              <a:buFont typeface="Wingdings" panose="05000000000000000000" pitchFamily="2" charset="2"/>
              <a:buChar char="p"/>
            </a:pPr>
            <a:r>
              <a:rPr lang="zh-CN" altLang="zh-CN" sz="3200" kern="100" dirty="0" smtClean="0">
                <a:solidFill>
                  <a:srgbClr val="FF0000"/>
                </a:solidFill>
                <a:latin typeface="Calibri" panose="020F0502020204030204" charset="0"/>
                <a:cs typeface="Times New Roman" panose="02020603050405020304" pitchFamily="2" charset="0"/>
                <a:sym typeface="+mn-ea"/>
              </a:rPr>
              <a:t>问题研讨：</a:t>
            </a:r>
            <a:endParaRPr lang="zh-CN" altLang="en-US" sz="3200"/>
          </a:p>
        </p:txBody>
      </p:sp>
      <p:sp>
        <p:nvSpPr>
          <p:cNvPr id="32" name="文本框 31"/>
          <p:cNvSpPr txBox="1"/>
          <p:nvPr/>
        </p:nvSpPr>
        <p:spPr>
          <a:xfrm>
            <a:off x="3409315" y="1386840"/>
            <a:ext cx="403225" cy="486410"/>
          </a:xfrm>
          <a:prstGeom prst="rect">
            <a:avLst/>
          </a:prstGeom>
          <a:noFill/>
        </p:spPr>
        <p:txBody>
          <a:bodyPr wrap="none" rtlCol="0" anchor="t">
            <a:noAutofit/>
          </a:bodyPr>
          <a:lstStyle/>
          <a:p>
            <a:pPr>
              <a:buNone/>
            </a:pPr>
            <a:r>
              <a:rPr lang="en-US" altLang="zh-CN" sz="2400">
                <a:solidFill>
                  <a:srgbClr val="C00000"/>
                </a:solidFill>
              </a:rPr>
              <a:t>B</a:t>
            </a:r>
            <a:endParaRPr lang="en-US" altLang="zh-CN" sz="2400">
              <a:solidFill>
                <a:srgbClr val="C00000"/>
              </a:solidFill>
            </a:endParaRPr>
          </a:p>
        </p:txBody>
      </p:sp>
      <p:sp>
        <p:nvSpPr>
          <p:cNvPr id="4" name="文本框 3"/>
          <p:cNvSpPr txBox="1"/>
          <p:nvPr/>
        </p:nvSpPr>
        <p:spPr>
          <a:xfrm>
            <a:off x="579755" y="3241040"/>
            <a:ext cx="8042910" cy="1137285"/>
          </a:xfrm>
          <a:prstGeom prst="rect">
            <a:avLst/>
          </a:prstGeom>
          <a:noFill/>
        </p:spPr>
        <p:txBody>
          <a:bodyPr wrap="square" rtlCol="0" anchor="t">
            <a:spAutoFit/>
          </a:bodyPr>
          <a:lstStyle/>
          <a:p>
            <a:pPr>
              <a:lnSpc>
                <a:spcPct val="120000"/>
              </a:lnSpc>
              <a:spcBef>
                <a:spcPts val="0"/>
              </a:spcBef>
              <a:spcAft>
                <a:spcPts val="0"/>
              </a:spcAft>
              <a:buNone/>
            </a:pPr>
            <a:r>
              <a:rPr lang="en-US" altLang="zh-CN" sz="2000"/>
              <a:t>8</a:t>
            </a:r>
            <a:r>
              <a:rPr lang="zh-CN" altLang="en-US" sz="2000"/>
              <a:t>、若数据库中只包含成功事务提交的结果，则此数据库就称为处于（       ）状态。</a:t>
            </a:r>
            <a:endParaRPr lang="zh-CN" altLang="en-US" sz="2000"/>
          </a:p>
          <a:p>
            <a:pPr>
              <a:lnSpc>
                <a:spcPct val="100000"/>
              </a:lnSpc>
              <a:spcBef>
                <a:spcPts val="0"/>
              </a:spcBef>
              <a:spcAft>
                <a:spcPts val="0"/>
              </a:spcAft>
              <a:buNone/>
            </a:pPr>
            <a:r>
              <a:rPr lang="zh-CN" altLang="en-US" sz="2000"/>
              <a:t>  </a:t>
            </a:r>
            <a:r>
              <a:rPr lang="en-US" altLang="zh-CN" sz="2000"/>
              <a:t>A</a:t>
            </a:r>
            <a:r>
              <a:rPr lang="zh-CN" altLang="en-US" sz="2000"/>
              <a:t>、安全      </a:t>
            </a:r>
            <a:r>
              <a:rPr lang="en-US" altLang="zh-CN" sz="2000"/>
              <a:t>B</a:t>
            </a:r>
            <a:r>
              <a:rPr lang="zh-CN" altLang="en-US" sz="2000"/>
              <a:t>、一致      </a:t>
            </a:r>
            <a:r>
              <a:rPr lang="en-US" altLang="zh-CN" sz="2000"/>
              <a:t>C</a:t>
            </a:r>
            <a:r>
              <a:rPr lang="zh-CN" altLang="en-US" sz="2000"/>
              <a:t>、不安全      </a:t>
            </a:r>
            <a:r>
              <a:rPr lang="en-US" altLang="zh-CN" sz="2000"/>
              <a:t>D</a:t>
            </a:r>
            <a:r>
              <a:rPr lang="zh-CN" altLang="en-US" sz="2000"/>
              <a:t>、持久</a:t>
            </a:r>
            <a:endParaRPr lang="zh-CN" altLang="en-US" sz="2000"/>
          </a:p>
        </p:txBody>
      </p:sp>
      <p:sp>
        <p:nvSpPr>
          <p:cNvPr id="6" name="文本框 5"/>
          <p:cNvSpPr txBox="1"/>
          <p:nvPr/>
        </p:nvSpPr>
        <p:spPr>
          <a:xfrm>
            <a:off x="980440" y="3627755"/>
            <a:ext cx="403225" cy="476885"/>
          </a:xfrm>
          <a:prstGeom prst="rect">
            <a:avLst/>
          </a:prstGeom>
          <a:noFill/>
        </p:spPr>
        <p:txBody>
          <a:bodyPr wrap="none" rtlCol="0" anchor="t">
            <a:noAutofit/>
          </a:bodyPr>
          <a:lstStyle/>
          <a:p>
            <a:pPr>
              <a:buNone/>
            </a:pPr>
            <a:r>
              <a:rPr lang="en-US" altLang="zh-CN" sz="2400">
                <a:solidFill>
                  <a:srgbClr val="C00000"/>
                </a:solidFill>
              </a:rPr>
              <a:t>B</a:t>
            </a:r>
            <a:endParaRPr lang="en-US" altLang="zh-CN" sz="2400">
              <a:solidFill>
                <a:srgbClr val="C00000"/>
              </a:solidFill>
            </a:endParaRPr>
          </a:p>
        </p:txBody>
      </p:sp>
      <p:sp>
        <p:nvSpPr>
          <p:cNvPr id="8" name="文本框 7"/>
          <p:cNvSpPr txBox="1"/>
          <p:nvPr/>
        </p:nvSpPr>
        <p:spPr>
          <a:xfrm>
            <a:off x="550545" y="4378325"/>
            <a:ext cx="8042910" cy="768350"/>
          </a:xfrm>
          <a:prstGeom prst="rect">
            <a:avLst/>
          </a:prstGeom>
          <a:noFill/>
        </p:spPr>
        <p:txBody>
          <a:bodyPr wrap="square" rtlCol="0" anchor="t">
            <a:spAutoFit/>
          </a:bodyPr>
          <a:lstStyle/>
          <a:p>
            <a:pPr>
              <a:lnSpc>
                <a:spcPct val="120000"/>
              </a:lnSpc>
              <a:spcBef>
                <a:spcPts val="0"/>
              </a:spcBef>
              <a:spcAft>
                <a:spcPts val="0"/>
              </a:spcAft>
              <a:buNone/>
            </a:pPr>
            <a:r>
              <a:rPr lang="en-US" altLang="zh-CN" sz="2000"/>
              <a:t>9</a:t>
            </a:r>
            <a:r>
              <a:rPr lang="zh-CN" altLang="en-US" sz="2000"/>
              <a:t>、</a:t>
            </a:r>
            <a:r>
              <a:rPr lang="en-US" altLang="zh-CN" sz="2000"/>
              <a:t>SQL</a:t>
            </a:r>
            <a:r>
              <a:rPr lang="zh-CN" altLang="en-US" sz="2000"/>
              <a:t>语言中用（       ）语句实现事务的回滚。</a:t>
            </a:r>
            <a:endParaRPr lang="zh-CN" altLang="en-US" sz="2000"/>
          </a:p>
          <a:p>
            <a:pPr>
              <a:lnSpc>
                <a:spcPct val="100000"/>
              </a:lnSpc>
              <a:spcBef>
                <a:spcPts val="0"/>
              </a:spcBef>
              <a:spcAft>
                <a:spcPts val="0"/>
              </a:spcAft>
              <a:buNone/>
            </a:pPr>
            <a:r>
              <a:rPr lang="zh-CN" altLang="en-US" sz="2000"/>
              <a:t>  </a:t>
            </a:r>
            <a:r>
              <a:rPr lang="en-US" altLang="zh-CN" sz="2000"/>
              <a:t>A</a:t>
            </a:r>
            <a:r>
              <a:rPr lang="zh-CN" altLang="en-US" sz="2000"/>
              <a:t>、</a:t>
            </a:r>
            <a:r>
              <a:rPr lang="en-US" altLang="zh-CN" sz="2000"/>
              <a:t>DROP</a:t>
            </a:r>
            <a:r>
              <a:rPr lang="zh-CN" altLang="en-US" sz="2000"/>
              <a:t>      </a:t>
            </a:r>
            <a:r>
              <a:rPr lang="en-US" altLang="zh-CN" sz="2000"/>
              <a:t>B</a:t>
            </a:r>
            <a:r>
              <a:rPr lang="zh-CN" altLang="en-US" sz="2000"/>
              <a:t>、</a:t>
            </a:r>
            <a:r>
              <a:rPr lang="en-US" altLang="zh-CN" sz="2000"/>
              <a:t>REVOKE</a:t>
            </a:r>
            <a:r>
              <a:rPr lang="zh-CN" altLang="en-US" sz="2000"/>
              <a:t>       </a:t>
            </a:r>
            <a:r>
              <a:rPr lang="en-US" altLang="zh-CN" sz="2000"/>
              <a:t>C</a:t>
            </a:r>
            <a:r>
              <a:rPr lang="zh-CN" altLang="en-US" sz="2000"/>
              <a:t>、</a:t>
            </a:r>
            <a:r>
              <a:rPr lang="en-US" altLang="zh-CN" sz="2000"/>
              <a:t>COMIIT</a:t>
            </a:r>
            <a:r>
              <a:rPr lang="zh-CN" altLang="en-US" sz="2000"/>
              <a:t>      </a:t>
            </a:r>
            <a:r>
              <a:rPr lang="en-US" altLang="zh-CN" sz="2000"/>
              <a:t>D</a:t>
            </a:r>
            <a:r>
              <a:rPr lang="zh-CN" altLang="en-US" sz="2000"/>
              <a:t>、</a:t>
            </a:r>
            <a:r>
              <a:rPr lang="en-US" altLang="zh-CN" sz="2000"/>
              <a:t>ROLLBACK</a:t>
            </a:r>
            <a:endParaRPr lang="en-US" altLang="zh-CN" sz="2000"/>
          </a:p>
        </p:txBody>
      </p:sp>
      <p:sp>
        <p:nvSpPr>
          <p:cNvPr id="9" name="文本框 8"/>
          <p:cNvSpPr txBox="1"/>
          <p:nvPr/>
        </p:nvSpPr>
        <p:spPr>
          <a:xfrm>
            <a:off x="2845435" y="4378325"/>
            <a:ext cx="403225" cy="484505"/>
          </a:xfrm>
          <a:prstGeom prst="rect">
            <a:avLst/>
          </a:prstGeom>
          <a:noFill/>
        </p:spPr>
        <p:txBody>
          <a:bodyPr wrap="none" rtlCol="0" anchor="t">
            <a:noAutofit/>
          </a:bodyPr>
          <a:lstStyle/>
          <a:p>
            <a:pPr>
              <a:buNone/>
            </a:pPr>
            <a:r>
              <a:rPr lang="en-US" altLang="zh-CN" sz="2400">
                <a:solidFill>
                  <a:srgbClr val="C00000"/>
                </a:solidFill>
              </a:rPr>
              <a:t>D</a:t>
            </a:r>
            <a:endParaRPr lang="en-US" altLang="zh-CN" sz="2400">
              <a:solidFill>
                <a:srgbClr val="C00000"/>
              </a:solidFill>
            </a:endParaRPr>
          </a:p>
        </p:txBody>
      </p:sp>
      <p:sp>
        <p:nvSpPr>
          <p:cNvPr id="11" name="文本框 10"/>
          <p:cNvSpPr txBox="1"/>
          <p:nvPr/>
        </p:nvSpPr>
        <p:spPr>
          <a:xfrm>
            <a:off x="550545" y="5146675"/>
            <a:ext cx="8042910" cy="768350"/>
          </a:xfrm>
          <a:prstGeom prst="rect">
            <a:avLst/>
          </a:prstGeom>
          <a:noFill/>
        </p:spPr>
        <p:txBody>
          <a:bodyPr wrap="square" rtlCol="0" anchor="t">
            <a:spAutoFit/>
          </a:bodyPr>
          <a:lstStyle/>
          <a:p>
            <a:pPr>
              <a:lnSpc>
                <a:spcPct val="120000"/>
              </a:lnSpc>
              <a:spcBef>
                <a:spcPts val="0"/>
              </a:spcBef>
              <a:spcAft>
                <a:spcPts val="0"/>
              </a:spcAft>
              <a:buNone/>
            </a:pPr>
            <a:r>
              <a:rPr lang="en-US" altLang="zh-CN" sz="2000"/>
              <a:t>10</a:t>
            </a:r>
            <a:r>
              <a:rPr lang="zh-CN" altLang="en-US" sz="2000"/>
              <a:t>、事务</a:t>
            </a:r>
            <a:r>
              <a:rPr lang="en-US" altLang="zh-CN" sz="2000"/>
              <a:t>(Transaction)</a:t>
            </a:r>
            <a:r>
              <a:rPr lang="zh-CN" altLang="en-US" sz="2000"/>
              <a:t>是一个（        ）。</a:t>
            </a:r>
            <a:endParaRPr lang="zh-CN" altLang="en-US" sz="2000"/>
          </a:p>
          <a:p>
            <a:pPr>
              <a:lnSpc>
                <a:spcPct val="100000"/>
              </a:lnSpc>
              <a:spcBef>
                <a:spcPts val="0"/>
              </a:spcBef>
              <a:spcAft>
                <a:spcPts val="0"/>
              </a:spcAft>
              <a:buNone/>
            </a:pPr>
            <a:r>
              <a:rPr lang="zh-CN" altLang="en-US" sz="2000"/>
              <a:t>  </a:t>
            </a:r>
            <a:r>
              <a:rPr lang="en-US" altLang="zh-CN" sz="2000"/>
              <a:t>A</a:t>
            </a:r>
            <a:r>
              <a:rPr lang="zh-CN" altLang="en-US" sz="2000"/>
              <a:t>、程序      </a:t>
            </a:r>
            <a:r>
              <a:rPr lang="en-US" altLang="zh-CN" sz="2000"/>
              <a:t>B</a:t>
            </a:r>
            <a:r>
              <a:rPr lang="zh-CN" altLang="en-US" sz="2000"/>
              <a:t>、进程        </a:t>
            </a:r>
            <a:r>
              <a:rPr lang="en-US" altLang="zh-CN" sz="2000"/>
              <a:t>C</a:t>
            </a:r>
            <a:r>
              <a:rPr lang="zh-CN" altLang="en-US" sz="2000"/>
              <a:t>、操作序列     </a:t>
            </a:r>
            <a:r>
              <a:rPr lang="en-US" altLang="zh-CN" sz="2000"/>
              <a:t>D</a:t>
            </a:r>
            <a:r>
              <a:rPr lang="zh-CN" altLang="en-US" sz="2000"/>
              <a:t>、完整性规则</a:t>
            </a:r>
            <a:endParaRPr lang="zh-CN" altLang="en-US" sz="2000"/>
          </a:p>
        </p:txBody>
      </p:sp>
      <p:sp>
        <p:nvSpPr>
          <p:cNvPr id="12" name="文本框 11"/>
          <p:cNvSpPr txBox="1"/>
          <p:nvPr/>
        </p:nvSpPr>
        <p:spPr>
          <a:xfrm>
            <a:off x="4399915" y="5146675"/>
            <a:ext cx="403225" cy="513715"/>
          </a:xfrm>
          <a:prstGeom prst="rect">
            <a:avLst/>
          </a:prstGeom>
          <a:noFill/>
        </p:spPr>
        <p:txBody>
          <a:bodyPr wrap="none" rtlCol="0" anchor="t">
            <a:noAutofit/>
          </a:bodyPr>
          <a:lstStyle/>
          <a:p>
            <a:pPr>
              <a:buNone/>
            </a:pPr>
            <a:r>
              <a:rPr lang="en-US" altLang="zh-CN" sz="2400">
                <a:solidFill>
                  <a:srgbClr val="C00000"/>
                </a:solidFill>
              </a:rPr>
              <a:t>C</a:t>
            </a:r>
            <a:endParaRPr lang="en-US" altLang="zh-CN" sz="2400">
              <a:solidFill>
                <a:srgbClr val="C00000"/>
              </a:solidFill>
            </a:endParaRPr>
          </a:p>
        </p:txBody>
      </p:sp>
      <p:sp>
        <p:nvSpPr>
          <p:cNvPr id="51201" name="Rectangle 2"/>
          <p:cNvSpPr/>
          <p:nvPr/>
        </p:nvSpPr>
        <p:spPr>
          <a:xfrm>
            <a:off x="457200" y="8858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二、事务机制与事务管理</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500" fill="hold"/>
                                        <p:tgtEl>
                                          <p:spTgt spid="32"/>
                                        </p:tgtEl>
                                        <p:attrNameLst>
                                          <p:attrName>ppt_x</p:attrName>
                                        </p:attrNameLst>
                                      </p:cBhvr>
                                      <p:tavLst>
                                        <p:tav tm="0">
                                          <p:val>
                                            <p:strVal val="#ppt_x"/>
                                          </p:val>
                                        </p:tav>
                                        <p:tav tm="100000">
                                          <p:val>
                                            <p:strVal val="#ppt_x"/>
                                          </p:val>
                                        </p:tav>
                                      </p:tavLst>
                                    </p:anim>
                                    <p:anim calcmode="lin" valueType="num">
                                      <p:cBhvr additive="base">
                                        <p:cTn id="8"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6" grpId="0"/>
      <p:bldP spid="9"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p:nvPr/>
        </p:nvSpPr>
        <p:spPr>
          <a:xfrm>
            <a:off x="501650" y="803275"/>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60418"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62468" name="Text Box 3"/>
          <p:cNvSpPr txBox="1"/>
          <p:nvPr/>
        </p:nvSpPr>
        <p:spPr>
          <a:xfrm>
            <a:off x="577850" y="1362075"/>
            <a:ext cx="8089900" cy="478155"/>
          </a:xfrm>
          <a:prstGeom prst="rect">
            <a:avLst/>
          </a:prstGeom>
          <a:noFill/>
          <a:ln w="9525">
            <a:noFill/>
          </a:ln>
        </p:spPr>
        <p:txBody>
          <a:bodyPr anchor="t">
            <a:spAutoFit/>
          </a:bodyPr>
          <a:lstStyle/>
          <a:p>
            <a:pPr marL="457200" lvl="0" indent="-457200">
              <a:lnSpc>
                <a:spcPct val="105000"/>
              </a:lnSpc>
              <a:spcBef>
                <a:spcPct val="50000"/>
              </a:spcBef>
              <a:buClr>
                <a:srgbClr val="990033"/>
              </a:buClr>
              <a:buFont typeface="Wingdings" panose="05000000000000000000" pitchFamily="2" charset="2"/>
              <a:buChar char="p"/>
            </a:pPr>
            <a:r>
              <a:rPr lang="en-US" altLang="x-none" sz="2400" dirty="0">
                <a:latin typeface="宋体" panose="02010600030101010101" pitchFamily="2" charset="-122"/>
                <a:ea typeface="宋体" panose="02010600030101010101" pitchFamily="2" charset="-122"/>
              </a:rPr>
              <a:t>DBS</a:t>
            </a:r>
            <a:r>
              <a:rPr lang="zh-CN" altLang="en-US" sz="2400" dirty="0">
                <a:latin typeface="宋体" panose="02010600030101010101" pitchFamily="2" charset="-122"/>
                <a:ea typeface="宋体" panose="02010600030101010101" pitchFamily="2" charset="-122"/>
              </a:rPr>
              <a:t>运行时，各种故障 </a:t>
            </a:r>
            <a:r>
              <a:rPr lang="zh-CN" altLang="en-US" sz="2400" dirty="0">
                <a:latin typeface="宋体" panose="02010600030101010101" pitchFamily="2" charset="-122"/>
                <a:ea typeface="宋体" panose="02010600030101010101" pitchFamily="2" charset="-122"/>
                <a:sym typeface="Wingdings" panose="05000000000000000000" pitchFamily="2" charset="2"/>
              </a:rPr>
              <a:t>→ 数据丢失 → 数据恢复。</a:t>
            </a:r>
            <a:endParaRPr lang="zh-CN" altLang="en-US" sz="2200" dirty="0">
              <a:latin typeface="华文楷体" panose="02010600040101010101" pitchFamily="2" charset="-122"/>
              <a:ea typeface="华文楷体" panose="02010600040101010101" pitchFamily="2" charset="-122"/>
            </a:endParaRPr>
          </a:p>
        </p:txBody>
      </p:sp>
      <p:graphicFrame>
        <p:nvGraphicFramePr>
          <p:cNvPr id="2" name="对象 1"/>
          <p:cNvGraphicFramePr/>
          <p:nvPr/>
        </p:nvGraphicFramePr>
        <p:xfrm>
          <a:off x="628650" y="1891665"/>
          <a:ext cx="4067810" cy="2920365"/>
        </p:xfrm>
        <a:graphic>
          <a:graphicData uri="http://schemas.openxmlformats.org/presentationml/2006/ole">
            <mc:AlternateContent xmlns:mc="http://schemas.openxmlformats.org/markup-compatibility/2006">
              <mc:Choice xmlns:v="urn:schemas-microsoft-com:vml" Requires="v">
                <p:oleObj spid="_x0000_s4221" name="" r:id="rId1" imgW="4676775" imgH="3486150" progId="Paint.Picture">
                  <p:embed/>
                </p:oleObj>
              </mc:Choice>
              <mc:Fallback>
                <p:oleObj name="" r:id="rId1" imgW="4676775" imgH="3486150" progId="Paint.Picture">
                  <p:embed/>
                  <p:pic>
                    <p:nvPicPr>
                      <p:cNvPr id="0" name="图片 2"/>
                      <p:cNvPicPr/>
                      <p:nvPr/>
                    </p:nvPicPr>
                    <p:blipFill>
                      <a:blip r:embed="rId2"/>
                      <a:stretch>
                        <a:fillRect/>
                      </a:stretch>
                    </p:blipFill>
                    <p:spPr>
                      <a:xfrm>
                        <a:off x="628650" y="1891665"/>
                        <a:ext cx="4067810" cy="2920365"/>
                      </a:xfrm>
                      <a:prstGeom prst="rect">
                        <a:avLst/>
                      </a:prstGeom>
                    </p:spPr>
                  </p:pic>
                </p:oleObj>
              </mc:Fallback>
            </mc:AlternateContent>
          </a:graphicData>
        </a:graphic>
      </p:graphicFrame>
      <p:sp>
        <p:nvSpPr>
          <p:cNvPr id="56322" name="Text Box 2"/>
          <p:cNvSpPr txBox="1"/>
          <p:nvPr/>
        </p:nvSpPr>
        <p:spPr>
          <a:xfrm>
            <a:off x="502285" y="4812665"/>
            <a:ext cx="8022590" cy="497205"/>
          </a:xfrm>
          <a:prstGeom prst="rect">
            <a:avLst/>
          </a:prstGeom>
          <a:noFill/>
          <a:ln w="9525">
            <a:noFill/>
          </a:ln>
        </p:spPr>
        <p:txBody>
          <a:bodyPr wrap="square" anchor="t">
            <a:spAutoFit/>
          </a:bodyPr>
          <a:lstStyle/>
          <a:p>
            <a:pPr lvl="0" indent="0">
              <a:lnSpc>
                <a:spcPct val="120000"/>
              </a:lnSpc>
              <a:spcBef>
                <a:spcPct val="50000"/>
              </a:spcBef>
              <a:buFont typeface="Wingdings" panose="05000000000000000000" pitchFamily="2" charset="2"/>
              <a:buChar char="Ø"/>
            </a:pPr>
            <a:r>
              <a:rPr lang="en-US" sz="2200" u="sng" dirty="0">
                <a:solidFill>
                  <a:srgbClr val="3402C2"/>
                </a:solidFill>
                <a:latin typeface="华文中宋" panose="02010600040101010101" charset="-122"/>
                <a:ea typeface="华文中宋" panose="02010600040101010101" charset="-122"/>
                <a:cs typeface="+mn-ea"/>
              </a:rPr>
              <a:t>2008</a:t>
            </a:r>
            <a:r>
              <a:rPr lang="zh-CN" altLang="en-US" sz="2200" u="sng" dirty="0">
                <a:solidFill>
                  <a:srgbClr val="3402C2"/>
                </a:solidFill>
                <a:latin typeface="华文中宋" panose="02010600040101010101" charset="-122"/>
                <a:ea typeface="华文中宋" panose="02010600040101010101" charset="-122"/>
                <a:cs typeface="+mn-ea"/>
              </a:rPr>
              <a:t>年</a:t>
            </a:r>
            <a:r>
              <a:rPr lang="en-US" altLang="zh-CN" sz="2200" u="sng" dirty="0">
                <a:solidFill>
                  <a:srgbClr val="3402C2"/>
                </a:solidFill>
                <a:latin typeface="华文中宋" panose="02010600040101010101" charset="-122"/>
                <a:ea typeface="华文中宋" panose="02010600040101010101" charset="-122"/>
                <a:cs typeface="+mn-ea"/>
              </a:rPr>
              <a:t>5</a:t>
            </a:r>
            <a:r>
              <a:rPr lang="zh-CN" altLang="en-US" sz="2200" u="sng" dirty="0">
                <a:solidFill>
                  <a:srgbClr val="3402C2"/>
                </a:solidFill>
                <a:latin typeface="华文中宋" panose="02010600040101010101" charset="-122"/>
                <a:ea typeface="华文中宋" panose="02010600040101010101" charset="-122"/>
                <a:cs typeface="+mn-ea"/>
              </a:rPr>
              <a:t>月大地震中东方汽轮机厂汉旺厂区</a:t>
            </a:r>
            <a:endParaRPr lang="zh-CN" altLang="en-US" sz="2200" u="sng" dirty="0">
              <a:solidFill>
                <a:srgbClr val="FF0000"/>
              </a:solidFill>
              <a:latin typeface="华文中宋" panose="02010600040101010101" charset="-122"/>
              <a:ea typeface="华文中宋" panose="02010600040101010101" charset="-122"/>
              <a:cs typeface="+mn-ea"/>
            </a:endParaRPr>
          </a:p>
        </p:txBody>
      </p:sp>
      <p:graphicFrame>
        <p:nvGraphicFramePr>
          <p:cNvPr id="6" name="对象 5"/>
          <p:cNvGraphicFramePr/>
          <p:nvPr/>
        </p:nvGraphicFramePr>
        <p:xfrm>
          <a:off x="4723130" y="1891665"/>
          <a:ext cx="3801745" cy="2921000"/>
        </p:xfrm>
        <a:graphic>
          <a:graphicData uri="http://schemas.openxmlformats.org/presentationml/2006/ole">
            <mc:AlternateContent xmlns:mc="http://schemas.openxmlformats.org/markup-compatibility/2006">
              <mc:Choice xmlns:v="urn:schemas-microsoft-com:vml" Requires="v">
                <p:oleObj spid="_x0000_s4222" name="" r:id="rId3" imgW="4714875" imgH="3143250" progId="Paint.Picture">
                  <p:embed/>
                </p:oleObj>
              </mc:Choice>
              <mc:Fallback>
                <p:oleObj name="" r:id="rId3" imgW="4714875" imgH="3143250" progId="Paint.Picture">
                  <p:embed/>
                  <p:pic>
                    <p:nvPicPr>
                      <p:cNvPr id="0" name="图片 6"/>
                      <p:cNvPicPr/>
                      <p:nvPr/>
                    </p:nvPicPr>
                    <p:blipFill>
                      <a:blip r:embed="rId4"/>
                      <a:stretch>
                        <a:fillRect/>
                      </a:stretch>
                    </p:blipFill>
                    <p:spPr>
                      <a:xfrm>
                        <a:off x="4723130" y="1891665"/>
                        <a:ext cx="3801745" cy="2921000"/>
                      </a:xfrm>
                      <a:prstGeom prst="rect">
                        <a:avLst/>
                      </a:prstGeom>
                    </p:spPr>
                  </p:pic>
                </p:oleObj>
              </mc:Fallback>
            </mc:AlternateContent>
          </a:graphicData>
        </a:graphic>
      </p:graphicFrame>
      <p:grpSp>
        <p:nvGrpSpPr>
          <p:cNvPr id="17" name="组合 16"/>
          <p:cNvGrpSpPr/>
          <p:nvPr/>
        </p:nvGrpSpPr>
        <p:grpSpPr>
          <a:xfrm>
            <a:off x="675005" y="2673985"/>
            <a:ext cx="7971155" cy="3295015"/>
            <a:chOff x="943" y="4211"/>
            <a:chExt cx="12553" cy="5189"/>
          </a:xfrm>
        </p:grpSpPr>
        <p:graphicFrame>
          <p:nvGraphicFramePr>
            <p:cNvPr id="12" name="对象 11"/>
            <p:cNvGraphicFramePr/>
            <p:nvPr/>
          </p:nvGraphicFramePr>
          <p:xfrm>
            <a:off x="7196" y="4211"/>
            <a:ext cx="6301" cy="4367"/>
          </p:xfrm>
          <a:graphic>
            <a:graphicData uri="http://schemas.openxmlformats.org/presentationml/2006/ole">
              <mc:AlternateContent xmlns:mc="http://schemas.openxmlformats.org/markup-compatibility/2006">
                <mc:Choice xmlns:v="urn:schemas-microsoft-com:vml" Requires="v">
                  <p:oleObj spid="_x0000_s4223" name="" r:id="rId5" imgW="4733925" imgH="3190875" progId="Paint.Picture">
                    <p:embed/>
                  </p:oleObj>
                </mc:Choice>
                <mc:Fallback>
                  <p:oleObj name="" r:id="rId5" imgW="4733925" imgH="3190875" progId="Paint.Picture">
                    <p:embed/>
                    <p:pic>
                      <p:nvPicPr>
                        <p:cNvPr id="0" name="图片 12"/>
                        <p:cNvPicPr/>
                        <p:nvPr/>
                      </p:nvPicPr>
                      <p:blipFill>
                        <a:blip r:embed="rId6"/>
                        <a:stretch>
                          <a:fillRect/>
                        </a:stretch>
                      </p:blipFill>
                      <p:spPr>
                        <a:xfrm>
                          <a:off x="7196" y="4211"/>
                          <a:ext cx="6301" cy="4367"/>
                        </a:xfrm>
                        <a:prstGeom prst="rect">
                          <a:avLst/>
                        </a:prstGeom>
                      </p:spPr>
                    </p:pic>
                  </p:oleObj>
                </mc:Fallback>
              </mc:AlternateContent>
            </a:graphicData>
          </a:graphic>
        </p:graphicFrame>
        <p:graphicFrame>
          <p:nvGraphicFramePr>
            <p:cNvPr id="14" name="对象 13"/>
            <p:cNvGraphicFramePr/>
            <p:nvPr/>
          </p:nvGraphicFramePr>
          <p:xfrm>
            <a:off x="990" y="4211"/>
            <a:ext cx="6206" cy="4367"/>
          </p:xfrm>
          <a:graphic>
            <a:graphicData uri="http://schemas.openxmlformats.org/presentationml/2006/ole">
              <mc:AlternateContent xmlns:mc="http://schemas.openxmlformats.org/markup-compatibility/2006">
                <mc:Choice xmlns:v="urn:schemas-microsoft-com:vml" Requires="v">
                  <p:oleObj spid="_x0000_s4224" name="" r:id="rId7" imgW="4029075" imgH="2867025" progId="Paint.Picture">
                    <p:embed/>
                  </p:oleObj>
                </mc:Choice>
                <mc:Fallback>
                  <p:oleObj name="" r:id="rId7" imgW="4029075" imgH="2867025" progId="Paint.Picture">
                    <p:embed/>
                    <p:pic>
                      <p:nvPicPr>
                        <p:cNvPr id="0" name="图片 14"/>
                        <p:cNvPicPr/>
                        <p:nvPr/>
                      </p:nvPicPr>
                      <p:blipFill>
                        <a:blip r:embed="rId8"/>
                        <a:stretch>
                          <a:fillRect/>
                        </a:stretch>
                      </p:blipFill>
                      <p:spPr>
                        <a:xfrm>
                          <a:off x="990" y="4211"/>
                          <a:ext cx="6206" cy="4367"/>
                        </a:xfrm>
                        <a:prstGeom prst="rect">
                          <a:avLst/>
                        </a:prstGeom>
                      </p:spPr>
                    </p:pic>
                  </p:oleObj>
                </mc:Fallback>
              </mc:AlternateContent>
            </a:graphicData>
          </a:graphic>
        </p:graphicFrame>
        <p:sp>
          <p:nvSpPr>
            <p:cNvPr id="16" name="Text Box 2"/>
            <p:cNvSpPr txBox="1"/>
            <p:nvPr/>
          </p:nvSpPr>
          <p:spPr>
            <a:xfrm>
              <a:off x="943" y="8618"/>
              <a:ext cx="12535" cy="783"/>
            </a:xfrm>
            <a:prstGeom prst="rect">
              <a:avLst/>
            </a:prstGeom>
            <a:noFill/>
            <a:ln w="9525">
              <a:noFill/>
            </a:ln>
          </p:spPr>
          <p:txBody>
            <a:bodyPr wrap="square" anchor="t">
              <a:spAutoFit/>
            </a:bodyPr>
            <a:lstStyle/>
            <a:p>
              <a:pPr lvl="0" indent="0">
                <a:lnSpc>
                  <a:spcPct val="120000"/>
                </a:lnSpc>
                <a:spcBef>
                  <a:spcPct val="50000"/>
                </a:spcBef>
                <a:buFont typeface="Wingdings" panose="05000000000000000000" pitchFamily="2" charset="2"/>
                <a:buChar char="Ø"/>
              </a:pPr>
              <a:r>
                <a:rPr lang="zh-CN" altLang="en-US" sz="2200" u="sng" dirty="0">
                  <a:solidFill>
                    <a:srgbClr val="FF0000"/>
                  </a:solidFill>
                  <a:latin typeface="华文中宋" panose="02010600040101010101" charset="-122"/>
                  <a:ea typeface="华文中宋" panose="02010600040101010101" charset="-122"/>
                  <a:cs typeface="+mn-ea"/>
                </a:rPr>
                <a:t>通过生产数据的备份和恢复三个月在德阳恢复生产</a:t>
              </a:r>
              <a:endParaRPr lang="zh-CN" altLang="en-US" sz="2200" u="sng" dirty="0">
                <a:solidFill>
                  <a:srgbClr val="FF0000"/>
                </a:solidFill>
                <a:latin typeface="华文中宋" panose="02010600040101010101" charset="-122"/>
                <a:ea typeface="华文中宋" panose="02010600040101010101" charset="-122"/>
                <a:cs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322"/>
                                        </p:tgtEl>
                                        <p:attrNameLst>
                                          <p:attrName>style.visibility</p:attrName>
                                        </p:attrNameLst>
                                      </p:cBhvr>
                                      <p:to>
                                        <p:strVal val="visible"/>
                                      </p:to>
                                    </p:set>
                                    <p:anim calcmode="lin" valueType="num">
                                      <p:cBhvr additive="base">
                                        <p:cTn id="7" dur="500" fill="hold"/>
                                        <p:tgtEl>
                                          <p:spTgt spid="56322"/>
                                        </p:tgtEl>
                                        <p:attrNameLst>
                                          <p:attrName>ppt_x</p:attrName>
                                        </p:attrNameLst>
                                      </p:cBhvr>
                                      <p:tavLst>
                                        <p:tav tm="0">
                                          <p:val>
                                            <p:strVal val="#ppt_x"/>
                                          </p:val>
                                        </p:tav>
                                        <p:tav tm="100000">
                                          <p:val>
                                            <p:strVal val="#ppt_x"/>
                                          </p:val>
                                        </p:tav>
                                      </p:tavLst>
                                    </p:anim>
                                    <p:anim calcmode="lin" valueType="num">
                                      <p:cBhvr additive="base">
                                        <p:cTn id="8" dur="500" fill="hold"/>
                                        <p:tgtEl>
                                          <p:spTgt spid="563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526415" y="1488440"/>
            <a:ext cx="2800985" cy="589280"/>
          </a:xfrm>
          <a:prstGeom prst="rect">
            <a:avLst/>
          </a:prstGeom>
          <a:noFill/>
        </p:spPr>
        <p:txBody>
          <a:bodyPr wrap="none" rtlCol="0" anchor="t">
            <a:spAutoFit/>
          </a:bodyPr>
          <a:lstStyle/>
          <a:p>
            <a:pPr>
              <a:buNone/>
            </a:pPr>
            <a:r>
              <a:rPr lang="zh-CN" altLang="en-US" sz="2400" dirty="0">
                <a:solidFill>
                  <a:srgbClr val="0033CC"/>
                </a:solidFill>
              </a:rPr>
              <a:t>（</a:t>
            </a:r>
            <a:r>
              <a:rPr lang="en-US" altLang="zh-CN" sz="2400" dirty="0">
                <a:solidFill>
                  <a:srgbClr val="0033CC"/>
                </a:solidFill>
              </a:rPr>
              <a:t>1</a:t>
            </a:r>
            <a:r>
              <a:rPr lang="zh-CN" altLang="en-US" sz="2400" dirty="0">
                <a:solidFill>
                  <a:srgbClr val="0033CC"/>
                </a:solidFill>
              </a:rPr>
              <a:t>）事务内部故障</a:t>
            </a:r>
            <a:endParaRPr lang="zh-CN" altLang="en-US" sz="2400" dirty="0">
              <a:solidFill>
                <a:srgbClr val="0033CC"/>
              </a:solidFill>
            </a:endParaRPr>
          </a:p>
        </p:txBody>
      </p:sp>
      <p:sp>
        <p:nvSpPr>
          <p:cNvPr id="11" name="Rectangle 3"/>
          <p:cNvSpPr txBox="1">
            <a:spLocks noChangeArrowheads="1"/>
          </p:cNvSpPr>
          <p:nvPr/>
        </p:nvSpPr>
        <p:spPr>
          <a:xfrm>
            <a:off x="501650" y="1967230"/>
            <a:ext cx="8395335" cy="1794510"/>
          </a:xfrm>
          <a:prstGeom prst="rect">
            <a:avLst/>
          </a:prstGeom>
          <a:ln>
            <a:solidFill>
              <a:schemeClr val="accent1"/>
            </a:solidFill>
          </a:ln>
        </p:spPr>
        <p:txBody>
          <a:bodyPr/>
          <a:lstStyle/>
          <a:p>
            <a:pPr marL="342900" marR="0" lvl="0" indent="-342900" algn="l" defTabSz="914400" rtl="0" eaLnBrk="0" fontAlgn="base" latinLnBrk="0" hangingPunct="0">
              <a:lnSpc>
                <a:spcPct val="110000"/>
              </a:lnSpc>
              <a:spcBef>
                <a:spcPts val="200"/>
              </a:spcBef>
              <a:spcAft>
                <a:spcPts val="0"/>
              </a:spcAft>
              <a:buClr>
                <a:srgbClr val="0033CC"/>
              </a:buClr>
              <a:buSzPct val="80000"/>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事务内部故障可分为可预期和非预期两类，可预期故障可以通过</a:t>
            </a:r>
            <a:r>
              <a:rPr kumimoji="0" lang="en-US" altLang="zh-CN" sz="20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T-SQL</a:t>
            </a:r>
            <a:r>
              <a:rPr kumimoji="0" lang="zh-CN" altLang="en-US" sz="20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捕获异常回滚处理；非预期故障则不能通过应用程序处理，如：运算溢出、并发事务死锁而被撤销该事务、违反了某些完整性限制等。</a:t>
            </a:r>
            <a:r>
              <a:rPr kumimoji="0" lang="zh-CN" altLang="en-US"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事务故障指这类非预期故障。</a:t>
            </a:r>
            <a:endParaRPr kumimoji="0" lang="zh-CN" altLang="en-US"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ts val="200"/>
              </a:spcBef>
              <a:spcAft>
                <a:spcPts val="0"/>
              </a:spcAft>
              <a:buClr>
                <a:srgbClr val="0033CC"/>
              </a:buClr>
              <a:buSzPct val="80000"/>
              <a:buFont typeface="Wingdings" panose="05000000000000000000" pitchFamily="2" charset="2"/>
              <a:buChar char="u"/>
              <a:defRPr/>
            </a:pPr>
            <a:r>
              <a:rPr kumimoji="0" lang="zh-CN" altLang="en-US"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事务故障恢复：撤销事务。</a:t>
            </a:r>
            <a:endParaRPr kumimoji="0" lang="zh-CN" altLang="en-US"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endParaRPr>
          </a:p>
        </p:txBody>
      </p:sp>
      <p:sp>
        <p:nvSpPr>
          <p:cNvPr id="19" name="文本框 18"/>
          <p:cNvSpPr txBox="1"/>
          <p:nvPr/>
        </p:nvSpPr>
        <p:spPr>
          <a:xfrm>
            <a:off x="526415" y="3837305"/>
            <a:ext cx="3315912" cy="460375"/>
          </a:xfrm>
          <a:prstGeom prst="rect">
            <a:avLst/>
          </a:prstGeom>
          <a:noFill/>
        </p:spPr>
        <p:txBody>
          <a:bodyPr wrap="square" rtlCol="0" anchor="t">
            <a:spAutoFit/>
          </a:bodyPr>
          <a:lstStyle/>
          <a:p>
            <a:pPr>
              <a:buNone/>
            </a:pPr>
            <a:r>
              <a:rPr lang="zh-CN" altLang="en-US" sz="2400">
                <a:solidFill>
                  <a:srgbClr val="0033CC"/>
                </a:solidFill>
              </a:rPr>
              <a:t>（</a:t>
            </a:r>
            <a:r>
              <a:rPr lang="en-US" altLang="zh-CN" sz="2400">
                <a:solidFill>
                  <a:srgbClr val="0033CC"/>
                </a:solidFill>
              </a:rPr>
              <a:t>2</a:t>
            </a:r>
            <a:r>
              <a:rPr lang="zh-CN" altLang="en-US" sz="2400">
                <a:solidFill>
                  <a:srgbClr val="0033CC"/>
                </a:solidFill>
              </a:rPr>
              <a:t>）系统故障</a:t>
            </a:r>
            <a:endParaRPr lang="zh-CN" altLang="en-US" sz="2400">
              <a:solidFill>
                <a:srgbClr val="0033CC"/>
              </a:solidFill>
            </a:endParaRPr>
          </a:p>
        </p:txBody>
      </p:sp>
      <p:sp>
        <p:nvSpPr>
          <p:cNvPr id="23" name="Rectangle 3"/>
          <p:cNvSpPr txBox="1">
            <a:spLocks noChangeArrowheads="1"/>
          </p:cNvSpPr>
          <p:nvPr/>
        </p:nvSpPr>
        <p:spPr>
          <a:xfrm>
            <a:off x="502285" y="4302125"/>
            <a:ext cx="8395335" cy="1794510"/>
          </a:xfrm>
          <a:prstGeom prst="rect">
            <a:avLst/>
          </a:prstGeom>
          <a:ln>
            <a:solidFill>
              <a:schemeClr val="accent1"/>
            </a:solidFill>
          </a:ln>
        </p:spPr>
        <p:txBody>
          <a:bodyPr/>
          <a:lstStyle/>
          <a:p>
            <a:pPr marL="342900" marR="0" lvl="0" indent="-342900" algn="l" defTabSz="914400" rtl="0" eaLnBrk="0" fontAlgn="base" latinLnBrk="0" hangingPunct="0">
              <a:lnSpc>
                <a:spcPct val="110000"/>
              </a:lnSpc>
              <a:spcBef>
                <a:spcPts val="200"/>
              </a:spcBef>
              <a:spcAft>
                <a:spcPts val="0"/>
              </a:spcAft>
              <a:buClr>
                <a:srgbClr val="0033CC"/>
              </a:buClr>
              <a:buSzPct val="80000"/>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称为软故障，是指造成系统停止运转的任何事件，使得系统要重新启动。如：所有正在运行的事务都非正常终止；内存中数据缓冲区信息全部丢失。常见原因为包括特定类型的硬件错误（如</a:t>
            </a:r>
            <a:r>
              <a:rPr kumimoji="0" lang="en-US" altLang="zh-CN" sz="20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CPU</a:t>
            </a:r>
            <a:r>
              <a:rPr kumimoji="0" lang="zh-CN" altLang="en-US" sz="20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故障）、操作系统故障、系统断电、</a:t>
            </a:r>
            <a:r>
              <a:rPr kumimoji="0" lang="en-US" altLang="zh-CN" sz="20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DBMS</a:t>
            </a:r>
            <a:r>
              <a:rPr kumimoji="0" lang="zh-CN" altLang="en-US" sz="20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代码错误等。</a:t>
            </a:r>
            <a:endParaRPr kumimoji="0" lang="zh-CN" altLang="en-US"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ts val="200"/>
              </a:spcBef>
              <a:spcAft>
                <a:spcPts val="0"/>
              </a:spcAft>
              <a:buClr>
                <a:srgbClr val="0033CC"/>
              </a:buClr>
              <a:buSzPct val="80000"/>
              <a:buFont typeface="Wingdings" panose="05000000000000000000" pitchFamily="2" charset="2"/>
              <a:buChar char="u"/>
              <a:defRPr/>
            </a:pPr>
            <a:r>
              <a:rPr kumimoji="0" lang="zh-CN" altLang="en-US"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故障恢复：对于未提交的事务</a:t>
            </a:r>
            <a:r>
              <a:rPr kumimoji="0" lang="en-US" altLang="zh-CN"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UNDO</a:t>
            </a:r>
            <a:r>
              <a:rPr kumimoji="0" lang="zh-CN" altLang="en-US"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，对于已提交的事务</a:t>
            </a:r>
            <a:r>
              <a:rPr kumimoji="0" lang="en-US" altLang="zh-CN"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REDO</a:t>
            </a:r>
            <a:r>
              <a:rPr kumimoji="0" lang="zh-CN" altLang="en-US"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a:t>
            </a:r>
            <a:endParaRPr kumimoji="0" lang="zh-CN" altLang="en-US"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endParaRPr>
          </a:p>
        </p:txBody>
      </p:sp>
      <p:sp>
        <p:nvSpPr>
          <p:cNvPr id="60418"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 name="Rectangle 7"/>
          <p:cNvSpPr/>
          <p:nvPr/>
        </p:nvSpPr>
        <p:spPr>
          <a:xfrm>
            <a:off x="501650" y="803275"/>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9" name="Rectangle 7"/>
          <p:cNvSpPr/>
          <p:nvPr/>
        </p:nvSpPr>
        <p:spPr>
          <a:xfrm>
            <a:off x="6364187" y="878840"/>
            <a:ext cx="2604716" cy="609600"/>
          </a:xfrm>
          <a:prstGeom prst="rect">
            <a:avLst/>
          </a:prstGeom>
          <a:noFill/>
          <a:ln w="9525">
            <a:noFill/>
          </a:ln>
        </p:spPr>
        <p:txBody>
          <a:bodyPr wrap="none" anchor="ctr"/>
          <a:lstStyle/>
          <a:p>
            <a:pPr marL="457200" lvl="0" indent="-457200" algn="just">
              <a:spcBef>
                <a:spcPct val="20000"/>
              </a:spcBef>
              <a:buClr>
                <a:srgbClr val="C00000"/>
              </a:buClr>
              <a:buSzPct val="100000"/>
              <a:buFont typeface="Wingdings" panose="05000000000000000000" pitchFamily="2" charset="2"/>
              <a:buChar char="p"/>
            </a:pPr>
            <a:r>
              <a:rPr lang="zh-CN" altLang="en-US" sz="2800" dirty="0" smtClean="0">
                <a:solidFill>
                  <a:srgbClr val="FF0000"/>
                </a:solidFill>
                <a:latin typeface="黑体" panose="02010609060101010101" pitchFamily="1" charset="-122"/>
                <a:ea typeface="黑体" panose="02010609060101010101" pitchFamily="1" charset="-122"/>
              </a:rPr>
              <a:t>故障的种类</a:t>
            </a:r>
            <a:endParaRPr lang="en-US" altLang="x-none"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526415" y="1431290"/>
            <a:ext cx="2188845" cy="589280"/>
          </a:xfrm>
          <a:prstGeom prst="rect">
            <a:avLst/>
          </a:prstGeom>
          <a:noFill/>
        </p:spPr>
        <p:txBody>
          <a:bodyPr wrap="none" rtlCol="0" anchor="t">
            <a:spAutoFit/>
          </a:bodyPr>
          <a:lstStyle/>
          <a:p>
            <a:pPr algn="l">
              <a:buNone/>
            </a:pPr>
            <a:r>
              <a:rPr lang="zh-CN" altLang="en-US" sz="2400">
                <a:solidFill>
                  <a:srgbClr val="0033CC"/>
                </a:solidFill>
              </a:rPr>
              <a:t>（</a:t>
            </a:r>
            <a:r>
              <a:rPr lang="en-US" altLang="zh-CN" sz="2400">
                <a:solidFill>
                  <a:srgbClr val="0033CC"/>
                </a:solidFill>
                <a:sym typeface="+mn-ea"/>
              </a:rPr>
              <a:t>3</a:t>
            </a:r>
            <a:r>
              <a:rPr lang="zh-CN" altLang="en-US" sz="2400">
                <a:solidFill>
                  <a:srgbClr val="0033CC"/>
                </a:solidFill>
              </a:rPr>
              <a:t>）介质故障</a:t>
            </a:r>
            <a:endParaRPr lang="zh-CN" altLang="en-US" sz="2400">
              <a:solidFill>
                <a:srgbClr val="0033CC"/>
              </a:solidFill>
            </a:endParaRPr>
          </a:p>
        </p:txBody>
      </p:sp>
      <p:sp>
        <p:nvSpPr>
          <p:cNvPr id="11" name="Rectangle 3"/>
          <p:cNvSpPr txBox="1">
            <a:spLocks noChangeArrowheads="1"/>
          </p:cNvSpPr>
          <p:nvPr/>
        </p:nvSpPr>
        <p:spPr>
          <a:xfrm>
            <a:off x="633095" y="1967230"/>
            <a:ext cx="8046085" cy="1794510"/>
          </a:xfrm>
          <a:prstGeom prst="rect">
            <a:avLst/>
          </a:prstGeom>
          <a:ln>
            <a:solidFill>
              <a:schemeClr val="accent1"/>
            </a:solidFill>
          </a:ln>
        </p:spPr>
        <p:txBody>
          <a:bodyPr lIns="0" rIns="36195"/>
          <a:lstStyle/>
          <a:p>
            <a:pPr marL="342900" marR="0" lvl="0" indent="-342900" algn="l" defTabSz="914400" rtl="0" eaLnBrk="0" fontAlgn="base" latinLnBrk="0" hangingPunct="0">
              <a:lnSpc>
                <a:spcPct val="110000"/>
              </a:lnSpc>
              <a:spcBef>
                <a:spcPts val="200"/>
              </a:spcBef>
              <a:spcAft>
                <a:spcPts val="0"/>
              </a:spcAft>
              <a:buClr>
                <a:srgbClr val="0033CC"/>
              </a:buClr>
              <a:buSzPct val="80000"/>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称为硬故障，指</a:t>
            </a:r>
            <a:r>
              <a:rPr kumimoji="0" lang="zh-CN" altLang="en-US" sz="2000" b="1" i="0" u="none" strike="noStrike" kern="0" cap="none" spc="0" normalizeH="0" baseline="0" noProof="0" dirty="0" smtClean="0">
                <a:ln>
                  <a:noFill/>
                </a:ln>
                <a:solidFill>
                  <a:schemeClr val="tx1"/>
                </a:solidFill>
                <a:effectLst/>
                <a:uLnTx/>
                <a:uFillTx/>
                <a:latin typeface="楷体" panose="02010609060101010101" pitchFamily="1" charset="-122"/>
                <a:ea typeface="楷体" panose="02010609060101010101" pitchFamily="1" charset="-122"/>
                <a:cs typeface="+mn-cs"/>
              </a:rPr>
              <a:t>外</a:t>
            </a:r>
            <a:r>
              <a:rPr lang="zh-CN" altLang="en-US" sz="2000" kern="0" dirty="0" smtClean="0">
                <a:latin typeface="楷体" panose="02010609060101010101" pitchFamily="1" charset="-122"/>
                <a:ea typeface="楷体" panose="02010609060101010101" pitchFamily="1" charset="-122"/>
                <a:cs typeface="+mn-cs"/>
              </a:rPr>
              <a:t>存</a:t>
            </a:r>
            <a:r>
              <a:rPr kumimoji="0" lang="zh-CN" altLang="en-US" sz="2000" b="1" i="0" u="none" strike="noStrike" kern="0" cap="none" spc="0" normalizeH="0" baseline="0" noProof="0" dirty="0" smtClean="0">
                <a:ln>
                  <a:noFill/>
                </a:ln>
                <a:solidFill>
                  <a:schemeClr val="tx1"/>
                </a:solidFill>
                <a:effectLst/>
                <a:uLnTx/>
                <a:uFillTx/>
                <a:latin typeface="楷体" panose="02010609060101010101" pitchFamily="1" charset="-122"/>
                <a:ea typeface="楷体" panose="02010609060101010101" pitchFamily="1" charset="-122"/>
                <a:cs typeface="+mn-cs"/>
              </a:rPr>
              <a:t>故障</a:t>
            </a:r>
            <a:r>
              <a:rPr kumimoji="0" lang="zh-CN" altLang="en-US" sz="20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。如：磁盘损坏、磁头碰撞、操作系统的某种潜在错误、瞬时强磁场干扰。</a:t>
            </a:r>
            <a:endParaRPr kumimoji="0" lang="zh-CN" altLang="en-US" sz="20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ts val="200"/>
              </a:spcBef>
              <a:spcAft>
                <a:spcPts val="0"/>
              </a:spcAft>
              <a:buClr>
                <a:srgbClr val="0033CC"/>
              </a:buClr>
              <a:buSzPct val="80000"/>
              <a:buFont typeface="Wingdings" panose="05000000000000000000" pitchFamily="2" charset="2"/>
              <a:buChar char="u"/>
              <a:defRPr/>
            </a:pPr>
            <a:r>
              <a:rPr kumimoji="0" lang="zh-CN" altLang="en-US" sz="2000" b="1" i="0" u="none" strike="noStrike" kern="0" cap="none" spc="0" normalizeH="0" baseline="0" noProof="0" dirty="0" smtClean="0">
                <a:ln>
                  <a:noFill/>
                </a:ln>
                <a:solidFill>
                  <a:srgbClr val="C00000"/>
                </a:solidFill>
                <a:effectLst/>
                <a:uLnTx/>
                <a:uFillTx/>
                <a:latin typeface="楷体" panose="02010609060101010101" pitchFamily="1" charset="-122"/>
                <a:ea typeface="楷体" panose="02010609060101010101" pitchFamily="1" charset="-122"/>
                <a:cs typeface="+mn-cs"/>
              </a:rPr>
              <a:t>介质故障</a:t>
            </a:r>
            <a:r>
              <a:rPr kumimoji="0" lang="zh-CN" altLang="en-US"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恢复：装入数据库发生介质故障前的某个时刻的数据副本；重做自此时开始的所有已提交事务，将这些事务已提交的结果重新计入数据库。</a:t>
            </a:r>
            <a:endParaRPr kumimoji="0" lang="zh-CN" altLang="en-US"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endParaRPr>
          </a:p>
        </p:txBody>
      </p:sp>
      <p:sp>
        <p:nvSpPr>
          <p:cNvPr id="19" name="文本框 18"/>
          <p:cNvSpPr txBox="1"/>
          <p:nvPr/>
        </p:nvSpPr>
        <p:spPr>
          <a:xfrm>
            <a:off x="526415" y="3819525"/>
            <a:ext cx="2494915" cy="589280"/>
          </a:xfrm>
          <a:prstGeom prst="rect">
            <a:avLst/>
          </a:prstGeom>
          <a:noFill/>
        </p:spPr>
        <p:txBody>
          <a:bodyPr wrap="none" rtlCol="0" anchor="t">
            <a:spAutoFit/>
          </a:bodyPr>
          <a:lstStyle/>
          <a:p>
            <a:pPr algn="l">
              <a:buNone/>
            </a:pPr>
            <a:r>
              <a:rPr lang="zh-CN" altLang="en-US" sz="2400">
                <a:solidFill>
                  <a:srgbClr val="0033CC"/>
                </a:solidFill>
              </a:rPr>
              <a:t>（</a:t>
            </a:r>
            <a:r>
              <a:rPr lang="en-US" altLang="zh-CN" sz="2400">
                <a:solidFill>
                  <a:srgbClr val="0033CC"/>
                </a:solidFill>
                <a:cs typeface="+mn-ea"/>
                <a:sym typeface="+mn-ea"/>
              </a:rPr>
              <a:t>4</a:t>
            </a:r>
            <a:r>
              <a:rPr lang="zh-CN" altLang="en-US" sz="2400">
                <a:solidFill>
                  <a:srgbClr val="0033CC"/>
                </a:solidFill>
              </a:rPr>
              <a:t>）计算机病毒</a:t>
            </a:r>
            <a:endParaRPr lang="zh-CN" altLang="en-US" sz="2400">
              <a:solidFill>
                <a:srgbClr val="0033CC"/>
              </a:solidFill>
            </a:endParaRPr>
          </a:p>
        </p:txBody>
      </p:sp>
      <p:sp>
        <p:nvSpPr>
          <p:cNvPr id="23" name="Rectangle 3"/>
          <p:cNvSpPr txBox="1">
            <a:spLocks noChangeArrowheads="1"/>
          </p:cNvSpPr>
          <p:nvPr/>
        </p:nvSpPr>
        <p:spPr>
          <a:xfrm>
            <a:off x="633095" y="4302125"/>
            <a:ext cx="8046720" cy="1491615"/>
          </a:xfrm>
          <a:prstGeom prst="rect">
            <a:avLst/>
          </a:prstGeom>
          <a:ln>
            <a:solidFill>
              <a:schemeClr val="accent1"/>
            </a:solidFill>
          </a:ln>
        </p:spPr>
        <p:txBody>
          <a:bodyPr/>
          <a:lstStyle/>
          <a:p>
            <a:pPr marL="342900" marR="0" lvl="0" indent="-342900" algn="l" defTabSz="914400" rtl="0" eaLnBrk="0" fontAlgn="base" latinLnBrk="0" hangingPunct="0">
              <a:lnSpc>
                <a:spcPct val="110000"/>
              </a:lnSpc>
              <a:spcBef>
                <a:spcPts val="200"/>
              </a:spcBef>
              <a:spcAft>
                <a:spcPts val="0"/>
              </a:spcAft>
              <a:buClr>
                <a:srgbClr val="0033CC"/>
              </a:buClr>
              <a:buSzPct val="80000"/>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一种</a:t>
            </a:r>
            <a:r>
              <a:rPr kumimoji="0" lang="zh-CN" altLang="en-US" sz="2000" b="1" i="0" u="none" strike="noStrike" kern="0" cap="none" spc="0" normalizeH="0" baseline="0" noProof="0" dirty="0" smtClean="0">
                <a:ln>
                  <a:noFill/>
                </a:ln>
                <a:solidFill>
                  <a:schemeClr val="tx1"/>
                </a:solidFill>
                <a:effectLst/>
                <a:uLnTx/>
                <a:uFillTx/>
                <a:latin typeface="楷体" panose="02010609060101010101" pitchFamily="1" charset="-122"/>
                <a:ea typeface="楷体" panose="02010609060101010101" pitchFamily="1" charset="-122"/>
                <a:cs typeface="+mn-cs"/>
              </a:rPr>
              <a:t>人为的故障</a:t>
            </a:r>
            <a:r>
              <a:rPr kumimoji="0" lang="zh-CN" altLang="en-US" sz="2000" b="1" i="0" u="none" strike="noStrike" kern="0" cap="none" spc="0" normalizeH="0" baseline="0" noProof="0" dirty="0">
                <a:ln>
                  <a:noFill/>
                </a:ln>
                <a:solidFill>
                  <a:schemeClr val="tx1"/>
                </a:solidFill>
                <a:effectLst/>
                <a:uLnTx/>
                <a:uFillTx/>
                <a:latin typeface="楷体" panose="02010609060101010101" pitchFamily="1" charset="-122"/>
                <a:ea typeface="楷体" panose="02010609060101010101" pitchFamily="1" charset="-122"/>
                <a:cs typeface="+mn-cs"/>
              </a:rPr>
              <a:t>或破坏，是一些恶作剧者研制得一种计算机程序，可以繁殖和传播。</a:t>
            </a:r>
            <a:endParaRPr kumimoji="0" lang="zh-CN" altLang="en-US"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ts val="200"/>
              </a:spcBef>
              <a:spcAft>
                <a:spcPts val="0"/>
              </a:spcAft>
              <a:buClr>
                <a:srgbClr val="0033CC"/>
              </a:buClr>
              <a:buSzPct val="80000"/>
              <a:buFont typeface="Wingdings" panose="05000000000000000000" pitchFamily="2" charset="2"/>
              <a:buChar char="u"/>
              <a:defRPr/>
            </a:pPr>
            <a:r>
              <a:rPr kumimoji="0" lang="zh-CN" altLang="en-US"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危害：破坏、盗窃系统</a:t>
            </a:r>
            <a:r>
              <a:rPr kumimoji="0" lang="zh-CN" altLang="en-US" sz="2000" b="1" i="0" u="none" strike="noStrike" kern="0" cap="none" spc="0" normalizeH="0" baseline="0" noProof="0" dirty="0" smtClean="0">
                <a:ln>
                  <a:noFill/>
                </a:ln>
                <a:solidFill>
                  <a:srgbClr val="C00000"/>
                </a:solidFill>
                <a:effectLst/>
                <a:uLnTx/>
                <a:uFillTx/>
                <a:latin typeface="楷体" panose="02010609060101010101" pitchFamily="1" charset="-122"/>
                <a:ea typeface="楷体" panose="02010609060101010101" pitchFamily="1" charset="-122"/>
                <a:cs typeface="+mn-cs"/>
              </a:rPr>
              <a:t>中的数据</a:t>
            </a:r>
            <a:endParaRPr kumimoji="0" lang="zh-CN" altLang="en-US"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endParaRPr>
          </a:p>
          <a:p>
            <a:pPr marL="342900" marR="0" lvl="0" indent="-342900" algn="l" defTabSz="914400" rtl="0" eaLnBrk="0" fontAlgn="base" latinLnBrk="0" hangingPunct="0">
              <a:lnSpc>
                <a:spcPct val="110000"/>
              </a:lnSpc>
              <a:spcBef>
                <a:spcPts val="200"/>
              </a:spcBef>
              <a:spcAft>
                <a:spcPts val="0"/>
              </a:spcAft>
              <a:buClr>
                <a:srgbClr val="0033CC"/>
              </a:buClr>
              <a:buSzPct val="80000"/>
              <a:buFont typeface="Wingdings" panose="05000000000000000000" pitchFamily="2" charset="2"/>
              <a:buChar char="u"/>
              <a:defRPr/>
            </a:pPr>
            <a:r>
              <a:rPr kumimoji="0" lang="zh-CN" altLang="en-US"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rPr>
              <a:t>破坏系统文件</a:t>
            </a:r>
            <a:endParaRPr kumimoji="0" lang="zh-CN" altLang="en-US" sz="2000" b="1" i="0" u="none" strike="noStrike" kern="0" cap="none" spc="0" normalizeH="0" baseline="0" noProof="0" dirty="0">
              <a:ln>
                <a:noFill/>
              </a:ln>
              <a:solidFill>
                <a:srgbClr val="C00000"/>
              </a:solidFill>
              <a:effectLst/>
              <a:uLnTx/>
              <a:uFillTx/>
              <a:latin typeface="楷体" panose="02010609060101010101" pitchFamily="1" charset="-122"/>
              <a:ea typeface="楷体" panose="02010609060101010101" pitchFamily="1" charset="-122"/>
              <a:cs typeface="+mn-cs"/>
            </a:endParaRPr>
          </a:p>
        </p:txBody>
      </p:sp>
      <p:sp>
        <p:nvSpPr>
          <p:cNvPr id="60418"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 name="Rectangle 7"/>
          <p:cNvSpPr/>
          <p:nvPr/>
        </p:nvSpPr>
        <p:spPr>
          <a:xfrm>
            <a:off x="501650" y="803275"/>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2" name="Rectangle 7"/>
          <p:cNvSpPr/>
          <p:nvPr/>
        </p:nvSpPr>
        <p:spPr>
          <a:xfrm>
            <a:off x="6364187" y="878840"/>
            <a:ext cx="2604716" cy="609600"/>
          </a:xfrm>
          <a:prstGeom prst="rect">
            <a:avLst/>
          </a:prstGeom>
          <a:noFill/>
          <a:ln w="9525">
            <a:noFill/>
          </a:ln>
        </p:spPr>
        <p:txBody>
          <a:bodyPr wrap="none" anchor="ctr"/>
          <a:lstStyle/>
          <a:p>
            <a:pPr marL="457200" lvl="0" indent="-457200" algn="just">
              <a:spcBef>
                <a:spcPct val="20000"/>
              </a:spcBef>
              <a:buClr>
                <a:srgbClr val="C00000"/>
              </a:buClr>
              <a:buSzPct val="100000"/>
              <a:buFont typeface="Wingdings" panose="05000000000000000000" pitchFamily="2" charset="2"/>
              <a:buChar char="p"/>
            </a:pPr>
            <a:r>
              <a:rPr lang="zh-CN" altLang="en-US" sz="2800" dirty="0" smtClean="0">
                <a:solidFill>
                  <a:srgbClr val="FF0000"/>
                </a:solidFill>
                <a:latin typeface="黑体" panose="02010609060101010101" pitchFamily="1" charset="-122"/>
                <a:ea typeface="黑体" panose="02010609060101010101" pitchFamily="1" charset="-122"/>
              </a:rPr>
              <a:t>故障的种类</a:t>
            </a:r>
            <a:endParaRPr lang="en-US" altLang="x-none" sz="28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62468" name="Text Box 3"/>
          <p:cNvSpPr txBox="1"/>
          <p:nvPr/>
        </p:nvSpPr>
        <p:spPr>
          <a:xfrm>
            <a:off x="654050" y="3718530"/>
            <a:ext cx="7982585" cy="478155"/>
          </a:xfrm>
          <a:prstGeom prst="rect">
            <a:avLst/>
          </a:prstGeom>
          <a:noFill/>
          <a:ln w="9525">
            <a:noFill/>
          </a:ln>
        </p:spPr>
        <p:txBody>
          <a:bodyPr wrap="square" anchor="t">
            <a:spAutoFit/>
          </a:bodyPr>
          <a:lstStyle/>
          <a:p>
            <a:pPr marL="457200" lvl="0" indent="-457200">
              <a:lnSpc>
                <a:spcPct val="105000"/>
              </a:lnSpc>
              <a:spcBef>
                <a:spcPct val="50000"/>
              </a:spcBef>
              <a:buClr>
                <a:srgbClr val="990033"/>
              </a:buClr>
              <a:buFont typeface="Wingdings" panose="05000000000000000000" pitchFamily="2" charset="2"/>
              <a:buChar char="p"/>
            </a:pPr>
            <a:r>
              <a:rPr lang="zh-CN" altLang="en-US" sz="2400" dirty="0">
                <a:latin typeface="宋体" panose="02010600030101010101" pitchFamily="2" charset="-122"/>
                <a:ea typeface="宋体" panose="02010600030101010101" pitchFamily="2" charset="-122"/>
              </a:rPr>
              <a:t>典型的恢复策略：</a:t>
            </a:r>
            <a:r>
              <a:rPr lang="zh-CN" altLang="en-US" sz="2200" dirty="0">
                <a:latin typeface="宋体" panose="02010600030101010101" pitchFamily="2" charset="-122"/>
                <a:sym typeface="+mn-ea"/>
              </a:rPr>
              <a:t>日常工作两件事，</a:t>
            </a:r>
            <a:r>
              <a:rPr lang="zh-CN" altLang="en-US" sz="2200" u="sng" dirty="0">
                <a:solidFill>
                  <a:srgbClr val="3402C2"/>
                </a:solidFill>
                <a:latin typeface="华文中宋" panose="02010600040101010101" charset="-122"/>
                <a:ea typeface="华文中宋" panose="02010600040101010101" charset="-122"/>
                <a:sym typeface="+mn-ea"/>
              </a:rPr>
              <a:t>转储</a:t>
            </a:r>
            <a:r>
              <a:rPr lang="zh-CN" altLang="en-US" sz="2200" dirty="0">
                <a:latin typeface="宋体" panose="02010600030101010101" pitchFamily="2" charset="-122"/>
                <a:cs typeface="+mn-ea"/>
                <a:sym typeface="+mn-ea"/>
              </a:rPr>
              <a:t>和</a:t>
            </a:r>
            <a:r>
              <a:rPr lang="zh-CN" altLang="en-US" sz="2200" u="sng" dirty="0">
                <a:solidFill>
                  <a:srgbClr val="3402C2"/>
                </a:solidFill>
                <a:latin typeface="华文中宋" panose="02010600040101010101" charset="-122"/>
                <a:ea typeface="华文中宋" panose="02010600040101010101" charset="-122"/>
                <a:cs typeface="+mn-ea"/>
                <a:sym typeface="+mn-ea"/>
              </a:rPr>
              <a:t>建立日志。</a:t>
            </a:r>
            <a:endParaRPr lang="zh-CN" altLang="en-US" sz="2200" u="sng" dirty="0">
              <a:solidFill>
                <a:srgbClr val="3402C2"/>
              </a:solidFill>
              <a:latin typeface="华文中宋" panose="02010600040101010101" charset="-122"/>
              <a:ea typeface="华文中宋" panose="02010600040101010101" charset="-122"/>
              <a:cs typeface="+mn-ea"/>
            </a:endParaRPr>
          </a:p>
        </p:txBody>
      </p:sp>
      <p:sp>
        <p:nvSpPr>
          <p:cNvPr id="2" name="Text Box 3"/>
          <p:cNvSpPr txBox="1"/>
          <p:nvPr/>
        </p:nvSpPr>
        <p:spPr>
          <a:xfrm>
            <a:off x="760730" y="4255740"/>
            <a:ext cx="7875905" cy="1576070"/>
          </a:xfrm>
          <a:prstGeom prst="rect">
            <a:avLst/>
          </a:prstGeom>
          <a:noFill/>
          <a:ln w="9525">
            <a:solidFill>
              <a:srgbClr val="0033CC"/>
            </a:solidFill>
            <a:prstDash val="dash"/>
          </a:ln>
        </p:spPr>
        <p:txBody>
          <a:bodyPr wrap="square" anchor="t">
            <a:spAutoFit/>
          </a:bodyPr>
          <a:lstStyle/>
          <a:p>
            <a:pPr marL="342900" lvl="0" indent="-342900">
              <a:lnSpc>
                <a:spcPct val="105000"/>
              </a:lnSpc>
              <a:spcBef>
                <a:spcPts val="50"/>
              </a:spcBef>
              <a:spcAft>
                <a:spcPts val="0"/>
              </a:spcAft>
              <a:buClr>
                <a:srgbClr val="990033"/>
              </a:buClr>
              <a:buFont typeface="Wingdings" panose="05000000000000000000" charset="0"/>
              <a:buChar char=""/>
            </a:pPr>
            <a:r>
              <a:rPr lang="zh-CN" altLang="en-US" sz="2200" u="sng" dirty="0">
                <a:solidFill>
                  <a:srgbClr val="3402C2"/>
                </a:solidFill>
                <a:latin typeface="华文中宋" panose="02010600040101010101" charset="-122"/>
                <a:ea typeface="华文中宋" panose="02010600040101010101" charset="-122"/>
                <a:cs typeface="+mn-ea"/>
              </a:rPr>
              <a:t>转储：</a:t>
            </a:r>
            <a:r>
              <a:rPr lang="zh-CN" altLang="en-US" sz="2200" dirty="0">
                <a:latin typeface="华文楷体" panose="02010600040101010101" pitchFamily="2" charset="-122"/>
                <a:ea typeface="华文楷体" panose="02010600040101010101" pitchFamily="2" charset="-122"/>
              </a:rPr>
              <a:t>周期地对整个数据库进行拷贝，转储到另一个磁盘或磁带上 </a:t>
            </a:r>
            <a:r>
              <a:rPr lang="en-US" altLang="x-none" sz="2200" dirty="0">
                <a:latin typeface="华文楷体" panose="02010600040101010101" pitchFamily="2" charset="-122"/>
                <a:ea typeface="华文楷体" panose="02010600040101010101" pitchFamily="2" charset="-122"/>
              </a:rPr>
              <a:t>- </a:t>
            </a:r>
            <a:r>
              <a:rPr lang="zh-CN" altLang="en-US" sz="2200" u="sng" dirty="0">
                <a:solidFill>
                  <a:srgbClr val="A50021"/>
                </a:solidFill>
                <a:latin typeface="华文楷体" panose="02010600040101010101" pitchFamily="2" charset="-122"/>
                <a:ea typeface="华文楷体" panose="02010600040101010101" pitchFamily="2" charset="-122"/>
              </a:rPr>
              <a:t>数据库备份</a:t>
            </a:r>
            <a:endParaRPr lang="zh-CN" altLang="en-US" sz="2200" u="sng" dirty="0">
              <a:solidFill>
                <a:srgbClr val="A50021"/>
              </a:solidFill>
              <a:latin typeface="华文楷体" panose="02010600040101010101" pitchFamily="2" charset="-122"/>
              <a:ea typeface="华文楷体" panose="02010600040101010101" pitchFamily="2" charset="-122"/>
            </a:endParaRPr>
          </a:p>
          <a:p>
            <a:pPr marL="342900" lvl="0" indent="-342900">
              <a:lnSpc>
                <a:spcPct val="105000"/>
              </a:lnSpc>
              <a:spcBef>
                <a:spcPts val="500"/>
              </a:spcBef>
              <a:spcAft>
                <a:spcPts val="0"/>
              </a:spcAft>
              <a:buClr>
                <a:srgbClr val="990033"/>
              </a:buClr>
              <a:buFont typeface="Wingdings" panose="05000000000000000000" charset="0"/>
              <a:buChar char=""/>
            </a:pPr>
            <a:r>
              <a:rPr lang="zh-CN" altLang="en-US" sz="2200" u="sng" dirty="0">
                <a:solidFill>
                  <a:srgbClr val="3402C2"/>
                </a:solidFill>
                <a:latin typeface="华文中宋" panose="02010600040101010101" charset="-122"/>
                <a:ea typeface="华文中宋" panose="02010600040101010101" charset="-122"/>
                <a:cs typeface="+mn-ea"/>
              </a:rPr>
              <a:t>建立日志</a:t>
            </a:r>
            <a:r>
              <a:rPr lang="zh-CN" altLang="en-US" sz="2200" dirty="0">
                <a:latin typeface="华文楷体" panose="02010600040101010101" pitchFamily="2" charset="-122"/>
                <a:ea typeface="华文楷体" panose="02010600040101010101" pitchFamily="2" charset="-122"/>
              </a:rPr>
              <a:t>：</a:t>
            </a:r>
            <a:r>
              <a:rPr lang="zh-CN" altLang="en-US" sz="2200" dirty="0">
                <a:latin typeface="华文楷体" panose="02010600040101010101" pitchFamily="2" charset="-122"/>
                <a:ea typeface="华文楷体" panose="02010600040101010101" pitchFamily="2" charset="-122"/>
                <a:sym typeface="+mn-ea"/>
              </a:rPr>
              <a:t>通过数据库日志</a:t>
            </a:r>
            <a:r>
              <a:rPr lang="zh-CN" altLang="en-US" sz="2200" dirty="0">
                <a:latin typeface="华文楷体" panose="02010600040101010101" pitchFamily="2" charset="-122"/>
                <a:ea typeface="华文楷体" panose="02010600040101010101" pitchFamily="2" charset="-122"/>
              </a:rPr>
              <a:t>记录事务的开始、结束，以及记录事务对数据库的每一次增、删、改。</a:t>
            </a:r>
            <a:endParaRPr lang="zh-CN" altLang="en-US" sz="2200" dirty="0">
              <a:latin typeface="华文楷体" panose="02010600040101010101" pitchFamily="2" charset="-122"/>
              <a:ea typeface="华文楷体" panose="02010600040101010101" pitchFamily="2" charset="-122"/>
            </a:endParaRPr>
          </a:p>
        </p:txBody>
      </p:sp>
      <p:sp>
        <p:nvSpPr>
          <p:cNvPr id="57347" name="Text Box 5"/>
          <p:cNvSpPr txBox="1"/>
          <p:nvPr/>
        </p:nvSpPr>
        <p:spPr>
          <a:xfrm>
            <a:off x="654050" y="1418283"/>
            <a:ext cx="8058150" cy="958850"/>
          </a:xfrm>
          <a:prstGeom prst="rect">
            <a:avLst/>
          </a:prstGeom>
          <a:noFill/>
          <a:ln w="9525">
            <a:noFill/>
          </a:ln>
        </p:spPr>
        <p:txBody>
          <a:bodyPr wrap="square" anchor="t">
            <a:spAutoFit/>
          </a:bodyPr>
          <a:lstStyle/>
          <a:p>
            <a:pPr lvl="0" indent="0">
              <a:lnSpc>
                <a:spcPct val="120000"/>
              </a:lnSpc>
              <a:spcBef>
                <a:spcPts val="600"/>
              </a:spcBef>
              <a:spcAft>
                <a:spcPts val="0"/>
              </a:spcAft>
            </a:pPr>
            <a:r>
              <a:rPr lang="en-US" altLang="x-none" sz="2400" dirty="0">
                <a:latin typeface="宋体" panose="02010600030101010101" pitchFamily="2" charset="-122"/>
                <a:ea typeface="宋体" panose="02010600030101010101" pitchFamily="2" charset="-122"/>
              </a:rPr>
              <a:t>   </a:t>
            </a:r>
            <a:r>
              <a:rPr lang="en-US" altLang="x-none" sz="2300" dirty="0">
                <a:latin typeface="宋体" panose="02010600030101010101" pitchFamily="2" charset="-122"/>
                <a:ea typeface="宋体" panose="02010600030101010101" pitchFamily="2" charset="-122"/>
              </a:rPr>
              <a:t> </a:t>
            </a:r>
            <a:r>
              <a:rPr lang="zh-CN" altLang="en-US" sz="2300" dirty="0">
                <a:latin typeface="宋体" panose="02010600030101010101" pitchFamily="2" charset="-122"/>
                <a:ea typeface="宋体" panose="02010600030101010101" pitchFamily="2" charset="-122"/>
              </a:rPr>
              <a:t>故障会引起数据库数据的丢失，作为管理数据的</a:t>
            </a:r>
            <a:r>
              <a:rPr lang="en-US" altLang="zh-CN" sz="2300" dirty="0">
                <a:latin typeface="宋体" panose="02010600030101010101" pitchFamily="2" charset="-122"/>
                <a:ea typeface="宋体" panose="02010600030101010101" pitchFamily="2" charset="-122"/>
              </a:rPr>
              <a:t>DBMS</a:t>
            </a:r>
            <a:r>
              <a:rPr lang="zh-CN" altLang="zh-CN" sz="2300" dirty="0">
                <a:latin typeface="宋体" panose="02010600030101010101" pitchFamily="2" charset="-122"/>
                <a:ea typeface="宋体" panose="02010600030101010101" pitchFamily="2" charset="-122"/>
              </a:rPr>
              <a:t>，必须采取措施恢复丢失的数据：</a:t>
            </a:r>
            <a:endParaRPr lang="zh-CN" altLang="zh-CN" sz="2300" dirty="0">
              <a:latin typeface="宋体" panose="02010600030101010101" pitchFamily="2" charset="-122"/>
              <a:ea typeface="宋体" panose="02010600030101010101" pitchFamily="2" charset="-122"/>
            </a:endParaRPr>
          </a:p>
        </p:txBody>
      </p:sp>
      <p:sp>
        <p:nvSpPr>
          <p:cNvPr id="9" name="Rectangle 7"/>
          <p:cNvSpPr/>
          <p:nvPr/>
        </p:nvSpPr>
        <p:spPr>
          <a:xfrm>
            <a:off x="501650" y="803275"/>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800" dirty="0">
                <a:solidFill>
                  <a:srgbClr val="FF0000"/>
                </a:solidFill>
                <a:latin typeface="黑体" panose="02010609060101010101" pitchFamily="1" charset="-122"/>
                <a:ea typeface="黑体" panose="02010609060101010101" pitchFamily="1" charset="-122"/>
              </a:rPr>
              <a:t>1</a:t>
            </a:r>
            <a:r>
              <a:rPr lang="zh-CN" altLang="en-US" sz="2800" dirty="0">
                <a:solidFill>
                  <a:srgbClr val="FF0000"/>
                </a:solidFill>
                <a:latin typeface="黑体" panose="02010609060101010101" pitchFamily="1" charset="-122"/>
                <a:ea typeface="黑体" panose="02010609060101010101" pitchFamily="1" charset="-122"/>
              </a:rPr>
              <a:t>、故障恢复导论</a:t>
            </a:r>
            <a:endParaRPr lang="en-US" altLang="x-none" sz="2800" dirty="0">
              <a:solidFill>
                <a:srgbClr val="FF0000"/>
              </a:solidFill>
              <a:latin typeface="黑体" panose="02010609060101010101" pitchFamily="1" charset="-122"/>
              <a:ea typeface="黑体" panose="02010609060101010101" pitchFamily="1" charset="-122"/>
            </a:endParaRPr>
          </a:p>
        </p:txBody>
      </p:sp>
      <p:sp>
        <p:nvSpPr>
          <p:cNvPr id="10" name="Text Box 5"/>
          <p:cNvSpPr txBox="1"/>
          <p:nvPr/>
        </p:nvSpPr>
        <p:spPr>
          <a:xfrm>
            <a:off x="704215" y="2389452"/>
            <a:ext cx="8058150" cy="1221105"/>
          </a:xfrm>
          <a:prstGeom prst="rect">
            <a:avLst/>
          </a:prstGeom>
          <a:noFill/>
          <a:ln w="9525">
            <a:noFill/>
          </a:ln>
        </p:spPr>
        <p:txBody>
          <a:bodyPr wrap="square" anchor="t">
            <a:spAutoFit/>
          </a:bodyPr>
          <a:lstStyle/>
          <a:p>
            <a:pPr lvl="0" indent="0">
              <a:lnSpc>
                <a:spcPct val="105000"/>
              </a:lnSpc>
              <a:spcBef>
                <a:spcPts val="600"/>
              </a:spcBef>
              <a:spcAft>
                <a:spcPts val="0"/>
              </a:spcAft>
            </a:pPr>
            <a:r>
              <a:rPr lang="en-US" altLang="x-none" sz="2400" dirty="0">
                <a:latin typeface="宋体" panose="02010600030101010101" pitchFamily="2" charset="-122"/>
                <a:ea typeface="宋体" panose="02010600030101010101" pitchFamily="2" charset="-122"/>
              </a:rPr>
              <a:t>   </a:t>
            </a:r>
            <a:r>
              <a:rPr lang="en-US" altLang="x-none" sz="2300" dirty="0">
                <a:latin typeface="宋体" panose="02010600030101010101" pitchFamily="2" charset="-122"/>
                <a:ea typeface="宋体" panose="02010600030101010101" pitchFamily="2" charset="-122"/>
              </a:rPr>
              <a:t> DBMS</a:t>
            </a:r>
            <a:r>
              <a:rPr lang="zh-CN" altLang="en-US" sz="2300" dirty="0">
                <a:latin typeface="宋体" panose="02010600030101010101" pitchFamily="2" charset="-122"/>
                <a:ea typeface="宋体" panose="02010600030101010101" pitchFamily="2" charset="-122"/>
              </a:rPr>
              <a:t>中的故障恢复主要有三种技术：</a:t>
            </a:r>
            <a:r>
              <a:rPr lang="zh-CN" altLang="en-US" sz="2300" u="sng" dirty="0">
                <a:solidFill>
                  <a:srgbClr val="3402C2"/>
                </a:solidFill>
                <a:latin typeface="华文楷体" panose="02010600040101010101" pitchFamily="2" charset="-122"/>
                <a:ea typeface="华文楷体" panose="02010600040101010101" pitchFamily="2" charset="-122"/>
                <a:sym typeface="+mn-ea"/>
              </a:rPr>
              <a:t>单纯以后备副本为基础的恢复技术</a:t>
            </a:r>
            <a:r>
              <a:rPr lang="zh-CN" altLang="en-US" sz="2300" dirty="0">
                <a:latin typeface="华文楷体" panose="02010600040101010101" pitchFamily="2" charset="-122"/>
                <a:ea typeface="华文楷体" panose="02010600040101010101" pitchFamily="2" charset="-122"/>
                <a:sym typeface="+mn-ea"/>
              </a:rPr>
              <a:t>、</a:t>
            </a:r>
            <a:r>
              <a:rPr lang="zh-CN" altLang="en-US" sz="2300" u="sng" dirty="0">
                <a:solidFill>
                  <a:srgbClr val="3402C2"/>
                </a:solidFill>
                <a:latin typeface="华文楷体" panose="02010600040101010101" pitchFamily="2" charset="-122"/>
                <a:ea typeface="华文楷体" panose="02010600040101010101" pitchFamily="2" charset="-122"/>
                <a:sym typeface="+mn-ea"/>
              </a:rPr>
              <a:t>以后备副本和日志为基础的恢复技术</a:t>
            </a:r>
            <a:r>
              <a:rPr lang="zh-CN" altLang="en-US" sz="2300" dirty="0">
                <a:latin typeface="华文楷体" panose="02010600040101010101" pitchFamily="2" charset="-122"/>
                <a:ea typeface="华文楷体" panose="02010600040101010101" pitchFamily="2" charset="-122"/>
                <a:sym typeface="+mn-ea"/>
              </a:rPr>
              <a:t>、</a:t>
            </a:r>
            <a:r>
              <a:rPr lang="zh-CN" altLang="en-US" sz="2300" u="sng" dirty="0">
                <a:solidFill>
                  <a:srgbClr val="3402C2"/>
                </a:solidFill>
                <a:latin typeface="华文楷体" panose="02010600040101010101" pitchFamily="2" charset="-122"/>
                <a:ea typeface="华文楷体" panose="02010600040101010101" pitchFamily="2" charset="-122"/>
                <a:sym typeface="+mn-ea"/>
              </a:rPr>
              <a:t>基于多副本的恢复技术</a:t>
            </a:r>
            <a:r>
              <a:rPr lang="zh-CN" altLang="en-US" sz="2300" dirty="0">
                <a:latin typeface="华文楷体" panose="02010600040101010101" pitchFamily="2" charset="-122"/>
                <a:ea typeface="华文楷体" panose="02010600040101010101" pitchFamily="2" charset="-122"/>
                <a:sym typeface="+mn-ea"/>
              </a:rPr>
              <a:t>。</a:t>
            </a:r>
            <a:endParaRPr lang="zh-CN" altLang="zh-CN" sz="2300" dirty="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rcRect t="9528" r="51854" b="5361"/>
          <a:stretch>
            <a:fillRect/>
          </a:stretch>
        </p:blipFill>
        <p:spPr>
          <a:xfrm>
            <a:off x="637190" y="1427329"/>
            <a:ext cx="4814312" cy="4787416"/>
          </a:xfrm>
          <a:prstGeom prst="rect">
            <a:avLst/>
          </a:prstGeom>
        </p:spPr>
      </p:pic>
      <p:pic>
        <p:nvPicPr>
          <p:cNvPr id="7" name="图片 6"/>
          <p:cNvPicPr>
            <a:picLocks noChangeAspect="1"/>
          </p:cNvPicPr>
          <p:nvPr/>
        </p:nvPicPr>
        <p:blipFill>
          <a:blip r:embed="rId2"/>
          <a:stretch>
            <a:fillRect/>
          </a:stretch>
        </p:blipFill>
        <p:spPr>
          <a:xfrm>
            <a:off x="2891790" y="1591945"/>
            <a:ext cx="5803900" cy="4267200"/>
          </a:xfrm>
          <a:prstGeom prst="rect">
            <a:avLst/>
          </a:prstGeom>
        </p:spPr>
      </p:pic>
      <p:pic>
        <p:nvPicPr>
          <p:cNvPr id="8" name="图片 7"/>
          <p:cNvPicPr>
            <a:picLocks noChangeAspect="1"/>
          </p:cNvPicPr>
          <p:nvPr/>
        </p:nvPicPr>
        <p:blipFill>
          <a:blip r:embed="rId3"/>
          <a:stretch>
            <a:fillRect/>
          </a:stretch>
        </p:blipFill>
        <p:spPr>
          <a:xfrm>
            <a:off x="679679" y="3560322"/>
            <a:ext cx="5344565" cy="2633467"/>
          </a:xfrm>
          <a:prstGeom prst="rect">
            <a:avLst/>
          </a:prstGeom>
        </p:spPr>
      </p:pic>
      <p:pic>
        <p:nvPicPr>
          <p:cNvPr id="12" name="图片 11"/>
          <p:cNvPicPr>
            <a:picLocks noChangeAspect="1"/>
          </p:cNvPicPr>
          <p:nvPr/>
        </p:nvPicPr>
        <p:blipFill>
          <a:blip r:embed="rId4"/>
          <a:stretch>
            <a:fillRect/>
          </a:stretch>
        </p:blipFill>
        <p:spPr>
          <a:xfrm>
            <a:off x="5109701" y="1344779"/>
            <a:ext cx="3674480" cy="5133137"/>
          </a:xfrm>
          <a:prstGeom prst="rect">
            <a:avLst/>
          </a:prstGeom>
        </p:spPr>
      </p:pic>
      <p:sp>
        <p:nvSpPr>
          <p:cNvPr id="60418"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9" name="Rectangle 7"/>
          <p:cNvSpPr/>
          <p:nvPr/>
        </p:nvSpPr>
        <p:spPr>
          <a:xfrm>
            <a:off x="501650" y="735179"/>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2</a:t>
            </a:r>
            <a:r>
              <a:rPr lang="zh-CN" altLang="en-US" sz="2600" dirty="0" smtClean="0">
                <a:solidFill>
                  <a:srgbClr val="FF0000"/>
                </a:solidFill>
                <a:latin typeface="黑体" panose="02010609060101010101" pitchFamily="1" charset="-122"/>
                <a:ea typeface="黑体" panose="02010609060101010101" pitchFamily="1" charset="-122"/>
              </a:rPr>
              <a:t>、单纯以后备副本为基础的恢复技术</a:t>
            </a:r>
            <a:endParaRPr lang="en-US" altLang="x-none" sz="26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nvGraphicFramePr>
        <p:xfrm>
          <a:off x="698662" y="1545698"/>
          <a:ext cx="2933538" cy="2909779"/>
        </p:xfrm>
        <a:graphic>
          <a:graphicData uri="http://schemas.openxmlformats.org/presentationml/2006/ole">
            <mc:AlternateContent xmlns:mc="http://schemas.openxmlformats.org/markup-compatibility/2006">
              <mc:Choice xmlns:v="urn:schemas-microsoft-com:vml" Requires="v">
                <p:oleObj spid="_x0000_s5214" name="" r:id="rId1" imgW="3143250" imgH="3187700" progId="Paint.Picture">
                  <p:embed/>
                </p:oleObj>
              </mc:Choice>
              <mc:Fallback>
                <p:oleObj name="" r:id="rId1" imgW="3143250" imgH="3187700" progId="Paint.Picture">
                  <p:embed/>
                  <p:pic>
                    <p:nvPicPr>
                      <p:cNvPr id="0" name="图片 2"/>
                      <p:cNvPicPr/>
                      <p:nvPr/>
                    </p:nvPicPr>
                    <p:blipFill>
                      <a:blip r:embed="rId2"/>
                      <a:stretch>
                        <a:fillRect/>
                      </a:stretch>
                    </p:blipFill>
                    <p:spPr>
                      <a:xfrm>
                        <a:off x="698662" y="1545698"/>
                        <a:ext cx="2933538" cy="2909779"/>
                      </a:xfrm>
                      <a:prstGeom prst="rect">
                        <a:avLst/>
                      </a:prstGeom>
                    </p:spPr>
                  </p:pic>
                </p:oleObj>
              </mc:Fallback>
            </mc:AlternateContent>
          </a:graphicData>
        </a:graphic>
      </p:graphicFrame>
      <p:pic>
        <p:nvPicPr>
          <p:cNvPr id="7" name="图片 6"/>
          <p:cNvPicPr>
            <a:picLocks noChangeAspect="1"/>
          </p:cNvPicPr>
          <p:nvPr/>
        </p:nvPicPr>
        <p:blipFill>
          <a:blip r:embed="rId3"/>
          <a:stretch>
            <a:fillRect/>
          </a:stretch>
        </p:blipFill>
        <p:spPr>
          <a:xfrm>
            <a:off x="2558374" y="1487813"/>
            <a:ext cx="5544766" cy="3793481"/>
          </a:xfrm>
          <a:prstGeom prst="rect">
            <a:avLst/>
          </a:prstGeom>
        </p:spPr>
      </p:pic>
      <p:graphicFrame>
        <p:nvGraphicFramePr>
          <p:cNvPr id="10" name="对象 9"/>
          <p:cNvGraphicFramePr/>
          <p:nvPr/>
        </p:nvGraphicFramePr>
        <p:xfrm>
          <a:off x="1538335" y="1545698"/>
          <a:ext cx="5927630" cy="4855102"/>
        </p:xfrm>
        <a:graphic>
          <a:graphicData uri="http://schemas.openxmlformats.org/presentationml/2006/ole">
            <mc:AlternateContent xmlns:mc="http://schemas.openxmlformats.org/markup-compatibility/2006">
              <mc:Choice xmlns:v="urn:schemas-microsoft-com:vml" Requires="v">
                <p:oleObj spid="_x0000_s5215" name="" r:id="rId4" imgW="7219950" imgH="6254750" progId="Paint.Picture">
                  <p:embed/>
                </p:oleObj>
              </mc:Choice>
              <mc:Fallback>
                <p:oleObj name="" r:id="rId4" imgW="7219950" imgH="6254750" progId="Paint.Picture">
                  <p:embed/>
                  <p:pic>
                    <p:nvPicPr>
                      <p:cNvPr id="0" name="图片 10"/>
                      <p:cNvPicPr/>
                      <p:nvPr/>
                    </p:nvPicPr>
                    <p:blipFill>
                      <a:blip r:embed="rId5"/>
                      <a:stretch>
                        <a:fillRect/>
                      </a:stretch>
                    </p:blipFill>
                    <p:spPr>
                      <a:xfrm>
                        <a:off x="1538335" y="1545698"/>
                        <a:ext cx="5927630" cy="4855102"/>
                      </a:xfrm>
                      <a:prstGeom prst="rect">
                        <a:avLst/>
                      </a:prstGeom>
                    </p:spPr>
                  </p:pic>
                </p:oleObj>
              </mc:Fallback>
            </mc:AlternateContent>
          </a:graphicData>
        </a:graphic>
      </p:graphicFrame>
      <p:graphicFrame>
        <p:nvGraphicFramePr>
          <p:cNvPr id="12" name="对象 11"/>
          <p:cNvGraphicFramePr/>
          <p:nvPr/>
        </p:nvGraphicFramePr>
        <p:xfrm>
          <a:off x="4716549" y="1427329"/>
          <a:ext cx="3803488" cy="4855102"/>
        </p:xfrm>
        <a:graphic>
          <a:graphicData uri="http://schemas.openxmlformats.org/presentationml/2006/ole">
            <mc:AlternateContent xmlns:mc="http://schemas.openxmlformats.org/markup-compatibility/2006">
              <mc:Choice xmlns:v="urn:schemas-microsoft-com:vml" Requires="v">
                <p:oleObj spid="_x0000_s5216" name="" r:id="rId6" imgW="2838450" imgH="3968750" progId="Paint.Picture">
                  <p:embed/>
                </p:oleObj>
              </mc:Choice>
              <mc:Fallback>
                <p:oleObj name="" r:id="rId6" imgW="2838450" imgH="3968750" progId="Paint.Picture">
                  <p:embed/>
                  <p:pic>
                    <p:nvPicPr>
                      <p:cNvPr id="0" name="图片 12"/>
                      <p:cNvPicPr/>
                      <p:nvPr/>
                    </p:nvPicPr>
                    <p:blipFill>
                      <a:blip r:embed="rId7"/>
                      <a:stretch>
                        <a:fillRect/>
                      </a:stretch>
                    </p:blipFill>
                    <p:spPr>
                      <a:xfrm>
                        <a:off x="4716549" y="1427329"/>
                        <a:ext cx="3803488" cy="4855102"/>
                      </a:xfrm>
                      <a:prstGeom prst="rect">
                        <a:avLst/>
                      </a:prstGeom>
                    </p:spPr>
                  </p:pic>
                </p:oleObj>
              </mc:Fallback>
            </mc:AlternateContent>
          </a:graphicData>
        </a:graphic>
      </p:graphicFrame>
      <p:sp>
        <p:nvSpPr>
          <p:cNvPr id="60418"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 name="Rectangle 7"/>
          <p:cNvSpPr/>
          <p:nvPr/>
        </p:nvSpPr>
        <p:spPr>
          <a:xfrm>
            <a:off x="501650" y="735179"/>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2</a:t>
            </a:r>
            <a:r>
              <a:rPr lang="zh-CN" altLang="en-US" sz="2600" dirty="0" smtClean="0">
                <a:solidFill>
                  <a:srgbClr val="FF0000"/>
                </a:solidFill>
                <a:latin typeface="黑体" panose="02010609060101010101" pitchFamily="1" charset="-122"/>
                <a:ea typeface="黑体" panose="02010609060101010101" pitchFamily="1" charset="-122"/>
              </a:rPr>
              <a:t>、单纯以后备副本为基础的恢复技术</a:t>
            </a:r>
            <a:endParaRPr lang="en-US" altLang="x-none" sz="26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grpSp>
        <p:nvGrpSpPr>
          <p:cNvPr id="2" name="组合 1"/>
          <p:cNvGrpSpPr/>
          <p:nvPr/>
        </p:nvGrpSpPr>
        <p:grpSpPr>
          <a:xfrm>
            <a:off x="745950" y="1580218"/>
            <a:ext cx="7800975" cy="3706495"/>
            <a:chOff x="1226" y="4863"/>
            <a:chExt cx="12285" cy="5837"/>
          </a:xfrm>
        </p:grpSpPr>
        <p:sp>
          <p:nvSpPr>
            <p:cNvPr id="62467" name="Rectangle 3"/>
            <p:cNvSpPr txBox="1"/>
            <p:nvPr/>
          </p:nvSpPr>
          <p:spPr>
            <a:xfrm>
              <a:off x="1226" y="4863"/>
              <a:ext cx="12135" cy="1818"/>
            </a:xfrm>
            <a:prstGeom prst="rect">
              <a:avLst/>
            </a:prstGeom>
            <a:noFill/>
            <a:ln w="9525">
              <a:solidFill>
                <a:srgbClr val="0033CC"/>
              </a:solidFill>
              <a:prstDash val="dash"/>
            </a:ln>
          </p:spPr>
          <p:txBody>
            <a:bodyPr anchor="t"/>
            <a:lstStyle/>
            <a:p>
              <a:pPr marL="342900" lvl="0" indent="-342900" eaLnBrk="0" hangingPunct="0">
                <a:lnSpc>
                  <a:spcPct val="100000"/>
                </a:lnSpc>
                <a:spcBef>
                  <a:spcPts val="300"/>
                </a:spcBef>
                <a:buClr>
                  <a:srgbClr val="0033CC"/>
                </a:buClr>
                <a:buSzPct val="80000"/>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周期性</a:t>
              </a: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天、周、小时</a:t>
              </a:r>
              <a:r>
                <a:rPr lang="en-US" altLang="x-none" sz="2200" dirty="0">
                  <a:latin typeface="华文楷体" panose="02010600040101010101" pitchFamily="2" charset="-122"/>
                  <a:ea typeface="宋体" panose="02010600030101010101" pitchFamily="2" charset="-122"/>
                </a:rPr>
                <a:t>)</a:t>
              </a:r>
              <a:r>
                <a:rPr lang="zh-CN" altLang="en-US" sz="2200" dirty="0">
                  <a:latin typeface="华文楷体" panose="02010600040101010101" pitchFamily="2" charset="-122"/>
                  <a:ea typeface="宋体" panose="02010600030101010101" pitchFamily="2" charset="-122"/>
                </a:rPr>
                <a:t>转储数据库到磁带上。</a:t>
              </a:r>
              <a:endParaRPr lang="zh-CN" altLang="en-US" sz="2200" dirty="0">
                <a:latin typeface="华文楷体" panose="02010600040101010101" pitchFamily="2" charset="-122"/>
                <a:ea typeface="宋体" panose="02010600030101010101" pitchFamily="2" charset="-122"/>
              </a:endParaRPr>
            </a:p>
            <a:p>
              <a:pPr marL="342900" lvl="0" indent="-342900" eaLnBrk="0" hangingPunct="0">
                <a:lnSpc>
                  <a:spcPct val="100000"/>
                </a:lnSpc>
                <a:spcBef>
                  <a:spcPts val="300"/>
                </a:spcBef>
                <a:buClr>
                  <a:srgbClr val="0033CC"/>
                </a:buClr>
                <a:buSzPct val="80000"/>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出现故障时，取离故障点最近的后备副本来恢复。</a:t>
              </a:r>
              <a:endParaRPr lang="zh-CN" altLang="en-US" sz="2200" dirty="0">
                <a:latin typeface="华文楷体" panose="02010600040101010101" pitchFamily="2" charset="-122"/>
                <a:ea typeface="宋体" panose="02010600030101010101" pitchFamily="2" charset="-122"/>
              </a:endParaRPr>
            </a:p>
            <a:p>
              <a:pPr marL="342900" lvl="0" indent="-342900" eaLnBrk="0" hangingPunct="0">
                <a:lnSpc>
                  <a:spcPct val="100000"/>
                </a:lnSpc>
                <a:spcBef>
                  <a:spcPts val="300"/>
                </a:spcBef>
                <a:buClr>
                  <a:srgbClr val="0033CC"/>
                </a:buClr>
                <a:buSzPct val="80000"/>
                <a:buFont typeface="Wingdings" panose="05000000000000000000" pitchFamily="2" charset="2"/>
                <a:buChar char="u"/>
              </a:pPr>
              <a:r>
                <a:rPr lang="zh-CN" altLang="en-US" sz="2200" dirty="0">
                  <a:latin typeface="华文楷体" panose="02010600040101010101" pitchFamily="2" charset="-122"/>
                  <a:ea typeface="宋体" panose="02010600030101010101" pitchFamily="2" charset="-122"/>
                </a:rPr>
                <a:t>缺点是：丢失数据。</a:t>
              </a:r>
              <a:endParaRPr lang="zh-CN" altLang="en-US" sz="2200" dirty="0">
                <a:latin typeface="华文楷体" panose="02010600040101010101" pitchFamily="2" charset="-122"/>
                <a:ea typeface="宋体" panose="02010600030101010101" pitchFamily="2" charset="-122"/>
              </a:endParaRPr>
            </a:p>
          </p:txBody>
        </p:sp>
        <p:graphicFrame>
          <p:nvGraphicFramePr>
            <p:cNvPr id="64517" name="Object 2"/>
            <p:cNvGraphicFramePr>
              <a:graphicFrameLocks noChangeAspect="1"/>
            </p:cNvGraphicFramePr>
            <p:nvPr/>
          </p:nvGraphicFramePr>
          <p:xfrm>
            <a:off x="1226" y="6413"/>
            <a:ext cx="12285" cy="4287"/>
          </p:xfrm>
          <a:graphic>
            <a:graphicData uri="http://schemas.openxmlformats.org/presentationml/2006/ole">
              <mc:AlternateContent xmlns:mc="http://schemas.openxmlformats.org/markup-compatibility/2006">
                <mc:Choice xmlns:v="urn:schemas-microsoft-com:vml" Requires="v">
                  <p:oleObj spid="_x0000_s6176" name="" r:id="rId1" imgW="4467225" imgH="1682750" progId="Word.Picture.8">
                    <p:embed/>
                  </p:oleObj>
                </mc:Choice>
                <mc:Fallback>
                  <p:oleObj name="" r:id="rId1" imgW="4467225" imgH="1682750" progId="Word.Picture.8">
                    <p:embed/>
                    <p:pic>
                      <p:nvPicPr>
                        <p:cNvPr id="0" name="图片 3079"/>
                        <p:cNvPicPr/>
                        <p:nvPr/>
                      </p:nvPicPr>
                      <p:blipFill>
                        <a:blip r:embed="rId2"/>
                        <a:stretch>
                          <a:fillRect/>
                        </a:stretch>
                      </p:blipFill>
                      <p:spPr>
                        <a:xfrm>
                          <a:off x="1226" y="6413"/>
                          <a:ext cx="12285" cy="4287"/>
                        </a:xfrm>
                        <a:prstGeom prst="rect">
                          <a:avLst/>
                        </a:prstGeom>
                        <a:noFill/>
                        <a:ln w="38100">
                          <a:noFill/>
                          <a:miter/>
                        </a:ln>
                      </p:spPr>
                    </p:pic>
                  </p:oleObj>
                </mc:Fallback>
              </mc:AlternateContent>
            </a:graphicData>
          </a:graphic>
        </p:graphicFrame>
      </p:grpSp>
      <p:sp>
        <p:nvSpPr>
          <p:cNvPr id="9" name="Rectangle 7"/>
          <p:cNvSpPr/>
          <p:nvPr/>
        </p:nvSpPr>
        <p:spPr>
          <a:xfrm>
            <a:off x="501650" y="783819"/>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2</a:t>
            </a:r>
            <a:r>
              <a:rPr lang="zh-CN" altLang="en-US" sz="2600" dirty="0" smtClean="0">
                <a:solidFill>
                  <a:srgbClr val="FF0000"/>
                </a:solidFill>
                <a:latin typeface="黑体" panose="02010609060101010101" pitchFamily="1" charset="-122"/>
                <a:ea typeface="黑体" panose="02010609060101010101" pitchFamily="1" charset="-122"/>
              </a:rPr>
              <a:t>、单纯以后备副本为基础的恢复技术</a:t>
            </a:r>
            <a:endParaRPr lang="en-US" altLang="x-none" sz="26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65540" name="Text Box 4"/>
          <p:cNvSpPr txBox="1"/>
          <p:nvPr/>
        </p:nvSpPr>
        <p:spPr>
          <a:xfrm>
            <a:off x="601345" y="1439290"/>
            <a:ext cx="8047355" cy="497205"/>
          </a:xfrm>
          <a:prstGeom prst="rect">
            <a:avLst/>
          </a:prstGeom>
          <a:noFill/>
          <a:ln w="9525">
            <a:noFill/>
          </a:ln>
        </p:spPr>
        <p:txBody>
          <a:bodyPr wrap="square" anchor="t">
            <a:spAutoFit/>
          </a:bodyPr>
          <a:lstStyle/>
          <a:p>
            <a:pPr marL="342900" lvl="0" indent="-342900">
              <a:lnSpc>
                <a:spcPct val="110000"/>
              </a:lnSpc>
              <a:buFont typeface="Wingdings" panose="05000000000000000000" charset="0"/>
              <a:buChar char=""/>
            </a:pPr>
            <a:r>
              <a:rPr lang="zh-CN" altLang="en-US" sz="2400" dirty="0">
                <a:solidFill>
                  <a:srgbClr val="FF0000"/>
                </a:solidFill>
                <a:latin typeface="华文中宋" panose="02010600040101010101" charset="-122"/>
                <a:ea typeface="华文中宋" panose="02010600040101010101" charset="-122"/>
              </a:rPr>
              <a:t>改进方案：</a:t>
            </a:r>
            <a:r>
              <a:rPr lang="zh-CN" altLang="en-US" sz="2400" dirty="0">
                <a:latin typeface="宋体" panose="02010600030101010101" pitchFamily="2" charset="-122"/>
                <a:ea typeface="宋体" panose="02010600030101010101" pitchFamily="2" charset="-122"/>
              </a:rPr>
              <a:t>备份点后增加几次增量转储。</a:t>
            </a:r>
            <a:endParaRPr lang="zh-CN" altLang="en-US" sz="2400" dirty="0">
              <a:latin typeface="宋体" panose="02010600030101010101" pitchFamily="2" charset="-122"/>
              <a:ea typeface="宋体" panose="02010600030101010101" pitchFamily="2" charset="-122"/>
            </a:endParaRPr>
          </a:p>
        </p:txBody>
      </p:sp>
      <p:graphicFrame>
        <p:nvGraphicFramePr>
          <p:cNvPr id="65541" name="Object 2"/>
          <p:cNvGraphicFramePr>
            <a:graphicFrameLocks noGrp="1" noChangeAspect="1"/>
          </p:cNvGraphicFramePr>
          <p:nvPr/>
        </p:nvGraphicFramePr>
        <p:xfrm>
          <a:off x="630396" y="3566796"/>
          <a:ext cx="8072755" cy="2902585"/>
        </p:xfrm>
        <a:graphic>
          <a:graphicData uri="http://schemas.openxmlformats.org/presentationml/2006/ole">
            <mc:AlternateContent xmlns:mc="http://schemas.openxmlformats.org/markup-compatibility/2006">
              <mc:Choice xmlns:v="urn:schemas-microsoft-com:vml" Requires="v">
                <p:oleObj spid="_x0000_s7200" name="" r:id="rId1" imgW="4467225" imgH="1645285" progId="Word.Picture.8">
                  <p:embed/>
                </p:oleObj>
              </mc:Choice>
              <mc:Fallback>
                <p:oleObj name="" r:id="rId1" imgW="4467225" imgH="1645285" progId="Word.Picture.8">
                  <p:embed/>
                  <p:pic>
                    <p:nvPicPr>
                      <p:cNvPr id="0" name="图片 3080"/>
                      <p:cNvPicPr/>
                      <p:nvPr/>
                    </p:nvPicPr>
                    <p:blipFill>
                      <a:blip r:embed="rId2"/>
                      <a:stretch>
                        <a:fillRect/>
                      </a:stretch>
                    </p:blipFill>
                    <p:spPr>
                      <a:xfrm>
                        <a:off x="630396" y="3566796"/>
                        <a:ext cx="8072755" cy="2902585"/>
                      </a:xfrm>
                      <a:prstGeom prst="rect">
                        <a:avLst/>
                      </a:prstGeom>
                      <a:noFill/>
                      <a:ln w="38100">
                        <a:noFill/>
                        <a:miter/>
                      </a:ln>
                    </p:spPr>
                  </p:pic>
                </p:oleObj>
              </mc:Fallback>
            </mc:AlternateContent>
          </a:graphicData>
        </a:graphic>
      </p:graphicFrame>
      <p:sp>
        <p:nvSpPr>
          <p:cNvPr id="2" name="Text Box 4"/>
          <p:cNvSpPr txBox="1"/>
          <p:nvPr/>
        </p:nvSpPr>
        <p:spPr>
          <a:xfrm>
            <a:off x="630555" y="1936495"/>
            <a:ext cx="8018145" cy="1646555"/>
          </a:xfrm>
          <a:prstGeom prst="rect">
            <a:avLst/>
          </a:prstGeom>
          <a:noFill/>
          <a:ln w="9525">
            <a:solidFill>
              <a:srgbClr val="0033CC"/>
            </a:solidFill>
            <a:prstDash val="dash"/>
          </a:ln>
        </p:spPr>
        <p:txBody>
          <a:bodyPr wrap="square" anchor="t">
            <a:spAutoFit/>
          </a:bodyPr>
          <a:lstStyle/>
          <a:p>
            <a:pPr lvl="0" indent="0">
              <a:lnSpc>
                <a:spcPct val="110000"/>
              </a:lnSpc>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 </a:t>
            </a:r>
            <a:r>
              <a:rPr lang="zh-CN" altLang="en-US" sz="2400" u="sng" dirty="0">
                <a:solidFill>
                  <a:srgbClr val="0033CC"/>
                </a:solidFill>
                <a:latin typeface="宋体" panose="02010600030101010101" pitchFamily="2" charset="-122"/>
                <a:ea typeface="宋体" panose="02010600030101010101" pitchFamily="2" charset="-122"/>
              </a:rPr>
              <a:t>增量转储</a:t>
            </a:r>
            <a:r>
              <a:rPr lang="en-US" altLang="x-none" sz="2400" u="sng" dirty="0">
                <a:solidFill>
                  <a:srgbClr val="0033CC"/>
                </a:solidFill>
                <a:latin typeface="宋体" panose="02010600030101010101" pitchFamily="2" charset="-122"/>
                <a:ea typeface="宋体" panose="02010600030101010101" pitchFamily="2" charset="-122"/>
              </a:rPr>
              <a:t>(Incremental Dumping, ID)</a:t>
            </a:r>
            <a:r>
              <a:rPr lang="zh-CN" altLang="en-US" sz="2400" u="sng" dirty="0">
                <a:solidFill>
                  <a:srgbClr val="0033CC"/>
                </a:solidFill>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在某个时间转储修改过的物理块，减少转储时间、存储空间和数据丢失。</a:t>
            </a:r>
            <a:endParaRPr lang="zh-CN" altLang="en-US" sz="2200" dirty="0">
              <a:latin typeface="宋体" panose="02010600030101010101" pitchFamily="2" charset="-122"/>
              <a:ea typeface="宋体" panose="02010600030101010101" pitchFamily="2" charset="-122"/>
            </a:endParaRPr>
          </a:p>
          <a:p>
            <a:pPr lvl="0" indent="0">
              <a:lnSpc>
                <a:spcPct val="110000"/>
              </a:lnSpc>
              <a:buFont typeface="Wingdings" panose="05000000000000000000" pitchFamily="2" charset="2"/>
              <a:buChar char="Ø"/>
            </a:pPr>
            <a:r>
              <a:rPr lang="zh-CN" altLang="en-US" sz="2400" dirty="0">
                <a:solidFill>
                  <a:srgbClr val="0033CC"/>
                </a:solidFill>
                <a:latin typeface="宋体" panose="02010600030101010101" pitchFamily="2" charset="-122"/>
                <a:ea typeface="宋体" panose="02010600030101010101" pitchFamily="2" charset="-122"/>
              </a:rPr>
              <a:t> </a:t>
            </a:r>
            <a:r>
              <a:rPr lang="zh-CN" altLang="en-US" sz="2400" u="sng" dirty="0">
                <a:solidFill>
                  <a:srgbClr val="0033CC"/>
                </a:solidFill>
                <a:latin typeface="宋体" panose="02010600030101010101" pitchFamily="2" charset="-122"/>
                <a:ea typeface="宋体" panose="02010600030101010101" pitchFamily="2" charset="-122"/>
              </a:rPr>
              <a:t>技术特点：</a:t>
            </a:r>
            <a:r>
              <a:rPr lang="zh-CN" altLang="en-US" sz="2200" dirty="0">
                <a:latin typeface="宋体" panose="02010600030101010101" pitchFamily="2" charset="-122"/>
                <a:ea typeface="宋体" panose="02010600030101010101" pitchFamily="2" charset="-122"/>
              </a:rPr>
              <a:t>实现简单，缺点是不能恢复到尽可能近一点的一致状态。只适用于小型或不重要</a:t>
            </a:r>
            <a:r>
              <a:rPr lang="en-US" altLang="x-none" sz="2200" dirty="0">
                <a:latin typeface="宋体" panose="02010600030101010101" pitchFamily="2" charset="-122"/>
                <a:ea typeface="宋体" panose="02010600030101010101" pitchFamily="2" charset="-122"/>
              </a:rPr>
              <a:t>DBS</a:t>
            </a:r>
            <a:r>
              <a:rPr lang="zh-CN" altLang="en-US" sz="2200" dirty="0">
                <a:latin typeface="宋体" panose="02010600030101010101" pitchFamily="2" charset="-122"/>
                <a:ea typeface="宋体" panose="02010600030101010101" pitchFamily="2" charset="-122"/>
              </a:rPr>
              <a:t>。</a:t>
            </a:r>
            <a:endParaRPr lang="zh-CN" altLang="en-US" sz="2200" dirty="0">
              <a:latin typeface="宋体" panose="02010600030101010101" pitchFamily="2" charset="-122"/>
              <a:ea typeface="宋体" panose="02010600030101010101" pitchFamily="2" charset="-122"/>
            </a:endParaRPr>
          </a:p>
        </p:txBody>
      </p:sp>
      <p:sp>
        <p:nvSpPr>
          <p:cNvPr id="7" name="Rectangle 7"/>
          <p:cNvSpPr/>
          <p:nvPr/>
        </p:nvSpPr>
        <p:spPr>
          <a:xfrm>
            <a:off x="501650" y="783819"/>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2</a:t>
            </a:r>
            <a:r>
              <a:rPr lang="zh-CN" altLang="en-US" sz="2600" dirty="0" smtClean="0">
                <a:solidFill>
                  <a:srgbClr val="FF0000"/>
                </a:solidFill>
                <a:latin typeface="黑体" panose="02010609060101010101" pitchFamily="1" charset="-122"/>
                <a:ea typeface="黑体" panose="02010609060101010101" pitchFamily="1" charset="-122"/>
              </a:rPr>
              <a:t>、单纯以后备副本为基础的恢复技术</a:t>
            </a:r>
            <a:endParaRPr lang="en-US" altLang="x-none" sz="26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5541"/>
                                        </p:tgtEl>
                                        <p:attrNameLst>
                                          <p:attrName>style.visibility</p:attrName>
                                        </p:attrNameLst>
                                      </p:cBhvr>
                                      <p:to>
                                        <p:strVal val="visible"/>
                                      </p:to>
                                    </p:set>
                                    <p:anim calcmode="lin" valueType="num">
                                      <p:cBhvr>
                                        <p:cTn id="7" dur="500" fill="hold"/>
                                        <p:tgtEl>
                                          <p:spTgt spid="65541"/>
                                        </p:tgtEl>
                                        <p:attrNameLst>
                                          <p:attrName>ppt_x</p:attrName>
                                        </p:attrNameLst>
                                      </p:cBhvr>
                                      <p:tavLst>
                                        <p:tav tm="0">
                                          <p:val>
                                            <p:strVal val="#ppt_x"/>
                                          </p:val>
                                        </p:tav>
                                        <p:tav tm="100000">
                                          <p:val>
                                            <p:strVal val="#ppt_x"/>
                                          </p:val>
                                        </p:tav>
                                      </p:tavLst>
                                    </p:anim>
                                    <p:anim calcmode="lin" valueType="num">
                                      <p:cBhvr>
                                        <p:cTn id="8" dur="500" fill="hold"/>
                                        <p:tgtEl>
                                          <p:spTgt spid="655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57347" name="Text Box 5"/>
          <p:cNvSpPr txBox="1"/>
          <p:nvPr/>
        </p:nvSpPr>
        <p:spPr>
          <a:xfrm>
            <a:off x="727623" y="1451552"/>
            <a:ext cx="7939405" cy="1276350"/>
          </a:xfrm>
          <a:prstGeom prst="rect">
            <a:avLst/>
          </a:prstGeom>
          <a:noFill/>
          <a:ln w="9525">
            <a:solidFill>
              <a:schemeClr val="accent2"/>
            </a:solidFill>
            <a:prstDash val="dash"/>
          </a:ln>
        </p:spPr>
        <p:txBody>
          <a:bodyPr wrap="square" anchor="t">
            <a:spAutoFit/>
          </a:bodyPr>
          <a:lstStyle/>
          <a:p>
            <a:pPr marL="342900" lvl="0" indent="-342900">
              <a:lnSpc>
                <a:spcPct val="115000"/>
              </a:lnSpc>
              <a:spcBef>
                <a:spcPts val="600"/>
              </a:spcBef>
              <a:spcAft>
                <a:spcPts val="0"/>
              </a:spcAft>
              <a:buFont typeface="Wingdings" panose="05000000000000000000" charset="0"/>
              <a:buChar char=""/>
            </a:pPr>
            <a:r>
              <a:rPr lang="zh-CN" altLang="en-US" sz="2300" dirty="0">
                <a:solidFill>
                  <a:srgbClr val="FF0000"/>
                </a:solidFill>
                <a:latin typeface="华文中宋" panose="02010600040101010101" charset="-122"/>
                <a:ea typeface="华文中宋" panose="02010600040101010101" charset="-122"/>
              </a:rPr>
              <a:t>日志的概念：</a:t>
            </a:r>
            <a:r>
              <a:rPr lang="zh-CN" altLang="en-US" sz="2200" dirty="0">
                <a:solidFill>
                  <a:schemeClr val="tx1"/>
                </a:solidFill>
                <a:latin typeface="楷体" panose="02010609060101010101" pitchFamily="1" charset="-122"/>
                <a:ea typeface="楷体" panose="02010609060101010101" pitchFamily="1" charset="-122"/>
              </a:rPr>
              <a:t>为了能在故障后恢复正常状态，避免数据丢失，在系统正常运行时记录下事务的变化情况，以便提供恢复所需的信息，这种历史记录称为日志。</a:t>
            </a:r>
            <a:endParaRPr lang="zh-CN" altLang="en-US" sz="2200" dirty="0">
              <a:solidFill>
                <a:schemeClr val="tx1"/>
              </a:solidFill>
              <a:latin typeface="楷体" panose="02010609060101010101" pitchFamily="1" charset="-122"/>
              <a:ea typeface="楷体" panose="02010609060101010101" pitchFamily="1" charset="-122"/>
            </a:endParaRPr>
          </a:p>
        </p:txBody>
      </p:sp>
      <p:grpSp>
        <p:nvGrpSpPr>
          <p:cNvPr id="76805" name="组合 76804"/>
          <p:cNvGrpSpPr/>
          <p:nvPr/>
        </p:nvGrpSpPr>
        <p:grpSpPr>
          <a:xfrm>
            <a:off x="744768" y="2873359"/>
            <a:ext cx="7922260" cy="3086366"/>
            <a:chOff x="-22" y="82"/>
            <a:chExt cx="12477" cy="4860"/>
          </a:xfrm>
        </p:grpSpPr>
        <p:sp>
          <p:nvSpPr>
            <p:cNvPr id="73733" name="Rectangle 8"/>
            <p:cNvSpPr txBox="1"/>
            <p:nvPr/>
          </p:nvSpPr>
          <p:spPr>
            <a:xfrm>
              <a:off x="-22" y="82"/>
              <a:ext cx="12477" cy="4860"/>
            </a:xfrm>
            <a:prstGeom prst="rect">
              <a:avLst/>
            </a:prstGeom>
            <a:noFill/>
            <a:ln w="9525">
              <a:solidFill>
                <a:srgbClr val="3402C2"/>
              </a:solidFill>
              <a:prstDash val="dash"/>
            </a:ln>
          </p:spPr>
          <p:txBody>
            <a:bodyPr wrap="square" anchor="t"/>
            <a:lstStyle/>
            <a:p>
              <a:pPr marL="342900" lvl="0" indent="-342900">
                <a:lnSpc>
                  <a:spcPct val="90000"/>
                </a:lnSpc>
                <a:buClr>
                  <a:srgbClr val="0033CC"/>
                </a:buClr>
                <a:buSzPct val="80000"/>
              </a:pPr>
              <a:r>
                <a:rPr lang="en-US" altLang="x-none" sz="2000" dirty="0">
                  <a:solidFill>
                    <a:srgbClr val="CC0000"/>
                  </a:solidFill>
                  <a:latin typeface="方正姚体" panose="02010601030101010101" pitchFamily="2" charset="-122"/>
                  <a:ea typeface="方正姚体" panose="02010601030101010101" pitchFamily="2" charset="-122"/>
                </a:rPr>
                <a:t>Create Database StuData</a:t>
              </a:r>
              <a:endParaRPr lang="en-US" altLang="x-none" sz="2000" dirty="0">
                <a:solidFill>
                  <a:srgbClr val="CC0000"/>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On Primary      </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  Name       = StuFile1,</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Filename   = 'c:\data\StuFile1.mdf', </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Size       = 10MB,   MaxSize    = 1000MB,</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FileGrowth = 5MB)</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Log On</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  Name       = Stulog,</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Filename   = 'd:\data\Stulog.ldf', </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Size       = 10MB,     MaxSize    = 1000MB,</a:t>
              </a:r>
              <a:endParaRPr lang="en-US" altLang="x-none" sz="2000" dirty="0">
                <a:solidFill>
                  <a:srgbClr val="0033CC"/>
                </a:solidFill>
                <a:latin typeface="方正姚体" panose="02010601030101010101" pitchFamily="2" charset="-122"/>
                <a:ea typeface="方正姚体" panose="02010601030101010101" pitchFamily="2" charset="-122"/>
              </a:endParaRPr>
            </a:p>
            <a:p>
              <a:pPr marL="342900" lvl="0" indent="-342900">
                <a:lnSpc>
                  <a:spcPct val="90000"/>
                </a:lnSpc>
                <a:buClr>
                  <a:srgbClr val="0033CC"/>
                </a:buClr>
                <a:buSzPct val="80000"/>
              </a:pPr>
              <a:r>
                <a:rPr lang="en-US" altLang="x-none" sz="2000" dirty="0">
                  <a:solidFill>
                    <a:srgbClr val="0033CC"/>
                  </a:solidFill>
                  <a:latin typeface="方正姚体" panose="02010601030101010101" pitchFamily="2" charset="-122"/>
                  <a:ea typeface="方正姚体" panose="02010601030101010101" pitchFamily="2" charset="-122"/>
                </a:rPr>
                <a:t>                FileGrowth = 5MB) </a:t>
              </a:r>
              <a:endParaRPr lang="en-GB" altLang="en-US" sz="2000" dirty="0">
                <a:solidFill>
                  <a:srgbClr val="0033CC"/>
                </a:solidFill>
                <a:latin typeface="Times New Roman" panose="02020603050405020304" pitchFamily="2" charset="0"/>
                <a:ea typeface="宋体" panose="02010600030101010101" pitchFamily="2" charset="-122"/>
              </a:endParaRPr>
            </a:p>
          </p:txBody>
        </p:sp>
        <p:grpSp>
          <p:nvGrpSpPr>
            <p:cNvPr id="73734" name="Group 9"/>
            <p:cNvGrpSpPr/>
            <p:nvPr/>
          </p:nvGrpSpPr>
          <p:grpSpPr>
            <a:xfrm>
              <a:off x="4951" y="172"/>
              <a:ext cx="2335" cy="1042"/>
              <a:chOff x="0" y="0"/>
              <a:chExt cx="934" cy="417"/>
            </a:xfrm>
          </p:grpSpPr>
          <p:sp>
            <p:nvSpPr>
              <p:cNvPr id="73735" name="AutoShape 10"/>
              <p:cNvSpPr/>
              <p:nvPr/>
            </p:nvSpPr>
            <p:spPr>
              <a:xfrm>
                <a:off x="26" y="0"/>
                <a:ext cx="908" cy="288"/>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lstStyle/>
              <a:p>
                <a:pPr lvl="0" indent="0"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主文件</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3736" name="Line 11"/>
              <p:cNvSpPr/>
              <p:nvPr/>
            </p:nvSpPr>
            <p:spPr>
              <a:xfrm flipV="1">
                <a:off x="0" y="305"/>
                <a:ext cx="528" cy="112"/>
              </a:xfrm>
              <a:prstGeom prst="line">
                <a:avLst/>
              </a:prstGeom>
              <a:ln w="25400" cap="flat" cmpd="sng">
                <a:solidFill>
                  <a:schemeClr val="tx1"/>
                </a:solidFill>
                <a:prstDash val="solid"/>
                <a:round/>
                <a:headEnd type="triangle" w="med" len="med"/>
                <a:tailEnd type="none" w="med" len="med"/>
              </a:ln>
            </p:spPr>
          </p:sp>
        </p:grpSp>
        <p:grpSp>
          <p:nvGrpSpPr>
            <p:cNvPr id="73737" name="Group 18"/>
            <p:cNvGrpSpPr/>
            <p:nvPr/>
          </p:nvGrpSpPr>
          <p:grpSpPr>
            <a:xfrm>
              <a:off x="7048" y="82"/>
              <a:ext cx="4965" cy="1515"/>
              <a:chOff x="0" y="0"/>
              <a:chExt cx="1986" cy="606"/>
            </a:xfrm>
          </p:grpSpPr>
          <p:sp>
            <p:nvSpPr>
              <p:cNvPr id="73738" name="AutoShape 19"/>
              <p:cNvSpPr/>
              <p:nvPr/>
            </p:nvSpPr>
            <p:spPr>
              <a:xfrm>
                <a:off x="354" y="0"/>
                <a:ext cx="1632" cy="334"/>
              </a:xfrm>
              <a:prstGeom prst="roundRect">
                <a:avLst>
                  <a:gd name="adj" fmla="val 16667"/>
                </a:avLst>
              </a:prstGeom>
              <a:solidFill>
                <a:srgbClr val="CCFFFF">
                  <a:alpha val="29999"/>
                </a:srgbClr>
              </a:solidFill>
              <a:ln w="9525" cap="flat" cmpd="sng">
                <a:solidFill>
                  <a:schemeClr val="tx1"/>
                </a:solidFill>
                <a:prstDash val="solid"/>
                <a:round/>
                <a:headEnd type="none" w="med" len="med"/>
                <a:tailEnd type="none" w="med" len="med"/>
              </a:ln>
            </p:spPr>
            <p:txBody>
              <a:bodyPr wrap="none" anchor="ctr"/>
              <a:lstStyle/>
              <a:p>
                <a:pPr lvl="0" indent="0"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主数据文件扩展名</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3739" name="Line 20"/>
              <p:cNvSpPr/>
              <p:nvPr/>
            </p:nvSpPr>
            <p:spPr>
              <a:xfrm flipH="1">
                <a:off x="0" y="339"/>
                <a:ext cx="1495" cy="267"/>
              </a:xfrm>
              <a:prstGeom prst="line">
                <a:avLst/>
              </a:prstGeom>
              <a:ln w="38100" cap="flat" cmpd="sng">
                <a:solidFill>
                  <a:schemeClr val="tx1"/>
                </a:solidFill>
                <a:prstDash val="solid"/>
                <a:round/>
                <a:headEnd type="none" w="med" len="med"/>
                <a:tailEnd type="triangle" w="med" len="med"/>
              </a:ln>
            </p:spPr>
          </p:sp>
        </p:grpSp>
        <p:grpSp>
          <p:nvGrpSpPr>
            <p:cNvPr id="73740" name="Group 15"/>
            <p:cNvGrpSpPr/>
            <p:nvPr/>
          </p:nvGrpSpPr>
          <p:grpSpPr>
            <a:xfrm>
              <a:off x="4467" y="2816"/>
              <a:ext cx="2972" cy="977"/>
              <a:chOff x="0" y="0"/>
              <a:chExt cx="1189" cy="391"/>
            </a:xfrm>
          </p:grpSpPr>
          <p:sp>
            <p:nvSpPr>
              <p:cNvPr id="73741" name="AutoShape 16"/>
              <p:cNvSpPr/>
              <p:nvPr/>
            </p:nvSpPr>
            <p:spPr>
              <a:xfrm>
                <a:off x="281" y="0"/>
                <a:ext cx="908" cy="288"/>
              </a:xfrm>
              <a:prstGeom prst="roundRect">
                <a:avLst>
                  <a:gd name="adj" fmla="val 16667"/>
                </a:avLst>
              </a:prstGeom>
              <a:solidFill>
                <a:srgbClr val="FBE2B1"/>
              </a:solidFill>
              <a:ln w="9525" cap="flat" cmpd="sng">
                <a:solidFill>
                  <a:schemeClr val="tx1"/>
                </a:solidFill>
                <a:prstDash val="solid"/>
                <a:round/>
                <a:headEnd type="none" w="med" len="med"/>
                <a:tailEnd type="none" w="med" len="med"/>
              </a:ln>
            </p:spPr>
            <p:txBody>
              <a:bodyPr wrap="none" anchor="ctr"/>
              <a:lstStyle/>
              <a:p>
                <a:pPr lvl="0" indent="0"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日志文件</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3742" name="Line 17"/>
              <p:cNvSpPr/>
              <p:nvPr/>
            </p:nvSpPr>
            <p:spPr>
              <a:xfrm flipV="1">
                <a:off x="0" y="289"/>
                <a:ext cx="511" cy="102"/>
              </a:xfrm>
              <a:prstGeom prst="line">
                <a:avLst/>
              </a:prstGeom>
              <a:ln w="25400" cap="flat" cmpd="sng">
                <a:solidFill>
                  <a:schemeClr val="tx1"/>
                </a:solidFill>
                <a:prstDash val="solid"/>
                <a:round/>
                <a:headEnd type="triangle" w="med" len="med"/>
                <a:tailEnd type="none" w="med" len="med"/>
              </a:ln>
            </p:spPr>
          </p:sp>
        </p:grpSp>
        <p:grpSp>
          <p:nvGrpSpPr>
            <p:cNvPr id="73743" name="Group 24"/>
            <p:cNvGrpSpPr/>
            <p:nvPr/>
          </p:nvGrpSpPr>
          <p:grpSpPr>
            <a:xfrm>
              <a:off x="6819" y="2896"/>
              <a:ext cx="5233" cy="1417"/>
              <a:chOff x="0" y="0"/>
              <a:chExt cx="2093" cy="567"/>
            </a:xfrm>
          </p:grpSpPr>
          <p:sp>
            <p:nvSpPr>
              <p:cNvPr id="73744" name="AutoShape 25"/>
              <p:cNvSpPr/>
              <p:nvPr/>
            </p:nvSpPr>
            <p:spPr>
              <a:xfrm>
                <a:off x="610" y="0"/>
                <a:ext cx="1483" cy="334"/>
              </a:xfrm>
              <a:prstGeom prst="roundRect">
                <a:avLst>
                  <a:gd name="adj" fmla="val 16667"/>
                </a:avLst>
              </a:prstGeom>
              <a:solidFill>
                <a:srgbClr val="CCFFFF">
                  <a:alpha val="29999"/>
                </a:srgbClr>
              </a:solidFill>
              <a:ln w="9525" cap="flat" cmpd="sng">
                <a:solidFill>
                  <a:schemeClr val="tx1"/>
                </a:solidFill>
                <a:prstDash val="solid"/>
                <a:round/>
                <a:headEnd type="none" w="med" len="med"/>
                <a:tailEnd type="none" w="med" len="med"/>
              </a:ln>
            </p:spPr>
            <p:txBody>
              <a:bodyPr wrap="none" anchor="ctr"/>
              <a:lstStyle/>
              <a:p>
                <a:pPr lvl="0" indent="0" algn="ctr">
                  <a:lnSpc>
                    <a:spcPct val="135000"/>
                  </a:lnSpc>
                </a:pPr>
                <a:r>
                  <a:rPr lang="zh-CN" altLang="en-US" sz="2400" dirty="0">
                    <a:solidFill>
                      <a:srgbClr val="003300"/>
                    </a:solidFill>
                    <a:latin typeface="宋体" panose="02010600030101010101" pitchFamily="2" charset="-122"/>
                    <a:ea typeface="宋体" panose="02010600030101010101" pitchFamily="2" charset="-122"/>
                  </a:rPr>
                  <a:t>日志文件扩展名</a:t>
                </a:r>
                <a:endParaRPr lang="zh-CN" altLang="en-US" sz="2400" dirty="0">
                  <a:solidFill>
                    <a:srgbClr val="003300"/>
                  </a:solidFill>
                  <a:latin typeface="宋体" panose="02010600030101010101" pitchFamily="2" charset="-122"/>
                  <a:ea typeface="宋体" panose="02010600030101010101" pitchFamily="2" charset="-122"/>
                </a:endParaRPr>
              </a:p>
            </p:txBody>
          </p:sp>
          <p:sp>
            <p:nvSpPr>
              <p:cNvPr id="73745" name="Line 26"/>
              <p:cNvSpPr/>
              <p:nvPr/>
            </p:nvSpPr>
            <p:spPr>
              <a:xfrm flipH="1">
                <a:off x="0" y="329"/>
                <a:ext cx="1186" cy="238"/>
              </a:xfrm>
              <a:prstGeom prst="line">
                <a:avLst/>
              </a:prstGeom>
              <a:ln w="38100" cap="flat" cmpd="sng">
                <a:solidFill>
                  <a:schemeClr val="tx1"/>
                </a:solidFill>
                <a:prstDash val="solid"/>
                <a:round/>
                <a:headEnd type="none" w="med" len="med"/>
                <a:tailEnd type="triangle" w="med" len="med"/>
              </a:ln>
            </p:spPr>
          </p:sp>
        </p:grpSp>
      </p:grpSp>
      <p:sp>
        <p:nvSpPr>
          <p:cNvPr id="20" name="Rectangle 7"/>
          <p:cNvSpPr/>
          <p:nvPr/>
        </p:nvSpPr>
        <p:spPr>
          <a:xfrm>
            <a:off x="501650" y="7643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3</a:t>
            </a:r>
            <a:r>
              <a:rPr lang="zh-CN" altLang="en-US" sz="2600" dirty="0" smtClean="0">
                <a:solidFill>
                  <a:srgbClr val="FF0000"/>
                </a:solidFill>
                <a:latin typeface="黑体" panose="02010609060101010101" pitchFamily="1" charset="-122"/>
                <a:ea typeface="黑体" panose="02010609060101010101" pitchFamily="1" charset="-122"/>
              </a:rPr>
              <a:t>、以后备副本和日志为基础的恢复技术</a:t>
            </a:r>
            <a:endParaRPr lang="en-US" altLang="x-none" sz="26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6805"/>
                                        </p:tgtEl>
                                        <p:attrNameLst>
                                          <p:attrName>style.visibility</p:attrName>
                                        </p:attrNameLst>
                                      </p:cBhvr>
                                      <p:to>
                                        <p:strVal val="visible"/>
                                      </p:to>
                                    </p:set>
                                    <p:anim calcmode="lin" valueType="num">
                                      <p:cBhvr>
                                        <p:cTn id="7" dur="500" fill="hold"/>
                                        <p:tgtEl>
                                          <p:spTgt spid="76805"/>
                                        </p:tgtEl>
                                        <p:attrNameLst>
                                          <p:attrName>ppt_x</p:attrName>
                                        </p:attrNameLst>
                                      </p:cBhvr>
                                      <p:tavLst>
                                        <p:tav tm="0">
                                          <p:val>
                                            <p:strVal val="#ppt_x"/>
                                          </p:val>
                                        </p:tav>
                                        <p:tav tm="100000">
                                          <p:val>
                                            <p:strVal val="#ppt_x"/>
                                          </p:val>
                                        </p:tav>
                                      </p:tavLst>
                                    </p:anim>
                                    <p:anim calcmode="lin" valueType="num">
                                      <p:cBhvr>
                                        <p:cTn id="8" dur="500" fill="hold"/>
                                        <p:tgtEl>
                                          <p:spTgt spid="768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3"/>
          <p:cNvSpPr txBox="1"/>
          <p:nvPr/>
        </p:nvSpPr>
        <p:spPr>
          <a:xfrm>
            <a:off x="656590" y="1914525"/>
            <a:ext cx="7923530" cy="1156970"/>
          </a:xfrm>
          <a:prstGeom prst="rect">
            <a:avLst/>
          </a:prstGeom>
          <a:noFill/>
          <a:ln w="9525">
            <a:solidFill>
              <a:srgbClr val="3402C2"/>
            </a:solidFill>
            <a:prstDash val="dash"/>
          </a:ln>
        </p:spPr>
        <p:txBody>
          <a:bodyPr wrap="square" anchor="t">
            <a:spAutoFit/>
          </a:bodyPr>
          <a:lstStyle/>
          <a:p>
            <a:pPr marL="342900" lvl="0" indent="-342900">
              <a:lnSpc>
                <a:spcPct val="105000"/>
              </a:lnSpc>
              <a:spcBef>
                <a:spcPts val="50"/>
              </a:spcBef>
              <a:spcAft>
                <a:spcPts val="0"/>
              </a:spcAft>
              <a:buFont typeface="Wingdings" panose="05000000000000000000" pitchFamily="2" charset="2"/>
              <a:buChar char="Ø"/>
            </a:pPr>
            <a:r>
              <a:rPr lang="zh-CN" altLang="en-US" sz="2200" u="sng" dirty="0">
                <a:solidFill>
                  <a:srgbClr val="3402C2"/>
                </a:solidFill>
                <a:latin typeface="华文中宋" panose="02010600040101010101" charset="-122"/>
                <a:ea typeface="华文中宋" panose="02010600040101010101" charset="-122"/>
              </a:rPr>
              <a:t>前像（</a:t>
            </a:r>
            <a:r>
              <a:rPr lang="en-US" altLang="x-none" sz="2200" u="sng" dirty="0">
                <a:solidFill>
                  <a:srgbClr val="3402C2"/>
                </a:solidFill>
                <a:latin typeface="华文中宋" panose="02010600040101010101" charset="-122"/>
                <a:ea typeface="华文中宋" panose="02010600040101010101" charset="-122"/>
              </a:rPr>
              <a:t>BI</a:t>
            </a:r>
            <a:r>
              <a:rPr lang="zh-CN" altLang="en-US" sz="2200" u="sng" dirty="0">
                <a:solidFill>
                  <a:srgbClr val="3402C2"/>
                </a:solidFill>
                <a:latin typeface="华文中宋" panose="02010600040101010101" charset="-122"/>
                <a:ea typeface="华文中宋" panose="02010600040101010101" charset="-122"/>
              </a:rPr>
              <a:t>）：</a:t>
            </a:r>
            <a:r>
              <a:rPr lang="zh-CN" altLang="en-US" sz="2200" dirty="0">
                <a:latin typeface="华文楷体" panose="02010600040101010101" pitchFamily="2" charset="-122"/>
                <a:ea typeface="华文楷体" panose="02010600040101010101" pitchFamily="2" charset="-122"/>
              </a:rPr>
              <a:t>事务所更新的数据所在物理块在更新前的映象</a:t>
            </a:r>
            <a:r>
              <a:rPr lang="en-US" altLang="x-none" sz="2200" dirty="0">
                <a:latin typeface="华文楷体" panose="02010600040101010101" pitchFamily="2" charset="-122"/>
                <a:ea typeface="华文楷体" panose="02010600040101010101" pitchFamily="2" charset="-122"/>
              </a:rPr>
              <a:t>(Before Image, BI)</a:t>
            </a:r>
            <a:r>
              <a:rPr lang="zh-CN" altLang="en-US" sz="2200" dirty="0">
                <a:latin typeface="华文楷体" panose="02010600040101010101" pitchFamily="2" charset="-122"/>
                <a:ea typeface="华文楷体" panose="02010600040101010101" pitchFamily="2" charset="-122"/>
              </a:rPr>
              <a:t>。当撤销</a:t>
            </a:r>
            <a:r>
              <a:rPr lang="en-US" altLang="x-none" sz="2200" dirty="0">
                <a:latin typeface="华文楷体" panose="02010600040101010101" pitchFamily="2" charset="-122"/>
                <a:ea typeface="华文楷体" panose="02010600040101010101" pitchFamily="2" charset="-122"/>
              </a:rPr>
              <a:t>(Undo)</a:t>
            </a:r>
            <a:r>
              <a:rPr lang="zh-CN" altLang="en-US" sz="2200" dirty="0">
                <a:latin typeface="华文楷体" panose="02010600040101010101" pitchFamily="2" charset="-122"/>
                <a:ea typeface="华文楷体" panose="02010600040101010101" pitchFamily="2" charset="-122"/>
              </a:rPr>
              <a:t>更新，使</a:t>
            </a:r>
            <a:r>
              <a:rPr lang="en-US" altLang="x-none" sz="2200" dirty="0">
                <a:latin typeface="华文楷体" panose="02010600040101010101" pitchFamily="2" charset="-122"/>
                <a:ea typeface="华文楷体" panose="02010600040101010101" pitchFamily="2" charset="-122"/>
              </a:rPr>
              <a:t>DB</a:t>
            </a:r>
            <a:r>
              <a:rPr lang="zh-CN" altLang="en-US" sz="2200" dirty="0">
                <a:latin typeface="华文楷体" panose="02010600040101010101" pitchFamily="2" charset="-122"/>
                <a:ea typeface="华文楷体" panose="02010600040101010101" pitchFamily="2" charset="-122"/>
              </a:rPr>
              <a:t>恢复到更新前的状态时，用前像覆盖事务所做的更新。</a:t>
            </a:r>
            <a:endParaRPr lang="zh-CN" altLang="en-US" sz="2200" dirty="0">
              <a:latin typeface="华文楷体" panose="02010600040101010101" pitchFamily="2" charset="-122"/>
              <a:ea typeface="华文楷体" panose="02010600040101010101" pitchFamily="2" charset="-122"/>
              <a:cs typeface="+mn-ea"/>
            </a:endParaRPr>
          </a:p>
        </p:txBody>
      </p:sp>
      <p:sp>
        <p:nvSpPr>
          <p:cNvPr id="64515"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2" name="文本框 1"/>
          <p:cNvSpPr txBox="1"/>
          <p:nvPr/>
        </p:nvSpPr>
        <p:spPr>
          <a:xfrm>
            <a:off x="643890" y="1377950"/>
            <a:ext cx="7921625" cy="460375"/>
          </a:xfrm>
          <a:prstGeom prst="rect">
            <a:avLst/>
          </a:prstGeom>
          <a:noFill/>
        </p:spPr>
        <p:txBody>
          <a:bodyPr wrap="none" rtlCol="0" anchor="t">
            <a:spAutoFit/>
          </a:bodyPr>
          <a:lstStyle/>
          <a:p>
            <a:pPr marL="342900" indent="-342900">
              <a:buFont typeface="Wingdings" panose="05000000000000000000" charset="0"/>
              <a:buChar char=""/>
            </a:pPr>
            <a:r>
              <a:rPr lang="zh-CN" altLang="en-US" sz="2400" dirty="0">
                <a:solidFill>
                  <a:srgbClr val="FF0000"/>
                </a:solidFill>
                <a:latin typeface="华文中宋" panose="02010600040101010101" charset="-122"/>
                <a:ea typeface="华文中宋" panose="02010600040101010101" charset="-122"/>
                <a:sym typeface="+mn-ea"/>
              </a:rPr>
              <a:t>日志的内容：</a:t>
            </a:r>
            <a:r>
              <a:rPr lang="zh-CN" altLang="en-US" sz="2200" u="sng" dirty="0">
                <a:solidFill>
                  <a:srgbClr val="3402C2"/>
                </a:solidFill>
                <a:latin typeface="华文楷体" panose="02010600040101010101" pitchFamily="2" charset="-122"/>
                <a:ea typeface="华文楷体" panose="02010600040101010101" pitchFamily="2" charset="-122"/>
                <a:sym typeface="+mn-ea"/>
              </a:rPr>
              <a:t>前像</a:t>
            </a:r>
            <a:r>
              <a:rPr lang="zh-CN" altLang="en-US" sz="2200" dirty="0">
                <a:latin typeface="华文楷体" panose="02010600040101010101" pitchFamily="2" charset="-122"/>
                <a:ea typeface="华文楷体" panose="02010600040101010101" pitchFamily="2" charset="-122"/>
                <a:sym typeface="+mn-ea"/>
              </a:rPr>
              <a:t>、</a:t>
            </a:r>
            <a:r>
              <a:rPr lang="zh-CN" altLang="en-US" sz="2200" u="sng" dirty="0">
                <a:solidFill>
                  <a:srgbClr val="3402C2"/>
                </a:solidFill>
                <a:latin typeface="华文楷体" panose="02010600040101010101" pitchFamily="2" charset="-122"/>
                <a:ea typeface="华文楷体" panose="02010600040101010101" pitchFamily="2" charset="-122"/>
                <a:cs typeface="+mn-ea"/>
                <a:sym typeface="+mn-ea"/>
              </a:rPr>
              <a:t>后像</a:t>
            </a:r>
            <a:r>
              <a:rPr lang="zh-CN" altLang="en-US" sz="2200" dirty="0">
                <a:latin typeface="华文楷体" panose="02010600040101010101" pitchFamily="2" charset="-122"/>
                <a:ea typeface="华文楷体" panose="02010600040101010101" pitchFamily="2" charset="-122"/>
                <a:sym typeface="+mn-ea"/>
              </a:rPr>
              <a:t>、</a:t>
            </a:r>
            <a:r>
              <a:rPr lang="zh-CN" altLang="en-US" sz="2200" u="sng" dirty="0">
                <a:solidFill>
                  <a:srgbClr val="3402C2"/>
                </a:solidFill>
                <a:latin typeface="华文楷体" panose="02010600040101010101" pitchFamily="2" charset="-122"/>
                <a:ea typeface="华文楷体" panose="02010600040101010101" pitchFamily="2" charset="-122"/>
                <a:cs typeface="+mn-ea"/>
                <a:sym typeface="+mn-ea"/>
              </a:rPr>
              <a:t>活动的事务表</a:t>
            </a:r>
            <a:r>
              <a:rPr lang="zh-CN" altLang="en-US" sz="2200" dirty="0">
                <a:latin typeface="华文楷体" panose="02010600040101010101" pitchFamily="2" charset="-122"/>
                <a:ea typeface="华文楷体" panose="02010600040101010101" pitchFamily="2" charset="-122"/>
                <a:sym typeface="+mn-ea"/>
              </a:rPr>
              <a:t>、</a:t>
            </a:r>
            <a:r>
              <a:rPr lang="zh-CN" altLang="en-US" sz="2200" u="sng" dirty="0">
                <a:solidFill>
                  <a:srgbClr val="3402C2"/>
                </a:solidFill>
                <a:latin typeface="华文楷体" panose="02010600040101010101" pitchFamily="2" charset="-122"/>
                <a:ea typeface="华文楷体" panose="02010600040101010101" pitchFamily="2" charset="-122"/>
                <a:cs typeface="+mn-ea"/>
                <a:sym typeface="+mn-ea"/>
              </a:rPr>
              <a:t>提交的事务表</a:t>
            </a:r>
            <a:r>
              <a:rPr lang="zh-CN" altLang="en-US" sz="2200" dirty="0">
                <a:latin typeface="华文楷体" panose="02010600040101010101" pitchFamily="2" charset="-122"/>
                <a:ea typeface="华文楷体" panose="02010600040101010101" pitchFamily="2" charset="-122"/>
                <a:sym typeface="+mn-ea"/>
              </a:rPr>
              <a:t>。</a:t>
            </a:r>
            <a:endParaRPr lang="zh-CN" altLang="en-US" sz="2200"/>
          </a:p>
        </p:txBody>
      </p:sp>
      <p:sp>
        <p:nvSpPr>
          <p:cNvPr id="3" name="Text Box 3"/>
          <p:cNvSpPr txBox="1"/>
          <p:nvPr/>
        </p:nvSpPr>
        <p:spPr>
          <a:xfrm>
            <a:off x="656590" y="3134995"/>
            <a:ext cx="7936230" cy="1156970"/>
          </a:xfrm>
          <a:prstGeom prst="rect">
            <a:avLst/>
          </a:prstGeom>
          <a:noFill/>
          <a:ln w="9525">
            <a:solidFill>
              <a:srgbClr val="3402C2"/>
            </a:solidFill>
            <a:prstDash val="dash"/>
          </a:ln>
        </p:spPr>
        <p:txBody>
          <a:bodyPr wrap="square" anchor="t">
            <a:spAutoFit/>
          </a:bodyPr>
          <a:lstStyle/>
          <a:p>
            <a:pPr marL="342900" lvl="0" indent="-342900">
              <a:lnSpc>
                <a:spcPct val="105000"/>
              </a:lnSpc>
              <a:spcBef>
                <a:spcPts val="50"/>
              </a:spcBef>
              <a:spcAft>
                <a:spcPts val="0"/>
              </a:spcAft>
              <a:buFont typeface="Wingdings" panose="05000000000000000000" pitchFamily="2" charset="2"/>
              <a:buChar char="Ø"/>
            </a:pPr>
            <a:r>
              <a:rPr lang="zh-CN" altLang="en-US" sz="2200" u="sng" dirty="0">
                <a:solidFill>
                  <a:srgbClr val="3402C2"/>
                </a:solidFill>
                <a:latin typeface="华文中宋" panose="02010600040101010101" charset="-122"/>
                <a:ea typeface="华文中宋" panose="02010600040101010101" charset="-122"/>
                <a:cs typeface="+mn-ea"/>
              </a:rPr>
              <a:t>后像（AI）：</a:t>
            </a:r>
            <a:r>
              <a:rPr lang="zh-CN" altLang="en-US" sz="2200" dirty="0">
                <a:latin typeface="华文楷体" panose="02010600040101010101" pitchFamily="2" charset="-122"/>
                <a:ea typeface="华文楷体" panose="02010600040101010101" pitchFamily="2" charset="-122"/>
                <a:cs typeface="+mn-ea"/>
              </a:rPr>
              <a:t>所涉及物理块更新后的映象(After Image, AI)。如重做(Redo)更新，可使DB恢复到更新后的状态，即用后像覆盖所在的物理块，就能使数据库恢复到更新后的状态。</a:t>
            </a:r>
            <a:endParaRPr lang="zh-CN" altLang="en-US" sz="2200" dirty="0">
              <a:latin typeface="华文楷体" panose="02010600040101010101" pitchFamily="2" charset="-122"/>
              <a:ea typeface="华文楷体" panose="02010600040101010101" pitchFamily="2" charset="-122"/>
              <a:cs typeface="+mn-ea"/>
            </a:endParaRPr>
          </a:p>
        </p:txBody>
      </p:sp>
      <p:sp>
        <p:nvSpPr>
          <p:cNvPr id="4" name="Text Box 3"/>
          <p:cNvSpPr txBox="1"/>
          <p:nvPr/>
        </p:nvSpPr>
        <p:spPr>
          <a:xfrm>
            <a:off x="656590" y="4431665"/>
            <a:ext cx="7936230" cy="783590"/>
          </a:xfrm>
          <a:prstGeom prst="rect">
            <a:avLst/>
          </a:prstGeom>
          <a:noFill/>
          <a:ln w="9525">
            <a:solidFill>
              <a:srgbClr val="3402C2"/>
            </a:solidFill>
            <a:prstDash val="dash"/>
          </a:ln>
        </p:spPr>
        <p:txBody>
          <a:bodyPr wrap="square" anchor="t">
            <a:spAutoFit/>
          </a:bodyPr>
          <a:lstStyle/>
          <a:p>
            <a:pPr marL="342900" lvl="0" indent="-342900">
              <a:lnSpc>
                <a:spcPct val="100000"/>
              </a:lnSpc>
              <a:spcBef>
                <a:spcPts val="300"/>
              </a:spcBef>
              <a:buFont typeface="Wingdings" panose="05000000000000000000" charset="0"/>
              <a:buChar char=""/>
            </a:pPr>
            <a:r>
              <a:rPr lang="zh-CN" altLang="en-US" sz="2300" u="sng" dirty="0">
                <a:solidFill>
                  <a:srgbClr val="3402C2"/>
                </a:solidFill>
                <a:latin typeface="华文中宋" panose="02010600040101010101" charset="-122"/>
                <a:ea typeface="华文中宋" panose="02010600040101010101" charset="-122"/>
                <a:cs typeface="+mn-ea"/>
              </a:rPr>
              <a:t>活动事务表（A</a:t>
            </a:r>
            <a:r>
              <a:rPr lang="en-US" altLang="zh-CN" sz="2300" u="sng" dirty="0">
                <a:solidFill>
                  <a:srgbClr val="3402C2"/>
                </a:solidFill>
                <a:latin typeface="华文中宋" panose="02010600040101010101" charset="-122"/>
                <a:ea typeface="华文中宋" panose="02010600040101010101" charset="-122"/>
                <a:cs typeface="+mn-ea"/>
              </a:rPr>
              <a:t>TL</a:t>
            </a:r>
            <a:r>
              <a:rPr lang="zh-CN" altLang="en-US" sz="2300" u="sng" dirty="0">
                <a:solidFill>
                  <a:srgbClr val="3402C2"/>
                </a:solidFill>
                <a:latin typeface="华文中宋" panose="02010600040101010101" charset="-122"/>
                <a:ea typeface="华文中宋" panose="02010600040101010101" charset="-122"/>
                <a:cs typeface="+mn-ea"/>
              </a:rPr>
              <a:t>）：</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记录正在执行、尚未提交的事务标识符（</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TID)</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200" dirty="0">
              <a:latin typeface="华文楷体" panose="02010600040101010101" pitchFamily="2" charset="-122"/>
              <a:ea typeface="华文楷体" panose="02010600040101010101" pitchFamily="2" charset="-122"/>
              <a:cs typeface="+mn-ea"/>
            </a:endParaRPr>
          </a:p>
        </p:txBody>
      </p:sp>
      <p:sp>
        <p:nvSpPr>
          <p:cNvPr id="6" name="Text Box 3"/>
          <p:cNvSpPr txBox="1"/>
          <p:nvPr/>
        </p:nvSpPr>
        <p:spPr>
          <a:xfrm>
            <a:off x="650240" y="5291455"/>
            <a:ext cx="7936230" cy="515620"/>
          </a:xfrm>
          <a:prstGeom prst="rect">
            <a:avLst/>
          </a:prstGeom>
          <a:noFill/>
          <a:ln w="9525">
            <a:solidFill>
              <a:srgbClr val="3402C2"/>
            </a:solidFill>
            <a:prstDash val="dash"/>
          </a:ln>
        </p:spPr>
        <p:txBody>
          <a:bodyPr wrap="square" anchor="t">
            <a:spAutoFit/>
          </a:bodyPr>
          <a:lstStyle/>
          <a:p>
            <a:pPr marL="342900" lvl="0" indent="-342900">
              <a:lnSpc>
                <a:spcPct val="120000"/>
              </a:lnSpc>
              <a:spcBef>
                <a:spcPts val="300"/>
              </a:spcBef>
              <a:buFont typeface="Wingdings" panose="05000000000000000000" charset="0"/>
              <a:buChar char=""/>
            </a:pPr>
            <a:r>
              <a:rPr lang="zh-CN" altLang="en-US" sz="2300" u="sng" dirty="0">
                <a:solidFill>
                  <a:srgbClr val="3402C2"/>
                </a:solidFill>
                <a:latin typeface="华文中宋" panose="02010600040101010101" charset="-122"/>
                <a:ea typeface="华文中宋" panose="02010600040101010101" charset="-122"/>
                <a:cs typeface="+mn-ea"/>
              </a:rPr>
              <a:t>提交事务表（</a:t>
            </a:r>
            <a:r>
              <a:rPr lang="en-US" altLang="zh-CN" sz="2300" u="sng" dirty="0">
                <a:solidFill>
                  <a:srgbClr val="3402C2"/>
                </a:solidFill>
                <a:latin typeface="华文中宋" panose="02010600040101010101" charset="-122"/>
                <a:ea typeface="华文中宋" panose="02010600040101010101" charset="-122"/>
                <a:cs typeface="+mn-ea"/>
              </a:rPr>
              <a:t>CTL</a:t>
            </a:r>
            <a:r>
              <a:rPr lang="zh-CN" altLang="en-US" sz="2300" u="sng" dirty="0">
                <a:solidFill>
                  <a:srgbClr val="3402C2"/>
                </a:solidFill>
                <a:latin typeface="华文中宋" panose="02010600040101010101" charset="-122"/>
                <a:ea typeface="华文中宋" panose="02010600040101010101" charset="-122"/>
                <a:cs typeface="+mn-ea"/>
              </a:rPr>
              <a:t>）：</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记录已提交事务的标识符。</a:t>
            </a:r>
            <a:endParaRPr lang="zh-CN" altLang="en-US" sz="2200" dirty="0">
              <a:latin typeface="华文楷体" panose="02010600040101010101" pitchFamily="2" charset="-122"/>
              <a:ea typeface="华文楷体" panose="02010600040101010101" pitchFamily="2" charset="-122"/>
              <a:cs typeface="+mn-ea"/>
            </a:endParaRPr>
          </a:p>
        </p:txBody>
      </p:sp>
      <p:sp>
        <p:nvSpPr>
          <p:cNvPr id="9" name="Rectangle 7"/>
          <p:cNvSpPr/>
          <p:nvPr/>
        </p:nvSpPr>
        <p:spPr>
          <a:xfrm>
            <a:off x="501650" y="7643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3</a:t>
            </a:r>
            <a:r>
              <a:rPr lang="zh-CN" altLang="en-US" sz="2600" dirty="0" smtClean="0">
                <a:solidFill>
                  <a:srgbClr val="FF0000"/>
                </a:solidFill>
                <a:latin typeface="黑体" panose="02010609060101010101" pitchFamily="1" charset="-122"/>
                <a:ea typeface="黑体" panose="02010609060101010101" pitchFamily="1" charset="-122"/>
              </a:rPr>
              <a:t>、以后备副本和日志为基础的恢复技术</a:t>
            </a:r>
            <a:endParaRPr lang="en-US" altLang="x-none" sz="26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6562"/>
                                        </p:tgtEl>
                                        <p:attrNameLst>
                                          <p:attrName>style.visibility</p:attrName>
                                        </p:attrNameLst>
                                      </p:cBhvr>
                                      <p:to>
                                        <p:strVal val="visible"/>
                                      </p:to>
                                    </p:set>
                                    <p:animEffect transition="in" filter="checkerboard(across)">
                                      <p:cBhvr>
                                        <p:cTn id="7" dur="500"/>
                                        <p:tgtEl>
                                          <p:spTgt spid="6656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heckerboard(across)">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checkerboard(across)">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bldLvl="0" animBg="1"/>
      <p:bldP spid="3" grpId="0" bldLvl="0" animBg="1"/>
      <p:bldP spid="4" grpId="0" bldLvl="0" animBg="1"/>
      <p:bldP spid="6"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0900" name="Text Box 4"/>
          <p:cNvSpPr txBox="1"/>
          <p:nvPr/>
        </p:nvSpPr>
        <p:spPr>
          <a:xfrm>
            <a:off x="628650" y="2750185"/>
            <a:ext cx="8058150" cy="2364740"/>
          </a:xfrm>
          <a:prstGeom prst="rect">
            <a:avLst/>
          </a:prstGeom>
          <a:noFill/>
          <a:ln w="9525">
            <a:solidFill>
              <a:srgbClr val="0033CC"/>
            </a:solidFill>
            <a:prstDash val="dash"/>
          </a:ln>
        </p:spPr>
        <p:txBody>
          <a:bodyPr wrap="square" anchor="t">
            <a:spAutoFit/>
          </a:bodyPr>
          <a:lstStyle/>
          <a:p>
            <a:pPr lvl="0" indent="0">
              <a:lnSpc>
                <a:spcPct val="110000"/>
              </a:lnSpc>
              <a:spcBef>
                <a:spcPts val="600"/>
              </a:spcBef>
            </a:pPr>
            <a:r>
              <a:rPr lang="zh-CN" altLang="en-US" sz="2400" dirty="0">
                <a:solidFill>
                  <a:srgbClr val="3402C2"/>
                </a:solidFill>
                <a:latin typeface="宋体" panose="02010600030101010101" pitchFamily="2" charset="-122"/>
                <a:ea typeface="宋体" panose="02010600030101010101" pitchFamily="2" charset="-122"/>
                <a:sym typeface="Wingdings 2" panose="05020102010507070707" charset="0"/>
              </a:rPr>
              <a:t> </a:t>
            </a:r>
            <a:r>
              <a:rPr lang="zh-CN" altLang="en-US" sz="2400" u="sng" dirty="0">
                <a:solidFill>
                  <a:srgbClr val="3402C2"/>
                </a:solidFill>
                <a:latin typeface="华文中宋" panose="02010600040101010101" charset="-122"/>
                <a:ea typeface="华文中宋" panose="02010600040101010101" charset="-122"/>
                <a:sym typeface="Wingdings" panose="05000000000000000000" pitchFamily="2" charset="2"/>
              </a:rPr>
              <a:t>提交规则：</a:t>
            </a:r>
            <a:r>
              <a:rPr lang="zh-CN" altLang="en-US" sz="2400" dirty="0">
                <a:latin typeface="华文楷体" panose="02010600040101010101" pitchFamily="2" charset="-122"/>
                <a:ea typeface="华文楷体" panose="02010600040101010101" pitchFamily="2" charset="-122"/>
                <a:cs typeface="+mn-ea"/>
                <a:sym typeface="Wingdings" panose="05000000000000000000" pitchFamily="2" charset="2"/>
              </a:rPr>
              <a:t>该规则要求后像应在提交前写入DB或日志(均在不易失存储器上)中。</a:t>
            </a:r>
            <a:endParaRPr lang="zh-CN" altLang="en-US" sz="24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00000"/>
              </a:lnSpc>
              <a:spcBef>
                <a:spcPts val="600"/>
              </a:spcBef>
              <a:buFont typeface="Wingdings" panose="05000000000000000000" pitchFamily="2" charset="2"/>
              <a:buChar char="Ø"/>
            </a:pPr>
            <a:r>
              <a:rPr lang="zh-CN" altLang="en-US" sz="2400" u="sng" dirty="0">
                <a:solidFill>
                  <a:srgbClr val="0033CC"/>
                </a:solidFill>
                <a:latin typeface="宋体" panose="02010600030101010101" pitchFamily="2" charset="-122"/>
                <a:ea typeface="宋体" panose="02010600030101010101" pitchFamily="2" charset="-122"/>
                <a:sym typeface="Wingdings" panose="05000000000000000000" pitchFamily="2" charset="2"/>
              </a:rPr>
              <a:t>说明</a:t>
            </a:r>
            <a:r>
              <a:rPr lang="en-US" altLang="x-none" sz="2400" u="sng" dirty="0">
                <a:solidFill>
                  <a:srgbClr val="0033CC"/>
                </a:solidFill>
                <a:latin typeface="宋体" panose="02010600030101010101" pitchFamily="2" charset="-122"/>
                <a:ea typeface="宋体" panose="02010600030101010101" pitchFamily="2" charset="-122"/>
                <a:sym typeface="Wingdings" panose="05000000000000000000" pitchFamily="2" charset="2"/>
              </a:rPr>
              <a:t>: </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这是</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ACID</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中持久性要求。提交规则不要求后像一定在提交前写入</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DB</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，写入日志中亦可。如后像已写入日志，即使未写入</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DB</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或未完全写入</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DB</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，事务仍可提交，待事务提交后再继续写入</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DB</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。如此期间出现故障，可用日志的后像重做。</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57347" name="Text Box 5"/>
          <p:cNvSpPr txBox="1"/>
          <p:nvPr/>
        </p:nvSpPr>
        <p:spPr>
          <a:xfrm>
            <a:off x="628650" y="1349375"/>
            <a:ext cx="8058150" cy="886460"/>
          </a:xfrm>
          <a:prstGeom prst="rect">
            <a:avLst/>
          </a:prstGeom>
          <a:noFill/>
          <a:ln w="9525">
            <a:noFill/>
          </a:ln>
        </p:spPr>
        <p:txBody>
          <a:bodyPr wrap="square" anchor="t">
            <a:spAutoFit/>
          </a:bodyPr>
          <a:lstStyle/>
          <a:p>
            <a:pPr lvl="0" indent="0">
              <a:lnSpc>
                <a:spcPct val="110000"/>
              </a:lnSpc>
              <a:spcBef>
                <a:spcPts val="600"/>
              </a:spcBef>
              <a:spcAft>
                <a:spcPts val="0"/>
              </a:spcAft>
            </a:pPr>
            <a:r>
              <a:rPr lang="en-US" altLang="x-none" sz="2400" dirty="0">
                <a:latin typeface="宋体" panose="02010600030101010101" pitchFamily="2" charset="-122"/>
                <a:ea typeface="宋体" panose="02010600030101010101" pitchFamily="2" charset="-122"/>
              </a:rPr>
              <a:t>   </a:t>
            </a:r>
            <a:r>
              <a:rPr lang="en-US" altLang="x-none" sz="2300" dirty="0">
                <a:latin typeface="宋体" panose="02010600030101010101" pitchFamily="2" charset="-122"/>
                <a:ea typeface="宋体" panose="02010600030101010101" pitchFamily="2" charset="-122"/>
              </a:rPr>
              <a:t> </a:t>
            </a:r>
            <a:r>
              <a:rPr lang="zh-CN" altLang="en-US" sz="2300" dirty="0">
                <a:latin typeface="宋体" panose="02010600030101010101" pitchFamily="2" charset="-122"/>
                <a:ea typeface="宋体" panose="02010600030101010101" pitchFamily="2" charset="-122"/>
              </a:rPr>
              <a:t>按执行时是否会更新数据库中的数据，事务可分为更新类事务（</a:t>
            </a:r>
            <a:r>
              <a:rPr lang="zh-CN" altLang="en-US" sz="2300" u="sng" dirty="0">
                <a:solidFill>
                  <a:srgbClr val="3402C2"/>
                </a:solidFill>
                <a:latin typeface="宋体" panose="02010600030101010101" pitchFamily="2" charset="-122"/>
                <a:sym typeface="+mn-ea"/>
              </a:rPr>
              <a:t>数据插入、删除或修改操作）</a:t>
            </a:r>
            <a:r>
              <a:rPr lang="zh-CN" altLang="en-US" sz="2300" dirty="0">
                <a:latin typeface="宋体" panose="02010600030101010101" pitchFamily="2" charset="-122"/>
                <a:ea typeface="宋体" panose="02010600030101010101" pitchFamily="2" charset="-122"/>
              </a:rPr>
              <a:t>和只读类事务</a:t>
            </a:r>
            <a:r>
              <a:rPr lang="zh-CN" altLang="en-US" sz="2300" dirty="0">
                <a:latin typeface="华文楷体" panose="02010600040101010101" pitchFamily="2" charset="-122"/>
                <a:ea typeface="华文楷体" panose="02010600040101010101" pitchFamily="2" charset="-122"/>
                <a:sym typeface="+mn-ea"/>
              </a:rPr>
              <a:t>。</a:t>
            </a:r>
            <a:endParaRPr lang="zh-CN" altLang="zh-CN" sz="2300" dirty="0">
              <a:latin typeface="宋体" panose="02010600030101010101" pitchFamily="2" charset="-122"/>
              <a:ea typeface="宋体" panose="02010600030101010101" pitchFamily="2" charset="-122"/>
            </a:endParaRPr>
          </a:p>
        </p:txBody>
      </p:sp>
      <p:sp>
        <p:nvSpPr>
          <p:cNvPr id="2" name="文本框 1"/>
          <p:cNvSpPr txBox="1"/>
          <p:nvPr/>
        </p:nvSpPr>
        <p:spPr>
          <a:xfrm>
            <a:off x="457200" y="2235835"/>
            <a:ext cx="4805680" cy="514350"/>
          </a:xfrm>
          <a:prstGeom prst="rect">
            <a:avLst/>
          </a:prstGeom>
          <a:noFill/>
        </p:spPr>
        <p:txBody>
          <a:bodyPr wrap="none" rtlCol="0" anchor="t">
            <a:spAutoFit/>
          </a:bodyPr>
          <a:lstStyle/>
          <a:p>
            <a:pPr lvl="0" indent="0">
              <a:lnSpc>
                <a:spcPct val="110000"/>
              </a:lnSpc>
              <a:spcBef>
                <a:spcPts val="600"/>
              </a:spcBef>
            </a:pPr>
            <a:r>
              <a:rPr lang="en-US" altLang="x-none" sz="2500" dirty="0">
                <a:solidFill>
                  <a:srgbClr val="FF0000"/>
                </a:solidFill>
                <a:latin typeface="黑体" panose="02010609060101010101" pitchFamily="1" charset="-122"/>
                <a:ea typeface="黑体" panose="02010609060101010101" pitchFamily="1" charset="-122"/>
                <a:cs typeface="+mn-ea"/>
                <a:sym typeface="Wingdings" panose="05000000000000000000" pitchFamily="2" charset="2"/>
              </a:rPr>
              <a:t>（1）提交更新事务应遵守的规则</a:t>
            </a:r>
            <a:endParaRPr lang="en-US" altLang="x-none" sz="2500" dirty="0">
              <a:solidFill>
                <a:srgbClr val="FF0000"/>
              </a:solidFill>
              <a:latin typeface="黑体" panose="02010609060101010101" pitchFamily="1" charset="-122"/>
              <a:ea typeface="黑体" panose="02010609060101010101" pitchFamily="1" charset="-122"/>
              <a:cs typeface="+mn-ea"/>
              <a:sym typeface="Wingdings" panose="05000000000000000000" pitchFamily="2" charset="2"/>
            </a:endParaRPr>
          </a:p>
        </p:txBody>
      </p:sp>
      <p:sp>
        <p:nvSpPr>
          <p:cNvPr id="3" name="Text Box 4"/>
          <p:cNvSpPr txBox="1"/>
          <p:nvPr/>
        </p:nvSpPr>
        <p:spPr>
          <a:xfrm>
            <a:off x="628015" y="5170170"/>
            <a:ext cx="8058785" cy="868680"/>
          </a:xfrm>
          <a:prstGeom prst="rect">
            <a:avLst/>
          </a:prstGeom>
          <a:noFill/>
          <a:ln w="9525">
            <a:solidFill>
              <a:srgbClr val="0033CC"/>
            </a:solidFill>
            <a:prstDash val="dash"/>
          </a:ln>
        </p:spPr>
        <p:txBody>
          <a:bodyPr wrap="square" anchor="t">
            <a:spAutoFit/>
          </a:bodyPr>
          <a:lstStyle/>
          <a:p>
            <a:pPr lvl="0" indent="0">
              <a:lnSpc>
                <a:spcPct val="110000"/>
              </a:lnSpc>
              <a:spcBef>
                <a:spcPts val="600"/>
              </a:spcBef>
            </a:pPr>
            <a:r>
              <a:rPr lang="zh-CN" altLang="en-US" sz="2400" dirty="0">
                <a:solidFill>
                  <a:srgbClr val="3402C2"/>
                </a:solidFill>
                <a:latin typeface="宋体" panose="02010600030101010101" pitchFamily="2" charset="-122"/>
                <a:cs typeface="+mn-ea"/>
                <a:sym typeface="Wingdings 2" panose="05020102010507070707" charset="0"/>
              </a:rPr>
              <a:t> </a:t>
            </a:r>
            <a:r>
              <a:rPr lang="zh-CN" altLang="en-US" sz="2400" u="sng" dirty="0">
                <a:solidFill>
                  <a:srgbClr val="3402C2"/>
                </a:solidFill>
                <a:latin typeface="华文中宋" panose="02010600040101010101" charset="-122"/>
                <a:ea typeface="华文中宋" panose="02010600040101010101" charset="-122"/>
                <a:cs typeface="+mn-ea"/>
                <a:sym typeface="Wingdings" panose="05000000000000000000" pitchFamily="2" charset="2"/>
              </a:rPr>
              <a:t>先记后写规则：</a:t>
            </a:r>
            <a:r>
              <a:rPr lang="zh-CN" altLang="en-US" sz="2200" dirty="0">
                <a:latin typeface="华文楷体" panose="02010600040101010101" pitchFamily="2" charset="-122"/>
                <a:ea typeface="华文楷体" panose="02010600040101010101" pitchFamily="2" charset="-122"/>
                <a:cs typeface="+mn-ea"/>
                <a:sym typeface="Wingdings" panose="05000000000000000000" pitchFamily="2" charset="2"/>
              </a:rPr>
              <a:t>该规则要求如后像在事务提交前写入DB，需先将前像写入日志，以便事务失败后，撤销事务所做的更新。</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8" name="Rectangle 7"/>
          <p:cNvSpPr/>
          <p:nvPr/>
        </p:nvSpPr>
        <p:spPr>
          <a:xfrm>
            <a:off x="501650" y="7643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3</a:t>
            </a:r>
            <a:r>
              <a:rPr lang="zh-CN" altLang="en-US" sz="2600" dirty="0" smtClean="0">
                <a:solidFill>
                  <a:srgbClr val="FF0000"/>
                </a:solidFill>
                <a:latin typeface="黑体" panose="02010609060101010101" pitchFamily="1" charset="-122"/>
                <a:ea typeface="黑体" panose="02010609060101010101" pitchFamily="1" charset="-122"/>
              </a:rPr>
              <a:t>、以后备副本和日志为基础的恢复技术</a:t>
            </a:r>
            <a:endParaRPr lang="en-US" altLang="x-none" sz="26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0900"/>
                                        </p:tgtEl>
                                        <p:attrNameLst>
                                          <p:attrName>style.visibility</p:attrName>
                                        </p:attrNameLst>
                                      </p:cBhvr>
                                      <p:to>
                                        <p:strVal val="visible"/>
                                      </p:to>
                                    </p:set>
                                    <p:anim calcmode="lin" valueType="num">
                                      <p:cBhvr>
                                        <p:cTn id="7" dur="500" fill="hold"/>
                                        <p:tgtEl>
                                          <p:spTgt spid="80900"/>
                                        </p:tgtEl>
                                        <p:attrNameLst>
                                          <p:attrName>ppt_x</p:attrName>
                                        </p:attrNameLst>
                                      </p:cBhvr>
                                      <p:tavLst>
                                        <p:tav tm="0">
                                          <p:val>
                                            <p:strVal val="#ppt_x"/>
                                          </p:val>
                                        </p:tav>
                                        <p:tav tm="100000">
                                          <p:val>
                                            <p:strVal val="#ppt_x"/>
                                          </p:val>
                                        </p:tav>
                                      </p:tavLst>
                                    </p:anim>
                                    <p:anim calcmode="lin" valueType="num">
                                      <p:cBhvr>
                                        <p:cTn id="8" dur="500" fill="hold"/>
                                        <p:tgtEl>
                                          <p:spTgt spid="8090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0" grpId="0" bldLvl="0" animBg="1"/>
      <p:bldP spid="3"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78851" name="Text Box 4"/>
          <p:cNvSpPr txBox="1"/>
          <p:nvPr/>
        </p:nvSpPr>
        <p:spPr>
          <a:xfrm>
            <a:off x="1882775" y="1765300"/>
            <a:ext cx="6188075" cy="460375"/>
          </a:xfrm>
          <a:prstGeom prst="rect">
            <a:avLst/>
          </a:prstGeom>
          <a:noFill/>
          <a:ln w="9525">
            <a:noFill/>
          </a:ln>
        </p:spPr>
        <p:txBody>
          <a:bodyPr anchor="t">
            <a:spAutoFit/>
          </a:bodyPr>
          <a:lstStyle/>
          <a:p>
            <a:pPr lvl="0" indent="0">
              <a:spcBef>
                <a:spcPct val="50000"/>
              </a:spcBef>
            </a:pPr>
            <a:r>
              <a:rPr lang="zh-CN" altLang="en-US" sz="2400" dirty="0">
                <a:solidFill>
                  <a:srgbClr val="FF0000"/>
                </a:solidFill>
                <a:latin typeface="华文中宋" panose="02010600040101010101" charset="-122"/>
                <a:ea typeface="华文中宋" panose="02010600040101010101" charset="-122"/>
                <a:sym typeface="Wingdings" panose="05000000000000000000" pitchFamily="2" charset="2"/>
              </a:rPr>
              <a:t>方案</a:t>
            </a:r>
            <a:r>
              <a:rPr lang="en-US" altLang="x-none" sz="2400" dirty="0">
                <a:solidFill>
                  <a:srgbClr val="FF0000"/>
                </a:solidFill>
                <a:latin typeface="华文中宋" panose="02010600040101010101" charset="-122"/>
                <a:ea typeface="华文中宋" panose="02010600040101010101" charset="-122"/>
                <a:sym typeface="Wingdings" panose="05000000000000000000" pitchFamily="2" charset="2"/>
              </a:rPr>
              <a:t>1</a:t>
            </a:r>
            <a:r>
              <a:rPr lang="zh-CN" altLang="en-US" sz="2400" dirty="0">
                <a:solidFill>
                  <a:srgbClr val="FF0000"/>
                </a:solidFill>
                <a:latin typeface="华文中宋" panose="02010600040101010101" charset="-122"/>
                <a:ea typeface="华文中宋" panose="02010600040101010101" charset="-122"/>
                <a:sym typeface="Wingdings" panose="05000000000000000000" pitchFamily="2" charset="2"/>
              </a:rPr>
              <a:t>：后像在事务提交前完全写入</a:t>
            </a:r>
            <a:r>
              <a:rPr lang="en-US" altLang="x-none" sz="2400" dirty="0">
                <a:solidFill>
                  <a:srgbClr val="FF0000"/>
                </a:solidFill>
                <a:latin typeface="华文中宋" panose="02010600040101010101" charset="-122"/>
                <a:ea typeface="华文中宋" panose="02010600040101010101" charset="-122"/>
                <a:sym typeface="Wingdings" panose="05000000000000000000" pitchFamily="2" charset="2"/>
              </a:rPr>
              <a:t>DB</a:t>
            </a:r>
            <a:endParaRPr lang="en-US" altLang="x-none" sz="2400" dirty="0">
              <a:solidFill>
                <a:srgbClr val="FF0000"/>
              </a:solidFill>
              <a:latin typeface="华文中宋" panose="02010600040101010101" charset="-122"/>
              <a:ea typeface="华文中宋" panose="02010600040101010101" charset="-122"/>
              <a:sym typeface="Wingdings" panose="05000000000000000000" pitchFamily="2" charset="2"/>
            </a:endParaRPr>
          </a:p>
        </p:txBody>
      </p:sp>
      <p:graphicFrame>
        <p:nvGraphicFramePr>
          <p:cNvPr id="81925" name="表格 81924"/>
          <p:cNvGraphicFramePr/>
          <p:nvPr/>
        </p:nvGraphicFramePr>
        <p:xfrm>
          <a:off x="430530" y="2251075"/>
          <a:ext cx="8371840" cy="3864102"/>
        </p:xfrm>
        <a:graphic>
          <a:graphicData uri="http://schemas.openxmlformats.org/drawingml/2006/table">
            <a:tbl>
              <a:tblPr/>
              <a:tblGrid>
                <a:gridCol w="1881505"/>
                <a:gridCol w="6490335"/>
              </a:tblGrid>
              <a:tr h="39306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lnSpc>
                          <a:spcPct val="90000"/>
                        </a:lnSpc>
                        <a:spcBef>
                          <a:spcPct val="0"/>
                        </a:spcBef>
                        <a:buClr>
                          <a:srgbClr val="000000"/>
                        </a:buClr>
                        <a:buFont typeface="Arial" panose="020B0604020202020204" pitchFamily="34" charset="0"/>
                        <a:buNone/>
                      </a:pPr>
                      <a:r>
                        <a:rPr lang="zh-CN" altLang="en-US" sz="2200" b="1">
                          <a:solidFill>
                            <a:srgbClr val="3402C2"/>
                          </a:solidFill>
                          <a:ea typeface="Times New Roman" panose="02020603050405020304" pitchFamily="2" charset="0"/>
                        </a:rPr>
                        <a:t>事务执行状态</a:t>
                      </a:r>
                      <a:endParaRPr lang="zh-CN" altLang="en-US" sz="2200" b="1">
                        <a:solidFill>
                          <a:srgbClr val="3402C2"/>
                        </a:solidFill>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lnSpc>
                          <a:spcPct val="90000"/>
                        </a:lnSpc>
                        <a:spcBef>
                          <a:spcPct val="0"/>
                        </a:spcBef>
                        <a:buClr>
                          <a:srgbClr val="000000"/>
                        </a:buClr>
                        <a:buFont typeface="Arial" panose="020B0604020202020204" pitchFamily="34" charset="0"/>
                        <a:buNone/>
                      </a:pPr>
                      <a:r>
                        <a:rPr lang="en-US" altLang="x-none" sz="2200" b="1" dirty="0">
                          <a:solidFill>
                            <a:srgbClr val="3402C2"/>
                          </a:solidFill>
                          <a:ea typeface="Times New Roman" panose="02020603050405020304" pitchFamily="2" charset="0"/>
                        </a:rPr>
                        <a:t>DBMS</a:t>
                      </a:r>
                      <a:r>
                        <a:rPr lang="zh-CN" altLang="en-US" sz="2200" b="1" dirty="0">
                          <a:solidFill>
                            <a:srgbClr val="3402C2"/>
                          </a:solidFill>
                          <a:ea typeface="Times New Roman" panose="02020603050405020304" pitchFamily="2" charset="0"/>
                        </a:rPr>
                        <a:t>应做的工作</a:t>
                      </a:r>
                      <a:endParaRPr lang="zh-CN" altLang="en-US" sz="2200" b="1" dirty="0">
                        <a:solidFill>
                          <a:srgbClr val="3402C2"/>
                        </a:solidFill>
                        <a:ea typeface="Times New Roman" panose="02020603050405020304" pitchFamily="2" charset="0"/>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3829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lnSpc>
                          <a:spcPct val="90000"/>
                        </a:lnSpc>
                        <a:spcBef>
                          <a:spcPct val="0"/>
                        </a:spcBef>
                        <a:buClr>
                          <a:srgbClr val="000000"/>
                        </a:buClr>
                        <a:buFont typeface="Arial" panose="020B0604020202020204" pitchFamily="34" charset="0"/>
                        <a:buNone/>
                      </a:pPr>
                      <a:r>
                        <a:rPr lang="zh-CN" altLang="en-US" sz="2000" b="0">
                          <a:latin typeface="宋体" panose="02010600030101010101" pitchFamily="2" charset="-122"/>
                        </a:rPr>
                        <a:t>开始状态</a:t>
                      </a:r>
                      <a:endParaRPr lang="zh-CN" altLang="en-US" sz="2000" b="0">
                        <a:latin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lnSpc>
                          <a:spcPct val="90000"/>
                        </a:lnSpc>
                        <a:spcBef>
                          <a:spcPct val="0"/>
                        </a:spcBef>
                        <a:buClr>
                          <a:srgbClr val="000000"/>
                        </a:buClr>
                        <a:buFont typeface="Arial" panose="020B0604020202020204" pitchFamily="34" charset="0"/>
                        <a:buNone/>
                      </a:pPr>
                      <a:r>
                        <a:rPr lang="zh-CN" altLang="en-US" sz="2000" b="0" dirty="0">
                          <a:latin typeface="宋体" panose="02010600030101010101" pitchFamily="2" charset="-122"/>
                        </a:rPr>
                        <a:t>步骤</a:t>
                      </a:r>
                      <a:r>
                        <a:rPr lang="en-US" altLang="x-none" sz="2000" b="0" dirty="0">
                          <a:latin typeface="宋体" panose="02010600030101010101" pitchFamily="2" charset="-122"/>
                        </a:rPr>
                        <a:t>1</a:t>
                      </a:r>
                      <a:r>
                        <a:rPr lang="zh-CN" altLang="en-US" sz="2000" b="0" dirty="0">
                          <a:latin typeface="宋体" panose="02010600030101010101" pitchFamily="2" charset="-122"/>
                        </a:rPr>
                        <a:t>：</a:t>
                      </a:r>
                      <a:r>
                        <a:rPr lang="en-US" altLang="x-none" sz="2000" b="0" dirty="0">
                          <a:latin typeface="宋体" panose="02010600030101010101" pitchFamily="2" charset="-122"/>
                        </a:rPr>
                        <a:t>TID → ATL  /* </a:t>
                      </a:r>
                      <a:r>
                        <a:rPr lang="zh-CN" altLang="en-US" sz="2000" b="0" dirty="0">
                          <a:latin typeface="宋体" panose="02010600030101010101" pitchFamily="2" charset="-122"/>
                        </a:rPr>
                        <a:t>将事务</a:t>
                      </a:r>
                      <a:r>
                        <a:rPr lang="en-US" altLang="x-none" sz="2000" b="0" dirty="0">
                          <a:latin typeface="宋体" panose="02010600030101010101" pitchFamily="2" charset="-122"/>
                        </a:rPr>
                        <a:t>TID</a:t>
                      </a:r>
                      <a:r>
                        <a:rPr lang="zh-CN" altLang="en-US" sz="2000" b="0" dirty="0">
                          <a:latin typeface="宋体" panose="02010600030101010101" pitchFamily="2" charset="-122"/>
                        </a:rPr>
                        <a:t>记入日志的</a:t>
                      </a:r>
                      <a:r>
                        <a:rPr lang="en-US" altLang="x-none" sz="2000" b="0" dirty="0">
                          <a:latin typeface="宋体" panose="02010600030101010101" pitchFamily="2" charset="-122"/>
                        </a:rPr>
                        <a:t>ATL */</a:t>
                      </a:r>
                      <a:endParaRPr lang="en-US" altLang="x-none" sz="2000" b="0" dirty="0">
                        <a:latin typeface="宋体" panose="02010600030101010101" pitchFamily="2" charset="-122"/>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6762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90000"/>
                        </a:lnSpc>
                        <a:spcBef>
                          <a:spcPct val="0"/>
                        </a:spcBef>
                        <a:buClr>
                          <a:srgbClr val="000000"/>
                        </a:buClr>
                        <a:buFont typeface="Arial" panose="020B0604020202020204" pitchFamily="34" charset="0"/>
                        <a:buNone/>
                      </a:pPr>
                      <a:r>
                        <a:rPr lang="zh-CN" altLang="en-US" sz="2000" b="0">
                          <a:latin typeface="宋体" panose="02010600030101010101" pitchFamily="2" charset="-122"/>
                        </a:rPr>
                        <a:t>事务内的操作执行状态</a:t>
                      </a:r>
                      <a:endParaRPr lang="zh-CN" altLang="en-US" sz="2000" b="0">
                        <a:latin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lnSpc>
                          <a:spcPct val="90000"/>
                        </a:lnSpc>
                        <a:spcBef>
                          <a:spcPct val="0"/>
                        </a:spcBef>
                        <a:buClr>
                          <a:srgbClr val="000000"/>
                        </a:buClr>
                        <a:buFont typeface="Arial" panose="020B0604020202020204" pitchFamily="34" charset="0"/>
                        <a:buNone/>
                      </a:pPr>
                      <a:r>
                        <a:rPr lang="zh-CN" altLang="en-US" sz="2000" b="0">
                          <a:latin typeface="宋体" panose="02010600030101010101" pitchFamily="2" charset="-122"/>
                        </a:rPr>
                        <a:t>无</a:t>
                      </a:r>
                      <a:endParaRPr lang="zh-CN" altLang="en-US" sz="2000" b="0">
                        <a:latin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970280">
                <a:tc row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lnSpc>
                          <a:spcPct val="90000"/>
                        </a:lnSpc>
                        <a:spcBef>
                          <a:spcPct val="0"/>
                        </a:spcBef>
                        <a:buClr>
                          <a:srgbClr val="000000"/>
                        </a:buClr>
                        <a:buFont typeface="Arial" panose="020B0604020202020204" pitchFamily="34" charset="0"/>
                        <a:buNone/>
                      </a:pPr>
                      <a:r>
                        <a:rPr lang="zh-CN" altLang="en-US" sz="2000" b="0">
                          <a:latin typeface="宋体" panose="02010600030101010101" pitchFamily="2" charset="-122"/>
                        </a:rPr>
                        <a:t>提交前</a:t>
                      </a:r>
                      <a:endParaRPr lang="zh-CN" altLang="en-US" sz="2000" b="0">
                        <a:latin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2868930" lvl="0" indent="-2868930" eaLnBrk="1" hangingPunct="1">
                        <a:lnSpc>
                          <a:spcPct val="90000"/>
                        </a:lnSpc>
                        <a:spcBef>
                          <a:spcPct val="0"/>
                        </a:spcBef>
                        <a:buClr>
                          <a:srgbClr val="000000"/>
                        </a:buClr>
                        <a:buFont typeface="Arial" panose="020B0604020202020204" pitchFamily="34" charset="0"/>
                        <a:buNone/>
                      </a:pPr>
                      <a:r>
                        <a:rPr lang="zh-CN" altLang="en-US" sz="2000" b="0" dirty="0">
                          <a:latin typeface="宋体" panose="02010600030101010101" pitchFamily="2" charset="-122"/>
                        </a:rPr>
                        <a:t>步骤</a:t>
                      </a:r>
                      <a:r>
                        <a:rPr lang="en-US" altLang="x-none" sz="2000" b="0" dirty="0">
                          <a:latin typeface="宋体" panose="02010600030101010101" pitchFamily="2" charset="-122"/>
                        </a:rPr>
                        <a:t>2</a:t>
                      </a:r>
                      <a:r>
                        <a:rPr lang="zh-CN" altLang="en-US" sz="2000" b="0" dirty="0">
                          <a:latin typeface="宋体" panose="02010600030101010101" pitchFamily="2" charset="-122"/>
                        </a:rPr>
                        <a:t>：</a:t>
                      </a:r>
                      <a:r>
                        <a:rPr lang="en-US" altLang="x-none" sz="2000" b="0" dirty="0">
                          <a:latin typeface="宋体" panose="02010600030101010101" pitchFamily="2" charset="-122"/>
                        </a:rPr>
                        <a:t>BI → Log   </a:t>
                      </a:r>
                      <a:endParaRPr lang="en-US" altLang="x-none" sz="2000" b="0" dirty="0">
                        <a:latin typeface="宋体" panose="02010600030101010101" pitchFamily="2" charset="-122"/>
                      </a:endParaRPr>
                    </a:p>
                    <a:p>
                      <a:pPr marL="2868930" lvl="0" indent="-2868930" eaLnBrk="1" hangingPunct="1">
                        <a:lnSpc>
                          <a:spcPct val="90000"/>
                        </a:lnSpc>
                        <a:spcBef>
                          <a:spcPct val="0"/>
                        </a:spcBef>
                        <a:buClr>
                          <a:srgbClr val="000000"/>
                        </a:buClr>
                        <a:buFont typeface="Arial" panose="020B0604020202020204" pitchFamily="34" charset="0"/>
                        <a:buNone/>
                      </a:pPr>
                      <a:r>
                        <a:rPr lang="en-US" altLang="x-none" sz="2000" b="0" dirty="0">
                          <a:latin typeface="宋体" panose="02010600030101010101" pitchFamily="2" charset="-122"/>
                        </a:rPr>
                        <a:t>/* </a:t>
                      </a:r>
                      <a:r>
                        <a:rPr lang="zh-CN" altLang="en-US" sz="2000" b="0" dirty="0">
                          <a:latin typeface="宋体" panose="02010600030101010101" pitchFamily="2" charset="-122"/>
                        </a:rPr>
                        <a:t>一旦事物中有更新操作，就将</a:t>
                      </a:r>
                      <a:r>
                        <a:rPr lang="en-US" altLang="x-none" sz="2000" b="0" dirty="0">
                          <a:latin typeface="宋体" panose="02010600030101010101" pitchFamily="2" charset="-122"/>
                        </a:rPr>
                        <a:t>BI</a:t>
                      </a:r>
                      <a:r>
                        <a:rPr lang="zh-CN" altLang="en-US" sz="2000" b="0" dirty="0">
                          <a:latin typeface="宋体" panose="02010600030101010101" pitchFamily="2" charset="-122"/>
                        </a:rPr>
                        <a:t>写入日志。先记后写规则的要求 *</a:t>
                      </a:r>
                      <a:r>
                        <a:rPr lang="en-US" altLang="x-none" sz="2000" b="0" dirty="0">
                          <a:latin typeface="宋体" panose="02010600030101010101" pitchFamily="2" charset="-122"/>
                        </a:rPr>
                        <a:t>/</a:t>
                      </a:r>
                      <a:endParaRPr lang="en-US" altLang="x-none" sz="2000" b="0" dirty="0">
                        <a:latin typeface="宋体" panose="02010600030101010101" pitchFamily="2" charset="-122"/>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676275">
                <a:tc vMerge="1">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2695575" lvl="0" indent="-2695575" eaLnBrk="1" hangingPunct="1">
                        <a:lnSpc>
                          <a:spcPct val="90000"/>
                        </a:lnSpc>
                        <a:spcBef>
                          <a:spcPct val="0"/>
                        </a:spcBef>
                        <a:buClr>
                          <a:srgbClr val="000000"/>
                        </a:buClr>
                        <a:buFont typeface="Arial" panose="020B0604020202020204" pitchFamily="34" charset="0"/>
                        <a:buNone/>
                      </a:pPr>
                      <a:r>
                        <a:rPr lang="zh-CN" altLang="en-US" sz="2000" b="0" dirty="0">
                          <a:latin typeface="宋体" panose="02010600030101010101" pitchFamily="2" charset="-122"/>
                        </a:rPr>
                        <a:t>步骤</a:t>
                      </a:r>
                      <a:r>
                        <a:rPr lang="en-US" altLang="x-none" sz="2000" b="0" dirty="0">
                          <a:latin typeface="宋体" panose="02010600030101010101" pitchFamily="2" charset="-122"/>
                        </a:rPr>
                        <a:t>3</a:t>
                      </a:r>
                      <a:r>
                        <a:rPr lang="zh-CN" altLang="en-US" sz="2000" b="0" dirty="0">
                          <a:latin typeface="宋体" panose="02010600030101010101" pitchFamily="2" charset="-122"/>
                        </a:rPr>
                        <a:t>：</a:t>
                      </a:r>
                      <a:r>
                        <a:rPr lang="en-US" altLang="x-none" sz="2000" b="0" dirty="0">
                          <a:latin typeface="宋体" panose="02010600030101010101" pitchFamily="2" charset="-122"/>
                        </a:rPr>
                        <a:t>AI → DB   </a:t>
                      </a:r>
                      <a:endParaRPr lang="en-US" altLang="x-none" sz="2000" b="0" dirty="0">
                        <a:latin typeface="宋体" panose="02010600030101010101" pitchFamily="2" charset="-122"/>
                      </a:endParaRPr>
                    </a:p>
                    <a:p>
                      <a:pPr marL="2695575" lvl="0" indent="-2695575" eaLnBrk="1" hangingPunct="1">
                        <a:lnSpc>
                          <a:spcPct val="90000"/>
                        </a:lnSpc>
                        <a:spcBef>
                          <a:spcPct val="0"/>
                        </a:spcBef>
                        <a:buClr>
                          <a:srgbClr val="000000"/>
                        </a:buClr>
                        <a:buFont typeface="Arial" panose="020B0604020202020204" pitchFamily="34" charset="0"/>
                        <a:buNone/>
                      </a:pPr>
                      <a:r>
                        <a:rPr lang="en-US" altLang="x-none" sz="2000" b="0" dirty="0">
                          <a:latin typeface="宋体" panose="02010600030101010101" pitchFamily="2" charset="-122"/>
                        </a:rPr>
                        <a:t>/* </a:t>
                      </a:r>
                      <a:r>
                        <a:rPr lang="zh-CN" altLang="en-US" sz="2000" b="0" dirty="0">
                          <a:latin typeface="宋体" panose="02010600030101010101" pitchFamily="2" charset="-122"/>
                        </a:rPr>
                        <a:t>将</a:t>
                      </a:r>
                      <a:r>
                        <a:rPr lang="en-US" altLang="x-none" sz="2000" b="0" dirty="0">
                          <a:latin typeface="宋体" panose="02010600030101010101" pitchFamily="2" charset="-122"/>
                        </a:rPr>
                        <a:t>AI</a:t>
                      </a:r>
                      <a:r>
                        <a:rPr lang="zh-CN" altLang="en-US" sz="2000" b="0" dirty="0">
                          <a:latin typeface="宋体" panose="02010600030101010101" pitchFamily="2" charset="-122"/>
                        </a:rPr>
                        <a:t>写入</a:t>
                      </a:r>
                      <a:r>
                        <a:rPr lang="en-US" altLang="x-none" sz="2000" b="0" dirty="0">
                          <a:latin typeface="宋体" panose="02010600030101010101" pitchFamily="2" charset="-122"/>
                        </a:rPr>
                        <a:t>DB</a:t>
                      </a:r>
                      <a:r>
                        <a:rPr lang="zh-CN" altLang="en-US" sz="2000" b="0" dirty="0">
                          <a:latin typeface="宋体" panose="02010600030101010101" pitchFamily="2" charset="-122"/>
                        </a:rPr>
                        <a:t>，提交前后像完全写入</a:t>
                      </a:r>
                      <a:r>
                        <a:rPr lang="en-US" altLang="x-none" sz="2000" b="0" dirty="0">
                          <a:latin typeface="宋体" panose="02010600030101010101" pitchFamily="2" charset="-122"/>
                        </a:rPr>
                        <a:t>DB</a:t>
                      </a:r>
                      <a:r>
                        <a:rPr lang="zh-CN" altLang="en-US" sz="2000" b="0" dirty="0">
                          <a:latin typeface="宋体" panose="02010600030101010101" pitchFamily="2" charset="-122"/>
                        </a:rPr>
                        <a:t>*</a:t>
                      </a:r>
                      <a:r>
                        <a:rPr lang="en-US" altLang="x-none" sz="2000" b="0" dirty="0">
                          <a:latin typeface="宋体" panose="02010600030101010101" pitchFamily="2" charset="-122"/>
                        </a:rPr>
                        <a:t>/</a:t>
                      </a:r>
                      <a:endParaRPr lang="en-US" altLang="x-none" sz="2000" b="0" dirty="0">
                        <a:latin typeface="宋体" panose="02010600030101010101"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3829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lnSpc>
                          <a:spcPct val="90000"/>
                        </a:lnSpc>
                        <a:spcBef>
                          <a:spcPct val="0"/>
                        </a:spcBef>
                        <a:buClr>
                          <a:srgbClr val="000000"/>
                        </a:buClr>
                        <a:buFont typeface="Arial" panose="020B0604020202020204" pitchFamily="34" charset="0"/>
                        <a:buNone/>
                      </a:pPr>
                      <a:r>
                        <a:rPr lang="zh-CN" altLang="en-US" sz="2000" b="0">
                          <a:latin typeface="宋体" panose="02010600030101010101" pitchFamily="2" charset="-122"/>
                        </a:rPr>
                        <a:t>提交状态</a:t>
                      </a:r>
                      <a:endParaRPr lang="zh-CN" altLang="en-US" sz="2000" b="0">
                        <a:latin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lnSpc>
                          <a:spcPct val="90000"/>
                        </a:lnSpc>
                        <a:spcBef>
                          <a:spcPct val="0"/>
                        </a:spcBef>
                        <a:buClr>
                          <a:srgbClr val="000000"/>
                        </a:buClr>
                        <a:buFont typeface="Arial" panose="020B0604020202020204" pitchFamily="34" charset="0"/>
                        <a:buNone/>
                      </a:pPr>
                      <a:r>
                        <a:rPr lang="zh-CN" altLang="en-US" sz="2000" b="0" dirty="0">
                          <a:latin typeface="宋体" panose="02010600030101010101" pitchFamily="2" charset="-122"/>
                        </a:rPr>
                        <a:t>步骤</a:t>
                      </a:r>
                      <a:r>
                        <a:rPr lang="en-US" altLang="x-none" sz="2000" b="0" dirty="0">
                          <a:latin typeface="宋体" panose="02010600030101010101" pitchFamily="2" charset="-122"/>
                        </a:rPr>
                        <a:t>4</a:t>
                      </a:r>
                      <a:r>
                        <a:rPr lang="zh-CN" altLang="en-US" sz="2000" b="0" dirty="0">
                          <a:latin typeface="宋体" panose="02010600030101010101" pitchFamily="2" charset="-122"/>
                        </a:rPr>
                        <a:t>：</a:t>
                      </a:r>
                      <a:r>
                        <a:rPr lang="en-US" altLang="x-none" sz="2000" b="0" dirty="0">
                          <a:latin typeface="宋体" panose="02010600030101010101" pitchFamily="2" charset="-122"/>
                        </a:rPr>
                        <a:t>TID → CTL     /* </a:t>
                      </a:r>
                      <a:r>
                        <a:rPr lang="zh-CN" altLang="en-US" sz="2000" b="0" dirty="0">
                          <a:latin typeface="宋体" panose="02010600030101010101" pitchFamily="2" charset="-122"/>
                        </a:rPr>
                        <a:t>提交更新事务 *</a:t>
                      </a:r>
                      <a:r>
                        <a:rPr lang="en-US" altLang="x-none" sz="2000" b="0" dirty="0">
                          <a:latin typeface="宋体" panose="02010600030101010101" pitchFamily="2" charset="-122"/>
                        </a:rPr>
                        <a:t>/</a:t>
                      </a:r>
                      <a:endParaRPr lang="en-US" altLang="x-none" sz="2000" b="0" dirty="0">
                        <a:latin typeface="宋体" panose="02010600030101010101" pitchFamily="2" charset="-122"/>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r h="38227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lnSpc>
                          <a:spcPct val="90000"/>
                        </a:lnSpc>
                        <a:spcBef>
                          <a:spcPct val="0"/>
                        </a:spcBef>
                        <a:buClr>
                          <a:srgbClr val="000000"/>
                        </a:buClr>
                        <a:buFont typeface="Arial" panose="020B0604020202020204" pitchFamily="34" charset="0"/>
                        <a:buNone/>
                      </a:pPr>
                      <a:r>
                        <a:rPr lang="zh-CN" altLang="en-US" sz="2000" b="0">
                          <a:latin typeface="宋体" panose="02010600030101010101" pitchFamily="2" charset="-122"/>
                        </a:rPr>
                        <a:t>提交后</a:t>
                      </a:r>
                      <a:endParaRPr lang="zh-CN" altLang="en-US" sz="2000" b="0">
                        <a:latin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lnSpc>
                          <a:spcPct val="90000"/>
                        </a:lnSpc>
                        <a:spcBef>
                          <a:spcPct val="0"/>
                        </a:spcBef>
                        <a:buClr>
                          <a:srgbClr val="000000"/>
                        </a:buClr>
                        <a:buFont typeface="Arial" panose="020B0604020202020204" pitchFamily="34" charset="0"/>
                        <a:buNone/>
                      </a:pPr>
                      <a:r>
                        <a:rPr lang="zh-CN" altLang="en-US" sz="2000" b="0" dirty="0">
                          <a:latin typeface="宋体" panose="02010600030101010101" pitchFamily="2" charset="-122"/>
                        </a:rPr>
                        <a:t>步骤</a:t>
                      </a:r>
                      <a:r>
                        <a:rPr lang="en-US" altLang="x-none" sz="2000" b="0" dirty="0">
                          <a:latin typeface="宋体" panose="02010600030101010101" pitchFamily="2" charset="-122"/>
                        </a:rPr>
                        <a:t>5</a:t>
                      </a:r>
                      <a:r>
                        <a:rPr lang="zh-CN" altLang="en-US" sz="2000" b="0" dirty="0">
                          <a:latin typeface="宋体" panose="02010600030101010101" pitchFamily="2" charset="-122"/>
                        </a:rPr>
                        <a:t>：从</a:t>
                      </a:r>
                      <a:r>
                        <a:rPr lang="en-US" altLang="x-none" sz="2000" b="0" dirty="0">
                          <a:latin typeface="宋体" panose="02010600030101010101" pitchFamily="2" charset="-122"/>
                        </a:rPr>
                        <a:t>ATL</a:t>
                      </a:r>
                      <a:r>
                        <a:rPr lang="zh-CN" altLang="en-US" sz="2000" b="0" dirty="0">
                          <a:latin typeface="宋体" panose="02010600030101010101" pitchFamily="2" charset="-122"/>
                        </a:rPr>
                        <a:t>删除</a:t>
                      </a:r>
                      <a:r>
                        <a:rPr lang="en-US" altLang="x-none" sz="2000" b="0" dirty="0">
                          <a:latin typeface="宋体" panose="02010600030101010101" pitchFamily="2" charset="-122"/>
                        </a:rPr>
                        <a:t>TID</a:t>
                      </a:r>
                      <a:endParaRPr lang="en-US" altLang="x-none" sz="2000" b="0" dirty="0">
                        <a:latin typeface="宋体" panose="02010600030101010101" pitchFamily="2" charset="-122"/>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solidFill>
                      <a:schemeClr val="bg1">
                        <a:alpha val="100000"/>
                      </a:schemeClr>
                    </a:solidFill>
                  </a:tcPr>
                </a:tc>
              </a:tr>
            </a:tbl>
          </a:graphicData>
        </a:graphic>
      </p:graphicFrame>
      <p:sp>
        <p:nvSpPr>
          <p:cNvPr id="78879" name="Text Box 3"/>
          <p:cNvSpPr txBox="1"/>
          <p:nvPr/>
        </p:nvSpPr>
        <p:spPr>
          <a:xfrm>
            <a:off x="409575" y="1304353"/>
            <a:ext cx="8497888" cy="514350"/>
          </a:xfrm>
          <a:prstGeom prst="rect">
            <a:avLst/>
          </a:prstGeom>
          <a:noFill/>
          <a:ln w="9525">
            <a:noFill/>
          </a:ln>
        </p:spPr>
        <p:txBody>
          <a:bodyPr anchor="t">
            <a:spAutoFit/>
          </a:bodyPr>
          <a:lstStyle/>
          <a:p>
            <a:pPr lvl="0" algn="l">
              <a:lnSpc>
                <a:spcPct val="110000"/>
              </a:lnSpc>
              <a:spcBef>
                <a:spcPts val="600"/>
              </a:spcBef>
            </a:pPr>
            <a:r>
              <a:rPr lang="en-US" altLang="x-none" sz="2500" dirty="0">
                <a:solidFill>
                  <a:srgbClr val="3402C2"/>
                </a:solidFill>
                <a:latin typeface="黑体" panose="02010609060101010101" pitchFamily="1" charset="-122"/>
                <a:ea typeface="黑体" panose="02010609060101010101" pitchFamily="1" charset="-122"/>
                <a:cs typeface="+mn-ea"/>
                <a:sym typeface="Wingdings" panose="05000000000000000000" pitchFamily="2" charset="2"/>
              </a:rPr>
              <a:t>（2）事务状态及DBMS对应的工作安排</a:t>
            </a:r>
            <a:endParaRPr lang="en-US" altLang="x-none" sz="2500" dirty="0">
              <a:solidFill>
                <a:srgbClr val="3402C2"/>
              </a:solidFill>
              <a:latin typeface="黑体" panose="02010609060101010101" pitchFamily="1" charset="-122"/>
              <a:ea typeface="黑体" panose="02010609060101010101" pitchFamily="1" charset="-122"/>
              <a:cs typeface="+mn-ea"/>
              <a:sym typeface="Wingdings" panose="05000000000000000000" pitchFamily="2" charset="2"/>
            </a:endParaRPr>
          </a:p>
        </p:txBody>
      </p:sp>
      <p:sp>
        <p:nvSpPr>
          <p:cNvPr id="51205" name="Text Box 4"/>
          <p:cNvSpPr txBox="1"/>
          <p:nvPr/>
        </p:nvSpPr>
        <p:spPr>
          <a:xfrm>
            <a:off x="6449438" y="1069163"/>
            <a:ext cx="2550100" cy="674031"/>
          </a:xfrm>
          <a:prstGeom prst="rect">
            <a:avLst/>
          </a:prstGeom>
          <a:solidFill>
            <a:schemeClr val="bg1">
              <a:alpha val="100000"/>
            </a:schemeClr>
          </a:solidFill>
          <a:ln w="9525">
            <a:solidFill>
              <a:srgbClr val="3402C2"/>
            </a:solidFill>
            <a:prstDash val="dash"/>
          </a:ln>
        </p:spPr>
        <p:txBody>
          <a:bodyPr wrap="square" anchor="t">
            <a:spAutoFit/>
          </a:bodyPr>
          <a:lstStyle/>
          <a:p>
            <a:pPr lvl="0">
              <a:lnSpc>
                <a:spcPct val="90000"/>
              </a:lnSpc>
              <a:spcBef>
                <a:spcPts val="50"/>
              </a:spcBef>
              <a:spcAft>
                <a:spcPts val="0"/>
              </a:spcAft>
              <a:buFont typeface="Wingdings" panose="05000000000000000000" pitchFamily="2" charset="2"/>
            </a:pPr>
            <a:r>
              <a:rPr lang="zh-CN" altLang="zh-CN" sz="2100" dirty="0">
                <a:latin typeface="华文楷体" panose="02010600040101010101" pitchFamily="2" charset="-122"/>
                <a:ea typeface="华文楷体" panose="02010600040101010101" pitchFamily="2" charset="-122"/>
              </a:rPr>
              <a:t>按</a:t>
            </a:r>
            <a:r>
              <a:rPr lang="en-US" altLang="zh-CN" sz="2100" dirty="0">
                <a:latin typeface="华文楷体" panose="02010600040101010101" pitchFamily="2" charset="-122"/>
                <a:ea typeface="华文楷体" panose="02010600040101010101" pitchFamily="2" charset="-122"/>
              </a:rPr>
              <a:t>AI</a:t>
            </a:r>
            <a:r>
              <a:rPr lang="zh-CN" altLang="en-US" sz="2100" dirty="0">
                <a:latin typeface="华文楷体" panose="02010600040101010101" pitchFamily="2" charset="-122"/>
                <a:ea typeface="华文楷体" panose="02010600040101010101" pitchFamily="2" charset="-122"/>
              </a:rPr>
              <a:t>写入数据库的时间</a:t>
            </a:r>
            <a:r>
              <a:rPr lang="zh-CN" altLang="en-US" sz="2100" dirty="0" smtClean="0">
                <a:latin typeface="华文楷体" panose="02010600040101010101" pitchFamily="2" charset="-122"/>
                <a:ea typeface="华文楷体" panose="02010600040101010101" pitchFamily="2" charset="-122"/>
              </a:rPr>
              <a:t>不同分</a:t>
            </a:r>
            <a:r>
              <a:rPr lang="en-US" altLang="zh-CN" sz="2100" dirty="0">
                <a:latin typeface="华文楷体" panose="02010600040101010101" pitchFamily="2" charset="-122"/>
                <a:ea typeface="华文楷体" panose="02010600040101010101" pitchFamily="2" charset="-122"/>
              </a:rPr>
              <a:t>3</a:t>
            </a:r>
            <a:r>
              <a:rPr lang="zh-CN" altLang="en-US" sz="2100" dirty="0">
                <a:latin typeface="华文楷体" panose="02010600040101010101" pitchFamily="2" charset="-122"/>
                <a:ea typeface="华文楷体" panose="02010600040101010101" pitchFamily="2" charset="-122"/>
              </a:rPr>
              <a:t>种方案</a:t>
            </a:r>
            <a:endParaRPr lang="zh-CN" altLang="en-US" sz="2100" dirty="0">
              <a:latin typeface="华文楷体" panose="02010600040101010101" pitchFamily="2" charset="-122"/>
              <a:ea typeface="华文楷体" panose="02010600040101010101" pitchFamily="2" charset="-122"/>
            </a:endParaRPr>
          </a:p>
        </p:txBody>
      </p:sp>
      <p:sp>
        <p:nvSpPr>
          <p:cNvPr id="8" name="Rectangle 7"/>
          <p:cNvSpPr/>
          <p:nvPr/>
        </p:nvSpPr>
        <p:spPr>
          <a:xfrm>
            <a:off x="501650" y="7643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3</a:t>
            </a:r>
            <a:r>
              <a:rPr lang="zh-CN" altLang="en-US" sz="2600" dirty="0" smtClean="0">
                <a:solidFill>
                  <a:srgbClr val="FF0000"/>
                </a:solidFill>
                <a:latin typeface="黑体" panose="02010609060101010101" pitchFamily="1" charset="-122"/>
                <a:ea typeface="黑体" panose="02010609060101010101" pitchFamily="1" charset="-122"/>
              </a:rPr>
              <a:t>、以后备副本和日志为基础的恢复技术</a:t>
            </a:r>
            <a:endParaRPr lang="en-US" altLang="x-none" sz="26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79875" name="Text Box 4"/>
          <p:cNvSpPr txBox="1"/>
          <p:nvPr/>
        </p:nvSpPr>
        <p:spPr>
          <a:xfrm>
            <a:off x="422275" y="2247900"/>
            <a:ext cx="8424863" cy="427038"/>
          </a:xfrm>
          <a:prstGeom prst="rect">
            <a:avLst/>
          </a:prstGeom>
          <a:noFill/>
          <a:ln w="9525">
            <a:noFill/>
          </a:ln>
        </p:spPr>
        <p:txBody>
          <a:bodyPr anchor="t">
            <a:spAutoFit/>
          </a:bodyPr>
          <a:lstStyle/>
          <a:p>
            <a:pPr lvl="0" indent="0">
              <a:spcBef>
                <a:spcPct val="50000"/>
              </a:spcBef>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如果事务按以上步骤执行过程中发生故障，可根据下表进行恢复</a:t>
            </a:r>
            <a:r>
              <a:rPr lang="zh-CN" altLang="en-US" sz="2200" dirty="0">
                <a:latin typeface="宋体" panose="02010600030101010101" pitchFamily="2" charset="-122"/>
                <a:ea typeface="华文楷体" panose="02010600040101010101" pitchFamily="2" charset="-122"/>
                <a:sym typeface="Wingdings" panose="05000000000000000000" pitchFamily="2" charset="2"/>
              </a:rPr>
              <a:t>。</a:t>
            </a:r>
            <a:endParaRPr lang="zh-CN" altLang="en-US" sz="2200" dirty="0">
              <a:latin typeface="宋体" panose="02010600030101010101" pitchFamily="2" charset="-122"/>
              <a:ea typeface="华文楷体" panose="02010600040101010101" pitchFamily="2" charset="-122"/>
              <a:sym typeface="Wingdings" panose="05000000000000000000" pitchFamily="2" charset="2"/>
            </a:endParaRPr>
          </a:p>
        </p:txBody>
      </p:sp>
      <p:graphicFrame>
        <p:nvGraphicFramePr>
          <p:cNvPr id="82949" name="表格 82948"/>
          <p:cNvGraphicFramePr/>
          <p:nvPr/>
        </p:nvGraphicFramePr>
        <p:xfrm>
          <a:off x="443230" y="2755900"/>
          <a:ext cx="8356600" cy="3177540"/>
        </p:xfrm>
        <a:graphic>
          <a:graphicData uri="http://schemas.openxmlformats.org/drawingml/2006/table">
            <a:tbl>
              <a:tblPr/>
              <a:tblGrid>
                <a:gridCol w="822325"/>
                <a:gridCol w="1565275"/>
                <a:gridCol w="2070100"/>
                <a:gridCol w="3898900"/>
              </a:tblGrid>
              <a:tr h="4667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ts val="1200"/>
                        </a:spcBef>
                        <a:buClr>
                          <a:srgbClr val="000000"/>
                        </a:buClr>
                        <a:buFont typeface="Arial" panose="020B0604020202020204" pitchFamily="34" charset="0"/>
                        <a:buNone/>
                      </a:pPr>
                      <a:r>
                        <a:rPr lang="en-US" altLang="x-none" sz="2200" b="1" dirty="0">
                          <a:solidFill>
                            <a:srgbClr val="3402C2"/>
                          </a:solidFill>
                        </a:rPr>
                        <a:t>ATL</a:t>
                      </a:r>
                      <a:endParaRPr lang="en-US" altLang="x-none" sz="2200" b="1" dirty="0">
                        <a:solidFill>
                          <a:srgbClr val="3402C2"/>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ts val="1200"/>
                        </a:spcBef>
                        <a:buClr>
                          <a:srgbClr val="000000"/>
                        </a:buClr>
                        <a:buFont typeface="Arial" panose="020B0604020202020204" pitchFamily="34" charset="0"/>
                        <a:buNone/>
                      </a:pPr>
                      <a:r>
                        <a:rPr lang="en-US" altLang="x-none" sz="2200" b="1" dirty="0">
                          <a:solidFill>
                            <a:srgbClr val="3402C2"/>
                          </a:solidFill>
                        </a:rPr>
                        <a:t>CTL</a:t>
                      </a:r>
                      <a:endParaRPr lang="en-US" altLang="x-none" sz="2200" b="1" dirty="0">
                        <a:solidFill>
                          <a:srgbClr val="3402C2"/>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ts val="1200"/>
                        </a:spcBef>
                        <a:buClr>
                          <a:srgbClr val="000000"/>
                        </a:buClr>
                        <a:buFont typeface="Arial" panose="020B0604020202020204" pitchFamily="34" charset="0"/>
                        <a:buNone/>
                      </a:pPr>
                      <a:r>
                        <a:rPr lang="zh-CN" altLang="en-US" sz="2200" b="1">
                          <a:solidFill>
                            <a:srgbClr val="3402C2"/>
                          </a:solidFill>
                        </a:rPr>
                        <a:t>事务所处状态</a:t>
                      </a:r>
                      <a:endParaRPr lang="zh-CN" altLang="en-US" sz="2200" b="1">
                        <a:solidFill>
                          <a:srgbClr val="3402C2"/>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ts val="1200"/>
                        </a:spcBef>
                        <a:buClr>
                          <a:srgbClr val="000000"/>
                        </a:buClr>
                        <a:buFont typeface="Arial" panose="020B0604020202020204" pitchFamily="34" charset="0"/>
                        <a:buNone/>
                      </a:pPr>
                      <a:r>
                        <a:rPr lang="zh-CN" altLang="en-US" sz="2200" b="1">
                          <a:solidFill>
                            <a:srgbClr val="3402C2"/>
                          </a:solidFill>
                        </a:rPr>
                        <a:t>恢复措施</a:t>
                      </a:r>
                      <a:endParaRPr lang="zh-CN" altLang="en-US" sz="2200" b="1">
                        <a:solidFill>
                          <a:srgbClr val="3402C2"/>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r>
              <a:tr h="172466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有</a:t>
                      </a:r>
                      <a:r>
                        <a:rPr lang="en-US" altLang="x-none" sz="2000" b="0" dirty="0"/>
                        <a:t>TID</a:t>
                      </a:r>
                      <a:endParaRPr lang="en-US" altLang="x-none" sz="20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无</a:t>
                      </a:r>
                      <a:r>
                        <a:rPr lang="en-US" altLang="x-none" sz="2000" b="0" dirty="0"/>
                        <a:t>TID</a:t>
                      </a:r>
                      <a:endParaRPr lang="en-US" altLang="x-none" sz="2000" b="0" dirty="0"/>
                    </a:p>
                    <a:p>
                      <a:pPr marL="0" lvl="0" indent="0" algn="ctr" eaLnBrk="1" hangingPunct="1">
                        <a:spcBef>
                          <a:spcPct val="20000"/>
                        </a:spcBef>
                        <a:buClr>
                          <a:srgbClr val="000000"/>
                        </a:buClr>
                        <a:buFont typeface="Arial" panose="020B0604020202020204" pitchFamily="34" charset="0"/>
                        <a:buNone/>
                      </a:pPr>
                      <a:r>
                        <a:rPr lang="en-US" altLang="x-none" sz="2000" b="0" dirty="0"/>
                        <a:t>(</a:t>
                      </a:r>
                      <a:r>
                        <a:rPr lang="zh-CN" altLang="en-US" sz="2000" b="0" dirty="0"/>
                        <a:t>未提交</a:t>
                      </a:r>
                      <a:r>
                        <a:rPr lang="en-US" altLang="x-none" sz="2000" b="0" dirty="0"/>
                        <a:t>)</a:t>
                      </a:r>
                      <a:endParaRPr lang="en-US" altLang="x-none" sz="20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b="0" dirty="0"/>
                        <a:t>步骤</a:t>
                      </a:r>
                      <a:r>
                        <a:rPr lang="en-US" altLang="x-none" sz="2000" b="0" dirty="0"/>
                        <a:t>1</a:t>
                      </a:r>
                      <a:r>
                        <a:rPr lang="zh-CN" altLang="en-US" sz="2000" b="0" dirty="0"/>
                        <a:t>已完成，但步骤</a:t>
                      </a:r>
                      <a:r>
                        <a:rPr lang="en-US" altLang="x-none" sz="2000" b="0" dirty="0"/>
                        <a:t>4</a:t>
                      </a:r>
                      <a:r>
                        <a:rPr lang="zh-CN" altLang="en-US" sz="2000" b="0" dirty="0"/>
                        <a:t>尚未完成</a:t>
                      </a:r>
                      <a:endParaRPr lang="zh-CN" altLang="en-US" sz="20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000" b="0" dirty="0"/>
                        <a:t>① </a:t>
                      </a:r>
                      <a:r>
                        <a:rPr lang="zh-CN" altLang="en-US" sz="2000" b="0" dirty="0"/>
                        <a:t>若</a:t>
                      </a:r>
                      <a:r>
                        <a:rPr lang="en-US" altLang="x-none" sz="2000" b="0" dirty="0"/>
                        <a:t>BI</a:t>
                      </a:r>
                      <a:r>
                        <a:rPr lang="zh-CN" altLang="en-US" sz="2000" b="0" dirty="0"/>
                        <a:t>已</a:t>
                      </a:r>
                      <a:r>
                        <a:rPr lang="zh-CN" altLang="en-US" sz="2000" b="0" dirty="0">
                          <a:sym typeface="Wingdings" panose="05000000000000000000" pitchFamily="2" charset="2"/>
                        </a:rPr>
                        <a:t></a:t>
                      </a:r>
                      <a:r>
                        <a:rPr lang="en-US" altLang="x-none" sz="2000" b="0" dirty="0">
                          <a:sym typeface="Wingdings" panose="05000000000000000000" pitchFamily="2" charset="2"/>
                        </a:rPr>
                        <a:t>Log,</a:t>
                      </a:r>
                      <a:r>
                        <a:rPr lang="zh-CN" altLang="en-US" sz="2000" b="0" dirty="0">
                          <a:sym typeface="Wingdings" panose="05000000000000000000" pitchFamily="2" charset="2"/>
                        </a:rPr>
                        <a:t>则</a:t>
                      </a:r>
                      <a:r>
                        <a:rPr lang="en-US" altLang="x-none" sz="2000" b="0" dirty="0">
                          <a:sym typeface="Wingdings" panose="05000000000000000000" pitchFamily="2" charset="2"/>
                        </a:rPr>
                        <a:t>undo</a:t>
                      </a:r>
                      <a:r>
                        <a:rPr lang="zh-CN" altLang="en-US" sz="2000" b="0" dirty="0">
                          <a:sym typeface="Wingdings" panose="05000000000000000000" pitchFamily="2" charset="2"/>
                        </a:rPr>
                        <a:t>；否则勿需</a:t>
                      </a:r>
                      <a:r>
                        <a:rPr lang="en-US" altLang="x-none" sz="2000" b="0" dirty="0">
                          <a:sym typeface="Wingdings" panose="05000000000000000000" pitchFamily="2" charset="2"/>
                        </a:rPr>
                        <a:t>undo</a:t>
                      </a:r>
                      <a:r>
                        <a:rPr lang="zh-CN" altLang="en-US" sz="2000" b="0" dirty="0">
                          <a:sym typeface="Wingdings" panose="05000000000000000000" pitchFamily="2" charset="2"/>
                        </a:rPr>
                        <a:t>，因为此时对</a:t>
                      </a:r>
                      <a:r>
                        <a:rPr lang="en-US" altLang="x-none" sz="2000" b="0" dirty="0">
                          <a:sym typeface="Wingdings" panose="05000000000000000000" pitchFamily="2" charset="2"/>
                        </a:rPr>
                        <a:t>DB</a:t>
                      </a:r>
                      <a:r>
                        <a:rPr lang="zh-CN" altLang="en-US" sz="2000" b="0" dirty="0">
                          <a:sym typeface="Wingdings" panose="05000000000000000000" pitchFamily="2" charset="2"/>
                        </a:rPr>
                        <a:t>数据还未更新；</a:t>
                      </a:r>
                      <a:r>
                        <a:rPr lang="zh-CN" altLang="en-US" sz="2000" b="0" dirty="0"/>
                        <a:t>从</a:t>
                      </a:r>
                      <a:r>
                        <a:rPr lang="en-US" altLang="x-none" sz="2000" b="0" dirty="0"/>
                        <a:t>ALT</a:t>
                      </a:r>
                      <a:r>
                        <a:rPr lang="zh-CN" altLang="en-US" sz="2000" b="0" dirty="0"/>
                        <a:t>删除</a:t>
                      </a:r>
                      <a:r>
                        <a:rPr lang="en-US" altLang="x-none" sz="2000" b="0" dirty="0"/>
                        <a:t>TID</a:t>
                      </a:r>
                      <a:r>
                        <a:rPr lang="zh-CN" altLang="en-US" sz="2000" b="0" dirty="0"/>
                        <a:t>。</a:t>
                      </a:r>
                      <a:endParaRPr lang="zh-CN" altLang="en-US" sz="2000" b="0" dirty="0"/>
                    </a:p>
                    <a:p>
                      <a:pPr marL="0" lvl="0" indent="0" eaLnBrk="1" hangingPunct="1">
                        <a:spcBef>
                          <a:spcPct val="20000"/>
                        </a:spcBef>
                        <a:buClr>
                          <a:srgbClr val="000000"/>
                        </a:buClr>
                        <a:buFont typeface="Arial" panose="020B0604020202020204" pitchFamily="34" charset="0"/>
                        <a:buNone/>
                      </a:pPr>
                      <a:r>
                        <a:rPr lang="zh-CN" altLang="en-US" sz="2000" b="0" dirty="0"/>
                        <a:t>②若</a:t>
                      </a:r>
                      <a:r>
                        <a:rPr lang="en-US" altLang="x-none" sz="2000" b="0" dirty="0"/>
                        <a:t>AI</a:t>
                      </a:r>
                      <a:r>
                        <a:rPr lang="en-US" altLang="x-none" sz="2000" b="0" dirty="0">
                          <a:sym typeface="Wingdings" panose="05000000000000000000" pitchFamily="2" charset="2"/>
                        </a:rPr>
                        <a:t>DB</a:t>
                      </a:r>
                      <a:r>
                        <a:rPr lang="zh-CN" altLang="en-US" sz="2000" b="0" dirty="0">
                          <a:sym typeface="Wingdings" panose="05000000000000000000" pitchFamily="2" charset="2"/>
                        </a:rPr>
                        <a:t>，无须</a:t>
                      </a:r>
                      <a:r>
                        <a:rPr lang="en-US" altLang="x-none" sz="2000" b="0" dirty="0">
                          <a:sym typeface="Wingdings" panose="05000000000000000000" pitchFamily="2" charset="2"/>
                        </a:rPr>
                        <a:t>redo,</a:t>
                      </a:r>
                      <a:r>
                        <a:rPr lang="zh-CN" altLang="en-US" sz="2000" b="0" dirty="0">
                          <a:sym typeface="Wingdings" panose="05000000000000000000" pitchFamily="2" charset="2"/>
                        </a:rPr>
                        <a:t>直接提交</a:t>
                      </a:r>
                      <a:r>
                        <a:rPr lang="en-US" altLang="x-none" sz="2000" b="0" dirty="0">
                          <a:sym typeface="Wingdings" panose="05000000000000000000" pitchFamily="2" charset="2"/>
                        </a:rPr>
                        <a:t>, </a:t>
                      </a:r>
                      <a:r>
                        <a:rPr lang="en-US" altLang="x-none" sz="2000" b="0" dirty="0"/>
                        <a:t>TID </a:t>
                      </a:r>
                      <a:r>
                        <a:rPr lang="en-US" altLang="x-none" sz="2000" b="0" dirty="0">
                          <a:sym typeface="Wingdings" panose="05000000000000000000" pitchFamily="2" charset="2"/>
                        </a:rPr>
                        <a:t></a:t>
                      </a:r>
                      <a:r>
                        <a:rPr lang="en-US" altLang="x-none" sz="2000" b="0" dirty="0"/>
                        <a:t> CLT;</a:t>
                      </a:r>
                      <a:r>
                        <a:rPr lang="zh-CN" altLang="en-US" sz="2000" b="0" dirty="0"/>
                        <a:t>从</a:t>
                      </a:r>
                      <a:r>
                        <a:rPr lang="en-US" altLang="x-none" sz="2000" b="0" dirty="0"/>
                        <a:t>ALT</a:t>
                      </a:r>
                      <a:r>
                        <a:rPr lang="zh-CN" altLang="en-US" sz="2000" b="0" dirty="0"/>
                        <a:t>删除</a:t>
                      </a:r>
                      <a:r>
                        <a:rPr lang="en-US" altLang="x-none" sz="2000" b="0" dirty="0"/>
                        <a:t>TID</a:t>
                      </a:r>
                      <a:r>
                        <a:rPr lang="zh-CN" altLang="en-US" sz="2000" b="0" dirty="0"/>
                        <a:t>。</a:t>
                      </a:r>
                      <a:endParaRPr lang="zh-CN" altLang="en-US" sz="2400"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r>
              <a:tr h="49466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有</a:t>
                      </a:r>
                      <a:endParaRPr lang="zh-CN" altLang="en-US" sz="2000" b="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000" b="0" dirty="0"/>
                        <a:t>有</a:t>
                      </a:r>
                      <a:r>
                        <a:rPr lang="en-US" altLang="x-none" sz="2000" b="0" dirty="0"/>
                        <a:t>(</a:t>
                      </a:r>
                      <a:r>
                        <a:rPr lang="zh-CN" altLang="en-US" sz="2000" b="0" dirty="0"/>
                        <a:t>已提交</a:t>
                      </a:r>
                      <a:r>
                        <a:rPr lang="en-US" altLang="x-none" sz="2000" b="0" dirty="0"/>
                        <a:t>)</a:t>
                      </a:r>
                      <a:endParaRPr lang="en-US" altLang="x-none" sz="20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b="0" dirty="0"/>
                        <a:t>步骤</a:t>
                      </a:r>
                      <a:r>
                        <a:rPr lang="en-US" altLang="x-none" sz="2000" b="0" dirty="0"/>
                        <a:t>4</a:t>
                      </a:r>
                      <a:r>
                        <a:rPr lang="zh-CN" altLang="en-US" sz="2000" b="0" dirty="0"/>
                        <a:t>已完成</a:t>
                      </a:r>
                      <a:endParaRPr lang="zh-CN" altLang="en-US" sz="20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b="0" dirty="0"/>
                        <a:t>从</a:t>
                      </a:r>
                      <a:r>
                        <a:rPr lang="en-US" altLang="x-none" sz="2000" b="0" dirty="0"/>
                        <a:t>ALT</a:t>
                      </a:r>
                      <a:r>
                        <a:rPr lang="zh-CN" altLang="en-US" sz="2000" b="0" dirty="0"/>
                        <a:t>删除</a:t>
                      </a:r>
                      <a:r>
                        <a:rPr lang="en-US" altLang="x-none" sz="2000" b="0" dirty="0"/>
                        <a:t>TID</a:t>
                      </a:r>
                      <a:endParaRPr lang="en-US" altLang="x-none" sz="2000"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DFEEC">
                        <a:alpha val="100000"/>
                      </a:srgbClr>
                    </a:solidFill>
                  </a:tcPr>
                </a:tc>
              </a:tr>
              <a:tr h="49149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无</a:t>
                      </a:r>
                      <a:endParaRPr lang="zh-CN" altLang="en-US" sz="2000" b="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000" b="0" dirty="0"/>
                        <a:t>有</a:t>
                      </a:r>
                      <a:r>
                        <a:rPr lang="en-US" altLang="x-none" sz="2000" b="0" dirty="0"/>
                        <a:t>(</a:t>
                      </a:r>
                      <a:r>
                        <a:rPr lang="zh-CN" altLang="en-US" sz="2000" b="0" dirty="0"/>
                        <a:t>已提交</a:t>
                      </a:r>
                      <a:r>
                        <a:rPr lang="en-US" altLang="x-none" sz="2000" b="0" dirty="0"/>
                        <a:t>)</a:t>
                      </a:r>
                      <a:endParaRPr lang="en-US" altLang="x-none" sz="20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b="0" dirty="0"/>
                        <a:t>步骤</a:t>
                      </a:r>
                      <a:r>
                        <a:rPr lang="en-US" altLang="x-none" sz="2000" b="0" dirty="0"/>
                        <a:t>5</a:t>
                      </a:r>
                      <a:r>
                        <a:rPr lang="zh-CN" altLang="en-US" sz="2000" b="0" dirty="0"/>
                        <a:t>已完成</a:t>
                      </a:r>
                      <a:endParaRPr lang="zh-CN" altLang="en-US" sz="20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DFEE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b="0">
                          <a:sym typeface="Wingdings" panose="05000000000000000000" pitchFamily="2" charset="2"/>
                        </a:rPr>
                        <a:t>勿需处理</a:t>
                      </a:r>
                      <a:endParaRPr lang="zh-CN" altLang="en-US" sz="2000" b="0">
                        <a:sym typeface="Wingdings" panose="05000000000000000000" pitchFamily="2" charset="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DFEEC">
                        <a:alpha val="100000"/>
                      </a:srgbClr>
                    </a:solidFill>
                  </a:tcPr>
                </a:tc>
              </a:tr>
            </a:tbl>
          </a:graphicData>
        </a:graphic>
      </p:graphicFrame>
      <p:sp>
        <p:nvSpPr>
          <p:cNvPr id="79904" name="Text Box 3"/>
          <p:cNvSpPr txBox="1"/>
          <p:nvPr/>
        </p:nvSpPr>
        <p:spPr>
          <a:xfrm>
            <a:off x="1965008" y="1795463"/>
            <a:ext cx="5641975" cy="460375"/>
          </a:xfrm>
          <a:prstGeom prst="rect">
            <a:avLst/>
          </a:prstGeom>
          <a:noFill/>
          <a:ln w="9525">
            <a:noFill/>
          </a:ln>
        </p:spPr>
        <p:txBody>
          <a:bodyPr anchor="t">
            <a:spAutoFit/>
          </a:bodyPr>
          <a:lstStyle/>
          <a:p>
            <a:pPr lvl="0" indent="0">
              <a:spcBef>
                <a:spcPct val="50000"/>
              </a:spcBef>
            </a:pPr>
            <a:r>
              <a:rPr lang="zh-CN" altLang="en-US" sz="2400" dirty="0">
                <a:solidFill>
                  <a:srgbClr val="FF0000"/>
                </a:solidFill>
                <a:latin typeface="华文中宋" panose="02010600040101010101" charset="-122"/>
                <a:ea typeface="华文中宋" panose="02010600040101010101" charset="-122"/>
                <a:sym typeface="Wingdings" panose="05000000000000000000" pitchFamily="2" charset="2"/>
              </a:rPr>
              <a:t>方案</a:t>
            </a:r>
            <a:r>
              <a:rPr lang="en-US" altLang="zh-CN" sz="2400" dirty="0">
                <a:solidFill>
                  <a:srgbClr val="FF0000"/>
                </a:solidFill>
                <a:latin typeface="华文中宋" panose="02010600040101010101" charset="-122"/>
                <a:ea typeface="华文中宋" panose="02010600040101010101" charset="-122"/>
                <a:sym typeface="Wingdings" panose="05000000000000000000" pitchFamily="2" charset="2"/>
              </a:rPr>
              <a:t>1</a:t>
            </a:r>
            <a:r>
              <a:rPr lang="zh-CN" altLang="en-US" sz="2400" dirty="0">
                <a:solidFill>
                  <a:srgbClr val="FF0000"/>
                </a:solidFill>
                <a:latin typeface="华文中宋" panose="02010600040101010101" charset="-122"/>
                <a:ea typeface="华文中宋" panose="02010600040101010101" charset="-122"/>
                <a:cs typeface="+mn-ea"/>
                <a:sym typeface="Wingdings" panose="05000000000000000000" pitchFamily="2" charset="2"/>
              </a:rPr>
              <a:t>中发生故障时的事务恢复措施</a:t>
            </a:r>
            <a:endParaRPr lang="zh-CN" altLang="en-US" sz="2400" dirty="0">
              <a:solidFill>
                <a:srgbClr val="FF0000"/>
              </a:solidFill>
              <a:latin typeface="华文中宋" panose="02010600040101010101" charset="-122"/>
              <a:ea typeface="华文中宋" panose="02010600040101010101" charset="-122"/>
              <a:cs typeface="+mn-ea"/>
              <a:sym typeface="Wingdings" panose="05000000000000000000" pitchFamily="2" charset="2"/>
            </a:endParaRPr>
          </a:p>
        </p:txBody>
      </p:sp>
      <p:sp>
        <p:nvSpPr>
          <p:cNvPr id="78879" name="Text Box 3"/>
          <p:cNvSpPr txBox="1"/>
          <p:nvPr/>
        </p:nvSpPr>
        <p:spPr>
          <a:xfrm>
            <a:off x="396875" y="1291970"/>
            <a:ext cx="8250555" cy="514350"/>
          </a:xfrm>
          <a:prstGeom prst="rect">
            <a:avLst/>
          </a:prstGeom>
          <a:noFill/>
          <a:ln w="9525">
            <a:noFill/>
          </a:ln>
        </p:spPr>
        <p:txBody>
          <a:bodyPr wrap="square" anchor="t">
            <a:spAutoFit/>
          </a:bodyPr>
          <a:lstStyle/>
          <a:p>
            <a:pPr lvl="0" algn="l">
              <a:lnSpc>
                <a:spcPct val="110000"/>
              </a:lnSpc>
              <a:spcBef>
                <a:spcPts val="600"/>
              </a:spcBef>
            </a:pPr>
            <a:r>
              <a:rPr lang="en-US" altLang="x-none" sz="2500" dirty="0">
                <a:solidFill>
                  <a:srgbClr val="3402C2"/>
                </a:solidFill>
                <a:latin typeface="黑体" panose="02010609060101010101" pitchFamily="1" charset="-122"/>
                <a:ea typeface="黑体" panose="02010609060101010101" pitchFamily="1" charset="-122"/>
                <a:cs typeface="+mn-ea"/>
                <a:sym typeface="Wingdings" panose="05000000000000000000" pitchFamily="2" charset="2"/>
              </a:rPr>
              <a:t>（2）事务状态及DBMS对应的工作安排</a:t>
            </a:r>
            <a:endParaRPr lang="en-US" altLang="x-none" sz="2500" dirty="0">
              <a:solidFill>
                <a:srgbClr val="3402C2"/>
              </a:solidFill>
              <a:latin typeface="黑体" panose="02010609060101010101" pitchFamily="1" charset="-122"/>
              <a:ea typeface="黑体" panose="02010609060101010101" pitchFamily="1" charset="-122"/>
              <a:cs typeface="+mn-ea"/>
              <a:sym typeface="Wingdings" panose="05000000000000000000" pitchFamily="2" charset="2"/>
            </a:endParaRPr>
          </a:p>
        </p:txBody>
      </p:sp>
      <p:sp>
        <p:nvSpPr>
          <p:cNvPr id="8" name="Rectangle 7"/>
          <p:cNvSpPr/>
          <p:nvPr/>
        </p:nvSpPr>
        <p:spPr>
          <a:xfrm>
            <a:off x="501650" y="7643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3</a:t>
            </a:r>
            <a:r>
              <a:rPr lang="zh-CN" altLang="en-US" sz="2600" dirty="0" smtClean="0">
                <a:solidFill>
                  <a:srgbClr val="FF0000"/>
                </a:solidFill>
                <a:latin typeface="黑体" panose="02010609060101010101" pitchFamily="1" charset="-122"/>
                <a:ea typeface="黑体" panose="02010609060101010101" pitchFamily="1" charset="-122"/>
              </a:rPr>
              <a:t>、以后备副本和日志为基础的恢复技术</a:t>
            </a:r>
            <a:endParaRPr lang="en-US" altLang="x-none" sz="26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0899" name="Rectangle 4"/>
          <p:cNvSpPr txBox="1"/>
          <p:nvPr/>
        </p:nvSpPr>
        <p:spPr>
          <a:xfrm>
            <a:off x="551815" y="1757363"/>
            <a:ext cx="8137525" cy="757237"/>
          </a:xfrm>
          <a:prstGeom prst="rect">
            <a:avLst/>
          </a:prstGeom>
          <a:noFill/>
          <a:ln w="9525">
            <a:noFill/>
          </a:ln>
        </p:spPr>
        <p:txBody>
          <a:bodyPr anchor="t"/>
          <a:lstStyle/>
          <a:p>
            <a:pPr marL="342900" lvl="0" indent="-342900" algn="ctr" eaLnBrk="0" hangingPunct="0">
              <a:spcBef>
                <a:spcPct val="50000"/>
              </a:spcBef>
              <a:buClr>
                <a:srgbClr val="0033CC"/>
              </a:buClr>
              <a:buSzPct val="80000"/>
            </a:pPr>
            <a:r>
              <a:rPr lang="zh-CN" altLang="en-US" sz="2400" dirty="0">
                <a:solidFill>
                  <a:srgbClr val="FF0000"/>
                </a:solidFill>
                <a:latin typeface="华文中宋" panose="02010600040101010101" charset="-122"/>
                <a:ea typeface="华文中宋" panose="02010600040101010101" charset="-122"/>
                <a:sym typeface="Wingdings" panose="05000000000000000000" pitchFamily="2" charset="2"/>
              </a:rPr>
              <a:t>方案</a:t>
            </a:r>
            <a:r>
              <a:rPr lang="en-US" altLang="x-none" sz="2400" dirty="0">
                <a:solidFill>
                  <a:srgbClr val="FF0000"/>
                </a:solidFill>
                <a:latin typeface="华文中宋" panose="02010600040101010101" charset="-122"/>
                <a:ea typeface="华文中宋" panose="02010600040101010101" charset="-122"/>
                <a:sym typeface="Wingdings" panose="05000000000000000000" pitchFamily="2" charset="2"/>
              </a:rPr>
              <a:t>2</a:t>
            </a:r>
            <a:r>
              <a:rPr lang="zh-CN" altLang="en-US" sz="2400" dirty="0">
                <a:solidFill>
                  <a:srgbClr val="FF0000"/>
                </a:solidFill>
                <a:latin typeface="华文中宋" panose="02010600040101010101" charset="-122"/>
                <a:ea typeface="华文中宋" panose="02010600040101010101" charset="-122"/>
                <a:sym typeface="Wingdings" panose="05000000000000000000" pitchFamily="2" charset="2"/>
              </a:rPr>
              <a:t>：后像在事务提交后才写入</a:t>
            </a:r>
            <a:r>
              <a:rPr lang="en-US" altLang="x-none" sz="2400" dirty="0">
                <a:solidFill>
                  <a:srgbClr val="FF0000"/>
                </a:solidFill>
                <a:latin typeface="华文中宋" panose="02010600040101010101" charset="-122"/>
                <a:ea typeface="华文中宋" panose="02010600040101010101" charset="-122"/>
                <a:sym typeface="Wingdings" panose="05000000000000000000" pitchFamily="2" charset="2"/>
              </a:rPr>
              <a:t>DB</a:t>
            </a:r>
            <a:endParaRPr lang="en-US" altLang="x-none" sz="2400" dirty="0">
              <a:solidFill>
                <a:srgbClr val="FF0000"/>
              </a:solidFill>
              <a:latin typeface="华文中宋" panose="02010600040101010101" charset="-122"/>
              <a:ea typeface="华文中宋" panose="02010600040101010101" charset="-122"/>
              <a:sym typeface="Wingdings" panose="05000000000000000000" pitchFamily="2" charset="2"/>
            </a:endParaRPr>
          </a:p>
        </p:txBody>
      </p:sp>
      <p:graphicFrame>
        <p:nvGraphicFramePr>
          <p:cNvPr id="83973" name="表格 83972"/>
          <p:cNvGraphicFramePr/>
          <p:nvPr/>
        </p:nvGraphicFramePr>
        <p:xfrm>
          <a:off x="533400" y="2341880"/>
          <a:ext cx="8318500" cy="3665220"/>
        </p:xfrm>
        <a:graphic>
          <a:graphicData uri="http://schemas.openxmlformats.org/drawingml/2006/table">
            <a:tbl>
              <a:tblPr/>
              <a:tblGrid>
                <a:gridCol w="1881505"/>
                <a:gridCol w="6436995"/>
              </a:tblGrid>
              <a:tr h="46101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200" b="1">
                          <a:solidFill>
                            <a:srgbClr val="3402C2"/>
                          </a:solidFill>
                          <a:ea typeface="Times New Roman" panose="02020603050405020304" pitchFamily="2" charset="0"/>
                        </a:rPr>
                        <a:t>事务执行状态</a:t>
                      </a:r>
                      <a:endParaRPr lang="zh-CN" altLang="en-US" sz="2200" b="1">
                        <a:solidFill>
                          <a:srgbClr val="3402C2"/>
                        </a:solidFill>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2200" b="1" dirty="0">
                          <a:solidFill>
                            <a:srgbClr val="3402C2"/>
                          </a:solidFill>
                          <a:ea typeface="Times New Roman" panose="02020603050405020304" pitchFamily="2" charset="0"/>
                        </a:rPr>
                        <a:t>DBMS</a:t>
                      </a:r>
                      <a:r>
                        <a:rPr lang="zh-CN" altLang="en-US" sz="2200" b="1" dirty="0">
                          <a:solidFill>
                            <a:srgbClr val="3402C2"/>
                          </a:solidFill>
                          <a:ea typeface="Times New Roman" panose="02020603050405020304" pitchFamily="2" charset="0"/>
                        </a:rPr>
                        <a:t>应做的工作</a:t>
                      </a:r>
                      <a:endParaRPr lang="zh-CN" altLang="en-US" sz="2200" b="1" dirty="0">
                        <a:solidFill>
                          <a:srgbClr val="3402C2"/>
                        </a:solidFill>
                        <a:ea typeface="Times New Roman" panose="02020603050405020304" pitchFamily="2" charset="0"/>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8961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90000"/>
                        </a:lnSpc>
                        <a:spcBef>
                          <a:spcPct val="0"/>
                        </a:spcBef>
                        <a:buClr>
                          <a:srgbClr val="000000"/>
                        </a:buClr>
                        <a:buFont typeface="Arial" panose="020B0604020202020204" pitchFamily="34" charset="0"/>
                        <a:buNone/>
                      </a:pPr>
                      <a:r>
                        <a:rPr lang="zh-CN" altLang="en-US" sz="2000" b="0">
                          <a:latin typeface="宋体" panose="02010600030101010101" pitchFamily="2" charset="-122"/>
                        </a:rPr>
                        <a:t>开始状态</a:t>
                      </a:r>
                      <a:endParaRPr lang="zh-CN" altLang="en-US" sz="2000" b="0">
                        <a:latin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136900" lvl="0" indent="-3136900" eaLnBrk="1" hangingPunct="1">
                        <a:lnSpc>
                          <a:spcPct val="90000"/>
                        </a:lnSpc>
                        <a:spcBef>
                          <a:spcPct val="0"/>
                        </a:spcBef>
                        <a:buClr>
                          <a:srgbClr val="000000"/>
                        </a:buClr>
                        <a:buFont typeface="Arial" panose="020B0604020202020204" pitchFamily="34" charset="0"/>
                        <a:buNone/>
                      </a:pPr>
                      <a:r>
                        <a:rPr lang="zh-CN" altLang="en-US" sz="2000" b="0" dirty="0">
                          <a:latin typeface="宋体" panose="02010600030101010101" pitchFamily="2" charset="-122"/>
                        </a:rPr>
                        <a:t>步骤</a:t>
                      </a:r>
                      <a:r>
                        <a:rPr lang="en-US" altLang="x-none" sz="2000" b="0" dirty="0">
                          <a:latin typeface="宋体" panose="02010600030101010101" pitchFamily="2" charset="-122"/>
                        </a:rPr>
                        <a:t>1</a:t>
                      </a:r>
                      <a:r>
                        <a:rPr lang="zh-CN" altLang="en-US" sz="2000" b="0" dirty="0">
                          <a:latin typeface="宋体" panose="02010600030101010101" pitchFamily="2" charset="-122"/>
                        </a:rPr>
                        <a:t>：</a:t>
                      </a:r>
                      <a:r>
                        <a:rPr lang="en-US" altLang="x-none" sz="2000" b="0" dirty="0">
                          <a:latin typeface="宋体" panose="02010600030101010101" pitchFamily="2" charset="-122"/>
                        </a:rPr>
                        <a:t>TID → ATL /* </a:t>
                      </a:r>
                      <a:r>
                        <a:rPr lang="zh-CN" altLang="en-US" sz="2000" b="0" dirty="0">
                          <a:latin typeface="宋体" panose="02010600030101010101" pitchFamily="2" charset="-122"/>
                        </a:rPr>
                        <a:t>将事务的</a:t>
                      </a:r>
                      <a:r>
                        <a:rPr lang="en-US" altLang="x-none" sz="2000" b="0" dirty="0">
                          <a:latin typeface="宋体" panose="02010600030101010101" pitchFamily="2" charset="-122"/>
                        </a:rPr>
                        <a:t>TID</a:t>
                      </a:r>
                      <a:r>
                        <a:rPr lang="zh-CN" altLang="en-US" sz="2000" b="0" dirty="0">
                          <a:latin typeface="宋体" panose="02010600030101010101" pitchFamily="2" charset="-122"/>
                        </a:rPr>
                        <a:t>记入日志的</a:t>
                      </a:r>
                      <a:r>
                        <a:rPr lang="en-US" altLang="x-none" sz="2000" b="0" dirty="0">
                          <a:latin typeface="宋体" panose="02010600030101010101" pitchFamily="2" charset="-122"/>
                        </a:rPr>
                        <a:t>ATL */</a:t>
                      </a:r>
                      <a:endParaRPr lang="en-US" altLang="x-none" sz="2000" b="0" dirty="0">
                        <a:latin typeface="宋体" panose="02010600030101010101" pitchFamily="2" charset="-122"/>
                      </a:endParaRPr>
                    </a:p>
                  </a:txBody>
                  <a:tcPr marL="36000" marR="36000">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3152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90000"/>
                        </a:lnSpc>
                        <a:spcBef>
                          <a:spcPct val="0"/>
                        </a:spcBef>
                        <a:buClr>
                          <a:srgbClr val="000000"/>
                        </a:buClr>
                        <a:buFont typeface="Arial" panose="020B0604020202020204" pitchFamily="34" charset="0"/>
                        <a:buNone/>
                      </a:pPr>
                      <a:r>
                        <a:rPr lang="zh-CN" altLang="en-US" sz="2000" b="0">
                          <a:latin typeface="宋体" panose="02010600030101010101" pitchFamily="2" charset="-122"/>
                        </a:rPr>
                        <a:t>事务内的操作执行状态</a:t>
                      </a:r>
                      <a:endParaRPr lang="zh-CN" altLang="en-US" sz="2000" b="0">
                        <a:latin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0000"/>
                        </a:lnSpc>
                        <a:spcBef>
                          <a:spcPct val="0"/>
                        </a:spcBef>
                        <a:buClr>
                          <a:srgbClr val="000000"/>
                        </a:buClr>
                        <a:buFont typeface="Arial" panose="020B0604020202020204" pitchFamily="34" charset="0"/>
                        <a:buNone/>
                      </a:pPr>
                      <a:r>
                        <a:rPr lang="zh-CN" altLang="en-US" sz="2000" b="0" dirty="0">
                          <a:latin typeface="宋体" panose="02010600030101010101" pitchFamily="2" charset="-122"/>
                        </a:rPr>
                        <a:t>无</a:t>
                      </a:r>
                      <a:endParaRPr lang="zh-CN" altLang="en-US" sz="2000" b="0" dirty="0">
                        <a:latin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783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90000"/>
                        </a:lnSpc>
                        <a:spcBef>
                          <a:spcPct val="0"/>
                        </a:spcBef>
                        <a:buClr>
                          <a:srgbClr val="000000"/>
                        </a:buClr>
                        <a:buFont typeface="Arial" panose="020B0604020202020204" pitchFamily="34" charset="0"/>
                        <a:buNone/>
                      </a:pPr>
                      <a:r>
                        <a:rPr lang="zh-CN" altLang="en-US" sz="2000" b="0">
                          <a:latin typeface="宋体" panose="02010600030101010101" pitchFamily="2" charset="-122"/>
                        </a:rPr>
                        <a:t>提交前</a:t>
                      </a:r>
                      <a:endParaRPr lang="zh-CN" altLang="en-US" sz="2000" b="0">
                        <a:latin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0000"/>
                        </a:lnSpc>
                        <a:spcBef>
                          <a:spcPct val="0"/>
                        </a:spcBef>
                        <a:buClr>
                          <a:srgbClr val="000000"/>
                        </a:buClr>
                        <a:buFont typeface="Arial" panose="020B0604020202020204" pitchFamily="34" charset="0"/>
                        <a:buNone/>
                      </a:pPr>
                      <a:r>
                        <a:rPr lang="zh-CN" altLang="en-US" sz="2000" b="0" dirty="0">
                          <a:latin typeface="宋体" panose="02010600030101010101" pitchFamily="2" charset="-122"/>
                        </a:rPr>
                        <a:t>步骤</a:t>
                      </a:r>
                      <a:r>
                        <a:rPr lang="en-US" altLang="x-none" sz="2000" b="0" dirty="0">
                          <a:latin typeface="宋体" panose="02010600030101010101" pitchFamily="2" charset="-122"/>
                        </a:rPr>
                        <a:t>2</a:t>
                      </a:r>
                      <a:r>
                        <a:rPr lang="zh-CN" altLang="en-US" sz="2000" b="0" dirty="0">
                          <a:latin typeface="宋体" panose="02010600030101010101" pitchFamily="2" charset="-122"/>
                        </a:rPr>
                        <a:t>：</a:t>
                      </a:r>
                      <a:r>
                        <a:rPr lang="en-US" altLang="x-none" sz="2000" b="0" dirty="0">
                          <a:latin typeface="宋体" panose="02010600030101010101" pitchFamily="2" charset="-122"/>
                        </a:rPr>
                        <a:t>AI → Log    /* </a:t>
                      </a:r>
                      <a:r>
                        <a:rPr lang="zh-CN" altLang="en-US" sz="2000" b="0" dirty="0">
                          <a:latin typeface="宋体" panose="02010600030101010101" pitchFamily="2" charset="-122"/>
                        </a:rPr>
                        <a:t>遵循提交规则的要求 *</a:t>
                      </a:r>
                      <a:r>
                        <a:rPr lang="en-US" altLang="x-none" sz="2000" b="0" dirty="0">
                          <a:latin typeface="宋体" panose="02010600030101010101" pitchFamily="2" charset="-122"/>
                        </a:rPr>
                        <a:t>/</a:t>
                      </a:r>
                      <a:endParaRPr lang="en-US" altLang="x-none" sz="2000" b="0" dirty="0">
                        <a:latin typeface="宋体" panose="02010600030101010101" pitchFamily="2" charset="-122"/>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603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90000"/>
                        </a:lnSpc>
                        <a:spcBef>
                          <a:spcPct val="0"/>
                        </a:spcBef>
                        <a:buClr>
                          <a:srgbClr val="000000"/>
                        </a:buClr>
                        <a:buFont typeface="Arial" panose="020B0604020202020204" pitchFamily="34" charset="0"/>
                        <a:buNone/>
                      </a:pPr>
                      <a:r>
                        <a:rPr lang="zh-CN" altLang="en-US" sz="2000" b="0">
                          <a:latin typeface="宋体" panose="02010600030101010101" pitchFamily="2" charset="-122"/>
                        </a:rPr>
                        <a:t>提交状态</a:t>
                      </a:r>
                      <a:endParaRPr lang="zh-CN" altLang="en-US" sz="2000" b="0">
                        <a:latin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0000"/>
                        </a:lnSpc>
                        <a:spcBef>
                          <a:spcPct val="0"/>
                        </a:spcBef>
                        <a:buClr>
                          <a:srgbClr val="000000"/>
                        </a:buClr>
                        <a:buFont typeface="Arial" panose="020B0604020202020204" pitchFamily="34" charset="0"/>
                        <a:buNone/>
                      </a:pPr>
                      <a:r>
                        <a:rPr lang="zh-CN" altLang="en-US" sz="2000" b="0" dirty="0">
                          <a:latin typeface="宋体" panose="02010600030101010101" pitchFamily="2" charset="-122"/>
                        </a:rPr>
                        <a:t>步骤</a:t>
                      </a:r>
                      <a:r>
                        <a:rPr lang="en-US" altLang="x-none" sz="2000" b="0" dirty="0">
                          <a:latin typeface="宋体" panose="02010600030101010101" pitchFamily="2" charset="-122"/>
                        </a:rPr>
                        <a:t>3</a:t>
                      </a:r>
                      <a:r>
                        <a:rPr lang="zh-CN" altLang="en-US" sz="2000" b="0" dirty="0">
                          <a:latin typeface="宋体" panose="02010600030101010101" pitchFamily="2" charset="-122"/>
                        </a:rPr>
                        <a:t>：</a:t>
                      </a:r>
                      <a:r>
                        <a:rPr lang="en-US" altLang="x-none" sz="2000" b="0" dirty="0">
                          <a:latin typeface="宋体" panose="02010600030101010101" pitchFamily="2" charset="-122"/>
                        </a:rPr>
                        <a:t>TID → CTL  /* </a:t>
                      </a:r>
                      <a:r>
                        <a:rPr lang="zh-CN" altLang="en-US" sz="2000" b="0" dirty="0">
                          <a:latin typeface="宋体" panose="02010600030101010101" pitchFamily="2" charset="-122"/>
                        </a:rPr>
                        <a:t>提交更新事务 *</a:t>
                      </a:r>
                      <a:r>
                        <a:rPr lang="en-US" altLang="x-none" sz="2000" b="0" dirty="0">
                          <a:latin typeface="宋体" panose="02010600030101010101" pitchFamily="2" charset="-122"/>
                        </a:rPr>
                        <a:t>/</a:t>
                      </a:r>
                      <a:endParaRPr lang="en-US" altLang="x-none" sz="2000" b="0" dirty="0">
                        <a:latin typeface="宋体" panose="02010600030101010101" pitchFamily="2" charset="-122"/>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08940">
                <a:tc row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lnSpc>
                          <a:spcPct val="90000"/>
                        </a:lnSpc>
                        <a:spcBef>
                          <a:spcPct val="0"/>
                        </a:spcBef>
                        <a:buClr>
                          <a:srgbClr val="000000"/>
                        </a:buClr>
                        <a:buFont typeface="Arial" panose="020B0604020202020204" pitchFamily="34" charset="0"/>
                        <a:buNone/>
                      </a:pPr>
                      <a:r>
                        <a:rPr lang="zh-CN" altLang="en-US" sz="2000" b="0">
                          <a:latin typeface="宋体" panose="02010600030101010101" pitchFamily="2" charset="-122"/>
                        </a:rPr>
                        <a:t>提交后</a:t>
                      </a:r>
                      <a:endParaRPr lang="zh-CN" altLang="en-US" sz="2000" b="0">
                        <a:latin typeface="宋体" panose="02010600030101010101" pitchFamily="2" charset="-122"/>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0000"/>
                        </a:lnSpc>
                        <a:spcBef>
                          <a:spcPct val="0"/>
                        </a:spcBef>
                        <a:buClr>
                          <a:srgbClr val="000000"/>
                        </a:buClr>
                        <a:buFont typeface="Arial" panose="020B0604020202020204" pitchFamily="34" charset="0"/>
                        <a:buNone/>
                      </a:pPr>
                      <a:r>
                        <a:rPr lang="zh-CN" altLang="en-US" sz="2000" b="0" dirty="0">
                          <a:latin typeface="宋体" panose="02010600030101010101" pitchFamily="2" charset="-122"/>
                        </a:rPr>
                        <a:t>步骤</a:t>
                      </a:r>
                      <a:r>
                        <a:rPr lang="en-US" altLang="x-none" sz="2000" b="0" dirty="0">
                          <a:latin typeface="宋体" panose="02010600030101010101" pitchFamily="2" charset="-122"/>
                        </a:rPr>
                        <a:t>4</a:t>
                      </a:r>
                      <a:r>
                        <a:rPr lang="zh-CN" altLang="en-US" sz="2000" b="0" dirty="0">
                          <a:latin typeface="宋体" panose="02010600030101010101" pitchFamily="2" charset="-122"/>
                        </a:rPr>
                        <a:t>：</a:t>
                      </a:r>
                      <a:r>
                        <a:rPr lang="en-US" altLang="x-none" sz="2000" b="0" dirty="0">
                          <a:latin typeface="宋体" panose="02010600030101010101" pitchFamily="2" charset="-122"/>
                        </a:rPr>
                        <a:t>AI → DB    /* </a:t>
                      </a:r>
                      <a:r>
                        <a:rPr lang="zh-CN" altLang="en-US" sz="2000" b="0" dirty="0">
                          <a:latin typeface="宋体" panose="02010600030101010101" pitchFamily="2" charset="-122"/>
                        </a:rPr>
                        <a:t>本方案的要求 *</a:t>
                      </a:r>
                      <a:r>
                        <a:rPr lang="en-US" altLang="x-none" sz="2000" b="0" dirty="0">
                          <a:latin typeface="宋体" panose="02010600030101010101" pitchFamily="2" charset="-122"/>
                        </a:rPr>
                        <a:t>/</a:t>
                      </a:r>
                      <a:endParaRPr lang="en-US" altLang="x-none" sz="2000" b="0" dirty="0">
                        <a:latin typeface="宋体" panose="02010600030101010101" pitchFamily="2" charset="-122"/>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930">
                <a:tc vMerge="1">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254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lnSpc>
                          <a:spcPct val="90000"/>
                        </a:lnSpc>
                        <a:spcBef>
                          <a:spcPct val="0"/>
                        </a:spcBef>
                        <a:buClr>
                          <a:srgbClr val="000000"/>
                        </a:buClr>
                        <a:buFont typeface="Arial" panose="020B0604020202020204" pitchFamily="34" charset="0"/>
                        <a:buNone/>
                      </a:pPr>
                      <a:r>
                        <a:rPr lang="zh-CN" altLang="en-US" sz="2000" b="0" dirty="0">
                          <a:latin typeface="宋体" panose="02010600030101010101" pitchFamily="2" charset="-122"/>
                        </a:rPr>
                        <a:t>步骤</a:t>
                      </a:r>
                      <a:r>
                        <a:rPr lang="en-US" altLang="x-none" sz="2000" b="0" dirty="0">
                          <a:latin typeface="宋体" panose="02010600030101010101" pitchFamily="2" charset="-122"/>
                        </a:rPr>
                        <a:t>5</a:t>
                      </a:r>
                      <a:r>
                        <a:rPr lang="zh-CN" altLang="en-US" sz="2000" b="0" dirty="0">
                          <a:latin typeface="宋体" panose="02010600030101010101" pitchFamily="2" charset="-122"/>
                        </a:rPr>
                        <a:t>：从</a:t>
                      </a:r>
                      <a:r>
                        <a:rPr lang="en-US" altLang="x-none" sz="2000" b="0" dirty="0">
                          <a:latin typeface="宋体" panose="02010600030101010101" pitchFamily="2" charset="-122"/>
                        </a:rPr>
                        <a:t>ATL</a:t>
                      </a:r>
                      <a:r>
                        <a:rPr lang="zh-CN" altLang="en-US" sz="2000" b="0" dirty="0">
                          <a:latin typeface="宋体" panose="02010600030101010101" pitchFamily="2" charset="-122"/>
                        </a:rPr>
                        <a:t>删除</a:t>
                      </a:r>
                      <a:r>
                        <a:rPr lang="en-US" altLang="x-none" sz="2000" b="0" dirty="0">
                          <a:latin typeface="宋体" panose="02010600030101010101" pitchFamily="2" charset="-122"/>
                        </a:rPr>
                        <a:t>TID</a:t>
                      </a:r>
                      <a:endParaRPr lang="en-US" altLang="x-none" sz="2000" b="0" dirty="0">
                        <a:latin typeface="宋体" panose="02010600030101010101"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78879" name="Text Box 3"/>
          <p:cNvSpPr txBox="1"/>
          <p:nvPr/>
        </p:nvSpPr>
        <p:spPr>
          <a:xfrm>
            <a:off x="409575" y="1294625"/>
            <a:ext cx="6353175" cy="514350"/>
          </a:xfrm>
          <a:prstGeom prst="rect">
            <a:avLst/>
          </a:prstGeom>
          <a:noFill/>
          <a:ln w="9525">
            <a:noFill/>
          </a:ln>
        </p:spPr>
        <p:txBody>
          <a:bodyPr wrap="square" anchor="t">
            <a:spAutoFit/>
          </a:bodyPr>
          <a:lstStyle/>
          <a:p>
            <a:pPr lvl="0" algn="l">
              <a:lnSpc>
                <a:spcPct val="110000"/>
              </a:lnSpc>
              <a:spcBef>
                <a:spcPts val="600"/>
              </a:spcBef>
            </a:pPr>
            <a:r>
              <a:rPr lang="en-US" altLang="x-none" sz="2500" dirty="0">
                <a:solidFill>
                  <a:srgbClr val="3402C2"/>
                </a:solidFill>
                <a:latin typeface="黑体" panose="02010609060101010101" pitchFamily="1" charset="-122"/>
                <a:ea typeface="黑体" panose="02010609060101010101" pitchFamily="1" charset="-122"/>
                <a:cs typeface="+mn-ea"/>
                <a:sym typeface="Wingdings" panose="05000000000000000000" pitchFamily="2" charset="2"/>
              </a:rPr>
              <a:t>（2）事务状态及DBMS对应的工作安排</a:t>
            </a:r>
            <a:endParaRPr lang="en-US" altLang="x-none" sz="2500" dirty="0">
              <a:solidFill>
                <a:srgbClr val="3402C2"/>
              </a:solidFill>
              <a:latin typeface="黑体" panose="02010609060101010101" pitchFamily="1" charset="-122"/>
              <a:ea typeface="黑体" panose="02010609060101010101" pitchFamily="1" charset="-122"/>
              <a:cs typeface="+mn-ea"/>
              <a:sym typeface="Wingdings" panose="05000000000000000000" pitchFamily="2" charset="2"/>
            </a:endParaRPr>
          </a:p>
        </p:txBody>
      </p:sp>
      <p:sp>
        <p:nvSpPr>
          <p:cNvPr id="7" name="Rectangle 7"/>
          <p:cNvSpPr/>
          <p:nvPr/>
        </p:nvSpPr>
        <p:spPr>
          <a:xfrm>
            <a:off x="501650" y="7643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3</a:t>
            </a:r>
            <a:r>
              <a:rPr lang="zh-CN" altLang="en-US" sz="2600" dirty="0" smtClean="0">
                <a:solidFill>
                  <a:srgbClr val="FF0000"/>
                </a:solidFill>
                <a:latin typeface="黑体" panose="02010609060101010101" pitchFamily="1" charset="-122"/>
                <a:ea typeface="黑体" panose="02010609060101010101" pitchFamily="1" charset="-122"/>
              </a:rPr>
              <a:t>、以后备副本和日志为基础的恢复技术</a:t>
            </a:r>
            <a:endParaRPr lang="en-US" altLang="x-none" sz="26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graphicFrame>
        <p:nvGraphicFramePr>
          <p:cNvPr id="84997" name="表格 84996"/>
          <p:cNvGraphicFramePr/>
          <p:nvPr>
            <p:custDataLst>
              <p:tags r:id="rId1"/>
            </p:custDataLst>
          </p:nvPr>
        </p:nvGraphicFramePr>
        <p:xfrm>
          <a:off x="622300" y="2930525"/>
          <a:ext cx="8070850" cy="2960688"/>
        </p:xfrm>
        <a:graphic>
          <a:graphicData uri="http://schemas.openxmlformats.org/drawingml/2006/table">
            <a:tbl>
              <a:tblPr/>
              <a:tblGrid>
                <a:gridCol w="919163"/>
                <a:gridCol w="892175"/>
                <a:gridCol w="2859087"/>
                <a:gridCol w="3400425"/>
              </a:tblGrid>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lvl="0" algn="ctr" eaLnBrk="1" hangingPunct="1">
                        <a:spcBef>
                          <a:spcPct val="20000"/>
                        </a:spcBef>
                        <a:buClr>
                          <a:srgbClr val="000000"/>
                        </a:buClr>
                        <a:buFont typeface="Arial" panose="020B0604020202020204" pitchFamily="34" charset="0"/>
                        <a:buNone/>
                      </a:pPr>
                      <a:r>
                        <a:rPr lang="en-US" altLang="x-none" sz="2200" b="1" dirty="0">
                          <a:solidFill>
                            <a:srgbClr val="3402C2"/>
                          </a:solidFill>
                          <a:ea typeface="Times New Roman" panose="02020603050405020304" pitchFamily="2" charset="0"/>
                        </a:rPr>
                        <a:t>ATL</a:t>
                      </a:r>
                      <a:endParaRPr lang="en-US" altLang="x-none" sz="2200" b="1" dirty="0">
                        <a:solidFill>
                          <a:srgbClr val="3402C2"/>
                        </a:solidFill>
                        <a:ea typeface="Times New Roman" panose="02020603050405020304" pitchFamily="2"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lvl="0" algn="ctr" eaLnBrk="1" hangingPunct="1">
                        <a:spcBef>
                          <a:spcPct val="20000"/>
                        </a:spcBef>
                        <a:buClr>
                          <a:srgbClr val="000000"/>
                        </a:buClr>
                        <a:buFont typeface="Arial" panose="020B0604020202020204" pitchFamily="34" charset="0"/>
                        <a:buNone/>
                      </a:pPr>
                      <a:r>
                        <a:rPr lang="en-US" altLang="x-none" sz="2200" b="1" dirty="0">
                          <a:solidFill>
                            <a:srgbClr val="3402C2"/>
                          </a:solidFill>
                          <a:ea typeface="Times New Roman" panose="02020603050405020304" pitchFamily="2" charset="0"/>
                        </a:rPr>
                        <a:t>CTL</a:t>
                      </a:r>
                      <a:endParaRPr lang="en-US" altLang="x-none" sz="2200" b="1" dirty="0">
                        <a:solidFill>
                          <a:srgbClr val="3402C2"/>
                        </a:solidFill>
                        <a:ea typeface="Times New Roman" panose="02020603050405020304" pitchFamily="2"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lvl="0" algn="ctr" eaLnBrk="1" hangingPunct="1">
                        <a:spcBef>
                          <a:spcPct val="20000"/>
                        </a:spcBef>
                        <a:buClr>
                          <a:srgbClr val="000000"/>
                        </a:buClr>
                        <a:buFont typeface="Arial" panose="020B0604020202020204" pitchFamily="34" charset="0"/>
                        <a:buNone/>
                      </a:pPr>
                      <a:r>
                        <a:rPr lang="en-US" altLang="x-none" sz="2200" b="1" dirty="0">
                          <a:solidFill>
                            <a:srgbClr val="3402C2"/>
                          </a:solidFill>
                          <a:ea typeface="Times New Roman" panose="02020603050405020304" pitchFamily="2" charset="0"/>
                        </a:rPr>
                        <a:t>事务所处状态</a:t>
                      </a:r>
                      <a:endParaRPr lang="en-US" altLang="x-none" sz="2200" b="1" dirty="0">
                        <a:solidFill>
                          <a:srgbClr val="3402C2"/>
                        </a:solidFill>
                        <a:ea typeface="Times New Roman" panose="02020603050405020304" pitchFamily="2"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lvl="0" algn="ctr" eaLnBrk="1" hangingPunct="1">
                        <a:spcBef>
                          <a:spcPct val="20000"/>
                        </a:spcBef>
                        <a:buClr>
                          <a:srgbClr val="000000"/>
                        </a:buClr>
                        <a:buFont typeface="Arial" panose="020B0604020202020204" pitchFamily="34" charset="0"/>
                        <a:buNone/>
                      </a:pPr>
                      <a:r>
                        <a:rPr lang="en-US" altLang="x-none" sz="2200" b="1" dirty="0">
                          <a:solidFill>
                            <a:srgbClr val="3402C2"/>
                          </a:solidFill>
                          <a:ea typeface="Times New Roman" panose="02020603050405020304" pitchFamily="2" charset="0"/>
                        </a:rPr>
                        <a:t>恢复措施</a:t>
                      </a:r>
                      <a:endParaRPr lang="en-US" altLang="x-none" sz="2200" b="1" dirty="0">
                        <a:solidFill>
                          <a:srgbClr val="3402C2"/>
                        </a:solidFill>
                        <a:ea typeface="Times New Roman" panose="02020603050405020304" pitchFamily="2"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r>
              <a:tr h="10969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有</a:t>
                      </a:r>
                      <a:endParaRPr lang="zh-CN" altLang="en-US" sz="20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无</a:t>
                      </a:r>
                      <a:endParaRPr lang="zh-CN" altLang="en-US" sz="20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dirty="0"/>
                        <a:t>步骤</a:t>
                      </a:r>
                      <a:r>
                        <a:rPr lang="en-US" altLang="x-none" sz="2000" dirty="0"/>
                        <a:t>1</a:t>
                      </a:r>
                      <a:r>
                        <a:rPr lang="zh-CN" altLang="en-US" sz="2000" dirty="0"/>
                        <a:t>已完成，但步骤</a:t>
                      </a:r>
                      <a:r>
                        <a:rPr lang="en-US" altLang="x-none" sz="2000" dirty="0"/>
                        <a:t>3</a:t>
                      </a:r>
                      <a:r>
                        <a:rPr lang="zh-CN" altLang="en-US" sz="2000" dirty="0"/>
                        <a:t>未完成</a:t>
                      </a:r>
                      <a:endParaRPr lang="zh-CN" altLang="en-US" sz="20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dirty="0"/>
                        <a:t>从</a:t>
                      </a:r>
                      <a:r>
                        <a:rPr lang="en-US" altLang="x-none" sz="2000" dirty="0"/>
                        <a:t>ALT</a:t>
                      </a:r>
                      <a:r>
                        <a:rPr lang="zh-CN" altLang="en-US" sz="2000" dirty="0"/>
                        <a:t>删除</a:t>
                      </a:r>
                      <a:r>
                        <a:rPr lang="en-US" altLang="x-none" sz="2000" dirty="0"/>
                        <a:t>TID</a:t>
                      </a:r>
                      <a:r>
                        <a:rPr lang="zh-CN" altLang="en-US" sz="2000" dirty="0"/>
                        <a:t>。因为</a:t>
                      </a:r>
                      <a:r>
                        <a:rPr lang="en-US" altLang="zh-CN" sz="2000" dirty="0"/>
                        <a:t>A</a:t>
                      </a:r>
                      <a:r>
                        <a:rPr lang="en-US" altLang="x-none" sz="2000" dirty="0"/>
                        <a:t>I</a:t>
                      </a:r>
                      <a:r>
                        <a:rPr lang="zh-CN" altLang="en-US" sz="2000" dirty="0"/>
                        <a:t>没有放在</a:t>
                      </a:r>
                      <a:r>
                        <a:rPr lang="en-US" altLang="x-none" sz="2000" dirty="0"/>
                        <a:t>Log</a:t>
                      </a:r>
                      <a:r>
                        <a:rPr lang="zh-CN" altLang="en-US" sz="2000" dirty="0"/>
                        <a:t>中，说明，此时没有更新操作。</a:t>
                      </a:r>
                      <a:endParaRPr lang="zh-CN" altLang="en-US" sz="20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r>
              <a:tr h="8286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有</a:t>
                      </a:r>
                      <a:endParaRPr lang="zh-CN" altLang="en-US" sz="20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有</a:t>
                      </a:r>
                      <a:endParaRPr lang="zh-CN" altLang="en-US" sz="20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dirty="0"/>
                        <a:t>步骤</a:t>
                      </a:r>
                      <a:r>
                        <a:rPr lang="en-US" altLang="x-none" sz="2000" dirty="0"/>
                        <a:t>3</a:t>
                      </a:r>
                      <a:r>
                        <a:rPr lang="zh-CN" altLang="en-US" sz="2000" dirty="0"/>
                        <a:t>已完成，步骤</a:t>
                      </a:r>
                      <a:r>
                        <a:rPr lang="en-US" altLang="x-none" sz="2000" dirty="0"/>
                        <a:t>5</a:t>
                      </a:r>
                      <a:r>
                        <a:rPr lang="zh-CN" altLang="en-US" sz="2000" dirty="0"/>
                        <a:t>未完成</a:t>
                      </a:r>
                      <a:endParaRPr lang="zh-CN" altLang="en-US" sz="20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000" dirty="0"/>
                        <a:t>① re</a:t>
                      </a:r>
                      <a:r>
                        <a:rPr lang="en-US" altLang="x-none" sz="2000" dirty="0">
                          <a:sym typeface="Wingdings" panose="05000000000000000000" pitchFamily="2" charset="2"/>
                        </a:rPr>
                        <a:t>do</a:t>
                      </a:r>
                      <a:r>
                        <a:rPr lang="zh-CN" altLang="en-US" sz="2000" dirty="0">
                          <a:sym typeface="Wingdings" panose="05000000000000000000" pitchFamily="2" charset="2"/>
                        </a:rPr>
                        <a:t>；</a:t>
                      </a:r>
                      <a:endParaRPr lang="zh-CN" altLang="en-US" sz="2000" dirty="0">
                        <a:sym typeface="Wingdings" panose="05000000000000000000" pitchFamily="2" charset="2"/>
                      </a:endParaRPr>
                    </a:p>
                    <a:p>
                      <a:pPr marL="0" lvl="0" indent="0" eaLnBrk="1" hangingPunct="1">
                        <a:spcBef>
                          <a:spcPct val="20000"/>
                        </a:spcBef>
                        <a:buClr>
                          <a:srgbClr val="000000"/>
                        </a:buClr>
                        <a:buFont typeface="Arial" panose="020B0604020202020204" pitchFamily="34" charset="0"/>
                        <a:buNone/>
                      </a:pPr>
                      <a:r>
                        <a:rPr lang="zh-CN" altLang="en-US" sz="2000" dirty="0"/>
                        <a:t>②从</a:t>
                      </a:r>
                      <a:r>
                        <a:rPr lang="en-US" altLang="x-none" sz="2000" dirty="0"/>
                        <a:t>ALT</a:t>
                      </a:r>
                      <a:r>
                        <a:rPr lang="zh-CN" altLang="en-US" sz="2000" dirty="0"/>
                        <a:t>删除</a:t>
                      </a:r>
                      <a:r>
                        <a:rPr lang="en-US" altLang="x-none" sz="2000" dirty="0"/>
                        <a:t>TID</a:t>
                      </a:r>
                      <a:r>
                        <a:rPr lang="zh-CN" altLang="en-US" sz="2000" dirty="0"/>
                        <a:t>。</a:t>
                      </a:r>
                      <a:endParaRPr lang="zh-CN" altLang="en-US" sz="20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r>
              <a:tr h="5778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无</a:t>
                      </a:r>
                      <a:endParaRPr lang="zh-CN" altLang="en-US" sz="20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有</a:t>
                      </a:r>
                      <a:endParaRPr lang="zh-CN" altLang="en-US" sz="20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dirty="0"/>
                        <a:t>步骤</a:t>
                      </a:r>
                      <a:r>
                        <a:rPr lang="en-US" altLang="x-none" sz="2000" dirty="0"/>
                        <a:t>5</a:t>
                      </a:r>
                      <a:r>
                        <a:rPr lang="zh-CN" altLang="en-US" sz="2000" dirty="0"/>
                        <a:t>已完成</a:t>
                      </a:r>
                      <a:endParaRPr lang="zh-CN" altLang="en-US" sz="20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a:sym typeface="Wingdings" panose="05000000000000000000" pitchFamily="2" charset="2"/>
                        </a:rPr>
                        <a:t>勿需处理</a:t>
                      </a:r>
                      <a:endParaRPr lang="zh-CN" altLang="en-US" sz="2000">
                        <a:sym typeface="Wingdings" panose="05000000000000000000" pitchFamily="2" charset="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6F7FA">
                        <a:alpha val="100000"/>
                      </a:srgbClr>
                    </a:solidFill>
                  </a:tcPr>
                </a:tc>
              </a:tr>
            </a:tbl>
          </a:graphicData>
        </a:graphic>
      </p:graphicFrame>
      <p:sp>
        <p:nvSpPr>
          <p:cNvPr id="81951" name="Text Box 3"/>
          <p:cNvSpPr txBox="1"/>
          <p:nvPr/>
        </p:nvSpPr>
        <p:spPr>
          <a:xfrm>
            <a:off x="1999615" y="1844993"/>
            <a:ext cx="5643563" cy="1014730"/>
          </a:xfrm>
          <a:prstGeom prst="rect">
            <a:avLst/>
          </a:prstGeom>
          <a:noFill/>
          <a:ln w="9525">
            <a:noFill/>
          </a:ln>
        </p:spPr>
        <p:txBody>
          <a:bodyPr anchor="t">
            <a:spAutoFit/>
          </a:bodyPr>
          <a:lstStyle/>
          <a:p>
            <a:pPr lvl="0" indent="0">
              <a:spcBef>
                <a:spcPct val="50000"/>
              </a:spcBef>
            </a:pPr>
            <a:r>
              <a:rPr lang="zh-CN" altLang="en-US" sz="2400" dirty="0">
                <a:solidFill>
                  <a:srgbClr val="FF0000"/>
                </a:solidFill>
                <a:latin typeface="华文中宋" panose="02010600040101010101" charset="-122"/>
                <a:ea typeface="华文中宋" panose="02010600040101010101" charset="-122"/>
                <a:sym typeface="Wingdings" panose="05000000000000000000" pitchFamily="2" charset="2"/>
              </a:rPr>
              <a:t>方案</a:t>
            </a:r>
            <a:r>
              <a:rPr lang="en-US" altLang="zh-CN" sz="2400" dirty="0">
                <a:solidFill>
                  <a:srgbClr val="FF0000"/>
                </a:solidFill>
                <a:latin typeface="华文中宋" panose="02010600040101010101" charset="-122"/>
                <a:ea typeface="华文中宋" panose="02010600040101010101" charset="-122"/>
                <a:sym typeface="Wingdings" panose="05000000000000000000" pitchFamily="2" charset="2"/>
              </a:rPr>
              <a:t>2</a:t>
            </a:r>
            <a:r>
              <a:rPr lang="zh-CN" altLang="en-US" sz="2400" dirty="0">
                <a:solidFill>
                  <a:srgbClr val="FF0000"/>
                </a:solidFill>
                <a:latin typeface="华文中宋" panose="02010600040101010101" charset="-122"/>
                <a:ea typeface="华文中宋" panose="02010600040101010101" charset="-122"/>
                <a:sym typeface="Wingdings" panose="05000000000000000000" pitchFamily="2" charset="2"/>
              </a:rPr>
              <a:t>中发生故障时的事务恢复措施</a:t>
            </a:r>
            <a:endParaRPr lang="zh-CN" altLang="en-US" sz="2400" dirty="0">
              <a:solidFill>
                <a:srgbClr val="FF0000"/>
              </a:solidFill>
              <a:latin typeface="华文中宋" panose="02010600040101010101" charset="-122"/>
              <a:ea typeface="华文中宋" panose="02010600040101010101" charset="-122"/>
              <a:sym typeface="Wingdings" panose="05000000000000000000" pitchFamily="2" charset="2"/>
            </a:endParaRPr>
          </a:p>
          <a:p>
            <a:pPr lvl="0" indent="0">
              <a:spcBef>
                <a:spcPct val="50000"/>
              </a:spcBef>
            </a:pPr>
            <a:endParaRPr lang="zh-CN" altLang="en-US" sz="2400" dirty="0">
              <a:solidFill>
                <a:srgbClr val="0000CC"/>
              </a:solidFill>
              <a:latin typeface="华文中宋" panose="02010600040101010101" charset="-122"/>
              <a:ea typeface="华文中宋" panose="02010600040101010101" charset="-122"/>
              <a:sym typeface="Wingdings" panose="05000000000000000000" pitchFamily="2" charset="2"/>
            </a:endParaRPr>
          </a:p>
        </p:txBody>
      </p:sp>
      <p:sp>
        <p:nvSpPr>
          <p:cNvPr id="79875" name="Text Box 4"/>
          <p:cNvSpPr txBox="1"/>
          <p:nvPr/>
        </p:nvSpPr>
        <p:spPr>
          <a:xfrm>
            <a:off x="571500" y="2353945"/>
            <a:ext cx="8121015" cy="429895"/>
          </a:xfrm>
          <a:prstGeom prst="rect">
            <a:avLst/>
          </a:prstGeom>
          <a:noFill/>
          <a:ln w="9525">
            <a:noFill/>
          </a:ln>
        </p:spPr>
        <p:txBody>
          <a:bodyPr wrap="square" anchor="t">
            <a:spAutoFit/>
          </a:bodyPr>
          <a:lstStyle/>
          <a:p>
            <a:pPr lvl="0" indent="0">
              <a:spcBef>
                <a:spcPct val="50000"/>
              </a:spcBef>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如果事务按以上步骤执行过程中发生故障，可根据下表进行恢复</a:t>
            </a:r>
            <a:r>
              <a:rPr lang="zh-CN" altLang="en-US" sz="2200" dirty="0">
                <a:latin typeface="宋体" panose="02010600030101010101" pitchFamily="2" charset="-122"/>
                <a:ea typeface="华文楷体" panose="02010600040101010101" pitchFamily="2" charset="-122"/>
                <a:sym typeface="Wingdings" panose="05000000000000000000" pitchFamily="2" charset="2"/>
              </a:rPr>
              <a:t>。</a:t>
            </a:r>
            <a:endParaRPr lang="zh-CN" altLang="en-US" sz="2200" dirty="0">
              <a:latin typeface="宋体" panose="02010600030101010101" pitchFamily="2" charset="-122"/>
              <a:ea typeface="华文楷体" panose="02010600040101010101" pitchFamily="2" charset="-122"/>
              <a:sym typeface="Wingdings" panose="05000000000000000000" pitchFamily="2" charset="2"/>
            </a:endParaRPr>
          </a:p>
        </p:txBody>
      </p:sp>
      <p:sp>
        <p:nvSpPr>
          <p:cNvPr id="78879" name="Text Box 3"/>
          <p:cNvSpPr txBox="1"/>
          <p:nvPr/>
        </p:nvSpPr>
        <p:spPr>
          <a:xfrm>
            <a:off x="396875" y="1352498"/>
            <a:ext cx="8250555" cy="514350"/>
          </a:xfrm>
          <a:prstGeom prst="rect">
            <a:avLst/>
          </a:prstGeom>
          <a:noFill/>
          <a:ln w="9525">
            <a:noFill/>
          </a:ln>
        </p:spPr>
        <p:txBody>
          <a:bodyPr wrap="square" anchor="t">
            <a:spAutoFit/>
          </a:bodyPr>
          <a:lstStyle/>
          <a:p>
            <a:pPr lvl="0" algn="l">
              <a:lnSpc>
                <a:spcPct val="110000"/>
              </a:lnSpc>
              <a:spcBef>
                <a:spcPts val="600"/>
              </a:spcBef>
            </a:pPr>
            <a:r>
              <a:rPr lang="en-US" altLang="x-none" sz="2500" dirty="0">
                <a:solidFill>
                  <a:srgbClr val="3402C2"/>
                </a:solidFill>
                <a:latin typeface="黑体" panose="02010609060101010101" pitchFamily="1" charset="-122"/>
                <a:ea typeface="黑体" panose="02010609060101010101" pitchFamily="1" charset="-122"/>
                <a:cs typeface="+mn-ea"/>
                <a:sym typeface="Wingdings" panose="05000000000000000000" pitchFamily="2" charset="2"/>
              </a:rPr>
              <a:t>（2）事务状态及DBMS对应的工作安排</a:t>
            </a:r>
            <a:endParaRPr lang="en-US" altLang="x-none" sz="2500" dirty="0">
              <a:solidFill>
                <a:srgbClr val="3402C2"/>
              </a:solidFill>
              <a:latin typeface="黑体" panose="02010609060101010101" pitchFamily="1" charset="-122"/>
              <a:ea typeface="黑体" panose="02010609060101010101" pitchFamily="1" charset="-122"/>
              <a:cs typeface="+mn-ea"/>
              <a:sym typeface="Wingdings" panose="05000000000000000000" pitchFamily="2" charset="2"/>
            </a:endParaRPr>
          </a:p>
        </p:txBody>
      </p:sp>
      <p:sp>
        <p:nvSpPr>
          <p:cNvPr id="8" name="Rectangle 7"/>
          <p:cNvSpPr/>
          <p:nvPr/>
        </p:nvSpPr>
        <p:spPr>
          <a:xfrm>
            <a:off x="501650" y="7643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3</a:t>
            </a:r>
            <a:r>
              <a:rPr lang="zh-CN" altLang="en-US" sz="2600" dirty="0" smtClean="0">
                <a:solidFill>
                  <a:srgbClr val="FF0000"/>
                </a:solidFill>
                <a:latin typeface="黑体" panose="02010609060101010101" pitchFamily="1" charset="-122"/>
                <a:ea typeface="黑体" panose="02010609060101010101" pitchFamily="1" charset="-122"/>
              </a:rPr>
              <a:t>、以后备副本和日志为基础的恢复技术</a:t>
            </a:r>
            <a:endParaRPr lang="en-US" altLang="x-none" sz="26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2947" name="Rectangle 4"/>
          <p:cNvSpPr txBox="1"/>
          <p:nvPr/>
        </p:nvSpPr>
        <p:spPr>
          <a:xfrm>
            <a:off x="454025" y="1757680"/>
            <a:ext cx="8077200" cy="300038"/>
          </a:xfrm>
          <a:prstGeom prst="rect">
            <a:avLst/>
          </a:prstGeom>
          <a:noFill/>
          <a:ln w="9525">
            <a:noFill/>
          </a:ln>
        </p:spPr>
        <p:txBody>
          <a:bodyPr anchor="t"/>
          <a:lstStyle/>
          <a:p>
            <a:pPr lvl="0" algn="ctr">
              <a:spcBef>
                <a:spcPct val="50000"/>
              </a:spcBef>
            </a:pPr>
            <a:r>
              <a:rPr lang="zh-CN" altLang="en-US" sz="2400" dirty="0">
                <a:solidFill>
                  <a:srgbClr val="FF0000"/>
                </a:solidFill>
                <a:latin typeface="华文中宋" panose="02010600040101010101" charset="-122"/>
                <a:ea typeface="华文中宋" panose="02010600040101010101" charset="-122"/>
                <a:cs typeface="+mn-ea"/>
                <a:sym typeface="Wingdings" panose="05000000000000000000" pitchFamily="2" charset="2"/>
              </a:rPr>
              <a:t>方案3：后像在事务提交前后写入DB</a:t>
            </a:r>
            <a:endParaRPr lang="zh-CN" altLang="en-US" sz="2400" dirty="0">
              <a:solidFill>
                <a:srgbClr val="FF0000"/>
              </a:solidFill>
              <a:latin typeface="华文中宋" panose="02010600040101010101" charset="-122"/>
              <a:ea typeface="华文中宋" panose="02010600040101010101" charset="-122"/>
              <a:cs typeface="+mn-ea"/>
            </a:endParaRPr>
          </a:p>
        </p:txBody>
      </p:sp>
      <p:graphicFrame>
        <p:nvGraphicFramePr>
          <p:cNvPr id="86021" name="表格 86020"/>
          <p:cNvGraphicFramePr/>
          <p:nvPr/>
        </p:nvGraphicFramePr>
        <p:xfrm>
          <a:off x="490855" y="2294255"/>
          <a:ext cx="8348980" cy="3662045"/>
        </p:xfrm>
        <a:graphic>
          <a:graphicData uri="http://schemas.openxmlformats.org/drawingml/2006/table">
            <a:tbl>
              <a:tblPr/>
              <a:tblGrid>
                <a:gridCol w="1981200"/>
                <a:gridCol w="6367780"/>
              </a:tblGrid>
              <a:tr h="39624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spcBef>
                          <a:spcPct val="0"/>
                        </a:spcBef>
                        <a:buClr>
                          <a:srgbClr val="000000"/>
                        </a:buClr>
                        <a:buFont typeface="Arial" panose="020B0604020202020204" pitchFamily="34" charset="0"/>
                        <a:buNone/>
                      </a:pPr>
                      <a:r>
                        <a:rPr lang="zh-CN" altLang="en-US" sz="2200" b="1">
                          <a:solidFill>
                            <a:srgbClr val="3402C2"/>
                          </a:solidFill>
                          <a:ea typeface="Times New Roman" panose="02020603050405020304" pitchFamily="2" charset="0"/>
                        </a:rPr>
                        <a:t>事务执行状态</a:t>
                      </a:r>
                      <a:endParaRPr lang="zh-CN" altLang="en-US" sz="2200" b="1">
                        <a:solidFill>
                          <a:srgbClr val="3402C2"/>
                        </a:solidFill>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spcBef>
                          <a:spcPct val="0"/>
                        </a:spcBef>
                        <a:buClr>
                          <a:srgbClr val="000000"/>
                        </a:buClr>
                        <a:buFont typeface="Arial" panose="020B0604020202020204" pitchFamily="34" charset="0"/>
                        <a:buNone/>
                      </a:pPr>
                      <a:r>
                        <a:rPr lang="en-US" altLang="x-none" sz="2200" b="1" dirty="0">
                          <a:solidFill>
                            <a:srgbClr val="3402C2"/>
                          </a:solidFill>
                          <a:ea typeface="Times New Roman" panose="02020603050405020304" pitchFamily="2" charset="0"/>
                        </a:rPr>
                        <a:t>DBMS</a:t>
                      </a:r>
                      <a:r>
                        <a:rPr lang="zh-CN" altLang="en-US" sz="2200" b="1" dirty="0">
                          <a:solidFill>
                            <a:srgbClr val="3402C2"/>
                          </a:solidFill>
                          <a:ea typeface="Times New Roman" panose="02020603050405020304" pitchFamily="2" charset="0"/>
                        </a:rPr>
                        <a:t>应做的工作</a:t>
                      </a:r>
                      <a:endParaRPr lang="zh-CN" altLang="en-US" sz="2200" b="1" dirty="0">
                        <a:solidFill>
                          <a:srgbClr val="3402C2"/>
                        </a:solidFill>
                        <a:ea typeface="Times New Roman" panose="02020603050405020304" pitchFamily="2" charset="0"/>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76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lnSpc>
                          <a:spcPct val="90000"/>
                        </a:lnSpc>
                        <a:spcBef>
                          <a:spcPct val="0"/>
                        </a:spcBef>
                        <a:buClr>
                          <a:srgbClr val="000000"/>
                        </a:buClr>
                        <a:buFont typeface="Arial" panose="020B0604020202020204" pitchFamily="34" charset="0"/>
                        <a:buNone/>
                      </a:pPr>
                      <a:r>
                        <a:rPr lang="zh-CN" altLang="en-US" sz="2000" b="0">
                          <a:ea typeface="Times New Roman" panose="02020603050405020304" pitchFamily="2" charset="0"/>
                        </a:rPr>
                        <a:t>开始状态</a:t>
                      </a:r>
                      <a:endParaRPr lang="zh-CN" altLang="en-US" sz="2000" b="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lnSpc>
                          <a:spcPct val="90000"/>
                        </a:lnSpc>
                        <a:spcBef>
                          <a:spcPct val="0"/>
                        </a:spcBef>
                        <a:buClr>
                          <a:srgbClr val="000000"/>
                        </a:buClr>
                        <a:buFont typeface="Arial" panose="020B0604020202020204" pitchFamily="34" charset="0"/>
                        <a:buNone/>
                      </a:pPr>
                      <a:r>
                        <a:rPr lang="zh-CN" altLang="en-US" sz="2000" b="0" dirty="0">
                          <a:ea typeface="Times New Roman" panose="02020603050405020304" pitchFamily="2" charset="0"/>
                        </a:rPr>
                        <a:t>步骤</a:t>
                      </a:r>
                      <a:r>
                        <a:rPr lang="en-US" altLang="x-none" sz="2000" b="0" dirty="0">
                          <a:ea typeface="Times New Roman" panose="02020603050405020304" pitchFamily="2" charset="0"/>
                        </a:rPr>
                        <a:t>1</a:t>
                      </a:r>
                      <a:r>
                        <a:rPr lang="zh-CN" altLang="en-US" sz="2000" b="0" dirty="0">
                          <a:ea typeface="Times New Roman" panose="02020603050405020304" pitchFamily="2" charset="0"/>
                        </a:rPr>
                        <a:t>：</a:t>
                      </a:r>
                      <a:r>
                        <a:rPr lang="en-US" altLang="x-none" sz="2000" b="0" dirty="0">
                          <a:ea typeface="Times New Roman" panose="02020603050405020304" pitchFamily="2" charset="0"/>
                        </a:rPr>
                        <a:t>TID → ATL  /* </a:t>
                      </a:r>
                      <a:r>
                        <a:rPr lang="zh-CN" altLang="en-US" sz="2000" b="0" dirty="0">
                          <a:ea typeface="Times New Roman" panose="02020603050405020304" pitchFamily="2" charset="0"/>
                        </a:rPr>
                        <a:t>将事务的</a:t>
                      </a:r>
                      <a:r>
                        <a:rPr lang="en-US" altLang="x-none" sz="2000" b="0" dirty="0">
                          <a:ea typeface="Times New Roman" panose="02020603050405020304" pitchFamily="2" charset="0"/>
                        </a:rPr>
                        <a:t>TID</a:t>
                      </a:r>
                      <a:r>
                        <a:rPr lang="zh-CN" altLang="en-US" sz="2000" b="0" dirty="0">
                          <a:ea typeface="Times New Roman" panose="02020603050405020304" pitchFamily="2" charset="0"/>
                        </a:rPr>
                        <a:t>记入日志的</a:t>
                      </a:r>
                      <a:r>
                        <a:rPr lang="en-US" altLang="x-none" sz="2000" b="0" dirty="0">
                          <a:ea typeface="Times New Roman" panose="02020603050405020304" pitchFamily="2" charset="0"/>
                        </a:rPr>
                        <a:t>ATL */</a:t>
                      </a:r>
                      <a:endParaRPr lang="en-US" altLang="x-none" sz="2000" b="0" dirty="0">
                        <a:ea typeface="Times New Roman" panose="02020603050405020304" pitchFamily="2"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4008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lnSpc>
                          <a:spcPct val="90000"/>
                        </a:lnSpc>
                        <a:spcBef>
                          <a:spcPct val="0"/>
                        </a:spcBef>
                        <a:buClr>
                          <a:srgbClr val="000000"/>
                        </a:buClr>
                        <a:buFont typeface="Arial" panose="020B0604020202020204" pitchFamily="34" charset="0"/>
                        <a:buNone/>
                      </a:pPr>
                      <a:r>
                        <a:rPr lang="zh-CN" altLang="en-US" sz="2000" b="0">
                          <a:ea typeface="Times New Roman" panose="02020603050405020304" pitchFamily="2" charset="0"/>
                        </a:rPr>
                        <a:t>事务内的操作执行状态</a:t>
                      </a:r>
                      <a:endParaRPr lang="zh-CN" altLang="en-US" sz="2000" b="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lnSpc>
                          <a:spcPct val="90000"/>
                        </a:lnSpc>
                        <a:spcBef>
                          <a:spcPct val="0"/>
                        </a:spcBef>
                        <a:buClr>
                          <a:srgbClr val="000000"/>
                        </a:buClr>
                        <a:buFont typeface="Arial" panose="020B0604020202020204" pitchFamily="34" charset="0"/>
                        <a:buNone/>
                      </a:pPr>
                      <a:r>
                        <a:rPr lang="zh-CN" altLang="en-US" sz="2000" b="0">
                          <a:ea typeface="Times New Roman" panose="02020603050405020304" pitchFamily="2" charset="0"/>
                        </a:rPr>
                        <a:t>无</a:t>
                      </a:r>
                      <a:endParaRPr lang="zh-CN" altLang="en-US" sz="2000" b="0">
                        <a:ea typeface="Times New Roman" panose="02020603050405020304" pitchFamily="2" charset="0"/>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40080">
                <a:tc row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lnSpc>
                          <a:spcPct val="90000"/>
                        </a:lnSpc>
                        <a:spcBef>
                          <a:spcPct val="0"/>
                        </a:spcBef>
                        <a:buClr>
                          <a:srgbClr val="000000"/>
                        </a:buClr>
                        <a:buFont typeface="Arial" panose="020B0604020202020204" pitchFamily="34" charset="0"/>
                        <a:buNone/>
                      </a:pPr>
                      <a:r>
                        <a:rPr lang="zh-CN" altLang="en-US" sz="2000" b="0">
                          <a:ea typeface="Times New Roman" panose="02020603050405020304" pitchFamily="2" charset="0"/>
                        </a:rPr>
                        <a:t>提交前</a:t>
                      </a:r>
                      <a:endParaRPr lang="zh-CN" altLang="en-US" sz="2000" b="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311525" lvl="0" indent="-3311525" eaLnBrk="1" hangingPunct="1">
                        <a:lnSpc>
                          <a:spcPct val="90000"/>
                        </a:lnSpc>
                        <a:spcBef>
                          <a:spcPct val="0"/>
                        </a:spcBef>
                        <a:buClr>
                          <a:srgbClr val="000000"/>
                        </a:buClr>
                        <a:buFont typeface="Arial" panose="020B0604020202020204" pitchFamily="34" charset="0"/>
                        <a:buNone/>
                      </a:pPr>
                      <a:r>
                        <a:rPr lang="zh-CN" altLang="en-US" sz="2000" b="0" dirty="0">
                          <a:ea typeface="Times New Roman" panose="02020603050405020304" pitchFamily="2" charset="0"/>
                        </a:rPr>
                        <a:t>步骤</a:t>
                      </a:r>
                      <a:r>
                        <a:rPr lang="en-US" altLang="x-none" sz="2000" b="0" dirty="0">
                          <a:ea typeface="Times New Roman" panose="02020603050405020304" pitchFamily="2" charset="0"/>
                        </a:rPr>
                        <a:t>2</a:t>
                      </a:r>
                      <a:r>
                        <a:rPr lang="zh-CN" altLang="en-US" sz="2000" b="0" dirty="0">
                          <a:ea typeface="Times New Roman" panose="02020603050405020304" pitchFamily="2" charset="0"/>
                        </a:rPr>
                        <a:t>： </a:t>
                      </a:r>
                      <a:r>
                        <a:rPr lang="en-US" altLang="x-none" sz="2000" b="0" dirty="0">
                          <a:ea typeface="Times New Roman" panose="02020603050405020304" pitchFamily="2" charset="0"/>
                        </a:rPr>
                        <a:t>BI</a:t>
                      </a:r>
                      <a:r>
                        <a:rPr lang="zh-CN" altLang="en-US" sz="2000" b="0" dirty="0">
                          <a:ea typeface="Times New Roman" panose="02020603050405020304" pitchFamily="2" charset="0"/>
                        </a:rPr>
                        <a:t>，</a:t>
                      </a:r>
                      <a:r>
                        <a:rPr lang="en-US" altLang="x-none" sz="2000" b="0" dirty="0">
                          <a:ea typeface="Times New Roman" panose="02020603050405020304" pitchFamily="2" charset="0"/>
                        </a:rPr>
                        <a:t>AI → Log    /* </a:t>
                      </a:r>
                      <a:r>
                        <a:rPr lang="zh-CN" altLang="en-US" sz="2000" b="0" dirty="0">
                          <a:ea typeface="Times New Roman" panose="02020603050405020304" pitchFamily="2" charset="0"/>
                        </a:rPr>
                        <a:t>遵循提交规则和先记后写规则的要求 *</a:t>
                      </a:r>
                      <a:r>
                        <a:rPr lang="en-US" altLang="x-none" sz="2000" b="0" dirty="0">
                          <a:ea typeface="Times New Roman" panose="02020603050405020304" pitchFamily="2" charset="0"/>
                        </a:rPr>
                        <a:t>/</a:t>
                      </a:r>
                      <a:endParaRPr lang="en-US" altLang="x-none" sz="2000" b="0" dirty="0">
                        <a:ea typeface="Times New Roman" panose="02020603050405020304" pitchFamily="2" charset="0"/>
                      </a:endParaRPr>
                    </a:p>
                  </a:txBody>
                  <a:tcPr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28625">
                <a:tc vMerge="1">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lnSpc>
                          <a:spcPct val="90000"/>
                        </a:lnSpc>
                        <a:spcBef>
                          <a:spcPct val="0"/>
                        </a:spcBef>
                        <a:buClr>
                          <a:srgbClr val="000000"/>
                        </a:buClr>
                        <a:buFont typeface="Arial" panose="020B0604020202020204" pitchFamily="34" charset="0"/>
                        <a:buNone/>
                      </a:pPr>
                      <a:r>
                        <a:rPr lang="zh-CN" altLang="en-US" sz="2000" b="0" dirty="0">
                          <a:ea typeface="Times New Roman" panose="02020603050405020304" pitchFamily="2" charset="0"/>
                        </a:rPr>
                        <a:t>步骤</a:t>
                      </a:r>
                      <a:r>
                        <a:rPr lang="en-US" altLang="x-none" sz="2000" b="0" dirty="0">
                          <a:ea typeface="Times New Roman" panose="02020603050405020304" pitchFamily="2" charset="0"/>
                        </a:rPr>
                        <a:t>3</a:t>
                      </a:r>
                      <a:r>
                        <a:rPr lang="zh-CN" altLang="en-US" sz="2000" b="0" dirty="0">
                          <a:ea typeface="Times New Roman" panose="02020603050405020304" pitchFamily="2" charset="0"/>
                        </a:rPr>
                        <a:t>：</a:t>
                      </a:r>
                      <a:r>
                        <a:rPr lang="en-US" altLang="x-none" sz="2000" b="0" dirty="0">
                          <a:ea typeface="Times New Roman" panose="02020603050405020304" pitchFamily="2" charset="0"/>
                        </a:rPr>
                        <a:t>AI → DB        /* </a:t>
                      </a:r>
                      <a:r>
                        <a:rPr lang="zh-CN" altLang="en-US" sz="2000" b="0" dirty="0">
                          <a:ea typeface="Times New Roman" panose="02020603050405020304" pitchFamily="2" charset="0"/>
                        </a:rPr>
                        <a:t>部分</a:t>
                      </a:r>
                      <a:r>
                        <a:rPr lang="en-US" altLang="x-none" sz="2000" b="0" dirty="0">
                          <a:ea typeface="Times New Roman" panose="02020603050405020304" pitchFamily="2" charset="0"/>
                        </a:rPr>
                        <a:t>AI</a:t>
                      </a:r>
                      <a:r>
                        <a:rPr lang="zh-CN" altLang="en-US" sz="2000" b="0" dirty="0">
                          <a:ea typeface="Times New Roman" panose="02020603050405020304" pitchFamily="2" charset="0"/>
                        </a:rPr>
                        <a:t>写入</a:t>
                      </a:r>
                      <a:r>
                        <a:rPr lang="en-US" altLang="x-none" sz="2000" b="0" dirty="0">
                          <a:ea typeface="Times New Roman" panose="02020603050405020304" pitchFamily="2" charset="0"/>
                        </a:rPr>
                        <a:t>DB</a:t>
                      </a:r>
                      <a:r>
                        <a:rPr lang="zh-CN" altLang="en-US" sz="2000" b="0" dirty="0">
                          <a:ea typeface="Times New Roman" panose="02020603050405020304" pitchFamily="2" charset="0"/>
                        </a:rPr>
                        <a:t>，本方案要求 *</a:t>
                      </a:r>
                      <a:r>
                        <a:rPr lang="en-US" altLang="x-none" sz="2000" b="0" dirty="0">
                          <a:ea typeface="Times New Roman" panose="02020603050405020304" pitchFamily="2" charset="0"/>
                        </a:rPr>
                        <a:t>/</a:t>
                      </a:r>
                      <a:endParaRPr lang="en-US" altLang="x-none" sz="2000" b="0" dirty="0">
                        <a:ea typeface="Times New Roman" panose="02020603050405020304" pitchFamily="2" charset="0"/>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76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lnSpc>
                          <a:spcPct val="90000"/>
                        </a:lnSpc>
                        <a:spcBef>
                          <a:spcPct val="0"/>
                        </a:spcBef>
                        <a:buClr>
                          <a:srgbClr val="000000"/>
                        </a:buClr>
                        <a:buFont typeface="Arial" panose="020B0604020202020204" pitchFamily="34" charset="0"/>
                        <a:buNone/>
                      </a:pPr>
                      <a:r>
                        <a:rPr lang="zh-CN" altLang="en-US" sz="2000" b="0">
                          <a:ea typeface="Times New Roman" panose="02020603050405020304" pitchFamily="2" charset="0"/>
                        </a:rPr>
                        <a:t>提交状态</a:t>
                      </a:r>
                      <a:endParaRPr lang="zh-CN" altLang="en-US" sz="2000" b="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lnSpc>
                          <a:spcPct val="90000"/>
                        </a:lnSpc>
                        <a:spcBef>
                          <a:spcPct val="0"/>
                        </a:spcBef>
                        <a:buClr>
                          <a:srgbClr val="000000"/>
                        </a:buClr>
                        <a:buFont typeface="Arial" panose="020B0604020202020204" pitchFamily="34" charset="0"/>
                        <a:buNone/>
                      </a:pPr>
                      <a:r>
                        <a:rPr lang="zh-CN" altLang="en-US" sz="2000" b="0" dirty="0">
                          <a:ea typeface="Times New Roman" panose="02020603050405020304" pitchFamily="2" charset="0"/>
                        </a:rPr>
                        <a:t>步骤</a:t>
                      </a:r>
                      <a:r>
                        <a:rPr lang="en-US" altLang="x-none" sz="2000" b="0" dirty="0">
                          <a:ea typeface="Times New Roman" panose="02020603050405020304" pitchFamily="2" charset="0"/>
                        </a:rPr>
                        <a:t>4</a:t>
                      </a:r>
                      <a:r>
                        <a:rPr lang="zh-CN" altLang="en-US" sz="2000" b="0" dirty="0">
                          <a:ea typeface="Times New Roman" panose="02020603050405020304" pitchFamily="2" charset="0"/>
                        </a:rPr>
                        <a:t>：</a:t>
                      </a:r>
                      <a:r>
                        <a:rPr lang="en-US" altLang="x-none" sz="2000" b="0" dirty="0">
                          <a:ea typeface="Times New Roman" panose="02020603050405020304" pitchFamily="2" charset="0"/>
                        </a:rPr>
                        <a:t>TID → CTL      /* </a:t>
                      </a:r>
                      <a:r>
                        <a:rPr lang="zh-CN" altLang="en-US" sz="2000" b="0" dirty="0">
                          <a:ea typeface="Times New Roman" panose="02020603050405020304" pitchFamily="2" charset="0"/>
                        </a:rPr>
                        <a:t>提交更新事务 *</a:t>
                      </a:r>
                      <a:r>
                        <a:rPr lang="en-US" altLang="x-none" sz="2000" b="0" dirty="0">
                          <a:ea typeface="Times New Roman" panose="02020603050405020304" pitchFamily="2" charset="0"/>
                        </a:rPr>
                        <a:t>/</a:t>
                      </a:r>
                      <a:endParaRPr lang="en-US" altLang="x-none" sz="2000" b="0" dirty="0">
                        <a:ea typeface="Times New Roman" panose="02020603050405020304" pitchFamily="2"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29260">
                <a:tc rowSpan="2">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algn="ctr" eaLnBrk="1" hangingPunct="1">
                        <a:lnSpc>
                          <a:spcPct val="90000"/>
                        </a:lnSpc>
                        <a:spcBef>
                          <a:spcPct val="0"/>
                        </a:spcBef>
                        <a:buClr>
                          <a:srgbClr val="000000"/>
                        </a:buClr>
                        <a:buFont typeface="Arial" panose="020B0604020202020204" pitchFamily="34" charset="0"/>
                        <a:buNone/>
                      </a:pPr>
                      <a:r>
                        <a:rPr lang="zh-CN" altLang="en-US" sz="2000" b="0">
                          <a:ea typeface="Times New Roman" panose="02020603050405020304" pitchFamily="2" charset="0"/>
                        </a:rPr>
                        <a:t>提交后</a:t>
                      </a:r>
                      <a:endParaRPr lang="zh-CN" altLang="en-US" sz="2000" b="0">
                        <a:ea typeface="Times New Roman" panose="02020603050405020304" pitchFamily="2" charset="0"/>
                      </a:endParaRPr>
                    </a:p>
                  </a:txBody>
                  <a:tcPr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lnSpc>
                          <a:spcPct val="90000"/>
                        </a:lnSpc>
                        <a:spcBef>
                          <a:spcPct val="0"/>
                        </a:spcBef>
                        <a:buClr>
                          <a:srgbClr val="000000"/>
                        </a:buClr>
                        <a:buFont typeface="Arial" panose="020B0604020202020204" pitchFamily="34" charset="0"/>
                        <a:buNone/>
                      </a:pPr>
                      <a:r>
                        <a:rPr lang="zh-CN" altLang="en-US" sz="2000" b="0" dirty="0">
                          <a:ea typeface="Times New Roman" panose="02020603050405020304" pitchFamily="2" charset="0"/>
                        </a:rPr>
                        <a:t>步骤</a:t>
                      </a:r>
                      <a:r>
                        <a:rPr lang="en-US" altLang="x-none" sz="2000" b="0" dirty="0">
                          <a:ea typeface="Times New Roman" panose="02020603050405020304" pitchFamily="2" charset="0"/>
                        </a:rPr>
                        <a:t>5</a:t>
                      </a:r>
                      <a:r>
                        <a:rPr lang="zh-CN" altLang="en-US" sz="2000" b="0" dirty="0">
                          <a:ea typeface="Times New Roman" panose="02020603050405020304" pitchFamily="2" charset="0"/>
                        </a:rPr>
                        <a:t>：</a:t>
                      </a:r>
                      <a:r>
                        <a:rPr lang="en-US" altLang="x-none" sz="2000" b="0" dirty="0">
                          <a:ea typeface="Times New Roman" panose="02020603050405020304" pitchFamily="2" charset="0"/>
                        </a:rPr>
                        <a:t>AI → DB      /* </a:t>
                      </a:r>
                      <a:r>
                        <a:rPr lang="zh-CN" altLang="en-US" sz="2000" b="0" dirty="0">
                          <a:ea typeface="Times New Roman" panose="02020603050405020304" pitchFamily="2" charset="0"/>
                        </a:rPr>
                        <a:t>将剩余</a:t>
                      </a:r>
                      <a:r>
                        <a:rPr lang="en-US" altLang="x-none" sz="2000" b="0" dirty="0">
                          <a:ea typeface="Times New Roman" panose="02020603050405020304" pitchFamily="2" charset="0"/>
                        </a:rPr>
                        <a:t>AI</a:t>
                      </a:r>
                      <a:r>
                        <a:rPr lang="zh-CN" altLang="en-US" sz="2000" b="0" dirty="0">
                          <a:ea typeface="Times New Roman" panose="02020603050405020304" pitchFamily="2" charset="0"/>
                        </a:rPr>
                        <a:t>写入</a:t>
                      </a:r>
                      <a:r>
                        <a:rPr lang="en-US" altLang="x-none" sz="2000" b="0" dirty="0">
                          <a:ea typeface="Times New Roman" panose="02020603050405020304" pitchFamily="2" charset="0"/>
                        </a:rPr>
                        <a:t>DB</a:t>
                      </a:r>
                      <a:r>
                        <a:rPr lang="zh-CN" altLang="en-US" sz="2000" b="0" dirty="0">
                          <a:ea typeface="Times New Roman" panose="02020603050405020304" pitchFamily="2" charset="0"/>
                        </a:rPr>
                        <a:t>，本方案要求*</a:t>
                      </a:r>
                      <a:r>
                        <a:rPr lang="en-US" altLang="x-none" sz="2000" b="0" dirty="0">
                          <a:ea typeface="Times New Roman" panose="02020603050405020304" pitchFamily="2" charset="0"/>
                        </a:rPr>
                        <a:t>/</a:t>
                      </a:r>
                      <a:endParaRPr lang="en-US" altLang="x-none" sz="2000" b="0" dirty="0">
                        <a:ea typeface="Times New Roman" panose="02020603050405020304" pitchFamily="2" charset="0"/>
                      </a:endParaRPr>
                    </a:p>
                  </a:txBody>
                  <a:tcP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5760">
                <a:tc vMerge="1">
                  <a:tcP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25400" cap="flat" cmpd="sng">
                      <a:solidFill>
                        <a:srgbClr val="000000"/>
                      </a:solidFill>
                      <a:prstDash val="solid"/>
                      <a:headEnd type="none" w="med" len="med"/>
                      <a:tailEnd type="none" w="med" len="med"/>
                    </a:lnB>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342900" lvl="0" indent="-342900" eaLnBrk="1" hangingPunct="1">
                        <a:lnSpc>
                          <a:spcPct val="90000"/>
                        </a:lnSpc>
                        <a:spcBef>
                          <a:spcPct val="0"/>
                        </a:spcBef>
                        <a:buClr>
                          <a:srgbClr val="000000"/>
                        </a:buClr>
                        <a:buFont typeface="Arial" panose="020B0604020202020204" pitchFamily="34" charset="0"/>
                        <a:buNone/>
                      </a:pPr>
                      <a:r>
                        <a:rPr lang="zh-CN" altLang="en-US" sz="2000" b="0" dirty="0">
                          <a:ea typeface="Times New Roman" panose="02020603050405020304" pitchFamily="2" charset="0"/>
                        </a:rPr>
                        <a:t>步骤</a:t>
                      </a:r>
                      <a:r>
                        <a:rPr lang="en-US" altLang="x-none" sz="2000" b="0" dirty="0">
                          <a:ea typeface="Times New Roman" panose="02020603050405020304" pitchFamily="2" charset="0"/>
                        </a:rPr>
                        <a:t>6</a:t>
                      </a:r>
                      <a:r>
                        <a:rPr lang="zh-CN" altLang="en-US" sz="2000" b="0" dirty="0">
                          <a:ea typeface="Times New Roman" panose="02020603050405020304" pitchFamily="2" charset="0"/>
                        </a:rPr>
                        <a:t>：从</a:t>
                      </a:r>
                      <a:r>
                        <a:rPr lang="en-US" altLang="x-none" sz="2000" b="0" dirty="0">
                          <a:ea typeface="Times New Roman" panose="02020603050405020304" pitchFamily="2" charset="0"/>
                        </a:rPr>
                        <a:t>ATL</a:t>
                      </a:r>
                      <a:r>
                        <a:rPr lang="zh-CN" altLang="en-US" sz="2000" b="0" dirty="0">
                          <a:ea typeface="Times New Roman" panose="02020603050405020304" pitchFamily="2" charset="0"/>
                        </a:rPr>
                        <a:t>删除</a:t>
                      </a:r>
                      <a:r>
                        <a:rPr lang="en-US" altLang="x-none" sz="2000" b="0" dirty="0">
                          <a:ea typeface="Times New Roman" panose="02020603050405020304" pitchFamily="2" charset="0"/>
                        </a:rPr>
                        <a:t>TID</a:t>
                      </a:r>
                      <a:endParaRPr lang="en-US" altLang="x-none" sz="2000" b="0" dirty="0">
                        <a:ea typeface="Times New Roman" panose="02020603050405020304" pitchFamily="2" charset="0"/>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78879" name="Text Box 3"/>
          <p:cNvSpPr txBox="1"/>
          <p:nvPr/>
        </p:nvSpPr>
        <p:spPr>
          <a:xfrm>
            <a:off x="396875" y="1311426"/>
            <a:ext cx="8250555" cy="514350"/>
          </a:xfrm>
          <a:prstGeom prst="rect">
            <a:avLst/>
          </a:prstGeom>
          <a:noFill/>
          <a:ln w="9525">
            <a:noFill/>
          </a:ln>
        </p:spPr>
        <p:txBody>
          <a:bodyPr wrap="square" anchor="t">
            <a:spAutoFit/>
          </a:bodyPr>
          <a:lstStyle/>
          <a:p>
            <a:pPr lvl="0" algn="l">
              <a:lnSpc>
                <a:spcPct val="110000"/>
              </a:lnSpc>
              <a:spcBef>
                <a:spcPts val="600"/>
              </a:spcBef>
            </a:pPr>
            <a:r>
              <a:rPr lang="en-US" altLang="x-none" sz="2500" dirty="0">
                <a:solidFill>
                  <a:srgbClr val="3402C2"/>
                </a:solidFill>
                <a:latin typeface="黑体" panose="02010609060101010101" pitchFamily="1" charset="-122"/>
                <a:ea typeface="黑体" panose="02010609060101010101" pitchFamily="1" charset="-122"/>
                <a:cs typeface="+mn-ea"/>
                <a:sym typeface="Wingdings" panose="05000000000000000000" pitchFamily="2" charset="2"/>
              </a:rPr>
              <a:t>（2）事务状态及DBMS对应的工作安排</a:t>
            </a:r>
            <a:endParaRPr lang="en-US" altLang="x-none" sz="2500" dirty="0">
              <a:solidFill>
                <a:srgbClr val="3402C2"/>
              </a:solidFill>
              <a:latin typeface="黑体" panose="02010609060101010101" pitchFamily="1" charset="-122"/>
              <a:ea typeface="黑体" panose="02010609060101010101" pitchFamily="1" charset="-122"/>
              <a:cs typeface="+mn-ea"/>
              <a:sym typeface="Wingdings" panose="05000000000000000000" pitchFamily="2" charset="2"/>
            </a:endParaRPr>
          </a:p>
        </p:txBody>
      </p:sp>
      <p:sp>
        <p:nvSpPr>
          <p:cNvPr id="7" name="Rectangle 7"/>
          <p:cNvSpPr/>
          <p:nvPr/>
        </p:nvSpPr>
        <p:spPr>
          <a:xfrm>
            <a:off x="501650" y="7643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3</a:t>
            </a:r>
            <a:r>
              <a:rPr lang="zh-CN" altLang="en-US" sz="2600" dirty="0" smtClean="0">
                <a:solidFill>
                  <a:srgbClr val="FF0000"/>
                </a:solidFill>
                <a:latin typeface="黑体" panose="02010609060101010101" pitchFamily="1" charset="-122"/>
                <a:ea typeface="黑体" panose="02010609060101010101" pitchFamily="1" charset="-122"/>
              </a:rPr>
              <a:t>、以后备副本和日志为基础的恢复技术</a:t>
            </a:r>
            <a:endParaRPr lang="en-US" altLang="x-none" sz="26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graphicFrame>
        <p:nvGraphicFramePr>
          <p:cNvPr id="87045" name="表格 87044"/>
          <p:cNvGraphicFramePr/>
          <p:nvPr/>
        </p:nvGraphicFramePr>
        <p:xfrm>
          <a:off x="673100" y="2881630"/>
          <a:ext cx="8019415" cy="3011805"/>
        </p:xfrm>
        <a:graphic>
          <a:graphicData uri="http://schemas.openxmlformats.org/drawingml/2006/table">
            <a:tbl>
              <a:tblPr/>
              <a:tblGrid>
                <a:gridCol w="987425"/>
                <a:gridCol w="954405"/>
                <a:gridCol w="2482215"/>
                <a:gridCol w="3595370"/>
              </a:tblGrid>
              <a:tr h="42418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000" dirty="0">
                          <a:solidFill>
                            <a:srgbClr val="3402C2"/>
                          </a:solidFill>
                        </a:rPr>
                        <a:t>ATL</a:t>
                      </a:r>
                      <a:endParaRPr lang="en-US" altLang="x-none" sz="2000" dirty="0">
                        <a:solidFill>
                          <a:srgbClr val="3402C2"/>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000" dirty="0">
                          <a:solidFill>
                            <a:srgbClr val="3402C2"/>
                          </a:solidFill>
                        </a:rPr>
                        <a:t>CTL</a:t>
                      </a:r>
                      <a:endParaRPr lang="en-US" altLang="x-none" sz="2000" dirty="0">
                        <a:solidFill>
                          <a:srgbClr val="3402C2"/>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solidFill>
                            <a:srgbClr val="3402C2"/>
                          </a:solidFill>
                        </a:rPr>
                        <a:t>事务所处状态</a:t>
                      </a:r>
                      <a:endParaRPr lang="zh-CN" altLang="en-US" sz="2000">
                        <a:solidFill>
                          <a:srgbClr val="3402C2"/>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solidFill>
                            <a:srgbClr val="3402C2"/>
                          </a:solidFill>
                        </a:rPr>
                        <a:t>恢复措施</a:t>
                      </a:r>
                      <a:endParaRPr lang="zh-CN" altLang="en-US" sz="2000">
                        <a:solidFill>
                          <a:srgbClr val="3402C2"/>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r>
              <a:tr h="1143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有</a:t>
                      </a:r>
                      <a:endParaRPr lang="zh-CN" altLang="en-US" sz="20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无</a:t>
                      </a:r>
                      <a:endParaRPr lang="zh-CN" altLang="en-US" sz="20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dirty="0"/>
                        <a:t>步骤</a:t>
                      </a:r>
                      <a:r>
                        <a:rPr lang="en-US" altLang="x-none" sz="2000" dirty="0"/>
                        <a:t>1</a:t>
                      </a:r>
                      <a:r>
                        <a:rPr lang="zh-CN" altLang="en-US" sz="2000" dirty="0"/>
                        <a:t>已完成，但步骤</a:t>
                      </a:r>
                      <a:r>
                        <a:rPr lang="en-US" altLang="x-none" sz="2000" dirty="0"/>
                        <a:t>4</a:t>
                      </a:r>
                      <a:r>
                        <a:rPr lang="zh-CN" altLang="en-US" sz="2000" dirty="0"/>
                        <a:t>尚未完成</a:t>
                      </a:r>
                      <a:endParaRPr lang="zh-CN" altLang="en-US" sz="20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000" dirty="0"/>
                        <a:t>① </a:t>
                      </a:r>
                      <a:r>
                        <a:rPr lang="zh-CN" altLang="en-US" sz="2000" dirty="0"/>
                        <a:t>若</a:t>
                      </a:r>
                      <a:r>
                        <a:rPr lang="en-US" altLang="x-none" sz="2000" dirty="0"/>
                        <a:t>BI</a:t>
                      </a:r>
                      <a:r>
                        <a:rPr lang="zh-CN" altLang="en-US" sz="2000" dirty="0"/>
                        <a:t>已</a:t>
                      </a:r>
                      <a:r>
                        <a:rPr lang="zh-CN" altLang="en-US" sz="2000" dirty="0">
                          <a:sym typeface="Wingdings" panose="05000000000000000000" pitchFamily="2" charset="2"/>
                        </a:rPr>
                        <a:t></a:t>
                      </a:r>
                      <a:r>
                        <a:rPr lang="en-US" altLang="x-none" sz="2000" dirty="0">
                          <a:sym typeface="Wingdings" panose="05000000000000000000" pitchFamily="2" charset="2"/>
                        </a:rPr>
                        <a:t>Log,</a:t>
                      </a:r>
                      <a:r>
                        <a:rPr lang="zh-CN" altLang="en-US" sz="2000" dirty="0">
                          <a:sym typeface="Wingdings" panose="05000000000000000000" pitchFamily="2" charset="2"/>
                        </a:rPr>
                        <a:t>则</a:t>
                      </a:r>
                      <a:r>
                        <a:rPr lang="en-US" altLang="x-none" sz="2000" dirty="0">
                          <a:sym typeface="Wingdings" panose="05000000000000000000" pitchFamily="2" charset="2"/>
                        </a:rPr>
                        <a:t>undo</a:t>
                      </a:r>
                      <a:r>
                        <a:rPr lang="zh-CN" altLang="en-US" sz="2000" dirty="0">
                          <a:sym typeface="Wingdings" panose="05000000000000000000" pitchFamily="2" charset="2"/>
                        </a:rPr>
                        <a:t>；否则勿需</a:t>
                      </a:r>
                      <a:r>
                        <a:rPr lang="en-US" altLang="x-none" sz="2000" dirty="0">
                          <a:sym typeface="Wingdings" panose="05000000000000000000" pitchFamily="2" charset="2"/>
                        </a:rPr>
                        <a:t>undo</a:t>
                      </a:r>
                      <a:r>
                        <a:rPr lang="zh-CN" altLang="en-US" sz="2000" dirty="0">
                          <a:sym typeface="Wingdings" panose="05000000000000000000" pitchFamily="2" charset="2"/>
                        </a:rPr>
                        <a:t>；</a:t>
                      </a:r>
                      <a:endParaRPr lang="zh-CN" altLang="en-US" sz="2000" dirty="0">
                        <a:sym typeface="Wingdings" panose="05000000000000000000" pitchFamily="2" charset="2"/>
                      </a:endParaRPr>
                    </a:p>
                    <a:p>
                      <a:pPr marL="0" lvl="0" indent="0" eaLnBrk="1" hangingPunct="1">
                        <a:spcBef>
                          <a:spcPct val="20000"/>
                        </a:spcBef>
                        <a:buClr>
                          <a:srgbClr val="000000"/>
                        </a:buClr>
                        <a:buFont typeface="Arial" panose="020B0604020202020204" pitchFamily="34" charset="0"/>
                        <a:buNone/>
                      </a:pPr>
                      <a:r>
                        <a:rPr lang="zh-CN" altLang="en-US" sz="2000" dirty="0"/>
                        <a:t>② 从</a:t>
                      </a:r>
                      <a:r>
                        <a:rPr lang="en-US" altLang="x-none" sz="2000" dirty="0"/>
                        <a:t>ALT</a:t>
                      </a:r>
                      <a:r>
                        <a:rPr lang="zh-CN" altLang="en-US" sz="2000" dirty="0"/>
                        <a:t>删除</a:t>
                      </a:r>
                      <a:r>
                        <a:rPr lang="en-US" altLang="x-none" sz="2000" dirty="0"/>
                        <a:t>TID</a:t>
                      </a:r>
                      <a:r>
                        <a:rPr lang="zh-CN" altLang="en-US" sz="2000" dirty="0"/>
                        <a:t>。</a:t>
                      </a:r>
                      <a:endParaRPr lang="zh-CN" altLang="en-US" sz="20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r>
              <a:tr h="8175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有</a:t>
                      </a:r>
                      <a:endParaRPr lang="zh-CN" altLang="en-US" sz="20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有</a:t>
                      </a:r>
                      <a:endParaRPr lang="zh-CN" altLang="en-US" sz="20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dirty="0"/>
                        <a:t>步骤</a:t>
                      </a:r>
                      <a:r>
                        <a:rPr lang="en-US" altLang="x-none" sz="2000" dirty="0"/>
                        <a:t>4</a:t>
                      </a:r>
                      <a:r>
                        <a:rPr lang="zh-CN" altLang="en-US" sz="2000" dirty="0"/>
                        <a:t>已完成，但步骤</a:t>
                      </a:r>
                      <a:r>
                        <a:rPr lang="en-US" altLang="x-none" sz="2000" dirty="0"/>
                        <a:t>6</a:t>
                      </a:r>
                      <a:r>
                        <a:rPr lang="zh-CN" altLang="en-US" sz="2000" dirty="0"/>
                        <a:t>未完成</a:t>
                      </a:r>
                      <a:endParaRPr lang="en-US" altLang="x-none" sz="20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x-none" sz="2000" dirty="0"/>
                        <a:t>①AI</a:t>
                      </a:r>
                      <a:r>
                        <a:rPr lang="zh-CN" altLang="en-US" sz="2000" dirty="0"/>
                        <a:t>已</a:t>
                      </a:r>
                      <a:r>
                        <a:rPr lang="zh-CN" altLang="en-US" sz="2000" dirty="0">
                          <a:sym typeface="Wingdings" panose="05000000000000000000" pitchFamily="2" charset="2"/>
                        </a:rPr>
                        <a:t></a:t>
                      </a:r>
                      <a:r>
                        <a:rPr lang="en-US" altLang="x-none" sz="2000" dirty="0">
                          <a:sym typeface="Wingdings" panose="05000000000000000000" pitchFamily="2" charset="2"/>
                        </a:rPr>
                        <a:t>Log,</a:t>
                      </a:r>
                      <a:r>
                        <a:rPr lang="en-US" altLang="x-none" sz="2000" dirty="0"/>
                        <a:t>re</a:t>
                      </a:r>
                      <a:r>
                        <a:rPr lang="en-US" altLang="x-none" sz="2000" dirty="0">
                          <a:sym typeface="Wingdings" panose="05000000000000000000" pitchFamily="2" charset="2"/>
                        </a:rPr>
                        <a:t>do</a:t>
                      </a:r>
                      <a:r>
                        <a:rPr lang="zh-CN" altLang="en-US" sz="2000" dirty="0">
                          <a:sym typeface="Wingdings" panose="05000000000000000000" pitchFamily="2" charset="2"/>
                        </a:rPr>
                        <a:t>；</a:t>
                      </a:r>
                      <a:endParaRPr lang="zh-CN" altLang="en-US" sz="2000" dirty="0">
                        <a:sym typeface="Wingdings" panose="05000000000000000000" pitchFamily="2" charset="2"/>
                      </a:endParaRPr>
                    </a:p>
                    <a:p>
                      <a:pPr marL="0" lvl="0" indent="0" eaLnBrk="1" hangingPunct="1">
                        <a:spcBef>
                          <a:spcPct val="20000"/>
                        </a:spcBef>
                        <a:buClr>
                          <a:srgbClr val="000000"/>
                        </a:buClr>
                        <a:buFont typeface="Arial" panose="020B0604020202020204" pitchFamily="34" charset="0"/>
                        <a:buNone/>
                      </a:pPr>
                      <a:r>
                        <a:rPr lang="zh-CN" altLang="en-US" sz="2000" dirty="0"/>
                        <a:t>②从</a:t>
                      </a:r>
                      <a:r>
                        <a:rPr lang="en-US" altLang="x-none" sz="2000" dirty="0"/>
                        <a:t>ALT</a:t>
                      </a:r>
                      <a:r>
                        <a:rPr lang="zh-CN" altLang="en-US" sz="2000" dirty="0"/>
                        <a:t>删除</a:t>
                      </a:r>
                      <a:r>
                        <a:rPr lang="en-US" altLang="x-none" sz="2000" dirty="0"/>
                        <a:t>TID</a:t>
                      </a:r>
                      <a:r>
                        <a:rPr lang="zh-CN" altLang="en-US" sz="2000" dirty="0"/>
                        <a:t>。</a:t>
                      </a:r>
                      <a:endParaRPr lang="zh-CN" altLang="en-US" sz="20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E6F7FA">
                        <a:alpha val="100000"/>
                      </a:srgbClr>
                    </a:solidFill>
                  </a:tcPr>
                </a:tc>
              </a:tr>
              <a:tr h="627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无</a:t>
                      </a:r>
                      <a:endParaRPr lang="zh-CN" altLang="en-US" sz="20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a:t>有</a:t>
                      </a:r>
                      <a:endParaRPr lang="zh-CN" altLang="en-US" sz="200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dirty="0"/>
                        <a:t>步骤</a:t>
                      </a:r>
                      <a:r>
                        <a:rPr lang="en-US" altLang="x-none" sz="2000" dirty="0"/>
                        <a:t>6</a:t>
                      </a:r>
                      <a:r>
                        <a:rPr lang="zh-CN" altLang="en-US" sz="2000" dirty="0"/>
                        <a:t>已完成</a:t>
                      </a:r>
                      <a:endParaRPr lang="zh-CN" altLang="en-US" sz="200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6F7FA">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a:sym typeface="Wingdings" panose="05000000000000000000" pitchFamily="2" charset="2"/>
                        </a:rPr>
                        <a:t>勿需处理</a:t>
                      </a:r>
                      <a:endParaRPr lang="zh-CN" altLang="en-US" sz="2000">
                        <a:sym typeface="Wingdings" panose="05000000000000000000" pitchFamily="2" charset="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E6F7FA">
                        <a:alpha val="100000"/>
                      </a:srgbClr>
                    </a:solidFill>
                  </a:tcPr>
                </a:tc>
              </a:tr>
            </a:tbl>
          </a:graphicData>
        </a:graphic>
      </p:graphicFrame>
      <p:sp>
        <p:nvSpPr>
          <p:cNvPr id="83999" name="Text Box 3"/>
          <p:cNvSpPr txBox="1"/>
          <p:nvPr/>
        </p:nvSpPr>
        <p:spPr>
          <a:xfrm>
            <a:off x="1902460" y="1842453"/>
            <a:ext cx="5643563" cy="460375"/>
          </a:xfrm>
          <a:prstGeom prst="rect">
            <a:avLst/>
          </a:prstGeom>
          <a:noFill/>
          <a:ln w="9525">
            <a:noFill/>
          </a:ln>
        </p:spPr>
        <p:txBody>
          <a:bodyPr wrap="square" anchor="t">
            <a:spAutoFit/>
          </a:bodyPr>
          <a:lstStyle/>
          <a:p>
            <a:pPr lvl="0" indent="0">
              <a:spcBef>
                <a:spcPct val="50000"/>
              </a:spcBef>
            </a:pPr>
            <a:r>
              <a:rPr lang="zh-CN" altLang="en-US" sz="2400" dirty="0">
                <a:solidFill>
                  <a:srgbClr val="FF0000"/>
                </a:solidFill>
                <a:latin typeface="华文中宋" panose="02010600040101010101" charset="-122"/>
                <a:ea typeface="华文中宋" panose="02010600040101010101" charset="-122"/>
                <a:sym typeface="Wingdings" panose="05000000000000000000" pitchFamily="2" charset="2"/>
              </a:rPr>
              <a:t>方案</a:t>
            </a:r>
            <a:r>
              <a:rPr lang="en-US" altLang="zh-CN" sz="2400" dirty="0">
                <a:solidFill>
                  <a:srgbClr val="FF0000"/>
                </a:solidFill>
                <a:latin typeface="华文中宋" panose="02010600040101010101" charset="-122"/>
                <a:ea typeface="华文中宋" panose="02010600040101010101" charset="-122"/>
                <a:sym typeface="Wingdings" panose="05000000000000000000" pitchFamily="2" charset="2"/>
              </a:rPr>
              <a:t>3</a:t>
            </a:r>
            <a:r>
              <a:rPr lang="zh-CN" altLang="en-US" sz="2400" dirty="0">
                <a:solidFill>
                  <a:srgbClr val="FF0000"/>
                </a:solidFill>
                <a:latin typeface="华文中宋" panose="02010600040101010101" charset="-122"/>
                <a:ea typeface="华文中宋" panose="02010600040101010101" charset="-122"/>
                <a:sym typeface="Wingdings" panose="05000000000000000000" pitchFamily="2" charset="2"/>
              </a:rPr>
              <a:t>中发生故障时的事务恢复措施</a:t>
            </a:r>
            <a:endParaRPr lang="zh-CN" altLang="en-US" sz="2400" dirty="0">
              <a:solidFill>
                <a:srgbClr val="0000CC"/>
              </a:solidFill>
              <a:latin typeface="宋体" panose="02010600030101010101" pitchFamily="2" charset="-122"/>
              <a:ea typeface="宋体" panose="02010600030101010101" pitchFamily="2" charset="-122"/>
              <a:sym typeface="Wingdings" panose="05000000000000000000" pitchFamily="2" charset="2"/>
            </a:endParaRPr>
          </a:p>
        </p:txBody>
      </p:sp>
      <p:sp>
        <p:nvSpPr>
          <p:cNvPr id="79875" name="Text Box 4"/>
          <p:cNvSpPr txBox="1"/>
          <p:nvPr/>
        </p:nvSpPr>
        <p:spPr>
          <a:xfrm>
            <a:off x="571500" y="2353945"/>
            <a:ext cx="8121015" cy="429895"/>
          </a:xfrm>
          <a:prstGeom prst="rect">
            <a:avLst/>
          </a:prstGeom>
          <a:noFill/>
          <a:ln w="9525">
            <a:noFill/>
          </a:ln>
        </p:spPr>
        <p:txBody>
          <a:bodyPr wrap="square" anchor="t">
            <a:spAutoFit/>
          </a:bodyPr>
          <a:lstStyle/>
          <a:p>
            <a:pPr lvl="0" indent="0">
              <a:spcBef>
                <a:spcPct val="50000"/>
              </a:spcBef>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如果事务按以上步骤执行过程中发生故障，可根据下表进行恢复</a:t>
            </a:r>
            <a:r>
              <a:rPr lang="zh-CN" altLang="en-US" sz="2200" dirty="0">
                <a:latin typeface="宋体" panose="02010600030101010101" pitchFamily="2" charset="-122"/>
                <a:ea typeface="华文楷体" panose="02010600040101010101" pitchFamily="2" charset="-122"/>
                <a:sym typeface="Wingdings" panose="05000000000000000000" pitchFamily="2" charset="2"/>
              </a:rPr>
              <a:t>。</a:t>
            </a:r>
            <a:endParaRPr lang="zh-CN" altLang="en-US" sz="2200" dirty="0">
              <a:latin typeface="宋体" panose="02010600030101010101" pitchFamily="2" charset="-122"/>
              <a:ea typeface="华文楷体" panose="02010600040101010101" pitchFamily="2" charset="-122"/>
              <a:sym typeface="Wingdings" panose="05000000000000000000" pitchFamily="2" charset="2"/>
            </a:endParaRPr>
          </a:p>
        </p:txBody>
      </p:sp>
      <p:sp>
        <p:nvSpPr>
          <p:cNvPr id="78879" name="Text Box 3"/>
          <p:cNvSpPr txBox="1"/>
          <p:nvPr/>
        </p:nvSpPr>
        <p:spPr>
          <a:xfrm>
            <a:off x="396875" y="1345742"/>
            <a:ext cx="8250555" cy="514350"/>
          </a:xfrm>
          <a:prstGeom prst="rect">
            <a:avLst/>
          </a:prstGeom>
          <a:noFill/>
          <a:ln w="9525">
            <a:noFill/>
          </a:ln>
        </p:spPr>
        <p:txBody>
          <a:bodyPr wrap="square" anchor="t">
            <a:spAutoFit/>
          </a:bodyPr>
          <a:lstStyle/>
          <a:p>
            <a:pPr lvl="0" algn="l">
              <a:lnSpc>
                <a:spcPct val="110000"/>
              </a:lnSpc>
              <a:spcBef>
                <a:spcPts val="600"/>
              </a:spcBef>
            </a:pPr>
            <a:r>
              <a:rPr lang="en-US" altLang="x-none" sz="2500" dirty="0">
                <a:solidFill>
                  <a:srgbClr val="3402C2"/>
                </a:solidFill>
                <a:latin typeface="黑体" panose="02010609060101010101" pitchFamily="1" charset="-122"/>
                <a:ea typeface="黑体" panose="02010609060101010101" pitchFamily="1" charset="-122"/>
                <a:cs typeface="+mn-ea"/>
                <a:sym typeface="Wingdings" panose="05000000000000000000" pitchFamily="2" charset="2"/>
              </a:rPr>
              <a:t>（2）事务状态及DBMS对应的工作安排</a:t>
            </a:r>
            <a:endParaRPr lang="en-US" altLang="x-none" sz="2500" dirty="0">
              <a:solidFill>
                <a:srgbClr val="3402C2"/>
              </a:solidFill>
              <a:latin typeface="黑体" panose="02010609060101010101" pitchFamily="1" charset="-122"/>
              <a:ea typeface="黑体" panose="02010609060101010101" pitchFamily="1" charset="-122"/>
              <a:cs typeface="+mn-ea"/>
              <a:sym typeface="Wingdings" panose="05000000000000000000" pitchFamily="2" charset="2"/>
            </a:endParaRPr>
          </a:p>
        </p:txBody>
      </p:sp>
      <p:sp>
        <p:nvSpPr>
          <p:cNvPr id="8" name="Rectangle 7"/>
          <p:cNvSpPr/>
          <p:nvPr/>
        </p:nvSpPr>
        <p:spPr>
          <a:xfrm>
            <a:off x="501650" y="7643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3</a:t>
            </a:r>
            <a:r>
              <a:rPr lang="zh-CN" altLang="en-US" sz="2600" dirty="0" smtClean="0">
                <a:solidFill>
                  <a:srgbClr val="FF0000"/>
                </a:solidFill>
                <a:latin typeface="黑体" panose="02010609060101010101" pitchFamily="1" charset="-122"/>
                <a:ea typeface="黑体" panose="02010609060101010101" pitchFamily="1" charset="-122"/>
              </a:rPr>
              <a:t>、以后备副本和日志为基础的恢复技术</a:t>
            </a:r>
            <a:endParaRPr lang="en-US" altLang="x-none" sz="2600" dirty="0">
              <a:solidFill>
                <a:srgbClr val="FF0000"/>
              </a:solidFill>
              <a:latin typeface="黑体" panose="02010609060101010101" pitchFamily="1" charset="-122"/>
              <a:ea typeface="黑体" panose="02010609060101010101" pitchFamily="1"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4995" name="Rectangle 3"/>
          <p:cNvSpPr txBox="1"/>
          <p:nvPr/>
        </p:nvSpPr>
        <p:spPr>
          <a:xfrm>
            <a:off x="584348" y="1340212"/>
            <a:ext cx="8137525" cy="2072005"/>
          </a:xfrm>
          <a:prstGeom prst="rect">
            <a:avLst/>
          </a:prstGeom>
          <a:noFill/>
          <a:ln w="9525">
            <a:noFill/>
          </a:ln>
        </p:spPr>
        <p:txBody>
          <a:bodyPr anchor="t"/>
          <a:lstStyle/>
          <a:p>
            <a:pPr lvl="0" eaLnBrk="0" hangingPunct="0">
              <a:lnSpc>
                <a:spcPct val="110000"/>
              </a:lnSpc>
              <a:spcBef>
                <a:spcPct val="50000"/>
              </a:spcBef>
              <a:buClr>
                <a:srgbClr val="0033CC"/>
              </a:buClr>
              <a:buSzPct val="80000"/>
              <a:buFont typeface="Wingdings" panose="05000000000000000000" pitchFamily="2" charset="2"/>
            </a:pPr>
            <a:r>
              <a:rPr lang="en-US" altLang="zh-CN" sz="2400" dirty="0">
                <a:solidFill>
                  <a:srgbClr val="CC0000"/>
                </a:solidFill>
                <a:latin typeface="华文楷体" panose="02010600040101010101" pitchFamily="2" charset="-122"/>
                <a:ea typeface="宋体" panose="02010600030101010101" pitchFamily="2" charset="-122"/>
              </a:rPr>
              <a:t>       </a:t>
            </a:r>
            <a:r>
              <a:rPr lang="en-US" altLang="x-none" sz="2200" dirty="0">
                <a:latin typeface="楷体_GB2312"/>
                <a:ea typeface="楷体_GB2312"/>
                <a:cs typeface="+mn-ea"/>
              </a:rPr>
              <a:t>DBMS故障恢复能力不是无限的，可恢复的故障：</a:t>
            </a:r>
            <a:r>
              <a:rPr lang="zh-CN" altLang="en-US" sz="2200" u="sng" dirty="0">
                <a:solidFill>
                  <a:srgbClr val="3402C2"/>
                </a:solidFill>
                <a:latin typeface="华文中宋" panose="02010600040101010101" charset="-122"/>
                <a:ea typeface="华文中宋" panose="02010600040101010101" charset="-122"/>
                <a:sym typeface="Wingdings" panose="05000000000000000000" pitchFamily="2" charset="2"/>
              </a:rPr>
              <a:t>事务故障</a:t>
            </a:r>
            <a:r>
              <a:rPr lang="zh-CN" altLang="en-US" sz="2200" dirty="0">
                <a:latin typeface="楷体_GB2312"/>
                <a:ea typeface="楷体_GB2312"/>
                <a:sym typeface="Wingdings" panose="05000000000000000000" pitchFamily="2" charset="2"/>
              </a:rPr>
              <a:t>、</a:t>
            </a:r>
            <a:r>
              <a:rPr lang="zh-CN" altLang="en-US" sz="2200" u="sng" dirty="0">
                <a:solidFill>
                  <a:srgbClr val="3402C2"/>
                </a:solidFill>
                <a:latin typeface="华文中宋" panose="02010600040101010101" charset="-122"/>
                <a:ea typeface="华文中宋" panose="02010600040101010101" charset="-122"/>
                <a:cs typeface="+mn-ea"/>
                <a:sym typeface="Wingdings" panose="05000000000000000000" pitchFamily="2" charset="2"/>
              </a:rPr>
              <a:t>系统故障</a:t>
            </a:r>
            <a:r>
              <a:rPr lang="zh-CN" altLang="en-US" sz="2200" dirty="0">
                <a:latin typeface="楷体_GB2312"/>
                <a:ea typeface="楷体_GB2312"/>
                <a:sym typeface="Wingdings" panose="05000000000000000000" pitchFamily="2" charset="2"/>
              </a:rPr>
              <a:t>、</a:t>
            </a:r>
            <a:r>
              <a:rPr lang="zh-CN" altLang="en-US" sz="2200" u="sng" dirty="0">
                <a:solidFill>
                  <a:srgbClr val="3402C2"/>
                </a:solidFill>
                <a:latin typeface="华文中宋" panose="02010600040101010101" charset="-122"/>
                <a:ea typeface="华文中宋" panose="02010600040101010101" charset="-122"/>
                <a:cs typeface="+mn-ea"/>
                <a:sym typeface="Wingdings" panose="05000000000000000000" pitchFamily="2" charset="2"/>
              </a:rPr>
              <a:t>介质故障。</a:t>
            </a:r>
            <a:endParaRPr lang="zh-CN" altLang="en-US" sz="2200" u="sng" dirty="0">
              <a:solidFill>
                <a:srgbClr val="3402C2"/>
              </a:solidFill>
              <a:latin typeface="华文中宋" panose="02010600040101010101" charset="-122"/>
              <a:ea typeface="华文中宋" panose="02010600040101010101" charset="-122"/>
              <a:cs typeface="+mn-ea"/>
              <a:sym typeface="Wingdings" panose="05000000000000000000" pitchFamily="2" charset="2"/>
            </a:endParaRPr>
          </a:p>
          <a:p>
            <a:pPr marL="342900" lvl="0" indent="-342900" eaLnBrk="0" hangingPunct="0">
              <a:lnSpc>
                <a:spcPct val="110000"/>
              </a:lnSpc>
              <a:spcBef>
                <a:spcPct val="50000"/>
              </a:spcBef>
              <a:buClr>
                <a:srgbClr val="0033CC"/>
              </a:buClr>
              <a:buSzPct val="80000"/>
              <a:buFont typeface="Wingdings" panose="05000000000000000000" charset="0"/>
              <a:buChar char=""/>
            </a:pPr>
            <a:r>
              <a:rPr lang="zh-CN" altLang="en-US" sz="2200" u="sng" dirty="0">
                <a:solidFill>
                  <a:srgbClr val="3402C2"/>
                </a:solidFill>
                <a:latin typeface="华文中宋" panose="02010600040101010101" charset="-122"/>
                <a:ea typeface="华文中宋" panose="02010600040101010101" charset="-122"/>
                <a:cs typeface="+mn-ea"/>
                <a:sym typeface="Wingdings" panose="05000000000000000000" pitchFamily="2" charset="2"/>
              </a:rPr>
              <a:t>说明：</a:t>
            </a:r>
            <a:r>
              <a:rPr lang="en-US" altLang="x-none" sz="2200" dirty="0">
                <a:latin typeface="楷体_GB2312"/>
                <a:ea typeface="楷体_GB2312"/>
                <a:cs typeface="+mn-ea"/>
                <a:sym typeface="Wingdings" panose="05000000000000000000" pitchFamily="2" charset="2"/>
              </a:rPr>
              <a:t>不能</a:t>
            </a:r>
            <a:r>
              <a:rPr lang="zh-CN" altLang="en-US" sz="2200" dirty="0">
                <a:latin typeface="楷体_GB2312"/>
                <a:ea typeface="楷体_GB2312"/>
                <a:cs typeface="+mn-ea"/>
                <a:sym typeface="Wingdings" panose="05000000000000000000" pitchFamily="2" charset="2"/>
              </a:rPr>
              <a:t>孤立地看待以上</a:t>
            </a:r>
            <a:r>
              <a:rPr lang="en-US" altLang="zh-CN" sz="2200" dirty="0">
                <a:latin typeface="楷体_GB2312"/>
                <a:ea typeface="楷体_GB2312"/>
                <a:cs typeface="+mn-ea"/>
                <a:sym typeface="Wingdings" panose="05000000000000000000" pitchFamily="2" charset="2"/>
              </a:rPr>
              <a:t>3</a:t>
            </a:r>
            <a:r>
              <a:rPr lang="zh-CN" altLang="en-US" sz="2200" dirty="0">
                <a:latin typeface="楷体_GB2312"/>
                <a:ea typeface="楷体_GB2312"/>
                <a:cs typeface="+mn-ea"/>
                <a:sym typeface="Wingdings" panose="05000000000000000000" pitchFamily="2" charset="2"/>
              </a:rPr>
              <a:t>种故障，事实上，系统故障和介质故障都可能引起事务故障，因此事务故障的恢复措施就会作为系统故障和介质故障的一部分。</a:t>
            </a:r>
            <a:endParaRPr lang="zh-CN" altLang="en-US" sz="2200" dirty="0">
              <a:latin typeface="楷体_GB2312"/>
              <a:ea typeface="楷体_GB2312"/>
              <a:cs typeface="+mn-ea"/>
              <a:sym typeface="Wingdings" panose="05000000000000000000" pitchFamily="2" charset="2"/>
            </a:endParaRPr>
          </a:p>
        </p:txBody>
      </p:sp>
      <p:grpSp>
        <p:nvGrpSpPr>
          <p:cNvPr id="7" name="组合 6"/>
          <p:cNvGrpSpPr/>
          <p:nvPr/>
        </p:nvGrpSpPr>
        <p:grpSpPr>
          <a:xfrm>
            <a:off x="531495" y="3470910"/>
            <a:ext cx="8137525" cy="2625090"/>
            <a:chOff x="957" y="5526"/>
            <a:chExt cx="12815" cy="4134"/>
          </a:xfrm>
        </p:grpSpPr>
        <p:sp>
          <p:nvSpPr>
            <p:cNvPr id="78879" name="Text Box 3"/>
            <p:cNvSpPr txBox="1"/>
            <p:nvPr/>
          </p:nvSpPr>
          <p:spPr>
            <a:xfrm>
              <a:off x="957" y="5526"/>
              <a:ext cx="8081" cy="810"/>
            </a:xfrm>
            <a:prstGeom prst="rect">
              <a:avLst/>
            </a:prstGeom>
            <a:noFill/>
            <a:ln w="9525">
              <a:noFill/>
            </a:ln>
          </p:spPr>
          <p:txBody>
            <a:bodyPr wrap="square" anchor="t">
              <a:spAutoFit/>
            </a:bodyPr>
            <a:lstStyle/>
            <a:p>
              <a:pPr lvl="0" algn="l">
                <a:lnSpc>
                  <a:spcPct val="110000"/>
                </a:lnSpc>
                <a:spcBef>
                  <a:spcPts val="600"/>
                </a:spcBef>
              </a:pPr>
              <a:r>
                <a:rPr lang="en-US" altLang="x-none" sz="2500" dirty="0">
                  <a:solidFill>
                    <a:srgbClr val="FF0000"/>
                  </a:solidFill>
                  <a:latin typeface="黑体" panose="02010609060101010101" pitchFamily="1" charset="-122"/>
                  <a:ea typeface="黑体" panose="02010609060101010101" pitchFamily="1" charset="-122"/>
                  <a:cs typeface="+mn-ea"/>
                  <a:sym typeface="Wingdings" panose="05000000000000000000" pitchFamily="2" charset="2"/>
                </a:rPr>
                <a:t>（1）事务</a:t>
              </a:r>
              <a:r>
                <a:rPr lang="zh-CN" altLang="en-US" sz="2500" dirty="0">
                  <a:solidFill>
                    <a:srgbClr val="FF0000"/>
                  </a:solidFill>
                  <a:latin typeface="黑体" panose="02010609060101010101" pitchFamily="1" charset="-122"/>
                  <a:ea typeface="黑体" panose="02010609060101010101" pitchFamily="1" charset="-122"/>
                  <a:cs typeface="+mn-ea"/>
                  <a:sym typeface="Wingdings" panose="05000000000000000000" pitchFamily="2" charset="2"/>
                </a:rPr>
                <a:t>故障及恢复</a:t>
              </a:r>
              <a:endParaRPr lang="zh-CN" altLang="en-US" sz="2500" dirty="0">
                <a:solidFill>
                  <a:srgbClr val="FF0000"/>
                </a:solidFill>
                <a:latin typeface="黑体" panose="02010609060101010101" pitchFamily="1" charset="-122"/>
                <a:ea typeface="黑体" panose="02010609060101010101" pitchFamily="1" charset="-122"/>
                <a:cs typeface="+mn-ea"/>
                <a:sym typeface="Wingdings" panose="05000000000000000000" pitchFamily="2" charset="2"/>
              </a:endParaRPr>
            </a:p>
          </p:txBody>
        </p:sp>
        <p:sp>
          <p:nvSpPr>
            <p:cNvPr id="5" name="文本框 4"/>
            <p:cNvSpPr txBox="1"/>
            <p:nvPr/>
          </p:nvSpPr>
          <p:spPr>
            <a:xfrm>
              <a:off x="958" y="6336"/>
              <a:ext cx="12660" cy="1396"/>
            </a:xfrm>
            <a:prstGeom prst="rect">
              <a:avLst/>
            </a:prstGeom>
            <a:noFill/>
          </p:spPr>
          <p:txBody>
            <a:bodyPr wrap="square" rtlCol="0" anchor="t">
              <a:spAutoFit/>
            </a:bodyPr>
            <a:lstStyle/>
            <a:p>
              <a:pPr marL="342900" lvl="0" indent="-342900" eaLnBrk="0" hangingPunct="0">
                <a:lnSpc>
                  <a:spcPct val="110000"/>
                </a:lnSpc>
                <a:spcBef>
                  <a:spcPct val="50000"/>
                </a:spcBef>
                <a:buClr>
                  <a:srgbClr val="0033CC"/>
                </a:buClr>
                <a:buSzPct val="80000"/>
                <a:buFont typeface="Wingdings" panose="05000000000000000000" charset="0"/>
                <a:buChar char=""/>
              </a:pPr>
              <a:r>
                <a:rPr lang="zh-CN" altLang="en-US" sz="2400" u="sng" dirty="0">
                  <a:solidFill>
                    <a:srgbClr val="3402C2"/>
                  </a:solidFill>
                  <a:latin typeface="华文中宋" panose="02010600040101010101" charset="-122"/>
                  <a:ea typeface="华文中宋" panose="02010600040101010101" charset="-122"/>
                  <a:sym typeface="Wingdings" panose="05000000000000000000" pitchFamily="2" charset="2"/>
                </a:rPr>
                <a:t>事务的开始与</a:t>
              </a:r>
              <a:r>
                <a:rPr lang="zh-CN" altLang="en-US" sz="2400" u="sng" dirty="0">
                  <a:solidFill>
                    <a:srgbClr val="3402C2"/>
                  </a:solidFill>
                  <a:latin typeface="华文中宋" panose="02010600040101010101" charset="-122"/>
                  <a:ea typeface="华文中宋" panose="02010600040101010101" charset="-122"/>
                  <a:cs typeface="+mn-ea"/>
                  <a:sym typeface="Wingdings" panose="05000000000000000000" pitchFamily="2" charset="2"/>
                </a:rPr>
                <a:t>结束：</a:t>
              </a:r>
              <a:r>
                <a:rPr lang="zh-CN" altLang="en-US" sz="2300" dirty="0">
                  <a:latin typeface="华文楷体" panose="02010600040101010101" pitchFamily="2" charset="-122"/>
                  <a:sym typeface="Wingdings" panose="05000000000000000000" pitchFamily="2" charset="2"/>
                </a:rPr>
                <a:t>一</a:t>
              </a:r>
              <a:r>
                <a:rPr lang="zh-CN" altLang="en-US" sz="2300" dirty="0">
                  <a:latin typeface="宋体" panose="02010600030101010101" pitchFamily="2" charset="-122"/>
                  <a:cs typeface="+mn-ea"/>
                  <a:sym typeface="Wingdings" panose="05000000000000000000" pitchFamily="2" charset="2"/>
                </a:rPr>
                <a:t>个事务以BEGIN TRANSACTION语句开始，以COMMIT或ROLLBACK语句的成功执行结束。</a:t>
              </a:r>
              <a:endParaRPr lang="zh-CN" altLang="en-US" sz="2300" dirty="0">
                <a:latin typeface="宋体" panose="02010600030101010101" pitchFamily="2" charset="-122"/>
                <a:cs typeface="+mn-ea"/>
              </a:endParaRPr>
            </a:p>
          </p:txBody>
        </p:sp>
        <p:sp>
          <p:nvSpPr>
            <p:cNvPr id="6" name="Rectangle 3"/>
            <p:cNvSpPr txBox="1"/>
            <p:nvPr/>
          </p:nvSpPr>
          <p:spPr>
            <a:xfrm>
              <a:off x="958" y="7672"/>
              <a:ext cx="12815" cy="1988"/>
            </a:xfrm>
            <a:prstGeom prst="rect">
              <a:avLst/>
            </a:prstGeom>
            <a:noFill/>
            <a:ln w="9525">
              <a:noFill/>
            </a:ln>
          </p:spPr>
          <p:txBody>
            <a:bodyPr anchor="t"/>
            <a:lstStyle/>
            <a:p>
              <a:pPr marL="342900" lvl="0" indent="-342900" eaLnBrk="0" hangingPunct="0">
                <a:lnSpc>
                  <a:spcPct val="110000"/>
                </a:lnSpc>
                <a:spcBef>
                  <a:spcPct val="50000"/>
                </a:spcBef>
                <a:buClr>
                  <a:srgbClr val="0033CC"/>
                </a:buClr>
                <a:buSzPct val="80000"/>
                <a:buFont typeface="Wingdings" panose="05000000000000000000" charset="0"/>
                <a:buChar char=""/>
              </a:pPr>
              <a:r>
                <a:rPr lang="zh-CN" altLang="en-US" sz="2400" u="sng" dirty="0">
                  <a:solidFill>
                    <a:srgbClr val="3402C2"/>
                  </a:solidFill>
                  <a:latin typeface="华文中宋" panose="02010600040101010101" charset="-122"/>
                  <a:ea typeface="华文中宋" panose="02010600040101010101" charset="-122"/>
                  <a:cs typeface="+mn-ea"/>
                  <a:sym typeface="Wingdings" panose="05000000000000000000" pitchFamily="2" charset="2"/>
                </a:rPr>
                <a:t>提交点：</a:t>
              </a:r>
              <a:r>
                <a:rPr lang="en-US" altLang="zh-CN" sz="2200" u="sng" dirty="0">
                  <a:latin typeface="华文楷体" panose="02010600040101010101" pitchFamily="2" charset="-122"/>
                  <a:ea typeface="宋体" panose="02010600030101010101" pitchFamily="2" charset="-122"/>
                  <a:sym typeface="Wingdings" panose="05000000000000000000" pitchFamily="2" charset="2"/>
                </a:rPr>
                <a:t>DBMS</a:t>
              </a:r>
              <a:r>
                <a:rPr lang="zh-CN" altLang="en-US" sz="2200" u="sng" dirty="0">
                  <a:latin typeface="华文楷体" panose="02010600040101010101" pitchFamily="2" charset="-122"/>
                  <a:ea typeface="宋体" panose="02010600030101010101" pitchFamily="2" charset="-122"/>
                  <a:sym typeface="Wingdings" panose="05000000000000000000" pitchFamily="2" charset="2"/>
                </a:rPr>
                <a:t>会在</a:t>
              </a:r>
              <a:r>
                <a:rPr lang="en-US" altLang="x-none" sz="2200" dirty="0">
                  <a:latin typeface="华文楷体" panose="02010600040101010101" pitchFamily="2" charset="-122"/>
                  <a:ea typeface="宋体" panose="02010600030101010101" pitchFamily="2" charset="-122"/>
                  <a:sym typeface="Wingdings" panose="05000000000000000000" pitchFamily="2" charset="2"/>
                </a:rPr>
                <a:t>COMMIT</a:t>
              </a:r>
              <a:r>
                <a:rPr lang="zh-CN" altLang="en-US" sz="2200" dirty="0">
                  <a:latin typeface="华文楷体" panose="02010600040101010101" pitchFamily="2" charset="-122"/>
                  <a:ea typeface="宋体" panose="02010600030101010101" pitchFamily="2" charset="-122"/>
                  <a:sym typeface="Wingdings" panose="05000000000000000000" pitchFamily="2" charset="2"/>
                </a:rPr>
                <a:t>时建立一个提交点，</a:t>
              </a:r>
              <a:r>
                <a:rPr lang="zh-CN" altLang="en-US" sz="2200" dirty="0">
                  <a:latin typeface="楷体_GB2312"/>
                  <a:ea typeface="楷体_GB2312"/>
                  <a:sym typeface="Wingdings" panose="05000000000000000000" pitchFamily="2" charset="2"/>
                </a:rPr>
                <a:t>在商用</a:t>
              </a:r>
              <a:r>
                <a:rPr lang="en-US" altLang="x-none" sz="2200" dirty="0">
                  <a:latin typeface="楷体_GB2312"/>
                  <a:ea typeface="楷体_GB2312"/>
                  <a:sym typeface="Wingdings" panose="05000000000000000000" pitchFamily="2" charset="2"/>
                </a:rPr>
                <a:t>DBMS</a:t>
              </a:r>
              <a:r>
                <a:rPr lang="zh-CN" altLang="en-US" sz="2200" dirty="0">
                  <a:latin typeface="楷体_GB2312"/>
                  <a:ea typeface="楷体_GB2312"/>
                  <a:sym typeface="Wingdings" panose="05000000000000000000" pitchFamily="2" charset="2"/>
                </a:rPr>
                <a:t>产品中也叫同步点</a:t>
              </a:r>
              <a:r>
                <a:rPr lang="en-US" altLang="x-none" sz="2200" dirty="0">
                  <a:latin typeface="楷体_GB2312"/>
                  <a:ea typeface="楷体_GB2312"/>
                  <a:sym typeface="Wingdings" panose="05000000000000000000" pitchFamily="2" charset="2"/>
                </a:rPr>
                <a:t>(Syncpoint)</a:t>
              </a:r>
              <a:r>
                <a:rPr lang="zh-CN" altLang="en-US" sz="2200" dirty="0">
                  <a:latin typeface="楷体_GB2312"/>
                  <a:ea typeface="楷体_GB2312"/>
                  <a:sym typeface="Wingdings" panose="05000000000000000000" pitchFamily="2" charset="2"/>
                </a:rPr>
                <a:t>。提交点标志着逻辑工作单元的结束，要求</a:t>
              </a:r>
              <a:r>
                <a:rPr lang="en-US" altLang="x-none" sz="2200" dirty="0">
                  <a:latin typeface="楷体_GB2312"/>
                  <a:ea typeface="楷体_GB2312"/>
                  <a:sym typeface="Wingdings" panose="05000000000000000000" pitchFamily="2" charset="2"/>
                </a:rPr>
                <a:t>DB</a:t>
              </a:r>
              <a:r>
                <a:rPr lang="zh-CN" altLang="en-US" sz="2200" dirty="0">
                  <a:latin typeface="楷体_GB2312"/>
                  <a:ea typeface="楷体_GB2312"/>
                  <a:sym typeface="Wingdings" panose="05000000000000000000" pitchFamily="2" charset="2"/>
                </a:rPr>
                <a:t>处于一致状态。</a:t>
              </a:r>
              <a:endParaRPr lang="zh-CN" altLang="en-US" sz="2200" dirty="0">
                <a:latin typeface="楷体_GB2312"/>
                <a:ea typeface="楷体_GB2312"/>
                <a:sym typeface="Wingdings" panose="05000000000000000000" pitchFamily="2" charset="2"/>
              </a:endParaRPr>
            </a:p>
          </p:txBody>
        </p:sp>
      </p:grpSp>
      <p:sp>
        <p:nvSpPr>
          <p:cNvPr id="9" name="Rectangle 7"/>
          <p:cNvSpPr/>
          <p:nvPr/>
        </p:nvSpPr>
        <p:spPr>
          <a:xfrm>
            <a:off x="501650" y="7643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3</a:t>
            </a:r>
            <a:r>
              <a:rPr lang="zh-CN" altLang="en-US" sz="2600" dirty="0" smtClean="0">
                <a:solidFill>
                  <a:srgbClr val="FF0000"/>
                </a:solidFill>
                <a:latin typeface="黑体" panose="02010609060101010101" pitchFamily="1" charset="-122"/>
                <a:ea typeface="黑体" panose="02010609060101010101" pitchFamily="1" charset="-122"/>
              </a:rPr>
              <a:t>、以后备副本和日志为基础的恢复技术</a:t>
            </a:r>
            <a:r>
              <a:rPr lang="en-US" altLang="zh-CN" sz="2600" dirty="0" smtClean="0">
                <a:solidFill>
                  <a:srgbClr val="3402C2"/>
                </a:solidFill>
                <a:latin typeface="黑体" panose="02010609060101010101" pitchFamily="1" charset="-122"/>
                <a:ea typeface="黑体" panose="02010609060101010101" pitchFamily="1" charset="-122"/>
              </a:rPr>
              <a:t>—</a:t>
            </a:r>
            <a:r>
              <a:rPr lang="zh-CN" altLang="en-US" sz="2600" dirty="0" smtClean="0">
                <a:solidFill>
                  <a:srgbClr val="3402C2"/>
                </a:solidFill>
                <a:latin typeface="黑体" panose="02010609060101010101" pitchFamily="1" charset="-122"/>
                <a:ea typeface="黑体" panose="02010609060101010101" pitchFamily="1" charset="-122"/>
              </a:rPr>
              <a:t>恢复对策</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3" name="Text Box 7"/>
          <p:cNvSpPr txBox="1"/>
          <p:nvPr/>
        </p:nvSpPr>
        <p:spPr>
          <a:xfrm>
            <a:off x="720725" y="4241165"/>
            <a:ext cx="7646035" cy="1676400"/>
          </a:xfrm>
          <a:prstGeom prst="rect">
            <a:avLst/>
          </a:prstGeom>
          <a:noFill/>
          <a:ln w="9525">
            <a:solidFill>
              <a:srgbClr val="3402C2"/>
            </a:solidFill>
            <a:prstDash val="dash"/>
          </a:ln>
        </p:spPr>
        <p:txBody>
          <a:bodyPr wrap="square" anchor="t">
            <a:spAutoFit/>
          </a:bodyPr>
          <a:lstStyle/>
          <a:p>
            <a:pPr marL="457200" lvl="0" indent="-457200">
              <a:spcBef>
                <a:spcPct val="50000"/>
              </a:spcBef>
            </a:pPr>
            <a:r>
              <a:rPr lang="zh-CN" altLang="zh-CN" sz="2200" dirty="0">
                <a:latin typeface="华文楷体" panose="02010600040101010101" pitchFamily="2" charset="-122"/>
                <a:ea typeface="华文楷体" panose="02010600040101010101" pitchFamily="2" charset="-122"/>
                <a:sym typeface="Wingdings 2" panose="05020102010507070707" charset="0"/>
              </a:rPr>
              <a:t> </a:t>
            </a:r>
            <a:r>
              <a:rPr lang="zh-CN" altLang="zh-CN" sz="2200" dirty="0">
                <a:latin typeface="华文楷体" panose="02010600040101010101" pitchFamily="2" charset="-122"/>
                <a:ea typeface="华文楷体" panose="02010600040101010101" pitchFamily="2" charset="-122"/>
                <a:sym typeface="Wingdings" panose="05000000000000000000" pitchFamily="2" charset="2"/>
              </a:rPr>
              <a:t>从后向前扫描日志，找到故障事务；</a:t>
            </a:r>
            <a:endParaRPr lang="zh-CN" altLang="zh-CN" sz="2200" dirty="0">
              <a:latin typeface="华文楷体" panose="02010600040101010101" pitchFamily="2" charset="-122"/>
              <a:ea typeface="华文楷体" panose="02010600040101010101" pitchFamily="2" charset="-122"/>
              <a:sym typeface="Wingdings" panose="05000000000000000000" pitchFamily="2" charset="2"/>
            </a:endParaRPr>
          </a:p>
          <a:p>
            <a:pPr lvl="0">
              <a:spcBef>
                <a:spcPts val="600"/>
              </a:spcBef>
            </a:pPr>
            <a:r>
              <a:rPr lang="zh-CN" altLang="en-US" sz="2200" dirty="0">
                <a:latin typeface="华文楷体" panose="02010600040101010101" pitchFamily="2" charset="-122"/>
                <a:ea typeface="华文楷体" panose="02010600040101010101" pitchFamily="2" charset="-122"/>
                <a:sym typeface="Wingdings" panose="05000000000000000000" charset="0"/>
              </a:rPr>
              <a:t> </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丢弃该事务的消息队列；</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lvl="0">
              <a:spcBef>
                <a:spcPts val="600"/>
              </a:spcBef>
            </a:pPr>
            <a:r>
              <a:rPr lang="zh-CN" altLang="en-US" sz="2200" dirty="0">
                <a:latin typeface="华文楷体" panose="02010600040101010101" pitchFamily="2" charset="-122"/>
                <a:ea typeface="华文楷体" panose="02010600040101010101" pitchFamily="2" charset="-122"/>
                <a:sym typeface="Wingdings 2" panose="05020102010507070707" charset="0"/>
              </a:rPr>
              <a:t> </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扫描日志，撤销（</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undo) </a:t>
            </a:r>
            <a:r>
              <a:rPr lang="zh-CN" altLang="en-US" sz="2200" dirty="0">
                <a:latin typeface="华文楷体" panose="02010600040101010101" pitchFamily="2" charset="-122"/>
                <a:ea typeface="华文楷体" panose="02010600040101010101" pitchFamily="2" charset="-122"/>
                <a:cs typeface="+mn-ea"/>
                <a:sym typeface="Wingdings" panose="05000000000000000000" pitchFamily="2" charset="2"/>
              </a:rPr>
              <a:t>所有</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不可靠的修改。 </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marL="457200" lvl="0" indent="-457200">
              <a:spcBef>
                <a:spcPts val="600"/>
              </a:spcBef>
            </a:pPr>
            <a:r>
              <a:rPr lang="zh-CN" altLang="en-US" sz="2200" dirty="0">
                <a:latin typeface="华文楷体" panose="02010600040101010101" pitchFamily="2" charset="-122"/>
                <a:ea typeface="华文楷体" panose="02010600040101010101" pitchFamily="2" charset="-122"/>
                <a:sym typeface="Wingdings" panose="05000000000000000000" charset="0"/>
              </a:rPr>
              <a:t> </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从</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ATL</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删除该事务</a:t>
            </a:r>
            <a:r>
              <a:rPr lang="en-US" altLang="x-none" sz="2200" dirty="0">
                <a:latin typeface="华文楷体" panose="02010600040101010101" pitchFamily="2" charset="-122"/>
                <a:ea typeface="华文楷体" panose="02010600040101010101" pitchFamily="2" charset="-122"/>
                <a:sym typeface="Wingdings" panose="05000000000000000000" pitchFamily="2" charset="2"/>
              </a:rPr>
              <a:t>TID</a:t>
            </a:r>
            <a:r>
              <a:rPr lang="zh-CN" altLang="en-US" sz="2200" dirty="0">
                <a:latin typeface="华文楷体" panose="02010600040101010101" pitchFamily="2" charset="-122"/>
                <a:ea typeface="华文楷体" panose="02010600040101010101" pitchFamily="2" charset="-122"/>
                <a:sym typeface="Wingdings" panose="05000000000000000000" pitchFamily="2" charset="2"/>
              </a:rPr>
              <a:t>，释放该事务所占资源。</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4" name="Rectangle 2"/>
          <p:cNvSpPr/>
          <p:nvPr/>
        </p:nvSpPr>
        <p:spPr>
          <a:xfrm>
            <a:off x="423863" y="428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9092" name="Text Box 6"/>
          <p:cNvSpPr txBox="1"/>
          <p:nvPr/>
        </p:nvSpPr>
        <p:spPr>
          <a:xfrm>
            <a:off x="735330" y="2368550"/>
            <a:ext cx="7630795" cy="1301115"/>
          </a:xfrm>
          <a:prstGeom prst="rect">
            <a:avLst/>
          </a:prstGeom>
          <a:noFill/>
          <a:ln w="9525">
            <a:solidFill>
              <a:srgbClr val="3402C2"/>
            </a:solidFill>
            <a:prstDash val="dash"/>
          </a:ln>
        </p:spPr>
        <p:txBody>
          <a:bodyPr wrap="square" anchor="t">
            <a:spAutoFit/>
          </a:bodyPr>
          <a:lstStyle/>
          <a:p>
            <a:pPr lvl="0">
              <a:lnSpc>
                <a:spcPct val="115000"/>
              </a:lnSpc>
              <a:spcBef>
                <a:spcPts val="50"/>
              </a:spcBef>
              <a:spcAft>
                <a:spcPts val="0"/>
              </a:spcAft>
              <a:buFont typeface="Wingdings" panose="05000000000000000000" pitchFamily="2" charset="2"/>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   ① 事务无法执行而中止。          ② 用户主动撤销事务。</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10000"/>
              </a:lnSpc>
              <a:spcBef>
                <a:spcPts val="300"/>
              </a:spcBef>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   ③ 因系统调度差错而中止。      ④ 因电源故障而中止。 </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10000"/>
              </a:lnSpc>
              <a:spcBef>
                <a:spcPts val="300"/>
              </a:spcBef>
            </a:pPr>
            <a:r>
              <a:rPr lang="zh-CN" altLang="en-US" sz="2200" dirty="0">
                <a:latin typeface="华文楷体" panose="02010600040101010101" pitchFamily="2" charset="-122"/>
                <a:ea typeface="华文楷体" panose="02010600040101010101" pitchFamily="2" charset="-122"/>
                <a:sym typeface="Wingdings" panose="05000000000000000000" pitchFamily="2" charset="2"/>
              </a:rPr>
              <a:t>   ⑤ 因介质故障而中止。</a:t>
            </a:r>
            <a:endParaRPr lang="zh-CN" altLang="en-US" sz="22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5" name="文本框 4"/>
          <p:cNvSpPr txBox="1"/>
          <p:nvPr/>
        </p:nvSpPr>
        <p:spPr>
          <a:xfrm>
            <a:off x="644525" y="1428750"/>
            <a:ext cx="7812405" cy="886460"/>
          </a:xfrm>
          <a:prstGeom prst="rect">
            <a:avLst/>
          </a:prstGeom>
          <a:noFill/>
        </p:spPr>
        <p:txBody>
          <a:bodyPr wrap="square" rtlCol="0" anchor="t">
            <a:spAutoFit/>
          </a:bodyPr>
          <a:lstStyle/>
          <a:p>
            <a:pPr marL="342900" indent="-342900">
              <a:lnSpc>
                <a:spcPct val="110000"/>
              </a:lnSpc>
              <a:spcBef>
                <a:spcPts val="0"/>
              </a:spcBef>
              <a:spcAft>
                <a:spcPts val="0"/>
              </a:spcAft>
              <a:buFont typeface="Wingdings" panose="05000000000000000000" charset="0"/>
              <a:buChar char=""/>
            </a:pPr>
            <a:r>
              <a:rPr lang="zh-CN" altLang="en-US" sz="2400" u="sng" dirty="0">
                <a:solidFill>
                  <a:srgbClr val="3402C2"/>
                </a:solidFill>
                <a:latin typeface="华文中宋" panose="02010600040101010101" charset="-122"/>
                <a:ea typeface="华文中宋" panose="02010600040101010101" charset="-122"/>
                <a:cs typeface="+mn-ea"/>
                <a:sym typeface="Wingdings" panose="05000000000000000000" pitchFamily="2" charset="2"/>
              </a:rPr>
              <a:t>事务故障：</a:t>
            </a:r>
            <a:r>
              <a:rPr lang="zh-CN" altLang="en-US" sz="2300" dirty="0">
                <a:latin typeface="宋体" panose="02010600030101010101" pitchFamily="2" charset="-122"/>
                <a:cs typeface="+mn-ea"/>
                <a:sym typeface="Wingdings" panose="05000000000000000000" pitchFamily="2" charset="2"/>
              </a:rPr>
              <a:t>由于某些原因在正常结束前被异常终止，失效的事务都是发生在提交点之前，即未提交的事务。</a:t>
            </a:r>
            <a:endParaRPr lang="zh-CN" altLang="en-US" sz="2300" dirty="0">
              <a:latin typeface="宋体" panose="02010600030101010101" pitchFamily="2" charset="-122"/>
              <a:cs typeface="+mn-ea"/>
            </a:endParaRPr>
          </a:p>
        </p:txBody>
      </p:sp>
      <p:sp>
        <p:nvSpPr>
          <p:cNvPr id="6" name="文本框 5"/>
          <p:cNvSpPr txBox="1"/>
          <p:nvPr/>
        </p:nvSpPr>
        <p:spPr>
          <a:xfrm>
            <a:off x="640715" y="3720465"/>
            <a:ext cx="7812405" cy="497205"/>
          </a:xfrm>
          <a:prstGeom prst="rect">
            <a:avLst/>
          </a:prstGeom>
          <a:noFill/>
        </p:spPr>
        <p:txBody>
          <a:bodyPr wrap="square" rtlCol="0" anchor="t">
            <a:spAutoFit/>
          </a:bodyPr>
          <a:lstStyle/>
          <a:p>
            <a:pPr marL="342900" indent="-342900">
              <a:lnSpc>
                <a:spcPct val="110000"/>
              </a:lnSpc>
              <a:spcBef>
                <a:spcPts val="0"/>
              </a:spcBef>
              <a:spcAft>
                <a:spcPts val="0"/>
              </a:spcAft>
              <a:buFont typeface="Wingdings" panose="05000000000000000000" charset="0"/>
              <a:buChar char=""/>
            </a:pPr>
            <a:r>
              <a:rPr lang="zh-CN" altLang="en-US" sz="2400" u="sng" dirty="0">
                <a:solidFill>
                  <a:srgbClr val="3402C2"/>
                </a:solidFill>
                <a:latin typeface="华文中宋" panose="02010600040101010101" charset="-122"/>
                <a:ea typeface="华文中宋" panose="02010600040101010101" charset="-122"/>
                <a:cs typeface="+mn-ea"/>
                <a:sym typeface="Wingdings" panose="05000000000000000000" pitchFamily="2" charset="2"/>
              </a:rPr>
              <a:t>故障恢复：</a:t>
            </a:r>
            <a:r>
              <a:rPr lang="zh-CN" altLang="en-US" sz="2300" dirty="0">
                <a:latin typeface="宋体" panose="02010600030101010101" pitchFamily="2" charset="-122"/>
                <a:cs typeface="+mn-ea"/>
                <a:sym typeface="Wingdings" panose="05000000000000000000" pitchFamily="2" charset="2"/>
              </a:rPr>
              <a:t>失败事务已做的所有更新操作必须被撤销。</a:t>
            </a:r>
            <a:endParaRPr lang="zh-CN" altLang="en-US" sz="2300" dirty="0">
              <a:latin typeface="宋体" panose="02010600030101010101" pitchFamily="2" charset="-122"/>
              <a:cs typeface="+mn-ea"/>
            </a:endParaRPr>
          </a:p>
        </p:txBody>
      </p:sp>
      <p:sp>
        <p:nvSpPr>
          <p:cNvPr id="8" name="Rectangle 7"/>
          <p:cNvSpPr/>
          <p:nvPr/>
        </p:nvSpPr>
        <p:spPr>
          <a:xfrm>
            <a:off x="501650" y="7643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3</a:t>
            </a:r>
            <a:r>
              <a:rPr lang="zh-CN" altLang="en-US" sz="2600" dirty="0" smtClean="0">
                <a:solidFill>
                  <a:srgbClr val="FF0000"/>
                </a:solidFill>
                <a:latin typeface="黑体" panose="02010609060101010101" pitchFamily="1" charset="-122"/>
                <a:ea typeface="黑体" panose="02010609060101010101" pitchFamily="1" charset="-122"/>
              </a:rPr>
              <a:t>、以后备副本和日志为基础的恢复技术</a:t>
            </a:r>
            <a:r>
              <a:rPr lang="en-US" altLang="zh-CN" sz="2600" dirty="0" smtClean="0">
                <a:solidFill>
                  <a:srgbClr val="3402C2"/>
                </a:solidFill>
                <a:latin typeface="黑体" panose="02010609060101010101" pitchFamily="1" charset="-122"/>
                <a:ea typeface="黑体" panose="02010609060101010101" pitchFamily="1" charset="-122"/>
              </a:rPr>
              <a:t>—</a:t>
            </a:r>
            <a:r>
              <a:rPr lang="zh-CN" altLang="en-US" sz="2600" dirty="0" smtClean="0">
                <a:solidFill>
                  <a:srgbClr val="3402C2"/>
                </a:solidFill>
                <a:latin typeface="黑体" panose="02010609060101010101" pitchFamily="1" charset="-122"/>
                <a:ea typeface="黑体" panose="02010609060101010101" pitchFamily="1" charset="-122"/>
              </a:rPr>
              <a:t>恢复对策</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9093"/>
                                        </p:tgtEl>
                                        <p:attrNameLst>
                                          <p:attrName>style.visibility</p:attrName>
                                        </p:attrNameLst>
                                      </p:cBhvr>
                                      <p:to>
                                        <p:strVal val="visible"/>
                                      </p:to>
                                    </p:set>
                                    <p:animEffect transition="in" filter="checkerboard(across)">
                                      <p:cBhvr>
                                        <p:cTn id="7" dur="500"/>
                                        <p:tgtEl>
                                          <p:spTgt spid="89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3"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a:xfrm>
            <a:off x="423863" y="428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78879" name="Text Box 3"/>
          <p:cNvSpPr txBox="1"/>
          <p:nvPr/>
        </p:nvSpPr>
        <p:spPr>
          <a:xfrm>
            <a:off x="460375" y="1403350"/>
            <a:ext cx="5131435" cy="514350"/>
          </a:xfrm>
          <a:prstGeom prst="rect">
            <a:avLst/>
          </a:prstGeom>
          <a:noFill/>
          <a:ln w="9525">
            <a:noFill/>
          </a:ln>
        </p:spPr>
        <p:txBody>
          <a:bodyPr wrap="square" anchor="t">
            <a:spAutoFit/>
          </a:bodyPr>
          <a:lstStyle/>
          <a:p>
            <a:pPr lvl="0" algn="l">
              <a:lnSpc>
                <a:spcPct val="110000"/>
              </a:lnSpc>
              <a:spcBef>
                <a:spcPts val="600"/>
              </a:spcBef>
            </a:pPr>
            <a:r>
              <a:rPr lang="en-US" altLang="x-none" sz="2500" dirty="0">
                <a:solidFill>
                  <a:srgbClr val="FF0000"/>
                </a:solidFill>
                <a:latin typeface="黑体" panose="02010609060101010101" pitchFamily="1" charset="-122"/>
                <a:ea typeface="黑体" panose="02010609060101010101" pitchFamily="1" charset="-122"/>
                <a:cs typeface="+mn-ea"/>
                <a:sym typeface="Wingdings" panose="05000000000000000000" pitchFamily="2" charset="2"/>
              </a:rPr>
              <a:t>（2）</a:t>
            </a:r>
            <a:r>
              <a:rPr lang="zh-CN" altLang="x-none" sz="2500" dirty="0">
                <a:solidFill>
                  <a:srgbClr val="FF0000"/>
                </a:solidFill>
                <a:latin typeface="黑体" panose="02010609060101010101" pitchFamily="1" charset="-122"/>
                <a:ea typeface="黑体" panose="02010609060101010101" pitchFamily="1" charset="-122"/>
                <a:cs typeface="+mn-ea"/>
                <a:sym typeface="Wingdings" panose="05000000000000000000" pitchFamily="2" charset="2"/>
              </a:rPr>
              <a:t>系统</a:t>
            </a:r>
            <a:r>
              <a:rPr lang="zh-CN" altLang="en-US" sz="2500" dirty="0">
                <a:solidFill>
                  <a:srgbClr val="FF0000"/>
                </a:solidFill>
                <a:latin typeface="黑体" panose="02010609060101010101" pitchFamily="1" charset="-122"/>
                <a:ea typeface="黑体" panose="02010609060101010101" pitchFamily="1" charset="-122"/>
                <a:cs typeface="+mn-ea"/>
                <a:sym typeface="Wingdings" panose="05000000000000000000" pitchFamily="2" charset="2"/>
              </a:rPr>
              <a:t>故障及恢复</a:t>
            </a:r>
            <a:endParaRPr lang="zh-CN" altLang="en-US" sz="2500" dirty="0">
              <a:solidFill>
                <a:srgbClr val="FF0000"/>
              </a:solidFill>
              <a:latin typeface="黑体" panose="02010609060101010101" pitchFamily="1" charset="-122"/>
              <a:ea typeface="黑体" panose="02010609060101010101" pitchFamily="1" charset="-122"/>
              <a:cs typeface="+mn-ea"/>
              <a:sym typeface="Wingdings" panose="05000000000000000000" pitchFamily="2" charset="2"/>
            </a:endParaRPr>
          </a:p>
        </p:txBody>
      </p:sp>
      <p:sp>
        <p:nvSpPr>
          <p:cNvPr id="87043" name="Rectangle 3"/>
          <p:cNvSpPr txBox="1"/>
          <p:nvPr/>
        </p:nvSpPr>
        <p:spPr>
          <a:xfrm>
            <a:off x="793115" y="2465705"/>
            <a:ext cx="7624445" cy="471805"/>
          </a:xfrm>
          <a:prstGeom prst="rect">
            <a:avLst/>
          </a:prstGeom>
          <a:noFill/>
          <a:ln w="9525">
            <a:solidFill>
              <a:srgbClr val="3402C2"/>
            </a:solidFill>
            <a:prstDash val="dash"/>
          </a:ln>
        </p:spPr>
        <p:txBody>
          <a:bodyPr anchor="t"/>
          <a:lstStyle/>
          <a:p>
            <a:pPr lvl="0" eaLnBrk="0" hangingPunct="0">
              <a:spcBef>
                <a:spcPct val="50000"/>
              </a:spcBef>
              <a:buClr>
                <a:srgbClr val="0033CC"/>
              </a:buClr>
              <a:buFont typeface="Wingdings" panose="05000000000000000000" pitchFamily="2" charset="2"/>
            </a:pPr>
            <a:r>
              <a:rPr lang="en-US" altLang="zh-CN" sz="2200" dirty="0">
                <a:latin typeface="楷体" panose="02010609060101010101" pitchFamily="1" charset="-122"/>
                <a:ea typeface="楷体" panose="02010609060101010101" pitchFamily="1" charset="-122"/>
                <a:sym typeface="Wingdings" panose="05000000000000000000" pitchFamily="2" charset="2"/>
              </a:rPr>
              <a:t> </a:t>
            </a:r>
            <a:r>
              <a:rPr lang="zh-CN" altLang="en-US" sz="2200" dirty="0">
                <a:latin typeface="楷体" panose="02010609060101010101" pitchFamily="1" charset="-122"/>
                <a:ea typeface="楷体" panose="02010609060101010101" pitchFamily="1" charset="-122"/>
                <a:sym typeface="Wingdings" panose="05000000000000000000" pitchFamily="2" charset="2"/>
              </a:rPr>
              <a:t>① 掉电；  ② 除</a:t>
            </a:r>
            <a:r>
              <a:rPr lang="en-US" altLang="x-none" sz="2200" dirty="0">
                <a:latin typeface="楷体" panose="02010609060101010101" pitchFamily="1" charset="-122"/>
                <a:ea typeface="楷体" panose="02010609060101010101" pitchFamily="1" charset="-122"/>
                <a:sym typeface="Wingdings" panose="05000000000000000000" pitchFamily="2" charset="2"/>
              </a:rPr>
              <a:t>DB</a:t>
            </a:r>
            <a:r>
              <a:rPr lang="zh-CN" altLang="en-US" sz="2200" dirty="0">
                <a:latin typeface="楷体" panose="02010609060101010101" pitchFamily="1" charset="-122"/>
                <a:ea typeface="楷体" panose="02010609060101010101" pitchFamily="1" charset="-122"/>
                <a:sym typeface="Wingdings" panose="05000000000000000000" pitchFamily="2" charset="2"/>
              </a:rPr>
              <a:t>存储介质故障之外的软硬件故障。</a:t>
            </a:r>
            <a:endParaRPr lang="zh-CN" altLang="en-US" sz="2200" dirty="0">
              <a:latin typeface="楷体" panose="02010609060101010101" pitchFamily="1" charset="-122"/>
              <a:ea typeface="楷体" panose="02010609060101010101" pitchFamily="1" charset="-122"/>
              <a:sym typeface="Wingdings" panose="05000000000000000000" pitchFamily="2" charset="2"/>
            </a:endParaRPr>
          </a:p>
        </p:txBody>
      </p:sp>
      <p:sp>
        <p:nvSpPr>
          <p:cNvPr id="5" name="文本框 4"/>
          <p:cNvSpPr txBox="1"/>
          <p:nvPr/>
        </p:nvSpPr>
        <p:spPr>
          <a:xfrm>
            <a:off x="633095" y="1879600"/>
            <a:ext cx="7812405" cy="497205"/>
          </a:xfrm>
          <a:prstGeom prst="rect">
            <a:avLst/>
          </a:prstGeom>
          <a:noFill/>
        </p:spPr>
        <p:txBody>
          <a:bodyPr wrap="square" rtlCol="0" anchor="t">
            <a:spAutoFit/>
          </a:bodyPr>
          <a:lstStyle/>
          <a:p>
            <a:pPr marL="342900" indent="-342900">
              <a:lnSpc>
                <a:spcPct val="110000"/>
              </a:lnSpc>
              <a:spcBef>
                <a:spcPts val="0"/>
              </a:spcBef>
              <a:spcAft>
                <a:spcPts val="0"/>
              </a:spcAft>
              <a:buFont typeface="Wingdings" panose="05000000000000000000" charset="0"/>
              <a:buChar char=""/>
            </a:pPr>
            <a:r>
              <a:rPr lang="zh-CN" altLang="en-US" sz="2400" u="sng" dirty="0">
                <a:solidFill>
                  <a:srgbClr val="3402C2"/>
                </a:solidFill>
                <a:latin typeface="华文中宋" panose="02010600040101010101" charset="-122"/>
                <a:ea typeface="华文中宋" panose="02010600040101010101" charset="-122"/>
                <a:cs typeface="+mn-ea"/>
                <a:sym typeface="Wingdings" panose="05000000000000000000" pitchFamily="2" charset="2"/>
              </a:rPr>
              <a:t>系统故障：</a:t>
            </a:r>
            <a:r>
              <a:rPr lang="zh-CN" altLang="en-US" sz="2300" dirty="0">
                <a:latin typeface="宋体" panose="02010600030101010101" pitchFamily="2" charset="-122"/>
                <a:cs typeface="+mn-ea"/>
                <a:sym typeface="Wingdings" panose="05000000000000000000" pitchFamily="2" charset="2"/>
              </a:rPr>
              <a:t>引起系统故障的原因有两个：</a:t>
            </a:r>
            <a:endParaRPr lang="zh-CN" altLang="en-US" sz="2300" dirty="0">
              <a:latin typeface="宋体" panose="02010600030101010101" pitchFamily="2" charset="-122"/>
              <a:cs typeface="+mn-ea"/>
            </a:endParaRPr>
          </a:p>
        </p:txBody>
      </p:sp>
      <p:sp>
        <p:nvSpPr>
          <p:cNvPr id="2" name="Rectangle 3"/>
          <p:cNvSpPr txBox="1"/>
          <p:nvPr/>
        </p:nvSpPr>
        <p:spPr>
          <a:xfrm>
            <a:off x="688975" y="3035935"/>
            <a:ext cx="7731125" cy="586740"/>
          </a:xfrm>
          <a:prstGeom prst="rect">
            <a:avLst/>
          </a:prstGeom>
          <a:noFill/>
          <a:ln w="9525">
            <a:noFill/>
          </a:ln>
        </p:spPr>
        <p:txBody>
          <a:bodyPr anchor="t"/>
          <a:lstStyle/>
          <a:p>
            <a:pPr marL="342900" lvl="0" indent="-342900" eaLnBrk="0" hangingPunct="0">
              <a:lnSpc>
                <a:spcPct val="110000"/>
              </a:lnSpc>
              <a:spcBef>
                <a:spcPts val="600"/>
              </a:spcBef>
              <a:spcAft>
                <a:spcPts val="0"/>
              </a:spcAft>
              <a:buClr>
                <a:srgbClr val="0033CC"/>
              </a:buClr>
              <a:buFont typeface="Wingdings" panose="05000000000000000000" pitchFamily="2" charset="2"/>
              <a:buChar char="Ø"/>
            </a:pPr>
            <a:r>
              <a:rPr lang="zh-CN" altLang="en-US" sz="2400" u="sng" dirty="0">
                <a:solidFill>
                  <a:srgbClr val="3402C2"/>
                </a:solidFill>
                <a:latin typeface="华文中宋" panose="02010600040101010101" charset="-122"/>
                <a:ea typeface="华文中宋" panose="02010600040101010101" charset="-122"/>
                <a:cs typeface="+mn-ea"/>
                <a:sym typeface="Wingdings" panose="05000000000000000000" pitchFamily="2" charset="2"/>
              </a:rPr>
              <a:t>系统故障的结果</a:t>
            </a:r>
            <a:r>
              <a:rPr lang="zh-CN" altLang="en-US" sz="2400" dirty="0">
                <a:solidFill>
                  <a:srgbClr val="0033CC"/>
                </a:solidFill>
                <a:latin typeface="华文楷体" panose="02010600040101010101" pitchFamily="2" charset="-122"/>
                <a:ea typeface="宋体" panose="02010600030101010101" pitchFamily="2" charset="-122"/>
                <a:sym typeface="Wingdings" panose="05000000000000000000" pitchFamily="2" charset="2"/>
              </a:rPr>
              <a:t>：</a:t>
            </a:r>
            <a:r>
              <a:rPr lang="zh-CN" altLang="en-US" sz="2300" dirty="0">
                <a:latin typeface="宋体" panose="02010600030101010101" pitchFamily="2" charset="-122"/>
                <a:ea typeface="宋体" panose="02010600030101010101" pitchFamily="2" charset="-122"/>
                <a:cs typeface="+mn-ea"/>
                <a:sym typeface="Wingdings" panose="05000000000000000000" pitchFamily="2" charset="2"/>
              </a:rPr>
              <a:t>系统故障使数据库处于不一致的状态</a:t>
            </a:r>
            <a:endParaRPr lang="zh-CN" altLang="en-US" sz="2300" dirty="0">
              <a:latin typeface="宋体" panose="02010600030101010101" pitchFamily="2" charset="-122"/>
              <a:ea typeface="宋体" panose="02010600030101010101" pitchFamily="2" charset="-122"/>
              <a:cs typeface="+mn-ea"/>
              <a:sym typeface="Wingdings" panose="05000000000000000000" pitchFamily="2" charset="2"/>
            </a:endParaRPr>
          </a:p>
          <a:p>
            <a:pPr marL="342900" lvl="0" indent="-342900" eaLnBrk="0" hangingPunct="0">
              <a:spcBef>
                <a:spcPts val="600"/>
              </a:spcBef>
              <a:buClr>
                <a:srgbClr val="0033CC"/>
              </a:buClr>
              <a:buFont typeface="Wingdings" panose="05000000000000000000" pitchFamily="2" charset="2"/>
              <a:buChar char="Ø"/>
            </a:pPr>
            <a:endParaRPr lang="zh-CN" altLang="en-US" sz="2300" dirty="0">
              <a:latin typeface="宋体" panose="02010600030101010101" pitchFamily="2" charset="-122"/>
              <a:ea typeface="宋体" panose="02010600030101010101" pitchFamily="2" charset="-122"/>
              <a:cs typeface="+mn-ea"/>
              <a:sym typeface="Wingdings" panose="05000000000000000000" pitchFamily="2" charset="2"/>
            </a:endParaRPr>
          </a:p>
          <a:p>
            <a:pPr marL="342900" lvl="0" indent="-342900" eaLnBrk="0" hangingPunct="0">
              <a:spcBef>
                <a:spcPts val="600"/>
              </a:spcBef>
              <a:buClr>
                <a:srgbClr val="0033CC"/>
              </a:buClr>
              <a:buFont typeface="Wingdings" panose="05000000000000000000" pitchFamily="2" charset="2"/>
              <a:buChar char="Ø"/>
            </a:pPr>
            <a:endParaRPr lang="zh-CN" altLang="en-US" sz="2300" dirty="0">
              <a:latin typeface="宋体" panose="02010600030101010101" pitchFamily="2" charset="-122"/>
              <a:ea typeface="宋体" panose="02010600030101010101" pitchFamily="2" charset="-122"/>
              <a:cs typeface="+mn-ea"/>
              <a:sym typeface="Wingdings" panose="05000000000000000000" pitchFamily="2" charset="2"/>
            </a:endParaRPr>
          </a:p>
          <a:p>
            <a:pPr marL="342900" lvl="0" indent="-342900" eaLnBrk="0" hangingPunct="0">
              <a:spcBef>
                <a:spcPts val="600"/>
              </a:spcBef>
              <a:buClr>
                <a:srgbClr val="0033CC"/>
              </a:buClr>
              <a:buFont typeface="Wingdings" panose="05000000000000000000" pitchFamily="2" charset="2"/>
              <a:buChar char="Ø"/>
            </a:pPr>
            <a:endParaRPr lang="zh-CN" altLang="en-US" sz="2300" dirty="0">
              <a:latin typeface="宋体" panose="02010600030101010101" pitchFamily="2" charset="-122"/>
              <a:ea typeface="宋体" panose="02010600030101010101" pitchFamily="2" charset="-122"/>
              <a:cs typeface="+mn-ea"/>
              <a:sym typeface="Wingdings" panose="05000000000000000000" pitchFamily="2" charset="2"/>
            </a:endParaRPr>
          </a:p>
          <a:p>
            <a:pPr marL="342900" lvl="0" indent="-342900" eaLnBrk="0" hangingPunct="0">
              <a:spcBef>
                <a:spcPts val="600"/>
              </a:spcBef>
              <a:buClr>
                <a:srgbClr val="0033CC"/>
              </a:buClr>
              <a:buSzPct val="80000"/>
            </a:pP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
        <p:nvSpPr>
          <p:cNvPr id="8" name="Rectangle 3"/>
          <p:cNvSpPr txBox="1"/>
          <p:nvPr/>
        </p:nvSpPr>
        <p:spPr>
          <a:xfrm>
            <a:off x="808355" y="3542665"/>
            <a:ext cx="7624445" cy="867410"/>
          </a:xfrm>
          <a:prstGeom prst="rect">
            <a:avLst/>
          </a:prstGeom>
          <a:noFill/>
          <a:ln w="9525">
            <a:solidFill>
              <a:srgbClr val="3402C2"/>
            </a:solidFill>
            <a:prstDash val="dash"/>
          </a:ln>
        </p:spPr>
        <p:txBody>
          <a:bodyPr anchor="t"/>
          <a:lstStyle/>
          <a:p>
            <a:pPr lvl="0" eaLnBrk="0" hangingPunct="0">
              <a:lnSpc>
                <a:spcPct val="115000"/>
              </a:lnSpc>
              <a:spcBef>
                <a:spcPts val="50"/>
              </a:spcBef>
              <a:spcAft>
                <a:spcPts val="0"/>
              </a:spcAft>
              <a:buClr>
                <a:srgbClr val="0033CC"/>
              </a:buClr>
              <a:buFont typeface="Wingdings" panose="05000000000000000000" pitchFamily="2" charset="2"/>
            </a:pPr>
            <a:r>
              <a:rPr lang="en-US" altLang="zh-CN" sz="2200" dirty="0">
                <a:latin typeface="楷体" panose="02010609060101010101" pitchFamily="1" charset="-122"/>
                <a:ea typeface="楷体" panose="02010609060101010101" pitchFamily="1" charset="-122"/>
                <a:sym typeface="Wingdings" panose="05000000000000000000" pitchFamily="2" charset="2"/>
              </a:rPr>
              <a:t> </a:t>
            </a:r>
            <a:r>
              <a:rPr lang="zh-CN" altLang="en-US" sz="2200" dirty="0">
                <a:latin typeface="楷体" panose="02010609060101010101" pitchFamily="1" charset="-122"/>
                <a:ea typeface="楷体" panose="02010609060101010101" pitchFamily="1" charset="-122"/>
                <a:sym typeface="Wingdings" panose="05000000000000000000" pitchFamily="2" charset="2"/>
              </a:rPr>
              <a:t>① 未提交的事务对数据库的更新已写入数据库；  </a:t>
            </a:r>
            <a:endParaRPr lang="zh-CN" altLang="en-US" sz="2200" dirty="0">
              <a:latin typeface="楷体" panose="02010609060101010101" pitchFamily="1" charset="-122"/>
              <a:ea typeface="楷体" panose="02010609060101010101" pitchFamily="1" charset="-122"/>
              <a:sym typeface="Wingdings" panose="05000000000000000000" pitchFamily="2" charset="2"/>
            </a:endParaRPr>
          </a:p>
          <a:p>
            <a:pPr lvl="0" eaLnBrk="0" hangingPunct="0">
              <a:lnSpc>
                <a:spcPct val="115000"/>
              </a:lnSpc>
              <a:spcBef>
                <a:spcPts val="50"/>
              </a:spcBef>
              <a:spcAft>
                <a:spcPts val="0"/>
              </a:spcAft>
              <a:buClr>
                <a:srgbClr val="0033CC"/>
              </a:buClr>
              <a:buFont typeface="Wingdings" panose="05000000000000000000" pitchFamily="2" charset="2"/>
            </a:pPr>
            <a:r>
              <a:rPr lang="zh-CN" altLang="en-US" sz="2200" dirty="0">
                <a:latin typeface="楷体" panose="02010609060101010101" pitchFamily="1" charset="-122"/>
                <a:ea typeface="楷体" panose="02010609060101010101" pitchFamily="1" charset="-122"/>
                <a:sym typeface="Wingdings" panose="05000000000000000000" pitchFamily="2" charset="2"/>
              </a:rPr>
              <a:t> ② 已提交事务对数据库的更新还留在内存缓冲区。</a:t>
            </a:r>
            <a:endParaRPr lang="zh-CN" altLang="en-US" sz="2200" dirty="0">
              <a:latin typeface="楷体" panose="02010609060101010101" pitchFamily="1" charset="-122"/>
              <a:ea typeface="楷体" panose="02010609060101010101" pitchFamily="1" charset="-122"/>
              <a:sym typeface="Wingdings" panose="05000000000000000000" pitchFamily="2" charset="2"/>
            </a:endParaRPr>
          </a:p>
        </p:txBody>
      </p:sp>
      <p:sp>
        <p:nvSpPr>
          <p:cNvPr id="9" name="Rectangle 3"/>
          <p:cNvSpPr txBox="1"/>
          <p:nvPr/>
        </p:nvSpPr>
        <p:spPr>
          <a:xfrm>
            <a:off x="714375" y="4410075"/>
            <a:ext cx="7731125" cy="482600"/>
          </a:xfrm>
          <a:prstGeom prst="rect">
            <a:avLst/>
          </a:prstGeom>
          <a:noFill/>
          <a:ln w="9525">
            <a:noFill/>
          </a:ln>
        </p:spPr>
        <p:txBody>
          <a:bodyPr anchor="t"/>
          <a:lstStyle/>
          <a:p>
            <a:pPr marL="342900" lvl="0" indent="-342900" eaLnBrk="0" hangingPunct="0">
              <a:lnSpc>
                <a:spcPct val="110000"/>
              </a:lnSpc>
              <a:spcBef>
                <a:spcPts val="600"/>
              </a:spcBef>
              <a:spcAft>
                <a:spcPts val="0"/>
              </a:spcAft>
              <a:buClr>
                <a:srgbClr val="0033CC"/>
              </a:buClr>
              <a:buFont typeface="Wingdings" panose="05000000000000000000" pitchFamily="2" charset="2"/>
              <a:buChar char="Ø"/>
            </a:pPr>
            <a:r>
              <a:rPr lang="zh-CN" altLang="en-US" sz="2400" u="sng" dirty="0">
                <a:solidFill>
                  <a:srgbClr val="3402C2"/>
                </a:solidFill>
                <a:latin typeface="华文中宋" panose="02010600040101010101" charset="-122"/>
                <a:ea typeface="华文中宋" panose="02010600040101010101" charset="-122"/>
                <a:cs typeface="+mn-ea"/>
                <a:sym typeface="Wingdings" panose="05000000000000000000" pitchFamily="2" charset="2"/>
              </a:rPr>
              <a:t>系统故障的恢复措施</a:t>
            </a:r>
            <a:r>
              <a:rPr lang="zh-CN" altLang="en-US" sz="2400" dirty="0">
                <a:solidFill>
                  <a:srgbClr val="0033CC"/>
                </a:solidFill>
                <a:latin typeface="华文楷体" panose="02010600040101010101" pitchFamily="2" charset="-122"/>
                <a:ea typeface="宋体" panose="02010600030101010101" pitchFamily="2" charset="-122"/>
                <a:sym typeface="Wingdings" panose="05000000000000000000" pitchFamily="2" charset="2"/>
              </a:rPr>
              <a:t>：</a:t>
            </a:r>
            <a:endParaRPr lang="zh-CN" altLang="en-US" sz="2300" dirty="0">
              <a:latin typeface="宋体" panose="02010600030101010101" pitchFamily="2" charset="-122"/>
              <a:ea typeface="宋体" panose="02010600030101010101" pitchFamily="2" charset="-122"/>
              <a:cs typeface="+mn-ea"/>
              <a:sym typeface="Wingdings" panose="05000000000000000000" pitchFamily="2" charset="2"/>
            </a:endParaRPr>
          </a:p>
          <a:p>
            <a:pPr lvl="0" eaLnBrk="0" hangingPunct="0">
              <a:spcBef>
                <a:spcPts val="600"/>
              </a:spcBef>
              <a:buClr>
                <a:srgbClr val="0033CC"/>
              </a:buClr>
              <a:buFont typeface="Wingdings" panose="05000000000000000000" pitchFamily="2" charset="2"/>
            </a:pP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
        <p:nvSpPr>
          <p:cNvPr id="10" name="Rectangle 3"/>
          <p:cNvSpPr txBox="1"/>
          <p:nvPr/>
        </p:nvSpPr>
        <p:spPr>
          <a:xfrm>
            <a:off x="821055" y="4892675"/>
            <a:ext cx="7624445" cy="1144905"/>
          </a:xfrm>
          <a:prstGeom prst="rect">
            <a:avLst/>
          </a:prstGeom>
          <a:noFill/>
          <a:ln w="9525">
            <a:solidFill>
              <a:srgbClr val="3402C2"/>
            </a:solidFill>
            <a:prstDash val="dash"/>
          </a:ln>
        </p:spPr>
        <p:txBody>
          <a:bodyPr anchor="t"/>
          <a:lstStyle/>
          <a:p>
            <a:pPr lvl="0" algn="l" eaLnBrk="0" hangingPunct="0">
              <a:lnSpc>
                <a:spcPct val="100000"/>
              </a:lnSpc>
              <a:spcBef>
                <a:spcPts val="50"/>
              </a:spcBef>
              <a:spcAft>
                <a:spcPts val="0"/>
              </a:spcAft>
              <a:buClr>
                <a:srgbClr val="0033CC"/>
              </a:buClr>
              <a:buFont typeface="Wingdings" panose="05000000000000000000" pitchFamily="2" charset="2"/>
            </a:pPr>
            <a:r>
              <a:rPr lang="en-US" altLang="zh-CN" sz="2200" dirty="0">
                <a:latin typeface="楷体" panose="02010609060101010101" pitchFamily="1" charset="-122"/>
                <a:ea typeface="楷体" panose="02010609060101010101" pitchFamily="1" charset="-122"/>
                <a:sym typeface="Wingdings" panose="05000000000000000000" pitchFamily="2" charset="2"/>
              </a:rPr>
              <a:t> </a:t>
            </a:r>
            <a:r>
              <a:rPr lang="zh-CN" altLang="en-US" sz="2200" dirty="0">
                <a:latin typeface="楷体" panose="02010609060101010101" pitchFamily="1" charset="-122"/>
                <a:ea typeface="楷体" panose="02010609060101010101" pitchFamily="1" charset="-122"/>
                <a:cs typeface="+mn-ea"/>
                <a:sym typeface="Wingdings" panose="05000000000000000000" pitchFamily="2" charset="2"/>
              </a:rPr>
              <a:t>① 重新启动OS和DBMS；</a:t>
            </a:r>
            <a:endParaRPr lang="zh-CN" altLang="en-US" sz="2200" dirty="0">
              <a:latin typeface="楷体" panose="02010609060101010101" pitchFamily="1" charset="-122"/>
              <a:ea typeface="楷体" panose="02010609060101010101" pitchFamily="1" charset="-122"/>
              <a:cs typeface="+mn-ea"/>
              <a:sym typeface="Wingdings" panose="05000000000000000000" pitchFamily="2" charset="2"/>
            </a:endParaRPr>
          </a:p>
          <a:p>
            <a:pPr lvl="0" algn="l" eaLnBrk="0" hangingPunct="0">
              <a:lnSpc>
                <a:spcPct val="100000"/>
              </a:lnSpc>
              <a:spcBef>
                <a:spcPts val="50"/>
              </a:spcBef>
              <a:spcAft>
                <a:spcPts val="0"/>
              </a:spcAft>
              <a:buClr>
                <a:srgbClr val="0033CC"/>
              </a:buClr>
              <a:buFont typeface="Wingdings" panose="05000000000000000000" pitchFamily="2" charset="2"/>
            </a:pPr>
            <a:r>
              <a:rPr lang="zh-CN" altLang="en-US" sz="2200" dirty="0">
                <a:latin typeface="楷体" panose="02010609060101010101" pitchFamily="1" charset="-122"/>
                <a:ea typeface="楷体" panose="02010609060101010101" pitchFamily="1" charset="-122"/>
                <a:cs typeface="+mn-ea"/>
                <a:sym typeface="Wingdings" panose="05000000000000000000" pitchFamily="2" charset="2"/>
              </a:rPr>
              <a:t> ② 恢复DB到一致状态（从前向后扫描</a:t>
            </a:r>
            <a:r>
              <a:rPr lang="en-US" altLang="zh-CN" sz="2200" dirty="0">
                <a:latin typeface="楷体" panose="02010609060101010101" pitchFamily="1" charset="-122"/>
                <a:ea typeface="楷体" panose="02010609060101010101" pitchFamily="1" charset="-122"/>
                <a:cs typeface="+mn-ea"/>
                <a:sym typeface="Wingdings" panose="05000000000000000000" pitchFamily="2" charset="2"/>
              </a:rPr>
              <a:t>CTL</a:t>
            </a:r>
            <a:r>
              <a:rPr lang="zh-CN" altLang="en-US" sz="2200" dirty="0">
                <a:latin typeface="楷体" panose="02010609060101010101" pitchFamily="1" charset="-122"/>
                <a:ea typeface="楷体" panose="02010609060101010101" pitchFamily="1" charset="-122"/>
                <a:cs typeface="+mn-ea"/>
                <a:sym typeface="Wingdings" panose="05000000000000000000" pitchFamily="2" charset="2"/>
              </a:rPr>
              <a:t>，对已提交事务进行redo；从后向前扫描</a:t>
            </a:r>
            <a:r>
              <a:rPr lang="en-US" altLang="zh-CN" sz="2200" dirty="0">
                <a:latin typeface="楷体" panose="02010609060101010101" pitchFamily="1" charset="-122"/>
                <a:ea typeface="楷体" panose="02010609060101010101" pitchFamily="1" charset="-122"/>
                <a:cs typeface="+mn-ea"/>
                <a:sym typeface="Wingdings" panose="05000000000000000000" pitchFamily="2" charset="2"/>
              </a:rPr>
              <a:t>ATL</a:t>
            </a:r>
            <a:r>
              <a:rPr lang="zh-CN" altLang="en-US" sz="2200" dirty="0">
                <a:latin typeface="楷体" panose="02010609060101010101" pitchFamily="1" charset="-122"/>
                <a:ea typeface="楷体" panose="02010609060101010101" pitchFamily="1" charset="-122"/>
                <a:cs typeface="+mn-ea"/>
                <a:sym typeface="Wingdings" panose="05000000000000000000" pitchFamily="2" charset="2"/>
              </a:rPr>
              <a:t>，对未提交事务进行undo）。</a:t>
            </a:r>
            <a:endParaRPr lang="zh-CN" altLang="en-US" sz="2200" dirty="0">
              <a:latin typeface="楷体" panose="02010609060101010101" pitchFamily="1" charset="-122"/>
              <a:ea typeface="楷体" panose="02010609060101010101" pitchFamily="1" charset="-122"/>
              <a:cs typeface="+mn-ea"/>
              <a:sym typeface="Wingdings" panose="05000000000000000000" pitchFamily="2" charset="2"/>
            </a:endParaRPr>
          </a:p>
        </p:txBody>
      </p:sp>
      <p:sp>
        <p:nvSpPr>
          <p:cNvPr id="11" name="Rectangle 7"/>
          <p:cNvSpPr/>
          <p:nvPr/>
        </p:nvSpPr>
        <p:spPr>
          <a:xfrm>
            <a:off x="501650" y="7643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3</a:t>
            </a:r>
            <a:r>
              <a:rPr lang="zh-CN" altLang="en-US" sz="2600" dirty="0" smtClean="0">
                <a:solidFill>
                  <a:srgbClr val="FF0000"/>
                </a:solidFill>
                <a:latin typeface="黑体" panose="02010609060101010101" pitchFamily="1" charset="-122"/>
                <a:ea typeface="黑体" panose="02010609060101010101" pitchFamily="1" charset="-122"/>
              </a:rPr>
              <a:t>、以后备副本和日志为基础的恢复技术</a:t>
            </a:r>
            <a:r>
              <a:rPr lang="en-US" altLang="zh-CN" sz="2600" dirty="0" smtClean="0">
                <a:solidFill>
                  <a:srgbClr val="3402C2"/>
                </a:solidFill>
                <a:latin typeface="黑体" panose="02010609060101010101" pitchFamily="1" charset="-122"/>
                <a:ea typeface="黑体" panose="02010609060101010101" pitchFamily="1" charset="-122"/>
              </a:rPr>
              <a:t>—</a:t>
            </a:r>
            <a:r>
              <a:rPr lang="zh-CN" altLang="en-US" sz="2600" dirty="0" smtClean="0">
                <a:solidFill>
                  <a:srgbClr val="3402C2"/>
                </a:solidFill>
                <a:latin typeface="黑体" panose="02010609060101010101" pitchFamily="1" charset="-122"/>
                <a:ea typeface="黑体" panose="02010609060101010101" pitchFamily="1" charset="-122"/>
              </a:rPr>
              <a:t>恢复对策</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87043" name="Rectangle 3"/>
          <p:cNvSpPr txBox="1"/>
          <p:nvPr/>
        </p:nvSpPr>
        <p:spPr>
          <a:xfrm>
            <a:off x="561975" y="1960880"/>
            <a:ext cx="8129905" cy="821055"/>
          </a:xfrm>
          <a:prstGeom prst="rect">
            <a:avLst/>
          </a:prstGeom>
          <a:noFill/>
          <a:ln w="9525">
            <a:noFill/>
          </a:ln>
        </p:spPr>
        <p:txBody>
          <a:bodyPr anchor="t"/>
          <a:lstStyle/>
          <a:p>
            <a:pPr marL="342900" lvl="0" indent="-342900" eaLnBrk="0" hangingPunct="0">
              <a:spcBef>
                <a:spcPct val="50000"/>
              </a:spcBef>
              <a:buClr>
                <a:srgbClr val="0033CC"/>
              </a:buClr>
              <a:buFont typeface="Wingdings" panose="05000000000000000000" pitchFamily="2" charset="2"/>
              <a:buChar char="Ø"/>
            </a:pPr>
            <a:r>
              <a:rPr lang="zh-CN" altLang="en-US" sz="2400" u="sng" dirty="0">
                <a:solidFill>
                  <a:srgbClr val="3402C2"/>
                </a:solidFill>
                <a:latin typeface="华文中宋" panose="02010600040101010101" charset="-122"/>
                <a:ea typeface="华文中宋" panose="02010600040101010101" charset="-122"/>
                <a:cs typeface="+mn-ea"/>
                <a:sym typeface="Wingdings" panose="05000000000000000000" pitchFamily="2" charset="2"/>
              </a:rPr>
              <a:t>介质故障：</a:t>
            </a:r>
            <a:r>
              <a:rPr lang="zh-CN" altLang="en-US" sz="2400" dirty="0">
                <a:latin typeface="华文楷体" panose="02010600040101010101" pitchFamily="2" charset="-122"/>
                <a:cs typeface="+mn-ea"/>
                <a:sym typeface="Wingdings" panose="05000000000000000000" pitchFamily="2" charset="2"/>
              </a:rPr>
              <a:t>指磁盘介质故障，发生故障后，磁盘上的物理数据文件和日志被破坏，是一种非常严重的故障。</a:t>
            </a:r>
            <a:endParaRPr lang="zh-CN" altLang="en-US" sz="2400" dirty="0">
              <a:solidFill>
                <a:srgbClr val="0033CC"/>
              </a:solidFill>
              <a:latin typeface="华文楷体" panose="02010600040101010101" pitchFamily="2" charset="-122"/>
              <a:ea typeface="宋体" panose="02010600030101010101" pitchFamily="2" charset="-122"/>
              <a:sym typeface="Wingdings" panose="05000000000000000000" pitchFamily="2" charset="2"/>
            </a:endParaRPr>
          </a:p>
          <a:p>
            <a:pPr marL="342900" lvl="0" indent="-342900" eaLnBrk="0" hangingPunct="0">
              <a:spcBef>
                <a:spcPts val="600"/>
              </a:spcBef>
              <a:buClr>
                <a:srgbClr val="0033CC"/>
              </a:buClr>
              <a:buSzPct val="80000"/>
            </a:pP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
        <p:nvSpPr>
          <p:cNvPr id="78879" name="Text Box 3"/>
          <p:cNvSpPr txBox="1"/>
          <p:nvPr/>
        </p:nvSpPr>
        <p:spPr>
          <a:xfrm>
            <a:off x="460375" y="1403350"/>
            <a:ext cx="5131435" cy="514350"/>
          </a:xfrm>
          <a:prstGeom prst="rect">
            <a:avLst/>
          </a:prstGeom>
          <a:noFill/>
          <a:ln w="9525">
            <a:noFill/>
          </a:ln>
        </p:spPr>
        <p:txBody>
          <a:bodyPr wrap="square" anchor="t">
            <a:spAutoFit/>
          </a:bodyPr>
          <a:lstStyle/>
          <a:p>
            <a:pPr lvl="0" algn="l">
              <a:lnSpc>
                <a:spcPct val="110000"/>
              </a:lnSpc>
              <a:spcBef>
                <a:spcPts val="600"/>
              </a:spcBef>
            </a:pPr>
            <a:r>
              <a:rPr lang="en-US" altLang="x-none" sz="2500" dirty="0">
                <a:solidFill>
                  <a:srgbClr val="FF0000"/>
                </a:solidFill>
                <a:latin typeface="黑体" panose="02010609060101010101" pitchFamily="1" charset="-122"/>
                <a:ea typeface="黑体" panose="02010609060101010101" pitchFamily="1" charset="-122"/>
                <a:cs typeface="+mn-ea"/>
                <a:sym typeface="Wingdings" panose="05000000000000000000" pitchFamily="2" charset="2"/>
              </a:rPr>
              <a:t>（3）</a:t>
            </a:r>
            <a:r>
              <a:rPr lang="zh-CN" altLang="en-US" sz="2500" dirty="0">
                <a:solidFill>
                  <a:srgbClr val="FF0000"/>
                </a:solidFill>
                <a:latin typeface="黑体" panose="02010609060101010101" pitchFamily="1" charset="-122"/>
                <a:ea typeface="黑体" panose="02010609060101010101" pitchFamily="1" charset="-122"/>
                <a:cs typeface="+mn-ea"/>
                <a:sym typeface="Wingdings" panose="05000000000000000000" pitchFamily="2" charset="2"/>
              </a:rPr>
              <a:t>介质故障及恢复</a:t>
            </a:r>
            <a:endParaRPr lang="zh-CN" altLang="en-US" sz="2500" dirty="0">
              <a:solidFill>
                <a:srgbClr val="FF0000"/>
              </a:solidFill>
              <a:latin typeface="黑体" panose="02010609060101010101" pitchFamily="1" charset="-122"/>
              <a:ea typeface="黑体" panose="02010609060101010101" pitchFamily="1" charset="-122"/>
              <a:cs typeface="+mn-ea"/>
              <a:sym typeface="Wingdings" panose="05000000000000000000" pitchFamily="2" charset="2"/>
            </a:endParaRPr>
          </a:p>
        </p:txBody>
      </p:sp>
      <p:sp>
        <p:nvSpPr>
          <p:cNvPr id="9" name="Rectangle 3"/>
          <p:cNvSpPr txBox="1"/>
          <p:nvPr/>
        </p:nvSpPr>
        <p:spPr>
          <a:xfrm>
            <a:off x="587375" y="2797175"/>
            <a:ext cx="7731125" cy="482600"/>
          </a:xfrm>
          <a:prstGeom prst="rect">
            <a:avLst/>
          </a:prstGeom>
          <a:noFill/>
          <a:ln w="9525">
            <a:noFill/>
          </a:ln>
        </p:spPr>
        <p:txBody>
          <a:bodyPr anchor="t"/>
          <a:lstStyle/>
          <a:p>
            <a:pPr marL="342900" lvl="0" indent="-342900" eaLnBrk="0" hangingPunct="0">
              <a:lnSpc>
                <a:spcPct val="110000"/>
              </a:lnSpc>
              <a:spcBef>
                <a:spcPts val="600"/>
              </a:spcBef>
              <a:spcAft>
                <a:spcPts val="0"/>
              </a:spcAft>
              <a:buClr>
                <a:srgbClr val="0033CC"/>
              </a:buClr>
              <a:buFont typeface="Wingdings" panose="05000000000000000000" pitchFamily="2" charset="2"/>
              <a:buChar char="Ø"/>
            </a:pPr>
            <a:r>
              <a:rPr lang="zh-CN" altLang="en-US" sz="2400" u="sng" dirty="0">
                <a:solidFill>
                  <a:srgbClr val="3402C2"/>
                </a:solidFill>
                <a:latin typeface="华文中宋" panose="02010600040101010101" charset="-122"/>
                <a:ea typeface="华文中宋" panose="02010600040101010101" charset="-122"/>
                <a:cs typeface="+mn-ea"/>
                <a:sym typeface="Wingdings" panose="05000000000000000000" pitchFamily="2" charset="2"/>
              </a:rPr>
              <a:t>介质故障的恢复措施</a:t>
            </a:r>
            <a:r>
              <a:rPr lang="zh-CN" altLang="en-US" sz="2400" dirty="0">
                <a:solidFill>
                  <a:srgbClr val="0033CC"/>
                </a:solidFill>
                <a:latin typeface="华文楷体" panose="02010600040101010101" pitchFamily="2" charset="-122"/>
                <a:ea typeface="宋体" panose="02010600030101010101" pitchFamily="2" charset="-122"/>
                <a:sym typeface="Wingdings" panose="05000000000000000000" pitchFamily="2" charset="2"/>
              </a:rPr>
              <a:t>：</a:t>
            </a:r>
            <a:endParaRPr lang="zh-CN" altLang="en-US" sz="2300" dirty="0">
              <a:latin typeface="宋体" panose="02010600030101010101" pitchFamily="2" charset="-122"/>
              <a:ea typeface="宋体" panose="02010600030101010101" pitchFamily="2" charset="-122"/>
              <a:cs typeface="+mn-ea"/>
              <a:sym typeface="Wingdings" panose="05000000000000000000" pitchFamily="2" charset="2"/>
            </a:endParaRPr>
          </a:p>
          <a:p>
            <a:pPr lvl="0" eaLnBrk="0" hangingPunct="0">
              <a:spcBef>
                <a:spcPts val="600"/>
              </a:spcBef>
              <a:buClr>
                <a:srgbClr val="0033CC"/>
              </a:buClr>
              <a:buFont typeface="Wingdings" panose="05000000000000000000" pitchFamily="2" charset="2"/>
            </a:pP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
        <p:nvSpPr>
          <p:cNvPr id="10" name="Rectangle 3"/>
          <p:cNvSpPr txBox="1"/>
          <p:nvPr/>
        </p:nvSpPr>
        <p:spPr>
          <a:xfrm>
            <a:off x="694055" y="3317875"/>
            <a:ext cx="7624445" cy="1526540"/>
          </a:xfrm>
          <a:prstGeom prst="rect">
            <a:avLst/>
          </a:prstGeom>
          <a:noFill/>
          <a:ln w="9525">
            <a:solidFill>
              <a:srgbClr val="3402C2"/>
            </a:solidFill>
            <a:prstDash val="dash"/>
          </a:ln>
        </p:spPr>
        <p:txBody>
          <a:bodyPr anchor="t"/>
          <a:lstStyle/>
          <a:p>
            <a:pPr lvl="0" algn="l" eaLnBrk="0" hangingPunct="0">
              <a:lnSpc>
                <a:spcPct val="100000"/>
              </a:lnSpc>
              <a:spcBef>
                <a:spcPts val="50"/>
              </a:spcBef>
              <a:spcAft>
                <a:spcPts val="0"/>
              </a:spcAft>
              <a:buClr>
                <a:srgbClr val="0033CC"/>
              </a:buClr>
              <a:buFont typeface="Wingdings" panose="05000000000000000000" pitchFamily="2" charset="2"/>
            </a:pPr>
            <a:r>
              <a:rPr lang="en-US" altLang="zh-CN" sz="2200" dirty="0">
                <a:latin typeface="楷体" panose="02010609060101010101" pitchFamily="1" charset="-122"/>
                <a:ea typeface="楷体" panose="02010609060101010101" pitchFamily="1" charset="-122"/>
                <a:sym typeface="Wingdings" panose="05000000000000000000" pitchFamily="2" charset="2"/>
              </a:rPr>
              <a:t> </a:t>
            </a:r>
            <a:r>
              <a:rPr lang="zh-CN" altLang="en-US" sz="2200" dirty="0">
                <a:latin typeface="楷体" panose="02010609060101010101" pitchFamily="1" charset="-122"/>
                <a:ea typeface="楷体" panose="02010609060101010101" pitchFamily="1" charset="-122"/>
                <a:cs typeface="+mn-ea"/>
                <a:sym typeface="Wingdings" panose="05000000000000000000" pitchFamily="2" charset="2"/>
              </a:rPr>
              <a:t>① 修复或更换磁盘系统，重新启动OS和DBMS；</a:t>
            </a:r>
            <a:endParaRPr lang="zh-CN" altLang="en-US" sz="2200" dirty="0">
              <a:latin typeface="楷体" panose="02010609060101010101" pitchFamily="1" charset="-122"/>
              <a:ea typeface="楷体" panose="02010609060101010101" pitchFamily="1" charset="-122"/>
              <a:cs typeface="+mn-ea"/>
              <a:sym typeface="Wingdings" panose="05000000000000000000" pitchFamily="2" charset="2"/>
            </a:endParaRPr>
          </a:p>
          <a:p>
            <a:pPr lvl="0" algn="l" eaLnBrk="0" hangingPunct="0">
              <a:lnSpc>
                <a:spcPct val="100000"/>
              </a:lnSpc>
              <a:spcBef>
                <a:spcPts val="50"/>
              </a:spcBef>
              <a:spcAft>
                <a:spcPts val="0"/>
              </a:spcAft>
              <a:buClr>
                <a:srgbClr val="0033CC"/>
              </a:buClr>
              <a:buFont typeface="Wingdings" panose="05000000000000000000" pitchFamily="2" charset="2"/>
            </a:pPr>
            <a:r>
              <a:rPr lang="zh-CN" altLang="en-US" sz="2200" dirty="0">
                <a:latin typeface="楷体" panose="02010609060101010101" pitchFamily="1" charset="-122"/>
                <a:ea typeface="楷体" panose="02010609060101010101" pitchFamily="1" charset="-122"/>
                <a:cs typeface="+mn-ea"/>
                <a:sym typeface="Wingdings" panose="05000000000000000000" pitchFamily="2" charset="2"/>
              </a:rPr>
              <a:t> ② 装入最近的数据库后备副本，使数据库恢复到最近一次转储时的一致性状态。</a:t>
            </a:r>
            <a:endParaRPr lang="zh-CN" altLang="en-US" sz="2200" dirty="0">
              <a:latin typeface="楷体" panose="02010609060101010101" pitchFamily="1" charset="-122"/>
              <a:ea typeface="楷体" panose="02010609060101010101" pitchFamily="1" charset="-122"/>
              <a:cs typeface="+mn-ea"/>
              <a:sym typeface="Wingdings" panose="05000000000000000000" pitchFamily="2" charset="2"/>
            </a:endParaRPr>
          </a:p>
          <a:p>
            <a:pPr lvl="0" algn="l" eaLnBrk="0" hangingPunct="0">
              <a:lnSpc>
                <a:spcPct val="100000"/>
              </a:lnSpc>
              <a:spcBef>
                <a:spcPts val="50"/>
              </a:spcBef>
              <a:spcAft>
                <a:spcPts val="0"/>
              </a:spcAft>
              <a:buClr>
                <a:srgbClr val="0033CC"/>
              </a:buClr>
              <a:buFont typeface="Wingdings" panose="05000000000000000000" pitchFamily="2" charset="2"/>
            </a:pPr>
            <a:r>
              <a:rPr lang="zh-CN" altLang="en-US" sz="2200" dirty="0">
                <a:latin typeface="黑体" panose="02010609060101010101" pitchFamily="1" charset="-122"/>
                <a:ea typeface="黑体" panose="02010609060101010101" pitchFamily="1" charset="-122"/>
                <a:cs typeface="+mn-ea"/>
                <a:sym typeface="Wingdings" panose="05000000000000000000" pitchFamily="2" charset="2"/>
              </a:rPr>
              <a:t> ③ </a:t>
            </a:r>
            <a:r>
              <a:rPr lang="zh-CN" altLang="en-US" sz="2200" dirty="0">
                <a:latin typeface="楷体" panose="02010609060101010101" pitchFamily="1" charset="-122"/>
                <a:ea typeface="楷体" panose="02010609060101010101" pitchFamily="1" charset="-122"/>
                <a:cs typeface="+mn-ea"/>
                <a:sym typeface="Wingdings" panose="05000000000000000000" pitchFamily="2" charset="2"/>
              </a:rPr>
              <a:t>装入有关的日志副本，重做已提交的事务。</a:t>
            </a:r>
            <a:endParaRPr lang="zh-CN" altLang="en-US" sz="2200" dirty="0">
              <a:latin typeface="楷体" panose="02010609060101010101" pitchFamily="1" charset="-122"/>
              <a:ea typeface="楷体" panose="02010609060101010101" pitchFamily="1" charset="-122"/>
              <a:cs typeface="+mn-ea"/>
              <a:sym typeface="Wingdings" panose="05000000000000000000" pitchFamily="2" charset="2"/>
            </a:endParaRPr>
          </a:p>
        </p:txBody>
      </p:sp>
      <p:sp>
        <p:nvSpPr>
          <p:cNvPr id="2" name="Rectangle 3"/>
          <p:cNvSpPr txBox="1"/>
          <p:nvPr/>
        </p:nvSpPr>
        <p:spPr>
          <a:xfrm>
            <a:off x="640715" y="4925695"/>
            <a:ext cx="7875905" cy="482600"/>
          </a:xfrm>
          <a:prstGeom prst="rect">
            <a:avLst/>
          </a:prstGeom>
          <a:noFill/>
          <a:ln w="9525">
            <a:noFill/>
          </a:ln>
        </p:spPr>
        <p:txBody>
          <a:bodyPr anchor="t"/>
          <a:lstStyle/>
          <a:p>
            <a:pPr marL="342900" lvl="0" indent="-342900" eaLnBrk="0" hangingPunct="0">
              <a:lnSpc>
                <a:spcPct val="110000"/>
              </a:lnSpc>
              <a:spcBef>
                <a:spcPts val="600"/>
              </a:spcBef>
              <a:spcAft>
                <a:spcPts val="0"/>
              </a:spcAft>
              <a:buClr>
                <a:srgbClr val="0033CC"/>
              </a:buClr>
              <a:buFont typeface="Wingdings" panose="05000000000000000000" pitchFamily="2" charset="2"/>
              <a:buChar char="Ø"/>
            </a:pPr>
            <a:r>
              <a:rPr lang="zh-CN" altLang="en-US" sz="2400" u="sng" dirty="0">
                <a:solidFill>
                  <a:srgbClr val="3402C2"/>
                </a:solidFill>
                <a:latin typeface="华文中宋" panose="02010600040101010101" charset="-122"/>
                <a:ea typeface="华文中宋" panose="02010600040101010101" charset="-122"/>
                <a:cs typeface="+mn-ea"/>
                <a:sym typeface="Wingdings" panose="05000000000000000000" pitchFamily="2" charset="2"/>
              </a:rPr>
              <a:t>说明：</a:t>
            </a:r>
            <a:r>
              <a:rPr lang="zh-CN" altLang="en-US" sz="2300" dirty="0">
                <a:latin typeface="楷体" panose="02010609060101010101" pitchFamily="1" charset="-122"/>
                <a:ea typeface="楷体" panose="02010609060101010101" pitchFamily="1" charset="-122"/>
                <a:cs typeface="+mn-ea"/>
                <a:sym typeface="Wingdings" panose="05000000000000000000" pitchFamily="2" charset="2"/>
              </a:rPr>
              <a:t>只有介质故障下的恢复才需要</a:t>
            </a:r>
            <a:r>
              <a:rPr lang="en-US" altLang="zh-CN" sz="2300" dirty="0">
                <a:latin typeface="楷体" panose="02010609060101010101" pitchFamily="1" charset="-122"/>
                <a:ea typeface="楷体" panose="02010609060101010101" pitchFamily="1" charset="-122"/>
                <a:cs typeface="+mn-ea"/>
                <a:sym typeface="Wingdings" panose="05000000000000000000" pitchFamily="2" charset="2"/>
              </a:rPr>
              <a:t>DBA</a:t>
            </a:r>
            <a:r>
              <a:rPr lang="zh-CN" altLang="zh-CN" sz="2300" dirty="0">
                <a:latin typeface="楷体" panose="02010609060101010101" pitchFamily="1" charset="-122"/>
                <a:ea typeface="楷体" panose="02010609060101010101" pitchFamily="1" charset="-122"/>
                <a:cs typeface="+mn-ea"/>
                <a:sym typeface="Wingdings" panose="05000000000000000000" pitchFamily="2" charset="2"/>
              </a:rPr>
              <a:t>的干涉，由</a:t>
            </a:r>
            <a:r>
              <a:rPr lang="en-US" altLang="zh-CN" sz="2300" dirty="0">
                <a:latin typeface="楷体" panose="02010609060101010101" pitchFamily="1" charset="-122"/>
                <a:ea typeface="楷体" panose="02010609060101010101" pitchFamily="1" charset="-122"/>
                <a:cs typeface="+mn-ea"/>
                <a:sym typeface="Wingdings" panose="05000000000000000000" pitchFamily="2" charset="2"/>
              </a:rPr>
              <a:t>DBA</a:t>
            </a:r>
            <a:r>
              <a:rPr lang="zh-CN" altLang="en-US" sz="2300" dirty="0">
                <a:latin typeface="楷体" panose="02010609060101010101" pitchFamily="1" charset="-122"/>
                <a:ea typeface="楷体" panose="02010609060101010101" pitchFamily="1" charset="-122"/>
                <a:cs typeface="+mn-ea"/>
                <a:sym typeface="Wingdings" panose="05000000000000000000" pitchFamily="2" charset="2"/>
              </a:rPr>
              <a:t>重装最近的转储，发出恢复命令，具体恢复由</a:t>
            </a:r>
            <a:r>
              <a:rPr lang="en-US" altLang="zh-CN" sz="2300" dirty="0">
                <a:latin typeface="楷体" panose="02010609060101010101" pitchFamily="1" charset="-122"/>
                <a:ea typeface="楷体" panose="02010609060101010101" pitchFamily="1" charset="-122"/>
                <a:cs typeface="+mn-ea"/>
                <a:sym typeface="Wingdings" panose="05000000000000000000" pitchFamily="2" charset="2"/>
              </a:rPr>
              <a:t>DBMS</a:t>
            </a:r>
            <a:r>
              <a:rPr lang="zh-CN" altLang="zh-CN" sz="2300" dirty="0">
                <a:latin typeface="楷体" panose="02010609060101010101" pitchFamily="1" charset="-122"/>
                <a:ea typeface="楷体" panose="02010609060101010101" pitchFamily="1" charset="-122"/>
                <a:cs typeface="+mn-ea"/>
                <a:sym typeface="Wingdings" panose="05000000000000000000" pitchFamily="2" charset="2"/>
              </a:rPr>
              <a:t>完成，事务故障和系统故障由</a:t>
            </a:r>
            <a:r>
              <a:rPr lang="en-US" altLang="zh-CN" sz="2300" dirty="0">
                <a:latin typeface="楷体" panose="02010609060101010101" pitchFamily="1" charset="-122"/>
                <a:ea typeface="楷体" panose="02010609060101010101" pitchFamily="1" charset="-122"/>
                <a:cs typeface="+mn-ea"/>
                <a:sym typeface="Wingdings" panose="05000000000000000000" pitchFamily="2" charset="2"/>
              </a:rPr>
              <a:t>DBMS</a:t>
            </a:r>
            <a:r>
              <a:rPr lang="zh-CN" altLang="en-US" sz="2300" dirty="0">
                <a:latin typeface="楷体" panose="02010609060101010101" pitchFamily="1" charset="-122"/>
                <a:ea typeface="楷体" panose="02010609060101010101" pitchFamily="1" charset="-122"/>
                <a:cs typeface="+mn-ea"/>
                <a:sym typeface="Wingdings" panose="05000000000000000000" pitchFamily="2" charset="2"/>
              </a:rPr>
              <a:t>自动完成，不需要干涉。</a:t>
            </a:r>
            <a:endParaRPr lang="zh-CN" altLang="en-US" sz="2300" dirty="0">
              <a:latin typeface="楷体" panose="02010609060101010101" pitchFamily="1" charset="-122"/>
              <a:ea typeface="楷体" panose="02010609060101010101" pitchFamily="1" charset="-122"/>
              <a:cs typeface="+mn-ea"/>
              <a:sym typeface="Wingdings" panose="05000000000000000000" pitchFamily="2" charset="2"/>
            </a:endParaRPr>
          </a:p>
          <a:p>
            <a:pPr lvl="0" eaLnBrk="0" hangingPunct="0">
              <a:spcBef>
                <a:spcPts val="600"/>
              </a:spcBef>
              <a:buClr>
                <a:srgbClr val="0033CC"/>
              </a:buClr>
              <a:buFont typeface="Wingdings" panose="05000000000000000000" pitchFamily="2" charset="2"/>
            </a:pPr>
            <a:endParaRPr lang="zh-CN" altLang="en-US" sz="2400" dirty="0">
              <a:latin typeface="华文楷体" panose="02010600040101010101" pitchFamily="2" charset="-122"/>
              <a:ea typeface="宋体" panose="02010600030101010101" pitchFamily="2" charset="-122"/>
              <a:sym typeface="Wingdings" panose="05000000000000000000" pitchFamily="2" charset="2"/>
            </a:endParaRPr>
          </a:p>
        </p:txBody>
      </p:sp>
      <p:sp>
        <p:nvSpPr>
          <p:cNvPr id="11" name="Rectangle 7"/>
          <p:cNvSpPr/>
          <p:nvPr/>
        </p:nvSpPr>
        <p:spPr>
          <a:xfrm>
            <a:off x="501650" y="7643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3</a:t>
            </a:r>
            <a:r>
              <a:rPr lang="zh-CN" altLang="en-US" sz="2600" dirty="0" smtClean="0">
                <a:solidFill>
                  <a:srgbClr val="FF0000"/>
                </a:solidFill>
                <a:latin typeface="黑体" panose="02010609060101010101" pitchFamily="1" charset="-122"/>
                <a:ea typeface="黑体" panose="02010609060101010101" pitchFamily="1" charset="-122"/>
              </a:rPr>
              <a:t>、以后备副本和日志为基础的恢复技术</a:t>
            </a:r>
            <a:r>
              <a:rPr lang="en-US" altLang="zh-CN" sz="2600" dirty="0" smtClean="0">
                <a:solidFill>
                  <a:srgbClr val="3402C2"/>
                </a:solidFill>
                <a:latin typeface="黑体" panose="02010609060101010101" pitchFamily="1" charset="-122"/>
                <a:ea typeface="黑体" panose="02010609060101010101" pitchFamily="1" charset="-122"/>
              </a:rPr>
              <a:t>—</a:t>
            </a:r>
            <a:r>
              <a:rPr lang="zh-CN" altLang="en-US" sz="2600" dirty="0" smtClean="0">
                <a:solidFill>
                  <a:srgbClr val="3402C2"/>
                </a:solidFill>
                <a:latin typeface="黑体" panose="02010609060101010101" pitchFamily="1" charset="-122"/>
                <a:ea typeface="黑体" panose="02010609060101010101" pitchFamily="1" charset="-122"/>
              </a:rPr>
              <a:t>恢复对策</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2"/>
          <p:cNvSpPr/>
          <p:nvPr/>
        </p:nvSpPr>
        <p:spPr>
          <a:xfrm>
            <a:off x="5220310" y="1322476"/>
            <a:ext cx="3568699" cy="590931"/>
          </a:xfrm>
          <a:prstGeom prst="rect">
            <a:avLst/>
          </a:prstGeom>
          <a:noFill/>
          <a:ln w="9525">
            <a:noFill/>
          </a:ln>
        </p:spPr>
        <p:txBody>
          <a:bodyPr wrap="square" anchor="t">
            <a:spAutoFit/>
          </a:bodyPr>
          <a:lstStyle/>
          <a:p>
            <a:pPr algn="l">
              <a:lnSpc>
                <a:spcPct val="135000"/>
              </a:lnSpc>
              <a:buClrTx/>
              <a:buSzTx/>
              <a:buFont typeface="Wingdings" panose="05000000000000000000" charset="0"/>
              <a:buChar char="p"/>
            </a:pPr>
            <a:r>
              <a:rPr lang="zh-CN" altLang="en-US" sz="2400" dirty="0">
                <a:solidFill>
                  <a:srgbClr val="FF0000"/>
                </a:solidFill>
                <a:latin typeface="黑体" panose="02010609060101010101" pitchFamily="1" charset="-122"/>
                <a:ea typeface="黑体" panose="02010609060101010101" pitchFamily="1" charset="-122"/>
                <a:cs typeface="+mn-ea"/>
              </a:rPr>
              <a:t>具有检查点的恢复技术</a:t>
            </a:r>
            <a:endParaRPr lang="zh-CN" altLang="en-US" sz="2400" dirty="0">
              <a:solidFill>
                <a:srgbClr val="FF0000"/>
              </a:solidFill>
              <a:latin typeface="黑体" panose="02010609060101010101" pitchFamily="1" charset="-122"/>
              <a:ea typeface="黑体" panose="02010609060101010101" pitchFamily="1" charset="-122"/>
              <a:cs typeface="+mn-ea"/>
            </a:endParaRPr>
          </a:p>
        </p:txBody>
      </p:sp>
      <p:sp>
        <p:nvSpPr>
          <p:cNvPr id="79876" name="Text Box 3"/>
          <p:cNvSpPr txBox="1"/>
          <p:nvPr/>
        </p:nvSpPr>
        <p:spPr>
          <a:xfrm>
            <a:off x="654050" y="2026920"/>
            <a:ext cx="7870825" cy="860425"/>
          </a:xfrm>
          <a:prstGeom prst="rect">
            <a:avLst/>
          </a:prstGeom>
          <a:noFill/>
          <a:ln w="9525">
            <a:solidFill>
              <a:schemeClr val="accent1"/>
            </a:solidFill>
          </a:ln>
        </p:spPr>
        <p:txBody>
          <a:bodyPr wrap="square" anchor="t">
            <a:spAutoFit/>
          </a:bodyPr>
          <a:lstStyle/>
          <a:p>
            <a:pPr lvl="0" indent="0">
              <a:lnSpc>
                <a:spcPct val="125000"/>
              </a:lnSpc>
              <a:spcBef>
                <a:spcPts val="0"/>
              </a:spcBef>
              <a:spcAft>
                <a:spcPts val="0"/>
              </a:spcAft>
              <a:buFont typeface="Wingdings" panose="05000000000000000000" pitchFamily="2" charset="2"/>
              <a:buChar char="ü"/>
            </a:pPr>
            <a:r>
              <a:rPr lang="zh-CN" altLang="en-US" sz="2000" dirty="0">
                <a:latin typeface="华文楷体" panose="02010600040101010101" pitchFamily="2" charset="-122"/>
                <a:ea typeface="华文楷体" panose="02010600040101010101" pitchFamily="2" charset="-122"/>
                <a:sym typeface="Wingdings" panose="05000000000000000000" pitchFamily="2" charset="2"/>
              </a:rPr>
              <a:t>搜索整个日志将耗费大量的时间；</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5000"/>
              </a:lnSpc>
              <a:spcBef>
                <a:spcPts val="0"/>
              </a:spcBef>
              <a:spcAft>
                <a:spcPts val="0"/>
              </a:spcAft>
              <a:buFont typeface="Wingdings" panose="05000000000000000000" pitchFamily="2" charset="2"/>
              <a:buChar char="ü"/>
            </a:pPr>
            <a:r>
              <a:rPr lang="en-US" altLang="zh-CN" sz="2000" dirty="0">
                <a:latin typeface="华文楷体" panose="02010600040101010101" pitchFamily="2" charset="-122"/>
                <a:ea typeface="华文楷体" panose="02010600040101010101" pitchFamily="2" charset="-122"/>
                <a:sym typeface="Wingdings" panose="05000000000000000000" pitchFamily="2" charset="2"/>
              </a:rPr>
              <a:t>REDO</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操作：重新执行，浪费了大量的时间。</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76804" name="Rectangle 7"/>
          <p:cNvSpPr/>
          <p:nvPr/>
        </p:nvSpPr>
        <p:spPr>
          <a:xfrm>
            <a:off x="511175" y="2980055"/>
            <a:ext cx="5068570" cy="609600"/>
          </a:xfrm>
          <a:prstGeom prst="rect">
            <a:avLst/>
          </a:prstGeom>
          <a:noFill/>
          <a:ln w="9525">
            <a:noFill/>
          </a:ln>
        </p:spPr>
        <p:txBody>
          <a:bodyPr wrap="none" anchor="ctr"/>
          <a:lstStyle/>
          <a:p>
            <a:pPr lvl="0" algn="l">
              <a:buClrTx/>
              <a:buSzTx/>
              <a:buNone/>
            </a:pPr>
            <a:r>
              <a:rPr lang="zh-CN" altLang="en-US" sz="2400" dirty="0">
                <a:solidFill>
                  <a:srgbClr val="0033CC"/>
                </a:solidFill>
                <a:latin typeface="黑体" panose="02010609060101010101" pitchFamily="1" charset="-122"/>
                <a:ea typeface="黑体" panose="02010609060101010101" pitchFamily="1" charset="-122"/>
                <a:cs typeface="+mn-ea"/>
              </a:rPr>
              <a:t>（</a:t>
            </a:r>
            <a:r>
              <a:rPr lang="en-US" altLang="zh-CN" sz="2400">
                <a:solidFill>
                  <a:srgbClr val="0033CC"/>
                </a:solidFill>
                <a:sym typeface="+mn-ea"/>
              </a:rPr>
              <a:t>2</a:t>
            </a:r>
            <a:r>
              <a:rPr lang="zh-CN" altLang="en-US" sz="2400" dirty="0">
                <a:solidFill>
                  <a:srgbClr val="0033CC"/>
                </a:solidFill>
                <a:latin typeface="黑体" panose="02010609060101010101" pitchFamily="1" charset="-122"/>
                <a:ea typeface="黑体" panose="02010609060101010101" pitchFamily="1" charset="-122"/>
                <a:cs typeface="+mn-ea"/>
              </a:rPr>
              <a:t>）</a:t>
            </a:r>
            <a:r>
              <a:rPr lang="zh-CN" altLang="en-US" sz="2400" dirty="0">
                <a:solidFill>
                  <a:srgbClr val="0033CC"/>
                </a:solidFill>
                <a:latin typeface="黑体" panose="02010609060101010101" pitchFamily="1" charset="-122"/>
                <a:ea typeface="黑体" panose="02010609060101010101" pitchFamily="1" charset="-122"/>
                <a:cs typeface="+mn-ea"/>
                <a:sym typeface="Wingdings" panose="05000000000000000000" pitchFamily="2" charset="2"/>
              </a:rPr>
              <a:t>具有检查点的恢复技术</a:t>
            </a:r>
            <a:endParaRPr lang="zh-CN" altLang="en-US" sz="2400" dirty="0">
              <a:solidFill>
                <a:srgbClr val="0033CC"/>
              </a:solidFill>
              <a:latin typeface="黑体" panose="02010609060101010101" pitchFamily="1" charset="-122"/>
              <a:ea typeface="黑体" panose="02010609060101010101" pitchFamily="1" charset="-122"/>
              <a:cs typeface="+mn-ea"/>
              <a:sym typeface="Wingdings" panose="05000000000000000000" pitchFamily="2" charset="2"/>
            </a:endParaRPr>
          </a:p>
        </p:txBody>
      </p:sp>
      <p:sp>
        <p:nvSpPr>
          <p:cNvPr id="4" name="Text Box 3"/>
          <p:cNvSpPr txBox="1"/>
          <p:nvPr/>
        </p:nvSpPr>
        <p:spPr>
          <a:xfrm>
            <a:off x="636270" y="3589655"/>
            <a:ext cx="7870825" cy="2014855"/>
          </a:xfrm>
          <a:prstGeom prst="rect">
            <a:avLst/>
          </a:prstGeom>
          <a:noFill/>
          <a:ln w="9525">
            <a:solidFill>
              <a:schemeClr val="accent1"/>
            </a:solidFill>
          </a:ln>
        </p:spPr>
        <p:txBody>
          <a:bodyPr wrap="square" anchor="t">
            <a:spAutoFit/>
          </a:bodyPr>
          <a:lstStyle/>
          <a:p>
            <a:pPr lvl="0" indent="0">
              <a:lnSpc>
                <a:spcPct val="125000"/>
              </a:lnSpc>
              <a:spcBef>
                <a:spcPts val="0"/>
              </a:spcBef>
              <a:spcAft>
                <a:spcPts val="0"/>
              </a:spcAft>
              <a:buFont typeface="Wingdings" panose="05000000000000000000" pitchFamily="2" charset="2"/>
              <a:buChar char="ü"/>
            </a:pPr>
            <a:r>
              <a:rPr lang="zh-CN" altLang="en-US" sz="2000" dirty="0">
                <a:latin typeface="华文楷体" panose="02010600040101010101" pitchFamily="2" charset="-122"/>
                <a:ea typeface="华文楷体" panose="02010600040101010101" pitchFamily="2" charset="-122"/>
                <a:sym typeface="Wingdings" panose="05000000000000000000" pitchFamily="2" charset="2"/>
              </a:rPr>
              <a:t>在日志文件中增加检查点记录（</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checkpoint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a:p>
            <a:pPr lvl="0">
              <a:lnSpc>
                <a:spcPct val="125000"/>
              </a:lnSpc>
              <a:spcBef>
                <a:spcPts val="0"/>
              </a:spcBef>
              <a:spcAft>
                <a:spcPts val="0"/>
              </a:spcAft>
              <a:buFont typeface="Wingdings" panose="05000000000000000000" pitchFamily="2" charset="2"/>
              <a:buNone/>
            </a:pPr>
            <a:r>
              <a:rPr lang="zh-CN" altLang="en-US" sz="2000" dirty="0">
                <a:latin typeface="华文楷体" panose="02010600040101010101" pitchFamily="2" charset="-122"/>
                <a:ea typeface="华文楷体" panose="02010600040101010101" pitchFamily="2" charset="-122"/>
                <a:sym typeface="Wingdings" panose="05000000000000000000" pitchFamily="2" charset="2"/>
              </a:rPr>
              <a:t>   </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记录检查点时刻所有正在执行的事务的清单</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a:p>
            <a:pPr lvl="0">
              <a:lnSpc>
                <a:spcPct val="125000"/>
              </a:lnSpc>
              <a:spcBef>
                <a:spcPts val="0"/>
              </a:spcBef>
              <a:spcAft>
                <a:spcPts val="0"/>
              </a:spcAft>
              <a:buFont typeface="Wingdings" panose="05000000000000000000" pitchFamily="2" charset="2"/>
              <a:buNone/>
            </a:pPr>
            <a:r>
              <a:rPr lang="zh-CN" altLang="en-US" sz="2000" dirty="0">
                <a:latin typeface="华文楷体" panose="02010600040101010101" pitchFamily="2" charset="-122"/>
                <a:ea typeface="华文楷体" panose="02010600040101010101" pitchFamily="2" charset="-122"/>
                <a:sym typeface="Wingdings" panose="05000000000000000000" pitchFamily="2" charset="2"/>
              </a:rPr>
              <a:t>   </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这些事务最近一个日志记录的地址</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5000"/>
              </a:lnSpc>
              <a:spcBef>
                <a:spcPts val="0"/>
              </a:spcBef>
              <a:spcAft>
                <a:spcPts val="0"/>
              </a:spcAft>
              <a:buFont typeface="Wingdings" panose="05000000000000000000" pitchFamily="2" charset="2"/>
              <a:buChar char="ü"/>
            </a:pPr>
            <a:r>
              <a:rPr lang="zh-CN" altLang="en-US" sz="2000" dirty="0">
                <a:latin typeface="华文楷体" panose="02010600040101010101" pitchFamily="2" charset="-122"/>
                <a:ea typeface="华文楷体" panose="02010600040101010101" pitchFamily="2" charset="-122"/>
                <a:sym typeface="Wingdings" panose="05000000000000000000" pitchFamily="2" charset="2"/>
              </a:rPr>
              <a:t>增加重新开始文件</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a:p>
            <a:pPr lvl="0">
              <a:lnSpc>
                <a:spcPct val="125000"/>
              </a:lnSpc>
              <a:spcBef>
                <a:spcPts val="0"/>
              </a:spcBef>
              <a:spcAft>
                <a:spcPts val="0"/>
              </a:spcAft>
              <a:buFont typeface="Wingdings" panose="05000000000000000000" pitchFamily="2" charset="2"/>
              <a:buNone/>
            </a:pPr>
            <a:r>
              <a:rPr lang="zh-CN" altLang="en-US" sz="2000" dirty="0">
                <a:latin typeface="华文楷体" panose="02010600040101010101" pitchFamily="2" charset="-122"/>
                <a:ea typeface="华文楷体" panose="02010600040101010101" pitchFamily="2" charset="-122"/>
                <a:sym typeface="Wingdings" panose="05000000000000000000" pitchFamily="2" charset="2"/>
              </a:rPr>
              <a:t>   </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记录各个检查点记录在日志文件中的地址</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5" name="Rectangle 7"/>
          <p:cNvSpPr/>
          <p:nvPr/>
        </p:nvSpPr>
        <p:spPr>
          <a:xfrm>
            <a:off x="511175" y="1395730"/>
            <a:ext cx="5068570" cy="609600"/>
          </a:xfrm>
          <a:prstGeom prst="rect">
            <a:avLst/>
          </a:prstGeom>
          <a:noFill/>
          <a:ln w="9525">
            <a:noFill/>
          </a:ln>
        </p:spPr>
        <p:txBody>
          <a:bodyPr wrap="none" anchor="ctr"/>
          <a:lstStyle/>
          <a:p>
            <a:pPr lvl="0" algn="l">
              <a:buClrTx/>
              <a:buSzTx/>
              <a:buNone/>
            </a:pPr>
            <a:r>
              <a:rPr lang="zh-CN" altLang="en-US" sz="2400" dirty="0">
                <a:solidFill>
                  <a:srgbClr val="0033CC"/>
                </a:solidFill>
                <a:latin typeface="黑体" panose="02010609060101010101" pitchFamily="1" charset="-122"/>
                <a:ea typeface="黑体" panose="02010609060101010101" pitchFamily="1" charset="-122"/>
                <a:cs typeface="+mn-ea"/>
              </a:rPr>
              <a:t>（</a:t>
            </a:r>
            <a:r>
              <a:rPr lang="en-US" altLang="zh-CN" sz="2400">
                <a:solidFill>
                  <a:srgbClr val="0033CC"/>
                </a:solidFill>
                <a:sym typeface="+mn-ea"/>
              </a:rPr>
              <a:t>1</a:t>
            </a:r>
            <a:r>
              <a:rPr lang="zh-CN" altLang="en-US" sz="2400" dirty="0">
                <a:solidFill>
                  <a:srgbClr val="0033CC"/>
                </a:solidFill>
                <a:latin typeface="黑体" panose="02010609060101010101" pitchFamily="1" charset="-122"/>
                <a:ea typeface="黑体" panose="02010609060101010101" pitchFamily="1" charset="-122"/>
                <a:cs typeface="+mn-ea"/>
              </a:rPr>
              <a:t>）</a:t>
            </a:r>
            <a:r>
              <a:rPr lang="zh-CN" altLang="en-US" sz="2400" dirty="0">
                <a:solidFill>
                  <a:srgbClr val="0033CC"/>
                </a:solidFill>
                <a:latin typeface="黑体" panose="02010609060101010101" pitchFamily="1" charset="-122"/>
                <a:ea typeface="黑体" panose="02010609060101010101" pitchFamily="1" charset="-122"/>
                <a:cs typeface="+mn-ea"/>
                <a:sym typeface="Wingdings" panose="05000000000000000000" pitchFamily="2" charset="2"/>
              </a:rPr>
              <a:t>基于日志恢复的两个问题</a:t>
            </a:r>
            <a:endParaRPr lang="zh-CN" altLang="en-US" sz="2400" dirty="0">
              <a:solidFill>
                <a:srgbClr val="0033CC"/>
              </a:solidFill>
              <a:latin typeface="黑体" panose="02010609060101010101" pitchFamily="1" charset="-122"/>
              <a:ea typeface="黑体" panose="02010609060101010101" pitchFamily="1" charset="-122"/>
              <a:cs typeface="+mn-ea"/>
              <a:sym typeface="Wingdings" panose="05000000000000000000" pitchFamily="2" charset="2"/>
            </a:endParaRPr>
          </a:p>
        </p:txBody>
      </p:sp>
      <p:graphicFrame>
        <p:nvGraphicFramePr>
          <p:cNvPr id="7" name="对象 6"/>
          <p:cNvGraphicFramePr/>
          <p:nvPr/>
        </p:nvGraphicFramePr>
        <p:xfrm>
          <a:off x="1922145" y="3046730"/>
          <a:ext cx="6837680" cy="3101340"/>
        </p:xfrm>
        <a:graphic>
          <a:graphicData uri="http://schemas.openxmlformats.org/presentationml/2006/ole">
            <mc:AlternateContent xmlns:mc="http://schemas.openxmlformats.org/markup-compatibility/2006">
              <mc:Choice xmlns:v="urn:schemas-microsoft-com:vml" Requires="v">
                <p:oleObj spid="_x0000_s14356" name="" r:id="rId1" imgW="6832600" imgH="3098800" progId="Paint.Picture">
                  <p:embed/>
                </p:oleObj>
              </mc:Choice>
              <mc:Fallback>
                <p:oleObj name="" r:id="rId1" imgW="6832600" imgH="3098800" progId="Paint.Picture">
                  <p:embed/>
                  <p:pic>
                    <p:nvPicPr>
                      <p:cNvPr id="0" name="对象 6"/>
                      <p:cNvPicPr/>
                      <p:nvPr/>
                    </p:nvPicPr>
                    <p:blipFill>
                      <a:blip r:embed="rId2"/>
                      <a:stretch>
                        <a:fillRect/>
                      </a:stretch>
                    </p:blipFill>
                    <p:spPr>
                      <a:xfrm>
                        <a:off x="1922145" y="3046730"/>
                        <a:ext cx="6837680" cy="3101340"/>
                      </a:xfrm>
                      <a:prstGeom prst="rect">
                        <a:avLst/>
                      </a:prstGeom>
                    </p:spPr>
                  </p:pic>
                </p:oleObj>
              </mc:Fallback>
            </mc:AlternateContent>
          </a:graphicData>
        </a:graphic>
      </p:graphicFrame>
      <p:sp>
        <p:nvSpPr>
          <p:cNvPr id="2" name="Rectangle 2"/>
          <p:cNvSpPr/>
          <p:nvPr/>
        </p:nvSpPr>
        <p:spPr>
          <a:xfrm>
            <a:off x="423863" y="428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10" name="Rectangle 7"/>
          <p:cNvSpPr/>
          <p:nvPr/>
        </p:nvSpPr>
        <p:spPr>
          <a:xfrm>
            <a:off x="501650" y="7643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3</a:t>
            </a:r>
            <a:r>
              <a:rPr lang="zh-CN" altLang="en-US" sz="2600" dirty="0" smtClean="0">
                <a:solidFill>
                  <a:srgbClr val="FF0000"/>
                </a:solidFill>
                <a:latin typeface="黑体" panose="02010609060101010101" pitchFamily="1" charset="-122"/>
                <a:ea typeface="黑体" panose="02010609060101010101" pitchFamily="1" charset="-122"/>
              </a:rPr>
              <a:t>、以后备副本和日志为基础的恢复技术</a:t>
            </a:r>
            <a:r>
              <a:rPr lang="en-US" altLang="zh-CN" sz="2600" dirty="0" smtClean="0">
                <a:solidFill>
                  <a:srgbClr val="3402C2"/>
                </a:solidFill>
                <a:latin typeface="黑体" panose="02010609060101010101" pitchFamily="1" charset="-122"/>
                <a:ea typeface="黑体" panose="02010609060101010101" pitchFamily="1" charset="-122"/>
              </a:rPr>
              <a:t>—</a:t>
            </a:r>
            <a:r>
              <a:rPr lang="zh-CN" altLang="en-US" sz="2600" dirty="0" smtClean="0">
                <a:solidFill>
                  <a:srgbClr val="3402C2"/>
                </a:solidFill>
                <a:latin typeface="黑体" panose="02010609060101010101" pitchFamily="1" charset="-122"/>
                <a:ea typeface="黑体" panose="02010609060101010101" pitchFamily="1" charset="-122"/>
              </a:rPr>
              <a:t>恢复对策</a:t>
            </a:r>
            <a:endParaRPr lang="en-US" altLang="x-none" sz="2600" dirty="0">
              <a:solidFill>
                <a:srgbClr val="3402C2"/>
              </a:solidFill>
              <a:latin typeface="黑体" panose="02010609060101010101" pitchFamily="1" charset="-122"/>
              <a:ea typeface="黑体" panose="02010609060101010101" pitchFamily="1" charset="-122"/>
            </a:endParaRPr>
          </a:p>
        </p:txBody>
      </p:sp>
      <p:sp>
        <p:nvSpPr>
          <p:cNvPr id="11" name="文本框 10"/>
          <p:cNvSpPr txBox="1"/>
          <p:nvPr/>
        </p:nvSpPr>
        <p:spPr>
          <a:xfrm>
            <a:off x="641524" y="3995737"/>
            <a:ext cx="7985126" cy="1137285"/>
          </a:xfrm>
          <a:prstGeom prst="rect">
            <a:avLst/>
          </a:prstGeom>
          <a:solidFill>
            <a:schemeClr val="accent1"/>
          </a:solidFill>
        </p:spPr>
        <p:txBody>
          <a:bodyPr wrap="square" rtlCol="0" anchor="t">
            <a:spAutoFit/>
          </a:bodyPr>
          <a:lstStyle/>
          <a:p>
            <a:pPr marL="342900" indent="-342900">
              <a:buFont typeface="Wingdings" panose="05000000000000000000" charset="0"/>
              <a:buChar char=""/>
            </a:pPr>
            <a:r>
              <a:rPr lang="zh-CN" altLang="en-US" sz="2400" u="sng" dirty="0">
                <a:solidFill>
                  <a:srgbClr val="3402C2"/>
                </a:solidFill>
                <a:latin typeface="华文中宋" panose="02010600040101010101" charset="-122"/>
                <a:ea typeface="华文中宋" panose="02010600040101010101" charset="-122"/>
                <a:cs typeface="+mn-ea"/>
                <a:sym typeface="Wingdings" panose="05000000000000000000" pitchFamily="2" charset="2"/>
              </a:rPr>
              <a:t>取CP过程：</a:t>
            </a:r>
            <a:r>
              <a:rPr lang="zh-CN" altLang="en-US" sz="2200" dirty="0">
                <a:latin typeface="楷体" panose="02010609060101010101" pitchFamily="1" charset="-122"/>
                <a:ea typeface="楷体" panose="02010609060101010101" pitchFamily="1" charset="-122"/>
                <a:cs typeface="+mn-ea"/>
                <a:sym typeface="Wingdings" panose="05000000000000000000" pitchFamily="2" charset="2"/>
              </a:rPr>
              <a:t>① 暂停事务执行；② 写入上一个CP以后所提交事务留在内存中的后像③ 在日志的提交事务表中记下检查点；④ 恢复事务的执行。</a:t>
            </a:r>
            <a:endParaRPr lang="zh-CN" altLang="en-US" sz="2200" dirty="0">
              <a:latin typeface="楷体" panose="02010609060101010101" pitchFamily="1" charset="-122"/>
              <a:ea typeface="楷体" panose="02010609060101010101" pitchFamily="1" charset="-122"/>
              <a:cs typeface="+mn-ea"/>
            </a:endParaRPr>
          </a:p>
        </p:txBody>
      </p:sp>
      <p:sp>
        <p:nvSpPr>
          <p:cNvPr id="12" name="文本框 11"/>
          <p:cNvSpPr txBox="1"/>
          <p:nvPr/>
        </p:nvSpPr>
        <p:spPr>
          <a:xfrm>
            <a:off x="635318" y="5215573"/>
            <a:ext cx="7993063" cy="903605"/>
          </a:xfrm>
          <a:prstGeom prst="rect">
            <a:avLst/>
          </a:prstGeom>
          <a:solidFill>
            <a:schemeClr val="accent1"/>
          </a:solidFill>
          <a:ln w="9525">
            <a:noFill/>
          </a:ln>
        </p:spPr>
        <p:txBody>
          <a:bodyPr wrap="square" anchor="t">
            <a:spAutoFit/>
          </a:bodyPr>
          <a:lstStyle/>
          <a:p>
            <a:pPr marL="344805" lvl="0" indent="-342900" eaLnBrk="1" fontAlgn="base" hangingPunct="1">
              <a:lnSpc>
                <a:spcPct val="120000"/>
              </a:lnSpc>
              <a:buFont typeface="Wingdings" panose="05000000000000000000" charset="0"/>
              <a:buChar char=""/>
            </a:pPr>
            <a:r>
              <a:rPr lang="zh-CN" altLang="en-US" sz="2400" u="sng" strike="noStrike" noProof="1">
                <a:solidFill>
                  <a:srgbClr val="3402C2"/>
                </a:solidFill>
                <a:latin typeface="华文中宋" panose="02010600040101010101" charset="-122"/>
                <a:ea typeface="华文中宋" panose="02010600040101010101" charset="-122"/>
                <a:cs typeface="+mn-ea"/>
              </a:rPr>
              <a:t>设置检查点的方法：</a:t>
            </a:r>
            <a:r>
              <a:rPr lang="zh-CN" altLang="en-US" sz="2000" strike="noStrike" noProof="1">
                <a:solidFill>
                  <a:srgbClr val="0033CC"/>
                </a:solidFill>
                <a:latin typeface="Arial" panose="020B0604020202020204" pitchFamily="34" charset="0"/>
                <a:ea typeface="宋体" panose="02010600030101010101" pitchFamily="2" charset="-122"/>
                <a:cs typeface="+mn-ea"/>
              </a:rPr>
              <a:t>CHECKPOINT [ checkpoint_duration ]</a:t>
            </a:r>
            <a:endParaRPr lang="zh-CN" altLang="en-US" sz="2000" strike="noStrike" noProof="1">
              <a:solidFill>
                <a:srgbClr val="0033CC"/>
              </a:solidFill>
              <a:latin typeface="Arial" panose="020B0604020202020204" pitchFamily="34" charset="0"/>
              <a:ea typeface="宋体" panose="02010600030101010101" pitchFamily="2" charset="-122"/>
            </a:endParaRPr>
          </a:p>
          <a:p>
            <a:pPr marL="1905" lvl="0" indent="-1905" eaLnBrk="1" fontAlgn="base" hangingPunct="1">
              <a:lnSpc>
                <a:spcPct val="120000"/>
              </a:lnSpc>
            </a:pPr>
            <a:r>
              <a:rPr lang="zh-CN" altLang="en-US" sz="2000" strike="noStrike" noProof="1">
                <a:solidFill>
                  <a:srgbClr val="000000"/>
                </a:solidFill>
                <a:latin typeface="Calibri" panose="020F0502020204030204" charset="0"/>
                <a:ea typeface="宋体" panose="02010600030101010101" pitchFamily="2" charset="-122"/>
                <a:cs typeface="+mn-ea"/>
              </a:rPr>
              <a:t>以秒为单位指定手动检查点完成所需的时间。</a:t>
            </a:r>
            <a:endParaRPr lang="zh-CN" altLang="en-US" sz="2000" strike="noStrike" noProof="1">
              <a:solidFill>
                <a:srgbClr val="000000"/>
              </a:solidFill>
              <a:latin typeface="Calibri" panose="020F050202020403020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4"/>
                                        </p:tgtEl>
                                        <p:attrNameLst>
                                          <p:attrName>style.visibility</p:attrName>
                                        </p:attrNameLst>
                                      </p:cBhvr>
                                      <p:to>
                                        <p:strVal val="visible"/>
                                      </p:to>
                                    </p:set>
                                    <p:anim calcmode="lin" valueType="num">
                                      <p:cBhvr additive="base">
                                        <p:cTn id="7" dur="500" fill="hold"/>
                                        <p:tgtEl>
                                          <p:spTgt spid="76804"/>
                                        </p:tgtEl>
                                        <p:attrNameLst>
                                          <p:attrName>ppt_x</p:attrName>
                                        </p:attrNameLst>
                                      </p:cBhvr>
                                      <p:tavLst>
                                        <p:tav tm="0">
                                          <p:val>
                                            <p:strVal val="#ppt_x"/>
                                          </p:val>
                                        </p:tav>
                                        <p:tav tm="100000">
                                          <p:val>
                                            <p:strVal val="#ppt_x"/>
                                          </p:val>
                                        </p:tav>
                                      </p:tavLst>
                                    </p:anim>
                                    <p:anim calcmode="lin" valueType="num">
                                      <p:cBhvr additive="base">
                                        <p:cTn id="8" dur="500" fill="hold"/>
                                        <p:tgtEl>
                                          <p:spTgt spid="7680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p:bldP spid="4" grpId="0" bldLvl="0" animBg="1"/>
      <p:bldP spid="11"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2"/>
          <p:cNvSpPr/>
          <p:nvPr/>
        </p:nvSpPr>
        <p:spPr>
          <a:xfrm>
            <a:off x="447878" y="1230022"/>
            <a:ext cx="8375650" cy="672465"/>
          </a:xfrm>
          <a:prstGeom prst="rect">
            <a:avLst/>
          </a:prstGeom>
          <a:noFill/>
          <a:ln w="9525">
            <a:noFill/>
          </a:ln>
        </p:spPr>
        <p:txBody>
          <a:bodyPr anchor="t">
            <a:spAutoFit/>
          </a:bodyPr>
          <a:lstStyle/>
          <a:p>
            <a:pPr marL="457200" indent="-457200" algn="l">
              <a:lnSpc>
                <a:spcPct val="135000"/>
              </a:lnSpc>
              <a:buClrTx/>
              <a:buSzTx/>
              <a:buFont typeface="Wingdings" panose="05000000000000000000" charset="0"/>
              <a:buChar char="p"/>
            </a:pPr>
            <a:r>
              <a:rPr lang="zh-CN" altLang="en-US" sz="2800" dirty="0">
                <a:solidFill>
                  <a:srgbClr val="0033CC"/>
                </a:solidFill>
                <a:latin typeface="黑体" panose="02010609060101010101" pitchFamily="1" charset="-122"/>
                <a:ea typeface="黑体" panose="02010609060101010101" pitchFamily="1" charset="-122"/>
                <a:cs typeface="+mn-ea"/>
              </a:rPr>
              <a:t>具有检查点的恢复技术</a:t>
            </a:r>
            <a:endParaRPr lang="zh-CN" altLang="en-US" sz="2800" dirty="0">
              <a:solidFill>
                <a:srgbClr val="0033CC"/>
              </a:solidFill>
              <a:latin typeface="黑体" panose="02010609060101010101" pitchFamily="1" charset="-122"/>
              <a:ea typeface="黑体" panose="02010609060101010101" pitchFamily="1" charset="-122"/>
              <a:cs typeface="+mn-ea"/>
            </a:endParaRPr>
          </a:p>
        </p:txBody>
      </p:sp>
      <p:sp>
        <p:nvSpPr>
          <p:cNvPr id="76804" name="Rectangle 7"/>
          <p:cNvSpPr/>
          <p:nvPr/>
        </p:nvSpPr>
        <p:spPr>
          <a:xfrm>
            <a:off x="412750" y="1818667"/>
            <a:ext cx="5068570" cy="609600"/>
          </a:xfrm>
          <a:prstGeom prst="rect">
            <a:avLst/>
          </a:prstGeom>
          <a:noFill/>
          <a:ln w="9525">
            <a:noFill/>
          </a:ln>
        </p:spPr>
        <p:txBody>
          <a:bodyPr wrap="none" anchor="ctr"/>
          <a:lstStyle/>
          <a:p>
            <a:pPr lvl="0" algn="l">
              <a:buClrTx/>
              <a:buSzTx/>
              <a:buNone/>
            </a:pPr>
            <a:r>
              <a:rPr lang="zh-CN" altLang="en-US" sz="2400" dirty="0">
                <a:solidFill>
                  <a:srgbClr val="0033CC"/>
                </a:solidFill>
                <a:latin typeface="黑体" panose="02010609060101010101" pitchFamily="1" charset="-122"/>
                <a:ea typeface="黑体" panose="02010609060101010101" pitchFamily="1" charset="-122"/>
                <a:cs typeface="+mn-ea"/>
              </a:rPr>
              <a:t>（</a:t>
            </a:r>
            <a:r>
              <a:rPr lang="en-US" altLang="zh-CN" sz="2400">
                <a:solidFill>
                  <a:srgbClr val="0033CC"/>
                </a:solidFill>
                <a:sym typeface="+mn-ea"/>
              </a:rPr>
              <a:t>3</a:t>
            </a:r>
            <a:r>
              <a:rPr lang="zh-CN" altLang="en-US" sz="2400" dirty="0">
                <a:solidFill>
                  <a:srgbClr val="0033CC"/>
                </a:solidFill>
                <a:latin typeface="黑体" panose="02010609060101010101" pitchFamily="1" charset="-122"/>
                <a:ea typeface="黑体" panose="02010609060101010101" pitchFamily="1" charset="-122"/>
                <a:cs typeface="+mn-ea"/>
              </a:rPr>
              <a:t>）恢复子系统定期或不定期</a:t>
            </a:r>
            <a:r>
              <a:rPr lang="zh-CN" altLang="en-US" sz="2400" dirty="0">
                <a:solidFill>
                  <a:srgbClr val="0033CC"/>
                </a:solidFill>
                <a:latin typeface="黑体" panose="02010609060101010101" pitchFamily="1" charset="-122"/>
                <a:ea typeface="黑体" panose="02010609060101010101" pitchFamily="1" charset="-122"/>
                <a:cs typeface="+mn-ea"/>
                <a:sym typeface="Wingdings" panose="05000000000000000000" pitchFamily="2" charset="2"/>
              </a:rPr>
              <a:t>建立检查点，保存数据库状态</a:t>
            </a:r>
            <a:endParaRPr lang="zh-CN" altLang="en-US" sz="2400" dirty="0">
              <a:solidFill>
                <a:srgbClr val="0033CC"/>
              </a:solidFill>
              <a:latin typeface="黑体" panose="02010609060101010101" pitchFamily="1" charset="-122"/>
              <a:ea typeface="黑体" panose="02010609060101010101" pitchFamily="1" charset="-122"/>
              <a:cs typeface="+mn-ea"/>
              <a:sym typeface="Wingdings" panose="05000000000000000000" pitchFamily="2" charset="2"/>
            </a:endParaRPr>
          </a:p>
        </p:txBody>
      </p:sp>
      <p:sp>
        <p:nvSpPr>
          <p:cNvPr id="79876" name="Text Box 3"/>
          <p:cNvSpPr txBox="1"/>
          <p:nvPr/>
        </p:nvSpPr>
        <p:spPr>
          <a:xfrm>
            <a:off x="636905" y="2475257"/>
            <a:ext cx="7870825" cy="1630045"/>
          </a:xfrm>
          <a:prstGeom prst="rect">
            <a:avLst/>
          </a:prstGeom>
          <a:noFill/>
          <a:ln w="9525">
            <a:solidFill>
              <a:schemeClr val="accent1"/>
            </a:solidFill>
          </a:ln>
        </p:spPr>
        <p:txBody>
          <a:bodyPr wrap="square" anchor="t">
            <a:spAutoFit/>
          </a:bodyPr>
          <a:lstStyle/>
          <a:p>
            <a:pPr lvl="0" indent="0">
              <a:lnSpc>
                <a:spcPct val="125000"/>
              </a:lnSpc>
              <a:spcBef>
                <a:spcPts val="0"/>
              </a:spcBef>
              <a:spcAft>
                <a:spcPts val="0"/>
              </a:spcAft>
              <a:buFont typeface="Wingdings" panose="05000000000000000000" pitchFamily="2" charset="2"/>
              <a:buChar char="ü"/>
            </a:pPr>
            <a:r>
              <a:rPr lang="zh-CN" altLang="en-US" sz="2000" dirty="0">
                <a:latin typeface="华文楷体" panose="02010600040101010101" pitchFamily="2" charset="-122"/>
                <a:ea typeface="华文楷体" panose="02010600040101010101" pitchFamily="2" charset="-122"/>
                <a:sym typeface="Wingdings" panose="05000000000000000000" pitchFamily="2" charset="2"/>
              </a:rPr>
              <a:t>将当前日志缓冲区中的所有日志记录写入磁盘的日志文件上</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5000"/>
              </a:lnSpc>
              <a:spcBef>
                <a:spcPts val="0"/>
              </a:spcBef>
              <a:spcAft>
                <a:spcPts val="0"/>
              </a:spcAft>
              <a:buFont typeface="Wingdings" panose="05000000000000000000" pitchFamily="2" charset="2"/>
              <a:buChar char="ü"/>
            </a:pPr>
            <a:r>
              <a:rPr lang="zh-CN" altLang="en-US" sz="2000" dirty="0">
                <a:latin typeface="华文楷体" panose="02010600040101010101" pitchFamily="2" charset="-122"/>
                <a:ea typeface="华文楷体" panose="02010600040101010101" pitchFamily="2" charset="-122"/>
                <a:sym typeface="Wingdings" panose="05000000000000000000" pitchFamily="2" charset="2"/>
              </a:rPr>
              <a:t>在日志文件中写入一个检查点记录</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5000"/>
              </a:lnSpc>
              <a:spcBef>
                <a:spcPts val="0"/>
              </a:spcBef>
              <a:spcAft>
                <a:spcPts val="0"/>
              </a:spcAft>
              <a:buFont typeface="Wingdings" panose="05000000000000000000" pitchFamily="2" charset="2"/>
              <a:buChar char="ü"/>
            </a:pPr>
            <a:r>
              <a:rPr lang="zh-CN" altLang="en-US" sz="2000" dirty="0">
                <a:latin typeface="华文楷体" panose="02010600040101010101" pitchFamily="2" charset="-122"/>
                <a:ea typeface="华文楷体" panose="02010600040101010101" pitchFamily="2" charset="-122"/>
                <a:sym typeface="Wingdings" panose="05000000000000000000" pitchFamily="2" charset="2"/>
              </a:rPr>
              <a:t>将当前数据区的所有数据记录写入磁盘的数据库中</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5000"/>
              </a:lnSpc>
              <a:spcBef>
                <a:spcPts val="0"/>
              </a:spcBef>
              <a:spcAft>
                <a:spcPts val="0"/>
              </a:spcAft>
              <a:buFont typeface="Wingdings" panose="05000000000000000000" pitchFamily="2" charset="2"/>
              <a:buChar char="ü"/>
            </a:pPr>
            <a:r>
              <a:rPr lang="zh-CN" altLang="en-US" sz="2000" dirty="0">
                <a:latin typeface="华文楷体" panose="02010600040101010101" pitchFamily="2" charset="-122"/>
                <a:ea typeface="华文楷体" panose="02010600040101010101" pitchFamily="2" charset="-122"/>
                <a:sym typeface="Wingdings" panose="05000000000000000000" pitchFamily="2" charset="2"/>
              </a:rPr>
              <a:t>把检查点记录在日志文件中的地址写入一个重新开始文件</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4" name="Rectangle 7"/>
          <p:cNvSpPr/>
          <p:nvPr/>
        </p:nvSpPr>
        <p:spPr>
          <a:xfrm>
            <a:off x="412750" y="4156102"/>
            <a:ext cx="5068570" cy="609600"/>
          </a:xfrm>
          <a:prstGeom prst="rect">
            <a:avLst/>
          </a:prstGeom>
          <a:noFill/>
          <a:ln w="9525">
            <a:noFill/>
          </a:ln>
        </p:spPr>
        <p:txBody>
          <a:bodyPr wrap="none" anchor="ctr"/>
          <a:lstStyle/>
          <a:p>
            <a:pPr lvl="0" algn="l">
              <a:buClrTx/>
              <a:buSzTx/>
              <a:buNone/>
            </a:pPr>
            <a:r>
              <a:rPr lang="zh-CN" altLang="en-US" sz="2400" dirty="0">
                <a:solidFill>
                  <a:srgbClr val="0033CC"/>
                </a:solidFill>
                <a:latin typeface="黑体" panose="02010609060101010101" pitchFamily="1" charset="-122"/>
                <a:ea typeface="黑体" panose="02010609060101010101" pitchFamily="1" charset="-122"/>
                <a:cs typeface="+mn-ea"/>
              </a:rPr>
              <a:t>（</a:t>
            </a:r>
            <a:r>
              <a:rPr lang="en-US" altLang="zh-CN" sz="2400">
                <a:solidFill>
                  <a:srgbClr val="0033CC"/>
                </a:solidFill>
                <a:sym typeface="+mn-ea"/>
              </a:rPr>
              <a:t>4</a:t>
            </a:r>
            <a:r>
              <a:rPr lang="zh-CN" altLang="en-US" sz="2400" dirty="0">
                <a:solidFill>
                  <a:srgbClr val="0033CC"/>
                </a:solidFill>
                <a:latin typeface="黑体" panose="02010609060101010101" pitchFamily="1" charset="-122"/>
                <a:ea typeface="黑体" panose="02010609060101010101" pitchFamily="1" charset="-122"/>
                <a:cs typeface="+mn-ea"/>
              </a:rPr>
              <a:t>）使用检查点方法可以改善恢复效率</a:t>
            </a:r>
            <a:endParaRPr lang="zh-CN" altLang="en-US" sz="2400" dirty="0">
              <a:solidFill>
                <a:srgbClr val="0033CC"/>
              </a:solidFill>
              <a:latin typeface="黑体" panose="02010609060101010101" pitchFamily="1" charset="-122"/>
              <a:ea typeface="黑体" panose="02010609060101010101" pitchFamily="1" charset="-122"/>
              <a:cs typeface="+mn-ea"/>
            </a:endParaRPr>
          </a:p>
        </p:txBody>
      </p:sp>
      <p:sp>
        <p:nvSpPr>
          <p:cNvPr id="5" name="Text Box 3"/>
          <p:cNvSpPr txBox="1"/>
          <p:nvPr/>
        </p:nvSpPr>
        <p:spPr>
          <a:xfrm>
            <a:off x="708660" y="4765702"/>
            <a:ext cx="7870825" cy="1245235"/>
          </a:xfrm>
          <a:prstGeom prst="rect">
            <a:avLst/>
          </a:prstGeom>
          <a:noFill/>
          <a:ln w="9525">
            <a:solidFill>
              <a:schemeClr val="accent1"/>
            </a:solidFill>
          </a:ln>
        </p:spPr>
        <p:txBody>
          <a:bodyPr wrap="square" anchor="t">
            <a:spAutoFit/>
          </a:bodyPr>
          <a:lstStyle/>
          <a:p>
            <a:pPr lvl="0" indent="0">
              <a:lnSpc>
                <a:spcPct val="125000"/>
              </a:lnSpc>
              <a:spcBef>
                <a:spcPts val="0"/>
              </a:spcBef>
              <a:spcAft>
                <a:spcPts val="0"/>
              </a:spcAft>
              <a:buFont typeface="Wingdings" panose="05000000000000000000" pitchFamily="2" charset="2"/>
              <a:buChar char="ü"/>
            </a:pPr>
            <a:r>
              <a:rPr lang="zh-CN" altLang="en-US" sz="2000" dirty="0">
                <a:latin typeface="华文楷体" panose="02010600040101010101" pitchFamily="2" charset="-122"/>
                <a:ea typeface="华文楷体" panose="02010600040101010101" pitchFamily="2" charset="-122"/>
                <a:sym typeface="Wingdings" panose="05000000000000000000" pitchFamily="2" charset="2"/>
              </a:rPr>
              <a:t>当事务</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在一个检查点之前提交，说明</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对数据库所作的修改已写入数据库，写入时间是在这个检查点建立之前或建立之时</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a:p>
            <a:pPr lvl="0" indent="0">
              <a:lnSpc>
                <a:spcPct val="125000"/>
              </a:lnSpc>
              <a:spcBef>
                <a:spcPts val="0"/>
              </a:spcBef>
              <a:spcAft>
                <a:spcPts val="0"/>
              </a:spcAft>
              <a:buFont typeface="Wingdings" panose="05000000000000000000" pitchFamily="2" charset="2"/>
              <a:buChar char="ü"/>
            </a:pPr>
            <a:r>
              <a:rPr lang="zh-CN" altLang="en-US" sz="2000" dirty="0">
                <a:latin typeface="华文楷体" panose="02010600040101010101" pitchFamily="2" charset="-122"/>
                <a:ea typeface="华文楷体" panose="02010600040101010101" pitchFamily="2" charset="-122"/>
                <a:sym typeface="Wingdings" panose="05000000000000000000" pitchFamily="2" charset="2"/>
              </a:rPr>
              <a:t>在进行恢复时，没有必要对事务</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执行</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REDO</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操作</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p:txBody>
      </p:sp>
      <p:grpSp>
        <p:nvGrpSpPr>
          <p:cNvPr id="6" name="组合 5"/>
          <p:cNvGrpSpPr/>
          <p:nvPr/>
        </p:nvGrpSpPr>
        <p:grpSpPr>
          <a:xfrm>
            <a:off x="2633980" y="2000250"/>
            <a:ext cx="6184900" cy="4254500"/>
            <a:chOff x="2457" y="1744"/>
            <a:chExt cx="9740" cy="6700"/>
          </a:xfrm>
        </p:grpSpPr>
        <p:pic>
          <p:nvPicPr>
            <p:cNvPr id="7" name="图片 6"/>
            <p:cNvPicPr>
              <a:picLocks noChangeAspect="1"/>
            </p:cNvPicPr>
            <p:nvPr/>
          </p:nvPicPr>
          <p:blipFill>
            <a:blip r:embed="rId1"/>
            <a:srcRect l="8587" t="10230" r="6080"/>
            <a:stretch>
              <a:fillRect/>
            </a:stretch>
          </p:blipFill>
          <p:spPr>
            <a:xfrm>
              <a:off x="2657" y="2978"/>
              <a:ext cx="9361" cy="5467"/>
            </a:xfrm>
            <a:prstGeom prst="rect">
              <a:avLst/>
            </a:prstGeom>
          </p:spPr>
        </p:pic>
        <p:sp>
          <p:nvSpPr>
            <p:cNvPr id="8" name="文本框 7"/>
            <p:cNvSpPr txBox="1"/>
            <p:nvPr/>
          </p:nvSpPr>
          <p:spPr>
            <a:xfrm>
              <a:off x="2457" y="1744"/>
              <a:ext cx="9741" cy="1190"/>
            </a:xfrm>
            <a:prstGeom prst="rect">
              <a:avLst/>
            </a:prstGeom>
            <a:solidFill>
              <a:schemeClr val="accent5"/>
            </a:solidFill>
          </p:spPr>
          <p:txBody>
            <a:bodyPr wrap="square" rtlCol="0" anchor="t">
              <a:spAutoFit/>
            </a:bodyPr>
            <a:lstStyle/>
            <a:p>
              <a:pPr>
                <a:lnSpc>
                  <a:spcPct val="120000"/>
                </a:lnSpc>
                <a:spcBef>
                  <a:spcPts val="0"/>
                </a:spcBef>
                <a:spcAft>
                  <a:spcPts val="0"/>
                </a:spcAft>
                <a:buFont typeface="Wingdings" panose="05000000000000000000" charset="0"/>
                <a:buChar char="p"/>
              </a:pPr>
              <a:r>
                <a:rPr lang="zh-CN" altLang="en-US" dirty="0">
                  <a:solidFill>
                    <a:srgbClr val="FF0000"/>
                  </a:solidFill>
                  <a:latin typeface="黑体" panose="02010609060101010101" pitchFamily="1" charset="-122"/>
                  <a:ea typeface="黑体" panose="02010609060101010101" pitchFamily="1" charset="-122"/>
                  <a:cs typeface="+mn-ea"/>
                  <a:sym typeface="+mn-ea"/>
                </a:rPr>
                <a:t>系统出现故障时，恢复子系统将根据事务的不同状态采取不同的恢复措施</a:t>
              </a:r>
              <a:endParaRPr lang="zh-CN" altLang="en-US" dirty="0">
                <a:solidFill>
                  <a:srgbClr val="FF0000"/>
                </a:solidFill>
                <a:latin typeface="黑体" panose="02010609060101010101" pitchFamily="1" charset="-122"/>
                <a:ea typeface="黑体" panose="02010609060101010101" pitchFamily="1" charset="-122"/>
                <a:cs typeface="+mn-ea"/>
                <a:sym typeface="+mn-ea"/>
              </a:endParaRPr>
            </a:p>
          </p:txBody>
        </p:sp>
      </p:grpSp>
      <p:pic>
        <p:nvPicPr>
          <p:cNvPr id="10" name="图片 9"/>
          <p:cNvPicPr>
            <a:picLocks noChangeAspect="1"/>
          </p:cNvPicPr>
          <p:nvPr/>
        </p:nvPicPr>
        <p:blipFill>
          <a:blip r:embed="rId2"/>
          <a:stretch>
            <a:fillRect/>
          </a:stretch>
        </p:blipFill>
        <p:spPr>
          <a:xfrm>
            <a:off x="1854200" y="1823430"/>
            <a:ext cx="6934200" cy="1758950"/>
          </a:xfrm>
          <a:prstGeom prst="rect">
            <a:avLst/>
          </a:prstGeom>
        </p:spPr>
      </p:pic>
      <p:sp>
        <p:nvSpPr>
          <p:cNvPr id="2" name="Rectangle 2"/>
          <p:cNvSpPr/>
          <p:nvPr/>
        </p:nvSpPr>
        <p:spPr>
          <a:xfrm>
            <a:off x="423863" y="428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12" name="Rectangle 7"/>
          <p:cNvSpPr/>
          <p:nvPr/>
        </p:nvSpPr>
        <p:spPr>
          <a:xfrm>
            <a:off x="501650" y="7643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3</a:t>
            </a:r>
            <a:r>
              <a:rPr lang="zh-CN" altLang="en-US" sz="2600" dirty="0" smtClean="0">
                <a:solidFill>
                  <a:srgbClr val="FF0000"/>
                </a:solidFill>
                <a:latin typeface="黑体" panose="02010609060101010101" pitchFamily="1" charset="-122"/>
                <a:ea typeface="黑体" panose="02010609060101010101" pitchFamily="1" charset="-122"/>
              </a:rPr>
              <a:t>、以后备副本和日志为基础的恢复技术</a:t>
            </a:r>
            <a:r>
              <a:rPr lang="en-US" altLang="zh-CN" sz="2600" dirty="0" smtClean="0">
                <a:solidFill>
                  <a:srgbClr val="3402C2"/>
                </a:solidFill>
                <a:latin typeface="黑体" panose="02010609060101010101" pitchFamily="1" charset="-122"/>
                <a:ea typeface="黑体" panose="02010609060101010101" pitchFamily="1" charset="-122"/>
              </a:rPr>
              <a:t>—</a:t>
            </a:r>
            <a:r>
              <a:rPr lang="zh-CN" altLang="en-US" sz="2600" dirty="0" smtClean="0">
                <a:solidFill>
                  <a:srgbClr val="3402C2"/>
                </a:solidFill>
                <a:latin typeface="黑体" panose="02010609060101010101" pitchFamily="1" charset="-122"/>
                <a:ea typeface="黑体" panose="02010609060101010101" pitchFamily="1" charset="-122"/>
              </a:rPr>
              <a:t>恢复对策</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p:nvPr/>
        </p:nvSpPr>
        <p:spPr>
          <a:xfrm>
            <a:off x="384175" y="1381760"/>
            <a:ext cx="5068570" cy="609600"/>
          </a:xfrm>
          <a:prstGeom prst="rect">
            <a:avLst/>
          </a:prstGeom>
          <a:noFill/>
          <a:ln w="9525">
            <a:noFill/>
          </a:ln>
        </p:spPr>
        <p:txBody>
          <a:bodyPr wrap="none" anchor="ctr"/>
          <a:lstStyle/>
          <a:p>
            <a:pPr lvl="0" algn="l">
              <a:buClrTx/>
              <a:buSzTx/>
              <a:buNone/>
            </a:pPr>
            <a:r>
              <a:rPr lang="zh-CN" altLang="en-US" sz="2400" dirty="0">
                <a:solidFill>
                  <a:srgbClr val="0033CC"/>
                </a:solidFill>
                <a:latin typeface="黑体" panose="02010609060101010101" pitchFamily="1" charset="-122"/>
                <a:ea typeface="黑体" panose="02010609060101010101" pitchFamily="1" charset="-122"/>
                <a:cs typeface="+mn-ea"/>
              </a:rPr>
              <a:t>（</a:t>
            </a:r>
            <a:r>
              <a:rPr lang="en-US" altLang="zh-CN" sz="2400">
                <a:solidFill>
                  <a:srgbClr val="0033CC"/>
                </a:solidFill>
                <a:sym typeface="+mn-ea"/>
              </a:rPr>
              <a:t>5</a:t>
            </a:r>
            <a:r>
              <a:rPr lang="zh-CN" altLang="en-US" sz="2400" dirty="0">
                <a:solidFill>
                  <a:srgbClr val="0033CC"/>
                </a:solidFill>
                <a:latin typeface="黑体" panose="02010609060101010101" pitchFamily="1" charset="-122"/>
                <a:ea typeface="黑体" panose="02010609060101010101" pitchFamily="1" charset="-122"/>
                <a:cs typeface="+mn-ea"/>
              </a:rPr>
              <a:t>）利用检查点的恢复步骤</a:t>
            </a:r>
            <a:endParaRPr lang="zh-CN" altLang="en-US" sz="2400" dirty="0">
              <a:solidFill>
                <a:srgbClr val="0033CC"/>
              </a:solidFill>
              <a:latin typeface="黑体" panose="02010609060101010101" pitchFamily="1" charset="-122"/>
              <a:ea typeface="黑体" panose="02010609060101010101" pitchFamily="1" charset="-122"/>
              <a:cs typeface="+mn-ea"/>
            </a:endParaRPr>
          </a:p>
        </p:txBody>
      </p:sp>
      <p:sp>
        <p:nvSpPr>
          <p:cNvPr id="79876" name="Text Box 3"/>
          <p:cNvSpPr txBox="1"/>
          <p:nvPr/>
        </p:nvSpPr>
        <p:spPr>
          <a:xfrm>
            <a:off x="654050" y="2044700"/>
            <a:ext cx="7870825" cy="706755"/>
          </a:xfrm>
          <a:prstGeom prst="rect">
            <a:avLst/>
          </a:prstGeom>
          <a:noFill/>
          <a:ln w="9525">
            <a:solidFill>
              <a:schemeClr val="accent1"/>
            </a:solidFill>
          </a:ln>
        </p:spPr>
        <p:txBody>
          <a:bodyPr wrap="square" anchor="t">
            <a:spAutoFit/>
          </a:bodyPr>
          <a:lstStyle/>
          <a:p>
            <a:pPr lvl="0">
              <a:lnSpc>
                <a:spcPct val="100000"/>
              </a:lnSpc>
              <a:spcBef>
                <a:spcPts val="0"/>
              </a:spcBef>
              <a:spcAft>
                <a:spcPts val="0"/>
              </a:spcAft>
              <a:buFont typeface="Wingdings" panose="05000000000000000000" pitchFamily="2" charset="2"/>
              <a:buNone/>
            </a:pPr>
            <a:r>
              <a:rPr lang="en-US" altLang="zh-CN" sz="2000" dirty="0">
                <a:latin typeface="华文楷体" panose="02010600040101010101" pitchFamily="2" charset="-122"/>
                <a:ea typeface="华文楷体" panose="02010600040101010101" pitchFamily="2" charset="-122"/>
                <a:sym typeface="Wingdings" panose="05000000000000000000" pitchFamily="2" charset="2"/>
              </a:rPr>
              <a:t>1</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、从重新开始文件中找到最后一个检查点记录在日志文件中的地址，由该地址在日志文件中找到最后一个检查点记录；</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1" name="Text Box 3"/>
          <p:cNvSpPr txBox="1"/>
          <p:nvPr/>
        </p:nvSpPr>
        <p:spPr>
          <a:xfrm>
            <a:off x="645795" y="2874645"/>
            <a:ext cx="7870825" cy="1014730"/>
          </a:xfrm>
          <a:prstGeom prst="rect">
            <a:avLst/>
          </a:prstGeom>
          <a:noFill/>
          <a:ln w="9525">
            <a:solidFill>
              <a:schemeClr val="accent1"/>
            </a:solidFill>
          </a:ln>
        </p:spPr>
        <p:txBody>
          <a:bodyPr wrap="square" anchor="t">
            <a:spAutoFit/>
          </a:bodyPr>
          <a:lstStyle/>
          <a:p>
            <a:pPr lvl="0">
              <a:lnSpc>
                <a:spcPct val="100000"/>
              </a:lnSpc>
              <a:spcBef>
                <a:spcPts val="0"/>
              </a:spcBef>
              <a:spcAft>
                <a:spcPts val="0"/>
              </a:spcAft>
              <a:buFont typeface="Wingdings" panose="05000000000000000000" pitchFamily="2" charset="2"/>
              <a:buNone/>
            </a:pPr>
            <a:r>
              <a:rPr lang="en-US" altLang="zh-CN" sz="2000" dirty="0">
                <a:latin typeface="华文楷体" panose="02010600040101010101" pitchFamily="2" charset="-122"/>
                <a:ea typeface="华文楷体" panose="02010600040101010101" pitchFamily="2" charset="-122"/>
                <a:sym typeface="Wingdings" panose="05000000000000000000" pitchFamily="2" charset="2"/>
              </a:rPr>
              <a:t>2</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、由该检查点记录得到检查点建立时刻所有正在执行的事务清单</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ACTIVE-LIST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000" dirty="0">
                <a:solidFill>
                  <a:srgbClr val="FF0000"/>
                </a:solidFill>
                <a:latin typeface="华文楷体" panose="02010600040101010101" pitchFamily="2" charset="-122"/>
                <a:ea typeface="华文楷体" panose="02010600040101010101" pitchFamily="2" charset="-122"/>
                <a:sym typeface="Wingdings" panose="05000000000000000000" pitchFamily="2" charset="2"/>
              </a:rPr>
              <a:t>建立两个事务队列：</a:t>
            </a:r>
            <a:r>
              <a:rPr lang="en-US" altLang="zh-CN" sz="2000" dirty="0">
                <a:solidFill>
                  <a:srgbClr val="FF0000"/>
                </a:solidFill>
                <a:latin typeface="华文楷体" panose="02010600040101010101" pitchFamily="2" charset="-122"/>
                <a:ea typeface="华文楷体" panose="02010600040101010101" pitchFamily="2" charset="-122"/>
                <a:sym typeface="Wingdings" panose="05000000000000000000" pitchFamily="2" charset="2"/>
              </a:rPr>
              <a:t>UNDO-LIST</a:t>
            </a:r>
            <a:r>
              <a:rPr lang="zh-CN" altLang="en-US" sz="2000" dirty="0">
                <a:solidFill>
                  <a:srgbClr val="FF0000"/>
                </a:solidFill>
                <a:latin typeface="华文楷体" panose="02010600040101010101" pitchFamily="2" charset="-122"/>
                <a:ea typeface="华文楷体" panose="02010600040101010101" pitchFamily="2" charset="-122"/>
                <a:sym typeface="Wingdings" panose="05000000000000000000" pitchFamily="2" charset="2"/>
              </a:rPr>
              <a:t>和</a:t>
            </a:r>
            <a:r>
              <a:rPr lang="en-US" altLang="zh-CN" sz="2000" dirty="0">
                <a:solidFill>
                  <a:srgbClr val="FF0000"/>
                </a:solidFill>
                <a:latin typeface="华文楷体" panose="02010600040101010101" pitchFamily="2" charset="-122"/>
                <a:ea typeface="华文楷体" panose="02010600040101010101" pitchFamily="2" charset="-122"/>
                <a:sym typeface="Wingdings" panose="05000000000000000000" pitchFamily="2" charset="2"/>
              </a:rPr>
              <a:t>REDO-LIST</a:t>
            </a:r>
            <a:r>
              <a:rPr lang="zh-CN" altLang="en-US" sz="2000" dirty="0">
                <a:solidFill>
                  <a:srgbClr val="FF0000"/>
                </a:solidFill>
                <a:latin typeface="华文楷体" panose="02010600040101010101" pitchFamily="2" charset="-122"/>
                <a:ea typeface="华文楷体" panose="02010600040101010101" pitchFamily="2" charset="-122"/>
                <a:sym typeface="Wingdings" panose="05000000000000000000" pitchFamily="2" charset="2"/>
              </a:rPr>
              <a:t>：</a:t>
            </a:r>
            <a:endParaRPr lang="en-US" altLang="zh-CN" sz="2000" dirty="0">
              <a:solidFill>
                <a:srgbClr val="FF0000"/>
              </a:solidFill>
              <a:latin typeface="华文楷体" panose="02010600040101010101" pitchFamily="2" charset="-122"/>
              <a:ea typeface="华文楷体" panose="02010600040101010101" pitchFamily="2" charset="-122"/>
              <a:sym typeface="Wingdings" panose="05000000000000000000" pitchFamily="2" charset="2"/>
            </a:endParaRPr>
          </a:p>
          <a:p>
            <a:pPr lvl="0">
              <a:lnSpc>
                <a:spcPct val="100000"/>
              </a:lnSpc>
              <a:spcBef>
                <a:spcPts val="0"/>
              </a:spcBef>
              <a:spcAft>
                <a:spcPts val="0"/>
              </a:spcAft>
              <a:buFont typeface="Wingdings" panose="05000000000000000000" pitchFamily="2" charset="2"/>
              <a:buNone/>
            </a:pPr>
            <a:r>
              <a:rPr lang="zh-CN" altLang="en-US" sz="2000" dirty="0">
                <a:latin typeface="华文楷体" panose="02010600040101010101" pitchFamily="2" charset="-122"/>
                <a:ea typeface="华文楷体" panose="02010600040101010101" pitchFamily="2" charset="-122"/>
                <a:sym typeface="Wingdings" panose="05000000000000000000" pitchFamily="2" charset="2"/>
              </a:rPr>
              <a:t>把</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ACTIVE-LIST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暂时放入</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UNDO-LIST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REDO-LIST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队列暂时为空；</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2" name="Text Box 3"/>
          <p:cNvSpPr txBox="1"/>
          <p:nvPr/>
        </p:nvSpPr>
        <p:spPr>
          <a:xfrm>
            <a:off x="654050" y="4020820"/>
            <a:ext cx="7870825" cy="1014730"/>
          </a:xfrm>
          <a:prstGeom prst="rect">
            <a:avLst/>
          </a:prstGeom>
          <a:noFill/>
          <a:ln w="9525">
            <a:solidFill>
              <a:schemeClr val="accent1"/>
            </a:solidFill>
          </a:ln>
        </p:spPr>
        <p:txBody>
          <a:bodyPr wrap="square" anchor="t">
            <a:spAutoFit/>
          </a:bodyPr>
          <a:lstStyle/>
          <a:p>
            <a:pPr lvl="0">
              <a:lnSpc>
                <a:spcPct val="100000"/>
              </a:lnSpc>
              <a:spcBef>
                <a:spcPts val="0"/>
              </a:spcBef>
              <a:spcAft>
                <a:spcPts val="0"/>
              </a:spcAft>
              <a:buFont typeface="Wingdings" panose="05000000000000000000" pitchFamily="2" charset="2"/>
              <a:buNone/>
            </a:pPr>
            <a:r>
              <a:rPr lang="en-US" altLang="zh-CN" sz="2000" dirty="0">
                <a:latin typeface="华文楷体" panose="02010600040101010101" pitchFamily="2" charset="-122"/>
                <a:ea typeface="华文楷体" panose="02010600040101010101" pitchFamily="2" charset="-122"/>
                <a:sym typeface="Wingdings" panose="05000000000000000000" pitchFamily="2" charset="2"/>
              </a:rPr>
              <a:t>3</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、从检查点开始正向扫描日志文件，直到日志文件结束：</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a:p>
            <a:pPr lvl="0">
              <a:lnSpc>
                <a:spcPct val="100000"/>
              </a:lnSpc>
              <a:spcBef>
                <a:spcPts val="0"/>
              </a:spcBef>
              <a:spcAft>
                <a:spcPts val="0"/>
              </a:spcAft>
              <a:buFont typeface="Wingdings" panose="05000000000000000000" pitchFamily="2" charset="2"/>
              <a:buNone/>
            </a:pPr>
            <a:r>
              <a:rPr lang="en-US" altLang="zh-CN" sz="20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如由新开始的事务</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T</a:t>
            </a:r>
            <a:r>
              <a:rPr lang="en-US" altLang="zh-CN" sz="2000" baseline="-25000" dirty="0">
                <a:latin typeface="华文楷体" panose="02010600040101010101" pitchFamily="2" charset="-122"/>
                <a:ea typeface="华文楷体" panose="02010600040101010101" pitchFamily="2" charset="-122"/>
                <a:sym typeface="Wingdings" panose="05000000000000000000" pitchFamily="2" charset="2"/>
              </a:rPr>
              <a:t>i</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，把</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T</a:t>
            </a:r>
            <a:r>
              <a:rPr lang="en-US" altLang="zh-CN" sz="2000" baseline="-25000" dirty="0">
                <a:latin typeface="华文楷体" panose="02010600040101010101" pitchFamily="2" charset="-122"/>
                <a:ea typeface="华文楷体" panose="02010600040101010101" pitchFamily="2" charset="-122"/>
                <a:sym typeface="Wingdings" panose="05000000000000000000" pitchFamily="2" charset="2"/>
              </a:rPr>
              <a:t>i</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暂时放到</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UNDO-LIST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队列</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a:p>
            <a:pPr lvl="0">
              <a:lnSpc>
                <a:spcPct val="100000"/>
              </a:lnSpc>
              <a:spcBef>
                <a:spcPts val="0"/>
              </a:spcBef>
              <a:spcAft>
                <a:spcPts val="0"/>
              </a:spcAft>
              <a:buFont typeface="Wingdings" panose="05000000000000000000" pitchFamily="2" charset="2"/>
              <a:buNone/>
            </a:pPr>
            <a:r>
              <a:rPr lang="en-US" altLang="zh-CN" sz="2000" dirty="0">
                <a:latin typeface="华文楷体" panose="02010600040101010101" pitchFamily="2" charset="-122"/>
                <a:ea typeface="华文楷体" panose="02010600040101010101" pitchFamily="2" charset="-122"/>
                <a:sym typeface="Wingdings" panose="05000000000000000000" pitchFamily="2" charset="2"/>
              </a:rPr>
              <a: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如有提交的事务</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T</a:t>
            </a:r>
            <a:r>
              <a:rPr lang="en-US" altLang="zh-CN" sz="2000" baseline="-25000" dirty="0">
                <a:latin typeface="华文楷体" panose="02010600040101010101" pitchFamily="2" charset="-122"/>
                <a:ea typeface="华文楷体" panose="02010600040101010101" pitchFamily="2" charset="-122"/>
                <a:sym typeface="Wingdings" panose="05000000000000000000" pitchFamily="2" charset="2"/>
              </a:rPr>
              <a:t>j</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，把</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T</a:t>
            </a:r>
            <a:r>
              <a:rPr lang="en-US" altLang="zh-CN" sz="2000" baseline="-25000" dirty="0">
                <a:latin typeface="华文楷体" panose="02010600040101010101" pitchFamily="2" charset="-122"/>
                <a:ea typeface="华文楷体" panose="02010600040101010101" pitchFamily="2" charset="-122"/>
                <a:sym typeface="Wingdings" panose="05000000000000000000" pitchFamily="2" charset="2"/>
              </a:rPr>
              <a:t>j</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从</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UNDO-LIST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队列移动到</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REDO-LIST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队列</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13" name="Text Box 3"/>
          <p:cNvSpPr txBox="1"/>
          <p:nvPr/>
        </p:nvSpPr>
        <p:spPr>
          <a:xfrm>
            <a:off x="654050" y="5172075"/>
            <a:ext cx="7870825" cy="706755"/>
          </a:xfrm>
          <a:prstGeom prst="rect">
            <a:avLst/>
          </a:prstGeom>
          <a:noFill/>
          <a:ln w="9525">
            <a:solidFill>
              <a:schemeClr val="accent1"/>
            </a:solidFill>
          </a:ln>
        </p:spPr>
        <p:txBody>
          <a:bodyPr wrap="square" anchor="t">
            <a:spAutoFit/>
          </a:bodyPr>
          <a:lstStyle/>
          <a:p>
            <a:pPr lvl="0">
              <a:lnSpc>
                <a:spcPct val="100000"/>
              </a:lnSpc>
              <a:spcBef>
                <a:spcPts val="0"/>
              </a:spcBef>
              <a:spcAft>
                <a:spcPts val="0"/>
              </a:spcAft>
              <a:buFont typeface="Wingdings" panose="05000000000000000000" pitchFamily="2" charset="2"/>
              <a:buNone/>
            </a:pPr>
            <a:r>
              <a:rPr lang="en-US" altLang="zh-CN" sz="2000" dirty="0">
                <a:latin typeface="华文楷体" panose="02010600040101010101" pitchFamily="2" charset="-122"/>
                <a:ea typeface="华文楷体" panose="02010600040101010101" pitchFamily="2" charset="-122"/>
                <a:sym typeface="Wingdings" panose="05000000000000000000" pitchFamily="2" charset="2"/>
              </a:rPr>
              <a:t>4</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、对</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UNDO-LIST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队列中的每个事务执行</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UNDO</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操作；对</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REDO-LIST</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队列中的每个事务执行</a:t>
            </a:r>
            <a:r>
              <a:rPr lang="en-US" altLang="zh-CN" sz="2000" dirty="0">
                <a:latin typeface="华文楷体" panose="02010600040101010101" pitchFamily="2" charset="-122"/>
                <a:ea typeface="华文楷体" panose="02010600040101010101" pitchFamily="2" charset="-122"/>
                <a:sym typeface="Wingdings" panose="05000000000000000000" pitchFamily="2" charset="2"/>
              </a:rPr>
              <a:t>REDO</a:t>
            </a:r>
            <a:r>
              <a:rPr lang="zh-CN" altLang="en-US" sz="2000" dirty="0">
                <a:latin typeface="华文楷体" panose="02010600040101010101" pitchFamily="2" charset="-122"/>
                <a:ea typeface="华文楷体" panose="02010600040101010101" pitchFamily="2" charset="-122"/>
                <a:sym typeface="Wingdings" panose="05000000000000000000" pitchFamily="2" charset="2"/>
              </a:rPr>
              <a:t>操作。</a:t>
            </a:r>
            <a:endParaRPr lang="zh-CN" altLang="en-US" sz="2000" dirty="0">
              <a:latin typeface="华文楷体" panose="02010600040101010101" pitchFamily="2" charset="-122"/>
              <a:ea typeface="华文楷体" panose="02010600040101010101" pitchFamily="2" charset="-122"/>
              <a:sym typeface="Wingdings" panose="05000000000000000000" pitchFamily="2" charset="2"/>
            </a:endParaRPr>
          </a:p>
        </p:txBody>
      </p:sp>
      <p:sp>
        <p:nvSpPr>
          <p:cNvPr id="2" name="Rectangle 2"/>
          <p:cNvSpPr/>
          <p:nvPr/>
        </p:nvSpPr>
        <p:spPr>
          <a:xfrm>
            <a:off x="423863" y="428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10" name="Rectangle 7"/>
          <p:cNvSpPr/>
          <p:nvPr/>
        </p:nvSpPr>
        <p:spPr>
          <a:xfrm>
            <a:off x="501650" y="764363"/>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3</a:t>
            </a:r>
            <a:r>
              <a:rPr lang="zh-CN" altLang="en-US" sz="2600" dirty="0" smtClean="0">
                <a:solidFill>
                  <a:srgbClr val="FF0000"/>
                </a:solidFill>
                <a:latin typeface="黑体" panose="02010609060101010101" pitchFamily="1" charset="-122"/>
                <a:ea typeface="黑体" panose="02010609060101010101" pitchFamily="1" charset="-122"/>
              </a:rPr>
              <a:t>、以后备副本和日志为基础的恢复技术</a:t>
            </a:r>
            <a:r>
              <a:rPr lang="en-US" altLang="zh-CN" sz="2600" dirty="0" smtClean="0">
                <a:solidFill>
                  <a:srgbClr val="3402C2"/>
                </a:solidFill>
                <a:latin typeface="黑体" panose="02010609060101010101" pitchFamily="1" charset="-122"/>
                <a:ea typeface="黑体" panose="02010609060101010101" pitchFamily="1" charset="-122"/>
              </a:rPr>
              <a:t>—</a:t>
            </a:r>
            <a:r>
              <a:rPr lang="zh-CN" altLang="en-US" sz="2600" dirty="0" smtClean="0">
                <a:solidFill>
                  <a:srgbClr val="3402C2"/>
                </a:solidFill>
                <a:latin typeface="黑体" panose="02010609060101010101" pitchFamily="1" charset="-122"/>
                <a:ea typeface="黑体" panose="02010609060101010101" pitchFamily="1" charset="-122"/>
              </a:rPr>
              <a:t>恢复对策</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9876"/>
                                        </p:tgtEl>
                                        <p:attrNameLst>
                                          <p:attrName>style.visibility</p:attrName>
                                        </p:attrNameLst>
                                      </p:cBhvr>
                                      <p:to>
                                        <p:strVal val="visible"/>
                                      </p:to>
                                    </p:set>
                                    <p:animEffect transition="in" filter="checkerboard(across)">
                                      <p:cBhvr>
                                        <p:cTn id="7" dur="500"/>
                                        <p:tgtEl>
                                          <p:spTgt spid="7987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00" fill="hold"/>
                                        <p:tgtEl>
                                          <p:spTgt spid="13"/>
                                        </p:tgtEl>
                                        <p:attrNameLst>
                                          <p:attrName>ppt_x</p:attrName>
                                        </p:attrNameLst>
                                      </p:cBhvr>
                                      <p:tavLst>
                                        <p:tav tm="0">
                                          <p:val>
                                            <p:strVal val="#ppt_x"/>
                                          </p:val>
                                        </p:tav>
                                        <p:tav tm="100000">
                                          <p:val>
                                            <p:strVal val="#ppt_x"/>
                                          </p:val>
                                        </p:tav>
                                      </p:tavLst>
                                    </p:anim>
                                    <p:anim calcmode="lin" valueType="num">
                                      <p:cBhvr additive="base">
                                        <p:cTn id="2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bldLvl="0" animBg="1"/>
      <p:bldP spid="11" grpId="0" bldLvl="0" animBg="1"/>
      <p:bldP spid="12" grpId="0" bldLvl="0" animBg="1"/>
      <p:bldP spid="13"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3"/>
          <p:cNvSpPr txBox="1"/>
          <p:nvPr/>
        </p:nvSpPr>
        <p:spPr>
          <a:xfrm>
            <a:off x="641985" y="1446326"/>
            <a:ext cx="8137525" cy="810260"/>
          </a:xfrm>
          <a:prstGeom prst="rect">
            <a:avLst/>
          </a:prstGeom>
          <a:noFill/>
          <a:ln w="9525">
            <a:noFill/>
          </a:ln>
        </p:spPr>
        <p:txBody>
          <a:bodyPr anchor="t"/>
          <a:lstStyle/>
          <a:p>
            <a:pPr marL="342900" lvl="0" indent="-342900" eaLnBrk="0" hangingPunct="0">
              <a:lnSpc>
                <a:spcPct val="110000"/>
              </a:lnSpc>
              <a:spcBef>
                <a:spcPts val="20"/>
              </a:spcBef>
              <a:spcAft>
                <a:spcPts val="0"/>
              </a:spcAft>
              <a:buClr>
                <a:srgbClr val="FF0000"/>
              </a:buClr>
              <a:buSzPct val="100000"/>
              <a:buFont typeface="Wingdings" panose="05000000000000000000" pitchFamily="2" charset="2"/>
              <a:buChar char="p"/>
            </a:pPr>
            <a:r>
              <a:rPr lang="zh-CN" altLang="en-US" sz="2400" u="sng" dirty="0">
                <a:solidFill>
                  <a:srgbClr val="FF0000"/>
                </a:solidFill>
                <a:latin typeface="华文中宋" panose="02010600040101010101" charset="-122"/>
                <a:ea typeface="华文中宋" panose="02010600040101010101" charset="-122"/>
              </a:rPr>
              <a:t>方法：</a:t>
            </a:r>
            <a:r>
              <a:rPr lang="zh-CN" altLang="en-US" sz="2300" dirty="0">
                <a:latin typeface="华文楷体" panose="02010600040101010101" pitchFamily="2" charset="-122"/>
                <a:ea typeface="宋体" panose="02010600030101010101" pitchFamily="2" charset="-122"/>
              </a:rPr>
              <a:t>利用多副本互为备份、恢复，分为</a:t>
            </a:r>
            <a:r>
              <a:rPr lang="zh-CN" altLang="en-US" sz="2300" u="sng" dirty="0">
                <a:solidFill>
                  <a:srgbClr val="3402C2"/>
                </a:solidFill>
                <a:latin typeface="华文中宋" panose="02010600040101010101" charset="-122"/>
                <a:ea typeface="华文中宋" panose="02010600040101010101" charset="-122"/>
              </a:rPr>
              <a:t>操作系统级多副本恢复技术</a:t>
            </a:r>
            <a:r>
              <a:rPr lang="zh-CN" altLang="en-US" sz="2300" dirty="0">
                <a:latin typeface="华文楷体" panose="02010600040101010101" pitchFamily="2" charset="-122"/>
                <a:ea typeface="宋体" panose="02010600030101010101" pitchFamily="2" charset="-122"/>
              </a:rPr>
              <a:t>和</a:t>
            </a:r>
            <a:r>
              <a:rPr lang="zh-CN" altLang="en-US" sz="2300" u="sng" dirty="0">
                <a:solidFill>
                  <a:srgbClr val="3402C2"/>
                </a:solidFill>
                <a:latin typeface="华文中宋" panose="02010600040101010101" charset="-122"/>
                <a:ea typeface="华文中宋" panose="02010600040101010101" charset="-122"/>
              </a:rPr>
              <a:t>数据库级的多副本恢复技术</a:t>
            </a:r>
            <a:r>
              <a:rPr lang="zh-CN" altLang="en-US" sz="2300" dirty="0">
                <a:latin typeface="华文楷体" panose="02010600040101010101" pitchFamily="2" charset="-122"/>
                <a:ea typeface="宋体" panose="02010600030101010101" pitchFamily="2" charset="-122"/>
              </a:rPr>
              <a:t>。</a:t>
            </a:r>
            <a:endParaRPr lang="zh-CN" altLang="en-US" sz="2300" dirty="0">
              <a:latin typeface="华文楷体" panose="02010600040101010101" pitchFamily="2" charset="-122"/>
              <a:ea typeface="宋体" panose="02010600030101010101" pitchFamily="2" charset="-122"/>
            </a:endParaRPr>
          </a:p>
          <a:p>
            <a:pPr marL="342900" lvl="0" indent="-342900" eaLnBrk="0" hangingPunct="0">
              <a:spcBef>
                <a:spcPct val="20000"/>
              </a:spcBef>
              <a:buClr>
                <a:srgbClr val="0033CC"/>
              </a:buClr>
              <a:buSzPct val="80000"/>
            </a:pPr>
            <a:r>
              <a:rPr lang="zh-CN" altLang="en-US" sz="2000" dirty="0">
                <a:latin typeface="华文楷体" panose="02010600040101010101" pitchFamily="2" charset="-122"/>
                <a:ea typeface="宋体" panose="02010600030101010101" pitchFamily="2" charset="-122"/>
              </a:rPr>
              <a:t>                                        </a:t>
            </a:r>
            <a:endParaRPr lang="zh-CN" altLang="en-US" sz="2000" dirty="0">
              <a:latin typeface="华文楷体" panose="02010600040101010101" pitchFamily="2" charset="-122"/>
              <a:ea typeface="宋体" panose="02010600030101010101" pitchFamily="2" charset="-122"/>
            </a:endParaRPr>
          </a:p>
        </p:txBody>
      </p:sp>
      <p:sp>
        <p:nvSpPr>
          <p:cNvPr id="66566"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grpSp>
        <p:nvGrpSpPr>
          <p:cNvPr id="3" name="组合 2"/>
          <p:cNvGrpSpPr/>
          <p:nvPr/>
        </p:nvGrpSpPr>
        <p:grpSpPr>
          <a:xfrm>
            <a:off x="457200" y="2409352"/>
            <a:ext cx="8229600" cy="4115435"/>
            <a:chOff x="720" y="4070"/>
            <a:chExt cx="12960" cy="6481"/>
          </a:xfrm>
        </p:grpSpPr>
        <p:sp>
          <p:nvSpPr>
            <p:cNvPr id="69634" name="Text Box 4"/>
            <p:cNvSpPr txBox="1"/>
            <p:nvPr/>
          </p:nvSpPr>
          <p:spPr>
            <a:xfrm>
              <a:off x="1187" y="5518"/>
              <a:ext cx="5485" cy="1954"/>
            </a:xfrm>
            <a:prstGeom prst="rect">
              <a:avLst/>
            </a:prstGeom>
            <a:noFill/>
            <a:ln w="9525">
              <a:noFill/>
            </a:ln>
          </p:spPr>
          <p:txBody>
            <a:bodyPr wrap="square" anchor="t">
              <a:spAutoFit/>
            </a:bodyPr>
            <a:lstStyle/>
            <a:p>
              <a:pPr lvl="0" indent="0">
                <a:lnSpc>
                  <a:spcPct val="110000"/>
                </a:lnSpc>
                <a:spcBef>
                  <a:spcPts val="50"/>
                </a:spcBef>
                <a:spcAft>
                  <a:spcPts val="0"/>
                </a:spcAft>
              </a:pPr>
              <a:r>
                <a:rPr lang="zh-CN" altLang="en-US" sz="2200" dirty="0">
                  <a:latin typeface="宋体" panose="02010600030101010101" pitchFamily="2" charset="-122"/>
                  <a:ea typeface="宋体" panose="02010600030101010101" pitchFamily="2" charset="-122"/>
                  <a:sym typeface="Wingdings 2" panose="05020102010507070707" charset="0"/>
                </a:rPr>
                <a:t> </a:t>
              </a:r>
              <a:r>
                <a:rPr lang="zh-CN" altLang="en-US" sz="2400" u="sng" dirty="0">
                  <a:solidFill>
                    <a:srgbClr val="3402C2"/>
                  </a:solidFill>
                  <a:latin typeface="宋体" panose="02010600030101010101" pitchFamily="2" charset="-122"/>
                  <a:ea typeface="宋体" panose="02010600030101010101" pitchFamily="2" charset="-122"/>
                </a:rPr>
                <a:t>镜像磁盘：</a:t>
              </a:r>
              <a:r>
                <a:rPr lang="zh-CN" altLang="en-US" sz="2200" dirty="0">
                  <a:latin typeface="宋体" panose="02010600030101010101" pitchFamily="2" charset="-122"/>
                  <a:ea typeface="宋体" panose="02010600030101010101" pitchFamily="2" charset="-122"/>
                </a:rPr>
                <a:t>可在一个磁盘出现故障的情况下仍能正常运行。</a:t>
              </a:r>
              <a:endParaRPr lang="zh-CN" altLang="en-US" sz="2200" dirty="0">
                <a:latin typeface="宋体" panose="02010600030101010101" pitchFamily="2" charset="-122"/>
                <a:ea typeface="宋体" panose="02010600030101010101" pitchFamily="2" charset="-122"/>
              </a:endParaRPr>
            </a:p>
          </p:txBody>
        </p:sp>
        <p:sp>
          <p:nvSpPr>
            <p:cNvPr id="2" name="Rectangle 7"/>
            <p:cNvSpPr/>
            <p:nvPr/>
          </p:nvSpPr>
          <p:spPr>
            <a:xfrm>
              <a:off x="720" y="4070"/>
              <a:ext cx="8345" cy="960"/>
            </a:xfrm>
            <a:prstGeom prst="rect">
              <a:avLst/>
            </a:prstGeom>
            <a:noFill/>
            <a:ln w="9525">
              <a:noFill/>
            </a:ln>
          </p:spPr>
          <p:txBody>
            <a:bodyPr wrap="none" anchor="ctr"/>
            <a:lstStyle/>
            <a:p>
              <a:pPr lvl="0" indent="0" algn="ctr"/>
              <a:r>
                <a:rPr lang="zh-CN" altLang="en-US" sz="2500" dirty="0" smtClean="0">
                  <a:solidFill>
                    <a:srgbClr val="FF0000"/>
                  </a:solidFill>
                  <a:latin typeface="黑体" panose="02010609060101010101" pitchFamily="1" charset="-122"/>
                  <a:ea typeface="黑体" panose="02010609060101010101" pitchFamily="1" charset="-122"/>
                  <a:cs typeface="+mn-ea"/>
                  <a:sym typeface="Wingdings 2" panose="05020102010507070707" charset="0"/>
                </a:rPr>
                <a:t>（1</a:t>
              </a:r>
              <a:r>
                <a:rPr lang="zh-CN" altLang="en-US" sz="2500" dirty="0">
                  <a:solidFill>
                    <a:srgbClr val="FF0000"/>
                  </a:solidFill>
                  <a:latin typeface="黑体" panose="02010609060101010101" pitchFamily="1" charset="-122"/>
                  <a:ea typeface="黑体" panose="02010609060101010101" pitchFamily="1" charset="-122"/>
                  <a:cs typeface="+mn-ea"/>
                  <a:sym typeface="Wingdings 2" panose="05020102010507070707" charset="0"/>
                </a:rPr>
                <a:t>）</a:t>
              </a:r>
              <a:r>
                <a:rPr lang="zh-CN" altLang="en-US" sz="2500" dirty="0">
                  <a:solidFill>
                    <a:srgbClr val="FF0000"/>
                  </a:solidFill>
                  <a:latin typeface="黑体" panose="02010609060101010101" pitchFamily="1" charset="-122"/>
                  <a:ea typeface="黑体" panose="02010609060101010101" pitchFamily="1" charset="-122"/>
                  <a:sym typeface="Wingdings 2" panose="05020102010507070707" charset="0"/>
                </a:rPr>
                <a:t>操作系统级的多副本恢复技术</a:t>
              </a:r>
              <a:endParaRPr lang="zh-CN" altLang="en-US" sz="2500" dirty="0">
                <a:solidFill>
                  <a:srgbClr val="FF0000"/>
                </a:solidFill>
                <a:latin typeface="黑体" panose="02010609060101010101" pitchFamily="1" charset="-122"/>
                <a:ea typeface="黑体" panose="02010609060101010101" pitchFamily="1" charset="-122"/>
                <a:sym typeface="Wingdings 2" panose="05020102010507070707" charset="0"/>
              </a:endParaRPr>
            </a:p>
          </p:txBody>
        </p:sp>
        <p:graphicFrame>
          <p:nvGraphicFramePr>
            <p:cNvPr id="69635" name="Object 2"/>
            <p:cNvGraphicFramePr>
              <a:graphicFrameLocks noGrp="1" noChangeAspect="1"/>
            </p:cNvGraphicFramePr>
            <p:nvPr/>
          </p:nvGraphicFramePr>
          <p:xfrm>
            <a:off x="5566" y="5394"/>
            <a:ext cx="8114" cy="5157"/>
          </p:xfrm>
          <a:graphic>
            <a:graphicData uri="http://schemas.openxmlformats.org/presentationml/2006/ole">
              <mc:AlternateContent xmlns:mc="http://schemas.openxmlformats.org/markup-compatibility/2006">
                <mc:Choice xmlns:v="urn:schemas-microsoft-com:vml" Requires="v">
                  <p:oleObj spid="_x0000_s9250" name="" r:id="rId1" imgW="3286760" imgH="2329815" progId="Word.Picture.8">
                    <p:embed/>
                  </p:oleObj>
                </mc:Choice>
                <mc:Fallback>
                  <p:oleObj name="" r:id="rId1" imgW="3286760" imgH="2329815" progId="Word.Picture.8">
                    <p:embed/>
                    <p:pic>
                      <p:nvPicPr>
                        <p:cNvPr id="0" name="图片 3082"/>
                        <p:cNvPicPr/>
                        <p:nvPr/>
                      </p:nvPicPr>
                      <p:blipFill>
                        <a:blip r:embed="rId2"/>
                        <a:stretch>
                          <a:fillRect/>
                        </a:stretch>
                      </p:blipFill>
                      <p:spPr>
                        <a:xfrm>
                          <a:off x="5566" y="5394"/>
                          <a:ext cx="8114" cy="5157"/>
                        </a:xfrm>
                        <a:prstGeom prst="rect">
                          <a:avLst/>
                        </a:prstGeom>
                        <a:noFill/>
                        <a:ln w="38100">
                          <a:noFill/>
                          <a:miter/>
                        </a:ln>
                      </p:spPr>
                    </p:pic>
                  </p:oleObj>
                </mc:Fallback>
              </mc:AlternateContent>
            </a:graphicData>
          </a:graphic>
        </p:graphicFrame>
      </p:grpSp>
      <p:sp>
        <p:nvSpPr>
          <p:cNvPr id="10" name="Rectangle 7"/>
          <p:cNvSpPr/>
          <p:nvPr/>
        </p:nvSpPr>
        <p:spPr>
          <a:xfrm>
            <a:off x="501650" y="793547"/>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4</a:t>
            </a:r>
            <a:r>
              <a:rPr lang="zh-CN" altLang="en-US" sz="2600" dirty="0" smtClean="0">
                <a:solidFill>
                  <a:srgbClr val="FF0000"/>
                </a:solidFill>
                <a:latin typeface="黑体" panose="02010609060101010101" pitchFamily="1" charset="-122"/>
                <a:ea typeface="黑体" panose="02010609060101010101" pitchFamily="1" charset="-122"/>
              </a:rPr>
              <a:t>、基于多副本的数据库恢复技术</a:t>
            </a:r>
            <a:endParaRPr lang="en-US" altLang="x-none" sz="2600" dirty="0">
              <a:solidFill>
                <a:srgbClr val="3402C2"/>
              </a:solidFill>
              <a:latin typeface="黑体" panose="02010609060101010101" pitchFamily="1" charset="-122"/>
              <a:ea typeface="黑体" panose="02010609060101010101" pitchFamily="1" charset="-122"/>
            </a:endParaRPr>
          </a:p>
        </p:txBody>
      </p:sp>
      <p:pic>
        <p:nvPicPr>
          <p:cNvPr id="9235" name="Picture 19" descr="https://bkimg.cdn.bcebos.com/pic/77094b36acaf2edda3cc47b8ae5a16e93901213f3502?x-bce-process=image/watermark,image_d2F0ZXIvYmFpa2U5Mg==,g_7,xp_5,yp_5/format,f_aut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6505" y="2722802"/>
            <a:ext cx="4787900" cy="35803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35"/>
                                        </p:tgtEl>
                                        <p:attrNameLst>
                                          <p:attrName>style.visibility</p:attrName>
                                        </p:attrNameLst>
                                      </p:cBhvr>
                                      <p:to>
                                        <p:strVal val="visible"/>
                                      </p:to>
                                    </p:set>
                                    <p:anim calcmode="lin" valueType="num">
                                      <p:cBhvr additive="base">
                                        <p:cTn id="13" dur="500" fill="hold"/>
                                        <p:tgtEl>
                                          <p:spTgt spid="9235"/>
                                        </p:tgtEl>
                                        <p:attrNameLst>
                                          <p:attrName>ppt_x</p:attrName>
                                        </p:attrNameLst>
                                      </p:cBhvr>
                                      <p:tavLst>
                                        <p:tav tm="0">
                                          <p:val>
                                            <p:strVal val="#ppt_x"/>
                                          </p:val>
                                        </p:tav>
                                        <p:tav tm="100000">
                                          <p:val>
                                            <p:strVal val="#ppt_x"/>
                                          </p:val>
                                        </p:tav>
                                      </p:tavLst>
                                    </p:anim>
                                    <p:anim calcmode="lin" valueType="num">
                                      <p:cBhvr additive="base">
                                        <p:cTn id="14" dur="500" fill="hold"/>
                                        <p:tgtEl>
                                          <p:spTgt spid="92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6"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grpSp>
        <p:nvGrpSpPr>
          <p:cNvPr id="10" name="组合 9"/>
          <p:cNvGrpSpPr/>
          <p:nvPr/>
        </p:nvGrpSpPr>
        <p:grpSpPr>
          <a:xfrm>
            <a:off x="730885" y="934437"/>
            <a:ext cx="7902575" cy="3176270"/>
            <a:chOff x="1235" y="1489"/>
            <a:chExt cx="12445" cy="5002"/>
          </a:xfrm>
        </p:grpSpPr>
        <p:sp>
          <p:nvSpPr>
            <p:cNvPr id="69634" name="Text Box 4"/>
            <p:cNvSpPr txBox="1"/>
            <p:nvPr/>
          </p:nvSpPr>
          <p:spPr>
            <a:xfrm>
              <a:off x="1235" y="2390"/>
              <a:ext cx="6901" cy="1368"/>
            </a:xfrm>
            <a:prstGeom prst="rect">
              <a:avLst/>
            </a:prstGeom>
            <a:noFill/>
            <a:ln w="9525">
              <a:noFill/>
            </a:ln>
          </p:spPr>
          <p:txBody>
            <a:bodyPr wrap="square" anchor="t">
              <a:spAutoFit/>
            </a:bodyPr>
            <a:lstStyle/>
            <a:p>
              <a:pPr lvl="0" indent="0">
                <a:lnSpc>
                  <a:spcPct val="110000"/>
                </a:lnSpc>
                <a:spcBef>
                  <a:spcPts val="50"/>
                </a:spcBef>
                <a:spcAft>
                  <a:spcPts val="0"/>
                </a:spcAft>
              </a:pPr>
              <a:r>
                <a:rPr lang="zh-CN" altLang="en-US" sz="2400" dirty="0">
                  <a:solidFill>
                    <a:srgbClr val="3402C2"/>
                  </a:solidFill>
                  <a:latin typeface="宋体" panose="02010600030101010101" pitchFamily="2" charset="-122"/>
                  <a:ea typeface="宋体" panose="02010600030101010101" pitchFamily="2" charset="-122"/>
                  <a:sym typeface="Wingdings 2" panose="05020102010507070707" charset="0"/>
                </a:rPr>
                <a:t> </a:t>
              </a:r>
              <a:r>
                <a:rPr lang="zh-CN" altLang="en-US" sz="2400" u="sng" dirty="0">
                  <a:solidFill>
                    <a:srgbClr val="3402C2"/>
                  </a:solidFill>
                  <a:latin typeface="宋体" panose="02010600030101010101" pitchFamily="2" charset="-122"/>
                  <a:ea typeface="宋体" panose="02010600030101010101" pitchFamily="2" charset="-122"/>
                  <a:cs typeface="+mn-ea"/>
                </a:rPr>
                <a:t>双工磁盘：</a:t>
              </a:r>
              <a:r>
                <a:rPr lang="zh-CN" altLang="en-US" sz="2200" dirty="0">
                  <a:latin typeface="宋体" panose="02010600030101010101" pitchFamily="2" charset="-122"/>
                  <a:ea typeface="宋体" panose="02010600030101010101" pitchFamily="2" charset="-122"/>
                </a:rPr>
                <a:t>能屏蔽一个磁盘通道故障。</a:t>
              </a:r>
              <a:endParaRPr lang="zh-CN" altLang="en-US" sz="2200" dirty="0">
                <a:latin typeface="宋体" panose="02010600030101010101" pitchFamily="2" charset="-122"/>
                <a:ea typeface="宋体" panose="02010600030101010101" pitchFamily="2" charset="-122"/>
              </a:endParaRPr>
            </a:p>
          </p:txBody>
        </p:sp>
        <p:graphicFrame>
          <p:nvGraphicFramePr>
            <p:cNvPr id="70658" name="Object 2"/>
            <p:cNvGraphicFramePr>
              <a:graphicFrameLocks noGrp="1" noChangeAspect="1"/>
            </p:cNvGraphicFramePr>
            <p:nvPr/>
          </p:nvGraphicFramePr>
          <p:xfrm>
            <a:off x="7951" y="1489"/>
            <a:ext cx="5729" cy="5002"/>
          </p:xfrm>
          <a:graphic>
            <a:graphicData uri="http://schemas.openxmlformats.org/presentationml/2006/ole">
              <mc:AlternateContent xmlns:mc="http://schemas.openxmlformats.org/markup-compatibility/2006">
                <mc:Choice xmlns:v="urn:schemas-microsoft-com:vml" Requires="v">
                  <p:oleObj spid="_x0000_s10334" name="" r:id="rId1" imgW="2258695" imgH="2329815" progId="Word.Picture.8">
                    <p:embed/>
                  </p:oleObj>
                </mc:Choice>
                <mc:Fallback>
                  <p:oleObj name="" r:id="rId1" imgW="2258695" imgH="2329815" progId="Word.Picture.8">
                    <p:embed/>
                    <p:pic>
                      <p:nvPicPr>
                        <p:cNvPr id="0" name="图片 3083"/>
                        <p:cNvPicPr/>
                        <p:nvPr/>
                      </p:nvPicPr>
                      <p:blipFill>
                        <a:blip r:embed="rId2"/>
                        <a:stretch>
                          <a:fillRect/>
                        </a:stretch>
                      </p:blipFill>
                      <p:spPr>
                        <a:xfrm>
                          <a:off x="7951" y="1489"/>
                          <a:ext cx="5729" cy="5002"/>
                        </a:xfrm>
                        <a:prstGeom prst="rect">
                          <a:avLst/>
                        </a:prstGeom>
                        <a:noFill/>
                        <a:ln w="38100">
                          <a:noFill/>
                          <a:miter/>
                        </a:ln>
                      </p:spPr>
                    </p:pic>
                  </p:oleObj>
                </mc:Fallback>
              </mc:AlternateContent>
            </a:graphicData>
          </a:graphic>
        </p:graphicFrame>
      </p:grpSp>
      <p:grpSp>
        <p:nvGrpSpPr>
          <p:cNvPr id="9" name="组合 8"/>
          <p:cNvGrpSpPr/>
          <p:nvPr/>
        </p:nvGrpSpPr>
        <p:grpSpPr>
          <a:xfrm>
            <a:off x="730885" y="2803525"/>
            <a:ext cx="8056245" cy="2282825"/>
            <a:chOff x="1235" y="4522"/>
            <a:chExt cx="12687" cy="3595"/>
          </a:xfrm>
        </p:grpSpPr>
        <p:sp>
          <p:nvSpPr>
            <p:cNvPr id="3" name="Text Box 4"/>
            <p:cNvSpPr txBox="1"/>
            <p:nvPr/>
          </p:nvSpPr>
          <p:spPr>
            <a:xfrm>
              <a:off x="7691" y="5576"/>
              <a:ext cx="6231" cy="1368"/>
            </a:xfrm>
            <a:prstGeom prst="rect">
              <a:avLst/>
            </a:prstGeom>
            <a:noFill/>
            <a:ln w="9525">
              <a:noFill/>
            </a:ln>
          </p:spPr>
          <p:txBody>
            <a:bodyPr wrap="square" anchor="t">
              <a:spAutoFit/>
            </a:bodyPr>
            <a:lstStyle/>
            <a:p>
              <a:pPr lvl="0" indent="0">
                <a:lnSpc>
                  <a:spcPct val="110000"/>
                </a:lnSpc>
                <a:spcBef>
                  <a:spcPts val="50"/>
                </a:spcBef>
                <a:spcAft>
                  <a:spcPts val="0"/>
                </a:spcAft>
              </a:pPr>
              <a:r>
                <a:rPr lang="zh-CN" altLang="en-US" sz="2400" dirty="0">
                  <a:solidFill>
                    <a:srgbClr val="3402C2"/>
                  </a:solidFill>
                  <a:latin typeface="宋体" panose="02010600030101010101" pitchFamily="2" charset="-122"/>
                  <a:ea typeface="宋体" panose="02010600030101010101" pitchFamily="2" charset="-122"/>
                  <a:sym typeface="Wingdings 2" panose="05020102010507070707" charset="0"/>
                </a:rPr>
                <a:t></a:t>
              </a:r>
              <a:r>
                <a:rPr lang="zh-CN" altLang="en-US" sz="2400" dirty="0">
                  <a:solidFill>
                    <a:srgbClr val="3402C2"/>
                  </a:solidFill>
                  <a:latin typeface="宋体" panose="02010600030101010101" pitchFamily="2" charset="-122"/>
                  <a:ea typeface="宋体" panose="02010600030101010101" pitchFamily="2" charset="-122"/>
                  <a:cs typeface="+mn-ea"/>
                  <a:sym typeface="Wingdings 2" panose="05020102010507070707" charset="0"/>
                </a:rPr>
                <a:t> </a:t>
              </a:r>
              <a:r>
                <a:rPr lang="zh-CN" altLang="en-US" sz="2400" u="sng" dirty="0">
                  <a:solidFill>
                    <a:srgbClr val="3402C2"/>
                  </a:solidFill>
                  <a:latin typeface="宋体" panose="02010600030101010101" pitchFamily="2" charset="-122"/>
                  <a:ea typeface="宋体" panose="02010600030101010101" pitchFamily="2" charset="-122"/>
                  <a:cs typeface="+mn-ea"/>
                </a:rPr>
                <a:t>镜像服务器：</a:t>
              </a:r>
              <a:r>
                <a:rPr lang="zh-CN" altLang="en-US" sz="2200" dirty="0">
                  <a:latin typeface="宋体" panose="02010600030101010101" pitchFamily="2" charset="-122"/>
                  <a:ea typeface="宋体" panose="02010600030101010101" pitchFamily="2" charset="-122"/>
                </a:rPr>
                <a:t>可屏蔽一个服务器的故障崩溃。</a:t>
              </a:r>
              <a:endParaRPr lang="zh-CN" altLang="en-US" sz="2200" dirty="0">
                <a:latin typeface="宋体" panose="02010600030101010101" pitchFamily="2" charset="-122"/>
                <a:ea typeface="宋体" panose="02010600030101010101" pitchFamily="2" charset="-122"/>
              </a:endParaRPr>
            </a:p>
          </p:txBody>
        </p:sp>
        <p:graphicFrame>
          <p:nvGraphicFramePr>
            <p:cNvPr id="70659" name="Object 3"/>
            <p:cNvGraphicFramePr>
              <a:graphicFrameLocks noGrp="1" noChangeAspect="1"/>
            </p:cNvGraphicFramePr>
            <p:nvPr/>
          </p:nvGraphicFramePr>
          <p:xfrm>
            <a:off x="1235" y="4522"/>
            <a:ext cx="5969" cy="3595"/>
          </p:xfrm>
          <a:graphic>
            <a:graphicData uri="http://schemas.openxmlformats.org/presentationml/2006/ole">
              <mc:AlternateContent xmlns:mc="http://schemas.openxmlformats.org/markup-compatibility/2006">
                <mc:Choice xmlns:v="urn:schemas-microsoft-com:vml" Requires="v">
                  <p:oleObj spid="_x0000_s10335" name="" r:id="rId3" imgW="2829560" imgH="1645285" progId="Word.Picture.8">
                    <p:embed/>
                  </p:oleObj>
                </mc:Choice>
                <mc:Fallback>
                  <p:oleObj name="" r:id="rId3" imgW="2829560" imgH="1645285" progId="Word.Picture.8">
                    <p:embed/>
                    <p:pic>
                      <p:nvPicPr>
                        <p:cNvPr id="0" name="图片 3084"/>
                        <p:cNvPicPr/>
                        <p:nvPr/>
                      </p:nvPicPr>
                      <p:blipFill>
                        <a:blip r:embed="rId4"/>
                        <a:stretch>
                          <a:fillRect/>
                        </a:stretch>
                      </p:blipFill>
                      <p:spPr>
                        <a:xfrm>
                          <a:off x="1235" y="4522"/>
                          <a:ext cx="5969" cy="3595"/>
                        </a:xfrm>
                        <a:prstGeom prst="rect">
                          <a:avLst/>
                        </a:prstGeom>
                        <a:noFill/>
                        <a:ln w="38100">
                          <a:noFill/>
                          <a:miter/>
                        </a:ln>
                      </p:spPr>
                    </p:pic>
                  </p:oleObj>
                </mc:Fallback>
              </mc:AlternateContent>
            </a:graphicData>
          </a:graphic>
        </p:graphicFrame>
      </p:grpSp>
      <p:grpSp>
        <p:nvGrpSpPr>
          <p:cNvPr id="11" name="组合 10"/>
          <p:cNvGrpSpPr/>
          <p:nvPr/>
        </p:nvGrpSpPr>
        <p:grpSpPr>
          <a:xfrm>
            <a:off x="605155" y="4341495"/>
            <a:ext cx="8081010" cy="2458720"/>
            <a:chOff x="953" y="6837"/>
            <a:chExt cx="12726" cy="3872"/>
          </a:xfrm>
        </p:grpSpPr>
        <p:sp>
          <p:nvSpPr>
            <p:cNvPr id="4" name="Text Box 4"/>
            <p:cNvSpPr txBox="1"/>
            <p:nvPr/>
          </p:nvSpPr>
          <p:spPr>
            <a:xfrm>
              <a:off x="953" y="7663"/>
              <a:ext cx="5640" cy="1368"/>
            </a:xfrm>
            <a:prstGeom prst="rect">
              <a:avLst/>
            </a:prstGeom>
            <a:noFill/>
            <a:ln w="9525">
              <a:noFill/>
            </a:ln>
          </p:spPr>
          <p:txBody>
            <a:bodyPr wrap="square" anchor="t">
              <a:spAutoFit/>
            </a:bodyPr>
            <a:lstStyle/>
            <a:p>
              <a:pPr lvl="0" indent="0">
                <a:lnSpc>
                  <a:spcPct val="110000"/>
                </a:lnSpc>
                <a:spcBef>
                  <a:spcPts val="50"/>
                </a:spcBef>
                <a:spcAft>
                  <a:spcPts val="0"/>
                </a:spcAft>
              </a:pPr>
              <a:r>
                <a:rPr lang="zh-CN" altLang="en-US" sz="2400" dirty="0">
                  <a:solidFill>
                    <a:srgbClr val="3402C2"/>
                  </a:solidFill>
                  <a:latin typeface="宋体" panose="02010600030101010101" pitchFamily="2" charset="-122"/>
                  <a:ea typeface="宋体" panose="02010600030101010101" pitchFamily="2" charset="-122"/>
                  <a:sym typeface="Wingdings" panose="05000000000000000000" charset="0"/>
                </a:rPr>
                <a:t></a:t>
              </a:r>
              <a:r>
                <a:rPr lang="zh-CN" altLang="en-US" sz="2400" dirty="0">
                  <a:solidFill>
                    <a:srgbClr val="3402C2"/>
                  </a:solidFill>
                  <a:latin typeface="宋体" panose="02010600030101010101" pitchFamily="2" charset="-122"/>
                  <a:ea typeface="宋体" panose="02010600030101010101" pitchFamily="2" charset="-122"/>
                  <a:cs typeface="+mn-ea"/>
                  <a:sym typeface="Wingdings" panose="05000000000000000000" charset="0"/>
                </a:rPr>
                <a:t> </a:t>
              </a:r>
              <a:r>
                <a:rPr lang="zh-CN" altLang="en-US" sz="2400" u="sng" dirty="0">
                  <a:solidFill>
                    <a:srgbClr val="3402C2"/>
                  </a:solidFill>
                  <a:latin typeface="宋体" panose="02010600030101010101" pitchFamily="2" charset="-122"/>
                  <a:ea typeface="宋体" panose="02010600030101010101" pitchFamily="2" charset="-122"/>
                  <a:cs typeface="+mn-ea"/>
                </a:rPr>
                <a:t>群集系统：</a:t>
              </a:r>
              <a:r>
                <a:rPr lang="zh-CN" altLang="en-US" sz="2200" dirty="0">
                  <a:latin typeface="宋体" panose="02010600030101010101" pitchFamily="2" charset="-122"/>
                  <a:ea typeface="宋体" panose="02010600030101010101" pitchFamily="2" charset="-122"/>
                </a:rPr>
                <a:t>可屏蔽</a:t>
              </a:r>
              <a:r>
                <a:rPr lang="en-US" altLang="zh-CN" sz="2200" dirty="0">
                  <a:latin typeface="宋体" panose="02010600030101010101" pitchFamily="2" charset="-122"/>
                  <a:ea typeface="宋体" panose="02010600030101010101" pitchFamily="2" charset="-122"/>
                </a:rPr>
                <a:t>n-1</a:t>
              </a:r>
              <a:r>
                <a:rPr lang="zh-CN" altLang="en-US" sz="2200" dirty="0">
                  <a:latin typeface="宋体" panose="02010600030101010101" pitchFamily="2" charset="-122"/>
                  <a:ea typeface="宋体" panose="02010600030101010101" pitchFamily="2" charset="-122"/>
                </a:rPr>
                <a:t>个服务器的故障崩溃。</a:t>
              </a:r>
              <a:endParaRPr lang="zh-CN" altLang="en-US" sz="2200" dirty="0">
                <a:latin typeface="宋体" panose="02010600030101010101" pitchFamily="2" charset="-122"/>
                <a:ea typeface="宋体" panose="02010600030101010101" pitchFamily="2" charset="-122"/>
              </a:endParaRPr>
            </a:p>
          </p:txBody>
        </p:sp>
        <p:graphicFrame>
          <p:nvGraphicFramePr>
            <p:cNvPr id="70660" name="Object 4"/>
            <p:cNvGraphicFramePr>
              <a:graphicFrameLocks noGrp="1" noChangeAspect="1"/>
            </p:cNvGraphicFramePr>
            <p:nvPr/>
          </p:nvGraphicFramePr>
          <p:xfrm>
            <a:off x="6799" y="6837"/>
            <a:ext cx="6881" cy="3873"/>
          </p:xfrm>
          <a:graphic>
            <a:graphicData uri="http://schemas.openxmlformats.org/presentationml/2006/ole">
              <mc:AlternateContent xmlns:mc="http://schemas.openxmlformats.org/markup-compatibility/2006">
                <mc:Choice xmlns:v="urn:schemas-microsoft-com:vml" Requires="v">
                  <p:oleObj spid="_x0000_s10336" name="" r:id="rId5" imgW="3743960" imgH="1778635" progId="Word.Picture.8">
                    <p:embed/>
                  </p:oleObj>
                </mc:Choice>
                <mc:Fallback>
                  <p:oleObj name="" r:id="rId5" imgW="3743960" imgH="1778635" progId="Word.Picture.8">
                    <p:embed/>
                    <p:pic>
                      <p:nvPicPr>
                        <p:cNvPr id="0" name="图片 3085"/>
                        <p:cNvPicPr/>
                        <p:nvPr/>
                      </p:nvPicPr>
                      <p:blipFill>
                        <a:blip r:embed="rId6"/>
                        <a:stretch>
                          <a:fillRect/>
                        </a:stretch>
                      </p:blipFill>
                      <p:spPr>
                        <a:xfrm>
                          <a:off x="6799" y="6837"/>
                          <a:ext cx="6881" cy="3873"/>
                        </a:xfrm>
                        <a:prstGeom prst="rect">
                          <a:avLst/>
                        </a:prstGeom>
                        <a:noFill/>
                        <a:ln w="38100">
                          <a:noFill/>
                          <a:miter/>
                        </a:ln>
                      </p:spPr>
                    </p:pic>
                  </p:oleObj>
                </mc:Fallback>
              </mc:AlternateContent>
            </a:graphicData>
          </a:graphic>
        </p:graphicFrame>
      </p:grpSp>
      <p:sp>
        <p:nvSpPr>
          <p:cNvPr id="13" name="Rectangle 7"/>
          <p:cNvSpPr/>
          <p:nvPr/>
        </p:nvSpPr>
        <p:spPr>
          <a:xfrm>
            <a:off x="501650" y="793547"/>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4</a:t>
            </a:r>
            <a:r>
              <a:rPr lang="zh-CN" altLang="en-US" sz="2600" dirty="0" smtClean="0">
                <a:solidFill>
                  <a:srgbClr val="FF0000"/>
                </a:solidFill>
                <a:latin typeface="黑体" panose="02010609060101010101" pitchFamily="1" charset="-122"/>
                <a:ea typeface="黑体" panose="02010609060101010101" pitchFamily="1" charset="-122"/>
              </a:rPr>
              <a:t>、基于多副本的数据库恢复技术</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2" name="Rectangle 7"/>
          <p:cNvSpPr/>
          <p:nvPr/>
        </p:nvSpPr>
        <p:spPr>
          <a:xfrm>
            <a:off x="286385" y="1314450"/>
            <a:ext cx="5299075" cy="609600"/>
          </a:xfrm>
          <a:prstGeom prst="rect">
            <a:avLst/>
          </a:prstGeom>
          <a:noFill/>
          <a:ln w="9525">
            <a:noFill/>
          </a:ln>
        </p:spPr>
        <p:txBody>
          <a:bodyPr wrap="none" anchor="ctr"/>
          <a:lstStyle/>
          <a:p>
            <a:pPr lvl="0" indent="0" algn="ctr"/>
            <a:r>
              <a:rPr lang="zh-CN" altLang="en-US" sz="2600" dirty="0" smtClean="0">
                <a:solidFill>
                  <a:srgbClr val="3402C2"/>
                </a:solidFill>
                <a:latin typeface="黑体" panose="02010609060101010101" pitchFamily="1" charset="-122"/>
                <a:ea typeface="黑体" panose="02010609060101010101" pitchFamily="1" charset="-122"/>
                <a:cs typeface="+mn-ea"/>
                <a:sym typeface="Wingdings 2" panose="05020102010507070707" charset="0"/>
              </a:rPr>
              <a:t>（</a:t>
            </a:r>
            <a:r>
              <a:rPr lang="en-US" altLang="zh-CN" sz="2600" dirty="0" smtClean="0">
                <a:solidFill>
                  <a:srgbClr val="3402C2"/>
                </a:solidFill>
                <a:latin typeface="黑体" panose="02010609060101010101" pitchFamily="1" charset="-122"/>
                <a:ea typeface="黑体" panose="02010609060101010101" pitchFamily="1" charset="-122"/>
                <a:cs typeface="+mn-ea"/>
                <a:sym typeface="Wingdings 2" panose="05020102010507070707" charset="0"/>
              </a:rPr>
              <a:t>2</a:t>
            </a:r>
            <a:r>
              <a:rPr lang="zh-CN" altLang="en-US" sz="2600" dirty="0">
                <a:solidFill>
                  <a:srgbClr val="3402C2"/>
                </a:solidFill>
                <a:latin typeface="黑体" panose="02010609060101010101" pitchFamily="1" charset="-122"/>
                <a:ea typeface="黑体" panose="02010609060101010101" pitchFamily="1" charset="-122"/>
                <a:cs typeface="+mn-ea"/>
                <a:sym typeface="Wingdings 2" panose="05020102010507070707" charset="0"/>
              </a:rPr>
              <a:t>）数据库</a:t>
            </a:r>
            <a:r>
              <a:rPr lang="zh-CN" altLang="en-US" sz="2600" dirty="0">
                <a:solidFill>
                  <a:srgbClr val="3402C2"/>
                </a:solidFill>
                <a:latin typeface="黑体" panose="02010609060101010101" pitchFamily="1" charset="-122"/>
                <a:ea typeface="黑体" panose="02010609060101010101" pitchFamily="1" charset="-122"/>
                <a:sym typeface="Wingdings 2" panose="05020102010507070707" charset="0"/>
              </a:rPr>
              <a:t>级的多副本恢复技术</a:t>
            </a:r>
            <a:endParaRPr lang="zh-CN" altLang="en-US" sz="2600" dirty="0">
              <a:solidFill>
                <a:srgbClr val="3402C2"/>
              </a:solidFill>
              <a:latin typeface="黑体" panose="02010609060101010101" pitchFamily="1" charset="-122"/>
              <a:ea typeface="黑体" panose="02010609060101010101" pitchFamily="1" charset="-122"/>
              <a:sym typeface="Wingdings 2" panose="05020102010507070707" charset="0"/>
            </a:endParaRPr>
          </a:p>
        </p:txBody>
      </p:sp>
      <p:sp>
        <p:nvSpPr>
          <p:cNvPr id="3" name="文本框 2"/>
          <p:cNvSpPr txBox="1"/>
          <p:nvPr/>
        </p:nvSpPr>
        <p:spPr>
          <a:xfrm>
            <a:off x="689610" y="1980565"/>
            <a:ext cx="7942580" cy="445135"/>
          </a:xfrm>
          <a:prstGeom prst="rect">
            <a:avLst/>
          </a:prstGeom>
          <a:noFill/>
        </p:spPr>
        <p:txBody>
          <a:bodyPr wrap="square" rtlCol="0" anchor="t">
            <a:spAutoFit/>
          </a:bodyPr>
          <a:lstStyle/>
          <a:p>
            <a:r>
              <a:rPr lang="en-US" altLang="x-none" sz="2300" dirty="0">
                <a:solidFill>
                  <a:srgbClr val="CC3300"/>
                </a:solidFill>
                <a:latin typeface="宋体" panose="02010600030101010101" pitchFamily="2" charset="-122"/>
                <a:sym typeface="+mn-ea"/>
              </a:rPr>
              <a:t>    </a:t>
            </a:r>
            <a:r>
              <a:rPr lang="en-US" altLang="x-none" sz="2300" dirty="0">
                <a:solidFill>
                  <a:schemeClr val="tx1"/>
                </a:solidFill>
                <a:latin typeface="宋体" panose="02010600030101010101" pitchFamily="2" charset="-122"/>
                <a:sym typeface="+mn-ea"/>
              </a:rPr>
              <a:t>DBMS</a:t>
            </a:r>
            <a:r>
              <a:rPr lang="zh-CN" altLang="en-US" sz="2300" dirty="0">
                <a:solidFill>
                  <a:schemeClr val="tx1"/>
                </a:solidFill>
                <a:latin typeface="宋体" panose="02010600030101010101" pitchFamily="2" charset="-122"/>
                <a:sym typeface="+mn-ea"/>
              </a:rPr>
              <a:t>级的可靠性技术包括：</a:t>
            </a:r>
            <a:r>
              <a:rPr lang="zh-CN" altLang="en-US" sz="2300" u="sng" dirty="0">
                <a:solidFill>
                  <a:srgbClr val="3402C2"/>
                </a:solidFill>
                <a:latin typeface="华文楷体" panose="02010600040101010101" pitchFamily="2" charset="-122"/>
                <a:ea typeface="华文楷体" panose="02010600040101010101" pitchFamily="2" charset="-122"/>
                <a:sym typeface="+mn-ea"/>
              </a:rPr>
              <a:t>数据库复制</a:t>
            </a:r>
            <a:r>
              <a:rPr lang="zh-CN" altLang="en-US" sz="2300" dirty="0">
                <a:solidFill>
                  <a:schemeClr val="tx1"/>
                </a:solidFill>
                <a:latin typeface="华文楷体" panose="02010600040101010101" pitchFamily="2" charset="-122"/>
                <a:ea typeface="华文楷体" panose="02010600040101010101" pitchFamily="2" charset="-122"/>
                <a:sym typeface="+mn-ea"/>
              </a:rPr>
              <a:t>和</a:t>
            </a:r>
            <a:r>
              <a:rPr lang="zh-CN" altLang="en-US" sz="2300" u="sng" dirty="0">
                <a:solidFill>
                  <a:srgbClr val="3402C2"/>
                </a:solidFill>
                <a:latin typeface="华文楷体" panose="02010600040101010101" pitchFamily="2" charset="-122"/>
                <a:ea typeface="华文楷体" panose="02010600040101010101" pitchFamily="2" charset="-122"/>
                <a:cs typeface="+mn-ea"/>
                <a:sym typeface="+mn-ea"/>
              </a:rPr>
              <a:t>数据库镜像</a:t>
            </a:r>
            <a:r>
              <a:rPr lang="zh-CN" altLang="en-US" sz="2300" dirty="0">
                <a:latin typeface="华文楷体" panose="02010600040101010101" pitchFamily="2" charset="-122"/>
                <a:ea typeface="华文楷体" panose="02010600040101010101" pitchFamily="2" charset="-122"/>
                <a:sym typeface="+mn-ea"/>
              </a:rPr>
              <a:t>。</a:t>
            </a:r>
            <a:endParaRPr lang="zh-CN" altLang="en-US" sz="2300"/>
          </a:p>
        </p:txBody>
      </p:sp>
      <p:grpSp>
        <p:nvGrpSpPr>
          <p:cNvPr id="4" name="组合 3"/>
          <p:cNvGrpSpPr/>
          <p:nvPr/>
        </p:nvGrpSpPr>
        <p:grpSpPr>
          <a:xfrm>
            <a:off x="689610" y="2526030"/>
            <a:ext cx="8126095" cy="3240405"/>
            <a:chOff x="1086" y="4558"/>
            <a:chExt cx="12797" cy="5103"/>
          </a:xfrm>
        </p:grpSpPr>
        <p:sp>
          <p:nvSpPr>
            <p:cNvPr id="71684" name="Text Box 2"/>
            <p:cNvSpPr txBox="1"/>
            <p:nvPr/>
          </p:nvSpPr>
          <p:spPr>
            <a:xfrm>
              <a:off x="1086" y="4558"/>
              <a:ext cx="4921" cy="5103"/>
            </a:xfrm>
            <a:prstGeom prst="rect">
              <a:avLst/>
            </a:prstGeom>
            <a:noFill/>
            <a:ln w="9525">
              <a:noFill/>
            </a:ln>
          </p:spPr>
          <p:txBody>
            <a:bodyPr wrap="square" anchor="t">
              <a:spAutoFit/>
            </a:bodyPr>
            <a:lstStyle/>
            <a:p>
              <a:pPr lvl="0">
                <a:lnSpc>
                  <a:spcPct val="115000"/>
                </a:lnSpc>
                <a:spcBef>
                  <a:spcPts val="300"/>
                </a:spcBef>
                <a:spcAft>
                  <a:spcPts val="0"/>
                </a:spcAft>
                <a:buFont typeface="Wingdings" panose="05000000000000000000" pitchFamily="2" charset="2"/>
              </a:pPr>
              <a:r>
                <a:rPr lang="zh-CN" altLang="en-US" sz="2400" dirty="0">
                  <a:solidFill>
                    <a:srgbClr val="3402C2"/>
                  </a:solidFill>
                  <a:latin typeface="宋体" panose="02010600030101010101" pitchFamily="2" charset="-122"/>
                  <a:ea typeface="宋体" panose="02010600030101010101" pitchFamily="2" charset="-122"/>
                  <a:sym typeface="Wingdings 2" panose="05020102010507070707" charset="0"/>
                </a:rPr>
                <a:t></a:t>
              </a:r>
              <a:r>
                <a:rPr lang="zh-CN" altLang="en-US" sz="2400" dirty="0">
                  <a:solidFill>
                    <a:srgbClr val="3402C2"/>
                  </a:solidFill>
                  <a:latin typeface="宋体" panose="02010600030101010101" pitchFamily="2" charset="-122"/>
                  <a:ea typeface="宋体" panose="02010600030101010101" pitchFamily="2" charset="-122"/>
                  <a:cs typeface="+mn-ea"/>
                  <a:sym typeface="Wingdings 2" panose="05020102010507070707" charset="0"/>
                </a:rPr>
                <a:t> </a:t>
              </a:r>
              <a:r>
                <a:rPr lang="zh-CN" altLang="en-US" sz="2400" u="sng" dirty="0">
                  <a:solidFill>
                    <a:srgbClr val="3402C2"/>
                  </a:solidFill>
                  <a:latin typeface="宋体" panose="02010600030101010101" pitchFamily="2" charset="-122"/>
                  <a:ea typeface="宋体" panose="02010600030101010101" pitchFamily="2" charset="-122"/>
                  <a:cs typeface="+mn-ea"/>
                </a:rPr>
                <a:t>数据库复制技术：</a:t>
              </a:r>
              <a:r>
                <a:rPr lang="zh-CN" altLang="en-US" sz="2200" dirty="0">
                  <a:latin typeface="华文楷体" panose="02010600040101010101" pitchFamily="2" charset="-122"/>
                  <a:ea typeface="华文楷体" panose="02010600040101010101" pitchFamily="2" charset="-122"/>
                </a:rPr>
                <a:t>在多个场地保留多个数据库副本，各个场地的用户可以并发地存取不同的数据库副本。</a:t>
              </a:r>
              <a:r>
                <a:rPr lang="en-US" altLang="x-none" sz="2200" dirty="0">
                  <a:latin typeface="华文楷体" panose="02010600040101010101" pitchFamily="2" charset="-122"/>
                  <a:ea typeface="华文楷体" panose="02010600040101010101" pitchFamily="2" charset="-122"/>
                  <a:sym typeface="+mn-ea"/>
                </a:rPr>
                <a:t>DBMS</a:t>
              </a:r>
              <a:r>
                <a:rPr lang="zh-CN" altLang="en-US" sz="2200" dirty="0">
                  <a:latin typeface="华文楷体" panose="02010600040101010101" pitchFamily="2" charset="-122"/>
                  <a:ea typeface="华文楷体" panose="02010600040101010101" pitchFamily="2" charset="-122"/>
                  <a:sym typeface="+mn-ea"/>
                </a:rPr>
                <a:t>须采取一定手段对</a:t>
              </a:r>
              <a:r>
                <a:rPr lang="en-US" altLang="x-none" sz="2200" dirty="0">
                  <a:latin typeface="华文楷体" panose="02010600040101010101" pitchFamily="2" charset="-122"/>
                  <a:ea typeface="华文楷体" panose="02010600040101010101" pitchFamily="2" charset="-122"/>
                  <a:sym typeface="+mn-ea"/>
                </a:rPr>
                <a:t>DB</a:t>
              </a:r>
              <a:r>
                <a:rPr lang="zh-CN" altLang="en-US" sz="2200" dirty="0">
                  <a:latin typeface="华文楷体" panose="02010600040101010101" pitchFamily="2" charset="-122"/>
                  <a:ea typeface="华文楷体" panose="02010600040101010101" pitchFamily="2" charset="-122"/>
                  <a:sym typeface="+mn-ea"/>
                </a:rPr>
                <a:t>的修改能及时反映到所有副本上。</a:t>
              </a:r>
              <a:endParaRPr lang="zh-CN" altLang="en-US" sz="2200" dirty="0">
                <a:latin typeface="华文楷体" panose="02010600040101010101" pitchFamily="2" charset="-122"/>
                <a:ea typeface="华文楷体" panose="02010600040101010101" pitchFamily="2" charset="-122"/>
              </a:endParaRPr>
            </a:p>
          </p:txBody>
        </p:sp>
        <p:graphicFrame>
          <p:nvGraphicFramePr>
            <p:cNvPr id="73733" name="Object 2"/>
            <p:cNvGraphicFramePr>
              <a:graphicFrameLocks noChangeAspect="1"/>
            </p:cNvGraphicFramePr>
            <p:nvPr/>
          </p:nvGraphicFramePr>
          <p:xfrm>
            <a:off x="6018" y="5030"/>
            <a:ext cx="7865" cy="4527"/>
          </p:xfrm>
          <a:graphic>
            <a:graphicData uri="http://schemas.openxmlformats.org/presentationml/2006/ole">
              <mc:AlternateContent xmlns:mc="http://schemas.openxmlformats.org/markup-compatibility/2006">
                <mc:Choice xmlns:v="urn:schemas-microsoft-com:vml" Requires="v">
                  <p:oleObj spid="_x0000_s11296" name="" r:id="rId1" imgW="3422015" imgH="1783080" progId="Word.Picture.8">
                    <p:embed/>
                  </p:oleObj>
                </mc:Choice>
                <mc:Fallback>
                  <p:oleObj name="" r:id="rId1" imgW="3422015" imgH="1783080" progId="Word.Picture.8">
                    <p:embed/>
                    <p:pic>
                      <p:nvPicPr>
                        <p:cNvPr id="0" name="图片 3087"/>
                        <p:cNvPicPr/>
                        <p:nvPr/>
                      </p:nvPicPr>
                      <p:blipFill>
                        <a:blip r:embed="rId2"/>
                        <a:stretch>
                          <a:fillRect/>
                        </a:stretch>
                      </p:blipFill>
                      <p:spPr>
                        <a:xfrm>
                          <a:off x="6018" y="5030"/>
                          <a:ext cx="7865" cy="4527"/>
                        </a:xfrm>
                        <a:prstGeom prst="rect">
                          <a:avLst/>
                        </a:prstGeom>
                        <a:noFill/>
                        <a:ln w="38100">
                          <a:noFill/>
                          <a:miter/>
                        </a:ln>
                      </p:spPr>
                    </p:pic>
                  </p:oleObj>
                </mc:Fallback>
              </mc:AlternateContent>
            </a:graphicData>
          </a:graphic>
        </p:graphicFrame>
      </p:grpSp>
      <p:sp>
        <p:nvSpPr>
          <p:cNvPr id="9" name="Rectangle 7"/>
          <p:cNvSpPr/>
          <p:nvPr/>
        </p:nvSpPr>
        <p:spPr>
          <a:xfrm>
            <a:off x="501650" y="793547"/>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4</a:t>
            </a:r>
            <a:r>
              <a:rPr lang="zh-CN" altLang="en-US" sz="2600" dirty="0" smtClean="0">
                <a:solidFill>
                  <a:srgbClr val="FF0000"/>
                </a:solidFill>
                <a:latin typeface="黑体" panose="02010609060101010101" pitchFamily="1" charset="-122"/>
                <a:ea typeface="黑体" panose="02010609060101010101" pitchFamily="1" charset="-122"/>
              </a:rPr>
              <a:t>、基于多副本的数据库恢复技术</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6"/>
          <p:cNvSpPr/>
          <p:nvPr/>
        </p:nvSpPr>
        <p:spPr>
          <a:xfrm>
            <a:off x="519430" y="1298258"/>
            <a:ext cx="8239125" cy="971550"/>
          </a:xfrm>
          <a:prstGeom prst="rect">
            <a:avLst/>
          </a:prstGeom>
          <a:noFill/>
          <a:ln w="9525">
            <a:noFill/>
          </a:ln>
          <a:effectLst>
            <a:prstShdw prst="shdw17" dist="17961" dir="2699999">
              <a:srgbClr val="708688"/>
            </a:prstShdw>
          </a:effectLst>
        </p:spPr>
        <p:txBody>
          <a:bodyPr anchor="ctr"/>
          <a:lstStyle/>
          <a:p>
            <a:pPr lvl="0" indent="0">
              <a:lnSpc>
                <a:spcPct val="120000"/>
              </a:lnSpc>
              <a:spcBef>
                <a:spcPts val="0"/>
              </a:spcBef>
              <a:spcAft>
                <a:spcPts val="0"/>
              </a:spcAft>
            </a:pPr>
            <a:r>
              <a:rPr lang="zh-CN" altLang="en-US" sz="2000" dirty="0">
                <a:latin typeface="Arial" panose="020B0604020202020204" pitchFamily="34" charset="0"/>
                <a:ea typeface="宋体" panose="02010600030101010101" pitchFamily="2" charset="-122"/>
              </a:rPr>
              <a:t>       例：如</a:t>
            </a:r>
            <a:r>
              <a:rPr lang="en-US" altLang="x-none" sz="2000" dirty="0">
                <a:latin typeface="Arial" panose="020B0604020202020204" pitchFamily="34" charset="0"/>
                <a:ea typeface="宋体" panose="02010600030101010101" pitchFamily="2" charset="-122"/>
              </a:rPr>
              <a:t>SQL Server</a:t>
            </a:r>
            <a:r>
              <a:rPr lang="zh-CN" altLang="en-US" sz="2000" dirty="0">
                <a:latin typeface="Arial" panose="020B0604020202020204" pitchFamily="34" charset="0"/>
                <a:ea typeface="宋体" panose="02010600030101010101" pitchFamily="2" charset="-122"/>
              </a:rPr>
              <a:t>通过将主服务器上备份出来的</a:t>
            </a:r>
            <a:r>
              <a:rPr lang="en-US" altLang="x-none" sz="2000" dirty="0">
                <a:latin typeface="Arial" panose="020B0604020202020204" pitchFamily="34" charset="0"/>
                <a:ea typeface="宋体" panose="02010600030101010101" pitchFamily="2" charset="-122"/>
              </a:rPr>
              <a:t>transaction log </a:t>
            </a:r>
            <a:r>
              <a:rPr lang="zh-CN" altLang="en-US" sz="2000" dirty="0">
                <a:latin typeface="Arial" panose="020B0604020202020204" pitchFamily="34" charset="0"/>
                <a:ea typeface="宋体" panose="02010600030101010101" pitchFamily="2" charset="-122"/>
              </a:rPr>
              <a:t>传送到辅助服务器上并进行恢复，实现主从库的同步 。</a:t>
            </a:r>
            <a:endParaRPr lang="zh-CN" altLang="en-US" sz="2000" dirty="0">
              <a:latin typeface="Arial" panose="020B0604020202020204" pitchFamily="34" charset="0"/>
              <a:ea typeface="宋体" panose="02010600030101010101" pitchFamily="2" charset="-122"/>
            </a:endParaRPr>
          </a:p>
        </p:txBody>
      </p:sp>
      <p:pic>
        <p:nvPicPr>
          <p:cNvPr id="43012" name="Picture 8"/>
          <p:cNvPicPr>
            <a:picLocks noChangeAspect="1"/>
          </p:cNvPicPr>
          <p:nvPr/>
        </p:nvPicPr>
        <p:blipFill>
          <a:blip r:embed="rId1"/>
          <a:stretch>
            <a:fillRect/>
          </a:stretch>
        </p:blipFill>
        <p:spPr>
          <a:xfrm>
            <a:off x="519113" y="2351405"/>
            <a:ext cx="6502400" cy="2789238"/>
          </a:xfrm>
          <a:prstGeom prst="rect">
            <a:avLst/>
          </a:prstGeom>
          <a:noFill/>
          <a:ln w="9525">
            <a:noFill/>
          </a:ln>
          <a:effectLst>
            <a:prstShdw prst="shdw17" dist="17961" dir="2699999">
              <a:srgbClr val="708688"/>
            </a:prstShdw>
          </a:effectLst>
        </p:spPr>
      </p:pic>
      <p:pic>
        <p:nvPicPr>
          <p:cNvPr id="43013" name="Picture 9"/>
          <p:cNvPicPr>
            <a:picLocks noChangeAspect="1"/>
          </p:cNvPicPr>
          <p:nvPr/>
        </p:nvPicPr>
        <p:blipFill>
          <a:blip r:embed="rId2"/>
          <a:stretch>
            <a:fillRect/>
          </a:stretch>
        </p:blipFill>
        <p:spPr>
          <a:xfrm>
            <a:off x="3841750" y="2942908"/>
            <a:ext cx="4470400" cy="231775"/>
          </a:xfrm>
          <a:prstGeom prst="rect">
            <a:avLst/>
          </a:prstGeom>
          <a:noFill/>
          <a:ln w="9525">
            <a:noFill/>
          </a:ln>
          <a:effectLst>
            <a:prstShdw prst="shdw17" dist="17961" dir="2699999">
              <a:srgbClr val="708688"/>
            </a:prstShdw>
          </a:effectLst>
        </p:spPr>
      </p:pic>
      <p:pic>
        <p:nvPicPr>
          <p:cNvPr id="43014" name="Picture 10"/>
          <p:cNvPicPr>
            <a:picLocks noChangeAspect="1"/>
          </p:cNvPicPr>
          <p:nvPr/>
        </p:nvPicPr>
        <p:blipFill>
          <a:blip r:embed="rId3"/>
          <a:stretch>
            <a:fillRect/>
          </a:stretch>
        </p:blipFill>
        <p:spPr>
          <a:xfrm>
            <a:off x="3841433" y="3174683"/>
            <a:ext cx="4557712" cy="3041650"/>
          </a:xfrm>
          <a:prstGeom prst="rect">
            <a:avLst/>
          </a:prstGeom>
          <a:noFill/>
          <a:ln w="9525">
            <a:noFill/>
          </a:ln>
          <a:effectLst>
            <a:prstShdw prst="shdw17" dist="17961" dir="2699999">
              <a:srgbClr val="708688"/>
            </a:prstShdw>
          </a:effectLst>
        </p:spPr>
      </p:pic>
      <p:sp>
        <p:nvSpPr>
          <p:cNvPr id="8"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2" name="矩形 1"/>
          <p:cNvSpPr/>
          <p:nvPr/>
        </p:nvSpPr>
        <p:spPr>
          <a:xfrm>
            <a:off x="5486399" y="890251"/>
            <a:ext cx="3394953" cy="461665"/>
          </a:xfrm>
          <a:prstGeom prst="rect">
            <a:avLst/>
          </a:prstGeom>
        </p:spPr>
        <p:txBody>
          <a:bodyPr wrap="square">
            <a:spAutoFit/>
          </a:bodyPr>
          <a:lstStyle/>
          <a:p>
            <a:pPr marL="342900" indent="-342900">
              <a:buFont typeface="Wingdings" panose="05000000000000000000" pitchFamily="2" charset="2"/>
              <a:buChar char="p"/>
            </a:pPr>
            <a:r>
              <a:rPr lang="zh-CN" altLang="en-US" sz="2400" dirty="0" smtClean="0">
                <a:solidFill>
                  <a:srgbClr val="3402C2"/>
                </a:solidFill>
                <a:latin typeface="黑体" panose="02010609060101010101" pitchFamily="1" charset="-122"/>
                <a:ea typeface="黑体" panose="02010609060101010101" pitchFamily="1" charset="-122"/>
                <a:cs typeface="+mn-ea"/>
                <a:sym typeface="Wingdings 2" panose="05020102010507070707" charset="0"/>
              </a:rPr>
              <a:t>数据库</a:t>
            </a:r>
            <a:r>
              <a:rPr lang="zh-CN" altLang="en-US" sz="2400" dirty="0" smtClean="0">
                <a:solidFill>
                  <a:srgbClr val="3402C2"/>
                </a:solidFill>
                <a:latin typeface="黑体" panose="02010609060101010101" pitchFamily="1" charset="-122"/>
                <a:ea typeface="黑体" panose="02010609060101010101" pitchFamily="1" charset="-122"/>
                <a:sym typeface="Wingdings 2" panose="05020102010507070707" charset="0"/>
              </a:rPr>
              <a:t>主从复制技术</a:t>
            </a:r>
            <a:endParaRPr lang="zh-CN" altLang="en-US" sz="2400" dirty="0"/>
          </a:p>
        </p:txBody>
      </p:sp>
      <p:sp>
        <p:nvSpPr>
          <p:cNvPr id="11" name="Rectangle 7"/>
          <p:cNvSpPr/>
          <p:nvPr/>
        </p:nvSpPr>
        <p:spPr>
          <a:xfrm>
            <a:off x="501650" y="793547"/>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4</a:t>
            </a:r>
            <a:r>
              <a:rPr lang="zh-CN" altLang="en-US" sz="2600" dirty="0" smtClean="0">
                <a:solidFill>
                  <a:srgbClr val="FF0000"/>
                </a:solidFill>
                <a:latin typeface="黑体" panose="02010609060101010101" pitchFamily="1" charset="-122"/>
                <a:ea typeface="黑体" panose="02010609060101010101" pitchFamily="1" charset="-122"/>
              </a:rPr>
              <a:t>、基于多副本的数据库恢复技术</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3" name="Picture 2"/>
          <p:cNvPicPr>
            <a:picLocks noChangeAspect="1"/>
          </p:cNvPicPr>
          <p:nvPr/>
        </p:nvPicPr>
        <p:blipFill>
          <a:blip r:embed="rId1"/>
          <a:stretch>
            <a:fillRect/>
          </a:stretch>
        </p:blipFill>
        <p:spPr>
          <a:xfrm>
            <a:off x="570230" y="1452880"/>
            <a:ext cx="4826000" cy="211138"/>
          </a:xfrm>
          <a:prstGeom prst="rect">
            <a:avLst/>
          </a:prstGeom>
          <a:noFill/>
          <a:ln w="9525">
            <a:noFill/>
          </a:ln>
          <a:effectLst>
            <a:prstShdw prst="shdw17" dist="17961" dir="2699999">
              <a:srgbClr val="708688"/>
            </a:prstShdw>
          </a:effectLst>
        </p:spPr>
      </p:pic>
      <p:pic>
        <p:nvPicPr>
          <p:cNvPr id="44034" name="Picture 3"/>
          <p:cNvPicPr>
            <a:picLocks noChangeAspect="1"/>
          </p:cNvPicPr>
          <p:nvPr/>
        </p:nvPicPr>
        <p:blipFill>
          <a:blip r:embed="rId2"/>
          <a:stretch>
            <a:fillRect/>
          </a:stretch>
        </p:blipFill>
        <p:spPr>
          <a:xfrm>
            <a:off x="584200" y="1836738"/>
            <a:ext cx="5486400" cy="4419600"/>
          </a:xfrm>
          <a:prstGeom prst="rect">
            <a:avLst/>
          </a:prstGeom>
          <a:noFill/>
          <a:ln w="9525">
            <a:noFill/>
          </a:ln>
          <a:effectLst>
            <a:prstShdw prst="shdw17" dist="17961" dir="2699999">
              <a:srgbClr val="708688"/>
            </a:prstShdw>
          </a:effectLst>
        </p:spPr>
      </p:pic>
      <p:grpSp>
        <p:nvGrpSpPr>
          <p:cNvPr id="44036" name="组合 10"/>
          <p:cNvGrpSpPr>
            <a:grpSpLocks noChangeAspect="1"/>
          </p:cNvGrpSpPr>
          <p:nvPr/>
        </p:nvGrpSpPr>
        <p:grpSpPr>
          <a:xfrm>
            <a:off x="3876675" y="2143125"/>
            <a:ext cx="5064125" cy="4306888"/>
            <a:chOff x="0" y="0"/>
            <a:chExt cx="5063444" cy="4306400"/>
          </a:xfrm>
        </p:grpSpPr>
        <p:pic>
          <p:nvPicPr>
            <p:cNvPr id="2" name="Picture 5"/>
            <p:cNvPicPr>
              <a:picLocks noChangeAspect="1"/>
            </p:cNvPicPr>
            <p:nvPr/>
          </p:nvPicPr>
          <p:blipFill>
            <a:blip r:embed="rId3"/>
            <a:stretch>
              <a:fillRect/>
            </a:stretch>
          </p:blipFill>
          <p:spPr>
            <a:xfrm>
              <a:off x="1588" y="301591"/>
              <a:ext cx="5061856" cy="4004809"/>
            </a:xfrm>
            <a:prstGeom prst="rect">
              <a:avLst/>
            </a:prstGeom>
            <a:noFill/>
            <a:ln w="9525">
              <a:noFill/>
            </a:ln>
            <a:effectLst>
              <a:prstShdw prst="shdw17" dist="17961" dir="2699999">
                <a:srgbClr val="708688"/>
              </a:prstShdw>
            </a:effectLst>
          </p:spPr>
        </p:pic>
        <p:pic>
          <p:nvPicPr>
            <p:cNvPr id="44037" name="Picture 4"/>
            <p:cNvPicPr>
              <a:picLocks noChangeAspect="1"/>
            </p:cNvPicPr>
            <p:nvPr/>
          </p:nvPicPr>
          <p:blipFill>
            <a:blip r:embed="rId4"/>
            <a:stretch>
              <a:fillRect/>
            </a:stretch>
          </p:blipFill>
          <p:spPr>
            <a:xfrm>
              <a:off x="0" y="0"/>
              <a:ext cx="5028524" cy="207939"/>
            </a:xfrm>
            <a:prstGeom prst="rect">
              <a:avLst/>
            </a:prstGeom>
            <a:noFill/>
            <a:ln w="9525">
              <a:noFill/>
            </a:ln>
            <a:effectLst>
              <a:prstShdw prst="shdw17" dist="17961" dir="2699999">
                <a:srgbClr val="708688"/>
              </a:prstShdw>
            </a:effectLst>
          </p:spPr>
        </p:pic>
      </p:grpSp>
      <p:grpSp>
        <p:nvGrpSpPr>
          <p:cNvPr id="44039" name="组合 13"/>
          <p:cNvGrpSpPr>
            <a:grpSpLocks noChangeAspect="1"/>
          </p:cNvGrpSpPr>
          <p:nvPr/>
        </p:nvGrpSpPr>
        <p:grpSpPr>
          <a:xfrm>
            <a:off x="512763" y="1589088"/>
            <a:ext cx="5727700" cy="4667250"/>
            <a:chOff x="0" y="0"/>
            <a:chExt cx="5727927" cy="4668610"/>
          </a:xfrm>
        </p:grpSpPr>
        <p:pic>
          <p:nvPicPr>
            <p:cNvPr id="3" name="Picture 6"/>
            <p:cNvPicPr>
              <a:picLocks noChangeAspect="1"/>
            </p:cNvPicPr>
            <p:nvPr/>
          </p:nvPicPr>
          <p:blipFill>
            <a:blip r:embed="rId5"/>
            <a:stretch>
              <a:fillRect/>
            </a:stretch>
          </p:blipFill>
          <p:spPr>
            <a:xfrm>
              <a:off x="0" y="0"/>
              <a:ext cx="5727927" cy="200083"/>
            </a:xfrm>
            <a:prstGeom prst="rect">
              <a:avLst/>
            </a:prstGeom>
            <a:noFill/>
            <a:ln w="9525">
              <a:noFill/>
            </a:ln>
            <a:effectLst>
              <a:prstShdw prst="shdw17" dist="17961" dir="2699999">
                <a:srgbClr val="708688"/>
              </a:prstShdw>
            </a:effectLst>
          </p:spPr>
        </p:pic>
        <p:pic>
          <p:nvPicPr>
            <p:cNvPr id="44040" name="Picture 7"/>
            <p:cNvPicPr>
              <a:picLocks noChangeAspect="1"/>
            </p:cNvPicPr>
            <p:nvPr/>
          </p:nvPicPr>
          <p:blipFill>
            <a:blip r:embed="rId6"/>
            <a:stretch>
              <a:fillRect/>
            </a:stretch>
          </p:blipFill>
          <p:spPr>
            <a:xfrm>
              <a:off x="57152" y="262013"/>
              <a:ext cx="5485029" cy="4406597"/>
            </a:xfrm>
            <a:prstGeom prst="rect">
              <a:avLst/>
            </a:prstGeom>
            <a:noFill/>
            <a:ln w="9525">
              <a:noFill/>
            </a:ln>
            <a:effectLst>
              <a:prstShdw prst="shdw17" dist="17961" dir="2699999">
                <a:srgbClr val="708688"/>
              </a:prstShdw>
            </a:effectLst>
          </p:spPr>
        </p:pic>
      </p:grpSp>
      <p:sp>
        <p:nvSpPr>
          <p:cNvPr id="13"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15" name="矩形 14"/>
          <p:cNvSpPr/>
          <p:nvPr/>
        </p:nvSpPr>
        <p:spPr>
          <a:xfrm>
            <a:off x="5632314" y="889447"/>
            <a:ext cx="3394953" cy="461665"/>
          </a:xfrm>
          <a:prstGeom prst="rect">
            <a:avLst/>
          </a:prstGeom>
        </p:spPr>
        <p:txBody>
          <a:bodyPr wrap="square">
            <a:spAutoFit/>
          </a:bodyPr>
          <a:lstStyle/>
          <a:p>
            <a:pPr marL="342900" indent="-342900">
              <a:buFont typeface="Wingdings" panose="05000000000000000000" pitchFamily="2" charset="2"/>
              <a:buChar char="p"/>
            </a:pPr>
            <a:r>
              <a:rPr lang="zh-CN" altLang="en-US" sz="2400" dirty="0" smtClean="0">
                <a:solidFill>
                  <a:srgbClr val="3402C2"/>
                </a:solidFill>
                <a:latin typeface="黑体" panose="02010609060101010101" pitchFamily="1" charset="-122"/>
                <a:ea typeface="黑体" panose="02010609060101010101" pitchFamily="1" charset="-122"/>
                <a:cs typeface="+mn-ea"/>
                <a:sym typeface="Wingdings 2" panose="05020102010507070707" charset="0"/>
              </a:rPr>
              <a:t>数据库</a:t>
            </a:r>
            <a:r>
              <a:rPr lang="zh-CN" altLang="en-US" sz="2400" dirty="0" smtClean="0">
                <a:solidFill>
                  <a:srgbClr val="3402C2"/>
                </a:solidFill>
                <a:latin typeface="黑体" panose="02010609060101010101" pitchFamily="1" charset="-122"/>
                <a:ea typeface="黑体" panose="02010609060101010101" pitchFamily="1" charset="-122"/>
                <a:sym typeface="Wingdings 2" panose="05020102010507070707" charset="0"/>
              </a:rPr>
              <a:t>主从复制技术</a:t>
            </a:r>
            <a:endParaRPr lang="zh-CN" altLang="en-US" sz="2400" dirty="0"/>
          </a:p>
        </p:txBody>
      </p:sp>
      <p:sp>
        <p:nvSpPr>
          <p:cNvPr id="16" name="Rectangle 7"/>
          <p:cNvSpPr/>
          <p:nvPr/>
        </p:nvSpPr>
        <p:spPr>
          <a:xfrm>
            <a:off x="501650" y="793547"/>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4</a:t>
            </a:r>
            <a:r>
              <a:rPr lang="zh-CN" altLang="en-US" sz="2600" dirty="0" smtClean="0">
                <a:solidFill>
                  <a:srgbClr val="FF0000"/>
                </a:solidFill>
                <a:latin typeface="黑体" panose="02010609060101010101" pitchFamily="1" charset="-122"/>
                <a:ea typeface="黑体" panose="02010609060101010101" pitchFamily="1" charset="-122"/>
              </a:rPr>
              <a:t>、基于多副本的数据库恢复技术</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036"/>
                                        </p:tgtEl>
                                        <p:attrNameLst>
                                          <p:attrName>style.visibility</p:attrName>
                                        </p:attrNameLst>
                                      </p:cBhvr>
                                      <p:to>
                                        <p:strVal val="visible"/>
                                      </p:to>
                                    </p:set>
                                    <p:anim calcmode="lin" valueType="num">
                                      <p:cBhvr additive="base">
                                        <p:cTn id="7" dur="500" fill="hold"/>
                                        <p:tgtEl>
                                          <p:spTgt spid="44036"/>
                                        </p:tgtEl>
                                        <p:attrNameLst>
                                          <p:attrName>ppt_x</p:attrName>
                                        </p:attrNameLst>
                                      </p:cBhvr>
                                      <p:tavLst>
                                        <p:tav tm="0">
                                          <p:val>
                                            <p:strVal val="#ppt_x"/>
                                          </p:val>
                                        </p:tav>
                                        <p:tav tm="100000">
                                          <p:val>
                                            <p:strVal val="#ppt_x"/>
                                          </p:val>
                                        </p:tav>
                                      </p:tavLst>
                                    </p:anim>
                                    <p:anim calcmode="lin" valueType="num">
                                      <p:cBhvr additive="base">
                                        <p:cTn id="8" dur="500" fill="hold"/>
                                        <p:tgtEl>
                                          <p:spTgt spid="440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4039"/>
                                        </p:tgtEl>
                                        <p:attrNameLst>
                                          <p:attrName>style.visibility</p:attrName>
                                        </p:attrNameLst>
                                      </p:cBhvr>
                                      <p:to>
                                        <p:strVal val="visible"/>
                                      </p:to>
                                    </p:set>
                                    <p:anim calcmode="lin" valueType="num">
                                      <p:cBhvr additive="base">
                                        <p:cTn id="13" dur="500" fill="hold"/>
                                        <p:tgtEl>
                                          <p:spTgt spid="44039"/>
                                        </p:tgtEl>
                                        <p:attrNameLst>
                                          <p:attrName>ppt_x</p:attrName>
                                        </p:attrNameLst>
                                      </p:cBhvr>
                                      <p:tavLst>
                                        <p:tav tm="0">
                                          <p:val>
                                            <p:strVal val="#ppt_x"/>
                                          </p:val>
                                        </p:tav>
                                        <p:tav tm="100000">
                                          <p:val>
                                            <p:strVal val="#ppt_x"/>
                                          </p:val>
                                        </p:tav>
                                      </p:tavLst>
                                    </p:anim>
                                    <p:anim calcmode="lin" valueType="num">
                                      <p:cBhvr additive="base">
                                        <p:cTn id="14" dur="500" fill="hold"/>
                                        <p:tgtEl>
                                          <p:spTgt spid="440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7" name="Picture 2"/>
          <p:cNvPicPr>
            <a:picLocks noChangeAspect="1"/>
          </p:cNvPicPr>
          <p:nvPr/>
        </p:nvPicPr>
        <p:blipFill>
          <a:blip r:embed="rId1"/>
          <a:stretch>
            <a:fillRect/>
          </a:stretch>
        </p:blipFill>
        <p:spPr>
          <a:xfrm>
            <a:off x="687388" y="1509713"/>
            <a:ext cx="5989637" cy="196850"/>
          </a:xfrm>
          <a:prstGeom prst="rect">
            <a:avLst/>
          </a:prstGeom>
          <a:noFill/>
          <a:ln w="9525">
            <a:noFill/>
          </a:ln>
          <a:effectLst>
            <a:prstShdw prst="shdw17" dist="17961" dir="2699999">
              <a:srgbClr val="708688"/>
            </a:prstShdw>
          </a:effectLst>
        </p:spPr>
      </p:pic>
      <p:pic>
        <p:nvPicPr>
          <p:cNvPr id="45058" name="Picture 4"/>
          <p:cNvPicPr>
            <a:picLocks noChangeAspect="1"/>
          </p:cNvPicPr>
          <p:nvPr/>
        </p:nvPicPr>
        <p:blipFill>
          <a:blip r:embed="rId2"/>
          <a:stretch>
            <a:fillRect/>
          </a:stretch>
        </p:blipFill>
        <p:spPr>
          <a:xfrm>
            <a:off x="685800" y="1778000"/>
            <a:ext cx="5565775" cy="4478338"/>
          </a:xfrm>
          <a:prstGeom prst="rect">
            <a:avLst/>
          </a:prstGeom>
          <a:noFill/>
          <a:ln w="9525">
            <a:noFill/>
          </a:ln>
          <a:effectLst>
            <a:prstShdw prst="shdw17" dist="17961" dir="2699999">
              <a:srgbClr val="708688"/>
            </a:prstShdw>
          </a:effectLst>
        </p:spPr>
      </p:pic>
      <p:grpSp>
        <p:nvGrpSpPr>
          <p:cNvPr id="45060" name="组合 11"/>
          <p:cNvGrpSpPr>
            <a:grpSpLocks noChangeAspect="1"/>
          </p:cNvGrpSpPr>
          <p:nvPr/>
        </p:nvGrpSpPr>
        <p:grpSpPr>
          <a:xfrm>
            <a:off x="2616200" y="2225675"/>
            <a:ext cx="6296025" cy="3740150"/>
            <a:chOff x="0" y="0"/>
            <a:chExt cx="6295119" cy="3739696"/>
          </a:xfrm>
        </p:grpSpPr>
        <p:pic>
          <p:nvPicPr>
            <p:cNvPr id="2" name="Picture 5"/>
            <p:cNvPicPr>
              <a:picLocks noChangeAspect="1"/>
            </p:cNvPicPr>
            <p:nvPr/>
          </p:nvPicPr>
          <p:blipFill>
            <a:blip r:embed="rId3"/>
            <a:stretch>
              <a:fillRect/>
            </a:stretch>
          </p:blipFill>
          <p:spPr>
            <a:xfrm>
              <a:off x="14286" y="0"/>
              <a:ext cx="6280833" cy="228572"/>
            </a:xfrm>
            <a:prstGeom prst="rect">
              <a:avLst/>
            </a:prstGeom>
            <a:noFill/>
            <a:ln w="9525">
              <a:noFill/>
            </a:ln>
            <a:effectLst>
              <a:prstShdw prst="shdw17" dist="17961" dir="2699999">
                <a:srgbClr val="708688"/>
              </a:prstShdw>
            </a:effectLst>
          </p:spPr>
        </p:pic>
        <p:pic>
          <p:nvPicPr>
            <p:cNvPr id="45061" name="Picture 7"/>
            <p:cNvPicPr>
              <a:picLocks noChangeAspect="1"/>
            </p:cNvPicPr>
            <p:nvPr/>
          </p:nvPicPr>
          <p:blipFill>
            <a:blip r:embed="rId4"/>
            <a:stretch>
              <a:fillRect/>
            </a:stretch>
          </p:blipFill>
          <p:spPr>
            <a:xfrm>
              <a:off x="0" y="304763"/>
              <a:ext cx="6290358" cy="3434933"/>
            </a:xfrm>
            <a:prstGeom prst="rect">
              <a:avLst/>
            </a:prstGeom>
            <a:noFill/>
            <a:ln w="9525">
              <a:noFill/>
            </a:ln>
            <a:effectLst>
              <a:prstShdw prst="shdw17" dist="17961" dir="2699999">
                <a:srgbClr val="708688"/>
              </a:prstShdw>
            </a:effectLst>
          </p:spPr>
        </p:pic>
      </p:grpSp>
      <p:grpSp>
        <p:nvGrpSpPr>
          <p:cNvPr id="45063" name="组合 14"/>
          <p:cNvGrpSpPr>
            <a:grpSpLocks noChangeAspect="1"/>
          </p:cNvGrpSpPr>
          <p:nvPr/>
        </p:nvGrpSpPr>
        <p:grpSpPr>
          <a:xfrm>
            <a:off x="482600" y="1495425"/>
            <a:ext cx="6067425" cy="4868863"/>
            <a:chOff x="0" y="0"/>
            <a:chExt cx="6067344" cy="4869137"/>
          </a:xfrm>
        </p:grpSpPr>
        <p:pic>
          <p:nvPicPr>
            <p:cNvPr id="3" name="Picture 8"/>
            <p:cNvPicPr>
              <a:picLocks noChangeAspect="1"/>
            </p:cNvPicPr>
            <p:nvPr/>
          </p:nvPicPr>
          <p:blipFill>
            <a:blip r:embed="rId5"/>
            <a:stretch>
              <a:fillRect/>
            </a:stretch>
          </p:blipFill>
          <p:spPr>
            <a:xfrm>
              <a:off x="55562" y="0"/>
              <a:ext cx="4440178" cy="204800"/>
            </a:xfrm>
            <a:prstGeom prst="rect">
              <a:avLst/>
            </a:prstGeom>
            <a:noFill/>
            <a:ln w="9525">
              <a:noFill/>
            </a:ln>
            <a:effectLst>
              <a:prstShdw prst="shdw17" dist="17961" dir="2699999">
                <a:srgbClr val="708688"/>
              </a:prstShdw>
            </a:effectLst>
          </p:spPr>
        </p:pic>
        <p:pic>
          <p:nvPicPr>
            <p:cNvPr id="45064" name="Picture 9"/>
            <p:cNvPicPr>
              <a:picLocks noChangeAspect="1"/>
            </p:cNvPicPr>
            <p:nvPr/>
          </p:nvPicPr>
          <p:blipFill>
            <a:blip r:embed="rId6"/>
            <a:stretch>
              <a:fillRect/>
            </a:stretch>
          </p:blipFill>
          <p:spPr>
            <a:xfrm>
              <a:off x="0" y="257189"/>
              <a:ext cx="6067344" cy="4611948"/>
            </a:xfrm>
            <a:prstGeom prst="rect">
              <a:avLst/>
            </a:prstGeom>
            <a:noFill/>
            <a:ln w="9525">
              <a:noFill/>
            </a:ln>
            <a:effectLst>
              <a:prstShdw prst="shdw17" dist="17961" dir="2699999">
                <a:srgbClr val="708688"/>
              </a:prstShdw>
            </a:effectLst>
          </p:spPr>
        </p:pic>
      </p:grpSp>
      <p:sp>
        <p:nvSpPr>
          <p:cNvPr id="12"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14" name="矩形 13"/>
          <p:cNvSpPr/>
          <p:nvPr/>
        </p:nvSpPr>
        <p:spPr>
          <a:xfrm>
            <a:off x="5592132" y="879033"/>
            <a:ext cx="3315331" cy="461665"/>
          </a:xfrm>
          <a:prstGeom prst="rect">
            <a:avLst/>
          </a:prstGeom>
        </p:spPr>
        <p:txBody>
          <a:bodyPr wrap="none">
            <a:spAutoFit/>
          </a:bodyPr>
          <a:lstStyle/>
          <a:p>
            <a:pPr marL="342900" indent="-342900">
              <a:buFont typeface="Wingdings" panose="05000000000000000000" pitchFamily="2" charset="2"/>
              <a:buChar char="p"/>
            </a:pPr>
            <a:r>
              <a:rPr lang="zh-CN" altLang="en-US" sz="2400" dirty="0" smtClean="0">
                <a:solidFill>
                  <a:srgbClr val="3402C2"/>
                </a:solidFill>
                <a:latin typeface="黑体" panose="02010609060101010101" pitchFamily="1" charset="-122"/>
                <a:ea typeface="黑体" panose="02010609060101010101" pitchFamily="1" charset="-122"/>
                <a:cs typeface="+mn-ea"/>
                <a:sym typeface="Wingdings 2" panose="05020102010507070707" charset="0"/>
              </a:rPr>
              <a:t>数据库</a:t>
            </a:r>
            <a:r>
              <a:rPr lang="zh-CN" altLang="en-US" sz="2400" dirty="0" smtClean="0">
                <a:solidFill>
                  <a:srgbClr val="3402C2"/>
                </a:solidFill>
                <a:latin typeface="黑体" panose="02010609060101010101" pitchFamily="1" charset="-122"/>
                <a:ea typeface="黑体" panose="02010609060101010101" pitchFamily="1" charset="-122"/>
                <a:sym typeface="Wingdings 2" panose="05020102010507070707" charset="0"/>
              </a:rPr>
              <a:t>主从复制技术</a:t>
            </a:r>
            <a:endParaRPr lang="zh-CN" altLang="en-US" sz="2400" dirty="0"/>
          </a:p>
        </p:txBody>
      </p:sp>
      <p:sp>
        <p:nvSpPr>
          <p:cNvPr id="15" name="Rectangle 7"/>
          <p:cNvSpPr/>
          <p:nvPr/>
        </p:nvSpPr>
        <p:spPr>
          <a:xfrm>
            <a:off x="501650" y="793547"/>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4</a:t>
            </a:r>
            <a:r>
              <a:rPr lang="zh-CN" altLang="en-US" sz="2600" dirty="0" smtClean="0">
                <a:solidFill>
                  <a:srgbClr val="FF0000"/>
                </a:solidFill>
                <a:latin typeface="黑体" panose="02010609060101010101" pitchFamily="1" charset="-122"/>
                <a:ea typeface="黑体" panose="02010609060101010101" pitchFamily="1" charset="-122"/>
              </a:rPr>
              <a:t>、基于多副本的数据库恢复技术</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060"/>
                                        </p:tgtEl>
                                        <p:attrNameLst>
                                          <p:attrName>style.visibility</p:attrName>
                                        </p:attrNameLst>
                                      </p:cBhvr>
                                      <p:to>
                                        <p:strVal val="visible"/>
                                      </p:to>
                                    </p:set>
                                    <p:anim calcmode="lin" valueType="num">
                                      <p:cBhvr additive="base">
                                        <p:cTn id="7" dur="500" fill="hold"/>
                                        <p:tgtEl>
                                          <p:spTgt spid="45060"/>
                                        </p:tgtEl>
                                        <p:attrNameLst>
                                          <p:attrName>ppt_x</p:attrName>
                                        </p:attrNameLst>
                                      </p:cBhvr>
                                      <p:tavLst>
                                        <p:tav tm="0">
                                          <p:val>
                                            <p:strVal val="#ppt_x"/>
                                          </p:val>
                                        </p:tav>
                                        <p:tav tm="100000">
                                          <p:val>
                                            <p:strVal val="#ppt_x"/>
                                          </p:val>
                                        </p:tav>
                                      </p:tavLst>
                                    </p:anim>
                                    <p:anim calcmode="lin" valueType="num">
                                      <p:cBhvr additive="base">
                                        <p:cTn id="8" dur="500" fill="hold"/>
                                        <p:tgtEl>
                                          <p:spTgt spid="4506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063"/>
                                        </p:tgtEl>
                                        <p:attrNameLst>
                                          <p:attrName>style.visibility</p:attrName>
                                        </p:attrNameLst>
                                      </p:cBhvr>
                                      <p:to>
                                        <p:strVal val="visible"/>
                                      </p:to>
                                    </p:set>
                                    <p:anim calcmode="lin" valueType="num">
                                      <p:cBhvr additive="base">
                                        <p:cTn id="13" dur="500" fill="hold"/>
                                        <p:tgtEl>
                                          <p:spTgt spid="45063"/>
                                        </p:tgtEl>
                                        <p:attrNameLst>
                                          <p:attrName>ppt_x</p:attrName>
                                        </p:attrNameLst>
                                      </p:cBhvr>
                                      <p:tavLst>
                                        <p:tav tm="0">
                                          <p:val>
                                            <p:strVal val="#ppt_x"/>
                                          </p:val>
                                        </p:tav>
                                        <p:tav tm="100000">
                                          <p:val>
                                            <p:strVal val="#ppt_x"/>
                                          </p:val>
                                        </p:tav>
                                      </p:tavLst>
                                    </p:anim>
                                    <p:anim calcmode="lin" valueType="num">
                                      <p:cBhvr additive="base">
                                        <p:cTn id="14" dur="500" fill="hold"/>
                                        <p:tgtEl>
                                          <p:spTgt spid="450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1" name="Picture 2"/>
          <p:cNvPicPr>
            <a:picLocks noChangeAspect="1"/>
          </p:cNvPicPr>
          <p:nvPr/>
        </p:nvPicPr>
        <p:blipFill>
          <a:blip r:embed="rId1"/>
          <a:stretch>
            <a:fillRect/>
          </a:stretch>
        </p:blipFill>
        <p:spPr>
          <a:xfrm>
            <a:off x="496888" y="1562100"/>
            <a:ext cx="6759575" cy="211138"/>
          </a:xfrm>
          <a:prstGeom prst="rect">
            <a:avLst/>
          </a:prstGeom>
          <a:noFill/>
          <a:ln w="9525">
            <a:noFill/>
          </a:ln>
          <a:effectLst>
            <a:prstShdw prst="shdw17" dist="17961" dir="2699999">
              <a:srgbClr val="708688"/>
            </a:prstShdw>
          </a:effectLst>
        </p:spPr>
      </p:pic>
      <p:pic>
        <p:nvPicPr>
          <p:cNvPr id="46082" name="Picture 3"/>
          <p:cNvPicPr>
            <a:picLocks noChangeAspect="1"/>
          </p:cNvPicPr>
          <p:nvPr/>
        </p:nvPicPr>
        <p:blipFill>
          <a:blip r:embed="rId2"/>
          <a:stretch>
            <a:fillRect/>
          </a:stretch>
        </p:blipFill>
        <p:spPr>
          <a:xfrm>
            <a:off x="458788" y="1847850"/>
            <a:ext cx="6754812" cy="4156075"/>
          </a:xfrm>
          <a:prstGeom prst="rect">
            <a:avLst/>
          </a:prstGeom>
          <a:noFill/>
          <a:ln w="9525">
            <a:noFill/>
          </a:ln>
          <a:effectLst>
            <a:prstShdw prst="shdw17" dist="17961" dir="2699999">
              <a:srgbClr val="708688"/>
            </a:prstShdw>
          </a:effectLst>
        </p:spPr>
      </p:pic>
      <p:grpSp>
        <p:nvGrpSpPr>
          <p:cNvPr id="46084" name="组合 10"/>
          <p:cNvGrpSpPr>
            <a:grpSpLocks noChangeAspect="1"/>
          </p:cNvGrpSpPr>
          <p:nvPr/>
        </p:nvGrpSpPr>
        <p:grpSpPr>
          <a:xfrm>
            <a:off x="2887663" y="1944688"/>
            <a:ext cx="6053137" cy="4273550"/>
            <a:chOff x="0" y="0"/>
            <a:chExt cx="6052457" cy="4273324"/>
          </a:xfrm>
        </p:grpSpPr>
        <p:pic>
          <p:nvPicPr>
            <p:cNvPr id="2" name="Picture 4"/>
            <p:cNvPicPr>
              <a:picLocks noChangeAspect="1"/>
            </p:cNvPicPr>
            <p:nvPr/>
          </p:nvPicPr>
          <p:blipFill>
            <a:blip r:embed="rId3"/>
            <a:stretch>
              <a:fillRect/>
            </a:stretch>
          </p:blipFill>
          <p:spPr>
            <a:xfrm>
              <a:off x="7936" y="0"/>
              <a:ext cx="5841344" cy="203189"/>
            </a:xfrm>
            <a:prstGeom prst="rect">
              <a:avLst/>
            </a:prstGeom>
            <a:noFill/>
            <a:ln w="9525">
              <a:noFill/>
            </a:ln>
            <a:effectLst>
              <a:prstShdw prst="shdw17" dist="17961" dir="2699999">
                <a:srgbClr val="708688"/>
              </a:prstShdw>
            </a:effectLst>
          </p:spPr>
        </p:pic>
        <p:pic>
          <p:nvPicPr>
            <p:cNvPr id="46085" name="Picture 5"/>
            <p:cNvPicPr>
              <a:picLocks noChangeAspect="1"/>
            </p:cNvPicPr>
            <p:nvPr/>
          </p:nvPicPr>
          <p:blipFill>
            <a:blip r:embed="rId4"/>
            <a:stretch>
              <a:fillRect/>
            </a:stretch>
          </p:blipFill>
          <p:spPr>
            <a:xfrm>
              <a:off x="0" y="266686"/>
              <a:ext cx="6052457" cy="4006638"/>
            </a:xfrm>
            <a:prstGeom prst="rect">
              <a:avLst/>
            </a:prstGeom>
            <a:noFill/>
            <a:ln w="9525">
              <a:noFill/>
            </a:ln>
            <a:effectLst>
              <a:prstShdw prst="shdw17" dist="17961" dir="2699999">
                <a:srgbClr val="708688"/>
              </a:prstShdw>
            </a:effectLst>
          </p:spPr>
        </p:pic>
      </p:grpSp>
      <p:grpSp>
        <p:nvGrpSpPr>
          <p:cNvPr id="46087" name="组合 13"/>
          <p:cNvGrpSpPr>
            <a:grpSpLocks noChangeAspect="1"/>
          </p:cNvGrpSpPr>
          <p:nvPr/>
        </p:nvGrpSpPr>
        <p:grpSpPr>
          <a:xfrm>
            <a:off x="508000" y="1828800"/>
            <a:ext cx="8262938" cy="3889375"/>
            <a:chOff x="0" y="0"/>
            <a:chExt cx="8263733" cy="3889600"/>
          </a:xfrm>
        </p:grpSpPr>
        <p:pic>
          <p:nvPicPr>
            <p:cNvPr id="3" name="Picture 6"/>
            <p:cNvPicPr>
              <a:picLocks noChangeAspect="1"/>
            </p:cNvPicPr>
            <p:nvPr/>
          </p:nvPicPr>
          <p:blipFill>
            <a:blip r:embed="rId5"/>
            <a:stretch>
              <a:fillRect/>
            </a:stretch>
          </p:blipFill>
          <p:spPr>
            <a:xfrm>
              <a:off x="38104" y="0"/>
              <a:ext cx="2532307" cy="261953"/>
            </a:xfrm>
            <a:prstGeom prst="rect">
              <a:avLst/>
            </a:prstGeom>
            <a:noFill/>
            <a:ln w="9525">
              <a:noFill/>
            </a:ln>
            <a:effectLst>
              <a:prstShdw prst="shdw17" dist="17961" dir="2699999">
                <a:srgbClr val="708688"/>
              </a:prstShdw>
            </a:effectLst>
          </p:spPr>
        </p:pic>
        <p:pic>
          <p:nvPicPr>
            <p:cNvPr id="46088" name="Picture 7"/>
            <p:cNvPicPr>
              <a:picLocks noChangeAspect="1"/>
            </p:cNvPicPr>
            <p:nvPr/>
          </p:nvPicPr>
          <p:blipFill>
            <a:blip r:embed="rId6"/>
            <a:stretch>
              <a:fillRect/>
            </a:stretch>
          </p:blipFill>
          <p:spPr>
            <a:xfrm>
              <a:off x="0" y="314343"/>
              <a:ext cx="8263733" cy="3575257"/>
            </a:xfrm>
            <a:prstGeom prst="rect">
              <a:avLst/>
            </a:prstGeom>
            <a:noFill/>
            <a:ln w="9525">
              <a:noFill/>
            </a:ln>
            <a:effectLst>
              <a:prstShdw prst="shdw17" dist="17961" dir="2699999">
                <a:srgbClr val="708688"/>
              </a:prstShdw>
            </a:effectLst>
          </p:spPr>
        </p:pic>
      </p:grpSp>
      <p:sp>
        <p:nvSpPr>
          <p:cNvPr id="13"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15" name="矩形 14"/>
          <p:cNvSpPr/>
          <p:nvPr/>
        </p:nvSpPr>
        <p:spPr>
          <a:xfrm>
            <a:off x="5555934" y="890885"/>
            <a:ext cx="3315331" cy="461665"/>
          </a:xfrm>
          <a:prstGeom prst="rect">
            <a:avLst/>
          </a:prstGeom>
        </p:spPr>
        <p:txBody>
          <a:bodyPr wrap="none">
            <a:spAutoFit/>
          </a:bodyPr>
          <a:lstStyle/>
          <a:p>
            <a:pPr marL="342900" indent="-342900">
              <a:buFont typeface="Wingdings" panose="05000000000000000000" pitchFamily="2" charset="2"/>
              <a:buChar char="p"/>
            </a:pPr>
            <a:r>
              <a:rPr lang="zh-CN" altLang="en-US" sz="2400" dirty="0" smtClean="0">
                <a:solidFill>
                  <a:srgbClr val="3402C2"/>
                </a:solidFill>
                <a:latin typeface="黑体" panose="02010609060101010101" pitchFamily="1" charset="-122"/>
                <a:ea typeface="黑体" panose="02010609060101010101" pitchFamily="1" charset="-122"/>
                <a:cs typeface="+mn-ea"/>
                <a:sym typeface="Wingdings 2" panose="05020102010507070707" charset="0"/>
              </a:rPr>
              <a:t>数据库</a:t>
            </a:r>
            <a:r>
              <a:rPr lang="zh-CN" altLang="en-US" sz="2400" dirty="0" smtClean="0">
                <a:solidFill>
                  <a:srgbClr val="3402C2"/>
                </a:solidFill>
                <a:latin typeface="黑体" panose="02010609060101010101" pitchFamily="1" charset="-122"/>
                <a:ea typeface="黑体" panose="02010609060101010101" pitchFamily="1" charset="-122"/>
                <a:sym typeface="Wingdings 2" panose="05020102010507070707" charset="0"/>
              </a:rPr>
              <a:t>主从复制技术</a:t>
            </a:r>
            <a:endParaRPr lang="zh-CN" altLang="en-US" sz="2400" dirty="0"/>
          </a:p>
        </p:txBody>
      </p:sp>
      <p:sp>
        <p:nvSpPr>
          <p:cNvPr id="16" name="Rectangle 7"/>
          <p:cNvSpPr/>
          <p:nvPr/>
        </p:nvSpPr>
        <p:spPr>
          <a:xfrm>
            <a:off x="501650" y="793547"/>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4</a:t>
            </a:r>
            <a:r>
              <a:rPr lang="zh-CN" altLang="en-US" sz="2600" dirty="0" smtClean="0">
                <a:solidFill>
                  <a:srgbClr val="FF0000"/>
                </a:solidFill>
                <a:latin typeface="黑体" panose="02010609060101010101" pitchFamily="1" charset="-122"/>
                <a:ea typeface="黑体" panose="02010609060101010101" pitchFamily="1" charset="-122"/>
              </a:rPr>
              <a:t>、基于多副本的数据库恢复技术</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084"/>
                                        </p:tgtEl>
                                        <p:attrNameLst>
                                          <p:attrName>style.visibility</p:attrName>
                                        </p:attrNameLst>
                                      </p:cBhvr>
                                      <p:to>
                                        <p:strVal val="visible"/>
                                      </p:to>
                                    </p:set>
                                    <p:anim calcmode="lin" valueType="num">
                                      <p:cBhvr additive="base">
                                        <p:cTn id="7" dur="500" fill="hold"/>
                                        <p:tgtEl>
                                          <p:spTgt spid="46084"/>
                                        </p:tgtEl>
                                        <p:attrNameLst>
                                          <p:attrName>ppt_x</p:attrName>
                                        </p:attrNameLst>
                                      </p:cBhvr>
                                      <p:tavLst>
                                        <p:tav tm="0">
                                          <p:val>
                                            <p:strVal val="#ppt_x"/>
                                          </p:val>
                                        </p:tav>
                                        <p:tav tm="100000">
                                          <p:val>
                                            <p:strVal val="#ppt_x"/>
                                          </p:val>
                                        </p:tav>
                                      </p:tavLst>
                                    </p:anim>
                                    <p:anim calcmode="lin" valueType="num">
                                      <p:cBhvr additive="base">
                                        <p:cTn id="8" dur="500" fill="hold"/>
                                        <p:tgtEl>
                                          <p:spTgt spid="4608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6087"/>
                                        </p:tgtEl>
                                        <p:attrNameLst>
                                          <p:attrName>style.visibility</p:attrName>
                                        </p:attrNameLst>
                                      </p:cBhvr>
                                      <p:to>
                                        <p:strVal val="visible"/>
                                      </p:to>
                                    </p:set>
                                    <p:anim calcmode="lin" valueType="num">
                                      <p:cBhvr additive="base">
                                        <p:cTn id="13" dur="500" fill="hold"/>
                                        <p:tgtEl>
                                          <p:spTgt spid="46087"/>
                                        </p:tgtEl>
                                        <p:attrNameLst>
                                          <p:attrName>ppt_x</p:attrName>
                                        </p:attrNameLst>
                                      </p:cBhvr>
                                      <p:tavLst>
                                        <p:tav tm="0">
                                          <p:val>
                                            <p:strVal val="#ppt_x"/>
                                          </p:val>
                                        </p:tav>
                                        <p:tav tm="100000">
                                          <p:val>
                                            <p:strVal val="#ppt_x"/>
                                          </p:val>
                                        </p:tav>
                                      </p:tavLst>
                                    </p:anim>
                                    <p:anim calcmode="lin" valueType="num">
                                      <p:cBhvr additive="base">
                                        <p:cTn id="14" dur="500" fill="hold"/>
                                        <p:tgtEl>
                                          <p:spTgt spid="460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p:cNvPicPr>
          <p:nvPr/>
        </p:nvPicPr>
        <p:blipFill>
          <a:blip r:embed="rId1"/>
          <a:stretch>
            <a:fillRect/>
          </a:stretch>
        </p:blipFill>
        <p:spPr>
          <a:xfrm>
            <a:off x="652463" y="1462088"/>
            <a:ext cx="2741612" cy="293687"/>
          </a:xfrm>
          <a:prstGeom prst="rect">
            <a:avLst/>
          </a:prstGeom>
          <a:noFill/>
          <a:ln w="9525">
            <a:noFill/>
          </a:ln>
          <a:effectLst>
            <a:prstShdw prst="shdw17" dist="17961" dir="2699999">
              <a:srgbClr val="708688"/>
            </a:prstShdw>
          </a:effectLst>
        </p:spPr>
      </p:pic>
      <p:pic>
        <p:nvPicPr>
          <p:cNvPr id="47107" name="Picture 3"/>
          <p:cNvPicPr>
            <a:picLocks noChangeAspect="1"/>
          </p:cNvPicPr>
          <p:nvPr/>
        </p:nvPicPr>
        <p:blipFill>
          <a:blip r:embed="rId2"/>
          <a:stretch>
            <a:fillRect/>
          </a:stretch>
        </p:blipFill>
        <p:spPr>
          <a:xfrm>
            <a:off x="600075" y="1765300"/>
            <a:ext cx="7326313" cy="3692525"/>
          </a:xfrm>
          <a:prstGeom prst="rect">
            <a:avLst/>
          </a:prstGeom>
          <a:noFill/>
          <a:ln w="9525">
            <a:noFill/>
          </a:ln>
          <a:effectLst>
            <a:prstShdw prst="shdw17" dist="17961" dir="2699999">
              <a:srgbClr val="708688"/>
            </a:prstShdw>
          </a:effectLst>
        </p:spPr>
      </p:pic>
      <p:grpSp>
        <p:nvGrpSpPr>
          <p:cNvPr id="47109" name="组合 10"/>
          <p:cNvGrpSpPr>
            <a:grpSpLocks noChangeAspect="1"/>
          </p:cNvGrpSpPr>
          <p:nvPr/>
        </p:nvGrpSpPr>
        <p:grpSpPr>
          <a:xfrm>
            <a:off x="942975" y="1524000"/>
            <a:ext cx="7620000" cy="4630738"/>
            <a:chOff x="0" y="0"/>
            <a:chExt cx="7257597" cy="4705115"/>
          </a:xfrm>
        </p:grpSpPr>
        <p:pic>
          <p:nvPicPr>
            <p:cNvPr id="2" name="Picture 4"/>
            <p:cNvPicPr>
              <a:picLocks noChangeAspect="1"/>
            </p:cNvPicPr>
            <p:nvPr/>
          </p:nvPicPr>
          <p:blipFill>
            <a:blip r:embed="rId3"/>
            <a:stretch>
              <a:fillRect/>
            </a:stretch>
          </p:blipFill>
          <p:spPr>
            <a:xfrm>
              <a:off x="3651479" y="0"/>
              <a:ext cx="3562271" cy="280662"/>
            </a:xfrm>
            <a:prstGeom prst="rect">
              <a:avLst/>
            </a:prstGeom>
            <a:noFill/>
            <a:ln w="9525">
              <a:noFill/>
            </a:ln>
            <a:effectLst>
              <a:prstShdw prst="shdw17" dist="17961" dir="2699999">
                <a:srgbClr val="708688"/>
              </a:prstShdw>
            </a:effectLst>
          </p:spPr>
        </p:pic>
        <p:pic>
          <p:nvPicPr>
            <p:cNvPr id="47110" name="Picture 5"/>
            <p:cNvPicPr>
              <a:picLocks noChangeAspect="1"/>
            </p:cNvPicPr>
            <p:nvPr/>
          </p:nvPicPr>
          <p:blipFill>
            <a:blip r:embed="rId4"/>
            <a:stretch>
              <a:fillRect/>
            </a:stretch>
          </p:blipFill>
          <p:spPr>
            <a:xfrm>
              <a:off x="0" y="332278"/>
              <a:ext cx="7257597" cy="4372837"/>
            </a:xfrm>
            <a:prstGeom prst="rect">
              <a:avLst/>
            </a:prstGeom>
            <a:noFill/>
            <a:ln w="9525">
              <a:noFill/>
            </a:ln>
            <a:effectLst>
              <a:prstShdw prst="shdw17" dist="17961" dir="2699999">
                <a:srgbClr val="708688"/>
              </a:prstShdw>
            </a:effectLst>
          </p:spPr>
        </p:pic>
      </p:grpSp>
      <p:sp>
        <p:nvSpPr>
          <p:cNvPr id="9"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11" name="矩形 10"/>
          <p:cNvSpPr/>
          <p:nvPr/>
        </p:nvSpPr>
        <p:spPr>
          <a:xfrm>
            <a:off x="5670755" y="867514"/>
            <a:ext cx="3315331" cy="461665"/>
          </a:xfrm>
          <a:prstGeom prst="rect">
            <a:avLst/>
          </a:prstGeom>
        </p:spPr>
        <p:txBody>
          <a:bodyPr wrap="none">
            <a:spAutoFit/>
          </a:bodyPr>
          <a:lstStyle/>
          <a:p>
            <a:pPr marL="342900" indent="-342900">
              <a:buFont typeface="Wingdings" panose="05000000000000000000" pitchFamily="2" charset="2"/>
              <a:buChar char="p"/>
            </a:pPr>
            <a:r>
              <a:rPr lang="zh-CN" altLang="en-US" sz="2400" dirty="0" smtClean="0">
                <a:solidFill>
                  <a:srgbClr val="3402C2"/>
                </a:solidFill>
                <a:latin typeface="黑体" panose="02010609060101010101" pitchFamily="1" charset="-122"/>
                <a:ea typeface="黑体" panose="02010609060101010101" pitchFamily="1" charset="-122"/>
                <a:cs typeface="+mn-ea"/>
                <a:sym typeface="Wingdings 2" panose="05020102010507070707" charset="0"/>
              </a:rPr>
              <a:t>数据库</a:t>
            </a:r>
            <a:r>
              <a:rPr lang="zh-CN" altLang="en-US" sz="2400" dirty="0" smtClean="0">
                <a:solidFill>
                  <a:srgbClr val="3402C2"/>
                </a:solidFill>
                <a:latin typeface="黑体" panose="02010609060101010101" pitchFamily="1" charset="-122"/>
                <a:ea typeface="黑体" panose="02010609060101010101" pitchFamily="1" charset="-122"/>
                <a:sym typeface="Wingdings 2" panose="05020102010507070707" charset="0"/>
              </a:rPr>
              <a:t>主从复制技术</a:t>
            </a:r>
            <a:endParaRPr lang="zh-CN" altLang="en-US" sz="2400" dirty="0"/>
          </a:p>
        </p:txBody>
      </p:sp>
      <p:sp>
        <p:nvSpPr>
          <p:cNvPr id="12" name="Rectangle 7"/>
          <p:cNvSpPr/>
          <p:nvPr/>
        </p:nvSpPr>
        <p:spPr>
          <a:xfrm>
            <a:off x="501650" y="793547"/>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4</a:t>
            </a:r>
            <a:r>
              <a:rPr lang="zh-CN" altLang="en-US" sz="2600" dirty="0" smtClean="0">
                <a:solidFill>
                  <a:srgbClr val="FF0000"/>
                </a:solidFill>
                <a:latin typeface="黑体" panose="02010609060101010101" pitchFamily="1" charset="-122"/>
                <a:ea typeface="黑体" panose="02010609060101010101" pitchFamily="1" charset="-122"/>
              </a:rPr>
              <a:t>、基于多副本的数据库恢复技术</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109"/>
                                        </p:tgtEl>
                                        <p:attrNameLst>
                                          <p:attrName>style.visibility</p:attrName>
                                        </p:attrNameLst>
                                      </p:cBhvr>
                                      <p:to>
                                        <p:strVal val="visible"/>
                                      </p:to>
                                    </p:set>
                                    <p:anim calcmode="lin" valueType="num">
                                      <p:cBhvr additive="base">
                                        <p:cTn id="7" dur="500" fill="hold"/>
                                        <p:tgtEl>
                                          <p:spTgt spid="47109"/>
                                        </p:tgtEl>
                                        <p:attrNameLst>
                                          <p:attrName>ppt_x</p:attrName>
                                        </p:attrNameLst>
                                      </p:cBhvr>
                                      <p:tavLst>
                                        <p:tav tm="0">
                                          <p:val>
                                            <p:strVal val="#ppt_x"/>
                                          </p:val>
                                        </p:tav>
                                        <p:tav tm="100000">
                                          <p:val>
                                            <p:strVal val="#ppt_x"/>
                                          </p:val>
                                        </p:tav>
                                      </p:tavLst>
                                    </p:anim>
                                    <p:anim calcmode="lin" valueType="num">
                                      <p:cBhvr additive="base">
                                        <p:cTn id="8" dur="500" fill="hold"/>
                                        <p:tgtEl>
                                          <p:spTgt spid="471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Picture 2"/>
          <p:cNvPicPr>
            <a:picLocks noChangeAspect="1"/>
          </p:cNvPicPr>
          <p:nvPr/>
        </p:nvPicPr>
        <p:blipFill>
          <a:blip r:embed="rId1"/>
          <a:stretch>
            <a:fillRect/>
          </a:stretch>
        </p:blipFill>
        <p:spPr>
          <a:xfrm>
            <a:off x="649288" y="2613025"/>
            <a:ext cx="3725862" cy="3244850"/>
          </a:xfrm>
          <a:prstGeom prst="rect">
            <a:avLst/>
          </a:prstGeom>
          <a:noFill/>
          <a:ln w="9525">
            <a:noFill/>
          </a:ln>
          <a:effectLst>
            <a:prstShdw prst="shdw17" dist="17961" dir="2699999">
              <a:srgbClr val="708688"/>
            </a:prstShdw>
          </a:effectLst>
        </p:spPr>
      </p:pic>
      <p:pic>
        <p:nvPicPr>
          <p:cNvPr id="48130" name="Picture 3"/>
          <p:cNvPicPr>
            <a:picLocks noChangeAspect="1"/>
          </p:cNvPicPr>
          <p:nvPr/>
        </p:nvPicPr>
        <p:blipFill>
          <a:blip r:embed="rId2"/>
          <a:stretch>
            <a:fillRect/>
          </a:stretch>
        </p:blipFill>
        <p:spPr>
          <a:xfrm>
            <a:off x="4448175" y="2613025"/>
            <a:ext cx="4332288" cy="3314700"/>
          </a:xfrm>
          <a:prstGeom prst="rect">
            <a:avLst/>
          </a:prstGeom>
          <a:noFill/>
          <a:ln w="9525">
            <a:noFill/>
          </a:ln>
          <a:effectLst>
            <a:prstShdw prst="shdw17" dist="17961" dir="2699999">
              <a:srgbClr val="708688"/>
            </a:prstShdw>
          </a:effectLst>
        </p:spPr>
      </p:pic>
      <p:sp>
        <p:nvSpPr>
          <p:cNvPr id="48132" name="矩形 9"/>
          <p:cNvSpPr/>
          <p:nvPr/>
        </p:nvSpPr>
        <p:spPr>
          <a:xfrm>
            <a:off x="558800" y="1547813"/>
            <a:ext cx="7831138" cy="796925"/>
          </a:xfrm>
          <a:prstGeom prst="rect">
            <a:avLst/>
          </a:prstGeom>
          <a:noFill/>
          <a:ln w="9525">
            <a:noFill/>
          </a:ln>
        </p:spPr>
        <p:txBody>
          <a:bodyPr anchor="t">
            <a:spAutoFit/>
          </a:bodyPr>
          <a:lstStyle/>
          <a:p>
            <a:pPr lvl="0" indent="0">
              <a:lnSpc>
                <a:spcPct val="135000"/>
              </a:lnSpc>
            </a:pPr>
            <a:r>
              <a:rPr lang="en-US" altLang="x-none" dirty="0">
                <a:latin typeface="Arial" panose="020B0604020202020204" pitchFamily="34" charset="0"/>
                <a:ea typeface="宋体" panose="02010600030101010101" pitchFamily="2" charset="-122"/>
              </a:rPr>
              <a:t>6. </a:t>
            </a:r>
            <a:r>
              <a:rPr lang="zh-CN" altLang="en-US" dirty="0">
                <a:latin typeface="Arial" panose="020B0604020202020204" pitchFamily="34" charset="0"/>
                <a:ea typeface="宋体" panose="02010600030101010101" pitchFamily="2" charset="-122"/>
              </a:rPr>
              <a:t>完成创建订阅：创建完成之后，通过在主库表中插入</a:t>
            </a:r>
            <a:r>
              <a:rPr lang="en-US" altLang="x-none" dirty="0">
                <a:latin typeface="Arial" panose="020B0604020202020204" pitchFamily="34" charset="0"/>
                <a:ea typeface="宋体" panose="02010600030101010101" pitchFamily="2" charset="-122"/>
              </a:rPr>
              <a:t>n</a:t>
            </a:r>
            <a:r>
              <a:rPr lang="zh-CN" altLang="en-US" dirty="0">
                <a:latin typeface="Arial" panose="020B0604020202020204" pitchFamily="34" charset="0"/>
                <a:ea typeface="宋体" panose="02010600030101010101" pitchFamily="2" charset="-122"/>
              </a:rPr>
              <a:t>条数据，然后在从库中查询的方式验证复制是否成功。</a:t>
            </a:r>
            <a:endParaRPr lang="zh-CN" altLang="en-US" dirty="0">
              <a:latin typeface="Arial" panose="020B0604020202020204" pitchFamily="34" charset="0"/>
              <a:ea typeface="宋体" panose="02010600030101010101" pitchFamily="2" charset="-122"/>
            </a:endParaRPr>
          </a:p>
        </p:txBody>
      </p:sp>
      <p:sp>
        <p:nvSpPr>
          <p:cNvPr id="7"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9" name="矩形 8"/>
          <p:cNvSpPr/>
          <p:nvPr/>
        </p:nvSpPr>
        <p:spPr>
          <a:xfrm>
            <a:off x="5603131" y="890251"/>
            <a:ext cx="3297677" cy="461665"/>
          </a:xfrm>
          <a:prstGeom prst="rect">
            <a:avLst/>
          </a:prstGeom>
        </p:spPr>
        <p:txBody>
          <a:bodyPr wrap="square">
            <a:spAutoFit/>
          </a:bodyPr>
          <a:lstStyle/>
          <a:p>
            <a:pPr marL="342900" indent="-342900">
              <a:buFont typeface="Wingdings" panose="05000000000000000000" pitchFamily="2" charset="2"/>
              <a:buChar char="p"/>
            </a:pPr>
            <a:r>
              <a:rPr lang="zh-CN" altLang="en-US" sz="2400" dirty="0" smtClean="0">
                <a:solidFill>
                  <a:srgbClr val="3402C2"/>
                </a:solidFill>
                <a:latin typeface="黑体" panose="02010609060101010101" pitchFamily="1" charset="-122"/>
                <a:ea typeface="黑体" panose="02010609060101010101" pitchFamily="1" charset="-122"/>
                <a:cs typeface="+mn-ea"/>
                <a:sym typeface="Wingdings 2" panose="05020102010507070707" charset="0"/>
              </a:rPr>
              <a:t>数据库</a:t>
            </a:r>
            <a:r>
              <a:rPr lang="zh-CN" altLang="en-US" sz="2400" dirty="0" smtClean="0">
                <a:solidFill>
                  <a:srgbClr val="3402C2"/>
                </a:solidFill>
                <a:latin typeface="黑体" panose="02010609060101010101" pitchFamily="1" charset="-122"/>
                <a:ea typeface="黑体" panose="02010609060101010101" pitchFamily="1" charset="-122"/>
                <a:sym typeface="Wingdings 2" panose="05020102010507070707" charset="0"/>
              </a:rPr>
              <a:t>主从复制技术</a:t>
            </a:r>
            <a:endParaRPr lang="zh-CN" altLang="en-US" sz="2400" dirty="0"/>
          </a:p>
        </p:txBody>
      </p:sp>
      <p:sp>
        <p:nvSpPr>
          <p:cNvPr id="10" name="Rectangle 7"/>
          <p:cNvSpPr/>
          <p:nvPr/>
        </p:nvSpPr>
        <p:spPr>
          <a:xfrm>
            <a:off x="501650" y="793547"/>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4</a:t>
            </a:r>
            <a:r>
              <a:rPr lang="zh-CN" altLang="en-US" sz="2600" dirty="0" smtClean="0">
                <a:solidFill>
                  <a:srgbClr val="FF0000"/>
                </a:solidFill>
                <a:latin typeface="黑体" panose="02010609060101010101" pitchFamily="1" charset="-122"/>
                <a:ea typeface="黑体" panose="02010609060101010101" pitchFamily="1" charset="-122"/>
              </a:rPr>
              <a:t>、基于多副本的数据库恢复技术</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graphicFrame>
        <p:nvGraphicFramePr>
          <p:cNvPr id="75781" name="Object 2"/>
          <p:cNvGraphicFramePr>
            <a:graphicFrameLocks noGrp="1" noChangeAspect="1"/>
          </p:cNvGraphicFramePr>
          <p:nvPr/>
        </p:nvGraphicFramePr>
        <p:xfrm>
          <a:off x="668020" y="3488373"/>
          <a:ext cx="8018463" cy="2647950"/>
        </p:xfrm>
        <a:graphic>
          <a:graphicData uri="http://schemas.openxmlformats.org/presentationml/2006/ole">
            <mc:AlternateContent xmlns:mc="http://schemas.openxmlformats.org/markup-compatibility/2006">
              <mc:Choice xmlns:v="urn:schemas-microsoft-com:vml" Requires="v">
                <p:oleObj spid="_x0000_s12322" name="" r:id="rId1" imgW="4448175" imgH="1583055" progId="Word.Picture.8">
                  <p:embed/>
                </p:oleObj>
              </mc:Choice>
              <mc:Fallback>
                <p:oleObj name="" r:id="rId1" imgW="4448175" imgH="1583055" progId="Word.Picture.8">
                  <p:embed/>
                  <p:pic>
                    <p:nvPicPr>
                      <p:cNvPr id="0" name="图片 3089"/>
                      <p:cNvPicPr/>
                      <p:nvPr/>
                    </p:nvPicPr>
                    <p:blipFill>
                      <a:blip r:embed="rId2"/>
                      <a:stretch>
                        <a:fillRect/>
                      </a:stretch>
                    </p:blipFill>
                    <p:spPr>
                      <a:xfrm>
                        <a:off x="668020" y="3488373"/>
                        <a:ext cx="8018463" cy="2647950"/>
                      </a:xfrm>
                      <a:prstGeom prst="rect">
                        <a:avLst/>
                      </a:prstGeom>
                      <a:noFill/>
                      <a:ln w="38100">
                        <a:noFill/>
                        <a:miter/>
                      </a:ln>
                    </p:spPr>
                  </p:pic>
                </p:oleObj>
              </mc:Fallback>
            </mc:AlternateContent>
          </a:graphicData>
        </a:graphic>
      </p:graphicFrame>
      <p:sp>
        <p:nvSpPr>
          <p:cNvPr id="71684" name="Text Box 2"/>
          <p:cNvSpPr txBox="1"/>
          <p:nvPr/>
        </p:nvSpPr>
        <p:spPr>
          <a:xfrm>
            <a:off x="666115" y="1428750"/>
            <a:ext cx="8112125" cy="2072640"/>
          </a:xfrm>
          <a:prstGeom prst="rect">
            <a:avLst/>
          </a:prstGeom>
          <a:noFill/>
          <a:ln w="9525">
            <a:noFill/>
          </a:ln>
        </p:spPr>
        <p:txBody>
          <a:bodyPr wrap="square" anchor="t">
            <a:spAutoFit/>
          </a:bodyPr>
          <a:lstStyle/>
          <a:p>
            <a:pPr lvl="0">
              <a:lnSpc>
                <a:spcPct val="115000"/>
              </a:lnSpc>
              <a:spcBef>
                <a:spcPts val="0"/>
              </a:spcBef>
              <a:spcAft>
                <a:spcPts val="0"/>
              </a:spcAft>
              <a:buFont typeface="Wingdings" panose="05000000000000000000" pitchFamily="2" charset="2"/>
            </a:pPr>
            <a:r>
              <a:rPr lang="zh-CN" altLang="en-US" sz="2400" dirty="0">
                <a:solidFill>
                  <a:srgbClr val="3402C2"/>
                </a:solidFill>
                <a:latin typeface="宋体" panose="02010600030101010101" pitchFamily="2" charset="-122"/>
                <a:ea typeface="宋体" panose="02010600030101010101" pitchFamily="2" charset="-122"/>
                <a:sym typeface="Wingdings 2" panose="05020102010507070707" charset="0"/>
              </a:rPr>
              <a:t></a:t>
            </a:r>
            <a:r>
              <a:rPr lang="zh-CN" altLang="en-US" sz="2400" dirty="0">
                <a:solidFill>
                  <a:srgbClr val="3402C2"/>
                </a:solidFill>
                <a:latin typeface="宋体" panose="02010600030101010101" pitchFamily="2" charset="-122"/>
                <a:ea typeface="宋体" panose="02010600030101010101" pitchFamily="2" charset="-122"/>
                <a:cs typeface="+mn-ea"/>
                <a:sym typeface="Wingdings 2" panose="05020102010507070707" charset="0"/>
              </a:rPr>
              <a:t> </a:t>
            </a:r>
            <a:r>
              <a:rPr lang="zh-CN" altLang="en-US" sz="2400" u="sng" dirty="0">
                <a:solidFill>
                  <a:srgbClr val="3402C2"/>
                </a:solidFill>
                <a:latin typeface="宋体" panose="02010600030101010101" pitchFamily="2" charset="-122"/>
                <a:ea typeface="宋体" panose="02010600030101010101" pitchFamily="2" charset="-122"/>
                <a:cs typeface="+mn-ea"/>
              </a:rPr>
              <a:t>数据库镜像技术：</a:t>
            </a:r>
            <a:r>
              <a:rPr lang="zh-CN" altLang="en-US" sz="2200" dirty="0">
                <a:latin typeface="华文楷体" panose="02010600040101010101" pitchFamily="2" charset="-122"/>
                <a:ea typeface="华文楷体" panose="02010600040101010101" pitchFamily="2" charset="-122"/>
                <a:cs typeface="+mn-ea"/>
                <a:sym typeface="Wingdings" panose="05000000000000000000" pitchFamily="2" charset="2"/>
              </a:rPr>
              <a:t>由DBMS根据DBA要求，自动将整个DB或其中关键数据复制到另一个磁盘上。当主DB更新时，DBMS自动将更新后的数据复制过去。当出现介质故障时，可由镜像磁盘提供应用服务，并利用它进行数据库恢复。其实现是通过复制数据进行。</a:t>
            </a:r>
            <a:endParaRPr lang="zh-CN" altLang="en-US" sz="2200" dirty="0">
              <a:latin typeface="华文楷体" panose="02010600040101010101" pitchFamily="2" charset="-122"/>
              <a:ea typeface="华文楷体" panose="02010600040101010101" pitchFamily="2" charset="-122"/>
            </a:endParaRPr>
          </a:p>
        </p:txBody>
      </p:sp>
      <p:sp>
        <p:nvSpPr>
          <p:cNvPr id="6" name="Rectangle 7"/>
          <p:cNvSpPr/>
          <p:nvPr/>
        </p:nvSpPr>
        <p:spPr>
          <a:xfrm>
            <a:off x="501650" y="793547"/>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4</a:t>
            </a:r>
            <a:r>
              <a:rPr lang="zh-CN" altLang="en-US" sz="2600" dirty="0" smtClean="0">
                <a:solidFill>
                  <a:srgbClr val="FF0000"/>
                </a:solidFill>
                <a:latin typeface="黑体" panose="02010609060101010101" pitchFamily="1" charset="-122"/>
                <a:ea typeface="黑体" panose="02010609060101010101" pitchFamily="1" charset="-122"/>
              </a:rPr>
              <a:t>、基于多副本的数据库恢复技术</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468358" y="1540002"/>
            <a:ext cx="6953250" cy="2419350"/>
          </a:xfrm>
          <a:prstGeom prst="rect">
            <a:avLst/>
          </a:prstGeom>
          <a:ln>
            <a:noFill/>
          </a:ln>
          <a:effectLst>
            <a:outerShdw blurRad="292100" dist="139700" dir="2700000" algn="tl" rotWithShape="0">
              <a:srgbClr val="333333">
                <a:alpha val="65000"/>
              </a:srgbClr>
            </a:outerShdw>
          </a:effectLst>
        </p:spPr>
      </p:pic>
      <p:pic>
        <p:nvPicPr>
          <p:cNvPr id="3" name="图片 2"/>
          <p:cNvPicPr>
            <a:picLocks noChangeAspect="1"/>
          </p:cNvPicPr>
          <p:nvPr/>
        </p:nvPicPr>
        <p:blipFill>
          <a:blip r:embed="rId2"/>
          <a:stretch>
            <a:fillRect/>
          </a:stretch>
        </p:blipFill>
        <p:spPr>
          <a:xfrm>
            <a:off x="477251" y="1348893"/>
            <a:ext cx="4482144" cy="338275"/>
          </a:xfrm>
          <a:prstGeom prst="rect">
            <a:avLst/>
          </a:prstGeom>
        </p:spPr>
      </p:pic>
      <p:pic>
        <p:nvPicPr>
          <p:cNvPr id="4" name="图片 3"/>
          <p:cNvPicPr>
            <a:picLocks noChangeAspect="1"/>
          </p:cNvPicPr>
          <p:nvPr/>
        </p:nvPicPr>
        <p:blipFill>
          <a:blip r:embed="rId3"/>
          <a:stretch>
            <a:fillRect/>
          </a:stretch>
        </p:blipFill>
        <p:spPr>
          <a:xfrm>
            <a:off x="2050869" y="2358453"/>
            <a:ext cx="7093131" cy="3852527"/>
          </a:xfrm>
          <a:prstGeom prst="rect">
            <a:avLst/>
          </a:prstGeom>
        </p:spPr>
      </p:pic>
      <p:pic>
        <p:nvPicPr>
          <p:cNvPr id="5" name="图片 4"/>
          <p:cNvPicPr>
            <a:picLocks noChangeAspect="1"/>
          </p:cNvPicPr>
          <p:nvPr/>
        </p:nvPicPr>
        <p:blipFill>
          <a:blip r:embed="rId4"/>
          <a:stretch>
            <a:fillRect/>
          </a:stretch>
        </p:blipFill>
        <p:spPr>
          <a:xfrm>
            <a:off x="4326255" y="3072356"/>
            <a:ext cx="4514850" cy="295275"/>
          </a:xfrm>
          <a:prstGeom prst="rect">
            <a:avLst/>
          </a:prstGeom>
        </p:spPr>
      </p:pic>
      <p:pic>
        <p:nvPicPr>
          <p:cNvPr id="6" name="图片 5"/>
          <p:cNvPicPr>
            <a:picLocks noChangeAspect="1"/>
          </p:cNvPicPr>
          <p:nvPr/>
        </p:nvPicPr>
        <p:blipFill>
          <a:blip r:embed="rId5"/>
          <a:stretch>
            <a:fillRect/>
          </a:stretch>
        </p:blipFill>
        <p:spPr>
          <a:xfrm>
            <a:off x="449580" y="2037665"/>
            <a:ext cx="7388134" cy="4166036"/>
          </a:xfrm>
          <a:prstGeom prst="rect">
            <a:avLst/>
          </a:prstGeom>
        </p:spPr>
      </p:pic>
      <p:pic>
        <p:nvPicPr>
          <p:cNvPr id="7" name="图片 6"/>
          <p:cNvPicPr>
            <a:picLocks noChangeAspect="1"/>
          </p:cNvPicPr>
          <p:nvPr/>
        </p:nvPicPr>
        <p:blipFill>
          <a:blip r:embed="rId6"/>
          <a:stretch>
            <a:fillRect/>
          </a:stretch>
        </p:blipFill>
        <p:spPr>
          <a:xfrm>
            <a:off x="2497183" y="5743132"/>
            <a:ext cx="4924425" cy="314325"/>
          </a:xfrm>
          <a:prstGeom prst="rect">
            <a:avLst/>
          </a:prstGeom>
        </p:spPr>
      </p:pic>
      <p:sp>
        <p:nvSpPr>
          <p:cNvPr id="8"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9" name="矩形 8"/>
          <p:cNvSpPr/>
          <p:nvPr/>
        </p:nvSpPr>
        <p:spPr>
          <a:xfrm>
            <a:off x="6035040" y="824936"/>
            <a:ext cx="2846312" cy="461665"/>
          </a:xfrm>
          <a:prstGeom prst="rect">
            <a:avLst/>
          </a:prstGeom>
        </p:spPr>
        <p:txBody>
          <a:bodyPr wrap="square">
            <a:spAutoFit/>
          </a:bodyPr>
          <a:lstStyle/>
          <a:p>
            <a:pPr marL="342900" indent="-342900">
              <a:buFont typeface="Wingdings" panose="05000000000000000000" pitchFamily="2" charset="2"/>
              <a:buChar char="p"/>
            </a:pPr>
            <a:r>
              <a:rPr lang="zh-CN" altLang="en-US" sz="2400" dirty="0" smtClean="0">
                <a:solidFill>
                  <a:srgbClr val="3402C2"/>
                </a:solidFill>
                <a:latin typeface="黑体" panose="02010609060101010101" pitchFamily="1" charset="-122"/>
                <a:ea typeface="黑体" panose="02010609060101010101" pitchFamily="1" charset="-122"/>
                <a:cs typeface="+mn-ea"/>
                <a:sym typeface="Wingdings 2" panose="05020102010507070707" charset="0"/>
              </a:rPr>
              <a:t>数据库</a:t>
            </a:r>
            <a:r>
              <a:rPr lang="zh-CN" altLang="en-US" sz="2400" dirty="0" smtClean="0">
                <a:solidFill>
                  <a:srgbClr val="3402C2"/>
                </a:solidFill>
                <a:latin typeface="黑体" panose="02010609060101010101" pitchFamily="1" charset="-122"/>
                <a:ea typeface="黑体" panose="02010609060101010101" pitchFamily="1" charset="-122"/>
                <a:sym typeface="Wingdings 2" panose="05020102010507070707" charset="0"/>
              </a:rPr>
              <a:t>镜像技术</a:t>
            </a:r>
            <a:endParaRPr lang="zh-CN" altLang="en-US" sz="2400" dirty="0"/>
          </a:p>
        </p:txBody>
      </p:sp>
      <p:sp>
        <p:nvSpPr>
          <p:cNvPr id="10" name="Rectangle 7"/>
          <p:cNvSpPr/>
          <p:nvPr/>
        </p:nvSpPr>
        <p:spPr>
          <a:xfrm>
            <a:off x="501650" y="728232"/>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4</a:t>
            </a:r>
            <a:r>
              <a:rPr lang="zh-CN" altLang="en-US" sz="2600" dirty="0" smtClean="0">
                <a:solidFill>
                  <a:srgbClr val="FF0000"/>
                </a:solidFill>
                <a:latin typeface="黑体" panose="02010609060101010101" pitchFamily="1" charset="-122"/>
                <a:ea typeface="黑体" panose="02010609060101010101" pitchFamily="1" charset="-122"/>
              </a:rPr>
              <a:t>、基于多副本的数据库恢复技术</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467404" y="1653543"/>
            <a:ext cx="6772275" cy="3733800"/>
          </a:xfrm>
          <a:prstGeom prst="rect">
            <a:avLst/>
          </a:prstGeom>
        </p:spPr>
      </p:pic>
      <p:pic>
        <p:nvPicPr>
          <p:cNvPr id="3" name="图片 2"/>
          <p:cNvPicPr>
            <a:picLocks noChangeAspect="1"/>
          </p:cNvPicPr>
          <p:nvPr/>
        </p:nvPicPr>
        <p:blipFill>
          <a:blip r:embed="rId2"/>
          <a:stretch>
            <a:fillRect/>
          </a:stretch>
        </p:blipFill>
        <p:spPr>
          <a:xfrm>
            <a:off x="467404" y="1371603"/>
            <a:ext cx="3089593" cy="281940"/>
          </a:xfrm>
          <a:prstGeom prst="rect">
            <a:avLst/>
          </a:prstGeom>
        </p:spPr>
      </p:pic>
      <p:pic>
        <p:nvPicPr>
          <p:cNvPr id="4" name="图片 3"/>
          <p:cNvPicPr>
            <a:picLocks noChangeAspect="1"/>
          </p:cNvPicPr>
          <p:nvPr/>
        </p:nvPicPr>
        <p:blipFill>
          <a:blip r:embed="rId3"/>
          <a:stretch>
            <a:fillRect/>
          </a:stretch>
        </p:blipFill>
        <p:spPr>
          <a:xfrm>
            <a:off x="2109787" y="2236334"/>
            <a:ext cx="6753225" cy="3952875"/>
          </a:xfrm>
          <a:prstGeom prst="rect">
            <a:avLst/>
          </a:prstGeom>
        </p:spPr>
      </p:pic>
      <p:pic>
        <p:nvPicPr>
          <p:cNvPr id="5" name="图片 4"/>
          <p:cNvPicPr>
            <a:picLocks noChangeAspect="1"/>
          </p:cNvPicPr>
          <p:nvPr/>
        </p:nvPicPr>
        <p:blipFill>
          <a:blip r:embed="rId4"/>
          <a:stretch>
            <a:fillRect/>
          </a:stretch>
        </p:blipFill>
        <p:spPr>
          <a:xfrm>
            <a:off x="5602185" y="2521132"/>
            <a:ext cx="3260827" cy="379775"/>
          </a:xfrm>
          <a:prstGeom prst="rect">
            <a:avLst/>
          </a:prstGeom>
        </p:spPr>
      </p:pic>
      <p:pic>
        <p:nvPicPr>
          <p:cNvPr id="6" name="图片 5"/>
          <p:cNvPicPr>
            <a:picLocks noChangeAspect="1"/>
          </p:cNvPicPr>
          <p:nvPr/>
        </p:nvPicPr>
        <p:blipFill>
          <a:blip r:embed="rId5"/>
          <a:stretch>
            <a:fillRect/>
          </a:stretch>
        </p:blipFill>
        <p:spPr>
          <a:xfrm>
            <a:off x="427485" y="2521132"/>
            <a:ext cx="6734175" cy="3476625"/>
          </a:xfrm>
          <a:prstGeom prst="rect">
            <a:avLst/>
          </a:prstGeom>
        </p:spPr>
      </p:pic>
      <p:pic>
        <p:nvPicPr>
          <p:cNvPr id="7" name="图片 6"/>
          <p:cNvPicPr>
            <a:picLocks noChangeAspect="1"/>
          </p:cNvPicPr>
          <p:nvPr/>
        </p:nvPicPr>
        <p:blipFill>
          <a:blip r:embed="rId6"/>
          <a:stretch>
            <a:fillRect/>
          </a:stretch>
        </p:blipFill>
        <p:spPr>
          <a:xfrm>
            <a:off x="2284952" y="2968074"/>
            <a:ext cx="4520795" cy="293558"/>
          </a:xfrm>
          <a:prstGeom prst="rect">
            <a:avLst/>
          </a:prstGeom>
        </p:spPr>
      </p:pic>
      <p:sp>
        <p:nvSpPr>
          <p:cNvPr id="8" name="矩形 7"/>
          <p:cNvSpPr/>
          <p:nvPr/>
        </p:nvSpPr>
        <p:spPr>
          <a:xfrm>
            <a:off x="6035040" y="824936"/>
            <a:ext cx="2846312" cy="461665"/>
          </a:xfrm>
          <a:prstGeom prst="rect">
            <a:avLst/>
          </a:prstGeom>
        </p:spPr>
        <p:txBody>
          <a:bodyPr wrap="square">
            <a:spAutoFit/>
          </a:bodyPr>
          <a:lstStyle/>
          <a:p>
            <a:pPr marL="342900" indent="-342900">
              <a:buFont typeface="Wingdings" panose="05000000000000000000" pitchFamily="2" charset="2"/>
              <a:buChar char="p"/>
            </a:pPr>
            <a:r>
              <a:rPr lang="zh-CN" altLang="en-US" sz="2400" dirty="0" smtClean="0">
                <a:solidFill>
                  <a:srgbClr val="3402C2"/>
                </a:solidFill>
                <a:latin typeface="黑体" panose="02010609060101010101" pitchFamily="1" charset="-122"/>
                <a:ea typeface="黑体" panose="02010609060101010101" pitchFamily="1" charset="-122"/>
                <a:cs typeface="+mn-ea"/>
                <a:sym typeface="Wingdings 2" panose="05020102010507070707" charset="0"/>
              </a:rPr>
              <a:t>数据库</a:t>
            </a:r>
            <a:r>
              <a:rPr lang="zh-CN" altLang="en-US" sz="2400" dirty="0" smtClean="0">
                <a:solidFill>
                  <a:srgbClr val="3402C2"/>
                </a:solidFill>
                <a:latin typeface="黑体" panose="02010609060101010101" pitchFamily="1" charset="-122"/>
                <a:ea typeface="黑体" panose="02010609060101010101" pitchFamily="1" charset="-122"/>
                <a:sym typeface="Wingdings 2" panose="05020102010507070707" charset="0"/>
              </a:rPr>
              <a:t>镜像技术</a:t>
            </a:r>
            <a:endParaRPr lang="zh-CN" altLang="en-US" sz="2400" dirty="0"/>
          </a:p>
        </p:txBody>
      </p:sp>
      <p:sp>
        <p:nvSpPr>
          <p:cNvPr id="9" name="Rectangle 7"/>
          <p:cNvSpPr/>
          <p:nvPr/>
        </p:nvSpPr>
        <p:spPr>
          <a:xfrm>
            <a:off x="501650" y="728232"/>
            <a:ext cx="5219881"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4</a:t>
            </a:r>
            <a:r>
              <a:rPr lang="zh-CN" altLang="en-US" sz="2600" dirty="0" smtClean="0">
                <a:solidFill>
                  <a:srgbClr val="FF0000"/>
                </a:solidFill>
                <a:latin typeface="黑体" panose="02010609060101010101" pitchFamily="1" charset="-122"/>
                <a:ea typeface="黑体" panose="02010609060101010101" pitchFamily="1" charset="-122"/>
              </a:rPr>
              <a:t>、基于多副本的数据库恢复技术</a:t>
            </a:r>
            <a:endParaRPr lang="en-US" altLang="x-none" sz="2600" dirty="0">
              <a:solidFill>
                <a:srgbClr val="3402C2"/>
              </a:solidFill>
              <a:latin typeface="黑体" panose="02010609060101010101" pitchFamily="1" charset="-122"/>
              <a:ea typeface="黑体" panose="02010609060101010101" pitchFamily="1" charset="-122"/>
            </a:endParaRPr>
          </a:p>
        </p:txBody>
      </p:sp>
      <p:sp>
        <p:nvSpPr>
          <p:cNvPr id="10"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506458" y="1631490"/>
            <a:ext cx="7791450" cy="4248150"/>
          </a:xfrm>
          <a:prstGeom prst="rect">
            <a:avLst/>
          </a:prstGeom>
        </p:spPr>
      </p:pic>
      <p:pic>
        <p:nvPicPr>
          <p:cNvPr id="3" name="图片 2"/>
          <p:cNvPicPr>
            <a:picLocks noChangeAspect="1"/>
          </p:cNvPicPr>
          <p:nvPr/>
        </p:nvPicPr>
        <p:blipFill>
          <a:blip r:embed="rId2"/>
          <a:stretch>
            <a:fillRect/>
          </a:stretch>
        </p:blipFill>
        <p:spPr>
          <a:xfrm>
            <a:off x="506458" y="1288590"/>
            <a:ext cx="4210050" cy="342900"/>
          </a:xfrm>
          <a:prstGeom prst="rect">
            <a:avLst/>
          </a:prstGeom>
        </p:spPr>
      </p:pic>
      <p:pic>
        <p:nvPicPr>
          <p:cNvPr id="4" name="图片 3"/>
          <p:cNvPicPr>
            <a:picLocks noChangeAspect="1"/>
          </p:cNvPicPr>
          <p:nvPr/>
        </p:nvPicPr>
        <p:blipFill>
          <a:blip r:embed="rId3"/>
          <a:stretch>
            <a:fillRect/>
          </a:stretch>
        </p:blipFill>
        <p:spPr>
          <a:xfrm>
            <a:off x="1219063" y="1854789"/>
            <a:ext cx="7724775" cy="4219575"/>
          </a:xfrm>
          <a:prstGeom prst="rect">
            <a:avLst/>
          </a:prstGeom>
        </p:spPr>
      </p:pic>
      <p:pic>
        <p:nvPicPr>
          <p:cNvPr id="5" name="图片 4"/>
          <p:cNvPicPr>
            <a:picLocks noChangeAspect="1"/>
          </p:cNvPicPr>
          <p:nvPr/>
        </p:nvPicPr>
        <p:blipFill>
          <a:blip r:embed="rId4"/>
          <a:stretch>
            <a:fillRect/>
          </a:stretch>
        </p:blipFill>
        <p:spPr>
          <a:xfrm>
            <a:off x="197100" y="2121489"/>
            <a:ext cx="7743825" cy="3981450"/>
          </a:xfrm>
          <a:prstGeom prst="rect">
            <a:avLst/>
          </a:prstGeom>
        </p:spPr>
      </p:pic>
      <p:sp>
        <p:nvSpPr>
          <p:cNvPr id="6"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7" name="矩形 6"/>
          <p:cNvSpPr/>
          <p:nvPr/>
        </p:nvSpPr>
        <p:spPr>
          <a:xfrm>
            <a:off x="6035040" y="824936"/>
            <a:ext cx="2846312" cy="461665"/>
          </a:xfrm>
          <a:prstGeom prst="rect">
            <a:avLst/>
          </a:prstGeom>
        </p:spPr>
        <p:txBody>
          <a:bodyPr wrap="square">
            <a:spAutoFit/>
          </a:bodyPr>
          <a:lstStyle/>
          <a:p>
            <a:pPr marL="342900" indent="-342900">
              <a:buFont typeface="Wingdings" panose="05000000000000000000" pitchFamily="2" charset="2"/>
              <a:buChar char="p"/>
            </a:pPr>
            <a:r>
              <a:rPr lang="zh-CN" altLang="en-US" sz="2400" dirty="0" smtClean="0">
                <a:solidFill>
                  <a:srgbClr val="3402C2"/>
                </a:solidFill>
                <a:latin typeface="黑体" panose="02010609060101010101" pitchFamily="1" charset="-122"/>
                <a:ea typeface="黑体" panose="02010609060101010101" pitchFamily="1" charset="-122"/>
                <a:cs typeface="+mn-ea"/>
                <a:sym typeface="Wingdings 2" panose="05020102010507070707" charset="0"/>
              </a:rPr>
              <a:t>数据库</a:t>
            </a:r>
            <a:r>
              <a:rPr lang="zh-CN" altLang="en-US" sz="2400" dirty="0" smtClean="0">
                <a:solidFill>
                  <a:srgbClr val="3402C2"/>
                </a:solidFill>
                <a:latin typeface="黑体" panose="02010609060101010101" pitchFamily="1" charset="-122"/>
                <a:ea typeface="黑体" panose="02010609060101010101" pitchFamily="1" charset="-122"/>
                <a:sym typeface="Wingdings 2" panose="05020102010507070707" charset="0"/>
              </a:rPr>
              <a:t>镜像技术</a:t>
            </a:r>
            <a:endParaRPr lang="zh-CN" altLang="en-US" sz="2400" dirty="0"/>
          </a:p>
        </p:txBody>
      </p:sp>
      <p:sp>
        <p:nvSpPr>
          <p:cNvPr id="8" name="Rectangle 7"/>
          <p:cNvSpPr/>
          <p:nvPr/>
        </p:nvSpPr>
        <p:spPr>
          <a:xfrm>
            <a:off x="501650" y="728232"/>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4</a:t>
            </a:r>
            <a:r>
              <a:rPr lang="zh-CN" altLang="en-US" sz="2600" dirty="0" smtClean="0">
                <a:solidFill>
                  <a:srgbClr val="FF0000"/>
                </a:solidFill>
                <a:latin typeface="黑体" panose="02010609060101010101" pitchFamily="1" charset="-122"/>
                <a:ea typeface="黑体" panose="02010609060101010101" pitchFamily="1" charset="-122"/>
              </a:rPr>
              <a:t>、基于多副本的数据库恢复技术</a:t>
            </a:r>
            <a:endParaRPr lang="en-US" altLang="x-none" sz="2600" dirty="0">
              <a:solidFill>
                <a:srgbClr val="3402C2"/>
              </a:solidFill>
              <a:latin typeface="黑体" panose="02010609060101010101" pitchFamily="1" charset="-122"/>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557620" y="1712189"/>
            <a:ext cx="7162528" cy="4094136"/>
          </a:xfrm>
          <a:prstGeom prst="rect">
            <a:avLst/>
          </a:prstGeom>
        </p:spPr>
      </p:pic>
      <p:pic>
        <p:nvPicPr>
          <p:cNvPr id="3" name="图片 2"/>
          <p:cNvPicPr>
            <a:picLocks noChangeAspect="1"/>
          </p:cNvPicPr>
          <p:nvPr/>
        </p:nvPicPr>
        <p:blipFill>
          <a:blip r:embed="rId2"/>
          <a:stretch>
            <a:fillRect/>
          </a:stretch>
        </p:blipFill>
        <p:spPr>
          <a:xfrm>
            <a:off x="557620" y="1358540"/>
            <a:ext cx="5975449" cy="353649"/>
          </a:xfrm>
          <a:prstGeom prst="rect">
            <a:avLst/>
          </a:prstGeom>
        </p:spPr>
      </p:pic>
      <p:pic>
        <p:nvPicPr>
          <p:cNvPr id="4" name="图片 3"/>
          <p:cNvPicPr>
            <a:picLocks noChangeAspect="1"/>
          </p:cNvPicPr>
          <p:nvPr/>
        </p:nvPicPr>
        <p:blipFill>
          <a:blip r:embed="rId3"/>
          <a:stretch>
            <a:fillRect/>
          </a:stretch>
        </p:blipFill>
        <p:spPr>
          <a:xfrm>
            <a:off x="2152514" y="2162465"/>
            <a:ext cx="6772275" cy="3762375"/>
          </a:xfrm>
          <a:prstGeom prst="rect">
            <a:avLst/>
          </a:prstGeom>
        </p:spPr>
      </p:pic>
      <p:pic>
        <p:nvPicPr>
          <p:cNvPr id="5" name="图片 4"/>
          <p:cNvPicPr>
            <a:picLocks noChangeAspect="1"/>
          </p:cNvPicPr>
          <p:nvPr/>
        </p:nvPicPr>
        <p:blipFill>
          <a:blip r:embed="rId4"/>
          <a:stretch>
            <a:fillRect/>
          </a:stretch>
        </p:blipFill>
        <p:spPr>
          <a:xfrm>
            <a:off x="444956" y="2821577"/>
            <a:ext cx="6200775" cy="3200400"/>
          </a:xfrm>
          <a:prstGeom prst="rect">
            <a:avLst/>
          </a:prstGeom>
        </p:spPr>
      </p:pic>
      <p:pic>
        <p:nvPicPr>
          <p:cNvPr id="6" name="图片 5"/>
          <p:cNvPicPr>
            <a:picLocks noChangeAspect="1"/>
          </p:cNvPicPr>
          <p:nvPr/>
        </p:nvPicPr>
        <p:blipFill>
          <a:blip r:embed="rId5"/>
          <a:stretch>
            <a:fillRect/>
          </a:stretch>
        </p:blipFill>
        <p:spPr>
          <a:xfrm>
            <a:off x="2010863" y="2497727"/>
            <a:ext cx="6115050" cy="3524250"/>
          </a:xfrm>
          <a:prstGeom prst="rect">
            <a:avLst/>
          </a:prstGeom>
        </p:spPr>
      </p:pic>
      <p:pic>
        <p:nvPicPr>
          <p:cNvPr id="7" name="图片 6"/>
          <p:cNvPicPr>
            <a:picLocks noChangeAspect="1"/>
          </p:cNvPicPr>
          <p:nvPr/>
        </p:nvPicPr>
        <p:blipFill>
          <a:blip r:embed="rId6"/>
          <a:stretch>
            <a:fillRect/>
          </a:stretch>
        </p:blipFill>
        <p:spPr>
          <a:xfrm>
            <a:off x="2808515" y="1827992"/>
            <a:ext cx="6257925" cy="3000375"/>
          </a:xfrm>
          <a:prstGeom prst="rect">
            <a:avLst/>
          </a:prstGeom>
        </p:spPr>
      </p:pic>
      <p:pic>
        <p:nvPicPr>
          <p:cNvPr id="8" name="图片 7"/>
          <p:cNvPicPr>
            <a:picLocks noChangeAspect="1"/>
          </p:cNvPicPr>
          <p:nvPr/>
        </p:nvPicPr>
        <p:blipFill>
          <a:blip r:embed="rId7"/>
          <a:stretch>
            <a:fillRect/>
          </a:stretch>
        </p:blipFill>
        <p:spPr>
          <a:xfrm>
            <a:off x="643345" y="1827992"/>
            <a:ext cx="6115050" cy="4533900"/>
          </a:xfrm>
          <a:prstGeom prst="rect">
            <a:avLst/>
          </a:prstGeom>
        </p:spPr>
      </p:pic>
      <p:pic>
        <p:nvPicPr>
          <p:cNvPr id="9" name="图片 8"/>
          <p:cNvPicPr>
            <a:picLocks noChangeAspect="1"/>
          </p:cNvPicPr>
          <p:nvPr/>
        </p:nvPicPr>
        <p:blipFill>
          <a:blip r:embed="rId8"/>
          <a:stretch>
            <a:fillRect/>
          </a:stretch>
        </p:blipFill>
        <p:spPr>
          <a:xfrm>
            <a:off x="2276339" y="1819564"/>
            <a:ext cx="5991225" cy="4448175"/>
          </a:xfrm>
          <a:prstGeom prst="rect">
            <a:avLst/>
          </a:prstGeom>
        </p:spPr>
      </p:pic>
      <p:pic>
        <p:nvPicPr>
          <p:cNvPr id="10" name="图片 9"/>
          <p:cNvPicPr>
            <a:picLocks noChangeAspect="1"/>
          </p:cNvPicPr>
          <p:nvPr/>
        </p:nvPicPr>
        <p:blipFill>
          <a:blip r:embed="rId9"/>
          <a:stretch>
            <a:fillRect/>
          </a:stretch>
        </p:blipFill>
        <p:spPr>
          <a:xfrm>
            <a:off x="2882197" y="1606897"/>
            <a:ext cx="6048375" cy="4695825"/>
          </a:xfrm>
          <a:prstGeom prst="rect">
            <a:avLst/>
          </a:prstGeom>
        </p:spPr>
      </p:pic>
      <p:pic>
        <p:nvPicPr>
          <p:cNvPr id="11" name="图片 10"/>
          <p:cNvPicPr>
            <a:picLocks noChangeAspect="1"/>
          </p:cNvPicPr>
          <p:nvPr/>
        </p:nvPicPr>
        <p:blipFill>
          <a:blip r:embed="rId10"/>
          <a:stretch>
            <a:fillRect/>
          </a:stretch>
        </p:blipFill>
        <p:spPr>
          <a:xfrm>
            <a:off x="2315806" y="1564119"/>
            <a:ext cx="6557616" cy="4781380"/>
          </a:xfrm>
          <a:prstGeom prst="rect">
            <a:avLst/>
          </a:prstGeom>
        </p:spPr>
      </p:pic>
      <p:pic>
        <p:nvPicPr>
          <p:cNvPr id="12" name="图片 11"/>
          <p:cNvPicPr>
            <a:picLocks noChangeAspect="1"/>
          </p:cNvPicPr>
          <p:nvPr/>
        </p:nvPicPr>
        <p:blipFill>
          <a:blip r:embed="rId11"/>
          <a:stretch>
            <a:fillRect/>
          </a:stretch>
        </p:blipFill>
        <p:spPr>
          <a:xfrm>
            <a:off x="1774950" y="1449978"/>
            <a:ext cx="6417238" cy="4895522"/>
          </a:xfrm>
          <a:prstGeom prst="rect">
            <a:avLst/>
          </a:prstGeom>
        </p:spPr>
      </p:pic>
      <p:pic>
        <p:nvPicPr>
          <p:cNvPr id="13" name="图片 12"/>
          <p:cNvPicPr>
            <a:picLocks noChangeAspect="1"/>
          </p:cNvPicPr>
          <p:nvPr/>
        </p:nvPicPr>
        <p:blipFill>
          <a:blip r:embed="rId12"/>
          <a:stretch>
            <a:fillRect/>
          </a:stretch>
        </p:blipFill>
        <p:spPr>
          <a:xfrm>
            <a:off x="2808515" y="1359091"/>
            <a:ext cx="6240099" cy="4779857"/>
          </a:xfrm>
          <a:prstGeom prst="rect">
            <a:avLst/>
          </a:prstGeom>
        </p:spPr>
      </p:pic>
      <p:sp>
        <p:nvSpPr>
          <p:cNvPr id="14" name="矩形 13"/>
          <p:cNvSpPr/>
          <p:nvPr/>
        </p:nvSpPr>
        <p:spPr>
          <a:xfrm>
            <a:off x="6035040" y="824936"/>
            <a:ext cx="2846312" cy="461665"/>
          </a:xfrm>
          <a:prstGeom prst="rect">
            <a:avLst/>
          </a:prstGeom>
        </p:spPr>
        <p:txBody>
          <a:bodyPr wrap="square">
            <a:spAutoFit/>
          </a:bodyPr>
          <a:lstStyle/>
          <a:p>
            <a:pPr marL="342900" indent="-342900">
              <a:buFont typeface="Wingdings" panose="05000000000000000000" pitchFamily="2" charset="2"/>
              <a:buChar char="p"/>
            </a:pPr>
            <a:r>
              <a:rPr lang="zh-CN" altLang="en-US" sz="2400" dirty="0" smtClean="0">
                <a:solidFill>
                  <a:srgbClr val="3402C2"/>
                </a:solidFill>
                <a:latin typeface="黑体" panose="02010609060101010101" pitchFamily="1" charset="-122"/>
                <a:ea typeface="黑体" panose="02010609060101010101" pitchFamily="1" charset="-122"/>
                <a:cs typeface="+mn-ea"/>
                <a:sym typeface="Wingdings 2" panose="05020102010507070707" charset="0"/>
              </a:rPr>
              <a:t>数据库</a:t>
            </a:r>
            <a:r>
              <a:rPr lang="zh-CN" altLang="en-US" sz="2400" dirty="0" smtClean="0">
                <a:solidFill>
                  <a:srgbClr val="3402C2"/>
                </a:solidFill>
                <a:latin typeface="黑体" panose="02010609060101010101" pitchFamily="1" charset="-122"/>
                <a:ea typeface="黑体" panose="02010609060101010101" pitchFamily="1" charset="-122"/>
                <a:sym typeface="Wingdings 2" panose="05020102010507070707" charset="0"/>
              </a:rPr>
              <a:t>镜像技术</a:t>
            </a:r>
            <a:endParaRPr lang="zh-CN" altLang="en-US" sz="2400" dirty="0"/>
          </a:p>
        </p:txBody>
      </p:sp>
      <p:sp>
        <p:nvSpPr>
          <p:cNvPr id="15" name="Rectangle 7"/>
          <p:cNvSpPr/>
          <p:nvPr/>
        </p:nvSpPr>
        <p:spPr>
          <a:xfrm>
            <a:off x="501650" y="728232"/>
            <a:ext cx="5219881"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4</a:t>
            </a:r>
            <a:r>
              <a:rPr lang="zh-CN" altLang="en-US" sz="2600" dirty="0" smtClean="0">
                <a:solidFill>
                  <a:srgbClr val="FF0000"/>
                </a:solidFill>
                <a:latin typeface="黑体" panose="02010609060101010101" pitchFamily="1" charset="-122"/>
                <a:ea typeface="黑体" panose="02010609060101010101" pitchFamily="1" charset="-122"/>
              </a:rPr>
              <a:t>、基于多副本的数据库恢复技术</a:t>
            </a:r>
            <a:endParaRPr lang="en-US" altLang="x-none" sz="2600" dirty="0">
              <a:solidFill>
                <a:srgbClr val="3402C2"/>
              </a:solidFill>
              <a:latin typeface="黑体" panose="02010609060101010101" pitchFamily="1" charset="-122"/>
              <a:ea typeface="黑体" panose="02010609060101010101" pitchFamily="1" charset="-122"/>
            </a:endParaRPr>
          </a:p>
        </p:txBody>
      </p:sp>
      <p:sp>
        <p:nvSpPr>
          <p:cNvPr id="16"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500" fill="hold"/>
                                        <p:tgtEl>
                                          <p:spTgt spid="11"/>
                                        </p:tgtEl>
                                        <p:attrNameLst>
                                          <p:attrName>ppt_x</p:attrName>
                                        </p:attrNameLst>
                                      </p:cBhvr>
                                      <p:tavLst>
                                        <p:tav tm="0">
                                          <p:val>
                                            <p:strVal val="#ppt_x"/>
                                          </p:val>
                                        </p:tav>
                                        <p:tav tm="100000">
                                          <p:val>
                                            <p:strVal val="#ppt_x"/>
                                          </p:val>
                                        </p:tav>
                                      </p:tavLst>
                                    </p:anim>
                                    <p:anim calcmode="lin" valueType="num">
                                      <p:cBhvr additive="base">
                                        <p:cTn id="5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ppt_x"/>
                                          </p:val>
                                        </p:tav>
                                        <p:tav tm="100000">
                                          <p:val>
                                            <p:strVal val="#ppt_x"/>
                                          </p:val>
                                        </p:tav>
                                      </p:tavLst>
                                    </p:anim>
                                    <p:anim calcmode="lin" valueType="num">
                                      <p:cBhvr additive="base">
                                        <p:cTn id="5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anim calcmode="lin" valueType="num">
                                      <p:cBhvr additive="base">
                                        <p:cTn id="61" dur="500" fill="hold"/>
                                        <p:tgtEl>
                                          <p:spTgt spid="13"/>
                                        </p:tgtEl>
                                        <p:attrNameLst>
                                          <p:attrName>ppt_x</p:attrName>
                                        </p:attrNameLst>
                                      </p:cBhvr>
                                      <p:tavLst>
                                        <p:tav tm="0">
                                          <p:val>
                                            <p:strVal val="#ppt_x"/>
                                          </p:val>
                                        </p:tav>
                                        <p:tav tm="100000">
                                          <p:val>
                                            <p:strVal val="#ppt_x"/>
                                          </p:val>
                                        </p:tav>
                                      </p:tavLst>
                                    </p:anim>
                                    <p:anim calcmode="lin" valueType="num">
                                      <p:cBhvr additive="base">
                                        <p:cTn id="6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624043" y="1533114"/>
            <a:ext cx="6422530" cy="2373767"/>
          </a:xfrm>
          <a:prstGeom prst="rect">
            <a:avLst/>
          </a:prstGeom>
        </p:spPr>
      </p:pic>
      <p:pic>
        <p:nvPicPr>
          <p:cNvPr id="3" name="图片 2"/>
          <p:cNvPicPr>
            <a:picLocks noChangeAspect="1"/>
          </p:cNvPicPr>
          <p:nvPr/>
        </p:nvPicPr>
        <p:blipFill>
          <a:blip r:embed="rId2"/>
          <a:stretch>
            <a:fillRect/>
          </a:stretch>
        </p:blipFill>
        <p:spPr>
          <a:xfrm>
            <a:off x="1365476" y="2287836"/>
            <a:ext cx="7458075" cy="2905125"/>
          </a:xfrm>
          <a:prstGeom prst="rect">
            <a:avLst/>
          </a:prstGeom>
        </p:spPr>
      </p:pic>
      <p:pic>
        <p:nvPicPr>
          <p:cNvPr id="4" name="图片 3"/>
          <p:cNvPicPr>
            <a:picLocks noChangeAspect="1"/>
          </p:cNvPicPr>
          <p:nvPr/>
        </p:nvPicPr>
        <p:blipFill>
          <a:blip r:embed="rId3"/>
          <a:stretch>
            <a:fillRect/>
          </a:stretch>
        </p:blipFill>
        <p:spPr>
          <a:xfrm>
            <a:off x="602660" y="2964315"/>
            <a:ext cx="7696200" cy="3019425"/>
          </a:xfrm>
          <a:prstGeom prst="rect">
            <a:avLst/>
          </a:prstGeom>
        </p:spPr>
      </p:pic>
      <p:pic>
        <p:nvPicPr>
          <p:cNvPr id="5" name="图片 4"/>
          <p:cNvPicPr>
            <a:picLocks noChangeAspect="1"/>
          </p:cNvPicPr>
          <p:nvPr/>
        </p:nvPicPr>
        <p:blipFill>
          <a:blip r:embed="rId4"/>
          <a:stretch>
            <a:fillRect/>
          </a:stretch>
        </p:blipFill>
        <p:spPr>
          <a:xfrm>
            <a:off x="1365476" y="1411740"/>
            <a:ext cx="7772400" cy="4572000"/>
          </a:xfrm>
          <a:prstGeom prst="rect">
            <a:avLst/>
          </a:prstGeom>
        </p:spPr>
      </p:pic>
      <p:pic>
        <p:nvPicPr>
          <p:cNvPr id="6" name="图片 5"/>
          <p:cNvPicPr>
            <a:picLocks noChangeAspect="1"/>
          </p:cNvPicPr>
          <p:nvPr/>
        </p:nvPicPr>
        <p:blipFill>
          <a:blip r:embed="rId5"/>
          <a:stretch>
            <a:fillRect/>
          </a:stretch>
        </p:blipFill>
        <p:spPr>
          <a:xfrm>
            <a:off x="667293" y="2274977"/>
            <a:ext cx="7658100" cy="4019550"/>
          </a:xfrm>
          <a:prstGeom prst="rect">
            <a:avLst/>
          </a:prstGeom>
        </p:spPr>
      </p:pic>
      <p:pic>
        <p:nvPicPr>
          <p:cNvPr id="7" name="图片 6"/>
          <p:cNvPicPr>
            <a:picLocks noChangeAspect="1"/>
          </p:cNvPicPr>
          <p:nvPr/>
        </p:nvPicPr>
        <p:blipFill>
          <a:blip r:embed="rId6"/>
          <a:stretch>
            <a:fillRect/>
          </a:stretch>
        </p:blipFill>
        <p:spPr>
          <a:xfrm>
            <a:off x="633955" y="1290343"/>
            <a:ext cx="7724775" cy="4514850"/>
          </a:xfrm>
          <a:prstGeom prst="rect">
            <a:avLst/>
          </a:prstGeom>
        </p:spPr>
      </p:pic>
      <p:pic>
        <p:nvPicPr>
          <p:cNvPr id="8" name="图片 7"/>
          <p:cNvPicPr>
            <a:picLocks noChangeAspect="1"/>
          </p:cNvPicPr>
          <p:nvPr/>
        </p:nvPicPr>
        <p:blipFill>
          <a:blip r:embed="rId7"/>
          <a:stretch>
            <a:fillRect/>
          </a:stretch>
        </p:blipFill>
        <p:spPr>
          <a:xfrm>
            <a:off x="2322738" y="1430585"/>
            <a:ext cx="6734175" cy="4619625"/>
          </a:xfrm>
          <a:prstGeom prst="rect">
            <a:avLst/>
          </a:prstGeom>
        </p:spPr>
      </p:pic>
      <p:pic>
        <p:nvPicPr>
          <p:cNvPr id="9" name="图片 8"/>
          <p:cNvPicPr>
            <a:picLocks noChangeAspect="1"/>
          </p:cNvPicPr>
          <p:nvPr/>
        </p:nvPicPr>
        <p:blipFill>
          <a:blip r:embed="rId8"/>
          <a:stretch>
            <a:fillRect/>
          </a:stretch>
        </p:blipFill>
        <p:spPr>
          <a:xfrm>
            <a:off x="633955" y="3632789"/>
            <a:ext cx="8470583" cy="2710587"/>
          </a:xfrm>
          <a:prstGeom prst="rect">
            <a:avLst/>
          </a:prstGeom>
        </p:spPr>
      </p:pic>
      <p:pic>
        <p:nvPicPr>
          <p:cNvPr id="10" name="图片 9"/>
          <p:cNvPicPr>
            <a:picLocks noChangeAspect="1"/>
          </p:cNvPicPr>
          <p:nvPr/>
        </p:nvPicPr>
        <p:blipFill>
          <a:blip r:embed="rId9"/>
          <a:stretch>
            <a:fillRect/>
          </a:stretch>
        </p:blipFill>
        <p:spPr>
          <a:xfrm>
            <a:off x="633730" y="1441450"/>
            <a:ext cx="7807325" cy="4902835"/>
          </a:xfrm>
          <a:prstGeom prst="rect">
            <a:avLst/>
          </a:prstGeom>
        </p:spPr>
      </p:pic>
      <p:sp>
        <p:nvSpPr>
          <p:cNvPr id="11" name="矩形 10"/>
          <p:cNvSpPr/>
          <p:nvPr/>
        </p:nvSpPr>
        <p:spPr>
          <a:xfrm>
            <a:off x="6035040" y="824936"/>
            <a:ext cx="2846312" cy="461665"/>
          </a:xfrm>
          <a:prstGeom prst="rect">
            <a:avLst/>
          </a:prstGeom>
        </p:spPr>
        <p:txBody>
          <a:bodyPr wrap="square">
            <a:spAutoFit/>
          </a:bodyPr>
          <a:lstStyle/>
          <a:p>
            <a:pPr marL="342900" indent="-342900">
              <a:buFont typeface="Wingdings" panose="05000000000000000000" pitchFamily="2" charset="2"/>
              <a:buChar char="p"/>
            </a:pPr>
            <a:r>
              <a:rPr lang="zh-CN" altLang="en-US" sz="2400" dirty="0" smtClean="0">
                <a:solidFill>
                  <a:srgbClr val="3402C2"/>
                </a:solidFill>
                <a:latin typeface="黑体" panose="02010609060101010101" pitchFamily="1" charset="-122"/>
                <a:ea typeface="黑体" panose="02010609060101010101" pitchFamily="1" charset="-122"/>
                <a:cs typeface="+mn-ea"/>
                <a:sym typeface="Wingdings 2" panose="05020102010507070707" charset="0"/>
              </a:rPr>
              <a:t>数据库</a:t>
            </a:r>
            <a:r>
              <a:rPr lang="zh-CN" altLang="en-US" sz="2400" dirty="0" smtClean="0">
                <a:solidFill>
                  <a:srgbClr val="3402C2"/>
                </a:solidFill>
                <a:latin typeface="黑体" panose="02010609060101010101" pitchFamily="1" charset="-122"/>
                <a:ea typeface="黑体" panose="02010609060101010101" pitchFamily="1" charset="-122"/>
                <a:sym typeface="Wingdings 2" panose="05020102010507070707" charset="0"/>
              </a:rPr>
              <a:t>镜像技术</a:t>
            </a:r>
            <a:endParaRPr lang="zh-CN" altLang="en-US" sz="2400" dirty="0"/>
          </a:p>
        </p:txBody>
      </p:sp>
      <p:sp>
        <p:nvSpPr>
          <p:cNvPr id="12" name="Rectangle 7"/>
          <p:cNvSpPr/>
          <p:nvPr/>
        </p:nvSpPr>
        <p:spPr>
          <a:xfrm>
            <a:off x="501650" y="728232"/>
            <a:ext cx="5219881"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4</a:t>
            </a:r>
            <a:r>
              <a:rPr lang="zh-CN" altLang="en-US" sz="2600" dirty="0" smtClean="0">
                <a:solidFill>
                  <a:srgbClr val="FF0000"/>
                </a:solidFill>
                <a:latin typeface="黑体" panose="02010609060101010101" pitchFamily="1" charset="-122"/>
                <a:ea typeface="黑体" panose="02010609060101010101" pitchFamily="1" charset="-122"/>
              </a:rPr>
              <a:t>、基于多副本的数据库恢复技术</a:t>
            </a:r>
            <a:endParaRPr lang="en-US" altLang="x-none" sz="2600" dirty="0">
              <a:solidFill>
                <a:srgbClr val="3402C2"/>
              </a:solidFill>
              <a:latin typeface="黑体" panose="02010609060101010101" pitchFamily="1" charset="-122"/>
              <a:ea typeface="黑体" panose="02010609060101010101" pitchFamily="1" charset="-122"/>
            </a:endParaRPr>
          </a:p>
        </p:txBody>
      </p:sp>
      <p:sp>
        <p:nvSpPr>
          <p:cNvPr id="13"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500" fill="hold"/>
                                        <p:tgtEl>
                                          <p:spTgt spid="10"/>
                                        </p:tgtEl>
                                        <p:attrNameLst>
                                          <p:attrName>ppt_x</p:attrName>
                                        </p:attrNameLst>
                                      </p:cBhvr>
                                      <p:tavLst>
                                        <p:tav tm="0">
                                          <p:val>
                                            <p:strVal val="#ppt_x"/>
                                          </p:val>
                                        </p:tav>
                                        <p:tav tm="100000">
                                          <p:val>
                                            <p:strVal val="#ppt_x"/>
                                          </p:val>
                                        </p:tav>
                                      </p:tavLst>
                                    </p:anim>
                                    <p:anim calcmode="lin" valueType="num">
                                      <p:cBhvr additive="base">
                                        <p:cTn id="5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7200" y="682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
        <p:nvSpPr>
          <p:cNvPr id="3" name="Rectangle 7"/>
          <p:cNvSpPr/>
          <p:nvPr/>
        </p:nvSpPr>
        <p:spPr>
          <a:xfrm>
            <a:off x="501650" y="793547"/>
            <a:ext cx="6261100" cy="609600"/>
          </a:xfrm>
          <a:prstGeom prst="rect">
            <a:avLst/>
          </a:prstGeom>
          <a:noFill/>
          <a:ln w="9525">
            <a:noFill/>
          </a:ln>
        </p:spPr>
        <p:txBody>
          <a:bodyPr wrap="none" anchor="ctr"/>
          <a:lstStyle/>
          <a:p>
            <a:pPr lvl="0" indent="0" algn="just">
              <a:spcBef>
                <a:spcPct val="20000"/>
              </a:spcBef>
              <a:buClr>
                <a:schemeClr val="folHlink"/>
              </a:buClr>
              <a:buSzPct val="75000"/>
              <a:buFont typeface="Wingdings" panose="05000000000000000000" pitchFamily="2" charset="2"/>
              <a:buNone/>
            </a:pPr>
            <a:r>
              <a:rPr lang="en-US" altLang="x-none" sz="2600" dirty="0" smtClean="0">
                <a:solidFill>
                  <a:srgbClr val="FF0000"/>
                </a:solidFill>
                <a:latin typeface="黑体" panose="02010609060101010101" pitchFamily="1" charset="-122"/>
                <a:ea typeface="黑体" panose="02010609060101010101" pitchFamily="1" charset="-122"/>
              </a:rPr>
              <a:t>4</a:t>
            </a:r>
            <a:r>
              <a:rPr lang="zh-CN" altLang="en-US" sz="2600" dirty="0" smtClean="0">
                <a:solidFill>
                  <a:srgbClr val="FF0000"/>
                </a:solidFill>
                <a:latin typeface="黑体" panose="02010609060101010101" pitchFamily="1" charset="-122"/>
                <a:ea typeface="黑体" panose="02010609060101010101" pitchFamily="1" charset="-122"/>
              </a:rPr>
              <a:t>、基于多副本的数据库恢复技术</a:t>
            </a:r>
            <a:endParaRPr lang="en-US" altLang="x-none" sz="2600" dirty="0">
              <a:solidFill>
                <a:srgbClr val="3402C2"/>
              </a:solidFill>
              <a:latin typeface="黑体" panose="02010609060101010101" pitchFamily="1" charset="-122"/>
              <a:ea typeface="黑体" panose="02010609060101010101" pitchFamily="1" charset="-122"/>
            </a:endParaRPr>
          </a:p>
        </p:txBody>
      </p:sp>
      <p:graphicFrame>
        <p:nvGraphicFramePr>
          <p:cNvPr id="4" name="表格 3"/>
          <p:cNvGraphicFramePr>
            <a:graphicFrameLocks noGrp="1"/>
          </p:cNvGraphicFramePr>
          <p:nvPr/>
        </p:nvGraphicFramePr>
        <p:xfrm>
          <a:off x="529046" y="2012747"/>
          <a:ext cx="8275320" cy="3673510"/>
        </p:xfrm>
        <a:graphic>
          <a:graphicData uri="http://schemas.openxmlformats.org/drawingml/2006/table">
            <a:tbl>
              <a:tblPr/>
              <a:tblGrid>
                <a:gridCol w="600891"/>
                <a:gridCol w="999309"/>
                <a:gridCol w="3200400"/>
                <a:gridCol w="3474720"/>
              </a:tblGrid>
              <a:tr h="496710">
                <a:tc>
                  <a:txBody>
                    <a:bodyPr/>
                    <a:lstStyle/>
                    <a:p>
                      <a:pPr fontAlgn="t"/>
                      <a:r>
                        <a:rPr lang="en-US" altLang="zh-CN" sz="2000" dirty="0">
                          <a:effectLst/>
                        </a:rPr>
                        <a:t>1</a:t>
                      </a:r>
                      <a:endParaRPr lang="en-US" altLang="zh-CN" sz="2000" dirty="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zh-CN" altLang="en-US" sz="2000">
                          <a:effectLst/>
                        </a:rPr>
                        <a:t>定义</a:t>
                      </a:r>
                      <a:endParaRPr lang="zh-CN" altLang="en-US" sz="200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zh-CN" altLang="en-US" sz="2000">
                          <a:effectLst/>
                        </a:rPr>
                        <a:t>镜像是指将数据库副本保留在地理位置不同的位置。</a:t>
                      </a:r>
                      <a:endParaRPr lang="zh-CN" altLang="en-US" sz="200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zh-CN" altLang="en-US" sz="2000">
                          <a:effectLst/>
                        </a:rPr>
                        <a:t>复制是指创建数据库数据对象的多个副本以提高分发效率。</a:t>
                      </a:r>
                      <a:endParaRPr lang="zh-CN" altLang="en-US" sz="200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432339">
                <a:tc>
                  <a:txBody>
                    <a:bodyPr/>
                    <a:lstStyle/>
                    <a:p>
                      <a:pPr fontAlgn="t"/>
                      <a:r>
                        <a:rPr lang="en-US" altLang="zh-CN" sz="2000" dirty="0">
                          <a:effectLst/>
                        </a:rPr>
                        <a:t>2</a:t>
                      </a:r>
                      <a:endParaRPr lang="en-US" altLang="zh-CN" sz="2000" dirty="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zh-CN" altLang="en-US" sz="2000">
                          <a:effectLst/>
                        </a:rPr>
                        <a:t>目标</a:t>
                      </a:r>
                      <a:endParaRPr lang="zh-CN" altLang="en-US" sz="200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zh-CN" altLang="en-US" sz="2000">
                          <a:effectLst/>
                        </a:rPr>
                        <a:t>镜像适用于整个数据库。</a:t>
                      </a:r>
                      <a:endParaRPr lang="zh-CN" altLang="en-US" sz="200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zh-CN" altLang="en-US" sz="2000">
                          <a:effectLst/>
                        </a:rPr>
                        <a:t>复制是在数据库对象上完成的。</a:t>
                      </a:r>
                      <a:endParaRPr lang="zh-CN" altLang="en-US" sz="200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310459">
                <a:tc>
                  <a:txBody>
                    <a:bodyPr/>
                    <a:lstStyle/>
                    <a:p>
                      <a:pPr fontAlgn="t"/>
                      <a:r>
                        <a:rPr lang="en-US" altLang="zh-CN" sz="2000" dirty="0">
                          <a:effectLst/>
                        </a:rPr>
                        <a:t>3</a:t>
                      </a:r>
                      <a:endParaRPr lang="en-US" altLang="zh-CN" sz="2000" dirty="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zh-CN" altLang="en-US" sz="2000" dirty="0">
                          <a:effectLst/>
                        </a:rPr>
                        <a:t>成本</a:t>
                      </a:r>
                      <a:endParaRPr lang="zh-CN" altLang="en-US" sz="2000" dirty="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zh-CN" altLang="en-US" sz="2000">
                          <a:effectLst/>
                        </a:rPr>
                        <a:t>镜像比复制昂贵。</a:t>
                      </a:r>
                      <a:endParaRPr lang="zh-CN" altLang="en-US" sz="200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zh-CN" altLang="en-US" sz="2000">
                          <a:effectLst/>
                        </a:rPr>
                        <a:t>与镜像相比，复制便宜。</a:t>
                      </a:r>
                      <a:endParaRPr lang="zh-CN" altLang="en-US" sz="200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496710">
                <a:tc>
                  <a:txBody>
                    <a:bodyPr/>
                    <a:lstStyle/>
                    <a:p>
                      <a:pPr fontAlgn="t"/>
                      <a:r>
                        <a:rPr lang="en-US" altLang="zh-CN" sz="2000">
                          <a:effectLst/>
                        </a:rPr>
                        <a:t>4</a:t>
                      </a:r>
                      <a:endParaRPr lang="en-US" altLang="zh-CN" sz="200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zh-CN" altLang="en-US" sz="2000" dirty="0">
                          <a:effectLst/>
                        </a:rPr>
                        <a:t>分布式数据库</a:t>
                      </a:r>
                      <a:endParaRPr lang="zh-CN" altLang="en-US" sz="2000" dirty="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zh-CN" altLang="en-US" sz="2000">
                          <a:effectLst/>
                        </a:rPr>
                        <a:t>镜像不适用于分布式数据库。</a:t>
                      </a:r>
                      <a:endParaRPr lang="zh-CN" altLang="en-US" sz="200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zh-CN" altLang="en-US" sz="2000">
                          <a:effectLst/>
                        </a:rPr>
                        <a:t>如果是分布式数据库，则可以轻松实现复制。</a:t>
                      </a:r>
                      <a:endParaRPr lang="zh-CN" altLang="en-US" sz="200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797978">
                <a:tc>
                  <a:txBody>
                    <a:bodyPr/>
                    <a:lstStyle/>
                    <a:p>
                      <a:pPr fontAlgn="t"/>
                      <a:r>
                        <a:rPr lang="en-US" altLang="zh-CN" sz="2000">
                          <a:effectLst/>
                        </a:rPr>
                        <a:t>5</a:t>
                      </a:r>
                      <a:endParaRPr lang="en-US" altLang="zh-CN" sz="200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zh-CN" altLang="en-US" sz="2000" dirty="0">
                          <a:effectLst/>
                        </a:rPr>
                        <a:t>位置</a:t>
                      </a:r>
                      <a:endParaRPr lang="zh-CN" altLang="en-US" sz="2000" dirty="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zh-CN" altLang="en-US" sz="2000">
                          <a:effectLst/>
                        </a:rPr>
                        <a:t>进行镜像以在不同的硬件和不同的位置上创建数据库的副本以用作备份位置。</a:t>
                      </a:r>
                      <a:endParaRPr lang="zh-CN" altLang="en-US" sz="200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zh-CN" altLang="en-US" sz="2000" dirty="0">
                          <a:effectLst/>
                        </a:rPr>
                        <a:t>复制已完成，以创建数据库对象的副本，并且也可以将其复制到其他数据库。</a:t>
                      </a:r>
                      <a:endParaRPr lang="zh-CN" altLang="en-US" sz="2000" dirty="0">
                        <a:effectLst/>
                      </a:endParaRPr>
                    </a:p>
                  </a:txBody>
                  <a:tcPr marL="62551" marR="62551" marT="62551" marB="6255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bl>
          </a:graphicData>
        </a:graphic>
      </p:graphicFrame>
      <p:sp>
        <p:nvSpPr>
          <p:cNvPr id="5" name="矩形 4"/>
          <p:cNvSpPr/>
          <p:nvPr/>
        </p:nvSpPr>
        <p:spPr>
          <a:xfrm>
            <a:off x="529046" y="1436281"/>
            <a:ext cx="5070619" cy="430887"/>
          </a:xfrm>
          <a:prstGeom prst="rect">
            <a:avLst/>
          </a:prstGeom>
        </p:spPr>
        <p:txBody>
          <a:bodyPr wrap="none">
            <a:spAutoFit/>
          </a:bodyPr>
          <a:lstStyle/>
          <a:p>
            <a:pPr marL="342900" indent="-342900">
              <a:buFont typeface="Wingdings" panose="05000000000000000000" pitchFamily="2" charset="2"/>
              <a:buChar char="p"/>
            </a:pPr>
            <a:r>
              <a:rPr lang="zh-CN" altLang="en-US" sz="2200" dirty="0" smtClean="0">
                <a:solidFill>
                  <a:srgbClr val="3402C2"/>
                </a:solidFill>
                <a:latin typeface="宋体" panose="02010600030101010101" pitchFamily="2" charset="-122"/>
                <a:cs typeface="+mn-ea"/>
              </a:rPr>
              <a:t>数据库复制与数据库镜像技术的对比</a:t>
            </a:r>
            <a:endParaRPr lang="zh-CN" altLang="en-US" sz="2200" dirty="0"/>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7" name="Picture 4"/>
          <p:cNvPicPr>
            <a:picLocks noChangeAspect="1"/>
          </p:cNvPicPr>
          <p:nvPr/>
        </p:nvPicPr>
        <p:blipFill>
          <a:blip r:embed="rId1"/>
          <a:stretch>
            <a:fillRect/>
          </a:stretch>
        </p:blipFill>
        <p:spPr>
          <a:xfrm>
            <a:off x="3058795" y="1136650"/>
            <a:ext cx="5924550" cy="4730750"/>
          </a:xfrm>
          <a:prstGeom prst="rect">
            <a:avLst/>
          </a:prstGeom>
          <a:noFill/>
          <a:ln w="9525">
            <a:noFill/>
          </a:ln>
        </p:spPr>
      </p:pic>
      <p:sp>
        <p:nvSpPr>
          <p:cNvPr id="17412" name="Rectangle 5"/>
          <p:cNvSpPr/>
          <p:nvPr/>
        </p:nvSpPr>
        <p:spPr>
          <a:xfrm>
            <a:off x="424180" y="1897698"/>
            <a:ext cx="3248660" cy="3969385"/>
          </a:xfrm>
          <a:prstGeom prst="rect">
            <a:avLst/>
          </a:prstGeom>
          <a:noFill/>
          <a:ln w="9525">
            <a:noFill/>
          </a:ln>
        </p:spPr>
        <p:txBody>
          <a:bodyPr wrap="square" anchor="ctr">
            <a:spAutoFit/>
          </a:bodyPr>
          <a:lstStyle/>
          <a:p>
            <a:pPr lvl="0" eaLnBrk="0" fontAlgn="base" hangingPunct="0">
              <a:lnSpc>
                <a:spcPct val="100000"/>
              </a:lnSpc>
              <a:buNone/>
            </a:pPr>
            <a:r>
              <a:rPr lang="en-US" altLang="zh-CN" strike="noStrike" noProof="1">
                <a:latin typeface="Arial" panose="020B0604020202020204" pitchFamily="34" charset="0"/>
                <a:ea typeface="宋体" panose="02010600030101010101" pitchFamily="2" charset="-122"/>
                <a:cs typeface="+mn-ea"/>
              </a:rPr>
              <a:t>UMP</a:t>
            </a:r>
            <a:r>
              <a:rPr lang="zh-CN" altLang="en-US" strike="noStrike" noProof="1">
                <a:latin typeface="Arial" panose="020B0604020202020204" pitchFamily="34" charset="0"/>
                <a:ea typeface="宋体" panose="02010600030101010101" pitchFamily="2" charset="-122"/>
                <a:cs typeface="+mn-ea"/>
              </a:rPr>
              <a:t>系统中的角色包括：</a:t>
            </a:r>
            <a:endParaRPr lang="en-US" altLang="zh-CN" strike="noStrike" noProof="1">
              <a:latin typeface="Arial" panose="020B0604020202020204" pitchFamily="34" charset="0"/>
              <a:ea typeface="宋体" panose="02010600030101010101" pitchFamily="2" charset="-122"/>
            </a:endParaRPr>
          </a:p>
          <a:p>
            <a:pPr marL="285750" lvl="0" indent="-285750" eaLnBrk="0" fontAlgn="base" hangingPunct="0">
              <a:lnSpc>
                <a:spcPct val="100000"/>
              </a:lnSpc>
              <a:buFont typeface="Wingdings" panose="05000000000000000000" charset="0"/>
              <a:buChar char="ü"/>
            </a:pPr>
            <a:r>
              <a:rPr lang="en-US" altLang="zh-CN" strike="noStrike" noProof="1">
                <a:latin typeface="Arial" panose="020B0604020202020204" pitchFamily="34" charset="0"/>
                <a:ea typeface="宋体" panose="02010600030101010101" pitchFamily="2" charset="-122"/>
                <a:cs typeface="+mn-ea"/>
              </a:rPr>
              <a:t>Controller</a:t>
            </a:r>
            <a:r>
              <a:rPr lang="zh-CN" altLang="en-US" strike="noStrike" noProof="1">
                <a:latin typeface="Arial" panose="020B0604020202020204" pitchFamily="34" charset="0"/>
                <a:ea typeface="宋体" panose="02010600030101010101" pitchFamily="2" charset="-122"/>
                <a:cs typeface="+mn-ea"/>
              </a:rPr>
              <a:t>服务器</a:t>
            </a:r>
            <a:endParaRPr lang="en-US" altLang="zh-CN" strike="noStrike" noProof="1">
              <a:latin typeface="Arial" panose="020B0604020202020204" pitchFamily="34" charset="0"/>
              <a:ea typeface="宋体" panose="02010600030101010101" pitchFamily="2" charset="-122"/>
            </a:endParaRPr>
          </a:p>
          <a:p>
            <a:pPr marL="285750" lvl="0" indent="-285750" eaLnBrk="0" fontAlgn="base" hangingPunct="0">
              <a:lnSpc>
                <a:spcPct val="100000"/>
              </a:lnSpc>
              <a:buFont typeface="Wingdings" panose="05000000000000000000" charset="0"/>
              <a:buChar char="ü"/>
            </a:pPr>
            <a:r>
              <a:rPr lang="en-US" altLang="zh-CN" strike="noStrike" noProof="1">
                <a:latin typeface="Arial" panose="020B0604020202020204" pitchFamily="34" charset="0"/>
                <a:ea typeface="宋体" panose="02010600030101010101" pitchFamily="2" charset="-122"/>
                <a:cs typeface="+mn-ea"/>
              </a:rPr>
              <a:t>Proxy</a:t>
            </a:r>
            <a:r>
              <a:rPr lang="zh-CN" altLang="en-US" strike="noStrike" noProof="1">
                <a:latin typeface="Arial" panose="020B0604020202020204" pitchFamily="34" charset="0"/>
                <a:ea typeface="宋体" panose="02010600030101010101" pitchFamily="2" charset="-122"/>
                <a:cs typeface="+mn-ea"/>
              </a:rPr>
              <a:t>服务器</a:t>
            </a:r>
            <a:endParaRPr lang="en-US" altLang="zh-CN" strike="noStrike" noProof="1">
              <a:latin typeface="Arial" panose="020B0604020202020204" pitchFamily="34" charset="0"/>
              <a:ea typeface="宋体" panose="02010600030101010101" pitchFamily="2" charset="-122"/>
            </a:endParaRPr>
          </a:p>
          <a:p>
            <a:pPr marL="285750" lvl="0" indent="-285750" eaLnBrk="0" fontAlgn="base" hangingPunct="0">
              <a:lnSpc>
                <a:spcPct val="100000"/>
              </a:lnSpc>
              <a:buFont typeface="Wingdings" panose="05000000000000000000" charset="0"/>
              <a:buChar char="ü"/>
            </a:pPr>
            <a:r>
              <a:rPr lang="en-US" altLang="zh-CN" strike="noStrike" noProof="1">
                <a:latin typeface="Arial" panose="020B0604020202020204" pitchFamily="34" charset="0"/>
                <a:ea typeface="宋体" panose="02010600030101010101" pitchFamily="2" charset="-122"/>
                <a:cs typeface="+mn-ea"/>
              </a:rPr>
              <a:t>Agent</a:t>
            </a:r>
            <a:r>
              <a:rPr lang="zh-CN" altLang="en-US" strike="noStrike" noProof="1">
                <a:latin typeface="Arial" panose="020B0604020202020204" pitchFamily="34" charset="0"/>
                <a:ea typeface="宋体" panose="02010600030101010101" pitchFamily="2" charset="-122"/>
                <a:cs typeface="+mn-ea"/>
              </a:rPr>
              <a:t>服务器</a:t>
            </a:r>
            <a:endParaRPr lang="en-US" altLang="zh-CN" strike="noStrike" noProof="1">
              <a:latin typeface="Arial" panose="020B0604020202020204" pitchFamily="34" charset="0"/>
              <a:ea typeface="宋体" panose="02010600030101010101" pitchFamily="2" charset="-122"/>
            </a:endParaRPr>
          </a:p>
          <a:p>
            <a:pPr marL="285750" lvl="0" indent="-285750" eaLnBrk="0" fontAlgn="base" hangingPunct="0">
              <a:lnSpc>
                <a:spcPct val="100000"/>
              </a:lnSpc>
              <a:buFont typeface="Wingdings" panose="05000000000000000000" charset="0"/>
              <a:buChar char="ü"/>
            </a:pPr>
            <a:r>
              <a:rPr lang="en-US" altLang="zh-CN" strike="noStrike" noProof="1">
                <a:latin typeface="Arial" panose="020B0604020202020204" pitchFamily="34" charset="0"/>
                <a:ea typeface="宋体" panose="02010600030101010101" pitchFamily="2" charset="-122"/>
                <a:cs typeface="+mn-ea"/>
              </a:rPr>
              <a:t>Web</a:t>
            </a:r>
            <a:r>
              <a:rPr lang="zh-CN" altLang="en-US" strike="noStrike" noProof="1">
                <a:latin typeface="Arial" panose="020B0604020202020204" pitchFamily="34" charset="0"/>
                <a:ea typeface="宋体" panose="02010600030101010101" pitchFamily="2" charset="-122"/>
                <a:cs typeface="+mn-ea"/>
              </a:rPr>
              <a:t>控制台</a:t>
            </a:r>
            <a:endParaRPr lang="en-US" altLang="zh-CN" strike="noStrike" noProof="1">
              <a:latin typeface="Arial" panose="020B0604020202020204" pitchFamily="34" charset="0"/>
              <a:ea typeface="宋体" panose="02010600030101010101" pitchFamily="2" charset="-122"/>
            </a:endParaRPr>
          </a:p>
          <a:p>
            <a:pPr marL="285750" lvl="0" indent="-285750" eaLnBrk="0" fontAlgn="base" hangingPunct="0">
              <a:lnSpc>
                <a:spcPct val="100000"/>
              </a:lnSpc>
              <a:buFont typeface="Wingdings" panose="05000000000000000000" charset="0"/>
              <a:buChar char="ü"/>
            </a:pPr>
            <a:r>
              <a:rPr lang="zh-CN" altLang="en-US" strike="noStrike" noProof="1">
                <a:latin typeface="Arial" panose="020B0604020202020204" pitchFamily="34" charset="0"/>
                <a:ea typeface="宋体" panose="02010600030101010101" pitchFamily="2" charset="-122"/>
                <a:cs typeface="+mn-ea"/>
              </a:rPr>
              <a:t>日志分析服务器</a:t>
            </a:r>
            <a:endParaRPr lang="en-US" altLang="zh-CN" strike="noStrike" noProof="1">
              <a:latin typeface="Arial" panose="020B0604020202020204" pitchFamily="34" charset="0"/>
              <a:ea typeface="宋体" panose="02010600030101010101" pitchFamily="2" charset="-122"/>
            </a:endParaRPr>
          </a:p>
          <a:p>
            <a:pPr marL="285750" lvl="0" indent="-285750" eaLnBrk="0" fontAlgn="base" hangingPunct="0">
              <a:lnSpc>
                <a:spcPct val="100000"/>
              </a:lnSpc>
              <a:buFont typeface="Wingdings" panose="05000000000000000000" charset="0"/>
              <a:buChar char="ü"/>
            </a:pPr>
            <a:r>
              <a:rPr lang="zh-CN" altLang="en-US" strike="noStrike" noProof="1">
                <a:latin typeface="Arial" panose="020B0604020202020204" pitchFamily="34" charset="0"/>
                <a:ea typeface="宋体" panose="02010600030101010101" pitchFamily="2" charset="-122"/>
                <a:cs typeface="+mn-ea"/>
              </a:rPr>
              <a:t>信息统计服务器</a:t>
            </a:r>
            <a:endParaRPr lang="en-US" altLang="zh-CN" strike="noStrike" noProof="1">
              <a:latin typeface="Arial" panose="020B0604020202020204" pitchFamily="34" charset="0"/>
              <a:ea typeface="宋体" panose="02010600030101010101" pitchFamily="2" charset="-122"/>
            </a:endParaRPr>
          </a:p>
          <a:p>
            <a:pPr marL="285750" lvl="0" indent="-285750" eaLnBrk="0" fontAlgn="base" hangingPunct="0">
              <a:lnSpc>
                <a:spcPct val="100000"/>
              </a:lnSpc>
              <a:buFont typeface="Wingdings" panose="05000000000000000000" charset="0"/>
              <a:buChar char="ü"/>
            </a:pPr>
            <a:r>
              <a:rPr lang="zh-CN" altLang="en-US" strike="noStrike" noProof="1">
                <a:latin typeface="Arial" panose="020B0604020202020204" pitchFamily="34" charset="0"/>
                <a:ea typeface="宋体" panose="02010600030101010101" pitchFamily="2" charset="-122"/>
                <a:cs typeface="+mn-ea"/>
              </a:rPr>
              <a:t>愚公系统</a:t>
            </a:r>
            <a:endParaRPr lang="en-US" altLang="zh-CN" strike="noStrike" noProof="1">
              <a:latin typeface="Arial" panose="020B0604020202020204" pitchFamily="34" charset="0"/>
              <a:ea typeface="宋体" panose="02010600030101010101" pitchFamily="2" charset="-122"/>
            </a:endParaRPr>
          </a:p>
          <a:p>
            <a:pPr marL="285750" lvl="0" indent="-285750" eaLnBrk="0" fontAlgn="base" hangingPunct="0">
              <a:lnSpc>
                <a:spcPct val="100000"/>
              </a:lnSpc>
              <a:buChar char="•"/>
            </a:pPr>
            <a:endParaRPr lang="en-US" altLang="zh-CN" strike="noStrike" noProof="1">
              <a:latin typeface="Arial" panose="020B0604020202020204" pitchFamily="34" charset="0"/>
              <a:ea typeface="宋体" panose="02010600030101010101" pitchFamily="2" charset="-122"/>
            </a:endParaRPr>
          </a:p>
          <a:p>
            <a:pPr lvl="0" eaLnBrk="0" fontAlgn="base" hangingPunct="0">
              <a:lnSpc>
                <a:spcPct val="100000"/>
              </a:lnSpc>
              <a:buNone/>
            </a:pPr>
            <a:r>
              <a:rPr lang="zh-CN" altLang="en-US" strike="noStrike" noProof="1">
                <a:latin typeface="Arial" panose="020B0604020202020204" pitchFamily="34" charset="0"/>
                <a:ea typeface="宋体" panose="02010600030101010101" pitchFamily="2" charset="-122"/>
                <a:cs typeface="+mn-ea"/>
              </a:rPr>
              <a:t>依赖的开源组件包括：</a:t>
            </a:r>
            <a:endParaRPr lang="en-US" altLang="zh-CN" strike="noStrike" noProof="1">
              <a:latin typeface="Arial" panose="020B0604020202020204" pitchFamily="34" charset="0"/>
              <a:ea typeface="宋体" panose="02010600030101010101" pitchFamily="2" charset="-122"/>
            </a:endParaRPr>
          </a:p>
          <a:p>
            <a:pPr marL="285750" lvl="0" indent="-285750" eaLnBrk="0" fontAlgn="base" hangingPunct="0">
              <a:lnSpc>
                <a:spcPct val="100000"/>
              </a:lnSpc>
              <a:buFont typeface="Wingdings" panose="05000000000000000000" charset="0"/>
              <a:buChar char="ü"/>
            </a:pPr>
            <a:r>
              <a:rPr lang="en-US" altLang="zh-CN" strike="noStrike" noProof="1">
                <a:latin typeface="Arial" panose="020B0604020202020204" pitchFamily="34" charset="0"/>
                <a:ea typeface="宋体" panose="02010600030101010101" pitchFamily="2" charset="-122"/>
                <a:cs typeface="+mn-ea"/>
              </a:rPr>
              <a:t>Mnesia(DDBMS</a:t>
            </a:r>
            <a:r>
              <a:rPr lang="zh-CN" altLang="en-US" strike="noStrike" noProof="1">
                <a:latin typeface="Arial" panose="020B0604020202020204" pitchFamily="34" charset="0"/>
                <a:ea typeface="宋体" panose="02010600030101010101" pitchFamily="2" charset="-122"/>
                <a:cs typeface="+mn-ea"/>
              </a:rPr>
              <a:t>）</a:t>
            </a:r>
            <a:endParaRPr lang="zh-CN" altLang="en-US" strike="noStrike" noProof="1">
              <a:latin typeface="Arial" panose="020B0604020202020204" pitchFamily="34" charset="0"/>
              <a:ea typeface="宋体" panose="02010600030101010101" pitchFamily="2" charset="-122"/>
              <a:cs typeface="+mn-ea"/>
            </a:endParaRPr>
          </a:p>
          <a:p>
            <a:pPr marL="285750" lvl="0" indent="-285750" eaLnBrk="0" fontAlgn="base" hangingPunct="0">
              <a:lnSpc>
                <a:spcPct val="100000"/>
              </a:lnSpc>
              <a:buFont typeface="Wingdings" panose="05000000000000000000" charset="0"/>
              <a:buChar char="ü"/>
            </a:pPr>
            <a:r>
              <a:rPr lang="en-US" altLang="zh-CN" strike="noStrike" noProof="1">
                <a:latin typeface="Arial" panose="020B0604020202020204" pitchFamily="34" charset="0"/>
                <a:ea typeface="宋体" panose="02010600030101010101" pitchFamily="2" charset="-122"/>
                <a:cs typeface="+mn-ea"/>
              </a:rPr>
              <a:t>LVS(</a:t>
            </a:r>
            <a:r>
              <a:rPr lang="zh-CN" altLang="en-US" strike="noStrike" noProof="1">
                <a:latin typeface="Arial" panose="020B0604020202020204" pitchFamily="34" charset="0"/>
                <a:ea typeface="宋体" panose="02010600030101010101" pitchFamily="2" charset="-122"/>
                <a:cs typeface="+mn-ea"/>
              </a:rPr>
              <a:t>负载均衡系统）</a:t>
            </a:r>
            <a:endParaRPr lang="zh-CN" altLang="en-US" strike="noStrike" noProof="1">
              <a:latin typeface="Arial" panose="020B0604020202020204" pitchFamily="34" charset="0"/>
              <a:ea typeface="宋体" panose="02010600030101010101" pitchFamily="2" charset="-122"/>
              <a:cs typeface="+mn-ea"/>
            </a:endParaRPr>
          </a:p>
          <a:p>
            <a:pPr marL="285750" lvl="0" indent="-285750" eaLnBrk="0" fontAlgn="base" hangingPunct="0">
              <a:lnSpc>
                <a:spcPct val="100000"/>
              </a:lnSpc>
              <a:buFont typeface="Wingdings" panose="05000000000000000000" charset="0"/>
              <a:buChar char="ü"/>
            </a:pPr>
            <a:r>
              <a:rPr lang="en-US" altLang="zh-CN" strike="noStrike" noProof="1">
                <a:latin typeface="Arial" panose="020B0604020202020204" pitchFamily="34" charset="0"/>
                <a:ea typeface="宋体" panose="02010600030101010101" pitchFamily="2" charset="-122"/>
                <a:cs typeface="+mn-ea"/>
              </a:rPr>
              <a:t>RabbitMQ(</a:t>
            </a:r>
            <a:r>
              <a:rPr lang="zh-CN" altLang="zh-CN" strike="noStrike" noProof="1">
                <a:latin typeface="Arial" panose="020B0604020202020204" pitchFamily="34" charset="0"/>
                <a:ea typeface="宋体" panose="02010600030101010101" pitchFamily="2" charset="-122"/>
                <a:cs typeface="+mn-ea"/>
              </a:rPr>
              <a:t>消息中间件）</a:t>
            </a:r>
            <a:endParaRPr lang="zh-CN" altLang="zh-CN" strike="noStrike" noProof="1">
              <a:latin typeface="Arial" panose="020B0604020202020204" pitchFamily="34" charset="0"/>
              <a:ea typeface="宋体" panose="02010600030101010101" pitchFamily="2" charset="-122"/>
              <a:cs typeface="+mn-ea"/>
            </a:endParaRPr>
          </a:p>
          <a:p>
            <a:pPr marL="285750" lvl="0" indent="-285750" eaLnBrk="0" fontAlgn="base" hangingPunct="0">
              <a:lnSpc>
                <a:spcPct val="100000"/>
              </a:lnSpc>
              <a:buFont typeface="Wingdings" panose="05000000000000000000" charset="0"/>
              <a:buChar char="ü"/>
            </a:pPr>
            <a:r>
              <a:rPr lang="en-US" altLang="zh-CN" strike="noStrike" noProof="1">
                <a:latin typeface="Arial" panose="020B0604020202020204" pitchFamily="34" charset="0"/>
                <a:ea typeface="宋体" panose="02010600030101010101" pitchFamily="2" charset="-122"/>
                <a:cs typeface="+mn-ea"/>
              </a:rPr>
              <a:t>ZooKeeper(</a:t>
            </a:r>
            <a:r>
              <a:rPr lang="zh-CN" altLang="zh-CN" strike="noStrike" noProof="1">
                <a:latin typeface="Arial" panose="020B0604020202020204" pitchFamily="34" charset="0"/>
                <a:ea typeface="宋体" panose="02010600030101010101" pitchFamily="2" charset="-122"/>
                <a:cs typeface="+mn-ea"/>
                <a:sym typeface="+mn-ea"/>
              </a:rPr>
              <a:t>协同工作系统</a:t>
            </a:r>
            <a:r>
              <a:rPr lang="zh-CN" altLang="zh-CN" strike="noStrike" noProof="1">
                <a:latin typeface="Arial" panose="020B0604020202020204" pitchFamily="34" charset="0"/>
                <a:ea typeface="宋体" panose="02010600030101010101" pitchFamily="2" charset="-122"/>
                <a:cs typeface="+mn-ea"/>
              </a:rPr>
              <a:t>)</a:t>
            </a:r>
            <a:endParaRPr lang="zh-CN" altLang="zh-CN" strike="noStrike" noProof="1">
              <a:latin typeface="Arial" panose="020B0604020202020204" pitchFamily="34" charset="0"/>
              <a:ea typeface="宋体" panose="02010600030101010101" pitchFamily="2" charset="-122"/>
              <a:cs typeface="+mn-ea"/>
            </a:endParaRPr>
          </a:p>
        </p:txBody>
      </p:sp>
      <p:sp>
        <p:nvSpPr>
          <p:cNvPr id="3" name="文本框 2"/>
          <p:cNvSpPr txBox="1"/>
          <p:nvPr/>
        </p:nvSpPr>
        <p:spPr>
          <a:xfrm>
            <a:off x="424180" y="177165"/>
            <a:ext cx="6214110" cy="521970"/>
          </a:xfrm>
          <a:prstGeom prst="rect">
            <a:avLst/>
          </a:prstGeom>
          <a:noFill/>
        </p:spPr>
        <p:txBody>
          <a:bodyPr wrap="none" rtlCol="0" anchor="t">
            <a:spAutoFit/>
          </a:bodyPr>
          <a:lstStyle/>
          <a:p>
            <a:r>
              <a:rPr lang="zh-CN" altLang="en-US" sz="3200" dirty="0">
                <a:solidFill>
                  <a:srgbClr val="0033CC"/>
                </a:solidFill>
                <a:ea typeface="黑体" panose="02010609060101010101" pitchFamily="1" charset="-122"/>
                <a:cs typeface="+mn-ea"/>
                <a:sym typeface="+mn-ea"/>
              </a:rPr>
              <a:t>UMP--阿里集团高可用数据库架构实例</a:t>
            </a:r>
            <a:endParaRPr lang="zh-CN" altLang="en-US" sz="3200" dirty="0">
              <a:solidFill>
                <a:srgbClr val="0033CC"/>
              </a:solidFill>
              <a:ea typeface="黑体" panose="02010609060101010101" pitchFamily="1" charset="-122"/>
              <a:cs typeface="+mn-ea"/>
              <a:sym typeface="+mn-ea"/>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4"/>
          <p:cNvSpPr/>
          <p:nvPr/>
        </p:nvSpPr>
        <p:spPr>
          <a:xfrm>
            <a:off x="573088" y="859790"/>
            <a:ext cx="5313362" cy="460375"/>
          </a:xfrm>
          <a:prstGeom prst="rect">
            <a:avLst/>
          </a:prstGeom>
          <a:noFill/>
          <a:ln w="9525">
            <a:noFill/>
          </a:ln>
        </p:spPr>
        <p:txBody>
          <a:bodyPr wrap="square" anchor="ctr">
            <a:spAutoFit/>
          </a:bodyPr>
          <a:lstStyle/>
          <a:p>
            <a:pPr eaLnBrk="0" hangingPunct="0">
              <a:buNone/>
            </a:pPr>
            <a:r>
              <a:rPr lang="zh-CN" altLang="en-US" sz="2400" b="1" dirty="0">
                <a:solidFill>
                  <a:srgbClr val="FF0000"/>
                </a:solidFill>
                <a:latin typeface="Arial" panose="020B0604020202020204" pitchFamily="34" charset="0"/>
                <a:ea typeface="宋体" panose="02010600030101010101" pitchFamily="2" charset="-122"/>
              </a:rPr>
              <a:t>（</a:t>
            </a:r>
            <a:r>
              <a:rPr lang="en-US" altLang="zh-CN" sz="2400" b="1" dirty="0">
                <a:solidFill>
                  <a:srgbClr val="FF0000"/>
                </a:solidFill>
                <a:latin typeface="Arial" panose="020B0604020202020204" pitchFamily="34" charset="0"/>
                <a:ea typeface="宋体" panose="02010600030101010101" pitchFamily="2" charset="-122"/>
              </a:rPr>
              <a:t>1</a:t>
            </a:r>
            <a:r>
              <a:rPr lang="zh-CN" altLang="en-US" sz="2400" b="1" dirty="0">
                <a:solidFill>
                  <a:srgbClr val="FF0000"/>
                </a:solidFill>
                <a:latin typeface="Arial" panose="020B0604020202020204" pitchFamily="34" charset="0"/>
                <a:ea typeface="宋体" panose="02010600030101010101" pitchFamily="2" charset="-122"/>
              </a:rPr>
              <a:t>）</a:t>
            </a:r>
            <a:r>
              <a:rPr lang="en-US" altLang="zh-CN" sz="2400" b="1" dirty="0">
                <a:solidFill>
                  <a:srgbClr val="FF0000"/>
                </a:solidFill>
                <a:latin typeface="Arial" panose="020B0604020202020204" pitchFamily="34" charset="0"/>
                <a:ea typeface="宋体" panose="02010600030101010101" pitchFamily="2" charset="-122"/>
              </a:rPr>
              <a:t>Controller</a:t>
            </a:r>
            <a:r>
              <a:rPr lang="zh-CN" altLang="en-US" sz="2400" b="1" dirty="0">
                <a:solidFill>
                  <a:srgbClr val="FF0000"/>
                </a:solidFill>
                <a:latin typeface="Arial" panose="020B0604020202020204" pitchFamily="34" charset="0"/>
                <a:ea typeface="宋体" panose="02010600030101010101" pitchFamily="2" charset="-122"/>
              </a:rPr>
              <a:t>服务器</a:t>
            </a:r>
            <a:r>
              <a:rPr lang="en-US" altLang="zh-CN" sz="2400" b="1" dirty="0">
                <a:solidFill>
                  <a:srgbClr val="FF0000"/>
                </a:solidFill>
                <a:latin typeface="Arial" panose="020B0604020202020204" pitchFamily="34" charset="0"/>
                <a:ea typeface="宋体" panose="02010600030101010101" pitchFamily="2" charset="-122"/>
              </a:rPr>
              <a:t>--</a:t>
            </a:r>
            <a:r>
              <a:rPr lang="zh-CN" altLang="en-US" sz="2400" b="1" dirty="0">
                <a:solidFill>
                  <a:srgbClr val="0033CC"/>
                </a:solidFill>
                <a:latin typeface="Arial" panose="020B0604020202020204" pitchFamily="34" charset="0"/>
                <a:ea typeface="宋体" panose="02010600030101010101" pitchFamily="2" charset="-122"/>
              </a:rPr>
              <a:t>总管</a:t>
            </a:r>
            <a:endParaRPr lang="zh-CN" altLang="en-US" sz="2400" b="1" dirty="0">
              <a:solidFill>
                <a:srgbClr val="0033CC"/>
              </a:solidFill>
              <a:latin typeface="Arial" panose="020B0604020202020204" pitchFamily="34" charset="0"/>
              <a:ea typeface="宋体" panose="02010600030101010101" pitchFamily="2" charset="-122"/>
            </a:endParaRPr>
          </a:p>
        </p:txBody>
      </p:sp>
      <p:sp>
        <p:nvSpPr>
          <p:cNvPr id="31746" name="Rectangle 5"/>
          <p:cNvSpPr/>
          <p:nvPr/>
        </p:nvSpPr>
        <p:spPr>
          <a:xfrm>
            <a:off x="681673" y="1261745"/>
            <a:ext cx="8078787" cy="1223010"/>
          </a:xfrm>
          <a:prstGeom prst="rect">
            <a:avLst/>
          </a:prstGeom>
          <a:noFill/>
          <a:ln w="9525">
            <a:noFill/>
          </a:ln>
        </p:spPr>
        <p:txBody>
          <a:bodyPr wrap="square" anchor="ctr">
            <a:spAutoFit/>
          </a:bodyPr>
          <a:lstStyle/>
          <a:p>
            <a:pPr eaLnBrk="0" hangingPunct="0">
              <a:lnSpc>
                <a:spcPct val="115000"/>
              </a:lnSpc>
              <a:buNone/>
            </a:pPr>
            <a:r>
              <a:rPr lang="en-US" altLang="zh-CN" sz="2000" dirty="0">
                <a:latin typeface="Arial" panose="020B0604020202020204" pitchFamily="34" charset="0"/>
                <a:ea typeface="宋体" panose="02010600030101010101" pitchFamily="2" charset="-122"/>
              </a:rPr>
              <a:t>    </a:t>
            </a:r>
            <a:r>
              <a:rPr lang="en-US" altLang="zh-CN" sz="2200" dirty="0">
                <a:latin typeface="Arial" panose="020B0604020202020204" pitchFamily="34" charset="0"/>
                <a:ea typeface="宋体" panose="02010600030101010101" pitchFamily="2" charset="-122"/>
              </a:rPr>
              <a:t>  </a:t>
            </a:r>
            <a:r>
              <a:rPr lang="en-US" altLang="zh-CN" sz="2100" b="1" u="sng" dirty="0">
                <a:solidFill>
                  <a:srgbClr val="3333CC"/>
                </a:solidFill>
                <a:latin typeface="Arial" panose="020B0604020202020204" pitchFamily="34" charset="0"/>
                <a:ea typeface="宋体" panose="02010600030101010101" pitchFamily="2" charset="-122"/>
              </a:rPr>
              <a:t> Controller</a:t>
            </a:r>
            <a:r>
              <a:rPr lang="zh-CN" altLang="en-US" sz="2100" b="1" u="sng" dirty="0">
                <a:solidFill>
                  <a:srgbClr val="3333CC"/>
                </a:solidFill>
                <a:latin typeface="Arial" panose="020B0604020202020204" pitchFamily="34" charset="0"/>
                <a:ea typeface="宋体" panose="02010600030101010101" pitchFamily="2" charset="-122"/>
              </a:rPr>
              <a:t>服务器向</a:t>
            </a:r>
            <a:r>
              <a:rPr lang="en-US" altLang="zh-CN" sz="2100" b="1" u="sng" dirty="0">
                <a:solidFill>
                  <a:srgbClr val="3333CC"/>
                </a:solidFill>
                <a:latin typeface="Arial" panose="020B0604020202020204" pitchFamily="34" charset="0"/>
                <a:ea typeface="宋体" panose="02010600030101010101" pitchFamily="2" charset="-122"/>
              </a:rPr>
              <a:t>UMP</a:t>
            </a:r>
            <a:r>
              <a:rPr lang="zh-CN" altLang="en-US" sz="2100" b="1" u="sng" dirty="0">
                <a:solidFill>
                  <a:srgbClr val="3333CC"/>
                </a:solidFill>
                <a:latin typeface="Arial" panose="020B0604020202020204" pitchFamily="34" charset="0"/>
                <a:ea typeface="宋体" panose="02010600030101010101" pitchFamily="2" charset="-122"/>
              </a:rPr>
              <a:t>集群提供各种管理服务，</a:t>
            </a:r>
            <a:r>
              <a:rPr lang="zh-CN" altLang="en-US" sz="2100" b="1" dirty="0">
                <a:latin typeface="Arial" panose="020B0604020202020204" pitchFamily="34" charset="0"/>
                <a:ea typeface="宋体" panose="02010600030101010101" pitchFamily="2" charset="-122"/>
              </a:rPr>
              <a:t>实现集群成员管理、元数据存储、</a:t>
            </a:r>
            <a:r>
              <a:rPr lang="en-US" altLang="zh-CN" sz="2100" b="1" dirty="0">
                <a:latin typeface="Arial" panose="020B0604020202020204" pitchFamily="34" charset="0"/>
                <a:ea typeface="宋体" panose="02010600030101010101" pitchFamily="2" charset="-122"/>
              </a:rPr>
              <a:t>MySQL</a:t>
            </a:r>
            <a:r>
              <a:rPr lang="zh-CN" altLang="en-US" sz="2100" b="1" dirty="0">
                <a:latin typeface="Arial" panose="020B0604020202020204" pitchFamily="34" charset="0"/>
                <a:ea typeface="宋体" panose="02010600030101010101" pitchFamily="2" charset="-122"/>
              </a:rPr>
              <a:t>实例管理、故障恢复、备份、迁移、扩容等功能。</a:t>
            </a:r>
            <a:endParaRPr lang="zh-CN" altLang="en-US" sz="2100" b="1" dirty="0">
              <a:latin typeface="Arial" panose="020B0604020202020204" pitchFamily="34" charset="0"/>
              <a:ea typeface="宋体" panose="02010600030101010101" pitchFamily="2" charset="-122"/>
            </a:endParaRPr>
          </a:p>
        </p:txBody>
      </p:sp>
      <p:sp>
        <p:nvSpPr>
          <p:cNvPr id="32769" name="Rectangle 4"/>
          <p:cNvSpPr/>
          <p:nvPr/>
        </p:nvSpPr>
        <p:spPr>
          <a:xfrm>
            <a:off x="681990" y="2942273"/>
            <a:ext cx="8199438" cy="1322070"/>
          </a:xfrm>
          <a:prstGeom prst="rect">
            <a:avLst/>
          </a:prstGeom>
          <a:noFill/>
          <a:ln w="9525">
            <a:noFill/>
          </a:ln>
        </p:spPr>
        <p:txBody>
          <a:bodyPr wrap="square" anchor="ctr">
            <a:spAutoFit/>
          </a:bodyPr>
          <a:lstStyle/>
          <a:p>
            <a:pPr indent="266700"/>
            <a:r>
              <a:rPr lang="en-US" altLang="zh-CN" sz="2000" dirty="0">
                <a:latin typeface="Arial" panose="020B0604020202020204" pitchFamily="34" charset="0"/>
                <a:ea typeface="宋体" panose="02010600030101010101" pitchFamily="2" charset="-122"/>
              </a:rPr>
              <a:t>  </a:t>
            </a:r>
            <a:r>
              <a:rPr lang="zh-CN" altLang="en-US" sz="2000" dirty="0">
                <a:latin typeface="Arial" panose="020B0604020202020204" pitchFamily="34" charset="0"/>
                <a:ea typeface="宋体" panose="02010600030101010101" pitchFamily="2" charset="-122"/>
              </a:rPr>
              <a:t> </a:t>
            </a:r>
            <a:r>
              <a:rPr lang="en-US" altLang="zh-CN" sz="2000" b="1" u="sng" dirty="0">
                <a:solidFill>
                  <a:srgbClr val="FF0000"/>
                </a:solidFill>
                <a:latin typeface="华文中宋" panose="02010600040101010101" charset="-122"/>
                <a:ea typeface="华文中宋" panose="02010600040101010101" charset="-122"/>
              </a:rPr>
              <a:t>Proxy</a:t>
            </a:r>
            <a:r>
              <a:rPr lang="zh-CN" altLang="en-US" sz="2000" b="1" u="sng" dirty="0">
                <a:solidFill>
                  <a:srgbClr val="FF0000"/>
                </a:solidFill>
                <a:latin typeface="华文中宋" panose="02010600040101010101" charset="-122"/>
                <a:ea typeface="华文中宋" panose="02010600040101010101" charset="-122"/>
              </a:rPr>
              <a:t>服务器向用户提供访问</a:t>
            </a:r>
            <a:r>
              <a:rPr lang="en-US" altLang="zh-CN" sz="2000" b="1" u="sng" dirty="0">
                <a:solidFill>
                  <a:srgbClr val="FF0000"/>
                </a:solidFill>
                <a:latin typeface="华文中宋" panose="02010600040101010101" charset="-122"/>
                <a:ea typeface="华文中宋" panose="02010600040101010101" charset="-122"/>
              </a:rPr>
              <a:t>MySQL</a:t>
            </a:r>
            <a:r>
              <a:rPr lang="zh-CN" altLang="en-US" sz="2000" b="1" u="sng" dirty="0">
                <a:solidFill>
                  <a:srgbClr val="FF0000"/>
                </a:solidFill>
                <a:latin typeface="华文中宋" panose="02010600040101010101" charset="-122"/>
                <a:ea typeface="华文中宋" panose="02010600040101010101" charset="-122"/>
              </a:rPr>
              <a:t>数据库的服务</a:t>
            </a:r>
            <a:r>
              <a:rPr lang="zh-CN" altLang="en-US" sz="2000" dirty="0">
                <a:latin typeface="Arial" panose="020B0604020202020204" pitchFamily="34" charset="0"/>
                <a:ea typeface="宋体" panose="02010600030101010101" pitchFamily="2" charset="-122"/>
              </a:rPr>
              <a:t>，它完全实现了</a:t>
            </a:r>
            <a:r>
              <a:rPr lang="en-US" altLang="zh-CN" sz="2000" dirty="0">
                <a:latin typeface="Arial" panose="020B0604020202020204" pitchFamily="34" charset="0"/>
                <a:ea typeface="宋体" panose="02010600030101010101" pitchFamily="2" charset="-122"/>
              </a:rPr>
              <a:t>MySQL</a:t>
            </a:r>
            <a:r>
              <a:rPr lang="zh-CN" altLang="en-US" sz="2000" dirty="0">
                <a:latin typeface="Arial" panose="020B0604020202020204" pitchFamily="34" charset="0"/>
                <a:ea typeface="宋体" panose="02010600030101010101" pitchFamily="2" charset="-122"/>
              </a:rPr>
              <a:t>协议，</a:t>
            </a:r>
            <a:r>
              <a:rPr lang="en-US" altLang="zh-CN" sz="2000" b="1" u="sng" dirty="0">
                <a:solidFill>
                  <a:srgbClr val="3333CC"/>
                </a:solidFill>
                <a:latin typeface="Arial" panose="020B0604020202020204" pitchFamily="34" charset="0"/>
                <a:ea typeface="宋体" panose="02010600030101010101" pitchFamily="2" charset="-122"/>
              </a:rPr>
              <a:t>Proxy</a:t>
            </a:r>
            <a:r>
              <a:rPr lang="zh-CN" altLang="en-US" sz="2000" b="1" u="sng" dirty="0">
                <a:solidFill>
                  <a:srgbClr val="3333CC"/>
                </a:solidFill>
                <a:latin typeface="Arial" panose="020B0604020202020204" pitchFamily="34" charset="0"/>
                <a:ea typeface="宋体" panose="02010600030101010101" pitchFamily="2" charset="-122"/>
              </a:rPr>
              <a:t>服务器通过用户名获取到用户的认证信息、资源配额的限制以及后台</a:t>
            </a:r>
            <a:r>
              <a:rPr lang="en-US" altLang="zh-CN" sz="2000" b="1" u="sng" dirty="0">
                <a:solidFill>
                  <a:srgbClr val="3333CC"/>
                </a:solidFill>
                <a:latin typeface="Arial" panose="020B0604020202020204" pitchFamily="34" charset="0"/>
                <a:ea typeface="宋体" panose="02010600030101010101" pitchFamily="2" charset="-122"/>
              </a:rPr>
              <a:t>MySQL</a:t>
            </a:r>
            <a:r>
              <a:rPr lang="zh-CN" altLang="en-US" sz="2000" b="1" u="sng" dirty="0">
                <a:solidFill>
                  <a:srgbClr val="3333CC"/>
                </a:solidFill>
                <a:latin typeface="Arial" panose="020B0604020202020204" pitchFamily="34" charset="0"/>
                <a:ea typeface="宋体" panose="02010600030101010101" pitchFamily="2" charset="-122"/>
              </a:rPr>
              <a:t>实例的地址，然后用户的</a:t>
            </a:r>
            <a:r>
              <a:rPr lang="en-US" altLang="zh-CN" sz="2000" b="1" u="sng" dirty="0">
                <a:solidFill>
                  <a:srgbClr val="3333CC"/>
                </a:solidFill>
                <a:latin typeface="Arial" panose="020B0604020202020204" pitchFamily="34" charset="0"/>
                <a:ea typeface="宋体" panose="02010600030101010101" pitchFamily="2" charset="-122"/>
              </a:rPr>
              <a:t>SQL</a:t>
            </a:r>
            <a:r>
              <a:rPr lang="zh-CN" altLang="en-US" sz="2000" b="1" u="sng" dirty="0">
                <a:solidFill>
                  <a:srgbClr val="3333CC"/>
                </a:solidFill>
                <a:latin typeface="Arial" panose="020B0604020202020204" pitchFamily="34" charset="0"/>
                <a:ea typeface="宋体" panose="02010600030101010101" pitchFamily="2" charset="-122"/>
              </a:rPr>
              <a:t>查询请求会被转发到相应的</a:t>
            </a:r>
            <a:r>
              <a:rPr lang="en-US" altLang="zh-CN" sz="2000" b="1" u="sng" dirty="0">
                <a:solidFill>
                  <a:srgbClr val="3333CC"/>
                </a:solidFill>
                <a:latin typeface="Arial" panose="020B0604020202020204" pitchFamily="34" charset="0"/>
                <a:ea typeface="宋体" panose="02010600030101010101" pitchFamily="2" charset="-122"/>
              </a:rPr>
              <a:t>MySQL</a:t>
            </a:r>
            <a:r>
              <a:rPr lang="zh-CN" altLang="en-US" sz="2000" b="1" u="sng" dirty="0">
                <a:solidFill>
                  <a:srgbClr val="3333CC"/>
                </a:solidFill>
                <a:latin typeface="Arial" panose="020B0604020202020204" pitchFamily="34" charset="0"/>
                <a:ea typeface="宋体" panose="02010600030101010101" pitchFamily="2" charset="-122"/>
              </a:rPr>
              <a:t>实例上。</a:t>
            </a:r>
            <a:r>
              <a:rPr lang="zh-CN" altLang="en-US" sz="2000" dirty="0">
                <a:latin typeface="Arial" panose="020B0604020202020204" pitchFamily="34" charset="0"/>
                <a:ea typeface="宋体" panose="02010600030101010101" pitchFamily="2" charset="-122"/>
              </a:rPr>
              <a:t> </a:t>
            </a:r>
            <a:endParaRPr lang="zh-CN" altLang="en-US" sz="2000" dirty="0">
              <a:latin typeface="Arial" panose="020B0604020202020204" pitchFamily="34" charset="0"/>
              <a:ea typeface="宋体" panose="02010600030101010101" pitchFamily="2" charset="-122"/>
            </a:endParaRPr>
          </a:p>
        </p:txBody>
      </p:sp>
      <p:sp>
        <p:nvSpPr>
          <p:cNvPr id="32770" name="文本框 7"/>
          <p:cNvSpPr txBox="1"/>
          <p:nvPr/>
        </p:nvSpPr>
        <p:spPr>
          <a:xfrm>
            <a:off x="573088" y="2481898"/>
            <a:ext cx="5516562" cy="460375"/>
          </a:xfrm>
          <a:prstGeom prst="rect">
            <a:avLst/>
          </a:prstGeom>
          <a:noFill/>
          <a:ln w="9525">
            <a:noFill/>
          </a:ln>
        </p:spPr>
        <p:txBody>
          <a:bodyPr wrap="square" anchor="t">
            <a:spAutoFit/>
          </a:bodyPr>
          <a:lstStyle/>
          <a:p>
            <a:pPr>
              <a:buNone/>
            </a:pPr>
            <a:r>
              <a:rPr lang="zh-CN" altLang="en-US" sz="2400" b="1" dirty="0">
                <a:solidFill>
                  <a:srgbClr val="FF0000"/>
                </a:solidFill>
                <a:latin typeface="Arial" panose="020B0604020202020204" pitchFamily="34" charset="0"/>
                <a:ea typeface="宋体" panose="02010600030101010101" pitchFamily="2" charset="-122"/>
                <a:sym typeface="宋体" panose="02010600030101010101" pitchFamily="2" charset="-122"/>
              </a:rPr>
              <a:t>（</a:t>
            </a:r>
            <a:r>
              <a:rPr lang="en-US" altLang="zh-CN" sz="2400" b="1" dirty="0">
                <a:solidFill>
                  <a:srgbClr val="FF0000"/>
                </a:solidFill>
                <a:latin typeface="Arial" panose="020B0604020202020204" pitchFamily="34" charset="0"/>
                <a:ea typeface="宋体" panose="02010600030101010101" pitchFamily="2" charset="-122"/>
                <a:sym typeface="宋体" panose="02010600030101010101" pitchFamily="2" charset="-122"/>
              </a:rPr>
              <a:t>2</a:t>
            </a:r>
            <a:r>
              <a:rPr lang="zh-CN" altLang="en-US" sz="2400" b="1" dirty="0">
                <a:solidFill>
                  <a:srgbClr val="FF0000"/>
                </a:solidFill>
                <a:latin typeface="Arial" panose="020B0604020202020204" pitchFamily="34" charset="0"/>
                <a:ea typeface="宋体" panose="02010600030101010101" pitchFamily="2" charset="-122"/>
                <a:sym typeface="宋体" panose="02010600030101010101" pitchFamily="2" charset="-122"/>
              </a:rPr>
              <a:t>）</a:t>
            </a:r>
            <a:r>
              <a:rPr lang="en-US" altLang="zh-CN" sz="2400" b="1" dirty="0">
                <a:solidFill>
                  <a:srgbClr val="FF0000"/>
                </a:solidFill>
                <a:latin typeface="Arial" panose="020B0604020202020204" pitchFamily="34" charset="0"/>
                <a:ea typeface="宋体" panose="02010600030101010101" pitchFamily="2" charset="-122"/>
              </a:rPr>
              <a:t>Proxy</a:t>
            </a:r>
            <a:r>
              <a:rPr lang="zh-CN" altLang="en-US" sz="2400" b="1" dirty="0">
                <a:solidFill>
                  <a:srgbClr val="FF0000"/>
                </a:solidFill>
                <a:latin typeface="Arial" panose="020B0604020202020204" pitchFamily="34" charset="0"/>
                <a:ea typeface="宋体" panose="02010600030101010101" pitchFamily="2" charset="-122"/>
              </a:rPr>
              <a:t>服务器</a:t>
            </a:r>
            <a:r>
              <a:rPr lang="en-US" altLang="zh-CN" sz="2400" b="1" dirty="0">
                <a:solidFill>
                  <a:srgbClr val="FF0000"/>
                </a:solidFill>
                <a:latin typeface="Arial" panose="020B0604020202020204" pitchFamily="34" charset="0"/>
                <a:ea typeface="宋体" panose="02010600030101010101" pitchFamily="2" charset="-122"/>
              </a:rPr>
              <a:t>--</a:t>
            </a:r>
            <a:r>
              <a:rPr lang="zh-CN" altLang="en-US" sz="2400" b="1" dirty="0">
                <a:solidFill>
                  <a:srgbClr val="0033CC"/>
                </a:solidFill>
                <a:latin typeface="Arial" panose="020B0604020202020204" pitchFamily="34" charset="0"/>
                <a:ea typeface="宋体" panose="02010600030101010101" pitchFamily="2" charset="-122"/>
              </a:rPr>
              <a:t>用户访问代理</a:t>
            </a:r>
            <a:endParaRPr lang="zh-CN" altLang="en-US" sz="2400" b="1" dirty="0">
              <a:solidFill>
                <a:srgbClr val="0033CC"/>
              </a:solidFill>
              <a:latin typeface="Arial" panose="020B0604020202020204" pitchFamily="34" charset="0"/>
              <a:ea typeface="宋体" panose="02010600030101010101" pitchFamily="2" charset="-122"/>
              <a:sym typeface="宋体" panose="02010600030101010101" pitchFamily="2" charset="-122"/>
            </a:endParaRPr>
          </a:p>
        </p:txBody>
      </p:sp>
      <p:sp>
        <p:nvSpPr>
          <p:cNvPr id="32774" name="Rectangle 4"/>
          <p:cNvSpPr/>
          <p:nvPr/>
        </p:nvSpPr>
        <p:spPr>
          <a:xfrm>
            <a:off x="671513" y="4264660"/>
            <a:ext cx="5319712" cy="460375"/>
          </a:xfrm>
          <a:prstGeom prst="rect">
            <a:avLst/>
          </a:prstGeom>
          <a:noFill/>
          <a:ln w="9525">
            <a:noFill/>
          </a:ln>
        </p:spPr>
        <p:txBody>
          <a:bodyPr wrap="square" anchor="ctr">
            <a:spAutoFit/>
          </a:bodyPr>
          <a:lstStyle/>
          <a:p>
            <a:pPr eaLnBrk="0" hangingPunct="0">
              <a:buNone/>
            </a:pPr>
            <a:r>
              <a:rPr lang="zh-CN" altLang="en-US" sz="2400" b="1" dirty="0">
                <a:solidFill>
                  <a:srgbClr val="FF0000"/>
                </a:solidFill>
                <a:latin typeface="Arial" panose="020B0604020202020204" pitchFamily="34" charset="0"/>
                <a:ea typeface="宋体" panose="02010600030101010101" pitchFamily="2" charset="-122"/>
              </a:rPr>
              <a:t>（</a:t>
            </a:r>
            <a:r>
              <a:rPr lang="en-US" altLang="zh-CN" sz="2400" b="1" dirty="0">
                <a:solidFill>
                  <a:srgbClr val="FF0000"/>
                </a:solidFill>
                <a:latin typeface="Arial" panose="020B0604020202020204" pitchFamily="34" charset="0"/>
                <a:ea typeface="宋体" panose="02010600030101010101" pitchFamily="2" charset="-122"/>
              </a:rPr>
              <a:t>3</a:t>
            </a:r>
            <a:r>
              <a:rPr lang="zh-CN" altLang="en-US" sz="2400" b="1" dirty="0">
                <a:solidFill>
                  <a:srgbClr val="FF0000"/>
                </a:solidFill>
                <a:latin typeface="Arial" panose="020B0604020202020204" pitchFamily="34" charset="0"/>
                <a:ea typeface="宋体" panose="02010600030101010101" pitchFamily="2" charset="-122"/>
              </a:rPr>
              <a:t>）</a:t>
            </a:r>
            <a:r>
              <a:rPr lang="en-US" altLang="zh-CN" sz="2400" b="1" dirty="0">
                <a:solidFill>
                  <a:srgbClr val="FF0000"/>
                </a:solidFill>
                <a:latin typeface="Arial" panose="020B0604020202020204" pitchFamily="34" charset="0"/>
                <a:ea typeface="宋体" panose="02010600030101010101" pitchFamily="2" charset="-122"/>
              </a:rPr>
              <a:t>Agent</a:t>
            </a:r>
            <a:r>
              <a:rPr lang="zh-CN" altLang="en-US" sz="2400" b="1" dirty="0">
                <a:solidFill>
                  <a:srgbClr val="FF0000"/>
                </a:solidFill>
                <a:latin typeface="Arial" panose="020B0604020202020204" pitchFamily="34" charset="0"/>
                <a:ea typeface="宋体" panose="02010600030101010101" pitchFamily="2" charset="-122"/>
              </a:rPr>
              <a:t>服务器</a:t>
            </a:r>
            <a:r>
              <a:rPr lang="en-US" altLang="zh-CN" sz="2400" b="1" dirty="0">
                <a:solidFill>
                  <a:srgbClr val="FF0000"/>
                </a:solidFill>
                <a:latin typeface="Arial" panose="020B0604020202020204" pitchFamily="34" charset="0"/>
                <a:ea typeface="宋体" panose="02010600030101010101" pitchFamily="2" charset="-122"/>
              </a:rPr>
              <a:t>--</a:t>
            </a:r>
            <a:r>
              <a:rPr lang="zh-CN" altLang="en-US" sz="2400" b="1" dirty="0">
                <a:solidFill>
                  <a:srgbClr val="0033CC"/>
                </a:solidFill>
                <a:latin typeface="Arial" panose="020B0604020202020204" pitchFamily="34" charset="0"/>
                <a:ea typeface="宋体" panose="02010600030101010101" pitchFamily="2" charset="-122"/>
              </a:rPr>
              <a:t>MySQL实例 </a:t>
            </a:r>
            <a:endParaRPr lang="zh-CN" altLang="en-US" sz="2400" b="1" dirty="0">
              <a:solidFill>
                <a:srgbClr val="0033CC"/>
              </a:solidFill>
              <a:latin typeface="Arial" panose="020B0604020202020204" pitchFamily="34" charset="0"/>
              <a:ea typeface="宋体" panose="02010600030101010101" pitchFamily="2" charset="-122"/>
            </a:endParaRPr>
          </a:p>
        </p:txBody>
      </p:sp>
      <p:sp>
        <p:nvSpPr>
          <p:cNvPr id="32773" name="Rectangle 4"/>
          <p:cNvSpPr/>
          <p:nvPr/>
        </p:nvSpPr>
        <p:spPr>
          <a:xfrm>
            <a:off x="590868" y="4785043"/>
            <a:ext cx="8382000" cy="1599565"/>
          </a:xfrm>
          <a:prstGeom prst="rect">
            <a:avLst/>
          </a:prstGeom>
          <a:noFill/>
          <a:ln w="9525">
            <a:noFill/>
          </a:ln>
        </p:spPr>
        <p:txBody>
          <a:bodyPr anchor="ctr">
            <a:spAutoFit/>
          </a:bodyPr>
          <a:lstStyle/>
          <a:p>
            <a:pPr>
              <a:buNone/>
            </a:pPr>
            <a:r>
              <a:rPr lang="en-US" altLang="zh-CN" dirty="0">
                <a:latin typeface="Arial" panose="020B0604020202020204" pitchFamily="34" charset="0"/>
                <a:ea typeface="宋体" panose="02010600030101010101" pitchFamily="2" charset="-122"/>
              </a:rPr>
              <a:t>    </a:t>
            </a:r>
            <a:r>
              <a:rPr lang="zh-CN" altLang="en-US" dirty="0">
                <a:latin typeface="Arial" panose="020B0604020202020204" pitchFamily="34" charset="0"/>
                <a:ea typeface="宋体" panose="02010600030101010101" pitchFamily="2" charset="-122"/>
              </a:rPr>
              <a:t> </a:t>
            </a:r>
            <a:r>
              <a:rPr lang="zh-CN" altLang="en-US" sz="2000" dirty="0">
                <a:latin typeface="Arial" panose="020B0604020202020204" pitchFamily="34" charset="0"/>
                <a:ea typeface="宋体" panose="02010600030101010101" pitchFamily="2" charset="-122"/>
              </a:rPr>
              <a:t>  </a:t>
            </a:r>
            <a:r>
              <a:rPr lang="en-US" altLang="zh-CN" sz="2000" b="1" u="sng" dirty="0">
                <a:solidFill>
                  <a:srgbClr val="FF0000"/>
                </a:solidFill>
                <a:latin typeface="华文中宋" panose="02010600040101010101" charset="-122"/>
                <a:ea typeface="华文中宋" panose="02010600040101010101" charset="-122"/>
              </a:rPr>
              <a:t>Agent</a:t>
            </a:r>
            <a:r>
              <a:rPr lang="zh-CN" altLang="en-US" sz="2000" b="1" u="sng" dirty="0">
                <a:solidFill>
                  <a:srgbClr val="FF0000"/>
                </a:solidFill>
                <a:latin typeface="华文中宋" panose="02010600040101010101" charset="-122"/>
                <a:ea typeface="华文中宋" panose="02010600040101010101" charset="-122"/>
              </a:rPr>
              <a:t>服务器部署在运行</a:t>
            </a:r>
            <a:r>
              <a:rPr lang="en-US" altLang="zh-CN" sz="2000" b="1" u="sng" dirty="0">
                <a:solidFill>
                  <a:srgbClr val="FF0000"/>
                </a:solidFill>
                <a:latin typeface="华文中宋" panose="02010600040101010101" charset="-122"/>
                <a:ea typeface="华文中宋" panose="02010600040101010101" charset="-122"/>
              </a:rPr>
              <a:t>MySQL</a:t>
            </a:r>
            <a:r>
              <a:rPr lang="zh-CN" altLang="en-US" sz="2000" b="1" u="sng" dirty="0">
                <a:solidFill>
                  <a:srgbClr val="FF0000"/>
                </a:solidFill>
                <a:latin typeface="华文中宋" panose="02010600040101010101" charset="-122"/>
                <a:ea typeface="华文中宋" panose="02010600040101010101" charset="-122"/>
              </a:rPr>
              <a:t>进程的机器上，用来管理每台物理机上的</a:t>
            </a:r>
            <a:r>
              <a:rPr lang="en-US" altLang="zh-CN" sz="2000" b="1" u="sng" dirty="0">
                <a:solidFill>
                  <a:srgbClr val="FF0000"/>
                </a:solidFill>
                <a:latin typeface="华文中宋" panose="02010600040101010101" charset="-122"/>
                <a:ea typeface="华文中宋" panose="02010600040101010101" charset="-122"/>
              </a:rPr>
              <a:t>MySQL</a:t>
            </a:r>
            <a:r>
              <a:rPr lang="zh-CN" altLang="en-US" sz="2000" b="1" u="sng" dirty="0">
                <a:solidFill>
                  <a:srgbClr val="FF0000"/>
                </a:solidFill>
                <a:latin typeface="华文中宋" panose="02010600040101010101" charset="-122"/>
                <a:ea typeface="华文中宋" panose="02010600040101010101" charset="-122"/>
              </a:rPr>
              <a:t>实例</a:t>
            </a:r>
            <a:r>
              <a:rPr lang="zh-CN" altLang="en-US" sz="2000" dirty="0">
                <a:latin typeface="Arial" panose="020B0604020202020204" pitchFamily="34" charset="0"/>
                <a:ea typeface="宋体" panose="02010600030101010101" pitchFamily="2" charset="-122"/>
              </a:rPr>
              <a:t>，执行主从切换、创建、删除、备份、迁移等操作，同时，还负责收集和分析</a:t>
            </a:r>
            <a:r>
              <a:rPr lang="en-US" altLang="zh-CN" sz="2000" dirty="0">
                <a:latin typeface="Arial" panose="020B0604020202020204" pitchFamily="34" charset="0"/>
                <a:ea typeface="宋体" panose="02010600030101010101" pitchFamily="2" charset="-122"/>
              </a:rPr>
              <a:t>MySQL</a:t>
            </a:r>
            <a:r>
              <a:rPr lang="zh-CN" altLang="en-US" sz="2000" dirty="0">
                <a:latin typeface="Arial" panose="020B0604020202020204" pitchFamily="34" charset="0"/>
                <a:ea typeface="宋体" panose="02010600030101010101" pitchFamily="2" charset="-122"/>
              </a:rPr>
              <a:t>进程的统计信息、慢查询日志（</a:t>
            </a:r>
            <a:r>
              <a:rPr lang="en-US" altLang="zh-CN" sz="2000" dirty="0">
                <a:latin typeface="Arial" panose="020B0604020202020204" pitchFamily="34" charset="0"/>
                <a:ea typeface="宋体" panose="02010600030101010101" pitchFamily="2" charset="-122"/>
              </a:rPr>
              <a:t>Slow Query Log</a:t>
            </a:r>
            <a:r>
              <a:rPr lang="zh-CN" altLang="en-US" sz="2000" dirty="0">
                <a:latin typeface="Arial" panose="020B0604020202020204" pitchFamily="34" charset="0"/>
                <a:ea typeface="宋体" panose="02010600030101010101" pitchFamily="2" charset="-122"/>
              </a:rPr>
              <a:t>）和</a:t>
            </a:r>
            <a:r>
              <a:rPr lang="en-US" altLang="zh-CN" sz="2000" dirty="0">
                <a:latin typeface="Arial" panose="020B0604020202020204" pitchFamily="34" charset="0"/>
                <a:ea typeface="宋体" panose="02010600030101010101" pitchFamily="2" charset="-122"/>
              </a:rPr>
              <a:t>bin-log</a:t>
            </a:r>
            <a:r>
              <a:rPr lang="zh-CN" altLang="en-US" sz="2000" dirty="0">
                <a:latin typeface="Arial" panose="020B0604020202020204" pitchFamily="34" charset="0"/>
                <a:ea typeface="宋体" panose="02010600030101010101" pitchFamily="2" charset="-122"/>
              </a:rPr>
              <a:t>。</a:t>
            </a:r>
            <a:endParaRPr lang="zh-CN" altLang="en-US" sz="2000" dirty="0">
              <a:latin typeface="Arial" panose="020B0604020202020204" pitchFamily="34" charset="0"/>
              <a:ea typeface="宋体" panose="02010600030101010101" pitchFamily="2" charset="-122"/>
            </a:endParaRPr>
          </a:p>
          <a:p>
            <a:pPr indent="266700"/>
            <a:endParaRPr lang="zh-CN" altLang="en-US" dirty="0">
              <a:latin typeface="Arial" panose="020B0604020202020204" pitchFamily="34" charset="0"/>
              <a:ea typeface="宋体" panose="02010600030101010101" pitchFamily="2" charset="-122"/>
            </a:endParaRPr>
          </a:p>
        </p:txBody>
      </p:sp>
      <p:sp>
        <p:nvSpPr>
          <p:cNvPr id="4" name="文本框 3"/>
          <p:cNvSpPr txBox="1"/>
          <p:nvPr/>
        </p:nvSpPr>
        <p:spPr>
          <a:xfrm>
            <a:off x="424180" y="177165"/>
            <a:ext cx="6214110" cy="521970"/>
          </a:xfrm>
          <a:prstGeom prst="rect">
            <a:avLst/>
          </a:prstGeom>
          <a:noFill/>
        </p:spPr>
        <p:txBody>
          <a:bodyPr wrap="none" rtlCol="0" anchor="t">
            <a:spAutoFit/>
          </a:bodyPr>
          <a:lstStyle/>
          <a:p>
            <a:r>
              <a:rPr lang="zh-CN" altLang="en-US" sz="3200" dirty="0">
                <a:solidFill>
                  <a:srgbClr val="0033CC"/>
                </a:solidFill>
                <a:ea typeface="黑体" panose="02010609060101010101" pitchFamily="1" charset="-122"/>
                <a:cs typeface="+mn-ea"/>
                <a:sym typeface="+mn-ea"/>
              </a:rPr>
              <a:t>UMP--阿里集团高可用数据库架构实例</a:t>
            </a:r>
            <a:endParaRPr lang="zh-CN" altLang="en-US" sz="3200" dirty="0">
              <a:solidFill>
                <a:srgbClr val="0033CC"/>
              </a:solidFill>
              <a:ea typeface="黑体" panose="02010609060101010101" pitchFamily="1" charset="-122"/>
              <a:cs typeface="+mn-ea"/>
              <a:sym typeface="+mn-ea"/>
            </a:endParaRP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4"/>
          <p:cNvSpPr/>
          <p:nvPr/>
        </p:nvSpPr>
        <p:spPr>
          <a:xfrm>
            <a:off x="573088" y="1968500"/>
            <a:ext cx="3713162" cy="460375"/>
          </a:xfrm>
          <a:prstGeom prst="rect">
            <a:avLst/>
          </a:prstGeom>
          <a:noFill/>
          <a:ln w="9525">
            <a:noFill/>
          </a:ln>
        </p:spPr>
        <p:txBody>
          <a:bodyPr wrap="square" anchor="ctr">
            <a:spAutoFit/>
          </a:bodyPr>
          <a:lstStyle/>
          <a:p>
            <a:pPr eaLnBrk="0" hangingPunct="0">
              <a:buNone/>
            </a:pPr>
            <a:r>
              <a:rPr lang="zh-CN" altLang="en-US" sz="2400" b="1" dirty="0">
                <a:solidFill>
                  <a:srgbClr val="FF0000"/>
                </a:solidFill>
                <a:latin typeface="Arial" panose="020B0604020202020204" pitchFamily="34" charset="0"/>
                <a:ea typeface="宋体" panose="02010600030101010101" pitchFamily="2" charset="-122"/>
              </a:rPr>
              <a:t>（</a:t>
            </a:r>
            <a:r>
              <a:rPr lang="en-US" altLang="zh-CN" sz="2400" b="1" dirty="0">
                <a:solidFill>
                  <a:srgbClr val="FF0000"/>
                </a:solidFill>
                <a:latin typeface="Arial" panose="020B0604020202020204" pitchFamily="34" charset="0"/>
                <a:ea typeface="宋体" panose="02010600030101010101" pitchFamily="2" charset="-122"/>
              </a:rPr>
              <a:t>5</a:t>
            </a:r>
            <a:r>
              <a:rPr lang="zh-CN" altLang="en-US" sz="2400" b="1" dirty="0">
                <a:solidFill>
                  <a:srgbClr val="FF0000"/>
                </a:solidFill>
                <a:latin typeface="Arial" panose="020B0604020202020204" pitchFamily="34" charset="0"/>
                <a:ea typeface="宋体" panose="02010600030101010101" pitchFamily="2" charset="-122"/>
              </a:rPr>
              <a:t>）日志分析服务器</a:t>
            </a:r>
            <a:r>
              <a:rPr lang="zh-CN" altLang="en-US" sz="2400" dirty="0">
                <a:solidFill>
                  <a:srgbClr val="FF0000"/>
                </a:solidFill>
                <a:latin typeface="Arial" panose="020B0604020202020204" pitchFamily="34" charset="0"/>
                <a:ea typeface="宋体" panose="02010600030101010101" pitchFamily="2" charset="-122"/>
              </a:rPr>
              <a:t> </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33796" name="文本框 4"/>
          <p:cNvSpPr txBox="1"/>
          <p:nvPr/>
        </p:nvSpPr>
        <p:spPr>
          <a:xfrm>
            <a:off x="717550" y="2414588"/>
            <a:ext cx="8077200" cy="768350"/>
          </a:xfrm>
          <a:prstGeom prst="rect">
            <a:avLst/>
          </a:prstGeom>
          <a:noFill/>
          <a:ln w="9525">
            <a:noFill/>
          </a:ln>
        </p:spPr>
        <p:txBody>
          <a:bodyPr wrap="square" anchor="t">
            <a:spAutoFit/>
          </a:bodyPr>
          <a:lstStyle/>
          <a:p>
            <a:pPr>
              <a:lnSpc>
                <a:spcPct val="110000"/>
              </a:lnSpc>
              <a:buNone/>
            </a:pPr>
            <a:r>
              <a:rPr lang="en-US" altLang="zh-CN" dirty="0">
                <a:latin typeface="Arial" panose="020B0604020202020204" pitchFamily="34" charset="0"/>
                <a:ea typeface="宋体" panose="02010600030101010101" pitchFamily="2" charset="-122"/>
                <a:sym typeface="宋体" panose="02010600030101010101" pitchFamily="2" charset="-122"/>
              </a:rPr>
              <a:t>      </a:t>
            </a:r>
            <a:r>
              <a:rPr lang="zh-CN" altLang="en-US" sz="2000" dirty="0">
                <a:latin typeface="Arial" panose="020B0604020202020204" pitchFamily="34" charset="0"/>
                <a:ea typeface="宋体" panose="02010600030101010101" pitchFamily="2" charset="-122"/>
                <a:sym typeface="宋体" panose="02010600030101010101" pitchFamily="2" charset="-122"/>
              </a:rPr>
              <a:t>日志分析服务器存储和分析</a:t>
            </a:r>
            <a:r>
              <a:rPr lang="en-US" altLang="zh-CN" sz="2000" dirty="0">
                <a:latin typeface="Arial" panose="020B0604020202020204" pitchFamily="34" charset="0"/>
                <a:ea typeface="宋体" panose="02010600030101010101" pitchFamily="2" charset="-122"/>
                <a:sym typeface="宋体" panose="02010600030101010101" pitchFamily="2" charset="-122"/>
              </a:rPr>
              <a:t>Proxy</a:t>
            </a:r>
            <a:r>
              <a:rPr lang="zh-CN" altLang="en-US" sz="2000" dirty="0">
                <a:latin typeface="Arial" panose="020B0604020202020204" pitchFamily="34" charset="0"/>
                <a:ea typeface="宋体" panose="02010600030101010101" pitchFamily="2" charset="-122"/>
                <a:sym typeface="宋体" panose="02010600030101010101" pitchFamily="2" charset="-122"/>
              </a:rPr>
              <a:t>服务器传入的用户访问日志，并支持实时查询一段时间内的慢日志和统计报表。</a:t>
            </a:r>
            <a:endParaRPr lang="zh-CN" altLang="en-US" sz="2000">
              <a:latin typeface="Arial" panose="020B0604020202020204" pitchFamily="34" charset="0"/>
              <a:ea typeface="宋体" panose="02010600030101010101" pitchFamily="2" charset="-122"/>
            </a:endParaRPr>
          </a:p>
        </p:txBody>
      </p:sp>
      <p:sp>
        <p:nvSpPr>
          <p:cNvPr id="33797" name="Rectangle 4"/>
          <p:cNvSpPr/>
          <p:nvPr/>
        </p:nvSpPr>
        <p:spPr>
          <a:xfrm>
            <a:off x="573088" y="3205163"/>
            <a:ext cx="3713162" cy="460375"/>
          </a:xfrm>
          <a:prstGeom prst="rect">
            <a:avLst/>
          </a:prstGeom>
          <a:noFill/>
          <a:ln w="9525">
            <a:noFill/>
          </a:ln>
        </p:spPr>
        <p:txBody>
          <a:bodyPr wrap="square" anchor="ctr">
            <a:spAutoFit/>
          </a:bodyPr>
          <a:lstStyle/>
          <a:p>
            <a:pPr eaLnBrk="0" hangingPunct="0">
              <a:buNone/>
            </a:pPr>
            <a:r>
              <a:rPr lang="zh-CN" altLang="en-US" sz="2400" b="1" dirty="0">
                <a:solidFill>
                  <a:srgbClr val="FF0000"/>
                </a:solidFill>
                <a:latin typeface="Arial" panose="020B0604020202020204" pitchFamily="34" charset="0"/>
                <a:ea typeface="宋体" panose="02010600030101010101" pitchFamily="2" charset="-122"/>
              </a:rPr>
              <a:t>（</a:t>
            </a:r>
            <a:r>
              <a:rPr lang="en-US" altLang="zh-CN" sz="2400" b="1" dirty="0">
                <a:solidFill>
                  <a:srgbClr val="FF0000"/>
                </a:solidFill>
                <a:latin typeface="Arial" panose="020B0604020202020204" pitchFamily="34" charset="0"/>
                <a:ea typeface="宋体" panose="02010600030101010101" pitchFamily="2" charset="-122"/>
              </a:rPr>
              <a:t>6</a:t>
            </a:r>
            <a:r>
              <a:rPr lang="zh-CN" altLang="en-US" sz="2400" b="1" dirty="0">
                <a:solidFill>
                  <a:srgbClr val="FF0000"/>
                </a:solidFill>
                <a:latin typeface="Arial" panose="020B0604020202020204" pitchFamily="34" charset="0"/>
                <a:ea typeface="宋体" panose="02010600030101010101" pitchFamily="2" charset="-122"/>
              </a:rPr>
              <a:t>）信息统计服务器</a:t>
            </a:r>
            <a:r>
              <a:rPr lang="zh-CN" altLang="en-US" sz="2400" dirty="0">
                <a:solidFill>
                  <a:srgbClr val="FF0000"/>
                </a:solidFill>
                <a:latin typeface="Arial" panose="020B0604020202020204" pitchFamily="34" charset="0"/>
                <a:ea typeface="宋体" panose="02010600030101010101" pitchFamily="2" charset="-122"/>
              </a:rPr>
              <a:t> </a:t>
            </a:r>
            <a:endParaRPr lang="zh-CN" altLang="en-US" sz="2400" dirty="0">
              <a:solidFill>
                <a:srgbClr val="FF0000"/>
              </a:solidFill>
              <a:latin typeface="Arial" panose="020B0604020202020204" pitchFamily="34" charset="0"/>
              <a:ea typeface="宋体" panose="02010600030101010101" pitchFamily="2" charset="-122"/>
            </a:endParaRPr>
          </a:p>
        </p:txBody>
      </p:sp>
      <p:sp>
        <p:nvSpPr>
          <p:cNvPr id="33798" name="文本框 6"/>
          <p:cNvSpPr txBox="1"/>
          <p:nvPr/>
        </p:nvSpPr>
        <p:spPr>
          <a:xfrm>
            <a:off x="650875" y="3663950"/>
            <a:ext cx="8024813" cy="1445260"/>
          </a:xfrm>
          <a:prstGeom prst="rect">
            <a:avLst/>
          </a:prstGeom>
          <a:noFill/>
          <a:ln w="9525">
            <a:noFill/>
          </a:ln>
        </p:spPr>
        <p:txBody>
          <a:bodyPr wrap="square" anchor="t">
            <a:spAutoFit/>
          </a:bodyPr>
          <a:lstStyle/>
          <a:p>
            <a:pPr>
              <a:lnSpc>
                <a:spcPct val="110000"/>
              </a:lnSpc>
              <a:buNone/>
            </a:pPr>
            <a:r>
              <a:rPr lang="en-US" altLang="zh-CN" sz="2000" dirty="0">
                <a:latin typeface="Arial" panose="020B0604020202020204" pitchFamily="34" charset="0"/>
                <a:ea typeface="宋体" panose="02010600030101010101" pitchFamily="2" charset="-122"/>
                <a:sym typeface="宋体" panose="02010600030101010101" pitchFamily="2" charset="-122"/>
              </a:rPr>
              <a:t>     </a:t>
            </a:r>
            <a:r>
              <a:rPr lang="zh-CN" altLang="en-US" sz="2000" dirty="0">
                <a:latin typeface="Arial" panose="020B0604020202020204" pitchFamily="34" charset="0"/>
                <a:ea typeface="宋体" panose="02010600030101010101" pitchFamily="2" charset="-122"/>
                <a:sym typeface="宋体" panose="02010600030101010101" pitchFamily="2" charset="-122"/>
              </a:rPr>
              <a:t>信息统计服务器定期将采集到的用户的连接数、</a:t>
            </a:r>
            <a:r>
              <a:rPr lang="en-US" altLang="zh-CN" sz="2000" dirty="0">
                <a:latin typeface="Arial" panose="020B0604020202020204" pitchFamily="34" charset="0"/>
                <a:ea typeface="宋体" panose="02010600030101010101" pitchFamily="2" charset="-122"/>
                <a:sym typeface="宋体" panose="02010600030101010101" pitchFamily="2" charset="-122"/>
              </a:rPr>
              <a:t>QPS</a:t>
            </a:r>
            <a:r>
              <a:rPr lang="zh-CN" altLang="en-US" sz="2000" dirty="0">
                <a:latin typeface="Arial" panose="020B0604020202020204" pitchFamily="34" charset="0"/>
                <a:ea typeface="宋体" panose="02010600030101010101" pitchFamily="2" charset="-122"/>
                <a:sym typeface="宋体" panose="02010600030101010101" pitchFamily="2" charset="-122"/>
              </a:rPr>
              <a:t>数值以及</a:t>
            </a:r>
            <a:r>
              <a:rPr lang="en-US" altLang="zh-CN" sz="2000" dirty="0">
                <a:latin typeface="Arial" panose="020B0604020202020204" pitchFamily="34" charset="0"/>
                <a:ea typeface="宋体" panose="02010600030101010101" pitchFamily="2" charset="-122"/>
                <a:sym typeface="宋体" panose="02010600030101010101" pitchFamily="2" charset="-122"/>
              </a:rPr>
              <a:t>MySQL</a:t>
            </a:r>
            <a:r>
              <a:rPr lang="zh-CN" altLang="en-US" sz="2000" dirty="0">
                <a:latin typeface="Arial" panose="020B0604020202020204" pitchFamily="34" charset="0"/>
                <a:ea typeface="宋体" panose="02010600030101010101" pitchFamily="2" charset="-122"/>
                <a:sym typeface="宋体" panose="02010600030101010101" pitchFamily="2" charset="-122"/>
              </a:rPr>
              <a:t>实例的进程状态用</a:t>
            </a:r>
            <a:r>
              <a:rPr lang="en-US" altLang="zh-CN" sz="2000" dirty="0">
                <a:latin typeface="Arial" panose="020B0604020202020204" pitchFamily="34" charset="0"/>
                <a:ea typeface="宋体" panose="02010600030101010101" pitchFamily="2" charset="-122"/>
                <a:sym typeface="宋体" panose="02010600030101010101" pitchFamily="2" charset="-122"/>
              </a:rPr>
              <a:t>RRDtool</a:t>
            </a:r>
            <a:r>
              <a:rPr lang="zh-CN" altLang="en-US" sz="2000" dirty="0">
                <a:latin typeface="Arial" panose="020B0604020202020204" pitchFamily="34" charset="0"/>
                <a:ea typeface="宋体" panose="02010600030101010101" pitchFamily="2" charset="-122"/>
                <a:sym typeface="宋体" panose="02010600030101010101" pitchFamily="2" charset="-122"/>
              </a:rPr>
              <a:t>进行统计，可以在 </a:t>
            </a:r>
            <a:r>
              <a:rPr lang="en-US" altLang="zh-CN" sz="2000" dirty="0">
                <a:latin typeface="Arial" panose="020B0604020202020204" pitchFamily="34" charset="0"/>
                <a:ea typeface="宋体" panose="02010600030101010101" pitchFamily="2" charset="-122"/>
                <a:sym typeface="宋体" panose="02010600030101010101" pitchFamily="2" charset="-122"/>
              </a:rPr>
              <a:t>Web</a:t>
            </a:r>
            <a:r>
              <a:rPr lang="zh-CN" altLang="en-US" sz="2000" dirty="0">
                <a:latin typeface="Arial" panose="020B0604020202020204" pitchFamily="34" charset="0"/>
                <a:ea typeface="宋体" panose="02010600030101010101" pitchFamily="2" charset="-122"/>
                <a:sym typeface="宋体" panose="02010600030101010101" pitchFamily="2" charset="-122"/>
              </a:rPr>
              <a:t>界面上可视化展示统计结果，也可以把统计结果作为今后实现弹性的资源分配和自动化的</a:t>
            </a:r>
            <a:r>
              <a:rPr lang="en-US" altLang="zh-CN" sz="2000" dirty="0">
                <a:latin typeface="Arial" panose="020B0604020202020204" pitchFamily="34" charset="0"/>
                <a:ea typeface="宋体" panose="02010600030101010101" pitchFamily="2" charset="-122"/>
                <a:sym typeface="宋体" panose="02010600030101010101" pitchFamily="2" charset="-122"/>
              </a:rPr>
              <a:t>MySQL</a:t>
            </a:r>
            <a:r>
              <a:rPr lang="zh-CN" altLang="en-US" sz="2000" dirty="0">
                <a:latin typeface="Arial" panose="020B0604020202020204" pitchFamily="34" charset="0"/>
                <a:ea typeface="宋体" panose="02010600030101010101" pitchFamily="2" charset="-122"/>
                <a:sym typeface="宋体" panose="02010600030101010101" pitchFamily="2" charset="-122"/>
              </a:rPr>
              <a:t>实例迁移的依据。</a:t>
            </a:r>
            <a:endParaRPr lang="zh-CN" altLang="en-US" sz="2000">
              <a:latin typeface="Arial" panose="020B0604020202020204" pitchFamily="34" charset="0"/>
              <a:ea typeface="宋体" panose="02010600030101010101" pitchFamily="2" charset="-122"/>
            </a:endParaRPr>
          </a:p>
        </p:txBody>
      </p:sp>
      <p:sp>
        <p:nvSpPr>
          <p:cNvPr id="33800" name="Rectangle 4"/>
          <p:cNvSpPr/>
          <p:nvPr/>
        </p:nvSpPr>
        <p:spPr>
          <a:xfrm>
            <a:off x="573088" y="5113021"/>
            <a:ext cx="8102600" cy="1143635"/>
          </a:xfrm>
          <a:prstGeom prst="rect">
            <a:avLst/>
          </a:prstGeom>
          <a:noFill/>
          <a:ln w="9525">
            <a:noFill/>
          </a:ln>
        </p:spPr>
        <p:txBody>
          <a:bodyPr wrap="square" anchor="ctr">
            <a:spAutoFit/>
          </a:bodyPr>
          <a:lstStyle/>
          <a:p>
            <a:pPr eaLnBrk="0" hangingPunct="0">
              <a:lnSpc>
                <a:spcPct val="110000"/>
              </a:lnSpc>
              <a:buNone/>
            </a:pPr>
            <a:r>
              <a:rPr lang="en-US" altLang="zh-CN" sz="2400" b="1" dirty="0">
                <a:solidFill>
                  <a:srgbClr val="FF0000"/>
                </a:solidFill>
                <a:latin typeface="Arial" panose="020B0604020202020204" pitchFamily="34" charset="0"/>
                <a:ea typeface="宋体" panose="02010600030101010101" pitchFamily="2" charset="-122"/>
              </a:rPr>
              <a:t>  </a:t>
            </a:r>
            <a:r>
              <a:rPr lang="zh-CN" altLang="en-US" sz="2400" b="1" dirty="0">
                <a:solidFill>
                  <a:srgbClr val="FF0000"/>
                </a:solidFill>
                <a:latin typeface="Arial" panose="020B0604020202020204" pitchFamily="34" charset="0"/>
                <a:ea typeface="宋体" panose="02010600030101010101" pitchFamily="2" charset="-122"/>
              </a:rPr>
              <a:t>（</a:t>
            </a:r>
            <a:r>
              <a:rPr lang="en-US" altLang="zh-CN" sz="2400" b="1" dirty="0">
                <a:solidFill>
                  <a:srgbClr val="FF0000"/>
                </a:solidFill>
                <a:latin typeface="Arial" panose="020B0604020202020204" pitchFamily="34" charset="0"/>
                <a:ea typeface="宋体" panose="02010600030101010101" pitchFamily="2" charset="-122"/>
              </a:rPr>
              <a:t>7</a:t>
            </a:r>
            <a:r>
              <a:rPr lang="zh-CN" altLang="en-US" sz="2400" b="1" dirty="0">
                <a:solidFill>
                  <a:srgbClr val="FF0000"/>
                </a:solidFill>
                <a:latin typeface="Arial" panose="020B0604020202020204" pitchFamily="34" charset="0"/>
                <a:ea typeface="宋体" panose="02010600030101010101" pitchFamily="2" charset="-122"/>
              </a:rPr>
              <a:t>）愚公系统：</a:t>
            </a:r>
            <a:r>
              <a:rPr lang="zh-CN" altLang="en-US" sz="2000" dirty="0">
                <a:latin typeface="Arial" panose="020B0604020202020204" pitchFamily="34" charset="0"/>
                <a:ea typeface="宋体" panose="02010600030101010101" pitchFamily="2" charset="-122"/>
                <a:sym typeface="宋体" panose="02010600030101010101" pitchFamily="2" charset="-122"/>
              </a:rPr>
              <a:t>愚公系统是一个在线数据迁移的工具，</a:t>
            </a:r>
            <a:r>
              <a:rPr lang="zh-CN" altLang="en-US" sz="2000" b="1" dirty="0">
                <a:solidFill>
                  <a:srgbClr val="FF0000"/>
                </a:solidFill>
                <a:latin typeface="Arial" panose="020B0604020202020204" pitchFamily="34" charset="0"/>
                <a:ea typeface="宋体" panose="02010600030101010101" pitchFamily="2" charset="-122"/>
                <a:sym typeface="宋体" panose="02010600030101010101" pitchFamily="2" charset="-122"/>
              </a:rPr>
              <a:t>可以实现在不停机的情况下动态扩容、缩容和迁移。</a:t>
            </a:r>
            <a:endParaRPr lang="zh-CN" altLang="en-US" sz="2000" b="1" dirty="0">
              <a:solidFill>
                <a:srgbClr val="FF0000"/>
              </a:solidFill>
              <a:latin typeface="Arial" panose="020B0604020202020204" pitchFamily="34" charset="0"/>
              <a:ea typeface="宋体" panose="02010600030101010101" pitchFamily="2" charset="-122"/>
              <a:sym typeface="宋体" panose="02010600030101010101" pitchFamily="2" charset="-122"/>
            </a:endParaRPr>
          </a:p>
          <a:p>
            <a:pPr eaLnBrk="0" hangingPunct="0"/>
            <a:endParaRPr lang="zh-CN" altLang="en-US" sz="2000" b="1" dirty="0">
              <a:solidFill>
                <a:srgbClr val="FF0000"/>
              </a:solidFill>
              <a:latin typeface="Arial" panose="020B0604020202020204" pitchFamily="34" charset="0"/>
              <a:ea typeface="宋体" panose="02010600030101010101" pitchFamily="2" charset="-122"/>
              <a:sym typeface="宋体" panose="02010600030101010101" pitchFamily="2" charset="-122"/>
            </a:endParaRPr>
          </a:p>
        </p:txBody>
      </p:sp>
      <p:sp>
        <p:nvSpPr>
          <p:cNvPr id="2" name="文本框 7"/>
          <p:cNvSpPr txBox="1"/>
          <p:nvPr/>
        </p:nvSpPr>
        <p:spPr>
          <a:xfrm>
            <a:off x="573088" y="1314768"/>
            <a:ext cx="7961312" cy="460375"/>
          </a:xfrm>
          <a:prstGeom prst="rect">
            <a:avLst/>
          </a:prstGeom>
          <a:noFill/>
          <a:ln w="9525">
            <a:noFill/>
          </a:ln>
        </p:spPr>
        <p:txBody>
          <a:bodyPr wrap="square" anchor="t">
            <a:spAutoFit/>
          </a:bodyPr>
          <a:lstStyle/>
          <a:p>
            <a:pPr>
              <a:buNone/>
            </a:pPr>
            <a:r>
              <a:rPr lang="zh-CN" altLang="en-US" sz="2400" b="1" dirty="0">
                <a:solidFill>
                  <a:srgbClr val="FF0000"/>
                </a:solidFill>
                <a:latin typeface="Arial" panose="020B0604020202020204" pitchFamily="34" charset="0"/>
                <a:ea typeface="宋体" panose="02010600030101010101" pitchFamily="2" charset="-122"/>
                <a:sym typeface="宋体" panose="02010600030101010101" pitchFamily="2" charset="-122"/>
              </a:rPr>
              <a:t>（</a:t>
            </a:r>
            <a:r>
              <a:rPr lang="en-US" altLang="zh-CN" sz="2400" b="1" dirty="0">
                <a:solidFill>
                  <a:srgbClr val="FF0000"/>
                </a:solidFill>
                <a:latin typeface="Arial" panose="020B0604020202020204" pitchFamily="34" charset="0"/>
                <a:ea typeface="宋体" panose="02010600030101010101" pitchFamily="2" charset="-122"/>
                <a:sym typeface="宋体" panose="02010600030101010101" pitchFamily="2" charset="-122"/>
              </a:rPr>
              <a:t>4</a:t>
            </a:r>
            <a:r>
              <a:rPr lang="zh-CN" altLang="en-US" sz="2400" b="1" dirty="0">
                <a:solidFill>
                  <a:srgbClr val="FF0000"/>
                </a:solidFill>
                <a:latin typeface="Arial" panose="020B0604020202020204" pitchFamily="34" charset="0"/>
                <a:ea typeface="宋体" panose="02010600030101010101" pitchFamily="2" charset="-122"/>
                <a:sym typeface="宋体" panose="02010600030101010101" pitchFamily="2" charset="-122"/>
              </a:rPr>
              <a:t>）</a:t>
            </a:r>
            <a:r>
              <a:rPr lang="en-US" altLang="zh-CN" sz="2400" b="1" dirty="0">
                <a:solidFill>
                  <a:srgbClr val="FF0000"/>
                </a:solidFill>
                <a:latin typeface="Arial" panose="020B0604020202020204" pitchFamily="34" charset="0"/>
                <a:ea typeface="宋体" panose="02010600030101010101" pitchFamily="2" charset="-122"/>
                <a:sym typeface="宋体" panose="02010600030101010101" pitchFamily="2" charset="-122"/>
              </a:rPr>
              <a:t>Web</a:t>
            </a:r>
            <a:r>
              <a:rPr lang="zh-CN" altLang="en-US" sz="2400" b="1" dirty="0">
                <a:solidFill>
                  <a:srgbClr val="FF0000"/>
                </a:solidFill>
                <a:latin typeface="Arial" panose="020B0604020202020204" pitchFamily="34" charset="0"/>
                <a:ea typeface="宋体" panose="02010600030101010101" pitchFamily="2" charset="-122"/>
                <a:sym typeface="宋体" panose="02010600030101010101" pitchFamily="2" charset="-122"/>
              </a:rPr>
              <a:t>控制台：</a:t>
            </a:r>
            <a:r>
              <a:rPr lang="en-US" altLang="zh-CN" sz="2200" dirty="0">
                <a:latin typeface="Arial" panose="020B0604020202020204" pitchFamily="34" charset="0"/>
                <a:ea typeface="宋体" panose="02010600030101010101" pitchFamily="2" charset="-122"/>
                <a:sym typeface="宋体" panose="02010600030101010101" pitchFamily="2" charset="-122"/>
              </a:rPr>
              <a:t> Web</a:t>
            </a:r>
            <a:r>
              <a:rPr lang="zh-CN" altLang="en-US" sz="2200" dirty="0">
                <a:latin typeface="Arial" panose="020B0604020202020204" pitchFamily="34" charset="0"/>
                <a:ea typeface="宋体" panose="02010600030101010101" pitchFamily="2" charset="-122"/>
                <a:sym typeface="宋体" panose="02010600030101010101" pitchFamily="2" charset="-122"/>
              </a:rPr>
              <a:t>控制台向用户提供系统管理界面。</a:t>
            </a:r>
            <a:endParaRPr lang="zh-CN" altLang="en-US" sz="2200" b="1" dirty="0">
              <a:solidFill>
                <a:srgbClr val="FF0000"/>
              </a:solidFill>
              <a:latin typeface="Arial" panose="020B0604020202020204" pitchFamily="34" charset="0"/>
              <a:ea typeface="宋体" panose="02010600030101010101" pitchFamily="2" charset="-122"/>
              <a:sym typeface="宋体" panose="02010600030101010101" pitchFamily="2" charset="-122"/>
            </a:endParaRPr>
          </a:p>
        </p:txBody>
      </p:sp>
      <p:sp>
        <p:nvSpPr>
          <p:cNvPr id="4" name="文本框 3"/>
          <p:cNvSpPr txBox="1"/>
          <p:nvPr/>
        </p:nvSpPr>
        <p:spPr>
          <a:xfrm>
            <a:off x="424180" y="177165"/>
            <a:ext cx="6214110" cy="521970"/>
          </a:xfrm>
          <a:prstGeom prst="rect">
            <a:avLst/>
          </a:prstGeom>
          <a:noFill/>
        </p:spPr>
        <p:txBody>
          <a:bodyPr wrap="none" rtlCol="0" anchor="t">
            <a:spAutoFit/>
          </a:bodyPr>
          <a:lstStyle/>
          <a:p>
            <a:r>
              <a:rPr lang="zh-CN" altLang="en-US" sz="3200" dirty="0">
                <a:solidFill>
                  <a:srgbClr val="0033CC"/>
                </a:solidFill>
                <a:ea typeface="黑体" panose="02010609060101010101" pitchFamily="1" charset="-122"/>
                <a:cs typeface="+mn-ea"/>
                <a:sym typeface="+mn-ea"/>
              </a:rPr>
              <a:t>UMP--阿里集团高可用数据库架构实例</a:t>
            </a:r>
            <a:endParaRPr lang="zh-CN" altLang="en-US" sz="3200" dirty="0">
              <a:solidFill>
                <a:srgbClr val="0033CC"/>
              </a:solidFill>
              <a:ea typeface="黑体" panose="02010609060101010101" pitchFamily="1" charset="-122"/>
              <a:cs typeface="+mn-ea"/>
              <a:sym typeface="+mn-ea"/>
            </a:endParaRP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4"/>
          <p:cNvSpPr/>
          <p:nvPr/>
        </p:nvSpPr>
        <p:spPr>
          <a:xfrm>
            <a:off x="520700" y="1307783"/>
            <a:ext cx="5066665" cy="589280"/>
          </a:xfrm>
          <a:prstGeom prst="rect">
            <a:avLst/>
          </a:prstGeom>
          <a:noFill/>
          <a:ln w="9525">
            <a:noFill/>
          </a:ln>
        </p:spPr>
        <p:txBody>
          <a:bodyPr wrap="square" anchor="ctr">
            <a:spAutoFit/>
          </a:bodyPr>
          <a:lstStyle/>
          <a:p>
            <a:pPr eaLnBrk="0" hangingPunct="0">
              <a:buFont typeface="Wingdings" panose="05000000000000000000" charset="0"/>
              <a:buChar char=""/>
            </a:pPr>
            <a:r>
              <a:rPr lang="en-US" altLang="zh-CN" sz="2400" b="1" dirty="0">
                <a:solidFill>
                  <a:srgbClr val="FF0000"/>
                </a:solidFill>
                <a:latin typeface="Arial" panose="020B0604020202020204" pitchFamily="34" charset="0"/>
                <a:ea typeface="宋体" panose="02010600030101010101" pitchFamily="2" charset="-122"/>
              </a:rPr>
              <a:t>UMP</a:t>
            </a:r>
            <a:r>
              <a:rPr lang="zh-CN" altLang="en-US" sz="2400" b="1" dirty="0">
                <a:solidFill>
                  <a:srgbClr val="FF0000"/>
                </a:solidFill>
                <a:latin typeface="Arial" panose="020B0604020202020204" pitchFamily="34" charset="0"/>
                <a:ea typeface="宋体" panose="02010600030101010101" pitchFamily="2" charset="-122"/>
              </a:rPr>
              <a:t>的功能</a:t>
            </a:r>
            <a:r>
              <a:rPr lang="en-US" altLang="zh-CN" sz="2400" b="1" dirty="0">
                <a:solidFill>
                  <a:srgbClr val="0033CC"/>
                </a:solidFill>
                <a:latin typeface="Arial" panose="020B0604020202020204" pitchFamily="34" charset="0"/>
                <a:ea typeface="宋体" panose="02010600030101010101" pitchFamily="2" charset="-122"/>
              </a:rPr>
              <a:t>——</a:t>
            </a:r>
            <a:r>
              <a:rPr lang="zh-CN" altLang="en-US" sz="2400" b="1" dirty="0">
                <a:solidFill>
                  <a:srgbClr val="0033CC"/>
                </a:solidFill>
                <a:latin typeface="Arial" panose="020B0604020202020204" pitchFamily="34" charset="0"/>
                <a:ea typeface="宋体" panose="02010600030101010101" pitchFamily="2" charset="-122"/>
              </a:rPr>
              <a:t>容灾，主从切换</a:t>
            </a:r>
            <a:r>
              <a:rPr lang="zh-CN" altLang="en-US" sz="2400" dirty="0">
                <a:solidFill>
                  <a:srgbClr val="0033CC"/>
                </a:solidFill>
                <a:latin typeface="Arial" panose="020B0604020202020204" pitchFamily="34" charset="0"/>
                <a:ea typeface="宋体" panose="02010600030101010101" pitchFamily="2" charset="-122"/>
              </a:rPr>
              <a:t> </a:t>
            </a:r>
            <a:endParaRPr lang="zh-CN" altLang="en-US" sz="2400" dirty="0">
              <a:solidFill>
                <a:srgbClr val="0033CC"/>
              </a:solidFill>
              <a:latin typeface="Arial" panose="020B0604020202020204" pitchFamily="34" charset="0"/>
              <a:ea typeface="宋体" panose="02010600030101010101" pitchFamily="2" charset="-122"/>
            </a:endParaRPr>
          </a:p>
        </p:txBody>
      </p:sp>
      <p:sp>
        <p:nvSpPr>
          <p:cNvPr id="35844" name="Rectangle 5"/>
          <p:cNvSpPr/>
          <p:nvPr/>
        </p:nvSpPr>
        <p:spPr>
          <a:xfrm>
            <a:off x="641350" y="1896904"/>
            <a:ext cx="8229600" cy="1173480"/>
          </a:xfrm>
          <a:prstGeom prst="rect">
            <a:avLst/>
          </a:prstGeom>
          <a:noFill/>
          <a:ln w="9525">
            <a:noFill/>
          </a:ln>
        </p:spPr>
        <p:txBody>
          <a:bodyPr wrap="square" anchor="ctr">
            <a:spAutoFit/>
          </a:bodyPr>
          <a:lstStyle/>
          <a:p>
            <a:pPr eaLnBrk="0" hangingPunct="0">
              <a:lnSpc>
                <a:spcPct val="110000"/>
              </a:lnSpc>
              <a:buNone/>
            </a:pPr>
            <a:r>
              <a:rPr lang="en-US" altLang="zh-CN" sz="2000" dirty="0">
                <a:latin typeface="Arial" panose="020B0604020202020204" pitchFamily="34" charset="0"/>
                <a:ea typeface="宋体" panose="02010600030101010101" pitchFamily="2" charset="-122"/>
              </a:rPr>
              <a:t>      </a:t>
            </a:r>
            <a:r>
              <a:rPr lang="en-US" altLang="zh-CN" sz="2200" dirty="0">
                <a:latin typeface="Arial" panose="020B0604020202020204" pitchFamily="34" charset="0"/>
                <a:ea typeface="宋体" panose="02010600030101010101" pitchFamily="2" charset="-122"/>
              </a:rPr>
              <a:t> </a:t>
            </a:r>
            <a:r>
              <a:rPr lang="en-US" altLang="zh-CN" sz="2100" dirty="0">
                <a:latin typeface="Arial" panose="020B0604020202020204" pitchFamily="34" charset="0"/>
                <a:ea typeface="宋体" panose="02010600030101010101" pitchFamily="2" charset="-122"/>
              </a:rPr>
              <a:t> </a:t>
            </a:r>
            <a:r>
              <a:rPr lang="zh-CN" altLang="en-US" sz="2100" dirty="0">
                <a:latin typeface="Arial" panose="020B0604020202020204" pitchFamily="34" charset="0"/>
                <a:ea typeface="宋体" panose="02010600030101010101" pitchFamily="2" charset="-122"/>
              </a:rPr>
              <a:t>为了实现容灾，</a:t>
            </a:r>
            <a:r>
              <a:rPr lang="en-US" altLang="zh-CN" sz="2100" dirty="0">
                <a:latin typeface="Arial" panose="020B0604020202020204" pitchFamily="34" charset="0"/>
                <a:ea typeface="宋体" panose="02010600030101010101" pitchFamily="2" charset="-122"/>
              </a:rPr>
              <a:t>UMP</a:t>
            </a:r>
            <a:r>
              <a:rPr lang="zh-CN" altLang="en-US" sz="2100" dirty="0">
                <a:latin typeface="Arial" panose="020B0604020202020204" pitchFamily="34" charset="0"/>
                <a:ea typeface="宋体" panose="02010600030101010101" pitchFamily="2" charset="-122"/>
              </a:rPr>
              <a:t>系统会为每个用户创建两个</a:t>
            </a:r>
            <a:r>
              <a:rPr lang="en-US" altLang="zh-CN" sz="2100" dirty="0">
                <a:latin typeface="Arial" panose="020B0604020202020204" pitchFamily="34" charset="0"/>
                <a:ea typeface="宋体" panose="02010600030101010101" pitchFamily="2" charset="-122"/>
              </a:rPr>
              <a:t>MySQL</a:t>
            </a:r>
            <a:r>
              <a:rPr lang="zh-CN" altLang="en-US" sz="2100" dirty="0">
                <a:latin typeface="Arial" panose="020B0604020202020204" pitchFamily="34" charset="0"/>
                <a:ea typeface="宋体" panose="02010600030101010101" pitchFamily="2" charset="-122"/>
              </a:rPr>
              <a:t>实例，一个是主库，一个是从库。主库和从库的状态是由</a:t>
            </a:r>
            <a:r>
              <a:rPr lang="en-US" altLang="zh-CN" sz="2100" dirty="0">
                <a:latin typeface="Arial" panose="020B0604020202020204" pitchFamily="34" charset="0"/>
                <a:ea typeface="宋体" panose="02010600030101010101" pitchFamily="2" charset="-122"/>
              </a:rPr>
              <a:t>Zookeeper</a:t>
            </a:r>
            <a:r>
              <a:rPr lang="zh-CN" altLang="en-US" sz="2100" dirty="0">
                <a:latin typeface="Arial" panose="020B0604020202020204" pitchFamily="34" charset="0"/>
                <a:ea typeface="宋体" panose="02010600030101010101" pitchFamily="2" charset="-122"/>
              </a:rPr>
              <a:t>负责维护的，主从切换过程如下：</a:t>
            </a:r>
            <a:endParaRPr lang="zh-CN" altLang="en-US" sz="2100" dirty="0">
              <a:latin typeface="Arial" panose="020B0604020202020204" pitchFamily="34" charset="0"/>
              <a:ea typeface="宋体" panose="02010600030101010101" pitchFamily="2" charset="-122"/>
            </a:endParaRPr>
          </a:p>
        </p:txBody>
      </p:sp>
      <p:sp>
        <p:nvSpPr>
          <p:cNvPr id="35845" name="文本框 5"/>
          <p:cNvSpPr txBox="1"/>
          <p:nvPr/>
        </p:nvSpPr>
        <p:spPr>
          <a:xfrm>
            <a:off x="717550" y="3144838"/>
            <a:ext cx="8077200" cy="2722562"/>
          </a:xfrm>
          <a:prstGeom prst="rect">
            <a:avLst/>
          </a:prstGeom>
          <a:noFill/>
          <a:ln w="9525" cap="flat" cmpd="sng">
            <a:solidFill>
              <a:srgbClr val="0B07A9"/>
            </a:solidFill>
            <a:prstDash val="dash"/>
            <a:round/>
            <a:headEnd type="none" w="med" len="med"/>
            <a:tailEnd type="none" w="med" len="med"/>
          </a:ln>
        </p:spPr>
        <p:txBody>
          <a:bodyPr wrap="square" anchor="t">
            <a:spAutoFit/>
          </a:bodyPr>
          <a:lstStyle/>
          <a:p>
            <a:pPr marL="342900" indent="-342900" eaLnBrk="0" hangingPunct="0">
              <a:lnSpc>
                <a:spcPct val="115000"/>
              </a:lnSpc>
              <a:spcBef>
                <a:spcPts val="300"/>
              </a:spcBef>
              <a:buFont typeface="Wingdings" panose="05000000000000000000" charset="0"/>
              <a:buChar char="ü"/>
            </a:pPr>
            <a:r>
              <a:rPr lang="en-US" altLang="zh-CN" sz="2000" dirty="0">
                <a:latin typeface="Arial" panose="020B0604020202020204" pitchFamily="34" charset="0"/>
                <a:ea typeface="宋体" panose="02010600030101010101" pitchFamily="2" charset="-122"/>
                <a:sym typeface="宋体" panose="02010600030101010101" pitchFamily="2" charset="-122"/>
              </a:rPr>
              <a:t>Zookeeper</a:t>
            </a:r>
            <a:r>
              <a:rPr lang="zh-CN" altLang="en-US" sz="2000" dirty="0">
                <a:latin typeface="Arial" panose="020B0604020202020204" pitchFamily="34" charset="0"/>
                <a:ea typeface="宋体" panose="02010600030101010101" pitchFamily="2" charset="-122"/>
                <a:sym typeface="宋体" panose="02010600030101010101" pitchFamily="2" charset="-122"/>
              </a:rPr>
              <a:t>探测到主库故障，通知</a:t>
            </a:r>
            <a:r>
              <a:rPr lang="en-US" altLang="zh-CN" sz="2000" dirty="0">
                <a:latin typeface="Arial" panose="020B0604020202020204" pitchFamily="34" charset="0"/>
                <a:ea typeface="宋体" panose="02010600030101010101" pitchFamily="2" charset="-122"/>
                <a:sym typeface="宋体" panose="02010600030101010101" pitchFamily="2" charset="-122"/>
              </a:rPr>
              <a:t>Controller</a:t>
            </a:r>
            <a:r>
              <a:rPr lang="zh-CN" altLang="en-US" sz="2000" dirty="0">
                <a:latin typeface="Arial" panose="020B0604020202020204" pitchFamily="34" charset="0"/>
                <a:ea typeface="宋体" panose="02010600030101010101" pitchFamily="2" charset="-122"/>
                <a:sym typeface="宋体" panose="02010600030101010101" pitchFamily="2" charset="-122"/>
              </a:rPr>
              <a:t>服务器</a:t>
            </a:r>
            <a:endParaRPr lang="zh-CN" altLang="en-US" sz="2000" dirty="0">
              <a:latin typeface="Arial" panose="020B0604020202020204" pitchFamily="34" charset="0"/>
              <a:ea typeface="宋体" panose="02010600030101010101" pitchFamily="2" charset="-122"/>
              <a:sym typeface="宋体" panose="02010600030101010101" pitchFamily="2" charset="-122"/>
            </a:endParaRPr>
          </a:p>
          <a:p>
            <a:pPr marL="342900" indent="-342900" eaLnBrk="0" hangingPunct="0">
              <a:lnSpc>
                <a:spcPct val="115000"/>
              </a:lnSpc>
              <a:spcBef>
                <a:spcPts val="300"/>
              </a:spcBef>
              <a:buFont typeface="Wingdings" panose="05000000000000000000" charset="0"/>
              <a:buChar char="ü"/>
            </a:pPr>
            <a:r>
              <a:rPr lang="en-US" altLang="zh-CN" sz="2000" dirty="0">
                <a:latin typeface="Arial" panose="020B0604020202020204" pitchFamily="34" charset="0"/>
                <a:ea typeface="宋体" panose="02010600030101010101" pitchFamily="2" charset="-122"/>
                <a:sym typeface="宋体" panose="02010600030101010101" pitchFamily="2" charset="-122"/>
              </a:rPr>
              <a:t>Controller</a:t>
            </a:r>
            <a:r>
              <a:rPr lang="zh-CN" altLang="en-US" sz="2000" dirty="0">
                <a:latin typeface="Arial" panose="020B0604020202020204" pitchFamily="34" charset="0"/>
                <a:ea typeface="宋体" panose="02010600030101010101" pitchFamily="2" charset="-122"/>
                <a:sym typeface="宋体" panose="02010600030101010101" pitchFamily="2" charset="-122"/>
              </a:rPr>
              <a:t>服务器启动主从切换时，会修改“路由表”，即用户名到后端</a:t>
            </a:r>
            <a:r>
              <a:rPr lang="en-US" altLang="zh-CN" sz="2000" dirty="0">
                <a:latin typeface="Arial" panose="020B0604020202020204" pitchFamily="34" charset="0"/>
                <a:ea typeface="宋体" panose="02010600030101010101" pitchFamily="2" charset="-122"/>
                <a:sym typeface="宋体" panose="02010600030101010101" pitchFamily="2" charset="-122"/>
              </a:rPr>
              <a:t>MySQL</a:t>
            </a:r>
            <a:r>
              <a:rPr lang="zh-CN" altLang="en-US" sz="2000" dirty="0">
                <a:latin typeface="Arial" panose="020B0604020202020204" pitchFamily="34" charset="0"/>
                <a:ea typeface="宋体" panose="02010600030101010101" pitchFamily="2" charset="-122"/>
                <a:sym typeface="宋体" panose="02010600030101010101" pitchFamily="2" charset="-122"/>
              </a:rPr>
              <a:t>实例地址的映射关系</a:t>
            </a:r>
            <a:endParaRPr lang="zh-CN" altLang="en-US" sz="2000" dirty="0">
              <a:latin typeface="Arial" panose="020B0604020202020204" pitchFamily="34" charset="0"/>
              <a:ea typeface="宋体" panose="02010600030101010101" pitchFamily="2" charset="-122"/>
              <a:sym typeface="宋体" panose="02010600030101010101" pitchFamily="2" charset="-122"/>
            </a:endParaRPr>
          </a:p>
          <a:p>
            <a:pPr marL="0" lvl="1" indent="-342900" eaLnBrk="0" fontAlgn="base" hangingPunct="0">
              <a:lnSpc>
                <a:spcPct val="115000"/>
              </a:lnSpc>
              <a:spcBef>
                <a:spcPts val="300"/>
              </a:spcBef>
              <a:spcAft>
                <a:spcPct val="0"/>
              </a:spcAft>
              <a:buFont typeface="Wingdings" panose="05000000000000000000" charset="0"/>
              <a:buChar char="ü"/>
            </a:pPr>
            <a:r>
              <a:rPr lang="zh-CN" altLang="en-US" sz="2000" dirty="0">
                <a:latin typeface="Arial" panose="020B0604020202020204" pitchFamily="34" charset="0"/>
                <a:ea typeface="宋体" panose="02010600030101010101" pitchFamily="2" charset="-122"/>
                <a:sym typeface="宋体" panose="02010600030101010101" pitchFamily="2" charset="-122"/>
              </a:rPr>
              <a:t>把主库标记为不可用</a:t>
            </a:r>
            <a:endParaRPr lang="zh-CN" altLang="en-US" sz="2000" dirty="0">
              <a:latin typeface="Arial" panose="020B0604020202020204" pitchFamily="34" charset="0"/>
              <a:ea typeface="宋体" panose="02010600030101010101" pitchFamily="2" charset="-122"/>
              <a:sym typeface="宋体" panose="02010600030101010101" pitchFamily="2" charset="-122"/>
            </a:endParaRPr>
          </a:p>
          <a:p>
            <a:pPr marL="0" lvl="1" indent="-342900" eaLnBrk="0" fontAlgn="base" hangingPunct="0">
              <a:lnSpc>
                <a:spcPct val="115000"/>
              </a:lnSpc>
              <a:spcBef>
                <a:spcPts val="300"/>
              </a:spcBef>
              <a:spcAft>
                <a:spcPct val="0"/>
              </a:spcAft>
              <a:buFont typeface="Wingdings" panose="05000000000000000000" charset="0"/>
              <a:buChar char="ü"/>
            </a:pPr>
            <a:r>
              <a:rPr lang="en-US" altLang="zh-CN" sz="2000" dirty="0">
                <a:latin typeface="Arial" panose="020B0604020202020204" pitchFamily="34" charset="0"/>
                <a:ea typeface="宋体" panose="02010600030101010101" pitchFamily="2" charset="-122"/>
                <a:sym typeface="宋体" panose="02010600030101010101" pitchFamily="2" charset="-122"/>
              </a:rPr>
              <a:t>借助于消息中间件RabbitMQ通知所有Proxy服务器修改用户名到后端MySQL实例地址的映射关系</a:t>
            </a:r>
            <a:endParaRPr lang="en-US" altLang="zh-CN" sz="2000" dirty="0">
              <a:latin typeface="Arial" panose="020B0604020202020204" pitchFamily="34" charset="0"/>
              <a:ea typeface="宋体" panose="02010600030101010101" pitchFamily="2" charset="-122"/>
              <a:sym typeface="宋体" panose="02010600030101010101" pitchFamily="2" charset="-122"/>
            </a:endParaRPr>
          </a:p>
          <a:p>
            <a:pPr marL="0" lvl="1" indent="-342900" eaLnBrk="0" fontAlgn="base" hangingPunct="0">
              <a:lnSpc>
                <a:spcPct val="115000"/>
              </a:lnSpc>
              <a:spcBef>
                <a:spcPts val="300"/>
              </a:spcBef>
              <a:spcAft>
                <a:spcPct val="0"/>
              </a:spcAft>
              <a:buFont typeface="Wingdings" panose="05000000000000000000" charset="0"/>
              <a:buChar char="ü"/>
            </a:pPr>
            <a:r>
              <a:rPr lang="zh-CN" altLang="en-US" sz="2000" dirty="0">
                <a:latin typeface="Arial" panose="020B0604020202020204" pitchFamily="34" charset="0"/>
                <a:ea typeface="宋体" panose="02010600030101010101" pitchFamily="2" charset="-122"/>
                <a:sym typeface="宋体" panose="02010600030101010101" pitchFamily="2" charset="-122"/>
              </a:rPr>
              <a:t>全部过程对用户透明</a:t>
            </a:r>
            <a:endParaRPr lang="zh-CN" altLang="en-US" sz="2000">
              <a:latin typeface="Arial" panose="020B0604020202020204" pitchFamily="34" charset="0"/>
              <a:ea typeface="宋体" panose="02010600030101010101" pitchFamily="2" charset="-122"/>
            </a:endParaRPr>
          </a:p>
        </p:txBody>
      </p:sp>
      <p:sp>
        <p:nvSpPr>
          <p:cNvPr id="2" name="文本框 1"/>
          <p:cNvSpPr txBox="1"/>
          <p:nvPr/>
        </p:nvSpPr>
        <p:spPr>
          <a:xfrm>
            <a:off x="424180" y="177165"/>
            <a:ext cx="6214110" cy="521970"/>
          </a:xfrm>
          <a:prstGeom prst="rect">
            <a:avLst/>
          </a:prstGeom>
          <a:noFill/>
        </p:spPr>
        <p:txBody>
          <a:bodyPr wrap="none" rtlCol="0" anchor="t">
            <a:spAutoFit/>
          </a:bodyPr>
          <a:lstStyle/>
          <a:p>
            <a:r>
              <a:rPr lang="zh-CN" altLang="en-US" sz="3200" dirty="0">
                <a:solidFill>
                  <a:srgbClr val="0033CC"/>
                </a:solidFill>
                <a:ea typeface="黑体" panose="02010609060101010101" pitchFamily="1" charset="-122"/>
                <a:cs typeface="+mn-ea"/>
                <a:sym typeface="+mn-ea"/>
              </a:rPr>
              <a:t>UMP--阿里集团高可用数据库架构实例</a:t>
            </a:r>
            <a:endParaRPr lang="zh-CN" altLang="en-US" sz="3200" dirty="0">
              <a:solidFill>
                <a:srgbClr val="0033CC"/>
              </a:solidFill>
              <a:ea typeface="黑体" panose="02010609060101010101" pitchFamily="1" charset="-122"/>
              <a:cs typeface="+mn-ea"/>
              <a:sym typeface="+mn-ea"/>
            </a:endParaRP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矩形 3"/>
          <p:cNvSpPr/>
          <p:nvPr/>
        </p:nvSpPr>
        <p:spPr>
          <a:xfrm>
            <a:off x="446088" y="1717993"/>
            <a:ext cx="8205787" cy="869950"/>
          </a:xfrm>
          <a:prstGeom prst="rect">
            <a:avLst/>
          </a:prstGeom>
          <a:noFill/>
          <a:ln w="9525">
            <a:noFill/>
          </a:ln>
        </p:spPr>
        <p:txBody>
          <a:bodyPr wrap="square" anchor="t">
            <a:spAutoFit/>
          </a:bodyPr>
          <a:lstStyle/>
          <a:p>
            <a:pPr eaLnBrk="0" hangingPunct="0">
              <a:lnSpc>
                <a:spcPct val="115000"/>
              </a:lnSpc>
            </a:pPr>
            <a:r>
              <a:rPr lang="en-US" altLang="zh-CN" sz="2000" dirty="0">
                <a:latin typeface="Arial" panose="020B0604020202020204" pitchFamily="34" charset="0"/>
                <a:ea typeface="宋体" panose="02010600030101010101" pitchFamily="2" charset="-122"/>
              </a:rPr>
              <a:t>       </a:t>
            </a:r>
            <a:r>
              <a:rPr lang="zh-CN" altLang="zh-CN" sz="2000" dirty="0">
                <a:latin typeface="Arial" panose="020B0604020202020204" pitchFamily="34" charset="0"/>
                <a:ea typeface="宋体" panose="02010600030101010101" pitchFamily="2" charset="-122"/>
              </a:rPr>
              <a:t>为了实现容灾，</a:t>
            </a:r>
            <a:r>
              <a:rPr lang="en-US" altLang="zh-CN" sz="2000" dirty="0">
                <a:latin typeface="Arial" panose="020B0604020202020204" pitchFamily="34" charset="0"/>
                <a:ea typeface="宋体" panose="02010600030101010101" pitchFamily="2" charset="-122"/>
              </a:rPr>
              <a:t>UMP</a:t>
            </a:r>
            <a:r>
              <a:rPr lang="zh-CN" altLang="zh-CN" sz="2000" dirty="0">
                <a:latin typeface="Arial" panose="020B0604020202020204" pitchFamily="34" charset="0"/>
                <a:ea typeface="宋体" panose="02010600030101010101" pitchFamily="2" charset="-122"/>
              </a:rPr>
              <a:t>为每个用户创建</a:t>
            </a:r>
            <a:r>
              <a:rPr lang="en-US" altLang="zh-CN" sz="2000" dirty="0">
                <a:latin typeface="Arial" panose="020B0604020202020204" pitchFamily="34" charset="0"/>
                <a:ea typeface="宋体" panose="02010600030101010101" pitchFamily="2" charset="-122"/>
              </a:rPr>
              <a:t>2</a:t>
            </a:r>
            <a:r>
              <a:rPr lang="zh-CN" altLang="en-US" sz="2000" dirty="0">
                <a:latin typeface="Arial" panose="020B0604020202020204" pitchFamily="34" charset="0"/>
                <a:ea typeface="宋体" panose="02010600030101010101" pitchFamily="2" charset="-122"/>
              </a:rPr>
              <a:t>个</a:t>
            </a:r>
            <a:r>
              <a:rPr lang="en-US" altLang="zh-CN" sz="2000" dirty="0">
                <a:latin typeface="Arial" panose="020B0604020202020204" pitchFamily="34" charset="0"/>
                <a:ea typeface="宋体" panose="02010600030101010101" pitchFamily="2" charset="-122"/>
              </a:rPr>
              <a:t>MySQL</a:t>
            </a:r>
            <a:r>
              <a:rPr lang="zh-CN" altLang="zh-CN" sz="2000" dirty="0">
                <a:latin typeface="Arial" panose="020B0604020202020204" pitchFamily="34" charset="0"/>
                <a:ea typeface="宋体" panose="02010600030101010101" pitchFamily="2" charset="-122"/>
              </a:rPr>
              <a:t>实例，</a:t>
            </a:r>
            <a:r>
              <a:rPr lang="zh-CN" altLang="en-US" sz="2200" dirty="0">
                <a:latin typeface="Arial" panose="020B0604020202020204" pitchFamily="34" charset="0"/>
                <a:ea typeface="宋体" panose="02010600030101010101" pitchFamily="2" charset="-122"/>
              </a:rPr>
              <a:t>宕机后的主库在进行恢复处理后需要再次上线，过程如下：</a:t>
            </a:r>
            <a:endParaRPr lang="zh-CN" altLang="en-US" sz="2200" dirty="0">
              <a:latin typeface="Arial" panose="020B0604020202020204" pitchFamily="34" charset="0"/>
              <a:ea typeface="宋体" panose="02010600030101010101" pitchFamily="2" charset="-122"/>
            </a:endParaRPr>
          </a:p>
        </p:txBody>
      </p:sp>
      <p:sp>
        <p:nvSpPr>
          <p:cNvPr id="36868" name="文本框 5"/>
          <p:cNvSpPr txBox="1"/>
          <p:nvPr/>
        </p:nvSpPr>
        <p:spPr>
          <a:xfrm>
            <a:off x="742950" y="2695893"/>
            <a:ext cx="7908925" cy="2841625"/>
          </a:xfrm>
          <a:prstGeom prst="rect">
            <a:avLst/>
          </a:prstGeom>
          <a:noFill/>
          <a:ln w="9525" cap="flat" cmpd="sng">
            <a:solidFill>
              <a:srgbClr val="0B07A9"/>
            </a:solidFill>
            <a:prstDash val="dash"/>
            <a:round/>
            <a:headEnd type="none" w="med" len="med"/>
            <a:tailEnd type="none" w="med" len="med"/>
          </a:ln>
        </p:spPr>
        <p:txBody>
          <a:bodyPr wrap="square" anchor="t">
            <a:spAutoFit/>
          </a:bodyPr>
          <a:lstStyle/>
          <a:p>
            <a:pPr marL="0" lvl="1" indent="-342900" eaLnBrk="0" fontAlgn="base" hangingPunct="0">
              <a:lnSpc>
                <a:spcPct val="120000"/>
              </a:lnSpc>
              <a:spcBef>
                <a:spcPts val="500"/>
              </a:spcBef>
              <a:spcAft>
                <a:spcPct val="0"/>
              </a:spcAft>
              <a:buFont typeface="Wingdings" panose="05000000000000000000" charset="0"/>
              <a:buChar char="ü"/>
            </a:pPr>
            <a:r>
              <a:rPr lang="zh-CN" altLang="en-US" sz="2000" dirty="0">
                <a:latin typeface="Arial" panose="020B0604020202020204" pitchFamily="34" charset="0"/>
                <a:ea typeface="宋体" panose="02010600030101010101" pitchFamily="2" charset="-122"/>
                <a:sym typeface="宋体" panose="02010600030101010101" pitchFamily="2" charset="-122"/>
              </a:rPr>
              <a:t>在主库恢复时，会把从库的更新复制给自己</a:t>
            </a:r>
            <a:endParaRPr lang="en-US" altLang="zh-CN" sz="2000" dirty="0">
              <a:latin typeface="Arial" panose="020B0604020202020204" pitchFamily="34" charset="0"/>
              <a:ea typeface="宋体" panose="02010600030101010101" pitchFamily="2" charset="-122"/>
            </a:endParaRPr>
          </a:p>
          <a:p>
            <a:pPr marL="0" lvl="1" indent="-342900" eaLnBrk="0" fontAlgn="base" hangingPunct="0">
              <a:lnSpc>
                <a:spcPct val="120000"/>
              </a:lnSpc>
              <a:spcBef>
                <a:spcPts val="500"/>
              </a:spcBef>
              <a:spcAft>
                <a:spcPct val="0"/>
              </a:spcAft>
              <a:buFont typeface="Wingdings" panose="05000000000000000000" charset="0"/>
              <a:buChar char="ü"/>
            </a:pPr>
            <a:r>
              <a:rPr lang="zh-CN" altLang="en-US" sz="2000" dirty="0">
                <a:latin typeface="Arial" panose="020B0604020202020204" pitchFamily="34" charset="0"/>
                <a:ea typeface="宋体" panose="02010600030101010101" pitchFamily="2" charset="-122"/>
                <a:sym typeface="宋体" panose="02010600030101010101" pitchFamily="2" charset="-122"/>
              </a:rPr>
              <a:t>当主库的数据库状态快要达到和从库一致的状态时，</a:t>
            </a:r>
            <a:r>
              <a:rPr lang="en-US" altLang="zh-CN" sz="2000" dirty="0">
                <a:latin typeface="Arial" panose="020B0604020202020204" pitchFamily="34" charset="0"/>
                <a:ea typeface="宋体" panose="02010600030101010101" pitchFamily="2" charset="-122"/>
                <a:sym typeface="宋体" panose="02010600030101010101" pitchFamily="2" charset="-122"/>
              </a:rPr>
              <a:t>Controller</a:t>
            </a:r>
            <a:r>
              <a:rPr lang="zh-CN" altLang="en-US" sz="2000" dirty="0">
                <a:latin typeface="Arial" panose="020B0604020202020204" pitchFamily="34" charset="0"/>
                <a:ea typeface="宋体" panose="02010600030101010101" pitchFamily="2" charset="-122"/>
                <a:sym typeface="宋体" panose="02010600030101010101" pitchFamily="2" charset="-122"/>
              </a:rPr>
              <a:t>服务器就会命令从库停止更新，进入不可写状态，禁止用户写入数据</a:t>
            </a:r>
            <a:endParaRPr lang="en-US" altLang="zh-CN" sz="2000" dirty="0">
              <a:latin typeface="Arial" panose="020B0604020202020204" pitchFamily="34" charset="0"/>
              <a:ea typeface="宋体" panose="02010600030101010101" pitchFamily="2" charset="-122"/>
            </a:endParaRPr>
          </a:p>
          <a:p>
            <a:pPr marL="0" lvl="1" indent="-342900" eaLnBrk="0" fontAlgn="base" hangingPunct="0">
              <a:lnSpc>
                <a:spcPct val="120000"/>
              </a:lnSpc>
              <a:spcBef>
                <a:spcPts val="500"/>
              </a:spcBef>
              <a:spcAft>
                <a:spcPct val="0"/>
              </a:spcAft>
              <a:buFont typeface="Wingdings" panose="05000000000000000000" charset="0"/>
              <a:buChar char="ü"/>
            </a:pPr>
            <a:r>
              <a:rPr lang="zh-CN" altLang="en-US" sz="2000" dirty="0">
                <a:latin typeface="Arial" panose="020B0604020202020204" pitchFamily="34" charset="0"/>
                <a:ea typeface="宋体" panose="02010600030101010101" pitchFamily="2" charset="-122"/>
                <a:sym typeface="宋体" panose="02010600030101010101" pitchFamily="2" charset="-122"/>
              </a:rPr>
              <a:t>等到主库更新到和从库完全一致的状态时，</a:t>
            </a:r>
            <a:r>
              <a:rPr lang="en-US" altLang="zh-CN" sz="2000" dirty="0">
                <a:latin typeface="Arial" panose="020B0604020202020204" pitchFamily="34" charset="0"/>
                <a:ea typeface="宋体" panose="02010600030101010101" pitchFamily="2" charset="-122"/>
                <a:sym typeface="宋体" panose="02010600030101010101" pitchFamily="2" charset="-122"/>
              </a:rPr>
              <a:t>Controller</a:t>
            </a:r>
            <a:r>
              <a:rPr lang="zh-CN" altLang="en-US" sz="2000" dirty="0">
                <a:latin typeface="Arial" panose="020B0604020202020204" pitchFamily="34" charset="0"/>
                <a:ea typeface="宋体" panose="02010600030101010101" pitchFamily="2" charset="-122"/>
                <a:sym typeface="宋体" panose="02010600030101010101" pitchFamily="2" charset="-122"/>
              </a:rPr>
              <a:t>服务器就会发起主从切换操作，并在路由表中把主库标记为可用状态</a:t>
            </a:r>
            <a:endParaRPr lang="en-US" altLang="zh-CN" sz="2000" dirty="0">
              <a:latin typeface="Arial" panose="020B0604020202020204" pitchFamily="34" charset="0"/>
              <a:ea typeface="宋体" panose="02010600030101010101" pitchFamily="2" charset="-122"/>
            </a:endParaRPr>
          </a:p>
          <a:p>
            <a:pPr marL="0" lvl="1" indent="-342900" eaLnBrk="0" fontAlgn="base" hangingPunct="0">
              <a:lnSpc>
                <a:spcPct val="120000"/>
              </a:lnSpc>
              <a:spcBef>
                <a:spcPts val="500"/>
              </a:spcBef>
              <a:spcAft>
                <a:spcPct val="0"/>
              </a:spcAft>
              <a:buFont typeface="Wingdings" panose="05000000000000000000" charset="0"/>
              <a:buChar char="ü"/>
            </a:pPr>
            <a:r>
              <a:rPr lang="zh-CN" altLang="en-US" sz="2000" dirty="0">
                <a:latin typeface="Arial" panose="020B0604020202020204" pitchFamily="34" charset="0"/>
                <a:ea typeface="宋体" panose="02010600030101010101" pitchFamily="2" charset="-122"/>
                <a:sym typeface="宋体" panose="02010600030101010101" pitchFamily="2" charset="-122"/>
              </a:rPr>
              <a:t>通知</a:t>
            </a:r>
            <a:r>
              <a:rPr lang="en-US" altLang="zh-CN" sz="2000" dirty="0">
                <a:latin typeface="Arial" panose="020B0604020202020204" pitchFamily="34" charset="0"/>
                <a:ea typeface="宋体" panose="02010600030101010101" pitchFamily="2" charset="-122"/>
                <a:sym typeface="宋体" panose="02010600030101010101" pitchFamily="2" charset="-122"/>
              </a:rPr>
              <a:t>Proxy</a:t>
            </a:r>
            <a:r>
              <a:rPr lang="zh-CN" altLang="en-US" sz="2000" dirty="0">
                <a:latin typeface="Arial" panose="020B0604020202020204" pitchFamily="34" charset="0"/>
                <a:ea typeface="宋体" panose="02010600030101010101" pitchFamily="2" charset="-122"/>
                <a:sym typeface="宋体" panose="02010600030101010101" pitchFamily="2" charset="-122"/>
              </a:rPr>
              <a:t>服务器把写操作切回主库上，用户写操作可以继续执行，之后再把从库修改为可写状态</a:t>
            </a:r>
            <a:endParaRPr lang="zh-CN" altLang="en-US" sz="2000">
              <a:latin typeface="Arial" panose="020B0604020202020204" pitchFamily="34" charset="0"/>
              <a:ea typeface="宋体" panose="02010600030101010101" pitchFamily="2" charset="-122"/>
            </a:endParaRPr>
          </a:p>
        </p:txBody>
      </p:sp>
      <p:sp>
        <p:nvSpPr>
          <p:cNvPr id="35843" name="Rectangle 4"/>
          <p:cNvSpPr/>
          <p:nvPr/>
        </p:nvSpPr>
        <p:spPr>
          <a:xfrm>
            <a:off x="520700" y="1103313"/>
            <a:ext cx="5066665" cy="589280"/>
          </a:xfrm>
          <a:prstGeom prst="rect">
            <a:avLst/>
          </a:prstGeom>
          <a:noFill/>
          <a:ln w="9525">
            <a:noFill/>
          </a:ln>
        </p:spPr>
        <p:txBody>
          <a:bodyPr wrap="square" anchor="ctr">
            <a:spAutoFit/>
          </a:bodyPr>
          <a:lstStyle/>
          <a:p>
            <a:pPr eaLnBrk="0" hangingPunct="0">
              <a:buFont typeface="Wingdings" panose="05000000000000000000" charset="0"/>
              <a:buChar char=""/>
            </a:pPr>
            <a:r>
              <a:rPr lang="en-US" altLang="zh-CN" sz="2400" b="1" dirty="0">
                <a:solidFill>
                  <a:srgbClr val="FF0000"/>
                </a:solidFill>
                <a:latin typeface="Arial" panose="020B0604020202020204" pitchFamily="34" charset="0"/>
                <a:ea typeface="宋体" panose="02010600030101010101" pitchFamily="2" charset="-122"/>
              </a:rPr>
              <a:t>UMP</a:t>
            </a:r>
            <a:r>
              <a:rPr lang="zh-CN" altLang="en-US" sz="2400" b="1" dirty="0">
                <a:solidFill>
                  <a:srgbClr val="FF0000"/>
                </a:solidFill>
                <a:latin typeface="Arial" panose="020B0604020202020204" pitchFamily="34" charset="0"/>
                <a:ea typeface="宋体" panose="02010600030101010101" pitchFamily="2" charset="-122"/>
              </a:rPr>
              <a:t>的功能</a:t>
            </a:r>
            <a:r>
              <a:rPr lang="en-US" altLang="zh-CN" sz="2400" b="1" dirty="0">
                <a:solidFill>
                  <a:srgbClr val="0033CC"/>
                </a:solidFill>
                <a:latin typeface="Arial" panose="020B0604020202020204" pitchFamily="34" charset="0"/>
                <a:ea typeface="宋体" panose="02010600030101010101" pitchFamily="2" charset="-122"/>
              </a:rPr>
              <a:t>——</a:t>
            </a:r>
            <a:r>
              <a:rPr lang="zh-CN" altLang="en-US" sz="2400" b="1" dirty="0">
                <a:solidFill>
                  <a:srgbClr val="0033CC"/>
                </a:solidFill>
                <a:latin typeface="Arial" panose="020B0604020202020204" pitchFamily="34" charset="0"/>
                <a:ea typeface="宋体" panose="02010600030101010101" pitchFamily="2" charset="-122"/>
              </a:rPr>
              <a:t>容灾，主从切换</a:t>
            </a:r>
            <a:r>
              <a:rPr lang="zh-CN" altLang="en-US" sz="2400" dirty="0">
                <a:solidFill>
                  <a:srgbClr val="0033CC"/>
                </a:solidFill>
                <a:latin typeface="Arial" panose="020B0604020202020204" pitchFamily="34" charset="0"/>
                <a:ea typeface="宋体" panose="02010600030101010101" pitchFamily="2" charset="-122"/>
              </a:rPr>
              <a:t> </a:t>
            </a:r>
            <a:endParaRPr lang="zh-CN" altLang="en-US" sz="2400" dirty="0">
              <a:solidFill>
                <a:srgbClr val="0033CC"/>
              </a:solidFill>
              <a:latin typeface="Arial" panose="020B0604020202020204" pitchFamily="34" charset="0"/>
              <a:ea typeface="宋体" panose="02010600030101010101" pitchFamily="2" charset="-122"/>
            </a:endParaRPr>
          </a:p>
        </p:txBody>
      </p:sp>
      <p:sp>
        <p:nvSpPr>
          <p:cNvPr id="2" name="文本框 1"/>
          <p:cNvSpPr txBox="1"/>
          <p:nvPr/>
        </p:nvSpPr>
        <p:spPr>
          <a:xfrm>
            <a:off x="424180" y="177165"/>
            <a:ext cx="6214110" cy="521970"/>
          </a:xfrm>
          <a:prstGeom prst="rect">
            <a:avLst/>
          </a:prstGeom>
          <a:noFill/>
        </p:spPr>
        <p:txBody>
          <a:bodyPr wrap="none" rtlCol="0" anchor="t">
            <a:spAutoFit/>
          </a:bodyPr>
          <a:lstStyle/>
          <a:p>
            <a:r>
              <a:rPr lang="zh-CN" altLang="en-US" sz="3200" dirty="0">
                <a:solidFill>
                  <a:srgbClr val="0033CC"/>
                </a:solidFill>
                <a:ea typeface="黑体" panose="02010609060101010101" pitchFamily="1" charset="-122"/>
                <a:cs typeface="+mn-ea"/>
                <a:sym typeface="+mn-ea"/>
              </a:rPr>
              <a:t>UMP--阿里集团高可用数据库架构实例</a:t>
            </a:r>
            <a:endParaRPr lang="zh-CN" altLang="en-US" sz="3200" dirty="0">
              <a:solidFill>
                <a:srgbClr val="0033CC"/>
              </a:solidFill>
              <a:ea typeface="黑体" panose="02010609060101010101" pitchFamily="1" charset="-122"/>
              <a:cs typeface="+mn-ea"/>
              <a:sym typeface="+mn-ea"/>
            </a:endParaRP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44"/>
          <p:cNvSpPr txBox="1"/>
          <p:nvPr/>
        </p:nvSpPr>
        <p:spPr>
          <a:xfrm>
            <a:off x="442913" y="629285"/>
            <a:ext cx="2681605" cy="829945"/>
          </a:xfrm>
          <a:prstGeom prst="rect">
            <a:avLst/>
          </a:prstGeom>
          <a:noFill/>
        </p:spPr>
        <p:txBody>
          <a:bodyPr wrap="none" rtlCol="0" anchor="t">
            <a:spAutoFit/>
          </a:bodyPr>
          <a:lstStyle/>
          <a:p>
            <a:pPr marL="457200" indent="-457200" algn="just">
              <a:lnSpc>
                <a:spcPct val="150000"/>
              </a:lnSpc>
              <a:spcAft>
                <a:spcPts val="0"/>
              </a:spcAft>
              <a:buFont typeface="Wingdings" panose="05000000000000000000" pitchFamily="2" charset="2"/>
              <a:buChar char="p"/>
            </a:pPr>
            <a:r>
              <a:rPr lang="zh-CN" altLang="zh-CN" sz="3200" kern="100" dirty="0" smtClean="0">
                <a:solidFill>
                  <a:srgbClr val="FF0000"/>
                </a:solidFill>
                <a:latin typeface="Calibri" panose="020F0502020204030204" charset="0"/>
                <a:cs typeface="Times New Roman" panose="02020603050405020304" pitchFamily="2" charset="0"/>
                <a:sym typeface="+mn-ea"/>
              </a:rPr>
              <a:t>问题研讨：</a:t>
            </a:r>
            <a:endParaRPr lang="zh-CN" altLang="en-US" sz="3200"/>
          </a:p>
        </p:txBody>
      </p:sp>
      <p:sp>
        <p:nvSpPr>
          <p:cNvPr id="10" name="文本框 9"/>
          <p:cNvSpPr txBox="1"/>
          <p:nvPr/>
        </p:nvSpPr>
        <p:spPr>
          <a:xfrm>
            <a:off x="584835" y="1665605"/>
            <a:ext cx="8294370" cy="886460"/>
          </a:xfrm>
          <a:prstGeom prst="rect">
            <a:avLst/>
          </a:prstGeom>
          <a:noFill/>
        </p:spPr>
        <p:txBody>
          <a:bodyPr wrap="square" rtlCol="0" anchor="t">
            <a:spAutoFit/>
          </a:bodyPr>
          <a:lstStyle/>
          <a:p>
            <a:pPr>
              <a:buNone/>
            </a:pPr>
            <a:r>
              <a:rPr lang="en-US" altLang="zh-CN" sz="2200"/>
              <a:t>2</a:t>
            </a:r>
            <a:r>
              <a:rPr lang="zh-CN" altLang="en-US" sz="2200"/>
              <a:t>、记载数据库系统运行过程中所有更新操作的文件称为（     ）</a:t>
            </a:r>
            <a:endParaRPr lang="zh-CN" altLang="en-US" sz="2200"/>
          </a:p>
          <a:p>
            <a:pPr>
              <a:lnSpc>
                <a:spcPct val="100000"/>
              </a:lnSpc>
              <a:buNone/>
            </a:pPr>
            <a:r>
              <a:rPr lang="zh-CN" altLang="en-US" sz="2200"/>
              <a:t>   </a:t>
            </a:r>
            <a:r>
              <a:rPr lang="en-US" altLang="zh-CN" sz="2000"/>
              <a:t>A</a:t>
            </a:r>
            <a:r>
              <a:rPr lang="zh-CN" altLang="en-US" sz="2000"/>
              <a:t>、更新文件     </a:t>
            </a:r>
            <a:r>
              <a:rPr lang="en-US" altLang="zh-CN" sz="2000"/>
              <a:t>B</a:t>
            </a:r>
            <a:r>
              <a:rPr lang="zh-CN" altLang="en-US" sz="2000"/>
              <a:t>、后备文件    </a:t>
            </a:r>
            <a:r>
              <a:rPr lang="en-US" altLang="zh-CN" sz="2000"/>
              <a:t>C</a:t>
            </a:r>
            <a:r>
              <a:rPr lang="zh-CN" altLang="en-US" sz="2000"/>
              <a:t>、日志文件     </a:t>
            </a:r>
            <a:r>
              <a:rPr lang="en-US" altLang="zh-CN" sz="2000"/>
              <a:t>D</a:t>
            </a:r>
            <a:r>
              <a:rPr lang="zh-CN" altLang="en-US" sz="2000"/>
              <a:t>、数据文件</a:t>
            </a:r>
            <a:endParaRPr lang="zh-CN" altLang="en-US" sz="2000"/>
          </a:p>
        </p:txBody>
      </p:sp>
      <p:sp>
        <p:nvSpPr>
          <p:cNvPr id="11" name="文本框 10"/>
          <p:cNvSpPr txBox="1"/>
          <p:nvPr/>
        </p:nvSpPr>
        <p:spPr>
          <a:xfrm>
            <a:off x="7875905" y="1655445"/>
            <a:ext cx="403225" cy="589280"/>
          </a:xfrm>
          <a:prstGeom prst="rect">
            <a:avLst/>
          </a:prstGeom>
          <a:noFill/>
        </p:spPr>
        <p:txBody>
          <a:bodyPr wrap="none" rtlCol="0" anchor="t">
            <a:spAutoFit/>
          </a:bodyPr>
          <a:lstStyle/>
          <a:p>
            <a:pPr>
              <a:buNone/>
            </a:pPr>
            <a:r>
              <a:rPr lang="en-US" altLang="zh-CN" sz="2400">
                <a:solidFill>
                  <a:srgbClr val="C00000"/>
                </a:solidFill>
              </a:rPr>
              <a:t>C</a:t>
            </a:r>
            <a:endParaRPr lang="en-US" altLang="zh-CN" sz="2400">
              <a:solidFill>
                <a:srgbClr val="C00000"/>
              </a:solidFill>
            </a:endParaRPr>
          </a:p>
        </p:txBody>
      </p:sp>
      <p:sp>
        <p:nvSpPr>
          <p:cNvPr id="18" name="文本框 17"/>
          <p:cNvSpPr txBox="1"/>
          <p:nvPr/>
        </p:nvSpPr>
        <p:spPr>
          <a:xfrm>
            <a:off x="541655" y="1280795"/>
            <a:ext cx="8060690" cy="506730"/>
          </a:xfrm>
          <a:prstGeom prst="rect">
            <a:avLst/>
          </a:prstGeom>
          <a:noFill/>
        </p:spPr>
        <p:txBody>
          <a:bodyPr wrap="square" rtlCol="0" anchor="t">
            <a:spAutoFit/>
          </a:bodyPr>
          <a:lstStyle/>
          <a:p>
            <a:pPr>
              <a:buNone/>
            </a:pPr>
            <a:r>
              <a:rPr lang="en-US" altLang="zh-CN" sz="2000"/>
              <a:t>1</a:t>
            </a:r>
            <a:r>
              <a:rPr lang="zh-CN" altLang="en-US" sz="2000"/>
              <a:t>、若要对数据进行故障恢复，通常要做的两件事是</a:t>
            </a:r>
            <a:r>
              <a:rPr lang="zh-CN" altLang="en-US" sz="2000" u="sng"/>
              <a:t>         </a:t>
            </a:r>
            <a:r>
              <a:rPr lang="zh-CN" altLang="en-US" sz="2000"/>
              <a:t>和 </a:t>
            </a:r>
            <a:r>
              <a:rPr lang="zh-CN" altLang="en-US" sz="2000" u="sng"/>
              <a:t>                </a:t>
            </a:r>
            <a:r>
              <a:rPr lang="zh-CN" altLang="en-US" sz="2000"/>
              <a:t>。</a:t>
            </a:r>
            <a:endParaRPr lang="zh-CN" altLang="en-US" sz="2000"/>
          </a:p>
        </p:txBody>
      </p:sp>
      <p:sp>
        <p:nvSpPr>
          <p:cNvPr id="20" name="文本框 19"/>
          <p:cNvSpPr txBox="1"/>
          <p:nvPr/>
        </p:nvSpPr>
        <p:spPr>
          <a:xfrm>
            <a:off x="6392545" y="1191895"/>
            <a:ext cx="693420" cy="506730"/>
          </a:xfrm>
          <a:prstGeom prst="rect">
            <a:avLst/>
          </a:prstGeom>
          <a:noFill/>
        </p:spPr>
        <p:txBody>
          <a:bodyPr wrap="none" rtlCol="0" anchor="t">
            <a:spAutoFit/>
          </a:bodyPr>
          <a:lstStyle/>
          <a:p>
            <a:pPr>
              <a:buNone/>
            </a:pPr>
            <a:r>
              <a:rPr lang="zh-CN" altLang="en-US" sz="2000" dirty="0">
                <a:solidFill>
                  <a:srgbClr val="0033CC"/>
                </a:solidFill>
                <a:latin typeface="黑体" panose="02010609060101010101" pitchFamily="1" charset="-122"/>
                <a:ea typeface="黑体" panose="02010609060101010101" pitchFamily="1" charset="-122"/>
                <a:sym typeface="+mn-ea"/>
              </a:rPr>
              <a:t>转储</a:t>
            </a:r>
            <a:endParaRPr lang="zh-CN" altLang="en-US" sz="2000" dirty="0">
              <a:solidFill>
                <a:srgbClr val="0033CC"/>
              </a:solidFill>
              <a:latin typeface="黑体" panose="02010609060101010101" pitchFamily="1" charset="-122"/>
              <a:ea typeface="黑体" panose="02010609060101010101" pitchFamily="1" charset="-122"/>
              <a:sym typeface="+mn-ea"/>
            </a:endParaRPr>
          </a:p>
        </p:txBody>
      </p:sp>
      <p:sp>
        <p:nvSpPr>
          <p:cNvPr id="21" name="文本框 20"/>
          <p:cNvSpPr txBox="1"/>
          <p:nvPr/>
        </p:nvSpPr>
        <p:spPr>
          <a:xfrm>
            <a:off x="7139940" y="1191895"/>
            <a:ext cx="1332230" cy="506730"/>
          </a:xfrm>
          <a:prstGeom prst="rect">
            <a:avLst/>
          </a:prstGeom>
          <a:noFill/>
        </p:spPr>
        <p:txBody>
          <a:bodyPr wrap="none" rtlCol="0" anchor="t">
            <a:spAutoFit/>
          </a:bodyPr>
          <a:lstStyle/>
          <a:p>
            <a:pPr>
              <a:buNone/>
            </a:pPr>
            <a:r>
              <a:rPr lang="en-US" altLang="zh-CN" sz="2000" dirty="0">
                <a:solidFill>
                  <a:srgbClr val="0033CC"/>
                </a:solidFill>
                <a:latin typeface="黑体" panose="02010609060101010101" pitchFamily="1" charset="-122"/>
                <a:ea typeface="黑体" panose="02010609060101010101" pitchFamily="1" charset="-122"/>
                <a:sym typeface="+mn-ea"/>
              </a:rPr>
              <a:t> </a:t>
            </a:r>
            <a:r>
              <a:rPr lang="zh-CN" altLang="en-US" sz="2000" dirty="0">
                <a:solidFill>
                  <a:srgbClr val="0033CC"/>
                </a:solidFill>
                <a:latin typeface="黑体" panose="02010609060101010101" pitchFamily="1" charset="-122"/>
                <a:ea typeface="黑体" panose="02010609060101010101" pitchFamily="1" charset="-122"/>
                <a:sym typeface="+mn-ea"/>
              </a:rPr>
              <a:t>建立日志</a:t>
            </a:r>
            <a:endParaRPr lang="zh-CN" altLang="en-US" sz="2000" dirty="0">
              <a:solidFill>
                <a:srgbClr val="0033CC"/>
              </a:solidFill>
              <a:latin typeface="黑体" panose="02010609060101010101" pitchFamily="1" charset="-122"/>
              <a:ea typeface="黑体" panose="02010609060101010101" pitchFamily="1" charset="-122"/>
              <a:sym typeface="+mn-ea"/>
            </a:endParaRPr>
          </a:p>
        </p:txBody>
      </p:sp>
      <p:sp>
        <p:nvSpPr>
          <p:cNvPr id="8" name="文本框 7"/>
          <p:cNvSpPr txBox="1"/>
          <p:nvPr/>
        </p:nvSpPr>
        <p:spPr>
          <a:xfrm>
            <a:off x="570865" y="2437765"/>
            <a:ext cx="8294370" cy="1809750"/>
          </a:xfrm>
          <a:prstGeom prst="rect">
            <a:avLst/>
          </a:prstGeom>
          <a:noFill/>
        </p:spPr>
        <p:txBody>
          <a:bodyPr wrap="square" rtlCol="0" anchor="t">
            <a:spAutoFit/>
          </a:bodyPr>
          <a:lstStyle/>
          <a:p>
            <a:pPr>
              <a:buNone/>
            </a:pPr>
            <a:r>
              <a:rPr lang="en-US" altLang="zh-CN" sz="2200"/>
              <a:t>3</a:t>
            </a:r>
            <a:r>
              <a:rPr lang="zh-CN" altLang="en-US" sz="2200"/>
              <a:t>、事务的持久性是指（     ）</a:t>
            </a:r>
            <a:endParaRPr lang="zh-CN" altLang="en-US" sz="2200"/>
          </a:p>
          <a:p>
            <a:pPr>
              <a:lnSpc>
                <a:spcPct val="100000"/>
              </a:lnSpc>
              <a:spcBef>
                <a:spcPts val="0"/>
              </a:spcBef>
              <a:spcAft>
                <a:spcPts val="0"/>
              </a:spcAft>
              <a:buNone/>
            </a:pPr>
            <a:r>
              <a:rPr lang="zh-CN" altLang="en-US" sz="2200"/>
              <a:t>  </a:t>
            </a:r>
            <a:r>
              <a:rPr lang="zh-CN" altLang="en-US" sz="2100"/>
              <a:t> </a:t>
            </a:r>
            <a:r>
              <a:rPr lang="en-US" altLang="zh-CN" sz="2000"/>
              <a:t>A</a:t>
            </a:r>
            <a:r>
              <a:rPr lang="zh-CN" altLang="en-US" sz="2000"/>
              <a:t>、事务中包括所有操作要么都做，要么都不做</a:t>
            </a:r>
            <a:endParaRPr lang="zh-CN" altLang="en-US" sz="2000"/>
          </a:p>
          <a:p>
            <a:pPr>
              <a:lnSpc>
                <a:spcPct val="100000"/>
              </a:lnSpc>
              <a:spcBef>
                <a:spcPts val="0"/>
              </a:spcBef>
              <a:spcAft>
                <a:spcPts val="0"/>
              </a:spcAft>
              <a:buNone/>
            </a:pPr>
            <a:r>
              <a:rPr lang="zh-CN" altLang="en-US" sz="2000"/>
              <a:t>   </a:t>
            </a:r>
            <a:r>
              <a:rPr lang="en-US" altLang="zh-CN" sz="2000"/>
              <a:t>B</a:t>
            </a:r>
            <a:r>
              <a:rPr lang="zh-CN" altLang="en-US" sz="2000"/>
              <a:t>、事务一旦提交，对数据库的改变是永久的</a:t>
            </a:r>
            <a:endParaRPr lang="zh-CN" altLang="en-US" sz="2000"/>
          </a:p>
          <a:p>
            <a:pPr>
              <a:lnSpc>
                <a:spcPct val="100000"/>
              </a:lnSpc>
              <a:spcBef>
                <a:spcPts val="0"/>
              </a:spcBef>
              <a:spcAft>
                <a:spcPts val="0"/>
              </a:spcAft>
              <a:buNone/>
            </a:pPr>
            <a:r>
              <a:rPr lang="zh-CN" altLang="en-US" sz="2000"/>
              <a:t>   </a:t>
            </a:r>
            <a:r>
              <a:rPr lang="en-US" altLang="zh-CN" sz="2000"/>
              <a:t>C</a:t>
            </a:r>
            <a:r>
              <a:rPr lang="zh-CN" altLang="en-US" sz="2000"/>
              <a:t>、一个事务内部操作对并发的其他事务时隔离的</a:t>
            </a:r>
            <a:endParaRPr lang="zh-CN" altLang="en-US" sz="2000"/>
          </a:p>
          <a:p>
            <a:pPr>
              <a:lnSpc>
                <a:spcPct val="100000"/>
              </a:lnSpc>
              <a:spcBef>
                <a:spcPts val="0"/>
              </a:spcBef>
              <a:spcAft>
                <a:spcPts val="0"/>
              </a:spcAft>
              <a:buNone/>
            </a:pPr>
            <a:r>
              <a:rPr lang="zh-CN" altLang="en-US" sz="2000"/>
              <a:t>   </a:t>
            </a:r>
            <a:r>
              <a:rPr lang="en-US" altLang="zh-CN" sz="2000"/>
              <a:t>D</a:t>
            </a:r>
            <a:r>
              <a:rPr lang="zh-CN" altLang="en-US" sz="2000"/>
              <a:t>、事务必须是使数据库从一个一致性状态变到另一个一致性状态</a:t>
            </a:r>
            <a:endParaRPr lang="zh-CN" altLang="en-US" sz="2000"/>
          </a:p>
        </p:txBody>
      </p:sp>
      <p:sp>
        <p:nvSpPr>
          <p:cNvPr id="9" name="文本框 8"/>
          <p:cNvSpPr txBox="1"/>
          <p:nvPr/>
        </p:nvSpPr>
        <p:spPr>
          <a:xfrm>
            <a:off x="3626485" y="2395220"/>
            <a:ext cx="403225" cy="589280"/>
          </a:xfrm>
          <a:prstGeom prst="rect">
            <a:avLst/>
          </a:prstGeom>
          <a:noFill/>
        </p:spPr>
        <p:txBody>
          <a:bodyPr wrap="none" rtlCol="0" anchor="t">
            <a:spAutoFit/>
          </a:bodyPr>
          <a:lstStyle/>
          <a:p>
            <a:pPr>
              <a:buNone/>
            </a:pPr>
            <a:r>
              <a:rPr lang="en-US" altLang="zh-CN" sz="2400">
                <a:solidFill>
                  <a:srgbClr val="C00000"/>
                </a:solidFill>
              </a:rPr>
              <a:t>B</a:t>
            </a:r>
            <a:endParaRPr lang="en-US" altLang="zh-CN" sz="2400">
              <a:solidFill>
                <a:srgbClr val="C00000"/>
              </a:solidFill>
            </a:endParaRPr>
          </a:p>
        </p:txBody>
      </p:sp>
      <p:sp>
        <p:nvSpPr>
          <p:cNvPr id="19" name="文本框 18"/>
          <p:cNvSpPr txBox="1"/>
          <p:nvPr/>
        </p:nvSpPr>
        <p:spPr>
          <a:xfrm>
            <a:off x="570865" y="4074795"/>
            <a:ext cx="8294370" cy="1193800"/>
          </a:xfrm>
          <a:prstGeom prst="rect">
            <a:avLst/>
          </a:prstGeom>
          <a:noFill/>
        </p:spPr>
        <p:txBody>
          <a:bodyPr wrap="square" rtlCol="0" anchor="t">
            <a:spAutoFit/>
          </a:bodyPr>
          <a:lstStyle/>
          <a:p>
            <a:pPr>
              <a:buNone/>
            </a:pPr>
            <a:r>
              <a:rPr lang="en-US" altLang="zh-CN" sz="2200"/>
              <a:t>4</a:t>
            </a:r>
            <a:r>
              <a:rPr lang="zh-CN" altLang="en-US" sz="2200"/>
              <a:t>、在</a:t>
            </a:r>
            <a:r>
              <a:rPr lang="en-US" altLang="zh-CN" sz="2200"/>
              <a:t>DBMS</a:t>
            </a:r>
            <a:r>
              <a:rPr lang="zh-CN" altLang="en-US" sz="2200"/>
              <a:t>中实现事务持久性的子系统是（     ）</a:t>
            </a:r>
            <a:endParaRPr lang="zh-CN" altLang="en-US" sz="2200"/>
          </a:p>
          <a:p>
            <a:pPr>
              <a:lnSpc>
                <a:spcPct val="100000"/>
              </a:lnSpc>
              <a:buNone/>
            </a:pPr>
            <a:r>
              <a:rPr lang="zh-CN" altLang="en-US" sz="2200"/>
              <a:t>  </a:t>
            </a:r>
            <a:r>
              <a:rPr lang="zh-CN" altLang="en-US" sz="2000"/>
              <a:t> </a:t>
            </a:r>
            <a:r>
              <a:rPr lang="en-US" altLang="zh-CN" sz="2000"/>
              <a:t>A</a:t>
            </a:r>
            <a:r>
              <a:rPr lang="zh-CN" altLang="en-US" sz="2000"/>
              <a:t>、安全管理子系统     </a:t>
            </a:r>
            <a:r>
              <a:rPr lang="en-US" altLang="zh-CN" sz="2000"/>
              <a:t>B</a:t>
            </a:r>
            <a:r>
              <a:rPr lang="zh-CN" altLang="en-US" sz="2000"/>
              <a:t>、完整性管理子系统</a:t>
            </a:r>
            <a:endParaRPr lang="zh-CN" altLang="en-US" sz="2000"/>
          </a:p>
          <a:p>
            <a:pPr>
              <a:lnSpc>
                <a:spcPct val="100000"/>
              </a:lnSpc>
              <a:buNone/>
            </a:pPr>
            <a:r>
              <a:rPr lang="zh-CN" altLang="en-US" sz="2000"/>
              <a:t>   </a:t>
            </a:r>
            <a:r>
              <a:rPr lang="en-US" altLang="zh-CN" sz="2000"/>
              <a:t>C</a:t>
            </a:r>
            <a:r>
              <a:rPr lang="zh-CN" altLang="en-US" sz="2000"/>
              <a:t>、并发控制子系统     </a:t>
            </a:r>
            <a:r>
              <a:rPr lang="en-US" altLang="zh-CN" sz="2000"/>
              <a:t>D</a:t>
            </a:r>
            <a:r>
              <a:rPr lang="zh-CN" altLang="en-US" sz="2000"/>
              <a:t>、故障恢复子系统</a:t>
            </a:r>
            <a:endParaRPr lang="zh-CN" altLang="en-US" sz="2000"/>
          </a:p>
        </p:txBody>
      </p:sp>
      <p:sp>
        <p:nvSpPr>
          <p:cNvPr id="22" name="文本框 21"/>
          <p:cNvSpPr txBox="1"/>
          <p:nvPr/>
        </p:nvSpPr>
        <p:spPr>
          <a:xfrm>
            <a:off x="6106795" y="4034155"/>
            <a:ext cx="403225" cy="589280"/>
          </a:xfrm>
          <a:prstGeom prst="rect">
            <a:avLst/>
          </a:prstGeom>
          <a:noFill/>
        </p:spPr>
        <p:txBody>
          <a:bodyPr wrap="none" rtlCol="0" anchor="t">
            <a:spAutoFit/>
          </a:bodyPr>
          <a:lstStyle/>
          <a:p>
            <a:pPr>
              <a:buNone/>
            </a:pPr>
            <a:r>
              <a:rPr lang="en-US" altLang="zh-CN" sz="2400">
                <a:solidFill>
                  <a:srgbClr val="C00000"/>
                </a:solidFill>
              </a:rPr>
              <a:t>D</a:t>
            </a:r>
            <a:endParaRPr lang="en-US" altLang="zh-CN" sz="2400">
              <a:solidFill>
                <a:srgbClr val="C00000"/>
              </a:solidFill>
            </a:endParaRPr>
          </a:p>
        </p:txBody>
      </p:sp>
      <p:sp>
        <p:nvSpPr>
          <p:cNvPr id="4" name="文本框 3"/>
          <p:cNvSpPr txBox="1"/>
          <p:nvPr/>
        </p:nvSpPr>
        <p:spPr>
          <a:xfrm>
            <a:off x="345440" y="5140325"/>
            <a:ext cx="8564245" cy="1014730"/>
          </a:xfrm>
          <a:prstGeom prst="rect">
            <a:avLst/>
          </a:prstGeom>
          <a:noFill/>
        </p:spPr>
        <p:txBody>
          <a:bodyPr wrap="square" rtlCol="0" anchor="t">
            <a:spAutoFit/>
          </a:bodyPr>
          <a:lstStyle/>
          <a:p>
            <a:pPr>
              <a:lnSpc>
                <a:spcPct val="100000"/>
              </a:lnSpc>
              <a:spcBef>
                <a:spcPts val="0"/>
              </a:spcBef>
              <a:spcAft>
                <a:spcPts val="0"/>
              </a:spcAft>
              <a:buNone/>
            </a:pPr>
            <a:r>
              <a:rPr lang="en-US" altLang="zh-CN" sz="2000"/>
              <a:t>   5</a:t>
            </a:r>
            <a:r>
              <a:rPr lang="zh-CN" altLang="en-US" sz="2000"/>
              <a:t>、若系统在运行过程中，由于某种原因，造成系统停止运行，事务以非控制方式终止，而存储在外存上的数据未受影响，这种情况称为（       ）</a:t>
            </a:r>
            <a:endParaRPr lang="zh-CN" altLang="en-US" sz="2000"/>
          </a:p>
          <a:p>
            <a:pPr>
              <a:lnSpc>
                <a:spcPct val="100000"/>
              </a:lnSpc>
              <a:spcBef>
                <a:spcPts val="0"/>
              </a:spcBef>
              <a:spcAft>
                <a:spcPts val="0"/>
              </a:spcAft>
              <a:buNone/>
            </a:pPr>
            <a:r>
              <a:rPr lang="zh-CN" altLang="en-US" sz="2000"/>
              <a:t>  </a:t>
            </a:r>
            <a:r>
              <a:rPr lang="en-US" altLang="zh-CN" sz="2000"/>
              <a:t>A</a:t>
            </a:r>
            <a:r>
              <a:rPr lang="zh-CN" altLang="en-US" sz="2000"/>
              <a:t>、事务故障      </a:t>
            </a:r>
            <a:r>
              <a:rPr lang="en-US" altLang="zh-CN" sz="2000"/>
              <a:t>B</a:t>
            </a:r>
            <a:r>
              <a:rPr lang="zh-CN" altLang="en-US" sz="2000"/>
              <a:t>、系统故障      </a:t>
            </a:r>
            <a:r>
              <a:rPr lang="en-US" altLang="zh-CN" sz="2000"/>
              <a:t>C</a:t>
            </a:r>
            <a:r>
              <a:rPr lang="zh-CN" altLang="en-US" sz="2000"/>
              <a:t>、介质故障      </a:t>
            </a:r>
            <a:r>
              <a:rPr lang="en-US" altLang="zh-CN" sz="2000"/>
              <a:t>D</a:t>
            </a:r>
            <a:r>
              <a:rPr lang="zh-CN" altLang="en-US" sz="2000"/>
              <a:t>、运行故障</a:t>
            </a:r>
            <a:endParaRPr lang="zh-CN" altLang="en-US" sz="2000"/>
          </a:p>
        </p:txBody>
      </p:sp>
      <p:sp>
        <p:nvSpPr>
          <p:cNvPr id="2" name="文本框 1"/>
          <p:cNvSpPr txBox="1"/>
          <p:nvPr/>
        </p:nvSpPr>
        <p:spPr>
          <a:xfrm>
            <a:off x="7875905" y="5281930"/>
            <a:ext cx="403225" cy="589280"/>
          </a:xfrm>
          <a:prstGeom prst="rect">
            <a:avLst/>
          </a:prstGeom>
          <a:noFill/>
        </p:spPr>
        <p:txBody>
          <a:bodyPr wrap="none" rtlCol="0" anchor="t">
            <a:spAutoFit/>
          </a:bodyPr>
          <a:lstStyle/>
          <a:p>
            <a:pPr>
              <a:buNone/>
            </a:pPr>
            <a:r>
              <a:rPr lang="en-US" altLang="zh-CN" sz="2400">
                <a:solidFill>
                  <a:srgbClr val="C00000"/>
                </a:solidFill>
              </a:rPr>
              <a:t>B</a:t>
            </a:r>
            <a:endParaRPr lang="en-US" altLang="zh-CN" sz="2400">
              <a:solidFill>
                <a:srgbClr val="C00000"/>
              </a:solidFill>
            </a:endParaRPr>
          </a:p>
        </p:txBody>
      </p:sp>
      <p:sp>
        <p:nvSpPr>
          <p:cNvPr id="87041"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fill="hold"/>
                                        <p:tgtEl>
                                          <p:spTgt spid="21"/>
                                        </p:tgtEl>
                                        <p:attrNameLst>
                                          <p:attrName>ppt_x</p:attrName>
                                        </p:attrNameLst>
                                      </p:cBhvr>
                                      <p:tavLst>
                                        <p:tav tm="0">
                                          <p:val>
                                            <p:strVal val="#ppt_x"/>
                                          </p:val>
                                        </p:tav>
                                        <p:tav tm="100000">
                                          <p:val>
                                            <p:strVal val="#ppt_x"/>
                                          </p:val>
                                        </p:tav>
                                      </p:tavLst>
                                    </p:anim>
                                    <p:anim calcmode="lin" valueType="num">
                                      <p:cBhvr additive="base">
                                        <p:cTn id="1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additive="base">
                                        <p:cTn id="29" dur="500" fill="hold"/>
                                        <p:tgtEl>
                                          <p:spTgt spid="22"/>
                                        </p:tgtEl>
                                        <p:attrNameLst>
                                          <p:attrName>ppt_x</p:attrName>
                                        </p:attrNameLst>
                                      </p:cBhvr>
                                      <p:tavLst>
                                        <p:tav tm="0">
                                          <p:val>
                                            <p:strVal val="#ppt_x"/>
                                          </p:val>
                                        </p:tav>
                                        <p:tav tm="100000">
                                          <p:val>
                                            <p:strVal val="#ppt_x"/>
                                          </p:val>
                                        </p:tav>
                                      </p:tavLst>
                                    </p:anim>
                                    <p:anim calcmode="lin" valueType="num">
                                      <p:cBhvr additive="base">
                                        <p:cTn id="3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ppt_x"/>
                                          </p:val>
                                        </p:tav>
                                        <p:tav tm="100000">
                                          <p:val>
                                            <p:strVal val="#ppt_x"/>
                                          </p:val>
                                        </p:tav>
                                      </p:tavLst>
                                    </p:anim>
                                    <p:anim calcmode="lin" valueType="num">
                                      <p:cBhvr additive="base">
                                        <p:cTn id="3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0" grpId="0"/>
      <p:bldP spid="21" grpId="0"/>
      <p:bldP spid="9" grpId="0"/>
      <p:bldP spid="22" grpId="0"/>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44"/>
          <p:cNvSpPr txBox="1"/>
          <p:nvPr/>
        </p:nvSpPr>
        <p:spPr>
          <a:xfrm>
            <a:off x="442913" y="659765"/>
            <a:ext cx="2681605" cy="829945"/>
          </a:xfrm>
          <a:prstGeom prst="rect">
            <a:avLst/>
          </a:prstGeom>
          <a:noFill/>
        </p:spPr>
        <p:txBody>
          <a:bodyPr wrap="none" rtlCol="0" anchor="t">
            <a:spAutoFit/>
          </a:bodyPr>
          <a:lstStyle/>
          <a:p>
            <a:pPr marL="457200" indent="-457200" algn="just">
              <a:lnSpc>
                <a:spcPct val="150000"/>
              </a:lnSpc>
              <a:spcAft>
                <a:spcPts val="0"/>
              </a:spcAft>
              <a:buFont typeface="Wingdings" panose="05000000000000000000" pitchFamily="2" charset="2"/>
              <a:buChar char="p"/>
            </a:pPr>
            <a:r>
              <a:rPr lang="zh-CN" altLang="zh-CN" sz="3200" kern="100" dirty="0" smtClean="0">
                <a:solidFill>
                  <a:srgbClr val="FF0000"/>
                </a:solidFill>
                <a:latin typeface="Calibri" panose="020F0502020204030204" charset="0"/>
                <a:cs typeface="Times New Roman" panose="02020603050405020304" pitchFamily="2" charset="0"/>
                <a:sym typeface="+mn-ea"/>
              </a:rPr>
              <a:t>问题研讨：</a:t>
            </a:r>
            <a:endParaRPr lang="zh-CN" altLang="en-US" sz="3200"/>
          </a:p>
        </p:txBody>
      </p:sp>
      <p:sp>
        <p:nvSpPr>
          <p:cNvPr id="19" name="文本框 18"/>
          <p:cNvSpPr txBox="1"/>
          <p:nvPr/>
        </p:nvSpPr>
        <p:spPr>
          <a:xfrm>
            <a:off x="530860" y="1489710"/>
            <a:ext cx="8294370" cy="1245235"/>
          </a:xfrm>
          <a:prstGeom prst="rect">
            <a:avLst/>
          </a:prstGeom>
          <a:noFill/>
        </p:spPr>
        <p:txBody>
          <a:bodyPr wrap="square" rtlCol="0" anchor="t">
            <a:spAutoFit/>
          </a:bodyPr>
          <a:lstStyle/>
          <a:p>
            <a:pPr>
              <a:lnSpc>
                <a:spcPct val="110000"/>
              </a:lnSpc>
              <a:spcBef>
                <a:spcPts val="0"/>
              </a:spcBef>
              <a:spcAft>
                <a:spcPts val="0"/>
              </a:spcAft>
              <a:buNone/>
            </a:pPr>
            <a:r>
              <a:rPr lang="en-US" altLang="zh-CN" sz="2200"/>
              <a:t>6</a:t>
            </a:r>
            <a:r>
              <a:rPr lang="zh-CN" altLang="en-US" sz="2200"/>
              <a:t>、若系统在运行过程中，由于某种硬件故障，使存储在外存上的数据部分损失或全部损失，这种情况称为（     ）</a:t>
            </a:r>
            <a:endParaRPr lang="zh-CN" altLang="en-US" sz="2200"/>
          </a:p>
          <a:p>
            <a:pPr>
              <a:lnSpc>
                <a:spcPct val="110000"/>
              </a:lnSpc>
              <a:spcBef>
                <a:spcPts val="300"/>
              </a:spcBef>
              <a:spcAft>
                <a:spcPts val="0"/>
              </a:spcAft>
              <a:buNone/>
            </a:pPr>
            <a:r>
              <a:rPr lang="zh-CN" altLang="en-US" sz="2200"/>
              <a:t>   </a:t>
            </a:r>
            <a:r>
              <a:rPr lang="en-US" altLang="zh-CN" sz="2200"/>
              <a:t>A</a:t>
            </a:r>
            <a:r>
              <a:rPr lang="zh-CN" altLang="en-US" sz="2200"/>
              <a:t>、介质故障     </a:t>
            </a:r>
            <a:r>
              <a:rPr lang="en-US" altLang="zh-CN" sz="2200"/>
              <a:t>B</a:t>
            </a:r>
            <a:r>
              <a:rPr lang="zh-CN" altLang="en-US" sz="2200"/>
              <a:t>、运行故障     </a:t>
            </a:r>
            <a:r>
              <a:rPr lang="en-US" altLang="zh-CN" sz="2200"/>
              <a:t>C</a:t>
            </a:r>
            <a:r>
              <a:rPr lang="zh-CN" altLang="en-US" sz="2200"/>
              <a:t>、系统故障     </a:t>
            </a:r>
            <a:r>
              <a:rPr lang="en-US" altLang="zh-CN" sz="2200"/>
              <a:t>D</a:t>
            </a:r>
            <a:r>
              <a:rPr lang="zh-CN" altLang="en-US" sz="2200"/>
              <a:t>、事务故障</a:t>
            </a:r>
            <a:endParaRPr lang="zh-CN" altLang="en-US" sz="2200"/>
          </a:p>
        </p:txBody>
      </p:sp>
      <p:sp>
        <p:nvSpPr>
          <p:cNvPr id="22" name="文本框 21"/>
          <p:cNvSpPr txBox="1"/>
          <p:nvPr/>
        </p:nvSpPr>
        <p:spPr>
          <a:xfrm>
            <a:off x="5961380" y="1728470"/>
            <a:ext cx="403225" cy="589280"/>
          </a:xfrm>
          <a:prstGeom prst="rect">
            <a:avLst/>
          </a:prstGeom>
          <a:noFill/>
        </p:spPr>
        <p:txBody>
          <a:bodyPr wrap="none" rtlCol="0" anchor="t">
            <a:spAutoFit/>
          </a:bodyPr>
          <a:lstStyle/>
          <a:p>
            <a:pPr>
              <a:buNone/>
            </a:pPr>
            <a:r>
              <a:rPr lang="en-US" altLang="zh-CN" sz="2400">
                <a:solidFill>
                  <a:srgbClr val="C00000"/>
                </a:solidFill>
              </a:rPr>
              <a:t>A</a:t>
            </a:r>
            <a:endParaRPr lang="en-US" altLang="zh-CN" sz="2400">
              <a:solidFill>
                <a:srgbClr val="C00000"/>
              </a:solidFill>
            </a:endParaRPr>
          </a:p>
        </p:txBody>
      </p:sp>
      <p:sp>
        <p:nvSpPr>
          <p:cNvPr id="4" name="文本框 3"/>
          <p:cNvSpPr txBox="1"/>
          <p:nvPr/>
        </p:nvSpPr>
        <p:spPr>
          <a:xfrm>
            <a:off x="530860" y="2806065"/>
            <a:ext cx="8294370" cy="1283970"/>
          </a:xfrm>
          <a:prstGeom prst="rect">
            <a:avLst/>
          </a:prstGeom>
          <a:noFill/>
        </p:spPr>
        <p:txBody>
          <a:bodyPr wrap="square" rtlCol="0" anchor="t">
            <a:spAutoFit/>
          </a:bodyPr>
          <a:lstStyle/>
          <a:p>
            <a:pPr>
              <a:lnSpc>
                <a:spcPct val="110000"/>
              </a:lnSpc>
              <a:spcBef>
                <a:spcPts val="0"/>
              </a:spcBef>
              <a:spcAft>
                <a:spcPts val="0"/>
              </a:spcAft>
              <a:buNone/>
            </a:pPr>
            <a:r>
              <a:rPr lang="en-US" altLang="zh-CN" sz="2200"/>
              <a:t>7</a:t>
            </a:r>
            <a:r>
              <a:rPr lang="zh-CN" altLang="en-US" sz="2200"/>
              <a:t>、事务日志用于保存（     ）</a:t>
            </a:r>
            <a:endParaRPr lang="zh-CN" altLang="en-US" sz="2200"/>
          </a:p>
          <a:p>
            <a:pPr>
              <a:lnSpc>
                <a:spcPct val="110000"/>
              </a:lnSpc>
              <a:spcBef>
                <a:spcPts val="300"/>
              </a:spcBef>
              <a:spcAft>
                <a:spcPts val="0"/>
              </a:spcAft>
              <a:buNone/>
            </a:pPr>
            <a:r>
              <a:rPr lang="zh-CN" altLang="en-US" sz="2200"/>
              <a:t>   </a:t>
            </a:r>
            <a:r>
              <a:rPr lang="en-US" altLang="zh-CN" sz="2200"/>
              <a:t>A</a:t>
            </a:r>
            <a:r>
              <a:rPr lang="zh-CN" altLang="en-US" sz="2200"/>
              <a:t>、程序运行过程            </a:t>
            </a:r>
            <a:r>
              <a:rPr lang="en-US" altLang="zh-CN" sz="2200"/>
              <a:t>B</a:t>
            </a:r>
            <a:r>
              <a:rPr lang="zh-CN" altLang="en-US" sz="2200"/>
              <a:t>、程序的执行结果     </a:t>
            </a:r>
            <a:endParaRPr lang="zh-CN" altLang="en-US" sz="2200"/>
          </a:p>
          <a:p>
            <a:pPr>
              <a:lnSpc>
                <a:spcPct val="110000"/>
              </a:lnSpc>
              <a:spcBef>
                <a:spcPts val="300"/>
              </a:spcBef>
              <a:spcAft>
                <a:spcPts val="0"/>
              </a:spcAft>
              <a:buNone/>
            </a:pPr>
            <a:r>
              <a:rPr lang="zh-CN" altLang="en-US" sz="2200"/>
              <a:t>   </a:t>
            </a:r>
            <a:r>
              <a:rPr lang="en-US" altLang="zh-CN" sz="2200"/>
              <a:t>C</a:t>
            </a:r>
            <a:r>
              <a:rPr lang="zh-CN" altLang="en-US" sz="2200"/>
              <a:t>、对数据的更新操作     </a:t>
            </a:r>
            <a:r>
              <a:rPr lang="en-US" altLang="zh-CN" sz="2200"/>
              <a:t>D</a:t>
            </a:r>
            <a:r>
              <a:rPr lang="zh-CN" altLang="en-US" sz="2200"/>
              <a:t>、数据操作</a:t>
            </a:r>
            <a:endParaRPr lang="zh-CN" altLang="en-US" sz="2200"/>
          </a:p>
        </p:txBody>
      </p:sp>
      <p:sp>
        <p:nvSpPr>
          <p:cNvPr id="5" name="文本框 4"/>
          <p:cNvSpPr txBox="1"/>
          <p:nvPr/>
        </p:nvSpPr>
        <p:spPr>
          <a:xfrm>
            <a:off x="3582035" y="2708910"/>
            <a:ext cx="403225" cy="589280"/>
          </a:xfrm>
          <a:prstGeom prst="rect">
            <a:avLst/>
          </a:prstGeom>
          <a:noFill/>
        </p:spPr>
        <p:txBody>
          <a:bodyPr wrap="none" rtlCol="0" anchor="t">
            <a:spAutoFit/>
          </a:bodyPr>
          <a:lstStyle/>
          <a:p>
            <a:pPr>
              <a:buNone/>
            </a:pPr>
            <a:r>
              <a:rPr lang="en-US" altLang="zh-CN" sz="2400">
                <a:solidFill>
                  <a:srgbClr val="C00000"/>
                </a:solidFill>
              </a:rPr>
              <a:t>C</a:t>
            </a:r>
            <a:endParaRPr lang="en-US" altLang="zh-CN" sz="2400">
              <a:solidFill>
                <a:srgbClr val="C00000"/>
              </a:solidFill>
            </a:endParaRPr>
          </a:p>
        </p:txBody>
      </p:sp>
      <p:sp>
        <p:nvSpPr>
          <p:cNvPr id="7" name="文本框 6"/>
          <p:cNvSpPr txBox="1"/>
          <p:nvPr/>
        </p:nvSpPr>
        <p:spPr>
          <a:xfrm>
            <a:off x="530860" y="4194175"/>
            <a:ext cx="8294370" cy="2348230"/>
          </a:xfrm>
          <a:prstGeom prst="rect">
            <a:avLst/>
          </a:prstGeom>
          <a:noFill/>
        </p:spPr>
        <p:txBody>
          <a:bodyPr wrap="square" rtlCol="0" anchor="t">
            <a:spAutoFit/>
          </a:bodyPr>
          <a:lstStyle/>
          <a:p>
            <a:pPr>
              <a:lnSpc>
                <a:spcPct val="110000"/>
              </a:lnSpc>
              <a:spcBef>
                <a:spcPts val="0"/>
              </a:spcBef>
              <a:spcAft>
                <a:spcPts val="0"/>
              </a:spcAft>
              <a:buNone/>
            </a:pPr>
            <a:r>
              <a:rPr lang="en-US" altLang="zh-CN" sz="2200"/>
              <a:t>8</a:t>
            </a:r>
            <a:r>
              <a:rPr lang="zh-CN" altLang="en-US" sz="2200"/>
              <a:t>、数据库恢复的基础是利用冗余数据，冗余数据包括（     ）</a:t>
            </a:r>
            <a:endParaRPr lang="zh-CN" altLang="en-US" sz="2200"/>
          </a:p>
          <a:p>
            <a:pPr>
              <a:lnSpc>
                <a:spcPct val="100000"/>
              </a:lnSpc>
              <a:spcBef>
                <a:spcPts val="300"/>
              </a:spcBef>
              <a:spcAft>
                <a:spcPts val="0"/>
              </a:spcAft>
              <a:buNone/>
            </a:pPr>
            <a:r>
              <a:rPr lang="zh-CN" altLang="en-US" sz="2200"/>
              <a:t>   </a:t>
            </a:r>
            <a:r>
              <a:rPr lang="en-US" altLang="zh-CN" sz="2200"/>
              <a:t>A</a:t>
            </a:r>
            <a:r>
              <a:rPr lang="zh-CN" altLang="en-US" sz="2200"/>
              <a:t>、数据字典、应用程序、审计档案、数据库后备副本</a:t>
            </a:r>
            <a:endParaRPr lang="zh-CN" altLang="en-US" sz="2200"/>
          </a:p>
          <a:p>
            <a:pPr>
              <a:lnSpc>
                <a:spcPct val="100000"/>
              </a:lnSpc>
              <a:spcBef>
                <a:spcPts val="300"/>
              </a:spcBef>
              <a:spcAft>
                <a:spcPts val="0"/>
              </a:spcAft>
              <a:buNone/>
            </a:pPr>
            <a:r>
              <a:rPr lang="zh-CN" altLang="en-US" sz="2200"/>
              <a:t>   </a:t>
            </a:r>
            <a:r>
              <a:rPr lang="en-US" altLang="zh-CN" sz="2200"/>
              <a:t>B</a:t>
            </a:r>
            <a:r>
              <a:rPr lang="zh-CN" altLang="en-US" sz="2200"/>
              <a:t>、</a:t>
            </a:r>
            <a:r>
              <a:rPr lang="zh-CN" altLang="en-US" sz="2200">
                <a:sym typeface="+mn-ea"/>
              </a:rPr>
              <a:t>数据字典、应用程序、审计档案、日志文件</a:t>
            </a:r>
            <a:r>
              <a:rPr lang="zh-CN" altLang="en-US" sz="2200"/>
              <a:t>     </a:t>
            </a:r>
            <a:endParaRPr lang="zh-CN" altLang="en-US" sz="2200"/>
          </a:p>
          <a:p>
            <a:pPr>
              <a:lnSpc>
                <a:spcPct val="100000"/>
              </a:lnSpc>
              <a:spcBef>
                <a:spcPts val="300"/>
              </a:spcBef>
              <a:spcAft>
                <a:spcPts val="0"/>
              </a:spcAft>
              <a:buNone/>
            </a:pPr>
            <a:r>
              <a:rPr lang="zh-CN" altLang="en-US" sz="2200"/>
              <a:t>   </a:t>
            </a:r>
            <a:r>
              <a:rPr lang="en-US" altLang="zh-CN" sz="2200"/>
              <a:t>C</a:t>
            </a:r>
            <a:r>
              <a:rPr lang="zh-CN" altLang="en-US" sz="2200"/>
              <a:t>、日志文件、数据库后备副本     </a:t>
            </a:r>
            <a:endParaRPr lang="zh-CN" altLang="en-US" sz="2200"/>
          </a:p>
          <a:p>
            <a:pPr>
              <a:lnSpc>
                <a:spcPct val="100000"/>
              </a:lnSpc>
              <a:spcBef>
                <a:spcPts val="300"/>
              </a:spcBef>
              <a:spcAft>
                <a:spcPts val="0"/>
              </a:spcAft>
              <a:buNone/>
            </a:pPr>
            <a:r>
              <a:rPr lang="zh-CN" altLang="en-US" sz="2200"/>
              <a:t>   </a:t>
            </a:r>
            <a:r>
              <a:rPr lang="en-US" altLang="zh-CN" sz="2200"/>
              <a:t>D</a:t>
            </a:r>
            <a:r>
              <a:rPr lang="zh-CN" altLang="en-US" sz="2200"/>
              <a:t>、</a:t>
            </a:r>
            <a:r>
              <a:rPr lang="zh-CN" altLang="en-US" sz="2200">
                <a:sym typeface="+mn-ea"/>
              </a:rPr>
              <a:t>数据字典、应用程序、数据库后备副本</a:t>
            </a:r>
            <a:endParaRPr lang="zh-CN" altLang="en-US" sz="2200"/>
          </a:p>
          <a:p>
            <a:pPr>
              <a:lnSpc>
                <a:spcPct val="100000"/>
              </a:lnSpc>
              <a:spcBef>
                <a:spcPts val="300"/>
              </a:spcBef>
              <a:spcAft>
                <a:spcPts val="0"/>
              </a:spcAft>
              <a:buNone/>
            </a:pPr>
            <a:endParaRPr lang="zh-CN" altLang="en-US" sz="2200"/>
          </a:p>
        </p:txBody>
      </p:sp>
      <p:sp>
        <p:nvSpPr>
          <p:cNvPr id="8" name="文本框 7"/>
          <p:cNvSpPr txBox="1"/>
          <p:nvPr/>
        </p:nvSpPr>
        <p:spPr>
          <a:xfrm>
            <a:off x="7541260" y="4090035"/>
            <a:ext cx="403225" cy="589280"/>
          </a:xfrm>
          <a:prstGeom prst="rect">
            <a:avLst/>
          </a:prstGeom>
          <a:noFill/>
        </p:spPr>
        <p:txBody>
          <a:bodyPr wrap="none" rtlCol="0" anchor="t">
            <a:spAutoFit/>
          </a:bodyPr>
          <a:lstStyle/>
          <a:p>
            <a:pPr>
              <a:buNone/>
            </a:pPr>
            <a:r>
              <a:rPr lang="en-US" altLang="zh-CN" sz="2400">
                <a:solidFill>
                  <a:srgbClr val="C00000"/>
                </a:solidFill>
              </a:rPr>
              <a:t>C</a:t>
            </a:r>
            <a:endParaRPr lang="en-US" altLang="zh-CN" sz="2400">
              <a:solidFill>
                <a:srgbClr val="C00000"/>
              </a:solidFill>
            </a:endParaRPr>
          </a:p>
        </p:txBody>
      </p:sp>
      <p:sp>
        <p:nvSpPr>
          <p:cNvPr id="87041"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5" grpId="0"/>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44"/>
          <p:cNvSpPr txBox="1"/>
          <p:nvPr/>
        </p:nvSpPr>
        <p:spPr>
          <a:xfrm>
            <a:off x="442913" y="659765"/>
            <a:ext cx="2681605" cy="829945"/>
          </a:xfrm>
          <a:prstGeom prst="rect">
            <a:avLst/>
          </a:prstGeom>
          <a:noFill/>
        </p:spPr>
        <p:txBody>
          <a:bodyPr wrap="none" rtlCol="0" anchor="t">
            <a:spAutoFit/>
          </a:bodyPr>
          <a:lstStyle/>
          <a:p>
            <a:pPr marL="457200" indent="-457200" algn="just">
              <a:lnSpc>
                <a:spcPct val="150000"/>
              </a:lnSpc>
              <a:spcAft>
                <a:spcPts val="0"/>
              </a:spcAft>
              <a:buFont typeface="Wingdings" panose="05000000000000000000" pitchFamily="2" charset="2"/>
              <a:buChar char="p"/>
            </a:pPr>
            <a:r>
              <a:rPr lang="zh-CN" altLang="zh-CN" sz="3200" kern="100" dirty="0" smtClean="0">
                <a:solidFill>
                  <a:srgbClr val="FF0000"/>
                </a:solidFill>
                <a:latin typeface="Calibri" panose="020F0502020204030204" charset="0"/>
                <a:cs typeface="Times New Roman" panose="02020603050405020304" pitchFamily="2" charset="0"/>
                <a:sym typeface="+mn-ea"/>
              </a:rPr>
              <a:t>问题研讨：</a:t>
            </a:r>
            <a:endParaRPr lang="zh-CN" altLang="en-US" sz="3200"/>
          </a:p>
        </p:txBody>
      </p:sp>
      <p:sp>
        <p:nvSpPr>
          <p:cNvPr id="7" name="文本框 6"/>
          <p:cNvSpPr txBox="1"/>
          <p:nvPr/>
        </p:nvSpPr>
        <p:spPr>
          <a:xfrm>
            <a:off x="551180" y="1392555"/>
            <a:ext cx="8294370" cy="462915"/>
          </a:xfrm>
          <a:prstGeom prst="rect">
            <a:avLst/>
          </a:prstGeom>
          <a:noFill/>
        </p:spPr>
        <p:txBody>
          <a:bodyPr wrap="square" rtlCol="0" anchor="t">
            <a:spAutoFit/>
          </a:bodyPr>
          <a:lstStyle/>
          <a:p>
            <a:pPr>
              <a:lnSpc>
                <a:spcPct val="110000"/>
              </a:lnSpc>
              <a:spcBef>
                <a:spcPts val="0"/>
              </a:spcBef>
              <a:spcAft>
                <a:spcPts val="0"/>
              </a:spcAft>
              <a:buNone/>
            </a:pPr>
            <a:r>
              <a:rPr lang="en-US" altLang="zh-CN" sz="2200"/>
              <a:t>9</a:t>
            </a:r>
            <a:r>
              <a:rPr lang="zh-CN" altLang="en-US" sz="2200"/>
              <a:t>、数据库中为什么要有恢复系统？它的功能是什么？</a:t>
            </a:r>
            <a:endParaRPr lang="zh-CN" altLang="en-US" sz="2200"/>
          </a:p>
        </p:txBody>
      </p:sp>
      <p:sp>
        <p:nvSpPr>
          <p:cNvPr id="4" name="文本框 3"/>
          <p:cNvSpPr txBox="1"/>
          <p:nvPr/>
        </p:nvSpPr>
        <p:spPr>
          <a:xfrm>
            <a:off x="573405" y="1812290"/>
            <a:ext cx="8091805" cy="2155825"/>
          </a:xfrm>
          <a:prstGeom prst="rect">
            <a:avLst/>
          </a:prstGeom>
          <a:noFill/>
        </p:spPr>
        <p:txBody>
          <a:bodyPr wrap="square" rtlCol="0" anchor="t">
            <a:spAutoFit/>
          </a:bodyPr>
          <a:lstStyle/>
          <a:p>
            <a:pPr lvl="0" algn="l">
              <a:lnSpc>
                <a:spcPct val="110000"/>
              </a:lnSpc>
              <a:spcBef>
                <a:spcPts val="0"/>
              </a:spcBef>
              <a:spcAft>
                <a:spcPts val="0"/>
              </a:spcAft>
              <a:buClrTx/>
              <a:buSzTx/>
              <a:buFont typeface="Wingdings" panose="05000000000000000000" charset="0"/>
              <a:buNone/>
            </a:pPr>
            <a:r>
              <a:rPr lang="zh-CN" altLang="en-US" sz="2200">
                <a:solidFill>
                  <a:srgbClr val="0033CC"/>
                </a:solidFill>
              </a:rPr>
              <a:t>答：</a:t>
            </a:r>
            <a:r>
              <a:rPr lang="zh-CN" altLang="en-US" sz="2000">
                <a:solidFill>
                  <a:srgbClr val="0033CC"/>
                </a:solidFill>
              </a:rPr>
              <a:t>（</a:t>
            </a:r>
            <a:r>
              <a:rPr lang="en-US" altLang="zh-CN" sz="2000">
                <a:solidFill>
                  <a:srgbClr val="0033CC"/>
                </a:solidFill>
              </a:rPr>
              <a:t>1</a:t>
            </a:r>
            <a:r>
              <a:rPr lang="zh-CN" altLang="en-US" sz="2000">
                <a:solidFill>
                  <a:srgbClr val="0033CC"/>
                </a:solidFill>
              </a:rPr>
              <a:t>）因为</a:t>
            </a:r>
            <a:r>
              <a:rPr lang="en-US" altLang="zh-CN" sz="2000">
                <a:solidFill>
                  <a:srgbClr val="0033CC"/>
                </a:solidFill>
              </a:rPr>
              <a:t>DBMS</a:t>
            </a:r>
            <a:r>
              <a:rPr lang="zh-CN" altLang="en-US" sz="2000">
                <a:solidFill>
                  <a:srgbClr val="0033CC"/>
                </a:solidFill>
              </a:rPr>
              <a:t>系统运行中计算机系统的硬件故障、软件错误、操作员操作失误以及恶意破坏是不可避免的，这些故障轻则造成运行事务的非正常中断，影响数据库中数据的正确性，重则破坏数据库，使数据库中全部或部分数据丢失，因此必须有恢复子系统。</a:t>
            </a:r>
            <a:endParaRPr lang="zh-CN" altLang="en-US" sz="2000">
              <a:solidFill>
                <a:srgbClr val="0033CC"/>
              </a:solidFill>
            </a:endParaRPr>
          </a:p>
          <a:p>
            <a:pPr lvl="0" algn="l">
              <a:lnSpc>
                <a:spcPct val="110000"/>
              </a:lnSpc>
              <a:spcBef>
                <a:spcPts val="0"/>
              </a:spcBef>
              <a:spcAft>
                <a:spcPts val="0"/>
              </a:spcAft>
              <a:buClrTx/>
              <a:buSzTx/>
              <a:buFont typeface="Wingdings" panose="05000000000000000000" charset="0"/>
              <a:buNone/>
            </a:pPr>
            <a:r>
              <a:rPr lang="zh-CN" altLang="en-US" sz="2000">
                <a:solidFill>
                  <a:srgbClr val="0033CC"/>
                </a:solidFill>
              </a:rPr>
              <a:t>（</a:t>
            </a:r>
            <a:r>
              <a:rPr lang="en-US" altLang="zh-CN" sz="2000">
                <a:solidFill>
                  <a:srgbClr val="0033CC"/>
                </a:solidFill>
              </a:rPr>
              <a:t>2</a:t>
            </a:r>
            <a:r>
              <a:rPr lang="zh-CN" altLang="en-US" sz="2000">
                <a:solidFill>
                  <a:srgbClr val="0033CC"/>
                </a:solidFill>
              </a:rPr>
              <a:t>）恢复子系统的功能是：把数据库从错误状态恢复到某一已知的正确状态（亦称为一致性</a:t>
            </a:r>
            <a:r>
              <a:rPr lang="zh-CN" altLang="en-US" sz="2000" smtClean="0">
                <a:solidFill>
                  <a:srgbClr val="0033CC"/>
                </a:solidFill>
              </a:rPr>
              <a:t>状态）</a:t>
            </a:r>
            <a:endParaRPr lang="zh-CN" altLang="en-US" sz="2000">
              <a:solidFill>
                <a:srgbClr val="0033CC"/>
              </a:solidFill>
            </a:endParaRPr>
          </a:p>
        </p:txBody>
      </p:sp>
      <p:sp>
        <p:nvSpPr>
          <p:cNvPr id="5" name="文本框 4"/>
          <p:cNvSpPr txBox="1"/>
          <p:nvPr/>
        </p:nvSpPr>
        <p:spPr>
          <a:xfrm>
            <a:off x="573405" y="3932555"/>
            <a:ext cx="8294370" cy="835025"/>
          </a:xfrm>
          <a:prstGeom prst="rect">
            <a:avLst/>
          </a:prstGeom>
          <a:noFill/>
        </p:spPr>
        <p:txBody>
          <a:bodyPr wrap="square" rtlCol="0" anchor="t">
            <a:spAutoFit/>
          </a:bodyPr>
          <a:lstStyle/>
          <a:p>
            <a:pPr>
              <a:lnSpc>
                <a:spcPct val="110000"/>
              </a:lnSpc>
              <a:spcBef>
                <a:spcPts val="0"/>
              </a:spcBef>
              <a:spcAft>
                <a:spcPts val="0"/>
              </a:spcAft>
              <a:buNone/>
            </a:pPr>
            <a:r>
              <a:rPr lang="en-US" altLang="zh-CN" sz="2200"/>
              <a:t>10</a:t>
            </a:r>
            <a:r>
              <a:rPr lang="zh-CN" altLang="en-US" sz="2200"/>
              <a:t>、数据库运行中可能产生的故障有哪几类？哪些故障影响事务的正常执行？哪些故障破坏数据库数据？</a:t>
            </a:r>
            <a:endParaRPr lang="zh-CN" altLang="en-US" sz="2200"/>
          </a:p>
        </p:txBody>
      </p:sp>
      <p:sp>
        <p:nvSpPr>
          <p:cNvPr id="6" name="文本框 5"/>
          <p:cNvSpPr txBox="1"/>
          <p:nvPr/>
        </p:nvSpPr>
        <p:spPr>
          <a:xfrm>
            <a:off x="573405" y="4756785"/>
            <a:ext cx="8091805" cy="1478915"/>
          </a:xfrm>
          <a:prstGeom prst="rect">
            <a:avLst/>
          </a:prstGeom>
          <a:noFill/>
        </p:spPr>
        <p:txBody>
          <a:bodyPr wrap="square" rtlCol="0" anchor="t">
            <a:spAutoFit/>
          </a:bodyPr>
          <a:lstStyle/>
          <a:p>
            <a:pPr lvl="0" algn="l">
              <a:lnSpc>
                <a:spcPct val="110000"/>
              </a:lnSpc>
              <a:spcBef>
                <a:spcPts val="0"/>
              </a:spcBef>
              <a:spcAft>
                <a:spcPts val="0"/>
              </a:spcAft>
              <a:buClrTx/>
              <a:buSzTx/>
              <a:buFont typeface="Wingdings" panose="05000000000000000000" charset="0"/>
              <a:buNone/>
            </a:pPr>
            <a:r>
              <a:rPr lang="zh-CN" altLang="en-US" sz="2200">
                <a:solidFill>
                  <a:srgbClr val="0033CC"/>
                </a:solidFill>
              </a:rPr>
              <a:t>答：</a:t>
            </a:r>
            <a:r>
              <a:rPr lang="zh-CN" altLang="en-US" sz="2000">
                <a:solidFill>
                  <a:srgbClr val="0033CC"/>
                </a:solidFill>
              </a:rPr>
              <a:t>（</a:t>
            </a:r>
            <a:r>
              <a:rPr lang="en-US" altLang="zh-CN" sz="2000">
                <a:solidFill>
                  <a:srgbClr val="0033CC"/>
                </a:solidFill>
              </a:rPr>
              <a:t>1</a:t>
            </a:r>
            <a:r>
              <a:rPr lang="zh-CN" altLang="en-US" sz="2000">
                <a:solidFill>
                  <a:srgbClr val="0033CC"/>
                </a:solidFill>
              </a:rPr>
              <a:t>）</a:t>
            </a:r>
            <a:r>
              <a:rPr lang="en-US" altLang="zh-CN" sz="2000">
                <a:solidFill>
                  <a:srgbClr val="0033CC"/>
                </a:solidFill>
              </a:rPr>
              <a:t>DBMS</a:t>
            </a:r>
            <a:r>
              <a:rPr lang="zh-CN" altLang="en-US" sz="2000">
                <a:solidFill>
                  <a:srgbClr val="0033CC"/>
                </a:solidFill>
              </a:rPr>
              <a:t>的故障大致分为以下几类：事务内部故障、系统故障、介质故障和计算机病毒。</a:t>
            </a:r>
            <a:endParaRPr lang="zh-CN" altLang="en-US" sz="2000">
              <a:solidFill>
                <a:srgbClr val="0033CC"/>
              </a:solidFill>
            </a:endParaRPr>
          </a:p>
          <a:p>
            <a:pPr lvl="0" algn="l">
              <a:lnSpc>
                <a:spcPct val="110000"/>
              </a:lnSpc>
              <a:spcBef>
                <a:spcPts val="0"/>
              </a:spcBef>
              <a:spcAft>
                <a:spcPts val="0"/>
              </a:spcAft>
              <a:buClrTx/>
              <a:buSzTx/>
              <a:buFont typeface="Wingdings" panose="05000000000000000000" charset="0"/>
              <a:buNone/>
            </a:pPr>
            <a:r>
              <a:rPr lang="zh-CN" altLang="en-US" sz="2000">
                <a:solidFill>
                  <a:srgbClr val="0033CC"/>
                </a:solidFill>
              </a:rPr>
              <a:t>（</a:t>
            </a:r>
            <a:r>
              <a:rPr lang="en-US" altLang="zh-CN" sz="2000">
                <a:solidFill>
                  <a:srgbClr val="0033CC"/>
                </a:solidFill>
              </a:rPr>
              <a:t>2</a:t>
            </a:r>
            <a:r>
              <a:rPr lang="zh-CN" altLang="en-US" sz="2000">
                <a:solidFill>
                  <a:srgbClr val="0033CC"/>
                </a:solidFill>
              </a:rPr>
              <a:t>）事务故障、系统故障和介质故障影响事务的正常执行，介质故障和计算机病毒破坏数据库数据。</a:t>
            </a:r>
            <a:endParaRPr lang="zh-CN" altLang="en-US" sz="2000">
              <a:solidFill>
                <a:srgbClr val="0033CC"/>
              </a:solidFill>
            </a:endParaRPr>
          </a:p>
        </p:txBody>
      </p:sp>
      <p:sp>
        <p:nvSpPr>
          <p:cNvPr id="87041"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24815" y="1415415"/>
            <a:ext cx="8294370" cy="462915"/>
          </a:xfrm>
          <a:prstGeom prst="rect">
            <a:avLst/>
          </a:prstGeom>
          <a:noFill/>
        </p:spPr>
        <p:txBody>
          <a:bodyPr wrap="square" rtlCol="0" anchor="t">
            <a:spAutoFit/>
          </a:bodyPr>
          <a:lstStyle/>
          <a:p>
            <a:pPr>
              <a:lnSpc>
                <a:spcPct val="110000"/>
              </a:lnSpc>
              <a:spcBef>
                <a:spcPts val="0"/>
              </a:spcBef>
              <a:spcAft>
                <a:spcPts val="0"/>
              </a:spcAft>
              <a:buNone/>
            </a:pPr>
            <a:r>
              <a:rPr lang="en-US" altLang="zh-CN" sz="2200"/>
              <a:t>11</a:t>
            </a:r>
            <a:r>
              <a:rPr lang="zh-CN" altLang="en-US" sz="2200"/>
              <a:t>、简述日志的内容，以及基于日志的故障恢复原理。</a:t>
            </a:r>
            <a:endParaRPr lang="zh-CN" altLang="en-US" sz="2200"/>
          </a:p>
        </p:txBody>
      </p:sp>
      <p:sp>
        <p:nvSpPr>
          <p:cNvPr id="45" name="文本框 44"/>
          <p:cNvSpPr txBox="1"/>
          <p:nvPr/>
        </p:nvSpPr>
        <p:spPr>
          <a:xfrm>
            <a:off x="442913" y="659765"/>
            <a:ext cx="2681605" cy="829945"/>
          </a:xfrm>
          <a:prstGeom prst="rect">
            <a:avLst/>
          </a:prstGeom>
          <a:noFill/>
        </p:spPr>
        <p:txBody>
          <a:bodyPr wrap="none" rtlCol="0" anchor="t">
            <a:spAutoFit/>
          </a:bodyPr>
          <a:lstStyle/>
          <a:p>
            <a:pPr marL="457200" indent="-457200" algn="just">
              <a:lnSpc>
                <a:spcPct val="150000"/>
              </a:lnSpc>
              <a:spcAft>
                <a:spcPts val="0"/>
              </a:spcAft>
              <a:buFont typeface="Wingdings" panose="05000000000000000000" pitchFamily="2" charset="2"/>
              <a:buChar char="p"/>
            </a:pPr>
            <a:r>
              <a:rPr lang="zh-CN" altLang="zh-CN" sz="3200" kern="100" dirty="0" smtClean="0">
                <a:solidFill>
                  <a:srgbClr val="FF0000"/>
                </a:solidFill>
                <a:latin typeface="Calibri" panose="020F0502020204030204" charset="0"/>
                <a:cs typeface="Times New Roman" panose="02020603050405020304" pitchFamily="2" charset="0"/>
                <a:sym typeface="+mn-ea"/>
              </a:rPr>
              <a:t>问题研讨：</a:t>
            </a:r>
            <a:endParaRPr lang="zh-CN" altLang="en-US" sz="3200"/>
          </a:p>
        </p:txBody>
      </p:sp>
      <p:sp>
        <p:nvSpPr>
          <p:cNvPr id="4" name="文本框 3"/>
          <p:cNvSpPr txBox="1"/>
          <p:nvPr/>
        </p:nvSpPr>
        <p:spPr>
          <a:xfrm>
            <a:off x="573405" y="1812290"/>
            <a:ext cx="8091805" cy="1817370"/>
          </a:xfrm>
          <a:prstGeom prst="rect">
            <a:avLst/>
          </a:prstGeom>
          <a:noFill/>
        </p:spPr>
        <p:txBody>
          <a:bodyPr wrap="square" rtlCol="0" anchor="t">
            <a:spAutoFit/>
          </a:bodyPr>
          <a:lstStyle/>
          <a:p>
            <a:pPr lvl="0" algn="l">
              <a:lnSpc>
                <a:spcPct val="110000"/>
              </a:lnSpc>
              <a:spcBef>
                <a:spcPts val="0"/>
              </a:spcBef>
              <a:spcAft>
                <a:spcPts val="0"/>
              </a:spcAft>
              <a:buClrTx/>
              <a:buSzTx/>
              <a:buFont typeface="Wingdings" panose="05000000000000000000" charset="0"/>
              <a:buNone/>
            </a:pPr>
            <a:r>
              <a:rPr lang="zh-CN" altLang="en-US" sz="2200">
                <a:solidFill>
                  <a:srgbClr val="0033CC"/>
                </a:solidFill>
              </a:rPr>
              <a:t>答：</a:t>
            </a:r>
            <a:r>
              <a:rPr lang="zh-CN" altLang="en-US" sz="2000">
                <a:solidFill>
                  <a:srgbClr val="0033CC"/>
                </a:solidFill>
              </a:rPr>
              <a:t>（</a:t>
            </a:r>
            <a:r>
              <a:rPr lang="en-US" altLang="zh-CN" sz="2000">
                <a:solidFill>
                  <a:srgbClr val="0033CC"/>
                </a:solidFill>
              </a:rPr>
              <a:t>1</a:t>
            </a:r>
            <a:r>
              <a:rPr lang="zh-CN" altLang="en-US" sz="2000">
                <a:solidFill>
                  <a:srgbClr val="0033CC"/>
                </a:solidFill>
              </a:rPr>
              <a:t>）日志的内容包括：活动的事务表、提交的事务表、事务的数据前像</a:t>
            </a:r>
            <a:r>
              <a:rPr lang="en-US" altLang="zh-CN" sz="2000">
                <a:solidFill>
                  <a:srgbClr val="0033CC"/>
                </a:solidFill>
              </a:rPr>
              <a:t>BI</a:t>
            </a:r>
            <a:r>
              <a:rPr lang="zh-CN" altLang="en-US" sz="2000">
                <a:solidFill>
                  <a:srgbClr val="0033CC"/>
                </a:solidFill>
              </a:rPr>
              <a:t>和事务对象的数据后像</a:t>
            </a:r>
            <a:r>
              <a:rPr lang="en-US" altLang="zh-CN" sz="2000">
                <a:solidFill>
                  <a:srgbClr val="0033CC"/>
                </a:solidFill>
              </a:rPr>
              <a:t>AI</a:t>
            </a:r>
            <a:r>
              <a:rPr lang="zh-CN" altLang="en-US" sz="2000">
                <a:solidFill>
                  <a:srgbClr val="0033CC"/>
                </a:solidFill>
              </a:rPr>
              <a:t>。</a:t>
            </a:r>
            <a:endParaRPr lang="zh-CN" altLang="en-US" sz="2000">
              <a:solidFill>
                <a:srgbClr val="0033CC"/>
              </a:solidFill>
            </a:endParaRPr>
          </a:p>
          <a:p>
            <a:pPr lvl="0" algn="l">
              <a:lnSpc>
                <a:spcPct val="110000"/>
              </a:lnSpc>
              <a:spcBef>
                <a:spcPts val="0"/>
              </a:spcBef>
              <a:spcAft>
                <a:spcPts val="0"/>
              </a:spcAft>
              <a:buClrTx/>
              <a:buSzTx/>
              <a:buFont typeface="Wingdings" panose="05000000000000000000" charset="0"/>
              <a:buNone/>
            </a:pPr>
            <a:r>
              <a:rPr lang="zh-CN" altLang="en-US" sz="2000">
                <a:solidFill>
                  <a:srgbClr val="0033CC"/>
                </a:solidFill>
              </a:rPr>
              <a:t>（</a:t>
            </a:r>
            <a:r>
              <a:rPr lang="en-US" altLang="zh-CN" sz="2000">
                <a:solidFill>
                  <a:srgbClr val="0033CC"/>
                </a:solidFill>
              </a:rPr>
              <a:t>2</a:t>
            </a:r>
            <a:r>
              <a:rPr lang="zh-CN" altLang="en-US" sz="2000">
                <a:solidFill>
                  <a:srgbClr val="0033CC"/>
                </a:solidFill>
              </a:rPr>
              <a:t>）基于日志的故障恢复原理：当故障发生时，从后向前扫描日志，对于未提交的事务，用前向</a:t>
            </a:r>
            <a:r>
              <a:rPr lang="en-US" altLang="zh-CN" sz="2000">
                <a:solidFill>
                  <a:srgbClr val="0033CC"/>
                </a:solidFill>
              </a:rPr>
              <a:t>BI</a:t>
            </a:r>
            <a:r>
              <a:rPr lang="zh-CN" altLang="en-US" sz="2000">
                <a:solidFill>
                  <a:srgbClr val="0033CC"/>
                </a:solidFill>
              </a:rPr>
              <a:t>做</a:t>
            </a:r>
            <a:r>
              <a:rPr lang="en-US" altLang="zh-CN" sz="2000">
                <a:solidFill>
                  <a:srgbClr val="0033CC"/>
                </a:solidFill>
              </a:rPr>
              <a:t>UNDO</a:t>
            </a:r>
            <a:r>
              <a:rPr lang="zh-CN" altLang="en-US" sz="2000">
                <a:solidFill>
                  <a:srgbClr val="0033CC"/>
                </a:solidFill>
              </a:rPr>
              <a:t>处理；对于已提交的事务，用后像</a:t>
            </a:r>
            <a:r>
              <a:rPr lang="en-US" altLang="zh-CN" sz="2000">
                <a:solidFill>
                  <a:srgbClr val="0033CC"/>
                </a:solidFill>
              </a:rPr>
              <a:t>AI</a:t>
            </a:r>
            <a:r>
              <a:rPr lang="zh-CN" altLang="en-US" sz="2000">
                <a:solidFill>
                  <a:srgbClr val="0033CC"/>
                </a:solidFill>
              </a:rPr>
              <a:t>做</a:t>
            </a:r>
            <a:r>
              <a:rPr lang="en-US" altLang="zh-CN" sz="2000">
                <a:solidFill>
                  <a:srgbClr val="0033CC"/>
                </a:solidFill>
              </a:rPr>
              <a:t>REDO</a:t>
            </a:r>
            <a:r>
              <a:rPr lang="zh-CN" altLang="en-US" sz="2000">
                <a:solidFill>
                  <a:srgbClr val="0033CC"/>
                </a:solidFill>
              </a:rPr>
              <a:t>处理。</a:t>
            </a:r>
            <a:endParaRPr lang="zh-CN" altLang="en-US" sz="2000">
              <a:solidFill>
                <a:srgbClr val="0033CC"/>
              </a:solidFill>
            </a:endParaRPr>
          </a:p>
        </p:txBody>
      </p:sp>
      <p:sp>
        <p:nvSpPr>
          <p:cNvPr id="2" name="文本框 1"/>
          <p:cNvSpPr txBox="1"/>
          <p:nvPr/>
        </p:nvSpPr>
        <p:spPr>
          <a:xfrm>
            <a:off x="467995" y="3719195"/>
            <a:ext cx="8294370" cy="462915"/>
          </a:xfrm>
          <a:prstGeom prst="rect">
            <a:avLst/>
          </a:prstGeom>
          <a:noFill/>
        </p:spPr>
        <p:txBody>
          <a:bodyPr wrap="square" rtlCol="0" anchor="t">
            <a:spAutoFit/>
          </a:bodyPr>
          <a:lstStyle/>
          <a:p>
            <a:pPr>
              <a:lnSpc>
                <a:spcPct val="110000"/>
              </a:lnSpc>
              <a:spcBef>
                <a:spcPts val="0"/>
              </a:spcBef>
              <a:spcAft>
                <a:spcPts val="0"/>
              </a:spcAft>
              <a:buNone/>
            </a:pPr>
            <a:r>
              <a:rPr lang="en-US" altLang="zh-CN" sz="2200"/>
              <a:t>12</a:t>
            </a:r>
            <a:r>
              <a:rPr lang="zh-CN" altLang="en-US" sz="2200"/>
              <a:t>、试简述在基于日志的故障恢复检查点的作用是什么。</a:t>
            </a:r>
            <a:endParaRPr lang="zh-CN" altLang="en-US" sz="2200"/>
          </a:p>
        </p:txBody>
      </p:sp>
      <p:sp>
        <p:nvSpPr>
          <p:cNvPr id="3" name="文本框 2"/>
          <p:cNvSpPr txBox="1"/>
          <p:nvPr/>
        </p:nvSpPr>
        <p:spPr>
          <a:xfrm>
            <a:off x="627380" y="4182110"/>
            <a:ext cx="8091805" cy="1714500"/>
          </a:xfrm>
          <a:prstGeom prst="rect">
            <a:avLst/>
          </a:prstGeom>
          <a:noFill/>
        </p:spPr>
        <p:txBody>
          <a:bodyPr wrap="square" rtlCol="0" anchor="t">
            <a:spAutoFit/>
          </a:bodyPr>
          <a:lstStyle/>
          <a:p>
            <a:pPr lvl="0">
              <a:lnSpc>
                <a:spcPct val="120000"/>
              </a:lnSpc>
              <a:spcBef>
                <a:spcPts val="0"/>
              </a:spcBef>
              <a:spcAft>
                <a:spcPts val="0"/>
              </a:spcAft>
              <a:buFont typeface="Wingdings" panose="05000000000000000000" pitchFamily="2" charset="2"/>
              <a:buNone/>
            </a:pPr>
            <a:r>
              <a:rPr lang="zh-CN" altLang="en-US" sz="2200">
                <a:solidFill>
                  <a:srgbClr val="0033CC"/>
                </a:solidFill>
              </a:rPr>
              <a:t>答：</a:t>
            </a:r>
            <a:r>
              <a:rPr lang="zh-CN" altLang="en-US" sz="2200">
                <a:solidFill>
                  <a:srgbClr val="0033CC"/>
                </a:solidFill>
                <a:cs typeface="+mn-ea"/>
              </a:rPr>
              <a:t>在用日志进行故障恢复时，日志中活动的事务表中事务较少，UNDO比较容易，但已提交的事务表中的事务多，REDO非常废时。</a:t>
            </a:r>
            <a:r>
              <a:rPr lang="zh-CN" altLang="en-US" sz="2200">
                <a:solidFill>
                  <a:srgbClr val="0033CC"/>
                </a:solidFill>
                <a:cs typeface="+mn-ea"/>
                <a:sym typeface="Wingdings" panose="05000000000000000000" pitchFamily="2" charset="2"/>
              </a:rPr>
              <a:t>在日志文件中增加检查点记录（checkpoint）和重新开始文件，可加快故障恢复的效率。</a:t>
            </a:r>
            <a:endParaRPr lang="zh-CN" altLang="en-US" sz="2200">
              <a:solidFill>
                <a:srgbClr val="0033CC"/>
              </a:solidFill>
              <a:cs typeface="+mn-ea"/>
              <a:sym typeface="Wingdings" panose="05000000000000000000" pitchFamily="2" charset="2"/>
            </a:endParaRPr>
          </a:p>
        </p:txBody>
      </p:sp>
      <p:sp>
        <p:nvSpPr>
          <p:cNvPr id="87041" name="Rectangle 2"/>
          <p:cNvSpPr/>
          <p:nvPr/>
        </p:nvSpPr>
        <p:spPr>
          <a:xfrm>
            <a:off x="417513" y="55563"/>
            <a:ext cx="8229600" cy="692150"/>
          </a:xfrm>
          <a:prstGeom prst="rect">
            <a:avLst/>
          </a:prstGeom>
          <a:noFill/>
          <a:ln w="9525">
            <a:noFill/>
          </a:ln>
        </p:spPr>
        <p:txBody>
          <a:bodyPr anchor="ctr"/>
          <a:lstStyle/>
          <a:p>
            <a:pPr lvl="0" indent="0">
              <a:buFont typeface="Wingdings" panose="05000000000000000000" pitchFamily="2" charset="2"/>
              <a:buNone/>
            </a:pPr>
            <a:r>
              <a:rPr lang="zh-CN" altLang="en-US" sz="3200" dirty="0">
                <a:solidFill>
                  <a:srgbClr val="0033CC"/>
                </a:solidFill>
                <a:latin typeface="Arial" panose="020B0604020202020204" pitchFamily="34" charset="0"/>
                <a:ea typeface="黑体" panose="02010609060101010101" pitchFamily="1" charset="-122"/>
              </a:rPr>
              <a:t>三、数据库的故障恢复技术</a:t>
            </a:r>
            <a:endParaRPr lang="zh-CN" altLang="en-US" sz="3200" dirty="0">
              <a:solidFill>
                <a:srgbClr val="0033CC"/>
              </a:solidFill>
              <a:latin typeface="Arial" panose="020B0604020202020204" pitchFamily="34" charset="0"/>
              <a:ea typeface="黑体" panose="02010609060101010101" pitchFamily="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tags/tag1.xml><?xml version="1.0" encoding="utf-8"?>
<p:tagLst xmlns:p="http://schemas.openxmlformats.org/presentationml/2006/main">
  <p:tag name="KSO_WM_UNIT_TABLE_BEAUTIFY" val="smartTable{4839d752-4cc6-469b-a833-8306e777685e}"/>
</p:tagLst>
</file>

<file path=ppt/tags/tag2.xml><?xml version="1.0" encoding="utf-8"?>
<p:tagLst xmlns:p="http://schemas.openxmlformats.org/presentationml/2006/main">
  <p:tag name="commondata" val="eyJoZGlkIjoiN2MwNGZlODUyOThjOGE4NWQyMjhmMDY2NzI1NjFkNGEifQ=="/>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Balance</Template>
  <TotalTime>0</TotalTime>
  <Words>13163</Words>
  <Application>WPS 演示</Application>
  <PresentationFormat>全屏显示(4:3)</PresentationFormat>
  <Paragraphs>1019</Paragraphs>
  <Slides>60</Slides>
  <Notes>0</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17</vt:i4>
      </vt:variant>
      <vt:variant>
        <vt:lpstr>幻灯片标题</vt:lpstr>
      </vt:variant>
      <vt:variant>
        <vt:i4>60</vt:i4>
      </vt:variant>
    </vt:vector>
  </HeadingPairs>
  <TitlesOfParts>
    <vt:vector size="96" baseType="lpstr">
      <vt:lpstr>Arial</vt:lpstr>
      <vt:lpstr>宋体</vt:lpstr>
      <vt:lpstr>Wingdings</vt:lpstr>
      <vt:lpstr>楷体_GB2312</vt:lpstr>
      <vt:lpstr>Times New Roman</vt:lpstr>
      <vt:lpstr>华文中宋</vt:lpstr>
      <vt:lpstr>楷体</vt:lpstr>
      <vt:lpstr>方正舒体</vt:lpstr>
      <vt:lpstr>黑体</vt:lpstr>
      <vt:lpstr>华文楷体</vt:lpstr>
      <vt:lpstr>Wingdings</vt:lpstr>
      <vt:lpstr>Calibri</vt:lpstr>
      <vt:lpstr>微软雅黑</vt:lpstr>
      <vt:lpstr>Arial Unicode MS</vt:lpstr>
      <vt:lpstr>方正姚体</vt:lpstr>
      <vt:lpstr>Wingdings 2</vt:lpstr>
      <vt:lpstr>新宋体</vt:lpstr>
      <vt:lpstr>1_默认设计模板</vt:lpstr>
      <vt:lpstr>3_默认设计模板</vt:lpstr>
      <vt:lpstr>Word.Picture.8</vt:lpstr>
      <vt:lpstr>Word.Picture.8</vt:lpstr>
      <vt:lpstr>Paint.Picture</vt:lpstr>
      <vt:lpstr>Word.Picture.8</vt:lpstr>
      <vt:lpstr>Word.Picture.8</vt:lpstr>
      <vt:lpstr>Word.Picture.8</vt:lpstr>
      <vt:lpstr>Word.Picture.8</vt:lpstr>
      <vt:lpstr>Word.Picture.8</vt:lpstr>
      <vt:lpstr>Word.Picture.8</vt:lpstr>
      <vt:lpstr>Paint.Picture</vt:lpstr>
      <vt:lpstr>Paint.Picture</vt:lpstr>
      <vt:lpstr>Paint.Picture</vt:lpstr>
      <vt:lpstr>Paint.Picture</vt:lpstr>
      <vt:lpstr>Paint.Picture</vt:lpstr>
      <vt:lpstr>Paint.Picture</vt:lpstr>
      <vt:lpstr>Paint.Picture</vt:lpstr>
      <vt:lpstr>Word.Picture.8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王淑营</dc:creator>
  <cp:lastModifiedBy>Wangshuying</cp:lastModifiedBy>
  <cp:revision>3080</cp:revision>
  <dcterms:created xsi:type="dcterms:W3CDTF">2001-06-18T05:13:00Z</dcterms:created>
  <dcterms:modified xsi:type="dcterms:W3CDTF">2024-05-29T01:28:05Z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2052-12.1.0.16929</vt:lpwstr>
  </property>
  <property fmtid="{D5CDD505-2E9C-101B-9397-08002B2CF9AE}" pid="3" name="ICV">
    <vt:lpwstr>1E10766530844B8E86611CCD71B0A099_13</vt:lpwstr>
  </property>
</Properties>
</file>