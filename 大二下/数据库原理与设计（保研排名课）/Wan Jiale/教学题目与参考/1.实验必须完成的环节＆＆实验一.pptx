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3" r:id="rId3"/>
    <p:sldId id="256" r:id="rId4"/>
    <p:sldId id="266" r:id="rId6"/>
    <p:sldId id="274" r:id="rId7"/>
    <p:sldId id="260" r:id="rId8"/>
    <p:sldId id="267" r:id="rId9"/>
    <p:sldId id="285" r:id="rId10"/>
    <p:sldId id="288" r:id="rId11"/>
    <p:sldId id="290" r:id="rId12"/>
    <p:sldId id="291" r:id="rId13"/>
    <p:sldId id="292" r:id="rId14"/>
    <p:sldId id="293" r:id="rId15"/>
    <p:sldId id="294" r:id="rId16"/>
    <p:sldId id="295" r:id="rId17"/>
    <p:sldId id="289" r:id="rId18"/>
    <p:sldId id="297" r:id="rId19"/>
    <p:sldId id="299" r:id="rId20"/>
    <p:sldId id="300" r:id="rId21"/>
    <p:sldId id="301" r:id="rId22"/>
    <p:sldId id="280" r:id="rId23"/>
  </p:sldIdLst>
  <p:sldSz cx="9144000" cy="6858000" type="screen4x3"/>
  <p:notesSz cx="6858000" cy="9144000"/>
  <p:custDataLst>
    <p:tags r:id="rId27"/>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3" d="100"/>
          <a:sy n="73" d="100"/>
        </p:scale>
        <p:origin x="348" y="60"/>
      </p:cViewPr>
      <p:guideLst>
        <p:guide orient="horz" pos="2160"/>
        <p:guide pos="2871"/>
      </p:guideLst>
    </p:cSldViewPr>
  </p:slid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smtClean="0"/>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E06E3F8F-96C4-476E-B9FA-62569472D7ED}"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p:nvPr/>
        </p:nvSpPr>
        <p:spPr>
          <a:xfrm>
            <a:off x="1691760" y="2276904"/>
            <a:ext cx="6336528" cy="8509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smtClean="0">
                <a:solidFill>
                  <a:srgbClr val="C00000"/>
                </a:solidFill>
                <a:latin typeface="楷体" panose="02010609060101010101" pitchFamily="49" charset="-122"/>
                <a:ea typeface="楷体" panose="02010609060101010101" pitchFamily="49" charset="-122"/>
              </a:rPr>
              <a:t>数据库原理与设计实验</a:t>
            </a:r>
            <a:endParaRPr lang="zh-CN" altLang="en-US" b="1" dirty="0">
              <a:solidFill>
                <a:srgbClr val="C00000"/>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3"/>
          <p:cNvSpPr>
            <a:spLocks noGrp="1"/>
          </p:cNvSpPr>
          <p:nvPr>
            <p:ph type="title"/>
          </p:nvPr>
        </p:nvSpPr>
        <p:spPr>
          <a:xfrm>
            <a:off x="457200" y="274638"/>
            <a:ext cx="8229600" cy="850900"/>
          </a:xfrm>
        </p:spPr>
        <p:txBody>
          <a:bodyPr vert="horz" wrap="square" lIns="91440" tIns="45720" rIns="91440" bIns="45720" anchor="ctr"/>
          <a:lstStyle/>
          <a:p>
            <a:pPr eaLnBrk="1" hangingPunct="1"/>
            <a:r>
              <a:rPr lang="zh-CN" altLang="en-US" b="1" dirty="0">
                <a:solidFill>
                  <a:srgbClr val="C00000"/>
                </a:solidFill>
                <a:latin typeface="楷体" panose="02010609060101010101" pitchFamily="49" charset="-122"/>
                <a:ea typeface="楷体" panose="02010609060101010101" pitchFamily="49" charset="-122"/>
              </a:rPr>
              <a:t>课程设计实验必须完成的环节</a:t>
            </a:r>
            <a:endParaRPr lang="zh-CN" altLang="en-US" b="1" dirty="0">
              <a:solidFill>
                <a:srgbClr val="C00000"/>
              </a:solidFill>
              <a:latin typeface="楷体" panose="02010609060101010101" pitchFamily="49" charset="-122"/>
              <a:ea typeface="楷体" panose="02010609060101010101" pitchFamily="49" charset="-122"/>
            </a:endParaRPr>
          </a:p>
        </p:txBody>
      </p:sp>
      <p:sp>
        <p:nvSpPr>
          <p:cNvPr id="2051" name="内容占位符 4"/>
          <p:cNvSpPr>
            <a:spLocks noGrp="1"/>
          </p:cNvSpPr>
          <p:nvPr>
            <p:ph idx="1"/>
          </p:nvPr>
        </p:nvSpPr>
        <p:spPr>
          <a:xfrm>
            <a:off x="457200" y="1142365"/>
            <a:ext cx="8340725" cy="5071745"/>
          </a:xfrm>
        </p:spPr>
        <p:txBody>
          <a:bodyPr vert="horz" wrap="square" lIns="91440" tIns="45720" rIns="91440" bIns="45720" anchor="t"/>
          <a:lstStyle/>
          <a:p>
            <a:pPr marL="0" indent="0" eaLnBrk="1" hangingPunct="1">
              <a:buNone/>
            </a:pPr>
            <a:r>
              <a:rPr lang="zh-CN" altLang="en-US" sz="2400" b="1" dirty="0">
                <a:latin typeface="华文楷体" panose="02010600040101010101" pitchFamily="2" charset="-122"/>
                <a:ea typeface="华文楷体" panose="02010600040101010101" pitchFamily="2" charset="-122"/>
              </a:rPr>
              <a:t>１、实验内容：</a:t>
            </a:r>
            <a:endParaRPr lang="zh-CN" altLang="en-US" sz="2400" b="1" dirty="0">
              <a:latin typeface="华文楷体" panose="02010600040101010101" pitchFamily="2" charset="-122"/>
              <a:ea typeface="华文楷体" panose="02010600040101010101" pitchFamily="2" charset="-122"/>
            </a:endParaRPr>
          </a:p>
          <a:p>
            <a:pPr marL="0" indent="0" eaLnBrk="1" hangingPunct="1">
              <a:buNone/>
            </a:pPr>
            <a:r>
              <a:rPr lang="zh-CN" altLang="en-US" sz="2000" b="1" dirty="0">
                <a:latin typeface="+mj-ea"/>
                <a:ea typeface="+mj-ea"/>
              </a:rPr>
              <a:t>（１）</a:t>
            </a:r>
            <a:r>
              <a:rPr lang="zh-CN" altLang="en-US" sz="2400" b="1" dirty="0">
                <a:latin typeface="华文楷体" panose="02010600040101010101" pitchFamily="2" charset="-122"/>
                <a:ea typeface="华文楷体" panose="02010600040101010101" pitchFamily="2" charset="-122"/>
              </a:rPr>
              <a:t>数据库需求分析：</a:t>
            </a:r>
            <a:r>
              <a:rPr lang="zh-CN" altLang="en-US" sz="2400" dirty="0">
                <a:latin typeface="华文楷体" panose="02010600040101010101" pitchFamily="2" charset="-122"/>
                <a:ea typeface="华文楷体" panose="02010600040101010101" pitchFamily="2" charset="-122"/>
              </a:rPr>
              <a:t>各用户组需求描述，绘出数据流图；</a:t>
            </a:r>
            <a:endParaRPr lang="zh-CN" altLang="en-US" sz="2400" dirty="0">
              <a:latin typeface="华文楷体" panose="02010600040101010101" pitchFamily="2" charset="-122"/>
              <a:ea typeface="华文楷体" panose="02010600040101010101" pitchFamily="2" charset="-122"/>
            </a:endParaRPr>
          </a:p>
          <a:p>
            <a:pPr marL="0" indent="0" eaLnBrk="1" hangingPunct="1">
              <a:buNone/>
            </a:pPr>
            <a:r>
              <a:rPr lang="zh-CN" altLang="en-US" sz="2000" b="1" dirty="0">
                <a:latin typeface="+mj-ea"/>
                <a:ea typeface="+mj-ea"/>
                <a:sym typeface="+mn-ea"/>
              </a:rPr>
              <a:t>（２）</a:t>
            </a:r>
            <a:r>
              <a:rPr lang="zh-CN" altLang="en-US" sz="2400" b="1" dirty="0">
                <a:latin typeface="华文楷体" panose="02010600040101010101" pitchFamily="2" charset="-122"/>
                <a:ea typeface="华文楷体" panose="02010600040101010101" pitchFamily="2" charset="-122"/>
              </a:rPr>
              <a:t>概念数据库设计：</a:t>
            </a:r>
            <a:r>
              <a:rPr lang="zh-CN" altLang="en-US" sz="2400" dirty="0">
                <a:latin typeface="华文楷体" panose="02010600040101010101" pitchFamily="2" charset="-122"/>
                <a:ea typeface="华文楷体" panose="02010600040101010101" pitchFamily="2" charset="-122"/>
              </a:rPr>
              <a:t>完成概念设计，绘出 ER 图；</a:t>
            </a:r>
            <a:endParaRPr lang="zh-CN" altLang="en-US" sz="2400" dirty="0">
              <a:latin typeface="华文楷体" panose="02010600040101010101" pitchFamily="2" charset="-122"/>
              <a:ea typeface="华文楷体" panose="02010600040101010101" pitchFamily="2" charset="-122"/>
            </a:endParaRPr>
          </a:p>
          <a:p>
            <a:pPr marL="0" indent="0" eaLnBrk="1" hangingPunct="1">
              <a:buNone/>
            </a:pPr>
            <a:r>
              <a:rPr lang="zh-CN" altLang="en-US" sz="2000" b="1" dirty="0">
                <a:latin typeface="+mj-ea"/>
                <a:ea typeface="+mj-ea"/>
                <a:sym typeface="+mn-ea"/>
              </a:rPr>
              <a:t>（３）</a:t>
            </a:r>
            <a:r>
              <a:rPr lang="zh-CN" altLang="en-US" sz="2400" b="1" dirty="0">
                <a:latin typeface="华文楷体" panose="02010600040101010101" pitchFamily="2" charset="-122"/>
                <a:ea typeface="华文楷体" panose="02010600040101010101" pitchFamily="2" charset="-122"/>
              </a:rPr>
              <a:t>逻辑数据库设计：</a:t>
            </a:r>
            <a:r>
              <a:rPr lang="zh-CN" altLang="en-US" sz="2400" dirty="0">
                <a:latin typeface="华文楷体" panose="02010600040101010101" pitchFamily="2" charset="-122"/>
                <a:ea typeface="华文楷体" panose="02010600040101010101" pitchFamily="2" charset="-122"/>
              </a:rPr>
              <a:t>进行逻辑设计，完成 ER 模式向关系的转换；</a:t>
            </a:r>
            <a:endParaRPr lang="zh-CN" altLang="en-US" sz="2400" dirty="0">
              <a:latin typeface="华文楷体" panose="02010600040101010101" pitchFamily="2" charset="-122"/>
              <a:ea typeface="华文楷体" panose="02010600040101010101" pitchFamily="2" charset="-122"/>
            </a:endParaRPr>
          </a:p>
          <a:p>
            <a:pPr marL="0" indent="0" eaLnBrk="1" hangingPunct="1">
              <a:buNone/>
            </a:pPr>
            <a:r>
              <a:rPr lang="zh-CN" altLang="en-US" sz="2000" b="1" dirty="0">
                <a:latin typeface="+mj-ea"/>
                <a:ea typeface="+mj-ea"/>
              </a:rPr>
              <a:t>（４）</a:t>
            </a:r>
            <a:r>
              <a:rPr lang="zh-CN" altLang="en-US" sz="2000" b="1" dirty="0">
                <a:latin typeface="+mj-ea"/>
                <a:ea typeface="+mj-ea"/>
                <a:sym typeface="+mn-ea"/>
              </a:rPr>
              <a:t>数据库对象定义：</a:t>
            </a:r>
            <a:r>
              <a:rPr lang="zh-CN" altLang="en-US" sz="2400" dirty="0">
                <a:latin typeface="华文楷体" panose="02010600040101010101" pitchFamily="2" charset="-122"/>
                <a:ea typeface="华文楷体" panose="02010600040101010101" pitchFamily="2" charset="-122"/>
                <a:sym typeface="+mn-ea"/>
              </a:rPr>
              <a:t>构建关系表、定义主外键、定义主外键约束和检查约束；验证索引</a:t>
            </a:r>
            <a:r>
              <a:rPr lang="zh-CN" altLang="en-US" sz="2400" dirty="0">
                <a:latin typeface="华文楷体" panose="02010600040101010101" pitchFamily="2" charset="-122"/>
                <a:ea typeface="华文楷体" panose="02010600040101010101" pitchFamily="2" charset="-122"/>
              </a:rPr>
              <a:t>技术；构建视图；构建触发器。所定义的数据库结构应覆盖所分析的应用需求。</a:t>
            </a:r>
            <a:endParaRPr lang="zh-CN" altLang="en-US" sz="2400" dirty="0">
              <a:latin typeface="华文楷体" panose="02010600040101010101" pitchFamily="2" charset="-122"/>
              <a:ea typeface="华文楷体" panose="02010600040101010101" pitchFamily="2" charset="-122"/>
            </a:endParaRPr>
          </a:p>
          <a:p>
            <a:pPr marL="0" algn="l" eaLnBrk="1" hangingPunct="1">
              <a:buClrTx/>
              <a:buSzTx/>
              <a:buNone/>
            </a:pPr>
            <a:r>
              <a:rPr lang="zh-CN" altLang="en-US" sz="2000" b="1" dirty="0">
                <a:latin typeface="华文楷体" panose="02010600040101010101" pitchFamily="2" charset="-122"/>
                <a:ea typeface="华文楷体" panose="02010600040101010101" pitchFamily="2" charset="-122"/>
              </a:rPr>
              <a:t>（５）</a:t>
            </a:r>
            <a:r>
              <a:rPr lang="zh-CN" altLang="en-US" sz="2400" b="1" dirty="0">
                <a:latin typeface="华文楷体" panose="02010600040101010101" pitchFamily="2" charset="-122"/>
                <a:ea typeface="华文楷体" panose="02010600040101010101" pitchFamily="2" charset="-122"/>
                <a:sym typeface="+mn-ea"/>
              </a:rPr>
              <a:t>数据操作：</a:t>
            </a:r>
            <a:r>
              <a:rPr lang="zh-CN" altLang="en-US" sz="2400" dirty="0">
                <a:latin typeface="华文楷体" panose="02010600040101010101" pitchFamily="2" charset="-122"/>
                <a:ea typeface="华文楷体" panose="02010600040101010101" pitchFamily="2" charset="-122"/>
                <a:sym typeface="+mn-ea"/>
              </a:rPr>
              <a:t>编写 SQL 程序完成数据库查询和统计分析。要求查询验证需涵</a:t>
            </a:r>
            <a:r>
              <a:rPr lang="zh-CN" altLang="en-US" sz="2400" dirty="0">
                <a:latin typeface="华文楷体" panose="02010600040101010101" pitchFamily="2" charset="-122"/>
                <a:ea typeface="华文楷体" panose="02010600040101010101" pitchFamily="2" charset="-122"/>
              </a:rPr>
              <a:t>盖 I-D-U-Q 命令，应验证触发器、视图和各种约束功能。</a:t>
            </a:r>
            <a:endParaRPr lang="zh-CN" altLang="en-US" sz="2400" dirty="0">
              <a:latin typeface="华文楷体" panose="02010600040101010101" pitchFamily="2" charset="-122"/>
              <a:ea typeface="华文楷体" panose="02010600040101010101" pitchFamily="2" charset="-122"/>
            </a:endParaRPr>
          </a:p>
          <a:p>
            <a:pPr marL="0" algn="l" eaLnBrk="1" hangingPunct="1">
              <a:buClrTx/>
              <a:buSzTx/>
              <a:buNone/>
            </a:pPr>
            <a:r>
              <a:rPr lang="zh-CN" altLang="en-US" sz="2000" b="1" dirty="0">
                <a:latin typeface="华文楷体" panose="02010600040101010101" pitchFamily="2" charset="-122"/>
                <a:ea typeface="华文楷体" panose="02010600040101010101" pitchFamily="2" charset="-122"/>
              </a:rPr>
              <a:t>（６）</a:t>
            </a:r>
            <a:r>
              <a:rPr lang="zh-CN" altLang="en-US" sz="2400" b="1" dirty="0">
                <a:latin typeface="华文楷体" panose="02010600040101010101" pitchFamily="2" charset="-122"/>
                <a:ea typeface="华文楷体" panose="02010600040101010101" pitchFamily="2" charset="-122"/>
              </a:rPr>
              <a:t>用户及授权访问</a:t>
            </a:r>
            <a:r>
              <a:rPr lang="zh-CN" altLang="en-US" sz="2000" b="1"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编写</a:t>
            </a:r>
            <a:r>
              <a:rPr lang="zh-CN" altLang="en-US" sz="2400" dirty="0">
                <a:latin typeface="华文楷体" panose="02010600040101010101" pitchFamily="2" charset="-122"/>
                <a:ea typeface="华文楷体" panose="02010600040101010101" pitchFamily="2" charset="-122"/>
                <a:sym typeface="+mn-ea"/>
              </a:rPr>
              <a:t>SQL 程序完成用户、角色的</a:t>
            </a:r>
            <a:r>
              <a:rPr lang="en-US" altLang="zh-CN" sz="2400" dirty="0">
                <a:latin typeface="华文楷体" panose="02010600040101010101" pitchFamily="2" charset="-122"/>
                <a:ea typeface="华文楷体" panose="02010600040101010101" pitchFamily="2" charset="-122"/>
                <a:sym typeface="+mn-ea"/>
              </a:rPr>
              <a:t>DCL</a:t>
            </a:r>
            <a:r>
              <a:rPr lang="zh-CN" altLang="en-US" sz="2400" dirty="0">
                <a:latin typeface="华文楷体" panose="02010600040101010101" pitchFamily="2" charset="-122"/>
                <a:ea typeface="华文楷体" panose="02010600040101010101" pitchFamily="2" charset="-122"/>
                <a:sym typeface="+mn-ea"/>
              </a:rPr>
              <a:t>授权设置和权限验证。</a:t>
            </a:r>
            <a:endParaRPr lang="zh-CN" altLang="en-US" sz="2400" dirty="0">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4055" y="5088783"/>
            <a:ext cx="7847330" cy="829945"/>
          </a:xfrm>
          <a:prstGeom prst="rect">
            <a:avLst/>
          </a:prstGeom>
          <a:noFill/>
        </p:spPr>
        <p:txBody>
          <a:bodyPr wrap="square" rtlCol="0" anchor="t">
            <a:spAutoFit/>
          </a:bodyPr>
          <a:lstStyle/>
          <a:p>
            <a:r>
              <a:rPr lang="zh-CN" altLang="en-US" sz="2400" b="1" dirty="0">
                <a:latin typeface="华文楷体" panose="02010600040101010101" pitchFamily="2" charset="-122"/>
                <a:ea typeface="华文楷体" panose="02010600040101010101" pitchFamily="2" charset="-122"/>
                <a:sym typeface="+mn-ea"/>
              </a:rPr>
              <a:t>３、口头方案汇报：</a:t>
            </a:r>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由老师抽选组内的一位同学现场汇报，组内所有同学可参与研讨。</a:t>
            </a:r>
            <a:endParaRPr lang="zh-CN" altLang="en-US" sz="2000" dirty="0"/>
          </a:p>
        </p:txBody>
      </p:sp>
      <p:sp>
        <p:nvSpPr>
          <p:cNvPr id="2050" name="标题 3"/>
          <p:cNvSpPr>
            <a:spLocks noGrp="1"/>
          </p:cNvSpPr>
          <p:nvPr>
            <p:ph type="title"/>
          </p:nvPr>
        </p:nvSpPr>
        <p:spPr>
          <a:xfrm>
            <a:off x="457200" y="274638"/>
            <a:ext cx="8229600" cy="850900"/>
          </a:xfrm>
        </p:spPr>
        <p:txBody>
          <a:bodyPr vert="horz" wrap="square" lIns="91440" tIns="45720" rIns="91440" bIns="45720" anchor="ctr"/>
          <a:lstStyle/>
          <a:p>
            <a:pPr eaLnBrk="1" hangingPunct="1"/>
            <a:r>
              <a:rPr lang="zh-CN" altLang="en-US" b="1" dirty="0">
                <a:solidFill>
                  <a:srgbClr val="C00000"/>
                </a:solidFill>
                <a:latin typeface="楷体" panose="02010609060101010101" pitchFamily="49" charset="-122"/>
                <a:ea typeface="楷体" panose="02010609060101010101" pitchFamily="49" charset="-122"/>
              </a:rPr>
              <a:t>实验考核</a:t>
            </a:r>
            <a:r>
              <a:rPr lang="zh-CN" altLang="en-US" b="1" dirty="0" smtClean="0">
                <a:solidFill>
                  <a:srgbClr val="C00000"/>
                </a:solidFill>
                <a:latin typeface="楷体" panose="02010609060101010101" pitchFamily="49" charset="-122"/>
                <a:ea typeface="楷体" panose="02010609060101010101" pitchFamily="49" charset="-122"/>
              </a:rPr>
              <a:t>方式</a:t>
            </a:r>
            <a:endParaRPr lang="zh-CN" altLang="en-US" b="1" dirty="0">
              <a:solidFill>
                <a:srgbClr val="C00000"/>
              </a:solidFill>
              <a:latin typeface="楷体" panose="02010609060101010101" pitchFamily="49" charset="-122"/>
              <a:ea typeface="楷体" panose="02010609060101010101" pitchFamily="49" charset="-122"/>
            </a:endParaRPr>
          </a:p>
        </p:txBody>
      </p:sp>
      <p:sp>
        <p:nvSpPr>
          <p:cNvPr id="6" name="文本框 5"/>
          <p:cNvSpPr txBox="1"/>
          <p:nvPr/>
        </p:nvSpPr>
        <p:spPr>
          <a:xfrm>
            <a:off x="592455" y="1267460"/>
            <a:ext cx="7948930" cy="829945"/>
          </a:xfrm>
          <a:prstGeom prst="rect">
            <a:avLst/>
          </a:prstGeom>
          <a:noFill/>
        </p:spPr>
        <p:txBody>
          <a:bodyPr wrap="square" rtlCol="0" anchor="t">
            <a:spAutoFit/>
          </a:bodyPr>
          <a:lstStyle/>
          <a:p>
            <a:r>
              <a:rPr lang="zh-CN" altLang="en-US" sz="2400" b="1">
                <a:latin typeface="华文楷体" panose="02010600040101010101" pitchFamily="2" charset="-122"/>
                <a:ea typeface="华文楷体" panose="02010600040101010101" pitchFamily="2" charset="-122"/>
              </a:rPr>
              <a:t>１、考核方式：</a:t>
            </a:r>
            <a:r>
              <a:rPr lang="zh-CN" altLang="en-US" sz="2400">
                <a:latin typeface="楷体" panose="02010609060101010101" pitchFamily="49" charset="-122"/>
                <a:ea typeface="楷体" panose="02010609060101010101" pitchFamily="49" charset="-122"/>
                <a:cs typeface="楷体" panose="02010609060101010101" pitchFamily="49" charset="-122"/>
              </a:rPr>
              <a:t>平时表现+实验报告+设计方案口头报告与研讨+实验运行与验收</a:t>
            </a:r>
            <a:endParaRPr lang="zh-CN" altLang="en-US" sz="2400">
              <a:latin typeface="楷体" panose="02010609060101010101" pitchFamily="49" charset="-122"/>
              <a:ea typeface="楷体" panose="02010609060101010101" pitchFamily="49" charset="-122"/>
              <a:cs typeface="楷体" panose="02010609060101010101" pitchFamily="49" charset="-122"/>
            </a:endParaRPr>
          </a:p>
        </p:txBody>
      </p:sp>
      <p:sp>
        <p:nvSpPr>
          <p:cNvPr id="7" name="文本框 6"/>
          <p:cNvSpPr txBox="1"/>
          <p:nvPr/>
        </p:nvSpPr>
        <p:spPr>
          <a:xfrm>
            <a:off x="869950" y="2568575"/>
            <a:ext cx="4789805" cy="2306320"/>
          </a:xfrm>
          <a:prstGeom prst="rect">
            <a:avLst/>
          </a:prstGeom>
          <a:noFill/>
        </p:spPr>
        <p:txBody>
          <a:bodyPr wrap="none" rtlCol="0">
            <a:spAutoFit/>
          </a:bodyPr>
          <a:lstStyle/>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①</a:t>
            </a:r>
            <a:r>
              <a:rPr lang="zh-CN" altLang="en-US" sz="2400" dirty="0">
                <a:latin typeface="华文楷体" panose="02010600040101010101" pitchFamily="2" charset="-122"/>
                <a:ea typeface="华文楷体" panose="02010600040101010101" pitchFamily="2" charset="-122"/>
                <a:sym typeface="+mn-ea"/>
              </a:rPr>
              <a:t>需求分析报告；</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②</a:t>
            </a:r>
            <a:r>
              <a:rPr lang="zh-CN" altLang="en-US" sz="2400" dirty="0">
                <a:latin typeface="华文楷体" panose="02010600040101010101" pitchFamily="2" charset="-122"/>
                <a:ea typeface="华文楷体" panose="02010600040101010101" pitchFamily="2" charset="-122"/>
                <a:sym typeface="+mn-ea"/>
              </a:rPr>
              <a:t>概念设计报告；</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③</a:t>
            </a:r>
            <a:r>
              <a:rPr lang="zh-CN" altLang="en-US" sz="2400" dirty="0">
                <a:latin typeface="华文楷体" panose="02010600040101010101" pitchFamily="2" charset="-122"/>
                <a:ea typeface="华文楷体" panose="02010600040101010101" pitchFamily="2" charset="-122"/>
                <a:sym typeface="+mn-ea"/>
              </a:rPr>
              <a:t>数据库对象定义（</a:t>
            </a:r>
            <a:r>
              <a:rPr lang="en-US" altLang="zh-CN" sz="2400" dirty="0">
                <a:latin typeface="华文楷体" panose="02010600040101010101" pitchFamily="2" charset="-122"/>
                <a:ea typeface="华文楷体" panose="02010600040101010101" pitchFamily="2" charset="-122"/>
                <a:sym typeface="+mn-ea"/>
              </a:rPr>
              <a:t>DDL</a:t>
            </a:r>
            <a:r>
              <a:rPr lang="zh-CN" altLang="en-US" sz="2400" dirty="0">
                <a:latin typeface="华文楷体" panose="02010600040101010101" pitchFamily="2" charset="-122"/>
                <a:ea typeface="华文楷体" panose="02010600040101010101" pitchFamily="2" charset="-122"/>
                <a:sym typeface="+mn-ea"/>
              </a:rPr>
              <a:t>）报告；</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④</a:t>
            </a:r>
            <a:r>
              <a:rPr lang="zh-CN" altLang="en-US" sz="2400" dirty="0">
                <a:latin typeface="华文楷体" panose="02010600040101010101" pitchFamily="2" charset="-122"/>
                <a:ea typeface="华文楷体" panose="02010600040101010101" pitchFamily="2" charset="-122"/>
                <a:sym typeface="+mn-ea"/>
              </a:rPr>
              <a:t>数据操作（</a:t>
            </a:r>
            <a:r>
              <a:rPr lang="en-US" altLang="zh-CN" sz="2400" dirty="0">
                <a:latin typeface="华文楷体" panose="02010600040101010101" pitchFamily="2" charset="-122"/>
                <a:ea typeface="华文楷体" panose="02010600040101010101" pitchFamily="2" charset="-122"/>
                <a:sym typeface="+mn-ea"/>
              </a:rPr>
              <a:t>DML</a:t>
            </a:r>
            <a:r>
              <a:rPr lang="zh-CN" altLang="en-US" sz="2400" dirty="0">
                <a:latin typeface="华文楷体" panose="02010600040101010101" pitchFamily="2" charset="-122"/>
                <a:ea typeface="华文楷体" panose="02010600040101010101" pitchFamily="2" charset="-122"/>
                <a:sym typeface="+mn-ea"/>
              </a:rPr>
              <a:t>）报告；</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⑤</a:t>
            </a:r>
            <a:r>
              <a:rPr lang="zh-CN" altLang="en-US" sz="2400" dirty="0">
                <a:latin typeface="华文楷体" panose="02010600040101010101" pitchFamily="2" charset="-122"/>
                <a:ea typeface="华文楷体" panose="02010600040101010101" pitchFamily="2" charset="-122"/>
                <a:sym typeface="+mn-ea"/>
              </a:rPr>
              <a:t>安全控制报告（</a:t>
            </a:r>
            <a:r>
              <a:rPr lang="en-US" altLang="zh-CN" sz="2400" dirty="0">
                <a:latin typeface="华文楷体" panose="02010600040101010101" pitchFamily="2" charset="-122"/>
                <a:ea typeface="华文楷体" panose="02010600040101010101" pitchFamily="2" charset="-122"/>
                <a:sym typeface="+mn-ea"/>
              </a:rPr>
              <a:t>DCL</a:t>
            </a:r>
            <a:r>
              <a:rPr lang="zh-CN" altLang="en-US" sz="2400" dirty="0">
                <a:latin typeface="华文楷体" panose="02010600040101010101" pitchFamily="2" charset="-122"/>
                <a:ea typeface="华文楷体" panose="02010600040101010101" pitchFamily="2" charset="-122"/>
                <a:sym typeface="+mn-ea"/>
              </a:rPr>
              <a:t>报告）</a:t>
            </a:r>
            <a:endParaRPr lang="zh-CN" altLang="en-US" sz="2400" dirty="0"/>
          </a:p>
        </p:txBody>
      </p:sp>
      <p:sp>
        <p:nvSpPr>
          <p:cNvPr id="8" name="文本框 7"/>
          <p:cNvSpPr txBox="1"/>
          <p:nvPr/>
        </p:nvSpPr>
        <p:spPr>
          <a:xfrm>
            <a:off x="622300" y="2095500"/>
            <a:ext cx="2320925" cy="460375"/>
          </a:xfrm>
          <a:prstGeom prst="rect">
            <a:avLst/>
          </a:prstGeom>
          <a:noFill/>
        </p:spPr>
        <p:txBody>
          <a:bodyPr wrap="none" rtlCol="0" anchor="t">
            <a:spAutoFit/>
          </a:bodyPr>
          <a:lstStyle/>
          <a:p>
            <a:r>
              <a:rPr lang="zh-CN" altLang="en-US" sz="2400" b="1" dirty="0">
                <a:latin typeface="华文楷体" panose="02010600040101010101" pitchFamily="2" charset="-122"/>
                <a:ea typeface="华文楷体" panose="02010600040101010101" pitchFamily="2" charset="-122"/>
                <a:sym typeface="+mn-ea"/>
              </a:rPr>
              <a:t>２、提交报告：</a:t>
            </a:r>
            <a:endParaRPr lang="zh-CN" altLang="en-US" sz="2400"/>
          </a:p>
        </p:txBody>
      </p:sp>
      <p:sp>
        <p:nvSpPr>
          <p:cNvPr id="9" name="右大括号 8"/>
          <p:cNvSpPr/>
          <p:nvPr/>
        </p:nvSpPr>
        <p:spPr>
          <a:xfrm>
            <a:off x="3559810" y="2708910"/>
            <a:ext cx="151765" cy="720090"/>
          </a:xfrm>
          <a:prstGeom prst="rightBrace">
            <a:avLst/>
          </a:prstGeom>
          <a:ln w="3492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10" name="矩形 9"/>
          <p:cNvSpPr/>
          <p:nvPr/>
        </p:nvSpPr>
        <p:spPr>
          <a:xfrm>
            <a:off x="3851910" y="2853055"/>
            <a:ext cx="4516120" cy="504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2</a:t>
            </a:r>
            <a:r>
              <a:rPr lang="zh-CN" altLang="en-US"/>
              <a:t>人一组，分组完成，组内成员共享成绩</a:t>
            </a:r>
            <a:endParaRPr lang="zh-CN" altLang="en-US"/>
          </a:p>
        </p:txBody>
      </p:sp>
      <p:sp>
        <p:nvSpPr>
          <p:cNvPr id="11" name="右大括号 10"/>
          <p:cNvSpPr/>
          <p:nvPr/>
        </p:nvSpPr>
        <p:spPr>
          <a:xfrm>
            <a:off x="5456555" y="3733165"/>
            <a:ext cx="151765" cy="964565"/>
          </a:xfrm>
          <a:prstGeom prst="rightBrace">
            <a:avLst/>
          </a:prstGeom>
          <a:ln w="3492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sp>
        <p:nvSpPr>
          <p:cNvPr id="12" name="矩形 11"/>
          <p:cNvSpPr/>
          <p:nvPr/>
        </p:nvSpPr>
        <p:spPr>
          <a:xfrm>
            <a:off x="5802630" y="3878580"/>
            <a:ext cx="2738755" cy="6407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每人自行完成，尤其</a:t>
            </a:r>
            <a:r>
              <a:rPr lang="en-US" altLang="zh-CN"/>
              <a:t>DML</a:t>
            </a:r>
            <a:r>
              <a:rPr lang="zh-CN" altLang="en-US"/>
              <a:t>操作必须有差异</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700" y="1844868"/>
            <a:ext cx="7416618" cy="4015105"/>
          </a:xfrm>
          <a:prstGeom prst="rect">
            <a:avLst/>
          </a:prstGeom>
        </p:spPr>
        <p:txBody>
          <a:bodyPr wrap="square">
            <a:spAutoFit/>
          </a:bodyPr>
          <a:lstStyle/>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分组需求分析</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PPT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汇报答辩：</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6</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数据库需求分析报告：</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8</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数据库概念设计报告：</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8</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数据库对象创建（</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DDL</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）实验报告：</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20</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数据库操纵（</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DML</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）实验报告：</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30</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数据库安全（</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DCL</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）实验报告：</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8</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a:p>
            <a:pPr marL="342900" lvl="0" indent="-342900">
              <a:lnSpc>
                <a:spcPct val="125000"/>
              </a:lnSpc>
              <a:spcBef>
                <a:spcPts val="600"/>
              </a:spcBef>
              <a:spcAft>
                <a:spcPts val="300"/>
              </a:spcAft>
              <a:buFont typeface="+mj-lt"/>
              <a:buAutoNum type="arabicPeriod"/>
            </a:pP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数据库设计结果现场检查汇报：</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sz="2400" kern="100" dirty="0">
                <a:latin typeface="华文中宋" panose="02010600040101010101" pitchFamily="2" charset="-122"/>
                <a:ea typeface="华文中宋" panose="02010600040101010101" pitchFamily="2" charset="-122"/>
                <a:cs typeface="Times New Roman" panose="02020603050405020304" pitchFamily="18" charset="0"/>
              </a:rPr>
              <a:t>0%</a:t>
            </a:r>
            <a:r>
              <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rPr>
              <a:t>。</a:t>
            </a:r>
            <a:endParaRPr lang="zh-CN" altLang="zh-CN" sz="2400" kern="100"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标题 3"/>
          <p:cNvSpPr>
            <a:spLocks noGrp="1"/>
          </p:cNvSpPr>
          <p:nvPr>
            <p:ph type="title"/>
          </p:nvPr>
        </p:nvSpPr>
        <p:spPr>
          <a:xfrm>
            <a:off x="565209" y="620766"/>
            <a:ext cx="8229600" cy="850900"/>
          </a:xfrm>
        </p:spPr>
        <p:txBody>
          <a:bodyPr vert="horz" wrap="square" lIns="91440" tIns="45720" rIns="91440" bIns="45720" anchor="ctr"/>
          <a:lstStyle/>
          <a:p>
            <a:pPr eaLnBrk="1" hangingPunct="1"/>
            <a:r>
              <a:rPr lang="zh-CN" altLang="en-US" b="1" dirty="0" smtClean="0">
                <a:solidFill>
                  <a:srgbClr val="C00000"/>
                </a:solidFill>
                <a:latin typeface="楷体" panose="02010609060101010101" pitchFamily="49" charset="-122"/>
                <a:ea typeface="楷体" panose="02010609060101010101" pitchFamily="49" charset="-122"/>
              </a:rPr>
              <a:t>实验成绩的评定</a:t>
            </a:r>
            <a:endParaRPr lang="zh-CN" altLang="en-US" b="1" dirty="0">
              <a:solidFill>
                <a:srgbClr val="C00000"/>
              </a:solidFill>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内容占位符 2"/>
          <p:cNvSpPr>
            <a:spLocks noGrp="1"/>
          </p:cNvSpPr>
          <p:nvPr>
            <p:ph idx="1"/>
          </p:nvPr>
        </p:nvSpPr>
        <p:spPr>
          <a:xfrm>
            <a:off x="391795" y="2348762"/>
            <a:ext cx="8332470" cy="3493135"/>
          </a:xfrm>
        </p:spPr>
        <p:txBody>
          <a:bodyPr vert="horz" wrap="square" lIns="91440" tIns="45720" rIns="91440" bIns="45720" anchor="t"/>
          <a:lstStyle/>
          <a:p>
            <a:pPr indent="-306070" eaLnBrk="1" latinLnBrk="0" hangingPunct="1">
              <a:lnSpc>
                <a:spcPct val="110000"/>
              </a:lnSpc>
              <a:spcBef>
                <a:spcPts val="0"/>
              </a:spcBef>
              <a:spcAft>
                <a:spcPts val="0"/>
              </a:spcAft>
            </a:pPr>
            <a:r>
              <a:rPr lang="zh-CN" altLang="en-US" sz="2000" b="1" dirty="0">
                <a:solidFill>
                  <a:srgbClr val="C00000"/>
                </a:solidFill>
                <a:latin typeface="华文楷体" panose="02010600040101010101" pitchFamily="2" charset="-122"/>
                <a:ea typeface="华文楷体" panose="02010600040101010101" pitchFamily="2" charset="-122"/>
              </a:rPr>
              <a:t>物品销售 （商店</a:t>
            </a:r>
            <a:r>
              <a:rPr lang="en-US" altLang="zh-CN" sz="2000" b="1" dirty="0">
                <a:solidFill>
                  <a:srgbClr val="C00000"/>
                </a:solidFill>
                <a:latin typeface="华文楷体" panose="02010600040101010101" pitchFamily="2" charset="-122"/>
                <a:ea typeface="华文楷体" panose="02010600040101010101" pitchFamily="2" charset="-122"/>
              </a:rPr>
              <a:t>S</a:t>
            </a:r>
            <a:r>
              <a:rPr lang="zh-CN" altLang="en-US" sz="2000" b="1" dirty="0">
                <a:solidFill>
                  <a:srgbClr val="C00000"/>
                </a:solidFill>
                <a:latin typeface="华文楷体" panose="02010600040101010101" pitchFamily="2" charset="-122"/>
                <a:ea typeface="华文楷体" panose="02010600040101010101" pitchFamily="2" charset="-122"/>
              </a:rPr>
              <a:t>，店员</a:t>
            </a:r>
            <a:r>
              <a:rPr lang="en-US" altLang="zh-CN" sz="2000" b="1" dirty="0">
                <a:solidFill>
                  <a:srgbClr val="C00000"/>
                </a:solidFill>
                <a:latin typeface="华文楷体" panose="02010600040101010101" pitchFamily="2" charset="-122"/>
                <a:ea typeface="华文楷体" panose="02010600040101010101" pitchFamily="2" charset="-122"/>
              </a:rPr>
              <a:t>E</a:t>
            </a:r>
            <a:r>
              <a:rPr lang="zh-CN" altLang="en-US" sz="2000" b="1" dirty="0">
                <a:solidFill>
                  <a:srgbClr val="C00000"/>
                </a:solidFill>
                <a:latin typeface="华文楷体" panose="02010600040101010101" pitchFamily="2" charset="-122"/>
                <a:ea typeface="华文楷体" panose="02010600040101010101" pitchFamily="2" charset="-122"/>
              </a:rPr>
              <a:t>， 物品</a:t>
            </a:r>
            <a:r>
              <a:rPr lang="en-US" altLang="zh-CN" sz="2000" b="1" dirty="0">
                <a:solidFill>
                  <a:srgbClr val="C00000"/>
                </a:solidFill>
                <a:latin typeface="华文楷体" panose="02010600040101010101" pitchFamily="2" charset="-122"/>
                <a:ea typeface="华文楷体" panose="02010600040101010101" pitchFamily="2" charset="-122"/>
              </a:rPr>
              <a:t>P</a:t>
            </a:r>
            <a:r>
              <a:rPr lang="zh-CN" altLang="en-US" sz="2000" b="1" dirty="0">
                <a:solidFill>
                  <a:srgbClr val="C00000"/>
                </a:solidFill>
                <a:latin typeface="华文楷体" panose="02010600040101010101" pitchFamily="2" charset="-122"/>
                <a:ea typeface="华文楷体" panose="02010600040101010101" pitchFamily="2" charset="-122"/>
              </a:rPr>
              <a:t>，</a:t>
            </a:r>
            <a:r>
              <a:rPr lang="en-US" altLang="zh-CN" sz="2000" b="1" dirty="0">
                <a:solidFill>
                  <a:srgbClr val="C00000"/>
                </a:solidFill>
                <a:latin typeface="华文楷体" panose="02010600040101010101" pitchFamily="2" charset="-122"/>
                <a:ea typeface="华文楷体" panose="02010600040101010101" pitchFamily="2" charset="-122"/>
              </a:rPr>
              <a:t>  </a:t>
            </a:r>
            <a:r>
              <a:rPr lang="zh-CN" altLang="en-US" sz="2000" b="1" dirty="0">
                <a:solidFill>
                  <a:srgbClr val="C00000"/>
                </a:solidFill>
                <a:latin typeface="华文楷体" panose="02010600040101010101" pitchFamily="2" charset="-122"/>
                <a:ea typeface="华文楷体" panose="02010600040101010101" pitchFamily="2" charset="-122"/>
              </a:rPr>
              <a:t>顾客</a:t>
            </a:r>
            <a:r>
              <a:rPr lang="en-US" altLang="zh-CN" sz="2000" b="1" dirty="0">
                <a:solidFill>
                  <a:srgbClr val="C00000"/>
                </a:solidFill>
                <a:latin typeface="华文楷体" panose="02010600040101010101" pitchFamily="2" charset="-122"/>
                <a:ea typeface="华文楷体" panose="02010600040101010101" pitchFamily="2" charset="-122"/>
              </a:rPr>
              <a:t>C</a:t>
            </a:r>
            <a:r>
              <a:rPr lang="zh-CN" altLang="en-US" sz="2000" b="1" dirty="0">
                <a:solidFill>
                  <a:srgbClr val="C00000"/>
                </a:solidFill>
                <a:latin typeface="华文楷体" panose="02010600040101010101" pitchFamily="2" charset="-122"/>
                <a:ea typeface="华文楷体" panose="02010600040101010101" pitchFamily="2" charset="-122"/>
              </a:rPr>
              <a:t>，仓库</a:t>
            </a:r>
            <a:r>
              <a:rPr lang="en-US" altLang="zh-CN" sz="2000" b="1" dirty="0">
                <a:solidFill>
                  <a:srgbClr val="C00000"/>
                </a:solidFill>
                <a:latin typeface="华文楷体" panose="02010600040101010101" pitchFamily="2" charset="-122"/>
                <a:ea typeface="华文楷体" panose="02010600040101010101" pitchFamily="2" charset="-122"/>
              </a:rPr>
              <a:t>W</a:t>
            </a:r>
            <a:r>
              <a:rPr lang="zh-CN" altLang="en-US" sz="2000" b="1" dirty="0">
                <a:solidFill>
                  <a:srgbClr val="C00000"/>
                </a:solidFill>
                <a:latin typeface="华文楷体" panose="02010600040101010101" pitchFamily="2" charset="-122"/>
                <a:ea typeface="华文楷体" panose="02010600040101010101" pitchFamily="2" charset="-122"/>
              </a:rPr>
              <a:t>）</a:t>
            </a:r>
            <a:endParaRPr lang="zh-CN" altLang="en-US" sz="2000" b="1" dirty="0">
              <a:solidFill>
                <a:srgbClr val="C00000"/>
              </a:solidFill>
              <a:latin typeface="华文楷体" panose="02010600040101010101" pitchFamily="2" charset="-122"/>
              <a:ea typeface="华文楷体" panose="02010600040101010101" pitchFamily="2" charset="-122"/>
            </a:endParaRPr>
          </a:p>
          <a:p>
            <a:pPr indent="-306070" eaLnBrk="1" latinLnBrk="0" hangingPunct="1">
              <a:lnSpc>
                <a:spcPct val="110000"/>
              </a:lnSpc>
              <a:spcBef>
                <a:spcPts val="0"/>
              </a:spcBef>
              <a:spcAft>
                <a:spcPts val="0"/>
              </a:spcAft>
              <a:buNone/>
            </a:pPr>
            <a:r>
              <a:rPr lang="zh-CN" altLang="en-US" sz="1800" i="1" dirty="0">
                <a:latin typeface="华文楷体" panose="02010600040101010101" pitchFamily="2" charset="-122"/>
                <a:ea typeface="华文楷体" panose="02010600040101010101" pitchFamily="2" charset="-122"/>
              </a:rPr>
              <a:t>例如：汽车销售（汽车</a:t>
            </a:r>
            <a:r>
              <a:rPr lang="en-US" altLang="zh-CN" sz="1800" i="1" dirty="0">
                <a:latin typeface="华文楷体" panose="02010600040101010101" pitchFamily="2" charset="-122"/>
                <a:ea typeface="华文楷体" panose="02010600040101010101" pitchFamily="2" charset="-122"/>
              </a:rPr>
              <a:t>4S</a:t>
            </a:r>
            <a:r>
              <a:rPr lang="zh-CN" altLang="en-US" sz="1800" i="1" dirty="0">
                <a:latin typeface="华文楷体" panose="02010600040101010101" pitchFamily="2" charset="-122"/>
                <a:ea typeface="华文楷体" panose="02010600040101010101" pitchFamily="2" charset="-122"/>
              </a:rPr>
              <a:t>店，店员，汽车，顾客，</a:t>
            </a:r>
            <a:r>
              <a:rPr lang="zh-CN" altLang="en-US" sz="1800" i="1" dirty="0">
                <a:latin typeface="华文楷体" panose="02010600040101010101" pitchFamily="2" charset="-122"/>
                <a:ea typeface="华文楷体" panose="02010600040101010101" pitchFamily="2" charset="-122"/>
              </a:rPr>
              <a:t>仓库）</a:t>
            </a:r>
            <a:endParaRPr lang="en-US" altLang="zh-CN" sz="1800" i="1" dirty="0">
              <a:latin typeface="华文楷体" panose="02010600040101010101" pitchFamily="2" charset="-122"/>
              <a:ea typeface="华文楷体" panose="02010600040101010101" pitchFamily="2" charset="-122"/>
            </a:endParaRPr>
          </a:p>
          <a:p>
            <a:pPr indent="-306070" eaLnBrk="1" latinLnBrk="0" hangingPunct="1">
              <a:lnSpc>
                <a:spcPct val="110000"/>
              </a:lnSpc>
              <a:spcBef>
                <a:spcPts val="0"/>
              </a:spcBef>
              <a:spcAft>
                <a:spcPts val="0"/>
              </a:spcAft>
              <a:buNone/>
            </a:pPr>
            <a:r>
              <a:rPr lang="zh-CN" altLang="en-US" sz="1800" u="sng" dirty="0">
                <a:latin typeface="华文楷体" panose="02010600040101010101" pitchFamily="2" charset="-122"/>
                <a:ea typeface="华文楷体" panose="02010600040101010101" pitchFamily="2" charset="-122"/>
              </a:rPr>
              <a:t>经理管理</a:t>
            </a:r>
            <a:r>
              <a:rPr lang="en-US" altLang="zh-CN" sz="1800" u="sng" dirty="0">
                <a:latin typeface="华文楷体" panose="02010600040101010101" pitchFamily="2" charset="-122"/>
                <a:ea typeface="华文楷体" panose="02010600040101010101" pitchFamily="2" charset="-122"/>
              </a:rPr>
              <a:t>4S</a:t>
            </a:r>
            <a:r>
              <a:rPr lang="zh-CN" altLang="en-US" sz="1800" u="sng" dirty="0">
                <a:latin typeface="华文楷体" panose="02010600040101010101" pitchFamily="2" charset="-122"/>
                <a:ea typeface="华文楷体" panose="02010600040101010101" pitchFamily="2" charset="-122"/>
              </a:rPr>
              <a:t>店</a:t>
            </a:r>
            <a:r>
              <a:rPr lang="zh-CN" altLang="en-US" sz="1800" dirty="0">
                <a:latin typeface="华文楷体" panose="02010600040101010101" pitchFamily="2" charset="-122"/>
                <a:ea typeface="华文楷体" panose="02010600040101010101" pitchFamily="2" charset="-122"/>
              </a:rPr>
              <a:t>，</a:t>
            </a:r>
            <a:r>
              <a:rPr lang="zh-CN" altLang="en-US" sz="1800" u="sng" dirty="0">
                <a:latin typeface="华文楷体" panose="02010600040101010101" pitchFamily="2" charset="-122"/>
                <a:ea typeface="华文楷体" panose="02010600040101010101" pitchFamily="2" charset="-122"/>
              </a:rPr>
              <a:t>店员工作在</a:t>
            </a:r>
            <a:r>
              <a:rPr lang="en-US" altLang="zh-CN" sz="1800" u="sng" dirty="0">
                <a:latin typeface="华文楷体" panose="02010600040101010101" pitchFamily="2" charset="-122"/>
                <a:ea typeface="华文楷体" panose="02010600040101010101" pitchFamily="2" charset="-122"/>
              </a:rPr>
              <a:t>4S</a:t>
            </a:r>
            <a:r>
              <a:rPr lang="zh-CN" altLang="en-US" sz="1800" u="sng" dirty="0">
                <a:latin typeface="华文楷体" panose="02010600040101010101" pitchFamily="2" charset="-122"/>
                <a:ea typeface="华文楷体" panose="02010600040101010101" pitchFamily="2" charset="-122"/>
              </a:rPr>
              <a:t>店</a:t>
            </a:r>
            <a:r>
              <a:rPr lang="zh-CN" altLang="en-US" sz="1800" dirty="0">
                <a:latin typeface="华文楷体" panose="02010600040101010101" pitchFamily="2" charset="-122"/>
                <a:ea typeface="华文楷体" panose="02010600040101010101" pitchFamily="2" charset="-122"/>
              </a:rPr>
              <a:t>，</a:t>
            </a:r>
            <a:r>
              <a:rPr lang="zh-CN" altLang="en-US" sz="1800" u="sng" dirty="0">
                <a:latin typeface="华文楷体" panose="02010600040101010101" pitchFamily="2" charset="-122"/>
                <a:ea typeface="华文楷体" panose="02010600040101010101" pitchFamily="2" charset="-122"/>
              </a:rPr>
              <a:t>店员将汽车卖给顾客</a:t>
            </a:r>
            <a:r>
              <a:rPr lang="zh-CN" altLang="en-US" sz="1800" dirty="0">
                <a:latin typeface="华文楷体" panose="02010600040101010101" pitchFamily="2" charset="-122"/>
                <a:ea typeface="华文楷体" panose="02010600040101010101" pitchFamily="2" charset="-122"/>
              </a:rPr>
              <a:t>，</a:t>
            </a:r>
            <a:r>
              <a:rPr lang="zh-CN" altLang="en-US" sz="1800" u="sng" dirty="0">
                <a:latin typeface="华文楷体" panose="02010600040101010101" pitchFamily="2" charset="-122"/>
                <a:ea typeface="华文楷体" panose="02010600040101010101" pitchFamily="2" charset="-122"/>
              </a:rPr>
              <a:t>店员为顾客保修汽车，汽车存储在仓库</a:t>
            </a:r>
            <a:r>
              <a:rPr lang="zh-CN" altLang="en-US" sz="1800" u="sng" dirty="0">
                <a:latin typeface="华文楷体" panose="02010600040101010101" pitchFamily="2" charset="-122"/>
                <a:ea typeface="华文楷体" panose="02010600040101010101" pitchFamily="2" charset="-122"/>
              </a:rPr>
              <a:t>中。</a:t>
            </a:r>
            <a:endParaRPr lang="zh-CN" altLang="en-US" sz="1800" u="sng" dirty="0"/>
          </a:p>
          <a:p>
            <a:pPr indent="-306070" eaLnBrk="1" latinLnBrk="0" hangingPunct="1">
              <a:lnSpc>
                <a:spcPct val="110000"/>
              </a:lnSpc>
              <a:spcBef>
                <a:spcPts val="0"/>
              </a:spcBef>
              <a:spcAft>
                <a:spcPts val="0"/>
              </a:spcAft>
            </a:pPr>
            <a:r>
              <a:rPr lang="zh-CN" altLang="en-US" sz="2000" b="1" dirty="0">
                <a:solidFill>
                  <a:srgbClr val="C00000"/>
                </a:solidFill>
                <a:latin typeface="华文楷体" panose="02010600040101010101" pitchFamily="2" charset="-122"/>
                <a:ea typeface="华文楷体" panose="02010600040101010101" pitchFamily="2" charset="-122"/>
              </a:rPr>
              <a:t>物品进货 （物品，商店</a:t>
            </a:r>
            <a:r>
              <a:rPr lang="en-US" altLang="zh-CN" sz="2000" b="1" dirty="0">
                <a:solidFill>
                  <a:srgbClr val="C00000"/>
                </a:solidFill>
                <a:latin typeface="华文楷体" panose="02010600040101010101" pitchFamily="2" charset="-122"/>
                <a:ea typeface="华文楷体" panose="02010600040101010101" pitchFamily="2" charset="-122"/>
              </a:rPr>
              <a:t>/</a:t>
            </a:r>
            <a:r>
              <a:rPr lang="zh-CN" altLang="en-US" sz="2000" b="1" dirty="0">
                <a:solidFill>
                  <a:srgbClr val="C00000"/>
                </a:solidFill>
                <a:latin typeface="华文楷体" panose="02010600040101010101" pitchFamily="2" charset="-122"/>
                <a:ea typeface="华文楷体" panose="02010600040101010101" pitchFamily="2" charset="-122"/>
              </a:rPr>
              <a:t>超市，供货厂家，仓库主管，供货</a:t>
            </a:r>
            <a:r>
              <a:rPr lang="zh-CN" altLang="en-US" sz="2000" b="1" dirty="0">
                <a:solidFill>
                  <a:srgbClr val="C00000"/>
                </a:solidFill>
                <a:latin typeface="华文楷体" panose="02010600040101010101" pitchFamily="2" charset="-122"/>
                <a:ea typeface="华文楷体" panose="02010600040101010101" pitchFamily="2" charset="-122"/>
              </a:rPr>
              <a:t>员）</a:t>
            </a:r>
            <a:endParaRPr lang="zh-CN" altLang="en-US" sz="2000" b="1" dirty="0">
              <a:solidFill>
                <a:srgbClr val="C00000"/>
              </a:solidFill>
              <a:latin typeface="华文楷体" panose="02010600040101010101" pitchFamily="2" charset="-122"/>
              <a:ea typeface="华文楷体" panose="02010600040101010101" pitchFamily="2" charset="-122"/>
            </a:endParaRPr>
          </a:p>
          <a:p>
            <a:pPr indent="-306070" eaLnBrk="1" latinLnBrk="0" hangingPunct="1">
              <a:lnSpc>
                <a:spcPct val="110000"/>
              </a:lnSpc>
              <a:spcBef>
                <a:spcPts val="0"/>
              </a:spcBef>
              <a:spcAft>
                <a:spcPts val="0"/>
              </a:spcAft>
              <a:buNone/>
            </a:pPr>
            <a:r>
              <a:rPr lang="zh-CN" altLang="en-US" sz="1800" i="1" dirty="0">
                <a:latin typeface="华文楷体" panose="02010600040101010101" pitchFamily="2" charset="-122"/>
                <a:ea typeface="华文楷体" panose="02010600040101010101" pitchFamily="2" charset="-122"/>
              </a:rPr>
              <a:t>例如：汽车进货（汽车</a:t>
            </a:r>
            <a:r>
              <a:rPr lang="en-US" altLang="zh-CN" sz="1800" i="1" dirty="0">
                <a:latin typeface="华文楷体" panose="02010600040101010101" pitchFamily="2" charset="-122"/>
                <a:ea typeface="华文楷体" panose="02010600040101010101" pitchFamily="2" charset="-122"/>
              </a:rPr>
              <a:t>4S</a:t>
            </a:r>
            <a:r>
              <a:rPr lang="zh-CN" altLang="en-US" sz="1800" i="1" dirty="0">
                <a:latin typeface="华文楷体" panose="02010600040101010101" pitchFamily="2" charset="-122"/>
                <a:ea typeface="华文楷体" panose="02010600040101010101" pitchFamily="2" charset="-122"/>
              </a:rPr>
              <a:t>店，汽车，汽车厂家，仓库，主管，</a:t>
            </a:r>
            <a:r>
              <a:rPr lang="zh-CN" altLang="en-US" sz="1800" i="1" dirty="0">
                <a:latin typeface="华文楷体" panose="02010600040101010101" pitchFamily="2" charset="-122"/>
                <a:ea typeface="华文楷体" panose="02010600040101010101" pitchFamily="2" charset="-122"/>
              </a:rPr>
              <a:t>验货员）</a:t>
            </a:r>
            <a:endParaRPr lang="en-US" altLang="zh-CN" sz="1800" i="1" dirty="0">
              <a:latin typeface="华文楷体" panose="02010600040101010101" pitchFamily="2" charset="-122"/>
              <a:ea typeface="华文楷体" panose="02010600040101010101" pitchFamily="2" charset="-122"/>
            </a:endParaRPr>
          </a:p>
          <a:p>
            <a:pPr indent="-306070" eaLnBrk="1" latinLnBrk="0" hangingPunct="1">
              <a:lnSpc>
                <a:spcPct val="110000"/>
              </a:lnSpc>
              <a:spcBef>
                <a:spcPts val="0"/>
              </a:spcBef>
              <a:spcAft>
                <a:spcPts val="0"/>
              </a:spcAft>
              <a:buNone/>
            </a:pPr>
            <a:r>
              <a:rPr lang="zh-CN" altLang="en-US" sz="1800" u="sng" dirty="0">
                <a:latin typeface="华文楷体" panose="02010600040101010101" pitchFamily="2" charset="-122"/>
                <a:ea typeface="华文楷体" panose="02010600040101010101" pitchFamily="2" charset="-122"/>
              </a:rPr>
              <a:t>仓库主管管理仓库，</a:t>
            </a:r>
            <a:r>
              <a:rPr lang="en-US" altLang="zh-CN" sz="1800" u="sng" dirty="0">
                <a:latin typeface="华文楷体" panose="02010600040101010101" pitchFamily="2" charset="-122"/>
                <a:ea typeface="华文楷体" panose="02010600040101010101" pitchFamily="2" charset="-122"/>
              </a:rPr>
              <a:t>4S </a:t>
            </a:r>
            <a:r>
              <a:rPr lang="zh-CN" altLang="en-US" sz="1800" u="sng" dirty="0">
                <a:latin typeface="华文楷体" panose="02010600040101010101" pitchFamily="2" charset="-122"/>
                <a:ea typeface="华文楷体" panose="02010600040101010101" pitchFamily="2" charset="-122"/>
              </a:rPr>
              <a:t>店从汽车厂家处进货汽车，</a:t>
            </a:r>
            <a:r>
              <a:rPr lang="en-US" altLang="zh-CN" sz="1800" u="sng" dirty="0">
                <a:latin typeface="华文楷体" panose="02010600040101010101" pitchFamily="2" charset="-122"/>
                <a:ea typeface="华文楷体" panose="02010600040101010101" pitchFamily="2" charset="-122"/>
              </a:rPr>
              <a:t>4S</a:t>
            </a:r>
            <a:r>
              <a:rPr lang="zh-CN" altLang="en-US" sz="1800" u="sng" dirty="0">
                <a:latin typeface="华文楷体" panose="02010600040101010101" pitchFamily="2" charset="-122"/>
                <a:ea typeface="华文楷体" panose="02010600040101010101" pitchFamily="2" charset="-122"/>
              </a:rPr>
              <a:t>店拥有仓库， 汽车放在仓库，验货员检验汽车质量入库</a:t>
            </a:r>
            <a:endParaRPr lang="en-US" altLang="zh-CN" sz="1800" i="1" dirty="0">
              <a:latin typeface="华文楷体" panose="02010600040101010101" pitchFamily="2" charset="-122"/>
              <a:ea typeface="华文楷体" panose="02010600040101010101" pitchFamily="2" charset="-122"/>
            </a:endParaRPr>
          </a:p>
          <a:p>
            <a:pPr indent="-306070" eaLnBrk="1" latinLnBrk="0" hangingPunct="1">
              <a:lnSpc>
                <a:spcPct val="110000"/>
              </a:lnSpc>
              <a:spcBef>
                <a:spcPts val="0"/>
              </a:spcBef>
              <a:spcAft>
                <a:spcPts val="0"/>
              </a:spcAft>
            </a:pPr>
            <a:r>
              <a:rPr lang="zh-CN" altLang="en-US" sz="2000" b="1" dirty="0">
                <a:solidFill>
                  <a:srgbClr val="C00000"/>
                </a:solidFill>
                <a:latin typeface="华文楷体" panose="02010600040101010101" pitchFamily="2" charset="-122"/>
                <a:ea typeface="华文楷体" panose="02010600040101010101" pitchFamily="2" charset="-122"/>
              </a:rPr>
              <a:t>机构</a:t>
            </a:r>
            <a:r>
              <a:rPr lang="en-US" altLang="en-US" sz="2000" b="1" dirty="0">
                <a:solidFill>
                  <a:srgbClr val="C00000"/>
                </a:solidFill>
                <a:latin typeface="华文楷体" panose="02010600040101010101" pitchFamily="2" charset="-122"/>
                <a:ea typeface="华文楷体" panose="02010600040101010101" pitchFamily="2" charset="-122"/>
              </a:rPr>
              <a:t>/</a:t>
            </a:r>
            <a:r>
              <a:rPr lang="zh-CN" altLang="en-US" sz="2000" b="1" dirty="0">
                <a:solidFill>
                  <a:srgbClr val="C00000"/>
                </a:solidFill>
                <a:latin typeface="华文楷体" panose="02010600040101010101" pitchFamily="2" charset="-122"/>
                <a:ea typeface="华文楷体" panose="02010600040101010101" pitchFamily="2" charset="-122"/>
              </a:rPr>
              <a:t>信息管理 （机构</a:t>
            </a:r>
            <a:r>
              <a:rPr lang="en-US" altLang="en-US" sz="2000" b="1" dirty="0">
                <a:solidFill>
                  <a:srgbClr val="C00000"/>
                </a:solidFill>
                <a:latin typeface="华文楷体" panose="02010600040101010101" pitchFamily="2" charset="-122"/>
                <a:ea typeface="华文楷体" panose="02010600040101010101" pitchFamily="2" charset="-122"/>
              </a:rPr>
              <a:t> </a:t>
            </a:r>
            <a:r>
              <a:rPr lang="zh-CN" altLang="en-US" sz="2000" b="1" dirty="0">
                <a:solidFill>
                  <a:srgbClr val="C00000"/>
                </a:solidFill>
                <a:latin typeface="华文楷体" panose="02010600040101010101" pitchFamily="2" charset="-122"/>
                <a:ea typeface="华文楷体" panose="02010600040101010101" pitchFamily="2" charset="-122"/>
              </a:rPr>
              <a:t>，工作人员</a:t>
            </a:r>
            <a:r>
              <a:rPr lang="en-US" altLang="en-US" sz="2000" b="1" dirty="0">
                <a:solidFill>
                  <a:srgbClr val="C00000"/>
                </a:solidFill>
                <a:latin typeface="华文楷体" panose="02010600040101010101" pitchFamily="2" charset="-122"/>
                <a:ea typeface="华文楷体" panose="02010600040101010101" pitchFamily="2" charset="-122"/>
              </a:rPr>
              <a:t> </a:t>
            </a:r>
            <a:r>
              <a:rPr lang="zh-CN" altLang="en-US" sz="2000" b="1" dirty="0">
                <a:solidFill>
                  <a:srgbClr val="C00000"/>
                </a:solidFill>
                <a:latin typeface="华文楷体" panose="02010600040101010101" pitchFamily="2" charset="-122"/>
                <a:ea typeface="华文楷体" panose="02010600040101010101" pitchFamily="2" charset="-122"/>
              </a:rPr>
              <a:t>， 服务对象</a:t>
            </a:r>
            <a:r>
              <a:rPr lang="en-US" altLang="en-US" sz="2000" b="1" dirty="0">
                <a:solidFill>
                  <a:srgbClr val="C00000"/>
                </a:solidFill>
                <a:latin typeface="华文楷体" panose="02010600040101010101" pitchFamily="2" charset="-122"/>
                <a:ea typeface="华文楷体" panose="02010600040101010101" pitchFamily="2" charset="-122"/>
              </a:rPr>
              <a:t> </a:t>
            </a:r>
            <a:r>
              <a:rPr lang="zh-CN" altLang="en-US" sz="2000" b="1" dirty="0">
                <a:solidFill>
                  <a:srgbClr val="C00000"/>
                </a:solidFill>
                <a:latin typeface="华文楷体" panose="02010600040101010101" pitchFamily="2" charset="-122"/>
                <a:ea typeface="华文楷体" panose="02010600040101010101" pitchFamily="2" charset="-122"/>
              </a:rPr>
              <a:t>， 服务项目，联系</a:t>
            </a:r>
            <a:r>
              <a:rPr lang="zh-CN" altLang="en-US" sz="2000" b="1" dirty="0">
                <a:solidFill>
                  <a:srgbClr val="C00000"/>
                </a:solidFill>
                <a:latin typeface="华文楷体" panose="02010600040101010101" pitchFamily="2" charset="-122"/>
                <a:ea typeface="华文楷体" panose="02010600040101010101" pitchFamily="2" charset="-122"/>
              </a:rPr>
              <a:t>人）</a:t>
            </a:r>
            <a:endParaRPr lang="zh-CN" altLang="en-US" sz="2000" b="1" dirty="0">
              <a:solidFill>
                <a:srgbClr val="C00000"/>
              </a:solidFill>
              <a:latin typeface="华文楷体" panose="02010600040101010101" pitchFamily="2" charset="-122"/>
              <a:ea typeface="华文楷体" panose="02010600040101010101" pitchFamily="2" charset="-122"/>
            </a:endParaRPr>
          </a:p>
          <a:p>
            <a:pPr indent="-306070" eaLnBrk="1" latinLnBrk="0" hangingPunct="1">
              <a:lnSpc>
                <a:spcPct val="110000"/>
              </a:lnSpc>
              <a:spcBef>
                <a:spcPts val="0"/>
              </a:spcBef>
              <a:spcAft>
                <a:spcPts val="0"/>
              </a:spcAft>
              <a:buNone/>
            </a:pPr>
            <a:r>
              <a:rPr lang="zh-CN" altLang="en-US" sz="2000" i="1" dirty="0"/>
              <a:t>例如： 养老院管理（养老院，主任，护理员，老人，联系人）</a:t>
            </a:r>
            <a:endParaRPr lang="zh-CN" altLang="en-US" sz="2000" dirty="0"/>
          </a:p>
          <a:p>
            <a:pPr indent="-306070" eaLnBrk="1" latinLnBrk="0" hangingPunct="1">
              <a:lnSpc>
                <a:spcPct val="110000"/>
              </a:lnSpc>
              <a:spcBef>
                <a:spcPts val="0"/>
              </a:spcBef>
              <a:spcAft>
                <a:spcPts val="0"/>
              </a:spcAft>
              <a:buNone/>
            </a:pPr>
            <a:r>
              <a:rPr lang="zh-CN" altLang="en-US" sz="2000" u="sng" dirty="0">
                <a:latin typeface="华文楷体" panose="02010600040101010101" pitchFamily="2" charset="-122"/>
                <a:ea typeface="华文楷体" panose="02010600040101010101" pitchFamily="2" charset="-122"/>
              </a:rPr>
              <a:t>主任管理养老院</a:t>
            </a:r>
            <a:r>
              <a:rPr lang="zh-CN" altLang="en-US" sz="2000" dirty="0">
                <a:latin typeface="华文楷体" panose="02010600040101010101" pitchFamily="2" charset="-122"/>
                <a:ea typeface="华文楷体" panose="02010600040101010101" pitchFamily="2" charset="-122"/>
              </a:rPr>
              <a:t>，</a:t>
            </a:r>
            <a:r>
              <a:rPr lang="zh-CN" altLang="en-US" sz="2000" u="sng" dirty="0">
                <a:latin typeface="华文楷体" panose="02010600040101010101" pitchFamily="2" charset="-122"/>
                <a:ea typeface="华文楷体" panose="02010600040101010101" pitchFamily="2" charset="-122"/>
              </a:rPr>
              <a:t>护理员工作在养老院</a:t>
            </a:r>
            <a:r>
              <a:rPr lang="zh-CN" altLang="en-US" sz="2000" dirty="0">
                <a:latin typeface="华文楷体" panose="02010600040101010101" pitchFamily="2" charset="-122"/>
                <a:ea typeface="华文楷体" panose="02010600040101010101" pitchFamily="2" charset="-122"/>
              </a:rPr>
              <a:t>，</a:t>
            </a:r>
            <a:r>
              <a:rPr lang="zh-CN" altLang="en-US" sz="2000" u="sng" dirty="0">
                <a:latin typeface="华文楷体" panose="02010600040101010101" pitchFamily="2" charset="-122"/>
                <a:ea typeface="华文楷体" panose="02010600040101010101" pitchFamily="2" charset="-122"/>
              </a:rPr>
              <a:t>护理员照顾老人</a:t>
            </a:r>
            <a:r>
              <a:rPr lang="zh-CN" altLang="en-US" sz="2000" dirty="0">
                <a:latin typeface="华文楷体" panose="02010600040101010101" pitchFamily="2" charset="-122"/>
                <a:ea typeface="华文楷体" panose="02010600040101010101" pitchFamily="2" charset="-122"/>
              </a:rPr>
              <a:t>，</a:t>
            </a:r>
            <a:r>
              <a:rPr lang="zh-CN" altLang="en-US" sz="2000" u="sng" dirty="0">
                <a:latin typeface="华文楷体" panose="02010600040101010101" pitchFamily="2" charset="-122"/>
                <a:ea typeface="华文楷体" panose="02010600040101010101" pitchFamily="2" charset="-122"/>
              </a:rPr>
              <a:t>护理员与联系人沟通老人的情况。</a:t>
            </a:r>
            <a:endParaRPr lang="zh-CN" altLang="en-US" sz="2000" dirty="0">
              <a:latin typeface="华文楷体" panose="02010600040101010101" pitchFamily="2" charset="-122"/>
              <a:ea typeface="华文楷体" panose="02010600040101010101" pitchFamily="2" charset="-122"/>
            </a:endParaRPr>
          </a:p>
        </p:txBody>
      </p:sp>
      <p:sp>
        <p:nvSpPr>
          <p:cNvPr id="2050" name="标题 3"/>
          <p:cNvSpPr>
            <a:spLocks noGrp="1"/>
          </p:cNvSpPr>
          <p:nvPr/>
        </p:nvSpPr>
        <p:spPr>
          <a:xfrm>
            <a:off x="457200" y="-12382"/>
            <a:ext cx="8229600" cy="8509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a:solidFill>
                  <a:srgbClr val="C00000"/>
                </a:solidFill>
                <a:latin typeface="楷体" panose="02010609060101010101" pitchFamily="49" charset="-122"/>
                <a:ea typeface="楷体" panose="02010609060101010101" pitchFamily="49" charset="-122"/>
              </a:rPr>
              <a:t>实验一</a:t>
            </a:r>
            <a:r>
              <a:rPr lang="zh-CN" altLang="en-US" sz="3600" b="1" dirty="0" smtClean="0">
                <a:solidFill>
                  <a:schemeClr val="accent3">
                    <a:lumMod val="50000"/>
                  </a:schemeClr>
                </a:solidFill>
                <a:latin typeface="楷体" panose="02010609060101010101" pitchFamily="49" charset="-122"/>
                <a:ea typeface="楷体" panose="02010609060101010101" pitchFamily="49" charset="-122"/>
              </a:rPr>
              <a:t>：实验分组与实验题目确定</a:t>
            </a:r>
            <a:endParaRPr lang="zh-CN" altLang="en-US" sz="3600" b="1" dirty="0">
              <a:solidFill>
                <a:schemeClr val="accent3">
                  <a:lumMod val="50000"/>
                </a:schemeClr>
              </a:solidFill>
              <a:latin typeface="楷体" panose="02010609060101010101" pitchFamily="49" charset="-122"/>
              <a:ea typeface="楷体" panose="02010609060101010101" pitchFamily="49" charset="-122"/>
            </a:endParaRPr>
          </a:p>
        </p:txBody>
      </p:sp>
      <p:sp>
        <p:nvSpPr>
          <p:cNvPr id="6" name="文本框 5"/>
          <p:cNvSpPr txBox="1"/>
          <p:nvPr/>
        </p:nvSpPr>
        <p:spPr>
          <a:xfrm>
            <a:off x="361950" y="689610"/>
            <a:ext cx="8683625" cy="691515"/>
          </a:xfrm>
          <a:prstGeom prst="rect">
            <a:avLst/>
          </a:prstGeom>
          <a:noFill/>
        </p:spPr>
        <p:txBody>
          <a:bodyPr wrap="square" rtlCol="0" anchor="t">
            <a:noAutofit/>
          </a:bodyPr>
          <a:lstStyle/>
          <a:p>
            <a:pPr marL="342900" lvl="0" indent="-342900">
              <a:spcBef>
                <a:spcPts val="600"/>
              </a:spcBef>
              <a:spcAft>
                <a:spcPts val="300"/>
              </a:spcAft>
              <a:buFont typeface="+mj-lt"/>
              <a:buAutoNum type="arabicPeriod"/>
            </a:pPr>
            <a:r>
              <a:rPr lang="zh-CN" altLang="en-US" sz="2400" b="1" dirty="0" smtClean="0">
                <a:latin typeface="华文楷体" panose="02010600040101010101" pitchFamily="2" charset="-122"/>
                <a:ea typeface="华文楷体" panose="02010600040101010101" pitchFamily="2" charset="-122"/>
              </a:rPr>
              <a:t>分组</a:t>
            </a:r>
            <a:r>
              <a:rPr lang="zh-CN" altLang="en-US" sz="2400" b="1" dirty="0">
                <a:latin typeface="华文楷体" panose="02010600040101010101" pitchFamily="2" charset="-122"/>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2</a:t>
            </a:r>
            <a:r>
              <a:rPr lang="zh-CN" altLang="en-US" sz="2000" b="1" dirty="0">
                <a:latin typeface="华文楷体" panose="02010600040101010101" pitchFamily="2" charset="-122"/>
                <a:ea typeface="华文楷体" panose="02010600040101010101" pitchFamily="2" charset="-122"/>
              </a:rPr>
              <a:t>人一组进行结组</a:t>
            </a:r>
            <a:r>
              <a:rPr lang="zh-CN" altLang="en-US" sz="2000" b="1" dirty="0" smtClean="0">
                <a:latin typeface="华文楷体" panose="02010600040101010101" pitchFamily="2" charset="-122"/>
                <a:ea typeface="华文楷体" panose="02010600040101010101" pitchFamily="2" charset="-122"/>
              </a:rPr>
              <a:t>，自愿结组（</a:t>
            </a:r>
            <a:r>
              <a:rPr lang="zh-CN" altLang="en-US" sz="2000" b="1" dirty="0">
                <a:latin typeface="华文楷体" panose="02010600040101010101" pitchFamily="2" charset="-122"/>
                <a:ea typeface="华文楷体" panose="02010600040101010101" pitchFamily="2" charset="-122"/>
              </a:rPr>
              <a:t>组内共享</a:t>
            </a:r>
            <a:r>
              <a:rPr lang="zh-CN" altLang="zh-CN" sz="2000" b="1" dirty="0">
                <a:latin typeface="华文楷体" panose="02010600040101010101" pitchFamily="2" charset="-122"/>
                <a:ea typeface="华文楷体" panose="02010600040101010101" pitchFamily="2" charset="-122"/>
              </a:rPr>
              <a:t>分组需求分析</a:t>
            </a:r>
            <a:r>
              <a:rPr lang="en-US" altLang="zh-CN" sz="2000" b="1" dirty="0">
                <a:latin typeface="华文楷体" panose="02010600040101010101" pitchFamily="2" charset="-122"/>
                <a:ea typeface="华文楷体" panose="02010600040101010101" pitchFamily="2" charset="-122"/>
              </a:rPr>
              <a:t>PPT</a:t>
            </a:r>
            <a:r>
              <a:rPr lang="zh-CN" altLang="zh-CN" sz="2000" b="1" dirty="0">
                <a:latin typeface="华文楷体" panose="02010600040101010101" pitchFamily="2" charset="-122"/>
                <a:ea typeface="华文楷体" panose="02010600040101010101" pitchFamily="2" charset="-122"/>
              </a:rPr>
              <a:t>汇报答辩：</a:t>
            </a:r>
            <a:r>
              <a:rPr lang="en-US" altLang="zh-CN" sz="2000" b="1" dirty="0">
                <a:latin typeface="华文楷体" panose="02010600040101010101" pitchFamily="2" charset="-122"/>
                <a:ea typeface="华文楷体" panose="02010600040101010101" pitchFamily="2" charset="-122"/>
              </a:rPr>
              <a:t>6</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a:t>
            </a:r>
            <a:r>
              <a:rPr lang="zh-CN" altLang="zh-CN" sz="2000" b="1" dirty="0">
                <a:latin typeface="华文楷体" panose="02010600040101010101" pitchFamily="2" charset="-122"/>
                <a:ea typeface="华文楷体" panose="02010600040101010101" pitchFamily="2" charset="-122"/>
              </a:rPr>
              <a:t>数据库需求分析报告：</a:t>
            </a:r>
            <a:r>
              <a:rPr lang="en-US" altLang="zh-CN" sz="2000" b="1" dirty="0">
                <a:latin typeface="华文楷体" panose="02010600040101010101" pitchFamily="2" charset="-122"/>
                <a:ea typeface="华文楷体" panose="02010600040101010101" pitchFamily="2" charset="-122"/>
              </a:rPr>
              <a:t>8</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a:t>
            </a:r>
            <a:r>
              <a:rPr lang="zh-CN" altLang="zh-CN" sz="2000" b="1" dirty="0">
                <a:latin typeface="华文楷体" panose="02010600040101010101" pitchFamily="2" charset="-122"/>
                <a:ea typeface="华文楷体" panose="02010600040101010101" pitchFamily="2" charset="-122"/>
              </a:rPr>
              <a:t>数据库概念设计报告：</a:t>
            </a:r>
            <a:r>
              <a:rPr lang="en-US" altLang="zh-CN" sz="2000" b="1" dirty="0">
                <a:latin typeface="华文楷体" panose="02010600040101010101" pitchFamily="2" charset="-122"/>
                <a:ea typeface="华文楷体" panose="02010600040101010101" pitchFamily="2" charset="-122"/>
              </a:rPr>
              <a:t>8</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成绩</a:t>
            </a:r>
            <a:r>
              <a:rPr lang="zh-CN" altLang="en-US" sz="2000" b="1" dirty="0" smtClean="0">
                <a:latin typeface="华文楷体" panose="02010600040101010101" pitchFamily="2" charset="-122"/>
                <a:ea typeface="华文楷体" panose="02010600040101010101" pitchFamily="2" charset="-122"/>
              </a:rPr>
              <a:t>。）</a:t>
            </a:r>
            <a:endParaRPr lang="zh-CN" altLang="zh-CN" sz="2000" b="1" dirty="0">
              <a:latin typeface="华文楷体" panose="02010600040101010101" pitchFamily="2" charset="-122"/>
              <a:ea typeface="华文楷体" panose="02010600040101010101" pitchFamily="2" charset="-122"/>
            </a:endParaRPr>
          </a:p>
        </p:txBody>
      </p:sp>
      <p:sp>
        <p:nvSpPr>
          <p:cNvPr id="3" name="文本框 2"/>
          <p:cNvSpPr txBox="1"/>
          <p:nvPr/>
        </p:nvSpPr>
        <p:spPr>
          <a:xfrm>
            <a:off x="323850" y="1412240"/>
            <a:ext cx="8463280" cy="977265"/>
          </a:xfrm>
          <a:prstGeom prst="rect">
            <a:avLst/>
          </a:prstGeom>
          <a:noFill/>
        </p:spPr>
        <p:txBody>
          <a:bodyPr wrap="square" rtlCol="0" anchor="t">
            <a:spAutoFit/>
          </a:bodyPr>
          <a:lstStyle/>
          <a:p>
            <a:pPr>
              <a:lnSpc>
                <a:spcPct val="90000"/>
              </a:lnSpc>
              <a:spcBef>
                <a:spcPts val="0"/>
              </a:spcBef>
              <a:spcAft>
                <a:spcPts val="0"/>
              </a:spcAft>
            </a:pPr>
            <a:r>
              <a:rPr lang="zh-CN" altLang="en-US" sz="2400" b="1" dirty="0">
                <a:latin typeface="华文楷体" panose="02010600040101010101" pitchFamily="2" charset="-122"/>
                <a:ea typeface="华文楷体" panose="02010600040101010101" pitchFamily="2" charset="-122"/>
              </a:rPr>
              <a:t>２</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设计题目：</a:t>
            </a:r>
            <a:r>
              <a:rPr lang="zh-CN" altLang="en-US" sz="2000" b="1" dirty="0">
                <a:latin typeface="华文楷体" panose="02010600040101010101" pitchFamily="2" charset="-122"/>
                <a:ea typeface="华文楷体" panose="02010600040101010101" pitchFamily="2" charset="-122"/>
              </a:rPr>
              <a:t>组内研讨设计题目，结合身边学习生活等各类数据管理系统拟定设计题目，课程设计要求每个项目应设计</a:t>
            </a:r>
            <a:r>
              <a:rPr lang="en-US" altLang="zh-CN" sz="2000" b="1" dirty="0">
                <a:latin typeface="华文楷体" panose="02010600040101010101" pitchFamily="2" charset="-122"/>
                <a:ea typeface="华文楷体" panose="02010600040101010101" pitchFamily="2" charset="-122"/>
              </a:rPr>
              <a:t>5</a:t>
            </a:r>
            <a:r>
              <a:rPr lang="zh-CN" altLang="en-US" sz="2000" b="1" dirty="0">
                <a:latin typeface="华文楷体" panose="02010600040101010101" pitchFamily="2" charset="-122"/>
                <a:ea typeface="华文楷体" panose="02010600040101010101" pitchFamily="2" charset="-122"/>
              </a:rPr>
              <a:t>个以上的实体，覆盖 1：1, 1：N，N：M 关系类型约束</a:t>
            </a:r>
            <a:r>
              <a:rPr lang="zh-CN" altLang="en-US" sz="2000" b="1" dirty="0" smtClean="0">
                <a:latin typeface="华文楷体" panose="02010600040101010101" pitchFamily="2" charset="-122"/>
                <a:ea typeface="华文楷体" panose="02010600040101010101" pitchFamily="2" charset="-122"/>
              </a:rPr>
              <a:t>。</a:t>
            </a:r>
            <a:endParaRPr lang="zh-CN" altLang="en-US" sz="2000" b="1" dirty="0">
              <a:latin typeface="华文楷体" panose="02010600040101010101" pitchFamily="2" charset="-122"/>
              <a:ea typeface="华文楷体" panose="02010600040101010101" pitchFamily="2" charset="-122"/>
            </a:endParaRPr>
          </a:p>
        </p:txBody>
      </p:sp>
      <p:sp>
        <p:nvSpPr>
          <p:cNvPr id="4" name="文本框 3"/>
          <p:cNvSpPr txBox="1"/>
          <p:nvPr/>
        </p:nvSpPr>
        <p:spPr>
          <a:xfrm>
            <a:off x="251990" y="6236983"/>
            <a:ext cx="8472170" cy="460375"/>
          </a:xfrm>
          <a:prstGeom prst="rect">
            <a:avLst/>
          </a:prstGeom>
          <a:noFill/>
        </p:spPr>
        <p:txBody>
          <a:bodyPr wrap="square" rtlCol="0" anchor="t">
            <a:spAutoFit/>
          </a:bodyPr>
          <a:lstStyle/>
          <a:p>
            <a:r>
              <a:rPr lang="zh-CN" altLang="en-US" sz="2400" b="1" dirty="0">
                <a:latin typeface="华文楷体" panose="02010600040101010101" pitchFamily="2" charset="-122"/>
                <a:ea typeface="华文楷体" panose="02010600040101010101" pitchFamily="2" charset="-122"/>
              </a:rPr>
              <a:t>３</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设计题目通过审核后，</a:t>
            </a:r>
            <a:r>
              <a:rPr lang="zh-CN" altLang="en-US" sz="2000" b="1" dirty="0">
                <a:latin typeface="华文楷体" panose="02010600040101010101" pitchFamily="2" charset="-122"/>
                <a:ea typeface="华文楷体" panose="02010600040101010101" pitchFamily="2" charset="-122"/>
              </a:rPr>
              <a:t>开始需求分析和概念数据库</a:t>
            </a:r>
            <a:r>
              <a:rPr lang="zh-CN" altLang="en-US" sz="2000" b="1" dirty="0" smtClean="0">
                <a:latin typeface="华文楷体" panose="02010600040101010101" pitchFamily="2" charset="-122"/>
                <a:ea typeface="华文楷体" panose="02010600040101010101" pitchFamily="2" charset="-122"/>
              </a:rPr>
              <a:t>设计。</a:t>
            </a:r>
            <a:endParaRPr lang="zh-CN" altLang="en-US" sz="2000" b="1" dirty="0">
              <a:latin typeface="华文楷体" panose="02010600040101010101" pitchFamily="2" charset="-122"/>
              <a:ea typeface="华文楷体" panose="020106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3"/>
          <p:cNvSpPr>
            <a:spLocks noGrp="1"/>
          </p:cNvSpPr>
          <p:nvPr/>
        </p:nvSpPr>
        <p:spPr>
          <a:xfrm>
            <a:off x="457200" y="274638"/>
            <a:ext cx="8229600" cy="8509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eaLnBrk="1" hangingPunct="1"/>
            <a:r>
              <a:rPr lang="zh-CN" altLang="en-US" b="1" dirty="0" smtClean="0">
                <a:solidFill>
                  <a:srgbClr val="C00000"/>
                </a:solidFill>
                <a:latin typeface="楷体" panose="02010609060101010101" pitchFamily="49" charset="-122"/>
                <a:ea typeface="楷体" panose="02010609060101010101" pitchFamily="49" charset="-122"/>
              </a:rPr>
              <a:t>实验二</a:t>
            </a:r>
            <a:r>
              <a:rPr lang="zh-CN" altLang="en-US" sz="3600" b="1" dirty="0" smtClean="0">
                <a:solidFill>
                  <a:schemeClr val="accent3">
                    <a:lumMod val="50000"/>
                  </a:schemeClr>
                </a:solidFill>
                <a:latin typeface="楷体" panose="02010609060101010101" pitchFamily="49" charset="-122"/>
                <a:ea typeface="楷体" panose="02010609060101010101" pitchFamily="49" charset="-122"/>
              </a:rPr>
              <a:t>：数据库需求分析</a:t>
            </a:r>
            <a:endParaRPr lang="zh-CN" altLang="en-US" sz="3600" b="1" dirty="0">
              <a:solidFill>
                <a:schemeClr val="accent3">
                  <a:lumMod val="50000"/>
                </a:schemeClr>
              </a:solidFill>
              <a:latin typeface="楷体" panose="02010609060101010101" pitchFamily="49" charset="-122"/>
              <a:ea typeface="楷体" panose="02010609060101010101" pitchFamily="49" charset="-122"/>
            </a:endParaRPr>
          </a:p>
        </p:txBody>
      </p:sp>
      <p:sp>
        <p:nvSpPr>
          <p:cNvPr id="6" name="文本框 5"/>
          <p:cNvSpPr txBox="1"/>
          <p:nvPr/>
        </p:nvSpPr>
        <p:spPr>
          <a:xfrm>
            <a:off x="597535" y="1341120"/>
            <a:ext cx="8185150" cy="423545"/>
          </a:xfrm>
          <a:prstGeom prst="rect">
            <a:avLst/>
          </a:prstGeom>
          <a:noFill/>
        </p:spPr>
        <p:txBody>
          <a:bodyPr wrap="square" rtlCol="0" anchor="t">
            <a:spAutoFit/>
          </a:bodyPr>
          <a:lstStyle/>
          <a:p>
            <a:pPr>
              <a:lnSpc>
                <a:spcPct val="90000"/>
              </a:lnSpc>
              <a:spcBef>
                <a:spcPts val="0"/>
              </a:spcBef>
              <a:spcAft>
                <a:spcPts val="200"/>
              </a:spcAft>
            </a:pPr>
            <a:r>
              <a:rPr lang="zh-CN" altLang="en-US" sz="2400" b="1">
                <a:latin typeface="华文楷体" panose="02010600040101010101" pitchFamily="2" charset="-122"/>
                <a:ea typeface="华文楷体" panose="02010600040101010101" pitchFamily="2" charset="-122"/>
              </a:rPr>
              <a:t>１、需求分析的任务</a:t>
            </a:r>
            <a:endParaRPr lang="zh-CN" altLang="en-US" sz="2400" b="1">
              <a:latin typeface="华文楷体" panose="02010600040101010101" pitchFamily="2" charset="-122"/>
              <a:ea typeface="华文楷体" panose="02010600040101010101" pitchFamily="2" charset="-122"/>
            </a:endParaRPr>
          </a:p>
        </p:txBody>
      </p:sp>
      <p:sp>
        <p:nvSpPr>
          <p:cNvPr id="7" name="文本框 6"/>
          <p:cNvSpPr txBox="1"/>
          <p:nvPr/>
        </p:nvSpPr>
        <p:spPr>
          <a:xfrm>
            <a:off x="751205" y="1764665"/>
            <a:ext cx="8107680" cy="2306320"/>
          </a:xfrm>
          <a:prstGeom prst="rect">
            <a:avLst/>
          </a:prstGeom>
          <a:noFill/>
        </p:spPr>
        <p:txBody>
          <a:bodyPr wrap="none" rtlCol="0">
            <a:spAutoFit/>
          </a:bodyPr>
          <a:lstStyle/>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①</a:t>
            </a:r>
            <a:r>
              <a:rPr lang="zh-CN" altLang="en-US" sz="2400" dirty="0">
                <a:latin typeface="华文楷体" panose="02010600040101010101" pitchFamily="2" charset="-122"/>
                <a:ea typeface="华文楷体" panose="02010600040101010101" pitchFamily="2" charset="-122"/>
                <a:sym typeface="+mn-ea"/>
              </a:rPr>
              <a:t>详细调查现实世界要处理的对象（组织、部门、企业等）</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②</a:t>
            </a:r>
            <a:r>
              <a:rPr lang="zh-CN" altLang="en-US" sz="2400" dirty="0">
                <a:latin typeface="华文楷体" panose="02010600040101010101" pitchFamily="2" charset="-122"/>
                <a:ea typeface="华文楷体" panose="02010600040101010101" pitchFamily="2" charset="-122"/>
                <a:sym typeface="+mn-ea"/>
              </a:rPr>
              <a:t>充分了解原系统（手工系统或计算机系统）</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③</a:t>
            </a:r>
            <a:r>
              <a:rPr lang="zh-CN" altLang="en-US" sz="2400" dirty="0">
                <a:latin typeface="华文楷体" panose="02010600040101010101" pitchFamily="2" charset="-122"/>
                <a:ea typeface="华文楷体" panose="02010600040101010101" pitchFamily="2" charset="-122"/>
                <a:sym typeface="+mn-ea"/>
              </a:rPr>
              <a:t>明确用户的各种需求</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④</a:t>
            </a:r>
            <a:r>
              <a:rPr lang="zh-CN" altLang="en-US" sz="2400" dirty="0">
                <a:latin typeface="华文楷体" panose="02010600040101010101" pitchFamily="2" charset="-122"/>
                <a:ea typeface="华文楷体" panose="02010600040101010101" pitchFamily="2" charset="-122"/>
                <a:sym typeface="+mn-ea"/>
              </a:rPr>
              <a:t>确定新系统的功能</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⑤</a:t>
            </a:r>
            <a:r>
              <a:rPr lang="zh-CN" altLang="en-US" sz="2400" dirty="0">
                <a:latin typeface="华文楷体" panose="02010600040101010101" pitchFamily="2" charset="-122"/>
                <a:ea typeface="华文楷体" panose="02010600040101010101" pitchFamily="2" charset="-122"/>
                <a:sym typeface="+mn-ea"/>
              </a:rPr>
              <a:t>充分考虑今后可能的扩充和改变</a:t>
            </a:r>
            <a:endParaRPr lang="zh-CN" altLang="en-US" sz="2400" dirty="0">
              <a:latin typeface="华文楷体" panose="02010600040101010101" pitchFamily="2" charset="-122"/>
              <a:ea typeface="华文楷体" panose="02010600040101010101" pitchFamily="2" charset="-122"/>
              <a:sym typeface="+mn-ea"/>
            </a:endParaRPr>
          </a:p>
        </p:txBody>
      </p:sp>
      <p:sp>
        <p:nvSpPr>
          <p:cNvPr id="8" name="文本框 7"/>
          <p:cNvSpPr txBox="1"/>
          <p:nvPr/>
        </p:nvSpPr>
        <p:spPr>
          <a:xfrm>
            <a:off x="607695" y="4159885"/>
            <a:ext cx="8349615" cy="534035"/>
          </a:xfrm>
          <a:prstGeom prst="rect">
            <a:avLst/>
          </a:prstGeom>
          <a:noFill/>
        </p:spPr>
        <p:txBody>
          <a:bodyPr wrap="none" rtlCol="0">
            <a:spAutoFit/>
          </a:bodyPr>
          <a:lstStyle/>
          <a:p>
            <a:pPr marL="0" indent="0" algn="l" eaLnBrk="1" hangingPunct="1">
              <a:lnSpc>
                <a:spcPct val="120000"/>
              </a:lnSpc>
              <a:spcBef>
                <a:spcPts val="0"/>
              </a:spcBef>
              <a:spcAft>
                <a:spcPts val="0"/>
              </a:spcAft>
              <a:buNone/>
            </a:pPr>
            <a:r>
              <a:rPr lang="zh-CN" altLang="en-US" sz="2400" b="1" dirty="0">
                <a:ea typeface="华文楷体" panose="02010600040101010101" pitchFamily="2" charset="-122"/>
                <a:sym typeface="+mn-ea"/>
              </a:rPr>
              <a:t>２、调查的重点是</a:t>
            </a:r>
            <a:r>
              <a:rPr lang="en-US" altLang="zh-CN" sz="2400" b="1" dirty="0">
                <a:ea typeface="华文楷体" panose="02010600040101010101" pitchFamily="2" charset="-122"/>
                <a:sym typeface="+mn-ea"/>
              </a:rPr>
              <a:t>“</a:t>
            </a:r>
            <a:r>
              <a:rPr lang="zh-CN" altLang="en-US" sz="2400" b="1" dirty="0">
                <a:ea typeface="华文楷体" panose="02010600040101010101" pitchFamily="2" charset="-122"/>
                <a:sym typeface="+mn-ea"/>
              </a:rPr>
              <a:t>数据</a:t>
            </a:r>
            <a:r>
              <a:rPr lang="en-US" altLang="zh-CN" sz="2400" b="1" dirty="0">
                <a:ea typeface="华文楷体" panose="02010600040101010101" pitchFamily="2" charset="-122"/>
                <a:sym typeface="+mn-ea"/>
              </a:rPr>
              <a:t>”</a:t>
            </a:r>
            <a:r>
              <a:rPr lang="zh-CN" altLang="en-US" sz="2400" b="1" dirty="0">
                <a:ea typeface="华文楷体" panose="02010600040101010101" pitchFamily="2" charset="-122"/>
                <a:sym typeface="+mn-ea"/>
              </a:rPr>
              <a:t>和</a:t>
            </a:r>
            <a:r>
              <a:rPr lang="en-US" altLang="zh-CN" sz="2400" b="1" dirty="0">
                <a:ea typeface="华文楷体" panose="02010600040101010101" pitchFamily="2" charset="-122"/>
                <a:sym typeface="+mn-ea"/>
              </a:rPr>
              <a:t>“</a:t>
            </a:r>
            <a:r>
              <a:rPr lang="zh-CN" altLang="en-US" sz="2400" b="1" dirty="0">
                <a:ea typeface="华文楷体" panose="02010600040101010101" pitchFamily="2" charset="-122"/>
                <a:sym typeface="+mn-ea"/>
              </a:rPr>
              <a:t>处理</a:t>
            </a:r>
            <a:r>
              <a:rPr lang="en-US" altLang="zh-CN" sz="2400" b="1" dirty="0">
                <a:ea typeface="华文楷体" panose="02010600040101010101" pitchFamily="2" charset="-122"/>
                <a:sym typeface="+mn-ea"/>
              </a:rPr>
              <a:t>”</a:t>
            </a:r>
            <a:r>
              <a:rPr lang="zh-CN" altLang="en-US" sz="2400" b="1" dirty="0">
                <a:ea typeface="华文楷体" panose="02010600040101010101" pitchFamily="2" charset="-122"/>
                <a:sym typeface="+mn-ea"/>
              </a:rPr>
              <a:t>，获得用户对数据库的要求</a:t>
            </a:r>
            <a:endParaRPr lang="zh-CN" altLang="en-US" sz="2400" b="1" dirty="0">
              <a:ea typeface="华文楷体" panose="02010600040101010101" pitchFamily="2" charset="-122"/>
              <a:sym typeface="+mn-ea"/>
            </a:endParaRPr>
          </a:p>
        </p:txBody>
      </p:sp>
      <p:sp>
        <p:nvSpPr>
          <p:cNvPr id="9" name="文本框 8"/>
          <p:cNvSpPr txBox="1"/>
          <p:nvPr/>
        </p:nvSpPr>
        <p:spPr>
          <a:xfrm>
            <a:off x="728345" y="4766945"/>
            <a:ext cx="3230880" cy="1420495"/>
          </a:xfrm>
          <a:prstGeom prst="rect">
            <a:avLst/>
          </a:prstGeom>
          <a:noFill/>
        </p:spPr>
        <p:txBody>
          <a:bodyPr wrap="none" rtlCol="0">
            <a:spAutoFit/>
          </a:bodyPr>
          <a:lstStyle/>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①</a:t>
            </a:r>
            <a:r>
              <a:rPr lang="zh-CN" altLang="en-US" sz="2400" dirty="0">
                <a:latin typeface="华文楷体" panose="02010600040101010101" pitchFamily="2" charset="-122"/>
                <a:ea typeface="华文楷体" panose="02010600040101010101" pitchFamily="2" charset="-122"/>
                <a:sym typeface="+mn-ea"/>
              </a:rPr>
              <a:t>信息要求</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②</a:t>
            </a:r>
            <a:r>
              <a:rPr lang="zh-CN" altLang="en-US" sz="2400" dirty="0">
                <a:latin typeface="华文楷体" panose="02010600040101010101" pitchFamily="2" charset="-122"/>
                <a:ea typeface="华文楷体" panose="02010600040101010101" pitchFamily="2" charset="-122"/>
                <a:sym typeface="+mn-ea"/>
              </a:rPr>
              <a:t>处理要求</a:t>
            </a:r>
            <a:endParaRPr lang="zh-CN" altLang="en-US" sz="2400" dirty="0">
              <a:latin typeface="华文楷体" panose="02010600040101010101" pitchFamily="2" charset="-122"/>
              <a:ea typeface="华文楷体" panose="02010600040101010101" pitchFamily="2" charset="-122"/>
              <a:sym typeface="+mn-ea"/>
            </a:endParaRPr>
          </a:p>
          <a:p>
            <a:pPr marL="0" indent="0" algn="l" eaLnBrk="1" hangingPunct="1">
              <a:lnSpc>
                <a:spcPct val="120000"/>
              </a:lnSpc>
              <a:spcBef>
                <a:spcPts val="0"/>
              </a:spcBef>
              <a:spcAft>
                <a:spcPts val="0"/>
              </a:spcAft>
              <a:buNone/>
            </a:pPr>
            <a:r>
              <a:rPr lang="zh-CN" altLang="en-US" sz="2400" dirty="0">
                <a:ea typeface="华文楷体" panose="02010600040101010101" pitchFamily="2" charset="-122"/>
                <a:sym typeface="+mn-ea"/>
              </a:rPr>
              <a:t>③</a:t>
            </a:r>
            <a:r>
              <a:rPr lang="zh-CN" altLang="en-US" sz="2400" dirty="0">
                <a:latin typeface="华文楷体" panose="02010600040101010101" pitchFamily="2" charset="-122"/>
                <a:ea typeface="华文楷体" panose="02010600040101010101" pitchFamily="2" charset="-122"/>
                <a:sym typeface="+mn-ea"/>
              </a:rPr>
              <a:t>安全性与完整性要求</a:t>
            </a:r>
            <a:endParaRPr lang="zh-CN" altLang="en-US" sz="2400" dirty="0">
              <a:latin typeface="华文楷体" panose="02010600040101010101" pitchFamily="2" charset="-122"/>
              <a:ea typeface="华文楷体" panose="020106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93706" y="2649582"/>
            <a:ext cx="6446828" cy="787558"/>
          </a:xfrm>
          <a:prstGeom prst="rect">
            <a:avLst/>
          </a:prstGeom>
        </p:spPr>
      </p:pic>
      <p:sp>
        <p:nvSpPr>
          <p:cNvPr id="8" name="文本框 7"/>
          <p:cNvSpPr txBox="1"/>
          <p:nvPr/>
        </p:nvSpPr>
        <p:spPr>
          <a:xfrm>
            <a:off x="395653" y="690073"/>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9" name="文本框 8"/>
          <p:cNvSpPr txBox="1"/>
          <p:nvPr/>
        </p:nvSpPr>
        <p:spPr>
          <a:xfrm>
            <a:off x="530431" y="1231351"/>
            <a:ext cx="8168005" cy="1270732"/>
          </a:xfrm>
          <a:prstGeom prst="rect">
            <a:avLst/>
          </a:prstGeom>
          <a:noFill/>
        </p:spPr>
        <p:txBody>
          <a:bodyPr wrap="square" rtlCol="0" anchor="t">
            <a:spAutoFit/>
          </a:bodyPr>
          <a:lstStyle/>
          <a:p>
            <a:pPr>
              <a:lnSpc>
                <a:spcPct val="125000"/>
              </a:lnSpc>
              <a:spcBef>
                <a:spcPts val="0"/>
              </a:spcBef>
              <a:spcAft>
                <a:spcPts val="0"/>
              </a:spcAft>
            </a:pPr>
            <a:r>
              <a:rPr lang="zh-CN" altLang="en-US" sz="2300" dirty="0">
                <a:solidFill>
                  <a:srgbClr val="0033CC"/>
                </a:solidFill>
                <a:latin typeface="Calibri" panose="020F0502020204030204" pitchFamily="34" charset="0"/>
                <a:ea typeface="华文中宋" panose="02010600040101010101" pitchFamily="2" charset="-122"/>
                <a:cs typeface="+mj-lt"/>
              </a:rPr>
              <a:t>       </a:t>
            </a:r>
            <a:r>
              <a:rPr lang="zh-CN" altLang="en-US" sz="2000" u="sng" dirty="0">
                <a:solidFill>
                  <a:srgbClr val="C00000"/>
                </a:solidFill>
                <a:latin typeface="华文中宋" panose="02010600040101010101" pitchFamily="2" charset="-122"/>
                <a:ea typeface="华文中宋" panose="02010600040101010101" pitchFamily="2" charset="-122"/>
              </a:rPr>
              <a:t>数据驱动模型描述一个动作序列，该动作序列涉及输入数据的处理和相关输出的</a:t>
            </a:r>
            <a:r>
              <a:rPr lang="zh-CN" altLang="en-US" sz="2000" u="sng" dirty="0" smtClean="0">
                <a:solidFill>
                  <a:srgbClr val="C00000"/>
                </a:solidFill>
                <a:latin typeface="华文中宋" panose="02010600040101010101" pitchFamily="2" charset="-122"/>
                <a:ea typeface="华文中宋" panose="02010600040101010101" pitchFamily="2" charset="-122"/>
              </a:rPr>
              <a:t>产生，</a:t>
            </a:r>
            <a:r>
              <a:rPr lang="zh-CN" altLang="en-US" sz="2000" u="sng" dirty="0">
                <a:solidFill>
                  <a:srgbClr val="C00000"/>
                </a:solidFill>
                <a:latin typeface="华文中宋" panose="02010600040101010101" pitchFamily="2" charset="-122"/>
                <a:ea typeface="华文中宋" panose="02010600040101010101" pitchFamily="2" charset="-122"/>
              </a:rPr>
              <a:t>输出可以看作是系统的响应</a:t>
            </a:r>
            <a:r>
              <a:rPr lang="zh-CN" altLang="en-US" sz="2000" u="sng" dirty="0" smtClean="0">
                <a:solidFill>
                  <a:srgbClr val="C00000"/>
                </a:solidFill>
                <a:latin typeface="华文中宋" panose="02010600040101010101" pitchFamily="2" charset="-122"/>
                <a:ea typeface="华文中宋" panose="02010600040101010101" pitchFamily="2" charset="-122"/>
              </a:rPr>
              <a:t>。</a:t>
            </a:r>
            <a:r>
              <a:rPr lang="zh-CN" altLang="en-US" sz="2000" dirty="0" smtClean="0"/>
              <a:t>在</a:t>
            </a:r>
            <a:r>
              <a:rPr lang="zh-CN" altLang="en-US" sz="2000" dirty="0"/>
              <a:t>需求分析过程中，数据驱动模型非常有用，它们可用来表示系统中端到端的过程</a:t>
            </a:r>
            <a:r>
              <a:rPr lang="zh-CN" altLang="en-US" sz="2000" dirty="0" smtClean="0"/>
              <a:t>。</a:t>
            </a:r>
            <a:endParaRPr lang="zh-CN" altLang="en-US" sz="2000" u="sng" dirty="0">
              <a:solidFill>
                <a:srgbClr val="FF0000"/>
              </a:solidFill>
            </a:endParaRPr>
          </a:p>
        </p:txBody>
      </p:sp>
      <p:sp>
        <p:nvSpPr>
          <p:cNvPr id="10" name="文本框 9"/>
          <p:cNvSpPr txBox="1"/>
          <p:nvPr/>
        </p:nvSpPr>
        <p:spPr>
          <a:xfrm>
            <a:off x="530431" y="3563872"/>
            <a:ext cx="8218805" cy="1245235"/>
          </a:xfrm>
          <a:prstGeom prst="rect">
            <a:avLst/>
          </a:prstGeom>
          <a:noFill/>
        </p:spPr>
        <p:txBody>
          <a:bodyPr wrap="square" rtlCol="0" anchor="t">
            <a:spAutoFit/>
          </a:bodyPr>
          <a:lstStyle/>
          <a:p>
            <a:pPr algn="l">
              <a:lnSpc>
                <a:spcPct val="125000"/>
              </a:lnSpc>
              <a:spcBef>
                <a:spcPts val="0"/>
              </a:spcBef>
              <a:spcAft>
                <a:spcPts val="0"/>
              </a:spcAft>
              <a:buNone/>
            </a:pPr>
            <a:r>
              <a:rPr lang="en-US" altLang="zh-CN" sz="20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      DFD（Data Flow </a:t>
            </a:r>
            <a:r>
              <a:rPr lang="en-US" altLang="zh-CN" sz="2000" dirty="0" err="1">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Diagram，数据流图</a:t>
            </a:r>
            <a:r>
              <a:rPr lang="en-US" altLang="zh-CN" sz="2000" dirty="0" err="1" smtClean="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）表达了数据和处理的关系</a:t>
            </a:r>
            <a:r>
              <a:rPr lang="zh-CN" altLang="en-US" sz="20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000" dirty="0">
                <a:ln>
                  <a:noFill/>
                </a:ln>
                <a:solidFill>
                  <a:schemeClr val="tx1"/>
                </a:solidFill>
                <a:effectLst/>
                <a:latin typeface="+mn-ea"/>
                <a:ea typeface="+mn-ea"/>
                <a:cs typeface="+mn-ea"/>
                <a:sym typeface="+mn-ea"/>
              </a:rPr>
              <a:t>DFD设计过程就是将数据和处理进行逐层分解就形成了若干层次的DFD，分为顶层图、第一层、第二层、第三层图等等。</a:t>
            </a:r>
            <a:endParaRPr lang="zh-CN" altLang="en-US" sz="2000" dirty="0">
              <a:ln>
                <a:noFill/>
              </a:ln>
              <a:solidFill>
                <a:schemeClr val="tx1"/>
              </a:solidFill>
              <a:effectLst/>
              <a:latin typeface="+mn-ea"/>
              <a:ea typeface="+mn-ea"/>
              <a:cs typeface="+mn-ea"/>
              <a:sym typeface="+mn-ea"/>
            </a:endParaRPr>
          </a:p>
        </p:txBody>
      </p:sp>
      <p:sp>
        <p:nvSpPr>
          <p:cNvPr id="11" name="文本框 10"/>
          <p:cNvSpPr txBox="1"/>
          <p:nvPr/>
        </p:nvSpPr>
        <p:spPr>
          <a:xfrm>
            <a:off x="1083358" y="6160755"/>
            <a:ext cx="1102360" cy="464820"/>
          </a:xfrm>
          <a:prstGeom prst="rect">
            <a:avLst/>
          </a:prstGeom>
          <a:noFill/>
        </p:spPr>
        <p:txBody>
          <a:bodyPr wrap="none" rtlCol="0" anchor="t">
            <a:spAutoFit/>
          </a:bodyPr>
          <a:lstStyle/>
          <a:p>
            <a:pPr>
              <a:buNone/>
            </a:pPr>
            <a:r>
              <a:rPr lang="zh-CN" altLang="en-US">
                <a:solidFill>
                  <a:srgbClr val="0033CC"/>
                </a:solidFill>
              </a:rPr>
              <a:t>外部实体</a:t>
            </a:r>
            <a:endParaRPr lang="zh-CN" altLang="en-US">
              <a:solidFill>
                <a:srgbClr val="0033CC"/>
              </a:solidFill>
            </a:endParaRPr>
          </a:p>
        </p:txBody>
      </p:sp>
      <p:sp>
        <p:nvSpPr>
          <p:cNvPr id="12" name="椭圆 11"/>
          <p:cNvSpPr/>
          <p:nvPr/>
        </p:nvSpPr>
        <p:spPr>
          <a:xfrm>
            <a:off x="3025266" y="5666475"/>
            <a:ext cx="814070" cy="681355"/>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072200" y="6388266"/>
            <a:ext cx="642620" cy="464820"/>
          </a:xfrm>
          <a:prstGeom prst="rect">
            <a:avLst/>
          </a:prstGeom>
          <a:noFill/>
        </p:spPr>
        <p:txBody>
          <a:bodyPr wrap="none" rtlCol="0" anchor="t">
            <a:spAutoFit/>
          </a:bodyPr>
          <a:lstStyle/>
          <a:p>
            <a:pPr>
              <a:buNone/>
            </a:pPr>
            <a:r>
              <a:rPr lang="zh-CN" altLang="en-US">
                <a:solidFill>
                  <a:srgbClr val="0033CC"/>
                </a:solidFill>
              </a:rPr>
              <a:t>处理</a:t>
            </a:r>
            <a:endParaRPr lang="zh-CN" altLang="en-US">
              <a:solidFill>
                <a:srgbClr val="0033CC"/>
              </a:solidFill>
            </a:endParaRPr>
          </a:p>
        </p:txBody>
      </p:sp>
      <p:sp>
        <p:nvSpPr>
          <p:cNvPr id="14" name="矩形 13"/>
          <p:cNvSpPr/>
          <p:nvPr/>
        </p:nvSpPr>
        <p:spPr>
          <a:xfrm>
            <a:off x="1083358" y="5624180"/>
            <a:ext cx="1251585"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384723" y="5672440"/>
            <a:ext cx="264795"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4652693" y="5661186"/>
            <a:ext cx="7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652693" y="6181075"/>
            <a:ext cx="7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6179233" y="5994385"/>
            <a:ext cx="118046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257338" y="6132815"/>
            <a:ext cx="1102360" cy="464820"/>
          </a:xfrm>
          <a:prstGeom prst="rect">
            <a:avLst/>
          </a:prstGeom>
          <a:noFill/>
        </p:spPr>
        <p:txBody>
          <a:bodyPr wrap="none" rtlCol="0" anchor="t">
            <a:spAutoFit/>
          </a:bodyPr>
          <a:lstStyle/>
          <a:p>
            <a:pPr>
              <a:buNone/>
            </a:pPr>
            <a:r>
              <a:rPr lang="zh-CN" altLang="en-US">
                <a:solidFill>
                  <a:srgbClr val="0033CC"/>
                </a:solidFill>
              </a:rPr>
              <a:t>数据流动</a:t>
            </a:r>
            <a:endParaRPr lang="zh-CN" altLang="en-US">
              <a:solidFill>
                <a:srgbClr val="0033CC"/>
              </a:solidFill>
            </a:endParaRPr>
          </a:p>
        </p:txBody>
      </p:sp>
      <p:sp>
        <p:nvSpPr>
          <p:cNvPr id="21" name="文本框 20"/>
          <p:cNvSpPr txBox="1"/>
          <p:nvPr/>
        </p:nvSpPr>
        <p:spPr>
          <a:xfrm>
            <a:off x="600440" y="5034265"/>
            <a:ext cx="2217420" cy="589280"/>
          </a:xfrm>
          <a:prstGeom prst="rect">
            <a:avLst/>
          </a:prstGeom>
          <a:noFill/>
        </p:spPr>
        <p:txBody>
          <a:bodyPr wrap="square" rtlCol="0" anchor="t">
            <a:spAutoFit/>
          </a:bodyPr>
          <a:lstStyle/>
          <a:p>
            <a:pPr>
              <a:buFont typeface="Wingdings" panose="05000000000000000000" charset="0"/>
              <a:buChar char="p"/>
            </a:pP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图例说明</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2" name="圆角矩形 1"/>
          <p:cNvSpPr/>
          <p:nvPr/>
        </p:nvSpPr>
        <p:spPr>
          <a:xfrm>
            <a:off x="3088053" y="4725108"/>
            <a:ext cx="751283" cy="792066"/>
          </a:xfrm>
          <a:prstGeom prst="roundRect">
            <a:avLst>
              <a:gd name="adj" fmla="val 275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a:stCxn id="2" idx="1"/>
            <a:endCxn id="2" idx="3"/>
          </p:cNvCxnSpPr>
          <p:nvPr/>
        </p:nvCxnSpPr>
        <p:spPr>
          <a:xfrm>
            <a:off x="3088053" y="5121141"/>
            <a:ext cx="75128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700953" y="6333475"/>
            <a:ext cx="642620" cy="464820"/>
          </a:xfrm>
          <a:prstGeom prst="rect">
            <a:avLst/>
          </a:prstGeom>
          <a:noFill/>
        </p:spPr>
        <p:txBody>
          <a:bodyPr wrap="none" rtlCol="0" anchor="t">
            <a:spAutoFit/>
          </a:bodyPr>
          <a:lstStyle/>
          <a:p>
            <a:pPr>
              <a:buNone/>
            </a:pPr>
            <a:r>
              <a:rPr lang="zh-CN" altLang="en-US">
                <a:solidFill>
                  <a:srgbClr val="0033CC"/>
                </a:solidFill>
              </a:rPr>
              <a:t>存储</a:t>
            </a:r>
            <a:endParaRPr lang="zh-CN" altLang="en-US">
              <a:solidFill>
                <a:srgbClr val="0033CC"/>
              </a:solidFill>
            </a:endParaRPr>
          </a:p>
        </p:txBody>
      </p:sp>
      <p:sp>
        <p:nvSpPr>
          <p:cNvPr id="18" name="文本框 17"/>
          <p:cNvSpPr txBox="1"/>
          <p:nvPr/>
        </p:nvSpPr>
        <p:spPr>
          <a:xfrm>
            <a:off x="3134783" y="4762369"/>
            <a:ext cx="595035" cy="338554"/>
          </a:xfrm>
          <a:prstGeom prst="rect">
            <a:avLst/>
          </a:prstGeom>
          <a:noFill/>
        </p:spPr>
        <p:txBody>
          <a:bodyPr wrap="none" rtlCol="0" anchor="t">
            <a:spAutoFit/>
          </a:bodyPr>
          <a:lstStyle/>
          <a:p>
            <a:pPr>
              <a:buNone/>
            </a:pPr>
            <a:r>
              <a:rPr lang="zh-CN" altLang="en-US" sz="1600" b="1" dirty="0" smtClean="0">
                <a:solidFill>
                  <a:schemeClr val="bg1"/>
                </a:solidFill>
              </a:rPr>
              <a:t>编号</a:t>
            </a:r>
            <a:endParaRPr lang="zh-CN" altLang="en-US" sz="1600" b="1" dirty="0">
              <a:solidFill>
                <a:schemeClr val="bg1"/>
              </a:solidFill>
            </a:endParaRPr>
          </a:p>
        </p:txBody>
      </p:sp>
      <p:sp>
        <p:nvSpPr>
          <p:cNvPr id="23" name="文本框 22"/>
          <p:cNvSpPr txBox="1"/>
          <p:nvPr/>
        </p:nvSpPr>
        <p:spPr>
          <a:xfrm>
            <a:off x="3025112" y="5134492"/>
            <a:ext cx="800219" cy="338554"/>
          </a:xfrm>
          <a:prstGeom prst="rect">
            <a:avLst/>
          </a:prstGeom>
          <a:noFill/>
        </p:spPr>
        <p:txBody>
          <a:bodyPr wrap="none" rtlCol="0" anchor="t">
            <a:spAutoFit/>
          </a:bodyPr>
          <a:lstStyle/>
          <a:p>
            <a:pPr>
              <a:buNone/>
            </a:pPr>
            <a:r>
              <a:rPr lang="zh-CN" altLang="en-US" sz="1600" b="1" dirty="0" smtClean="0">
                <a:solidFill>
                  <a:schemeClr val="bg1"/>
                </a:solidFill>
              </a:rPr>
              <a:t>处理名</a:t>
            </a:r>
            <a:endParaRPr lang="zh-CN" altLang="en-US" sz="16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500" fill="hold"/>
                                        <p:tgtEl>
                                          <p:spTgt spid="22"/>
                                        </p:tgtEl>
                                        <p:attrNameLst>
                                          <p:attrName>ppt_x</p:attrName>
                                        </p:attrNameLst>
                                      </p:cBhvr>
                                      <p:tavLst>
                                        <p:tav tm="0">
                                          <p:val>
                                            <p:strVal val="#ppt_x"/>
                                          </p:val>
                                        </p:tav>
                                        <p:tav tm="100000">
                                          <p:val>
                                            <p:strVal val="#ppt_x"/>
                                          </p:val>
                                        </p:tav>
                                      </p:tavLst>
                                    </p:anim>
                                    <p:anim calcmode="lin" valueType="num">
                                      <p:cBhvr additive="base">
                                        <p:cTn id="54" dur="500" fill="hold"/>
                                        <p:tgtEl>
                                          <p:spTgt spid="2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14" grpId="0" animBg="1"/>
      <p:bldP spid="15" grpId="0" animBg="1"/>
      <p:bldP spid="20" grpId="0"/>
      <p:bldP spid="22" grpId="0"/>
      <p:bldP spid="18"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33705" y="784860"/>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5" name="文本框 4"/>
          <p:cNvSpPr txBox="1"/>
          <p:nvPr/>
        </p:nvSpPr>
        <p:spPr>
          <a:xfrm>
            <a:off x="551751" y="1553774"/>
            <a:ext cx="1849412" cy="477054"/>
          </a:xfrm>
          <a:prstGeom prst="rect">
            <a:avLst/>
          </a:prstGeom>
          <a:noFill/>
        </p:spPr>
        <p:txBody>
          <a:bodyPr wrap="square" rtlCol="0" anchor="t">
            <a:spAutoFit/>
          </a:bodyPr>
          <a:lstStyle/>
          <a:p>
            <a:pPr algn="l">
              <a:lnSpc>
                <a:spcPct val="125000"/>
              </a:lnSpc>
              <a:spcBef>
                <a:spcPts val="0"/>
              </a:spcBef>
              <a:spcAft>
                <a:spcPts val="0"/>
              </a:spcAft>
              <a:buNone/>
            </a:pP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a:t>
            </a: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a:t>
            </a:r>
            <a:endParaRPr lang="zh-CN" altLang="en-US" sz="2000" dirty="0">
              <a:ln>
                <a:noFill/>
              </a:ln>
              <a:solidFill>
                <a:srgbClr val="FF0000"/>
              </a:solidFill>
              <a:effectLst/>
              <a:latin typeface="+mn-ea"/>
              <a:ea typeface="+mn-ea"/>
              <a:cs typeface="+mn-ea"/>
              <a:sym typeface="+mn-ea"/>
            </a:endParaRPr>
          </a:p>
        </p:txBody>
      </p:sp>
      <p:sp>
        <p:nvSpPr>
          <p:cNvPr id="6" name="文本框 5"/>
          <p:cNvSpPr txBox="1"/>
          <p:nvPr/>
        </p:nvSpPr>
        <p:spPr>
          <a:xfrm>
            <a:off x="2743200" y="1422969"/>
            <a:ext cx="5839326" cy="784830"/>
          </a:xfrm>
          <a:prstGeom prst="rect">
            <a:avLst/>
          </a:prstGeom>
          <a:noFill/>
        </p:spPr>
        <p:txBody>
          <a:bodyPr wrap="square" rtlCol="0" anchor="t">
            <a:spAutoFit/>
          </a:bodyPr>
          <a:lstStyle/>
          <a:p>
            <a:pPr>
              <a:lnSpc>
                <a:spcPct val="100000"/>
              </a:lnSpc>
              <a:spcBef>
                <a:spcPts val="0"/>
              </a:spcBef>
              <a:spcAft>
                <a:spcPts val="0"/>
              </a:spcAft>
              <a:buNone/>
            </a:pPr>
            <a:r>
              <a:rPr lang="zh-CN" altLang="en-US" sz="2100" dirty="0" smtClean="0">
                <a:latin typeface="楷体" panose="02010609060101010101" pitchFamily="49" charset="-122"/>
                <a:ea typeface="楷体" panose="02010609060101010101" pitchFamily="49" charset="-122"/>
              </a:rPr>
              <a:t>用箭头表示数据流，箭头方向表示数据流向，数据流名称在数据流上面，</a:t>
            </a:r>
            <a:r>
              <a:rPr lang="zh-CN" altLang="en-US" sz="2400" dirty="0" smtClean="0">
                <a:solidFill>
                  <a:srgbClr val="C00000"/>
                </a:solidFill>
                <a:latin typeface="楷体" panose="02010609060101010101" pitchFamily="49" charset="-122"/>
                <a:ea typeface="楷体" panose="02010609060101010101" pitchFamily="49" charset="-122"/>
              </a:rPr>
              <a:t>必须用名词来描述</a:t>
            </a:r>
            <a:r>
              <a:rPr lang="zh-CN" altLang="en-US" sz="2100" dirty="0" smtClean="0">
                <a:latin typeface="楷体" panose="02010609060101010101" pitchFamily="49" charset="-122"/>
                <a:ea typeface="楷体" panose="02010609060101010101" pitchFamily="49" charset="-122"/>
              </a:rPr>
              <a:t>。</a:t>
            </a:r>
            <a:endParaRPr lang="zh-CN" altLang="en-US" sz="2100" dirty="0">
              <a:latin typeface="楷体" panose="02010609060101010101" pitchFamily="49" charset="-122"/>
              <a:ea typeface="楷体" panose="02010609060101010101" pitchFamily="49" charset="-122"/>
            </a:endParaRPr>
          </a:p>
        </p:txBody>
      </p:sp>
      <p:sp>
        <p:nvSpPr>
          <p:cNvPr id="8" name="文本框 7"/>
          <p:cNvSpPr txBox="1"/>
          <p:nvPr/>
        </p:nvSpPr>
        <p:spPr>
          <a:xfrm>
            <a:off x="540862" y="2432010"/>
            <a:ext cx="1705033" cy="477054"/>
          </a:xfrm>
          <a:prstGeom prst="rect">
            <a:avLst/>
          </a:prstGeom>
          <a:noFill/>
        </p:spPr>
        <p:txBody>
          <a:bodyPr wrap="square" rtlCol="0" anchor="t">
            <a:spAutoFit/>
          </a:bodyPr>
          <a:lstStyle/>
          <a:p>
            <a:pPr algn="l">
              <a:lnSpc>
                <a:spcPct val="125000"/>
              </a:lnSpc>
              <a:spcBef>
                <a:spcPts val="0"/>
              </a:spcBef>
              <a:spcAft>
                <a:spcPts val="0"/>
              </a:spcAft>
              <a:buNone/>
            </a:pP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2</a:t>
            </a: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）加工</a:t>
            </a:r>
            <a:endParaRPr lang="zh-CN" altLang="en-US" sz="2000" dirty="0">
              <a:ln>
                <a:noFill/>
              </a:ln>
              <a:solidFill>
                <a:srgbClr val="FF0000"/>
              </a:solidFill>
              <a:effectLst/>
              <a:latin typeface="+mn-ea"/>
              <a:ea typeface="+mn-ea"/>
              <a:cs typeface="+mn-ea"/>
              <a:sym typeface="+mn-ea"/>
            </a:endParaRPr>
          </a:p>
        </p:txBody>
      </p:sp>
      <p:sp>
        <p:nvSpPr>
          <p:cNvPr id="9" name="文本框 8"/>
          <p:cNvSpPr txBox="1"/>
          <p:nvPr/>
        </p:nvSpPr>
        <p:spPr>
          <a:xfrm>
            <a:off x="2743200" y="2303193"/>
            <a:ext cx="6021525" cy="784830"/>
          </a:xfrm>
          <a:prstGeom prst="rect">
            <a:avLst/>
          </a:prstGeom>
          <a:noFill/>
        </p:spPr>
        <p:txBody>
          <a:bodyPr wrap="square" rtlCol="0" anchor="t">
            <a:spAutoFit/>
          </a:bodyPr>
          <a:lstStyle/>
          <a:p>
            <a:pPr>
              <a:lnSpc>
                <a:spcPct val="100000"/>
              </a:lnSpc>
              <a:spcBef>
                <a:spcPts val="0"/>
              </a:spcBef>
              <a:spcAft>
                <a:spcPts val="0"/>
              </a:spcAft>
              <a:buNone/>
            </a:pPr>
            <a:r>
              <a:rPr lang="zh-CN" altLang="en-US" sz="2100" dirty="0" smtClean="0">
                <a:latin typeface="楷体" panose="02010609060101010101" pitchFamily="49" charset="-122"/>
                <a:ea typeface="楷体" panose="02010609060101010101" pitchFamily="49" charset="-122"/>
              </a:rPr>
              <a:t>加工也称为数据处理，或称为变换，是对数据进行处理的单元，</a:t>
            </a:r>
            <a:r>
              <a:rPr lang="zh-CN" altLang="en-US" sz="2400" dirty="0">
                <a:solidFill>
                  <a:srgbClr val="C00000"/>
                </a:solidFill>
                <a:latin typeface="楷体" panose="02010609060101010101" pitchFamily="49" charset="-122"/>
                <a:ea typeface="楷体" panose="02010609060101010101" pitchFamily="49" charset="-122"/>
              </a:rPr>
              <a:t>过程名称是动词短语</a:t>
            </a:r>
            <a:r>
              <a:rPr lang="zh-CN" altLang="en-US" sz="2100" dirty="0" smtClean="0">
                <a:latin typeface="楷体" panose="02010609060101010101" pitchFamily="49" charset="-122"/>
                <a:ea typeface="楷体" panose="02010609060101010101" pitchFamily="49" charset="-122"/>
              </a:rPr>
              <a:t>。</a:t>
            </a:r>
            <a:endParaRPr lang="zh-CN" altLang="en-US" sz="2100" dirty="0">
              <a:latin typeface="楷体" panose="02010609060101010101" pitchFamily="49" charset="-122"/>
              <a:ea typeface="楷体" panose="02010609060101010101" pitchFamily="49" charset="-122"/>
            </a:endParaRPr>
          </a:p>
        </p:txBody>
      </p:sp>
      <p:sp>
        <p:nvSpPr>
          <p:cNvPr id="11" name="文本框 10"/>
          <p:cNvSpPr txBox="1"/>
          <p:nvPr/>
        </p:nvSpPr>
        <p:spPr>
          <a:xfrm>
            <a:off x="540862" y="3363866"/>
            <a:ext cx="1871190" cy="477054"/>
          </a:xfrm>
          <a:prstGeom prst="rect">
            <a:avLst/>
          </a:prstGeom>
          <a:noFill/>
        </p:spPr>
        <p:txBody>
          <a:bodyPr wrap="square" rtlCol="0" anchor="t">
            <a:spAutoFit/>
          </a:bodyPr>
          <a:lstStyle/>
          <a:p>
            <a:pPr algn="l">
              <a:lnSpc>
                <a:spcPct val="125000"/>
              </a:lnSpc>
              <a:spcBef>
                <a:spcPts val="0"/>
              </a:spcBef>
              <a:spcAft>
                <a:spcPts val="0"/>
              </a:spcAft>
              <a:buNone/>
            </a:pP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3</a:t>
            </a: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）数据存储</a:t>
            </a:r>
            <a:endParaRPr lang="zh-CN" altLang="en-US" sz="2000" dirty="0">
              <a:ln>
                <a:noFill/>
              </a:ln>
              <a:solidFill>
                <a:srgbClr val="FF0000"/>
              </a:solidFill>
              <a:effectLst/>
              <a:latin typeface="+mn-ea"/>
              <a:ea typeface="+mn-ea"/>
              <a:cs typeface="+mn-ea"/>
              <a:sym typeface="+mn-ea"/>
            </a:endParaRPr>
          </a:p>
        </p:txBody>
      </p:sp>
      <p:sp>
        <p:nvSpPr>
          <p:cNvPr id="12" name="文本框 11"/>
          <p:cNvSpPr txBox="1"/>
          <p:nvPr/>
        </p:nvSpPr>
        <p:spPr>
          <a:xfrm>
            <a:off x="3015916" y="3204030"/>
            <a:ext cx="5748809" cy="738664"/>
          </a:xfrm>
          <a:prstGeom prst="rect">
            <a:avLst/>
          </a:prstGeom>
          <a:noFill/>
        </p:spPr>
        <p:txBody>
          <a:bodyPr wrap="square" rtlCol="0" anchor="t">
            <a:spAutoFit/>
          </a:bodyPr>
          <a:lstStyle/>
          <a:p>
            <a:pPr>
              <a:lnSpc>
                <a:spcPct val="100000"/>
              </a:lnSpc>
              <a:spcBef>
                <a:spcPts val="0"/>
              </a:spcBef>
              <a:spcAft>
                <a:spcPts val="0"/>
              </a:spcAft>
              <a:buNone/>
            </a:pPr>
            <a:r>
              <a:rPr lang="zh-CN" altLang="en-US" sz="2100" dirty="0" smtClean="0">
                <a:latin typeface="楷体" panose="02010609060101010101" pitchFamily="49" charset="-122"/>
                <a:ea typeface="楷体" panose="02010609060101010101" pitchFamily="49" charset="-122"/>
              </a:rPr>
              <a:t>数据存储是由若干数据元素组成的，它为数据处理提供的输入流或</a:t>
            </a:r>
            <a:r>
              <a:rPr lang="zh-CN" altLang="en-US" sz="2100" dirty="0">
                <a:latin typeface="楷体" panose="02010609060101010101" pitchFamily="49" charset="-122"/>
                <a:ea typeface="楷体" panose="02010609060101010101" pitchFamily="49" charset="-122"/>
              </a:rPr>
              <a:t>输出</a:t>
            </a:r>
            <a:r>
              <a:rPr lang="zh-CN" altLang="en-US" sz="2100" dirty="0" smtClean="0">
                <a:latin typeface="楷体" panose="02010609060101010101" pitchFamily="49" charset="-122"/>
                <a:ea typeface="楷体" panose="02010609060101010101" pitchFamily="49" charset="-122"/>
              </a:rPr>
              <a:t>流提供储存“仓库”。</a:t>
            </a:r>
            <a:endParaRPr lang="zh-CN" altLang="en-US" sz="2100" dirty="0">
              <a:latin typeface="楷体" panose="02010609060101010101" pitchFamily="49" charset="-122"/>
              <a:ea typeface="楷体" panose="02010609060101010101" pitchFamily="49" charset="-122"/>
            </a:endParaRPr>
          </a:p>
        </p:txBody>
      </p:sp>
      <p:sp>
        <p:nvSpPr>
          <p:cNvPr id="13" name="文本框 12"/>
          <p:cNvSpPr txBox="1"/>
          <p:nvPr/>
        </p:nvSpPr>
        <p:spPr>
          <a:xfrm>
            <a:off x="551168" y="4327806"/>
            <a:ext cx="2015569" cy="861774"/>
          </a:xfrm>
          <a:prstGeom prst="rect">
            <a:avLst/>
          </a:prstGeom>
          <a:noFill/>
        </p:spPr>
        <p:txBody>
          <a:bodyPr wrap="square" rtlCol="0" anchor="t">
            <a:spAutoFit/>
          </a:bodyPr>
          <a:lstStyle/>
          <a:p>
            <a:pPr algn="l">
              <a:lnSpc>
                <a:spcPct val="125000"/>
              </a:lnSpc>
              <a:spcBef>
                <a:spcPts val="0"/>
              </a:spcBef>
              <a:spcAft>
                <a:spcPts val="0"/>
              </a:spcAft>
              <a:buNone/>
            </a:pP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4</a:t>
            </a:r>
            <a:r>
              <a:rPr lang="zh-CN" altLang="en-US" sz="20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）数据的源点和终点</a:t>
            </a:r>
            <a:endParaRPr lang="zh-CN" altLang="en-US" sz="2000" dirty="0">
              <a:ln>
                <a:noFill/>
              </a:ln>
              <a:solidFill>
                <a:srgbClr val="FF0000"/>
              </a:solidFill>
              <a:effectLst/>
              <a:latin typeface="+mn-ea"/>
              <a:ea typeface="+mn-ea"/>
              <a:cs typeface="+mn-ea"/>
              <a:sym typeface="+mn-ea"/>
            </a:endParaRPr>
          </a:p>
        </p:txBody>
      </p:sp>
      <p:sp>
        <p:nvSpPr>
          <p:cNvPr id="15" name="文本框 14"/>
          <p:cNvSpPr txBox="1"/>
          <p:nvPr/>
        </p:nvSpPr>
        <p:spPr>
          <a:xfrm>
            <a:off x="2743200" y="4173917"/>
            <a:ext cx="6021525" cy="1708160"/>
          </a:xfrm>
          <a:prstGeom prst="rect">
            <a:avLst/>
          </a:prstGeom>
          <a:noFill/>
        </p:spPr>
        <p:txBody>
          <a:bodyPr wrap="square" rtlCol="0" anchor="t">
            <a:spAutoFit/>
          </a:bodyPr>
          <a:lstStyle/>
          <a:p>
            <a:pPr>
              <a:lnSpc>
                <a:spcPct val="100000"/>
              </a:lnSpc>
              <a:spcBef>
                <a:spcPts val="0"/>
              </a:spcBef>
              <a:spcAft>
                <a:spcPts val="0"/>
              </a:spcAft>
              <a:buNone/>
            </a:pPr>
            <a:r>
              <a:rPr lang="zh-CN" altLang="en-US" sz="2100" dirty="0" smtClean="0">
                <a:latin typeface="楷体" panose="02010609060101010101" pitchFamily="49" charset="-122"/>
                <a:ea typeface="楷体" panose="02010609060101010101" pitchFamily="49" charset="-122"/>
              </a:rPr>
              <a:t>任何一个系统的边界定义后，就有系统内外之分，一个系统总会与系统外部的实体有联系。这种联系的重要形式就是数据。数据源点和终点是软件系统外部环境中的实体（包括人员、组织或其它软件系统），统称外部实体。</a:t>
            </a:r>
            <a:endParaRPr lang="zh-CN" altLang="en-US" sz="2100" dirty="0">
              <a:latin typeface="楷体" panose="02010609060101010101" pitchFamily="49" charset="-122"/>
              <a:ea typeface="楷体" panose="02010609060101010101" pitchFamily="49" charset="-122"/>
            </a:endParaRPr>
          </a:p>
        </p:txBody>
      </p:sp>
      <p:sp>
        <p:nvSpPr>
          <p:cNvPr id="17" name="燕尾形箭头 16"/>
          <p:cNvSpPr/>
          <p:nvPr/>
        </p:nvSpPr>
        <p:spPr>
          <a:xfrm>
            <a:off x="2152510" y="1613847"/>
            <a:ext cx="497305" cy="398007"/>
          </a:xfrm>
          <a:prstGeom prst="notch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燕尾形箭头 17"/>
          <p:cNvSpPr/>
          <p:nvPr/>
        </p:nvSpPr>
        <p:spPr>
          <a:xfrm>
            <a:off x="2168552" y="2487854"/>
            <a:ext cx="497305" cy="398007"/>
          </a:xfrm>
          <a:prstGeom prst="notch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燕尾形箭头 18"/>
          <p:cNvSpPr/>
          <p:nvPr/>
        </p:nvSpPr>
        <p:spPr>
          <a:xfrm>
            <a:off x="2462462" y="3423585"/>
            <a:ext cx="497305" cy="398007"/>
          </a:xfrm>
          <a:prstGeom prst="notch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燕尾形箭头 19"/>
          <p:cNvSpPr/>
          <p:nvPr/>
        </p:nvSpPr>
        <p:spPr>
          <a:xfrm>
            <a:off x="2277979" y="4684707"/>
            <a:ext cx="497305" cy="398007"/>
          </a:xfrm>
          <a:prstGeom prst="notch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3705" y="784860"/>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5" name="文本框 4"/>
          <p:cNvSpPr txBox="1"/>
          <p:nvPr/>
        </p:nvSpPr>
        <p:spPr>
          <a:xfrm>
            <a:off x="540861" y="1353820"/>
            <a:ext cx="8168005" cy="1708416"/>
          </a:xfrm>
          <a:prstGeom prst="rect">
            <a:avLst/>
          </a:prstGeom>
          <a:noFill/>
        </p:spPr>
        <p:txBody>
          <a:bodyPr wrap="square" rtlCol="0" anchor="t">
            <a:spAutoFit/>
          </a:bodyPr>
          <a:lstStyle/>
          <a:p>
            <a:pPr>
              <a:lnSpc>
                <a:spcPct val="130000"/>
              </a:lnSpc>
              <a:spcBef>
                <a:spcPts val="0"/>
              </a:spcBef>
              <a:spcAft>
                <a:spcPts val="0"/>
              </a:spcAft>
              <a:buNone/>
            </a:pPr>
            <a:r>
              <a:rPr lang="zh-CN" altLang="en-US" sz="2300" dirty="0">
                <a:solidFill>
                  <a:srgbClr val="0033CC"/>
                </a:solidFill>
                <a:latin typeface="Calibri" panose="020F0502020204030204" pitchFamily="34" charset="0"/>
                <a:ea typeface="华文中宋" panose="02010600040101010101" pitchFamily="2" charset="-122"/>
                <a:cs typeface="+mj-lt"/>
              </a:rPr>
              <a:t>       </a:t>
            </a:r>
            <a:r>
              <a:rPr lang="zh-CN" altLang="en-US" sz="2000" dirty="0" smtClean="0"/>
              <a:t>用数据流图来表示系统中某一个层面的数据处理过程是很方便的，如果将一个复杂问题的全部用一副数据流图来表示就困难了。为了表达较为复杂问题的数据处理过程，用一张数据流图是不够的。要按照问题的层次结构进行逐步分解，并以一套分层的数据流图反映这种结构关系。</a:t>
            </a:r>
            <a:endParaRPr lang="zh-CN" altLang="en-US" sz="2000" dirty="0"/>
          </a:p>
        </p:txBody>
      </p:sp>
      <p:sp>
        <p:nvSpPr>
          <p:cNvPr id="6" name="文本框 5"/>
          <p:cNvSpPr txBox="1"/>
          <p:nvPr/>
        </p:nvSpPr>
        <p:spPr>
          <a:xfrm>
            <a:off x="540861" y="3101238"/>
            <a:ext cx="3277159" cy="515526"/>
          </a:xfrm>
          <a:prstGeom prst="rect">
            <a:avLst/>
          </a:prstGeom>
          <a:noFill/>
        </p:spPr>
        <p:txBody>
          <a:bodyPr wrap="square" rtlCol="0" anchor="t">
            <a:spAutoFit/>
          </a:bodyPr>
          <a:lstStyle/>
          <a:p>
            <a:pPr algn="l">
              <a:lnSpc>
                <a:spcPct val="125000"/>
              </a:lnSpc>
              <a:spcBef>
                <a:spcPts val="0"/>
              </a:spcBef>
              <a:spcAft>
                <a:spcPts val="0"/>
              </a:spcAft>
              <a:buNone/>
            </a:pPr>
            <a:r>
              <a:rPr lang="zh-CN" altLang="en-US"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a:t>
            </a:r>
            <a:r>
              <a:rPr lang="zh-CN" altLang="en-US"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smtClean="0">
                <a:solidFill>
                  <a:srgbClr val="FF0000"/>
                </a:solidFill>
                <a:latin typeface="华文中宋" panose="02010600040101010101" pitchFamily="2" charset="-122"/>
                <a:ea typeface="华文中宋" panose="02010600040101010101" pitchFamily="2" charset="-122"/>
                <a:cs typeface="华文中宋" panose="02010600040101010101" pitchFamily="2" charset="-122"/>
                <a:sym typeface="+mn-ea"/>
              </a:rPr>
              <a:t>画系统的输入输出</a:t>
            </a:r>
            <a:endParaRPr lang="zh-CN" altLang="en-US" sz="2200" dirty="0">
              <a:ln>
                <a:noFill/>
              </a:ln>
              <a:solidFill>
                <a:srgbClr val="FF0000"/>
              </a:solidFill>
              <a:effectLst/>
              <a:latin typeface="+mn-ea"/>
              <a:ea typeface="+mn-ea"/>
              <a:cs typeface="+mn-ea"/>
              <a:sym typeface="+mn-ea"/>
            </a:endParaRPr>
          </a:p>
        </p:txBody>
      </p:sp>
      <p:sp>
        <p:nvSpPr>
          <p:cNvPr id="8" name="文本框 7"/>
          <p:cNvSpPr txBox="1"/>
          <p:nvPr/>
        </p:nvSpPr>
        <p:spPr>
          <a:xfrm>
            <a:off x="680103" y="3655652"/>
            <a:ext cx="8060849" cy="1329595"/>
          </a:xfrm>
          <a:prstGeom prst="rect">
            <a:avLst/>
          </a:prstGeom>
          <a:noFill/>
          <a:ln>
            <a:solidFill>
              <a:schemeClr val="accent1">
                <a:shade val="50000"/>
              </a:schemeClr>
            </a:solidFill>
          </a:ln>
        </p:spPr>
        <p:txBody>
          <a:bodyPr wrap="square" rtlCol="0" anchor="t">
            <a:spAutoFit/>
          </a:bodyPr>
          <a:lstStyle/>
          <a:p>
            <a:pPr marL="342900" indent="-342900">
              <a:lnSpc>
                <a:spcPct val="120000"/>
              </a:lnSpc>
              <a:spcBef>
                <a:spcPts val="0"/>
              </a:spcBef>
              <a:spcAft>
                <a:spcPts val="0"/>
              </a:spcAft>
              <a:buFont typeface="Wingdings" panose="05000000000000000000" pitchFamily="2" charset="2"/>
              <a:buChar char="p"/>
            </a:pPr>
            <a:r>
              <a:rPr lang="zh-CN" altLang="en-US" sz="2300" dirty="0">
                <a:solidFill>
                  <a:srgbClr val="0033CC"/>
                </a:solidFill>
                <a:latin typeface="Calibri" panose="020F0502020204030204" pitchFamily="34" charset="0"/>
                <a:ea typeface="华文中宋" panose="02010600040101010101" pitchFamily="2" charset="-122"/>
                <a:cs typeface="+mj-lt"/>
              </a:rPr>
              <a:t> </a:t>
            </a:r>
            <a:r>
              <a:rPr lang="zh-CN" altLang="en-US" sz="2200" dirty="0">
                <a:solidFill>
                  <a:srgbClr val="0033CC"/>
                </a:solidFill>
                <a:latin typeface="楷体" panose="02010609060101010101" pitchFamily="49" charset="-122"/>
                <a:ea typeface="楷体" panose="02010609060101010101" pitchFamily="49" charset="-122"/>
                <a:cs typeface="+mj-lt"/>
              </a:rPr>
              <a:t>即顶</a:t>
            </a:r>
            <a:r>
              <a:rPr lang="zh-CN" altLang="en-US" sz="2200" dirty="0" smtClean="0">
                <a:solidFill>
                  <a:srgbClr val="0033CC"/>
                </a:solidFill>
                <a:latin typeface="楷体" panose="02010609060101010101" pitchFamily="49" charset="-122"/>
                <a:ea typeface="楷体" panose="02010609060101010101" pitchFamily="49" charset="-122"/>
                <a:cs typeface="+mj-lt"/>
              </a:rPr>
              <a:t>层数据流，把系统视为一个整体，看这个整体与外界的联系。分析有哪些内容是通过外界获取的，就是系统的输入；有哪些是要向外界提供服务的，就是系统的输出。</a:t>
            </a:r>
            <a:endParaRPr lang="zh-CN" altLang="en-US" sz="2200" dirty="0">
              <a:latin typeface="楷体" panose="02010609060101010101" pitchFamily="49" charset="-122"/>
              <a:ea typeface="楷体" panose="02010609060101010101" pitchFamily="49" charset="-122"/>
            </a:endParaRPr>
          </a:p>
        </p:txBody>
      </p:sp>
      <p:sp>
        <p:nvSpPr>
          <p:cNvPr id="9" name="文本框 8"/>
          <p:cNvSpPr txBox="1"/>
          <p:nvPr/>
        </p:nvSpPr>
        <p:spPr>
          <a:xfrm>
            <a:off x="433705" y="4931322"/>
            <a:ext cx="3277159" cy="515526"/>
          </a:xfrm>
          <a:prstGeom prst="rect">
            <a:avLst/>
          </a:prstGeom>
          <a:noFill/>
        </p:spPr>
        <p:txBody>
          <a:bodyPr wrap="square" rtlCol="0" anchor="t">
            <a:spAutoFit/>
          </a:bodyPr>
          <a:lstStyle/>
          <a:p>
            <a:pPr algn="l">
              <a:lnSpc>
                <a:spcPct val="125000"/>
              </a:lnSpc>
              <a:spcBef>
                <a:spcPts val="0"/>
              </a:spcBef>
              <a:spcAft>
                <a:spcPts val="0"/>
              </a:spcAft>
              <a:buNone/>
            </a:pPr>
            <a:r>
              <a:rPr lang="zh-CN" altLang="en-US"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2</a:t>
            </a:r>
            <a:r>
              <a:rPr lang="zh-CN" altLang="en-US"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smtClean="0">
                <a:solidFill>
                  <a:srgbClr val="FF0000"/>
                </a:solidFill>
                <a:latin typeface="华文中宋" panose="02010600040101010101" pitchFamily="2" charset="-122"/>
                <a:ea typeface="华文中宋" panose="02010600040101010101" pitchFamily="2" charset="-122"/>
                <a:cs typeface="华文中宋" panose="02010600040101010101" pitchFamily="2" charset="-122"/>
                <a:sym typeface="+mn-ea"/>
              </a:rPr>
              <a:t>画系统内部</a:t>
            </a:r>
            <a:endParaRPr lang="zh-CN" altLang="en-US" sz="2200" dirty="0">
              <a:ln>
                <a:noFill/>
              </a:ln>
              <a:solidFill>
                <a:srgbClr val="FF0000"/>
              </a:solidFill>
              <a:effectLst/>
              <a:latin typeface="+mn-ea"/>
              <a:ea typeface="+mn-ea"/>
              <a:cs typeface="+mn-ea"/>
              <a:sym typeface="+mn-ea"/>
            </a:endParaRPr>
          </a:p>
        </p:txBody>
      </p:sp>
      <p:sp>
        <p:nvSpPr>
          <p:cNvPr id="10" name="文本框 9"/>
          <p:cNvSpPr txBox="1"/>
          <p:nvPr/>
        </p:nvSpPr>
        <p:spPr>
          <a:xfrm>
            <a:off x="680103" y="5485736"/>
            <a:ext cx="8223265" cy="517065"/>
          </a:xfrm>
          <a:prstGeom prst="rect">
            <a:avLst/>
          </a:prstGeom>
          <a:noFill/>
          <a:ln>
            <a:solidFill>
              <a:schemeClr val="accent1">
                <a:shade val="50000"/>
              </a:schemeClr>
            </a:solidFill>
          </a:ln>
        </p:spPr>
        <p:txBody>
          <a:bodyPr wrap="square" rtlCol="0" anchor="t">
            <a:spAutoFit/>
          </a:bodyPr>
          <a:lstStyle/>
          <a:p>
            <a:pPr marL="342900" indent="-342900">
              <a:lnSpc>
                <a:spcPct val="120000"/>
              </a:lnSpc>
              <a:spcBef>
                <a:spcPts val="0"/>
              </a:spcBef>
              <a:spcAft>
                <a:spcPts val="0"/>
              </a:spcAft>
              <a:buFont typeface="Wingdings" panose="05000000000000000000" pitchFamily="2" charset="2"/>
              <a:buChar char="p"/>
            </a:pPr>
            <a:r>
              <a:rPr lang="zh-CN" altLang="en-US" sz="2300" dirty="0">
                <a:solidFill>
                  <a:srgbClr val="0033CC"/>
                </a:solidFill>
                <a:latin typeface="Calibri" panose="020F0502020204030204" pitchFamily="34" charset="0"/>
                <a:ea typeface="华文中宋" panose="02010600040101010101" pitchFamily="2" charset="-122"/>
                <a:cs typeface="+mj-lt"/>
              </a:rPr>
              <a:t> </a:t>
            </a:r>
            <a:r>
              <a:rPr lang="zh-CN" altLang="en-US" sz="2300" dirty="0" smtClean="0">
                <a:solidFill>
                  <a:srgbClr val="0033CC"/>
                </a:solidFill>
                <a:latin typeface="楷体" panose="02010609060101010101" pitchFamily="49" charset="-122"/>
                <a:ea typeface="楷体" panose="02010609060101010101" pitchFamily="49" charset="-122"/>
                <a:cs typeface="+mj-lt"/>
              </a:rPr>
              <a:t>将层号从</a:t>
            </a:r>
            <a:r>
              <a:rPr lang="en-US" altLang="zh-CN" sz="2300" dirty="0" smtClean="0">
                <a:solidFill>
                  <a:srgbClr val="0033CC"/>
                </a:solidFill>
                <a:latin typeface="楷体" panose="02010609060101010101" pitchFamily="49" charset="-122"/>
                <a:ea typeface="楷体" panose="02010609060101010101" pitchFamily="49" charset="-122"/>
                <a:cs typeface="+mj-lt"/>
              </a:rPr>
              <a:t>0</a:t>
            </a:r>
            <a:r>
              <a:rPr lang="zh-CN" altLang="en-US" sz="2300" dirty="0" smtClean="0">
                <a:solidFill>
                  <a:srgbClr val="0033CC"/>
                </a:solidFill>
                <a:latin typeface="楷体" panose="02010609060101010101" pitchFamily="49" charset="-122"/>
                <a:ea typeface="楷体" panose="02010609060101010101" pitchFamily="49" charset="-122"/>
                <a:cs typeface="+mj-lt"/>
              </a:rPr>
              <a:t>开始编号，自顶向下，由外向内画下层数据流图</a:t>
            </a:r>
            <a:r>
              <a:rPr lang="zh-CN" altLang="en-US" sz="2200" dirty="0" smtClean="0">
                <a:solidFill>
                  <a:srgbClr val="0033CC"/>
                </a:solidFill>
                <a:latin typeface="楷体" panose="02010609060101010101" pitchFamily="49" charset="-122"/>
                <a:ea typeface="楷体" panose="02010609060101010101" pitchFamily="49" charset="-122"/>
                <a:cs typeface="+mj-lt"/>
              </a:rPr>
              <a:t>。</a:t>
            </a:r>
            <a:endParaRPr lang="zh-CN" altLang="en-US" sz="22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3705" y="784860"/>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4" name="文本框 3"/>
          <p:cNvSpPr txBox="1"/>
          <p:nvPr/>
        </p:nvSpPr>
        <p:spPr>
          <a:xfrm>
            <a:off x="417663" y="1289652"/>
            <a:ext cx="4876232" cy="515526"/>
          </a:xfrm>
          <a:prstGeom prst="rect">
            <a:avLst/>
          </a:prstGeom>
          <a:noFill/>
        </p:spPr>
        <p:txBody>
          <a:bodyPr wrap="square" rtlCol="0" anchor="t">
            <a:spAutoFit/>
          </a:bodyPr>
          <a:lstStyle/>
          <a:p>
            <a:pPr algn="l">
              <a:lnSpc>
                <a:spcPct val="125000"/>
              </a:lnSpc>
              <a:spcBef>
                <a:spcPts val="0"/>
              </a:spcBef>
              <a:spcAft>
                <a:spcPts val="0"/>
              </a:spcAft>
              <a:buNone/>
            </a:pPr>
            <a:r>
              <a:rPr lang="zh-CN" altLang="en-US"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3</a:t>
            </a:r>
            <a:r>
              <a:rPr lang="zh-CN" altLang="en-US" sz="22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smtClean="0">
                <a:solidFill>
                  <a:srgbClr val="FF0000"/>
                </a:solidFill>
                <a:latin typeface="华文中宋" panose="02010600040101010101" pitchFamily="2" charset="-122"/>
                <a:ea typeface="华文中宋" panose="02010600040101010101" pitchFamily="2" charset="-122"/>
                <a:cs typeface="华文中宋" panose="02010600040101010101" pitchFamily="2" charset="-122"/>
                <a:sym typeface="+mn-ea"/>
              </a:rPr>
              <a:t>画数据流图的注意事项</a:t>
            </a:r>
            <a:endParaRPr lang="zh-CN" altLang="en-US" sz="2200" dirty="0">
              <a:ln>
                <a:noFill/>
              </a:ln>
              <a:solidFill>
                <a:srgbClr val="FF0000"/>
              </a:solidFill>
              <a:effectLst/>
              <a:latin typeface="+mn-ea"/>
              <a:ea typeface="+mn-ea"/>
              <a:cs typeface="+mn-ea"/>
              <a:sym typeface="+mn-ea"/>
            </a:endParaRPr>
          </a:p>
        </p:txBody>
      </p:sp>
      <p:sp>
        <p:nvSpPr>
          <p:cNvPr id="6" name="文本框 5"/>
          <p:cNvSpPr txBox="1"/>
          <p:nvPr/>
        </p:nvSpPr>
        <p:spPr>
          <a:xfrm>
            <a:off x="513915" y="1778255"/>
            <a:ext cx="8168005" cy="904863"/>
          </a:xfrm>
          <a:prstGeom prst="rect">
            <a:avLst/>
          </a:prstGeom>
          <a:noFill/>
        </p:spPr>
        <p:txBody>
          <a:bodyPr wrap="square" rtlCol="0" anchor="t">
            <a:spAutoFit/>
          </a:bodyPr>
          <a:lstStyle/>
          <a:p>
            <a:pPr>
              <a:lnSpc>
                <a:spcPct val="130000"/>
              </a:lnSpc>
              <a:spcBef>
                <a:spcPts val="0"/>
              </a:spcBef>
              <a:spcAft>
                <a:spcPts val="0"/>
              </a:spcAft>
              <a:buNone/>
            </a:pPr>
            <a:r>
              <a:rPr lang="zh-CN" altLang="en-US" sz="2300" dirty="0" smtClean="0">
                <a:latin typeface="宋体" panose="02010600030101010101" pitchFamily="2" charset="-122"/>
                <a:cs typeface="+mj-lt"/>
              </a:rPr>
              <a:t>   </a:t>
            </a:r>
            <a:r>
              <a:rPr lang="zh-CN" altLang="en-US" sz="2100" dirty="0" smtClean="0">
                <a:latin typeface="宋体" panose="02010600030101010101" pitchFamily="2" charset="-122"/>
                <a:cs typeface="+mj-lt"/>
              </a:rPr>
              <a:t>在软件的系统分析之前，系统技术负责人要制定一个系统的标准。其内容之一就是画数据流图的规范。画数据流图要注意以下几点：</a:t>
            </a:r>
            <a:endParaRPr lang="zh-CN" altLang="en-US" sz="2100" dirty="0">
              <a:latin typeface="宋体" panose="02010600030101010101" pitchFamily="2" charset="-122"/>
            </a:endParaRPr>
          </a:p>
        </p:txBody>
      </p:sp>
      <p:sp>
        <p:nvSpPr>
          <p:cNvPr id="7" name="文本框 6"/>
          <p:cNvSpPr txBox="1"/>
          <p:nvPr/>
        </p:nvSpPr>
        <p:spPr>
          <a:xfrm>
            <a:off x="621070" y="2839312"/>
            <a:ext cx="8060849" cy="823431"/>
          </a:xfrm>
          <a:prstGeom prst="rect">
            <a:avLst/>
          </a:prstGeom>
          <a:noFill/>
          <a:ln>
            <a:solidFill>
              <a:schemeClr val="accent1">
                <a:shade val="50000"/>
              </a:schemeClr>
            </a:solidFill>
          </a:ln>
        </p:spPr>
        <p:txBody>
          <a:bodyPr wrap="square" rtlCol="0" anchor="t">
            <a:spAutoFit/>
          </a:bodyPr>
          <a:lstStyle/>
          <a:p>
            <a:pPr>
              <a:lnSpc>
                <a:spcPct val="110000"/>
              </a:lnSpc>
              <a:spcBef>
                <a:spcPts val="0"/>
              </a:spcBef>
              <a:spcAft>
                <a:spcPts val="0"/>
              </a:spcAft>
              <a:buNone/>
            </a:pPr>
            <a:r>
              <a:rPr lang="zh-CN" altLang="en-US" sz="2300" dirty="0" smtClean="0">
                <a:solidFill>
                  <a:srgbClr val="0033CC"/>
                </a:solidFill>
                <a:latin typeface="Calibri" panose="020F0502020204030204" pitchFamily="34" charset="0"/>
                <a:ea typeface="华文中宋" panose="02010600040101010101" pitchFamily="2" charset="-122"/>
                <a:cs typeface="+mj-lt"/>
              </a:rPr>
              <a:t>（</a:t>
            </a:r>
            <a:r>
              <a:rPr lang="en-US" altLang="zh-CN" sz="2300" dirty="0" smtClean="0">
                <a:solidFill>
                  <a:srgbClr val="0033CC"/>
                </a:solidFill>
                <a:latin typeface="Calibri" panose="020F0502020204030204" pitchFamily="34" charset="0"/>
                <a:ea typeface="华文中宋" panose="02010600040101010101" pitchFamily="2" charset="-122"/>
                <a:cs typeface="+mj-lt"/>
              </a:rPr>
              <a:t>1</a:t>
            </a:r>
            <a:r>
              <a:rPr lang="zh-CN" altLang="en-US" sz="2300" dirty="0" smtClean="0">
                <a:solidFill>
                  <a:srgbClr val="0033CC"/>
                </a:solidFill>
                <a:latin typeface="Calibri" panose="020F0502020204030204" pitchFamily="34" charset="0"/>
                <a:ea typeface="华文中宋" panose="02010600040101010101" pitchFamily="2" charset="-122"/>
                <a:cs typeface="+mj-lt"/>
              </a:rPr>
              <a:t>）命名：</a:t>
            </a:r>
            <a:r>
              <a:rPr lang="zh-CN" altLang="en-US" sz="2300" dirty="0" smtClean="0">
                <a:latin typeface="楷体" panose="02010609060101010101" pitchFamily="49" charset="-122"/>
                <a:ea typeface="楷体" panose="02010609060101010101" pitchFamily="49" charset="-122"/>
                <a:cs typeface="+mj-lt"/>
              </a:rPr>
              <a:t>在画数据流图中，不论数据流、数据存储还是加工的命名要合适，要易于理解其含义。</a:t>
            </a:r>
            <a:endParaRPr lang="zh-CN" altLang="en-US" sz="2200" dirty="0">
              <a:latin typeface="楷体" panose="02010609060101010101" pitchFamily="49" charset="-122"/>
              <a:ea typeface="楷体" panose="02010609060101010101" pitchFamily="49" charset="-122"/>
            </a:endParaRPr>
          </a:p>
        </p:txBody>
      </p:sp>
      <p:sp>
        <p:nvSpPr>
          <p:cNvPr id="10" name="文本框 9"/>
          <p:cNvSpPr txBox="1"/>
          <p:nvPr/>
        </p:nvSpPr>
        <p:spPr>
          <a:xfrm>
            <a:off x="621069" y="3783278"/>
            <a:ext cx="8060849" cy="823431"/>
          </a:xfrm>
          <a:prstGeom prst="rect">
            <a:avLst/>
          </a:prstGeom>
          <a:noFill/>
          <a:ln>
            <a:solidFill>
              <a:schemeClr val="accent1">
                <a:shade val="50000"/>
              </a:schemeClr>
            </a:solidFill>
          </a:ln>
        </p:spPr>
        <p:txBody>
          <a:bodyPr wrap="square" rtlCol="0" anchor="t">
            <a:spAutoFit/>
          </a:bodyPr>
          <a:lstStyle/>
          <a:p>
            <a:pPr>
              <a:lnSpc>
                <a:spcPct val="110000"/>
              </a:lnSpc>
              <a:spcBef>
                <a:spcPts val="0"/>
              </a:spcBef>
              <a:spcAft>
                <a:spcPts val="0"/>
              </a:spcAft>
              <a:buNone/>
            </a:pPr>
            <a:r>
              <a:rPr lang="zh-CN" altLang="en-US" sz="2300" dirty="0" smtClean="0">
                <a:solidFill>
                  <a:srgbClr val="0033CC"/>
                </a:solidFill>
                <a:latin typeface="Calibri" panose="020F0502020204030204" pitchFamily="34" charset="0"/>
                <a:ea typeface="华文中宋" panose="02010600040101010101" pitchFamily="2" charset="-122"/>
                <a:cs typeface="+mj-lt"/>
              </a:rPr>
              <a:t>（</a:t>
            </a:r>
            <a:r>
              <a:rPr lang="en-US" altLang="zh-CN" sz="2300" dirty="0" smtClean="0">
                <a:solidFill>
                  <a:srgbClr val="0033CC"/>
                </a:solidFill>
                <a:latin typeface="Calibri" panose="020F0502020204030204" pitchFamily="34" charset="0"/>
                <a:ea typeface="华文中宋" panose="02010600040101010101" pitchFamily="2" charset="-122"/>
                <a:cs typeface="+mj-lt"/>
              </a:rPr>
              <a:t>2</a:t>
            </a:r>
            <a:r>
              <a:rPr lang="zh-CN" altLang="en-US" sz="2300" dirty="0" smtClean="0">
                <a:solidFill>
                  <a:srgbClr val="0033CC"/>
                </a:solidFill>
                <a:latin typeface="Calibri" panose="020F0502020204030204" pitchFamily="34" charset="0"/>
                <a:ea typeface="华文中宋" panose="02010600040101010101" pitchFamily="2" charset="-122"/>
                <a:cs typeface="+mj-lt"/>
              </a:rPr>
              <a:t>）每个加工至少由一个输入数据流和一个输出数据流，</a:t>
            </a:r>
            <a:r>
              <a:rPr lang="zh-CN" altLang="en-US" sz="2300" dirty="0">
                <a:latin typeface="楷体" panose="02010609060101010101" pitchFamily="49" charset="-122"/>
                <a:ea typeface="楷体" panose="02010609060101010101" pitchFamily="49" charset="-122"/>
                <a:cs typeface="+mj-lt"/>
              </a:rPr>
              <a:t>反映出此加工数据的来源与加工的结果。</a:t>
            </a:r>
            <a:endParaRPr lang="zh-CN" altLang="en-US" sz="2300" dirty="0">
              <a:latin typeface="楷体" panose="02010609060101010101" pitchFamily="49" charset="-122"/>
              <a:ea typeface="楷体" panose="02010609060101010101" pitchFamily="49" charset="-122"/>
              <a:cs typeface="+mj-lt"/>
            </a:endParaRPr>
          </a:p>
        </p:txBody>
      </p:sp>
      <p:sp>
        <p:nvSpPr>
          <p:cNvPr id="11" name="文本框 10"/>
          <p:cNvSpPr txBox="1"/>
          <p:nvPr/>
        </p:nvSpPr>
        <p:spPr>
          <a:xfrm>
            <a:off x="621069" y="4727244"/>
            <a:ext cx="8060849" cy="1212768"/>
          </a:xfrm>
          <a:prstGeom prst="rect">
            <a:avLst/>
          </a:prstGeom>
          <a:noFill/>
          <a:ln>
            <a:solidFill>
              <a:schemeClr val="accent1">
                <a:shade val="50000"/>
              </a:schemeClr>
            </a:solidFill>
          </a:ln>
        </p:spPr>
        <p:txBody>
          <a:bodyPr wrap="square" rtlCol="0" anchor="t">
            <a:spAutoFit/>
          </a:bodyPr>
          <a:lstStyle/>
          <a:p>
            <a:pPr>
              <a:lnSpc>
                <a:spcPct val="110000"/>
              </a:lnSpc>
              <a:spcBef>
                <a:spcPts val="0"/>
              </a:spcBef>
              <a:spcAft>
                <a:spcPts val="0"/>
              </a:spcAft>
              <a:buNone/>
            </a:pPr>
            <a:r>
              <a:rPr lang="zh-CN" altLang="en-US" sz="2300" dirty="0" smtClean="0">
                <a:solidFill>
                  <a:srgbClr val="0033CC"/>
                </a:solidFill>
                <a:latin typeface="Calibri" panose="020F0502020204030204" pitchFamily="34" charset="0"/>
                <a:ea typeface="华文中宋" panose="02010600040101010101" pitchFamily="2" charset="-122"/>
                <a:cs typeface="+mj-lt"/>
              </a:rPr>
              <a:t>（</a:t>
            </a:r>
            <a:r>
              <a:rPr lang="en-US" altLang="zh-CN" sz="2300" dirty="0" smtClean="0">
                <a:solidFill>
                  <a:srgbClr val="0033CC"/>
                </a:solidFill>
                <a:latin typeface="Calibri" panose="020F0502020204030204" pitchFamily="34" charset="0"/>
                <a:ea typeface="华文中宋" panose="02010600040101010101" pitchFamily="2" charset="-122"/>
                <a:cs typeface="+mj-lt"/>
              </a:rPr>
              <a:t>3</a:t>
            </a:r>
            <a:r>
              <a:rPr lang="zh-CN" altLang="en-US" sz="2300" dirty="0" smtClean="0">
                <a:solidFill>
                  <a:srgbClr val="0033CC"/>
                </a:solidFill>
                <a:latin typeface="Calibri" panose="020F0502020204030204" pitchFamily="34" charset="0"/>
                <a:ea typeface="华文中宋" panose="02010600040101010101" pitchFamily="2" charset="-122"/>
                <a:cs typeface="+mj-lt"/>
              </a:rPr>
              <a:t>）加工点编号：</a:t>
            </a:r>
            <a:r>
              <a:rPr lang="zh-CN" altLang="en-US" sz="2300" dirty="0" smtClean="0">
                <a:latin typeface="楷体" panose="02010609060101010101" pitchFamily="49" charset="-122"/>
                <a:ea typeface="楷体" panose="02010609060101010101" pitchFamily="49" charset="-122"/>
                <a:cs typeface="+mj-lt"/>
              </a:rPr>
              <a:t>如果一张数据流图中的某个加工点要分解成另一张数据流图时，则上层图为父图，直接下层图为子图，父、子图上的所有加工都应由编号。</a:t>
            </a:r>
            <a:endParaRPr lang="zh-CN" altLang="en-US" sz="2300" dirty="0">
              <a:latin typeface="楷体" panose="02010609060101010101" pitchFamily="49" charset="-122"/>
              <a:ea typeface="楷体" panose="02010609060101010101" pitchFamily="49" charset="-122"/>
              <a:cs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21995" y="1330325"/>
            <a:ext cx="7933055" cy="1891665"/>
          </a:xfrm>
          <a:prstGeom prst="rect">
            <a:avLst/>
          </a:prstGeom>
          <a:noFill/>
        </p:spPr>
        <p:txBody>
          <a:bodyPr wrap="square" rtlCol="0" anchor="t">
            <a:spAutoFit/>
          </a:bodyPr>
          <a:lstStyle/>
          <a:p>
            <a:pPr>
              <a:lnSpc>
                <a:spcPct val="125000"/>
              </a:lnSpc>
              <a:spcBef>
                <a:spcPts val="0"/>
              </a:spcBef>
              <a:spcAft>
                <a:spcPts val="0"/>
              </a:spcAft>
              <a:buNone/>
            </a:pPr>
            <a:r>
              <a:rPr lang="zh-CN" altLang="en-US" sz="2000">
                <a:solidFill>
                  <a:srgbClr val="0033CC"/>
                </a:solidFill>
              </a:rPr>
              <a:t>系统功能要求：</a:t>
            </a:r>
            <a:endParaRPr lang="zh-CN" altLang="en-US" sz="2000">
              <a:solidFill>
                <a:srgbClr val="0033CC"/>
              </a:solidFill>
            </a:endParaRPr>
          </a:p>
          <a:p>
            <a:pPr>
              <a:lnSpc>
                <a:spcPct val="115000"/>
              </a:lnSpc>
              <a:spcBef>
                <a:spcPts val="0"/>
              </a:spcBef>
              <a:spcAft>
                <a:spcPts val="0"/>
              </a:spcAft>
              <a:buNone/>
            </a:pPr>
            <a:r>
              <a:rPr lang="en-US" altLang="zh-CN" sz="2000">
                <a:solidFill>
                  <a:srgbClr val="0033CC"/>
                </a:solidFill>
              </a:rPr>
              <a:t>1</a:t>
            </a:r>
            <a:r>
              <a:rPr lang="zh-CN" altLang="en-US" sz="2000">
                <a:solidFill>
                  <a:srgbClr val="0033CC"/>
                </a:solidFill>
              </a:rPr>
              <a:t>、监视病员的病症（血压、体温、脉搏等）</a:t>
            </a:r>
            <a:endParaRPr lang="zh-CN" altLang="en-US" sz="2000">
              <a:solidFill>
                <a:srgbClr val="0033CC"/>
              </a:solidFill>
            </a:endParaRPr>
          </a:p>
          <a:p>
            <a:pPr>
              <a:lnSpc>
                <a:spcPct val="115000"/>
              </a:lnSpc>
              <a:spcBef>
                <a:spcPts val="0"/>
              </a:spcBef>
              <a:spcAft>
                <a:spcPts val="0"/>
              </a:spcAft>
              <a:buNone/>
            </a:pPr>
            <a:r>
              <a:rPr lang="en-US" altLang="zh-CN" sz="2000">
                <a:solidFill>
                  <a:srgbClr val="0033CC"/>
                </a:solidFill>
              </a:rPr>
              <a:t>2</a:t>
            </a:r>
            <a:r>
              <a:rPr lang="zh-CN" altLang="en-US" sz="2000">
                <a:solidFill>
                  <a:srgbClr val="0033CC"/>
                </a:solidFill>
              </a:rPr>
              <a:t>、定时更新病例</a:t>
            </a:r>
            <a:endParaRPr lang="zh-CN" altLang="en-US" sz="2000">
              <a:solidFill>
                <a:srgbClr val="0033CC"/>
              </a:solidFill>
            </a:endParaRPr>
          </a:p>
          <a:p>
            <a:pPr>
              <a:lnSpc>
                <a:spcPct val="115000"/>
              </a:lnSpc>
              <a:spcBef>
                <a:spcPts val="0"/>
              </a:spcBef>
              <a:spcAft>
                <a:spcPts val="0"/>
              </a:spcAft>
              <a:buNone/>
            </a:pPr>
            <a:r>
              <a:rPr lang="en-US" altLang="zh-CN" sz="2000">
                <a:solidFill>
                  <a:srgbClr val="0033CC"/>
                </a:solidFill>
              </a:rPr>
              <a:t>3</a:t>
            </a:r>
            <a:r>
              <a:rPr lang="zh-CN" altLang="en-US" sz="2000">
                <a:solidFill>
                  <a:srgbClr val="0033CC"/>
                </a:solidFill>
              </a:rPr>
              <a:t>、病员出现异常情况时报警。</a:t>
            </a:r>
            <a:endParaRPr lang="zh-CN" altLang="en-US" sz="2000">
              <a:solidFill>
                <a:srgbClr val="0033CC"/>
              </a:solidFill>
            </a:endParaRPr>
          </a:p>
          <a:p>
            <a:pPr>
              <a:lnSpc>
                <a:spcPct val="115000"/>
              </a:lnSpc>
              <a:spcBef>
                <a:spcPts val="0"/>
              </a:spcBef>
              <a:spcAft>
                <a:spcPts val="0"/>
              </a:spcAft>
              <a:buNone/>
            </a:pPr>
            <a:r>
              <a:rPr lang="en-US" altLang="zh-CN" sz="2000">
                <a:solidFill>
                  <a:srgbClr val="0033CC"/>
                </a:solidFill>
              </a:rPr>
              <a:t>4</a:t>
            </a:r>
            <a:r>
              <a:rPr lang="zh-CN" altLang="en-US" sz="2000">
                <a:solidFill>
                  <a:srgbClr val="0033CC"/>
                </a:solidFill>
              </a:rPr>
              <a:t>、护士可以</a:t>
            </a:r>
            <a:r>
              <a:rPr lang="zh-CN" altLang="en-US" sz="2000">
                <a:solidFill>
                  <a:srgbClr val="0033CC"/>
                </a:solidFill>
              </a:rPr>
              <a:t>随时产生某一病员的病情报告。</a:t>
            </a:r>
            <a:endParaRPr lang="zh-CN" altLang="en-US" sz="2000">
              <a:solidFill>
                <a:srgbClr val="0033CC"/>
              </a:solidFill>
            </a:endParaRPr>
          </a:p>
        </p:txBody>
      </p:sp>
      <p:sp>
        <p:nvSpPr>
          <p:cNvPr id="4" name="文本框 3"/>
          <p:cNvSpPr txBox="1"/>
          <p:nvPr/>
        </p:nvSpPr>
        <p:spPr>
          <a:xfrm>
            <a:off x="541020" y="775335"/>
            <a:ext cx="4229735" cy="589280"/>
          </a:xfrm>
          <a:prstGeom prst="rect">
            <a:avLst/>
          </a:prstGeom>
          <a:noFill/>
        </p:spPr>
        <p:txBody>
          <a:bodyPr wrap="none" rtlCol="0" anchor="t">
            <a:spAutoFit/>
          </a:bodyPr>
          <a:lstStyle/>
          <a:p>
            <a:pPr>
              <a:buFont typeface="Wingdings" panose="05000000000000000000" charset="0"/>
              <a:buChar char="p"/>
            </a:pPr>
            <a:r>
              <a:rPr lang="en-US" altLang="zh-CN" sz="20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 </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病员监护系统</a:t>
            </a:r>
            <a:r>
              <a:rPr lang="en-US" altLang="zh-CN"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DFD</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设计实例</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grpSp>
        <p:nvGrpSpPr>
          <p:cNvPr id="26" name="组合 25"/>
          <p:cNvGrpSpPr/>
          <p:nvPr/>
        </p:nvGrpSpPr>
        <p:grpSpPr>
          <a:xfrm>
            <a:off x="876300" y="3213735"/>
            <a:ext cx="7557215" cy="2674620"/>
            <a:chOff x="1380" y="5061"/>
            <a:chExt cx="10571" cy="4212"/>
          </a:xfrm>
        </p:grpSpPr>
        <p:sp>
          <p:nvSpPr>
            <p:cNvPr id="11" name="矩形 10"/>
            <p:cNvSpPr/>
            <p:nvPr/>
          </p:nvSpPr>
          <p:spPr>
            <a:xfrm>
              <a:off x="1380" y="5668"/>
              <a:ext cx="1514"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病员</a:t>
              </a:r>
              <a:endParaRPr lang="zh-CN" altLang="en-US">
                <a:solidFill>
                  <a:srgbClr val="C00000"/>
                </a:solidFill>
              </a:endParaRPr>
            </a:p>
          </p:txBody>
        </p:sp>
        <p:sp>
          <p:nvSpPr>
            <p:cNvPr id="5" name="矩形 4"/>
            <p:cNvSpPr/>
            <p:nvPr/>
          </p:nvSpPr>
          <p:spPr>
            <a:xfrm>
              <a:off x="1380" y="7858"/>
              <a:ext cx="1514"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护士</a:t>
              </a:r>
              <a:endParaRPr lang="zh-CN" altLang="en-US">
                <a:solidFill>
                  <a:srgbClr val="C00000"/>
                </a:solidFill>
              </a:endParaRPr>
            </a:p>
          </p:txBody>
        </p:sp>
        <p:sp>
          <p:nvSpPr>
            <p:cNvPr id="6" name="椭圆 5"/>
            <p:cNvSpPr/>
            <p:nvPr/>
          </p:nvSpPr>
          <p:spPr>
            <a:xfrm>
              <a:off x="4985" y="6469"/>
              <a:ext cx="1927" cy="16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zh-CN" altLang="en-US" sz="2000">
                  <a:solidFill>
                    <a:srgbClr val="C00000"/>
                  </a:solidFill>
                </a:rPr>
                <a:t>病员监护系统</a:t>
              </a:r>
              <a:endParaRPr lang="zh-CN" altLang="en-US" sz="2000">
                <a:solidFill>
                  <a:srgbClr val="C00000"/>
                </a:solidFill>
              </a:endParaRPr>
            </a:p>
          </p:txBody>
        </p:sp>
        <p:cxnSp>
          <p:nvCxnSpPr>
            <p:cNvPr id="7" name="直接箭头连接符 6"/>
            <p:cNvCxnSpPr>
              <a:stCxn id="11" idx="3"/>
              <a:endCxn id="6" idx="2"/>
            </p:cNvCxnSpPr>
            <p:nvPr/>
          </p:nvCxnSpPr>
          <p:spPr>
            <a:xfrm>
              <a:off x="2894" y="6069"/>
              <a:ext cx="2091" cy="1222"/>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 idx="3"/>
              <a:endCxn id="6" idx="2"/>
            </p:cNvCxnSpPr>
            <p:nvPr/>
          </p:nvCxnSpPr>
          <p:spPr>
            <a:xfrm flipV="1">
              <a:off x="2894" y="7291"/>
              <a:ext cx="2091" cy="96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114" y="8472"/>
              <a:ext cx="438"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6557" y="8467"/>
              <a:ext cx="16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557" y="9273"/>
              <a:ext cx="16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557" y="8442"/>
              <a:ext cx="1821" cy="732"/>
            </a:xfrm>
            <a:prstGeom prst="rect">
              <a:avLst/>
            </a:prstGeom>
            <a:noFill/>
          </p:spPr>
          <p:txBody>
            <a:bodyPr wrap="square" rtlCol="0" anchor="t">
              <a:spAutoFit/>
            </a:bodyPr>
            <a:lstStyle/>
            <a:p>
              <a:pPr>
                <a:buNone/>
              </a:pPr>
              <a:r>
                <a:rPr lang="zh-CN" altLang="en-US">
                  <a:solidFill>
                    <a:srgbClr val="C00000"/>
                  </a:solidFill>
                </a:rPr>
                <a:t>病员日志</a:t>
              </a:r>
              <a:endParaRPr lang="zh-CN" altLang="en-US">
                <a:solidFill>
                  <a:srgbClr val="C00000"/>
                </a:solidFill>
              </a:endParaRPr>
            </a:p>
          </p:txBody>
        </p:sp>
        <p:sp>
          <p:nvSpPr>
            <p:cNvPr id="16" name="矩形 15"/>
            <p:cNvSpPr/>
            <p:nvPr/>
          </p:nvSpPr>
          <p:spPr>
            <a:xfrm>
              <a:off x="9827" y="6931"/>
              <a:ext cx="1514"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护士</a:t>
              </a:r>
              <a:endParaRPr lang="zh-CN" altLang="en-US">
                <a:solidFill>
                  <a:srgbClr val="C00000"/>
                </a:solidFill>
              </a:endParaRPr>
            </a:p>
          </p:txBody>
        </p:sp>
        <p:sp>
          <p:nvSpPr>
            <p:cNvPr id="17" name="文本框 16"/>
            <p:cNvSpPr txBox="1"/>
            <p:nvPr/>
          </p:nvSpPr>
          <p:spPr>
            <a:xfrm rot="1740000">
              <a:off x="3377" y="6063"/>
              <a:ext cx="1821" cy="732"/>
            </a:xfrm>
            <a:prstGeom prst="rect">
              <a:avLst/>
            </a:prstGeom>
            <a:noFill/>
          </p:spPr>
          <p:txBody>
            <a:bodyPr wrap="square" rtlCol="0" anchor="t">
              <a:spAutoFit/>
            </a:bodyPr>
            <a:lstStyle/>
            <a:p>
              <a:pPr>
                <a:buNone/>
              </a:pPr>
              <a:r>
                <a:rPr lang="zh-CN" altLang="en-US">
                  <a:solidFill>
                    <a:srgbClr val="0033CC"/>
                  </a:solidFill>
                </a:rPr>
                <a:t>病症信号</a:t>
              </a:r>
              <a:endParaRPr lang="zh-CN" altLang="en-US">
                <a:solidFill>
                  <a:srgbClr val="0033CC"/>
                </a:solidFill>
              </a:endParaRPr>
            </a:p>
          </p:txBody>
        </p:sp>
        <p:sp>
          <p:nvSpPr>
            <p:cNvPr id="18" name="文本框 17"/>
            <p:cNvSpPr txBox="1"/>
            <p:nvPr/>
          </p:nvSpPr>
          <p:spPr>
            <a:xfrm rot="19800000">
              <a:off x="3174" y="7565"/>
              <a:ext cx="1821" cy="732"/>
            </a:xfrm>
            <a:prstGeom prst="rect">
              <a:avLst/>
            </a:prstGeom>
            <a:noFill/>
          </p:spPr>
          <p:txBody>
            <a:bodyPr wrap="square" rtlCol="0" anchor="t">
              <a:spAutoFit/>
            </a:bodyPr>
            <a:lstStyle/>
            <a:p>
              <a:pPr>
                <a:buNone/>
              </a:pPr>
              <a:r>
                <a:rPr lang="zh-CN" altLang="en-US">
                  <a:solidFill>
                    <a:srgbClr val="0033CC"/>
                  </a:solidFill>
                  <a:sym typeface="+mn-ea"/>
                </a:rPr>
                <a:t>要求报告</a:t>
              </a:r>
              <a:endParaRPr lang="zh-CN" altLang="en-US">
                <a:solidFill>
                  <a:srgbClr val="0033CC"/>
                </a:solidFill>
                <a:sym typeface="+mn-ea"/>
              </a:endParaRPr>
            </a:p>
          </p:txBody>
        </p:sp>
        <p:cxnSp>
          <p:nvCxnSpPr>
            <p:cNvPr id="19" name="直接箭头连接符 18"/>
            <p:cNvCxnSpPr/>
            <p:nvPr/>
          </p:nvCxnSpPr>
          <p:spPr>
            <a:xfrm>
              <a:off x="6913" y="7163"/>
              <a:ext cx="2915" cy="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6879" y="7428"/>
              <a:ext cx="2948" cy="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7876" y="7278"/>
              <a:ext cx="1062" cy="732"/>
            </a:xfrm>
            <a:prstGeom prst="rect">
              <a:avLst/>
            </a:prstGeom>
            <a:noFill/>
          </p:spPr>
          <p:txBody>
            <a:bodyPr wrap="square" rtlCol="0" anchor="t">
              <a:spAutoFit/>
            </a:bodyPr>
            <a:lstStyle/>
            <a:p>
              <a:pPr>
                <a:buNone/>
              </a:pPr>
              <a:r>
                <a:rPr lang="zh-CN" altLang="en-US">
                  <a:solidFill>
                    <a:srgbClr val="0033CC"/>
                  </a:solidFill>
                  <a:sym typeface="+mn-ea"/>
                </a:rPr>
                <a:t>报警</a:t>
              </a:r>
              <a:endParaRPr lang="zh-CN" altLang="en-US"/>
            </a:p>
          </p:txBody>
        </p:sp>
        <p:sp>
          <p:nvSpPr>
            <p:cNvPr id="22" name="文本框 21"/>
            <p:cNvSpPr txBox="1"/>
            <p:nvPr/>
          </p:nvSpPr>
          <p:spPr>
            <a:xfrm>
              <a:off x="7479" y="6448"/>
              <a:ext cx="1890" cy="732"/>
            </a:xfrm>
            <a:prstGeom prst="rect">
              <a:avLst/>
            </a:prstGeom>
            <a:noFill/>
          </p:spPr>
          <p:txBody>
            <a:bodyPr wrap="square" rtlCol="0" anchor="t">
              <a:spAutoFit/>
            </a:bodyPr>
            <a:lstStyle/>
            <a:p>
              <a:pPr>
                <a:buNone/>
              </a:pPr>
              <a:r>
                <a:rPr lang="zh-CN" altLang="en-US">
                  <a:solidFill>
                    <a:srgbClr val="0033CC"/>
                  </a:solidFill>
                  <a:sym typeface="+mn-ea"/>
                </a:rPr>
                <a:t>病症报告</a:t>
              </a:r>
              <a:endParaRPr lang="zh-CN" altLang="en-US">
                <a:solidFill>
                  <a:srgbClr val="0033CC"/>
                </a:solidFill>
                <a:sym typeface="+mn-ea"/>
              </a:endParaRPr>
            </a:p>
          </p:txBody>
        </p:sp>
        <p:cxnSp>
          <p:nvCxnSpPr>
            <p:cNvPr id="23" name="直接箭头连接符 22"/>
            <p:cNvCxnSpPr>
              <a:stCxn id="6" idx="5"/>
              <a:endCxn id="10" idx="0"/>
            </p:cNvCxnSpPr>
            <p:nvPr/>
          </p:nvCxnSpPr>
          <p:spPr>
            <a:xfrm>
              <a:off x="6629" y="7872"/>
              <a:ext cx="838" cy="570"/>
            </a:xfrm>
            <a:prstGeom prst="straightConnector1">
              <a:avLst/>
            </a:prstGeom>
            <a:ln>
              <a:solidFill>
                <a:srgbClr val="0033CC"/>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9118" y="5061"/>
              <a:ext cx="2833" cy="798"/>
            </a:xfrm>
            <a:prstGeom prst="rect">
              <a:avLst/>
            </a:prstGeom>
            <a:noFill/>
          </p:spPr>
          <p:txBody>
            <a:bodyPr wrap="square" rtlCol="0" anchor="t">
              <a:spAutoFit/>
            </a:bodyPr>
            <a:lstStyle/>
            <a:p>
              <a:pPr>
                <a:buFont typeface="Wingdings" panose="05000000000000000000" charset="0"/>
                <a:buNone/>
              </a:pPr>
              <a:r>
                <a:rPr lang="zh-CN" altLang="en-US" sz="2000">
                  <a:solidFill>
                    <a:srgbClr val="FF0000"/>
                  </a:solidFill>
                </a:rPr>
                <a:t>顶层数据流图</a:t>
              </a:r>
              <a:endParaRPr lang="zh-CN" altLang="en-US" sz="2000">
                <a:solidFill>
                  <a:srgbClr val="FF0000"/>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1020" y="947977"/>
            <a:ext cx="4229735" cy="589280"/>
          </a:xfrm>
          <a:prstGeom prst="rect">
            <a:avLst/>
          </a:prstGeom>
          <a:noFill/>
        </p:spPr>
        <p:txBody>
          <a:bodyPr wrap="none" rtlCol="0" anchor="t">
            <a:spAutoFit/>
          </a:bodyPr>
          <a:lstStyle/>
          <a:p>
            <a:pPr>
              <a:buFont typeface="Wingdings" panose="05000000000000000000" charset="0"/>
              <a:buChar char="p"/>
            </a:pPr>
            <a:r>
              <a:rPr lang="en-US" altLang="zh-CN" sz="20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 </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病员监护系统</a:t>
            </a:r>
            <a:r>
              <a:rPr lang="en-US" altLang="zh-CN"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DFD</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设计实例</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5" name="文本框 4"/>
          <p:cNvSpPr txBox="1"/>
          <p:nvPr/>
        </p:nvSpPr>
        <p:spPr>
          <a:xfrm>
            <a:off x="6223849" y="1051909"/>
            <a:ext cx="2256878" cy="400110"/>
          </a:xfrm>
          <a:prstGeom prst="rect">
            <a:avLst/>
          </a:prstGeom>
          <a:noFill/>
        </p:spPr>
        <p:txBody>
          <a:bodyPr wrap="square" rtlCol="0" anchor="t">
            <a:spAutoFit/>
          </a:bodyPr>
          <a:lstStyle/>
          <a:p>
            <a:pPr>
              <a:buFont typeface="Wingdings" panose="05000000000000000000" charset="0"/>
              <a:buNone/>
            </a:pPr>
            <a:r>
              <a:rPr lang="zh-CN" altLang="en-US" sz="2000" dirty="0" smtClean="0">
                <a:solidFill>
                  <a:srgbClr val="FF0000"/>
                </a:solidFill>
              </a:rPr>
              <a:t>第一层层</a:t>
            </a:r>
            <a:r>
              <a:rPr lang="zh-CN" altLang="en-US" sz="2000" dirty="0">
                <a:solidFill>
                  <a:srgbClr val="FF0000"/>
                </a:solidFill>
              </a:rPr>
              <a:t>数据流图</a:t>
            </a:r>
            <a:endParaRPr lang="zh-CN" altLang="en-US" sz="2000" dirty="0">
              <a:solidFill>
                <a:srgbClr val="FF0000"/>
              </a:solidFill>
            </a:endParaRPr>
          </a:p>
        </p:txBody>
      </p:sp>
      <p:grpSp>
        <p:nvGrpSpPr>
          <p:cNvPr id="6" name="组合 5"/>
          <p:cNvGrpSpPr/>
          <p:nvPr/>
        </p:nvGrpSpPr>
        <p:grpSpPr>
          <a:xfrm>
            <a:off x="827688" y="1699233"/>
            <a:ext cx="7194791" cy="4302396"/>
            <a:chOff x="827688" y="2020076"/>
            <a:chExt cx="7194791" cy="4302396"/>
          </a:xfrm>
        </p:grpSpPr>
        <p:grpSp>
          <p:nvGrpSpPr>
            <p:cNvPr id="7" name="组合 6"/>
            <p:cNvGrpSpPr/>
            <p:nvPr/>
          </p:nvGrpSpPr>
          <p:grpSpPr>
            <a:xfrm>
              <a:off x="827688" y="2020076"/>
              <a:ext cx="7194791" cy="4302396"/>
              <a:chOff x="819675" y="1886443"/>
              <a:chExt cx="7194791" cy="4645822"/>
            </a:xfrm>
          </p:grpSpPr>
          <p:sp>
            <p:nvSpPr>
              <p:cNvPr id="10" name="矩形 9"/>
              <p:cNvSpPr/>
              <p:nvPr/>
            </p:nvSpPr>
            <p:spPr>
              <a:xfrm>
                <a:off x="827688" y="2154096"/>
                <a:ext cx="1082360"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a:solidFill>
                      <a:srgbClr val="C00000"/>
                    </a:solidFill>
                  </a:rPr>
                  <a:t>病员</a:t>
                </a:r>
                <a:endParaRPr lang="zh-CN" altLang="en-US" dirty="0">
                  <a:solidFill>
                    <a:srgbClr val="C00000"/>
                  </a:solidFill>
                </a:endParaRPr>
              </a:p>
            </p:txBody>
          </p:sp>
          <p:sp>
            <p:nvSpPr>
              <p:cNvPr id="11" name="椭圆 10"/>
              <p:cNvSpPr/>
              <p:nvPr/>
            </p:nvSpPr>
            <p:spPr>
              <a:xfrm>
                <a:off x="3230757" y="1886443"/>
                <a:ext cx="1237034" cy="10439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sz="2000" dirty="0" smtClean="0">
                    <a:solidFill>
                      <a:srgbClr val="C00000"/>
                    </a:solidFill>
                  </a:rPr>
                  <a:t>1</a:t>
                </a:r>
                <a:endParaRPr lang="en-US" altLang="zh-CN" sz="2000" dirty="0" smtClean="0">
                  <a:solidFill>
                    <a:srgbClr val="C00000"/>
                  </a:solidFill>
                </a:endParaRPr>
              </a:p>
              <a:p>
                <a:pPr algn="ctr">
                  <a:lnSpc>
                    <a:spcPct val="100000"/>
                  </a:lnSpc>
                  <a:buNone/>
                </a:pPr>
                <a:r>
                  <a:rPr lang="zh-CN" altLang="en-US" sz="1700" dirty="0" smtClean="0">
                    <a:solidFill>
                      <a:srgbClr val="C00000"/>
                    </a:solidFill>
                  </a:rPr>
                  <a:t>局部监视</a:t>
                </a:r>
                <a:endParaRPr lang="zh-CN" altLang="en-US" sz="1700" dirty="0">
                  <a:solidFill>
                    <a:srgbClr val="C00000"/>
                  </a:solidFill>
                </a:endParaRPr>
              </a:p>
            </p:txBody>
          </p:sp>
          <p:sp>
            <p:nvSpPr>
              <p:cNvPr id="12" name="椭圆 11"/>
              <p:cNvSpPr/>
              <p:nvPr/>
            </p:nvSpPr>
            <p:spPr>
              <a:xfrm>
                <a:off x="4520092" y="3388948"/>
                <a:ext cx="1237034" cy="10439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sz="2000" dirty="0" smtClean="0">
                    <a:solidFill>
                      <a:srgbClr val="C00000"/>
                    </a:solidFill>
                  </a:rPr>
                  <a:t>3</a:t>
                </a:r>
                <a:endParaRPr lang="en-US" altLang="zh-CN" sz="2000" dirty="0" smtClean="0">
                  <a:solidFill>
                    <a:srgbClr val="C00000"/>
                  </a:solidFill>
                </a:endParaRPr>
              </a:p>
              <a:p>
                <a:pPr algn="ctr">
                  <a:lnSpc>
                    <a:spcPct val="100000"/>
                  </a:lnSpc>
                  <a:buNone/>
                </a:pPr>
                <a:r>
                  <a:rPr lang="zh-CN" altLang="en-US" sz="1700" dirty="0" smtClean="0">
                    <a:solidFill>
                      <a:srgbClr val="C00000"/>
                    </a:solidFill>
                  </a:rPr>
                  <a:t>中央监视</a:t>
                </a:r>
                <a:endParaRPr lang="zh-CN" altLang="en-US" sz="1700" dirty="0">
                  <a:solidFill>
                    <a:srgbClr val="C00000"/>
                  </a:solidFill>
                </a:endParaRPr>
              </a:p>
            </p:txBody>
          </p:sp>
          <p:sp>
            <p:nvSpPr>
              <p:cNvPr id="13" name="矩形 12"/>
              <p:cNvSpPr/>
              <p:nvPr/>
            </p:nvSpPr>
            <p:spPr>
              <a:xfrm>
                <a:off x="6372150" y="2063518"/>
                <a:ext cx="336907"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6622176" y="2060343"/>
                <a:ext cx="12814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22176" y="2572153"/>
                <a:ext cx="12814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613760" y="2044468"/>
                <a:ext cx="1400706" cy="369332"/>
              </a:xfrm>
              <a:prstGeom prst="rect">
                <a:avLst/>
              </a:prstGeom>
              <a:noFill/>
            </p:spPr>
            <p:txBody>
              <a:bodyPr wrap="square" rtlCol="0" anchor="t">
                <a:spAutoFit/>
              </a:bodyPr>
              <a:lstStyle/>
              <a:p>
                <a:pPr>
                  <a:buNone/>
                </a:pPr>
                <a:r>
                  <a:rPr lang="zh-CN" altLang="en-US" dirty="0" smtClean="0">
                    <a:solidFill>
                      <a:srgbClr val="C00000"/>
                    </a:solidFill>
                  </a:rPr>
                  <a:t>病员极限</a:t>
                </a:r>
                <a:endParaRPr lang="zh-CN" altLang="en-US" dirty="0">
                  <a:solidFill>
                    <a:srgbClr val="C00000"/>
                  </a:solidFill>
                </a:endParaRPr>
              </a:p>
            </p:txBody>
          </p:sp>
          <p:cxnSp>
            <p:nvCxnSpPr>
              <p:cNvPr id="17" name="直接箭头连接符 16"/>
              <p:cNvCxnSpPr>
                <a:stCxn id="10" idx="3"/>
                <a:endCxn id="11" idx="2"/>
              </p:cNvCxnSpPr>
              <p:nvPr/>
            </p:nvCxnSpPr>
            <p:spPr>
              <a:xfrm flipV="1">
                <a:off x="1910048" y="2408413"/>
                <a:ext cx="1320709" cy="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040930" y="2074036"/>
                <a:ext cx="1301834" cy="464820"/>
              </a:xfrm>
              <a:prstGeom prst="rect">
                <a:avLst/>
              </a:prstGeom>
              <a:noFill/>
            </p:spPr>
            <p:txBody>
              <a:bodyPr wrap="square" rtlCol="0" anchor="t">
                <a:spAutoFit/>
              </a:bodyPr>
              <a:lstStyle/>
              <a:p>
                <a:pPr>
                  <a:buNone/>
                </a:pPr>
                <a:r>
                  <a:rPr lang="zh-CN" altLang="en-US" dirty="0">
                    <a:solidFill>
                      <a:srgbClr val="0033CC"/>
                    </a:solidFill>
                  </a:rPr>
                  <a:t>病症信号</a:t>
                </a:r>
                <a:endParaRPr lang="zh-CN" altLang="en-US" dirty="0">
                  <a:solidFill>
                    <a:srgbClr val="0033CC"/>
                  </a:solidFill>
                </a:endParaRPr>
              </a:p>
            </p:txBody>
          </p:sp>
          <p:sp>
            <p:nvSpPr>
              <p:cNvPr id="19" name="矩形 18"/>
              <p:cNvSpPr/>
              <p:nvPr/>
            </p:nvSpPr>
            <p:spPr>
              <a:xfrm>
                <a:off x="819675" y="3736238"/>
                <a:ext cx="1082360"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C00000"/>
                    </a:solidFill>
                  </a:rPr>
                  <a:t>护士</a:t>
                </a:r>
                <a:endParaRPr lang="zh-CN" altLang="en-US" dirty="0">
                  <a:solidFill>
                    <a:srgbClr val="C00000"/>
                  </a:solidFill>
                </a:endParaRPr>
              </a:p>
            </p:txBody>
          </p:sp>
          <p:sp>
            <p:nvSpPr>
              <p:cNvPr id="20" name="矩形 19"/>
              <p:cNvSpPr/>
              <p:nvPr/>
            </p:nvSpPr>
            <p:spPr>
              <a:xfrm>
                <a:off x="819675" y="5338663"/>
                <a:ext cx="1082360"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C00000"/>
                    </a:solidFill>
                  </a:rPr>
                  <a:t>护士</a:t>
                </a:r>
                <a:endParaRPr lang="zh-CN" altLang="en-US" dirty="0">
                  <a:solidFill>
                    <a:srgbClr val="C00000"/>
                  </a:solidFill>
                </a:endParaRPr>
              </a:p>
            </p:txBody>
          </p:sp>
          <p:sp>
            <p:nvSpPr>
              <p:cNvPr id="21" name="椭圆 20"/>
              <p:cNvSpPr/>
              <p:nvPr/>
            </p:nvSpPr>
            <p:spPr>
              <a:xfrm>
                <a:off x="3606385" y="4816693"/>
                <a:ext cx="1237034" cy="10439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sz="2000" dirty="0" smtClean="0">
                    <a:solidFill>
                      <a:srgbClr val="C00000"/>
                    </a:solidFill>
                  </a:rPr>
                  <a:t>2</a:t>
                </a:r>
                <a:endParaRPr lang="en-US" altLang="zh-CN" sz="2000" dirty="0" smtClean="0">
                  <a:solidFill>
                    <a:srgbClr val="C00000"/>
                  </a:solidFill>
                </a:endParaRPr>
              </a:p>
              <a:p>
                <a:pPr algn="ctr">
                  <a:lnSpc>
                    <a:spcPct val="100000"/>
                  </a:lnSpc>
                  <a:buNone/>
                </a:pPr>
                <a:r>
                  <a:rPr lang="zh-CN" altLang="en-US" sz="1700" dirty="0" smtClean="0">
                    <a:solidFill>
                      <a:srgbClr val="C00000"/>
                    </a:solidFill>
                  </a:rPr>
                  <a:t>生成报告</a:t>
                </a:r>
                <a:endParaRPr lang="zh-CN" altLang="en-US" sz="1700" dirty="0">
                  <a:solidFill>
                    <a:srgbClr val="C00000"/>
                  </a:solidFill>
                </a:endParaRPr>
              </a:p>
            </p:txBody>
          </p:sp>
          <p:cxnSp>
            <p:nvCxnSpPr>
              <p:cNvPr id="22" name="直接箭头连接符 21"/>
              <p:cNvCxnSpPr>
                <a:stCxn id="20" idx="3"/>
                <a:endCxn id="21" idx="2"/>
              </p:cNvCxnSpPr>
              <p:nvPr/>
            </p:nvCxnSpPr>
            <p:spPr>
              <a:xfrm flipV="1">
                <a:off x="1902035" y="5338663"/>
                <a:ext cx="1704350" cy="25431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21" idx="1"/>
                <a:endCxn id="19" idx="3"/>
              </p:cNvCxnSpPr>
              <p:nvPr/>
            </p:nvCxnSpPr>
            <p:spPr>
              <a:xfrm flipH="1" flipV="1">
                <a:off x="1902035" y="3990556"/>
                <a:ext cx="1885509" cy="97901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rot="1650671">
                <a:off x="2657085" y="4399190"/>
                <a:ext cx="1301834" cy="369332"/>
              </a:xfrm>
              <a:prstGeom prst="rect">
                <a:avLst/>
              </a:prstGeom>
              <a:noFill/>
            </p:spPr>
            <p:txBody>
              <a:bodyPr wrap="square" rtlCol="0" anchor="t">
                <a:spAutoFit/>
              </a:bodyPr>
              <a:lstStyle/>
              <a:p>
                <a:pPr>
                  <a:buNone/>
                </a:pPr>
                <a:r>
                  <a:rPr lang="zh-CN" altLang="en-US" dirty="0" smtClean="0">
                    <a:solidFill>
                      <a:srgbClr val="0033CC"/>
                    </a:solidFill>
                  </a:rPr>
                  <a:t>病症报告</a:t>
                </a:r>
                <a:endParaRPr lang="zh-CN" altLang="en-US" dirty="0">
                  <a:solidFill>
                    <a:srgbClr val="0033CC"/>
                  </a:solidFill>
                </a:endParaRPr>
              </a:p>
            </p:txBody>
          </p:sp>
          <p:sp>
            <p:nvSpPr>
              <p:cNvPr id="25" name="文本框 24"/>
              <p:cNvSpPr txBox="1"/>
              <p:nvPr/>
            </p:nvSpPr>
            <p:spPr>
              <a:xfrm rot="21094236">
                <a:off x="2040930" y="5134694"/>
                <a:ext cx="1301834" cy="369332"/>
              </a:xfrm>
              <a:prstGeom prst="rect">
                <a:avLst/>
              </a:prstGeom>
              <a:noFill/>
            </p:spPr>
            <p:txBody>
              <a:bodyPr wrap="square" rtlCol="0" anchor="t">
                <a:spAutoFit/>
              </a:bodyPr>
              <a:lstStyle/>
              <a:p>
                <a:pPr>
                  <a:buNone/>
                </a:pPr>
                <a:r>
                  <a:rPr lang="zh-CN" altLang="en-US" dirty="0" smtClean="0">
                    <a:solidFill>
                      <a:srgbClr val="0033CC"/>
                    </a:solidFill>
                  </a:rPr>
                  <a:t>要求报告</a:t>
                </a:r>
                <a:endParaRPr lang="zh-CN" altLang="en-US" dirty="0">
                  <a:solidFill>
                    <a:srgbClr val="0033CC"/>
                  </a:solidFill>
                </a:endParaRPr>
              </a:p>
            </p:txBody>
          </p:sp>
          <p:cxnSp>
            <p:nvCxnSpPr>
              <p:cNvPr id="26" name="直接箭头连接符 25"/>
              <p:cNvCxnSpPr>
                <a:stCxn id="11" idx="4"/>
                <a:endCxn id="12" idx="1"/>
              </p:cNvCxnSpPr>
              <p:nvPr/>
            </p:nvCxnSpPr>
            <p:spPr>
              <a:xfrm>
                <a:off x="3849274" y="2930383"/>
                <a:ext cx="851977" cy="611446"/>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rot="2123095">
                <a:off x="3421854" y="3184660"/>
                <a:ext cx="1301834" cy="369332"/>
              </a:xfrm>
              <a:prstGeom prst="rect">
                <a:avLst/>
              </a:prstGeom>
              <a:noFill/>
            </p:spPr>
            <p:txBody>
              <a:bodyPr wrap="square" rtlCol="0" anchor="t">
                <a:spAutoFit/>
              </a:bodyPr>
              <a:lstStyle/>
              <a:p>
                <a:pPr>
                  <a:buNone/>
                </a:pPr>
                <a:r>
                  <a:rPr lang="zh-CN" altLang="en-US" dirty="0" smtClean="0">
                    <a:solidFill>
                      <a:srgbClr val="0033CC"/>
                    </a:solidFill>
                  </a:rPr>
                  <a:t>病员数据</a:t>
                </a:r>
                <a:endParaRPr lang="zh-CN" altLang="en-US" dirty="0">
                  <a:solidFill>
                    <a:srgbClr val="0033CC"/>
                  </a:solidFill>
                </a:endParaRPr>
              </a:p>
            </p:txBody>
          </p:sp>
          <p:cxnSp>
            <p:nvCxnSpPr>
              <p:cNvPr id="28" name="直接箭头连接符 27"/>
              <p:cNvCxnSpPr>
                <a:endCxn id="12" idx="7"/>
              </p:cNvCxnSpPr>
              <p:nvPr/>
            </p:nvCxnSpPr>
            <p:spPr>
              <a:xfrm flipH="1">
                <a:off x="5575967" y="2545915"/>
                <a:ext cx="1046209" cy="995914"/>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158223" y="2856680"/>
                <a:ext cx="1301834" cy="646331"/>
              </a:xfrm>
              <a:prstGeom prst="rect">
                <a:avLst/>
              </a:prstGeom>
              <a:noFill/>
            </p:spPr>
            <p:txBody>
              <a:bodyPr wrap="square" rtlCol="0" anchor="t">
                <a:spAutoFit/>
              </a:bodyPr>
              <a:lstStyle/>
              <a:p>
                <a:pPr>
                  <a:buNone/>
                </a:pPr>
                <a:r>
                  <a:rPr lang="zh-CN" altLang="en-US" dirty="0" smtClean="0">
                    <a:solidFill>
                      <a:srgbClr val="0033CC"/>
                    </a:solidFill>
                  </a:rPr>
                  <a:t>生理信号极限值</a:t>
                </a:r>
                <a:endParaRPr lang="zh-CN" altLang="en-US" dirty="0">
                  <a:solidFill>
                    <a:srgbClr val="0033CC"/>
                  </a:solidFill>
                </a:endParaRPr>
              </a:p>
            </p:txBody>
          </p:sp>
          <p:sp>
            <p:nvSpPr>
              <p:cNvPr id="30" name="椭圆 29"/>
              <p:cNvSpPr/>
              <p:nvPr/>
            </p:nvSpPr>
            <p:spPr>
              <a:xfrm>
                <a:off x="6348544" y="4769688"/>
                <a:ext cx="1237034" cy="10439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sz="2000" dirty="0" smtClean="0">
                    <a:solidFill>
                      <a:srgbClr val="C00000"/>
                    </a:solidFill>
                  </a:rPr>
                  <a:t>4</a:t>
                </a:r>
                <a:endParaRPr lang="en-US" altLang="zh-CN" sz="2000" dirty="0" smtClean="0">
                  <a:solidFill>
                    <a:srgbClr val="C00000"/>
                  </a:solidFill>
                </a:endParaRPr>
              </a:p>
              <a:p>
                <a:pPr algn="ctr">
                  <a:lnSpc>
                    <a:spcPct val="100000"/>
                  </a:lnSpc>
                  <a:buNone/>
                </a:pPr>
                <a:r>
                  <a:rPr lang="zh-CN" altLang="en-US" sz="1700" dirty="0" smtClean="0">
                    <a:solidFill>
                      <a:srgbClr val="C00000"/>
                    </a:solidFill>
                  </a:rPr>
                  <a:t>更新日志</a:t>
                </a:r>
                <a:endParaRPr lang="zh-CN" altLang="en-US" sz="1700" dirty="0">
                  <a:solidFill>
                    <a:srgbClr val="C00000"/>
                  </a:solidFill>
                </a:endParaRPr>
              </a:p>
            </p:txBody>
          </p:sp>
          <p:cxnSp>
            <p:nvCxnSpPr>
              <p:cNvPr id="31" name="直接箭头连接符 30"/>
              <p:cNvCxnSpPr>
                <a:endCxn id="30" idx="1"/>
              </p:cNvCxnSpPr>
              <p:nvPr/>
            </p:nvCxnSpPr>
            <p:spPr>
              <a:xfrm>
                <a:off x="5575967" y="4269541"/>
                <a:ext cx="953736" cy="65302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28259" y="3965003"/>
                <a:ext cx="1301834" cy="646331"/>
              </a:xfrm>
              <a:prstGeom prst="rect">
                <a:avLst/>
              </a:prstGeom>
              <a:noFill/>
            </p:spPr>
            <p:txBody>
              <a:bodyPr wrap="square" rtlCol="0" anchor="t">
                <a:spAutoFit/>
              </a:bodyPr>
              <a:lstStyle/>
              <a:p>
                <a:pPr>
                  <a:buNone/>
                </a:pPr>
                <a:r>
                  <a:rPr lang="zh-CN" altLang="en-US" dirty="0" smtClean="0">
                    <a:solidFill>
                      <a:srgbClr val="0033CC"/>
                    </a:solidFill>
                  </a:rPr>
                  <a:t>格式化病员数据</a:t>
                </a:r>
                <a:endParaRPr lang="zh-CN" altLang="en-US" dirty="0">
                  <a:solidFill>
                    <a:srgbClr val="0033CC"/>
                  </a:solidFill>
                </a:endParaRPr>
              </a:p>
            </p:txBody>
          </p:sp>
          <p:sp>
            <p:nvSpPr>
              <p:cNvPr id="33" name="矩形 32"/>
              <p:cNvSpPr/>
              <p:nvPr/>
            </p:nvSpPr>
            <p:spPr>
              <a:xfrm>
                <a:off x="5012906" y="6023630"/>
                <a:ext cx="336907" cy="50863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5262932" y="6020455"/>
                <a:ext cx="12814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262932" y="6532265"/>
                <a:ext cx="12814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5254516" y="6004580"/>
                <a:ext cx="1400706" cy="369332"/>
              </a:xfrm>
              <a:prstGeom prst="rect">
                <a:avLst/>
              </a:prstGeom>
              <a:noFill/>
            </p:spPr>
            <p:txBody>
              <a:bodyPr wrap="square" rtlCol="0" anchor="t">
                <a:spAutoFit/>
              </a:bodyPr>
              <a:lstStyle/>
              <a:p>
                <a:pPr>
                  <a:buNone/>
                </a:pPr>
                <a:r>
                  <a:rPr lang="zh-CN" altLang="en-US" dirty="0" smtClean="0">
                    <a:solidFill>
                      <a:srgbClr val="C00000"/>
                    </a:solidFill>
                  </a:rPr>
                  <a:t>病员日志</a:t>
                </a:r>
                <a:endParaRPr lang="zh-CN" altLang="en-US" dirty="0">
                  <a:solidFill>
                    <a:srgbClr val="C00000"/>
                  </a:solidFill>
                </a:endParaRPr>
              </a:p>
            </p:txBody>
          </p:sp>
          <p:cxnSp>
            <p:nvCxnSpPr>
              <p:cNvPr id="37" name="直接箭头连接符 36"/>
              <p:cNvCxnSpPr>
                <a:stCxn id="30" idx="2"/>
              </p:cNvCxnSpPr>
              <p:nvPr/>
            </p:nvCxnSpPr>
            <p:spPr>
              <a:xfrm flipH="1">
                <a:off x="5674965" y="5291658"/>
                <a:ext cx="673579" cy="70974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21" idx="6"/>
              </p:cNvCxnSpPr>
              <p:nvPr/>
            </p:nvCxnSpPr>
            <p:spPr>
              <a:xfrm flipH="1" flipV="1">
                <a:off x="4843419" y="5338663"/>
                <a:ext cx="852427" cy="67861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914002" y="5168086"/>
                <a:ext cx="1301834" cy="369332"/>
              </a:xfrm>
              <a:prstGeom prst="rect">
                <a:avLst/>
              </a:prstGeom>
              <a:noFill/>
            </p:spPr>
            <p:txBody>
              <a:bodyPr wrap="square" rtlCol="0" anchor="t">
                <a:spAutoFit/>
              </a:bodyPr>
              <a:lstStyle/>
              <a:p>
                <a:pPr>
                  <a:buNone/>
                </a:pPr>
                <a:r>
                  <a:rPr lang="zh-CN" altLang="en-US" dirty="0" smtClean="0">
                    <a:solidFill>
                      <a:srgbClr val="0033CC"/>
                    </a:solidFill>
                  </a:rPr>
                  <a:t>日志数据</a:t>
                </a:r>
                <a:endParaRPr lang="zh-CN" altLang="en-US" dirty="0">
                  <a:solidFill>
                    <a:srgbClr val="0033CC"/>
                  </a:solidFill>
                </a:endParaRPr>
              </a:p>
            </p:txBody>
          </p:sp>
        </p:grpSp>
        <p:cxnSp>
          <p:nvCxnSpPr>
            <p:cNvPr id="8" name="直接箭头连接符 7"/>
            <p:cNvCxnSpPr>
              <a:stCxn id="12" idx="2"/>
            </p:cNvCxnSpPr>
            <p:nvPr/>
          </p:nvCxnSpPr>
          <p:spPr>
            <a:xfrm flipH="1" flipV="1">
              <a:off x="1910049" y="3804666"/>
              <a:ext cx="2618056" cy="90233"/>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709548" y="3423295"/>
              <a:ext cx="1301834" cy="369332"/>
            </a:xfrm>
            <a:prstGeom prst="rect">
              <a:avLst/>
            </a:prstGeom>
            <a:noFill/>
          </p:spPr>
          <p:txBody>
            <a:bodyPr wrap="square" rtlCol="0" anchor="t">
              <a:spAutoFit/>
            </a:bodyPr>
            <a:lstStyle/>
            <a:p>
              <a:pPr>
                <a:buNone/>
              </a:pPr>
              <a:r>
                <a:rPr lang="zh-CN" altLang="en-US" dirty="0" smtClean="0">
                  <a:solidFill>
                    <a:srgbClr val="0033CC"/>
                  </a:solidFill>
                </a:rPr>
                <a:t>报警</a:t>
              </a:r>
              <a:endParaRPr lang="zh-CN" altLang="en-US" dirty="0">
                <a:solidFill>
                  <a:srgbClr val="0033CC"/>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541020" y="775335"/>
            <a:ext cx="4383405" cy="589280"/>
          </a:xfrm>
          <a:prstGeom prst="rect">
            <a:avLst/>
          </a:prstGeom>
          <a:noFill/>
        </p:spPr>
        <p:txBody>
          <a:bodyPr wrap="none" rtlCol="0" anchor="t">
            <a:spAutoFit/>
          </a:bodyPr>
          <a:lstStyle/>
          <a:p>
            <a:pPr>
              <a:buFont typeface="Wingdings" panose="05000000000000000000" charset="0"/>
              <a:buChar char="p"/>
            </a:pP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例</a:t>
            </a:r>
            <a:r>
              <a:rPr lang="en-US" altLang="zh-CN"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：病员监护系统</a:t>
            </a:r>
            <a:r>
              <a:rPr lang="en-US" altLang="zh-CN"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DFD</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设计</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38" name="文本框 37"/>
          <p:cNvSpPr txBox="1"/>
          <p:nvPr/>
        </p:nvSpPr>
        <p:spPr>
          <a:xfrm>
            <a:off x="5321935" y="1364615"/>
            <a:ext cx="3505200" cy="506730"/>
          </a:xfrm>
          <a:prstGeom prst="rect">
            <a:avLst/>
          </a:prstGeom>
          <a:noFill/>
        </p:spPr>
        <p:txBody>
          <a:bodyPr wrap="square" rtlCol="0" anchor="t">
            <a:spAutoFit/>
          </a:bodyPr>
          <a:lstStyle/>
          <a:p>
            <a:pPr>
              <a:buFont typeface="Wingdings" panose="05000000000000000000" charset="0"/>
              <a:buNone/>
            </a:pPr>
            <a:r>
              <a:rPr lang="zh-CN" altLang="en-US" sz="2000">
                <a:solidFill>
                  <a:srgbClr val="FF0000"/>
                </a:solidFill>
              </a:rPr>
              <a:t>第二层：加工</a:t>
            </a:r>
            <a:r>
              <a:rPr lang="en-US" altLang="zh-CN" sz="2000">
                <a:solidFill>
                  <a:srgbClr val="FF0000"/>
                </a:solidFill>
              </a:rPr>
              <a:t>“</a:t>
            </a:r>
            <a:r>
              <a:rPr lang="zh-CN" altLang="en-US" sz="2000">
                <a:solidFill>
                  <a:srgbClr val="FF0000"/>
                </a:solidFill>
              </a:rPr>
              <a:t>中央监视</a:t>
            </a:r>
            <a:r>
              <a:rPr lang="en-US" altLang="zh-CN" sz="2000">
                <a:solidFill>
                  <a:srgbClr val="FF0000"/>
                </a:solidFill>
              </a:rPr>
              <a:t>”</a:t>
            </a:r>
            <a:r>
              <a:rPr lang="zh-CN" altLang="en-US" sz="2000">
                <a:solidFill>
                  <a:srgbClr val="FF0000"/>
                </a:solidFill>
              </a:rPr>
              <a:t>分解</a:t>
            </a:r>
            <a:endParaRPr lang="zh-CN" altLang="en-US" sz="2000">
              <a:solidFill>
                <a:srgbClr val="FF0000"/>
              </a:solidFill>
            </a:endParaRPr>
          </a:p>
        </p:txBody>
      </p:sp>
      <p:grpSp>
        <p:nvGrpSpPr>
          <p:cNvPr id="32" name="组合 31"/>
          <p:cNvGrpSpPr/>
          <p:nvPr/>
        </p:nvGrpSpPr>
        <p:grpSpPr>
          <a:xfrm>
            <a:off x="973455" y="1913890"/>
            <a:ext cx="7639050" cy="4140200"/>
            <a:chOff x="1533" y="2866"/>
            <a:chExt cx="12030" cy="6883"/>
          </a:xfrm>
        </p:grpSpPr>
        <p:cxnSp>
          <p:nvCxnSpPr>
            <p:cNvPr id="7" name="直接箭头连接符 6"/>
            <p:cNvCxnSpPr/>
            <p:nvPr/>
          </p:nvCxnSpPr>
          <p:spPr>
            <a:xfrm>
              <a:off x="1642" y="2945"/>
              <a:ext cx="2354" cy="1222"/>
            </a:xfrm>
            <a:prstGeom prst="straightConnector1">
              <a:avLst/>
            </a:prstGeom>
            <a:ln>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rot="1740000">
              <a:off x="2185" y="2939"/>
              <a:ext cx="2050" cy="773"/>
            </a:xfrm>
            <a:prstGeom prst="rect">
              <a:avLst/>
            </a:prstGeom>
            <a:noFill/>
          </p:spPr>
          <p:txBody>
            <a:bodyPr wrap="square" rtlCol="0" anchor="t">
              <a:spAutoFit/>
            </a:bodyPr>
            <a:lstStyle/>
            <a:p>
              <a:pPr>
                <a:buNone/>
              </a:pPr>
              <a:r>
                <a:rPr lang="zh-CN" altLang="en-US">
                  <a:solidFill>
                    <a:srgbClr val="FF0000"/>
                  </a:solidFill>
                </a:rPr>
                <a:t>病症信号</a:t>
              </a:r>
              <a:endParaRPr lang="zh-CN" altLang="en-US">
                <a:solidFill>
                  <a:srgbClr val="FF0000"/>
                </a:solidFill>
              </a:endParaRPr>
            </a:p>
          </p:txBody>
        </p:sp>
        <p:sp>
          <p:nvSpPr>
            <p:cNvPr id="4" name="椭圆 3"/>
            <p:cNvSpPr/>
            <p:nvPr/>
          </p:nvSpPr>
          <p:spPr>
            <a:xfrm>
              <a:off x="3887" y="3747"/>
              <a:ext cx="1615" cy="1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0033CC"/>
                  </a:solidFill>
                </a:rPr>
                <a:t>3.1</a:t>
              </a:r>
              <a:r>
                <a:rPr lang="zh-CN" altLang="en-US">
                  <a:solidFill>
                    <a:srgbClr val="0033CC"/>
                  </a:solidFill>
                </a:rPr>
                <a:t>开解信号</a:t>
              </a:r>
              <a:endParaRPr lang="zh-CN" altLang="en-US">
                <a:solidFill>
                  <a:srgbClr val="0033CC"/>
                </a:solidFill>
              </a:endParaRPr>
            </a:p>
          </p:txBody>
        </p:sp>
        <p:sp>
          <p:nvSpPr>
            <p:cNvPr id="3" name="椭圆 2"/>
            <p:cNvSpPr/>
            <p:nvPr/>
          </p:nvSpPr>
          <p:spPr>
            <a:xfrm>
              <a:off x="7623" y="5052"/>
              <a:ext cx="1869" cy="15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0033CC"/>
                  </a:solidFill>
                </a:rPr>
                <a:t>3.2</a:t>
              </a:r>
              <a:r>
                <a:rPr lang="zh-CN" altLang="en-US">
                  <a:solidFill>
                    <a:srgbClr val="0033CC"/>
                  </a:solidFill>
                </a:rPr>
                <a:t>计算超过极限值否</a:t>
              </a:r>
              <a:endParaRPr lang="zh-CN" altLang="en-US">
                <a:solidFill>
                  <a:srgbClr val="0033CC"/>
                </a:solidFill>
              </a:endParaRPr>
            </a:p>
          </p:txBody>
        </p:sp>
        <p:sp>
          <p:nvSpPr>
            <p:cNvPr id="13" name="矩形 12"/>
            <p:cNvSpPr/>
            <p:nvPr/>
          </p:nvSpPr>
          <p:spPr>
            <a:xfrm>
              <a:off x="10418" y="2893"/>
              <a:ext cx="492" cy="71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10915" y="2888"/>
              <a:ext cx="18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0915" y="3609"/>
              <a:ext cx="18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0915" y="2866"/>
              <a:ext cx="2044" cy="773"/>
            </a:xfrm>
            <a:prstGeom prst="rect">
              <a:avLst/>
            </a:prstGeom>
            <a:noFill/>
          </p:spPr>
          <p:txBody>
            <a:bodyPr wrap="square" rtlCol="0" anchor="t">
              <a:spAutoFit/>
            </a:bodyPr>
            <a:lstStyle/>
            <a:p>
              <a:pPr>
                <a:buNone/>
              </a:pPr>
              <a:r>
                <a:rPr lang="zh-CN" altLang="en-US">
                  <a:solidFill>
                    <a:srgbClr val="C00000"/>
                  </a:solidFill>
                </a:rPr>
                <a:t>病员极限</a:t>
              </a:r>
              <a:endParaRPr lang="zh-CN" altLang="en-US">
                <a:solidFill>
                  <a:srgbClr val="C00000"/>
                </a:solidFill>
              </a:endParaRPr>
            </a:p>
          </p:txBody>
        </p:sp>
        <p:cxnSp>
          <p:nvCxnSpPr>
            <p:cNvPr id="29" name="直接箭头连接符 28"/>
            <p:cNvCxnSpPr/>
            <p:nvPr/>
          </p:nvCxnSpPr>
          <p:spPr>
            <a:xfrm flipH="1">
              <a:off x="9433" y="3609"/>
              <a:ext cx="1847" cy="1893"/>
            </a:xfrm>
            <a:prstGeom prst="straightConnector1">
              <a:avLst/>
            </a:prstGeom>
            <a:ln>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rot="18840000">
              <a:off x="9322" y="4441"/>
              <a:ext cx="2688" cy="580"/>
            </a:xfrm>
            <a:prstGeom prst="rect">
              <a:avLst/>
            </a:prstGeom>
            <a:noFill/>
          </p:spPr>
          <p:txBody>
            <a:bodyPr wrap="square" rtlCol="0" anchor="t">
              <a:spAutoFit/>
            </a:bodyPr>
            <a:lstStyle/>
            <a:p>
              <a:pPr>
                <a:lnSpc>
                  <a:spcPct val="100000"/>
                </a:lnSpc>
                <a:buNone/>
              </a:pPr>
              <a:r>
                <a:rPr lang="zh-CN" altLang="en-US">
                  <a:solidFill>
                    <a:srgbClr val="FF0000"/>
                  </a:solidFill>
                </a:rPr>
                <a:t>生理信号极限</a:t>
              </a:r>
              <a:endParaRPr lang="zh-CN" altLang="en-US">
                <a:solidFill>
                  <a:srgbClr val="FF0000"/>
                </a:solidFill>
              </a:endParaRPr>
            </a:p>
          </p:txBody>
        </p:sp>
        <p:cxnSp>
          <p:nvCxnSpPr>
            <p:cNvPr id="5" name="曲线连接符 4"/>
            <p:cNvCxnSpPr>
              <a:stCxn id="4" idx="6"/>
              <a:endCxn id="3" idx="1"/>
            </p:cNvCxnSpPr>
            <p:nvPr/>
          </p:nvCxnSpPr>
          <p:spPr>
            <a:xfrm>
              <a:off x="5502" y="4479"/>
              <a:ext cx="2395" cy="801"/>
            </a:xfrm>
            <a:prstGeom prst="curvedConnector2">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endCxn id="3" idx="2"/>
            </p:cNvCxnSpPr>
            <p:nvPr/>
          </p:nvCxnSpPr>
          <p:spPr>
            <a:xfrm>
              <a:off x="5427" y="4845"/>
              <a:ext cx="2196" cy="986"/>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8" name="曲线连接符 7"/>
            <p:cNvCxnSpPr>
              <a:stCxn id="4" idx="5"/>
            </p:cNvCxnSpPr>
            <p:nvPr/>
          </p:nvCxnSpPr>
          <p:spPr>
            <a:xfrm rot="5400000" flipV="1">
              <a:off x="5911" y="4350"/>
              <a:ext cx="1227" cy="2518"/>
            </a:xfrm>
            <a:prstGeom prst="curvedConnector2">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rot="840000">
              <a:off x="6479" y="3994"/>
              <a:ext cx="1072" cy="773"/>
            </a:xfrm>
            <a:prstGeom prst="rect">
              <a:avLst/>
            </a:prstGeom>
            <a:noFill/>
          </p:spPr>
          <p:txBody>
            <a:bodyPr wrap="square" rtlCol="0" anchor="t">
              <a:spAutoFit/>
            </a:bodyPr>
            <a:lstStyle/>
            <a:p>
              <a:pPr>
                <a:buNone/>
              </a:pPr>
              <a:r>
                <a:rPr lang="zh-CN" altLang="en-US">
                  <a:solidFill>
                    <a:srgbClr val="0033CC"/>
                  </a:solidFill>
                </a:rPr>
                <a:t>脉搏</a:t>
              </a:r>
              <a:endParaRPr lang="zh-CN" altLang="en-US">
                <a:solidFill>
                  <a:srgbClr val="0033CC"/>
                </a:solidFill>
              </a:endParaRPr>
            </a:p>
          </p:txBody>
        </p:sp>
        <p:sp>
          <p:nvSpPr>
            <p:cNvPr id="11" name="文本框 10"/>
            <p:cNvSpPr txBox="1"/>
            <p:nvPr/>
          </p:nvSpPr>
          <p:spPr>
            <a:xfrm rot="1140000">
              <a:off x="6164" y="4699"/>
              <a:ext cx="1072" cy="773"/>
            </a:xfrm>
            <a:prstGeom prst="rect">
              <a:avLst/>
            </a:prstGeom>
            <a:noFill/>
          </p:spPr>
          <p:txBody>
            <a:bodyPr wrap="square" rtlCol="0" anchor="t">
              <a:spAutoFit/>
            </a:bodyPr>
            <a:lstStyle/>
            <a:p>
              <a:pPr>
                <a:buNone/>
              </a:pPr>
              <a:r>
                <a:rPr lang="zh-CN" altLang="en-US">
                  <a:solidFill>
                    <a:srgbClr val="0033CC"/>
                  </a:solidFill>
                </a:rPr>
                <a:t>体温</a:t>
              </a:r>
              <a:endParaRPr lang="zh-CN" altLang="en-US">
                <a:solidFill>
                  <a:srgbClr val="0033CC"/>
                </a:solidFill>
              </a:endParaRPr>
            </a:p>
          </p:txBody>
        </p:sp>
        <p:sp>
          <p:nvSpPr>
            <p:cNvPr id="12" name="文本框 11"/>
            <p:cNvSpPr txBox="1"/>
            <p:nvPr/>
          </p:nvSpPr>
          <p:spPr>
            <a:xfrm rot="1140000">
              <a:off x="5592" y="5724"/>
              <a:ext cx="1072" cy="773"/>
            </a:xfrm>
            <a:prstGeom prst="rect">
              <a:avLst/>
            </a:prstGeom>
            <a:noFill/>
          </p:spPr>
          <p:txBody>
            <a:bodyPr wrap="square" rtlCol="0" anchor="t">
              <a:spAutoFit/>
            </a:bodyPr>
            <a:lstStyle/>
            <a:p>
              <a:pPr>
                <a:buNone/>
              </a:pPr>
              <a:r>
                <a:rPr lang="zh-CN" altLang="en-US">
                  <a:solidFill>
                    <a:srgbClr val="0033CC"/>
                  </a:solidFill>
                </a:rPr>
                <a:t>血压</a:t>
              </a:r>
              <a:endParaRPr lang="zh-CN" altLang="en-US">
                <a:solidFill>
                  <a:srgbClr val="0033CC"/>
                </a:solidFill>
              </a:endParaRPr>
            </a:p>
          </p:txBody>
        </p:sp>
        <p:sp>
          <p:nvSpPr>
            <p:cNvPr id="16" name="椭圆 15"/>
            <p:cNvSpPr/>
            <p:nvPr/>
          </p:nvSpPr>
          <p:spPr>
            <a:xfrm>
              <a:off x="2918" y="6734"/>
              <a:ext cx="1615" cy="1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0033CC"/>
                  </a:solidFill>
                </a:rPr>
                <a:t>3.3</a:t>
              </a:r>
              <a:r>
                <a:rPr lang="zh-CN" altLang="en-US">
                  <a:solidFill>
                    <a:srgbClr val="0033CC"/>
                  </a:solidFill>
                </a:rPr>
                <a:t>产生报警信息</a:t>
              </a:r>
              <a:endParaRPr lang="zh-CN" altLang="en-US">
                <a:solidFill>
                  <a:srgbClr val="0033CC"/>
                </a:solidFill>
              </a:endParaRPr>
            </a:p>
          </p:txBody>
        </p:sp>
        <p:cxnSp>
          <p:nvCxnSpPr>
            <p:cNvPr id="18" name="直接箭头连接符 17"/>
            <p:cNvCxnSpPr>
              <a:stCxn id="16" idx="3"/>
            </p:cNvCxnSpPr>
            <p:nvPr/>
          </p:nvCxnSpPr>
          <p:spPr>
            <a:xfrm flipH="1">
              <a:off x="1533" y="7983"/>
              <a:ext cx="1622" cy="660"/>
            </a:xfrm>
            <a:prstGeom prst="straightConnector1">
              <a:avLst/>
            </a:prstGeom>
            <a:ln>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rot="20040000">
              <a:off x="1809" y="7611"/>
              <a:ext cx="1072" cy="773"/>
            </a:xfrm>
            <a:prstGeom prst="rect">
              <a:avLst/>
            </a:prstGeom>
            <a:noFill/>
          </p:spPr>
          <p:txBody>
            <a:bodyPr wrap="square" rtlCol="0" anchor="t">
              <a:spAutoFit/>
            </a:bodyPr>
            <a:lstStyle/>
            <a:p>
              <a:pPr>
                <a:buNone/>
              </a:pPr>
              <a:r>
                <a:rPr lang="zh-CN" altLang="en-US">
                  <a:solidFill>
                    <a:srgbClr val="FF0000"/>
                  </a:solidFill>
                </a:rPr>
                <a:t>报警</a:t>
              </a:r>
              <a:endParaRPr lang="zh-CN" altLang="en-US">
                <a:solidFill>
                  <a:srgbClr val="FF0000"/>
                </a:solidFill>
              </a:endParaRPr>
            </a:p>
          </p:txBody>
        </p:sp>
        <p:cxnSp>
          <p:nvCxnSpPr>
            <p:cNvPr id="21" name="直接箭头连接符 20"/>
            <p:cNvCxnSpPr>
              <a:stCxn id="3" idx="3"/>
            </p:cNvCxnSpPr>
            <p:nvPr/>
          </p:nvCxnSpPr>
          <p:spPr>
            <a:xfrm flipH="1">
              <a:off x="4533" y="6382"/>
              <a:ext cx="3364" cy="103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rot="20580000">
              <a:off x="5258" y="6803"/>
              <a:ext cx="2196" cy="773"/>
            </a:xfrm>
            <a:prstGeom prst="rect">
              <a:avLst/>
            </a:prstGeom>
            <a:noFill/>
          </p:spPr>
          <p:txBody>
            <a:bodyPr wrap="square" rtlCol="0" anchor="t">
              <a:spAutoFit/>
            </a:bodyPr>
            <a:lstStyle/>
            <a:p>
              <a:pPr>
                <a:buNone/>
              </a:pPr>
              <a:r>
                <a:rPr lang="zh-CN" altLang="en-US">
                  <a:solidFill>
                    <a:srgbClr val="0033CC"/>
                  </a:solidFill>
                </a:rPr>
                <a:t>超过极限值</a:t>
              </a:r>
              <a:endParaRPr lang="zh-CN" altLang="en-US">
                <a:solidFill>
                  <a:srgbClr val="0033CC"/>
                </a:solidFill>
              </a:endParaRPr>
            </a:p>
          </p:txBody>
        </p:sp>
        <p:sp>
          <p:nvSpPr>
            <p:cNvPr id="23" name="椭圆 22"/>
            <p:cNvSpPr/>
            <p:nvPr/>
          </p:nvSpPr>
          <p:spPr>
            <a:xfrm>
              <a:off x="10075" y="7085"/>
              <a:ext cx="1869" cy="15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0033CC"/>
                  </a:solidFill>
                </a:rPr>
                <a:t>3.4</a:t>
              </a:r>
              <a:r>
                <a:rPr lang="zh-CN" altLang="en-US">
                  <a:solidFill>
                    <a:srgbClr val="0033CC"/>
                  </a:solidFill>
                </a:rPr>
                <a:t>格式化病员数据</a:t>
              </a:r>
              <a:endParaRPr lang="zh-CN" altLang="en-US">
                <a:solidFill>
                  <a:srgbClr val="0033CC"/>
                </a:solidFill>
              </a:endParaRPr>
            </a:p>
          </p:txBody>
        </p:sp>
        <p:cxnSp>
          <p:nvCxnSpPr>
            <p:cNvPr id="24" name="直接箭头连接符 23"/>
            <p:cNvCxnSpPr>
              <a:stCxn id="3" idx="5"/>
              <a:endCxn id="23" idx="1"/>
            </p:cNvCxnSpPr>
            <p:nvPr/>
          </p:nvCxnSpPr>
          <p:spPr>
            <a:xfrm>
              <a:off x="9218" y="6382"/>
              <a:ext cx="1131" cy="93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7897" y="8375"/>
              <a:ext cx="969" cy="55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a:solidFill>
                    <a:srgbClr val="0033CC"/>
                  </a:solidFill>
                </a:rPr>
                <a:t>时钟</a:t>
              </a:r>
              <a:endParaRPr lang="zh-CN" altLang="en-US">
                <a:solidFill>
                  <a:srgbClr val="0033CC"/>
                </a:solidFill>
              </a:endParaRPr>
            </a:p>
          </p:txBody>
        </p:sp>
        <p:cxnSp>
          <p:nvCxnSpPr>
            <p:cNvPr id="26" name="直接箭头连接符 25"/>
            <p:cNvCxnSpPr/>
            <p:nvPr/>
          </p:nvCxnSpPr>
          <p:spPr>
            <a:xfrm flipV="1">
              <a:off x="8866" y="8062"/>
              <a:ext cx="1260" cy="58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rot="20220000">
              <a:off x="8942" y="7687"/>
              <a:ext cx="1072" cy="773"/>
            </a:xfrm>
            <a:prstGeom prst="rect">
              <a:avLst/>
            </a:prstGeom>
            <a:noFill/>
          </p:spPr>
          <p:txBody>
            <a:bodyPr wrap="square" rtlCol="0" anchor="t">
              <a:spAutoFit/>
            </a:bodyPr>
            <a:lstStyle/>
            <a:p>
              <a:pPr>
                <a:buNone/>
              </a:pPr>
              <a:r>
                <a:rPr lang="zh-CN" altLang="en-US">
                  <a:solidFill>
                    <a:srgbClr val="0033CC"/>
                  </a:solidFill>
                </a:rPr>
                <a:t>日期</a:t>
              </a:r>
              <a:endParaRPr lang="zh-CN" altLang="en-US">
                <a:solidFill>
                  <a:srgbClr val="0033CC"/>
                </a:solidFill>
              </a:endParaRPr>
            </a:p>
          </p:txBody>
        </p:sp>
        <p:sp>
          <p:nvSpPr>
            <p:cNvPr id="28" name="文本框 27"/>
            <p:cNvSpPr txBox="1"/>
            <p:nvPr/>
          </p:nvSpPr>
          <p:spPr>
            <a:xfrm rot="20220000">
              <a:off x="9190" y="8121"/>
              <a:ext cx="1072" cy="773"/>
            </a:xfrm>
            <a:prstGeom prst="rect">
              <a:avLst/>
            </a:prstGeom>
            <a:noFill/>
          </p:spPr>
          <p:txBody>
            <a:bodyPr wrap="square" rtlCol="0" anchor="t">
              <a:spAutoFit/>
            </a:bodyPr>
            <a:lstStyle/>
            <a:p>
              <a:pPr>
                <a:buNone/>
              </a:pPr>
              <a:r>
                <a:rPr lang="zh-CN" altLang="en-US">
                  <a:solidFill>
                    <a:srgbClr val="0033CC"/>
                  </a:solidFill>
                </a:rPr>
                <a:t>时间</a:t>
              </a:r>
              <a:endParaRPr lang="zh-CN" altLang="en-US">
                <a:solidFill>
                  <a:srgbClr val="0033CC"/>
                </a:solidFill>
              </a:endParaRPr>
            </a:p>
          </p:txBody>
        </p:sp>
        <p:cxnSp>
          <p:nvCxnSpPr>
            <p:cNvPr id="30" name="直接箭头连接符 29"/>
            <p:cNvCxnSpPr/>
            <p:nvPr/>
          </p:nvCxnSpPr>
          <p:spPr>
            <a:xfrm>
              <a:off x="11535" y="8541"/>
              <a:ext cx="1474" cy="1020"/>
            </a:xfrm>
            <a:prstGeom prst="straightConnector1">
              <a:avLst/>
            </a:prstGeom>
            <a:ln>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rot="2100000">
              <a:off x="11918" y="8242"/>
              <a:ext cx="1645" cy="1073"/>
            </a:xfrm>
            <a:prstGeom prst="rect">
              <a:avLst/>
            </a:prstGeom>
            <a:noFill/>
          </p:spPr>
          <p:txBody>
            <a:bodyPr wrap="square" lIns="0" rtlCol="0" anchor="t">
              <a:spAutoFit/>
            </a:bodyPr>
            <a:lstStyle/>
            <a:p>
              <a:pPr>
                <a:lnSpc>
                  <a:spcPct val="100000"/>
                </a:lnSpc>
                <a:buNone/>
              </a:pPr>
              <a:r>
                <a:rPr lang="zh-CN" altLang="en-US">
                  <a:solidFill>
                    <a:srgbClr val="FF0000"/>
                  </a:solidFill>
                </a:rPr>
                <a:t>格式化病员数据</a:t>
              </a:r>
              <a:endParaRPr lang="zh-CN" altLang="en-US">
                <a:solidFill>
                  <a:srgbClr val="FF0000"/>
                </a:solidFill>
              </a:endParaRPr>
            </a:p>
          </p:txBody>
        </p:sp>
        <p:sp>
          <p:nvSpPr>
            <p:cNvPr id="31" name="任意多边形 30"/>
            <p:cNvSpPr/>
            <p:nvPr/>
          </p:nvSpPr>
          <p:spPr>
            <a:xfrm>
              <a:off x="2303" y="3017"/>
              <a:ext cx="10139" cy="6732"/>
            </a:xfrm>
            <a:custGeom>
              <a:avLst/>
              <a:gdLst>
                <a:gd name="connisteX0" fmla="*/ 913765 w 6438265"/>
                <a:gd name="connsiteY0" fmla="*/ 315595 h 4274820"/>
                <a:gd name="connisteX1" fmla="*/ 998220 w 6438265"/>
                <a:gd name="connsiteY1" fmla="*/ 262890 h 4274820"/>
                <a:gd name="connisteX2" fmla="*/ 1102995 w 6438265"/>
                <a:gd name="connsiteY2" fmla="*/ 210185 h 4274820"/>
                <a:gd name="connisteX3" fmla="*/ 1197610 w 6438265"/>
                <a:gd name="connsiteY3" fmla="*/ 179070 h 4274820"/>
                <a:gd name="connisteX4" fmla="*/ 1344295 w 6438265"/>
                <a:gd name="connsiteY4" fmla="*/ 136525 h 4274820"/>
                <a:gd name="connisteX5" fmla="*/ 1428750 w 6438265"/>
                <a:gd name="connsiteY5" fmla="*/ 105410 h 4274820"/>
                <a:gd name="connisteX6" fmla="*/ 1501775 w 6438265"/>
                <a:gd name="connsiteY6" fmla="*/ 94615 h 4274820"/>
                <a:gd name="connisteX7" fmla="*/ 1586230 w 6438265"/>
                <a:gd name="connsiteY7" fmla="*/ 73660 h 4274820"/>
                <a:gd name="connisteX8" fmla="*/ 1680845 w 6438265"/>
                <a:gd name="connsiteY8" fmla="*/ 63500 h 4274820"/>
                <a:gd name="connisteX9" fmla="*/ 1785620 w 6438265"/>
                <a:gd name="connsiteY9" fmla="*/ 31750 h 4274820"/>
                <a:gd name="connisteX10" fmla="*/ 1880235 w 6438265"/>
                <a:gd name="connsiteY10" fmla="*/ 10795 h 4274820"/>
                <a:gd name="connisteX11" fmla="*/ 1953895 w 6438265"/>
                <a:gd name="connsiteY11" fmla="*/ 0 h 4274820"/>
                <a:gd name="connisteX12" fmla="*/ 4537075 w 6438265"/>
                <a:gd name="connsiteY12" fmla="*/ 977265 h 4274820"/>
                <a:gd name="connisteX13" fmla="*/ 6438265 w 6438265"/>
                <a:gd name="connsiteY13" fmla="*/ 3203575 h 4274820"/>
                <a:gd name="connisteX14" fmla="*/ 4705350 w 6438265"/>
                <a:gd name="connsiteY14" fmla="*/ 4274820 h 4274820"/>
                <a:gd name="connisteX15" fmla="*/ 4621530 w 6438265"/>
                <a:gd name="connsiteY15" fmla="*/ 4232910 h 4274820"/>
                <a:gd name="connisteX16" fmla="*/ 924560 w 6438265"/>
                <a:gd name="connsiteY16" fmla="*/ 3665855 h 4274820"/>
                <a:gd name="connisteX17" fmla="*/ 829945 w 6438265"/>
                <a:gd name="connsiteY17" fmla="*/ 3623310 h 4274820"/>
                <a:gd name="connisteX18" fmla="*/ 756285 w 6438265"/>
                <a:gd name="connsiteY18" fmla="*/ 3581400 h 4274820"/>
                <a:gd name="connisteX19" fmla="*/ 0 w 6438265"/>
                <a:gd name="connsiteY19" fmla="*/ 1964055 h 4274820"/>
                <a:gd name="connisteX20" fmla="*/ 913765 w 6438265"/>
                <a:gd name="connsiteY20" fmla="*/ 315595 h 427482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Lst>
              <a:rect l="l" t="t" r="r" b="b"/>
              <a:pathLst>
                <a:path w="6438265" h="4274820">
                  <a:moveTo>
                    <a:pt x="913765" y="315595"/>
                  </a:moveTo>
                  <a:lnTo>
                    <a:pt x="998220" y="262890"/>
                  </a:lnTo>
                  <a:lnTo>
                    <a:pt x="1102995" y="210185"/>
                  </a:lnTo>
                  <a:lnTo>
                    <a:pt x="1197610" y="179070"/>
                  </a:lnTo>
                  <a:lnTo>
                    <a:pt x="1344295" y="136525"/>
                  </a:lnTo>
                  <a:lnTo>
                    <a:pt x="1428750" y="105410"/>
                  </a:lnTo>
                  <a:lnTo>
                    <a:pt x="1501775" y="94615"/>
                  </a:lnTo>
                  <a:lnTo>
                    <a:pt x="1586230" y="73660"/>
                  </a:lnTo>
                  <a:lnTo>
                    <a:pt x="1680845" y="63500"/>
                  </a:lnTo>
                  <a:lnTo>
                    <a:pt x="1785620" y="31750"/>
                  </a:lnTo>
                  <a:lnTo>
                    <a:pt x="1880235" y="10795"/>
                  </a:lnTo>
                  <a:lnTo>
                    <a:pt x="1953895" y="0"/>
                  </a:lnTo>
                  <a:lnTo>
                    <a:pt x="4537075" y="977265"/>
                  </a:lnTo>
                  <a:lnTo>
                    <a:pt x="6438265" y="3203575"/>
                  </a:lnTo>
                  <a:lnTo>
                    <a:pt x="4705350" y="4274820"/>
                  </a:lnTo>
                  <a:lnTo>
                    <a:pt x="4621530" y="4232910"/>
                  </a:lnTo>
                  <a:lnTo>
                    <a:pt x="924560" y="3665855"/>
                  </a:lnTo>
                  <a:lnTo>
                    <a:pt x="829945" y="3623310"/>
                  </a:lnTo>
                  <a:lnTo>
                    <a:pt x="756285" y="3581400"/>
                  </a:lnTo>
                  <a:lnTo>
                    <a:pt x="0" y="1964055"/>
                  </a:lnTo>
                  <a:lnTo>
                    <a:pt x="913765" y="315595"/>
                  </a:lnTo>
                  <a:close/>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3466465" y="803347"/>
            <a:ext cx="5443924" cy="2105098"/>
            <a:chOff x="1380" y="5365"/>
            <a:chExt cx="10484" cy="3908"/>
          </a:xfrm>
        </p:grpSpPr>
        <p:sp>
          <p:nvSpPr>
            <p:cNvPr id="11" name="矩形 10"/>
            <p:cNvSpPr/>
            <p:nvPr/>
          </p:nvSpPr>
          <p:spPr>
            <a:xfrm>
              <a:off x="1380" y="5668"/>
              <a:ext cx="1514"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顾客</a:t>
              </a:r>
              <a:endParaRPr lang="zh-CN" altLang="en-US">
                <a:solidFill>
                  <a:srgbClr val="C00000"/>
                </a:solidFill>
              </a:endParaRPr>
            </a:p>
          </p:txBody>
        </p:sp>
        <p:sp>
          <p:nvSpPr>
            <p:cNvPr id="5" name="矩形 4"/>
            <p:cNvSpPr/>
            <p:nvPr/>
          </p:nvSpPr>
          <p:spPr>
            <a:xfrm>
              <a:off x="1380" y="7858"/>
              <a:ext cx="1514"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经理</a:t>
              </a:r>
              <a:endParaRPr lang="zh-CN" altLang="en-US">
                <a:solidFill>
                  <a:srgbClr val="C00000"/>
                </a:solidFill>
              </a:endParaRPr>
            </a:p>
          </p:txBody>
        </p:sp>
        <p:sp>
          <p:nvSpPr>
            <p:cNvPr id="6" name="椭圆 5"/>
            <p:cNvSpPr/>
            <p:nvPr/>
          </p:nvSpPr>
          <p:spPr>
            <a:xfrm>
              <a:off x="4984" y="6469"/>
              <a:ext cx="2034" cy="16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zh-CN" altLang="en-US" sz="1900">
                  <a:solidFill>
                    <a:srgbClr val="C00000"/>
                  </a:solidFill>
                </a:rPr>
                <a:t>图书订购系统</a:t>
              </a:r>
              <a:endParaRPr lang="zh-CN" altLang="en-US" sz="1900">
                <a:solidFill>
                  <a:srgbClr val="C00000"/>
                </a:solidFill>
              </a:endParaRPr>
            </a:p>
          </p:txBody>
        </p:sp>
        <p:cxnSp>
          <p:nvCxnSpPr>
            <p:cNvPr id="7" name="直接箭头连接符 6"/>
            <p:cNvCxnSpPr>
              <a:stCxn id="11" idx="3"/>
              <a:endCxn id="6" idx="2"/>
            </p:cNvCxnSpPr>
            <p:nvPr/>
          </p:nvCxnSpPr>
          <p:spPr>
            <a:xfrm>
              <a:off x="2894" y="6069"/>
              <a:ext cx="2090" cy="1222"/>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 idx="3"/>
              <a:endCxn id="6" idx="2"/>
            </p:cNvCxnSpPr>
            <p:nvPr/>
          </p:nvCxnSpPr>
          <p:spPr>
            <a:xfrm flipV="1">
              <a:off x="2894" y="7291"/>
              <a:ext cx="2090" cy="96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114" y="8472"/>
              <a:ext cx="438" cy="80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6557" y="8467"/>
              <a:ext cx="19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557" y="9273"/>
              <a:ext cx="19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557" y="8396"/>
              <a:ext cx="2314" cy="863"/>
            </a:xfrm>
            <a:prstGeom prst="rect">
              <a:avLst/>
            </a:prstGeom>
            <a:noFill/>
          </p:spPr>
          <p:txBody>
            <a:bodyPr wrap="square" rtlCol="0" anchor="t">
              <a:spAutoFit/>
            </a:bodyPr>
            <a:lstStyle/>
            <a:p>
              <a:pPr>
                <a:buNone/>
              </a:pPr>
              <a:r>
                <a:rPr lang="zh-CN" altLang="en-US">
                  <a:solidFill>
                    <a:srgbClr val="C00000"/>
                  </a:solidFill>
                </a:rPr>
                <a:t>图书库存</a:t>
              </a:r>
              <a:endParaRPr lang="zh-CN" altLang="en-US">
                <a:solidFill>
                  <a:srgbClr val="C00000"/>
                </a:solidFill>
              </a:endParaRPr>
            </a:p>
          </p:txBody>
        </p:sp>
        <p:sp>
          <p:nvSpPr>
            <p:cNvPr id="16" name="矩形 15"/>
            <p:cNvSpPr/>
            <p:nvPr/>
          </p:nvSpPr>
          <p:spPr>
            <a:xfrm>
              <a:off x="9315" y="6834"/>
              <a:ext cx="2026" cy="1037"/>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None/>
              </a:pPr>
              <a:r>
                <a:rPr lang="zh-CN" altLang="en-US">
                  <a:solidFill>
                    <a:srgbClr val="C00000"/>
                  </a:solidFill>
                </a:rPr>
                <a:t>图书代理商</a:t>
              </a:r>
              <a:endParaRPr lang="zh-CN" altLang="en-US">
                <a:solidFill>
                  <a:srgbClr val="C00000"/>
                </a:solidFill>
              </a:endParaRPr>
            </a:p>
          </p:txBody>
        </p:sp>
        <p:sp>
          <p:nvSpPr>
            <p:cNvPr id="17" name="文本框 16"/>
            <p:cNvSpPr txBox="1"/>
            <p:nvPr/>
          </p:nvSpPr>
          <p:spPr>
            <a:xfrm rot="2040000">
              <a:off x="3377" y="6063"/>
              <a:ext cx="1821" cy="863"/>
            </a:xfrm>
            <a:prstGeom prst="rect">
              <a:avLst/>
            </a:prstGeom>
            <a:noFill/>
          </p:spPr>
          <p:txBody>
            <a:bodyPr wrap="square" rtlCol="0" anchor="t">
              <a:spAutoFit/>
            </a:bodyPr>
            <a:lstStyle/>
            <a:p>
              <a:pPr>
                <a:buNone/>
              </a:pPr>
              <a:r>
                <a:rPr lang="zh-CN" altLang="en-US">
                  <a:solidFill>
                    <a:srgbClr val="0033CC"/>
                  </a:solidFill>
                </a:rPr>
                <a:t>订购单</a:t>
              </a:r>
              <a:endParaRPr lang="zh-CN" altLang="en-US">
                <a:solidFill>
                  <a:srgbClr val="0033CC"/>
                </a:solidFill>
              </a:endParaRPr>
            </a:p>
          </p:txBody>
        </p:sp>
        <p:sp>
          <p:nvSpPr>
            <p:cNvPr id="18" name="文本框 17"/>
            <p:cNvSpPr txBox="1"/>
            <p:nvPr/>
          </p:nvSpPr>
          <p:spPr>
            <a:xfrm rot="20040000">
              <a:off x="3041" y="7566"/>
              <a:ext cx="2223" cy="863"/>
            </a:xfrm>
            <a:prstGeom prst="rect">
              <a:avLst/>
            </a:prstGeom>
            <a:noFill/>
          </p:spPr>
          <p:txBody>
            <a:bodyPr wrap="square" rtlCol="0" anchor="t">
              <a:spAutoFit/>
            </a:bodyPr>
            <a:lstStyle/>
            <a:p>
              <a:pPr>
                <a:buNone/>
              </a:pPr>
              <a:r>
                <a:rPr lang="zh-CN" altLang="en-US">
                  <a:solidFill>
                    <a:srgbClr val="0033CC"/>
                  </a:solidFill>
                  <a:sym typeface="+mn-ea"/>
                </a:rPr>
                <a:t>财务报表</a:t>
              </a:r>
              <a:endParaRPr lang="zh-CN" altLang="en-US">
                <a:solidFill>
                  <a:srgbClr val="0033CC"/>
                </a:solidFill>
                <a:sym typeface="+mn-ea"/>
              </a:endParaRPr>
            </a:p>
          </p:txBody>
        </p:sp>
        <p:cxnSp>
          <p:nvCxnSpPr>
            <p:cNvPr id="19" name="直接箭头连接符 18"/>
            <p:cNvCxnSpPr/>
            <p:nvPr/>
          </p:nvCxnSpPr>
          <p:spPr>
            <a:xfrm flipH="1">
              <a:off x="7017" y="7332"/>
              <a:ext cx="2298" cy="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425" y="6600"/>
              <a:ext cx="1890" cy="863"/>
            </a:xfrm>
            <a:prstGeom prst="rect">
              <a:avLst/>
            </a:prstGeom>
            <a:noFill/>
          </p:spPr>
          <p:txBody>
            <a:bodyPr wrap="square" rtlCol="0" anchor="t">
              <a:spAutoFit/>
            </a:bodyPr>
            <a:lstStyle/>
            <a:p>
              <a:pPr>
                <a:buNone/>
              </a:pPr>
              <a:r>
                <a:rPr lang="zh-CN" altLang="en-US">
                  <a:solidFill>
                    <a:srgbClr val="0033CC"/>
                  </a:solidFill>
                  <a:sym typeface="+mn-ea"/>
                </a:rPr>
                <a:t>入库单</a:t>
              </a:r>
              <a:endParaRPr lang="zh-CN" altLang="en-US">
                <a:solidFill>
                  <a:srgbClr val="0033CC"/>
                </a:solidFill>
                <a:sym typeface="+mn-ea"/>
              </a:endParaRPr>
            </a:p>
          </p:txBody>
        </p:sp>
        <p:cxnSp>
          <p:nvCxnSpPr>
            <p:cNvPr id="23" name="直接箭头连接符 22"/>
            <p:cNvCxnSpPr>
              <a:stCxn id="6" idx="5"/>
              <a:endCxn id="10" idx="0"/>
            </p:cNvCxnSpPr>
            <p:nvPr/>
          </p:nvCxnSpPr>
          <p:spPr>
            <a:xfrm>
              <a:off x="6719" y="7873"/>
              <a:ext cx="994" cy="523"/>
            </a:xfrm>
            <a:prstGeom prst="straightConnector1">
              <a:avLst/>
            </a:prstGeom>
            <a:ln>
              <a:solidFill>
                <a:srgbClr val="0033CC"/>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8388" y="5365"/>
              <a:ext cx="3476" cy="941"/>
            </a:xfrm>
            <a:prstGeom prst="rect">
              <a:avLst/>
            </a:prstGeom>
            <a:noFill/>
          </p:spPr>
          <p:txBody>
            <a:bodyPr wrap="square" rtlCol="0" anchor="t">
              <a:spAutoFit/>
            </a:bodyPr>
            <a:lstStyle/>
            <a:p>
              <a:pPr>
                <a:buFont typeface="Wingdings" panose="05000000000000000000" charset="0"/>
                <a:buNone/>
              </a:pPr>
              <a:r>
                <a:rPr lang="zh-CN" altLang="en-US" sz="2000">
                  <a:solidFill>
                    <a:srgbClr val="FF0000"/>
                  </a:solidFill>
                </a:rPr>
                <a:t>顶层数据流图</a:t>
              </a:r>
              <a:endParaRPr lang="zh-CN" altLang="en-US" sz="2000">
                <a:solidFill>
                  <a:srgbClr val="FF0000"/>
                </a:solidFill>
              </a:endParaRPr>
            </a:p>
          </p:txBody>
        </p:sp>
      </p:grpSp>
      <p:cxnSp>
        <p:nvCxnSpPr>
          <p:cNvPr id="34" name="直接箭头连接符 33"/>
          <p:cNvCxnSpPr/>
          <p:nvPr/>
        </p:nvCxnSpPr>
        <p:spPr>
          <a:xfrm flipH="1" flipV="1">
            <a:off x="4247515" y="1310243"/>
            <a:ext cx="955675" cy="54610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rot="2040000">
            <a:off x="4225933" y="1504455"/>
            <a:ext cx="945573" cy="464820"/>
          </a:xfrm>
          <a:prstGeom prst="rect">
            <a:avLst/>
          </a:prstGeom>
          <a:noFill/>
        </p:spPr>
        <p:txBody>
          <a:bodyPr wrap="square" rtlCol="0" anchor="t">
            <a:spAutoFit/>
          </a:bodyPr>
          <a:lstStyle/>
          <a:p>
            <a:pPr>
              <a:buNone/>
            </a:pPr>
            <a:r>
              <a:rPr lang="zh-CN" altLang="en-US">
                <a:solidFill>
                  <a:srgbClr val="0033CC"/>
                </a:solidFill>
              </a:rPr>
              <a:t>发书单</a:t>
            </a:r>
            <a:endParaRPr lang="zh-CN" altLang="en-US">
              <a:solidFill>
                <a:srgbClr val="0033CC"/>
              </a:solidFill>
            </a:endParaRPr>
          </a:p>
        </p:txBody>
      </p:sp>
      <p:grpSp>
        <p:nvGrpSpPr>
          <p:cNvPr id="67" name="组合 66"/>
          <p:cNvGrpSpPr/>
          <p:nvPr/>
        </p:nvGrpSpPr>
        <p:grpSpPr>
          <a:xfrm>
            <a:off x="340360" y="3276600"/>
            <a:ext cx="8470900" cy="3026410"/>
            <a:chOff x="536" y="5256"/>
            <a:chExt cx="13340" cy="4766"/>
          </a:xfrm>
        </p:grpSpPr>
        <p:grpSp>
          <p:nvGrpSpPr>
            <p:cNvPr id="65" name="组合 64"/>
            <p:cNvGrpSpPr/>
            <p:nvPr/>
          </p:nvGrpSpPr>
          <p:grpSpPr>
            <a:xfrm>
              <a:off x="1895" y="5256"/>
              <a:ext cx="11981" cy="4766"/>
              <a:chOff x="1895" y="5256"/>
              <a:chExt cx="11981" cy="4766"/>
            </a:xfrm>
          </p:grpSpPr>
          <p:sp>
            <p:nvSpPr>
              <p:cNvPr id="2" name="矩形 1"/>
              <p:cNvSpPr/>
              <p:nvPr/>
            </p:nvSpPr>
            <p:spPr>
              <a:xfrm>
                <a:off x="3871" y="5924"/>
                <a:ext cx="1238" cy="6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顾客</a:t>
                </a:r>
                <a:endParaRPr lang="zh-CN" altLang="en-US">
                  <a:solidFill>
                    <a:srgbClr val="C00000"/>
                  </a:solidFill>
                </a:endParaRPr>
              </a:p>
            </p:txBody>
          </p:sp>
          <p:sp>
            <p:nvSpPr>
              <p:cNvPr id="3" name="矩形 2"/>
              <p:cNvSpPr/>
              <p:nvPr/>
            </p:nvSpPr>
            <p:spPr>
              <a:xfrm>
                <a:off x="1895" y="7927"/>
                <a:ext cx="1238" cy="6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经理</a:t>
                </a:r>
                <a:endParaRPr lang="zh-CN" altLang="en-US">
                  <a:solidFill>
                    <a:srgbClr val="C00000"/>
                  </a:solidFill>
                </a:endParaRPr>
              </a:p>
            </p:txBody>
          </p:sp>
          <p:sp>
            <p:nvSpPr>
              <p:cNvPr id="8" name="矩形 7"/>
              <p:cNvSpPr/>
              <p:nvPr/>
            </p:nvSpPr>
            <p:spPr>
              <a:xfrm>
                <a:off x="5904" y="9343"/>
                <a:ext cx="358" cy="6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zh-CN" altLang="en-US"/>
              </a:p>
            </p:txBody>
          </p:sp>
          <p:sp>
            <p:nvSpPr>
              <p:cNvPr id="12" name="椭圆 11"/>
              <p:cNvSpPr/>
              <p:nvPr/>
            </p:nvSpPr>
            <p:spPr>
              <a:xfrm>
                <a:off x="6374" y="5745"/>
                <a:ext cx="1465" cy="10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C00000"/>
                    </a:solidFill>
                  </a:rPr>
                  <a:t>1.</a:t>
                </a:r>
                <a:r>
                  <a:rPr lang="zh-CN" altLang="en-US">
                    <a:solidFill>
                      <a:srgbClr val="C00000"/>
                    </a:solidFill>
                  </a:rPr>
                  <a:t>图书订购</a:t>
                </a:r>
                <a:endParaRPr lang="zh-CN" altLang="en-US">
                  <a:solidFill>
                    <a:srgbClr val="C00000"/>
                  </a:solidFill>
                </a:endParaRPr>
              </a:p>
            </p:txBody>
          </p:sp>
          <p:sp>
            <p:nvSpPr>
              <p:cNvPr id="25" name="椭圆 24"/>
              <p:cNvSpPr/>
              <p:nvPr/>
            </p:nvSpPr>
            <p:spPr>
              <a:xfrm>
                <a:off x="9388" y="5629"/>
                <a:ext cx="1632" cy="128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C00000"/>
                    </a:solidFill>
                  </a:rPr>
                  <a:t>2.</a:t>
                </a:r>
                <a:r>
                  <a:rPr lang="zh-CN" altLang="en-US">
                    <a:solidFill>
                      <a:srgbClr val="C00000"/>
                    </a:solidFill>
                  </a:rPr>
                  <a:t>制作发书单</a:t>
                </a:r>
                <a:endParaRPr lang="zh-CN" altLang="en-US">
                  <a:solidFill>
                    <a:srgbClr val="C00000"/>
                  </a:solidFill>
                </a:endParaRPr>
              </a:p>
            </p:txBody>
          </p:sp>
          <p:cxnSp>
            <p:nvCxnSpPr>
              <p:cNvPr id="27" name="直接连接符 26"/>
              <p:cNvCxnSpPr/>
              <p:nvPr/>
            </p:nvCxnSpPr>
            <p:spPr>
              <a:xfrm>
                <a:off x="6249" y="9341"/>
                <a:ext cx="17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262" y="10022"/>
                <a:ext cx="17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249" y="9277"/>
                <a:ext cx="2209" cy="732"/>
              </a:xfrm>
              <a:prstGeom prst="rect">
                <a:avLst/>
              </a:prstGeom>
              <a:noFill/>
            </p:spPr>
            <p:txBody>
              <a:bodyPr wrap="square" rtlCol="0" anchor="t">
                <a:spAutoFit/>
              </a:bodyPr>
              <a:lstStyle/>
              <a:p>
                <a:pPr>
                  <a:buNone/>
                </a:pPr>
                <a:r>
                  <a:rPr lang="zh-CN" altLang="en-US">
                    <a:solidFill>
                      <a:srgbClr val="C00000"/>
                    </a:solidFill>
                  </a:rPr>
                  <a:t>账务数据库</a:t>
                </a:r>
                <a:endParaRPr lang="zh-CN" altLang="en-US">
                  <a:solidFill>
                    <a:srgbClr val="C00000"/>
                  </a:solidFill>
                </a:endParaRPr>
              </a:p>
            </p:txBody>
          </p:sp>
          <p:sp>
            <p:nvSpPr>
              <p:cNvPr id="30" name="椭圆 29"/>
              <p:cNvSpPr/>
              <p:nvPr/>
            </p:nvSpPr>
            <p:spPr>
              <a:xfrm>
                <a:off x="4704" y="7562"/>
                <a:ext cx="1917" cy="136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C00000"/>
                    </a:solidFill>
                  </a:rPr>
                  <a:t>4.</a:t>
                </a:r>
                <a:r>
                  <a:rPr lang="zh-CN" altLang="en-US">
                    <a:solidFill>
                      <a:srgbClr val="C00000"/>
                    </a:solidFill>
                  </a:rPr>
                  <a:t>制作财务报表</a:t>
                </a:r>
                <a:endParaRPr lang="zh-CN" altLang="en-US">
                  <a:solidFill>
                    <a:srgbClr val="C00000"/>
                  </a:solidFill>
                </a:endParaRPr>
              </a:p>
            </p:txBody>
          </p:sp>
          <p:sp>
            <p:nvSpPr>
              <p:cNvPr id="32" name="文本框 31"/>
              <p:cNvSpPr txBox="1"/>
              <p:nvPr/>
            </p:nvSpPr>
            <p:spPr>
              <a:xfrm rot="3840000">
                <a:off x="5220" y="6796"/>
                <a:ext cx="1489" cy="732"/>
              </a:xfrm>
              <a:prstGeom prst="rect">
                <a:avLst/>
              </a:prstGeom>
              <a:noFill/>
            </p:spPr>
            <p:txBody>
              <a:bodyPr wrap="square" rtlCol="0" anchor="t">
                <a:spAutoFit/>
              </a:bodyPr>
              <a:lstStyle/>
              <a:p>
                <a:pPr>
                  <a:buNone/>
                </a:pPr>
                <a:r>
                  <a:rPr lang="zh-CN" altLang="en-US">
                    <a:solidFill>
                      <a:srgbClr val="0033CC"/>
                    </a:solidFill>
                  </a:rPr>
                  <a:t>账单</a:t>
                </a:r>
                <a:endParaRPr lang="zh-CN" altLang="en-US">
                  <a:solidFill>
                    <a:srgbClr val="0033CC"/>
                  </a:solidFill>
                </a:endParaRPr>
              </a:p>
            </p:txBody>
          </p:sp>
          <p:cxnSp>
            <p:nvCxnSpPr>
              <p:cNvPr id="33" name="直接箭头连接符 32"/>
              <p:cNvCxnSpPr/>
              <p:nvPr/>
            </p:nvCxnSpPr>
            <p:spPr>
              <a:xfrm>
                <a:off x="5110" y="6204"/>
                <a:ext cx="1342" cy="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2456" y="5933"/>
                <a:ext cx="1238" cy="6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rgbClr val="C00000"/>
                    </a:solidFill>
                  </a:rPr>
                  <a:t>顾客</a:t>
                </a:r>
                <a:endParaRPr lang="zh-CN" altLang="en-US">
                  <a:solidFill>
                    <a:srgbClr val="C00000"/>
                  </a:solidFill>
                </a:endParaRPr>
              </a:p>
            </p:txBody>
          </p:sp>
          <p:cxnSp>
            <p:nvCxnSpPr>
              <p:cNvPr id="37" name="直接箭头连接符 36"/>
              <p:cNvCxnSpPr>
                <a:stCxn id="12" idx="6"/>
                <a:endCxn id="25" idx="2"/>
              </p:cNvCxnSpPr>
              <p:nvPr/>
            </p:nvCxnSpPr>
            <p:spPr>
              <a:xfrm>
                <a:off x="7839" y="6264"/>
                <a:ext cx="1549" cy="8"/>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11020" y="6204"/>
                <a:ext cx="1474" cy="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0948" y="5531"/>
                <a:ext cx="1546" cy="732"/>
              </a:xfrm>
              <a:prstGeom prst="rect">
                <a:avLst/>
              </a:prstGeom>
              <a:noFill/>
            </p:spPr>
            <p:txBody>
              <a:bodyPr wrap="square" rtlCol="0" anchor="t">
                <a:spAutoFit/>
              </a:bodyPr>
              <a:lstStyle/>
              <a:p>
                <a:pPr>
                  <a:buNone/>
                </a:pPr>
                <a:r>
                  <a:rPr lang="zh-CN" altLang="en-US">
                    <a:solidFill>
                      <a:srgbClr val="0033CC"/>
                    </a:solidFill>
                    <a:sym typeface="+mn-ea"/>
                  </a:rPr>
                  <a:t>发书单</a:t>
                </a:r>
                <a:endParaRPr lang="zh-CN" altLang="en-US">
                  <a:solidFill>
                    <a:srgbClr val="0033CC"/>
                  </a:solidFill>
                  <a:sym typeface="+mn-ea"/>
                </a:endParaRPr>
              </a:p>
            </p:txBody>
          </p:sp>
          <p:sp>
            <p:nvSpPr>
              <p:cNvPr id="40" name="文本框 39"/>
              <p:cNvSpPr txBox="1"/>
              <p:nvPr/>
            </p:nvSpPr>
            <p:spPr>
              <a:xfrm>
                <a:off x="7816" y="5256"/>
                <a:ext cx="1546" cy="1016"/>
              </a:xfrm>
              <a:prstGeom prst="rect">
                <a:avLst/>
              </a:prstGeom>
              <a:noFill/>
            </p:spPr>
            <p:txBody>
              <a:bodyPr wrap="square" rtlCol="0" anchor="t">
                <a:spAutoFit/>
              </a:bodyPr>
              <a:lstStyle/>
              <a:p>
                <a:pPr>
                  <a:lnSpc>
                    <a:spcPct val="100000"/>
                  </a:lnSpc>
                  <a:buNone/>
                </a:pPr>
                <a:r>
                  <a:rPr lang="zh-CN" altLang="en-US">
                    <a:solidFill>
                      <a:srgbClr val="0033CC"/>
                    </a:solidFill>
                    <a:sym typeface="+mn-ea"/>
                  </a:rPr>
                  <a:t>标准的订购单</a:t>
                </a:r>
                <a:endParaRPr lang="zh-CN" altLang="en-US">
                  <a:solidFill>
                    <a:srgbClr val="0033CC"/>
                  </a:solidFill>
                  <a:sym typeface="+mn-ea"/>
                </a:endParaRPr>
              </a:p>
            </p:txBody>
          </p:sp>
          <p:sp>
            <p:nvSpPr>
              <p:cNvPr id="41" name="文本框 40"/>
              <p:cNvSpPr txBox="1"/>
              <p:nvPr/>
            </p:nvSpPr>
            <p:spPr>
              <a:xfrm>
                <a:off x="5108" y="5511"/>
                <a:ext cx="1429" cy="732"/>
              </a:xfrm>
              <a:prstGeom prst="rect">
                <a:avLst/>
              </a:prstGeom>
              <a:noFill/>
            </p:spPr>
            <p:txBody>
              <a:bodyPr wrap="square" rtlCol="0" anchor="t">
                <a:spAutoFit/>
              </a:bodyPr>
              <a:lstStyle/>
              <a:p>
                <a:pPr>
                  <a:buNone/>
                </a:pPr>
                <a:r>
                  <a:rPr lang="zh-CN" altLang="en-US">
                    <a:solidFill>
                      <a:srgbClr val="0033CC"/>
                    </a:solidFill>
                    <a:sym typeface="+mn-ea"/>
                  </a:rPr>
                  <a:t>订购单</a:t>
                </a:r>
                <a:endParaRPr lang="zh-CN" altLang="en-US">
                  <a:solidFill>
                    <a:srgbClr val="0033CC"/>
                  </a:solidFill>
                  <a:sym typeface="+mn-ea"/>
                </a:endParaRPr>
              </a:p>
            </p:txBody>
          </p:sp>
          <p:cxnSp>
            <p:nvCxnSpPr>
              <p:cNvPr id="42" name="曲线连接符 41"/>
              <p:cNvCxnSpPr>
                <a:stCxn id="29" idx="0"/>
                <a:endCxn id="30" idx="6"/>
              </p:cNvCxnSpPr>
              <p:nvPr/>
            </p:nvCxnSpPr>
            <p:spPr>
              <a:xfrm rot="16200000" flipV="1">
                <a:off x="6470" y="8394"/>
                <a:ext cx="1034" cy="733"/>
              </a:xfrm>
              <a:prstGeom prst="curvedConnector2">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7353" y="7583"/>
                <a:ext cx="1229" cy="102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zh-CN" altLang="en-US">
                    <a:solidFill>
                      <a:srgbClr val="C00000"/>
                    </a:solidFill>
                  </a:rPr>
                  <a:t>收费</a:t>
                </a:r>
                <a:endParaRPr lang="zh-CN" altLang="en-US">
                  <a:solidFill>
                    <a:srgbClr val="C00000"/>
                  </a:solidFill>
                </a:endParaRPr>
              </a:p>
            </p:txBody>
          </p:sp>
          <p:sp>
            <p:nvSpPr>
              <p:cNvPr id="45" name="文本框 44"/>
              <p:cNvSpPr txBox="1"/>
              <p:nvPr/>
            </p:nvSpPr>
            <p:spPr>
              <a:xfrm>
                <a:off x="7335" y="6642"/>
                <a:ext cx="1883" cy="580"/>
              </a:xfrm>
              <a:prstGeom prst="rect">
                <a:avLst/>
              </a:prstGeom>
              <a:noFill/>
            </p:spPr>
            <p:txBody>
              <a:bodyPr wrap="square" rtlCol="0" anchor="t">
                <a:spAutoFit/>
              </a:bodyPr>
              <a:lstStyle/>
              <a:p>
                <a:pPr>
                  <a:lnSpc>
                    <a:spcPct val="100000"/>
                  </a:lnSpc>
                  <a:buNone/>
                </a:pPr>
                <a:r>
                  <a:rPr lang="zh-CN" altLang="en-US">
                    <a:solidFill>
                      <a:srgbClr val="0033CC"/>
                    </a:solidFill>
                    <a:sym typeface="+mn-ea"/>
                  </a:rPr>
                  <a:t>收费数据</a:t>
                </a:r>
                <a:endParaRPr lang="zh-CN" altLang="en-US">
                  <a:solidFill>
                    <a:srgbClr val="0033CC"/>
                  </a:solidFill>
                  <a:sym typeface="+mn-ea"/>
                </a:endParaRPr>
              </a:p>
            </p:txBody>
          </p:sp>
          <p:cxnSp>
            <p:nvCxnSpPr>
              <p:cNvPr id="48" name="直接箭头连接符 47"/>
              <p:cNvCxnSpPr>
                <a:stCxn id="30" idx="2"/>
                <a:endCxn id="3" idx="3"/>
              </p:cNvCxnSpPr>
              <p:nvPr/>
            </p:nvCxnSpPr>
            <p:spPr>
              <a:xfrm flipH="1">
                <a:off x="3133" y="8243"/>
                <a:ext cx="1571" cy="24"/>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3133" y="7568"/>
                <a:ext cx="1803" cy="732"/>
              </a:xfrm>
              <a:prstGeom prst="rect">
                <a:avLst/>
              </a:prstGeom>
              <a:noFill/>
            </p:spPr>
            <p:txBody>
              <a:bodyPr wrap="square" rtlCol="0" anchor="t">
                <a:spAutoFit/>
              </a:bodyPr>
              <a:lstStyle/>
              <a:p>
                <a:pPr>
                  <a:buNone/>
                </a:pPr>
                <a:r>
                  <a:rPr lang="zh-CN" altLang="en-US">
                    <a:solidFill>
                      <a:srgbClr val="0033CC"/>
                    </a:solidFill>
                    <a:sym typeface="+mn-ea"/>
                  </a:rPr>
                  <a:t>财务报表</a:t>
                </a:r>
                <a:endParaRPr lang="zh-CN" altLang="en-US">
                  <a:solidFill>
                    <a:srgbClr val="0033CC"/>
                  </a:solidFill>
                  <a:sym typeface="+mn-ea"/>
                </a:endParaRPr>
              </a:p>
            </p:txBody>
          </p:sp>
          <p:sp>
            <p:nvSpPr>
              <p:cNvPr id="50" name="矩形 49"/>
              <p:cNvSpPr/>
              <p:nvPr/>
            </p:nvSpPr>
            <p:spPr>
              <a:xfrm>
                <a:off x="9449" y="7802"/>
                <a:ext cx="358" cy="6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zh-CN" altLang="en-US"/>
              </a:p>
            </p:txBody>
          </p:sp>
          <p:cxnSp>
            <p:nvCxnSpPr>
              <p:cNvPr id="51" name="直接连接符 50"/>
              <p:cNvCxnSpPr/>
              <p:nvPr/>
            </p:nvCxnSpPr>
            <p:spPr>
              <a:xfrm flipV="1">
                <a:off x="9766" y="7806"/>
                <a:ext cx="1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9807" y="8483"/>
                <a:ext cx="1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9807" y="7775"/>
                <a:ext cx="1870" cy="732"/>
              </a:xfrm>
              <a:prstGeom prst="rect">
                <a:avLst/>
              </a:prstGeom>
              <a:noFill/>
            </p:spPr>
            <p:txBody>
              <a:bodyPr wrap="square" rtlCol="0" anchor="t">
                <a:spAutoFit/>
              </a:bodyPr>
              <a:lstStyle/>
              <a:p>
                <a:pPr>
                  <a:buNone/>
                </a:pPr>
                <a:r>
                  <a:rPr lang="zh-CN" altLang="en-US">
                    <a:solidFill>
                      <a:srgbClr val="C00000"/>
                    </a:solidFill>
                  </a:rPr>
                  <a:t>图书库存</a:t>
                </a:r>
                <a:endParaRPr lang="zh-CN" altLang="en-US">
                  <a:solidFill>
                    <a:srgbClr val="C00000"/>
                  </a:solidFill>
                </a:endParaRPr>
              </a:p>
            </p:txBody>
          </p:sp>
          <p:cxnSp>
            <p:nvCxnSpPr>
              <p:cNvPr id="55" name="曲线连接符 54"/>
              <p:cNvCxnSpPr>
                <a:endCxn id="54" idx="0"/>
              </p:cNvCxnSpPr>
              <p:nvPr/>
            </p:nvCxnSpPr>
            <p:spPr>
              <a:xfrm>
                <a:off x="7745" y="6375"/>
                <a:ext cx="2608" cy="1400"/>
              </a:xfrm>
              <a:prstGeom prst="curvedConnector2">
                <a:avLst/>
              </a:prstGeom>
              <a:ln>
                <a:solidFill>
                  <a:srgbClr val="0033CC"/>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9552" y="8923"/>
                <a:ext cx="1468" cy="10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buNone/>
                </a:pPr>
                <a:r>
                  <a:rPr lang="en-US" altLang="zh-CN">
                    <a:solidFill>
                      <a:srgbClr val="C00000"/>
                    </a:solidFill>
                  </a:rPr>
                  <a:t>3.</a:t>
                </a:r>
                <a:r>
                  <a:rPr lang="zh-CN" altLang="en-US">
                    <a:solidFill>
                      <a:srgbClr val="C00000"/>
                    </a:solidFill>
                  </a:rPr>
                  <a:t>图书管理</a:t>
                </a:r>
                <a:endParaRPr lang="zh-CN" altLang="en-US">
                  <a:solidFill>
                    <a:srgbClr val="C00000"/>
                  </a:solidFill>
                </a:endParaRPr>
              </a:p>
            </p:txBody>
          </p:sp>
          <p:cxnSp>
            <p:nvCxnSpPr>
              <p:cNvPr id="57" name="直接箭头连接符 56"/>
              <p:cNvCxnSpPr>
                <a:stCxn id="12" idx="4"/>
                <a:endCxn id="43" idx="0"/>
              </p:cNvCxnSpPr>
              <p:nvPr/>
            </p:nvCxnSpPr>
            <p:spPr>
              <a:xfrm>
                <a:off x="7107" y="6782"/>
                <a:ext cx="861" cy="80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flipV="1">
                <a:off x="5133" y="6293"/>
                <a:ext cx="678" cy="1257"/>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43" idx="4"/>
                <a:endCxn id="29" idx="0"/>
              </p:cNvCxnSpPr>
              <p:nvPr/>
            </p:nvCxnSpPr>
            <p:spPr>
              <a:xfrm flipH="1">
                <a:off x="7354" y="8606"/>
                <a:ext cx="614" cy="671"/>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54" idx="2"/>
                <a:endCxn id="56" idx="0"/>
              </p:cNvCxnSpPr>
              <p:nvPr/>
            </p:nvCxnSpPr>
            <p:spPr>
              <a:xfrm flipH="1">
                <a:off x="10286" y="8507"/>
                <a:ext cx="456" cy="416"/>
              </a:xfrm>
              <a:prstGeom prst="straightConnector1">
                <a:avLst/>
              </a:prstGeom>
              <a:ln>
                <a:solidFill>
                  <a:srgbClr val="0033CC"/>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12456" y="8984"/>
                <a:ext cx="1420" cy="8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None/>
                </a:pPr>
                <a:r>
                  <a:rPr lang="zh-CN" altLang="en-US">
                    <a:solidFill>
                      <a:srgbClr val="C00000"/>
                    </a:solidFill>
                  </a:rPr>
                  <a:t>图书代理商</a:t>
                </a:r>
                <a:endParaRPr lang="zh-CN" altLang="en-US">
                  <a:solidFill>
                    <a:srgbClr val="C00000"/>
                  </a:solidFill>
                </a:endParaRPr>
              </a:p>
            </p:txBody>
          </p:sp>
          <p:cxnSp>
            <p:nvCxnSpPr>
              <p:cNvPr id="63" name="直接箭头连接符 62"/>
              <p:cNvCxnSpPr>
                <a:stCxn id="62" idx="1"/>
              </p:cNvCxnSpPr>
              <p:nvPr/>
            </p:nvCxnSpPr>
            <p:spPr>
              <a:xfrm flipH="1">
                <a:off x="10953" y="9414"/>
                <a:ext cx="1503" cy="0"/>
              </a:xfrm>
              <a:prstGeom prst="straightConnector1">
                <a:avLst/>
              </a:prstGeom>
              <a:ln>
                <a:solidFill>
                  <a:srgbClr val="0033CC"/>
                </a:solidFill>
                <a:tailEnd type="arrow"/>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10953" y="8682"/>
                <a:ext cx="1546" cy="732"/>
              </a:xfrm>
              <a:prstGeom prst="rect">
                <a:avLst/>
              </a:prstGeom>
              <a:noFill/>
            </p:spPr>
            <p:txBody>
              <a:bodyPr wrap="square" rtlCol="0" anchor="t">
                <a:spAutoFit/>
              </a:bodyPr>
              <a:lstStyle/>
              <a:p>
                <a:pPr>
                  <a:buNone/>
                </a:pPr>
                <a:r>
                  <a:rPr lang="zh-CN" altLang="en-US">
                    <a:solidFill>
                      <a:srgbClr val="0033CC"/>
                    </a:solidFill>
                    <a:sym typeface="+mn-ea"/>
                  </a:rPr>
                  <a:t>入库单</a:t>
                </a:r>
                <a:endParaRPr lang="zh-CN" altLang="en-US">
                  <a:solidFill>
                    <a:srgbClr val="0033CC"/>
                  </a:solidFill>
                  <a:sym typeface="+mn-ea"/>
                </a:endParaRPr>
              </a:p>
            </p:txBody>
          </p:sp>
        </p:grpSp>
        <p:sp>
          <p:nvSpPr>
            <p:cNvPr id="66" name="文本框 65"/>
            <p:cNvSpPr txBox="1"/>
            <p:nvPr/>
          </p:nvSpPr>
          <p:spPr>
            <a:xfrm>
              <a:off x="536" y="5365"/>
              <a:ext cx="3206" cy="628"/>
            </a:xfrm>
            <a:prstGeom prst="rect">
              <a:avLst/>
            </a:prstGeom>
            <a:noFill/>
          </p:spPr>
          <p:txBody>
            <a:bodyPr wrap="square" rtlCol="0" anchor="t">
              <a:spAutoFit/>
            </a:bodyPr>
            <a:lstStyle/>
            <a:p>
              <a:pPr>
                <a:buFont typeface="Wingdings" panose="05000000000000000000" charset="0"/>
                <a:buNone/>
              </a:pPr>
              <a:r>
                <a:rPr lang="zh-CN" altLang="en-US" sz="2000">
                  <a:solidFill>
                    <a:srgbClr val="FF0000"/>
                  </a:solidFill>
                </a:rPr>
                <a:t>第</a:t>
              </a:r>
              <a:r>
                <a:rPr lang="zh-CN" altLang="en-US" sz="2000">
                  <a:solidFill>
                    <a:srgbClr val="FF0000"/>
                  </a:solidFill>
                </a:rPr>
                <a:t>一层数据流图</a:t>
              </a:r>
              <a:endParaRPr lang="zh-CN" altLang="en-US" sz="2000">
                <a:solidFill>
                  <a:srgbClr val="FF0000"/>
                </a:solidFill>
              </a:endParaRPr>
            </a:p>
          </p:txBody>
        </p:sp>
      </p:grpSp>
      <p:sp>
        <p:nvSpPr>
          <p:cNvPr id="70" name="文本框 69"/>
          <p:cNvSpPr txBox="1"/>
          <p:nvPr/>
        </p:nvSpPr>
        <p:spPr>
          <a:xfrm>
            <a:off x="465455" y="764778"/>
            <a:ext cx="266827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例</a:t>
            </a:r>
            <a:r>
              <a:rPr lang="en-US" altLang="zh-CN"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2</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：图书订购系统</a:t>
            </a:r>
            <a:r>
              <a:rPr lang="en-US" altLang="zh-CN"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DFD</a:t>
            </a:r>
            <a:r>
              <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设计</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
                                        </p:tgtEl>
                                        <p:attrNameLst>
                                          <p:attrName>style.visibility</p:attrName>
                                        </p:attrNameLst>
                                      </p:cBhvr>
                                      <p:to>
                                        <p:strVal val="visible"/>
                                      </p:to>
                                    </p:set>
                                    <p:anim calcmode="lin" valueType="num">
                                      <p:cBhvr additive="base">
                                        <p:cTn id="13" dur="500" fill="hold"/>
                                        <p:tgtEl>
                                          <p:spTgt spid="67"/>
                                        </p:tgtEl>
                                        <p:attrNameLst>
                                          <p:attrName>ppt_x</p:attrName>
                                        </p:attrNameLst>
                                      </p:cBhvr>
                                      <p:tavLst>
                                        <p:tav tm="0">
                                          <p:val>
                                            <p:strVal val="#ppt_x"/>
                                          </p:val>
                                        </p:tav>
                                        <p:tav tm="100000">
                                          <p:val>
                                            <p:strVal val="#ppt_x"/>
                                          </p:val>
                                        </p:tav>
                                      </p:tavLst>
                                    </p:anim>
                                    <p:anim calcmode="lin" valueType="num">
                                      <p:cBhvr additive="base">
                                        <p:cTn id="14"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3705" y="784860"/>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4" name="矩形 3"/>
          <p:cNvSpPr/>
          <p:nvPr/>
        </p:nvSpPr>
        <p:spPr>
          <a:xfrm>
            <a:off x="540862" y="1353820"/>
            <a:ext cx="4232249" cy="549381"/>
          </a:xfrm>
          <a:prstGeom prst="rect">
            <a:avLst/>
          </a:prstGeom>
        </p:spPr>
        <p:txBody>
          <a:bodyPr wrap="none">
            <a:spAutoFit/>
          </a:bodyPr>
          <a:lstStyle/>
          <a:p>
            <a:pPr marL="342900" indent="-342900">
              <a:buFont typeface="Wingdings" panose="05000000000000000000" pitchFamily="2" charset="2"/>
              <a:buChar char="p"/>
            </a:pPr>
            <a:r>
              <a:rPr lang="zh-CN" altLang="en-US" sz="2200" dirty="0">
                <a:solidFill>
                  <a:srgbClr val="C00000"/>
                </a:solidFill>
              </a:rPr>
              <a:t>DFD建模时应遵循的语法规则</a:t>
            </a:r>
            <a:endParaRPr lang="zh-CN" altLang="en-US" sz="2200" dirty="0">
              <a:solidFill>
                <a:srgbClr val="C00000"/>
              </a:solidFill>
            </a:endParaRPr>
          </a:p>
        </p:txBody>
      </p:sp>
      <p:sp>
        <p:nvSpPr>
          <p:cNvPr id="5" name="矩形 4"/>
          <p:cNvSpPr/>
          <p:nvPr/>
        </p:nvSpPr>
        <p:spPr>
          <a:xfrm>
            <a:off x="648449" y="2899944"/>
            <a:ext cx="8249323" cy="1837426"/>
          </a:xfrm>
          <a:prstGeom prst="rect">
            <a:avLst/>
          </a:prstGeom>
        </p:spPr>
        <p:txBody>
          <a:bodyPr wrap="square">
            <a:spAutoFit/>
          </a:bodyPr>
          <a:lstStyle/>
          <a:p>
            <a:pPr marL="285750" indent="-285750">
              <a:buFont typeface="Wingdings" panose="05000000000000000000" pitchFamily="2" charset="2"/>
              <a:buChar char="Ø"/>
            </a:pPr>
            <a:r>
              <a:rPr lang="zh-CN" altLang="en-US" sz="2100" dirty="0" smtClean="0"/>
              <a:t>数据流</a:t>
            </a:r>
            <a:r>
              <a:rPr lang="zh-CN" altLang="en-US" sz="2100" dirty="0"/>
              <a:t>必须与过程产生关联，也就是说，它要么是过程的输入，要么是过程的输出，不存在仅从外部实体流入另一个外部实体、或者从数据存储流入另一个数据存储的数据流；也不存在从外部实体直接流入数据存储，或者从数据存储流入到外部实体的数据流。</a:t>
            </a:r>
            <a:endParaRPr lang="zh-CN" altLang="en-US" sz="2100" dirty="0"/>
          </a:p>
        </p:txBody>
      </p:sp>
      <p:sp>
        <p:nvSpPr>
          <p:cNvPr id="6" name="矩形 5"/>
          <p:cNvSpPr/>
          <p:nvPr/>
        </p:nvSpPr>
        <p:spPr>
          <a:xfrm>
            <a:off x="690282" y="1944460"/>
            <a:ext cx="8014447" cy="914225"/>
          </a:xfrm>
          <a:prstGeom prst="rect">
            <a:avLst/>
          </a:prstGeom>
        </p:spPr>
        <p:txBody>
          <a:bodyPr wrap="square">
            <a:spAutoFit/>
          </a:bodyPr>
          <a:lstStyle/>
          <a:p>
            <a:pPr marL="285750" indent="-285750">
              <a:buFont typeface="Wingdings" panose="05000000000000000000" pitchFamily="2" charset="2"/>
              <a:buChar char="Ø"/>
            </a:pPr>
            <a:r>
              <a:rPr lang="zh-CN" altLang="en-US" sz="2100" dirty="0"/>
              <a:t>过程是对数据的处理，必须有输入、输出，而且输出数据和输入数据要存在不同</a:t>
            </a:r>
            <a:r>
              <a:rPr lang="zh-CN" altLang="en-US" sz="2100" dirty="0" smtClean="0"/>
              <a:t>。</a:t>
            </a:r>
            <a:endParaRPr lang="zh-CN" altLang="en-US" sz="2100" dirty="0"/>
          </a:p>
        </p:txBody>
      </p:sp>
      <p:sp>
        <p:nvSpPr>
          <p:cNvPr id="7" name="矩形 6"/>
          <p:cNvSpPr/>
          <p:nvPr/>
        </p:nvSpPr>
        <p:spPr>
          <a:xfrm>
            <a:off x="648449" y="4737370"/>
            <a:ext cx="8280408" cy="1401153"/>
          </a:xfrm>
          <a:prstGeom prst="rect">
            <a:avLst/>
          </a:prstGeom>
        </p:spPr>
        <p:txBody>
          <a:bodyPr wrap="square">
            <a:spAutoFit/>
          </a:bodyPr>
          <a:lstStyle/>
          <a:p>
            <a:pPr marL="285750" indent="-285750">
              <a:buFont typeface="Wingdings" panose="05000000000000000000" pitchFamily="2" charset="2"/>
              <a:buChar char="Ø"/>
            </a:pPr>
            <a:r>
              <a:rPr lang="zh-CN" altLang="en-US" sz="2100" dirty="0"/>
              <a:t>要为数据流图中每个元素定义</a:t>
            </a:r>
            <a:r>
              <a:rPr lang="zh-CN" altLang="en-US" sz="2100" dirty="0" smtClean="0"/>
              <a:t>与</a:t>
            </a:r>
            <a:r>
              <a:rPr lang="zh-CN" altLang="en-US" sz="2100" dirty="0"/>
              <a:t>一</a:t>
            </a:r>
            <a:r>
              <a:rPr lang="zh-CN" altLang="en-US" sz="2100" dirty="0" smtClean="0"/>
              <a:t>个</a:t>
            </a:r>
            <a:r>
              <a:rPr lang="zh-CN" altLang="en-US" sz="2100" dirty="0"/>
              <a:t>唯一标识自己的名称。而且过程名称为动词短语。外部实体、数据流、数据存储的名称为名词或名词短语。</a:t>
            </a:r>
            <a:endParaRPr lang="zh-CN" altLang="en-US" sz="21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3705" y="784860"/>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4" name="文本框 3"/>
          <p:cNvSpPr txBox="1"/>
          <p:nvPr/>
        </p:nvSpPr>
        <p:spPr>
          <a:xfrm>
            <a:off x="3112612" y="1365884"/>
            <a:ext cx="2668270" cy="461665"/>
          </a:xfrm>
          <a:prstGeom prst="rect">
            <a:avLst/>
          </a:prstGeom>
          <a:noFill/>
        </p:spPr>
        <p:txBody>
          <a:bodyPr wrap="square" rtlCol="0" anchor="t">
            <a:spAutoFit/>
          </a:bodyPr>
          <a:lstStyle/>
          <a:p>
            <a:pPr algn="ctr">
              <a:lnSpc>
                <a:spcPct val="100000"/>
              </a:lnSpc>
              <a:buNone/>
            </a:pPr>
            <a:r>
              <a:rPr lang="zh-CN" altLang="en-US" sz="2400" dirty="0" smtClean="0">
                <a:solidFill>
                  <a:srgbClr val="C00000"/>
                </a:solidFill>
                <a:latin typeface="华文中宋" panose="02010600040101010101" pitchFamily="2" charset="-122"/>
                <a:ea typeface="华文中宋" panose="02010600040101010101" pitchFamily="2" charset="-122"/>
                <a:cs typeface="华文中宋" panose="02010600040101010101" pitchFamily="2" charset="-122"/>
                <a:sym typeface="+mn-ea"/>
              </a:rPr>
              <a:t>数据字典</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6" name="文本框 5"/>
          <p:cNvSpPr txBox="1"/>
          <p:nvPr/>
        </p:nvSpPr>
        <p:spPr>
          <a:xfrm>
            <a:off x="704850" y="1849902"/>
            <a:ext cx="7977070" cy="2133533"/>
          </a:xfrm>
          <a:prstGeom prst="rect">
            <a:avLst/>
          </a:prstGeom>
          <a:noFill/>
        </p:spPr>
        <p:txBody>
          <a:bodyPr wrap="square" rtlCol="0" anchor="t">
            <a:spAutoFit/>
          </a:bodyPr>
          <a:lstStyle/>
          <a:p>
            <a:pPr>
              <a:lnSpc>
                <a:spcPct val="125000"/>
              </a:lnSpc>
              <a:spcBef>
                <a:spcPts val="0"/>
              </a:spcBef>
              <a:spcAft>
                <a:spcPts val="0"/>
              </a:spcAft>
              <a:buNone/>
            </a:pPr>
            <a:r>
              <a:rPr lang="zh-CN" altLang="en-US" sz="2100" dirty="0" smtClean="0">
                <a:latin typeface="宋体" panose="02010600030101010101" pitchFamily="2" charset="-122"/>
                <a:cs typeface="+mj-lt"/>
              </a:rPr>
              <a:t>    数据字典（</a:t>
            </a:r>
            <a:r>
              <a:rPr lang="en-US" altLang="zh-CN" sz="2100" dirty="0" smtClean="0">
                <a:latin typeface="宋体" panose="02010600030101010101" pitchFamily="2" charset="-122"/>
                <a:cs typeface="+mj-lt"/>
              </a:rPr>
              <a:t>Data Dictionary,</a:t>
            </a:r>
            <a:r>
              <a:rPr lang="zh-CN" altLang="en-US" sz="2100" dirty="0" smtClean="0">
                <a:latin typeface="宋体" panose="02010600030101010101" pitchFamily="2" charset="-122"/>
                <a:cs typeface="+mj-lt"/>
              </a:rPr>
              <a:t>简称</a:t>
            </a:r>
            <a:r>
              <a:rPr lang="en-US" altLang="zh-CN" sz="2100" dirty="0" smtClean="0">
                <a:latin typeface="宋体" panose="02010600030101010101" pitchFamily="2" charset="-122"/>
                <a:cs typeface="+mj-lt"/>
              </a:rPr>
              <a:t>DD)</a:t>
            </a:r>
            <a:r>
              <a:rPr lang="zh-CN" altLang="en-US" sz="2100" dirty="0" smtClean="0">
                <a:latin typeface="宋体" panose="02010600030101010101" pitchFamily="2" charset="-122"/>
                <a:cs typeface="+mj-lt"/>
              </a:rPr>
              <a:t>是关于数据的信息的集合，是对数据流图中包含的所有元素的定义的集合。</a:t>
            </a:r>
            <a:endParaRPr lang="en-US" altLang="zh-CN" sz="2100" dirty="0" smtClean="0">
              <a:latin typeface="宋体" panose="02010600030101010101" pitchFamily="2" charset="-122"/>
              <a:cs typeface="+mj-lt"/>
            </a:endParaRPr>
          </a:p>
          <a:p>
            <a:pPr>
              <a:lnSpc>
                <a:spcPct val="125000"/>
              </a:lnSpc>
              <a:spcBef>
                <a:spcPts val="600"/>
              </a:spcBef>
              <a:spcAft>
                <a:spcPts val="0"/>
              </a:spcAft>
              <a:buNone/>
            </a:pPr>
            <a:r>
              <a:rPr lang="en-US" altLang="zh-CN" sz="2100" dirty="0">
                <a:latin typeface="宋体" panose="02010600030101010101" pitchFamily="2" charset="-122"/>
                <a:cs typeface="+mj-lt"/>
              </a:rPr>
              <a:t> </a:t>
            </a:r>
            <a:r>
              <a:rPr lang="en-US" altLang="zh-CN" sz="2100" dirty="0" smtClean="0">
                <a:latin typeface="宋体" panose="02010600030101010101" pitchFamily="2" charset="-122"/>
                <a:cs typeface="+mj-lt"/>
              </a:rPr>
              <a:t>   </a:t>
            </a:r>
            <a:r>
              <a:rPr lang="zh-CN" altLang="en-US" sz="2100" dirty="0" smtClean="0">
                <a:latin typeface="宋体" panose="02010600030101010101" pitchFamily="2" charset="-122"/>
                <a:cs typeface="+mj-lt"/>
              </a:rPr>
              <a:t>数据字典就是用来定义数据流图中的各个成分的具体含义的，它以一种准确的、无二义性的说明方式为系统的分析、设计及维护提供了有关元素的一致的定义和详细的描述。</a:t>
            </a:r>
            <a:endParaRPr lang="zh-CN" altLang="en-US" sz="2100" dirty="0">
              <a:latin typeface="宋体" panose="02010600030101010101" pitchFamily="2" charset="-122"/>
            </a:endParaRPr>
          </a:p>
        </p:txBody>
      </p:sp>
      <p:sp>
        <p:nvSpPr>
          <p:cNvPr id="8" name="文本框 7"/>
          <p:cNvSpPr txBox="1"/>
          <p:nvPr/>
        </p:nvSpPr>
        <p:spPr>
          <a:xfrm>
            <a:off x="704850" y="3953045"/>
            <a:ext cx="3277159" cy="515526"/>
          </a:xfrm>
          <a:prstGeom prst="rect">
            <a:avLst/>
          </a:prstGeom>
          <a:noFill/>
        </p:spPr>
        <p:txBody>
          <a:bodyPr wrap="square" rtlCol="0" anchor="t">
            <a:spAutoFit/>
          </a:bodyPr>
          <a:lstStyle/>
          <a:p>
            <a:pPr algn="l">
              <a:lnSpc>
                <a:spcPct val="125000"/>
              </a:lnSpc>
              <a:spcBef>
                <a:spcPts val="0"/>
              </a:spcBef>
              <a:spcAft>
                <a:spcPts val="0"/>
              </a:spcAft>
              <a:buNone/>
            </a:pPr>
            <a:r>
              <a:rPr lang="en-US" altLang="zh-CN" sz="24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a:t>
            </a:r>
            <a:r>
              <a:rPr lang="zh-CN" altLang="en-US" sz="2400" dirty="0" smtClean="0">
                <a:ln>
                  <a:noFill/>
                </a:ln>
                <a:solidFill>
                  <a:srgbClr val="FF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400" dirty="0" smtClean="0">
                <a:solidFill>
                  <a:srgbClr val="FF0000"/>
                </a:solidFill>
                <a:latin typeface="华文中宋" panose="02010600040101010101" pitchFamily="2" charset="-122"/>
                <a:ea typeface="华文中宋" panose="02010600040101010101" pitchFamily="2" charset="-122"/>
                <a:cs typeface="华文中宋" panose="02010600040101010101" pitchFamily="2" charset="-122"/>
                <a:sym typeface="+mn-ea"/>
              </a:rPr>
              <a:t>内容及格式</a:t>
            </a:r>
            <a:endParaRPr lang="zh-CN" altLang="en-US" sz="2400" dirty="0">
              <a:ln>
                <a:noFill/>
              </a:ln>
              <a:solidFill>
                <a:srgbClr val="FF0000"/>
              </a:solidFill>
              <a:effectLst/>
              <a:latin typeface="+mn-ea"/>
              <a:ea typeface="+mn-ea"/>
              <a:cs typeface="+mn-ea"/>
              <a:sym typeface="+mn-ea"/>
            </a:endParaRPr>
          </a:p>
        </p:txBody>
      </p:sp>
      <p:sp>
        <p:nvSpPr>
          <p:cNvPr id="9" name="文本框 8"/>
          <p:cNvSpPr txBox="1"/>
          <p:nvPr/>
        </p:nvSpPr>
        <p:spPr>
          <a:xfrm>
            <a:off x="873601" y="4456662"/>
            <a:ext cx="7808319" cy="1598899"/>
          </a:xfrm>
          <a:prstGeom prst="rect">
            <a:avLst/>
          </a:prstGeom>
          <a:noFill/>
          <a:ln>
            <a:solidFill>
              <a:schemeClr val="accent1">
                <a:shade val="50000"/>
              </a:schemeClr>
            </a:solidFill>
          </a:ln>
        </p:spPr>
        <p:txBody>
          <a:bodyPr wrap="square" rtlCol="0" anchor="t">
            <a:spAutoFit/>
          </a:bodyPr>
          <a:lstStyle/>
          <a:p>
            <a:pPr>
              <a:lnSpc>
                <a:spcPct val="110000"/>
              </a:lnSpc>
              <a:spcBef>
                <a:spcPts val="0"/>
              </a:spcBef>
              <a:spcAft>
                <a:spcPts val="0"/>
              </a:spcAft>
              <a:buNone/>
            </a:pPr>
            <a:r>
              <a:rPr lang="zh-CN" altLang="en-US" sz="2300" dirty="0">
                <a:solidFill>
                  <a:srgbClr val="0033CC"/>
                </a:solidFill>
                <a:latin typeface="Calibri" panose="020F0502020204030204" pitchFamily="34" charset="0"/>
                <a:ea typeface="华文中宋" panose="02010600040101010101" pitchFamily="2" charset="-122"/>
                <a:cs typeface="+mj-lt"/>
              </a:rPr>
              <a:t> </a:t>
            </a:r>
            <a:r>
              <a:rPr lang="zh-CN" altLang="en-US" sz="2300" dirty="0" smtClean="0">
                <a:solidFill>
                  <a:srgbClr val="0033CC"/>
                </a:solidFill>
                <a:latin typeface="Calibri" panose="020F0502020204030204" pitchFamily="34" charset="0"/>
                <a:ea typeface="华文中宋" panose="02010600040101010101" pitchFamily="2" charset="-122"/>
                <a:cs typeface="+mj-lt"/>
              </a:rPr>
              <a:t>    </a:t>
            </a:r>
            <a:r>
              <a:rPr lang="zh-CN" altLang="en-US" sz="2200" dirty="0" smtClean="0">
                <a:solidFill>
                  <a:srgbClr val="0033CC"/>
                </a:solidFill>
                <a:latin typeface="楷体" panose="02010609060101010101" pitchFamily="49" charset="-122"/>
                <a:ea typeface="楷体" panose="02010609060101010101" pitchFamily="49" charset="-122"/>
                <a:cs typeface="+mj-lt"/>
              </a:rPr>
              <a:t>数据字典是为分析人员查找数据流图中的有关名字的详细定义而服务的，因此也像普通字典一样，要把所有条目按一定的次序排列起来，以便查阅。数据流额数据字典共同构成系统的逻辑模型。</a:t>
            </a:r>
            <a:endParaRPr lang="zh-CN" altLang="en-US" sz="22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40862" y="1604210"/>
            <a:ext cx="8147378" cy="4468979"/>
          </a:xfrm>
          <a:prstGeom prst="rect">
            <a:avLst/>
          </a:prstGeom>
        </p:spPr>
      </p:pic>
      <p:sp>
        <p:nvSpPr>
          <p:cNvPr id="3" name="文本框 2"/>
          <p:cNvSpPr txBox="1"/>
          <p:nvPr/>
        </p:nvSpPr>
        <p:spPr>
          <a:xfrm>
            <a:off x="433705" y="784860"/>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5" name="文本框 4"/>
          <p:cNvSpPr txBox="1"/>
          <p:nvPr/>
        </p:nvSpPr>
        <p:spPr>
          <a:xfrm>
            <a:off x="6674962" y="838507"/>
            <a:ext cx="2668270" cy="461665"/>
          </a:xfrm>
          <a:prstGeom prst="rect">
            <a:avLst/>
          </a:prstGeom>
          <a:noFill/>
        </p:spPr>
        <p:txBody>
          <a:bodyPr wrap="square" rtlCol="0" anchor="t">
            <a:spAutoFit/>
          </a:bodyPr>
          <a:lstStyle/>
          <a:p>
            <a:pPr algn="ctr">
              <a:lnSpc>
                <a:spcPct val="100000"/>
              </a:lnSpc>
              <a:buNone/>
            </a:pPr>
            <a:r>
              <a:rPr lang="zh-CN" altLang="en-US" sz="2400" dirty="0" smtClean="0">
                <a:solidFill>
                  <a:srgbClr val="C00000"/>
                </a:solidFill>
                <a:latin typeface="华文中宋" panose="02010600040101010101" pitchFamily="2" charset="-122"/>
                <a:ea typeface="华文中宋" panose="02010600040101010101" pitchFamily="2" charset="-122"/>
                <a:cs typeface="华文中宋" panose="02010600040101010101" pitchFamily="2" charset="-122"/>
                <a:sym typeface="+mn-ea"/>
              </a:rPr>
              <a:t>数据字典</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448258" y="641601"/>
            <a:ext cx="6419545" cy="3968225"/>
          </a:xfrm>
          <a:prstGeom prst="rect">
            <a:avLst/>
          </a:prstGeom>
        </p:spPr>
      </p:pic>
      <p:sp>
        <p:nvSpPr>
          <p:cNvPr id="8" name="文本框 7"/>
          <p:cNvSpPr txBox="1"/>
          <p:nvPr/>
        </p:nvSpPr>
        <p:spPr>
          <a:xfrm>
            <a:off x="6442292" y="475644"/>
            <a:ext cx="2668270" cy="461665"/>
          </a:xfrm>
          <a:prstGeom prst="rect">
            <a:avLst/>
          </a:prstGeom>
          <a:noFill/>
        </p:spPr>
        <p:txBody>
          <a:bodyPr wrap="square" rtlCol="0" anchor="t">
            <a:spAutoFit/>
          </a:bodyPr>
          <a:lstStyle/>
          <a:p>
            <a:pPr algn="ctr">
              <a:lnSpc>
                <a:spcPct val="100000"/>
              </a:lnSpc>
              <a:buNone/>
            </a:pPr>
            <a:r>
              <a:rPr lang="zh-CN" altLang="en-US" sz="2400" dirty="0" smtClean="0">
                <a:solidFill>
                  <a:srgbClr val="C00000"/>
                </a:solidFill>
                <a:latin typeface="华文中宋" panose="02010600040101010101" pitchFamily="2" charset="-122"/>
                <a:ea typeface="华文中宋" panose="02010600040101010101" pitchFamily="2" charset="-122"/>
                <a:cs typeface="华文中宋" panose="02010600040101010101" pitchFamily="2" charset="-122"/>
                <a:sym typeface="+mn-ea"/>
              </a:rPr>
              <a:t>数据字典</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9" name="文本框 8"/>
          <p:cNvSpPr txBox="1"/>
          <p:nvPr/>
        </p:nvSpPr>
        <p:spPr>
          <a:xfrm>
            <a:off x="179634" y="4882453"/>
            <a:ext cx="4378341" cy="1708160"/>
          </a:xfrm>
          <a:prstGeom prst="rect">
            <a:avLst/>
          </a:prstGeom>
          <a:noFill/>
          <a:ln>
            <a:solidFill>
              <a:srgbClr val="0033CC"/>
            </a:solidFill>
          </a:ln>
        </p:spPr>
        <p:txBody>
          <a:bodyPr wrap="square"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数据流名：</a:t>
            </a:r>
            <a:r>
              <a:rPr lang="en-US" altLang="zh-CN" sz="2100" b="1" dirty="0" smtClean="0">
                <a:latin typeface="宋体" panose="02010600030101010101" pitchFamily="2" charset="-122"/>
                <a:cs typeface="+mj-lt"/>
              </a:rPr>
              <a:t>(</a:t>
            </a:r>
            <a:r>
              <a:rPr lang="zh-CN" altLang="en-US" sz="2100" b="1" dirty="0" smtClean="0">
                <a:latin typeface="宋体" panose="02010600030101010101" pitchFamily="2" charset="-122"/>
                <a:cs typeface="+mj-lt"/>
              </a:rPr>
              <a:t>学生</a:t>
            </a:r>
            <a:r>
              <a:rPr lang="en-US" altLang="zh-CN" sz="2100" b="1" dirty="0" smtClean="0">
                <a:latin typeface="宋体" panose="02010600030101010101" pitchFamily="2" charset="-122"/>
                <a:cs typeface="+mj-lt"/>
              </a:rPr>
              <a:t>)</a:t>
            </a:r>
            <a:r>
              <a:rPr lang="zh-CN" altLang="en-US" sz="2100" b="1" dirty="0" smtClean="0">
                <a:latin typeface="宋体" panose="02010600030101010101" pitchFamily="2" charset="-122"/>
                <a:cs typeface="+mj-lt"/>
              </a:rPr>
              <a:t>查询请求</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smtClean="0">
                <a:solidFill>
                  <a:srgbClr val="0033CC"/>
                </a:solidFill>
                <a:latin typeface="宋体" panose="02010600030101010101" pitchFamily="2" charset="-122"/>
                <a:ea typeface="楷体" panose="02010609060101010101" pitchFamily="49" charset="-122"/>
                <a:cs typeface="+mj-lt"/>
              </a:rPr>
              <a:t>来源：学生</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流向：加工</a:t>
            </a:r>
            <a:r>
              <a:rPr lang="en-US" altLang="zh-CN" sz="2100" dirty="0" smtClean="0">
                <a:solidFill>
                  <a:srgbClr val="0033CC"/>
                </a:solidFill>
                <a:latin typeface="楷体" panose="02010609060101010101" pitchFamily="49" charset="-122"/>
                <a:ea typeface="楷体" panose="02010609060101010101" pitchFamily="49" charset="-122"/>
              </a:rPr>
              <a:t>3.1</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组成</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学生专业</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班级</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说明：应注意与教务员查询相区别</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11" name="文本框 10"/>
          <p:cNvSpPr txBox="1"/>
          <p:nvPr/>
        </p:nvSpPr>
        <p:spPr>
          <a:xfrm>
            <a:off x="4658031" y="4869120"/>
            <a:ext cx="4378341" cy="1708160"/>
          </a:xfrm>
          <a:prstGeom prst="rect">
            <a:avLst/>
          </a:prstGeom>
          <a:noFill/>
          <a:ln>
            <a:solidFill>
              <a:srgbClr val="0033CC"/>
            </a:solidFill>
          </a:ln>
        </p:spPr>
        <p:txBody>
          <a:bodyPr wrap="square"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数据流名：教学计划信息</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smtClean="0">
                <a:solidFill>
                  <a:srgbClr val="0033CC"/>
                </a:solidFill>
                <a:latin typeface="宋体" panose="02010600030101010101" pitchFamily="2" charset="-122"/>
                <a:ea typeface="楷体" panose="02010609060101010101" pitchFamily="49" charset="-122"/>
                <a:cs typeface="+mj-lt"/>
              </a:rPr>
              <a:t>来源：</a:t>
            </a:r>
            <a:r>
              <a:rPr lang="en-US" altLang="zh-CN" sz="2100" dirty="0" smtClean="0">
                <a:solidFill>
                  <a:srgbClr val="0033CC"/>
                </a:solidFill>
                <a:latin typeface="宋体" panose="02010600030101010101" pitchFamily="2" charset="-122"/>
                <a:ea typeface="楷体" panose="02010609060101010101" pitchFamily="49" charset="-122"/>
                <a:cs typeface="+mj-lt"/>
              </a:rPr>
              <a:t>2</a:t>
            </a:r>
            <a:r>
              <a:rPr lang="zh-CN" altLang="en-US" sz="2100" dirty="0" smtClean="0">
                <a:solidFill>
                  <a:srgbClr val="0033CC"/>
                </a:solidFill>
                <a:latin typeface="宋体" panose="02010600030101010101" pitchFamily="2" charset="-122"/>
                <a:ea typeface="楷体" panose="02010609060101010101" pitchFamily="49" charset="-122"/>
                <a:cs typeface="+mj-lt"/>
              </a:rPr>
              <a:t>中教学计划信息</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流向：加工</a:t>
            </a:r>
            <a:r>
              <a:rPr lang="en-US" altLang="zh-CN" sz="2100" dirty="0" smtClean="0">
                <a:solidFill>
                  <a:srgbClr val="0033CC"/>
                </a:solidFill>
                <a:latin typeface="楷体" panose="02010609060101010101" pitchFamily="49" charset="-122"/>
                <a:ea typeface="楷体" panose="02010609060101010101" pitchFamily="49" charset="-122"/>
              </a:rPr>
              <a:t>3.1</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组成</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学生专业</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班级</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课程名称</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开课时间</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任课教师</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13" name="文本框 12"/>
          <p:cNvSpPr txBox="1"/>
          <p:nvPr/>
        </p:nvSpPr>
        <p:spPr>
          <a:xfrm>
            <a:off x="179633" y="4879397"/>
            <a:ext cx="4378341" cy="1708160"/>
          </a:xfrm>
          <a:prstGeom prst="rect">
            <a:avLst/>
          </a:prstGeom>
          <a:solidFill>
            <a:schemeClr val="accent5">
              <a:lumMod val="20000"/>
              <a:lumOff val="80000"/>
            </a:schemeClr>
          </a:solidFill>
          <a:ln>
            <a:solidFill>
              <a:srgbClr val="0033CC"/>
            </a:solidFill>
          </a:ln>
        </p:spPr>
        <p:txBody>
          <a:bodyPr wrap="square" rtlCol="0" anchor="t">
            <a:spAutoFit/>
          </a:bodyPr>
          <a:lstStyle/>
          <a:p>
            <a:pPr>
              <a:spcBef>
                <a:spcPts val="0"/>
              </a:spcBef>
              <a:spcAft>
                <a:spcPts val="0"/>
              </a:spcAft>
              <a:buNone/>
            </a:pPr>
            <a:r>
              <a:rPr lang="zh-CN" altLang="en-US" sz="2100" b="1" dirty="0" smtClean="0">
                <a:latin typeface="宋体" panose="02010600030101010101" pitchFamily="2" charset="-122"/>
                <a:cs typeface="+mj-lt"/>
              </a:rPr>
              <a:t>加工处理：查询教学计划</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a:solidFill>
                  <a:srgbClr val="0033CC"/>
                </a:solidFill>
                <a:latin typeface="宋体" panose="02010600030101010101" pitchFamily="2" charset="-122"/>
                <a:ea typeface="楷体" panose="02010609060101010101" pitchFamily="49" charset="-122"/>
                <a:cs typeface="+mj-lt"/>
              </a:rPr>
              <a:t>编号</a:t>
            </a:r>
            <a:r>
              <a:rPr lang="zh-CN" altLang="en-US" sz="2100" dirty="0" smtClean="0">
                <a:solidFill>
                  <a:srgbClr val="0033CC"/>
                </a:solidFill>
                <a:latin typeface="宋体" panose="02010600030101010101" pitchFamily="2" charset="-122"/>
                <a:ea typeface="楷体" panose="02010609060101010101" pitchFamily="49" charset="-122"/>
                <a:cs typeface="+mj-lt"/>
              </a:rPr>
              <a:t>：</a:t>
            </a:r>
            <a:r>
              <a:rPr lang="en-US" altLang="zh-CN" sz="2100" dirty="0" smtClean="0">
                <a:solidFill>
                  <a:srgbClr val="0033CC"/>
                </a:solidFill>
                <a:latin typeface="宋体" panose="02010600030101010101" pitchFamily="2" charset="-122"/>
                <a:ea typeface="楷体" panose="02010609060101010101" pitchFamily="49" charset="-122"/>
                <a:cs typeface="+mj-lt"/>
              </a:rPr>
              <a:t>3.1</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输入：学生选课请求</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教学计划信息</a:t>
            </a:r>
            <a:r>
              <a:rPr lang="zh-CN" altLang="en-US" sz="2100" dirty="0" smtClean="0">
                <a:solidFill>
                  <a:srgbClr val="0033CC"/>
                </a:solidFill>
                <a:latin typeface="楷体" panose="02010609060101010101" pitchFamily="49" charset="-122"/>
                <a:ea typeface="楷体" panose="02010609060101010101" pitchFamily="49" charset="-122"/>
              </a:rPr>
              <a:t>输出</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该学生所学专业的教学计划</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加工逻辑：满足查询请求条件</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15" name="文本框 14"/>
          <p:cNvSpPr txBox="1"/>
          <p:nvPr/>
        </p:nvSpPr>
        <p:spPr>
          <a:xfrm>
            <a:off x="4658031" y="4868359"/>
            <a:ext cx="4378341" cy="1708160"/>
          </a:xfrm>
          <a:prstGeom prst="rect">
            <a:avLst/>
          </a:prstGeom>
          <a:solidFill>
            <a:schemeClr val="accent4">
              <a:lumMod val="40000"/>
              <a:lumOff val="60000"/>
            </a:schemeClr>
          </a:solidFill>
          <a:ln>
            <a:solidFill>
              <a:srgbClr val="0033CC"/>
            </a:solidFill>
          </a:ln>
        </p:spPr>
        <p:txBody>
          <a:bodyPr wrap="square"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数据文件：教学计划信息</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smtClean="0">
                <a:solidFill>
                  <a:srgbClr val="0033CC"/>
                </a:solidFill>
                <a:latin typeface="宋体" panose="02010600030101010101" pitchFamily="2" charset="-122"/>
                <a:ea typeface="楷体" panose="02010609060101010101" pitchFamily="49" charset="-122"/>
                <a:cs typeface="+mj-lt"/>
              </a:rPr>
              <a:t>文件组成</a:t>
            </a:r>
            <a:r>
              <a:rPr lang="zh-CN" altLang="en-US" sz="2100" dirty="0" smtClean="0">
                <a:solidFill>
                  <a:srgbClr val="0033CC"/>
                </a:solidFill>
                <a:latin typeface="宋体" panose="02010600030101010101" pitchFamily="2" charset="-122"/>
                <a:ea typeface="楷体" panose="02010609060101010101" pitchFamily="49" charset="-122"/>
                <a:cs typeface="+mj-lt"/>
              </a:rPr>
              <a:t>：学生专业</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年级</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课程名称</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开课时间</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任课教师</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组织：按专业和年级降序排列</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18" name="文本框 17"/>
          <p:cNvSpPr txBox="1"/>
          <p:nvPr/>
        </p:nvSpPr>
        <p:spPr>
          <a:xfrm>
            <a:off x="179632" y="4595401"/>
            <a:ext cx="4378341" cy="2031325"/>
          </a:xfrm>
          <a:prstGeom prst="rect">
            <a:avLst/>
          </a:prstGeom>
          <a:solidFill>
            <a:schemeClr val="accent5">
              <a:lumMod val="20000"/>
              <a:lumOff val="80000"/>
            </a:schemeClr>
          </a:solidFill>
          <a:ln>
            <a:solidFill>
              <a:srgbClr val="0033CC"/>
            </a:solidFill>
          </a:ln>
        </p:spPr>
        <p:txBody>
          <a:bodyPr wrap="square" lIns="0" rtlCol="0" anchor="t">
            <a:spAutoFit/>
          </a:bodyPr>
          <a:lstStyle/>
          <a:p>
            <a:pPr>
              <a:spcBef>
                <a:spcPts val="0"/>
              </a:spcBef>
              <a:spcAft>
                <a:spcPts val="0"/>
              </a:spcAft>
              <a:buNone/>
            </a:pPr>
            <a:r>
              <a:rPr lang="zh-CN" altLang="en-US" sz="2100" b="1" dirty="0" smtClean="0">
                <a:latin typeface="宋体" panose="02010600030101010101" pitchFamily="2" charset="-122"/>
                <a:cs typeface="+mj-lt"/>
              </a:rPr>
              <a:t>加工处理：选课信息录入</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smtClean="0">
                <a:solidFill>
                  <a:srgbClr val="0033CC"/>
                </a:solidFill>
                <a:latin typeface="宋体" panose="02010600030101010101" pitchFamily="2" charset="-122"/>
                <a:ea typeface="楷体" panose="02010609060101010101" pitchFamily="49" charset="-122"/>
                <a:cs typeface="+mj-lt"/>
              </a:rPr>
              <a:t>编号</a:t>
            </a:r>
            <a:r>
              <a:rPr lang="en-US" altLang="zh-CN" sz="2100" dirty="0" smtClean="0">
                <a:solidFill>
                  <a:srgbClr val="0033CC"/>
                </a:solidFill>
                <a:latin typeface="宋体" panose="02010600030101010101" pitchFamily="2" charset="-122"/>
                <a:ea typeface="楷体" panose="02010609060101010101" pitchFamily="49" charset="-122"/>
                <a:cs typeface="+mj-lt"/>
              </a:rPr>
              <a:t>:3.2</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输入</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1900" dirty="0" smtClean="0">
                <a:solidFill>
                  <a:srgbClr val="0033CC"/>
                </a:solidFill>
                <a:latin typeface="楷体" panose="02010609060101010101" pitchFamily="49" charset="-122"/>
                <a:ea typeface="楷体" panose="02010609060101010101" pitchFamily="49" charset="-122"/>
              </a:rPr>
              <a:t>学生选课请求</a:t>
            </a:r>
            <a:r>
              <a:rPr lang="en-US" altLang="zh-CN" sz="1900" dirty="0" smtClean="0">
                <a:solidFill>
                  <a:srgbClr val="0033CC"/>
                </a:solidFill>
                <a:latin typeface="楷体" panose="02010609060101010101" pitchFamily="49" charset="-122"/>
                <a:ea typeface="楷体" panose="02010609060101010101" pitchFamily="49" charset="-122"/>
              </a:rPr>
              <a:t>+</a:t>
            </a:r>
            <a:r>
              <a:rPr lang="zh-CN" altLang="en-US" sz="1900" dirty="0" smtClean="0">
                <a:solidFill>
                  <a:srgbClr val="0033CC"/>
                </a:solidFill>
                <a:latin typeface="楷体" panose="02010609060101010101" pitchFamily="49" charset="-122"/>
                <a:ea typeface="楷体" panose="02010609060101010101" pitchFamily="49" charset="-122"/>
              </a:rPr>
              <a:t>所属专业教学计划</a:t>
            </a:r>
            <a:endParaRPr lang="en-US" altLang="zh-CN" sz="19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输出</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选课信息</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加工逻辑：根据所需专业教学计划选择课程</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2" name="文本框 1"/>
          <p:cNvSpPr txBox="1"/>
          <p:nvPr/>
        </p:nvSpPr>
        <p:spPr>
          <a:xfrm>
            <a:off x="414872" y="367588"/>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19" name="文本框 18"/>
          <p:cNvSpPr txBox="1"/>
          <p:nvPr/>
        </p:nvSpPr>
        <p:spPr>
          <a:xfrm>
            <a:off x="4658029" y="4807070"/>
            <a:ext cx="4367203" cy="1708160"/>
          </a:xfrm>
          <a:prstGeom prst="rect">
            <a:avLst/>
          </a:prstGeom>
          <a:solidFill>
            <a:schemeClr val="bg1"/>
          </a:solidFill>
          <a:ln>
            <a:solidFill>
              <a:srgbClr val="0033CC"/>
            </a:solidFill>
          </a:ln>
        </p:spPr>
        <p:txBody>
          <a:bodyPr wrap="square"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数据流名：选课信息</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smtClean="0">
                <a:solidFill>
                  <a:srgbClr val="0033CC"/>
                </a:solidFill>
                <a:latin typeface="宋体" panose="02010600030101010101" pitchFamily="2" charset="-122"/>
                <a:ea typeface="楷体" panose="02010609060101010101" pitchFamily="49" charset="-122"/>
                <a:cs typeface="+mj-lt"/>
              </a:rPr>
              <a:t>来源</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加工</a:t>
            </a:r>
            <a:r>
              <a:rPr lang="en-US" altLang="zh-CN" sz="2100" dirty="0" smtClean="0">
                <a:solidFill>
                  <a:srgbClr val="0033CC"/>
                </a:solidFill>
                <a:latin typeface="宋体" panose="02010600030101010101" pitchFamily="2" charset="-122"/>
                <a:ea typeface="楷体" panose="02010609060101010101" pitchFamily="49" charset="-122"/>
                <a:cs typeface="+mj-lt"/>
              </a:rPr>
              <a:t>3.2</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流向</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学生选课信息存储文件</a:t>
            </a:r>
            <a:endParaRPr lang="en-US" altLang="zh-CN" sz="2100" dirty="0" smtClean="0">
              <a:solidFill>
                <a:srgbClr val="0033CC"/>
              </a:solidFill>
              <a:latin typeface="楷体" panose="02010609060101010101" pitchFamily="49" charset="-122"/>
              <a:ea typeface="楷体" panose="02010609060101010101" pitchFamily="49" charset="-122"/>
            </a:endParaRPr>
          </a:p>
          <a:p>
            <a:pPr>
              <a:spcBef>
                <a:spcPts val="0"/>
              </a:spcBef>
              <a:spcAft>
                <a:spcPts val="0"/>
              </a:spcAft>
              <a:buNone/>
            </a:pPr>
            <a:r>
              <a:rPr lang="zh-CN" altLang="en-US" sz="2100" dirty="0">
                <a:solidFill>
                  <a:srgbClr val="0033CC"/>
                </a:solidFill>
                <a:latin typeface="楷体" panose="02010609060101010101" pitchFamily="49" charset="-122"/>
                <a:ea typeface="楷体" panose="02010609060101010101" pitchFamily="49" charset="-122"/>
              </a:rPr>
              <a:t>组成</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学号</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课程名称</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选课时间</a:t>
            </a:r>
            <a:r>
              <a:rPr lang="en-US" altLang="zh-CN" sz="2100" dirty="0" smtClean="0">
                <a:solidFill>
                  <a:srgbClr val="0033CC"/>
                </a:solidFill>
                <a:latin typeface="楷体" panose="02010609060101010101" pitchFamily="49" charset="-122"/>
                <a:ea typeface="楷体" panose="02010609060101010101" pitchFamily="49" charset="-122"/>
              </a:rPr>
              <a:t>+</a:t>
            </a:r>
            <a:r>
              <a:rPr lang="zh-CN" altLang="en-US" sz="2100" dirty="0" smtClean="0">
                <a:solidFill>
                  <a:srgbClr val="0033CC"/>
                </a:solidFill>
                <a:latin typeface="楷体" panose="02010609060101010101" pitchFamily="49" charset="-122"/>
                <a:ea typeface="楷体" panose="02010609060101010101" pitchFamily="49" charset="-122"/>
              </a:rPr>
              <a:t>修课班号</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21" name="文本框 20"/>
          <p:cNvSpPr txBox="1"/>
          <p:nvPr/>
        </p:nvSpPr>
        <p:spPr>
          <a:xfrm>
            <a:off x="4658029" y="4840991"/>
            <a:ext cx="4378341" cy="1384995"/>
          </a:xfrm>
          <a:prstGeom prst="rect">
            <a:avLst/>
          </a:prstGeom>
          <a:solidFill>
            <a:schemeClr val="accent4">
              <a:lumMod val="40000"/>
              <a:lumOff val="60000"/>
            </a:schemeClr>
          </a:solidFill>
          <a:ln>
            <a:solidFill>
              <a:srgbClr val="0033CC"/>
            </a:solidFill>
          </a:ln>
        </p:spPr>
        <p:txBody>
          <a:bodyPr wrap="square"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数据文件：学生选课信息</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dirty="0" smtClean="0">
                <a:solidFill>
                  <a:srgbClr val="0033CC"/>
                </a:solidFill>
                <a:latin typeface="宋体" panose="02010600030101010101" pitchFamily="2" charset="-122"/>
                <a:ea typeface="楷体" panose="02010609060101010101" pitchFamily="49" charset="-122"/>
                <a:cs typeface="+mj-lt"/>
              </a:rPr>
              <a:t>文件组成</a:t>
            </a:r>
            <a:r>
              <a:rPr lang="zh-CN" altLang="en-US" sz="2100" dirty="0" smtClean="0">
                <a:solidFill>
                  <a:srgbClr val="0033CC"/>
                </a:solidFill>
                <a:latin typeface="宋体" panose="02010600030101010101" pitchFamily="2" charset="-122"/>
                <a:ea typeface="楷体" panose="02010609060101010101" pitchFamily="49" charset="-122"/>
                <a:cs typeface="+mj-lt"/>
              </a:rPr>
              <a:t>：学号</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选课时间</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smtClean="0">
                <a:solidFill>
                  <a:srgbClr val="0033CC"/>
                </a:solidFill>
                <a:latin typeface="宋体" panose="02010600030101010101" pitchFamily="2" charset="-122"/>
                <a:ea typeface="楷体" panose="02010609060101010101" pitchFamily="49" charset="-122"/>
                <a:cs typeface="+mj-lt"/>
              </a:rPr>
              <a:t>课程名称</a:t>
            </a:r>
            <a:r>
              <a:rPr lang="en-US" altLang="zh-CN" sz="2100" dirty="0" smtClean="0">
                <a:solidFill>
                  <a:srgbClr val="0033CC"/>
                </a:solidFill>
                <a:latin typeface="宋体" panose="02010600030101010101" pitchFamily="2" charset="-122"/>
                <a:ea typeface="楷体" panose="02010609060101010101" pitchFamily="49" charset="-122"/>
                <a:cs typeface="+mj-lt"/>
              </a:rPr>
              <a:t>+</a:t>
            </a:r>
            <a:r>
              <a:rPr lang="zh-CN" altLang="en-US" sz="2100" dirty="0">
                <a:solidFill>
                  <a:srgbClr val="0033CC"/>
                </a:solidFill>
                <a:latin typeface="宋体" panose="02010600030101010101" pitchFamily="2" charset="-122"/>
                <a:ea typeface="楷体" panose="02010609060101010101" pitchFamily="49" charset="-122"/>
                <a:cs typeface="+mj-lt"/>
              </a:rPr>
              <a:t>修</a:t>
            </a:r>
            <a:r>
              <a:rPr lang="zh-CN" altLang="en-US" sz="2100" dirty="0" smtClean="0">
                <a:solidFill>
                  <a:srgbClr val="0033CC"/>
                </a:solidFill>
                <a:latin typeface="宋体" panose="02010600030101010101" pitchFamily="2" charset="-122"/>
                <a:ea typeface="楷体" panose="02010609060101010101" pitchFamily="49" charset="-122"/>
                <a:cs typeface="+mj-lt"/>
              </a:rPr>
              <a:t>课班号</a:t>
            </a:r>
            <a:r>
              <a:rPr lang="en-US" altLang="zh-CN" sz="2100" dirty="0" smtClean="0">
                <a:solidFill>
                  <a:srgbClr val="0033CC"/>
                </a:solidFill>
                <a:latin typeface="宋体" panose="02010600030101010101" pitchFamily="2" charset="-122"/>
                <a:ea typeface="楷体" panose="02010609060101010101" pitchFamily="49" charset="-122"/>
                <a:cs typeface="+mj-lt"/>
              </a:rPr>
              <a:t>}</a:t>
            </a:r>
            <a:endParaRPr lang="en-US" altLang="zh-CN" sz="2100"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dirty="0" smtClean="0">
                <a:solidFill>
                  <a:srgbClr val="0033CC"/>
                </a:solidFill>
                <a:latin typeface="楷体" panose="02010609060101010101" pitchFamily="49" charset="-122"/>
                <a:ea typeface="楷体" panose="02010609060101010101" pitchFamily="49" charset="-122"/>
              </a:rPr>
              <a:t>组织：按学号升序排列</a:t>
            </a:r>
            <a:endParaRPr lang="en-US" altLang="zh-CN" sz="2100" dirty="0" smtClean="0">
              <a:solidFill>
                <a:srgbClr val="0033CC"/>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8" grpId="0" animBg="1"/>
      <p:bldP spid="19"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42292" y="475644"/>
            <a:ext cx="2668270" cy="461665"/>
          </a:xfrm>
          <a:prstGeom prst="rect">
            <a:avLst/>
          </a:prstGeom>
          <a:noFill/>
        </p:spPr>
        <p:txBody>
          <a:bodyPr wrap="square" rtlCol="0" anchor="t">
            <a:spAutoFit/>
          </a:bodyPr>
          <a:lstStyle/>
          <a:p>
            <a:pPr algn="ctr">
              <a:lnSpc>
                <a:spcPct val="100000"/>
              </a:lnSpc>
              <a:buNone/>
            </a:pPr>
            <a:r>
              <a:rPr lang="zh-CN" altLang="en-US" sz="2400" dirty="0" smtClean="0">
                <a:solidFill>
                  <a:srgbClr val="C00000"/>
                </a:solidFill>
                <a:latin typeface="华文中宋" panose="02010600040101010101" pitchFamily="2" charset="-122"/>
                <a:ea typeface="华文中宋" panose="02010600040101010101" pitchFamily="2" charset="-122"/>
                <a:cs typeface="华文中宋" panose="02010600040101010101" pitchFamily="2" charset="-122"/>
                <a:sym typeface="+mn-ea"/>
              </a:rPr>
              <a:t>数据字典</a:t>
            </a:r>
            <a:endParaRPr lang="zh-CN" altLang="en-US" sz="24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3" name="文本框 2"/>
          <p:cNvSpPr txBox="1"/>
          <p:nvPr/>
        </p:nvSpPr>
        <p:spPr>
          <a:xfrm>
            <a:off x="414872" y="367588"/>
            <a:ext cx="6027420" cy="568960"/>
          </a:xfrm>
          <a:prstGeom prst="rect">
            <a:avLst/>
          </a:prstGeom>
          <a:noFill/>
        </p:spPr>
        <p:txBody>
          <a:bodyPr wrap="square" rtlCol="0" anchor="t">
            <a:spAutoFit/>
          </a:bodyPr>
          <a:lstStyle/>
          <a:p>
            <a:pPr algn="l">
              <a:buClrTx/>
              <a:buSzTx/>
              <a:buNone/>
            </a:pP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1. </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数据驱动建模</a:t>
            </a:r>
            <a:r>
              <a:rPr lang="en-US" altLang="zh-CN"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rPr>
              <a:t>数据流图</a:t>
            </a:r>
            <a:endParaRPr lang="zh-CN" altLang="en-US" sz="2300" dirty="0">
              <a:ln>
                <a:noFill/>
              </a:ln>
              <a:solidFill>
                <a:srgbClr val="0033CC"/>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
        <p:nvSpPr>
          <p:cNvPr id="8" name="文本框 7"/>
          <p:cNvSpPr txBox="1"/>
          <p:nvPr/>
        </p:nvSpPr>
        <p:spPr>
          <a:xfrm>
            <a:off x="722414" y="1227992"/>
            <a:ext cx="3417549" cy="1384995"/>
          </a:xfrm>
          <a:prstGeom prst="rect">
            <a:avLst/>
          </a:prstGeom>
          <a:solidFill>
            <a:schemeClr val="accent5">
              <a:lumMod val="20000"/>
              <a:lumOff val="80000"/>
            </a:schemeClr>
          </a:solidFill>
          <a:ln>
            <a:solidFill>
              <a:srgbClr val="0033CC"/>
            </a:solidFill>
          </a:ln>
        </p:spPr>
        <p:txBody>
          <a:bodyPr wrap="square" lIns="0"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数据项：选课时间</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数据类型：日期型</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数据长度：</a:t>
            </a:r>
            <a:r>
              <a:rPr lang="en-US" altLang="zh-CN" sz="2100" b="1" dirty="0" smtClean="0">
                <a:solidFill>
                  <a:srgbClr val="0033CC"/>
                </a:solidFill>
                <a:latin typeface="宋体" panose="02010600030101010101" pitchFamily="2" charset="-122"/>
                <a:ea typeface="楷体" panose="02010609060101010101" pitchFamily="49" charset="-122"/>
                <a:cs typeface="+mj-lt"/>
              </a:rPr>
              <a:t>10</a:t>
            </a:r>
            <a:r>
              <a:rPr lang="zh-CN" altLang="en-US" sz="2100" b="1" dirty="0" smtClean="0">
                <a:solidFill>
                  <a:srgbClr val="0033CC"/>
                </a:solidFill>
                <a:latin typeface="宋体" panose="02010600030101010101" pitchFamily="2" charset="-122"/>
                <a:ea typeface="楷体" panose="02010609060101010101" pitchFamily="49" charset="-122"/>
                <a:cs typeface="+mj-lt"/>
              </a:rPr>
              <a:t>位</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数据构成：年</a:t>
            </a:r>
            <a:r>
              <a:rPr lang="en-US" altLang="zh-CN" sz="2100" b="1" dirty="0" smtClean="0">
                <a:solidFill>
                  <a:srgbClr val="0033CC"/>
                </a:solidFill>
                <a:latin typeface="宋体" panose="02010600030101010101" pitchFamily="2" charset="-122"/>
                <a:ea typeface="楷体" panose="02010609060101010101" pitchFamily="49" charset="-122"/>
                <a:cs typeface="+mj-lt"/>
              </a:rPr>
              <a:t>+</a:t>
            </a:r>
            <a:r>
              <a:rPr lang="zh-CN" altLang="en-US" sz="2100" b="1" dirty="0" smtClean="0">
                <a:solidFill>
                  <a:srgbClr val="0033CC"/>
                </a:solidFill>
                <a:latin typeface="宋体" panose="02010600030101010101" pitchFamily="2" charset="-122"/>
                <a:ea typeface="楷体" panose="02010609060101010101" pitchFamily="49" charset="-122"/>
                <a:cs typeface="+mj-lt"/>
              </a:rPr>
              <a:t>月</a:t>
            </a:r>
            <a:r>
              <a:rPr lang="en-US" altLang="zh-CN" sz="2100" b="1" dirty="0" smtClean="0">
                <a:solidFill>
                  <a:srgbClr val="0033CC"/>
                </a:solidFill>
                <a:latin typeface="宋体" panose="02010600030101010101" pitchFamily="2" charset="-122"/>
                <a:ea typeface="楷体" panose="02010609060101010101" pitchFamily="49" charset="-122"/>
                <a:cs typeface="+mj-lt"/>
              </a:rPr>
              <a:t>+</a:t>
            </a:r>
            <a:r>
              <a:rPr lang="zh-CN" altLang="en-US" sz="2100" b="1" dirty="0" smtClean="0">
                <a:solidFill>
                  <a:srgbClr val="0033CC"/>
                </a:solidFill>
                <a:latin typeface="宋体" panose="02010600030101010101" pitchFamily="2" charset="-122"/>
                <a:ea typeface="楷体" panose="02010609060101010101" pitchFamily="49" charset="-122"/>
                <a:cs typeface="+mj-lt"/>
              </a:rPr>
              <a:t>日</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9" name="文本框 8"/>
          <p:cNvSpPr txBox="1"/>
          <p:nvPr/>
        </p:nvSpPr>
        <p:spPr>
          <a:xfrm>
            <a:off x="4508565" y="1227993"/>
            <a:ext cx="3867453" cy="1384995"/>
          </a:xfrm>
          <a:prstGeom prst="rect">
            <a:avLst/>
          </a:prstGeom>
          <a:solidFill>
            <a:schemeClr val="accent5">
              <a:lumMod val="20000"/>
              <a:lumOff val="80000"/>
            </a:schemeClr>
          </a:solidFill>
          <a:ln>
            <a:solidFill>
              <a:srgbClr val="0033CC"/>
            </a:solidFill>
          </a:ln>
        </p:spPr>
        <p:txBody>
          <a:bodyPr wrap="square" lIns="0"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数据项：学号</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数据类型：字符型</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数据长度：</a:t>
            </a:r>
            <a:r>
              <a:rPr lang="en-US" altLang="zh-CN" sz="2100" b="1" dirty="0" smtClean="0">
                <a:solidFill>
                  <a:srgbClr val="0033CC"/>
                </a:solidFill>
                <a:latin typeface="宋体" panose="02010600030101010101" pitchFamily="2" charset="-122"/>
                <a:ea typeface="楷体" panose="02010609060101010101" pitchFamily="49" charset="-122"/>
                <a:cs typeface="+mj-lt"/>
              </a:rPr>
              <a:t>8</a:t>
            </a:r>
            <a:r>
              <a:rPr lang="zh-CN" altLang="en-US" sz="2100" b="1" dirty="0" smtClean="0">
                <a:solidFill>
                  <a:srgbClr val="0033CC"/>
                </a:solidFill>
                <a:latin typeface="宋体" panose="02010600030101010101" pitchFamily="2" charset="-122"/>
                <a:ea typeface="楷体" panose="02010609060101010101" pitchFamily="49" charset="-122"/>
                <a:cs typeface="+mj-lt"/>
              </a:rPr>
              <a:t>位</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数据构成：入学年号</a:t>
            </a:r>
            <a:r>
              <a:rPr lang="en-US" altLang="zh-CN" sz="2100" b="1" dirty="0" smtClean="0">
                <a:solidFill>
                  <a:srgbClr val="0033CC"/>
                </a:solidFill>
                <a:latin typeface="宋体" panose="02010600030101010101" pitchFamily="2" charset="-122"/>
                <a:ea typeface="楷体" panose="02010609060101010101" pitchFamily="49" charset="-122"/>
                <a:cs typeface="+mj-lt"/>
              </a:rPr>
              <a:t>+</a:t>
            </a:r>
            <a:r>
              <a:rPr lang="zh-CN" altLang="en-US" sz="2100" b="1" dirty="0" smtClean="0">
                <a:solidFill>
                  <a:srgbClr val="0033CC"/>
                </a:solidFill>
                <a:latin typeface="宋体" panose="02010600030101010101" pitchFamily="2" charset="-122"/>
                <a:ea typeface="楷体" panose="02010609060101010101" pitchFamily="49" charset="-122"/>
                <a:cs typeface="+mj-lt"/>
              </a:rPr>
              <a:t>顺序号</a:t>
            </a:r>
            <a:endParaRPr lang="en-US" altLang="zh-CN" sz="2100" dirty="0" smtClean="0">
              <a:solidFill>
                <a:srgbClr val="0033CC"/>
              </a:solidFill>
              <a:latin typeface="楷体" panose="02010609060101010101" pitchFamily="49" charset="-122"/>
              <a:ea typeface="楷体" panose="02010609060101010101" pitchFamily="49" charset="-122"/>
            </a:endParaRPr>
          </a:p>
        </p:txBody>
      </p:sp>
      <p:sp>
        <p:nvSpPr>
          <p:cNvPr id="10" name="文本框 9"/>
          <p:cNvSpPr txBox="1"/>
          <p:nvPr/>
        </p:nvSpPr>
        <p:spPr>
          <a:xfrm>
            <a:off x="719208" y="2765285"/>
            <a:ext cx="3417549" cy="1061829"/>
          </a:xfrm>
          <a:prstGeom prst="rect">
            <a:avLst/>
          </a:prstGeom>
          <a:solidFill>
            <a:schemeClr val="accent5">
              <a:lumMod val="20000"/>
              <a:lumOff val="80000"/>
            </a:schemeClr>
          </a:solidFill>
          <a:ln>
            <a:solidFill>
              <a:srgbClr val="0033CC"/>
            </a:solidFill>
          </a:ln>
        </p:spPr>
        <p:txBody>
          <a:bodyPr wrap="square" lIns="0"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数据项：课程名称</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数据类型：字符型</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数据长度：</a:t>
            </a:r>
            <a:r>
              <a:rPr lang="en-US" altLang="zh-CN" sz="2100" b="1" dirty="0" smtClean="0">
                <a:solidFill>
                  <a:srgbClr val="0033CC"/>
                </a:solidFill>
                <a:latin typeface="宋体" panose="02010600030101010101" pitchFamily="2" charset="-122"/>
                <a:ea typeface="楷体" panose="02010609060101010101" pitchFamily="49" charset="-122"/>
                <a:cs typeface="+mj-lt"/>
              </a:rPr>
              <a:t>20</a:t>
            </a:r>
            <a:r>
              <a:rPr lang="zh-CN" altLang="en-US" sz="2100" b="1" dirty="0" smtClean="0">
                <a:solidFill>
                  <a:srgbClr val="0033CC"/>
                </a:solidFill>
                <a:latin typeface="宋体" panose="02010600030101010101" pitchFamily="2" charset="-122"/>
                <a:ea typeface="楷体" panose="02010609060101010101" pitchFamily="49" charset="-122"/>
                <a:cs typeface="+mj-lt"/>
              </a:rPr>
              <a:t>位</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p:txBody>
      </p:sp>
      <p:sp>
        <p:nvSpPr>
          <p:cNvPr id="11" name="文本框 10"/>
          <p:cNvSpPr txBox="1"/>
          <p:nvPr/>
        </p:nvSpPr>
        <p:spPr>
          <a:xfrm>
            <a:off x="4508565" y="2770055"/>
            <a:ext cx="3867453" cy="1061829"/>
          </a:xfrm>
          <a:prstGeom prst="rect">
            <a:avLst/>
          </a:prstGeom>
          <a:solidFill>
            <a:schemeClr val="accent5">
              <a:lumMod val="20000"/>
              <a:lumOff val="80000"/>
            </a:schemeClr>
          </a:solidFill>
          <a:ln>
            <a:solidFill>
              <a:srgbClr val="0033CC"/>
            </a:solidFill>
          </a:ln>
        </p:spPr>
        <p:txBody>
          <a:bodyPr wrap="square" lIns="0" rtlCol="0" anchor="t">
            <a:spAutoFit/>
          </a:bodyPr>
          <a:lstStyle/>
          <a:p>
            <a:pPr>
              <a:spcBef>
                <a:spcPts val="0"/>
              </a:spcBef>
              <a:spcAft>
                <a:spcPts val="0"/>
              </a:spcAft>
              <a:buNone/>
            </a:pPr>
            <a:r>
              <a:rPr lang="zh-CN" altLang="en-US" sz="2100" b="1" dirty="0" smtClean="0">
                <a:latin typeface="宋体" panose="02010600030101010101" pitchFamily="2" charset="-122"/>
                <a:cs typeface="+mj-lt"/>
              </a:rPr>
              <a:t>数据项：修课班号</a:t>
            </a:r>
            <a:endParaRPr lang="en-US" altLang="zh-CN" sz="2100" b="1" dirty="0" smtClean="0">
              <a:latin typeface="宋体" panose="02010600030101010101" pitchFamily="2"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数据类型：字符型</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a:p>
            <a:pPr>
              <a:spcBef>
                <a:spcPts val="0"/>
              </a:spcBef>
              <a:spcAft>
                <a:spcPts val="0"/>
              </a:spcAft>
              <a:buNone/>
            </a:pPr>
            <a:r>
              <a:rPr lang="zh-CN" altLang="en-US" sz="2100" b="1" dirty="0" smtClean="0">
                <a:solidFill>
                  <a:srgbClr val="0033CC"/>
                </a:solidFill>
                <a:latin typeface="宋体" panose="02010600030101010101" pitchFamily="2" charset="-122"/>
                <a:ea typeface="楷体" panose="02010609060101010101" pitchFamily="49" charset="-122"/>
                <a:cs typeface="+mj-lt"/>
              </a:rPr>
              <a:t>数据长度：</a:t>
            </a:r>
            <a:r>
              <a:rPr lang="en-US" altLang="zh-CN" sz="2100" b="1" dirty="0" smtClean="0">
                <a:solidFill>
                  <a:srgbClr val="0033CC"/>
                </a:solidFill>
                <a:latin typeface="宋体" panose="02010600030101010101" pitchFamily="2" charset="-122"/>
                <a:ea typeface="楷体" panose="02010609060101010101" pitchFamily="49" charset="-122"/>
                <a:cs typeface="+mj-lt"/>
              </a:rPr>
              <a:t>10</a:t>
            </a:r>
            <a:r>
              <a:rPr lang="zh-CN" altLang="en-US" sz="2100" b="1" dirty="0" smtClean="0">
                <a:solidFill>
                  <a:srgbClr val="0033CC"/>
                </a:solidFill>
                <a:latin typeface="宋体" panose="02010600030101010101" pitchFamily="2" charset="-122"/>
                <a:ea typeface="楷体" panose="02010609060101010101" pitchFamily="49" charset="-122"/>
                <a:cs typeface="+mj-lt"/>
              </a:rPr>
              <a:t>位</a:t>
            </a:r>
            <a:endParaRPr lang="en-US" altLang="zh-CN" sz="2100" b="1" dirty="0" smtClean="0">
              <a:solidFill>
                <a:srgbClr val="0033CC"/>
              </a:solidFill>
              <a:latin typeface="宋体" panose="02010600030101010101" pitchFamily="2" charset="-122"/>
              <a:ea typeface="楷体" panose="02010609060101010101" pitchFamily="49" charset="-122"/>
              <a:cs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87718" y="2636934"/>
            <a:ext cx="7010252" cy="646331"/>
          </a:xfrm>
          <a:prstGeom prst="rect">
            <a:avLst/>
          </a:prstGeom>
          <a:noFill/>
        </p:spPr>
        <p:txBody>
          <a:bodyPr wrap="none" rtlCol="0" anchor="t">
            <a:spAutoFit/>
          </a:bodyPr>
          <a:lstStyle/>
          <a:p>
            <a:pPr>
              <a:buFont typeface="Wingdings" panose="05000000000000000000" charset="0"/>
              <a:buChar char="p"/>
            </a:pPr>
            <a:r>
              <a:rPr lang="en-US" altLang="zh-CN" sz="36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 </a:t>
            </a:r>
            <a:r>
              <a:rPr lang="zh-CN" altLang="en-US" sz="3600" dirty="0" smtClean="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rPr>
              <a:t>详细案例参见</a:t>
            </a:r>
            <a:r>
              <a:rPr lang="zh-CN" altLang="en-US" sz="3600" dirty="0" smtClean="0">
                <a:solidFill>
                  <a:srgbClr val="C00000"/>
                </a:solidFill>
                <a:latin typeface="华文中宋" panose="02010600040101010101" pitchFamily="2" charset="-122"/>
                <a:ea typeface="华文中宋" panose="02010600040101010101" pitchFamily="2" charset="-122"/>
                <a:cs typeface="华文中宋" panose="02010600040101010101" pitchFamily="2" charset="-122"/>
                <a:sym typeface="+mn-ea"/>
              </a:rPr>
              <a:t>教材</a:t>
            </a:r>
            <a:r>
              <a:rPr lang="en-US" altLang="zh-CN" sz="3600" dirty="0" smtClean="0">
                <a:solidFill>
                  <a:srgbClr val="C00000"/>
                </a:solidFill>
                <a:latin typeface="华文中宋" panose="02010600040101010101" pitchFamily="2" charset="-122"/>
                <a:ea typeface="华文中宋" panose="02010600040101010101" pitchFamily="2" charset="-122"/>
                <a:cs typeface="华文中宋" panose="02010600040101010101" pitchFamily="2" charset="-122"/>
                <a:sym typeface="+mn-ea"/>
              </a:rPr>
              <a:t>p333~p337</a:t>
            </a:r>
            <a:endParaRPr lang="zh-CN" altLang="en-US" sz="3600" dirty="0">
              <a:ln>
                <a:noFill/>
              </a:ln>
              <a:solidFill>
                <a:srgbClr val="C00000"/>
              </a:solidFill>
              <a:effectLst/>
              <a:latin typeface="华文中宋" panose="02010600040101010101" pitchFamily="2" charset="-122"/>
              <a:ea typeface="华文中宋" panose="02010600040101010101" pitchFamily="2" charset="-122"/>
              <a:cs typeface="华文中宋" panose="02010600040101010101" pitchFamily="2" charset="-122"/>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Mzk4Nzg4NDc1NjA2Y2VkNjc0OTUxMTcxOWEwYTVlM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3792</Words>
  <Application>WPS 演示</Application>
  <PresentationFormat>全屏显示(4:3)</PresentationFormat>
  <Paragraphs>391</Paragraphs>
  <Slides>20</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宋体</vt:lpstr>
      <vt:lpstr>Wingdings</vt:lpstr>
      <vt:lpstr>Calibri</vt:lpstr>
      <vt:lpstr>楷体</vt:lpstr>
      <vt:lpstr>华文楷体</vt:lpstr>
      <vt:lpstr>华文中宋</vt:lpstr>
      <vt:lpstr>Times New Roman</vt:lpstr>
      <vt:lpstr>Wingdings</vt:lpstr>
      <vt:lpstr>微软雅黑</vt:lpstr>
      <vt:lpstr>Arial Unicode MS</vt:lpstr>
      <vt:lpstr>Office 主题</vt:lpstr>
      <vt:lpstr>PowerPoint 演示文稿</vt:lpstr>
      <vt:lpstr>课程设计实验必须完成的环节</vt:lpstr>
      <vt:lpstr>实验考核方式</vt:lpstr>
      <vt:lpstr>实验成绩的评定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7407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实验必须完成的环节</dc:title>
  <dc:creator>7307-1</dc:creator>
  <cp:lastModifiedBy>乐乐</cp:lastModifiedBy>
  <cp:revision>66</cp:revision>
  <dcterms:created xsi:type="dcterms:W3CDTF">2018-05-09T08:11:00Z</dcterms:created>
  <dcterms:modified xsi:type="dcterms:W3CDTF">2025-04-10T12:10:10Z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3A41371131E64EB6B3A41827671C6AF2_13</vt:lpwstr>
  </property>
</Properties>
</file>