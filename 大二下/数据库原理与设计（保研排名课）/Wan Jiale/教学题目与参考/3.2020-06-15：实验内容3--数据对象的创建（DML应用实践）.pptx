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41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96" y="-126"/>
      </p:cViewPr>
      <p:guideLst>
        <p:guide orient="horz" pos="2160"/>
        <p:guide pos="285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标题 3"/>
          <p:cNvSpPr>
            <a:spLocks noGrp="1"/>
          </p:cNvSpPr>
          <p:nvPr/>
        </p:nvSpPr>
        <p:spPr>
          <a:xfrm>
            <a:off x="457200" y="537528"/>
            <a:ext cx="8229600" cy="8509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实验三</a:t>
            </a:r>
            <a:r>
              <a:rPr lang="zh-CN" altLang="en-US" sz="3600" b="1" dirty="0">
                <a:solidFill>
                  <a:schemeClr val="accent3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3600" b="1" dirty="0">
                <a:solidFill>
                  <a:schemeClr val="accent3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DML</a:t>
            </a:r>
            <a:r>
              <a:rPr lang="zh-CN" altLang="en-US" sz="3600" b="1" dirty="0">
                <a:solidFill>
                  <a:schemeClr val="accent3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数据操纵</a:t>
            </a:r>
            <a:r>
              <a:rPr lang="zh-CN" altLang="en-US" sz="3600" b="1" dirty="0">
                <a:solidFill>
                  <a:schemeClr val="accent3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</a:t>
            </a:r>
            <a:endParaRPr lang="zh-CN" altLang="en-US" sz="3600" b="1" dirty="0">
              <a:solidFill>
                <a:schemeClr val="accent3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sz="3600" b="1" dirty="0">
                <a:solidFill>
                  <a:schemeClr val="accent3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（本周和下周）</a:t>
            </a:r>
            <a:endParaRPr lang="zh-CN" altLang="en-US" sz="3600" b="1" dirty="0">
              <a:solidFill>
                <a:schemeClr val="accent3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92150" y="1931035"/>
            <a:ext cx="7924800" cy="455803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145" tIns="0" rIns="144145" rtlCol="0" anchor="ctr"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>
                <a:solidFill>
                  <a:schemeClr val="tx1"/>
                </a:solidFill>
              </a:rPr>
              <a:t>1</a:t>
            </a:r>
            <a:r>
              <a:rPr lang="zh-CN" altLang="en-US" sz="2000" b="1">
                <a:solidFill>
                  <a:schemeClr val="tx1"/>
                </a:solidFill>
              </a:rPr>
              <a:t>、插入数据INSERT操作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</a:rPr>
              <a:t>数据库中每张表插入至少</a:t>
            </a:r>
            <a:r>
              <a:rPr lang="en-US" altLang="zh-CN" sz="2000" b="1">
                <a:solidFill>
                  <a:schemeClr val="tx1"/>
                </a:solidFill>
              </a:rPr>
              <a:t>20</a:t>
            </a:r>
            <a:r>
              <a:rPr lang="zh-CN" altLang="en-US" sz="2000" b="1">
                <a:solidFill>
                  <a:schemeClr val="tx1"/>
                </a:solidFill>
              </a:rPr>
              <a:t>条数据，同一组每个人的数据要求不同，每位同学录入的数据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要求</a:t>
            </a:r>
            <a:r>
              <a:rPr lang="zh-CN" altLang="en-US" sz="2000" b="1">
                <a:solidFill>
                  <a:schemeClr val="tx1"/>
                </a:solidFill>
              </a:rPr>
              <a:t>符合设计题目的语义</a:t>
            </a:r>
            <a:r>
              <a:rPr lang="zh-CN" altLang="en-US" sz="2000" b="1">
                <a:solidFill>
                  <a:schemeClr val="tx1"/>
                </a:solidFill>
              </a:rPr>
              <a:t>。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>
                <a:solidFill>
                  <a:schemeClr val="tx1"/>
                </a:solidFill>
              </a:rPr>
              <a:t>2</a:t>
            </a:r>
            <a:r>
              <a:rPr lang="zh-CN" altLang="en-US" sz="2000" b="1">
                <a:solidFill>
                  <a:schemeClr val="tx1"/>
                </a:solidFill>
              </a:rPr>
              <a:t>、</a:t>
            </a:r>
            <a:r>
              <a:rPr lang="zh-CN" sz="2000" b="1">
                <a:solidFill>
                  <a:schemeClr val="tx1"/>
                </a:solidFill>
              </a:rPr>
              <a:t>修改</a:t>
            </a:r>
            <a:r>
              <a:rPr sz="2000" b="1">
                <a:solidFill>
                  <a:schemeClr val="tx1"/>
                </a:solidFill>
              </a:rPr>
              <a:t>数据</a:t>
            </a:r>
            <a:r>
              <a:rPr lang="en-US" sz="2000" b="1">
                <a:solidFill>
                  <a:schemeClr val="tx1"/>
                </a:solidFill>
              </a:rPr>
              <a:t>UPDATE</a:t>
            </a:r>
            <a:r>
              <a:rPr sz="2000" b="1">
                <a:solidFill>
                  <a:schemeClr val="tx1"/>
                </a:solidFill>
              </a:rPr>
              <a:t>操作</a:t>
            </a:r>
            <a:endParaRPr sz="2000" b="1">
              <a:solidFill>
                <a:schemeClr val="tx1"/>
              </a:solidFill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</a:rPr>
              <a:t>（</a:t>
            </a:r>
            <a:r>
              <a:rPr lang="en-US" altLang="zh-CN" sz="2000" b="1">
                <a:solidFill>
                  <a:schemeClr val="tx1"/>
                </a:solidFill>
              </a:rPr>
              <a:t>1</a:t>
            </a:r>
            <a:r>
              <a:rPr lang="zh-CN" altLang="en-US" sz="2000" b="1">
                <a:solidFill>
                  <a:schemeClr val="tx1"/>
                </a:solidFill>
              </a:rPr>
              <a:t>）修改条件在需要被修改的表中，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例如：p396实验11-7中</a:t>
            </a:r>
            <a:r>
              <a:rPr lang="en-US" altLang="zh-CN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(1)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将salary表中工号为000006的员工工资增加为1800，奖金增加为160</a:t>
            </a:r>
            <a:r>
              <a:rPr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</a:t>
            </a:r>
            <a:endParaRPr lang="zh-CN" altLang="en-US" sz="2000" b="1">
              <a:solidFill>
                <a:srgbClr val="1D41D5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</a:rPr>
              <a:t>（</a:t>
            </a:r>
            <a:r>
              <a:rPr lang="en-US" altLang="zh-CN" sz="2000" b="1">
                <a:solidFill>
                  <a:schemeClr val="tx1"/>
                </a:solidFill>
              </a:rPr>
              <a:t>2</a:t>
            </a:r>
            <a:r>
              <a:rPr lang="zh-CN" altLang="en-US" sz="2000" b="1">
                <a:solidFill>
                  <a:schemeClr val="tx1"/>
                </a:solidFill>
              </a:rPr>
              <a:t>）修改条件在其它表中，需要多表连接查询，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例如：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p396实验11-7中</a:t>
            </a:r>
            <a:r>
              <a:rPr lang="en-US" altLang="zh-CN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(2)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利用SQL语句将两年内没有签订单的员工奖金下调25%</a:t>
            </a:r>
            <a:r>
              <a:rPr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</a:t>
            </a:r>
            <a:endParaRPr lang="zh-CN" altLang="en-US" sz="2000" b="1">
              <a:solidFill>
                <a:srgbClr val="1D41D5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>
                <a:solidFill>
                  <a:schemeClr val="tx1"/>
                </a:solidFill>
                <a:sym typeface="+mn-ea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、删除数据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DELETE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操作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）删除条件在需要被删除的表中，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例如：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p396中</a:t>
            </a:r>
            <a:r>
              <a:rPr lang="en-US" altLang="zh-CN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11-8</a:t>
            </a:r>
            <a:r>
              <a:rPr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删除person表中工号为000010的员工数据。</a:t>
            </a:r>
            <a:endParaRPr lang="zh-CN" altLang="en-US" sz="2000" b="1">
              <a:solidFill>
                <a:srgbClr val="1D41D5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）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删除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条件在其它表中，需要多表连接查询删除，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例如：删除五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年内没有订单的客户信息</a:t>
            </a:r>
            <a:r>
              <a:rPr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58165" y="1532255"/>
            <a:ext cx="35693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参照教材</a:t>
            </a:r>
            <a:r>
              <a:rPr lang="en-US" altLang="zh-CN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11.1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和</a:t>
            </a:r>
            <a:r>
              <a:rPr lang="en-US" altLang="zh-CN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11.2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节</a:t>
            </a:r>
            <a:endParaRPr lang="zh-CN" altLang="en-US" sz="20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文本框 13"/>
          <p:cNvSpPr txBox="1"/>
          <p:nvPr/>
        </p:nvSpPr>
        <p:spPr>
          <a:xfrm>
            <a:off x="408940" y="389255"/>
            <a:ext cx="35693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参照教材</a:t>
            </a:r>
            <a:r>
              <a:rPr lang="en-US" altLang="zh-CN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11.1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和</a:t>
            </a:r>
            <a:r>
              <a:rPr lang="en-US" altLang="zh-CN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11.2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节</a:t>
            </a:r>
            <a:endParaRPr lang="zh-CN" altLang="en-US" sz="20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4830" y="859790"/>
            <a:ext cx="8054340" cy="540258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145" tIns="0" rIns="144145" rtlCol="0" anchor="ctr"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000" b="1">
                <a:solidFill>
                  <a:schemeClr val="tx1"/>
                </a:solidFill>
                <a:sym typeface="+mn-ea"/>
              </a:rPr>
              <a:t>4、触发器验证</a:t>
            </a:r>
            <a:endParaRPr lang="en-US" altLang="zh-CN" sz="2000" b="1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000" b="1">
                <a:solidFill>
                  <a:schemeClr val="tx1"/>
                </a:solidFill>
                <a:sym typeface="+mn-ea"/>
              </a:rPr>
              <a:t>通过对数据的操纵完成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DDL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实验中所设计的触发器的验证。</a:t>
            </a:r>
            <a:endParaRPr lang="zh-CN" altLang="en-US" sz="2000" b="1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000" b="1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）动态约束触发器的验证。</a:t>
            </a:r>
            <a:endParaRPr lang="zh-CN" altLang="en-US" sz="2000" b="1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000" b="1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）显式约束触发器的验证。</a:t>
            </a:r>
            <a:endParaRPr lang="zh-CN" altLang="en-US" sz="2000" b="1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>
                <a:solidFill>
                  <a:schemeClr val="tx1"/>
                </a:solidFill>
              </a:rPr>
              <a:t>5</a:t>
            </a:r>
            <a:r>
              <a:rPr lang="zh-CN" altLang="en-US" sz="2000" b="1">
                <a:solidFill>
                  <a:schemeClr val="tx1"/>
                </a:solidFill>
              </a:rPr>
              <a:t>、视图数据操纵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</a:rPr>
              <a:t>（</a:t>
            </a:r>
            <a:r>
              <a:rPr lang="en-US" altLang="zh-CN" sz="2000" b="1">
                <a:solidFill>
                  <a:schemeClr val="tx1"/>
                </a:solidFill>
              </a:rPr>
              <a:t>1</a:t>
            </a:r>
            <a:r>
              <a:rPr lang="zh-CN" altLang="en-US" sz="2000" b="1">
                <a:solidFill>
                  <a:schemeClr val="tx1"/>
                </a:solidFill>
              </a:rPr>
              <a:t>）通过视图更新数据</a:t>
            </a:r>
            <a:r>
              <a:rPr lang="zh-CN" altLang="en-US" sz="2000" b="1">
                <a:solidFill>
                  <a:schemeClr val="tx1"/>
                </a:solidFill>
              </a:rPr>
              <a:t>。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例如：</a:t>
            </a:r>
            <a:r>
              <a:rPr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实验11-9：将“顾客”视图CustermerView中姓名为“王云”的顾客的购买折扣改为0.85</a:t>
            </a:r>
            <a:r>
              <a:rPr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</a:t>
            </a:r>
            <a:endParaRPr sz="2000" b="1">
              <a:solidFill>
                <a:srgbClr val="1D41D5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）通过视图插入数据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。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例如：</a:t>
            </a:r>
            <a:r>
              <a:rPr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实验11-10：向视图CustermerView中插入一行数据。</a:t>
            </a:r>
            <a:endParaRPr sz="2000" b="1">
              <a:solidFill>
                <a:srgbClr val="1D41D5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  <a:sym typeface="+mn-ea"/>
              </a:rPr>
              <a:t>（3）通过多表连接视图查询数据。</a:t>
            </a:r>
            <a:endParaRPr lang="zh-CN" altLang="en-US" sz="2000" b="1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>
                <a:solidFill>
                  <a:schemeClr val="tx1"/>
                </a:solidFill>
                <a:sym typeface="+mn-ea"/>
              </a:rPr>
              <a:t>6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、单表数据查询</a:t>
            </a:r>
            <a:endParaRPr lang="zh-CN" altLang="en-US" sz="2000" b="1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）无条件查询。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例如：</a:t>
            </a:r>
            <a:r>
              <a:rPr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实验11-1</a:t>
            </a:r>
            <a:r>
              <a:rPr 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2</a:t>
            </a:r>
            <a:r>
              <a:rPr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：</a:t>
            </a:r>
            <a:r>
              <a:rPr lang="zh-CN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查询</a:t>
            </a:r>
            <a:r>
              <a:rPr lang="en-US" altLang="zh-CN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Person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表的所有</a:t>
            </a:r>
            <a:r>
              <a:rPr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数据。</a:t>
            </a:r>
            <a:endParaRPr sz="2000" b="1">
              <a:solidFill>
                <a:srgbClr val="1D41D5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）使用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DISTINCT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查询。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例如：实验11-13：查询person表中所有不重复的部门。</a:t>
            </a:r>
            <a:endParaRPr lang="zh-CN" altLang="en-US" sz="2000" b="1">
              <a:solidFill>
                <a:srgbClr val="1D41D5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  <a:sym typeface="+mn-ea"/>
              </a:rPr>
              <a:t>（3）等于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条件查询。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例如：查询person表中部门女经理的数据。</a:t>
            </a:r>
            <a:endParaRPr lang="zh-CN" altLang="en-US" sz="20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文本框 13"/>
          <p:cNvSpPr txBox="1"/>
          <p:nvPr/>
        </p:nvSpPr>
        <p:spPr>
          <a:xfrm>
            <a:off x="408940" y="389255"/>
            <a:ext cx="35693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参照教材</a:t>
            </a:r>
            <a:r>
              <a:rPr lang="en-US" altLang="zh-CN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11.1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和</a:t>
            </a:r>
            <a:r>
              <a:rPr lang="en-US" altLang="zh-CN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11.2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节</a:t>
            </a:r>
            <a:endParaRPr lang="zh-CN" altLang="en-US" sz="20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23240" y="788035"/>
            <a:ext cx="8004175" cy="55816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145" tIns="36195" rIns="144145" rtlCol="0" anchor="ctr"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）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in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条件查询。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例如：实验11-13</a:t>
            </a:r>
            <a:r>
              <a:rPr lang="en-US" altLang="zh-CN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:(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3</a:t>
            </a:r>
            <a:r>
              <a:rPr lang="en-US" altLang="zh-CN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)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查询person表中姓名为林峰、谢志文和罗向东的员工数据。</a:t>
            </a:r>
            <a:endParaRPr lang="zh-CN" altLang="en-US" sz="2000" b="1">
              <a:solidFill>
                <a:srgbClr val="1D41D5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5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）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Between and+order by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条件查询。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例如：</a:t>
            </a:r>
            <a:r>
              <a:rPr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实验11-13：（4）查询工号为000003~000008的员工的月收入按实发工资升序排序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</a:rPr>
              <a:t>（</a:t>
            </a:r>
            <a:r>
              <a:rPr lang="en-US" altLang="zh-CN" sz="2000" b="1">
                <a:solidFill>
                  <a:schemeClr val="tx1"/>
                </a:solidFill>
              </a:rPr>
              <a:t>6</a:t>
            </a:r>
            <a:r>
              <a:rPr lang="zh-CN" altLang="en-US" sz="2000" b="1">
                <a:solidFill>
                  <a:schemeClr val="tx1"/>
                </a:solidFill>
              </a:rPr>
              <a:t>）条件查询后计算。</a:t>
            </a:r>
            <a:r>
              <a:rPr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实验11-13</a:t>
            </a:r>
            <a:r>
              <a:rPr 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:(</a:t>
            </a:r>
            <a:r>
              <a:rPr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5</a:t>
            </a:r>
            <a:r>
              <a:rPr 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)</a:t>
            </a:r>
            <a:r>
              <a:rPr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查询工号为000002的员工的基本工资增加2倍，奖金增加1.5倍后的实际收入</a:t>
            </a:r>
            <a:r>
              <a:rPr lang="zh-CN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</a:t>
            </a:r>
            <a:endParaRPr lang="zh-CN" sz="2000" b="1">
              <a:solidFill>
                <a:srgbClr val="1D41D5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  <a:sym typeface="+mn-ea"/>
              </a:rPr>
              <a:t>（7）模糊查询。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例如：</a:t>
            </a:r>
            <a:r>
              <a:rPr lang="zh-CN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查询</a:t>
            </a:r>
            <a:r>
              <a:rPr lang="en-US" altLang="zh-CN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Person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表中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姓李的员工的信息。</a:t>
            </a:r>
            <a:endParaRPr lang="zh-CN" altLang="en-US" sz="2000" b="1">
              <a:solidFill>
                <a:srgbClr val="1D41D5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  <a:sym typeface="+mn-ea"/>
              </a:rPr>
              <a:t>（8）带聚集函数的查询。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例如：</a:t>
            </a:r>
            <a:r>
              <a:rPr lang="zh-CN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查询</a:t>
            </a:r>
            <a:r>
              <a:rPr lang="en-US" altLang="zh-CN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Person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表中女性员工的数量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</a:t>
            </a:r>
            <a:endParaRPr lang="zh-CN" altLang="en-US" sz="2000" b="1">
              <a:solidFill>
                <a:srgbClr val="1D41D5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  <a:sym typeface="+mn-ea"/>
              </a:rPr>
              <a:t>（9）带聚集函数+分组统计的查询。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例如：</a:t>
            </a:r>
            <a:r>
              <a:rPr lang="zh-CN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查询</a:t>
            </a:r>
            <a:r>
              <a:rPr lang="en-US" altLang="zh-CN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Person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表各部门人数。</a:t>
            </a:r>
            <a:endParaRPr lang="zh-CN" altLang="en-US" sz="2000" b="1">
              <a:solidFill>
                <a:srgbClr val="1D41D5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>
                <a:solidFill>
                  <a:schemeClr val="tx1"/>
                </a:solidFill>
                <a:sym typeface="+mn-ea"/>
              </a:rPr>
              <a:t>7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、多表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连接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查询</a:t>
            </a:r>
            <a:endParaRPr lang="zh-CN" altLang="en-US" sz="2000" b="1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）主子表连接查询。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例如：</a:t>
            </a:r>
            <a:r>
              <a:rPr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查询</a:t>
            </a:r>
            <a:r>
              <a:rPr lang="zh-CN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员工工号、姓名、入职时间以及一月份的</a:t>
            </a:r>
            <a:r>
              <a:rPr lang="zh-CN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实发工资</a:t>
            </a:r>
            <a:r>
              <a:rPr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</a:t>
            </a:r>
            <a:endParaRPr sz="2000" b="1">
              <a:solidFill>
                <a:srgbClr val="1D41D5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）外连接查询。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例如：查询所有学生的住宿信息（不住宿的也包含在内）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</a:t>
            </a:r>
            <a:endParaRPr lang="zh-CN" altLang="en-US" sz="2000" b="1">
              <a:solidFill>
                <a:srgbClr val="1D41D5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  <a:sym typeface="+mn-ea"/>
              </a:rPr>
              <a:t>（3）连接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+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分组查询统计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+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排序。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例如：</a:t>
            </a:r>
            <a:r>
              <a:rPr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实验11-14:(</a:t>
            </a:r>
            <a:r>
              <a:rPr 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1</a:t>
            </a:r>
            <a:r>
              <a:rPr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)查询一月份发奖金平均数大于200元的部门，并从高到低排序。</a:t>
            </a:r>
            <a:endParaRPr lang="zh-CN" altLang="en-US" sz="2000" b="1">
              <a:solidFill>
                <a:srgbClr val="1D41D5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文本框 13"/>
          <p:cNvSpPr txBox="1"/>
          <p:nvPr/>
        </p:nvSpPr>
        <p:spPr>
          <a:xfrm>
            <a:off x="408940" y="389255"/>
            <a:ext cx="35693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参照教材</a:t>
            </a:r>
            <a:r>
              <a:rPr lang="en-US" altLang="zh-CN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11.1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和</a:t>
            </a:r>
            <a:r>
              <a:rPr lang="en-US" altLang="zh-CN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11.2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节</a:t>
            </a:r>
            <a:endParaRPr lang="zh-CN" altLang="en-US" sz="20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69595" y="788035"/>
            <a:ext cx="8004175" cy="55816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145" tIns="0" rIns="144145" rtlCol="0" anchor="ctr"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）连接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+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条件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+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聚集函数。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例如：</a:t>
            </a:r>
            <a:r>
              <a:rPr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实验11-14:(</a:t>
            </a:r>
            <a:r>
              <a:rPr 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2</a:t>
            </a:r>
            <a:r>
              <a:rPr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)查询居住城市在上海的顾客订单总数和订单总额。</a:t>
            </a:r>
            <a:endParaRPr lang="zh-CN" altLang="en-US" sz="2000" b="1">
              <a:solidFill>
                <a:srgbClr val="1D41D5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5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）连接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+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分组</a:t>
            </a:r>
            <a:r>
              <a:rPr lang="en-US" sz="2000" b="1">
                <a:solidFill>
                  <a:schemeClr val="tx1"/>
                </a:solidFill>
                <a:sym typeface="+mn-ea"/>
              </a:rPr>
              <a:t>+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条件筛选。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例如：查询平均分</a:t>
            </a:r>
            <a:r>
              <a:rPr lang="en-US" altLang="zh-CN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85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分以上且选课门数大于</a:t>
            </a:r>
            <a:r>
              <a:rPr lang="en-US" altLang="zh-CN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4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门的同学的学号、姓名、平均分及选课门数。</a:t>
            </a:r>
            <a:endParaRPr lang="zh-CN" altLang="en-US" sz="2000" b="1">
              <a:solidFill>
                <a:srgbClr val="1D41D5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6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）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至少有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次类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特殊连接查询。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例如：</a:t>
            </a:r>
            <a:r>
              <a:rPr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实验11-1</a:t>
            </a:r>
            <a:r>
              <a:rPr 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5</a:t>
            </a:r>
            <a:r>
              <a:rPr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:(</a:t>
            </a:r>
            <a:r>
              <a:rPr 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3</a:t>
            </a:r>
            <a:r>
              <a:rPr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)查询至少有两份订单的顾客信息。</a:t>
            </a:r>
            <a:endParaRPr sz="2000" b="1">
              <a:solidFill>
                <a:srgbClr val="1D41D5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000" b="1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7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）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全部参与类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特殊连接查询。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例如：查询选修了全部课程的学生信息。</a:t>
            </a:r>
            <a:endParaRPr lang="zh-CN" altLang="en-US" sz="2000" b="1">
              <a:solidFill>
                <a:srgbClr val="1D41D5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000" b="1">
                <a:solidFill>
                  <a:schemeClr val="tx1"/>
                </a:solidFill>
                <a:sym typeface="+mn-ea"/>
              </a:rPr>
              <a:t>（8）时间函数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+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聚集函数的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查询。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例如：查询</a:t>
            </a:r>
            <a:r>
              <a:rPr lang="en-US" altLang="zh-CN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3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年内订单总额不超过</a:t>
            </a:r>
            <a:r>
              <a:rPr lang="en-US" altLang="zh-CN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20000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元的员工信息。</a:t>
            </a:r>
            <a:endParaRPr lang="zh-CN" altLang="en-US" sz="2000" b="1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>
                <a:solidFill>
                  <a:schemeClr val="tx1"/>
                </a:solidFill>
                <a:sym typeface="+mn-ea"/>
              </a:rPr>
              <a:t>8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、嵌套子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查询</a:t>
            </a:r>
            <a:endParaRPr lang="zh-CN" altLang="en-US" sz="2000" b="1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）嵌套子查询。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例如：</a:t>
            </a:r>
            <a:r>
              <a:rPr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实验11-6（1）查询比工号为000005的员工实发工资高的所有员工信息。</a:t>
            </a:r>
            <a:endParaRPr sz="2000" b="1">
              <a:solidFill>
                <a:srgbClr val="1D41D5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）嵌套子查询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+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聚集函数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。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例如：实验11-6（2）查询订单额高于平均订单额的订单信息。</a:t>
            </a:r>
            <a:endParaRPr lang="zh-CN" altLang="en-US" sz="2000" b="1">
              <a:solidFill>
                <a:srgbClr val="1D41D5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000" b="1">
                <a:solidFill>
                  <a:schemeClr val="tx1"/>
                </a:solidFill>
                <a:sym typeface="+mn-ea"/>
              </a:rPr>
              <a:t>9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、查询结果的分类统计</a:t>
            </a:r>
            <a:endParaRPr lang="zh-CN" altLang="en-US" sz="2000" b="1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例如：</a:t>
            </a:r>
            <a:r>
              <a:rPr lang="zh-CN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查询数据库原理与设计课程</a:t>
            </a:r>
            <a:r>
              <a:rPr lang="en-US" altLang="zh-CN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90-100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分，</a:t>
            </a:r>
            <a:r>
              <a:rPr lang="en-US" altLang="zh-CN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80-89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分，</a:t>
            </a:r>
            <a:r>
              <a:rPr lang="en-US" altLang="zh-CN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70-79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分，</a:t>
            </a:r>
            <a:r>
              <a:rPr lang="en-US" altLang="zh-CN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60-69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分，以及</a:t>
            </a:r>
            <a:r>
              <a:rPr lang="en-US" altLang="zh-CN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60</a:t>
            </a:r>
            <a:r>
              <a:rPr lang="zh-CN" altLang="en-US"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分以下各分数段人数</a:t>
            </a:r>
            <a:r>
              <a:rPr sz="2000" b="1">
                <a:solidFill>
                  <a:srgbClr val="1D41D5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</a:t>
            </a:r>
            <a:endParaRPr lang="en-US" altLang="zh-CN" sz="2000" b="1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1554</Words>
  <Application>WPS 演示</Application>
  <PresentationFormat>全屏显示(4:3)</PresentationFormat>
  <Paragraphs>55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楷体</vt:lpstr>
      <vt:lpstr>微软雅黑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</vt:vector>
  </TitlesOfParts>
  <Company>7407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实验必须完成的环节</dc:title>
  <dc:creator>7307-1</dc:creator>
  <cp:lastModifiedBy>乐乐</cp:lastModifiedBy>
  <cp:revision>37</cp:revision>
  <dcterms:created xsi:type="dcterms:W3CDTF">2018-05-09T08:11:00Z</dcterms:created>
  <dcterms:modified xsi:type="dcterms:W3CDTF">2025-05-16T08:36:25Z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F7C2AE30318943319A1A8339E64000A5_13</vt:lpwstr>
  </property>
</Properties>
</file>