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65" r:id="rId4"/>
    <p:sldId id="268" r:id="rId5"/>
    <p:sldId id="269" r:id="rId6"/>
    <p:sldId id="267" r:id="rId7"/>
    <p:sldId id="270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9144000" cy="6858000" type="screen4x3"/>
  <p:notesSz cx="6761163" cy="99425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0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堆的概念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484784"/>
            <a:ext cx="8820472" cy="4781128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堆</a:t>
            </a:r>
            <a:r>
              <a:rPr lang="zh-CN" altLang="en-US" sz="2800" dirty="0">
                <a:solidFill>
                  <a:srgbClr val="FF0000"/>
                </a:solidFill>
              </a:rPr>
              <a:t>可以通过“数组”来实现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400" dirty="0"/>
              <a:t>数组中的每个元素都对应堆中的一个节点，数组的下标表示节点在堆中的位置，元素的值表示节点的值。</a:t>
            </a:r>
            <a:endParaRPr lang="en-US" altLang="zh-CN" sz="2400" dirty="0"/>
          </a:p>
          <a:p>
            <a:r>
              <a:rPr lang="zh-CN" altLang="en-US" sz="2400" dirty="0"/>
              <a:t>对于大顶堆来说，堆中任意一个节点的值都大于等于其子节点的值。因此，我们可以用数组来表示堆，数组的下标从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开始，每个下标对应堆中的一个节点。</a:t>
            </a:r>
            <a:r>
              <a:rPr lang="zh-CN" altLang="en-US" sz="2400" b="1" dirty="0">
                <a:solidFill>
                  <a:srgbClr val="FF0000"/>
                </a:solidFill>
              </a:rPr>
              <a:t>假设节点在数组中的下标为 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</a:rPr>
              <a:t>，则其左子节点的下标为</a:t>
            </a:r>
            <a:r>
              <a:rPr lang="en-US" altLang="zh-CN" sz="2400" b="1" dirty="0">
                <a:solidFill>
                  <a:srgbClr val="FF0000"/>
                </a:solidFill>
              </a:rPr>
              <a:t>2i+1</a:t>
            </a:r>
            <a:r>
              <a:rPr lang="zh-CN" altLang="en-US" sz="2400" b="1" dirty="0">
                <a:solidFill>
                  <a:srgbClr val="FF0000"/>
                </a:solidFill>
              </a:rPr>
              <a:t>，右子节点的下标为</a:t>
            </a:r>
            <a:r>
              <a:rPr lang="en-US" altLang="zh-CN" sz="2400" b="1" dirty="0">
                <a:solidFill>
                  <a:srgbClr val="FF0000"/>
                </a:solidFill>
              </a:rPr>
              <a:t>2i+2</a:t>
            </a:r>
            <a:r>
              <a:rPr lang="zh-CN" altLang="en-US" sz="2400" b="1" dirty="0">
                <a:solidFill>
                  <a:srgbClr val="FF0000"/>
                </a:solidFill>
              </a:rPr>
              <a:t>，父节点的下标为</a:t>
            </a:r>
            <a:r>
              <a:rPr lang="en-US" altLang="zh-CN" sz="2400" b="1" dirty="0">
                <a:solidFill>
                  <a:srgbClr val="FF0000"/>
                </a:solidFill>
              </a:rPr>
              <a:t>(i-1)/2</a:t>
            </a:r>
            <a:r>
              <a:rPr lang="zh-CN" altLang="en-US" sz="2400" dirty="0"/>
              <a:t>。小顶堆也一样。</a:t>
            </a:r>
            <a:endParaRPr lang="en-US" altLang="zh-CN" sz="2400" dirty="0"/>
          </a:p>
          <a:p>
            <a:r>
              <a:rPr lang="zh-CN" altLang="en-US" sz="2400" dirty="0"/>
              <a:t>通过数组来表示堆，可以</a:t>
            </a:r>
            <a:r>
              <a:rPr lang="zh-CN" altLang="en-US" sz="2400" b="1" dirty="0">
                <a:solidFill>
                  <a:srgbClr val="FF0000"/>
                </a:solidFill>
              </a:rPr>
              <a:t>用很少的空间来存储大量的数据，同时也可以使用数组的快速访问特性来快速实现堆的各种操作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800" b="1" dirty="0"/>
              <a:t>详细情况参考理论课教材</a:t>
            </a:r>
            <a:r>
              <a:rPr lang="en-US" altLang="zh-CN" sz="2800" b="1" dirty="0"/>
              <a:t>P77—</a:t>
            </a:r>
            <a:r>
              <a:rPr lang="zh-CN" altLang="en-US" sz="2800" b="1" dirty="0"/>
              <a:t>堆和堆排序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5230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完成以下 </a:t>
            </a:r>
            <a:r>
              <a:rPr lang="en-US" altLang="zh-CN" sz="4400" dirty="0"/>
              <a:t>6 </a:t>
            </a:r>
            <a:r>
              <a:rPr lang="zh-CN" altLang="en-US" sz="4400" dirty="0"/>
              <a:t>个数字的建堆（大顶堆）和删除堆顶元素的过程。</a:t>
            </a:r>
            <a:endParaRPr lang="en-US" altLang="zh-CN" sz="4400" dirty="0"/>
          </a:p>
          <a:p>
            <a:pPr algn="ctr"/>
            <a:r>
              <a:rPr lang="en-US" altLang="zh-CN" sz="4400" dirty="0"/>
              <a:t>2    1    3    5    6    4</a:t>
            </a:r>
          </a:p>
          <a:p>
            <a:r>
              <a:rPr lang="zh-CN" altLang="en-US" sz="4400" dirty="0"/>
              <a:t>要求建堆画</a:t>
            </a:r>
            <a:r>
              <a:rPr lang="en-US" altLang="zh-CN" sz="4400" dirty="0"/>
              <a:t>6</a:t>
            </a:r>
            <a:r>
              <a:rPr lang="zh-CN" altLang="en-US" sz="4400" dirty="0"/>
              <a:t>幅图，删除堆顶也画</a:t>
            </a:r>
            <a:r>
              <a:rPr lang="en-US" altLang="zh-CN" sz="4400" dirty="0"/>
              <a:t>6</a:t>
            </a:r>
            <a:r>
              <a:rPr lang="zh-CN" altLang="en-US" sz="4400" dirty="0"/>
              <a:t>幅图，每幅图表明加入（或删除）一个数字后堆的形态。</a:t>
            </a:r>
          </a:p>
        </p:txBody>
      </p:sp>
    </p:spTree>
    <p:extLst>
      <p:ext uri="{BB962C8B-B14F-4D97-AF65-F5344CB8AC3E}">
        <p14:creationId xmlns:p14="http://schemas.microsoft.com/office/powerpoint/2010/main" val="172392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00192" y="-11448"/>
            <a:ext cx="2664296" cy="5400600"/>
          </a:xfrm>
        </p:spPr>
        <p:txBody>
          <a:bodyPr>
            <a:normAutofit/>
          </a:bodyPr>
          <a:lstStyle/>
          <a:p>
            <a:r>
              <a:rPr lang="zh-CN" altLang="en-US" dirty="0"/>
              <a:t>向堆中增加一个元素的复杂性：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取出堆顶元素（即取数组的最大或最小值）的复杂性：</a:t>
            </a:r>
            <a:r>
              <a:rPr lang="en-US" altLang="zh-CN" dirty="0"/>
              <a:t>O(1)</a:t>
            </a:r>
            <a:r>
              <a:rPr lang="zh-CN" altLang="en-US" dirty="0"/>
              <a:t>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-25136"/>
            <a:ext cx="5967430" cy="688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27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完成以下 </a:t>
            </a:r>
            <a:r>
              <a:rPr lang="en-US" altLang="zh-CN" sz="4000" dirty="0"/>
              <a:t>6 </a:t>
            </a:r>
            <a:r>
              <a:rPr lang="zh-CN" altLang="en-US" sz="4000" dirty="0"/>
              <a:t>个数字的建堆（</a:t>
            </a:r>
            <a:r>
              <a:rPr lang="zh-CN" altLang="en-US" sz="4000" b="1" dirty="0">
                <a:solidFill>
                  <a:srgbClr val="FF0000"/>
                </a:solidFill>
              </a:rPr>
              <a:t>小顶堆</a:t>
            </a:r>
            <a:r>
              <a:rPr lang="zh-CN" altLang="en-US" sz="4000" dirty="0"/>
              <a:t>）和删除堆顶元素的过程。</a:t>
            </a:r>
            <a:endParaRPr lang="en-US" altLang="zh-CN" sz="4000" dirty="0"/>
          </a:p>
          <a:p>
            <a:pPr algn="ctr"/>
            <a:r>
              <a:rPr lang="en-US" altLang="zh-CN" sz="4000" dirty="0"/>
              <a:t>3    5    2    1     4     6</a:t>
            </a:r>
          </a:p>
          <a:p>
            <a:r>
              <a:rPr lang="zh-CN" altLang="en-US" sz="4000" dirty="0"/>
              <a:t>要求建堆画</a:t>
            </a:r>
            <a:r>
              <a:rPr lang="en-US" altLang="zh-CN" sz="4000" dirty="0"/>
              <a:t>6</a:t>
            </a:r>
            <a:r>
              <a:rPr lang="zh-CN" altLang="en-US" sz="4000" dirty="0"/>
              <a:t>幅图，删除堆顶也画</a:t>
            </a:r>
            <a:r>
              <a:rPr lang="en-US" altLang="zh-CN" sz="4000" dirty="0"/>
              <a:t>6</a:t>
            </a:r>
            <a:r>
              <a:rPr lang="zh-CN" altLang="en-US" sz="4000" dirty="0"/>
              <a:t>幅图，每幅图表明加入（或删除）一个数字后堆的形态。</a:t>
            </a:r>
          </a:p>
        </p:txBody>
      </p:sp>
    </p:spTree>
    <p:extLst>
      <p:ext uri="{BB962C8B-B14F-4D97-AF65-F5344CB8AC3E}">
        <p14:creationId xmlns:p14="http://schemas.microsoft.com/office/powerpoint/2010/main" val="229069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432"/>
            <a:ext cx="5544616" cy="679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573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702945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91680" y="2406893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）画出 </a:t>
            </a:r>
            <a:r>
              <a:rPr lang="en-US" altLang="zh-CN" sz="3200" dirty="0"/>
              <a:t>m=3</a:t>
            </a:r>
            <a:r>
              <a:rPr lang="zh-CN" altLang="en-US" sz="3200" dirty="0"/>
              <a:t>，</a:t>
            </a:r>
            <a:r>
              <a:rPr lang="en-US" altLang="zh-CN" sz="3200" dirty="0"/>
              <a:t>n=3</a:t>
            </a:r>
            <a:r>
              <a:rPr lang="zh-CN" altLang="en-US" sz="3200" dirty="0"/>
              <a:t>时的解空间树。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3400" y="3284984"/>
            <a:ext cx="65527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（</a:t>
            </a:r>
            <a:r>
              <a:rPr lang="en-US" altLang="zh-CN" sz="3200" dirty="0"/>
              <a:t>3</a:t>
            </a:r>
            <a:r>
              <a:rPr lang="zh-CN" altLang="en-US" sz="3200" dirty="0"/>
              <a:t>）分析时间复杂性时写出递推公式，重点关注每轮的时间复杂性和递归出口的时间复杂性。</a:t>
            </a:r>
          </a:p>
        </p:txBody>
      </p:sp>
    </p:spTree>
    <p:extLst>
      <p:ext uri="{BB962C8B-B14F-4D97-AF65-F5344CB8AC3E}">
        <p14:creationId xmlns:p14="http://schemas.microsoft.com/office/powerpoint/2010/main" val="300983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1975"/>
            <a:ext cx="9144000" cy="5603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770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260648"/>
            <a:ext cx="8352928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70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323528" y="188640"/>
            <a:ext cx="8640960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338137" y="188640"/>
            <a:ext cx="8482335" cy="64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2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269557" y="188640"/>
            <a:ext cx="8694931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1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8712968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7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16632"/>
            <a:ext cx="8496944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48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16632"/>
            <a:ext cx="8712968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33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8784976" cy="662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15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393</Words>
  <Application>Microsoft Office PowerPoint</Application>
  <PresentationFormat>全屏显示(4:3)</PresentationFormat>
  <Paragraphs>18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主题</vt:lpstr>
      <vt:lpstr>堆的概念</vt:lpstr>
      <vt:lpstr>课堂练习1</vt:lpstr>
      <vt:lpstr>PowerPoint 演示文稿</vt:lpstr>
      <vt:lpstr>课堂练习2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露涵 毛</cp:lastModifiedBy>
  <cp:revision>21</cp:revision>
  <cp:lastPrinted>2023-03-21T04:19:23Z</cp:lastPrinted>
  <dcterms:created xsi:type="dcterms:W3CDTF">2023-03-20T05:56:05Z</dcterms:created>
  <dcterms:modified xsi:type="dcterms:W3CDTF">2026-04-21T04:47:10Z</dcterms:modified>
</cp:coreProperties>
</file>