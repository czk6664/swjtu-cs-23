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</p:sldMasterIdLst>
  <p:notesMasterIdLst>
    <p:notesMasterId r:id="rId76"/>
  </p:notesMasterIdLst>
  <p:sldIdLst>
    <p:sldId id="256" r:id="rId3"/>
    <p:sldId id="449" r:id="rId4"/>
    <p:sldId id="336" r:id="rId5"/>
    <p:sldId id="346" r:id="rId6"/>
    <p:sldId id="359" r:id="rId7"/>
    <p:sldId id="360" r:id="rId8"/>
    <p:sldId id="363" r:id="rId9"/>
    <p:sldId id="361" r:id="rId10"/>
    <p:sldId id="362" r:id="rId11"/>
    <p:sldId id="452" r:id="rId12"/>
    <p:sldId id="453" r:id="rId13"/>
    <p:sldId id="450" r:id="rId14"/>
    <p:sldId id="383" r:id="rId15"/>
    <p:sldId id="385" r:id="rId16"/>
    <p:sldId id="387" r:id="rId17"/>
    <p:sldId id="388" r:id="rId18"/>
    <p:sldId id="389" r:id="rId19"/>
    <p:sldId id="386" r:id="rId20"/>
    <p:sldId id="390" r:id="rId21"/>
    <p:sldId id="393" r:id="rId22"/>
    <p:sldId id="394" r:id="rId23"/>
    <p:sldId id="463" r:id="rId24"/>
    <p:sldId id="396" r:id="rId25"/>
    <p:sldId id="464" r:id="rId26"/>
    <p:sldId id="472" r:id="rId27"/>
    <p:sldId id="397" r:id="rId28"/>
    <p:sldId id="399" r:id="rId29"/>
    <p:sldId id="400" r:id="rId30"/>
    <p:sldId id="401" r:id="rId31"/>
    <p:sldId id="465" r:id="rId32"/>
    <p:sldId id="402" r:id="rId33"/>
    <p:sldId id="403" r:id="rId34"/>
    <p:sldId id="404" r:id="rId35"/>
    <p:sldId id="467" r:id="rId36"/>
    <p:sldId id="473" r:id="rId37"/>
    <p:sldId id="474" r:id="rId38"/>
    <p:sldId id="347" r:id="rId39"/>
    <p:sldId id="406" r:id="rId40"/>
    <p:sldId id="419" r:id="rId41"/>
    <p:sldId id="421" r:id="rId42"/>
    <p:sldId id="422" r:id="rId43"/>
    <p:sldId id="423" r:id="rId44"/>
    <p:sldId id="424" r:id="rId45"/>
    <p:sldId id="425" r:id="rId46"/>
    <p:sldId id="426" r:id="rId47"/>
    <p:sldId id="427" r:id="rId48"/>
    <p:sldId id="428" r:id="rId49"/>
    <p:sldId id="430" r:id="rId50"/>
    <p:sldId id="431" r:id="rId51"/>
    <p:sldId id="429" r:id="rId52"/>
    <p:sldId id="451" r:id="rId53"/>
    <p:sldId id="432" r:id="rId54"/>
    <p:sldId id="444" r:id="rId55"/>
    <p:sldId id="438" r:id="rId56"/>
    <p:sldId id="439" r:id="rId57"/>
    <p:sldId id="440" r:id="rId58"/>
    <p:sldId id="441" r:id="rId59"/>
    <p:sldId id="442" r:id="rId60"/>
    <p:sldId id="468" r:id="rId61"/>
    <p:sldId id="443" r:id="rId62"/>
    <p:sldId id="469" r:id="rId63"/>
    <p:sldId id="470" r:id="rId64"/>
    <p:sldId id="471" r:id="rId65"/>
    <p:sldId id="455" r:id="rId66"/>
    <p:sldId id="456" r:id="rId67"/>
    <p:sldId id="457" r:id="rId68"/>
    <p:sldId id="458" r:id="rId69"/>
    <p:sldId id="475" r:id="rId70"/>
    <p:sldId id="412" r:id="rId71"/>
    <p:sldId id="413" r:id="rId72"/>
    <p:sldId id="414" r:id="rId73"/>
    <p:sldId id="416" r:id="rId74"/>
    <p:sldId id="454" r:id="rId7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225686"/>
    <a:srgbClr val="292929"/>
    <a:srgbClr val="FF9900"/>
    <a:srgbClr val="996600"/>
    <a:srgbClr val="70AD47"/>
    <a:srgbClr val="00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561" autoAdjust="0"/>
    <p:restoredTop sz="89597" autoAdjust="0"/>
  </p:normalViewPr>
  <p:slideViewPr>
    <p:cSldViewPr snapToGrid="0">
      <p:cViewPr>
        <p:scale>
          <a:sx n="90" d="100"/>
          <a:sy n="90" d="100"/>
        </p:scale>
        <p:origin x="-1974" y="-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v"/>
          <inkml:channel name="T" type="integer" max="2.14748E9" units="dev"/>
        </inkml:traceFormat>
        <inkml:channelProperties>
          <inkml:channelProperty channel="X" name="resolution" value="1575.33655" units="1/cm"/>
          <inkml:channelProperty channel="Y" name="resolution" value="1575.3365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1-04-06T13:46:54.0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2278 3528 43 0,'0'0'-10'16,"17"0"-23"-16</inkml:trace>
  <inkml:trace contextRef="#ctx0" brushRef="#br0" timeOffset="1.9584">2083 3563 27 0,'0'0'-9'0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B374E-D256-4F0F-B7E2-F86B96A9DD9D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1438A2-688B-403E-BA3A-811B795524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90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solidFill>
                  <a:srgbClr val="000000"/>
                </a:solidFill>
                <a:ea typeface="黑体" panose="02010609060101010101" pitchFamily="49" charset="-122"/>
              </a:rPr>
              <a:t>分析：</a:t>
            </a:r>
            <a:r>
              <a:rPr lang="zh-CN" altLang="en-US" dirty="0" smtClean="0">
                <a:ea typeface="楷体_GB2312" pitchFamily="1" charset="-122"/>
              </a:rPr>
              <a:t>比较</a:t>
            </a:r>
            <a:r>
              <a:rPr lang="en-US" altLang="zh-CN" dirty="0" smtClean="0">
                <a:ea typeface="楷体_GB2312" pitchFamily="1" charset="-122"/>
              </a:rPr>
              <a:t>x</a:t>
            </a:r>
            <a:r>
              <a:rPr lang="zh-CN" altLang="en-US" dirty="0" smtClean="0">
                <a:ea typeface="楷体_GB2312" pitchFamily="1" charset="-122"/>
              </a:rPr>
              <a:t>和</a:t>
            </a:r>
            <a:r>
              <a:rPr lang="en-US" altLang="zh-CN" dirty="0" smtClean="0">
                <a:ea typeface="楷体_GB2312" pitchFamily="1" charset="-122"/>
              </a:rPr>
              <a:t>a</a:t>
            </a:r>
            <a:r>
              <a:rPr lang="zh-CN" altLang="en-US" dirty="0" smtClean="0">
                <a:ea typeface="楷体_GB2312" pitchFamily="1" charset="-122"/>
              </a:rPr>
              <a:t>的中间元素</a:t>
            </a:r>
            <a:r>
              <a:rPr lang="en-US" altLang="zh-CN" dirty="0" smtClean="0">
                <a:ea typeface="楷体_GB2312" pitchFamily="1" charset="-122"/>
              </a:rPr>
              <a:t>a[mid]</a:t>
            </a:r>
            <a:r>
              <a:rPr lang="zh-CN" altLang="en-US" dirty="0" smtClean="0">
                <a:ea typeface="楷体_GB2312" pitchFamily="1" charset="-122"/>
              </a:rPr>
              <a:t>，若</a:t>
            </a:r>
            <a:r>
              <a:rPr lang="en-US" altLang="zh-CN" dirty="0" smtClean="0">
                <a:ea typeface="楷体_GB2312" pitchFamily="1" charset="-122"/>
              </a:rPr>
              <a:t>x=a[mid]</a:t>
            </a:r>
            <a:r>
              <a:rPr lang="zh-CN" altLang="en-US" dirty="0" smtClean="0">
                <a:ea typeface="楷体_GB2312" pitchFamily="1" charset="-122"/>
              </a:rPr>
              <a:t>，则</a:t>
            </a:r>
            <a:r>
              <a:rPr lang="en-US" altLang="zh-CN" dirty="0" smtClean="0">
                <a:ea typeface="楷体_GB2312" pitchFamily="1" charset="-122"/>
              </a:rPr>
              <a:t>x</a:t>
            </a:r>
            <a:r>
              <a:rPr lang="zh-CN" altLang="en-US" dirty="0" smtClean="0">
                <a:ea typeface="楷体_GB2312" pitchFamily="1" charset="-122"/>
              </a:rPr>
              <a:t>在</a:t>
            </a:r>
            <a:r>
              <a:rPr lang="en-US" altLang="zh-CN" dirty="0" smtClean="0">
                <a:ea typeface="楷体_GB2312" pitchFamily="1" charset="-122"/>
              </a:rPr>
              <a:t>L</a:t>
            </a:r>
            <a:r>
              <a:rPr lang="zh-CN" altLang="en-US" dirty="0" smtClean="0">
                <a:ea typeface="楷体_GB2312" pitchFamily="1" charset="-122"/>
              </a:rPr>
              <a:t>中的位置就是</a:t>
            </a:r>
            <a:r>
              <a:rPr lang="en-US" altLang="zh-CN" dirty="0" smtClean="0">
                <a:ea typeface="楷体_GB2312" pitchFamily="1" charset="-122"/>
              </a:rPr>
              <a:t>mid</a:t>
            </a:r>
            <a:r>
              <a:rPr lang="zh-CN" altLang="en-US" dirty="0" smtClean="0">
                <a:ea typeface="楷体_GB2312" pitchFamily="1" charset="-122"/>
              </a:rPr>
              <a:t>；如果</a:t>
            </a:r>
            <a:r>
              <a:rPr lang="en-US" altLang="zh-CN" dirty="0" smtClean="0">
                <a:ea typeface="楷体_GB2312" pitchFamily="1" charset="-122"/>
              </a:rPr>
              <a:t>x&lt;a[mid]</a:t>
            </a:r>
            <a:r>
              <a:rPr lang="zh-CN" altLang="en-US" dirty="0" smtClean="0">
                <a:ea typeface="楷体_GB2312" pitchFamily="1" charset="-122"/>
              </a:rPr>
              <a:t>，由于</a:t>
            </a:r>
            <a:r>
              <a:rPr lang="en-US" altLang="zh-CN" dirty="0" smtClean="0">
                <a:ea typeface="楷体_GB2312" pitchFamily="1" charset="-122"/>
              </a:rPr>
              <a:t>a</a:t>
            </a:r>
            <a:r>
              <a:rPr lang="zh-CN" altLang="en-US" dirty="0" smtClean="0">
                <a:ea typeface="楷体_GB2312" pitchFamily="1" charset="-122"/>
              </a:rPr>
              <a:t>是递增排序的，因此假如</a:t>
            </a:r>
            <a:r>
              <a:rPr lang="en-US" altLang="zh-CN" dirty="0" smtClean="0">
                <a:ea typeface="楷体_GB2312" pitchFamily="1" charset="-122"/>
              </a:rPr>
              <a:t>x</a:t>
            </a:r>
            <a:r>
              <a:rPr lang="zh-CN" altLang="en-US" dirty="0" smtClean="0">
                <a:ea typeface="楷体_GB2312" pitchFamily="1" charset="-122"/>
              </a:rPr>
              <a:t>在</a:t>
            </a:r>
            <a:r>
              <a:rPr lang="en-US" altLang="zh-CN" dirty="0" smtClean="0">
                <a:ea typeface="楷体_GB2312" pitchFamily="1" charset="-122"/>
              </a:rPr>
              <a:t>a</a:t>
            </a:r>
            <a:r>
              <a:rPr lang="zh-CN" altLang="en-US" dirty="0" smtClean="0">
                <a:ea typeface="楷体_GB2312" pitchFamily="1" charset="-122"/>
              </a:rPr>
              <a:t>中的话，</a:t>
            </a:r>
            <a:r>
              <a:rPr lang="en-US" altLang="zh-CN" dirty="0" smtClean="0">
                <a:ea typeface="楷体_GB2312" pitchFamily="1" charset="-122"/>
              </a:rPr>
              <a:t>x</a:t>
            </a:r>
            <a:r>
              <a:rPr lang="zh-CN" altLang="en-US" dirty="0" smtClean="0">
                <a:ea typeface="楷体_GB2312" pitchFamily="1" charset="-122"/>
              </a:rPr>
              <a:t>必然排在</a:t>
            </a:r>
            <a:r>
              <a:rPr lang="en-US" altLang="zh-CN" dirty="0" smtClean="0">
                <a:ea typeface="楷体_GB2312" pitchFamily="1" charset="-122"/>
              </a:rPr>
              <a:t>a[mid]</a:t>
            </a:r>
            <a:r>
              <a:rPr lang="zh-CN" altLang="en-US" dirty="0" smtClean="0">
                <a:ea typeface="楷体_GB2312" pitchFamily="1" charset="-122"/>
              </a:rPr>
              <a:t>的前面，所以我们只要在</a:t>
            </a:r>
            <a:r>
              <a:rPr lang="en-US" altLang="zh-CN" dirty="0" smtClean="0">
                <a:ea typeface="楷体_GB2312" pitchFamily="1" charset="-122"/>
              </a:rPr>
              <a:t>a[mid]</a:t>
            </a:r>
            <a:r>
              <a:rPr lang="zh-CN" altLang="en-US" dirty="0" smtClean="0">
                <a:ea typeface="楷体_GB2312" pitchFamily="1" charset="-122"/>
              </a:rPr>
              <a:t>的前面查找</a:t>
            </a:r>
            <a:r>
              <a:rPr lang="en-US" altLang="zh-CN" dirty="0" smtClean="0">
                <a:ea typeface="楷体_GB2312" pitchFamily="1" charset="-122"/>
              </a:rPr>
              <a:t>x</a:t>
            </a:r>
            <a:r>
              <a:rPr lang="zh-CN" altLang="en-US" dirty="0" smtClean="0">
                <a:ea typeface="楷体_GB2312" pitchFamily="1" charset="-122"/>
              </a:rPr>
              <a:t>即可；如果</a:t>
            </a:r>
            <a:r>
              <a:rPr lang="en-US" altLang="zh-CN" dirty="0" smtClean="0">
                <a:ea typeface="楷体_GB2312" pitchFamily="1" charset="-122"/>
              </a:rPr>
              <a:t>x&gt;a[</a:t>
            </a:r>
            <a:r>
              <a:rPr lang="en-US" altLang="zh-CN" dirty="0" err="1" smtClean="0">
                <a:ea typeface="楷体_GB2312" pitchFamily="1" charset="-122"/>
              </a:rPr>
              <a:t>i</a:t>
            </a:r>
            <a:r>
              <a:rPr lang="en-US" altLang="zh-CN" dirty="0" smtClean="0">
                <a:ea typeface="楷体_GB2312" pitchFamily="1" charset="-122"/>
              </a:rPr>
              <a:t>]</a:t>
            </a:r>
            <a:r>
              <a:rPr lang="zh-CN" altLang="en-US" dirty="0" smtClean="0">
                <a:ea typeface="楷体_GB2312" pitchFamily="1" charset="-122"/>
              </a:rPr>
              <a:t>，同理我们只要在</a:t>
            </a:r>
            <a:r>
              <a:rPr lang="en-US" altLang="zh-CN" dirty="0" smtClean="0">
                <a:ea typeface="楷体_GB2312" pitchFamily="1" charset="-122"/>
              </a:rPr>
              <a:t>a[mid]</a:t>
            </a:r>
            <a:r>
              <a:rPr lang="zh-CN" altLang="en-US" dirty="0" smtClean="0">
                <a:ea typeface="楷体_GB2312" pitchFamily="1" charset="-122"/>
              </a:rPr>
              <a:t>的后面查找</a:t>
            </a:r>
            <a:r>
              <a:rPr lang="en-US" altLang="zh-CN" dirty="0" smtClean="0">
                <a:ea typeface="楷体_GB2312" pitchFamily="1" charset="-122"/>
              </a:rPr>
              <a:t>x</a:t>
            </a:r>
            <a:r>
              <a:rPr lang="zh-CN" altLang="en-US" dirty="0" smtClean="0">
                <a:ea typeface="楷体_GB2312" pitchFamily="1" charset="-122"/>
              </a:rPr>
              <a:t>即可。无论是在前面还是后面查找</a:t>
            </a:r>
            <a:r>
              <a:rPr lang="en-US" altLang="zh-CN" dirty="0" smtClean="0">
                <a:ea typeface="楷体_GB2312" pitchFamily="1" charset="-122"/>
              </a:rPr>
              <a:t>x</a:t>
            </a:r>
            <a:r>
              <a:rPr lang="zh-CN" altLang="en-US" dirty="0" smtClean="0">
                <a:ea typeface="楷体_GB2312" pitchFamily="1" charset="-122"/>
              </a:rPr>
              <a:t>，其方法都和在</a:t>
            </a:r>
            <a:r>
              <a:rPr lang="en-US" altLang="zh-CN" dirty="0" smtClean="0">
                <a:ea typeface="楷体_GB2312" pitchFamily="1" charset="-122"/>
              </a:rPr>
              <a:t>a</a:t>
            </a:r>
            <a:r>
              <a:rPr lang="zh-CN" altLang="en-US" dirty="0" smtClean="0">
                <a:ea typeface="楷体_GB2312" pitchFamily="1" charset="-122"/>
              </a:rPr>
              <a:t>中查找</a:t>
            </a:r>
            <a:r>
              <a:rPr lang="en-US" altLang="zh-CN" dirty="0" smtClean="0">
                <a:ea typeface="楷体_GB2312" pitchFamily="1" charset="-122"/>
              </a:rPr>
              <a:t>x</a:t>
            </a:r>
            <a:r>
              <a:rPr lang="zh-CN" altLang="en-US" dirty="0" smtClean="0">
                <a:ea typeface="楷体_GB2312" pitchFamily="1" charset="-122"/>
              </a:rPr>
              <a:t>一样，只不过是查找的规模缩小了。这就说明了此问题满足分治法的第二个和第三个适用条件。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1438A2-688B-403E-BA3A-811B79552406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035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4k</a:t>
            </a:r>
            <a:r>
              <a:rPr lang="zh-CN" altLang="en-US" dirty="0" smtClean="0"/>
              <a:t>次方</a:t>
            </a:r>
            <a:r>
              <a:rPr lang="en-US" altLang="zh-CN" dirty="0" smtClean="0"/>
              <a:t>-1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1438A2-688B-403E-BA3A-811B79552406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4769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？不讲？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1438A2-688B-403E-BA3A-811B79552406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9922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1438A2-688B-403E-BA3A-811B79552406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08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8914" y="1998132"/>
            <a:ext cx="12200914" cy="2111804"/>
          </a:xfrm>
          <a:prstGeom prst="rect">
            <a:avLst/>
          </a:prstGeom>
          <a:solidFill>
            <a:srgbClr val="2256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5683" tIns="42842" rIns="85683" bIns="4284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4000" b="1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2349801"/>
            <a:ext cx="12192000" cy="1456662"/>
          </a:xfrm>
        </p:spPr>
        <p:txBody>
          <a:bodyPr anchor="ctr" anchorCtr="0">
            <a:normAutofit/>
          </a:bodyPr>
          <a:lstStyle>
            <a:lvl1pPr algn="ctr">
              <a:defRPr sz="5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第 </a:t>
            </a:r>
            <a:r>
              <a:rPr lang="en-US" altLang="zh-CN" dirty="0" smtClean="0"/>
              <a:t>N </a:t>
            </a:r>
            <a:r>
              <a:rPr lang="zh-CN" altLang="en-US" dirty="0" smtClean="0"/>
              <a:t>章</a:t>
            </a:r>
            <a:endParaRPr lang="zh-CN" altLang="en-US" dirty="0"/>
          </a:p>
        </p:txBody>
      </p:sp>
      <p:sp>
        <p:nvSpPr>
          <p:cNvPr id="9" name="文本框 118"/>
          <p:cNvSpPr txBox="1"/>
          <p:nvPr userDrawn="1"/>
        </p:nvSpPr>
        <p:spPr>
          <a:xfrm>
            <a:off x="0" y="4354821"/>
            <a:ext cx="12192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计算机与人工智能学院</a:t>
            </a:r>
            <a:endParaRPr lang="en-US" altLang="zh-CN" sz="3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3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李晓航</a:t>
            </a:r>
            <a:endParaRPr lang="en-US" altLang="zh-CN" sz="32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xhli_scce@swjtu.edu.cn</a:t>
            </a:r>
            <a:endParaRPr lang="zh-CN" altLang="en-US" sz="3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118"/>
          <p:cNvSpPr txBox="1"/>
          <p:nvPr userDrawn="1"/>
        </p:nvSpPr>
        <p:spPr>
          <a:xfrm>
            <a:off x="-8914" y="1402724"/>
            <a:ext cx="3996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altLang="zh-CN" sz="3200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</a:t>
            </a:r>
            <a:r>
              <a:rPr lang="zh-CN" altLang="en-US" sz="3200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算法分析与设计</a:t>
            </a:r>
            <a:r>
              <a:rPr lang="en-US" altLang="zh-CN" sz="3200" kern="12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B》</a:t>
            </a:r>
            <a:endParaRPr lang="zh-CN" altLang="en-US" sz="3200" kern="12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879" y="758609"/>
            <a:ext cx="2872119" cy="91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52107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-28575" y="-9525"/>
            <a:ext cx="12220575" cy="714375"/>
          </a:xfrm>
          <a:prstGeom prst="rect">
            <a:avLst/>
          </a:prstGeom>
          <a:solidFill>
            <a:srgbClr val="225686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8096" y="1"/>
            <a:ext cx="10759648" cy="704850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KSO_Shape"/>
          <p:cNvSpPr>
            <a:spLocks noChangeAspect="1"/>
          </p:cNvSpPr>
          <p:nvPr userDrawn="1"/>
        </p:nvSpPr>
        <p:spPr bwMode="auto">
          <a:xfrm>
            <a:off x="108459" y="91257"/>
            <a:ext cx="763408" cy="497376"/>
          </a:xfrm>
          <a:custGeom>
            <a:avLst/>
            <a:gdLst>
              <a:gd name="T0" fmla="*/ 523582 w 5574"/>
              <a:gd name="T1" fmla="*/ 1026353 h 3244"/>
              <a:gd name="T2" fmla="*/ 164730 w 5574"/>
              <a:gd name="T3" fmla="*/ 1048328 h 3244"/>
              <a:gd name="T4" fmla="*/ 0 w 5574"/>
              <a:gd name="T5" fmla="*/ 1009549 h 3244"/>
              <a:gd name="T6" fmla="*/ 319446 w 5574"/>
              <a:gd name="T7" fmla="*/ 836336 h 3244"/>
              <a:gd name="T8" fmla="*/ 613375 w 5574"/>
              <a:gd name="T9" fmla="*/ 882224 h 3244"/>
              <a:gd name="T10" fmla="*/ 764539 w 5574"/>
              <a:gd name="T11" fmla="*/ 841183 h 3244"/>
              <a:gd name="T12" fmla="*/ 1800397 w 5574"/>
              <a:gd name="T13" fmla="*/ 867682 h 3244"/>
              <a:gd name="T14" fmla="*/ 693802 w 5574"/>
              <a:gd name="T15" fmla="*/ 1048005 h 3244"/>
              <a:gd name="T16" fmla="*/ 556850 w 5574"/>
              <a:gd name="T17" fmla="*/ 973032 h 3244"/>
              <a:gd name="T18" fmla="*/ 247094 w 5574"/>
              <a:gd name="T19" fmla="*/ 935545 h 3244"/>
              <a:gd name="T20" fmla="*/ 556850 w 5574"/>
              <a:gd name="T21" fmla="*/ 973032 h 3244"/>
              <a:gd name="T22" fmla="*/ 1014540 w 5574"/>
              <a:gd name="T23" fmla="*/ 156732 h 3244"/>
              <a:gd name="T24" fmla="*/ 1066866 w 5574"/>
              <a:gd name="T25" fmla="*/ 790124 h 3244"/>
              <a:gd name="T26" fmla="*/ 98515 w 5574"/>
              <a:gd name="T27" fmla="*/ 789801 h 3244"/>
              <a:gd name="T28" fmla="*/ 52649 w 5574"/>
              <a:gd name="T29" fmla="*/ 743912 h 3244"/>
              <a:gd name="T30" fmla="*/ 52649 w 5574"/>
              <a:gd name="T31" fmla="*/ 149623 h 3244"/>
              <a:gd name="T32" fmla="*/ 150841 w 5574"/>
              <a:gd name="T33" fmla="*/ 18420 h 3244"/>
              <a:gd name="T34" fmla="*/ 187339 w 5574"/>
              <a:gd name="T35" fmla="*/ 0 h 3244"/>
              <a:gd name="T36" fmla="*/ 734500 w 5574"/>
              <a:gd name="T37" fmla="*/ 0 h 3244"/>
              <a:gd name="T38" fmla="*/ 132107 w 5574"/>
              <a:gd name="T39" fmla="*/ 596228 h 3244"/>
              <a:gd name="T40" fmla="*/ 257753 w 5574"/>
              <a:gd name="T41" fmla="*/ 596228 h 3244"/>
              <a:gd name="T42" fmla="*/ 688311 w 5574"/>
              <a:gd name="T43" fmla="*/ 533536 h 3244"/>
              <a:gd name="T44" fmla="*/ 688311 w 5574"/>
              <a:gd name="T45" fmla="*/ 659244 h 3244"/>
              <a:gd name="T46" fmla="*/ 688311 w 5574"/>
              <a:gd name="T47" fmla="*/ 533536 h 3244"/>
              <a:gd name="T48" fmla="*/ 748066 w 5574"/>
              <a:gd name="T49" fmla="*/ 439819 h 3244"/>
              <a:gd name="T50" fmla="*/ 688311 w 5574"/>
              <a:gd name="T51" fmla="*/ 91777 h 3244"/>
              <a:gd name="T52" fmla="*/ 144381 w 5574"/>
              <a:gd name="T53" fmla="*/ 179676 h 3244"/>
              <a:gd name="T54" fmla="*/ 1106272 w 5574"/>
              <a:gd name="T55" fmla="*/ 207791 h 3244"/>
              <a:gd name="T56" fmla="*/ 1385343 w 5574"/>
              <a:gd name="T57" fmla="*/ 790447 h 3244"/>
              <a:gd name="T58" fmla="*/ 1119515 w 5574"/>
              <a:gd name="T59" fmla="*/ 236876 h 3244"/>
              <a:gd name="T60" fmla="*/ 1115639 w 5574"/>
              <a:gd name="T61" fmla="*/ 223626 h 3244"/>
              <a:gd name="T62" fmla="*/ 1437669 w 5574"/>
              <a:gd name="T63" fmla="*/ 393608 h 3244"/>
              <a:gd name="T64" fmla="*/ 1634375 w 5574"/>
              <a:gd name="T65" fmla="*/ 791093 h 3244"/>
              <a:gd name="T66" fmla="*/ 1437669 w 5574"/>
              <a:gd name="T67" fmla="*/ 393608 h 3244"/>
              <a:gd name="T68" fmla="*/ 1746133 w 5574"/>
              <a:gd name="T69" fmla="*/ 566175 h 3244"/>
              <a:gd name="T70" fmla="*/ 1686701 w 5574"/>
              <a:gd name="T71" fmla="*/ 791093 h 3244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5574" h="3244">
                <a:moveTo>
                  <a:pt x="1585" y="3235"/>
                </a:moveTo>
                <a:cubicBezTo>
                  <a:pt x="1621" y="3176"/>
                  <a:pt x="1621" y="3176"/>
                  <a:pt x="1621" y="3176"/>
                </a:cubicBezTo>
                <a:cubicBezTo>
                  <a:pt x="560" y="3176"/>
                  <a:pt x="560" y="3176"/>
                  <a:pt x="560" y="3176"/>
                </a:cubicBezTo>
                <a:cubicBezTo>
                  <a:pt x="510" y="3244"/>
                  <a:pt x="510" y="3244"/>
                  <a:pt x="510" y="3244"/>
                </a:cubicBezTo>
                <a:cubicBezTo>
                  <a:pt x="3" y="3244"/>
                  <a:pt x="3" y="3244"/>
                  <a:pt x="3" y="3244"/>
                </a:cubicBezTo>
                <a:cubicBezTo>
                  <a:pt x="0" y="3124"/>
                  <a:pt x="0" y="3124"/>
                  <a:pt x="0" y="3124"/>
                </a:cubicBezTo>
                <a:cubicBezTo>
                  <a:pt x="552" y="2588"/>
                  <a:pt x="552" y="2588"/>
                  <a:pt x="552" y="2588"/>
                </a:cubicBezTo>
                <a:cubicBezTo>
                  <a:pt x="989" y="2588"/>
                  <a:pt x="989" y="2588"/>
                  <a:pt x="989" y="2588"/>
                </a:cubicBezTo>
                <a:cubicBezTo>
                  <a:pt x="886" y="2730"/>
                  <a:pt x="886" y="2730"/>
                  <a:pt x="886" y="2730"/>
                </a:cubicBezTo>
                <a:cubicBezTo>
                  <a:pt x="1899" y="2730"/>
                  <a:pt x="1899" y="2730"/>
                  <a:pt x="1899" y="2730"/>
                </a:cubicBezTo>
                <a:cubicBezTo>
                  <a:pt x="1978" y="2603"/>
                  <a:pt x="1978" y="2603"/>
                  <a:pt x="1978" y="2603"/>
                </a:cubicBezTo>
                <a:cubicBezTo>
                  <a:pt x="2367" y="2603"/>
                  <a:pt x="2367" y="2603"/>
                  <a:pt x="2367" y="2603"/>
                </a:cubicBezTo>
                <a:cubicBezTo>
                  <a:pt x="5574" y="2603"/>
                  <a:pt x="5574" y="2603"/>
                  <a:pt x="5574" y="2603"/>
                </a:cubicBezTo>
                <a:cubicBezTo>
                  <a:pt x="5574" y="2685"/>
                  <a:pt x="5574" y="2685"/>
                  <a:pt x="5574" y="2685"/>
                </a:cubicBezTo>
                <a:cubicBezTo>
                  <a:pt x="2290" y="2828"/>
                  <a:pt x="2290" y="2828"/>
                  <a:pt x="2290" y="2828"/>
                </a:cubicBezTo>
                <a:cubicBezTo>
                  <a:pt x="2148" y="3243"/>
                  <a:pt x="2148" y="3243"/>
                  <a:pt x="2148" y="3243"/>
                </a:cubicBezTo>
                <a:cubicBezTo>
                  <a:pt x="1585" y="3235"/>
                  <a:pt x="1585" y="3235"/>
                  <a:pt x="1585" y="3235"/>
                </a:cubicBezTo>
                <a:close/>
                <a:moveTo>
                  <a:pt x="1724" y="3011"/>
                </a:moveTo>
                <a:cubicBezTo>
                  <a:pt x="1796" y="2895"/>
                  <a:pt x="1796" y="2895"/>
                  <a:pt x="1796" y="2895"/>
                </a:cubicBezTo>
                <a:cubicBezTo>
                  <a:pt x="765" y="2895"/>
                  <a:pt x="765" y="2895"/>
                  <a:pt x="765" y="2895"/>
                </a:cubicBezTo>
                <a:cubicBezTo>
                  <a:pt x="681" y="3011"/>
                  <a:pt x="681" y="3011"/>
                  <a:pt x="681" y="3011"/>
                </a:cubicBezTo>
                <a:cubicBezTo>
                  <a:pt x="1724" y="3011"/>
                  <a:pt x="1724" y="3011"/>
                  <a:pt x="1724" y="3011"/>
                </a:cubicBezTo>
                <a:close/>
                <a:moveTo>
                  <a:pt x="2274" y="0"/>
                </a:moveTo>
                <a:cubicBezTo>
                  <a:pt x="3141" y="485"/>
                  <a:pt x="3141" y="485"/>
                  <a:pt x="3141" y="485"/>
                </a:cubicBezTo>
                <a:cubicBezTo>
                  <a:pt x="3303" y="755"/>
                  <a:pt x="3303" y="755"/>
                  <a:pt x="3303" y="755"/>
                </a:cubicBezTo>
                <a:cubicBezTo>
                  <a:pt x="3303" y="2445"/>
                  <a:pt x="3303" y="2445"/>
                  <a:pt x="3303" y="2445"/>
                </a:cubicBezTo>
                <a:cubicBezTo>
                  <a:pt x="2600" y="2444"/>
                  <a:pt x="2600" y="2444"/>
                  <a:pt x="2600" y="2444"/>
                </a:cubicBezTo>
                <a:cubicBezTo>
                  <a:pt x="2180" y="2444"/>
                  <a:pt x="638" y="2444"/>
                  <a:pt x="305" y="2444"/>
                </a:cubicBezTo>
                <a:cubicBezTo>
                  <a:pt x="163" y="2444"/>
                  <a:pt x="163" y="2444"/>
                  <a:pt x="163" y="2444"/>
                </a:cubicBezTo>
                <a:cubicBezTo>
                  <a:pt x="163" y="2302"/>
                  <a:pt x="163" y="2302"/>
                  <a:pt x="163" y="2302"/>
                </a:cubicBezTo>
                <a:cubicBezTo>
                  <a:pt x="163" y="1569"/>
                  <a:pt x="163" y="1871"/>
                  <a:pt x="163" y="509"/>
                </a:cubicBezTo>
                <a:cubicBezTo>
                  <a:pt x="163" y="463"/>
                  <a:pt x="163" y="463"/>
                  <a:pt x="163" y="463"/>
                </a:cubicBezTo>
                <a:cubicBezTo>
                  <a:pt x="192" y="425"/>
                  <a:pt x="192" y="425"/>
                  <a:pt x="192" y="425"/>
                </a:cubicBezTo>
                <a:cubicBezTo>
                  <a:pt x="467" y="57"/>
                  <a:pt x="467" y="57"/>
                  <a:pt x="467" y="57"/>
                </a:cubicBezTo>
                <a:cubicBezTo>
                  <a:pt x="510" y="0"/>
                  <a:pt x="510" y="0"/>
                  <a:pt x="510" y="0"/>
                </a:cubicBezTo>
                <a:cubicBezTo>
                  <a:pt x="580" y="0"/>
                  <a:pt x="580" y="0"/>
                  <a:pt x="580" y="0"/>
                </a:cubicBezTo>
                <a:cubicBezTo>
                  <a:pt x="2202" y="0"/>
                  <a:pt x="2202" y="0"/>
                  <a:pt x="2202" y="0"/>
                </a:cubicBezTo>
                <a:cubicBezTo>
                  <a:pt x="2274" y="0"/>
                  <a:pt x="2274" y="0"/>
                  <a:pt x="2274" y="0"/>
                </a:cubicBezTo>
                <a:close/>
                <a:moveTo>
                  <a:pt x="604" y="1651"/>
                </a:moveTo>
                <a:cubicBezTo>
                  <a:pt x="496" y="1651"/>
                  <a:pt x="409" y="1738"/>
                  <a:pt x="409" y="1845"/>
                </a:cubicBezTo>
                <a:cubicBezTo>
                  <a:pt x="409" y="1953"/>
                  <a:pt x="496" y="2040"/>
                  <a:pt x="604" y="2040"/>
                </a:cubicBezTo>
                <a:cubicBezTo>
                  <a:pt x="711" y="2040"/>
                  <a:pt x="798" y="1953"/>
                  <a:pt x="798" y="1845"/>
                </a:cubicBezTo>
                <a:cubicBezTo>
                  <a:pt x="798" y="1738"/>
                  <a:pt x="711" y="1651"/>
                  <a:pt x="604" y="1651"/>
                </a:cubicBezTo>
                <a:close/>
                <a:moveTo>
                  <a:pt x="2131" y="1651"/>
                </a:moveTo>
                <a:cubicBezTo>
                  <a:pt x="2024" y="1651"/>
                  <a:pt x="1937" y="1738"/>
                  <a:pt x="1937" y="1845"/>
                </a:cubicBezTo>
                <a:cubicBezTo>
                  <a:pt x="1937" y="1953"/>
                  <a:pt x="2024" y="2040"/>
                  <a:pt x="2131" y="2040"/>
                </a:cubicBezTo>
                <a:cubicBezTo>
                  <a:pt x="2239" y="2040"/>
                  <a:pt x="2326" y="1953"/>
                  <a:pt x="2326" y="1845"/>
                </a:cubicBezTo>
                <a:cubicBezTo>
                  <a:pt x="2326" y="1738"/>
                  <a:pt x="2239" y="1651"/>
                  <a:pt x="2131" y="1651"/>
                </a:cubicBezTo>
                <a:close/>
                <a:moveTo>
                  <a:pt x="447" y="1361"/>
                </a:moveTo>
                <a:cubicBezTo>
                  <a:pt x="2316" y="1361"/>
                  <a:pt x="2316" y="1361"/>
                  <a:pt x="2316" y="1361"/>
                </a:cubicBezTo>
                <a:cubicBezTo>
                  <a:pt x="2316" y="536"/>
                  <a:pt x="2316" y="536"/>
                  <a:pt x="2316" y="536"/>
                </a:cubicBezTo>
                <a:cubicBezTo>
                  <a:pt x="2131" y="284"/>
                  <a:pt x="2131" y="284"/>
                  <a:pt x="2131" y="284"/>
                </a:cubicBezTo>
                <a:cubicBezTo>
                  <a:pt x="650" y="284"/>
                  <a:pt x="650" y="284"/>
                  <a:pt x="650" y="284"/>
                </a:cubicBezTo>
                <a:cubicBezTo>
                  <a:pt x="447" y="556"/>
                  <a:pt x="447" y="556"/>
                  <a:pt x="447" y="556"/>
                </a:cubicBezTo>
                <a:cubicBezTo>
                  <a:pt x="447" y="1361"/>
                  <a:pt x="447" y="1361"/>
                  <a:pt x="447" y="1361"/>
                </a:cubicBezTo>
                <a:close/>
                <a:moveTo>
                  <a:pt x="3425" y="643"/>
                </a:moveTo>
                <a:cubicBezTo>
                  <a:pt x="4289" y="1127"/>
                  <a:pt x="4289" y="1127"/>
                  <a:pt x="4289" y="1127"/>
                </a:cubicBezTo>
                <a:cubicBezTo>
                  <a:pt x="4289" y="2446"/>
                  <a:pt x="4289" y="2446"/>
                  <a:pt x="4289" y="2446"/>
                </a:cubicBezTo>
                <a:cubicBezTo>
                  <a:pt x="3466" y="2445"/>
                  <a:pt x="3466" y="2445"/>
                  <a:pt x="3466" y="2445"/>
                </a:cubicBezTo>
                <a:cubicBezTo>
                  <a:pt x="3466" y="733"/>
                  <a:pt x="3466" y="733"/>
                  <a:pt x="3466" y="733"/>
                </a:cubicBezTo>
                <a:cubicBezTo>
                  <a:pt x="3466" y="712"/>
                  <a:pt x="3466" y="712"/>
                  <a:pt x="3466" y="712"/>
                </a:cubicBezTo>
                <a:cubicBezTo>
                  <a:pt x="3454" y="692"/>
                  <a:pt x="3454" y="692"/>
                  <a:pt x="3454" y="692"/>
                </a:cubicBezTo>
                <a:cubicBezTo>
                  <a:pt x="3425" y="643"/>
                  <a:pt x="3425" y="643"/>
                  <a:pt x="3425" y="643"/>
                </a:cubicBezTo>
                <a:close/>
                <a:moveTo>
                  <a:pt x="4451" y="1218"/>
                </a:moveTo>
                <a:cubicBezTo>
                  <a:pt x="5060" y="1558"/>
                  <a:pt x="5060" y="1558"/>
                  <a:pt x="5060" y="1558"/>
                </a:cubicBezTo>
                <a:cubicBezTo>
                  <a:pt x="5060" y="2448"/>
                  <a:pt x="5060" y="2448"/>
                  <a:pt x="5060" y="2448"/>
                </a:cubicBezTo>
                <a:cubicBezTo>
                  <a:pt x="4451" y="2447"/>
                  <a:pt x="4451" y="2447"/>
                  <a:pt x="4451" y="2447"/>
                </a:cubicBezTo>
                <a:cubicBezTo>
                  <a:pt x="4451" y="1218"/>
                  <a:pt x="4451" y="1218"/>
                  <a:pt x="4451" y="1218"/>
                </a:cubicBezTo>
                <a:close/>
                <a:moveTo>
                  <a:pt x="5222" y="1649"/>
                </a:moveTo>
                <a:cubicBezTo>
                  <a:pt x="5406" y="1752"/>
                  <a:pt x="5406" y="1752"/>
                  <a:pt x="5406" y="1752"/>
                </a:cubicBezTo>
                <a:cubicBezTo>
                  <a:pt x="5406" y="2448"/>
                  <a:pt x="5406" y="2448"/>
                  <a:pt x="5406" y="2448"/>
                </a:cubicBezTo>
                <a:cubicBezTo>
                  <a:pt x="5222" y="2448"/>
                  <a:pt x="5222" y="2448"/>
                  <a:pt x="5222" y="2448"/>
                </a:cubicBezTo>
                <a:lnTo>
                  <a:pt x="5222" y="164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225686"/>
            </a:solidFill>
          </a:ln>
          <a:extLst/>
        </p:spPr>
        <p:txBody>
          <a:bodyPr lIns="68580" tIns="34290" rIns="68580" bIns="34290"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10438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-28575" y="-9525"/>
            <a:ext cx="12220575" cy="714375"/>
            <a:chOff x="0" y="-9525"/>
            <a:chExt cx="12192000" cy="714375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-9525"/>
              <a:ext cx="12192000" cy="71437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0" y="-9525"/>
              <a:ext cx="864748" cy="714375"/>
            </a:xfrm>
            <a:prstGeom prst="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6311900"/>
            <a:ext cx="12192001" cy="546100"/>
            <a:chOff x="-1" y="6311900"/>
            <a:chExt cx="12115799" cy="546100"/>
          </a:xfrm>
        </p:grpSpPr>
        <p:sp>
          <p:nvSpPr>
            <p:cNvPr id="9" name="矩形 8"/>
            <p:cNvSpPr/>
            <p:nvPr userDrawn="1"/>
          </p:nvSpPr>
          <p:spPr>
            <a:xfrm>
              <a:off x="-1" y="6311900"/>
              <a:ext cx="12115799" cy="546100"/>
            </a:xfrm>
            <a:prstGeom prst="rect">
              <a:avLst/>
            </a:prstGeom>
            <a:solidFill>
              <a:srgbClr val="292929"/>
            </a:solidFill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-1" y="6753224"/>
              <a:ext cx="12115799" cy="10477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28713" y="150811"/>
            <a:ext cx="10707260" cy="393701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696574" y="6372223"/>
            <a:ext cx="141922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F323AA3-2952-4E48-9E8E-706E31FED10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3"/>
          </p:nvPr>
        </p:nvSpPr>
        <p:spPr>
          <a:xfrm>
            <a:off x="9963150" y="6356350"/>
            <a:ext cx="1390649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3702F3-900D-43A0-BC51-78E37C591078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142876" y="6448425"/>
            <a:ext cx="319084" cy="17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52463" y="6448425"/>
            <a:ext cx="319084" cy="177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 userDrawn="1"/>
        </p:nvSpPr>
        <p:spPr>
          <a:xfrm>
            <a:off x="1128713" y="6448425"/>
            <a:ext cx="319084" cy="177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1635922" y="6461125"/>
            <a:ext cx="319084" cy="1778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186151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实例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-28575" y="-9525"/>
            <a:ext cx="12220575" cy="714375"/>
            <a:chOff x="0" y="-9525"/>
            <a:chExt cx="12192000" cy="714375"/>
          </a:xfrm>
        </p:grpSpPr>
        <p:sp>
          <p:nvSpPr>
            <p:cNvPr id="7" name="矩形 6"/>
            <p:cNvSpPr/>
            <p:nvPr userDrawn="1"/>
          </p:nvSpPr>
          <p:spPr>
            <a:xfrm>
              <a:off x="0" y="-9525"/>
              <a:ext cx="12192000" cy="714375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 userDrawn="1"/>
          </p:nvSpPr>
          <p:spPr>
            <a:xfrm>
              <a:off x="0" y="-9525"/>
              <a:ext cx="864748" cy="714375"/>
            </a:xfrm>
            <a:prstGeom prst="rect">
              <a:avLst/>
            </a:prstGeom>
            <a:solidFill>
              <a:srgbClr val="70AD4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6325" y="150811"/>
            <a:ext cx="10759648" cy="393701"/>
          </a:xfrm>
        </p:spPr>
        <p:txBody>
          <a:bodyPr>
            <a:noAutofit/>
          </a:bodyPr>
          <a:lstStyle>
            <a:lvl1pPr>
              <a:defRPr sz="360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0772776" y="6467473"/>
            <a:ext cx="1419224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2F323AA3-2952-4E48-9E8E-706E31FED10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2C65778-6ADB-4B3D-BCAF-3826425D4A96}" type="datetimeFigureOut">
              <a:rPr lang="zh-CN" altLang="en-US" smtClean="0"/>
              <a:t>2026-4-27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9600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4234" y="6400800"/>
            <a:ext cx="12187767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5"/>
          <p:cNvSpPr/>
          <p:nvPr/>
        </p:nvSpPr>
        <p:spPr>
          <a:xfrm>
            <a:off x="1" y="6334125"/>
            <a:ext cx="12189884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7D7B-BFCE-4283-BEE5-0D1F64AA88C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9140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06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1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4354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68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573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15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136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744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7147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1502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961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65778-6ADB-4B3D-BCAF-3826425D4A96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702F3-900D-43A0-BC51-78E37C59107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58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72" r:id="rId4"/>
    <p:sldLayoutId id="2147483686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37F21-F16A-4D28-996A-52F2AAA4E927}" type="datetimeFigureOut">
              <a:rPr lang="zh-CN" altLang="en-US" smtClean="0"/>
              <a:t>2026-4-27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CC216D-CDB1-4ED3-A48C-58357D3FF0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715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2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6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6000" dirty="0" smtClean="0"/>
              <a:t>分治法</a:t>
            </a:r>
            <a:r>
              <a:rPr lang="en-US" altLang="zh-CN" sz="4800" dirty="0" smtClean="0"/>
              <a:t/>
            </a:r>
            <a:br>
              <a:rPr lang="en-US" altLang="zh-CN" sz="4800" dirty="0" smtClean="0"/>
            </a:br>
            <a:r>
              <a:rPr lang="en-US" altLang="zh-CN" sz="4000" dirty="0"/>
              <a:t>Divide and Conquer </a:t>
            </a:r>
            <a:r>
              <a:rPr lang="en-US" altLang="zh-CN" sz="4000" dirty="0" smtClean="0"/>
              <a:t>Strategies</a:t>
            </a:r>
            <a:endParaRPr lang="zh-CN" altLang="en-US"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10283001" y="6347010"/>
            <a:ext cx="1763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Last: </a:t>
            </a:r>
            <a:r>
              <a:rPr lang="en-US" altLang="zh-CN" dirty="0" smtClean="0"/>
              <a:t>2026-04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081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 advTm="132794"/>
    </mc:Choice>
    <mc:Fallback xmlns="">
      <p:transition spd="slow" advTm="132794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一、分治法概述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31358"/>
            <a:ext cx="10515600" cy="5422605"/>
          </a:xfrm>
        </p:spPr>
        <p:txBody>
          <a:bodyPr>
            <a:normAutofit/>
          </a:bodyPr>
          <a:lstStyle/>
          <a:p>
            <a:r>
              <a:rPr lang="en-US" altLang="zh-CN" sz="36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1.1  </a:t>
            </a:r>
            <a:r>
              <a:rPr lang="zh-CN" altLang="en-US" sz="36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分治法定义</a:t>
            </a:r>
            <a:endParaRPr lang="en-US" altLang="zh-CN" sz="36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6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1.2  </a:t>
            </a:r>
            <a:r>
              <a:rPr lang="zh-CN" altLang="en-US" sz="36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r>
              <a:rPr lang="zh-CN" altLang="en-US" sz="36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治策略的基本</a:t>
            </a:r>
            <a:r>
              <a:rPr lang="zh-CN" altLang="en-US" sz="36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思想</a:t>
            </a:r>
            <a:endParaRPr lang="en-US" altLang="zh-CN" sz="36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6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1.3  </a:t>
            </a:r>
            <a:r>
              <a:rPr lang="zh-CN" altLang="en-US" sz="36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分治法算法框架</a:t>
            </a:r>
            <a:endParaRPr lang="en-US" altLang="zh-CN" sz="36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6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1.4  </a:t>
            </a:r>
            <a:r>
              <a:rPr lang="zh-CN" altLang="en-US" sz="36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分治法实例</a:t>
            </a:r>
            <a:endParaRPr lang="zh-CN" altLang="en-US" sz="3600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185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dirty="0" smtClean="0"/>
              <a:t>1.1 </a:t>
            </a:r>
            <a:r>
              <a:rPr lang="zh-CN" altLang="en-US" dirty="0" smtClean="0"/>
              <a:t>分治法定义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idx="1"/>
          </p:nvPr>
        </p:nvSpPr>
        <p:spPr>
          <a:xfrm>
            <a:off x="838200" y="1148080"/>
            <a:ext cx="10515600" cy="5028883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定义：</a:t>
            </a:r>
            <a:endParaRPr lang="en-US" altLang="zh-CN" sz="3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将一个复杂的问题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分成两个或更多的相同或相似的子问题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，再把子问题分成更小的子问题，一直这样循环下去，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直到最后子问题可以简单的直接求解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，然后合并这些子问题的解并最终得到整个问题的解。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430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1.2 </a:t>
            </a:r>
            <a:r>
              <a:rPr lang="zh-CN" altLang="en-US" dirty="0" smtClean="0"/>
              <a:t>分治策略的基本思想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3771" y="923461"/>
            <a:ext cx="8816164" cy="537101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分治策略（</a:t>
            </a:r>
            <a:r>
              <a:rPr lang="en-US" altLang="zh-CN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Divide and Conquer</a:t>
            </a:r>
            <a:r>
              <a:rPr lang="zh-CN" altLang="en-US" dirty="0" smtClean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 smtClean="0">
              <a:solidFill>
                <a:schemeClr val="accent5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将原始问题分解为规模较小的子问题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递归或迭代求解每个子问题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spcBef>
                <a:spcPts val="0"/>
              </a:spcBef>
              <a:buAutoNum type="arabicPeriod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将子问题的解综合得到原问题的解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子问题与原始问题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性质完全一样（递归）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子问题之间可彼此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独立地求解（高效）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递归停止时子问题可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直接求解（问题规模不断缩小）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837" y="1056832"/>
            <a:ext cx="3289239" cy="34939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8274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分治策略的基本</a:t>
            </a:r>
            <a:r>
              <a:rPr lang="zh-CN" altLang="en-US" dirty="0" smtClean="0"/>
              <a:t>思想（续）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933451" y="4095197"/>
            <a:ext cx="0" cy="5334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triangl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7" name="Rectangle 12"/>
          <p:cNvSpPr>
            <a:spLocks noChangeArrowheads="1"/>
          </p:cNvSpPr>
          <p:nvPr/>
        </p:nvSpPr>
        <p:spPr bwMode="auto">
          <a:xfrm>
            <a:off x="476250" y="894797"/>
            <a:ext cx="11176488" cy="177806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defRPr/>
            </a:pPr>
            <a:r>
              <a:rPr lang="zh-CN" altLang="en-US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将规模为 </a:t>
            </a:r>
            <a:r>
              <a:rPr lang="en-US" altLang="zh-CN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的问题分解为 </a:t>
            </a:r>
            <a:r>
              <a:rPr lang="en-US" altLang="zh-CN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个规模较小的子问题，使这些子问题相互独立可分别求解，再将 </a:t>
            </a:r>
            <a:r>
              <a:rPr lang="en-US" altLang="zh-CN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个子问题的解合并成原问题的解。</a:t>
            </a:r>
            <a:endParaRPr lang="en-US" altLang="zh-CN" sz="2500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如子问题的规模仍很大，则反复分解直到问题小到可直接求解为止。</a:t>
            </a:r>
            <a:endParaRPr lang="en-US" altLang="zh-CN" sz="2500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defRPr/>
            </a:pP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由于</a:t>
            </a:r>
            <a:r>
              <a:rPr lang="zh-CN" altLang="en-US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子问题的解法与原问题</a:t>
            </a:r>
            <a:r>
              <a:rPr lang="zh-CN" altLang="en-US" sz="25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相同</a:t>
            </a:r>
            <a:r>
              <a:rPr lang="zh-CN" altLang="en-US" sz="25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，因此可以采用递归求解</a:t>
            </a:r>
            <a:r>
              <a:rPr lang="zh-CN" altLang="en-US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2"/>
          <p:cNvSpPr>
            <a:spLocks noChangeArrowheads="1"/>
          </p:cNvSpPr>
          <p:nvPr/>
        </p:nvSpPr>
        <p:spPr bwMode="auto">
          <a:xfrm>
            <a:off x="476250" y="3319661"/>
            <a:ext cx="10347694" cy="284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分治法适用的问题类型：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8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该问题的规模缩小到一定的程度就可以容易地解决；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8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该问题可以分解为若干个规模较小的相同问题</a:t>
            </a:r>
            <a:r>
              <a:rPr lang="en-US" altLang="zh-CN" sz="28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8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分解出的子问题的解可以合并为原问题的解；</a:t>
            </a:r>
          </a:p>
          <a:p>
            <a:pPr eaLnBrk="1" hangingPunct="1">
              <a:buClr>
                <a:srgbClr val="FF0000"/>
              </a:buClr>
              <a:buFont typeface="Wingdings" panose="05000000000000000000" pitchFamily="2" charset="2"/>
              <a:buChar char="ü"/>
              <a:defRPr/>
            </a:pPr>
            <a:r>
              <a:rPr lang="zh-CN" altLang="en-US" sz="28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分解出的各个子问题是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相互独立</a:t>
            </a:r>
            <a:r>
              <a:rPr lang="zh-CN" altLang="en-US" sz="2800" dirty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的。 </a:t>
            </a:r>
          </a:p>
        </p:txBody>
      </p:sp>
    </p:spTree>
    <p:extLst>
      <p:ext uri="{BB962C8B-B14F-4D97-AF65-F5344CB8AC3E}">
        <p14:creationId xmlns:p14="http://schemas.microsoft.com/office/powerpoint/2010/main" val="78534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分治策略的基本</a:t>
            </a:r>
            <a:r>
              <a:rPr lang="zh-CN" altLang="en-US" dirty="0" smtClean="0"/>
              <a:t>思想（续）</a:t>
            </a:r>
            <a:endParaRPr lang="zh-CN" altLang="en-US" dirty="0"/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165" y="950821"/>
            <a:ext cx="5704303" cy="54152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42416" y="4379267"/>
            <a:ext cx="6111541" cy="1865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独立子问题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：各子问题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之间要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相互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独立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，这涉及到分治法的效率，如果各子问题不是独立的，则分治法需要重复地解公共的子问题。 </a:t>
            </a:r>
          </a:p>
        </p:txBody>
      </p:sp>
      <p:sp>
        <p:nvSpPr>
          <p:cNvPr id="8" name="Text Box 22"/>
          <p:cNvSpPr txBox="1">
            <a:spLocks noChangeArrowheads="1"/>
          </p:cNvSpPr>
          <p:nvPr/>
        </p:nvSpPr>
        <p:spPr bwMode="auto">
          <a:xfrm>
            <a:off x="342149" y="1518959"/>
            <a:ext cx="6040313" cy="275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平衡子问题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：最好使子问题的规模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大致相同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。也就是将一个问题划分成大小相等的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个子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问题（通常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），这种使子问题规模大致相等的做法是出自一种平衡（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Balancing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）子问题的思想，它几乎总是比子问题规模不等的做法要好。</a:t>
            </a: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59380" y="905209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FF0000"/>
              </a:buClr>
              <a:defRPr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分解子问题的要点：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451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分治法算法框架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93872" y="701639"/>
            <a:ext cx="3086493" cy="636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分治法求解过程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793872" y="1399381"/>
            <a:ext cx="10698694" cy="175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9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lang="en-US" altLang="zh-CN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一般来说，分治法的求解过程由以下三个阶段组成：</a:t>
            </a:r>
          </a:p>
          <a:p>
            <a:pPr algn="just" eaLnBrk="1" hangingPunct="1">
              <a:lnSpc>
                <a:spcPts val="39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（</a:t>
            </a:r>
            <a:r>
              <a:rPr lang="en-US" altLang="zh-CN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划分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：既然是分治，当然需要把规模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原问题划分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zh-CN" altLang="en-US" sz="2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规模较小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的子问题，并尽量使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 </a:t>
            </a:r>
            <a:r>
              <a:rPr lang="en-US" altLang="zh-CN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k 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个子</a:t>
            </a:r>
            <a:r>
              <a:rPr lang="zh-CN" altLang="en-US" sz="2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问题的规模大致相同。</a:t>
            </a: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903410" y="3259838"/>
            <a:ext cx="10450389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900"/>
              </a:lnSpc>
              <a:spcBef>
                <a:spcPct val="20000"/>
              </a:spcBef>
              <a:spcAft>
                <a:spcPct val="20000"/>
              </a:spcAft>
            </a:pP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求解子问题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：各子问题的解法与原问题的解法通常是相同的，可以</a:t>
            </a:r>
            <a:r>
              <a:rPr lang="zh-CN" altLang="en-US" sz="2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用递归的方法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求解各个子问题，有时递归处理也可以用循环来实现。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903410" y="4517476"/>
            <a:ext cx="10556046" cy="1092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900"/>
              </a:lnSpc>
              <a:defRPr/>
            </a:pP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（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6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：把各个子问题的解合并起来，合并的代价因情况不同有很大差异，</a:t>
            </a:r>
            <a:r>
              <a:rPr lang="zh-CN" altLang="en-US" sz="26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分治算法的有效性很大程度上依赖于合并的实现。 </a:t>
            </a:r>
          </a:p>
        </p:txBody>
      </p:sp>
    </p:spTree>
    <p:extLst>
      <p:ext uri="{BB962C8B-B14F-4D97-AF65-F5344CB8AC3E}">
        <p14:creationId xmlns:p14="http://schemas.microsoft.com/office/powerpoint/2010/main" val="369983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分治法算法</a:t>
            </a:r>
            <a:r>
              <a:rPr lang="zh-CN" altLang="en-US" dirty="0" smtClean="0"/>
              <a:t>框架（续）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856272" y="581824"/>
            <a:ext cx="3070071" cy="63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分治法的一般过程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17"/>
          <p:cNvSpPr>
            <a:spLocks noChangeArrowheads="1"/>
          </p:cNvSpPr>
          <p:nvPr/>
        </p:nvSpPr>
        <p:spPr bwMode="auto">
          <a:xfrm>
            <a:off x="856272" y="1222718"/>
            <a:ext cx="9638063" cy="42494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0000" tIns="46800" rIns="90000" bIns="4680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600"/>
              </a:lnSpc>
              <a:defRPr/>
            </a:pPr>
            <a:r>
              <a:rPr lang="en-US" altLang="zh-CN" sz="2600" dirty="0" smtClean="0">
                <a:cs typeface="Times New Roman" panose="02020603050405020304" pitchFamily="18" charset="0"/>
              </a:rPr>
              <a:t> </a:t>
            </a:r>
            <a:r>
              <a:rPr lang="en-US" altLang="zh-CN" sz="2600" b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Divide-and-Conquer(P)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          </a:t>
            </a:r>
            <a:r>
              <a:rPr lang="en-US" altLang="zh-CN" sz="2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//</a:t>
            </a:r>
            <a:r>
              <a:rPr lang="zh-CN" altLang="en-US" sz="2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求解规模为 </a:t>
            </a:r>
            <a:r>
              <a:rPr lang="en-US" altLang="zh-CN" sz="2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|P| </a:t>
            </a:r>
            <a:r>
              <a:rPr lang="zh-CN" altLang="en-US" sz="2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的问题</a:t>
            </a:r>
            <a:r>
              <a:rPr lang="en-US" altLang="zh-CN" sz="2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P</a:t>
            </a:r>
          </a:p>
          <a:p>
            <a:pPr eaLnBrk="1" hangingPunct="1">
              <a:lnSpc>
                <a:spcPts val="3600"/>
              </a:lnSpc>
              <a:defRPr/>
            </a:pPr>
            <a:r>
              <a:rPr lang="en-US" altLang="zh-CN" sz="2600" dirty="0" smtClean="0">
                <a:cs typeface="Times New Roman" panose="02020603050405020304" pitchFamily="18" charset="0"/>
              </a:rPr>
              <a:t>     if ( |P|&lt;=n0)   </a:t>
            </a:r>
            <a:r>
              <a:rPr lang="en-US" altLang="zh-CN" sz="2600" dirty="0" err="1" smtClean="0">
                <a:cs typeface="Times New Roman" panose="02020603050405020304" pitchFamily="18" charset="0"/>
              </a:rPr>
              <a:t>Adhoc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(P);      </a:t>
            </a:r>
            <a:r>
              <a:rPr lang="en-US" altLang="zh-CN" sz="2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//</a:t>
            </a:r>
            <a:r>
              <a:rPr lang="zh-CN" altLang="en-US" sz="2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如果 </a:t>
            </a:r>
            <a:r>
              <a:rPr lang="en-US" altLang="zh-CN" sz="2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P </a:t>
            </a:r>
            <a:r>
              <a:rPr lang="zh-CN" altLang="en-US" sz="26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的规模足够小，直接求解</a:t>
            </a:r>
            <a:endParaRPr lang="en-US" altLang="zh-CN" sz="2600" b="1" dirty="0" smtClean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lnSpc>
                <a:spcPts val="3600"/>
              </a:lnSpc>
              <a:defRPr/>
            </a:pPr>
            <a:r>
              <a:rPr lang="en-US" altLang="zh-CN" sz="2600" dirty="0" smtClean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6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将 </a:t>
            </a:r>
            <a:r>
              <a:rPr lang="en-US" altLang="zh-CN" sz="26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P </a:t>
            </a:r>
            <a:r>
              <a:rPr lang="zh-CN" altLang="en-US" sz="26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分解为 </a:t>
            </a:r>
            <a:r>
              <a:rPr lang="en-US" altLang="zh-CN" sz="26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k </a:t>
            </a:r>
            <a:r>
              <a:rPr lang="zh-CN" altLang="en-US" sz="2600" dirty="0" smtClean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个较小的子</a:t>
            </a:r>
            <a:r>
              <a:rPr lang="zh-CN" altLang="en-US" sz="26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sz="26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,P</a:t>
            </a:r>
            <a:r>
              <a:rPr lang="en-US" altLang="zh-CN" sz="2600" baseline="-250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600" dirty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,…,</a:t>
            </a:r>
            <a:r>
              <a:rPr lang="en-US" altLang="zh-CN" sz="2600" dirty="0" err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err="1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en-US" altLang="zh-CN" sz="2600" dirty="0" smtClean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600"/>
              </a:lnSpc>
              <a:defRPr/>
            </a:pPr>
            <a:r>
              <a:rPr lang="en-US" altLang="zh-CN" sz="2600" dirty="0" smtClean="0">
                <a:solidFill>
                  <a:srgbClr val="990000"/>
                </a:solidFill>
                <a:cs typeface="Times New Roman" panose="02020603050405020304" pitchFamily="18" charset="0"/>
              </a:rPr>
              <a:t>   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 divide P into smaller </a:t>
            </a:r>
            <a:r>
              <a:rPr lang="en-US" altLang="zh-CN" sz="2600" dirty="0" err="1" smtClean="0">
                <a:cs typeface="Times New Roman" panose="02020603050405020304" pitchFamily="18" charset="0"/>
              </a:rPr>
              <a:t>subinstances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  P</a:t>
            </a:r>
            <a:r>
              <a:rPr lang="en-US" altLang="zh-CN" sz="2600" baseline="-25000" dirty="0" smtClean="0">
                <a:cs typeface="Times New Roman" panose="02020603050405020304" pitchFamily="18" charset="0"/>
              </a:rPr>
              <a:t>1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 ,P</a:t>
            </a:r>
            <a:r>
              <a:rPr lang="en-US" altLang="zh-CN" sz="2600" baseline="-25000" dirty="0" smtClean="0">
                <a:cs typeface="Times New Roman" panose="02020603050405020304" pitchFamily="18" charset="0"/>
              </a:rPr>
              <a:t>2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,... ,</a:t>
            </a:r>
            <a:r>
              <a:rPr lang="en-US" altLang="zh-CN" sz="2600" dirty="0" err="1" smtClean="0"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err="1" smtClean="0">
                <a:cs typeface="Times New Roman" panose="02020603050405020304" pitchFamily="18" charset="0"/>
              </a:rPr>
              <a:t>k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;     </a:t>
            </a:r>
          </a:p>
          <a:p>
            <a:pPr eaLnBrk="1" hangingPunct="1">
              <a:lnSpc>
                <a:spcPts val="3600"/>
              </a:lnSpc>
              <a:defRPr/>
            </a:pPr>
            <a:r>
              <a:rPr lang="en-US" altLang="zh-CN" sz="2600" dirty="0">
                <a:cs typeface="Times New Roman" panose="02020603050405020304" pitchFamily="18" charset="0"/>
              </a:rPr>
              <a:t> 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   for (</a:t>
            </a:r>
            <a:r>
              <a:rPr lang="en-US" altLang="zh-CN" sz="2600" dirty="0" err="1" smtClean="0">
                <a:cs typeface="Times New Roman" panose="02020603050405020304" pitchFamily="18" charset="0"/>
              </a:rPr>
              <a:t>i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 = 1;i &lt;= k; </a:t>
            </a:r>
            <a:r>
              <a:rPr lang="en-US" altLang="zh-CN" sz="2600" dirty="0" err="1" smtClean="0">
                <a:cs typeface="Times New Roman" panose="02020603050405020304" pitchFamily="18" charset="0"/>
              </a:rPr>
              <a:t>i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++)</a:t>
            </a:r>
          </a:p>
          <a:p>
            <a:pPr eaLnBrk="1" hangingPunct="1">
              <a:lnSpc>
                <a:spcPts val="3600"/>
              </a:lnSpc>
              <a:defRPr/>
            </a:pPr>
            <a:r>
              <a:rPr lang="zh-CN" altLang="en-US" sz="2600" dirty="0" smtClean="0">
                <a:cs typeface="Times New Roman" panose="02020603050405020304" pitchFamily="18" charset="0"/>
              </a:rPr>
              <a:t>    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ts val="3600"/>
              </a:lnSpc>
              <a:defRPr/>
            </a:pPr>
            <a:r>
              <a:rPr lang="en-US" altLang="zh-CN" sz="2600" dirty="0" smtClean="0">
                <a:cs typeface="Times New Roman" panose="02020603050405020304" pitchFamily="18" charset="0"/>
              </a:rPr>
              <a:t>         </a:t>
            </a:r>
            <a:r>
              <a:rPr lang="en-US" altLang="zh-CN" sz="2600" dirty="0" err="1" smtClean="0">
                <a:cs typeface="Times New Roman" panose="02020603050405020304" pitchFamily="18" charset="0"/>
              </a:rPr>
              <a:t>y</a:t>
            </a:r>
            <a:r>
              <a:rPr lang="en-US" altLang="zh-CN" sz="2600" baseline="-25000" dirty="0" err="1" smtClean="0">
                <a:cs typeface="Times New Roman" panose="02020603050405020304" pitchFamily="18" charset="0"/>
              </a:rPr>
              <a:t>i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=Divide-and-Conquer(P</a:t>
            </a:r>
            <a:r>
              <a:rPr lang="en-US" altLang="zh-CN" sz="2600" baseline="-25000" dirty="0" smtClean="0">
                <a:cs typeface="Times New Roman" panose="02020603050405020304" pitchFamily="18" charset="0"/>
              </a:rPr>
              <a:t>i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);   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解各子问题，通常采用递归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600"/>
              </a:lnSpc>
              <a:defRPr/>
            </a:pPr>
            <a:r>
              <a:rPr lang="en-US" altLang="zh-CN" sz="2600" dirty="0" smtClean="0">
                <a:cs typeface="Times New Roman" panose="02020603050405020304" pitchFamily="18" charset="0"/>
              </a:rPr>
              <a:t>     }</a:t>
            </a:r>
          </a:p>
          <a:p>
            <a:pPr>
              <a:lnSpc>
                <a:spcPts val="3600"/>
              </a:lnSpc>
              <a:defRPr/>
            </a:pPr>
            <a:r>
              <a:rPr lang="en-US" altLang="zh-CN" sz="2600" dirty="0" smtClean="0">
                <a:cs typeface="Times New Roman" panose="02020603050405020304" pitchFamily="18" charset="0"/>
              </a:rPr>
              <a:t>    return Merge( </a:t>
            </a:r>
            <a:r>
              <a:rPr lang="en-US" altLang="zh-CN" sz="2600" dirty="0" err="1" smtClean="0">
                <a:cs typeface="Times New Roman" panose="02020603050405020304" pitchFamily="18" charset="0"/>
              </a:rPr>
              <a:t>y</a:t>
            </a:r>
            <a:r>
              <a:rPr lang="en-US" altLang="zh-CN" sz="2600" baseline="-25000" dirty="0" err="1" smtClean="0">
                <a:cs typeface="Times New Roman" panose="02020603050405020304" pitchFamily="18" charset="0"/>
              </a:rPr>
              <a:t>l</a:t>
            </a:r>
            <a:r>
              <a:rPr lang="en-US" altLang="zh-CN" sz="2600" baseline="-25000" dirty="0" smtClean="0">
                <a:cs typeface="Times New Roman" panose="02020603050405020304" pitchFamily="18" charset="0"/>
              </a:rPr>
              <a:t> 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,..., </a:t>
            </a:r>
            <a:r>
              <a:rPr lang="en-US" altLang="zh-CN" sz="2600" dirty="0" err="1" smtClean="0">
                <a:cs typeface="Times New Roman" panose="02020603050405020304" pitchFamily="18" charset="0"/>
              </a:rPr>
              <a:t>y</a:t>
            </a:r>
            <a:r>
              <a:rPr lang="en-US" altLang="zh-CN" sz="2600" baseline="-25000" dirty="0" err="1" smtClean="0">
                <a:cs typeface="Times New Roman" panose="02020603050405020304" pitchFamily="18" charset="0"/>
              </a:rPr>
              <a:t>k</a:t>
            </a:r>
            <a:r>
              <a:rPr lang="en-US" altLang="zh-CN" sz="2600" dirty="0" smtClean="0">
                <a:cs typeface="Times New Roman" panose="02020603050405020304" pitchFamily="18" charset="0"/>
              </a:rPr>
              <a:t>);      </a:t>
            </a:r>
            <a:r>
              <a:rPr lang="en-US" altLang="zh-CN" sz="2600" dirty="0" smtClean="0">
                <a:solidFill>
                  <a:srgbClr val="FF000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en-US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将各子问题的解合并为原问题的</a:t>
            </a:r>
            <a:r>
              <a:rPr lang="zh-CN" altLang="en-US" sz="26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endParaRPr lang="en-US" altLang="zh-CN" sz="2600" dirty="0" smtClean="0"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56272" y="5430603"/>
            <a:ext cx="9602316" cy="1125361"/>
            <a:chOff x="856272" y="5568832"/>
            <a:chExt cx="9602316" cy="1125361"/>
          </a:xfrm>
        </p:grpSpPr>
        <p:sp>
          <p:nvSpPr>
            <p:cNvPr id="3" name="矩形 2"/>
            <p:cNvSpPr/>
            <p:nvPr/>
          </p:nvSpPr>
          <p:spPr>
            <a:xfrm>
              <a:off x="2953264" y="5740086"/>
              <a:ext cx="7505324" cy="95410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T(n</a:t>
              </a:r>
              <a:r>
                <a:rPr lang="en-US" altLang="zh-CN" sz="28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)=k*T(n/b</a:t>
              </a:r>
              <a:r>
                <a:rPr lang="en-US" altLang="zh-CN" sz="28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)+f(n) </a:t>
              </a: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en-US" altLang="zh-CN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k 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≥ 1</a:t>
              </a:r>
              <a:r>
                <a:rPr lang="zh-CN" altLang="en-US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en-US" altLang="zh-CN" sz="28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b&gt;1</a:t>
              </a:r>
              <a:r>
                <a:rPr lang="en-US" altLang="zh-CN" sz="2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），</a:t>
              </a:r>
              <a:endPara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其中 </a:t>
              </a:r>
              <a:r>
                <a:rPr lang="en-US" altLang="zh-CN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f(n) </a:t>
              </a: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 </a:t>
              </a:r>
              <a:r>
                <a:rPr lang="en-US" altLang="zh-CN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divide </a:t>
              </a: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 </a:t>
              </a:r>
              <a:r>
                <a:rPr lang="en-US" altLang="zh-CN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merge </a:t>
              </a:r>
              <a:r>
                <a:rPr lang="zh-CN" altLang="en-US" sz="28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算法的复杂性。</a:t>
              </a:r>
              <a:endPara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矩形 3"/>
            <p:cNvSpPr>
              <a:spLocks noChangeArrowheads="1"/>
            </p:cNvSpPr>
            <p:nvPr/>
          </p:nvSpPr>
          <p:spPr bwMode="auto">
            <a:xfrm>
              <a:off x="856272" y="5568832"/>
              <a:ext cx="2339102" cy="637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8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时间复杂性：</a:t>
              </a:r>
              <a:endPara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4833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分治法</a:t>
            </a:r>
            <a:r>
              <a:rPr lang="zh-CN" altLang="en-US" dirty="0" smtClean="0"/>
              <a:t>实例</a:t>
            </a:r>
            <a:r>
              <a:rPr lang="en-US" altLang="zh-CN" dirty="0"/>
              <a:t>——</a:t>
            </a:r>
            <a:r>
              <a:rPr lang="zh-CN" altLang="en-US" dirty="0"/>
              <a:t>计算 </a:t>
            </a:r>
            <a:r>
              <a:rPr lang="en-US" altLang="zh-CN" dirty="0"/>
              <a:t>a</a:t>
            </a:r>
            <a:r>
              <a:rPr lang="en-US" altLang="zh-CN" baseline="30000" dirty="0"/>
              <a:t>n</a:t>
            </a:r>
            <a:endParaRPr lang="zh-CN" altLang="en-US" baseline="30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0411491" y="6356341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grpSp>
        <p:nvGrpSpPr>
          <p:cNvPr id="39" name="Group 112"/>
          <p:cNvGrpSpPr>
            <a:grpSpLocks/>
          </p:cNvGrpSpPr>
          <p:nvPr/>
        </p:nvGrpSpPr>
        <p:grpSpPr bwMode="auto">
          <a:xfrm>
            <a:off x="2262696" y="869916"/>
            <a:ext cx="5832475" cy="1314453"/>
            <a:chOff x="1066" y="646"/>
            <a:chExt cx="3674" cy="828"/>
          </a:xfrm>
        </p:grpSpPr>
        <p:sp>
          <p:nvSpPr>
            <p:cNvPr id="40" name="AutoShape 81"/>
            <p:cNvSpPr>
              <a:spLocks noChangeAspect="1" noChangeArrowheads="1" noTextEdit="1"/>
            </p:cNvSpPr>
            <p:nvPr/>
          </p:nvSpPr>
          <p:spPr bwMode="auto">
            <a:xfrm>
              <a:off x="1066" y="754"/>
              <a:ext cx="3674" cy="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1" name="Line 83"/>
            <p:cNvSpPr>
              <a:spLocks noChangeShapeType="1"/>
            </p:cNvSpPr>
            <p:nvPr/>
          </p:nvSpPr>
          <p:spPr bwMode="auto">
            <a:xfrm flipH="1">
              <a:off x="2111" y="1125"/>
              <a:ext cx="49" cy="1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2" name="Rectangle 84"/>
            <p:cNvSpPr>
              <a:spLocks noChangeArrowheads="1"/>
            </p:cNvSpPr>
            <p:nvPr/>
          </p:nvSpPr>
          <p:spPr bwMode="auto">
            <a:xfrm>
              <a:off x="1952" y="1106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ë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43" name="Rectangle 85"/>
            <p:cNvSpPr>
              <a:spLocks noChangeArrowheads="1"/>
            </p:cNvSpPr>
            <p:nvPr/>
          </p:nvSpPr>
          <p:spPr bwMode="auto">
            <a:xfrm>
              <a:off x="2239" y="1106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û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44" name="Line 86"/>
            <p:cNvSpPr>
              <a:spLocks noChangeShapeType="1"/>
            </p:cNvSpPr>
            <p:nvPr/>
          </p:nvSpPr>
          <p:spPr bwMode="auto">
            <a:xfrm flipH="1">
              <a:off x="2830" y="1115"/>
              <a:ext cx="49" cy="1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5" name="Rectangle 87"/>
            <p:cNvSpPr>
              <a:spLocks noChangeArrowheads="1"/>
            </p:cNvSpPr>
            <p:nvPr/>
          </p:nvSpPr>
          <p:spPr bwMode="auto">
            <a:xfrm>
              <a:off x="2681" y="1106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é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46" name="Rectangle 88"/>
            <p:cNvSpPr>
              <a:spLocks noChangeArrowheads="1"/>
            </p:cNvSpPr>
            <p:nvPr/>
          </p:nvSpPr>
          <p:spPr bwMode="auto">
            <a:xfrm>
              <a:off x="2968" y="1106"/>
              <a:ext cx="7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ù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47" name="Rectangle 89"/>
            <p:cNvSpPr>
              <a:spLocks noChangeArrowheads="1"/>
            </p:cNvSpPr>
            <p:nvPr/>
          </p:nvSpPr>
          <p:spPr bwMode="auto">
            <a:xfrm>
              <a:off x="1713" y="1164"/>
              <a:ext cx="1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î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48" name="Rectangle 90"/>
            <p:cNvSpPr>
              <a:spLocks noChangeArrowheads="1"/>
            </p:cNvSpPr>
            <p:nvPr/>
          </p:nvSpPr>
          <p:spPr bwMode="auto">
            <a:xfrm>
              <a:off x="1713" y="975"/>
              <a:ext cx="1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í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49" name="Rectangle 91"/>
            <p:cNvSpPr>
              <a:spLocks noChangeArrowheads="1"/>
            </p:cNvSpPr>
            <p:nvPr/>
          </p:nvSpPr>
          <p:spPr bwMode="auto">
            <a:xfrm>
              <a:off x="1713" y="786"/>
              <a:ext cx="12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ì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0" name="Rectangle 92"/>
            <p:cNvSpPr>
              <a:spLocks noChangeArrowheads="1"/>
            </p:cNvSpPr>
            <p:nvPr/>
          </p:nvSpPr>
          <p:spPr bwMode="auto">
            <a:xfrm>
              <a:off x="4354" y="1115"/>
              <a:ext cx="14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&gt;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1" name="Rectangle 93"/>
            <p:cNvSpPr>
              <a:spLocks noChangeArrowheads="1"/>
            </p:cNvSpPr>
            <p:nvPr/>
          </p:nvSpPr>
          <p:spPr bwMode="auto">
            <a:xfrm>
              <a:off x="2386" y="1115"/>
              <a:ext cx="12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 dirty="0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×</a:t>
              </a:r>
              <a:endPara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2" name="Rectangle 94"/>
            <p:cNvSpPr>
              <a:spLocks noChangeArrowheads="1"/>
            </p:cNvSpPr>
            <p:nvPr/>
          </p:nvSpPr>
          <p:spPr bwMode="auto">
            <a:xfrm>
              <a:off x="4359" y="676"/>
              <a:ext cx="14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=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3" name="Rectangle 95"/>
            <p:cNvSpPr>
              <a:spLocks noChangeArrowheads="1"/>
            </p:cNvSpPr>
            <p:nvPr/>
          </p:nvSpPr>
          <p:spPr bwMode="auto">
            <a:xfrm>
              <a:off x="1507" y="940"/>
              <a:ext cx="14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=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4" name="Rectangle 96"/>
            <p:cNvSpPr>
              <a:spLocks noChangeArrowheads="1"/>
            </p:cNvSpPr>
            <p:nvPr/>
          </p:nvSpPr>
          <p:spPr bwMode="auto">
            <a:xfrm>
              <a:off x="4505" y="1138"/>
              <a:ext cx="12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5" name="Rectangle 97"/>
            <p:cNvSpPr>
              <a:spLocks noChangeArrowheads="1"/>
            </p:cNvSpPr>
            <p:nvPr/>
          </p:nvSpPr>
          <p:spPr bwMode="auto">
            <a:xfrm>
              <a:off x="4509" y="699"/>
              <a:ext cx="12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1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6" name="Rectangle 98"/>
            <p:cNvSpPr>
              <a:spLocks noChangeArrowheads="1"/>
            </p:cNvSpPr>
            <p:nvPr/>
          </p:nvSpPr>
          <p:spPr bwMode="auto">
            <a:xfrm>
              <a:off x="2875" y="1119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7" name="Rectangle 99"/>
            <p:cNvSpPr>
              <a:spLocks noChangeArrowheads="1"/>
            </p:cNvSpPr>
            <p:nvPr/>
          </p:nvSpPr>
          <p:spPr bwMode="auto">
            <a:xfrm>
              <a:off x="2146" y="1119"/>
              <a:ext cx="73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2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8" name="Rectangle 100"/>
            <p:cNvSpPr>
              <a:spLocks noChangeArrowheads="1"/>
            </p:cNvSpPr>
            <p:nvPr/>
          </p:nvSpPr>
          <p:spPr bwMode="auto">
            <a:xfrm>
              <a:off x="4126" y="1138"/>
              <a:ext cx="14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n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59" name="Rectangle 101"/>
            <p:cNvSpPr>
              <a:spLocks noChangeArrowheads="1"/>
            </p:cNvSpPr>
            <p:nvPr/>
          </p:nvSpPr>
          <p:spPr bwMode="auto">
            <a:xfrm>
              <a:off x="2547" y="1138"/>
              <a:ext cx="12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a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60" name="Rectangle 102"/>
            <p:cNvSpPr>
              <a:spLocks noChangeArrowheads="1"/>
            </p:cNvSpPr>
            <p:nvPr/>
          </p:nvSpPr>
          <p:spPr bwMode="auto">
            <a:xfrm>
              <a:off x="1818" y="1138"/>
              <a:ext cx="12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a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61" name="Rectangle 103"/>
            <p:cNvSpPr>
              <a:spLocks noChangeArrowheads="1"/>
            </p:cNvSpPr>
            <p:nvPr/>
          </p:nvSpPr>
          <p:spPr bwMode="auto">
            <a:xfrm>
              <a:off x="4131" y="699"/>
              <a:ext cx="143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n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62" name="Rectangle 104"/>
            <p:cNvSpPr>
              <a:spLocks noChangeArrowheads="1"/>
            </p:cNvSpPr>
            <p:nvPr/>
          </p:nvSpPr>
          <p:spPr bwMode="auto">
            <a:xfrm>
              <a:off x="1944" y="646"/>
              <a:ext cx="12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a</a:t>
              </a:r>
              <a:endPara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63" name="Rectangle 105"/>
            <p:cNvSpPr>
              <a:spLocks noChangeArrowheads="1"/>
            </p:cNvSpPr>
            <p:nvPr/>
          </p:nvSpPr>
          <p:spPr bwMode="auto">
            <a:xfrm>
              <a:off x="1162" y="963"/>
              <a:ext cx="12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3200" b="1" i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a</a:t>
              </a:r>
              <a:endParaRPr lang="en-US" altLang="zh-CN" sz="2400" b="1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64" name="Rectangle 106"/>
            <p:cNvSpPr>
              <a:spLocks noChangeArrowheads="1"/>
            </p:cNvSpPr>
            <p:nvPr/>
          </p:nvSpPr>
          <p:spPr bwMode="auto">
            <a:xfrm>
              <a:off x="2731" y="1085"/>
              <a:ext cx="9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n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65" name="Rectangle 107"/>
            <p:cNvSpPr>
              <a:spLocks noChangeArrowheads="1"/>
            </p:cNvSpPr>
            <p:nvPr/>
          </p:nvSpPr>
          <p:spPr bwMode="auto">
            <a:xfrm>
              <a:off x="2007" y="1085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n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66" name="Rectangle 108"/>
            <p:cNvSpPr>
              <a:spLocks noChangeArrowheads="1"/>
            </p:cNvSpPr>
            <p:nvPr/>
          </p:nvSpPr>
          <p:spPr bwMode="auto">
            <a:xfrm>
              <a:off x="1287" y="948"/>
              <a:ext cx="8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Times New Roman" panose="02020603050405020304" pitchFamily="18" charset="0"/>
                  <a:ea typeface="华文行楷" panose="02010800040101010101" pitchFamily="2" charset="-122"/>
                </a:rPr>
                <a:t>n</a:t>
              </a:r>
              <a:endParaRPr lang="en-US" altLang="zh-CN" sz="24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67" name="Rectangle 109"/>
            <p:cNvSpPr>
              <a:spLocks noChangeArrowheads="1"/>
            </p:cNvSpPr>
            <p:nvPr/>
          </p:nvSpPr>
          <p:spPr bwMode="auto">
            <a:xfrm>
              <a:off x="3626" y="1145"/>
              <a:ext cx="51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2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如果</a:t>
              </a:r>
              <a:endPara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68" name="Rectangle 110"/>
            <p:cNvSpPr>
              <a:spLocks noChangeArrowheads="1"/>
            </p:cNvSpPr>
            <p:nvPr/>
          </p:nvSpPr>
          <p:spPr bwMode="auto">
            <a:xfrm>
              <a:off x="3631" y="706"/>
              <a:ext cx="51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3200" b="1" dirty="0">
                  <a:solidFill>
                    <a:srgbClr val="000000"/>
                  </a:solidFill>
                  <a:latin typeface="宋体" panose="02010600030101010101" pitchFamily="2" charset="-122"/>
                </a:rPr>
                <a:t>如果</a:t>
              </a:r>
              <a:endParaRPr lang="zh-CN" altLang="en-US" sz="2400" b="1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283901" y="2721950"/>
            <a:ext cx="8540559" cy="3476822"/>
            <a:chOff x="1836818" y="2945243"/>
            <a:chExt cx="8193454" cy="3181350"/>
          </a:xfrm>
        </p:grpSpPr>
        <p:grpSp>
          <p:nvGrpSpPr>
            <p:cNvPr id="6" name="Group 78"/>
            <p:cNvGrpSpPr>
              <a:grpSpLocks/>
            </p:cNvGrpSpPr>
            <p:nvPr/>
          </p:nvGrpSpPr>
          <p:grpSpPr bwMode="auto">
            <a:xfrm>
              <a:off x="1836818" y="2945243"/>
              <a:ext cx="6737350" cy="3181350"/>
              <a:chOff x="930" y="1797"/>
              <a:chExt cx="4244" cy="2004"/>
            </a:xfrm>
          </p:grpSpPr>
          <p:sp>
            <p:nvSpPr>
              <p:cNvPr id="7" name="Text Box 36"/>
              <p:cNvSpPr txBox="1">
                <a:spLocks noChangeArrowheads="1"/>
              </p:cNvSpPr>
              <p:nvPr/>
            </p:nvSpPr>
            <p:spPr bwMode="auto">
              <a:xfrm>
                <a:off x="2482" y="1797"/>
                <a:ext cx="574" cy="18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3</a:t>
                </a:r>
                <a:r>
                  <a:rPr lang="en-US" altLang="zh-CN" b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" name="Text Box 37"/>
              <p:cNvSpPr txBox="1">
                <a:spLocks noChangeArrowheads="1"/>
              </p:cNvSpPr>
              <p:nvPr/>
            </p:nvSpPr>
            <p:spPr bwMode="auto">
              <a:xfrm>
                <a:off x="1840" y="2151"/>
                <a:ext cx="574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3</a:t>
                </a:r>
                <a:r>
                  <a:rPr lang="en-US" altLang="zh-CN" b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Text Box 38"/>
              <p:cNvSpPr txBox="1">
                <a:spLocks noChangeArrowheads="1"/>
              </p:cNvSpPr>
              <p:nvPr/>
            </p:nvSpPr>
            <p:spPr bwMode="auto">
              <a:xfrm>
                <a:off x="3140" y="2145"/>
                <a:ext cx="558" cy="18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   3</a:t>
                </a:r>
                <a:r>
                  <a:rPr lang="en-US" altLang="zh-CN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Text Box 39"/>
              <p:cNvSpPr txBox="1">
                <a:spLocks noChangeArrowheads="1"/>
              </p:cNvSpPr>
              <p:nvPr/>
            </p:nvSpPr>
            <p:spPr bwMode="auto">
              <a:xfrm>
                <a:off x="2613" y="3617"/>
                <a:ext cx="328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54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81</a:t>
                </a:r>
              </a:p>
            </p:txBody>
          </p:sp>
          <p:sp>
            <p:nvSpPr>
              <p:cNvPr id="11" name="Line 40"/>
              <p:cNvSpPr>
                <a:spLocks noChangeShapeType="1"/>
              </p:cNvSpPr>
              <p:nvPr/>
            </p:nvSpPr>
            <p:spPr bwMode="auto">
              <a:xfrm flipH="1">
                <a:off x="2307" y="1985"/>
                <a:ext cx="237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Line 41"/>
              <p:cNvSpPr>
                <a:spLocks noChangeShapeType="1"/>
              </p:cNvSpPr>
              <p:nvPr/>
            </p:nvSpPr>
            <p:spPr bwMode="auto">
              <a:xfrm>
                <a:off x="2987" y="1983"/>
                <a:ext cx="230" cy="1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Line 42"/>
              <p:cNvSpPr>
                <a:spLocks noChangeShapeType="1"/>
              </p:cNvSpPr>
              <p:nvPr/>
            </p:nvSpPr>
            <p:spPr bwMode="auto">
              <a:xfrm flipH="1">
                <a:off x="1794" y="2333"/>
                <a:ext cx="123" cy="1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Line 43"/>
              <p:cNvSpPr>
                <a:spLocks noChangeShapeType="1"/>
              </p:cNvSpPr>
              <p:nvPr/>
            </p:nvSpPr>
            <p:spPr bwMode="auto">
              <a:xfrm>
                <a:off x="2337" y="2332"/>
                <a:ext cx="100" cy="2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Line 44"/>
              <p:cNvSpPr>
                <a:spLocks noChangeShapeType="1"/>
              </p:cNvSpPr>
              <p:nvPr/>
            </p:nvSpPr>
            <p:spPr bwMode="auto">
              <a:xfrm flipH="1">
                <a:off x="2873" y="3458"/>
                <a:ext cx="443" cy="14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45"/>
              <p:cNvSpPr>
                <a:spLocks noChangeShapeType="1"/>
              </p:cNvSpPr>
              <p:nvPr/>
            </p:nvSpPr>
            <p:spPr bwMode="auto">
              <a:xfrm>
                <a:off x="2184" y="3452"/>
                <a:ext cx="497" cy="1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 Box 47"/>
              <p:cNvSpPr txBox="1">
                <a:spLocks noChangeArrowheads="1"/>
              </p:cNvSpPr>
              <p:nvPr/>
            </p:nvSpPr>
            <p:spPr bwMode="auto">
              <a:xfrm>
                <a:off x="1580" y="2541"/>
                <a:ext cx="329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3</a:t>
                </a:r>
                <a:r>
                  <a:rPr lang="en-US" altLang="zh-CN" b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Text Box 48"/>
              <p:cNvSpPr txBox="1">
                <a:spLocks noChangeArrowheads="1"/>
              </p:cNvSpPr>
              <p:nvPr/>
            </p:nvSpPr>
            <p:spPr bwMode="auto">
              <a:xfrm>
                <a:off x="2337" y="2542"/>
                <a:ext cx="329" cy="18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3</a:t>
                </a:r>
                <a:r>
                  <a:rPr lang="en-US" altLang="zh-CN" b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Text Box 49"/>
              <p:cNvSpPr txBox="1">
                <a:spLocks noChangeArrowheads="1"/>
              </p:cNvSpPr>
              <p:nvPr/>
            </p:nvSpPr>
            <p:spPr bwMode="auto">
              <a:xfrm>
                <a:off x="1947" y="3275"/>
                <a:ext cx="329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9</a:t>
                </a:r>
              </a:p>
            </p:txBody>
          </p:sp>
          <p:sp>
            <p:nvSpPr>
              <p:cNvPr id="20" name="Line 50"/>
              <p:cNvSpPr>
                <a:spLocks noChangeShapeType="1"/>
              </p:cNvSpPr>
              <p:nvPr/>
            </p:nvSpPr>
            <p:spPr bwMode="auto">
              <a:xfrm>
                <a:off x="1787" y="3065"/>
                <a:ext cx="229" cy="2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51"/>
              <p:cNvSpPr>
                <a:spLocks noChangeShapeType="1"/>
              </p:cNvSpPr>
              <p:nvPr/>
            </p:nvSpPr>
            <p:spPr bwMode="auto">
              <a:xfrm flipH="1">
                <a:off x="2200" y="3085"/>
                <a:ext cx="252" cy="1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52"/>
              <p:cNvSpPr>
                <a:spLocks noChangeShapeType="1"/>
              </p:cNvSpPr>
              <p:nvPr/>
            </p:nvSpPr>
            <p:spPr bwMode="auto">
              <a:xfrm flipH="1">
                <a:off x="3117" y="2339"/>
                <a:ext cx="100" cy="21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53"/>
              <p:cNvSpPr>
                <a:spLocks noChangeShapeType="1"/>
              </p:cNvSpPr>
              <p:nvPr/>
            </p:nvSpPr>
            <p:spPr bwMode="auto">
              <a:xfrm>
                <a:off x="3622" y="2335"/>
                <a:ext cx="92" cy="21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Text Box 54"/>
              <p:cNvSpPr txBox="1">
                <a:spLocks noChangeArrowheads="1"/>
              </p:cNvSpPr>
              <p:nvPr/>
            </p:nvSpPr>
            <p:spPr bwMode="auto">
              <a:xfrm>
                <a:off x="2888" y="2543"/>
                <a:ext cx="329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3</a:t>
                </a:r>
                <a:r>
                  <a:rPr lang="en-US" altLang="zh-CN" b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" name="Text Box 55"/>
              <p:cNvSpPr txBox="1">
                <a:spLocks noChangeArrowheads="1"/>
              </p:cNvSpPr>
              <p:nvPr/>
            </p:nvSpPr>
            <p:spPr bwMode="auto">
              <a:xfrm>
                <a:off x="3645" y="2544"/>
                <a:ext cx="329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3</a:t>
                </a:r>
                <a:r>
                  <a:rPr lang="en-US" altLang="zh-CN" b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b="1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6" name="Text Box 56"/>
              <p:cNvSpPr txBox="1">
                <a:spLocks noChangeArrowheads="1"/>
              </p:cNvSpPr>
              <p:nvPr/>
            </p:nvSpPr>
            <p:spPr bwMode="auto">
              <a:xfrm>
                <a:off x="3263" y="3272"/>
                <a:ext cx="328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9</a:t>
                </a:r>
              </a:p>
            </p:txBody>
          </p:sp>
          <p:sp>
            <p:nvSpPr>
              <p:cNvPr id="27" name="Line 57"/>
              <p:cNvSpPr>
                <a:spLocks noChangeShapeType="1"/>
              </p:cNvSpPr>
              <p:nvPr/>
            </p:nvSpPr>
            <p:spPr bwMode="auto">
              <a:xfrm>
                <a:off x="3094" y="3091"/>
                <a:ext cx="199" cy="18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Line 58"/>
              <p:cNvSpPr>
                <a:spLocks noChangeShapeType="1"/>
              </p:cNvSpPr>
              <p:nvPr/>
            </p:nvSpPr>
            <p:spPr bwMode="auto">
              <a:xfrm flipH="1">
                <a:off x="3561" y="3080"/>
                <a:ext cx="214" cy="19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stealth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Text Box 59"/>
              <p:cNvSpPr txBox="1">
                <a:spLocks noChangeArrowheads="1"/>
              </p:cNvSpPr>
              <p:nvPr/>
            </p:nvSpPr>
            <p:spPr bwMode="auto">
              <a:xfrm>
                <a:off x="1580" y="2892"/>
                <a:ext cx="329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3</a:t>
                </a:r>
              </a:p>
            </p:txBody>
          </p:sp>
          <p:sp>
            <p:nvSpPr>
              <p:cNvPr id="30" name="Text Box 60"/>
              <p:cNvSpPr txBox="1">
                <a:spLocks noChangeArrowheads="1"/>
              </p:cNvSpPr>
              <p:nvPr/>
            </p:nvSpPr>
            <p:spPr bwMode="auto">
              <a:xfrm>
                <a:off x="2337" y="2899"/>
                <a:ext cx="329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3</a:t>
                </a:r>
              </a:p>
            </p:txBody>
          </p:sp>
          <p:sp>
            <p:nvSpPr>
              <p:cNvPr id="31" name="Text Box 61"/>
              <p:cNvSpPr txBox="1">
                <a:spLocks noChangeArrowheads="1"/>
              </p:cNvSpPr>
              <p:nvPr/>
            </p:nvSpPr>
            <p:spPr bwMode="auto">
              <a:xfrm>
                <a:off x="2888" y="2899"/>
                <a:ext cx="329" cy="18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3</a:t>
                </a:r>
              </a:p>
            </p:txBody>
          </p:sp>
          <p:sp>
            <p:nvSpPr>
              <p:cNvPr id="32" name="Text Box 62"/>
              <p:cNvSpPr txBox="1">
                <a:spLocks noChangeArrowheads="1"/>
              </p:cNvSpPr>
              <p:nvPr/>
            </p:nvSpPr>
            <p:spPr bwMode="auto">
              <a:xfrm>
                <a:off x="3645" y="2894"/>
                <a:ext cx="329" cy="185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b="1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  3</a:t>
                </a:r>
              </a:p>
            </p:txBody>
          </p:sp>
          <p:sp>
            <p:nvSpPr>
              <p:cNvPr id="33" name="Line 63"/>
              <p:cNvSpPr>
                <a:spLocks noChangeShapeType="1"/>
              </p:cNvSpPr>
              <p:nvPr/>
            </p:nvSpPr>
            <p:spPr bwMode="auto">
              <a:xfrm flipH="1">
                <a:off x="1741" y="2724"/>
                <a:ext cx="0" cy="1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Line 64"/>
              <p:cNvSpPr>
                <a:spLocks noChangeShapeType="1"/>
              </p:cNvSpPr>
              <p:nvPr/>
            </p:nvSpPr>
            <p:spPr bwMode="auto">
              <a:xfrm>
                <a:off x="930" y="2454"/>
                <a:ext cx="421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Line 66"/>
              <p:cNvSpPr>
                <a:spLocks noChangeShapeType="1"/>
              </p:cNvSpPr>
              <p:nvPr/>
            </p:nvSpPr>
            <p:spPr bwMode="auto">
              <a:xfrm flipV="1">
                <a:off x="945" y="3127"/>
                <a:ext cx="4229" cy="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" name="Line 69"/>
              <p:cNvSpPr>
                <a:spLocks noChangeShapeType="1"/>
              </p:cNvSpPr>
              <p:nvPr/>
            </p:nvSpPr>
            <p:spPr bwMode="auto">
              <a:xfrm flipH="1">
                <a:off x="2490" y="2730"/>
                <a:ext cx="0" cy="1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Line 70"/>
              <p:cNvSpPr>
                <a:spLocks noChangeShapeType="1"/>
              </p:cNvSpPr>
              <p:nvPr/>
            </p:nvSpPr>
            <p:spPr bwMode="auto">
              <a:xfrm flipH="1">
                <a:off x="3033" y="2730"/>
                <a:ext cx="0" cy="1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Line 71"/>
              <p:cNvSpPr>
                <a:spLocks noChangeShapeType="1"/>
              </p:cNvSpPr>
              <p:nvPr/>
            </p:nvSpPr>
            <p:spPr bwMode="auto">
              <a:xfrm flipH="1">
                <a:off x="3806" y="2730"/>
                <a:ext cx="0" cy="1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9" name="Rectangle 93"/>
            <p:cNvSpPr>
              <a:spLocks noChangeArrowheads="1"/>
            </p:cNvSpPr>
            <p:nvPr/>
          </p:nvSpPr>
          <p:spPr bwMode="auto">
            <a:xfrm>
              <a:off x="4657806" y="3396754"/>
              <a:ext cx="20478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6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×</a:t>
              </a:r>
              <a:endParaRPr lang="en-US" altLang="zh-CN" sz="18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70" name="Rectangle 93"/>
            <p:cNvSpPr>
              <a:spLocks noChangeArrowheads="1"/>
            </p:cNvSpPr>
            <p:nvPr/>
          </p:nvSpPr>
          <p:spPr bwMode="auto">
            <a:xfrm>
              <a:off x="3648156" y="4040304"/>
              <a:ext cx="20478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600" b="1" dirty="0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×</a:t>
              </a:r>
              <a:endParaRPr lang="en-US" altLang="zh-CN" sz="1800" b="1" dirty="0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71" name="Rectangle 93"/>
            <p:cNvSpPr>
              <a:spLocks noChangeArrowheads="1"/>
            </p:cNvSpPr>
            <p:nvPr/>
          </p:nvSpPr>
          <p:spPr bwMode="auto">
            <a:xfrm>
              <a:off x="5729368" y="4011116"/>
              <a:ext cx="2047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6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×</a:t>
              </a:r>
              <a:endParaRPr lang="en-US" altLang="zh-CN" sz="18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72" name="Rectangle 93"/>
            <p:cNvSpPr>
              <a:spLocks noChangeArrowheads="1"/>
            </p:cNvSpPr>
            <p:nvPr/>
          </p:nvSpPr>
          <p:spPr bwMode="auto">
            <a:xfrm>
              <a:off x="3648156" y="4582616"/>
              <a:ext cx="20478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6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×</a:t>
              </a:r>
              <a:endParaRPr lang="en-US" altLang="zh-CN" sz="18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73" name="Rectangle 93"/>
            <p:cNvSpPr>
              <a:spLocks noChangeArrowheads="1"/>
            </p:cNvSpPr>
            <p:nvPr/>
          </p:nvSpPr>
          <p:spPr bwMode="auto">
            <a:xfrm>
              <a:off x="5729368" y="4582616"/>
              <a:ext cx="204788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6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×</a:t>
              </a:r>
              <a:endParaRPr lang="en-US" altLang="zh-CN" sz="18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74" name="Rectangle 93"/>
            <p:cNvSpPr>
              <a:spLocks noChangeArrowheads="1"/>
            </p:cNvSpPr>
            <p:nvPr/>
          </p:nvSpPr>
          <p:spPr bwMode="auto">
            <a:xfrm>
              <a:off x="4657806" y="5182691"/>
              <a:ext cx="204787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600" b="1">
                  <a:solidFill>
                    <a:srgbClr val="000000"/>
                  </a:solidFill>
                  <a:latin typeface="Symbol" panose="05050102010706020507" pitchFamily="18" charset="2"/>
                  <a:ea typeface="华文行楷" panose="02010800040101010101" pitchFamily="2" charset="-122"/>
                </a:rPr>
                <a:t>×</a:t>
              </a:r>
              <a:endParaRPr lang="en-US" altLang="zh-CN" sz="1800" b="1">
                <a:solidFill>
                  <a:schemeClr val="accent2"/>
                </a:solidFill>
                <a:latin typeface="Arial" panose="020B0604020202020204" pitchFamily="34" charset="0"/>
                <a:ea typeface="华文行楷" panose="02010800040101010101" pitchFamily="2" charset="-122"/>
              </a:endParaRPr>
            </a:p>
          </p:txBody>
        </p:sp>
        <p:sp>
          <p:nvSpPr>
            <p:cNvPr id="75" name="Text Box 65"/>
            <p:cNvSpPr txBox="1">
              <a:spLocks noChangeArrowheads="1"/>
            </p:cNvSpPr>
            <p:nvPr/>
          </p:nvSpPr>
          <p:spPr bwMode="auto">
            <a:xfrm>
              <a:off x="7335918" y="3243693"/>
              <a:ext cx="1999468" cy="55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分解问题</a:t>
              </a:r>
            </a:p>
          </p:txBody>
        </p:sp>
        <p:sp>
          <p:nvSpPr>
            <p:cNvPr id="76" name="Text Box 67"/>
            <p:cNvSpPr txBox="1">
              <a:spLocks noChangeArrowheads="1"/>
            </p:cNvSpPr>
            <p:nvPr/>
          </p:nvSpPr>
          <p:spPr bwMode="auto">
            <a:xfrm>
              <a:off x="7081918" y="4349254"/>
              <a:ext cx="2625608" cy="491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求解每个子问题</a:t>
              </a:r>
            </a:p>
          </p:txBody>
        </p:sp>
        <p:sp>
          <p:nvSpPr>
            <p:cNvPr id="77" name="Text Box 68"/>
            <p:cNvSpPr txBox="1">
              <a:spLocks noChangeArrowheads="1"/>
            </p:cNvSpPr>
            <p:nvPr/>
          </p:nvSpPr>
          <p:spPr bwMode="auto">
            <a:xfrm>
              <a:off x="7118066" y="5291568"/>
              <a:ext cx="2912206" cy="5978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合并子问题的解</a:t>
              </a:r>
            </a:p>
          </p:txBody>
        </p:sp>
      </p:grpSp>
      <p:sp>
        <p:nvSpPr>
          <p:cNvPr id="79" name="圆角矩形标注 78"/>
          <p:cNvSpPr/>
          <p:nvPr/>
        </p:nvSpPr>
        <p:spPr bwMode="auto">
          <a:xfrm>
            <a:off x="9292856" y="1765170"/>
            <a:ext cx="1977655" cy="1330436"/>
          </a:xfrm>
          <a:prstGeom prst="wedgeRoundRectCallout">
            <a:avLst>
              <a:gd name="adj1" fmla="val -96398"/>
              <a:gd name="adj2" fmla="val 55585"/>
              <a:gd name="adj3" fmla="val 16667"/>
            </a:avLst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0000" tIns="46800" rIns="90000" bIns="46800" rtlCol="0" anchor="ctr" anchorCtr="1">
            <a:spAutoFit/>
          </a:bodyPr>
          <a:lstStyle/>
          <a:p>
            <a:pPr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注意：这里分解后存在重复子问题</a:t>
            </a:r>
            <a:endParaRPr kumimoji="0"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圆角矩形标注 79"/>
          <p:cNvSpPr/>
          <p:nvPr/>
        </p:nvSpPr>
        <p:spPr bwMode="auto">
          <a:xfrm>
            <a:off x="9994605" y="2425571"/>
            <a:ext cx="1467293" cy="1070162"/>
          </a:xfrm>
          <a:prstGeom prst="wedgeRoundRectCallou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algn="ctr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kumimoji="0" lang="zh-CN" altLang="en-US" b="1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81" name="矩形 80"/>
          <p:cNvSpPr/>
          <p:nvPr/>
        </p:nvSpPr>
        <p:spPr bwMode="auto">
          <a:xfrm>
            <a:off x="9292856" y="3186047"/>
            <a:ext cx="2445489" cy="1571842"/>
          </a:xfrm>
          <a:prstGeom prst="rect">
            <a:avLst/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0000" tIns="46800" rIns="90000" bIns="46800" rtlCol="0" anchor="ctr" anchorCtr="1">
            <a:spAutoFit/>
          </a:bodyPr>
          <a:lstStyle/>
          <a:p>
            <a:pPr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kumimoji="0"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实际计算时可以只计算一次</a:t>
            </a:r>
            <a:r>
              <a:rPr kumimoji="0"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0" lang="en-US" altLang="zh-CN" sz="2400" baseline="30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n/2</a:t>
            </a:r>
            <a:r>
              <a:rPr kumimoji="0"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kumimoji="0"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缓存到变量中再进行相乘</a:t>
            </a:r>
            <a:endParaRPr kumimoji="0"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2552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8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分治法实例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求最大最小值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702978" y="844624"/>
            <a:ext cx="7254949" cy="5780124"/>
            <a:chOff x="783265" y="833991"/>
            <a:chExt cx="7254949" cy="5780124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7814" y="833991"/>
              <a:ext cx="7010400" cy="361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3265" y="1089615"/>
              <a:ext cx="5991225" cy="5524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矩形 3"/>
            <p:cNvSpPr/>
            <p:nvPr/>
          </p:nvSpPr>
          <p:spPr bwMode="auto">
            <a:xfrm>
              <a:off x="5082363" y="5220586"/>
              <a:ext cx="2020186" cy="7123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/>
          </p:spPr>
          <p:txBody>
            <a:bodyPr wrap="square" lIns="90000" tIns="46800" rIns="90000" bIns="46800" rtlCol="0" anchor="ctr" anchorCtr="1">
              <a:spAutoFit/>
            </a:bodyPr>
            <a:lstStyle/>
            <a:p>
              <a:pPr marL="90488" indent="-90488" algn="ctr" fontAlgn="b"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</a:pPr>
              <a:endParaRPr kumimoji="0" lang="zh-CN" altLang="en-US" b="1" dirty="0">
                <a:solidFill>
                  <a:srgbClr val="404040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8" name="圆角矩形标注 7"/>
          <p:cNvSpPr/>
          <p:nvPr/>
        </p:nvSpPr>
        <p:spPr bwMode="auto">
          <a:xfrm>
            <a:off x="7694203" y="4626642"/>
            <a:ext cx="3893734" cy="445088"/>
          </a:xfrm>
          <a:prstGeom prst="wedgeRoundRectCallout">
            <a:avLst>
              <a:gd name="adj1" fmla="val -106912"/>
              <a:gd name="adj2" fmla="val 215665"/>
              <a:gd name="adj3" fmla="val 16667"/>
            </a:avLst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0000" tIns="46800" rIns="90000" bIns="46800" rtlCol="0" anchor="ctr" anchorCtr="1">
            <a:spAutoFit/>
          </a:bodyPr>
          <a:lstStyle/>
          <a:p>
            <a:pPr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kumimoji="0"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求数组左边的最大最小值</a:t>
            </a:r>
            <a:endParaRPr kumimoji="0"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1871330" y="833991"/>
            <a:ext cx="8325293" cy="57801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algn="ctr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kumimoji="0" lang="zh-CN" altLang="en-US" b="1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圆角矩形标注 8"/>
          <p:cNvSpPr/>
          <p:nvPr/>
        </p:nvSpPr>
        <p:spPr bwMode="auto">
          <a:xfrm>
            <a:off x="7322064" y="5540164"/>
            <a:ext cx="4265873" cy="785606"/>
          </a:xfrm>
          <a:prstGeom prst="wedgeRoundRectCallout">
            <a:avLst>
              <a:gd name="adj1" fmla="val -86214"/>
              <a:gd name="adj2" fmla="val 31649"/>
              <a:gd name="adj3" fmla="val 16667"/>
            </a:avLst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0000" tIns="46800" rIns="90000" bIns="46800" rtlCol="0" anchor="ctr" anchorCtr="1">
            <a:spAutoFit/>
          </a:bodyPr>
          <a:lstStyle/>
          <a:p>
            <a:pPr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kumimoji="0"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以左边的最大最小值为初值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，在数组右边求最大最小值</a:t>
            </a:r>
            <a:endParaRPr kumimoji="0"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5840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分治法实例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求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Fibonacii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 smtClean="0"/>
              <a:t>数列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48832" y="863117"/>
            <a:ext cx="6030704" cy="24342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Fibonacii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数列：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递归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公式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F(n)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F(n-1)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F(n-2)</a:t>
            </a:r>
          </a:p>
          <a:p>
            <a:pPr marL="0" indent="0">
              <a:buNone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F(0)=0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F(1)=1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>
              <a:buNone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例子：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76422" y="3885778"/>
            <a:ext cx="34676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是否适用分治法？</a:t>
            </a:r>
          </a:p>
        </p:txBody>
      </p:sp>
      <p:sp>
        <p:nvSpPr>
          <p:cNvPr id="5" name="矩形 4"/>
          <p:cNvSpPr/>
          <p:nvPr/>
        </p:nvSpPr>
        <p:spPr>
          <a:xfrm>
            <a:off x="476422" y="5117237"/>
            <a:ext cx="1117685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显然，如果直接采用分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治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法递归，将产生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大量的重复子问题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，效率低下。可以采用备忘录来优化递归计算。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6166885" y="776180"/>
            <a:ext cx="5961318" cy="3905104"/>
            <a:chOff x="6464593" y="797446"/>
            <a:chExt cx="5663609" cy="3603837"/>
          </a:xfrm>
        </p:grpSpPr>
        <p:grpSp>
          <p:nvGrpSpPr>
            <p:cNvPr id="42" name="组合 41"/>
            <p:cNvGrpSpPr/>
            <p:nvPr/>
          </p:nvGrpSpPr>
          <p:grpSpPr>
            <a:xfrm>
              <a:off x="6559449" y="920573"/>
              <a:ext cx="5526135" cy="3171004"/>
              <a:chOff x="7088457" y="842194"/>
              <a:chExt cx="5114925" cy="2908876"/>
            </a:xfrm>
          </p:grpSpPr>
          <p:grpSp>
            <p:nvGrpSpPr>
              <p:cNvPr id="6" name="Group 37"/>
              <p:cNvGrpSpPr>
                <a:grpSpLocks/>
              </p:cNvGrpSpPr>
              <p:nvPr/>
            </p:nvGrpSpPr>
            <p:grpSpPr bwMode="auto">
              <a:xfrm>
                <a:off x="7088457" y="1426970"/>
                <a:ext cx="5114925" cy="2324100"/>
                <a:chOff x="703" y="1797"/>
                <a:chExt cx="4269" cy="1997"/>
              </a:xfrm>
            </p:grpSpPr>
            <p:sp>
              <p:nvSpPr>
                <p:cNvPr id="7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3210" y="1797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 dirty="0"/>
                    <a:t>F(5)</a:t>
                  </a:r>
                </a:p>
              </p:txBody>
            </p:sp>
            <p:sp>
              <p:nvSpPr>
                <p:cNvPr id="8" name="Line 5"/>
                <p:cNvSpPr>
                  <a:spLocks noChangeShapeType="1"/>
                </p:cNvSpPr>
                <p:nvPr/>
              </p:nvSpPr>
              <p:spPr bwMode="auto">
                <a:xfrm flipH="1">
                  <a:off x="2445" y="2003"/>
                  <a:ext cx="805" cy="27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" name="Line 6"/>
                <p:cNvSpPr>
                  <a:spLocks noChangeShapeType="1"/>
                </p:cNvSpPr>
                <p:nvPr/>
              </p:nvSpPr>
              <p:spPr bwMode="auto">
                <a:xfrm>
                  <a:off x="3582" y="2003"/>
                  <a:ext cx="695" cy="2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123" y="2253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F(4)</a:t>
                  </a:r>
                </a:p>
              </p:txBody>
            </p:sp>
            <p:sp>
              <p:nvSpPr>
                <p:cNvPr id="11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076" y="2255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F(3)</a:t>
                  </a:r>
                </a:p>
              </p:txBody>
            </p:sp>
            <p:sp>
              <p:nvSpPr>
                <p:cNvPr id="12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529" y="2691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F(3)</a:t>
                  </a:r>
                </a:p>
              </p:txBody>
            </p:sp>
            <p:sp>
              <p:nvSpPr>
                <p:cNvPr id="13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1800" y="2431"/>
                  <a:ext cx="343" cy="25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" name="Line 11"/>
                <p:cNvSpPr>
                  <a:spLocks noChangeShapeType="1"/>
                </p:cNvSpPr>
                <p:nvPr/>
              </p:nvSpPr>
              <p:spPr bwMode="auto">
                <a:xfrm>
                  <a:off x="2415" y="2445"/>
                  <a:ext cx="281" cy="26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5" name="Text Box 12"/>
                <p:cNvSpPr txBox="1">
                  <a:spLocks noChangeArrowheads="1"/>
                </p:cNvSpPr>
                <p:nvPr/>
              </p:nvSpPr>
              <p:spPr bwMode="auto">
                <a:xfrm>
                  <a:off x="2515" y="2699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F(2)</a:t>
                  </a:r>
                </a:p>
              </p:txBody>
            </p:sp>
            <p:sp>
              <p:nvSpPr>
                <p:cNvPr id="16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3623" y="2697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F(2)</a:t>
                  </a:r>
                </a:p>
              </p:txBody>
            </p:sp>
            <p:sp>
              <p:nvSpPr>
                <p:cNvPr id="17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3794" y="2447"/>
                  <a:ext cx="322" cy="2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4509" y="2695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F(1)</a:t>
                  </a:r>
                </a:p>
              </p:txBody>
            </p:sp>
            <p:sp>
              <p:nvSpPr>
                <p:cNvPr id="19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1086" y="3142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F(2)</a:t>
                  </a:r>
                </a:p>
              </p:txBody>
            </p:sp>
            <p:sp>
              <p:nvSpPr>
                <p:cNvPr id="20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367" y="2893"/>
                  <a:ext cx="202" cy="24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Line 18"/>
                <p:cNvSpPr>
                  <a:spLocks noChangeShapeType="1"/>
                </p:cNvSpPr>
                <p:nvPr/>
              </p:nvSpPr>
              <p:spPr bwMode="auto">
                <a:xfrm>
                  <a:off x="1831" y="2895"/>
                  <a:ext cx="151" cy="26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1750" y="3148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F(1)</a:t>
                  </a:r>
                </a:p>
              </p:txBody>
            </p:sp>
            <p:sp>
              <p:nvSpPr>
                <p:cNvPr id="23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703" y="3608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 dirty="0"/>
                    <a:t>F(1)</a:t>
                  </a:r>
                </a:p>
              </p:txBody>
            </p:sp>
            <p:sp>
              <p:nvSpPr>
                <p:cNvPr id="24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904" y="3364"/>
                  <a:ext cx="212" cy="24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" name="Line 22"/>
                <p:cNvSpPr>
                  <a:spLocks noChangeShapeType="1"/>
                </p:cNvSpPr>
                <p:nvPr/>
              </p:nvSpPr>
              <p:spPr bwMode="auto">
                <a:xfrm>
                  <a:off x="1418" y="3366"/>
                  <a:ext cx="181" cy="26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1418" y="3608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 dirty="0"/>
                    <a:t>F(0)</a:t>
                  </a:r>
                </a:p>
              </p:txBody>
            </p:sp>
            <p:sp>
              <p:nvSpPr>
                <p:cNvPr id="2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183" y="3148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F(1)</a:t>
                  </a:r>
                </a:p>
              </p:txBody>
            </p:sp>
            <p:sp>
              <p:nvSpPr>
                <p:cNvPr id="28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2364" y="2893"/>
                  <a:ext cx="212" cy="25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9" name="Line 26"/>
                <p:cNvSpPr>
                  <a:spLocks noChangeShapeType="1"/>
                </p:cNvSpPr>
                <p:nvPr/>
              </p:nvSpPr>
              <p:spPr bwMode="auto">
                <a:xfrm>
                  <a:off x="2847" y="2907"/>
                  <a:ext cx="182" cy="26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827" y="3160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 dirty="0"/>
                    <a:t>F(0)</a:t>
                  </a:r>
                </a:p>
              </p:txBody>
            </p:sp>
            <p:sp>
              <p:nvSpPr>
                <p:cNvPr id="31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3270" y="3156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F(1)</a:t>
                  </a:r>
                </a:p>
              </p:txBody>
            </p:sp>
            <p:sp>
              <p:nvSpPr>
                <p:cNvPr id="32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462" y="2901"/>
                  <a:ext cx="221" cy="259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Line 30"/>
                <p:cNvSpPr>
                  <a:spLocks noChangeShapeType="1"/>
                </p:cNvSpPr>
                <p:nvPr/>
              </p:nvSpPr>
              <p:spPr bwMode="auto">
                <a:xfrm>
                  <a:off x="3935" y="2909"/>
                  <a:ext cx="191" cy="275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3935" y="3168"/>
                  <a:ext cx="463" cy="18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6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just"/>
                  <a:r>
                    <a:rPr lang="en-US" altLang="zh-CN" sz="2000" b="1"/>
                    <a:t>F(0)</a:t>
                  </a:r>
                </a:p>
              </p:txBody>
            </p:sp>
            <p:sp>
              <p:nvSpPr>
                <p:cNvPr id="35" name="Line 32"/>
                <p:cNvSpPr>
                  <a:spLocks noChangeShapeType="1"/>
                </p:cNvSpPr>
                <p:nvPr/>
              </p:nvSpPr>
              <p:spPr bwMode="auto">
                <a:xfrm>
                  <a:off x="4398" y="2447"/>
                  <a:ext cx="282" cy="256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6" name="矩形 35"/>
              <p:cNvSpPr/>
              <p:nvPr/>
            </p:nvSpPr>
            <p:spPr>
              <a:xfrm>
                <a:off x="9277392" y="842194"/>
                <a:ext cx="189827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 smtClean="0"/>
                  <a:t>F(5)</a:t>
                </a:r>
                <a:r>
                  <a:rPr lang="zh-CN" altLang="en-US" sz="2400" dirty="0" smtClean="0"/>
                  <a:t>的递归图</a:t>
                </a:r>
                <a:endParaRPr lang="zh-CN" altLang="en-US" sz="2400" dirty="0"/>
              </a:p>
            </p:txBody>
          </p:sp>
          <p:sp>
            <p:nvSpPr>
              <p:cNvPr id="38" name="椭圆 37"/>
              <p:cNvSpPr/>
              <p:nvPr/>
            </p:nvSpPr>
            <p:spPr bwMode="auto">
              <a:xfrm>
                <a:off x="9165520" y="2395598"/>
                <a:ext cx="608663" cy="4353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  <a:effectLst/>
              <a:extLst/>
            </p:spPr>
            <p:txBody>
              <a:bodyPr wrap="square" lIns="90000" tIns="46800" rIns="90000" bIns="46800" rtlCol="0" anchor="ctr" anchorCtr="1">
                <a:spAutoFit/>
              </a:bodyPr>
              <a:lstStyle/>
              <a:p>
                <a:pPr marL="90488" indent="-90488" algn="ctr" fontAlgn="b"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</a:pPr>
                <a:endParaRPr kumimoji="0" lang="zh-CN" altLang="en-US" b="1" dirty="0">
                  <a:solidFill>
                    <a:srgbClr val="40404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 bwMode="auto">
              <a:xfrm>
                <a:off x="10516341" y="2402444"/>
                <a:ext cx="608663" cy="4353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  <a:effectLst/>
              <a:extLst/>
            </p:spPr>
            <p:txBody>
              <a:bodyPr wrap="square" lIns="90000" tIns="46800" rIns="90000" bIns="46800" rtlCol="0" anchor="ctr" anchorCtr="1">
                <a:spAutoFit/>
              </a:bodyPr>
              <a:lstStyle/>
              <a:p>
                <a:pPr marL="90488" indent="-90488" algn="ctr" fontAlgn="b"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</a:pPr>
                <a:endParaRPr kumimoji="0" lang="zh-CN" altLang="en-US" b="1" dirty="0">
                  <a:solidFill>
                    <a:srgbClr val="404040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 bwMode="auto">
              <a:xfrm>
                <a:off x="7493433" y="2913099"/>
                <a:ext cx="608663" cy="4353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  <a:effectLst/>
              <a:extLst/>
            </p:spPr>
            <p:txBody>
              <a:bodyPr wrap="square" lIns="90000" tIns="46800" rIns="90000" bIns="46800" rtlCol="0" anchor="ctr" anchorCtr="1">
                <a:spAutoFit/>
              </a:bodyPr>
              <a:lstStyle/>
              <a:p>
                <a:pPr marL="90488" indent="-90488" algn="ctr" fontAlgn="b"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</a:pPr>
                <a:endParaRPr kumimoji="0" lang="zh-CN" altLang="en-US" b="1" dirty="0">
                  <a:solidFill>
                    <a:srgbClr val="404040"/>
                  </a:solidFill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43" name="矩形 42"/>
            <p:cNvSpPr/>
            <p:nvPr/>
          </p:nvSpPr>
          <p:spPr bwMode="auto">
            <a:xfrm>
              <a:off x="6464593" y="797446"/>
              <a:ext cx="5663609" cy="360383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rtlCol="0" anchor="ctr" anchorCtr="1">
              <a:spAutoFit/>
            </a:bodyPr>
            <a:lstStyle/>
            <a:p>
              <a:pPr marL="90488" indent="-90488" algn="ctr" fontAlgn="b"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</a:pPr>
              <a:endParaRPr kumimoji="0" lang="zh-CN" altLang="en-US" b="1" dirty="0">
                <a:solidFill>
                  <a:srgbClr val="404040"/>
                </a:solidFill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49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二、典型的分治算法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31358"/>
            <a:ext cx="10515600" cy="5145605"/>
          </a:xfrm>
        </p:spPr>
        <p:txBody>
          <a:bodyPr>
            <a:normAutofit/>
          </a:bodyPr>
          <a:lstStyle/>
          <a:p>
            <a:r>
              <a:rPr lang="en-US" altLang="zh-CN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2.1 </a:t>
            </a:r>
            <a:r>
              <a:rPr lang="zh-CN" altLang="en-US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二分搜索</a:t>
            </a:r>
            <a:endParaRPr lang="en-US" altLang="zh-CN" sz="32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合并排序</a:t>
            </a:r>
            <a:endParaRPr lang="en-US" altLang="zh-CN" sz="32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2.3 </a:t>
            </a:r>
            <a:r>
              <a:rPr lang="zh-CN" altLang="en-US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快速排序</a:t>
            </a:r>
            <a:endParaRPr lang="en-US" altLang="zh-CN" sz="32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2.4 </a:t>
            </a:r>
            <a:r>
              <a:rPr lang="zh-CN" altLang="en-US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棋盘覆盖</a:t>
            </a:r>
            <a:endParaRPr lang="en-US" altLang="zh-CN" sz="32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2.5 </a:t>
            </a:r>
            <a:r>
              <a:rPr lang="zh-CN" altLang="en-US" sz="32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循环赛</a:t>
            </a:r>
            <a:r>
              <a:rPr lang="zh-CN" altLang="en-US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日程表</a:t>
            </a:r>
            <a:endParaRPr lang="en-US" altLang="zh-CN" sz="32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2.6 </a:t>
            </a:r>
            <a:r>
              <a:rPr lang="zh-CN" altLang="en-US" sz="3200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数字旋转方阵</a:t>
            </a:r>
            <a:endParaRPr lang="en-US" altLang="zh-CN" sz="3200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2.7 </a:t>
            </a:r>
            <a:r>
              <a:rPr lang="zh-CN" altLang="en-US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最近点对问题</a:t>
            </a:r>
            <a:endParaRPr lang="en-US" altLang="zh-CN" sz="32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2.8 </a:t>
            </a:r>
            <a:r>
              <a:rPr lang="zh-CN" altLang="en-US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凸包问题</a:t>
            </a:r>
            <a:endParaRPr lang="en-US" altLang="zh-CN" sz="3200" u="sng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2.9 </a:t>
            </a:r>
            <a:r>
              <a:rPr lang="zh-CN" altLang="en-US" sz="3200" u="sng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其他问题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91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2.1 </a:t>
            </a:r>
            <a:r>
              <a:rPr lang="zh-CN" altLang="en-US" dirty="0"/>
              <a:t>二分</a:t>
            </a:r>
            <a:r>
              <a:rPr lang="zh-CN" altLang="en-US" dirty="0" smtClean="0"/>
              <a:t>搜索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70098" y="1052623"/>
            <a:ext cx="10515600" cy="5146159"/>
          </a:xfrm>
        </p:spPr>
        <p:txBody>
          <a:bodyPr>
            <a:norm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给定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已按升序排好序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元素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a[0:n-1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，现要在这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个元素中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找出一特定元素 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二分搜索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从数组的中间元素开始，如果中间元素正好是要查找的元素，则搜索过程结束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如果待查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元素大于或者小于中间元素，则在数组大于或小于中间元素的那一半中查找，而且跟开始一样从中间元素开始比较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到某一步骤数组为空，则代表找不到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1"/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这种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搜索算法每一次比较都使搜索范围缩小一半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0801350" y="6238875"/>
            <a:ext cx="1390650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625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</a:t>
            </a:r>
            <a:r>
              <a:rPr lang="zh-CN" altLang="en-US" dirty="0" smtClean="0"/>
              <a:t>搜索实例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14</a:t>
            </a:fld>
            <a:endParaRPr lang="zh-CN" altLang="en-US"/>
          </a:p>
        </p:txBody>
      </p:sp>
      <p:sp>
        <p:nvSpPr>
          <p:cNvPr id="9" name="灯片编号占位符 2"/>
          <p:cNvSpPr txBox="1">
            <a:spLocks/>
          </p:cNvSpPr>
          <p:nvPr/>
        </p:nvSpPr>
        <p:spPr>
          <a:xfrm>
            <a:off x="7424738" y="6459538"/>
            <a:ext cx="12146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125521BF-4246-4E87-A20B-B92CEB4219F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12" name="Picture 2" descr="计算机重要的IT算法你懂多少_最短路径算法_二分查找算法_IT算法_课课家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271588"/>
            <a:ext cx="7724775" cy="481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0694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</a:t>
            </a:r>
            <a:r>
              <a:rPr lang="zh-CN" altLang="en-US" dirty="0" smtClean="0"/>
              <a:t>搜索算法（非递归形式）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15</a:t>
            </a:fld>
            <a:endParaRPr lang="zh-CN" alt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10319" y="985794"/>
            <a:ext cx="111791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输入：已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按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升序排好序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个元素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a[0:n-1]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和待查元素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3772" y="1587203"/>
            <a:ext cx="11197998" cy="453056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90488" indent="-90488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binarySearch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 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a[ 0..n-1 ],  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x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0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 </a:t>
            </a: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mid, 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low=0,  high=n-1;</a:t>
            </a:r>
            <a:endParaRPr kumimoji="0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while(low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&lt;=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high)  </a:t>
            </a:r>
            <a:r>
              <a:rPr kumimoji="0"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2400" dirty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rgbClr val="CC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mid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=(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low+high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)/2;</a:t>
            </a: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if(a[mid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]==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x)     return  mid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</a:t>
            </a:r>
            <a:r>
              <a:rPr kumimoji="0"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查找成功</a:t>
            </a:r>
            <a:endParaRPr kumimoji="0"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if(a[mid]&gt;x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      high=mid-1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</a:t>
            </a:r>
            <a:r>
              <a:rPr kumimoji="0"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</a:t>
            </a:r>
            <a:r>
              <a:rPr kumimoji="0"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在“左边”查找</a:t>
            </a:r>
            <a:endParaRPr kumimoji="0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None/>
            </a:pPr>
            <a:r>
              <a:rPr kumimoji="0" lang="zh-CN" altLang="en-US" sz="2400" dirty="0">
                <a:solidFill>
                  <a:srgbClr val="2605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else  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    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low=mid+1;    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</a:t>
            </a:r>
            <a:r>
              <a:rPr kumimoji="0"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在“右边”查找</a:t>
            </a:r>
            <a:endParaRPr kumimoji="0"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return   -1</a:t>
            </a:r>
            <a:r>
              <a:rPr kumimoji="0"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              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low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大于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high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，表示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查找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区间为空，查找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失败</a:t>
            </a:r>
            <a:endParaRPr kumimoji="0"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  <a:endParaRPr kumimoji="0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912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二分搜索算法</a:t>
            </a:r>
            <a:r>
              <a:rPr lang="zh-CN" altLang="en-US" dirty="0" smtClean="0"/>
              <a:t>（递归</a:t>
            </a:r>
            <a:r>
              <a:rPr lang="zh-CN" altLang="en-US" dirty="0"/>
              <a:t>形式）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16</a:t>
            </a:fld>
            <a:endParaRPr lang="zh-CN" altLang="en-US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62000" y="1066898"/>
            <a:ext cx="10593572" cy="509997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90488" indent="-90488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BinarySearch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s[0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..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n-1], 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x, 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low, 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high)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if (low&gt;high)     return -1;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middle=(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low+high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)/2;</a:t>
            </a:r>
          </a:p>
          <a:p>
            <a:pPr>
              <a:lnSpc>
                <a:spcPct val="80000"/>
              </a:lnSpc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if(x==s[middle])     </a:t>
            </a:r>
            <a:endParaRPr kumimoji="0"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return </a:t>
            </a:r>
            <a:r>
              <a:rPr kumimoji="0"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middle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查找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成功</a:t>
            </a:r>
            <a:endParaRPr kumimoji="0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else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  (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x&gt;s[middle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])</a:t>
            </a:r>
            <a:endParaRPr kumimoji="0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kumimoji="0"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return 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BinarySearch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(s, x, middle+1, high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继续在右边查找</a:t>
            </a:r>
            <a:endParaRPr kumimoji="0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else</a:t>
            </a:r>
            <a:endParaRPr kumimoji="0"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kumimoji="0"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return </a:t>
            </a:r>
            <a:r>
              <a:rPr kumimoji="0"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BinarySearch</a:t>
            </a: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(s, x, low, middle-1</a:t>
            </a:r>
            <a:r>
              <a:rPr kumimoji="0"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   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继续在左边查找</a:t>
            </a:r>
            <a:endParaRPr kumimoji="0"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kumimoji="0"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         </a:t>
            </a:r>
          </a:p>
        </p:txBody>
      </p:sp>
    </p:spTree>
    <p:extLst>
      <p:ext uri="{BB962C8B-B14F-4D97-AF65-F5344CB8AC3E}">
        <p14:creationId xmlns:p14="http://schemas.microsoft.com/office/powerpoint/2010/main" val="344569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二分搜索</a:t>
            </a:r>
            <a:r>
              <a:rPr lang="zh-CN" altLang="en-US" dirty="0" smtClean="0"/>
              <a:t>算法复杂性分析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52677" y="1020774"/>
            <a:ext cx="11058076" cy="3508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90488" indent="-90488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100"/>
              </a:lnSpc>
              <a:spcBef>
                <a:spcPts val="0"/>
              </a:spcBef>
              <a:buFontTx/>
              <a:buNone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设给定的有序序列中具有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个元素。</a:t>
            </a:r>
          </a:p>
          <a:p>
            <a:pPr>
              <a:lnSpc>
                <a:spcPts val="3100"/>
              </a:lnSpc>
              <a:spcBef>
                <a:spcPts val="0"/>
              </a:spcBef>
              <a:buFontTx/>
              <a:buNone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n=1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时，查找一个元素需要</a:t>
            </a:r>
            <a:r>
              <a:rPr kumimoji="0" lang="zh-CN" altLang="en-US" sz="2800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常量时间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，因而</a:t>
            </a:r>
            <a:r>
              <a:rPr kumimoji="0"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T( 1 )=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O(1)</a:t>
            </a:r>
            <a:endParaRPr kumimoji="0"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100"/>
              </a:lnSpc>
              <a:spcBef>
                <a:spcPts val="0"/>
              </a:spcBef>
              <a:buFontTx/>
              <a:buNone/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n&gt;1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T(n)=  T(n/2) + O(1) </a:t>
            </a:r>
            <a:r>
              <a:rPr kumimoji="0"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kumimoji="0"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//O(1)</a:t>
            </a:r>
            <a:r>
              <a:rPr kumimoji="0"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是每轮划分操作的时间</a:t>
            </a:r>
            <a:endParaRPr kumimoji="0"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100"/>
              </a:lnSpc>
              <a:spcBef>
                <a:spcPts val="0"/>
              </a:spcBef>
              <a:buFontTx/>
              <a:buNone/>
            </a:pP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= T(n/4) + </a:t>
            </a:r>
            <a:r>
              <a:rPr kumimoji="0"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0"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0"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O(1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kumimoji="0"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100"/>
              </a:lnSpc>
              <a:spcBef>
                <a:spcPts val="0"/>
              </a:spcBef>
              <a:buNone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=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T(n/8)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O(1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100"/>
              </a:lnSpc>
              <a:spcBef>
                <a:spcPts val="0"/>
              </a:spcBef>
              <a:buFontTx/>
              <a:buNone/>
            </a:pP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</a:t>
            </a:r>
            <a:r>
              <a:rPr kumimoji="0"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=  ……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100"/>
              </a:lnSpc>
              <a:spcBef>
                <a:spcPts val="0"/>
              </a:spcBef>
              <a:buFontTx/>
              <a:buNone/>
            </a:pP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= </a:t>
            </a:r>
            <a:r>
              <a:rPr kumimoji="0"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T( n/2</a:t>
            </a:r>
            <a:r>
              <a:rPr lang="en-US" altLang="zh-CN" sz="28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kumimoji="0"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kumimoji="0"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kumimoji="0"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kumimoji="0"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kumimoji="0"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O(1)    </a:t>
            </a:r>
            <a:r>
              <a:rPr kumimoji="0"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n=2</a:t>
            </a:r>
            <a:r>
              <a:rPr lang="en-US" altLang="zh-CN" sz="2800" baseline="30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</a:t>
            </a:r>
            <a:r>
              <a:rPr lang="en-US" altLang="zh-CN" sz="28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logn</a:t>
            </a:r>
            <a:endParaRPr kumimoji="0"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/>
        </p:nvSpPr>
        <p:spPr bwMode="auto">
          <a:xfrm>
            <a:off x="552677" y="4888660"/>
            <a:ext cx="8645752" cy="112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</a:pPr>
            <a:r>
              <a:rPr kumimoji="0"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由此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T(n)=T(1)+</a:t>
            </a:r>
            <a:r>
              <a:rPr kumimoji="0"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logn</a:t>
            </a:r>
            <a:r>
              <a:rPr kumimoji="0"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=O(1)+O(</a:t>
            </a:r>
            <a:r>
              <a:rPr kumimoji="0"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logn</a:t>
            </a:r>
            <a:r>
              <a:rPr kumimoji="0"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endParaRPr kumimoji="0"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</a:pP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二分查找算法的时间复杂性为</a:t>
            </a:r>
            <a:r>
              <a:rPr kumimoji="0"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</a:t>
            </a:r>
            <a:r>
              <a:rPr kumimoji="0"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logn</a:t>
            </a:r>
            <a:r>
              <a:rPr kumimoji="0"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0"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7121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2.2 </a:t>
            </a:r>
            <a:r>
              <a:rPr lang="zh-CN" altLang="en-US" dirty="0" smtClean="0"/>
              <a:t>合（归）并排序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18</a:t>
            </a:fld>
            <a:endParaRPr lang="zh-CN" altLang="en-US"/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708077" y="942939"/>
            <a:ext cx="665308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1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个元素排成非递减顺序。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805543" y="3384913"/>
            <a:ext cx="8232131" cy="2579487"/>
            <a:chOff x="805543" y="3384913"/>
            <a:chExt cx="7661275" cy="2579487"/>
          </a:xfrm>
        </p:grpSpPr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805543" y="3384913"/>
              <a:ext cx="54534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800" b="1" dirty="0">
                  <a:ea typeface="楷体_GB2312" pitchFamily="1" charset="-122"/>
                </a:rPr>
                <a:t>例</a:t>
              </a:r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1913618" y="3536180"/>
              <a:ext cx="6553200" cy="2428220"/>
              <a:chOff x="1338943" y="3783013"/>
              <a:chExt cx="6553200" cy="2428220"/>
            </a:xfrm>
          </p:grpSpPr>
          <p:sp>
            <p:nvSpPr>
              <p:cNvPr id="7" name="Rectangle 14"/>
              <p:cNvSpPr>
                <a:spLocks noChangeArrowheads="1"/>
              </p:cNvSpPr>
              <p:nvPr/>
            </p:nvSpPr>
            <p:spPr bwMode="auto">
              <a:xfrm>
                <a:off x="2177143" y="3783013"/>
                <a:ext cx="55626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ea typeface="楷体_GB2312" pitchFamily="1" charset="-122"/>
                  </a:rPr>
                  <a:t>[8    4     5     6       2     1    7     3]</a:t>
                </a:r>
              </a:p>
            </p:txBody>
          </p:sp>
          <p:sp>
            <p:nvSpPr>
              <p:cNvPr id="8" name="Rectangle 15"/>
              <p:cNvSpPr>
                <a:spLocks noChangeArrowheads="1"/>
              </p:cNvSpPr>
              <p:nvPr/>
            </p:nvSpPr>
            <p:spPr bwMode="auto">
              <a:xfrm>
                <a:off x="2177143" y="4392613"/>
                <a:ext cx="5257800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dirty="0">
                    <a:latin typeface="Arial" panose="020B0604020202020204" pitchFamily="34" charset="0"/>
                    <a:ea typeface="楷体_GB2312" pitchFamily="1" charset="-122"/>
                  </a:rPr>
                  <a:t>[8    4     5     6]    [ 2     1    7     3]</a:t>
                </a:r>
              </a:p>
            </p:txBody>
          </p:sp>
          <p:sp>
            <p:nvSpPr>
              <p:cNvPr id="9" name="Rectangle 16"/>
              <p:cNvSpPr>
                <a:spLocks noChangeArrowheads="1"/>
              </p:cNvSpPr>
              <p:nvPr/>
            </p:nvSpPr>
            <p:spPr bwMode="auto">
              <a:xfrm>
                <a:off x="2177143" y="5002213"/>
                <a:ext cx="57150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dirty="0">
                    <a:latin typeface="Arial" panose="020B0604020202020204" pitchFamily="34" charset="0"/>
                    <a:ea typeface="楷体_GB2312" pitchFamily="1" charset="-122"/>
                  </a:rPr>
                  <a:t>[8   4]     [5    6]    [ 2    1]    [7    3]</a:t>
                </a:r>
              </a:p>
            </p:txBody>
          </p:sp>
          <p:sp>
            <p:nvSpPr>
              <p:cNvPr id="10" name="Rectangle 18"/>
              <p:cNvSpPr>
                <a:spLocks noChangeArrowheads="1"/>
              </p:cNvSpPr>
              <p:nvPr/>
            </p:nvSpPr>
            <p:spPr bwMode="auto">
              <a:xfrm>
                <a:off x="2177143" y="5688013"/>
                <a:ext cx="5564344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dirty="0">
                    <a:latin typeface="Arial" panose="020B0604020202020204" pitchFamily="34" charset="0"/>
                    <a:ea typeface="楷体_GB2312" pitchFamily="1" charset="-122"/>
                  </a:rPr>
                  <a:t>[8]   [4]   [5]   [6]    [2]   [1]   [7]   [3]</a:t>
                </a:r>
              </a:p>
            </p:txBody>
          </p:sp>
          <p:sp>
            <p:nvSpPr>
              <p:cNvPr id="13" name="Rectangle 21"/>
              <p:cNvSpPr>
                <a:spLocks noChangeArrowheads="1"/>
              </p:cNvSpPr>
              <p:nvPr/>
            </p:nvSpPr>
            <p:spPr bwMode="auto">
              <a:xfrm>
                <a:off x="1338943" y="4316413"/>
                <a:ext cx="545342" cy="18158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sz="2800" b="1" dirty="0">
                    <a:solidFill>
                      <a:srgbClr val="0000FF"/>
                    </a:solidFill>
                    <a:ea typeface="楷体_GB2312" pitchFamily="1" charset="-122"/>
                  </a:rPr>
                  <a:t>分</a:t>
                </a:r>
              </a:p>
              <a:p>
                <a:pPr eaLnBrk="1" hangingPunct="1"/>
                <a:r>
                  <a:rPr lang="zh-CN" altLang="en-US" sz="2800" b="1" dirty="0">
                    <a:solidFill>
                      <a:srgbClr val="0000FF"/>
                    </a:solidFill>
                    <a:ea typeface="楷体_GB2312" pitchFamily="1" charset="-122"/>
                  </a:rPr>
                  <a:t>解</a:t>
                </a:r>
              </a:p>
              <a:p>
                <a:pPr eaLnBrk="1" hangingPunct="1"/>
                <a:r>
                  <a:rPr lang="zh-CN" altLang="en-US" sz="2800" b="1" dirty="0">
                    <a:solidFill>
                      <a:srgbClr val="0000FF"/>
                    </a:solidFill>
                    <a:ea typeface="楷体_GB2312" pitchFamily="1" charset="-122"/>
                  </a:rPr>
                  <a:t>过</a:t>
                </a:r>
              </a:p>
              <a:p>
                <a:pPr eaLnBrk="1" hangingPunct="1"/>
                <a:r>
                  <a:rPr lang="zh-CN" altLang="en-US" sz="2800" b="1" dirty="0">
                    <a:solidFill>
                      <a:srgbClr val="0000FF"/>
                    </a:solidFill>
                    <a:ea typeface="楷体_GB2312" pitchFamily="1" charset="-122"/>
                  </a:rPr>
                  <a:t>程</a:t>
                </a:r>
              </a:p>
            </p:txBody>
          </p:sp>
          <p:sp>
            <p:nvSpPr>
              <p:cNvPr id="14" name="AutoShape 22"/>
              <p:cNvSpPr>
                <a:spLocks/>
              </p:cNvSpPr>
              <p:nvPr/>
            </p:nvSpPr>
            <p:spPr bwMode="auto">
              <a:xfrm>
                <a:off x="1872343" y="3935413"/>
                <a:ext cx="76200" cy="2209800"/>
              </a:xfrm>
              <a:prstGeom prst="leftBrace">
                <a:avLst>
                  <a:gd name="adj1" fmla="val 241667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sz="2800"/>
              </a:p>
            </p:txBody>
          </p:sp>
        </p:grpSp>
      </p:grpSp>
      <p:sp>
        <p:nvSpPr>
          <p:cNvPr id="17" name="文本框 16"/>
          <p:cNvSpPr txBox="1"/>
          <p:nvPr/>
        </p:nvSpPr>
        <p:spPr>
          <a:xfrm>
            <a:off x="729343" y="1650386"/>
            <a:ext cx="10722429" cy="143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35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算法思路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 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 </a:t>
            </a:r>
            <a:r>
              <a:rPr lang="en-US" altLang="zh-CN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 </a:t>
            </a:r>
            <a:r>
              <a:rPr lang="en-US" altLang="zh-CN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，算法终止；否则，将 </a:t>
            </a:r>
            <a:r>
              <a:rPr lang="en-US" altLang="zh-CN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zh-CN" altLang="en-US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待排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元素分割成 </a:t>
            </a:r>
            <a:r>
              <a:rPr lang="en-US" altLang="zh-CN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zh-CN" altLang="en-US" sz="28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大致相等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子集合 </a:t>
            </a:r>
            <a:r>
              <a:rPr lang="en-US" altLang="zh-CN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</a:t>
            </a:r>
            <a:r>
              <a:rPr lang="zh-CN" altLang="en-US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每一个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子集合分别进行合并排序，再</a:t>
            </a:r>
            <a:r>
              <a:rPr lang="zh-CN" altLang="en-US" sz="2800" dirty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将排好序的子集归并为一个</a:t>
            </a:r>
            <a:r>
              <a:rPr lang="zh-CN" altLang="en-US" sz="2800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集合。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圆角矩形标注 14"/>
          <p:cNvSpPr/>
          <p:nvPr/>
        </p:nvSpPr>
        <p:spPr bwMode="auto">
          <a:xfrm>
            <a:off x="9561902" y="4886524"/>
            <a:ext cx="2247636" cy="921814"/>
          </a:xfrm>
          <a:prstGeom prst="wedgeRoundRectCallout">
            <a:avLst>
              <a:gd name="adj1" fmla="val -98900"/>
              <a:gd name="adj2" fmla="val 43807"/>
              <a:gd name="adj3" fmla="val 16667"/>
            </a:avLst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kumimoji="0"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分解到一个元素，自然有序</a:t>
            </a:r>
            <a:endParaRPr kumimoji="0"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7577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 animBg="1"/>
      <p:bldP spid="1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合并排序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664707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19</a:t>
            </a:fld>
            <a:endParaRPr lang="zh-CN" altLang="en-US"/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641946" y="752010"/>
            <a:ext cx="9535886" cy="3563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1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</a:pP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初始序列</a:t>
            </a: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a     [8]   [4]   [5]   [6]   [2]   [1]   [7]   [3]    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归并到</a:t>
            </a: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sz="2800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[4 8]         [5 6]        [1 2]        [3 7]      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复制到</a:t>
            </a: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a          [4 8] [5 6]                 [1 2] [3 7]       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归并到</a:t>
            </a: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       [4 5 6 8]                    [1 2 3 7]        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复制到</a:t>
            </a: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a           [4 5 6 8]                    [1 2 3 7]        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归并到</a:t>
            </a: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                 [1 2 3 4 5 6 7 8]                     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ea typeface="黑体" panose="02010609060101010101" pitchFamily="49" charset="-122"/>
                <a:cs typeface="Times New Roman" panose="02020603050405020304" pitchFamily="18" charset="0"/>
              </a:rPr>
              <a:t>复制到</a:t>
            </a:r>
            <a:r>
              <a:rPr lang="en-US" altLang="zh-CN" sz="2800" dirty="0">
                <a:ea typeface="黑体" panose="02010609060101010101" pitchFamily="49" charset="-122"/>
                <a:cs typeface="Times New Roman" panose="02020603050405020304" pitchFamily="18" charset="0"/>
              </a:rPr>
              <a:t>a                    [1 2 3 4 5 6 7 8]                     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914400" y="4580543"/>
            <a:ext cx="10149649" cy="1867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99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anchor="ctr" anchorCtr="1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具体的归并过程（假设归并子集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[4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r>
              <a:rPr lang="zh-CN" altLang="en-US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[1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7] </a:t>
            </a:r>
            <a:r>
              <a:rPr lang="zh-CN" altLang="en-US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从两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个有序的子集的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头部开始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归并，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比较，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到结果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序列；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比较，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被移入结果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序列；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比较，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被放入结果序列；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比较，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被放入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结果序列；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比较，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被放入结果序列；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Line 8"/>
          <p:cNvSpPr>
            <a:spLocks noChangeShapeType="1"/>
          </p:cNvSpPr>
          <p:nvPr/>
        </p:nvSpPr>
        <p:spPr bwMode="auto">
          <a:xfrm>
            <a:off x="914399" y="4375746"/>
            <a:ext cx="1014964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731904" y="1748758"/>
            <a:ext cx="58653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楷体_GB2312" pitchFamily="1" charset="-122"/>
              </a:rPr>
              <a:t>归</a:t>
            </a: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楷体_GB2312" pitchFamily="1" charset="-122"/>
              </a:rPr>
              <a:t>并</a:t>
            </a: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楷体_GB2312" pitchFamily="1" charset="-122"/>
              </a:rPr>
              <a:t>过</a:t>
            </a:r>
          </a:p>
          <a:p>
            <a:pPr eaLnBrk="1" hangingPunct="1"/>
            <a:r>
              <a:rPr lang="zh-CN" altLang="en-US" b="1" dirty="0">
                <a:solidFill>
                  <a:srgbClr val="0000FF"/>
                </a:solidFill>
                <a:ea typeface="楷体_GB2312" pitchFamily="1" charset="-122"/>
              </a:rPr>
              <a:t>程</a:t>
            </a:r>
          </a:p>
        </p:txBody>
      </p:sp>
      <p:sp>
        <p:nvSpPr>
          <p:cNvPr id="9" name="AutoShape 10"/>
          <p:cNvSpPr>
            <a:spLocks/>
          </p:cNvSpPr>
          <p:nvPr/>
        </p:nvSpPr>
        <p:spPr bwMode="auto">
          <a:xfrm>
            <a:off x="1318437" y="970602"/>
            <a:ext cx="200139" cy="3125972"/>
          </a:xfrm>
          <a:prstGeom prst="leftBrace">
            <a:avLst>
              <a:gd name="adj1" fmla="val 30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圆角矩形标注 2"/>
          <p:cNvSpPr/>
          <p:nvPr/>
        </p:nvSpPr>
        <p:spPr bwMode="auto">
          <a:xfrm>
            <a:off x="9399180" y="911374"/>
            <a:ext cx="2686493" cy="1330436"/>
          </a:xfrm>
          <a:prstGeom prst="wedgeRoundRectCallout">
            <a:avLst>
              <a:gd name="adj1" fmla="val -63078"/>
              <a:gd name="adj2" fmla="val 32192"/>
              <a:gd name="adj3" fmla="val 16667"/>
            </a:avLst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algn="ctr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kumimoji="0"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kumimoji="0" lang="zh-CN" altLang="en-US" sz="2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局部有序</a:t>
            </a:r>
            <a:r>
              <a:rPr kumimoji="0"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的两个子集合归并为一个有序的集合</a:t>
            </a:r>
            <a:endParaRPr kumimoji="0"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36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合并排序算法描述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5091113" y="635000"/>
            <a:ext cx="180975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 anchorCtr="1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fontAlgn="b" hangingPunct="1">
              <a:lnSpc>
                <a:spcPct val="140000"/>
              </a:lnSpc>
            </a:pPr>
            <a:endParaRPr lang="zh-CN" altLang="zh-CN" sz="2200" b="1"/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696890" y="1125702"/>
            <a:ext cx="11105249" cy="5089845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bIns="0"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ts val="775"/>
              </a:spcAft>
              <a:buClrTx/>
              <a:buSzTx/>
              <a:buFontTx/>
              <a:buNone/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void 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MergeSort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r[ ],  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s, 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t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s,t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r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中待排序元素的左边界和右边界</a:t>
            </a:r>
            <a:endParaRPr lang="en-US" altLang="zh-CN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{                     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if(s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&gt;=t) return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  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只剩一个待排序元素，退出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m;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m=(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s+t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)/2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               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从中间分解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MergeSort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(r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s, m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);       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前半个子序列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8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MergeSort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(r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m+1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t);  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排序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后半个子序列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Merge(r, s, m, t);         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合并两个已排序的子序列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en-US" altLang="zh-CN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7276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48230" y="730258"/>
            <a:ext cx="11634663" cy="6085211"/>
          </a:xfrm>
          <a:prstGeom prst="rect">
            <a:avLst/>
          </a:prstGeom>
          <a:noFill/>
          <a:ln w="9525">
            <a:solidFill>
              <a:srgbClr val="00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46800" bIns="0"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ts val="775"/>
              </a:spcAft>
              <a:buClrTx/>
              <a:buSzTx/>
              <a:buFontTx/>
              <a:buNone/>
            </a:pP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void 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Merge(</a:t>
            </a:r>
            <a:r>
              <a:rPr lang="en-US" altLang="zh-CN" sz="2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r[ ],  </a:t>
            </a:r>
            <a:r>
              <a:rPr lang="en-US" altLang="zh-CN" sz="2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s, </a:t>
            </a:r>
            <a:r>
              <a:rPr lang="en-US" altLang="zh-CN" sz="2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m, </a:t>
            </a:r>
            <a:r>
              <a:rPr lang="en-US" altLang="zh-CN" sz="2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t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  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 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</a:p>
          <a:p>
            <a:pPr>
              <a:lnSpc>
                <a:spcPct val="100000"/>
              </a:lnSpc>
              <a:spcBef>
                <a:spcPct val="0"/>
              </a:spcBef>
              <a:spcAft>
                <a:spcPts val="775"/>
              </a:spcAft>
              <a:buClrTx/>
              <a:buSzTx/>
              <a:buFontTx/>
              <a:buNone/>
            </a:pP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2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j, k;                       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sz="2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r1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[];                               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2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r1:</a:t>
            </a:r>
            <a:r>
              <a:rPr lang="zh-CN" altLang="en-US" sz="22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临时数组，存放已排序完毕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的数据</a:t>
            </a:r>
            <a:endParaRPr lang="en-US" altLang="zh-CN" sz="2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2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=s;  j=m+1;  k=0;              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22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前半个子序列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 j: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后半个子序列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;  k: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结果序列</a:t>
            </a:r>
            <a:endParaRPr lang="en-US" altLang="zh-CN" sz="22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while 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&lt;=m &amp;&amp; j&lt;=t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{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//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取 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r[</a:t>
            </a:r>
            <a:r>
              <a:rPr lang="en-US" altLang="zh-CN" sz="22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r[j]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中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较小者放入</a:t>
            </a:r>
            <a:r>
              <a:rPr lang="en-US" altLang="zh-CN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r1[k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</a:t>
            </a:r>
            <a:endParaRPr lang="en-US" altLang="zh-CN" sz="2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if  (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r[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]&lt;=r[j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])   r1[k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++]=r[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++];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else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r1[k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++]=r[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j++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];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}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if (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&lt;=m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while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&lt;=m)  r1[k++]=r[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++];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//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若第一个子序列没处理完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，子序列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收尾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else 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while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(j&lt;=t)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r1[k++]=r[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</a:t>
            </a:r>
            <a:r>
              <a:rPr lang="en-US" altLang="zh-CN" sz="2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++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];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//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若第二个子序列没处理完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，子序列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收尾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for(</a:t>
            </a:r>
            <a:r>
              <a:rPr lang="en-US" altLang="zh-CN" sz="2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j=0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sz="2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=s;  j&lt;k;  </a:t>
            </a:r>
            <a:r>
              <a:rPr lang="en-US" altLang="zh-CN" sz="2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++,</a:t>
            </a:r>
            <a:r>
              <a:rPr lang="en-US" altLang="zh-CN" sz="24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j++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    r[</a:t>
            </a:r>
            <a:r>
              <a:rPr lang="en-US" altLang="zh-CN" sz="2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]=r1[j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];    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把排好序的序列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r1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复制回原始数组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   }</a:t>
            </a:r>
            <a:endParaRPr lang="en-US" altLang="zh-CN" sz="2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}</a:t>
            </a:r>
            <a:endParaRPr lang="en-US" altLang="zh-CN" sz="2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合并排序</a:t>
            </a:r>
            <a:r>
              <a:rPr lang="zh-CN" altLang="en-US" dirty="0"/>
              <a:t>算法描述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806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617" y="191384"/>
            <a:ext cx="6993675" cy="6572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390421" y="191384"/>
            <a:ext cx="34163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合并排序算法的例子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1754372" y="3968603"/>
            <a:ext cx="95586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996660" y="2304471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分解过程</a:t>
            </a: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66780" y="4936314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合并过程</a:t>
            </a: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0421" y="809476"/>
            <a:ext cx="391257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注意：该图和实际递归调用的过程并不对应。还需要掌握实际递归调用的过程。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3376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合并排序复杂度分析</a:t>
            </a:r>
            <a:endParaRPr lang="zh-CN" altLang="en-US" sz="4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23</a:t>
            </a:fld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3297865" y="1476935"/>
            <a:ext cx="4975283" cy="934744"/>
            <a:chOff x="611189" y="623240"/>
            <a:chExt cx="3048096" cy="934744"/>
          </a:xfrm>
        </p:grpSpPr>
        <p:sp>
          <p:nvSpPr>
            <p:cNvPr id="5" name="AutoShape 6"/>
            <p:cNvSpPr>
              <a:spLocks/>
            </p:cNvSpPr>
            <p:nvPr/>
          </p:nvSpPr>
          <p:spPr bwMode="auto">
            <a:xfrm>
              <a:off x="1316402" y="845231"/>
              <a:ext cx="76201" cy="490762"/>
            </a:xfrm>
            <a:prstGeom prst="leftBrace">
              <a:avLst>
                <a:gd name="adj1" fmla="val 58333"/>
                <a:gd name="adj2" fmla="val 50000"/>
              </a:avLst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611189" y="763279"/>
              <a:ext cx="705569" cy="6546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" hangingPunct="1">
                <a:lnSpc>
                  <a:spcPct val="140000"/>
                </a:lnSpc>
              </a:pPr>
              <a:r>
                <a:rPr lang="en-US" altLang="en-US" sz="2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T(n)= </a:t>
              </a:r>
            </a:p>
          </p:txBody>
        </p:sp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481643" y="623240"/>
              <a:ext cx="2177642" cy="9347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</a:pPr>
              <a:r>
                <a:rPr lang="en-US" altLang="zh-CN" sz="2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O(1)                  n</a:t>
              </a:r>
              <a:r>
                <a:rPr lang="en-US" altLang="zh-CN" sz="2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&lt;=1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2T(n/2)+</a:t>
              </a:r>
              <a:r>
                <a:rPr lang="en-US" altLang="zh-CN" sz="2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O(n) </a:t>
              </a:r>
              <a:r>
                <a:rPr lang="en-US" altLang="zh-CN" sz="2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n&gt;1</a:t>
              </a:r>
              <a:endPara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587731" y="778249"/>
            <a:ext cx="4083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合并排序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算法复杂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度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87731" y="2541181"/>
            <a:ext cx="71927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其中 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O(n)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是合并（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Merge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）过程的复杂性。</a:t>
            </a:r>
            <a:endParaRPr lang="zh-CN" altLang="en-US" sz="2800" dirty="0"/>
          </a:p>
        </p:txBody>
      </p:sp>
      <p:sp>
        <p:nvSpPr>
          <p:cNvPr id="11" name="矩形 10"/>
          <p:cNvSpPr/>
          <p:nvPr/>
        </p:nvSpPr>
        <p:spPr>
          <a:xfrm>
            <a:off x="613722" y="3362972"/>
            <a:ext cx="99886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因此合并排序算法的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时间复杂性 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T(n)=O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n*log(n) )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13722" y="4246305"/>
            <a:ext cx="1071053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排序问题的计算时间下界为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nlogn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），故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合并排序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算法是一个渐近最优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409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合并</a:t>
            </a:r>
            <a:r>
              <a:rPr lang="zh-CN" altLang="en-US" dirty="0" smtClean="0"/>
              <a:t>排序的特点和改进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3772" y="1010093"/>
            <a:ext cx="11006470" cy="5167423"/>
          </a:xfrm>
        </p:spPr>
        <p:txBody>
          <a:bodyPr>
            <a:noAutofit/>
          </a:bodyPr>
          <a:lstStyle/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排序是稳定性。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缺点：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在合并（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Merge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）时需要额外的线性空间。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改进：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首先，算法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可以自底向上合并数组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的一个个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元素对，然后再合并这些有序对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，这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就避免了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使用递归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调用（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即非递归的归并排序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其次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，可以把数组划分为待排序的多个部分，再对它们递归排序，最后将其合并在一起。这个方案尤其适合对存放在二级存储空间的文件进行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排序（即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多路归并排序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(multiway </a:t>
            </a:r>
            <a:r>
              <a:rPr lang="en-US" altLang="zh-CN" sz="2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mergesort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，适合于对大文件数据的排序。需要用到最小堆）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354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合并</a:t>
            </a:r>
            <a:r>
              <a:rPr lang="zh-CN" altLang="en-US" dirty="0" smtClean="0"/>
              <a:t>排序的扩展</a:t>
            </a:r>
            <a:r>
              <a:rPr lang="en-US" altLang="zh-CN" dirty="0" smtClean="0"/>
              <a:t>—</a:t>
            </a:r>
            <a:r>
              <a:rPr lang="zh-CN" altLang="en-US" dirty="0" smtClean="0"/>
              <a:t>逆序对计数问题</a:t>
            </a:r>
            <a:endParaRPr lang="zh-CN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961" y="828454"/>
            <a:ext cx="8804614" cy="5019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785922" y="6102535"/>
            <a:ext cx="104526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https://www.ixigua.com/6852470382776025603?id=6852450934203613710&amp;logTag=d58e2c460f0f6fcfe0f4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85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2.3 </a:t>
            </a:r>
            <a:r>
              <a:rPr lang="zh-CN" altLang="en-US" dirty="0" smtClean="0"/>
              <a:t>快速排序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26</a:t>
            </a:fld>
            <a:endParaRPr lang="zh-CN" altLang="en-US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611850" y="825255"/>
            <a:ext cx="11012703" cy="1376852"/>
          </a:xfrm>
          <a:prstGeom prst="rect">
            <a:avLst/>
          </a:prstGeom>
          <a:noFill/>
          <a:ln w="9525">
            <a:solidFill>
              <a:srgbClr val="99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18000" tIns="0" rIns="18000" bIns="46800" anchor="ctr" anchorCtr="1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快速排序由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C. A. R. Hoare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于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1960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年提出的一种划分交换排序。快速排序也是一种采用分治法解决问题的一个典型应用。在很多编程语言中，对数组，列表进行的非稳定排序在内部实现中都使用的是快速排序。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611850" y="2482850"/>
            <a:ext cx="11012703" cy="352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A5002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快速排序的分</a:t>
            </a:r>
            <a:r>
              <a:rPr lang="zh-CN" altLang="en-US" sz="2400" dirty="0" smtClean="0">
                <a:solidFill>
                  <a:srgbClr val="A5002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治策略是</a:t>
            </a:r>
            <a:r>
              <a:rPr lang="zh-CN" altLang="en-US" sz="2400" dirty="0">
                <a:solidFill>
                  <a:srgbClr val="A5002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：</a:t>
            </a:r>
          </a:p>
          <a:p>
            <a:pPr algn="just" eaLnBrk="1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划分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：选定一个记录作为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轴值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以轴值为基准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将整个序列划分为两个子序列</a:t>
            </a:r>
            <a:r>
              <a:rPr lang="en-US" altLang="zh-CN" sz="2400" i="1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-30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 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… </a:t>
            </a:r>
            <a:r>
              <a:rPr lang="en-US" altLang="zh-CN" sz="2400" i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-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-1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400" i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-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30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… </a:t>
            </a:r>
            <a:r>
              <a:rPr lang="en-US" altLang="zh-CN" sz="2400" i="1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-300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，使前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一个子序列中记录的值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均小于或等于轴值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，后一个子序列中记录的值均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大于或等于轴值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；</a:t>
            </a:r>
          </a:p>
          <a:p>
            <a:pPr eaLnBrk="1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求解子问题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：分别对划分后的每一个子序列递归处理；</a:t>
            </a:r>
          </a:p>
          <a:p>
            <a:pPr eaLnBrk="1" hangingPunct="1">
              <a:lnSpc>
                <a:spcPct val="120000"/>
              </a:lnSpc>
              <a:spcBef>
                <a:spcPct val="15000"/>
              </a:spcBef>
              <a:spcAft>
                <a:spcPct val="1500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</a:t>
            </a:r>
            <a:r>
              <a:rPr lang="zh-CN" altLang="en-US" sz="2400" dirty="0">
                <a:solidFill>
                  <a:srgbClr val="FF33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合并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：由于对子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序列 </a:t>
            </a:r>
            <a:r>
              <a:rPr lang="en-US" altLang="zh-CN" sz="2400" i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… </a:t>
            </a:r>
            <a:r>
              <a:rPr lang="en-US" altLang="zh-CN" sz="2400" i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-25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-1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400" i="1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-25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aseline="-25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+1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… </a:t>
            </a:r>
            <a:r>
              <a:rPr lang="en-US" altLang="zh-CN" sz="2400" i="1" dirty="0" err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400" i="1" baseline="-25000" dirty="0" err="1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i="1" baseline="-250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排序是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就地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进行的，所以合并不需要执行任何操作。</a:t>
            </a:r>
          </a:p>
        </p:txBody>
      </p:sp>
    </p:spTree>
    <p:extLst>
      <p:ext uri="{BB962C8B-B14F-4D97-AF65-F5344CB8AC3E}">
        <p14:creationId xmlns:p14="http://schemas.microsoft.com/office/powerpoint/2010/main" val="1287475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快速排序算法分析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27</a:t>
            </a:fld>
            <a:endParaRPr lang="zh-CN" altLang="en-US"/>
          </a:p>
        </p:txBody>
      </p: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1048532" y="1135667"/>
            <a:ext cx="6086983" cy="2095500"/>
            <a:chOff x="637" y="881"/>
            <a:chExt cx="3538" cy="1320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637" y="881"/>
              <a:ext cx="3538" cy="1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[ </a:t>
              </a:r>
              <a:r>
                <a:rPr lang="en-US" altLang="zh-CN" sz="2800" i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2800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1   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…  …</a:t>
              </a:r>
              <a:r>
                <a:rPr lang="en-US" altLang="zh-CN" sz="2800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lang="en-US" altLang="zh-CN" sz="2800" i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2800" i="1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lang="en-US" altLang="zh-CN" sz="2800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-1 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]</a:t>
              </a:r>
              <a:r>
                <a:rPr lang="en-US" altLang="zh-CN" sz="2800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800" i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800" i="1" dirty="0" err="1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2800" i="1" baseline="-25000" dirty="0" err="1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lang="en-US" altLang="zh-CN" sz="2800" i="1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 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[</a:t>
              </a:r>
              <a:r>
                <a:rPr lang="en-US" altLang="zh-CN" sz="2800" i="1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r</a:t>
              </a:r>
              <a:r>
                <a:rPr lang="en-US" altLang="zh-CN" sz="2800" i="1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lang="en-US" altLang="zh-CN" sz="2800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+1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…  … </a:t>
              </a:r>
              <a:r>
                <a:rPr lang="en-US" altLang="zh-CN" sz="2800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800" i="1" dirty="0" err="1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2800" i="1" baseline="-25000" dirty="0" err="1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n</a:t>
              </a:r>
              <a:r>
                <a:rPr lang="en-US" altLang="zh-CN" sz="2800" i="1" baseline="-250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]</a:t>
              </a:r>
              <a:endParaRPr lang="en-US" altLang="zh-CN" sz="2800" i="1" baseline="-25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just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  </a:t>
              </a:r>
            </a:p>
            <a:p>
              <a:pPr algn="just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   </a:t>
              </a:r>
            </a:p>
            <a:p>
              <a:pPr algn="just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800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   </a:t>
              </a:r>
              <a:r>
                <a:rPr lang="zh-CN" altLang="en-US" sz="2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均≤</a:t>
              </a:r>
              <a:r>
                <a:rPr lang="en-US" altLang="zh-CN" sz="2800" i="1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2800" i="1" baseline="-25000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r>
                <a:rPr lang="en-US" altLang="zh-CN" sz="2800" i="1" baseline="-250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 </a:t>
              </a:r>
              <a:r>
                <a:rPr lang="en-US" altLang="zh-CN" sz="2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        </a:t>
              </a:r>
              <a:r>
                <a:rPr lang="zh-CN" altLang="en-US" sz="2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轴值       </a:t>
              </a:r>
              <a:r>
                <a:rPr lang="zh-CN" altLang="en-US" sz="2800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均</a:t>
              </a:r>
              <a:r>
                <a:rPr lang="zh-CN" altLang="en-US" sz="2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≥</a:t>
              </a:r>
              <a:r>
                <a:rPr lang="en-US" altLang="zh-CN" sz="2800" i="1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r</a:t>
              </a:r>
              <a:r>
                <a:rPr lang="en-US" altLang="zh-CN" sz="2800" i="1" baseline="-25000" dirty="0" err="1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i</a:t>
              </a:r>
              <a:endParaRPr lang="en-US" altLang="zh-CN" sz="2800" i="1" baseline="-25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just">
                <a:lnSpc>
                  <a:spcPct val="96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sz="2800" i="1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  </a:t>
              </a:r>
              <a:r>
                <a:rPr lang="en-US" altLang="zh-CN" sz="2800" dirty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              </a:t>
              </a:r>
              <a:r>
                <a:rPr lang="zh-CN" altLang="en-US" sz="2400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   </a:t>
              </a:r>
              <a:endPara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AutoShape 6"/>
            <p:cNvSpPr>
              <a:spLocks/>
            </p:cNvSpPr>
            <p:nvPr/>
          </p:nvSpPr>
          <p:spPr bwMode="auto">
            <a:xfrm rot="16200000">
              <a:off x="1221" y="710"/>
              <a:ext cx="226" cy="1114"/>
            </a:xfrm>
            <a:prstGeom prst="leftBrace">
              <a:avLst>
                <a:gd name="adj1" fmla="val 41077"/>
                <a:gd name="adj2" fmla="val 49694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AutoShape 7"/>
            <p:cNvSpPr>
              <a:spLocks/>
            </p:cNvSpPr>
            <p:nvPr/>
          </p:nvSpPr>
          <p:spPr bwMode="auto">
            <a:xfrm rot="16244855">
              <a:off x="2893" y="735"/>
              <a:ext cx="189" cy="1123"/>
            </a:xfrm>
            <a:prstGeom prst="leftBrace">
              <a:avLst>
                <a:gd name="adj1" fmla="val 49515"/>
                <a:gd name="adj2" fmla="val 50000"/>
              </a:avLst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169" y="1268"/>
              <a:ext cx="3" cy="31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stealth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Text Box 9"/>
          <p:cNvSpPr txBox="1">
            <a:spLocks noChangeArrowheads="1"/>
          </p:cNvSpPr>
          <p:nvPr/>
        </p:nvSpPr>
        <p:spPr bwMode="auto">
          <a:xfrm>
            <a:off x="428746" y="4550580"/>
            <a:ext cx="11439162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合并排序是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轻划分，重合并</a:t>
            </a:r>
          </a:p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ü"/>
              <a:defRPr/>
            </a:pPr>
            <a:r>
              <a:rPr lang="zh-CN" altLang="en-US" sz="280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快速排序是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重划分，轻（无需）合并</a:t>
            </a:r>
            <a:endParaRPr lang="en-US" altLang="zh-CN" sz="28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28746" y="3670300"/>
            <a:ext cx="5553529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solidFill>
                  <a:srgbClr val="A50021"/>
                </a:solidFill>
                <a:latin typeface="微软雅黑" pitchFamily="34" charset="-122"/>
                <a:ea typeface="微软雅黑" pitchFamily="34" charset="-122"/>
              </a:rPr>
              <a:t>快速排序与合并排序的区别？</a:t>
            </a:r>
            <a:endParaRPr lang="zh-CN" altLang="en-US" sz="3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圆角矩形标注 11"/>
          <p:cNvSpPr/>
          <p:nvPr/>
        </p:nvSpPr>
        <p:spPr bwMode="auto">
          <a:xfrm>
            <a:off x="7602278" y="829201"/>
            <a:ext cx="4221127" cy="1126125"/>
          </a:xfrm>
          <a:prstGeom prst="wedgeRoundRectCallout">
            <a:avLst>
              <a:gd name="adj1" fmla="val -73655"/>
              <a:gd name="adj2" fmla="val 27455"/>
              <a:gd name="adj3" fmla="val 16667"/>
            </a:avLst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kumimoji="0"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注意：轴值两侧的值只需满足“小于等于”和“大于等于”即可，并不需要排好序</a:t>
            </a:r>
            <a:endParaRPr kumimoji="0" lang="zh-CN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6250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  <a:r>
              <a:rPr lang="zh-CN" altLang="en-US" dirty="0" smtClean="0"/>
              <a:t>算法描述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28</a:t>
            </a:fld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730100" y="1077066"/>
            <a:ext cx="10136374" cy="34901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template &lt;class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Type&gt;</a:t>
            </a:r>
            <a:endParaRPr lang="en-US" altLang="zh-CN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void </a:t>
            </a:r>
            <a:r>
              <a:rPr lang="en-US" altLang="zh-CN" sz="2400" dirty="0" err="1" smtClean="0">
                <a:latin typeface="微软雅黑" pitchFamily="34" charset="-122"/>
                <a:ea typeface="微软雅黑" pitchFamily="34" charset="-122"/>
              </a:rPr>
              <a:t>QuickSoft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(Type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a[ ],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p,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r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)  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{  </a:t>
            </a:r>
          </a:p>
          <a:p>
            <a:pPr>
              <a:lnSpc>
                <a:spcPct val="115000"/>
              </a:lnSpc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if(p&lt;r){</a:t>
            </a:r>
          </a:p>
          <a:p>
            <a:pPr>
              <a:lnSpc>
                <a:spcPct val="115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q=Partition(a, p, r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   </a:t>
            </a:r>
            <a:r>
              <a:rPr lang="en-US" altLang="zh-CN" sz="2400" dirty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400" dirty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对数组进行划分，返回轴值的索引</a:t>
            </a:r>
            <a:endParaRPr lang="en-US" altLang="zh-CN" sz="2400" dirty="0">
              <a:solidFill>
                <a:srgbClr val="99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QuickSort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(a, p, q-1);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2400" dirty="0" smtClean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400" dirty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对左半</a:t>
            </a:r>
            <a:r>
              <a:rPr lang="zh-CN" altLang="en-US" sz="2400" dirty="0" smtClean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段 </a:t>
            </a:r>
            <a:r>
              <a:rPr lang="en-US" altLang="zh-CN" sz="2400" dirty="0" smtClean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a[p, q-1] </a:t>
            </a:r>
            <a:r>
              <a:rPr lang="zh-CN" altLang="en-US" sz="2400" dirty="0" smtClean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排序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5000"/>
              </a:lnSpc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QuickSoft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(a, q+1, r);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 </a:t>
            </a:r>
            <a:r>
              <a:rPr lang="en-US" altLang="zh-CN" sz="2400" dirty="0" smtClean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400" dirty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对右半</a:t>
            </a:r>
            <a:r>
              <a:rPr lang="zh-CN" altLang="en-US" sz="2400" dirty="0" smtClean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段 </a:t>
            </a:r>
            <a:r>
              <a:rPr lang="en-US" altLang="zh-CN" sz="2400" dirty="0" smtClean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a[q+1, r] </a:t>
            </a:r>
            <a:r>
              <a:rPr lang="zh-CN" altLang="en-US" sz="2400" dirty="0" smtClean="0">
                <a:solidFill>
                  <a:srgbClr val="990000"/>
                </a:solidFill>
                <a:latin typeface="微软雅黑" pitchFamily="34" charset="-122"/>
                <a:ea typeface="微软雅黑" pitchFamily="34" charset="-122"/>
              </a:rPr>
              <a:t>排序</a:t>
            </a:r>
            <a:endParaRPr lang="en-US" altLang="zh-CN" sz="2400" dirty="0" smtClean="0">
              <a:solidFill>
                <a:srgbClr val="990000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15000"/>
              </a:lnSpc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   }</a:t>
            </a:r>
          </a:p>
          <a:p>
            <a:pPr>
              <a:lnSpc>
                <a:spcPct val="115000"/>
              </a:lnSpc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}</a:t>
            </a:r>
          </a:p>
        </p:txBody>
      </p:sp>
      <p:sp>
        <p:nvSpPr>
          <p:cNvPr id="36" name="矩形 35"/>
          <p:cNvSpPr/>
          <p:nvPr/>
        </p:nvSpPr>
        <p:spPr>
          <a:xfrm>
            <a:off x="730100" y="4914350"/>
            <a:ext cx="10136374" cy="108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含有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元素的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数组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a[0:n-1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］进行快速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排序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只要调用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QuickSort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(a, 0, n-1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）即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可</a:t>
            </a:r>
            <a:r>
              <a:rPr lang="zh-CN" altLang="en-US" sz="28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9150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  <a:r>
              <a:rPr lang="zh-CN" altLang="en-US" dirty="0" smtClean="0"/>
              <a:t>算法描述（续）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5" name="AutoShape 7"/>
          <p:cNvSpPr>
            <a:spLocks noChangeArrowheads="1"/>
          </p:cNvSpPr>
          <p:nvPr/>
        </p:nvSpPr>
        <p:spPr bwMode="auto">
          <a:xfrm>
            <a:off x="380824" y="895144"/>
            <a:ext cx="11697761" cy="5656933"/>
          </a:xfrm>
          <a:prstGeom prst="wedgeRectCallout">
            <a:avLst>
              <a:gd name="adj1" fmla="val -49996"/>
              <a:gd name="adj2" fmla="val -17254"/>
            </a:avLst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0" tIns="0" rIns="0" bIns="0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Partition(Type  a[ ], 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p, 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r )  {  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//Partition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快速排序算法的关键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=p;  j=r+1;</a:t>
            </a:r>
          </a:p>
          <a:p>
            <a:pPr eaLnBrk="1" hangingPunct="1"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Type  x=a[p]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；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选择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第一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个元素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a[p]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为中轴元素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endParaRPr lang="zh-CN" altLang="en-US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while (true) { </a:t>
            </a:r>
          </a:p>
          <a:p>
            <a:pPr eaLnBrk="1" hangingPunct="1">
              <a:defRPr/>
            </a:pP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从左至右扫描，如果碰到不大于基准元素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，则该元素已经位于正确的分区，</a:t>
            </a:r>
            <a:endParaRPr lang="en-US" altLang="zh-CN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   // 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自增，继续比较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i+1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；否则，退出循环，准备交换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a[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]</a:t>
            </a:r>
            <a:endParaRPr lang="zh-CN" altLang="en-US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     while(a[++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] &lt;= x  &amp;&amp; 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&lt; r )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；         </a:t>
            </a:r>
            <a:endParaRPr lang="en-US" altLang="zh-CN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     while(a[--j] &gt;= x &amp;&amp; j&gt;p)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；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从右至左扫描，如果</a:t>
            </a:r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不小于</a:t>
            </a:r>
            <a:r>
              <a:rPr lang="zh-CN" altLang="en-US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基准元素 </a:t>
            </a:r>
            <a:r>
              <a:rPr lang="en-US" altLang="zh-CN" sz="1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x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…,</a:t>
            </a:r>
            <a:r>
              <a:rPr lang="zh-CN" altLang="en-US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否则准备</a:t>
            </a:r>
            <a:r>
              <a:rPr lang="zh-CN" altLang="en-US" sz="16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交换 </a:t>
            </a:r>
            <a:r>
              <a:rPr lang="en-US" altLang="zh-CN" sz="16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a[j]</a:t>
            </a:r>
            <a:endParaRPr lang="zh-CN" altLang="en-US" sz="2000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if (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&gt;=j ) break;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如果相遇，则所有元素都处于正确位置，退出循环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     swap(a[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], a[j]); 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交换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a[</a:t>
            </a:r>
            <a:r>
              <a:rPr lang="en-US" altLang="zh-CN" sz="20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]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a[j]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，交换完后他们都位于正确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位置</a:t>
            </a:r>
            <a:endParaRPr lang="en-US" altLang="zh-CN" dirty="0" smtClean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 } </a:t>
            </a:r>
          </a:p>
          <a:p>
            <a:pPr eaLnBrk="1" hangingPunct="1">
              <a:defRPr/>
            </a:pP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a[p] = a[j]</a:t>
            </a: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；</a:t>
            </a:r>
          </a:p>
          <a:p>
            <a:pPr eaLnBrk="1" hangingPunct="1">
              <a:defRPr/>
            </a:pPr>
            <a:r>
              <a:rPr lang="zh-CN" altLang="en-US" sz="2800" dirty="0" smtClea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a[j] = x;</a:t>
            </a:r>
          </a:p>
          <a:p>
            <a:pPr eaLnBrk="1" hangingPunct="1"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   return j ;    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返回中轴元素索引 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j</a:t>
            </a:r>
          </a:p>
          <a:p>
            <a:pPr eaLnBrk="1" hangingPunct="1">
              <a:lnSpc>
                <a:spcPct val="115000"/>
              </a:lnSpc>
              <a:defRPr/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 }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710051" y="5088063"/>
            <a:ext cx="3519208" cy="613598"/>
            <a:chOff x="2363688" y="5331181"/>
            <a:chExt cx="3519208" cy="465559"/>
          </a:xfrm>
        </p:grpSpPr>
        <p:sp>
          <p:nvSpPr>
            <p:cNvPr id="6" name="AutoShape 18"/>
            <p:cNvSpPr>
              <a:spLocks/>
            </p:cNvSpPr>
            <p:nvPr/>
          </p:nvSpPr>
          <p:spPr bwMode="auto">
            <a:xfrm>
              <a:off x="2363688" y="5331181"/>
              <a:ext cx="258659" cy="402992"/>
            </a:xfrm>
            <a:prstGeom prst="rightBrace">
              <a:avLst>
                <a:gd name="adj1" fmla="val 58333"/>
                <a:gd name="adj2" fmla="val 53937"/>
              </a:avLst>
            </a:prstGeom>
            <a:noFill/>
            <a:ln w="19050">
              <a:solidFill>
                <a:srgbClr val="99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" name="Text Box 19"/>
            <p:cNvSpPr txBox="1">
              <a:spLocks noChangeArrowheads="1"/>
            </p:cNvSpPr>
            <p:nvPr/>
          </p:nvSpPr>
          <p:spPr bwMode="auto">
            <a:xfrm>
              <a:off x="2622347" y="5332713"/>
              <a:ext cx="3260549" cy="4640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 anchorCtr="1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fontAlgn="b" hangingPunct="1">
                <a:lnSpc>
                  <a:spcPct val="140000"/>
                </a:lnSpc>
              </a:pPr>
              <a:r>
                <a:rPr lang="zh-CN" altLang="en-US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交换 </a:t>
              </a:r>
              <a:r>
                <a:rPr lang="en-US" altLang="zh-CN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a[j] </a:t>
              </a:r>
              <a:r>
                <a:rPr lang="zh-CN" altLang="en-US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和中轴元素 </a:t>
              </a:r>
              <a:r>
                <a:rPr lang="en-US" altLang="zh-CN" dirty="0" smtClean="0">
                  <a:solidFill>
                    <a:srgbClr val="FF0000"/>
                  </a:solidFill>
                  <a:latin typeface="微软雅黑" pitchFamily="34" charset="-122"/>
                  <a:ea typeface="微软雅黑" pitchFamily="34" charset="-122"/>
                </a:rPr>
                <a:t>x</a:t>
              </a:r>
              <a:endPara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105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4326" y="39705"/>
            <a:ext cx="341632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快速排序算法的例子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（递归调用分析）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26" y="1292907"/>
            <a:ext cx="5928761" cy="3978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0" name="组合 19"/>
          <p:cNvGrpSpPr/>
          <p:nvPr/>
        </p:nvGrpSpPr>
        <p:grpSpPr>
          <a:xfrm>
            <a:off x="6432706" y="-23591"/>
            <a:ext cx="5645888" cy="6905625"/>
            <a:chOff x="6241312" y="-23591"/>
            <a:chExt cx="5645888" cy="6905625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3661" y="-23591"/>
              <a:ext cx="5235316" cy="69056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cxnSp>
          <p:nvCxnSpPr>
            <p:cNvPr id="6" name="直接连接符 5"/>
            <p:cNvCxnSpPr/>
            <p:nvPr/>
          </p:nvCxnSpPr>
          <p:spPr>
            <a:xfrm>
              <a:off x="6241312" y="2509282"/>
              <a:ext cx="564588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6393435" y="4093535"/>
              <a:ext cx="27378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6393435" y="4316817"/>
              <a:ext cx="27378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V="1">
              <a:off x="9473609" y="5135526"/>
              <a:ext cx="2190307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9537404" y="6400800"/>
              <a:ext cx="21265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9537404" y="6666614"/>
              <a:ext cx="212651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矩形 18"/>
          <p:cNvSpPr/>
          <p:nvPr/>
        </p:nvSpPr>
        <p:spPr>
          <a:xfrm>
            <a:off x="174326" y="540359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右侧例子的递归</a:t>
            </a:r>
            <a:r>
              <a:rPr lang="zh-CN" altLang="en-US" sz="2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调用树，调用的输入值是子数组的边界 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l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r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，输出是轴值的位置 </a:t>
            </a:r>
            <a:r>
              <a:rPr lang="en-US" altLang="zh-CN" sz="2400" dirty="0">
                <a:solidFill>
                  <a:srgbClr val="0000FF"/>
                </a:solidFill>
                <a:latin typeface="微软雅黑" pitchFamily="34" charset="-122"/>
                <a:ea typeface="微软雅黑" pitchFamily="34" charset="-122"/>
              </a:rPr>
              <a:t>s</a:t>
            </a:r>
            <a:endParaRPr lang="zh-CN" altLang="en-US" sz="2400" dirty="0">
              <a:solidFill>
                <a:srgbClr val="0000F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9484241" y="2264733"/>
            <a:ext cx="361507" cy="297712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7350641" y="3820631"/>
            <a:ext cx="361507" cy="297712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7953771" y="4341625"/>
            <a:ext cx="361507" cy="297712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10632566" y="6202693"/>
            <a:ext cx="361507" cy="297712"/>
          </a:xfrm>
          <a:prstGeom prst="ellipse">
            <a:avLst/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897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  <a:r>
              <a:rPr lang="zh-CN" altLang="en-US" dirty="0" smtClean="0"/>
              <a:t>算法复杂性分析（最好情况）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>
                <a:latin typeface="微软雅黑" pitchFamily="34" charset="-122"/>
                <a:ea typeface="微软雅黑" pitchFamily="34" charset="-122"/>
              </a:rPr>
              <a:pPr/>
              <a:t>31</a:t>
            </a:fld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Text Box 1026"/>
          <p:cNvSpPr txBox="1">
            <a:spLocks noChangeArrowheads="1"/>
          </p:cNvSpPr>
          <p:nvPr/>
        </p:nvSpPr>
        <p:spPr bwMode="auto">
          <a:xfrm>
            <a:off x="249373" y="3000126"/>
            <a:ext cx="82296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T(n)≤2 T(n/2)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O(n)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≤2(2T(n/4)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n/2)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4T(n/4)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2n</a:t>
            </a:r>
          </a:p>
          <a:p>
            <a:pPr algn="just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≤4(2T(n/8)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n/4)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2n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8T(n/8)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3n</a:t>
            </a:r>
          </a:p>
          <a:p>
            <a:pPr algn="just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… … … 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≤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nT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(1)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nlog</a:t>
            </a:r>
            <a:r>
              <a:rPr lang="en-US" altLang="zh-CN" sz="2400" baseline="-30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＝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O(nlog</a:t>
            </a:r>
            <a:r>
              <a:rPr lang="en-US" altLang="zh-CN" sz="2400" baseline="-30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n) </a:t>
            </a:r>
          </a:p>
          <a:p>
            <a:pPr algn="just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因此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“最好情况”时间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复杂度为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O(nlog</a:t>
            </a:r>
            <a:r>
              <a:rPr lang="en-US" altLang="zh-CN" sz="2400" baseline="-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n)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。   </a:t>
            </a:r>
            <a:endParaRPr lang="zh-CN" altLang="en-US" sz="2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1030"/>
          <p:cNvSpPr>
            <a:spLocks noChangeArrowheads="1"/>
          </p:cNvSpPr>
          <p:nvPr/>
        </p:nvSpPr>
        <p:spPr bwMode="auto">
          <a:xfrm>
            <a:off x="0" y="3177531"/>
            <a:ext cx="18473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zh-CN" altLang="en-US" sz="240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 Box 1031"/>
          <p:cNvSpPr txBox="1">
            <a:spLocks noChangeArrowheads="1"/>
          </p:cNvSpPr>
          <p:nvPr/>
        </p:nvSpPr>
        <p:spPr bwMode="auto">
          <a:xfrm>
            <a:off x="174624" y="887188"/>
            <a:ext cx="11179175" cy="182755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每次划分对一个记录定位后，该记录的左侧子序列与右侧子序列的长度相同。在具有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个记录的序列中，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一次划分需要对整个待划分序列扫描一遍，则所需时间为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O(n)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。设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T(n)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是对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个记录的序列进行排序的时间，每次划分后，正好把待划分区间划分为长度相等的两个子序列，则有：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3306726" y="3260824"/>
            <a:ext cx="8497350" cy="985797"/>
            <a:chOff x="2955851" y="3253563"/>
            <a:chExt cx="8880122" cy="985797"/>
          </a:xfrm>
        </p:grpSpPr>
        <p:sp>
          <p:nvSpPr>
            <p:cNvPr id="9" name="TextBox 7"/>
            <p:cNvSpPr txBox="1">
              <a:spLocks noChangeArrowheads="1"/>
            </p:cNvSpPr>
            <p:nvPr/>
          </p:nvSpPr>
          <p:spPr bwMode="auto">
            <a:xfrm>
              <a:off x="6835348" y="3408363"/>
              <a:ext cx="5000625" cy="830997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dirty="0" smtClean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rPr>
                <a:t>注意</a:t>
              </a:r>
              <a:r>
                <a:rPr lang="zh-CN" altLang="en-US" sz="24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rPr>
                <a:t>：</a:t>
              </a:r>
              <a:r>
                <a:rPr lang="zh-CN" altLang="en-US" sz="2400" dirty="0" smtClean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rPr>
                <a:t>这个</a:t>
              </a:r>
              <a:r>
                <a:rPr lang="en-US" altLang="zh-CN" sz="2400" dirty="0" smtClean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rPr>
                <a:t>O(n) </a:t>
              </a:r>
              <a:r>
                <a:rPr lang="zh-CN" altLang="en-US" sz="2400" dirty="0" smtClean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rPr>
                <a:t>是“划分”</a:t>
              </a:r>
              <a:r>
                <a:rPr lang="en-US" altLang="zh-CN" sz="2400" dirty="0" smtClean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rPr>
                <a:t>(Partition)</a:t>
              </a:r>
              <a:r>
                <a:rPr lang="zh-CN" altLang="en-US" sz="2400" dirty="0" smtClean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rPr>
                <a:t>的</a:t>
              </a:r>
              <a:r>
                <a:rPr lang="zh-CN" altLang="en-US" sz="2400" dirty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rPr>
                <a:t>时间复杂</a:t>
              </a:r>
              <a:r>
                <a:rPr lang="zh-CN" altLang="en-US" sz="2400" dirty="0" smtClean="0">
                  <a:solidFill>
                    <a:srgbClr val="0070C0"/>
                  </a:solidFill>
                  <a:latin typeface="微软雅黑" pitchFamily="34" charset="-122"/>
                  <a:ea typeface="微软雅黑" pitchFamily="34" charset="-122"/>
                </a:rPr>
                <a:t>度</a:t>
              </a:r>
              <a:endParaRPr lang="zh-CN" altLang="en-US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 flipH="1" flipV="1">
              <a:off x="2955851" y="3253563"/>
              <a:ext cx="3879497" cy="35087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0368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  <a:r>
              <a:rPr lang="zh-CN" altLang="en-US" dirty="0" smtClean="0"/>
              <a:t>算法复杂性分析（最坏情况）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32</a:t>
            </a:fld>
            <a:endParaRPr lang="zh-CN" altLang="en-US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19674" y="5081318"/>
            <a:ext cx="84248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因此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“最坏情况”时间</a:t>
            </a:r>
            <a:r>
              <a:rPr lang="zh-CN" altLang="en-US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复杂度为</a:t>
            </a:r>
            <a:r>
              <a:rPr lang="en-US" altLang="zh-CN" sz="2800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(n</a:t>
            </a:r>
            <a:r>
              <a:rPr lang="en-US" altLang="zh-CN" sz="2800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。      </a:t>
            </a:r>
            <a:endParaRPr lang="zh-CN" altLang="en-US" sz="2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79231" y="1032044"/>
            <a:ext cx="11372592" cy="177638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4000"/>
              </a:lnSpc>
              <a:spcBef>
                <a:spcPct val="50000"/>
              </a:spcBef>
              <a:defRPr/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待排序记录序列为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正序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逆序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（划分产生的两个子问题分别包含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n-1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和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0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个元素时），</a:t>
            </a:r>
            <a:r>
              <a:rPr lang="zh-CN" altLang="en-US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每次划分只得到一个比上一次划分少一个记录的子序列（另一个子序列为空）。此时，必须经过 </a:t>
            </a:r>
            <a:r>
              <a:rPr lang="en-US" altLang="zh-CN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n-1 </a:t>
            </a:r>
            <a:r>
              <a:rPr lang="zh-CN" altLang="en-US" dirty="0" smtClean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次递归调用才能把所有记录定位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，而且第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趟划分需要经过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n-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次关键码的比较才能找到第 </a:t>
            </a:r>
            <a:r>
              <a:rPr lang="en-US" altLang="zh-CN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个记录的基准位置，因此，总的比较次数为：</a:t>
            </a:r>
          </a:p>
        </p:txBody>
      </p:sp>
      <p:graphicFrame>
        <p:nvGraphicFramePr>
          <p:cNvPr id="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2813787"/>
              </p:ext>
            </p:extLst>
          </p:nvPr>
        </p:nvGraphicFramePr>
        <p:xfrm>
          <a:off x="3778406" y="3112141"/>
          <a:ext cx="4968875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0" name="公式" r:id="rId3" imgW="1409088" imgH="317362" progId="Equation.3">
                  <p:embed/>
                </p:oleObj>
              </mc:Choice>
              <mc:Fallback>
                <p:oleObj name="公式" r:id="rId3" imgW="1409088" imgH="317362" progId="Equation.3">
                  <p:embed/>
                  <p:pic>
                    <p:nvPicPr>
                      <p:cNvPr id="12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406" y="3112141"/>
                        <a:ext cx="4968875" cy="1152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674" y="3116131"/>
            <a:ext cx="2855154" cy="1558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241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  <a:r>
              <a:rPr lang="zh-CN" altLang="en-US" dirty="0" smtClean="0"/>
              <a:t>算法复杂性分析（平均情况）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24116" y="1583061"/>
            <a:ext cx="106642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在平均情况下，设基准记录的轴值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第 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k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小</a:t>
            </a: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1≤k≤n</a:t>
            </a: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），则有：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824116" y="3867623"/>
            <a:ext cx="1066425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3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这</a:t>
            </a:r>
            <a:r>
              <a:rPr lang="zh-CN" altLang="en-US" sz="3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是快速排序的</a:t>
            </a:r>
            <a:r>
              <a:rPr lang="zh-CN" altLang="en-US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平均</a:t>
            </a:r>
            <a:r>
              <a:rPr lang="zh-CN" altLang="en-US" sz="3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时间复杂性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3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可以用归纳法证明，其数量级也为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O(nlog</a:t>
            </a:r>
            <a:r>
              <a:rPr lang="en-US" altLang="zh-CN" sz="3200" baseline="-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n)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。   </a:t>
            </a:r>
            <a:endParaRPr lang="zh-CN" altLang="en-US" sz="3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8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538437"/>
              </p:ext>
            </p:extLst>
          </p:nvPr>
        </p:nvGraphicFramePr>
        <p:xfrm>
          <a:off x="1201369" y="2424814"/>
          <a:ext cx="7687450" cy="1093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0" name="公式" r:id="rId3" imgW="3124200" imgH="406400" progId="Equation.3">
                  <p:embed/>
                </p:oleObj>
              </mc:Choice>
              <mc:Fallback>
                <p:oleObj name="公式" r:id="rId3" imgW="3124200" imgH="406400" progId="Equation.3">
                  <p:embed/>
                  <p:pic>
                    <p:nvPicPr>
                      <p:cNvPr id="96261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369" y="2424814"/>
                        <a:ext cx="7687450" cy="1093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794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</a:t>
            </a:r>
            <a:r>
              <a:rPr lang="zh-CN" altLang="en-US" dirty="0" smtClean="0"/>
              <a:t>算法的改进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74920" y="882525"/>
            <a:ext cx="10986977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快速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排序算法的性能取决于划分的对称性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。通过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修改函数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Partition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，可以设计 出采用随机选择策略的快速排序算法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ü"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快速排序算法的每一步中，当数组还没有被划分时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，可以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a[p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r]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中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随机选出一个元素作为划分基准，这样可以使划分基准的选择是随机的，从 而可以期望划分是较对称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。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679" y="3989643"/>
            <a:ext cx="5555729" cy="2158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488" y="3989643"/>
            <a:ext cx="5791200" cy="2581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017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快速排序的扩展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次序选择问题</a:t>
            </a:r>
            <a:endParaRPr lang="zh-CN" alt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59" y="820366"/>
            <a:ext cx="10214592" cy="5194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1049077" y="6110602"/>
            <a:ext cx="105829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https://www.ixigua.com/6852470382776025603?id=6852451853070762507&amp;logTag=fdd237b20bb74e31d34b</a:t>
            </a:r>
            <a:endParaRPr lang="zh-CN" altLang="en-US" dirty="0"/>
          </a:p>
        </p:txBody>
      </p:sp>
      <p:sp>
        <p:nvSpPr>
          <p:cNvPr id="6" name="圆角矩形标注 5"/>
          <p:cNvSpPr/>
          <p:nvPr/>
        </p:nvSpPr>
        <p:spPr bwMode="auto">
          <a:xfrm>
            <a:off x="7410891" y="2526240"/>
            <a:ext cx="3487481" cy="921814"/>
          </a:xfrm>
          <a:prstGeom prst="wedgeRoundRectCallout">
            <a:avLst>
              <a:gd name="adj1" fmla="val -85968"/>
              <a:gd name="adj2" fmla="val 108453"/>
              <a:gd name="adj3" fmla="val 16667"/>
            </a:avLst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kumimoji="0"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如果 </a:t>
            </a:r>
            <a:r>
              <a:rPr kumimoji="0"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k= n/2 </a:t>
            </a:r>
            <a:r>
              <a:rPr kumimoji="0"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，就是选择数组元素的“中位数”</a:t>
            </a:r>
            <a:endParaRPr kumimoji="0" lang="zh-CN" altLang="en-US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621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次序选择</a:t>
            </a:r>
            <a:r>
              <a:rPr lang="zh-CN" altLang="en-US" dirty="0" smtClean="0"/>
              <a:t>问题伪代码</a:t>
            </a:r>
            <a:endParaRPr lang="zh-CN" altLang="en-US" dirty="0"/>
          </a:p>
        </p:txBody>
      </p:sp>
      <p:pic>
        <p:nvPicPr>
          <p:cNvPr id="4" name="图片 3"/>
          <p:cNvPicPr/>
          <p:nvPr/>
        </p:nvPicPr>
        <p:blipFill>
          <a:blip r:embed="rId2"/>
          <a:stretch>
            <a:fillRect/>
          </a:stretch>
        </p:blipFill>
        <p:spPr>
          <a:xfrm>
            <a:off x="956930" y="956930"/>
            <a:ext cx="10005237" cy="570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0987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排序算法的稳定性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96742" y="889033"/>
            <a:ext cx="8402709" cy="224305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稳定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排序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就是保证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排序前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两个相等的数据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其在序列中的先后位置顺序与排序后它们两个先后位置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顺序相同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。</a:t>
            </a:r>
            <a:endParaRPr lang="en-US" altLang="zh-CN" sz="2400" dirty="0" smtClean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即如果A</a:t>
            </a:r>
            <a:r>
              <a:rPr lang="zh-CN" altLang="en-US" sz="2400" baseline="-250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==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，A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原来在 A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j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位置前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，则排序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后 A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仍然是在 A</a:t>
            </a:r>
            <a:r>
              <a:rPr lang="zh-CN" altLang="en-US" sz="2400" baseline="-250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j 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位置前。</a:t>
            </a:r>
          </a:p>
        </p:txBody>
      </p:sp>
      <p:pic>
        <p:nvPicPr>
          <p:cNvPr id="8" name="Picture 2" descr="http://upload.wikimedia.org/wikipedia/commons/thumb/8/82/Sorting_stability_playing_cards.svg/220px-Sorting_stability_playing_cards.svg.png?_=36598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5286" y="661362"/>
            <a:ext cx="2857607" cy="4715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96742" y="3364206"/>
            <a:ext cx="8395621" cy="2439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100"/>
              </a:lnSpc>
            </a:pPr>
            <a:r>
              <a:rPr lang="zh-CN" altLang="en-US" sz="2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合并排序</a:t>
            </a:r>
            <a:r>
              <a:rPr lang="zh-CN" altLang="en-US" sz="22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快速排序</a:t>
            </a:r>
            <a:r>
              <a:rPr lang="zh-CN" altLang="en-US" sz="22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一样都是时间复杂度为</a:t>
            </a:r>
            <a:r>
              <a:rPr lang="zh-CN" altLang="en-US" sz="2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nl</a:t>
            </a:r>
            <a:r>
              <a:rPr lang="en-US" altLang="zh-CN" sz="2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o</a:t>
            </a:r>
            <a:r>
              <a:rPr lang="zh-CN" altLang="en-US" sz="22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gn</a:t>
            </a:r>
            <a:r>
              <a:rPr lang="zh-CN" altLang="en-US" sz="22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的算法，但是和快速排序相比，</a:t>
            </a:r>
            <a:r>
              <a:rPr lang="zh-CN" altLang="en-US" sz="2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合并排序是一种“</a:t>
            </a:r>
            <a:r>
              <a:rPr lang="zh-CN" altLang="en-US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稳定性”</a:t>
            </a:r>
            <a:r>
              <a:rPr lang="zh-CN" altLang="en-US" sz="2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排序，</a:t>
            </a:r>
            <a:r>
              <a:rPr lang="zh-CN" altLang="en-US" sz="22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也就是说排序关键字相等的两个元素在整个序列排序的前后，相对位置不会发生变化，这一特性使得合并排序是稳定性排序中效率最高的一个</a:t>
            </a:r>
            <a:r>
              <a:rPr lang="zh-CN" altLang="en-US" sz="220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en-US" altLang="zh-CN" sz="22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ts val="3100"/>
              </a:lnSpc>
            </a:pPr>
            <a:r>
              <a:rPr lang="zh-CN" altLang="en-US" sz="22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快速</a:t>
            </a:r>
            <a:r>
              <a:rPr lang="zh-CN" altLang="en-US" sz="2200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排序</a:t>
            </a:r>
            <a:r>
              <a:rPr lang="zh-CN" altLang="en-US" sz="220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是</a:t>
            </a:r>
            <a:r>
              <a:rPr lang="zh-CN" altLang="en-US" sz="22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一</a:t>
            </a:r>
            <a:r>
              <a:rPr lang="zh-CN" altLang="en-US" sz="220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种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非稳定排序</a:t>
            </a:r>
            <a:r>
              <a:rPr lang="zh-CN" altLang="en-US" sz="2200" dirty="0" smtClean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zh-CN" altLang="en-US" sz="2200" dirty="0">
                <a:solidFill>
                  <a:srgbClr val="002060"/>
                </a:solidFill>
                <a:latin typeface="微软雅黑" pitchFamily="34" charset="-122"/>
                <a:ea typeface="微软雅黑" pitchFamily="34" charset="-122"/>
              </a:rPr>
              <a:t>在很多编程语言中，对数组，列表进行的“非稳定”排序在内部实现中都使用的是快速排序。</a:t>
            </a:r>
          </a:p>
        </p:txBody>
      </p:sp>
    </p:spTree>
    <p:extLst>
      <p:ext uri="{BB962C8B-B14F-4D97-AF65-F5344CB8AC3E}">
        <p14:creationId xmlns:p14="http://schemas.microsoft.com/office/powerpoint/2010/main" val="277461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排序算法</a:t>
            </a:r>
            <a:r>
              <a:rPr lang="zh-CN" altLang="en-US" dirty="0" smtClean="0"/>
              <a:t>比较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38</a:t>
            </a:fld>
            <a:endParaRPr lang="zh-CN" altLang="en-US"/>
          </a:p>
        </p:txBody>
      </p:sp>
      <p:pic>
        <p:nvPicPr>
          <p:cNvPr id="5" name="Picture 2" descr="http://images.cnitblog.com/blog/512692/201304/12095757-775cf861406644bfad60ff2763f499e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51" y="1187286"/>
            <a:ext cx="11962517" cy="455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 bwMode="auto">
          <a:xfrm>
            <a:off x="308341" y="3496335"/>
            <a:ext cx="11302412" cy="36150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algn="ctr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kumimoji="0" lang="zh-CN" altLang="en-US" b="1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矩形 7"/>
          <p:cNvSpPr/>
          <p:nvPr/>
        </p:nvSpPr>
        <p:spPr bwMode="auto">
          <a:xfrm>
            <a:off x="308340" y="4839581"/>
            <a:ext cx="11302413" cy="36150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algn="ctr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kumimoji="0" lang="zh-CN" altLang="en-US" b="1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772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2.4 </a:t>
            </a:r>
            <a:r>
              <a:rPr lang="zh-CN" altLang="en-US" dirty="0" smtClean="0"/>
              <a:t>棋盘覆盖问题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260653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06366" y="1318085"/>
            <a:ext cx="10661515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在一个</a:t>
            </a:r>
            <a:r>
              <a:rPr lang="en-US" altLang="zh-CN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600" baseline="30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×2</a:t>
            </a:r>
            <a:r>
              <a:rPr lang="en-US" altLang="zh-CN" sz="2600" baseline="30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k</a:t>
            </a:r>
            <a:r>
              <a:rPr lang="en-US" altLang="zh-CN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k≥0</a:t>
            </a:r>
            <a:r>
              <a:rPr lang="zh-CN" altLang="en-US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）个方格组成的棋盘中，恰有一个方格与其他方格不同（图</a:t>
            </a:r>
            <a:r>
              <a:rPr lang="en-US" altLang="zh-CN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），称该方格为特殊方格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。棋盘</a:t>
            </a:r>
            <a:r>
              <a:rPr lang="zh-CN" altLang="en-US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覆盖问题要求用图</a:t>
            </a:r>
            <a:r>
              <a:rPr lang="en-US" altLang="zh-CN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所示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种</a:t>
            </a:r>
            <a:r>
              <a:rPr lang="zh-CN" altLang="en-US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不同形状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 </a:t>
            </a:r>
            <a:r>
              <a:rPr lang="en-US" altLang="zh-CN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L 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</a:t>
            </a:r>
            <a:r>
              <a:rPr lang="zh-CN" altLang="en-US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骨牌覆盖给定棋盘上除特殊方格以外的所有方格，且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任何 </a:t>
            </a:r>
            <a:r>
              <a:rPr lang="en-US" altLang="zh-CN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个 </a:t>
            </a:r>
            <a:r>
              <a:rPr lang="en-US" altLang="zh-CN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L </a:t>
            </a:r>
            <a:r>
              <a:rPr lang="zh-CN" altLang="en-US" sz="26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</a:t>
            </a:r>
            <a:r>
              <a:rPr lang="zh-CN" altLang="en-US" sz="26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骨牌不得重叠覆盖。</a:t>
            </a:r>
          </a:p>
        </p:txBody>
      </p: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1397274" y="3507352"/>
            <a:ext cx="1697037" cy="1584325"/>
            <a:chOff x="937" y="2624"/>
            <a:chExt cx="880" cy="771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939" y="2624"/>
              <a:ext cx="878" cy="7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937" y="3024"/>
              <a:ext cx="87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1380" y="2624"/>
              <a:ext cx="0" cy="7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1153" y="2624"/>
              <a:ext cx="0" cy="7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1597" y="2624"/>
              <a:ext cx="0" cy="7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937" y="2824"/>
              <a:ext cx="87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937" y="3209"/>
              <a:ext cx="87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1159" y="2629"/>
              <a:ext cx="220" cy="193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7" name="Group 28"/>
          <p:cNvGrpSpPr>
            <a:grpSpLocks/>
          </p:cNvGrpSpPr>
          <p:nvPr/>
        </p:nvGrpSpPr>
        <p:grpSpPr bwMode="auto">
          <a:xfrm>
            <a:off x="4482113" y="3444487"/>
            <a:ext cx="2808287" cy="1674813"/>
            <a:chOff x="2472" y="2523"/>
            <a:chExt cx="1769" cy="1055"/>
          </a:xfrm>
        </p:grpSpPr>
        <p:sp>
          <p:nvSpPr>
            <p:cNvPr id="18" name="Text Box 13"/>
            <p:cNvSpPr txBox="1">
              <a:spLocks noChangeArrowheads="1"/>
            </p:cNvSpPr>
            <p:nvPr/>
          </p:nvSpPr>
          <p:spPr bwMode="auto">
            <a:xfrm>
              <a:off x="2472" y="2529"/>
              <a:ext cx="266" cy="4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9" name="Text Box 14"/>
            <p:cNvSpPr txBox="1">
              <a:spLocks noChangeArrowheads="1"/>
            </p:cNvSpPr>
            <p:nvPr/>
          </p:nvSpPr>
          <p:spPr bwMode="auto">
            <a:xfrm>
              <a:off x="2473" y="2778"/>
              <a:ext cx="533" cy="2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2737" y="2774"/>
              <a:ext cx="0" cy="2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2741" y="3085"/>
              <a:ext cx="267" cy="4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2474" y="3330"/>
              <a:ext cx="533" cy="24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Line 18"/>
            <p:cNvSpPr>
              <a:spLocks noChangeShapeType="1"/>
            </p:cNvSpPr>
            <p:nvPr/>
          </p:nvSpPr>
          <p:spPr bwMode="auto">
            <a:xfrm>
              <a:off x="2744" y="3328"/>
              <a:ext cx="0" cy="2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19"/>
            <p:cNvSpPr txBox="1">
              <a:spLocks noChangeArrowheads="1"/>
            </p:cNvSpPr>
            <p:nvPr/>
          </p:nvSpPr>
          <p:spPr bwMode="auto">
            <a:xfrm>
              <a:off x="3694" y="2526"/>
              <a:ext cx="267" cy="4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3684" y="2523"/>
              <a:ext cx="533" cy="2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3958" y="2527"/>
              <a:ext cx="0" cy="2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Box 22"/>
            <p:cNvSpPr txBox="1">
              <a:spLocks noChangeArrowheads="1"/>
            </p:cNvSpPr>
            <p:nvPr/>
          </p:nvSpPr>
          <p:spPr bwMode="auto">
            <a:xfrm>
              <a:off x="3973" y="3087"/>
              <a:ext cx="267" cy="4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Text Box 23"/>
            <p:cNvSpPr txBox="1">
              <a:spLocks noChangeArrowheads="1"/>
            </p:cNvSpPr>
            <p:nvPr/>
          </p:nvSpPr>
          <p:spPr bwMode="auto">
            <a:xfrm>
              <a:off x="3708" y="3087"/>
              <a:ext cx="533" cy="24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zh-CN" sz="1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3966" y="3082"/>
              <a:ext cx="0" cy="2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" name="Text Box 25"/>
          <p:cNvSpPr txBox="1">
            <a:spLocks noChangeArrowheads="1"/>
          </p:cNvSpPr>
          <p:nvPr/>
        </p:nvSpPr>
        <p:spPr bwMode="auto">
          <a:xfrm>
            <a:off x="956317" y="5410952"/>
            <a:ext cx="69119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(a) k=2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时的一种棋盘               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(b)  4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种不同形状的</a:t>
            </a:r>
            <a:r>
              <a:rPr lang="en-US" altLang="zh-CN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L</a:t>
            </a:r>
            <a:r>
              <a:rPr lang="zh-CN" altLang="en-US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型骨牌</a:t>
            </a:r>
          </a:p>
        </p:txBody>
      </p: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787940" y="877686"/>
            <a:ext cx="18856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[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问题描述</a:t>
            </a:r>
            <a:r>
              <a:rPr lang="en-US" altLang="zh-CN" b="1" dirty="0">
                <a:latin typeface="微软雅黑" pitchFamily="34" charset="-122"/>
                <a:ea typeface="微软雅黑" pitchFamily="34" charset="-122"/>
              </a:rPr>
              <a:t>]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8164207" y="2993045"/>
            <a:ext cx="3154817" cy="2836475"/>
            <a:chOff x="8164207" y="2993045"/>
            <a:chExt cx="3154817" cy="2836475"/>
          </a:xfrm>
        </p:grpSpPr>
        <p:graphicFrame>
          <p:nvGraphicFramePr>
            <p:cNvPr id="32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1726758"/>
                </p:ext>
              </p:extLst>
            </p:nvPr>
          </p:nvGraphicFramePr>
          <p:xfrm>
            <a:off x="8164207" y="2993045"/>
            <a:ext cx="3154817" cy="26108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518" name="BMP 图象" r:id="rId3" imgW="1762371" imgH="1448002" progId="Paint.Picture">
                    <p:embed/>
                  </p:oleObj>
                </mc:Choice>
                <mc:Fallback>
                  <p:oleObj name="BMP 图象" r:id="rId3" imgW="1762371" imgH="1448002" progId="Paint.Picture">
                    <p:embed/>
                    <p:pic>
                      <p:nvPicPr>
                        <p:cNvPr id="10251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4207" y="2993045"/>
                          <a:ext cx="3154817" cy="26108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TextBox 2"/>
            <p:cNvSpPr txBox="1"/>
            <p:nvPr/>
          </p:nvSpPr>
          <p:spPr>
            <a:xfrm>
              <a:off x="8708066" y="5429410"/>
              <a:ext cx="22541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 smtClean="0">
                  <a:latin typeface="微软雅黑" pitchFamily="34" charset="-122"/>
                  <a:ea typeface="微软雅黑" pitchFamily="34" charset="-122"/>
                </a:rPr>
                <a:t>黑色为特殊方格</a:t>
              </a:r>
              <a:endParaRPr lang="zh-CN" altLang="en-US" sz="2000" dirty="0"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5851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</a:t>
            </a:r>
            <a:r>
              <a:rPr lang="zh-CN" altLang="en-US" dirty="0" smtClean="0"/>
              <a:t>覆盖问题分析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33400" y="770816"/>
            <a:ext cx="10721502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分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治法求解棋盘覆盖问题的技巧在于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划分棋盘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，使划分后的子棋盘的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大小相同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，并且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每个子棋盘均包含一个特殊方格</a:t>
            </a: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，从而将原问题分解为规模较小的棋盘覆盖问题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。当棋盘缩小成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*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1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时，则问题可直接求解。       </a:t>
            </a:r>
            <a:endParaRPr lang="zh-CN" altLang="en-US" sz="2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520045"/>
              </p:ext>
            </p:extLst>
          </p:nvPr>
        </p:nvGraphicFramePr>
        <p:xfrm>
          <a:off x="3617335" y="2405396"/>
          <a:ext cx="4752975" cy="393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42" name="BMP 图象" r:id="rId3" imgW="1762371" imgH="1448002" progId="Paint.Picture">
                  <p:embed/>
                </p:oleObj>
              </mc:Choice>
              <mc:Fallback>
                <p:oleObj name="BMP 图象" r:id="rId3" imgW="1762371" imgH="1448002" progId="Paint.Picture">
                  <p:embed/>
                  <p:pic>
                    <p:nvPicPr>
                      <p:cNvPr id="1229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7335" y="2405396"/>
                        <a:ext cx="4752975" cy="3933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793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</a:t>
            </a:r>
            <a:r>
              <a:rPr lang="zh-CN" altLang="en-US" dirty="0" smtClean="0"/>
              <a:t>分析（续）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94152" y="684444"/>
            <a:ext cx="11318620" cy="1421928"/>
          </a:xfrm>
          <a:prstGeom prst="rect">
            <a:avLst/>
          </a:prstGeom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defRPr/>
            </a:pP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    k&gt;1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时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，可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将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400" baseline="30000" dirty="0" smtClean="0"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×2</a:t>
            </a:r>
            <a:r>
              <a:rPr lang="en-US" altLang="zh-CN" sz="2400" baseline="30000" dirty="0" smtClean="0">
                <a:latin typeface="微软雅黑" pitchFamily="34" charset="-122"/>
                <a:ea typeface="微软雅黑" pitchFamily="34" charset="-122"/>
              </a:rPr>
              <a:t>k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棋盘划分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为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个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400" baseline="30000" dirty="0" smtClean="0">
                <a:latin typeface="微软雅黑" pitchFamily="34" charset="-122"/>
                <a:ea typeface="微软雅黑" pitchFamily="34" charset="-122"/>
              </a:rPr>
              <a:t>k-1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×2</a:t>
            </a:r>
            <a:r>
              <a:rPr lang="en-US" altLang="zh-CN" sz="2400" baseline="30000" dirty="0" smtClean="0">
                <a:latin typeface="微软雅黑" pitchFamily="34" charset="-122"/>
                <a:ea typeface="微软雅黑" pitchFamily="34" charset="-122"/>
              </a:rPr>
              <a:t>k-1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子棋盘，这样划分后，由于原棋盘只有一个特殊方格，所以，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这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个子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棋盘中只有一个子棋盘包含该特殊方格，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其余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个子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棋盘中没有特殊方格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。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1909286" y="3568539"/>
            <a:ext cx="8071081" cy="3061494"/>
            <a:chOff x="1739158" y="3536640"/>
            <a:chExt cx="8071081" cy="3061494"/>
          </a:xfrm>
        </p:grpSpPr>
        <p:grpSp>
          <p:nvGrpSpPr>
            <p:cNvPr id="23" name="组合 22"/>
            <p:cNvGrpSpPr/>
            <p:nvPr/>
          </p:nvGrpSpPr>
          <p:grpSpPr>
            <a:xfrm>
              <a:off x="1739158" y="3536640"/>
              <a:ext cx="2795588" cy="2624138"/>
              <a:chOff x="1187450" y="3571875"/>
              <a:chExt cx="2795588" cy="2624138"/>
            </a:xfrm>
          </p:grpSpPr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1208088" y="3571875"/>
                <a:ext cx="2774950" cy="26225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" name="Line 5"/>
              <p:cNvSpPr>
                <a:spLocks noChangeShapeType="1"/>
              </p:cNvSpPr>
              <p:nvPr/>
            </p:nvSpPr>
            <p:spPr bwMode="auto">
              <a:xfrm flipV="1">
                <a:off x="1187450" y="4826000"/>
                <a:ext cx="27749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Line 6"/>
              <p:cNvSpPr>
                <a:spLocks noChangeShapeType="1"/>
              </p:cNvSpPr>
              <p:nvPr/>
            </p:nvSpPr>
            <p:spPr bwMode="auto">
              <a:xfrm>
                <a:off x="2595563" y="3575050"/>
                <a:ext cx="3175" cy="26209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Text Box 7"/>
              <p:cNvSpPr txBox="1">
                <a:spLocks noChangeArrowheads="1"/>
              </p:cNvSpPr>
              <p:nvPr/>
            </p:nvSpPr>
            <p:spPr bwMode="auto">
              <a:xfrm>
                <a:off x="2770188" y="3992563"/>
                <a:ext cx="1085850" cy="4032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×2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Text Box 8"/>
              <p:cNvSpPr txBox="1">
                <a:spLocks noChangeArrowheads="1"/>
              </p:cNvSpPr>
              <p:nvPr/>
            </p:nvSpPr>
            <p:spPr bwMode="auto">
              <a:xfrm>
                <a:off x="1362075" y="3992563"/>
                <a:ext cx="1114425" cy="4032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×2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Text Box 9"/>
              <p:cNvSpPr txBox="1">
                <a:spLocks noChangeArrowheads="1"/>
              </p:cNvSpPr>
              <p:nvPr/>
            </p:nvSpPr>
            <p:spPr bwMode="auto">
              <a:xfrm>
                <a:off x="2722563" y="5311775"/>
                <a:ext cx="1133475" cy="4032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×2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Text Box 10"/>
              <p:cNvSpPr txBox="1">
                <a:spLocks noChangeArrowheads="1"/>
              </p:cNvSpPr>
              <p:nvPr/>
            </p:nvSpPr>
            <p:spPr bwMode="auto">
              <a:xfrm>
                <a:off x="1362075" y="5311775"/>
                <a:ext cx="1144588" cy="40322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×2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Text Box 17"/>
              <p:cNvSpPr txBox="1">
                <a:spLocks noChangeArrowheads="1"/>
              </p:cNvSpPr>
              <p:nvPr/>
            </p:nvSpPr>
            <p:spPr bwMode="auto">
              <a:xfrm>
                <a:off x="1665288" y="4395788"/>
                <a:ext cx="452437" cy="423862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" name="组合 2"/>
            <p:cNvGrpSpPr/>
            <p:nvPr/>
          </p:nvGrpSpPr>
          <p:grpSpPr>
            <a:xfrm>
              <a:off x="6626277" y="3536640"/>
              <a:ext cx="2774950" cy="2624138"/>
              <a:chOff x="4849813" y="3590925"/>
              <a:chExt cx="2774950" cy="2624138"/>
            </a:xfrm>
          </p:grpSpPr>
          <p:sp>
            <p:nvSpPr>
              <p:cNvPr id="12" name="Rectangle 11"/>
              <p:cNvSpPr>
                <a:spLocks noChangeArrowheads="1"/>
              </p:cNvSpPr>
              <p:nvPr/>
            </p:nvSpPr>
            <p:spPr bwMode="auto">
              <a:xfrm>
                <a:off x="4849813" y="3590925"/>
                <a:ext cx="2774950" cy="2620963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Line 12"/>
              <p:cNvSpPr>
                <a:spLocks noChangeShapeType="1"/>
              </p:cNvSpPr>
              <p:nvPr/>
            </p:nvSpPr>
            <p:spPr bwMode="auto">
              <a:xfrm>
                <a:off x="6237288" y="3592513"/>
                <a:ext cx="3175" cy="262255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Text Box 13"/>
              <p:cNvSpPr txBox="1">
                <a:spLocks noChangeArrowheads="1"/>
              </p:cNvSpPr>
              <p:nvPr/>
            </p:nvSpPr>
            <p:spPr bwMode="auto">
              <a:xfrm>
                <a:off x="5340350" y="4451350"/>
                <a:ext cx="449263" cy="423863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Text Box 14"/>
              <p:cNvSpPr txBox="1">
                <a:spLocks noChangeArrowheads="1"/>
              </p:cNvSpPr>
              <p:nvPr/>
            </p:nvSpPr>
            <p:spPr bwMode="auto">
              <a:xfrm>
                <a:off x="5783263" y="4894263"/>
                <a:ext cx="450850" cy="42386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Text Box 15"/>
              <p:cNvSpPr txBox="1">
                <a:spLocks noChangeArrowheads="1"/>
              </p:cNvSpPr>
              <p:nvPr/>
            </p:nvSpPr>
            <p:spPr bwMode="auto">
              <a:xfrm>
                <a:off x="6257925" y="4881563"/>
                <a:ext cx="452438" cy="42386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Text Box 16"/>
              <p:cNvSpPr txBox="1">
                <a:spLocks noChangeArrowheads="1"/>
              </p:cNvSpPr>
              <p:nvPr/>
            </p:nvSpPr>
            <p:spPr bwMode="auto">
              <a:xfrm>
                <a:off x="6257925" y="4448175"/>
                <a:ext cx="452438" cy="42386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Line 18"/>
              <p:cNvSpPr>
                <a:spLocks noChangeShapeType="1"/>
              </p:cNvSpPr>
              <p:nvPr/>
            </p:nvSpPr>
            <p:spPr bwMode="auto">
              <a:xfrm flipV="1">
                <a:off x="4849813" y="4887913"/>
                <a:ext cx="277495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2" name="Text Box 20"/>
            <p:cNvSpPr txBox="1">
              <a:spLocks noChangeArrowheads="1"/>
            </p:cNvSpPr>
            <p:nvPr/>
          </p:nvSpPr>
          <p:spPr bwMode="auto">
            <a:xfrm>
              <a:off x="2105933" y="6309209"/>
              <a:ext cx="7704306" cy="288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(a)</a:t>
              </a:r>
              <a:r>
                <a:rPr lang="zh-CN" altLang="en-US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棋盘分割                        </a:t>
              </a:r>
              <a:r>
                <a:rPr lang="zh-CN" altLang="en-US" dirty="0" smtClean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                      </a:t>
              </a:r>
              <a:r>
                <a:rPr lang="en-US" altLang="zh-CN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(b) </a:t>
              </a:r>
              <a:r>
                <a:rPr lang="zh-CN" altLang="en-US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构造相同子问题</a:t>
              </a:r>
            </a:p>
          </p:txBody>
        </p:sp>
      </p:grpSp>
      <p:sp>
        <p:nvSpPr>
          <p:cNvPr id="20" name="矩形 19"/>
          <p:cNvSpPr/>
          <p:nvPr/>
        </p:nvSpPr>
        <p:spPr>
          <a:xfrm>
            <a:off x="494152" y="2040153"/>
            <a:ext cx="1131862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defRPr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      为了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将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这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没有特殊方格的子棋盘转化为特殊棋盘，以便采用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</a:rPr>
              <a:t>递归法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求解，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可以用一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型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骨牌覆盖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这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较小棋盘的会合处，从而将原问题转化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为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4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较小规模的棋盘覆盖问题。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递归地使用这种划分策略，直至将棋盘分割为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1×1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</a:rPr>
              <a:t>的子棋盘。</a:t>
            </a:r>
          </a:p>
        </p:txBody>
      </p:sp>
    </p:spTree>
    <p:extLst>
      <p:ext uri="{BB962C8B-B14F-4D97-AF65-F5344CB8AC3E}">
        <p14:creationId xmlns:p14="http://schemas.microsoft.com/office/powerpoint/2010/main" val="426387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棋盘覆盖问题分析（续）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0909005" y="6356350"/>
            <a:ext cx="444794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42</a:t>
            </a:fld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2718351" y="3386606"/>
            <a:ext cx="6437313" cy="3359418"/>
            <a:chOff x="2388728" y="3248377"/>
            <a:chExt cx="6437313" cy="3359418"/>
          </a:xfrm>
        </p:grpSpPr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2388728" y="3248377"/>
              <a:ext cx="6437313" cy="2643188"/>
              <a:chOff x="639" y="2641"/>
              <a:chExt cx="2181" cy="866"/>
            </a:xfrm>
          </p:grpSpPr>
          <p:sp>
            <p:nvSpPr>
              <p:cNvPr id="6" name="Rectangle 4"/>
              <p:cNvSpPr>
                <a:spLocks noChangeArrowheads="1"/>
              </p:cNvSpPr>
              <p:nvPr/>
            </p:nvSpPr>
            <p:spPr bwMode="auto">
              <a:xfrm>
                <a:off x="646" y="2641"/>
                <a:ext cx="940" cy="85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7" name="Line 5"/>
              <p:cNvSpPr>
                <a:spLocks noChangeShapeType="1"/>
              </p:cNvSpPr>
              <p:nvPr/>
            </p:nvSpPr>
            <p:spPr bwMode="auto">
              <a:xfrm flipV="1">
                <a:off x="639" y="3052"/>
                <a:ext cx="9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1116" y="2642"/>
                <a:ext cx="1" cy="8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Text Box 7"/>
              <p:cNvSpPr txBox="1">
                <a:spLocks noChangeArrowheads="1"/>
              </p:cNvSpPr>
              <p:nvPr/>
            </p:nvSpPr>
            <p:spPr bwMode="auto">
              <a:xfrm>
                <a:off x="1175" y="2779"/>
                <a:ext cx="368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×2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Text Box 8"/>
              <p:cNvSpPr txBox="1">
                <a:spLocks noChangeArrowheads="1"/>
              </p:cNvSpPr>
              <p:nvPr/>
            </p:nvSpPr>
            <p:spPr bwMode="auto">
              <a:xfrm>
                <a:off x="698" y="2779"/>
                <a:ext cx="378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×2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Text Box 9"/>
              <p:cNvSpPr txBox="1">
                <a:spLocks noChangeArrowheads="1"/>
              </p:cNvSpPr>
              <p:nvPr/>
            </p:nvSpPr>
            <p:spPr bwMode="auto">
              <a:xfrm>
                <a:off x="1159" y="3211"/>
                <a:ext cx="384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×2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Text Box 10"/>
              <p:cNvSpPr txBox="1">
                <a:spLocks noChangeArrowheads="1"/>
              </p:cNvSpPr>
              <p:nvPr/>
            </p:nvSpPr>
            <p:spPr bwMode="auto">
              <a:xfrm>
                <a:off x="698" y="3211"/>
                <a:ext cx="388" cy="1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r>
                  <a:rPr lang="en-US" altLang="zh-CN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×2</a:t>
                </a:r>
                <a:r>
                  <a:rPr lang="en-US" altLang="zh-CN" i="1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k</a:t>
                </a:r>
                <a:r>
                  <a:rPr lang="en-US" altLang="zh-CN" baseline="30000">
                    <a:solidFill>
                      <a:schemeClr val="tx1"/>
                    </a:solidFill>
                    <a:latin typeface="Times New Roman" panose="02020603050405020304" pitchFamily="18" charset="0"/>
                  </a:rPr>
                  <a:t>-1</a:t>
                </a:r>
                <a:endParaRPr lang="en-US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/>
            </p:nvSpPr>
            <p:spPr bwMode="auto">
              <a:xfrm>
                <a:off x="1880" y="2647"/>
                <a:ext cx="940" cy="859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2350" y="2648"/>
                <a:ext cx="1" cy="85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Text Box 13"/>
              <p:cNvSpPr txBox="1">
                <a:spLocks noChangeArrowheads="1"/>
              </p:cNvSpPr>
              <p:nvPr/>
            </p:nvSpPr>
            <p:spPr bwMode="auto">
              <a:xfrm>
                <a:off x="2046" y="2929"/>
                <a:ext cx="152" cy="139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Text Box 14"/>
              <p:cNvSpPr txBox="1">
                <a:spLocks noChangeArrowheads="1"/>
              </p:cNvSpPr>
              <p:nvPr/>
            </p:nvSpPr>
            <p:spPr bwMode="auto">
              <a:xfrm>
                <a:off x="2196" y="3074"/>
                <a:ext cx="153" cy="13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Text Box 15"/>
              <p:cNvSpPr txBox="1">
                <a:spLocks noChangeArrowheads="1"/>
              </p:cNvSpPr>
              <p:nvPr/>
            </p:nvSpPr>
            <p:spPr bwMode="auto">
              <a:xfrm>
                <a:off x="2357" y="3070"/>
                <a:ext cx="153" cy="13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" name="Text Box 16"/>
              <p:cNvSpPr txBox="1">
                <a:spLocks noChangeArrowheads="1"/>
              </p:cNvSpPr>
              <p:nvPr/>
            </p:nvSpPr>
            <p:spPr bwMode="auto">
              <a:xfrm>
                <a:off x="2357" y="2928"/>
                <a:ext cx="153" cy="13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" name="Text Box 17"/>
              <p:cNvSpPr txBox="1">
                <a:spLocks noChangeArrowheads="1"/>
              </p:cNvSpPr>
              <p:nvPr/>
            </p:nvSpPr>
            <p:spPr bwMode="auto">
              <a:xfrm>
                <a:off x="801" y="2911"/>
                <a:ext cx="153" cy="139"/>
              </a:xfrm>
              <a:prstGeom prst="rect">
                <a:avLst/>
              </a:prstGeom>
              <a:solidFill>
                <a:srgbClr val="C0C0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zh-CN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" name="Line 18"/>
              <p:cNvSpPr>
                <a:spLocks noChangeShapeType="1"/>
              </p:cNvSpPr>
              <p:nvPr/>
            </p:nvSpPr>
            <p:spPr bwMode="auto">
              <a:xfrm flipV="1">
                <a:off x="1880" y="3072"/>
                <a:ext cx="94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3038109" y="6029945"/>
              <a:ext cx="5786438" cy="577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(a)</a:t>
              </a:r>
              <a:r>
                <a:rPr lang="zh-CN" altLang="en-US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棋盘分割                           </a:t>
              </a:r>
              <a:r>
                <a:rPr lang="en-US" altLang="zh-CN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(b) </a:t>
              </a:r>
              <a:r>
                <a:rPr lang="zh-CN" altLang="en-US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构造相同子问题</a:t>
              </a:r>
            </a:p>
          </p:txBody>
        </p:sp>
      </p:grpSp>
      <p:sp>
        <p:nvSpPr>
          <p:cNvPr id="22" name="矩形 1"/>
          <p:cNvSpPr>
            <a:spLocks noChangeArrowheads="1"/>
          </p:cNvSpPr>
          <p:nvPr/>
        </p:nvSpPr>
        <p:spPr bwMode="auto">
          <a:xfrm>
            <a:off x="369036" y="757133"/>
            <a:ext cx="115389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 每次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都对分割后的四个小方块进行判断，判断特殊方格是否在里面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。判断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的方法是每次先记录下整个大方块的左上角（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top left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corner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）方格的行列坐标，然后再与特殊方格坐标进行比较，就可以知道特殊方格是否在该块中</a:t>
            </a: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。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  </a:t>
            </a:r>
            <a:endParaRPr lang="zh-CN" altLang="en-US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07291" y="1978375"/>
            <a:ext cx="114624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如果特殊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方格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在某小方块里面，则直接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递归下去求即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可；如果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不在，则根据分割的四个方块的不同位置，把右下角、左下角、右上角或者左上角的方格标记为特殊方块，然后继续递归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16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</a:t>
            </a:r>
            <a:r>
              <a:rPr lang="zh-CN" altLang="en-US" dirty="0" smtClean="0"/>
              <a:t>算法演示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6" name="Rectangle 4"/>
          <p:cNvSpPr txBox="1">
            <a:spLocks/>
          </p:cNvSpPr>
          <p:nvPr/>
        </p:nvSpPr>
        <p:spPr bwMode="auto">
          <a:xfrm>
            <a:off x="900113" y="941702"/>
            <a:ext cx="4608512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rIns="0"/>
          <a:lstStyle>
            <a:lvl1pPr marL="90488" indent="-90488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buFont typeface="Arial" panose="020B0604020202020204" pitchFamily="34" charset="0"/>
              <a:buNone/>
            </a:pPr>
            <a:r>
              <a:rPr kumimoji="0" lang="zh-CN" altLang="en-US" sz="2800" dirty="0">
                <a:latin typeface="微软雅黑" pitchFamily="34" charset="-122"/>
                <a:ea typeface="微软雅黑" pitchFamily="34" charset="-122"/>
              </a:rPr>
              <a:t>如下棋盘中有一个特殊方格</a:t>
            </a:r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909639" y="1542773"/>
            <a:ext cx="4613275" cy="4606925"/>
            <a:chOff x="0" y="0"/>
            <a:chExt cx="2906" cy="2903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1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545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83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64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727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271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909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1090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1452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1996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1634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1815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2178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2722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2360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2541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0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544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182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363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726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1270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908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1089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1451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1995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1633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1814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2177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2721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2359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2540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2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546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184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365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728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1272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910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1091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1453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1997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Rectangle 48"/>
            <p:cNvSpPr>
              <a:spLocks noChangeArrowheads="1"/>
            </p:cNvSpPr>
            <p:nvPr/>
          </p:nvSpPr>
          <p:spPr bwMode="auto">
            <a:xfrm>
              <a:off x="1635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1816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2179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2723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auto">
            <a:xfrm>
              <a:off x="2361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2542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1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545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183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364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727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1271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909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1090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auto">
            <a:xfrm>
              <a:off x="1452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1996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Rectangle 64"/>
            <p:cNvSpPr>
              <a:spLocks noChangeArrowheads="1"/>
            </p:cNvSpPr>
            <p:nvPr/>
          </p:nvSpPr>
          <p:spPr bwMode="auto">
            <a:xfrm>
              <a:off x="1634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1815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>
              <a:off x="2178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Rectangle 67"/>
            <p:cNvSpPr>
              <a:spLocks noChangeArrowheads="1"/>
            </p:cNvSpPr>
            <p:nvPr/>
          </p:nvSpPr>
          <p:spPr bwMode="auto">
            <a:xfrm>
              <a:off x="2722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Rectangle 68"/>
            <p:cNvSpPr>
              <a:spLocks noChangeArrowheads="1"/>
            </p:cNvSpPr>
            <p:nvPr/>
          </p:nvSpPr>
          <p:spPr bwMode="auto">
            <a:xfrm>
              <a:off x="2360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2541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Rectangle 70"/>
            <p:cNvSpPr>
              <a:spLocks noChangeArrowheads="1"/>
            </p:cNvSpPr>
            <p:nvPr/>
          </p:nvSpPr>
          <p:spPr bwMode="auto">
            <a:xfrm>
              <a:off x="2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Rectangle 71"/>
            <p:cNvSpPr>
              <a:spLocks noChangeArrowheads="1"/>
            </p:cNvSpPr>
            <p:nvPr/>
          </p:nvSpPr>
          <p:spPr bwMode="auto">
            <a:xfrm>
              <a:off x="546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Rectangle 72"/>
            <p:cNvSpPr>
              <a:spLocks noChangeArrowheads="1"/>
            </p:cNvSpPr>
            <p:nvPr/>
          </p:nvSpPr>
          <p:spPr bwMode="auto">
            <a:xfrm>
              <a:off x="184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Rectangle 73"/>
            <p:cNvSpPr>
              <a:spLocks noChangeArrowheads="1"/>
            </p:cNvSpPr>
            <p:nvPr/>
          </p:nvSpPr>
          <p:spPr bwMode="auto">
            <a:xfrm>
              <a:off x="365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Rectangle 74"/>
            <p:cNvSpPr>
              <a:spLocks noChangeArrowheads="1"/>
            </p:cNvSpPr>
            <p:nvPr/>
          </p:nvSpPr>
          <p:spPr bwMode="auto">
            <a:xfrm>
              <a:off x="728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Rectangle 75"/>
            <p:cNvSpPr>
              <a:spLocks noChangeArrowheads="1"/>
            </p:cNvSpPr>
            <p:nvPr/>
          </p:nvSpPr>
          <p:spPr bwMode="auto">
            <a:xfrm>
              <a:off x="1272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Rectangle 76"/>
            <p:cNvSpPr>
              <a:spLocks noChangeArrowheads="1"/>
            </p:cNvSpPr>
            <p:nvPr/>
          </p:nvSpPr>
          <p:spPr bwMode="auto">
            <a:xfrm>
              <a:off x="910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1091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1453" y="726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Rectangle 79"/>
            <p:cNvSpPr>
              <a:spLocks noChangeArrowheads="1"/>
            </p:cNvSpPr>
            <p:nvPr/>
          </p:nvSpPr>
          <p:spPr bwMode="auto">
            <a:xfrm>
              <a:off x="1997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Rectangle 80"/>
            <p:cNvSpPr>
              <a:spLocks noChangeArrowheads="1"/>
            </p:cNvSpPr>
            <p:nvPr/>
          </p:nvSpPr>
          <p:spPr bwMode="auto">
            <a:xfrm>
              <a:off x="1635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Rectangle 81"/>
            <p:cNvSpPr>
              <a:spLocks noChangeArrowheads="1"/>
            </p:cNvSpPr>
            <p:nvPr/>
          </p:nvSpPr>
          <p:spPr bwMode="auto">
            <a:xfrm>
              <a:off x="1816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Rectangle 82"/>
            <p:cNvSpPr>
              <a:spLocks noChangeArrowheads="1"/>
            </p:cNvSpPr>
            <p:nvPr/>
          </p:nvSpPr>
          <p:spPr bwMode="auto">
            <a:xfrm>
              <a:off x="2179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Rectangle 83"/>
            <p:cNvSpPr>
              <a:spLocks noChangeArrowheads="1"/>
            </p:cNvSpPr>
            <p:nvPr/>
          </p:nvSpPr>
          <p:spPr bwMode="auto">
            <a:xfrm>
              <a:off x="2723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Rectangle 84"/>
            <p:cNvSpPr>
              <a:spLocks noChangeArrowheads="1"/>
            </p:cNvSpPr>
            <p:nvPr/>
          </p:nvSpPr>
          <p:spPr bwMode="auto">
            <a:xfrm>
              <a:off x="2361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Rectangle 85"/>
            <p:cNvSpPr>
              <a:spLocks noChangeArrowheads="1"/>
            </p:cNvSpPr>
            <p:nvPr/>
          </p:nvSpPr>
          <p:spPr bwMode="auto">
            <a:xfrm>
              <a:off x="2542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Rectangle 86"/>
            <p:cNvSpPr>
              <a:spLocks noChangeArrowheads="1"/>
            </p:cNvSpPr>
            <p:nvPr/>
          </p:nvSpPr>
          <p:spPr bwMode="auto">
            <a:xfrm>
              <a:off x="1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Rectangle 87"/>
            <p:cNvSpPr>
              <a:spLocks noChangeArrowheads="1"/>
            </p:cNvSpPr>
            <p:nvPr/>
          </p:nvSpPr>
          <p:spPr bwMode="auto">
            <a:xfrm>
              <a:off x="545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Rectangle 88"/>
            <p:cNvSpPr>
              <a:spLocks noChangeArrowheads="1"/>
            </p:cNvSpPr>
            <p:nvPr/>
          </p:nvSpPr>
          <p:spPr bwMode="auto">
            <a:xfrm>
              <a:off x="183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Rectangle 89"/>
            <p:cNvSpPr>
              <a:spLocks noChangeArrowheads="1"/>
            </p:cNvSpPr>
            <p:nvPr/>
          </p:nvSpPr>
          <p:spPr bwMode="auto">
            <a:xfrm>
              <a:off x="364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Rectangle 90"/>
            <p:cNvSpPr>
              <a:spLocks noChangeArrowheads="1"/>
            </p:cNvSpPr>
            <p:nvPr/>
          </p:nvSpPr>
          <p:spPr bwMode="auto">
            <a:xfrm>
              <a:off x="727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Rectangle 91"/>
            <p:cNvSpPr>
              <a:spLocks noChangeArrowheads="1"/>
            </p:cNvSpPr>
            <p:nvPr/>
          </p:nvSpPr>
          <p:spPr bwMode="auto">
            <a:xfrm>
              <a:off x="1271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Rectangle 92"/>
            <p:cNvSpPr>
              <a:spLocks noChangeArrowheads="1"/>
            </p:cNvSpPr>
            <p:nvPr/>
          </p:nvSpPr>
          <p:spPr bwMode="auto">
            <a:xfrm>
              <a:off x="909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Rectangle 93"/>
            <p:cNvSpPr>
              <a:spLocks noChangeArrowheads="1"/>
            </p:cNvSpPr>
            <p:nvPr/>
          </p:nvSpPr>
          <p:spPr bwMode="auto">
            <a:xfrm>
              <a:off x="1090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Rectangle 94"/>
            <p:cNvSpPr>
              <a:spLocks noChangeArrowheads="1"/>
            </p:cNvSpPr>
            <p:nvPr/>
          </p:nvSpPr>
          <p:spPr bwMode="auto">
            <a:xfrm>
              <a:off x="1452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Rectangle 95"/>
            <p:cNvSpPr>
              <a:spLocks noChangeArrowheads="1"/>
            </p:cNvSpPr>
            <p:nvPr/>
          </p:nvSpPr>
          <p:spPr bwMode="auto">
            <a:xfrm>
              <a:off x="1996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Rectangle 96"/>
            <p:cNvSpPr>
              <a:spLocks noChangeArrowheads="1"/>
            </p:cNvSpPr>
            <p:nvPr/>
          </p:nvSpPr>
          <p:spPr bwMode="auto">
            <a:xfrm>
              <a:off x="1634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Rectangle 97"/>
            <p:cNvSpPr>
              <a:spLocks noChangeArrowheads="1"/>
            </p:cNvSpPr>
            <p:nvPr/>
          </p:nvSpPr>
          <p:spPr bwMode="auto">
            <a:xfrm>
              <a:off x="1815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Rectangle 98"/>
            <p:cNvSpPr>
              <a:spLocks noChangeArrowheads="1"/>
            </p:cNvSpPr>
            <p:nvPr/>
          </p:nvSpPr>
          <p:spPr bwMode="auto">
            <a:xfrm>
              <a:off x="2178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Rectangle 99"/>
            <p:cNvSpPr>
              <a:spLocks noChangeArrowheads="1"/>
            </p:cNvSpPr>
            <p:nvPr/>
          </p:nvSpPr>
          <p:spPr bwMode="auto">
            <a:xfrm>
              <a:off x="2722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Rectangle 100"/>
            <p:cNvSpPr>
              <a:spLocks noChangeArrowheads="1"/>
            </p:cNvSpPr>
            <p:nvPr/>
          </p:nvSpPr>
          <p:spPr bwMode="auto">
            <a:xfrm>
              <a:off x="2360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Rectangle 101"/>
            <p:cNvSpPr>
              <a:spLocks noChangeArrowheads="1"/>
            </p:cNvSpPr>
            <p:nvPr/>
          </p:nvSpPr>
          <p:spPr bwMode="auto">
            <a:xfrm>
              <a:off x="2541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3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Rectangle 103"/>
            <p:cNvSpPr>
              <a:spLocks noChangeArrowheads="1"/>
            </p:cNvSpPr>
            <p:nvPr/>
          </p:nvSpPr>
          <p:spPr bwMode="auto">
            <a:xfrm>
              <a:off x="547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Rectangle 104"/>
            <p:cNvSpPr>
              <a:spLocks noChangeArrowheads="1"/>
            </p:cNvSpPr>
            <p:nvPr/>
          </p:nvSpPr>
          <p:spPr bwMode="auto">
            <a:xfrm>
              <a:off x="185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Rectangle 105"/>
            <p:cNvSpPr>
              <a:spLocks noChangeArrowheads="1"/>
            </p:cNvSpPr>
            <p:nvPr/>
          </p:nvSpPr>
          <p:spPr bwMode="auto">
            <a:xfrm>
              <a:off x="366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Rectangle 106"/>
            <p:cNvSpPr>
              <a:spLocks noChangeArrowheads="1"/>
            </p:cNvSpPr>
            <p:nvPr/>
          </p:nvSpPr>
          <p:spPr bwMode="auto">
            <a:xfrm>
              <a:off x="729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Rectangle 107"/>
            <p:cNvSpPr>
              <a:spLocks noChangeArrowheads="1"/>
            </p:cNvSpPr>
            <p:nvPr/>
          </p:nvSpPr>
          <p:spPr bwMode="auto">
            <a:xfrm>
              <a:off x="1273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Rectangle 108"/>
            <p:cNvSpPr>
              <a:spLocks noChangeArrowheads="1"/>
            </p:cNvSpPr>
            <p:nvPr/>
          </p:nvSpPr>
          <p:spPr bwMode="auto">
            <a:xfrm>
              <a:off x="911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Rectangle 109"/>
            <p:cNvSpPr>
              <a:spLocks noChangeArrowheads="1"/>
            </p:cNvSpPr>
            <p:nvPr/>
          </p:nvSpPr>
          <p:spPr bwMode="auto">
            <a:xfrm>
              <a:off x="1092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Rectangle 110"/>
            <p:cNvSpPr>
              <a:spLocks noChangeArrowheads="1"/>
            </p:cNvSpPr>
            <p:nvPr/>
          </p:nvSpPr>
          <p:spPr bwMode="auto">
            <a:xfrm>
              <a:off x="1454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Rectangle 111"/>
            <p:cNvSpPr>
              <a:spLocks noChangeArrowheads="1"/>
            </p:cNvSpPr>
            <p:nvPr/>
          </p:nvSpPr>
          <p:spPr bwMode="auto">
            <a:xfrm>
              <a:off x="1998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Rectangle 112"/>
            <p:cNvSpPr>
              <a:spLocks noChangeArrowheads="1"/>
            </p:cNvSpPr>
            <p:nvPr/>
          </p:nvSpPr>
          <p:spPr bwMode="auto">
            <a:xfrm>
              <a:off x="1636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Rectangle 113"/>
            <p:cNvSpPr>
              <a:spLocks noChangeArrowheads="1"/>
            </p:cNvSpPr>
            <p:nvPr/>
          </p:nvSpPr>
          <p:spPr bwMode="auto">
            <a:xfrm>
              <a:off x="1817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Rectangle 114"/>
            <p:cNvSpPr>
              <a:spLocks noChangeArrowheads="1"/>
            </p:cNvSpPr>
            <p:nvPr/>
          </p:nvSpPr>
          <p:spPr bwMode="auto">
            <a:xfrm>
              <a:off x="2180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Rectangle 115"/>
            <p:cNvSpPr>
              <a:spLocks noChangeArrowheads="1"/>
            </p:cNvSpPr>
            <p:nvPr/>
          </p:nvSpPr>
          <p:spPr bwMode="auto">
            <a:xfrm>
              <a:off x="2724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Rectangle 116"/>
            <p:cNvSpPr>
              <a:spLocks noChangeArrowheads="1"/>
            </p:cNvSpPr>
            <p:nvPr/>
          </p:nvSpPr>
          <p:spPr bwMode="auto">
            <a:xfrm>
              <a:off x="2362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Rectangle 117"/>
            <p:cNvSpPr>
              <a:spLocks noChangeArrowheads="1"/>
            </p:cNvSpPr>
            <p:nvPr/>
          </p:nvSpPr>
          <p:spPr bwMode="auto">
            <a:xfrm>
              <a:off x="2543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Rectangle 118"/>
            <p:cNvSpPr>
              <a:spLocks noChangeArrowheads="1"/>
            </p:cNvSpPr>
            <p:nvPr/>
          </p:nvSpPr>
          <p:spPr bwMode="auto">
            <a:xfrm>
              <a:off x="2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Rectangle 119"/>
            <p:cNvSpPr>
              <a:spLocks noChangeArrowheads="1"/>
            </p:cNvSpPr>
            <p:nvPr/>
          </p:nvSpPr>
          <p:spPr bwMode="auto">
            <a:xfrm>
              <a:off x="546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Rectangle 120"/>
            <p:cNvSpPr>
              <a:spLocks noChangeArrowheads="1"/>
            </p:cNvSpPr>
            <p:nvPr/>
          </p:nvSpPr>
          <p:spPr bwMode="auto">
            <a:xfrm>
              <a:off x="184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Rectangle 121"/>
            <p:cNvSpPr>
              <a:spLocks noChangeArrowheads="1"/>
            </p:cNvSpPr>
            <p:nvPr/>
          </p:nvSpPr>
          <p:spPr bwMode="auto">
            <a:xfrm>
              <a:off x="365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Rectangle 122"/>
            <p:cNvSpPr>
              <a:spLocks noChangeArrowheads="1"/>
            </p:cNvSpPr>
            <p:nvPr/>
          </p:nvSpPr>
          <p:spPr bwMode="auto">
            <a:xfrm>
              <a:off x="728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Rectangle 123"/>
            <p:cNvSpPr>
              <a:spLocks noChangeArrowheads="1"/>
            </p:cNvSpPr>
            <p:nvPr/>
          </p:nvSpPr>
          <p:spPr bwMode="auto">
            <a:xfrm>
              <a:off x="1272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Rectangle 124"/>
            <p:cNvSpPr>
              <a:spLocks noChangeArrowheads="1"/>
            </p:cNvSpPr>
            <p:nvPr/>
          </p:nvSpPr>
          <p:spPr bwMode="auto">
            <a:xfrm>
              <a:off x="910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Rectangle 125"/>
            <p:cNvSpPr>
              <a:spLocks noChangeArrowheads="1"/>
            </p:cNvSpPr>
            <p:nvPr/>
          </p:nvSpPr>
          <p:spPr bwMode="auto">
            <a:xfrm>
              <a:off x="1091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Rectangle 126"/>
            <p:cNvSpPr>
              <a:spLocks noChangeArrowheads="1"/>
            </p:cNvSpPr>
            <p:nvPr/>
          </p:nvSpPr>
          <p:spPr bwMode="auto">
            <a:xfrm>
              <a:off x="1453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Rectangle 127"/>
            <p:cNvSpPr>
              <a:spLocks noChangeArrowheads="1"/>
            </p:cNvSpPr>
            <p:nvPr/>
          </p:nvSpPr>
          <p:spPr bwMode="auto">
            <a:xfrm>
              <a:off x="1997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Rectangle 128"/>
            <p:cNvSpPr>
              <a:spLocks noChangeArrowheads="1"/>
            </p:cNvSpPr>
            <p:nvPr/>
          </p:nvSpPr>
          <p:spPr bwMode="auto">
            <a:xfrm>
              <a:off x="1635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Rectangle 129"/>
            <p:cNvSpPr>
              <a:spLocks noChangeArrowheads="1"/>
            </p:cNvSpPr>
            <p:nvPr/>
          </p:nvSpPr>
          <p:spPr bwMode="auto">
            <a:xfrm>
              <a:off x="1816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Rectangle 130"/>
            <p:cNvSpPr>
              <a:spLocks noChangeArrowheads="1"/>
            </p:cNvSpPr>
            <p:nvPr/>
          </p:nvSpPr>
          <p:spPr bwMode="auto">
            <a:xfrm>
              <a:off x="2179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Rectangle 131"/>
            <p:cNvSpPr>
              <a:spLocks noChangeArrowheads="1"/>
            </p:cNvSpPr>
            <p:nvPr/>
          </p:nvSpPr>
          <p:spPr bwMode="auto">
            <a:xfrm>
              <a:off x="2723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Rectangle 132"/>
            <p:cNvSpPr>
              <a:spLocks noChangeArrowheads="1"/>
            </p:cNvSpPr>
            <p:nvPr/>
          </p:nvSpPr>
          <p:spPr bwMode="auto">
            <a:xfrm>
              <a:off x="2361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Rectangle 133"/>
            <p:cNvSpPr>
              <a:spLocks noChangeArrowheads="1"/>
            </p:cNvSpPr>
            <p:nvPr/>
          </p:nvSpPr>
          <p:spPr bwMode="auto">
            <a:xfrm>
              <a:off x="2542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Rectangle 134"/>
            <p:cNvSpPr>
              <a:spLocks noChangeArrowheads="1"/>
            </p:cNvSpPr>
            <p:nvPr/>
          </p:nvSpPr>
          <p:spPr bwMode="auto">
            <a:xfrm>
              <a:off x="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Rectangle 135"/>
            <p:cNvSpPr>
              <a:spLocks noChangeArrowheads="1"/>
            </p:cNvSpPr>
            <p:nvPr/>
          </p:nvSpPr>
          <p:spPr bwMode="auto">
            <a:xfrm>
              <a:off x="545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Rectangle 136"/>
            <p:cNvSpPr>
              <a:spLocks noChangeArrowheads="1"/>
            </p:cNvSpPr>
            <p:nvPr/>
          </p:nvSpPr>
          <p:spPr bwMode="auto">
            <a:xfrm>
              <a:off x="183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Rectangle 137"/>
            <p:cNvSpPr>
              <a:spLocks noChangeArrowheads="1"/>
            </p:cNvSpPr>
            <p:nvPr/>
          </p:nvSpPr>
          <p:spPr bwMode="auto">
            <a:xfrm>
              <a:off x="36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Rectangle 138"/>
            <p:cNvSpPr>
              <a:spLocks noChangeArrowheads="1"/>
            </p:cNvSpPr>
            <p:nvPr/>
          </p:nvSpPr>
          <p:spPr bwMode="auto">
            <a:xfrm>
              <a:off x="727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Rectangle 139"/>
            <p:cNvSpPr>
              <a:spLocks noChangeArrowheads="1"/>
            </p:cNvSpPr>
            <p:nvPr/>
          </p:nvSpPr>
          <p:spPr bwMode="auto">
            <a:xfrm>
              <a:off x="1271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Rectangle 140"/>
            <p:cNvSpPr>
              <a:spLocks noChangeArrowheads="1"/>
            </p:cNvSpPr>
            <p:nvPr/>
          </p:nvSpPr>
          <p:spPr bwMode="auto">
            <a:xfrm>
              <a:off x="909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Rectangle 141"/>
            <p:cNvSpPr>
              <a:spLocks noChangeArrowheads="1"/>
            </p:cNvSpPr>
            <p:nvPr/>
          </p:nvSpPr>
          <p:spPr bwMode="auto">
            <a:xfrm>
              <a:off x="109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Rectangle 142"/>
            <p:cNvSpPr>
              <a:spLocks noChangeArrowheads="1"/>
            </p:cNvSpPr>
            <p:nvPr/>
          </p:nvSpPr>
          <p:spPr bwMode="auto">
            <a:xfrm>
              <a:off x="1452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Rectangle 143"/>
            <p:cNvSpPr>
              <a:spLocks noChangeArrowheads="1"/>
            </p:cNvSpPr>
            <p:nvPr/>
          </p:nvSpPr>
          <p:spPr bwMode="auto">
            <a:xfrm>
              <a:off x="1996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Rectangle 144"/>
            <p:cNvSpPr>
              <a:spLocks noChangeArrowheads="1"/>
            </p:cNvSpPr>
            <p:nvPr/>
          </p:nvSpPr>
          <p:spPr bwMode="auto">
            <a:xfrm>
              <a:off x="163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Rectangle 145"/>
            <p:cNvSpPr>
              <a:spLocks noChangeArrowheads="1"/>
            </p:cNvSpPr>
            <p:nvPr/>
          </p:nvSpPr>
          <p:spPr bwMode="auto">
            <a:xfrm>
              <a:off x="1815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Rectangle 146"/>
            <p:cNvSpPr>
              <a:spLocks noChangeArrowheads="1"/>
            </p:cNvSpPr>
            <p:nvPr/>
          </p:nvSpPr>
          <p:spPr bwMode="auto">
            <a:xfrm>
              <a:off x="2178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Rectangle 147"/>
            <p:cNvSpPr>
              <a:spLocks noChangeArrowheads="1"/>
            </p:cNvSpPr>
            <p:nvPr/>
          </p:nvSpPr>
          <p:spPr bwMode="auto">
            <a:xfrm>
              <a:off x="2722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Rectangle 148"/>
            <p:cNvSpPr>
              <a:spLocks noChangeArrowheads="1"/>
            </p:cNvSpPr>
            <p:nvPr/>
          </p:nvSpPr>
          <p:spPr bwMode="auto">
            <a:xfrm>
              <a:off x="236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Rectangle 149"/>
            <p:cNvSpPr>
              <a:spLocks noChangeArrowheads="1"/>
            </p:cNvSpPr>
            <p:nvPr/>
          </p:nvSpPr>
          <p:spPr bwMode="auto">
            <a:xfrm>
              <a:off x="254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Rectangle 150"/>
            <p:cNvSpPr>
              <a:spLocks noChangeArrowheads="1"/>
            </p:cNvSpPr>
            <p:nvPr/>
          </p:nvSpPr>
          <p:spPr bwMode="auto">
            <a:xfrm>
              <a:off x="0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Rectangle 151"/>
            <p:cNvSpPr>
              <a:spLocks noChangeArrowheads="1"/>
            </p:cNvSpPr>
            <p:nvPr/>
          </p:nvSpPr>
          <p:spPr bwMode="auto">
            <a:xfrm>
              <a:off x="544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Rectangle 152"/>
            <p:cNvSpPr>
              <a:spLocks noChangeArrowheads="1"/>
            </p:cNvSpPr>
            <p:nvPr/>
          </p:nvSpPr>
          <p:spPr bwMode="auto">
            <a:xfrm>
              <a:off x="182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Rectangle 153"/>
            <p:cNvSpPr>
              <a:spLocks noChangeArrowheads="1"/>
            </p:cNvSpPr>
            <p:nvPr/>
          </p:nvSpPr>
          <p:spPr bwMode="auto">
            <a:xfrm>
              <a:off x="363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Rectangle 154"/>
            <p:cNvSpPr>
              <a:spLocks noChangeArrowheads="1"/>
            </p:cNvSpPr>
            <p:nvPr/>
          </p:nvSpPr>
          <p:spPr bwMode="auto">
            <a:xfrm>
              <a:off x="726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Rectangle 155"/>
            <p:cNvSpPr>
              <a:spLocks noChangeArrowheads="1"/>
            </p:cNvSpPr>
            <p:nvPr/>
          </p:nvSpPr>
          <p:spPr bwMode="auto">
            <a:xfrm>
              <a:off x="1270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Rectangle 156"/>
            <p:cNvSpPr>
              <a:spLocks noChangeArrowheads="1"/>
            </p:cNvSpPr>
            <p:nvPr/>
          </p:nvSpPr>
          <p:spPr bwMode="auto">
            <a:xfrm>
              <a:off x="908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" name="Rectangle 157"/>
            <p:cNvSpPr>
              <a:spLocks noChangeArrowheads="1"/>
            </p:cNvSpPr>
            <p:nvPr/>
          </p:nvSpPr>
          <p:spPr bwMode="auto">
            <a:xfrm>
              <a:off x="1089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0" name="Rectangle 158"/>
            <p:cNvSpPr>
              <a:spLocks noChangeArrowheads="1"/>
            </p:cNvSpPr>
            <p:nvPr/>
          </p:nvSpPr>
          <p:spPr bwMode="auto">
            <a:xfrm>
              <a:off x="1451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1" name="Rectangle 159"/>
            <p:cNvSpPr>
              <a:spLocks noChangeArrowheads="1"/>
            </p:cNvSpPr>
            <p:nvPr/>
          </p:nvSpPr>
          <p:spPr bwMode="auto">
            <a:xfrm>
              <a:off x="1995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2" name="Rectangle 160"/>
            <p:cNvSpPr>
              <a:spLocks noChangeArrowheads="1"/>
            </p:cNvSpPr>
            <p:nvPr/>
          </p:nvSpPr>
          <p:spPr bwMode="auto">
            <a:xfrm>
              <a:off x="1633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3" name="Rectangle 161"/>
            <p:cNvSpPr>
              <a:spLocks noChangeArrowheads="1"/>
            </p:cNvSpPr>
            <p:nvPr/>
          </p:nvSpPr>
          <p:spPr bwMode="auto">
            <a:xfrm>
              <a:off x="1814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4" name="Rectangle 162"/>
            <p:cNvSpPr>
              <a:spLocks noChangeArrowheads="1"/>
            </p:cNvSpPr>
            <p:nvPr/>
          </p:nvSpPr>
          <p:spPr bwMode="auto">
            <a:xfrm>
              <a:off x="2177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5" name="Rectangle 163"/>
            <p:cNvSpPr>
              <a:spLocks noChangeArrowheads="1"/>
            </p:cNvSpPr>
            <p:nvPr/>
          </p:nvSpPr>
          <p:spPr bwMode="auto">
            <a:xfrm>
              <a:off x="2721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6" name="Rectangle 164"/>
            <p:cNvSpPr>
              <a:spLocks noChangeArrowheads="1"/>
            </p:cNvSpPr>
            <p:nvPr/>
          </p:nvSpPr>
          <p:spPr bwMode="auto">
            <a:xfrm>
              <a:off x="2359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7" name="Rectangle 165"/>
            <p:cNvSpPr>
              <a:spLocks noChangeArrowheads="1"/>
            </p:cNvSpPr>
            <p:nvPr/>
          </p:nvSpPr>
          <p:spPr bwMode="auto">
            <a:xfrm>
              <a:off x="2540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8" name="Rectangle 166"/>
            <p:cNvSpPr>
              <a:spLocks noChangeArrowheads="1"/>
            </p:cNvSpPr>
            <p:nvPr/>
          </p:nvSpPr>
          <p:spPr bwMode="auto">
            <a:xfrm>
              <a:off x="2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9" name="Rectangle 167"/>
            <p:cNvSpPr>
              <a:spLocks noChangeArrowheads="1"/>
            </p:cNvSpPr>
            <p:nvPr/>
          </p:nvSpPr>
          <p:spPr bwMode="auto">
            <a:xfrm>
              <a:off x="546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0" name="Rectangle 168"/>
            <p:cNvSpPr>
              <a:spLocks noChangeArrowheads="1"/>
            </p:cNvSpPr>
            <p:nvPr/>
          </p:nvSpPr>
          <p:spPr bwMode="auto">
            <a:xfrm>
              <a:off x="184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1" name="Rectangle 169"/>
            <p:cNvSpPr>
              <a:spLocks noChangeArrowheads="1"/>
            </p:cNvSpPr>
            <p:nvPr/>
          </p:nvSpPr>
          <p:spPr bwMode="auto">
            <a:xfrm>
              <a:off x="365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2" name="Rectangle 170"/>
            <p:cNvSpPr>
              <a:spLocks noChangeArrowheads="1"/>
            </p:cNvSpPr>
            <p:nvPr/>
          </p:nvSpPr>
          <p:spPr bwMode="auto">
            <a:xfrm>
              <a:off x="728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" name="Rectangle 171"/>
            <p:cNvSpPr>
              <a:spLocks noChangeArrowheads="1"/>
            </p:cNvSpPr>
            <p:nvPr/>
          </p:nvSpPr>
          <p:spPr bwMode="auto">
            <a:xfrm>
              <a:off x="1272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4" name="Rectangle 172"/>
            <p:cNvSpPr>
              <a:spLocks noChangeArrowheads="1"/>
            </p:cNvSpPr>
            <p:nvPr/>
          </p:nvSpPr>
          <p:spPr bwMode="auto">
            <a:xfrm>
              <a:off x="910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5" name="Rectangle 173"/>
            <p:cNvSpPr>
              <a:spLocks noChangeArrowheads="1"/>
            </p:cNvSpPr>
            <p:nvPr/>
          </p:nvSpPr>
          <p:spPr bwMode="auto">
            <a:xfrm>
              <a:off x="1091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6" name="Rectangle 174"/>
            <p:cNvSpPr>
              <a:spLocks noChangeArrowheads="1"/>
            </p:cNvSpPr>
            <p:nvPr/>
          </p:nvSpPr>
          <p:spPr bwMode="auto">
            <a:xfrm>
              <a:off x="1453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7" name="Rectangle 175"/>
            <p:cNvSpPr>
              <a:spLocks noChangeArrowheads="1"/>
            </p:cNvSpPr>
            <p:nvPr/>
          </p:nvSpPr>
          <p:spPr bwMode="auto">
            <a:xfrm>
              <a:off x="1997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8" name="Rectangle 176"/>
            <p:cNvSpPr>
              <a:spLocks noChangeArrowheads="1"/>
            </p:cNvSpPr>
            <p:nvPr/>
          </p:nvSpPr>
          <p:spPr bwMode="auto">
            <a:xfrm>
              <a:off x="1635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9" name="Rectangle 177"/>
            <p:cNvSpPr>
              <a:spLocks noChangeArrowheads="1"/>
            </p:cNvSpPr>
            <p:nvPr/>
          </p:nvSpPr>
          <p:spPr bwMode="auto">
            <a:xfrm>
              <a:off x="1816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Rectangle 178"/>
            <p:cNvSpPr>
              <a:spLocks noChangeArrowheads="1"/>
            </p:cNvSpPr>
            <p:nvPr/>
          </p:nvSpPr>
          <p:spPr bwMode="auto">
            <a:xfrm>
              <a:off x="2179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Rectangle 179"/>
            <p:cNvSpPr>
              <a:spLocks noChangeArrowheads="1"/>
            </p:cNvSpPr>
            <p:nvPr/>
          </p:nvSpPr>
          <p:spPr bwMode="auto">
            <a:xfrm>
              <a:off x="2723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Rectangle 180"/>
            <p:cNvSpPr>
              <a:spLocks noChangeArrowheads="1"/>
            </p:cNvSpPr>
            <p:nvPr/>
          </p:nvSpPr>
          <p:spPr bwMode="auto">
            <a:xfrm>
              <a:off x="2361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Rectangle 181"/>
            <p:cNvSpPr>
              <a:spLocks noChangeArrowheads="1"/>
            </p:cNvSpPr>
            <p:nvPr/>
          </p:nvSpPr>
          <p:spPr bwMode="auto">
            <a:xfrm>
              <a:off x="2542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Rectangle 182"/>
            <p:cNvSpPr>
              <a:spLocks noChangeArrowheads="1"/>
            </p:cNvSpPr>
            <p:nvPr/>
          </p:nvSpPr>
          <p:spPr bwMode="auto">
            <a:xfrm>
              <a:off x="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Rectangle 183"/>
            <p:cNvSpPr>
              <a:spLocks noChangeArrowheads="1"/>
            </p:cNvSpPr>
            <p:nvPr/>
          </p:nvSpPr>
          <p:spPr bwMode="auto">
            <a:xfrm>
              <a:off x="545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6" name="Rectangle 184"/>
            <p:cNvSpPr>
              <a:spLocks noChangeArrowheads="1"/>
            </p:cNvSpPr>
            <p:nvPr/>
          </p:nvSpPr>
          <p:spPr bwMode="auto">
            <a:xfrm>
              <a:off x="183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7" name="Rectangle 185"/>
            <p:cNvSpPr>
              <a:spLocks noChangeArrowheads="1"/>
            </p:cNvSpPr>
            <p:nvPr/>
          </p:nvSpPr>
          <p:spPr bwMode="auto">
            <a:xfrm>
              <a:off x="36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8" name="Rectangle 186"/>
            <p:cNvSpPr>
              <a:spLocks noChangeArrowheads="1"/>
            </p:cNvSpPr>
            <p:nvPr/>
          </p:nvSpPr>
          <p:spPr bwMode="auto">
            <a:xfrm>
              <a:off x="727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9" name="Rectangle 187"/>
            <p:cNvSpPr>
              <a:spLocks noChangeArrowheads="1"/>
            </p:cNvSpPr>
            <p:nvPr/>
          </p:nvSpPr>
          <p:spPr bwMode="auto">
            <a:xfrm>
              <a:off x="1271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0" name="Rectangle 188"/>
            <p:cNvSpPr>
              <a:spLocks noChangeArrowheads="1"/>
            </p:cNvSpPr>
            <p:nvPr/>
          </p:nvSpPr>
          <p:spPr bwMode="auto">
            <a:xfrm>
              <a:off x="909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1" name="Rectangle 189"/>
            <p:cNvSpPr>
              <a:spLocks noChangeArrowheads="1"/>
            </p:cNvSpPr>
            <p:nvPr/>
          </p:nvSpPr>
          <p:spPr bwMode="auto">
            <a:xfrm>
              <a:off x="109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2" name="Rectangle 190"/>
            <p:cNvSpPr>
              <a:spLocks noChangeArrowheads="1"/>
            </p:cNvSpPr>
            <p:nvPr/>
          </p:nvSpPr>
          <p:spPr bwMode="auto">
            <a:xfrm>
              <a:off x="1452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3" name="Rectangle 191"/>
            <p:cNvSpPr>
              <a:spLocks noChangeArrowheads="1"/>
            </p:cNvSpPr>
            <p:nvPr/>
          </p:nvSpPr>
          <p:spPr bwMode="auto">
            <a:xfrm>
              <a:off x="1996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4" name="Rectangle 192"/>
            <p:cNvSpPr>
              <a:spLocks noChangeArrowheads="1"/>
            </p:cNvSpPr>
            <p:nvPr/>
          </p:nvSpPr>
          <p:spPr bwMode="auto">
            <a:xfrm>
              <a:off x="163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5" name="Rectangle 193"/>
            <p:cNvSpPr>
              <a:spLocks noChangeArrowheads="1"/>
            </p:cNvSpPr>
            <p:nvPr/>
          </p:nvSpPr>
          <p:spPr bwMode="auto">
            <a:xfrm>
              <a:off x="1815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6" name="Rectangle 194"/>
            <p:cNvSpPr>
              <a:spLocks noChangeArrowheads="1"/>
            </p:cNvSpPr>
            <p:nvPr/>
          </p:nvSpPr>
          <p:spPr bwMode="auto">
            <a:xfrm>
              <a:off x="2178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7" name="Rectangle 195"/>
            <p:cNvSpPr>
              <a:spLocks noChangeArrowheads="1"/>
            </p:cNvSpPr>
            <p:nvPr/>
          </p:nvSpPr>
          <p:spPr bwMode="auto">
            <a:xfrm>
              <a:off x="2722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8" name="Rectangle 196"/>
            <p:cNvSpPr>
              <a:spLocks noChangeArrowheads="1"/>
            </p:cNvSpPr>
            <p:nvPr/>
          </p:nvSpPr>
          <p:spPr bwMode="auto">
            <a:xfrm>
              <a:off x="236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9" name="Rectangle 197"/>
            <p:cNvSpPr>
              <a:spLocks noChangeArrowheads="1"/>
            </p:cNvSpPr>
            <p:nvPr/>
          </p:nvSpPr>
          <p:spPr bwMode="auto">
            <a:xfrm>
              <a:off x="254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0" name="Rectangle 198"/>
            <p:cNvSpPr>
              <a:spLocks noChangeArrowheads="1"/>
            </p:cNvSpPr>
            <p:nvPr/>
          </p:nvSpPr>
          <p:spPr bwMode="auto">
            <a:xfrm>
              <a:off x="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1" name="Rectangle 199"/>
            <p:cNvSpPr>
              <a:spLocks noChangeArrowheads="1"/>
            </p:cNvSpPr>
            <p:nvPr/>
          </p:nvSpPr>
          <p:spPr bwMode="auto">
            <a:xfrm>
              <a:off x="546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2" name="Rectangle 200"/>
            <p:cNvSpPr>
              <a:spLocks noChangeArrowheads="1"/>
            </p:cNvSpPr>
            <p:nvPr/>
          </p:nvSpPr>
          <p:spPr bwMode="auto">
            <a:xfrm>
              <a:off x="184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3" name="Rectangle 201"/>
            <p:cNvSpPr>
              <a:spLocks noChangeArrowheads="1"/>
            </p:cNvSpPr>
            <p:nvPr/>
          </p:nvSpPr>
          <p:spPr bwMode="auto">
            <a:xfrm>
              <a:off x="36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" name="Rectangle 202"/>
            <p:cNvSpPr>
              <a:spLocks noChangeArrowheads="1"/>
            </p:cNvSpPr>
            <p:nvPr/>
          </p:nvSpPr>
          <p:spPr bwMode="auto">
            <a:xfrm>
              <a:off x="728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" name="Rectangle 203"/>
            <p:cNvSpPr>
              <a:spLocks noChangeArrowheads="1"/>
            </p:cNvSpPr>
            <p:nvPr/>
          </p:nvSpPr>
          <p:spPr bwMode="auto">
            <a:xfrm>
              <a:off x="1272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" name="Rectangle 204"/>
            <p:cNvSpPr>
              <a:spLocks noChangeArrowheads="1"/>
            </p:cNvSpPr>
            <p:nvPr/>
          </p:nvSpPr>
          <p:spPr bwMode="auto">
            <a:xfrm>
              <a:off x="910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7" name="Rectangle 205"/>
            <p:cNvSpPr>
              <a:spLocks noChangeArrowheads="1"/>
            </p:cNvSpPr>
            <p:nvPr/>
          </p:nvSpPr>
          <p:spPr bwMode="auto">
            <a:xfrm>
              <a:off x="109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8" name="Rectangle 206"/>
            <p:cNvSpPr>
              <a:spLocks noChangeArrowheads="1"/>
            </p:cNvSpPr>
            <p:nvPr/>
          </p:nvSpPr>
          <p:spPr bwMode="auto">
            <a:xfrm>
              <a:off x="1453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9" name="Rectangle 207"/>
            <p:cNvSpPr>
              <a:spLocks noChangeArrowheads="1"/>
            </p:cNvSpPr>
            <p:nvPr/>
          </p:nvSpPr>
          <p:spPr bwMode="auto">
            <a:xfrm>
              <a:off x="1997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0" name="Rectangle 208"/>
            <p:cNvSpPr>
              <a:spLocks noChangeArrowheads="1"/>
            </p:cNvSpPr>
            <p:nvPr/>
          </p:nvSpPr>
          <p:spPr bwMode="auto">
            <a:xfrm>
              <a:off x="163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1" name="Rectangle 209"/>
            <p:cNvSpPr>
              <a:spLocks noChangeArrowheads="1"/>
            </p:cNvSpPr>
            <p:nvPr/>
          </p:nvSpPr>
          <p:spPr bwMode="auto">
            <a:xfrm>
              <a:off x="1816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2" name="Rectangle 210"/>
            <p:cNvSpPr>
              <a:spLocks noChangeArrowheads="1"/>
            </p:cNvSpPr>
            <p:nvPr/>
          </p:nvSpPr>
          <p:spPr bwMode="auto">
            <a:xfrm>
              <a:off x="2179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3" name="Rectangle 211"/>
            <p:cNvSpPr>
              <a:spLocks noChangeArrowheads="1"/>
            </p:cNvSpPr>
            <p:nvPr/>
          </p:nvSpPr>
          <p:spPr bwMode="auto">
            <a:xfrm>
              <a:off x="2723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4" name="Rectangle 212"/>
            <p:cNvSpPr>
              <a:spLocks noChangeArrowheads="1"/>
            </p:cNvSpPr>
            <p:nvPr/>
          </p:nvSpPr>
          <p:spPr bwMode="auto">
            <a:xfrm>
              <a:off x="236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5" name="Rectangle 213"/>
            <p:cNvSpPr>
              <a:spLocks noChangeArrowheads="1"/>
            </p:cNvSpPr>
            <p:nvPr/>
          </p:nvSpPr>
          <p:spPr bwMode="auto">
            <a:xfrm>
              <a:off x="254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6" name="Rectangle 214"/>
            <p:cNvSpPr>
              <a:spLocks noChangeArrowheads="1"/>
            </p:cNvSpPr>
            <p:nvPr/>
          </p:nvSpPr>
          <p:spPr bwMode="auto">
            <a:xfrm>
              <a:off x="1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7" name="Rectangle 215"/>
            <p:cNvSpPr>
              <a:spLocks noChangeArrowheads="1"/>
            </p:cNvSpPr>
            <p:nvPr/>
          </p:nvSpPr>
          <p:spPr bwMode="auto">
            <a:xfrm>
              <a:off x="545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8" name="Rectangle 216"/>
            <p:cNvSpPr>
              <a:spLocks noChangeArrowheads="1"/>
            </p:cNvSpPr>
            <p:nvPr/>
          </p:nvSpPr>
          <p:spPr bwMode="auto">
            <a:xfrm>
              <a:off x="183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9" name="Rectangle 217"/>
            <p:cNvSpPr>
              <a:spLocks noChangeArrowheads="1"/>
            </p:cNvSpPr>
            <p:nvPr/>
          </p:nvSpPr>
          <p:spPr bwMode="auto">
            <a:xfrm>
              <a:off x="364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0" name="Rectangle 218"/>
            <p:cNvSpPr>
              <a:spLocks noChangeArrowheads="1"/>
            </p:cNvSpPr>
            <p:nvPr/>
          </p:nvSpPr>
          <p:spPr bwMode="auto">
            <a:xfrm>
              <a:off x="727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1" name="Rectangle 219"/>
            <p:cNvSpPr>
              <a:spLocks noChangeArrowheads="1"/>
            </p:cNvSpPr>
            <p:nvPr/>
          </p:nvSpPr>
          <p:spPr bwMode="auto">
            <a:xfrm>
              <a:off x="1271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2" name="Rectangle 220"/>
            <p:cNvSpPr>
              <a:spLocks noChangeArrowheads="1"/>
            </p:cNvSpPr>
            <p:nvPr/>
          </p:nvSpPr>
          <p:spPr bwMode="auto">
            <a:xfrm>
              <a:off x="909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3" name="Rectangle 221"/>
            <p:cNvSpPr>
              <a:spLocks noChangeArrowheads="1"/>
            </p:cNvSpPr>
            <p:nvPr/>
          </p:nvSpPr>
          <p:spPr bwMode="auto">
            <a:xfrm>
              <a:off x="1090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4" name="Rectangle 222"/>
            <p:cNvSpPr>
              <a:spLocks noChangeArrowheads="1"/>
            </p:cNvSpPr>
            <p:nvPr/>
          </p:nvSpPr>
          <p:spPr bwMode="auto">
            <a:xfrm>
              <a:off x="1452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5" name="Rectangle 223"/>
            <p:cNvSpPr>
              <a:spLocks noChangeArrowheads="1"/>
            </p:cNvSpPr>
            <p:nvPr/>
          </p:nvSpPr>
          <p:spPr bwMode="auto">
            <a:xfrm>
              <a:off x="1996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6" name="Rectangle 224"/>
            <p:cNvSpPr>
              <a:spLocks noChangeArrowheads="1"/>
            </p:cNvSpPr>
            <p:nvPr/>
          </p:nvSpPr>
          <p:spPr bwMode="auto">
            <a:xfrm>
              <a:off x="1634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7" name="Rectangle 225"/>
            <p:cNvSpPr>
              <a:spLocks noChangeArrowheads="1"/>
            </p:cNvSpPr>
            <p:nvPr/>
          </p:nvSpPr>
          <p:spPr bwMode="auto">
            <a:xfrm>
              <a:off x="1815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8" name="Rectangle 226"/>
            <p:cNvSpPr>
              <a:spLocks noChangeArrowheads="1"/>
            </p:cNvSpPr>
            <p:nvPr/>
          </p:nvSpPr>
          <p:spPr bwMode="auto">
            <a:xfrm>
              <a:off x="2178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9" name="Rectangle 227"/>
            <p:cNvSpPr>
              <a:spLocks noChangeArrowheads="1"/>
            </p:cNvSpPr>
            <p:nvPr/>
          </p:nvSpPr>
          <p:spPr bwMode="auto">
            <a:xfrm>
              <a:off x="2722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0" name="Rectangle 228"/>
            <p:cNvSpPr>
              <a:spLocks noChangeArrowheads="1"/>
            </p:cNvSpPr>
            <p:nvPr/>
          </p:nvSpPr>
          <p:spPr bwMode="auto">
            <a:xfrm>
              <a:off x="2360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1" name="Rectangle 229"/>
            <p:cNvSpPr>
              <a:spLocks noChangeArrowheads="1"/>
            </p:cNvSpPr>
            <p:nvPr/>
          </p:nvSpPr>
          <p:spPr bwMode="auto">
            <a:xfrm>
              <a:off x="2541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2" name="Rectangle 230"/>
            <p:cNvSpPr>
              <a:spLocks noChangeArrowheads="1"/>
            </p:cNvSpPr>
            <p:nvPr/>
          </p:nvSpPr>
          <p:spPr bwMode="auto">
            <a:xfrm>
              <a:off x="3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3" name="Rectangle 231"/>
            <p:cNvSpPr>
              <a:spLocks noChangeArrowheads="1"/>
            </p:cNvSpPr>
            <p:nvPr/>
          </p:nvSpPr>
          <p:spPr bwMode="auto">
            <a:xfrm>
              <a:off x="547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4" name="Rectangle 232"/>
            <p:cNvSpPr>
              <a:spLocks noChangeArrowheads="1"/>
            </p:cNvSpPr>
            <p:nvPr/>
          </p:nvSpPr>
          <p:spPr bwMode="auto">
            <a:xfrm>
              <a:off x="185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" name="Rectangle 233"/>
            <p:cNvSpPr>
              <a:spLocks noChangeArrowheads="1"/>
            </p:cNvSpPr>
            <p:nvPr/>
          </p:nvSpPr>
          <p:spPr bwMode="auto">
            <a:xfrm>
              <a:off x="366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" name="Rectangle 234"/>
            <p:cNvSpPr>
              <a:spLocks noChangeArrowheads="1"/>
            </p:cNvSpPr>
            <p:nvPr/>
          </p:nvSpPr>
          <p:spPr bwMode="auto">
            <a:xfrm>
              <a:off x="729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7" name="Rectangle 235"/>
            <p:cNvSpPr>
              <a:spLocks noChangeArrowheads="1"/>
            </p:cNvSpPr>
            <p:nvPr/>
          </p:nvSpPr>
          <p:spPr bwMode="auto">
            <a:xfrm>
              <a:off x="1273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8" name="Rectangle 236"/>
            <p:cNvSpPr>
              <a:spLocks noChangeArrowheads="1"/>
            </p:cNvSpPr>
            <p:nvPr/>
          </p:nvSpPr>
          <p:spPr bwMode="auto">
            <a:xfrm>
              <a:off x="911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9" name="Rectangle 237"/>
            <p:cNvSpPr>
              <a:spLocks noChangeArrowheads="1"/>
            </p:cNvSpPr>
            <p:nvPr/>
          </p:nvSpPr>
          <p:spPr bwMode="auto">
            <a:xfrm>
              <a:off x="1092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0" name="Rectangle 238"/>
            <p:cNvSpPr>
              <a:spLocks noChangeArrowheads="1"/>
            </p:cNvSpPr>
            <p:nvPr/>
          </p:nvSpPr>
          <p:spPr bwMode="auto">
            <a:xfrm>
              <a:off x="1454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1" name="Rectangle 239"/>
            <p:cNvSpPr>
              <a:spLocks noChangeArrowheads="1"/>
            </p:cNvSpPr>
            <p:nvPr/>
          </p:nvSpPr>
          <p:spPr bwMode="auto">
            <a:xfrm>
              <a:off x="1998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2" name="Rectangle 240"/>
            <p:cNvSpPr>
              <a:spLocks noChangeArrowheads="1"/>
            </p:cNvSpPr>
            <p:nvPr/>
          </p:nvSpPr>
          <p:spPr bwMode="auto">
            <a:xfrm>
              <a:off x="1636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3" name="Rectangle 241"/>
            <p:cNvSpPr>
              <a:spLocks noChangeArrowheads="1"/>
            </p:cNvSpPr>
            <p:nvPr/>
          </p:nvSpPr>
          <p:spPr bwMode="auto">
            <a:xfrm>
              <a:off x="1817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4" name="Rectangle 242"/>
            <p:cNvSpPr>
              <a:spLocks noChangeArrowheads="1"/>
            </p:cNvSpPr>
            <p:nvPr/>
          </p:nvSpPr>
          <p:spPr bwMode="auto">
            <a:xfrm>
              <a:off x="2180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" name="Rectangle 243"/>
            <p:cNvSpPr>
              <a:spLocks noChangeArrowheads="1"/>
            </p:cNvSpPr>
            <p:nvPr/>
          </p:nvSpPr>
          <p:spPr bwMode="auto">
            <a:xfrm>
              <a:off x="2724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" name="Rectangle 244"/>
            <p:cNvSpPr>
              <a:spLocks noChangeArrowheads="1"/>
            </p:cNvSpPr>
            <p:nvPr/>
          </p:nvSpPr>
          <p:spPr bwMode="auto">
            <a:xfrm>
              <a:off x="2362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7" name="Rectangle 245"/>
            <p:cNvSpPr>
              <a:spLocks noChangeArrowheads="1"/>
            </p:cNvSpPr>
            <p:nvPr/>
          </p:nvSpPr>
          <p:spPr bwMode="auto">
            <a:xfrm>
              <a:off x="2543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8" name="Rectangle 246"/>
            <p:cNvSpPr>
              <a:spLocks noChangeArrowheads="1"/>
            </p:cNvSpPr>
            <p:nvPr/>
          </p:nvSpPr>
          <p:spPr bwMode="auto">
            <a:xfrm>
              <a:off x="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9" name="Rectangle 247"/>
            <p:cNvSpPr>
              <a:spLocks noChangeArrowheads="1"/>
            </p:cNvSpPr>
            <p:nvPr/>
          </p:nvSpPr>
          <p:spPr bwMode="auto">
            <a:xfrm>
              <a:off x="546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0" name="Rectangle 248"/>
            <p:cNvSpPr>
              <a:spLocks noChangeArrowheads="1"/>
            </p:cNvSpPr>
            <p:nvPr/>
          </p:nvSpPr>
          <p:spPr bwMode="auto">
            <a:xfrm>
              <a:off x="184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1" name="Rectangle 249"/>
            <p:cNvSpPr>
              <a:spLocks noChangeArrowheads="1"/>
            </p:cNvSpPr>
            <p:nvPr/>
          </p:nvSpPr>
          <p:spPr bwMode="auto">
            <a:xfrm>
              <a:off x="36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2" name="Rectangle 250"/>
            <p:cNvSpPr>
              <a:spLocks noChangeArrowheads="1"/>
            </p:cNvSpPr>
            <p:nvPr/>
          </p:nvSpPr>
          <p:spPr bwMode="auto">
            <a:xfrm>
              <a:off x="728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3" name="Rectangle 251"/>
            <p:cNvSpPr>
              <a:spLocks noChangeArrowheads="1"/>
            </p:cNvSpPr>
            <p:nvPr/>
          </p:nvSpPr>
          <p:spPr bwMode="auto">
            <a:xfrm>
              <a:off x="1272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4" name="Rectangle 252"/>
            <p:cNvSpPr>
              <a:spLocks noChangeArrowheads="1"/>
            </p:cNvSpPr>
            <p:nvPr/>
          </p:nvSpPr>
          <p:spPr bwMode="auto">
            <a:xfrm>
              <a:off x="910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5" name="Rectangle 253"/>
            <p:cNvSpPr>
              <a:spLocks noChangeArrowheads="1"/>
            </p:cNvSpPr>
            <p:nvPr/>
          </p:nvSpPr>
          <p:spPr bwMode="auto">
            <a:xfrm>
              <a:off x="109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" name="Rectangle 254"/>
            <p:cNvSpPr>
              <a:spLocks noChangeArrowheads="1"/>
            </p:cNvSpPr>
            <p:nvPr/>
          </p:nvSpPr>
          <p:spPr bwMode="auto">
            <a:xfrm>
              <a:off x="1453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7" name="Rectangle 255"/>
            <p:cNvSpPr>
              <a:spLocks noChangeArrowheads="1"/>
            </p:cNvSpPr>
            <p:nvPr/>
          </p:nvSpPr>
          <p:spPr bwMode="auto">
            <a:xfrm>
              <a:off x="1997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8" name="Rectangle 256"/>
            <p:cNvSpPr>
              <a:spLocks noChangeArrowheads="1"/>
            </p:cNvSpPr>
            <p:nvPr/>
          </p:nvSpPr>
          <p:spPr bwMode="auto">
            <a:xfrm>
              <a:off x="163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9" name="Rectangle 257"/>
            <p:cNvSpPr>
              <a:spLocks noChangeArrowheads="1"/>
            </p:cNvSpPr>
            <p:nvPr/>
          </p:nvSpPr>
          <p:spPr bwMode="auto">
            <a:xfrm>
              <a:off x="1816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0" name="Rectangle 258"/>
            <p:cNvSpPr>
              <a:spLocks noChangeArrowheads="1"/>
            </p:cNvSpPr>
            <p:nvPr/>
          </p:nvSpPr>
          <p:spPr bwMode="auto">
            <a:xfrm>
              <a:off x="2179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1" name="Rectangle 259"/>
            <p:cNvSpPr>
              <a:spLocks noChangeArrowheads="1"/>
            </p:cNvSpPr>
            <p:nvPr/>
          </p:nvSpPr>
          <p:spPr bwMode="auto">
            <a:xfrm>
              <a:off x="2723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2" name="Rectangle 260"/>
            <p:cNvSpPr>
              <a:spLocks noChangeArrowheads="1"/>
            </p:cNvSpPr>
            <p:nvPr/>
          </p:nvSpPr>
          <p:spPr bwMode="auto">
            <a:xfrm>
              <a:off x="236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3" name="Rectangle 261"/>
            <p:cNvSpPr>
              <a:spLocks noChangeArrowheads="1"/>
            </p:cNvSpPr>
            <p:nvPr/>
          </p:nvSpPr>
          <p:spPr bwMode="auto">
            <a:xfrm>
              <a:off x="254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64" name="Group 262"/>
          <p:cNvGrpSpPr>
            <a:grpSpLocks/>
          </p:cNvGrpSpPr>
          <p:nvPr/>
        </p:nvGrpSpPr>
        <p:grpSpPr bwMode="auto">
          <a:xfrm rot="10800000">
            <a:off x="8532122" y="2641184"/>
            <a:ext cx="577850" cy="574675"/>
            <a:chOff x="0" y="0"/>
            <a:chExt cx="364" cy="362"/>
          </a:xfrm>
        </p:grpSpPr>
        <p:sp>
          <p:nvSpPr>
            <p:cNvPr id="265" name="Rectangle 263"/>
            <p:cNvSpPr>
              <a:spLocks noChangeArrowheads="1"/>
            </p:cNvSpPr>
            <p:nvPr/>
          </p:nvSpPr>
          <p:spPr bwMode="auto">
            <a:xfrm>
              <a:off x="182" y="0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6" name="Rectangle 264"/>
            <p:cNvSpPr>
              <a:spLocks noChangeArrowheads="1"/>
            </p:cNvSpPr>
            <p:nvPr/>
          </p:nvSpPr>
          <p:spPr bwMode="auto">
            <a:xfrm>
              <a:off x="1" y="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7" name="Rectangle 265"/>
            <p:cNvSpPr>
              <a:spLocks noChangeArrowheads="1"/>
            </p:cNvSpPr>
            <p:nvPr/>
          </p:nvSpPr>
          <p:spPr bwMode="auto">
            <a:xfrm>
              <a:off x="0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68" name="Group 266"/>
          <p:cNvGrpSpPr>
            <a:grpSpLocks/>
          </p:cNvGrpSpPr>
          <p:nvPr/>
        </p:nvGrpSpPr>
        <p:grpSpPr bwMode="auto">
          <a:xfrm rot="-5400000">
            <a:off x="7230841" y="2642771"/>
            <a:ext cx="577850" cy="574675"/>
            <a:chOff x="0" y="0"/>
            <a:chExt cx="364" cy="362"/>
          </a:xfrm>
        </p:grpSpPr>
        <p:sp>
          <p:nvSpPr>
            <p:cNvPr id="269" name="Rectangle 267"/>
            <p:cNvSpPr>
              <a:spLocks noChangeArrowheads="1"/>
            </p:cNvSpPr>
            <p:nvPr/>
          </p:nvSpPr>
          <p:spPr bwMode="auto">
            <a:xfrm>
              <a:off x="182" y="0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0" name="Rectangle 268"/>
            <p:cNvSpPr>
              <a:spLocks noChangeArrowheads="1"/>
            </p:cNvSpPr>
            <p:nvPr/>
          </p:nvSpPr>
          <p:spPr bwMode="auto">
            <a:xfrm>
              <a:off x="1" y="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1" name="Rectangle 269"/>
            <p:cNvSpPr>
              <a:spLocks noChangeArrowheads="1"/>
            </p:cNvSpPr>
            <p:nvPr/>
          </p:nvSpPr>
          <p:spPr bwMode="auto">
            <a:xfrm>
              <a:off x="0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72" name="Group 270"/>
          <p:cNvGrpSpPr>
            <a:grpSpLocks/>
          </p:cNvGrpSpPr>
          <p:nvPr/>
        </p:nvGrpSpPr>
        <p:grpSpPr bwMode="auto">
          <a:xfrm rot="-60000">
            <a:off x="7225826" y="1660652"/>
            <a:ext cx="577850" cy="574675"/>
            <a:chOff x="0" y="0"/>
            <a:chExt cx="364" cy="362"/>
          </a:xfrm>
        </p:grpSpPr>
        <p:sp>
          <p:nvSpPr>
            <p:cNvPr id="273" name="Rectangle 271"/>
            <p:cNvSpPr>
              <a:spLocks noChangeArrowheads="1"/>
            </p:cNvSpPr>
            <p:nvPr/>
          </p:nvSpPr>
          <p:spPr bwMode="auto">
            <a:xfrm>
              <a:off x="182" y="0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4" name="Rectangle 272"/>
            <p:cNvSpPr>
              <a:spLocks noChangeArrowheads="1"/>
            </p:cNvSpPr>
            <p:nvPr/>
          </p:nvSpPr>
          <p:spPr bwMode="auto">
            <a:xfrm>
              <a:off x="1" y="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5" name="Rectangle 273"/>
            <p:cNvSpPr>
              <a:spLocks noChangeArrowheads="1"/>
            </p:cNvSpPr>
            <p:nvPr/>
          </p:nvSpPr>
          <p:spPr bwMode="auto">
            <a:xfrm>
              <a:off x="0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276" name="Group 274"/>
          <p:cNvGrpSpPr>
            <a:grpSpLocks/>
          </p:cNvGrpSpPr>
          <p:nvPr/>
        </p:nvGrpSpPr>
        <p:grpSpPr bwMode="auto">
          <a:xfrm rot="5340000">
            <a:off x="8528710" y="1645428"/>
            <a:ext cx="577850" cy="574675"/>
            <a:chOff x="0" y="0"/>
            <a:chExt cx="364" cy="362"/>
          </a:xfrm>
        </p:grpSpPr>
        <p:sp>
          <p:nvSpPr>
            <p:cNvPr id="277" name="Rectangle 275"/>
            <p:cNvSpPr>
              <a:spLocks noChangeArrowheads="1"/>
            </p:cNvSpPr>
            <p:nvPr/>
          </p:nvSpPr>
          <p:spPr bwMode="auto">
            <a:xfrm>
              <a:off x="182" y="0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8" name="Rectangle 276"/>
            <p:cNvSpPr>
              <a:spLocks noChangeArrowheads="1"/>
            </p:cNvSpPr>
            <p:nvPr/>
          </p:nvSpPr>
          <p:spPr bwMode="auto">
            <a:xfrm>
              <a:off x="1" y="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9" name="Rectangle 277"/>
            <p:cNvSpPr>
              <a:spLocks noChangeArrowheads="1"/>
            </p:cNvSpPr>
            <p:nvPr/>
          </p:nvSpPr>
          <p:spPr bwMode="auto">
            <a:xfrm>
              <a:off x="0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5032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棋盘覆盖问题算法</a:t>
            </a:r>
            <a:r>
              <a:rPr lang="zh-CN" altLang="en-US" dirty="0" smtClean="0"/>
              <a:t>演示（续）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5" name="Rectangle 3"/>
          <p:cNvSpPr txBox="1">
            <a:spLocks/>
          </p:cNvSpPr>
          <p:nvPr/>
        </p:nvSpPr>
        <p:spPr>
          <a:xfrm>
            <a:off x="759636" y="874728"/>
            <a:ext cx="5364163" cy="50958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0" lang="zh-CN" altLang="en-US" sz="2800" dirty="0" smtClean="0">
                <a:latin typeface="微软雅黑" pitchFamily="34" charset="-122"/>
                <a:ea typeface="微软雅黑" pitchFamily="34" charset="-122"/>
              </a:rPr>
              <a:t>第一次分割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865999" y="1437481"/>
            <a:ext cx="4613275" cy="4606925"/>
            <a:chOff x="0" y="0"/>
            <a:chExt cx="2906" cy="2903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45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83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64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727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271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909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90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452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996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634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815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2178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2722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360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541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0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544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82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63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726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270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908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089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451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995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633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814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177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2721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2359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2540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2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546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184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365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728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1272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910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1091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1453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1997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1635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1816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2179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2723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2361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2542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1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545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Rectangle 56"/>
            <p:cNvSpPr>
              <a:spLocks noChangeArrowheads="1"/>
            </p:cNvSpPr>
            <p:nvPr/>
          </p:nvSpPr>
          <p:spPr bwMode="auto">
            <a:xfrm>
              <a:off x="183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Rectangle 57"/>
            <p:cNvSpPr>
              <a:spLocks noChangeArrowheads="1"/>
            </p:cNvSpPr>
            <p:nvPr/>
          </p:nvSpPr>
          <p:spPr bwMode="auto">
            <a:xfrm>
              <a:off x="364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Rectangle 58"/>
            <p:cNvSpPr>
              <a:spLocks noChangeArrowheads="1"/>
            </p:cNvSpPr>
            <p:nvPr/>
          </p:nvSpPr>
          <p:spPr bwMode="auto">
            <a:xfrm>
              <a:off x="727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Rectangle 59"/>
            <p:cNvSpPr>
              <a:spLocks noChangeArrowheads="1"/>
            </p:cNvSpPr>
            <p:nvPr/>
          </p:nvSpPr>
          <p:spPr bwMode="auto">
            <a:xfrm>
              <a:off x="1271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Rectangle 60"/>
            <p:cNvSpPr>
              <a:spLocks noChangeArrowheads="1"/>
            </p:cNvSpPr>
            <p:nvPr/>
          </p:nvSpPr>
          <p:spPr bwMode="auto">
            <a:xfrm>
              <a:off x="909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1090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1452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auto">
            <a:xfrm>
              <a:off x="1996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Rectangle 64"/>
            <p:cNvSpPr>
              <a:spLocks noChangeArrowheads="1"/>
            </p:cNvSpPr>
            <p:nvPr/>
          </p:nvSpPr>
          <p:spPr bwMode="auto">
            <a:xfrm>
              <a:off x="1634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1815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2178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2722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360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2541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2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546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184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365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728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1272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910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1091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1453" y="726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1997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1635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1816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2179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2723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2361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2542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1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545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183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364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727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1271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909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1090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1452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Rectangle 95"/>
            <p:cNvSpPr>
              <a:spLocks noChangeArrowheads="1"/>
            </p:cNvSpPr>
            <p:nvPr/>
          </p:nvSpPr>
          <p:spPr bwMode="auto">
            <a:xfrm>
              <a:off x="1996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Rectangle 96"/>
            <p:cNvSpPr>
              <a:spLocks noChangeArrowheads="1"/>
            </p:cNvSpPr>
            <p:nvPr/>
          </p:nvSpPr>
          <p:spPr bwMode="auto">
            <a:xfrm>
              <a:off x="1634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Rectangle 97"/>
            <p:cNvSpPr>
              <a:spLocks noChangeArrowheads="1"/>
            </p:cNvSpPr>
            <p:nvPr/>
          </p:nvSpPr>
          <p:spPr bwMode="auto">
            <a:xfrm>
              <a:off x="1815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Rectangle 98"/>
            <p:cNvSpPr>
              <a:spLocks noChangeArrowheads="1"/>
            </p:cNvSpPr>
            <p:nvPr/>
          </p:nvSpPr>
          <p:spPr bwMode="auto">
            <a:xfrm>
              <a:off x="2178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Rectangle 99"/>
            <p:cNvSpPr>
              <a:spLocks noChangeArrowheads="1"/>
            </p:cNvSpPr>
            <p:nvPr/>
          </p:nvSpPr>
          <p:spPr bwMode="auto">
            <a:xfrm>
              <a:off x="2722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Rectangle 100"/>
            <p:cNvSpPr>
              <a:spLocks noChangeArrowheads="1"/>
            </p:cNvSpPr>
            <p:nvPr/>
          </p:nvSpPr>
          <p:spPr bwMode="auto">
            <a:xfrm>
              <a:off x="2360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Rectangle 101"/>
            <p:cNvSpPr>
              <a:spLocks noChangeArrowheads="1"/>
            </p:cNvSpPr>
            <p:nvPr/>
          </p:nvSpPr>
          <p:spPr bwMode="auto">
            <a:xfrm>
              <a:off x="2541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Rectangle 102"/>
            <p:cNvSpPr>
              <a:spLocks noChangeArrowheads="1"/>
            </p:cNvSpPr>
            <p:nvPr/>
          </p:nvSpPr>
          <p:spPr bwMode="auto">
            <a:xfrm>
              <a:off x="3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547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Rectangle 104"/>
            <p:cNvSpPr>
              <a:spLocks noChangeArrowheads="1"/>
            </p:cNvSpPr>
            <p:nvPr/>
          </p:nvSpPr>
          <p:spPr bwMode="auto">
            <a:xfrm>
              <a:off x="185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>
              <a:off x="366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Rectangle 106"/>
            <p:cNvSpPr>
              <a:spLocks noChangeArrowheads="1"/>
            </p:cNvSpPr>
            <p:nvPr/>
          </p:nvSpPr>
          <p:spPr bwMode="auto">
            <a:xfrm>
              <a:off x="729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Rectangle 107"/>
            <p:cNvSpPr>
              <a:spLocks noChangeArrowheads="1"/>
            </p:cNvSpPr>
            <p:nvPr/>
          </p:nvSpPr>
          <p:spPr bwMode="auto">
            <a:xfrm>
              <a:off x="1273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Rectangle 108"/>
            <p:cNvSpPr>
              <a:spLocks noChangeArrowheads="1"/>
            </p:cNvSpPr>
            <p:nvPr/>
          </p:nvSpPr>
          <p:spPr bwMode="auto">
            <a:xfrm>
              <a:off x="911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Rectangle 109"/>
            <p:cNvSpPr>
              <a:spLocks noChangeArrowheads="1"/>
            </p:cNvSpPr>
            <p:nvPr/>
          </p:nvSpPr>
          <p:spPr bwMode="auto">
            <a:xfrm>
              <a:off x="1092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Rectangle 110"/>
            <p:cNvSpPr>
              <a:spLocks noChangeArrowheads="1"/>
            </p:cNvSpPr>
            <p:nvPr/>
          </p:nvSpPr>
          <p:spPr bwMode="auto">
            <a:xfrm>
              <a:off x="1454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1998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1636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Rectangle 113"/>
            <p:cNvSpPr>
              <a:spLocks noChangeArrowheads="1"/>
            </p:cNvSpPr>
            <p:nvPr/>
          </p:nvSpPr>
          <p:spPr bwMode="auto">
            <a:xfrm>
              <a:off x="1817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Rectangle 114"/>
            <p:cNvSpPr>
              <a:spLocks noChangeArrowheads="1"/>
            </p:cNvSpPr>
            <p:nvPr/>
          </p:nvSpPr>
          <p:spPr bwMode="auto">
            <a:xfrm>
              <a:off x="2180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Rectangle 115"/>
            <p:cNvSpPr>
              <a:spLocks noChangeArrowheads="1"/>
            </p:cNvSpPr>
            <p:nvPr/>
          </p:nvSpPr>
          <p:spPr bwMode="auto">
            <a:xfrm>
              <a:off x="2724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Rectangle 116"/>
            <p:cNvSpPr>
              <a:spLocks noChangeArrowheads="1"/>
            </p:cNvSpPr>
            <p:nvPr/>
          </p:nvSpPr>
          <p:spPr bwMode="auto">
            <a:xfrm>
              <a:off x="2362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Rectangle 117"/>
            <p:cNvSpPr>
              <a:spLocks noChangeArrowheads="1"/>
            </p:cNvSpPr>
            <p:nvPr/>
          </p:nvSpPr>
          <p:spPr bwMode="auto">
            <a:xfrm>
              <a:off x="2543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2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Rectangle 119"/>
            <p:cNvSpPr>
              <a:spLocks noChangeArrowheads="1"/>
            </p:cNvSpPr>
            <p:nvPr/>
          </p:nvSpPr>
          <p:spPr bwMode="auto">
            <a:xfrm>
              <a:off x="546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Rectangle 120"/>
            <p:cNvSpPr>
              <a:spLocks noChangeArrowheads="1"/>
            </p:cNvSpPr>
            <p:nvPr/>
          </p:nvSpPr>
          <p:spPr bwMode="auto">
            <a:xfrm>
              <a:off x="184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Rectangle 121"/>
            <p:cNvSpPr>
              <a:spLocks noChangeArrowheads="1"/>
            </p:cNvSpPr>
            <p:nvPr/>
          </p:nvSpPr>
          <p:spPr bwMode="auto">
            <a:xfrm>
              <a:off x="365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Rectangle 122"/>
            <p:cNvSpPr>
              <a:spLocks noChangeArrowheads="1"/>
            </p:cNvSpPr>
            <p:nvPr/>
          </p:nvSpPr>
          <p:spPr bwMode="auto">
            <a:xfrm>
              <a:off x="728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1272" y="1270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Rectangle 124"/>
            <p:cNvSpPr>
              <a:spLocks noChangeArrowheads="1"/>
            </p:cNvSpPr>
            <p:nvPr/>
          </p:nvSpPr>
          <p:spPr bwMode="auto">
            <a:xfrm>
              <a:off x="910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Rectangle 125"/>
            <p:cNvSpPr>
              <a:spLocks noChangeArrowheads="1"/>
            </p:cNvSpPr>
            <p:nvPr/>
          </p:nvSpPr>
          <p:spPr bwMode="auto">
            <a:xfrm>
              <a:off x="1091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Rectangle 126"/>
            <p:cNvSpPr>
              <a:spLocks noChangeArrowheads="1"/>
            </p:cNvSpPr>
            <p:nvPr/>
          </p:nvSpPr>
          <p:spPr bwMode="auto">
            <a:xfrm>
              <a:off x="1453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Rectangle 127"/>
            <p:cNvSpPr>
              <a:spLocks noChangeArrowheads="1"/>
            </p:cNvSpPr>
            <p:nvPr/>
          </p:nvSpPr>
          <p:spPr bwMode="auto">
            <a:xfrm>
              <a:off x="1997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Rectangle 128"/>
            <p:cNvSpPr>
              <a:spLocks noChangeArrowheads="1"/>
            </p:cNvSpPr>
            <p:nvPr/>
          </p:nvSpPr>
          <p:spPr bwMode="auto">
            <a:xfrm>
              <a:off x="1635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Rectangle 129"/>
            <p:cNvSpPr>
              <a:spLocks noChangeArrowheads="1"/>
            </p:cNvSpPr>
            <p:nvPr/>
          </p:nvSpPr>
          <p:spPr bwMode="auto">
            <a:xfrm>
              <a:off x="1816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Rectangle 130"/>
            <p:cNvSpPr>
              <a:spLocks noChangeArrowheads="1"/>
            </p:cNvSpPr>
            <p:nvPr/>
          </p:nvSpPr>
          <p:spPr bwMode="auto">
            <a:xfrm>
              <a:off x="2179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Rectangle 131"/>
            <p:cNvSpPr>
              <a:spLocks noChangeArrowheads="1"/>
            </p:cNvSpPr>
            <p:nvPr/>
          </p:nvSpPr>
          <p:spPr bwMode="auto">
            <a:xfrm>
              <a:off x="2723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Rectangle 132"/>
            <p:cNvSpPr>
              <a:spLocks noChangeArrowheads="1"/>
            </p:cNvSpPr>
            <p:nvPr/>
          </p:nvSpPr>
          <p:spPr bwMode="auto">
            <a:xfrm>
              <a:off x="2361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Rectangle 133"/>
            <p:cNvSpPr>
              <a:spLocks noChangeArrowheads="1"/>
            </p:cNvSpPr>
            <p:nvPr/>
          </p:nvSpPr>
          <p:spPr bwMode="auto">
            <a:xfrm>
              <a:off x="2542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Rectangle 134"/>
            <p:cNvSpPr>
              <a:spLocks noChangeArrowheads="1"/>
            </p:cNvSpPr>
            <p:nvPr/>
          </p:nvSpPr>
          <p:spPr bwMode="auto">
            <a:xfrm>
              <a:off x="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Rectangle 135"/>
            <p:cNvSpPr>
              <a:spLocks noChangeArrowheads="1"/>
            </p:cNvSpPr>
            <p:nvPr/>
          </p:nvSpPr>
          <p:spPr bwMode="auto">
            <a:xfrm>
              <a:off x="545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Rectangle 136"/>
            <p:cNvSpPr>
              <a:spLocks noChangeArrowheads="1"/>
            </p:cNvSpPr>
            <p:nvPr/>
          </p:nvSpPr>
          <p:spPr bwMode="auto">
            <a:xfrm>
              <a:off x="183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Rectangle 137"/>
            <p:cNvSpPr>
              <a:spLocks noChangeArrowheads="1"/>
            </p:cNvSpPr>
            <p:nvPr/>
          </p:nvSpPr>
          <p:spPr bwMode="auto">
            <a:xfrm>
              <a:off x="36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Rectangle 138"/>
            <p:cNvSpPr>
              <a:spLocks noChangeArrowheads="1"/>
            </p:cNvSpPr>
            <p:nvPr/>
          </p:nvSpPr>
          <p:spPr bwMode="auto">
            <a:xfrm>
              <a:off x="727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Rectangle 139"/>
            <p:cNvSpPr>
              <a:spLocks noChangeArrowheads="1"/>
            </p:cNvSpPr>
            <p:nvPr/>
          </p:nvSpPr>
          <p:spPr bwMode="auto">
            <a:xfrm>
              <a:off x="1271" y="1451"/>
              <a:ext cx="182" cy="182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Rectangle 140"/>
            <p:cNvSpPr>
              <a:spLocks noChangeArrowheads="1"/>
            </p:cNvSpPr>
            <p:nvPr/>
          </p:nvSpPr>
          <p:spPr bwMode="auto">
            <a:xfrm>
              <a:off x="909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Rectangle 141"/>
            <p:cNvSpPr>
              <a:spLocks noChangeArrowheads="1"/>
            </p:cNvSpPr>
            <p:nvPr/>
          </p:nvSpPr>
          <p:spPr bwMode="auto">
            <a:xfrm>
              <a:off x="109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Rectangle 142"/>
            <p:cNvSpPr>
              <a:spLocks noChangeArrowheads="1"/>
            </p:cNvSpPr>
            <p:nvPr/>
          </p:nvSpPr>
          <p:spPr bwMode="auto">
            <a:xfrm>
              <a:off x="1452" y="145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Rectangle 143"/>
            <p:cNvSpPr>
              <a:spLocks noChangeArrowheads="1"/>
            </p:cNvSpPr>
            <p:nvPr/>
          </p:nvSpPr>
          <p:spPr bwMode="auto">
            <a:xfrm>
              <a:off x="1996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Rectangle 144"/>
            <p:cNvSpPr>
              <a:spLocks noChangeArrowheads="1"/>
            </p:cNvSpPr>
            <p:nvPr/>
          </p:nvSpPr>
          <p:spPr bwMode="auto">
            <a:xfrm>
              <a:off x="163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Rectangle 145"/>
            <p:cNvSpPr>
              <a:spLocks noChangeArrowheads="1"/>
            </p:cNvSpPr>
            <p:nvPr/>
          </p:nvSpPr>
          <p:spPr bwMode="auto">
            <a:xfrm>
              <a:off x="1815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Rectangle 146"/>
            <p:cNvSpPr>
              <a:spLocks noChangeArrowheads="1"/>
            </p:cNvSpPr>
            <p:nvPr/>
          </p:nvSpPr>
          <p:spPr bwMode="auto">
            <a:xfrm>
              <a:off x="2178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Rectangle 147"/>
            <p:cNvSpPr>
              <a:spLocks noChangeArrowheads="1"/>
            </p:cNvSpPr>
            <p:nvPr/>
          </p:nvSpPr>
          <p:spPr bwMode="auto">
            <a:xfrm>
              <a:off x="2722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Rectangle 148"/>
            <p:cNvSpPr>
              <a:spLocks noChangeArrowheads="1"/>
            </p:cNvSpPr>
            <p:nvPr/>
          </p:nvSpPr>
          <p:spPr bwMode="auto">
            <a:xfrm>
              <a:off x="236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Rectangle 149"/>
            <p:cNvSpPr>
              <a:spLocks noChangeArrowheads="1"/>
            </p:cNvSpPr>
            <p:nvPr/>
          </p:nvSpPr>
          <p:spPr bwMode="auto">
            <a:xfrm>
              <a:off x="254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Rectangle 150"/>
            <p:cNvSpPr>
              <a:spLocks noChangeArrowheads="1"/>
            </p:cNvSpPr>
            <p:nvPr/>
          </p:nvSpPr>
          <p:spPr bwMode="auto">
            <a:xfrm>
              <a:off x="0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Rectangle 151"/>
            <p:cNvSpPr>
              <a:spLocks noChangeArrowheads="1"/>
            </p:cNvSpPr>
            <p:nvPr/>
          </p:nvSpPr>
          <p:spPr bwMode="auto">
            <a:xfrm>
              <a:off x="544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Rectangle 152"/>
            <p:cNvSpPr>
              <a:spLocks noChangeArrowheads="1"/>
            </p:cNvSpPr>
            <p:nvPr/>
          </p:nvSpPr>
          <p:spPr bwMode="auto">
            <a:xfrm>
              <a:off x="182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Rectangle 153"/>
            <p:cNvSpPr>
              <a:spLocks noChangeArrowheads="1"/>
            </p:cNvSpPr>
            <p:nvPr/>
          </p:nvSpPr>
          <p:spPr bwMode="auto">
            <a:xfrm>
              <a:off x="363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Rectangle 154"/>
            <p:cNvSpPr>
              <a:spLocks noChangeArrowheads="1"/>
            </p:cNvSpPr>
            <p:nvPr/>
          </p:nvSpPr>
          <p:spPr bwMode="auto">
            <a:xfrm>
              <a:off x="726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Rectangle 155"/>
            <p:cNvSpPr>
              <a:spLocks noChangeArrowheads="1"/>
            </p:cNvSpPr>
            <p:nvPr/>
          </p:nvSpPr>
          <p:spPr bwMode="auto">
            <a:xfrm>
              <a:off x="1270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Rectangle 156"/>
            <p:cNvSpPr>
              <a:spLocks noChangeArrowheads="1"/>
            </p:cNvSpPr>
            <p:nvPr/>
          </p:nvSpPr>
          <p:spPr bwMode="auto">
            <a:xfrm>
              <a:off x="908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Rectangle 157"/>
            <p:cNvSpPr>
              <a:spLocks noChangeArrowheads="1"/>
            </p:cNvSpPr>
            <p:nvPr/>
          </p:nvSpPr>
          <p:spPr bwMode="auto">
            <a:xfrm>
              <a:off x="1089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" name="Rectangle 158"/>
            <p:cNvSpPr>
              <a:spLocks noChangeArrowheads="1"/>
            </p:cNvSpPr>
            <p:nvPr/>
          </p:nvSpPr>
          <p:spPr bwMode="auto">
            <a:xfrm>
              <a:off x="1451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0" name="Rectangle 159"/>
            <p:cNvSpPr>
              <a:spLocks noChangeArrowheads="1"/>
            </p:cNvSpPr>
            <p:nvPr/>
          </p:nvSpPr>
          <p:spPr bwMode="auto">
            <a:xfrm>
              <a:off x="1995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1" name="Rectangle 160"/>
            <p:cNvSpPr>
              <a:spLocks noChangeArrowheads="1"/>
            </p:cNvSpPr>
            <p:nvPr/>
          </p:nvSpPr>
          <p:spPr bwMode="auto">
            <a:xfrm>
              <a:off x="1633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2" name="Rectangle 161"/>
            <p:cNvSpPr>
              <a:spLocks noChangeArrowheads="1"/>
            </p:cNvSpPr>
            <p:nvPr/>
          </p:nvSpPr>
          <p:spPr bwMode="auto">
            <a:xfrm>
              <a:off x="1814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3" name="Rectangle 162"/>
            <p:cNvSpPr>
              <a:spLocks noChangeArrowheads="1"/>
            </p:cNvSpPr>
            <p:nvPr/>
          </p:nvSpPr>
          <p:spPr bwMode="auto">
            <a:xfrm>
              <a:off x="2177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4" name="Rectangle 163"/>
            <p:cNvSpPr>
              <a:spLocks noChangeArrowheads="1"/>
            </p:cNvSpPr>
            <p:nvPr/>
          </p:nvSpPr>
          <p:spPr bwMode="auto">
            <a:xfrm>
              <a:off x="2721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5" name="Rectangle 164"/>
            <p:cNvSpPr>
              <a:spLocks noChangeArrowheads="1"/>
            </p:cNvSpPr>
            <p:nvPr/>
          </p:nvSpPr>
          <p:spPr bwMode="auto">
            <a:xfrm>
              <a:off x="2359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6" name="Rectangle 165"/>
            <p:cNvSpPr>
              <a:spLocks noChangeArrowheads="1"/>
            </p:cNvSpPr>
            <p:nvPr/>
          </p:nvSpPr>
          <p:spPr bwMode="auto">
            <a:xfrm>
              <a:off x="2540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7" name="Rectangle 166"/>
            <p:cNvSpPr>
              <a:spLocks noChangeArrowheads="1"/>
            </p:cNvSpPr>
            <p:nvPr/>
          </p:nvSpPr>
          <p:spPr bwMode="auto">
            <a:xfrm>
              <a:off x="2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8" name="Rectangle 167"/>
            <p:cNvSpPr>
              <a:spLocks noChangeArrowheads="1"/>
            </p:cNvSpPr>
            <p:nvPr/>
          </p:nvSpPr>
          <p:spPr bwMode="auto">
            <a:xfrm>
              <a:off x="546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9" name="Rectangle 168"/>
            <p:cNvSpPr>
              <a:spLocks noChangeArrowheads="1"/>
            </p:cNvSpPr>
            <p:nvPr/>
          </p:nvSpPr>
          <p:spPr bwMode="auto">
            <a:xfrm>
              <a:off x="184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0" name="Rectangle 169"/>
            <p:cNvSpPr>
              <a:spLocks noChangeArrowheads="1"/>
            </p:cNvSpPr>
            <p:nvPr/>
          </p:nvSpPr>
          <p:spPr bwMode="auto">
            <a:xfrm>
              <a:off x="365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1" name="Rectangle 170"/>
            <p:cNvSpPr>
              <a:spLocks noChangeArrowheads="1"/>
            </p:cNvSpPr>
            <p:nvPr/>
          </p:nvSpPr>
          <p:spPr bwMode="auto">
            <a:xfrm>
              <a:off x="728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2" name="Rectangle 171"/>
            <p:cNvSpPr>
              <a:spLocks noChangeArrowheads="1"/>
            </p:cNvSpPr>
            <p:nvPr/>
          </p:nvSpPr>
          <p:spPr bwMode="auto">
            <a:xfrm>
              <a:off x="1272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" name="Rectangle 172"/>
            <p:cNvSpPr>
              <a:spLocks noChangeArrowheads="1"/>
            </p:cNvSpPr>
            <p:nvPr/>
          </p:nvSpPr>
          <p:spPr bwMode="auto">
            <a:xfrm>
              <a:off x="910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4" name="Rectangle 173"/>
            <p:cNvSpPr>
              <a:spLocks noChangeArrowheads="1"/>
            </p:cNvSpPr>
            <p:nvPr/>
          </p:nvSpPr>
          <p:spPr bwMode="auto">
            <a:xfrm>
              <a:off x="1091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5" name="Rectangle 174"/>
            <p:cNvSpPr>
              <a:spLocks noChangeArrowheads="1"/>
            </p:cNvSpPr>
            <p:nvPr/>
          </p:nvSpPr>
          <p:spPr bwMode="auto">
            <a:xfrm>
              <a:off x="1453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6" name="Rectangle 175"/>
            <p:cNvSpPr>
              <a:spLocks noChangeArrowheads="1"/>
            </p:cNvSpPr>
            <p:nvPr/>
          </p:nvSpPr>
          <p:spPr bwMode="auto">
            <a:xfrm>
              <a:off x="1997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7" name="Rectangle 176"/>
            <p:cNvSpPr>
              <a:spLocks noChangeArrowheads="1"/>
            </p:cNvSpPr>
            <p:nvPr/>
          </p:nvSpPr>
          <p:spPr bwMode="auto">
            <a:xfrm>
              <a:off x="1635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8" name="Rectangle 177"/>
            <p:cNvSpPr>
              <a:spLocks noChangeArrowheads="1"/>
            </p:cNvSpPr>
            <p:nvPr/>
          </p:nvSpPr>
          <p:spPr bwMode="auto">
            <a:xfrm>
              <a:off x="1816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9" name="Rectangle 178"/>
            <p:cNvSpPr>
              <a:spLocks noChangeArrowheads="1"/>
            </p:cNvSpPr>
            <p:nvPr/>
          </p:nvSpPr>
          <p:spPr bwMode="auto">
            <a:xfrm>
              <a:off x="2179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Rectangle 179"/>
            <p:cNvSpPr>
              <a:spLocks noChangeArrowheads="1"/>
            </p:cNvSpPr>
            <p:nvPr/>
          </p:nvSpPr>
          <p:spPr bwMode="auto">
            <a:xfrm>
              <a:off x="2723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Rectangle 180"/>
            <p:cNvSpPr>
              <a:spLocks noChangeArrowheads="1"/>
            </p:cNvSpPr>
            <p:nvPr/>
          </p:nvSpPr>
          <p:spPr bwMode="auto">
            <a:xfrm>
              <a:off x="2361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Rectangle 181"/>
            <p:cNvSpPr>
              <a:spLocks noChangeArrowheads="1"/>
            </p:cNvSpPr>
            <p:nvPr/>
          </p:nvSpPr>
          <p:spPr bwMode="auto">
            <a:xfrm>
              <a:off x="2542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Rectangle 182"/>
            <p:cNvSpPr>
              <a:spLocks noChangeArrowheads="1"/>
            </p:cNvSpPr>
            <p:nvPr/>
          </p:nvSpPr>
          <p:spPr bwMode="auto">
            <a:xfrm>
              <a:off x="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Rectangle 183"/>
            <p:cNvSpPr>
              <a:spLocks noChangeArrowheads="1"/>
            </p:cNvSpPr>
            <p:nvPr/>
          </p:nvSpPr>
          <p:spPr bwMode="auto">
            <a:xfrm>
              <a:off x="545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Rectangle 184"/>
            <p:cNvSpPr>
              <a:spLocks noChangeArrowheads="1"/>
            </p:cNvSpPr>
            <p:nvPr/>
          </p:nvSpPr>
          <p:spPr bwMode="auto">
            <a:xfrm>
              <a:off x="183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6" name="Rectangle 185"/>
            <p:cNvSpPr>
              <a:spLocks noChangeArrowheads="1"/>
            </p:cNvSpPr>
            <p:nvPr/>
          </p:nvSpPr>
          <p:spPr bwMode="auto">
            <a:xfrm>
              <a:off x="36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7" name="Rectangle 186"/>
            <p:cNvSpPr>
              <a:spLocks noChangeArrowheads="1"/>
            </p:cNvSpPr>
            <p:nvPr/>
          </p:nvSpPr>
          <p:spPr bwMode="auto">
            <a:xfrm>
              <a:off x="727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8" name="Rectangle 187"/>
            <p:cNvSpPr>
              <a:spLocks noChangeArrowheads="1"/>
            </p:cNvSpPr>
            <p:nvPr/>
          </p:nvSpPr>
          <p:spPr bwMode="auto">
            <a:xfrm>
              <a:off x="1271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9" name="Rectangle 188"/>
            <p:cNvSpPr>
              <a:spLocks noChangeArrowheads="1"/>
            </p:cNvSpPr>
            <p:nvPr/>
          </p:nvSpPr>
          <p:spPr bwMode="auto">
            <a:xfrm>
              <a:off x="909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0" name="Rectangle 189"/>
            <p:cNvSpPr>
              <a:spLocks noChangeArrowheads="1"/>
            </p:cNvSpPr>
            <p:nvPr/>
          </p:nvSpPr>
          <p:spPr bwMode="auto">
            <a:xfrm>
              <a:off x="109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1" name="Rectangle 190"/>
            <p:cNvSpPr>
              <a:spLocks noChangeArrowheads="1"/>
            </p:cNvSpPr>
            <p:nvPr/>
          </p:nvSpPr>
          <p:spPr bwMode="auto">
            <a:xfrm>
              <a:off x="1452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2" name="Rectangle 191"/>
            <p:cNvSpPr>
              <a:spLocks noChangeArrowheads="1"/>
            </p:cNvSpPr>
            <p:nvPr/>
          </p:nvSpPr>
          <p:spPr bwMode="auto">
            <a:xfrm>
              <a:off x="1996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3" name="Rectangle 192"/>
            <p:cNvSpPr>
              <a:spLocks noChangeArrowheads="1"/>
            </p:cNvSpPr>
            <p:nvPr/>
          </p:nvSpPr>
          <p:spPr bwMode="auto">
            <a:xfrm>
              <a:off x="163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4" name="Rectangle 193"/>
            <p:cNvSpPr>
              <a:spLocks noChangeArrowheads="1"/>
            </p:cNvSpPr>
            <p:nvPr/>
          </p:nvSpPr>
          <p:spPr bwMode="auto">
            <a:xfrm>
              <a:off x="1815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5" name="Rectangle 194"/>
            <p:cNvSpPr>
              <a:spLocks noChangeArrowheads="1"/>
            </p:cNvSpPr>
            <p:nvPr/>
          </p:nvSpPr>
          <p:spPr bwMode="auto">
            <a:xfrm>
              <a:off x="2178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6" name="Rectangle 195"/>
            <p:cNvSpPr>
              <a:spLocks noChangeArrowheads="1"/>
            </p:cNvSpPr>
            <p:nvPr/>
          </p:nvSpPr>
          <p:spPr bwMode="auto">
            <a:xfrm>
              <a:off x="2722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7" name="Rectangle 196"/>
            <p:cNvSpPr>
              <a:spLocks noChangeArrowheads="1"/>
            </p:cNvSpPr>
            <p:nvPr/>
          </p:nvSpPr>
          <p:spPr bwMode="auto">
            <a:xfrm>
              <a:off x="236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8" name="Rectangle 197"/>
            <p:cNvSpPr>
              <a:spLocks noChangeArrowheads="1"/>
            </p:cNvSpPr>
            <p:nvPr/>
          </p:nvSpPr>
          <p:spPr bwMode="auto">
            <a:xfrm>
              <a:off x="254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9" name="Rectangle 198"/>
            <p:cNvSpPr>
              <a:spLocks noChangeArrowheads="1"/>
            </p:cNvSpPr>
            <p:nvPr/>
          </p:nvSpPr>
          <p:spPr bwMode="auto">
            <a:xfrm>
              <a:off x="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0" name="Rectangle 199"/>
            <p:cNvSpPr>
              <a:spLocks noChangeArrowheads="1"/>
            </p:cNvSpPr>
            <p:nvPr/>
          </p:nvSpPr>
          <p:spPr bwMode="auto">
            <a:xfrm>
              <a:off x="546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1" name="Rectangle 200"/>
            <p:cNvSpPr>
              <a:spLocks noChangeArrowheads="1"/>
            </p:cNvSpPr>
            <p:nvPr/>
          </p:nvSpPr>
          <p:spPr bwMode="auto">
            <a:xfrm>
              <a:off x="184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2" name="Rectangle 201"/>
            <p:cNvSpPr>
              <a:spLocks noChangeArrowheads="1"/>
            </p:cNvSpPr>
            <p:nvPr/>
          </p:nvSpPr>
          <p:spPr bwMode="auto">
            <a:xfrm>
              <a:off x="36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3" name="Rectangle 202"/>
            <p:cNvSpPr>
              <a:spLocks noChangeArrowheads="1"/>
            </p:cNvSpPr>
            <p:nvPr/>
          </p:nvSpPr>
          <p:spPr bwMode="auto">
            <a:xfrm>
              <a:off x="728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" name="Rectangle 203"/>
            <p:cNvSpPr>
              <a:spLocks noChangeArrowheads="1"/>
            </p:cNvSpPr>
            <p:nvPr/>
          </p:nvSpPr>
          <p:spPr bwMode="auto">
            <a:xfrm>
              <a:off x="1272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" name="Rectangle 204"/>
            <p:cNvSpPr>
              <a:spLocks noChangeArrowheads="1"/>
            </p:cNvSpPr>
            <p:nvPr/>
          </p:nvSpPr>
          <p:spPr bwMode="auto">
            <a:xfrm>
              <a:off x="910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" name="Rectangle 205"/>
            <p:cNvSpPr>
              <a:spLocks noChangeArrowheads="1"/>
            </p:cNvSpPr>
            <p:nvPr/>
          </p:nvSpPr>
          <p:spPr bwMode="auto">
            <a:xfrm>
              <a:off x="109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7" name="Rectangle 206"/>
            <p:cNvSpPr>
              <a:spLocks noChangeArrowheads="1"/>
            </p:cNvSpPr>
            <p:nvPr/>
          </p:nvSpPr>
          <p:spPr bwMode="auto">
            <a:xfrm>
              <a:off x="1453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8" name="Rectangle 207"/>
            <p:cNvSpPr>
              <a:spLocks noChangeArrowheads="1"/>
            </p:cNvSpPr>
            <p:nvPr/>
          </p:nvSpPr>
          <p:spPr bwMode="auto">
            <a:xfrm>
              <a:off x="1997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9" name="Rectangle 208"/>
            <p:cNvSpPr>
              <a:spLocks noChangeArrowheads="1"/>
            </p:cNvSpPr>
            <p:nvPr/>
          </p:nvSpPr>
          <p:spPr bwMode="auto">
            <a:xfrm>
              <a:off x="163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0" name="Rectangle 209"/>
            <p:cNvSpPr>
              <a:spLocks noChangeArrowheads="1"/>
            </p:cNvSpPr>
            <p:nvPr/>
          </p:nvSpPr>
          <p:spPr bwMode="auto">
            <a:xfrm>
              <a:off x="1816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1" name="Rectangle 210"/>
            <p:cNvSpPr>
              <a:spLocks noChangeArrowheads="1"/>
            </p:cNvSpPr>
            <p:nvPr/>
          </p:nvSpPr>
          <p:spPr bwMode="auto">
            <a:xfrm>
              <a:off x="2179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2" name="Rectangle 211"/>
            <p:cNvSpPr>
              <a:spLocks noChangeArrowheads="1"/>
            </p:cNvSpPr>
            <p:nvPr/>
          </p:nvSpPr>
          <p:spPr bwMode="auto">
            <a:xfrm>
              <a:off x="2723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3" name="Rectangle 212"/>
            <p:cNvSpPr>
              <a:spLocks noChangeArrowheads="1"/>
            </p:cNvSpPr>
            <p:nvPr/>
          </p:nvSpPr>
          <p:spPr bwMode="auto">
            <a:xfrm>
              <a:off x="236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4" name="Rectangle 213"/>
            <p:cNvSpPr>
              <a:spLocks noChangeArrowheads="1"/>
            </p:cNvSpPr>
            <p:nvPr/>
          </p:nvSpPr>
          <p:spPr bwMode="auto">
            <a:xfrm>
              <a:off x="254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5" name="Rectangle 214"/>
            <p:cNvSpPr>
              <a:spLocks noChangeArrowheads="1"/>
            </p:cNvSpPr>
            <p:nvPr/>
          </p:nvSpPr>
          <p:spPr bwMode="auto">
            <a:xfrm>
              <a:off x="1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6" name="Rectangle 215"/>
            <p:cNvSpPr>
              <a:spLocks noChangeArrowheads="1"/>
            </p:cNvSpPr>
            <p:nvPr/>
          </p:nvSpPr>
          <p:spPr bwMode="auto">
            <a:xfrm>
              <a:off x="545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7" name="Rectangle 216"/>
            <p:cNvSpPr>
              <a:spLocks noChangeArrowheads="1"/>
            </p:cNvSpPr>
            <p:nvPr/>
          </p:nvSpPr>
          <p:spPr bwMode="auto">
            <a:xfrm>
              <a:off x="183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8" name="Rectangle 217"/>
            <p:cNvSpPr>
              <a:spLocks noChangeArrowheads="1"/>
            </p:cNvSpPr>
            <p:nvPr/>
          </p:nvSpPr>
          <p:spPr bwMode="auto">
            <a:xfrm>
              <a:off x="364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9" name="Rectangle 218"/>
            <p:cNvSpPr>
              <a:spLocks noChangeArrowheads="1"/>
            </p:cNvSpPr>
            <p:nvPr/>
          </p:nvSpPr>
          <p:spPr bwMode="auto">
            <a:xfrm>
              <a:off x="727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0" name="Rectangle 219"/>
            <p:cNvSpPr>
              <a:spLocks noChangeArrowheads="1"/>
            </p:cNvSpPr>
            <p:nvPr/>
          </p:nvSpPr>
          <p:spPr bwMode="auto">
            <a:xfrm>
              <a:off x="1271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1" name="Rectangle 220"/>
            <p:cNvSpPr>
              <a:spLocks noChangeArrowheads="1"/>
            </p:cNvSpPr>
            <p:nvPr/>
          </p:nvSpPr>
          <p:spPr bwMode="auto">
            <a:xfrm>
              <a:off x="909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2" name="Rectangle 221"/>
            <p:cNvSpPr>
              <a:spLocks noChangeArrowheads="1"/>
            </p:cNvSpPr>
            <p:nvPr/>
          </p:nvSpPr>
          <p:spPr bwMode="auto">
            <a:xfrm>
              <a:off x="1090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3" name="Rectangle 222"/>
            <p:cNvSpPr>
              <a:spLocks noChangeArrowheads="1"/>
            </p:cNvSpPr>
            <p:nvPr/>
          </p:nvSpPr>
          <p:spPr bwMode="auto">
            <a:xfrm>
              <a:off x="1452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4" name="Rectangle 223"/>
            <p:cNvSpPr>
              <a:spLocks noChangeArrowheads="1"/>
            </p:cNvSpPr>
            <p:nvPr/>
          </p:nvSpPr>
          <p:spPr bwMode="auto">
            <a:xfrm>
              <a:off x="1996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5" name="Rectangle 224"/>
            <p:cNvSpPr>
              <a:spLocks noChangeArrowheads="1"/>
            </p:cNvSpPr>
            <p:nvPr/>
          </p:nvSpPr>
          <p:spPr bwMode="auto">
            <a:xfrm>
              <a:off x="1634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6" name="Rectangle 225"/>
            <p:cNvSpPr>
              <a:spLocks noChangeArrowheads="1"/>
            </p:cNvSpPr>
            <p:nvPr/>
          </p:nvSpPr>
          <p:spPr bwMode="auto">
            <a:xfrm>
              <a:off x="1815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7" name="Rectangle 226"/>
            <p:cNvSpPr>
              <a:spLocks noChangeArrowheads="1"/>
            </p:cNvSpPr>
            <p:nvPr/>
          </p:nvSpPr>
          <p:spPr bwMode="auto">
            <a:xfrm>
              <a:off x="2178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8" name="Rectangle 227"/>
            <p:cNvSpPr>
              <a:spLocks noChangeArrowheads="1"/>
            </p:cNvSpPr>
            <p:nvPr/>
          </p:nvSpPr>
          <p:spPr bwMode="auto">
            <a:xfrm>
              <a:off x="2722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9" name="Rectangle 228"/>
            <p:cNvSpPr>
              <a:spLocks noChangeArrowheads="1"/>
            </p:cNvSpPr>
            <p:nvPr/>
          </p:nvSpPr>
          <p:spPr bwMode="auto">
            <a:xfrm>
              <a:off x="2360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0" name="Rectangle 229"/>
            <p:cNvSpPr>
              <a:spLocks noChangeArrowheads="1"/>
            </p:cNvSpPr>
            <p:nvPr/>
          </p:nvSpPr>
          <p:spPr bwMode="auto">
            <a:xfrm>
              <a:off x="2541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1" name="Rectangle 230"/>
            <p:cNvSpPr>
              <a:spLocks noChangeArrowheads="1"/>
            </p:cNvSpPr>
            <p:nvPr/>
          </p:nvSpPr>
          <p:spPr bwMode="auto">
            <a:xfrm>
              <a:off x="3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2" name="Rectangle 231"/>
            <p:cNvSpPr>
              <a:spLocks noChangeArrowheads="1"/>
            </p:cNvSpPr>
            <p:nvPr/>
          </p:nvSpPr>
          <p:spPr bwMode="auto">
            <a:xfrm>
              <a:off x="547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3" name="Rectangle 232"/>
            <p:cNvSpPr>
              <a:spLocks noChangeArrowheads="1"/>
            </p:cNvSpPr>
            <p:nvPr/>
          </p:nvSpPr>
          <p:spPr bwMode="auto">
            <a:xfrm>
              <a:off x="185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4" name="Rectangle 233"/>
            <p:cNvSpPr>
              <a:spLocks noChangeArrowheads="1"/>
            </p:cNvSpPr>
            <p:nvPr/>
          </p:nvSpPr>
          <p:spPr bwMode="auto">
            <a:xfrm>
              <a:off x="366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" name="Rectangle 234"/>
            <p:cNvSpPr>
              <a:spLocks noChangeArrowheads="1"/>
            </p:cNvSpPr>
            <p:nvPr/>
          </p:nvSpPr>
          <p:spPr bwMode="auto">
            <a:xfrm>
              <a:off x="729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" name="Rectangle 235"/>
            <p:cNvSpPr>
              <a:spLocks noChangeArrowheads="1"/>
            </p:cNvSpPr>
            <p:nvPr/>
          </p:nvSpPr>
          <p:spPr bwMode="auto">
            <a:xfrm>
              <a:off x="1273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7" name="Rectangle 236"/>
            <p:cNvSpPr>
              <a:spLocks noChangeArrowheads="1"/>
            </p:cNvSpPr>
            <p:nvPr/>
          </p:nvSpPr>
          <p:spPr bwMode="auto">
            <a:xfrm>
              <a:off x="911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8" name="Rectangle 237"/>
            <p:cNvSpPr>
              <a:spLocks noChangeArrowheads="1"/>
            </p:cNvSpPr>
            <p:nvPr/>
          </p:nvSpPr>
          <p:spPr bwMode="auto">
            <a:xfrm>
              <a:off x="1092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9" name="Rectangle 238"/>
            <p:cNvSpPr>
              <a:spLocks noChangeArrowheads="1"/>
            </p:cNvSpPr>
            <p:nvPr/>
          </p:nvSpPr>
          <p:spPr bwMode="auto">
            <a:xfrm>
              <a:off x="1454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0" name="Rectangle 239"/>
            <p:cNvSpPr>
              <a:spLocks noChangeArrowheads="1"/>
            </p:cNvSpPr>
            <p:nvPr/>
          </p:nvSpPr>
          <p:spPr bwMode="auto">
            <a:xfrm>
              <a:off x="1998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1" name="Rectangle 240"/>
            <p:cNvSpPr>
              <a:spLocks noChangeArrowheads="1"/>
            </p:cNvSpPr>
            <p:nvPr/>
          </p:nvSpPr>
          <p:spPr bwMode="auto">
            <a:xfrm>
              <a:off x="1636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2" name="Rectangle 241"/>
            <p:cNvSpPr>
              <a:spLocks noChangeArrowheads="1"/>
            </p:cNvSpPr>
            <p:nvPr/>
          </p:nvSpPr>
          <p:spPr bwMode="auto">
            <a:xfrm>
              <a:off x="1817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3" name="Rectangle 242"/>
            <p:cNvSpPr>
              <a:spLocks noChangeArrowheads="1"/>
            </p:cNvSpPr>
            <p:nvPr/>
          </p:nvSpPr>
          <p:spPr bwMode="auto">
            <a:xfrm>
              <a:off x="2180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4" name="Rectangle 243"/>
            <p:cNvSpPr>
              <a:spLocks noChangeArrowheads="1"/>
            </p:cNvSpPr>
            <p:nvPr/>
          </p:nvSpPr>
          <p:spPr bwMode="auto">
            <a:xfrm>
              <a:off x="2724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" name="Rectangle 244"/>
            <p:cNvSpPr>
              <a:spLocks noChangeArrowheads="1"/>
            </p:cNvSpPr>
            <p:nvPr/>
          </p:nvSpPr>
          <p:spPr bwMode="auto">
            <a:xfrm>
              <a:off x="2362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" name="Rectangle 245"/>
            <p:cNvSpPr>
              <a:spLocks noChangeArrowheads="1"/>
            </p:cNvSpPr>
            <p:nvPr/>
          </p:nvSpPr>
          <p:spPr bwMode="auto">
            <a:xfrm>
              <a:off x="2543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7" name="Rectangle 246"/>
            <p:cNvSpPr>
              <a:spLocks noChangeArrowheads="1"/>
            </p:cNvSpPr>
            <p:nvPr/>
          </p:nvSpPr>
          <p:spPr bwMode="auto">
            <a:xfrm>
              <a:off x="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8" name="Rectangle 247"/>
            <p:cNvSpPr>
              <a:spLocks noChangeArrowheads="1"/>
            </p:cNvSpPr>
            <p:nvPr/>
          </p:nvSpPr>
          <p:spPr bwMode="auto">
            <a:xfrm>
              <a:off x="546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9" name="Rectangle 248"/>
            <p:cNvSpPr>
              <a:spLocks noChangeArrowheads="1"/>
            </p:cNvSpPr>
            <p:nvPr/>
          </p:nvSpPr>
          <p:spPr bwMode="auto">
            <a:xfrm>
              <a:off x="184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0" name="Rectangle 249"/>
            <p:cNvSpPr>
              <a:spLocks noChangeArrowheads="1"/>
            </p:cNvSpPr>
            <p:nvPr/>
          </p:nvSpPr>
          <p:spPr bwMode="auto">
            <a:xfrm>
              <a:off x="36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1" name="Rectangle 250"/>
            <p:cNvSpPr>
              <a:spLocks noChangeArrowheads="1"/>
            </p:cNvSpPr>
            <p:nvPr/>
          </p:nvSpPr>
          <p:spPr bwMode="auto">
            <a:xfrm>
              <a:off x="728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2" name="Rectangle 251"/>
            <p:cNvSpPr>
              <a:spLocks noChangeArrowheads="1"/>
            </p:cNvSpPr>
            <p:nvPr/>
          </p:nvSpPr>
          <p:spPr bwMode="auto">
            <a:xfrm>
              <a:off x="1272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3" name="Rectangle 252"/>
            <p:cNvSpPr>
              <a:spLocks noChangeArrowheads="1"/>
            </p:cNvSpPr>
            <p:nvPr/>
          </p:nvSpPr>
          <p:spPr bwMode="auto">
            <a:xfrm>
              <a:off x="910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4" name="Rectangle 253"/>
            <p:cNvSpPr>
              <a:spLocks noChangeArrowheads="1"/>
            </p:cNvSpPr>
            <p:nvPr/>
          </p:nvSpPr>
          <p:spPr bwMode="auto">
            <a:xfrm>
              <a:off x="109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5" name="Rectangle 254"/>
            <p:cNvSpPr>
              <a:spLocks noChangeArrowheads="1"/>
            </p:cNvSpPr>
            <p:nvPr/>
          </p:nvSpPr>
          <p:spPr bwMode="auto">
            <a:xfrm>
              <a:off x="1453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" name="Rectangle 255"/>
            <p:cNvSpPr>
              <a:spLocks noChangeArrowheads="1"/>
            </p:cNvSpPr>
            <p:nvPr/>
          </p:nvSpPr>
          <p:spPr bwMode="auto">
            <a:xfrm>
              <a:off x="1997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7" name="Rectangle 256"/>
            <p:cNvSpPr>
              <a:spLocks noChangeArrowheads="1"/>
            </p:cNvSpPr>
            <p:nvPr/>
          </p:nvSpPr>
          <p:spPr bwMode="auto">
            <a:xfrm>
              <a:off x="163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8" name="Rectangle 257"/>
            <p:cNvSpPr>
              <a:spLocks noChangeArrowheads="1"/>
            </p:cNvSpPr>
            <p:nvPr/>
          </p:nvSpPr>
          <p:spPr bwMode="auto">
            <a:xfrm>
              <a:off x="1816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9" name="Rectangle 258"/>
            <p:cNvSpPr>
              <a:spLocks noChangeArrowheads="1"/>
            </p:cNvSpPr>
            <p:nvPr/>
          </p:nvSpPr>
          <p:spPr bwMode="auto">
            <a:xfrm>
              <a:off x="2179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0" name="Rectangle 259"/>
            <p:cNvSpPr>
              <a:spLocks noChangeArrowheads="1"/>
            </p:cNvSpPr>
            <p:nvPr/>
          </p:nvSpPr>
          <p:spPr bwMode="auto">
            <a:xfrm>
              <a:off x="2723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1" name="Rectangle 260"/>
            <p:cNvSpPr>
              <a:spLocks noChangeArrowheads="1"/>
            </p:cNvSpPr>
            <p:nvPr/>
          </p:nvSpPr>
          <p:spPr bwMode="auto">
            <a:xfrm>
              <a:off x="236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2" name="Rectangle 261"/>
            <p:cNvSpPr>
              <a:spLocks noChangeArrowheads="1"/>
            </p:cNvSpPr>
            <p:nvPr/>
          </p:nvSpPr>
          <p:spPr bwMode="auto">
            <a:xfrm>
              <a:off x="254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63" name="Line 262"/>
          <p:cNvSpPr>
            <a:spLocks noChangeShapeType="1"/>
          </p:cNvSpPr>
          <p:nvPr/>
        </p:nvSpPr>
        <p:spPr bwMode="auto">
          <a:xfrm>
            <a:off x="3171049" y="1221581"/>
            <a:ext cx="0" cy="50403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" name="Line 263"/>
          <p:cNvSpPr>
            <a:spLocks noChangeShapeType="1"/>
          </p:cNvSpPr>
          <p:nvPr/>
        </p:nvSpPr>
        <p:spPr bwMode="auto">
          <a:xfrm>
            <a:off x="578661" y="3742531"/>
            <a:ext cx="5364163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615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棋盘覆盖问题算法演示（续）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5" name="Rectangle 3"/>
          <p:cNvSpPr txBox="1">
            <a:spLocks/>
          </p:cNvSpPr>
          <p:nvPr/>
        </p:nvSpPr>
        <p:spPr>
          <a:xfrm>
            <a:off x="849988" y="796527"/>
            <a:ext cx="2663825" cy="45682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0" lang="zh-CN" altLang="en-US" sz="2800" dirty="0" smtClean="0">
                <a:latin typeface="微软雅黑" pitchFamily="34" charset="-122"/>
                <a:ea typeface="微软雅黑" pitchFamily="34" charset="-122"/>
              </a:rPr>
              <a:t>第二次分割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985223" y="1529291"/>
            <a:ext cx="4613275" cy="4606925"/>
            <a:chOff x="0" y="0"/>
            <a:chExt cx="2906" cy="2903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45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83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64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727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271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909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90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452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996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634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815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2178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2722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360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541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0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544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82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63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726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270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908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089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451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995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633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814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177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2721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2359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2540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2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546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184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365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728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1272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910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1091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1453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1997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1635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1816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2179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2723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2361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2542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1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545" y="544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Rectangle 56"/>
            <p:cNvSpPr>
              <a:spLocks noChangeArrowheads="1"/>
            </p:cNvSpPr>
            <p:nvPr/>
          </p:nvSpPr>
          <p:spPr bwMode="auto">
            <a:xfrm>
              <a:off x="183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Rectangle 57"/>
            <p:cNvSpPr>
              <a:spLocks noChangeArrowheads="1"/>
            </p:cNvSpPr>
            <p:nvPr/>
          </p:nvSpPr>
          <p:spPr bwMode="auto">
            <a:xfrm>
              <a:off x="364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Rectangle 58"/>
            <p:cNvSpPr>
              <a:spLocks noChangeArrowheads="1"/>
            </p:cNvSpPr>
            <p:nvPr/>
          </p:nvSpPr>
          <p:spPr bwMode="auto">
            <a:xfrm>
              <a:off x="727" y="54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Rectangle 59"/>
            <p:cNvSpPr>
              <a:spLocks noChangeArrowheads="1"/>
            </p:cNvSpPr>
            <p:nvPr/>
          </p:nvSpPr>
          <p:spPr bwMode="auto">
            <a:xfrm>
              <a:off x="1271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Rectangle 60"/>
            <p:cNvSpPr>
              <a:spLocks noChangeArrowheads="1"/>
            </p:cNvSpPr>
            <p:nvPr/>
          </p:nvSpPr>
          <p:spPr bwMode="auto">
            <a:xfrm>
              <a:off x="909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1090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1452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auto">
            <a:xfrm>
              <a:off x="1996" y="544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Rectangle 64"/>
            <p:cNvSpPr>
              <a:spLocks noChangeArrowheads="1"/>
            </p:cNvSpPr>
            <p:nvPr/>
          </p:nvSpPr>
          <p:spPr bwMode="auto">
            <a:xfrm>
              <a:off x="1634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1815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2178" y="54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2722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360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2541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2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546" y="726"/>
              <a:ext cx="182" cy="182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184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365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728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1272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910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1091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1453" y="726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1997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1635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1816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2179" y="726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2723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2361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2542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1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545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183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364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727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1271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909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1090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1452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Rectangle 95"/>
            <p:cNvSpPr>
              <a:spLocks noChangeArrowheads="1"/>
            </p:cNvSpPr>
            <p:nvPr/>
          </p:nvSpPr>
          <p:spPr bwMode="auto">
            <a:xfrm>
              <a:off x="1996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Rectangle 96"/>
            <p:cNvSpPr>
              <a:spLocks noChangeArrowheads="1"/>
            </p:cNvSpPr>
            <p:nvPr/>
          </p:nvSpPr>
          <p:spPr bwMode="auto">
            <a:xfrm>
              <a:off x="1634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Rectangle 97"/>
            <p:cNvSpPr>
              <a:spLocks noChangeArrowheads="1"/>
            </p:cNvSpPr>
            <p:nvPr/>
          </p:nvSpPr>
          <p:spPr bwMode="auto">
            <a:xfrm>
              <a:off x="1815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Rectangle 98"/>
            <p:cNvSpPr>
              <a:spLocks noChangeArrowheads="1"/>
            </p:cNvSpPr>
            <p:nvPr/>
          </p:nvSpPr>
          <p:spPr bwMode="auto">
            <a:xfrm>
              <a:off x="2178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Rectangle 99"/>
            <p:cNvSpPr>
              <a:spLocks noChangeArrowheads="1"/>
            </p:cNvSpPr>
            <p:nvPr/>
          </p:nvSpPr>
          <p:spPr bwMode="auto">
            <a:xfrm>
              <a:off x="2722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Rectangle 100"/>
            <p:cNvSpPr>
              <a:spLocks noChangeArrowheads="1"/>
            </p:cNvSpPr>
            <p:nvPr/>
          </p:nvSpPr>
          <p:spPr bwMode="auto">
            <a:xfrm>
              <a:off x="2360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Rectangle 101"/>
            <p:cNvSpPr>
              <a:spLocks noChangeArrowheads="1"/>
            </p:cNvSpPr>
            <p:nvPr/>
          </p:nvSpPr>
          <p:spPr bwMode="auto">
            <a:xfrm>
              <a:off x="2541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Rectangle 102"/>
            <p:cNvSpPr>
              <a:spLocks noChangeArrowheads="1"/>
            </p:cNvSpPr>
            <p:nvPr/>
          </p:nvSpPr>
          <p:spPr bwMode="auto">
            <a:xfrm>
              <a:off x="3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547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Rectangle 104"/>
            <p:cNvSpPr>
              <a:spLocks noChangeArrowheads="1"/>
            </p:cNvSpPr>
            <p:nvPr/>
          </p:nvSpPr>
          <p:spPr bwMode="auto">
            <a:xfrm>
              <a:off x="185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>
              <a:off x="366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Rectangle 106"/>
            <p:cNvSpPr>
              <a:spLocks noChangeArrowheads="1"/>
            </p:cNvSpPr>
            <p:nvPr/>
          </p:nvSpPr>
          <p:spPr bwMode="auto">
            <a:xfrm>
              <a:off x="729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Rectangle 107"/>
            <p:cNvSpPr>
              <a:spLocks noChangeArrowheads="1"/>
            </p:cNvSpPr>
            <p:nvPr/>
          </p:nvSpPr>
          <p:spPr bwMode="auto">
            <a:xfrm>
              <a:off x="1273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Rectangle 108"/>
            <p:cNvSpPr>
              <a:spLocks noChangeArrowheads="1"/>
            </p:cNvSpPr>
            <p:nvPr/>
          </p:nvSpPr>
          <p:spPr bwMode="auto">
            <a:xfrm>
              <a:off x="911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Rectangle 109"/>
            <p:cNvSpPr>
              <a:spLocks noChangeArrowheads="1"/>
            </p:cNvSpPr>
            <p:nvPr/>
          </p:nvSpPr>
          <p:spPr bwMode="auto">
            <a:xfrm>
              <a:off x="1092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Rectangle 110"/>
            <p:cNvSpPr>
              <a:spLocks noChangeArrowheads="1"/>
            </p:cNvSpPr>
            <p:nvPr/>
          </p:nvSpPr>
          <p:spPr bwMode="auto">
            <a:xfrm>
              <a:off x="1454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1998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1636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Rectangle 113"/>
            <p:cNvSpPr>
              <a:spLocks noChangeArrowheads="1"/>
            </p:cNvSpPr>
            <p:nvPr/>
          </p:nvSpPr>
          <p:spPr bwMode="auto">
            <a:xfrm>
              <a:off x="1817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Rectangle 114"/>
            <p:cNvSpPr>
              <a:spLocks noChangeArrowheads="1"/>
            </p:cNvSpPr>
            <p:nvPr/>
          </p:nvSpPr>
          <p:spPr bwMode="auto">
            <a:xfrm>
              <a:off x="2180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Rectangle 115"/>
            <p:cNvSpPr>
              <a:spLocks noChangeArrowheads="1"/>
            </p:cNvSpPr>
            <p:nvPr/>
          </p:nvSpPr>
          <p:spPr bwMode="auto">
            <a:xfrm>
              <a:off x="2724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Rectangle 116"/>
            <p:cNvSpPr>
              <a:spLocks noChangeArrowheads="1"/>
            </p:cNvSpPr>
            <p:nvPr/>
          </p:nvSpPr>
          <p:spPr bwMode="auto">
            <a:xfrm>
              <a:off x="2362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Rectangle 117"/>
            <p:cNvSpPr>
              <a:spLocks noChangeArrowheads="1"/>
            </p:cNvSpPr>
            <p:nvPr/>
          </p:nvSpPr>
          <p:spPr bwMode="auto">
            <a:xfrm>
              <a:off x="2543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2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Rectangle 119"/>
            <p:cNvSpPr>
              <a:spLocks noChangeArrowheads="1"/>
            </p:cNvSpPr>
            <p:nvPr/>
          </p:nvSpPr>
          <p:spPr bwMode="auto">
            <a:xfrm>
              <a:off x="546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Rectangle 120"/>
            <p:cNvSpPr>
              <a:spLocks noChangeArrowheads="1"/>
            </p:cNvSpPr>
            <p:nvPr/>
          </p:nvSpPr>
          <p:spPr bwMode="auto">
            <a:xfrm>
              <a:off x="184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Rectangle 121"/>
            <p:cNvSpPr>
              <a:spLocks noChangeArrowheads="1"/>
            </p:cNvSpPr>
            <p:nvPr/>
          </p:nvSpPr>
          <p:spPr bwMode="auto">
            <a:xfrm>
              <a:off x="365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Rectangle 122"/>
            <p:cNvSpPr>
              <a:spLocks noChangeArrowheads="1"/>
            </p:cNvSpPr>
            <p:nvPr/>
          </p:nvSpPr>
          <p:spPr bwMode="auto">
            <a:xfrm>
              <a:off x="728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1272" y="1270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Rectangle 124"/>
            <p:cNvSpPr>
              <a:spLocks noChangeArrowheads="1"/>
            </p:cNvSpPr>
            <p:nvPr/>
          </p:nvSpPr>
          <p:spPr bwMode="auto">
            <a:xfrm>
              <a:off x="910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Rectangle 125"/>
            <p:cNvSpPr>
              <a:spLocks noChangeArrowheads="1"/>
            </p:cNvSpPr>
            <p:nvPr/>
          </p:nvSpPr>
          <p:spPr bwMode="auto">
            <a:xfrm>
              <a:off x="1091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Rectangle 126"/>
            <p:cNvSpPr>
              <a:spLocks noChangeArrowheads="1"/>
            </p:cNvSpPr>
            <p:nvPr/>
          </p:nvSpPr>
          <p:spPr bwMode="auto">
            <a:xfrm>
              <a:off x="1453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Rectangle 127"/>
            <p:cNvSpPr>
              <a:spLocks noChangeArrowheads="1"/>
            </p:cNvSpPr>
            <p:nvPr/>
          </p:nvSpPr>
          <p:spPr bwMode="auto">
            <a:xfrm>
              <a:off x="1997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Rectangle 128"/>
            <p:cNvSpPr>
              <a:spLocks noChangeArrowheads="1"/>
            </p:cNvSpPr>
            <p:nvPr/>
          </p:nvSpPr>
          <p:spPr bwMode="auto">
            <a:xfrm>
              <a:off x="1635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Rectangle 129"/>
            <p:cNvSpPr>
              <a:spLocks noChangeArrowheads="1"/>
            </p:cNvSpPr>
            <p:nvPr/>
          </p:nvSpPr>
          <p:spPr bwMode="auto">
            <a:xfrm>
              <a:off x="1816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Rectangle 130"/>
            <p:cNvSpPr>
              <a:spLocks noChangeArrowheads="1"/>
            </p:cNvSpPr>
            <p:nvPr/>
          </p:nvSpPr>
          <p:spPr bwMode="auto">
            <a:xfrm>
              <a:off x="2179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Rectangle 131"/>
            <p:cNvSpPr>
              <a:spLocks noChangeArrowheads="1"/>
            </p:cNvSpPr>
            <p:nvPr/>
          </p:nvSpPr>
          <p:spPr bwMode="auto">
            <a:xfrm>
              <a:off x="2723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Rectangle 132"/>
            <p:cNvSpPr>
              <a:spLocks noChangeArrowheads="1"/>
            </p:cNvSpPr>
            <p:nvPr/>
          </p:nvSpPr>
          <p:spPr bwMode="auto">
            <a:xfrm>
              <a:off x="2361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Rectangle 133"/>
            <p:cNvSpPr>
              <a:spLocks noChangeArrowheads="1"/>
            </p:cNvSpPr>
            <p:nvPr/>
          </p:nvSpPr>
          <p:spPr bwMode="auto">
            <a:xfrm>
              <a:off x="2542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Rectangle 134"/>
            <p:cNvSpPr>
              <a:spLocks noChangeArrowheads="1"/>
            </p:cNvSpPr>
            <p:nvPr/>
          </p:nvSpPr>
          <p:spPr bwMode="auto">
            <a:xfrm>
              <a:off x="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Rectangle 135"/>
            <p:cNvSpPr>
              <a:spLocks noChangeArrowheads="1"/>
            </p:cNvSpPr>
            <p:nvPr/>
          </p:nvSpPr>
          <p:spPr bwMode="auto">
            <a:xfrm>
              <a:off x="545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Rectangle 136"/>
            <p:cNvSpPr>
              <a:spLocks noChangeArrowheads="1"/>
            </p:cNvSpPr>
            <p:nvPr/>
          </p:nvSpPr>
          <p:spPr bwMode="auto">
            <a:xfrm>
              <a:off x="183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Rectangle 137"/>
            <p:cNvSpPr>
              <a:spLocks noChangeArrowheads="1"/>
            </p:cNvSpPr>
            <p:nvPr/>
          </p:nvSpPr>
          <p:spPr bwMode="auto">
            <a:xfrm>
              <a:off x="36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Rectangle 138"/>
            <p:cNvSpPr>
              <a:spLocks noChangeArrowheads="1"/>
            </p:cNvSpPr>
            <p:nvPr/>
          </p:nvSpPr>
          <p:spPr bwMode="auto">
            <a:xfrm>
              <a:off x="727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Rectangle 139"/>
            <p:cNvSpPr>
              <a:spLocks noChangeArrowheads="1"/>
            </p:cNvSpPr>
            <p:nvPr/>
          </p:nvSpPr>
          <p:spPr bwMode="auto">
            <a:xfrm>
              <a:off x="1271" y="1451"/>
              <a:ext cx="182" cy="182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Rectangle 140"/>
            <p:cNvSpPr>
              <a:spLocks noChangeArrowheads="1"/>
            </p:cNvSpPr>
            <p:nvPr/>
          </p:nvSpPr>
          <p:spPr bwMode="auto">
            <a:xfrm>
              <a:off x="909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Rectangle 141"/>
            <p:cNvSpPr>
              <a:spLocks noChangeArrowheads="1"/>
            </p:cNvSpPr>
            <p:nvPr/>
          </p:nvSpPr>
          <p:spPr bwMode="auto">
            <a:xfrm>
              <a:off x="109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Rectangle 142"/>
            <p:cNvSpPr>
              <a:spLocks noChangeArrowheads="1"/>
            </p:cNvSpPr>
            <p:nvPr/>
          </p:nvSpPr>
          <p:spPr bwMode="auto">
            <a:xfrm>
              <a:off x="1452" y="145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Rectangle 143"/>
            <p:cNvSpPr>
              <a:spLocks noChangeArrowheads="1"/>
            </p:cNvSpPr>
            <p:nvPr/>
          </p:nvSpPr>
          <p:spPr bwMode="auto">
            <a:xfrm>
              <a:off x="1996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Rectangle 144"/>
            <p:cNvSpPr>
              <a:spLocks noChangeArrowheads="1"/>
            </p:cNvSpPr>
            <p:nvPr/>
          </p:nvSpPr>
          <p:spPr bwMode="auto">
            <a:xfrm>
              <a:off x="163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Rectangle 145"/>
            <p:cNvSpPr>
              <a:spLocks noChangeArrowheads="1"/>
            </p:cNvSpPr>
            <p:nvPr/>
          </p:nvSpPr>
          <p:spPr bwMode="auto">
            <a:xfrm>
              <a:off x="1815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Rectangle 146"/>
            <p:cNvSpPr>
              <a:spLocks noChangeArrowheads="1"/>
            </p:cNvSpPr>
            <p:nvPr/>
          </p:nvSpPr>
          <p:spPr bwMode="auto">
            <a:xfrm>
              <a:off x="2178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Rectangle 147"/>
            <p:cNvSpPr>
              <a:spLocks noChangeArrowheads="1"/>
            </p:cNvSpPr>
            <p:nvPr/>
          </p:nvSpPr>
          <p:spPr bwMode="auto">
            <a:xfrm>
              <a:off x="2722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Rectangle 148"/>
            <p:cNvSpPr>
              <a:spLocks noChangeArrowheads="1"/>
            </p:cNvSpPr>
            <p:nvPr/>
          </p:nvSpPr>
          <p:spPr bwMode="auto">
            <a:xfrm>
              <a:off x="236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Rectangle 149"/>
            <p:cNvSpPr>
              <a:spLocks noChangeArrowheads="1"/>
            </p:cNvSpPr>
            <p:nvPr/>
          </p:nvSpPr>
          <p:spPr bwMode="auto">
            <a:xfrm>
              <a:off x="254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Rectangle 150"/>
            <p:cNvSpPr>
              <a:spLocks noChangeArrowheads="1"/>
            </p:cNvSpPr>
            <p:nvPr/>
          </p:nvSpPr>
          <p:spPr bwMode="auto">
            <a:xfrm>
              <a:off x="0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Rectangle 151"/>
            <p:cNvSpPr>
              <a:spLocks noChangeArrowheads="1"/>
            </p:cNvSpPr>
            <p:nvPr/>
          </p:nvSpPr>
          <p:spPr bwMode="auto">
            <a:xfrm>
              <a:off x="544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Rectangle 152"/>
            <p:cNvSpPr>
              <a:spLocks noChangeArrowheads="1"/>
            </p:cNvSpPr>
            <p:nvPr/>
          </p:nvSpPr>
          <p:spPr bwMode="auto">
            <a:xfrm>
              <a:off x="182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Rectangle 153"/>
            <p:cNvSpPr>
              <a:spLocks noChangeArrowheads="1"/>
            </p:cNvSpPr>
            <p:nvPr/>
          </p:nvSpPr>
          <p:spPr bwMode="auto">
            <a:xfrm>
              <a:off x="363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Rectangle 154"/>
            <p:cNvSpPr>
              <a:spLocks noChangeArrowheads="1"/>
            </p:cNvSpPr>
            <p:nvPr/>
          </p:nvSpPr>
          <p:spPr bwMode="auto">
            <a:xfrm>
              <a:off x="726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Rectangle 155"/>
            <p:cNvSpPr>
              <a:spLocks noChangeArrowheads="1"/>
            </p:cNvSpPr>
            <p:nvPr/>
          </p:nvSpPr>
          <p:spPr bwMode="auto">
            <a:xfrm>
              <a:off x="1270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Rectangle 156"/>
            <p:cNvSpPr>
              <a:spLocks noChangeArrowheads="1"/>
            </p:cNvSpPr>
            <p:nvPr/>
          </p:nvSpPr>
          <p:spPr bwMode="auto">
            <a:xfrm>
              <a:off x="908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Rectangle 157"/>
            <p:cNvSpPr>
              <a:spLocks noChangeArrowheads="1"/>
            </p:cNvSpPr>
            <p:nvPr/>
          </p:nvSpPr>
          <p:spPr bwMode="auto">
            <a:xfrm>
              <a:off x="1089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" name="Rectangle 158"/>
            <p:cNvSpPr>
              <a:spLocks noChangeArrowheads="1"/>
            </p:cNvSpPr>
            <p:nvPr/>
          </p:nvSpPr>
          <p:spPr bwMode="auto">
            <a:xfrm>
              <a:off x="1451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0" name="Rectangle 159"/>
            <p:cNvSpPr>
              <a:spLocks noChangeArrowheads="1"/>
            </p:cNvSpPr>
            <p:nvPr/>
          </p:nvSpPr>
          <p:spPr bwMode="auto">
            <a:xfrm>
              <a:off x="1995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1" name="Rectangle 160"/>
            <p:cNvSpPr>
              <a:spLocks noChangeArrowheads="1"/>
            </p:cNvSpPr>
            <p:nvPr/>
          </p:nvSpPr>
          <p:spPr bwMode="auto">
            <a:xfrm>
              <a:off x="1633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2" name="Rectangle 161"/>
            <p:cNvSpPr>
              <a:spLocks noChangeArrowheads="1"/>
            </p:cNvSpPr>
            <p:nvPr/>
          </p:nvSpPr>
          <p:spPr bwMode="auto">
            <a:xfrm>
              <a:off x="1814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3" name="Rectangle 162"/>
            <p:cNvSpPr>
              <a:spLocks noChangeArrowheads="1"/>
            </p:cNvSpPr>
            <p:nvPr/>
          </p:nvSpPr>
          <p:spPr bwMode="auto">
            <a:xfrm>
              <a:off x="2177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4" name="Rectangle 163"/>
            <p:cNvSpPr>
              <a:spLocks noChangeArrowheads="1"/>
            </p:cNvSpPr>
            <p:nvPr/>
          </p:nvSpPr>
          <p:spPr bwMode="auto">
            <a:xfrm>
              <a:off x="2721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5" name="Rectangle 164"/>
            <p:cNvSpPr>
              <a:spLocks noChangeArrowheads="1"/>
            </p:cNvSpPr>
            <p:nvPr/>
          </p:nvSpPr>
          <p:spPr bwMode="auto">
            <a:xfrm>
              <a:off x="2359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6" name="Rectangle 165"/>
            <p:cNvSpPr>
              <a:spLocks noChangeArrowheads="1"/>
            </p:cNvSpPr>
            <p:nvPr/>
          </p:nvSpPr>
          <p:spPr bwMode="auto">
            <a:xfrm>
              <a:off x="2540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7" name="Rectangle 166"/>
            <p:cNvSpPr>
              <a:spLocks noChangeArrowheads="1"/>
            </p:cNvSpPr>
            <p:nvPr/>
          </p:nvSpPr>
          <p:spPr bwMode="auto">
            <a:xfrm>
              <a:off x="2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8" name="Rectangle 167"/>
            <p:cNvSpPr>
              <a:spLocks noChangeArrowheads="1"/>
            </p:cNvSpPr>
            <p:nvPr/>
          </p:nvSpPr>
          <p:spPr bwMode="auto">
            <a:xfrm>
              <a:off x="546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9" name="Rectangle 168"/>
            <p:cNvSpPr>
              <a:spLocks noChangeArrowheads="1"/>
            </p:cNvSpPr>
            <p:nvPr/>
          </p:nvSpPr>
          <p:spPr bwMode="auto">
            <a:xfrm>
              <a:off x="184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0" name="Rectangle 169"/>
            <p:cNvSpPr>
              <a:spLocks noChangeArrowheads="1"/>
            </p:cNvSpPr>
            <p:nvPr/>
          </p:nvSpPr>
          <p:spPr bwMode="auto">
            <a:xfrm>
              <a:off x="365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1" name="Rectangle 170"/>
            <p:cNvSpPr>
              <a:spLocks noChangeArrowheads="1"/>
            </p:cNvSpPr>
            <p:nvPr/>
          </p:nvSpPr>
          <p:spPr bwMode="auto">
            <a:xfrm>
              <a:off x="728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2" name="Rectangle 171"/>
            <p:cNvSpPr>
              <a:spLocks noChangeArrowheads="1"/>
            </p:cNvSpPr>
            <p:nvPr/>
          </p:nvSpPr>
          <p:spPr bwMode="auto">
            <a:xfrm>
              <a:off x="1272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" name="Rectangle 172"/>
            <p:cNvSpPr>
              <a:spLocks noChangeArrowheads="1"/>
            </p:cNvSpPr>
            <p:nvPr/>
          </p:nvSpPr>
          <p:spPr bwMode="auto">
            <a:xfrm>
              <a:off x="910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4" name="Rectangle 173"/>
            <p:cNvSpPr>
              <a:spLocks noChangeArrowheads="1"/>
            </p:cNvSpPr>
            <p:nvPr/>
          </p:nvSpPr>
          <p:spPr bwMode="auto">
            <a:xfrm>
              <a:off x="1091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5" name="Rectangle 174"/>
            <p:cNvSpPr>
              <a:spLocks noChangeArrowheads="1"/>
            </p:cNvSpPr>
            <p:nvPr/>
          </p:nvSpPr>
          <p:spPr bwMode="auto">
            <a:xfrm>
              <a:off x="1453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6" name="Rectangle 175"/>
            <p:cNvSpPr>
              <a:spLocks noChangeArrowheads="1"/>
            </p:cNvSpPr>
            <p:nvPr/>
          </p:nvSpPr>
          <p:spPr bwMode="auto">
            <a:xfrm>
              <a:off x="1997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7" name="Rectangle 176"/>
            <p:cNvSpPr>
              <a:spLocks noChangeArrowheads="1"/>
            </p:cNvSpPr>
            <p:nvPr/>
          </p:nvSpPr>
          <p:spPr bwMode="auto">
            <a:xfrm>
              <a:off x="1635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8" name="Rectangle 177"/>
            <p:cNvSpPr>
              <a:spLocks noChangeArrowheads="1"/>
            </p:cNvSpPr>
            <p:nvPr/>
          </p:nvSpPr>
          <p:spPr bwMode="auto">
            <a:xfrm>
              <a:off x="1816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9" name="Rectangle 178"/>
            <p:cNvSpPr>
              <a:spLocks noChangeArrowheads="1"/>
            </p:cNvSpPr>
            <p:nvPr/>
          </p:nvSpPr>
          <p:spPr bwMode="auto">
            <a:xfrm>
              <a:off x="2179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Rectangle 179"/>
            <p:cNvSpPr>
              <a:spLocks noChangeArrowheads="1"/>
            </p:cNvSpPr>
            <p:nvPr/>
          </p:nvSpPr>
          <p:spPr bwMode="auto">
            <a:xfrm>
              <a:off x="2723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Rectangle 180"/>
            <p:cNvSpPr>
              <a:spLocks noChangeArrowheads="1"/>
            </p:cNvSpPr>
            <p:nvPr/>
          </p:nvSpPr>
          <p:spPr bwMode="auto">
            <a:xfrm>
              <a:off x="2361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Rectangle 181"/>
            <p:cNvSpPr>
              <a:spLocks noChangeArrowheads="1"/>
            </p:cNvSpPr>
            <p:nvPr/>
          </p:nvSpPr>
          <p:spPr bwMode="auto">
            <a:xfrm>
              <a:off x="2542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Rectangle 182"/>
            <p:cNvSpPr>
              <a:spLocks noChangeArrowheads="1"/>
            </p:cNvSpPr>
            <p:nvPr/>
          </p:nvSpPr>
          <p:spPr bwMode="auto">
            <a:xfrm>
              <a:off x="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Rectangle 183"/>
            <p:cNvSpPr>
              <a:spLocks noChangeArrowheads="1"/>
            </p:cNvSpPr>
            <p:nvPr/>
          </p:nvSpPr>
          <p:spPr bwMode="auto">
            <a:xfrm>
              <a:off x="545" y="1995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Rectangle 184"/>
            <p:cNvSpPr>
              <a:spLocks noChangeArrowheads="1"/>
            </p:cNvSpPr>
            <p:nvPr/>
          </p:nvSpPr>
          <p:spPr bwMode="auto">
            <a:xfrm>
              <a:off x="183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6" name="Rectangle 185"/>
            <p:cNvSpPr>
              <a:spLocks noChangeArrowheads="1"/>
            </p:cNvSpPr>
            <p:nvPr/>
          </p:nvSpPr>
          <p:spPr bwMode="auto">
            <a:xfrm>
              <a:off x="36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7" name="Rectangle 186"/>
            <p:cNvSpPr>
              <a:spLocks noChangeArrowheads="1"/>
            </p:cNvSpPr>
            <p:nvPr/>
          </p:nvSpPr>
          <p:spPr bwMode="auto">
            <a:xfrm>
              <a:off x="727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8" name="Rectangle 187"/>
            <p:cNvSpPr>
              <a:spLocks noChangeArrowheads="1"/>
            </p:cNvSpPr>
            <p:nvPr/>
          </p:nvSpPr>
          <p:spPr bwMode="auto">
            <a:xfrm>
              <a:off x="1271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9" name="Rectangle 188"/>
            <p:cNvSpPr>
              <a:spLocks noChangeArrowheads="1"/>
            </p:cNvSpPr>
            <p:nvPr/>
          </p:nvSpPr>
          <p:spPr bwMode="auto">
            <a:xfrm>
              <a:off x="909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0" name="Rectangle 189"/>
            <p:cNvSpPr>
              <a:spLocks noChangeArrowheads="1"/>
            </p:cNvSpPr>
            <p:nvPr/>
          </p:nvSpPr>
          <p:spPr bwMode="auto">
            <a:xfrm>
              <a:off x="109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1" name="Rectangle 190"/>
            <p:cNvSpPr>
              <a:spLocks noChangeArrowheads="1"/>
            </p:cNvSpPr>
            <p:nvPr/>
          </p:nvSpPr>
          <p:spPr bwMode="auto">
            <a:xfrm>
              <a:off x="1452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2" name="Rectangle 191"/>
            <p:cNvSpPr>
              <a:spLocks noChangeArrowheads="1"/>
            </p:cNvSpPr>
            <p:nvPr/>
          </p:nvSpPr>
          <p:spPr bwMode="auto">
            <a:xfrm>
              <a:off x="1996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3" name="Rectangle 192"/>
            <p:cNvSpPr>
              <a:spLocks noChangeArrowheads="1"/>
            </p:cNvSpPr>
            <p:nvPr/>
          </p:nvSpPr>
          <p:spPr bwMode="auto">
            <a:xfrm>
              <a:off x="163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4" name="Rectangle 193"/>
            <p:cNvSpPr>
              <a:spLocks noChangeArrowheads="1"/>
            </p:cNvSpPr>
            <p:nvPr/>
          </p:nvSpPr>
          <p:spPr bwMode="auto">
            <a:xfrm>
              <a:off x="1815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5" name="Rectangle 194"/>
            <p:cNvSpPr>
              <a:spLocks noChangeArrowheads="1"/>
            </p:cNvSpPr>
            <p:nvPr/>
          </p:nvSpPr>
          <p:spPr bwMode="auto">
            <a:xfrm>
              <a:off x="2178" y="1995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6" name="Rectangle 195"/>
            <p:cNvSpPr>
              <a:spLocks noChangeArrowheads="1"/>
            </p:cNvSpPr>
            <p:nvPr/>
          </p:nvSpPr>
          <p:spPr bwMode="auto">
            <a:xfrm>
              <a:off x="2722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7" name="Rectangle 196"/>
            <p:cNvSpPr>
              <a:spLocks noChangeArrowheads="1"/>
            </p:cNvSpPr>
            <p:nvPr/>
          </p:nvSpPr>
          <p:spPr bwMode="auto">
            <a:xfrm>
              <a:off x="236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8" name="Rectangle 197"/>
            <p:cNvSpPr>
              <a:spLocks noChangeArrowheads="1"/>
            </p:cNvSpPr>
            <p:nvPr/>
          </p:nvSpPr>
          <p:spPr bwMode="auto">
            <a:xfrm>
              <a:off x="254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9" name="Rectangle 198"/>
            <p:cNvSpPr>
              <a:spLocks noChangeArrowheads="1"/>
            </p:cNvSpPr>
            <p:nvPr/>
          </p:nvSpPr>
          <p:spPr bwMode="auto">
            <a:xfrm>
              <a:off x="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0" name="Rectangle 199"/>
            <p:cNvSpPr>
              <a:spLocks noChangeArrowheads="1"/>
            </p:cNvSpPr>
            <p:nvPr/>
          </p:nvSpPr>
          <p:spPr bwMode="auto">
            <a:xfrm>
              <a:off x="546" y="2177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1" name="Rectangle 200"/>
            <p:cNvSpPr>
              <a:spLocks noChangeArrowheads="1"/>
            </p:cNvSpPr>
            <p:nvPr/>
          </p:nvSpPr>
          <p:spPr bwMode="auto">
            <a:xfrm>
              <a:off x="184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2" name="Rectangle 201"/>
            <p:cNvSpPr>
              <a:spLocks noChangeArrowheads="1"/>
            </p:cNvSpPr>
            <p:nvPr/>
          </p:nvSpPr>
          <p:spPr bwMode="auto">
            <a:xfrm>
              <a:off x="36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3" name="Rectangle 202"/>
            <p:cNvSpPr>
              <a:spLocks noChangeArrowheads="1"/>
            </p:cNvSpPr>
            <p:nvPr/>
          </p:nvSpPr>
          <p:spPr bwMode="auto">
            <a:xfrm>
              <a:off x="728" y="217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" name="Rectangle 203"/>
            <p:cNvSpPr>
              <a:spLocks noChangeArrowheads="1"/>
            </p:cNvSpPr>
            <p:nvPr/>
          </p:nvSpPr>
          <p:spPr bwMode="auto">
            <a:xfrm>
              <a:off x="1272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" name="Rectangle 204"/>
            <p:cNvSpPr>
              <a:spLocks noChangeArrowheads="1"/>
            </p:cNvSpPr>
            <p:nvPr/>
          </p:nvSpPr>
          <p:spPr bwMode="auto">
            <a:xfrm>
              <a:off x="910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" name="Rectangle 205"/>
            <p:cNvSpPr>
              <a:spLocks noChangeArrowheads="1"/>
            </p:cNvSpPr>
            <p:nvPr/>
          </p:nvSpPr>
          <p:spPr bwMode="auto">
            <a:xfrm>
              <a:off x="109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7" name="Rectangle 206"/>
            <p:cNvSpPr>
              <a:spLocks noChangeArrowheads="1"/>
            </p:cNvSpPr>
            <p:nvPr/>
          </p:nvSpPr>
          <p:spPr bwMode="auto">
            <a:xfrm>
              <a:off x="1453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8" name="Rectangle 207"/>
            <p:cNvSpPr>
              <a:spLocks noChangeArrowheads="1"/>
            </p:cNvSpPr>
            <p:nvPr/>
          </p:nvSpPr>
          <p:spPr bwMode="auto">
            <a:xfrm>
              <a:off x="1997" y="2177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9" name="Rectangle 208"/>
            <p:cNvSpPr>
              <a:spLocks noChangeArrowheads="1"/>
            </p:cNvSpPr>
            <p:nvPr/>
          </p:nvSpPr>
          <p:spPr bwMode="auto">
            <a:xfrm>
              <a:off x="163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0" name="Rectangle 209"/>
            <p:cNvSpPr>
              <a:spLocks noChangeArrowheads="1"/>
            </p:cNvSpPr>
            <p:nvPr/>
          </p:nvSpPr>
          <p:spPr bwMode="auto">
            <a:xfrm>
              <a:off x="1816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1" name="Rectangle 210"/>
            <p:cNvSpPr>
              <a:spLocks noChangeArrowheads="1"/>
            </p:cNvSpPr>
            <p:nvPr/>
          </p:nvSpPr>
          <p:spPr bwMode="auto">
            <a:xfrm>
              <a:off x="2179" y="217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2" name="Rectangle 211"/>
            <p:cNvSpPr>
              <a:spLocks noChangeArrowheads="1"/>
            </p:cNvSpPr>
            <p:nvPr/>
          </p:nvSpPr>
          <p:spPr bwMode="auto">
            <a:xfrm>
              <a:off x="2723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3" name="Rectangle 212"/>
            <p:cNvSpPr>
              <a:spLocks noChangeArrowheads="1"/>
            </p:cNvSpPr>
            <p:nvPr/>
          </p:nvSpPr>
          <p:spPr bwMode="auto">
            <a:xfrm>
              <a:off x="236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4" name="Rectangle 213"/>
            <p:cNvSpPr>
              <a:spLocks noChangeArrowheads="1"/>
            </p:cNvSpPr>
            <p:nvPr/>
          </p:nvSpPr>
          <p:spPr bwMode="auto">
            <a:xfrm>
              <a:off x="254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5" name="Rectangle 214"/>
            <p:cNvSpPr>
              <a:spLocks noChangeArrowheads="1"/>
            </p:cNvSpPr>
            <p:nvPr/>
          </p:nvSpPr>
          <p:spPr bwMode="auto">
            <a:xfrm>
              <a:off x="1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6" name="Rectangle 215"/>
            <p:cNvSpPr>
              <a:spLocks noChangeArrowheads="1"/>
            </p:cNvSpPr>
            <p:nvPr/>
          </p:nvSpPr>
          <p:spPr bwMode="auto">
            <a:xfrm>
              <a:off x="545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7" name="Rectangle 216"/>
            <p:cNvSpPr>
              <a:spLocks noChangeArrowheads="1"/>
            </p:cNvSpPr>
            <p:nvPr/>
          </p:nvSpPr>
          <p:spPr bwMode="auto">
            <a:xfrm>
              <a:off x="183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8" name="Rectangle 217"/>
            <p:cNvSpPr>
              <a:spLocks noChangeArrowheads="1"/>
            </p:cNvSpPr>
            <p:nvPr/>
          </p:nvSpPr>
          <p:spPr bwMode="auto">
            <a:xfrm>
              <a:off x="364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9" name="Rectangle 218"/>
            <p:cNvSpPr>
              <a:spLocks noChangeArrowheads="1"/>
            </p:cNvSpPr>
            <p:nvPr/>
          </p:nvSpPr>
          <p:spPr bwMode="auto">
            <a:xfrm>
              <a:off x="727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0" name="Rectangle 219"/>
            <p:cNvSpPr>
              <a:spLocks noChangeArrowheads="1"/>
            </p:cNvSpPr>
            <p:nvPr/>
          </p:nvSpPr>
          <p:spPr bwMode="auto">
            <a:xfrm>
              <a:off x="1271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1" name="Rectangle 220"/>
            <p:cNvSpPr>
              <a:spLocks noChangeArrowheads="1"/>
            </p:cNvSpPr>
            <p:nvPr/>
          </p:nvSpPr>
          <p:spPr bwMode="auto">
            <a:xfrm>
              <a:off x="909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2" name="Rectangle 221"/>
            <p:cNvSpPr>
              <a:spLocks noChangeArrowheads="1"/>
            </p:cNvSpPr>
            <p:nvPr/>
          </p:nvSpPr>
          <p:spPr bwMode="auto">
            <a:xfrm>
              <a:off x="1090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3" name="Rectangle 222"/>
            <p:cNvSpPr>
              <a:spLocks noChangeArrowheads="1"/>
            </p:cNvSpPr>
            <p:nvPr/>
          </p:nvSpPr>
          <p:spPr bwMode="auto">
            <a:xfrm>
              <a:off x="1452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4" name="Rectangle 223"/>
            <p:cNvSpPr>
              <a:spLocks noChangeArrowheads="1"/>
            </p:cNvSpPr>
            <p:nvPr/>
          </p:nvSpPr>
          <p:spPr bwMode="auto">
            <a:xfrm>
              <a:off x="1996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5" name="Rectangle 224"/>
            <p:cNvSpPr>
              <a:spLocks noChangeArrowheads="1"/>
            </p:cNvSpPr>
            <p:nvPr/>
          </p:nvSpPr>
          <p:spPr bwMode="auto">
            <a:xfrm>
              <a:off x="1634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6" name="Rectangle 225"/>
            <p:cNvSpPr>
              <a:spLocks noChangeArrowheads="1"/>
            </p:cNvSpPr>
            <p:nvPr/>
          </p:nvSpPr>
          <p:spPr bwMode="auto">
            <a:xfrm>
              <a:off x="1815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7" name="Rectangle 226"/>
            <p:cNvSpPr>
              <a:spLocks noChangeArrowheads="1"/>
            </p:cNvSpPr>
            <p:nvPr/>
          </p:nvSpPr>
          <p:spPr bwMode="auto">
            <a:xfrm>
              <a:off x="2178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8" name="Rectangle 227"/>
            <p:cNvSpPr>
              <a:spLocks noChangeArrowheads="1"/>
            </p:cNvSpPr>
            <p:nvPr/>
          </p:nvSpPr>
          <p:spPr bwMode="auto">
            <a:xfrm>
              <a:off x="2722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9" name="Rectangle 228"/>
            <p:cNvSpPr>
              <a:spLocks noChangeArrowheads="1"/>
            </p:cNvSpPr>
            <p:nvPr/>
          </p:nvSpPr>
          <p:spPr bwMode="auto">
            <a:xfrm>
              <a:off x="2360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0" name="Rectangle 229"/>
            <p:cNvSpPr>
              <a:spLocks noChangeArrowheads="1"/>
            </p:cNvSpPr>
            <p:nvPr/>
          </p:nvSpPr>
          <p:spPr bwMode="auto">
            <a:xfrm>
              <a:off x="2541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1" name="Rectangle 230"/>
            <p:cNvSpPr>
              <a:spLocks noChangeArrowheads="1"/>
            </p:cNvSpPr>
            <p:nvPr/>
          </p:nvSpPr>
          <p:spPr bwMode="auto">
            <a:xfrm>
              <a:off x="3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2" name="Rectangle 231"/>
            <p:cNvSpPr>
              <a:spLocks noChangeArrowheads="1"/>
            </p:cNvSpPr>
            <p:nvPr/>
          </p:nvSpPr>
          <p:spPr bwMode="auto">
            <a:xfrm>
              <a:off x="547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3" name="Rectangle 232"/>
            <p:cNvSpPr>
              <a:spLocks noChangeArrowheads="1"/>
            </p:cNvSpPr>
            <p:nvPr/>
          </p:nvSpPr>
          <p:spPr bwMode="auto">
            <a:xfrm>
              <a:off x="185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4" name="Rectangle 233"/>
            <p:cNvSpPr>
              <a:spLocks noChangeArrowheads="1"/>
            </p:cNvSpPr>
            <p:nvPr/>
          </p:nvSpPr>
          <p:spPr bwMode="auto">
            <a:xfrm>
              <a:off x="366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" name="Rectangle 234"/>
            <p:cNvSpPr>
              <a:spLocks noChangeArrowheads="1"/>
            </p:cNvSpPr>
            <p:nvPr/>
          </p:nvSpPr>
          <p:spPr bwMode="auto">
            <a:xfrm>
              <a:off x="729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" name="Rectangle 235"/>
            <p:cNvSpPr>
              <a:spLocks noChangeArrowheads="1"/>
            </p:cNvSpPr>
            <p:nvPr/>
          </p:nvSpPr>
          <p:spPr bwMode="auto">
            <a:xfrm>
              <a:off x="1273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7" name="Rectangle 236"/>
            <p:cNvSpPr>
              <a:spLocks noChangeArrowheads="1"/>
            </p:cNvSpPr>
            <p:nvPr/>
          </p:nvSpPr>
          <p:spPr bwMode="auto">
            <a:xfrm>
              <a:off x="911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8" name="Rectangle 237"/>
            <p:cNvSpPr>
              <a:spLocks noChangeArrowheads="1"/>
            </p:cNvSpPr>
            <p:nvPr/>
          </p:nvSpPr>
          <p:spPr bwMode="auto">
            <a:xfrm>
              <a:off x="1092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9" name="Rectangle 238"/>
            <p:cNvSpPr>
              <a:spLocks noChangeArrowheads="1"/>
            </p:cNvSpPr>
            <p:nvPr/>
          </p:nvSpPr>
          <p:spPr bwMode="auto">
            <a:xfrm>
              <a:off x="1454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0" name="Rectangle 239"/>
            <p:cNvSpPr>
              <a:spLocks noChangeArrowheads="1"/>
            </p:cNvSpPr>
            <p:nvPr/>
          </p:nvSpPr>
          <p:spPr bwMode="auto">
            <a:xfrm>
              <a:off x="1998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1" name="Rectangle 240"/>
            <p:cNvSpPr>
              <a:spLocks noChangeArrowheads="1"/>
            </p:cNvSpPr>
            <p:nvPr/>
          </p:nvSpPr>
          <p:spPr bwMode="auto">
            <a:xfrm>
              <a:off x="1636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2" name="Rectangle 241"/>
            <p:cNvSpPr>
              <a:spLocks noChangeArrowheads="1"/>
            </p:cNvSpPr>
            <p:nvPr/>
          </p:nvSpPr>
          <p:spPr bwMode="auto">
            <a:xfrm>
              <a:off x="1817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3" name="Rectangle 242"/>
            <p:cNvSpPr>
              <a:spLocks noChangeArrowheads="1"/>
            </p:cNvSpPr>
            <p:nvPr/>
          </p:nvSpPr>
          <p:spPr bwMode="auto">
            <a:xfrm>
              <a:off x="2180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4" name="Rectangle 243"/>
            <p:cNvSpPr>
              <a:spLocks noChangeArrowheads="1"/>
            </p:cNvSpPr>
            <p:nvPr/>
          </p:nvSpPr>
          <p:spPr bwMode="auto">
            <a:xfrm>
              <a:off x="2724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" name="Rectangle 244"/>
            <p:cNvSpPr>
              <a:spLocks noChangeArrowheads="1"/>
            </p:cNvSpPr>
            <p:nvPr/>
          </p:nvSpPr>
          <p:spPr bwMode="auto">
            <a:xfrm>
              <a:off x="2362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" name="Rectangle 245"/>
            <p:cNvSpPr>
              <a:spLocks noChangeArrowheads="1"/>
            </p:cNvSpPr>
            <p:nvPr/>
          </p:nvSpPr>
          <p:spPr bwMode="auto">
            <a:xfrm>
              <a:off x="2543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7" name="Rectangle 246"/>
            <p:cNvSpPr>
              <a:spLocks noChangeArrowheads="1"/>
            </p:cNvSpPr>
            <p:nvPr/>
          </p:nvSpPr>
          <p:spPr bwMode="auto">
            <a:xfrm>
              <a:off x="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8" name="Rectangle 247"/>
            <p:cNvSpPr>
              <a:spLocks noChangeArrowheads="1"/>
            </p:cNvSpPr>
            <p:nvPr/>
          </p:nvSpPr>
          <p:spPr bwMode="auto">
            <a:xfrm>
              <a:off x="546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9" name="Rectangle 248"/>
            <p:cNvSpPr>
              <a:spLocks noChangeArrowheads="1"/>
            </p:cNvSpPr>
            <p:nvPr/>
          </p:nvSpPr>
          <p:spPr bwMode="auto">
            <a:xfrm>
              <a:off x="184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0" name="Rectangle 249"/>
            <p:cNvSpPr>
              <a:spLocks noChangeArrowheads="1"/>
            </p:cNvSpPr>
            <p:nvPr/>
          </p:nvSpPr>
          <p:spPr bwMode="auto">
            <a:xfrm>
              <a:off x="36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1" name="Rectangle 250"/>
            <p:cNvSpPr>
              <a:spLocks noChangeArrowheads="1"/>
            </p:cNvSpPr>
            <p:nvPr/>
          </p:nvSpPr>
          <p:spPr bwMode="auto">
            <a:xfrm>
              <a:off x="728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2" name="Rectangle 251"/>
            <p:cNvSpPr>
              <a:spLocks noChangeArrowheads="1"/>
            </p:cNvSpPr>
            <p:nvPr/>
          </p:nvSpPr>
          <p:spPr bwMode="auto">
            <a:xfrm>
              <a:off x="1272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3" name="Rectangle 252"/>
            <p:cNvSpPr>
              <a:spLocks noChangeArrowheads="1"/>
            </p:cNvSpPr>
            <p:nvPr/>
          </p:nvSpPr>
          <p:spPr bwMode="auto">
            <a:xfrm>
              <a:off x="910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4" name="Rectangle 253"/>
            <p:cNvSpPr>
              <a:spLocks noChangeArrowheads="1"/>
            </p:cNvSpPr>
            <p:nvPr/>
          </p:nvSpPr>
          <p:spPr bwMode="auto">
            <a:xfrm>
              <a:off x="109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5" name="Rectangle 254"/>
            <p:cNvSpPr>
              <a:spLocks noChangeArrowheads="1"/>
            </p:cNvSpPr>
            <p:nvPr/>
          </p:nvSpPr>
          <p:spPr bwMode="auto">
            <a:xfrm>
              <a:off x="1453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" name="Rectangle 255"/>
            <p:cNvSpPr>
              <a:spLocks noChangeArrowheads="1"/>
            </p:cNvSpPr>
            <p:nvPr/>
          </p:nvSpPr>
          <p:spPr bwMode="auto">
            <a:xfrm>
              <a:off x="1997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7" name="Rectangle 256"/>
            <p:cNvSpPr>
              <a:spLocks noChangeArrowheads="1"/>
            </p:cNvSpPr>
            <p:nvPr/>
          </p:nvSpPr>
          <p:spPr bwMode="auto">
            <a:xfrm>
              <a:off x="163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8" name="Rectangle 257"/>
            <p:cNvSpPr>
              <a:spLocks noChangeArrowheads="1"/>
            </p:cNvSpPr>
            <p:nvPr/>
          </p:nvSpPr>
          <p:spPr bwMode="auto">
            <a:xfrm>
              <a:off x="1816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9" name="Rectangle 258"/>
            <p:cNvSpPr>
              <a:spLocks noChangeArrowheads="1"/>
            </p:cNvSpPr>
            <p:nvPr/>
          </p:nvSpPr>
          <p:spPr bwMode="auto">
            <a:xfrm>
              <a:off x="2179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0" name="Rectangle 259"/>
            <p:cNvSpPr>
              <a:spLocks noChangeArrowheads="1"/>
            </p:cNvSpPr>
            <p:nvPr/>
          </p:nvSpPr>
          <p:spPr bwMode="auto">
            <a:xfrm>
              <a:off x="2723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1" name="Rectangle 260"/>
            <p:cNvSpPr>
              <a:spLocks noChangeArrowheads="1"/>
            </p:cNvSpPr>
            <p:nvPr/>
          </p:nvSpPr>
          <p:spPr bwMode="auto">
            <a:xfrm>
              <a:off x="236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2" name="Rectangle 261"/>
            <p:cNvSpPr>
              <a:spLocks noChangeArrowheads="1"/>
            </p:cNvSpPr>
            <p:nvPr/>
          </p:nvSpPr>
          <p:spPr bwMode="auto">
            <a:xfrm>
              <a:off x="254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79" name="Line 279"/>
          <p:cNvSpPr>
            <a:spLocks noChangeShapeType="1"/>
          </p:cNvSpPr>
          <p:nvPr/>
        </p:nvSpPr>
        <p:spPr bwMode="auto">
          <a:xfrm>
            <a:off x="697886" y="3834341"/>
            <a:ext cx="53641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0" name="Line 280"/>
          <p:cNvSpPr>
            <a:spLocks noChangeShapeType="1"/>
          </p:cNvSpPr>
          <p:nvPr/>
        </p:nvSpPr>
        <p:spPr bwMode="auto">
          <a:xfrm>
            <a:off x="624861" y="2681816"/>
            <a:ext cx="5364162" cy="0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1" name="Line 281"/>
          <p:cNvSpPr>
            <a:spLocks noChangeShapeType="1"/>
          </p:cNvSpPr>
          <p:nvPr/>
        </p:nvSpPr>
        <p:spPr bwMode="auto">
          <a:xfrm>
            <a:off x="624861" y="4985278"/>
            <a:ext cx="5364162" cy="0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2" name="Line 262"/>
          <p:cNvSpPr>
            <a:spLocks noChangeShapeType="1"/>
          </p:cNvSpPr>
          <p:nvPr/>
        </p:nvSpPr>
        <p:spPr bwMode="auto">
          <a:xfrm>
            <a:off x="3277379" y="1327911"/>
            <a:ext cx="0" cy="50403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3" name="Line 262"/>
          <p:cNvSpPr>
            <a:spLocks noChangeShapeType="1"/>
          </p:cNvSpPr>
          <p:nvPr/>
        </p:nvSpPr>
        <p:spPr bwMode="auto">
          <a:xfrm>
            <a:off x="2139336" y="1338411"/>
            <a:ext cx="0" cy="5040313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84" name="Line 262"/>
          <p:cNvSpPr>
            <a:spLocks noChangeShapeType="1"/>
          </p:cNvSpPr>
          <p:nvPr/>
        </p:nvSpPr>
        <p:spPr bwMode="auto">
          <a:xfrm>
            <a:off x="4441211" y="1311803"/>
            <a:ext cx="0" cy="5040313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21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棋盘覆盖问题算法演示（续）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5" name="Rectangle 3"/>
          <p:cNvSpPr txBox="1">
            <a:spLocks/>
          </p:cNvSpPr>
          <p:nvPr/>
        </p:nvSpPr>
        <p:spPr>
          <a:xfrm>
            <a:off x="1006475" y="696194"/>
            <a:ext cx="2232025" cy="65246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0" lang="zh-CN" altLang="en-US" sz="2800" dirty="0" smtClean="0">
                <a:latin typeface="微软雅黑" pitchFamily="34" charset="-122"/>
                <a:ea typeface="微软雅黑" pitchFamily="34" charset="-122"/>
              </a:rPr>
              <a:t>第三次分割</a:t>
            </a:r>
          </a:p>
        </p:txBody>
      </p:sp>
      <p:grpSp>
        <p:nvGrpSpPr>
          <p:cNvPr id="22" name="Group 21"/>
          <p:cNvGrpSpPr>
            <a:grpSpLocks/>
          </p:cNvGrpSpPr>
          <p:nvPr/>
        </p:nvGrpSpPr>
        <p:grpSpPr bwMode="auto">
          <a:xfrm>
            <a:off x="1220787" y="1643492"/>
            <a:ext cx="4613275" cy="4606925"/>
            <a:chOff x="0" y="0"/>
            <a:chExt cx="2906" cy="2903"/>
          </a:xfrm>
        </p:grpSpPr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1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545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83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64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727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271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909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090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452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996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634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815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178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2722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2360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2541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0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544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182" y="181"/>
              <a:ext cx="182" cy="181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363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726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1270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908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1089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1451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1995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1633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1814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2177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2721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2359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2540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2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546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Rectangle 56"/>
            <p:cNvSpPr>
              <a:spLocks noChangeArrowheads="1"/>
            </p:cNvSpPr>
            <p:nvPr/>
          </p:nvSpPr>
          <p:spPr bwMode="auto">
            <a:xfrm>
              <a:off x="184" y="363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Rectangle 57"/>
            <p:cNvSpPr>
              <a:spLocks noChangeArrowheads="1"/>
            </p:cNvSpPr>
            <p:nvPr/>
          </p:nvSpPr>
          <p:spPr bwMode="auto">
            <a:xfrm>
              <a:off x="365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Rectangle 58"/>
            <p:cNvSpPr>
              <a:spLocks noChangeArrowheads="1"/>
            </p:cNvSpPr>
            <p:nvPr/>
          </p:nvSpPr>
          <p:spPr bwMode="auto">
            <a:xfrm>
              <a:off x="728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Rectangle 59"/>
            <p:cNvSpPr>
              <a:spLocks noChangeArrowheads="1"/>
            </p:cNvSpPr>
            <p:nvPr/>
          </p:nvSpPr>
          <p:spPr bwMode="auto">
            <a:xfrm>
              <a:off x="1272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Rectangle 60"/>
            <p:cNvSpPr>
              <a:spLocks noChangeArrowheads="1"/>
            </p:cNvSpPr>
            <p:nvPr/>
          </p:nvSpPr>
          <p:spPr bwMode="auto">
            <a:xfrm>
              <a:off x="910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1091" y="363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1453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auto">
            <a:xfrm>
              <a:off x="1997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Rectangle 64"/>
            <p:cNvSpPr>
              <a:spLocks noChangeArrowheads="1"/>
            </p:cNvSpPr>
            <p:nvPr/>
          </p:nvSpPr>
          <p:spPr bwMode="auto">
            <a:xfrm>
              <a:off x="1635" y="363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1816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2179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2723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361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2542" y="363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1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545" y="544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183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364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727" y="54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1271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909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1090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1452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1996" y="544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1634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1815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2178" y="54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2722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2360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2541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2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546" y="726"/>
              <a:ext cx="182" cy="182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184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365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728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1272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910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1091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1453" y="726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Rectangle 95"/>
            <p:cNvSpPr>
              <a:spLocks noChangeArrowheads="1"/>
            </p:cNvSpPr>
            <p:nvPr/>
          </p:nvSpPr>
          <p:spPr bwMode="auto">
            <a:xfrm>
              <a:off x="1997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Rectangle 96"/>
            <p:cNvSpPr>
              <a:spLocks noChangeArrowheads="1"/>
            </p:cNvSpPr>
            <p:nvPr/>
          </p:nvSpPr>
          <p:spPr bwMode="auto">
            <a:xfrm>
              <a:off x="1635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Rectangle 97"/>
            <p:cNvSpPr>
              <a:spLocks noChangeArrowheads="1"/>
            </p:cNvSpPr>
            <p:nvPr/>
          </p:nvSpPr>
          <p:spPr bwMode="auto">
            <a:xfrm>
              <a:off x="1816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Rectangle 98"/>
            <p:cNvSpPr>
              <a:spLocks noChangeArrowheads="1"/>
            </p:cNvSpPr>
            <p:nvPr/>
          </p:nvSpPr>
          <p:spPr bwMode="auto">
            <a:xfrm>
              <a:off x="2179" y="726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Rectangle 99"/>
            <p:cNvSpPr>
              <a:spLocks noChangeArrowheads="1"/>
            </p:cNvSpPr>
            <p:nvPr/>
          </p:nvSpPr>
          <p:spPr bwMode="auto">
            <a:xfrm>
              <a:off x="2723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Rectangle 100"/>
            <p:cNvSpPr>
              <a:spLocks noChangeArrowheads="1"/>
            </p:cNvSpPr>
            <p:nvPr/>
          </p:nvSpPr>
          <p:spPr bwMode="auto">
            <a:xfrm>
              <a:off x="2361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Rectangle 101"/>
            <p:cNvSpPr>
              <a:spLocks noChangeArrowheads="1"/>
            </p:cNvSpPr>
            <p:nvPr/>
          </p:nvSpPr>
          <p:spPr bwMode="auto">
            <a:xfrm>
              <a:off x="2542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Rectangle 102"/>
            <p:cNvSpPr>
              <a:spLocks noChangeArrowheads="1"/>
            </p:cNvSpPr>
            <p:nvPr/>
          </p:nvSpPr>
          <p:spPr bwMode="auto">
            <a:xfrm>
              <a:off x="1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545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Rectangle 104"/>
            <p:cNvSpPr>
              <a:spLocks noChangeArrowheads="1"/>
            </p:cNvSpPr>
            <p:nvPr/>
          </p:nvSpPr>
          <p:spPr bwMode="auto">
            <a:xfrm>
              <a:off x="183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>
              <a:off x="364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Rectangle 106"/>
            <p:cNvSpPr>
              <a:spLocks noChangeArrowheads="1"/>
            </p:cNvSpPr>
            <p:nvPr/>
          </p:nvSpPr>
          <p:spPr bwMode="auto">
            <a:xfrm>
              <a:off x="727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Rectangle 107"/>
            <p:cNvSpPr>
              <a:spLocks noChangeArrowheads="1"/>
            </p:cNvSpPr>
            <p:nvPr/>
          </p:nvSpPr>
          <p:spPr bwMode="auto">
            <a:xfrm>
              <a:off x="1271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Rectangle 108"/>
            <p:cNvSpPr>
              <a:spLocks noChangeArrowheads="1"/>
            </p:cNvSpPr>
            <p:nvPr/>
          </p:nvSpPr>
          <p:spPr bwMode="auto">
            <a:xfrm>
              <a:off x="909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Rectangle 109"/>
            <p:cNvSpPr>
              <a:spLocks noChangeArrowheads="1"/>
            </p:cNvSpPr>
            <p:nvPr/>
          </p:nvSpPr>
          <p:spPr bwMode="auto">
            <a:xfrm>
              <a:off x="1090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Rectangle 110"/>
            <p:cNvSpPr>
              <a:spLocks noChangeArrowheads="1"/>
            </p:cNvSpPr>
            <p:nvPr/>
          </p:nvSpPr>
          <p:spPr bwMode="auto">
            <a:xfrm>
              <a:off x="1452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1996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1634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Rectangle 113"/>
            <p:cNvSpPr>
              <a:spLocks noChangeArrowheads="1"/>
            </p:cNvSpPr>
            <p:nvPr/>
          </p:nvSpPr>
          <p:spPr bwMode="auto">
            <a:xfrm>
              <a:off x="1815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Rectangle 114"/>
            <p:cNvSpPr>
              <a:spLocks noChangeArrowheads="1"/>
            </p:cNvSpPr>
            <p:nvPr/>
          </p:nvSpPr>
          <p:spPr bwMode="auto">
            <a:xfrm>
              <a:off x="2178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Rectangle 115"/>
            <p:cNvSpPr>
              <a:spLocks noChangeArrowheads="1"/>
            </p:cNvSpPr>
            <p:nvPr/>
          </p:nvSpPr>
          <p:spPr bwMode="auto">
            <a:xfrm>
              <a:off x="2722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Rectangle 116"/>
            <p:cNvSpPr>
              <a:spLocks noChangeArrowheads="1"/>
            </p:cNvSpPr>
            <p:nvPr/>
          </p:nvSpPr>
          <p:spPr bwMode="auto">
            <a:xfrm>
              <a:off x="2360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Rectangle 117"/>
            <p:cNvSpPr>
              <a:spLocks noChangeArrowheads="1"/>
            </p:cNvSpPr>
            <p:nvPr/>
          </p:nvSpPr>
          <p:spPr bwMode="auto">
            <a:xfrm>
              <a:off x="2541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3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Rectangle 119"/>
            <p:cNvSpPr>
              <a:spLocks noChangeArrowheads="1"/>
            </p:cNvSpPr>
            <p:nvPr/>
          </p:nvSpPr>
          <p:spPr bwMode="auto">
            <a:xfrm>
              <a:off x="547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Rectangle 120"/>
            <p:cNvSpPr>
              <a:spLocks noChangeArrowheads="1"/>
            </p:cNvSpPr>
            <p:nvPr/>
          </p:nvSpPr>
          <p:spPr bwMode="auto">
            <a:xfrm>
              <a:off x="185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Rectangle 121"/>
            <p:cNvSpPr>
              <a:spLocks noChangeArrowheads="1"/>
            </p:cNvSpPr>
            <p:nvPr/>
          </p:nvSpPr>
          <p:spPr bwMode="auto">
            <a:xfrm>
              <a:off x="366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Rectangle 122"/>
            <p:cNvSpPr>
              <a:spLocks noChangeArrowheads="1"/>
            </p:cNvSpPr>
            <p:nvPr/>
          </p:nvSpPr>
          <p:spPr bwMode="auto">
            <a:xfrm>
              <a:off x="729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1273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Rectangle 124"/>
            <p:cNvSpPr>
              <a:spLocks noChangeArrowheads="1"/>
            </p:cNvSpPr>
            <p:nvPr/>
          </p:nvSpPr>
          <p:spPr bwMode="auto">
            <a:xfrm>
              <a:off x="911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Rectangle 125"/>
            <p:cNvSpPr>
              <a:spLocks noChangeArrowheads="1"/>
            </p:cNvSpPr>
            <p:nvPr/>
          </p:nvSpPr>
          <p:spPr bwMode="auto">
            <a:xfrm>
              <a:off x="1092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Rectangle 126"/>
            <p:cNvSpPr>
              <a:spLocks noChangeArrowheads="1"/>
            </p:cNvSpPr>
            <p:nvPr/>
          </p:nvSpPr>
          <p:spPr bwMode="auto">
            <a:xfrm>
              <a:off x="1454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Rectangle 127"/>
            <p:cNvSpPr>
              <a:spLocks noChangeArrowheads="1"/>
            </p:cNvSpPr>
            <p:nvPr/>
          </p:nvSpPr>
          <p:spPr bwMode="auto">
            <a:xfrm>
              <a:off x="1998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Rectangle 128"/>
            <p:cNvSpPr>
              <a:spLocks noChangeArrowheads="1"/>
            </p:cNvSpPr>
            <p:nvPr/>
          </p:nvSpPr>
          <p:spPr bwMode="auto">
            <a:xfrm>
              <a:off x="1636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Rectangle 129"/>
            <p:cNvSpPr>
              <a:spLocks noChangeArrowheads="1"/>
            </p:cNvSpPr>
            <p:nvPr/>
          </p:nvSpPr>
          <p:spPr bwMode="auto">
            <a:xfrm>
              <a:off x="1817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Rectangle 130"/>
            <p:cNvSpPr>
              <a:spLocks noChangeArrowheads="1"/>
            </p:cNvSpPr>
            <p:nvPr/>
          </p:nvSpPr>
          <p:spPr bwMode="auto">
            <a:xfrm>
              <a:off x="2180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Rectangle 131"/>
            <p:cNvSpPr>
              <a:spLocks noChangeArrowheads="1"/>
            </p:cNvSpPr>
            <p:nvPr/>
          </p:nvSpPr>
          <p:spPr bwMode="auto">
            <a:xfrm>
              <a:off x="2724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Rectangle 132"/>
            <p:cNvSpPr>
              <a:spLocks noChangeArrowheads="1"/>
            </p:cNvSpPr>
            <p:nvPr/>
          </p:nvSpPr>
          <p:spPr bwMode="auto">
            <a:xfrm>
              <a:off x="2362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Rectangle 133"/>
            <p:cNvSpPr>
              <a:spLocks noChangeArrowheads="1"/>
            </p:cNvSpPr>
            <p:nvPr/>
          </p:nvSpPr>
          <p:spPr bwMode="auto">
            <a:xfrm>
              <a:off x="2543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Rectangle 134"/>
            <p:cNvSpPr>
              <a:spLocks noChangeArrowheads="1"/>
            </p:cNvSpPr>
            <p:nvPr/>
          </p:nvSpPr>
          <p:spPr bwMode="auto">
            <a:xfrm>
              <a:off x="2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Rectangle 135"/>
            <p:cNvSpPr>
              <a:spLocks noChangeArrowheads="1"/>
            </p:cNvSpPr>
            <p:nvPr/>
          </p:nvSpPr>
          <p:spPr bwMode="auto">
            <a:xfrm>
              <a:off x="546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Rectangle 136"/>
            <p:cNvSpPr>
              <a:spLocks noChangeArrowheads="1"/>
            </p:cNvSpPr>
            <p:nvPr/>
          </p:nvSpPr>
          <p:spPr bwMode="auto">
            <a:xfrm>
              <a:off x="184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Rectangle 137"/>
            <p:cNvSpPr>
              <a:spLocks noChangeArrowheads="1"/>
            </p:cNvSpPr>
            <p:nvPr/>
          </p:nvSpPr>
          <p:spPr bwMode="auto">
            <a:xfrm>
              <a:off x="365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Rectangle 138"/>
            <p:cNvSpPr>
              <a:spLocks noChangeArrowheads="1"/>
            </p:cNvSpPr>
            <p:nvPr/>
          </p:nvSpPr>
          <p:spPr bwMode="auto">
            <a:xfrm>
              <a:off x="728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Rectangle 139"/>
            <p:cNvSpPr>
              <a:spLocks noChangeArrowheads="1"/>
            </p:cNvSpPr>
            <p:nvPr/>
          </p:nvSpPr>
          <p:spPr bwMode="auto">
            <a:xfrm>
              <a:off x="1272" y="1270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Rectangle 140"/>
            <p:cNvSpPr>
              <a:spLocks noChangeArrowheads="1"/>
            </p:cNvSpPr>
            <p:nvPr/>
          </p:nvSpPr>
          <p:spPr bwMode="auto">
            <a:xfrm>
              <a:off x="910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Rectangle 141"/>
            <p:cNvSpPr>
              <a:spLocks noChangeArrowheads="1"/>
            </p:cNvSpPr>
            <p:nvPr/>
          </p:nvSpPr>
          <p:spPr bwMode="auto">
            <a:xfrm>
              <a:off x="1091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Rectangle 142"/>
            <p:cNvSpPr>
              <a:spLocks noChangeArrowheads="1"/>
            </p:cNvSpPr>
            <p:nvPr/>
          </p:nvSpPr>
          <p:spPr bwMode="auto">
            <a:xfrm>
              <a:off x="1453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Rectangle 143"/>
            <p:cNvSpPr>
              <a:spLocks noChangeArrowheads="1"/>
            </p:cNvSpPr>
            <p:nvPr/>
          </p:nvSpPr>
          <p:spPr bwMode="auto">
            <a:xfrm>
              <a:off x="1997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Rectangle 144"/>
            <p:cNvSpPr>
              <a:spLocks noChangeArrowheads="1"/>
            </p:cNvSpPr>
            <p:nvPr/>
          </p:nvSpPr>
          <p:spPr bwMode="auto">
            <a:xfrm>
              <a:off x="1635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Rectangle 145"/>
            <p:cNvSpPr>
              <a:spLocks noChangeArrowheads="1"/>
            </p:cNvSpPr>
            <p:nvPr/>
          </p:nvSpPr>
          <p:spPr bwMode="auto">
            <a:xfrm>
              <a:off x="1816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Rectangle 146"/>
            <p:cNvSpPr>
              <a:spLocks noChangeArrowheads="1"/>
            </p:cNvSpPr>
            <p:nvPr/>
          </p:nvSpPr>
          <p:spPr bwMode="auto">
            <a:xfrm>
              <a:off x="2179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Rectangle 147"/>
            <p:cNvSpPr>
              <a:spLocks noChangeArrowheads="1"/>
            </p:cNvSpPr>
            <p:nvPr/>
          </p:nvSpPr>
          <p:spPr bwMode="auto">
            <a:xfrm>
              <a:off x="2723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Rectangle 148"/>
            <p:cNvSpPr>
              <a:spLocks noChangeArrowheads="1"/>
            </p:cNvSpPr>
            <p:nvPr/>
          </p:nvSpPr>
          <p:spPr bwMode="auto">
            <a:xfrm>
              <a:off x="2361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Rectangle 149"/>
            <p:cNvSpPr>
              <a:spLocks noChangeArrowheads="1"/>
            </p:cNvSpPr>
            <p:nvPr/>
          </p:nvSpPr>
          <p:spPr bwMode="auto">
            <a:xfrm>
              <a:off x="2542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Rectangle 150"/>
            <p:cNvSpPr>
              <a:spLocks noChangeArrowheads="1"/>
            </p:cNvSpPr>
            <p:nvPr/>
          </p:nvSpPr>
          <p:spPr bwMode="auto">
            <a:xfrm>
              <a:off x="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Rectangle 151"/>
            <p:cNvSpPr>
              <a:spLocks noChangeArrowheads="1"/>
            </p:cNvSpPr>
            <p:nvPr/>
          </p:nvSpPr>
          <p:spPr bwMode="auto">
            <a:xfrm>
              <a:off x="545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Rectangle 152"/>
            <p:cNvSpPr>
              <a:spLocks noChangeArrowheads="1"/>
            </p:cNvSpPr>
            <p:nvPr/>
          </p:nvSpPr>
          <p:spPr bwMode="auto">
            <a:xfrm>
              <a:off x="183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Rectangle 153"/>
            <p:cNvSpPr>
              <a:spLocks noChangeArrowheads="1"/>
            </p:cNvSpPr>
            <p:nvPr/>
          </p:nvSpPr>
          <p:spPr bwMode="auto">
            <a:xfrm>
              <a:off x="36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Rectangle 154"/>
            <p:cNvSpPr>
              <a:spLocks noChangeArrowheads="1"/>
            </p:cNvSpPr>
            <p:nvPr/>
          </p:nvSpPr>
          <p:spPr bwMode="auto">
            <a:xfrm>
              <a:off x="727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Rectangle 155"/>
            <p:cNvSpPr>
              <a:spLocks noChangeArrowheads="1"/>
            </p:cNvSpPr>
            <p:nvPr/>
          </p:nvSpPr>
          <p:spPr bwMode="auto">
            <a:xfrm>
              <a:off x="1271" y="1451"/>
              <a:ext cx="182" cy="182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Rectangle 156"/>
            <p:cNvSpPr>
              <a:spLocks noChangeArrowheads="1"/>
            </p:cNvSpPr>
            <p:nvPr/>
          </p:nvSpPr>
          <p:spPr bwMode="auto">
            <a:xfrm>
              <a:off x="909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Rectangle 157"/>
            <p:cNvSpPr>
              <a:spLocks noChangeArrowheads="1"/>
            </p:cNvSpPr>
            <p:nvPr/>
          </p:nvSpPr>
          <p:spPr bwMode="auto">
            <a:xfrm>
              <a:off x="109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" name="Rectangle 158"/>
            <p:cNvSpPr>
              <a:spLocks noChangeArrowheads="1"/>
            </p:cNvSpPr>
            <p:nvPr/>
          </p:nvSpPr>
          <p:spPr bwMode="auto">
            <a:xfrm>
              <a:off x="1452" y="145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0" name="Rectangle 159"/>
            <p:cNvSpPr>
              <a:spLocks noChangeArrowheads="1"/>
            </p:cNvSpPr>
            <p:nvPr/>
          </p:nvSpPr>
          <p:spPr bwMode="auto">
            <a:xfrm>
              <a:off x="1996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1" name="Rectangle 160"/>
            <p:cNvSpPr>
              <a:spLocks noChangeArrowheads="1"/>
            </p:cNvSpPr>
            <p:nvPr/>
          </p:nvSpPr>
          <p:spPr bwMode="auto">
            <a:xfrm>
              <a:off x="163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2" name="Rectangle 161"/>
            <p:cNvSpPr>
              <a:spLocks noChangeArrowheads="1"/>
            </p:cNvSpPr>
            <p:nvPr/>
          </p:nvSpPr>
          <p:spPr bwMode="auto">
            <a:xfrm>
              <a:off x="1815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3" name="Rectangle 162"/>
            <p:cNvSpPr>
              <a:spLocks noChangeArrowheads="1"/>
            </p:cNvSpPr>
            <p:nvPr/>
          </p:nvSpPr>
          <p:spPr bwMode="auto">
            <a:xfrm>
              <a:off x="2178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4" name="Rectangle 163"/>
            <p:cNvSpPr>
              <a:spLocks noChangeArrowheads="1"/>
            </p:cNvSpPr>
            <p:nvPr/>
          </p:nvSpPr>
          <p:spPr bwMode="auto">
            <a:xfrm>
              <a:off x="2722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5" name="Rectangle 164"/>
            <p:cNvSpPr>
              <a:spLocks noChangeArrowheads="1"/>
            </p:cNvSpPr>
            <p:nvPr/>
          </p:nvSpPr>
          <p:spPr bwMode="auto">
            <a:xfrm>
              <a:off x="236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6" name="Rectangle 165"/>
            <p:cNvSpPr>
              <a:spLocks noChangeArrowheads="1"/>
            </p:cNvSpPr>
            <p:nvPr/>
          </p:nvSpPr>
          <p:spPr bwMode="auto">
            <a:xfrm>
              <a:off x="254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7" name="Rectangle 166"/>
            <p:cNvSpPr>
              <a:spLocks noChangeArrowheads="1"/>
            </p:cNvSpPr>
            <p:nvPr/>
          </p:nvSpPr>
          <p:spPr bwMode="auto">
            <a:xfrm>
              <a:off x="0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8" name="Rectangle 167"/>
            <p:cNvSpPr>
              <a:spLocks noChangeArrowheads="1"/>
            </p:cNvSpPr>
            <p:nvPr/>
          </p:nvSpPr>
          <p:spPr bwMode="auto">
            <a:xfrm>
              <a:off x="544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9" name="Rectangle 168"/>
            <p:cNvSpPr>
              <a:spLocks noChangeArrowheads="1"/>
            </p:cNvSpPr>
            <p:nvPr/>
          </p:nvSpPr>
          <p:spPr bwMode="auto">
            <a:xfrm>
              <a:off x="182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0" name="Rectangle 169"/>
            <p:cNvSpPr>
              <a:spLocks noChangeArrowheads="1"/>
            </p:cNvSpPr>
            <p:nvPr/>
          </p:nvSpPr>
          <p:spPr bwMode="auto">
            <a:xfrm>
              <a:off x="363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1" name="Rectangle 170"/>
            <p:cNvSpPr>
              <a:spLocks noChangeArrowheads="1"/>
            </p:cNvSpPr>
            <p:nvPr/>
          </p:nvSpPr>
          <p:spPr bwMode="auto">
            <a:xfrm>
              <a:off x="726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2" name="Rectangle 171"/>
            <p:cNvSpPr>
              <a:spLocks noChangeArrowheads="1"/>
            </p:cNvSpPr>
            <p:nvPr/>
          </p:nvSpPr>
          <p:spPr bwMode="auto">
            <a:xfrm>
              <a:off x="1270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" name="Rectangle 172"/>
            <p:cNvSpPr>
              <a:spLocks noChangeArrowheads="1"/>
            </p:cNvSpPr>
            <p:nvPr/>
          </p:nvSpPr>
          <p:spPr bwMode="auto">
            <a:xfrm>
              <a:off x="908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4" name="Rectangle 173"/>
            <p:cNvSpPr>
              <a:spLocks noChangeArrowheads="1"/>
            </p:cNvSpPr>
            <p:nvPr/>
          </p:nvSpPr>
          <p:spPr bwMode="auto">
            <a:xfrm>
              <a:off x="1089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5" name="Rectangle 174"/>
            <p:cNvSpPr>
              <a:spLocks noChangeArrowheads="1"/>
            </p:cNvSpPr>
            <p:nvPr/>
          </p:nvSpPr>
          <p:spPr bwMode="auto">
            <a:xfrm>
              <a:off x="1451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6" name="Rectangle 175"/>
            <p:cNvSpPr>
              <a:spLocks noChangeArrowheads="1"/>
            </p:cNvSpPr>
            <p:nvPr/>
          </p:nvSpPr>
          <p:spPr bwMode="auto">
            <a:xfrm>
              <a:off x="1995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7" name="Rectangle 176"/>
            <p:cNvSpPr>
              <a:spLocks noChangeArrowheads="1"/>
            </p:cNvSpPr>
            <p:nvPr/>
          </p:nvSpPr>
          <p:spPr bwMode="auto">
            <a:xfrm>
              <a:off x="1633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8" name="Rectangle 177"/>
            <p:cNvSpPr>
              <a:spLocks noChangeArrowheads="1"/>
            </p:cNvSpPr>
            <p:nvPr/>
          </p:nvSpPr>
          <p:spPr bwMode="auto">
            <a:xfrm>
              <a:off x="1814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9" name="Rectangle 178"/>
            <p:cNvSpPr>
              <a:spLocks noChangeArrowheads="1"/>
            </p:cNvSpPr>
            <p:nvPr/>
          </p:nvSpPr>
          <p:spPr bwMode="auto">
            <a:xfrm>
              <a:off x="2177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Rectangle 179"/>
            <p:cNvSpPr>
              <a:spLocks noChangeArrowheads="1"/>
            </p:cNvSpPr>
            <p:nvPr/>
          </p:nvSpPr>
          <p:spPr bwMode="auto">
            <a:xfrm>
              <a:off x="2721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Rectangle 180"/>
            <p:cNvSpPr>
              <a:spLocks noChangeArrowheads="1"/>
            </p:cNvSpPr>
            <p:nvPr/>
          </p:nvSpPr>
          <p:spPr bwMode="auto">
            <a:xfrm>
              <a:off x="2359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Rectangle 181"/>
            <p:cNvSpPr>
              <a:spLocks noChangeArrowheads="1"/>
            </p:cNvSpPr>
            <p:nvPr/>
          </p:nvSpPr>
          <p:spPr bwMode="auto">
            <a:xfrm>
              <a:off x="2540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Rectangle 182"/>
            <p:cNvSpPr>
              <a:spLocks noChangeArrowheads="1"/>
            </p:cNvSpPr>
            <p:nvPr/>
          </p:nvSpPr>
          <p:spPr bwMode="auto">
            <a:xfrm>
              <a:off x="2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Rectangle 183"/>
            <p:cNvSpPr>
              <a:spLocks noChangeArrowheads="1"/>
            </p:cNvSpPr>
            <p:nvPr/>
          </p:nvSpPr>
          <p:spPr bwMode="auto">
            <a:xfrm>
              <a:off x="546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Rectangle 184"/>
            <p:cNvSpPr>
              <a:spLocks noChangeArrowheads="1"/>
            </p:cNvSpPr>
            <p:nvPr/>
          </p:nvSpPr>
          <p:spPr bwMode="auto">
            <a:xfrm>
              <a:off x="184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6" name="Rectangle 185"/>
            <p:cNvSpPr>
              <a:spLocks noChangeArrowheads="1"/>
            </p:cNvSpPr>
            <p:nvPr/>
          </p:nvSpPr>
          <p:spPr bwMode="auto">
            <a:xfrm>
              <a:off x="365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7" name="Rectangle 186"/>
            <p:cNvSpPr>
              <a:spLocks noChangeArrowheads="1"/>
            </p:cNvSpPr>
            <p:nvPr/>
          </p:nvSpPr>
          <p:spPr bwMode="auto">
            <a:xfrm>
              <a:off x="728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8" name="Rectangle 187"/>
            <p:cNvSpPr>
              <a:spLocks noChangeArrowheads="1"/>
            </p:cNvSpPr>
            <p:nvPr/>
          </p:nvSpPr>
          <p:spPr bwMode="auto">
            <a:xfrm>
              <a:off x="1272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9" name="Rectangle 188"/>
            <p:cNvSpPr>
              <a:spLocks noChangeArrowheads="1"/>
            </p:cNvSpPr>
            <p:nvPr/>
          </p:nvSpPr>
          <p:spPr bwMode="auto">
            <a:xfrm>
              <a:off x="910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0" name="Rectangle 189"/>
            <p:cNvSpPr>
              <a:spLocks noChangeArrowheads="1"/>
            </p:cNvSpPr>
            <p:nvPr/>
          </p:nvSpPr>
          <p:spPr bwMode="auto">
            <a:xfrm>
              <a:off x="1091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1" name="Rectangle 190"/>
            <p:cNvSpPr>
              <a:spLocks noChangeArrowheads="1"/>
            </p:cNvSpPr>
            <p:nvPr/>
          </p:nvSpPr>
          <p:spPr bwMode="auto">
            <a:xfrm>
              <a:off x="1453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2" name="Rectangle 191"/>
            <p:cNvSpPr>
              <a:spLocks noChangeArrowheads="1"/>
            </p:cNvSpPr>
            <p:nvPr/>
          </p:nvSpPr>
          <p:spPr bwMode="auto">
            <a:xfrm>
              <a:off x="1997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3" name="Rectangle 192"/>
            <p:cNvSpPr>
              <a:spLocks noChangeArrowheads="1"/>
            </p:cNvSpPr>
            <p:nvPr/>
          </p:nvSpPr>
          <p:spPr bwMode="auto">
            <a:xfrm>
              <a:off x="1635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4" name="Rectangle 193"/>
            <p:cNvSpPr>
              <a:spLocks noChangeArrowheads="1"/>
            </p:cNvSpPr>
            <p:nvPr/>
          </p:nvSpPr>
          <p:spPr bwMode="auto">
            <a:xfrm>
              <a:off x="1816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5" name="Rectangle 194"/>
            <p:cNvSpPr>
              <a:spLocks noChangeArrowheads="1"/>
            </p:cNvSpPr>
            <p:nvPr/>
          </p:nvSpPr>
          <p:spPr bwMode="auto">
            <a:xfrm>
              <a:off x="2179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6" name="Rectangle 195"/>
            <p:cNvSpPr>
              <a:spLocks noChangeArrowheads="1"/>
            </p:cNvSpPr>
            <p:nvPr/>
          </p:nvSpPr>
          <p:spPr bwMode="auto">
            <a:xfrm>
              <a:off x="2723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7" name="Rectangle 196"/>
            <p:cNvSpPr>
              <a:spLocks noChangeArrowheads="1"/>
            </p:cNvSpPr>
            <p:nvPr/>
          </p:nvSpPr>
          <p:spPr bwMode="auto">
            <a:xfrm>
              <a:off x="2361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8" name="Rectangle 197"/>
            <p:cNvSpPr>
              <a:spLocks noChangeArrowheads="1"/>
            </p:cNvSpPr>
            <p:nvPr/>
          </p:nvSpPr>
          <p:spPr bwMode="auto">
            <a:xfrm>
              <a:off x="2542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9" name="Rectangle 198"/>
            <p:cNvSpPr>
              <a:spLocks noChangeArrowheads="1"/>
            </p:cNvSpPr>
            <p:nvPr/>
          </p:nvSpPr>
          <p:spPr bwMode="auto">
            <a:xfrm>
              <a:off x="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0" name="Rectangle 199"/>
            <p:cNvSpPr>
              <a:spLocks noChangeArrowheads="1"/>
            </p:cNvSpPr>
            <p:nvPr/>
          </p:nvSpPr>
          <p:spPr bwMode="auto">
            <a:xfrm>
              <a:off x="545" y="1995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1" name="Rectangle 200"/>
            <p:cNvSpPr>
              <a:spLocks noChangeArrowheads="1"/>
            </p:cNvSpPr>
            <p:nvPr/>
          </p:nvSpPr>
          <p:spPr bwMode="auto">
            <a:xfrm>
              <a:off x="183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2" name="Rectangle 201"/>
            <p:cNvSpPr>
              <a:spLocks noChangeArrowheads="1"/>
            </p:cNvSpPr>
            <p:nvPr/>
          </p:nvSpPr>
          <p:spPr bwMode="auto">
            <a:xfrm>
              <a:off x="36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3" name="Rectangle 202"/>
            <p:cNvSpPr>
              <a:spLocks noChangeArrowheads="1"/>
            </p:cNvSpPr>
            <p:nvPr/>
          </p:nvSpPr>
          <p:spPr bwMode="auto">
            <a:xfrm>
              <a:off x="727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" name="Rectangle 203"/>
            <p:cNvSpPr>
              <a:spLocks noChangeArrowheads="1"/>
            </p:cNvSpPr>
            <p:nvPr/>
          </p:nvSpPr>
          <p:spPr bwMode="auto">
            <a:xfrm>
              <a:off x="1271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" name="Rectangle 204"/>
            <p:cNvSpPr>
              <a:spLocks noChangeArrowheads="1"/>
            </p:cNvSpPr>
            <p:nvPr/>
          </p:nvSpPr>
          <p:spPr bwMode="auto">
            <a:xfrm>
              <a:off x="909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" name="Rectangle 205"/>
            <p:cNvSpPr>
              <a:spLocks noChangeArrowheads="1"/>
            </p:cNvSpPr>
            <p:nvPr/>
          </p:nvSpPr>
          <p:spPr bwMode="auto">
            <a:xfrm>
              <a:off x="109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7" name="Rectangle 206"/>
            <p:cNvSpPr>
              <a:spLocks noChangeArrowheads="1"/>
            </p:cNvSpPr>
            <p:nvPr/>
          </p:nvSpPr>
          <p:spPr bwMode="auto">
            <a:xfrm>
              <a:off x="1452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8" name="Rectangle 207"/>
            <p:cNvSpPr>
              <a:spLocks noChangeArrowheads="1"/>
            </p:cNvSpPr>
            <p:nvPr/>
          </p:nvSpPr>
          <p:spPr bwMode="auto">
            <a:xfrm>
              <a:off x="1996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9" name="Rectangle 208"/>
            <p:cNvSpPr>
              <a:spLocks noChangeArrowheads="1"/>
            </p:cNvSpPr>
            <p:nvPr/>
          </p:nvSpPr>
          <p:spPr bwMode="auto">
            <a:xfrm>
              <a:off x="163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0" name="Rectangle 209"/>
            <p:cNvSpPr>
              <a:spLocks noChangeArrowheads="1"/>
            </p:cNvSpPr>
            <p:nvPr/>
          </p:nvSpPr>
          <p:spPr bwMode="auto">
            <a:xfrm>
              <a:off x="1815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1" name="Rectangle 210"/>
            <p:cNvSpPr>
              <a:spLocks noChangeArrowheads="1"/>
            </p:cNvSpPr>
            <p:nvPr/>
          </p:nvSpPr>
          <p:spPr bwMode="auto">
            <a:xfrm>
              <a:off x="2178" y="1995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2" name="Rectangle 211"/>
            <p:cNvSpPr>
              <a:spLocks noChangeArrowheads="1"/>
            </p:cNvSpPr>
            <p:nvPr/>
          </p:nvSpPr>
          <p:spPr bwMode="auto">
            <a:xfrm>
              <a:off x="2722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3" name="Rectangle 212"/>
            <p:cNvSpPr>
              <a:spLocks noChangeArrowheads="1"/>
            </p:cNvSpPr>
            <p:nvPr/>
          </p:nvSpPr>
          <p:spPr bwMode="auto">
            <a:xfrm>
              <a:off x="236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4" name="Rectangle 213"/>
            <p:cNvSpPr>
              <a:spLocks noChangeArrowheads="1"/>
            </p:cNvSpPr>
            <p:nvPr/>
          </p:nvSpPr>
          <p:spPr bwMode="auto">
            <a:xfrm>
              <a:off x="254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5" name="Rectangle 214"/>
            <p:cNvSpPr>
              <a:spLocks noChangeArrowheads="1"/>
            </p:cNvSpPr>
            <p:nvPr/>
          </p:nvSpPr>
          <p:spPr bwMode="auto">
            <a:xfrm>
              <a:off x="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6" name="Rectangle 215"/>
            <p:cNvSpPr>
              <a:spLocks noChangeArrowheads="1"/>
            </p:cNvSpPr>
            <p:nvPr/>
          </p:nvSpPr>
          <p:spPr bwMode="auto">
            <a:xfrm>
              <a:off x="546" y="2177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7" name="Rectangle 216"/>
            <p:cNvSpPr>
              <a:spLocks noChangeArrowheads="1"/>
            </p:cNvSpPr>
            <p:nvPr/>
          </p:nvSpPr>
          <p:spPr bwMode="auto">
            <a:xfrm>
              <a:off x="184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8" name="Rectangle 217"/>
            <p:cNvSpPr>
              <a:spLocks noChangeArrowheads="1"/>
            </p:cNvSpPr>
            <p:nvPr/>
          </p:nvSpPr>
          <p:spPr bwMode="auto">
            <a:xfrm>
              <a:off x="36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9" name="Rectangle 218"/>
            <p:cNvSpPr>
              <a:spLocks noChangeArrowheads="1"/>
            </p:cNvSpPr>
            <p:nvPr/>
          </p:nvSpPr>
          <p:spPr bwMode="auto">
            <a:xfrm>
              <a:off x="728" y="217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0" name="Rectangle 219"/>
            <p:cNvSpPr>
              <a:spLocks noChangeArrowheads="1"/>
            </p:cNvSpPr>
            <p:nvPr/>
          </p:nvSpPr>
          <p:spPr bwMode="auto">
            <a:xfrm>
              <a:off x="1272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1" name="Rectangle 220"/>
            <p:cNvSpPr>
              <a:spLocks noChangeArrowheads="1"/>
            </p:cNvSpPr>
            <p:nvPr/>
          </p:nvSpPr>
          <p:spPr bwMode="auto">
            <a:xfrm>
              <a:off x="910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2" name="Rectangle 221"/>
            <p:cNvSpPr>
              <a:spLocks noChangeArrowheads="1"/>
            </p:cNvSpPr>
            <p:nvPr/>
          </p:nvSpPr>
          <p:spPr bwMode="auto">
            <a:xfrm>
              <a:off x="109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3" name="Rectangle 222"/>
            <p:cNvSpPr>
              <a:spLocks noChangeArrowheads="1"/>
            </p:cNvSpPr>
            <p:nvPr/>
          </p:nvSpPr>
          <p:spPr bwMode="auto">
            <a:xfrm>
              <a:off x="1453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4" name="Rectangle 223"/>
            <p:cNvSpPr>
              <a:spLocks noChangeArrowheads="1"/>
            </p:cNvSpPr>
            <p:nvPr/>
          </p:nvSpPr>
          <p:spPr bwMode="auto">
            <a:xfrm>
              <a:off x="1997" y="2177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5" name="Rectangle 224"/>
            <p:cNvSpPr>
              <a:spLocks noChangeArrowheads="1"/>
            </p:cNvSpPr>
            <p:nvPr/>
          </p:nvSpPr>
          <p:spPr bwMode="auto">
            <a:xfrm>
              <a:off x="163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6" name="Rectangle 225"/>
            <p:cNvSpPr>
              <a:spLocks noChangeArrowheads="1"/>
            </p:cNvSpPr>
            <p:nvPr/>
          </p:nvSpPr>
          <p:spPr bwMode="auto">
            <a:xfrm>
              <a:off x="1816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7" name="Rectangle 226"/>
            <p:cNvSpPr>
              <a:spLocks noChangeArrowheads="1"/>
            </p:cNvSpPr>
            <p:nvPr/>
          </p:nvSpPr>
          <p:spPr bwMode="auto">
            <a:xfrm>
              <a:off x="2179" y="217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8" name="Rectangle 227"/>
            <p:cNvSpPr>
              <a:spLocks noChangeArrowheads="1"/>
            </p:cNvSpPr>
            <p:nvPr/>
          </p:nvSpPr>
          <p:spPr bwMode="auto">
            <a:xfrm>
              <a:off x="2723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9" name="Rectangle 228"/>
            <p:cNvSpPr>
              <a:spLocks noChangeArrowheads="1"/>
            </p:cNvSpPr>
            <p:nvPr/>
          </p:nvSpPr>
          <p:spPr bwMode="auto">
            <a:xfrm>
              <a:off x="236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0" name="Rectangle 229"/>
            <p:cNvSpPr>
              <a:spLocks noChangeArrowheads="1"/>
            </p:cNvSpPr>
            <p:nvPr/>
          </p:nvSpPr>
          <p:spPr bwMode="auto">
            <a:xfrm>
              <a:off x="254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1" name="Rectangle 230"/>
            <p:cNvSpPr>
              <a:spLocks noChangeArrowheads="1"/>
            </p:cNvSpPr>
            <p:nvPr/>
          </p:nvSpPr>
          <p:spPr bwMode="auto">
            <a:xfrm>
              <a:off x="1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2" name="Rectangle 231"/>
            <p:cNvSpPr>
              <a:spLocks noChangeArrowheads="1"/>
            </p:cNvSpPr>
            <p:nvPr/>
          </p:nvSpPr>
          <p:spPr bwMode="auto">
            <a:xfrm>
              <a:off x="545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3" name="Rectangle 232"/>
            <p:cNvSpPr>
              <a:spLocks noChangeArrowheads="1"/>
            </p:cNvSpPr>
            <p:nvPr/>
          </p:nvSpPr>
          <p:spPr bwMode="auto">
            <a:xfrm>
              <a:off x="183" y="2358"/>
              <a:ext cx="182" cy="181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4" name="Rectangle 233"/>
            <p:cNvSpPr>
              <a:spLocks noChangeArrowheads="1"/>
            </p:cNvSpPr>
            <p:nvPr/>
          </p:nvSpPr>
          <p:spPr bwMode="auto">
            <a:xfrm>
              <a:off x="364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" name="Rectangle 234"/>
            <p:cNvSpPr>
              <a:spLocks noChangeArrowheads="1"/>
            </p:cNvSpPr>
            <p:nvPr/>
          </p:nvSpPr>
          <p:spPr bwMode="auto">
            <a:xfrm>
              <a:off x="727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" name="Rectangle 235"/>
            <p:cNvSpPr>
              <a:spLocks noChangeArrowheads="1"/>
            </p:cNvSpPr>
            <p:nvPr/>
          </p:nvSpPr>
          <p:spPr bwMode="auto">
            <a:xfrm>
              <a:off x="1271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7" name="Rectangle 236"/>
            <p:cNvSpPr>
              <a:spLocks noChangeArrowheads="1"/>
            </p:cNvSpPr>
            <p:nvPr/>
          </p:nvSpPr>
          <p:spPr bwMode="auto">
            <a:xfrm>
              <a:off x="909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8" name="Rectangle 237"/>
            <p:cNvSpPr>
              <a:spLocks noChangeArrowheads="1"/>
            </p:cNvSpPr>
            <p:nvPr/>
          </p:nvSpPr>
          <p:spPr bwMode="auto">
            <a:xfrm>
              <a:off x="1090" y="2358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9" name="Rectangle 238"/>
            <p:cNvSpPr>
              <a:spLocks noChangeArrowheads="1"/>
            </p:cNvSpPr>
            <p:nvPr/>
          </p:nvSpPr>
          <p:spPr bwMode="auto">
            <a:xfrm>
              <a:off x="1452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0" name="Rectangle 239"/>
            <p:cNvSpPr>
              <a:spLocks noChangeArrowheads="1"/>
            </p:cNvSpPr>
            <p:nvPr/>
          </p:nvSpPr>
          <p:spPr bwMode="auto">
            <a:xfrm>
              <a:off x="1996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1" name="Rectangle 240"/>
            <p:cNvSpPr>
              <a:spLocks noChangeArrowheads="1"/>
            </p:cNvSpPr>
            <p:nvPr/>
          </p:nvSpPr>
          <p:spPr bwMode="auto">
            <a:xfrm>
              <a:off x="1634" y="2358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2" name="Rectangle 241"/>
            <p:cNvSpPr>
              <a:spLocks noChangeArrowheads="1"/>
            </p:cNvSpPr>
            <p:nvPr/>
          </p:nvSpPr>
          <p:spPr bwMode="auto">
            <a:xfrm>
              <a:off x="1815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3" name="Rectangle 242"/>
            <p:cNvSpPr>
              <a:spLocks noChangeArrowheads="1"/>
            </p:cNvSpPr>
            <p:nvPr/>
          </p:nvSpPr>
          <p:spPr bwMode="auto">
            <a:xfrm>
              <a:off x="2178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4" name="Rectangle 243"/>
            <p:cNvSpPr>
              <a:spLocks noChangeArrowheads="1"/>
            </p:cNvSpPr>
            <p:nvPr/>
          </p:nvSpPr>
          <p:spPr bwMode="auto">
            <a:xfrm>
              <a:off x="2722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" name="Rectangle 244"/>
            <p:cNvSpPr>
              <a:spLocks noChangeArrowheads="1"/>
            </p:cNvSpPr>
            <p:nvPr/>
          </p:nvSpPr>
          <p:spPr bwMode="auto">
            <a:xfrm>
              <a:off x="2360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" name="Rectangle 245"/>
            <p:cNvSpPr>
              <a:spLocks noChangeArrowheads="1"/>
            </p:cNvSpPr>
            <p:nvPr/>
          </p:nvSpPr>
          <p:spPr bwMode="auto">
            <a:xfrm>
              <a:off x="2541" y="2358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7" name="Rectangle 246"/>
            <p:cNvSpPr>
              <a:spLocks noChangeArrowheads="1"/>
            </p:cNvSpPr>
            <p:nvPr/>
          </p:nvSpPr>
          <p:spPr bwMode="auto">
            <a:xfrm>
              <a:off x="3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8" name="Rectangle 247"/>
            <p:cNvSpPr>
              <a:spLocks noChangeArrowheads="1"/>
            </p:cNvSpPr>
            <p:nvPr/>
          </p:nvSpPr>
          <p:spPr bwMode="auto">
            <a:xfrm>
              <a:off x="547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9" name="Rectangle 248"/>
            <p:cNvSpPr>
              <a:spLocks noChangeArrowheads="1"/>
            </p:cNvSpPr>
            <p:nvPr/>
          </p:nvSpPr>
          <p:spPr bwMode="auto">
            <a:xfrm>
              <a:off x="185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0" name="Rectangle 249"/>
            <p:cNvSpPr>
              <a:spLocks noChangeArrowheads="1"/>
            </p:cNvSpPr>
            <p:nvPr/>
          </p:nvSpPr>
          <p:spPr bwMode="auto">
            <a:xfrm>
              <a:off x="366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1" name="Rectangle 250"/>
            <p:cNvSpPr>
              <a:spLocks noChangeArrowheads="1"/>
            </p:cNvSpPr>
            <p:nvPr/>
          </p:nvSpPr>
          <p:spPr bwMode="auto">
            <a:xfrm>
              <a:off x="729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2" name="Rectangle 251"/>
            <p:cNvSpPr>
              <a:spLocks noChangeArrowheads="1"/>
            </p:cNvSpPr>
            <p:nvPr/>
          </p:nvSpPr>
          <p:spPr bwMode="auto">
            <a:xfrm>
              <a:off x="1273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3" name="Rectangle 252"/>
            <p:cNvSpPr>
              <a:spLocks noChangeArrowheads="1"/>
            </p:cNvSpPr>
            <p:nvPr/>
          </p:nvSpPr>
          <p:spPr bwMode="auto">
            <a:xfrm>
              <a:off x="911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4" name="Rectangle 253"/>
            <p:cNvSpPr>
              <a:spLocks noChangeArrowheads="1"/>
            </p:cNvSpPr>
            <p:nvPr/>
          </p:nvSpPr>
          <p:spPr bwMode="auto">
            <a:xfrm>
              <a:off x="1092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5" name="Rectangle 254"/>
            <p:cNvSpPr>
              <a:spLocks noChangeArrowheads="1"/>
            </p:cNvSpPr>
            <p:nvPr/>
          </p:nvSpPr>
          <p:spPr bwMode="auto">
            <a:xfrm>
              <a:off x="1454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" name="Rectangle 255"/>
            <p:cNvSpPr>
              <a:spLocks noChangeArrowheads="1"/>
            </p:cNvSpPr>
            <p:nvPr/>
          </p:nvSpPr>
          <p:spPr bwMode="auto">
            <a:xfrm>
              <a:off x="1998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7" name="Rectangle 256"/>
            <p:cNvSpPr>
              <a:spLocks noChangeArrowheads="1"/>
            </p:cNvSpPr>
            <p:nvPr/>
          </p:nvSpPr>
          <p:spPr bwMode="auto">
            <a:xfrm>
              <a:off x="1636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8" name="Rectangle 257"/>
            <p:cNvSpPr>
              <a:spLocks noChangeArrowheads="1"/>
            </p:cNvSpPr>
            <p:nvPr/>
          </p:nvSpPr>
          <p:spPr bwMode="auto">
            <a:xfrm>
              <a:off x="1817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9" name="Rectangle 258"/>
            <p:cNvSpPr>
              <a:spLocks noChangeArrowheads="1"/>
            </p:cNvSpPr>
            <p:nvPr/>
          </p:nvSpPr>
          <p:spPr bwMode="auto">
            <a:xfrm>
              <a:off x="2180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0" name="Rectangle 259"/>
            <p:cNvSpPr>
              <a:spLocks noChangeArrowheads="1"/>
            </p:cNvSpPr>
            <p:nvPr/>
          </p:nvSpPr>
          <p:spPr bwMode="auto">
            <a:xfrm>
              <a:off x="2724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1" name="Rectangle 260"/>
            <p:cNvSpPr>
              <a:spLocks noChangeArrowheads="1"/>
            </p:cNvSpPr>
            <p:nvPr/>
          </p:nvSpPr>
          <p:spPr bwMode="auto">
            <a:xfrm>
              <a:off x="2362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2" name="Rectangle 261"/>
            <p:cNvSpPr>
              <a:spLocks noChangeArrowheads="1"/>
            </p:cNvSpPr>
            <p:nvPr/>
          </p:nvSpPr>
          <p:spPr bwMode="auto">
            <a:xfrm>
              <a:off x="2543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3" name="Rectangle 262"/>
            <p:cNvSpPr>
              <a:spLocks noChangeArrowheads="1"/>
            </p:cNvSpPr>
            <p:nvPr/>
          </p:nvSpPr>
          <p:spPr bwMode="auto">
            <a:xfrm>
              <a:off x="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4" name="Rectangle 263"/>
            <p:cNvSpPr>
              <a:spLocks noChangeArrowheads="1"/>
            </p:cNvSpPr>
            <p:nvPr/>
          </p:nvSpPr>
          <p:spPr bwMode="auto">
            <a:xfrm>
              <a:off x="546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5" name="Rectangle 264"/>
            <p:cNvSpPr>
              <a:spLocks noChangeArrowheads="1"/>
            </p:cNvSpPr>
            <p:nvPr/>
          </p:nvSpPr>
          <p:spPr bwMode="auto">
            <a:xfrm>
              <a:off x="184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6" name="Rectangle 265"/>
            <p:cNvSpPr>
              <a:spLocks noChangeArrowheads="1"/>
            </p:cNvSpPr>
            <p:nvPr/>
          </p:nvSpPr>
          <p:spPr bwMode="auto">
            <a:xfrm>
              <a:off x="36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7" name="Rectangle 266"/>
            <p:cNvSpPr>
              <a:spLocks noChangeArrowheads="1"/>
            </p:cNvSpPr>
            <p:nvPr/>
          </p:nvSpPr>
          <p:spPr bwMode="auto">
            <a:xfrm>
              <a:off x="728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8" name="Rectangle 267"/>
            <p:cNvSpPr>
              <a:spLocks noChangeArrowheads="1"/>
            </p:cNvSpPr>
            <p:nvPr/>
          </p:nvSpPr>
          <p:spPr bwMode="auto">
            <a:xfrm>
              <a:off x="1272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9" name="Rectangle 268"/>
            <p:cNvSpPr>
              <a:spLocks noChangeArrowheads="1"/>
            </p:cNvSpPr>
            <p:nvPr/>
          </p:nvSpPr>
          <p:spPr bwMode="auto">
            <a:xfrm>
              <a:off x="910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0" name="Rectangle 269"/>
            <p:cNvSpPr>
              <a:spLocks noChangeArrowheads="1"/>
            </p:cNvSpPr>
            <p:nvPr/>
          </p:nvSpPr>
          <p:spPr bwMode="auto">
            <a:xfrm>
              <a:off x="109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1" name="Rectangle 270"/>
            <p:cNvSpPr>
              <a:spLocks noChangeArrowheads="1"/>
            </p:cNvSpPr>
            <p:nvPr/>
          </p:nvSpPr>
          <p:spPr bwMode="auto">
            <a:xfrm>
              <a:off x="1453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2" name="Rectangle 271"/>
            <p:cNvSpPr>
              <a:spLocks noChangeArrowheads="1"/>
            </p:cNvSpPr>
            <p:nvPr/>
          </p:nvSpPr>
          <p:spPr bwMode="auto">
            <a:xfrm>
              <a:off x="1997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3" name="Rectangle 272"/>
            <p:cNvSpPr>
              <a:spLocks noChangeArrowheads="1"/>
            </p:cNvSpPr>
            <p:nvPr/>
          </p:nvSpPr>
          <p:spPr bwMode="auto">
            <a:xfrm>
              <a:off x="163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4" name="Rectangle 273"/>
            <p:cNvSpPr>
              <a:spLocks noChangeArrowheads="1"/>
            </p:cNvSpPr>
            <p:nvPr/>
          </p:nvSpPr>
          <p:spPr bwMode="auto">
            <a:xfrm>
              <a:off x="1816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5" name="Rectangle 274"/>
            <p:cNvSpPr>
              <a:spLocks noChangeArrowheads="1"/>
            </p:cNvSpPr>
            <p:nvPr/>
          </p:nvSpPr>
          <p:spPr bwMode="auto">
            <a:xfrm>
              <a:off x="2179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6" name="Rectangle 275"/>
            <p:cNvSpPr>
              <a:spLocks noChangeArrowheads="1"/>
            </p:cNvSpPr>
            <p:nvPr/>
          </p:nvSpPr>
          <p:spPr bwMode="auto">
            <a:xfrm>
              <a:off x="2723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7" name="Rectangle 276"/>
            <p:cNvSpPr>
              <a:spLocks noChangeArrowheads="1"/>
            </p:cNvSpPr>
            <p:nvPr/>
          </p:nvSpPr>
          <p:spPr bwMode="auto">
            <a:xfrm>
              <a:off x="236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8" name="Rectangle 277"/>
            <p:cNvSpPr>
              <a:spLocks noChangeArrowheads="1"/>
            </p:cNvSpPr>
            <p:nvPr/>
          </p:nvSpPr>
          <p:spPr bwMode="auto">
            <a:xfrm>
              <a:off x="254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79" name="Line 278"/>
          <p:cNvSpPr>
            <a:spLocks noChangeShapeType="1"/>
          </p:cNvSpPr>
          <p:nvPr/>
        </p:nvSpPr>
        <p:spPr bwMode="auto">
          <a:xfrm>
            <a:off x="3525837" y="1427592"/>
            <a:ext cx="0" cy="5040313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0" name="Line 279"/>
          <p:cNvSpPr>
            <a:spLocks noChangeShapeType="1"/>
          </p:cNvSpPr>
          <p:nvPr/>
        </p:nvSpPr>
        <p:spPr bwMode="auto">
          <a:xfrm>
            <a:off x="933450" y="3948542"/>
            <a:ext cx="53641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1" name="Line 280"/>
          <p:cNvSpPr>
            <a:spLocks noChangeShapeType="1"/>
          </p:cNvSpPr>
          <p:nvPr/>
        </p:nvSpPr>
        <p:spPr bwMode="auto">
          <a:xfrm>
            <a:off x="860425" y="2796017"/>
            <a:ext cx="5364162" cy="0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2" name="Line 281"/>
          <p:cNvSpPr>
            <a:spLocks noChangeShapeType="1"/>
          </p:cNvSpPr>
          <p:nvPr/>
        </p:nvSpPr>
        <p:spPr bwMode="auto">
          <a:xfrm>
            <a:off x="860425" y="5099480"/>
            <a:ext cx="5364162" cy="0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3" name="Line 282"/>
          <p:cNvSpPr>
            <a:spLocks noChangeShapeType="1"/>
          </p:cNvSpPr>
          <p:nvPr/>
        </p:nvSpPr>
        <p:spPr bwMode="auto">
          <a:xfrm>
            <a:off x="4676775" y="1427592"/>
            <a:ext cx="0" cy="5040313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4" name="Line 283"/>
          <p:cNvSpPr>
            <a:spLocks noChangeShapeType="1"/>
          </p:cNvSpPr>
          <p:nvPr/>
        </p:nvSpPr>
        <p:spPr bwMode="auto">
          <a:xfrm>
            <a:off x="1797050" y="1427592"/>
            <a:ext cx="0" cy="5040313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5" name="Line 284"/>
          <p:cNvSpPr>
            <a:spLocks noChangeShapeType="1"/>
          </p:cNvSpPr>
          <p:nvPr/>
        </p:nvSpPr>
        <p:spPr bwMode="auto">
          <a:xfrm>
            <a:off x="860425" y="3372280"/>
            <a:ext cx="5364162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" name="Line 285"/>
          <p:cNvSpPr>
            <a:spLocks noChangeShapeType="1"/>
          </p:cNvSpPr>
          <p:nvPr/>
        </p:nvSpPr>
        <p:spPr bwMode="auto">
          <a:xfrm>
            <a:off x="860425" y="2219755"/>
            <a:ext cx="5364162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7" name="Line 286"/>
          <p:cNvSpPr>
            <a:spLocks noChangeShapeType="1"/>
          </p:cNvSpPr>
          <p:nvPr/>
        </p:nvSpPr>
        <p:spPr bwMode="auto">
          <a:xfrm>
            <a:off x="788987" y="4523217"/>
            <a:ext cx="5364163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8" name="Line 287"/>
          <p:cNvSpPr>
            <a:spLocks noChangeShapeType="1"/>
          </p:cNvSpPr>
          <p:nvPr/>
        </p:nvSpPr>
        <p:spPr bwMode="auto">
          <a:xfrm>
            <a:off x="860425" y="5675742"/>
            <a:ext cx="5364162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9" name="Line 288"/>
          <p:cNvSpPr>
            <a:spLocks noChangeShapeType="1"/>
          </p:cNvSpPr>
          <p:nvPr/>
        </p:nvSpPr>
        <p:spPr bwMode="auto">
          <a:xfrm>
            <a:off x="2373312" y="1427592"/>
            <a:ext cx="0" cy="5040313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0" name="Line 289"/>
          <p:cNvSpPr>
            <a:spLocks noChangeShapeType="1"/>
          </p:cNvSpPr>
          <p:nvPr/>
        </p:nvSpPr>
        <p:spPr bwMode="auto">
          <a:xfrm>
            <a:off x="2949575" y="1427592"/>
            <a:ext cx="0" cy="5040313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1" name="Line 290"/>
          <p:cNvSpPr>
            <a:spLocks noChangeShapeType="1"/>
          </p:cNvSpPr>
          <p:nvPr/>
        </p:nvSpPr>
        <p:spPr bwMode="auto">
          <a:xfrm>
            <a:off x="4100512" y="1427592"/>
            <a:ext cx="0" cy="5040313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2" name="Line 291"/>
          <p:cNvSpPr>
            <a:spLocks noChangeShapeType="1"/>
          </p:cNvSpPr>
          <p:nvPr/>
        </p:nvSpPr>
        <p:spPr bwMode="auto">
          <a:xfrm>
            <a:off x="5253037" y="1427592"/>
            <a:ext cx="0" cy="5040313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362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棋盘覆盖问题算法演示（续）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5" name="Rectangle 3"/>
          <p:cNvSpPr txBox="1">
            <a:spLocks/>
          </p:cNvSpPr>
          <p:nvPr/>
        </p:nvSpPr>
        <p:spPr>
          <a:xfrm>
            <a:off x="844698" y="830967"/>
            <a:ext cx="3976540" cy="415927"/>
          </a:xfrm>
          <a:prstGeom prst="rect">
            <a:avLst/>
          </a:prstGeom>
        </p:spPr>
        <p:txBody>
          <a:bodyPr anchor="b">
            <a:noAutofit/>
          </a:bodyPr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 kern="1200" spc="-50">
                <a:solidFill>
                  <a:srgbClr val="40404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4800">
                <a:solidFill>
                  <a:srgbClr val="404040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kumimoji="0" lang="zh-CN" altLang="en-US" sz="2800" dirty="0" smtClean="0">
                <a:latin typeface="微软雅黑" pitchFamily="34" charset="-122"/>
                <a:ea typeface="微软雅黑" pitchFamily="34" charset="-122"/>
              </a:rPr>
              <a:t>第四次分割为</a:t>
            </a:r>
            <a:r>
              <a:rPr kumimoji="0" lang="en-US" altLang="zh-CN" sz="2800" dirty="0" smtClean="0">
                <a:latin typeface="微软雅黑" pitchFamily="34" charset="-122"/>
                <a:ea typeface="微软雅黑" pitchFamily="34" charset="-122"/>
              </a:rPr>
              <a:t>1×1</a:t>
            </a:r>
            <a:r>
              <a:rPr kumimoji="0" lang="zh-CN" altLang="en-US" sz="2800" dirty="0" smtClean="0">
                <a:latin typeface="微软雅黑" pitchFamily="34" charset="-122"/>
                <a:ea typeface="微软雅黑" pitchFamily="34" charset="-122"/>
              </a:rPr>
              <a:t>棋盘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1076325" y="1618705"/>
            <a:ext cx="4613275" cy="4606925"/>
            <a:chOff x="0" y="0"/>
            <a:chExt cx="2906" cy="2903"/>
          </a:xfrm>
        </p:grpSpPr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1" y="0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545" y="0"/>
              <a:ext cx="182" cy="182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183" y="0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364" y="0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727" y="0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1271" y="0"/>
              <a:ext cx="182" cy="182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909" y="0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1090" y="0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1452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1996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1634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1815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2178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2722" y="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2360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2541" y="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0" y="181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544" y="181"/>
              <a:ext cx="182" cy="182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182" y="181"/>
              <a:ext cx="182" cy="181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63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726" y="181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1270" y="181"/>
              <a:ext cx="182" cy="182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908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1089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451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995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1633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1814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2177" y="18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2721" y="18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2359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2540" y="18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2" y="363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546" y="363"/>
              <a:ext cx="182" cy="182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184" y="363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365" y="363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728" y="363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1272" y="363"/>
              <a:ext cx="182" cy="182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910" y="363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1091" y="363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1453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1997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1635" y="363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1816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2179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2723" y="363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2361" y="363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2542" y="363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1" y="544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545" y="544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Rectangle 56"/>
            <p:cNvSpPr>
              <a:spLocks noChangeArrowheads="1"/>
            </p:cNvSpPr>
            <p:nvPr/>
          </p:nvSpPr>
          <p:spPr bwMode="auto">
            <a:xfrm>
              <a:off x="183" y="544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Rectangle 57"/>
            <p:cNvSpPr>
              <a:spLocks noChangeArrowheads="1"/>
            </p:cNvSpPr>
            <p:nvPr/>
          </p:nvSpPr>
          <p:spPr bwMode="auto">
            <a:xfrm>
              <a:off x="364" y="544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Rectangle 58"/>
            <p:cNvSpPr>
              <a:spLocks noChangeArrowheads="1"/>
            </p:cNvSpPr>
            <p:nvPr/>
          </p:nvSpPr>
          <p:spPr bwMode="auto">
            <a:xfrm>
              <a:off x="727" y="54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Rectangle 59"/>
            <p:cNvSpPr>
              <a:spLocks noChangeArrowheads="1"/>
            </p:cNvSpPr>
            <p:nvPr/>
          </p:nvSpPr>
          <p:spPr bwMode="auto">
            <a:xfrm>
              <a:off x="1271" y="544"/>
              <a:ext cx="182" cy="182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Rectangle 60"/>
            <p:cNvSpPr>
              <a:spLocks noChangeArrowheads="1"/>
            </p:cNvSpPr>
            <p:nvPr/>
          </p:nvSpPr>
          <p:spPr bwMode="auto">
            <a:xfrm>
              <a:off x="909" y="544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1090" y="544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1452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auto">
            <a:xfrm>
              <a:off x="1996" y="544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Rectangle 64"/>
            <p:cNvSpPr>
              <a:spLocks noChangeArrowheads="1"/>
            </p:cNvSpPr>
            <p:nvPr/>
          </p:nvSpPr>
          <p:spPr bwMode="auto">
            <a:xfrm>
              <a:off x="1634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1815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2178" y="54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2722" y="54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2360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2541" y="54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2" y="726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546" y="726"/>
              <a:ext cx="182" cy="182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184" y="726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365" y="726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728" y="726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1272" y="726"/>
              <a:ext cx="182" cy="182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910" y="726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1091" y="726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1453" y="726"/>
              <a:ext cx="182" cy="181"/>
            </a:xfrm>
            <a:prstGeom prst="rect">
              <a:avLst/>
            </a:prstGeom>
            <a:solidFill>
              <a:srgbClr val="9933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1997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1635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1816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2179" y="726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2723" y="726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2361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2542" y="726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1" y="907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545" y="907"/>
              <a:ext cx="182" cy="182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183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364" y="907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727" y="907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1271" y="907"/>
              <a:ext cx="182" cy="182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909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1090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1452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Rectangle 95"/>
            <p:cNvSpPr>
              <a:spLocks noChangeArrowheads="1"/>
            </p:cNvSpPr>
            <p:nvPr/>
          </p:nvSpPr>
          <p:spPr bwMode="auto">
            <a:xfrm>
              <a:off x="1996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7" name="Rectangle 96"/>
            <p:cNvSpPr>
              <a:spLocks noChangeArrowheads="1"/>
            </p:cNvSpPr>
            <p:nvPr/>
          </p:nvSpPr>
          <p:spPr bwMode="auto">
            <a:xfrm>
              <a:off x="1634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8" name="Rectangle 97"/>
            <p:cNvSpPr>
              <a:spLocks noChangeArrowheads="1"/>
            </p:cNvSpPr>
            <p:nvPr/>
          </p:nvSpPr>
          <p:spPr bwMode="auto">
            <a:xfrm>
              <a:off x="1815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9" name="Rectangle 98"/>
            <p:cNvSpPr>
              <a:spLocks noChangeArrowheads="1"/>
            </p:cNvSpPr>
            <p:nvPr/>
          </p:nvSpPr>
          <p:spPr bwMode="auto">
            <a:xfrm>
              <a:off x="2178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0" name="Rectangle 99"/>
            <p:cNvSpPr>
              <a:spLocks noChangeArrowheads="1"/>
            </p:cNvSpPr>
            <p:nvPr/>
          </p:nvSpPr>
          <p:spPr bwMode="auto">
            <a:xfrm>
              <a:off x="2722" y="90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1" name="Rectangle 100"/>
            <p:cNvSpPr>
              <a:spLocks noChangeArrowheads="1"/>
            </p:cNvSpPr>
            <p:nvPr/>
          </p:nvSpPr>
          <p:spPr bwMode="auto">
            <a:xfrm>
              <a:off x="2360" y="90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2" name="Rectangle 101"/>
            <p:cNvSpPr>
              <a:spLocks noChangeArrowheads="1"/>
            </p:cNvSpPr>
            <p:nvPr/>
          </p:nvSpPr>
          <p:spPr bwMode="auto">
            <a:xfrm>
              <a:off x="2541" y="90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3" name="Rectangle 102"/>
            <p:cNvSpPr>
              <a:spLocks noChangeArrowheads="1"/>
            </p:cNvSpPr>
            <p:nvPr/>
          </p:nvSpPr>
          <p:spPr bwMode="auto">
            <a:xfrm>
              <a:off x="3" y="1089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547" y="1089"/>
              <a:ext cx="182" cy="182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5" name="Rectangle 104"/>
            <p:cNvSpPr>
              <a:spLocks noChangeArrowheads="1"/>
            </p:cNvSpPr>
            <p:nvPr/>
          </p:nvSpPr>
          <p:spPr bwMode="auto">
            <a:xfrm>
              <a:off x="185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>
              <a:off x="366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7" name="Rectangle 106"/>
            <p:cNvSpPr>
              <a:spLocks noChangeArrowheads="1"/>
            </p:cNvSpPr>
            <p:nvPr/>
          </p:nvSpPr>
          <p:spPr bwMode="auto">
            <a:xfrm>
              <a:off x="729" y="1089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8" name="Rectangle 107"/>
            <p:cNvSpPr>
              <a:spLocks noChangeArrowheads="1"/>
            </p:cNvSpPr>
            <p:nvPr/>
          </p:nvSpPr>
          <p:spPr bwMode="auto">
            <a:xfrm>
              <a:off x="1273" y="1089"/>
              <a:ext cx="182" cy="182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9" name="Rectangle 108"/>
            <p:cNvSpPr>
              <a:spLocks noChangeArrowheads="1"/>
            </p:cNvSpPr>
            <p:nvPr/>
          </p:nvSpPr>
          <p:spPr bwMode="auto">
            <a:xfrm>
              <a:off x="911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0" name="Rectangle 109"/>
            <p:cNvSpPr>
              <a:spLocks noChangeArrowheads="1"/>
            </p:cNvSpPr>
            <p:nvPr/>
          </p:nvSpPr>
          <p:spPr bwMode="auto">
            <a:xfrm>
              <a:off x="1092" y="1089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1" name="Rectangle 110"/>
            <p:cNvSpPr>
              <a:spLocks noChangeArrowheads="1"/>
            </p:cNvSpPr>
            <p:nvPr/>
          </p:nvSpPr>
          <p:spPr bwMode="auto">
            <a:xfrm>
              <a:off x="1454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1998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1636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4" name="Rectangle 113"/>
            <p:cNvSpPr>
              <a:spLocks noChangeArrowheads="1"/>
            </p:cNvSpPr>
            <p:nvPr/>
          </p:nvSpPr>
          <p:spPr bwMode="auto">
            <a:xfrm>
              <a:off x="1817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5" name="Rectangle 114"/>
            <p:cNvSpPr>
              <a:spLocks noChangeArrowheads="1"/>
            </p:cNvSpPr>
            <p:nvPr/>
          </p:nvSpPr>
          <p:spPr bwMode="auto">
            <a:xfrm>
              <a:off x="2180" y="1089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6" name="Rectangle 115"/>
            <p:cNvSpPr>
              <a:spLocks noChangeArrowheads="1"/>
            </p:cNvSpPr>
            <p:nvPr/>
          </p:nvSpPr>
          <p:spPr bwMode="auto">
            <a:xfrm>
              <a:off x="2724" y="1089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7" name="Rectangle 116"/>
            <p:cNvSpPr>
              <a:spLocks noChangeArrowheads="1"/>
            </p:cNvSpPr>
            <p:nvPr/>
          </p:nvSpPr>
          <p:spPr bwMode="auto">
            <a:xfrm>
              <a:off x="2362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8" name="Rectangle 117"/>
            <p:cNvSpPr>
              <a:spLocks noChangeArrowheads="1"/>
            </p:cNvSpPr>
            <p:nvPr/>
          </p:nvSpPr>
          <p:spPr bwMode="auto">
            <a:xfrm>
              <a:off x="2543" y="1089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2" y="1270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Rectangle 119"/>
            <p:cNvSpPr>
              <a:spLocks noChangeArrowheads="1"/>
            </p:cNvSpPr>
            <p:nvPr/>
          </p:nvSpPr>
          <p:spPr bwMode="auto">
            <a:xfrm>
              <a:off x="546" y="1270"/>
              <a:ext cx="182" cy="182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Rectangle 120"/>
            <p:cNvSpPr>
              <a:spLocks noChangeArrowheads="1"/>
            </p:cNvSpPr>
            <p:nvPr/>
          </p:nvSpPr>
          <p:spPr bwMode="auto">
            <a:xfrm>
              <a:off x="184" y="1270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Rectangle 121"/>
            <p:cNvSpPr>
              <a:spLocks noChangeArrowheads="1"/>
            </p:cNvSpPr>
            <p:nvPr/>
          </p:nvSpPr>
          <p:spPr bwMode="auto">
            <a:xfrm>
              <a:off x="365" y="1270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3" name="Rectangle 122"/>
            <p:cNvSpPr>
              <a:spLocks noChangeArrowheads="1"/>
            </p:cNvSpPr>
            <p:nvPr/>
          </p:nvSpPr>
          <p:spPr bwMode="auto">
            <a:xfrm>
              <a:off x="728" y="1270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1272" y="1270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5" name="Rectangle 124"/>
            <p:cNvSpPr>
              <a:spLocks noChangeArrowheads="1"/>
            </p:cNvSpPr>
            <p:nvPr/>
          </p:nvSpPr>
          <p:spPr bwMode="auto">
            <a:xfrm>
              <a:off x="910" y="1270"/>
              <a:ext cx="182" cy="181"/>
            </a:xfrm>
            <a:prstGeom prst="rect">
              <a:avLst/>
            </a:prstGeom>
            <a:solidFill>
              <a:srgbClr val="FF00FF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Rectangle 125"/>
            <p:cNvSpPr>
              <a:spLocks noChangeArrowheads="1"/>
            </p:cNvSpPr>
            <p:nvPr/>
          </p:nvSpPr>
          <p:spPr bwMode="auto">
            <a:xfrm>
              <a:off x="1091" y="1270"/>
              <a:ext cx="182" cy="181"/>
            </a:xfrm>
            <a:prstGeom prst="rect">
              <a:avLst/>
            </a:prstGeom>
            <a:solidFill>
              <a:srgbClr val="FF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Rectangle 126"/>
            <p:cNvSpPr>
              <a:spLocks noChangeArrowheads="1"/>
            </p:cNvSpPr>
            <p:nvPr/>
          </p:nvSpPr>
          <p:spPr bwMode="auto">
            <a:xfrm>
              <a:off x="1453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Rectangle 127"/>
            <p:cNvSpPr>
              <a:spLocks noChangeArrowheads="1"/>
            </p:cNvSpPr>
            <p:nvPr/>
          </p:nvSpPr>
          <p:spPr bwMode="auto">
            <a:xfrm>
              <a:off x="1997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Rectangle 128"/>
            <p:cNvSpPr>
              <a:spLocks noChangeArrowheads="1"/>
            </p:cNvSpPr>
            <p:nvPr/>
          </p:nvSpPr>
          <p:spPr bwMode="auto">
            <a:xfrm>
              <a:off x="1635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Rectangle 129"/>
            <p:cNvSpPr>
              <a:spLocks noChangeArrowheads="1"/>
            </p:cNvSpPr>
            <p:nvPr/>
          </p:nvSpPr>
          <p:spPr bwMode="auto">
            <a:xfrm>
              <a:off x="1816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Rectangle 130"/>
            <p:cNvSpPr>
              <a:spLocks noChangeArrowheads="1"/>
            </p:cNvSpPr>
            <p:nvPr/>
          </p:nvSpPr>
          <p:spPr bwMode="auto">
            <a:xfrm>
              <a:off x="2179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Rectangle 131"/>
            <p:cNvSpPr>
              <a:spLocks noChangeArrowheads="1"/>
            </p:cNvSpPr>
            <p:nvPr/>
          </p:nvSpPr>
          <p:spPr bwMode="auto">
            <a:xfrm>
              <a:off x="2723" y="127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3" name="Rectangle 132"/>
            <p:cNvSpPr>
              <a:spLocks noChangeArrowheads="1"/>
            </p:cNvSpPr>
            <p:nvPr/>
          </p:nvSpPr>
          <p:spPr bwMode="auto">
            <a:xfrm>
              <a:off x="2361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4" name="Rectangle 133"/>
            <p:cNvSpPr>
              <a:spLocks noChangeArrowheads="1"/>
            </p:cNvSpPr>
            <p:nvPr/>
          </p:nvSpPr>
          <p:spPr bwMode="auto">
            <a:xfrm>
              <a:off x="2542" y="127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5" name="Rectangle 134"/>
            <p:cNvSpPr>
              <a:spLocks noChangeArrowheads="1"/>
            </p:cNvSpPr>
            <p:nvPr/>
          </p:nvSpPr>
          <p:spPr bwMode="auto">
            <a:xfrm>
              <a:off x="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6" name="Rectangle 135"/>
            <p:cNvSpPr>
              <a:spLocks noChangeArrowheads="1"/>
            </p:cNvSpPr>
            <p:nvPr/>
          </p:nvSpPr>
          <p:spPr bwMode="auto">
            <a:xfrm>
              <a:off x="545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7" name="Rectangle 136"/>
            <p:cNvSpPr>
              <a:spLocks noChangeArrowheads="1"/>
            </p:cNvSpPr>
            <p:nvPr/>
          </p:nvSpPr>
          <p:spPr bwMode="auto">
            <a:xfrm>
              <a:off x="183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8" name="Rectangle 137"/>
            <p:cNvSpPr>
              <a:spLocks noChangeArrowheads="1"/>
            </p:cNvSpPr>
            <p:nvPr/>
          </p:nvSpPr>
          <p:spPr bwMode="auto">
            <a:xfrm>
              <a:off x="36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9" name="Rectangle 138"/>
            <p:cNvSpPr>
              <a:spLocks noChangeArrowheads="1"/>
            </p:cNvSpPr>
            <p:nvPr/>
          </p:nvSpPr>
          <p:spPr bwMode="auto">
            <a:xfrm>
              <a:off x="727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0" name="Rectangle 139"/>
            <p:cNvSpPr>
              <a:spLocks noChangeArrowheads="1"/>
            </p:cNvSpPr>
            <p:nvPr/>
          </p:nvSpPr>
          <p:spPr bwMode="auto">
            <a:xfrm>
              <a:off x="1271" y="1451"/>
              <a:ext cx="182" cy="182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1" name="Rectangle 140"/>
            <p:cNvSpPr>
              <a:spLocks noChangeArrowheads="1"/>
            </p:cNvSpPr>
            <p:nvPr/>
          </p:nvSpPr>
          <p:spPr bwMode="auto">
            <a:xfrm>
              <a:off x="909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2" name="Rectangle 141"/>
            <p:cNvSpPr>
              <a:spLocks noChangeArrowheads="1"/>
            </p:cNvSpPr>
            <p:nvPr/>
          </p:nvSpPr>
          <p:spPr bwMode="auto">
            <a:xfrm>
              <a:off x="109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3" name="Rectangle 142"/>
            <p:cNvSpPr>
              <a:spLocks noChangeArrowheads="1"/>
            </p:cNvSpPr>
            <p:nvPr/>
          </p:nvSpPr>
          <p:spPr bwMode="auto">
            <a:xfrm>
              <a:off x="1452" y="1451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4" name="Rectangle 143"/>
            <p:cNvSpPr>
              <a:spLocks noChangeArrowheads="1"/>
            </p:cNvSpPr>
            <p:nvPr/>
          </p:nvSpPr>
          <p:spPr bwMode="auto">
            <a:xfrm>
              <a:off x="1996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5" name="Rectangle 144"/>
            <p:cNvSpPr>
              <a:spLocks noChangeArrowheads="1"/>
            </p:cNvSpPr>
            <p:nvPr/>
          </p:nvSpPr>
          <p:spPr bwMode="auto">
            <a:xfrm>
              <a:off x="1634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6" name="Rectangle 145"/>
            <p:cNvSpPr>
              <a:spLocks noChangeArrowheads="1"/>
            </p:cNvSpPr>
            <p:nvPr/>
          </p:nvSpPr>
          <p:spPr bwMode="auto">
            <a:xfrm>
              <a:off x="1815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7" name="Rectangle 146"/>
            <p:cNvSpPr>
              <a:spLocks noChangeArrowheads="1"/>
            </p:cNvSpPr>
            <p:nvPr/>
          </p:nvSpPr>
          <p:spPr bwMode="auto">
            <a:xfrm>
              <a:off x="2178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8" name="Rectangle 147"/>
            <p:cNvSpPr>
              <a:spLocks noChangeArrowheads="1"/>
            </p:cNvSpPr>
            <p:nvPr/>
          </p:nvSpPr>
          <p:spPr bwMode="auto">
            <a:xfrm>
              <a:off x="2722" y="145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9" name="Rectangle 148"/>
            <p:cNvSpPr>
              <a:spLocks noChangeArrowheads="1"/>
            </p:cNvSpPr>
            <p:nvPr/>
          </p:nvSpPr>
          <p:spPr bwMode="auto">
            <a:xfrm>
              <a:off x="2360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0" name="Rectangle 149"/>
            <p:cNvSpPr>
              <a:spLocks noChangeArrowheads="1"/>
            </p:cNvSpPr>
            <p:nvPr/>
          </p:nvSpPr>
          <p:spPr bwMode="auto">
            <a:xfrm>
              <a:off x="2541" y="145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1" name="Rectangle 150"/>
            <p:cNvSpPr>
              <a:spLocks noChangeArrowheads="1"/>
            </p:cNvSpPr>
            <p:nvPr/>
          </p:nvSpPr>
          <p:spPr bwMode="auto">
            <a:xfrm>
              <a:off x="0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2" name="Rectangle 151"/>
            <p:cNvSpPr>
              <a:spLocks noChangeArrowheads="1"/>
            </p:cNvSpPr>
            <p:nvPr/>
          </p:nvSpPr>
          <p:spPr bwMode="auto">
            <a:xfrm>
              <a:off x="544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3" name="Rectangle 152"/>
            <p:cNvSpPr>
              <a:spLocks noChangeArrowheads="1"/>
            </p:cNvSpPr>
            <p:nvPr/>
          </p:nvSpPr>
          <p:spPr bwMode="auto">
            <a:xfrm>
              <a:off x="182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4" name="Rectangle 153"/>
            <p:cNvSpPr>
              <a:spLocks noChangeArrowheads="1"/>
            </p:cNvSpPr>
            <p:nvPr/>
          </p:nvSpPr>
          <p:spPr bwMode="auto">
            <a:xfrm>
              <a:off x="363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5" name="Rectangle 154"/>
            <p:cNvSpPr>
              <a:spLocks noChangeArrowheads="1"/>
            </p:cNvSpPr>
            <p:nvPr/>
          </p:nvSpPr>
          <p:spPr bwMode="auto">
            <a:xfrm>
              <a:off x="726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6" name="Rectangle 155"/>
            <p:cNvSpPr>
              <a:spLocks noChangeArrowheads="1"/>
            </p:cNvSpPr>
            <p:nvPr/>
          </p:nvSpPr>
          <p:spPr bwMode="auto">
            <a:xfrm>
              <a:off x="1270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7" name="Rectangle 156"/>
            <p:cNvSpPr>
              <a:spLocks noChangeArrowheads="1"/>
            </p:cNvSpPr>
            <p:nvPr/>
          </p:nvSpPr>
          <p:spPr bwMode="auto">
            <a:xfrm>
              <a:off x="908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8" name="Rectangle 157"/>
            <p:cNvSpPr>
              <a:spLocks noChangeArrowheads="1"/>
            </p:cNvSpPr>
            <p:nvPr/>
          </p:nvSpPr>
          <p:spPr bwMode="auto">
            <a:xfrm>
              <a:off x="1089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9" name="Rectangle 158"/>
            <p:cNvSpPr>
              <a:spLocks noChangeArrowheads="1"/>
            </p:cNvSpPr>
            <p:nvPr/>
          </p:nvSpPr>
          <p:spPr bwMode="auto">
            <a:xfrm>
              <a:off x="1451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0" name="Rectangle 159"/>
            <p:cNvSpPr>
              <a:spLocks noChangeArrowheads="1"/>
            </p:cNvSpPr>
            <p:nvPr/>
          </p:nvSpPr>
          <p:spPr bwMode="auto">
            <a:xfrm>
              <a:off x="1995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1" name="Rectangle 160"/>
            <p:cNvSpPr>
              <a:spLocks noChangeArrowheads="1"/>
            </p:cNvSpPr>
            <p:nvPr/>
          </p:nvSpPr>
          <p:spPr bwMode="auto">
            <a:xfrm>
              <a:off x="1633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2" name="Rectangle 161"/>
            <p:cNvSpPr>
              <a:spLocks noChangeArrowheads="1"/>
            </p:cNvSpPr>
            <p:nvPr/>
          </p:nvSpPr>
          <p:spPr bwMode="auto">
            <a:xfrm>
              <a:off x="1814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3" name="Rectangle 162"/>
            <p:cNvSpPr>
              <a:spLocks noChangeArrowheads="1"/>
            </p:cNvSpPr>
            <p:nvPr/>
          </p:nvSpPr>
          <p:spPr bwMode="auto">
            <a:xfrm>
              <a:off x="2177" y="1632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4" name="Rectangle 163"/>
            <p:cNvSpPr>
              <a:spLocks noChangeArrowheads="1"/>
            </p:cNvSpPr>
            <p:nvPr/>
          </p:nvSpPr>
          <p:spPr bwMode="auto">
            <a:xfrm>
              <a:off x="2721" y="1632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5" name="Rectangle 164"/>
            <p:cNvSpPr>
              <a:spLocks noChangeArrowheads="1"/>
            </p:cNvSpPr>
            <p:nvPr/>
          </p:nvSpPr>
          <p:spPr bwMode="auto">
            <a:xfrm>
              <a:off x="2359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6" name="Rectangle 165"/>
            <p:cNvSpPr>
              <a:spLocks noChangeArrowheads="1"/>
            </p:cNvSpPr>
            <p:nvPr/>
          </p:nvSpPr>
          <p:spPr bwMode="auto">
            <a:xfrm>
              <a:off x="2540" y="1632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7" name="Rectangle 166"/>
            <p:cNvSpPr>
              <a:spLocks noChangeArrowheads="1"/>
            </p:cNvSpPr>
            <p:nvPr/>
          </p:nvSpPr>
          <p:spPr bwMode="auto">
            <a:xfrm>
              <a:off x="2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8" name="Rectangle 167"/>
            <p:cNvSpPr>
              <a:spLocks noChangeArrowheads="1"/>
            </p:cNvSpPr>
            <p:nvPr/>
          </p:nvSpPr>
          <p:spPr bwMode="auto">
            <a:xfrm>
              <a:off x="546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9" name="Rectangle 168"/>
            <p:cNvSpPr>
              <a:spLocks noChangeArrowheads="1"/>
            </p:cNvSpPr>
            <p:nvPr/>
          </p:nvSpPr>
          <p:spPr bwMode="auto">
            <a:xfrm>
              <a:off x="184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0" name="Rectangle 169"/>
            <p:cNvSpPr>
              <a:spLocks noChangeArrowheads="1"/>
            </p:cNvSpPr>
            <p:nvPr/>
          </p:nvSpPr>
          <p:spPr bwMode="auto">
            <a:xfrm>
              <a:off x="365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1" name="Rectangle 170"/>
            <p:cNvSpPr>
              <a:spLocks noChangeArrowheads="1"/>
            </p:cNvSpPr>
            <p:nvPr/>
          </p:nvSpPr>
          <p:spPr bwMode="auto">
            <a:xfrm>
              <a:off x="728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2" name="Rectangle 171"/>
            <p:cNvSpPr>
              <a:spLocks noChangeArrowheads="1"/>
            </p:cNvSpPr>
            <p:nvPr/>
          </p:nvSpPr>
          <p:spPr bwMode="auto">
            <a:xfrm>
              <a:off x="1272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3" name="Rectangle 172"/>
            <p:cNvSpPr>
              <a:spLocks noChangeArrowheads="1"/>
            </p:cNvSpPr>
            <p:nvPr/>
          </p:nvSpPr>
          <p:spPr bwMode="auto">
            <a:xfrm>
              <a:off x="910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4" name="Rectangle 173"/>
            <p:cNvSpPr>
              <a:spLocks noChangeArrowheads="1"/>
            </p:cNvSpPr>
            <p:nvPr/>
          </p:nvSpPr>
          <p:spPr bwMode="auto">
            <a:xfrm>
              <a:off x="1091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5" name="Rectangle 174"/>
            <p:cNvSpPr>
              <a:spLocks noChangeArrowheads="1"/>
            </p:cNvSpPr>
            <p:nvPr/>
          </p:nvSpPr>
          <p:spPr bwMode="auto">
            <a:xfrm>
              <a:off x="1453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6" name="Rectangle 175"/>
            <p:cNvSpPr>
              <a:spLocks noChangeArrowheads="1"/>
            </p:cNvSpPr>
            <p:nvPr/>
          </p:nvSpPr>
          <p:spPr bwMode="auto">
            <a:xfrm>
              <a:off x="1997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7" name="Rectangle 176"/>
            <p:cNvSpPr>
              <a:spLocks noChangeArrowheads="1"/>
            </p:cNvSpPr>
            <p:nvPr/>
          </p:nvSpPr>
          <p:spPr bwMode="auto">
            <a:xfrm>
              <a:off x="1635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8" name="Rectangle 177"/>
            <p:cNvSpPr>
              <a:spLocks noChangeArrowheads="1"/>
            </p:cNvSpPr>
            <p:nvPr/>
          </p:nvSpPr>
          <p:spPr bwMode="auto">
            <a:xfrm>
              <a:off x="1816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9" name="Rectangle 178"/>
            <p:cNvSpPr>
              <a:spLocks noChangeArrowheads="1"/>
            </p:cNvSpPr>
            <p:nvPr/>
          </p:nvSpPr>
          <p:spPr bwMode="auto">
            <a:xfrm>
              <a:off x="2179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0" name="Rectangle 179"/>
            <p:cNvSpPr>
              <a:spLocks noChangeArrowheads="1"/>
            </p:cNvSpPr>
            <p:nvPr/>
          </p:nvSpPr>
          <p:spPr bwMode="auto">
            <a:xfrm>
              <a:off x="2723" y="1814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1" name="Rectangle 180"/>
            <p:cNvSpPr>
              <a:spLocks noChangeArrowheads="1"/>
            </p:cNvSpPr>
            <p:nvPr/>
          </p:nvSpPr>
          <p:spPr bwMode="auto">
            <a:xfrm>
              <a:off x="2361" y="1814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2" name="Rectangle 181"/>
            <p:cNvSpPr>
              <a:spLocks noChangeArrowheads="1"/>
            </p:cNvSpPr>
            <p:nvPr/>
          </p:nvSpPr>
          <p:spPr bwMode="auto">
            <a:xfrm>
              <a:off x="2542" y="1814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3" name="Rectangle 182"/>
            <p:cNvSpPr>
              <a:spLocks noChangeArrowheads="1"/>
            </p:cNvSpPr>
            <p:nvPr/>
          </p:nvSpPr>
          <p:spPr bwMode="auto">
            <a:xfrm>
              <a:off x="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4" name="Rectangle 183"/>
            <p:cNvSpPr>
              <a:spLocks noChangeArrowheads="1"/>
            </p:cNvSpPr>
            <p:nvPr/>
          </p:nvSpPr>
          <p:spPr bwMode="auto">
            <a:xfrm>
              <a:off x="545" y="1995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5" name="Rectangle 184"/>
            <p:cNvSpPr>
              <a:spLocks noChangeArrowheads="1"/>
            </p:cNvSpPr>
            <p:nvPr/>
          </p:nvSpPr>
          <p:spPr bwMode="auto">
            <a:xfrm>
              <a:off x="183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6" name="Rectangle 185"/>
            <p:cNvSpPr>
              <a:spLocks noChangeArrowheads="1"/>
            </p:cNvSpPr>
            <p:nvPr/>
          </p:nvSpPr>
          <p:spPr bwMode="auto">
            <a:xfrm>
              <a:off x="36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7" name="Rectangle 186"/>
            <p:cNvSpPr>
              <a:spLocks noChangeArrowheads="1"/>
            </p:cNvSpPr>
            <p:nvPr/>
          </p:nvSpPr>
          <p:spPr bwMode="auto">
            <a:xfrm>
              <a:off x="727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8" name="Rectangle 187"/>
            <p:cNvSpPr>
              <a:spLocks noChangeArrowheads="1"/>
            </p:cNvSpPr>
            <p:nvPr/>
          </p:nvSpPr>
          <p:spPr bwMode="auto">
            <a:xfrm>
              <a:off x="1271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9" name="Rectangle 188"/>
            <p:cNvSpPr>
              <a:spLocks noChangeArrowheads="1"/>
            </p:cNvSpPr>
            <p:nvPr/>
          </p:nvSpPr>
          <p:spPr bwMode="auto">
            <a:xfrm>
              <a:off x="909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0" name="Rectangle 189"/>
            <p:cNvSpPr>
              <a:spLocks noChangeArrowheads="1"/>
            </p:cNvSpPr>
            <p:nvPr/>
          </p:nvSpPr>
          <p:spPr bwMode="auto">
            <a:xfrm>
              <a:off x="109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1" name="Rectangle 190"/>
            <p:cNvSpPr>
              <a:spLocks noChangeArrowheads="1"/>
            </p:cNvSpPr>
            <p:nvPr/>
          </p:nvSpPr>
          <p:spPr bwMode="auto">
            <a:xfrm>
              <a:off x="1452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2" name="Rectangle 191"/>
            <p:cNvSpPr>
              <a:spLocks noChangeArrowheads="1"/>
            </p:cNvSpPr>
            <p:nvPr/>
          </p:nvSpPr>
          <p:spPr bwMode="auto">
            <a:xfrm>
              <a:off x="1996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3" name="Rectangle 192"/>
            <p:cNvSpPr>
              <a:spLocks noChangeArrowheads="1"/>
            </p:cNvSpPr>
            <p:nvPr/>
          </p:nvSpPr>
          <p:spPr bwMode="auto">
            <a:xfrm>
              <a:off x="1634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4" name="Rectangle 193"/>
            <p:cNvSpPr>
              <a:spLocks noChangeArrowheads="1"/>
            </p:cNvSpPr>
            <p:nvPr/>
          </p:nvSpPr>
          <p:spPr bwMode="auto">
            <a:xfrm>
              <a:off x="1815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5" name="Rectangle 194"/>
            <p:cNvSpPr>
              <a:spLocks noChangeArrowheads="1"/>
            </p:cNvSpPr>
            <p:nvPr/>
          </p:nvSpPr>
          <p:spPr bwMode="auto">
            <a:xfrm>
              <a:off x="2178" y="1995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6" name="Rectangle 195"/>
            <p:cNvSpPr>
              <a:spLocks noChangeArrowheads="1"/>
            </p:cNvSpPr>
            <p:nvPr/>
          </p:nvSpPr>
          <p:spPr bwMode="auto">
            <a:xfrm>
              <a:off x="2722" y="1995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7" name="Rectangle 196"/>
            <p:cNvSpPr>
              <a:spLocks noChangeArrowheads="1"/>
            </p:cNvSpPr>
            <p:nvPr/>
          </p:nvSpPr>
          <p:spPr bwMode="auto">
            <a:xfrm>
              <a:off x="2360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8" name="Rectangle 197"/>
            <p:cNvSpPr>
              <a:spLocks noChangeArrowheads="1"/>
            </p:cNvSpPr>
            <p:nvPr/>
          </p:nvSpPr>
          <p:spPr bwMode="auto">
            <a:xfrm>
              <a:off x="2541" y="1995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9" name="Rectangle 198"/>
            <p:cNvSpPr>
              <a:spLocks noChangeArrowheads="1"/>
            </p:cNvSpPr>
            <p:nvPr/>
          </p:nvSpPr>
          <p:spPr bwMode="auto">
            <a:xfrm>
              <a:off x="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0" name="Rectangle 199"/>
            <p:cNvSpPr>
              <a:spLocks noChangeArrowheads="1"/>
            </p:cNvSpPr>
            <p:nvPr/>
          </p:nvSpPr>
          <p:spPr bwMode="auto">
            <a:xfrm>
              <a:off x="546" y="2177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1" name="Rectangle 200"/>
            <p:cNvSpPr>
              <a:spLocks noChangeArrowheads="1"/>
            </p:cNvSpPr>
            <p:nvPr/>
          </p:nvSpPr>
          <p:spPr bwMode="auto">
            <a:xfrm>
              <a:off x="184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2" name="Rectangle 201"/>
            <p:cNvSpPr>
              <a:spLocks noChangeArrowheads="1"/>
            </p:cNvSpPr>
            <p:nvPr/>
          </p:nvSpPr>
          <p:spPr bwMode="auto">
            <a:xfrm>
              <a:off x="36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3" name="Rectangle 202"/>
            <p:cNvSpPr>
              <a:spLocks noChangeArrowheads="1"/>
            </p:cNvSpPr>
            <p:nvPr/>
          </p:nvSpPr>
          <p:spPr bwMode="auto">
            <a:xfrm>
              <a:off x="728" y="217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4" name="Rectangle 203"/>
            <p:cNvSpPr>
              <a:spLocks noChangeArrowheads="1"/>
            </p:cNvSpPr>
            <p:nvPr/>
          </p:nvSpPr>
          <p:spPr bwMode="auto">
            <a:xfrm>
              <a:off x="1272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5" name="Rectangle 204"/>
            <p:cNvSpPr>
              <a:spLocks noChangeArrowheads="1"/>
            </p:cNvSpPr>
            <p:nvPr/>
          </p:nvSpPr>
          <p:spPr bwMode="auto">
            <a:xfrm>
              <a:off x="910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6" name="Rectangle 205"/>
            <p:cNvSpPr>
              <a:spLocks noChangeArrowheads="1"/>
            </p:cNvSpPr>
            <p:nvPr/>
          </p:nvSpPr>
          <p:spPr bwMode="auto">
            <a:xfrm>
              <a:off x="109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7" name="Rectangle 206"/>
            <p:cNvSpPr>
              <a:spLocks noChangeArrowheads="1"/>
            </p:cNvSpPr>
            <p:nvPr/>
          </p:nvSpPr>
          <p:spPr bwMode="auto">
            <a:xfrm>
              <a:off x="1453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8" name="Rectangle 207"/>
            <p:cNvSpPr>
              <a:spLocks noChangeArrowheads="1"/>
            </p:cNvSpPr>
            <p:nvPr/>
          </p:nvSpPr>
          <p:spPr bwMode="auto">
            <a:xfrm>
              <a:off x="1997" y="2177"/>
              <a:ext cx="182" cy="18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9" name="Rectangle 208"/>
            <p:cNvSpPr>
              <a:spLocks noChangeArrowheads="1"/>
            </p:cNvSpPr>
            <p:nvPr/>
          </p:nvSpPr>
          <p:spPr bwMode="auto">
            <a:xfrm>
              <a:off x="1635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0" name="Rectangle 209"/>
            <p:cNvSpPr>
              <a:spLocks noChangeArrowheads="1"/>
            </p:cNvSpPr>
            <p:nvPr/>
          </p:nvSpPr>
          <p:spPr bwMode="auto">
            <a:xfrm>
              <a:off x="1816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1" name="Rectangle 210"/>
            <p:cNvSpPr>
              <a:spLocks noChangeArrowheads="1"/>
            </p:cNvSpPr>
            <p:nvPr/>
          </p:nvSpPr>
          <p:spPr bwMode="auto">
            <a:xfrm>
              <a:off x="2179" y="2177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2" name="Rectangle 211"/>
            <p:cNvSpPr>
              <a:spLocks noChangeArrowheads="1"/>
            </p:cNvSpPr>
            <p:nvPr/>
          </p:nvSpPr>
          <p:spPr bwMode="auto">
            <a:xfrm>
              <a:off x="2723" y="2177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3" name="Rectangle 212"/>
            <p:cNvSpPr>
              <a:spLocks noChangeArrowheads="1"/>
            </p:cNvSpPr>
            <p:nvPr/>
          </p:nvSpPr>
          <p:spPr bwMode="auto">
            <a:xfrm>
              <a:off x="2361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4" name="Rectangle 213"/>
            <p:cNvSpPr>
              <a:spLocks noChangeArrowheads="1"/>
            </p:cNvSpPr>
            <p:nvPr/>
          </p:nvSpPr>
          <p:spPr bwMode="auto">
            <a:xfrm>
              <a:off x="2542" y="2177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5" name="Rectangle 214"/>
            <p:cNvSpPr>
              <a:spLocks noChangeArrowheads="1"/>
            </p:cNvSpPr>
            <p:nvPr/>
          </p:nvSpPr>
          <p:spPr bwMode="auto">
            <a:xfrm>
              <a:off x="1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6" name="Rectangle 215"/>
            <p:cNvSpPr>
              <a:spLocks noChangeArrowheads="1"/>
            </p:cNvSpPr>
            <p:nvPr/>
          </p:nvSpPr>
          <p:spPr bwMode="auto">
            <a:xfrm>
              <a:off x="545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7" name="Rectangle 216"/>
            <p:cNvSpPr>
              <a:spLocks noChangeArrowheads="1"/>
            </p:cNvSpPr>
            <p:nvPr/>
          </p:nvSpPr>
          <p:spPr bwMode="auto">
            <a:xfrm>
              <a:off x="183" y="2358"/>
              <a:ext cx="182" cy="181"/>
            </a:xfrm>
            <a:prstGeom prst="rect">
              <a:avLst/>
            </a:prstGeom>
            <a:solidFill>
              <a:srgbClr val="000000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8" name="Rectangle 217"/>
            <p:cNvSpPr>
              <a:spLocks noChangeArrowheads="1"/>
            </p:cNvSpPr>
            <p:nvPr/>
          </p:nvSpPr>
          <p:spPr bwMode="auto">
            <a:xfrm>
              <a:off x="364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9" name="Rectangle 218"/>
            <p:cNvSpPr>
              <a:spLocks noChangeArrowheads="1"/>
            </p:cNvSpPr>
            <p:nvPr/>
          </p:nvSpPr>
          <p:spPr bwMode="auto">
            <a:xfrm>
              <a:off x="727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0" name="Rectangle 219"/>
            <p:cNvSpPr>
              <a:spLocks noChangeArrowheads="1"/>
            </p:cNvSpPr>
            <p:nvPr/>
          </p:nvSpPr>
          <p:spPr bwMode="auto">
            <a:xfrm>
              <a:off x="1271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1" name="Rectangle 220"/>
            <p:cNvSpPr>
              <a:spLocks noChangeArrowheads="1"/>
            </p:cNvSpPr>
            <p:nvPr/>
          </p:nvSpPr>
          <p:spPr bwMode="auto">
            <a:xfrm>
              <a:off x="909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2" name="Rectangle 221"/>
            <p:cNvSpPr>
              <a:spLocks noChangeArrowheads="1"/>
            </p:cNvSpPr>
            <p:nvPr/>
          </p:nvSpPr>
          <p:spPr bwMode="auto">
            <a:xfrm>
              <a:off x="1090" y="2358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3" name="Rectangle 222"/>
            <p:cNvSpPr>
              <a:spLocks noChangeArrowheads="1"/>
            </p:cNvSpPr>
            <p:nvPr/>
          </p:nvSpPr>
          <p:spPr bwMode="auto">
            <a:xfrm>
              <a:off x="1452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4" name="Rectangle 223"/>
            <p:cNvSpPr>
              <a:spLocks noChangeArrowheads="1"/>
            </p:cNvSpPr>
            <p:nvPr/>
          </p:nvSpPr>
          <p:spPr bwMode="auto">
            <a:xfrm>
              <a:off x="1996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5" name="Rectangle 224"/>
            <p:cNvSpPr>
              <a:spLocks noChangeArrowheads="1"/>
            </p:cNvSpPr>
            <p:nvPr/>
          </p:nvSpPr>
          <p:spPr bwMode="auto">
            <a:xfrm>
              <a:off x="1634" y="2358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6" name="Rectangle 225"/>
            <p:cNvSpPr>
              <a:spLocks noChangeArrowheads="1"/>
            </p:cNvSpPr>
            <p:nvPr/>
          </p:nvSpPr>
          <p:spPr bwMode="auto">
            <a:xfrm>
              <a:off x="1815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7" name="Rectangle 226"/>
            <p:cNvSpPr>
              <a:spLocks noChangeArrowheads="1"/>
            </p:cNvSpPr>
            <p:nvPr/>
          </p:nvSpPr>
          <p:spPr bwMode="auto">
            <a:xfrm>
              <a:off x="2178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8" name="Rectangle 227"/>
            <p:cNvSpPr>
              <a:spLocks noChangeArrowheads="1"/>
            </p:cNvSpPr>
            <p:nvPr/>
          </p:nvSpPr>
          <p:spPr bwMode="auto">
            <a:xfrm>
              <a:off x="2722" y="2358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9" name="Rectangle 228"/>
            <p:cNvSpPr>
              <a:spLocks noChangeArrowheads="1"/>
            </p:cNvSpPr>
            <p:nvPr/>
          </p:nvSpPr>
          <p:spPr bwMode="auto">
            <a:xfrm>
              <a:off x="2360" y="2358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0" name="Rectangle 229"/>
            <p:cNvSpPr>
              <a:spLocks noChangeArrowheads="1"/>
            </p:cNvSpPr>
            <p:nvPr/>
          </p:nvSpPr>
          <p:spPr bwMode="auto">
            <a:xfrm>
              <a:off x="2541" y="2358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1" name="Rectangle 230"/>
            <p:cNvSpPr>
              <a:spLocks noChangeArrowheads="1"/>
            </p:cNvSpPr>
            <p:nvPr/>
          </p:nvSpPr>
          <p:spPr bwMode="auto">
            <a:xfrm>
              <a:off x="3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2" name="Rectangle 231"/>
            <p:cNvSpPr>
              <a:spLocks noChangeArrowheads="1"/>
            </p:cNvSpPr>
            <p:nvPr/>
          </p:nvSpPr>
          <p:spPr bwMode="auto">
            <a:xfrm>
              <a:off x="547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3" name="Rectangle 232"/>
            <p:cNvSpPr>
              <a:spLocks noChangeArrowheads="1"/>
            </p:cNvSpPr>
            <p:nvPr/>
          </p:nvSpPr>
          <p:spPr bwMode="auto">
            <a:xfrm>
              <a:off x="185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4" name="Rectangle 233"/>
            <p:cNvSpPr>
              <a:spLocks noChangeArrowheads="1"/>
            </p:cNvSpPr>
            <p:nvPr/>
          </p:nvSpPr>
          <p:spPr bwMode="auto">
            <a:xfrm>
              <a:off x="366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5" name="Rectangle 234"/>
            <p:cNvSpPr>
              <a:spLocks noChangeArrowheads="1"/>
            </p:cNvSpPr>
            <p:nvPr/>
          </p:nvSpPr>
          <p:spPr bwMode="auto">
            <a:xfrm>
              <a:off x="729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6" name="Rectangle 235"/>
            <p:cNvSpPr>
              <a:spLocks noChangeArrowheads="1"/>
            </p:cNvSpPr>
            <p:nvPr/>
          </p:nvSpPr>
          <p:spPr bwMode="auto">
            <a:xfrm>
              <a:off x="1273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7" name="Rectangle 236"/>
            <p:cNvSpPr>
              <a:spLocks noChangeArrowheads="1"/>
            </p:cNvSpPr>
            <p:nvPr/>
          </p:nvSpPr>
          <p:spPr bwMode="auto">
            <a:xfrm>
              <a:off x="911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8" name="Rectangle 237"/>
            <p:cNvSpPr>
              <a:spLocks noChangeArrowheads="1"/>
            </p:cNvSpPr>
            <p:nvPr/>
          </p:nvSpPr>
          <p:spPr bwMode="auto">
            <a:xfrm>
              <a:off x="1092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9" name="Rectangle 238"/>
            <p:cNvSpPr>
              <a:spLocks noChangeArrowheads="1"/>
            </p:cNvSpPr>
            <p:nvPr/>
          </p:nvSpPr>
          <p:spPr bwMode="auto">
            <a:xfrm>
              <a:off x="1454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0" name="Rectangle 239"/>
            <p:cNvSpPr>
              <a:spLocks noChangeArrowheads="1"/>
            </p:cNvSpPr>
            <p:nvPr/>
          </p:nvSpPr>
          <p:spPr bwMode="auto">
            <a:xfrm>
              <a:off x="1998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1" name="Rectangle 240"/>
            <p:cNvSpPr>
              <a:spLocks noChangeArrowheads="1"/>
            </p:cNvSpPr>
            <p:nvPr/>
          </p:nvSpPr>
          <p:spPr bwMode="auto">
            <a:xfrm>
              <a:off x="1636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2" name="Rectangle 241"/>
            <p:cNvSpPr>
              <a:spLocks noChangeArrowheads="1"/>
            </p:cNvSpPr>
            <p:nvPr/>
          </p:nvSpPr>
          <p:spPr bwMode="auto">
            <a:xfrm>
              <a:off x="1817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3" name="Rectangle 242"/>
            <p:cNvSpPr>
              <a:spLocks noChangeArrowheads="1"/>
            </p:cNvSpPr>
            <p:nvPr/>
          </p:nvSpPr>
          <p:spPr bwMode="auto">
            <a:xfrm>
              <a:off x="2180" y="2540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4" name="Rectangle 243"/>
            <p:cNvSpPr>
              <a:spLocks noChangeArrowheads="1"/>
            </p:cNvSpPr>
            <p:nvPr/>
          </p:nvSpPr>
          <p:spPr bwMode="auto">
            <a:xfrm>
              <a:off x="2724" y="2540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5" name="Rectangle 244"/>
            <p:cNvSpPr>
              <a:spLocks noChangeArrowheads="1"/>
            </p:cNvSpPr>
            <p:nvPr/>
          </p:nvSpPr>
          <p:spPr bwMode="auto">
            <a:xfrm>
              <a:off x="2362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6" name="Rectangle 245"/>
            <p:cNvSpPr>
              <a:spLocks noChangeArrowheads="1"/>
            </p:cNvSpPr>
            <p:nvPr/>
          </p:nvSpPr>
          <p:spPr bwMode="auto">
            <a:xfrm>
              <a:off x="2543" y="2540"/>
              <a:ext cx="182" cy="181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7" name="Rectangle 246"/>
            <p:cNvSpPr>
              <a:spLocks noChangeArrowheads="1"/>
            </p:cNvSpPr>
            <p:nvPr/>
          </p:nvSpPr>
          <p:spPr bwMode="auto">
            <a:xfrm>
              <a:off x="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8" name="Rectangle 247"/>
            <p:cNvSpPr>
              <a:spLocks noChangeArrowheads="1"/>
            </p:cNvSpPr>
            <p:nvPr/>
          </p:nvSpPr>
          <p:spPr bwMode="auto">
            <a:xfrm>
              <a:off x="546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9" name="Rectangle 248"/>
            <p:cNvSpPr>
              <a:spLocks noChangeArrowheads="1"/>
            </p:cNvSpPr>
            <p:nvPr/>
          </p:nvSpPr>
          <p:spPr bwMode="auto">
            <a:xfrm>
              <a:off x="184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0" name="Rectangle 249"/>
            <p:cNvSpPr>
              <a:spLocks noChangeArrowheads="1"/>
            </p:cNvSpPr>
            <p:nvPr/>
          </p:nvSpPr>
          <p:spPr bwMode="auto">
            <a:xfrm>
              <a:off x="36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1" name="Rectangle 250"/>
            <p:cNvSpPr>
              <a:spLocks noChangeArrowheads="1"/>
            </p:cNvSpPr>
            <p:nvPr/>
          </p:nvSpPr>
          <p:spPr bwMode="auto">
            <a:xfrm>
              <a:off x="728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2" name="Rectangle 251"/>
            <p:cNvSpPr>
              <a:spLocks noChangeArrowheads="1"/>
            </p:cNvSpPr>
            <p:nvPr/>
          </p:nvSpPr>
          <p:spPr bwMode="auto">
            <a:xfrm>
              <a:off x="1272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3" name="Rectangle 252"/>
            <p:cNvSpPr>
              <a:spLocks noChangeArrowheads="1"/>
            </p:cNvSpPr>
            <p:nvPr/>
          </p:nvSpPr>
          <p:spPr bwMode="auto">
            <a:xfrm>
              <a:off x="910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4" name="Rectangle 253"/>
            <p:cNvSpPr>
              <a:spLocks noChangeArrowheads="1"/>
            </p:cNvSpPr>
            <p:nvPr/>
          </p:nvSpPr>
          <p:spPr bwMode="auto">
            <a:xfrm>
              <a:off x="109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5" name="Rectangle 254"/>
            <p:cNvSpPr>
              <a:spLocks noChangeArrowheads="1"/>
            </p:cNvSpPr>
            <p:nvPr/>
          </p:nvSpPr>
          <p:spPr bwMode="auto">
            <a:xfrm>
              <a:off x="1453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6" name="Rectangle 255"/>
            <p:cNvSpPr>
              <a:spLocks noChangeArrowheads="1"/>
            </p:cNvSpPr>
            <p:nvPr/>
          </p:nvSpPr>
          <p:spPr bwMode="auto">
            <a:xfrm>
              <a:off x="1997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7" name="Rectangle 256"/>
            <p:cNvSpPr>
              <a:spLocks noChangeArrowheads="1"/>
            </p:cNvSpPr>
            <p:nvPr/>
          </p:nvSpPr>
          <p:spPr bwMode="auto">
            <a:xfrm>
              <a:off x="1635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8" name="Rectangle 257"/>
            <p:cNvSpPr>
              <a:spLocks noChangeArrowheads="1"/>
            </p:cNvSpPr>
            <p:nvPr/>
          </p:nvSpPr>
          <p:spPr bwMode="auto">
            <a:xfrm>
              <a:off x="1816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9" name="Rectangle 258"/>
            <p:cNvSpPr>
              <a:spLocks noChangeArrowheads="1"/>
            </p:cNvSpPr>
            <p:nvPr/>
          </p:nvSpPr>
          <p:spPr bwMode="auto">
            <a:xfrm>
              <a:off x="2179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0" name="Rectangle 259"/>
            <p:cNvSpPr>
              <a:spLocks noChangeArrowheads="1"/>
            </p:cNvSpPr>
            <p:nvPr/>
          </p:nvSpPr>
          <p:spPr bwMode="auto">
            <a:xfrm>
              <a:off x="2723" y="2721"/>
              <a:ext cx="182" cy="182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1" name="Rectangle 260"/>
            <p:cNvSpPr>
              <a:spLocks noChangeArrowheads="1"/>
            </p:cNvSpPr>
            <p:nvPr/>
          </p:nvSpPr>
          <p:spPr bwMode="auto">
            <a:xfrm>
              <a:off x="2361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2" name="Rectangle 261"/>
            <p:cNvSpPr>
              <a:spLocks noChangeArrowheads="1"/>
            </p:cNvSpPr>
            <p:nvPr/>
          </p:nvSpPr>
          <p:spPr bwMode="auto">
            <a:xfrm>
              <a:off x="2542" y="2721"/>
              <a:ext cx="182" cy="181"/>
            </a:xfrm>
            <a:prstGeom prst="rect">
              <a:avLst/>
            </a:prstGeom>
            <a:solidFill>
              <a:srgbClr val="33CCCC"/>
            </a:solidFill>
            <a:ln w="1905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263" name="Line 262"/>
          <p:cNvSpPr>
            <a:spLocks noChangeShapeType="1"/>
          </p:cNvSpPr>
          <p:nvPr/>
        </p:nvSpPr>
        <p:spPr bwMode="auto">
          <a:xfrm>
            <a:off x="3381375" y="1402805"/>
            <a:ext cx="0" cy="504031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4" name="Line 263"/>
          <p:cNvSpPr>
            <a:spLocks noChangeShapeType="1"/>
          </p:cNvSpPr>
          <p:nvPr/>
        </p:nvSpPr>
        <p:spPr bwMode="auto">
          <a:xfrm>
            <a:off x="788987" y="3923755"/>
            <a:ext cx="5364163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5" name="Line 264"/>
          <p:cNvSpPr>
            <a:spLocks noChangeShapeType="1"/>
          </p:cNvSpPr>
          <p:nvPr/>
        </p:nvSpPr>
        <p:spPr bwMode="auto">
          <a:xfrm>
            <a:off x="715962" y="2771230"/>
            <a:ext cx="5364163" cy="0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" name="Line 265"/>
          <p:cNvSpPr>
            <a:spLocks noChangeShapeType="1"/>
          </p:cNvSpPr>
          <p:nvPr/>
        </p:nvSpPr>
        <p:spPr bwMode="auto">
          <a:xfrm>
            <a:off x="715962" y="5074692"/>
            <a:ext cx="5364163" cy="0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7" name="Line 266"/>
          <p:cNvSpPr>
            <a:spLocks noChangeShapeType="1"/>
          </p:cNvSpPr>
          <p:nvPr/>
        </p:nvSpPr>
        <p:spPr bwMode="auto">
          <a:xfrm>
            <a:off x="4532312" y="1402805"/>
            <a:ext cx="0" cy="5040312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8" name="Line 267"/>
          <p:cNvSpPr>
            <a:spLocks noChangeShapeType="1"/>
          </p:cNvSpPr>
          <p:nvPr/>
        </p:nvSpPr>
        <p:spPr bwMode="auto">
          <a:xfrm>
            <a:off x="1652587" y="1402805"/>
            <a:ext cx="0" cy="5040312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9" name="Line 268"/>
          <p:cNvSpPr>
            <a:spLocks noChangeShapeType="1"/>
          </p:cNvSpPr>
          <p:nvPr/>
        </p:nvSpPr>
        <p:spPr bwMode="auto">
          <a:xfrm>
            <a:off x="715962" y="3347492"/>
            <a:ext cx="5364163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0" name="Line 269"/>
          <p:cNvSpPr>
            <a:spLocks noChangeShapeType="1"/>
          </p:cNvSpPr>
          <p:nvPr/>
        </p:nvSpPr>
        <p:spPr bwMode="auto">
          <a:xfrm>
            <a:off x="715962" y="2194967"/>
            <a:ext cx="5364163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1" name="Line 270"/>
          <p:cNvSpPr>
            <a:spLocks noChangeShapeType="1"/>
          </p:cNvSpPr>
          <p:nvPr/>
        </p:nvSpPr>
        <p:spPr bwMode="auto">
          <a:xfrm>
            <a:off x="644525" y="4498430"/>
            <a:ext cx="5364162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2" name="Line 271"/>
          <p:cNvSpPr>
            <a:spLocks noChangeShapeType="1"/>
          </p:cNvSpPr>
          <p:nvPr/>
        </p:nvSpPr>
        <p:spPr bwMode="auto">
          <a:xfrm>
            <a:off x="715962" y="5650955"/>
            <a:ext cx="5364163" cy="0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3" name="Line 272"/>
          <p:cNvSpPr>
            <a:spLocks noChangeShapeType="1"/>
          </p:cNvSpPr>
          <p:nvPr/>
        </p:nvSpPr>
        <p:spPr bwMode="auto">
          <a:xfrm>
            <a:off x="2228850" y="1402805"/>
            <a:ext cx="0" cy="5040312"/>
          </a:xfrm>
          <a:prstGeom prst="line">
            <a:avLst/>
          </a:prstGeom>
          <a:noFill/>
          <a:ln w="444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4" name="Line 273"/>
          <p:cNvSpPr>
            <a:spLocks noChangeShapeType="1"/>
          </p:cNvSpPr>
          <p:nvPr/>
        </p:nvSpPr>
        <p:spPr bwMode="auto">
          <a:xfrm>
            <a:off x="2805112" y="1402805"/>
            <a:ext cx="0" cy="5040312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5" name="Line 274"/>
          <p:cNvSpPr>
            <a:spLocks noChangeShapeType="1"/>
          </p:cNvSpPr>
          <p:nvPr/>
        </p:nvSpPr>
        <p:spPr bwMode="auto">
          <a:xfrm>
            <a:off x="3956050" y="1402805"/>
            <a:ext cx="0" cy="5040312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" name="Line 275"/>
          <p:cNvSpPr>
            <a:spLocks noChangeShapeType="1"/>
          </p:cNvSpPr>
          <p:nvPr/>
        </p:nvSpPr>
        <p:spPr bwMode="auto">
          <a:xfrm>
            <a:off x="5108575" y="1402805"/>
            <a:ext cx="0" cy="5040312"/>
          </a:xfrm>
          <a:prstGeom prst="line">
            <a:avLst/>
          </a:prstGeom>
          <a:noFill/>
          <a:ln w="31750">
            <a:solidFill>
              <a:schemeClr val="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942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</a:t>
            </a:r>
            <a:r>
              <a:rPr lang="zh-CN" altLang="en-US" dirty="0" smtClean="0"/>
              <a:t>算法</a:t>
            </a:r>
            <a:r>
              <a:rPr lang="zh-CN" altLang="en-US" dirty="0"/>
              <a:t>设计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23281" y="795283"/>
            <a:ext cx="8356578" cy="541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）棋盘：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可以用一个二维数组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board[size][size]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表示一个棋盘，其中，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size=2</a:t>
            </a:r>
            <a:r>
              <a:rPr lang="en-US" altLang="zh-CN" sz="2400" baseline="30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。为了在递归处理的过程中使用同一个棋盘，将数组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board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设为全局变量；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）子棋盘：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整个棋盘用二维数组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board[size][size]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表示，其中的子棋盘由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棋盘左上角的下标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（行号和列号）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和棋盘大小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表示；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）特殊方格：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board[</a:t>
            </a:r>
            <a:r>
              <a:rPr lang="en-US" altLang="zh-CN" sz="2400" dirty="0" err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][dc]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表示特殊方格，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dc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是该特殊方格在二维数组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board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中的“行号”和“列号”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spcAft>
                <a:spcPct val="20000"/>
              </a:spcAft>
              <a:buClrTx/>
              <a:buSzTx/>
              <a:buFontTx/>
              <a:buNone/>
              <a:defRPr/>
            </a:pP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型骨牌：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×2</a:t>
            </a:r>
            <a:r>
              <a:rPr lang="en-US" altLang="zh-CN" sz="2400" baseline="30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的棋盘中有一个特殊方格，所以，用到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型骨牌的个数为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</a:t>
            </a:r>
            <a:r>
              <a:rPr lang="en-US" altLang="zh-CN" sz="2400" baseline="30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1)/3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（每个骨牌占三个格）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，将所有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型骨牌从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开始连续编号，用一个全局变量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表示。 </a:t>
            </a:r>
          </a:p>
        </p:txBody>
      </p: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8579859" y="1828564"/>
            <a:ext cx="3434932" cy="2902924"/>
            <a:chOff x="1681" y="1344"/>
            <a:chExt cx="2480" cy="2133"/>
          </a:xfrm>
        </p:grpSpPr>
        <p:grpSp>
          <p:nvGrpSpPr>
            <p:cNvPr id="7" name="Group 14"/>
            <p:cNvGrpSpPr>
              <a:grpSpLocks/>
            </p:cNvGrpSpPr>
            <p:nvPr/>
          </p:nvGrpSpPr>
          <p:grpSpPr bwMode="auto">
            <a:xfrm>
              <a:off x="1746" y="1344"/>
              <a:ext cx="2415" cy="1587"/>
              <a:chOff x="1746" y="1344"/>
              <a:chExt cx="2415" cy="1587"/>
            </a:xfrm>
          </p:grpSpPr>
          <p:grpSp>
            <p:nvGrpSpPr>
              <p:cNvPr id="9" name="Group 13"/>
              <p:cNvGrpSpPr>
                <a:grpSpLocks/>
              </p:cNvGrpSpPr>
              <p:nvPr/>
            </p:nvGrpSpPr>
            <p:grpSpPr bwMode="auto">
              <a:xfrm>
                <a:off x="1746" y="1344"/>
                <a:ext cx="1923" cy="1587"/>
                <a:chOff x="1746" y="1344"/>
                <a:chExt cx="1923" cy="1451"/>
              </a:xfrm>
            </p:grpSpPr>
            <p:sp>
              <p:nvSpPr>
                <p:cNvPr id="11" name="Rectangle 4"/>
                <p:cNvSpPr>
                  <a:spLocks noChangeArrowheads="1"/>
                </p:cNvSpPr>
                <p:nvPr/>
              </p:nvSpPr>
              <p:spPr bwMode="auto">
                <a:xfrm>
                  <a:off x="1952" y="1549"/>
                  <a:ext cx="1489" cy="1243"/>
                </a:xfrm>
                <a:prstGeom prst="rect">
                  <a:avLst/>
                </a:prstGeom>
                <a:noFill/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2" name="Text Box 5"/>
                <p:cNvSpPr txBox="1">
                  <a:spLocks noChangeArrowheads="1"/>
                </p:cNvSpPr>
                <p:nvPr/>
              </p:nvSpPr>
              <p:spPr bwMode="auto">
                <a:xfrm>
                  <a:off x="2255" y="1988"/>
                  <a:ext cx="242" cy="202"/>
                </a:xfrm>
                <a:prstGeom prst="rect">
                  <a:avLst/>
                </a:pr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zh-CN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3" name="AutoShape 6"/>
                <p:cNvSpPr>
                  <a:spLocks/>
                </p:cNvSpPr>
                <p:nvPr/>
              </p:nvSpPr>
              <p:spPr bwMode="auto">
                <a:xfrm rot="10800000">
                  <a:off x="3482" y="1549"/>
                  <a:ext cx="187" cy="1246"/>
                </a:xfrm>
                <a:prstGeom prst="leftBrace">
                  <a:avLst>
                    <a:gd name="adj1" fmla="val 55526"/>
                    <a:gd name="adj2" fmla="val 50519"/>
                  </a:avLst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endParaRPr>
                </a:p>
              </p:txBody>
            </p:sp>
            <p:sp>
              <p:nvSpPr>
                <p:cNvPr id="14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2268" y="1795"/>
                  <a:ext cx="212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dc</a:t>
                  </a:r>
                </a:p>
              </p:txBody>
            </p:sp>
            <p:sp>
              <p:nvSpPr>
                <p:cNvPr id="15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2039" y="1979"/>
                  <a:ext cx="214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dr</a:t>
                  </a:r>
                </a:p>
              </p:txBody>
            </p:sp>
            <p:sp>
              <p:nvSpPr>
                <p:cNvPr id="16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1746" y="1555"/>
                  <a:ext cx="165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tr</a:t>
                  </a:r>
                </a:p>
              </p:txBody>
            </p:sp>
            <p:sp>
              <p:nvSpPr>
                <p:cNvPr id="17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1985" y="1344"/>
                  <a:ext cx="212" cy="1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just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r>
                    <a:rPr lang="en-US" altLang="zh-CN">
                      <a:solidFill>
                        <a:schemeClr val="tx1"/>
                      </a:solidFill>
                      <a:latin typeface="微软雅黑" pitchFamily="34" charset="-122"/>
                      <a:ea typeface="微软雅黑" pitchFamily="34" charset="-122"/>
                    </a:rPr>
                    <a:t>tc</a:t>
                  </a:r>
                </a:p>
              </p:txBody>
            </p:sp>
          </p:grpSp>
          <p:sp>
            <p:nvSpPr>
              <p:cNvPr id="10" name="Text Box 12"/>
              <p:cNvSpPr txBox="1">
                <a:spLocks noChangeArrowheads="1"/>
              </p:cNvSpPr>
              <p:nvPr/>
            </p:nvSpPr>
            <p:spPr bwMode="auto">
              <a:xfrm>
                <a:off x="3731" y="2125"/>
                <a:ext cx="43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r>
                  <a:rPr lang="en-US" altLang="zh-CN" dirty="0">
                    <a:solidFill>
                      <a:schemeClr val="tx1"/>
                    </a:solidFill>
                    <a:latin typeface="微软雅黑" pitchFamily="34" charset="-122"/>
                    <a:ea typeface="微软雅黑" pitchFamily="34" charset="-122"/>
                  </a:rPr>
                  <a:t>size</a:t>
                </a:r>
              </a:p>
            </p:txBody>
          </p:sp>
        </p:grpSp>
        <p:sp>
          <p:nvSpPr>
            <p:cNvPr id="8" name="Text Box 15"/>
            <p:cNvSpPr txBox="1">
              <a:spLocks noChangeArrowheads="1"/>
            </p:cNvSpPr>
            <p:nvPr/>
          </p:nvSpPr>
          <p:spPr bwMode="auto">
            <a:xfrm>
              <a:off x="1681" y="3113"/>
              <a:ext cx="2480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t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dirty="0"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rPr>
                <a:t>棋盘覆盖问题中的数据结构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6144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</a:t>
            </a:r>
            <a:r>
              <a:rPr lang="zh-CN" altLang="en-US" dirty="0" smtClean="0"/>
              <a:t>算法描述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49</a:t>
            </a:fld>
            <a:endParaRPr lang="zh-CN" altLang="en-US"/>
          </a:p>
        </p:txBody>
      </p:sp>
      <p:pic>
        <p:nvPicPr>
          <p:cNvPr id="6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8082" y="1442150"/>
            <a:ext cx="4043917" cy="3935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85061" y="785593"/>
            <a:ext cx="8463516" cy="5632311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void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ChessBoard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tc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dc,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size)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zh-CN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//</a:t>
            </a:r>
            <a:r>
              <a:rPr lang="en-US" altLang="zh-CN" sz="22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tr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2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tc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棋盘左上角的下标，</a:t>
            </a:r>
            <a:r>
              <a:rPr lang="en-US" altLang="zh-CN" sz="2200" dirty="0" err="1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dr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dc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特殊方格的下标</a:t>
            </a:r>
            <a:r>
              <a:rPr lang="zh-CN" altLang="en-US" sz="22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zh-CN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//size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棋盘的大小，</a:t>
            </a:r>
            <a:r>
              <a:rPr lang="en-US" altLang="zh-CN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 </a:t>
            </a:r>
            <a:r>
              <a:rPr lang="zh-CN" altLang="en-US" sz="2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已</a:t>
            </a:r>
            <a:r>
              <a:rPr lang="zh-CN" altLang="en-US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初始化为</a:t>
            </a:r>
            <a:r>
              <a:rPr lang="en-US" altLang="zh-CN" sz="2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0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{    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if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(size = = 1)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return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;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//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棋盘只有一个方格且是特殊方格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 = count++;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//L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型骨牌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号（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是局部变量，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count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是全局计数器）</a:t>
            </a:r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s = size/2;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划分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棋盘</a:t>
            </a:r>
            <a:endParaRPr lang="en-US" altLang="zh-CN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// </a:t>
            </a:r>
            <a:r>
              <a:rPr lang="en-US" altLang="zh-CN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覆盖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左上角子棋盘</a:t>
            </a: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if 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&lt;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+ s &amp;&amp; dc &lt;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tc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+ s)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// </a:t>
            </a:r>
            <a:r>
              <a:rPr lang="zh-CN" altLang="en-US" sz="18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特殊方格在左上角子棋盘中</a:t>
            </a:r>
            <a:endParaRPr lang="zh-CN" altLang="en-US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ChessBoard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tc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, dc, s);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递归处理子棋盘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else { 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用 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号</a:t>
            </a:r>
            <a:r>
              <a:rPr lang="en-US" altLang="zh-CN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L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型骨牌覆盖右下角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再递归处理子棋盘</a:t>
            </a:r>
            <a:endParaRPr lang="en-US" altLang="zh-CN" sz="20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board[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+ s - 1][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tc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+ s - 1] = </a:t>
            </a: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t;</a:t>
            </a:r>
            <a:endParaRPr lang="en-US" altLang="zh-CN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   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ChessBoard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tr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tc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, tr+s-1, tc+s-1, s);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zh-CN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    }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  </a:t>
            </a:r>
            <a:endParaRPr lang="en-US" altLang="zh-CN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8708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棋盘覆盖问题算法</a:t>
            </a:r>
            <a:r>
              <a:rPr lang="zh-CN" altLang="en-US" dirty="0" smtClean="0"/>
              <a:t>描述（续）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50</a:t>
            </a:fld>
            <a:endParaRPr lang="zh-CN" altLang="en-US"/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-1" y="812130"/>
            <a:ext cx="8948425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</a:pP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//2.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覆盖右上角子棋盘</a:t>
            </a: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&lt;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 &amp;&amp; dc &gt;=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s)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特殊方格在右上角子棋盘中</a:t>
            </a: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ChessBoard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dc, s);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递归处理子棋盘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 {       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骨牌覆盖左下角，再递归处理子棋盘</a:t>
            </a: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board[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 - 1][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s] =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ChessBoard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tr+s-1,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s);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8425" y="1473842"/>
            <a:ext cx="3070225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2"/>
          <p:cNvSpPr>
            <a:spLocks noChangeArrowheads="1"/>
          </p:cNvSpPr>
          <p:nvPr/>
        </p:nvSpPr>
        <p:spPr bwMode="auto">
          <a:xfrm>
            <a:off x="62713" y="3763909"/>
            <a:ext cx="9070653" cy="27392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左下角子棋盘</a:t>
            </a: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 &amp;&amp; dc &lt;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s)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特殊方格在左下角子棋盘中</a:t>
            </a: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ChessBoard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dc, s);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递归处理子棋盘</a:t>
            </a: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 {      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型骨牌覆盖右上角，再递归处理子棋盘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board[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 - 1] =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ChessBoard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tc+s-1, s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3" name="矩形 2"/>
          <p:cNvSpPr/>
          <p:nvPr/>
        </p:nvSpPr>
        <p:spPr bwMode="auto">
          <a:xfrm>
            <a:off x="318978" y="790863"/>
            <a:ext cx="8878185" cy="57906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algn="ctr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kumimoji="0" lang="zh-CN" altLang="en-US" b="1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318978" y="840711"/>
            <a:ext cx="8708064" cy="569099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0C0C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algn="ctr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endParaRPr kumimoji="0" lang="zh-CN" altLang="en-US" b="1" dirty="0">
              <a:solidFill>
                <a:srgbClr val="40404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320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棋盘覆盖问题算法</a:t>
            </a:r>
            <a:r>
              <a:rPr lang="zh-CN" altLang="en-US" dirty="0" smtClean="0"/>
              <a:t>描述（续）</a:t>
            </a:r>
            <a:endParaRPr lang="zh-CN" altLang="en-US" dirty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542259" y="795321"/>
            <a:ext cx="9324753" cy="304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1"/>
              </a:buCl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//4.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覆盖右下角子棋盘</a:t>
            </a:r>
          </a:p>
          <a:p>
            <a:pPr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&gt;=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 &amp;&amp; dc &gt;=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s)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特殊方格在右下角子棋盘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ChessBoard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tr+s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dc, s);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递归处理子棋盘</a:t>
            </a:r>
          </a:p>
          <a:p>
            <a:pPr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{    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型骨牌覆盖左上角，再递归处理子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棋盘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board[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s][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s] =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ChessBoard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tc+s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s);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buClr>
                <a:schemeClr val="tx1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Clr>
                <a:schemeClr val="tx1"/>
              </a:buClr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//end for </a:t>
            </a:r>
            <a:r>
              <a:rPr lang="en-US" altLang="zh-CN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ChessBoard</a:t>
            </a:r>
            <a:endParaRPr lang="zh-CN" altLang="en-US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2259" y="3959179"/>
            <a:ext cx="111216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、在每一轮 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ChessBorad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只有一个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会成立，三个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else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会成立（正好覆盖 一个骨牌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在每一轮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ChessBorad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是相同的，代表同一块骨牌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（骨牌本身不分类型）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。这块骨牌编号会在三个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else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中分别赋给三个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Chessboard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数组中的相邻元素，这三个元素合起来就是完整的第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块骨牌。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、执行完后将</a:t>
            </a:r>
            <a:r>
              <a:rPr lang="en-US" altLang="zh-CN" sz="24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ChessBoard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数组打印出来，里面的数字就是骨牌放置顺序。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62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棋盘覆盖</a:t>
            </a:r>
            <a:r>
              <a:rPr lang="zh-CN" altLang="en-US" dirty="0" smtClean="0"/>
              <a:t>问题复杂性分析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52</a:t>
            </a:fld>
            <a:endParaRPr lang="zh-CN" altLang="en-US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998841" y="844709"/>
            <a:ext cx="1016235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T(k)</a:t>
            </a: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是覆盖一个</a:t>
            </a: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sz="2800" baseline="30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×2</a:t>
            </a:r>
            <a:r>
              <a:rPr lang="en-US" altLang="zh-CN" sz="2800" baseline="30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棋盘所需时间，从算法的划分策略可知，</a:t>
            </a:r>
            <a:r>
              <a:rPr lang="en-US" altLang="zh-CN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T(k)</a:t>
            </a:r>
            <a:r>
              <a:rPr lang="zh-CN" altLang="en-US" sz="28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满足如下递推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式（注意 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k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的意义）： </a:t>
            </a:r>
            <a:endParaRPr lang="zh-CN" altLang="en-US" sz="28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8034885"/>
              </p:ext>
            </p:extLst>
          </p:nvPr>
        </p:nvGraphicFramePr>
        <p:xfrm>
          <a:off x="3034121" y="1914462"/>
          <a:ext cx="4608513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64" name="Equation" r:id="rId3" imgW="1917700" imgH="457200" progId="Equation.3">
                  <p:embed/>
                </p:oleObj>
              </mc:Choice>
              <mc:Fallback>
                <p:oleObj name="Equation" r:id="rId3" imgW="1917700" imgH="457200" progId="Equation.3">
                  <p:embed/>
                  <p:pic>
                    <p:nvPicPr>
                      <p:cNvPr id="3482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4121" y="1914462"/>
                        <a:ext cx="4608513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094533" y="3201133"/>
            <a:ext cx="100666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zh-CN" altLang="en-US" sz="3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解此递推式可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得 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T(k</a:t>
            </a:r>
            <a:r>
              <a:rPr lang="en-US" altLang="zh-CN" sz="32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)=O(4</a:t>
            </a:r>
            <a:r>
              <a:rPr lang="en-US" altLang="zh-CN" sz="3200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sz="32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32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（注意 </a:t>
            </a:r>
            <a:r>
              <a:rPr lang="en-US" altLang="zh-CN" sz="3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k </a:t>
            </a:r>
            <a:r>
              <a:rPr lang="zh-CN" altLang="en-US" sz="32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的意义）</a:t>
            </a:r>
            <a:endParaRPr lang="zh-CN" altLang="en-US" sz="32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87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smtClean="0"/>
              <a:t>2.5 </a:t>
            </a:r>
            <a:r>
              <a:rPr lang="zh-CN" altLang="en-US" dirty="0" smtClean="0"/>
              <a:t>循环赛日程表问题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Text Box 102"/>
          <p:cNvSpPr txBox="1">
            <a:spLocks noChangeArrowheads="1"/>
          </p:cNvSpPr>
          <p:nvPr/>
        </p:nvSpPr>
        <p:spPr bwMode="auto">
          <a:xfrm>
            <a:off x="533400" y="666710"/>
            <a:ext cx="11460126" cy="3065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5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1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设有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n=2</a:t>
            </a:r>
            <a:r>
              <a:rPr lang="en-US" altLang="zh-CN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运动员要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进行循环赛，现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要设计一个满足以下要求的比赛日程表：</a:t>
            </a:r>
          </a:p>
          <a:p>
            <a:pPr algn="just" eaLnBrk="1" hangingPunct="1">
              <a:lnSpc>
                <a:spcPct val="11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）每个选手必须与其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他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n-1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选手各赛一次；</a:t>
            </a:r>
          </a:p>
          <a:p>
            <a:pPr algn="just" eaLnBrk="1" hangingPunct="1">
              <a:lnSpc>
                <a:spcPct val="11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）每个选手一天只能赛一次；</a:t>
            </a:r>
          </a:p>
          <a:p>
            <a:pPr algn="just" eaLnBrk="1" hangingPunct="1">
              <a:lnSpc>
                <a:spcPct val="115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）循环赛一共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进行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n-1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天。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15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假设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位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选手编号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 1，2，3……n，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比赛日程表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 n 行 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 列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表格，其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行 j 列单元格的内容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号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选手在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 j 天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的比赛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对手（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选手编号列为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n*n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Box 105"/>
          <p:cNvSpPr txBox="1">
            <a:spLocks noChangeArrowheads="1"/>
          </p:cNvSpPr>
          <p:nvPr/>
        </p:nvSpPr>
        <p:spPr bwMode="auto">
          <a:xfrm>
            <a:off x="900988" y="3785330"/>
            <a:ext cx="98804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个选手比赛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日程表如下（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加入选手编号列为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4*4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818" y="4253163"/>
            <a:ext cx="4952994" cy="2424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墨迹 12"/>
              <p14:cNvContentPartPr/>
              <p14:nvPr/>
            </p14:nvContentPartPr>
            <p14:xfrm>
              <a:off x="749880" y="1270080"/>
              <a:ext cx="76680" cy="12960"/>
            </p14:xfrm>
          </p:contentPart>
        </mc:Choice>
        <mc:Fallback xmlns="">
          <p:pic>
            <p:nvPicPr>
              <p:cNvPr id="13" name="墨迹 1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7000" y="1267200"/>
                <a:ext cx="82080" cy="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9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循环赛日程表</a:t>
            </a:r>
            <a:r>
              <a:rPr lang="zh-CN" altLang="en-US" dirty="0" smtClean="0"/>
              <a:t>问题算法分析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54</a:t>
            </a:fld>
            <a:endParaRPr lang="zh-CN" altLang="en-US"/>
          </a:p>
        </p:txBody>
      </p:sp>
      <p:sp>
        <p:nvSpPr>
          <p:cNvPr id="11" name="Text Box 94"/>
          <p:cNvSpPr txBox="1">
            <a:spLocks noChangeArrowheads="1"/>
          </p:cNvSpPr>
          <p:nvPr/>
        </p:nvSpPr>
        <p:spPr bwMode="auto">
          <a:xfrm>
            <a:off x="821986" y="1684506"/>
            <a:ext cx="10753241" cy="37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4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、分解</a:t>
            </a:r>
            <a:r>
              <a:rPr lang="en-US" altLang="zh-CN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所有的选手分为两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n/2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人，分别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安排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各组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日程表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如果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每组人数大于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递归地对选手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进行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分割，直到每组剩下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个选手时。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求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子问题的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解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直接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安排这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个选手的比赛表。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、合并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子问题成原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问题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：自底向上，逐级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将两组赛程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对调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，得到各组与另一组选手的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赛程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96"/>
          <p:cNvSpPr>
            <a:spLocks noChangeArrowheads="1"/>
          </p:cNvSpPr>
          <p:nvPr/>
        </p:nvSpPr>
        <p:spPr bwMode="auto">
          <a:xfrm>
            <a:off x="745787" y="998706"/>
            <a:ext cx="18614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算法思路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35884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循环赛日程表</a:t>
            </a:r>
            <a:r>
              <a:rPr lang="zh-CN" altLang="en-US" dirty="0" smtClean="0"/>
              <a:t>问题实例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55</a:t>
            </a:fld>
            <a:endParaRPr lang="zh-CN" altLang="en-US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585276" y="4332670"/>
            <a:ext cx="1118302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显然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，这个求解过程是自底向上的迭代过程，其中左上角和左下角分别为选手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至选手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以及选手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至选手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天的比赛日程，据此，将左上角部分的所有数字按其对应位置抄到右下角，将左下角的所有数字按其对应位置抄到右上角，这样，就分别安排好了选手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至选手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以及选手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至选手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在后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天的比赛日程，如图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所示。具有多个选手的情况可以依此类推。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1847338" y="842819"/>
            <a:ext cx="7086600" cy="3343568"/>
            <a:chOff x="579438" y="810920"/>
            <a:chExt cx="7086600" cy="3343568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1432775" y="3615068"/>
              <a:ext cx="6233263" cy="539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(b) 2</a:t>
              </a:r>
              <a:r>
                <a:rPr lang="en-US" altLang="zh-CN" b="1" i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=2)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个选手比赛                  </a:t>
              </a:r>
              <a:r>
                <a:rPr lang="en-US" altLang="zh-CN" b="1" dirty="0" smtClean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c) 2</a:t>
              </a:r>
              <a:r>
                <a:rPr lang="en-US" altLang="zh-CN" b="1" i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=3)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个选手比赛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587701" y="2244182"/>
              <a:ext cx="660400" cy="330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加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8" name="AutoShape 7"/>
            <p:cNvSpPr>
              <a:spLocks noChangeArrowheads="1"/>
            </p:cNvSpPr>
            <p:nvPr/>
          </p:nvSpPr>
          <p:spPr bwMode="auto">
            <a:xfrm>
              <a:off x="579438" y="1156745"/>
              <a:ext cx="431800" cy="1926438"/>
            </a:xfrm>
            <a:prstGeom prst="curvedRightArrow">
              <a:avLst>
                <a:gd name="adj1" fmla="val 49323"/>
                <a:gd name="adj2" fmla="val 138294"/>
                <a:gd name="adj3" fmla="val 28250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723107" y="2043384"/>
              <a:ext cx="576262" cy="2867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加</a:t>
              </a:r>
              <a:r>
                <a:rPr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1155700" y="1502569"/>
              <a:ext cx="2964220" cy="269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(a) 2</a:t>
              </a:r>
              <a:r>
                <a:rPr lang="en-US" altLang="zh-CN" b="1" i="1" baseline="30000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k</a:t>
              </a: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=1)</a:t>
              </a:r>
              <a:r>
                <a:rPr lang="zh-CN" altLang="en-US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个选手比赛</a:t>
              </a:r>
            </a:p>
          </p:txBody>
        </p:sp>
        <p:grpSp>
          <p:nvGrpSpPr>
            <p:cNvPr id="11" name="Group 47"/>
            <p:cNvGrpSpPr>
              <a:grpSpLocks/>
            </p:cNvGrpSpPr>
            <p:nvPr/>
          </p:nvGrpSpPr>
          <p:grpSpPr bwMode="auto">
            <a:xfrm>
              <a:off x="1547813" y="2049662"/>
              <a:ext cx="1800225" cy="1396268"/>
              <a:chOff x="-2" y="105"/>
              <a:chExt cx="720" cy="969"/>
            </a:xfrm>
          </p:grpSpPr>
          <p:grpSp>
            <p:nvGrpSpPr>
              <p:cNvPr id="12" name="Group 45"/>
              <p:cNvGrpSpPr>
                <a:grpSpLocks/>
              </p:cNvGrpSpPr>
              <p:nvPr/>
            </p:nvGrpSpPr>
            <p:grpSpPr bwMode="auto">
              <a:xfrm>
                <a:off x="0" y="105"/>
                <a:ext cx="716" cy="967"/>
                <a:chOff x="0" y="105"/>
                <a:chExt cx="716" cy="967"/>
              </a:xfrm>
            </p:grpSpPr>
            <p:grpSp>
              <p:nvGrpSpPr>
                <p:cNvPr id="14" name="Group 32"/>
                <p:cNvGrpSpPr>
                  <a:grpSpLocks/>
                </p:cNvGrpSpPr>
                <p:nvPr/>
              </p:nvGrpSpPr>
              <p:grpSpPr bwMode="auto">
                <a:xfrm>
                  <a:off x="0" y="105"/>
                  <a:ext cx="358" cy="480"/>
                  <a:chOff x="0" y="105"/>
                  <a:chExt cx="358" cy="480"/>
                </a:xfrm>
              </p:grpSpPr>
              <p:sp>
                <p:nvSpPr>
                  <p:cNvPr id="30" name="Rectangle 31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05"/>
                    <a:ext cx="358" cy="480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zh-CN" altLang="en-US" sz="240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1" name="Group 30"/>
                  <p:cNvGrpSpPr>
                    <a:grpSpLocks/>
                  </p:cNvGrpSpPr>
                  <p:nvPr/>
                </p:nvGrpSpPr>
                <p:grpSpPr bwMode="auto">
                  <a:xfrm>
                    <a:off x="0" y="105"/>
                    <a:ext cx="358" cy="480"/>
                    <a:chOff x="0" y="105"/>
                    <a:chExt cx="358" cy="480"/>
                  </a:xfrm>
                </p:grpSpPr>
                <p:sp>
                  <p:nvSpPr>
                    <p:cNvPr id="32" name="Rectangle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105"/>
                      <a:ext cx="272" cy="480"/>
                    </a:xfrm>
                    <a:prstGeom prst="rect">
                      <a:avLst/>
                    </a:prstGeom>
                    <a:solidFill>
                      <a:srgbClr val="CCCCCC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Char char=" 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just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1  2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2  1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33" name="Rectangle 2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105"/>
                      <a:ext cx="358" cy="480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Char char=" 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15" name="Group 36"/>
                <p:cNvGrpSpPr>
                  <a:grpSpLocks/>
                </p:cNvGrpSpPr>
                <p:nvPr/>
              </p:nvGrpSpPr>
              <p:grpSpPr bwMode="auto">
                <a:xfrm>
                  <a:off x="358" y="105"/>
                  <a:ext cx="358" cy="480"/>
                  <a:chOff x="358" y="105"/>
                  <a:chExt cx="358" cy="480"/>
                </a:xfrm>
              </p:grpSpPr>
              <p:sp>
                <p:nvSpPr>
                  <p:cNvPr id="26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358" y="105"/>
                    <a:ext cx="358" cy="480"/>
                  </a:xfrm>
                  <a:prstGeom prst="rect">
                    <a:avLst/>
                  </a:prstGeom>
                  <a:solidFill>
                    <a:srgbClr val="E6E6E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zh-CN" altLang="en-US" sz="240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7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358" y="105"/>
                    <a:ext cx="358" cy="480"/>
                    <a:chOff x="358" y="105"/>
                    <a:chExt cx="358" cy="480"/>
                  </a:xfrm>
                </p:grpSpPr>
                <p:sp>
                  <p:nvSpPr>
                    <p:cNvPr id="28" name="Rectangle 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1" y="105"/>
                      <a:ext cx="272" cy="480"/>
                    </a:xfrm>
                    <a:prstGeom prst="rect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Char char=" 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just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3  4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4  3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9" name="Rectangle 3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" y="105"/>
                      <a:ext cx="358" cy="480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Char char=" 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16" name="Group 40"/>
                <p:cNvGrpSpPr>
                  <a:grpSpLocks/>
                </p:cNvGrpSpPr>
                <p:nvPr/>
              </p:nvGrpSpPr>
              <p:grpSpPr bwMode="auto">
                <a:xfrm>
                  <a:off x="0" y="585"/>
                  <a:ext cx="358" cy="487"/>
                  <a:chOff x="0" y="585"/>
                  <a:chExt cx="358" cy="487"/>
                </a:xfrm>
              </p:grpSpPr>
              <p:sp>
                <p:nvSpPr>
                  <p:cNvPr id="22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585"/>
                    <a:ext cx="358" cy="480"/>
                  </a:xfrm>
                  <a:prstGeom prst="rect">
                    <a:avLst/>
                  </a:prstGeom>
                  <a:solidFill>
                    <a:srgbClr val="E6E6E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zh-CN" altLang="en-US" sz="240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23" name="Group 38"/>
                  <p:cNvGrpSpPr>
                    <a:grpSpLocks/>
                  </p:cNvGrpSpPr>
                  <p:nvPr/>
                </p:nvGrpSpPr>
                <p:grpSpPr bwMode="auto">
                  <a:xfrm>
                    <a:off x="0" y="585"/>
                    <a:ext cx="358" cy="487"/>
                    <a:chOff x="0" y="585"/>
                    <a:chExt cx="358" cy="487"/>
                  </a:xfrm>
                </p:grpSpPr>
                <p:sp>
                  <p:nvSpPr>
                    <p:cNvPr id="24" name="Rectangle 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3" y="585"/>
                      <a:ext cx="272" cy="480"/>
                    </a:xfrm>
                    <a:prstGeom prst="rect">
                      <a:avLst/>
                    </a:prstGeom>
                    <a:solidFill>
                      <a:srgbClr val="E6E6E6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Char char=" 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just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3  4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4  3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5" name="Rectangle 3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0" y="592"/>
                      <a:ext cx="358" cy="480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Char char=" 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grpSp>
              <p:nvGrpSpPr>
                <p:cNvPr id="17" name="Group 44"/>
                <p:cNvGrpSpPr>
                  <a:grpSpLocks/>
                </p:cNvGrpSpPr>
                <p:nvPr/>
              </p:nvGrpSpPr>
              <p:grpSpPr bwMode="auto">
                <a:xfrm>
                  <a:off x="358" y="585"/>
                  <a:ext cx="358" cy="487"/>
                  <a:chOff x="358" y="585"/>
                  <a:chExt cx="358" cy="487"/>
                </a:xfrm>
              </p:grpSpPr>
              <p:sp>
                <p:nvSpPr>
                  <p:cNvPr id="18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358" y="585"/>
                    <a:ext cx="358" cy="480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zh-CN" altLang="en-US" sz="240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19" name="Group 42"/>
                  <p:cNvGrpSpPr>
                    <a:grpSpLocks/>
                  </p:cNvGrpSpPr>
                  <p:nvPr/>
                </p:nvGrpSpPr>
                <p:grpSpPr bwMode="auto">
                  <a:xfrm>
                    <a:off x="358" y="585"/>
                    <a:ext cx="358" cy="487"/>
                    <a:chOff x="358" y="585"/>
                    <a:chExt cx="358" cy="487"/>
                  </a:xfrm>
                </p:grpSpPr>
                <p:sp>
                  <p:nvSpPr>
                    <p:cNvPr id="20" name="Rectangle 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01" y="585"/>
                      <a:ext cx="272" cy="480"/>
                    </a:xfrm>
                    <a:prstGeom prst="rect">
                      <a:avLst/>
                    </a:prstGeom>
                    <a:solidFill>
                      <a:srgbClr val="CCCCCC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Char char=" 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just"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1  2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rPr>
                        <a:t>2  1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1" name="Rectangle 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58" y="592"/>
                      <a:ext cx="358" cy="480"/>
                    </a:xfrm>
                    <a:prstGeom prst="rect">
                      <a:avLst/>
                    </a:prstGeom>
                    <a:noFill/>
                    <a:ln w="7">
                      <a:solidFill>
                        <a:srgbClr val="A0A0A0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1200"/>
                        </a:spcBef>
                        <a:spcAft>
                          <a:spcPts val="200"/>
                        </a:spcAft>
                        <a:buClr>
                          <a:schemeClr val="accent1"/>
                        </a:buClr>
                        <a:buSzPct val="100000"/>
                        <a:buFont typeface="Calibri" panose="020F0502020204030204" pitchFamily="34" charset="0"/>
                        <a:buChar char=" "/>
                        <a:defRPr sz="20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400"/>
                        </a:spcAft>
                        <a:buClr>
                          <a:schemeClr val="accent1"/>
                        </a:buClr>
                        <a:buFont typeface="Calibri" panose="020F0502020204030204" pitchFamily="34" charset="0"/>
                        <a:buChar char="◦"/>
                        <a:defRPr sz="1400">
                          <a:solidFill>
                            <a:srgbClr val="404040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lang="zh-CN" altLang="en-US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</p:grpSp>
          <p:sp>
            <p:nvSpPr>
              <p:cNvPr id="13" name="Rectangle 46"/>
              <p:cNvSpPr>
                <a:spLocks noChangeArrowheads="1"/>
              </p:cNvSpPr>
              <p:nvPr/>
            </p:nvSpPr>
            <p:spPr bwMode="auto">
              <a:xfrm>
                <a:off x="-2" y="110"/>
                <a:ext cx="720" cy="964"/>
              </a:xfrm>
              <a:prstGeom prst="rect">
                <a:avLst/>
              </a:prstGeom>
              <a:noFill/>
              <a:ln w="6350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4" name="Group 71"/>
            <p:cNvGrpSpPr>
              <a:grpSpLocks/>
            </p:cNvGrpSpPr>
            <p:nvPr/>
          </p:nvGrpSpPr>
          <p:grpSpPr bwMode="auto">
            <a:xfrm>
              <a:off x="4543425" y="890588"/>
              <a:ext cx="3097213" cy="2592387"/>
              <a:chOff x="3061" y="799"/>
              <a:chExt cx="2087" cy="1633"/>
            </a:xfrm>
          </p:grpSpPr>
          <p:grpSp>
            <p:nvGrpSpPr>
              <p:cNvPr id="35" name="Group 55"/>
              <p:cNvGrpSpPr>
                <a:grpSpLocks/>
              </p:cNvGrpSpPr>
              <p:nvPr/>
            </p:nvGrpSpPr>
            <p:grpSpPr bwMode="auto">
              <a:xfrm>
                <a:off x="3065" y="801"/>
                <a:ext cx="1032" cy="815"/>
                <a:chOff x="0" y="0"/>
                <a:chExt cx="587" cy="672"/>
              </a:xfrm>
            </p:grpSpPr>
            <p:sp>
              <p:nvSpPr>
                <p:cNvPr id="52" name="Rectangle 54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87" cy="672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53" name="Group 53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587" cy="672"/>
                  <a:chOff x="0" y="0"/>
                  <a:chExt cx="587" cy="672"/>
                </a:xfrm>
              </p:grpSpPr>
              <p:sp>
                <p:nvSpPr>
                  <p:cNvPr id="54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87" cy="672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1   2   3   4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2   1   4   3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3   4   1   2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4   3   2   1</a:t>
                    </a:r>
                  </a:p>
                </p:txBody>
              </p:sp>
              <p:sp>
                <p:nvSpPr>
                  <p:cNvPr id="55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587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zh-CN" altLang="en-US" sz="240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36" name="Group 59"/>
              <p:cNvGrpSpPr>
                <a:grpSpLocks/>
              </p:cNvGrpSpPr>
              <p:nvPr/>
            </p:nvGrpSpPr>
            <p:grpSpPr bwMode="auto">
              <a:xfrm>
                <a:off x="4097" y="801"/>
                <a:ext cx="1047" cy="815"/>
                <a:chOff x="587" y="0"/>
                <a:chExt cx="596" cy="672"/>
              </a:xfrm>
            </p:grpSpPr>
            <p:sp>
              <p:nvSpPr>
                <p:cNvPr id="48" name="Rectangle 58"/>
                <p:cNvSpPr>
                  <a:spLocks noChangeArrowheads="1"/>
                </p:cNvSpPr>
                <p:nvPr/>
              </p:nvSpPr>
              <p:spPr bwMode="auto">
                <a:xfrm>
                  <a:off x="587" y="0"/>
                  <a:ext cx="596" cy="672"/>
                </a:xfrm>
                <a:prstGeom prst="rect">
                  <a:avLst/>
                </a:prstGeom>
                <a:solidFill>
                  <a:srgbClr val="E6E6E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9" name="Group 57"/>
                <p:cNvGrpSpPr>
                  <a:grpSpLocks/>
                </p:cNvGrpSpPr>
                <p:nvPr/>
              </p:nvGrpSpPr>
              <p:grpSpPr bwMode="auto">
                <a:xfrm>
                  <a:off x="587" y="0"/>
                  <a:ext cx="596" cy="672"/>
                  <a:chOff x="587" y="0"/>
                  <a:chExt cx="596" cy="672"/>
                </a:xfrm>
              </p:grpSpPr>
              <p:sp>
                <p:nvSpPr>
                  <p:cNvPr id="50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587" y="0"/>
                    <a:ext cx="596" cy="672"/>
                  </a:xfrm>
                  <a:prstGeom prst="rect">
                    <a:avLst/>
                  </a:prstGeom>
                  <a:solidFill>
                    <a:srgbClr val="E6E6E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5   6   7   8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6   5   8   7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7   8   5   6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8   7   6   5</a:t>
                    </a:r>
                  </a:p>
                </p:txBody>
              </p:sp>
              <p:sp>
                <p:nvSpPr>
                  <p:cNvPr id="51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587" y="0"/>
                    <a:ext cx="596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zh-CN" altLang="en-US" sz="240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37" name="Group 63"/>
              <p:cNvGrpSpPr>
                <a:grpSpLocks/>
              </p:cNvGrpSpPr>
              <p:nvPr/>
            </p:nvGrpSpPr>
            <p:grpSpPr bwMode="auto">
              <a:xfrm>
                <a:off x="3065" y="1616"/>
                <a:ext cx="1032" cy="814"/>
                <a:chOff x="0" y="672"/>
                <a:chExt cx="587" cy="672"/>
              </a:xfrm>
            </p:grpSpPr>
            <p:sp>
              <p:nvSpPr>
                <p:cNvPr id="44" name="Rectangle 62"/>
                <p:cNvSpPr>
                  <a:spLocks noChangeArrowheads="1"/>
                </p:cNvSpPr>
                <p:nvPr/>
              </p:nvSpPr>
              <p:spPr bwMode="auto">
                <a:xfrm>
                  <a:off x="0" y="672"/>
                  <a:ext cx="587" cy="672"/>
                </a:xfrm>
                <a:prstGeom prst="rect">
                  <a:avLst/>
                </a:prstGeom>
                <a:solidFill>
                  <a:srgbClr val="E6E6E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5" name="Group 61"/>
                <p:cNvGrpSpPr>
                  <a:grpSpLocks/>
                </p:cNvGrpSpPr>
                <p:nvPr/>
              </p:nvGrpSpPr>
              <p:grpSpPr bwMode="auto">
                <a:xfrm>
                  <a:off x="0" y="672"/>
                  <a:ext cx="587" cy="672"/>
                  <a:chOff x="0" y="672"/>
                  <a:chExt cx="587" cy="672"/>
                </a:xfrm>
              </p:grpSpPr>
              <p:sp>
                <p:nvSpPr>
                  <p:cNvPr id="46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672"/>
                    <a:ext cx="587" cy="672"/>
                  </a:xfrm>
                  <a:prstGeom prst="rect">
                    <a:avLst/>
                  </a:prstGeom>
                  <a:solidFill>
                    <a:srgbClr val="E6E6E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5   6   7   8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6   5   8   7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7   8   5   6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8   7   6   5</a:t>
                    </a:r>
                  </a:p>
                </p:txBody>
              </p:sp>
              <p:sp>
                <p:nvSpPr>
                  <p:cNvPr id="47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672"/>
                    <a:ext cx="587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zh-CN" altLang="en-US" sz="240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grpSp>
            <p:nvGrpSpPr>
              <p:cNvPr id="38" name="Group 67"/>
              <p:cNvGrpSpPr>
                <a:grpSpLocks/>
              </p:cNvGrpSpPr>
              <p:nvPr/>
            </p:nvGrpSpPr>
            <p:grpSpPr bwMode="auto">
              <a:xfrm>
                <a:off x="4097" y="1616"/>
                <a:ext cx="1047" cy="814"/>
                <a:chOff x="587" y="672"/>
                <a:chExt cx="596" cy="672"/>
              </a:xfrm>
            </p:grpSpPr>
            <p:sp>
              <p:nvSpPr>
                <p:cNvPr id="40" name="Rectangle 66"/>
                <p:cNvSpPr>
                  <a:spLocks noChangeArrowheads="1"/>
                </p:cNvSpPr>
                <p:nvPr/>
              </p:nvSpPr>
              <p:spPr bwMode="auto">
                <a:xfrm>
                  <a:off x="587" y="672"/>
                  <a:ext cx="596" cy="672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lnSpc>
                      <a:spcPct val="90000"/>
                    </a:lnSpc>
                    <a:spcBef>
                      <a:spcPts val="1200"/>
                    </a:spcBef>
                    <a:spcAft>
                      <a:spcPts val="200"/>
                    </a:spcAft>
                    <a:buClr>
                      <a:schemeClr val="accent1"/>
                    </a:buClr>
                    <a:buSzPct val="100000"/>
                    <a:buFont typeface="Calibri" panose="020F0502020204030204" pitchFamily="34" charset="0"/>
                    <a:buChar char=" "/>
                    <a:defRPr sz="20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lnSpc>
                      <a:spcPct val="90000"/>
                    </a:lnSpc>
                    <a:spcBef>
                      <a:spcPts val="200"/>
                    </a:spcBef>
                    <a:spcAft>
                      <a:spcPts val="400"/>
                    </a:spcAft>
                    <a:buClr>
                      <a:schemeClr val="accent1"/>
                    </a:buClr>
                    <a:buFont typeface="Calibri" panose="020F0502020204030204" pitchFamily="34" charset="0"/>
                    <a:buChar char="◦"/>
                    <a:defRPr sz="1400">
                      <a:solidFill>
                        <a:srgbClr val="404040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lang="zh-CN" altLang="en-US" sz="2400">
                    <a:solidFill>
                      <a:schemeClr val="tx1"/>
                    </a:solidFill>
                    <a:latin typeface="Times New Roman" panose="02020603050405020304" pitchFamily="18" charset="0"/>
                  </a:endParaRPr>
                </a:p>
              </p:txBody>
            </p:sp>
            <p:grpSp>
              <p:nvGrpSpPr>
                <p:cNvPr id="41" name="Group 65"/>
                <p:cNvGrpSpPr>
                  <a:grpSpLocks/>
                </p:cNvGrpSpPr>
                <p:nvPr/>
              </p:nvGrpSpPr>
              <p:grpSpPr bwMode="auto">
                <a:xfrm>
                  <a:off x="587" y="672"/>
                  <a:ext cx="596" cy="672"/>
                  <a:chOff x="587" y="672"/>
                  <a:chExt cx="596" cy="672"/>
                </a:xfrm>
              </p:grpSpPr>
              <p:sp>
                <p:nvSpPr>
                  <p:cNvPr id="42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587" y="672"/>
                    <a:ext cx="596" cy="672"/>
                  </a:xfrm>
                  <a:prstGeom prst="rect">
                    <a:avLst/>
                  </a:prstGeom>
                  <a:solidFill>
                    <a:srgbClr val="CCCCCC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1   2   3   4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2   1   4   3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3   4   1   2</a:t>
                    </a:r>
                  </a:p>
                  <a:p>
                    <a:pPr algn="ctr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r>
                      <a:rPr lang="en-US" altLang="zh-CN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</a:rPr>
                      <a:t>4   3   2   1</a:t>
                    </a:r>
                  </a:p>
                </p:txBody>
              </p:sp>
              <p:sp>
                <p:nvSpPr>
                  <p:cNvPr id="43" name="Rectangle 64"/>
                  <p:cNvSpPr>
                    <a:spLocks noChangeArrowheads="1"/>
                  </p:cNvSpPr>
                  <p:nvPr/>
                </p:nvSpPr>
                <p:spPr bwMode="auto">
                  <a:xfrm>
                    <a:off x="587" y="672"/>
                    <a:ext cx="596" cy="672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>
                    <a:lvl1pPr>
                      <a:lnSpc>
                        <a:spcPct val="90000"/>
                      </a:lnSpc>
                      <a:spcBef>
                        <a:spcPts val="1200"/>
                      </a:spcBef>
                      <a:spcAft>
                        <a:spcPts val="200"/>
                      </a:spcAft>
                      <a:buClr>
                        <a:schemeClr val="accent1"/>
                      </a:buClr>
                      <a:buSzPct val="100000"/>
                      <a:buFont typeface="Calibri" panose="020F0502020204030204" pitchFamily="34" charset="0"/>
                      <a:buChar char=" "/>
                      <a:defRPr sz="20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lnSpc>
                        <a:spcPct val="90000"/>
                      </a:lnSpc>
                      <a:spcBef>
                        <a:spcPts val="200"/>
                      </a:spcBef>
                      <a:spcAft>
                        <a:spcPts val="400"/>
                      </a:spcAft>
                      <a:buClr>
                        <a:schemeClr val="accent1"/>
                      </a:buClr>
                      <a:buFont typeface="Calibri" panose="020F0502020204030204" pitchFamily="34" charset="0"/>
                      <a:buChar char="◦"/>
                      <a:defRPr sz="1400">
                        <a:solidFill>
                          <a:srgbClr val="404040"/>
                        </a:solidFill>
                        <a:latin typeface="Calibri" panose="020F050202020403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lang="zh-CN" altLang="en-US" sz="2400">
                      <a:solidFill>
                        <a:schemeClr val="tx1"/>
                      </a:solidFill>
                      <a:latin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39" name="Rectangle 69"/>
              <p:cNvSpPr>
                <a:spLocks noChangeArrowheads="1"/>
              </p:cNvSpPr>
              <p:nvPr/>
            </p:nvSpPr>
            <p:spPr bwMode="auto">
              <a:xfrm>
                <a:off x="3061" y="799"/>
                <a:ext cx="2087" cy="1633"/>
              </a:xfrm>
              <a:prstGeom prst="rect">
                <a:avLst/>
              </a:prstGeom>
              <a:noFill/>
              <a:ln w="6350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anose="020F0502020204030204" pitchFamily="34" charset="0"/>
                  <a:buChar char="◦"/>
                  <a:defRPr sz="1400">
                    <a:solidFill>
                      <a:srgbClr val="404040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lang="zh-CN" altLang="en-US" sz="2400">
                  <a:solidFill>
                    <a:schemeClr val="tx1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6" name="AutoShape 72"/>
            <p:cNvSpPr>
              <a:spLocks noChangeArrowheads="1"/>
            </p:cNvSpPr>
            <p:nvPr/>
          </p:nvSpPr>
          <p:spPr bwMode="auto">
            <a:xfrm rot="19983628">
              <a:off x="3492500" y="2565400"/>
              <a:ext cx="1079500" cy="288925"/>
            </a:xfrm>
            <a:prstGeom prst="rightArrow">
              <a:avLst>
                <a:gd name="adj1" fmla="val 50000"/>
                <a:gd name="adj2" fmla="val 93407"/>
              </a:avLst>
            </a:prstGeom>
            <a:solidFill>
              <a:schemeClr val="folHlink"/>
            </a:solidFill>
            <a:ln w="6350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zh-CN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" name="Rectangle 25"/>
            <p:cNvSpPr>
              <a:spLocks noChangeArrowheads="1"/>
            </p:cNvSpPr>
            <p:nvPr/>
          </p:nvSpPr>
          <p:spPr bwMode="auto">
            <a:xfrm>
              <a:off x="1855538" y="810920"/>
              <a:ext cx="680085" cy="691650"/>
            </a:xfrm>
            <a:prstGeom prst="rect">
              <a:avLst/>
            </a:pr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1  2</a:t>
              </a:r>
            </a:p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</a:rPr>
                <a:t>2  1</a:t>
              </a:r>
            </a:p>
            <a:p>
              <a:pPr algn="just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8022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循环赛日程表</a:t>
            </a:r>
            <a:r>
              <a:rPr lang="zh-CN" altLang="en-US" dirty="0" smtClean="0"/>
              <a:t>问题实例（续）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56</a:t>
            </a:fld>
            <a:endParaRPr lang="zh-CN" altLang="en-US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65389" y="835151"/>
            <a:ext cx="10629495" cy="13843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这种解法是把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选手比赛日程问题划分成依次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个选手的比赛日程问题，换言之，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个选手的比赛日程是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k-1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选手的比赛日程的基础上通过迭代的方法求得的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65389" y="2409773"/>
            <a:ext cx="11315485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每次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迭代中，将问题划分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）左上角：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左上角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k-1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选手在前半程的比赛日程；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）左下角：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左下角为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另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k-1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选手在前半程的比赛日程，由左上角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k-1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例如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选手比赛，左下角由左上角直接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选手比赛，左下角由左上角直接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得到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）右上角：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将左下角直接抄到右上角得到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另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k-1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选手在后半程的比赛日程；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）右下角：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将左上角直接抄到右下角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得到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k-1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选手在后半程的比赛日程；</a:t>
            </a:r>
          </a:p>
          <a:p>
            <a:pPr algn="just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设计的关键在于寻找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元素之间的对应关系。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7763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循环赛日程表</a:t>
            </a:r>
            <a:r>
              <a:rPr lang="zh-CN" altLang="en-US" dirty="0" smtClean="0"/>
              <a:t>问题算法描述（迭代法）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181252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57</a:t>
            </a:fld>
            <a:endParaRPr lang="zh-CN" alt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1850065" y="955551"/>
            <a:ext cx="8389088" cy="5562205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bIns="0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Aft>
                <a:spcPts val="775"/>
              </a:spcAft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循环赛日程表</a:t>
            </a:r>
          </a:p>
          <a:p>
            <a:pPr algn="just">
              <a:lnSpc>
                <a:spcPct val="104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void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GameTable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k, </a:t>
            </a:r>
            <a:r>
              <a:rPr lang="en-US" altLang="zh-CN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a[ ][ ])</a:t>
            </a:r>
          </a:p>
          <a:p>
            <a:pPr algn="just">
              <a:lnSpc>
                <a:spcPct val="104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{  </a:t>
            </a:r>
          </a:p>
          <a:p>
            <a:pPr algn="just">
              <a:lnSpc>
                <a:spcPct val="104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 </a:t>
            </a:r>
            <a:r>
              <a:rPr lang="en-US" altLang="zh-CN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=2</a:t>
            </a:r>
            <a:r>
              <a:rPr lang="en-US" altLang="zh-CN" i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≥1)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个选手参加比赛，</a:t>
            </a:r>
          </a:p>
          <a:p>
            <a:pPr algn="just">
              <a:lnSpc>
                <a:spcPct val="104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二维数组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a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表示日程安排，数组下标从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开始</a:t>
            </a:r>
          </a:p>
          <a:p>
            <a:pPr algn="just">
              <a:lnSpc>
                <a:spcPct val="104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n=2;       //k=0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个选手比赛日程可直接求得</a:t>
            </a:r>
          </a:p>
          <a:p>
            <a:pPr algn="just">
              <a:lnSpc>
                <a:spcPct val="104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求解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个选手比赛日程，得到左上角元素</a:t>
            </a:r>
          </a:p>
          <a:p>
            <a:pPr algn="just">
              <a:lnSpc>
                <a:spcPct val="104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a[1][1]=1; a[1][2]=2;   </a:t>
            </a:r>
          </a:p>
          <a:p>
            <a:pPr algn="just">
              <a:lnSpc>
                <a:spcPct val="104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 a[2][1]=2; a[2][2]=1;</a:t>
            </a:r>
          </a:p>
          <a:p>
            <a:pPr algn="just">
              <a:lnSpc>
                <a:spcPct val="104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 for (t=1; t&lt;k; t++)</a:t>
            </a:r>
          </a:p>
          <a:p>
            <a:pPr algn="just">
              <a:lnSpc>
                <a:spcPct val="104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迭代处理，依次处理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, …, 2</a:t>
            </a:r>
            <a:r>
              <a:rPr lang="en-US" altLang="zh-CN" i="1" baseline="300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</a:t>
            </a:r>
            <a:r>
              <a:rPr lang="zh-CN" altLang="en-US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个选手比赛日程</a:t>
            </a:r>
          </a:p>
          <a:p>
            <a:pPr algn="just">
              <a:lnSpc>
                <a:spcPct val="104000"/>
              </a:lnSpc>
            </a:pPr>
            <a:r>
              <a:rPr lang="zh-CN" altLang="en-US" dirty="0">
                <a:latin typeface="微软雅黑" pitchFamily="34" charset="-122"/>
                <a:ea typeface="微软雅黑" pitchFamily="34" charset="-122"/>
              </a:rPr>
              <a:t>         </a:t>
            </a: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pPr algn="just">
              <a:lnSpc>
                <a:spcPct val="104000"/>
              </a:lnSpc>
            </a:pPr>
            <a:r>
              <a:rPr lang="en-US" altLang="zh-CN" dirty="0">
                <a:latin typeface="微软雅黑" pitchFamily="34" charset="-122"/>
                <a:ea typeface="微软雅黑" pitchFamily="34" charset="-122"/>
              </a:rPr>
              <a:t>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807559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循环赛日程表问题算法描述（迭代法</a:t>
            </a:r>
            <a:r>
              <a:rPr lang="zh-CN" altLang="en-US" dirty="0" smtClean="0"/>
              <a:t>）（续）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58</a:t>
            </a:fld>
            <a:endParaRPr lang="zh-CN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43872" y="729575"/>
            <a:ext cx="10836613" cy="5890402"/>
          </a:xfrm>
          <a:prstGeom prst="rect">
            <a:avLst/>
          </a:prstGeom>
          <a:noFill/>
          <a:ln w="9525">
            <a:solidFill>
              <a:schemeClr val="tx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90488" indent="-90488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38258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566738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749300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931863" indent="-182563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13890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18462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23034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2760663" indent="-182563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zh-CN" sz="240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temp=n; </a:t>
            </a:r>
            <a:r>
              <a:rPr lang="en-US" altLang="zh-CN" sz="2400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n=n*2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;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//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规模翻倍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</a:t>
            </a:r>
            <a:endParaRPr lang="en-US" altLang="zh-CN" sz="2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填左下角元素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for (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=temp+1; 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&lt;=n; 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++ )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for (j=1; j&lt;=temp; 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j++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  a[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][j]=a[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-temp][j]+temp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;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左下角元素和左上角元素的对应关系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 smtClean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填右上角元素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for (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=1; 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&lt;=temp; 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++)       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for (j=temp+1; j&lt;=n; 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j++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 a[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][j]=a[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i+temp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][(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j+temp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)% n];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填右下角元素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for (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=temp+1; 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&lt;=n; 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++)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for (j=temp+1; j&lt;=n; 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j++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         a[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][j]=a[</a:t>
            </a:r>
            <a:r>
              <a:rPr lang="en-US" altLang="zh-CN" sz="2400" dirty="0" err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-temp][j-temp];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    }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algn="just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zh-CN" sz="24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61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循环赛日程表问题算法描述</a:t>
            </a:r>
            <a:r>
              <a:rPr lang="zh-CN" altLang="en-US" dirty="0" smtClean="0"/>
              <a:t>（递归法）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66576" y="951869"/>
            <a:ext cx="6149164" cy="378565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void arrangement(</a:t>
            </a:r>
            <a:r>
              <a:rPr lang="en-US" altLang="zh-CN" sz="24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n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, </a:t>
            </a:r>
            <a:r>
              <a:rPr lang="en-US" altLang="zh-CN" sz="2400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a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[][])  </a:t>
            </a:r>
          </a:p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{   </a:t>
            </a:r>
          </a:p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if(n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==1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{</a:t>
            </a:r>
          </a:p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   a[0][0]=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   return;</a:t>
            </a:r>
          </a:p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 }</a:t>
            </a:r>
          </a:p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 arrangement(n/2, a);</a:t>
            </a:r>
          </a:p>
          <a:p>
            <a:r>
              <a:rPr lang="en-US" altLang="zh-CN" sz="24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   merger(n, a);</a:t>
            </a:r>
          </a:p>
          <a:p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</a:rPr>
              <a:t>}</a:t>
            </a:r>
            <a:endParaRPr lang="zh-CN" altLang="en-US" sz="24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422064" y="951869"/>
            <a:ext cx="5560828" cy="440120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void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merger(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n, 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a[][]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)  </a:t>
            </a:r>
          </a:p>
          <a:p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{  </a:t>
            </a:r>
          </a:p>
          <a:p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m=n/2;</a:t>
            </a:r>
          </a:p>
          <a:p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for(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=0; 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&lt;m; 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++)</a:t>
            </a:r>
          </a:p>
          <a:p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   for(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int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j=0; j&lt;m; j++)  </a:t>
            </a:r>
          </a:p>
          <a:p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   {</a:t>
            </a:r>
          </a:p>
          <a:p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        a[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][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j+m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]=a[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][j]+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m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       a[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i+m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][j]=a[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][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j+m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];</a:t>
            </a:r>
          </a:p>
          <a:p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        a[</a:t>
            </a:r>
            <a:r>
              <a:rPr lang="en-US" altLang="zh-CN" sz="2800" dirty="0" err="1" smtClean="0">
                <a:latin typeface="微软雅黑" pitchFamily="34" charset="-122"/>
                <a:ea typeface="微软雅黑" pitchFamily="34" charset="-122"/>
              </a:rPr>
              <a:t>i+m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][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j+m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]=a[</a:t>
            </a:r>
            <a:r>
              <a:rPr lang="en-US" altLang="zh-CN" sz="2800" dirty="0" err="1">
                <a:latin typeface="微软雅黑" pitchFamily="34" charset="-122"/>
                <a:ea typeface="微软雅黑" pitchFamily="34" charset="-122"/>
              </a:rPr>
              <a:t>i</a:t>
            </a:r>
            <a:r>
              <a:rPr lang="en-US" altLang="zh-CN" sz="2800" dirty="0">
                <a:latin typeface="微软雅黑" pitchFamily="34" charset="-122"/>
                <a:ea typeface="微软雅黑" pitchFamily="34" charset="-122"/>
              </a:rPr>
              <a:t>][j</a:t>
            </a:r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];</a:t>
            </a:r>
          </a:p>
          <a:p>
            <a:r>
              <a:rPr lang="en-US" altLang="zh-CN" sz="2800" dirty="0" smtClean="0">
                <a:latin typeface="微软雅黑" pitchFamily="34" charset="-122"/>
                <a:ea typeface="微软雅黑" pitchFamily="34" charset="-122"/>
              </a:rPr>
              <a:t>        }</a:t>
            </a:r>
            <a:endParaRPr lang="zh-CN" altLang="en-US" sz="2800" dirty="0"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8298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循环赛日程表</a:t>
            </a:r>
            <a:r>
              <a:rPr lang="zh-CN" altLang="en-US" dirty="0" smtClean="0"/>
              <a:t>问题复杂度分析</a:t>
            </a: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60</a:t>
            </a:fld>
            <a:endParaRPr lang="zh-CN" altLang="en-US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684212" y="765175"/>
            <a:ext cx="9724383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迭代处理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的循环体内部有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个循环语句，每个循环语句都是一个嵌套的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循环，且他们的执行次数相同，关键操作语句是最内层循环体的赋值语句，即填写比赛日程表中的元素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该算法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的其时间复杂性为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O(4</a:t>
            </a:r>
            <a:r>
              <a:rPr lang="en-US" altLang="zh-CN" sz="2400" baseline="30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1692275" y="3081338"/>
          <a:ext cx="6543675" cy="148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82" r:id="rId4" imgW="2184400" imgH="469900" progId="Equation.3">
                  <p:embed/>
                </p:oleObj>
              </mc:Choice>
              <mc:Fallback>
                <p:oleObj r:id="rId4" imgW="2184400" imgH="469900" progId="Equation.3">
                  <p:embed/>
                  <p:pic>
                    <p:nvPicPr>
                      <p:cNvPr id="5018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081338"/>
                        <a:ext cx="6543675" cy="148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2"/>
          <p:cNvSpPr>
            <a:spLocks noChangeArrowheads="1"/>
          </p:cNvSpPr>
          <p:nvPr/>
        </p:nvSpPr>
        <p:spPr bwMode="auto">
          <a:xfrm>
            <a:off x="684213" y="4895833"/>
            <a:ext cx="1041617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根据</a:t>
            </a:r>
            <a:r>
              <a:rPr lang="zh-CN" altLang="en-US" sz="28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分治算法，将本问题进行了由小规模到大规模的求解设计，</a:t>
            </a:r>
            <a:r>
              <a:rPr lang="zh-CN" altLang="en-US" sz="2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算法设计的关键点在于如何对问题进行划分和填充公式的</a:t>
            </a:r>
            <a:r>
              <a:rPr lang="zh-CN" altLang="en-US" sz="2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归纳。</a:t>
            </a:r>
            <a:endParaRPr lang="zh-CN" altLang="en-US" sz="2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975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2.6 </a:t>
            </a:r>
            <a:r>
              <a:rPr lang="zh-CN" altLang="en-US" dirty="0" smtClean="0"/>
              <a:t>数字旋转方阵问题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61</a:t>
            </a:fld>
            <a:endParaRPr lang="zh-CN" altLang="en-US"/>
          </a:p>
        </p:txBody>
      </p:sp>
      <p:sp>
        <p:nvSpPr>
          <p:cNvPr id="5" name="Text Box 33"/>
          <p:cNvSpPr txBox="1">
            <a:spLocks noChangeArrowheads="1"/>
          </p:cNvSpPr>
          <p:nvPr/>
        </p:nvSpPr>
        <p:spPr bwMode="auto">
          <a:xfrm>
            <a:off x="658080" y="956468"/>
            <a:ext cx="98575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下图所示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N×N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1≤N≤10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）的数字旋转方阵：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519548" y="1927224"/>
            <a:ext cx="4392613" cy="3887787"/>
          </a:xfrm>
          <a:prstGeom prst="rect">
            <a:avLst/>
          </a:prstGeom>
          <a:solidFill>
            <a:srgbClr val="FFFFFF"/>
          </a:solidFill>
          <a:ln w="57150" cmpd="thinThick">
            <a:solidFill>
              <a:srgbClr val="000000"/>
            </a:solidFill>
            <a:miter lim="800000"/>
            <a:headEnd/>
            <a:tailEnd/>
          </a:ln>
        </p:spPr>
        <p:txBody>
          <a:bodyPr lIns="36000" tIns="180000" rIns="36000" bIns="36000"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33CC"/>
                </a:solidFill>
                <a:latin typeface="Times New Roman" panose="02020603050405020304" pitchFamily="18" charset="0"/>
              </a:rPr>
              <a:t>   1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FF9900"/>
                </a:solidFill>
                <a:latin typeface="Times New Roman" panose="02020603050405020304" pitchFamily="18" charset="0"/>
              </a:rPr>
              <a:t>20  19  18  17  16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3600" dirty="0">
                <a:solidFill>
                  <a:srgbClr val="FF33CC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21  32  31  30 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</a:rPr>
              <a:t>15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F33CC"/>
                </a:solidFill>
                <a:latin typeface="Times New Roman" panose="02020603050405020304" pitchFamily="18" charset="0"/>
              </a:rPr>
              <a:t>   3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22  33  36  29 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</a:rPr>
              <a:t>14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3600" dirty="0">
                <a:solidFill>
                  <a:srgbClr val="FF33CC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23  34  35  28 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</a:rPr>
              <a:t>13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3600" dirty="0">
                <a:solidFill>
                  <a:srgbClr val="FF33CC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24  25  26  27 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</a:rPr>
              <a:t>12</a:t>
            </a:r>
          </a:p>
          <a:p>
            <a:pPr algn="just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 </a:t>
            </a:r>
            <a:r>
              <a:rPr lang="en-US" altLang="zh-CN" sz="3600" dirty="0">
                <a:solidFill>
                  <a:srgbClr val="000099"/>
                </a:solidFill>
                <a:latin typeface="Times New Roman" panose="02020603050405020304" pitchFamily="18" charset="0"/>
              </a:rPr>
              <a:t>6   7    8    9   10</a:t>
            </a:r>
            <a:r>
              <a:rPr lang="en-US" altLang="zh-CN" sz="3600" dirty="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3600" dirty="0">
                <a:solidFill>
                  <a:srgbClr val="FF0000"/>
                </a:solidFill>
                <a:latin typeface="Times New Roman" panose="02020603050405020304" pitchFamily="18" charset="0"/>
              </a:rPr>
              <a:t>11</a:t>
            </a:r>
            <a:endParaRPr lang="en-US" altLang="zh-CN" sz="54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3808473" y="2071686"/>
            <a:ext cx="0" cy="33401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3879911" y="5527674"/>
            <a:ext cx="37449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V="1">
            <a:off x="7696261" y="2214561"/>
            <a:ext cx="0" cy="3241675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4311711" y="2071686"/>
            <a:ext cx="3313112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4311711" y="2287586"/>
            <a:ext cx="0" cy="2519363"/>
          </a:xfrm>
          <a:prstGeom prst="lin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4456173" y="4879974"/>
            <a:ext cx="2592388" cy="0"/>
          </a:xfrm>
          <a:prstGeom prst="lin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 flipV="1">
            <a:off x="7048561" y="2719386"/>
            <a:ext cx="0" cy="2087563"/>
          </a:xfrm>
          <a:prstGeom prst="line">
            <a:avLst/>
          </a:prstGeom>
          <a:noFill/>
          <a:ln w="19050">
            <a:solidFill>
              <a:srgbClr val="008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>
            <a:off x="4960998" y="2719386"/>
            <a:ext cx="2016125" cy="0"/>
          </a:xfrm>
          <a:prstGeom prst="line">
            <a:avLst/>
          </a:prstGeom>
          <a:noFill/>
          <a:ln w="19050">
            <a:solidFill>
              <a:srgbClr val="008000"/>
            </a:solidFill>
            <a:prstDash val="dashDot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5003861" y="2781299"/>
            <a:ext cx="0" cy="1512887"/>
          </a:xfrm>
          <a:prstGeom prst="line">
            <a:avLst/>
          </a:prstGeom>
          <a:noFill/>
          <a:ln w="19050">
            <a:solidFill>
              <a:srgbClr val="99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>
            <a:off x="5176898" y="4303711"/>
            <a:ext cx="1150938" cy="0"/>
          </a:xfrm>
          <a:prstGeom prst="line">
            <a:avLst/>
          </a:prstGeom>
          <a:noFill/>
          <a:ln w="19050">
            <a:solidFill>
              <a:srgbClr val="99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Line 17"/>
          <p:cNvSpPr>
            <a:spLocks noChangeShapeType="1"/>
          </p:cNvSpPr>
          <p:nvPr/>
        </p:nvSpPr>
        <p:spPr bwMode="auto">
          <a:xfrm flipV="1">
            <a:off x="6327836" y="3511549"/>
            <a:ext cx="0" cy="792162"/>
          </a:xfrm>
          <a:prstGeom prst="line">
            <a:avLst/>
          </a:prstGeom>
          <a:noFill/>
          <a:ln w="19050">
            <a:solidFill>
              <a:srgbClr val="99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286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数字</a:t>
            </a:r>
            <a:r>
              <a:rPr lang="zh-CN" altLang="en-US" dirty="0"/>
              <a:t>旋转</a:t>
            </a:r>
            <a:r>
              <a:rPr lang="zh-CN" altLang="en-US" dirty="0" smtClean="0"/>
              <a:t>方阵设计思路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10643088" y="5945188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62</a:t>
            </a:fld>
            <a:endParaRPr lang="zh-CN" altLang="en-US"/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921" y="827821"/>
            <a:ext cx="282892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9461987" y="3342421"/>
            <a:ext cx="20875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400" b="1">
                <a:solidFill>
                  <a:srgbClr val="FF33CC"/>
                </a:solidFill>
                <a:latin typeface="Times New Roman" panose="02020603050405020304" pitchFamily="18" charset="0"/>
              </a:rPr>
              <a:t>A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1">
                <a:solidFill>
                  <a:srgbClr val="000099"/>
                </a:solidFill>
                <a:latin typeface="Times New Roman" panose="02020603050405020304" pitchFamily="18" charset="0"/>
              </a:rPr>
              <a:t>B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sz="2400" b="1">
                <a:solidFill>
                  <a:srgbClr val="FF9900"/>
                </a:solidFill>
                <a:latin typeface="Times New Roman" panose="02020603050405020304" pitchFamily="18" charset="0"/>
              </a:rPr>
              <a:t>D</a:t>
            </a:r>
            <a:r>
              <a:rPr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四个区域</a:t>
            </a:r>
          </a:p>
        </p:txBody>
      </p:sp>
      <p:pic>
        <p:nvPicPr>
          <p:cNvPr id="8" name="Picture 2" descr="https://img-blog.csdn.net/20150616192607959?watermark/2/text/aHR0cDovL2Jsb2cuY3Nkbi5uZXQvdTAxMzIzMjc0MA==/font/5a6L5L2T/fontsize/400/fill/I0JBQkFCMA==/dissolve/70/gravity/Cen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8487" y="4164746"/>
            <a:ext cx="2073275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156674" y="723705"/>
            <a:ext cx="8563949" cy="5304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用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二维数组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data[N][N]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N×N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的方阵，观察方阵中数字的规律，从外层向里层填数。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设变量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size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表示方阵的大小，则初始时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size = N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，填完一层则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size = size - 2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；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设变量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begin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表示每一层的起始位置，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变量 </a:t>
            </a:r>
            <a:r>
              <a:rPr lang="en-US" altLang="zh-CN" sz="2400" dirty="0" err="1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和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j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分别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表示行号和列号，则每一层初始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时 </a:t>
            </a:r>
            <a:r>
              <a:rPr lang="en-US" altLang="zh-CN" sz="2400" dirty="0" err="1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= begin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j = begin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将每一层的填数过程分为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四个区域，则每个区域需要填写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size – 1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个数字，填写区域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时列号不变行号加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，填写区域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时行号不变列号加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，填写区域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时列号不变行号减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，填写区域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D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时行号不变列号减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。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ü"/>
              <a:defRPr/>
            </a:pP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递归的结束条件是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size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等于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或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size </a:t>
            </a:r>
            <a:r>
              <a:rPr lang="zh-CN" altLang="en-US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等于 </a:t>
            </a:r>
            <a:r>
              <a:rPr lang="en-US" altLang="zh-CN" sz="2400" dirty="0" smtClean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anose="02020603050405020304" pitchFamily="18" charset="0"/>
              </a:rPr>
              <a:t>。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endParaRPr lang="zh-CN" altLang="en-US" dirty="0">
              <a:latin typeface="微软雅黑" pitchFamily="34" charset="-122"/>
              <a:ea typeface="微软雅黑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098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数字</a:t>
            </a:r>
            <a:r>
              <a:rPr lang="zh-CN" altLang="en-US" dirty="0"/>
              <a:t>旋转</a:t>
            </a:r>
            <a:r>
              <a:rPr lang="zh-CN" altLang="en-US" dirty="0" smtClean="0"/>
              <a:t>方阵</a:t>
            </a:r>
            <a:r>
              <a:rPr lang="zh-CN" altLang="en-US" dirty="0"/>
              <a:t>算法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9963150" y="6356350"/>
            <a:ext cx="1390649" cy="365125"/>
          </a:xfrm>
        </p:spPr>
        <p:txBody>
          <a:bodyPr/>
          <a:lstStyle/>
          <a:p>
            <a:fld id="{A03702F3-900D-43A0-BC51-78E37C591078}" type="slidenum">
              <a:rPr lang="zh-CN" altLang="en-US" smtClean="0"/>
              <a:pPr/>
              <a:t>63</a:t>
            </a:fld>
            <a:endParaRPr lang="zh-CN" altLang="en-US"/>
          </a:p>
        </p:txBody>
      </p:sp>
      <p:sp>
        <p:nvSpPr>
          <p:cNvPr id="5" name="矩形 2"/>
          <p:cNvSpPr>
            <a:spLocks noChangeArrowheads="1"/>
          </p:cNvSpPr>
          <p:nvPr/>
        </p:nvSpPr>
        <p:spPr bwMode="auto">
          <a:xfrm>
            <a:off x="317324" y="741150"/>
            <a:ext cx="5828294" cy="600164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int data[n][n]={0};  </a:t>
            </a:r>
          </a:p>
          <a:p>
            <a:r>
              <a:rPr lang="zh-CN" altLang="en-US" dirty="0"/>
              <a:t>void full(int number,int begin,int size){  </a:t>
            </a:r>
          </a:p>
          <a:p>
            <a:r>
              <a:rPr lang="zh-CN" altLang="en-US" dirty="0"/>
              <a:t>    int i,j,k;  </a:t>
            </a:r>
          </a:p>
          <a:p>
            <a:r>
              <a:rPr lang="zh-CN" altLang="en-US" dirty="0"/>
              <a:t>    if(size==0)  </a:t>
            </a:r>
          </a:p>
          <a:p>
            <a:r>
              <a:rPr lang="zh-CN" altLang="en-US" dirty="0"/>
              <a:t>    </a:t>
            </a:r>
            <a:r>
              <a:rPr lang="zh-CN" altLang="en-US" dirty="0" smtClean="0"/>
              <a:t>    return</a:t>
            </a:r>
            <a:r>
              <a:rPr lang="zh-CN" altLang="en-US" dirty="0"/>
              <a:t>;  </a:t>
            </a:r>
          </a:p>
          <a:p>
            <a:r>
              <a:rPr lang="zh-CN" altLang="en-US" dirty="0"/>
              <a:t>    if(size==1){  </a:t>
            </a:r>
          </a:p>
          <a:p>
            <a:r>
              <a:rPr lang="zh-CN" altLang="en-US" dirty="0"/>
              <a:t>        data[begin][begin]=number;  </a:t>
            </a:r>
          </a:p>
          <a:p>
            <a:r>
              <a:rPr lang="zh-CN" altLang="en-US" dirty="0"/>
              <a:t>        return;  </a:t>
            </a:r>
          </a:p>
          <a:p>
            <a:r>
              <a:rPr lang="zh-CN" altLang="en-US" dirty="0"/>
              <a:t>    }  </a:t>
            </a:r>
          </a:p>
          <a:p>
            <a:r>
              <a:rPr lang="zh-CN" altLang="en-US" dirty="0"/>
              <a:t>    i=begin;  </a:t>
            </a:r>
            <a:r>
              <a:rPr lang="zh-CN" altLang="en-US" dirty="0" smtClean="0"/>
              <a:t>   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zh-CN" altLang="en-US" dirty="0" smtClean="0"/>
              <a:t> </a:t>
            </a:r>
            <a:r>
              <a:rPr lang="zh-CN" altLang="en-US" dirty="0"/>
              <a:t>j=begin;  </a:t>
            </a:r>
          </a:p>
          <a:p>
            <a:r>
              <a:rPr lang="zh-CN" altLang="en-US" dirty="0"/>
              <a:t>    for(k=0;k&lt;size-1;k++){  </a:t>
            </a:r>
          </a:p>
          <a:p>
            <a:r>
              <a:rPr lang="zh-CN" altLang="en-US" dirty="0"/>
              <a:t>        data[i][j]=number;  </a:t>
            </a:r>
          </a:p>
          <a:p>
            <a:r>
              <a:rPr lang="zh-CN" altLang="en-US" dirty="0"/>
              <a:t>        number++;  </a:t>
            </a:r>
          </a:p>
          <a:p>
            <a:r>
              <a:rPr lang="zh-CN" altLang="en-US" dirty="0"/>
              <a:t>        i++;  </a:t>
            </a:r>
          </a:p>
          <a:p>
            <a:r>
              <a:rPr lang="zh-CN" altLang="en-US" dirty="0"/>
              <a:t>    }  </a:t>
            </a:r>
            <a:r>
              <a:rPr lang="zh-CN" altLang="en-US" dirty="0" smtClean="0"/>
              <a:t>    </a:t>
            </a:r>
            <a:endParaRPr lang="zh-CN" altLang="en-US" dirty="0"/>
          </a:p>
        </p:txBody>
      </p:sp>
      <p:sp>
        <p:nvSpPr>
          <p:cNvPr id="6" name="矩形 4"/>
          <p:cNvSpPr>
            <a:spLocks noChangeArrowheads="1"/>
          </p:cNvSpPr>
          <p:nvPr/>
        </p:nvSpPr>
        <p:spPr bwMode="auto">
          <a:xfrm>
            <a:off x="6719777" y="741149"/>
            <a:ext cx="4880344" cy="59400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/>
              <a:t> </a:t>
            </a:r>
            <a:r>
              <a:rPr lang="zh-CN" altLang="en-US" sz="2200" dirty="0"/>
              <a:t>for(k=0;k&lt;size-1;k++){  </a:t>
            </a:r>
          </a:p>
          <a:p>
            <a:r>
              <a:rPr lang="zh-CN" altLang="en-US" sz="2200" dirty="0"/>
              <a:t>        data[i][j]=number;  </a:t>
            </a:r>
          </a:p>
          <a:p>
            <a:r>
              <a:rPr lang="zh-CN" altLang="en-US" sz="2200" dirty="0"/>
              <a:t>        number++;  </a:t>
            </a:r>
          </a:p>
          <a:p>
            <a:r>
              <a:rPr lang="zh-CN" altLang="en-US" sz="2200" dirty="0"/>
              <a:t>        j++;  </a:t>
            </a:r>
          </a:p>
          <a:p>
            <a:r>
              <a:rPr lang="zh-CN" altLang="en-US" sz="2200" dirty="0"/>
              <a:t>    }  </a:t>
            </a:r>
            <a:endParaRPr lang="en-US" altLang="zh-CN" sz="2200" dirty="0" smtClean="0"/>
          </a:p>
          <a:p>
            <a:r>
              <a:rPr lang="zh-CN" altLang="en-US" sz="2200" dirty="0" smtClean="0"/>
              <a:t>for</a:t>
            </a:r>
            <a:r>
              <a:rPr lang="zh-CN" altLang="en-US" sz="2200" dirty="0"/>
              <a:t>(k=0;k&lt;size-1;k++){  </a:t>
            </a:r>
          </a:p>
          <a:p>
            <a:r>
              <a:rPr lang="zh-CN" altLang="en-US" sz="2200" dirty="0"/>
              <a:t>        data[i][j]=number;  </a:t>
            </a:r>
          </a:p>
          <a:p>
            <a:r>
              <a:rPr lang="zh-CN" altLang="en-US" sz="2200" dirty="0"/>
              <a:t>        number++;  </a:t>
            </a:r>
          </a:p>
          <a:p>
            <a:r>
              <a:rPr lang="zh-CN" altLang="en-US" sz="2200" dirty="0"/>
              <a:t>        i--;  </a:t>
            </a:r>
          </a:p>
          <a:p>
            <a:r>
              <a:rPr lang="zh-CN" altLang="en-US" sz="2200" dirty="0"/>
              <a:t>    }  </a:t>
            </a:r>
          </a:p>
          <a:p>
            <a:r>
              <a:rPr lang="zh-CN" altLang="en-US" sz="2200" dirty="0"/>
              <a:t>    for(k=0;k&lt;size-1;k++){  </a:t>
            </a:r>
          </a:p>
          <a:p>
            <a:r>
              <a:rPr lang="zh-CN" altLang="en-US" sz="2200" dirty="0"/>
              <a:t>        data[i][j]=number;  </a:t>
            </a:r>
          </a:p>
          <a:p>
            <a:r>
              <a:rPr lang="zh-CN" altLang="en-US" sz="2200" dirty="0"/>
              <a:t>        number++;  </a:t>
            </a:r>
          </a:p>
          <a:p>
            <a:r>
              <a:rPr lang="zh-CN" altLang="en-US" sz="2200" dirty="0"/>
              <a:t>        j--;  </a:t>
            </a:r>
          </a:p>
          <a:p>
            <a:r>
              <a:rPr lang="zh-CN" altLang="en-US" sz="2200" dirty="0"/>
              <a:t>    }  </a:t>
            </a:r>
          </a:p>
          <a:p>
            <a:r>
              <a:rPr lang="zh-CN" altLang="en-US" dirty="0"/>
              <a:t>    </a:t>
            </a:r>
            <a:r>
              <a:rPr lang="zh-CN" altLang="en-US" b="1" dirty="0">
                <a:solidFill>
                  <a:srgbClr val="C00000"/>
                </a:solidFill>
              </a:rPr>
              <a:t>full(number</a:t>
            </a:r>
            <a:r>
              <a:rPr lang="zh-CN" altLang="en-US" b="1" dirty="0" smtClean="0">
                <a:solidFill>
                  <a:srgbClr val="C00000"/>
                </a:solidFill>
              </a:rPr>
              <a:t>, begin</a:t>
            </a:r>
            <a:r>
              <a:rPr lang="zh-CN" altLang="en-US" b="1" dirty="0">
                <a:solidFill>
                  <a:srgbClr val="C00000"/>
                </a:solidFill>
              </a:rPr>
              <a:t>+1</a:t>
            </a:r>
            <a:r>
              <a:rPr lang="zh-CN" altLang="en-US" b="1" dirty="0" smtClean="0">
                <a:solidFill>
                  <a:srgbClr val="C00000"/>
                </a:solidFill>
              </a:rPr>
              <a:t>, size</a:t>
            </a:r>
            <a:r>
              <a:rPr lang="zh-CN" altLang="en-US" b="1" dirty="0">
                <a:solidFill>
                  <a:srgbClr val="C00000"/>
                </a:solidFill>
              </a:rPr>
              <a:t>-2);   </a:t>
            </a:r>
            <a:r>
              <a:rPr lang="zh-CN" altLang="en-US" dirty="0" smtClean="0"/>
              <a:t> </a:t>
            </a:r>
            <a:endParaRPr lang="zh-CN" altLang="en-US" dirty="0"/>
          </a:p>
          <a:p>
            <a:r>
              <a:rPr lang="zh-CN" altLang="en-US" dirty="0"/>
              <a:t>}  </a:t>
            </a:r>
          </a:p>
        </p:txBody>
      </p:sp>
    </p:spTree>
    <p:extLst>
      <p:ext uri="{BB962C8B-B14F-4D97-AF65-F5344CB8AC3E}">
        <p14:creationId xmlns:p14="http://schemas.microsoft.com/office/powerpoint/2010/main" val="1050136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2.7 </a:t>
            </a:r>
            <a:r>
              <a:rPr lang="zh-CN" altLang="en-US" dirty="0" smtClean="0"/>
              <a:t>最近点对问题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20726"/>
            <a:ext cx="10515600" cy="5443869"/>
          </a:xfrm>
        </p:spPr>
        <p:txBody>
          <a:bodyPr>
            <a:normAutofit/>
          </a:bodyPr>
          <a:lstStyle/>
          <a:p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endParaRPr lang="en-US" altLang="zh-CN" sz="3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给定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平面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点，找其中的一对点，使得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点的所有点对中，该点对的距离最小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严格来说，平面上的最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接近点对可能多于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对。为了简单起见，这里只限于找其中的一对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蛮</a:t>
            </a:r>
            <a:r>
              <a:rPr lang="zh-CN" altLang="en-US" sz="3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力法解决方案</a:t>
            </a:r>
            <a:endParaRPr lang="en-US" altLang="zh-CN" sz="36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算出平面每一个点与其他 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n-1 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距离，找出其中距离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最小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两个点即可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算法复杂性：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sz="3200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6041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</a:t>
            </a:r>
            <a:r>
              <a:rPr lang="zh-CN" altLang="en-US" dirty="0" smtClean="0"/>
              <a:t>问题（续）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882502"/>
            <a:ext cx="10793819" cy="5890438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用分治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法求解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、将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所给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集合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划分成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个子集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，每个子集中约有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n/2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个点。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、在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每个子集中递归地求其最接近的点对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、合并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的结果，求出原集合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的最接近点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分治法求最近点对的关键在于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合并过程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因为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最接近点对未必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就是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最接近点对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如果组成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最接近点对的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个点都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或都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，则问题很容易解决。但是，如果这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个点分别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对于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一点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最多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只有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n/2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点与它构成最接近点对的候选者，仍需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做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/4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计算和比较才能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确定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最接近点对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思路，合并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步骤耗时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，整个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算法所需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计算时间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T(n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)=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O(n</a:t>
            </a:r>
            <a:r>
              <a:rPr lang="en-US" altLang="zh-CN" baseline="30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，不比穷举法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好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因此需要对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合并步骤进行优化，降低其时间复杂性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0230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最近点对问题（续）</a:t>
            </a:r>
          </a:p>
        </p:txBody>
      </p:sp>
      <p:sp>
        <p:nvSpPr>
          <p:cNvPr id="4" name="矩形 3"/>
          <p:cNvSpPr/>
          <p:nvPr/>
        </p:nvSpPr>
        <p:spPr>
          <a:xfrm>
            <a:off x="307975" y="764385"/>
            <a:ext cx="48382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一维情况下的最接近点对的分治法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5" name="AutoShape 2" descr="https://img-my.csdn.net/uploads/201301/09/1357699818_1589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373387"/>
            <a:ext cx="7312715" cy="267812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5"/>
          <p:cNvSpPr/>
          <p:nvPr/>
        </p:nvSpPr>
        <p:spPr>
          <a:xfrm>
            <a:off x="481903" y="4083408"/>
            <a:ext cx="1099454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按这种方法求解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最近对问题的算法效率取决于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的选取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，一个基本要求是遵循平衡子问题的原则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如果选取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m=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max(S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)+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min(S))/2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，则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有可能因集合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中点分布的不均匀而造成子集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的不平衡。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如果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中各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点横坐标的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“中位数”作为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分割点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，则会得到一个平衡的分割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点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使得子集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有个数大致相同的点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标注 6"/>
          <p:cNvSpPr/>
          <p:nvPr/>
        </p:nvSpPr>
        <p:spPr bwMode="auto">
          <a:xfrm>
            <a:off x="7970873" y="488683"/>
            <a:ext cx="4221127" cy="1807163"/>
          </a:xfrm>
          <a:prstGeom prst="wedgeRoundRectCallout">
            <a:avLst>
              <a:gd name="adj1" fmla="val -64839"/>
              <a:gd name="adj2" fmla="val 33134"/>
              <a:gd name="adj3" fmla="val 16667"/>
            </a:avLst>
          </a:prstGeom>
          <a:ln/>
          <a:ex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90000" tIns="46800" rIns="90000" bIns="46800" rtlCol="0" anchor="ctr" anchorCtr="1">
            <a:spAutoFit/>
          </a:bodyPr>
          <a:lstStyle/>
          <a:p>
            <a:pPr marL="90488" indent="-90488" fontAlgn="b"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kumimoji="0"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(p1 p2)</a:t>
            </a:r>
            <a:r>
              <a:rPr kumimoji="0"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(q1 q2)</a:t>
            </a:r>
            <a:r>
              <a:rPr kumimoji="0"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分别是</a:t>
            </a:r>
            <a:r>
              <a:rPr kumimoji="0"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kumimoji="0"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0"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kumimoji="0"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中的最接近点对；</a:t>
            </a:r>
            <a:r>
              <a:rPr kumimoji="0"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p3=max(S1), q3=min(S2)</a:t>
            </a:r>
            <a:r>
              <a:rPr kumimoji="0"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p1 p2</a:t>
            </a:r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q1 q2</a:t>
            </a:r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(p3,q3)</a:t>
            </a:r>
            <a:r>
              <a:rPr lang="zh-CN" alt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中的最接近点对构成原问题的解</a:t>
            </a:r>
            <a:endParaRPr kumimoji="0" lang="zh-CN" alt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689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最近点对问题（续）</a:t>
            </a:r>
          </a:p>
        </p:txBody>
      </p:sp>
      <p:sp>
        <p:nvSpPr>
          <p:cNvPr id="4" name="矩形 3"/>
          <p:cNvSpPr/>
          <p:nvPr/>
        </p:nvSpPr>
        <p:spPr>
          <a:xfrm>
            <a:off x="648102" y="732486"/>
            <a:ext cx="48382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二维情况下的分治法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98203" y="1154404"/>
            <a:ext cx="1078495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选取垂直线 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x=c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来作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为分割线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，将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分割为点的个数大致相同的两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个子集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中各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点横坐标的“中位数”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54169" y="3784098"/>
            <a:ext cx="5936513" cy="2823177"/>
            <a:chOff x="836427" y="3302834"/>
            <a:chExt cx="5936513" cy="2823177"/>
          </a:xfrm>
        </p:grpSpPr>
        <p:pic>
          <p:nvPicPr>
            <p:cNvPr id="10242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6427" y="3302834"/>
              <a:ext cx="5936513" cy="2256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1977655" y="5664346"/>
              <a:ext cx="32535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分治法应用于二维情况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489403" y="3338623"/>
            <a:ext cx="3529343" cy="3434316"/>
            <a:chOff x="7825895" y="2765352"/>
            <a:chExt cx="3632126" cy="3729991"/>
          </a:xfrm>
        </p:grpSpPr>
        <p:pic>
          <p:nvPicPr>
            <p:cNvPr id="10243" name="Picture 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5895" y="2765352"/>
              <a:ext cx="2962275" cy="30384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8067431" y="5664346"/>
              <a:ext cx="339059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对于跨两个子集的每个点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，需要检查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个点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698203" y="1958164"/>
            <a:ext cx="1041281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按照分治法递归求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出左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子集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右子集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S2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的最近对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。因为距离最近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的两个点可能位于分界线的两侧，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所以在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合并较小子问题的解时，需要增加一个步骤来检查是否存在这样的点。显然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可以把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这种尝试限制在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 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x=c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对称的、宽度为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2d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d1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d2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最小值）的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垂直带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39153" y="5929809"/>
            <a:ext cx="17437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复杂性：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</a:t>
            </a:r>
            <a:r>
              <a:rPr lang="en-US" altLang="zh-CN" sz="2400" dirty="0" err="1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nlog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(n))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9928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6804" y="8124"/>
            <a:ext cx="9574950" cy="685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矩形 3"/>
          <p:cNvSpPr/>
          <p:nvPr/>
        </p:nvSpPr>
        <p:spPr>
          <a:xfrm>
            <a:off x="21266" y="163700"/>
            <a:ext cx="24454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求解最近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点对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问题的伪代码（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算法设计与分析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版，王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晓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东编著）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769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58216"/>
            <a:ext cx="10515600" cy="3195654"/>
          </a:xfrm>
        </p:spPr>
        <p:txBody>
          <a:bodyPr>
            <a:noAutofit/>
          </a:bodyPr>
          <a:lstStyle/>
          <a:p>
            <a:pPr marL="0" indent="0">
              <a:lnSpc>
                <a:spcPts val="5000"/>
              </a:lnSpc>
              <a:spcBef>
                <a:spcPts val="0"/>
              </a:spcBef>
              <a:buNone/>
            </a:pPr>
            <a:r>
              <a:rPr lang="zh-CN" altLang="en-US" sz="2600" dirty="0" smtClean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凸包问题的分治法求解</a:t>
            </a:r>
            <a:endParaRPr lang="en-US" altLang="zh-CN" sz="2600" dirty="0" smtClean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ts val="5000"/>
              </a:lnSpc>
              <a:spcBef>
                <a:spcPts val="0"/>
              </a:spcBef>
              <a:buNone/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）把给定点集中的点在横坐标方向上按照 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大小排序（如果 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 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坐标相同则 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Y 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坐标小的放在后面）。设点集的第一个点为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最后一个点为</a:t>
            </a:r>
            <a:r>
              <a:rPr lang="en-US" altLang="zh-CN" sz="26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，这样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将点集分解成两个部分，一个是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上方（左边）的点，另一个是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下方（右边）的点。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</a:t>
            </a:r>
            <a:r>
              <a:rPr lang="en-US" altLang="zh-CN" sz="26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必定是凸包的两个顶点。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076325" y="150811"/>
            <a:ext cx="5519028" cy="393701"/>
          </a:xfrm>
        </p:spPr>
        <p:txBody>
          <a:bodyPr/>
          <a:lstStyle/>
          <a:p>
            <a:r>
              <a:rPr lang="en-US" altLang="zh-CN" dirty="0" smtClean="0"/>
              <a:t>2.8 </a:t>
            </a:r>
            <a:r>
              <a:rPr lang="zh-CN" altLang="en-US" dirty="0" smtClean="0"/>
              <a:t>凸包问题</a:t>
            </a:r>
            <a:endParaRPr lang="zh-CN" altLang="en-US" sz="2800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738" y="4007032"/>
            <a:ext cx="5305425" cy="2352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7667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8349" y="1045057"/>
            <a:ext cx="7253177" cy="5302579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）分别在上边的凸包和下边的凸包中查找距离直线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最远的点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Pmax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Pmax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一定是凸包上的点。这样就将上面的凸包分成三个部分，一个是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左边的部分，另一个是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三角形内的部分，还有一部分是</a:t>
            </a:r>
            <a:r>
              <a:rPr lang="en-US" altLang="zh-CN" sz="26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en-US" altLang="zh-CN" sz="26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右边的部分。</a:t>
            </a:r>
            <a:endParaRPr lang="en-US" altLang="zh-CN" sz="26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显然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内的点不可能是凸包上的点，但之外的点也不可能全是凸包上的点。对于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左边的点，可采用同样的方法求新的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，对于</a:t>
            </a:r>
            <a:r>
              <a:rPr lang="en-US" altLang="zh-CN" sz="26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en-US" altLang="zh-CN" sz="26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右边的点也采用同样的方法求新的</a:t>
            </a:r>
            <a:r>
              <a:rPr lang="en-US" altLang="zh-CN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6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6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。递归处理，直到处理左边或者右边没有点则结束。</a:t>
            </a: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076325" y="150811"/>
            <a:ext cx="5519028" cy="393701"/>
          </a:xfrm>
        </p:spPr>
        <p:txBody>
          <a:bodyPr/>
          <a:lstStyle/>
          <a:p>
            <a:r>
              <a:rPr lang="zh-CN" altLang="en-US" dirty="0"/>
              <a:t>凸包</a:t>
            </a:r>
            <a:r>
              <a:rPr lang="zh-CN" altLang="en-US" dirty="0" smtClean="0"/>
              <a:t>问题（续）</a:t>
            </a:r>
            <a:endParaRPr lang="zh-CN" altLang="en-US" sz="28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509" y="3641651"/>
            <a:ext cx="4723274" cy="236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121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0042" y="4933763"/>
            <a:ext cx="10522517" cy="1530831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如果行列式的值为正，则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位于直线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的左侧，反之在其右侧。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同样在利用上述公式判断点与直线的位置关系的同时，还可利用面积的求解方法求得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max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到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aseline="-2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直线的距离。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1524725" y="3425730"/>
                <a:ext cx="10243458" cy="11738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2400" dirty="0" smtClean="0"/>
                  <a:t>0.5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latin typeface="Cambria Math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=0.5∗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（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1+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3−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2−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725" y="3425730"/>
                <a:ext cx="10243458" cy="1173847"/>
              </a:xfrm>
              <a:prstGeom prst="rect">
                <a:avLst/>
              </a:prstGeom>
              <a:blipFill>
                <a:blip r:embed="rId2"/>
                <a:stretch>
                  <a:fillRect l="-17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/>
              <p:cNvSpPr txBox="1">
                <a:spLocks/>
              </p:cNvSpPr>
              <p:nvPr/>
            </p:nvSpPr>
            <p:spPr>
              <a:xfrm>
                <a:off x="990600" y="718457"/>
                <a:ext cx="10515600" cy="25776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</a:pP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en-US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这里同样涉及到如何判断某个点在某条直线的左边或者右边的问题。除了可以采用第三章的求解方法之外，还可采用如下的方法：</a:t>
                </a:r>
                <a:endParaRPr lang="en-US" altLang="zh-CN" sz="2600" dirty="0" smtClean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600"/>
                  </a:spcBef>
                  <a:buFont typeface="Arial" panose="020B0604020202020204" pitchFamily="34" charset="0"/>
                  <a:buNone/>
                </a:pP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</a:t>
                </a:r>
                <a:r>
                  <a:rPr lang="zh-CN" altLang="en-US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如果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6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(x</a:t>
                </a:r>
                <a:r>
                  <a:rPr lang="en-US" altLang="zh-CN" sz="26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,y</a:t>
                </a:r>
                <a:r>
                  <a:rPr lang="en-US" altLang="zh-CN" sz="26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), </a:t>
                </a:r>
                <a:r>
                  <a:rPr lang="en-US" altLang="zh-CN" sz="26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P</a:t>
                </a:r>
                <a:r>
                  <a:rPr lang="en-US" altLang="zh-CN" sz="2600" baseline="-25000" dirty="0" err="1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(x</a:t>
                </a:r>
                <a:r>
                  <a:rPr lang="en-US" altLang="zh-CN" sz="26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,y</a:t>
                </a:r>
                <a:r>
                  <a:rPr lang="en-US" altLang="zh-CN" sz="26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), P</a:t>
                </a:r>
                <a:r>
                  <a:rPr lang="en-US" altLang="zh-CN" sz="26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max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(x</a:t>
                </a:r>
                <a:r>
                  <a:rPr lang="en-US" altLang="zh-CN" sz="26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,y</a:t>
                </a:r>
                <a:r>
                  <a:rPr lang="en-US" altLang="zh-CN" sz="2600" baseline="-250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是平面上的任意三个点，那么三角形</a:t>
                </a:r>
                <a14:m>
                  <m:oMath xmlns:m="http://schemas.openxmlformats.org/officeDocument/2006/math">
                    <m:r>
                      <a:rPr lang="zh-CN" altLang="en-US" sz="2600" i="1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zh-CN" sz="26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600" i="1" baseline="-2500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6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600" i="1" baseline="-25000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altLang="zh-CN" sz="260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600" i="1" baseline="-2500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600" dirty="0" smtClean="0"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的面积可以用如下的行列式的绝对值进行计算：</a:t>
                </a:r>
                <a:endParaRPr lang="zh-CN" altLang="en-US" sz="2600" dirty="0"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718457"/>
                <a:ext cx="10515600" cy="2577636"/>
              </a:xfrm>
              <a:prstGeom prst="rect">
                <a:avLst/>
              </a:prstGeom>
              <a:blipFill rotWithShape="1">
                <a:blip r:embed="rId3"/>
                <a:stretch>
                  <a:fillRect l="-1043" r="-3536" b="-18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076325" y="150811"/>
            <a:ext cx="5519028" cy="393701"/>
          </a:xfrm>
        </p:spPr>
        <p:txBody>
          <a:bodyPr/>
          <a:lstStyle/>
          <a:p>
            <a:r>
              <a:rPr lang="zh-CN" altLang="en-US" dirty="0"/>
              <a:t>凸包</a:t>
            </a:r>
            <a:r>
              <a:rPr lang="zh-CN" altLang="en-US" dirty="0" smtClean="0"/>
              <a:t>问题（续）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02387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2.9 </a:t>
            </a:r>
            <a:r>
              <a:rPr lang="zh-CN" altLang="en-US" dirty="0" smtClean="0"/>
              <a:t>其他问题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20726"/>
            <a:ext cx="10515600" cy="5156237"/>
          </a:xfrm>
        </p:spPr>
        <p:txBody>
          <a:bodyPr>
            <a:normAutofit/>
          </a:bodyPr>
          <a:lstStyle/>
          <a:p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二叉树遍历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整数乘法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Strassen</a:t>
            </a:r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乘法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……       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166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本章小结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6930"/>
            <a:ext cx="10515600" cy="5220033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一、分治法概述</a:t>
            </a:r>
            <a:endParaRPr lang="en-US" altLang="zh-CN" sz="32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、典型的分治算法</a:t>
            </a:r>
          </a:p>
        </p:txBody>
      </p:sp>
    </p:spTree>
    <p:extLst>
      <p:ext uri="{BB962C8B-B14F-4D97-AF65-F5344CB8AC3E}">
        <p14:creationId xmlns:p14="http://schemas.microsoft.com/office/powerpoint/2010/main" val="242295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rgbClr val="C0C0C0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wrap="square" lIns="90000" tIns="46800" rIns="90000" bIns="46800" anchor="ctr" anchorCtr="1">
        <a:spAutoFit/>
      </a:bodyPr>
      <a:lstStyle>
        <a:defPPr marL="90488" indent="-90488" fontAlgn="b">
          <a:spcBef>
            <a:spcPts val="1200"/>
          </a:spcBef>
          <a:spcAft>
            <a:spcPts val="200"/>
          </a:spcAft>
          <a:buClr>
            <a:schemeClr val="accent1"/>
          </a:buClr>
          <a:buSzPct val="100000"/>
          <a:defRPr kumimoji="0" b="1" dirty="0">
            <a:solidFill>
              <a:srgbClr val="404040"/>
            </a:solidFill>
            <a:latin typeface="Calibri" panose="020F0502020204030204" pitchFamily="34" charset="0"/>
          </a:defRPr>
        </a:defPPr>
      </a:lstStyle>
    </a:sp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13966</TotalTime>
  <Words>7992</Words>
  <Application>Microsoft Office PowerPoint</Application>
  <PresentationFormat>自定义</PresentationFormat>
  <Paragraphs>693</Paragraphs>
  <Slides>73</Slides>
  <Notes>4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73</vt:i4>
      </vt:variant>
    </vt:vector>
  </HeadingPairs>
  <TitlesOfParts>
    <vt:vector size="79" baseType="lpstr">
      <vt:lpstr>Office 主题</vt:lpstr>
      <vt:lpstr>自定义设计方案</vt:lpstr>
      <vt:lpstr>公式</vt:lpstr>
      <vt:lpstr>BMP 图象</vt:lpstr>
      <vt:lpstr>Equation</vt:lpstr>
      <vt:lpstr>Equation.3</vt:lpstr>
      <vt:lpstr>分治法 Divide and Conquer Strategies</vt:lpstr>
      <vt:lpstr>一、分治法概述</vt:lpstr>
      <vt:lpstr>1.1 分治法定义</vt:lpstr>
      <vt:lpstr>1.2 分治策略的基本思想</vt:lpstr>
      <vt:lpstr>分治策略的基本思想（续）</vt:lpstr>
      <vt:lpstr>分治策略的基本思想（续）</vt:lpstr>
      <vt:lpstr>1.3 分治法算法框架</vt:lpstr>
      <vt:lpstr>分治法算法框架（续）</vt:lpstr>
      <vt:lpstr>1.4 分治法实例——计算 an</vt:lpstr>
      <vt:lpstr>分治法实例—求最大最小值</vt:lpstr>
      <vt:lpstr>分治法实例—求 Fibonacii 数列</vt:lpstr>
      <vt:lpstr>二、典型的分治算法</vt:lpstr>
      <vt:lpstr>2.1 二分搜索</vt:lpstr>
      <vt:lpstr>二分搜索实例</vt:lpstr>
      <vt:lpstr>二分搜索算法（非递归形式）</vt:lpstr>
      <vt:lpstr>二分搜索算法（递归形式）</vt:lpstr>
      <vt:lpstr>二分搜索算法复杂性分析</vt:lpstr>
      <vt:lpstr>2.2 合（归）并排序</vt:lpstr>
      <vt:lpstr>合并排序</vt:lpstr>
      <vt:lpstr>合并排序算法描述</vt:lpstr>
      <vt:lpstr>合并排序算法描述</vt:lpstr>
      <vt:lpstr>PowerPoint 演示文稿</vt:lpstr>
      <vt:lpstr>合并排序复杂度分析</vt:lpstr>
      <vt:lpstr>合并排序的特点和改进</vt:lpstr>
      <vt:lpstr>合并排序的扩展—逆序对计数问题</vt:lpstr>
      <vt:lpstr>2.3 快速排序</vt:lpstr>
      <vt:lpstr>快速排序算法分析</vt:lpstr>
      <vt:lpstr>快速排序算法描述</vt:lpstr>
      <vt:lpstr>快速排序算法描述（续）</vt:lpstr>
      <vt:lpstr>PowerPoint 演示文稿</vt:lpstr>
      <vt:lpstr>快速排序算法复杂性分析（最好情况）</vt:lpstr>
      <vt:lpstr>快速排序算法复杂性分析（最坏情况）</vt:lpstr>
      <vt:lpstr>快速排序算法复杂性分析（平均情况）</vt:lpstr>
      <vt:lpstr>快速排序算法的改进</vt:lpstr>
      <vt:lpstr>快速排序的扩展—次序选择问题</vt:lpstr>
      <vt:lpstr>次序选择问题伪代码</vt:lpstr>
      <vt:lpstr>排序算法的稳定性</vt:lpstr>
      <vt:lpstr>排序算法比较</vt:lpstr>
      <vt:lpstr>2.4 棋盘覆盖问题</vt:lpstr>
      <vt:lpstr>棋盘覆盖问题分析</vt:lpstr>
      <vt:lpstr>棋盘覆盖问题分析（续）</vt:lpstr>
      <vt:lpstr>棋盘覆盖问题分析（续）</vt:lpstr>
      <vt:lpstr>棋盘覆盖问题算法演示</vt:lpstr>
      <vt:lpstr>棋盘覆盖问题算法演示（续）</vt:lpstr>
      <vt:lpstr>棋盘覆盖问题算法演示（续）</vt:lpstr>
      <vt:lpstr>棋盘覆盖问题算法演示（续）</vt:lpstr>
      <vt:lpstr>棋盘覆盖问题算法演示（续）</vt:lpstr>
      <vt:lpstr>棋盘覆盖问题算法设计</vt:lpstr>
      <vt:lpstr>棋盘覆盖问题算法描述</vt:lpstr>
      <vt:lpstr>棋盘覆盖问题算法描述（续）</vt:lpstr>
      <vt:lpstr>棋盘覆盖问题算法描述（续）</vt:lpstr>
      <vt:lpstr>棋盘覆盖问题复杂性分析</vt:lpstr>
      <vt:lpstr>2.5 循环赛日程表问题</vt:lpstr>
      <vt:lpstr>循环赛日程表问题算法分析</vt:lpstr>
      <vt:lpstr>循环赛日程表问题实例</vt:lpstr>
      <vt:lpstr>循环赛日程表问题实例（续）</vt:lpstr>
      <vt:lpstr>循环赛日程表问题算法描述（迭代法）</vt:lpstr>
      <vt:lpstr>循环赛日程表问题算法描述（迭代法）（续）</vt:lpstr>
      <vt:lpstr>循环赛日程表问题算法描述（递归法）</vt:lpstr>
      <vt:lpstr>循环赛日程表问题复杂度分析</vt:lpstr>
      <vt:lpstr>2.6 数字旋转方阵问题</vt:lpstr>
      <vt:lpstr>数字旋转方阵设计思路</vt:lpstr>
      <vt:lpstr>数字旋转方阵算法</vt:lpstr>
      <vt:lpstr>2.7 最近点对问题</vt:lpstr>
      <vt:lpstr>最近点对问题（续）</vt:lpstr>
      <vt:lpstr>最近点对问题（续）</vt:lpstr>
      <vt:lpstr>最近点对问题（续）</vt:lpstr>
      <vt:lpstr>PowerPoint 演示文稿</vt:lpstr>
      <vt:lpstr>2.8 凸包问题</vt:lpstr>
      <vt:lpstr>凸包问题（续）</vt:lpstr>
      <vt:lpstr>凸包问题（续）</vt:lpstr>
      <vt:lpstr>2.9 其他问题</vt:lpstr>
      <vt:lpstr>本章小结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算法分析与设计</dc:title>
  <dc:creator>黄海于</dc:creator>
  <cp:lastModifiedBy>Administrator</cp:lastModifiedBy>
  <cp:revision>576</cp:revision>
  <dcterms:created xsi:type="dcterms:W3CDTF">2015-08-17T08:34:46Z</dcterms:created>
  <dcterms:modified xsi:type="dcterms:W3CDTF">2026-04-27T03:13:40Z</dcterms:modified>
</cp:coreProperties>
</file>