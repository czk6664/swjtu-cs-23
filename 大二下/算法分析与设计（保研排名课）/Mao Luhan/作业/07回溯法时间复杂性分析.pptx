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0" r:id="rId2"/>
    <p:sldId id="261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0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>
      <p:cViewPr>
        <p:scale>
          <a:sx n="130" d="100"/>
          <a:sy n="130" d="100"/>
        </p:scale>
        <p:origin x="-1470" y="-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79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1CD9B-3CF0-4567-90E4-F7BE7212C791}" type="datetimeFigureOut">
              <a:rPr lang="zh-CN" altLang="en-US" smtClean="0"/>
              <a:t>2024-03-26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947E-5A9C-4696-BA3C-BBE71A395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22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8B947E-5A9C-4696-BA3C-BBE71A3957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2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全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471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8914" y="1545636"/>
            <a:ext cx="9162000" cy="17281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000" b="1" dirty="0"/>
          </a:p>
        </p:txBody>
      </p:sp>
      <p:sp>
        <p:nvSpPr>
          <p:cNvPr id="3" name="文本框 118"/>
          <p:cNvSpPr txBox="1"/>
          <p:nvPr userDrawn="1"/>
        </p:nvSpPr>
        <p:spPr>
          <a:xfrm>
            <a:off x="2725226" y="3572312"/>
            <a:ext cx="40270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accent1"/>
                </a:solidFill>
              </a:rPr>
              <a:t>计算机与人工智能学院</a:t>
            </a:r>
            <a:endParaRPr lang="en-US" altLang="zh-CN" sz="2800" dirty="0" smtClean="0">
              <a:solidFill>
                <a:schemeClr val="accent1"/>
              </a:solidFill>
            </a:endParaRPr>
          </a:p>
          <a:p>
            <a:pPr algn="ctr"/>
            <a:r>
              <a:rPr lang="zh-CN" altLang="en-US" sz="2800" dirty="0" smtClean="0">
                <a:solidFill>
                  <a:schemeClr val="accent1"/>
                </a:solidFill>
              </a:rPr>
              <a:t>李晓航</a:t>
            </a:r>
            <a:endParaRPr lang="en-US" altLang="zh-CN" sz="2800" dirty="0" smtClean="0">
              <a:solidFill>
                <a:schemeClr val="accent1"/>
              </a:solidFill>
            </a:endParaRPr>
          </a:p>
          <a:p>
            <a:pPr algn="ctr"/>
            <a:r>
              <a:rPr lang="en-US" altLang="zh-CN" sz="2800" dirty="0" smtClean="0">
                <a:solidFill>
                  <a:schemeClr val="accent1"/>
                </a:solidFill>
              </a:rPr>
              <a:t>xhli_scce@swjtu.edu.cn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4" name="文本框 118"/>
          <p:cNvSpPr txBox="1"/>
          <p:nvPr userDrawn="1"/>
        </p:nvSpPr>
        <p:spPr>
          <a:xfrm>
            <a:off x="35496" y="1059582"/>
            <a:ext cx="46612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000" dirty="0" smtClean="0">
                <a:solidFill>
                  <a:schemeClr val="accent1"/>
                </a:solidFill>
              </a:rPr>
              <a:t>《</a:t>
            </a:r>
            <a:r>
              <a:rPr lang="zh-CN" altLang="en-US" sz="3000" dirty="0" smtClean="0">
                <a:solidFill>
                  <a:schemeClr val="accent1"/>
                </a:solidFill>
              </a:rPr>
              <a:t>算法分析与设计</a:t>
            </a:r>
            <a:r>
              <a:rPr lang="en-US" altLang="zh-CN" sz="3000" dirty="0" smtClean="0">
                <a:solidFill>
                  <a:schemeClr val="accent1"/>
                </a:solidFill>
              </a:rPr>
              <a:t>B》</a:t>
            </a:r>
            <a:endParaRPr lang="zh-CN" altLang="en-US" sz="3000" dirty="0">
              <a:solidFill>
                <a:schemeClr val="accent1"/>
              </a:solidFill>
            </a:endParaRPr>
          </a:p>
        </p:txBody>
      </p:sp>
      <p:grpSp>
        <p:nvGrpSpPr>
          <p:cNvPr id="5" name="组合 4"/>
          <p:cNvGrpSpPr>
            <a:grpSpLocks noChangeAspect="1"/>
          </p:cNvGrpSpPr>
          <p:nvPr userDrawn="1"/>
        </p:nvGrpSpPr>
        <p:grpSpPr>
          <a:xfrm>
            <a:off x="6752291" y="211524"/>
            <a:ext cx="2110105" cy="422881"/>
            <a:chOff x="504825" y="327025"/>
            <a:chExt cx="2482851" cy="63644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/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/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0" y="1993712"/>
            <a:ext cx="9144000" cy="794063"/>
          </a:xfrm>
        </p:spPr>
        <p:txBody>
          <a:bodyPr anchor="ctr" anchorCtr="0"/>
          <a:lstStyle>
            <a:lvl1pPr marL="0" algn="ctr" defTabSz="914400" rtl="0" eaLnBrk="1" latinLnBrk="0" hangingPunct="1">
              <a:defRPr lang="zh-CN" altLang="en-US" sz="4400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0463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（带底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5304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>
            <a:cxnSpLocks/>
          </p:cNvCxnSpPr>
          <p:nvPr/>
        </p:nvCxnSpPr>
        <p:spPr>
          <a:xfrm>
            <a:off x="821190" y="787686"/>
            <a:ext cx="7848872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Shape"/>
          <p:cNvSpPr>
            <a:spLocks noChangeAspect="1"/>
          </p:cNvSpPr>
          <p:nvPr/>
        </p:nvSpPr>
        <p:spPr bwMode="auto">
          <a:xfrm>
            <a:off x="179512" y="402313"/>
            <a:ext cx="608280" cy="297230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标题占位符 1"/>
          <p:cNvSpPr>
            <a:spLocks noGrp="1"/>
          </p:cNvSpPr>
          <p:nvPr>
            <p:ph type="title"/>
          </p:nvPr>
        </p:nvSpPr>
        <p:spPr>
          <a:xfrm>
            <a:off x="821190" y="199167"/>
            <a:ext cx="7848872" cy="586846"/>
          </a:xfrm>
          <a:prstGeom prst="rect">
            <a:avLst/>
          </a:prstGeom>
        </p:spPr>
        <p:txBody>
          <a:bodyPr vert="horz" lIns="91438" tIns="45719" rIns="91438" bIns="45719" rtlCol="0" anchor="b">
            <a:noAutofit/>
          </a:bodyPr>
          <a:lstStyle>
            <a:lvl1pPr>
              <a:defRPr lang="zh-CN" altLang="en-US" sz="3200" b="0" kern="1200" baseline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defTabSz="514325"/>
            <a:r>
              <a:rPr lang="zh-CN" altLang="en-US" dirty="0"/>
              <a:t>单击此处编辑母版标题样式</a:t>
            </a:r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12526" y="874156"/>
            <a:ext cx="7859216" cy="3984342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Clr>
                <a:schemeClr val="accent6"/>
              </a:buClr>
              <a:buSzPct val="80000"/>
              <a:buFont typeface="Wingdings" panose="05000000000000000000" pitchFamily="2" charset="2"/>
              <a:buChar char="n"/>
              <a:defRPr sz="3200"/>
            </a:lvl1pPr>
            <a:lvl2pPr marL="685800" indent="-342900">
              <a:lnSpc>
                <a:spcPct val="10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p"/>
              <a:defRPr sz="2800"/>
            </a:lvl2pPr>
            <a:lvl3pPr marL="971550" indent="-285750">
              <a:lnSpc>
                <a:spcPct val="10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p"/>
              <a:defRPr sz="2400"/>
            </a:lvl3pPr>
            <a:lvl4pPr marL="1314450" indent="-285750">
              <a:lnSpc>
                <a:spcPct val="10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p"/>
              <a:defRPr sz="2000"/>
            </a:lvl4pPr>
            <a:lvl5pPr marL="1657350" indent="-285750">
              <a:lnSpc>
                <a:spcPct val="10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p"/>
              <a:defRPr sz="20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27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>
            <a:cxnSpLocks/>
          </p:cNvCxnSpPr>
          <p:nvPr/>
        </p:nvCxnSpPr>
        <p:spPr>
          <a:xfrm>
            <a:off x="821190" y="787686"/>
            <a:ext cx="7848872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Shape"/>
          <p:cNvSpPr>
            <a:spLocks noChangeAspect="1"/>
          </p:cNvSpPr>
          <p:nvPr/>
        </p:nvSpPr>
        <p:spPr bwMode="auto">
          <a:xfrm>
            <a:off x="179512" y="402313"/>
            <a:ext cx="608280" cy="297230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标题占位符 1"/>
          <p:cNvSpPr>
            <a:spLocks noGrp="1"/>
          </p:cNvSpPr>
          <p:nvPr>
            <p:ph type="title"/>
          </p:nvPr>
        </p:nvSpPr>
        <p:spPr>
          <a:xfrm>
            <a:off x="821190" y="199167"/>
            <a:ext cx="7848872" cy="586846"/>
          </a:xfrm>
          <a:prstGeom prst="rect">
            <a:avLst/>
          </a:prstGeom>
        </p:spPr>
        <p:txBody>
          <a:bodyPr vert="horz" lIns="91438" tIns="45719" rIns="91438" bIns="45719" rtlCol="0" anchor="b">
            <a:noAutofit/>
          </a:bodyPr>
          <a:lstStyle>
            <a:lvl1pPr>
              <a:defRPr lang="zh-CN" altLang="en-US" sz="4000" b="0" kern="1200" baseline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defTabSz="514325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0759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CA24C4B-A4AF-4F03-AF29-B206EE65E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7456644C-1AB6-4346-937E-C19FF6EE5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AF92799-0352-45E5-A3AD-54AF5E81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ADA1C934-4946-48B0-8575-3F83F4E13343}" type="datetimeFigureOut">
              <a:rPr lang="zh-CN" altLang="en-US" smtClean="0"/>
              <a:t>2024-03-26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283CB30-C9D4-46AC-88A5-3CB52C07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FFDF5FD-C8DD-4C9B-8165-358836E1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EB71057-2947-44EC-9545-9FD79C94E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49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505" b="56847"/>
          <a:stretch/>
        </p:blipFill>
        <p:spPr>
          <a:xfrm>
            <a:off x="2" y="4081833"/>
            <a:ext cx="9139739" cy="1061668"/>
          </a:xfrm>
          <a:prstGeom prst="rect">
            <a:avLst/>
          </a:prstGeom>
        </p:spPr>
      </p:pic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539751" y="87478"/>
            <a:ext cx="8066398" cy="684050"/>
          </a:xfrm>
          <a:prstGeom prst="rect">
            <a:avLst/>
          </a:prstGeom>
        </p:spPr>
        <p:txBody>
          <a:bodyPr vert="horz" lIns="91438" tIns="45719" rIns="91438" bIns="45719" rtlCol="0" anchor="b">
            <a:noAutofit/>
          </a:bodyPr>
          <a:lstStyle/>
          <a:p>
            <a:pPr lvl="0" defTabSz="514325"/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idx="1"/>
          </p:nvPr>
        </p:nvSpPr>
        <p:spPr>
          <a:xfrm>
            <a:off x="539750" y="861902"/>
            <a:ext cx="8062096" cy="371438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120548" marR="0" lvl="0" indent="-120548" defTabSz="5143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Pct val="80000"/>
              <a:buFont typeface="Wingdings" pitchFamily="2" charset="2"/>
              <a:buChar char="l"/>
              <a:tabLst/>
            </a:pPr>
            <a:r>
              <a:rPr lang="zh-CN" altLang="en-US" dirty="0"/>
              <a:t>单击此处编辑母版文本样式</a:t>
            </a:r>
          </a:p>
          <a:p>
            <a:pPr marL="261857" marR="0" lvl="1" indent="-120548" defTabSz="5143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  <a:tabLst/>
            </a:pPr>
            <a:r>
              <a:rPr lang="zh-CN" altLang="en-US" dirty="0"/>
              <a:t>第二级</a:t>
            </a:r>
          </a:p>
          <a:p>
            <a:pPr marL="377717" marR="0" lvl="2" indent="-120548" defTabSz="5143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  <a:tabLst/>
            </a:pPr>
            <a:r>
              <a:rPr lang="zh-CN" altLang="en-US" dirty="0"/>
              <a:t>第三级</a:t>
            </a:r>
          </a:p>
          <a:p>
            <a:pPr marL="490898" marR="0" lvl="3" indent="-120548" defTabSz="5143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  <a:tabLst/>
            </a:pPr>
            <a:r>
              <a:rPr lang="zh-CN" altLang="en-US" dirty="0"/>
              <a:t>第四级</a:t>
            </a:r>
          </a:p>
          <a:p>
            <a:pPr marL="606758" marR="0" lvl="4" indent="-120548" defTabSz="5143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7171"/>
              </a:buClr>
              <a:buSzTx/>
              <a:tabLst/>
            </a:pPr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065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70" r:id="rId5"/>
    <p:sldLayoutId id="2147483671" r:id="rId6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CN" altLang="en-US" sz="1600" b="1" kern="1200" dirty="0">
          <a:solidFill>
            <a:schemeClr val="tx1"/>
          </a:solidFill>
          <a:latin typeface="+mj-lt"/>
          <a:ea typeface="微软雅黑" pitchFamily="34" charset="-122"/>
          <a:cs typeface="Arial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zh-CN" altLang="en-US" sz="1100" kern="1200" baseline="0" dirty="0">
          <a:solidFill>
            <a:schemeClr val="tx1"/>
          </a:solidFill>
          <a:latin typeface="Arial" pitchFamily="34" charset="0"/>
          <a:ea typeface="微软雅黑" pitchFamily="34" charset="-122"/>
          <a:cs typeface="Arial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900" kern="1200" dirty="0">
          <a:solidFill>
            <a:schemeClr val="tx1"/>
          </a:solidFill>
          <a:latin typeface="Arial" pitchFamily="34" charset="0"/>
          <a:ea typeface="微软雅黑" pitchFamily="34" charset="-122"/>
          <a:cs typeface="Arial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800" kern="1200" dirty="0">
          <a:solidFill>
            <a:schemeClr val="tx1"/>
          </a:solidFill>
          <a:latin typeface="Arial" pitchFamily="34" charset="0"/>
          <a:ea typeface="微软雅黑" pitchFamily="34" charset="-122"/>
          <a:cs typeface="Arial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800" kern="1200" dirty="0">
          <a:solidFill>
            <a:schemeClr val="tx1"/>
          </a:solidFill>
          <a:latin typeface="Arial" pitchFamily="34" charset="0"/>
          <a:ea typeface="微软雅黑" pitchFamily="34" charset="-122"/>
          <a:cs typeface="Arial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800" kern="1200" dirty="0">
          <a:solidFill>
            <a:schemeClr val="tx1"/>
          </a:solidFill>
          <a:latin typeface="Arial" pitchFamily="34" charset="0"/>
          <a:ea typeface="微软雅黑" pitchFamily="34" charset="-122"/>
          <a:cs typeface="Arial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pos="7242" userDrawn="1">
          <p15:clr>
            <a:srgbClr val="F26B43"/>
          </p15:clr>
        </p15:guide>
        <p15:guide id="2" orient="horz" pos="73" userDrawn="1">
          <p15:clr>
            <a:srgbClr val="F26B43"/>
          </p15:clr>
        </p15:guide>
        <p15:guide id="3" orient="horz" pos="640" userDrawn="1">
          <p15:clr>
            <a:srgbClr val="F26B43"/>
          </p15:clr>
        </p15:guide>
        <p15:guide id="4" orient="horz" pos="709" userDrawn="1">
          <p15:clr>
            <a:srgbClr val="F26B43"/>
          </p15:clr>
        </p15:guide>
        <p15:guide id="5" orient="horz" pos="3838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8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回溯</a:t>
            </a:r>
            <a:r>
              <a:rPr lang="zh-CN" altLang="en-US" dirty="0"/>
              <a:t>法时间复杂性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76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回溯</a:t>
            </a:r>
            <a:r>
              <a:rPr lang="zh-CN" altLang="en-US" sz="2800" dirty="0" smtClean="0"/>
              <a:t>法和分治法都是递归算法，但二者的递归过程不同</a:t>
            </a:r>
            <a:endParaRPr lang="en-US" altLang="zh-CN" sz="2800" dirty="0" smtClean="0"/>
          </a:p>
          <a:p>
            <a:pPr lvl="1"/>
            <a:r>
              <a:rPr lang="zh-CN" altLang="en-US" sz="2400" dirty="0"/>
              <a:t>分治</a:t>
            </a:r>
            <a:r>
              <a:rPr lang="zh-CN" altLang="en-US" sz="2400" dirty="0" smtClean="0"/>
              <a:t>法在每次递归时会减小问题的规模，最终减小到可以直接计算的规模（通常为</a:t>
            </a:r>
            <a:r>
              <a:rPr lang="en-US" altLang="zh-CN" sz="2400" dirty="0" smtClean="0"/>
              <a:t>n=1</a:t>
            </a:r>
            <a:r>
              <a:rPr lang="zh-CN" altLang="en-US" sz="2400" dirty="0" smtClean="0"/>
              <a:t>）。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回溯法在每次递归时不会减小问题规模，而是靠增加递归深度最终遍历解空间。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二者的时间复杂性函数（</a:t>
            </a:r>
            <a:r>
              <a:rPr lang="en-US" altLang="zh-CN" sz="2400" dirty="0" smtClean="0"/>
              <a:t>T(n)</a:t>
            </a:r>
            <a:r>
              <a:rPr lang="zh-CN" altLang="en-US" sz="2400" dirty="0" smtClean="0"/>
              <a:t>）也有所不同。</a:t>
            </a:r>
            <a:endParaRPr lang="en-US" altLang="zh-CN" sz="2400" dirty="0" smtClean="0"/>
          </a:p>
          <a:p>
            <a:r>
              <a:rPr lang="zh-CN" altLang="en-US" sz="2800" dirty="0" smtClean="0"/>
              <a:t>注意：</a:t>
            </a:r>
            <a:r>
              <a:rPr lang="zh-CN" altLang="en-US" sz="2800" dirty="0" smtClean="0">
                <a:solidFill>
                  <a:srgbClr val="FF0000"/>
                </a:solidFill>
              </a:rPr>
              <a:t>分析回溯法时间复杂性不用考虑约束函数和限界函数的影响，</a:t>
            </a:r>
            <a:r>
              <a:rPr lang="zh-CN" altLang="en-US" sz="2800" dirty="0" smtClean="0"/>
              <a:t>即分析的是最坏复杂性。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7622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时间复杂性函数递推公式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526" y="874156"/>
            <a:ext cx="8079954" cy="398434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 smtClean="0"/>
              <a:t>分治法时间复杂性函数：</a:t>
            </a:r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T(n) = a*T(n/b)+f(n)   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b&gt;1</a:t>
            </a:r>
            <a:r>
              <a:rPr lang="zh-CN" altLang="en-US" sz="2600" dirty="0" smtClean="0"/>
              <a:t>；</a:t>
            </a:r>
            <a:r>
              <a:rPr lang="en-US" altLang="zh-CN" sz="2600" dirty="0" smtClean="0"/>
              <a:t>f(n)</a:t>
            </a:r>
            <a:r>
              <a:rPr lang="zh-CN" altLang="en-US" sz="2600" dirty="0" smtClean="0"/>
              <a:t>是每轮的复杂性）</a:t>
            </a:r>
            <a:endParaRPr lang="en-US" altLang="zh-CN" sz="2600" dirty="0" smtClean="0"/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T(1) = g(n)                  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g(n)</a:t>
            </a:r>
            <a:r>
              <a:rPr lang="zh-CN" altLang="en-US" sz="2600" dirty="0" smtClean="0"/>
              <a:t>是递归出口的复杂性）</a:t>
            </a:r>
            <a:endParaRPr lang="en-US" altLang="zh-CN" sz="2600" dirty="0" smtClean="0"/>
          </a:p>
          <a:p>
            <a:r>
              <a:rPr lang="zh-CN" altLang="en-US" sz="2400" dirty="0" smtClean="0"/>
              <a:t>回溯法的时间复杂性函数：</a:t>
            </a:r>
            <a:endParaRPr lang="en-US" altLang="zh-CN" sz="2400" dirty="0" smtClean="0"/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</a:t>
            </a:r>
            <a:r>
              <a:rPr lang="en-US" altLang="zh-CN" sz="2600" dirty="0" err="1" smtClean="0">
                <a:solidFill>
                  <a:srgbClr val="0051F2"/>
                </a:solidFill>
              </a:rPr>
              <a:t>n,t</a:t>
            </a:r>
            <a:r>
              <a:rPr lang="en-US" altLang="zh-CN" sz="2600" dirty="0" smtClean="0">
                <a:solidFill>
                  <a:srgbClr val="0051F2"/>
                </a:solidFill>
              </a:rPr>
              <a:t>)=a*T(n,t+1)+f(n)   </a:t>
            </a:r>
            <a:r>
              <a:rPr lang="en-US" altLang="zh-CN" sz="2200" dirty="0" smtClean="0">
                <a:solidFill>
                  <a:srgbClr val="FF0000"/>
                </a:solidFill>
              </a:rPr>
              <a:t>( t </a:t>
            </a:r>
            <a:r>
              <a:rPr lang="zh-CN" altLang="en-US" sz="2200" dirty="0" smtClean="0">
                <a:solidFill>
                  <a:srgbClr val="FF0000"/>
                </a:solidFill>
              </a:rPr>
              <a:t>是递归深度</a:t>
            </a:r>
            <a:r>
              <a:rPr lang="zh-CN" altLang="en-US" sz="2200" dirty="0" smtClean="0"/>
              <a:t>，</a:t>
            </a:r>
            <a:r>
              <a:rPr lang="en-US" altLang="zh-CN" sz="2200" dirty="0" smtClean="0">
                <a:solidFill>
                  <a:srgbClr val="FF0000"/>
                </a:solidFill>
              </a:rPr>
              <a:t>f(n)</a:t>
            </a:r>
            <a:r>
              <a:rPr lang="zh-CN" altLang="en-US" sz="2200" dirty="0" smtClean="0">
                <a:solidFill>
                  <a:srgbClr val="FF0000"/>
                </a:solidFill>
              </a:rPr>
              <a:t>是每轮的复杂性</a:t>
            </a:r>
            <a:r>
              <a:rPr lang="zh-CN" altLang="en-US" sz="2200" dirty="0" smtClean="0"/>
              <a:t>）</a:t>
            </a:r>
            <a:endParaRPr lang="en-US" altLang="zh-CN" sz="2200" dirty="0" smtClean="0"/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</a:t>
            </a:r>
            <a:r>
              <a:rPr lang="en-US" altLang="zh-CN" sz="2600" dirty="0" err="1" smtClean="0">
                <a:solidFill>
                  <a:srgbClr val="0051F2"/>
                </a:solidFill>
              </a:rPr>
              <a:t>n,n</a:t>
            </a:r>
            <a:r>
              <a:rPr lang="en-US" altLang="zh-CN" sz="2600" dirty="0" smtClean="0">
                <a:solidFill>
                  <a:srgbClr val="0051F2"/>
                </a:solidFill>
              </a:rPr>
              <a:t>)=g(n)                  </a:t>
            </a:r>
            <a:r>
              <a:rPr lang="zh-CN" altLang="en-US" sz="2200" dirty="0" smtClean="0"/>
              <a:t>（</a:t>
            </a:r>
            <a:r>
              <a:rPr lang="en-US" altLang="zh-CN" sz="2200" dirty="0" smtClean="0"/>
              <a:t>g(n)</a:t>
            </a:r>
            <a:r>
              <a:rPr lang="zh-CN" altLang="en-US" sz="2200" dirty="0" smtClean="0"/>
              <a:t>是递归出口的复杂性）</a:t>
            </a:r>
            <a:endParaRPr lang="en-US" altLang="zh-CN" sz="2200" dirty="0" smtClean="0"/>
          </a:p>
          <a:p>
            <a:pPr lvl="1"/>
            <a:r>
              <a:rPr lang="en-US" altLang="zh-CN" sz="2000" dirty="0" smtClean="0"/>
              <a:t>t </a:t>
            </a:r>
            <a:r>
              <a:rPr lang="zh-CN" altLang="en-US" sz="2000" dirty="0" smtClean="0"/>
              <a:t>通常从 </a:t>
            </a:r>
            <a:r>
              <a:rPr lang="en-US" altLang="zh-CN" sz="2000" dirty="0" smtClean="0"/>
              <a:t>0 </a:t>
            </a:r>
            <a:r>
              <a:rPr lang="zh-CN" altLang="en-US" sz="2000" dirty="0" smtClean="0"/>
              <a:t>或 </a:t>
            </a:r>
            <a:r>
              <a:rPr lang="en-US" altLang="zh-CN" sz="2000" dirty="0" smtClean="0"/>
              <a:t>1 </a:t>
            </a:r>
            <a:r>
              <a:rPr lang="zh-CN" altLang="en-US" sz="2000" dirty="0" smtClean="0"/>
              <a:t>开始，出口是 </a:t>
            </a:r>
            <a:r>
              <a:rPr lang="en-US" altLang="zh-CN" sz="2000" dirty="0" smtClean="0"/>
              <a:t>t&gt;=n </a:t>
            </a:r>
            <a:r>
              <a:rPr lang="zh-CN" altLang="en-US" sz="2000" dirty="0" smtClean="0"/>
              <a:t>或 </a:t>
            </a:r>
            <a:r>
              <a:rPr lang="en-US" altLang="zh-CN" sz="2000" dirty="0" smtClean="0"/>
              <a:t>t&gt;=n+1</a:t>
            </a:r>
            <a:r>
              <a:rPr lang="zh-CN" altLang="en-US" sz="2000" dirty="0" smtClean="0"/>
              <a:t>。回溯法最终的时间复杂性是</a:t>
            </a:r>
            <a:r>
              <a:rPr lang="en-US" altLang="zh-CN" sz="2000" dirty="0" smtClean="0"/>
              <a:t>T(n,0)</a:t>
            </a:r>
            <a:r>
              <a:rPr lang="zh-CN" altLang="en-US" sz="2000" dirty="0" smtClean="0"/>
              <a:t>或</a:t>
            </a:r>
            <a:r>
              <a:rPr lang="en-US" altLang="zh-CN" sz="2000" dirty="0" smtClean="0"/>
              <a:t>T(n,1)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由于递归时 </a:t>
            </a:r>
            <a:r>
              <a:rPr lang="en-US" altLang="zh-CN" sz="2000" dirty="0" smtClean="0"/>
              <a:t>n </a:t>
            </a:r>
            <a:r>
              <a:rPr lang="zh-CN" altLang="en-US" sz="2000" dirty="0" smtClean="0"/>
              <a:t>不变，因此可以把公式简化为：</a:t>
            </a:r>
            <a:endParaRPr lang="en-US" altLang="zh-CN" sz="2000" dirty="0" smtClean="0"/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T(t</a:t>
            </a:r>
            <a:r>
              <a:rPr lang="en-US" altLang="zh-CN" sz="2600" dirty="0">
                <a:solidFill>
                  <a:srgbClr val="0051F2"/>
                </a:solidFill>
              </a:rPr>
              <a:t>)=</a:t>
            </a:r>
            <a:r>
              <a:rPr lang="en-US" altLang="zh-CN" sz="2600" dirty="0" smtClean="0">
                <a:solidFill>
                  <a:srgbClr val="0051F2"/>
                </a:solidFill>
              </a:rPr>
              <a:t>a*T(t+1</a:t>
            </a:r>
            <a:r>
              <a:rPr lang="en-US" altLang="zh-CN" sz="2600" dirty="0">
                <a:solidFill>
                  <a:srgbClr val="0051F2"/>
                </a:solidFill>
              </a:rPr>
              <a:t>)+f(n</a:t>
            </a:r>
            <a:r>
              <a:rPr lang="en-US" altLang="zh-CN" sz="2600" dirty="0" smtClean="0">
                <a:solidFill>
                  <a:srgbClr val="0051F2"/>
                </a:solidFill>
              </a:rPr>
              <a:t>)     </a:t>
            </a:r>
            <a:r>
              <a:rPr lang="zh-CN" altLang="en-US" sz="2200" dirty="0" smtClean="0">
                <a:solidFill>
                  <a:srgbClr val="FF0000"/>
                </a:solidFill>
              </a:rPr>
              <a:t>（</a:t>
            </a:r>
            <a:r>
              <a:rPr lang="en-US" altLang="zh-CN" sz="2200" dirty="0" smtClean="0">
                <a:solidFill>
                  <a:srgbClr val="FF0000"/>
                </a:solidFill>
              </a:rPr>
              <a:t>a</a:t>
            </a:r>
            <a:r>
              <a:rPr lang="zh-CN" altLang="en-US" sz="2200" dirty="0" smtClean="0">
                <a:solidFill>
                  <a:srgbClr val="FF0000"/>
                </a:solidFill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</a:rPr>
              <a:t>每</a:t>
            </a:r>
            <a:r>
              <a:rPr lang="zh-CN" altLang="en-US" sz="2200" dirty="0" smtClean="0">
                <a:solidFill>
                  <a:srgbClr val="FF0000"/>
                </a:solidFill>
              </a:rPr>
              <a:t>轮</a:t>
            </a:r>
            <a:r>
              <a:rPr lang="zh-CN" altLang="en-US" sz="2200" dirty="0">
                <a:solidFill>
                  <a:srgbClr val="FF0000"/>
                </a:solidFill>
              </a:rPr>
              <a:t>的</a:t>
            </a:r>
            <a:r>
              <a:rPr lang="zh-CN" altLang="en-US" sz="2200" dirty="0" smtClean="0">
                <a:solidFill>
                  <a:srgbClr val="FF0000"/>
                </a:solidFill>
              </a:rPr>
              <a:t>递归数</a:t>
            </a:r>
            <a:r>
              <a:rPr lang="en-US" altLang="zh-CN" sz="2200" dirty="0" smtClean="0">
                <a:solidFill>
                  <a:srgbClr val="FF0000"/>
                </a:solidFill>
              </a:rPr>
              <a:t>, </a:t>
            </a:r>
            <a:r>
              <a:rPr lang="zh-CN" altLang="en-US" sz="2200" dirty="0" smtClean="0">
                <a:solidFill>
                  <a:srgbClr val="FF0000"/>
                </a:solidFill>
              </a:rPr>
              <a:t>可能每轮不同</a:t>
            </a:r>
            <a:r>
              <a:rPr lang="en-US" altLang="zh-CN" sz="2200" dirty="0" smtClean="0">
                <a:solidFill>
                  <a:srgbClr val="FF0000"/>
                </a:solidFill>
              </a:rPr>
              <a:t>)</a:t>
            </a:r>
            <a:endParaRPr lang="en-US" altLang="zh-CN" sz="2600" dirty="0" smtClean="0">
              <a:solidFill>
                <a:srgbClr val="FF0000"/>
              </a:solidFill>
            </a:endParaRPr>
          </a:p>
          <a:p>
            <a:pPr marL="342900" lvl="1" indent="0">
              <a:buNone/>
            </a:pPr>
            <a:r>
              <a:rPr lang="en-US" altLang="zh-CN" sz="2600" dirty="0" smtClean="0">
                <a:solidFill>
                  <a:srgbClr val="0051F2"/>
                </a:solidFill>
              </a:rPr>
              <a:t>T(n) = g(n)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76786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回溯法（子集树）时间复杂性函数的</a:t>
            </a:r>
            <a:r>
              <a:rPr lang="zh-CN" altLang="en-US" sz="2800" dirty="0" smtClean="0"/>
              <a:t>迭代</a:t>
            </a:r>
            <a:endParaRPr lang="en-US" altLang="zh-CN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526" y="874156"/>
            <a:ext cx="8079954" cy="33537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800" dirty="0" smtClean="0"/>
              <a:t>   T(0)= a*T(1)+f(n)</a:t>
            </a:r>
            <a:r>
              <a:rPr lang="en-US" altLang="zh-CN" sz="2800" dirty="0" smtClean="0">
                <a:solidFill>
                  <a:srgbClr val="0051F2"/>
                </a:solidFill>
              </a:rPr>
              <a:t>   </a:t>
            </a:r>
            <a:r>
              <a:rPr lang="en-US" altLang="zh-CN" sz="2400" dirty="0" smtClean="0">
                <a:solidFill>
                  <a:srgbClr val="0051F2"/>
                </a:solidFill>
              </a:rPr>
              <a:t>(</a:t>
            </a:r>
            <a:r>
              <a:rPr lang="zh-CN" altLang="en-US" sz="2400" dirty="0" smtClean="0">
                <a:solidFill>
                  <a:srgbClr val="0051F2"/>
                </a:solidFill>
              </a:rPr>
              <a:t>从</a:t>
            </a:r>
            <a:r>
              <a:rPr lang="en-US" altLang="zh-CN" sz="2400" dirty="0" smtClean="0">
                <a:solidFill>
                  <a:srgbClr val="0051F2"/>
                </a:solidFill>
              </a:rPr>
              <a:t>T(0)</a:t>
            </a:r>
            <a:r>
              <a:rPr lang="zh-CN" altLang="en-US" sz="2400" dirty="0" smtClean="0">
                <a:solidFill>
                  <a:srgbClr val="0051F2"/>
                </a:solidFill>
              </a:rPr>
              <a:t>或</a:t>
            </a:r>
            <a:r>
              <a:rPr lang="en-US" altLang="zh-CN" sz="2400" dirty="0" smtClean="0">
                <a:solidFill>
                  <a:srgbClr val="0051F2"/>
                </a:solidFill>
              </a:rPr>
              <a:t>T(1)</a:t>
            </a:r>
            <a:r>
              <a:rPr lang="zh-CN" altLang="en-US" sz="2400" dirty="0" smtClean="0">
                <a:solidFill>
                  <a:srgbClr val="0051F2"/>
                </a:solidFill>
              </a:rPr>
              <a:t>开始，由主程序决定）</a:t>
            </a:r>
            <a:endParaRPr lang="en-US" altLang="zh-CN" sz="2800" dirty="0" smtClean="0">
              <a:solidFill>
                <a:srgbClr val="0051F2"/>
              </a:solidFill>
            </a:endParaRPr>
          </a:p>
          <a:p>
            <a:pPr marL="0" indent="0">
              <a:buNone/>
            </a:pPr>
            <a:r>
              <a:rPr lang="en-US" altLang="zh-CN" sz="2800" dirty="0" smtClean="0"/>
              <a:t>         =a*(a*T(2)+f(n))+f(n)=a</a:t>
            </a:r>
            <a:r>
              <a:rPr lang="en-US" altLang="zh-CN" sz="2800" baseline="30000" dirty="0" smtClean="0"/>
              <a:t>2</a:t>
            </a:r>
            <a:r>
              <a:rPr lang="en-US" altLang="zh-CN" sz="2800" dirty="0" smtClean="0"/>
              <a:t>T(2)+a</a:t>
            </a:r>
            <a:r>
              <a:rPr lang="zh-CN" altLang="en-US" sz="2800" dirty="0" smtClean="0"/>
              <a:t>*</a:t>
            </a:r>
            <a:r>
              <a:rPr lang="en-US" altLang="zh-CN" sz="2800" dirty="0" smtClean="0"/>
              <a:t>f(n)+f(n)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=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a</a:t>
            </a:r>
            <a:r>
              <a:rPr lang="en-US" altLang="zh-CN" sz="2800" baseline="30000" dirty="0" smtClean="0"/>
              <a:t>2</a:t>
            </a:r>
            <a:r>
              <a:rPr lang="en-US" altLang="zh-CN" sz="2800" dirty="0" smtClean="0"/>
              <a:t>(a*T(3)+f(n</a:t>
            </a:r>
            <a:r>
              <a:rPr lang="en-US" altLang="zh-CN" sz="2800" dirty="0"/>
              <a:t>)</a:t>
            </a:r>
            <a:r>
              <a:rPr lang="en-US" altLang="zh-CN" sz="2800" dirty="0" smtClean="0"/>
              <a:t>)+</a:t>
            </a:r>
            <a:r>
              <a:rPr lang="en-US" altLang="zh-CN" sz="2800" dirty="0"/>
              <a:t>a</a:t>
            </a:r>
            <a:r>
              <a:rPr lang="zh-CN" altLang="en-US" sz="2800" dirty="0"/>
              <a:t>*</a:t>
            </a:r>
            <a:r>
              <a:rPr lang="en-US" altLang="zh-CN" sz="2800" dirty="0"/>
              <a:t>f(n)+f(n</a:t>
            </a:r>
            <a:r>
              <a:rPr lang="en-US" altLang="zh-CN" sz="2800" dirty="0" smtClean="0"/>
              <a:t>)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= a</a:t>
            </a:r>
            <a:r>
              <a:rPr lang="en-US" altLang="zh-CN" sz="2800" baseline="30000" dirty="0" smtClean="0"/>
              <a:t>3</a:t>
            </a:r>
            <a:r>
              <a:rPr lang="en-US" altLang="zh-CN" sz="2800" dirty="0" smtClean="0"/>
              <a:t>T(3)+a</a:t>
            </a:r>
            <a:r>
              <a:rPr lang="en-US" altLang="zh-CN" sz="2800" baseline="30000" dirty="0" smtClean="0"/>
              <a:t>2</a:t>
            </a:r>
            <a:r>
              <a:rPr lang="en-US" altLang="zh-CN" sz="2800" dirty="0" smtClean="0"/>
              <a:t>f(n)+</a:t>
            </a:r>
            <a:r>
              <a:rPr lang="en-US" altLang="zh-CN" sz="2800" dirty="0"/>
              <a:t>a</a:t>
            </a:r>
            <a:r>
              <a:rPr lang="zh-CN" altLang="en-US" sz="2800" dirty="0"/>
              <a:t>*</a:t>
            </a:r>
            <a:r>
              <a:rPr lang="en-US" altLang="zh-CN" sz="2800" dirty="0"/>
              <a:t>f(n)+f(n</a:t>
            </a:r>
            <a:r>
              <a:rPr lang="en-US" altLang="zh-CN" sz="2800" dirty="0" smtClean="0"/>
              <a:t>)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</a:t>
            </a:r>
            <a:r>
              <a:rPr lang="en-US" altLang="zh-CN" sz="2800" dirty="0" smtClean="0">
                <a:solidFill>
                  <a:srgbClr val="0051F2"/>
                </a:solidFill>
              </a:rPr>
              <a:t>….</a:t>
            </a:r>
            <a:r>
              <a:rPr lang="zh-CN" altLang="en-US" sz="2800" dirty="0" smtClean="0">
                <a:solidFill>
                  <a:srgbClr val="0051F2"/>
                </a:solidFill>
              </a:rPr>
              <a:t>（最终迭代到出口</a:t>
            </a:r>
            <a:r>
              <a:rPr lang="en-US" altLang="zh-CN" sz="2800" dirty="0" smtClean="0">
                <a:solidFill>
                  <a:srgbClr val="0051F2"/>
                </a:solidFill>
              </a:rPr>
              <a:t>, </a:t>
            </a:r>
            <a:r>
              <a:rPr lang="zh-CN" altLang="en-US" sz="2800" dirty="0" smtClean="0">
                <a:solidFill>
                  <a:srgbClr val="0051F2"/>
                </a:solidFill>
              </a:rPr>
              <a:t>即 </a:t>
            </a:r>
            <a:r>
              <a:rPr lang="en-US" altLang="zh-CN" sz="2800" dirty="0" smtClean="0">
                <a:solidFill>
                  <a:srgbClr val="0051F2"/>
                </a:solidFill>
              </a:rPr>
              <a:t>T(n) </a:t>
            </a:r>
            <a:r>
              <a:rPr lang="zh-CN" altLang="en-US" sz="2800" dirty="0" smtClean="0">
                <a:solidFill>
                  <a:srgbClr val="0051F2"/>
                </a:solidFill>
              </a:rPr>
              <a:t>）</a:t>
            </a:r>
            <a:endParaRPr lang="en-US" altLang="zh-CN" sz="2800" dirty="0" smtClean="0">
              <a:solidFill>
                <a:srgbClr val="0051F2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= a</a:t>
            </a:r>
            <a:r>
              <a:rPr lang="en-US" altLang="zh-CN" sz="2800" baseline="30000" dirty="0" smtClean="0"/>
              <a:t>n</a:t>
            </a:r>
            <a:r>
              <a:rPr lang="zh-CN" altLang="en-US" sz="2800" dirty="0" smtClean="0"/>
              <a:t>*</a:t>
            </a:r>
            <a:r>
              <a:rPr lang="en-US" altLang="zh-CN" sz="2800" dirty="0" smtClean="0"/>
              <a:t>g(n)+a</a:t>
            </a:r>
            <a:r>
              <a:rPr lang="en-US" altLang="zh-CN" sz="2800" baseline="30000" dirty="0" smtClean="0"/>
              <a:t>n-1</a:t>
            </a:r>
            <a:r>
              <a:rPr lang="en-US" altLang="zh-CN" sz="2800" dirty="0" smtClean="0"/>
              <a:t>f(n)+…+</a:t>
            </a:r>
            <a:r>
              <a:rPr lang="en-US" altLang="zh-CN" sz="2800" dirty="0"/>
              <a:t>a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f(n)+a</a:t>
            </a:r>
            <a:r>
              <a:rPr lang="zh-CN" altLang="en-US" sz="2800" dirty="0"/>
              <a:t>*</a:t>
            </a:r>
            <a:r>
              <a:rPr lang="en-US" altLang="zh-CN" sz="2800" dirty="0"/>
              <a:t>f(n)+f(n</a:t>
            </a:r>
            <a:r>
              <a:rPr lang="en-US" altLang="zh-CN" sz="2800" dirty="0" smtClean="0"/>
              <a:t>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    =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FF0000"/>
                </a:solidFill>
              </a:rPr>
              <a:t>g(n</a:t>
            </a:r>
            <a:r>
              <a:rPr lang="en-US" altLang="zh-CN" dirty="0" smtClean="0">
                <a:solidFill>
                  <a:srgbClr val="FF0000"/>
                </a:solidFill>
              </a:rPr>
              <a:t>) + ( (a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</a:rPr>
              <a:t>-1)/(a-1) )</a:t>
            </a:r>
            <a:r>
              <a:rPr lang="zh-CN" altLang="en-US" dirty="0" smtClean="0">
                <a:solidFill>
                  <a:srgbClr val="FF0000"/>
                </a:solidFill>
              </a:rPr>
              <a:t>*</a:t>
            </a:r>
            <a:r>
              <a:rPr lang="en-US" altLang="zh-CN" sz="2800" dirty="0">
                <a:solidFill>
                  <a:srgbClr val="FF0000"/>
                </a:solidFill>
              </a:rPr>
              <a:t>f(n)</a:t>
            </a:r>
            <a:endParaRPr lang="zh-CN" altLang="en-US" sz="2800" dirty="0"/>
          </a:p>
        </p:txBody>
      </p:sp>
      <p:sp>
        <p:nvSpPr>
          <p:cNvPr id="4" name="矩形标注 3"/>
          <p:cNvSpPr/>
          <p:nvPr/>
        </p:nvSpPr>
        <p:spPr>
          <a:xfrm>
            <a:off x="1691680" y="4299942"/>
            <a:ext cx="1800200" cy="686712"/>
          </a:xfrm>
          <a:prstGeom prst="wedgeRectCallout">
            <a:avLst>
              <a:gd name="adj1" fmla="val -22248"/>
              <a:gd name="adj2" fmla="val -782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递归出口的时间复杂性</a:t>
            </a:r>
            <a:endParaRPr lang="zh-CN" altLang="en-US" sz="2000" dirty="0"/>
          </a:p>
        </p:txBody>
      </p:sp>
      <p:sp>
        <p:nvSpPr>
          <p:cNvPr id="5" name="矩形标注 4"/>
          <p:cNvSpPr/>
          <p:nvPr/>
        </p:nvSpPr>
        <p:spPr>
          <a:xfrm>
            <a:off x="3707904" y="4299942"/>
            <a:ext cx="2448272" cy="686712"/>
          </a:xfrm>
          <a:prstGeom prst="wedgeRectCallout">
            <a:avLst>
              <a:gd name="adj1" fmla="val -22248"/>
              <a:gd name="adj2" fmla="val -782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递归中间节点的时间复杂性</a:t>
            </a:r>
            <a:endParaRPr lang="zh-CN" altLang="en-US" sz="2000" dirty="0"/>
          </a:p>
        </p:txBody>
      </p:sp>
      <p:sp>
        <p:nvSpPr>
          <p:cNvPr id="6" name="矩形标注 5"/>
          <p:cNvSpPr/>
          <p:nvPr/>
        </p:nvSpPr>
        <p:spPr>
          <a:xfrm>
            <a:off x="107504" y="1347614"/>
            <a:ext cx="1008112" cy="2535646"/>
          </a:xfrm>
          <a:prstGeom prst="wedgeRectCallout">
            <a:avLst>
              <a:gd name="adj1" fmla="val 98082"/>
              <a:gd name="adj2" fmla="val -28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注：这里假设每轮的 </a:t>
            </a:r>
            <a:r>
              <a:rPr lang="en-US" altLang="zh-CN" dirty="0" smtClean="0"/>
              <a:t>a </a:t>
            </a:r>
            <a:r>
              <a:rPr lang="zh-CN" altLang="en-US" dirty="0" smtClean="0"/>
              <a:t>相同，即解空间是子集树，而不是排列树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11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回溯法（子集树）时间复杂性函数的递归树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07504" y="987574"/>
            <a:ext cx="7200800" cy="2642586"/>
            <a:chOff x="107504" y="1350134"/>
            <a:chExt cx="7200800" cy="2642586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350134"/>
              <a:ext cx="7200800" cy="26425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5004048" y="1635646"/>
              <a:ext cx="28803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solidFill>
                    <a:schemeClr val="tx1"/>
                  </a:solidFill>
                </a:rPr>
                <a:t>a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347864" y="2571750"/>
              <a:ext cx="288032" cy="3600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</a:rPr>
                <a:t>1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779912" y="2781030"/>
              <a:ext cx="288032" cy="2227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</a:rPr>
                <a:t>2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2643758"/>
              <a:ext cx="288032" cy="2227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051720" y="2571750"/>
              <a:ext cx="288032" cy="3600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solidFill>
                    <a:schemeClr val="tx1"/>
                  </a:solidFill>
                </a:rPr>
                <a:t>a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795874" y="2715766"/>
              <a:ext cx="8343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矩形标注 14"/>
          <p:cNvSpPr/>
          <p:nvPr/>
        </p:nvSpPr>
        <p:spPr>
          <a:xfrm>
            <a:off x="7524328" y="3289310"/>
            <a:ext cx="1584176" cy="432048"/>
          </a:xfrm>
          <a:prstGeom prst="wedgeRectCallout">
            <a:avLst>
              <a:gd name="adj1" fmla="val -63068"/>
              <a:gd name="adj2" fmla="val -220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叶节点有</a:t>
            </a:r>
            <a:r>
              <a:rPr lang="en-US" altLang="zh-CN" dirty="0" smtClean="0">
                <a:solidFill>
                  <a:schemeClr val="bg1"/>
                </a:solidFill>
              </a:rPr>
              <a:t>a</a:t>
            </a:r>
            <a:r>
              <a:rPr lang="en-US" altLang="zh-CN" baseline="30000" dirty="0" smtClean="0">
                <a:solidFill>
                  <a:schemeClr val="bg1"/>
                </a:solidFill>
              </a:rPr>
              <a:t>n</a:t>
            </a:r>
            <a:r>
              <a:rPr lang="zh-CN" altLang="en-US" dirty="0" smtClean="0">
                <a:solidFill>
                  <a:schemeClr val="bg1"/>
                </a:solidFill>
              </a:rPr>
              <a:t>个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948264" y="1129070"/>
            <a:ext cx="2160240" cy="1728192"/>
            <a:chOff x="6948264" y="1491630"/>
            <a:chExt cx="2160240" cy="1728192"/>
          </a:xfrm>
        </p:grpSpPr>
        <p:sp>
          <p:nvSpPr>
            <p:cNvPr id="16" name="右大括号 15"/>
            <p:cNvSpPr/>
            <p:nvPr/>
          </p:nvSpPr>
          <p:spPr>
            <a:xfrm>
              <a:off x="6948264" y="1491630"/>
              <a:ext cx="504056" cy="172819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标注 16"/>
            <p:cNvSpPr/>
            <p:nvPr/>
          </p:nvSpPr>
          <p:spPr>
            <a:xfrm>
              <a:off x="7524328" y="1857953"/>
              <a:ext cx="1584176" cy="900100"/>
            </a:xfrm>
            <a:prstGeom prst="wedgeRectCallout">
              <a:avLst>
                <a:gd name="adj1" fmla="val -51062"/>
                <a:gd name="adj2" fmla="val -136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</a:rPr>
                <a:t>中间节点共有</a:t>
              </a:r>
              <a:r>
                <a:rPr lang="en-US" altLang="zh-CN" dirty="0">
                  <a:solidFill>
                    <a:schemeClr val="bg1"/>
                  </a:solidFill>
                </a:rPr>
                <a:t>(a</a:t>
              </a:r>
              <a:r>
                <a:rPr lang="en-US" altLang="zh-CN" baseline="30000" dirty="0">
                  <a:solidFill>
                    <a:schemeClr val="bg1"/>
                  </a:solidFill>
                </a:rPr>
                <a:t>n</a:t>
              </a:r>
              <a:r>
                <a:rPr lang="en-US" altLang="zh-CN" dirty="0">
                  <a:solidFill>
                    <a:schemeClr val="bg1"/>
                  </a:solidFill>
                </a:rPr>
                <a:t>-1)/(a-1)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个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506990" y="3851299"/>
            <a:ext cx="5553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因此 </a:t>
            </a:r>
            <a:r>
              <a:rPr lang="en-US" altLang="zh-CN" sz="2400" dirty="0" smtClean="0">
                <a:solidFill>
                  <a:srgbClr val="FF0000"/>
                </a:solidFill>
              </a:rPr>
              <a:t>T(0) = a</a:t>
            </a:r>
            <a:r>
              <a:rPr lang="en-US" altLang="zh-CN" sz="2400" baseline="30000" dirty="0" smtClean="0">
                <a:solidFill>
                  <a:srgbClr val="FF0000"/>
                </a:solidFill>
              </a:rPr>
              <a:t>n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r>
              <a:rPr lang="en-US" altLang="zh-CN" sz="2400" dirty="0">
                <a:solidFill>
                  <a:srgbClr val="FF0000"/>
                </a:solidFill>
              </a:rPr>
              <a:t>g(n) + </a:t>
            </a:r>
            <a:r>
              <a:rPr lang="en-US" altLang="zh-CN" sz="2400" dirty="0" smtClean="0">
                <a:solidFill>
                  <a:srgbClr val="FF0000"/>
                </a:solidFill>
              </a:rPr>
              <a:t>( </a:t>
            </a:r>
            <a:r>
              <a:rPr lang="en-US" altLang="zh-CN" sz="2400" dirty="0">
                <a:solidFill>
                  <a:srgbClr val="FF0000"/>
                </a:solidFill>
              </a:rPr>
              <a:t>(a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n</a:t>
            </a:r>
            <a:r>
              <a:rPr lang="en-US" altLang="zh-CN" sz="2400" dirty="0">
                <a:solidFill>
                  <a:srgbClr val="FF0000"/>
                </a:solidFill>
              </a:rPr>
              <a:t>-1)/(a-1) </a:t>
            </a:r>
            <a:r>
              <a:rPr lang="en-US" altLang="zh-CN" sz="2400" dirty="0" smtClean="0">
                <a:solidFill>
                  <a:srgbClr val="FF0000"/>
                </a:solidFill>
              </a:rPr>
              <a:t>)</a:t>
            </a:r>
            <a:r>
              <a:rPr lang="zh-CN" altLang="en-US" sz="2400" dirty="0" smtClean="0">
                <a:solidFill>
                  <a:srgbClr val="FF0000"/>
                </a:solidFill>
              </a:rPr>
              <a:t>*</a:t>
            </a:r>
            <a:r>
              <a:rPr lang="en-US" altLang="zh-CN" sz="2400" dirty="0">
                <a:solidFill>
                  <a:srgbClr val="FF0000"/>
                </a:solidFill>
              </a:rPr>
              <a:t>f(n)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65397" y="4443958"/>
            <a:ext cx="29193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注意：上图中 </a:t>
            </a:r>
            <a:r>
              <a:rPr lang="en-US" altLang="zh-CN" sz="2000" dirty="0" smtClean="0"/>
              <a:t>n=3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a=3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27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回溯法（排列树）时间复杂性函数的递归树：</a:t>
            </a:r>
            <a:endParaRPr lang="en-US" altLang="zh-CN" sz="28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8214"/>
            <a:ext cx="6416046" cy="3355027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11" name="矩形 10"/>
          <p:cNvSpPr/>
          <p:nvPr/>
        </p:nvSpPr>
        <p:spPr>
          <a:xfrm>
            <a:off x="6300192" y="337115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n!=3! =6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35499" y="2449679"/>
            <a:ext cx="2977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n!/(n-2)! = 3!/1! =6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44909" y="1626354"/>
            <a:ext cx="29534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n!/(n-1)!=3!/2! =3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</a:p>
        </p:txBody>
      </p:sp>
      <p:sp>
        <p:nvSpPr>
          <p:cNvPr id="14" name="矩形 13"/>
          <p:cNvSpPr/>
          <p:nvPr/>
        </p:nvSpPr>
        <p:spPr>
          <a:xfrm>
            <a:off x="3851920" y="841581"/>
            <a:ext cx="1449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51520" y="3227137"/>
            <a:ext cx="8280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1520" y="4083918"/>
            <a:ext cx="87849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T(0)=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n!*g(n)+ (1+n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!/(n-1)!+ n!/(n-2)! +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n!)*f(n) 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!*g(n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)+3*n!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f(n)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19" name="矩形标注 18"/>
          <p:cNvSpPr/>
          <p:nvPr/>
        </p:nvSpPr>
        <p:spPr>
          <a:xfrm>
            <a:off x="755576" y="4676666"/>
            <a:ext cx="2736304" cy="343356"/>
          </a:xfrm>
          <a:prstGeom prst="wedgeRectCallout">
            <a:avLst>
              <a:gd name="adj1" fmla="val -6208"/>
              <a:gd name="adj2" fmla="val -1187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递归出口的时间复杂性</a:t>
            </a:r>
            <a:endParaRPr lang="zh-CN" altLang="en-US" sz="1600" dirty="0"/>
          </a:p>
        </p:txBody>
      </p:sp>
      <p:sp>
        <p:nvSpPr>
          <p:cNvPr id="20" name="矩形标注 19"/>
          <p:cNvSpPr/>
          <p:nvPr/>
        </p:nvSpPr>
        <p:spPr>
          <a:xfrm>
            <a:off x="3707904" y="4676666"/>
            <a:ext cx="2708142" cy="309988"/>
          </a:xfrm>
          <a:prstGeom prst="wedgeRectCallout">
            <a:avLst>
              <a:gd name="adj1" fmla="val -31702"/>
              <a:gd name="adj2" fmla="val -118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递归中间节点的时间复杂性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447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1B38D806-8E2B-4212-8AF9-4F72CD5F14AC}"/>
              </a:ext>
            </a:extLst>
          </p:cNvPr>
          <p:cNvSpPr txBox="1"/>
          <p:nvPr/>
        </p:nvSpPr>
        <p:spPr>
          <a:xfrm>
            <a:off x="3184954" y="187384"/>
            <a:ext cx="2680202" cy="49167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/>
              <a:t>         for(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=1;i&lt;=</a:t>
            </a:r>
            <a:r>
              <a:rPr lang="en-US" altLang="zh-CN" sz="1000" b="1" dirty="0" err="1"/>
              <a:t>n;i</a:t>
            </a:r>
            <a:r>
              <a:rPr lang="en-US" altLang="zh-CN" sz="1000" b="1" dirty="0"/>
              <a:t>++){</a:t>
            </a:r>
            <a:endParaRPr lang="zh-CN" altLang="zh-CN" sz="1000" b="1" dirty="0"/>
          </a:p>
          <a:p>
            <a:pPr lvl="1">
              <a:lnSpc>
                <a:spcPct val="150000"/>
              </a:lnSpc>
            </a:pPr>
            <a:r>
              <a:rPr lang="en-US" altLang="zh-CN" sz="1000" b="1" dirty="0"/>
              <a:t>     sum=0;</a:t>
            </a:r>
            <a:endParaRPr lang="zh-CN" altLang="zh-CN" sz="1000" b="1" dirty="0"/>
          </a:p>
          <a:p>
            <a:pPr lvl="1">
              <a:lnSpc>
                <a:spcPct val="150000"/>
              </a:lnSpc>
            </a:pPr>
            <a:r>
              <a:rPr lang="en-US" altLang="zh-CN" sz="1000" b="1" dirty="0"/>
              <a:t>      for(j=1;j&lt;=</a:t>
            </a:r>
            <a:r>
              <a:rPr lang="en-US" altLang="zh-CN" sz="1000" b="1" dirty="0" err="1"/>
              <a:t>n;j</a:t>
            </a:r>
            <a:r>
              <a:rPr lang="en-US" altLang="zh-CN" sz="1000" b="1" dirty="0"/>
              <a:t>++)</a:t>
            </a:r>
            <a:endParaRPr lang="zh-CN" altLang="zh-CN" sz="1000" b="1" dirty="0"/>
          </a:p>
          <a:p>
            <a:pPr lvl="1">
              <a:lnSpc>
                <a:spcPct val="150000"/>
              </a:lnSpc>
            </a:pPr>
            <a:r>
              <a:rPr lang="en-US" altLang="zh-CN" sz="1000" b="1" dirty="0"/>
              <a:t>             sum=</a:t>
            </a:r>
            <a:r>
              <a:rPr lang="en-US" altLang="zh-CN" sz="1000" b="1" dirty="0" err="1"/>
              <a:t>sum+num</a:t>
            </a:r>
            <a:r>
              <a:rPr lang="en-US" altLang="zh-CN" sz="1000" b="1" dirty="0"/>
              <a:t>[j][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];      </a:t>
            </a:r>
            <a:endParaRPr lang="zh-CN" altLang="zh-CN" sz="1000" b="1" dirty="0"/>
          </a:p>
          <a:p>
            <a:pPr lvl="1">
              <a:lnSpc>
                <a:spcPct val="150000"/>
              </a:lnSpc>
            </a:pPr>
            <a:r>
              <a:rPr lang="en-US" altLang="zh-CN" sz="1000" b="1" dirty="0"/>
              <a:t>      if(sum&gt;max)</a:t>
            </a:r>
            <a:endParaRPr lang="zh-CN" altLang="zh-CN" sz="1000" b="1" dirty="0"/>
          </a:p>
          <a:p>
            <a:pPr lvl="1">
              <a:lnSpc>
                <a:spcPct val="150000"/>
              </a:lnSpc>
            </a:pPr>
            <a:r>
              <a:rPr lang="en-US" altLang="zh-CN" sz="1000" b="1" dirty="0"/>
              <a:t>            max=sum;      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   }   //end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for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  if(max&lt;min)</a:t>
            </a:r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      min=max;    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  return;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}   //end first if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for(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=1;i&lt;=</a:t>
            </a:r>
            <a:r>
              <a:rPr lang="en-US" altLang="zh-CN" sz="1000" b="1" dirty="0" err="1"/>
              <a:t>n;i</a:t>
            </a:r>
            <a:r>
              <a:rPr lang="en-US" altLang="zh-CN" sz="1000" b="1" dirty="0"/>
              <a:t>++){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move(k);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</a:t>
            </a:r>
            <a:r>
              <a:rPr lang="en-US" altLang="zh-CN" sz="1000" b="1" dirty="0" err="1"/>
              <a:t>dfs</a:t>
            </a:r>
            <a:r>
              <a:rPr lang="en-US" altLang="zh-CN" sz="1000" b="1" dirty="0"/>
              <a:t>(k+1);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}   //end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for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int main()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{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int </a:t>
            </a:r>
            <a:r>
              <a:rPr lang="en-US" altLang="zh-CN" sz="1000" b="1" dirty="0" err="1"/>
              <a:t>i,j</a:t>
            </a:r>
            <a:r>
              <a:rPr lang="en-US" altLang="zh-CN" sz="1000" b="1" dirty="0"/>
              <a:t>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while((</a:t>
            </a:r>
            <a:r>
              <a:rPr lang="en-US" altLang="zh-CN" sz="1000" b="1" dirty="0" err="1"/>
              <a:t>scanf</a:t>
            </a:r>
            <a:r>
              <a:rPr lang="en-US" altLang="zh-CN" sz="1000" b="1" dirty="0"/>
              <a:t>("%</a:t>
            </a:r>
            <a:r>
              <a:rPr lang="en-US" altLang="zh-CN" sz="1000" b="1" dirty="0" err="1"/>
              <a:t>d",&amp;n</a:t>
            </a:r>
            <a:r>
              <a:rPr lang="en-US" altLang="zh-CN" sz="1000" b="1" dirty="0"/>
              <a:t>)!=EOF)&amp;&amp;(n!=-1)) {</a:t>
            </a:r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</a:t>
            </a:r>
            <a:endParaRPr lang="zh-CN" altLang="zh-CN" sz="1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F7D78A30-E412-4361-BDF6-273E1369925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4754" y="187384"/>
            <a:ext cx="2448512" cy="48359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/>
            </a:lvl1pPr>
            <a:lvl2pPr lvl="1">
              <a:lnSpc>
                <a:spcPct val="150000"/>
              </a:lnSpc>
              <a:defRPr sz="1200"/>
            </a:lvl2pPr>
            <a:lvl3pPr lvl="2">
              <a:lnSpc>
                <a:spcPct val="150000"/>
              </a:lnSpc>
              <a:defRPr sz="1200"/>
            </a:lvl3pPr>
          </a:lstStyle>
          <a:p>
            <a:r>
              <a:rPr lang="zh-CN" altLang="zh-CN" sz="1000" b="1" dirty="0"/>
              <a:t>阅读下面的程序，按要求回答下面的问题。</a:t>
            </a:r>
            <a:endParaRPr lang="en-US" altLang="zh-CN" sz="1000" b="1" dirty="0"/>
          </a:p>
          <a:p>
            <a:r>
              <a:rPr lang="en-US" altLang="zh-CN" sz="1000" b="1" dirty="0"/>
              <a:t>#include&lt;stdio.h&gt;</a:t>
            </a:r>
            <a:endParaRPr lang="zh-CN" altLang="zh-CN" sz="1000" b="1" dirty="0"/>
          </a:p>
          <a:p>
            <a:r>
              <a:rPr lang="en-US" altLang="zh-CN" sz="1000" b="1" dirty="0"/>
              <a:t>#include&lt;stdlib.h&gt;</a:t>
            </a:r>
            <a:endParaRPr lang="zh-CN" altLang="zh-CN" sz="1000" b="1" dirty="0"/>
          </a:p>
          <a:p>
            <a:r>
              <a:rPr lang="en-US" altLang="zh-CN" sz="1000" b="1" dirty="0"/>
              <a:t>#include&lt;string.h&gt; </a:t>
            </a:r>
            <a:endParaRPr lang="zh-CN" altLang="zh-CN" sz="1000" b="1" dirty="0"/>
          </a:p>
          <a:p>
            <a:r>
              <a:rPr lang="en-US" altLang="zh-CN" sz="1000" b="1" dirty="0"/>
              <a:t>int </a:t>
            </a:r>
            <a:r>
              <a:rPr lang="en-US" altLang="zh-CN" sz="1000" b="1" dirty="0" err="1"/>
              <a:t>n,max,min,sum</a:t>
            </a:r>
            <a:r>
              <a:rPr lang="en-US" altLang="zh-CN" sz="1000" b="1" dirty="0"/>
              <a:t>;</a:t>
            </a:r>
            <a:endParaRPr lang="zh-CN" altLang="zh-CN" sz="1000" b="1" dirty="0"/>
          </a:p>
          <a:p>
            <a:r>
              <a:rPr lang="en-US" altLang="zh-CN" sz="1000" b="1" dirty="0"/>
              <a:t>int num[10][10]; </a:t>
            </a:r>
            <a:endParaRPr lang="zh-CN" altLang="zh-CN" sz="1000" b="1" dirty="0"/>
          </a:p>
          <a:p>
            <a:r>
              <a:rPr lang="en-US" altLang="zh-CN" sz="1000" b="1" dirty="0"/>
              <a:t>void move(int m)</a:t>
            </a:r>
            <a:endParaRPr lang="zh-CN" altLang="zh-CN" sz="1000" b="1" dirty="0"/>
          </a:p>
          <a:p>
            <a:r>
              <a:rPr lang="en-US" altLang="zh-CN" sz="1000" b="1" dirty="0"/>
              <a:t>{</a:t>
            </a:r>
            <a:endParaRPr lang="zh-CN" altLang="zh-CN" sz="1000" b="1" dirty="0"/>
          </a:p>
          <a:p>
            <a:r>
              <a:rPr lang="en-US" altLang="zh-CN" sz="1000" b="1" dirty="0"/>
              <a:t>  int </a:t>
            </a:r>
            <a:r>
              <a:rPr lang="en-US" altLang="zh-CN" sz="1000" b="1" dirty="0" err="1"/>
              <a:t>a,i</a:t>
            </a:r>
            <a:r>
              <a:rPr lang="en-US" altLang="zh-CN" sz="1000" b="1" dirty="0"/>
              <a:t>;</a:t>
            </a:r>
            <a:endParaRPr lang="zh-CN" altLang="zh-CN" sz="1000" b="1" dirty="0"/>
          </a:p>
          <a:p>
            <a:r>
              <a:rPr lang="en-US" altLang="zh-CN" sz="1000" b="1" dirty="0"/>
              <a:t>  a=num[m][n];</a:t>
            </a:r>
            <a:endParaRPr lang="zh-CN" altLang="zh-CN" sz="1000" b="1" dirty="0"/>
          </a:p>
          <a:p>
            <a:r>
              <a:rPr lang="en-US" altLang="zh-CN" sz="1000" b="1" dirty="0"/>
              <a:t>  for(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=n-1;i&gt;=1;i--){</a:t>
            </a:r>
            <a:endParaRPr lang="zh-CN" altLang="zh-CN" sz="1000" b="1" dirty="0"/>
          </a:p>
          <a:p>
            <a:r>
              <a:rPr lang="en-US" altLang="zh-CN" sz="1000" b="1" dirty="0"/>
              <a:t>    num[m][i+1]=num[m][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];</a:t>
            </a:r>
            <a:endParaRPr lang="zh-CN" altLang="zh-CN" sz="1000" b="1" dirty="0"/>
          </a:p>
          <a:p>
            <a:r>
              <a:rPr lang="en-US" altLang="zh-CN" sz="1000" b="1" dirty="0"/>
              <a:t>   }</a:t>
            </a:r>
            <a:endParaRPr lang="zh-CN" altLang="zh-CN" sz="1000" b="1" dirty="0"/>
          </a:p>
          <a:p>
            <a:r>
              <a:rPr lang="en-US" altLang="zh-CN" sz="1000" b="1" dirty="0"/>
              <a:t>    num[m][1]=a;</a:t>
            </a:r>
            <a:endParaRPr lang="zh-CN" altLang="zh-CN" sz="1000" b="1" dirty="0"/>
          </a:p>
          <a:p>
            <a:r>
              <a:rPr lang="en-US" altLang="zh-CN" sz="1000" b="1" dirty="0"/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void </a:t>
            </a:r>
            <a:r>
              <a:rPr lang="en-US" altLang="zh-CN" sz="1000" b="1" dirty="0" err="1"/>
              <a:t>dfs</a:t>
            </a:r>
            <a:r>
              <a:rPr lang="en-US" altLang="zh-CN" sz="1000" b="1" dirty="0"/>
              <a:t>(int k)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{</a:t>
            </a:r>
            <a:endParaRPr lang="en-US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int </a:t>
            </a:r>
            <a:r>
              <a:rPr lang="en-US" altLang="zh-CN" sz="1000" b="1" dirty="0" err="1"/>
              <a:t>i,j</a:t>
            </a:r>
            <a:r>
              <a:rPr lang="en-US" altLang="zh-CN" sz="1000" b="1" dirty="0"/>
              <a:t>;</a:t>
            </a:r>
            <a:endParaRPr lang="en-US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if(k==n+1){</a:t>
            </a:r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</a:t>
            </a:r>
            <a:r>
              <a:rPr lang="en-US" altLang="zh-CN" sz="1000" b="1" dirty="0"/>
              <a:t> max=0</a:t>
            </a:r>
            <a:r>
              <a:rPr lang="en-US" altLang="zh-CN" sz="1000" b="1" dirty="0" smtClean="0"/>
              <a:t>;</a:t>
            </a:r>
            <a:endParaRPr lang="zh-CN" altLang="zh-CN" sz="10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25F752D0-A36F-46BA-B25C-7CF79D36ADA3}"/>
              </a:ext>
            </a:extLst>
          </p:cNvPr>
          <p:cNvSpPr/>
          <p:nvPr/>
        </p:nvSpPr>
        <p:spPr>
          <a:xfrm>
            <a:off x="6012160" y="187384"/>
            <a:ext cx="2670100" cy="48705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/>
              <a:t>    for(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=1;i&lt;=</a:t>
            </a:r>
            <a:r>
              <a:rPr lang="en-US" altLang="zh-CN" sz="1000" b="1" dirty="0" err="1"/>
              <a:t>n;i</a:t>
            </a:r>
            <a:r>
              <a:rPr lang="en-US" altLang="zh-CN" sz="1000" b="1" dirty="0"/>
              <a:t>++) 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for(j=1;j&lt;=</a:t>
            </a:r>
            <a:r>
              <a:rPr lang="en-US" altLang="zh-CN" sz="1000" b="1" dirty="0" err="1"/>
              <a:t>n;j</a:t>
            </a:r>
            <a:r>
              <a:rPr lang="en-US" altLang="zh-CN" sz="1000" b="1" dirty="0"/>
              <a:t>++)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      </a:t>
            </a:r>
            <a:r>
              <a:rPr lang="en-US" altLang="zh-CN" sz="1000" b="1" dirty="0" err="1"/>
              <a:t>scanf</a:t>
            </a:r>
            <a:r>
              <a:rPr lang="en-US" altLang="zh-CN" sz="1000" b="1" dirty="0"/>
              <a:t>("%</a:t>
            </a:r>
            <a:r>
              <a:rPr lang="en-US" altLang="zh-CN" sz="1000" b="1" dirty="0" err="1"/>
              <a:t>d",&amp;num</a:t>
            </a:r>
            <a:r>
              <a:rPr lang="en-US" altLang="zh-CN" sz="1000" b="1" dirty="0"/>
              <a:t>[</a:t>
            </a:r>
            <a:r>
              <a:rPr lang="en-US" altLang="zh-CN" sz="1000" b="1" dirty="0" err="1"/>
              <a:t>i</a:t>
            </a:r>
            <a:r>
              <a:rPr lang="en-US" altLang="zh-CN" sz="1000" b="1" dirty="0"/>
              <a:t>][j]);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max=0;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min=0x7fffffff;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</a:t>
            </a:r>
            <a:r>
              <a:rPr lang="en-US" altLang="zh-CN" sz="1000" b="1" dirty="0" err="1"/>
              <a:t>dfs</a:t>
            </a:r>
            <a:r>
              <a:rPr lang="en-US" altLang="zh-CN" sz="1000" b="1" dirty="0"/>
              <a:t>(2);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   </a:t>
            </a:r>
            <a:r>
              <a:rPr lang="en-US" altLang="zh-CN" sz="1000" b="1" dirty="0" err="1"/>
              <a:t>printf</a:t>
            </a:r>
            <a:r>
              <a:rPr lang="en-US" altLang="zh-CN" sz="1000" b="1" dirty="0"/>
              <a:t>("%d\</a:t>
            </a:r>
            <a:r>
              <a:rPr lang="en-US" altLang="zh-CN" sz="1000" b="1" dirty="0" err="1"/>
              <a:t>n",min</a:t>
            </a:r>
            <a:r>
              <a:rPr lang="en-US" altLang="zh-CN" sz="1000" b="1" dirty="0"/>
              <a:t>);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}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  return 0;</a:t>
            </a:r>
            <a:endParaRPr lang="zh-CN" altLang="zh-CN" sz="1000" b="1" dirty="0"/>
          </a:p>
          <a:p>
            <a:pPr>
              <a:lnSpc>
                <a:spcPct val="150000"/>
              </a:lnSpc>
            </a:pPr>
            <a:r>
              <a:rPr lang="en-US" altLang="zh-CN" sz="1000" b="1" dirty="0"/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1000" b="1" dirty="0"/>
              <a:t>要求：</a:t>
            </a:r>
            <a:endParaRPr lang="en-US" altLang="zh-CN" sz="1000" b="1" dirty="0"/>
          </a:p>
          <a:p>
            <a:pPr algn="just">
              <a:lnSpc>
                <a:spcPct val="150000"/>
              </a:lnSpc>
            </a:pPr>
            <a:r>
              <a:rPr lang="en-US" altLang="zh-CN" sz="1000" b="1" dirty="0"/>
              <a:t>   </a:t>
            </a:r>
            <a:r>
              <a:rPr lang="zh-CN" altLang="zh-CN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（</a:t>
            </a:r>
            <a:r>
              <a:rPr lang="en-US" altLang="zh-CN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1</a:t>
            </a:r>
            <a:r>
              <a:rPr lang="zh-CN" altLang="zh-CN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）在输入下面的数据时，求程序的输出结果</a:t>
            </a:r>
            <a:r>
              <a:rPr lang="en-US" altLang="zh-CN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,</a:t>
            </a:r>
            <a:r>
              <a:rPr lang="zh-CN" altLang="en-US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写出求解过程中变量的变化</a:t>
            </a:r>
            <a:r>
              <a:rPr lang="zh-CN" altLang="zh-CN" sz="10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。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0038" algn="just">
              <a:lnSpc>
                <a:spcPct val="150000"/>
              </a:lnSpc>
            </a:pPr>
            <a:r>
              <a:rPr lang="en-US" altLang="zh-CN" sz="1000" b="1" kern="0" dirty="0">
                <a:solidFill>
                  <a:srgbClr val="000000"/>
                </a:solidFill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3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0038" algn="just">
              <a:lnSpc>
                <a:spcPct val="150000"/>
              </a:lnSpc>
            </a:pPr>
            <a:r>
              <a:rPr lang="en-US" altLang="zh-CN" sz="1000" b="1" kern="0" dirty="0">
                <a:solidFill>
                  <a:srgbClr val="000000"/>
                </a:solidFill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2 3 5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0038" algn="just">
              <a:lnSpc>
                <a:spcPct val="150000"/>
              </a:lnSpc>
            </a:pPr>
            <a:r>
              <a:rPr lang="en-US" altLang="zh-CN" sz="1000" b="1" kern="0" dirty="0">
                <a:solidFill>
                  <a:srgbClr val="000000"/>
                </a:solidFill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5 4 6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0038" algn="just">
              <a:lnSpc>
                <a:spcPct val="150000"/>
              </a:lnSpc>
            </a:pPr>
            <a:r>
              <a:rPr lang="en-US" altLang="zh-CN" sz="1000" b="1" kern="0" dirty="0">
                <a:solidFill>
                  <a:srgbClr val="000000"/>
                </a:solidFill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3 2 7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0038" algn="just">
              <a:lnSpc>
                <a:spcPct val="150000"/>
              </a:lnSpc>
            </a:pPr>
            <a:r>
              <a:rPr lang="en-US" altLang="zh-CN" sz="1000" b="1" kern="0" dirty="0">
                <a:solidFill>
                  <a:srgbClr val="000000"/>
                </a:solidFill>
                <a:latin typeface="新宋体" panose="02010609030101010101" pitchFamily="49" charset="-122"/>
                <a:ea typeface="宋体" panose="02010600030101010101" pitchFamily="2" charset="-122"/>
                <a:cs typeface="新宋体" panose="02010609030101010101" pitchFamily="49" charset="-122"/>
              </a:rPr>
              <a:t>-1</a:t>
            </a:r>
            <a:endParaRPr lang="zh-CN" altLang="zh-CN" sz="1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1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  </a:t>
            </a:r>
            <a:r>
              <a:rPr lang="zh-CN" altLang="zh-CN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（</a:t>
            </a:r>
            <a:r>
              <a:rPr lang="en-US" altLang="zh-CN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2</a:t>
            </a:r>
            <a:r>
              <a:rPr lang="zh-CN" altLang="zh-CN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）</a:t>
            </a:r>
            <a:r>
              <a:rPr lang="zh-CN" altLang="zh-CN" sz="1400" b="1" kern="0" dirty="0">
                <a:solidFill>
                  <a:srgbClr val="FF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分析函数</a:t>
            </a:r>
            <a:r>
              <a:rPr lang="en-US" altLang="zh-CN" sz="1400" b="1" kern="0" dirty="0" err="1" smtClean="0">
                <a:solidFill>
                  <a:srgbClr val="FF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dfs</a:t>
            </a:r>
            <a:r>
              <a:rPr lang="en-US" altLang="zh-CN" sz="14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(1)</a:t>
            </a:r>
            <a:r>
              <a:rPr lang="zh-CN" altLang="zh-CN" sz="14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的</a:t>
            </a:r>
            <a:r>
              <a:rPr lang="zh-CN" altLang="zh-CN" sz="1400" b="1" kern="0" dirty="0">
                <a:solidFill>
                  <a:srgbClr val="FF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时间复杂度，</a:t>
            </a:r>
            <a:r>
              <a:rPr lang="zh-CN" altLang="zh-CN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写出简要分析过程</a:t>
            </a:r>
            <a:r>
              <a:rPr lang="zh-CN" altLang="zh-CN" sz="1400" b="1" kern="0" dirty="0" smtClean="0">
                <a:solidFill>
                  <a:srgbClr val="000000"/>
                </a:solidFill>
                <a:latin typeface="Calibri" panose="020F0502020204030204" pitchFamily="34" charset="0"/>
                <a:ea typeface="新宋体" panose="02010609030101010101" pitchFamily="49" charset="-122"/>
                <a:cs typeface="新宋体" panose="02010609030101010101" pitchFamily="49" charset="-122"/>
              </a:rPr>
              <a:t>。</a:t>
            </a:r>
            <a:endParaRPr lang="zh-CN" altLang="zh-CN" sz="11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1451" y="177657"/>
            <a:ext cx="360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/>
              <a:t>例</a:t>
            </a:r>
            <a:r>
              <a:rPr lang="en-US" altLang="zh-CN" sz="2000" dirty="0" smtClean="0"/>
              <a:t>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892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67544" y="987574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时间复杂性递推方程：</a:t>
            </a:r>
            <a:endParaRPr lang="en-US" altLang="zh-CN" sz="2400" dirty="0" smtClean="0"/>
          </a:p>
          <a:p>
            <a:r>
              <a:rPr lang="en-US" altLang="zh-CN" sz="2400" dirty="0" smtClean="0">
                <a:solidFill>
                  <a:srgbClr val="0051F2"/>
                </a:solidFill>
              </a:rPr>
              <a:t>T(k) = n * T(k+1) + n</a:t>
            </a:r>
            <a:r>
              <a:rPr lang="en-US" altLang="zh-CN" sz="2400" baseline="30000" dirty="0" smtClean="0">
                <a:solidFill>
                  <a:srgbClr val="0051F2"/>
                </a:solidFill>
              </a:rPr>
              <a:t>2  </a:t>
            </a:r>
            <a:r>
              <a:rPr lang="zh-CN" altLang="en-US" sz="2000" dirty="0" smtClean="0"/>
              <a:t>（</a:t>
            </a:r>
            <a:r>
              <a:rPr lang="zh-CN" altLang="en-US" sz="2000" dirty="0" smtClean="0">
                <a:solidFill>
                  <a:srgbClr val="FF0000"/>
                </a:solidFill>
              </a:rPr>
              <a:t>递归每轮要执行</a:t>
            </a:r>
            <a:r>
              <a:rPr lang="en-US" altLang="zh-CN" sz="2000" dirty="0" smtClean="0">
                <a:solidFill>
                  <a:srgbClr val="FF0000"/>
                </a:solidFill>
              </a:rPr>
              <a:t>n</a:t>
            </a:r>
            <a:r>
              <a:rPr lang="zh-CN" altLang="en-US" sz="2000" dirty="0" smtClean="0">
                <a:solidFill>
                  <a:srgbClr val="FF0000"/>
                </a:solidFill>
              </a:rPr>
              <a:t>次</a:t>
            </a:r>
            <a:r>
              <a:rPr lang="en-US" altLang="zh-CN" sz="2000" dirty="0" smtClean="0">
                <a:solidFill>
                  <a:srgbClr val="FF0000"/>
                </a:solidFill>
              </a:rPr>
              <a:t>move, 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move </a:t>
            </a:r>
            <a:r>
              <a:rPr lang="zh-CN" altLang="en-US" sz="2000" dirty="0" smtClean="0">
                <a:solidFill>
                  <a:srgbClr val="FF0000"/>
                </a:solidFill>
              </a:rPr>
              <a:t>也是</a:t>
            </a:r>
            <a:r>
              <a:rPr lang="en-US" altLang="zh-CN" sz="2000" dirty="0" smtClean="0">
                <a:solidFill>
                  <a:srgbClr val="FF0000"/>
                </a:solidFill>
              </a:rPr>
              <a:t>O(n)</a:t>
            </a:r>
            <a:r>
              <a:rPr lang="zh-CN" altLang="en-US" sz="2000" dirty="0" smtClean="0">
                <a:solidFill>
                  <a:srgbClr val="FF0000"/>
                </a:solidFill>
              </a:rPr>
              <a:t>的</a:t>
            </a:r>
            <a:r>
              <a:rPr lang="zh-CN" altLang="en-US" sz="2000" dirty="0" smtClean="0"/>
              <a:t>）</a:t>
            </a:r>
            <a:endParaRPr lang="en-US" altLang="zh-CN" sz="2000" baseline="30000" dirty="0" smtClean="0"/>
          </a:p>
          <a:p>
            <a:r>
              <a:rPr lang="en-US" altLang="zh-CN" sz="2400" dirty="0" smtClean="0">
                <a:solidFill>
                  <a:srgbClr val="0051F2"/>
                </a:solidFill>
              </a:rPr>
              <a:t>T(n+1) = </a:t>
            </a:r>
            <a:r>
              <a:rPr lang="en-US" altLang="zh-CN" sz="2400" dirty="0">
                <a:solidFill>
                  <a:srgbClr val="0051F2"/>
                </a:solidFill>
              </a:rPr>
              <a:t>n</a:t>
            </a:r>
            <a:r>
              <a:rPr lang="en-US" altLang="zh-CN" sz="2400" baseline="30000" dirty="0">
                <a:solidFill>
                  <a:srgbClr val="0051F2"/>
                </a:solidFill>
              </a:rPr>
              <a:t>2</a:t>
            </a:r>
            <a:r>
              <a:rPr lang="en-US" altLang="zh-CN" sz="2400" dirty="0" smtClean="0">
                <a:solidFill>
                  <a:srgbClr val="0051F2"/>
                </a:solidFill>
              </a:rPr>
              <a:t>                 </a:t>
            </a:r>
            <a:r>
              <a:rPr lang="zh-CN" altLang="en-US" sz="2000" dirty="0" smtClean="0"/>
              <a:t>（</a:t>
            </a:r>
            <a:r>
              <a:rPr lang="zh-CN" altLang="en-US" sz="2000" dirty="0" smtClean="0">
                <a:solidFill>
                  <a:srgbClr val="FF0000"/>
                </a:solidFill>
              </a:rPr>
              <a:t>递归出口是双重循环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482899" y="2427734"/>
            <a:ext cx="646196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因此 </a:t>
            </a:r>
            <a:r>
              <a:rPr lang="en-US" altLang="zh-CN" sz="2800" dirty="0" smtClean="0">
                <a:solidFill>
                  <a:srgbClr val="0051F2"/>
                </a:solidFill>
              </a:rPr>
              <a:t>T(1) </a:t>
            </a:r>
            <a:r>
              <a:rPr lang="en-US" altLang="zh-CN" sz="2800" dirty="0">
                <a:solidFill>
                  <a:srgbClr val="0051F2"/>
                </a:solidFill>
              </a:rPr>
              <a:t>= </a:t>
            </a:r>
            <a:r>
              <a:rPr lang="en-US" altLang="zh-CN" sz="2800" dirty="0" err="1" smtClean="0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 err="1" smtClean="0">
                <a:solidFill>
                  <a:srgbClr val="0051F2"/>
                </a:solidFill>
              </a:rPr>
              <a:t>n</a:t>
            </a:r>
            <a:r>
              <a:rPr lang="zh-CN" altLang="en-US" sz="2800" dirty="0">
                <a:solidFill>
                  <a:srgbClr val="0051F2"/>
                </a:solidFill>
              </a:rPr>
              <a:t>*</a:t>
            </a:r>
            <a:r>
              <a:rPr lang="en-US" altLang="zh-CN" sz="2800" dirty="0">
                <a:solidFill>
                  <a:srgbClr val="0051F2"/>
                </a:solidFill>
              </a:rPr>
              <a:t>g(n) + </a:t>
            </a:r>
            <a:r>
              <a:rPr lang="en-US" altLang="zh-CN" sz="2800" dirty="0" smtClean="0">
                <a:solidFill>
                  <a:srgbClr val="0051F2"/>
                </a:solidFill>
              </a:rPr>
              <a:t>( (n</a:t>
            </a:r>
            <a:r>
              <a:rPr lang="en-US" altLang="zh-CN" sz="2800" baseline="30000" dirty="0" smtClean="0">
                <a:solidFill>
                  <a:srgbClr val="0051F2"/>
                </a:solidFill>
              </a:rPr>
              <a:t>n</a:t>
            </a:r>
            <a:r>
              <a:rPr lang="en-US" altLang="zh-CN" sz="2800" dirty="0" smtClean="0">
                <a:solidFill>
                  <a:srgbClr val="0051F2"/>
                </a:solidFill>
              </a:rPr>
              <a:t>-1)/(n-1</a:t>
            </a:r>
            <a:r>
              <a:rPr lang="en-US" altLang="zh-CN" sz="2800" dirty="0">
                <a:solidFill>
                  <a:srgbClr val="0051F2"/>
                </a:solidFill>
              </a:rPr>
              <a:t>) </a:t>
            </a:r>
            <a:r>
              <a:rPr lang="en-US" altLang="zh-CN" sz="2800" dirty="0" smtClean="0">
                <a:solidFill>
                  <a:srgbClr val="0051F2"/>
                </a:solidFill>
              </a:rPr>
              <a:t>)</a:t>
            </a:r>
            <a:r>
              <a:rPr lang="zh-CN" altLang="en-US" sz="2800" dirty="0" smtClean="0">
                <a:solidFill>
                  <a:srgbClr val="0051F2"/>
                </a:solidFill>
              </a:rPr>
              <a:t>*</a:t>
            </a:r>
            <a:r>
              <a:rPr lang="en-US" altLang="zh-CN" sz="2800" dirty="0">
                <a:solidFill>
                  <a:srgbClr val="0051F2"/>
                </a:solidFill>
              </a:rPr>
              <a:t>f(n)</a:t>
            </a:r>
            <a:endParaRPr lang="en-US" altLang="zh-CN" sz="2800" dirty="0" smtClean="0">
              <a:solidFill>
                <a:srgbClr val="0051F2"/>
              </a:solidFill>
            </a:endParaRPr>
          </a:p>
          <a:p>
            <a:r>
              <a:rPr lang="en-US" altLang="zh-CN" sz="2800" dirty="0">
                <a:solidFill>
                  <a:srgbClr val="0051F2"/>
                </a:solidFill>
              </a:rPr>
              <a:t> </a:t>
            </a:r>
            <a:r>
              <a:rPr lang="en-US" altLang="zh-CN" sz="2800" dirty="0" smtClean="0">
                <a:solidFill>
                  <a:srgbClr val="0051F2"/>
                </a:solidFill>
              </a:rPr>
              <a:t>               =</a:t>
            </a:r>
            <a:r>
              <a:rPr lang="en-US" altLang="zh-CN" sz="2800" dirty="0">
                <a:solidFill>
                  <a:srgbClr val="0051F2"/>
                </a:solidFill>
              </a:rPr>
              <a:t> </a:t>
            </a:r>
            <a:r>
              <a:rPr lang="en-US" altLang="zh-CN" sz="2800" dirty="0" err="1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 err="1">
                <a:solidFill>
                  <a:srgbClr val="0051F2"/>
                </a:solidFill>
              </a:rPr>
              <a:t>n</a:t>
            </a:r>
            <a:r>
              <a:rPr lang="zh-CN" altLang="en-US" sz="2800" dirty="0" smtClean="0">
                <a:solidFill>
                  <a:srgbClr val="0051F2"/>
                </a:solidFill>
              </a:rPr>
              <a:t>*</a:t>
            </a:r>
            <a:r>
              <a:rPr lang="en-US" altLang="zh-CN" sz="2800" dirty="0" smtClean="0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 smtClean="0">
                <a:solidFill>
                  <a:srgbClr val="0051F2"/>
                </a:solidFill>
              </a:rPr>
              <a:t>2</a:t>
            </a:r>
            <a:r>
              <a:rPr lang="en-US" altLang="zh-CN" sz="2800" dirty="0" smtClean="0">
                <a:solidFill>
                  <a:srgbClr val="0051F2"/>
                </a:solidFill>
              </a:rPr>
              <a:t> + n</a:t>
            </a:r>
            <a:r>
              <a:rPr lang="en-US" altLang="zh-CN" sz="2800" baseline="30000" dirty="0" smtClean="0">
                <a:solidFill>
                  <a:srgbClr val="0051F2"/>
                </a:solidFill>
              </a:rPr>
              <a:t>n-1</a:t>
            </a:r>
            <a:r>
              <a:rPr lang="zh-CN" altLang="en-US" sz="2800" dirty="0" smtClean="0">
                <a:solidFill>
                  <a:srgbClr val="0051F2"/>
                </a:solidFill>
              </a:rPr>
              <a:t>*</a:t>
            </a:r>
            <a:r>
              <a:rPr lang="en-US" altLang="zh-CN" sz="2800" dirty="0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>
                <a:solidFill>
                  <a:srgbClr val="0051F2"/>
                </a:solidFill>
              </a:rPr>
              <a:t>2</a:t>
            </a:r>
            <a:r>
              <a:rPr lang="en-US" altLang="zh-CN" sz="2800" dirty="0">
                <a:solidFill>
                  <a:srgbClr val="0051F2"/>
                </a:solidFill>
              </a:rPr>
              <a:t> </a:t>
            </a:r>
          </a:p>
          <a:p>
            <a:r>
              <a:rPr lang="en-US" altLang="zh-CN" sz="2800" dirty="0" smtClean="0">
                <a:solidFill>
                  <a:srgbClr val="0051F2"/>
                </a:solidFill>
              </a:rPr>
              <a:t>                = O(</a:t>
            </a:r>
            <a:r>
              <a:rPr lang="en-US" altLang="zh-CN" sz="2800" dirty="0" err="1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 err="1">
                <a:solidFill>
                  <a:srgbClr val="0051F2"/>
                </a:solidFill>
              </a:rPr>
              <a:t>n</a:t>
            </a:r>
            <a:r>
              <a:rPr lang="zh-CN" altLang="en-US" sz="2800" dirty="0">
                <a:solidFill>
                  <a:srgbClr val="0051F2"/>
                </a:solidFill>
              </a:rPr>
              <a:t>*</a:t>
            </a:r>
            <a:r>
              <a:rPr lang="en-US" altLang="zh-CN" sz="2800" dirty="0">
                <a:solidFill>
                  <a:srgbClr val="0051F2"/>
                </a:solidFill>
              </a:rPr>
              <a:t>n</a:t>
            </a:r>
            <a:r>
              <a:rPr lang="en-US" altLang="zh-CN" sz="2800" baseline="30000" dirty="0">
                <a:solidFill>
                  <a:srgbClr val="0051F2"/>
                </a:solidFill>
              </a:rPr>
              <a:t>2</a:t>
            </a:r>
            <a:r>
              <a:rPr lang="en-US" altLang="zh-CN" sz="2800" dirty="0" smtClean="0">
                <a:solidFill>
                  <a:srgbClr val="0051F2"/>
                </a:solidFill>
              </a:rPr>
              <a:t>)</a:t>
            </a:r>
            <a:endParaRPr lang="en-US" altLang="zh-CN" sz="2800" dirty="0">
              <a:solidFill>
                <a:srgbClr val="0051F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6891" y="4083918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大家自行画出解空间树，分析时间复杂性</a:t>
            </a:r>
            <a:endParaRPr lang="en-US" altLang="zh-CN" sz="2800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的复杂性分析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57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07504" y="109556"/>
            <a:ext cx="936104" cy="587375"/>
          </a:xfrm>
        </p:spPr>
        <p:txBody>
          <a:bodyPr/>
          <a:lstStyle/>
          <a:p>
            <a:r>
              <a:rPr lang="zh-CN" altLang="en-US" sz="2400" b="0" dirty="0" smtClean="0">
                <a:latin typeface="+mn-ea"/>
                <a:ea typeface="+mn-ea"/>
              </a:rPr>
              <a:t>例</a:t>
            </a:r>
            <a:r>
              <a:rPr lang="en-US" altLang="zh-CN" sz="2400" b="0" dirty="0" smtClean="0">
                <a:latin typeface="+mn-ea"/>
                <a:ea typeface="+mn-ea"/>
              </a:rPr>
              <a:t>2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60032" y="195486"/>
            <a:ext cx="388843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66.	void </a:t>
            </a:r>
            <a:r>
              <a:rPr lang="en-US" altLang="zh-CN" sz="1600" dirty="0" err="1"/>
              <a:t>dfs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s,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b)  </a:t>
            </a:r>
            <a:endParaRPr lang="zh-CN" altLang="zh-CN" sz="1600" dirty="0"/>
          </a:p>
          <a:p>
            <a:r>
              <a:rPr lang="en-US" altLang="zh-CN" sz="1600" dirty="0"/>
              <a:t>67.	{</a:t>
            </a:r>
            <a:endParaRPr lang="zh-CN" altLang="zh-CN" sz="1600" dirty="0"/>
          </a:p>
          <a:p>
            <a:r>
              <a:rPr lang="en-US" altLang="zh-CN" sz="1600" dirty="0"/>
              <a:t>68.	     if (Win()){</a:t>
            </a:r>
            <a:endParaRPr lang="zh-CN" altLang="zh-CN" sz="1600" dirty="0"/>
          </a:p>
          <a:p>
            <a:r>
              <a:rPr lang="en-US" altLang="zh-CN" sz="1600" dirty="0"/>
              <a:t>69.	         if (c &gt; b)</a:t>
            </a:r>
            <a:endParaRPr lang="zh-CN" altLang="zh-CN" sz="1600" dirty="0"/>
          </a:p>
          <a:p>
            <a:r>
              <a:rPr lang="en-US" altLang="zh-CN" sz="1600" dirty="0"/>
              <a:t>70.	              c = b;</a:t>
            </a:r>
            <a:endParaRPr lang="zh-CN" altLang="zh-CN" sz="1600" dirty="0"/>
          </a:p>
          <a:p>
            <a:r>
              <a:rPr lang="en-US" altLang="zh-CN" sz="1600" dirty="0"/>
              <a:t>71.	         return;</a:t>
            </a:r>
            <a:endParaRPr lang="zh-CN" altLang="zh-CN" sz="1600" dirty="0"/>
          </a:p>
          <a:p>
            <a:r>
              <a:rPr lang="en-US" altLang="zh-CN" sz="1600" dirty="0"/>
              <a:t>72.	     }</a:t>
            </a:r>
            <a:endParaRPr lang="zh-CN" altLang="zh-CN" sz="1600" dirty="0"/>
          </a:p>
          <a:p>
            <a:r>
              <a:rPr lang="en-US" altLang="zh-CN" sz="1600" dirty="0"/>
              <a:t>73.	     if (s &gt;= m * m)        </a:t>
            </a:r>
            <a:endParaRPr lang="zh-CN" altLang="zh-CN" sz="1600" dirty="0"/>
          </a:p>
          <a:p>
            <a:r>
              <a:rPr lang="en-US" altLang="zh-CN" sz="1600" dirty="0"/>
              <a:t>74.	         return;</a:t>
            </a:r>
            <a:endParaRPr lang="zh-CN" altLang="zh-CN" sz="1600" dirty="0"/>
          </a:p>
          <a:p>
            <a:r>
              <a:rPr lang="en-US" altLang="zh-CN" sz="1600" dirty="0"/>
              <a:t>75.	     </a:t>
            </a:r>
            <a:r>
              <a:rPr lang="en-US" altLang="zh-CN" sz="1600" dirty="0" err="1"/>
              <a:t>dfs</a:t>
            </a:r>
            <a:r>
              <a:rPr lang="en-US" altLang="zh-CN" sz="1600" dirty="0"/>
              <a:t>(s + 1, b); </a:t>
            </a:r>
            <a:endParaRPr lang="zh-CN" altLang="zh-CN" sz="1600" dirty="0"/>
          </a:p>
          <a:p>
            <a:r>
              <a:rPr lang="en-US" altLang="zh-CN" sz="1600" dirty="0"/>
              <a:t>76.	     flip(s);</a:t>
            </a:r>
            <a:endParaRPr lang="zh-CN" altLang="zh-CN" sz="1600" dirty="0"/>
          </a:p>
          <a:p>
            <a:r>
              <a:rPr lang="en-US" altLang="zh-CN" sz="1600" dirty="0"/>
              <a:t>77.	     </a:t>
            </a:r>
            <a:r>
              <a:rPr lang="en-US" altLang="zh-CN" sz="1600" dirty="0" err="1"/>
              <a:t>dfs</a:t>
            </a:r>
            <a:r>
              <a:rPr lang="en-US" altLang="zh-CN" sz="1600" dirty="0"/>
              <a:t>(s + 1, b + 1); </a:t>
            </a:r>
            <a:endParaRPr lang="zh-CN" altLang="zh-CN" sz="1600" dirty="0"/>
          </a:p>
          <a:p>
            <a:r>
              <a:rPr lang="en-US" altLang="zh-CN" sz="1600" dirty="0"/>
              <a:t>78.	     flip(s);</a:t>
            </a:r>
            <a:endParaRPr lang="zh-CN" altLang="zh-CN" sz="1600" dirty="0"/>
          </a:p>
          <a:p>
            <a:r>
              <a:rPr lang="en-US" altLang="zh-CN" sz="1600" dirty="0"/>
              <a:t>79.	     return;</a:t>
            </a:r>
            <a:endParaRPr lang="zh-CN" altLang="zh-CN" sz="1600" dirty="0"/>
          </a:p>
          <a:p>
            <a:r>
              <a:rPr lang="en-US" altLang="zh-CN" sz="1600" dirty="0"/>
              <a:t>80.	}</a:t>
            </a:r>
            <a:endParaRPr lang="zh-CN" altLang="zh-CN" sz="1600" dirty="0"/>
          </a:p>
        </p:txBody>
      </p:sp>
      <p:sp>
        <p:nvSpPr>
          <p:cNvPr id="5" name="矩形 4"/>
          <p:cNvSpPr/>
          <p:nvPr/>
        </p:nvSpPr>
        <p:spPr>
          <a:xfrm>
            <a:off x="1259632" y="2603747"/>
            <a:ext cx="324036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55.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Win()</a:t>
            </a:r>
            <a:endParaRPr lang="zh-CN" altLang="zh-CN" sz="1400" dirty="0"/>
          </a:p>
          <a:p>
            <a:r>
              <a:rPr lang="en-US" altLang="zh-CN" sz="1400" dirty="0"/>
              <a:t>56.	{</a:t>
            </a:r>
            <a:endParaRPr lang="zh-CN" altLang="zh-CN" sz="1400" dirty="0"/>
          </a:p>
          <a:p>
            <a:r>
              <a:rPr lang="en-US" altLang="zh-CN" sz="1400" dirty="0"/>
              <a:t>57.	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j, s1 = 0;</a:t>
            </a:r>
            <a:endParaRPr lang="zh-CN" altLang="zh-CN" sz="1400" dirty="0"/>
          </a:p>
          <a:p>
            <a:r>
              <a:rPr lang="en-US" altLang="zh-CN" sz="1400" dirty="0"/>
              <a:t>58.	    for 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= 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&lt; m;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	</a:t>
            </a:r>
            <a:endParaRPr lang="zh-CN" altLang="zh-CN" sz="1400" dirty="0"/>
          </a:p>
          <a:p>
            <a:r>
              <a:rPr lang="en-US" altLang="zh-CN" sz="1400" dirty="0"/>
              <a:t>59.	        for (j = 0; j &lt; m; </a:t>
            </a:r>
            <a:r>
              <a:rPr lang="en-US" altLang="zh-CN" sz="1400" dirty="0" err="1"/>
              <a:t>j++</a:t>
            </a:r>
            <a:r>
              <a:rPr lang="en-US" altLang="zh-CN" sz="1400" dirty="0"/>
              <a:t>)</a:t>
            </a:r>
            <a:endParaRPr lang="zh-CN" altLang="zh-CN" sz="1400" dirty="0"/>
          </a:p>
          <a:p>
            <a:r>
              <a:rPr lang="en-US" altLang="zh-CN" sz="1400" dirty="0"/>
              <a:t>60.	             s1 += map[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][j];</a:t>
            </a:r>
            <a:endParaRPr lang="zh-CN" altLang="zh-CN" sz="1400" dirty="0"/>
          </a:p>
          <a:p>
            <a:r>
              <a:rPr lang="en-US" altLang="zh-CN" sz="1400" dirty="0"/>
              <a:t>61.	     if (s1 % (m * m))        </a:t>
            </a:r>
            <a:endParaRPr lang="zh-CN" altLang="zh-CN" sz="1400" dirty="0"/>
          </a:p>
          <a:p>
            <a:r>
              <a:rPr lang="en-US" altLang="zh-CN" sz="1400" dirty="0"/>
              <a:t>62.	         return 0;</a:t>
            </a:r>
            <a:endParaRPr lang="zh-CN" altLang="zh-CN" sz="1400" dirty="0"/>
          </a:p>
          <a:p>
            <a:r>
              <a:rPr lang="en-US" altLang="zh-CN" sz="1400" dirty="0"/>
              <a:t>63.	     else</a:t>
            </a:r>
            <a:endParaRPr lang="zh-CN" altLang="zh-CN" sz="1400" dirty="0"/>
          </a:p>
          <a:p>
            <a:r>
              <a:rPr lang="en-US" altLang="zh-CN" sz="1400" dirty="0"/>
              <a:t>64.	         return 1;</a:t>
            </a:r>
            <a:endParaRPr lang="zh-CN" altLang="zh-CN" sz="1400" dirty="0"/>
          </a:p>
          <a:p>
            <a:r>
              <a:rPr lang="en-US" altLang="zh-CN" sz="1400" dirty="0"/>
              <a:t>65.	}</a:t>
            </a:r>
            <a:endParaRPr lang="zh-CN" altLang="zh-CN" sz="1400" dirty="0"/>
          </a:p>
        </p:txBody>
      </p:sp>
      <p:sp>
        <p:nvSpPr>
          <p:cNvPr id="6" name="矩形 5"/>
          <p:cNvSpPr/>
          <p:nvPr/>
        </p:nvSpPr>
        <p:spPr>
          <a:xfrm>
            <a:off x="1331640" y="141534"/>
            <a:ext cx="25202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44.	void flip(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s)</a:t>
            </a:r>
            <a:endParaRPr lang="zh-CN" altLang="zh-CN" sz="1400" dirty="0"/>
          </a:p>
          <a:p>
            <a:r>
              <a:rPr lang="en-US" altLang="zh-CN" sz="1400" dirty="0"/>
              <a:t>45.	{</a:t>
            </a:r>
            <a:endParaRPr lang="zh-CN" altLang="zh-CN" sz="1400" dirty="0"/>
          </a:p>
          <a:p>
            <a:r>
              <a:rPr lang="en-US" altLang="zh-CN" sz="1400" dirty="0"/>
              <a:t>46.	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= s / m;</a:t>
            </a:r>
            <a:endParaRPr lang="zh-CN" altLang="zh-CN" sz="1400" dirty="0"/>
          </a:p>
          <a:p>
            <a:r>
              <a:rPr lang="en-US" altLang="zh-CN" sz="1400" dirty="0"/>
              <a:t>47.	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j = s % m; </a:t>
            </a:r>
            <a:endParaRPr lang="zh-CN" altLang="zh-CN" sz="1400" dirty="0"/>
          </a:p>
          <a:p>
            <a:r>
              <a:rPr lang="en-US" altLang="zh-CN" sz="1400" dirty="0"/>
              <a:t>48.	    turn(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j);</a:t>
            </a:r>
            <a:endParaRPr lang="zh-CN" altLang="zh-CN" sz="1400" dirty="0"/>
          </a:p>
          <a:p>
            <a:r>
              <a:rPr lang="en-US" altLang="zh-CN" sz="1400" dirty="0"/>
              <a:t>49.	    turn(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+ 1, j);</a:t>
            </a:r>
            <a:endParaRPr lang="zh-CN" altLang="zh-CN" sz="1400" dirty="0"/>
          </a:p>
          <a:p>
            <a:r>
              <a:rPr lang="en-US" altLang="zh-CN" sz="1400" dirty="0"/>
              <a:t>50.	    turn(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j + 1);</a:t>
            </a:r>
            <a:endParaRPr lang="zh-CN" altLang="zh-CN" sz="1400" dirty="0"/>
          </a:p>
          <a:p>
            <a:r>
              <a:rPr lang="en-US" altLang="zh-CN" sz="1400" dirty="0"/>
              <a:t>51.	    turn(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- 1, j);</a:t>
            </a:r>
            <a:endParaRPr lang="zh-CN" altLang="zh-CN" sz="1400" dirty="0"/>
          </a:p>
          <a:p>
            <a:r>
              <a:rPr lang="en-US" altLang="zh-CN" sz="1400" dirty="0"/>
              <a:t>52.	    turn(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j - 1);</a:t>
            </a:r>
            <a:endParaRPr lang="zh-CN" altLang="zh-CN" sz="1400" dirty="0"/>
          </a:p>
          <a:p>
            <a:r>
              <a:rPr lang="en-US" altLang="zh-CN" sz="1400" dirty="0"/>
              <a:t>53.	    return;</a:t>
            </a:r>
            <a:endParaRPr lang="zh-CN" altLang="zh-CN" sz="1400" dirty="0"/>
          </a:p>
          <a:p>
            <a:r>
              <a:rPr lang="en-US" altLang="zh-CN" sz="1400" dirty="0"/>
              <a:t>54.	}</a:t>
            </a:r>
            <a:endParaRPr lang="zh-CN" altLang="zh-CN" sz="1400" dirty="0"/>
          </a:p>
        </p:txBody>
      </p:sp>
      <p:sp>
        <p:nvSpPr>
          <p:cNvPr id="7" name="矩形 6"/>
          <p:cNvSpPr/>
          <p:nvPr/>
        </p:nvSpPr>
        <p:spPr>
          <a:xfrm>
            <a:off x="4908226" y="4245885"/>
            <a:ext cx="3775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分析</a:t>
            </a:r>
            <a:r>
              <a:rPr lang="en-US" altLang="zh-CN" sz="2400" dirty="0" err="1" smtClean="0"/>
              <a:t>dfs</a:t>
            </a:r>
            <a:r>
              <a:rPr lang="en-US" altLang="zh-CN" sz="2400" dirty="0" smtClean="0"/>
              <a:t>(0</a:t>
            </a:r>
            <a:r>
              <a:rPr lang="en-US" altLang="zh-CN" sz="2400" dirty="0"/>
              <a:t>, 0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的时间复杂性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924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</a:t>
            </a:r>
            <a:r>
              <a:rPr lang="zh-CN" altLang="en-US" dirty="0"/>
              <a:t>复杂性分析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323528" y="987574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时间复杂性递推方程：</a:t>
            </a:r>
            <a:endParaRPr lang="en-US" altLang="zh-CN" sz="2400" dirty="0"/>
          </a:p>
          <a:p>
            <a:r>
              <a:rPr lang="en-US" altLang="zh-CN" sz="2400" dirty="0" smtClean="0">
                <a:solidFill>
                  <a:srgbClr val="0051F2"/>
                </a:solidFill>
              </a:rPr>
              <a:t>T(s</a:t>
            </a:r>
            <a:r>
              <a:rPr lang="en-US" altLang="zh-CN" sz="2400" dirty="0">
                <a:solidFill>
                  <a:srgbClr val="0051F2"/>
                </a:solidFill>
              </a:rPr>
              <a:t>) = 2*T(s+1)+ O(m</a:t>
            </a:r>
            <a:r>
              <a:rPr lang="en-US" altLang="zh-CN" sz="2400" baseline="30000" dirty="0">
                <a:solidFill>
                  <a:srgbClr val="0051F2"/>
                </a:solidFill>
              </a:rPr>
              <a:t>2</a:t>
            </a:r>
            <a:r>
              <a:rPr lang="en-US" altLang="zh-CN" sz="2400" dirty="0">
                <a:solidFill>
                  <a:srgbClr val="0051F2"/>
                </a:solidFill>
              </a:rPr>
              <a:t>) 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O(m</a:t>
            </a:r>
            <a:r>
              <a:rPr lang="en-US" altLang="zh-CN" sz="200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zh-CN" sz="2000" dirty="0">
                <a:solidFill>
                  <a:srgbClr val="FF0000"/>
                </a:solidFill>
              </a:rPr>
              <a:t>是每轮中</a:t>
            </a:r>
            <a:r>
              <a:rPr lang="en-US" altLang="zh-CN" sz="2000" dirty="0">
                <a:solidFill>
                  <a:srgbClr val="FF0000"/>
                </a:solidFill>
              </a:rPr>
              <a:t>Win()</a:t>
            </a:r>
            <a:r>
              <a:rPr lang="zh-CN" altLang="zh-CN" sz="2000" dirty="0">
                <a:solidFill>
                  <a:srgbClr val="FF0000"/>
                </a:solidFill>
              </a:rPr>
              <a:t>的</a:t>
            </a:r>
            <a:r>
              <a:rPr lang="zh-CN" altLang="zh-CN" sz="2000" dirty="0" smtClean="0">
                <a:solidFill>
                  <a:srgbClr val="FF0000"/>
                </a:solidFill>
              </a:rPr>
              <a:t>时间复杂性</a:t>
            </a:r>
            <a:r>
              <a:rPr lang="zh-CN" altLang="en-US" sz="2000" dirty="0" smtClean="0"/>
              <a:t>）</a:t>
            </a:r>
            <a:endParaRPr lang="zh-CN" altLang="zh-CN" sz="2400" dirty="0"/>
          </a:p>
          <a:p>
            <a:r>
              <a:rPr lang="en-US" altLang="zh-CN" sz="2400" dirty="0">
                <a:solidFill>
                  <a:srgbClr val="0051F2"/>
                </a:solidFill>
              </a:rPr>
              <a:t>T(m*m</a:t>
            </a:r>
            <a:r>
              <a:rPr lang="en-US" altLang="zh-CN" sz="2400" dirty="0" smtClean="0">
                <a:solidFill>
                  <a:srgbClr val="0051F2"/>
                </a:solidFill>
              </a:rPr>
              <a:t>) = O(1</a:t>
            </a:r>
            <a:r>
              <a:rPr lang="en-US" altLang="zh-CN" sz="2400" dirty="0">
                <a:solidFill>
                  <a:srgbClr val="0051F2"/>
                </a:solidFill>
              </a:rPr>
              <a:t>) </a:t>
            </a:r>
            <a:r>
              <a:rPr lang="en-US" altLang="zh-CN" sz="2400" dirty="0" smtClean="0">
                <a:solidFill>
                  <a:srgbClr val="0051F2"/>
                </a:solidFill>
              </a:rPr>
              <a:t>            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（</a:t>
            </a:r>
            <a:r>
              <a:rPr lang="zh-CN" altLang="zh-CN" sz="2000" dirty="0" smtClean="0"/>
              <a:t>递归出口时间复杂性</a:t>
            </a:r>
            <a:r>
              <a:rPr lang="zh-CN" altLang="en-US" sz="2000" dirty="0" smtClean="0"/>
              <a:t>，注意递归深度是 </a:t>
            </a:r>
            <a:r>
              <a:rPr lang="en-US" altLang="zh-CN" sz="2000" dirty="0" smtClean="0"/>
              <a:t>m</a:t>
            </a:r>
            <a:r>
              <a:rPr lang="en-US" altLang="zh-CN" sz="2000" baseline="30000" dirty="0" smtClean="0"/>
              <a:t>2</a:t>
            </a:r>
            <a:r>
              <a:rPr lang="zh-CN" altLang="en-US" sz="2000" dirty="0" smtClean="0"/>
              <a:t>）</a:t>
            </a:r>
            <a:endParaRPr lang="zh-CN" altLang="zh-CN" sz="2000" dirty="0"/>
          </a:p>
        </p:txBody>
      </p:sp>
      <p:sp>
        <p:nvSpPr>
          <p:cNvPr id="6" name="矩形 5"/>
          <p:cNvSpPr/>
          <p:nvPr/>
        </p:nvSpPr>
        <p:spPr>
          <a:xfrm>
            <a:off x="467544" y="2427734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+mn-ea"/>
              </a:rPr>
              <a:t>因此 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T(0</a:t>
            </a:r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)=2T(1)+O(m</a:t>
            </a:r>
            <a:r>
              <a:rPr lang="en-US" altLang="zh-CN" sz="2400" baseline="30000" dirty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)</a:t>
            </a:r>
          </a:p>
          <a:p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 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            =</a:t>
            </a:r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2*2T(2)+2*m</a:t>
            </a:r>
            <a:r>
              <a:rPr lang="en-US" altLang="zh-CN" sz="2400" baseline="30000" dirty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+m</a:t>
            </a:r>
            <a:r>
              <a:rPr lang="en-US" altLang="zh-CN" sz="2400" baseline="30000" dirty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=….</a:t>
            </a:r>
          </a:p>
          <a:p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 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            = 2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m</a:t>
            </a:r>
            <a:r>
              <a:rPr lang="zh-CN" altLang="en-US" sz="2400" baseline="30000" dirty="0" smtClean="0">
                <a:solidFill>
                  <a:srgbClr val="0051F2"/>
                </a:solidFill>
                <a:latin typeface="+mn-ea"/>
              </a:rPr>
              <a:t>*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m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+</a:t>
            </a:r>
            <a:r>
              <a:rPr lang="zh-CN" altLang="en-US" sz="2400" dirty="0" smtClean="0">
                <a:solidFill>
                  <a:srgbClr val="0051F2"/>
                </a:solidFill>
                <a:latin typeface="+mn-ea"/>
              </a:rPr>
              <a:t>（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m</a:t>
            </a:r>
            <a:r>
              <a:rPr lang="zh-CN" altLang="en-US" sz="2400" baseline="30000" dirty="0" smtClean="0">
                <a:solidFill>
                  <a:srgbClr val="0051F2"/>
                </a:solidFill>
                <a:latin typeface="+mn-ea"/>
              </a:rPr>
              <a:t>*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m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-1</a:t>
            </a:r>
            <a:r>
              <a:rPr lang="zh-CN" altLang="en-US" sz="2400" dirty="0" smtClean="0">
                <a:solidFill>
                  <a:srgbClr val="0051F2"/>
                </a:solidFill>
                <a:latin typeface="+mn-ea"/>
              </a:rPr>
              <a:t>）*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m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=</a:t>
            </a:r>
          </a:p>
          <a:p>
            <a:r>
              <a:rPr lang="en-US" altLang="zh-CN" sz="2400" dirty="0">
                <a:solidFill>
                  <a:srgbClr val="0051F2"/>
                </a:solidFill>
                <a:latin typeface="+mn-ea"/>
              </a:rPr>
              <a:t> 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            = O(m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2</a:t>
            </a:r>
            <a:r>
              <a:rPr lang="en-US" altLang="zh-CN" sz="2400" baseline="30000" dirty="0" smtClean="0">
                <a:solidFill>
                  <a:srgbClr val="0051F2"/>
                </a:solidFill>
                <a:latin typeface="+mn-ea"/>
              </a:rPr>
              <a:t>m*m</a:t>
            </a:r>
            <a:r>
              <a:rPr lang="en-US" altLang="zh-CN" sz="2400" dirty="0" smtClean="0">
                <a:solidFill>
                  <a:srgbClr val="0051F2"/>
                </a:solidFill>
                <a:latin typeface="+mn-ea"/>
              </a:rPr>
              <a:t>)</a:t>
            </a:r>
          </a:p>
          <a:p>
            <a:endParaRPr lang="en-US" altLang="zh-CN" sz="2400" dirty="0" smtClean="0">
              <a:solidFill>
                <a:srgbClr val="0051F2"/>
              </a:solidFill>
              <a:latin typeface="+mn-ea"/>
            </a:endParaRPr>
          </a:p>
          <a:p>
            <a:r>
              <a:rPr lang="zh-CN" altLang="en-US" sz="2000" dirty="0" smtClean="0">
                <a:latin typeface="+mn-ea"/>
              </a:rPr>
              <a:t>注意：本代码的问题规模是 </a:t>
            </a:r>
            <a:r>
              <a:rPr lang="en-US" altLang="zh-CN" sz="2000" dirty="0" smtClean="0">
                <a:latin typeface="+mn-ea"/>
              </a:rPr>
              <a:t>m</a:t>
            </a:r>
            <a:r>
              <a:rPr lang="zh-CN" altLang="en-US" sz="2000" dirty="0" smtClean="0">
                <a:latin typeface="+mn-ea"/>
              </a:rPr>
              <a:t>，即棋盘的维度。</a:t>
            </a:r>
            <a:endParaRPr lang="zh-CN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81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主题1">
  <a:themeElements>
    <a:clrScheme name="交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5483"/>
      </a:accent1>
      <a:accent2>
        <a:srgbClr val="025483"/>
      </a:accent2>
      <a:accent3>
        <a:srgbClr val="025483"/>
      </a:accent3>
      <a:accent4>
        <a:srgbClr val="025483"/>
      </a:accent4>
      <a:accent5>
        <a:srgbClr val="025483"/>
      </a:accent5>
      <a:accent6>
        <a:srgbClr val="025483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1.西南交通大学答辩通用模板（交大蓝）</Template>
  <TotalTime>768</TotalTime>
  <Words>950</Words>
  <Application>Microsoft Office PowerPoint</Application>
  <PresentationFormat>全屏显示(16:9)</PresentationFormat>
  <Paragraphs>165</Paragraphs>
  <Slides>10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主题1</vt:lpstr>
      <vt:lpstr>回溯法时间复杂性分析</vt:lpstr>
      <vt:lpstr>概述</vt:lpstr>
      <vt:lpstr>时间复杂性函数递推公式</vt:lpstr>
      <vt:lpstr>回溯法（子集树）时间复杂性函数的迭代</vt:lpstr>
      <vt:lpstr>回溯法（子集树）时间复杂性函数的递归树</vt:lpstr>
      <vt:lpstr>回溯法（排列树）时间复杂性函数的递归树：</vt:lpstr>
      <vt:lpstr>PowerPoint 演示文稿</vt:lpstr>
      <vt:lpstr>例1的复杂性分析</vt:lpstr>
      <vt:lpstr>例2</vt:lpstr>
      <vt:lpstr>例2的复杂性分析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257</cp:revision>
  <dcterms:created xsi:type="dcterms:W3CDTF">2021-08-12T01:42:42Z</dcterms:created>
  <dcterms:modified xsi:type="dcterms:W3CDTF">2024-03-26T09:11:57Z</dcterms:modified>
</cp:coreProperties>
</file>