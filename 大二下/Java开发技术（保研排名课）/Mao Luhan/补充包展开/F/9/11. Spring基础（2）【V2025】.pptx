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4"/>
  </p:handoutMasterIdLst>
  <p:sldIdLst>
    <p:sldId id="921" r:id="rId3"/>
    <p:sldId id="2220" r:id="rId5"/>
    <p:sldId id="2221" r:id="rId6"/>
    <p:sldId id="2222" r:id="rId7"/>
    <p:sldId id="2223" r:id="rId8"/>
    <p:sldId id="2224" r:id="rId9"/>
    <p:sldId id="2225" r:id="rId10"/>
    <p:sldId id="2226" r:id="rId11"/>
    <p:sldId id="2227" r:id="rId12"/>
    <p:sldId id="2228" r:id="rId13"/>
    <p:sldId id="2229" r:id="rId14"/>
    <p:sldId id="2237" r:id="rId15"/>
    <p:sldId id="2230" r:id="rId16"/>
    <p:sldId id="2231" r:id="rId17"/>
    <p:sldId id="2232" r:id="rId18"/>
    <p:sldId id="2233" r:id="rId19"/>
    <p:sldId id="2234" r:id="rId20"/>
    <p:sldId id="2235" r:id="rId21"/>
    <p:sldId id="2238" r:id="rId22"/>
    <p:sldId id="2239" r:id="rId23"/>
    <p:sldId id="2240" r:id="rId24"/>
    <p:sldId id="2241" r:id="rId25"/>
    <p:sldId id="2173" r:id="rId26"/>
    <p:sldId id="2174" r:id="rId27"/>
    <p:sldId id="2175" r:id="rId28"/>
    <p:sldId id="2176" r:id="rId29"/>
    <p:sldId id="2177" r:id="rId30"/>
    <p:sldId id="2178" r:id="rId31"/>
    <p:sldId id="2190" r:id="rId32"/>
    <p:sldId id="2292" r:id="rId33"/>
    <p:sldId id="2179" r:id="rId34"/>
    <p:sldId id="2180" r:id="rId35"/>
    <p:sldId id="2181" r:id="rId36"/>
    <p:sldId id="2290" r:id="rId37"/>
    <p:sldId id="2289" r:id="rId38"/>
    <p:sldId id="2183" r:id="rId39"/>
    <p:sldId id="2184" r:id="rId40"/>
    <p:sldId id="2182" r:id="rId41"/>
    <p:sldId id="2185" r:id="rId42"/>
    <p:sldId id="2187" r:id="rId43"/>
    <p:sldId id="2186" r:id="rId44"/>
    <p:sldId id="2188" r:id="rId45"/>
    <p:sldId id="2218" r:id="rId46"/>
    <p:sldId id="2219" r:id="rId47"/>
    <p:sldId id="2191" r:id="rId48"/>
    <p:sldId id="2210" r:id="rId49"/>
    <p:sldId id="2211" r:id="rId50"/>
    <p:sldId id="2212" r:id="rId51"/>
    <p:sldId id="2214" r:id="rId52"/>
    <p:sldId id="2213" r:id="rId53"/>
    <p:sldId id="2215" r:id="rId54"/>
    <p:sldId id="2216" r:id="rId55"/>
    <p:sldId id="2217" r:id="rId56"/>
    <p:sldId id="2209" r:id="rId57"/>
    <p:sldId id="2291" r:id="rId58"/>
    <p:sldId id="2192" r:id="rId59"/>
    <p:sldId id="2193" r:id="rId60"/>
    <p:sldId id="2329" r:id="rId61"/>
    <p:sldId id="2242" r:id="rId62"/>
    <p:sldId id="2244" r:id="rId63"/>
    <p:sldId id="2246" r:id="rId64"/>
    <p:sldId id="2247" r:id="rId65"/>
    <p:sldId id="2294" r:id="rId66"/>
    <p:sldId id="2251" r:id="rId67"/>
    <p:sldId id="2250" r:id="rId68"/>
    <p:sldId id="2253" r:id="rId69"/>
    <p:sldId id="2254" r:id="rId70"/>
    <p:sldId id="2249" r:id="rId71"/>
    <p:sldId id="2252" r:id="rId72"/>
    <p:sldId id="2295" r:id="rId73"/>
    <p:sldId id="2313" r:id="rId74"/>
    <p:sldId id="2257" r:id="rId75"/>
    <p:sldId id="2258" r:id="rId76"/>
    <p:sldId id="2296" r:id="rId77"/>
    <p:sldId id="2256" r:id="rId78"/>
    <p:sldId id="2261" r:id="rId79"/>
    <p:sldId id="2330" r:id="rId80"/>
    <p:sldId id="2332" r:id="rId81"/>
    <p:sldId id="2314" r:id="rId82"/>
    <p:sldId id="2326" r:id="rId83"/>
    <p:sldId id="2325" r:id="rId84"/>
    <p:sldId id="2316" r:id="rId85"/>
    <p:sldId id="2324" r:id="rId86"/>
    <p:sldId id="2315" r:id="rId87"/>
    <p:sldId id="2317" r:id="rId88"/>
    <p:sldId id="2333" r:id="rId89"/>
    <p:sldId id="2334" r:id="rId90"/>
    <p:sldId id="2335" r:id="rId91"/>
    <p:sldId id="2318" r:id="rId92"/>
    <p:sldId id="2319" r:id="rId93"/>
    <p:sldId id="2320" r:id="rId94"/>
    <p:sldId id="2321" r:id="rId95"/>
    <p:sldId id="2322" r:id="rId96"/>
    <p:sldId id="2298" r:id="rId97"/>
    <p:sldId id="2300" r:id="rId98"/>
    <p:sldId id="2299" r:id="rId99"/>
    <p:sldId id="2301" r:id="rId100"/>
    <p:sldId id="2302" r:id="rId101"/>
    <p:sldId id="2303" r:id="rId102"/>
    <p:sldId id="2304" r:id="rId103"/>
    <p:sldId id="2305" r:id="rId104"/>
    <p:sldId id="2306" r:id="rId105"/>
    <p:sldId id="2336" r:id="rId106"/>
    <p:sldId id="2307" r:id="rId107"/>
    <p:sldId id="2308" r:id="rId108"/>
    <p:sldId id="2309" r:id="rId109"/>
    <p:sldId id="2337" r:id="rId110"/>
    <p:sldId id="2310" r:id="rId111"/>
    <p:sldId id="2311" r:id="rId112"/>
    <p:sldId id="2312" r:id="rId113"/>
    <p:sldId id="2262" r:id="rId114"/>
    <p:sldId id="2263" r:id="rId115"/>
    <p:sldId id="2264" r:id="rId116"/>
    <p:sldId id="2265" r:id="rId117"/>
    <p:sldId id="2266" r:id="rId118"/>
    <p:sldId id="2267" r:id="rId119"/>
    <p:sldId id="2268" r:id="rId120"/>
    <p:sldId id="2269" r:id="rId121"/>
    <p:sldId id="2270" r:id="rId122"/>
    <p:sldId id="2271" r:id="rId123"/>
    <p:sldId id="2272" r:id="rId124"/>
    <p:sldId id="2273" r:id="rId125"/>
    <p:sldId id="2274" r:id="rId126"/>
    <p:sldId id="2275" r:id="rId127"/>
    <p:sldId id="2276" r:id="rId128"/>
    <p:sldId id="2277" r:id="rId129"/>
    <p:sldId id="2278" r:id="rId130"/>
    <p:sldId id="2279" r:id="rId131"/>
    <p:sldId id="2280" r:id="rId132"/>
    <p:sldId id="1730" r:id="rId133"/>
  </p:sldIdLst>
  <p:sldSz cx="9144000" cy="5143500" type="screen16x9"/>
  <p:notesSz cx="6858000" cy="9144000"/>
  <p:defaultTextStyle>
    <a:defPPr>
      <a:defRPr lang="zh-CN"/>
    </a:defPPr>
    <a:lvl1pPr marL="0" lvl="0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9" userDrawn="1">
          <p15:clr>
            <a:srgbClr val="A4A3A4"/>
          </p15:clr>
        </p15:guide>
        <p15:guide id="2" pos="26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F0"/>
    <a:srgbClr val="0033CC"/>
    <a:srgbClr val="FF6600"/>
    <a:srgbClr val="00CC99"/>
    <a:srgbClr val="E6F882"/>
    <a:srgbClr val="E0F90A"/>
    <a:srgbClr val="56E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547" y="77"/>
      </p:cViewPr>
      <p:guideLst>
        <p:guide orient="horz" pos="1399"/>
        <p:guide pos="2685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7" Type="http://schemas.openxmlformats.org/officeDocument/2006/relationships/tableStyles" Target="tableStyles.xml"/><Relationship Id="rId136" Type="http://schemas.openxmlformats.org/officeDocument/2006/relationships/viewProps" Target="viewProps.xml"/><Relationship Id="rId135" Type="http://schemas.openxmlformats.org/officeDocument/2006/relationships/presProps" Target="presProps.xml"/><Relationship Id="rId134" Type="http://schemas.openxmlformats.org/officeDocument/2006/relationships/handoutMaster" Target="handoutMasters/handoutMaster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4E498C-07A2-4760-9ED3-CE07222200C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AA612B-BF52-4B7D-B09B-7D6C8632F43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7"/>
          <p:cNvSpPr txBox="1"/>
          <p:nvPr/>
        </p:nvSpPr>
        <p:spPr>
          <a:xfrm>
            <a:off x="827088" y="195263"/>
            <a:ext cx="1990725" cy="312738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38"/>
          <p:cNvSpPr txBox="1"/>
          <p:nvPr/>
        </p:nvSpPr>
        <p:spPr>
          <a:xfrm>
            <a:off x="827088" y="388938"/>
            <a:ext cx="1804988" cy="266700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ADD RELATED TITLE WORDS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8288"/>
            <a:ext cx="647700" cy="2873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9750" y="268288"/>
            <a:ext cx="144463" cy="287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506AE2-0E76-4371-8530-0AB67F8FD97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E90776-6B98-4E58-8DD3-6B5DF5B3AFE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68580" tIns="34290" rIns="68580" bIns="34290" numCol="1" rtlCol="0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3"/>
          <p:cNvGrpSpPr/>
          <p:nvPr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9" name="矩形 8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" name="文本框 12"/>
          <p:cNvSpPr txBox="1">
            <a:spLocks noChangeArrowheads="1"/>
          </p:cNvSpPr>
          <p:nvPr/>
        </p:nvSpPr>
        <p:spPr bwMode="auto">
          <a:xfrm>
            <a:off x="0" y="369888"/>
            <a:ext cx="1795463" cy="620713"/>
          </a:xfrm>
          <a:prstGeom prst="rect">
            <a:avLst/>
          </a:prstGeom>
          <a:noFill/>
          <a:ln>
            <a:noFill/>
          </a:ln>
        </p:spPr>
        <p:txBody>
          <a:bodyPr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333500" y="4935538"/>
            <a:ext cx="4751388" cy="14446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- Use 'Insert &gt;Header &amp; Footer' to modify this text and ‘Apply to all’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820" y="59514"/>
            <a:ext cx="6858048" cy="403625"/>
          </a:xfrm>
        </p:spPr>
        <p:txBody>
          <a:bodyPr>
            <a:noAutofit/>
          </a:bodyPr>
          <a:lstStyle>
            <a:lvl1pPr algn="l">
              <a:defRPr sz="2100" b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248" y="1166336"/>
            <a:ext cx="3924776" cy="345614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>
    <p:random/>
  </p:transition>
  <p:hf sldNum="0" hdr="0" ftr="0" dt="0"/>
  <p:txStyles>
    <p:titleStyle>
      <a:lvl1pPr algn="ctr" defTabSz="91313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9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1" Type="http://schemas.openxmlformats.org/officeDocument/2006/relationships/image" Target="../media/image1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6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7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1" Type="http://schemas.openxmlformats.org/officeDocument/2006/relationships/image" Target="../media/image9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1" Type="http://schemas.openxmlformats.org/officeDocument/2006/relationships/image" Target="../media/image9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1" Type="http://schemas.openxmlformats.org/officeDocument/2006/relationships/image" Target="../media/image104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5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9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1" Type="http://schemas.openxmlformats.org/officeDocument/2006/relationships/image" Target="../media/image11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2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3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4.png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8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9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image" Target="../media/image120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3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4.png"/></Relationships>
</file>

<file path=ppt/slides/_rels/slide10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5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6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7.png"/></Relationships>
</file>

<file path=ppt/slides/_rels/slide1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image" Target="../media/image128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1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2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3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4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5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6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7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8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9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1" Type="http://schemas.openxmlformats.org/officeDocument/2006/relationships/image" Target="../media/image140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2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3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1" Type="http://schemas.openxmlformats.org/officeDocument/2006/relationships/image" Target="../media/image144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6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7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8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9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0.png"/></Relationships>
</file>

<file path=ppt/slides/_rels/slide1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1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47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429940" y="1923678"/>
            <a:ext cx="535435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ctr" defTabSz="91376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Spring  </a:t>
            </a:r>
            <a:r>
              <a:rPr lang="zh-CN" altLang="en-US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实战</a:t>
            </a: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kumimoji="0" lang="zh-CN" altLang="en-US" sz="3600" b="1" kern="1200" cap="none" spc="0" normalizeH="0" baseline="0" noProof="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0" name="TextBox 10"/>
          <p:cNvSpPr txBox="1"/>
          <p:nvPr/>
        </p:nvSpPr>
        <p:spPr>
          <a:xfrm>
            <a:off x="5741152" y="3867894"/>
            <a:ext cx="89281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1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2025.05</a:t>
            </a:r>
            <a:endParaRPr lang="en-US" altLang="zh-CN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3422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131840" y="2077393"/>
            <a:ext cx="5291813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在云平台上创建应用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267493"/>
            <a:ext cx="7632848" cy="4861687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724128" y="4299942"/>
            <a:ext cx="2232248" cy="64807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555526"/>
            <a:ext cx="8319360" cy="3744416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487236" y="555526"/>
            <a:ext cx="2232248" cy="64807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494464" y="1635646"/>
            <a:ext cx="2232248" cy="64807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525572" y="3543858"/>
            <a:ext cx="2694499" cy="64807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339502"/>
            <a:ext cx="7188595" cy="4464496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115616" y="2715766"/>
            <a:ext cx="1872208" cy="64807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728" y="0"/>
            <a:ext cx="3013106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0"/>
            <a:ext cx="5256584" cy="50879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195486"/>
            <a:ext cx="4896544" cy="467312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56" y="7678"/>
            <a:ext cx="5411970" cy="1296144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539552" y="1491630"/>
            <a:ext cx="8424936" cy="25202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因为用了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lombok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包的原因，不能一次通过。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、多等一下，让平台安装好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Lombok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、把用到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lombok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的源文件都点开一下，让平 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台自动编译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、运行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mvn:spring-boot:run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、***</a:t>
            </a:r>
            <a:r>
              <a:rPr lang="zh-CN" altLang="en-US" sz="2400" dirty="0" smtClean="0">
                <a:solidFill>
                  <a:srgbClr val="FF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关闭页面后再打开</a:t>
            </a:r>
            <a:endParaRPr lang="en-US" altLang="zh-CN" sz="2400" dirty="0" smtClean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、直到不提示错误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/>
          <p:nvPr/>
        </p:nvSpPr>
        <p:spPr bwMode="auto">
          <a:xfrm>
            <a:off x="519652" y="4227934"/>
            <a:ext cx="8424936" cy="864096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产品选择上海地区服务器，没有提示错误。同学们可以再试一下。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12.17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3" y="411510"/>
            <a:ext cx="8837829" cy="396044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132111"/>
            <a:ext cx="6304160" cy="2010022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067944" y="1543392"/>
            <a:ext cx="1872208" cy="64807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355726"/>
            <a:ext cx="8827792" cy="8640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607" y="3456264"/>
            <a:ext cx="6078193" cy="147813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131840" y="2077393"/>
            <a:ext cx="2454498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模块功能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51470"/>
            <a:ext cx="7096366" cy="4948014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228184" y="4443958"/>
            <a:ext cx="1872208" cy="55552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08" y="0"/>
            <a:ext cx="7315984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9195"/>
            <a:ext cx="9144000" cy="374510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309" y="0"/>
            <a:ext cx="4537382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681" y="0"/>
            <a:ext cx="4434638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7955" y="0"/>
            <a:ext cx="4288090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131840" y="2077393"/>
            <a:ext cx="3589424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部分功能说明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5995"/>
            <a:ext cx="5256584" cy="5087924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5940152" y="1995686"/>
            <a:ext cx="2736304" cy="699542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267494"/>
            <a:ext cx="4896544" cy="4673128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5868144" y="1347614"/>
            <a:ext cx="3167284" cy="134761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32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Thymeleaf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模板文件</a:t>
            </a:r>
            <a:endParaRPr lang="zh-CN" altLang="en-US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/>
          <p:nvPr/>
        </p:nvSpPr>
        <p:spPr bwMode="auto">
          <a:xfrm>
            <a:off x="827584" y="123478"/>
            <a:ext cx="7344816" cy="489654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方法：在项目实战中学习</a:t>
            </a:r>
            <a:endParaRPr lang="en-US" altLang="zh-CN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endParaRPr lang="en-US" altLang="zh-CN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>
              <a:defRPr/>
            </a:pP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把项目运行起来</a:t>
            </a:r>
            <a:endParaRPr lang="en-US" altLang="zh-CN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>
              <a:defRPr/>
            </a:pP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看懂代码</a:t>
            </a:r>
            <a:endParaRPr lang="en-US" altLang="zh-CN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>
              <a:defRPr/>
            </a:pP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endParaRPr lang="en-US" altLang="zh-CN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>
              <a:defRPr/>
            </a:pP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照着做</a:t>
            </a:r>
            <a:endParaRPr lang="en-US" altLang="zh-CN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>
              <a:defRPr/>
            </a:pP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框架（</a:t>
            </a:r>
            <a:r>
              <a:rPr lang="en-US" altLang="zh-CN" sz="32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SpringBoot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云开发平台）增加了复杂度，也解决了很多问题，在理解了框架的基础上，可以重点关注如何实现项目的功能。</a:t>
            </a:r>
            <a:endParaRPr lang="en-US" altLang="zh-CN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411510"/>
            <a:ext cx="5688632" cy="419653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2454498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展现信息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325182" y="1988145"/>
            <a:ext cx="1271482" cy="1015653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6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</a:t>
            </a:r>
            <a:endParaRPr lang="en-US" altLang="zh-CN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131590"/>
            <a:ext cx="8887509" cy="216024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771550"/>
            <a:ext cx="8871186" cy="33123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-15488"/>
            <a:ext cx="6477000" cy="5105400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6944544" y="2067694"/>
            <a:ext cx="2016224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传递数据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/>
          <p:nvPr/>
        </p:nvSpPr>
        <p:spPr bwMode="auto">
          <a:xfrm>
            <a:off x="6944544" y="627534"/>
            <a:ext cx="2016224" cy="9239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获取数据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（构建数据）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915566"/>
            <a:ext cx="8794908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3021961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构建领域类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70366" y="2152960"/>
            <a:ext cx="1335602" cy="707876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.1.1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/>
          <p:cNvSpPr txBox="1"/>
          <p:nvPr/>
        </p:nvSpPr>
        <p:spPr bwMode="auto">
          <a:xfrm>
            <a:off x="4893319" y="3651870"/>
            <a:ext cx="2016224" cy="9239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获取数据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（构建数据）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 txBox="1"/>
          <p:nvPr/>
        </p:nvSpPr>
        <p:spPr bwMode="auto">
          <a:xfrm>
            <a:off x="6732240" y="3753673"/>
            <a:ext cx="2016224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传递数据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6" y="3456299"/>
            <a:ext cx="2724484" cy="146842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-15488"/>
            <a:ext cx="6477000" cy="5105400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6944544" y="2067694"/>
            <a:ext cx="2016224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传递数据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/>
          <p:nvPr/>
        </p:nvSpPr>
        <p:spPr bwMode="auto">
          <a:xfrm>
            <a:off x="6944544" y="627534"/>
            <a:ext cx="2016224" cy="9239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获取数据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（构建数据）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64088" y="1923679"/>
            <a:ext cx="1580456" cy="100811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843558"/>
            <a:ext cx="8847665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1" y="915565"/>
            <a:ext cx="8847085" cy="195138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596" y="3435846"/>
            <a:ext cx="3810000" cy="1562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460147"/>
            <a:ext cx="3943350" cy="8191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34806"/>
            <a:ext cx="6120228" cy="5092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581" y="1293960"/>
            <a:ext cx="1962150" cy="723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56" y="2163575"/>
            <a:ext cx="1952625" cy="771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298" y="2974765"/>
            <a:ext cx="1771650" cy="819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0" y="3793915"/>
            <a:ext cx="1771650" cy="685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581" y="502529"/>
            <a:ext cx="1847850" cy="6667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2355726"/>
            <a:ext cx="4810125" cy="2733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68892"/>
            <a:ext cx="4267200" cy="2162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72" y="555526"/>
            <a:ext cx="2040566" cy="3900323"/>
          </a:xfrm>
          <a:prstGeom prst="rect">
            <a:avLst/>
          </a:prstGeom>
        </p:spPr>
      </p:pic>
      <p:sp>
        <p:nvSpPr>
          <p:cNvPr id="7" name="Rectangle 2"/>
          <p:cNvSpPr txBox="1"/>
          <p:nvPr/>
        </p:nvSpPr>
        <p:spPr bwMode="auto">
          <a:xfrm>
            <a:off x="3419872" y="4197498"/>
            <a:ext cx="3207586" cy="864096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类型，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配料，如何定义类？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008" y="123478"/>
            <a:ext cx="1457325" cy="371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147" y="494953"/>
            <a:ext cx="5363044" cy="452506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843558"/>
            <a:ext cx="8838430" cy="194421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0"/>
            <a:ext cx="8926612" cy="28803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2427734"/>
            <a:ext cx="3099375" cy="2615403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mbok是什么意思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37078"/>
            <a:ext cx="3096344" cy="232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939" y="0"/>
            <a:ext cx="4211456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99" y="339502"/>
            <a:ext cx="3619500" cy="18192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676" y="688634"/>
            <a:ext cx="6506679" cy="44112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76" y="100555"/>
            <a:ext cx="3096344" cy="58056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32" y="0"/>
            <a:ext cx="7204335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04" y="339502"/>
            <a:ext cx="8939279" cy="792088"/>
          </a:xfrm>
          <a:prstGeom prst="rect">
            <a:avLst/>
          </a:prstGeom>
        </p:spPr>
      </p:pic>
      <p:pic>
        <p:nvPicPr>
          <p:cNvPr id="2050" name="Picture 2" descr="https://pic2.zhimg.com/80/a2bed7a1f670361d93f1c51208d200fe_720w.jpg?source=1940ef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370837"/>
            <a:ext cx="5362575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555526"/>
            <a:ext cx="8938993" cy="295232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488" y="0"/>
            <a:ext cx="5039023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08" y="267494"/>
            <a:ext cx="7200800" cy="465520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627534"/>
            <a:ext cx="8672464" cy="295232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555526"/>
            <a:ext cx="8424263" cy="316835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3608" y="267494"/>
            <a:ext cx="46805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https://projectlombok.org/setup/eclipse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16" y="843558"/>
            <a:ext cx="6808862" cy="421501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837" y="747712"/>
            <a:ext cx="6410325" cy="36480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771550"/>
            <a:ext cx="7608243" cy="324036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5220072" y="1563638"/>
            <a:ext cx="1521190" cy="710580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b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双击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31187"/>
            <a:ext cx="8001000" cy="4752975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123728" y="3579862"/>
            <a:ext cx="4392488" cy="28803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1461042"/>
            <a:ext cx="1652036" cy="1893263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6212"/>
            <a:ext cx="8001000" cy="4791075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375756" y="627534"/>
            <a:ext cx="4392488" cy="122413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072" y="862073"/>
            <a:ext cx="2276475" cy="2705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862073"/>
            <a:ext cx="2232248" cy="255819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4283968" y="3723878"/>
            <a:ext cx="4032448" cy="1070620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b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在安装目录下会有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lombok.jar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267494"/>
            <a:ext cx="8740382" cy="439248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3589424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创建控制器类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70366" y="2152960"/>
            <a:ext cx="1335602" cy="707876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.1.2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-15488"/>
            <a:ext cx="6477000" cy="5105400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6944544" y="2067694"/>
            <a:ext cx="2016224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传递数据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/>
          <p:nvPr/>
        </p:nvSpPr>
        <p:spPr bwMode="auto">
          <a:xfrm>
            <a:off x="6944544" y="627534"/>
            <a:ext cx="2016224" cy="9239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获取数据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（构建数据）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220072" y="349770"/>
            <a:ext cx="1872208" cy="1429891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771550"/>
            <a:ext cx="8724447" cy="237626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555526"/>
            <a:ext cx="8922446" cy="3384376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3635896" y="4083918"/>
            <a:ext cx="5040560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同学们可以回顾前面讲的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491630"/>
            <a:ext cx="7391400" cy="6762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43" y="0"/>
            <a:ext cx="7953313" cy="5143500"/>
          </a:xfrm>
          <a:prstGeom prst="rect">
            <a:avLst/>
          </a:prstGeom>
        </p:spPr>
      </p:pic>
      <p:sp>
        <p:nvSpPr>
          <p:cNvPr id="4" name="Rectangle 2"/>
          <p:cNvSpPr txBox="1"/>
          <p:nvPr/>
        </p:nvSpPr>
        <p:spPr bwMode="auto">
          <a:xfrm>
            <a:off x="5652120" y="3939902"/>
            <a:ext cx="3168352" cy="792088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不到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关键的有十来行代码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95486"/>
            <a:ext cx="8835295" cy="410445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491630"/>
            <a:ext cx="8537263" cy="201622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83518"/>
            <a:ext cx="3960440" cy="79208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3" y="195486"/>
            <a:ext cx="8778077" cy="194421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2715766"/>
            <a:ext cx="8680965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51470"/>
            <a:ext cx="7096366" cy="4948014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228184" y="4443958"/>
            <a:ext cx="1872208" cy="55552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0"/>
            <a:ext cx="8066131" cy="5143500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3059832" y="3867894"/>
            <a:ext cx="2664296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页面上鼠标右键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51470"/>
            <a:ext cx="8679434" cy="4896544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331640" y="3939902"/>
            <a:ext cx="4320480" cy="36004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96906"/>
            <a:ext cx="9144000" cy="4149687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83568" y="4083918"/>
            <a:ext cx="1512168" cy="21602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51470"/>
            <a:ext cx="5976664" cy="5010923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907704" y="3939902"/>
            <a:ext cx="2304256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51470"/>
            <a:ext cx="8120902" cy="5040560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835696" y="4083918"/>
            <a:ext cx="6264695" cy="36004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35646"/>
            <a:ext cx="9144000" cy="4857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2643758"/>
            <a:ext cx="9144000" cy="477430"/>
          </a:xfrm>
          <a:prstGeom prst="rect">
            <a:avLst/>
          </a:prstGeom>
        </p:spPr>
      </p:pic>
      <p:sp>
        <p:nvSpPr>
          <p:cNvPr id="4" name="Rectangle 2"/>
          <p:cNvSpPr txBox="1"/>
          <p:nvPr/>
        </p:nvSpPr>
        <p:spPr bwMode="auto">
          <a:xfrm>
            <a:off x="251520" y="3640715"/>
            <a:ext cx="3456384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Thymeleaf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的替换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227988"/>
            <a:ext cx="1019175" cy="3810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3" y="195486"/>
            <a:ext cx="8778077" cy="194421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2715766"/>
            <a:ext cx="8680965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/>
          <p:nvPr/>
        </p:nvSpPr>
        <p:spPr bwMode="auto">
          <a:xfrm>
            <a:off x="467544" y="915566"/>
            <a:ext cx="3600400" cy="1872208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到了类后，还可以分。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不同的请求类型，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可以有不同的处理方法。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968" y="51470"/>
            <a:ext cx="4488696" cy="468052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563638"/>
            <a:ext cx="8602037" cy="244827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7534"/>
            <a:ext cx="2803169" cy="720080"/>
          </a:xfrm>
          <a:prstGeom prst="rect">
            <a:avLst/>
          </a:prstGeom>
        </p:spPr>
      </p:pic>
      <p:sp>
        <p:nvSpPr>
          <p:cNvPr id="5" name="Rectangle 2"/>
          <p:cNvSpPr txBox="1"/>
          <p:nvPr/>
        </p:nvSpPr>
        <p:spPr bwMode="auto">
          <a:xfrm>
            <a:off x="3851920" y="555526"/>
            <a:ext cx="2664296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对应首页的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613906"/>
            <a:ext cx="2057400" cy="5143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78" y="1347614"/>
            <a:ext cx="9021574" cy="259228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41" y="483518"/>
            <a:ext cx="2880320" cy="7200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63123"/>
            <a:ext cx="3028950" cy="1066800"/>
          </a:xfrm>
          <a:prstGeom prst="rect">
            <a:avLst/>
          </a:prstGeom>
        </p:spPr>
      </p:pic>
      <p:sp>
        <p:nvSpPr>
          <p:cNvPr id="5" name="Rectangle 2"/>
          <p:cNvSpPr txBox="1"/>
          <p:nvPr/>
        </p:nvSpPr>
        <p:spPr bwMode="auto">
          <a:xfrm>
            <a:off x="3041244" y="605290"/>
            <a:ext cx="2975614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对应定制页面的按钮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9195"/>
            <a:ext cx="9144000" cy="3745109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5652120" y="3435846"/>
            <a:ext cx="2304256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Taco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定制页面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4227934"/>
            <a:ext cx="3291395" cy="83857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1" y="915566"/>
            <a:ext cx="8475655" cy="259228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555526"/>
            <a:ext cx="8961599" cy="2448272"/>
          </a:xfrm>
          <a:prstGeom prst="rect">
            <a:avLst/>
          </a:prstGeom>
        </p:spPr>
      </p:pic>
      <p:sp>
        <p:nvSpPr>
          <p:cNvPr id="5" name="Rectangle 2"/>
          <p:cNvSpPr txBox="1"/>
          <p:nvPr/>
        </p:nvSpPr>
        <p:spPr bwMode="auto">
          <a:xfrm>
            <a:off x="467544" y="3507854"/>
            <a:ext cx="3384376" cy="7200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请求由此方法处理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987574"/>
            <a:ext cx="4104456" cy="86663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555526"/>
            <a:ext cx="8961599" cy="2448272"/>
          </a:xfrm>
          <a:prstGeom prst="rect">
            <a:avLst/>
          </a:prstGeom>
        </p:spPr>
      </p:pic>
      <p:sp>
        <p:nvSpPr>
          <p:cNvPr id="5" name="Rectangle 2"/>
          <p:cNvSpPr txBox="1"/>
          <p:nvPr/>
        </p:nvSpPr>
        <p:spPr bwMode="auto">
          <a:xfrm>
            <a:off x="467544" y="4011910"/>
            <a:ext cx="5040560" cy="7200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如果不了解相关约定是看不明白的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/>
          <p:nvPr/>
        </p:nvSpPr>
        <p:spPr bwMode="auto">
          <a:xfrm>
            <a:off x="467544" y="3291830"/>
            <a:ext cx="3384376" cy="7200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请求由此方法处理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699542"/>
            <a:ext cx="5400600" cy="44384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0" y="108737"/>
            <a:ext cx="2592288" cy="565922"/>
          </a:xfrm>
          <a:prstGeom prst="rect">
            <a:avLst/>
          </a:prstGeom>
        </p:spPr>
      </p:pic>
      <p:sp>
        <p:nvSpPr>
          <p:cNvPr id="6" name="Rectangle 2"/>
          <p:cNvSpPr txBox="1"/>
          <p:nvPr/>
        </p:nvSpPr>
        <p:spPr bwMode="auto">
          <a:xfrm>
            <a:off x="5525471" y="108737"/>
            <a:ext cx="3600400" cy="4767269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先执行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ModelAttribute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注解的方法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2.Model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对象负责在控制器和视图之间传递数据。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ingredient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对象的列表，现在是硬编码，后面从数据库中获取。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创建对象用的方法是带参数的构造函数。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699542"/>
            <a:ext cx="5400600" cy="44384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0" y="108737"/>
            <a:ext cx="2592288" cy="565922"/>
          </a:xfrm>
          <a:prstGeom prst="rect">
            <a:avLst/>
          </a:prstGeom>
        </p:spPr>
      </p:pic>
      <p:sp>
        <p:nvSpPr>
          <p:cNvPr id="6" name="Rectangle 2"/>
          <p:cNvSpPr txBox="1"/>
          <p:nvPr/>
        </p:nvSpPr>
        <p:spPr bwMode="auto">
          <a:xfrm>
            <a:off x="5652120" y="2859782"/>
            <a:ext cx="3456384" cy="237626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根据配料类型过滤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Ingredient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对象列表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配料类型，及该类型配料对象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作为属性添加到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对象上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483518"/>
            <a:ext cx="8638136" cy="302433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23528" y="386789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stream().filter()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来过滤一个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对象，查找符合条件的对象集合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1590"/>
            <a:ext cx="9144000" cy="100720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23478"/>
            <a:ext cx="8961599" cy="2448272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134288" y="3291830"/>
            <a:ext cx="8038111" cy="1368152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先执行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ModelAttribute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注解的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方法，再执行此方法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前面的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作为参数传递到此方法中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design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  <a:defRPr/>
            </a:pP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  <a:defRPr/>
            </a:pP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63838"/>
            <a:ext cx="9144000" cy="118045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11510"/>
            <a:ext cx="8961599" cy="2448272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83568" y="1851670"/>
            <a:ext cx="3456383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/>
          <p:nvPr/>
        </p:nvSpPr>
        <p:spPr bwMode="auto">
          <a:xfrm>
            <a:off x="683568" y="1275606"/>
            <a:ext cx="3384376" cy="7200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日志的注解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195486"/>
            <a:ext cx="1512168" cy="6644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31589"/>
            <a:ext cx="8424936" cy="27520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987574"/>
            <a:ext cx="6408712" cy="3600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635646"/>
            <a:ext cx="8856984" cy="333749"/>
          </a:xfrm>
          <a:prstGeom prst="rect">
            <a:avLst/>
          </a:prstGeom>
        </p:spPr>
      </p:pic>
      <p:sp>
        <p:nvSpPr>
          <p:cNvPr id="4" name="Rectangle 2"/>
          <p:cNvSpPr txBox="1"/>
          <p:nvPr/>
        </p:nvSpPr>
        <p:spPr bwMode="auto">
          <a:xfrm>
            <a:off x="179512" y="3363838"/>
            <a:ext cx="8038111" cy="504056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在控制台输出的日志信息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  <a:defRPr/>
            </a:pP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2454498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设计视图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70366" y="2152960"/>
            <a:ext cx="1335602" cy="707876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3.1.3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/>
          <p:nvPr/>
        </p:nvSpPr>
        <p:spPr bwMode="auto">
          <a:xfrm>
            <a:off x="323528" y="339502"/>
            <a:ext cx="8038111" cy="504056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如何把前面封装的数据在页面上展示出来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056745"/>
            <a:ext cx="4061655" cy="33380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059582"/>
            <a:ext cx="4165849" cy="303807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915566"/>
            <a:ext cx="8891046" cy="280831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513634"/>
            <a:ext cx="1019175" cy="3810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419622"/>
            <a:ext cx="8632959" cy="187220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915566"/>
            <a:ext cx="8860239" cy="208823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78" y="627534"/>
            <a:ext cx="8793285" cy="14401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4" y="2499742"/>
            <a:ext cx="8775819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059582"/>
            <a:ext cx="8839674" cy="244827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1203598"/>
            <a:ext cx="6534150" cy="37528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2067694"/>
            <a:ext cx="8139108" cy="29651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95486"/>
            <a:ext cx="8793285" cy="144016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131590"/>
            <a:ext cx="8850286" cy="15121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411510"/>
            <a:ext cx="4919587" cy="4392488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475656" y="3291830"/>
            <a:ext cx="3456383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" y="58895"/>
            <a:ext cx="9108504" cy="500620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71" y="1923678"/>
            <a:ext cx="8376823" cy="244827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39502"/>
            <a:ext cx="8517518" cy="43204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71" y="987574"/>
            <a:ext cx="8700317" cy="61247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118" y="0"/>
            <a:ext cx="7817763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33" y="27500"/>
            <a:ext cx="4288574" cy="5092030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5508104" y="987574"/>
            <a:ext cx="2952328" cy="129614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编写完前端代码后，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就可以编译运行了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3589424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处理表单提交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403648" y="2133853"/>
            <a:ext cx="910807" cy="707876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339502"/>
            <a:ext cx="5703034" cy="79208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91630"/>
            <a:ext cx="4464496" cy="1623453"/>
          </a:xfrm>
          <a:prstGeom prst="rect">
            <a:avLst/>
          </a:prstGeom>
        </p:spPr>
      </p:pic>
      <p:sp>
        <p:nvSpPr>
          <p:cNvPr id="4" name="Rectangle 2"/>
          <p:cNvSpPr txBox="1"/>
          <p:nvPr/>
        </p:nvSpPr>
        <p:spPr bwMode="auto">
          <a:xfrm>
            <a:off x="5076056" y="1779662"/>
            <a:ext cx="2016224" cy="7200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网页源代码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/>
          <p:nvPr/>
        </p:nvSpPr>
        <p:spPr bwMode="auto">
          <a:xfrm>
            <a:off x="6300192" y="375506"/>
            <a:ext cx="2520280" cy="7200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Thymeleaf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787774"/>
            <a:ext cx="7416824" cy="216282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059582"/>
            <a:ext cx="8565190" cy="15121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843557"/>
            <a:ext cx="8712968" cy="281584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78" y="1347614"/>
            <a:ext cx="9021574" cy="259228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41" y="483518"/>
            <a:ext cx="2880320" cy="7200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63123"/>
            <a:ext cx="3028950" cy="1066800"/>
          </a:xfrm>
          <a:prstGeom prst="rect">
            <a:avLst/>
          </a:prstGeom>
        </p:spPr>
      </p:pic>
      <p:sp>
        <p:nvSpPr>
          <p:cNvPr id="5" name="Rectangle 2"/>
          <p:cNvSpPr txBox="1"/>
          <p:nvPr/>
        </p:nvSpPr>
        <p:spPr bwMode="auto">
          <a:xfrm>
            <a:off x="3041244" y="605290"/>
            <a:ext cx="2975614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对应定制页面的按钮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3" y="1347614"/>
            <a:ext cx="8829671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131590"/>
            <a:ext cx="8784976" cy="187832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31539"/>
            <a:ext cx="5704427" cy="506553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3075806"/>
            <a:ext cx="8658543" cy="194421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51470"/>
            <a:ext cx="5162550" cy="1914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211710"/>
            <a:ext cx="6724982" cy="792088"/>
          </a:xfrm>
          <a:prstGeom prst="rect">
            <a:avLst/>
          </a:prstGeom>
        </p:spPr>
      </p:pic>
      <p:sp>
        <p:nvSpPr>
          <p:cNvPr id="5" name="Rectangle 2"/>
          <p:cNvSpPr txBox="1"/>
          <p:nvPr/>
        </p:nvSpPr>
        <p:spPr bwMode="auto">
          <a:xfrm>
            <a:off x="6084168" y="1238028"/>
            <a:ext cx="2016224" cy="7200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网页源代码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699542"/>
            <a:ext cx="8737399" cy="194421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1" y="1203598"/>
            <a:ext cx="8471597" cy="136815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059582"/>
            <a:ext cx="8698566" cy="288032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131590"/>
            <a:ext cx="8933323" cy="158417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987574"/>
            <a:ext cx="8843012" cy="158417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362" y="0"/>
            <a:ext cx="6729276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275606"/>
            <a:ext cx="8305966" cy="15121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059582"/>
            <a:ext cx="8810782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059582"/>
            <a:ext cx="8602222" cy="18002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95486"/>
            <a:ext cx="7248525" cy="952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75606"/>
            <a:ext cx="3456384" cy="3661833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187625" y="4587975"/>
            <a:ext cx="2736304" cy="34946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9339"/>
            <a:ext cx="9144000" cy="476482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9542"/>
            <a:ext cx="9031003" cy="309634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95486"/>
            <a:ext cx="8511700" cy="13681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08" y="1995686"/>
            <a:ext cx="8244723" cy="280831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987574"/>
            <a:ext cx="8486657" cy="158417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612" y="109537"/>
            <a:ext cx="7724775" cy="49244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88" y="771550"/>
            <a:ext cx="8883452" cy="208823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779" y="0"/>
            <a:ext cx="5464441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411510"/>
            <a:ext cx="7724775" cy="25146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1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459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072063" y="3143250"/>
            <a:ext cx="9525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Thanks</a:t>
            </a:r>
            <a:endParaRPr kumimoji="0" lang="en-US" altLang="zh-CN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4786313" y="2214563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  <a:endParaRPr kumimoji="0" lang="zh-CN" altLang="en-US" sz="2800" b="1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自定义 1157">
      <a:dk1>
        <a:sysClr val="windowText" lastClr="000000"/>
      </a:dk1>
      <a:lt1>
        <a:sysClr val="window" lastClr="FFFFFF"/>
      </a:lt1>
      <a:dk2>
        <a:srgbClr val="464646"/>
      </a:dk2>
      <a:lt2>
        <a:srgbClr val="7F7F7F"/>
      </a:lt2>
      <a:accent1>
        <a:srgbClr val="39639D"/>
      </a:accent1>
      <a:accent2>
        <a:srgbClr val="A5A5A5"/>
      </a:accent2>
      <a:accent3>
        <a:srgbClr val="39639D"/>
      </a:accent3>
      <a:accent4>
        <a:srgbClr val="A5A5A5"/>
      </a:accent4>
      <a:accent5>
        <a:srgbClr val="39639D"/>
      </a:accent5>
      <a:accent6>
        <a:srgbClr val="A5A5A5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WPS 演示</Application>
  <PresentationFormat>全屏显示(16:9)</PresentationFormat>
  <Paragraphs>171</Paragraphs>
  <Slides>130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130</vt:i4>
      </vt:variant>
    </vt:vector>
  </HeadingPairs>
  <TitlesOfParts>
    <vt:vector size="144" baseType="lpstr">
      <vt:lpstr>Arial</vt:lpstr>
      <vt:lpstr>宋体</vt:lpstr>
      <vt:lpstr>Wingdings</vt:lpstr>
      <vt:lpstr>Calibri</vt:lpstr>
      <vt:lpstr>微软雅黑</vt:lpstr>
      <vt:lpstr>Open Sans</vt:lpstr>
      <vt:lpstr>Segoe Print</vt:lpstr>
      <vt:lpstr>冬青黑体简体中文 W3</vt:lpstr>
      <vt:lpstr>黑体</vt:lpstr>
      <vt:lpstr>FZ 粗圆简体</vt:lpstr>
      <vt:lpstr>ksdb</vt:lpstr>
      <vt:lpstr>Wingdings 2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</dc:title>
  <dc:creator>USER</dc:creator>
  <cp:lastModifiedBy>旭海</cp:lastModifiedBy>
  <cp:revision>2711</cp:revision>
  <dcterms:created xsi:type="dcterms:W3CDTF">2014-11-09T01:07:00Z</dcterms:created>
  <dcterms:modified xsi:type="dcterms:W3CDTF">2025-05-12T01:30:26Z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RubyTemplateID">
    <vt:lpwstr>13</vt:lpwstr>
  </property>
  <property fmtid="{D5CDD505-2E9C-101B-9397-08002B2CF9AE}" pid="4" name="ICV">
    <vt:lpwstr>CD7E5479598B40049D4244D38D1B35BD</vt:lpwstr>
  </property>
</Properties>
</file>