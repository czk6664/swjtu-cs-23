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1"/>
  </p:notesMasterIdLst>
  <p:handoutMasterIdLst>
    <p:handoutMasterId r:id="rId102"/>
  </p:handoutMasterIdLst>
  <p:sldIdLst>
    <p:sldId id="921" r:id="rId2"/>
    <p:sldId id="1931" r:id="rId3"/>
    <p:sldId id="1929" r:id="rId4"/>
    <p:sldId id="1930" r:id="rId5"/>
    <p:sldId id="1932" r:id="rId6"/>
    <p:sldId id="1933" r:id="rId7"/>
    <p:sldId id="1934" r:id="rId8"/>
    <p:sldId id="1935" r:id="rId9"/>
    <p:sldId id="1870" r:id="rId10"/>
    <p:sldId id="1900" r:id="rId11"/>
    <p:sldId id="1901" r:id="rId12"/>
    <p:sldId id="1902" r:id="rId13"/>
    <p:sldId id="1919" r:id="rId14"/>
    <p:sldId id="1920" r:id="rId15"/>
    <p:sldId id="1921" r:id="rId16"/>
    <p:sldId id="1922" r:id="rId17"/>
    <p:sldId id="1925" r:id="rId18"/>
    <p:sldId id="1903" r:id="rId19"/>
    <p:sldId id="1904" r:id="rId20"/>
    <p:sldId id="1908" r:id="rId21"/>
    <p:sldId id="1909" r:id="rId22"/>
    <p:sldId id="1910" r:id="rId23"/>
    <p:sldId id="1911" r:id="rId24"/>
    <p:sldId id="1912" r:id="rId25"/>
    <p:sldId id="1913" r:id="rId26"/>
    <p:sldId id="1924" r:id="rId27"/>
    <p:sldId id="1907" r:id="rId28"/>
    <p:sldId id="1914" r:id="rId29"/>
    <p:sldId id="1917" r:id="rId30"/>
    <p:sldId id="1915" r:id="rId31"/>
    <p:sldId id="1926" r:id="rId32"/>
    <p:sldId id="1927" r:id="rId33"/>
    <p:sldId id="1928" r:id="rId34"/>
    <p:sldId id="1916" r:id="rId35"/>
    <p:sldId id="1871" r:id="rId36"/>
    <p:sldId id="1936" r:id="rId37"/>
    <p:sldId id="1937" r:id="rId38"/>
    <p:sldId id="1998" r:id="rId39"/>
    <p:sldId id="1999" r:id="rId40"/>
    <p:sldId id="2000" r:id="rId41"/>
    <p:sldId id="1938" r:id="rId42"/>
    <p:sldId id="1939" r:id="rId43"/>
    <p:sldId id="1942" r:id="rId44"/>
    <p:sldId id="1940" r:id="rId45"/>
    <p:sldId id="1945" r:id="rId46"/>
    <p:sldId id="2001" r:id="rId47"/>
    <p:sldId id="2002" r:id="rId48"/>
    <p:sldId id="2003" r:id="rId49"/>
    <p:sldId id="2005" r:id="rId50"/>
    <p:sldId id="2006" r:id="rId51"/>
    <p:sldId id="2007" r:id="rId52"/>
    <p:sldId id="2008" r:id="rId53"/>
    <p:sldId id="2004" r:id="rId54"/>
    <p:sldId id="2009" r:id="rId55"/>
    <p:sldId id="2010" r:id="rId56"/>
    <p:sldId id="2011" r:id="rId57"/>
    <p:sldId id="2012" r:id="rId58"/>
    <p:sldId id="1946" r:id="rId59"/>
    <p:sldId id="1947" r:id="rId60"/>
    <p:sldId id="1948" r:id="rId61"/>
    <p:sldId id="1949" r:id="rId62"/>
    <p:sldId id="1950" r:id="rId63"/>
    <p:sldId id="1951" r:id="rId64"/>
    <p:sldId id="2013" r:id="rId65"/>
    <p:sldId id="2014" r:id="rId66"/>
    <p:sldId id="2015" r:id="rId67"/>
    <p:sldId id="2016" r:id="rId68"/>
    <p:sldId id="2017" r:id="rId69"/>
    <p:sldId id="2018" r:id="rId70"/>
    <p:sldId id="2020" r:id="rId71"/>
    <p:sldId id="1952" r:id="rId72"/>
    <p:sldId id="1953" r:id="rId73"/>
    <p:sldId id="1954" r:id="rId74"/>
    <p:sldId id="2019" r:id="rId75"/>
    <p:sldId id="1956" r:id="rId76"/>
    <p:sldId id="2021" r:id="rId77"/>
    <p:sldId id="2022" r:id="rId78"/>
    <p:sldId id="2024" r:id="rId79"/>
    <p:sldId id="2023" r:id="rId80"/>
    <p:sldId id="1958" r:id="rId81"/>
    <p:sldId id="1959" r:id="rId82"/>
    <p:sldId id="1960" r:id="rId83"/>
    <p:sldId id="1961" r:id="rId84"/>
    <p:sldId id="1962" r:id="rId85"/>
    <p:sldId id="1963" r:id="rId86"/>
    <p:sldId id="1964" r:id="rId87"/>
    <p:sldId id="1965" r:id="rId88"/>
    <p:sldId id="1966" r:id="rId89"/>
    <p:sldId id="1967" r:id="rId90"/>
    <p:sldId id="1968" r:id="rId91"/>
    <p:sldId id="1969" r:id="rId92"/>
    <p:sldId id="2025" r:id="rId93"/>
    <p:sldId id="1970" r:id="rId94"/>
    <p:sldId id="1971" r:id="rId95"/>
    <p:sldId id="1972" r:id="rId96"/>
    <p:sldId id="1973" r:id="rId97"/>
    <p:sldId id="1974" r:id="rId98"/>
    <p:sldId id="1975" r:id="rId99"/>
    <p:sldId id="1730" r:id="rId100"/>
  </p:sldIdLst>
  <p:sldSz cx="9144000" cy="5143500" type="screen16x9"/>
  <p:notesSz cx="6858000" cy="9144000"/>
  <p:defaultTextStyle>
    <a:defPPr>
      <a:defRPr lang="zh-CN"/>
    </a:defPPr>
    <a:lvl1pPr marL="0" lvl="0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9">
          <p15:clr>
            <a:srgbClr val="A4A3A4"/>
          </p15:clr>
        </p15:guide>
        <p15:guide id="2" pos="26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B0F0"/>
    <a:srgbClr val="0033CC"/>
    <a:srgbClr val="FF6600"/>
    <a:srgbClr val="00CC99"/>
    <a:srgbClr val="E6F882"/>
    <a:srgbClr val="E0F90A"/>
    <a:srgbClr val="56E4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 autoAdjust="0"/>
    <p:restoredTop sz="94660"/>
  </p:normalViewPr>
  <p:slideViewPr>
    <p:cSldViewPr showGuides="1">
      <p:cViewPr varScale="1">
        <p:scale>
          <a:sx n="111" d="100"/>
          <a:sy n="111" d="100"/>
        </p:scale>
        <p:origin x="547" y="77"/>
      </p:cViewPr>
      <p:guideLst>
        <p:guide orient="horz" pos="1399"/>
        <p:guide pos="2685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F4E498C-07A2-4760-9ED3-CE07222200C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2020-11-06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‹#›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140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6AA612B-BF52-4B7D-B09B-7D6C8632F43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2020-11-06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‹#›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0344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1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302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2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986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9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07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16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212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35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099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69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51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lIns="91440" tIns="45720" rIns="91440" bIns="45720" rtlCol="0" anchor="b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99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173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37"/>
          <p:cNvSpPr txBox="1"/>
          <p:nvPr/>
        </p:nvSpPr>
        <p:spPr>
          <a:xfrm>
            <a:off x="827088" y="195263"/>
            <a:ext cx="1990725" cy="312738"/>
          </a:xfrm>
          <a:prstGeom prst="rect">
            <a:avLst/>
          </a:prstGeom>
          <a:noFill/>
        </p:spPr>
        <p:txBody>
          <a:bodyPr wrap="none" lIns="96434" tIns="48217" rIns="96434" bIns="48217">
            <a:spAutoFit/>
          </a:bodyPr>
          <a:lstStyle/>
          <a:p>
            <a:pPr marL="0" marR="0" lvl="0" indent="0" algn="l" defTabSz="963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8" name="文本框 38"/>
          <p:cNvSpPr txBox="1"/>
          <p:nvPr/>
        </p:nvSpPr>
        <p:spPr>
          <a:xfrm>
            <a:off x="827088" y="388938"/>
            <a:ext cx="1804988" cy="266700"/>
          </a:xfrm>
          <a:prstGeom prst="rect">
            <a:avLst/>
          </a:prstGeom>
          <a:noFill/>
        </p:spPr>
        <p:txBody>
          <a:bodyPr wrap="none" lIns="96434" tIns="48217" rIns="96434" bIns="48217">
            <a:spAutoFit/>
          </a:bodyPr>
          <a:lstStyle/>
          <a:p>
            <a:pPr marL="0" marR="0" lvl="0" indent="0" algn="l" defTabSz="963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ADD RELATED TITLE WORDS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268288"/>
            <a:ext cx="647700" cy="2873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9750" y="268288"/>
            <a:ext cx="144463" cy="2873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>
              <a:defRPr/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506AE2-0E76-4371-8530-0AB67F8FD97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2020-11-06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>
              <a:defRPr/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E90776-6B98-4E58-8DD3-6B5DF5B3AFE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2020-11-06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68580" tIns="34290" rIns="68580" bIns="34290" numCol="1" rtlCol="0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3"/>
          <p:cNvGrpSpPr/>
          <p:nvPr/>
        </p:nvGrpSpPr>
        <p:grpSpPr bwMode="auto">
          <a:xfrm flipH="1">
            <a:off x="-1" y="248018"/>
            <a:ext cx="1797166" cy="507206"/>
            <a:chOff x="2370576" y="533400"/>
            <a:chExt cx="2417494" cy="675969"/>
          </a:xfrm>
          <a:solidFill>
            <a:srgbClr val="EE1C39"/>
          </a:solidFill>
        </p:grpSpPr>
        <p:sp>
          <p:nvSpPr>
            <p:cNvPr id="9" name="矩形 8"/>
            <p:cNvSpPr/>
            <p:nvPr/>
          </p:nvSpPr>
          <p:spPr>
            <a:xfrm>
              <a:off x="2738030" y="533400"/>
              <a:ext cx="2050040" cy="6759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2370576" y="533400"/>
              <a:ext cx="623734" cy="6759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1" name="文本框 12"/>
          <p:cNvSpPr txBox="1">
            <a:spLocks noChangeArrowheads="1"/>
          </p:cNvSpPr>
          <p:nvPr/>
        </p:nvSpPr>
        <p:spPr bwMode="auto">
          <a:xfrm>
            <a:off x="0" y="369888"/>
            <a:ext cx="1795463" cy="620713"/>
          </a:xfrm>
          <a:prstGeom prst="rect">
            <a:avLst/>
          </a:prstGeom>
          <a:noFill/>
          <a:ln>
            <a:noFill/>
          </a:ln>
        </p:spPr>
        <p:txBody>
          <a:bodyPr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5067C-2023-4E8C-BB51-5366665B35C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2020-11-06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333500" y="4935538"/>
            <a:ext cx="4751388" cy="14446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>
              <a:defRPr/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- Use 'Insert &gt;Header &amp; Footer' to modify this text and ‘Apply to all’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5067C-2023-4E8C-BB51-5366665B35C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2020-11-06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23820" y="59514"/>
            <a:ext cx="6858048" cy="403625"/>
          </a:xfrm>
        </p:spPr>
        <p:txBody>
          <a:bodyPr>
            <a:noAutofit/>
          </a:bodyPr>
          <a:lstStyle>
            <a:lvl1pPr algn="l">
              <a:defRPr sz="2100" b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248" y="1166336"/>
            <a:ext cx="3924776" cy="3456146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4762800" y="1166400"/>
            <a:ext cx="3920400" cy="3456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2020-11-06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lIns="91428" tIns="45714" rIns="91428" bIns="45714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 lIns="91428" tIns="45714" rIns="91428" bIns="45714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5067C-2023-4E8C-BB51-5366665B35C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2020-11-06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 defTabSz="913765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>
    <p:random/>
  </p:transition>
  <p:hf sldNum="0" hdr="0" ftr="0" dt="0"/>
  <p:txStyles>
    <p:titleStyle>
      <a:lvl1pPr algn="ctr" defTabSz="91313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emf"/><Relationship Id="rId9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image" Target="../media/image75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组合 22"/>
          <p:cNvGrpSpPr/>
          <p:nvPr/>
        </p:nvGrpSpPr>
        <p:grpSpPr>
          <a:xfrm>
            <a:off x="0" y="-2052637"/>
            <a:ext cx="4103688" cy="4105275"/>
            <a:chOff x="6804248" y="267494"/>
            <a:chExt cx="4104456" cy="4104456"/>
          </a:xfrm>
        </p:grpSpPr>
        <p:sp>
          <p:nvSpPr>
            <p:cNvPr id="24" name="菱形 23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菱形 24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3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147" name="组合 25"/>
          <p:cNvGrpSpPr/>
          <p:nvPr/>
        </p:nvGrpSpPr>
        <p:grpSpPr>
          <a:xfrm>
            <a:off x="0" y="3090863"/>
            <a:ext cx="4103688" cy="4105275"/>
            <a:chOff x="6804248" y="267494"/>
            <a:chExt cx="4104456" cy="4104456"/>
          </a:xfrm>
        </p:grpSpPr>
        <p:sp>
          <p:nvSpPr>
            <p:cNvPr id="27" name="菱形 26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菱形 27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4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671975" y="1923678"/>
            <a:ext cx="2870273" cy="8254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ctr" defTabSz="91376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3600" b="1" kern="1200" cap="none" spc="0" normalizeH="0" baseline="0" noProof="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36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36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  <a:endParaRPr kumimoji="0" lang="zh-CN" altLang="en-US" sz="3600" b="1" kern="1200" cap="none" spc="0" normalizeH="0" baseline="0" noProof="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菱形 19"/>
          <p:cNvSpPr/>
          <p:nvPr/>
        </p:nvSpPr>
        <p:spPr>
          <a:xfrm>
            <a:off x="-2160587" y="411163"/>
            <a:ext cx="4321175" cy="432117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50" name="TextBox 10"/>
          <p:cNvSpPr txBox="1"/>
          <p:nvPr/>
        </p:nvSpPr>
        <p:spPr>
          <a:xfrm>
            <a:off x="5724128" y="3867894"/>
            <a:ext cx="926857" cy="30777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buFont typeface="Arial" panose="020B0604020202020204" pitchFamily="34" charset="0"/>
            </a:pPr>
            <a:r>
              <a:rPr lang="en-US" altLang="zh-CN" sz="14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2020-10</a:t>
            </a:r>
            <a:endParaRPr lang="en-US" altLang="zh-CN" sz="14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med" advTm="3422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854074" y="268288"/>
            <a:ext cx="2421782" cy="333375"/>
          </a:xfrm>
          <a:prstGeom prst="rect">
            <a:avLst/>
          </a:prstGeom>
          <a:ln>
            <a:solidFill>
              <a:srgbClr val="396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CONTENTS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endParaRPr lang="zh-CN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FZ 粗圆简体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597" y="1779662"/>
            <a:ext cx="9135826" cy="1368742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350">
              <a:solidFill>
                <a:srgbClr val="005DA2"/>
              </a:solidFill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3563888" y="2087557"/>
            <a:ext cx="4892601" cy="773279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开发基本概念</a:t>
            </a:r>
            <a:endParaRPr lang="zh-CN" altLang="en-US" sz="442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19309" y="1773312"/>
            <a:ext cx="1386659" cy="1401770"/>
          </a:xfrm>
          <a:prstGeom prst="ellipse">
            <a:avLst/>
          </a:prstGeom>
          <a:solidFill>
            <a:srgbClr val="005DA2"/>
          </a:solidFill>
          <a:ln w="1111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135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文本框 3"/>
          <p:cNvSpPr txBox="1"/>
          <p:nvPr/>
        </p:nvSpPr>
        <p:spPr>
          <a:xfrm>
            <a:off x="1285577" y="1924378"/>
            <a:ext cx="1268276" cy="1200318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7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857452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1277541" y="250031"/>
            <a:ext cx="6426994" cy="857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浏览器访问动态资源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243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838950" y="2263379"/>
          <a:ext cx="810816" cy="810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" name="Visio" r:id="rId3" imgW="803453" imgH="803564" progId="Visio.Drawing.11">
                  <p:embed/>
                </p:oleObj>
              </mc:Choice>
              <mc:Fallback>
                <p:oleObj name="Visio" r:id="rId3" imgW="803453" imgH="80356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8950" y="2263379"/>
                        <a:ext cx="810816" cy="8108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16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012657" y="3073004"/>
          <a:ext cx="369094" cy="569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6" name="Visio" r:id="rId5" imgW="398272" imgH="398114" progId="Visio.Drawing.11">
                  <p:embed/>
                </p:oleObj>
              </mc:Choice>
              <mc:Fallback>
                <p:oleObj name="Visio" r:id="rId5" imgW="398272" imgH="39811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2657" y="3073004"/>
                        <a:ext cx="369094" cy="5691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1491854" y="3817144"/>
            <a:ext cx="2566728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>
                <a:latin typeface="Comic Sans MS" panose="030F0702030302020204" pitchFamily="66" charset="0"/>
                <a:ea typeface="华文行楷" panose="02010800040101010101" pitchFamily="2" charset="-122"/>
              </a:rPr>
              <a:t>Web</a:t>
            </a:r>
            <a:r>
              <a:rPr lang="zh-CN" altLang="en-US" sz="1500">
                <a:latin typeface="Comic Sans MS" panose="030F0702030302020204" pitchFamily="66" charset="0"/>
                <a:ea typeface="华文行楷" panose="02010800040101010101" pitchFamily="2" charset="-122"/>
              </a:rPr>
              <a:t>服务器存放着各类</a:t>
            </a:r>
          </a:p>
          <a:p>
            <a:pPr eaLnBrk="1" hangingPunct="1"/>
            <a:r>
              <a:rPr lang="en-US" altLang="zh-CN" sz="1500">
                <a:latin typeface="Comic Sans MS" panose="030F0702030302020204" pitchFamily="66" charset="0"/>
                <a:ea typeface="华文行楷" panose="02010800040101010101" pitchFamily="2" charset="-122"/>
              </a:rPr>
              <a:t>Web</a:t>
            </a:r>
            <a:r>
              <a:rPr lang="zh-CN" altLang="en-US" sz="1500">
                <a:latin typeface="Comic Sans MS" panose="030F0702030302020204" pitchFamily="66" charset="0"/>
                <a:ea typeface="华文行楷" panose="02010800040101010101" pitchFamily="2" charset="-122"/>
              </a:rPr>
              <a:t>资源（文件、图片等</a:t>
            </a:r>
            <a:r>
              <a:rPr lang="zh-CN" altLang="en-US">
                <a:latin typeface="Comic Sans MS" panose="030F0702030302020204" pitchFamily="66" charset="0"/>
                <a:ea typeface="华文行楷" panose="02010800040101010101" pitchFamily="2" charset="-122"/>
              </a:rPr>
              <a:t>）</a:t>
            </a:r>
          </a:p>
        </p:txBody>
      </p:sp>
      <p:sp>
        <p:nvSpPr>
          <p:cNvPr id="448518" name="Arc 6"/>
          <p:cNvSpPr>
            <a:spLocks/>
          </p:cNvSpPr>
          <p:nvPr/>
        </p:nvSpPr>
        <p:spPr bwMode="auto">
          <a:xfrm rot="1665142" flipH="1">
            <a:off x="4625578" y="1883569"/>
            <a:ext cx="2128838" cy="1079897"/>
          </a:xfrm>
          <a:custGeom>
            <a:avLst/>
            <a:gdLst>
              <a:gd name="T0" fmla="*/ 0 w 24282"/>
              <a:gd name="T1" fmla="*/ 12066 h 21600"/>
              <a:gd name="T2" fmla="*/ 2838450 w 24282"/>
              <a:gd name="T3" fmla="*/ 1295877 h 21600"/>
              <a:gd name="T4" fmla="*/ 326138 w 24282"/>
              <a:gd name="T5" fmla="*/ 1439863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282" h="21600" fill="none" extrusionOk="0">
                <a:moveTo>
                  <a:pt x="-1" y="180"/>
                </a:moveTo>
                <a:cubicBezTo>
                  <a:pt x="925" y="60"/>
                  <a:pt x="1857" y="-1"/>
                  <a:pt x="2790" y="0"/>
                </a:cubicBezTo>
                <a:cubicBezTo>
                  <a:pt x="13882" y="0"/>
                  <a:pt x="23172" y="8402"/>
                  <a:pt x="24281" y="19440"/>
                </a:cubicBezTo>
              </a:path>
              <a:path w="24282" h="21600" stroke="0" extrusionOk="0">
                <a:moveTo>
                  <a:pt x="-1" y="180"/>
                </a:moveTo>
                <a:cubicBezTo>
                  <a:pt x="925" y="60"/>
                  <a:pt x="1857" y="-1"/>
                  <a:pt x="2790" y="0"/>
                </a:cubicBezTo>
                <a:cubicBezTo>
                  <a:pt x="13882" y="0"/>
                  <a:pt x="23172" y="8402"/>
                  <a:pt x="24281" y="19440"/>
                </a:cubicBezTo>
                <a:lnTo>
                  <a:pt x="2790" y="21600"/>
                </a:lnTo>
                <a:lnTo>
                  <a:pt x="-1" y="18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8519" name="Arc 7"/>
          <p:cNvSpPr>
            <a:spLocks/>
          </p:cNvSpPr>
          <p:nvPr/>
        </p:nvSpPr>
        <p:spPr bwMode="auto">
          <a:xfrm rot="11965399" flipH="1">
            <a:off x="4792267" y="2551510"/>
            <a:ext cx="1944290" cy="1025128"/>
          </a:xfrm>
          <a:custGeom>
            <a:avLst/>
            <a:gdLst>
              <a:gd name="T0" fmla="*/ 50420 w 21492"/>
              <a:gd name="T1" fmla="*/ 0 h 21596"/>
              <a:gd name="T2" fmla="*/ 2592387 w 21492"/>
              <a:gd name="T3" fmla="*/ 1230128 h 21596"/>
              <a:gd name="T4" fmla="*/ 0 w 21492"/>
              <a:gd name="T5" fmla="*/ 1366837 h 215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492" h="21596" fill="none" extrusionOk="0">
                <a:moveTo>
                  <a:pt x="417" y="0"/>
                </a:moveTo>
                <a:cubicBezTo>
                  <a:pt x="11349" y="211"/>
                  <a:pt x="20398" y="8557"/>
                  <a:pt x="21491" y="19436"/>
                </a:cubicBezTo>
              </a:path>
              <a:path w="21492" h="21596" stroke="0" extrusionOk="0">
                <a:moveTo>
                  <a:pt x="417" y="0"/>
                </a:moveTo>
                <a:cubicBezTo>
                  <a:pt x="11349" y="211"/>
                  <a:pt x="20398" y="8557"/>
                  <a:pt x="21491" y="19436"/>
                </a:cubicBezTo>
                <a:lnTo>
                  <a:pt x="0" y="21596"/>
                </a:lnTo>
                <a:lnTo>
                  <a:pt x="417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8520" name="AutoShape 8"/>
          <p:cNvSpPr>
            <a:spLocks noChangeArrowheads="1"/>
          </p:cNvSpPr>
          <p:nvPr/>
        </p:nvSpPr>
        <p:spPr bwMode="auto">
          <a:xfrm>
            <a:off x="4570810" y="2349847"/>
            <a:ext cx="2160984" cy="472855"/>
          </a:xfrm>
          <a:prstGeom prst="leftRightArrow">
            <a:avLst>
              <a:gd name="adj1" fmla="val 50000"/>
              <a:gd name="adj2" fmla="val 1599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>
                <a:solidFill>
                  <a:schemeClr val="bg1"/>
                </a:solidFill>
                <a:latin typeface="Comic Sans MS" panose="030F0702030302020204" pitchFamily="66" charset="0"/>
                <a:ea typeface="华文行楷" panose="02010800040101010101" pitchFamily="2" charset="-122"/>
              </a:rPr>
              <a:t>HTTP</a:t>
            </a:r>
          </a:p>
        </p:txBody>
      </p:sp>
      <p:sp>
        <p:nvSpPr>
          <p:cNvPr id="448521" name="Text Box 9"/>
          <p:cNvSpPr txBox="1">
            <a:spLocks noChangeArrowheads="1"/>
          </p:cNvSpPr>
          <p:nvPr/>
        </p:nvSpPr>
        <p:spPr bwMode="auto">
          <a:xfrm>
            <a:off x="4624388" y="1545432"/>
            <a:ext cx="2107406" cy="47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zh-CN" altLang="en-US" sz="1500" dirty="0">
                <a:latin typeface="Comic Sans MS" panose="030F0702030302020204" pitchFamily="66" charset="0"/>
                <a:ea typeface="华文行楷" panose="02010800040101010101" pitchFamily="2" charset="-122"/>
              </a:rPr>
              <a:t>“</a:t>
            </a:r>
            <a:r>
              <a:rPr lang="en-US" altLang="zh-CN" sz="1500" dirty="0">
                <a:latin typeface="Comic Sans MS" panose="030F0702030302020204" pitchFamily="66" charset="0"/>
                <a:ea typeface="华文行楷" panose="02010800040101010101" pitchFamily="2" charset="-122"/>
              </a:rPr>
              <a:t>URL</a:t>
            </a:r>
            <a:r>
              <a:rPr lang="zh-CN" altLang="en-US" sz="1500" dirty="0">
                <a:latin typeface="Comic Sans MS" panose="030F0702030302020204" pitchFamily="66" charset="0"/>
                <a:ea typeface="华文行楷" panose="02010800040101010101" pitchFamily="2" charset="-122"/>
              </a:rPr>
              <a:t>指向动态资源（比如</a:t>
            </a:r>
            <a:r>
              <a:rPr lang="en-US" altLang="zh-CN" sz="1500" dirty="0">
                <a:latin typeface="Comic Sans MS" panose="030F0702030302020204" pitchFamily="66" charset="0"/>
                <a:ea typeface="华文行楷" panose="02010800040101010101" pitchFamily="2" charset="-122"/>
              </a:rPr>
              <a:t>JSP</a:t>
            </a:r>
            <a:r>
              <a:rPr lang="zh-CN" altLang="en-US" sz="1500" dirty="0">
                <a:latin typeface="Comic Sans MS" panose="030F0702030302020204" pitchFamily="66" charset="0"/>
                <a:ea typeface="华文行楷" panose="02010800040101010101" pitchFamily="2" charset="-122"/>
              </a:rPr>
              <a:t>）”</a:t>
            </a:r>
          </a:p>
        </p:txBody>
      </p:sp>
      <p:sp>
        <p:nvSpPr>
          <p:cNvPr id="448522" name="Text Box 10"/>
          <p:cNvSpPr txBox="1">
            <a:spLocks noChangeArrowheads="1"/>
          </p:cNvSpPr>
          <p:nvPr/>
        </p:nvSpPr>
        <p:spPr bwMode="auto">
          <a:xfrm>
            <a:off x="4732735" y="3450432"/>
            <a:ext cx="13644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500">
                <a:latin typeface="Comic Sans MS" panose="030F0702030302020204" pitchFamily="66" charset="0"/>
                <a:ea typeface="华文行楷" panose="02010800040101010101" pitchFamily="2" charset="-122"/>
              </a:rPr>
              <a:t>        给你</a:t>
            </a:r>
          </a:p>
        </p:txBody>
      </p:sp>
      <p:pic>
        <p:nvPicPr>
          <p:cNvPr id="10251" name="Picture 11" descr="3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53779"/>
            <a:ext cx="3444479" cy="1797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8524" name="Picture 12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466" y="2139553"/>
            <a:ext cx="747713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8525" name="Line 13"/>
          <p:cNvSpPr>
            <a:spLocks noChangeShapeType="1"/>
          </p:cNvSpPr>
          <p:nvPr/>
        </p:nvSpPr>
        <p:spPr bwMode="auto">
          <a:xfrm flipH="1">
            <a:off x="2195513" y="2247900"/>
            <a:ext cx="145851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448526" name="Text Box 14"/>
          <p:cNvSpPr txBox="1">
            <a:spLocks noChangeArrowheads="1"/>
          </p:cNvSpPr>
          <p:nvPr/>
        </p:nvSpPr>
        <p:spPr bwMode="auto">
          <a:xfrm>
            <a:off x="2205660" y="1855656"/>
            <a:ext cx="1674019" cy="47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zh-CN" altLang="en-US" sz="1500" dirty="0">
                <a:latin typeface="Comic Sans MS" panose="030F0702030302020204" pitchFamily="66" charset="0"/>
                <a:ea typeface="华文行楷" panose="02010800040101010101" pitchFamily="2" charset="-122"/>
              </a:rPr>
              <a:t>转由其它</a:t>
            </a:r>
            <a:r>
              <a:rPr lang="zh-CN" altLang="en-US" sz="1500" dirty="0" smtClean="0">
                <a:latin typeface="Comic Sans MS" panose="030F0702030302020204" pitchFamily="66" charset="0"/>
                <a:ea typeface="华文行楷" panose="02010800040101010101" pitchFamily="2" charset="-122"/>
              </a:rPr>
              <a:t>辅助</a:t>
            </a:r>
            <a:endParaRPr lang="en-US" altLang="zh-CN" sz="1500" dirty="0" smtClean="0">
              <a:latin typeface="Comic Sans MS" panose="030F0702030302020204" pitchFamily="66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1500" dirty="0" smtClean="0">
                <a:latin typeface="Comic Sans MS" panose="030F0702030302020204" pitchFamily="66" charset="0"/>
                <a:ea typeface="华文行楷" panose="02010800040101010101" pitchFamily="2" charset="-122"/>
              </a:rPr>
              <a:t>程序</a:t>
            </a:r>
            <a:r>
              <a:rPr lang="zh-CN" altLang="en-US" sz="1500" dirty="0">
                <a:latin typeface="Comic Sans MS" panose="030F0702030302020204" pitchFamily="66" charset="0"/>
                <a:ea typeface="华文行楷" panose="02010800040101010101" pitchFamily="2" charset="-122"/>
              </a:rPr>
              <a:t>引擎处理</a:t>
            </a:r>
          </a:p>
        </p:txBody>
      </p:sp>
      <p:sp>
        <p:nvSpPr>
          <p:cNvPr id="448527" name="Line 15"/>
          <p:cNvSpPr>
            <a:spLocks noChangeShapeType="1"/>
          </p:cNvSpPr>
          <p:nvPr/>
        </p:nvSpPr>
        <p:spPr bwMode="auto">
          <a:xfrm>
            <a:off x="2195513" y="2787254"/>
            <a:ext cx="1458516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graphicFrame>
        <p:nvGraphicFramePr>
          <p:cNvPr id="448528" name="Object 1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951560" y="2518172"/>
          <a:ext cx="37742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" name="Visio" r:id="rId9" imgW="398272" imgH="398114" progId="Visio.Drawing.11">
                  <p:embed/>
                </p:oleObj>
              </mc:Choice>
              <mc:Fallback>
                <p:oleObj name="Visio" r:id="rId9" imgW="398272" imgH="39811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560" y="2518172"/>
                        <a:ext cx="37742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8529" name="Text Box 17"/>
          <p:cNvSpPr txBox="1">
            <a:spLocks noChangeArrowheads="1"/>
          </p:cNvSpPr>
          <p:nvPr/>
        </p:nvSpPr>
        <p:spPr bwMode="auto">
          <a:xfrm>
            <a:off x="2114434" y="2518173"/>
            <a:ext cx="98990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zh-CN" altLang="en-US" sz="1500" dirty="0">
                <a:latin typeface="Comic Sans MS" panose="030F0702030302020204" pitchFamily="66" charset="0"/>
                <a:ea typeface="华文行楷" panose="02010800040101010101" pitchFamily="2" charset="-122"/>
              </a:rPr>
              <a:t>动态生成</a:t>
            </a:r>
          </a:p>
        </p:txBody>
      </p:sp>
    </p:spTree>
    <p:extLst>
      <p:ext uri="{BB962C8B-B14F-4D97-AF65-F5344CB8AC3E}">
        <p14:creationId xmlns:p14="http://schemas.microsoft.com/office/powerpoint/2010/main" val="233706028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4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8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48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48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8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8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48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48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4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8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4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48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48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4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8" grpId="0" animBg="1"/>
      <p:bldP spid="448519" grpId="0" animBg="1"/>
      <p:bldP spid="448520" grpId="0" animBg="1"/>
      <p:bldP spid="448521" grpId="0"/>
      <p:bldP spid="448522" grpId="0"/>
      <p:bldP spid="448525" grpId="0" animBg="1"/>
      <p:bldP spid="448526" grpId="0"/>
      <p:bldP spid="4485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/>
          </p:cNvSpPr>
          <p:nvPr>
            <p:ph type="body" idx="4294967295"/>
          </p:nvPr>
        </p:nvSpPr>
        <p:spPr>
          <a:xfrm>
            <a:off x="899592" y="267494"/>
            <a:ext cx="7128792" cy="4304506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en-US" altLang="zh-CN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运行在服务器端，通常在</a:t>
            </a:r>
            <a:r>
              <a:rPr lang="en-US" altLang="zh-CN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容器（如</a:t>
            </a:r>
            <a:r>
              <a:rPr lang="en-US" altLang="zh-CN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Tomcat</a:t>
            </a:r>
            <a:r>
              <a:rPr lang="zh-CN" altLang="en-US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）中运行，是一种服务器端技术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zh-CN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Tomcat</a:t>
            </a:r>
            <a:r>
              <a:rPr lang="zh-CN" altLang="en-US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lang="en-US" altLang="zh-CN" sz="1875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Servlet&amp;JSP</a:t>
            </a:r>
            <a:r>
              <a:rPr lang="zh-CN" altLang="en-US" sz="1875">
                <a:latin typeface="微软雅黑" panose="020B0503020204020204" pitchFamily="34" charset="-122"/>
                <a:ea typeface="微软雅黑" panose="020B0503020204020204" pitchFamily="34" charset="-122"/>
              </a:rPr>
              <a:t>容器</a:t>
            </a:r>
            <a:r>
              <a:rPr lang="zh-CN" altLang="en-US" sz="1875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，同时</a:t>
            </a:r>
            <a:r>
              <a:rPr lang="zh-CN" altLang="en-US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</a:t>
            </a:r>
            <a:r>
              <a:rPr lang="en-US" altLang="zh-CN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服务器的功能</a:t>
            </a:r>
          </a:p>
          <a:p>
            <a:pPr eaLnBrk="1" hangingPunct="1">
              <a:lnSpc>
                <a:spcPct val="115000"/>
              </a:lnSpc>
              <a:buFont typeface="Wingdings 3" panose="05040102010807070707" pitchFamily="18" charset="2"/>
              <a:buNone/>
            </a:pPr>
            <a:endParaRPr lang="zh-CN" altLang="en-US" dirty="0" smtClean="0"/>
          </a:p>
          <a:p>
            <a:pPr lvl="4" eaLnBrk="1" hangingPunct="1">
              <a:lnSpc>
                <a:spcPct val="80000"/>
              </a:lnSpc>
            </a:pPr>
            <a:endParaRPr lang="en-US" altLang="zh-CN" sz="1200" dirty="0"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Font typeface="Wingdings 3" panose="05040102010807070707" pitchFamily="18" charset="2"/>
              <a:buNone/>
            </a:pPr>
            <a:endParaRPr lang="zh-CN" altLang="en-US" sz="1950" dirty="0"/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1331119" y="2787253"/>
            <a:ext cx="1188244" cy="5078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500"/>
              <a:t>Web </a:t>
            </a:r>
            <a:r>
              <a:rPr lang="zh-CN" altLang="en-US" sz="1500"/>
              <a:t>浏览器</a:t>
            </a:r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3113485" y="1762125"/>
            <a:ext cx="3187303" cy="29694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3221832" y="1869281"/>
            <a:ext cx="2159794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500"/>
              <a:t>Tomcat</a:t>
            </a:r>
            <a:r>
              <a:rPr lang="zh-CN" altLang="en-US" sz="1500"/>
              <a:t>服务器（容器）</a:t>
            </a:r>
          </a:p>
        </p:txBody>
      </p:sp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3276600" y="2301478"/>
            <a:ext cx="1404938" cy="3000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500"/>
              <a:t>Web </a:t>
            </a:r>
            <a:r>
              <a:rPr lang="zh-CN" altLang="en-US" sz="1500"/>
              <a:t>服务器</a:t>
            </a:r>
          </a:p>
        </p:txBody>
      </p:sp>
      <p:sp>
        <p:nvSpPr>
          <p:cNvPr id="13319" name="Text Box 8"/>
          <p:cNvSpPr txBox="1">
            <a:spLocks noChangeArrowheads="1"/>
          </p:cNvSpPr>
          <p:nvPr/>
        </p:nvSpPr>
        <p:spPr bwMode="auto">
          <a:xfrm>
            <a:off x="1980010" y="2350294"/>
            <a:ext cx="1079897" cy="258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200"/>
              <a:t>HTTP</a:t>
            </a:r>
            <a:r>
              <a:rPr lang="zh-CN" altLang="en-US" sz="1200"/>
              <a:t>请求</a:t>
            </a:r>
          </a:p>
        </p:txBody>
      </p:sp>
      <p:sp>
        <p:nvSpPr>
          <p:cNvPr id="13320" name="Rectangle 9"/>
          <p:cNvSpPr>
            <a:spLocks noChangeArrowheads="1"/>
          </p:cNvSpPr>
          <p:nvPr/>
        </p:nvSpPr>
        <p:spPr bwMode="auto">
          <a:xfrm>
            <a:off x="3221832" y="3489723"/>
            <a:ext cx="1512094" cy="1134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1" name="Text Box 10"/>
          <p:cNvSpPr txBox="1">
            <a:spLocks noChangeArrowheads="1"/>
          </p:cNvSpPr>
          <p:nvPr/>
        </p:nvSpPr>
        <p:spPr bwMode="auto">
          <a:xfrm>
            <a:off x="3301603" y="3575447"/>
            <a:ext cx="917972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1500"/>
              <a:t>静态页面</a:t>
            </a:r>
          </a:p>
        </p:txBody>
      </p:sp>
      <p:sp>
        <p:nvSpPr>
          <p:cNvPr id="13322" name="AutoShape 11"/>
          <p:cNvSpPr>
            <a:spLocks noChangeArrowheads="1"/>
          </p:cNvSpPr>
          <p:nvPr/>
        </p:nvSpPr>
        <p:spPr bwMode="auto">
          <a:xfrm>
            <a:off x="3930254" y="4246960"/>
            <a:ext cx="325040" cy="269081"/>
          </a:xfrm>
          <a:prstGeom prst="foldedCorner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3" name="AutoShape 12"/>
          <p:cNvSpPr>
            <a:spLocks noChangeArrowheads="1"/>
          </p:cNvSpPr>
          <p:nvPr/>
        </p:nvSpPr>
        <p:spPr bwMode="auto">
          <a:xfrm>
            <a:off x="4092179" y="4085035"/>
            <a:ext cx="325040" cy="269081"/>
          </a:xfrm>
          <a:prstGeom prst="foldedCorner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4" name="AutoShape 13"/>
          <p:cNvSpPr>
            <a:spLocks noChangeArrowheads="1"/>
          </p:cNvSpPr>
          <p:nvPr/>
        </p:nvSpPr>
        <p:spPr bwMode="auto">
          <a:xfrm>
            <a:off x="4254104" y="3868342"/>
            <a:ext cx="325040" cy="269081"/>
          </a:xfrm>
          <a:prstGeom prst="foldedCorner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5" name="AutoShape 14"/>
          <p:cNvSpPr>
            <a:spLocks noChangeArrowheads="1"/>
          </p:cNvSpPr>
          <p:nvPr/>
        </p:nvSpPr>
        <p:spPr bwMode="auto">
          <a:xfrm>
            <a:off x="3659981" y="4085035"/>
            <a:ext cx="325041" cy="269081"/>
          </a:xfrm>
          <a:prstGeom prst="foldedCorner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6" name="Rectangle 15"/>
          <p:cNvSpPr>
            <a:spLocks noChangeArrowheads="1"/>
          </p:cNvSpPr>
          <p:nvPr/>
        </p:nvSpPr>
        <p:spPr bwMode="auto">
          <a:xfrm>
            <a:off x="4901803" y="3490913"/>
            <a:ext cx="1296591" cy="1133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7" name="Text Box 16"/>
          <p:cNvSpPr txBox="1">
            <a:spLocks noChangeArrowheads="1"/>
          </p:cNvSpPr>
          <p:nvPr/>
        </p:nvSpPr>
        <p:spPr bwMode="auto">
          <a:xfrm>
            <a:off x="4911328" y="3559969"/>
            <a:ext cx="124484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500" dirty="0"/>
              <a:t>Servlet </a:t>
            </a:r>
            <a:r>
              <a:rPr lang="zh-CN" altLang="en-US" sz="1500" dirty="0"/>
              <a:t>容器</a:t>
            </a:r>
          </a:p>
        </p:txBody>
      </p:sp>
      <p:sp>
        <p:nvSpPr>
          <p:cNvPr id="13328" name="Oval 17"/>
          <p:cNvSpPr>
            <a:spLocks noChangeArrowheads="1"/>
          </p:cNvSpPr>
          <p:nvPr/>
        </p:nvSpPr>
        <p:spPr bwMode="auto">
          <a:xfrm>
            <a:off x="5004197" y="4211241"/>
            <a:ext cx="809625" cy="3238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500"/>
              <a:t>jsp</a:t>
            </a:r>
          </a:p>
        </p:txBody>
      </p:sp>
      <p:sp>
        <p:nvSpPr>
          <p:cNvPr id="13329" name="Oval 18"/>
          <p:cNvSpPr>
            <a:spLocks noChangeArrowheads="1"/>
          </p:cNvSpPr>
          <p:nvPr/>
        </p:nvSpPr>
        <p:spPr bwMode="auto">
          <a:xfrm>
            <a:off x="5172075" y="3921919"/>
            <a:ext cx="809625" cy="3238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500"/>
              <a:t>Servlet</a:t>
            </a:r>
          </a:p>
        </p:txBody>
      </p:sp>
      <p:sp>
        <p:nvSpPr>
          <p:cNvPr id="13330" name="AutoShape 19"/>
          <p:cNvSpPr>
            <a:spLocks noChangeArrowheads="1"/>
          </p:cNvSpPr>
          <p:nvPr/>
        </p:nvSpPr>
        <p:spPr bwMode="auto">
          <a:xfrm>
            <a:off x="3857625" y="2682479"/>
            <a:ext cx="161925" cy="702469"/>
          </a:xfrm>
          <a:prstGeom prst="upDownArrow">
            <a:avLst>
              <a:gd name="adj1" fmla="val 50000"/>
              <a:gd name="adj2" fmla="val 867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31" name="AutoShape 20"/>
          <p:cNvSpPr>
            <a:spLocks noChangeArrowheads="1"/>
          </p:cNvSpPr>
          <p:nvPr/>
        </p:nvSpPr>
        <p:spPr bwMode="auto">
          <a:xfrm>
            <a:off x="4788694" y="2409826"/>
            <a:ext cx="863204" cy="108347"/>
          </a:xfrm>
          <a:prstGeom prst="leftArrow">
            <a:avLst>
              <a:gd name="adj1" fmla="val 50000"/>
              <a:gd name="adj2" fmla="val 1991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32" name="AutoShape 21"/>
          <p:cNvSpPr>
            <a:spLocks noChangeArrowheads="1"/>
          </p:cNvSpPr>
          <p:nvPr/>
        </p:nvSpPr>
        <p:spPr bwMode="auto">
          <a:xfrm>
            <a:off x="5588794" y="2434828"/>
            <a:ext cx="108347" cy="917972"/>
          </a:xfrm>
          <a:prstGeom prst="downArrow">
            <a:avLst>
              <a:gd name="adj1" fmla="val 50000"/>
              <a:gd name="adj2" fmla="val 2118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33" name="AutoShape 22"/>
          <p:cNvSpPr>
            <a:spLocks noChangeArrowheads="1"/>
          </p:cNvSpPr>
          <p:nvPr/>
        </p:nvSpPr>
        <p:spPr bwMode="auto">
          <a:xfrm>
            <a:off x="7002066" y="3626644"/>
            <a:ext cx="837009" cy="917972"/>
          </a:xfrm>
          <a:prstGeom prst="can">
            <a:avLst>
              <a:gd name="adj" fmla="val 2741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1500"/>
              <a:t>数据库</a:t>
            </a:r>
          </a:p>
        </p:txBody>
      </p:sp>
      <p:sp>
        <p:nvSpPr>
          <p:cNvPr id="13334" name="AutoShape 23"/>
          <p:cNvSpPr>
            <a:spLocks noChangeArrowheads="1"/>
          </p:cNvSpPr>
          <p:nvPr/>
        </p:nvSpPr>
        <p:spPr bwMode="auto">
          <a:xfrm>
            <a:off x="6379369" y="3975498"/>
            <a:ext cx="569119" cy="216694"/>
          </a:xfrm>
          <a:prstGeom prst="leftRightArrow">
            <a:avLst>
              <a:gd name="adj1" fmla="val 50000"/>
              <a:gd name="adj2" fmla="val 5252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35" name="AutoShape 24"/>
          <p:cNvSpPr>
            <a:spLocks noChangeArrowheads="1"/>
          </p:cNvSpPr>
          <p:nvPr/>
        </p:nvSpPr>
        <p:spPr bwMode="auto">
          <a:xfrm rot="-1519182">
            <a:off x="2519363" y="2733676"/>
            <a:ext cx="756047" cy="108347"/>
          </a:xfrm>
          <a:prstGeom prst="leftRightArrow">
            <a:avLst>
              <a:gd name="adj1" fmla="val 50000"/>
              <a:gd name="adj2" fmla="val 13956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36" name="Text Box 25"/>
          <p:cNvSpPr txBox="1">
            <a:spLocks noChangeArrowheads="1"/>
          </p:cNvSpPr>
          <p:nvPr/>
        </p:nvSpPr>
        <p:spPr bwMode="auto">
          <a:xfrm>
            <a:off x="2574132" y="2984897"/>
            <a:ext cx="1079897" cy="258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200"/>
              <a:t>HTTP</a:t>
            </a:r>
            <a:r>
              <a:rPr lang="zh-CN" altLang="en-US" sz="1200"/>
              <a:t>响应</a:t>
            </a:r>
          </a:p>
        </p:txBody>
      </p:sp>
    </p:spTree>
    <p:extLst>
      <p:ext uri="{BB962C8B-B14F-4D97-AF65-F5344CB8AC3E}">
        <p14:creationId xmlns:p14="http://schemas.microsoft.com/office/powerpoint/2010/main" val="176811701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/>
          </p:cNvSpPr>
          <p:nvPr>
            <p:ph type="title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的作用</a:t>
            </a:r>
          </a:p>
        </p:txBody>
      </p:sp>
      <p:sp>
        <p:nvSpPr>
          <p:cNvPr id="340995" name="Rectangle 3"/>
          <p:cNvSpPr>
            <a:spLocks noGrp="1"/>
          </p:cNvSpPr>
          <p:nvPr>
            <p:ph type="body" idx="4294967295"/>
          </p:nvPr>
        </p:nvSpPr>
        <p:spPr>
          <a:xfrm>
            <a:off x="539552" y="1275606"/>
            <a:ext cx="7920880" cy="362069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的作用：用以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B/S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（浏览器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服务器）架构下，对客户端请求的响应处理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服务器可以将浏览器请求交给一个程序（比如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 ) 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，由程序经过各种处理，生成动态变化的内容，再由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服务器传回给浏览器以显示</a:t>
            </a:r>
          </a:p>
          <a:p>
            <a:pPr lvl="1" eaLnBrk="1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Font typeface="Verdana" panose="020B0604030504040204" pitchFamily="34" charset="0"/>
              <a:buChar char="▪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程序可以完成各种逻辑控制、获取客户端传递的数据、对数据库进行操作、创建输出内容等诸多功能</a:t>
            </a:r>
            <a:endParaRPr lang="zh-CN" altLang="en-US" sz="187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 eaLnBrk="1" hangingPunct="1">
              <a:lnSpc>
                <a:spcPct val="80000"/>
              </a:lnSpc>
            </a:pPr>
            <a:endParaRPr lang="en-US" altLang="zh-CN" sz="1200" dirty="0"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Font typeface="Wingdings 3" panose="05040102010807070707" pitchFamily="18" charset="2"/>
              <a:buNone/>
            </a:pPr>
            <a:endParaRPr lang="zh-CN" altLang="en-US" sz="1950" dirty="0"/>
          </a:p>
        </p:txBody>
      </p:sp>
    </p:spTree>
    <p:extLst>
      <p:ext uri="{BB962C8B-B14F-4D97-AF65-F5344CB8AC3E}">
        <p14:creationId xmlns:p14="http://schemas.microsoft.com/office/powerpoint/2010/main" val="176646765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323528" y="19802"/>
            <a:ext cx="8229600" cy="857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由程序动态生成</a:t>
            </a:r>
            <a:r>
              <a:rPr lang="en-US" altLang="zh-CN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</a:p>
        </p:txBody>
      </p:sp>
      <p:pic>
        <p:nvPicPr>
          <p:cNvPr id="4495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935" y="951310"/>
            <a:ext cx="3239690" cy="4015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9540" name="Text Box 4"/>
          <p:cNvSpPr txBox="1">
            <a:spLocks noChangeArrowheads="1"/>
          </p:cNvSpPr>
          <p:nvPr/>
        </p:nvSpPr>
        <p:spPr bwMode="auto">
          <a:xfrm>
            <a:off x="2683669" y="1689498"/>
            <a:ext cx="2170787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打印（</a:t>
            </a:r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”&lt;html&gt;”</a:t>
            </a:r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）</a:t>
            </a:r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;</a:t>
            </a:r>
          </a:p>
        </p:txBody>
      </p:sp>
      <p:sp>
        <p:nvSpPr>
          <p:cNvPr id="449541" name="Text Box 5"/>
          <p:cNvSpPr txBox="1">
            <a:spLocks noChangeArrowheads="1"/>
          </p:cNvSpPr>
          <p:nvPr/>
        </p:nvSpPr>
        <p:spPr bwMode="auto">
          <a:xfrm>
            <a:off x="2678907" y="2247901"/>
            <a:ext cx="2216944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打印（</a:t>
            </a:r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”&lt;body&gt;”</a:t>
            </a:r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）</a:t>
            </a:r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;</a:t>
            </a:r>
          </a:p>
        </p:txBody>
      </p:sp>
      <p:sp>
        <p:nvSpPr>
          <p:cNvPr id="449542" name="Text Box 6"/>
          <p:cNvSpPr txBox="1">
            <a:spLocks noChangeArrowheads="1"/>
          </p:cNvSpPr>
          <p:nvPr/>
        </p:nvSpPr>
        <p:spPr bwMode="auto">
          <a:xfrm>
            <a:off x="2647951" y="3363517"/>
            <a:ext cx="2331087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打印（</a:t>
            </a:r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”&lt;/body&gt;”</a:t>
            </a:r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）</a:t>
            </a:r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;</a:t>
            </a:r>
          </a:p>
        </p:txBody>
      </p:sp>
      <p:sp>
        <p:nvSpPr>
          <p:cNvPr id="449543" name="Text Box 7"/>
          <p:cNvSpPr txBox="1">
            <a:spLocks noChangeArrowheads="1"/>
          </p:cNvSpPr>
          <p:nvPr/>
        </p:nvSpPr>
        <p:spPr bwMode="auto">
          <a:xfrm>
            <a:off x="2683669" y="3957638"/>
            <a:ext cx="2299027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打印（</a:t>
            </a:r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”&lt;/html&gt;”</a:t>
            </a:r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）</a:t>
            </a:r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;</a:t>
            </a:r>
          </a:p>
        </p:txBody>
      </p:sp>
      <p:sp>
        <p:nvSpPr>
          <p:cNvPr id="449544" name="Text Box 8"/>
          <p:cNvSpPr txBox="1">
            <a:spLocks noChangeArrowheads="1"/>
          </p:cNvSpPr>
          <p:nvPr/>
        </p:nvSpPr>
        <p:spPr bwMode="auto">
          <a:xfrm>
            <a:off x="2050257" y="1059657"/>
            <a:ext cx="3466013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生成当前时间，赋予变量</a:t>
            </a:r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date</a:t>
            </a:r>
          </a:p>
        </p:txBody>
      </p:sp>
      <p:sp>
        <p:nvSpPr>
          <p:cNvPr id="449545" name="Text Box 9"/>
          <p:cNvSpPr txBox="1">
            <a:spLocks noChangeArrowheads="1"/>
          </p:cNvSpPr>
          <p:nvPr/>
        </p:nvSpPr>
        <p:spPr bwMode="auto">
          <a:xfrm>
            <a:off x="2641998" y="2769394"/>
            <a:ext cx="1941557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打印（ </a:t>
            </a:r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date </a:t>
            </a:r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）</a:t>
            </a:r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;</a:t>
            </a:r>
          </a:p>
        </p:txBody>
      </p:sp>
      <p:sp>
        <p:nvSpPr>
          <p:cNvPr id="449546" name="Rectangle 10"/>
          <p:cNvSpPr>
            <a:spLocks noChangeArrowheads="1"/>
          </p:cNvSpPr>
          <p:nvPr/>
        </p:nvSpPr>
        <p:spPr bwMode="auto">
          <a:xfrm>
            <a:off x="2160985" y="1006079"/>
            <a:ext cx="3186113" cy="485775"/>
          </a:xfrm>
          <a:prstGeom prst="rect">
            <a:avLst/>
          </a:prstGeom>
          <a:solidFill>
            <a:schemeClr val="hlink">
              <a:alpha val="12941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49547" name="Rectangle 11"/>
          <p:cNvSpPr>
            <a:spLocks noChangeArrowheads="1"/>
          </p:cNvSpPr>
          <p:nvPr/>
        </p:nvSpPr>
        <p:spPr bwMode="auto">
          <a:xfrm>
            <a:off x="3490913" y="2787254"/>
            <a:ext cx="648891" cy="378619"/>
          </a:xfrm>
          <a:prstGeom prst="rect">
            <a:avLst/>
          </a:prstGeom>
          <a:solidFill>
            <a:schemeClr val="hlink">
              <a:alpha val="12941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49548" name="Text Box 8"/>
          <p:cNvSpPr txBox="1">
            <a:spLocks noChangeArrowheads="1"/>
          </p:cNvSpPr>
          <p:nvPr/>
        </p:nvSpPr>
        <p:spPr bwMode="auto">
          <a:xfrm>
            <a:off x="5559191" y="1006079"/>
            <a:ext cx="2685351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Aft>
                <a:spcPct val="0"/>
              </a:spcAft>
            </a:pPr>
            <a:r>
              <a:rPr lang="zh-CN" altLang="en-US" sz="1950" dirty="0">
                <a:ea typeface="微软雅黑" panose="020B0503020204020204" pitchFamily="34" charset="-122"/>
              </a:rPr>
              <a:t>设计一个程序，把页面</a:t>
            </a:r>
          </a:p>
          <a:p>
            <a:pPr eaLnBrk="1" hangingPunct="1">
              <a:lnSpc>
                <a:spcPct val="120000"/>
              </a:lnSpc>
              <a:spcAft>
                <a:spcPct val="0"/>
              </a:spcAft>
            </a:pPr>
            <a:r>
              <a:rPr lang="zh-CN" altLang="en-US" sz="1950" dirty="0">
                <a:ea typeface="微软雅黑" panose="020B0503020204020204" pitchFamily="34" charset="-122"/>
              </a:rPr>
              <a:t>打印（输出）给浏览器</a:t>
            </a:r>
          </a:p>
          <a:p>
            <a:pPr eaLnBrk="1" hangingPunct="1">
              <a:lnSpc>
                <a:spcPct val="120000"/>
              </a:lnSpc>
              <a:spcAft>
                <a:spcPct val="0"/>
              </a:spcAft>
            </a:pPr>
            <a:r>
              <a:rPr lang="zh-CN" altLang="en-US" sz="1950" dirty="0">
                <a:ea typeface="微软雅黑" panose="020B0503020204020204" pitchFamily="34" charset="-122"/>
              </a:rPr>
              <a:t>并嵌入动态生成的内容</a:t>
            </a:r>
          </a:p>
          <a:p>
            <a:pPr eaLnBrk="1" hangingPunct="1">
              <a:lnSpc>
                <a:spcPct val="120000"/>
              </a:lnSpc>
              <a:spcAft>
                <a:spcPct val="0"/>
              </a:spcAft>
            </a:pPr>
            <a:r>
              <a:rPr lang="zh-CN" altLang="en-US" sz="1950" dirty="0">
                <a:ea typeface="微软雅黑" panose="020B0503020204020204" pitchFamily="34" charset="-122"/>
              </a:rPr>
              <a:t>（当前内容）</a:t>
            </a:r>
          </a:p>
        </p:txBody>
      </p:sp>
    </p:spTree>
    <p:extLst>
      <p:ext uri="{BB962C8B-B14F-4D97-AF65-F5344CB8AC3E}">
        <p14:creationId xmlns:p14="http://schemas.microsoft.com/office/powerpoint/2010/main" val="27212744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9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9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9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9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9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9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9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49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49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40" grpId="0"/>
      <p:bldP spid="449541" grpId="0"/>
      <p:bldP spid="449542" grpId="0"/>
      <p:bldP spid="449543" grpId="0"/>
      <p:bldP spid="449544" grpId="0"/>
      <p:bldP spid="449545" grpId="0"/>
      <p:bldP spid="449546" grpId="0" animBg="1"/>
      <p:bldP spid="449547" grpId="0" animBg="1"/>
      <p:bldP spid="4495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194" y="842962"/>
            <a:ext cx="2700338" cy="4015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Text Box 4"/>
          <p:cNvSpPr txBox="1">
            <a:spLocks noChangeArrowheads="1"/>
          </p:cNvSpPr>
          <p:nvPr/>
        </p:nvSpPr>
        <p:spPr bwMode="auto">
          <a:xfrm>
            <a:off x="1541860" y="1581151"/>
            <a:ext cx="2095445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打印（</a:t>
            </a:r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”&lt;html&gt;”</a:t>
            </a:r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）</a:t>
            </a:r>
            <a:endParaRPr lang="en-US" altLang="zh-CN" sz="1950">
              <a:latin typeface="Comic Sans MS" panose="030F0702030302020204" pitchFamily="66" charset="0"/>
              <a:ea typeface="华文行楷" panose="0201080004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12292" name="Text Box 5"/>
          <p:cNvSpPr txBox="1">
            <a:spLocks noChangeArrowheads="1"/>
          </p:cNvSpPr>
          <p:nvPr/>
        </p:nvSpPr>
        <p:spPr bwMode="auto">
          <a:xfrm>
            <a:off x="1537098" y="2139554"/>
            <a:ext cx="2225278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打印（</a:t>
            </a:r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”&lt;body&gt;”</a:t>
            </a:r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）</a:t>
            </a:r>
            <a:endParaRPr lang="en-US" altLang="zh-CN" sz="1950">
              <a:latin typeface="Comic Sans MS" panose="030F0702030302020204" pitchFamily="66" charset="0"/>
              <a:ea typeface="华文行楷" panose="0201080004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12293" name="Text Box 6"/>
          <p:cNvSpPr txBox="1">
            <a:spLocks noChangeArrowheads="1"/>
          </p:cNvSpPr>
          <p:nvPr/>
        </p:nvSpPr>
        <p:spPr bwMode="auto">
          <a:xfrm>
            <a:off x="1506141" y="3255169"/>
            <a:ext cx="2255746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打印（</a:t>
            </a:r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”&lt;/body&gt;”</a:t>
            </a:r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）</a:t>
            </a:r>
            <a:endParaRPr lang="en-US" altLang="zh-CN" sz="1950">
              <a:latin typeface="Comic Sans MS" panose="030F0702030302020204" pitchFamily="66" charset="0"/>
              <a:ea typeface="华文行楷" panose="0201080004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12294" name="Text Box 7"/>
          <p:cNvSpPr txBox="1">
            <a:spLocks noChangeArrowheads="1"/>
          </p:cNvSpPr>
          <p:nvPr/>
        </p:nvSpPr>
        <p:spPr bwMode="auto">
          <a:xfrm>
            <a:off x="1541860" y="3849292"/>
            <a:ext cx="2223686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打印（</a:t>
            </a:r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”&lt;/html&gt;”</a:t>
            </a:r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）</a:t>
            </a:r>
            <a:endParaRPr lang="en-US" altLang="zh-CN" sz="1950">
              <a:latin typeface="Comic Sans MS" panose="030F0702030302020204" pitchFamily="66" charset="0"/>
              <a:ea typeface="华文行楷" panose="0201080004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12295" name="Text Box 8"/>
          <p:cNvSpPr txBox="1">
            <a:spLocks noChangeArrowheads="1"/>
          </p:cNvSpPr>
          <p:nvPr/>
        </p:nvSpPr>
        <p:spPr bwMode="auto">
          <a:xfrm>
            <a:off x="1115615" y="1003698"/>
            <a:ext cx="2808782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程序生成时间</a:t>
            </a:r>
            <a:r>
              <a:rPr lang="en-US" altLang="zh-CN" sz="16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,</a:t>
            </a:r>
            <a:r>
              <a:rPr lang="zh-CN" altLang="en-US" sz="16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赋予变量</a:t>
            </a:r>
            <a:r>
              <a:rPr lang="en-US" altLang="zh-CN" sz="16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date</a:t>
            </a:r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1500187" y="2661048"/>
            <a:ext cx="1715534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打印（</a:t>
            </a:r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date</a:t>
            </a:r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）</a:t>
            </a:r>
          </a:p>
        </p:txBody>
      </p:sp>
      <p:sp>
        <p:nvSpPr>
          <p:cNvPr id="12297" name="Text Box 10"/>
          <p:cNvSpPr txBox="1">
            <a:spLocks noChangeArrowheads="1"/>
          </p:cNvSpPr>
          <p:nvPr/>
        </p:nvSpPr>
        <p:spPr bwMode="auto">
          <a:xfrm>
            <a:off x="1114426" y="357188"/>
            <a:ext cx="28264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微软雅黑" panose="020B0503020204020204" pitchFamily="34" charset="-122"/>
                <a:cs typeface="Arial Unicode MS" panose="020B0604020202020204" pitchFamily="34" charset="-122"/>
              </a:rPr>
              <a:t>服务器端程序（如</a:t>
            </a:r>
            <a:r>
              <a:rPr lang="en-US" altLang="zh-CN" dirty="0">
                <a:ea typeface="微软雅黑" panose="020B0503020204020204" pitchFamily="34" charset="-122"/>
                <a:cs typeface="Arial Unicode MS" panose="020B0604020202020204" pitchFamily="34" charset="-122"/>
              </a:rPr>
              <a:t>Servlet)</a:t>
            </a:r>
          </a:p>
        </p:txBody>
      </p:sp>
      <p:pic>
        <p:nvPicPr>
          <p:cNvPr id="450571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972" y="789385"/>
            <a:ext cx="2490788" cy="4015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72" name="Text Box 12"/>
          <p:cNvSpPr txBox="1">
            <a:spLocks noChangeArrowheads="1"/>
          </p:cNvSpPr>
          <p:nvPr/>
        </p:nvSpPr>
        <p:spPr bwMode="auto">
          <a:xfrm>
            <a:off x="6166248" y="1527573"/>
            <a:ext cx="899605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&lt;html&gt;</a:t>
            </a:r>
          </a:p>
        </p:txBody>
      </p:sp>
      <p:sp>
        <p:nvSpPr>
          <p:cNvPr id="450573" name="Text Box 13"/>
          <p:cNvSpPr txBox="1">
            <a:spLocks noChangeArrowheads="1"/>
          </p:cNvSpPr>
          <p:nvPr/>
        </p:nvSpPr>
        <p:spPr bwMode="auto">
          <a:xfrm>
            <a:off x="6161485" y="2085976"/>
            <a:ext cx="1435894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&lt;body&gt;</a:t>
            </a:r>
          </a:p>
        </p:txBody>
      </p:sp>
      <p:sp>
        <p:nvSpPr>
          <p:cNvPr id="450574" name="Text Box 14"/>
          <p:cNvSpPr txBox="1">
            <a:spLocks noChangeArrowheads="1"/>
          </p:cNvSpPr>
          <p:nvPr/>
        </p:nvSpPr>
        <p:spPr bwMode="auto">
          <a:xfrm>
            <a:off x="6137672" y="3201592"/>
            <a:ext cx="1059906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&lt;/body&gt;</a:t>
            </a:r>
          </a:p>
        </p:txBody>
      </p:sp>
      <p:sp>
        <p:nvSpPr>
          <p:cNvPr id="450575" name="Text Box 15"/>
          <p:cNvSpPr txBox="1">
            <a:spLocks noChangeArrowheads="1"/>
          </p:cNvSpPr>
          <p:nvPr/>
        </p:nvSpPr>
        <p:spPr bwMode="auto">
          <a:xfrm>
            <a:off x="6166248" y="3795713"/>
            <a:ext cx="1027845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&lt;/html&gt;</a:t>
            </a:r>
          </a:p>
        </p:txBody>
      </p:sp>
      <p:sp>
        <p:nvSpPr>
          <p:cNvPr id="450576" name="Text Box 16"/>
          <p:cNvSpPr txBox="1">
            <a:spLocks noChangeArrowheads="1"/>
          </p:cNvSpPr>
          <p:nvPr/>
        </p:nvSpPr>
        <p:spPr bwMode="auto">
          <a:xfrm>
            <a:off x="6132910" y="2607469"/>
            <a:ext cx="1378904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2012-3-15</a:t>
            </a:r>
          </a:p>
        </p:txBody>
      </p:sp>
      <p:sp>
        <p:nvSpPr>
          <p:cNvPr id="450577" name="Text Box 17"/>
          <p:cNvSpPr txBox="1">
            <a:spLocks noChangeArrowheads="1"/>
          </p:cNvSpPr>
          <p:nvPr/>
        </p:nvSpPr>
        <p:spPr bwMode="auto">
          <a:xfrm>
            <a:off x="6516291" y="392906"/>
            <a:ext cx="15696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ea typeface="微软雅黑" panose="020B0503020204020204" pitchFamily="34" charset="-122"/>
                <a:cs typeface="Arial Unicode MS" panose="020B0604020202020204" pitchFamily="34" charset="-122"/>
              </a:rPr>
              <a:t>客户端浏览器</a:t>
            </a:r>
          </a:p>
        </p:txBody>
      </p:sp>
      <p:sp>
        <p:nvSpPr>
          <p:cNvPr id="450578" name="AutoShape 18"/>
          <p:cNvSpPr>
            <a:spLocks noChangeArrowheads="1"/>
          </p:cNvSpPr>
          <p:nvPr/>
        </p:nvSpPr>
        <p:spPr bwMode="auto">
          <a:xfrm>
            <a:off x="3977879" y="2518172"/>
            <a:ext cx="1350169" cy="161925"/>
          </a:xfrm>
          <a:prstGeom prst="rightArrow">
            <a:avLst>
              <a:gd name="adj1" fmla="val 50000"/>
              <a:gd name="adj2" fmla="val 208456"/>
            </a:avLst>
          </a:prstGeom>
          <a:solidFill>
            <a:srgbClr val="B2B2B2">
              <a:alpha val="25098"/>
            </a:srgbClr>
          </a:solidFill>
          <a:ln w="9525">
            <a:solidFill>
              <a:srgbClr val="80808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579" name="Text Box 19"/>
          <p:cNvSpPr txBox="1">
            <a:spLocks noChangeArrowheads="1"/>
          </p:cNvSpPr>
          <p:nvPr/>
        </p:nvSpPr>
        <p:spPr bwMode="auto">
          <a:xfrm>
            <a:off x="3815954" y="1762125"/>
            <a:ext cx="1800493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Aft>
                <a:spcPct val="0"/>
              </a:spcAft>
            </a:pPr>
            <a:r>
              <a:rPr lang="zh-CN" altLang="en-US">
                <a:ea typeface="微软雅黑" panose="020B0503020204020204" pitchFamily="34" charset="-122"/>
                <a:cs typeface="Arial Unicode MS" panose="020B0604020202020204" pitchFamily="34" charset="-122"/>
              </a:rPr>
              <a:t>程序打印的结果</a:t>
            </a:r>
          </a:p>
          <a:p>
            <a:pPr eaLnBrk="1" hangingPunct="1">
              <a:lnSpc>
                <a:spcPct val="120000"/>
              </a:lnSpc>
              <a:spcAft>
                <a:spcPct val="0"/>
              </a:spcAft>
            </a:pPr>
            <a:r>
              <a:rPr lang="zh-CN" altLang="en-US">
                <a:ea typeface="微软雅黑" panose="020B0503020204020204" pitchFamily="34" charset="-122"/>
                <a:cs typeface="Arial Unicode MS" panose="020B0604020202020204" pitchFamily="34" charset="-122"/>
              </a:rPr>
              <a:t>输出给浏览器</a:t>
            </a:r>
            <a:endParaRPr lang="en-US" altLang="zh-CN"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50580" name="Rectangle 20"/>
          <p:cNvSpPr>
            <a:spLocks noChangeArrowheads="1"/>
          </p:cNvSpPr>
          <p:nvPr/>
        </p:nvSpPr>
        <p:spPr bwMode="auto">
          <a:xfrm>
            <a:off x="2465785" y="1600200"/>
            <a:ext cx="702469" cy="323850"/>
          </a:xfrm>
          <a:prstGeom prst="rect">
            <a:avLst/>
          </a:prstGeom>
          <a:solidFill>
            <a:schemeClr val="hlink">
              <a:alpha val="12941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581" name="Rectangle 21"/>
          <p:cNvSpPr>
            <a:spLocks noChangeArrowheads="1"/>
          </p:cNvSpPr>
          <p:nvPr/>
        </p:nvSpPr>
        <p:spPr bwMode="auto">
          <a:xfrm>
            <a:off x="2465785" y="2139554"/>
            <a:ext cx="702469" cy="323850"/>
          </a:xfrm>
          <a:prstGeom prst="rect">
            <a:avLst/>
          </a:prstGeom>
          <a:solidFill>
            <a:schemeClr val="hlink">
              <a:alpha val="12941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582" name="Rectangle 22"/>
          <p:cNvSpPr>
            <a:spLocks noChangeArrowheads="1"/>
          </p:cNvSpPr>
          <p:nvPr/>
        </p:nvSpPr>
        <p:spPr bwMode="auto">
          <a:xfrm>
            <a:off x="2303860" y="2680097"/>
            <a:ext cx="540544" cy="323850"/>
          </a:xfrm>
          <a:prstGeom prst="rect">
            <a:avLst/>
          </a:prstGeom>
          <a:solidFill>
            <a:schemeClr val="hlink">
              <a:alpha val="12941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583" name="Rectangle 23"/>
          <p:cNvSpPr>
            <a:spLocks noChangeArrowheads="1"/>
          </p:cNvSpPr>
          <p:nvPr/>
        </p:nvSpPr>
        <p:spPr bwMode="auto">
          <a:xfrm>
            <a:off x="2412206" y="3274219"/>
            <a:ext cx="863204" cy="323850"/>
          </a:xfrm>
          <a:prstGeom prst="rect">
            <a:avLst/>
          </a:prstGeom>
          <a:solidFill>
            <a:schemeClr val="hlink">
              <a:alpha val="12941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584" name="Rectangle 24"/>
          <p:cNvSpPr>
            <a:spLocks noChangeArrowheads="1"/>
          </p:cNvSpPr>
          <p:nvPr/>
        </p:nvSpPr>
        <p:spPr bwMode="auto">
          <a:xfrm>
            <a:off x="2465785" y="3813573"/>
            <a:ext cx="809625" cy="378619"/>
          </a:xfrm>
          <a:prstGeom prst="rect">
            <a:avLst/>
          </a:prstGeom>
          <a:solidFill>
            <a:schemeClr val="hlink">
              <a:alpha val="12941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585" name="Rectangle 25"/>
          <p:cNvSpPr>
            <a:spLocks noChangeArrowheads="1"/>
          </p:cNvSpPr>
          <p:nvPr/>
        </p:nvSpPr>
        <p:spPr bwMode="auto">
          <a:xfrm>
            <a:off x="6137673" y="2615804"/>
            <a:ext cx="1296590" cy="378619"/>
          </a:xfrm>
          <a:prstGeom prst="rect">
            <a:avLst/>
          </a:prstGeom>
          <a:solidFill>
            <a:schemeClr val="hlink">
              <a:alpha val="12941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39815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5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5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5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0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50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50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50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50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50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50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50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72" grpId="0"/>
      <p:bldP spid="450573" grpId="0"/>
      <p:bldP spid="450574" grpId="0"/>
      <p:bldP spid="450576" grpId="0"/>
      <p:bldP spid="450577" grpId="0"/>
      <p:bldP spid="450578" grpId="0" animBg="1"/>
      <p:bldP spid="450579" grpId="0"/>
      <p:bldP spid="450580" grpId="0" animBg="1"/>
      <p:bldP spid="450581" grpId="0" animBg="1"/>
      <p:bldP spid="450582" grpId="0" animBg="1"/>
      <p:bldP spid="450583" grpId="0" animBg="1"/>
      <p:bldP spid="450584" grpId="0" animBg="1"/>
      <p:bldP spid="45058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/>
          </p:cNvSpPr>
          <p:nvPr>
            <p:ph type="title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服务器端技术</a:t>
            </a:r>
            <a:r>
              <a:rPr lang="en-US" altLang="zh-CN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客户端技术</a:t>
            </a:r>
          </a:p>
        </p:txBody>
      </p:sp>
      <p:sp>
        <p:nvSpPr>
          <p:cNvPr id="14339" name="Rectangle 3"/>
          <p:cNvSpPr>
            <a:spLocks noGrp="1"/>
          </p:cNvSpPr>
          <p:nvPr>
            <p:ph type="body" idx="4294967295"/>
          </p:nvPr>
        </p:nvSpPr>
        <p:spPr>
          <a:xfrm>
            <a:off x="755576" y="1110853"/>
            <a:ext cx="7632848" cy="4032647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是服务器端技术，即在服务器端运行的技术</a:t>
            </a:r>
          </a:p>
          <a:p>
            <a:pPr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客户端请求服务器端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时，客户端浏览器接收到的内容是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在服务器端运行后的结果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Font typeface="Verdana" panose="020B0604030504040204" pitchFamily="34" charset="0"/>
              <a:buChar char="▪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DateServelt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客户端浏览器接收的内容</a:t>
            </a:r>
          </a:p>
          <a:p>
            <a:pPr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zh-CN" altLang="en-US" sz="2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服务器端技术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客户端技术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Font typeface="Verdana" panose="020B0604030504040204" pitchFamily="34" charset="0"/>
              <a:buChar char="▪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服务器端技术：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Servlet&amp;JSP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  <a:p>
            <a:pPr lvl="2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运行在</a:t>
            </a:r>
            <a:r>
              <a:rPr lang="en-US" altLang="zh-CN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服务器端（比如</a:t>
            </a:r>
            <a:r>
              <a:rPr lang="en-US" altLang="zh-CN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Tomcat</a:t>
            </a: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Font typeface="Verdana" panose="020B0604030504040204" pitchFamily="34" charset="0"/>
              <a:buChar char="▪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客户端技术：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HTML&amp;CSS&amp;JavaScript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  <a:p>
            <a:pPr lvl="2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运行在客户端浏览器</a:t>
            </a:r>
          </a:p>
        </p:txBody>
      </p:sp>
    </p:spTree>
    <p:extLst>
      <p:ext uri="{BB962C8B-B14F-4D97-AF65-F5344CB8AC3E}">
        <p14:creationId xmlns:p14="http://schemas.microsoft.com/office/powerpoint/2010/main" val="143680284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854074" y="268288"/>
            <a:ext cx="2421782" cy="333375"/>
          </a:xfrm>
          <a:prstGeom prst="rect">
            <a:avLst/>
          </a:prstGeom>
          <a:ln>
            <a:solidFill>
              <a:srgbClr val="396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CONTENTS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endParaRPr lang="zh-CN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FZ 粗圆简体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597" y="1779662"/>
            <a:ext cx="9135826" cy="1368742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350">
              <a:solidFill>
                <a:srgbClr val="005DA2"/>
              </a:solidFill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3563888" y="2087557"/>
            <a:ext cx="4156887" cy="773279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zh-CN" altLang="en-US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相关软件及版本</a:t>
            </a:r>
            <a:endParaRPr lang="zh-CN" altLang="en-US" sz="442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19309" y="1773312"/>
            <a:ext cx="1386659" cy="1401770"/>
          </a:xfrm>
          <a:prstGeom prst="ellipse">
            <a:avLst/>
          </a:prstGeom>
          <a:solidFill>
            <a:srgbClr val="005DA2"/>
          </a:solidFill>
          <a:ln w="1111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135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文本框 3"/>
          <p:cNvSpPr txBox="1"/>
          <p:nvPr/>
        </p:nvSpPr>
        <p:spPr>
          <a:xfrm>
            <a:off x="1285577" y="1924378"/>
            <a:ext cx="1268276" cy="1200318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7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7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827770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77590"/>
            <a:ext cx="9144000" cy="46165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061"/>
            <a:ext cx="9144000" cy="22739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2739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81486"/>
            <a:ext cx="9144000" cy="100458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227934"/>
            <a:ext cx="42957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16523"/>
      </p:ext>
    </p:extLst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2117"/>
            <a:ext cx="9144000" cy="15792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7534"/>
            <a:ext cx="9144000" cy="88474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79862"/>
            <a:ext cx="6074275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494883"/>
      </p:ext>
    </p:extLst>
  </p:cSld>
  <p:clrMapOvr>
    <a:masterClrMapping/>
  </p:clrMapOvr>
  <p:transition spd="med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在这里插入图片描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5" y="411510"/>
            <a:ext cx="9148211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389447"/>
      </p:ext>
    </p:extLst>
  </p:cSld>
  <p:clrMapOvr>
    <a:masterClrMapping/>
  </p:clrMapOvr>
  <p:transition spd="med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771550"/>
            <a:ext cx="2971800" cy="42862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39502"/>
            <a:ext cx="5334000" cy="11334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51670"/>
            <a:ext cx="4295775" cy="6286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43758"/>
            <a:ext cx="524827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069470"/>
      </p:ext>
    </p:extLst>
  </p:cSld>
  <p:clrMapOvr>
    <a:masterClrMapping/>
  </p:clrMapOvr>
  <p:transition spd="med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3"/>
            <a:ext cx="9144000" cy="513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82276"/>
      </p:ext>
    </p:extLst>
  </p:cSld>
  <p:clrMapOvr>
    <a:masterClrMapping/>
  </p:clrMapOvr>
  <p:transition spd="med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064"/>
            <a:ext cx="9144000" cy="485537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821" y="161874"/>
            <a:ext cx="4295775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065026"/>
      </p:ext>
    </p:extLst>
  </p:cSld>
  <p:clrMapOvr>
    <a:masterClrMapping/>
  </p:clrMapOvr>
  <p:transition spd="med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854074" y="268288"/>
            <a:ext cx="2421782" cy="333375"/>
          </a:xfrm>
          <a:prstGeom prst="rect">
            <a:avLst/>
          </a:prstGeom>
          <a:ln>
            <a:solidFill>
              <a:srgbClr val="396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CONTENTS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endParaRPr lang="zh-CN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FZ 粗圆简体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597" y="1779662"/>
            <a:ext cx="9135826" cy="1368742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350">
              <a:solidFill>
                <a:srgbClr val="005DA2"/>
              </a:solidFill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3203848" y="2077393"/>
            <a:ext cx="5019624" cy="773279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zh-CN" altLang="en-US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lang="en-US" altLang="zh-CN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的方法</a:t>
            </a:r>
            <a:endParaRPr lang="zh-CN" altLang="en-US" sz="442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19309" y="1773312"/>
            <a:ext cx="1386659" cy="1401770"/>
          </a:xfrm>
          <a:prstGeom prst="ellipse">
            <a:avLst/>
          </a:prstGeom>
          <a:solidFill>
            <a:srgbClr val="005DA2"/>
          </a:solidFill>
          <a:ln w="1111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135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文本框 3"/>
          <p:cNvSpPr txBox="1"/>
          <p:nvPr/>
        </p:nvSpPr>
        <p:spPr>
          <a:xfrm>
            <a:off x="1285577" y="1924378"/>
            <a:ext cx="1268276" cy="1200318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7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7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461191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95536" y="1059582"/>
            <a:ext cx="8640960" cy="2880320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的方法：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、看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规范</a:t>
            </a:r>
            <a:r>
              <a:rPr lang="en-US" altLang="zh-CN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6995717"/>
      </p:ext>
    </p:extLst>
  </p:cSld>
  <p:clrMapOvr>
    <a:masterClrMapping/>
  </p:clrMapOvr>
  <p:transition spd="med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059582"/>
            <a:ext cx="8648700" cy="14001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89" y="195486"/>
            <a:ext cx="2370092" cy="86409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70" y="2283718"/>
            <a:ext cx="8823515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65909"/>
      </p:ext>
    </p:extLst>
  </p:cSld>
  <p:clrMapOvr>
    <a:masterClrMapping/>
  </p:clrMapOvr>
  <p:transition spd="med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9512" y="3406046"/>
            <a:ext cx="6858000" cy="1430660"/>
          </a:xfrm>
        </p:spPr>
        <p:txBody>
          <a:bodyPr/>
          <a:lstStyle/>
          <a:p>
            <a:r>
              <a:rPr lang="en-US" altLang="zh-CN" dirty="0"/>
              <a:t>https://github.com/waylau/servlet-3.1-specification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204080"/>
            <a:ext cx="8795263" cy="21602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2546"/>
            <a:ext cx="9144000" cy="128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939764"/>
      </p:ext>
    </p:extLst>
  </p:cSld>
  <p:clrMapOvr>
    <a:masterClrMapping/>
  </p:clrMapOvr>
  <p:transition spd="med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75" y="0"/>
            <a:ext cx="631304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673554"/>
      </p:ext>
    </p:extLst>
  </p:cSld>
  <p:clrMapOvr>
    <a:masterClrMapping/>
  </p:clrMapOvr>
  <p:transition spd="med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59" y="0"/>
            <a:ext cx="736628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05887"/>
      </p:ext>
    </p:extLst>
  </p:cSld>
  <p:clrMapOvr>
    <a:masterClrMapping/>
  </p:clrMapOvr>
  <p:transition spd="med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306" y="0"/>
            <a:ext cx="716338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379691"/>
      </p:ext>
    </p:extLst>
  </p:cSld>
  <p:clrMapOvr>
    <a:masterClrMapping/>
  </p:clrMapOvr>
  <p:transition spd="med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7789"/>
            <a:ext cx="9144000" cy="440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17874"/>
      </p:ext>
    </p:extLst>
  </p:cSld>
  <p:clrMapOvr>
    <a:masterClrMapping/>
  </p:clrMapOvr>
  <p:transition spd="med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299" y="0"/>
            <a:ext cx="617740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232328"/>
      </p:ext>
    </p:extLst>
  </p:cSld>
  <p:clrMapOvr>
    <a:masterClrMapping/>
  </p:clrMapOvr>
  <p:transition spd="med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6251"/>
            <a:ext cx="9144000" cy="339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791740"/>
      </p:ext>
    </p:extLst>
  </p:cSld>
  <p:clrMapOvr>
    <a:masterClrMapping/>
  </p:clrMapOvr>
  <p:transition spd="med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1520" y="1059582"/>
            <a:ext cx="8640960" cy="2880320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的方法：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、看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规范</a:t>
            </a:r>
            <a:r>
              <a:rPr lang="en-US" altLang="zh-CN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、看源代码：</a:t>
            </a:r>
            <a:r>
              <a:rPr lang="en-US" altLang="zh-CN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规范的具体实现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7479470"/>
      </p:ext>
    </p:extLst>
  </p:cSld>
  <p:clrMapOvr>
    <a:masterClrMapping/>
  </p:clrMapOvr>
  <p:transition spd="med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3478"/>
            <a:ext cx="4991100" cy="1371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563638"/>
            <a:ext cx="5045021" cy="151216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557" y="3363838"/>
            <a:ext cx="4716016" cy="150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053767"/>
      </p:ext>
    </p:extLst>
  </p:cSld>
  <p:clrMapOvr>
    <a:masterClrMapping/>
  </p:clrMapOvr>
  <p:transition spd="med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483518"/>
            <a:ext cx="3251270" cy="7200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563638"/>
            <a:ext cx="5679991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20147"/>
      </p:ext>
    </p:extLst>
  </p:cSld>
  <p:clrMapOvr>
    <a:masterClrMapping/>
  </p:clrMapOvr>
  <p:transition spd="med"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1" y="-92546"/>
            <a:ext cx="6192892" cy="5143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7" y="3003798"/>
            <a:ext cx="4775793" cy="193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889642"/>
      </p:ext>
    </p:extLst>
  </p:cSld>
  <p:clrMapOvr>
    <a:masterClrMapping/>
  </p:clrMapOvr>
  <p:transition spd="med"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0"/>
            <a:ext cx="293595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106441"/>
      </p:ext>
    </p:extLst>
  </p:cSld>
  <p:clrMapOvr>
    <a:masterClrMapping/>
  </p:clrMapOvr>
  <p:transition spd="med"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699542"/>
            <a:ext cx="5867400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92152"/>
      </p:ext>
    </p:extLst>
  </p:cSld>
  <p:clrMapOvr>
    <a:masterClrMapping/>
  </p:clrMapOvr>
  <p:transition spd="med"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95486"/>
            <a:ext cx="8013794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259339"/>
      </p:ext>
    </p:extLst>
  </p:cSld>
  <p:clrMapOvr>
    <a:masterClrMapping/>
  </p:clrMapOvr>
  <p:transition spd="med"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1542"/>
            <a:ext cx="781050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208490"/>
      </p:ext>
    </p:extLst>
  </p:cSld>
  <p:clrMapOvr>
    <a:masterClrMapping/>
  </p:clrMapOvr>
  <p:transition spd="med"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848" y="0"/>
            <a:ext cx="667430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4398"/>
      </p:ext>
    </p:extLst>
  </p:cSld>
  <p:clrMapOvr>
    <a:masterClrMapping/>
  </p:clrMapOvr>
  <p:transition spd="med"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854074" y="268288"/>
            <a:ext cx="2421782" cy="333375"/>
          </a:xfrm>
          <a:prstGeom prst="rect">
            <a:avLst/>
          </a:prstGeom>
          <a:ln>
            <a:solidFill>
              <a:srgbClr val="396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CONTENTS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endParaRPr lang="zh-CN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FZ 粗圆简体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597" y="1779662"/>
            <a:ext cx="9135826" cy="1368742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350">
              <a:solidFill>
                <a:srgbClr val="005DA2"/>
              </a:solidFill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3419872" y="2077393"/>
            <a:ext cx="4452161" cy="773279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类的编写</a:t>
            </a:r>
            <a:endParaRPr lang="zh-CN" altLang="en-US" sz="442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19309" y="1773312"/>
            <a:ext cx="1386659" cy="1401770"/>
          </a:xfrm>
          <a:prstGeom prst="ellipse">
            <a:avLst/>
          </a:prstGeom>
          <a:solidFill>
            <a:srgbClr val="005DA2"/>
          </a:solidFill>
          <a:ln w="1111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135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文本框 3"/>
          <p:cNvSpPr txBox="1"/>
          <p:nvPr/>
        </p:nvSpPr>
        <p:spPr>
          <a:xfrm>
            <a:off x="1285577" y="1924378"/>
            <a:ext cx="1268276" cy="1200318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7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7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538589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67544" y="419100"/>
            <a:ext cx="8229600" cy="857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的编写和访问</a:t>
            </a:r>
          </a:p>
        </p:txBody>
      </p:sp>
      <p:sp>
        <p:nvSpPr>
          <p:cNvPr id="409603" name="Rectangle 3"/>
          <p:cNvSpPr>
            <a:spLocks noGrp="1"/>
          </p:cNvSpPr>
          <p:nvPr>
            <p:ph type="body" idx="4294967295"/>
          </p:nvPr>
        </p:nvSpPr>
        <p:spPr>
          <a:xfrm>
            <a:off x="755576" y="1635646"/>
            <a:ext cx="7200900" cy="261711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</a:p>
          <a:p>
            <a:pPr lvl="1">
              <a:lnSpc>
                <a:spcPct val="120000"/>
              </a:lnSpc>
              <a:buFont typeface="Verdana" panose="020B0604030504040204" pitchFamily="34" charset="0"/>
              <a:buChar char="▪"/>
            </a:pP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如何编写一个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类，使其成为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</a:p>
          <a:p>
            <a:pPr>
              <a:lnSpc>
                <a:spcPct val="120000"/>
              </a:lnSpc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</a:p>
          <a:p>
            <a:pPr lvl="1">
              <a:lnSpc>
                <a:spcPct val="120000"/>
              </a:lnSpc>
              <a:buFont typeface="Verdana" panose="020B0604030504040204" pitchFamily="34" charset="0"/>
              <a:buChar char="▪"/>
            </a:pP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如何使服务器端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被客户端浏览器</a:t>
            </a:r>
            <a:r>
              <a:rPr lang="zh-CN" altLang="en-US" sz="19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  <a:endParaRPr lang="zh-CN" altLang="en-US" sz="19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4" name="WordArt 8"/>
          <p:cNvSpPr>
            <a:spLocks noChangeArrowheads="1" noChangeShapeType="1" noTextEdit="1"/>
          </p:cNvSpPr>
          <p:nvPr/>
        </p:nvSpPr>
        <p:spPr bwMode="auto">
          <a:xfrm>
            <a:off x="6354366" y="465535"/>
            <a:ext cx="108347" cy="38219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30690"/>
              </a:avLst>
            </a:prstTxWarp>
          </a:bodyPr>
          <a:lstStyle/>
          <a:p>
            <a:pPr algn="ctr"/>
            <a:endParaRPr lang="zh-CN" altLang="en-US" sz="2700" kern="1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9900"/>
              </a:soli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70634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/>
          </p:cNvSpPr>
          <p:nvPr>
            <p:ph type="title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第一个</a:t>
            </a:r>
            <a:r>
              <a:rPr lang="en-US" altLang="zh-CN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endParaRPr lang="zh-CN" altLang="en-US" dirty="0" smtClean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87" name="Rectangle 3"/>
          <p:cNvSpPr>
            <a:spLocks noGrp="1"/>
          </p:cNvSpPr>
          <p:nvPr>
            <p:ph type="body" idx="4294967295"/>
          </p:nvPr>
        </p:nvSpPr>
        <p:spPr>
          <a:xfrm>
            <a:off x="899592" y="1113235"/>
            <a:ext cx="6766843" cy="36206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，向浏览器发送一个简单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</a:t>
            </a:r>
            <a:r>
              <a:rPr lang="zh-CN" altLang="en-US" sz="2100" dirty="0"/>
              <a:t>：</a:t>
            </a:r>
            <a:endParaRPr lang="en-US" altLang="zh-CN" sz="2100" dirty="0"/>
          </a:p>
        </p:txBody>
      </p:sp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1151073" y="1923678"/>
            <a:ext cx="6263879" cy="2273699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/>
            <a:r>
              <a:rPr lang="en-US" altLang="zh-CN" dirty="0"/>
              <a:t>&lt;html&gt;</a:t>
            </a:r>
          </a:p>
          <a:p>
            <a:pPr lvl="2" eaLnBrk="1" hangingPunct="1"/>
            <a:r>
              <a:rPr lang="en-US" altLang="zh-CN" sz="1725" dirty="0"/>
              <a:t>	&lt;head&gt;</a:t>
            </a:r>
          </a:p>
          <a:p>
            <a:pPr lvl="2" eaLnBrk="1" hangingPunct="1"/>
            <a:r>
              <a:rPr lang="en-US" altLang="zh-CN" sz="1725" dirty="0"/>
              <a:t>		&lt;title&gt;First Servlet&lt;/title&gt;</a:t>
            </a:r>
          </a:p>
          <a:p>
            <a:pPr lvl="2" eaLnBrk="1" hangingPunct="1"/>
            <a:r>
              <a:rPr lang="en-US" altLang="zh-CN" sz="1725" dirty="0"/>
              <a:t>      	&lt;/head&gt;</a:t>
            </a:r>
          </a:p>
          <a:p>
            <a:pPr lvl="2" eaLnBrk="1" hangingPunct="1"/>
            <a:r>
              <a:rPr lang="en-US" altLang="zh-CN" dirty="0"/>
              <a:t>	&lt;body&gt;</a:t>
            </a:r>
          </a:p>
          <a:p>
            <a:pPr lvl="2" eaLnBrk="1" hangingPunct="1"/>
            <a:r>
              <a:rPr lang="en-US" altLang="zh-CN" dirty="0"/>
              <a:t>		Hello Servlet!</a:t>
            </a:r>
          </a:p>
          <a:p>
            <a:pPr lvl="2" eaLnBrk="1" hangingPunct="1"/>
            <a:r>
              <a:rPr lang="en-US" altLang="zh-CN" dirty="0"/>
              <a:t>	&lt;/body&gt;</a:t>
            </a:r>
          </a:p>
          <a:p>
            <a:pPr lvl="2" eaLnBrk="1" hangingPunct="1"/>
            <a:r>
              <a:rPr lang="en-US" altLang="zh-C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79107780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23478"/>
            <a:ext cx="6703922" cy="4464496"/>
          </a:xfrm>
          <a:prstGeom prst="rect">
            <a:avLst/>
          </a:prstGeom>
        </p:spPr>
      </p:pic>
      <p:sp>
        <p:nvSpPr>
          <p:cNvPr id="5" name="Rectangle 2"/>
          <p:cNvSpPr txBox="1">
            <a:spLocks/>
          </p:cNvSpPr>
          <p:nvPr/>
        </p:nvSpPr>
        <p:spPr bwMode="auto">
          <a:xfrm>
            <a:off x="5045672" y="123478"/>
            <a:ext cx="4104456" cy="85725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在记事本中编写</a:t>
            </a:r>
          </a:p>
        </p:txBody>
      </p:sp>
    </p:spTree>
    <p:extLst>
      <p:ext uri="{BB962C8B-B14F-4D97-AF65-F5344CB8AC3E}">
        <p14:creationId xmlns:p14="http://schemas.microsoft.com/office/powerpoint/2010/main" val="255283955"/>
      </p:ext>
    </p:extLst>
  </p:cSld>
  <p:clrMapOvr>
    <a:masterClrMapping/>
  </p:clrMapOvr>
  <p:transition spd="med"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32628"/>
            <a:ext cx="6413051" cy="46242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3219822"/>
            <a:ext cx="5925658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045993"/>
      </p:ext>
    </p:extLst>
  </p:cSld>
  <p:clrMapOvr>
    <a:masterClrMapping/>
  </p:clrMapOvr>
  <p:transition spd="med"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699542"/>
            <a:ext cx="2844316" cy="151216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699542"/>
            <a:ext cx="5046321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019721"/>
      </p:ext>
    </p:extLst>
  </p:cSld>
  <p:clrMapOvr>
    <a:masterClrMapping/>
  </p:clrMapOvr>
  <p:transition spd="med"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/>
          </p:cNvSpPr>
          <p:nvPr>
            <p:ph type="title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en-US" altLang="zh-CN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endParaRPr lang="zh-CN" altLang="en-US" dirty="0" smtClean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type="body" idx="4294967295"/>
          </p:nvPr>
        </p:nvSpPr>
        <p:spPr>
          <a:xfrm>
            <a:off x="445638" y="1491630"/>
            <a:ext cx="7992888" cy="2736304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如何编写一个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类，使其成为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  <a:p>
            <a:pPr lvl="1">
              <a:lnSpc>
                <a:spcPct val="120000"/>
              </a:lnSpc>
              <a:buFont typeface="Verdana" panose="020B0604030504040204" pitchFamily="34" charset="0"/>
              <a:buChar char="▪"/>
            </a:pP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类要成为 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，需要按照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 API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规范进行编写</a:t>
            </a:r>
          </a:p>
          <a:p>
            <a:pPr lvl="2"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的作用是响应客户端请求，做出处理，使得客户端与服务器端有交互</a:t>
            </a:r>
          </a:p>
          <a:p>
            <a:pPr lvl="2"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 API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提供了基础体系，包括供开发人员使用的接口和类</a:t>
            </a:r>
          </a:p>
          <a:p>
            <a:pPr lvl="1">
              <a:lnSpc>
                <a:spcPct val="120000"/>
              </a:lnSpc>
              <a:buFont typeface="Verdana" panose="020B0604030504040204" pitchFamily="34" charset="0"/>
              <a:buChar char="▪"/>
            </a:pPr>
            <a:endParaRPr lang="zh-CN" altLang="en-US" sz="1950" dirty="0"/>
          </a:p>
          <a:p>
            <a:pPr>
              <a:lnSpc>
                <a:spcPct val="120000"/>
              </a:lnSpc>
              <a:buFont typeface="Wingdings 3" panose="05040102010807070707" pitchFamily="18" charset="2"/>
              <a:buNone/>
            </a:pPr>
            <a:endParaRPr lang="zh-CN" altLang="en-US" sz="2100" dirty="0"/>
          </a:p>
        </p:txBody>
      </p:sp>
    </p:spTree>
    <p:extLst>
      <p:ext uri="{BB962C8B-B14F-4D97-AF65-F5344CB8AC3E}">
        <p14:creationId xmlns:p14="http://schemas.microsoft.com/office/powerpoint/2010/main" val="273006955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1485900" y="86916"/>
            <a:ext cx="6172200" cy="857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Servlet API</a:t>
            </a:r>
          </a:p>
        </p:txBody>
      </p:sp>
      <p:sp>
        <p:nvSpPr>
          <p:cNvPr id="342019" name="Rectangle 3"/>
          <p:cNvSpPr>
            <a:spLocks noGrp="1"/>
          </p:cNvSpPr>
          <p:nvPr>
            <p:ph type="body" idx="4294967295"/>
          </p:nvPr>
        </p:nvSpPr>
        <p:spPr>
          <a:xfrm>
            <a:off x="467544" y="1131590"/>
            <a:ext cx="8280920" cy="3620691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  API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规范定义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了一套专门用于开发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程序的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类和接口，这些类和接口提供 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程序开发所涉及的各种功能，它们统称为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 API.</a:t>
            </a:r>
          </a:p>
          <a:p>
            <a:pPr lvl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 typeface="Verdana" panose="020B0604030504040204" pitchFamily="34" charset="0"/>
              <a:buChar char="▪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 API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属于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JavaEE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的范畴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服务器软件都自带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 API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JAR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</a:p>
          <a:p>
            <a:pPr lvl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 typeface="Verdana" panose="020B0604030504040204" pitchFamily="34" charset="0"/>
              <a:buChar char="▪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Tomcat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 API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包：安装目录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\lib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en-US" altLang="zh-CN" sz="2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servlet-api.jar</a:t>
            </a:r>
            <a:endParaRPr lang="zh-CN" altLang="en-US" sz="2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buFont typeface="Verdana" panose="020B0604030504040204" pitchFamily="34" charset="0"/>
              <a:buChar char="▪"/>
            </a:pPr>
            <a:endParaRPr lang="zh-CN" altLang="en-US" sz="2100" b="1" dirty="0">
              <a:solidFill>
                <a:schemeClr val="accent2"/>
              </a:solidFill>
            </a:endParaRPr>
          </a:p>
          <a:p>
            <a:pPr>
              <a:lnSpc>
                <a:spcPct val="120000"/>
              </a:lnSpc>
              <a:buFont typeface="Wingdings 3" panose="05040102010807070707" pitchFamily="18" charset="2"/>
              <a:buNone/>
            </a:pPr>
            <a:endParaRPr lang="zh-CN" altLang="en-US" sz="2100" dirty="0"/>
          </a:p>
        </p:txBody>
      </p:sp>
    </p:spTree>
    <p:extLst>
      <p:ext uri="{BB962C8B-B14F-4D97-AF65-F5344CB8AC3E}">
        <p14:creationId xmlns:p14="http://schemas.microsoft.com/office/powerpoint/2010/main" val="246889623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4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/>
          </p:cNvSpPr>
          <p:nvPr>
            <p:ph type="body" idx="4294967295"/>
          </p:nvPr>
        </p:nvSpPr>
        <p:spPr>
          <a:xfrm>
            <a:off x="683568" y="844153"/>
            <a:ext cx="7344815" cy="2879725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 API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中提供了专用于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协议的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2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javax.servlet.http.HttpServlet</a:t>
            </a:r>
            <a:endParaRPr lang="en-US" alt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Font typeface="Verdana" panose="020B0604030504040204" pitchFamily="34" charset="0"/>
              <a:buChar char="▪"/>
            </a:pPr>
            <a:r>
              <a:rPr lang="en-US" altLang="zh-CN" sz="19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HttpServlet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实现了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Font typeface="Verdana" panose="020B0604030504040204" pitchFamily="34" charset="0"/>
              <a:buChar char="▪"/>
            </a:pPr>
            <a:r>
              <a:rPr lang="en-US" altLang="zh-CN" sz="19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HttpServlet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重写了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接口定义的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service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方法，为应对浏览器的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请求提供了基础结构</a:t>
            </a:r>
          </a:p>
        </p:txBody>
      </p:sp>
    </p:spTree>
    <p:extLst>
      <p:ext uri="{BB962C8B-B14F-4D97-AF65-F5344CB8AC3E}">
        <p14:creationId xmlns:p14="http://schemas.microsoft.com/office/powerpoint/2010/main" val="123226846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6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6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9" name="Rectangle 3"/>
          <p:cNvSpPr>
            <a:spLocks noGrp="1"/>
          </p:cNvSpPr>
          <p:nvPr>
            <p:ph type="body" idx="4294967295"/>
          </p:nvPr>
        </p:nvSpPr>
        <p:spPr>
          <a:xfrm>
            <a:off x="323528" y="1110854"/>
            <a:ext cx="8064896" cy="3620690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ct val="20000"/>
              </a:spcAft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 API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规范要求，开发中我们编写一个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类使其成为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实际做法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>
              <a:lnSpc>
                <a:spcPct val="120000"/>
              </a:lnSpc>
              <a:spcAft>
                <a:spcPct val="20000"/>
              </a:spcAft>
              <a:buFont typeface="Verdana" panose="020B0604030504040204" pitchFamily="34" charset="0"/>
              <a:buChar char="▪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编写一个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类，继承</a:t>
            </a:r>
            <a:r>
              <a:rPr lang="en-US" altLang="zh-CN" sz="2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javax.servlet.http.HttpServlet</a:t>
            </a:r>
            <a:endParaRPr lang="en-US" altLang="zh-CN" sz="2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Aft>
                <a:spcPct val="20000"/>
              </a:spcAft>
              <a:buFont typeface="Verdana" panose="020B0604030504040204" pitchFamily="34" charset="0"/>
              <a:buChar char="▪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覆写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HttpServlet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类的</a:t>
            </a:r>
            <a:r>
              <a:rPr lang="en-US" altLang="zh-CN" sz="2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doGet</a:t>
            </a:r>
            <a:r>
              <a:rPr lang="en-US" altLang="zh-CN" sz="2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doPost</a:t>
            </a:r>
            <a:r>
              <a:rPr lang="en-US" altLang="zh-CN" sz="2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  <a:p>
            <a:pPr>
              <a:lnSpc>
                <a:spcPct val="120000"/>
              </a:lnSpc>
              <a:spcAft>
                <a:spcPct val="20000"/>
              </a:spcAft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不需要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方法，客户端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请求到来时，服务器自动调用</a:t>
            </a:r>
            <a:r>
              <a:rPr lang="en-US" altLang="zh-CN" sz="2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Servelt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doGet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方法，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请求，自动调用</a:t>
            </a:r>
            <a:r>
              <a:rPr lang="en-US" altLang="zh-CN" sz="2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doPost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</p:txBody>
      </p:sp>
    </p:spTree>
    <p:extLst>
      <p:ext uri="{BB962C8B-B14F-4D97-AF65-F5344CB8AC3E}">
        <p14:creationId xmlns:p14="http://schemas.microsoft.com/office/powerpoint/2010/main" val="61245033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4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4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4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67544" y="141685"/>
            <a:ext cx="8280920" cy="857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40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编写普通</a:t>
            </a:r>
            <a:r>
              <a:rPr lang="en-US" altLang="zh-CN" sz="40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40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类，使其成为</a:t>
            </a:r>
            <a:r>
              <a:rPr lang="en-US" altLang="zh-CN" sz="40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</a:p>
        </p:txBody>
      </p:sp>
      <p:sp>
        <p:nvSpPr>
          <p:cNvPr id="24579" name="Rectangle 3"/>
          <p:cNvSpPr>
            <a:spLocks noGrp="1"/>
          </p:cNvSpPr>
          <p:nvPr>
            <p:ph type="body" idx="4294967295"/>
          </p:nvPr>
        </p:nvSpPr>
        <p:spPr>
          <a:xfrm>
            <a:off x="467544" y="1059582"/>
            <a:ext cx="8064895" cy="3996928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ct val="10000"/>
              </a:spcAft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 Web Project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  <a:spcAft>
                <a:spcPct val="10000"/>
              </a:spcAft>
              <a:buFont typeface="Verdana" panose="020B0604030504040204" pitchFamily="34" charset="0"/>
              <a:buChar char="▪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 API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包（包括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JavaEE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的其它一些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包）被自动导入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Aft>
                <a:spcPct val="10000"/>
              </a:spcAft>
            </a:pPr>
            <a:r>
              <a:rPr lang="en-US" altLang="zh-CN" sz="2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工作目录下新建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，继承</a:t>
            </a:r>
            <a:r>
              <a:rPr lang="en-US" altLang="zh-CN" sz="2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HttpServlet</a:t>
            </a:r>
            <a:endParaRPr lang="en-US" alt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Aft>
                <a:spcPct val="10000"/>
              </a:spcAft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重写</a:t>
            </a:r>
            <a:r>
              <a:rPr lang="en-US" altLang="zh-CN" sz="2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doGet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doPost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  <a:p>
            <a:pPr lvl="1">
              <a:lnSpc>
                <a:spcPct val="120000"/>
              </a:lnSpc>
              <a:spcAft>
                <a:spcPct val="10000"/>
              </a:spcAft>
              <a:buFont typeface="Verdana" panose="020B0604030504040204" pitchFamily="34" charset="0"/>
              <a:buChar char="▪"/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MyEclipse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代码区右键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——Source——Override/Implement Methods——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选择需要重写的方法</a:t>
            </a:r>
          </a:p>
          <a:p>
            <a:pPr lvl="1">
              <a:lnSpc>
                <a:spcPct val="120000"/>
              </a:lnSpc>
              <a:spcAft>
                <a:spcPct val="10000"/>
              </a:spcAft>
              <a:buFont typeface="Verdana" panose="020B0604030504040204" pitchFamily="34" charset="0"/>
              <a:buChar char="▪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如果对于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请求采取同样动作，在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doGet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doPost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其中一个方法体内直接调用另一个方法即可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082607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9502"/>
            <a:ext cx="8935120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9447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51470"/>
            <a:ext cx="5976664" cy="497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174505"/>
      </p:ext>
    </p:extLst>
  </p:cSld>
  <p:clrMapOvr>
    <a:masterClrMapping/>
  </p:clrMapOvr>
  <p:transition spd="med"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51470"/>
            <a:ext cx="64865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983185"/>
      </p:ext>
    </p:extLst>
  </p:cSld>
  <p:clrMapOvr>
    <a:masterClrMapping/>
  </p:clrMapOvr>
  <p:transition spd="med"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915566"/>
            <a:ext cx="9013079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25147"/>
      </p:ext>
    </p:extLst>
  </p:cSld>
  <p:clrMapOvr>
    <a:masterClrMapping/>
  </p:clrMapOvr>
  <p:transition spd="med"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" y="1275606"/>
            <a:ext cx="9001588" cy="2182614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7164288" y="2355726"/>
            <a:ext cx="1824102" cy="111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/>
          <p:cNvSpPr txBox="1">
            <a:spLocks/>
          </p:cNvSpPr>
          <p:nvPr/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确保运行环境一致</a:t>
            </a:r>
          </a:p>
        </p:txBody>
      </p:sp>
    </p:spTree>
    <p:extLst>
      <p:ext uri="{BB962C8B-B14F-4D97-AF65-F5344CB8AC3E}">
        <p14:creationId xmlns:p14="http://schemas.microsoft.com/office/powerpoint/2010/main" val="2213525675"/>
      </p:ext>
    </p:extLst>
  </p:cSld>
  <p:clrMapOvr>
    <a:masterClrMapping/>
  </p:clrMapOvr>
  <p:transition spd="med"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0"/>
            <a:ext cx="5143500" cy="514350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4139952" y="4659982"/>
            <a:ext cx="8640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061429"/>
      </p:ext>
    </p:extLst>
  </p:cSld>
  <p:clrMapOvr>
    <a:masterClrMapping/>
  </p:clrMapOvr>
  <p:transition spd="med"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2123728" y="2139702"/>
            <a:ext cx="136815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5580112" y="3003798"/>
            <a:ext cx="14401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/>
          <p:cNvSpPr txBox="1">
            <a:spLocks/>
          </p:cNvSpPr>
          <p:nvPr/>
        </p:nvSpPr>
        <p:spPr bwMode="auto">
          <a:xfrm>
            <a:off x="3615358" y="3075806"/>
            <a:ext cx="3528392" cy="85725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确保运行环境一致</a:t>
            </a:r>
          </a:p>
        </p:txBody>
      </p:sp>
    </p:spTree>
    <p:extLst>
      <p:ext uri="{BB962C8B-B14F-4D97-AF65-F5344CB8AC3E}">
        <p14:creationId xmlns:p14="http://schemas.microsoft.com/office/powerpoint/2010/main" val="3894714904"/>
      </p:ext>
    </p:extLst>
  </p:cSld>
  <p:clrMapOvr>
    <a:masterClrMapping/>
  </p:clrMapOvr>
  <p:transition spd="med"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0"/>
            <a:ext cx="6106402" cy="514350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6156176" y="1563638"/>
            <a:ext cx="7920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533553"/>
      </p:ext>
    </p:extLst>
  </p:cSld>
  <p:clrMapOvr>
    <a:masterClrMapping/>
  </p:clrMapOvr>
  <p:transition spd="med"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" y="1275606"/>
            <a:ext cx="9001588" cy="2182614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7164288" y="2355726"/>
            <a:ext cx="1824102" cy="111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/>
          <p:cNvSpPr txBox="1">
            <a:spLocks/>
          </p:cNvSpPr>
          <p:nvPr/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确保运行环境一致</a:t>
            </a:r>
          </a:p>
        </p:txBody>
      </p:sp>
      <p:sp>
        <p:nvSpPr>
          <p:cNvPr id="5" name="Rectangle 2"/>
          <p:cNvSpPr txBox="1">
            <a:spLocks/>
          </p:cNvSpPr>
          <p:nvPr/>
        </p:nvSpPr>
        <p:spPr bwMode="auto">
          <a:xfrm>
            <a:off x="179512" y="3458220"/>
            <a:ext cx="3744416" cy="85725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的版本是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endParaRPr lang="zh-CN" altLang="en-US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6966605"/>
      </p:ext>
    </p:extLst>
  </p:cSld>
  <p:clrMapOvr>
    <a:masterClrMapping/>
  </p:clrMapOvr>
  <p:transition spd="med"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4674"/>
            <a:ext cx="5968620" cy="4995348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2195736" y="3075806"/>
            <a:ext cx="396044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195352" y="3363838"/>
            <a:ext cx="396082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 txBox="1">
            <a:spLocks/>
          </p:cNvSpPr>
          <p:nvPr/>
        </p:nvSpPr>
        <p:spPr bwMode="auto">
          <a:xfrm>
            <a:off x="3707904" y="3579862"/>
            <a:ext cx="4680520" cy="85725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基础的类库</a:t>
            </a:r>
          </a:p>
        </p:txBody>
      </p:sp>
    </p:spTree>
    <p:extLst>
      <p:ext uri="{BB962C8B-B14F-4D97-AF65-F5344CB8AC3E}">
        <p14:creationId xmlns:p14="http://schemas.microsoft.com/office/powerpoint/2010/main" val="324065514"/>
      </p:ext>
    </p:extLst>
  </p:cSld>
  <p:clrMapOvr>
    <a:masterClrMapping/>
  </p:clrMapOvr>
  <p:transition spd="med"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0"/>
            <a:ext cx="5181600" cy="51244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699542"/>
            <a:ext cx="5791105" cy="122413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3491880" y="1131590"/>
            <a:ext cx="47525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/>
          </p:cNvSpPr>
          <p:nvPr/>
        </p:nvSpPr>
        <p:spPr bwMode="auto">
          <a:xfrm>
            <a:off x="4758415" y="1927101"/>
            <a:ext cx="4164529" cy="85725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基础的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omcat</a:t>
            </a: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类库</a:t>
            </a:r>
          </a:p>
        </p:txBody>
      </p:sp>
      <p:sp>
        <p:nvSpPr>
          <p:cNvPr id="7" name="Rectangle 2"/>
          <p:cNvSpPr txBox="1">
            <a:spLocks/>
          </p:cNvSpPr>
          <p:nvPr/>
        </p:nvSpPr>
        <p:spPr bwMode="auto">
          <a:xfrm>
            <a:off x="5361112" y="2757280"/>
            <a:ext cx="3312368" cy="85725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当需要的时候，我们可以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import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，使用他们。</a:t>
            </a:r>
          </a:p>
        </p:txBody>
      </p:sp>
    </p:spTree>
    <p:extLst>
      <p:ext uri="{BB962C8B-B14F-4D97-AF65-F5344CB8AC3E}">
        <p14:creationId xmlns:p14="http://schemas.microsoft.com/office/powerpoint/2010/main" val="264200642"/>
      </p:ext>
    </p:extLst>
  </p:cSld>
  <p:clrMapOvr>
    <a:masterClrMapping/>
  </p:clrMapOvr>
  <p:transition spd="med">
    <p:rand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-5720"/>
            <a:ext cx="4069178" cy="5143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030" y="123478"/>
            <a:ext cx="6209970" cy="158417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934030" y="627534"/>
            <a:ext cx="552640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/>
          </p:cNvSpPr>
          <p:nvPr/>
        </p:nvSpPr>
        <p:spPr bwMode="auto">
          <a:xfrm>
            <a:off x="4716016" y="1707654"/>
            <a:ext cx="4164529" cy="85725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基础的</a:t>
            </a:r>
            <a:r>
              <a:rPr lang="en-US" altLang="zh-CN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JDK</a:t>
            </a: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类库</a:t>
            </a:r>
          </a:p>
        </p:txBody>
      </p:sp>
      <p:sp>
        <p:nvSpPr>
          <p:cNvPr id="7" name="Rectangle 2"/>
          <p:cNvSpPr txBox="1">
            <a:spLocks/>
          </p:cNvSpPr>
          <p:nvPr/>
        </p:nvSpPr>
        <p:spPr bwMode="auto">
          <a:xfrm>
            <a:off x="5220072" y="2565467"/>
            <a:ext cx="3312368" cy="85725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当需要的时候，我们可以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import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，使用他们。</a:t>
            </a:r>
          </a:p>
        </p:txBody>
      </p:sp>
    </p:spTree>
    <p:extLst>
      <p:ext uri="{BB962C8B-B14F-4D97-AF65-F5344CB8AC3E}">
        <p14:creationId xmlns:p14="http://schemas.microsoft.com/office/powerpoint/2010/main" val="3614034458"/>
      </p:ext>
    </p:extLst>
  </p:cSld>
  <p:clrMapOvr>
    <a:masterClrMapping/>
  </p:clrMapOvr>
  <p:transition spd="med">
    <p:rand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5"/>
          <p:cNvSpPr txBox="1">
            <a:spLocks noChangeArrowheads="1"/>
          </p:cNvSpPr>
          <p:nvPr/>
        </p:nvSpPr>
        <p:spPr bwMode="auto">
          <a:xfrm>
            <a:off x="1240901" y="267494"/>
            <a:ext cx="681218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src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工作目录右键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-new-Class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560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92" y="1329929"/>
            <a:ext cx="8994205" cy="2321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330070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258366"/>
            <a:ext cx="4332685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6229" name="Rectangle 5"/>
          <p:cNvSpPr>
            <a:spLocks noChangeArrowheads="1"/>
          </p:cNvSpPr>
          <p:nvPr/>
        </p:nvSpPr>
        <p:spPr bwMode="auto">
          <a:xfrm>
            <a:off x="3168254" y="1275160"/>
            <a:ext cx="2159794" cy="215503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6230" name="AutoShape 6"/>
          <p:cNvSpPr>
            <a:spLocks noChangeArrowheads="1"/>
          </p:cNvSpPr>
          <p:nvPr/>
        </p:nvSpPr>
        <p:spPr bwMode="auto">
          <a:xfrm>
            <a:off x="5138737" y="519113"/>
            <a:ext cx="2700338" cy="647700"/>
          </a:xfrm>
          <a:prstGeom prst="wedgeRectCallout">
            <a:avLst>
              <a:gd name="adj1" fmla="val -70722"/>
              <a:gd name="adj2" fmla="val 65074"/>
            </a:avLst>
          </a:prstGeom>
          <a:gradFill rotWithShape="1">
            <a:gsLst>
              <a:gs pos="0">
                <a:schemeClr val="accent1">
                  <a:alpha val="92000"/>
                </a:scheme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 anchorCtr="1"/>
          <a:lstStyle/>
          <a:p>
            <a:pPr marL="300038" indent="-300038">
              <a:defRPr/>
            </a:pP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良好习惯：类建在包下</a:t>
            </a:r>
          </a:p>
          <a:p>
            <a:pPr marL="300038" indent="-300038">
              <a:defRPr/>
            </a:pP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在此处取个包名</a:t>
            </a:r>
            <a:endParaRPr lang="zh-CN" altLang="en-US" sz="2100" b="1">
              <a:solidFill>
                <a:schemeClr val="accent2"/>
              </a:solidFill>
              <a:latin typeface="Arial" charset="0"/>
              <a:ea typeface="微软雅黑" pitchFamily="34" charset="-122"/>
              <a:cs typeface="Arial" charset="0"/>
            </a:endParaRPr>
          </a:p>
        </p:txBody>
      </p:sp>
      <p:sp>
        <p:nvSpPr>
          <p:cNvPr id="436231" name="Rectangle 7"/>
          <p:cNvSpPr>
            <a:spLocks noChangeArrowheads="1"/>
          </p:cNvSpPr>
          <p:nvPr/>
        </p:nvSpPr>
        <p:spPr bwMode="auto">
          <a:xfrm>
            <a:off x="3168254" y="1814512"/>
            <a:ext cx="2159794" cy="215504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6232" name="AutoShape 8"/>
          <p:cNvSpPr>
            <a:spLocks noChangeArrowheads="1"/>
          </p:cNvSpPr>
          <p:nvPr/>
        </p:nvSpPr>
        <p:spPr bwMode="auto">
          <a:xfrm>
            <a:off x="5138737" y="1220391"/>
            <a:ext cx="2700338" cy="485775"/>
          </a:xfrm>
          <a:prstGeom prst="wedgeRectCallout">
            <a:avLst>
              <a:gd name="adj1" fmla="val -70722"/>
              <a:gd name="adj2" fmla="val 70097"/>
            </a:avLst>
          </a:prstGeom>
          <a:gradFill rotWithShape="1">
            <a:gsLst>
              <a:gs pos="0">
                <a:schemeClr val="accent1">
                  <a:alpha val="92000"/>
                </a:scheme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 anchorCtr="1"/>
          <a:lstStyle/>
          <a:p>
            <a:pPr marL="300038" indent="-300038">
              <a:defRPr/>
            </a:pP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类名</a:t>
            </a:r>
            <a:endParaRPr lang="en-US" altLang="zh-CN" sz="2100" b="1">
              <a:solidFill>
                <a:schemeClr val="accent2"/>
              </a:solidFill>
              <a:latin typeface="Arial" charset="0"/>
              <a:ea typeface="微软雅黑" pitchFamily="34" charset="-122"/>
              <a:cs typeface="Arial" charset="0"/>
            </a:endParaRPr>
          </a:p>
        </p:txBody>
      </p:sp>
      <p:sp>
        <p:nvSpPr>
          <p:cNvPr id="436233" name="Rectangle 9"/>
          <p:cNvSpPr>
            <a:spLocks noChangeArrowheads="1"/>
          </p:cNvSpPr>
          <p:nvPr/>
        </p:nvSpPr>
        <p:spPr bwMode="auto">
          <a:xfrm>
            <a:off x="5598319" y="2356248"/>
            <a:ext cx="971550" cy="215503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6234" name="AutoShape 10"/>
          <p:cNvSpPr>
            <a:spLocks noChangeArrowheads="1"/>
          </p:cNvSpPr>
          <p:nvPr/>
        </p:nvSpPr>
        <p:spPr bwMode="auto">
          <a:xfrm>
            <a:off x="5166122" y="3112294"/>
            <a:ext cx="2700338" cy="485775"/>
          </a:xfrm>
          <a:prstGeom prst="wedgeRectCallout">
            <a:avLst>
              <a:gd name="adj1" fmla="val -9611"/>
              <a:gd name="adj2" fmla="val -150736"/>
            </a:avLst>
          </a:prstGeom>
          <a:gradFill rotWithShape="1">
            <a:gsLst>
              <a:gs pos="0">
                <a:schemeClr val="accent1">
                  <a:alpha val="92000"/>
                </a:scheme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 anchorCtr="1"/>
          <a:lstStyle/>
          <a:p>
            <a:pPr marL="300038" indent="-300038">
              <a:defRPr/>
            </a:pP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选择需要继承的类</a:t>
            </a:r>
            <a:endParaRPr lang="zh-CN" altLang="en-US" sz="2100" b="1">
              <a:solidFill>
                <a:schemeClr val="accent2"/>
              </a:solidFill>
              <a:latin typeface="Arial" charset="0"/>
              <a:ea typeface="微软雅黑" pitchFamily="34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23215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6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6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3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36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36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36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9" grpId="0" animBg="1"/>
      <p:bldP spid="436230" grpId="0" animBg="1"/>
      <p:bldP spid="436231" grpId="0" animBg="1"/>
      <p:bldP spid="436232" grpId="0" animBg="1"/>
      <p:bldP spid="436233" grpId="0" animBg="1"/>
      <p:bldP spid="43623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573882"/>
            <a:ext cx="5562600" cy="3489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5"/>
          <p:cNvSpPr>
            <a:spLocks noChangeArrowheads="1"/>
          </p:cNvSpPr>
          <p:nvPr/>
        </p:nvSpPr>
        <p:spPr bwMode="auto">
          <a:xfrm>
            <a:off x="1980010" y="1168004"/>
            <a:ext cx="2159794" cy="647700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7254" name="AutoShape 6"/>
          <p:cNvSpPr>
            <a:spLocks noChangeArrowheads="1"/>
          </p:cNvSpPr>
          <p:nvPr/>
        </p:nvSpPr>
        <p:spPr bwMode="auto">
          <a:xfrm>
            <a:off x="3924300" y="411956"/>
            <a:ext cx="3268266" cy="701279"/>
          </a:xfrm>
          <a:prstGeom prst="wedgeRectCallout">
            <a:avLst>
              <a:gd name="adj1" fmla="val -66319"/>
              <a:gd name="adj2" fmla="val 56282"/>
            </a:avLst>
          </a:prstGeom>
          <a:gradFill rotWithShape="1">
            <a:gsLst>
              <a:gs pos="0">
                <a:schemeClr val="accent1">
                  <a:alpha val="92000"/>
                </a:scheme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 anchorCtr="1"/>
          <a:lstStyle/>
          <a:p>
            <a:pPr marL="300038" indent="-300038">
              <a:defRPr/>
            </a:pP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继承自</a:t>
            </a:r>
          </a:p>
          <a:p>
            <a:pPr marL="300038" indent="-300038">
              <a:defRPr/>
            </a:pPr>
            <a:r>
              <a:rPr lang="en-US" altLang="zh-CN">
                <a:latin typeface="Arial" charset="0"/>
                <a:ea typeface="微软雅黑" pitchFamily="34" charset="-122"/>
                <a:cs typeface="Arial" charset="0"/>
              </a:rPr>
              <a:t>javax.servlet.http.HttpServlet</a:t>
            </a:r>
            <a:endParaRPr lang="en-US" altLang="zh-CN" sz="2100" b="1">
              <a:solidFill>
                <a:schemeClr val="accent2"/>
              </a:solidFill>
              <a:latin typeface="Arial" charset="0"/>
              <a:ea typeface="微软雅黑" pitchFamily="34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99548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5"/>
          <p:cNvSpPr txBox="1">
            <a:spLocks noChangeArrowheads="1"/>
          </p:cNvSpPr>
          <p:nvPr/>
        </p:nvSpPr>
        <p:spPr bwMode="auto">
          <a:xfrm>
            <a:off x="2303860" y="397669"/>
            <a:ext cx="536076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100" b="1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代码区右键</a:t>
            </a:r>
            <a:r>
              <a:rPr lang="en-US" altLang="zh-CN" sz="2100" b="1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——</a:t>
            </a:r>
            <a:r>
              <a:rPr lang="en-US" altLang="zh-CN" sz="2100" b="1">
                <a:solidFill>
                  <a:srgbClr val="0000FF"/>
                </a:solidFill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source</a:t>
            </a:r>
            <a:r>
              <a:rPr lang="en-US" altLang="zh-CN" sz="2100" b="1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-</a:t>
            </a:r>
            <a:r>
              <a:rPr lang="en-US" altLang="zh-CN" sz="2100" b="1">
                <a:solidFill>
                  <a:srgbClr val="0000FF"/>
                </a:solidFill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Override Methods</a:t>
            </a:r>
          </a:p>
          <a:p>
            <a:pPr eaLnBrk="1" hangingPunct="1"/>
            <a:r>
              <a:rPr lang="zh-CN" altLang="en-US" sz="2100" b="1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选择需要重写的方法</a:t>
            </a:r>
          </a:p>
        </p:txBody>
      </p:sp>
      <p:pic>
        <p:nvPicPr>
          <p:cNvPr id="2867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541" y="1329929"/>
            <a:ext cx="6480572" cy="2578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542552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241" y="681038"/>
            <a:ext cx="5131594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Rectangle 5"/>
          <p:cNvSpPr>
            <a:spLocks noChangeArrowheads="1"/>
          </p:cNvSpPr>
          <p:nvPr/>
        </p:nvSpPr>
        <p:spPr bwMode="auto">
          <a:xfrm>
            <a:off x="2465785" y="1600200"/>
            <a:ext cx="3456384" cy="161925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0" name="Rectangle 6"/>
          <p:cNvSpPr>
            <a:spLocks noChangeArrowheads="1"/>
          </p:cNvSpPr>
          <p:nvPr/>
        </p:nvSpPr>
        <p:spPr bwMode="auto">
          <a:xfrm>
            <a:off x="2465785" y="2085975"/>
            <a:ext cx="3456384" cy="161925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9303" name="AutoShape 7"/>
          <p:cNvSpPr>
            <a:spLocks noChangeArrowheads="1"/>
          </p:cNvSpPr>
          <p:nvPr/>
        </p:nvSpPr>
        <p:spPr bwMode="auto">
          <a:xfrm>
            <a:off x="3924300" y="411956"/>
            <a:ext cx="3268266" cy="701279"/>
          </a:xfrm>
          <a:prstGeom prst="wedgeRectCallout">
            <a:avLst>
              <a:gd name="adj1" fmla="val -66319"/>
              <a:gd name="adj2" fmla="val 56282"/>
            </a:avLst>
          </a:prstGeom>
          <a:gradFill rotWithShape="1">
            <a:gsLst>
              <a:gs pos="0">
                <a:schemeClr val="accent1">
                  <a:alpha val="92000"/>
                </a:scheme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 anchorCtr="1"/>
          <a:lstStyle/>
          <a:p>
            <a:pPr marL="300038" indent="-300038">
              <a:defRPr/>
            </a:pP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选择响应</a:t>
            </a:r>
            <a:r>
              <a:rPr lang="en-US" altLang="zh-CN">
                <a:latin typeface="Arial" charset="0"/>
                <a:ea typeface="微软雅黑" pitchFamily="34" charset="-122"/>
                <a:cs typeface="Arial" charset="0"/>
              </a:rPr>
              <a:t>GET</a:t>
            </a: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和</a:t>
            </a:r>
            <a:r>
              <a:rPr lang="en-US" altLang="zh-CN">
                <a:latin typeface="Arial" charset="0"/>
                <a:ea typeface="微软雅黑" pitchFamily="34" charset="-122"/>
                <a:cs typeface="Arial" charset="0"/>
              </a:rPr>
              <a:t>POST</a:t>
            </a: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请求的</a:t>
            </a:r>
          </a:p>
          <a:p>
            <a:pPr marL="300038" indent="-300038">
              <a:defRPr/>
            </a:pPr>
            <a:r>
              <a:rPr lang="en-US" altLang="zh-CN">
                <a:latin typeface="Arial" charset="0"/>
                <a:ea typeface="微软雅黑" pitchFamily="34" charset="-122"/>
                <a:cs typeface="Arial" charset="0"/>
              </a:rPr>
              <a:t>doGet</a:t>
            </a: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和</a:t>
            </a:r>
            <a:r>
              <a:rPr lang="en-US" altLang="zh-CN">
                <a:latin typeface="Arial" charset="0"/>
                <a:ea typeface="微软雅黑" pitchFamily="34" charset="-122"/>
                <a:cs typeface="Arial" charset="0"/>
              </a:rPr>
              <a:t>doPost</a:t>
            </a: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方法进行重写</a:t>
            </a:r>
            <a:endParaRPr lang="zh-CN" altLang="en-US" sz="2100" b="1">
              <a:solidFill>
                <a:schemeClr val="accent2"/>
              </a:solidFill>
              <a:latin typeface="Arial" charset="0"/>
              <a:ea typeface="微软雅黑" pitchFamily="34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74275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543300"/>
            <a:ext cx="6858000" cy="1215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Text Box 7"/>
          <p:cNvSpPr txBox="1">
            <a:spLocks noChangeArrowheads="1"/>
          </p:cNvSpPr>
          <p:nvPr/>
        </p:nvSpPr>
        <p:spPr bwMode="auto">
          <a:xfrm>
            <a:off x="3221831" y="4180285"/>
            <a:ext cx="456407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通常，在</a:t>
            </a:r>
            <a:r>
              <a:rPr lang="en-US" altLang="zh-CN" b="1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doPost</a:t>
            </a:r>
            <a:r>
              <a:rPr lang="zh-CN" altLang="en-US" b="1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方法内直接调用</a:t>
            </a:r>
            <a:r>
              <a:rPr lang="en-US" altLang="zh-CN" b="1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doGet</a:t>
            </a:r>
            <a:r>
              <a:rPr lang="zh-CN" altLang="en-US" b="1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方法</a:t>
            </a:r>
          </a:p>
          <a:p>
            <a:pPr eaLnBrk="1" hangingPunct="1"/>
            <a:r>
              <a:rPr lang="zh-CN" altLang="en-US" b="1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即对于</a:t>
            </a:r>
            <a:r>
              <a:rPr lang="en-US" altLang="zh-CN" b="1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GET</a:t>
            </a:r>
            <a:r>
              <a:rPr lang="zh-CN" altLang="en-US" b="1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和</a:t>
            </a:r>
            <a:r>
              <a:rPr lang="en-US" altLang="zh-CN" b="1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POST</a:t>
            </a:r>
            <a:r>
              <a:rPr lang="zh-CN" altLang="en-US" b="1">
                <a:latin typeface="Comic Sans MS" panose="030F0702030302020204" pitchFamily="66" charset="0"/>
                <a:ea typeface="华文行楷" panose="02010800040101010101" pitchFamily="2" charset="-122"/>
                <a:cs typeface="Arial Unicode MS" panose="020B0604020202020204" pitchFamily="34" charset="-122"/>
              </a:rPr>
              <a:t>请求执行同样的动作</a:t>
            </a:r>
          </a:p>
        </p:txBody>
      </p:sp>
      <p:pic>
        <p:nvPicPr>
          <p:cNvPr id="3072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628" y="631032"/>
            <a:ext cx="6766322" cy="287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938623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74" y="0"/>
            <a:ext cx="729205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016408"/>
      </p:ext>
    </p:extLst>
  </p:cSld>
  <p:clrMapOvr>
    <a:masterClrMapping/>
  </p:clrMapOvr>
  <p:transition spd="med">
    <p:rand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3" y="123478"/>
            <a:ext cx="4355157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10655"/>
      </p:ext>
    </p:extLst>
  </p:cSld>
  <p:clrMapOvr>
    <a:masterClrMapping/>
  </p:clrMapOvr>
  <p:transition spd="med">
    <p:rand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72" y="0"/>
            <a:ext cx="877705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94443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267494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package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servlet;</a:t>
            </a: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java.io.IOException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java.io.PrintWriter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javax.servlet.ServletException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javax.servlet.http.HttpServlet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javax.servlet.http.HttpServletRequest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javax.servlet.http.HttpServletResponse</a:t>
            </a:r>
            <a:r>
              <a:rPr lang="en-US" altLang="zh-CN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25867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5336"/>
            <a:ext cx="885698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FirstServlet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extends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HttpServlet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zh-CN" altLang="en-US" dirty="0">
              <a:latin typeface="Consolas" panose="020B0609020204030204" pitchFamily="49" charset="0"/>
            </a:endParaRPr>
          </a:p>
          <a:p>
            <a:pPr lvl="1"/>
            <a:r>
              <a:rPr lang="en-US" altLang="zh-CN" dirty="0">
                <a:solidFill>
                  <a:srgbClr val="646464"/>
                </a:solidFill>
                <a:latin typeface="Consolas" panose="020B0609020204030204" pitchFamily="49" charset="0"/>
              </a:rPr>
              <a:t>@Override</a:t>
            </a:r>
          </a:p>
          <a:p>
            <a:pPr lvl="1"/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protected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doGet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HttpServletRequest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HttpServletResponse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ServletException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PrintWriter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.getWriter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"&lt;html&gt;"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"&lt;head&gt;&lt;title&gt;First Servlet&lt;/title&gt;&lt;/head&gt;"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"&lt;body&gt;"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"Hello Servlet!"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"&lt;/body&gt;"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"&lt;/html&gt;"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646464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smtClean="0">
                <a:solidFill>
                  <a:srgbClr val="646464"/>
                </a:solidFill>
                <a:latin typeface="Consolas" panose="020B0609020204030204" pitchFamily="49" charset="0"/>
              </a:rPr>
              <a:t>   @</a:t>
            </a:r>
            <a:r>
              <a:rPr lang="en-US" altLang="zh-CN" dirty="0">
                <a:solidFill>
                  <a:srgbClr val="646464"/>
                </a:solidFill>
                <a:latin typeface="Consolas" panose="020B0609020204030204" pitchFamily="49" charset="0"/>
              </a:rPr>
              <a:t>Override</a:t>
            </a:r>
          </a:p>
          <a:p>
            <a:pPr lvl="1"/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protected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doPost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HttpServletRequest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HttpServletResponse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ServletException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1"/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doGet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304955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854074" y="268288"/>
            <a:ext cx="2421782" cy="333375"/>
          </a:xfrm>
          <a:prstGeom prst="rect">
            <a:avLst/>
          </a:prstGeom>
          <a:ln>
            <a:solidFill>
              <a:srgbClr val="396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CONTENTS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endParaRPr lang="zh-CN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FZ 粗圆简体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597" y="1779662"/>
            <a:ext cx="9135826" cy="1368742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350">
              <a:solidFill>
                <a:srgbClr val="005DA2"/>
              </a:solidFill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3419872" y="2077393"/>
            <a:ext cx="4452161" cy="773279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类的访问</a:t>
            </a:r>
            <a:endParaRPr lang="zh-CN" altLang="en-US" sz="442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19309" y="1773312"/>
            <a:ext cx="1386659" cy="1401770"/>
          </a:xfrm>
          <a:prstGeom prst="ellipse">
            <a:avLst/>
          </a:prstGeom>
          <a:solidFill>
            <a:srgbClr val="005DA2"/>
          </a:solidFill>
          <a:ln w="1111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135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文本框 3"/>
          <p:cNvSpPr txBox="1"/>
          <p:nvPr/>
        </p:nvSpPr>
        <p:spPr>
          <a:xfrm>
            <a:off x="1285577" y="1924378"/>
            <a:ext cx="1268276" cy="1200318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7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7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342036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555526"/>
            <a:ext cx="8389804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148124"/>
      </p:ext>
    </p:extLst>
  </p:cSld>
  <p:clrMapOvr>
    <a:masterClrMapping/>
  </p:clrMapOvr>
  <p:transition spd="med">
    <p:rand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/>
          </p:cNvSpPr>
          <p:nvPr>
            <p:ph type="title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  <a:r>
              <a:rPr lang="en-US" altLang="zh-CN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endParaRPr lang="zh-CN" altLang="en-US" dirty="0" smtClean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6355" name="Rectangle 3"/>
          <p:cNvSpPr>
            <a:spLocks noGrp="1"/>
          </p:cNvSpPr>
          <p:nvPr>
            <p:ph type="body" idx="4294967295"/>
          </p:nvPr>
        </p:nvSpPr>
        <p:spPr>
          <a:xfrm>
            <a:off x="487594" y="1347614"/>
            <a:ext cx="7787208" cy="252028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如何使得开发完成的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被客户端浏览器访问？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Font typeface="Verdana" panose="020B0604030504040204" pitchFamily="34" charset="0"/>
              <a:buChar char="▪"/>
            </a:pP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存储位置：存储在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应用的特定目录下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Font typeface="Verdana" panose="020B0604030504040204" pitchFamily="34" charset="0"/>
              <a:buChar char="▪"/>
            </a:pP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注册与映射：在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应用中注册该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，并配置访问路径</a:t>
            </a:r>
          </a:p>
        </p:txBody>
      </p:sp>
    </p:spTree>
    <p:extLst>
      <p:ext uri="{BB962C8B-B14F-4D97-AF65-F5344CB8AC3E}">
        <p14:creationId xmlns:p14="http://schemas.microsoft.com/office/powerpoint/2010/main" val="216458062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6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6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/>
          </p:cNvSpPr>
          <p:nvPr>
            <p:ph type="title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的存储</a:t>
            </a:r>
          </a:p>
        </p:txBody>
      </p:sp>
      <p:sp>
        <p:nvSpPr>
          <p:cNvPr id="357379" name="Rectangle 3"/>
          <p:cNvSpPr>
            <a:spLocks noGrp="1"/>
          </p:cNvSpPr>
          <p:nvPr>
            <p:ph type="body" idx="4294967295"/>
          </p:nvPr>
        </p:nvSpPr>
        <p:spPr>
          <a:xfrm>
            <a:off x="446727" y="1275606"/>
            <a:ext cx="8075240" cy="362069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类，对于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应用，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类程序的存储有规定</a:t>
            </a:r>
          </a:p>
          <a:p>
            <a: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编译后的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存储在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应用特定目录</a:t>
            </a:r>
            <a:endParaRPr lang="en-US" alt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lnSpc>
                <a:spcPct val="120000"/>
              </a:lnSpc>
              <a:spcAft>
                <a:spcPct val="20000"/>
              </a:spcAft>
              <a:buFont typeface="Verdana" panose="020B0604030504040204" pitchFamily="34" charset="0"/>
              <a:buChar char="▪"/>
            </a:pP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特定目录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9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9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en-US" altLang="zh-CN" sz="19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\WEB-INF\classes</a:t>
            </a:r>
          </a:p>
          <a:p>
            <a:pPr marL="557213" lvl="1" indent="-214313">
              <a:lnSpc>
                <a:spcPct val="120000"/>
              </a:lnSpc>
              <a:spcAft>
                <a:spcPct val="20000"/>
              </a:spcAft>
              <a:buFont typeface="Verdana" panose="020B0604030504040204" pitchFamily="34" charset="0"/>
              <a:buChar char="▪"/>
            </a:pP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是在包中定义的，则在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\WEB-INF\classes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下要采用对应的目录结构进行存储</a:t>
            </a:r>
            <a:endParaRPr lang="en-US" altLang="zh-CN" sz="19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buFont typeface="Wingdings 3" panose="05040102010807070707" pitchFamily="18" charset="2"/>
              <a:buNone/>
            </a:pPr>
            <a:endParaRPr lang="zh-CN" altLang="en-US" sz="2100" dirty="0"/>
          </a:p>
        </p:txBody>
      </p:sp>
    </p:spTree>
    <p:extLst>
      <p:ext uri="{BB962C8B-B14F-4D97-AF65-F5344CB8AC3E}">
        <p14:creationId xmlns:p14="http://schemas.microsoft.com/office/powerpoint/2010/main" val="108623428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7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360054" y="-14881"/>
            <a:ext cx="7992888" cy="857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应用中的位置</a:t>
            </a:r>
          </a:p>
        </p:txBody>
      </p:sp>
      <p:sp>
        <p:nvSpPr>
          <p:cNvPr id="33795" name="Rectangle 3"/>
          <p:cNvSpPr>
            <a:spLocks noGrp="1"/>
          </p:cNvSpPr>
          <p:nvPr>
            <p:ph type="body" idx="4294967295"/>
          </p:nvPr>
        </p:nvSpPr>
        <p:spPr>
          <a:xfrm>
            <a:off x="539552" y="735807"/>
            <a:ext cx="7776864" cy="917972"/>
          </a:xfrm>
          <a:noFill/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一个标准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 Web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应用，不同类型的文件资源有严格的存放规则，类程序存储在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classes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目录下</a:t>
            </a:r>
          </a:p>
        </p:txBody>
      </p:sp>
      <p:graphicFrame>
        <p:nvGraphicFramePr>
          <p:cNvPr id="358404" name="Object 4"/>
          <p:cNvGraphicFramePr>
            <a:graphicFrameLocks noChangeAspect="1"/>
          </p:cNvGraphicFramePr>
          <p:nvPr/>
        </p:nvGraphicFramePr>
        <p:xfrm>
          <a:off x="1170385" y="1512094"/>
          <a:ext cx="1134665" cy="787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4" name="Image" r:id="rId3" imgW="2523810" imgH="1751917" progId="Photoshop.Image.9">
                  <p:embed/>
                </p:oleObj>
              </mc:Choice>
              <mc:Fallback>
                <p:oleObj name="Image" r:id="rId3" imgW="2523810" imgH="1751917" progId="Photoshop.Image.9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0385" y="1512094"/>
                        <a:ext cx="1134665" cy="7870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05" name="Text Box 5"/>
          <p:cNvSpPr txBox="1">
            <a:spLocks noChangeArrowheads="1"/>
          </p:cNvSpPr>
          <p:nvPr/>
        </p:nvSpPr>
        <p:spPr bwMode="auto">
          <a:xfrm>
            <a:off x="1219278" y="1660863"/>
            <a:ext cx="11166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Web</a:t>
            </a:r>
            <a:r>
              <a:rPr lang="zh-CN" altLang="en-US" dirty="0">
                <a:ea typeface="微软雅黑" panose="020B0503020204020204" pitchFamily="34" charset="-122"/>
              </a:rPr>
              <a:t>应用</a:t>
            </a:r>
          </a:p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所在目录</a:t>
            </a:r>
          </a:p>
        </p:txBody>
      </p:sp>
      <p:sp>
        <p:nvSpPr>
          <p:cNvPr id="358406" name="Line 6"/>
          <p:cNvSpPr>
            <a:spLocks noChangeShapeType="1"/>
          </p:cNvSpPr>
          <p:nvPr/>
        </p:nvSpPr>
        <p:spPr bwMode="auto">
          <a:xfrm>
            <a:off x="1777604" y="2321719"/>
            <a:ext cx="0" cy="91797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58407" name="Line 7"/>
          <p:cNvSpPr>
            <a:spLocks noChangeShapeType="1"/>
          </p:cNvSpPr>
          <p:nvPr/>
        </p:nvSpPr>
        <p:spPr bwMode="auto">
          <a:xfrm>
            <a:off x="1820467" y="2538413"/>
            <a:ext cx="97274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58408" name="Text Box 8"/>
          <p:cNvSpPr txBox="1">
            <a:spLocks noChangeArrowheads="1"/>
          </p:cNvSpPr>
          <p:nvPr/>
        </p:nvSpPr>
        <p:spPr bwMode="auto">
          <a:xfrm>
            <a:off x="2857500" y="2376488"/>
            <a:ext cx="28135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html</a:t>
            </a:r>
            <a:r>
              <a:rPr lang="zh-CN" altLang="en-US"/>
              <a:t>，</a:t>
            </a:r>
            <a:r>
              <a:rPr lang="en-US" altLang="zh-CN"/>
              <a:t>jsp</a:t>
            </a:r>
            <a:r>
              <a:rPr lang="zh-CN" altLang="en-US"/>
              <a:t>，</a:t>
            </a:r>
            <a:r>
              <a:rPr lang="en-US" altLang="zh-CN"/>
              <a:t>js</a:t>
            </a:r>
            <a:r>
              <a:rPr lang="zh-CN" altLang="en-US"/>
              <a:t>，</a:t>
            </a:r>
            <a:r>
              <a:rPr lang="en-US" altLang="zh-CN"/>
              <a:t>css</a:t>
            </a:r>
            <a:r>
              <a:rPr lang="zh-CN" altLang="en-US"/>
              <a:t>等文件</a:t>
            </a:r>
          </a:p>
        </p:txBody>
      </p:sp>
      <p:sp>
        <p:nvSpPr>
          <p:cNvPr id="358409" name="Line 9"/>
          <p:cNvSpPr>
            <a:spLocks noChangeShapeType="1"/>
          </p:cNvSpPr>
          <p:nvPr/>
        </p:nvSpPr>
        <p:spPr bwMode="auto">
          <a:xfrm>
            <a:off x="1818085" y="3078956"/>
            <a:ext cx="32385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aphicFrame>
        <p:nvGraphicFramePr>
          <p:cNvPr id="358410" name="Object 10"/>
          <p:cNvGraphicFramePr>
            <a:graphicFrameLocks noChangeAspect="1"/>
          </p:cNvGraphicFramePr>
          <p:nvPr/>
        </p:nvGraphicFramePr>
        <p:xfrm>
          <a:off x="2087166" y="2753916"/>
          <a:ext cx="971550" cy="673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5" name="Image" r:id="rId5" imgW="2523810" imgH="1751917" progId="Photoshop.Image.9">
                  <p:embed/>
                </p:oleObj>
              </mc:Choice>
              <mc:Fallback>
                <p:oleObj name="Image" r:id="rId5" imgW="2523810" imgH="1751917" progId="Photoshop.Image.9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166" y="2753916"/>
                        <a:ext cx="971550" cy="673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11" name="Text Box 11"/>
          <p:cNvSpPr txBox="1">
            <a:spLocks noChangeArrowheads="1"/>
          </p:cNvSpPr>
          <p:nvPr/>
        </p:nvSpPr>
        <p:spPr bwMode="auto">
          <a:xfrm>
            <a:off x="2014268" y="2831307"/>
            <a:ext cx="117211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FF3300"/>
                </a:solidFill>
              </a:rPr>
              <a:t>WEB-INF</a:t>
            </a:r>
          </a:p>
          <a:p>
            <a:pPr eaLnBrk="1" hangingPunct="1"/>
            <a:r>
              <a:rPr lang="zh-CN" altLang="en-US" dirty="0"/>
              <a:t>    目录</a:t>
            </a:r>
          </a:p>
        </p:txBody>
      </p:sp>
      <p:sp>
        <p:nvSpPr>
          <p:cNvPr id="358412" name="Line 12"/>
          <p:cNvSpPr>
            <a:spLocks noChangeShapeType="1"/>
          </p:cNvSpPr>
          <p:nvPr/>
        </p:nvSpPr>
        <p:spPr bwMode="auto">
          <a:xfrm>
            <a:off x="2626519" y="3456385"/>
            <a:ext cx="0" cy="16002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58413" name="Line 13"/>
          <p:cNvSpPr>
            <a:spLocks noChangeShapeType="1"/>
          </p:cNvSpPr>
          <p:nvPr/>
        </p:nvSpPr>
        <p:spPr bwMode="auto">
          <a:xfrm>
            <a:off x="2627710" y="3618310"/>
            <a:ext cx="432197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58414" name="Line 14"/>
          <p:cNvSpPr>
            <a:spLocks noChangeShapeType="1"/>
          </p:cNvSpPr>
          <p:nvPr/>
        </p:nvSpPr>
        <p:spPr bwMode="auto">
          <a:xfrm>
            <a:off x="2627710" y="4212431"/>
            <a:ext cx="432197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58415" name="Line 15"/>
          <p:cNvSpPr>
            <a:spLocks noChangeShapeType="1"/>
          </p:cNvSpPr>
          <p:nvPr/>
        </p:nvSpPr>
        <p:spPr bwMode="auto">
          <a:xfrm>
            <a:off x="2627710" y="4752975"/>
            <a:ext cx="432197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aphicFrame>
        <p:nvGraphicFramePr>
          <p:cNvPr id="358416" name="Object 16"/>
          <p:cNvGraphicFramePr>
            <a:graphicFrameLocks noChangeAspect="1"/>
          </p:cNvGraphicFramePr>
          <p:nvPr/>
        </p:nvGraphicFramePr>
        <p:xfrm>
          <a:off x="3059906" y="3187304"/>
          <a:ext cx="971550" cy="673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" name="Image" r:id="rId6" imgW="2523810" imgH="1751917" progId="Photoshop.Image.9">
                  <p:embed/>
                </p:oleObj>
              </mc:Choice>
              <mc:Fallback>
                <p:oleObj name="Image" r:id="rId6" imgW="2523810" imgH="1751917" progId="Photoshop.Image.9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906" y="3187304"/>
                        <a:ext cx="971550" cy="673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17" name="Text Box 17"/>
          <p:cNvSpPr txBox="1">
            <a:spLocks noChangeArrowheads="1"/>
          </p:cNvSpPr>
          <p:nvPr/>
        </p:nvSpPr>
        <p:spPr bwMode="auto">
          <a:xfrm>
            <a:off x="3015042" y="3279533"/>
            <a:ext cx="934871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dirty="0"/>
              <a:t> </a:t>
            </a:r>
            <a:r>
              <a:rPr lang="en-US" altLang="zh-CN" sz="1500" b="1" dirty="0">
                <a:solidFill>
                  <a:srgbClr val="FF3300"/>
                </a:solidFill>
              </a:rPr>
              <a:t>classes</a:t>
            </a:r>
          </a:p>
          <a:p>
            <a:pPr eaLnBrk="1" hangingPunct="1"/>
            <a:r>
              <a:rPr lang="zh-CN" altLang="en-US" dirty="0"/>
              <a:t>    目录</a:t>
            </a:r>
          </a:p>
        </p:txBody>
      </p:sp>
      <p:graphicFrame>
        <p:nvGraphicFramePr>
          <p:cNvPr id="358418" name="Object 18"/>
          <p:cNvGraphicFramePr>
            <a:graphicFrameLocks noChangeAspect="1"/>
          </p:cNvGraphicFramePr>
          <p:nvPr/>
        </p:nvGraphicFramePr>
        <p:xfrm>
          <a:off x="3059906" y="3888582"/>
          <a:ext cx="971550" cy="673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" name="Image" r:id="rId7" imgW="2523810" imgH="1751917" progId="Photoshop.Image.9">
                  <p:embed/>
                </p:oleObj>
              </mc:Choice>
              <mc:Fallback>
                <p:oleObj name="Image" r:id="rId7" imgW="2523810" imgH="1751917" progId="Photoshop.Image.9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906" y="3888582"/>
                        <a:ext cx="971550" cy="673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19" name="Text Box 19"/>
          <p:cNvSpPr txBox="1">
            <a:spLocks noChangeArrowheads="1"/>
          </p:cNvSpPr>
          <p:nvPr/>
        </p:nvSpPr>
        <p:spPr bwMode="auto">
          <a:xfrm>
            <a:off x="3217069" y="4136231"/>
            <a:ext cx="8691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1">
                <a:solidFill>
                  <a:srgbClr val="FF3300"/>
                </a:solidFill>
              </a:rPr>
              <a:t>lib</a:t>
            </a:r>
            <a:r>
              <a:rPr lang="zh-CN" altLang="en-US"/>
              <a:t>目录</a:t>
            </a:r>
          </a:p>
        </p:txBody>
      </p:sp>
      <p:sp>
        <p:nvSpPr>
          <p:cNvPr id="358420" name="Text Box 20"/>
          <p:cNvSpPr txBox="1">
            <a:spLocks noChangeArrowheads="1"/>
          </p:cNvSpPr>
          <p:nvPr/>
        </p:nvSpPr>
        <p:spPr bwMode="auto">
          <a:xfrm>
            <a:off x="3059906" y="4591050"/>
            <a:ext cx="15568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3300"/>
                </a:solidFill>
              </a:rPr>
              <a:t>web.xml</a:t>
            </a:r>
            <a:r>
              <a:rPr lang="zh-CN" altLang="en-US"/>
              <a:t>文件</a:t>
            </a:r>
          </a:p>
        </p:txBody>
      </p:sp>
      <p:sp>
        <p:nvSpPr>
          <p:cNvPr id="358421" name="Text Box 34"/>
          <p:cNvSpPr txBox="1">
            <a:spLocks noChangeArrowheads="1"/>
          </p:cNvSpPr>
          <p:nvPr/>
        </p:nvSpPr>
        <p:spPr bwMode="auto">
          <a:xfrm>
            <a:off x="5375305" y="1673960"/>
            <a:ext cx="291584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zh-CN" altLang="en-US" sz="2100" dirty="0"/>
              <a:t>举例：位于</a:t>
            </a:r>
            <a:r>
              <a:rPr lang="en-US" altLang="zh-CN" sz="2100" dirty="0"/>
              <a:t>servlet</a:t>
            </a:r>
            <a:r>
              <a:rPr lang="zh-CN" altLang="en-US" sz="2100" dirty="0"/>
              <a:t>包下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100" dirty="0"/>
              <a:t>的</a:t>
            </a:r>
            <a:r>
              <a:rPr lang="en-US" altLang="zh-CN" sz="2100" dirty="0" err="1"/>
              <a:t>FirstServlet</a:t>
            </a:r>
            <a:r>
              <a:rPr lang="zh-CN" altLang="en-US" sz="2100" dirty="0"/>
              <a:t>类</a:t>
            </a:r>
          </a:p>
        </p:txBody>
      </p:sp>
      <p:sp>
        <p:nvSpPr>
          <p:cNvPr id="358424" name="Line 37"/>
          <p:cNvSpPr>
            <a:spLocks noChangeShapeType="1"/>
          </p:cNvSpPr>
          <p:nvPr/>
        </p:nvSpPr>
        <p:spPr bwMode="auto">
          <a:xfrm>
            <a:off x="4031457" y="3618310"/>
            <a:ext cx="27027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58425" name="Line 39"/>
          <p:cNvSpPr>
            <a:spLocks noChangeShapeType="1"/>
          </p:cNvSpPr>
          <p:nvPr/>
        </p:nvSpPr>
        <p:spPr bwMode="auto">
          <a:xfrm>
            <a:off x="4624388" y="3888581"/>
            <a:ext cx="0" cy="8096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aphicFrame>
        <p:nvGraphicFramePr>
          <p:cNvPr id="358433" name="Object 35"/>
          <p:cNvGraphicFramePr>
            <a:graphicFrameLocks noChangeAspect="1"/>
          </p:cNvGraphicFramePr>
          <p:nvPr/>
        </p:nvGraphicFramePr>
        <p:xfrm>
          <a:off x="4356498" y="3214688"/>
          <a:ext cx="864394" cy="673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" name="Image" r:id="rId8" imgW="2523810" imgH="1751917" progId="Photoshop.Image.9">
                  <p:embed/>
                </p:oleObj>
              </mc:Choice>
              <mc:Fallback>
                <p:oleObj name="Image" r:id="rId8" imgW="2523810" imgH="1751917" progId="Photoshop.Image.9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498" y="3214688"/>
                        <a:ext cx="864394" cy="673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34" name="Text Box 36"/>
          <p:cNvSpPr txBox="1">
            <a:spLocks noChangeArrowheads="1"/>
          </p:cNvSpPr>
          <p:nvPr/>
        </p:nvSpPr>
        <p:spPr bwMode="auto">
          <a:xfrm>
            <a:off x="4348984" y="3328506"/>
            <a:ext cx="85953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dirty="0"/>
              <a:t> </a:t>
            </a:r>
            <a:r>
              <a:rPr lang="en-US" altLang="zh-CN" sz="1500" b="1" dirty="0"/>
              <a:t>servlet</a:t>
            </a:r>
          </a:p>
          <a:p>
            <a:pPr eaLnBrk="1" hangingPunct="1"/>
            <a:r>
              <a:rPr lang="zh-CN" altLang="en-US" sz="1500" b="1" dirty="0"/>
              <a:t>   </a:t>
            </a:r>
            <a:r>
              <a:rPr lang="zh-CN" altLang="en-US" sz="1500" dirty="0"/>
              <a:t>目录</a:t>
            </a:r>
            <a:endParaRPr lang="zh-CN" altLang="en-US" dirty="0"/>
          </a:p>
        </p:txBody>
      </p:sp>
      <p:sp>
        <p:nvSpPr>
          <p:cNvPr id="358438" name="Line 40"/>
          <p:cNvSpPr>
            <a:spLocks noChangeShapeType="1"/>
          </p:cNvSpPr>
          <p:nvPr/>
        </p:nvSpPr>
        <p:spPr bwMode="auto">
          <a:xfrm>
            <a:off x="4679156" y="4320779"/>
            <a:ext cx="161925" cy="1190"/>
          </a:xfrm>
          <a:prstGeom prst="line">
            <a:avLst/>
          </a:prstGeom>
          <a:noFill/>
          <a:ln w="15875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58439" name="Text Box 41"/>
          <p:cNvSpPr txBox="1">
            <a:spLocks noChangeArrowheads="1"/>
          </p:cNvSpPr>
          <p:nvPr/>
        </p:nvSpPr>
        <p:spPr bwMode="auto">
          <a:xfrm>
            <a:off x="4820841" y="4050507"/>
            <a:ext cx="145424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 err="1">
                <a:solidFill>
                  <a:srgbClr val="FF3300"/>
                </a:solidFill>
              </a:rPr>
              <a:t>FirstServlet</a:t>
            </a:r>
            <a:endParaRPr lang="en-US" altLang="zh-CN" b="1" dirty="0">
              <a:solidFill>
                <a:srgbClr val="FF3300"/>
              </a:solidFill>
            </a:endParaRPr>
          </a:p>
          <a:p>
            <a:pPr eaLnBrk="1" hangingPunct="1"/>
            <a:r>
              <a:rPr lang="en-US" altLang="zh-CN" b="1" dirty="0">
                <a:solidFill>
                  <a:srgbClr val="FF3300"/>
                </a:solidFill>
              </a:rPr>
              <a:t>.class</a:t>
            </a:r>
            <a:endParaRPr lang="zh-CN" altLang="en-US" dirty="0"/>
          </a:p>
        </p:txBody>
      </p:sp>
      <p:sp>
        <p:nvSpPr>
          <p:cNvPr id="358442" name="Arc 42"/>
          <p:cNvSpPr>
            <a:spLocks/>
          </p:cNvSpPr>
          <p:nvPr/>
        </p:nvSpPr>
        <p:spPr bwMode="auto">
          <a:xfrm rot="5147026">
            <a:off x="6377507" y="2688157"/>
            <a:ext cx="1846660" cy="838200"/>
          </a:xfrm>
          <a:custGeom>
            <a:avLst/>
            <a:gdLst>
              <a:gd name="T0" fmla="*/ 0 w 31015"/>
              <a:gd name="T1" fmla="*/ 111760 h 21600"/>
              <a:gd name="T2" fmla="*/ 2462213 w 31015"/>
              <a:gd name="T3" fmla="*/ 1117600 h 21600"/>
              <a:gd name="T4" fmla="*/ 747436 w 31015"/>
              <a:gd name="T5" fmla="*/ 11176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015" h="21600" fill="none" extrusionOk="0">
                <a:moveTo>
                  <a:pt x="-1" y="2159"/>
                </a:moveTo>
                <a:cubicBezTo>
                  <a:pt x="2935" y="738"/>
                  <a:pt x="6153" y="-1"/>
                  <a:pt x="9415" y="0"/>
                </a:cubicBezTo>
                <a:cubicBezTo>
                  <a:pt x="21344" y="0"/>
                  <a:pt x="31015" y="9670"/>
                  <a:pt x="31015" y="21600"/>
                </a:cubicBezTo>
              </a:path>
              <a:path w="31015" h="21600" stroke="0" extrusionOk="0">
                <a:moveTo>
                  <a:pt x="-1" y="2159"/>
                </a:moveTo>
                <a:cubicBezTo>
                  <a:pt x="2935" y="738"/>
                  <a:pt x="6153" y="-1"/>
                  <a:pt x="9415" y="0"/>
                </a:cubicBezTo>
                <a:cubicBezTo>
                  <a:pt x="21344" y="0"/>
                  <a:pt x="31015" y="9670"/>
                  <a:pt x="31015" y="21600"/>
                </a:cubicBezTo>
                <a:lnTo>
                  <a:pt x="9415" y="21600"/>
                </a:lnTo>
                <a:lnTo>
                  <a:pt x="-1" y="2159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43" name="Text Box 43"/>
          <p:cNvSpPr txBox="1">
            <a:spLocks noChangeArrowheads="1"/>
          </p:cNvSpPr>
          <p:nvPr/>
        </p:nvSpPr>
        <p:spPr bwMode="auto">
          <a:xfrm>
            <a:off x="6030516" y="2571750"/>
            <a:ext cx="183594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ea typeface="华文行楷" panose="02010800040101010101" pitchFamily="2" charset="-122"/>
              </a:rPr>
              <a:t>在</a:t>
            </a:r>
            <a:r>
              <a:rPr lang="en-US" altLang="zh-CN">
                <a:ea typeface="华文行楷" panose="02010800040101010101" pitchFamily="2" charset="-122"/>
              </a:rPr>
              <a:t>classes</a:t>
            </a:r>
            <a:r>
              <a:rPr lang="zh-CN" altLang="en-US">
                <a:ea typeface="华文行楷" panose="02010800040101010101" pitchFamily="2" charset="-122"/>
              </a:rPr>
              <a:t>之下</a:t>
            </a:r>
          </a:p>
          <a:p>
            <a:pPr eaLnBrk="1" hangingPunct="1"/>
            <a:r>
              <a:rPr lang="zh-CN" altLang="en-US">
                <a:ea typeface="华文行楷" panose="02010800040101010101" pitchFamily="2" charset="-122"/>
              </a:rPr>
              <a:t>采用对应目录</a:t>
            </a:r>
          </a:p>
          <a:p>
            <a:pPr eaLnBrk="1" hangingPunct="1"/>
            <a:r>
              <a:rPr lang="zh-CN" altLang="en-US">
                <a:ea typeface="华文行楷" panose="02010800040101010101" pitchFamily="2" charset="-122"/>
              </a:rPr>
              <a:t>进行存储</a:t>
            </a:r>
          </a:p>
        </p:txBody>
      </p:sp>
    </p:spTree>
    <p:extLst>
      <p:ext uri="{BB962C8B-B14F-4D97-AF65-F5344CB8AC3E}">
        <p14:creationId xmlns:p14="http://schemas.microsoft.com/office/powerpoint/2010/main" val="383790029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8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58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58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5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8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58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8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8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8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58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5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5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8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5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58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58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5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58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5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5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5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5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5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5" grpId="0"/>
      <p:bldP spid="358406" grpId="0" animBg="1"/>
      <p:bldP spid="358407" grpId="0" animBg="1"/>
      <p:bldP spid="358408" grpId="0"/>
      <p:bldP spid="358409" grpId="0" animBg="1"/>
      <p:bldP spid="358411" grpId="0"/>
      <p:bldP spid="358412" grpId="0" animBg="1"/>
      <p:bldP spid="358413" grpId="0" animBg="1"/>
      <p:bldP spid="358414" grpId="0" animBg="1"/>
      <p:bldP spid="358415" grpId="0" animBg="1"/>
      <p:bldP spid="358417" grpId="0"/>
      <p:bldP spid="358419" grpId="0"/>
      <p:bldP spid="358420" grpId="0"/>
      <p:bldP spid="358424" grpId="0" animBg="1"/>
      <p:bldP spid="358425" grpId="0" animBg="1"/>
      <p:bldP spid="358434" grpId="0"/>
      <p:bldP spid="358438" grpId="0" animBg="1"/>
      <p:bldP spid="358439" grpId="0"/>
      <p:bldP spid="358442" grpId="0" animBg="1"/>
      <p:bldP spid="35844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3" y="123478"/>
            <a:ext cx="4355157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955463"/>
      </p:ext>
    </p:extLst>
  </p:cSld>
  <p:clrMapOvr>
    <a:masterClrMapping/>
  </p:clrMapOvr>
  <p:transition spd="med">
    <p:rand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/>
          </p:cNvSpPr>
          <p:nvPr>
            <p:ph type="title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的注册与映射</a:t>
            </a:r>
            <a:endParaRPr lang="en-US" altLang="zh-CN" dirty="0" smtClean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9427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275606"/>
            <a:ext cx="8363272" cy="362069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开发完成的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必须在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应用中进行注册，并配置其对外访问路径，才可以被客户端浏览器访问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Font typeface="Verdana" panose="020B0604030504040204" pitchFamily="34" charset="0"/>
              <a:buChar char="▪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9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9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应用目录</a:t>
            </a:r>
            <a:r>
              <a:rPr lang="en-US" altLang="zh-CN" sz="19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\WEB-INF\web.xml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文件中注册和映射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Font typeface="Verdana" panose="020B0604030504040204" pitchFamily="34" charset="0"/>
              <a:buChar char="▪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web.xml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文件的编写：参考现有示例，拷贝修改</a:t>
            </a:r>
          </a:p>
          <a:p>
            <a:pPr lvl="2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zh-CN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Tomcat</a:t>
            </a: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安装目录</a:t>
            </a:r>
            <a:r>
              <a:rPr lang="en-US" altLang="zh-CN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en-US" altLang="zh-CN" sz="16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conf</a:t>
            </a:r>
            <a:r>
              <a:rPr lang="en-US" altLang="zh-CN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\web.xml</a:t>
            </a:r>
          </a:p>
          <a:p>
            <a:pPr lvl="2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zh-CN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Tomcat</a:t>
            </a: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自带</a:t>
            </a:r>
            <a:r>
              <a:rPr lang="en-US" altLang="zh-CN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examples</a:t>
            </a: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应用中的</a:t>
            </a:r>
            <a:r>
              <a:rPr lang="en-US" altLang="zh-CN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web.xml</a:t>
            </a:r>
          </a:p>
          <a:p>
            <a:pPr lvl="2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配置文件修改，通常需要重启</a:t>
            </a:r>
            <a:r>
              <a:rPr lang="en-US" altLang="zh-CN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Tomcat</a:t>
            </a:r>
          </a:p>
          <a:p>
            <a:pPr lvl="2">
              <a:lnSpc>
                <a:spcPct val="120000"/>
              </a:lnSpc>
            </a:pPr>
            <a:endParaRPr lang="en-US" altLang="zh-CN" sz="1650" dirty="0"/>
          </a:p>
        </p:txBody>
      </p:sp>
    </p:spTree>
    <p:extLst>
      <p:ext uri="{BB962C8B-B14F-4D97-AF65-F5344CB8AC3E}">
        <p14:creationId xmlns:p14="http://schemas.microsoft.com/office/powerpoint/2010/main" val="100978848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9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59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59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39502"/>
            <a:ext cx="4821238" cy="3528392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2195736" y="3579862"/>
            <a:ext cx="216024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857903"/>
      </p:ext>
    </p:extLst>
  </p:cSld>
  <p:clrMapOvr>
    <a:masterClrMapping/>
  </p:clrMapOvr>
  <p:transition spd="med">
    <p:rand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920" y="0"/>
            <a:ext cx="679016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59695"/>
      </p:ext>
    </p:extLst>
  </p:cSld>
  <p:clrMapOvr>
    <a:masterClrMapping/>
  </p:clrMapOvr>
  <p:transition spd="med">
    <p:rand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61" y="0"/>
            <a:ext cx="8545877" cy="514350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1115616" y="2427734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19076"/>
      </p:ext>
    </p:extLst>
  </p:cSld>
  <p:clrMapOvr>
    <a:masterClrMapping/>
  </p:clrMapOvr>
  <p:transition spd="med">
    <p:rand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059582"/>
            <a:ext cx="5495651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534759"/>
      </p:ext>
    </p:extLst>
  </p:cSld>
  <p:clrMapOvr>
    <a:masterClrMapping/>
  </p:clrMapOvr>
  <p:transition spd="med">
    <p:rand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/>
          </p:cNvSpPr>
          <p:nvPr>
            <p:ph type="title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web.xml</a:t>
            </a:r>
          </a:p>
        </p:txBody>
      </p:sp>
      <p:sp>
        <p:nvSpPr>
          <p:cNvPr id="424963" name="Rectangle 3"/>
          <p:cNvSpPr>
            <a:spLocks noGrp="1"/>
          </p:cNvSpPr>
          <p:nvPr>
            <p:ph type="body" idx="4294967295"/>
          </p:nvPr>
        </p:nvSpPr>
        <p:spPr>
          <a:xfrm>
            <a:off x="539552" y="1110854"/>
            <a:ext cx="8208912" cy="36206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web.xml</a:t>
            </a:r>
          </a:p>
          <a:p>
            <a:pPr lvl="1">
              <a:lnSpc>
                <a:spcPct val="120000"/>
              </a:lnSpc>
              <a:buFont typeface="Verdana" panose="020B0604030504040204" pitchFamily="34" charset="0"/>
              <a:buChar char="▪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又叫部署描述文件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——deployment descriptor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lnSpc>
                <a:spcPct val="120000"/>
              </a:lnSpc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应用有一个部署描述文件，一个部署描述文件可以声明多个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</a:p>
          <a:p>
            <a:pPr>
              <a:lnSpc>
                <a:spcPct val="120000"/>
              </a:lnSpc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部署描述文件的作用不只是声明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</a:p>
          <a:p>
            <a:pPr lvl="1">
              <a:lnSpc>
                <a:spcPct val="120000"/>
              </a:lnSpc>
              <a:buFont typeface="Verdana" panose="020B0604030504040204" pitchFamily="34" charset="0"/>
              <a:buChar char="▪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配置首页等</a:t>
            </a:r>
          </a:p>
        </p:txBody>
      </p:sp>
    </p:spTree>
    <p:extLst>
      <p:ext uri="{BB962C8B-B14F-4D97-AF65-F5344CB8AC3E}">
        <p14:creationId xmlns:p14="http://schemas.microsoft.com/office/powerpoint/2010/main" val="238021855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4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4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24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/>
          </p:cNvSpPr>
          <p:nvPr>
            <p:ph type="title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注册</a:t>
            </a:r>
            <a:r>
              <a:rPr lang="en-US" altLang="zh-CN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</a:p>
        </p:txBody>
      </p:sp>
      <p:sp>
        <p:nvSpPr>
          <p:cNvPr id="360451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275606"/>
            <a:ext cx="8229600" cy="362069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web.xml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文件中，一个</a:t>
            </a:r>
            <a:r>
              <a:rPr lang="en-US" altLang="zh-CN" sz="2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&lt;servlet&gt;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元素用以注册一个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</a:p>
          <a:p>
            <a: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&lt;servlet&gt;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元素包括两个主要子元素：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Font typeface="Verdana" panose="020B0604030504040204" pitchFamily="34" charset="0"/>
              <a:buChar char="▪"/>
            </a:pPr>
            <a:r>
              <a:rPr lang="en-US" altLang="zh-CN" sz="2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&lt;servlet-name&gt;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的注册名称</a:t>
            </a:r>
          </a:p>
          <a:p>
            <a:pPr lvl="2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任意合法的标示符</a:t>
            </a:r>
            <a:endParaRPr lang="en-US" altLang="zh-CN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Font typeface="Verdana" panose="020B0604030504040204" pitchFamily="34" charset="0"/>
              <a:buChar char="▪"/>
            </a:pPr>
            <a:r>
              <a:rPr lang="en-US" altLang="zh-CN" sz="2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&lt;servlet-class&gt;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指定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的完整类名</a:t>
            </a:r>
          </a:p>
          <a:p>
            <a:pPr lvl="2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若在包下，则要加上包名</a:t>
            </a:r>
            <a:endParaRPr lang="en-US" altLang="zh-CN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181313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0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0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0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0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/>
          </p:cNvSpPr>
          <p:nvPr>
            <p:ph type="body" idx="4294967295"/>
          </p:nvPr>
        </p:nvSpPr>
        <p:spPr>
          <a:xfrm>
            <a:off x="467544" y="627533"/>
            <a:ext cx="8064896" cy="3890889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注册举例：对于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包下的</a:t>
            </a:r>
            <a:r>
              <a:rPr lang="en-US" altLang="zh-CN" sz="2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FirstServlet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类，其注册格式</a:t>
            </a:r>
            <a:r>
              <a:rPr lang="zh-CN" altLang="en-US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87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2100" dirty="0"/>
          </a:p>
        </p:txBody>
      </p:sp>
      <p:sp>
        <p:nvSpPr>
          <p:cNvPr id="361475" name="Text Box 5"/>
          <p:cNvSpPr txBox="1">
            <a:spLocks noChangeArrowheads="1"/>
          </p:cNvSpPr>
          <p:nvPr/>
        </p:nvSpPr>
        <p:spPr bwMode="auto">
          <a:xfrm>
            <a:off x="1196579" y="2143125"/>
            <a:ext cx="6750844" cy="1650452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&lt;servlet&gt;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&lt;servlet-name&gt;</a:t>
            </a:r>
            <a:r>
              <a:rPr lang="en-US" altLang="zh-CN" sz="19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FirstServlet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&lt;/servlet-name&gt;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&lt;servlet-class&gt;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servlet.FirstServlet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&lt;/servlet-class&gt;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altLang="zh-CN" sz="2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serlvet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</p:txBody>
      </p:sp>
      <p:sp>
        <p:nvSpPr>
          <p:cNvPr id="361476" name="Line 7"/>
          <p:cNvSpPr>
            <a:spLocks noChangeShapeType="1"/>
          </p:cNvSpPr>
          <p:nvPr/>
        </p:nvSpPr>
        <p:spPr bwMode="auto">
          <a:xfrm flipV="1">
            <a:off x="3870723" y="2307431"/>
            <a:ext cx="377428" cy="32385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61477" name="Text Box 8"/>
          <p:cNvSpPr txBox="1">
            <a:spLocks noChangeArrowheads="1"/>
          </p:cNvSpPr>
          <p:nvPr/>
        </p:nvSpPr>
        <p:spPr bwMode="auto">
          <a:xfrm>
            <a:off x="4036219" y="1768079"/>
            <a:ext cx="1935145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</a:rPr>
              <a:t>任意合法标示符</a:t>
            </a:r>
            <a:endParaRPr lang="en-US" altLang="zh-CN" sz="1950">
              <a:latin typeface="Comic Sans MS" panose="030F0702030302020204" pitchFamily="66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</a:rPr>
              <a:t>习惯：采用类名</a:t>
            </a:r>
            <a:endParaRPr lang="en-US" altLang="zh-CN" sz="1950">
              <a:ea typeface="华文行楷" panose="02010800040101010101" pitchFamily="2" charset="-122"/>
            </a:endParaRPr>
          </a:p>
        </p:txBody>
      </p:sp>
      <p:sp>
        <p:nvSpPr>
          <p:cNvPr id="361478" name="Line 7"/>
          <p:cNvSpPr>
            <a:spLocks noChangeShapeType="1"/>
          </p:cNvSpPr>
          <p:nvPr/>
        </p:nvSpPr>
        <p:spPr bwMode="auto">
          <a:xfrm>
            <a:off x="3982641" y="3429000"/>
            <a:ext cx="910828" cy="58936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61479" name="Text Box 8"/>
          <p:cNvSpPr txBox="1">
            <a:spLocks noChangeArrowheads="1"/>
          </p:cNvSpPr>
          <p:nvPr/>
        </p:nvSpPr>
        <p:spPr bwMode="auto">
          <a:xfrm>
            <a:off x="4464844" y="4071938"/>
            <a:ext cx="2685351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</a:rPr>
              <a:t>包含包结构的完整类名</a:t>
            </a:r>
            <a:endParaRPr lang="en-US" altLang="zh-CN" sz="1950">
              <a:latin typeface="Comic Sans MS" panose="030F0702030302020204" pitchFamily="66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</a:rPr>
              <a:t>后缀“</a:t>
            </a:r>
            <a:r>
              <a:rPr lang="en-US" altLang="zh-CN" sz="1950">
                <a:latin typeface="Comic Sans MS" panose="030F0702030302020204" pitchFamily="66" charset="0"/>
                <a:ea typeface="华文行楷" panose="02010800040101010101" pitchFamily="2" charset="-122"/>
              </a:rPr>
              <a:t>.class</a:t>
            </a:r>
            <a:r>
              <a:rPr lang="zh-CN" altLang="en-US" sz="1950">
                <a:latin typeface="Comic Sans MS" panose="030F0702030302020204" pitchFamily="66" charset="0"/>
                <a:ea typeface="华文行楷" panose="02010800040101010101" pitchFamily="2" charset="-122"/>
              </a:rPr>
              <a:t>”不需要</a:t>
            </a:r>
            <a:endParaRPr lang="en-US" altLang="zh-CN" sz="1950">
              <a:latin typeface="Comic Sans MS" panose="030F0702030302020204" pitchFamily="66" charset="0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93398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1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61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61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61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75" grpId="0" animBg="1"/>
      <p:bldP spid="361476" grpId="0" animBg="1"/>
      <p:bldP spid="361477" grpId="0"/>
      <p:bldP spid="361478" grpId="0" animBg="1"/>
      <p:bldP spid="361479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339502"/>
            <a:ext cx="8229600" cy="857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映射</a:t>
            </a:r>
            <a:r>
              <a:rPr lang="en-US" altLang="zh-CN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</a:p>
        </p:txBody>
      </p:sp>
      <p:sp>
        <p:nvSpPr>
          <p:cNvPr id="40963" name="Rectangle 3"/>
          <p:cNvSpPr>
            <a:spLocks noGrp="1"/>
          </p:cNvSpPr>
          <p:nvPr>
            <p:ph type="body" idx="4294967295"/>
          </p:nvPr>
        </p:nvSpPr>
        <p:spPr>
          <a:xfrm>
            <a:off x="539552" y="1563638"/>
            <a:ext cx="8064896" cy="3167906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web.xml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文件中，一个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&lt;servlet-mapping&gt;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元素用以映射一个已注册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的对外访问路径，客户端浏览器通过这个路径访问该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</a:p>
          <a:p>
            <a:pPr>
              <a:lnSpc>
                <a:spcPct val="120000"/>
              </a:lnSpc>
              <a:buFont typeface="Wingdings 3" panose="05040102010807070707" pitchFamily="18" charset="2"/>
              <a:buNone/>
            </a:pPr>
            <a:endParaRPr lang="en-US" altLang="zh-CN" sz="2100" dirty="0"/>
          </a:p>
        </p:txBody>
      </p:sp>
    </p:spTree>
    <p:extLst>
      <p:ext uri="{BB962C8B-B14F-4D97-AF65-F5344CB8AC3E}">
        <p14:creationId xmlns:p14="http://schemas.microsoft.com/office/powerpoint/2010/main" val="346818951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5" name="Rectangle 3"/>
          <p:cNvSpPr>
            <a:spLocks noGrp="1"/>
          </p:cNvSpPr>
          <p:nvPr>
            <p:ph type="body" idx="4294967295"/>
          </p:nvPr>
        </p:nvSpPr>
        <p:spPr>
          <a:xfrm>
            <a:off x="683568" y="1110854"/>
            <a:ext cx="7776864" cy="362069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&lt;servlet-mapping&gt;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元素包含两个主要子元素：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Font typeface="Verdana" panose="020B0604030504040204" pitchFamily="34" charset="0"/>
              <a:buChar char="▪"/>
            </a:pP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&lt;servlet-name&gt;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：指定一个已注册的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名称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Font typeface="Verdana" panose="020B0604030504040204" pitchFamily="34" charset="0"/>
              <a:buChar char="▪"/>
            </a:pP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9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-pattern&gt;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：为该注册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设置一个对外访问路径</a:t>
            </a:r>
          </a:p>
          <a:p>
            <a:pPr lvl="2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规定：设置的对外访问路径必须以正斜杠“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开头</a:t>
            </a:r>
          </a:p>
          <a:p>
            <a:pPr lvl="2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在此，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代表当前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应用根目录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620763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2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2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52" name="Text Box 5"/>
          <p:cNvSpPr txBox="1">
            <a:spLocks noChangeArrowheads="1"/>
          </p:cNvSpPr>
          <p:nvPr/>
        </p:nvSpPr>
        <p:spPr bwMode="auto">
          <a:xfrm>
            <a:off x="1181100" y="2518172"/>
            <a:ext cx="6750844" cy="1737014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100" dirty="0"/>
              <a:t>&lt;servlet-mapping&gt;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dirty="0"/>
              <a:t>	</a:t>
            </a:r>
            <a:r>
              <a:rPr lang="en-US" altLang="zh-CN" sz="1950" dirty="0"/>
              <a:t>&lt;servlet-name&gt;</a:t>
            </a:r>
            <a:r>
              <a:rPr lang="en-US" altLang="zh-CN" sz="1950" dirty="0" err="1"/>
              <a:t>FirstServlet</a:t>
            </a:r>
            <a:r>
              <a:rPr lang="en-US" altLang="zh-CN" sz="1950" dirty="0"/>
              <a:t>&lt;/servlet-name&gt;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1950" dirty="0"/>
              <a:t>     &lt;</a:t>
            </a:r>
            <a:r>
              <a:rPr lang="en-US" altLang="zh-CN" sz="1950" dirty="0" err="1"/>
              <a:t>url</a:t>
            </a:r>
            <a:r>
              <a:rPr lang="en-US" altLang="zh-CN" sz="1950" dirty="0"/>
              <a:t>-pattern&gt;</a:t>
            </a:r>
            <a:r>
              <a:rPr lang="en-US" altLang="zh-CN" sz="2400" b="1" dirty="0"/>
              <a:t>/</a:t>
            </a:r>
            <a:r>
              <a:rPr lang="en-US" altLang="zh-CN" sz="2100" dirty="0" err="1"/>
              <a:t>FirstServlet</a:t>
            </a:r>
            <a:r>
              <a:rPr lang="en-US" altLang="zh-CN" sz="1950" dirty="0"/>
              <a:t>&lt;/</a:t>
            </a:r>
            <a:r>
              <a:rPr lang="en-US" altLang="zh-CN" sz="1950" dirty="0" err="1"/>
              <a:t>url</a:t>
            </a:r>
            <a:r>
              <a:rPr lang="en-US" altLang="zh-CN" sz="1950" dirty="0"/>
              <a:t>-pattern&gt;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100" dirty="0"/>
              <a:t>&lt;/servlet-mapping&gt;</a:t>
            </a:r>
          </a:p>
        </p:txBody>
      </p:sp>
      <p:sp>
        <p:nvSpPr>
          <p:cNvPr id="43011" name="Rectangle 3"/>
          <p:cNvSpPr>
            <a:spLocks noGrp="1"/>
          </p:cNvSpPr>
          <p:nvPr>
            <p:ph type="body" idx="4294967295"/>
          </p:nvPr>
        </p:nvSpPr>
        <p:spPr>
          <a:xfrm>
            <a:off x="1174758" y="0"/>
            <a:ext cx="6172200" cy="53578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映射举例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2100" dirty="0"/>
          </a:p>
        </p:txBody>
      </p:sp>
      <p:sp>
        <p:nvSpPr>
          <p:cNvPr id="43012" name="Text Box 5"/>
          <p:cNvSpPr txBox="1">
            <a:spLocks noChangeArrowheads="1"/>
          </p:cNvSpPr>
          <p:nvPr/>
        </p:nvSpPr>
        <p:spPr bwMode="auto">
          <a:xfrm>
            <a:off x="1178719" y="583406"/>
            <a:ext cx="6750844" cy="1679306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100" dirty="0"/>
              <a:t>&lt;servlet&gt;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dirty="0"/>
              <a:t>	</a:t>
            </a:r>
            <a:r>
              <a:rPr lang="en-US" altLang="zh-CN" sz="1950" dirty="0"/>
              <a:t>&lt;servlet-name&gt;</a:t>
            </a:r>
            <a:r>
              <a:rPr lang="en-US" altLang="zh-CN" sz="1950" dirty="0" err="1"/>
              <a:t>FirstServlet</a:t>
            </a:r>
            <a:r>
              <a:rPr lang="en-US" altLang="zh-CN" sz="1950" dirty="0"/>
              <a:t>&lt;/servlet-name&gt;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1950" dirty="0"/>
              <a:t>     &lt;servlet-class&gt;</a:t>
            </a:r>
            <a:r>
              <a:rPr lang="en-US" altLang="zh-CN" sz="2100" dirty="0" err="1"/>
              <a:t>servlet.FirstServlet</a:t>
            </a:r>
            <a:r>
              <a:rPr lang="en-US" altLang="zh-CN" sz="1950" dirty="0"/>
              <a:t>&lt;/servlet-class&gt;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100" dirty="0"/>
              <a:t>&lt;/servlet&gt;</a:t>
            </a:r>
          </a:p>
        </p:txBody>
      </p:sp>
      <p:sp>
        <p:nvSpPr>
          <p:cNvPr id="364550" name="Line 7"/>
          <p:cNvSpPr>
            <a:spLocks noChangeShapeType="1"/>
          </p:cNvSpPr>
          <p:nvPr/>
        </p:nvSpPr>
        <p:spPr bwMode="auto">
          <a:xfrm>
            <a:off x="3762375" y="3868341"/>
            <a:ext cx="910829" cy="589359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64553" name="Text Box 8"/>
          <p:cNvSpPr txBox="1">
            <a:spLocks noChangeArrowheads="1"/>
          </p:cNvSpPr>
          <p:nvPr/>
        </p:nvSpPr>
        <p:spPr bwMode="auto">
          <a:xfrm>
            <a:off x="4356497" y="4354116"/>
            <a:ext cx="3522118" cy="64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zh-CN" altLang="en-US" sz="1950" dirty="0">
                <a:latin typeface="华文行楷" panose="02010800040101010101" pitchFamily="2" charset="-122"/>
                <a:ea typeface="华文行楷" panose="02010800040101010101" pitchFamily="2" charset="-122"/>
              </a:rPr>
              <a:t>在此，访问路径以“</a:t>
            </a:r>
            <a:r>
              <a:rPr lang="en-US" altLang="zh-CN" sz="24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/</a:t>
            </a:r>
            <a:r>
              <a:rPr lang="en-US" altLang="zh-CN" sz="1950" dirty="0">
                <a:latin typeface="华文行楷" panose="02010800040101010101" pitchFamily="2" charset="-122"/>
                <a:ea typeface="华文行楷" panose="02010800040101010101" pitchFamily="2" charset="-122"/>
              </a:rPr>
              <a:t>”</a:t>
            </a:r>
            <a:r>
              <a:rPr lang="zh-CN" altLang="en-US" sz="1950" dirty="0">
                <a:latin typeface="华文行楷" panose="02010800040101010101" pitchFamily="2" charset="-122"/>
                <a:ea typeface="华文行楷" panose="02010800040101010101" pitchFamily="2" charset="-122"/>
              </a:rPr>
              <a:t>开头，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1950" dirty="0">
                <a:latin typeface="华文行楷" panose="02010800040101010101" pitchFamily="2" charset="-122"/>
                <a:ea typeface="华文行楷" panose="02010800040101010101" pitchFamily="2" charset="-122"/>
              </a:rPr>
              <a:t>代表当前应用根目录</a:t>
            </a:r>
            <a:endParaRPr lang="zh-CN" altLang="en-US" sz="1950" dirty="0">
              <a:ea typeface="华文行楷" panose="02010800040101010101" pitchFamily="2" charset="-122"/>
            </a:endParaRPr>
          </a:p>
        </p:txBody>
      </p:sp>
      <p:sp>
        <p:nvSpPr>
          <p:cNvPr id="364554" name="Text Box 8"/>
          <p:cNvSpPr txBox="1">
            <a:spLocks noChangeArrowheads="1"/>
          </p:cNvSpPr>
          <p:nvPr/>
        </p:nvSpPr>
        <p:spPr bwMode="auto">
          <a:xfrm>
            <a:off x="3492104" y="4396979"/>
            <a:ext cx="3199915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zh-CN" altLang="en-US" sz="1950">
                <a:ea typeface="华文行楷" panose="02010800040101010101" pitchFamily="2" charset="-122"/>
              </a:rPr>
              <a:t>为前面已注册的</a:t>
            </a:r>
            <a:r>
              <a:rPr lang="en-US" altLang="zh-CN" sz="1950">
                <a:ea typeface="华文行楷" panose="02010800040101010101" pitchFamily="2" charset="-122"/>
              </a:rPr>
              <a:t>FirstServlet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1950">
                <a:ea typeface="华文行楷" panose="02010800040101010101" pitchFamily="2" charset="-122"/>
              </a:rPr>
              <a:t>配置一个对外访问路径</a:t>
            </a:r>
          </a:p>
        </p:txBody>
      </p:sp>
    </p:spTree>
    <p:extLst>
      <p:ext uri="{BB962C8B-B14F-4D97-AF65-F5344CB8AC3E}">
        <p14:creationId xmlns:p14="http://schemas.microsoft.com/office/powerpoint/2010/main" val="236227575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6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6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3645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52" grpId="0" animBg="1"/>
      <p:bldP spid="364550" grpId="0" animBg="1"/>
      <p:bldP spid="364553" grpId="0"/>
      <p:bldP spid="364554" grpId="0"/>
      <p:bldP spid="364554" grpId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2"/>
          <p:cNvSpPr>
            <a:spLocks noGrp="1"/>
          </p:cNvSpPr>
          <p:nvPr>
            <p:ph type="title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36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主机站点根目录和</a:t>
            </a:r>
            <a:r>
              <a:rPr lang="en-US" altLang="zh-CN" sz="36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36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应用根目录</a:t>
            </a:r>
          </a:p>
        </p:txBody>
      </p:sp>
      <p:sp>
        <p:nvSpPr>
          <p:cNvPr id="44035" name="Rectangle 3"/>
          <p:cNvSpPr>
            <a:spLocks noGrp="1"/>
          </p:cNvSpPr>
          <p:nvPr>
            <p:ph type="body" idx="4294967295"/>
          </p:nvPr>
        </p:nvSpPr>
        <p:spPr>
          <a:xfrm>
            <a:off x="1518047" y="1017985"/>
            <a:ext cx="6172200" cy="589359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一个主机站点下有多个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2612" name="组合 9"/>
          <p:cNvGrpSpPr>
            <a:grpSpLocks/>
          </p:cNvGrpSpPr>
          <p:nvPr/>
        </p:nvGrpSpPr>
        <p:grpSpPr bwMode="auto">
          <a:xfrm>
            <a:off x="1732360" y="1714501"/>
            <a:ext cx="4050506" cy="375047"/>
            <a:chOff x="377825" y="2070101"/>
            <a:chExt cx="5400675" cy="500063"/>
          </a:xfrm>
        </p:grpSpPr>
        <p:pic>
          <p:nvPicPr>
            <p:cNvPr id="44044" name="Picture 2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825" y="2070101"/>
              <a:ext cx="5400675" cy="500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45" name="Text Box 15"/>
            <p:cNvSpPr txBox="1">
              <a:spLocks noChangeArrowheads="1"/>
            </p:cNvSpPr>
            <p:nvPr/>
          </p:nvSpPr>
          <p:spPr bwMode="auto">
            <a:xfrm>
              <a:off x="760994" y="2071678"/>
              <a:ext cx="3084606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marL="400050" indent="-4000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rgbClr val="228A88"/>
                </a:buClr>
                <a:buFont typeface="Wingdings 2" panose="05020102010507070707" pitchFamily="18" charset="2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rgbClr val="228A88"/>
                </a:buClr>
                <a:buFont typeface="Wingdings 2" panose="05020102010507070707" pitchFamily="18" charset="2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rgbClr val="228A88"/>
                </a:buClr>
                <a:buFont typeface="Wingdings 2" panose="05020102010507070707" pitchFamily="18" charset="2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rgbClr val="228A88"/>
                </a:buClr>
                <a:buFont typeface="Wingdings 2" panose="05020102010507070707" pitchFamily="18" charset="2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http://localhost:8080</a:t>
              </a:r>
              <a:r>
                <a:rPr lang="en-US" altLang="zh-CN" b="1">
                  <a:solidFill>
                    <a:schemeClr val="accent2"/>
                  </a:solidFill>
                </a:rPr>
                <a:t>/</a:t>
              </a:r>
              <a:endParaRPr lang="en-US" altLang="zh-CN"/>
            </a:p>
          </p:txBody>
        </p:sp>
      </p:grpSp>
      <p:grpSp>
        <p:nvGrpSpPr>
          <p:cNvPr id="452615" name="组合 10"/>
          <p:cNvGrpSpPr>
            <a:grpSpLocks/>
          </p:cNvGrpSpPr>
          <p:nvPr/>
        </p:nvGrpSpPr>
        <p:grpSpPr bwMode="auto">
          <a:xfrm>
            <a:off x="1764507" y="3107529"/>
            <a:ext cx="4050506" cy="415498"/>
            <a:chOff x="827990" y="4500570"/>
            <a:chExt cx="5400675" cy="553326"/>
          </a:xfrm>
        </p:grpSpPr>
        <p:pic>
          <p:nvPicPr>
            <p:cNvPr id="44042" name="Picture 2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990" y="4542774"/>
              <a:ext cx="5400675" cy="500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43" name="Text Box 15"/>
            <p:cNvSpPr txBox="1">
              <a:spLocks noChangeArrowheads="1"/>
            </p:cNvSpPr>
            <p:nvPr/>
          </p:nvSpPr>
          <p:spPr bwMode="auto">
            <a:xfrm>
              <a:off x="1142315" y="4500570"/>
              <a:ext cx="4912030" cy="553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marL="400050" indent="-4000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rgbClr val="228A88"/>
                </a:buClr>
                <a:buFont typeface="Wingdings 2" panose="05020102010507070707" pitchFamily="18" charset="2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rgbClr val="228A88"/>
                </a:buClr>
                <a:buFont typeface="Wingdings 2" panose="05020102010507070707" pitchFamily="18" charset="2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rgbClr val="228A88"/>
                </a:buClr>
                <a:buFont typeface="Wingdings 2" panose="05020102010507070707" pitchFamily="18" charset="2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lr>
                  <a:srgbClr val="228A88"/>
                </a:buClr>
                <a:buFont typeface="Wingdings 2" panose="05020102010507070707" pitchFamily="18" charset="2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http://localhost:8080</a:t>
              </a:r>
              <a:r>
                <a:rPr lang="en-US" altLang="zh-CN" b="1"/>
                <a:t>/</a:t>
              </a:r>
              <a:r>
                <a:rPr lang="en-US" altLang="zh-CN"/>
                <a:t>servletDemo</a:t>
              </a:r>
              <a:r>
                <a:rPr lang="en-US" altLang="zh-CN" sz="2100">
                  <a:solidFill>
                    <a:srgbClr val="FF0000"/>
                  </a:solidFill>
                </a:rPr>
                <a:t>/</a:t>
              </a:r>
            </a:p>
          </p:txBody>
        </p:sp>
      </p:grpSp>
      <p:sp>
        <p:nvSpPr>
          <p:cNvPr id="452618" name="Line 7"/>
          <p:cNvSpPr>
            <a:spLocks noChangeShapeType="1"/>
          </p:cNvSpPr>
          <p:nvPr/>
        </p:nvSpPr>
        <p:spPr bwMode="auto">
          <a:xfrm>
            <a:off x="4139804" y="2085976"/>
            <a:ext cx="215503" cy="43219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452619" name="Text Box 8"/>
          <p:cNvSpPr txBox="1">
            <a:spLocks noChangeArrowheads="1"/>
          </p:cNvSpPr>
          <p:nvPr/>
        </p:nvSpPr>
        <p:spPr bwMode="auto">
          <a:xfrm>
            <a:off x="4410076" y="2409825"/>
            <a:ext cx="2813591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b="1">
                <a:ea typeface="华文行楷" panose="02010800040101010101" pitchFamily="2" charset="-122"/>
              </a:rPr>
              <a:t>localhost</a:t>
            </a:r>
            <a:r>
              <a:rPr lang="zh-CN" altLang="en-US" b="1">
                <a:ea typeface="华文行楷" panose="02010800040101010101" pitchFamily="2" charset="-122"/>
              </a:rPr>
              <a:t>主机站点根目录</a:t>
            </a:r>
            <a:endParaRPr lang="en-US" altLang="zh-CN" b="1">
              <a:ea typeface="华文行楷" panose="02010800040101010101" pitchFamily="2" charset="-122"/>
            </a:endParaRPr>
          </a:p>
        </p:txBody>
      </p:sp>
      <p:sp>
        <p:nvSpPr>
          <p:cNvPr id="452620" name="Line 7"/>
          <p:cNvSpPr>
            <a:spLocks noChangeShapeType="1"/>
          </p:cNvSpPr>
          <p:nvPr/>
        </p:nvSpPr>
        <p:spPr bwMode="auto">
          <a:xfrm>
            <a:off x="5436394" y="3543301"/>
            <a:ext cx="377429" cy="43219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452621" name="Text Box 8"/>
          <p:cNvSpPr txBox="1">
            <a:spLocks noChangeArrowheads="1"/>
          </p:cNvSpPr>
          <p:nvPr/>
        </p:nvSpPr>
        <p:spPr bwMode="auto">
          <a:xfrm>
            <a:off x="4193382" y="4030266"/>
            <a:ext cx="2723823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b="1">
                <a:ea typeface="华文行楷" panose="02010800040101010101" pitchFamily="2" charset="-122"/>
              </a:rPr>
              <a:t>servletDemo</a:t>
            </a:r>
            <a:r>
              <a:rPr lang="zh-CN" altLang="en-US" b="1">
                <a:ea typeface="华文行楷" panose="02010800040101010101" pitchFamily="2" charset="-122"/>
              </a:rPr>
              <a:t>应用根目录</a:t>
            </a:r>
            <a:endParaRPr lang="en-US" altLang="zh-CN" b="1"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554674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52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52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52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52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52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618" grpId="0" animBg="1"/>
      <p:bldP spid="452619" grpId="0"/>
      <p:bldP spid="452620" grpId="0" animBg="1"/>
      <p:bldP spid="4526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5"/>
          <p:cNvSpPr txBox="1">
            <a:spLocks noChangeArrowheads="1"/>
          </p:cNvSpPr>
          <p:nvPr/>
        </p:nvSpPr>
        <p:spPr bwMode="auto">
          <a:xfrm>
            <a:off x="1169194" y="681037"/>
            <a:ext cx="6750844" cy="1737014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servle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-mapping&gt;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&lt;servlet-name&gt;</a:t>
            </a:r>
            <a:r>
              <a:rPr lang="en-US" altLang="zh-CN" sz="19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FirstServlet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&lt;/servlet-name&gt;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&lt;</a:t>
            </a:r>
            <a:r>
              <a:rPr lang="en-US" altLang="zh-CN" sz="19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-pattern&gt;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FirstServlet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altLang="zh-CN" sz="19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en-US" altLang="zh-CN" sz="19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-pattern&gt;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altLang="zh-CN" sz="2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serlvet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-mapping&gt;</a:t>
            </a:r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3584973" y="2035969"/>
            <a:ext cx="29313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3636" name="Text Box 8"/>
          <p:cNvSpPr txBox="1">
            <a:spLocks noChangeArrowheads="1"/>
          </p:cNvSpPr>
          <p:nvPr/>
        </p:nvSpPr>
        <p:spPr bwMode="auto">
          <a:xfrm>
            <a:off x="1115616" y="3057526"/>
            <a:ext cx="6723460" cy="449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accent2"/>
              </a:buClr>
              <a:buSzPct val="100000"/>
            </a:pPr>
            <a:r>
              <a:rPr lang="en-US" altLang="zh-CN" sz="2100" u="sng" dirty="0"/>
              <a:t>http://localhost:8080</a:t>
            </a:r>
            <a:r>
              <a:rPr lang="en-US" altLang="zh-CN" sz="2100" b="1" u="sng" dirty="0"/>
              <a:t>/</a:t>
            </a:r>
            <a:r>
              <a:rPr lang="en-US" altLang="zh-CN" sz="2100" b="1" u="sng" dirty="0">
                <a:latin typeface="Comic Sans MS" panose="030F0702030302020204" pitchFamily="66" charset="0"/>
              </a:rPr>
              <a:t>ServletDemo/</a:t>
            </a:r>
          </a:p>
        </p:txBody>
      </p:sp>
      <p:sp>
        <p:nvSpPr>
          <p:cNvPr id="453637" name="Line 5"/>
          <p:cNvSpPr>
            <a:spLocks noChangeShapeType="1"/>
          </p:cNvSpPr>
          <p:nvPr/>
        </p:nvSpPr>
        <p:spPr bwMode="auto">
          <a:xfrm>
            <a:off x="3113485" y="1977629"/>
            <a:ext cx="2214563" cy="1188244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453638" name="Text Box 8"/>
          <p:cNvSpPr txBox="1">
            <a:spLocks noChangeArrowheads="1"/>
          </p:cNvSpPr>
          <p:nvPr/>
        </p:nvSpPr>
        <p:spPr bwMode="auto">
          <a:xfrm>
            <a:off x="2357438" y="2733675"/>
            <a:ext cx="2106216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zh-CN" altLang="en-US" sz="2100">
                <a:solidFill>
                  <a:srgbClr val="370CEE"/>
                </a:solidFill>
                <a:latin typeface="Comic Sans MS" panose="030F0702030302020204" pitchFamily="66" charset="0"/>
                <a:ea typeface="华文行楷" panose="02010800040101010101" pitchFamily="2" charset="-122"/>
              </a:rPr>
              <a:t>当前应用根路径</a:t>
            </a:r>
          </a:p>
        </p:txBody>
      </p:sp>
      <p:sp>
        <p:nvSpPr>
          <p:cNvPr id="453639" name="Oval 7"/>
          <p:cNvSpPr>
            <a:spLocks noChangeArrowheads="1"/>
          </p:cNvSpPr>
          <p:nvPr/>
        </p:nvSpPr>
        <p:spPr bwMode="auto">
          <a:xfrm>
            <a:off x="2951560" y="1653779"/>
            <a:ext cx="161925" cy="378619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3640" name="Text Box 8"/>
          <p:cNvSpPr txBox="1">
            <a:spLocks noChangeArrowheads="1"/>
          </p:cNvSpPr>
          <p:nvPr/>
        </p:nvSpPr>
        <p:spPr bwMode="auto">
          <a:xfrm>
            <a:off x="5341798" y="3091415"/>
            <a:ext cx="1760418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100" b="1" u="sng" dirty="0" err="1">
                <a:latin typeface="Comic Sans MS" panose="030F0702030302020204" pitchFamily="66" charset="0"/>
              </a:rPr>
              <a:t>FirstServlet</a:t>
            </a:r>
            <a:endParaRPr lang="en-US" altLang="zh-CN" sz="2100" b="1" u="sng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66180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3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3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5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3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36" grpId="0"/>
      <p:bldP spid="453637" grpId="0" animBg="1"/>
      <p:bldP spid="453638" grpId="0"/>
      <p:bldP spid="453639" grpId="0" animBg="1"/>
      <p:bldP spid="453640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/>
          </p:cNvSpPr>
          <p:nvPr>
            <p:ph type="body" idx="4294967295"/>
          </p:nvPr>
        </p:nvSpPr>
        <p:spPr>
          <a:xfrm>
            <a:off x="1143000" y="86917"/>
            <a:ext cx="6172200" cy="535781"/>
          </a:xfrm>
        </p:spPr>
        <p:txBody>
          <a:bodyPr/>
          <a:lstStyle/>
          <a:p>
            <a:pPr>
              <a:lnSpc>
                <a:spcPct val="120000"/>
              </a:lnSpc>
              <a:buFont typeface="Wingdings 3" panose="05040102010807070707" pitchFamily="18" charset="2"/>
              <a:buNone/>
            </a:pPr>
            <a:r>
              <a:rPr lang="zh-CN" altLang="en-US" sz="2100"/>
              <a:t>客户端浏览器访问</a:t>
            </a:r>
            <a:r>
              <a:rPr lang="en-US" altLang="zh-CN" sz="2100"/>
              <a:t>Servlet</a:t>
            </a:r>
          </a:p>
          <a:p>
            <a:pPr>
              <a:lnSpc>
                <a:spcPct val="120000"/>
              </a:lnSpc>
            </a:pPr>
            <a:endParaRPr lang="en-US" altLang="zh-CN" sz="2100"/>
          </a:p>
        </p:txBody>
      </p:sp>
      <p:sp>
        <p:nvSpPr>
          <p:cNvPr id="46083" name="Text Box 5"/>
          <p:cNvSpPr txBox="1">
            <a:spLocks noChangeArrowheads="1"/>
          </p:cNvSpPr>
          <p:nvPr/>
        </p:nvSpPr>
        <p:spPr bwMode="auto">
          <a:xfrm>
            <a:off x="1435894" y="573881"/>
            <a:ext cx="6160294" cy="3670236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1650" dirty="0"/>
              <a:t>  </a:t>
            </a:r>
            <a:r>
              <a:rPr lang="en-US" altLang="zh-CN" dirty="0"/>
              <a:t>&lt;servlet&gt;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dirty="0"/>
              <a:t>	  &lt;servlet-name&gt;</a:t>
            </a:r>
            <a:r>
              <a:rPr lang="en-US" altLang="zh-CN" dirty="0" err="1"/>
              <a:t>FirstServlet</a:t>
            </a:r>
            <a:r>
              <a:rPr lang="en-US" altLang="zh-CN" dirty="0"/>
              <a:t>&lt;/servlet-name&gt;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dirty="0"/>
              <a:t>       &lt;servlet-class&gt;</a:t>
            </a:r>
            <a:r>
              <a:rPr lang="en-US" altLang="zh-CN" sz="1950" b="1" dirty="0" err="1">
                <a:latin typeface="Comic Sans MS" panose="030F0702030302020204" pitchFamily="66" charset="0"/>
              </a:rPr>
              <a:t>servlet.FirstServlet</a:t>
            </a:r>
            <a:r>
              <a:rPr lang="en-US" altLang="zh-CN" dirty="0"/>
              <a:t>&lt;/servlet-class&gt;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dirty="0"/>
              <a:t>  &lt;/</a:t>
            </a:r>
            <a:r>
              <a:rPr lang="en-US" altLang="zh-CN" dirty="0" err="1"/>
              <a:t>serlvet</a:t>
            </a:r>
            <a:r>
              <a:rPr lang="en-US" altLang="zh-CN" dirty="0"/>
              <a:t>&gt;</a:t>
            </a:r>
          </a:p>
          <a:p>
            <a:pPr eaLnBrk="1" hangingPunct="1">
              <a:lnSpc>
                <a:spcPct val="125000"/>
              </a:lnSpc>
            </a:pPr>
            <a:endParaRPr lang="en-US" altLang="zh-CN" dirty="0"/>
          </a:p>
          <a:p>
            <a:pPr eaLnBrk="1" hangingPunct="1">
              <a:lnSpc>
                <a:spcPct val="125000"/>
              </a:lnSpc>
            </a:pPr>
            <a:r>
              <a:rPr lang="en-US" altLang="zh-CN" sz="1650" dirty="0"/>
              <a:t>  </a:t>
            </a:r>
            <a:r>
              <a:rPr lang="en-US" altLang="zh-CN" dirty="0"/>
              <a:t>&lt;</a:t>
            </a:r>
            <a:r>
              <a:rPr lang="en-US" altLang="zh-CN" dirty="0" err="1"/>
              <a:t>servle</a:t>
            </a:r>
            <a:r>
              <a:rPr lang="en-US" altLang="zh-CN" dirty="0"/>
              <a:t>-mapping&gt;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dirty="0"/>
              <a:t>	  &lt;servlet-name&gt;</a:t>
            </a:r>
            <a:r>
              <a:rPr lang="en-US" altLang="zh-CN" dirty="0" err="1"/>
              <a:t>FirstServlet</a:t>
            </a:r>
            <a:r>
              <a:rPr lang="en-US" altLang="zh-CN" dirty="0"/>
              <a:t>&lt;/servlet-name&gt;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dirty="0"/>
              <a:t>       &lt;</a:t>
            </a:r>
            <a:r>
              <a:rPr lang="en-US" altLang="zh-CN" dirty="0" err="1"/>
              <a:t>url</a:t>
            </a:r>
            <a:r>
              <a:rPr lang="en-US" altLang="zh-CN" dirty="0"/>
              <a:t>-pattern</a:t>
            </a:r>
            <a:r>
              <a:rPr lang="en-US" altLang="zh-CN" dirty="0">
                <a:latin typeface="黑体" panose="02010609060101010101" pitchFamily="49" charset="-122"/>
              </a:rPr>
              <a:t>&gt;</a:t>
            </a:r>
            <a:r>
              <a:rPr lang="en-US" altLang="zh-CN" b="1" dirty="0">
                <a:latin typeface="Comic Sans MS" panose="030F0702030302020204" pitchFamily="66" charset="0"/>
              </a:rPr>
              <a:t>/</a:t>
            </a:r>
            <a:r>
              <a:rPr lang="en-US" altLang="zh-CN" b="1" dirty="0" err="1">
                <a:latin typeface="Comic Sans MS" panose="030F0702030302020204" pitchFamily="66" charset="0"/>
              </a:rPr>
              <a:t>FirstServlet</a:t>
            </a:r>
            <a:r>
              <a:rPr lang="en-US" altLang="zh-CN" dirty="0"/>
              <a:t>&lt;/</a:t>
            </a:r>
            <a:r>
              <a:rPr lang="en-US" altLang="zh-CN" dirty="0" err="1"/>
              <a:t>url</a:t>
            </a:r>
            <a:r>
              <a:rPr lang="en-US" altLang="zh-CN" dirty="0"/>
              <a:t>-pattern&gt;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dirty="0"/>
              <a:t>  &lt;/</a:t>
            </a:r>
            <a:r>
              <a:rPr lang="en-US" altLang="zh-CN" dirty="0" err="1"/>
              <a:t>serlvet</a:t>
            </a:r>
            <a:r>
              <a:rPr lang="en-US" altLang="zh-CN" dirty="0"/>
              <a:t>-mapping&gt;</a:t>
            </a:r>
          </a:p>
          <a:p>
            <a:pPr eaLnBrk="1" hangingPunct="1">
              <a:lnSpc>
                <a:spcPct val="125000"/>
              </a:lnSpc>
            </a:pPr>
            <a:endParaRPr lang="en-US" altLang="zh-CN" dirty="0"/>
          </a:p>
        </p:txBody>
      </p:sp>
      <p:sp>
        <p:nvSpPr>
          <p:cNvPr id="365577" name="Arc 9"/>
          <p:cNvSpPr>
            <a:spLocks/>
          </p:cNvSpPr>
          <p:nvPr/>
        </p:nvSpPr>
        <p:spPr bwMode="auto">
          <a:xfrm>
            <a:off x="5975747" y="3706416"/>
            <a:ext cx="1081088" cy="1081088"/>
          </a:xfrm>
          <a:custGeom>
            <a:avLst/>
            <a:gdLst>
              <a:gd name="T0" fmla="*/ 268113 w 21446"/>
              <a:gd name="T1" fmla="*/ 0 h 21229"/>
              <a:gd name="T2" fmla="*/ 1441450 w 21446"/>
              <a:gd name="T3" fmla="*/ 1266743 h 21229"/>
              <a:gd name="T4" fmla="*/ 0 w 21446"/>
              <a:gd name="T5" fmla="*/ 1441450 h 212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446" h="21229" fill="none" extrusionOk="0">
                <a:moveTo>
                  <a:pt x="3988" y="0"/>
                </a:moveTo>
                <a:cubicBezTo>
                  <a:pt x="13256" y="1741"/>
                  <a:pt x="20322" y="9293"/>
                  <a:pt x="21446" y="18655"/>
                </a:cubicBezTo>
              </a:path>
              <a:path w="21446" h="21229" stroke="0" extrusionOk="0">
                <a:moveTo>
                  <a:pt x="3988" y="0"/>
                </a:moveTo>
                <a:cubicBezTo>
                  <a:pt x="13256" y="1741"/>
                  <a:pt x="20322" y="9293"/>
                  <a:pt x="21446" y="18655"/>
                </a:cubicBezTo>
                <a:lnTo>
                  <a:pt x="0" y="21229"/>
                </a:lnTo>
                <a:lnTo>
                  <a:pt x="3988" y="0"/>
                </a:lnTo>
                <a:close/>
              </a:path>
            </a:pathLst>
          </a:custGeom>
          <a:noFill/>
          <a:ln w="22225">
            <a:solidFill>
              <a:schemeClr val="tx1"/>
            </a:solidFill>
            <a:round/>
            <a:headEnd type="stealth" w="lg" len="lg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5581" name="AutoShape 13"/>
          <p:cNvSpPr>
            <a:spLocks/>
          </p:cNvSpPr>
          <p:nvPr/>
        </p:nvSpPr>
        <p:spPr bwMode="auto">
          <a:xfrm>
            <a:off x="1485502" y="983833"/>
            <a:ext cx="378619" cy="1837134"/>
          </a:xfrm>
          <a:prstGeom prst="leftBracket">
            <a:avLst>
              <a:gd name="adj" fmla="val 40435"/>
            </a:avLst>
          </a:prstGeom>
          <a:noFill/>
          <a:ln w="22225">
            <a:solidFill>
              <a:schemeClr val="tx1"/>
            </a:solidFill>
            <a:round/>
            <a:headEnd type="stealth" w="lg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5583" name="AutoShape 15"/>
          <p:cNvSpPr>
            <a:spLocks/>
          </p:cNvSpPr>
          <p:nvPr/>
        </p:nvSpPr>
        <p:spPr bwMode="auto">
          <a:xfrm>
            <a:off x="1775010" y="2932755"/>
            <a:ext cx="163116" cy="432197"/>
          </a:xfrm>
          <a:prstGeom prst="leftBracket">
            <a:avLst>
              <a:gd name="adj" fmla="val 22080"/>
            </a:avLst>
          </a:prstGeom>
          <a:noFill/>
          <a:ln w="22225">
            <a:solidFill>
              <a:schemeClr val="tx1"/>
            </a:solidFill>
            <a:round/>
            <a:headEnd type="stealth" w="lg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5585" name="Arc 17"/>
          <p:cNvSpPr>
            <a:spLocks/>
          </p:cNvSpPr>
          <p:nvPr/>
        </p:nvSpPr>
        <p:spPr bwMode="auto">
          <a:xfrm>
            <a:off x="6377815" y="1102368"/>
            <a:ext cx="863204" cy="432197"/>
          </a:xfrm>
          <a:custGeom>
            <a:avLst/>
            <a:gdLst>
              <a:gd name="T0" fmla="*/ 0 w 21600"/>
              <a:gd name="T1" fmla="*/ 0 h 21600"/>
              <a:gd name="T2" fmla="*/ 1150938 w 21600"/>
              <a:gd name="T3" fmla="*/ 576263 h 21600"/>
              <a:gd name="T4" fmla="*/ 0 w 21600"/>
              <a:gd name="T5" fmla="*/ 576263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5587" name="Line 7"/>
          <p:cNvSpPr>
            <a:spLocks noChangeShapeType="1"/>
          </p:cNvSpPr>
          <p:nvPr/>
        </p:nvSpPr>
        <p:spPr bwMode="auto">
          <a:xfrm>
            <a:off x="5506138" y="1754983"/>
            <a:ext cx="972740" cy="539353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65588" name="Text Box 8"/>
          <p:cNvSpPr txBox="1">
            <a:spLocks noChangeArrowheads="1"/>
          </p:cNvSpPr>
          <p:nvPr/>
        </p:nvSpPr>
        <p:spPr bwMode="auto">
          <a:xfrm>
            <a:off x="5219701" y="2301479"/>
            <a:ext cx="2710999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zh-CN" altLang="en-US">
                <a:latin typeface="Comic Sans MS" panose="030F0702030302020204" pitchFamily="66" charset="0"/>
                <a:ea typeface="华文行楷" panose="02010800040101010101" pitchFamily="2" charset="-122"/>
              </a:rPr>
              <a:t>根据请求方式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>
                <a:latin typeface="Comic Sans MS" panose="030F0702030302020204" pitchFamily="66" charset="0"/>
                <a:ea typeface="华文行楷" panose="02010800040101010101" pitchFamily="2" charset="-122"/>
              </a:rPr>
              <a:t>调用</a:t>
            </a:r>
            <a:r>
              <a:rPr lang="en-US" altLang="zh-CN">
                <a:latin typeface="Comic Sans MS" panose="030F0702030302020204" pitchFamily="66" charset="0"/>
                <a:ea typeface="华文行楷" panose="02010800040101010101" pitchFamily="2" charset="-122"/>
              </a:rPr>
              <a:t>doGet</a:t>
            </a:r>
            <a:r>
              <a:rPr lang="zh-CN" altLang="en-US">
                <a:latin typeface="Comic Sans MS" panose="030F0702030302020204" pitchFamily="66" charset="0"/>
                <a:ea typeface="华文行楷" panose="02010800040101010101" pitchFamily="2" charset="-122"/>
              </a:rPr>
              <a:t>或</a:t>
            </a:r>
            <a:r>
              <a:rPr lang="en-US" altLang="zh-CN">
                <a:latin typeface="Comic Sans MS" panose="030F0702030302020204" pitchFamily="66" charset="0"/>
                <a:ea typeface="华文行楷" panose="02010800040101010101" pitchFamily="2" charset="-122"/>
              </a:rPr>
              <a:t>doPost</a:t>
            </a:r>
            <a:r>
              <a:rPr lang="zh-CN" altLang="en-US">
                <a:latin typeface="Comic Sans MS" panose="030F0702030302020204" pitchFamily="66" charset="0"/>
                <a:ea typeface="华文行楷" panose="02010800040101010101" pitchFamily="2" charset="-122"/>
              </a:rPr>
              <a:t>方法</a:t>
            </a:r>
          </a:p>
        </p:txBody>
      </p:sp>
      <p:sp>
        <p:nvSpPr>
          <p:cNvPr id="365589" name="Rectangle 21"/>
          <p:cNvSpPr>
            <a:spLocks noChangeArrowheads="1"/>
          </p:cNvSpPr>
          <p:nvPr/>
        </p:nvSpPr>
        <p:spPr bwMode="auto">
          <a:xfrm>
            <a:off x="6678216" y="3687366"/>
            <a:ext cx="4171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①</a:t>
            </a:r>
          </a:p>
        </p:txBody>
      </p:sp>
      <p:sp>
        <p:nvSpPr>
          <p:cNvPr id="365590" name="Rectangle 22"/>
          <p:cNvSpPr>
            <a:spLocks noChangeArrowheads="1"/>
          </p:cNvSpPr>
          <p:nvPr/>
        </p:nvSpPr>
        <p:spPr bwMode="auto">
          <a:xfrm>
            <a:off x="1410891" y="2995620"/>
            <a:ext cx="4171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②</a:t>
            </a:r>
          </a:p>
        </p:txBody>
      </p:sp>
      <p:sp>
        <p:nvSpPr>
          <p:cNvPr id="365591" name="Rectangle 23"/>
          <p:cNvSpPr>
            <a:spLocks noChangeArrowheads="1"/>
          </p:cNvSpPr>
          <p:nvPr/>
        </p:nvSpPr>
        <p:spPr bwMode="auto">
          <a:xfrm>
            <a:off x="1143000" y="1635886"/>
            <a:ext cx="4171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③</a:t>
            </a:r>
          </a:p>
        </p:txBody>
      </p:sp>
      <p:sp>
        <p:nvSpPr>
          <p:cNvPr id="365592" name="Rectangle 24"/>
          <p:cNvSpPr>
            <a:spLocks noChangeArrowheads="1"/>
          </p:cNvSpPr>
          <p:nvPr/>
        </p:nvSpPr>
        <p:spPr bwMode="auto">
          <a:xfrm>
            <a:off x="6823917" y="887341"/>
            <a:ext cx="4171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④</a:t>
            </a:r>
          </a:p>
        </p:txBody>
      </p:sp>
      <p:sp>
        <p:nvSpPr>
          <p:cNvPr id="365593" name="Rectangle 25"/>
          <p:cNvSpPr>
            <a:spLocks noChangeArrowheads="1"/>
          </p:cNvSpPr>
          <p:nvPr/>
        </p:nvSpPr>
        <p:spPr bwMode="auto">
          <a:xfrm>
            <a:off x="5995500" y="1747840"/>
            <a:ext cx="4171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⑤</a:t>
            </a:r>
          </a:p>
        </p:txBody>
      </p:sp>
      <p:sp>
        <p:nvSpPr>
          <p:cNvPr id="46095" name="Rectangle 27"/>
          <p:cNvSpPr>
            <a:spLocks noChangeArrowheads="1"/>
          </p:cNvSpPr>
          <p:nvPr/>
        </p:nvSpPr>
        <p:spPr bwMode="auto">
          <a:xfrm>
            <a:off x="3233525" y="3153390"/>
            <a:ext cx="1458516" cy="323850"/>
          </a:xfrm>
          <a:prstGeom prst="rect">
            <a:avLst/>
          </a:prstGeom>
          <a:solidFill>
            <a:schemeClr val="accent1">
              <a:alpha val="12941"/>
            </a:schemeClr>
          </a:solidFill>
          <a:ln w="9525">
            <a:solidFill>
              <a:schemeClr val="tx1"/>
            </a:solidFill>
            <a:prstDash val="lgDash"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5596" name="Rectangle 28"/>
          <p:cNvSpPr>
            <a:spLocks noChangeArrowheads="1"/>
          </p:cNvSpPr>
          <p:nvPr/>
        </p:nvSpPr>
        <p:spPr bwMode="auto">
          <a:xfrm>
            <a:off x="3419872" y="1437382"/>
            <a:ext cx="2431256" cy="270272"/>
          </a:xfrm>
          <a:prstGeom prst="rect">
            <a:avLst/>
          </a:prstGeom>
          <a:solidFill>
            <a:schemeClr val="accent1">
              <a:alpha val="12941"/>
            </a:schemeClr>
          </a:solidFill>
          <a:ln w="9525">
            <a:solidFill>
              <a:schemeClr val="tx1"/>
            </a:solidFill>
            <a:prstDash val="lgDash"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65570" name="Picture 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891" y="4573191"/>
            <a:ext cx="6455569" cy="375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5573" name="Text Box 15"/>
          <p:cNvSpPr txBox="1">
            <a:spLocks noChangeArrowheads="1"/>
          </p:cNvSpPr>
          <p:nvPr/>
        </p:nvSpPr>
        <p:spPr bwMode="auto">
          <a:xfrm>
            <a:off x="1625204" y="4519612"/>
            <a:ext cx="379462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http://localhost:8080</a:t>
            </a:r>
            <a:r>
              <a:rPr lang="en-US" altLang="zh-CN" b="1"/>
              <a:t>/</a:t>
            </a:r>
            <a:r>
              <a:rPr lang="en-US" altLang="zh-CN" sz="1950"/>
              <a:t>servletDemo</a:t>
            </a:r>
            <a:r>
              <a:rPr lang="en-US" altLang="zh-CN" sz="2100">
                <a:solidFill>
                  <a:srgbClr val="FF0000"/>
                </a:solidFill>
              </a:rPr>
              <a:t>/</a:t>
            </a:r>
          </a:p>
        </p:txBody>
      </p:sp>
      <p:sp>
        <p:nvSpPr>
          <p:cNvPr id="365594" name="Text Box 15"/>
          <p:cNvSpPr txBox="1">
            <a:spLocks noChangeArrowheads="1"/>
          </p:cNvSpPr>
          <p:nvPr/>
        </p:nvSpPr>
        <p:spPr bwMode="auto">
          <a:xfrm>
            <a:off x="5219700" y="4512469"/>
            <a:ext cx="154561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100">
                <a:solidFill>
                  <a:srgbClr val="FF0000"/>
                </a:solidFill>
              </a:rPr>
              <a:t>FirstServlet</a:t>
            </a:r>
          </a:p>
        </p:txBody>
      </p:sp>
    </p:spTree>
    <p:extLst>
      <p:ext uri="{BB962C8B-B14F-4D97-AF65-F5344CB8AC3E}">
        <p14:creationId xmlns:p14="http://schemas.microsoft.com/office/powerpoint/2010/main" val="26095050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65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6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6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65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6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65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6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6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6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6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6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7" grpId="0" animBg="1"/>
      <p:bldP spid="365581" grpId="0" animBg="1"/>
      <p:bldP spid="365583" grpId="0" animBg="1"/>
      <p:bldP spid="365585" grpId="0" animBg="1"/>
      <p:bldP spid="365587" grpId="0" animBg="1"/>
      <p:bldP spid="365588" grpId="0"/>
      <p:bldP spid="365589" grpId="0"/>
      <p:bldP spid="365590" grpId="0"/>
      <p:bldP spid="365591" grpId="0"/>
      <p:bldP spid="365592" grpId="0"/>
      <p:bldP spid="365593" grpId="0"/>
      <p:bldP spid="365596" grpId="0" animBg="1"/>
      <p:bldP spid="365573" grpId="0"/>
      <p:bldP spid="365594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5"/>
          <p:cNvSpPr txBox="1">
            <a:spLocks noChangeArrowheads="1"/>
          </p:cNvSpPr>
          <p:nvPr/>
        </p:nvSpPr>
        <p:spPr bwMode="auto">
          <a:xfrm>
            <a:off x="1435894" y="411957"/>
            <a:ext cx="6322219" cy="3641381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1650" dirty="0"/>
              <a:t>  &lt;</a:t>
            </a:r>
            <a:r>
              <a:rPr lang="en-US" altLang="zh-CN" sz="1650" dirty="0" smtClean="0"/>
              <a:t>servlet&gt;</a:t>
            </a:r>
            <a:endParaRPr lang="en-US" altLang="zh-CN" sz="1650" dirty="0"/>
          </a:p>
          <a:p>
            <a:pPr eaLnBrk="1" hangingPunct="1">
              <a:lnSpc>
                <a:spcPct val="140000"/>
              </a:lnSpc>
            </a:pPr>
            <a:r>
              <a:rPr lang="en-US" altLang="zh-CN" sz="1650" dirty="0"/>
              <a:t>	  &lt;servlet-name&gt;</a:t>
            </a:r>
            <a:r>
              <a:rPr lang="en-US" altLang="zh-CN" dirty="0" err="1"/>
              <a:t>FirstServlet</a:t>
            </a:r>
            <a:r>
              <a:rPr lang="en-US" altLang="zh-CN" sz="1650" dirty="0"/>
              <a:t>&lt;/servlet-name&gt;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sz="1650" dirty="0"/>
              <a:t>       &lt;servlet-class&gt;</a:t>
            </a:r>
            <a:r>
              <a:rPr lang="en-US" altLang="zh-CN" sz="1950" b="1" dirty="0" err="1">
                <a:latin typeface="Comic Sans MS" panose="030F0702030302020204" pitchFamily="66" charset="0"/>
              </a:rPr>
              <a:t>servlet.FirstServlet</a:t>
            </a:r>
            <a:r>
              <a:rPr lang="en-US" altLang="zh-CN" sz="1650" dirty="0"/>
              <a:t>&lt;/servlet-class&gt;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1650" dirty="0"/>
              <a:t>  &lt;/</a:t>
            </a:r>
            <a:r>
              <a:rPr lang="en-US" altLang="zh-CN" sz="1650" dirty="0" err="1"/>
              <a:t>serlvet</a:t>
            </a:r>
            <a:r>
              <a:rPr lang="en-US" altLang="zh-CN" sz="1650" dirty="0"/>
              <a:t>&gt;</a:t>
            </a:r>
          </a:p>
          <a:p>
            <a:pPr eaLnBrk="1" hangingPunct="1">
              <a:lnSpc>
                <a:spcPct val="125000"/>
              </a:lnSpc>
            </a:pPr>
            <a:endParaRPr lang="en-US" altLang="zh-CN" sz="1650" dirty="0"/>
          </a:p>
          <a:p>
            <a:pPr eaLnBrk="1" hangingPunct="1">
              <a:lnSpc>
                <a:spcPct val="125000"/>
              </a:lnSpc>
            </a:pPr>
            <a:r>
              <a:rPr lang="en-US" altLang="zh-CN" sz="1650" dirty="0"/>
              <a:t>  &lt;</a:t>
            </a:r>
            <a:r>
              <a:rPr lang="en-US" altLang="zh-CN" sz="1650" dirty="0" err="1"/>
              <a:t>servle</a:t>
            </a:r>
            <a:r>
              <a:rPr lang="en-US" altLang="zh-CN" sz="1650" dirty="0"/>
              <a:t>-mapping&gt;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1650" dirty="0"/>
              <a:t>	  &lt;servlet-name&gt;</a:t>
            </a:r>
            <a:r>
              <a:rPr lang="en-US" altLang="zh-CN" dirty="0" err="1"/>
              <a:t>FirstServlet</a:t>
            </a:r>
            <a:r>
              <a:rPr lang="en-US" altLang="zh-CN" sz="1650" dirty="0"/>
              <a:t>&lt;/servlet-name&gt;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1650" dirty="0"/>
              <a:t>       &lt;</a:t>
            </a:r>
            <a:r>
              <a:rPr lang="en-US" altLang="zh-CN" sz="1650" dirty="0" err="1"/>
              <a:t>url</a:t>
            </a:r>
            <a:r>
              <a:rPr lang="en-US" altLang="zh-CN" sz="1650" dirty="0"/>
              <a:t>-pattern</a:t>
            </a:r>
            <a:r>
              <a:rPr lang="en-US" altLang="zh-CN" dirty="0"/>
              <a:t>&gt;</a:t>
            </a:r>
            <a:r>
              <a:rPr lang="en-US" altLang="zh-CN" sz="2100" dirty="0">
                <a:latin typeface="Comic Sans MS" panose="030F0702030302020204" pitchFamily="66" charset="0"/>
              </a:rPr>
              <a:t>/</a:t>
            </a:r>
            <a:r>
              <a:rPr lang="en-US" altLang="zh-CN" sz="2100" dirty="0" err="1">
                <a:latin typeface="Comic Sans MS" panose="030F0702030302020204" pitchFamily="66" charset="0"/>
              </a:rPr>
              <a:t>FirstServlet</a:t>
            </a:r>
            <a:r>
              <a:rPr lang="en-US" altLang="zh-CN" sz="1650" dirty="0"/>
              <a:t>&lt;/</a:t>
            </a:r>
            <a:r>
              <a:rPr lang="en-US" altLang="zh-CN" sz="1650" dirty="0" err="1"/>
              <a:t>url</a:t>
            </a:r>
            <a:r>
              <a:rPr lang="en-US" altLang="zh-CN" sz="1650" dirty="0"/>
              <a:t>-pattern&gt;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1650" dirty="0"/>
              <a:t>  &lt;/</a:t>
            </a:r>
            <a:r>
              <a:rPr lang="en-US" altLang="zh-CN" sz="1650" dirty="0" err="1"/>
              <a:t>serlvet</a:t>
            </a:r>
            <a:r>
              <a:rPr lang="en-US" altLang="zh-CN" sz="1650" dirty="0"/>
              <a:t>-mapping&gt;</a:t>
            </a:r>
          </a:p>
          <a:p>
            <a:pPr eaLnBrk="1" hangingPunct="1">
              <a:lnSpc>
                <a:spcPct val="125000"/>
              </a:lnSpc>
            </a:pPr>
            <a:endParaRPr lang="en-US" altLang="zh-CN" sz="2100" dirty="0"/>
          </a:p>
        </p:txBody>
      </p:sp>
      <p:sp>
        <p:nvSpPr>
          <p:cNvPr id="47107" name="Line 7"/>
          <p:cNvSpPr>
            <a:spLocks noChangeShapeType="1"/>
          </p:cNvSpPr>
          <p:nvPr/>
        </p:nvSpPr>
        <p:spPr bwMode="auto">
          <a:xfrm>
            <a:off x="4950619" y="1707356"/>
            <a:ext cx="431006" cy="32385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47108" name="Text Box 8"/>
          <p:cNvSpPr txBox="1">
            <a:spLocks noChangeArrowheads="1"/>
          </p:cNvSpPr>
          <p:nvPr/>
        </p:nvSpPr>
        <p:spPr bwMode="auto">
          <a:xfrm>
            <a:off x="3977879" y="2193132"/>
            <a:ext cx="3937296" cy="360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zh-CN" altLang="en-US" dirty="0">
                <a:latin typeface="Comic Sans MS" panose="030F0702030302020204" pitchFamily="66" charset="0"/>
                <a:ea typeface="华文行楷" panose="02010800040101010101" pitchFamily="2" charset="-122"/>
              </a:rPr>
              <a:t>从</a:t>
            </a:r>
            <a:r>
              <a:rPr lang="en-US" altLang="zh-CN" sz="2100" b="1" dirty="0">
                <a:latin typeface="Comic Sans MS" panose="030F0702030302020204" pitchFamily="66" charset="0"/>
                <a:ea typeface="华文行楷" panose="02010800040101010101" pitchFamily="2" charset="-122"/>
              </a:rPr>
              <a:t>WEB-INF\classes</a:t>
            </a:r>
            <a:r>
              <a:rPr lang="zh-CN" altLang="en-US" dirty="0">
                <a:latin typeface="Comic Sans MS" panose="030F0702030302020204" pitchFamily="66" charset="0"/>
                <a:ea typeface="华文行楷" panose="02010800040101010101" pitchFamily="2" charset="-122"/>
              </a:rPr>
              <a:t>目录下定位</a:t>
            </a:r>
          </a:p>
        </p:txBody>
      </p:sp>
      <p:sp>
        <p:nvSpPr>
          <p:cNvPr id="47109" name="Line 19"/>
          <p:cNvSpPr>
            <a:spLocks noChangeShapeType="1"/>
          </p:cNvSpPr>
          <p:nvPr/>
        </p:nvSpPr>
        <p:spPr bwMode="auto">
          <a:xfrm>
            <a:off x="3275410" y="1653779"/>
            <a:ext cx="2484834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602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/>
          </p:cNvSpPr>
          <p:nvPr>
            <p:ph type="title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映射</a:t>
            </a:r>
            <a:r>
              <a:rPr lang="en-US" altLang="zh-CN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</a:p>
        </p:txBody>
      </p:sp>
      <p:sp>
        <p:nvSpPr>
          <p:cNvPr id="48131" name="Rectangle 3"/>
          <p:cNvSpPr>
            <a:spLocks noGrp="1"/>
          </p:cNvSpPr>
          <p:nvPr>
            <p:ph type="body" idx="4294967295"/>
          </p:nvPr>
        </p:nvSpPr>
        <p:spPr>
          <a:xfrm>
            <a:off x="539552" y="1017985"/>
            <a:ext cx="8064895" cy="36206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映射的</a:t>
            </a:r>
            <a:r>
              <a:rPr lang="en-US" altLang="zh-CN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形式很自由，可以加后缀名，也可以不加任何后缀名，比如，以下映射都合法：</a:t>
            </a:r>
            <a:endParaRPr lang="en-US" altLang="zh-CN" sz="187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875" dirty="0"/>
          </a:p>
          <a:p>
            <a:pPr>
              <a:lnSpc>
                <a:spcPct val="120000"/>
              </a:lnSpc>
            </a:pPr>
            <a:endParaRPr lang="en-US" altLang="zh-CN" sz="1875" dirty="0"/>
          </a:p>
          <a:p>
            <a:pPr>
              <a:lnSpc>
                <a:spcPct val="120000"/>
              </a:lnSpc>
              <a:buFont typeface="Wingdings 3" panose="05040102010807070707" pitchFamily="18" charset="2"/>
              <a:buNone/>
            </a:pPr>
            <a:endParaRPr lang="en-US" altLang="zh-CN" sz="1875" dirty="0"/>
          </a:p>
        </p:txBody>
      </p:sp>
      <p:sp>
        <p:nvSpPr>
          <p:cNvPr id="48132" name="Text Box 5"/>
          <p:cNvSpPr txBox="1">
            <a:spLocks noChangeArrowheads="1"/>
          </p:cNvSpPr>
          <p:nvPr/>
        </p:nvSpPr>
        <p:spPr bwMode="auto">
          <a:xfrm>
            <a:off x="1893094" y="2546747"/>
            <a:ext cx="5411391" cy="467436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1950"/>
              <a:t>     &lt;url-pattern&gt;</a:t>
            </a:r>
            <a:r>
              <a:rPr lang="en-US" altLang="zh-CN"/>
              <a:t>/servlet/FirstServlet</a:t>
            </a:r>
            <a:r>
              <a:rPr lang="en-US" altLang="zh-CN" sz="1950"/>
              <a:t>&lt;/url-pattern&gt;</a:t>
            </a: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1891904" y="3189685"/>
            <a:ext cx="5411390" cy="49629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1950"/>
              <a:t>     &lt;url-pattern</a:t>
            </a:r>
            <a:r>
              <a:rPr lang="en-US" altLang="zh-CN"/>
              <a:t>&gt;</a:t>
            </a:r>
            <a:r>
              <a:rPr lang="en-US" altLang="zh-CN" sz="2100"/>
              <a:t>/demo/hello.html</a:t>
            </a:r>
            <a:r>
              <a:rPr lang="en-US" altLang="zh-CN" sz="1950"/>
              <a:t>&lt;/url-pattern&gt;</a:t>
            </a:r>
          </a:p>
        </p:txBody>
      </p:sp>
      <p:sp>
        <p:nvSpPr>
          <p:cNvPr id="454662" name="Line 7"/>
          <p:cNvSpPr>
            <a:spLocks noChangeShapeType="1"/>
          </p:cNvSpPr>
          <p:nvPr/>
        </p:nvSpPr>
        <p:spPr bwMode="auto">
          <a:xfrm>
            <a:off x="4304110" y="3671888"/>
            <a:ext cx="428625" cy="37504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454663" name="Text Box 8"/>
          <p:cNvSpPr txBox="1">
            <a:spLocks noChangeArrowheads="1"/>
          </p:cNvSpPr>
          <p:nvPr/>
        </p:nvSpPr>
        <p:spPr bwMode="auto">
          <a:xfrm>
            <a:off x="4839891" y="3883819"/>
            <a:ext cx="2490938" cy="81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1950">
                <a:ea typeface="华文行楷" panose="02010800040101010101" pitchFamily="2" charset="-122"/>
              </a:rPr>
              <a:t>Tomcat</a:t>
            </a:r>
            <a:r>
              <a:rPr lang="zh-CN" altLang="en-US" sz="1950">
                <a:ea typeface="华文行楷" panose="02010800040101010101" pitchFamily="2" charset="-122"/>
              </a:rPr>
              <a:t>首先查找是否</a:t>
            </a:r>
            <a:endParaRPr lang="en-US" altLang="zh-CN" sz="1950">
              <a:ea typeface="华文行楷" panose="020108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1950">
                <a:ea typeface="华文行楷" panose="02010800040101010101" pitchFamily="2" charset="-122"/>
              </a:rPr>
              <a:t>存在映射到该路径的</a:t>
            </a:r>
            <a:endParaRPr lang="en-US" altLang="zh-CN" sz="1950">
              <a:ea typeface="华文行楷" panose="0201080004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1950">
                <a:ea typeface="华文行楷" panose="02010800040101010101" pitchFamily="2" charset="-122"/>
              </a:rPr>
              <a:t>Servlet</a:t>
            </a:r>
            <a:endParaRPr lang="zh-CN" altLang="en-US" sz="1950">
              <a:ea typeface="华文行楷" panose="02010800040101010101" pitchFamily="2" charset="-122"/>
            </a:endParaRPr>
          </a:p>
        </p:txBody>
      </p:sp>
      <p:sp>
        <p:nvSpPr>
          <p:cNvPr id="48136" name="Text Box 5"/>
          <p:cNvSpPr txBox="1">
            <a:spLocks noChangeArrowheads="1"/>
          </p:cNvSpPr>
          <p:nvPr/>
        </p:nvSpPr>
        <p:spPr bwMode="auto">
          <a:xfrm>
            <a:off x="1905000" y="1878806"/>
            <a:ext cx="5411391" cy="467436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1950"/>
              <a:t>     &lt;url-pattern&gt;</a:t>
            </a:r>
            <a:r>
              <a:rPr lang="en-US" altLang="zh-CN"/>
              <a:t>/FirstServlet</a:t>
            </a:r>
            <a:r>
              <a:rPr lang="en-US" altLang="zh-CN" sz="1950"/>
              <a:t>&lt;/url-pattern&gt;</a:t>
            </a:r>
          </a:p>
        </p:txBody>
      </p:sp>
    </p:spTree>
    <p:extLst>
      <p:ext uri="{BB962C8B-B14F-4D97-AF65-F5344CB8AC3E}">
        <p14:creationId xmlns:p14="http://schemas.microsoft.com/office/powerpoint/2010/main" val="198589627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4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54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62" grpId="0" animBg="1"/>
      <p:bldP spid="454663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/>
          </p:cNvSpPr>
          <p:nvPr>
            <p:ph type="title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40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映射</a:t>
            </a:r>
            <a:r>
              <a:rPr lang="en-US" altLang="zh-CN" sz="40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40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</a:p>
        </p:txBody>
      </p:sp>
      <p:sp>
        <p:nvSpPr>
          <p:cNvPr id="49155" name="Rectangle 3"/>
          <p:cNvSpPr>
            <a:spLocks noGrp="1"/>
          </p:cNvSpPr>
          <p:nvPr>
            <p:ph type="body" idx="4294967295"/>
          </p:nvPr>
        </p:nvSpPr>
        <p:spPr>
          <a:xfrm>
            <a:off x="1518047" y="1017985"/>
            <a:ext cx="6172200" cy="36206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映射的</a:t>
            </a:r>
            <a:r>
              <a:rPr lang="en-US" altLang="zh-CN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可以使用通配符</a:t>
            </a:r>
            <a:r>
              <a:rPr lang="en-US" altLang="zh-CN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8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 </a:t>
            </a:r>
            <a:endParaRPr lang="en-US" altLang="zh-CN" sz="187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875" dirty="0"/>
          </a:p>
        </p:txBody>
      </p:sp>
      <p:sp>
        <p:nvSpPr>
          <p:cNvPr id="455684" name="Text Box 5"/>
          <p:cNvSpPr txBox="1">
            <a:spLocks noChangeArrowheads="1"/>
          </p:cNvSpPr>
          <p:nvPr/>
        </p:nvSpPr>
        <p:spPr bwMode="auto">
          <a:xfrm>
            <a:off x="1839517" y="1553766"/>
            <a:ext cx="5411390" cy="4566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1950" dirty="0"/>
              <a:t>     &lt;</a:t>
            </a:r>
            <a:r>
              <a:rPr lang="en-US" altLang="zh-CN" sz="1950" dirty="0" err="1"/>
              <a:t>url</a:t>
            </a:r>
            <a:r>
              <a:rPr lang="en-US" altLang="zh-CN" sz="1950" dirty="0"/>
              <a:t>-pattern&gt;</a:t>
            </a:r>
            <a:r>
              <a:rPr lang="en-US" altLang="zh-CN" sz="2100" b="1" dirty="0"/>
              <a:t>/*</a:t>
            </a:r>
            <a:r>
              <a:rPr lang="en-US" altLang="zh-CN" sz="1950" dirty="0"/>
              <a:t>&lt;/</a:t>
            </a:r>
            <a:r>
              <a:rPr lang="en-US" altLang="zh-CN" sz="1950" dirty="0" err="1"/>
              <a:t>url</a:t>
            </a:r>
            <a:r>
              <a:rPr lang="en-US" altLang="zh-CN" sz="1950" dirty="0"/>
              <a:t>-pattern&gt;</a:t>
            </a:r>
          </a:p>
        </p:txBody>
      </p:sp>
      <p:sp>
        <p:nvSpPr>
          <p:cNvPr id="455685" name="Text Box 5"/>
          <p:cNvSpPr txBox="1">
            <a:spLocks noChangeArrowheads="1"/>
          </p:cNvSpPr>
          <p:nvPr/>
        </p:nvSpPr>
        <p:spPr bwMode="auto">
          <a:xfrm>
            <a:off x="1785938" y="2786062"/>
            <a:ext cx="5411391" cy="4566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1950" dirty="0"/>
              <a:t>     &lt;</a:t>
            </a:r>
            <a:r>
              <a:rPr lang="en-US" altLang="zh-CN" sz="1950" dirty="0" err="1"/>
              <a:t>url</a:t>
            </a:r>
            <a:r>
              <a:rPr lang="en-US" altLang="zh-CN" sz="1950" dirty="0"/>
              <a:t>-pattern&gt;</a:t>
            </a:r>
            <a:r>
              <a:rPr lang="en-US" altLang="zh-CN" sz="2100" b="1" dirty="0"/>
              <a:t>/servlet/*</a:t>
            </a:r>
            <a:r>
              <a:rPr lang="en-US" altLang="zh-CN" sz="1950" dirty="0"/>
              <a:t>&lt;/</a:t>
            </a:r>
            <a:r>
              <a:rPr lang="en-US" altLang="zh-CN" sz="1950" dirty="0" err="1"/>
              <a:t>url</a:t>
            </a:r>
            <a:r>
              <a:rPr lang="en-US" altLang="zh-CN" sz="1950" dirty="0"/>
              <a:t>-pattern&gt;</a:t>
            </a:r>
          </a:p>
        </p:txBody>
      </p:sp>
      <p:sp>
        <p:nvSpPr>
          <p:cNvPr id="455686" name="Text Box 5"/>
          <p:cNvSpPr txBox="1">
            <a:spLocks noChangeArrowheads="1"/>
          </p:cNvSpPr>
          <p:nvPr/>
        </p:nvSpPr>
        <p:spPr bwMode="auto">
          <a:xfrm>
            <a:off x="1732360" y="4018360"/>
            <a:ext cx="5411390" cy="4566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1950" dirty="0"/>
              <a:t>     &lt;</a:t>
            </a:r>
            <a:r>
              <a:rPr lang="en-US" altLang="zh-CN" sz="1950" dirty="0" err="1"/>
              <a:t>url</a:t>
            </a:r>
            <a:r>
              <a:rPr lang="en-US" altLang="zh-CN" sz="1950" dirty="0"/>
              <a:t>-pattern&gt; </a:t>
            </a:r>
            <a:r>
              <a:rPr lang="en-US" altLang="zh-CN" sz="2100" b="1" dirty="0"/>
              <a:t>*.do</a:t>
            </a:r>
            <a:r>
              <a:rPr lang="en-US" altLang="zh-CN" sz="1950" dirty="0"/>
              <a:t>&lt;/</a:t>
            </a:r>
            <a:r>
              <a:rPr lang="en-US" altLang="zh-CN" sz="1950" dirty="0" err="1"/>
              <a:t>url</a:t>
            </a:r>
            <a:r>
              <a:rPr lang="en-US" altLang="zh-CN" sz="1950" dirty="0"/>
              <a:t>-pattern&gt;</a:t>
            </a:r>
          </a:p>
        </p:txBody>
      </p:sp>
      <p:sp>
        <p:nvSpPr>
          <p:cNvPr id="455687" name="Line 7"/>
          <p:cNvSpPr>
            <a:spLocks noChangeShapeType="1"/>
          </p:cNvSpPr>
          <p:nvPr/>
        </p:nvSpPr>
        <p:spPr bwMode="auto">
          <a:xfrm>
            <a:off x="3821907" y="1982391"/>
            <a:ext cx="750094" cy="214313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455688" name="Text Box 8"/>
          <p:cNvSpPr txBox="1">
            <a:spLocks noChangeArrowheads="1"/>
          </p:cNvSpPr>
          <p:nvPr/>
        </p:nvSpPr>
        <p:spPr bwMode="auto">
          <a:xfrm>
            <a:off x="4625579" y="2089548"/>
            <a:ext cx="3078956" cy="33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zh-CN" altLang="en-US">
                <a:ea typeface="华文行楷" panose="02010800040101010101" pitchFamily="2" charset="-122"/>
              </a:rPr>
              <a:t>匹配</a:t>
            </a:r>
            <a:r>
              <a:rPr lang="zh-CN" altLang="en-US" sz="1950">
                <a:ea typeface="华文行楷" panose="02010800040101010101" pitchFamily="2" charset="-122"/>
              </a:rPr>
              <a:t>当前</a:t>
            </a:r>
            <a:r>
              <a:rPr lang="zh-CN" altLang="en-US">
                <a:ea typeface="华文行楷" panose="02010800040101010101" pitchFamily="2" charset="-122"/>
              </a:rPr>
              <a:t>应用下的所有</a:t>
            </a:r>
            <a:r>
              <a:rPr lang="en-US" altLang="zh-CN">
                <a:ea typeface="华文行楷" panose="02010800040101010101" pitchFamily="2" charset="-122"/>
              </a:rPr>
              <a:t>URL</a:t>
            </a:r>
            <a:endParaRPr lang="zh-CN" altLang="en-US">
              <a:ea typeface="华文行楷" panose="02010800040101010101" pitchFamily="2" charset="-122"/>
            </a:endParaRPr>
          </a:p>
        </p:txBody>
      </p:sp>
      <p:sp>
        <p:nvSpPr>
          <p:cNvPr id="455689" name="Line 7"/>
          <p:cNvSpPr>
            <a:spLocks noChangeShapeType="1"/>
          </p:cNvSpPr>
          <p:nvPr/>
        </p:nvSpPr>
        <p:spPr bwMode="auto">
          <a:xfrm>
            <a:off x="3821907" y="3268266"/>
            <a:ext cx="750094" cy="214313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455690" name="Text Box 8"/>
          <p:cNvSpPr txBox="1">
            <a:spLocks noChangeArrowheads="1"/>
          </p:cNvSpPr>
          <p:nvPr/>
        </p:nvSpPr>
        <p:spPr bwMode="auto">
          <a:xfrm>
            <a:off x="4625579" y="3375422"/>
            <a:ext cx="2893219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zh-CN" altLang="en-US" sz="1950">
                <a:ea typeface="华文行楷" panose="02010800040101010101" pitchFamily="2" charset="-122"/>
              </a:rPr>
              <a:t>匹配当前应用下</a:t>
            </a:r>
            <a:r>
              <a:rPr lang="en-US" altLang="zh-CN" sz="1950">
                <a:ea typeface="华文行楷" panose="02010800040101010101" pitchFamily="2" charset="-122"/>
              </a:rPr>
              <a:t>servlet</a:t>
            </a:r>
            <a:r>
              <a:rPr lang="zh-CN" altLang="en-US" sz="1950">
                <a:ea typeface="华文行楷" panose="02010800040101010101" pitchFamily="2" charset="-122"/>
              </a:rPr>
              <a:t>子路径下的所有</a:t>
            </a:r>
            <a:r>
              <a:rPr lang="en-US" altLang="zh-CN" sz="1950">
                <a:ea typeface="华文行楷" panose="02010800040101010101" pitchFamily="2" charset="-122"/>
              </a:rPr>
              <a:t>URL</a:t>
            </a:r>
            <a:endParaRPr lang="zh-CN" altLang="en-US" sz="1950">
              <a:ea typeface="华文行楷" panose="02010800040101010101" pitchFamily="2" charset="-122"/>
            </a:endParaRPr>
          </a:p>
        </p:txBody>
      </p:sp>
      <p:sp>
        <p:nvSpPr>
          <p:cNvPr id="455691" name="Line 7"/>
          <p:cNvSpPr>
            <a:spLocks noChangeShapeType="1"/>
          </p:cNvSpPr>
          <p:nvPr/>
        </p:nvSpPr>
        <p:spPr bwMode="auto">
          <a:xfrm>
            <a:off x="3821907" y="4393406"/>
            <a:ext cx="750094" cy="214313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455692" name="Text Box 8"/>
          <p:cNvSpPr txBox="1">
            <a:spLocks noChangeArrowheads="1"/>
          </p:cNvSpPr>
          <p:nvPr/>
        </p:nvSpPr>
        <p:spPr bwMode="auto">
          <a:xfrm>
            <a:off x="4625579" y="4500563"/>
            <a:ext cx="3078956" cy="33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zh-CN" altLang="en-US" sz="1950">
                <a:ea typeface="华文行楷" panose="02010800040101010101" pitchFamily="2" charset="-122"/>
              </a:rPr>
              <a:t>匹配以</a:t>
            </a:r>
            <a:r>
              <a:rPr lang="en-US" altLang="zh-CN" sz="1950">
                <a:ea typeface="华文行楷" panose="02010800040101010101" pitchFamily="2" charset="-122"/>
              </a:rPr>
              <a:t>.do</a:t>
            </a:r>
            <a:r>
              <a:rPr lang="zh-CN" altLang="en-US" sz="1950">
                <a:ea typeface="华文行楷" panose="02010800040101010101" pitchFamily="2" charset="-122"/>
              </a:rPr>
              <a:t>结束的所有</a:t>
            </a:r>
            <a:r>
              <a:rPr lang="en-US" altLang="zh-CN" sz="1950">
                <a:ea typeface="华文行楷" panose="02010800040101010101" pitchFamily="2" charset="-122"/>
              </a:rPr>
              <a:t>URL</a:t>
            </a:r>
            <a:endParaRPr lang="zh-CN" altLang="en-US" sz="1950"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481811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5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55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55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55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55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55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55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55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55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4" grpId="0" animBg="1"/>
      <p:bldP spid="455685" grpId="0" animBg="1"/>
      <p:bldP spid="455686" grpId="0" animBg="1"/>
      <p:bldP spid="455687" grpId="0" animBg="1"/>
      <p:bldP spid="455688" grpId="0"/>
      <p:bldP spid="455689" grpId="0" animBg="1"/>
      <p:bldP spid="455690" grpId="0"/>
      <p:bldP spid="455691" grpId="0" animBg="1"/>
      <p:bldP spid="45569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9" y="7305"/>
            <a:ext cx="8772754" cy="514350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179512" y="1347614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788024" y="4587974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"/>
          <p:cNvSpPr txBox="1">
            <a:spLocks/>
          </p:cNvSpPr>
          <p:nvPr/>
        </p:nvSpPr>
        <p:spPr bwMode="auto">
          <a:xfrm>
            <a:off x="6948264" y="4011910"/>
            <a:ext cx="2016224" cy="85725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指定首先访问的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9970212"/>
      </p:ext>
    </p:extLst>
  </p:cSld>
  <p:clrMapOvr>
    <a:masterClrMapping/>
  </p:clrMapOvr>
  <p:transition spd="med">
    <p:random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/>
          </p:cNvSpPr>
          <p:nvPr>
            <p:ph type="title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过程小结</a:t>
            </a:r>
          </a:p>
        </p:txBody>
      </p:sp>
      <p:sp>
        <p:nvSpPr>
          <p:cNvPr id="50179" name="Rectangle 3"/>
          <p:cNvSpPr>
            <a:spLocks noGrp="1"/>
          </p:cNvSpPr>
          <p:nvPr>
            <p:ph type="body" idx="4294967295"/>
          </p:nvPr>
        </p:nvSpPr>
        <p:spPr>
          <a:xfrm>
            <a:off x="395536" y="1110854"/>
            <a:ext cx="8352928" cy="36206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类继承</a:t>
            </a:r>
            <a:r>
              <a:rPr lang="en-US" altLang="zh-CN" sz="2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HttpServlet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，重写其中的</a:t>
            </a:r>
            <a:r>
              <a:rPr lang="en-US" altLang="zh-CN" sz="2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doGet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doPost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  <a:p>
            <a:pPr>
              <a:lnSpc>
                <a:spcPct val="120000"/>
              </a:lnSpc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编译后的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文件存储在服务器的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\WEB-INF\classes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目录下</a:t>
            </a:r>
          </a:p>
          <a:p>
            <a:pPr>
              <a:lnSpc>
                <a:spcPct val="120000"/>
              </a:lnSpc>
            </a:pP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\WEB-INF\web.xml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文件中配置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的对外访问路径</a:t>
            </a:r>
          </a:p>
          <a:p>
            <a:pPr lvl="1">
              <a:lnSpc>
                <a:spcPct val="120000"/>
              </a:lnSpc>
              <a:buFont typeface="Verdana" panose="020B0604030504040204" pitchFamily="34" charset="0"/>
              <a:buChar char="▪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参考示例中的配置</a:t>
            </a:r>
          </a:p>
          <a:p>
            <a:pPr lvl="1">
              <a:lnSpc>
                <a:spcPct val="120000"/>
              </a:lnSpc>
              <a:buFont typeface="Verdana" panose="020B0604030504040204" pitchFamily="34" charset="0"/>
              <a:buChar char="▪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在开发目录下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048592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1" name="Rectangle 3"/>
          <p:cNvSpPr>
            <a:spLocks noGrp="1"/>
          </p:cNvSpPr>
          <p:nvPr>
            <p:ph type="body" idx="4294967295"/>
          </p:nvPr>
        </p:nvSpPr>
        <p:spPr>
          <a:xfrm>
            <a:off x="1485900" y="1110854"/>
            <a:ext cx="6172200" cy="3620690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ct val="20000"/>
              </a:spcAft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掌握通过普通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类编写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web.xml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文件配置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访问路径的原理</a:t>
            </a:r>
          </a:p>
          <a:p>
            <a:pPr>
              <a:lnSpc>
                <a:spcPct val="120000"/>
              </a:lnSpc>
              <a:spcAft>
                <a:spcPct val="20000"/>
              </a:spcAft>
            </a:pP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工程中的</a:t>
            </a:r>
            <a:r>
              <a:rPr lang="en-US" altLang="zh-CN" sz="2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向导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</a:p>
          <a:p>
            <a:pPr>
              <a:lnSpc>
                <a:spcPct val="120000"/>
              </a:lnSpc>
            </a:pPr>
            <a:endParaRPr lang="zh-CN" altLang="en-US" sz="2100" dirty="0"/>
          </a:p>
        </p:txBody>
      </p:sp>
    </p:spTree>
    <p:extLst>
      <p:ext uri="{BB962C8B-B14F-4D97-AF65-F5344CB8AC3E}">
        <p14:creationId xmlns:p14="http://schemas.microsoft.com/office/powerpoint/2010/main" val="57260556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7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/>
          </p:cNvSpPr>
          <p:nvPr>
            <p:ph type="title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工程</a:t>
            </a:r>
            <a:r>
              <a:rPr lang="en-US" altLang="zh-CN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向导</a:t>
            </a:r>
          </a:p>
        </p:txBody>
      </p:sp>
      <p:sp>
        <p:nvSpPr>
          <p:cNvPr id="52227" name="Rectangle 3"/>
          <p:cNvSpPr>
            <a:spLocks noGrp="1"/>
          </p:cNvSpPr>
          <p:nvPr>
            <p:ph type="body" idx="4294967295"/>
          </p:nvPr>
        </p:nvSpPr>
        <p:spPr>
          <a:xfrm>
            <a:off x="683568" y="1203598"/>
            <a:ext cx="7074545" cy="3384575"/>
          </a:xfrm>
        </p:spPr>
        <p:txBody>
          <a:bodyPr/>
          <a:lstStyle/>
          <a:p>
            <a:pPr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 Web Project</a:t>
            </a:r>
          </a:p>
          <a:p>
            <a:pPr lvl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Font typeface="Verdana" panose="020B0604030504040204" pitchFamily="34" charset="0"/>
              <a:buChar char="▪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 API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包（包括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JavaEE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的其它一些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包）被自动导入</a:t>
            </a:r>
          </a:p>
          <a:p>
            <a:pPr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工作目录下新建一个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</a:p>
          <a:p>
            <a:pPr lvl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Font typeface="Verdana" panose="020B0604030504040204" pitchFamily="34" charset="0"/>
              <a:buChar char="▪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良好习惯：建在包下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Font typeface="Verdana" panose="020B0604030504040204" pitchFamily="34" charset="0"/>
              <a:buChar char="▪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重写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doGet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doPost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  <a:p>
            <a:pPr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Servlet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web.xml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文件中的注册和映射由向导自动完成</a:t>
            </a:r>
          </a:p>
        </p:txBody>
      </p:sp>
    </p:spTree>
    <p:extLst>
      <p:ext uri="{BB962C8B-B14F-4D97-AF65-F5344CB8AC3E}">
        <p14:creationId xmlns:p14="http://schemas.microsoft.com/office/powerpoint/2010/main" val="212104389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5"/>
          <p:cNvSpPr txBox="1">
            <a:spLocks noChangeArrowheads="1"/>
          </p:cNvSpPr>
          <p:nvPr/>
        </p:nvSpPr>
        <p:spPr bwMode="auto">
          <a:xfrm>
            <a:off x="4518422" y="4407694"/>
            <a:ext cx="34163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000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黑体" panose="02010609060101010101" pitchFamily="49" charset="-122"/>
                <a:ea typeface="华文行楷" panose="02010800040101010101" pitchFamily="2" charset="-122"/>
                <a:cs typeface="Arial Unicode MS" panose="020B0604020202020204" pitchFamily="34" charset="-122"/>
              </a:rPr>
              <a:t>src</a:t>
            </a:r>
            <a:r>
              <a:rPr lang="zh-CN" altLang="en-US">
                <a:latin typeface="黑体" panose="02010609060101010101" pitchFamily="49" charset="-122"/>
                <a:ea typeface="华文行楷" panose="02010800040101010101" pitchFamily="2" charset="-122"/>
                <a:cs typeface="Arial Unicode MS" panose="020B0604020202020204" pitchFamily="34" charset="-122"/>
              </a:rPr>
              <a:t>下直接选择新建一个</a:t>
            </a:r>
            <a:r>
              <a:rPr lang="en-US" altLang="zh-CN">
                <a:latin typeface="黑体" panose="02010609060101010101" pitchFamily="49" charset="-122"/>
                <a:ea typeface="华文行楷" panose="02010800040101010101" pitchFamily="2" charset="-122"/>
                <a:cs typeface="Arial Unicode MS" panose="020B0604020202020204" pitchFamily="34" charset="-122"/>
              </a:rPr>
              <a:t>Servlet</a:t>
            </a:r>
          </a:p>
        </p:txBody>
      </p:sp>
      <p:pic>
        <p:nvPicPr>
          <p:cNvPr id="5325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085" y="1383506"/>
            <a:ext cx="5075634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732390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438" y="379810"/>
            <a:ext cx="4199335" cy="4494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0869" name="Rectangle 5"/>
          <p:cNvSpPr>
            <a:spLocks noChangeArrowheads="1"/>
          </p:cNvSpPr>
          <p:nvPr/>
        </p:nvSpPr>
        <p:spPr bwMode="auto">
          <a:xfrm>
            <a:off x="3330179" y="1383506"/>
            <a:ext cx="2159794" cy="215504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0870" name="AutoShape 6"/>
          <p:cNvSpPr>
            <a:spLocks noChangeArrowheads="1"/>
          </p:cNvSpPr>
          <p:nvPr/>
        </p:nvSpPr>
        <p:spPr bwMode="auto">
          <a:xfrm>
            <a:off x="5300662" y="627460"/>
            <a:ext cx="2700338" cy="594122"/>
          </a:xfrm>
          <a:prstGeom prst="wedgeRectCallout">
            <a:avLst>
              <a:gd name="adj1" fmla="val -70722"/>
              <a:gd name="adj2" fmla="val 66431"/>
            </a:avLst>
          </a:prstGeom>
          <a:gradFill rotWithShape="1">
            <a:gsLst>
              <a:gs pos="0">
                <a:schemeClr val="accent1">
                  <a:alpha val="92000"/>
                </a:scheme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 anchorCtr="1"/>
          <a:lstStyle/>
          <a:p>
            <a:pPr marL="300038" indent="-300038">
              <a:defRPr/>
            </a:pP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良好习惯：建在包下</a:t>
            </a:r>
          </a:p>
          <a:p>
            <a:pPr marL="300038" indent="-300038">
              <a:defRPr/>
            </a:pP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在此取包名</a:t>
            </a:r>
            <a:endParaRPr lang="zh-CN" altLang="en-US" sz="2100" b="1">
              <a:solidFill>
                <a:schemeClr val="accent2"/>
              </a:solidFill>
              <a:latin typeface="Arial" charset="0"/>
              <a:ea typeface="微软雅黑" pitchFamily="34" charset="-122"/>
              <a:cs typeface="Arial" charset="0"/>
            </a:endParaRPr>
          </a:p>
        </p:txBody>
      </p:sp>
      <p:sp>
        <p:nvSpPr>
          <p:cNvPr id="420871" name="Rectangle 7"/>
          <p:cNvSpPr>
            <a:spLocks noChangeArrowheads="1"/>
          </p:cNvSpPr>
          <p:nvPr/>
        </p:nvSpPr>
        <p:spPr bwMode="auto">
          <a:xfrm>
            <a:off x="3330179" y="1869281"/>
            <a:ext cx="2159794" cy="215504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0872" name="AutoShape 8"/>
          <p:cNvSpPr>
            <a:spLocks noChangeArrowheads="1"/>
          </p:cNvSpPr>
          <p:nvPr/>
        </p:nvSpPr>
        <p:spPr bwMode="auto">
          <a:xfrm>
            <a:off x="5300662" y="1275160"/>
            <a:ext cx="2700338" cy="485775"/>
          </a:xfrm>
          <a:prstGeom prst="wedgeRectCallout">
            <a:avLst>
              <a:gd name="adj1" fmla="val -70722"/>
              <a:gd name="adj2" fmla="val 70097"/>
            </a:avLst>
          </a:prstGeom>
          <a:gradFill rotWithShape="1">
            <a:gsLst>
              <a:gs pos="0">
                <a:schemeClr val="accent1">
                  <a:alpha val="92000"/>
                </a:scheme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 anchorCtr="1"/>
          <a:lstStyle/>
          <a:p>
            <a:pPr marL="300038" indent="-300038">
              <a:defRPr/>
            </a:pPr>
            <a:r>
              <a:rPr lang="en-US" altLang="zh-CN">
                <a:latin typeface="Arial" charset="0"/>
                <a:ea typeface="微软雅黑" pitchFamily="34" charset="-122"/>
                <a:cs typeface="Arial" charset="0"/>
              </a:rPr>
              <a:t>Servlet</a:t>
            </a: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类名</a:t>
            </a:r>
            <a:endParaRPr lang="en-US" altLang="zh-CN" sz="2100" b="1">
              <a:solidFill>
                <a:schemeClr val="accent2"/>
              </a:solidFill>
              <a:latin typeface="Arial" charset="0"/>
              <a:ea typeface="微软雅黑" pitchFamily="34" charset="-122"/>
              <a:cs typeface="Arial" charset="0"/>
            </a:endParaRPr>
          </a:p>
        </p:txBody>
      </p:sp>
      <p:sp>
        <p:nvSpPr>
          <p:cNvPr id="420873" name="Rectangle 9"/>
          <p:cNvSpPr>
            <a:spLocks noChangeArrowheads="1"/>
          </p:cNvSpPr>
          <p:nvPr/>
        </p:nvSpPr>
        <p:spPr bwMode="auto">
          <a:xfrm>
            <a:off x="3330179" y="2409825"/>
            <a:ext cx="2159794" cy="215504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0874" name="AutoShape 10"/>
          <p:cNvSpPr>
            <a:spLocks noChangeArrowheads="1"/>
          </p:cNvSpPr>
          <p:nvPr/>
        </p:nvSpPr>
        <p:spPr bwMode="auto">
          <a:xfrm>
            <a:off x="5300662" y="2680097"/>
            <a:ext cx="2700338" cy="485775"/>
          </a:xfrm>
          <a:prstGeom prst="wedgeRectCallout">
            <a:avLst>
              <a:gd name="adj1" fmla="val -68519"/>
              <a:gd name="adj2" fmla="val -56616"/>
            </a:avLst>
          </a:prstGeom>
          <a:gradFill rotWithShape="1">
            <a:gsLst>
              <a:gs pos="0">
                <a:schemeClr val="accent1">
                  <a:alpha val="92000"/>
                </a:scheme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 anchorCtr="1"/>
          <a:lstStyle/>
          <a:p>
            <a:pPr marL="300038" indent="-300038">
              <a:defRPr/>
            </a:pP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自动继承</a:t>
            </a:r>
            <a:r>
              <a:rPr lang="en-US" altLang="zh-CN">
                <a:latin typeface="Arial" charset="0"/>
                <a:ea typeface="微软雅黑" pitchFamily="34" charset="-122"/>
                <a:cs typeface="Arial" charset="0"/>
              </a:rPr>
              <a:t>HttpServlet</a:t>
            </a:r>
            <a:endParaRPr lang="en-US" altLang="zh-CN" sz="2100" b="1">
              <a:solidFill>
                <a:schemeClr val="accent2"/>
              </a:solidFill>
              <a:latin typeface="Arial" charset="0"/>
              <a:ea typeface="微软雅黑" pitchFamily="34" charset="-122"/>
              <a:cs typeface="Arial" charset="0"/>
            </a:endParaRPr>
          </a:p>
        </p:txBody>
      </p:sp>
      <p:sp>
        <p:nvSpPr>
          <p:cNvPr id="420875" name="Rectangle 11"/>
          <p:cNvSpPr>
            <a:spLocks noChangeArrowheads="1"/>
          </p:cNvSpPr>
          <p:nvPr/>
        </p:nvSpPr>
        <p:spPr bwMode="auto">
          <a:xfrm>
            <a:off x="3330178" y="3543300"/>
            <a:ext cx="2538413" cy="702469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0876" name="AutoShape 12"/>
          <p:cNvSpPr>
            <a:spLocks noChangeArrowheads="1"/>
          </p:cNvSpPr>
          <p:nvPr/>
        </p:nvSpPr>
        <p:spPr bwMode="auto">
          <a:xfrm>
            <a:off x="6030516" y="3327797"/>
            <a:ext cx="1970484" cy="485775"/>
          </a:xfrm>
          <a:prstGeom prst="wedgeRectCallout">
            <a:avLst>
              <a:gd name="adj1" fmla="val -57917"/>
              <a:gd name="adj2" fmla="val 115194"/>
            </a:avLst>
          </a:prstGeom>
          <a:gradFill rotWithShape="1">
            <a:gsLst>
              <a:gs pos="0">
                <a:schemeClr val="accent1">
                  <a:alpha val="92000"/>
                </a:scheme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 anchorCtr="1"/>
          <a:lstStyle/>
          <a:p>
            <a:pPr marL="300038" indent="-300038">
              <a:defRPr/>
            </a:pP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自动生成的方法</a:t>
            </a:r>
            <a:endParaRPr lang="en-US" altLang="zh-CN" sz="2100" b="1">
              <a:solidFill>
                <a:schemeClr val="accent2"/>
              </a:solidFill>
              <a:latin typeface="Arial" charset="0"/>
              <a:ea typeface="微软雅黑" pitchFamily="34" charset="-122"/>
              <a:cs typeface="Arial" charset="0"/>
            </a:endParaRPr>
          </a:p>
        </p:txBody>
      </p:sp>
      <p:sp>
        <p:nvSpPr>
          <p:cNvPr id="420879" name="Rectangle 15"/>
          <p:cNvSpPr>
            <a:spLocks noChangeArrowheads="1"/>
          </p:cNvSpPr>
          <p:nvPr/>
        </p:nvSpPr>
        <p:spPr bwMode="auto">
          <a:xfrm>
            <a:off x="4248151" y="4569619"/>
            <a:ext cx="917972" cy="269081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0880" name="AutoShape 16"/>
          <p:cNvSpPr>
            <a:spLocks noChangeArrowheads="1"/>
          </p:cNvSpPr>
          <p:nvPr/>
        </p:nvSpPr>
        <p:spPr bwMode="auto">
          <a:xfrm>
            <a:off x="4868466" y="4083844"/>
            <a:ext cx="3132534" cy="485775"/>
          </a:xfrm>
          <a:prstGeom prst="wedgeRectCallout">
            <a:avLst>
              <a:gd name="adj1" fmla="val -60528"/>
              <a:gd name="adj2" fmla="val 51718"/>
            </a:avLst>
          </a:prstGeom>
          <a:gradFill rotWithShape="1">
            <a:gsLst>
              <a:gs pos="0">
                <a:schemeClr val="accent1">
                  <a:alpha val="92000"/>
                </a:scheme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 anchorCtr="1"/>
          <a:lstStyle/>
          <a:p>
            <a:pPr marL="300038" indent="-300038">
              <a:defRPr/>
            </a:pP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点击</a:t>
            </a:r>
            <a:r>
              <a:rPr lang="en-US" altLang="zh-CN">
                <a:latin typeface="Arial" charset="0"/>
                <a:ea typeface="微软雅黑" pitchFamily="34" charset="-122"/>
                <a:cs typeface="Arial" charset="0"/>
              </a:rPr>
              <a:t>Next</a:t>
            </a: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，进行注册和映射</a:t>
            </a:r>
            <a:endParaRPr lang="zh-CN" altLang="en-US" sz="2100" b="1">
              <a:solidFill>
                <a:schemeClr val="accent2"/>
              </a:solidFill>
              <a:latin typeface="Arial" charset="0"/>
              <a:ea typeface="微软雅黑" pitchFamily="34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38253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2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20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0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20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0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20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20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20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4208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4208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20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9" grpId="0" animBg="1"/>
      <p:bldP spid="420870" grpId="0" animBg="1"/>
      <p:bldP spid="420871" grpId="0" animBg="1"/>
      <p:bldP spid="420872" grpId="0" animBg="1"/>
      <p:bldP spid="420873" grpId="0" animBg="1"/>
      <p:bldP spid="420874" grpId="0" animBg="1"/>
      <p:bldP spid="420875" grpId="0" animBg="1"/>
      <p:bldP spid="420875" grpId="1" animBg="1"/>
      <p:bldP spid="420876" grpId="0" animBg="1"/>
      <p:bldP spid="420876" grpId="1" animBg="1"/>
      <p:bldP spid="420879" grpId="0" animBg="1"/>
      <p:bldP spid="420880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281" y="303610"/>
            <a:ext cx="4252913" cy="4536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1893" name="Rectangle 5"/>
          <p:cNvSpPr>
            <a:spLocks noChangeArrowheads="1"/>
          </p:cNvSpPr>
          <p:nvPr/>
        </p:nvSpPr>
        <p:spPr bwMode="auto">
          <a:xfrm>
            <a:off x="2303860" y="1383507"/>
            <a:ext cx="3888581" cy="702469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1894" name="AutoShape 6"/>
          <p:cNvSpPr>
            <a:spLocks noChangeArrowheads="1"/>
          </p:cNvSpPr>
          <p:nvPr/>
        </p:nvSpPr>
        <p:spPr bwMode="auto">
          <a:xfrm>
            <a:off x="4842272" y="2733675"/>
            <a:ext cx="3024188" cy="864394"/>
          </a:xfrm>
          <a:prstGeom prst="wedgeRectCallout">
            <a:avLst>
              <a:gd name="adj1" fmla="val -36417"/>
              <a:gd name="adj2" fmla="val -120523"/>
            </a:avLst>
          </a:prstGeom>
          <a:gradFill rotWithShape="1">
            <a:gsLst>
              <a:gs pos="0">
                <a:schemeClr val="accent1">
                  <a:alpha val="92000"/>
                </a:scheme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 anchorCtr="1"/>
          <a:lstStyle/>
          <a:p>
            <a:pPr marL="300038" indent="-300038">
              <a:defRPr/>
            </a:pP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自动配置的注册名、实际</a:t>
            </a:r>
          </a:p>
          <a:p>
            <a:pPr marL="300038" indent="-300038">
              <a:defRPr/>
            </a:pP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类名和映射的访问路径，</a:t>
            </a:r>
          </a:p>
          <a:p>
            <a:pPr marL="300038" indent="-300038">
              <a:defRPr/>
            </a:pP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可以修改</a:t>
            </a:r>
            <a:endParaRPr lang="zh-CN" altLang="en-US" sz="2100" b="1">
              <a:solidFill>
                <a:schemeClr val="accent2"/>
              </a:solidFill>
              <a:latin typeface="Arial" charset="0"/>
              <a:ea typeface="微软雅黑" pitchFamily="34" charset="-122"/>
              <a:cs typeface="Arial" charset="0"/>
            </a:endParaRPr>
          </a:p>
        </p:txBody>
      </p:sp>
      <p:sp>
        <p:nvSpPr>
          <p:cNvPr id="421895" name="Rectangle 7"/>
          <p:cNvSpPr>
            <a:spLocks noChangeArrowheads="1"/>
          </p:cNvSpPr>
          <p:nvPr/>
        </p:nvSpPr>
        <p:spPr bwMode="auto">
          <a:xfrm>
            <a:off x="2303860" y="1006079"/>
            <a:ext cx="1565672" cy="323850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1896" name="AutoShape 8"/>
          <p:cNvSpPr>
            <a:spLocks noChangeArrowheads="1"/>
          </p:cNvSpPr>
          <p:nvPr/>
        </p:nvSpPr>
        <p:spPr bwMode="auto">
          <a:xfrm>
            <a:off x="4356497" y="627460"/>
            <a:ext cx="3509963" cy="756047"/>
          </a:xfrm>
          <a:prstGeom prst="wedgeRectCallout">
            <a:avLst>
              <a:gd name="adj1" fmla="val -63671"/>
              <a:gd name="adj2" fmla="val 20551"/>
            </a:avLst>
          </a:prstGeom>
          <a:gradFill rotWithShape="1">
            <a:gsLst>
              <a:gs pos="0">
                <a:schemeClr val="accent1">
                  <a:alpha val="92000"/>
                </a:scheme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 anchorCtr="1"/>
          <a:lstStyle/>
          <a:p>
            <a:pPr marL="300038" indent="-300038">
              <a:defRPr/>
            </a:pPr>
            <a:r>
              <a:rPr lang="en-US" altLang="zh-CN">
                <a:latin typeface="Arial" charset="0"/>
                <a:ea typeface="微软雅黑" pitchFamily="34" charset="-122"/>
                <a:cs typeface="Arial" charset="0"/>
              </a:rPr>
              <a:t>web.xml</a:t>
            </a: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文件中自动生成配置信息</a:t>
            </a:r>
            <a:endParaRPr lang="zh-CN" altLang="en-US" sz="2100" b="1">
              <a:solidFill>
                <a:schemeClr val="accent2"/>
              </a:solidFill>
              <a:latin typeface="Arial" charset="0"/>
              <a:ea typeface="微软雅黑" pitchFamily="34" charset="-122"/>
              <a:cs typeface="Arial" charset="0"/>
            </a:endParaRPr>
          </a:p>
        </p:txBody>
      </p:sp>
      <p:sp>
        <p:nvSpPr>
          <p:cNvPr id="421897" name="Rectangle 9"/>
          <p:cNvSpPr>
            <a:spLocks noChangeArrowheads="1"/>
          </p:cNvSpPr>
          <p:nvPr/>
        </p:nvSpPr>
        <p:spPr bwMode="auto">
          <a:xfrm>
            <a:off x="4895850" y="4517232"/>
            <a:ext cx="863204" cy="269081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1898" name="AutoShape 10"/>
          <p:cNvSpPr>
            <a:spLocks noChangeArrowheads="1"/>
          </p:cNvSpPr>
          <p:nvPr/>
        </p:nvSpPr>
        <p:spPr bwMode="auto">
          <a:xfrm>
            <a:off x="5489973" y="4030266"/>
            <a:ext cx="1134665" cy="323850"/>
          </a:xfrm>
          <a:prstGeom prst="wedgeRectCallout">
            <a:avLst>
              <a:gd name="adj1" fmla="val -59759"/>
              <a:gd name="adj2" fmla="val 121690"/>
            </a:avLst>
          </a:prstGeom>
          <a:gradFill rotWithShape="1">
            <a:gsLst>
              <a:gs pos="0">
                <a:schemeClr val="accent1">
                  <a:alpha val="92000"/>
                </a:scheme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 anchorCtr="1"/>
          <a:lstStyle/>
          <a:p>
            <a:pPr marL="300038" indent="-300038">
              <a:defRPr/>
            </a:pPr>
            <a:r>
              <a:rPr lang="zh-CN" altLang="en-US">
                <a:latin typeface="Arial" charset="0"/>
                <a:ea typeface="微软雅黑" pitchFamily="34" charset="-122"/>
                <a:cs typeface="Arial" charset="0"/>
              </a:rPr>
              <a:t>完成</a:t>
            </a:r>
            <a:endParaRPr lang="zh-CN" altLang="en-US" sz="2100" b="1">
              <a:solidFill>
                <a:schemeClr val="accent2"/>
              </a:solidFill>
              <a:latin typeface="Arial" charset="0"/>
              <a:ea typeface="微软雅黑" pitchFamily="34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54811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2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2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2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3" grpId="0" animBg="1"/>
      <p:bldP spid="421894" grpId="0" animBg="1"/>
      <p:bldP spid="421895" grpId="0" animBg="1"/>
      <p:bldP spid="421896" grpId="0" animBg="1"/>
      <p:bldP spid="421897" grpId="0" animBg="1"/>
      <p:bldP spid="421898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组合 22"/>
          <p:cNvGrpSpPr/>
          <p:nvPr/>
        </p:nvGrpSpPr>
        <p:grpSpPr>
          <a:xfrm>
            <a:off x="0" y="-2052637"/>
            <a:ext cx="4103688" cy="4105275"/>
            <a:chOff x="6804248" y="267494"/>
            <a:chExt cx="4104456" cy="4104456"/>
          </a:xfrm>
        </p:grpSpPr>
        <p:sp>
          <p:nvSpPr>
            <p:cNvPr id="24" name="菱形 23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菱形 24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3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459" name="组合 25"/>
          <p:cNvGrpSpPr/>
          <p:nvPr/>
        </p:nvGrpSpPr>
        <p:grpSpPr>
          <a:xfrm>
            <a:off x="0" y="3090863"/>
            <a:ext cx="4103688" cy="4105275"/>
            <a:chOff x="6804248" y="267494"/>
            <a:chExt cx="4104456" cy="4104456"/>
          </a:xfrm>
        </p:grpSpPr>
        <p:sp>
          <p:nvSpPr>
            <p:cNvPr id="27" name="菱形 26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菱形 27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4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072063" y="3143250"/>
            <a:ext cx="9525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3130">
              <a:buClrTx/>
              <a:buSzTx/>
              <a:buFontTx/>
              <a:defRPr/>
            </a:pP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Thanks</a:t>
            </a:r>
          </a:p>
        </p:txBody>
      </p:sp>
      <p:sp>
        <p:nvSpPr>
          <p:cNvPr id="20" name="菱形 19"/>
          <p:cNvSpPr/>
          <p:nvPr/>
        </p:nvSpPr>
        <p:spPr>
          <a:xfrm>
            <a:off x="-2160587" y="411163"/>
            <a:ext cx="4321175" cy="432117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4786313" y="2214563"/>
            <a:ext cx="162083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3130">
              <a:buClrTx/>
              <a:buSzTx/>
              <a:buFontTx/>
              <a:defRPr/>
            </a:pPr>
            <a:r>
              <a:rPr kumimoji="0" lang="zh-CN" altLang="en-US" sz="2800" b="1" kern="1200" cap="none" spc="0" normalizeH="0" baseline="0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感谢聆听</a:t>
            </a:r>
            <a:endParaRPr kumimoji="0" lang="zh-CN" altLang="en-US" sz="2800" b="1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自定义 1157">
      <a:dk1>
        <a:sysClr val="windowText" lastClr="000000"/>
      </a:dk1>
      <a:lt1>
        <a:sysClr val="window" lastClr="FFFFFF"/>
      </a:lt1>
      <a:dk2>
        <a:srgbClr val="464646"/>
      </a:dk2>
      <a:lt2>
        <a:srgbClr val="7F7F7F"/>
      </a:lt2>
      <a:accent1>
        <a:srgbClr val="39639D"/>
      </a:accent1>
      <a:accent2>
        <a:srgbClr val="A5A5A5"/>
      </a:accent2>
      <a:accent3>
        <a:srgbClr val="39639D"/>
      </a:accent3>
      <a:accent4>
        <a:srgbClr val="A5A5A5"/>
      </a:accent4>
      <a:accent5>
        <a:srgbClr val="39639D"/>
      </a:accent5>
      <a:accent6>
        <a:srgbClr val="A5A5A5"/>
      </a:accent6>
      <a:hlink>
        <a:srgbClr val="FF8119"/>
      </a:hlink>
      <a:folHlink>
        <a:srgbClr val="44B9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2013</Words>
  <Application>Microsoft Office PowerPoint</Application>
  <PresentationFormat>全屏显示(16:9)</PresentationFormat>
  <Paragraphs>342</Paragraphs>
  <Slides>99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99</vt:i4>
      </vt:variant>
    </vt:vector>
  </HeadingPairs>
  <TitlesOfParts>
    <vt:vector size="115" baseType="lpstr">
      <vt:lpstr>Arial Unicode MS</vt:lpstr>
      <vt:lpstr>FZ 粗圆简体</vt:lpstr>
      <vt:lpstr>黑体</vt:lpstr>
      <vt:lpstr>华文行楷</vt:lpstr>
      <vt:lpstr>宋体</vt:lpstr>
      <vt:lpstr>微软雅黑</vt:lpstr>
      <vt:lpstr>Arial</vt:lpstr>
      <vt:lpstr>Calibri</vt:lpstr>
      <vt:lpstr>Comic Sans MS</vt:lpstr>
      <vt:lpstr>Consolas</vt:lpstr>
      <vt:lpstr>Verdana</vt:lpstr>
      <vt:lpstr>Wingdings</vt:lpstr>
      <vt:lpstr>Wingdings 3</vt:lpstr>
      <vt:lpstr>Office 主题​​</vt:lpstr>
      <vt:lpstr>Visio</vt:lpstr>
      <vt:lpstr>Image</vt:lpstr>
      <vt:lpstr>PowerPoint 演示文稿</vt:lpstr>
      <vt:lpstr>PowerPoint 演示文稿</vt:lpstr>
      <vt:lpstr>Web浏览器访问动态资源</vt:lpstr>
      <vt:lpstr>PowerPoint 演示文稿</vt:lpstr>
      <vt:lpstr>Servlet的作用</vt:lpstr>
      <vt:lpstr>由程序动态生成HTML页面</vt:lpstr>
      <vt:lpstr>PowerPoint 演示文稿</vt:lpstr>
      <vt:lpstr>服务器端技术VS客户端技术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理解Servlet的方法： 1、看Servlet规范 </vt:lpstr>
      <vt:lpstr>PowerPoint 演示文稿</vt:lpstr>
      <vt:lpstr>https://github.com/waylau/servlet-3.1-specification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理解Servlet的方法： 1、看Servlet规范 2、看源代码：Servlet规范的具体实现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Servlet的编写和访问</vt:lpstr>
      <vt:lpstr>第一个Servlet</vt:lpstr>
      <vt:lpstr>PowerPoint 演示文稿</vt:lpstr>
      <vt:lpstr>PowerPoint 演示文稿</vt:lpstr>
      <vt:lpstr>PowerPoint 演示文稿</vt:lpstr>
      <vt:lpstr>编写Servlet</vt:lpstr>
      <vt:lpstr>Servlet API</vt:lpstr>
      <vt:lpstr>PowerPoint 演示文稿</vt:lpstr>
      <vt:lpstr>PowerPoint 演示文稿</vt:lpstr>
      <vt:lpstr>编写普通Java类，使其成为Servlet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访问Servlet</vt:lpstr>
      <vt:lpstr>Servlet的存储</vt:lpstr>
      <vt:lpstr>Servlet在 Web应用中的位置</vt:lpstr>
      <vt:lpstr>PowerPoint 演示文稿</vt:lpstr>
      <vt:lpstr>Servlet的注册与映射</vt:lpstr>
      <vt:lpstr>PowerPoint 演示文稿</vt:lpstr>
      <vt:lpstr>PowerPoint 演示文稿</vt:lpstr>
      <vt:lpstr>PowerPoint 演示文稿</vt:lpstr>
      <vt:lpstr>PowerPoint 演示文稿</vt:lpstr>
      <vt:lpstr>web.xml</vt:lpstr>
      <vt:lpstr>注册Servlet</vt:lpstr>
      <vt:lpstr>PowerPoint 演示文稿</vt:lpstr>
      <vt:lpstr>映射Servlet</vt:lpstr>
      <vt:lpstr>PowerPoint 演示文稿</vt:lpstr>
      <vt:lpstr>PowerPoint 演示文稿</vt:lpstr>
      <vt:lpstr>主机站点根目录和Web应用根目录</vt:lpstr>
      <vt:lpstr>PowerPoint 演示文稿</vt:lpstr>
      <vt:lpstr>PowerPoint 演示文稿</vt:lpstr>
      <vt:lpstr>PowerPoint 演示文稿</vt:lpstr>
      <vt:lpstr>映射Servlet说明</vt:lpstr>
      <vt:lpstr>映射Servlet说明</vt:lpstr>
      <vt:lpstr>PowerPoint 演示文稿</vt:lpstr>
      <vt:lpstr>过程小结</vt:lpstr>
      <vt:lpstr>PowerPoint 演示文稿</vt:lpstr>
      <vt:lpstr>Web工程Servlet向导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</dc:title>
  <dc:creator>USER</dc:creator>
  <cp:lastModifiedBy>niexuhai@outlook.com</cp:lastModifiedBy>
  <cp:revision>2383</cp:revision>
  <dcterms:created xsi:type="dcterms:W3CDTF">2014-11-09T01:07:00Z</dcterms:created>
  <dcterms:modified xsi:type="dcterms:W3CDTF">2020-11-06T01:42:47Z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RubyTemplateID">
    <vt:lpwstr>13</vt:lpwstr>
  </property>
</Properties>
</file>