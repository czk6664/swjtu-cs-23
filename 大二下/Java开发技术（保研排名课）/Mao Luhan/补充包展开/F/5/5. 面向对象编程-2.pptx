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1"/>
  </p:handoutMasterIdLst>
  <p:sldIdLst>
    <p:sldId id="732" r:id="rId3"/>
    <p:sldId id="654" r:id="rId4"/>
    <p:sldId id="655" r:id="rId6"/>
    <p:sldId id="656" r:id="rId7"/>
    <p:sldId id="657" r:id="rId8"/>
    <p:sldId id="658" r:id="rId9"/>
    <p:sldId id="659" r:id="rId10"/>
    <p:sldId id="660" r:id="rId11"/>
    <p:sldId id="661" r:id="rId12"/>
    <p:sldId id="662" r:id="rId13"/>
    <p:sldId id="663" r:id="rId14"/>
    <p:sldId id="664" r:id="rId15"/>
    <p:sldId id="665" r:id="rId16"/>
    <p:sldId id="666" r:id="rId17"/>
    <p:sldId id="667" r:id="rId18"/>
    <p:sldId id="668" r:id="rId19"/>
    <p:sldId id="669" r:id="rId20"/>
    <p:sldId id="670" r:id="rId21"/>
    <p:sldId id="671" r:id="rId22"/>
    <p:sldId id="672" r:id="rId23"/>
    <p:sldId id="673" r:id="rId24"/>
    <p:sldId id="674" r:id="rId25"/>
    <p:sldId id="675" r:id="rId26"/>
    <p:sldId id="677" r:id="rId27"/>
    <p:sldId id="678" r:id="rId28"/>
    <p:sldId id="679" r:id="rId29"/>
    <p:sldId id="680" r:id="rId30"/>
    <p:sldId id="681" r:id="rId31"/>
    <p:sldId id="682" r:id="rId32"/>
    <p:sldId id="683" r:id="rId33"/>
    <p:sldId id="684" r:id="rId34"/>
    <p:sldId id="685" r:id="rId35"/>
    <p:sldId id="686" r:id="rId36"/>
    <p:sldId id="687" r:id="rId37"/>
    <p:sldId id="688" r:id="rId38"/>
    <p:sldId id="689" r:id="rId39"/>
    <p:sldId id="690" r:id="rId40"/>
    <p:sldId id="691" r:id="rId41"/>
    <p:sldId id="692" r:id="rId42"/>
    <p:sldId id="693" r:id="rId43"/>
    <p:sldId id="694" r:id="rId44"/>
    <p:sldId id="695" r:id="rId45"/>
    <p:sldId id="696" r:id="rId46"/>
    <p:sldId id="697" r:id="rId47"/>
    <p:sldId id="698" r:id="rId48"/>
    <p:sldId id="699" r:id="rId49"/>
    <p:sldId id="700" r:id="rId50"/>
    <p:sldId id="701" r:id="rId51"/>
    <p:sldId id="702" r:id="rId52"/>
    <p:sldId id="703" r:id="rId53"/>
    <p:sldId id="704" r:id="rId54"/>
    <p:sldId id="705" r:id="rId55"/>
    <p:sldId id="706" r:id="rId56"/>
    <p:sldId id="707" r:id="rId57"/>
    <p:sldId id="708" r:id="rId58"/>
    <p:sldId id="709" r:id="rId59"/>
    <p:sldId id="710" r:id="rId60"/>
    <p:sldId id="711" r:id="rId61"/>
    <p:sldId id="712" r:id="rId62"/>
    <p:sldId id="713" r:id="rId63"/>
    <p:sldId id="714" r:id="rId64"/>
    <p:sldId id="715" r:id="rId65"/>
    <p:sldId id="716" r:id="rId66"/>
    <p:sldId id="718" r:id="rId67"/>
    <p:sldId id="719" r:id="rId68"/>
    <p:sldId id="720" r:id="rId69"/>
    <p:sldId id="721" r:id="rId70"/>
    <p:sldId id="722" r:id="rId71"/>
    <p:sldId id="723" r:id="rId72"/>
    <p:sldId id="724" r:id="rId73"/>
    <p:sldId id="725" r:id="rId74"/>
    <p:sldId id="726" r:id="rId75"/>
    <p:sldId id="727" r:id="rId76"/>
    <p:sldId id="728" r:id="rId77"/>
    <p:sldId id="729" r:id="rId78"/>
    <p:sldId id="730" r:id="rId79"/>
    <p:sldId id="731" r:id="rId8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BFFFE"/>
    <a:srgbClr val="EDF5FD"/>
    <a:srgbClr val="852C09"/>
    <a:srgbClr val="FCF1DC"/>
    <a:srgbClr val="FFCC99"/>
    <a:srgbClr val="E2F5FE"/>
    <a:srgbClr val="FFFFF3"/>
    <a:srgbClr val="FF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1" autoAdjust="0"/>
    <p:restoredTop sz="93778" autoAdjust="0"/>
  </p:normalViewPr>
  <p:slideViewPr>
    <p:cSldViewPr>
      <p:cViewPr varScale="1">
        <p:scale>
          <a:sx n="83" d="100"/>
          <a:sy n="83" d="100"/>
        </p:scale>
        <p:origin x="1454" y="91"/>
      </p:cViewPr>
      <p:guideLst>
        <p:guide orient="horz" pos="2160"/>
        <p:guide orient="horz" pos="3074"/>
        <p:guide pos="2880"/>
      </p:guideLst>
    </p:cSldViewPr>
  </p:slideViewPr>
  <p:outlineViewPr>
    <p:cViewPr>
      <p:scale>
        <a:sx n="33" d="100"/>
        <a:sy n="33" d="100"/>
      </p:scale>
      <p:origin x="0" y="13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handoutMaster" Target="handoutMasters/handoutMaster1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1AAE3AA-C553-48B0-85CB-3F3F6F2DFF46}" type="slidenum">
              <a:rPr lang="zh-CN" altLang="en-GB" sz="1100"/>
            </a:fld>
            <a:endParaRPr lang="en-GB" altLang="zh-CN" sz="11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E24406E-A6DA-4888-AC48-A9187866117D}" type="slidenum">
              <a:rPr lang="en-US" altLang="zh-CN" sz="1200">
                <a:ea typeface="楷体_GB2312"/>
                <a:cs typeface="楷体_GB2312"/>
              </a:rPr>
            </a:fld>
            <a:endParaRPr lang="en-US" altLang="zh-CN" sz="1200">
              <a:ea typeface="楷体_GB2312"/>
              <a:cs typeface="楷体_GB2312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496C12F-DE06-40FB-B93E-7CDE9FCA5F5F}" type="slidenum">
              <a:rPr lang="zh-CN" altLang="en-GB" sz="1100"/>
            </a:fld>
            <a:endParaRPr lang="en-GB" altLang="zh-CN" sz="11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C1A6B37-8575-4A55-91BE-8A4447879F2E}" type="slidenum">
              <a:rPr lang="zh-CN" altLang="en-GB" sz="1100"/>
            </a:fld>
            <a:endParaRPr lang="en-GB" altLang="zh-CN" sz="11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7963EBA-7005-49A6-8242-BD63496938B6}" type="slidenum">
              <a:rPr lang="zh-CN" altLang="en-GB" sz="1100"/>
            </a:fld>
            <a:endParaRPr lang="en-GB" altLang="zh-CN" sz="11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85C8105-0268-4C59-B523-79C2EC5A45B6}" type="slidenum">
              <a:rPr lang="zh-CN" altLang="en-GB" sz="1100"/>
            </a:fld>
            <a:endParaRPr lang="en-GB" altLang="zh-CN" sz="11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4475DFA-FD09-4AC7-BDFE-067A38E9A149}" type="slidenum">
              <a:rPr lang="zh-CN" altLang="en-GB" sz="1100"/>
            </a:fld>
            <a:endParaRPr lang="en-GB" altLang="zh-CN" sz="11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21A5F6F-C66B-4363-9CB7-3E349F94B67C}" type="slidenum">
              <a:rPr lang="zh-CN" altLang="en-GB" sz="1100"/>
            </a:fld>
            <a:endParaRPr lang="en-GB" altLang="zh-CN" sz="11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CD1DD79-C4A8-4A0B-A63E-902FC2B01186}" type="slidenum">
              <a:rPr lang="zh-CN" altLang="en-GB" sz="1100"/>
            </a:fld>
            <a:endParaRPr lang="en-GB" altLang="zh-CN" sz="11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6677C5A-70D3-4981-8B16-11C1281566F4}" type="slidenum">
              <a:rPr lang="zh-CN" altLang="en-GB" sz="1100"/>
            </a:fld>
            <a:endParaRPr lang="en-GB" altLang="zh-CN" sz="11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C343852-C464-44C5-807A-90645D07A1ED}" type="slidenum">
              <a:rPr lang="zh-CN" altLang="en-GB" sz="1100"/>
            </a:fld>
            <a:endParaRPr lang="en-GB" altLang="zh-CN" sz="11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565C6F2-9DD7-4FA2-A391-EE9AE38397EE}" type="slidenum">
              <a:rPr lang="zh-CN" altLang="en-GB" sz="1100"/>
            </a:fld>
            <a:endParaRPr lang="en-GB" altLang="zh-CN" sz="11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646BA4D-554B-442D-B177-DDD8D3E71BBB}" type="slidenum">
              <a:rPr lang="zh-CN" altLang="en-GB" sz="1100"/>
            </a:fld>
            <a:endParaRPr lang="en-GB" altLang="zh-CN" sz="11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6A6502A-CFFF-4505-9E46-E4CD153852FA}" type="slidenum">
              <a:rPr lang="zh-CN" altLang="en-GB" sz="1100"/>
            </a:fld>
            <a:endParaRPr lang="en-GB" altLang="zh-CN" sz="11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062EBF8-97A0-467B-8E14-CB87FE054813}" type="slidenum">
              <a:rPr lang="zh-CN" altLang="en-GB" sz="1100"/>
            </a:fld>
            <a:endParaRPr lang="en-GB" altLang="zh-CN" sz="11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622D114-E458-4647-AEBF-5EFF9DB5E99C}" type="slidenum">
              <a:rPr lang="zh-CN" altLang="en-GB" sz="1100"/>
            </a:fld>
            <a:endParaRPr lang="en-GB" altLang="zh-CN" sz="11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CDB061A-F2CC-417E-B42A-2CB2D9BB36F8}" type="slidenum">
              <a:rPr lang="zh-CN" altLang="en-GB" sz="1100"/>
            </a:fld>
            <a:endParaRPr lang="en-GB" altLang="zh-CN" sz="11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0253FA1-4D33-4D2F-991A-EAC042523F3D}" type="slidenum">
              <a:rPr lang="zh-CN" altLang="en-GB" sz="1100"/>
            </a:fld>
            <a:endParaRPr lang="en-GB" altLang="zh-CN" sz="11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E3FAF50-F856-4AC4-A15D-FC6DC3E5F368}" type="slidenum">
              <a:rPr lang="zh-CN" altLang="en-GB" sz="1100"/>
            </a:fld>
            <a:endParaRPr lang="en-GB" altLang="zh-CN" sz="11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C7B65A7-EA80-473F-A74A-EB464CA7F3AF}" type="slidenum">
              <a:rPr lang="zh-CN" altLang="en-GB" sz="1100"/>
            </a:fld>
            <a:endParaRPr lang="en-GB" altLang="zh-CN" sz="11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E537409-E5CD-4AFD-B9C5-6AC5D5B577C2}" type="slidenum">
              <a:rPr lang="zh-CN" altLang="en-GB" sz="1100"/>
            </a:fld>
            <a:endParaRPr lang="en-GB" altLang="zh-CN" sz="11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5B008D0-5BE2-4423-9EB7-46CDDC412B21}" type="slidenum">
              <a:rPr lang="zh-CN" altLang="en-GB" sz="1100"/>
            </a:fld>
            <a:endParaRPr lang="en-GB" altLang="zh-CN" sz="11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9D1ACFC-7D6B-4625-9FC8-B14CAE53154C}" type="slidenum">
              <a:rPr lang="zh-CN" altLang="en-GB" sz="1100"/>
            </a:fld>
            <a:endParaRPr lang="en-GB" altLang="zh-CN" sz="11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4619990-D8B8-4B31-9384-B21BF32A95B2}" type="slidenum">
              <a:rPr lang="zh-CN" altLang="en-GB" sz="1100"/>
            </a:fld>
            <a:endParaRPr lang="en-GB" altLang="zh-CN" sz="11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CA7E9F6-8F2E-4BAA-82F3-74256FBCDB25}" type="slidenum">
              <a:rPr lang="zh-CN" altLang="en-GB" sz="1100"/>
            </a:fld>
            <a:endParaRPr lang="en-GB" altLang="zh-CN" sz="11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98AAB2B-A084-48D4-BD85-D00883B4F88D}" type="slidenum">
              <a:rPr lang="zh-CN" altLang="en-GB" sz="1100"/>
            </a:fld>
            <a:endParaRPr lang="en-GB" altLang="zh-CN" sz="11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46E857E-1718-420C-96F6-C41BB581D89A}" type="slidenum">
              <a:rPr lang="zh-CN" altLang="en-GB" sz="1100"/>
            </a:fld>
            <a:endParaRPr lang="en-GB" altLang="zh-CN" sz="11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C669F31-5EB7-4951-8417-91DA3686E3F1}" type="slidenum">
              <a:rPr lang="zh-CN" altLang="en-GB" sz="1100"/>
            </a:fld>
            <a:endParaRPr lang="en-GB" altLang="zh-CN" sz="11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944BFAA-5144-4F2A-A0D5-BBC47A96A665}" type="slidenum">
              <a:rPr lang="zh-CN" altLang="en-GB" sz="1100"/>
            </a:fld>
            <a:endParaRPr lang="en-GB" altLang="zh-CN" sz="11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82743CA-07B1-4D7E-83BD-A4E455CF6E07}" type="slidenum">
              <a:rPr lang="zh-CN" altLang="en-GB" sz="1100"/>
            </a:fld>
            <a:endParaRPr lang="en-GB" altLang="zh-CN" sz="11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628DB79-4663-46FC-AEA1-F6FE808E3CEB}" type="slidenum">
              <a:rPr lang="zh-CN" altLang="en-GB" sz="1100"/>
            </a:fld>
            <a:endParaRPr lang="en-GB" altLang="zh-CN" sz="11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1F972F8-0B8C-4178-AC40-578ECCD357A9}" type="slidenum">
              <a:rPr lang="zh-CN" altLang="en-GB" sz="1100"/>
            </a:fld>
            <a:endParaRPr lang="en-GB" altLang="zh-CN" sz="11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B79C399-1FAB-47BF-867E-E84852513DA3}" type="slidenum">
              <a:rPr lang="en-US" altLang="zh-CN" sz="1200">
                <a:ea typeface="楷体_GB2312"/>
                <a:cs typeface="楷体_GB2312"/>
              </a:rPr>
            </a:fld>
            <a:endParaRPr lang="en-US" altLang="zh-CN" sz="1200">
              <a:ea typeface="楷体_GB2312"/>
              <a:cs typeface="楷体_GB2312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630A951-AED5-44DE-ABEB-824E690F5ED9}" type="slidenum">
              <a:rPr lang="zh-CN" altLang="en-GB" sz="1100"/>
            </a:fld>
            <a:endParaRPr lang="en-GB" altLang="zh-CN" sz="11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FC1DD2C-2C5F-4766-986F-3783CA976A70}" type="slidenum">
              <a:rPr lang="zh-CN" altLang="en-GB" sz="1100"/>
            </a:fld>
            <a:endParaRPr lang="en-GB" altLang="zh-CN" sz="11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43163" y="6677025"/>
            <a:ext cx="2889250" cy="2166938"/>
          </a:xfrm>
        </p:spPr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B2D3EC09-EBE7-4207-82BF-6158569E7DAB}" type="slidenum">
              <a:rPr lang="zh-CN" altLang="en-GB" sz="1100"/>
            </a:fld>
            <a:endParaRPr lang="en-GB" altLang="zh-CN" sz="11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474712D-EC30-4542-A6EA-117C80398404}" type="slidenum">
              <a:rPr lang="zh-CN" altLang="en-GB" sz="1100"/>
            </a:fld>
            <a:endParaRPr lang="en-GB" altLang="zh-CN" sz="11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6C342D9-AC70-4321-AF2B-53B4FA0E5930}" type="slidenum">
              <a:rPr lang="zh-CN" altLang="en-GB" sz="1100"/>
            </a:fld>
            <a:endParaRPr lang="en-GB" altLang="zh-CN" sz="11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05DA2E9-2ED3-449B-AE38-C17FDAFCF909}" type="slidenum">
              <a:rPr lang="zh-CN" altLang="en-GB" sz="1100"/>
            </a:fld>
            <a:endParaRPr lang="en-GB" altLang="zh-CN" sz="11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91440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E811923-FB6B-4513-9E21-8839D247F69F}" type="slidenum">
              <a:rPr lang="en-US" altLang="zh-CN" sz="1200">
                <a:ea typeface="楷体_GB2312"/>
                <a:cs typeface="楷体_GB2312"/>
              </a:rPr>
            </a:fld>
            <a:endParaRPr lang="en-US" altLang="zh-CN" sz="1200">
              <a:ea typeface="楷体_GB2312"/>
              <a:cs typeface="楷体_GB2312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F80B621-61DA-4382-B4B3-1C634A2CFAF9}" type="slidenum">
              <a:rPr lang="zh-CN" altLang="en-GB" sz="1100"/>
            </a:fld>
            <a:endParaRPr lang="en-GB" altLang="zh-CN" sz="11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74863" y="6343650"/>
            <a:ext cx="3241675" cy="2430463"/>
          </a:xfrm>
        </p:spPr>
      </p:sp>
      <p:sp>
        <p:nvSpPr>
          <p:cNvPr id="128004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2A9EFC2-0DF1-4F18-B972-616AA259B1E8}" type="slidenum">
              <a:rPr lang="zh-CN" altLang="en-GB" sz="1100"/>
            </a:fld>
            <a:endParaRPr lang="en-GB" altLang="zh-CN" sz="11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039D656-F124-484A-B4E8-77E7C1C1E340}" type="slidenum">
              <a:rPr lang="zh-CN" altLang="en-GB" sz="1100"/>
            </a:fld>
            <a:endParaRPr lang="en-GB" altLang="zh-CN" sz="11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A373125-29BF-4EBE-A79B-DDD86C926FA6}" type="slidenum">
              <a:rPr lang="zh-CN" altLang="en-GB" sz="1100"/>
            </a:fld>
            <a:endParaRPr lang="en-GB" altLang="zh-CN" sz="11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A463D75-F09C-4D7C-88DA-CE00063228C3}" type="slidenum">
              <a:rPr lang="zh-CN" altLang="en-GB" sz="1100"/>
            </a:fld>
            <a:endParaRPr lang="en-GB" altLang="zh-CN" sz="11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4EF06DB-7F17-47AE-A0C3-2BBBCDAE4BB0}" type="slidenum">
              <a:rPr lang="zh-CN" altLang="en-GB" sz="1100"/>
            </a:fld>
            <a:endParaRPr lang="en-GB" altLang="zh-CN" sz="11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6995178-3E79-4DDB-B98F-EB8EC2C41342}" type="slidenum">
              <a:rPr lang="zh-CN" altLang="en-GB" sz="1100"/>
            </a:fld>
            <a:endParaRPr lang="en-GB" altLang="zh-CN" sz="11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4D650FC-CE38-46D6-A19C-756A2CBE97B0}" type="slidenum">
              <a:rPr lang="zh-CN" altLang="en-GB" sz="1100"/>
            </a:fld>
            <a:endParaRPr lang="en-GB" altLang="zh-CN" sz="11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/>
              <a:t>***********************</a:t>
            </a:r>
            <a:r>
              <a:rPr lang="en-US" altLang="zh-CN" smtClean="0"/>
              <a:t>2011/10/19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F9D938F-87C3-4299-87F0-62B5CFD9A178}" type="slidenum">
              <a:rPr lang="zh-CN" altLang="en-GB" sz="1100"/>
            </a:fld>
            <a:endParaRPr lang="en-GB" altLang="zh-CN" sz="11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5426131-1E52-42D4-9881-4EDDE19A6077}" type="slidenum">
              <a:rPr lang="zh-CN" altLang="en-GB" sz="1100"/>
            </a:fld>
            <a:endParaRPr lang="en-GB" altLang="zh-CN" sz="11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730C219-0F2C-47D0-820B-7E57B85089A8}" type="slidenum">
              <a:rPr lang="zh-CN" altLang="en-GB" sz="1100"/>
            </a:fld>
            <a:endParaRPr lang="en-GB" altLang="zh-CN" sz="11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FDA13E0-790D-435B-87F5-7AE557CB1F8B}" type="slidenum">
              <a:rPr lang="zh-CN" altLang="en-GB" sz="1100"/>
            </a:fld>
            <a:endParaRPr lang="en-GB" altLang="zh-CN" sz="11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E8CD0B6-472E-4786-B0FE-24D4D6405EA5}" type="slidenum">
              <a:rPr lang="zh-CN" altLang="en-GB" sz="1100"/>
            </a:fld>
            <a:endParaRPr lang="en-GB" altLang="zh-CN" sz="11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GB" smtClean="0"/>
          </a:p>
          <a:p>
            <a:pPr eaLnBrk="1" hangingPunct="1"/>
            <a:endParaRPr lang="zh-CN" altLang="en-GB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BA1ADD8-DCD8-457E-A750-B4752D611DF1}" type="slidenum">
              <a:rPr lang="zh-CN" altLang="en-GB" sz="1100"/>
            </a:fld>
            <a:endParaRPr lang="en-GB" altLang="zh-CN" sz="11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D555340-60DF-449E-9652-2C1777AEB1E6}" type="slidenum">
              <a:rPr lang="zh-CN" altLang="en-GB" sz="1100"/>
            </a:fld>
            <a:endParaRPr lang="en-GB" altLang="zh-CN" sz="11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C1AECE7-69EE-4D00-A130-CE106CA65AA9}" type="slidenum">
              <a:rPr lang="zh-CN" altLang="en-GB" sz="1100"/>
            </a:fld>
            <a:endParaRPr lang="en-GB" altLang="zh-CN" sz="11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595B68E-2ADD-4335-A54F-793E9BD94C2F}" type="slidenum">
              <a:rPr lang="zh-CN" altLang="en-GB" sz="1100"/>
            </a:fld>
            <a:endParaRPr lang="en-GB" altLang="zh-CN" sz="11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F3D63FB-836B-499D-8136-1ABC1A716972}" type="slidenum">
              <a:rPr lang="zh-CN" altLang="en-GB" sz="1100"/>
            </a:fld>
            <a:endParaRPr lang="en-GB" altLang="zh-CN" sz="11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6" name="Rectangle 4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494300F-3EE8-44CA-BE28-325BC353DC73}" type="slidenum">
              <a:rPr lang="zh-CN" altLang="en-GB" sz="1100"/>
            </a:fld>
            <a:endParaRPr lang="en-GB" altLang="zh-CN" sz="11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08F604D-5BA5-4906-91E2-224FA7ED7FCE}" type="slidenum">
              <a:rPr lang="zh-CN" altLang="en-GB" sz="1100"/>
            </a:fld>
            <a:endParaRPr lang="en-GB" altLang="zh-CN" sz="11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339F540-5E35-4A87-AF79-2C1C429F17FE}" type="slidenum">
              <a:rPr lang="zh-CN" altLang="en-GB" sz="1100"/>
            </a:fld>
            <a:endParaRPr lang="en-GB" altLang="zh-CN" sz="11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D2AF402-F2AC-4DC4-B66C-00C2A9036A20}" type="slidenum">
              <a:rPr lang="zh-CN" altLang="en-GB" sz="1100"/>
            </a:fld>
            <a:endParaRPr lang="en-GB" altLang="zh-CN" sz="11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85800" indent="-263525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5537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477010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899285" indent="-210820" defTabSz="875030" eaLnBrk="0" hangingPunct="0"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2092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743200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16547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587115" indent="-210820" defTabSz="875030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C6DA02C-68AF-47D7-8016-F52BC2A094C7}" type="slidenum">
              <a:rPr lang="zh-CN" altLang="en-GB" sz="1100"/>
            </a:fld>
            <a:endParaRPr lang="en-GB" altLang="zh-CN" sz="11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1276351"/>
            <a:ext cx="7645398" cy="5010170"/>
          </a:xfrm>
        </p:spPr>
        <p:txBody>
          <a:bodyPr/>
          <a:lstStyle>
            <a:lvl1pPr>
              <a:buSzPct val="80000"/>
              <a:buFontTx/>
              <a:buBlip>
                <a:blip r:embed="rId2"/>
              </a:buBlip>
              <a:defRPr b="1">
                <a:latin typeface="+mn-lt"/>
              </a:defRPr>
            </a:lvl1pPr>
            <a:lvl2pPr>
              <a:buSzPct val="100000"/>
              <a:buFontTx/>
              <a:buBlip>
                <a:blip r:embed="rId3"/>
              </a:buBlip>
              <a:defRPr b="1">
                <a:latin typeface="+mn-lt"/>
              </a:defRPr>
            </a:lvl2pPr>
            <a:lvl3pPr>
              <a:buClr>
                <a:schemeClr val="tx2"/>
              </a:buClr>
              <a:buSzPct val="85000"/>
              <a:buFontTx/>
              <a:buBlip>
                <a:blip r:embed="rId4"/>
              </a:buBlip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8756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2875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276350"/>
            <a:ext cx="3889375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5" y="1276350"/>
            <a:ext cx="3889375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938963" y="6421438"/>
            <a:ext cx="2133600" cy="365125"/>
          </a:xfrm>
        </p:spPr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7213" y="80963"/>
            <a:ext cx="2057400" cy="64436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013" y="80963"/>
            <a:ext cx="6019800" cy="64436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/39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276350"/>
            <a:ext cx="7931150" cy="524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Tx/>
              <a:buBlip>
                <a:blip r:embed="rId12"/>
              </a:buBlip>
            </a:pPr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Blip>
                <a:blip r:embed="rId13"/>
              </a:buBlip>
            </a:pPr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35013" y="80963"/>
            <a:ext cx="8229600" cy="900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38963" y="6421438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dirty="0" smtClean="0"/>
              <a:t>/40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Blip>
          <a:blip r:embed="rId12"/>
        </a:buBlip>
        <a:defRPr lang="zh-CN" altLang="en-US" sz="2800" b="1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Blip>
          <a:blip r:embed="rId13"/>
        </a:buBlip>
        <a:defRPr lang="zh-CN" altLang="en-US" sz="2400" b="1" dirty="0" smtClean="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Blip>
          <a:blip r:embed="rId14"/>
        </a:buBlip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94C29D-ED0C-453C-8BBC-C52F19F5BA76}" type="slidenum">
              <a:rPr lang="zh-CN" altLang="en-US" smtClean="0"/>
            </a:fld>
            <a:r>
              <a:rPr lang="en-US" altLang="zh-CN" smtClean="0"/>
              <a:t>/39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535856" y="3340331"/>
            <a:ext cx="13131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400" dirty="0" smtClean="0"/>
              <a:t>继承</a:t>
            </a:r>
            <a:endParaRPr lang="zh-CN" altLang="en-GB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3CAFB140-FB87-4778-9908-BD624592B82E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  <a:endParaRPr lang="zh-CN" altLang="en-GB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GB" dirty="0" smtClean="0">
                <a:solidFill>
                  <a:srgbClr val="FF0000"/>
                </a:solidFill>
              </a:rPr>
              <a:t>1 类的继承</a:t>
            </a:r>
            <a:endParaRPr lang="zh-CN" altLang="en-GB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 smtClean="0"/>
              <a:t>2</a:t>
            </a:r>
            <a:r>
              <a:rPr lang="zh-CN" altLang="en-GB" dirty="0" smtClean="0"/>
              <a:t> 终结类与终结方法</a:t>
            </a:r>
            <a:endParaRPr lang="zh-CN" altLang="en-GB" dirty="0" smtClean="0"/>
          </a:p>
          <a:p>
            <a:pPr eaLnBrk="1" hangingPunct="1"/>
            <a:r>
              <a:rPr lang="en-US" altLang="zh-CN" dirty="0" smtClean="0"/>
              <a:t>3</a:t>
            </a:r>
            <a:r>
              <a:rPr lang="zh-CN" altLang="en-GB" dirty="0" smtClean="0"/>
              <a:t> 抽象类</a:t>
            </a:r>
            <a:endParaRPr lang="zh-CN" altLang="en-GB" dirty="0" smtClean="0"/>
          </a:p>
          <a:p>
            <a:pPr eaLnBrk="1" hangingPunct="1"/>
            <a:r>
              <a:rPr lang="zh-CN" altLang="en-US" dirty="0" smtClean="0"/>
              <a:t>4</a:t>
            </a:r>
            <a:r>
              <a:rPr lang="en-US" altLang="zh-CN" dirty="0" smtClean="0"/>
              <a:t> </a:t>
            </a:r>
            <a:r>
              <a:rPr lang="zh-CN" altLang="en-US" dirty="0" smtClean="0"/>
              <a:t>类的组合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1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13" name="Text Box 45"/>
          <p:cNvSpPr txBox="1">
            <a:spLocks noChangeArrowheads="1"/>
          </p:cNvSpPr>
          <p:nvPr/>
        </p:nvSpPr>
        <p:spPr bwMode="auto">
          <a:xfrm>
            <a:off x="323850" y="1484313"/>
            <a:ext cx="8820150" cy="4402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336600"/>
                </a:solidFill>
              </a:rPr>
              <a:t>Java</a:t>
            </a:r>
            <a:r>
              <a:rPr lang="zh-CN" altLang="en-US" sz="2800" dirty="0">
                <a:solidFill>
                  <a:srgbClr val="336600"/>
                </a:solidFill>
              </a:rPr>
              <a:t>类的定义</a:t>
            </a:r>
            <a:endParaRPr lang="zh-CN" altLang="en-US" sz="2800" dirty="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[public] [</a:t>
            </a:r>
            <a:r>
              <a:rPr lang="en-US" altLang="zh-CN" sz="2800" dirty="0" err="1"/>
              <a:t>abstract|final</a:t>
            </a:r>
            <a:r>
              <a:rPr lang="en-US" altLang="zh-CN" sz="2800" dirty="0"/>
              <a:t>] class </a:t>
            </a:r>
            <a:r>
              <a:rPr lang="zh-CN" altLang="en-US" sz="2800" dirty="0"/>
              <a:t>类名</a:t>
            </a:r>
            <a:r>
              <a:rPr lang="en-US" altLang="zh-CN" sz="2800" dirty="0"/>
              <a:t>[extends </a:t>
            </a:r>
            <a:r>
              <a:rPr lang="zh-CN" altLang="en-US" sz="2800" dirty="0"/>
              <a:t>父类名</a:t>
            </a:r>
            <a:r>
              <a:rPr lang="en-US" altLang="zh-CN" sz="2800" dirty="0"/>
              <a:t>] </a:t>
            </a:r>
            <a:endParaRPr lang="en-US" altLang="zh-CN" sz="2800" dirty="0"/>
          </a:p>
          <a:p>
            <a:pPr marL="457200" indent="-457200">
              <a:spcBef>
                <a:spcPct val="50000"/>
              </a:spcBef>
              <a:defRPr/>
            </a:pPr>
            <a:r>
              <a:rPr lang="en-US" altLang="zh-CN" sz="2800" dirty="0"/>
              <a:t>                                                  </a:t>
            </a:r>
            <a:r>
              <a:rPr lang="en-US" altLang="zh-CN" sz="2800" dirty="0" smtClean="0"/>
              <a:t>[</a:t>
            </a:r>
            <a:r>
              <a:rPr lang="en-US" altLang="zh-CN" sz="2800" dirty="0"/>
              <a:t>implements </a:t>
            </a:r>
            <a:r>
              <a:rPr lang="zh-CN" altLang="en-US" sz="2800" dirty="0"/>
              <a:t>接口名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{  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	[</a:t>
            </a:r>
            <a:r>
              <a:rPr lang="zh-CN" altLang="en-US" sz="2800" dirty="0"/>
              <a:t>成员变量</a:t>
            </a:r>
            <a:r>
              <a:rPr lang="en-US" altLang="zh-CN" sz="2800" dirty="0"/>
              <a:t>(</a:t>
            </a:r>
            <a:r>
              <a:rPr lang="zh-CN" altLang="en-US" sz="2800" dirty="0"/>
              <a:t>域</a:t>
            </a:r>
            <a:r>
              <a:rPr lang="en-US" altLang="zh-CN" sz="2800" dirty="0"/>
              <a:t>)</a:t>
            </a:r>
            <a:r>
              <a:rPr lang="zh-CN" altLang="en-US" sz="2800" dirty="0"/>
              <a:t>定义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     [</a:t>
            </a:r>
            <a:r>
              <a:rPr lang="zh-CN" altLang="en-US" sz="2800" dirty="0"/>
              <a:t>成员函数</a:t>
            </a:r>
            <a:r>
              <a:rPr lang="en-US" altLang="zh-CN" sz="2800" dirty="0"/>
              <a:t>(</a:t>
            </a:r>
            <a:r>
              <a:rPr lang="zh-CN" altLang="en-US" sz="2800" dirty="0"/>
              <a:t>方法</a:t>
            </a:r>
            <a:r>
              <a:rPr lang="en-US" altLang="zh-CN" sz="2800" dirty="0"/>
              <a:t>)</a:t>
            </a:r>
            <a:r>
              <a:rPr lang="zh-CN" altLang="en-US" sz="2800" dirty="0"/>
              <a:t>定义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}</a:t>
            </a:r>
            <a:endParaRPr lang="en-US" altLang="zh-CN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C44C6940-3042-48E5-9B1E-8ABBC5CD78EB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US" sz="3600" smtClean="0"/>
              <a:t>1 类的继承</a:t>
            </a:r>
            <a:endParaRPr lang="zh-CN" altLang="en-US" sz="3600" smtClean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87624" y="620688"/>
            <a:ext cx="7239000" cy="5242936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3200" dirty="0" smtClean="0"/>
              <a:t>类的继承</a:t>
            </a:r>
            <a:endParaRPr lang="zh-CN" altLang="en-US" sz="32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/>
              <a:t>一种由已有的类创建新类的机制，是面向对象程序设计的基石之一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/>
              <a:t>通过继承，可以根据已有类来定义新类，新类拥有已有类的所有功能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 smtClean="0"/>
              <a:t>Java</a:t>
            </a:r>
            <a:r>
              <a:rPr lang="zh-CN" altLang="en-US" sz="2800" dirty="0" smtClean="0"/>
              <a:t>只支持类的单继承，每个子类只能有一个直接父类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/>
              <a:t>父类是所有子类的公共属性及方法的集合，子类则是父类的特殊化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/>
              <a:t>继承机制可以提高程序的抽象程度，提高代码的可重用性</a:t>
            </a:r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0EDEF403-93C4-4435-BECA-7669DF93B321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31640" y="1338760"/>
            <a:ext cx="7239000" cy="5186584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基类(</a:t>
            </a:r>
            <a:r>
              <a:rPr lang="en-US" altLang="zh-CN" dirty="0" smtClean="0"/>
              <a:t>base class)</a:t>
            </a:r>
            <a:endParaRPr lang="en-US" altLang="zh-CN" dirty="0" smtClean="0"/>
          </a:p>
          <a:p>
            <a:pPr lvl="1" eaLnBrk="1" hangingPunct="1"/>
            <a:r>
              <a:rPr lang="zh-CN" altLang="en-US" sz="2800" dirty="0" smtClean="0"/>
              <a:t>也称超类(</a:t>
            </a:r>
            <a:r>
              <a:rPr lang="en-US" altLang="zh-CN" sz="2800" dirty="0" smtClean="0"/>
              <a:t>superclass)</a:t>
            </a:r>
            <a:endParaRPr lang="en-US" altLang="zh-CN" sz="2800" dirty="0" smtClean="0"/>
          </a:p>
          <a:p>
            <a:pPr lvl="1" eaLnBrk="1" hangingPunct="1"/>
            <a:r>
              <a:rPr lang="zh-CN" altLang="en-US" sz="2800" dirty="0" smtClean="0"/>
              <a:t>是被直接或间接继承的类</a:t>
            </a:r>
            <a:endParaRPr lang="en-US" altLang="zh-CN" sz="2800" dirty="0" smtClean="0"/>
          </a:p>
          <a:p>
            <a:pPr lvl="1" eaLnBrk="1" hangingPunct="1"/>
            <a:endParaRPr lang="zh-CN" altLang="en-US" sz="2800" dirty="0" smtClean="0"/>
          </a:p>
          <a:p>
            <a:pPr eaLnBrk="1" hangingPunct="1"/>
            <a:r>
              <a:rPr lang="zh-CN" altLang="en-US" dirty="0" smtClean="0"/>
              <a:t>派生类(</a:t>
            </a:r>
            <a:r>
              <a:rPr lang="en-US" altLang="zh-CN" dirty="0" smtClean="0"/>
              <a:t>derived-class)</a:t>
            </a:r>
            <a:endParaRPr lang="en-US" altLang="zh-CN" dirty="0" smtClean="0"/>
          </a:p>
          <a:p>
            <a:pPr lvl="1" eaLnBrk="1" hangingPunct="1"/>
            <a:r>
              <a:rPr lang="zh-CN" altLang="en-US" sz="2800" dirty="0" smtClean="0"/>
              <a:t>也称子类 (</a:t>
            </a:r>
            <a:r>
              <a:rPr lang="en-US" altLang="zh-CN" sz="2800" dirty="0" smtClean="0"/>
              <a:t>subclass)</a:t>
            </a:r>
            <a:endParaRPr lang="en-US" altLang="zh-CN" sz="2800" dirty="0" smtClean="0"/>
          </a:p>
          <a:p>
            <a:pPr lvl="1" eaLnBrk="1" hangingPunct="1"/>
            <a:r>
              <a:rPr lang="zh-CN" altLang="en-US" sz="2800" dirty="0" smtClean="0"/>
              <a:t>继承其他类而得到的类</a:t>
            </a:r>
            <a:endParaRPr lang="en-US" altLang="zh-CN" sz="2800" dirty="0" smtClean="0"/>
          </a:p>
          <a:p>
            <a:pPr lvl="1" eaLnBrk="1" hangingPunct="1"/>
            <a:r>
              <a:rPr lang="zh-CN" altLang="en-US" sz="2800" dirty="0" smtClean="0"/>
              <a:t>继承所有祖先的状态和行为</a:t>
            </a:r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派生类可以增加变量和方法</a:t>
            </a:r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派生类也可以覆盖(</a:t>
            </a:r>
            <a:r>
              <a:rPr lang="en-US" altLang="zh-CN" sz="2800" dirty="0" smtClean="0"/>
              <a:t>override)</a:t>
            </a:r>
            <a:r>
              <a:rPr lang="zh-CN" altLang="en-US" sz="2800" dirty="0" smtClean="0"/>
              <a:t>继承的方法</a:t>
            </a:r>
            <a:endParaRPr lang="zh-CN" altLang="en-US" sz="2800" dirty="0" smtClean="0"/>
          </a:p>
        </p:txBody>
      </p:sp>
      <p:sp>
        <p:nvSpPr>
          <p:cNvPr id="7172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33156" y="27196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1.1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继承的概念</a:t>
            </a:r>
            <a:br>
              <a:rPr kumimoji="0" lang="zh-CN" altLang="en-US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——基类和派生类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80CDE595-D73D-4A58-9CFD-709EBF5F0294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7883525" cy="1595437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子类对象与父类对象存在“</a:t>
            </a:r>
            <a:r>
              <a:rPr lang="en-US" altLang="zh-CN" smtClean="0"/>
              <a:t>IS A”(</a:t>
            </a:r>
            <a:r>
              <a:rPr lang="zh-CN" altLang="en-US" smtClean="0"/>
              <a:t>或“</a:t>
            </a:r>
            <a:r>
              <a:rPr lang="en-US" altLang="zh-CN" smtClean="0"/>
              <a:t>is a kind of”)</a:t>
            </a:r>
            <a:r>
              <a:rPr lang="zh-CN" altLang="en-US" smtClean="0"/>
              <a:t>的关系</a:t>
            </a:r>
            <a:endParaRPr lang="en-US" altLang="zh-CN" smtClean="0"/>
          </a:p>
          <a:p>
            <a:pPr eaLnBrk="1" hangingPunct="1"/>
            <a:endParaRPr lang="zh-CN" altLang="en-US" b="1" smtClean="0"/>
          </a:p>
        </p:txBody>
      </p:sp>
      <p:pic>
        <p:nvPicPr>
          <p:cNvPr id="8196" name="Picture 4" descr="Java5_g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352800"/>
            <a:ext cx="3276600" cy="306705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1.1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继承的概念</a:t>
            </a:r>
            <a:br>
              <a:rPr kumimoji="0" lang="zh-CN" altLang="en-US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en-US" altLang="zh-CN" sz="2800" dirty="0" err="1">
                <a:latin typeface="Trebuchet MS" panose="020B0603020202020204" pitchFamily="34" charset="0"/>
                <a:ea typeface="方正姚体" panose="02010601030101010101" pitchFamily="2" charset="-122"/>
              </a:rPr>
              <a:t>is_a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关系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81F14DD0-24D5-45B5-B5BF-358385EB6D10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9219" name="Rectangle 68"/>
          <p:cNvSpPr>
            <a:spLocks noChangeArrowheads="1"/>
          </p:cNvSpPr>
          <p:nvPr/>
        </p:nvSpPr>
        <p:spPr bwMode="auto">
          <a:xfrm>
            <a:off x="7010400" y="4572000"/>
            <a:ext cx="1981200" cy="1905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8229600" cy="97472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动物类层次举例</a:t>
            </a:r>
            <a:endParaRPr lang="zh-CN" altLang="en-US" smtClean="0"/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2962275" y="2557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22" name="Freeform 44"/>
          <p:cNvSpPr>
            <a:spLocks noEditPoints="1"/>
          </p:cNvSpPr>
          <p:nvPr/>
        </p:nvSpPr>
        <p:spPr bwMode="auto">
          <a:xfrm>
            <a:off x="1814513" y="3000375"/>
            <a:ext cx="71437" cy="2576513"/>
          </a:xfrm>
          <a:custGeom>
            <a:avLst/>
            <a:gdLst>
              <a:gd name="T0" fmla="*/ 0 w 92"/>
              <a:gd name="T1" fmla="*/ 2147483647 h 3245"/>
              <a:gd name="T2" fmla="*/ 2147483647 w 92"/>
              <a:gd name="T3" fmla="*/ 2147483647 h 3245"/>
              <a:gd name="T4" fmla="*/ 2147483647 w 92"/>
              <a:gd name="T5" fmla="*/ 2147483647 h 3245"/>
              <a:gd name="T6" fmla="*/ 0 w 92"/>
              <a:gd name="T7" fmla="*/ 2147483647 h 3245"/>
              <a:gd name="T8" fmla="*/ 0 w 92"/>
              <a:gd name="T9" fmla="*/ 2147483647 h 3245"/>
              <a:gd name="T10" fmla="*/ 2147483647 w 92"/>
              <a:gd name="T11" fmla="*/ 2147483647 h 3245"/>
              <a:gd name="T12" fmla="*/ 2147483647 w 92"/>
              <a:gd name="T13" fmla="*/ 0 h 3245"/>
              <a:gd name="T14" fmla="*/ 0 w 92"/>
              <a:gd name="T15" fmla="*/ 2147483647 h 32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2"/>
              <a:gd name="T25" fmla="*/ 0 h 3245"/>
              <a:gd name="T26" fmla="*/ 92 w 92"/>
              <a:gd name="T27" fmla="*/ 3245 h 324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2" h="3245">
                <a:moveTo>
                  <a:pt x="0" y="3150"/>
                </a:moveTo>
                <a:lnTo>
                  <a:pt x="92" y="3150"/>
                </a:lnTo>
                <a:lnTo>
                  <a:pt x="46" y="3245"/>
                </a:lnTo>
                <a:lnTo>
                  <a:pt x="0" y="3150"/>
                </a:lnTo>
                <a:close/>
                <a:moveTo>
                  <a:pt x="0" y="95"/>
                </a:moveTo>
                <a:lnTo>
                  <a:pt x="92" y="95"/>
                </a:lnTo>
                <a:lnTo>
                  <a:pt x="46" y="0"/>
                </a:lnTo>
                <a:lnTo>
                  <a:pt x="0" y="95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3" name="Freeform 45"/>
          <p:cNvSpPr/>
          <p:nvPr/>
        </p:nvSpPr>
        <p:spPr bwMode="auto">
          <a:xfrm>
            <a:off x="1814513" y="5500688"/>
            <a:ext cx="71437" cy="76200"/>
          </a:xfrm>
          <a:custGeom>
            <a:avLst/>
            <a:gdLst>
              <a:gd name="T0" fmla="*/ 0 w 92"/>
              <a:gd name="T1" fmla="*/ 0 h 95"/>
              <a:gd name="T2" fmla="*/ 2147483647 w 92"/>
              <a:gd name="T3" fmla="*/ 0 h 95"/>
              <a:gd name="T4" fmla="*/ 2147483647 w 92"/>
              <a:gd name="T5" fmla="*/ 2147483647 h 95"/>
              <a:gd name="T6" fmla="*/ 0 w 92"/>
              <a:gd name="T7" fmla="*/ 0 h 95"/>
              <a:gd name="T8" fmla="*/ 0 60000 65536"/>
              <a:gd name="T9" fmla="*/ 0 60000 65536"/>
              <a:gd name="T10" fmla="*/ 0 60000 65536"/>
              <a:gd name="T11" fmla="*/ 0 60000 65536"/>
              <a:gd name="T12" fmla="*/ 0 w 92"/>
              <a:gd name="T13" fmla="*/ 0 h 95"/>
              <a:gd name="T14" fmla="*/ 92 w 92"/>
              <a:gd name="T15" fmla="*/ 95 h 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" h="95">
                <a:moveTo>
                  <a:pt x="0" y="0"/>
                </a:moveTo>
                <a:lnTo>
                  <a:pt x="92" y="0"/>
                </a:lnTo>
                <a:lnTo>
                  <a:pt x="46" y="95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Freeform 46"/>
          <p:cNvSpPr/>
          <p:nvPr/>
        </p:nvSpPr>
        <p:spPr bwMode="auto">
          <a:xfrm>
            <a:off x="1814513" y="3000375"/>
            <a:ext cx="71437" cy="76200"/>
          </a:xfrm>
          <a:custGeom>
            <a:avLst/>
            <a:gdLst>
              <a:gd name="T0" fmla="*/ 0 w 92"/>
              <a:gd name="T1" fmla="*/ 2147483647 h 95"/>
              <a:gd name="T2" fmla="*/ 2147483647 w 92"/>
              <a:gd name="T3" fmla="*/ 2147483647 h 95"/>
              <a:gd name="T4" fmla="*/ 2147483647 w 92"/>
              <a:gd name="T5" fmla="*/ 0 h 95"/>
              <a:gd name="T6" fmla="*/ 0 w 92"/>
              <a:gd name="T7" fmla="*/ 2147483647 h 95"/>
              <a:gd name="T8" fmla="*/ 0 60000 65536"/>
              <a:gd name="T9" fmla="*/ 0 60000 65536"/>
              <a:gd name="T10" fmla="*/ 0 60000 65536"/>
              <a:gd name="T11" fmla="*/ 0 60000 65536"/>
              <a:gd name="T12" fmla="*/ 0 w 92"/>
              <a:gd name="T13" fmla="*/ 0 h 95"/>
              <a:gd name="T14" fmla="*/ 92 w 92"/>
              <a:gd name="T15" fmla="*/ 95 h 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" h="95">
                <a:moveTo>
                  <a:pt x="0" y="95"/>
                </a:moveTo>
                <a:lnTo>
                  <a:pt x="92" y="95"/>
                </a:lnTo>
                <a:lnTo>
                  <a:pt x="46" y="0"/>
                </a:lnTo>
                <a:lnTo>
                  <a:pt x="0" y="95"/>
                </a:lnTo>
              </a:path>
            </a:pathLst>
          </a:custGeom>
          <a:noFill/>
          <a:ln w="31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5" name="Line 47"/>
          <p:cNvSpPr>
            <a:spLocks noChangeShapeType="1"/>
          </p:cNvSpPr>
          <p:nvPr/>
        </p:nvSpPr>
        <p:spPr bwMode="auto">
          <a:xfrm flipV="1">
            <a:off x="1851025" y="3076575"/>
            <a:ext cx="1588" cy="242411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6" name="Rectangle 48"/>
          <p:cNvSpPr>
            <a:spLocks noChangeArrowheads="1"/>
          </p:cNvSpPr>
          <p:nvPr/>
        </p:nvSpPr>
        <p:spPr bwMode="auto">
          <a:xfrm>
            <a:off x="1600200" y="2743200"/>
            <a:ext cx="533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100">
                <a:latin typeface="宋体" panose="02010600030101010101" pitchFamily="2" charset="-122"/>
                <a:ea typeface="宋体" panose="02010600030101010101" pitchFamily="2" charset="-122"/>
              </a:rPr>
              <a:t>一般</a:t>
            </a:r>
            <a:endParaRPr lang="zh-CN" altLang="en-US" sz="2800"/>
          </a:p>
        </p:txBody>
      </p:sp>
      <p:sp>
        <p:nvSpPr>
          <p:cNvPr id="9227" name="Rectangle 49"/>
          <p:cNvSpPr>
            <a:spLocks noChangeArrowheads="1"/>
          </p:cNvSpPr>
          <p:nvPr/>
        </p:nvSpPr>
        <p:spPr bwMode="auto">
          <a:xfrm>
            <a:off x="1622425" y="5611813"/>
            <a:ext cx="533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100">
                <a:latin typeface="宋体" panose="02010600030101010101" pitchFamily="2" charset="-122"/>
                <a:ea typeface="宋体" panose="02010600030101010101" pitchFamily="2" charset="-122"/>
              </a:rPr>
              <a:t>具体</a:t>
            </a:r>
            <a:endParaRPr lang="zh-CN" altLang="en-US" sz="2800"/>
          </a:p>
        </p:txBody>
      </p:sp>
      <p:sp>
        <p:nvSpPr>
          <p:cNvPr id="9228" name="Rectangle 10"/>
          <p:cNvSpPr>
            <a:spLocks noChangeArrowheads="1"/>
          </p:cNvSpPr>
          <p:nvPr/>
        </p:nvSpPr>
        <p:spPr bwMode="auto">
          <a:xfrm>
            <a:off x="4283075" y="2681288"/>
            <a:ext cx="644525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动物</a:t>
            </a:r>
            <a:endParaRPr lang="zh-CN" altLang="en-US" sz="4000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6465888" y="4776788"/>
            <a:ext cx="327025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蛇</a:t>
            </a:r>
            <a:endParaRPr lang="zh-CN" altLang="en-US" sz="4000"/>
          </a:p>
        </p:txBody>
      </p:sp>
      <p:sp>
        <p:nvSpPr>
          <p:cNvPr id="9230" name="Rectangle 16"/>
          <p:cNvSpPr>
            <a:spLocks noChangeArrowheads="1"/>
          </p:cNvSpPr>
          <p:nvPr/>
        </p:nvSpPr>
        <p:spPr bwMode="auto">
          <a:xfrm>
            <a:off x="5072063" y="4759325"/>
            <a:ext cx="644525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蜥蜴</a:t>
            </a:r>
            <a:endParaRPr lang="zh-CN" altLang="en-US" sz="4000"/>
          </a:p>
        </p:txBody>
      </p:sp>
      <p:sp>
        <p:nvSpPr>
          <p:cNvPr id="9231" name="Rectangle 19"/>
          <p:cNvSpPr>
            <a:spLocks noChangeArrowheads="1"/>
          </p:cNvSpPr>
          <p:nvPr/>
        </p:nvSpPr>
        <p:spPr bwMode="auto">
          <a:xfrm>
            <a:off x="2401888" y="4772025"/>
            <a:ext cx="327025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鲸</a:t>
            </a:r>
            <a:endParaRPr lang="zh-CN" altLang="en-US" sz="4000"/>
          </a:p>
        </p:txBody>
      </p:sp>
      <p:sp>
        <p:nvSpPr>
          <p:cNvPr id="9232" name="Rectangle 22"/>
          <p:cNvSpPr>
            <a:spLocks noChangeArrowheads="1"/>
          </p:cNvSpPr>
          <p:nvPr/>
        </p:nvSpPr>
        <p:spPr bwMode="auto">
          <a:xfrm>
            <a:off x="5538788" y="3725863"/>
            <a:ext cx="1279525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爬行动物</a:t>
            </a:r>
            <a:endParaRPr lang="zh-CN" altLang="en-US" sz="4000"/>
          </a:p>
        </p:txBody>
      </p:sp>
      <p:sp>
        <p:nvSpPr>
          <p:cNvPr id="9233" name="Rectangle 25"/>
          <p:cNvSpPr>
            <a:spLocks noChangeArrowheads="1"/>
          </p:cNvSpPr>
          <p:nvPr/>
        </p:nvSpPr>
        <p:spPr bwMode="auto">
          <a:xfrm>
            <a:off x="2887663" y="3702050"/>
            <a:ext cx="1279525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哺乳动物</a:t>
            </a:r>
            <a:endParaRPr lang="zh-CN" altLang="en-US" sz="4000"/>
          </a:p>
        </p:txBody>
      </p:sp>
      <p:sp>
        <p:nvSpPr>
          <p:cNvPr id="9234" name="Rectangle 28"/>
          <p:cNvSpPr>
            <a:spLocks noChangeArrowheads="1"/>
          </p:cNvSpPr>
          <p:nvPr/>
        </p:nvSpPr>
        <p:spPr bwMode="auto">
          <a:xfrm>
            <a:off x="3724275" y="4772025"/>
            <a:ext cx="328613" cy="390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狗</a:t>
            </a:r>
            <a:endParaRPr lang="zh-CN" altLang="en-US" sz="4000"/>
          </a:p>
        </p:txBody>
      </p:sp>
      <p:sp>
        <p:nvSpPr>
          <p:cNvPr id="9235" name="Rectangle 31"/>
          <p:cNvSpPr>
            <a:spLocks noChangeArrowheads="1"/>
          </p:cNvSpPr>
          <p:nvPr/>
        </p:nvSpPr>
        <p:spPr bwMode="auto">
          <a:xfrm>
            <a:off x="4559300" y="5746750"/>
            <a:ext cx="644525" cy="3889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巨蜥</a:t>
            </a:r>
            <a:endParaRPr lang="zh-CN" altLang="en-US" sz="4000"/>
          </a:p>
        </p:txBody>
      </p:sp>
      <p:sp>
        <p:nvSpPr>
          <p:cNvPr id="9236" name="Rectangle 34"/>
          <p:cNvSpPr>
            <a:spLocks noChangeArrowheads="1"/>
          </p:cNvSpPr>
          <p:nvPr/>
        </p:nvSpPr>
        <p:spPr bwMode="auto">
          <a:xfrm>
            <a:off x="5702300" y="5746750"/>
            <a:ext cx="804863" cy="3889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 壁虎</a:t>
            </a:r>
            <a:endParaRPr lang="zh-CN" altLang="en-US" sz="4000"/>
          </a:p>
        </p:txBody>
      </p:sp>
      <p:sp>
        <p:nvSpPr>
          <p:cNvPr id="9237" name="Freeform 36"/>
          <p:cNvSpPr/>
          <p:nvPr/>
        </p:nvSpPr>
        <p:spPr bwMode="auto">
          <a:xfrm>
            <a:off x="3175000" y="4070350"/>
            <a:ext cx="3175" cy="381000"/>
          </a:xfrm>
          <a:custGeom>
            <a:avLst/>
            <a:gdLst>
              <a:gd name="T0" fmla="*/ 0 w 3175"/>
              <a:gd name="T1" fmla="*/ 2147483647 h 441"/>
              <a:gd name="T2" fmla="*/ 0 w 3175"/>
              <a:gd name="T3" fmla="*/ 2147483647 h 441"/>
              <a:gd name="T4" fmla="*/ 0 w 3175"/>
              <a:gd name="T5" fmla="*/ 0 h 441"/>
              <a:gd name="T6" fmla="*/ 0 60000 65536"/>
              <a:gd name="T7" fmla="*/ 0 60000 65536"/>
              <a:gd name="T8" fmla="*/ 0 60000 65536"/>
              <a:gd name="T9" fmla="*/ 0 w 3175"/>
              <a:gd name="T10" fmla="*/ 0 h 441"/>
              <a:gd name="T11" fmla="*/ 3175 w 3175"/>
              <a:gd name="T12" fmla="*/ 441 h 4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5" h="441">
                <a:moveTo>
                  <a:pt x="0" y="374"/>
                </a:moveTo>
                <a:lnTo>
                  <a:pt x="0" y="441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8" name="Freeform 37"/>
          <p:cNvSpPr/>
          <p:nvPr/>
        </p:nvSpPr>
        <p:spPr bwMode="auto">
          <a:xfrm>
            <a:off x="3146425" y="4017963"/>
            <a:ext cx="60325" cy="58737"/>
          </a:xfrm>
          <a:custGeom>
            <a:avLst/>
            <a:gdLst>
              <a:gd name="T0" fmla="*/ 0 w 66"/>
              <a:gd name="T1" fmla="*/ 2147483647 h 69"/>
              <a:gd name="T2" fmla="*/ 2147483647 w 66"/>
              <a:gd name="T3" fmla="*/ 0 h 69"/>
              <a:gd name="T4" fmla="*/ 2147483647 w 66"/>
              <a:gd name="T5" fmla="*/ 2147483647 h 69"/>
              <a:gd name="T6" fmla="*/ 0 w 66"/>
              <a:gd name="T7" fmla="*/ 2147483647 h 6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69"/>
              <a:gd name="T14" fmla="*/ 66 w 66"/>
              <a:gd name="T15" fmla="*/ 69 h 6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69">
                <a:moveTo>
                  <a:pt x="0" y="69"/>
                </a:moveTo>
                <a:lnTo>
                  <a:pt x="33" y="0"/>
                </a:lnTo>
                <a:lnTo>
                  <a:pt x="66" y="69"/>
                </a:lnTo>
                <a:lnTo>
                  <a:pt x="0" y="69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9" name="Freeform 38"/>
          <p:cNvSpPr/>
          <p:nvPr/>
        </p:nvSpPr>
        <p:spPr bwMode="auto">
          <a:xfrm>
            <a:off x="5327650" y="4451350"/>
            <a:ext cx="1243013" cy="280988"/>
          </a:xfrm>
          <a:custGeom>
            <a:avLst/>
            <a:gdLst>
              <a:gd name="T0" fmla="*/ 2147483647 w 1379"/>
              <a:gd name="T1" fmla="*/ 2147483647 h 326"/>
              <a:gd name="T2" fmla="*/ 2147483647 w 1379"/>
              <a:gd name="T3" fmla="*/ 0 h 326"/>
              <a:gd name="T4" fmla="*/ 0 w 1379"/>
              <a:gd name="T5" fmla="*/ 0 h 326"/>
              <a:gd name="T6" fmla="*/ 0 w 1379"/>
              <a:gd name="T7" fmla="*/ 2147483647 h 326"/>
              <a:gd name="T8" fmla="*/ 0 60000 65536"/>
              <a:gd name="T9" fmla="*/ 0 60000 65536"/>
              <a:gd name="T10" fmla="*/ 0 60000 65536"/>
              <a:gd name="T11" fmla="*/ 0 60000 65536"/>
              <a:gd name="T12" fmla="*/ 0 w 1379"/>
              <a:gd name="T13" fmla="*/ 0 h 326"/>
              <a:gd name="T14" fmla="*/ 1379 w 1379"/>
              <a:gd name="T15" fmla="*/ 326 h 3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79" h="326">
                <a:moveTo>
                  <a:pt x="1379" y="326"/>
                </a:moveTo>
                <a:lnTo>
                  <a:pt x="1379" y="0"/>
                </a:lnTo>
                <a:lnTo>
                  <a:pt x="0" y="0"/>
                </a:lnTo>
                <a:lnTo>
                  <a:pt x="0" y="286"/>
                </a:lnTo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0" name="Line 39"/>
          <p:cNvSpPr>
            <a:spLocks noChangeShapeType="1"/>
          </p:cNvSpPr>
          <p:nvPr/>
        </p:nvSpPr>
        <p:spPr bwMode="auto">
          <a:xfrm flipV="1">
            <a:off x="5948363" y="4121150"/>
            <a:ext cx="3175" cy="339725"/>
          </a:xfrm>
          <a:prstGeom prst="line">
            <a:avLst/>
          </a:prstGeom>
          <a:noFill/>
          <a:ln w="31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1" name="Freeform 40"/>
          <p:cNvSpPr/>
          <p:nvPr/>
        </p:nvSpPr>
        <p:spPr bwMode="auto">
          <a:xfrm>
            <a:off x="5919788" y="4070350"/>
            <a:ext cx="60325" cy="60325"/>
          </a:xfrm>
          <a:custGeom>
            <a:avLst/>
            <a:gdLst>
              <a:gd name="T0" fmla="*/ 0 w 67"/>
              <a:gd name="T1" fmla="*/ 2147483647 h 69"/>
              <a:gd name="T2" fmla="*/ 2147483647 w 67"/>
              <a:gd name="T3" fmla="*/ 0 h 69"/>
              <a:gd name="T4" fmla="*/ 2147483647 w 67"/>
              <a:gd name="T5" fmla="*/ 2147483647 h 69"/>
              <a:gd name="T6" fmla="*/ 0 w 67"/>
              <a:gd name="T7" fmla="*/ 2147483647 h 69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69"/>
              <a:gd name="T14" fmla="*/ 67 w 67"/>
              <a:gd name="T15" fmla="*/ 69 h 6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69">
                <a:moveTo>
                  <a:pt x="0" y="69"/>
                </a:moveTo>
                <a:lnTo>
                  <a:pt x="33" y="0"/>
                </a:lnTo>
                <a:lnTo>
                  <a:pt x="67" y="69"/>
                </a:lnTo>
                <a:lnTo>
                  <a:pt x="0" y="69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2" name="Line 42"/>
          <p:cNvSpPr>
            <a:spLocks noChangeShapeType="1"/>
          </p:cNvSpPr>
          <p:nvPr/>
        </p:nvSpPr>
        <p:spPr bwMode="auto">
          <a:xfrm flipH="1" flipV="1">
            <a:off x="5348288" y="5172075"/>
            <a:ext cx="1587" cy="247650"/>
          </a:xfrm>
          <a:prstGeom prst="line">
            <a:avLst/>
          </a:prstGeom>
          <a:noFill/>
          <a:ln w="31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3" name="Freeform 43"/>
          <p:cNvSpPr/>
          <p:nvPr/>
        </p:nvSpPr>
        <p:spPr bwMode="auto">
          <a:xfrm>
            <a:off x="5299075" y="5062538"/>
            <a:ext cx="60325" cy="58737"/>
          </a:xfrm>
          <a:custGeom>
            <a:avLst/>
            <a:gdLst>
              <a:gd name="T0" fmla="*/ 0 w 67"/>
              <a:gd name="T1" fmla="*/ 2147483647 h 69"/>
              <a:gd name="T2" fmla="*/ 2147483647 w 67"/>
              <a:gd name="T3" fmla="*/ 0 h 69"/>
              <a:gd name="T4" fmla="*/ 2147483647 w 67"/>
              <a:gd name="T5" fmla="*/ 2147483647 h 69"/>
              <a:gd name="T6" fmla="*/ 0 w 67"/>
              <a:gd name="T7" fmla="*/ 2147483647 h 69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69"/>
              <a:gd name="T14" fmla="*/ 67 w 67"/>
              <a:gd name="T15" fmla="*/ 69 h 6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69">
                <a:moveTo>
                  <a:pt x="0" y="69"/>
                </a:moveTo>
                <a:lnTo>
                  <a:pt x="34" y="0"/>
                </a:lnTo>
                <a:lnTo>
                  <a:pt x="67" y="69"/>
                </a:lnTo>
                <a:lnTo>
                  <a:pt x="0" y="69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4" name="Freeform 50"/>
          <p:cNvSpPr/>
          <p:nvPr/>
        </p:nvSpPr>
        <p:spPr bwMode="auto">
          <a:xfrm>
            <a:off x="3382963" y="3340100"/>
            <a:ext cx="2482850" cy="288925"/>
          </a:xfrm>
          <a:custGeom>
            <a:avLst/>
            <a:gdLst>
              <a:gd name="T0" fmla="*/ 2147483647 w 2759"/>
              <a:gd name="T1" fmla="*/ 2147483647 h 334"/>
              <a:gd name="T2" fmla="*/ 2147483647 w 2759"/>
              <a:gd name="T3" fmla="*/ 0 h 334"/>
              <a:gd name="T4" fmla="*/ 0 w 2759"/>
              <a:gd name="T5" fmla="*/ 0 h 334"/>
              <a:gd name="T6" fmla="*/ 0 w 2759"/>
              <a:gd name="T7" fmla="*/ 2147483647 h 334"/>
              <a:gd name="T8" fmla="*/ 0 60000 65536"/>
              <a:gd name="T9" fmla="*/ 0 60000 65536"/>
              <a:gd name="T10" fmla="*/ 0 60000 65536"/>
              <a:gd name="T11" fmla="*/ 0 60000 65536"/>
              <a:gd name="T12" fmla="*/ 0 w 2759"/>
              <a:gd name="T13" fmla="*/ 0 h 334"/>
              <a:gd name="T14" fmla="*/ 2759 w 2759"/>
              <a:gd name="T15" fmla="*/ 334 h 3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59" h="334">
                <a:moveTo>
                  <a:pt x="2759" y="334"/>
                </a:moveTo>
                <a:lnTo>
                  <a:pt x="2759" y="0"/>
                </a:lnTo>
                <a:lnTo>
                  <a:pt x="0" y="0"/>
                </a:lnTo>
                <a:lnTo>
                  <a:pt x="0" y="317"/>
                </a:lnTo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5" name="Line 51"/>
          <p:cNvSpPr>
            <a:spLocks noChangeShapeType="1"/>
          </p:cNvSpPr>
          <p:nvPr/>
        </p:nvSpPr>
        <p:spPr bwMode="auto">
          <a:xfrm flipV="1">
            <a:off x="4500563" y="3081338"/>
            <a:ext cx="1587" cy="2587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6" name="Freeform 52"/>
          <p:cNvSpPr/>
          <p:nvPr/>
        </p:nvSpPr>
        <p:spPr bwMode="auto">
          <a:xfrm>
            <a:off x="4456113" y="3011488"/>
            <a:ext cx="92075" cy="92075"/>
          </a:xfrm>
          <a:custGeom>
            <a:avLst/>
            <a:gdLst>
              <a:gd name="T0" fmla="*/ 2147483647 w 105"/>
              <a:gd name="T1" fmla="*/ 0 h 108"/>
              <a:gd name="T2" fmla="*/ 2147483647 w 105"/>
              <a:gd name="T3" fmla="*/ 2147483647 h 108"/>
              <a:gd name="T4" fmla="*/ 2147483647 w 105"/>
              <a:gd name="T5" fmla="*/ 2147483647 h 108"/>
              <a:gd name="T6" fmla="*/ 2147483647 w 105"/>
              <a:gd name="T7" fmla="*/ 2147483647 h 108"/>
              <a:gd name="T8" fmla="*/ 2147483647 w 105"/>
              <a:gd name="T9" fmla="*/ 2147483647 h 108"/>
              <a:gd name="T10" fmla="*/ 2147483647 w 105"/>
              <a:gd name="T11" fmla="*/ 2147483647 h 108"/>
              <a:gd name="T12" fmla="*/ 2147483647 w 105"/>
              <a:gd name="T13" fmla="*/ 2147483647 h 108"/>
              <a:gd name="T14" fmla="*/ 2147483647 w 105"/>
              <a:gd name="T15" fmla="*/ 2147483647 h 108"/>
              <a:gd name="T16" fmla="*/ 2147483647 w 105"/>
              <a:gd name="T17" fmla="*/ 2147483647 h 108"/>
              <a:gd name="T18" fmla="*/ 0 w 105"/>
              <a:gd name="T19" fmla="*/ 2147483647 h 108"/>
              <a:gd name="T20" fmla="*/ 0 w 105"/>
              <a:gd name="T21" fmla="*/ 2147483647 h 108"/>
              <a:gd name="T22" fmla="*/ 2147483647 w 105"/>
              <a:gd name="T23" fmla="*/ 0 h 108"/>
              <a:gd name="T24" fmla="*/ 2147483647 w 105"/>
              <a:gd name="T25" fmla="*/ 0 h 10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5"/>
              <a:gd name="T40" fmla="*/ 0 h 108"/>
              <a:gd name="T41" fmla="*/ 105 w 105"/>
              <a:gd name="T42" fmla="*/ 108 h 10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5" h="108">
                <a:moveTo>
                  <a:pt x="52" y="0"/>
                </a:moveTo>
                <a:lnTo>
                  <a:pt x="105" y="108"/>
                </a:lnTo>
                <a:lnTo>
                  <a:pt x="92" y="103"/>
                </a:lnTo>
                <a:lnTo>
                  <a:pt x="79" y="99"/>
                </a:lnTo>
                <a:lnTo>
                  <a:pt x="66" y="97"/>
                </a:lnTo>
                <a:lnTo>
                  <a:pt x="52" y="95"/>
                </a:lnTo>
                <a:lnTo>
                  <a:pt x="39" y="97"/>
                </a:lnTo>
                <a:lnTo>
                  <a:pt x="26" y="99"/>
                </a:lnTo>
                <a:lnTo>
                  <a:pt x="13" y="103"/>
                </a:lnTo>
                <a:lnTo>
                  <a:pt x="0" y="108"/>
                </a:lnTo>
                <a:lnTo>
                  <a:pt x="52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7" name="Freeform 53"/>
          <p:cNvSpPr/>
          <p:nvPr/>
        </p:nvSpPr>
        <p:spPr bwMode="auto">
          <a:xfrm>
            <a:off x="6550025" y="4492625"/>
            <a:ext cx="1668463" cy="1439863"/>
          </a:xfrm>
          <a:custGeom>
            <a:avLst/>
            <a:gdLst>
              <a:gd name="T0" fmla="*/ 2147483647 w 1540"/>
              <a:gd name="T1" fmla="*/ 2147483647 h 1670"/>
              <a:gd name="T2" fmla="*/ 2147483647 w 1540"/>
              <a:gd name="T3" fmla="*/ 2147483647 h 1670"/>
              <a:gd name="T4" fmla="*/ 2147483647 w 1540"/>
              <a:gd name="T5" fmla="*/ 2147483647 h 1670"/>
              <a:gd name="T6" fmla="*/ 2147483647 w 1540"/>
              <a:gd name="T7" fmla="*/ 2147483647 h 1670"/>
              <a:gd name="T8" fmla="*/ 2147483647 w 1540"/>
              <a:gd name="T9" fmla="*/ 2147483647 h 1670"/>
              <a:gd name="T10" fmla="*/ 2147483647 w 1540"/>
              <a:gd name="T11" fmla="*/ 2147483647 h 1670"/>
              <a:gd name="T12" fmla="*/ 2147483647 w 1540"/>
              <a:gd name="T13" fmla="*/ 2147483647 h 1670"/>
              <a:gd name="T14" fmla="*/ 2147483647 w 1540"/>
              <a:gd name="T15" fmla="*/ 2147483647 h 1670"/>
              <a:gd name="T16" fmla="*/ 2147483647 w 1540"/>
              <a:gd name="T17" fmla="*/ 2147483647 h 1670"/>
              <a:gd name="T18" fmla="*/ 2147483647 w 1540"/>
              <a:gd name="T19" fmla="*/ 2147483647 h 1670"/>
              <a:gd name="T20" fmla="*/ 2147483647 w 1540"/>
              <a:gd name="T21" fmla="*/ 2147483647 h 1670"/>
              <a:gd name="T22" fmla="*/ 2147483647 w 1540"/>
              <a:gd name="T23" fmla="*/ 2147483647 h 1670"/>
              <a:gd name="T24" fmla="*/ 2147483647 w 1540"/>
              <a:gd name="T25" fmla="*/ 2147483647 h 1670"/>
              <a:gd name="T26" fmla="*/ 2147483647 w 1540"/>
              <a:gd name="T27" fmla="*/ 2147483647 h 1670"/>
              <a:gd name="T28" fmla="*/ 2147483647 w 1540"/>
              <a:gd name="T29" fmla="*/ 2147483647 h 1670"/>
              <a:gd name="T30" fmla="*/ 2147483647 w 1540"/>
              <a:gd name="T31" fmla="*/ 2147483647 h 1670"/>
              <a:gd name="T32" fmla="*/ 2147483647 w 1540"/>
              <a:gd name="T33" fmla="*/ 2147483647 h 1670"/>
              <a:gd name="T34" fmla="*/ 2147483647 w 1540"/>
              <a:gd name="T35" fmla="*/ 2147483647 h 1670"/>
              <a:gd name="T36" fmla="*/ 2147483647 w 1540"/>
              <a:gd name="T37" fmla="*/ 2147483647 h 1670"/>
              <a:gd name="T38" fmla="*/ 2147483647 w 1540"/>
              <a:gd name="T39" fmla="*/ 2147483647 h 1670"/>
              <a:gd name="T40" fmla="*/ 2147483647 w 1540"/>
              <a:gd name="T41" fmla="*/ 2147483647 h 1670"/>
              <a:gd name="T42" fmla="*/ 2147483647 w 1540"/>
              <a:gd name="T43" fmla="*/ 0 h 1670"/>
              <a:gd name="T44" fmla="*/ 2147483647 w 1540"/>
              <a:gd name="T45" fmla="*/ 2147483647 h 1670"/>
              <a:gd name="T46" fmla="*/ 2147483647 w 1540"/>
              <a:gd name="T47" fmla="*/ 2147483647 h 1670"/>
              <a:gd name="T48" fmla="*/ 2147483647 w 1540"/>
              <a:gd name="T49" fmla="*/ 2147483647 h 1670"/>
              <a:gd name="T50" fmla="*/ 2147483647 w 1540"/>
              <a:gd name="T51" fmla="*/ 2147483647 h 1670"/>
              <a:gd name="T52" fmla="*/ 2147483647 w 1540"/>
              <a:gd name="T53" fmla="*/ 2147483647 h 1670"/>
              <a:gd name="T54" fmla="*/ 2147483647 w 1540"/>
              <a:gd name="T55" fmla="*/ 2147483647 h 1670"/>
              <a:gd name="T56" fmla="*/ 2147483647 w 1540"/>
              <a:gd name="T57" fmla="*/ 2147483647 h 1670"/>
              <a:gd name="T58" fmla="*/ 2147483647 w 1540"/>
              <a:gd name="T59" fmla="*/ 2147483647 h 1670"/>
              <a:gd name="T60" fmla="*/ 2147483647 w 1540"/>
              <a:gd name="T61" fmla="*/ 2147483647 h 1670"/>
              <a:gd name="T62" fmla="*/ 0 w 1540"/>
              <a:gd name="T63" fmla="*/ 2147483647 h 1670"/>
              <a:gd name="T64" fmla="*/ 2147483647 w 1540"/>
              <a:gd name="T65" fmla="*/ 2147483647 h 1670"/>
              <a:gd name="T66" fmla="*/ 2147483647 w 1540"/>
              <a:gd name="T67" fmla="*/ 2147483647 h 1670"/>
              <a:gd name="T68" fmla="*/ 2147483647 w 1540"/>
              <a:gd name="T69" fmla="*/ 2147483647 h 1670"/>
              <a:gd name="T70" fmla="*/ 2147483647 w 1540"/>
              <a:gd name="T71" fmla="*/ 2147483647 h 1670"/>
              <a:gd name="T72" fmla="*/ 2147483647 w 1540"/>
              <a:gd name="T73" fmla="*/ 2147483647 h 1670"/>
              <a:gd name="T74" fmla="*/ 2147483647 w 1540"/>
              <a:gd name="T75" fmla="*/ 2147483647 h 1670"/>
              <a:gd name="T76" fmla="*/ 2147483647 w 1540"/>
              <a:gd name="T77" fmla="*/ 2147483647 h 1670"/>
              <a:gd name="T78" fmla="*/ 2147483647 w 1540"/>
              <a:gd name="T79" fmla="*/ 2147483647 h 1670"/>
              <a:gd name="T80" fmla="*/ 2147483647 w 1540"/>
              <a:gd name="T81" fmla="*/ 2147483647 h 1670"/>
              <a:gd name="T82" fmla="*/ 2147483647 w 1540"/>
              <a:gd name="T83" fmla="*/ 2147483647 h 1670"/>
              <a:gd name="T84" fmla="*/ 2147483647 w 1540"/>
              <a:gd name="T85" fmla="*/ 2147483647 h 1670"/>
              <a:gd name="T86" fmla="*/ 2147483647 w 1540"/>
              <a:gd name="T87" fmla="*/ 2147483647 h 1670"/>
              <a:gd name="T88" fmla="*/ 2147483647 w 1540"/>
              <a:gd name="T89" fmla="*/ 2147483647 h 1670"/>
              <a:gd name="T90" fmla="*/ 2147483647 w 1540"/>
              <a:gd name="T91" fmla="*/ 2147483647 h 1670"/>
              <a:gd name="T92" fmla="*/ 2147483647 w 1540"/>
              <a:gd name="T93" fmla="*/ 2147483647 h 1670"/>
              <a:gd name="T94" fmla="*/ 2147483647 w 1540"/>
              <a:gd name="T95" fmla="*/ 2147483647 h 167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1540"/>
              <a:gd name="T145" fmla="*/ 0 h 1670"/>
              <a:gd name="T146" fmla="*/ 1540 w 1540"/>
              <a:gd name="T147" fmla="*/ 1670 h 167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1540" h="1670">
                <a:moveTo>
                  <a:pt x="1310" y="1670"/>
                </a:moveTo>
                <a:lnTo>
                  <a:pt x="1323" y="1668"/>
                </a:lnTo>
                <a:lnTo>
                  <a:pt x="1334" y="1668"/>
                </a:lnTo>
                <a:lnTo>
                  <a:pt x="1345" y="1666"/>
                </a:lnTo>
                <a:lnTo>
                  <a:pt x="1356" y="1662"/>
                </a:lnTo>
                <a:lnTo>
                  <a:pt x="1367" y="1661"/>
                </a:lnTo>
                <a:lnTo>
                  <a:pt x="1378" y="1657"/>
                </a:lnTo>
                <a:lnTo>
                  <a:pt x="1388" y="1653"/>
                </a:lnTo>
                <a:lnTo>
                  <a:pt x="1399" y="1649"/>
                </a:lnTo>
                <a:lnTo>
                  <a:pt x="1419" y="1638"/>
                </a:lnTo>
                <a:lnTo>
                  <a:pt x="1437" y="1626"/>
                </a:lnTo>
                <a:lnTo>
                  <a:pt x="1454" y="1613"/>
                </a:lnTo>
                <a:lnTo>
                  <a:pt x="1470" y="1598"/>
                </a:lnTo>
                <a:lnTo>
                  <a:pt x="1485" y="1580"/>
                </a:lnTo>
                <a:lnTo>
                  <a:pt x="1498" y="1561"/>
                </a:lnTo>
                <a:lnTo>
                  <a:pt x="1511" y="1542"/>
                </a:lnTo>
                <a:lnTo>
                  <a:pt x="1520" y="1523"/>
                </a:lnTo>
                <a:lnTo>
                  <a:pt x="1524" y="1512"/>
                </a:lnTo>
                <a:lnTo>
                  <a:pt x="1527" y="1500"/>
                </a:lnTo>
                <a:lnTo>
                  <a:pt x="1531" y="1491"/>
                </a:lnTo>
                <a:lnTo>
                  <a:pt x="1535" y="1479"/>
                </a:lnTo>
                <a:lnTo>
                  <a:pt x="1537" y="1468"/>
                </a:lnTo>
                <a:lnTo>
                  <a:pt x="1538" y="1454"/>
                </a:lnTo>
                <a:lnTo>
                  <a:pt x="1540" y="1443"/>
                </a:lnTo>
                <a:lnTo>
                  <a:pt x="1540" y="1431"/>
                </a:lnTo>
                <a:lnTo>
                  <a:pt x="1540" y="238"/>
                </a:lnTo>
                <a:lnTo>
                  <a:pt x="1531" y="219"/>
                </a:lnTo>
                <a:lnTo>
                  <a:pt x="1522" y="200"/>
                </a:lnTo>
                <a:lnTo>
                  <a:pt x="1511" y="181"/>
                </a:lnTo>
                <a:lnTo>
                  <a:pt x="1498" y="164"/>
                </a:lnTo>
                <a:lnTo>
                  <a:pt x="1487" y="147"/>
                </a:lnTo>
                <a:lnTo>
                  <a:pt x="1474" y="129"/>
                </a:lnTo>
                <a:lnTo>
                  <a:pt x="1459" y="114"/>
                </a:lnTo>
                <a:lnTo>
                  <a:pt x="1445" y="99"/>
                </a:lnTo>
                <a:lnTo>
                  <a:pt x="1430" y="84"/>
                </a:lnTo>
                <a:lnTo>
                  <a:pt x="1415" y="70"/>
                </a:lnTo>
                <a:lnTo>
                  <a:pt x="1399" y="57"/>
                </a:lnTo>
                <a:lnTo>
                  <a:pt x="1382" y="44"/>
                </a:lnTo>
                <a:lnTo>
                  <a:pt x="1365" y="30"/>
                </a:lnTo>
                <a:lnTo>
                  <a:pt x="1347" y="21"/>
                </a:lnTo>
                <a:lnTo>
                  <a:pt x="1329" y="9"/>
                </a:lnTo>
                <a:lnTo>
                  <a:pt x="1310" y="0"/>
                </a:lnTo>
                <a:lnTo>
                  <a:pt x="850" y="0"/>
                </a:lnTo>
                <a:lnTo>
                  <a:pt x="832" y="9"/>
                </a:lnTo>
                <a:lnTo>
                  <a:pt x="814" y="19"/>
                </a:lnTo>
                <a:lnTo>
                  <a:pt x="795" y="30"/>
                </a:lnTo>
                <a:lnTo>
                  <a:pt x="777" y="42"/>
                </a:lnTo>
                <a:lnTo>
                  <a:pt x="760" y="53"/>
                </a:lnTo>
                <a:lnTo>
                  <a:pt x="744" y="66"/>
                </a:lnTo>
                <a:lnTo>
                  <a:pt x="729" y="82"/>
                </a:lnTo>
                <a:lnTo>
                  <a:pt x="714" y="95"/>
                </a:lnTo>
                <a:lnTo>
                  <a:pt x="699" y="110"/>
                </a:lnTo>
                <a:lnTo>
                  <a:pt x="687" y="128"/>
                </a:lnTo>
                <a:lnTo>
                  <a:pt x="674" y="145"/>
                </a:lnTo>
                <a:lnTo>
                  <a:pt x="661" y="162"/>
                </a:lnTo>
                <a:lnTo>
                  <a:pt x="650" y="181"/>
                </a:lnTo>
                <a:lnTo>
                  <a:pt x="639" y="198"/>
                </a:lnTo>
                <a:lnTo>
                  <a:pt x="630" y="219"/>
                </a:lnTo>
                <a:lnTo>
                  <a:pt x="620" y="238"/>
                </a:lnTo>
                <a:lnTo>
                  <a:pt x="620" y="1050"/>
                </a:lnTo>
                <a:lnTo>
                  <a:pt x="0" y="1431"/>
                </a:lnTo>
                <a:lnTo>
                  <a:pt x="620" y="1431"/>
                </a:lnTo>
                <a:lnTo>
                  <a:pt x="620" y="1443"/>
                </a:lnTo>
                <a:lnTo>
                  <a:pt x="620" y="1454"/>
                </a:lnTo>
                <a:lnTo>
                  <a:pt x="620" y="1464"/>
                </a:lnTo>
                <a:lnTo>
                  <a:pt x="620" y="1475"/>
                </a:lnTo>
                <a:lnTo>
                  <a:pt x="622" y="1487"/>
                </a:lnTo>
                <a:lnTo>
                  <a:pt x="624" y="1496"/>
                </a:lnTo>
                <a:lnTo>
                  <a:pt x="626" y="1508"/>
                </a:lnTo>
                <a:lnTo>
                  <a:pt x="630" y="1517"/>
                </a:lnTo>
                <a:lnTo>
                  <a:pt x="633" y="1527"/>
                </a:lnTo>
                <a:lnTo>
                  <a:pt x="637" y="1536"/>
                </a:lnTo>
                <a:lnTo>
                  <a:pt x="644" y="1556"/>
                </a:lnTo>
                <a:lnTo>
                  <a:pt x="655" y="1575"/>
                </a:lnTo>
                <a:lnTo>
                  <a:pt x="668" y="1592"/>
                </a:lnTo>
                <a:lnTo>
                  <a:pt x="681" y="1607"/>
                </a:lnTo>
                <a:lnTo>
                  <a:pt x="696" y="1620"/>
                </a:lnTo>
                <a:lnTo>
                  <a:pt x="712" y="1634"/>
                </a:lnTo>
                <a:lnTo>
                  <a:pt x="729" y="1645"/>
                </a:lnTo>
                <a:lnTo>
                  <a:pt x="747" y="1653"/>
                </a:lnTo>
                <a:lnTo>
                  <a:pt x="758" y="1657"/>
                </a:lnTo>
                <a:lnTo>
                  <a:pt x="768" y="1661"/>
                </a:lnTo>
                <a:lnTo>
                  <a:pt x="777" y="1664"/>
                </a:lnTo>
                <a:lnTo>
                  <a:pt x="788" y="1666"/>
                </a:lnTo>
                <a:lnTo>
                  <a:pt x="799" y="1668"/>
                </a:lnTo>
                <a:lnTo>
                  <a:pt x="810" y="1670"/>
                </a:lnTo>
                <a:lnTo>
                  <a:pt x="819" y="1670"/>
                </a:lnTo>
                <a:lnTo>
                  <a:pt x="830" y="1670"/>
                </a:lnTo>
                <a:lnTo>
                  <a:pt x="841" y="1670"/>
                </a:lnTo>
                <a:lnTo>
                  <a:pt x="850" y="1670"/>
                </a:lnTo>
                <a:lnTo>
                  <a:pt x="1310" y="167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8" name="Rectangle 55"/>
          <p:cNvSpPr>
            <a:spLocks noChangeArrowheads="1"/>
          </p:cNvSpPr>
          <p:nvPr/>
        </p:nvSpPr>
        <p:spPr bwMode="auto">
          <a:xfrm>
            <a:off x="7315200" y="4800600"/>
            <a:ext cx="6334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壁虎</a:t>
            </a:r>
            <a:endParaRPr lang="zh-CN" altLang="en-US" sz="4000"/>
          </a:p>
        </p:txBody>
      </p:sp>
      <p:sp>
        <p:nvSpPr>
          <p:cNvPr id="9249" name="Rectangle 56"/>
          <p:cNvSpPr>
            <a:spLocks noChangeArrowheads="1"/>
          </p:cNvSpPr>
          <p:nvPr/>
        </p:nvSpPr>
        <p:spPr bwMode="auto">
          <a:xfrm>
            <a:off x="6627813" y="5181600"/>
            <a:ext cx="1587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    是一种</a:t>
            </a:r>
            <a:endParaRPr lang="zh-CN" altLang="en-US" sz="4000"/>
          </a:p>
        </p:txBody>
      </p:sp>
      <p:sp>
        <p:nvSpPr>
          <p:cNvPr id="9250" name="Rectangle 57"/>
          <p:cNvSpPr>
            <a:spLocks noChangeArrowheads="1"/>
          </p:cNvSpPr>
          <p:nvPr/>
        </p:nvSpPr>
        <p:spPr bwMode="auto">
          <a:xfrm>
            <a:off x="6553200" y="5486400"/>
            <a:ext cx="14287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     蜥蜴</a:t>
            </a:r>
            <a:endParaRPr lang="zh-CN" altLang="en-US" sz="4000"/>
          </a:p>
        </p:txBody>
      </p:sp>
      <p:sp>
        <p:nvSpPr>
          <p:cNvPr id="9251" name="Freeform 58"/>
          <p:cNvSpPr/>
          <p:nvPr/>
        </p:nvSpPr>
        <p:spPr bwMode="auto">
          <a:xfrm>
            <a:off x="6448425" y="1790700"/>
            <a:ext cx="1319213" cy="1905000"/>
          </a:xfrm>
          <a:custGeom>
            <a:avLst/>
            <a:gdLst>
              <a:gd name="T0" fmla="*/ 2147483647 w 1176"/>
              <a:gd name="T1" fmla="*/ 2147483647 h 1672"/>
              <a:gd name="T2" fmla="*/ 2147483647 w 1176"/>
              <a:gd name="T3" fmla="*/ 2147483647 h 1672"/>
              <a:gd name="T4" fmla="*/ 2147483647 w 1176"/>
              <a:gd name="T5" fmla="*/ 2147483647 h 1672"/>
              <a:gd name="T6" fmla="*/ 2147483647 w 1176"/>
              <a:gd name="T7" fmla="*/ 2147483647 h 1672"/>
              <a:gd name="T8" fmla="*/ 2147483647 w 1176"/>
              <a:gd name="T9" fmla="*/ 2147483647 h 1672"/>
              <a:gd name="T10" fmla="*/ 2147483647 w 1176"/>
              <a:gd name="T11" fmla="*/ 2147483647 h 1672"/>
              <a:gd name="T12" fmla="*/ 2147483647 w 1176"/>
              <a:gd name="T13" fmla="*/ 2147483647 h 1672"/>
              <a:gd name="T14" fmla="*/ 2147483647 w 1176"/>
              <a:gd name="T15" fmla="*/ 2147483647 h 1672"/>
              <a:gd name="T16" fmla="*/ 2147483647 w 1176"/>
              <a:gd name="T17" fmla="*/ 2147483647 h 1672"/>
              <a:gd name="T18" fmla="*/ 2147483647 w 1176"/>
              <a:gd name="T19" fmla="*/ 2147483647 h 1672"/>
              <a:gd name="T20" fmla="*/ 2147483647 w 1176"/>
              <a:gd name="T21" fmla="*/ 2147483647 h 1672"/>
              <a:gd name="T22" fmla="*/ 2147483647 w 1176"/>
              <a:gd name="T23" fmla="*/ 2147483647 h 1672"/>
              <a:gd name="T24" fmla="*/ 2147483647 w 1176"/>
              <a:gd name="T25" fmla="*/ 2147483647 h 1672"/>
              <a:gd name="T26" fmla="*/ 2147483647 w 1176"/>
              <a:gd name="T27" fmla="*/ 2147483647 h 1672"/>
              <a:gd name="T28" fmla="*/ 2147483647 w 1176"/>
              <a:gd name="T29" fmla="*/ 2147483647 h 1672"/>
              <a:gd name="T30" fmla="*/ 2147483647 w 1176"/>
              <a:gd name="T31" fmla="*/ 2147483647 h 1672"/>
              <a:gd name="T32" fmla="*/ 2147483647 w 1176"/>
              <a:gd name="T33" fmla="*/ 2147483647 h 1672"/>
              <a:gd name="T34" fmla="*/ 2147483647 w 1176"/>
              <a:gd name="T35" fmla="*/ 2147483647 h 1672"/>
              <a:gd name="T36" fmla="*/ 2147483647 w 1176"/>
              <a:gd name="T37" fmla="*/ 2147483647 h 1672"/>
              <a:gd name="T38" fmla="*/ 2147483647 w 1176"/>
              <a:gd name="T39" fmla="*/ 2147483647 h 1672"/>
              <a:gd name="T40" fmla="*/ 2147483647 w 1176"/>
              <a:gd name="T41" fmla="*/ 2147483647 h 1672"/>
              <a:gd name="T42" fmla="*/ 2147483647 w 1176"/>
              <a:gd name="T43" fmla="*/ 2147483647 h 1672"/>
              <a:gd name="T44" fmla="*/ 2147483647 w 1176"/>
              <a:gd name="T45" fmla="*/ 2147483647 h 1672"/>
              <a:gd name="T46" fmla="*/ 2147483647 w 1176"/>
              <a:gd name="T47" fmla="*/ 0 h 1672"/>
              <a:gd name="T48" fmla="*/ 2147483647 w 1176"/>
              <a:gd name="T49" fmla="*/ 2147483647 h 1672"/>
              <a:gd name="T50" fmla="*/ 2147483647 w 1176"/>
              <a:gd name="T51" fmla="*/ 2147483647 h 1672"/>
              <a:gd name="T52" fmla="*/ 2147483647 w 1176"/>
              <a:gd name="T53" fmla="*/ 2147483647 h 1672"/>
              <a:gd name="T54" fmla="*/ 2147483647 w 1176"/>
              <a:gd name="T55" fmla="*/ 2147483647 h 1672"/>
              <a:gd name="T56" fmla="*/ 2147483647 w 1176"/>
              <a:gd name="T57" fmla="*/ 2147483647 h 1672"/>
              <a:gd name="T58" fmla="*/ 2147483647 w 1176"/>
              <a:gd name="T59" fmla="*/ 2147483647 h 1672"/>
              <a:gd name="T60" fmla="*/ 2147483647 w 1176"/>
              <a:gd name="T61" fmla="*/ 2147483647 h 1672"/>
              <a:gd name="T62" fmla="*/ 2147483647 w 1176"/>
              <a:gd name="T63" fmla="*/ 2147483647 h 1672"/>
              <a:gd name="T64" fmla="*/ 2147483647 w 1176"/>
              <a:gd name="T65" fmla="*/ 2147483647 h 167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76"/>
              <a:gd name="T100" fmla="*/ 0 h 1672"/>
              <a:gd name="T101" fmla="*/ 1176 w 1176"/>
              <a:gd name="T102" fmla="*/ 1672 h 167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76" h="1672">
                <a:moveTo>
                  <a:pt x="0" y="1672"/>
                </a:moveTo>
                <a:lnTo>
                  <a:pt x="482" y="1434"/>
                </a:lnTo>
                <a:lnTo>
                  <a:pt x="942" y="1432"/>
                </a:lnTo>
                <a:lnTo>
                  <a:pt x="953" y="1432"/>
                </a:lnTo>
                <a:lnTo>
                  <a:pt x="963" y="1434"/>
                </a:lnTo>
                <a:lnTo>
                  <a:pt x="974" y="1434"/>
                </a:lnTo>
                <a:lnTo>
                  <a:pt x="983" y="1434"/>
                </a:lnTo>
                <a:lnTo>
                  <a:pt x="994" y="1434"/>
                </a:lnTo>
                <a:lnTo>
                  <a:pt x="1003" y="1432"/>
                </a:lnTo>
                <a:lnTo>
                  <a:pt x="1012" y="1430"/>
                </a:lnTo>
                <a:lnTo>
                  <a:pt x="1021" y="1428"/>
                </a:lnTo>
                <a:lnTo>
                  <a:pt x="1042" y="1422"/>
                </a:lnTo>
                <a:lnTo>
                  <a:pt x="1058" y="1415"/>
                </a:lnTo>
                <a:lnTo>
                  <a:pt x="1077" y="1405"/>
                </a:lnTo>
                <a:lnTo>
                  <a:pt x="1091" y="1395"/>
                </a:lnTo>
                <a:lnTo>
                  <a:pt x="1108" y="1382"/>
                </a:lnTo>
                <a:lnTo>
                  <a:pt x="1121" y="1369"/>
                </a:lnTo>
                <a:lnTo>
                  <a:pt x="1134" y="1353"/>
                </a:lnTo>
                <a:lnTo>
                  <a:pt x="1145" y="1336"/>
                </a:lnTo>
                <a:lnTo>
                  <a:pt x="1154" y="1319"/>
                </a:lnTo>
                <a:lnTo>
                  <a:pt x="1163" y="1300"/>
                </a:lnTo>
                <a:lnTo>
                  <a:pt x="1165" y="1290"/>
                </a:lnTo>
                <a:lnTo>
                  <a:pt x="1169" y="1281"/>
                </a:lnTo>
                <a:lnTo>
                  <a:pt x="1170" y="1269"/>
                </a:lnTo>
                <a:lnTo>
                  <a:pt x="1172" y="1260"/>
                </a:lnTo>
                <a:lnTo>
                  <a:pt x="1174" y="1243"/>
                </a:lnTo>
                <a:lnTo>
                  <a:pt x="1176" y="1226"/>
                </a:lnTo>
                <a:lnTo>
                  <a:pt x="1174" y="1208"/>
                </a:lnTo>
                <a:lnTo>
                  <a:pt x="1172" y="1193"/>
                </a:lnTo>
                <a:lnTo>
                  <a:pt x="1172" y="239"/>
                </a:lnTo>
                <a:lnTo>
                  <a:pt x="1165" y="218"/>
                </a:lnTo>
                <a:lnTo>
                  <a:pt x="1156" y="198"/>
                </a:lnTo>
                <a:lnTo>
                  <a:pt x="1145" y="179"/>
                </a:lnTo>
                <a:lnTo>
                  <a:pt x="1134" y="160"/>
                </a:lnTo>
                <a:lnTo>
                  <a:pt x="1121" y="143"/>
                </a:lnTo>
                <a:lnTo>
                  <a:pt x="1110" y="126"/>
                </a:lnTo>
                <a:lnTo>
                  <a:pt x="1095" y="111"/>
                </a:lnTo>
                <a:lnTo>
                  <a:pt x="1080" y="93"/>
                </a:lnTo>
                <a:lnTo>
                  <a:pt x="1066" y="80"/>
                </a:lnTo>
                <a:lnTo>
                  <a:pt x="1051" y="65"/>
                </a:lnTo>
                <a:lnTo>
                  <a:pt x="1034" y="51"/>
                </a:lnTo>
                <a:lnTo>
                  <a:pt x="1016" y="40"/>
                </a:lnTo>
                <a:lnTo>
                  <a:pt x="999" y="29"/>
                </a:lnTo>
                <a:lnTo>
                  <a:pt x="981" y="17"/>
                </a:lnTo>
                <a:lnTo>
                  <a:pt x="963" y="8"/>
                </a:lnTo>
                <a:lnTo>
                  <a:pt x="942" y="0"/>
                </a:lnTo>
                <a:lnTo>
                  <a:pt x="482" y="0"/>
                </a:lnTo>
                <a:lnTo>
                  <a:pt x="462" y="6"/>
                </a:lnTo>
                <a:lnTo>
                  <a:pt x="442" y="13"/>
                </a:lnTo>
                <a:lnTo>
                  <a:pt x="422" y="21"/>
                </a:lnTo>
                <a:lnTo>
                  <a:pt x="403" y="30"/>
                </a:lnTo>
                <a:lnTo>
                  <a:pt x="385" y="42"/>
                </a:lnTo>
                <a:lnTo>
                  <a:pt x="366" y="55"/>
                </a:lnTo>
                <a:lnTo>
                  <a:pt x="350" y="69"/>
                </a:lnTo>
                <a:lnTo>
                  <a:pt x="335" y="84"/>
                </a:lnTo>
                <a:lnTo>
                  <a:pt x="320" y="101"/>
                </a:lnTo>
                <a:lnTo>
                  <a:pt x="308" y="116"/>
                </a:lnTo>
                <a:lnTo>
                  <a:pt x="295" y="135"/>
                </a:lnTo>
                <a:lnTo>
                  <a:pt x="284" y="155"/>
                </a:lnTo>
                <a:lnTo>
                  <a:pt x="274" y="174"/>
                </a:lnTo>
                <a:lnTo>
                  <a:pt x="265" y="195"/>
                </a:lnTo>
                <a:lnTo>
                  <a:pt x="258" y="216"/>
                </a:lnTo>
                <a:lnTo>
                  <a:pt x="252" y="239"/>
                </a:lnTo>
                <a:lnTo>
                  <a:pt x="252" y="1195"/>
                </a:lnTo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2" name="Freeform 59"/>
          <p:cNvSpPr/>
          <p:nvPr/>
        </p:nvSpPr>
        <p:spPr bwMode="auto">
          <a:xfrm>
            <a:off x="6457950" y="3162300"/>
            <a:ext cx="285750" cy="533400"/>
          </a:xfrm>
          <a:custGeom>
            <a:avLst/>
            <a:gdLst>
              <a:gd name="T0" fmla="*/ 2147483647 w 252"/>
              <a:gd name="T1" fmla="*/ 0 h 477"/>
              <a:gd name="T2" fmla="*/ 2147483647 w 252"/>
              <a:gd name="T3" fmla="*/ 2147483647 h 477"/>
              <a:gd name="T4" fmla="*/ 0 w 252"/>
              <a:gd name="T5" fmla="*/ 2147483647 h 477"/>
              <a:gd name="T6" fmla="*/ 0 60000 65536"/>
              <a:gd name="T7" fmla="*/ 0 60000 65536"/>
              <a:gd name="T8" fmla="*/ 0 60000 65536"/>
              <a:gd name="T9" fmla="*/ 0 w 252"/>
              <a:gd name="T10" fmla="*/ 0 h 477"/>
              <a:gd name="T11" fmla="*/ 252 w 252"/>
              <a:gd name="T12" fmla="*/ 477 h 4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2" h="477">
                <a:moveTo>
                  <a:pt x="252" y="0"/>
                </a:moveTo>
                <a:lnTo>
                  <a:pt x="252" y="143"/>
                </a:lnTo>
                <a:lnTo>
                  <a:pt x="0" y="477"/>
                </a:lnTo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3" name="Rectangle 60"/>
          <p:cNvSpPr>
            <a:spLocks noChangeArrowheads="1"/>
          </p:cNvSpPr>
          <p:nvPr/>
        </p:nvSpPr>
        <p:spPr bwMode="auto">
          <a:xfrm>
            <a:off x="6750050" y="1981200"/>
            <a:ext cx="793750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 爬行</a:t>
            </a:r>
            <a:endParaRPr lang="zh-CN" altLang="en-US" sz="4000"/>
          </a:p>
        </p:txBody>
      </p:sp>
      <p:sp>
        <p:nvSpPr>
          <p:cNvPr id="9254" name="Rectangle 61"/>
          <p:cNvSpPr>
            <a:spLocks noChangeArrowheads="1"/>
          </p:cNvSpPr>
          <p:nvPr/>
        </p:nvSpPr>
        <p:spPr bwMode="auto">
          <a:xfrm>
            <a:off x="6826250" y="2362200"/>
            <a:ext cx="10223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动物是</a:t>
            </a:r>
            <a:endParaRPr lang="zh-CN" altLang="en-US" sz="2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55" name="Rectangle 62"/>
          <p:cNvSpPr>
            <a:spLocks noChangeArrowheads="1"/>
          </p:cNvSpPr>
          <p:nvPr/>
        </p:nvSpPr>
        <p:spPr bwMode="auto">
          <a:xfrm>
            <a:off x="6629400" y="2743200"/>
            <a:ext cx="11096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 动物的</a:t>
            </a:r>
            <a:endParaRPr lang="zh-CN" altLang="en-US" sz="4000"/>
          </a:p>
        </p:txBody>
      </p:sp>
      <p:sp>
        <p:nvSpPr>
          <p:cNvPr id="9256" name="Rectangle 63"/>
          <p:cNvSpPr>
            <a:spLocks noChangeArrowheads="1"/>
          </p:cNvSpPr>
          <p:nvPr/>
        </p:nvSpPr>
        <p:spPr bwMode="auto">
          <a:xfrm>
            <a:off x="6750050" y="3048000"/>
            <a:ext cx="7937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 一种</a:t>
            </a:r>
            <a:endParaRPr lang="zh-CN" altLang="en-US" sz="4000"/>
          </a:p>
        </p:txBody>
      </p:sp>
      <p:sp>
        <p:nvSpPr>
          <p:cNvPr id="9257" name="Freeform 64"/>
          <p:cNvSpPr/>
          <p:nvPr/>
        </p:nvSpPr>
        <p:spPr bwMode="auto">
          <a:xfrm>
            <a:off x="2571750" y="4446588"/>
            <a:ext cx="1241425" cy="280987"/>
          </a:xfrm>
          <a:custGeom>
            <a:avLst/>
            <a:gdLst>
              <a:gd name="T0" fmla="*/ 2147483647 w 1379"/>
              <a:gd name="T1" fmla="*/ 2147483647 h 326"/>
              <a:gd name="T2" fmla="*/ 2147483647 w 1379"/>
              <a:gd name="T3" fmla="*/ 0 h 326"/>
              <a:gd name="T4" fmla="*/ 0 w 1379"/>
              <a:gd name="T5" fmla="*/ 0 h 326"/>
              <a:gd name="T6" fmla="*/ 0 w 1379"/>
              <a:gd name="T7" fmla="*/ 2147483647 h 326"/>
              <a:gd name="T8" fmla="*/ 0 60000 65536"/>
              <a:gd name="T9" fmla="*/ 0 60000 65536"/>
              <a:gd name="T10" fmla="*/ 0 60000 65536"/>
              <a:gd name="T11" fmla="*/ 0 60000 65536"/>
              <a:gd name="T12" fmla="*/ 0 w 1379"/>
              <a:gd name="T13" fmla="*/ 0 h 326"/>
              <a:gd name="T14" fmla="*/ 1379 w 1379"/>
              <a:gd name="T15" fmla="*/ 326 h 3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79" h="326">
                <a:moveTo>
                  <a:pt x="1379" y="326"/>
                </a:moveTo>
                <a:lnTo>
                  <a:pt x="1379" y="0"/>
                </a:lnTo>
                <a:lnTo>
                  <a:pt x="0" y="0"/>
                </a:lnTo>
                <a:lnTo>
                  <a:pt x="0" y="286"/>
                </a:lnTo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8" name="Freeform 65"/>
          <p:cNvSpPr/>
          <p:nvPr/>
        </p:nvSpPr>
        <p:spPr bwMode="auto">
          <a:xfrm>
            <a:off x="4730750" y="5407025"/>
            <a:ext cx="1241425" cy="280988"/>
          </a:xfrm>
          <a:custGeom>
            <a:avLst/>
            <a:gdLst>
              <a:gd name="T0" fmla="*/ 2147483647 w 1379"/>
              <a:gd name="T1" fmla="*/ 2147483647 h 326"/>
              <a:gd name="T2" fmla="*/ 2147483647 w 1379"/>
              <a:gd name="T3" fmla="*/ 0 h 326"/>
              <a:gd name="T4" fmla="*/ 0 w 1379"/>
              <a:gd name="T5" fmla="*/ 0 h 326"/>
              <a:gd name="T6" fmla="*/ 0 w 1379"/>
              <a:gd name="T7" fmla="*/ 2147483647 h 326"/>
              <a:gd name="T8" fmla="*/ 0 60000 65536"/>
              <a:gd name="T9" fmla="*/ 0 60000 65536"/>
              <a:gd name="T10" fmla="*/ 0 60000 65536"/>
              <a:gd name="T11" fmla="*/ 0 60000 65536"/>
              <a:gd name="T12" fmla="*/ 0 w 1379"/>
              <a:gd name="T13" fmla="*/ 0 h 326"/>
              <a:gd name="T14" fmla="*/ 1379 w 1379"/>
              <a:gd name="T15" fmla="*/ 326 h 3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79" h="326">
                <a:moveTo>
                  <a:pt x="1379" y="326"/>
                </a:moveTo>
                <a:lnTo>
                  <a:pt x="1379" y="0"/>
                </a:lnTo>
                <a:lnTo>
                  <a:pt x="0" y="0"/>
                </a:lnTo>
                <a:lnTo>
                  <a:pt x="0" y="286"/>
                </a:lnTo>
              </a:path>
            </a:pathLst>
          </a:cu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9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9260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1.1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继承的概念</a:t>
            </a:r>
            <a:br>
              <a:rPr kumimoji="0" lang="zh-CN" altLang="en-US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——图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E422B68-0B1E-4610-B067-3EBF6BE735BF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0243" name="Rectangle 6"/>
          <p:cNvSpPr>
            <a:spLocks noChangeArrowheads="1"/>
          </p:cNvSpPr>
          <p:nvPr/>
        </p:nvSpPr>
        <p:spPr bwMode="auto">
          <a:xfrm>
            <a:off x="6858000" y="5791200"/>
            <a:ext cx="838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8229600" cy="887412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举例</a:t>
            </a:r>
            <a:endParaRPr lang="zh-CN" altLang="en-US" smtClean="0"/>
          </a:p>
        </p:txBody>
      </p:sp>
      <p:sp>
        <p:nvSpPr>
          <p:cNvPr id="10245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1.1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继承的概念</a:t>
            </a:r>
            <a:br>
              <a:rPr kumimoji="0" lang="zh-CN" altLang="en-US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——又一个例子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pic>
        <p:nvPicPr>
          <p:cNvPr id="10247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790700"/>
            <a:ext cx="876300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007A464-45A5-4FC0-B0FB-800A20690866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223963"/>
            <a:ext cx="7658100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375467C-5F27-456A-9F45-F2DD42FCFBFC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905000"/>
            <a:ext cx="75438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派生类产生的对象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 smtClean="0"/>
              <a:t>从外部来看，它应该包括</a:t>
            </a:r>
            <a:endParaRPr lang="en-US" altLang="zh-CN" sz="2800" dirty="0" smtClean="0"/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dirty="0">
                <a:ea typeface="+mn-ea"/>
              </a:rPr>
              <a:t>与基类相同的接口</a:t>
            </a:r>
            <a:endParaRPr lang="en-US" altLang="zh-CN" sz="2800" dirty="0">
              <a:ea typeface="+mn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dirty="0">
                <a:ea typeface="+mn-ea"/>
              </a:rPr>
              <a:t>可以具有更多的方法和数据成员</a:t>
            </a:r>
            <a:endParaRPr lang="en-US" altLang="zh-CN" sz="2800" dirty="0">
              <a:ea typeface="+mn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 smtClean="0"/>
              <a:t>其内包含着一个基类类型的子对象</a:t>
            </a:r>
            <a:endParaRPr lang="en-US" altLang="zh-CN" sz="2800" dirty="0" smtClean="0"/>
          </a:p>
        </p:txBody>
      </p:sp>
      <p:sp>
        <p:nvSpPr>
          <p:cNvPr id="12292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1.1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继承的概念</a:t>
            </a:r>
            <a:br>
              <a:rPr kumimoji="0" lang="zh-CN" altLang="en-US" sz="4000" dirty="0"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——派生类对象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10AA01D-563C-47CF-9B68-A0B869DC2EAB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z="3600" smtClean="0"/>
              <a:t>1.2</a:t>
            </a:r>
            <a:r>
              <a:rPr lang="zh-CN" altLang="en-GB" sz="3600" smtClean="0">
                <a:latin typeface="Verdana" panose="020B0604030504040204" pitchFamily="34" charset="0"/>
              </a:rPr>
              <a:t> 继承的语法</a:t>
            </a:r>
            <a:endParaRPr lang="zh-CN" altLang="en-US" sz="3600" smtClean="0">
              <a:latin typeface="Verdana" panose="020B0604030504040204" pitchFamily="34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8056562" cy="47879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继承的语法</a:t>
            </a:r>
            <a:endParaRPr lang="en-US" altLang="zh-CN" dirty="0" smtClean="0"/>
          </a:p>
          <a:p>
            <a:pPr eaLnBrk="1" hangingPunct="1"/>
            <a:endParaRPr lang="zh-CN" altLang="en-US" dirty="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3200" dirty="0" smtClean="0"/>
              <a:t>class </a:t>
            </a:r>
            <a:r>
              <a:rPr lang="en-US" altLang="zh-CN" sz="3200" dirty="0" err="1" smtClean="0"/>
              <a:t>childClass</a:t>
            </a:r>
            <a:r>
              <a:rPr lang="en-US" altLang="zh-CN" sz="3200" dirty="0" smtClean="0"/>
              <a:t> extends </a:t>
            </a:r>
            <a:r>
              <a:rPr lang="en-US" altLang="zh-CN" sz="3200" dirty="0" err="1" smtClean="0"/>
              <a:t>parentClass</a:t>
            </a:r>
            <a:endParaRPr lang="en-US" altLang="zh-CN" sz="3200" dirty="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3200" dirty="0" smtClean="0"/>
              <a:t>{ </a:t>
            </a:r>
            <a:endParaRPr lang="en-US" altLang="zh-CN" sz="3200" dirty="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3200" dirty="0" smtClean="0"/>
              <a:t>	//</a:t>
            </a:r>
            <a:r>
              <a:rPr lang="zh-CN" altLang="en-US" sz="3200" dirty="0" smtClean="0"/>
              <a:t>类体</a:t>
            </a:r>
            <a:endParaRPr lang="zh-CN" altLang="en-US" sz="3200" dirty="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3200" dirty="0" smtClean="0"/>
              <a:t>}</a:t>
            </a:r>
            <a:endParaRPr lang="zh-CN" altLang="en-US" sz="3200" dirty="0" smtClean="0"/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214313" y="1600223"/>
            <a:ext cx="611187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dirty="0"/>
              <a:t>类的继承</a:t>
            </a:r>
            <a:endParaRPr lang="zh-CN" altLang="en-US" sz="2800" dirty="0"/>
          </a:p>
        </p:txBody>
      </p:sp>
      <p:sp>
        <p:nvSpPr>
          <p:cNvPr id="1331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6B6C2FAC-24B0-45CC-9279-9C81AAD3CC1B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7620000" y="5257800"/>
            <a:ext cx="1524000" cy="838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752600"/>
            <a:ext cx="7239000" cy="455672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zh-CN" altLang="en-US" sz="2400" dirty="0" smtClean="0"/>
              <a:t>在一个公司中，有普通员工（</a:t>
            </a:r>
            <a:r>
              <a:rPr lang="en-US" altLang="zh-CN" sz="2400" dirty="0" smtClean="0"/>
              <a:t>Employees）</a:t>
            </a:r>
            <a:r>
              <a:rPr lang="zh-CN" altLang="en-US" sz="2400" dirty="0" smtClean="0"/>
              <a:t>及管理人员</a:t>
            </a:r>
            <a:r>
              <a:rPr lang="zh-CN" altLang="en-US" sz="2400" dirty="0" smtClean="0"/>
              <a:t>（</a:t>
            </a:r>
            <a:r>
              <a:rPr lang="en-US" altLang="zh-CN" sz="2400" dirty="0"/>
              <a:t> Managers ）</a:t>
            </a:r>
            <a:r>
              <a:rPr lang="zh-CN" altLang="en-US" sz="2400" dirty="0" smtClean="0"/>
              <a:t>两类人员</a:t>
            </a:r>
            <a:endParaRPr lang="zh-CN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职员对象（</a:t>
            </a:r>
            <a:r>
              <a:rPr lang="en-US" altLang="zh-CN" sz="2400" dirty="0" smtClean="0"/>
              <a:t>Employees）</a:t>
            </a:r>
            <a:r>
              <a:rPr lang="zh-CN" altLang="en-US" sz="2400" dirty="0" smtClean="0"/>
              <a:t>可能有的属性信息包括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员工号（</a:t>
            </a:r>
            <a:r>
              <a:rPr lang="en-US" altLang="zh-CN" dirty="0" err="1" smtClean="0"/>
              <a:t>employeeNumber</a:t>
            </a:r>
            <a:r>
              <a:rPr lang="en-US" altLang="zh-CN" dirty="0" smtClean="0"/>
              <a:t>）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姓名（</a:t>
            </a:r>
            <a:r>
              <a:rPr lang="en-US" altLang="zh-CN" dirty="0" smtClean="0"/>
              <a:t>name）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地址（</a:t>
            </a:r>
            <a:r>
              <a:rPr lang="en-US" altLang="zh-CN" dirty="0" smtClean="0"/>
              <a:t>address）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电话号码（</a:t>
            </a:r>
            <a:r>
              <a:rPr lang="en-US" altLang="zh-CN" dirty="0" err="1" smtClean="0"/>
              <a:t>phoneNumber</a:t>
            </a:r>
            <a:r>
              <a:rPr lang="en-US" altLang="zh-CN" dirty="0" smtClean="0"/>
              <a:t>）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管理人员（</a:t>
            </a:r>
            <a:r>
              <a:rPr lang="en-US" altLang="zh-CN" sz="2400" dirty="0" smtClean="0"/>
              <a:t>Managers）</a:t>
            </a:r>
            <a:r>
              <a:rPr lang="zh-CN" altLang="en-US" sz="2400" dirty="0" smtClean="0"/>
              <a:t>除具有普通员工的属性外，还可能具有下面的属性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职责（</a:t>
            </a:r>
            <a:r>
              <a:rPr lang="en-US" altLang="zh-CN" dirty="0" smtClean="0"/>
              <a:t>responsibilities）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/>
              <a:t>所管理的职员（</a:t>
            </a:r>
            <a:r>
              <a:rPr lang="en-US" altLang="zh-CN" dirty="0" err="1" smtClean="0"/>
              <a:t>listOfEmployees</a:t>
            </a:r>
            <a:r>
              <a:rPr lang="en-US" altLang="zh-CN" dirty="0" smtClean="0"/>
              <a:t>）</a:t>
            </a:r>
            <a:endParaRPr lang="en-US" altLang="zh-CN" dirty="0" smtClean="0"/>
          </a:p>
        </p:txBody>
      </p:sp>
      <p:sp>
        <p:nvSpPr>
          <p:cNvPr id="14341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432245" y="231017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57A00DE9-B781-4B63-9114-CDB3472AEE93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676400"/>
            <a:ext cx="7239000" cy="685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mtClean="0"/>
              <a:t>Employee</a:t>
            </a:r>
            <a:r>
              <a:rPr lang="zh-CN" altLang="en-US" smtClean="0"/>
              <a:t>与</a:t>
            </a:r>
            <a:r>
              <a:rPr lang="en-US" altLang="zh-CN" smtClean="0"/>
              <a:t>Manager</a:t>
            </a:r>
            <a:r>
              <a:rPr lang="zh-CN" altLang="en-US" smtClean="0"/>
              <a:t>的类图</a:t>
            </a:r>
            <a:endParaRPr lang="zh-CN" altLang="en-US" smtClean="0"/>
          </a:p>
        </p:txBody>
      </p:sp>
      <p:grpSp>
        <p:nvGrpSpPr>
          <p:cNvPr id="15364" name="Group 5"/>
          <p:cNvGrpSpPr/>
          <p:nvPr/>
        </p:nvGrpSpPr>
        <p:grpSpPr bwMode="auto">
          <a:xfrm>
            <a:off x="3124201" y="2362200"/>
            <a:ext cx="2988129" cy="4191000"/>
            <a:chOff x="4410" y="5266"/>
            <a:chExt cx="2745" cy="4485"/>
          </a:xfrm>
        </p:grpSpPr>
        <p:sp>
          <p:nvSpPr>
            <p:cNvPr id="15367" name="Text Box 6"/>
            <p:cNvSpPr txBox="1">
              <a:spLocks noChangeArrowheads="1"/>
            </p:cNvSpPr>
            <p:nvPr/>
          </p:nvSpPr>
          <p:spPr bwMode="auto">
            <a:xfrm>
              <a:off x="4440" y="5266"/>
              <a:ext cx="2670" cy="20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Employee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r>
                <a:rPr kumimoji="0" lang="en-US" altLang="zh-CN" sz="2000" dirty="0" err="1">
                  <a:latin typeface="Arial" panose="020B0604020202020204" pitchFamily="34" charset="0"/>
                  <a:ea typeface="宋体" panose="02010600030101010101" pitchFamily="2" charset="-122"/>
                </a:rPr>
                <a:t>employeeNumbe</a:t>
              </a:r>
              <a:r>
                <a:rPr kumimoji="0"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: </a:t>
              </a:r>
              <a:r>
                <a:rPr kumimoji="0" lang="en-US" altLang="zh-CN" sz="2000" dirty="0" err="1">
                  <a:latin typeface="Arial" panose="020B0604020202020204" pitchFamily="34" charset="0"/>
                  <a:ea typeface="宋体" panose="02010600030101010101" pitchFamily="2" charset="-122"/>
                </a:rPr>
                <a:t>int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r>
                <a:rPr kumimoji="0"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name : String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r>
                <a:rPr kumimoji="0"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address : String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r>
                <a:rPr kumimoji="0" lang="en-US" altLang="zh-CN" sz="2000" dirty="0" err="1">
                  <a:latin typeface="Arial" panose="020B0604020202020204" pitchFamily="34" charset="0"/>
                  <a:ea typeface="宋体" panose="02010600030101010101" pitchFamily="2" charset="-122"/>
                </a:rPr>
                <a:t>phoneNumber</a:t>
              </a:r>
              <a:r>
                <a:rPr kumimoji="0"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: String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68" name="Line 7"/>
            <p:cNvSpPr>
              <a:spLocks noChangeShapeType="1"/>
            </p:cNvSpPr>
            <p:nvPr/>
          </p:nvSpPr>
          <p:spPr bwMode="auto">
            <a:xfrm flipV="1">
              <a:off x="4410" y="5776"/>
              <a:ext cx="2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Line 8"/>
            <p:cNvSpPr>
              <a:spLocks noChangeShapeType="1"/>
            </p:cNvSpPr>
            <p:nvPr/>
          </p:nvSpPr>
          <p:spPr bwMode="auto">
            <a:xfrm flipV="1">
              <a:off x="4455" y="6901"/>
              <a:ext cx="26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AutoShape 9"/>
            <p:cNvSpPr>
              <a:spLocks noChangeArrowheads="1"/>
            </p:cNvSpPr>
            <p:nvPr/>
          </p:nvSpPr>
          <p:spPr bwMode="auto">
            <a:xfrm>
              <a:off x="5707" y="7351"/>
              <a:ext cx="143" cy="195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Line 10"/>
            <p:cNvSpPr>
              <a:spLocks noChangeShapeType="1"/>
            </p:cNvSpPr>
            <p:nvPr/>
          </p:nvSpPr>
          <p:spPr bwMode="auto">
            <a:xfrm>
              <a:off x="5775" y="7561"/>
              <a:ext cx="0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Text Box 11"/>
            <p:cNvSpPr txBox="1">
              <a:spLocks noChangeArrowheads="1"/>
            </p:cNvSpPr>
            <p:nvPr/>
          </p:nvSpPr>
          <p:spPr bwMode="auto">
            <a:xfrm>
              <a:off x="4485" y="7981"/>
              <a:ext cx="2625" cy="17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Manager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r>
                <a:rPr kumimoji="0" lang="en-US" altLang="zh-CN" sz="2000" dirty="0" err="1">
                  <a:latin typeface="Arial" panose="020B0604020202020204" pitchFamily="34" charset="0"/>
                  <a:ea typeface="宋体" panose="02010600030101010101" pitchFamily="2" charset="-122"/>
                </a:rPr>
                <a:t>responsibilities:String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r>
                <a:rPr kumimoji="0" lang="en-US" altLang="zh-CN" sz="2000" dirty="0" err="1">
                  <a:latin typeface="Arial" panose="020B0604020202020204" pitchFamily="34" charset="0"/>
                  <a:ea typeface="宋体" panose="02010600030101010101" pitchFamily="2" charset="-122"/>
                </a:rPr>
                <a:t>listOfEmployees:String</a:t>
              </a:r>
              <a:endParaRPr kumimoji="0"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endParaRPr kumimoji="0" lang="en-US" altLang="zh-CN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just"/>
              <a:endParaRPr kumimoji="0" lang="en-US" altLang="zh-CN" sz="16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3" name="Line 12"/>
            <p:cNvSpPr>
              <a:spLocks noChangeShapeType="1"/>
            </p:cNvSpPr>
            <p:nvPr/>
          </p:nvSpPr>
          <p:spPr bwMode="auto">
            <a:xfrm>
              <a:off x="4500" y="8401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13"/>
            <p:cNvSpPr>
              <a:spLocks noChangeShapeType="1"/>
            </p:cNvSpPr>
            <p:nvPr/>
          </p:nvSpPr>
          <p:spPr bwMode="auto">
            <a:xfrm>
              <a:off x="4545" y="9336"/>
              <a:ext cx="26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5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84BFAF3-B9F0-478D-B540-FB2A70B0844B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58888" y="1752600"/>
            <a:ext cx="7129462" cy="44132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400" dirty="0" smtClean="0"/>
              <a:t>//父类</a:t>
            </a:r>
            <a:r>
              <a:rPr lang="en-US" altLang="zh-CN" sz="2400" dirty="0" smtClean="0"/>
              <a:t>Employee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class Employee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{    </a:t>
            </a:r>
            <a:endParaRPr lang="zh-CN" altLang="en-US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employeeNumbe</a:t>
            </a:r>
            <a:r>
              <a:rPr lang="en-US" altLang="zh-CN" dirty="0" smtClean="0"/>
              <a:t> ;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 String  name, address, </a:t>
            </a:r>
            <a:r>
              <a:rPr lang="en-US" altLang="zh-CN" dirty="0" err="1" smtClean="0"/>
              <a:t>phoneNumber</a:t>
            </a:r>
            <a:r>
              <a:rPr lang="en-US" altLang="zh-CN" dirty="0" smtClean="0"/>
              <a:t> ;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}</a:t>
            </a:r>
            <a:endParaRPr lang="zh-CN" altLang="en-US" dirty="0" smtClean="0"/>
          </a:p>
          <a:p>
            <a:pPr eaLnBrk="1" hangingPunct="1">
              <a:lnSpc>
                <a:spcPct val="130000"/>
              </a:lnSpc>
              <a:buFont typeface="Georgia" panose="02040502050405020303" pitchFamily="18" charset="0"/>
              <a:buNone/>
            </a:pPr>
            <a:r>
              <a:rPr lang="zh-CN" altLang="en-US" sz="2400" dirty="0" smtClean="0"/>
              <a:t>//子类</a:t>
            </a:r>
            <a:r>
              <a:rPr lang="en-US" altLang="zh-CN" sz="2400" dirty="0" smtClean="0"/>
              <a:t>Manager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class  Manager extends Employee 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{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 //</a:t>
            </a:r>
            <a:r>
              <a:rPr lang="zh-CN" altLang="en-US" dirty="0" smtClean="0"/>
              <a:t>子类增加的数据成员</a:t>
            </a:r>
            <a:endParaRPr lang="zh-CN" altLang="en-US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 String responsibilities, </a:t>
            </a:r>
            <a:r>
              <a:rPr lang="en-US" altLang="zh-CN" dirty="0" err="1" smtClean="0"/>
              <a:t>listOfEmployees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}</a:t>
            </a:r>
            <a:endParaRPr lang="zh-CN" altLang="en-US" dirty="0" smtClean="0"/>
          </a:p>
        </p:txBody>
      </p:sp>
      <p:sp>
        <p:nvSpPr>
          <p:cNvPr id="1638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b="1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b="1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b="1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b="1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b="1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3C43030-A7CF-4DE6-A571-CE28FC39324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8229600" cy="141922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设有三个类：</a:t>
            </a:r>
            <a:r>
              <a:rPr lang="en-US" altLang="zh-CN" smtClean="0"/>
              <a:t>Person, Employee, Manager。</a:t>
            </a:r>
            <a:r>
              <a:rPr lang="zh-CN" altLang="en-US" smtClean="0"/>
              <a:t>其类层次如图：</a:t>
            </a:r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grpSp>
        <p:nvGrpSpPr>
          <p:cNvPr id="17412" name="Group 5"/>
          <p:cNvGrpSpPr/>
          <p:nvPr/>
        </p:nvGrpSpPr>
        <p:grpSpPr bwMode="auto">
          <a:xfrm>
            <a:off x="3810000" y="3200400"/>
            <a:ext cx="1524000" cy="2895600"/>
            <a:chOff x="5310" y="4372"/>
            <a:chExt cx="1260" cy="2745"/>
          </a:xfrm>
        </p:grpSpPr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5310" y="4372"/>
              <a:ext cx="1215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b="1" dirty="0">
                  <a:ea typeface="宋体" panose="02010600030101010101" pitchFamily="2" charset="-122"/>
                </a:rPr>
                <a:t>Person</a:t>
              </a:r>
              <a:endParaRPr kumimoji="0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5325" y="5527"/>
              <a:ext cx="1215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b="1" dirty="0">
                  <a:ea typeface="宋体" panose="02010600030101010101" pitchFamily="2" charset="-122"/>
                </a:rPr>
                <a:t>Employee</a:t>
              </a:r>
              <a:endParaRPr kumimoji="0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5355" y="6652"/>
              <a:ext cx="1215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b="1" dirty="0">
                  <a:ea typeface="宋体" panose="02010600030101010101" pitchFamily="2" charset="-122"/>
                </a:rPr>
                <a:t>Manager</a:t>
              </a:r>
              <a:endParaRPr kumimoji="0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17417" name="AutoShape 9"/>
            <p:cNvSpPr>
              <a:spLocks noChangeArrowheads="1"/>
            </p:cNvSpPr>
            <p:nvPr/>
          </p:nvSpPr>
          <p:spPr bwMode="auto">
            <a:xfrm>
              <a:off x="5895" y="4852"/>
              <a:ext cx="143" cy="1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AutoShape 10"/>
            <p:cNvSpPr>
              <a:spLocks noChangeArrowheads="1"/>
            </p:cNvSpPr>
            <p:nvPr/>
          </p:nvSpPr>
          <p:spPr bwMode="auto">
            <a:xfrm>
              <a:off x="5895" y="6007"/>
              <a:ext cx="143" cy="1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Line 11"/>
            <p:cNvSpPr>
              <a:spLocks noChangeShapeType="1"/>
            </p:cNvSpPr>
            <p:nvPr/>
          </p:nvSpPr>
          <p:spPr bwMode="auto">
            <a:xfrm>
              <a:off x="5970" y="5032"/>
              <a:ext cx="0" cy="4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>
              <a:off x="5970" y="6202"/>
              <a:ext cx="0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0CEB6BA-8870-4F66-94E7-8646E7AD382F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88" y="1678969"/>
            <a:ext cx="6903720" cy="4937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42600B0-60C3-4FC1-A5F9-719CDBC11D08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91" y="1844824"/>
            <a:ext cx="7959621" cy="483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2AC35DD-8DE7-4D12-9DF6-1A1E29C0AF27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844824"/>
            <a:ext cx="8595360" cy="4632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57484AAF-016C-4396-A30D-C1DE942226FD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1507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457200" y="73216"/>
            <a:ext cx="8229600" cy="61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 smtClean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pic>
        <p:nvPicPr>
          <p:cNvPr id="2150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50" y="682978"/>
            <a:ext cx="8162350" cy="6165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0C145B57-05F8-4256-A9AE-15FD0638B784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7543800" y="5105400"/>
            <a:ext cx="685800" cy="838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2532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42863"/>
            <a:ext cx="7038975" cy="677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BF39010-2612-4D2A-8896-F7AC9ECCE317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4" y="620688"/>
            <a:ext cx="8929701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CE8AF93-C346-47AE-BFBB-1E2D3D9E2DF0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US" sz="3600" smtClean="0"/>
              <a:t>1 类的继承</a:t>
            </a:r>
            <a:endParaRPr lang="zh-CN" altLang="en-US" sz="3600" smtClean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1268760"/>
            <a:ext cx="7239000" cy="4476750"/>
          </a:xfrm>
        </p:spPr>
        <p:txBody>
          <a:bodyPr lIns="92075" tIns="46038" rIns="92075" bIns="46038"/>
          <a:lstStyle/>
          <a:p>
            <a:pPr lvl="1" eaLnBrk="1" hangingPunct="1">
              <a:lnSpc>
                <a:spcPct val="9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通过继承，可以根据已有类来定义新类，新类拥有已有类的所有功能</a:t>
            </a:r>
            <a:endParaRPr lang="en-US" altLang="zh-CN" sz="3200" b="1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3200" b="1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父类是所有子类的公共属性及方法的集合，子类则是父类的特殊化</a:t>
            </a:r>
            <a:endParaRPr lang="en-US" altLang="zh-CN" sz="3200" b="1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3200" b="1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继承机制可以提高程序的抽象程度，提高代码的可重用性</a:t>
            </a:r>
            <a:endParaRPr lang="zh-CN" altLang="en-US" sz="3200" b="1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27456029-DE19-4472-90A5-CB70C91EE221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6013" y="1989138"/>
            <a:ext cx="7239000" cy="3368675"/>
          </a:xfrm>
        </p:spPr>
        <p:txBody>
          <a:bodyPr lIns="92075" tIns="46038" rIns="92075" bIns="46038"/>
          <a:lstStyle/>
          <a:p>
            <a:pPr marL="571500" indent="-571500" eaLnBrk="1" hangingPunct="1">
              <a:buFont typeface="Wingdings" panose="05000000000000000000" pitchFamily="2" charset="2"/>
              <a:buChar char="u"/>
            </a:pPr>
            <a:r>
              <a:rPr lang="zh-CN" altLang="en-US" sz="3200" b="1" smtClean="0">
                <a:latin typeface="黑体" panose="02010609060101010101" pitchFamily="2" charset="-122"/>
                <a:ea typeface="黑体" panose="02010609060101010101" pitchFamily="2" charset="-122"/>
              </a:rPr>
              <a:t>子类不能直接访问父类中的私有属性及方法</a:t>
            </a:r>
            <a:endParaRPr lang="en-US" altLang="zh-CN" sz="3200" b="1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571500" indent="-571500" eaLnBrk="1" hangingPunct="1">
              <a:buFont typeface="Wingdings" panose="05000000000000000000" pitchFamily="2" charset="2"/>
              <a:buChar char="u"/>
            </a:pPr>
            <a:endParaRPr lang="en-US" altLang="zh-CN" sz="3200" b="1" smtClean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571500" indent="-571500" eaLnBrk="1" hangingPunct="1">
              <a:buFont typeface="Wingdings" panose="05000000000000000000" pitchFamily="2" charset="2"/>
              <a:buChar char="u"/>
            </a:pPr>
            <a:r>
              <a:rPr lang="zh-CN" altLang="en-US" sz="3200" b="1" smtClean="0">
                <a:latin typeface="黑体" panose="02010609060101010101" pitchFamily="2" charset="-122"/>
                <a:ea typeface="黑体" panose="02010609060101010101" pitchFamily="2" charset="-122"/>
              </a:rPr>
              <a:t>可使用公有（及保护）方法进行访问</a:t>
            </a:r>
            <a:endParaRPr lang="zh-CN" altLang="en-US" sz="3200" b="1" smtClean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4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B307B00F-58A2-4868-8798-4D99066910F1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908720"/>
            <a:ext cx="7239000" cy="5616624"/>
          </a:xfrm>
        </p:spPr>
        <p:txBody>
          <a:bodyPr lIns="92075" tIns="46038" rIns="92075" bIns="46038"/>
          <a:lstStyle/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public class B {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dirty="0" smtClean="0"/>
              <a:t>public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 = 10;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private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b = 20;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protected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c = 30;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public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getB</a:t>
            </a:r>
            <a:r>
              <a:rPr lang="en-US" altLang="zh-CN" dirty="0" smtClean="0"/>
              <a:t>()  { return b; }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}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buFont typeface="Georgia" panose="02040502050405020303" pitchFamily="18" charset="0"/>
              <a:buNone/>
            </a:pPr>
            <a:r>
              <a:rPr lang="en-US" altLang="zh-CN" dirty="0" smtClean="0"/>
              <a:t>public class A extends B {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public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d;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public void </a:t>
            </a:r>
            <a:r>
              <a:rPr lang="en-US" altLang="zh-CN" dirty="0" err="1" smtClean="0"/>
              <a:t>tryVariables</a:t>
            </a:r>
            <a:r>
              <a:rPr lang="en-US" altLang="zh-CN" dirty="0" smtClean="0"/>
              <a:t>() { </a:t>
            </a:r>
            <a:endParaRPr lang="en-US" altLang="zh-CN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dirty="0" smtClean="0"/>
              <a:t>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(a);             //</a:t>
            </a:r>
            <a:r>
              <a:rPr lang="zh-CN" altLang="en-US" dirty="0" smtClean="0"/>
              <a:t>允许 </a:t>
            </a:r>
            <a:endParaRPr lang="zh-CN" altLang="en-US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      </a:t>
            </a:r>
            <a:r>
              <a:rPr lang="en-US" altLang="zh-CN" dirty="0" err="1" smtClean="0">
                <a:solidFill>
                  <a:srgbClr val="FF0000"/>
                </a:solidFill>
              </a:rPr>
              <a:t>System.out.println</a:t>
            </a:r>
            <a:r>
              <a:rPr lang="en-US" altLang="zh-CN" dirty="0" smtClean="0">
                <a:solidFill>
                  <a:srgbClr val="FF0000"/>
                </a:solidFill>
              </a:rPr>
              <a:t>(b);             //</a:t>
            </a:r>
            <a:r>
              <a:rPr lang="zh-CN" altLang="en-US" dirty="0" smtClean="0">
                <a:solidFill>
                  <a:srgbClr val="FF0000"/>
                </a:solidFill>
              </a:rPr>
              <a:t>不允许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getB</a:t>
            </a:r>
            <a:r>
              <a:rPr lang="en-US" altLang="zh-CN" dirty="0" smtClean="0"/>
              <a:t>());        //</a:t>
            </a:r>
            <a:r>
              <a:rPr lang="zh-CN" altLang="en-US" dirty="0" smtClean="0"/>
              <a:t>允许 </a:t>
            </a:r>
            <a:endParaRPr lang="zh-CN" altLang="en-US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(c);             //</a:t>
            </a:r>
            <a:r>
              <a:rPr lang="zh-CN" altLang="en-US" dirty="0" smtClean="0"/>
              <a:t>允许 </a:t>
            </a:r>
            <a:endParaRPr lang="zh-CN" altLang="en-US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    } </a:t>
            </a:r>
            <a:endParaRPr lang="zh-CN" altLang="en-US" dirty="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dirty="0" smtClean="0"/>
              <a:t>}</a:t>
            </a:r>
            <a:endParaRPr lang="zh-CN" altLang="en-US" dirty="0" smtClean="0"/>
          </a:p>
        </p:txBody>
      </p:sp>
      <p:sp>
        <p:nvSpPr>
          <p:cNvPr id="27652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481637" y="214312"/>
            <a:ext cx="8229600" cy="98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1.2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继承的语法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endParaRPr kumimoji="0" lang="en-US" altLang="zh-CN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9E85B5E8-52F5-4694-A9C4-15AA343FB352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US" sz="3600" smtClean="0"/>
              <a:t>1.3 隐藏和覆盖</a:t>
            </a:r>
            <a:endParaRPr lang="zh-CN" altLang="en-US" sz="3600" smtClean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US" sz="3200" dirty="0" smtClean="0">
                <a:latin typeface="Times New Roman" panose="02020603050405020304" pitchFamily="18" charset="0"/>
              </a:rPr>
              <a:t>扩展类</a:t>
            </a:r>
            <a:endParaRPr lang="zh-CN" altLang="en-US" sz="3200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800" dirty="0" smtClean="0">
                <a:latin typeface="Times New Roman" panose="02020603050405020304" pitchFamily="18" charset="0"/>
              </a:rPr>
              <a:t>继承已有的属性和方法</a:t>
            </a:r>
            <a:endParaRPr lang="en-US" altLang="zh-CN" sz="2800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800" dirty="0" smtClean="0">
                <a:latin typeface="Times New Roman" panose="02020603050405020304" pitchFamily="18" charset="0"/>
              </a:rPr>
              <a:t>改写已有的属性和方法</a:t>
            </a:r>
            <a:endParaRPr lang="en-US" altLang="zh-CN" sz="2800" dirty="0" smtClean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改写已有的属性：隐藏</a:t>
            </a:r>
            <a:endParaRPr lang="en-US" altLang="zh-CN" sz="2800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3" eaLnBrk="1" hangingPunct="1"/>
            <a:r>
              <a:rPr lang="zh-CN" altLang="en-US" sz="2800" dirty="0" smtClean="0">
                <a:latin typeface="Times New Roman" panose="02020603050405020304" pitchFamily="18" charset="0"/>
              </a:rPr>
              <a:t>改写已有的方法：覆盖</a:t>
            </a:r>
            <a:endParaRPr lang="zh-CN" altLang="en-US" sz="2800" dirty="0" smtClean="0"/>
          </a:p>
        </p:txBody>
      </p:sp>
      <p:sp>
        <p:nvSpPr>
          <p:cNvPr id="28677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CE49CEEF-0813-46D3-8059-8CAF904B9BEA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9699" name="Rectangle 7"/>
          <p:cNvSpPr>
            <a:spLocks noChangeArrowheads="1"/>
          </p:cNvSpPr>
          <p:nvPr/>
        </p:nvSpPr>
        <p:spPr bwMode="auto">
          <a:xfrm>
            <a:off x="7543800" y="5105400"/>
            <a:ext cx="762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3014663"/>
            <a:ext cx="8229600" cy="354806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属性的隐藏</a:t>
            </a:r>
            <a:endParaRPr lang="zh-CN" alt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/>
              <a:t>子类中声明了与父类中相同的成员变量名，则从父类继承的变量将被隐藏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/>
              <a:t>子类拥有了两个相同名字的变量，一个继承自父类，另一个由自己声明</a:t>
            </a:r>
            <a:endParaRPr lang="zh-CN" altLang="en-US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1" dirty="0" smtClean="0">
                <a:latin typeface="黑体" panose="02010609060101010101" pitchFamily="2" charset="-122"/>
                <a:ea typeface="黑体" panose="02010609060101010101" pitchFamily="2" charset="-122"/>
              </a:rPr>
              <a:t>当子类执行继承自父类的操作时，处理的是继承自父类的变量，而当子类执行它自己声明的方法时，所操作的就是它自己声明的变量</a:t>
            </a:r>
            <a:endParaRPr lang="zh-CN" altLang="en-US" sz="2800" b="1" dirty="0" smtClean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331640" y="1752600"/>
            <a:ext cx="2376264" cy="104644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class Parent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{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  <a:ea typeface="宋体" panose="02010600030101010101" pitchFamily="2" charset="-122"/>
              </a:rPr>
              <a:t>aNumber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4953000" y="1752600"/>
            <a:ext cx="3810000" cy="10366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class Child extends Parent {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    float </a:t>
            </a:r>
            <a:r>
              <a:rPr lang="en-US" altLang="zh-CN" sz="2000" b="1" dirty="0" err="1">
                <a:latin typeface="Arial" panose="020B0604020202020204" pitchFamily="34" charset="0"/>
                <a:ea typeface="宋体" panose="02010600030101010101" pitchFamily="2" charset="-122"/>
              </a:rPr>
              <a:t>aNumber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zh-CN" altLang="en-US" sz="2000" dirty="0"/>
          </a:p>
        </p:txBody>
      </p:sp>
      <p:sp>
        <p:nvSpPr>
          <p:cNvPr id="29703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29704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属性的隐藏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89456EA4-8A49-4254-B273-75F0CAC4B645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988841"/>
            <a:ext cx="7931150" cy="324036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>
                <a:latin typeface="宋体" panose="02010600030101010101" pitchFamily="2" charset="-122"/>
              </a:rPr>
              <a:t>如何访问被隐藏的父类属性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 smtClean="0">
                <a:latin typeface="宋体" panose="02010600030101010101" pitchFamily="2" charset="-122"/>
              </a:rPr>
              <a:t>调用从父类继承的方法，则操作的是从父类继承的属性</a:t>
            </a:r>
            <a:endParaRPr lang="zh-CN" altLang="en-US" sz="2800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 smtClean="0"/>
              <a:t>调用被隐藏的属性</a:t>
            </a:r>
            <a:endParaRPr lang="en-US" altLang="zh-CN" sz="2800" dirty="0" smtClean="0"/>
          </a:p>
          <a:p>
            <a:pPr lvl="2" eaLnBrk="1" hangingPunct="1">
              <a:lnSpc>
                <a:spcPct val="120000"/>
              </a:lnSpc>
            </a:pPr>
            <a:r>
              <a:rPr lang="en-US" altLang="zh-CN" sz="2800" dirty="0" smtClean="0"/>
              <a:t>super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dirty="0" smtClean="0">
                <a:latin typeface="宋体" panose="02010600030101010101" pitchFamily="2" charset="-122"/>
              </a:rPr>
              <a:t>属性</a:t>
            </a:r>
            <a:endParaRPr lang="zh-CN" altLang="en-US" sz="2800" dirty="0" smtClean="0">
              <a:latin typeface="宋体" panose="02010600030101010101" pitchFamily="2" charset="-122"/>
            </a:endParaRPr>
          </a:p>
        </p:txBody>
      </p:sp>
      <p:sp>
        <p:nvSpPr>
          <p:cNvPr id="30724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457200" y="576262"/>
            <a:ext cx="8229600" cy="1268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访问被隐藏的父类属性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0391AC81-1DAB-49A5-924A-F49F080F5B7D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" y="1390878"/>
            <a:ext cx="4344470" cy="5041900"/>
          </a:xfrm>
        </p:spPr>
        <p:txBody>
          <a:bodyPr lIns="92075" tIns="46038" rIns="92075" bIns="46038"/>
          <a:lstStyle/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A1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2;   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i)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   x = i;    }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printa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(x);}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B1 extends A1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x=100;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printb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super.x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super.x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+10 ;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super.x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=" +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super.x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"  x= " + x);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90000"/>
              </a:lnSpc>
              <a:buSzPct val="80000"/>
              <a:buFont typeface="Georgia" panose="02040502050405020303" pitchFamily="18" charset="0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endParaRPr lang="en-US" altLang="zh-C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TextBox 6"/>
          <p:cNvSpPr txBox="1">
            <a:spLocks noChangeArrowheads="1"/>
          </p:cNvSpPr>
          <p:nvPr/>
        </p:nvSpPr>
        <p:spPr bwMode="auto">
          <a:xfrm>
            <a:off x="6732588" y="4725144"/>
            <a:ext cx="2303462" cy="2031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63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lnSpc>
                <a:spcPct val="90000"/>
              </a:lnSpc>
            </a:pPr>
            <a:r>
              <a:rPr lang="zh-CN" altLang="en-US" sz="2000" dirty="0"/>
              <a:t>运行结果：</a:t>
            </a:r>
            <a:endParaRPr lang="zh-CN" altLang="en-US" sz="2000" dirty="0"/>
          </a:p>
          <a:p>
            <a:pPr lvl="1" algn="l" eaLnBrk="1" hangingPunct="1">
              <a:lnSpc>
                <a:spcPct val="90000"/>
              </a:lnSpc>
            </a:pPr>
            <a:r>
              <a:rPr lang="zh-CN" altLang="en-US" sz="2000" dirty="0"/>
              <a:t>4</a:t>
            </a:r>
            <a:endParaRPr lang="zh-CN" altLang="en-US" sz="2000" dirty="0"/>
          </a:p>
          <a:p>
            <a:pPr lvl="1" algn="l" eaLnBrk="1" hangingPunct="1">
              <a:lnSpc>
                <a:spcPct val="90000"/>
              </a:lnSpc>
            </a:pPr>
            <a:r>
              <a:rPr lang="en-US" altLang="zh-CN" sz="2000" dirty="0" err="1"/>
              <a:t>super.x</a:t>
            </a:r>
            <a:r>
              <a:rPr lang="en-US" altLang="zh-CN" sz="2000" dirty="0"/>
              <a:t>= 12  x= 100</a:t>
            </a:r>
            <a:endParaRPr lang="en-US" altLang="zh-CN" sz="2000" dirty="0"/>
          </a:p>
          <a:p>
            <a:pPr lvl="1" algn="l" eaLnBrk="1" hangingPunct="1">
              <a:lnSpc>
                <a:spcPct val="90000"/>
              </a:lnSpc>
            </a:pPr>
            <a:r>
              <a:rPr lang="en-US" altLang="zh-CN" sz="2000" dirty="0"/>
              <a:t>12</a:t>
            </a:r>
            <a:endParaRPr lang="en-US" altLang="zh-CN" sz="2000" dirty="0"/>
          </a:p>
          <a:p>
            <a:pPr lvl="1" algn="l" eaLnBrk="1" hangingPunct="1">
              <a:lnSpc>
                <a:spcPct val="90000"/>
              </a:lnSpc>
            </a:pPr>
            <a:r>
              <a:rPr lang="en-US" altLang="zh-CN" sz="2000" dirty="0" err="1"/>
              <a:t>super.x</a:t>
            </a:r>
            <a:r>
              <a:rPr lang="en-US" altLang="zh-CN" sz="2000" dirty="0"/>
              <a:t>= 16  x= 100</a:t>
            </a:r>
            <a:endParaRPr lang="en-US" altLang="zh-CN" sz="2000" dirty="0"/>
          </a:p>
          <a:p>
            <a:pPr lvl="1" algn="l" eaLnBrk="1" hangingPunct="1">
              <a:lnSpc>
                <a:spcPct val="90000"/>
              </a:lnSpc>
            </a:pPr>
            <a:r>
              <a:rPr lang="en-US" altLang="zh-CN" sz="2000" dirty="0"/>
              <a:t>16</a:t>
            </a:r>
            <a:endParaRPr lang="en-US" altLang="zh-CN" sz="2000" dirty="0"/>
          </a:p>
          <a:p>
            <a:pPr lvl="1" algn="l" eaLnBrk="1" hangingPunct="1">
              <a:lnSpc>
                <a:spcPct val="90000"/>
              </a:lnSpc>
            </a:pPr>
            <a:r>
              <a:rPr lang="en-US" altLang="zh-CN" sz="2000" dirty="0" smtClean="0"/>
              <a:t>4</a:t>
            </a:r>
            <a:endParaRPr lang="zh-CN" altLang="en-US" sz="2000" dirty="0"/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4548992" y="1412776"/>
            <a:ext cx="42291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public class Exam4_4Test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{  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{   A1 </a:t>
            </a:r>
            <a:r>
              <a:rPr lang="en-US" altLang="zh-CN" sz="2000" dirty="0" err="1"/>
              <a:t>a1</a:t>
            </a:r>
            <a:r>
              <a:rPr lang="en-US" altLang="zh-CN" sz="2000" dirty="0"/>
              <a:t> = new A1();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a1.setx(4); 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a1.printa();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B1 </a:t>
            </a:r>
            <a:r>
              <a:rPr lang="en-US" altLang="zh-CN" sz="2000" dirty="0" err="1"/>
              <a:t>b1</a:t>
            </a:r>
            <a:r>
              <a:rPr lang="en-US" altLang="zh-CN" sz="2000" dirty="0"/>
              <a:t> = new B1();   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b1.printb();   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b1.printa();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b1.setx(6);  // </a:t>
            </a:r>
            <a:r>
              <a:rPr lang="zh-CN" altLang="en-US" sz="2000" dirty="0"/>
              <a:t>将继承</a:t>
            </a:r>
            <a:r>
              <a:rPr lang="en-US" altLang="zh-CN" sz="2000" dirty="0"/>
              <a:t>x</a:t>
            </a:r>
            <a:r>
              <a:rPr lang="zh-CN" altLang="en-US" sz="2000" dirty="0"/>
              <a:t>值设置为6</a:t>
            </a:r>
            <a:endParaRPr lang="zh-CN" altLang="en-US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  </a:t>
            </a:r>
            <a:r>
              <a:rPr lang="en-US" altLang="zh-CN" sz="2000" dirty="0"/>
              <a:t>b1.printb();   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b1.printa();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a1.printa();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}  </a:t>
            </a:r>
            <a:endParaRPr lang="en-US" altLang="zh-CN" sz="2000" dirty="0"/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31750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31751" name="Rectangle 5"/>
          <p:cNvSpPr>
            <a:spLocks noChangeArrowheads="1"/>
          </p:cNvSpPr>
          <p:nvPr/>
        </p:nvSpPr>
        <p:spPr bwMode="auto">
          <a:xfrm>
            <a:off x="456682" y="27196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例属性的隐藏举例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FB522D6A-2263-4121-AB78-81E8B086184A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0648"/>
            <a:ext cx="7193280" cy="6309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69BDA3C-0788-40B1-AF60-A76E9195AD70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3" y="1628800"/>
            <a:ext cx="9057747" cy="3994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F80AC60-5E83-4766-B33A-B7882D66B61E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83892"/>
            <a:ext cx="8280921" cy="6774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794C406-E1F6-47A4-8FD4-BD94C229D924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1488"/>
            <a:ext cx="9134475" cy="591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FE5912B-EB87-4F5F-9A2F-F4B96A183466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180975"/>
            <a:ext cx="9048750" cy="649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50EAB10-A0DC-4730-92BC-D67856CDEE35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7467600" y="5029200"/>
            <a:ext cx="8382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412776"/>
            <a:ext cx="7239000" cy="5184874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 smtClean="0"/>
              <a:t>子类不能继承父类中的静态属性，但可以对父类中的静态属性进行操作。如在上面的例子中，将“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 = 2;”</a:t>
            </a:r>
            <a:r>
              <a:rPr lang="zh-CN" altLang="en-US" sz="2000" dirty="0" smtClean="0"/>
              <a:t>改为“</a:t>
            </a:r>
            <a:r>
              <a:rPr lang="en-US" altLang="zh-CN" sz="2000" dirty="0" smtClean="0"/>
              <a:t>static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 = 2;”，</a:t>
            </a:r>
            <a:r>
              <a:rPr lang="zh-CN" altLang="en-US" sz="2000" dirty="0" smtClean="0"/>
              <a:t>再编译及运行程序，会得到下面的结果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000" dirty="0" smtClean="0"/>
              <a:t>4</a:t>
            </a:r>
            <a:endParaRPr lang="zh-CN" altLang="en-US" sz="20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 err="1" smtClean="0"/>
              <a:t>super.x</a:t>
            </a:r>
            <a:r>
              <a:rPr lang="en-US" altLang="zh-CN" sz="2000" dirty="0" smtClean="0"/>
              <a:t>= 14  x= 100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 smtClean="0"/>
              <a:t>14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 err="1" smtClean="0"/>
              <a:t>super.x</a:t>
            </a:r>
            <a:r>
              <a:rPr lang="en-US" altLang="zh-CN" sz="2000" dirty="0" smtClean="0"/>
              <a:t>= 16  x= 100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 smtClean="0"/>
              <a:t>16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 smtClean="0"/>
              <a:t>16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 smtClean="0"/>
              <a:t>在上面的结果中，第一行及最后一行都是语句“</a:t>
            </a:r>
            <a:r>
              <a:rPr lang="en-US" altLang="zh-CN" sz="2000" dirty="0" smtClean="0"/>
              <a:t>a1.printa();”</a:t>
            </a:r>
            <a:r>
              <a:rPr lang="zh-CN" altLang="en-US" sz="2000" dirty="0" smtClean="0"/>
              <a:t>输出的结果，显然类Ｂ中的</a:t>
            </a:r>
            <a:r>
              <a:rPr lang="en-US" altLang="zh-CN" sz="2000" dirty="0" err="1" smtClean="0"/>
              <a:t>printb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方法修改的是类Ａ中的静态属性</a:t>
            </a:r>
            <a:r>
              <a:rPr lang="en-US" altLang="zh-CN" sz="2000" dirty="0" smtClean="0"/>
              <a:t>x</a:t>
            </a:r>
            <a:endParaRPr lang="zh-CN" altLang="en-US" sz="2000" dirty="0" smtClean="0"/>
          </a:p>
        </p:txBody>
      </p:sp>
      <p:sp>
        <p:nvSpPr>
          <p:cNvPr id="37893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446804" y="214312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 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操作父类静态属性举例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78C60DEA-698F-4C26-AFBC-0974A9188852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90500"/>
            <a:ext cx="859155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22EFCFCD-F3C8-4721-8772-4D961C4106BD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US" sz="3600" smtClean="0"/>
              <a:t>1.3 隐藏和覆盖</a:t>
            </a:r>
            <a:endParaRPr lang="zh-CN" altLang="en-US" sz="3600" smtClean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</a:rPr>
              <a:t>扩展类</a:t>
            </a:r>
            <a:endParaRPr lang="zh-CN" altLang="en-US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mtClean="0">
                <a:latin typeface="Times New Roman" panose="02020603050405020304" pitchFamily="18" charset="0"/>
              </a:rPr>
              <a:t>继承已有的属性和方法</a:t>
            </a:r>
            <a:endParaRPr lang="en-US" altLang="zh-CN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mtClean="0">
                <a:latin typeface="Times New Roman" panose="02020603050405020304" pitchFamily="18" charset="0"/>
              </a:rPr>
              <a:t>改写已有的属性和方法</a:t>
            </a:r>
            <a:endParaRPr lang="en-US" altLang="zh-CN" smtClean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zh-CN" altLang="en-US" smtClean="0">
                <a:latin typeface="Times New Roman" panose="02020603050405020304" pitchFamily="18" charset="0"/>
              </a:rPr>
              <a:t>改写已有的属性：隐藏</a:t>
            </a:r>
            <a:endParaRPr lang="en-US" altLang="zh-CN" smtClean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zh-CN" altLang="en-US" smtClean="0">
                <a:solidFill>
                  <a:srgbClr val="FF0000"/>
                </a:solidFill>
                <a:latin typeface="Times New Roman" panose="02020603050405020304" pitchFamily="18" charset="0"/>
              </a:rPr>
              <a:t>改写已有的方法：覆盖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9941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CFFBB1E-DA89-415B-815F-A622923B34C5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963" name="Rectangle 6"/>
          <p:cNvSpPr>
            <a:spLocks noChangeArrowheads="1"/>
          </p:cNvSpPr>
          <p:nvPr/>
        </p:nvSpPr>
        <p:spPr bwMode="auto">
          <a:xfrm>
            <a:off x="7620000" y="5105400"/>
            <a:ext cx="6096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676400"/>
            <a:ext cx="7239000" cy="44894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smtClean="0">
                <a:latin typeface="宋体" panose="02010600030101010101" pitchFamily="2" charset="-122"/>
              </a:rPr>
              <a:t>方法覆盖</a:t>
            </a:r>
            <a:endParaRPr lang="zh-CN" altLang="en-US" sz="240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200" smtClean="0"/>
              <a:t>覆盖方法的返回类型，方法名称，参数的个数及类型必须和被覆盖的方法一摸一样</a:t>
            </a:r>
            <a:endParaRPr lang="zh-CN" altLang="en-US" sz="220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200" smtClean="0"/>
              <a:t>覆盖方法的访问权限可以比被覆盖的宽松，但是不能更为严格</a:t>
            </a:r>
            <a:endParaRPr lang="zh-CN" altLang="en-US" sz="2200" smtClean="0"/>
          </a:p>
          <a:p>
            <a:pPr lvl="1" eaLnBrk="1" hangingPunct="1">
              <a:lnSpc>
                <a:spcPct val="110000"/>
              </a:lnSpc>
            </a:pPr>
            <a:endParaRPr lang="zh-CN" altLang="en-US" sz="2200" smtClean="0"/>
          </a:p>
        </p:txBody>
      </p:sp>
      <p:sp>
        <p:nvSpPr>
          <p:cNvPr id="40965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40966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方法覆盖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B9074E22-7893-4E9F-818C-55B5C0F984E4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6513" y="1816100"/>
            <a:ext cx="72390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方法覆盖的应用场合</a:t>
            </a:r>
            <a:endParaRPr lang="zh-CN" altLang="en-US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子类中实现与父类相同的功能，但采用不同的算法或公式</a:t>
            </a:r>
            <a:r>
              <a:rPr lang="zh-CN" altLang="en-US" smtClean="0"/>
              <a:t> 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在名字相同的方法中，要做比父类更多的事情</a:t>
            </a:r>
            <a:r>
              <a:rPr lang="zh-CN" altLang="en-US" smtClean="0"/>
              <a:t> 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在子类中需要取消从父类继承的方法</a:t>
            </a:r>
            <a:endParaRPr lang="zh-CN" altLang="en-US" smtClean="0">
              <a:latin typeface="宋体" panose="02010600030101010101" pitchFamily="2" charset="-122"/>
            </a:endParaRPr>
          </a:p>
        </p:txBody>
      </p:sp>
      <p:sp>
        <p:nvSpPr>
          <p:cNvPr id="4198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方法覆盖的应用场合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64CF7C4-8C53-4E66-8055-FE49CA62EABA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773238"/>
            <a:ext cx="7969250" cy="47879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必须覆盖的方法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派生类必须覆盖基类中的抽象的方法，否则派生类自身也成为抽象类.</a:t>
            </a:r>
            <a:endParaRPr lang="zh-CN" altLang="en-US" smtClean="0"/>
          </a:p>
          <a:p>
            <a:pPr eaLnBrk="1" hangingPunct="1">
              <a:lnSpc>
                <a:spcPct val="90000"/>
              </a:lnSpc>
            </a:pPr>
            <a:r>
              <a:rPr lang="zh-CN" altLang="en-US" smtClean="0"/>
              <a:t>不能覆盖的方法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基类中声明为</a:t>
            </a:r>
            <a:r>
              <a:rPr lang="en-US" altLang="zh-CN" smtClean="0"/>
              <a:t>final</a:t>
            </a:r>
            <a:r>
              <a:rPr lang="zh-CN" altLang="en-US" smtClean="0"/>
              <a:t>的终结方法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基类中声明为</a:t>
            </a:r>
            <a:r>
              <a:rPr lang="en-US" altLang="zh-CN" smtClean="0"/>
              <a:t>static </a:t>
            </a:r>
            <a:r>
              <a:rPr lang="zh-CN" altLang="en-US" smtClean="0"/>
              <a:t>的静态方法</a:t>
            </a:r>
            <a:endParaRPr lang="zh-CN" altLang="en-US" smtClean="0"/>
          </a:p>
          <a:p>
            <a:pPr eaLnBrk="1" hangingPunct="1">
              <a:lnSpc>
                <a:spcPct val="90000"/>
              </a:lnSpc>
            </a:pPr>
            <a:r>
              <a:rPr lang="zh-CN" altLang="en-US" smtClean="0"/>
              <a:t>调用被覆盖的方法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/>
              <a:t>super.overriddenMethodName();</a:t>
            </a:r>
            <a:endParaRPr lang="zh-CN" altLang="en-US" smtClean="0"/>
          </a:p>
        </p:txBody>
      </p:sp>
      <p:sp>
        <p:nvSpPr>
          <p:cNvPr id="43012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1.3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隐藏和覆盖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方法覆盖的注意事项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9507B2C-C529-46AB-924F-932E8E625708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4035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US" sz="3600" smtClean="0"/>
              <a:t>1.4 有继承时的构造方法</a:t>
            </a:r>
            <a:endParaRPr lang="zh-CN" altLang="en-US" sz="3600" smtClean="0"/>
          </a:p>
        </p:txBody>
      </p:sp>
      <p:sp>
        <p:nvSpPr>
          <p:cNvPr id="44036" name="Rectangle 1028"/>
          <p:cNvSpPr>
            <a:spLocks noGrp="1" noChangeArrowheads="1"/>
          </p:cNvSpPr>
          <p:nvPr>
            <p:ph type="body" idx="4294967295"/>
          </p:nvPr>
        </p:nvSpPr>
        <p:spPr>
          <a:xfrm>
            <a:off x="971600" y="548680"/>
            <a:ext cx="7239000" cy="5688632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有继承时的构造方法遵循以下的原则</a:t>
            </a:r>
            <a:endParaRPr lang="zh-CN" altLang="en-US" dirty="0" smtClean="0"/>
          </a:p>
          <a:p>
            <a:pPr lvl="1" eaLnBrk="1" hangingPunct="1"/>
            <a:r>
              <a:rPr lang="zh-CN" altLang="en-US" sz="2800" dirty="0" smtClean="0"/>
              <a:t>子类不能从父类继承构造方法</a:t>
            </a:r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好的程序设计方法是在子类的构造方法中调用某一个父类构造方法，调用语句必须出现在子类构造方法的第一行，可使用</a:t>
            </a:r>
            <a:r>
              <a:rPr lang="en-US" altLang="zh-CN" sz="2800" dirty="0" smtClean="0">
                <a:solidFill>
                  <a:srgbClr val="FF0000"/>
                </a:solidFill>
              </a:rPr>
              <a:t>super</a:t>
            </a:r>
            <a:r>
              <a:rPr lang="zh-CN" altLang="en-US" sz="2800" dirty="0" smtClean="0"/>
              <a:t>关键字</a:t>
            </a:r>
            <a:endParaRPr lang="en-US" altLang="zh-CN" sz="2800" dirty="0" smtClean="0"/>
          </a:p>
          <a:p>
            <a:pPr lvl="1" eaLnBrk="1" hangingPunct="1"/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如子类构造方法的声明中没有明确调用父类构造方法，则系统在执行子类的构造方法时会自动调用父类的默认构造方法（即无参的构造方法）</a:t>
            </a:r>
            <a:endParaRPr lang="zh-CN" altLang="en-US" sz="2800" dirty="0" smtClean="0"/>
          </a:p>
        </p:txBody>
      </p:sp>
      <p:sp>
        <p:nvSpPr>
          <p:cNvPr id="44037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52A7E242-EE66-46F6-AB5D-4A19416EB5C2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676400"/>
            <a:ext cx="8569647" cy="4272880"/>
          </a:xfrm>
        </p:spPr>
        <p:txBody>
          <a:bodyPr lIns="92075" tIns="46038" rIns="92075" bIns="46038"/>
          <a:lstStyle/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public class Person {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protected String name,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phoneNumber</a:t>
            </a:r>
            <a:r>
              <a:rPr lang="en-US" altLang="zh-CN" sz="1800" dirty="0" smtClean="0">
                <a:latin typeface="宋体" panose="02010600030101010101" pitchFamily="2" charset="-122"/>
              </a:rPr>
              <a:t>, address;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public Person() {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    this("", "", "");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}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public Person(String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aName</a:t>
            </a:r>
            <a:r>
              <a:rPr lang="en-US" altLang="zh-CN" sz="1800" dirty="0" smtClean="0">
                <a:latin typeface="宋体" panose="02010600030101010101" pitchFamily="2" charset="-122"/>
              </a:rPr>
              <a:t>, String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aPhoneNumber</a:t>
            </a:r>
            <a:r>
              <a:rPr lang="en-US" altLang="zh-CN" sz="1800" dirty="0" smtClean="0">
                <a:latin typeface="宋体" panose="02010600030101010101" pitchFamily="2" charset="-122"/>
              </a:rPr>
              <a:t>, String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anAddress</a:t>
            </a:r>
            <a:r>
              <a:rPr lang="en-US" altLang="zh-CN" sz="1800" dirty="0" smtClean="0">
                <a:latin typeface="宋体" panose="02010600030101010101" pitchFamily="2" charset="-122"/>
              </a:rPr>
              <a:t>) {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    name =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aName</a:t>
            </a:r>
            <a:r>
              <a:rPr lang="en-US" altLang="zh-CN" sz="1800" dirty="0" smtClean="0">
                <a:latin typeface="宋体" panose="02010600030101010101" pitchFamily="2" charset="-122"/>
              </a:rPr>
              <a:t>;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phoneNumber</a:t>
            </a:r>
            <a:r>
              <a:rPr lang="en-US" altLang="zh-CN" sz="1800" dirty="0" smtClean="0">
                <a:latin typeface="宋体" panose="02010600030101010101" pitchFamily="2" charset="-122"/>
              </a:rPr>
              <a:t> =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aPhoneNumber</a:t>
            </a:r>
            <a:r>
              <a:rPr lang="en-US" altLang="zh-CN" sz="1800" dirty="0" smtClean="0">
                <a:latin typeface="宋体" panose="02010600030101010101" pitchFamily="2" charset="-122"/>
              </a:rPr>
              <a:t>;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    address = </a:t>
            </a:r>
            <a:r>
              <a:rPr lang="en-US" altLang="zh-CN" sz="1800" dirty="0" err="1" smtClean="0">
                <a:latin typeface="宋体" panose="02010600030101010101" pitchFamily="2" charset="-122"/>
              </a:rPr>
              <a:t>anAddress</a:t>
            </a:r>
            <a:r>
              <a:rPr lang="en-US" altLang="zh-CN" sz="1800" dirty="0" smtClean="0">
                <a:latin typeface="宋体" panose="02010600030101010101" pitchFamily="2" charset="-122"/>
              </a:rPr>
              <a:t>;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    }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dirty="0" smtClean="0">
                <a:latin typeface="宋体" panose="02010600030101010101" pitchFamily="2" charset="-122"/>
              </a:rPr>
              <a:t>}</a:t>
            </a:r>
            <a:endParaRPr lang="en-US" altLang="zh-CN" sz="1800" dirty="0" smtClean="0">
              <a:latin typeface="宋体" panose="02010600030101010101" pitchFamily="2" charset="-122"/>
            </a:endParaRPr>
          </a:p>
        </p:txBody>
      </p:sp>
      <p:sp>
        <p:nvSpPr>
          <p:cNvPr id="45060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1.4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有继承时的构造方法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99531220-B622-485A-9ADD-EAE0D5CC6A23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1600200"/>
            <a:ext cx="8458200" cy="5105400"/>
          </a:xfrm>
        </p:spPr>
        <p:txBody>
          <a:bodyPr lIns="92075" tIns="46038" rIns="92075" bIns="46038"/>
          <a:lstStyle/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public class Employee extends Person {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protected int employeeNumber;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protected String workPhoneNumber;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public Employee() {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//</a:t>
            </a:r>
            <a:r>
              <a:rPr lang="zh-CN" altLang="en-US" sz="1800" smtClean="0">
                <a:latin typeface="宋体" panose="02010600030101010101" pitchFamily="2" charset="-122"/>
              </a:rPr>
              <a:t>此处隐含调用构造方法 </a:t>
            </a:r>
            <a:r>
              <a:rPr lang="en-US" altLang="zh-CN" sz="1800" smtClean="0">
                <a:latin typeface="宋体" panose="02010600030101010101" pitchFamily="2" charset="-122"/>
              </a:rPr>
              <a:t>Person()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this(0, "");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}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public Employee(int aNumber, String aPhoneNumber) {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//</a:t>
            </a:r>
            <a:r>
              <a:rPr lang="zh-CN" altLang="en-US" sz="1800" smtClean="0">
                <a:latin typeface="宋体" panose="02010600030101010101" pitchFamily="2" charset="-122"/>
              </a:rPr>
              <a:t>此处隐含调用构造方法 </a:t>
            </a:r>
            <a:r>
              <a:rPr lang="en-US" altLang="zh-CN" sz="1800" smtClean="0">
                <a:latin typeface="宋体" panose="02010600030101010101" pitchFamily="2" charset="-122"/>
              </a:rPr>
              <a:t>Person()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employeeNumber = aNumber;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workPhoneNumber = aPhoneNumber;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}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}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endParaRPr lang="zh-CN" altLang="en-US" sz="1800" smtClean="0">
              <a:latin typeface="宋体" panose="02010600030101010101" pitchFamily="2" charset="-122"/>
            </a:endParaRPr>
          </a:p>
        </p:txBody>
      </p:sp>
      <p:sp>
        <p:nvSpPr>
          <p:cNvPr id="46084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1.4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有继承时的构造方法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EF308FA3-104D-4083-821A-A48E2E659D2D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1752600"/>
            <a:ext cx="8015287" cy="4556125"/>
          </a:xfrm>
        </p:spPr>
        <p:txBody>
          <a:bodyPr lIns="92075" tIns="46038" rIns="92075" bIns="46038"/>
          <a:lstStyle/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public class Professor extends Employee {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protected String research;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public Professor() {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super();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research = "";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}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public Professor(int aNumber, String aPhoneNumber, String aResearch) {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super(aNumber, aPhoneNumber);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    research = aResearch;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    }</a:t>
            </a:r>
            <a:endParaRPr lang="en-US" altLang="zh-CN" sz="1800" smtClean="0">
              <a:latin typeface="宋体" panose="02010600030101010101" pitchFamily="2" charset="-122"/>
            </a:endParaRPr>
          </a:p>
          <a:p>
            <a:pPr algn="just" eaLnBrk="1" hangingPunct="1">
              <a:buFont typeface="Georgia" panose="02040502050405020303" pitchFamily="18" charset="0"/>
              <a:buNone/>
            </a:pPr>
            <a:r>
              <a:rPr lang="en-US" altLang="zh-CN" sz="1800" smtClean="0">
                <a:latin typeface="宋体" panose="02010600030101010101" pitchFamily="2" charset="-122"/>
              </a:rPr>
              <a:t>}</a:t>
            </a:r>
            <a:endParaRPr lang="en-US" altLang="zh-CN" sz="1800" smtClean="0">
              <a:latin typeface="宋体" panose="02010600030101010101" pitchFamily="2" charset="-122"/>
            </a:endParaRPr>
          </a:p>
        </p:txBody>
      </p:sp>
      <p:sp>
        <p:nvSpPr>
          <p:cNvPr id="4710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类的继承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1.4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有继承时的构造方法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03B55199-8204-4B8B-8692-5E7C4A7D57D3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  <a:endParaRPr lang="zh-CN" altLang="en-GB" smtClean="0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GB" smtClean="0"/>
              <a:t>1 类的继承</a:t>
            </a:r>
            <a:endParaRPr lang="zh-CN" altLang="en-GB" smtClean="0"/>
          </a:p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2</a:t>
            </a:r>
            <a:r>
              <a:rPr lang="zh-CN" altLang="en-GB" smtClean="0">
                <a:solidFill>
                  <a:srgbClr val="FF0000"/>
                </a:solidFill>
              </a:rPr>
              <a:t> 终结类与终结方法</a:t>
            </a:r>
            <a:endParaRPr lang="zh-CN" altLang="en-GB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mtClean="0"/>
              <a:t>3</a:t>
            </a:r>
            <a:r>
              <a:rPr lang="zh-CN" altLang="en-GB" smtClean="0"/>
              <a:t> 抽象类</a:t>
            </a:r>
            <a:endParaRPr lang="zh-CN" altLang="en-GB" smtClean="0"/>
          </a:p>
          <a:p>
            <a:pPr eaLnBrk="1" hangingPunct="1"/>
            <a:r>
              <a:rPr lang="zh-CN" altLang="en-US" smtClean="0"/>
              <a:t>4</a:t>
            </a:r>
            <a:r>
              <a:rPr lang="en-US" altLang="zh-CN" smtClean="0"/>
              <a:t> </a:t>
            </a:r>
            <a:r>
              <a:rPr lang="zh-CN" altLang="en-US" smtClean="0"/>
              <a:t>类的组合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1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13" name="Text Box 45"/>
          <p:cNvSpPr txBox="1">
            <a:spLocks noChangeArrowheads="1"/>
          </p:cNvSpPr>
          <p:nvPr/>
        </p:nvSpPr>
        <p:spPr bwMode="auto">
          <a:xfrm>
            <a:off x="323850" y="1484313"/>
            <a:ext cx="8820150" cy="4401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336600"/>
                </a:solidFill>
              </a:rPr>
              <a:t>Java</a:t>
            </a:r>
            <a:r>
              <a:rPr lang="zh-CN" altLang="en-US" sz="2800" dirty="0">
                <a:solidFill>
                  <a:srgbClr val="336600"/>
                </a:solidFill>
              </a:rPr>
              <a:t>类的定义</a:t>
            </a:r>
            <a:endParaRPr lang="zh-CN" altLang="en-US" sz="2800" dirty="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[public] [</a:t>
            </a:r>
            <a:r>
              <a:rPr lang="en-US" altLang="zh-CN" sz="2800" dirty="0" err="1"/>
              <a:t>abstract|final</a:t>
            </a:r>
            <a:r>
              <a:rPr lang="en-US" altLang="zh-CN" sz="2800" dirty="0"/>
              <a:t>] class </a:t>
            </a:r>
            <a:r>
              <a:rPr lang="zh-CN" altLang="en-US" sz="2800" dirty="0"/>
              <a:t>类名</a:t>
            </a:r>
            <a:r>
              <a:rPr lang="en-US" altLang="zh-CN" sz="2800" dirty="0"/>
              <a:t>[extends </a:t>
            </a:r>
            <a:r>
              <a:rPr lang="zh-CN" altLang="en-US" sz="2800" dirty="0"/>
              <a:t>父类名</a:t>
            </a:r>
            <a:r>
              <a:rPr lang="en-US" altLang="zh-CN" sz="2800" dirty="0"/>
              <a:t>] 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                                                   </a:t>
            </a:r>
            <a:r>
              <a:rPr lang="en-US" altLang="zh-CN" sz="2800" dirty="0" smtClean="0"/>
              <a:t>  </a:t>
            </a:r>
            <a:r>
              <a:rPr lang="en-US" altLang="zh-CN" sz="2800" dirty="0"/>
              <a:t>[implements </a:t>
            </a:r>
            <a:r>
              <a:rPr lang="zh-CN" altLang="en-US" sz="2800" dirty="0"/>
              <a:t>接口名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{  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	[</a:t>
            </a:r>
            <a:r>
              <a:rPr lang="zh-CN" altLang="en-US" sz="2800" dirty="0"/>
              <a:t>成员变量</a:t>
            </a:r>
            <a:r>
              <a:rPr lang="en-US" altLang="zh-CN" sz="2800" dirty="0"/>
              <a:t>(</a:t>
            </a:r>
            <a:r>
              <a:rPr lang="zh-CN" altLang="en-US" sz="2800" dirty="0"/>
              <a:t>域</a:t>
            </a:r>
            <a:r>
              <a:rPr lang="en-US" altLang="zh-CN" sz="2800" dirty="0"/>
              <a:t>)</a:t>
            </a:r>
            <a:r>
              <a:rPr lang="zh-CN" altLang="en-US" sz="2800" dirty="0"/>
              <a:t>定义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     [</a:t>
            </a:r>
            <a:r>
              <a:rPr lang="zh-CN" altLang="en-US" sz="2800" dirty="0"/>
              <a:t>成员函数</a:t>
            </a:r>
            <a:r>
              <a:rPr lang="en-US" altLang="zh-CN" sz="2800" dirty="0"/>
              <a:t>(</a:t>
            </a:r>
            <a:r>
              <a:rPr lang="zh-CN" altLang="en-US" sz="2800" dirty="0"/>
              <a:t>方法</a:t>
            </a:r>
            <a:r>
              <a:rPr lang="en-US" altLang="zh-CN" sz="2800" dirty="0"/>
              <a:t>)</a:t>
            </a:r>
            <a:r>
              <a:rPr lang="zh-CN" altLang="en-US" sz="2800" dirty="0"/>
              <a:t>定义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}</a:t>
            </a:r>
            <a:endParaRPr lang="en-US" altLang="zh-CN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66801FC9-FF49-4DDB-8CB3-F48E81A594EB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en-US" altLang="zh-CN" smtClean="0"/>
              <a:t>2</a:t>
            </a:r>
            <a:r>
              <a:rPr lang="zh-CN" altLang="en-US" smtClean="0"/>
              <a:t> 终结类与终结方法</a:t>
            </a:r>
            <a:endParaRPr lang="zh-CN" altLang="en-US" smtClean="0"/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smtClean="0"/>
              <a:t>终结类与终结方法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/>
              <a:t>被</a:t>
            </a:r>
            <a:r>
              <a:rPr lang="en-US" altLang="zh-CN" smtClean="0"/>
              <a:t>final</a:t>
            </a:r>
            <a:r>
              <a:rPr lang="zh-CN" altLang="en-US" smtClean="0"/>
              <a:t>修饰符修饰的类和方法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/>
              <a:t>终结类不能被继承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smtClean="0"/>
              <a:t>终结方法不能被当前类的子类重写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3C994A2D-A897-4760-9CD8-9ECE206C1F38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752600"/>
            <a:ext cx="7239000" cy="46482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mtClean="0"/>
              <a:t>终结类的特点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不能有派生类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终结类存在的理由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安全</a:t>
            </a:r>
            <a:r>
              <a:rPr lang="en-US" altLang="zh-CN" smtClean="0"/>
              <a:t>: </a:t>
            </a:r>
            <a:r>
              <a:rPr lang="zh-CN" altLang="en-US" smtClean="0"/>
              <a:t>黑客用来搅乱系统的一个手法是建立一个类的派生类，然后用他们的类代替原来的类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设计</a:t>
            </a:r>
            <a:r>
              <a:rPr lang="en-US" altLang="zh-CN" smtClean="0"/>
              <a:t>: </a:t>
            </a:r>
            <a:r>
              <a:rPr lang="zh-CN" altLang="en-US" smtClean="0"/>
              <a:t>你认为你的类是最好的或从概念上你的类不应该有任何派生类</a:t>
            </a:r>
            <a:endParaRPr lang="zh-CN" altLang="en-US" smtClean="0"/>
          </a:p>
        </p:txBody>
      </p:sp>
      <p:sp>
        <p:nvSpPr>
          <p:cNvPr id="51204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终结类与终结方法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51205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2.1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终结类</a:t>
            </a:r>
            <a:endParaRPr kumimoji="0" lang="zh-CN" altLang="en-US" sz="36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51BA117-1E80-43D8-8B3C-64BC1900F067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676400"/>
            <a:ext cx="78486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声明</a:t>
            </a:r>
            <a:r>
              <a:rPr lang="en-US" altLang="zh-CN" sz="2400" dirty="0" err="1" smtClean="0"/>
              <a:t>ChessAlgorithm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类为</a:t>
            </a:r>
            <a:r>
              <a:rPr lang="en-US" altLang="zh-CN" sz="2400" dirty="0" smtClean="0"/>
              <a:t>final </a:t>
            </a:r>
            <a:r>
              <a:rPr lang="zh-CN" altLang="en-US" sz="2400" dirty="0" smtClean="0"/>
              <a:t>类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200" dirty="0" smtClean="0"/>
              <a:t>final class </a:t>
            </a:r>
            <a:r>
              <a:rPr lang="en-US" altLang="zh-CN" sz="2200" dirty="0" err="1" smtClean="0"/>
              <a:t>ChessAlgorithm</a:t>
            </a:r>
            <a:r>
              <a:rPr lang="en-US" altLang="zh-CN" sz="2200" dirty="0" smtClean="0"/>
              <a:t> {   . . .   }</a:t>
            </a:r>
            <a:endParaRPr lang="en-US" altLang="zh-CN" sz="2200" dirty="0" smtClean="0"/>
          </a:p>
          <a:p>
            <a:pPr eaLnBrk="1" hangingPunct="1">
              <a:lnSpc>
                <a:spcPct val="90000"/>
              </a:lnSpc>
              <a:spcBef>
                <a:spcPct val="45000"/>
              </a:spcBef>
            </a:pPr>
            <a:r>
              <a:rPr lang="zh-CN" altLang="en-US" sz="2400" dirty="0" smtClean="0"/>
              <a:t>如果写下如下程序：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200" dirty="0" smtClean="0"/>
              <a:t>class </a:t>
            </a:r>
            <a:r>
              <a:rPr lang="en-US" altLang="zh-CN" sz="2200" dirty="0" err="1" smtClean="0"/>
              <a:t>BetterChessAlgorithm</a:t>
            </a:r>
            <a:r>
              <a:rPr lang="en-US" altLang="zh-CN" sz="2200" dirty="0" smtClean="0"/>
              <a:t> extends </a:t>
            </a:r>
            <a:r>
              <a:rPr lang="en-US" altLang="zh-CN" sz="2200" dirty="0" err="1" smtClean="0"/>
              <a:t>ChessAlgorithm</a:t>
            </a:r>
            <a:r>
              <a:rPr lang="en-US" altLang="zh-CN" sz="2200" dirty="0" smtClean="0"/>
              <a:t> { … }</a:t>
            </a:r>
            <a:endParaRPr lang="en-US" altLang="zh-CN" sz="2200" dirty="0" smtClean="0"/>
          </a:p>
          <a:p>
            <a:pPr lvl="2" eaLnBrk="1" hangingPunct="1">
              <a:lnSpc>
                <a:spcPct val="90000"/>
              </a:lnSpc>
              <a:spcBef>
                <a:spcPct val="45000"/>
              </a:spcBef>
              <a:buFont typeface="Wingdings 2" panose="05020102010507070707" pitchFamily="18" charset="2"/>
              <a:buNone/>
            </a:pPr>
            <a:r>
              <a:rPr lang="zh-CN" altLang="en-US" sz="2000" dirty="0" smtClean="0"/>
              <a:t>编译器将显示一个错误</a:t>
            </a:r>
            <a:endParaRPr lang="zh-CN" altLang="en-US" sz="2000" dirty="0" smtClean="0"/>
          </a:p>
          <a:p>
            <a:pPr lvl="2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000" dirty="0" smtClean="0"/>
              <a:t>Chess.java:6: Can't subclass final classes: class </a:t>
            </a:r>
            <a:r>
              <a:rPr lang="en-US" altLang="zh-CN" sz="2000" dirty="0" err="1" smtClean="0"/>
              <a:t>ChessAlgorithm</a:t>
            </a:r>
            <a:endParaRPr lang="en-US" altLang="zh-CN" sz="2000" dirty="0" smtClean="0"/>
          </a:p>
          <a:p>
            <a:pPr lvl="2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000" dirty="0" smtClean="0"/>
              <a:t>class </a:t>
            </a:r>
            <a:r>
              <a:rPr lang="en-US" altLang="zh-CN" sz="2000" dirty="0" err="1" smtClean="0"/>
              <a:t>BetterChessAlgorithm</a:t>
            </a:r>
            <a:r>
              <a:rPr lang="en-US" altLang="zh-CN" sz="2000" dirty="0" smtClean="0"/>
              <a:t> extends </a:t>
            </a:r>
            <a:r>
              <a:rPr lang="en-US" altLang="zh-CN" sz="2000" dirty="0" err="1" smtClean="0"/>
              <a:t>ChessAlgorithm</a:t>
            </a:r>
            <a:r>
              <a:rPr lang="en-US" altLang="zh-CN" sz="2000" dirty="0" smtClean="0"/>
              <a:t> {</a:t>
            </a:r>
            <a:endParaRPr lang="en-US" altLang="zh-CN" sz="2000" dirty="0" smtClean="0"/>
          </a:p>
          <a:p>
            <a:pPr lvl="2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000" dirty="0" smtClean="0"/>
              <a:t>      ^</a:t>
            </a:r>
            <a:endParaRPr lang="en-US" altLang="zh-CN" sz="2000" dirty="0" smtClean="0"/>
          </a:p>
          <a:p>
            <a:pPr lvl="2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000" dirty="0" smtClean="0"/>
              <a:t>1 error</a:t>
            </a:r>
            <a:endParaRPr lang="en-US" altLang="zh-CN" sz="2000" dirty="0" smtClean="0"/>
          </a:p>
          <a:p>
            <a:pPr eaLnBrk="1" hangingPunct="1">
              <a:lnSpc>
                <a:spcPct val="90000"/>
              </a:lnSpc>
            </a:pPr>
            <a:endParaRPr lang="en-US" altLang="zh-CN" sz="2400" dirty="0" smtClean="0"/>
          </a:p>
        </p:txBody>
      </p:sp>
      <p:sp>
        <p:nvSpPr>
          <p:cNvPr id="5222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终结类与终结方法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2.1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终结类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一个例子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2BDD85C9-72DD-4247-8376-4E1BE00ECD8C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7526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终结方法的特点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 smtClean="0"/>
              <a:t>不能被派生类覆盖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</a:pPr>
            <a:endParaRPr lang="en-US" altLang="zh-CN" sz="2200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终结方法存在的理由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 smtClean="0"/>
              <a:t>对于一些比较重要且不希望子类进行更改的方法，可以声明为终结方法。可防止子类对父类关键方法的错误重写，增加了代码的安全性和正确性</a:t>
            </a:r>
            <a:endParaRPr lang="zh-CN" altLang="en-US" sz="2200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 smtClean="0"/>
              <a:t>提高运行效率。通常，当</a:t>
            </a:r>
            <a:r>
              <a:rPr lang="en-US" altLang="zh-CN" sz="2200" dirty="0" smtClean="0"/>
              <a:t>java</a:t>
            </a:r>
            <a:r>
              <a:rPr lang="zh-CN" altLang="en-US" sz="2200" dirty="0" smtClean="0"/>
              <a:t>运行环境（如</a:t>
            </a:r>
            <a:r>
              <a:rPr lang="en-US" altLang="zh-CN" sz="2200" dirty="0" smtClean="0"/>
              <a:t>java</a:t>
            </a:r>
            <a:r>
              <a:rPr lang="zh-CN" altLang="en-US" sz="2200" dirty="0" smtClean="0"/>
              <a:t>解释器）运行方法时，它将首先在当前类中查找该方法，接下来在其超类中查找，并一直沿类层次向上查找，直到找到该方法为止</a:t>
            </a:r>
            <a:endParaRPr lang="zh-CN" altLang="en-US" sz="2200" dirty="0" smtClean="0"/>
          </a:p>
        </p:txBody>
      </p:sp>
      <p:sp>
        <p:nvSpPr>
          <p:cNvPr id="53252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终结类与终结方法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53253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2.2 </a:t>
            </a:r>
            <a:r>
              <a:rPr kumimoji="0" lang="zh-CN" altLang="en-US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终结方法</a:t>
            </a:r>
            <a:endParaRPr kumimoji="0" lang="zh-CN" altLang="en-US" sz="3600" dirty="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EA86264A-BE95-4EF3-B594-C87378C1FDC8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4275" name="Rectangle 9"/>
          <p:cNvSpPr>
            <a:spLocks noChangeArrowheads="1"/>
          </p:cNvSpPr>
          <p:nvPr/>
        </p:nvSpPr>
        <p:spPr bwMode="auto">
          <a:xfrm>
            <a:off x="6858000" y="51054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6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676400"/>
            <a:ext cx="7897813" cy="499268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smtClean="0"/>
              <a:t>final </a:t>
            </a:r>
            <a:r>
              <a:rPr lang="zh-CN" altLang="en-US" sz="2400" smtClean="0"/>
              <a:t>方法举例</a:t>
            </a:r>
            <a:endParaRPr lang="zh-CN" altLang="en-US" sz="240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class Parent</a:t>
            </a:r>
            <a:endParaRPr lang="en-US" altLang="zh-CN" sz="220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{</a:t>
            </a:r>
            <a:endParaRPr lang="en-US" altLang="zh-CN" sz="220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   public Parent() {   } //</a:t>
            </a:r>
            <a:r>
              <a:rPr lang="zh-CN" altLang="en-US" sz="2200" smtClean="0"/>
              <a:t>构造方法</a:t>
            </a:r>
            <a:endParaRPr lang="zh-CN" altLang="en-US" sz="220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2200" smtClean="0"/>
              <a:t>   </a:t>
            </a:r>
            <a:r>
              <a:rPr lang="en-US" altLang="zh-CN" sz="2200" smtClean="0">
                <a:solidFill>
                  <a:schemeClr val="hlink"/>
                </a:solidFill>
              </a:rPr>
              <a:t>final</a:t>
            </a:r>
            <a:r>
              <a:rPr lang="en-US" altLang="zh-CN" sz="2200" smtClean="0"/>
              <a:t> int </a:t>
            </a:r>
            <a:r>
              <a:rPr lang="en-US" altLang="zh-CN" sz="2200" smtClean="0">
                <a:solidFill>
                  <a:schemeClr val="tx2"/>
                </a:solidFill>
              </a:rPr>
              <a:t>getPI()</a:t>
            </a:r>
            <a:r>
              <a:rPr lang="en-US" altLang="zh-CN" sz="2200" smtClean="0"/>
              <a:t> { return Math.PI; } //</a:t>
            </a:r>
            <a:r>
              <a:rPr lang="zh-CN" altLang="en-US" sz="2200" smtClean="0"/>
              <a:t>终结方法</a:t>
            </a:r>
            <a:endParaRPr lang="en-US" altLang="zh-CN" sz="2200" smtClean="0"/>
          </a:p>
          <a:p>
            <a:pPr lvl="1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}</a:t>
            </a:r>
            <a:endParaRPr lang="en-US" altLang="zh-CN" sz="2200" smtClean="0"/>
          </a:p>
          <a:p>
            <a:pPr eaLnBrk="1" hangingPunct="1">
              <a:lnSpc>
                <a:spcPct val="80000"/>
              </a:lnSpc>
            </a:pPr>
            <a:r>
              <a:rPr lang="zh-CN" altLang="en-US" sz="2400" smtClean="0"/>
              <a:t>说明</a:t>
            </a:r>
            <a:endParaRPr lang="zh-CN" altLang="en-US" sz="240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200" smtClean="0"/>
              <a:t>getPI()</a:t>
            </a:r>
            <a:r>
              <a:rPr lang="zh-CN" altLang="en-US" sz="2200" smtClean="0"/>
              <a:t>是用</a:t>
            </a:r>
            <a:r>
              <a:rPr lang="en-US" altLang="zh-CN" sz="2200" smtClean="0"/>
              <a:t>final</a:t>
            </a:r>
            <a:r>
              <a:rPr lang="zh-CN" altLang="en-US" sz="2200" smtClean="0"/>
              <a:t>修饰符声明的终结方法，不能在子类中对该方法进行重载，因而如下声明是错的</a:t>
            </a:r>
            <a:endParaRPr lang="zh-CN" altLang="en-US" sz="2200" smtClean="0"/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zh-CN" sz="2000" smtClean="0"/>
              <a:t>Class Child extends Parent</a:t>
            </a:r>
            <a:endParaRPr lang="en-US" altLang="zh-CN" sz="2000" smtClean="0"/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zh-CN" sz="2000" smtClean="0"/>
              <a:t>{</a:t>
            </a:r>
            <a:endParaRPr lang="zh-CN" altLang="en-US" sz="2000" smtClean="0"/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zh-CN" altLang="en-US" sz="2000" smtClean="0"/>
              <a:t>   </a:t>
            </a:r>
            <a:r>
              <a:rPr lang="en-US" altLang="zh-CN" sz="2000" smtClean="0"/>
              <a:t>public Child() {   }  //</a:t>
            </a:r>
            <a:r>
              <a:rPr lang="zh-CN" altLang="en-US" sz="2000" smtClean="0"/>
              <a:t>构造方法</a:t>
            </a:r>
            <a:endParaRPr lang="zh-CN" altLang="en-US" sz="2000" smtClean="0"/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zh-CN" altLang="en-US" sz="2000" smtClean="0"/>
              <a:t>   </a:t>
            </a:r>
            <a:r>
              <a:rPr lang="en-US" altLang="zh-CN" sz="2000" smtClean="0"/>
              <a:t>int </a:t>
            </a:r>
            <a:r>
              <a:rPr lang="en-US" altLang="zh-CN" sz="2000" smtClean="0">
                <a:solidFill>
                  <a:schemeClr val="tx2"/>
                </a:solidFill>
              </a:rPr>
              <a:t>getPI()</a:t>
            </a:r>
            <a:r>
              <a:rPr lang="en-US" altLang="zh-CN" sz="2000" smtClean="0"/>
              <a:t> { return 3.14; } //</a:t>
            </a:r>
            <a:r>
              <a:rPr lang="zh-CN" altLang="en-US" sz="2000" smtClean="0"/>
              <a:t>重写父类中的终结方法，不允许</a:t>
            </a:r>
            <a:endParaRPr lang="en-US" altLang="zh-CN" sz="2000" smtClean="0"/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zh-CN" sz="2000" smtClean="0"/>
              <a:t>}</a:t>
            </a:r>
            <a:endParaRPr lang="zh-CN" altLang="en-US" sz="2000" smtClean="0"/>
          </a:p>
        </p:txBody>
      </p:sp>
      <p:sp>
        <p:nvSpPr>
          <p:cNvPr id="54277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终结类与终结方法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54278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2.2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终结方法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12ADE75F-B40A-4217-B4F0-01C1635DF87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  <a:endParaRPr lang="zh-CN" altLang="en-GB" smtClean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GB" smtClean="0"/>
              <a:t>1 类的继承</a:t>
            </a:r>
            <a:endParaRPr lang="zh-CN" altLang="en-GB" smtClean="0"/>
          </a:p>
          <a:p>
            <a:pPr eaLnBrk="1" hangingPunct="1"/>
            <a:r>
              <a:rPr lang="en-US" altLang="zh-CN" smtClean="0"/>
              <a:t>2</a:t>
            </a:r>
            <a:r>
              <a:rPr lang="zh-CN" altLang="en-GB" smtClean="0"/>
              <a:t> 终结类与终结方法</a:t>
            </a:r>
            <a:endParaRPr lang="zh-CN" altLang="en-GB" smtClean="0"/>
          </a:p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3</a:t>
            </a:r>
            <a:r>
              <a:rPr lang="zh-CN" altLang="en-GB" smtClean="0">
                <a:solidFill>
                  <a:srgbClr val="FF0000"/>
                </a:solidFill>
              </a:rPr>
              <a:t> 抽象类</a:t>
            </a:r>
            <a:endParaRPr lang="zh-CN" altLang="en-GB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mtClean="0"/>
              <a:t>4</a:t>
            </a:r>
            <a:r>
              <a:rPr lang="en-US" altLang="zh-CN" smtClean="0"/>
              <a:t> </a:t>
            </a:r>
            <a:r>
              <a:rPr lang="zh-CN" altLang="en-US" smtClean="0"/>
              <a:t>类的组合 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1"/>
          <p:cNvSpPr>
            <a:spLocks noChangeArrowheads="1"/>
          </p:cNvSpPr>
          <p:nvPr/>
        </p:nvSpPr>
        <p:spPr bwMode="auto">
          <a:xfrm>
            <a:off x="609600" y="838200"/>
            <a:ext cx="7991475" cy="1444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13" name="Text Box 45"/>
          <p:cNvSpPr txBox="1">
            <a:spLocks noChangeArrowheads="1"/>
          </p:cNvSpPr>
          <p:nvPr/>
        </p:nvSpPr>
        <p:spPr bwMode="auto">
          <a:xfrm>
            <a:off x="323850" y="1484313"/>
            <a:ext cx="8820150" cy="4401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Java</a:t>
            </a:r>
            <a:r>
              <a:rPr lang="zh-CN" altLang="en-US" sz="2800" dirty="0"/>
              <a:t>类的定义</a:t>
            </a:r>
            <a:endParaRPr lang="zh-CN" altLang="en-US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[public] [</a:t>
            </a:r>
            <a:r>
              <a:rPr lang="en-US" altLang="zh-CN" sz="2800" dirty="0" err="1"/>
              <a:t>abstract|final</a:t>
            </a:r>
            <a:r>
              <a:rPr lang="en-US" altLang="zh-CN" sz="2800" dirty="0"/>
              <a:t>] class </a:t>
            </a:r>
            <a:r>
              <a:rPr lang="zh-CN" altLang="en-US" sz="2800" dirty="0"/>
              <a:t>类名</a:t>
            </a:r>
            <a:r>
              <a:rPr lang="en-US" altLang="zh-CN" sz="2800" dirty="0"/>
              <a:t>[extends </a:t>
            </a:r>
            <a:r>
              <a:rPr lang="zh-CN" altLang="en-US" sz="2800" dirty="0"/>
              <a:t>父类名</a:t>
            </a:r>
            <a:r>
              <a:rPr lang="en-US" altLang="zh-CN" sz="2800" dirty="0"/>
              <a:t>] 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                                                     </a:t>
            </a:r>
            <a:r>
              <a:rPr lang="en-US" altLang="zh-CN" sz="2800" dirty="0" smtClean="0"/>
              <a:t>[</a:t>
            </a:r>
            <a:r>
              <a:rPr lang="en-US" altLang="zh-CN" sz="2800" dirty="0"/>
              <a:t>implements </a:t>
            </a:r>
            <a:r>
              <a:rPr lang="zh-CN" altLang="en-US" sz="2800" dirty="0"/>
              <a:t>接口名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{  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	[</a:t>
            </a:r>
            <a:r>
              <a:rPr lang="zh-CN" altLang="en-US" sz="2800" dirty="0"/>
              <a:t>成员变量</a:t>
            </a:r>
            <a:r>
              <a:rPr lang="en-US" altLang="zh-CN" sz="2800" dirty="0"/>
              <a:t>(</a:t>
            </a:r>
            <a:r>
              <a:rPr lang="zh-CN" altLang="en-US" sz="2800" dirty="0"/>
              <a:t>域</a:t>
            </a:r>
            <a:r>
              <a:rPr lang="en-US" altLang="zh-CN" sz="2800" dirty="0"/>
              <a:t>)</a:t>
            </a:r>
            <a:r>
              <a:rPr lang="zh-CN" altLang="en-US" sz="2800" dirty="0"/>
              <a:t>定义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     [</a:t>
            </a:r>
            <a:r>
              <a:rPr lang="zh-CN" altLang="en-US" sz="2800" dirty="0"/>
              <a:t>成员函数</a:t>
            </a:r>
            <a:r>
              <a:rPr lang="en-US" altLang="zh-CN" sz="2800" dirty="0"/>
              <a:t>(</a:t>
            </a:r>
            <a:r>
              <a:rPr lang="zh-CN" altLang="en-US" sz="2800" dirty="0"/>
              <a:t>方法</a:t>
            </a:r>
            <a:r>
              <a:rPr lang="en-US" altLang="zh-CN" sz="2800" dirty="0"/>
              <a:t>)</a:t>
            </a:r>
            <a:r>
              <a:rPr lang="zh-CN" altLang="en-US" sz="2800" dirty="0"/>
              <a:t>定义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marL="457200" indent="-457200" algn="l">
              <a:spcBef>
                <a:spcPct val="50000"/>
              </a:spcBef>
              <a:defRPr/>
            </a:pPr>
            <a:r>
              <a:rPr lang="en-US" altLang="zh-CN" sz="2800" dirty="0"/>
              <a:t>}</a:t>
            </a:r>
            <a:endParaRPr lang="en-US" altLang="zh-CN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31DC3E3-4DFB-4D65-95CA-0959FE869BA3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en-US" altLang="zh-CN" smtClean="0"/>
              <a:t>3</a:t>
            </a:r>
            <a:r>
              <a:rPr lang="zh-CN" altLang="en-US" smtClean="0"/>
              <a:t> 抽象类</a:t>
            </a:r>
            <a:endParaRPr lang="zh-CN" altLang="en-US" smtClean="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620688"/>
            <a:ext cx="7239000" cy="5246712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抽象类</a:t>
            </a:r>
            <a:endParaRPr lang="zh-CN" altLang="en-US" dirty="0" smtClean="0"/>
          </a:p>
          <a:p>
            <a:pPr lvl="1" eaLnBrk="1" hangingPunct="1"/>
            <a:r>
              <a:rPr lang="zh-CN" altLang="en-US" sz="2800" dirty="0" smtClean="0"/>
              <a:t>代表一个抽象概念的类</a:t>
            </a:r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没有具体实例对象的类，不能使用</a:t>
            </a:r>
            <a:r>
              <a:rPr lang="en-US" altLang="zh-CN" sz="2800" dirty="0" smtClean="0"/>
              <a:t>new</a:t>
            </a:r>
            <a:r>
              <a:rPr lang="zh-CN" altLang="en-US" sz="2800" dirty="0" smtClean="0"/>
              <a:t>方法进行实例化</a:t>
            </a:r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类前需加修饰符</a:t>
            </a:r>
            <a:r>
              <a:rPr lang="en-US" altLang="zh-CN" sz="2800" dirty="0" smtClean="0"/>
              <a:t>abstract</a:t>
            </a:r>
            <a:endParaRPr lang="en-US" altLang="zh-CN" sz="2800" dirty="0" smtClean="0"/>
          </a:p>
          <a:p>
            <a:pPr lvl="1" eaLnBrk="1" hangingPunct="1"/>
            <a:r>
              <a:rPr lang="zh-CN" altLang="en-US" sz="2800" dirty="0" smtClean="0"/>
              <a:t>可包含常规类能够包含的任何东西，例如构造方法，非抽象方法</a:t>
            </a:r>
            <a:endParaRPr lang="zh-CN" altLang="en-US" sz="2800" dirty="0" smtClean="0"/>
          </a:p>
          <a:p>
            <a:pPr lvl="1" eaLnBrk="1" hangingPunct="1"/>
            <a:r>
              <a:rPr lang="zh-CN" altLang="en-US" sz="2800" dirty="0" smtClean="0"/>
              <a:t>也可包含抽象方法，这种方法只有方法的声明，而没有方法的实现</a:t>
            </a:r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1DB9A71C-A40D-42D5-939D-CB319862000E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643063"/>
            <a:ext cx="7931150" cy="52482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>
                <a:latin typeface="宋体" panose="02010600030101010101" pitchFamily="2" charset="-122"/>
              </a:rPr>
              <a:t>存在意义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>
                <a:latin typeface="宋体" panose="02010600030101010101" pitchFamily="2" charset="-122"/>
              </a:rPr>
              <a:t>抽象类是类层次中较高层次的概括，抽象类的作用是让其他类来继承它的抽象化的特征</a:t>
            </a:r>
            <a:endParaRPr lang="zh-CN" altLang="en-US" sz="2800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>
                <a:latin typeface="宋体" panose="02010600030101010101" pitchFamily="2" charset="-122"/>
              </a:rPr>
              <a:t>抽象类中可以包括被它的所有子类共享的公共行为</a:t>
            </a:r>
            <a:endParaRPr lang="zh-CN" altLang="en-US" sz="2800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>
                <a:latin typeface="宋体" panose="02010600030101010101" pitchFamily="2" charset="-122"/>
              </a:rPr>
              <a:t>抽象类可以包括被它的所有子类共享的公共属性</a:t>
            </a:r>
            <a:endParaRPr lang="zh-CN" altLang="en-US" sz="2800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>
                <a:latin typeface="宋体" panose="02010600030101010101" pitchFamily="2" charset="-122"/>
              </a:rPr>
              <a:t>在程序中不能用抽象类作为模板来创建对象；</a:t>
            </a:r>
            <a:endParaRPr lang="zh-CN" altLang="en-US" sz="2800" dirty="0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dirty="0" smtClean="0">
                <a:latin typeface="宋体" panose="02010600030101010101" pitchFamily="2" charset="-122"/>
              </a:rPr>
              <a:t>在用户生成实例时强迫用户生成更具体的实例，保证代码的安全性</a:t>
            </a:r>
            <a:endParaRPr lang="zh-CN" altLang="en-US" sz="2800" dirty="0" smtClean="0"/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存在意义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C79D5576-A4D9-43A3-BA93-792A8DCF6C5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59395" name="Rectangle 35"/>
          <p:cNvSpPr>
            <a:spLocks noChangeArrowheads="1"/>
          </p:cNvSpPr>
          <p:nvPr/>
        </p:nvSpPr>
        <p:spPr bwMode="auto">
          <a:xfrm>
            <a:off x="6553200" y="4876800"/>
            <a:ext cx="2590800" cy="1600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1600200"/>
            <a:ext cx="7696200" cy="22860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000" dirty="0" smtClean="0"/>
              <a:t>将所有图形的公共属性及方法抽象到抽象类</a:t>
            </a:r>
            <a:r>
              <a:rPr lang="en-US" altLang="zh-CN" sz="2000" dirty="0" smtClean="0">
                <a:solidFill>
                  <a:schemeClr val="tx2"/>
                </a:solidFill>
              </a:rPr>
              <a:t>Shape</a:t>
            </a:r>
            <a:r>
              <a:rPr lang="zh-CN" altLang="en-US" sz="2000" dirty="0" smtClean="0"/>
              <a:t>。再将2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及3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对象的特性分别抽取出来，形成两个抽象类</a:t>
            </a:r>
            <a:r>
              <a:rPr lang="en-US" altLang="zh-CN" sz="2000" dirty="0" err="1" smtClean="0">
                <a:solidFill>
                  <a:schemeClr val="tx2"/>
                </a:solidFill>
              </a:rPr>
              <a:t>TwoDimensionalShape</a:t>
            </a:r>
            <a:r>
              <a:rPr lang="zh-CN" altLang="en-US" sz="2000" dirty="0" smtClean="0"/>
              <a:t>及</a:t>
            </a:r>
            <a:r>
              <a:rPr lang="en-US" altLang="zh-CN" sz="2000" dirty="0" err="1" smtClean="0">
                <a:solidFill>
                  <a:schemeClr val="tx2"/>
                </a:solidFill>
              </a:rPr>
              <a:t>ThreeDimensionalShape</a:t>
            </a:r>
            <a:endParaRPr lang="zh-CN" altLang="en-US" sz="2000" dirty="0" smtClean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sz="2000" dirty="0" smtClean="0"/>
              <a:t>2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图形包括</a:t>
            </a:r>
            <a:r>
              <a:rPr lang="en-US" altLang="zh-CN" sz="2000" dirty="0" smtClean="0"/>
              <a:t>Circles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Triangles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Rectangles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Squares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3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图形包括</a:t>
            </a:r>
            <a:r>
              <a:rPr lang="en-US" altLang="zh-CN" sz="2000" dirty="0" smtClean="0"/>
              <a:t>Cube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Sphere</a:t>
            </a:r>
            <a:r>
              <a:rPr lang="zh-CN" altLang="en-US" sz="2000" dirty="0" smtClean="0"/>
              <a:t>、或</a:t>
            </a:r>
            <a:r>
              <a:rPr lang="en-US" altLang="zh-CN" sz="2000" dirty="0" smtClean="0"/>
              <a:t>Tetrahedron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在</a:t>
            </a:r>
            <a:r>
              <a:rPr lang="en-US" altLang="zh-CN" sz="2000" dirty="0" smtClean="0"/>
              <a:t>UML</a:t>
            </a:r>
            <a:r>
              <a:rPr lang="zh-CN" altLang="en-US" sz="2000" dirty="0" smtClean="0"/>
              <a:t>中，抽象类的类名为斜体，以与具体类相区别</a:t>
            </a:r>
            <a:endParaRPr lang="zh-CN" altLang="en-US" sz="2200" dirty="0" smtClean="0"/>
          </a:p>
        </p:txBody>
      </p:sp>
      <p:grpSp>
        <p:nvGrpSpPr>
          <p:cNvPr id="59397" name="Group 5"/>
          <p:cNvGrpSpPr/>
          <p:nvPr/>
        </p:nvGrpSpPr>
        <p:grpSpPr bwMode="auto">
          <a:xfrm>
            <a:off x="841375" y="3810000"/>
            <a:ext cx="7921625" cy="2819400"/>
            <a:chOff x="2105" y="9416"/>
            <a:chExt cx="7800" cy="3757"/>
          </a:xfrm>
        </p:grpSpPr>
        <p:sp>
          <p:nvSpPr>
            <p:cNvPr id="59399" name="Line 6"/>
            <p:cNvSpPr>
              <a:spLocks noChangeShapeType="1"/>
            </p:cNvSpPr>
            <p:nvPr/>
          </p:nvSpPr>
          <p:spPr bwMode="auto">
            <a:xfrm>
              <a:off x="5130" y="12393"/>
              <a:ext cx="0" cy="33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9400" name="Group 7"/>
            <p:cNvGrpSpPr/>
            <p:nvPr/>
          </p:nvGrpSpPr>
          <p:grpSpPr bwMode="auto">
            <a:xfrm>
              <a:off x="2105" y="9416"/>
              <a:ext cx="7800" cy="3757"/>
              <a:chOff x="2105" y="9416"/>
              <a:chExt cx="7800" cy="3757"/>
            </a:xfrm>
          </p:grpSpPr>
          <p:sp>
            <p:nvSpPr>
              <p:cNvPr id="59401" name="AutoShape 8"/>
              <p:cNvSpPr>
                <a:spLocks noChangeArrowheads="1"/>
              </p:cNvSpPr>
              <p:nvPr/>
            </p:nvSpPr>
            <p:spPr bwMode="auto">
              <a:xfrm>
                <a:off x="3720" y="11087"/>
                <a:ext cx="143" cy="143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2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9402" name="Group 9"/>
              <p:cNvGrpSpPr/>
              <p:nvPr/>
            </p:nvGrpSpPr>
            <p:grpSpPr bwMode="auto">
              <a:xfrm>
                <a:off x="2105" y="9416"/>
                <a:ext cx="7800" cy="3757"/>
                <a:chOff x="2115" y="9416"/>
                <a:chExt cx="7800" cy="3757"/>
              </a:xfrm>
            </p:grpSpPr>
            <p:sp>
              <p:nvSpPr>
                <p:cNvPr id="5940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5225" y="9416"/>
                  <a:ext cx="1335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800" b="1" i="1" dirty="0">
                      <a:ea typeface="宋体" panose="02010600030101010101" pitchFamily="2" charset="-122"/>
                    </a:rPr>
                    <a:t>Shape</a:t>
                  </a:r>
                  <a:endParaRPr kumimoji="0" lang="en-US" altLang="zh-CN" sz="1800" b="1" i="1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0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115" y="11778"/>
                  <a:ext cx="855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Circle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0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195" y="11793"/>
                  <a:ext cx="1110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Triangle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0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560" y="11808"/>
                  <a:ext cx="1200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Rectangle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0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560" y="12738"/>
                  <a:ext cx="1245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Square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08" name="AutoShape 15"/>
                <p:cNvSpPr>
                  <a:spLocks noChangeArrowheads="1"/>
                </p:cNvSpPr>
                <p:nvPr/>
              </p:nvSpPr>
              <p:spPr bwMode="auto">
                <a:xfrm>
                  <a:off x="5760" y="9827"/>
                  <a:ext cx="143" cy="143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09" name="AutoShape 16"/>
                <p:cNvSpPr>
                  <a:spLocks noChangeArrowheads="1"/>
                </p:cNvSpPr>
                <p:nvPr/>
              </p:nvSpPr>
              <p:spPr bwMode="auto">
                <a:xfrm>
                  <a:off x="5055" y="12243"/>
                  <a:ext cx="143" cy="143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10" name="Line 17"/>
                <p:cNvSpPr>
                  <a:spLocks noChangeShapeType="1"/>
                </p:cNvSpPr>
                <p:nvPr/>
              </p:nvSpPr>
              <p:spPr bwMode="auto">
                <a:xfrm>
                  <a:off x="2580" y="11478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11" name="Line 18"/>
                <p:cNvSpPr>
                  <a:spLocks noChangeShapeType="1"/>
                </p:cNvSpPr>
                <p:nvPr/>
              </p:nvSpPr>
              <p:spPr bwMode="auto">
                <a:xfrm>
                  <a:off x="5115" y="11508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12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430" y="10637"/>
                  <a:ext cx="2640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800" b="1" i="1" dirty="0" err="1">
                      <a:ea typeface="宋体" panose="02010600030101010101" pitchFamily="2" charset="-122"/>
                    </a:rPr>
                    <a:t>TwoDimensionalShap</a:t>
                  </a:r>
                  <a:r>
                    <a:rPr kumimoji="0" lang="en-US" altLang="zh-CN" sz="1800" b="1" dirty="0" err="1">
                      <a:ea typeface="宋体" panose="02010600030101010101" pitchFamily="2" charset="-122"/>
                    </a:rPr>
                    <a:t>e</a:t>
                  </a:r>
                  <a:endParaRPr kumimoji="0" lang="en-US" altLang="zh-CN" sz="1800" b="1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13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6330" y="10622"/>
                  <a:ext cx="2835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800" b="1" i="1" dirty="0" err="1">
                      <a:ea typeface="宋体" panose="02010600030101010101" pitchFamily="2" charset="-122"/>
                    </a:rPr>
                    <a:t>ThreeDimensionalShap</a:t>
                  </a:r>
                  <a:r>
                    <a:rPr kumimoji="0" lang="en-US" altLang="zh-CN" sz="1800" b="1" dirty="0" err="1">
                      <a:ea typeface="宋体" panose="02010600030101010101" pitchFamily="2" charset="-122"/>
                    </a:rPr>
                    <a:t>e</a:t>
                  </a:r>
                  <a:endParaRPr kumimoji="0" lang="en-US" altLang="zh-CN" sz="1800" b="1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14" name="Line 21"/>
                <p:cNvSpPr>
                  <a:spLocks noChangeShapeType="1"/>
                </p:cNvSpPr>
                <p:nvPr/>
              </p:nvSpPr>
              <p:spPr bwMode="auto">
                <a:xfrm>
                  <a:off x="3780" y="11238"/>
                  <a:ext cx="0" cy="555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15" name="Line 22"/>
                <p:cNvSpPr>
                  <a:spLocks noChangeShapeType="1"/>
                </p:cNvSpPr>
                <p:nvPr/>
              </p:nvSpPr>
              <p:spPr bwMode="auto">
                <a:xfrm>
                  <a:off x="2565" y="11486"/>
                  <a:ext cx="255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1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6135" y="11748"/>
                  <a:ext cx="855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Cube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1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7215" y="11763"/>
                  <a:ext cx="1110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Sphere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1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8580" y="11778"/>
                  <a:ext cx="1335" cy="435"/>
                </a:xfrm>
                <a:prstGeom prst="rect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/>
                  <a:r>
                    <a:rPr kumimoji="0" lang="en-US" altLang="zh-CN" sz="1600" b="1">
                      <a:ea typeface="宋体" panose="02010600030101010101" pitchFamily="2" charset="-122"/>
                    </a:rPr>
                    <a:t>Tetrahedron</a:t>
                  </a:r>
                  <a:endParaRPr kumimoji="0" lang="en-US" altLang="zh-CN" sz="1600" b="1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419" name="Line 26"/>
                <p:cNvSpPr>
                  <a:spLocks noChangeShapeType="1"/>
                </p:cNvSpPr>
                <p:nvPr/>
              </p:nvSpPr>
              <p:spPr bwMode="auto">
                <a:xfrm>
                  <a:off x="6600" y="11448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0" name="Line 27"/>
                <p:cNvSpPr>
                  <a:spLocks noChangeShapeType="1"/>
                </p:cNvSpPr>
                <p:nvPr/>
              </p:nvSpPr>
              <p:spPr bwMode="auto">
                <a:xfrm>
                  <a:off x="9135" y="11478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1" name="AutoShape 28"/>
                <p:cNvSpPr>
                  <a:spLocks noChangeArrowheads="1"/>
                </p:cNvSpPr>
                <p:nvPr/>
              </p:nvSpPr>
              <p:spPr bwMode="auto">
                <a:xfrm>
                  <a:off x="7740" y="11057"/>
                  <a:ext cx="143" cy="143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2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2" name="Line 29"/>
                <p:cNvSpPr>
                  <a:spLocks noChangeShapeType="1"/>
                </p:cNvSpPr>
                <p:nvPr/>
              </p:nvSpPr>
              <p:spPr bwMode="auto">
                <a:xfrm>
                  <a:off x="7800" y="11208"/>
                  <a:ext cx="0" cy="555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3" name="Line 30"/>
                <p:cNvSpPr>
                  <a:spLocks noChangeShapeType="1"/>
                </p:cNvSpPr>
                <p:nvPr/>
              </p:nvSpPr>
              <p:spPr bwMode="auto">
                <a:xfrm>
                  <a:off x="6585" y="11456"/>
                  <a:ext cx="255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4" name="Line 31"/>
                <p:cNvSpPr>
                  <a:spLocks noChangeShapeType="1"/>
                </p:cNvSpPr>
                <p:nvPr/>
              </p:nvSpPr>
              <p:spPr bwMode="auto">
                <a:xfrm>
                  <a:off x="5835" y="9986"/>
                  <a:ext cx="0" cy="195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5" name="Line 32"/>
                <p:cNvSpPr>
                  <a:spLocks noChangeShapeType="1"/>
                </p:cNvSpPr>
                <p:nvPr/>
              </p:nvSpPr>
              <p:spPr bwMode="auto">
                <a:xfrm>
                  <a:off x="3750" y="10196"/>
                  <a:ext cx="402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6" name="Line 33"/>
                <p:cNvSpPr>
                  <a:spLocks noChangeShapeType="1"/>
                </p:cNvSpPr>
                <p:nvPr/>
              </p:nvSpPr>
              <p:spPr bwMode="auto">
                <a:xfrm>
                  <a:off x="3750" y="10196"/>
                  <a:ext cx="0" cy="42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27" name="Line 34"/>
                <p:cNvSpPr>
                  <a:spLocks noChangeShapeType="1"/>
                </p:cNvSpPr>
                <p:nvPr/>
              </p:nvSpPr>
              <p:spPr bwMode="auto">
                <a:xfrm>
                  <a:off x="7770" y="10211"/>
                  <a:ext cx="0" cy="42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438941" y="260648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 dirty="0">
                <a:latin typeface="Trebuchet MS" panose="020B0603020202020204" pitchFamily="34" charset="0"/>
                <a:ea typeface="方正姚体" panose="02010601030101010101" pitchFamily="2" charset="-122"/>
              </a:rPr>
              <a:t>几何形状的例子</a:t>
            </a:r>
            <a:endParaRPr kumimoji="0" lang="zh-CN" altLang="en-US" sz="2800" dirty="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39F59E9-94D5-4CB5-B7A1-B123E1DDBE1F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6041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119188"/>
            <a:ext cx="850582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6E6EB8DA-3C78-4EE3-A80B-148FFE226434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752600"/>
            <a:ext cx="76200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000" smtClean="0"/>
              <a:t>前例中，如果在应用系统中涉及到的人员只包括：</a:t>
            </a:r>
            <a:r>
              <a:rPr lang="en-US" altLang="zh-CN" sz="2000" smtClean="0"/>
              <a:t>Customers，Employees </a:t>
            </a:r>
            <a:r>
              <a:rPr lang="zh-CN" altLang="en-US" sz="2000" smtClean="0"/>
              <a:t>及 </a:t>
            </a:r>
            <a:r>
              <a:rPr lang="en-US" altLang="zh-CN" sz="2000" smtClean="0"/>
              <a:t>Managers。</a:t>
            </a:r>
            <a:r>
              <a:rPr lang="zh-CN" altLang="en-US" sz="2000" smtClean="0"/>
              <a:t>则</a:t>
            </a:r>
            <a:r>
              <a:rPr lang="en-US" altLang="zh-CN" sz="2000" smtClean="0"/>
              <a:t>Person </a:t>
            </a:r>
            <a:r>
              <a:rPr lang="zh-CN" altLang="en-US" sz="2000" smtClean="0"/>
              <a:t>类的子类对象覆盖了应用中的对象，可以将</a:t>
            </a:r>
            <a:r>
              <a:rPr lang="en-US" altLang="zh-CN" sz="2000" smtClean="0"/>
              <a:t>Person </a:t>
            </a:r>
            <a:r>
              <a:rPr lang="zh-CN" altLang="en-US" sz="2000" smtClean="0"/>
              <a:t>类声明为抽象类</a:t>
            </a:r>
            <a:endParaRPr lang="zh-CN" altLang="en-US" sz="2000" smtClean="0"/>
          </a:p>
        </p:txBody>
      </p:sp>
      <p:grpSp>
        <p:nvGrpSpPr>
          <p:cNvPr id="61444" name="Group 5"/>
          <p:cNvGrpSpPr/>
          <p:nvPr/>
        </p:nvGrpSpPr>
        <p:grpSpPr bwMode="auto">
          <a:xfrm>
            <a:off x="2514600" y="3429000"/>
            <a:ext cx="4191000" cy="2743200"/>
            <a:chOff x="5790" y="3061"/>
            <a:chExt cx="3420" cy="2820"/>
          </a:xfrm>
        </p:grpSpPr>
        <p:sp>
          <p:nvSpPr>
            <p:cNvPr id="61446" name="Text Box 6"/>
            <p:cNvSpPr txBox="1">
              <a:spLocks noChangeArrowheads="1"/>
            </p:cNvSpPr>
            <p:nvPr/>
          </p:nvSpPr>
          <p:spPr bwMode="auto">
            <a:xfrm>
              <a:off x="6870" y="3061"/>
              <a:ext cx="121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sz="1800" b="1" i="1">
                  <a:solidFill>
                    <a:schemeClr val="hlink"/>
                  </a:solidFill>
                  <a:ea typeface="宋体" panose="02010600030101010101" pitchFamily="2" charset="-122"/>
                </a:rPr>
                <a:t>Person</a:t>
              </a:r>
              <a:endParaRPr kumimoji="0" lang="en-US" altLang="zh-CN" sz="1800" b="1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47" name="Text Box 7"/>
            <p:cNvSpPr txBox="1">
              <a:spLocks noChangeArrowheads="1"/>
            </p:cNvSpPr>
            <p:nvPr/>
          </p:nvSpPr>
          <p:spPr bwMode="auto">
            <a:xfrm>
              <a:off x="5790" y="4291"/>
              <a:ext cx="121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sz="1800" b="1">
                  <a:ea typeface="宋体" panose="02010600030101010101" pitchFamily="2" charset="-122"/>
                </a:rPr>
                <a:t>Employee</a:t>
              </a:r>
              <a:endParaRPr kumimoji="0"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61448" name="Text Box 8"/>
            <p:cNvSpPr txBox="1">
              <a:spLocks noChangeArrowheads="1"/>
            </p:cNvSpPr>
            <p:nvPr/>
          </p:nvSpPr>
          <p:spPr bwMode="auto">
            <a:xfrm>
              <a:off x="5820" y="5416"/>
              <a:ext cx="121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sz="1800" b="1">
                  <a:ea typeface="宋体" panose="02010600030101010101" pitchFamily="2" charset="-122"/>
                </a:rPr>
                <a:t>Manager</a:t>
              </a:r>
              <a:endParaRPr kumimoji="0"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61449" name="AutoShape 9"/>
            <p:cNvSpPr>
              <a:spLocks noChangeArrowheads="1"/>
            </p:cNvSpPr>
            <p:nvPr/>
          </p:nvSpPr>
          <p:spPr bwMode="auto">
            <a:xfrm>
              <a:off x="7455" y="3541"/>
              <a:ext cx="143" cy="1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AutoShape 10"/>
            <p:cNvSpPr>
              <a:spLocks noChangeArrowheads="1"/>
            </p:cNvSpPr>
            <p:nvPr/>
          </p:nvSpPr>
          <p:spPr bwMode="auto">
            <a:xfrm>
              <a:off x="6360" y="4771"/>
              <a:ext cx="143" cy="1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11"/>
            <p:cNvSpPr>
              <a:spLocks noChangeShapeType="1"/>
            </p:cNvSpPr>
            <p:nvPr/>
          </p:nvSpPr>
          <p:spPr bwMode="auto">
            <a:xfrm>
              <a:off x="6435" y="4966"/>
              <a:ext cx="0" cy="45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Text Box 12"/>
            <p:cNvSpPr txBox="1">
              <a:spLocks noChangeArrowheads="1"/>
            </p:cNvSpPr>
            <p:nvPr/>
          </p:nvSpPr>
          <p:spPr bwMode="auto">
            <a:xfrm>
              <a:off x="7995" y="4231"/>
              <a:ext cx="1215" cy="46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en-US" altLang="zh-CN" sz="1800" b="1">
                  <a:ea typeface="宋体" panose="02010600030101010101" pitchFamily="2" charset="-122"/>
                </a:rPr>
                <a:t>Customer</a:t>
              </a:r>
              <a:endParaRPr kumimoji="0"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61453" name="Line 13"/>
            <p:cNvSpPr>
              <a:spLocks noChangeShapeType="1"/>
            </p:cNvSpPr>
            <p:nvPr/>
          </p:nvSpPr>
          <p:spPr bwMode="auto">
            <a:xfrm>
              <a:off x="7530" y="3735"/>
              <a:ext cx="0" cy="16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14"/>
            <p:cNvSpPr>
              <a:spLocks noChangeShapeType="1"/>
            </p:cNvSpPr>
            <p:nvPr/>
          </p:nvSpPr>
          <p:spPr bwMode="auto">
            <a:xfrm>
              <a:off x="6420" y="3930"/>
              <a:ext cx="213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15"/>
            <p:cNvSpPr>
              <a:spLocks noChangeShapeType="1"/>
            </p:cNvSpPr>
            <p:nvPr/>
          </p:nvSpPr>
          <p:spPr bwMode="auto">
            <a:xfrm>
              <a:off x="6390" y="3930"/>
              <a:ext cx="0" cy="37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Line 16"/>
            <p:cNvSpPr>
              <a:spLocks noChangeShapeType="1"/>
            </p:cNvSpPr>
            <p:nvPr/>
          </p:nvSpPr>
          <p:spPr bwMode="auto">
            <a:xfrm>
              <a:off x="8550" y="3930"/>
              <a:ext cx="0" cy="3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人员的例子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523893AE-D5C8-4F4A-BD49-AA303ECFA5C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en-US" altLang="zh-CN" sz="3600" smtClean="0"/>
              <a:t>3</a:t>
            </a:r>
            <a:r>
              <a:rPr lang="zh-CN" altLang="en-US" sz="3600" smtClean="0"/>
              <a:t>.1 抽象类的声明</a:t>
            </a:r>
            <a:endParaRPr lang="zh-CN" altLang="en-US" sz="3600" smtClean="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抽象类声明的语法形式为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abstract class Number {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    . . .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}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mtClean="0"/>
              <a:t>如果写： 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new Number();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mtClean="0"/>
              <a:t>编译器将显示错误</a:t>
            </a:r>
            <a:endParaRPr lang="zh-CN" altLang="en-US" smtClean="0"/>
          </a:p>
        </p:txBody>
      </p:sp>
      <p:sp>
        <p:nvSpPr>
          <p:cNvPr id="62469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F716BE27-22EA-4959-B626-56049B1AA677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en-US" altLang="zh-CN" sz="3600" smtClean="0"/>
              <a:t>3</a:t>
            </a:r>
            <a:r>
              <a:rPr lang="zh-CN" altLang="en-US" sz="3600" smtClean="0"/>
              <a:t>.2 抽象方法</a:t>
            </a:r>
            <a:endParaRPr lang="zh-CN" altLang="en-US" sz="3600" smtClean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" y="1752600"/>
            <a:ext cx="9036496" cy="3980656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抽象方法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声明的语法形式为</a:t>
            </a:r>
            <a:endParaRPr lang="zh-CN" altLang="en-US" dirty="0" smtClean="0"/>
          </a:p>
          <a:p>
            <a:pPr lvl="2" eaLnBrk="1" hangingPunct="1">
              <a:lnSpc>
                <a:spcPct val="110000"/>
              </a:lnSpc>
              <a:buFont typeface="Wingdings 2" panose="05020102010507070707" pitchFamily="18" charset="2"/>
              <a:buNone/>
            </a:pPr>
            <a:r>
              <a:rPr lang="en-US" altLang="zh-CN" sz="2400" dirty="0" smtClean="0"/>
              <a:t>public abstract &lt;</a:t>
            </a:r>
            <a:r>
              <a:rPr lang="en-US" altLang="zh-CN" sz="2400" dirty="0" err="1" smtClean="0"/>
              <a:t>returnType</a:t>
            </a:r>
            <a:r>
              <a:rPr lang="en-US" altLang="zh-CN" sz="2400" dirty="0" smtClean="0"/>
              <a:t>&gt; &lt;</a:t>
            </a:r>
            <a:r>
              <a:rPr lang="en-US" altLang="zh-CN" sz="2400" dirty="0" err="1" smtClean="0"/>
              <a:t>methodName</a:t>
            </a:r>
            <a:r>
              <a:rPr lang="en-US" altLang="zh-CN" sz="2400" dirty="0" smtClean="0"/>
              <a:t>&gt;(...);</a:t>
            </a:r>
            <a:endParaRPr lang="zh-CN" altLang="en-US" sz="2400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仅有方法头，而没有方法体和操作实现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>
                <a:latin typeface="宋体" panose="02010600030101010101" pitchFamily="2" charset="-122"/>
              </a:rPr>
              <a:t>具体实现由当前类的不同子类在它们各自的类声明中完成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抽象类可以包含抽象方法</a:t>
            </a:r>
            <a:endParaRPr lang="en-US" altLang="zh-CN" dirty="0" smtClean="0"/>
          </a:p>
        </p:txBody>
      </p:sp>
      <p:sp>
        <p:nvSpPr>
          <p:cNvPr id="63493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2C0A9AEC-B0AD-4331-9497-8FDF6E47E77B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54113" y="18161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需注意的问题</a:t>
            </a:r>
            <a:endParaRPr lang="zh-CN" altLang="en-US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一个抽象类的子类如果不是抽象类，则它必须为父类中的所有抽象方法书写方法体，即重写父类中的所有抽象方法</a:t>
            </a:r>
            <a:endParaRPr lang="zh-CN" altLang="en-US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只有抽象类才能具有抽象方法，即如果一个类中含有抽象方法，则必须将这个类声明为抽象类</a:t>
            </a:r>
            <a:endParaRPr lang="zh-CN" altLang="en-US" smtClean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>
                <a:latin typeface="宋体" panose="02010600030101010101" pitchFamily="2" charset="-122"/>
              </a:rPr>
              <a:t>除了抽象方法，抽象类中还可以包括非抽象方法</a:t>
            </a:r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64516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3.2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需注意的问题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3F51AF0F-177D-4659-B0B9-6DEEC1839E51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844824"/>
            <a:ext cx="7931150" cy="524827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抽象方法的优点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隐藏具体的细节信息，所有的子类使用的都是相同的方法头，其中包含了调用该方法时需要了解的全部信息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强迫子类完成指定的行为，规定其子类需要用到的“标准”行为</a:t>
            </a:r>
            <a:endParaRPr lang="zh-CN" altLang="en-US" dirty="0" smtClean="0"/>
          </a:p>
        </p:txBody>
      </p:sp>
      <p:sp>
        <p:nvSpPr>
          <p:cNvPr id="65540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3.2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抽象方法的优点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11CA0A60-889A-477A-A140-BE9910E0023E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30313" y="3568700"/>
            <a:ext cx="7239000" cy="2971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/>
              <a:t>各种图形都需要实现绘图方法</a:t>
            </a:r>
            <a:r>
              <a:rPr lang="en-US" altLang="zh-CN" sz="2400" dirty="0" smtClean="0"/>
              <a:t>，</a:t>
            </a:r>
            <a:r>
              <a:rPr lang="zh-CN" altLang="en-US" sz="2400" dirty="0" smtClean="0"/>
              <a:t>可在它们的抽象父类中声明一个</a:t>
            </a:r>
            <a:r>
              <a:rPr lang="en-US" altLang="zh-CN" sz="2400" dirty="0" smtClean="0"/>
              <a:t>draw</a:t>
            </a:r>
            <a:r>
              <a:rPr lang="zh-CN" altLang="en-US" sz="2400" dirty="0" smtClean="0"/>
              <a:t>抽象方法</a:t>
            </a: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abstract class </a:t>
            </a:r>
            <a:r>
              <a:rPr lang="en-US" altLang="zh-CN" sz="2200" dirty="0" err="1" smtClean="0"/>
              <a:t>GraphicObject</a:t>
            </a:r>
            <a:r>
              <a:rPr lang="en-US" altLang="zh-CN" sz="2200" dirty="0" smtClean="0"/>
              <a:t> {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   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x, y;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    void </a:t>
            </a:r>
            <a:r>
              <a:rPr lang="en-US" altLang="zh-CN" sz="2200" dirty="0" err="1" smtClean="0"/>
              <a:t>moveTo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newX</a:t>
            </a:r>
            <a:r>
              <a:rPr lang="en-US" altLang="zh-CN" sz="2200" dirty="0" smtClean="0"/>
              <a:t>,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newY</a:t>
            </a:r>
            <a:r>
              <a:rPr lang="en-US" altLang="zh-CN" sz="2200" dirty="0" smtClean="0"/>
              <a:t>) { . . . }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>
                <a:solidFill>
                  <a:srgbClr val="FF0000"/>
                </a:solidFill>
              </a:rPr>
              <a:t>    abstract void draw();</a:t>
            </a:r>
            <a:endParaRPr lang="en-US" altLang="zh-CN" sz="22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}</a:t>
            </a:r>
            <a:endParaRPr lang="zh-CN" altLang="en-US" sz="2200" dirty="0" smtClean="0"/>
          </a:p>
        </p:txBody>
      </p:sp>
      <p:pic>
        <p:nvPicPr>
          <p:cNvPr id="66564" name="Picture 5" descr="Java5_g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8950"/>
            <a:ext cx="708660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66566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3.2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一个绘图的例子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AFA7E984-72EA-4583-855F-0CD335FD80E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7526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然后在每一个子类中重写</a:t>
            </a:r>
            <a:r>
              <a:rPr lang="en-US" altLang="zh-CN" smtClean="0"/>
              <a:t>draw</a:t>
            </a:r>
            <a:r>
              <a:rPr lang="zh-CN" altLang="en-US" smtClean="0"/>
              <a:t>方法，例如：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class Circle extends GraphicObject {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    void draw() {  . . .  }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}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spcBef>
                <a:spcPct val="45000"/>
              </a:spcBef>
              <a:buFont typeface="Georgia" panose="02040502050405020303" pitchFamily="18" charset="0"/>
              <a:buNone/>
            </a:pPr>
            <a:r>
              <a:rPr lang="en-US" altLang="zh-CN" smtClean="0"/>
              <a:t>class Rectangle extends GraphicObject {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    void draw() {  . . .  }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mtClean="0"/>
              <a:t>}</a:t>
            </a:r>
            <a:endParaRPr lang="en-US" altLang="zh-CN" smtClean="0"/>
          </a:p>
          <a:p>
            <a:pPr eaLnBrk="1" hangingPunct="1">
              <a:lnSpc>
                <a:spcPct val="90000"/>
              </a:lnSpc>
            </a:pPr>
            <a:endParaRPr lang="zh-CN" altLang="en-US" smtClean="0"/>
          </a:p>
        </p:txBody>
      </p:sp>
      <p:sp>
        <p:nvSpPr>
          <p:cNvPr id="6758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抽象类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3.2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抽象方法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US" altLang="zh-CN" sz="40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US" altLang="zh-CN" sz="2800"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US" sz="2800">
                <a:latin typeface="Trebuchet MS" panose="020B0603020202020204" pitchFamily="34" charset="0"/>
                <a:ea typeface="方正姚体" panose="02010601030101010101" pitchFamily="2" charset="-122"/>
              </a:rPr>
              <a:t>一个绘图的例子</a:t>
            </a:r>
            <a:endParaRPr kumimoji="0" lang="zh-CN" altLang="en-US" sz="2800"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9268A30-E389-4512-942C-69BEE3E0ECA4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目录</a:t>
            </a:r>
            <a:endParaRPr lang="zh-CN" altLang="en-GB" smtClean="0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GB" smtClean="0"/>
              <a:t>1 类的继承</a:t>
            </a:r>
            <a:endParaRPr lang="zh-CN" altLang="en-GB" smtClean="0"/>
          </a:p>
          <a:p>
            <a:pPr eaLnBrk="1" hangingPunct="1"/>
            <a:r>
              <a:rPr lang="en-US" altLang="zh-CN" smtClean="0"/>
              <a:t>2</a:t>
            </a:r>
            <a:r>
              <a:rPr lang="zh-CN" altLang="en-GB" smtClean="0"/>
              <a:t> 终结类与终结方法</a:t>
            </a:r>
            <a:endParaRPr lang="zh-CN" altLang="en-GB" smtClean="0"/>
          </a:p>
          <a:p>
            <a:pPr eaLnBrk="1" hangingPunct="1"/>
            <a:r>
              <a:rPr lang="en-US" altLang="zh-CN" smtClean="0"/>
              <a:t>3</a:t>
            </a:r>
            <a:r>
              <a:rPr lang="zh-CN" altLang="en-GB" smtClean="0"/>
              <a:t> 抽象类</a:t>
            </a:r>
            <a:endParaRPr lang="zh-CN" altLang="en-GB" smtClean="0"/>
          </a:p>
          <a:p>
            <a:pPr eaLnBrk="1" hangingPunct="1"/>
            <a:r>
              <a:rPr lang="zh-CN" altLang="en-US" smtClean="0">
                <a:solidFill>
                  <a:srgbClr val="FF0000"/>
                </a:solidFill>
              </a:rPr>
              <a:t>4</a:t>
            </a:r>
            <a:r>
              <a:rPr lang="en-US" altLang="zh-CN" smtClean="0">
                <a:solidFill>
                  <a:srgbClr val="FF0000"/>
                </a:solidFill>
              </a:rPr>
              <a:t> </a:t>
            </a:r>
            <a:r>
              <a:rPr lang="zh-CN" altLang="en-US" smtClean="0">
                <a:solidFill>
                  <a:srgbClr val="FF0000"/>
                </a:solidFill>
              </a:rPr>
              <a:t>类的组合 </a:t>
            </a:r>
            <a:endParaRPr lang="zh-CN" altLang="en-US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2F6338B-7EF9-4C34-BABA-693FDA9A0C4E}" type="slidenum">
              <a:rPr kumimoji="0" lang="en-US" altLang="zh-CN" sz="1800" smtClean="0">
                <a:solidFill>
                  <a:srgbClr val="FFFFFF"/>
                </a:solidFill>
              </a:rPr>
            </a:fld>
            <a:endParaRPr kumimoji="0" lang="en-US" altLang="zh-CN" sz="1800" smtClean="0">
              <a:solidFill>
                <a:srgbClr val="FFFFFF"/>
              </a:solidFill>
            </a:endParaRPr>
          </a:p>
        </p:txBody>
      </p:sp>
      <p:pic>
        <p:nvPicPr>
          <p:cNvPr id="7065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8" y="1341438"/>
            <a:ext cx="585470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C1437A22-C4DB-47CC-82A7-A298DEC4B41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1683" name="Rectangle 1029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 anchor="b"/>
          <a:lstStyle/>
          <a:p>
            <a:pPr eaLnBrk="1" hangingPunct="1"/>
            <a:r>
              <a:rPr lang="zh-CN" altLang="en-GB" smtClean="0"/>
              <a:t>4</a:t>
            </a:r>
            <a:r>
              <a:rPr lang="en-GB" altLang="zh-CN" smtClean="0"/>
              <a:t>.1 </a:t>
            </a:r>
            <a:r>
              <a:rPr lang="zh-CN" altLang="en-GB" smtClean="0"/>
              <a:t>组合的语法</a:t>
            </a:r>
            <a:endParaRPr lang="zh-CN" altLang="en-GB" smtClean="0"/>
          </a:p>
        </p:txBody>
      </p:sp>
      <p:sp>
        <p:nvSpPr>
          <p:cNvPr id="71684" name="Rectangle 1030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1676400"/>
            <a:ext cx="7620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smtClean="0"/>
              <a:t>组合的语法很简单，只要把已存在类的对象放到新类中即可</a:t>
            </a:r>
            <a:endParaRPr lang="zh-CN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000" smtClean="0"/>
              <a:t>可以使用“</a:t>
            </a:r>
            <a:r>
              <a:rPr lang="en-US" altLang="zh-CN" sz="2000" smtClean="0">
                <a:solidFill>
                  <a:schemeClr val="tx2"/>
                </a:solidFill>
              </a:rPr>
              <a:t>has a</a:t>
            </a:r>
            <a:r>
              <a:rPr lang="en-US" altLang="zh-CN" sz="2000" smtClean="0"/>
              <a:t>”</a:t>
            </a:r>
            <a:r>
              <a:rPr lang="zh-CN" altLang="en-US" sz="2000" smtClean="0"/>
              <a:t>语句来描述这种关系</a:t>
            </a:r>
            <a:endParaRPr lang="zh-CN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000" smtClean="0"/>
              <a:t>例如，考虑</a:t>
            </a:r>
            <a:r>
              <a:rPr lang="en-US" altLang="zh-CN" sz="2000" smtClean="0"/>
              <a:t>Kitchen</a:t>
            </a:r>
            <a:r>
              <a:rPr lang="zh-CN" altLang="en-US" sz="2000" smtClean="0"/>
              <a:t>类提供烹饪和冷藏食品的功能，很自然的说“</a:t>
            </a:r>
            <a:r>
              <a:rPr lang="en-US" altLang="zh-CN" sz="2000" smtClean="0"/>
              <a:t>my kitchen '</a:t>
            </a:r>
            <a:r>
              <a:rPr lang="en-US" altLang="zh-CN" sz="2000" smtClean="0">
                <a:solidFill>
                  <a:schemeClr val="tx2"/>
                </a:solidFill>
              </a:rPr>
              <a:t>has a</a:t>
            </a:r>
            <a:r>
              <a:rPr lang="en-US" altLang="zh-CN" sz="2000" smtClean="0"/>
              <a:t>' cooker/refrigerator”。</a:t>
            </a:r>
            <a:r>
              <a:rPr lang="zh-CN" altLang="en-US" sz="2000" smtClean="0"/>
              <a:t>所以，可简单的把对象</a:t>
            </a:r>
            <a:r>
              <a:rPr lang="en-US" altLang="zh-CN" sz="2000" smtClean="0"/>
              <a:t>myCooker</a:t>
            </a:r>
            <a:r>
              <a:rPr lang="zh-CN" altLang="en-US" sz="2000" smtClean="0"/>
              <a:t>和</a:t>
            </a:r>
            <a:r>
              <a:rPr lang="en-US" altLang="zh-CN" sz="2000" smtClean="0"/>
              <a:t>myRefrigerator</a:t>
            </a:r>
            <a:r>
              <a:rPr lang="zh-CN" altLang="en-US" sz="2000" smtClean="0"/>
              <a:t>放在类</a:t>
            </a:r>
            <a:r>
              <a:rPr lang="en-US" altLang="zh-CN" sz="2000" smtClean="0"/>
              <a:t>Kitchen</a:t>
            </a:r>
            <a:r>
              <a:rPr lang="zh-CN" altLang="en-US" sz="2000" smtClean="0"/>
              <a:t>中。格式如下</a:t>
            </a:r>
            <a:endParaRPr lang="zh-CN" altLang="en-US" sz="2000" smtClean="0"/>
          </a:p>
          <a:p>
            <a:pPr lvl="1" eaLnBrk="1" hangingPunct="1">
              <a:lnSpc>
                <a:spcPct val="90000"/>
              </a:lnSpc>
              <a:spcBef>
                <a:spcPct val="45000"/>
              </a:spcBef>
              <a:buFont typeface="Georgia" panose="02040502050405020303" pitchFamily="18" charset="0"/>
              <a:buNone/>
            </a:pPr>
            <a:r>
              <a:rPr lang="en-US" altLang="zh-CN" sz="2000" smtClean="0"/>
              <a:t>class Cooker{   // </a:t>
            </a:r>
            <a:r>
              <a:rPr lang="zh-CN" altLang="en-US" sz="2000" smtClean="0"/>
              <a:t>类的语句  }</a:t>
            </a:r>
            <a:endParaRPr lang="zh-CN" altLang="en-US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class Refrigerator{   // </a:t>
            </a:r>
            <a:r>
              <a:rPr lang="zh-CN" altLang="en-US" sz="2000" smtClean="0"/>
              <a:t>类的语句}</a:t>
            </a:r>
            <a:endParaRPr lang="zh-CN" altLang="en-US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class Kitchen{   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Cooker myCooker;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    Refrigerator myRefrigerator;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000" smtClean="0"/>
              <a:t>}</a:t>
            </a:r>
            <a:endParaRPr lang="zh-CN" altLang="en-US" sz="2000" smtClean="0"/>
          </a:p>
        </p:txBody>
      </p:sp>
      <p:sp>
        <p:nvSpPr>
          <p:cNvPr id="71685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D5B21C02-A1F6-4926-AA4C-E5FAB757E481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2707" name="Rectangle 1030"/>
          <p:cNvSpPr>
            <a:spLocks noGrp="1" noChangeArrowheads="1"/>
          </p:cNvSpPr>
          <p:nvPr>
            <p:ph type="body" idx="4294967295"/>
          </p:nvPr>
        </p:nvSpPr>
        <p:spPr>
          <a:xfrm>
            <a:off x="1306513" y="1816100"/>
            <a:ext cx="72390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400" smtClean="0"/>
              <a:t>一条线段包含两个端点</a:t>
            </a:r>
            <a:endParaRPr lang="zh-CN" altLang="en-US" sz="2400" smtClean="0"/>
          </a:p>
          <a:p>
            <a:pPr lvl="1" eaLnBrk="1" hangingPunct="1"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200" smtClean="0"/>
              <a:t>public class Point   //</a:t>
            </a:r>
            <a:r>
              <a:rPr lang="zh-CN" altLang="en-US" sz="2200" smtClean="0"/>
              <a:t>点类 </a:t>
            </a:r>
            <a:endParaRPr lang="zh-CN" altLang="en-US" sz="22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 smtClean="0"/>
              <a:t>{</a:t>
            </a:r>
            <a:endParaRPr lang="en-US" altLang="zh-CN" sz="22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 smtClean="0"/>
              <a:t>   private int x, y;  //coordinate</a:t>
            </a:r>
            <a:endParaRPr lang="en-US" altLang="zh-CN" sz="22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 smtClean="0"/>
              <a:t>   public </a:t>
            </a:r>
            <a:r>
              <a:rPr lang="en-US" altLang="zh-CN" sz="2200" smtClean="0">
                <a:solidFill>
                  <a:schemeClr val="tx2"/>
                </a:solidFill>
              </a:rPr>
              <a:t>Point(int x, int y)</a:t>
            </a:r>
            <a:r>
              <a:rPr lang="en-US" altLang="zh-CN" sz="2200" smtClean="0"/>
              <a:t> { this.x = x; this.y = y;}</a:t>
            </a:r>
            <a:endParaRPr lang="en-US" altLang="zh-CN" sz="22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 smtClean="0"/>
              <a:t>   public int </a:t>
            </a:r>
            <a:r>
              <a:rPr lang="en-US" altLang="zh-CN" sz="2200" smtClean="0">
                <a:solidFill>
                  <a:schemeClr val="tx2"/>
                </a:solidFill>
              </a:rPr>
              <a:t>GetX()</a:t>
            </a:r>
            <a:r>
              <a:rPr lang="en-US" altLang="zh-CN" sz="2200" smtClean="0"/>
              <a:t>  {  return x; }</a:t>
            </a:r>
            <a:endParaRPr lang="en-US" altLang="zh-CN" sz="22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 smtClean="0"/>
              <a:t>   public int </a:t>
            </a:r>
            <a:r>
              <a:rPr lang="en-US" altLang="zh-CN" sz="2200" smtClean="0">
                <a:solidFill>
                  <a:schemeClr val="tx2"/>
                </a:solidFill>
              </a:rPr>
              <a:t>GetY()</a:t>
            </a:r>
            <a:r>
              <a:rPr lang="en-US" altLang="zh-CN" sz="2200" smtClean="0"/>
              <a:t>  {  return y; }</a:t>
            </a:r>
            <a:endParaRPr lang="en-US" altLang="zh-CN" sz="22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 smtClean="0"/>
              <a:t>}</a:t>
            </a:r>
            <a:endParaRPr lang="en-US" altLang="zh-CN" sz="2200" smtClean="0"/>
          </a:p>
          <a:p>
            <a:pPr eaLnBrk="1" hangingPunct="1"/>
            <a:endParaRPr lang="zh-CN" altLang="en-US" sz="2400" smtClean="0"/>
          </a:p>
        </p:txBody>
      </p:sp>
      <p:sp>
        <p:nvSpPr>
          <p:cNvPr id="7270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2709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组合的语法</a:t>
            </a:r>
            <a:b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F1B827F6-91EC-40A2-BF02-A3833B9E137D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3731" name="Rectangle 5"/>
          <p:cNvSpPr>
            <a:spLocks noChangeArrowheads="1"/>
          </p:cNvSpPr>
          <p:nvPr/>
        </p:nvSpPr>
        <p:spPr bwMode="auto">
          <a:xfrm>
            <a:off x="7543800" y="5029200"/>
            <a:ext cx="6858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752600"/>
            <a:ext cx="78486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class Line   //</a:t>
            </a:r>
            <a:r>
              <a:rPr lang="zh-CN" altLang="en-US" sz="2000" b="1" smtClean="0"/>
              <a:t>线段类</a:t>
            </a:r>
            <a:endParaRPr lang="zh-CN" altLang="en-US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{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</a:t>
            </a:r>
            <a:r>
              <a:rPr lang="en-US" altLang="zh-CN" sz="2000" b="1" smtClean="0">
                <a:solidFill>
                  <a:schemeClr val="hlink"/>
                </a:solidFill>
              </a:rPr>
              <a:t>private Point  p1,p2;</a:t>
            </a:r>
            <a:r>
              <a:rPr lang="en-US" altLang="zh-CN" sz="2000" b="1" smtClean="0"/>
              <a:t>     // </a:t>
            </a:r>
            <a:r>
              <a:rPr lang="zh-CN" altLang="en-US" sz="2000" b="1" smtClean="0"/>
              <a:t>两端点</a:t>
            </a:r>
            <a:endParaRPr lang="zh-CN" altLang="en-US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</a:t>
            </a:r>
            <a:r>
              <a:rPr lang="en-US" altLang="zh-CN" sz="2000" b="1" smtClean="0">
                <a:solidFill>
                  <a:schemeClr val="tx2"/>
                </a:solidFill>
              </a:rPr>
              <a:t>Line(Point a, Point b)</a:t>
            </a:r>
            <a:r>
              <a:rPr lang="en-US" altLang="zh-CN" sz="2000" b="1" smtClean="0"/>
              <a:t> {  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   p1 = new Point(a.GetX(),a.GetY());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   p2 = new Point(b.GetX(),b.GetY());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}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 public double </a:t>
            </a:r>
            <a:r>
              <a:rPr lang="en-US" altLang="zh-CN" sz="2000" b="1" smtClean="0">
                <a:solidFill>
                  <a:schemeClr val="tx2"/>
                </a:solidFill>
              </a:rPr>
              <a:t>Length()</a:t>
            </a:r>
            <a:r>
              <a:rPr lang="en-US" altLang="zh-CN" sz="2000" b="1" smtClean="0"/>
              <a:t> {  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   return Math.sqrt(</a:t>
            </a:r>
            <a:r>
              <a:rPr lang="en-US" altLang="zh-CN" sz="1800" b="1" smtClean="0">
                <a:solidFill>
                  <a:schemeClr val="hlink"/>
                </a:solidFill>
              </a:rPr>
              <a:t>Math.pow(</a:t>
            </a:r>
            <a:r>
              <a:rPr lang="en-US" altLang="zh-CN" sz="1800" b="1" smtClean="0"/>
              <a:t>p2.GetX()-p1.GetX(),2</a:t>
            </a:r>
            <a:r>
              <a:rPr lang="en-US" altLang="zh-CN" sz="2000" b="1" smtClean="0">
                <a:solidFill>
                  <a:schemeClr val="hlink"/>
                </a:solidFill>
              </a:rPr>
              <a:t>)</a:t>
            </a:r>
            <a:r>
              <a:rPr lang="en-US" altLang="zh-CN" sz="2000" b="1" smtClean="0">
                <a:solidFill>
                  <a:srgbClr val="66FFFF"/>
                </a:solidFill>
              </a:rPr>
              <a:t> </a:t>
            </a:r>
            <a:r>
              <a:rPr lang="en-US" altLang="zh-CN" sz="2000" b="1" smtClean="0"/>
              <a:t> 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                             + </a:t>
            </a:r>
            <a:r>
              <a:rPr lang="en-US" altLang="zh-CN" sz="1800" b="1" smtClean="0">
                <a:solidFill>
                  <a:schemeClr val="hlink"/>
                </a:solidFill>
              </a:rPr>
              <a:t>Math.pow(</a:t>
            </a:r>
            <a:r>
              <a:rPr lang="en-US" altLang="zh-CN" sz="1800" b="1" smtClean="0"/>
              <a:t>p2.GetY()-p1.GetY(),2</a:t>
            </a:r>
            <a:r>
              <a:rPr lang="en-US" altLang="zh-CN" sz="1800" b="1" smtClean="0">
                <a:solidFill>
                  <a:schemeClr val="hlink"/>
                </a:solidFill>
              </a:rPr>
              <a:t>)</a:t>
            </a:r>
            <a:r>
              <a:rPr lang="en-US" altLang="zh-CN" sz="2000" b="1" smtClean="0"/>
              <a:t>);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    }</a:t>
            </a:r>
            <a:endParaRPr lang="en-US" altLang="zh-CN" sz="2000" b="1" smtClean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b="1" smtClean="0"/>
              <a:t>}</a:t>
            </a:r>
            <a:endParaRPr lang="zh-CN" altLang="en-US" sz="2000" b="1" smtClean="0"/>
          </a:p>
        </p:txBody>
      </p:sp>
      <p:sp>
        <p:nvSpPr>
          <p:cNvPr id="73733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3734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4.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组合的语法</a:t>
            </a:r>
            <a:b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1C43F36A-3BB3-4336-9DE0-8E93418396F7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1600" y="1988841"/>
            <a:ext cx="7931150" cy="403244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 smtClean="0"/>
              <a:t>car（</a:t>
            </a:r>
            <a:r>
              <a:rPr lang="zh-CN" altLang="en-US" sz="2400" dirty="0" smtClean="0"/>
              <a:t>汽车）对象是一个很好的例子，由于汽车的装配是故障分析时需要考虑的一项因素，所以有助于客户程序员理解如何使用类，而且类创建者的编程复杂程度也会大幅度降低</a:t>
            </a:r>
            <a:endParaRPr lang="en-US" altLang="zh-CN" sz="2400" dirty="0" smtClean="0"/>
          </a:p>
          <a:p>
            <a:pPr lvl="1" eaLnBrk="1" hangingPunct="1">
              <a:lnSpc>
                <a:spcPct val="90000"/>
              </a:lnSpc>
              <a:spcBef>
                <a:spcPct val="45000"/>
              </a:spcBef>
              <a:buFont typeface="Georgia" panose="02040502050405020303" pitchFamily="18" charset="0"/>
              <a:buNone/>
            </a:pPr>
            <a:r>
              <a:rPr lang="en-US" altLang="zh-CN" sz="2200" dirty="0" smtClean="0"/>
              <a:t>class Engine {  //</a:t>
            </a:r>
            <a:r>
              <a:rPr lang="zh-CN" altLang="en-US" sz="2200" dirty="0" smtClean="0"/>
              <a:t>发动机类</a:t>
            </a:r>
            <a:endParaRPr lang="zh-CN" altLang="en-US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	public void start() {}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	public void rev() {}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	public void stop() {}</a:t>
            </a:r>
            <a:endParaRPr lang="en-US" altLang="zh-CN" sz="2200" dirty="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 smtClean="0"/>
              <a:t>}</a:t>
            </a:r>
            <a:endParaRPr lang="en-US" altLang="zh-CN" sz="2200" dirty="0" smtClean="0"/>
          </a:p>
        </p:txBody>
      </p:sp>
      <p:sp>
        <p:nvSpPr>
          <p:cNvPr id="74756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4757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组合与继承的比较</a:t>
            </a:r>
            <a:r>
              <a:rPr kumimoji="0" lang="en-GB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——Car</a:t>
            </a:r>
            <a:r>
              <a:rPr kumimoji="0" lang="zh-CN" altLang="en-GB" sz="2800" dirty="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的例子</a:t>
            </a:r>
            <a:endParaRPr kumimoji="0" lang="zh-CN" altLang="en-US" sz="2800" dirty="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3C2F2178-2AC7-4586-B7A0-A79D9CB34D22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00200" y="18288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class Wheel { //</a:t>
            </a:r>
            <a:r>
              <a:rPr lang="zh-CN" altLang="en-US" sz="2000" b="1" dirty="0" smtClean="0"/>
              <a:t>车轮类</a:t>
            </a:r>
            <a:r>
              <a:rPr lang="en-US" altLang="zh-CN" sz="2000" b="1" dirty="0" smtClean="0"/>
              <a:t> 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    public void inflate(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psi) {}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}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spcBef>
                <a:spcPct val="45000"/>
              </a:spcBef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class Window { //</a:t>
            </a:r>
            <a:r>
              <a:rPr lang="zh-CN" altLang="en-US" sz="2000" b="1" dirty="0" smtClean="0"/>
              <a:t>车窗类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void rollup() {}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void </a:t>
            </a:r>
            <a:r>
              <a:rPr lang="en-US" altLang="zh-CN" sz="2000" b="1" dirty="0" err="1" smtClean="0"/>
              <a:t>rolldown</a:t>
            </a:r>
            <a:r>
              <a:rPr lang="en-US" altLang="zh-CN" sz="2000" b="1" dirty="0" smtClean="0"/>
              <a:t>() {}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ct val="45000"/>
              </a:spcBef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class Door { //</a:t>
            </a:r>
            <a:r>
              <a:rPr lang="zh-CN" altLang="en-US" sz="2000" b="1" dirty="0" smtClean="0"/>
              <a:t>车门类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Window </a:t>
            </a:r>
            <a:r>
              <a:rPr lang="en-US" altLang="zh-CN" sz="2000" b="1" dirty="0" err="1" smtClean="0"/>
              <a:t>window</a:t>
            </a:r>
            <a:r>
              <a:rPr lang="en-US" altLang="zh-CN" sz="2000" b="1" dirty="0" smtClean="0"/>
              <a:t> = new Window();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void open() {}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void close() {}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}</a:t>
            </a:r>
            <a:endParaRPr lang="en-US" altLang="zh-CN" sz="2000" b="1" dirty="0" smtClean="0"/>
          </a:p>
          <a:p>
            <a:pPr eaLnBrk="1" hangingPunct="1">
              <a:lnSpc>
                <a:spcPct val="90000"/>
              </a:lnSpc>
            </a:pPr>
            <a:endParaRPr lang="zh-CN" altLang="en-US" sz="2000" b="1" dirty="0" smtClean="0">
              <a:solidFill>
                <a:schemeClr val="hlink"/>
              </a:solidFill>
            </a:endParaRPr>
          </a:p>
        </p:txBody>
      </p:sp>
      <p:sp>
        <p:nvSpPr>
          <p:cNvPr id="75780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4.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组合与继承的比较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——Car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的例子</a:t>
            </a:r>
            <a:endParaRPr kumimoji="0" lang="zh-CN" altLang="en-US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43795D92-80FF-4337-933B-3A3002CB90B6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600200"/>
            <a:ext cx="78486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public class Car {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Engine </a:t>
            </a:r>
            <a:r>
              <a:rPr lang="en-US" altLang="zh-CN" sz="2000" b="1" dirty="0" err="1" smtClean="0"/>
              <a:t>engine</a:t>
            </a:r>
            <a:r>
              <a:rPr lang="en-US" altLang="zh-CN" sz="2000" b="1" dirty="0" smtClean="0"/>
              <a:t> = new Engine();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    public Wheel[] wheel = new Wheel[4];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Door left = new Door(),right = new Door(); public Car() {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for(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i = 0; i &lt; 4; i++)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    wheel[i] = new Wheel();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static void main(String[] </a:t>
            </a:r>
            <a:r>
              <a:rPr lang="en-US" altLang="zh-CN" sz="2000" b="1" dirty="0" err="1" smtClean="0"/>
              <a:t>args</a:t>
            </a:r>
            <a:r>
              <a:rPr lang="en-US" altLang="zh-CN" sz="2000" b="1" dirty="0" smtClean="0"/>
              <a:t>) {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Car </a:t>
            </a:r>
            <a:r>
              <a:rPr lang="en-US" altLang="zh-CN" sz="2000" b="1" dirty="0" err="1" smtClean="0"/>
              <a:t>car</a:t>
            </a:r>
            <a:r>
              <a:rPr lang="en-US" altLang="zh-CN" sz="2000" b="1" dirty="0" smtClean="0"/>
              <a:t> = new Car();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car.left.window.rollup</a:t>
            </a:r>
            <a:r>
              <a:rPr lang="en-US" altLang="zh-CN" sz="2000" b="1" dirty="0" smtClean="0"/>
              <a:t>();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car.wheel</a:t>
            </a:r>
            <a:r>
              <a:rPr lang="en-US" altLang="zh-CN" sz="2000" b="1" dirty="0" smtClean="0"/>
              <a:t>[0].inflate(72);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}</a:t>
            </a:r>
            <a:endParaRPr lang="en-US" altLang="zh-CN" sz="2000" b="1" dirty="0" smtClean="0"/>
          </a:p>
          <a:p>
            <a:pPr eaLnBrk="1" hangingPunct="1">
              <a:lnSpc>
                <a:spcPct val="90000"/>
              </a:lnSpc>
            </a:pPr>
            <a:endParaRPr lang="zh-CN" altLang="en-US" sz="2400" b="1" dirty="0" smtClean="0"/>
          </a:p>
        </p:txBody>
      </p:sp>
      <p:sp>
        <p:nvSpPr>
          <p:cNvPr id="76804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6805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组合与继承的比较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——Car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的例子</a:t>
            </a:r>
            <a:endParaRPr kumimoji="0" lang="zh-CN" altLang="en-US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91BD0A42-4E5D-4AB7-A115-8D7C69B24ACA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7827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68655" y="1916833"/>
            <a:ext cx="7931150" cy="288032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dirty="0" smtClean="0"/>
              <a:t>许多时候都要求将组合与继承两种技术结合起来使用，创建一个更复杂的类</a:t>
            </a:r>
            <a:endParaRPr lang="zh-CN" altLang="en-US" dirty="0" smtClean="0"/>
          </a:p>
        </p:txBody>
      </p:sp>
      <p:sp>
        <p:nvSpPr>
          <p:cNvPr id="7782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7829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US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US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组合与继承的结合</a:t>
            </a:r>
            <a:endParaRPr kumimoji="0" lang="zh-CN" altLang="en-US" sz="36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2E453AC9-EBE7-4CFF-ABA8-C3EB3ADBF882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600200"/>
            <a:ext cx="7543800" cy="478155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400" smtClean="0"/>
              <a:t> </a:t>
            </a:r>
            <a:r>
              <a:rPr lang="zh-CN" altLang="en-US" sz="2000" smtClean="0"/>
              <a:t>组合与继承举例</a:t>
            </a:r>
            <a:endParaRPr lang="zh-CN" altLang="en-US" sz="2000" smtClean="0"/>
          </a:p>
          <a:p>
            <a:pPr lvl="1" eaLnBrk="1" hangingPunct="1"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000" smtClean="0"/>
              <a:t>class </a:t>
            </a:r>
            <a:r>
              <a:rPr lang="en-US" altLang="zh-CN" sz="2000" smtClean="0">
                <a:solidFill>
                  <a:schemeClr val="tx2"/>
                </a:solidFill>
              </a:rPr>
              <a:t>Plate </a:t>
            </a:r>
            <a:r>
              <a:rPr lang="en-US" altLang="zh-CN" sz="2000" smtClean="0"/>
              <a:t>{  </a:t>
            </a:r>
            <a:r>
              <a:rPr lang="zh-CN" altLang="en-US" sz="2000" smtClean="0"/>
              <a:t>//声明盘子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public Plate(int i) {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	System.out.println("Plate constructor");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}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 lvl="1" eaLnBrk="1" hangingPunct="1"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000" smtClean="0"/>
              <a:t>class </a:t>
            </a:r>
            <a:r>
              <a:rPr lang="en-US" altLang="zh-CN" sz="2000" smtClean="0">
                <a:solidFill>
                  <a:schemeClr val="tx2"/>
                </a:solidFill>
              </a:rPr>
              <a:t>DinnerPlate</a:t>
            </a:r>
            <a:r>
              <a:rPr lang="en-US" altLang="zh-CN" sz="2000" smtClean="0"/>
              <a:t> extends </a:t>
            </a:r>
            <a:r>
              <a:rPr lang="en-US" altLang="zh-CN" sz="2000" smtClean="0">
                <a:solidFill>
                  <a:schemeClr val="tx2"/>
                </a:solidFill>
              </a:rPr>
              <a:t>Plate</a:t>
            </a:r>
            <a:r>
              <a:rPr lang="en-US" altLang="zh-CN" sz="2000" smtClean="0"/>
              <a:t> { //</a:t>
            </a:r>
            <a:r>
              <a:rPr lang="zh-CN" altLang="en-US" sz="2000" smtClean="0"/>
              <a:t>声明餐盘为盘子的子类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public DinnerPlate(int i) {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	super(i);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	System.out.println("DinnerPlate constructor");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	}</a:t>
            </a:r>
            <a:endParaRPr lang="en-US" altLang="zh-CN" sz="2000" smtClean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78852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8853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4.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组合与继承的结合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978F991B-29BD-4C40-855B-87FD6A740073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5400" y="1752600"/>
            <a:ext cx="7848600" cy="4556125"/>
          </a:xfrm>
        </p:spPr>
        <p:txBody>
          <a:bodyPr lIns="92075" tIns="46038" rIns="92075" bIns="46038"/>
          <a:lstStyle/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class </a:t>
            </a:r>
            <a:r>
              <a:rPr lang="en-US" altLang="zh-CN" sz="2000" smtClean="0">
                <a:solidFill>
                  <a:schemeClr val="tx2"/>
                </a:solidFill>
              </a:rPr>
              <a:t>Utensil </a:t>
            </a:r>
            <a:r>
              <a:rPr lang="en-US" altLang="zh-CN" sz="2000" smtClean="0"/>
              <a:t>{ //</a:t>
            </a:r>
            <a:r>
              <a:rPr lang="zh-CN" altLang="en-US" sz="2000" smtClean="0"/>
              <a:t>声明器具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Utensil(int i) {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System.out.println("Utensil constructor");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}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}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000" smtClean="0"/>
              <a:t>class </a:t>
            </a:r>
            <a:r>
              <a:rPr lang="en-US" altLang="zh-CN" sz="2000" smtClean="0">
                <a:solidFill>
                  <a:schemeClr val="tx2"/>
                </a:solidFill>
              </a:rPr>
              <a:t>Spoon </a:t>
            </a:r>
            <a:r>
              <a:rPr lang="en-US" altLang="zh-CN" sz="2000" smtClean="0"/>
              <a:t>extends</a:t>
            </a:r>
            <a:r>
              <a:rPr lang="en-US" altLang="zh-CN" sz="2000" smtClean="0">
                <a:solidFill>
                  <a:schemeClr val="tx2"/>
                </a:solidFill>
              </a:rPr>
              <a:t> Utensil</a:t>
            </a:r>
            <a:r>
              <a:rPr lang="en-US" altLang="zh-CN" sz="2000" smtClean="0"/>
              <a:t> { //</a:t>
            </a:r>
            <a:r>
              <a:rPr lang="zh-CN" altLang="en-US" sz="2000" smtClean="0"/>
              <a:t>声明勺子为器具的子类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public Spoon(int i) {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super(i);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System.out.println("Spoon constructor");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}</a:t>
            </a:r>
            <a:endParaRPr lang="en-US" altLang="zh-CN" sz="2000" smtClean="0"/>
          </a:p>
          <a:p>
            <a:pPr lvl="1" eaLnBrk="1" hangingPunct="1">
              <a:lnSpc>
                <a:spcPct val="11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79876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79877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组合与继承的结合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1C5EDB71-2390-46A2-844E-EF792D329C4E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class </a:t>
            </a:r>
            <a:r>
              <a:rPr lang="en-US" altLang="zh-CN" sz="2000" smtClean="0">
                <a:solidFill>
                  <a:schemeClr val="tx2"/>
                </a:solidFill>
              </a:rPr>
              <a:t>Fork</a:t>
            </a:r>
            <a:r>
              <a:rPr lang="en-US" altLang="zh-CN" sz="2000" smtClean="0"/>
              <a:t> extends </a:t>
            </a:r>
            <a:r>
              <a:rPr lang="en-US" altLang="zh-CN" sz="2000" smtClean="0">
                <a:solidFill>
                  <a:schemeClr val="tx2"/>
                </a:solidFill>
              </a:rPr>
              <a:t>Utensil</a:t>
            </a:r>
            <a:r>
              <a:rPr lang="en-US" altLang="zh-CN" sz="2000" smtClean="0"/>
              <a:t> { //</a:t>
            </a:r>
            <a:r>
              <a:rPr lang="zh-CN" altLang="en-US" sz="2000" smtClean="0"/>
              <a:t>声明餐叉为器具的子类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public Fork(int i) {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super(i);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System.out.println("Fork constructor");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}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000" smtClean="0"/>
              <a:t>class </a:t>
            </a:r>
            <a:r>
              <a:rPr lang="en-US" altLang="zh-CN" sz="2000" smtClean="0">
                <a:solidFill>
                  <a:schemeClr val="tx2"/>
                </a:solidFill>
              </a:rPr>
              <a:t>Knife </a:t>
            </a:r>
            <a:r>
              <a:rPr lang="en-US" altLang="zh-CN" sz="2000" smtClean="0"/>
              <a:t>extends</a:t>
            </a:r>
            <a:r>
              <a:rPr lang="en-US" altLang="zh-CN" sz="2000" smtClean="0">
                <a:solidFill>
                  <a:schemeClr val="tx2"/>
                </a:solidFill>
              </a:rPr>
              <a:t> Utensil</a:t>
            </a:r>
            <a:r>
              <a:rPr lang="en-US" altLang="zh-CN" sz="2000" smtClean="0"/>
              <a:t> { //</a:t>
            </a:r>
            <a:r>
              <a:rPr lang="zh-CN" altLang="en-US" sz="2000" smtClean="0"/>
              <a:t>声明餐刀为器具的子类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public Knife(int i) {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super(i);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	System.out.println("Knife constructor");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	}</a:t>
            </a: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 eaLnBrk="1" hangingPunct="1">
              <a:lnSpc>
                <a:spcPct val="90000"/>
              </a:lnSpc>
            </a:pPr>
            <a:endParaRPr lang="zh-CN" altLang="en-US" sz="2400" b="1" smtClean="0"/>
          </a:p>
        </p:txBody>
      </p:sp>
      <p:sp>
        <p:nvSpPr>
          <p:cNvPr id="80900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80901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组合与继承的结合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337564D8-D559-448F-989A-E768C0890D37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600200"/>
            <a:ext cx="8382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class Custom { // </a:t>
            </a:r>
            <a:r>
              <a:rPr lang="zh-CN" altLang="en-US" sz="2000" b="1" dirty="0" smtClean="0"/>
              <a:t>声明做某事的习惯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Custom(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i) { </a:t>
            </a:r>
            <a:r>
              <a:rPr lang="en-US" altLang="zh-CN" sz="2000" b="1" dirty="0" err="1" smtClean="0"/>
              <a:t>System.out.println</a:t>
            </a:r>
            <a:r>
              <a:rPr lang="en-US" altLang="zh-CN" sz="2000" b="1" dirty="0" smtClean="0"/>
              <a:t>("Custom constructor");}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}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public class </a:t>
            </a:r>
            <a:r>
              <a:rPr lang="en-US" altLang="zh-CN" sz="2000" b="1" dirty="0" err="1" smtClean="0"/>
              <a:t>PlaceSetting</a:t>
            </a:r>
            <a:r>
              <a:rPr lang="en-US" altLang="zh-CN" sz="2000" b="1" dirty="0" smtClean="0"/>
              <a:t> extends Custom {//</a:t>
            </a:r>
            <a:r>
              <a:rPr lang="zh-CN" altLang="en-US" sz="2000" b="1" dirty="0" smtClean="0"/>
              <a:t>声明餐桌的布置 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Spoon </a:t>
            </a:r>
            <a:r>
              <a:rPr lang="en-US" altLang="zh-CN" sz="2000" b="1" dirty="0" err="1" smtClean="0"/>
              <a:t>sp</a:t>
            </a:r>
            <a:r>
              <a:rPr lang="en-US" altLang="zh-CN" sz="2000" b="1" dirty="0" smtClean="0"/>
              <a:t>; Fork </a:t>
            </a:r>
            <a:r>
              <a:rPr lang="en-US" altLang="zh-CN" sz="2000" b="1" dirty="0" err="1" smtClean="0"/>
              <a:t>frk</a:t>
            </a:r>
            <a:r>
              <a:rPr lang="en-US" altLang="zh-CN" sz="2000" b="1" dirty="0" smtClean="0"/>
              <a:t>; Knife </a:t>
            </a:r>
            <a:r>
              <a:rPr lang="en-US" altLang="zh-CN" sz="2000" b="1" dirty="0" err="1" smtClean="0"/>
              <a:t>kn</a:t>
            </a:r>
            <a:r>
              <a:rPr lang="en-US" altLang="zh-CN" sz="2000" b="1" dirty="0" smtClean="0"/>
              <a:t>; 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</a:t>
            </a:r>
            <a:r>
              <a:rPr lang="en-US" altLang="zh-CN" sz="2000" b="1" dirty="0" err="1" smtClean="0"/>
              <a:t>DinnerPlate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pl</a:t>
            </a:r>
            <a:r>
              <a:rPr lang="en-US" altLang="zh-CN" sz="2000" b="1" dirty="0" smtClean="0"/>
              <a:t>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</a:t>
            </a:r>
            <a:r>
              <a:rPr lang="en-US" altLang="zh-CN" sz="2000" b="1" dirty="0" err="1" smtClean="0"/>
              <a:t>PlaceSetting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i) {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super(i + 1);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sp</a:t>
            </a:r>
            <a:r>
              <a:rPr lang="en-US" altLang="zh-CN" sz="2000" b="1" dirty="0" smtClean="0"/>
              <a:t> = new Spoon(i + 2);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frk</a:t>
            </a:r>
            <a:r>
              <a:rPr lang="en-US" altLang="zh-CN" sz="2000" b="1" dirty="0" smtClean="0"/>
              <a:t> = new Fork(i + 3);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kn</a:t>
            </a:r>
            <a:r>
              <a:rPr lang="en-US" altLang="zh-CN" sz="2000" b="1" dirty="0" smtClean="0"/>
              <a:t> = new Knife(i + 4);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pl</a:t>
            </a:r>
            <a:r>
              <a:rPr lang="en-US" altLang="zh-CN" sz="2000" b="1" dirty="0" smtClean="0"/>
              <a:t> = new </a:t>
            </a:r>
            <a:r>
              <a:rPr lang="en-US" altLang="zh-CN" sz="2000" b="1" dirty="0" err="1" smtClean="0"/>
              <a:t>DinnerPlate</a:t>
            </a:r>
            <a:r>
              <a:rPr lang="en-US" altLang="zh-CN" sz="2000" b="1" dirty="0" smtClean="0"/>
              <a:t>(i + 5);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System.out.println</a:t>
            </a:r>
            <a:r>
              <a:rPr lang="en-US" altLang="zh-CN" sz="2000" b="1" dirty="0" smtClean="0"/>
              <a:t>("</a:t>
            </a:r>
            <a:r>
              <a:rPr lang="en-US" altLang="zh-CN" sz="2000" b="1" dirty="0" err="1" smtClean="0"/>
              <a:t>PlaceSetting</a:t>
            </a:r>
            <a:r>
              <a:rPr lang="en-US" altLang="zh-CN" sz="2000" b="1" dirty="0" smtClean="0"/>
              <a:t> constructor");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}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public static void main(String[] </a:t>
            </a:r>
            <a:r>
              <a:rPr lang="en-US" altLang="zh-CN" sz="2000" b="1" dirty="0" err="1" smtClean="0"/>
              <a:t>args</a:t>
            </a:r>
            <a:r>
              <a:rPr lang="en-US" altLang="zh-CN" sz="2000" b="1" dirty="0" smtClean="0"/>
              <a:t>) {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	</a:t>
            </a:r>
            <a:r>
              <a:rPr lang="en-US" altLang="zh-CN" sz="2000" b="1" dirty="0" err="1" smtClean="0"/>
              <a:t>PlaceSetting</a:t>
            </a:r>
            <a:r>
              <a:rPr lang="en-US" altLang="zh-CN" sz="2000" b="1" dirty="0" smtClean="0"/>
              <a:t> x = new </a:t>
            </a:r>
            <a:r>
              <a:rPr lang="en-US" altLang="zh-CN" sz="2000" b="1" dirty="0" err="1" smtClean="0"/>
              <a:t>PlaceSetting</a:t>
            </a:r>
            <a:r>
              <a:rPr lang="en-US" altLang="zh-CN" sz="2000" b="1" dirty="0" smtClean="0"/>
              <a:t>(9);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	}</a:t>
            </a:r>
            <a:endParaRPr lang="en-US" altLang="zh-CN" sz="2000" b="1" dirty="0" smtClean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b="1" dirty="0" smtClean="0"/>
              <a:t>} </a:t>
            </a:r>
            <a:endParaRPr lang="zh-CN" altLang="en-US" sz="2000" dirty="0" smtClean="0"/>
          </a:p>
        </p:txBody>
      </p:sp>
      <p:sp>
        <p:nvSpPr>
          <p:cNvPr id="81924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81925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组合与继承的结合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</a:t>
            </a:r>
            <a:endParaRPr kumimoji="0" lang="en-US" altLang="zh-CN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00800"/>
            <a:ext cx="1905000" cy="457200"/>
          </a:xfrm>
          <a:ln>
            <a:miter lim="800000"/>
          </a:ln>
        </p:spPr>
        <p:txBody>
          <a:bodyPr wrap="none" lIns="92075" tIns="46038" rIns="92075" bIns="46038" numCol="1" anchor="ctr" anchorCtr="0" compatLnSpc="1"/>
          <a:lstStyle/>
          <a:p>
            <a:pPr>
              <a:defRPr/>
            </a:pPr>
            <a:fld id="{B4543148-B25C-47FF-A5BD-51655031B191}" type="slidenum">
              <a:rPr kumimoji="1" lang="en-US" altLang="zh-CN" sz="1400">
                <a:solidFill>
                  <a:schemeClr val="tx1"/>
                </a:solidFill>
                <a:ea typeface="+mn-ea"/>
              </a:rPr>
            </a:fld>
            <a:endParaRPr kumimoji="1" lang="en-US" altLang="zh-CN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6513" y="1816100"/>
            <a:ext cx="7239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smtClean="0"/>
              <a:t>运行结果</a:t>
            </a:r>
            <a:endParaRPr lang="zh-CN" altLang="en-US" sz="24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Custom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Utensil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Spoon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Utensil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Fork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Utensil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Knife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Plate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DinnerPlate constructor</a:t>
            </a:r>
            <a:endParaRPr lang="en-US" altLang="zh-CN" sz="2200" smtClean="0"/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smtClean="0"/>
              <a:t>PlaceSetting constructor</a:t>
            </a:r>
            <a:endParaRPr lang="en-US" altLang="zh-CN" sz="2200" smtClean="0"/>
          </a:p>
          <a:p>
            <a:pPr eaLnBrk="1" hangingPunct="1">
              <a:lnSpc>
                <a:spcPct val="90000"/>
              </a:lnSpc>
            </a:pPr>
            <a:endParaRPr lang="zh-CN" altLang="en-US" sz="2400" smtClean="0"/>
          </a:p>
        </p:txBody>
      </p:sp>
      <p:sp>
        <p:nvSpPr>
          <p:cNvPr id="82948" name="标题 4"/>
          <p:cNvSpPr txBox="1"/>
          <p:nvPr/>
        </p:nvSpPr>
        <p:spPr bwMode="auto">
          <a:xfrm>
            <a:off x="214313" y="0"/>
            <a:ext cx="5653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0" lang="en-US" altLang="zh-CN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 </a:t>
            </a:r>
            <a:r>
              <a:rPr kumimoji="0" lang="zh-CN" altLang="en-US" sz="2600">
                <a:solidFill>
                  <a:schemeClr val="bg1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类的组合</a:t>
            </a:r>
            <a:endParaRPr kumimoji="0" lang="zh-CN" altLang="en-US" sz="2600">
              <a:solidFill>
                <a:schemeClr val="bg1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  <p:sp>
        <p:nvSpPr>
          <p:cNvPr id="82949" name="Rectangle 2"/>
          <p:cNvSpPr>
            <a:spLocks noChangeArrowheads="1"/>
          </p:cNvSpPr>
          <p:nvPr/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/>
          <a:p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4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.1 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组合与继承的结合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(</a:t>
            </a:r>
            <a:r>
              <a:rPr kumimoji="0" lang="zh-CN" altLang="en-GB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续</a:t>
            </a:r>
            <a: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)</a:t>
            </a:r>
            <a:br>
              <a:rPr kumimoji="0" lang="en-GB" altLang="zh-CN" sz="36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</a:br>
            <a:r>
              <a:rPr kumimoji="0" lang="en-GB" altLang="zh-CN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——</a:t>
            </a:r>
            <a:r>
              <a:rPr kumimoji="0" lang="zh-CN" altLang="en-GB" sz="2800">
                <a:solidFill>
                  <a:schemeClr val="tx2"/>
                </a:solidFill>
                <a:latin typeface="Trebuchet MS" panose="020B0603020202020204" pitchFamily="34" charset="0"/>
                <a:ea typeface="方正姚体" panose="02010601030101010101" pitchFamily="2" charset="-122"/>
              </a:rPr>
              <a:t>例运行结果</a:t>
            </a:r>
            <a:endParaRPr kumimoji="0" lang="zh-CN" altLang="en-US" sz="2800">
              <a:solidFill>
                <a:schemeClr val="tx2"/>
              </a:solidFill>
              <a:latin typeface="Trebuchet MS" panose="020B06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模板">
  <a:themeElements>
    <a:clrScheme name="模板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模板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分学期样式模版-S1</Template>
  <TotalTime>0</TotalTime>
  <Words>11139</Words>
  <Application>WPS 演示</Application>
  <PresentationFormat>全屏显示(4:3)</PresentationFormat>
  <Paragraphs>980</Paragraphs>
  <Slides>77</Slides>
  <Notes>119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5" baseType="lpstr">
      <vt:lpstr>Arial</vt:lpstr>
      <vt:lpstr>宋体</vt:lpstr>
      <vt:lpstr>Wingdings</vt:lpstr>
      <vt:lpstr>黑体</vt:lpstr>
      <vt:lpstr>楷体_GB2312</vt:lpstr>
      <vt:lpstr>新宋体</vt:lpstr>
      <vt:lpstr>Tahoma</vt:lpstr>
      <vt:lpstr>Times New Roman</vt:lpstr>
      <vt:lpstr>隶书</vt:lpstr>
      <vt:lpstr>楷体_GB2312</vt:lpstr>
      <vt:lpstr>Trebuchet MS</vt:lpstr>
      <vt:lpstr>方正姚体</vt:lpstr>
      <vt:lpstr>微软雅黑</vt:lpstr>
      <vt:lpstr>Arial Unicode MS</vt:lpstr>
      <vt:lpstr>Verdana</vt:lpstr>
      <vt:lpstr>Georgia</vt:lpstr>
      <vt:lpstr>Wingdings 2</vt:lpstr>
      <vt:lpstr>模板</vt:lpstr>
      <vt:lpstr>PowerPoint 演示文稿</vt:lpstr>
      <vt:lpstr>目录</vt:lpstr>
      <vt:lpstr>PowerPoint 演示文稿</vt:lpstr>
      <vt:lpstr>1 类的继承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继承的语法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 类的继承</vt:lpstr>
      <vt:lpstr>PowerPoint 演示文稿</vt:lpstr>
      <vt:lpstr>PowerPoint 演示文稿</vt:lpstr>
      <vt:lpstr>1.3 隐藏和覆盖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1.3 隐藏和覆盖</vt:lpstr>
      <vt:lpstr>PowerPoint 演示文稿</vt:lpstr>
      <vt:lpstr>PowerPoint 演示文稿</vt:lpstr>
      <vt:lpstr>PowerPoint 演示文稿</vt:lpstr>
      <vt:lpstr>1.4 有继承时的构造方法</vt:lpstr>
      <vt:lpstr>PowerPoint 演示文稿</vt:lpstr>
      <vt:lpstr>PowerPoint 演示文稿</vt:lpstr>
      <vt:lpstr>PowerPoint 演示文稿</vt:lpstr>
      <vt:lpstr>目录</vt:lpstr>
      <vt:lpstr>PowerPoint 演示文稿</vt:lpstr>
      <vt:lpstr>2 终结类与终结方法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3 抽象类</vt:lpstr>
      <vt:lpstr>PowerPoint 演示文稿</vt:lpstr>
      <vt:lpstr>PowerPoint 演示文稿</vt:lpstr>
      <vt:lpstr>PowerPoint 演示文稿</vt:lpstr>
      <vt:lpstr>PowerPoint 演示文稿</vt:lpstr>
      <vt:lpstr>3.1 抽象类的声明</vt:lpstr>
      <vt:lpstr>3.2 抽象方法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4.1 组合的语法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旭海</cp:lastModifiedBy>
  <cp:revision>997</cp:revision>
  <dcterms:created xsi:type="dcterms:W3CDTF">2006-03-08T06:55:00Z</dcterms:created>
  <dcterms:modified xsi:type="dcterms:W3CDTF">2022-03-05T12:06:17Z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5A2583D790E04852A6A8E7BF675F4299</vt:lpwstr>
  </property>
  <property fmtid="{D5CDD505-2E9C-101B-9397-08002B2CF9AE}" pid="3" name="KSOProductBuildVer">
    <vt:lpwstr>2052-11.1.0.11365</vt:lpwstr>
  </property>
</Properties>
</file>