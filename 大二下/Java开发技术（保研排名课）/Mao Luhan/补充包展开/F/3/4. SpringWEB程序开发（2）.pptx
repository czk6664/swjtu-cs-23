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4"/>
  </p:handoutMasterIdLst>
  <p:sldIdLst>
    <p:sldId id="921" r:id="rId3"/>
    <p:sldId id="2577" r:id="rId5"/>
    <p:sldId id="2585" r:id="rId6"/>
    <p:sldId id="2586" r:id="rId7"/>
    <p:sldId id="2587" r:id="rId8"/>
    <p:sldId id="2588" r:id="rId9"/>
    <p:sldId id="2590" r:id="rId10"/>
    <p:sldId id="2589" r:id="rId11"/>
    <p:sldId id="2591" r:id="rId12"/>
    <p:sldId id="2595" r:id="rId13"/>
    <p:sldId id="2622" r:id="rId14"/>
    <p:sldId id="2596" r:id="rId15"/>
    <p:sldId id="2626" r:id="rId16"/>
    <p:sldId id="2625" r:id="rId17"/>
    <p:sldId id="2623" r:id="rId18"/>
    <p:sldId id="2624" r:id="rId19"/>
    <p:sldId id="2627" r:id="rId20"/>
    <p:sldId id="2597" r:id="rId21"/>
    <p:sldId id="2628" r:id="rId22"/>
    <p:sldId id="2598" r:id="rId23"/>
    <p:sldId id="2599" r:id="rId24"/>
    <p:sldId id="2629" r:id="rId25"/>
    <p:sldId id="2601" r:id="rId26"/>
    <p:sldId id="2630" r:id="rId27"/>
    <p:sldId id="2631" r:id="rId28"/>
    <p:sldId id="2603" r:id="rId29"/>
    <p:sldId id="2604" r:id="rId30"/>
    <p:sldId id="2605" r:id="rId31"/>
    <p:sldId id="2606" r:id="rId32"/>
    <p:sldId id="2600" r:id="rId33"/>
    <p:sldId id="2632" r:id="rId34"/>
    <p:sldId id="2633" r:id="rId35"/>
    <p:sldId id="2634" r:id="rId36"/>
    <p:sldId id="2635" r:id="rId37"/>
    <p:sldId id="2636" r:id="rId38"/>
    <p:sldId id="2637" r:id="rId39"/>
    <p:sldId id="2638" r:id="rId40"/>
    <p:sldId id="2639" r:id="rId41"/>
    <p:sldId id="2640" r:id="rId42"/>
    <p:sldId id="1730" r:id="rId43"/>
  </p:sldIdLst>
  <p:sldSz cx="9144000" cy="5143500" type="screen16x9"/>
  <p:notesSz cx="6858000" cy="9144000"/>
  <p:defaultTextStyle>
    <a:defPPr>
      <a:defRPr lang="zh-CN"/>
    </a:defPPr>
    <a:lvl1pPr marL="0" lvl="0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313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9" userDrawn="1">
          <p15:clr>
            <a:srgbClr val="A4A3A4"/>
          </p15:clr>
        </p15:guide>
        <p15:guide id="2" pos="26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B0F0"/>
    <a:srgbClr val="0033CC"/>
    <a:srgbClr val="FF6600"/>
    <a:srgbClr val="00CC99"/>
    <a:srgbClr val="E6F882"/>
    <a:srgbClr val="E0F90A"/>
    <a:srgbClr val="56E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660"/>
  </p:normalViewPr>
  <p:slideViewPr>
    <p:cSldViewPr showGuides="1">
      <p:cViewPr varScale="1">
        <p:scale>
          <a:sx n="108" d="100"/>
          <a:sy n="108" d="100"/>
        </p:scale>
        <p:origin x="1008" y="77"/>
      </p:cViewPr>
      <p:guideLst>
        <p:guide orient="horz" pos="1399"/>
        <p:guide pos="2685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F4E498C-07A2-4760-9ED3-CE07222200C9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6AA612B-BF52-4B7D-B09B-7D6C8632F43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313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150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wrap="square" lIns="91440" tIns="45720" rIns="91440" bIns="45720" numCol="1" rtlCol="0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3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 bwMode="auto">
          <a:noFill/>
          <a:ln>
            <a:noFill/>
            <a:miter lim="800000"/>
          </a:ln>
        </p:spPr>
        <p:txBody>
          <a:bodyPr lIns="91440" tIns="45720" rIns="91440" bIns="45720" rtlCol="0" anchor="b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37"/>
          <p:cNvSpPr txBox="1"/>
          <p:nvPr/>
        </p:nvSpPr>
        <p:spPr>
          <a:xfrm>
            <a:off x="827088" y="195263"/>
            <a:ext cx="1990725" cy="312738"/>
          </a:xfrm>
          <a:prstGeom prst="rect">
            <a:avLst/>
          </a:prstGeom>
          <a:noFill/>
        </p:spPr>
        <p:txBody>
          <a:bodyPr wrap="none" lIns="96434" tIns="48217" rIns="96434" bIns="48217">
            <a:spAutoFit/>
          </a:bodyPr>
          <a:lstStyle/>
          <a:p>
            <a:pPr marL="0" marR="0" lvl="0" indent="0" algn="l" defTabSz="963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文本框 38"/>
          <p:cNvSpPr txBox="1"/>
          <p:nvPr/>
        </p:nvSpPr>
        <p:spPr>
          <a:xfrm>
            <a:off x="827088" y="388938"/>
            <a:ext cx="1804988" cy="266700"/>
          </a:xfrm>
          <a:prstGeom prst="rect">
            <a:avLst/>
          </a:prstGeom>
          <a:noFill/>
        </p:spPr>
        <p:txBody>
          <a:bodyPr wrap="none" lIns="96434" tIns="48217" rIns="96434" bIns="48217">
            <a:spAutoFit/>
          </a:bodyPr>
          <a:lstStyle/>
          <a:p>
            <a:pPr marL="0" marR="0" lvl="0" indent="0" algn="l" defTabSz="9639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ADD RELATED TITLE WORDS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268288"/>
            <a:ext cx="647700" cy="2873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9750" y="268288"/>
            <a:ext cx="144463" cy="287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506AE2-0E76-4371-8530-0AB67F8FD97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E90776-6B98-4E58-8DD3-6B5DF5B3AFE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68580" tIns="34290" rIns="68580" bIns="34290" numCol="1" rtlCol="0" anchor="t" anchorCtr="0" compatLnSpc="1"/>
          <a:lstStyle/>
          <a:p>
            <a:pPr algn="r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8" name="组合 3"/>
          <p:cNvGrpSpPr/>
          <p:nvPr/>
        </p:nvGrpSpPr>
        <p:grpSpPr bwMode="auto">
          <a:xfrm flipH="1">
            <a:off x="-1" y="248018"/>
            <a:ext cx="1797166" cy="507206"/>
            <a:chOff x="2370576" y="533400"/>
            <a:chExt cx="2417494" cy="675969"/>
          </a:xfrm>
          <a:solidFill>
            <a:srgbClr val="EE1C39"/>
          </a:solidFill>
        </p:grpSpPr>
        <p:sp>
          <p:nvSpPr>
            <p:cNvPr id="9" name="矩形 8"/>
            <p:cNvSpPr/>
            <p:nvPr/>
          </p:nvSpPr>
          <p:spPr>
            <a:xfrm>
              <a:off x="2738030" y="533400"/>
              <a:ext cx="2050040" cy="67596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2370576" y="533400"/>
              <a:ext cx="623734" cy="67596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11" name="文本框 12"/>
          <p:cNvSpPr txBox="1">
            <a:spLocks noChangeArrowheads="1"/>
          </p:cNvSpPr>
          <p:nvPr/>
        </p:nvSpPr>
        <p:spPr bwMode="auto">
          <a:xfrm>
            <a:off x="0" y="369888"/>
            <a:ext cx="1795463" cy="620713"/>
          </a:xfrm>
          <a:prstGeom prst="rect">
            <a:avLst/>
          </a:prstGeom>
          <a:noFill/>
          <a:ln>
            <a:noFill/>
          </a:ln>
        </p:spPr>
        <p:txBody>
          <a:bodyPr lIns="65023" tIns="32511" rIns="65023" bIns="32511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  <a:ea typeface="冬青黑体简体中文 W3" charset="-122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333500" y="4935538"/>
            <a:ext cx="4751388" cy="144463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>
              <a:defRPr/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Footer - Use 'Insert &gt;Header &amp; Footer' to modify this text and ‘Apply to all’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23820" y="59514"/>
            <a:ext cx="6858048" cy="403625"/>
          </a:xfrm>
        </p:spPr>
        <p:txBody>
          <a:bodyPr>
            <a:noAutofit/>
          </a:bodyPr>
          <a:lstStyle>
            <a:lvl1pPr algn="l">
              <a:defRPr sz="2100" b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248" y="1166336"/>
            <a:ext cx="3924776" cy="3456146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166400"/>
            <a:ext cx="3920400" cy="3456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429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 defTabSz="913765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5067C-2023-4E8C-BB51-5366665B35C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 defTabSz="913765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8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>
    <p:random/>
  </p:transition>
  <p:hf sldNum="0" hdr="0" ftr="0" dt="0"/>
  <p:txStyles>
    <p:titleStyle>
      <a:lvl1pPr algn="ctr" defTabSz="91313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91313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91313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37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5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组合 22"/>
          <p:cNvGrpSpPr/>
          <p:nvPr/>
        </p:nvGrpSpPr>
        <p:grpSpPr>
          <a:xfrm>
            <a:off x="0" y="-2052637"/>
            <a:ext cx="4103688" cy="4105275"/>
            <a:chOff x="6804248" y="267494"/>
            <a:chExt cx="4104456" cy="4104456"/>
          </a:xfrm>
        </p:grpSpPr>
        <p:sp>
          <p:nvSpPr>
            <p:cNvPr id="24" name="菱形 23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菱形 24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1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147" name="组合 25"/>
          <p:cNvGrpSpPr/>
          <p:nvPr/>
        </p:nvGrpSpPr>
        <p:grpSpPr>
          <a:xfrm>
            <a:off x="0" y="3090863"/>
            <a:ext cx="4103688" cy="4105275"/>
            <a:chOff x="6804248" y="267494"/>
            <a:chExt cx="4104456" cy="4104456"/>
          </a:xfrm>
        </p:grpSpPr>
        <p:sp>
          <p:nvSpPr>
            <p:cNvPr id="27" name="菱形 26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菱形 27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2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3498870" y="1923678"/>
            <a:ext cx="521649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ctr" defTabSz="91376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Spring  </a:t>
            </a:r>
            <a:r>
              <a:rPr lang="zh-CN" altLang="en-US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实战</a:t>
            </a:r>
            <a:r>
              <a:rPr lang="en-US" altLang="zh-CN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r>
              <a:rPr lang="en-US" altLang="zh-CN" sz="3600" b="1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kumimoji="0" lang="zh-CN" altLang="en-US" sz="3600" b="1" kern="1200" cap="none" spc="0" normalizeH="0" baseline="0" noProof="0" dirty="0" smtClean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菱形 19"/>
          <p:cNvSpPr/>
          <p:nvPr/>
        </p:nvSpPr>
        <p:spPr>
          <a:xfrm>
            <a:off x="-2160587" y="411163"/>
            <a:ext cx="4321175" cy="432117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150" name="TextBox 10"/>
          <p:cNvSpPr txBox="1"/>
          <p:nvPr/>
        </p:nvSpPr>
        <p:spPr>
          <a:xfrm>
            <a:off x="5727817" y="3867894"/>
            <a:ext cx="91948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>
              <a:buFont typeface="Arial" panose="020B0604020202020204" pitchFamily="34" charset="0"/>
            </a:pPr>
            <a:r>
              <a:rPr lang="en-US" altLang="zh-CN" sz="14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2025-05</a:t>
            </a:r>
            <a:endParaRPr lang="en-US" altLang="zh-CN" sz="1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med" advTm="3422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854074" y="268288"/>
            <a:ext cx="2421782" cy="333375"/>
          </a:xfrm>
          <a:prstGeom prst="rect">
            <a:avLst/>
          </a:prstGeom>
          <a:ln>
            <a:solidFill>
              <a:srgbClr val="3963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目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录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</a:t>
            </a:r>
            <a:r>
              <a:rPr lang="zh-CN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CONTENTS</a:t>
            </a:r>
            <a:r>
              <a: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FZ 粗圆简体" charset="0"/>
              </a:rPr>
              <a:t>  </a:t>
            </a:r>
            <a:endParaRPr lang="zh-CN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FZ 粗圆简体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597" y="1779662"/>
            <a:ext cx="9135826" cy="1368742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/>
          <a:lstStyle/>
          <a:p>
            <a:pPr algn="ctr"/>
            <a:endParaRPr lang="zh-CN" altLang="en-US" sz="1350">
              <a:solidFill>
                <a:srgbClr val="005DA2"/>
              </a:solidFill>
            </a:endParaRPr>
          </a:p>
        </p:txBody>
      </p:sp>
      <p:sp>
        <p:nvSpPr>
          <p:cNvPr id="20" name="文本框 4"/>
          <p:cNvSpPr txBox="1"/>
          <p:nvPr/>
        </p:nvSpPr>
        <p:spPr>
          <a:xfrm>
            <a:off x="3131840" y="2077393"/>
            <a:ext cx="2454498" cy="773279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zh-CN" altLang="en-US" sz="4425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使用数据</a:t>
            </a:r>
            <a:endParaRPr lang="zh-CN" altLang="en-US" sz="442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1219309" y="1773312"/>
            <a:ext cx="1386659" cy="1401770"/>
          </a:xfrm>
          <a:prstGeom prst="ellipse">
            <a:avLst/>
          </a:prstGeom>
          <a:solidFill>
            <a:srgbClr val="005DA2"/>
          </a:solidFill>
          <a:ln w="1111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rtlCol="0" anchor="ctr">
            <a:scene3d>
              <a:camera prst="orthographicFront"/>
              <a:lightRig rig="threePt" dir="t"/>
            </a:scene3d>
          </a:bodyPr>
          <a:lstStyle/>
          <a:p>
            <a:pPr algn="ctr"/>
            <a:endParaRPr lang="zh-CN" altLang="en-US" sz="135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2" name="文本框 3"/>
          <p:cNvSpPr txBox="1"/>
          <p:nvPr/>
        </p:nvSpPr>
        <p:spPr>
          <a:xfrm>
            <a:off x="1285577" y="1924378"/>
            <a:ext cx="1268276" cy="1200318"/>
          </a:xfrm>
          <a:prstGeom prst="rect">
            <a:avLst/>
          </a:prstGeom>
          <a:noFill/>
        </p:spPr>
        <p:txBody>
          <a:bodyPr wrap="none" lIns="91430" tIns="45715" rIns="91430" bIns="45715" rtlCol="0">
            <a:spAutoFit/>
          </a:bodyPr>
          <a:lstStyle/>
          <a:p>
            <a:r>
              <a:rPr lang="en-US" altLang="zh-CN" sz="7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7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84" y="915566"/>
            <a:ext cx="3429000" cy="6286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411510"/>
            <a:ext cx="8218978" cy="396044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699542"/>
            <a:ext cx="8489314" cy="331236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195486"/>
            <a:ext cx="8529826" cy="194421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895" y="2447994"/>
            <a:ext cx="2786762" cy="2048268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753895" y="3124013"/>
            <a:ext cx="1319024" cy="683149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876" y="2477968"/>
            <a:ext cx="4763218" cy="2142271"/>
          </a:xfrm>
          <a:prstGeom prst="rect">
            <a:avLst/>
          </a:prstGeom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895283" y="2530494"/>
            <a:ext cx="1441642" cy="706473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536" y="132259"/>
            <a:ext cx="8352928" cy="158417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241" y="1820057"/>
            <a:ext cx="3722866" cy="2736304"/>
          </a:xfrm>
          <a:prstGeom prst="rect">
            <a:avLst/>
          </a:prstGeom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979712" y="2715766"/>
            <a:ext cx="1648604" cy="94488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" y="200025"/>
            <a:ext cx="7867650" cy="474345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261" y="555526"/>
            <a:ext cx="8432744" cy="8640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2211710"/>
            <a:ext cx="8115300" cy="2771775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179512" y="1707654"/>
            <a:ext cx="2520280" cy="432048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b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回顾接口的定义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483518"/>
            <a:ext cx="8749972" cy="1872208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ph type="ctrTitle"/>
          </p:nvPr>
        </p:nvSpPr>
        <p:spPr>
          <a:xfrm>
            <a:off x="5292080" y="501307"/>
            <a:ext cx="2520280" cy="432048"/>
          </a:xfrm>
        </p:spPr>
        <p:txBody>
          <a:bodyPr/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带参构造方法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26" y="3435846"/>
            <a:ext cx="8432744" cy="864096"/>
          </a:xfrm>
          <a:prstGeom prst="rect">
            <a:avLst/>
          </a:prstGeom>
        </p:spPr>
      </p:pic>
      <p:sp>
        <p:nvSpPr>
          <p:cNvPr id="5" name="标题 1"/>
          <p:cNvSpPr txBox="1"/>
          <p:nvPr/>
        </p:nvSpPr>
        <p:spPr>
          <a:xfrm>
            <a:off x="3923928" y="1713518"/>
            <a:ext cx="4216372" cy="792088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b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已经创建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Connection</a:t>
            </a:r>
            <a:endParaRPr lang="en-US" altLang="zh-CN" sz="18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数据库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信息保存在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配置文件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152400" y="2940174"/>
            <a:ext cx="2520280" cy="432048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b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回顾类的定义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758454" y="4717331"/>
            <a:ext cx="1600200" cy="161925"/>
          </a:xfrm>
          <a:prstGeom prst="rect">
            <a:avLst/>
          </a:prstGeom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557530" indent="-214630" eaLnBrk="0" hangingPunct="0"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1885950" indent="-17145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228850" indent="-17145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2571750" indent="-17145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2914650" indent="-17145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18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/>
            <a:fld id="{C542D0E1-51F0-4956-97F3-037A1D43D807}" type="slidenum">
              <a:rPr lang="en-US" altLang="zh-CN" sz="105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105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AutoShape 3"/>
          <p:cNvSpPr>
            <a:spLocks noChangeArrowheads="1"/>
          </p:cNvSpPr>
          <p:nvPr/>
        </p:nvSpPr>
        <p:spPr bwMode="auto">
          <a:xfrm>
            <a:off x="1403648" y="627534"/>
            <a:ext cx="6431756" cy="4247317"/>
          </a:xfrm>
          <a:prstGeom prst="roundRect">
            <a:avLst>
              <a:gd name="adj" fmla="val 0"/>
            </a:avLst>
          </a:prstGeom>
          <a:solidFill>
            <a:srgbClr val="EDF5FD"/>
          </a:solidFill>
          <a:ln w="50800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try {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Class.forName(JDBC</a:t>
            </a:r>
            <a:r>
              <a:rPr lang="zh-CN" altLang="en-US" sz="1350" b="1">
                <a:latin typeface="Arial" panose="020B0604020202020204" pitchFamily="34" charset="0"/>
                <a:cs typeface="Courier New" panose="02070309020205020404" pitchFamily="49" charset="0"/>
              </a:rPr>
              <a:t>驱动类</a:t>
            </a: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} 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… …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try {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Connection con=DriverManager.getConnection(</a:t>
            </a:r>
            <a:r>
              <a:rPr lang="en-US" altLang="zh-CN" sz="1350" b="1">
                <a:solidFill>
                  <a:srgbClr val="0070C0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URL</a:t>
            </a: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,</a:t>
            </a:r>
            <a:r>
              <a:rPr lang="zh-CN" altLang="en-US" sz="1350" b="1">
                <a:latin typeface="Arial" panose="020B0604020202020204" pitchFamily="34" charset="0"/>
                <a:cs typeface="Courier New" panose="02070309020205020404" pitchFamily="49" charset="0"/>
              </a:rPr>
              <a:t>数据库用户名</a:t>
            </a: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,</a:t>
            </a:r>
            <a:r>
              <a:rPr lang="zh-CN" altLang="en-US" sz="1350" b="1">
                <a:latin typeface="Arial" panose="020B0604020202020204" pitchFamily="34" charset="0"/>
                <a:cs typeface="Courier New" panose="02070309020205020404" pitchFamily="49" charset="0"/>
              </a:rPr>
              <a:t>密码</a:t>
            </a: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Statement stmt = con.createStatement();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ResultSet rs = stmt.executeQuery("SELECT a, b, c FROM Table1");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	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while (rs.next()) {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       int x = rs.getInt("a");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       String s = rs.getString("b");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       float f = rs.getFloat("c");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}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rs.close();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stmt.close();   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      con.close();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}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350" b="1">
                <a:latin typeface="Arial" panose="020B0604020202020204" pitchFamily="34" charset="0"/>
                <a:cs typeface="Courier New" panose="02070309020205020404" pitchFamily="49" charset="0"/>
              </a:rPr>
              <a:t>… …</a:t>
            </a:r>
            <a:endParaRPr lang="en-US" altLang="zh-CN" sz="1350" b="1">
              <a:latin typeface="Arial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4620716" y="1100391"/>
            <a:ext cx="1905305" cy="332006"/>
          </a:xfrm>
          <a:prstGeom prst="wedgeRoundRectCallout">
            <a:avLst>
              <a:gd name="adj1" fmla="val -32491"/>
              <a:gd name="adj2" fmla="val 44138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2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、与数据库建立连接 </a:t>
            </a:r>
            <a:endParaRPr lang="zh-CN" altLang="en-US" sz="1350" b="1" kern="0" dirty="0">
              <a:solidFill>
                <a:schemeClr val="bg1"/>
              </a:solidFill>
              <a:latin typeface="Arial" panose="020B0604020202020204"/>
              <a:ea typeface="黑体" panose="02010609060101010101" charset="-122"/>
            </a:endParaRPr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620716" y="2692256"/>
            <a:ext cx="2963808" cy="332006"/>
          </a:xfrm>
          <a:prstGeom prst="wedgeRoundRectCallout">
            <a:avLst>
              <a:gd name="adj1" fmla="val -50367"/>
              <a:gd name="adj2" fmla="val -29590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3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、发送</a:t>
            </a: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SQL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语句，并得到返回结果 </a:t>
            </a:r>
            <a:endParaRPr lang="zh-CN" altLang="en-US" sz="1350" b="1" kern="0" dirty="0">
              <a:solidFill>
                <a:schemeClr val="bg1"/>
              </a:solidFill>
              <a:latin typeface="Arial" panose="020B0604020202020204"/>
              <a:ea typeface="黑体" panose="02010609060101010101" charset="-122"/>
            </a:endParaRP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4660007" y="3174460"/>
            <a:ext cx="1570609" cy="332006"/>
          </a:xfrm>
          <a:prstGeom prst="wedgeRoundRectCallout">
            <a:avLst>
              <a:gd name="adj1" fmla="val -31327"/>
              <a:gd name="adj2" fmla="val -48591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4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、处理返回结果 </a:t>
            </a:r>
            <a:endParaRPr lang="zh-CN" altLang="en-US" sz="1350" b="1" kern="0" dirty="0">
              <a:solidFill>
                <a:schemeClr val="bg1"/>
              </a:solidFill>
              <a:latin typeface="Arial" panose="020B0604020202020204"/>
              <a:ea typeface="黑体" panose="02010609060101010101" charset="-122"/>
            </a:endParaRPr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4620717" y="709866"/>
            <a:ext cx="1681951" cy="332006"/>
          </a:xfrm>
          <a:prstGeom prst="wedgeRoundRectCallout">
            <a:avLst>
              <a:gd name="adj1" fmla="val -34603"/>
              <a:gd name="adj2" fmla="val 50815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1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、加载</a:t>
            </a: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JDBC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驱动 </a:t>
            </a:r>
            <a:endParaRPr lang="zh-CN" altLang="en-US" sz="1350" b="1" kern="0" dirty="0">
              <a:solidFill>
                <a:schemeClr val="bg1"/>
              </a:solidFill>
              <a:latin typeface="Arial" panose="020B0604020202020204"/>
              <a:ea typeface="黑体" panose="02010609060101010101" charset="-122"/>
            </a:endParaRP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gray">
          <a:xfrm>
            <a:off x="6603107" y="1109737"/>
            <a:ext cx="1232297" cy="482204"/>
          </a:xfrm>
          <a:prstGeom prst="wedgeRoundRectCallout">
            <a:avLst>
              <a:gd name="adj1" fmla="val -16843"/>
              <a:gd name="adj2" fmla="val -51188"/>
              <a:gd name="adj3" fmla="val 16667"/>
            </a:avLst>
          </a:prstGeom>
          <a:solidFill>
            <a:srgbClr val="E4FCE4"/>
          </a:solidFill>
          <a:ln w="19050" algn="ctr">
            <a:solidFill>
              <a:srgbClr val="00B0F0"/>
            </a:solidFill>
            <a:round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txBody>
          <a:bodyPr anchor="ctr" anchorCtr="1"/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dirty="0">
                <a:latin typeface="Arial" panose="020B0604020202020204" pitchFamily="34" charset="0"/>
                <a:ea typeface="黑体" panose="02010609060101010101" charset="-122"/>
              </a:rPr>
              <a:t>URL</a:t>
            </a:r>
            <a:r>
              <a:rPr lang="zh-CN" altLang="en-US" sz="1350" b="1" dirty="0">
                <a:latin typeface="Arial" panose="020B0604020202020204" pitchFamily="34" charset="0"/>
                <a:ea typeface="黑体" panose="02010609060101010101" charset="-122"/>
              </a:rPr>
              <a:t>用来</a:t>
            </a:r>
            <a:endParaRPr lang="en-US" altLang="zh-CN" sz="1350" b="1" dirty="0">
              <a:latin typeface="Arial" panose="020B0604020202020204" pitchFamily="34" charset="0"/>
              <a:ea typeface="黑体" panose="02010609060101010101" charset="-122"/>
            </a:endParaRPr>
          </a:p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zh-CN" altLang="en-US" sz="1350" b="1" dirty="0">
                <a:latin typeface="Arial" panose="020B0604020202020204" pitchFamily="34" charset="0"/>
                <a:ea typeface="黑体" panose="02010609060101010101" charset="-122"/>
              </a:rPr>
              <a:t>标识数据库 </a:t>
            </a:r>
            <a:endParaRPr lang="zh-CN" altLang="en-US" sz="1350" b="1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1" name="AutoShape 10"/>
          <p:cNvSpPr>
            <a:spLocks noChangeArrowheads="1"/>
          </p:cNvSpPr>
          <p:nvPr/>
        </p:nvSpPr>
        <p:spPr bwMode="auto">
          <a:xfrm>
            <a:off x="4674295" y="3870975"/>
            <a:ext cx="1168643" cy="332006"/>
          </a:xfrm>
          <a:prstGeom prst="wedgeRoundRectCallout">
            <a:avLst>
              <a:gd name="adj1" fmla="val -24200"/>
              <a:gd name="adj2" fmla="val -50934"/>
              <a:gd name="adj3" fmla="val 16667"/>
            </a:avLst>
          </a:prstGeom>
          <a:solidFill>
            <a:srgbClr val="0070C0"/>
          </a:solidFill>
          <a:ln w="9525" cap="flat" cmpd="sng" algn="ctr">
            <a:solidFill>
              <a:schemeClr val="accent3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anchor="b">
            <a:spAutoFit/>
          </a:bodyPr>
          <a:lstStyle/>
          <a:p>
            <a:pPr marL="214630" indent="-214630" eaLnBrk="0" hangingPunct="0">
              <a:buClr>
                <a:srgbClr val="233DA9"/>
              </a:buClr>
              <a:buSzPct val="80000"/>
              <a:defRPr/>
            </a:pPr>
            <a:r>
              <a:rPr lang="en-US" altLang="zh-CN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5</a:t>
            </a:r>
            <a:r>
              <a:rPr lang="zh-CN" altLang="en-US" sz="1350" b="1" kern="0" dirty="0">
                <a:solidFill>
                  <a:schemeClr val="bg1"/>
                </a:solidFill>
                <a:latin typeface="Arial" panose="020B0604020202020204"/>
                <a:ea typeface="黑体" panose="02010609060101010101" charset="-122"/>
              </a:rPr>
              <a:t>、释放资源</a:t>
            </a:r>
            <a:endParaRPr lang="zh-CN" altLang="en-US" sz="1350" b="1" kern="0" dirty="0">
              <a:solidFill>
                <a:schemeClr val="bg1"/>
              </a:solidFill>
              <a:latin typeface="Arial" panose="020B0604020202020204"/>
              <a:ea typeface="黑体" panose="02010609060101010101" charset="-122"/>
            </a:endParaRPr>
          </a:p>
        </p:txBody>
      </p:sp>
      <p:sp>
        <p:nvSpPr>
          <p:cNvPr id="12" name="Rectangle 12"/>
          <p:cNvSpPr txBox="1">
            <a:spLocks noChangeArrowheads="1"/>
          </p:cNvSpPr>
          <p:nvPr/>
        </p:nvSpPr>
        <p:spPr>
          <a:xfrm>
            <a:off x="1005602" y="104850"/>
            <a:ext cx="4015542" cy="426244"/>
          </a:xfrm>
          <a:prstGeom prst="rect">
            <a:avLst/>
          </a:prstGeom>
          <a:noFill/>
          <a:ln w="9525">
            <a:noFill/>
          </a:ln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214630" indent="-214630" eaLnBrk="1" hangingPunct="1">
              <a:buClr>
                <a:srgbClr val="233DA9"/>
              </a:buClr>
              <a:buSzPct val="80000"/>
            </a:pP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回顾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JDBC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工作模板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3" name="直接箭头连接符 12"/>
          <p:cNvCxnSpPr/>
          <p:nvPr/>
        </p:nvCxnSpPr>
        <p:spPr bwMode="auto">
          <a:xfrm flipV="1">
            <a:off x="3388411" y="4050235"/>
            <a:ext cx="1269479" cy="7502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 bwMode="auto">
          <a:xfrm flipV="1">
            <a:off x="4406402" y="3413603"/>
            <a:ext cx="267893" cy="1192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 bwMode="auto">
          <a:xfrm rot="5400000">
            <a:off x="5210675" y="2610521"/>
            <a:ext cx="214314" cy="1191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 bwMode="auto">
          <a:xfrm rot="5400000" flipH="1" flipV="1">
            <a:off x="5129116" y="1566336"/>
            <a:ext cx="268488" cy="596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 bwMode="auto">
          <a:xfrm flipV="1">
            <a:off x="4192088" y="895414"/>
            <a:ext cx="428628" cy="1193"/>
          </a:xfrm>
          <a:prstGeom prst="straightConnector1">
            <a:avLst/>
          </a:prstGeom>
          <a:ln cmpd="sng">
            <a:solidFill>
              <a:schemeClr val="accent5">
                <a:lumMod val="50000"/>
              </a:schemeClr>
            </a:solidFill>
            <a:headEnd type="none"/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prstMaterial="dkEdge">
            <a:bevelT w="0" h="0"/>
            <a:contourClr>
              <a:schemeClr val="accent1">
                <a:satMod val="110000"/>
              </a:schemeClr>
            </a:contourClr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727498" y="843037"/>
            <a:ext cx="2421731" cy="23812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zh-CN" sz="135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1727497" y="1700287"/>
            <a:ext cx="6054329" cy="23812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zh-CN" sz="135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727498" y="2075334"/>
            <a:ext cx="5518547" cy="42862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zh-CN" altLang="zh-CN" sz="135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1673920" y="2611115"/>
            <a:ext cx="2678906" cy="1071563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35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35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1673919" y="3735066"/>
            <a:ext cx="1660922" cy="696515"/>
          </a:xfrm>
          <a:prstGeom prst="rect">
            <a:avLst/>
          </a:prstGeom>
          <a:solidFill>
            <a:srgbClr val="FFDDDD">
              <a:alpha val="10196"/>
            </a:srgbClr>
          </a:solidFill>
          <a:ln w="28575" algn="ctr">
            <a:solidFill>
              <a:srgbClr val="C00000"/>
            </a:solidFill>
            <a:miter lim="800000"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35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35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" name="灯片编号占位符 40"/>
          <p:cNvSpPr txBox="1">
            <a:spLocks noGrp="1"/>
          </p:cNvSpPr>
          <p:nvPr/>
        </p:nvSpPr>
        <p:spPr bwMode="auto">
          <a:xfrm>
            <a:off x="6395938" y="4747097"/>
            <a:ext cx="16002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9966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Courier New" panose="02070309020205020404" pitchFamily="49" charset="0"/>
                <a:ea typeface="黑体" panose="02010609060101010101" charset="-122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B2E5B568-462F-47F8-9AA7-593C9C35F4A4}" type="slidenum">
              <a:rPr lang="en-US" altLang="zh-CN" sz="900">
                <a:latin typeface="Arial" panose="020B0604020202020204" pitchFamily="34" charset="0"/>
              </a:rPr>
            </a:fld>
            <a:r>
              <a:rPr lang="en-US" altLang="zh-CN" sz="900">
                <a:latin typeface="Arial" panose="020B0604020202020204" pitchFamily="34" charset="0"/>
              </a:rPr>
              <a:t>/34</a:t>
            </a:r>
            <a:endParaRPr lang="en-US" altLang="zh-CN" sz="9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059582"/>
            <a:ext cx="8744197" cy="3168352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5292080" y="501307"/>
            <a:ext cx="2520280" cy="432048"/>
          </a:xfrm>
        </p:spPr>
        <p:txBody>
          <a:bodyPr/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关键代码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323528" y="699542"/>
            <a:ext cx="3816424" cy="1152128"/>
          </a:xfrm>
        </p:spPr>
        <p:txBody>
          <a:bodyPr/>
          <a:lstStyle/>
          <a:p>
            <a:pPr algn="l"/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Taco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对象从何而来？</a:t>
            </a:r>
            <a:b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什么样的数据结构？</a:t>
            </a:r>
            <a:b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包含什么内容？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2139702"/>
            <a:ext cx="8712968" cy="48685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99195"/>
            <a:ext cx="9144000" cy="3745109"/>
          </a:xfrm>
          <a:prstGeom prst="rect">
            <a:avLst/>
          </a:prstGeom>
        </p:spPr>
      </p:pic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4011910"/>
            <a:ext cx="1547664" cy="555526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80" y="31539"/>
            <a:ext cx="5704427" cy="5065531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78" y="1347614"/>
            <a:ext cx="9021574" cy="259228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41" y="483518"/>
            <a:ext cx="2880320" cy="7200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60" y="63123"/>
            <a:ext cx="3028950" cy="1066800"/>
          </a:xfrm>
          <a:prstGeom prst="rect">
            <a:avLst/>
          </a:prstGeom>
        </p:spPr>
      </p:pic>
      <p:sp>
        <p:nvSpPr>
          <p:cNvPr id="5" name="Rectangle 2"/>
          <p:cNvSpPr txBox="1"/>
          <p:nvPr/>
        </p:nvSpPr>
        <p:spPr bwMode="auto">
          <a:xfrm>
            <a:off x="3041244" y="605290"/>
            <a:ext cx="2975614" cy="57273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8" tIns="45714" rIns="91428" bIns="45714" anchor="ctr"/>
          <a:lstStyle>
            <a:lvl1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algn="ctr" defTabSz="91313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4572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9144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13716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1828800" algn="ctr" defTabSz="91313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defRPr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对应定制页面的按钮</a:t>
            </a:r>
            <a:endParaRPr lang="zh-CN" altLang="en-US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4" y="1059582"/>
            <a:ext cx="8744197" cy="3168352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5292080" y="501307"/>
            <a:ext cx="2520280" cy="432048"/>
          </a:xfrm>
        </p:spPr>
        <p:txBody>
          <a:bodyPr/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关键代码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411510"/>
            <a:ext cx="8380165" cy="446449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0" y="1563638"/>
            <a:ext cx="8712968" cy="74203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267494"/>
            <a:ext cx="8589778" cy="223224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2283718"/>
            <a:ext cx="3722866" cy="2736304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172199" y="3179427"/>
            <a:ext cx="1648604" cy="944885"/>
          </a:xfrm>
          <a:prstGeom prst="rect">
            <a:avLst/>
          </a:prstGeom>
          <a:solidFill>
            <a:srgbClr val="CCFFFF">
              <a:alpha val="3922"/>
            </a:srgbClr>
          </a:solidFill>
          <a:ln w="25400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20000"/>
              </a:spcAft>
              <a:buClr>
                <a:srgbClr val="228A88"/>
              </a:buClr>
              <a:buFont typeface="Wingdings 2" panose="05020102010507070707" pitchFamily="18" charset="2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91630"/>
            <a:ext cx="9144000" cy="1216977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27534"/>
            <a:ext cx="9065950" cy="184590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712" y="0"/>
            <a:ext cx="6774576" cy="5143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552" y="123478"/>
            <a:ext cx="7776864" cy="476093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411510"/>
            <a:ext cx="8218978" cy="396044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203598"/>
            <a:ext cx="8724448" cy="158417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1131590"/>
            <a:ext cx="7229475" cy="86677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775" y="381000"/>
            <a:ext cx="7410450" cy="4381500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592" y="267494"/>
            <a:ext cx="7002256" cy="453650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696" y="987574"/>
            <a:ext cx="5314672" cy="3977111"/>
          </a:xfrm>
          <a:prstGeom prst="rect">
            <a:avLst/>
          </a:prstGeom>
        </p:spPr>
      </p:pic>
      <p:sp>
        <p:nvSpPr>
          <p:cNvPr id="3" name="标题 1"/>
          <p:cNvSpPr>
            <a:spLocks noGrp="1"/>
          </p:cNvSpPr>
          <p:nvPr>
            <p:ph type="ctrTitle"/>
          </p:nvPr>
        </p:nvSpPr>
        <p:spPr>
          <a:xfrm>
            <a:off x="323528" y="339502"/>
            <a:ext cx="3960440" cy="432048"/>
          </a:xfrm>
        </p:spPr>
        <p:txBody>
          <a:bodyPr/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理解：数据从前端到数据库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ctrTitle"/>
          </p:nvPr>
        </p:nvSpPr>
        <p:spPr>
          <a:xfrm>
            <a:off x="539552" y="339502"/>
            <a:ext cx="1224136" cy="432048"/>
          </a:xfrm>
        </p:spPr>
        <p:txBody>
          <a:bodyPr/>
          <a:lstStyle/>
          <a:p>
            <a:pPr algn="l"/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附：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867" y="987574"/>
            <a:ext cx="5950479" cy="64807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96" y="411510"/>
            <a:ext cx="8639175" cy="4857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059582"/>
            <a:ext cx="7453089" cy="38164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95486"/>
            <a:ext cx="5286375" cy="4667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771550"/>
            <a:ext cx="7197851" cy="4032448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20" y="96979"/>
            <a:ext cx="6127226" cy="43204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64923"/>
            <a:ext cx="4577373" cy="50405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736" y="904875"/>
            <a:ext cx="4343400" cy="4238625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267494"/>
            <a:ext cx="3873272" cy="5040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843558"/>
            <a:ext cx="8457196" cy="3816424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03" y="195486"/>
            <a:ext cx="4704523" cy="5040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843558"/>
            <a:ext cx="8886049" cy="302433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95486"/>
            <a:ext cx="7961120" cy="5040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15566"/>
            <a:ext cx="8642822" cy="2808312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7" y="267493"/>
            <a:ext cx="7848873" cy="4675409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512" y="195486"/>
            <a:ext cx="4248150" cy="381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627534"/>
            <a:ext cx="9144000" cy="308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2652"/>
            <a:ext cx="9144000" cy="2478196"/>
          </a:xfrm>
          <a:prstGeom prst="rect">
            <a:avLst/>
          </a:prstGeom>
        </p:spPr>
      </p:pic>
    </p:spTree>
  </p:cSld>
  <p:clrMapOvr>
    <a:masterClrMapping/>
  </p:clrMapOvr>
  <p:transition spd="med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组合 22"/>
          <p:cNvGrpSpPr/>
          <p:nvPr/>
        </p:nvGrpSpPr>
        <p:grpSpPr>
          <a:xfrm>
            <a:off x="0" y="-2052637"/>
            <a:ext cx="4103688" cy="4105275"/>
            <a:chOff x="6804248" y="267494"/>
            <a:chExt cx="4104456" cy="4104456"/>
          </a:xfrm>
        </p:grpSpPr>
        <p:sp>
          <p:nvSpPr>
            <p:cNvPr id="24" name="菱形 23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菱形 24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1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459" name="组合 25"/>
          <p:cNvGrpSpPr/>
          <p:nvPr/>
        </p:nvGrpSpPr>
        <p:grpSpPr>
          <a:xfrm>
            <a:off x="0" y="3090863"/>
            <a:ext cx="4103688" cy="4105275"/>
            <a:chOff x="6804248" y="267494"/>
            <a:chExt cx="4104456" cy="4104456"/>
          </a:xfrm>
        </p:grpSpPr>
        <p:sp>
          <p:nvSpPr>
            <p:cNvPr id="27" name="菱形 26"/>
            <p:cNvSpPr/>
            <p:nvPr/>
          </p:nvSpPr>
          <p:spPr>
            <a:xfrm>
              <a:off x="6804248" y="267494"/>
              <a:ext cx="4104456" cy="410445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菱形 27"/>
            <p:cNvSpPr/>
            <p:nvPr/>
          </p:nvSpPr>
          <p:spPr>
            <a:xfrm>
              <a:off x="7020188" y="483351"/>
              <a:ext cx="3672575" cy="3672742"/>
            </a:xfrm>
            <a:prstGeom prst="diamond">
              <a:avLst/>
            </a:prstGeom>
            <a:blipFill>
              <a:blip r:embed="rId2" cstate="print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313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072063" y="3143250"/>
            <a:ext cx="9525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3130">
              <a:buClrTx/>
              <a:buSzTx/>
              <a:buFontTx/>
              <a:defRPr/>
            </a:pPr>
            <a:r>
              <a:rPr kumimoji="0" lang="en-US" altLang="zh-CN" kern="1200" cap="none" spc="0" normalizeH="0" baseline="0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Thanks</a:t>
            </a:r>
            <a:endParaRPr kumimoji="0" lang="en-US" altLang="zh-CN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菱形 19"/>
          <p:cNvSpPr/>
          <p:nvPr/>
        </p:nvSpPr>
        <p:spPr>
          <a:xfrm>
            <a:off x="-2160587" y="411163"/>
            <a:ext cx="4321175" cy="4321175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4786313" y="2214563"/>
            <a:ext cx="162083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3130">
              <a:buClrTx/>
              <a:buSzTx/>
              <a:buFontTx/>
              <a:defRPr/>
            </a:pPr>
            <a:r>
              <a:rPr kumimoji="0" lang="zh-CN" altLang="en-US" sz="2800" b="1" kern="1200" cap="none" spc="0" normalizeH="0" baseline="0" noProof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感谢聆听</a:t>
            </a:r>
            <a:endParaRPr kumimoji="0" lang="zh-CN" altLang="en-US" sz="2800" b="1" kern="1200" cap="none" spc="0" normalizeH="0" baseline="0" noProof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自定义 1157">
      <a:dk1>
        <a:sysClr val="windowText" lastClr="000000"/>
      </a:dk1>
      <a:lt1>
        <a:sysClr val="window" lastClr="FFFFFF"/>
      </a:lt1>
      <a:dk2>
        <a:srgbClr val="464646"/>
      </a:dk2>
      <a:lt2>
        <a:srgbClr val="7F7F7F"/>
      </a:lt2>
      <a:accent1>
        <a:srgbClr val="39639D"/>
      </a:accent1>
      <a:accent2>
        <a:srgbClr val="A5A5A5"/>
      </a:accent2>
      <a:accent3>
        <a:srgbClr val="39639D"/>
      </a:accent3>
      <a:accent4>
        <a:srgbClr val="A5A5A5"/>
      </a:accent4>
      <a:accent5>
        <a:srgbClr val="39639D"/>
      </a:accent5>
      <a:accent6>
        <a:srgbClr val="A5A5A5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WPS 演示</Application>
  <PresentationFormat>全屏显示(16:9)</PresentationFormat>
  <Paragraphs>79</Paragraphs>
  <Slides>40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6" baseType="lpstr">
      <vt:lpstr>Arial</vt:lpstr>
      <vt:lpstr>宋体</vt:lpstr>
      <vt:lpstr>Wingdings</vt:lpstr>
      <vt:lpstr>Calibri</vt:lpstr>
      <vt:lpstr>微软雅黑</vt:lpstr>
      <vt:lpstr>Open Sans</vt:lpstr>
      <vt:lpstr>Segoe Print</vt:lpstr>
      <vt:lpstr>冬青黑体简体中文 W3</vt:lpstr>
      <vt:lpstr>黑体</vt:lpstr>
      <vt:lpstr>FZ 粗圆简体</vt:lpstr>
      <vt:lpstr>ksdb</vt:lpstr>
      <vt:lpstr>Wingdings 2</vt:lpstr>
      <vt:lpstr>Arial Unicode MS</vt:lpstr>
      <vt:lpstr>Courier New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带参构造方法</vt:lpstr>
      <vt:lpstr>PowerPoint 演示文稿</vt:lpstr>
      <vt:lpstr>关键代码</vt:lpstr>
      <vt:lpstr>1. Taco对象从何而来？ 2. 什么样的数据结构？ 3. 包含什么内容？</vt:lpstr>
      <vt:lpstr>PowerPoint 演示文稿</vt:lpstr>
      <vt:lpstr>PowerPoint 演示文稿</vt:lpstr>
      <vt:lpstr>PowerPoint 演示文稿</vt:lpstr>
      <vt:lpstr>关键代码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理解：数据从前端到数据库</vt:lpstr>
      <vt:lpstr>附：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</dc:title>
  <dc:creator>USER</dc:creator>
  <cp:lastModifiedBy>旭海</cp:lastModifiedBy>
  <cp:revision>2886</cp:revision>
  <dcterms:created xsi:type="dcterms:W3CDTF">2014-11-09T01:07:00Z</dcterms:created>
  <dcterms:modified xsi:type="dcterms:W3CDTF">2025-05-26T01:06:21Z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RubyTemplateID">
    <vt:lpwstr>13</vt:lpwstr>
  </property>
  <property fmtid="{D5CDD505-2E9C-101B-9397-08002B2CF9AE}" pid="4" name="ICV">
    <vt:lpwstr>C7A01AC9155F4DC9AFDC16B0CEF92D6A</vt:lpwstr>
  </property>
</Properties>
</file>