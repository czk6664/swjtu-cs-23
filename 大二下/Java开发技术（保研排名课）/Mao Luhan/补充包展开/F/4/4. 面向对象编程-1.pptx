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7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3.xml" ContentType="application/vnd.openxmlformats-officedocument.presentationml.notesSlide+xml"/>
  <Override PartName="/ppt/diagrams/drawing3.xml" ContentType="application/vnd.ms-office.drawingml.diagramDrawing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diagrams/data3.xml" ContentType="application/vnd.openxmlformats-officedocument.drawingml.diagramData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layout3.xml" ContentType="application/vnd.openxmlformats-officedocument.drawingml.diagramLayout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diagrams/drawing1.xml" ContentType="application/vnd.ms-office.drawingml.diagramDrawing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slideLayouts/slideLayout16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37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3" r:id="rId1"/>
  </p:sldMasterIdLst>
  <p:notesMasterIdLst>
    <p:notesMasterId r:id="rId108"/>
  </p:notesMasterIdLst>
  <p:handoutMasterIdLst>
    <p:handoutMasterId r:id="rId109"/>
  </p:handoutMasterIdLst>
  <p:sldIdLst>
    <p:sldId id="478" r:id="rId2"/>
    <p:sldId id="479" r:id="rId3"/>
    <p:sldId id="480" r:id="rId4"/>
    <p:sldId id="481" r:id="rId5"/>
    <p:sldId id="482" r:id="rId6"/>
    <p:sldId id="483" r:id="rId7"/>
    <p:sldId id="484" r:id="rId8"/>
    <p:sldId id="485" r:id="rId9"/>
    <p:sldId id="486" r:id="rId10"/>
    <p:sldId id="487" r:id="rId11"/>
    <p:sldId id="488" r:id="rId12"/>
    <p:sldId id="489" r:id="rId13"/>
    <p:sldId id="490" r:id="rId14"/>
    <p:sldId id="491" r:id="rId15"/>
    <p:sldId id="521" r:id="rId16"/>
    <p:sldId id="494" r:id="rId17"/>
    <p:sldId id="498" r:id="rId18"/>
    <p:sldId id="499" r:id="rId19"/>
    <p:sldId id="522" r:id="rId20"/>
    <p:sldId id="500" r:id="rId21"/>
    <p:sldId id="520" r:id="rId22"/>
    <p:sldId id="511" r:id="rId23"/>
    <p:sldId id="523" r:id="rId24"/>
    <p:sldId id="524" r:id="rId25"/>
    <p:sldId id="525" r:id="rId26"/>
    <p:sldId id="526" r:id="rId27"/>
    <p:sldId id="527" r:id="rId28"/>
    <p:sldId id="528" r:id="rId29"/>
    <p:sldId id="529" r:id="rId30"/>
    <p:sldId id="530" r:id="rId31"/>
    <p:sldId id="531" r:id="rId32"/>
    <p:sldId id="532" r:id="rId33"/>
    <p:sldId id="533" r:id="rId34"/>
    <p:sldId id="534" r:id="rId35"/>
    <p:sldId id="557" r:id="rId36"/>
    <p:sldId id="539" r:id="rId37"/>
    <p:sldId id="540" r:id="rId38"/>
    <p:sldId id="541" r:id="rId39"/>
    <p:sldId id="542" r:id="rId40"/>
    <p:sldId id="543" r:id="rId41"/>
    <p:sldId id="558" r:id="rId42"/>
    <p:sldId id="550" r:id="rId43"/>
    <p:sldId id="551" r:id="rId44"/>
    <p:sldId id="552" r:id="rId45"/>
    <p:sldId id="554" r:id="rId46"/>
    <p:sldId id="559" r:id="rId47"/>
    <p:sldId id="560" r:id="rId48"/>
    <p:sldId id="561" r:id="rId49"/>
    <p:sldId id="562" r:id="rId50"/>
    <p:sldId id="563" r:id="rId51"/>
    <p:sldId id="564" r:id="rId52"/>
    <p:sldId id="565" r:id="rId53"/>
    <p:sldId id="566" r:id="rId54"/>
    <p:sldId id="567" r:id="rId55"/>
    <p:sldId id="568" r:id="rId56"/>
    <p:sldId id="569" r:id="rId57"/>
    <p:sldId id="574" r:id="rId58"/>
    <p:sldId id="575" r:id="rId59"/>
    <p:sldId id="576" r:id="rId60"/>
    <p:sldId id="577" r:id="rId61"/>
    <p:sldId id="595" r:id="rId62"/>
    <p:sldId id="582" r:id="rId63"/>
    <p:sldId id="583" r:id="rId64"/>
    <p:sldId id="584" r:id="rId65"/>
    <p:sldId id="585" r:id="rId66"/>
    <p:sldId id="586" r:id="rId67"/>
    <p:sldId id="587" r:id="rId68"/>
    <p:sldId id="588" r:id="rId69"/>
    <p:sldId id="592" r:id="rId70"/>
    <p:sldId id="596" r:id="rId71"/>
    <p:sldId id="597" r:id="rId72"/>
    <p:sldId id="598" r:id="rId73"/>
    <p:sldId id="599" r:id="rId74"/>
    <p:sldId id="600" r:id="rId75"/>
    <p:sldId id="601" r:id="rId76"/>
    <p:sldId id="602" r:id="rId77"/>
    <p:sldId id="603" r:id="rId78"/>
    <p:sldId id="604" r:id="rId79"/>
    <p:sldId id="605" r:id="rId80"/>
    <p:sldId id="606" r:id="rId81"/>
    <p:sldId id="607" r:id="rId82"/>
    <p:sldId id="608" r:id="rId83"/>
    <p:sldId id="609" r:id="rId84"/>
    <p:sldId id="610" r:id="rId85"/>
    <p:sldId id="611" r:id="rId86"/>
    <p:sldId id="612" r:id="rId87"/>
    <p:sldId id="613" r:id="rId88"/>
    <p:sldId id="614" r:id="rId89"/>
    <p:sldId id="615" r:id="rId90"/>
    <p:sldId id="616" r:id="rId91"/>
    <p:sldId id="617" r:id="rId92"/>
    <p:sldId id="618" r:id="rId93"/>
    <p:sldId id="619" r:id="rId94"/>
    <p:sldId id="620" r:id="rId95"/>
    <p:sldId id="621" r:id="rId96"/>
    <p:sldId id="622" r:id="rId97"/>
    <p:sldId id="623" r:id="rId98"/>
    <p:sldId id="624" r:id="rId99"/>
    <p:sldId id="625" r:id="rId100"/>
    <p:sldId id="626" r:id="rId101"/>
    <p:sldId id="627" r:id="rId102"/>
    <p:sldId id="628" r:id="rId103"/>
    <p:sldId id="629" r:id="rId104"/>
    <p:sldId id="630" r:id="rId105"/>
    <p:sldId id="631" r:id="rId106"/>
    <p:sldId id="632" r:id="rId107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黑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黑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黑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黑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黑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黑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黑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黑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黑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BFFFE"/>
    <a:srgbClr val="EDF5FD"/>
    <a:srgbClr val="852C09"/>
    <a:srgbClr val="FCF1DC"/>
    <a:srgbClr val="FFCC99"/>
    <a:srgbClr val="E2F5FE"/>
    <a:srgbClr val="FFFFF3"/>
    <a:srgbClr val="FFFFE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760" autoAdjust="0"/>
    <p:restoredTop sz="93778" autoAdjust="0"/>
  </p:normalViewPr>
  <p:slideViewPr>
    <p:cSldViewPr>
      <p:cViewPr>
        <p:scale>
          <a:sx n="70" d="100"/>
          <a:sy n="70" d="100"/>
        </p:scale>
        <p:origin x="-1158" y="-114"/>
      </p:cViewPr>
      <p:guideLst>
        <p:guide orient="horz" pos="2160"/>
        <p:guide orient="horz" pos="3074"/>
        <p:guide pos="2880"/>
      </p:guideLst>
    </p:cSldViewPr>
  </p:slideViewPr>
  <p:outlineViewPr>
    <p:cViewPr>
      <p:scale>
        <a:sx n="33" d="100"/>
        <a:sy n="33" d="100"/>
      </p:scale>
      <p:origin x="0" y="13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2856" y="-9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E1AD12-5113-4DC1-820E-CDC2995E8A6F}" type="doc">
      <dgm:prSet loTypeId="urn:microsoft.com/office/officeart/2005/8/layout/process1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3F9A359-6017-4A8A-8A71-439965ED72D2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pPr rtl="0"/>
          <a:r>
            <a:rPr lang="zh-CN" altLang="en-US" b="0" dirty="0" smtClean="0"/>
            <a:t>定义类名</a:t>
          </a:r>
          <a:endParaRPr lang="en-US" b="0" dirty="0"/>
        </a:p>
      </dgm:t>
    </dgm:pt>
    <dgm:pt modelId="{94A4930B-82CA-469A-859E-1662DFD2221B}" type="parTrans" cxnId="{FFB0AD5B-95BD-44B0-9922-E4159EABDFCB}">
      <dgm:prSet/>
      <dgm:spPr/>
      <dgm:t>
        <a:bodyPr/>
        <a:lstStyle/>
        <a:p>
          <a:endParaRPr lang="zh-CN" altLang="en-US"/>
        </a:p>
      </dgm:t>
    </dgm:pt>
    <dgm:pt modelId="{E2AF1A64-DAD2-463C-A30E-3BDEAF19CA82}" type="sibTrans" cxnId="{FFB0AD5B-95BD-44B0-9922-E4159EABDFCB}">
      <dgm:prSet/>
      <dgm:spPr>
        <a:solidFill>
          <a:srgbClr val="0070C0"/>
        </a:solidFill>
      </dgm:spPr>
      <dgm:t>
        <a:bodyPr/>
        <a:lstStyle/>
        <a:p>
          <a:endParaRPr lang="zh-CN" altLang="en-US"/>
        </a:p>
      </dgm:t>
    </dgm:pt>
    <dgm:pt modelId="{60B7A184-E85E-42F2-8DD9-745FDE2F7A38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pPr rtl="0"/>
          <a:r>
            <a:rPr lang="zh-CN" altLang="en-US" b="0" dirty="0" smtClean="0"/>
            <a:t>编写类的属性</a:t>
          </a:r>
          <a:endParaRPr lang="en-US" altLang="en-US" b="0" dirty="0"/>
        </a:p>
      </dgm:t>
    </dgm:pt>
    <dgm:pt modelId="{97B743D5-2D3C-44C6-BE00-E72D8908A3B5}" type="parTrans" cxnId="{622E0605-AD38-4D78-9034-0A12BD6BEB7C}">
      <dgm:prSet/>
      <dgm:spPr/>
      <dgm:t>
        <a:bodyPr/>
        <a:lstStyle/>
        <a:p>
          <a:endParaRPr lang="zh-CN" altLang="en-US"/>
        </a:p>
      </dgm:t>
    </dgm:pt>
    <dgm:pt modelId="{62D3E85F-315A-4119-AE6E-AA15CAC4B4B6}" type="sibTrans" cxnId="{622E0605-AD38-4D78-9034-0A12BD6BEB7C}">
      <dgm:prSet/>
      <dgm:spPr>
        <a:solidFill>
          <a:srgbClr val="0070C0"/>
        </a:solidFill>
      </dgm:spPr>
      <dgm:t>
        <a:bodyPr/>
        <a:lstStyle/>
        <a:p>
          <a:endParaRPr lang="zh-CN" altLang="en-US"/>
        </a:p>
      </dgm:t>
    </dgm:pt>
    <dgm:pt modelId="{9BB3CAC4-96F1-4309-8F30-61051E5E48C2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pPr rtl="0"/>
          <a:r>
            <a:rPr lang="zh-CN" altLang="en-US" dirty="0" smtClean="0"/>
            <a:t>编写类的方法</a:t>
          </a:r>
          <a:endParaRPr lang="zh-CN" b="1" dirty="0"/>
        </a:p>
      </dgm:t>
    </dgm:pt>
    <dgm:pt modelId="{11CB40CC-83F4-472A-9CF3-0D01D523FD8A}" type="parTrans" cxnId="{0EC969A3-FE85-4CF5-8E67-F9A639C3F266}">
      <dgm:prSet/>
      <dgm:spPr/>
      <dgm:t>
        <a:bodyPr/>
        <a:lstStyle/>
        <a:p>
          <a:endParaRPr lang="zh-CN" altLang="en-US"/>
        </a:p>
      </dgm:t>
    </dgm:pt>
    <dgm:pt modelId="{33C85A28-2F02-4EFE-BC88-9B316DF94195}" type="sibTrans" cxnId="{0EC969A3-FE85-4CF5-8E67-F9A639C3F266}">
      <dgm:prSet/>
      <dgm:spPr/>
      <dgm:t>
        <a:bodyPr/>
        <a:lstStyle/>
        <a:p>
          <a:endParaRPr lang="zh-CN" altLang="en-US"/>
        </a:p>
      </dgm:t>
    </dgm:pt>
    <dgm:pt modelId="{946AB1F5-AFA6-407B-BD2C-9946AB463D1A}" type="pres">
      <dgm:prSet presAssocID="{E3E1AD12-5113-4DC1-820E-CDC2995E8A6F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85B3497-F806-4732-BDBB-75C832824117}" type="pres">
      <dgm:prSet presAssocID="{23F9A359-6017-4A8A-8A71-439965ED72D2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654CC4A-3654-48B0-AFEF-E1767C56F769}" type="pres">
      <dgm:prSet presAssocID="{E2AF1A64-DAD2-463C-A30E-3BDEAF19CA82}" presName="sibTrans" presStyleLbl="sibTrans2D1" presStyleIdx="0" presStyleCnt="2"/>
      <dgm:spPr/>
      <dgm:t>
        <a:bodyPr/>
        <a:lstStyle/>
        <a:p>
          <a:endParaRPr lang="zh-CN" altLang="en-US"/>
        </a:p>
      </dgm:t>
    </dgm:pt>
    <dgm:pt modelId="{FAF0A22C-F716-4D95-947F-6B35C81539C7}" type="pres">
      <dgm:prSet presAssocID="{E2AF1A64-DAD2-463C-A30E-3BDEAF19CA82}" presName="connectorText" presStyleLbl="sibTrans2D1" presStyleIdx="0" presStyleCnt="2"/>
      <dgm:spPr/>
      <dgm:t>
        <a:bodyPr/>
        <a:lstStyle/>
        <a:p>
          <a:endParaRPr lang="zh-CN" altLang="en-US"/>
        </a:p>
      </dgm:t>
    </dgm:pt>
    <dgm:pt modelId="{0910197F-1359-491F-9AFF-6D84CABE9A7A}" type="pres">
      <dgm:prSet presAssocID="{60B7A184-E85E-42F2-8DD9-745FDE2F7A38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EE034EE-E5B1-481C-A812-B46CF0F3FFBE}" type="pres">
      <dgm:prSet presAssocID="{62D3E85F-315A-4119-AE6E-AA15CAC4B4B6}" presName="sibTrans" presStyleLbl="sibTrans2D1" presStyleIdx="1" presStyleCnt="2"/>
      <dgm:spPr/>
      <dgm:t>
        <a:bodyPr/>
        <a:lstStyle/>
        <a:p>
          <a:endParaRPr lang="zh-CN" altLang="en-US"/>
        </a:p>
      </dgm:t>
    </dgm:pt>
    <dgm:pt modelId="{2908542C-55AC-43E3-8505-9CC197117C24}" type="pres">
      <dgm:prSet presAssocID="{62D3E85F-315A-4119-AE6E-AA15CAC4B4B6}" presName="connectorText" presStyleLbl="sibTrans2D1" presStyleIdx="1" presStyleCnt="2"/>
      <dgm:spPr/>
      <dgm:t>
        <a:bodyPr/>
        <a:lstStyle/>
        <a:p>
          <a:endParaRPr lang="zh-CN" altLang="en-US"/>
        </a:p>
      </dgm:t>
    </dgm:pt>
    <dgm:pt modelId="{324F3DEE-63A1-4D5C-B197-50993611C873}" type="pres">
      <dgm:prSet presAssocID="{9BB3CAC4-96F1-4309-8F30-61051E5E48C2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2E0605-AD38-4D78-9034-0A12BD6BEB7C}" srcId="{E3E1AD12-5113-4DC1-820E-CDC2995E8A6F}" destId="{60B7A184-E85E-42F2-8DD9-745FDE2F7A38}" srcOrd="1" destOrd="0" parTransId="{97B743D5-2D3C-44C6-BE00-E72D8908A3B5}" sibTransId="{62D3E85F-315A-4119-AE6E-AA15CAC4B4B6}"/>
    <dgm:cxn modelId="{BCBC0D61-D9AF-46D9-8ED5-A1117DBB2662}" type="presOf" srcId="{62D3E85F-315A-4119-AE6E-AA15CAC4B4B6}" destId="{4EE034EE-E5B1-481C-A812-B46CF0F3FFBE}" srcOrd="0" destOrd="0" presId="urn:microsoft.com/office/officeart/2005/8/layout/process1"/>
    <dgm:cxn modelId="{1E7AE143-7C3C-4B87-B0CE-1FD6876FA7FD}" type="presOf" srcId="{E2AF1A64-DAD2-463C-A30E-3BDEAF19CA82}" destId="{FAF0A22C-F716-4D95-947F-6B35C81539C7}" srcOrd="1" destOrd="0" presId="urn:microsoft.com/office/officeart/2005/8/layout/process1"/>
    <dgm:cxn modelId="{ED3E84F7-9DF5-40E4-95E2-615D78EEE953}" type="presOf" srcId="{E3E1AD12-5113-4DC1-820E-CDC2995E8A6F}" destId="{946AB1F5-AFA6-407B-BD2C-9946AB463D1A}" srcOrd="0" destOrd="0" presId="urn:microsoft.com/office/officeart/2005/8/layout/process1"/>
    <dgm:cxn modelId="{EBACCEC4-C818-4AC9-9275-7B1E662EA489}" type="presOf" srcId="{9BB3CAC4-96F1-4309-8F30-61051E5E48C2}" destId="{324F3DEE-63A1-4D5C-B197-50993611C873}" srcOrd="0" destOrd="0" presId="urn:microsoft.com/office/officeart/2005/8/layout/process1"/>
    <dgm:cxn modelId="{B63B6960-070F-440B-849D-31BDECA06D83}" type="presOf" srcId="{23F9A359-6017-4A8A-8A71-439965ED72D2}" destId="{585B3497-F806-4732-BDBB-75C832824117}" srcOrd="0" destOrd="0" presId="urn:microsoft.com/office/officeart/2005/8/layout/process1"/>
    <dgm:cxn modelId="{94CA296A-4F0C-4762-8177-4E19D7D53A56}" type="presOf" srcId="{62D3E85F-315A-4119-AE6E-AA15CAC4B4B6}" destId="{2908542C-55AC-43E3-8505-9CC197117C24}" srcOrd="1" destOrd="0" presId="urn:microsoft.com/office/officeart/2005/8/layout/process1"/>
    <dgm:cxn modelId="{FFB0AD5B-95BD-44B0-9922-E4159EABDFCB}" srcId="{E3E1AD12-5113-4DC1-820E-CDC2995E8A6F}" destId="{23F9A359-6017-4A8A-8A71-439965ED72D2}" srcOrd="0" destOrd="0" parTransId="{94A4930B-82CA-469A-859E-1662DFD2221B}" sibTransId="{E2AF1A64-DAD2-463C-A30E-3BDEAF19CA82}"/>
    <dgm:cxn modelId="{DE576868-9044-483F-BBC8-F56085A71569}" type="presOf" srcId="{60B7A184-E85E-42F2-8DD9-745FDE2F7A38}" destId="{0910197F-1359-491F-9AFF-6D84CABE9A7A}" srcOrd="0" destOrd="0" presId="urn:microsoft.com/office/officeart/2005/8/layout/process1"/>
    <dgm:cxn modelId="{0EC969A3-FE85-4CF5-8E67-F9A639C3F266}" srcId="{E3E1AD12-5113-4DC1-820E-CDC2995E8A6F}" destId="{9BB3CAC4-96F1-4309-8F30-61051E5E48C2}" srcOrd="2" destOrd="0" parTransId="{11CB40CC-83F4-472A-9CF3-0D01D523FD8A}" sibTransId="{33C85A28-2F02-4EFE-BC88-9B316DF94195}"/>
    <dgm:cxn modelId="{73DAC207-850A-460F-A4FD-0F429F96FC6E}" type="presOf" srcId="{E2AF1A64-DAD2-463C-A30E-3BDEAF19CA82}" destId="{C654CC4A-3654-48B0-AFEF-E1767C56F769}" srcOrd="0" destOrd="0" presId="urn:microsoft.com/office/officeart/2005/8/layout/process1"/>
    <dgm:cxn modelId="{51541BF9-7636-4061-BCD0-A2D1B435AA3E}" type="presParOf" srcId="{946AB1F5-AFA6-407B-BD2C-9946AB463D1A}" destId="{585B3497-F806-4732-BDBB-75C832824117}" srcOrd="0" destOrd="0" presId="urn:microsoft.com/office/officeart/2005/8/layout/process1"/>
    <dgm:cxn modelId="{7109497D-389C-4853-93DE-B8BC32B26110}" type="presParOf" srcId="{946AB1F5-AFA6-407B-BD2C-9946AB463D1A}" destId="{C654CC4A-3654-48B0-AFEF-E1767C56F769}" srcOrd="1" destOrd="0" presId="urn:microsoft.com/office/officeart/2005/8/layout/process1"/>
    <dgm:cxn modelId="{3BE31241-7A91-4CCE-BB15-B24AB77EAA4D}" type="presParOf" srcId="{C654CC4A-3654-48B0-AFEF-E1767C56F769}" destId="{FAF0A22C-F716-4D95-947F-6B35C81539C7}" srcOrd="0" destOrd="0" presId="urn:microsoft.com/office/officeart/2005/8/layout/process1"/>
    <dgm:cxn modelId="{B9B7B835-98F3-4C3E-BAB6-578ECBDF4639}" type="presParOf" srcId="{946AB1F5-AFA6-407B-BD2C-9946AB463D1A}" destId="{0910197F-1359-491F-9AFF-6D84CABE9A7A}" srcOrd="2" destOrd="0" presId="urn:microsoft.com/office/officeart/2005/8/layout/process1"/>
    <dgm:cxn modelId="{F85767C9-C511-47BF-8C87-82F2A5389687}" type="presParOf" srcId="{946AB1F5-AFA6-407B-BD2C-9946AB463D1A}" destId="{4EE034EE-E5B1-481C-A812-B46CF0F3FFBE}" srcOrd="3" destOrd="0" presId="urn:microsoft.com/office/officeart/2005/8/layout/process1"/>
    <dgm:cxn modelId="{B3600098-D240-43E7-9DD3-ECD98834CB8F}" type="presParOf" srcId="{4EE034EE-E5B1-481C-A812-B46CF0F3FFBE}" destId="{2908542C-55AC-43E3-8505-9CC197117C24}" srcOrd="0" destOrd="0" presId="urn:microsoft.com/office/officeart/2005/8/layout/process1"/>
    <dgm:cxn modelId="{762469C0-7D7A-4E58-A393-8AC2F5D5748B}" type="presParOf" srcId="{946AB1F5-AFA6-407B-BD2C-9946AB463D1A}" destId="{324F3DEE-63A1-4D5C-B197-50993611C873}" srcOrd="4" destOrd="0" presId="urn:microsoft.com/office/officeart/2005/8/layout/process1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FBAA4C-FB82-4FE1-9B26-655B0BDC7CC8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4573E2D-CF30-4342-9009-57D3911BFAC9}">
      <dgm:prSet custT="1"/>
      <dgm:spPr>
        <a:solidFill>
          <a:srgbClr val="0070C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pPr rtl="0"/>
          <a:r>
            <a:rPr lang="zh-CN" altLang="en-US" sz="2000" b="1" dirty="0" smtClean="0"/>
            <a:t>提高了程序的可重用性</a:t>
          </a:r>
          <a:endParaRPr lang="en-US" altLang="en-US" sz="2000" b="1" dirty="0"/>
        </a:p>
      </dgm:t>
    </dgm:pt>
    <dgm:pt modelId="{310CDD7C-31E1-4819-BEB3-236204E88027}" type="parTrans" cxnId="{8FF1CF0A-DF24-4ACA-86CE-49E1271D29F9}">
      <dgm:prSet/>
      <dgm:spPr/>
      <dgm:t>
        <a:bodyPr/>
        <a:lstStyle/>
        <a:p>
          <a:endParaRPr lang="zh-CN" altLang="en-US"/>
        </a:p>
      </dgm:t>
    </dgm:pt>
    <dgm:pt modelId="{8B875B69-7F62-4508-9698-7F3333C5A8CD}" type="sibTrans" cxnId="{8FF1CF0A-DF24-4ACA-86CE-49E1271D29F9}">
      <dgm:prSet/>
      <dgm:spPr>
        <a:solidFill>
          <a:srgbClr val="0070C0"/>
        </a:solidFill>
      </dgm:spPr>
      <dgm:t>
        <a:bodyPr/>
        <a:lstStyle/>
        <a:p>
          <a:endParaRPr lang="zh-CN" altLang="en-US"/>
        </a:p>
      </dgm:t>
    </dgm:pt>
    <dgm:pt modelId="{B24EA351-367F-4873-AEAE-1407281631A4}">
      <dgm:prSet custT="1"/>
      <dgm:spPr>
        <a:solidFill>
          <a:srgbClr val="0070C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pPr rtl="0"/>
          <a:r>
            <a:rPr lang="zh-CN" altLang="en-US" sz="2000" b="1" dirty="0" smtClean="0"/>
            <a:t>信息隐藏，提高了程序的可维护性和安全性 </a:t>
          </a:r>
          <a:endParaRPr lang="en-US" sz="2000" b="1" dirty="0"/>
        </a:p>
      </dgm:t>
    </dgm:pt>
    <dgm:pt modelId="{0B22AB28-0A7E-4F2F-B53E-8AC0B7128844}" type="parTrans" cxnId="{DBC1D11C-ECB7-4255-820F-781C6BF1FDC5}">
      <dgm:prSet/>
      <dgm:spPr/>
      <dgm:t>
        <a:bodyPr/>
        <a:lstStyle/>
        <a:p>
          <a:endParaRPr lang="zh-CN" altLang="en-US"/>
        </a:p>
      </dgm:t>
    </dgm:pt>
    <dgm:pt modelId="{243009FA-F76E-49C1-B303-26C70438CDA9}" type="sibTrans" cxnId="{DBC1D11C-ECB7-4255-820F-781C6BF1FDC5}">
      <dgm:prSet/>
      <dgm:spPr>
        <a:solidFill>
          <a:srgbClr val="0070C0"/>
        </a:solidFill>
      </dgm:spPr>
      <dgm:t>
        <a:bodyPr/>
        <a:lstStyle/>
        <a:p>
          <a:endParaRPr lang="zh-CN" altLang="en-US"/>
        </a:p>
      </dgm:t>
    </dgm:pt>
    <dgm:pt modelId="{230A4E08-2753-4AE3-9969-2B234C0CC492}">
      <dgm:prSet custT="1"/>
      <dgm:spPr>
        <a:solidFill>
          <a:srgbClr val="0070C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pPr algn="l" rtl="0"/>
          <a:r>
            <a:rPr lang="zh-CN" altLang="en-US" sz="2000" b="1" dirty="0" smtClean="0"/>
            <a:t>与人类的思维习惯一致</a:t>
          </a:r>
          <a:endParaRPr lang="en-US" altLang="en-US" sz="2000" b="1" dirty="0"/>
        </a:p>
      </dgm:t>
    </dgm:pt>
    <dgm:pt modelId="{92ED0E81-F299-4D04-8E5B-FEF2ADA681FA}" type="parTrans" cxnId="{7273D992-848A-4D21-B1A9-D016C7E614C1}">
      <dgm:prSet/>
      <dgm:spPr/>
      <dgm:t>
        <a:bodyPr/>
        <a:lstStyle/>
        <a:p>
          <a:endParaRPr lang="zh-CN" altLang="en-US"/>
        </a:p>
      </dgm:t>
    </dgm:pt>
    <dgm:pt modelId="{23D4F72E-206C-47FE-8A80-6E26CC81A578}" type="sibTrans" cxnId="{7273D992-848A-4D21-B1A9-D016C7E614C1}">
      <dgm:prSet/>
      <dgm:spPr>
        <a:solidFill>
          <a:srgbClr val="0070C0"/>
        </a:solidFill>
      </dgm:spPr>
      <dgm:t>
        <a:bodyPr/>
        <a:lstStyle/>
        <a:p>
          <a:endParaRPr lang="zh-CN" altLang="en-US"/>
        </a:p>
      </dgm:t>
    </dgm:pt>
    <dgm:pt modelId="{5C0F5AAD-A9AD-4801-B6C8-8E154317225A}">
      <dgm:prSet/>
      <dgm:spPr>
        <a:solidFill>
          <a:srgbClr val="0070C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pPr rtl="0"/>
          <a:r>
            <a:rPr lang="zh-CN" altLang="en-US" b="1" dirty="0" smtClean="0"/>
            <a:t>面向对象</a:t>
          </a:r>
          <a:endParaRPr lang="en-US" b="1" dirty="0"/>
        </a:p>
      </dgm:t>
    </dgm:pt>
    <dgm:pt modelId="{C7BC7435-F5FA-4719-A85D-476D4C80A3C3}" type="sibTrans" cxnId="{FD6625B4-A23C-481B-B40C-6261078CAC98}">
      <dgm:prSet/>
      <dgm:spPr/>
      <dgm:t>
        <a:bodyPr/>
        <a:lstStyle/>
        <a:p>
          <a:endParaRPr lang="zh-CN" altLang="en-US"/>
        </a:p>
      </dgm:t>
    </dgm:pt>
    <dgm:pt modelId="{4844BDE7-FCA3-47EC-A362-3F6C2E8B21BB}" type="parTrans" cxnId="{FD6625B4-A23C-481B-B40C-6261078CAC98}">
      <dgm:prSet/>
      <dgm:spPr/>
      <dgm:t>
        <a:bodyPr/>
        <a:lstStyle/>
        <a:p>
          <a:endParaRPr lang="zh-CN" altLang="en-US"/>
        </a:p>
      </dgm:t>
    </dgm:pt>
    <dgm:pt modelId="{6DB9B935-762C-4094-B74F-B73150BF8C2B}" type="pres">
      <dgm:prSet presAssocID="{71FBAA4C-FB82-4FE1-9B26-655B0BDC7CC8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E1823CA-C3AA-4633-8038-04EFE465FC63}" type="pres">
      <dgm:prSet presAssocID="{5C0F5AAD-A9AD-4801-B6C8-8E154317225A}" presName="centerShape" presStyleLbl="node0" presStyleIdx="0" presStyleCnt="1" custScaleX="64060" custScaleY="64060"/>
      <dgm:spPr/>
      <dgm:t>
        <a:bodyPr/>
        <a:lstStyle/>
        <a:p>
          <a:endParaRPr lang="zh-CN" altLang="en-US"/>
        </a:p>
      </dgm:t>
    </dgm:pt>
    <dgm:pt modelId="{18D7D7CE-28F4-4736-A669-0B408257C4C8}" type="pres">
      <dgm:prSet presAssocID="{230A4E08-2753-4AE3-9969-2B234C0CC492}" presName="node" presStyleLbl="node1" presStyleIdx="0" presStyleCnt="3" custScaleX="186972" custScaleY="18697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81C1C96-6924-45A6-B768-62A87EBDE244}" type="pres">
      <dgm:prSet presAssocID="{230A4E08-2753-4AE3-9969-2B234C0CC492}" presName="dummy" presStyleCnt="0"/>
      <dgm:spPr/>
    </dgm:pt>
    <dgm:pt modelId="{B55066E5-B186-4FF1-B6CE-9DBC49F67486}" type="pres">
      <dgm:prSet presAssocID="{23D4F72E-206C-47FE-8A80-6E26CC81A578}" presName="sibTrans" presStyleLbl="sibTrans2D1" presStyleIdx="0" presStyleCnt="3"/>
      <dgm:spPr/>
      <dgm:t>
        <a:bodyPr/>
        <a:lstStyle/>
        <a:p>
          <a:endParaRPr lang="zh-CN" altLang="en-US"/>
        </a:p>
      </dgm:t>
    </dgm:pt>
    <dgm:pt modelId="{84D643F2-D6EC-418E-961E-ADC035AEA1CC}" type="pres">
      <dgm:prSet presAssocID="{74573E2D-CF30-4342-9009-57D3911BFAC9}" presName="node" presStyleLbl="node1" presStyleIdx="1" presStyleCnt="3" custScaleX="186972" custScaleY="18697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338E2B1-8BCF-4DB4-9E84-3F8AB57FFF3D}" type="pres">
      <dgm:prSet presAssocID="{74573E2D-CF30-4342-9009-57D3911BFAC9}" presName="dummy" presStyleCnt="0"/>
      <dgm:spPr/>
    </dgm:pt>
    <dgm:pt modelId="{8C21D24F-6BA2-461A-BA26-8D35A8F64AA7}" type="pres">
      <dgm:prSet presAssocID="{8B875B69-7F62-4508-9698-7F3333C5A8CD}" presName="sibTrans" presStyleLbl="sibTrans2D1" presStyleIdx="1" presStyleCnt="3"/>
      <dgm:spPr/>
      <dgm:t>
        <a:bodyPr/>
        <a:lstStyle/>
        <a:p>
          <a:endParaRPr lang="zh-CN" altLang="en-US"/>
        </a:p>
      </dgm:t>
    </dgm:pt>
    <dgm:pt modelId="{680CC048-5462-4C81-A971-2A111604CD5F}" type="pres">
      <dgm:prSet presAssocID="{B24EA351-367F-4873-AEAE-1407281631A4}" presName="node" presStyleLbl="node1" presStyleIdx="2" presStyleCnt="3" custScaleX="186972" custScaleY="18697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16F9999-1AC2-48AE-B694-3D9DB4D91AF0}" type="pres">
      <dgm:prSet presAssocID="{B24EA351-367F-4873-AEAE-1407281631A4}" presName="dummy" presStyleCnt="0"/>
      <dgm:spPr/>
    </dgm:pt>
    <dgm:pt modelId="{65F29CBE-9C02-4F6D-9438-538E1C3E9712}" type="pres">
      <dgm:prSet presAssocID="{243009FA-F76E-49C1-B303-26C70438CDA9}" presName="sibTrans" presStyleLbl="sibTrans2D1" presStyleIdx="2" presStyleCnt="3"/>
      <dgm:spPr/>
      <dgm:t>
        <a:bodyPr/>
        <a:lstStyle/>
        <a:p>
          <a:endParaRPr lang="zh-CN" altLang="en-US"/>
        </a:p>
      </dgm:t>
    </dgm:pt>
  </dgm:ptLst>
  <dgm:cxnLst>
    <dgm:cxn modelId="{DBC1D11C-ECB7-4255-820F-781C6BF1FDC5}" srcId="{5C0F5AAD-A9AD-4801-B6C8-8E154317225A}" destId="{B24EA351-367F-4873-AEAE-1407281631A4}" srcOrd="2" destOrd="0" parTransId="{0B22AB28-0A7E-4F2F-B53E-8AC0B7128844}" sibTransId="{243009FA-F76E-49C1-B303-26C70438CDA9}"/>
    <dgm:cxn modelId="{82FA72E5-0761-4472-9924-630D44EAD617}" type="presOf" srcId="{71FBAA4C-FB82-4FE1-9B26-655B0BDC7CC8}" destId="{6DB9B935-762C-4094-B74F-B73150BF8C2B}" srcOrd="0" destOrd="0" presId="urn:microsoft.com/office/officeart/2005/8/layout/radial6"/>
    <dgm:cxn modelId="{BEBF78CD-F3ED-4B9C-8221-169AEF43D32B}" type="presOf" srcId="{8B875B69-7F62-4508-9698-7F3333C5A8CD}" destId="{8C21D24F-6BA2-461A-BA26-8D35A8F64AA7}" srcOrd="0" destOrd="0" presId="urn:microsoft.com/office/officeart/2005/8/layout/radial6"/>
    <dgm:cxn modelId="{43DC5C53-A92A-4121-B52B-465B2DFB5B88}" type="presOf" srcId="{243009FA-F76E-49C1-B303-26C70438CDA9}" destId="{65F29CBE-9C02-4F6D-9438-538E1C3E9712}" srcOrd="0" destOrd="0" presId="urn:microsoft.com/office/officeart/2005/8/layout/radial6"/>
    <dgm:cxn modelId="{7273D992-848A-4D21-B1A9-D016C7E614C1}" srcId="{5C0F5AAD-A9AD-4801-B6C8-8E154317225A}" destId="{230A4E08-2753-4AE3-9969-2B234C0CC492}" srcOrd="0" destOrd="0" parTransId="{92ED0E81-F299-4D04-8E5B-FEF2ADA681FA}" sibTransId="{23D4F72E-206C-47FE-8A80-6E26CC81A578}"/>
    <dgm:cxn modelId="{FD6625B4-A23C-481B-B40C-6261078CAC98}" srcId="{71FBAA4C-FB82-4FE1-9B26-655B0BDC7CC8}" destId="{5C0F5AAD-A9AD-4801-B6C8-8E154317225A}" srcOrd="0" destOrd="0" parTransId="{4844BDE7-FCA3-47EC-A362-3F6C2E8B21BB}" sibTransId="{C7BC7435-F5FA-4719-A85D-476D4C80A3C3}"/>
    <dgm:cxn modelId="{8FF1CF0A-DF24-4ACA-86CE-49E1271D29F9}" srcId="{5C0F5AAD-A9AD-4801-B6C8-8E154317225A}" destId="{74573E2D-CF30-4342-9009-57D3911BFAC9}" srcOrd="1" destOrd="0" parTransId="{310CDD7C-31E1-4819-BEB3-236204E88027}" sibTransId="{8B875B69-7F62-4508-9698-7F3333C5A8CD}"/>
    <dgm:cxn modelId="{184A69E4-AA20-468F-B885-4D8C88FCA6A5}" type="presOf" srcId="{230A4E08-2753-4AE3-9969-2B234C0CC492}" destId="{18D7D7CE-28F4-4736-A669-0B408257C4C8}" srcOrd="0" destOrd="0" presId="urn:microsoft.com/office/officeart/2005/8/layout/radial6"/>
    <dgm:cxn modelId="{8C83088D-1078-46F7-8BCB-E6A9878A8D2A}" type="presOf" srcId="{23D4F72E-206C-47FE-8A80-6E26CC81A578}" destId="{B55066E5-B186-4FF1-B6CE-9DBC49F67486}" srcOrd="0" destOrd="0" presId="urn:microsoft.com/office/officeart/2005/8/layout/radial6"/>
    <dgm:cxn modelId="{BEF66BAE-0F45-4A5F-B122-C01E174252FA}" type="presOf" srcId="{74573E2D-CF30-4342-9009-57D3911BFAC9}" destId="{84D643F2-D6EC-418E-961E-ADC035AEA1CC}" srcOrd="0" destOrd="0" presId="urn:microsoft.com/office/officeart/2005/8/layout/radial6"/>
    <dgm:cxn modelId="{2489A705-DA5B-4909-BD3C-F90BAD88BAD5}" type="presOf" srcId="{5C0F5AAD-A9AD-4801-B6C8-8E154317225A}" destId="{2E1823CA-C3AA-4633-8038-04EFE465FC63}" srcOrd="0" destOrd="0" presId="urn:microsoft.com/office/officeart/2005/8/layout/radial6"/>
    <dgm:cxn modelId="{81310835-F49A-416F-928D-A81E7229CAE1}" type="presOf" srcId="{B24EA351-367F-4873-AEAE-1407281631A4}" destId="{680CC048-5462-4C81-A971-2A111604CD5F}" srcOrd="0" destOrd="0" presId="urn:microsoft.com/office/officeart/2005/8/layout/radial6"/>
    <dgm:cxn modelId="{FB5403D2-349D-4762-B3DF-30C4138D3D6D}" type="presParOf" srcId="{6DB9B935-762C-4094-B74F-B73150BF8C2B}" destId="{2E1823CA-C3AA-4633-8038-04EFE465FC63}" srcOrd="0" destOrd="0" presId="urn:microsoft.com/office/officeart/2005/8/layout/radial6"/>
    <dgm:cxn modelId="{C80F106B-6DF3-4E09-A5A2-2C901D719C4B}" type="presParOf" srcId="{6DB9B935-762C-4094-B74F-B73150BF8C2B}" destId="{18D7D7CE-28F4-4736-A669-0B408257C4C8}" srcOrd="1" destOrd="0" presId="urn:microsoft.com/office/officeart/2005/8/layout/radial6"/>
    <dgm:cxn modelId="{C11EA96D-A77E-4B81-82C4-D7C817E69E23}" type="presParOf" srcId="{6DB9B935-762C-4094-B74F-B73150BF8C2B}" destId="{481C1C96-6924-45A6-B768-62A87EBDE244}" srcOrd="2" destOrd="0" presId="urn:microsoft.com/office/officeart/2005/8/layout/radial6"/>
    <dgm:cxn modelId="{07D74EF9-0AF8-4240-B64B-5CED78FCBDFC}" type="presParOf" srcId="{6DB9B935-762C-4094-B74F-B73150BF8C2B}" destId="{B55066E5-B186-4FF1-B6CE-9DBC49F67486}" srcOrd="3" destOrd="0" presId="urn:microsoft.com/office/officeart/2005/8/layout/radial6"/>
    <dgm:cxn modelId="{00601FCA-4BE0-488A-96E5-238E343672E9}" type="presParOf" srcId="{6DB9B935-762C-4094-B74F-B73150BF8C2B}" destId="{84D643F2-D6EC-418E-961E-ADC035AEA1CC}" srcOrd="4" destOrd="0" presId="urn:microsoft.com/office/officeart/2005/8/layout/radial6"/>
    <dgm:cxn modelId="{A202D93B-CC4B-4586-9418-91F78539F483}" type="presParOf" srcId="{6DB9B935-762C-4094-B74F-B73150BF8C2B}" destId="{7338E2B1-8BCF-4DB4-9E84-3F8AB57FFF3D}" srcOrd="5" destOrd="0" presId="urn:microsoft.com/office/officeart/2005/8/layout/radial6"/>
    <dgm:cxn modelId="{AE7CE78B-20B0-466C-9997-2628D78C1A65}" type="presParOf" srcId="{6DB9B935-762C-4094-B74F-B73150BF8C2B}" destId="{8C21D24F-6BA2-461A-BA26-8D35A8F64AA7}" srcOrd="6" destOrd="0" presId="urn:microsoft.com/office/officeart/2005/8/layout/radial6"/>
    <dgm:cxn modelId="{249D0359-5882-4068-B4A1-2E6A58D4285D}" type="presParOf" srcId="{6DB9B935-762C-4094-B74F-B73150BF8C2B}" destId="{680CC048-5462-4C81-A971-2A111604CD5F}" srcOrd="7" destOrd="0" presId="urn:microsoft.com/office/officeart/2005/8/layout/radial6"/>
    <dgm:cxn modelId="{DEEEBD69-DF57-47E4-8FB2-874A9B354A5B}" type="presParOf" srcId="{6DB9B935-762C-4094-B74F-B73150BF8C2B}" destId="{F16F9999-1AC2-48AE-B694-3D9DB4D91AF0}" srcOrd="8" destOrd="0" presId="urn:microsoft.com/office/officeart/2005/8/layout/radial6"/>
    <dgm:cxn modelId="{9C41DB27-CBE5-4BF3-8D16-25916FA27580}" type="presParOf" srcId="{6DB9B935-762C-4094-B74F-B73150BF8C2B}" destId="{65F29CBE-9C02-4F6D-9438-538E1C3E9712}" srcOrd="9" destOrd="0" presId="urn:microsoft.com/office/officeart/2005/8/layout/radial6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0366BD-F8B0-4CF3-B0E6-2ECE342DD0AF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BB4098BB-69E2-4EDD-9518-CA8D70A1C0D7}">
      <dgm:prSet phldrT="[文本]" custT="1"/>
      <dgm:spPr/>
      <dgm:t>
        <a:bodyPr/>
        <a:lstStyle/>
        <a:p>
          <a:r>
            <a:rPr lang="zh-CN" altLang="en-US" sz="1600" b="1" dirty="0" smtClean="0"/>
            <a:t>定义类</a:t>
          </a:r>
          <a:endParaRPr lang="zh-CN" altLang="en-US" sz="1600" b="1" dirty="0"/>
        </a:p>
      </dgm:t>
    </dgm:pt>
    <dgm:pt modelId="{DDB0C655-4E60-499E-9345-E9949DC98636}" type="parTrans" cxnId="{C074BC2C-142C-4C93-A0FC-97605945E9BF}">
      <dgm:prSet/>
      <dgm:spPr/>
      <dgm:t>
        <a:bodyPr/>
        <a:lstStyle/>
        <a:p>
          <a:endParaRPr lang="zh-CN" altLang="en-US" sz="1600" b="1"/>
        </a:p>
      </dgm:t>
    </dgm:pt>
    <dgm:pt modelId="{189F42F8-1237-41DE-9F7D-CA607756A6E9}" type="sibTrans" cxnId="{C074BC2C-142C-4C93-A0FC-97605945E9BF}">
      <dgm:prSet/>
      <dgm:spPr/>
      <dgm:t>
        <a:bodyPr/>
        <a:lstStyle/>
        <a:p>
          <a:endParaRPr lang="zh-CN" altLang="en-US" sz="1600" b="1"/>
        </a:p>
      </dgm:t>
    </dgm:pt>
    <dgm:pt modelId="{807C9EDB-6F0F-416C-B1BC-60A0CC552C42}">
      <dgm:prSet custT="1"/>
      <dgm:spPr/>
      <dgm:t>
        <a:bodyPr/>
        <a:lstStyle/>
        <a:p>
          <a:r>
            <a:rPr lang="zh-CN" altLang="en-US" sz="1600" b="1" dirty="0" smtClean="0"/>
            <a:t>创建类的对象</a:t>
          </a:r>
        </a:p>
      </dgm:t>
    </dgm:pt>
    <dgm:pt modelId="{CCF8280F-E3BE-4369-8EF0-D615F45346DA}" type="parTrans" cxnId="{B24A63CD-00F2-401C-A231-01C7AC390948}">
      <dgm:prSet/>
      <dgm:spPr/>
      <dgm:t>
        <a:bodyPr/>
        <a:lstStyle/>
        <a:p>
          <a:endParaRPr lang="zh-CN" altLang="en-US" sz="1600" b="1"/>
        </a:p>
      </dgm:t>
    </dgm:pt>
    <dgm:pt modelId="{0A8F922A-DC1A-458C-BC64-B5D23C0ACCB9}" type="sibTrans" cxnId="{B24A63CD-00F2-401C-A231-01C7AC390948}">
      <dgm:prSet/>
      <dgm:spPr/>
      <dgm:t>
        <a:bodyPr/>
        <a:lstStyle/>
        <a:p>
          <a:endParaRPr lang="zh-CN" altLang="en-US" sz="1600" b="1"/>
        </a:p>
      </dgm:t>
    </dgm:pt>
    <dgm:pt modelId="{461B28AF-39C0-4751-AE25-6212445F4411}">
      <dgm:prSet custT="1"/>
      <dgm:spPr/>
      <dgm:t>
        <a:bodyPr/>
        <a:lstStyle/>
        <a:p>
          <a:r>
            <a:rPr lang="zh-CN" altLang="en-US" sz="1600" b="1" dirty="0" smtClean="0"/>
            <a:t>使用类的属性和方法</a:t>
          </a:r>
        </a:p>
      </dgm:t>
    </dgm:pt>
    <dgm:pt modelId="{723280E0-E0B7-4824-8264-227DAA9DF066}" type="parTrans" cxnId="{965C2E35-94CC-4D99-98DD-256F8C9EA9C4}">
      <dgm:prSet/>
      <dgm:spPr/>
      <dgm:t>
        <a:bodyPr/>
        <a:lstStyle/>
        <a:p>
          <a:endParaRPr lang="zh-CN" altLang="en-US" sz="1600" b="1"/>
        </a:p>
      </dgm:t>
    </dgm:pt>
    <dgm:pt modelId="{A61B782A-D300-465E-BC87-8C4A63E93C65}" type="sibTrans" cxnId="{965C2E35-94CC-4D99-98DD-256F8C9EA9C4}">
      <dgm:prSet/>
      <dgm:spPr/>
      <dgm:t>
        <a:bodyPr/>
        <a:lstStyle/>
        <a:p>
          <a:endParaRPr lang="zh-CN" altLang="en-US" sz="1600" b="1"/>
        </a:p>
      </dgm:t>
    </dgm:pt>
    <dgm:pt modelId="{09DCE166-CE72-4432-BD85-31D27F586D80}">
      <dgm:prSet phldrT="[文本]" custT="1"/>
      <dgm:spPr/>
      <dgm:t>
        <a:bodyPr/>
        <a:lstStyle/>
        <a:p>
          <a:r>
            <a:rPr lang="zh-CN" altLang="en-US" sz="1600" b="1" smtClean="0"/>
            <a:t>使用</a:t>
          </a:r>
          <a:r>
            <a:rPr lang="zh-CN" altLang="en-US" sz="1600" b="1" dirty="0" smtClean="0"/>
            <a:t>关键字</a:t>
          </a:r>
          <a:r>
            <a:rPr lang="en-US" altLang="zh-CN" sz="1600" b="1" dirty="0" smtClean="0"/>
            <a:t>class</a:t>
          </a:r>
          <a:endParaRPr lang="zh-CN" altLang="en-US" sz="1600" b="1" dirty="0"/>
        </a:p>
      </dgm:t>
    </dgm:pt>
    <dgm:pt modelId="{A13EDA31-943A-43ED-A961-D0391D8E2046}" type="parTrans" cxnId="{3F24B525-6B1E-478B-B416-E54F77FA31AF}">
      <dgm:prSet/>
      <dgm:spPr/>
      <dgm:t>
        <a:bodyPr/>
        <a:lstStyle/>
        <a:p>
          <a:endParaRPr lang="zh-CN" altLang="en-US" sz="1600" b="1"/>
        </a:p>
      </dgm:t>
    </dgm:pt>
    <dgm:pt modelId="{44CDAAC8-D4E3-4332-8533-0E1694A15F11}" type="sibTrans" cxnId="{3F24B525-6B1E-478B-B416-E54F77FA31AF}">
      <dgm:prSet/>
      <dgm:spPr/>
      <dgm:t>
        <a:bodyPr/>
        <a:lstStyle/>
        <a:p>
          <a:endParaRPr lang="zh-CN" altLang="en-US" sz="1600" b="1"/>
        </a:p>
      </dgm:t>
    </dgm:pt>
    <dgm:pt modelId="{8CBABF32-D615-4570-8D53-A854BC5DE63E}">
      <dgm:prSet custT="1"/>
      <dgm:spPr/>
      <dgm:t>
        <a:bodyPr/>
        <a:lstStyle/>
        <a:p>
          <a:r>
            <a:rPr lang="zh-CN" altLang="en-US" sz="1600" b="1" smtClean="0"/>
            <a:t>使用</a:t>
          </a:r>
          <a:r>
            <a:rPr lang="zh-CN" altLang="en-US" sz="1600" b="1" dirty="0" smtClean="0"/>
            <a:t>关键字</a:t>
          </a:r>
          <a:r>
            <a:rPr lang="en-US" altLang="zh-CN" sz="1600" b="1" dirty="0" smtClean="0"/>
            <a:t>new</a:t>
          </a:r>
          <a:endParaRPr lang="zh-CN" altLang="en-US" sz="1600" b="1" dirty="0" smtClean="0"/>
        </a:p>
      </dgm:t>
    </dgm:pt>
    <dgm:pt modelId="{AF9D2D8E-33C8-4E9B-94E5-D3B6DD17313F}" type="parTrans" cxnId="{28CE8F3B-8BF1-439B-B775-0DC06E44AD26}">
      <dgm:prSet/>
      <dgm:spPr/>
      <dgm:t>
        <a:bodyPr/>
        <a:lstStyle/>
        <a:p>
          <a:endParaRPr lang="zh-CN" altLang="en-US" sz="1600" b="1"/>
        </a:p>
      </dgm:t>
    </dgm:pt>
    <dgm:pt modelId="{04EB96CE-E623-4D70-919B-0454BB2C21E5}" type="sibTrans" cxnId="{28CE8F3B-8BF1-439B-B775-0DC06E44AD26}">
      <dgm:prSet/>
      <dgm:spPr/>
      <dgm:t>
        <a:bodyPr/>
        <a:lstStyle/>
        <a:p>
          <a:endParaRPr lang="zh-CN" altLang="en-US" sz="1600" b="1"/>
        </a:p>
      </dgm:t>
    </dgm:pt>
    <dgm:pt modelId="{00D1E2EF-F0D9-47D7-95EA-127FB38B87C8}">
      <dgm:prSet custT="1"/>
      <dgm:spPr/>
      <dgm:t>
        <a:bodyPr/>
        <a:lstStyle/>
        <a:p>
          <a:r>
            <a:rPr lang="zh-CN" altLang="en-US" sz="1600" b="1" smtClean="0"/>
            <a:t>使用</a:t>
          </a:r>
          <a:r>
            <a:rPr lang="zh-CN" altLang="en-US" sz="1600" b="1" dirty="0" smtClean="0"/>
            <a:t>“</a:t>
          </a:r>
          <a:r>
            <a:rPr lang="en-US" altLang="zh-CN" sz="1600" b="1" dirty="0" smtClean="0"/>
            <a:t>.</a:t>
          </a:r>
          <a:r>
            <a:rPr lang="zh-CN" altLang="en-US" sz="1600" b="1" dirty="0" smtClean="0"/>
            <a:t>”操作符</a:t>
          </a:r>
        </a:p>
      </dgm:t>
    </dgm:pt>
    <dgm:pt modelId="{BD7A9D37-C7A2-4B2F-BF1D-FDEDB8E25495}" type="parTrans" cxnId="{0D38A9A2-A35E-4F60-915A-34EF905450E7}">
      <dgm:prSet/>
      <dgm:spPr/>
      <dgm:t>
        <a:bodyPr/>
        <a:lstStyle/>
        <a:p>
          <a:endParaRPr lang="zh-CN" altLang="en-US" sz="1600" b="1"/>
        </a:p>
      </dgm:t>
    </dgm:pt>
    <dgm:pt modelId="{C5064A00-03C5-490D-A275-1E89209C48CD}" type="sibTrans" cxnId="{0D38A9A2-A35E-4F60-915A-34EF905450E7}">
      <dgm:prSet/>
      <dgm:spPr/>
      <dgm:t>
        <a:bodyPr/>
        <a:lstStyle/>
        <a:p>
          <a:endParaRPr lang="zh-CN" altLang="en-US" sz="1600" b="1"/>
        </a:p>
      </dgm:t>
    </dgm:pt>
    <dgm:pt modelId="{FC533BAF-BA17-4A90-AE68-9C21D9B3DDB7}" type="pres">
      <dgm:prSet presAssocID="{BC0366BD-F8B0-4CF3-B0E6-2ECE342DD0A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87907B34-E2D4-4E69-BA23-1B1786696DB8}" type="pres">
      <dgm:prSet presAssocID="{461B28AF-39C0-4751-AE25-6212445F4411}" presName="boxAndChildren" presStyleCnt="0"/>
      <dgm:spPr/>
    </dgm:pt>
    <dgm:pt modelId="{391E0852-579D-4188-BB7D-4873EDE86014}" type="pres">
      <dgm:prSet presAssocID="{461B28AF-39C0-4751-AE25-6212445F4411}" presName="parentTextBox" presStyleLbl="node1" presStyleIdx="0" presStyleCnt="3"/>
      <dgm:spPr/>
      <dgm:t>
        <a:bodyPr/>
        <a:lstStyle/>
        <a:p>
          <a:endParaRPr lang="zh-CN" altLang="en-US"/>
        </a:p>
      </dgm:t>
    </dgm:pt>
    <dgm:pt modelId="{45456077-BFB9-4FBF-AF24-7D26C88FE6B3}" type="pres">
      <dgm:prSet presAssocID="{461B28AF-39C0-4751-AE25-6212445F4411}" presName="entireBox" presStyleLbl="node1" presStyleIdx="0" presStyleCnt="3"/>
      <dgm:spPr/>
      <dgm:t>
        <a:bodyPr/>
        <a:lstStyle/>
        <a:p>
          <a:endParaRPr lang="zh-CN" altLang="en-US"/>
        </a:p>
      </dgm:t>
    </dgm:pt>
    <dgm:pt modelId="{1819A335-E3BE-46AD-9049-1B77E4084512}" type="pres">
      <dgm:prSet presAssocID="{461B28AF-39C0-4751-AE25-6212445F4411}" presName="descendantBox" presStyleCnt="0"/>
      <dgm:spPr/>
    </dgm:pt>
    <dgm:pt modelId="{F2F27047-5E26-4CF7-A144-96235450205C}" type="pres">
      <dgm:prSet presAssocID="{00D1E2EF-F0D9-47D7-95EA-127FB38B87C8}" presName="childTextBox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32A5511-6AF5-49A2-80A0-E423BF4B7BCF}" type="pres">
      <dgm:prSet presAssocID="{0A8F922A-DC1A-458C-BC64-B5D23C0ACCB9}" presName="sp" presStyleCnt="0"/>
      <dgm:spPr/>
    </dgm:pt>
    <dgm:pt modelId="{0DBD0C19-AB50-4491-9261-3C1A568DE183}" type="pres">
      <dgm:prSet presAssocID="{807C9EDB-6F0F-416C-B1BC-60A0CC552C42}" presName="arrowAndChildren" presStyleCnt="0"/>
      <dgm:spPr/>
    </dgm:pt>
    <dgm:pt modelId="{AAC8F192-A317-42ED-8F36-EA43FC26330A}" type="pres">
      <dgm:prSet presAssocID="{807C9EDB-6F0F-416C-B1BC-60A0CC552C42}" presName="parentTextArrow" presStyleLbl="node1" presStyleIdx="0" presStyleCnt="3"/>
      <dgm:spPr/>
      <dgm:t>
        <a:bodyPr/>
        <a:lstStyle/>
        <a:p>
          <a:endParaRPr lang="zh-CN" altLang="en-US"/>
        </a:p>
      </dgm:t>
    </dgm:pt>
    <dgm:pt modelId="{9A87FF8C-FDE6-4E95-9883-12096CCD0B07}" type="pres">
      <dgm:prSet presAssocID="{807C9EDB-6F0F-416C-B1BC-60A0CC552C42}" presName="arrow" presStyleLbl="node1" presStyleIdx="1" presStyleCnt="3"/>
      <dgm:spPr/>
      <dgm:t>
        <a:bodyPr/>
        <a:lstStyle/>
        <a:p>
          <a:endParaRPr lang="zh-CN" altLang="en-US"/>
        </a:p>
      </dgm:t>
    </dgm:pt>
    <dgm:pt modelId="{528865F8-1AD6-4ACA-9180-E99E55C76330}" type="pres">
      <dgm:prSet presAssocID="{807C9EDB-6F0F-416C-B1BC-60A0CC552C42}" presName="descendantArrow" presStyleCnt="0"/>
      <dgm:spPr/>
    </dgm:pt>
    <dgm:pt modelId="{36A188B3-0D76-41E5-B04C-1367DB7C5183}" type="pres">
      <dgm:prSet presAssocID="{8CBABF32-D615-4570-8D53-A854BC5DE63E}" presName="childTextArrow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76003F-CCEF-419E-8598-FEB46345375E}" type="pres">
      <dgm:prSet presAssocID="{189F42F8-1237-41DE-9F7D-CA607756A6E9}" presName="sp" presStyleCnt="0"/>
      <dgm:spPr/>
    </dgm:pt>
    <dgm:pt modelId="{D87D664E-130B-4389-A9A1-AED73A2A8FD6}" type="pres">
      <dgm:prSet presAssocID="{BB4098BB-69E2-4EDD-9518-CA8D70A1C0D7}" presName="arrowAndChildren" presStyleCnt="0"/>
      <dgm:spPr/>
    </dgm:pt>
    <dgm:pt modelId="{2E9C4E1B-94CC-425F-932F-44C0C5C7F1B5}" type="pres">
      <dgm:prSet presAssocID="{BB4098BB-69E2-4EDD-9518-CA8D70A1C0D7}" presName="parentTextArrow" presStyleLbl="node1" presStyleIdx="1" presStyleCnt="3"/>
      <dgm:spPr/>
      <dgm:t>
        <a:bodyPr/>
        <a:lstStyle/>
        <a:p>
          <a:endParaRPr lang="zh-CN" altLang="en-US"/>
        </a:p>
      </dgm:t>
    </dgm:pt>
    <dgm:pt modelId="{17CB8C3F-A376-492F-98C3-3C98F0D24008}" type="pres">
      <dgm:prSet presAssocID="{BB4098BB-69E2-4EDD-9518-CA8D70A1C0D7}" presName="arrow" presStyleLbl="node1" presStyleIdx="2" presStyleCnt="3"/>
      <dgm:spPr/>
      <dgm:t>
        <a:bodyPr/>
        <a:lstStyle/>
        <a:p>
          <a:endParaRPr lang="zh-CN" altLang="en-US"/>
        </a:p>
      </dgm:t>
    </dgm:pt>
    <dgm:pt modelId="{2069049A-BABE-49DA-8243-702CBE0B0910}" type="pres">
      <dgm:prSet presAssocID="{BB4098BB-69E2-4EDD-9518-CA8D70A1C0D7}" presName="descendantArrow" presStyleCnt="0"/>
      <dgm:spPr/>
    </dgm:pt>
    <dgm:pt modelId="{A1FD9E04-D2C0-4A28-8063-295E1EE40BDD}" type="pres">
      <dgm:prSet presAssocID="{09DCE166-CE72-4432-BD85-31D27F586D80}" presName="childTextArrow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F9507E4-E228-4881-B916-2A2BED814C30}" type="presOf" srcId="{09DCE166-CE72-4432-BD85-31D27F586D80}" destId="{A1FD9E04-D2C0-4A28-8063-295E1EE40BDD}" srcOrd="0" destOrd="0" presId="urn:microsoft.com/office/officeart/2005/8/layout/process4"/>
    <dgm:cxn modelId="{B24A63CD-00F2-401C-A231-01C7AC390948}" srcId="{BC0366BD-F8B0-4CF3-B0E6-2ECE342DD0AF}" destId="{807C9EDB-6F0F-416C-B1BC-60A0CC552C42}" srcOrd="1" destOrd="0" parTransId="{CCF8280F-E3BE-4369-8EF0-D615F45346DA}" sibTransId="{0A8F922A-DC1A-458C-BC64-B5D23C0ACCB9}"/>
    <dgm:cxn modelId="{DE5038EB-2FC4-45CB-B53E-60BDF6FE4B01}" type="presOf" srcId="{BC0366BD-F8B0-4CF3-B0E6-2ECE342DD0AF}" destId="{FC533BAF-BA17-4A90-AE68-9C21D9B3DDB7}" srcOrd="0" destOrd="0" presId="urn:microsoft.com/office/officeart/2005/8/layout/process4"/>
    <dgm:cxn modelId="{65CA3584-9AAC-426F-88F4-1F0A7A275022}" type="presOf" srcId="{807C9EDB-6F0F-416C-B1BC-60A0CC552C42}" destId="{9A87FF8C-FDE6-4E95-9883-12096CCD0B07}" srcOrd="1" destOrd="0" presId="urn:microsoft.com/office/officeart/2005/8/layout/process4"/>
    <dgm:cxn modelId="{28CE8F3B-8BF1-439B-B775-0DC06E44AD26}" srcId="{807C9EDB-6F0F-416C-B1BC-60A0CC552C42}" destId="{8CBABF32-D615-4570-8D53-A854BC5DE63E}" srcOrd="0" destOrd="0" parTransId="{AF9D2D8E-33C8-4E9B-94E5-D3B6DD17313F}" sibTransId="{04EB96CE-E623-4D70-919B-0454BB2C21E5}"/>
    <dgm:cxn modelId="{3F24B525-6B1E-478B-B416-E54F77FA31AF}" srcId="{BB4098BB-69E2-4EDD-9518-CA8D70A1C0D7}" destId="{09DCE166-CE72-4432-BD85-31D27F586D80}" srcOrd="0" destOrd="0" parTransId="{A13EDA31-943A-43ED-A961-D0391D8E2046}" sibTransId="{44CDAAC8-D4E3-4332-8533-0E1694A15F11}"/>
    <dgm:cxn modelId="{965C2E35-94CC-4D99-98DD-256F8C9EA9C4}" srcId="{BC0366BD-F8B0-4CF3-B0E6-2ECE342DD0AF}" destId="{461B28AF-39C0-4751-AE25-6212445F4411}" srcOrd="2" destOrd="0" parTransId="{723280E0-E0B7-4824-8264-227DAA9DF066}" sibTransId="{A61B782A-D300-465E-BC87-8C4A63E93C65}"/>
    <dgm:cxn modelId="{554BD282-0C0D-4B8F-8E30-83AACAD259D4}" type="presOf" srcId="{807C9EDB-6F0F-416C-B1BC-60A0CC552C42}" destId="{AAC8F192-A317-42ED-8F36-EA43FC26330A}" srcOrd="0" destOrd="0" presId="urn:microsoft.com/office/officeart/2005/8/layout/process4"/>
    <dgm:cxn modelId="{DDA1B328-98D8-4993-A1B3-0248321C53AC}" type="presOf" srcId="{461B28AF-39C0-4751-AE25-6212445F4411}" destId="{391E0852-579D-4188-BB7D-4873EDE86014}" srcOrd="0" destOrd="0" presId="urn:microsoft.com/office/officeart/2005/8/layout/process4"/>
    <dgm:cxn modelId="{FE5F7AA6-FEDE-49FB-A312-6829FD5162BB}" type="presOf" srcId="{BB4098BB-69E2-4EDD-9518-CA8D70A1C0D7}" destId="{17CB8C3F-A376-492F-98C3-3C98F0D24008}" srcOrd="1" destOrd="0" presId="urn:microsoft.com/office/officeart/2005/8/layout/process4"/>
    <dgm:cxn modelId="{3FEF4A2F-688E-4B7F-BBAB-DBAB4FA2CD4F}" type="presOf" srcId="{00D1E2EF-F0D9-47D7-95EA-127FB38B87C8}" destId="{F2F27047-5E26-4CF7-A144-96235450205C}" srcOrd="0" destOrd="0" presId="urn:microsoft.com/office/officeart/2005/8/layout/process4"/>
    <dgm:cxn modelId="{F8C27868-5E87-4092-899C-F21E5AE0DE01}" type="presOf" srcId="{BB4098BB-69E2-4EDD-9518-CA8D70A1C0D7}" destId="{2E9C4E1B-94CC-425F-932F-44C0C5C7F1B5}" srcOrd="0" destOrd="0" presId="urn:microsoft.com/office/officeart/2005/8/layout/process4"/>
    <dgm:cxn modelId="{C074BC2C-142C-4C93-A0FC-97605945E9BF}" srcId="{BC0366BD-F8B0-4CF3-B0E6-2ECE342DD0AF}" destId="{BB4098BB-69E2-4EDD-9518-CA8D70A1C0D7}" srcOrd="0" destOrd="0" parTransId="{DDB0C655-4E60-499E-9345-E9949DC98636}" sibTransId="{189F42F8-1237-41DE-9F7D-CA607756A6E9}"/>
    <dgm:cxn modelId="{0D38A9A2-A35E-4F60-915A-34EF905450E7}" srcId="{461B28AF-39C0-4751-AE25-6212445F4411}" destId="{00D1E2EF-F0D9-47D7-95EA-127FB38B87C8}" srcOrd="0" destOrd="0" parTransId="{BD7A9D37-C7A2-4B2F-BF1D-FDEDB8E25495}" sibTransId="{C5064A00-03C5-490D-A275-1E89209C48CD}"/>
    <dgm:cxn modelId="{BA5DA27C-791C-43EE-ADF5-3F2A02E66947}" type="presOf" srcId="{461B28AF-39C0-4751-AE25-6212445F4411}" destId="{45456077-BFB9-4FBF-AF24-7D26C88FE6B3}" srcOrd="1" destOrd="0" presId="urn:microsoft.com/office/officeart/2005/8/layout/process4"/>
    <dgm:cxn modelId="{4BC17D13-CB85-40B1-8DE0-7038AC2DCDD7}" type="presOf" srcId="{8CBABF32-D615-4570-8D53-A854BC5DE63E}" destId="{36A188B3-0D76-41E5-B04C-1367DB7C5183}" srcOrd="0" destOrd="0" presId="urn:microsoft.com/office/officeart/2005/8/layout/process4"/>
    <dgm:cxn modelId="{2BCE85C4-B922-4AD1-809C-44B0DFF82B62}" type="presParOf" srcId="{FC533BAF-BA17-4A90-AE68-9C21D9B3DDB7}" destId="{87907B34-E2D4-4E69-BA23-1B1786696DB8}" srcOrd="0" destOrd="0" presId="urn:microsoft.com/office/officeart/2005/8/layout/process4"/>
    <dgm:cxn modelId="{49202BBD-D937-4472-95FA-5C196BEE71A9}" type="presParOf" srcId="{87907B34-E2D4-4E69-BA23-1B1786696DB8}" destId="{391E0852-579D-4188-BB7D-4873EDE86014}" srcOrd="0" destOrd="0" presId="urn:microsoft.com/office/officeart/2005/8/layout/process4"/>
    <dgm:cxn modelId="{E3A59468-79DC-4EEF-BBAC-301371009DEF}" type="presParOf" srcId="{87907B34-E2D4-4E69-BA23-1B1786696DB8}" destId="{45456077-BFB9-4FBF-AF24-7D26C88FE6B3}" srcOrd="1" destOrd="0" presId="urn:microsoft.com/office/officeart/2005/8/layout/process4"/>
    <dgm:cxn modelId="{9B262766-33A9-4951-8046-0890582BE09D}" type="presParOf" srcId="{87907B34-E2D4-4E69-BA23-1B1786696DB8}" destId="{1819A335-E3BE-46AD-9049-1B77E4084512}" srcOrd="2" destOrd="0" presId="urn:microsoft.com/office/officeart/2005/8/layout/process4"/>
    <dgm:cxn modelId="{118F34A6-1FB3-494F-9A6A-8E4957867ACA}" type="presParOf" srcId="{1819A335-E3BE-46AD-9049-1B77E4084512}" destId="{F2F27047-5E26-4CF7-A144-96235450205C}" srcOrd="0" destOrd="0" presId="urn:microsoft.com/office/officeart/2005/8/layout/process4"/>
    <dgm:cxn modelId="{4BB46F61-7B22-49C4-BC70-9F7F38A72C1E}" type="presParOf" srcId="{FC533BAF-BA17-4A90-AE68-9C21D9B3DDB7}" destId="{E32A5511-6AF5-49A2-80A0-E423BF4B7BCF}" srcOrd="1" destOrd="0" presId="urn:microsoft.com/office/officeart/2005/8/layout/process4"/>
    <dgm:cxn modelId="{33C0B871-7F39-4F9A-9F61-839B235C2444}" type="presParOf" srcId="{FC533BAF-BA17-4A90-AE68-9C21D9B3DDB7}" destId="{0DBD0C19-AB50-4491-9261-3C1A568DE183}" srcOrd="2" destOrd="0" presId="urn:microsoft.com/office/officeart/2005/8/layout/process4"/>
    <dgm:cxn modelId="{39E76EB1-FF29-41BA-8C06-ADAED12C9439}" type="presParOf" srcId="{0DBD0C19-AB50-4491-9261-3C1A568DE183}" destId="{AAC8F192-A317-42ED-8F36-EA43FC26330A}" srcOrd="0" destOrd="0" presId="urn:microsoft.com/office/officeart/2005/8/layout/process4"/>
    <dgm:cxn modelId="{2D5027D4-4C1E-4309-BC33-0F04F7740D20}" type="presParOf" srcId="{0DBD0C19-AB50-4491-9261-3C1A568DE183}" destId="{9A87FF8C-FDE6-4E95-9883-12096CCD0B07}" srcOrd="1" destOrd="0" presId="urn:microsoft.com/office/officeart/2005/8/layout/process4"/>
    <dgm:cxn modelId="{F270BB2E-F04F-4128-AA8F-70A6D8F1957B}" type="presParOf" srcId="{0DBD0C19-AB50-4491-9261-3C1A568DE183}" destId="{528865F8-1AD6-4ACA-9180-E99E55C76330}" srcOrd="2" destOrd="0" presId="urn:microsoft.com/office/officeart/2005/8/layout/process4"/>
    <dgm:cxn modelId="{512596C5-A2EF-4E74-835A-667AE04B91CB}" type="presParOf" srcId="{528865F8-1AD6-4ACA-9180-E99E55C76330}" destId="{36A188B3-0D76-41E5-B04C-1367DB7C5183}" srcOrd="0" destOrd="0" presId="urn:microsoft.com/office/officeart/2005/8/layout/process4"/>
    <dgm:cxn modelId="{679D836A-DFE7-4D8E-8D86-5002596FBADE}" type="presParOf" srcId="{FC533BAF-BA17-4A90-AE68-9C21D9B3DDB7}" destId="{2976003F-CCEF-419E-8598-FEB46345375E}" srcOrd="3" destOrd="0" presId="urn:microsoft.com/office/officeart/2005/8/layout/process4"/>
    <dgm:cxn modelId="{E32578E3-3D43-4C25-93D2-BA69D6E79A9F}" type="presParOf" srcId="{FC533BAF-BA17-4A90-AE68-9C21D9B3DDB7}" destId="{D87D664E-130B-4389-A9A1-AED73A2A8FD6}" srcOrd="4" destOrd="0" presId="urn:microsoft.com/office/officeart/2005/8/layout/process4"/>
    <dgm:cxn modelId="{080BDB0F-E0F1-4F2D-8999-7DD1D913BDF2}" type="presParOf" srcId="{D87D664E-130B-4389-A9A1-AED73A2A8FD6}" destId="{2E9C4E1B-94CC-425F-932F-44C0C5C7F1B5}" srcOrd="0" destOrd="0" presId="urn:microsoft.com/office/officeart/2005/8/layout/process4"/>
    <dgm:cxn modelId="{DA620B7D-715F-4BA3-8298-6A42D5426E57}" type="presParOf" srcId="{D87D664E-130B-4389-A9A1-AED73A2A8FD6}" destId="{17CB8C3F-A376-492F-98C3-3C98F0D24008}" srcOrd="1" destOrd="0" presId="urn:microsoft.com/office/officeart/2005/8/layout/process4"/>
    <dgm:cxn modelId="{0B805FA1-5401-4A17-ACC2-6E08871FDE66}" type="presParOf" srcId="{D87D664E-130B-4389-A9A1-AED73A2A8FD6}" destId="{2069049A-BABE-49DA-8243-702CBE0B0910}" srcOrd="2" destOrd="0" presId="urn:microsoft.com/office/officeart/2005/8/layout/process4"/>
    <dgm:cxn modelId="{850EC432-9F8D-4CAF-800D-F3DA30CB54D6}" type="presParOf" srcId="{2069049A-BABE-49DA-8243-702CBE0B0910}" destId="{A1FD9E04-D2C0-4A28-8063-295E1EE40BDD}" srcOrd="0" destOrd="0" presId="urn:microsoft.com/office/officeart/2005/8/layout/process4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5B3497-F806-4732-BDBB-75C832824117}">
      <dsp:nvSpPr>
        <dsp:cNvPr id="0" name=""/>
        <dsp:cNvSpPr/>
      </dsp:nvSpPr>
      <dsp:spPr>
        <a:xfrm>
          <a:off x="6719" y="1147708"/>
          <a:ext cx="2008410" cy="1205046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000" b="0" kern="1200" dirty="0" smtClean="0"/>
            <a:t>定义类名</a:t>
          </a:r>
          <a:endParaRPr lang="en-US" sz="3000" b="0" kern="1200" dirty="0"/>
        </a:p>
      </dsp:txBody>
      <dsp:txXfrm>
        <a:off x="42014" y="1183003"/>
        <a:ext cx="1937820" cy="1134456"/>
      </dsp:txXfrm>
    </dsp:sp>
    <dsp:sp modelId="{C654CC4A-3654-48B0-AFEF-E1767C56F769}">
      <dsp:nvSpPr>
        <dsp:cNvPr id="0" name=""/>
        <dsp:cNvSpPr/>
      </dsp:nvSpPr>
      <dsp:spPr>
        <a:xfrm>
          <a:off x="2215970" y="1501188"/>
          <a:ext cx="425782" cy="498085"/>
        </a:xfrm>
        <a:prstGeom prst="rightArrow">
          <a:avLst>
            <a:gd name="adj1" fmla="val 60000"/>
            <a:gd name="adj2" fmla="val 50000"/>
          </a:avLst>
        </a:prstGeom>
        <a:solidFill>
          <a:srgbClr val="0070C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200" kern="1200"/>
        </a:p>
      </dsp:txBody>
      <dsp:txXfrm>
        <a:off x="2215970" y="1600805"/>
        <a:ext cx="298047" cy="298851"/>
      </dsp:txXfrm>
    </dsp:sp>
    <dsp:sp modelId="{0910197F-1359-491F-9AFF-6D84CABE9A7A}">
      <dsp:nvSpPr>
        <dsp:cNvPr id="0" name=""/>
        <dsp:cNvSpPr/>
      </dsp:nvSpPr>
      <dsp:spPr>
        <a:xfrm>
          <a:off x="2818493" y="1147708"/>
          <a:ext cx="2008410" cy="1205046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000" b="0" kern="1200" dirty="0" smtClean="0"/>
            <a:t>编写类的属性</a:t>
          </a:r>
          <a:endParaRPr lang="en-US" altLang="en-US" sz="3000" b="0" kern="1200" dirty="0"/>
        </a:p>
      </dsp:txBody>
      <dsp:txXfrm>
        <a:off x="2853788" y="1183003"/>
        <a:ext cx="1937820" cy="1134456"/>
      </dsp:txXfrm>
    </dsp:sp>
    <dsp:sp modelId="{4EE034EE-E5B1-481C-A812-B46CF0F3FFBE}">
      <dsp:nvSpPr>
        <dsp:cNvPr id="0" name=""/>
        <dsp:cNvSpPr/>
      </dsp:nvSpPr>
      <dsp:spPr>
        <a:xfrm>
          <a:off x="5027745" y="1501188"/>
          <a:ext cx="425782" cy="498085"/>
        </a:xfrm>
        <a:prstGeom prst="rightArrow">
          <a:avLst>
            <a:gd name="adj1" fmla="val 60000"/>
            <a:gd name="adj2" fmla="val 50000"/>
          </a:avLst>
        </a:prstGeom>
        <a:solidFill>
          <a:srgbClr val="0070C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200" kern="1200"/>
        </a:p>
      </dsp:txBody>
      <dsp:txXfrm>
        <a:off x="5027745" y="1600805"/>
        <a:ext cx="298047" cy="298851"/>
      </dsp:txXfrm>
    </dsp:sp>
    <dsp:sp modelId="{324F3DEE-63A1-4D5C-B197-50993611C873}">
      <dsp:nvSpPr>
        <dsp:cNvPr id="0" name=""/>
        <dsp:cNvSpPr/>
      </dsp:nvSpPr>
      <dsp:spPr>
        <a:xfrm>
          <a:off x="5630268" y="1147708"/>
          <a:ext cx="2008410" cy="1205046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000" kern="1200" dirty="0" smtClean="0"/>
            <a:t>编写类的方法</a:t>
          </a:r>
          <a:endParaRPr lang="zh-CN" sz="3000" b="1" kern="1200" dirty="0"/>
        </a:p>
      </dsp:txBody>
      <dsp:txXfrm>
        <a:off x="5665563" y="1183003"/>
        <a:ext cx="1937820" cy="11344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F29CBE-9C02-4F6D-9438-538E1C3E9712}">
      <dsp:nvSpPr>
        <dsp:cNvPr id="0" name=""/>
        <dsp:cNvSpPr/>
      </dsp:nvSpPr>
      <dsp:spPr>
        <a:xfrm>
          <a:off x="857620" y="816723"/>
          <a:ext cx="3714019" cy="3714019"/>
        </a:xfrm>
        <a:prstGeom prst="blockArc">
          <a:avLst>
            <a:gd name="adj1" fmla="val 9000000"/>
            <a:gd name="adj2" fmla="val 16200000"/>
            <a:gd name="adj3" fmla="val 4641"/>
          </a:avLst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21D24F-6BA2-461A-BA26-8D35A8F64AA7}">
      <dsp:nvSpPr>
        <dsp:cNvPr id="0" name=""/>
        <dsp:cNvSpPr/>
      </dsp:nvSpPr>
      <dsp:spPr>
        <a:xfrm>
          <a:off x="857620" y="816723"/>
          <a:ext cx="3714019" cy="3714019"/>
        </a:xfrm>
        <a:prstGeom prst="blockArc">
          <a:avLst>
            <a:gd name="adj1" fmla="val 1800000"/>
            <a:gd name="adj2" fmla="val 9000000"/>
            <a:gd name="adj3" fmla="val 4641"/>
          </a:avLst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5066E5-B186-4FF1-B6CE-9DBC49F67486}">
      <dsp:nvSpPr>
        <dsp:cNvPr id="0" name=""/>
        <dsp:cNvSpPr/>
      </dsp:nvSpPr>
      <dsp:spPr>
        <a:xfrm>
          <a:off x="857620" y="816723"/>
          <a:ext cx="3714019" cy="3714019"/>
        </a:xfrm>
        <a:prstGeom prst="blockArc">
          <a:avLst>
            <a:gd name="adj1" fmla="val 16200000"/>
            <a:gd name="adj2" fmla="val 1800000"/>
            <a:gd name="adj3" fmla="val 4641"/>
          </a:avLst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1823CA-C3AA-4633-8038-04EFE465FC63}">
      <dsp:nvSpPr>
        <dsp:cNvPr id="0" name=""/>
        <dsp:cNvSpPr/>
      </dsp:nvSpPr>
      <dsp:spPr>
        <a:xfrm>
          <a:off x="2166949" y="2126052"/>
          <a:ext cx="1095361" cy="1095361"/>
        </a:xfrm>
        <a:prstGeom prst="ellipse">
          <a:avLst/>
        </a:prstGeom>
        <a:solidFill>
          <a:srgbClr val="0070C0"/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/>
            <a:t>面向对象</a:t>
          </a:r>
          <a:endParaRPr lang="en-US" sz="2400" b="1" kern="1200" dirty="0"/>
        </a:p>
      </dsp:txBody>
      <dsp:txXfrm>
        <a:off x="2327361" y="2286464"/>
        <a:ext cx="774537" cy="774537"/>
      </dsp:txXfrm>
    </dsp:sp>
    <dsp:sp modelId="{18D7D7CE-28F4-4736-A669-0B408257C4C8}">
      <dsp:nvSpPr>
        <dsp:cNvPr id="0" name=""/>
        <dsp:cNvSpPr/>
      </dsp:nvSpPr>
      <dsp:spPr>
        <a:xfrm>
          <a:off x="1595669" y="-259148"/>
          <a:ext cx="2237922" cy="2237922"/>
        </a:xfrm>
        <a:prstGeom prst="ellipse">
          <a:avLst/>
        </a:prstGeom>
        <a:solidFill>
          <a:srgbClr val="0070C0"/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/>
            <a:t>与人类的思维习惯一致</a:t>
          </a:r>
          <a:endParaRPr lang="en-US" altLang="en-US" sz="2000" b="1" kern="1200" dirty="0"/>
        </a:p>
      </dsp:txBody>
      <dsp:txXfrm>
        <a:off x="1923405" y="68588"/>
        <a:ext cx="1582450" cy="1582450"/>
      </dsp:txXfrm>
    </dsp:sp>
    <dsp:sp modelId="{84D643F2-D6EC-418E-961E-ADC035AEA1CC}">
      <dsp:nvSpPr>
        <dsp:cNvPr id="0" name=""/>
        <dsp:cNvSpPr/>
      </dsp:nvSpPr>
      <dsp:spPr>
        <a:xfrm>
          <a:off x="3166570" y="2461731"/>
          <a:ext cx="2237922" cy="2237922"/>
        </a:xfrm>
        <a:prstGeom prst="ellipse">
          <a:avLst/>
        </a:prstGeom>
        <a:solidFill>
          <a:srgbClr val="0070C0"/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/>
            <a:t>提高了程序的可重用性</a:t>
          </a:r>
          <a:endParaRPr lang="en-US" altLang="en-US" sz="2000" b="1" kern="1200" dirty="0"/>
        </a:p>
      </dsp:txBody>
      <dsp:txXfrm>
        <a:off x="3494306" y="2789467"/>
        <a:ext cx="1582450" cy="1582450"/>
      </dsp:txXfrm>
    </dsp:sp>
    <dsp:sp modelId="{680CC048-5462-4C81-A971-2A111604CD5F}">
      <dsp:nvSpPr>
        <dsp:cNvPr id="0" name=""/>
        <dsp:cNvSpPr/>
      </dsp:nvSpPr>
      <dsp:spPr>
        <a:xfrm>
          <a:off x="24768" y="2461731"/>
          <a:ext cx="2237922" cy="2237922"/>
        </a:xfrm>
        <a:prstGeom prst="ellipse">
          <a:avLst/>
        </a:prstGeom>
        <a:solidFill>
          <a:srgbClr val="0070C0"/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/>
            <a:t>信息隐藏，提高了程序的可维护性和安全性 </a:t>
          </a:r>
          <a:endParaRPr lang="en-US" sz="2000" b="1" kern="1200" dirty="0"/>
        </a:p>
      </dsp:txBody>
      <dsp:txXfrm>
        <a:off x="352504" y="2789467"/>
        <a:ext cx="1582450" cy="15824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456077-BFB9-4FBF-AF24-7D26C88FE6B3}">
      <dsp:nvSpPr>
        <dsp:cNvPr id="0" name=""/>
        <dsp:cNvSpPr/>
      </dsp:nvSpPr>
      <dsp:spPr>
        <a:xfrm>
          <a:off x="0" y="2043456"/>
          <a:ext cx="3571900" cy="6707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使用类的属性和方法</a:t>
          </a:r>
        </a:p>
      </dsp:txBody>
      <dsp:txXfrm>
        <a:off x="0" y="2043456"/>
        <a:ext cx="3571900" cy="362182"/>
      </dsp:txXfrm>
    </dsp:sp>
    <dsp:sp modelId="{F2F27047-5E26-4CF7-A144-96235450205C}">
      <dsp:nvSpPr>
        <dsp:cNvPr id="0" name=""/>
        <dsp:cNvSpPr/>
      </dsp:nvSpPr>
      <dsp:spPr>
        <a:xfrm>
          <a:off x="0" y="2392224"/>
          <a:ext cx="3571900" cy="3085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smtClean="0"/>
            <a:t>使用</a:t>
          </a:r>
          <a:r>
            <a:rPr lang="zh-CN" altLang="en-US" sz="1600" b="1" kern="1200" dirty="0" smtClean="0"/>
            <a:t>“</a:t>
          </a:r>
          <a:r>
            <a:rPr lang="en-US" altLang="zh-CN" sz="1600" b="1" kern="1200" dirty="0" smtClean="0"/>
            <a:t>.</a:t>
          </a:r>
          <a:r>
            <a:rPr lang="zh-CN" altLang="en-US" sz="1600" b="1" kern="1200" dirty="0" smtClean="0"/>
            <a:t>”操作符</a:t>
          </a:r>
        </a:p>
      </dsp:txBody>
      <dsp:txXfrm>
        <a:off x="0" y="2392224"/>
        <a:ext cx="3571900" cy="308525"/>
      </dsp:txXfrm>
    </dsp:sp>
    <dsp:sp modelId="{9A87FF8C-FDE6-4E95-9883-12096CCD0B07}">
      <dsp:nvSpPr>
        <dsp:cNvPr id="0" name=""/>
        <dsp:cNvSpPr/>
      </dsp:nvSpPr>
      <dsp:spPr>
        <a:xfrm rot="10800000">
          <a:off x="0" y="1021968"/>
          <a:ext cx="3571900" cy="1031548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创建类的对象</a:t>
          </a:r>
        </a:p>
      </dsp:txBody>
      <dsp:txXfrm rot="-10800000">
        <a:off x="0" y="1021968"/>
        <a:ext cx="3571900" cy="362073"/>
      </dsp:txXfrm>
    </dsp:sp>
    <dsp:sp modelId="{36A188B3-0D76-41E5-B04C-1367DB7C5183}">
      <dsp:nvSpPr>
        <dsp:cNvPr id="0" name=""/>
        <dsp:cNvSpPr/>
      </dsp:nvSpPr>
      <dsp:spPr>
        <a:xfrm>
          <a:off x="0" y="1384041"/>
          <a:ext cx="3571900" cy="3084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smtClean="0"/>
            <a:t>使用</a:t>
          </a:r>
          <a:r>
            <a:rPr lang="zh-CN" altLang="en-US" sz="1600" b="1" kern="1200" dirty="0" smtClean="0"/>
            <a:t>关键字</a:t>
          </a:r>
          <a:r>
            <a:rPr lang="en-US" altLang="zh-CN" sz="1600" b="1" kern="1200" dirty="0" smtClean="0"/>
            <a:t>new</a:t>
          </a:r>
          <a:endParaRPr lang="zh-CN" altLang="en-US" sz="1600" b="1" kern="1200" dirty="0" smtClean="0"/>
        </a:p>
      </dsp:txBody>
      <dsp:txXfrm>
        <a:off x="0" y="1384041"/>
        <a:ext cx="3571900" cy="308433"/>
      </dsp:txXfrm>
    </dsp:sp>
    <dsp:sp modelId="{17CB8C3F-A376-492F-98C3-3C98F0D24008}">
      <dsp:nvSpPr>
        <dsp:cNvPr id="0" name=""/>
        <dsp:cNvSpPr/>
      </dsp:nvSpPr>
      <dsp:spPr>
        <a:xfrm rot="10800000">
          <a:off x="0" y="479"/>
          <a:ext cx="3571900" cy="1031548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定义类</a:t>
          </a:r>
          <a:endParaRPr lang="zh-CN" altLang="en-US" sz="1600" b="1" kern="1200" dirty="0"/>
        </a:p>
      </dsp:txBody>
      <dsp:txXfrm rot="-10800000">
        <a:off x="0" y="479"/>
        <a:ext cx="3571900" cy="362073"/>
      </dsp:txXfrm>
    </dsp:sp>
    <dsp:sp modelId="{A1FD9E04-D2C0-4A28-8063-295E1EE40BDD}">
      <dsp:nvSpPr>
        <dsp:cNvPr id="0" name=""/>
        <dsp:cNvSpPr/>
      </dsp:nvSpPr>
      <dsp:spPr>
        <a:xfrm>
          <a:off x="0" y="362553"/>
          <a:ext cx="3571900" cy="3084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smtClean="0"/>
            <a:t>使用</a:t>
          </a:r>
          <a:r>
            <a:rPr lang="zh-CN" altLang="en-US" sz="1600" b="1" kern="1200" dirty="0" smtClean="0"/>
            <a:t>关键字</a:t>
          </a:r>
          <a:r>
            <a:rPr lang="en-US" altLang="zh-CN" sz="1600" b="1" kern="1200" dirty="0" smtClean="0"/>
            <a:t>class</a:t>
          </a:r>
          <a:endParaRPr lang="zh-CN" altLang="en-US" sz="1600" b="1" kern="1200" dirty="0"/>
        </a:p>
      </dsp:txBody>
      <dsp:txXfrm>
        <a:off x="0" y="362553"/>
        <a:ext cx="3571900" cy="308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fld id="{DB3C531B-D83C-493A-84AD-316F78881EC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15713941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fld id="{CB801823-96DB-4EC2-991A-2DEE593AD1D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29286862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8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zh-CN" altLang="en-US" dirty="0" smtClean="0"/>
              <a:t>列举身边的例子，认识对象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zh-CN" altLang="en-US" dirty="0" smtClean="0"/>
              <a:t>举例说明描述对象的方式之一即属性（对象的静态特征）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zh-CN" altLang="en-US" dirty="0" smtClean="0"/>
              <a:t>举例说明描述对象的方式之二即方法（行为，对象的动态特征）</a:t>
            </a:r>
            <a:endParaRPr lang="en-US" altLang="zh-CN" dirty="0" smtClean="0"/>
          </a:p>
          <a:p>
            <a:r>
              <a:rPr lang="zh-CN" altLang="en-US" dirty="0" smtClean="0"/>
              <a:t>并总结出对象的定义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7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zh-CN" altLang="en-US" dirty="0" smtClean="0"/>
              <a:t>举例讲解封装的概念</a:t>
            </a:r>
            <a:endParaRPr lang="en-US" altLang="zh-CN" dirty="0" smtClean="0"/>
          </a:p>
          <a:p>
            <a:r>
              <a:rPr lang="zh-CN" altLang="en-US" dirty="0" smtClean="0"/>
              <a:t>下面</a:t>
            </a:r>
            <a:r>
              <a:rPr lang="zh-CN" altLang="en-US" dirty="0"/>
              <a:t>讲类的组织结构时 再讲封装的好处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4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zh-CN" altLang="en-US" dirty="0" smtClean="0"/>
              <a:t>教员</a:t>
            </a:r>
            <a:r>
              <a:rPr lang="zh-CN" altLang="en-US" dirty="0"/>
              <a:t>可以</a:t>
            </a:r>
            <a:r>
              <a:rPr lang="zh-CN" altLang="en-US" dirty="0" smtClean="0"/>
              <a:t>根据班级及授课情况发挥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526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4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6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zh-CN" altLang="en-US" dirty="0" smtClean="0"/>
              <a:t>让学员对面向对象的好处有个基本的认知即可，不需深入讲解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3ED2CB-7A23-4AB8-9496-110DC0E5F4ED}" type="slidenum">
              <a:rPr lang="zh-CN" altLang="en-US"/>
              <a:pPr/>
              <a:t>24</a:t>
            </a:fld>
            <a:endParaRPr lang="en-US" altLang="zh-CN"/>
          </a:p>
        </p:txBody>
      </p:sp>
      <p:sp>
        <p:nvSpPr>
          <p:cNvPr id="493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3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zh-CN" altLang="en-US" dirty="0" smtClean="0"/>
              <a:t>首先分析电动狮子玩具，向学员强调用户只需要知道按两个按钮狮子玩具就会“跑”和“叫”，而不需要关注狮子玩具如何实现的“跑”和“叫”，为后面讲解方法及方法调用埋下伏笔（方法定义后可以多次被调用，并且调用者不需要关注方法实现）</a:t>
            </a:r>
            <a:endParaRPr lang="en-US" altLang="zh-CN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zh-CN" altLang="en-US" dirty="0" smtClean="0"/>
              <a:t>通过</a:t>
            </a:r>
            <a:r>
              <a:rPr lang="en-US" altLang="zh-CN" dirty="0" err="1" smtClean="0"/>
              <a:t>AutoLion</a:t>
            </a:r>
            <a:r>
              <a:rPr lang="zh-CN" altLang="en-US" dirty="0" smtClean="0"/>
              <a:t>类中的方法，认识方法的几个部分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zh-CN" altLang="en-US" dirty="0" smtClean="0"/>
              <a:t>分别讲解两种情况。并举例说明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11EED8-3D88-439D-A3E2-A0E2F35CD2DB}" type="slidenum">
              <a:rPr lang="zh-CN" altLang="en-US"/>
              <a:pPr/>
              <a:t>28</a:t>
            </a:fld>
            <a:endParaRPr lang="en-US" altLang="zh-CN"/>
          </a:p>
        </p:txBody>
      </p:sp>
      <p:sp>
        <p:nvSpPr>
          <p:cNvPr id="499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6917D9-339A-4EC8-AA9D-E6C54AF69F7B}" type="slidenum">
              <a:rPr lang="zh-CN" altLang="en-US"/>
              <a:pPr/>
              <a:t>29</a:t>
            </a:fld>
            <a:endParaRPr lang="en-US" altLang="zh-CN"/>
          </a:p>
        </p:txBody>
      </p:sp>
      <p:sp>
        <p:nvSpPr>
          <p:cNvPr id="501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通过</a:t>
            </a:r>
            <a:r>
              <a:rPr lang="en-US" altLang="zh-CN" dirty="0" smtClean="0"/>
              <a:t>PPT</a:t>
            </a:r>
            <a:r>
              <a:rPr lang="zh-CN" altLang="en-US" dirty="0" smtClean="0"/>
              <a:t>展示方法调用的两种方式，</a:t>
            </a:r>
            <a:r>
              <a:rPr lang="en-US" altLang="zh-CN" dirty="0" smtClean="0"/>
              <a:t>PPT</a:t>
            </a:r>
            <a:r>
              <a:rPr lang="zh-CN" altLang="en-US" dirty="0" smtClean="0"/>
              <a:t>上不需要过多讲解每个方法，然后在环境中演示，并使用断点调试的方法，让学员体会程序的执行过程，从而理解方法调用时语句的执行顺序。</a:t>
            </a:r>
            <a:endParaRPr lang="en-US" altLang="zh-CN" dirty="0" smtClean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72A6E1-7514-431D-BF93-F6BAFDF62135}" type="slidenum">
              <a:rPr lang="zh-CN" altLang="en-US"/>
              <a:pPr/>
              <a:t>30</a:t>
            </a:fld>
            <a:endParaRPr lang="en-US" altLang="zh-CN"/>
          </a:p>
        </p:txBody>
      </p:sp>
      <p:sp>
        <p:nvSpPr>
          <p:cNvPr id="503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3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C76711-DC59-45AB-A8A8-A119F1010291}" type="slidenum">
              <a:rPr lang="zh-CN" altLang="en-US"/>
              <a:pPr/>
              <a:t>31</a:t>
            </a:fld>
            <a:endParaRPr lang="en-US" altLang="zh-CN"/>
          </a:p>
        </p:txBody>
      </p:sp>
      <p:sp>
        <p:nvSpPr>
          <p:cNvPr id="506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err="1" smtClean="0"/>
              <a:t>MyEclipse</a:t>
            </a:r>
            <a:r>
              <a:rPr lang="zh-CN" altLang="en-US" dirty="0"/>
              <a:t>环境中讲解常见错误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A5E6EC-B283-4B80-9FDD-FC7ADA830DBB}" type="slidenum">
              <a:rPr lang="zh-CN" altLang="en-US"/>
              <a:pPr/>
              <a:t>36</a:t>
            </a:fld>
            <a:endParaRPr lang="en-US" altLang="zh-CN"/>
          </a:p>
        </p:txBody>
      </p:sp>
      <p:sp>
        <p:nvSpPr>
          <p:cNvPr id="532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526FED-26BA-4B04-9081-1ACE923905C4}" type="slidenum">
              <a:rPr lang="zh-CN" altLang="en-US"/>
              <a:pPr/>
              <a:t>39</a:t>
            </a:fld>
            <a:endParaRPr lang="en-US" altLang="zh-CN"/>
          </a:p>
        </p:txBody>
      </p:sp>
      <p:sp>
        <p:nvSpPr>
          <p:cNvPr id="527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err="1" smtClean="0"/>
              <a:t>MyEclipse</a:t>
            </a:r>
            <a:r>
              <a:rPr lang="zh-CN" altLang="en-US" dirty="0"/>
              <a:t>环境中讲解常见错误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400119-FBDB-4A0C-9A68-CF1B03200BE7}" type="slidenum">
              <a:rPr lang="zh-CN" altLang="en-US"/>
              <a:pPr/>
              <a:t>40</a:t>
            </a:fld>
            <a:endParaRPr lang="en-US" altLang="zh-CN"/>
          </a:p>
        </p:txBody>
      </p:sp>
      <p:sp>
        <p:nvSpPr>
          <p:cNvPr id="513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3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zh-CN" altLang="en-US" dirty="0" smtClean="0"/>
              <a:t>结合示例说明面向对象编程的好处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E07D62-5F1F-46C2-AF30-8A495EB6068D}" type="slidenum">
              <a:rPr lang="zh-CN" altLang="en-US"/>
              <a:pPr/>
              <a:t>43</a:t>
            </a:fld>
            <a:endParaRPr lang="en-US" altLang="zh-CN"/>
          </a:p>
        </p:txBody>
      </p:sp>
      <p:sp>
        <p:nvSpPr>
          <p:cNvPr id="516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6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en-US" altLang="zh-CN" dirty="0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在</a:t>
            </a:r>
            <a:r>
              <a:rPr lang="en-US" altLang="zh-CN" dirty="0" err="1" smtClean="0"/>
              <a:t>MyEclipse</a:t>
            </a:r>
            <a:r>
              <a:rPr lang="zh-CN" altLang="en-US" dirty="0" smtClean="0"/>
              <a:t>中演示如何生成示例</a:t>
            </a:r>
            <a:r>
              <a:rPr lang="en-US" altLang="zh-CN" dirty="0" smtClean="0"/>
              <a:t>3</a:t>
            </a:r>
            <a:r>
              <a:rPr lang="zh-CN" altLang="en-US" dirty="0" smtClean="0"/>
              <a:t>中编写的</a:t>
            </a:r>
            <a:r>
              <a:rPr lang="en-US" altLang="zh-CN" dirty="0" err="1" smtClean="0"/>
              <a:t>JavaDoc</a:t>
            </a:r>
            <a:r>
              <a:rPr lang="zh-CN" altLang="en-US" dirty="0" smtClean="0"/>
              <a:t>文档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45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zh-CN" altLang="en-US" dirty="0" smtClean="0"/>
              <a:t>通过分析榨汁机的工作原理，强调要想得到果汁，必须提供水果，并且提供的不同种类的水果，会得到不同的果汁。</a:t>
            </a:r>
            <a:endParaRPr lang="en-US" altLang="zh-CN" dirty="0" smtClean="0"/>
          </a:p>
          <a:p>
            <a:r>
              <a:rPr lang="zh-CN" altLang="en-US" dirty="0" smtClean="0"/>
              <a:t>为后面讲解方法的参数埋下伏笔。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zh-CN" altLang="en-US" dirty="0" smtClean="0"/>
              <a:t>将榨汁机工作过程模拟到程序中：榨汁操作对应榨汁的方法；提供的水果原料对应方法参数；得到的果汁对应方法的返回值。</a:t>
            </a:r>
            <a:endParaRPr lang="en-US" altLang="zh-CN" dirty="0" smtClean="0"/>
          </a:p>
          <a:p>
            <a:r>
              <a:rPr lang="zh-CN" altLang="en-US" dirty="0" smtClean="0"/>
              <a:t>使学员形象的理解方法的参数及返回值的含义。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50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5EB988-5111-41DF-BEB1-D071FFE7428D}" type="slidenum">
              <a:rPr lang="zh-CN" altLang="en-US"/>
              <a:pPr/>
              <a:t>52</a:t>
            </a:fld>
            <a:endParaRPr lang="en-US" altLang="zh-CN"/>
          </a:p>
        </p:txBody>
      </p:sp>
      <p:sp>
        <p:nvSpPr>
          <p:cNvPr id="518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8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zh-CN" altLang="en-US" dirty="0" smtClean="0"/>
              <a:t>先通过</a:t>
            </a:r>
            <a:r>
              <a:rPr lang="en-US" altLang="zh-CN" dirty="0" smtClean="0"/>
              <a:t>PPT</a:t>
            </a:r>
            <a:r>
              <a:rPr lang="zh-CN" altLang="en-US" dirty="0" smtClean="0"/>
              <a:t>讲解方法的实现框架，然后再到</a:t>
            </a:r>
            <a:r>
              <a:rPr lang="en-US" altLang="zh-CN" dirty="0" err="1" smtClean="0"/>
              <a:t>MyEclipse</a:t>
            </a:r>
            <a:r>
              <a:rPr lang="zh-CN" altLang="en-US" dirty="0" smtClean="0"/>
              <a:t>中讲解实现细节及演示效果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CABC47-3FBB-4054-917E-97E7D47F791D}" type="slidenum">
              <a:rPr lang="zh-CN" altLang="en-US"/>
              <a:pPr/>
              <a:t>53</a:t>
            </a:fld>
            <a:endParaRPr lang="en-US" altLang="zh-CN"/>
          </a:p>
        </p:txBody>
      </p:sp>
      <p:sp>
        <p:nvSpPr>
          <p:cNvPr id="52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err="1" smtClean="0"/>
              <a:t>MyEclipse</a:t>
            </a:r>
            <a:r>
              <a:rPr lang="zh-CN" altLang="en-US" dirty="0"/>
              <a:t>环境中讲解常见错误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5EB988-5111-41DF-BEB1-D071FFE7428D}" type="slidenum">
              <a:rPr lang="zh-CN" altLang="en-US"/>
              <a:pPr/>
              <a:t>58</a:t>
            </a:fld>
            <a:endParaRPr lang="en-US" altLang="zh-CN"/>
          </a:p>
        </p:txBody>
      </p:sp>
      <p:sp>
        <p:nvSpPr>
          <p:cNvPr id="518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8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zh-CN" altLang="en-US" dirty="0" smtClean="0"/>
              <a:t>先通过</a:t>
            </a:r>
            <a:r>
              <a:rPr lang="en-US" altLang="zh-CN" dirty="0" smtClean="0"/>
              <a:t>PPT</a:t>
            </a:r>
            <a:r>
              <a:rPr lang="zh-CN" altLang="en-US" dirty="0" smtClean="0"/>
              <a:t>讲解方法的实现框架，然后再到</a:t>
            </a:r>
            <a:r>
              <a:rPr lang="en-US" altLang="zh-CN" dirty="0" err="1" smtClean="0"/>
              <a:t>MyEclipse</a:t>
            </a:r>
            <a:r>
              <a:rPr lang="zh-CN" altLang="en-US" dirty="0" smtClean="0"/>
              <a:t>中讲解实现细节及演示效果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、在示例</a:t>
            </a:r>
            <a:r>
              <a:rPr lang="en-US" altLang="zh-CN" dirty="0" smtClean="0"/>
              <a:t>1</a:t>
            </a:r>
            <a:r>
              <a:rPr lang="zh-CN" altLang="en-US" dirty="0" smtClean="0"/>
              <a:t>的基础上提出新的问题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、分析得出两个实现方式。分析第一种实现方式的弊端（当参数更多时怎么办？），进而引出第二种实现方式，利用面向对象思想将多个参数封装成对象，将对象作为参数，这是更好的实现方式。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59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5EB988-5111-41DF-BEB1-D071FFE7428D}" type="slidenum">
              <a:rPr lang="zh-CN" altLang="en-US"/>
              <a:pPr/>
              <a:t>60</a:t>
            </a:fld>
            <a:endParaRPr lang="en-US" altLang="zh-CN"/>
          </a:p>
        </p:txBody>
      </p:sp>
      <p:sp>
        <p:nvSpPr>
          <p:cNvPr id="518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8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、通过</a:t>
            </a:r>
            <a:r>
              <a:rPr lang="en-US" altLang="zh-CN" dirty="0" smtClean="0"/>
              <a:t>PPT</a:t>
            </a:r>
            <a:r>
              <a:rPr lang="zh-CN" altLang="en-US" dirty="0" smtClean="0"/>
              <a:t>讲解方法的实现框架。先定义</a:t>
            </a:r>
            <a:r>
              <a:rPr lang="en-US" altLang="zh-CN" dirty="0" smtClean="0"/>
              <a:t>Student</a:t>
            </a:r>
            <a:r>
              <a:rPr lang="zh-CN" altLang="en-US" dirty="0" smtClean="0"/>
              <a:t>类型，再在方法中声明</a:t>
            </a:r>
            <a:r>
              <a:rPr lang="en-US" altLang="zh-CN" dirty="0" smtClean="0"/>
              <a:t>Student</a:t>
            </a:r>
            <a:r>
              <a:rPr lang="zh-CN" altLang="en-US" dirty="0" smtClean="0"/>
              <a:t>类型的形式参数，最后调用方法时传递</a:t>
            </a:r>
            <a:r>
              <a:rPr lang="en-US" altLang="zh-CN" dirty="0" smtClean="0"/>
              <a:t>Student</a:t>
            </a:r>
            <a:r>
              <a:rPr lang="zh-CN" altLang="en-US" dirty="0" smtClean="0"/>
              <a:t>类型的实际参数（</a:t>
            </a:r>
            <a:r>
              <a:rPr lang="en-US" altLang="zh-CN" dirty="0" smtClean="0"/>
              <a:t>Student</a:t>
            </a:r>
            <a:r>
              <a:rPr lang="zh-CN" altLang="en-US" dirty="0" smtClean="0"/>
              <a:t>对象）。（为了帮助学员理解，可以和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类型的形式参数作对比）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、在</a:t>
            </a:r>
            <a:r>
              <a:rPr lang="en-US" altLang="zh-CN" dirty="0" err="1" smtClean="0"/>
              <a:t>MyEclipse</a:t>
            </a:r>
            <a:r>
              <a:rPr lang="zh-CN" altLang="en-US" dirty="0" smtClean="0"/>
              <a:t>中讲解实现细节及演示效果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、本示例重点讲解如何定义对象作为参数的方法以及如何传参，关于对象数组，这里不作细讲，教员简单解释一下用法，学员即时不理解，只要能够模仿着使用就可以了，后面课程中会讲解。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kern="12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教学指导：</a:t>
            </a:r>
            <a:endParaRPr lang="en-US" altLang="zh-CN" sz="1200" kern="1200" dirty="0" smtClean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lang="zh-CN" altLang="en-US" sz="1200" kern="12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、通过分析学员熟悉的</a:t>
            </a:r>
            <a:r>
              <a:rPr lang="en-US" altLang="zh-CN" sz="1200" kern="12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Windows</a:t>
            </a:r>
            <a:r>
              <a:rPr lang="zh-CN" altLang="en-US" sz="1200" kern="12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组织文件的方式，提出问题，引出包</a:t>
            </a:r>
            <a:endParaRPr lang="en-US" altLang="zh-CN" sz="1200" kern="1200" dirty="0" smtClean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lang="zh-CN" altLang="en-US" sz="1200" kern="12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、前面的学习过程中，学员对包的使用已经不陌生了，本章总结其概念、用法，这部分内容的讲解时间不超过</a:t>
            </a:r>
            <a:r>
              <a:rPr lang="en-US" altLang="zh-CN" sz="1200" kern="12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15</a:t>
            </a:r>
            <a:r>
              <a:rPr lang="zh-CN" altLang="en-US" sz="1200" kern="12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分钟。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pPr>
                <a:defRPr/>
              </a:pPr>
              <a:t>62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60A9F9-342C-4108-A1E9-6F8BD45A5E1A}" type="slidenum">
              <a:rPr lang="zh-CN" altLang="en-US"/>
              <a:pPr/>
              <a:t>63</a:t>
            </a:fld>
            <a:endParaRPr lang="en-US" altLang="zh-CN"/>
          </a:p>
        </p:txBody>
      </p:sp>
      <p:sp>
        <p:nvSpPr>
          <p:cNvPr id="492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2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altLang="en-US" dirty="0"/>
              <a:t>展示以前创建的项目，所有的</a:t>
            </a:r>
            <a:r>
              <a:rPr lang="en-US" altLang="zh-CN" dirty="0"/>
              <a:t>java</a:t>
            </a:r>
            <a:r>
              <a:rPr lang="zh-CN" altLang="en-US" dirty="0"/>
              <a:t>文档都是在项目文件夹的根目录下，比较乱，不能有重名的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6A11B4-CC6B-44D4-9F5B-8C2560539125}" type="slidenum">
              <a:rPr lang="zh-CN" altLang="en-US"/>
              <a:pPr/>
              <a:t>65</a:t>
            </a:fld>
            <a:endParaRPr lang="en-US" altLang="zh-CN"/>
          </a:p>
        </p:txBody>
      </p:sp>
      <p:sp>
        <p:nvSpPr>
          <p:cNvPr id="495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5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A1402A-2534-44D9-8180-9BDD18C6A093}" type="slidenum">
              <a:rPr lang="zh-CN" altLang="en-US"/>
              <a:pPr/>
              <a:t>66</a:t>
            </a:fld>
            <a:endParaRPr lang="en-US" altLang="zh-CN"/>
          </a:p>
        </p:txBody>
      </p:sp>
      <p:sp>
        <p:nvSpPr>
          <p:cNvPr id="497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7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altLang="en-US" dirty="0" smtClean="0"/>
              <a:t>教学指导：</a:t>
            </a:r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err="1" smtClean="0"/>
              <a:t>MyEclipse</a:t>
            </a:r>
            <a:r>
              <a:rPr lang="zh-CN" altLang="en-US" dirty="0" smtClean="0"/>
              <a:t>中现场演示创建包的两种方式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550EDB-AAA1-4155-8DCD-7EF69B5CC775}" type="slidenum">
              <a:rPr lang="zh-CN" altLang="en-US"/>
              <a:pPr/>
              <a:t>67</a:t>
            </a:fld>
            <a:endParaRPr lang="en-US" altLang="zh-CN"/>
          </a:p>
        </p:txBody>
      </p:sp>
      <p:sp>
        <p:nvSpPr>
          <p:cNvPr id="499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1CE5FE-8114-4866-B1C0-9E271DD1818C}" type="slidenum">
              <a:rPr lang="zh-CN" altLang="en-US"/>
              <a:pPr/>
              <a:t>68</a:t>
            </a:fld>
            <a:endParaRPr lang="en-US" altLang="zh-CN"/>
          </a:p>
        </p:txBody>
      </p:sp>
      <p:sp>
        <p:nvSpPr>
          <p:cNvPr id="501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/>
            <a:fld id="{1272D254-5AC4-459A-B1C8-2F69F9150C89}" type="slidenum">
              <a:rPr lang="zh-CN" altLang="en-GB" sz="1200" smtClean="0"/>
              <a:pPr eaLnBrk="1" hangingPunct="1"/>
              <a:t>70</a:t>
            </a:fld>
            <a:endParaRPr lang="en-GB" altLang="zh-CN" sz="1200" smtClean="0"/>
          </a:p>
        </p:txBody>
      </p:sp>
      <p:sp>
        <p:nvSpPr>
          <p:cNvPr id="6451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31950" y="5930900"/>
            <a:ext cx="3590925" cy="2692400"/>
          </a:xfrm>
          <a:ln/>
        </p:spPr>
      </p:sp>
      <p:sp>
        <p:nvSpPr>
          <p:cNvPr id="64516" name="Rectangle 1028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/>
            <a:fld id="{04467A64-3454-49BD-9987-002E4394DF45}" type="slidenum">
              <a:rPr lang="zh-CN" altLang="en-GB" sz="1200" smtClean="0"/>
              <a:pPr eaLnBrk="1" hangingPunct="1"/>
              <a:t>71</a:t>
            </a:fld>
            <a:endParaRPr lang="en-GB" altLang="zh-CN" sz="1200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31950" y="5930900"/>
            <a:ext cx="3590925" cy="2692400"/>
          </a:xfrm>
          <a:ln/>
        </p:spPr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/>
            <a:fld id="{D90D11F8-4C2A-47C0-89F5-70B20E99353F}" type="slidenum">
              <a:rPr lang="zh-CN" altLang="en-GB" sz="1200" smtClean="0"/>
              <a:pPr eaLnBrk="1" hangingPunct="1"/>
              <a:t>75</a:t>
            </a:fld>
            <a:endParaRPr lang="en-GB" altLang="zh-CN" sz="1200" smtClean="0"/>
          </a:p>
        </p:txBody>
      </p:sp>
      <p:sp>
        <p:nvSpPr>
          <p:cNvPr id="6656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31950" y="5930900"/>
            <a:ext cx="3590925" cy="2692400"/>
          </a:xfrm>
          <a:ln/>
        </p:spPr>
      </p:sp>
      <p:sp>
        <p:nvSpPr>
          <p:cNvPr id="66564" name="Rectangle 1028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62251" y="5931243"/>
            <a:ext cx="3930297" cy="2692165"/>
          </a:xfrm>
          <a:ln/>
        </p:spPr>
      </p:sp>
      <p:sp>
        <p:nvSpPr>
          <p:cNvPr id="675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>
                <a:solidFill>
                  <a:schemeClr val="bg1"/>
                </a:solidFill>
              </a:rPr>
              <a:t>教学指导：</a:t>
            </a:r>
            <a:endParaRPr lang="en-US" altLang="zh-CN" smtClean="0">
              <a:solidFill>
                <a:schemeClr val="bg1"/>
              </a:solidFill>
            </a:endParaRPr>
          </a:p>
          <a:p>
            <a:r>
              <a:rPr lang="en-US" altLang="zh-CN" smtClean="0">
                <a:solidFill>
                  <a:schemeClr val="bg1"/>
                </a:solidFill>
              </a:rPr>
              <a:t>1</a:t>
            </a:r>
            <a:r>
              <a:rPr lang="zh-CN" altLang="en-US" smtClean="0">
                <a:solidFill>
                  <a:schemeClr val="bg1"/>
                </a:solidFill>
              </a:rPr>
              <a:t>、示例演示了对企鹅的封装</a:t>
            </a:r>
            <a:endParaRPr lang="en-US" altLang="zh-CN" smtClean="0">
              <a:solidFill>
                <a:schemeClr val="bg1"/>
              </a:solidFill>
            </a:endParaRPr>
          </a:p>
          <a:p>
            <a:r>
              <a:rPr lang="en-US" altLang="zh-CN" smtClean="0">
                <a:solidFill>
                  <a:schemeClr val="bg1"/>
                </a:solidFill>
              </a:rPr>
              <a:t>2</a:t>
            </a:r>
            <a:r>
              <a:rPr lang="zh-CN" altLang="en-US" smtClean="0">
                <a:solidFill>
                  <a:schemeClr val="bg1"/>
                </a:solidFill>
              </a:rPr>
              <a:t>、强调封装的三个步骤以及无参、有参构造方法</a:t>
            </a:r>
            <a:endParaRPr lang="en-US" altLang="zh-CN" smtClean="0">
              <a:solidFill>
                <a:schemeClr val="bg1"/>
              </a:solidFill>
            </a:endParaRPr>
          </a:p>
          <a:p>
            <a:r>
              <a:rPr lang="en-US" altLang="zh-CN" smtClean="0">
                <a:solidFill>
                  <a:schemeClr val="bg1"/>
                </a:solidFill>
              </a:rPr>
              <a:t>3</a:t>
            </a:r>
            <a:r>
              <a:rPr lang="zh-CN" altLang="en-US" smtClean="0">
                <a:solidFill>
                  <a:schemeClr val="bg1"/>
                </a:solidFill>
              </a:rPr>
              <a:t>、测试时，先使用无参构造创建对象，再使用有参构造，并说明不同的使用场合</a:t>
            </a:r>
            <a:endParaRPr lang="en-US" altLang="zh-CN" smtClean="0">
              <a:solidFill>
                <a:schemeClr val="bg1"/>
              </a:solidFill>
            </a:endParaRPr>
          </a:p>
          <a:p>
            <a:endParaRPr lang="en-US" altLang="zh-CN" b="1" smtClean="0"/>
          </a:p>
          <a:p>
            <a:endParaRPr lang="zh-CN" altLang="en-US" smtClean="0"/>
          </a:p>
        </p:txBody>
      </p:sp>
      <p:sp>
        <p:nvSpPr>
          <p:cNvPr id="675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/>
            <a:fld id="{48090130-AE7B-4B59-B798-17294C6C143A}" type="slidenum">
              <a:rPr lang="zh-CN" altLang="en-US" sz="1200" smtClean="0"/>
              <a:pPr eaLnBrk="1" hangingPunct="1"/>
              <a:t>77</a:t>
            </a:fld>
            <a:endParaRPr lang="en-US" altLang="zh-CN" sz="1200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/>
            <a:fld id="{92CF340B-2DAF-40F1-9795-B39381B21A12}" type="slidenum">
              <a:rPr lang="zh-CN" altLang="en-GB" sz="1200" smtClean="0"/>
              <a:pPr eaLnBrk="1" hangingPunct="1"/>
              <a:t>78</a:t>
            </a:fld>
            <a:endParaRPr lang="en-GB" altLang="zh-CN" sz="1200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31950" y="5930900"/>
            <a:ext cx="3590925" cy="2692400"/>
          </a:xfrm>
          <a:ln/>
        </p:spPr>
      </p:sp>
      <p:sp>
        <p:nvSpPr>
          <p:cNvPr id="6861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/>
            <a:fld id="{4082B596-C8DF-48C4-8463-C8C620EFA165}" type="slidenum">
              <a:rPr lang="zh-CN" altLang="en-GB" sz="1200" smtClean="0"/>
              <a:pPr eaLnBrk="1" hangingPunct="1"/>
              <a:t>79</a:t>
            </a:fld>
            <a:endParaRPr lang="en-GB" altLang="zh-CN" sz="1200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31950" y="5930900"/>
            <a:ext cx="3590925" cy="2692400"/>
          </a:xfrm>
          <a:ln/>
        </p:spPr>
      </p:sp>
      <p:sp>
        <p:nvSpPr>
          <p:cNvPr id="6963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/>
            <a:fld id="{85A9C6B4-F02B-4E5C-BEC2-103629DD66DF}" type="slidenum">
              <a:rPr lang="zh-CN" altLang="en-GB" sz="1200" smtClean="0"/>
              <a:pPr eaLnBrk="1" hangingPunct="1"/>
              <a:t>80</a:t>
            </a:fld>
            <a:endParaRPr lang="en-GB" altLang="zh-CN" sz="1200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31950" y="5930900"/>
            <a:ext cx="3590925" cy="269240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/>
            <a:fld id="{1ABD4BAA-BCD7-4AA6-8881-700BD5172749}" type="slidenum">
              <a:rPr lang="zh-CN" altLang="en-GB" sz="1200" smtClean="0"/>
              <a:pPr eaLnBrk="1" hangingPunct="1"/>
              <a:t>87</a:t>
            </a:fld>
            <a:endParaRPr lang="en-GB" altLang="zh-CN" sz="1200" smtClean="0"/>
          </a:p>
        </p:txBody>
      </p:sp>
      <p:sp>
        <p:nvSpPr>
          <p:cNvPr id="7168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31950" y="5930900"/>
            <a:ext cx="3590925" cy="2692400"/>
          </a:xfrm>
          <a:ln/>
        </p:spPr>
      </p:sp>
      <p:sp>
        <p:nvSpPr>
          <p:cNvPr id="71684" name="Rectangle 1028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/>
            <a:fld id="{BEB6D56C-DAF8-4B6E-AD7C-60BC79B0D9FF}" type="slidenum">
              <a:rPr lang="zh-CN" altLang="en-GB" sz="1200" smtClean="0"/>
              <a:pPr eaLnBrk="1" hangingPunct="1"/>
              <a:t>88</a:t>
            </a:fld>
            <a:endParaRPr lang="en-GB" altLang="zh-CN" sz="1200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31950" y="5930900"/>
            <a:ext cx="3590925" cy="2692400"/>
          </a:xfrm>
          <a:ln/>
        </p:spPr>
      </p:sp>
      <p:sp>
        <p:nvSpPr>
          <p:cNvPr id="7270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/>
            <a:fld id="{36293A6F-472D-42FB-8520-8C487C4B7A98}" type="slidenum">
              <a:rPr lang="zh-CN" altLang="en-GB" sz="1200" smtClean="0"/>
              <a:pPr eaLnBrk="1" hangingPunct="1"/>
              <a:t>98</a:t>
            </a:fld>
            <a:endParaRPr lang="en-GB" altLang="zh-CN" sz="1200" smtClean="0"/>
          </a:p>
        </p:txBody>
      </p:sp>
      <p:sp>
        <p:nvSpPr>
          <p:cNvPr id="7373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31950" y="5930900"/>
            <a:ext cx="3590925" cy="2692400"/>
          </a:xfrm>
          <a:ln/>
        </p:spPr>
      </p:sp>
      <p:sp>
        <p:nvSpPr>
          <p:cNvPr id="73732" name="Rectangle 1028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631950" y="5930900"/>
            <a:ext cx="3590925" cy="2692400"/>
          </a:xfrm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/>
            <a:fld id="{9D38FAAC-2441-4A55-B42F-83C6D35B40EE}" type="slidenum">
              <a:rPr lang="zh-CN" altLang="en-GB" sz="1200" smtClean="0"/>
              <a:pPr eaLnBrk="1" hangingPunct="1"/>
              <a:t>103</a:t>
            </a:fld>
            <a:endParaRPr lang="en-GB" altLang="zh-CN" sz="1200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/>
            <a:fld id="{F7938011-27D7-49E3-8DDA-961E86DC2CFD}" type="slidenum">
              <a:rPr lang="zh-CN" altLang="en-GB" sz="1200" smtClean="0"/>
              <a:pPr eaLnBrk="1" hangingPunct="1"/>
              <a:t>106</a:t>
            </a:fld>
            <a:endParaRPr lang="en-GB" altLang="zh-CN" sz="1200" smtClean="0"/>
          </a:p>
        </p:txBody>
      </p:sp>
      <p:sp>
        <p:nvSpPr>
          <p:cNvPr id="757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31950" y="5930900"/>
            <a:ext cx="3590925" cy="2692400"/>
          </a:xfrm>
          <a:ln/>
        </p:spPr>
      </p:sp>
      <p:sp>
        <p:nvSpPr>
          <p:cNvPr id="75780" name="Rectangle 1028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1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4254" y="1276351"/>
            <a:ext cx="7645398" cy="5010170"/>
          </a:xfrm>
        </p:spPr>
        <p:txBody>
          <a:bodyPr/>
          <a:lstStyle>
            <a:lvl1pPr>
              <a:buSzPct val="80000"/>
              <a:buFontTx/>
              <a:buBlip>
                <a:blip r:embed="rId2"/>
              </a:buBlip>
              <a:defRPr b="1">
                <a:latin typeface="+mn-lt"/>
              </a:defRPr>
            </a:lvl1pPr>
            <a:lvl2pPr>
              <a:buSzPct val="100000"/>
              <a:buFontTx/>
              <a:buBlip>
                <a:blip r:embed="rId3"/>
              </a:buBlip>
              <a:defRPr b="1">
                <a:latin typeface="+mn-lt"/>
              </a:defRPr>
            </a:lvl2pPr>
            <a:lvl3pPr>
              <a:buClr>
                <a:schemeClr val="tx2"/>
              </a:buClr>
              <a:buSzPct val="85000"/>
              <a:buFontTx/>
              <a:buBlip>
                <a:blip r:embed="rId4"/>
              </a:buBlip>
              <a:defRPr b="1">
                <a:latin typeface="+mn-lt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8756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28756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0" y="1276350"/>
            <a:ext cx="3889375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97425" y="1276350"/>
            <a:ext cx="3889375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 smtClean="0"/>
              <a:t>/439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6938963" y="6421438"/>
            <a:ext cx="2133600" cy="365125"/>
          </a:xfrm>
        </p:spPr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07213" y="80963"/>
            <a:ext cx="2057400" cy="64436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5013" y="80963"/>
            <a:ext cx="6019800" cy="64436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755650" y="1276350"/>
            <a:ext cx="3889375" cy="25479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97425" y="1276350"/>
            <a:ext cx="3889375" cy="25479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755650" y="3976688"/>
            <a:ext cx="3889375" cy="25479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97425" y="3976688"/>
            <a:ext cx="3889375" cy="25479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6938963" y="6421438"/>
            <a:ext cx="2133600" cy="365125"/>
          </a:xfrm>
        </p:spPr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5650" y="1276350"/>
            <a:ext cx="3889375" cy="52482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97425" y="1276350"/>
            <a:ext cx="3889375" cy="52482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6938963" y="6421438"/>
            <a:ext cx="2133600" cy="365125"/>
          </a:xfrm>
        </p:spPr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5650" y="1276350"/>
            <a:ext cx="3889375" cy="52482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97425" y="1276350"/>
            <a:ext cx="3889375" cy="52482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6938963" y="6421438"/>
            <a:ext cx="2133600" cy="365125"/>
          </a:xfrm>
        </p:spPr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5650" y="1276350"/>
            <a:ext cx="3889375" cy="52482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97425" y="1276350"/>
            <a:ext cx="3889375" cy="25479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97425" y="3976688"/>
            <a:ext cx="3889375" cy="25479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6938963" y="6421438"/>
            <a:ext cx="2133600" cy="365125"/>
          </a:xfrm>
        </p:spPr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55650" y="1276350"/>
            <a:ext cx="7931150" cy="52482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6938963" y="6421438"/>
            <a:ext cx="2133600" cy="365125"/>
          </a:xfrm>
        </p:spPr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276350"/>
            <a:ext cx="793115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Tx/>
              <a:buBlip>
                <a:blip r:embed="rId18"/>
              </a:buBlip>
            </a:pPr>
            <a:r>
              <a:rPr lang="zh-CN" altLang="en-US" dirty="0" smtClean="0"/>
              <a:t>单击此处编辑母版文本样式</a:t>
            </a:r>
          </a:p>
          <a:p>
            <a:pPr marL="742950" lvl="1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Blip>
                <a:blip r:embed="rId19"/>
              </a:buBlip>
            </a:pPr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80963"/>
            <a:ext cx="8229600" cy="90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38963" y="6421438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 smtClean="0"/>
              <a:t>/40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2" r:id="rId9"/>
    <p:sldLayoutId id="2147484093" r:id="rId10"/>
    <p:sldLayoutId id="2147484094" r:id="rId11"/>
    <p:sldLayoutId id="2147484095" r:id="rId12"/>
    <p:sldLayoutId id="2147484096" r:id="rId13"/>
    <p:sldLayoutId id="2147484097" r:id="rId14"/>
    <p:sldLayoutId id="2147484098" r:id="rId15"/>
    <p:sldLayoutId id="2147484099" r:id="rId16"/>
  </p:sldLayoutIdLst>
  <p:timing>
    <p:tnLst>
      <p:par>
        <p:cTn id="1" dur="indefinite" restart="never" nodeType="tmRoot"/>
      </p:par>
    </p:tnLst>
  </p:timing>
  <p:hf hdr="0" ft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黑体" pitchFamily="2" charset="-122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黑体" pitchFamily="2" charset="-122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黑体" pitchFamily="2" charset="-122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黑体" pitchFamily="2" charset="-122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黑体" pitchFamily="2" charset="-122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黑体" pitchFamily="2" charset="-122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黑体" pitchFamily="2" charset="-122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100000"/>
        <a:buBlip>
          <a:blip r:embed="rId18"/>
        </a:buBlip>
        <a:defRPr lang="zh-CN" altLang="en-US" sz="2800" b="1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100000"/>
        <a:buBlip>
          <a:blip r:embed="rId19"/>
        </a:buBlip>
        <a:defRPr lang="zh-CN" altLang="en-US" sz="2400" b="1" dirty="0" smtClean="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5000"/>
        <a:buBlip>
          <a:blip r:embed="rId20"/>
        </a:buBlip>
        <a:defRPr sz="20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Ø"/>
        <a:defRPr sz="2000" b="1">
          <a:solidFill>
            <a:schemeClr val="tx1"/>
          </a:solidFill>
          <a:latin typeface="+mn-lt"/>
          <a:ea typeface="楷体_GB2312" pitchFamily="49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楷体_GB2312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楷体_GB2312" pitchFamily="49" charset="-122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楷体_GB2312" pitchFamily="49" charset="-122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楷体_GB2312" pitchFamily="49" charset="-122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楷体_GB2312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3.jpeg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10" Type="http://schemas.openxmlformats.org/officeDocument/2006/relationships/image" Target="../media/image17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5.jpeg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jpeg"/><Relationship Id="rId5" Type="http://schemas.openxmlformats.org/officeDocument/2006/relationships/image" Target="../media/image26.jpeg"/><Relationship Id="rId4" Type="http://schemas.openxmlformats.org/officeDocument/2006/relationships/image" Target="../media/image18.jpe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jpe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jpe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jpeg"/><Relationship Id="rId9" Type="http://schemas.openxmlformats.org/officeDocument/2006/relationships/image" Target="../media/image4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0.png"/><Relationship Id="rId4" Type="http://schemas.openxmlformats.org/officeDocument/2006/relationships/image" Target="../media/image4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3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5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7.png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0118" y="214290"/>
            <a:ext cx="8229600" cy="6334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本章目标</a:t>
            </a:r>
          </a:p>
        </p:txBody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54" y="1276351"/>
            <a:ext cx="7645398" cy="5010170"/>
          </a:xfrm>
        </p:spPr>
        <p:txBody>
          <a:bodyPr/>
          <a:lstStyle/>
          <a:p>
            <a:r>
              <a:rPr lang="zh-CN" altLang="en-US" dirty="0"/>
              <a:t>掌握类和</a:t>
            </a:r>
            <a:r>
              <a:rPr lang="zh-CN" altLang="en-US" dirty="0" smtClean="0"/>
              <a:t>对象</a:t>
            </a:r>
            <a:endParaRPr lang="zh-CN" altLang="en-US" dirty="0"/>
          </a:p>
          <a:p>
            <a:r>
              <a:rPr lang="zh-CN" altLang="en-US" dirty="0"/>
              <a:t>理解封装</a:t>
            </a:r>
          </a:p>
          <a:p>
            <a:r>
              <a:rPr lang="zh-CN" altLang="en-US" dirty="0"/>
              <a:t>会创建和使用对象</a:t>
            </a:r>
          </a:p>
        </p:txBody>
      </p:sp>
      <p:pic>
        <p:nvPicPr>
          <p:cNvPr id="6" name="Picture 2" descr="C:\Users\meng.zhang\Desktop\ACCP7.0模版图标规范\啊-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00291" y="1066154"/>
            <a:ext cx="643477" cy="648334"/>
          </a:xfrm>
          <a:prstGeom prst="rect">
            <a:avLst/>
          </a:prstGeom>
          <a:noFill/>
        </p:spPr>
      </p:pic>
      <p:pic>
        <p:nvPicPr>
          <p:cNvPr id="7" name="Picture 3" descr="C:\Users\meng.zhang\Desktop\ACCP7.0模版图标规范\是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8" y="2209162"/>
            <a:ext cx="714380" cy="719772"/>
          </a:xfrm>
          <a:prstGeom prst="rect">
            <a:avLst/>
          </a:prstGeom>
          <a:noFill/>
        </p:spPr>
      </p:pic>
      <p:pic>
        <p:nvPicPr>
          <p:cNvPr id="8" name="Picture 3" descr="C:\Users\meng.zhang\Desktop\ACCP7.0模版图标规范\是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8" y="994716"/>
            <a:ext cx="714380" cy="719772"/>
          </a:xfrm>
          <a:prstGeom prst="rect">
            <a:avLst/>
          </a:prstGeom>
          <a:noFill/>
        </p:spPr>
      </p:pic>
      <p:sp>
        <p:nvSpPr>
          <p:cNvPr id="10" name="灯片编号占位符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1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426" name="Picture 2" descr="earth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35375" y="2349500"/>
            <a:ext cx="2232025" cy="2232025"/>
          </a:xfrm>
          <a:prstGeom prst="rect">
            <a:avLst/>
          </a:prstGeom>
          <a:noFill/>
        </p:spPr>
      </p:pic>
      <p:sp>
        <p:nvSpPr>
          <p:cNvPr id="4874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00118" y="214290"/>
            <a:ext cx="8229600" cy="503238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万物皆对象</a:t>
            </a:r>
          </a:p>
        </p:txBody>
      </p:sp>
      <p:sp>
        <p:nvSpPr>
          <p:cNvPr id="48742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71556" y="1268413"/>
            <a:ext cx="8229600" cy="4525962"/>
          </a:xfrm>
        </p:spPr>
        <p:txBody>
          <a:bodyPr/>
          <a:lstStyle/>
          <a:p>
            <a:r>
              <a:rPr lang="zh-CN" altLang="en-US" dirty="0"/>
              <a:t>世界是由什么组成的？ 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39750" y="1916113"/>
            <a:ext cx="8316913" cy="3959225"/>
            <a:chOff x="521" y="1389"/>
            <a:chExt cx="5239" cy="2494"/>
          </a:xfrm>
        </p:grpSpPr>
        <p:pic>
          <p:nvPicPr>
            <p:cNvPr id="487430" name="Picture 6" descr="objectspic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21" y="1389"/>
              <a:ext cx="5239" cy="2494"/>
            </a:xfrm>
            <a:prstGeom prst="rect">
              <a:avLst/>
            </a:prstGeom>
            <a:noFill/>
          </p:spPr>
        </p:pic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748" y="1449"/>
              <a:ext cx="4695" cy="1673"/>
              <a:chOff x="748" y="1540"/>
              <a:chExt cx="4695" cy="1673"/>
            </a:xfrm>
          </p:grpSpPr>
          <p:sp>
            <p:nvSpPr>
              <p:cNvPr id="487432" name="Rectangle 8"/>
              <p:cNvSpPr>
                <a:spLocks noChangeArrowheads="1"/>
              </p:cNvSpPr>
              <p:nvPr/>
            </p:nvSpPr>
            <p:spPr bwMode="auto">
              <a:xfrm>
                <a:off x="748" y="1623"/>
                <a:ext cx="635" cy="192"/>
              </a:xfrm>
              <a:prstGeom prst="rect">
                <a:avLst/>
              </a:prstGeom>
              <a:solidFill>
                <a:srgbClr val="FF00FF"/>
              </a:solidFill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r>
                  <a:rPr lang="zh-CN" altLang="en-US" b="1">
                    <a:solidFill>
                      <a:schemeClr val="bg1"/>
                    </a:solidFill>
                    <a:ea typeface="黑体" pitchFamily="2" charset="-122"/>
                  </a:rPr>
                  <a:t>            名胜             </a:t>
                </a:r>
              </a:p>
            </p:txBody>
          </p:sp>
          <p:sp>
            <p:nvSpPr>
              <p:cNvPr id="487433" name="Rectangle 9"/>
              <p:cNvSpPr>
                <a:spLocks noChangeArrowheads="1"/>
              </p:cNvSpPr>
              <p:nvPr/>
            </p:nvSpPr>
            <p:spPr bwMode="auto">
              <a:xfrm>
                <a:off x="3923" y="1842"/>
                <a:ext cx="726" cy="182"/>
              </a:xfrm>
              <a:prstGeom prst="rect">
                <a:avLst/>
              </a:prstGeom>
              <a:solidFill>
                <a:srgbClr val="FF00FF"/>
              </a:solidFill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r>
                  <a:rPr lang="zh-CN" altLang="en-US" b="1">
                    <a:solidFill>
                      <a:schemeClr val="bg1"/>
                    </a:solidFill>
                    <a:ea typeface="黑体" pitchFamily="2" charset="-122"/>
                  </a:rPr>
                  <a:t>人</a:t>
                </a:r>
              </a:p>
            </p:txBody>
          </p:sp>
          <p:sp>
            <p:nvSpPr>
              <p:cNvPr id="487434" name="Rectangle 10"/>
              <p:cNvSpPr>
                <a:spLocks noChangeArrowheads="1"/>
              </p:cNvSpPr>
              <p:nvPr/>
            </p:nvSpPr>
            <p:spPr bwMode="auto">
              <a:xfrm>
                <a:off x="793" y="3022"/>
                <a:ext cx="1134" cy="191"/>
              </a:xfrm>
              <a:prstGeom prst="rect">
                <a:avLst/>
              </a:prstGeom>
              <a:solidFill>
                <a:srgbClr val="FF00FF"/>
              </a:solidFill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r>
                  <a:rPr lang="zh-CN" altLang="en-US" b="1">
                    <a:solidFill>
                      <a:schemeClr val="bg1"/>
                    </a:solidFill>
                    <a:ea typeface="黑体" pitchFamily="2" charset="-122"/>
                  </a:rPr>
                  <a:t>          物品             </a:t>
                </a:r>
              </a:p>
            </p:txBody>
          </p:sp>
          <p:sp>
            <p:nvSpPr>
              <p:cNvPr id="487435" name="Rectangle 11"/>
              <p:cNvSpPr>
                <a:spLocks noChangeArrowheads="1"/>
              </p:cNvSpPr>
              <p:nvPr/>
            </p:nvSpPr>
            <p:spPr bwMode="auto">
              <a:xfrm>
                <a:off x="3946" y="1540"/>
                <a:ext cx="1497" cy="238"/>
              </a:xfrm>
              <a:prstGeom prst="rect">
                <a:avLst/>
              </a:prstGeom>
              <a:solidFill>
                <a:srgbClr val="FF00FF"/>
              </a:solidFill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r>
                  <a:rPr lang="zh-CN" altLang="en-US" b="1">
                    <a:solidFill>
                      <a:schemeClr val="bg1"/>
                    </a:solidFill>
                    <a:latin typeface="黑体" pitchFamily="2" charset="-122"/>
                    <a:ea typeface="黑体" pitchFamily="2" charset="-122"/>
                  </a:rPr>
                  <a:t>        动物 ，植物</a:t>
                </a:r>
                <a:r>
                  <a:rPr lang="en-US" altLang="zh-CN" b="1">
                    <a:solidFill>
                      <a:schemeClr val="bg1"/>
                    </a:solidFill>
                    <a:latin typeface="Arial"/>
                    <a:ea typeface="黑体" pitchFamily="2" charset="-122"/>
                  </a:rPr>
                  <a:t>……</a:t>
                </a:r>
                <a:r>
                  <a:rPr lang="en-US" altLang="zh-CN" b="1">
                    <a:solidFill>
                      <a:schemeClr val="bg1"/>
                    </a:solidFill>
                    <a:latin typeface="黑体" pitchFamily="2" charset="-122"/>
                    <a:ea typeface="黑体" pitchFamily="2" charset="-122"/>
                  </a:rPr>
                  <a:t>        </a:t>
                </a:r>
                <a:r>
                  <a:rPr lang="en-US" altLang="zh-CN" b="1">
                    <a:solidFill>
                      <a:schemeClr val="bg1"/>
                    </a:solidFill>
                    <a:ea typeface="宋体" charset="-122"/>
                  </a:rPr>
                  <a:t> </a:t>
                </a:r>
              </a:p>
            </p:txBody>
          </p:sp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657" y="1550"/>
              <a:ext cx="4854" cy="1245"/>
              <a:chOff x="657" y="1550"/>
              <a:chExt cx="4854" cy="1245"/>
            </a:xfrm>
          </p:grpSpPr>
          <p:pic>
            <p:nvPicPr>
              <p:cNvPr id="487437" name="Picture 13" descr="big ben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2948" y="1550"/>
                <a:ext cx="780" cy="1200"/>
              </a:xfrm>
              <a:prstGeom prst="rect">
                <a:avLst/>
              </a:prstGeom>
              <a:noFill/>
            </p:spPr>
          </p:pic>
          <p:pic>
            <p:nvPicPr>
              <p:cNvPr id="487438" name="Picture 14" descr="great wall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57" y="1796"/>
                <a:ext cx="1384" cy="954"/>
              </a:xfrm>
              <a:prstGeom prst="rect">
                <a:avLst/>
              </a:prstGeom>
              <a:noFill/>
            </p:spPr>
          </p:pic>
          <p:pic>
            <p:nvPicPr>
              <p:cNvPr id="487439" name="Picture 15" descr="temple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2063" y="1640"/>
                <a:ext cx="862" cy="1110"/>
              </a:xfrm>
              <a:prstGeom prst="rect">
                <a:avLst/>
              </a:prstGeom>
              <a:noFill/>
            </p:spPr>
          </p:pic>
          <p:pic>
            <p:nvPicPr>
              <p:cNvPr id="487440" name="Picture 16" descr="贝克汉姆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3923" y="1933"/>
                <a:ext cx="726" cy="862"/>
              </a:xfrm>
              <a:prstGeom prst="rect">
                <a:avLst/>
              </a:prstGeom>
              <a:noFill/>
            </p:spPr>
          </p:pic>
          <p:pic>
            <p:nvPicPr>
              <p:cNvPr id="487441" name="Picture 17" descr="xiaotian"/>
              <p:cNvPicPr>
                <a:picLocks noChangeAspect="1" noChangeArrowheads="1"/>
              </p:cNvPicPr>
              <p:nvPr/>
            </p:nvPicPr>
            <p:blipFill>
              <a:blip r:embed="rId9"/>
              <a:srcRect/>
              <a:stretch>
                <a:fillRect/>
              </a:stretch>
            </p:blipFill>
            <p:spPr bwMode="auto">
              <a:xfrm>
                <a:off x="4649" y="1751"/>
                <a:ext cx="862" cy="1044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487442" name="AutoShape 18"/>
          <p:cNvSpPr>
            <a:spLocks noChangeArrowheads="1"/>
          </p:cNvSpPr>
          <p:nvPr/>
        </p:nvSpPr>
        <p:spPr bwMode="auto">
          <a:xfrm>
            <a:off x="2195513" y="5949950"/>
            <a:ext cx="5013325" cy="709613"/>
          </a:xfrm>
          <a:prstGeom prst="roundRect">
            <a:avLst>
              <a:gd name="adj" fmla="val 147"/>
            </a:avLst>
          </a:prstGeom>
          <a:solidFill>
            <a:srgbClr val="E4FCE4"/>
          </a:solidFill>
          <a:ln w="9525" algn="ctr">
            <a:solidFill>
              <a:srgbClr val="66CCFF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en-US" b="1" dirty="0"/>
              <a:t>分类是人们认识世界的一个很自然的过程，在日常生活中会不自觉地进行分类</a:t>
            </a:r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2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4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9483" name="Object 11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4605366" y="2565400"/>
          <a:ext cx="2481263" cy="2808288"/>
        </p:xfrm>
        <a:graphic>
          <a:graphicData uri="http://schemas.openxmlformats.org/presentationml/2006/ole">
            <p:oleObj spid="_x0000_s31810" name="Visio" r:id="rId4" imgW="1468755" imgH="1662176" progId="Visio.Drawing.11">
              <p:embed/>
            </p:oleObj>
          </a:graphicData>
        </a:graphic>
      </p:graphicFrame>
      <p:sp>
        <p:nvSpPr>
          <p:cNvPr id="489474" name="Rectangle 2"/>
          <p:cNvSpPr>
            <a:spLocks noGrp="1" noChangeArrowheads="1"/>
          </p:cNvSpPr>
          <p:nvPr>
            <p:ph type="title" sz="quarter"/>
          </p:nvPr>
        </p:nvSpPr>
        <p:spPr bwMode="auto">
          <a:xfrm>
            <a:off x="700118" y="214298"/>
            <a:ext cx="8229600" cy="1143000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3600" b="1" dirty="0">
                <a:solidFill>
                  <a:schemeClr val="tx2">
                    <a:lumMod val="75000"/>
                  </a:schemeClr>
                </a:solidFill>
              </a:rPr>
              <a:t>身边的对象</a:t>
            </a:r>
          </a:p>
        </p:txBody>
      </p:sp>
      <p:graphicFrame>
        <p:nvGraphicFramePr>
          <p:cNvPr id="489481" name="Object 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73116" y="2565400"/>
          <a:ext cx="2301875" cy="2663825"/>
        </p:xfrm>
        <a:graphic>
          <a:graphicData uri="http://schemas.openxmlformats.org/presentationml/2006/ole">
            <p:oleObj spid="_x0000_s31811" name="Visio" r:id="rId5" imgW="1468755" imgH="1697939" progId="Visio.Drawing.11">
              <p:embed/>
            </p:oleObj>
          </a:graphicData>
        </a:graphic>
      </p:graphicFrame>
      <p:sp>
        <p:nvSpPr>
          <p:cNvPr id="489475" name="AutoShape 3"/>
          <p:cNvSpPr>
            <a:spLocks noChangeArrowheads="1"/>
          </p:cNvSpPr>
          <p:nvPr/>
        </p:nvSpPr>
        <p:spPr bwMode="auto">
          <a:xfrm>
            <a:off x="876256" y="1638300"/>
            <a:ext cx="1266852" cy="408623"/>
          </a:xfrm>
          <a:prstGeom prst="wedgeRoundRectCallout">
            <a:avLst>
              <a:gd name="adj1" fmla="val 400"/>
              <a:gd name="adj2" fmla="val 47521"/>
              <a:gd name="adj3" fmla="val 16667"/>
            </a:avLst>
          </a:prstGeom>
          <a:solidFill>
            <a:srgbClr val="E4FCE4"/>
          </a:solidFill>
          <a:ln w="9525" algn="ctr">
            <a:solidFill>
              <a:srgbClr val="66CCFF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sz="2000" b="1" dirty="0"/>
              <a:t>张浩</a:t>
            </a:r>
          </a:p>
        </p:txBody>
      </p:sp>
      <p:sp>
        <p:nvSpPr>
          <p:cNvPr id="489476" name="AutoShape 4"/>
          <p:cNvSpPr>
            <a:spLocks noChangeArrowheads="1"/>
          </p:cNvSpPr>
          <p:nvPr/>
        </p:nvSpPr>
        <p:spPr bwMode="gray">
          <a:xfrm>
            <a:off x="5829329" y="1643050"/>
            <a:ext cx="1295400" cy="417525"/>
          </a:xfrm>
          <a:prstGeom prst="wedgeRoundRectCallout">
            <a:avLst>
              <a:gd name="adj1" fmla="val -1216"/>
              <a:gd name="adj2" fmla="val 51725"/>
              <a:gd name="adj3" fmla="val 16667"/>
            </a:avLst>
          </a:prstGeom>
          <a:solidFill>
            <a:srgbClr val="E4FCE4"/>
          </a:solidFill>
          <a:ln w="9525" algn="ctr">
            <a:solidFill>
              <a:srgbClr val="66CCFF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en-US" sz="2000" b="1" dirty="0"/>
              <a:t>李明</a:t>
            </a:r>
          </a:p>
        </p:txBody>
      </p:sp>
      <p:sp>
        <p:nvSpPr>
          <p:cNvPr id="489477" name="AutoShape 5"/>
          <p:cNvSpPr>
            <a:spLocks noChangeArrowheads="1"/>
          </p:cNvSpPr>
          <p:nvPr/>
        </p:nvSpPr>
        <p:spPr bwMode="gray">
          <a:xfrm>
            <a:off x="6929454" y="2928934"/>
            <a:ext cx="1801812" cy="2520950"/>
          </a:xfrm>
          <a:prstGeom prst="roundRect">
            <a:avLst>
              <a:gd name="adj" fmla="val 1443"/>
            </a:avLst>
          </a:prstGeom>
          <a:solidFill>
            <a:srgbClr val="E4FCE4"/>
          </a:solidFill>
          <a:ln w="9525" algn="ctr">
            <a:solidFill>
              <a:srgbClr val="66CCFF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en-US" sz="1600" b="1" dirty="0"/>
              <a:t>收银员</a:t>
            </a:r>
          </a:p>
          <a:p>
            <a:pPr algn="l" eaLnBrk="0" hangingPunct="0">
              <a:defRPr/>
            </a:pPr>
            <a:endParaRPr lang="zh-CN" altLang="en-US" sz="1600" b="1" dirty="0"/>
          </a:p>
          <a:p>
            <a:pPr algn="l" eaLnBrk="0" hangingPunct="0">
              <a:defRPr/>
            </a:pPr>
            <a:r>
              <a:rPr lang="zh-CN" altLang="en-US" sz="1600" b="1" dirty="0"/>
              <a:t> 员工号</a:t>
            </a:r>
            <a:r>
              <a:rPr lang="en-US" altLang="zh-CN" sz="1600" b="1" dirty="0"/>
              <a:t>—10001</a:t>
            </a:r>
          </a:p>
          <a:p>
            <a:pPr algn="l" eaLnBrk="0" hangingPunct="0">
              <a:defRPr/>
            </a:pPr>
            <a:r>
              <a:rPr lang="en-US" altLang="zh-CN" sz="1600" b="1" dirty="0"/>
              <a:t> </a:t>
            </a:r>
            <a:r>
              <a:rPr lang="zh-CN" altLang="en-US" sz="1600" b="1" dirty="0"/>
              <a:t>姓名</a:t>
            </a:r>
            <a:r>
              <a:rPr lang="en-US" altLang="zh-CN" sz="1600" b="1" dirty="0"/>
              <a:t>—</a:t>
            </a:r>
            <a:r>
              <a:rPr lang="zh-CN" altLang="en-US" sz="1600" b="1" dirty="0"/>
              <a:t>李明</a:t>
            </a:r>
          </a:p>
          <a:p>
            <a:pPr algn="l" eaLnBrk="0" hangingPunct="0">
              <a:defRPr/>
            </a:pPr>
            <a:r>
              <a:rPr lang="zh-CN" altLang="en-US" sz="1600" b="1" dirty="0"/>
              <a:t> 部门</a:t>
            </a:r>
            <a:r>
              <a:rPr lang="en-US" altLang="zh-CN" sz="1600" b="1" dirty="0"/>
              <a:t>—</a:t>
            </a:r>
            <a:r>
              <a:rPr lang="zh-CN" altLang="en-US" sz="1600" b="1" dirty="0"/>
              <a:t>财务部</a:t>
            </a:r>
          </a:p>
          <a:p>
            <a:pPr algn="l" eaLnBrk="0" hangingPunct="0">
              <a:defRPr/>
            </a:pPr>
            <a:endParaRPr lang="zh-CN" altLang="en-US" sz="1600" b="1" dirty="0"/>
          </a:p>
          <a:p>
            <a:pPr algn="l" eaLnBrk="0" hangingPunct="0">
              <a:defRPr/>
            </a:pPr>
            <a:r>
              <a:rPr lang="zh-CN" altLang="en-US" sz="1600" b="1" dirty="0"/>
              <a:t> 操作：</a:t>
            </a:r>
          </a:p>
          <a:p>
            <a:pPr algn="l" eaLnBrk="0" hangingPunct="0">
              <a:defRPr/>
            </a:pPr>
            <a:r>
              <a:rPr lang="zh-CN" altLang="en-US" sz="1600" b="1" dirty="0"/>
              <a:t> 收款</a:t>
            </a:r>
          </a:p>
          <a:p>
            <a:pPr algn="l" eaLnBrk="0" hangingPunct="0">
              <a:defRPr/>
            </a:pPr>
            <a:r>
              <a:rPr lang="zh-CN" altLang="en-US" sz="1600" b="1" dirty="0"/>
              <a:t> 打印账单</a:t>
            </a:r>
          </a:p>
        </p:txBody>
      </p:sp>
      <p:sp>
        <p:nvSpPr>
          <p:cNvPr id="489479" name="AutoShape 7"/>
          <p:cNvSpPr>
            <a:spLocks noChangeArrowheads="1"/>
          </p:cNvSpPr>
          <p:nvPr/>
        </p:nvSpPr>
        <p:spPr bwMode="auto">
          <a:xfrm>
            <a:off x="2805141" y="3000372"/>
            <a:ext cx="1695421" cy="2428892"/>
          </a:xfrm>
          <a:prstGeom prst="roundRect">
            <a:avLst>
              <a:gd name="adj" fmla="val 0"/>
            </a:avLst>
          </a:prstGeom>
          <a:solidFill>
            <a:srgbClr val="E4FCE4"/>
          </a:solidFill>
          <a:ln w="9525" algn="ctr">
            <a:solidFill>
              <a:srgbClr val="66CCFF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sz="1600" b="1" dirty="0"/>
              <a:t>顾客</a:t>
            </a:r>
          </a:p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endParaRPr lang="zh-CN" altLang="en-US" sz="1600" b="1" dirty="0"/>
          </a:p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sz="1600" b="1" dirty="0"/>
              <a:t>姓名</a:t>
            </a:r>
            <a:r>
              <a:rPr lang="en-US" altLang="zh-CN" sz="1600" b="1" dirty="0"/>
              <a:t>—</a:t>
            </a:r>
            <a:r>
              <a:rPr lang="zh-CN" altLang="en-US" sz="1600" b="1" dirty="0"/>
              <a:t>张浩</a:t>
            </a:r>
          </a:p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sz="1600" b="1" dirty="0"/>
              <a:t>年龄</a:t>
            </a:r>
            <a:r>
              <a:rPr lang="en-US" altLang="zh-CN" sz="1600" b="1" dirty="0"/>
              <a:t>—20</a:t>
            </a:r>
          </a:p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sz="1600" b="1" dirty="0"/>
              <a:t>体重</a:t>
            </a:r>
            <a:r>
              <a:rPr lang="en-US" altLang="zh-CN" sz="1600" b="1" dirty="0"/>
              <a:t>—60kg</a:t>
            </a:r>
          </a:p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endParaRPr lang="en-US" altLang="zh-CN" sz="1600" b="1" dirty="0"/>
          </a:p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en-US" altLang="zh-CN" sz="1600" b="1" dirty="0"/>
              <a:t> </a:t>
            </a:r>
            <a:r>
              <a:rPr lang="zh-CN" altLang="en-US" sz="1600" b="1" dirty="0"/>
              <a:t>操作：</a:t>
            </a:r>
          </a:p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sz="1600" b="1" dirty="0"/>
              <a:t> 购买商品</a:t>
            </a:r>
          </a:p>
        </p:txBody>
      </p:sp>
      <p:sp>
        <p:nvSpPr>
          <p:cNvPr id="9" name="灯片编号占位符 15"/>
          <p:cNvSpPr txBox="1">
            <a:spLocks/>
          </p:cNvSpPr>
          <p:nvPr/>
        </p:nvSpPr>
        <p:spPr>
          <a:xfrm>
            <a:off x="6938963" y="6421438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fld id="{9394C29D-ED0C-453C-8BBC-C52F19F5BA76}" type="slidenum">
              <a:rPr lang="zh-CN" altLang="en-US" sz="1200" smtClean="0"/>
              <a:pPr marL="0" marR="0" lvl="0" indent="0" algn="r" defTabSz="914400" eaLnBrk="1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t>3</a:t>
            </a:fld>
            <a:r>
              <a:rPr lang="en-US" altLang="zh-CN" sz="1200" dirty="0" smtClean="0"/>
              <a:t>/40</a:t>
            </a:r>
            <a:endParaRPr lang="zh-CN" altLang="en-US" sz="1200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3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8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8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5" grpId="0" animBg="1"/>
      <p:bldP spid="489476" grpId="0" animBg="1"/>
      <p:bldP spid="489477" grpId="0" animBg="1"/>
      <p:bldP spid="48947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506" name="Line 10"/>
          <p:cNvSpPr>
            <a:spLocks noChangeShapeType="1"/>
          </p:cNvSpPr>
          <p:nvPr/>
        </p:nvSpPr>
        <p:spPr bwMode="auto">
          <a:xfrm>
            <a:off x="4857752" y="4799970"/>
            <a:ext cx="1441448" cy="1110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0505" name="Line 9"/>
          <p:cNvSpPr>
            <a:spLocks noChangeShapeType="1"/>
          </p:cNvSpPr>
          <p:nvPr/>
        </p:nvSpPr>
        <p:spPr bwMode="auto">
          <a:xfrm>
            <a:off x="4857752" y="3874244"/>
            <a:ext cx="1516061" cy="85174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0118" y="214290"/>
            <a:ext cx="8229600" cy="720725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对象的特征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——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属性</a:t>
            </a:r>
          </a:p>
        </p:txBody>
      </p:sp>
      <p:sp>
        <p:nvSpPr>
          <p:cNvPr id="490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1556" y="1285860"/>
            <a:ext cx="8229600" cy="5400675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 dirty="0"/>
              <a:t>属性</a:t>
            </a:r>
            <a:r>
              <a:rPr lang="en-US" altLang="zh-CN" dirty="0"/>
              <a:t>——</a:t>
            </a:r>
            <a:r>
              <a:rPr lang="zh-CN" altLang="en-US" dirty="0"/>
              <a:t>对象具有的各种特征</a:t>
            </a:r>
          </a:p>
          <a:p>
            <a:pPr>
              <a:lnSpc>
                <a:spcPct val="115000"/>
              </a:lnSpc>
            </a:pPr>
            <a:r>
              <a:rPr lang="zh-CN" altLang="en-GB" dirty="0"/>
              <a:t>每个对象的每个属性都拥有特定值</a:t>
            </a:r>
          </a:p>
          <a:p>
            <a:pPr lvl="1">
              <a:lnSpc>
                <a:spcPct val="115000"/>
              </a:lnSpc>
            </a:pPr>
            <a:r>
              <a:rPr lang="zh-CN" altLang="en-GB" dirty="0"/>
              <a:t>例如：张浩和李明的年龄、姓名不一样</a:t>
            </a:r>
            <a:endParaRPr lang="zh-CN" altLang="en-US" dirty="0"/>
          </a:p>
        </p:txBody>
      </p:sp>
      <p:sp>
        <p:nvSpPr>
          <p:cNvPr id="490500" name="AutoShape 4"/>
          <p:cNvSpPr>
            <a:spLocks noChangeArrowheads="1"/>
          </p:cNvSpPr>
          <p:nvPr/>
        </p:nvSpPr>
        <p:spPr bwMode="auto">
          <a:xfrm>
            <a:off x="3906838" y="4565650"/>
            <a:ext cx="994183" cy="372904"/>
          </a:xfrm>
          <a:prstGeom prst="roundRect">
            <a:avLst>
              <a:gd name="adj" fmla="val 240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lvl="1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   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20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岁  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490501" name="AutoShape 5"/>
          <p:cNvSpPr>
            <a:spLocks noChangeArrowheads="1"/>
          </p:cNvSpPr>
          <p:nvPr/>
        </p:nvSpPr>
        <p:spPr bwMode="auto">
          <a:xfrm>
            <a:off x="3906838" y="3773488"/>
            <a:ext cx="970138" cy="369332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lvl="1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 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  张浩  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490502" name="Line 6"/>
          <p:cNvSpPr>
            <a:spLocks noChangeShapeType="1"/>
          </p:cNvSpPr>
          <p:nvPr/>
        </p:nvSpPr>
        <p:spPr bwMode="auto">
          <a:xfrm flipV="1">
            <a:off x="2771775" y="4005263"/>
            <a:ext cx="1150938" cy="5032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0503" name="Line 7"/>
          <p:cNvSpPr>
            <a:spLocks noChangeShapeType="1"/>
          </p:cNvSpPr>
          <p:nvPr/>
        </p:nvSpPr>
        <p:spPr bwMode="auto">
          <a:xfrm>
            <a:off x="2771775" y="4797425"/>
            <a:ext cx="1152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0504" name="Line 8"/>
          <p:cNvSpPr>
            <a:spLocks noChangeShapeType="1"/>
          </p:cNvSpPr>
          <p:nvPr/>
        </p:nvSpPr>
        <p:spPr bwMode="auto">
          <a:xfrm>
            <a:off x="2771775" y="5084763"/>
            <a:ext cx="1296988" cy="576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0507" name="Line 11"/>
          <p:cNvSpPr>
            <a:spLocks noChangeShapeType="1"/>
          </p:cNvSpPr>
          <p:nvPr/>
        </p:nvSpPr>
        <p:spPr bwMode="auto">
          <a:xfrm flipV="1">
            <a:off x="4859338" y="5084763"/>
            <a:ext cx="1584325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0508" name="Oval 12"/>
          <p:cNvSpPr>
            <a:spLocks noChangeArrowheads="1"/>
          </p:cNvSpPr>
          <p:nvPr/>
        </p:nvSpPr>
        <p:spPr bwMode="auto">
          <a:xfrm>
            <a:off x="6300788" y="4437063"/>
            <a:ext cx="1725612" cy="863600"/>
          </a:xfrm>
          <a:prstGeom prst="ellipse">
            <a:avLst/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en-US" b="1" dirty="0"/>
              <a:t>属性 </a:t>
            </a:r>
          </a:p>
        </p:txBody>
      </p:sp>
      <p:sp>
        <p:nvSpPr>
          <p:cNvPr id="490509" name="AutoShape 13"/>
          <p:cNvSpPr>
            <a:spLocks noChangeArrowheads="1"/>
          </p:cNvSpPr>
          <p:nvPr/>
        </p:nvSpPr>
        <p:spPr bwMode="auto">
          <a:xfrm>
            <a:off x="3906838" y="5429250"/>
            <a:ext cx="966932" cy="369332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lvl="1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   </a:t>
            </a:r>
            <a:r>
              <a:rPr lang="en-US" altLang="zh-CN" b="1" kern="0" dirty="0" smtClean="0">
                <a:solidFill>
                  <a:schemeClr val="bg1"/>
                </a:solidFill>
                <a:latin typeface="Arial"/>
                <a:ea typeface="黑体"/>
              </a:rPr>
              <a:t>60kg 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490511" name="AutoShape 15"/>
          <p:cNvSpPr>
            <a:spLocks noChangeArrowheads="1"/>
          </p:cNvSpPr>
          <p:nvPr/>
        </p:nvSpPr>
        <p:spPr bwMode="auto">
          <a:xfrm>
            <a:off x="684213" y="4365625"/>
            <a:ext cx="2087562" cy="792163"/>
          </a:xfrm>
          <a:prstGeom prst="roundRect">
            <a:avLst>
              <a:gd name="adj" fmla="val 3348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en-US" b="1" dirty="0" smtClean="0"/>
              <a:t>顾客张浩 </a:t>
            </a: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4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0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9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9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9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9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506" grpId="0" animBg="1"/>
      <p:bldP spid="490505" grpId="0" animBg="1"/>
      <p:bldP spid="490500" grpId="0" animBg="1"/>
      <p:bldP spid="490501" grpId="0" animBg="1"/>
      <p:bldP spid="490502" grpId="0" animBg="1"/>
      <p:bldP spid="490503" grpId="0" animBg="1"/>
      <p:bldP spid="490504" grpId="0" animBg="1"/>
      <p:bldP spid="490507" grpId="0" animBg="1"/>
      <p:bldP spid="490508" grpId="0" animBg="1"/>
      <p:bldP spid="490509" grpId="0" animBg="1"/>
      <p:bldP spid="4905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0118" y="214290"/>
            <a:ext cx="8229600" cy="792163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3600" b="1" dirty="0">
                <a:solidFill>
                  <a:schemeClr val="tx2">
                    <a:lumMod val="75000"/>
                  </a:schemeClr>
                </a:solidFill>
              </a:rPr>
              <a:t>对象的特征</a:t>
            </a:r>
            <a:r>
              <a:rPr lang="en-US" altLang="zh-CN" sz="3600" b="1" dirty="0">
                <a:solidFill>
                  <a:schemeClr val="tx2">
                    <a:lumMod val="75000"/>
                  </a:schemeClr>
                </a:solidFill>
              </a:rPr>
              <a:t>——</a:t>
            </a:r>
            <a:r>
              <a:rPr lang="zh-CN" altLang="en-US" sz="3600" b="1" dirty="0">
                <a:solidFill>
                  <a:schemeClr val="tx2">
                    <a:lumMod val="75000"/>
                  </a:schemeClr>
                </a:solidFill>
              </a:rPr>
              <a:t>方法</a:t>
            </a:r>
          </a:p>
        </p:txBody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1556" y="1285860"/>
            <a:ext cx="8229600" cy="5400675"/>
          </a:xfrm>
          <a:noFill/>
          <a:ln/>
        </p:spPr>
        <p:txBody>
          <a:bodyPr/>
          <a:lstStyle/>
          <a:p>
            <a:pPr>
              <a:buSzPct val="80000"/>
            </a:pPr>
            <a:r>
              <a:rPr dirty="0"/>
              <a:t>方法</a:t>
            </a:r>
            <a:r>
              <a:rPr lang="en-US" altLang="zh-CN" dirty="0"/>
              <a:t>——</a:t>
            </a:r>
            <a:r>
              <a:rPr dirty="0"/>
              <a:t>对象执行的操作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pPr>
              <a:buSzPct val="80000"/>
            </a:pPr>
            <a:r>
              <a:rPr dirty="0"/>
              <a:t>对象：用来描述客观事物的一个实体，由一组属性和方法构成</a:t>
            </a:r>
          </a:p>
          <a:p>
            <a:endParaRPr lang="zh-CN" altLang="en-US" dirty="0"/>
          </a:p>
        </p:txBody>
      </p:sp>
      <p:sp>
        <p:nvSpPr>
          <p:cNvPr id="491524" name="AutoShape 4"/>
          <p:cNvSpPr>
            <a:spLocks noChangeArrowheads="1"/>
          </p:cNvSpPr>
          <p:nvPr/>
        </p:nvSpPr>
        <p:spPr bwMode="auto">
          <a:xfrm>
            <a:off x="4202187" y="3141663"/>
            <a:ext cx="1278703" cy="408623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lvl="1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 打印账单 </a:t>
            </a:r>
          </a:p>
        </p:txBody>
      </p:sp>
      <p:sp>
        <p:nvSpPr>
          <p:cNvPr id="491526" name="Line 6"/>
          <p:cNvSpPr>
            <a:spLocks noChangeShapeType="1"/>
          </p:cNvSpPr>
          <p:nvPr/>
        </p:nvSpPr>
        <p:spPr bwMode="auto">
          <a:xfrm flipV="1">
            <a:off x="3005138" y="2581275"/>
            <a:ext cx="1150937" cy="5032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1527" name="Line 7"/>
          <p:cNvSpPr>
            <a:spLocks noChangeShapeType="1"/>
          </p:cNvSpPr>
          <p:nvPr/>
        </p:nvSpPr>
        <p:spPr bwMode="auto">
          <a:xfrm>
            <a:off x="3005138" y="3373438"/>
            <a:ext cx="1152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1528" name="Line 8"/>
          <p:cNvSpPr>
            <a:spLocks noChangeShapeType="1"/>
          </p:cNvSpPr>
          <p:nvPr/>
        </p:nvSpPr>
        <p:spPr bwMode="auto">
          <a:xfrm>
            <a:off x="3005138" y="3660775"/>
            <a:ext cx="1296987" cy="576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1529" name="Line 9"/>
          <p:cNvSpPr>
            <a:spLocks noChangeShapeType="1"/>
          </p:cNvSpPr>
          <p:nvPr/>
        </p:nvSpPr>
        <p:spPr bwMode="auto">
          <a:xfrm>
            <a:off x="5429256" y="2498319"/>
            <a:ext cx="1247769" cy="8036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1530" name="Line 10"/>
          <p:cNvSpPr>
            <a:spLocks noChangeShapeType="1"/>
          </p:cNvSpPr>
          <p:nvPr/>
        </p:nvSpPr>
        <p:spPr bwMode="auto">
          <a:xfrm>
            <a:off x="5453063" y="3444875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1531" name="Line 11"/>
          <p:cNvSpPr>
            <a:spLocks noChangeShapeType="1"/>
          </p:cNvSpPr>
          <p:nvPr/>
        </p:nvSpPr>
        <p:spPr bwMode="auto">
          <a:xfrm flipV="1">
            <a:off x="5092700" y="3662363"/>
            <a:ext cx="1655763" cy="6461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1532" name="Oval 12"/>
          <p:cNvSpPr>
            <a:spLocks noChangeArrowheads="1"/>
          </p:cNvSpPr>
          <p:nvPr/>
        </p:nvSpPr>
        <p:spPr bwMode="auto">
          <a:xfrm>
            <a:off x="6677025" y="3013075"/>
            <a:ext cx="1584325" cy="863600"/>
          </a:xfrm>
          <a:prstGeom prst="ellipse">
            <a:avLst/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en-US" b="1" dirty="0" smtClean="0"/>
              <a:t>方法 </a:t>
            </a:r>
          </a:p>
        </p:txBody>
      </p:sp>
      <p:sp>
        <p:nvSpPr>
          <p:cNvPr id="491533" name="AutoShape 13"/>
          <p:cNvSpPr>
            <a:spLocks noChangeArrowheads="1"/>
          </p:cNvSpPr>
          <p:nvPr/>
        </p:nvSpPr>
        <p:spPr bwMode="auto">
          <a:xfrm>
            <a:off x="4284663" y="4005263"/>
            <a:ext cx="1196227" cy="408623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lvl="1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    刷卡    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491535" name="AutoShape 15"/>
          <p:cNvSpPr>
            <a:spLocks noChangeArrowheads="1"/>
          </p:cNvSpPr>
          <p:nvPr/>
        </p:nvSpPr>
        <p:spPr bwMode="auto">
          <a:xfrm>
            <a:off x="917575" y="2941638"/>
            <a:ext cx="2141538" cy="792162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en-US" b="1" dirty="0" smtClean="0"/>
              <a:t>收银员李明</a:t>
            </a:r>
          </a:p>
        </p:txBody>
      </p:sp>
      <p:sp>
        <p:nvSpPr>
          <p:cNvPr id="15" name="灯片编号占位符 15"/>
          <p:cNvSpPr txBox="1">
            <a:spLocks/>
          </p:cNvSpPr>
          <p:nvPr/>
        </p:nvSpPr>
        <p:spPr>
          <a:xfrm>
            <a:off x="6938963" y="6421438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fld id="{9394C29D-ED0C-453C-8BBC-C52F19F5BA76}" type="slidenum">
              <a:rPr lang="zh-CN" altLang="en-US" sz="1200" smtClean="0"/>
              <a:pPr marL="0" marR="0" lvl="0" indent="0" algn="r" defTabSz="914400" eaLnBrk="1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t>5</a:t>
            </a:fld>
            <a:r>
              <a:rPr lang="en-US" altLang="zh-CN" sz="1200" dirty="0" smtClean="0"/>
              <a:t>/40</a:t>
            </a:r>
            <a:endParaRPr lang="zh-CN" altLang="en-US" sz="1200" dirty="0"/>
          </a:p>
        </p:txBody>
      </p:sp>
      <p:sp>
        <p:nvSpPr>
          <p:cNvPr id="491525" name="AutoShape 5"/>
          <p:cNvSpPr>
            <a:spLocks noChangeArrowheads="1"/>
          </p:cNvSpPr>
          <p:nvPr/>
        </p:nvSpPr>
        <p:spPr bwMode="auto">
          <a:xfrm>
            <a:off x="4152703" y="2349500"/>
            <a:ext cx="1328187" cy="408623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lvl="1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     收银     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5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9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9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9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9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9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1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4" grpId="0" animBg="1"/>
      <p:bldP spid="491526" grpId="0" animBg="1"/>
      <p:bldP spid="491527" grpId="0" animBg="1"/>
      <p:bldP spid="491528" grpId="0" animBg="1"/>
      <p:bldP spid="491529" grpId="0" animBg="1"/>
      <p:bldP spid="491530" grpId="0" animBg="1"/>
      <p:bldP spid="491531" grpId="0" animBg="1"/>
      <p:bldP spid="491532" grpId="0" animBg="1"/>
      <p:bldP spid="491533" grpId="0" animBg="1"/>
      <p:bldP spid="491535" grpId="0" animBg="1"/>
      <p:bldP spid="4915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36656" y="222250"/>
            <a:ext cx="7993062" cy="504825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3600" b="1" dirty="0">
                <a:solidFill>
                  <a:schemeClr val="tx2">
                    <a:lumMod val="75000"/>
                  </a:schemeClr>
                </a:solidFill>
              </a:rPr>
              <a:t>对象的属性和方法</a:t>
            </a:r>
          </a:p>
        </p:txBody>
      </p:sp>
      <p:sp>
        <p:nvSpPr>
          <p:cNvPr id="4925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98539" y="1268413"/>
            <a:ext cx="7559675" cy="4525962"/>
          </a:xfrm>
        </p:spPr>
        <p:txBody>
          <a:bodyPr/>
          <a:lstStyle/>
          <a:p>
            <a:pPr>
              <a:buSzPct val="80000"/>
            </a:pPr>
            <a:r>
              <a:rPr dirty="0"/>
              <a:t>列出尼古拉斯</a:t>
            </a:r>
            <a:r>
              <a:rPr lang="en-US" altLang="zh-CN" dirty="0"/>
              <a:t>·</a:t>
            </a:r>
            <a:r>
              <a:rPr dirty="0"/>
              <a:t>凯奇驾驶的这辆法拉利</a:t>
            </a:r>
            <a:r>
              <a:rPr lang="en-US" altLang="zh-CN" dirty="0"/>
              <a:t>F360 Spider</a:t>
            </a:r>
            <a:r>
              <a:rPr dirty="0"/>
              <a:t>的属性和方法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pPr>
              <a:buSzPct val="80000"/>
            </a:pPr>
            <a:r>
              <a:rPr dirty="0"/>
              <a:t>列出小狗对象的属性和方法</a:t>
            </a:r>
          </a:p>
        </p:txBody>
      </p:sp>
      <p:sp>
        <p:nvSpPr>
          <p:cNvPr id="492548" name="AutoShape 4"/>
          <p:cNvSpPr>
            <a:spLocks noChangeArrowheads="1"/>
          </p:cNvSpPr>
          <p:nvPr/>
        </p:nvSpPr>
        <p:spPr bwMode="auto">
          <a:xfrm>
            <a:off x="5572132" y="1773238"/>
            <a:ext cx="2665413" cy="2585323"/>
          </a:xfrm>
          <a:prstGeom prst="roundRect">
            <a:avLst>
              <a:gd name="adj" fmla="val 567"/>
            </a:avLst>
          </a:prstGeom>
          <a:solidFill>
            <a:srgbClr val="E4FCE4"/>
          </a:solidFill>
          <a:ln w="9525" algn="ctr">
            <a:solidFill>
              <a:srgbClr val="66CCFF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t" anchorCtr="0">
            <a:spAutoFit/>
          </a:bodyPr>
          <a:lstStyle/>
          <a:p>
            <a:pPr algn="l" eaLnBrk="0" hangingPunct="0">
              <a:defRPr/>
            </a:pPr>
            <a:r>
              <a:rPr lang="zh-CN" altLang="en-US" b="1" dirty="0"/>
              <a:t>属性：</a:t>
            </a:r>
          </a:p>
          <a:p>
            <a:pPr algn="l" eaLnBrk="0" hangingPunct="0">
              <a:defRPr/>
            </a:pPr>
            <a:r>
              <a:rPr lang="zh-CN" altLang="en-US" b="1" dirty="0"/>
              <a:t>  品牌：法拉利</a:t>
            </a:r>
          </a:p>
          <a:p>
            <a:pPr algn="l" eaLnBrk="0" hangingPunct="0">
              <a:defRPr/>
            </a:pPr>
            <a:r>
              <a:rPr lang="zh-CN" altLang="en-US" b="1" dirty="0"/>
              <a:t>  型号：</a:t>
            </a:r>
            <a:r>
              <a:rPr lang="en-US" altLang="zh-CN" b="1" dirty="0"/>
              <a:t>F360 Spider</a:t>
            </a:r>
          </a:p>
          <a:p>
            <a:pPr algn="l" eaLnBrk="0" hangingPunct="0">
              <a:defRPr/>
            </a:pPr>
            <a:r>
              <a:rPr lang="en-US" altLang="zh-CN" b="1" dirty="0"/>
              <a:t>  </a:t>
            </a:r>
            <a:r>
              <a:rPr lang="zh-CN" altLang="en-US" b="1" dirty="0"/>
              <a:t>颜色：黄色</a:t>
            </a:r>
          </a:p>
          <a:p>
            <a:pPr algn="l" eaLnBrk="0" hangingPunct="0">
              <a:defRPr/>
            </a:pPr>
            <a:r>
              <a:rPr lang="zh-CN" altLang="en-US" b="1" dirty="0"/>
              <a:t>  价格：</a:t>
            </a:r>
            <a:r>
              <a:rPr lang="en-US" altLang="zh-CN" b="1" dirty="0"/>
              <a:t>380</a:t>
            </a:r>
            <a:r>
              <a:rPr lang="zh-CN" altLang="en-US" b="1" dirty="0"/>
              <a:t>万元</a:t>
            </a:r>
          </a:p>
          <a:p>
            <a:pPr algn="l" eaLnBrk="0" hangingPunct="0">
              <a:defRPr/>
            </a:pPr>
            <a:r>
              <a:rPr lang="zh-CN" altLang="en-US" b="1" dirty="0"/>
              <a:t>方法：</a:t>
            </a:r>
          </a:p>
          <a:p>
            <a:pPr algn="l" eaLnBrk="0" hangingPunct="0">
              <a:defRPr/>
            </a:pPr>
            <a:r>
              <a:rPr lang="zh-CN" altLang="en-US" b="1" dirty="0"/>
              <a:t>  发动</a:t>
            </a:r>
          </a:p>
          <a:p>
            <a:pPr algn="l" eaLnBrk="0" hangingPunct="0">
              <a:defRPr/>
            </a:pPr>
            <a:r>
              <a:rPr lang="zh-CN" altLang="en-US" b="1" dirty="0"/>
              <a:t>  停止</a:t>
            </a:r>
          </a:p>
          <a:p>
            <a:pPr algn="l" eaLnBrk="0" hangingPunct="0">
              <a:defRPr/>
            </a:pPr>
            <a:r>
              <a:rPr lang="zh-CN" altLang="en-US" b="1" dirty="0"/>
              <a:t>  加速</a:t>
            </a:r>
          </a:p>
        </p:txBody>
      </p:sp>
      <p:sp>
        <p:nvSpPr>
          <p:cNvPr id="492549" name="AutoShape 5"/>
          <p:cNvSpPr>
            <a:spLocks noChangeArrowheads="1"/>
          </p:cNvSpPr>
          <p:nvPr/>
        </p:nvSpPr>
        <p:spPr bwMode="auto">
          <a:xfrm>
            <a:off x="5551514" y="4868863"/>
            <a:ext cx="2735262" cy="1800225"/>
          </a:xfrm>
          <a:prstGeom prst="roundRect">
            <a:avLst>
              <a:gd name="adj" fmla="val 310"/>
            </a:avLst>
          </a:prstGeom>
          <a:solidFill>
            <a:srgbClr val="E4FCE4"/>
          </a:solidFill>
          <a:ln w="9525" algn="ctr">
            <a:solidFill>
              <a:srgbClr val="66CCFF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t" anchorCtr="0">
            <a:spAutoFit/>
          </a:bodyPr>
          <a:lstStyle/>
          <a:p>
            <a:pPr algn="l" eaLnBrk="0" hangingPunct="0">
              <a:defRPr/>
            </a:pPr>
            <a:r>
              <a:rPr lang="zh-CN" altLang="en-US" b="1" dirty="0"/>
              <a:t>属性：  </a:t>
            </a:r>
          </a:p>
          <a:p>
            <a:pPr algn="l" eaLnBrk="0" hangingPunct="0">
              <a:defRPr/>
            </a:pPr>
            <a:r>
              <a:rPr lang="zh-CN" altLang="en-US" b="1" dirty="0"/>
              <a:t>  颜色：白色</a:t>
            </a:r>
          </a:p>
          <a:p>
            <a:pPr algn="l" eaLnBrk="0" hangingPunct="0">
              <a:defRPr/>
            </a:pPr>
            <a:r>
              <a:rPr lang="zh-CN" altLang="en-US" b="1" dirty="0"/>
              <a:t>方法： </a:t>
            </a:r>
          </a:p>
          <a:p>
            <a:pPr algn="l" eaLnBrk="0" hangingPunct="0">
              <a:defRPr/>
            </a:pPr>
            <a:r>
              <a:rPr lang="zh-CN" altLang="en-US" b="1" dirty="0"/>
              <a:t>  叫</a:t>
            </a:r>
          </a:p>
          <a:p>
            <a:pPr algn="l" eaLnBrk="0" hangingPunct="0">
              <a:defRPr/>
            </a:pPr>
            <a:r>
              <a:rPr lang="zh-CN" altLang="en-US" b="1" dirty="0"/>
              <a:t>  跑</a:t>
            </a:r>
          </a:p>
          <a:p>
            <a:pPr algn="l" eaLnBrk="0" hangingPunct="0">
              <a:defRPr/>
            </a:pPr>
            <a:r>
              <a:rPr lang="zh-CN" altLang="en-US" b="1" dirty="0"/>
              <a:t>  吃</a:t>
            </a:r>
          </a:p>
        </p:txBody>
      </p:sp>
      <p:pic>
        <p:nvPicPr>
          <p:cNvPr id="492550" name="Picture 6" descr="法拉利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3713" y="2205038"/>
            <a:ext cx="2784475" cy="2089150"/>
          </a:xfrm>
          <a:prstGeom prst="rect">
            <a:avLst/>
          </a:prstGeom>
          <a:noFill/>
        </p:spPr>
      </p:pic>
      <p:pic>
        <p:nvPicPr>
          <p:cNvPr id="492551" name="Picture 7" descr="dog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63713" y="4868863"/>
            <a:ext cx="2087562" cy="1731962"/>
          </a:xfrm>
          <a:prstGeom prst="rect">
            <a:avLst/>
          </a:prstGeom>
          <a:noFill/>
        </p:spPr>
      </p:pic>
      <p:sp>
        <p:nvSpPr>
          <p:cNvPr id="12" name="灯片编号占位符 15"/>
          <p:cNvSpPr txBox="1">
            <a:spLocks/>
          </p:cNvSpPr>
          <p:nvPr/>
        </p:nvSpPr>
        <p:spPr>
          <a:xfrm>
            <a:off x="6938963" y="6421438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fld id="{9394C29D-ED0C-453C-8BBC-C52F19F5BA76}" type="slidenum">
              <a:rPr lang="zh-CN" altLang="en-US" sz="1200" smtClean="0"/>
              <a:pPr marL="0" marR="0" lvl="0" indent="0" algn="r" defTabSz="914400" eaLnBrk="1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t>6</a:t>
            </a:fld>
            <a:r>
              <a:rPr lang="en-US" altLang="zh-CN" sz="1200" dirty="0" smtClean="0"/>
              <a:t>/40</a:t>
            </a:r>
            <a:endParaRPr lang="zh-CN" altLang="en-US" sz="1200" dirty="0"/>
          </a:p>
        </p:txBody>
      </p:sp>
      <p:grpSp>
        <p:nvGrpSpPr>
          <p:cNvPr id="13" name="组合 12"/>
          <p:cNvGrpSpPr/>
          <p:nvPr/>
        </p:nvGrpSpPr>
        <p:grpSpPr>
          <a:xfrm>
            <a:off x="71406" y="857232"/>
            <a:ext cx="958752" cy="430730"/>
            <a:chOff x="3643306" y="2500357"/>
            <a:chExt cx="958752" cy="430730"/>
          </a:xfrm>
        </p:grpSpPr>
        <p:pic>
          <p:nvPicPr>
            <p:cNvPr id="14" name="Picture 6" descr="E:\设计支持\模板设计\TW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643306" y="2500357"/>
              <a:ext cx="463239" cy="430730"/>
            </a:xfrm>
            <a:prstGeom prst="rect">
              <a:avLst/>
            </a:prstGeom>
            <a:noFill/>
          </p:spPr>
        </p:pic>
        <p:sp>
          <p:nvSpPr>
            <p:cNvPr id="15" name="TextBox 14"/>
            <p:cNvSpPr txBox="1"/>
            <p:nvPr/>
          </p:nvSpPr>
          <p:spPr>
            <a:xfrm>
              <a:off x="3901224" y="2502459"/>
              <a:ext cx="700834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提问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6" name="灯片编号占位符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6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2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2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9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48" grpId="0" animBg="1"/>
      <p:bldP spid="49254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4348" y="214290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封装</a:t>
            </a:r>
          </a:p>
        </p:txBody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1556" y="1285860"/>
            <a:ext cx="8229600" cy="4525962"/>
          </a:xfrm>
        </p:spPr>
        <p:txBody>
          <a:bodyPr/>
          <a:lstStyle/>
          <a:p>
            <a:r>
              <a:rPr lang="zh-CN" altLang="en-US" dirty="0"/>
              <a:t>对象同时具有属性和方法两项特性</a:t>
            </a:r>
          </a:p>
          <a:p>
            <a:r>
              <a:rPr lang="zh-CN" altLang="en-US" dirty="0"/>
              <a:t>对象的属性和方法通常被</a:t>
            </a:r>
            <a:r>
              <a:rPr lang="zh-CN" altLang="en-US" dirty="0">
                <a:solidFill>
                  <a:srgbClr val="0000FF"/>
                </a:solidFill>
              </a:rPr>
              <a:t>封装</a:t>
            </a:r>
            <a:r>
              <a:rPr lang="zh-CN" altLang="en-US" dirty="0"/>
              <a:t>在一起，共同体现事物的特性， 二者相辅相承，不能分割</a:t>
            </a:r>
          </a:p>
        </p:txBody>
      </p:sp>
      <p:pic>
        <p:nvPicPr>
          <p:cNvPr id="496644" name="Picture 4" descr="200731922411falali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56178" y="3429000"/>
            <a:ext cx="3816350" cy="1754188"/>
          </a:xfrm>
          <a:prstGeom prst="rect">
            <a:avLst/>
          </a:prstGeom>
          <a:noFill/>
        </p:spPr>
      </p:pic>
      <p:sp>
        <p:nvSpPr>
          <p:cNvPr id="496645" name="AutoShape 5"/>
          <p:cNvSpPr>
            <a:spLocks noChangeArrowheads="1"/>
          </p:cNvSpPr>
          <p:nvPr/>
        </p:nvSpPr>
        <p:spPr bwMode="auto">
          <a:xfrm>
            <a:off x="530627" y="3286124"/>
            <a:ext cx="4176069" cy="776383"/>
          </a:xfrm>
          <a:prstGeom prst="wedgeRoundRectCallout">
            <a:avLst>
              <a:gd name="adj1" fmla="val 50043"/>
              <a:gd name="adj2" fmla="val 5274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一辆汽车，有完好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的零件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和特定的颜色</a:t>
            </a:r>
            <a:endParaRPr lang="en-US" altLang="zh-CN" b="1" kern="0" dirty="0" smtClean="0">
              <a:solidFill>
                <a:schemeClr val="bg1"/>
              </a:solidFill>
              <a:latin typeface="Arial"/>
              <a:ea typeface="黑体"/>
            </a:endParaRPr>
          </a:p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还应具备开动、刹车等方法行为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7" name="Line 12"/>
          <p:cNvSpPr>
            <a:spLocks noChangeShapeType="1"/>
          </p:cNvSpPr>
          <p:nvPr/>
        </p:nvSpPr>
        <p:spPr bwMode="auto">
          <a:xfrm>
            <a:off x="3829070" y="4143380"/>
            <a:ext cx="928694" cy="285752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7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6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9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96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596063" y="2419350"/>
            <a:ext cx="1806575" cy="1657350"/>
            <a:chOff x="4343" y="2900"/>
            <a:chExt cx="1298" cy="1217"/>
          </a:xfrm>
        </p:grpSpPr>
        <p:graphicFrame>
          <p:nvGraphicFramePr>
            <p:cNvPr id="493571" name="Object 3"/>
            <p:cNvGraphicFramePr>
              <a:graphicFrameLocks noChangeAspect="1"/>
            </p:cNvGraphicFramePr>
            <p:nvPr/>
          </p:nvGraphicFramePr>
          <p:xfrm>
            <a:off x="4343" y="2900"/>
            <a:ext cx="941" cy="1154"/>
          </p:xfrm>
          <a:graphic>
            <a:graphicData uri="http://schemas.openxmlformats.org/presentationml/2006/ole">
              <p:oleObj spid="_x0000_s32834" name="Image" r:id="rId4" imgW="2615873" imgH="2666667" progId="">
                <p:embed/>
              </p:oleObj>
            </a:graphicData>
          </a:graphic>
        </p:graphicFrame>
        <p:pic>
          <p:nvPicPr>
            <p:cNvPr id="493572" name="Picture 4" descr="TowerCase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967" y="3113"/>
              <a:ext cx="674" cy="1004"/>
            </a:xfrm>
            <a:prstGeom prst="rect">
              <a:avLst/>
            </a:prstGeom>
            <a:noFill/>
          </p:spPr>
        </p:pic>
      </p:grpSp>
      <p:sp>
        <p:nvSpPr>
          <p:cNvPr id="49357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00118" y="214290"/>
            <a:ext cx="8229600" cy="561975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3600" b="1" dirty="0" smtClean="0">
                <a:solidFill>
                  <a:schemeClr val="tx2">
                    <a:lumMod val="75000"/>
                  </a:schemeClr>
                </a:solidFill>
              </a:rPr>
              <a:t>小结</a:t>
            </a:r>
            <a:endParaRPr lang="en-US" altLang="zh-CN" sz="3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93574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771243" y="1203319"/>
            <a:ext cx="7559675" cy="1368425"/>
          </a:xfrm>
        </p:spPr>
        <p:txBody>
          <a:bodyPr/>
          <a:lstStyle/>
          <a:p>
            <a:pPr>
              <a:buSzPct val="80000"/>
            </a:pPr>
            <a:r>
              <a:rPr dirty="0"/>
              <a:t>说一说教室里的对象</a:t>
            </a:r>
          </a:p>
          <a:p>
            <a:pPr>
              <a:buSzPct val="80000"/>
            </a:pPr>
            <a:r>
              <a:rPr dirty="0"/>
              <a:t>描述他们的属性和方法 </a:t>
            </a:r>
          </a:p>
        </p:txBody>
      </p:sp>
      <p:pic>
        <p:nvPicPr>
          <p:cNvPr id="493575" name="Picture 7" descr="desk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2910" y="4437063"/>
            <a:ext cx="1944687" cy="1903412"/>
          </a:xfrm>
          <a:prstGeom prst="rect">
            <a:avLst/>
          </a:prstGeom>
          <a:noFill/>
        </p:spPr>
      </p:pic>
      <p:pic>
        <p:nvPicPr>
          <p:cNvPr id="493576" name="Picture 8" descr="projector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19146" y="2781300"/>
            <a:ext cx="1152525" cy="800100"/>
          </a:xfrm>
          <a:prstGeom prst="rect">
            <a:avLst/>
          </a:prstGeom>
          <a:noFill/>
        </p:spPr>
      </p:pic>
      <p:graphicFrame>
        <p:nvGraphicFramePr>
          <p:cNvPr id="493578" name="Object 10"/>
          <p:cNvGraphicFramePr>
            <a:graphicFrameLocks noChangeAspect="1"/>
          </p:cNvGraphicFramePr>
          <p:nvPr/>
        </p:nvGraphicFramePr>
        <p:xfrm>
          <a:off x="5191125" y="2492375"/>
          <a:ext cx="1252538" cy="1511300"/>
        </p:xfrm>
        <a:graphic>
          <a:graphicData uri="http://schemas.openxmlformats.org/presentationml/2006/ole">
            <p:oleObj spid="_x0000_s32835" name="Image" r:id="rId8" imgW="2476190" imgH="2984127" progId="">
              <p:embed/>
            </p:oleObj>
          </a:graphicData>
        </a:graphic>
      </p:graphicFrame>
      <p:pic>
        <p:nvPicPr>
          <p:cNvPr id="493580" name="Picture 12" descr="cofe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074710" y="4076700"/>
            <a:ext cx="1219200" cy="1219200"/>
          </a:xfrm>
          <a:prstGeom prst="rect">
            <a:avLst/>
          </a:prstGeom>
          <a:noFill/>
        </p:spPr>
      </p:pic>
      <p:sp>
        <p:nvSpPr>
          <p:cNvPr id="493581" name="Litebulb"/>
          <p:cNvSpPr>
            <a:spLocks noEditPoints="1" noChangeArrowheads="1"/>
          </p:cNvSpPr>
          <p:nvPr/>
        </p:nvSpPr>
        <p:spPr bwMode="auto">
          <a:xfrm>
            <a:off x="5500694" y="4600593"/>
            <a:ext cx="1008062" cy="1328737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7782 h 21600"/>
              <a:gd name="T4" fmla="*/ 0 w 21600"/>
              <a:gd name="T5" fmla="*/ 7782 h 21600"/>
              <a:gd name="T6" fmla="*/ 10800 w 21600"/>
              <a:gd name="T7" fmla="*/ 21600 h 21600"/>
              <a:gd name="T8" fmla="*/ 3556 w 21600"/>
              <a:gd name="T9" fmla="*/ 2188 h 21600"/>
              <a:gd name="T10" fmla="*/ 18277 w 21600"/>
              <a:gd name="T11" fmla="*/ 92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 extrusionOk="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CC"/>
          </a:solidFill>
          <a:ln w="571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3582" name="AutoShape 14"/>
          <p:cNvSpPr>
            <a:spLocks noChangeArrowheads="1"/>
          </p:cNvSpPr>
          <p:nvPr/>
        </p:nvSpPr>
        <p:spPr bwMode="auto">
          <a:xfrm>
            <a:off x="2500298" y="2357430"/>
            <a:ext cx="1653673" cy="1144143"/>
          </a:xfrm>
          <a:prstGeom prst="wedgeRoundRectCallout">
            <a:avLst>
              <a:gd name="adj1" fmla="val -51918"/>
              <a:gd name="adj2" fmla="val -164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颜色：黑色</a:t>
            </a:r>
          </a:p>
          <a:p>
            <a:pPr marL="285750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品牌：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BENQ</a:t>
            </a:r>
          </a:p>
          <a:p>
            <a:pPr marL="285750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投影</a:t>
            </a:r>
          </a:p>
        </p:txBody>
      </p:sp>
      <p:sp>
        <p:nvSpPr>
          <p:cNvPr id="493583" name="AutoShape 15"/>
          <p:cNvSpPr>
            <a:spLocks noChangeArrowheads="1"/>
          </p:cNvSpPr>
          <p:nvPr/>
        </p:nvSpPr>
        <p:spPr bwMode="auto">
          <a:xfrm>
            <a:off x="6072198" y="1000108"/>
            <a:ext cx="1451047" cy="1144143"/>
          </a:xfrm>
          <a:prstGeom prst="wedgeRoundRectCallout">
            <a:avLst>
              <a:gd name="adj1" fmla="val -51041"/>
              <a:gd name="adj2" fmla="val -2127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姓名：张三</a:t>
            </a:r>
          </a:p>
          <a:p>
            <a:pPr marL="285750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年龄：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20</a:t>
            </a:r>
          </a:p>
          <a:p>
            <a:pPr marL="285750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学习</a:t>
            </a:r>
          </a:p>
        </p:txBody>
      </p:sp>
      <p:sp>
        <p:nvSpPr>
          <p:cNvPr id="493584" name="AutoShape 16"/>
          <p:cNvSpPr>
            <a:spLocks noChangeArrowheads="1"/>
          </p:cNvSpPr>
          <p:nvPr/>
        </p:nvSpPr>
        <p:spPr bwMode="auto">
          <a:xfrm>
            <a:off x="7000892" y="4429132"/>
            <a:ext cx="1800225" cy="1863233"/>
          </a:xfrm>
          <a:prstGeom prst="wedgeRoundRectCallout">
            <a:avLst>
              <a:gd name="adj1" fmla="val 51589"/>
              <a:gd name="adj2" fmla="val 1274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类型：白炽灯</a:t>
            </a:r>
          </a:p>
          <a:p>
            <a:pPr marL="285750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开</a:t>
            </a:r>
          </a:p>
          <a:p>
            <a:pPr marL="285750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关</a:t>
            </a:r>
          </a:p>
          <a:p>
            <a:pPr marL="285750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变亮</a:t>
            </a:r>
          </a:p>
          <a:p>
            <a:pPr marL="285750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变暗</a:t>
            </a:r>
          </a:p>
        </p:txBody>
      </p:sp>
      <p:sp>
        <p:nvSpPr>
          <p:cNvPr id="493585" name="AutoShape 17"/>
          <p:cNvSpPr>
            <a:spLocks noChangeArrowheads="1"/>
          </p:cNvSpPr>
          <p:nvPr/>
        </p:nvSpPr>
        <p:spPr bwMode="auto">
          <a:xfrm>
            <a:off x="2928926" y="4500570"/>
            <a:ext cx="1328323" cy="776383"/>
          </a:xfrm>
          <a:prstGeom prst="wedgeRoundRectCallout">
            <a:avLst>
              <a:gd name="adj1" fmla="val -50947"/>
              <a:gd name="adj2" fmla="val -1705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材制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: 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木质</a:t>
            </a:r>
          </a:p>
          <a:p>
            <a:pPr marL="285750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支撑物品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71406" y="857232"/>
            <a:ext cx="958752" cy="430730"/>
            <a:chOff x="3643306" y="2500357"/>
            <a:chExt cx="958752" cy="430730"/>
          </a:xfrm>
        </p:grpSpPr>
        <p:pic>
          <p:nvPicPr>
            <p:cNvPr id="20" name="Picture 6" descr="E:\设计支持\模板设计\TW.png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3643306" y="2500357"/>
              <a:ext cx="463239" cy="430730"/>
            </a:xfrm>
            <a:prstGeom prst="rect">
              <a:avLst/>
            </a:prstGeom>
            <a:noFill/>
          </p:spPr>
        </p:pic>
        <p:sp>
          <p:nvSpPr>
            <p:cNvPr id="21" name="TextBox 20"/>
            <p:cNvSpPr txBox="1"/>
            <p:nvPr/>
          </p:nvSpPr>
          <p:spPr>
            <a:xfrm>
              <a:off x="3901224" y="2502459"/>
              <a:ext cx="700834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提问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22" name="Line 12"/>
          <p:cNvSpPr>
            <a:spLocks noChangeShapeType="1"/>
          </p:cNvSpPr>
          <p:nvPr/>
        </p:nvSpPr>
        <p:spPr bwMode="auto">
          <a:xfrm flipH="1">
            <a:off x="2071670" y="2857496"/>
            <a:ext cx="428629" cy="214313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 flipH="1">
            <a:off x="2500298" y="4857760"/>
            <a:ext cx="428629" cy="142876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24" name="Line 12"/>
          <p:cNvSpPr>
            <a:spLocks noChangeShapeType="1"/>
          </p:cNvSpPr>
          <p:nvPr/>
        </p:nvSpPr>
        <p:spPr bwMode="auto">
          <a:xfrm flipH="1">
            <a:off x="6072198" y="2214554"/>
            <a:ext cx="500066" cy="357190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25" name="Line 12"/>
          <p:cNvSpPr>
            <a:spLocks noChangeShapeType="1"/>
          </p:cNvSpPr>
          <p:nvPr/>
        </p:nvSpPr>
        <p:spPr bwMode="auto">
          <a:xfrm flipH="1">
            <a:off x="6500826" y="5286388"/>
            <a:ext cx="500066" cy="71438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26" name="灯片编号占位符 15"/>
          <p:cNvSpPr txBox="1">
            <a:spLocks/>
          </p:cNvSpPr>
          <p:nvPr/>
        </p:nvSpPr>
        <p:spPr>
          <a:xfrm>
            <a:off x="6938963" y="6421438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fld id="{9394C29D-ED0C-453C-8BBC-C52F19F5BA76}" type="slidenum">
              <a:rPr lang="zh-CN" altLang="en-US" sz="1200" smtClean="0"/>
              <a:pPr marL="0" marR="0" lvl="0" indent="0" algn="r" defTabSz="914400" eaLnBrk="1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t>8</a:t>
            </a:fld>
            <a:r>
              <a:rPr lang="en-US" altLang="zh-CN" sz="1200" dirty="0" smtClean="0"/>
              <a:t>/40</a:t>
            </a:r>
            <a:endParaRPr lang="zh-CN" altLang="en-US" sz="1200" dirty="0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8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9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9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82" grpId="0" animBg="1"/>
      <p:bldP spid="493583" grpId="0" animBg="1"/>
      <p:bldP spid="493584" grpId="0" animBg="1"/>
      <p:bldP spid="493585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074" name="Picture 2" descr="sho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7169" y="3789363"/>
            <a:ext cx="2187575" cy="2549525"/>
          </a:xfrm>
          <a:prstGeom prst="rect">
            <a:avLst/>
          </a:prstGeom>
          <a:noFill/>
        </p:spPr>
      </p:pic>
      <p:sp>
        <p:nvSpPr>
          <p:cNvPr id="515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14348" y="214290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从对象抽象出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“类”</a:t>
            </a:r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515076" name="Picture 4" descr="200731922411falali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8313" y="2349500"/>
            <a:ext cx="2663825" cy="1223963"/>
          </a:xfrm>
          <a:prstGeom prst="rect">
            <a:avLst/>
          </a:prstGeom>
          <a:noFill/>
        </p:spPr>
      </p:pic>
      <p:pic>
        <p:nvPicPr>
          <p:cNvPr id="515079" name="Picture 7" descr="蓝色宝石捷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63938" y="1916113"/>
            <a:ext cx="2376487" cy="1435100"/>
          </a:xfrm>
          <a:prstGeom prst="rect">
            <a:avLst/>
          </a:prstGeom>
          <a:noFill/>
        </p:spPr>
      </p:pic>
      <p:pic>
        <p:nvPicPr>
          <p:cNvPr id="515080" name="Picture 8" descr="法拉利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372225" y="2276475"/>
            <a:ext cx="2087563" cy="1295400"/>
          </a:xfrm>
          <a:prstGeom prst="rect">
            <a:avLst/>
          </a:prstGeom>
          <a:noFill/>
        </p:spPr>
      </p:pic>
      <p:sp>
        <p:nvSpPr>
          <p:cNvPr id="515081" name="WordArt 9"/>
          <p:cNvSpPr>
            <a:spLocks noChangeArrowheads="1" noChangeShapeType="1" noTextEdit="1"/>
          </p:cNvSpPr>
          <p:nvPr/>
        </p:nvSpPr>
        <p:spPr bwMode="auto">
          <a:xfrm>
            <a:off x="3924300" y="3500438"/>
            <a:ext cx="165735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4400" b="1" kern="10" dirty="0">
                <a:ln w="9525">
                  <a:solidFill>
                    <a:srgbClr val="0033CC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3366FF"/>
                    </a:gs>
                    <a:gs pos="50000">
                      <a:srgbClr val="3366FF">
                        <a:gamma/>
                        <a:tint val="27843"/>
                        <a:invGamma/>
                      </a:srgbClr>
                    </a:gs>
                    <a:gs pos="100000">
                      <a:srgbClr val="3366FF"/>
                    </a:gs>
                  </a:gsLst>
                  <a:lin ang="5400000" scaled="1"/>
                </a:gradFill>
                <a:latin typeface="黑体"/>
                <a:ea typeface="黑体"/>
              </a:rPr>
              <a:t>轿车</a:t>
            </a:r>
          </a:p>
        </p:txBody>
      </p:sp>
      <p:graphicFrame>
        <p:nvGraphicFramePr>
          <p:cNvPr id="515086" name="Object 14"/>
          <p:cNvGraphicFramePr>
            <a:graphicFrameLocks noGrp="1" noChangeAspect="1"/>
          </p:cNvGraphicFramePr>
          <p:nvPr>
            <p:ph idx="1"/>
          </p:nvPr>
        </p:nvGraphicFramePr>
        <p:xfrm>
          <a:off x="6000760" y="4005263"/>
          <a:ext cx="1990725" cy="2303462"/>
        </p:xfrm>
        <a:graphic>
          <a:graphicData uri="http://schemas.openxmlformats.org/presentationml/2006/ole">
            <p:oleObj spid="_x0000_s33826" name="Visio" r:id="rId7" imgW="1468755" imgH="1697939" progId="Visio.Drawing.11">
              <p:embed/>
            </p:oleObj>
          </a:graphicData>
        </a:graphic>
      </p:graphicFrame>
      <p:sp>
        <p:nvSpPr>
          <p:cNvPr id="515089" name="Rectangle 17"/>
          <p:cNvSpPr>
            <a:spLocks noChangeArrowheads="1"/>
          </p:cNvSpPr>
          <p:nvPr/>
        </p:nvSpPr>
        <p:spPr bwMode="auto">
          <a:xfrm>
            <a:off x="781717" y="1274757"/>
            <a:ext cx="7705725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80000"/>
              <a:buBlip>
                <a:blip r:embed="rId8"/>
              </a:buBlip>
            </a:pPr>
            <a:r>
              <a:rPr lang="zh-CN" altLang="en-GB" sz="2800" b="1" dirty="0" smtClean="0">
                <a:latin typeface="+mn-lt"/>
                <a:ea typeface="+mn-ea"/>
              </a:rPr>
              <a:t>抽取</a:t>
            </a:r>
            <a:r>
              <a:rPr lang="zh-CN" altLang="en-GB" sz="2800" b="1" dirty="0">
                <a:latin typeface="+mn-lt"/>
                <a:ea typeface="+mn-ea"/>
              </a:rPr>
              <a:t>出下列对象</a:t>
            </a:r>
            <a:r>
              <a:rPr lang="zh-CN" altLang="en-GB" sz="2800" b="1" dirty="0" smtClean="0">
                <a:latin typeface="+mn-lt"/>
                <a:ea typeface="+mn-ea"/>
              </a:rPr>
              <a:t>的共同特征</a:t>
            </a:r>
            <a:r>
              <a:rPr lang="zh-CN" altLang="en-US" sz="2800" b="1" dirty="0" smtClean="0">
                <a:latin typeface="+mn-lt"/>
                <a:ea typeface="+mn-ea"/>
              </a:rPr>
              <a:t>（</a:t>
            </a:r>
            <a:r>
              <a:rPr lang="zh-CN" altLang="en-GB" sz="2800" b="1" dirty="0" smtClean="0">
                <a:latin typeface="+mn-lt"/>
                <a:ea typeface="+mn-ea"/>
              </a:rPr>
              <a:t>属性和方法</a:t>
            </a:r>
            <a:r>
              <a:rPr lang="zh-CN" altLang="en-US" sz="2800" b="1" dirty="0" smtClean="0">
                <a:latin typeface="+mn-lt"/>
                <a:ea typeface="+mn-ea"/>
              </a:rPr>
              <a:t>）</a:t>
            </a:r>
            <a:endParaRPr lang="en-GB" altLang="zh-CN" sz="2800" b="1" dirty="0">
              <a:latin typeface="+mn-lt"/>
              <a:ea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1406" y="857232"/>
            <a:ext cx="986586" cy="422603"/>
            <a:chOff x="1000100" y="1173499"/>
            <a:chExt cx="986586" cy="422603"/>
          </a:xfrm>
        </p:grpSpPr>
        <p:pic>
          <p:nvPicPr>
            <p:cNvPr id="15" name="Picture 5" descr="E:\设计支持\模板设计\WT.png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1000100" y="1173499"/>
              <a:ext cx="414476" cy="422603"/>
            </a:xfrm>
            <a:prstGeom prst="rect">
              <a:avLst/>
            </a:prstGeom>
            <a:noFill/>
          </p:spPr>
        </p:pic>
        <p:sp>
          <p:nvSpPr>
            <p:cNvPr id="16" name="TextBox 15"/>
            <p:cNvSpPr txBox="1"/>
            <p:nvPr/>
          </p:nvSpPr>
          <p:spPr>
            <a:xfrm>
              <a:off x="1285852" y="1184745"/>
              <a:ext cx="700834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问题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7" name="WordArt 9"/>
          <p:cNvSpPr>
            <a:spLocks noChangeArrowheads="1" noChangeShapeType="1" noTextEdit="1"/>
          </p:cNvSpPr>
          <p:nvPr/>
        </p:nvSpPr>
        <p:spPr bwMode="auto">
          <a:xfrm>
            <a:off x="3786182" y="5286388"/>
            <a:ext cx="165735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4400" b="1" kern="10" dirty="0" smtClean="0">
                <a:ln w="9525">
                  <a:solidFill>
                    <a:srgbClr val="0033CC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3366FF"/>
                    </a:gs>
                    <a:gs pos="50000">
                      <a:srgbClr val="3366FF">
                        <a:gamma/>
                        <a:tint val="27843"/>
                        <a:invGamma/>
                      </a:srgbClr>
                    </a:gs>
                    <a:gs pos="100000">
                      <a:srgbClr val="3366FF"/>
                    </a:gs>
                  </a:gsLst>
                  <a:lin ang="5400000" scaled="1"/>
                </a:gradFill>
                <a:latin typeface="黑体"/>
                <a:ea typeface="黑体"/>
              </a:rPr>
              <a:t>顾客</a:t>
            </a:r>
            <a:endParaRPr lang="zh-CN" altLang="en-US" sz="4400" b="1" kern="10" dirty="0">
              <a:ln w="9525">
                <a:solidFill>
                  <a:srgbClr val="0033CC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3366FF"/>
                  </a:gs>
                  <a:gs pos="50000">
                    <a:srgbClr val="3366FF">
                      <a:gamma/>
                      <a:tint val="27843"/>
                      <a:invGamma/>
                    </a:srgbClr>
                  </a:gs>
                  <a:gs pos="100000">
                    <a:srgbClr val="3366FF"/>
                  </a:gs>
                </a:gsLst>
                <a:lin ang="5400000" scaled="1"/>
              </a:gradFill>
              <a:latin typeface="黑体"/>
              <a:ea typeface="黑体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9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1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081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0118" y="214290"/>
            <a:ext cx="8229600" cy="1143000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3600" b="1" dirty="0">
                <a:solidFill>
                  <a:schemeClr val="tx2">
                    <a:lumMod val="75000"/>
                  </a:schemeClr>
                </a:solidFill>
              </a:rPr>
              <a:t>类</a:t>
            </a:r>
          </a:p>
        </p:txBody>
      </p:sp>
      <p:sp>
        <p:nvSpPr>
          <p:cNvPr id="51609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2400" dirty="0"/>
              <a:t>顾客类</a:t>
            </a:r>
          </a:p>
          <a:p>
            <a:pPr>
              <a:buFont typeface="Wingdings" pitchFamily="2" charset="2"/>
              <a:buNone/>
            </a:pPr>
            <a:r>
              <a:rPr lang="zh-CN" altLang="en-US" sz="2400" dirty="0"/>
              <a:t>轿车类</a:t>
            </a:r>
          </a:p>
          <a:p>
            <a:pPr>
              <a:buFont typeface="Wingdings" pitchFamily="2" charset="2"/>
              <a:buNone/>
            </a:pPr>
            <a:r>
              <a:rPr lang="zh-CN" altLang="en-US" sz="2400" dirty="0"/>
              <a:t>  </a:t>
            </a:r>
            <a:r>
              <a:rPr lang="en-US" altLang="zh-CN" sz="2400" dirty="0"/>
              <a:t>……</a:t>
            </a:r>
          </a:p>
          <a:p>
            <a:pPr>
              <a:buFont typeface="Wingdings" pitchFamily="2" charset="2"/>
              <a:buNone/>
            </a:pPr>
            <a:r>
              <a:rPr lang="en-US" altLang="zh-CN" sz="2400" dirty="0"/>
              <a:t>  ……</a:t>
            </a:r>
          </a:p>
        </p:txBody>
      </p:sp>
      <p:sp>
        <p:nvSpPr>
          <p:cNvPr id="516100" name="AutoShape 4"/>
          <p:cNvSpPr>
            <a:spLocks/>
          </p:cNvSpPr>
          <p:nvPr/>
        </p:nvSpPr>
        <p:spPr bwMode="auto">
          <a:xfrm>
            <a:off x="2195513" y="1343023"/>
            <a:ext cx="590537" cy="1657349"/>
          </a:xfrm>
          <a:prstGeom prst="rightBrace">
            <a:avLst>
              <a:gd name="adj1" fmla="val 20815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6101" name="Text Box 5"/>
          <p:cNvSpPr txBox="1">
            <a:spLocks noChangeArrowheads="1"/>
          </p:cNvSpPr>
          <p:nvPr/>
        </p:nvSpPr>
        <p:spPr bwMode="auto">
          <a:xfrm>
            <a:off x="2844800" y="1843089"/>
            <a:ext cx="4679950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ea typeface="黑体" pitchFamily="2" charset="-122"/>
              </a:rPr>
              <a:t>  类是模子</a:t>
            </a:r>
            <a:r>
              <a:rPr lang="zh-CN" altLang="en-US" sz="2400" b="1" dirty="0" smtClean="0">
                <a:ea typeface="黑体" pitchFamily="2" charset="-122"/>
              </a:rPr>
              <a:t>，定义对象</a:t>
            </a:r>
            <a:r>
              <a:rPr lang="zh-CN" altLang="en-US" sz="2400" b="1" dirty="0">
                <a:ea typeface="黑体" pitchFamily="2" charset="-122"/>
              </a:rPr>
              <a:t>将会拥有的特征（属性）和行为（方法）</a:t>
            </a:r>
          </a:p>
        </p:txBody>
      </p:sp>
      <p:sp>
        <p:nvSpPr>
          <p:cNvPr id="516102" name="Rectangle 6"/>
          <p:cNvSpPr>
            <a:spLocks noChangeArrowheads="1"/>
          </p:cNvSpPr>
          <p:nvPr/>
        </p:nvSpPr>
        <p:spPr bwMode="auto">
          <a:xfrm>
            <a:off x="771556" y="4764116"/>
            <a:ext cx="8229600" cy="1450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lnSpc>
                <a:spcPct val="125000"/>
              </a:lnSpc>
              <a:spcBef>
                <a:spcPct val="20000"/>
              </a:spcBef>
              <a:buClr>
                <a:schemeClr val="tx2"/>
              </a:buClr>
              <a:buSzPct val="80000"/>
              <a:buBlip>
                <a:blip r:embed="rId4"/>
              </a:buBlip>
            </a:pPr>
            <a:r>
              <a:rPr lang="zh-CN" altLang="en-GB" sz="2800" b="1" dirty="0" smtClean="0">
                <a:latin typeface="+mn-lt"/>
                <a:ea typeface="+mn-ea"/>
              </a:rPr>
              <a:t>类是对象的类型</a:t>
            </a:r>
          </a:p>
          <a:p>
            <a:pPr marL="742950" lvl="1" indent="-285750" algn="l">
              <a:lnSpc>
                <a:spcPct val="125000"/>
              </a:lnSpc>
              <a:spcBef>
                <a:spcPct val="20000"/>
              </a:spcBef>
              <a:buClr>
                <a:schemeClr val="tx2"/>
              </a:buClr>
              <a:buSzPct val="100000"/>
              <a:buBlip>
                <a:blip r:embed="rId5"/>
              </a:buBlip>
            </a:pPr>
            <a:r>
              <a:rPr lang="zh-CN" altLang="en-GB" sz="2400" b="1" dirty="0" smtClean="0">
                <a:latin typeface="+mn-lt"/>
                <a:ea typeface="+mn-ea"/>
              </a:rPr>
              <a:t>不同于</a:t>
            </a:r>
            <a:r>
              <a:rPr lang="en-GB" altLang="zh-CN" sz="2400" b="1" dirty="0" err="1" smtClean="0">
                <a:latin typeface="+mn-lt"/>
                <a:ea typeface="+mn-ea"/>
              </a:rPr>
              <a:t>int</a:t>
            </a:r>
            <a:r>
              <a:rPr lang="zh-CN" altLang="en-GB" sz="2400" b="1" dirty="0" err="1" smtClean="0">
                <a:latin typeface="+mn-lt"/>
                <a:ea typeface="+mn-ea"/>
              </a:rPr>
              <a:t>类型：具有方法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941911" y="2979746"/>
            <a:ext cx="2987675" cy="1735138"/>
            <a:chOff x="3651" y="2886"/>
            <a:chExt cx="1882" cy="1093"/>
          </a:xfrm>
        </p:grpSpPr>
        <p:pic>
          <p:nvPicPr>
            <p:cNvPr id="516104" name="Picture 8" descr="CAQ7HUFA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059" y="2886"/>
              <a:ext cx="1180" cy="892"/>
            </a:xfrm>
            <a:prstGeom prst="rect">
              <a:avLst/>
            </a:prstGeom>
            <a:noFill/>
          </p:spPr>
        </p:pic>
        <p:sp>
          <p:nvSpPr>
            <p:cNvPr id="516105" name="Text Box 9"/>
            <p:cNvSpPr txBox="1">
              <a:spLocks noChangeArrowheads="1"/>
            </p:cNvSpPr>
            <p:nvPr/>
          </p:nvSpPr>
          <p:spPr bwMode="auto">
            <a:xfrm>
              <a:off x="3651" y="3748"/>
              <a:ext cx="1882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ea typeface="黑体" pitchFamily="2" charset="-122"/>
                </a:rPr>
                <a:t>各种口味的球状冰淇淋</a:t>
              </a:r>
            </a:p>
          </p:txBody>
        </p:sp>
      </p:grpSp>
      <p:graphicFrame>
        <p:nvGraphicFramePr>
          <p:cNvPr id="516108" name="Object 12"/>
          <p:cNvGraphicFramePr>
            <a:graphicFrameLocks noGrp="1" noChangeAspect="1"/>
          </p:cNvGraphicFramePr>
          <p:nvPr>
            <p:ph sz="half" idx="2"/>
          </p:nvPr>
        </p:nvGraphicFramePr>
        <p:xfrm>
          <a:off x="3513151" y="3265498"/>
          <a:ext cx="1217612" cy="963613"/>
        </p:xfrm>
        <a:graphic>
          <a:graphicData uri="http://schemas.openxmlformats.org/presentationml/2006/ole">
            <p:oleObj spid="_x0000_s34850" name="Visio" r:id="rId7" imgW="1216914" imgH="964387" progId="Visio.Drawing.11">
              <p:embed/>
            </p:oleObj>
          </a:graphicData>
        </a:graphic>
      </p:graphicFrame>
      <p:sp>
        <p:nvSpPr>
          <p:cNvPr id="13" name="灯片编号占位符 15"/>
          <p:cNvSpPr txBox="1">
            <a:spLocks/>
          </p:cNvSpPr>
          <p:nvPr/>
        </p:nvSpPr>
        <p:spPr>
          <a:xfrm>
            <a:off x="6938963" y="6421438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fld id="{9394C29D-ED0C-453C-8BBC-C52F19F5BA76}" type="slidenum">
              <a:rPr lang="zh-CN" altLang="en-US" sz="1200" smtClean="0"/>
              <a:pPr marL="0" marR="0" lvl="0" indent="0" algn="r" defTabSz="914400" eaLnBrk="1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t>10</a:t>
            </a:fld>
            <a:r>
              <a:rPr lang="en-US" altLang="zh-CN" sz="1200" dirty="0" smtClean="0"/>
              <a:t>/40</a:t>
            </a:r>
            <a:endParaRPr lang="zh-CN" altLang="en-US" sz="1200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10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10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4348" y="171434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类和对象的关系</a:t>
            </a:r>
            <a:endParaRPr lang="en-US" altLang="zh-CN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18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1556" y="1285860"/>
            <a:ext cx="8229600" cy="4525963"/>
          </a:xfrm>
        </p:spPr>
        <p:txBody>
          <a:bodyPr/>
          <a:lstStyle/>
          <a:p>
            <a:r>
              <a:rPr lang="zh-CN" altLang="en-US" dirty="0"/>
              <a:t>类是抽象的概念，仅仅是</a:t>
            </a:r>
            <a:r>
              <a:rPr lang="zh-CN" altLang="en-US" dirty="0" smtClean="0"/>
              <a:t>模板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比如说</a:t>
            </a:r>
            <a:r>
              <a:rPr lang="zh-CN" altLang="en-US" dirty="0"/>
              <a:t>：“人”</a:t>
            </a:r>
          </a:p>
          <a:p>
            <a:r>
              <a:rPr lang="zh-CN" altLang="en-US" dirty="0"/>
              <a:t>对象是一个你能够看得到、摸得着的具体实体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214810" y="3929066"/>
            <a:ext cx="1655763" cy="1655762"/>
            <a:chOff x="2336" y="2478"/>
            <a:chExt cx="1043" cy="1043"/>
          </a:xfrm>
        </p:grpSpPr>
        <p:sp>
          <p:nvSpPr>
            <p:cNvPr id="518149" name="Line 5"/>
            <p:cNvSpPr>
              <a:spLocks noChangeShapeType="1"/>
            </p:cNvSpPr>
            <p:nvPr/>
          </p:nvSpPr>
          <p:spPr bwMode="auto">
            <a:xfrm flipV="1">
              <a:off x="2336" y="2478"/>
              <a:ext cx="1043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8150" name="Line 6"/>
            <p:cNvSpPr>
              <a:spLocks noChangeShapeType="1"/>
            </p:cNvSpPr>
            <p:nvPr/>
          </p:nvSpPr>
          <p:spPr bwMode="auto">
            <a:xfrm flipV="1">
              <a:off x="2336" y="2886"/>
              <a:ext cx="1043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8151" name="Line 7"/>
            <p:cNvSpPr>
              <a:spLocks noChangeShapeType="1"/>
            </p:cNvSpPr>
            <p:nvPr/>
          </p:nvSpPr>
          <p:spPr bwMode="auto">
            <a:xfrm>
              <a:off x="2336" y="3113"/>
              <a:ext cx="1043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8152" name="Line 8"/>
            <p:cNvSpPr>
              <a:spLocks noChangeShapeType="1"/>
            </p:cNvSpPr>
            <p:nvPr/>
          </p:nvSpPr>
          <p:spPr bwMode="auto">
            <a:xfrm>
              <a:off x="2336" y="3113"/>
              <a:ext cx="1043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8153" name="Text Box 9"/>
          <p:cNvSpPr txBox="1">
            <a:spLocks noChangeArrowheads="1"/>
          </p:cNvSpPr>
          <p:nvPr/>
        </p:nvSpPr>
        <p:spPr bwMode="auto">
          <a:xfrm>
            <a:off x="5580063" y="3714752"/>
            <a:ext cx="1944687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ea typeface="黑体" pitchFamily="2" charset="-122"/>
              </a:rPr>
              <a:t>小布什</a:t>
            </a:r>
          </a:p>
        </p:txBody>
      </p:sp>
      <p:sp>
        <p:nvSpPr>
          <p:cNvPr id="518154" name="Text Box 10"/>
          <p:cNvSpPr txBox="1">
            <a:spLocks noChangeArrowheads="1"/>
          </p:cNvSpPr>
          <p:nvPr/>
        </p:nvSpPr>
        <p:spPr bwMode="auto">
          <a:xfrm>
            <a:off x="5508625" y="4357694"/>
            <a:ext cx="194468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ea typeface="黑体" pitchFamily="2" charset="-122"/>
              </a:rPr>
              <a:t>普京</a:t>
            </a:r>
          </a:p>
        </p:txBody>
      </p:sp>
      <p:sp>
        <p:nvSpPr>
          <p:cNvPr id="518155" name="Text Box 11"/>
          <p:cNvSpPr txBox="1">
            <a:spLocks noChangeArrowheads="1"/>
          </p:cNvSpPr>
          <p:nvPr/>
        </p:nvSpPr>
        <p:spPr bwMode="auto">
          <a:xfrm>
            <a:off x="5580063" y="4929198"/>
            <a:ext cx="1944687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 smtClean="0">
                <a:ea typeface="黑体" pitchFamily="2" charset="-122"/>
              </a:rPr>
              <a:t>克林顿</a:t>
            </a:r>
            <a:endParaRPr lang="zh-CN" altLang="en-US" b="1" dirty="0">
              <a:ea typeface="黑体" pitchFamily="2" charset="-122"/>
            </a:endParaRPr>
          </a:p>
        </p:txBody>
      </p:sp>
      <p:sp>
        <p:nvSpPr>
          <p:cNvPr id="518156" name="Text Box 12"/>
          <p:cNvSpPr txBox="1">
            <a:spLocks noChangeArrowheads="1"/>
          </p:cNvSpPr>
          <p:nvPr/>
        </p:nvSpPr>
        <p:spPr bwMode="auto">
          <a:xfrm>
            <a:off x="5572132" y="5348304"/>
            <a:ext cx="18002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ea typeface="黑体" pitchFamily="2" charset="-122"/>
              </a:rPr>
              <a:t>……</a:t>
            </a:r>
          </a:p>
        </p:txBody>
      </p:sp>
      <p:sp>
        <p:nvSpPr>
          <p:cNvPr id="518171" name="Rectangle 27"/>
          <p:cNvSpPr>
            <a:spLocks noChangeArrowheads="1"/>
          </p:cNvSpPr>
          <p:nvPr/>
        </p:nvSpPr>
        <p:spPr bwMode="auto">
          <a:xfrm>
            <a:off x="0" y="2366963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8173" name="Rectangle 29"/>
          <p:cNvSpPr>
            <a:spLocks noChangeArrowheads="1"/>
          </p:cNvSpPr>
          <p:nvPr/>
        </p:nvSpPr>
        <p:spPr bwMode="auto">
          <a:xfrm>
            <a:off x="0" y="2366963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Group 29"/>
          <p:cNvGraphicFramePr>
            <a:graphicFrameLocks noGrp="1"/>
          </p:cNvGraphicFramePr>
          <p:nvPr/>
        </p:nvGraphicFramePr>
        <p:xfrm>
          <a:off x="1285852" y="2816038"/>
          <a:ext cx="2786082" cy="3684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6082"/>
              </a:tblGrid>
              <a:tr h="503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BFFFE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“人”类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046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特征（属性）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</a:endParaRP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年龄</a:t>
                      </a: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体重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062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行为（方法）</a:t>
                      </a: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衣</a:t>
                      </a: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食</a:t>
                      </a: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住</a:t>
                      </a: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9" name="灯片编号占位符 1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11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1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8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1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153" grpId="0"/>
      <p:bldP spid="518154" grpId="0"/>
      <p:bldP spid="518155" grpId="0"/>
      <p:bldP spid="5181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4348" y="214290"/>
            <a:ext cx="8229600" cy="79216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zh-CN" sz="3600" b="1" dirty="0">
                <a:solidFill>
                  <a:schemeClr val="tx2">
                    <a:lumMod val="75000"/>
                  </a:schemeClr>
                </a:solidFill>
              </a:rPr>
              <a:t>Java </a:t>
            </a:r>
            <a:r>
              <a:rPr lang="zh-CN" altLang="en-GB" sz="3600" b="1" dirty="0">
                <a:solidFill>
                  <a:schemeClr val="tx2">
                    <a:lumMod val="75000"/>
                  </a:schemeClr>
                </a:solidFill>
              </a:rPr>
              <a:t>是面向对象的语言</a:t>
            </a:r>
            <a:r>
              <a:rPr lang="zh-CN" altLang="en-US" sz="3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525315" name="Rectangle 3"/>
          <p:cNvSpPr>
            <a:spLocks noChangeArrowheads="1"/>
          </p:cNvSpPr>
          <p:nvPr/>
        </p:nvSpPr>
        <p:spPr bwMode="auto">
          <a:xfrm>
            <a:off x="771556" y="1270000"/>
            <a:ext cx="8229600" cy="388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lnSpc>
                <a:spcPct val="125000"/>
              </a:lnSpc>
              <a:spcBef>
                <a:spcPct val="20000"/>
              </a:spcBef>
              <a:buClr>
                <a:schemeClr val="tx2"/>
              </a:buClr>
              <a:buSzPct val="80000"/>
              <a:buBlip>
                <a:blip r:embed="rId3"/>
              </a:buBlip>
            </a:pPr>
            <a:r>
              <a:rPr lang="zh-CN" altLang="en-GB" sz="2800" b="1" dirty="0">
                <a:latin typeface="+mn-lt"/>
                <a:ea typeface="+mn-ea"/>
              </a:rPr>
              <a:t>所有</a:t>
            </a:r>
            <a:r>
              <a:rPr lang="en-GB" altLang="zh-CN" sz="2800" b="1" dirty="0">
                <a:latin typeface="+mn-lt"/>
                <a:ea typeface="+mn-ea"/>
              </a:rPr>
              <a:t>Java</a:t>
            </a:r>
            <a:r>
              <a:rPr lang="zh-CN" altLang="en-GB" sz="2800" b="1" dirty="0">
                <a:latin typeface="+mn-lt"/>
                <a:ea typeface="+mn-ea"/>
              </a:rPr>
              <a:t>程序都以类</a:t>
            </a:r>
            <a:r>
              <a:rPr lang="en-GB" altLang="zh-CN" sz="2800" b="1" dirty="0">
                <a:latin typeface="+mn-lt"/>
                <a:ea typeface="+mn-ea"/>
              </a:rPr>
              <a:t>class</a:t>
            </a:r>
            <a:r>
              <a:rPr lang="zh-CN" altLang="en-GB" sz="2800" b="1" dirty="0">
                <a:latin typeface="+mn-lt"/>
                <a:ea typeface="+mn-ea"/>
              </a:rPr>
              <a:t>为组织单元</a:t>
            </a:r>
          </a:p>
          <a:p>
            <a:pPr marL="342900" indent="-342900" algn="l">
              <a:lnSpc>
                <a:spcPct val="125000"/>
              </a:lnSpc>
              <a:spcBef>
                <a:spcPct val="20000"/>
              </a:spcBef>
              <a:buClr>
                <a:schemeClr val="tx2"/>
              </a:buClr>
              <a:buSzPct val="80000"/>
              <a:buBlip>
                <a:blip r:embed="rId3"/>
              </a:buBlip>
            </a:pPr>
            <a:r>
              <a:rPr lang="zh-CN" altLang="en-GB" sz="2800" b="1" dirty="0">
                <a:latin typeface="+mn-lt"/>
                <a:ea typeface="+mn-ea"/>
              </a:rPr>
              <a:t>关键字</a:t>
            </a:r>
            <a:r>
              <a:rPr lang="en-GB" altLang="zh-CN" sz="2800" b="1" dirty="0">
                <a:latin typeface="+mn-lt"/>
                <a:ea typeface="+mn-ea"/>
              </a:rPr>
              <a:t>class</a:t>
            </a:r>
            <a:r>
              <a:rPr lang="zh-CN" altLang="en-GB" sz="2800" b="1" dirty="0">
                <a:latin typeface="+mn-lt"/>
                <a:ea typeface="+mn-ea"/>
              </a:rPr>
              <a:t>定义自定义的数据类型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GB" altLang="zh-CN" sz="2800" b="1" dirty="0">
                <a:solidFill>
                  <a:srgbClr val="FF0000"/>
                </a:solidFill>
                <a:ea typeface="黑体" pitchFamily="2" charset="-122"/>
              </a:rPr>
              <a:t> 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endParaRPr lang="zh-CN" altLang="en-GB" sz="2800" b="1" dirty="0">
              <a:solidFill>
                <a:srgbClr val="FF0000"/>
              </a:solidFill>
              <a:ea typeface="黑体" pitchFamily="2" charset="-122"/>
            </a:endParaRPr>
          </a:p>
        </p:txBody>
      </p:sp>
      <p:sp>
        <p:nvSpPr>
          <p:cNvPr id="525316" name="AutoShape 4"/>
          <p:cNvSpPr>
            <a:spLocks noChangeArrowheads="1"/>
          </p:cNvSpPr>
          <p:nvPr/>
        </p:nvSpPr>
        <p:spPr bwMode="auto">
          <a:xfrm>
            <a:off x="1187451" y="3250686"/>
            <a:ext cx="5884880" cy="1892826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public </a:t>
            </a:r>
            <a:r>
              <a:rPr lang="en-US" altLang="zh-CN" b="1" dirty="0">
                <a:solidFill>
                  <a:srgbClr val="FF0000"/>
                </a:solidFill>
                <a:latin typeface="+mn-lt"/>
              </a:rPr>
              <a:t>class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HelloWorld {</a:t>
            </a: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public static void main(String[] args){</a:t>
            </a: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	System.out.println("Hello  World!!!");</a:t>
            </a: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}</a:t>
            </a: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}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525317" name="Rectangle 5"/>
          <p:cNvSpPr>
            <a:spLocks noChangeArrowheads="1"/>
          </p:cNvSpPr>
          <p:nvPr/>
        </p:nvSpPr>
        <p:spPr bwMode="auto">
          <a:xfrm>
            <a:off x="2643174" y="3286124"/>
            <a:ext cx="1214446" cy="357190"/>
          </a:xfrm>
          <a:prstGeom prst="rect">
            <a:avLst/>
          </a:prstGeom>
          <a:noFill/>
          <a:ln w="28575" algn="ctr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6" name="灯片编号占位符 15"/>
          <p:cNvSpPr txBox="1">
            <a:spLocks/>
          </p:cNvSpPr>
          <p:nvPr/>
        </p:nvSpPr>
        <p:spPr>
          <a:xfrm>
            <a:off x="6938963" y="6421438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fld id="{9394C29D-ED0C-453C-8BBC-C52F19F5BA76}" type="slidenum">
              <a:rPr lang="zh-CN" altLang="en-US" sz="1200" smtClean="0"/>
              <a:pPr marL="0" marR="0" lvl="0" indent="0" algn="r" defTabSz="914400" eaLnBrk="1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t>12</a:t>
            </a:fld>
            <a:r>
              <a:rPr lang="en-US" altLang="zh-CN" sz="1200" dirty="0" smtClean="0"/>
              <a:t>/40</a:t>
            </a:r>
            <a:endParaRPr lang="zh-CN" altLang="en-US" sz="1200" dirty="0"/>
          </a:p>
        </p:txBody>
      </p:sp>
      <p:sp>
        <p:nvSpPr>
          <p:cNvPr id="7" name="AutoShape 16"/>
          <p:cNvSpPr>
            <a:spLocks noChangeArrowheads="1"/>
          </p:cNvSpPr>
          <p:nvPr/>
        </p:nvSpPr>
        <p:spPr bwMode="auto">
          <a:xfrm>
            <a:off x="5572132" y="2428868"/>
            <a:ext cx="1609825" cy="408623"/>
          </a:xfrm>
          <a:prstGeom prst="wedgeRoundRectCallout">
            <a:avLst>
              <a:gd name="adj1" fmla="val 51589"/>
              <a:gd name="adj2" fmla="val 1274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类的基本框架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 flipH="1">
            <a:off x="5357818" y="2857496"/>
            <a:ext cx="428628" cy="285752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12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316" grpId="0" animBg="1"/>
      <p:bldP spid="525317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4348" y="171434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Java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类模板</a:t>
            </a:r>
          </a:p>
        </p:txBody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80" y="1350963"/>
            <a:ext cx="8064500" cy="649277"/>
          </a:xfrm>
        </p:spPr>
        <p:txBody>
          <a:bodyPr/>
          <a:lstStyle/>
          <a:p>
            <a:r>
              <a:rPr lang="zh-CN" altLang="en-US" dirty="0"/>
              <a:t>类将现实世界中的概念模拟到计算机程序中</a:t>
            </a:r>
          </a:p>
        </p:txBody>
      </p:sp>
      <p:sp>
        <p:nvSpPr>
          <p:cNvPr id="527364" name="AutoShape 4"/>
          <p:cNvSpPr>
            <a:spLocks noChangeArrowheads="1"/>
          </p:cNvSpPr>
          <p:nvPr/>
        </p:nvSpPr>
        <p:spPr bwMode="auto">
          <a:xfrm>
            <a:off x="2000232" y="2015880"/>
            <a:ext cx="4786346" cy="4413516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b="1" dirty="0">
                <a:solidFill>
                  <a:srgbClr val="0000FF"/>
                </a:solidFill>
                <a:latin typeface="+mn-lt"/>
              </a:rPr>
              <a:t>public class  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类名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{</a:t>
            </a: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        </a:t>
            </a:r>
            <a:r>
              <a:rPr lang="en-US" altLang="zh-CN" b="1" dirty="0" smtClean="0">
                <a:solidFill>
                  <a:srgbClr val="0000FF"/>
                </a:solidFill>
                <a:latin typeface="+mn-lt"/>
              </a:rPr>
              <a:t>//</a:t>
            </a:r>
            <a:r>
              <a:rPr lang="zh-CN" altLang="en-US" b="1" dirty="0">
                <a:solidFill>
                  <a:srgbClr val="0000FF"/>
                </a:solidFill>
                <a:latin typeface="+mn-lt"/>
              </a:rPr>
              <a:t>定义属性部分</a:t>
            </a: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zh-CN" altLang="en-US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        属性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1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的类型 属性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1;</a:t>
            </a: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       </a:t>
            </a:r>
            <a:r>
              <a:rPr lang="zh-CN" altLang="en-US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属性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2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的类型 属性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2;</a:t>
            </a: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	  …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       </a:t>
            </a:r>
            <a:r>
              <a:rPr lang="zh-CN" altLang="en-US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属性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n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的类型 属性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n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;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b="1" dirty="0">
                <a:solidFill>
                  <a:srgbClr val="0000FF"/>
                </a:solidFill>
                <a:latin typeface="+mn-lt"/>
              </a:rPr>
              <a:t>       </a:t>
            </a:r>
            <a:r>
              <a:rPr lang="en-US" altLang="zh-CN" b="1" dirty="0" smtClean="0">
                <a:solidFill>
                  <a:srgbClr val="0000FF"/>
                </a:solidFill>
                <a:latin typeface="+mn-lt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+mn-lt"/>
              </a:rPr>
              <a:t>//</a:t>
            </a:r>
            <a:r>
              <a:rPr lang="zh-CN" altLang="en-US" b="1" dirty="0">
                <a:solidFill>
                  <a:srgbClr val="0000FF"/>
                </a:solidFill>
                <a:latin typeface="+mn-lt"/>
              </a:rPr>
              <a:t>定义方法部分</a:t>
            </a: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       </a:t>
            </a:r>
            <a:r>
              <a:rPr lang="zh-CN" altLang="en-US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方法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1;</a:t>
            </a: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       </a:t>
            </a:r>
            <a:r>
              <a:rPr lang="zh-CN" altLang="en-US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方法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2;</a:t>
            </a: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       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…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       </a:t>
            </a:r>
            <a:r>
              <a:rPr lang="zh-CN" altLang="en-US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方法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m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;</a:t>
            </a: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}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1406" y="2100196"/>
            <a:ext cx="1000132" cy="400110"/>
            <a:chOff x="1000100" y="1801286"/>
            <a:chExt cx="1000132" cy="400110"/>
          </a:xfrm>
        </p:grpSpPr>
        <p:pic>
          <p:nvPicPr>
            <p:cNvPr id="7" name="Picture 3" descr="E:\设计支持\模板设计\YF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00100" y="1806293"/>
              <a:ext cx="422603" cy="390096"/>
            </a:xfrm>
            <a:prstGeom prst="rect">
              <a:avLst/>
            </a:prstGeom>
            <a:noFill/>
          </p:spPr>
        </p:pic>
        <p:sp>
          <p:nvSpPr>
            <p:cNvPr id="8" name="TextBox 7"/>
            <p:cNvSpPr txBox="1"/>
            <p:nvPr/>
          </p:nvSpPr>
          <p:spPr>
            <a:xfrm>
              <a:off x="1299399" y="1801286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语法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13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36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0118" y="214290"/>
            <a:ext cx="8229600" cy="1143000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定义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类</a:t>
            </a:r>
          </a:p>
        </p:txBody>
      </p:sp>
      <p:sp>
        <p:nvSpPr>
          <p:cNvPr id="528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1556" y="1285860"/>
            <a:ext cx="8229600" cy="4525962"/>
          </a:xfrm>
          <a:noFill/>
          <a:ln/>
        </p:spPr>
        <p:txBody>
          <a:bodyPr/>
          <a:lstStyle/>
          <a:p>
            <a:r>
              <a:rPr lang="zh-CN" altLang="en-US" dirty="0"/>
              <a:t>定义一个类的</a:t>
            </a:r>
            <a:r>
              <a:rPr lang="zh-CN" altLang="en-US" dirty="0" smtClean="0"/>
              <a:t>步骤</a:t>
            </a:r>
            <a:endParaRPr lang="zh-CN" altLang="en-US" dirty="0"/>
          </a:p>
        </p:txBody>
      </p:sp>
      <p:graphicFrame>
        <p:nvGraphicFramePr>
          <p:cNvPr id="6" name="内容占位符 4"/>
          <p:cNvGraphicFramePr>
            <a:graphicFrameLocks/>
          </p:cNvGraphicFramePr>
          <p:nvPr/>
        </p:nvGraphicFramePr>
        <p:xfrm>
          <a:off x="784254" y="1500174"/>
          <a:ext cx="7645398" cy="3500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14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576" y="260648"/>
            <a:ext cx="7645398" cy="648072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public class School {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</a:rPr>
              <a:t>	</a:t>
            </a:r>
            <a:r>
              <a:rPr lang="en-US" altLang="zh-CN" dirty="0">
                <a:solidFill>
                  <a:schemeClr val="tx2"/>
                </a:solidFill>
              </a:rPr>
              <a:t>//</a:t>
            </a:r>
            <a:r>
              <a:rPr lang="zh-CN" altLang="en-US" dirty="0" smtClean="0">
                <a:solidFill>
                  <a:schemeClr val="tx2"/>
                </a:solidFill>
              </a:rPr>
              <a:t>定义</a:t>
            </a:r>
            <a:r>
              <a:rPr lang="zh-CN" altLang="en-US" dirty="0">
                <a:solidFill>
                  <a:schemeClr val="tx2"/>
                </a:solidFill>
              </a:rPr>
              <a:t>属性</a:t>
            </a:r>
            <a:endParaRPr lang="en-US" altLang="zh-CN" dirty="0" smtClean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String </a:t>
            </a:r>
            <a:r>
              <a:rPr lang="en-US" altLang="zh-CN" dirty="0" err="1"/>
              <a:t>schoolName</a:t>
            </a:r>
            <a:r>
              <a:rPr lang="en-US" altLang="zh-CN" dirty="0"/>
              <a:t>;</a:t>
            </a:r>
            <a:r>
              <a:rPr lang="zh-CN" altLang="en-US" dirty="0"/>
              <a:t>		</a:t>
            </a:r>
            <a:r>
              <a:rPr lang="en-US" altLang="zh-CN" dirty="0" smtClean="0"/>
              <a:t>//</a:t>
            </a:r>
            <a:r>
              <a:rPr lang="zh-CN" altLang="en-US" dirty="0"/>
              <a:t>学校</a:t>
            </a:r>
            <a:r>
              <a:rPr lang="zh-CN" altLang="en-US" dirty="0" smtClean="0"/>
              <a:t>名称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classNumber</a:t>
            </a:r>
            <a:r>
              <a:rPr lang="en-US" altLang="zh-CN" dirty="0"/>
              <a:t>;</a:t>
            </a:r>
            <a:r>
              <a:rPr lang="zh-CN" altLang="en-US" dirty="0"/>
              <a:t>		</a:t>
            </a:r>
            <a:r>
              <a:rPr lang="en-US" altLang="zh-CN" dirty="0"/>
              <a:t>//</a:t>
            </a:r>
            <a:r>
              <a:rPr lang="zh-CN" altLang="en-US" dirty="0"/>
              <a:t>教室数目</a:t>
            </a:r>
          </a:p>
          <a:p>
            <a:pPr marL="0" indent="0">
              <a:buNone/>
            </a:pPr>
            <a:r>
              <a:rPr lang="zh-CN" altLang="en-US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labNumber</a:t>
            </a:r>
            <a:r>
              <a:rPr lang="en-US" altLang="zh-CN" dirty="0"/>
              <a:t>;</a:t>
            </a:r>
            <a:r>
              <a:rPr lang="zh-CN" altLang="en-US" dirty="0"/>
              <a:t>			</a:t>
            </a:r>
            <a:r>
              <a:rPr lang="en-US" altLang="zh-CN" dirty="0"/>
              <a:t>//</a:t>
            </a:r>
            <a:r>
              <a:rPr lang="zh-CN" altLang="en-US" dirty="0"/>
              <a:t>机房</a:t>
            </a:r>
            <a:r>
              <a:rPr lang="zh-CN" altLang="en-US" dirty="0" smtClean="0"/>
              <a:t>数目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	</a:t>
            </a:r>
            <a:r>
              <a:rPr lang="en-US" altLang="zh-CN" dirty="0">
                <a:solidFill>
                  <a:schemeClr val="tx2"/>
                </a:solidFill>
              </a:rPr>
              <a:t>//</a:t>
            </a:r>
            <a:r>
              <a:rPr lang="zh-CN" altLang="en-US" dirty="0" smtClean="0">
                <a:solidFill>
                  <a:schemeClr val="tx2"/>
                </a:solidFill>
              </a:rPr>
              <a:t>定义方法</a:t>
            </a:r>
            <a:endParaRPr lang="zh-CN" alt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	</a:t>
            </a:r>
            <a:r>
              <a:rPr lang="en-US" altLang="zh-CN" dirty="0"/>
              <a:t>public void </a:t>
            </a:r>
            <a:r>
              <a:rPr lang="en-US" altLang="zh-CN" dirty="0" err="1" smtClean="0"/>
              <a:t>showSchool</a:t>
            </a:r>
            <a:r>
              <a:rPr lang="en-US" altLang="zh-CN" dirty="0" smtClean="0"/>
              <a:t>(){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		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schoolName</a:t>
            </a:r>
            <a:r>
              <a:rPr lang="en-US" altLang="zh-CN" dirty="0"/>
              <a:t> </a:t>
            </a:r>
            <a:r>
              <a:rPr lang="en-US" altLang="zh-CN" dirty="0" smtClean="0"/>
              <a:t>  		+ </a:t>
            </a:r>
            <a:r>
              <a:rPr lang="en-US" altLang="zh-CN" dirty="0" err="1"/>
              <a:t>classNumber</a:t>
            </a:r>
            <a:r>
              <a:rPr lang="en-US" altLang="zh-CN" dirty="0"/>
              <a:t> </a:t>
            </a:r>
            <a:r>
              <a:rPr lang="en-US" altLang="zh-CN" dirty="0" smtClean="0"/>
              <a:t>+ </a:t>
            </a:r>
            <a:r>
              <a:rPr lang="en-US" altLang="zh-CN" dirty="0" err="1"/>
              <a:t>labNumber</a:t>
            </a:r>
            <a:r>
              <a:rPr lang="en-US" altLang="zh-CN" dirty="0"/>
              <a:t> </a:t>
            </a:r>
            <a:r>
              <a:rPr lang="en-US" altLang="zh-CN" dirty="0" smtClean="0"/>
              <a:t>);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	</a:t>
            </a:r>
            <a:r>
              <a:rPr lang="en-US" altLang="zh-CN" dirty="0"/>
              <a:t>}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15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2315434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4348" y="214290"/>
            <a:ext cx="8229600" cy="64294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如何创建和使用对象</a:t>
            </a:r>
          </a:p>
        </p:txBody>
      </p:sp>
      <p:sp>
        <p:nvSpPr>
          <p:cNvPr id="532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786" y="1260492"/>
            <a:ext cx="8229600" cy="4525962"/>
          </a:xfrm>
          <a:noFill/>
          <a:ln/>
        </p:spPr>
        <p:txBody>
          <a:bodyPr/>
          <a:lstStyle/>
          <a:p>
            <a:r>
              <a:rPr lang="zh-CN" altLang="en-US" dirty="0"/>
              <a:t>使用对象的</a:t>
            </a:r>
            <a:r>
              <a:rPr lang="zh-CN" altLang="en-US" dirty="0" smtClean="0"/>
              <a:t>步骤</a:t>
            </a:r>
            <a:endParaRPr lang="zh-CN" altLang="en-US" dirty="0"/>
          </a:p>
          <a:p>
            <a:pPr lvl="1"/>
            <a:r>
              <a:rPr lang="zh-CN" altLang="en-US" dirty="0"/>
              <a:t>创建对象</a:t>
            </a:r>
          </a:p>
          <a:p>
            <a:pPr lvl="2"/>
            <a:r>
              <a:rPr lang="zh-CN" altLang="en-US" dirty="0">
                <a:ea typeface="黑体" pitchFamily="2" charset="-122"/>
                <a:cs typeface="Times New Roman" pitchFamily="18" charset="0"/>
              </a:rPr>
              <a:t>类名 对象名 </a:t>
            </a:r>
            <a:r>
              <a:rPr lang="en-US" altLang="zh-CN" dirty="0">
                <a:ea typeface="黑体" pitchFamily="2" charset="-122"/>
                <a:cs typeface="Times New Roman" pitchFamily="18" charset="0"/>
              </a:rPr>
              <a:t>= new </a:t>
            </a:r>
            <a:r>
              <a:rPr lang="zh-CN" altLang="en-US" dirty="0">
                <a:ea typeface="黑体" pitchFamily="2" charset="-122"/>
                <a:cs typeface="Times New Roman" pitchFamily="18" charset="0"/>
              </a:rPr>
              <a:t>类名</a:t>
            </a:r>
            <a:r>
              <a:rPr lang="en-US" altLang="zh-CN" dirty="0">
                <a:ea typeface="黑体" pitchFamily="2" charset="-122"/>
                <a:cs typeface="Times New Roman" pitchFamily="18" charset="0"/>
              </a:rPr>
              <a:t>();</a:t>
            </a:r>
            <a:endParaRPr lang="zh-CN" altLang="en-US" dirty="0">
              <a:ea typeface="黑体" pitchFamily="2" charset="-122"/>
            </a:endParaRPr>
          </a:p>
          <a:p>
            <a:pPr lvl="1"/>
            <a:endParaRPr lang="zh-CN" altLang="en-US" sz="2000" dirty="0"/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引用对象成员：使用“</a:t>
            </a:r>
            <a:r>
              <a:rPr lang="en-US" altLang="zh-CN" dirty="0"/>
              <a:t>.”</a:t>
            </a:r>
            <a:r>
              <a:rPr lang="zh-CN" altLang="en-US" dirty="0"/>
              <a:t>进行以下操作</a:t>
            </a:r>
          </a:p>
          <a:p>
            <a:pPr lvl="2"/>
            <a:r>
              <a:rPr lang="zh-CN" altLang="en-US" dirty="0">
                <a:ea typeface="黑体" pitchFamily="2" charset="-122"/>
              </a:rPr>
              <a:t>引用类的属性：对象名</a:t>
            </a:r>
            <a:r>
              <a:rPr lang="en-US" altLang="zh-CN" dirty="0">
                <a:ea typeface="黑体" pitchFamily="2" charset="-122"/>
              </a:rPr>
              <a:t>.</a:t>
            </a:r>
            <a:r>
              <a:rPr lang="zh-CN" altLang="en-US" dirty="0">
                <a:ea typeface="黑体" pitchFamily="2" charset="-122"/>
              </a:rPr>
              <a:t>属性</a:t>
            </a:r>
          </a:p>
          <a:p>
            <a:pPr lvl="2"/>
            <a:r>
              <a:rPr lang="zh-CN" altLang="en-US" dirty="0">
                <a:ea typeface="黑体" pitchFamily="2" charset="-122"/>
              </a:rPr>
              <a:t>引用类的方法：对象名</a:t>
            </a:r>
            <a:r>
              <a:rPr lang="en-US" altLang="zh-CN" dirty="0">
                <a:ea typeface="黑体" pitchFamily="2" charset="-122"/>
              </a:rPr>
              <a:t>.</a:t>
            </a:r>
            <a:r>
              <a:rPr lang="zh-CN" altLang="en-US" dirty="0">
                <a:ea typeface="黑体" pitchFamily="2" charset="-122"/>
              </a:rPr>
              <a:t>方法名</a:t>
            </a:r>
            <a:r>
              <a:rPr lang="en-US" altLang="zh-CN" dirty="0">
                <a:ea typeface="黑体" pitchFamily="2" charset="-122"/>
              </a:rPr>
              <a:t>()</a:t>
            </a:r>
          </a:p>
          <a:p>
            <a:pPr lvl="4">
              <a:buFontTx/>
              <a:buNone/>
            </a:pPr>
            <a:endParaRPr lang="zh-CN" altLang="en-US" b="0" dirty="0">
              <a:ea typeface="黑体" pitchFamily="2" charset="-122"/>
            </a:endParaRPr>
          </a:p>
        </p:txBody>
      </p:sp>
      <p:sp>
        <p:nvSpPr>
          <p:cNvPr id="532484" name="AutoShape 4"/>
          <p:cNvSpPr>
            <a:spLocks noChangeArrowheads="1"/>
          </p:cNvSpPr>
          <p:nvPr/>
        </p:nvSpPr>
        <p:spPr bwMode="auto">
          <a:xfrm>
            <a:off x="1476375" y="2706689"/>
            <a:ext cx="6335985" cy="452432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School </a:t>
            </a:r>
            <a:r>
              <a:rPr lang="en-US" altLang="zh-CN" b="1" dirty="0" err="1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mySchool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= </a:t>
            </a:r>
            <a:r>
              <a:rPr lang="en-US" altLang="zh-CN" b="1" dirty="0">
                <a:solidFill>
                  <a:srgbClr val="0000FF"/>
                </a:solidFill>
                <a:latin typeface="+mn-lt"/>
              </a:rPr>
              <a:t>new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School();</a:t>
            </a:r>
          </a:p>
        </p:txBody>
      </p:sp>
      <p:sp>
        <p:nvSpPr>
          <p:cNvPr id="532485" name="AutoShape 5"/>
          <p:cNvSpPr>
            <a:spLocks noChangeArrowheads="1"/>
          </p:cNvSpPr>
          <p:nvPr/>
        </p:nvSpPr>
        <p:spPr bwMode="auto">
          <a:xfrm>
            <a:off x="1538277" y="4831047"/>
            <a:ext cx="6274083" cy="812530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mySchool.name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= 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“</a:t>
            </a:r>
            <a:r>
              <a:rPr lang="zh-CN" altLang="en-US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西南交大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";   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//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给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name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属性赋值</a:t>
            </a: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b="1" dirty="0" err="1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mySchool.showSchool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();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     //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调用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showCenter()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方法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71406" y="1928802"/>
            <a:ext cx="1000132" cy="400110"/>
            <a:chOff x="1000100" y="1801286"/>
            <a:chExt cx="1000132" cy="400110"/>
          </a:xfrm>
        </p:grpSpPr>
        <p:pic>
          <p:nvPicPr>
            <p:cNvPr id="12" name="Picture 3" descr="E:\设计支持\模板设计\YF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00100" y="1806293"/>
              <a:ext cx="422603" cy="390096"/>
            </a:xfrm>
            <a:prstGeom prst="rect">
              <a:avLst/>
            </a:prstGeom>
            <a:noFill/>
          </p:spPr>
        </p:pic>
        <p:sp>
          <p:nvSpPr>
            <p:cNvPr id="13" name="TextBox 12"/>
            <p:cNvSpPr txBox="1"/>
            <p:nvPr/>
          </p:nvSpPr>
          <p:spPr>
            <a:xfrm>
              <a:off x="1299399" y="1801286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语法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1406" y="3643314"/>
            <a:ext cx="1000132" cy="400110"/>
            <a:chOff x="1000100" y="1801286"/>
            <a:chExt cx="1000132" cy="400110"/>
          </a:xfrm>
        </p:grpSpPr>
        <p:pic>
          <p:nvPicPr>
            <p:cNvPr id="15" name="Picture 3" descr="E:\设计支持\模板设计\YF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00100" y="1806293"/>
              <a:ext cx="422603" cy="390096"/>
            </a:xfrm>
            <a:prstGeom prst="rect">
              <a:avLst/>
            </a:prstGeom>
            <a:noFill/>
          </p:spPr>
        </p:pic>
        <p:sp>
          <p:nvSpPr>
            <p:cNvPr id="16" name="TextBox 15"/>
            <p:cNvSpPr txBox="1"/>
            <p:nvPr/>
          </p:nvSpPr>
          <p:spPr>
            <a:xfrm>
              <a:off x="1299399" y="1801286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语法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7" name="灯片编号占位符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16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484" grpId="0" animBg="1"/>
      <p:bldP spid="53248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4348" y="214290"/>
            <a:ext cx="8229600" cy="1143000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3600" b="1" dirty="0">
                <a:solidFill>
                  <a:schemeClr val="tx2">
                    <a:lumMod val="75000"/>
                  </a:schemeClr>
                </a:solidFill>
              </a:rPr>
              <a:t>创建和使用对象</a:t>
            </a:r>
            <a:r>
              <a:rPr lang="zh-CN" altLang="en-US" sz="3600" b="1" dirty="0" smtClean="0">
                <a:solidFill>
                  <a:schemeClr val="tx2">
                    <a:lumMod val="75000"/>
                  </a:schemeClr>
                </a:solidFill>
              </a:rPr>
              <a:t>示例</a:t>
            </a:r>
            <a:endParaRPr lang="en-US" altLang="zh-CN" sz="3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40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412875"/>
            <a:ext cx="8459787" cy="4525963"/>
          </a:xfrm>
          <a:noFill/>
          <a:ln/>
        </p:spPr>
        <p:txBody>
          <a:bodyPr/>
          <a:lstStyle/>
          <a:p>
            <a:pPr lvl="1">
              <a:buFont typeface="Wingdings" pitchFamily="2" charset="2"/>
              <a:buNone/>
            </a:pPr>
            <a:r>
              <a:rPr lang="zh-CN" altLang="en-US" sz="2800" dirty="0"/>
              <a:t>   </a:t>
            </a:r>
          </a:p>
          <a:p>
            <a:endParaRPr lang="zh-CN" altLang="en-US" sz="2400" dirty="0"/>
          </a:p>
          <a:p>
            <a:endParaRPr lang="zh-CN" altLang="en-US" sz="2400" dirty="0"/>
          </a:p>
        </p:txBody>
      </p:sp>
      <p:sp>
        <p:nvSpPr>
          <p:cNvPr id="540687" name="Rectangle 15"/>
          <p:cNvSpPr>
            <a:spLocks noChangeArrowheads="1"/>
          </p:cNvSpPr>
          <p:nvPr/>
        </p:nvSpPr>
        <p:spPr bwMode="auto">
          <a:xfrm>
            <a:off x="795365" y="1252559"/>
            <a:ext cx="7705725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80000"/>
              <a:buBlip>
                <a:blip r:embed="rId2"/>
              </a:buBlip>
            </a:pPr>
            <a:r>
              <a:rPr lang="zh-CN" altLang="en-US" sz="2800" b="1" dirty="0" smtClean="0">
                <a:latin typeface="+mn-lt"/>
                <a:ea typeface="+mn-ea"/>
              </a:rPr>
              <a:t>一</a:t>
            </a:r>
            <a:r>
              <a:rPr lang="zh-CN" altLang="en-US" sz="2800" b="1" dirty="0">
                <a:latin typeface="+mn-lt"/>
                <a:ea typeface="+mn-ea"/>
              </a:rPr>
              <a:t>个景区根据游人的年龄收取不同价格的门票。请编写游人类，根据年龄段决定能够购买的门票价格并输出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71406" y="857232"/>
            <a:ext cx="986586" cy="422603"/>
            <a:chOff x="1000100" y="1173499"/>
            <a:chExt cx="986586" cy="422603"/>
          </a:xfrm>
        </p:grpSpPr>
        <p:pic>
          <p:nvPicPr>
            <p:cNvPr id="10" name="Picture 5" descr="E:\设计支持\模板设计\WT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1173499"/>
              <a:ext cx="414476" cy="422603"/>
            </a:xfrm>
            <a:prstGeom prst="rect">
              <a:avLst/>
            </a:prstGeom>
            <a:noFill/>
          </p:spPr>
        </p:pic>
        <p:sp>
          <p:nvSpPr>
            <p:cNvPr id="11" name="TextBox 10"/>
            <p:cNvSpPr txBox="1"/>
            <p:nvPr/>
          </p:nvSpPr>
          <p:spPr>
            <a:xfrm>
              <a:off x="1285852" y="1184745"/>
              <a:ext cx="700834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问题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1406" y="3429000"/>
            <a:ext cx="1000132" cy="446983"/>
            <a:chOff x="1000100" y="3235185"/>
            <a:chExt cx="1000132" cy="446983"/>
          </a:xfrm>
        </p:grpSpPr>
        <p:pic>
          <p:nvPicPr>
            <p:cNvPr id="13" name="Picture 11" descr="E:\设计支持\模板设计\FX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00100" y="3235185"/>
              <a:ext cx="398223" cy="446983"/>
            </a:xfrm>
            <a:prstGeom prst="rect">
              <a:avLst/>
            </a:prstGeom>
            <a:noFill/>
          </p:spPr>
        </p:pic>
        <p:sp>
          <p:nvSpPr>
            <p:cNvPr id="14" name="TextBox 13"/>
            <p:cNvSpPr txBox="1"/>
            <p:nvPr/>
          </p:nvSpPr>
          <p:spPr>
            <a:xfrm>
              <a:off x="1299399" y="3258621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分析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graphicFrame>
        <p:nvGraphicFramePr>
          <p:cNvPr id="15" name="Group 29"/>
          <p:cNvGraphicFramePr>
            <a:graphicFrameLocks noGrp="1"/>
          </p:cNvGraphicFramePr>
          <p:nvPr/>
        </p:nvGraphicFramePr>
        <p:xfrm>
          <a:off x="1428728" y="3429001"/>
          <a:ext cx="2643206" cy="2286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206"/>
              </a:tblGrid>
              <a:tr h="5823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BFFFE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游人类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73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姓名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年龄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63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显示姓名及门票价格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灯片编号占位符 15"/>
          <p:cNvSpPr txBox="1">
            <a:spLocks/>
          </p:cNvSpPr>
          <p:nvPr/>
        </p:nvSpPr>
        <p:spPr>
          <a:xfrm>
            <a:off x="6938963" y="6421438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fld id="{9394C29D-ED0C-453C-8BBC-C52F19F5BA76}" type="slidenum">
              <a:rPr lang="zh-CN" altLang="en-US" sz="1200" smtClean="0"/>
              <a:pPr marL="0" marR="0" lvl="0" indent="0" algn="r" defTabSz="914400" eaLnBrk="1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t>17</a:t>
            </a:fld>
            <a:r>
              <a:rPr lang="en-US" altLang="zh-CN" sz="1200" dirty="0" smtClean="0"/>
              <a:t>/40</a:t>
            </a:r>
            <a:endParaRPr lang="zh-CN" altLang="en-US" sz="1200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17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14348" y="214290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创建和使用对象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示例</a:t>
            </a:r>
            <a:endParaRPr lang="en-US" altLang="zh-CN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8" name="灯片编号占位符 3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18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609724"/>
            <a:ext cx="8914928" cy="426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19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14348" y="214290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3600" b="1" dirty="0">
                <a:solidFill>
                  <a:schemeClr val="tx2">
                    <a:lumMod val="75000"/>
                  </a:schemeClr>
                </a:solidFill>
              </a:rPr>
              <a:t>创建和使用对象</a:t>
            </a:r>
            <a:r>
              <a:rPr lang="zh-CN" altLang="en-US" sz="3600" b="1" dirty="0" smtClean="0">
                <a:solidFill>
                  <a:schemeClr val="tx2">
                    <a:lumMod val="75000"/>
                  </a:schemeClr>
                </a:solidFill>
              </a:rPr>
              <a:t>示例</a:t>
            </a:r>
            <a:endParaRPr lang="en-US" altLang="zh-CN" sz="3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96752"/>
            <a:ext cx="8582280" cy="511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424808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4348" y="214290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小结</a:t>
            </a:r>
            <a:endParaRPr lang="en-US" altLang="zh-CN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35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6475" y="1285860"/>
            <a:ext cx="7058025" cy="2357454"/>
          </a:xfrm>
        </p:spPr>
        <p:txBody>
          <a:bodyPr/>
          <a:lstStyle/>
          <a:p>
            <a:r>
              <a:rPr lang="zh-CN" altLang="en-US" dirty="0"/>
              <a:t>类和对象的关系</a:t>
            </a:r>
            <a:r>
              <a:rPr lang="zh-CN" altLang="en-US" dirty="0" smtClean="0"/>
              <a:t>？</a:t>
            </a:r>
            <a:endParaRPr lang="zh-CN" altLang="en-US" dirty="0"/>
          </a:p>
          <a:p>
            <a:r>
              <a:rPr lang="zh-CN" altLang="en-US" dirty="0"/>
              <a:t>如何创建和使用对象？</a:t>
            </a:r>
          </a:p>
          <a:p>
            <a:pPr lvl="1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1406" y="857232"/>
            <a:ext cx="958752" cy="430730"/>
            <a:chOff x="3643306" y="2500357"/>
            <a:chExt cx="958752" cy="430730"/>
          </a:xfrm>
        </p:grpSpPr>
        <p:pic>
          <p:nvPicPr>
            <p:cNvPr id="6" name="Picture 6" descr="E:\设计支持\模板设计\TW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643306" y="2500357"/>
              <a:ext cx="463239" cy="430730"/>
            </a:xfrm>
            <a:prstGeom prst="rect">
              <a:avLst/>
            </a:prstGeom>
            <a:noFill/>
          </p:spPr>
        </p:pic>
        <p:sp>
          <p:nvSpPr>
            <p:cNvPr id="7" name="TextBox 6"/>
            <p:cNvSpPr txBox="1"/>
            <p:nvPr/>
          </p:nvSpPr>
          <p:spPr>
            <a:xfrm>
              <a:off x="3901224" y="2502459"/>
              <a:ext cx="700834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提问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grpSp>
        <p:nvGrpSpPr>
          <p:cNvPr id="10" name="组合 57"/>
          <p:cNvGrpSpPr/>
          <p:nvPr/>
        </p:nvGrpSpPr>
        <p:grpSpPr>
          <a:xfrm>
            <a:off x="142844" y="2428868"/>
            <a:ext cx="843709" cy="400110"/>
            <a:chOff x="3786182" y="3143248"/>
            <a:chExt cx="843709" cy="400110"/>
          </a:xfrm>
        </p:grpSpPr>
        <p:sp>
          <p:nvSpPr>
            <p:cNvPr id="11" name="TextBox 10"/>
            <p:cNvSpPr txBox="1"/>
            <p:nvPr/>
          </p:nvSpPr>
          <p:spPr>
            <a:xfrm>
              <a:off x="3929058" y="3143248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经验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  <p:pic>
          <p:nvPicPr>
            <p:cNvPr id="12" name="Picture 1" descr="C:\Users\meng.zhang\Desktop\ACCP7.0模版图标规范\未命名-1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86182" y="3174234"/>
              <a:ext cx="230326" cy="338139"/>
            </a:xfrm>
            <a:prstGeom prst="rect">
              <a:avLst/>
            </a:prstGeom>
            <a:noFill/>
          </p:spPr>
        </p:pic>
      </p:grp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786475" y="2928934"/>
            <a:ext cx="7058025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l">
              <a:spcBef>
                <a:spcPct val="20000"/>
              </a:spcBef>
              <a:buClr>
                <a:schemeClr val="tx2"/>
              </a:buClr>
              <a:buSzPct val="80000"/>
              <a:buBlip>
                <a:blip r:embed="rId5"/>
              </a:buBlip>
            </a:pPr>
            <a:r>
              <a:rPr lang="zh-CN" altLang="en-US" sz="2800" b="1" kern="0" dirty="0" smtClean="0">
                <a:latin typeface="+mn-lt"/>
                <a:ea typeface="+mn-ea"/>
              </a:rPr>
              <a:t>利用</a:t>
            </a:r>
            <a:r>
              <a:rPr lang="en-US" altLang="zh-CN" sz="2800" b="1" kern="0" dirty="0" err="1" smtClean="0">
                <a:latin typeface="+mn-lt"/>
                <a:ea typeface="+mn-ea"/>
              </a:rPr>
              <a:t>MyEclipse</a:t>
            </a:r>
            <a:r>
              <a:rPr lang="zh-CN" altLang="en-US" sz="2800" b="1" kern="0" dirty="0" smtClean="0">
                <a:latin typeface="+mn-lt"/>
                <a:ea typeface="+mn-ea"/>
              </a:rPr>
              <a:t>自动提示功能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Blip>
                <a:blip r:embed="rId6"/>
              </a:buBlip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20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面向对象（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</a:rPr>
              <a:t>OO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）的优点</a:t>
            </a:r>
          </a:p>
        </p:txBody>
      </p:sp>
      <p:graphicFrame>
        <p:nvGraphicFramePr>
          <p:cNvPr id="9" name="内容占位符 8"/>
          <p:cNvGraphicFramePr>
            <a:graphicFrameLocks noGrp="1"/>
          </p:cNvGraphicFramePr>
          <p:nvPr>
            <p:ph idx="1"/>
          </p:nvPr>
        </p:nvGraphicFramePr>
        <p:xfrm>
          <a:off x="1928794" y="1419231"/>
          <a:ext cx="5429261" cy="4510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21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0118" y="214290"/>
            <a:ext cx="8229600" cy="490537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总结</a:t>
            </a:r>
          </a:p>
        </p:txBody>
      </p:sp>
      <p:sp>
        <p:nvSpPr>
          <p:cNvPr id="486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7427" y="1285860"/>
            <a:ext cx="7570787" cy="4751387"/>
          </a:xfrm>
        </p:spPr>
        <p:txBody>
          <a:bodyPr/>
          <a:lstStyle/>
          <a:p>
            <a:r>
              <a:rPr dirty="0" smtClean="0"/>
              <a:t>对象是用来描述客观事物的一个实体</a:t>
            </a:r>
            <a:endParaRPr lang="en-US" dirty="0" smtClean="0"/>
          </a:p>
          <a:p>
            <a:r>
              <a:rPr dirty="0" smtClean="0"/>
              <a:t>类定义了对象将会拥有的特征（属性）和行为（方法）</a:t>
            </a:r>
            <a:endParaRPr lang="zh-CN" altLang="en-US" dirty="0"/>
          </a:p>
          <a:p>
            <a:r>
              <a:rPr dirty="0" smtClean="0"/>
              <a:t>类是对象的类型，对象是类的实例</a:t>
            </a:r>
            <a:endParaRPr lang="en-US" dirty="0" smtClean="0"/>
          </a:p>
          <a:p>
            <a:pPr lvl="0"/>
            <a:r>
              <a:rPr dirty="0" smtClean="0"/>
              <a:t>使用类的步骤</a:t>
            </a:r>
          </a:p>
          <a:p>
            <a:endParaRPr lang="zh-CN" altLang="en-US" dirty="0"/>
          </a:p>
        </p:txBody>
      </p:sp>
      <p:graphicFrame>
        <p:nvGraphicFramePr>
          <p:cNvPr id="5" name="图示 4"/>
          <p:cNvGraphicFramePr/>
          <p:nvPr/>
        </p:nvGraphicFramePr>
        <p:xfrm>
          <a:off x="3714744" y="3357562"/>
          <a:ext cx="3571900" cy="2714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22</a:t>
            </a:fld>
            <a:r>
              <a:rPr lang="en-US" altLang="zh-CN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171434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本章目标</a:t>
            </a:r>
          </a:p>
        </p:txBody>
      </p:sp>
      <p:sp>
        <p:nvSpPr>
          <p:cNvPr id="49152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会定义和使用类的方法</a:t>
            </a:r>
          </a:p>
          <a:p>
            <a:r>
              <a:rPr lang="zh-CN" altLang="en-US" dirty="0"/>
              <a:t>理解变量作用域</a:t>
            </a:r>
          </a:p>
          <a:p>
            <a:r>
              <a:rPr lang="zh-CN" altLang="en-US" dirty="0"/>
              <a:t>会添加</a:t>
            </a:r>
            <a:r>
              <a:rPr lang="en-US" altLang="zh-CN" dirty="0" err="1"/>
              <a:t>JavaDoc</a:t>
            </a:r>
            <a:r>
              <a:rPr lang="zh-CN" altLang="en-US" dirty="0"/>
              <a:t>注释</a:t>
            </a:r>
          </a:p>
        </p:txBody>
      </p:sp>
      <p:pic>
        <p:nvPicPr>
          <p:cNvPr id="4" name="Picture 2" descr="C:\Users\meng.zhang\Desktop\ACCP7.0模版图标规范\啊-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00357" y="1137592"/>
            <a:ext cx="643477" cy="648334"/>
          </a:xfrm>
          <a:prstGeom prst="rect">
            <a:avLst/>
          </a:prstGeom>
          <a:noFill/>
        </p:spPr>
      </p:pic>
      <p:pic>
        <p:nvPicPr>
          <p:cNvPr id="6" name="Picture 3" descr="C:\Users\meng.zhang\Desktop\ACCP7.0模版图标规范\是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5074" y="1066154"/>
            <a:ext cx="714380" cy="719772"/>
          </a:xfrm>
          <a:prstGeom prst="rect">
            <a:avLst/>
          </a:prstGeom>
          <a:noFill/>
        </p:spPr>
      </p:pic>
      <p:sp>
        <p:nvSpPr>
          <p:cNvPr id="8" name="灯片编号占位符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23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  <p:pic>
        <p:nvPicPr>
          <p:cNvPr id="9" name="Picture 3" descr="C:\Users\meng.zhang\Desktop\ACCP7.0模版图标规范\是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5074" y="1637658"/>
            <a:ext cx="714380" cy="7197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39753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171434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类的方法</a:t>
            </a:r>
          </a:p>
        </p:txBody>
      </p:sp>
      <p:sp>
        <p:nvSpPr>
          <p:cNvPr id="492547" name="Rectangle 3"/>
          <p:cNvSpPr>
            <a:spLocks noGrp="1" noChangeArrowheads="1"/>
          </p:cNvSpPr>
          <p:nvPr>
            <p:ph idx="1"/>
          </p:nvPr>
        </p:nvSpPr>
        <p:spPr>
          <a:xfrm>
            <a:off x="784254" y="5429264"/>
            <a:ext cx="7645398" cy="1571636"/>
          </a:xfrm>
          <a:noFill/>
          <a:ln/>
        </p:spPr>
        <p:txBody>
          <a:bodyPr/>
          <a:lstStyle/>
          <a:p>
            <a:r>
              <a:rPr lang="zh-CN" altLang="en-US" dirty="0" smtClean="0"/>
              <a:t>写出</a:t>
            </a:r>
            <a:r>
              <a:rPr lang="zh-CN" altLang="en-US" dirty="0"/>
              <a:t>狮子对象的“跑”方法、 “叫”方法</a:t>
            </a:r>
          </a:p>
          <a:p>
            <a:endParaRPr lang="zh-CN" altLang="en-US" dirty="0"/>
          </a:p>
        </p:txBody>
      </p:sp>
      <p:sp>
        <p:nvSpPr>
          <p:cNvPr id="492549" name="Rectangle 5"/>
          <p:cNvSpPr>
            <a:spLocks noChangeArrowheads="1"/>
          </p:cNvSpPr>
          <p:nvPr/>
        </p:nvSpPr>
        <p:spPr bwMode="auto">
          <a:xfrm>
            <a:off x="5984899" y="1412875"/>
            <a:ext cx="1944687" cy="2062103"/>
          </a:xfrm>
          <a:prstGeom prst="rect">
            <a:avLst/>
          </a:prstGeom>
          <a:solidFill>
            <a:srgbClr val="E4FCE4"/>
          </a:solidFill>
          <a:ln w="9525" algn="ctr">
            <a:solidFill>
              <a:srgbClr val="66CCFF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sz="1600" b="1" dirty="0" smtClean="0"/>
              <a:t>电动</a:t>
            </a:r>
            <a:r>
              <a:rPr lang="zh-CN" altLang="en-US" sz="1600" b="1" dirty="0"/>
              <a:t>玩具狮子</a:t>
            </a:r>
          </a:p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sz="1600" b="1" dirty="0"/>
              <a:t>属性：</a:t>
            </a:r>
          </a:p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sz="1600" b="1" dirty="0"/>
              <a:t>颜色：黄色</a:t>
            </a:r>
          </a:p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endParaRPr lang="zh-CN" altLang="en-US" sz="1600" b="1" dirty="0"/>
          </a:p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sz="1600" b="1" dirty="0"/>
              <a:t>行为：</a:t>
            </a:r>
          </a:p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sz="1600" b="1" dirty="0"/>
              <a:t>跑</a:t>
            </a:r>
          </a:p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sz="1600" b="1" dirty="0"/>
              <a:t>叫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142976" y="1412875"/>
            <a:ext cx="3748087" cy="2447925"/>
            <a:chOff x="1157" y="890"/>
            <a:chExt cx="2361" cy="1542"/>
          </a:xfrm>
        </p:grpSpPr>
        <p:pic>
          <p:nvPicPr>
            <p:cNvPr id="492548" name="Picture 4" descr="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157" y="890"/>
              <a:ext cx="2361" cy="1542"/>
            </a:xfrm>
            <a:prstGeom prst="rect">
              <a:avLst/>
            </a:prstGeom>
            <a:noFill/>
          </p:spPr>
        </p:pic>
        <p:pic>
          <p:nvPicPr>
            <p:cNvPr id="492553" name="Picture 9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141" y="1426"/>
              <a:ext cx="156" cy="18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</p:pic>
      </p:grpSp>
      <p:sp>
        <p:nvSpPr>
          <p:cNvPr id="492552" name="AutoShape 8"/>
          <p:cNvSpPr>
            <a:spLocks noChangeArrowheads="1"/>
          </p:cNvSpPr>
          <p:nvPr/>
        </p:nvSpPr>
        <p:spPr bwMode="gray">
          <a:xfrm>
            <a:off x="2735230" y="3643314"/>
            <a:ext cx="1277530" cy="646986"/>
          </a:xfrm>
          <a:prstGeom prst="wedgeRoundRectCallout">
            <a:avLst>
              <a:gd name="adj1" fmla="val -18310"/>
              <a:gd name="adj2" fmla="val -48258"/>
              <a:gd name="adj3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>
            <a:spAutoFit/>
          </a:bodyPr>
          <a:lstStyle/>
          <a:p>
            <a:pPr marL="0" lvl="1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sz="1600" b="1" dirty="0" smtClean="0"/>
              <a:t>按此按钮，</a:t>
            </a:r>
          </a:p>
          <a:p>
            <a:pPr marL="0" lvl="1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sz="1600" b="1" dirty="0" smtClean="0"/>
              <a:t>狮子开始叫</a:t>
            </a:r>
          </a:p>
        </p:txBody>
      </p:sp>
      <p:sp>
        <p:nvSpPr>
          <p:cNvPr id="492550" name="AutoShape 6"/>
          <p:cNvSpPr>
            <a:spLocks noChangeArrowheads="1"/>
          </p:cNvSpPr>
          <p:nvPr/>
        </p:nvSpPr>
        <p:spPr bwMode="gray">
          <a:xfrm>
            <a:off x="4143372" y="1142984"/>
            <a:ext cx="1277530" cy="646986"/>
          </a:xfrm>
          <a:prstGeom prst="wedgeRoundRectCallout">
            <a:avLst>
              <a:gd name="adj1" fmla="val -24791"/>
              <a:gd name="adj2" fmla="val 51441"/>
              <a:gd name="adj3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>
            <a:spAutoFit/>
          </a:bodyPr>
          <a:lstStyle/>
          <a:p>
            <a:pPr marL="0" lvl="1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sz="1600" b="1" dirty="0" smtClean="0"/>
              <a:t>按此按钮，</a:t>
            </a:r>
          </a:p>
          <a:p>
            <a:pPr marL="0" lvl="1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sz="1600" b="1" dirty="0" smtClean="0"/>
              <a:t>狮子开始跑</a:t>
            </a:r>
          </a:p>
        </p:txBody>
      </p:sp>
      <p:grpSp>
        <p:nvGrpSpPr>
          <p:cNvPr id="11" name="组合 72"/>
          <p:cNvGrpSpPr/>
          <p:nvPr/>
        </p:nvGrpSpPr>
        <p:grpSpPr>
          <a:xfrm>
            <a:off x="84952" y="4786322"/>
            <a:ext cx="986586" cy="422603"/>
            <a:chOff x="1000100" y="1173499"/>
            <a:chExt cx="986586" cy="422603"/>
          </a:xfrm>
        </p:grpSpPr>
        <p:pic>
          <p:nvPicPr>
            <p:cNvPr id="12" name="Picture 5" descr="E:\设计支持\模板设计\WT.pn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000100" y="1173499"/>
              <a:ext cx="414476" cy="422603"/>
            </a:xfrm>
            <a:prstGeom prst="rect">
              <a:avLst/>
            </a:prstGeom>
            <a:noFill/>
          </p:spPr>
        </p:pic>
        <p:sp>
          <p:nvSpPr>
            <p:cNvPr id="13" name="TextBox 12"/>
            <p:cNvSpPr txBox="1"/>
            <p:nvPr/>
          </p:nvSpPr>
          <p:spPr>
            <a:xfrm>
              <a:off x="1285852" y="1184745"/>
              <a:ext cx="700834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问题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cxnSp>
        <p:nvCxnSpPr>
          <p:cNvPr id="14" name="直接箭头连接符 13"/>
          <p:cNvCxnSpPr/>
          <p:nvPr/>
        </p:nvCxnSpPr>
        <p:spPr bwMode="auto">
          <a:xfrm flipV="1">
            <a:off x="3100011" y="1714488"/>
            <a:ext cx="1043363" cy="525444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 bwMode="auto">
          <a:xfrm rot="16200000" flipH="1">
            <a:off x="2505309" y="2801665"/>
            <a:ext cx="1166632" cy="563914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灯片编号占位符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24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414538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9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9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2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49" grpId="0" animBg="1"/>
      <p:bldP spid="492552" grpId="0" animBg="1"/>
      <p:bldP spid="49255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171434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类的方法示例</a:t>
            </a:r>
          </a:p>
        </p:txBody>
      </p:sp>
      <p:sp>
        <p:nvSpPr>
          <p:cNvPr id="494596" name="Rectangle 4"/>
          <p:cNvSpPr>
            <a:spLocks noGrp="1" noChangeArrowheads="1"/>
          </p:cNvSpPr>
          <p:nvPr>
            <p:ph idx="1"/>
          </p:nvPr>
        </p:nvSpPr>
        <p:spPr>
          <a:xfrm>
            <a:off x="784254" y="1276351"/>
            <a:ext cx="7645398" cy="590354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723900">
              <a:lnSpc>
                <a:spcPct val="130000"/>
              </a:lnSpc>
              <a:tabLst>
                <a:tab pos="444500" algn="l"/>
              </a:tabLst>
              <a:defRPr/>
            </a:pPr>
            <a:r>
              <a:rPr lang="en-US" altLang="zh-CN" dirty="0"/>
              <a:t>AutoLion</a:t>
            </a:r>
            <a:r>
              <a:rPr lang="zh-CN" altLang="en-US" dirty="0"/>
              <a:t>类代码实现</a:t>
            </a:r>
          </a:p>
        </p:txBody>
      </p:sp>
      <p:sp>
        <p:nvSpPr>
          <p:cNvPr id="494595" name="AutoShape 3"/>
          <p:cNvSpPr>
            <a:spLocks noChangeArrowheads="1"/>
          </p:cNvSpPr>
          <p:nvPr/>
        </p:nvSpPr>
        <p:spPr bwMode="auto">
          <a:xfrm>
            <a:off x="1111254" y="1931312"/>
            <a:ext cx="7032646" cy="3998018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b="1" dirty="0" smtClean="0">
                <a:solidFill>
                  <a:srgbClr val="0000FF"/>
                </a:solidFill>
              </a:rPr>
              <a:t>public class</a:t>
            </a:r>
            <a:r>
              <a:rPr lang="en-US" altLang="zh-CN" b="1" dirty="0" smtClean="0"/>
              <a:t> </a:t>
            </a:r>
            <a:r>
              <a:rPr lang="en-US" altLang="zh-CN" b="1" dirty="0" err="1" smtClean="0"/>
              <a:t>AutoLion</a:t>
            </a:r>
            <a:r>
              <a:rPr lang="en-US" altLang="zh-CN" b="1" dirty="0" smtClean="0"/>
              <a:t> { </a:t>
            </a:r>
          </a:p>
          <a:p>
            <a:pPr algn="l">
              <a:lnSpc>
                <a:spcPct val="130000"/>
              </a:lnSpc>
            </a:pPr>
            <a:r>
              <a:rPr lang="en-US" altLang="zh-CN" b="1" dirty="0" smtClean="0"/>
              <a:t>    String color = "</a:t>
            </a:r>
            <a:r>
              <a:rPr lang="zh-CN" altLang="en-US" b="1" dirty="0" smtClean="0"/>
              <a:t>黄色</a:t>
            </a:r>
            <a:r>
              <a:rPr lang="en-US" altLang="zh-CN" b="1" dirty="0" smtClean="0"/>
              <a:t>";</a:t>
            </a:r>
          </a:p>
          <a:p>
            <a:pPr algn="l"/>
            <a:endParaRPr lang="en-US" altLang="zh-CN" b="1" dirty="0" smtClean="0"/>
          </a:p>
          <a:p>
            <a:pPr algn="l">
              <a:lnSpc>
                <a:spcPct val="130000"/>
              </a:lnSpc>
            </a:pPr>
            <a:r>
              <a:rPr lang="en-US" altLang="zh-CN" b="1" dirty="0" smtClean="0"/>
              <a:t>    </a:t>
            </a:r>
            <a:r>
              <a:rPr lang="en-US" altLang="zh-CN" b="1" dirty="0" smtClean="0">
                <a:solidFill>
                  <a:srgbClr val="0000FF"/>
                </a:solidFill>
              </a:rPr>
              <a:t>public</a:t>
            </a:r>
            <a:r>
              <a:rPr lang="en-US" altLang="zh-CN" b="1" dirty="0" smtClean="0"/>
              <a:t> </a:t>
            </a:r>
            <a:r>
              <a:rPr lang="en-US" altLang="zh-CN" b="1" dirty="0" smtClean="0">
                <a:solidFill>
                  <a:srgbClr val="0000FF"/>
                </a:solidFill>
              </a:rPr>
              <a:t>void</a:t>
            </a:r>
            <a:r>
              <a:rPr lang="en-US" altLang="zh-CN" b="1" dirty="0" smtClean="0"/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run() </a:t>
            </a:r>
            <a:r>
              <a:rPr lang="en-US" altLang="zh-CN" b="1" dirty="0" smtClean="0"/>
              <a:t>{</a:t>
            </a:r>
          </a:p>
          <a:p>
            <a:pPr algn="l">
              <a:lnSpc>
                <a:spcPct val="130000"/>
              </a:lnSpc>
            </a:pPr>
            <a:r>
              <a:rPr lang="en-US" altLang="zh-CN" b="1" dirty="0" smtClean="0"/>
              <a:t>          </a:t>
            </a:r>
            <a:r>
              <a:rPr lang="en-US" altLang="zh-CN" b="1" dirty="0" err="1" smtClean="0"/>
              <a:t>System.out.println</a:t>
            </a:r>
            <a:r>
              <a:rPr lang="en-US" altLang="zh-CN" b="1" dirty="0" smtClean="0"/>
              <a:t>(</a:t>
            </a:r>
            <a:r>
              <a:rPr lang="en-US" altLang="zh-CN" b="1" dirty="0" smtClean="0">
                <a:ea typeface="宋体" charset="-122"/>
              </a:rPr>
              <a:t>"</a:t>
            </a:r>
            <a:r>
              <a:rPr lang="zh-CN" altLang="en-US" b="1" dirty="0" smtClean="0"/>
              <a:t>正在以</a:t>
            </a:r>
            <a:r>
              <a:rPr lang="en-US" altLang="zh-CN" b="1" dirty="0" smtClean="0"/>
              <a:t>0.1</a:t>
            </a:r>
            <a:r>
              <a:rPr lang="zh-CN" altLang="en-US" b="1" dirty="0" smtClean="0"/>
              <a:t>米</a:t>
            </a:r>
            <a:r>
              <a:rPr lang="en-US" altLang="zh-CN" b="1" dirty="0" smtClean="0"/>
              <a:t>/</a:t>
            </a:r>
            <a:r>
              <a:rPr lang="zh-CN" altLang="en-US" b="1" dirty="0" smtClean="0"/>
              <a:t>秒的速度向前奔跑</a:t>
            </a:r>
            <a:r>
              <a:rPr lang="en-US" altLang="zh-CN" b="1" dirty="0" smtClean="0"/>
              <a:t>");</a:t>
            </a:r>
          </a:p>
          <a:p>
            <a:pPr algn="l"/>
            <a:r>
              <a:rPr lang="en-US" altLang="zh-CN" b="1" dirty="0" smtClean="0"/>
              <a:t>    }   </a:t>
            </a:r>
          </a:p>
          <a:p>
            <a:pPr algn="l"/>
            <a:endParaRPr lang="en-US" altLang="zh-CN" b="1" dirty="0" smtClean="0"/>
          </a:p>
          <a:p>
            <a:pPr algn="l">
              <a:lnSpc>
                <a:spcPct val="130000"/>
              </a:lnSpc>
            </a:pPr>
            <a:r>
              <a:rPr lang="en-US" altLang="zh-CN" b="1" dirty="0" smtClean="0"/>
              <a:t>    </a:t>
            </a:r>
            <a:r>
              <a:rPr lang="en-US" altLang="zh-CN" b="1" dirty="0" smtClean="0">
                <a:solidFill>
                  <a:srgbClr val="0000FF"/>
                </a:solidFill>
              </a:rPr>
              <a:t>public</a:t>
            </a:r>
            <a:r>
              <a:rPr lang="en-US" altLang="zh-CN" b="1" dirty="0" smtClean="0"/>
              <a:t> </a:t>
            </a:r>
            <a:r>
              <a:rPr lang="en-US" altLang="zh-CN" b="1" dirty="0" smtClean="0">
                <a:solidFill>
                  <a:srgbClr val="0000FF"/>
                </a:solidFill>
              </a:rPr>
              <a:t>String</a:t>
            </a:r>
            <a:r>
              <a:rPr lang="en-US" altLang="zh-CN" b="1" dirty="0" smtClean="0"/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bark() </a:t>
            </a:r>
            <a:r>
              <a:rPr lang="en-US" altLang="zh-CN" b="1" dirty="0" smtClean="0"/>
              <a:t>{</a:t>
            </a:r>
          </a:p>
          <a:p>
            <a:pPr algn="l">
              <a:lnSpc>
                <a:spcPct val="130000"/>
              </a:lnSpc>
            </a:pPr>
            <a:r>
              <a:rPr lang="en-US" altLang="zh-CN" b="1" dirty="0" smtClean="0"/>
              <a:t>          String sound = </a:t>
            </a:r>
            <a:r>
              <a:rPr lang="en-US" altLang="zh-CN" b="1" dirty="0" smtClean="0">
                <a:ea typeface="宋体" charset="-122"/>
              </a:rPr>
              <a:t>"</a:t>
            </a:r>
            <a:r>
              <a:rPr lang="zh-CN" altLang="en-US" b="1" dirty="0" smtClean="0"/>
              <a:t>大声吼叫</a:t>
            </a:r>
            <a:r>
              <a:rPr lang="en-US" altLang="zh-CN" b="1" dirty="0" smtClean="0"/>
              <a:t>" ;          </a:t>
            </a:r>
          </a:p>
          <a:p>
            <a:pPr algn="l">
              <a:lnSpc>
                <a:spcPct val="130000"/>
              </a:lnSpc>
            </a:pPr>
            <a:r>
              <a:rPr lang="en-US" altLang="zh-CN" b="1" dirty="0" smtClean="0"/>
              <a:t>          </a:t>
            </a:r>
            <a:r>
              <a:rPr lang="en-US" altLang="zh-CN" b="1" dirty="0" smtClean="0">
                <a:solidFill>
                  <a:srgbClr val="0000FF"/>
                </a:solidFill>
              </a:rPr>
              <a:t>return</a:t>
            </a:r>
            <a:r>
              <a:rPr lang="en-US" altLang="zh-CN" b="1" dirty="0" smtClean="0"/>
              <a:t> sound;</a:t>
            </a:r>
          </a:p>
          <a:p>
            <a:pPr algn="l"/>
            <a:r>
              <a:rPr lang="en-US" altLang="zh-CN" b="1" dirty="0" smtClean="0"/>
              <a:t>    } </a:t>
            </a:r>
          </a:p>
          <a:p>
            <a:pPr algn="l"/>
            <a:r>
              <a:rPr lang="en-US" altLang="zh-CN" b="1" dirty="0" smtClean="0"/>
              <a:t>}</a:t>
            </a:r>
            <a:endParaRPr lang="en-US" altLang="zh-CN" b="1" dirty="0"/>
          </a:p>
        </p:txBody>
      </p:sp>
      <p:sp>
        <p:nvSpPr>
          <p:cNvPr id="494598" name="AutoShape 6"/>
          <p:cNvSpPr>
            <a:spLocks noChangeArrowheads="1"/>
          </p:cNvSpPr>
          <p:nvPr/>
        </p:nvSpPr>
        <p:spPr bwMode="auto">
          <a:xfrm>
            <a:off x="6007103" y="4088725"/>
            <a:ext cx="916092" cy="408623"/>
          </a:xfrm>
          <a:prstGeom prst="wedgeRoundRectCallout">
            <a:avLst>
              <a:gd name="adj1" fmla="val -22671"/>
              <a:gd name="adj2" fmla="val -57305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方法体</a:t>
            </a:r>
          </a:p>
        </p:txBody>
      </p:sp>
      <p:sp>
        <p:nvSpPr>
          <p:cNvPr id="494599" name="AutoShape 7"/>
          <p:cNvSpPr>
            <a:spLocks noChangeArrowheads="1"/>
          </p:cNvSpPr>
          <p:nvPr/>
        </p:nvSpPr>
        <p:spPr bwMode="auto">
          <a:xfrm>
            <a:off x="3500429" y="2645691"/>
            <a:ext cx="1385920" cy="408623"/>
          </a:xfrm>
          <a:prstGeom prst="wedgeRoundRectCallout">
            <a:avLst>
              <a:gd name="adj1" fmla="val -23611"/>
              <a:gd name="adj2" fmla="val 49631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返回值类型</a:t>
            </a:r>
          </a:p>
        </p:txBody>
      </p:sp>
      <p:sp>
        <p:nvSpPr>
          <p:cNvPr id="494601" name="Rectangle 9"/>
          <p:cNvSpPr>
            <a:spLocks noChangeArrowheads="1"/>
          </p:cNvSpPr>
          <p:nvPr/>
        </p:nvSpPr>
        <p:spPr bwMode="auto">
          <a:xfrm>
            <a:off x="2138350" y="3002881"/>
            <a:ext cx="571504" cy="287338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494602" name="Rectangle 10"/>
          <p:cNvSpPr>
            <a:spLocks noChangeArrowheads="1"/>
          </p:cNvSpPr>
          <p:nvPr/>
        </p:nvSpPr>
        <p:spPr bwMode="auto">
          <a:xfrm>
            <a:off x="2158980" y="4288765"/>
            <a:ext cx="698507" cy="285752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494603" name="Rectangle 11"/>
          <p:cNvSpPr>
            <a:spLocks noChangeArrowheads="1"/>
          </p:cNvSpPr>
          <p:nvPr/>
        </p:nvSpPr>
        <p:spPr bwMode="auto">
          <a:xfrm>
            <a:off x="2714611" y="3002881"/>
            <a:ext cx="571504" cy="285752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494604" name="Rectangle 12"/>
          <p:cNvSpPr>
            <a:spLocks noChangeArrowheads="1"/>
          </p:cNvSpPr>
          <p:nvPr/>
        </p:nvSpPr>
        <p:spPr bwMode="auto">
          <a:xfrm>
            <a:off x="2867004" y="4288765"/>
            <a:ext cx="704863" cy="280994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494605" name="Rectangle 13"/>
          <p:cNvSpPr>
            <a:spLocks noChangeArrowheads="1"/>
          </p:cNvSpPr>
          <p:nvPr/>
        </p:nvSpPr>
        <p:spPr bwMode="auto">
          <a:xfrm>
            <a:off x="1758953" y="3358486"/>
            <a:ext cx="5976938" cy="358775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494606" name="Rectangle 14"/>
          <p:cNvSpPr>
            <a:spLocks noChangeArrowheads="1"/>
          </p:cNvSpPr>
          <p:nvPr/>
        </p:nvSpPr>
        <p:spPr bwMode="auto">
          <a:xfrm>
            <a:off x="1785917" y="4645955"/>
            <a:ext cx="3097212" cy="642942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494597" name="AutoShape 5"/>
          <p:cNvSpPr>
            <a:spLocks noChangeArrowheads="1"/>
          </p:cNvSpPr>
          <p:nvPr/>
        </p:nvSpPr>
        <p:spPr bwMode="auto">
          <a:xfrm>
            <a:off x="3487741" y="3808704"/>
            <a:ext cx="1146741" cy="408623"/>
          </a:xfrm>
          <a:prstGeom prst="wedgeRoundRectCallout">
            <a:avLst>
              <a:gd name="adj1" fmla="val -15957"/>
              <a:gd name="adj2" fmla="val 51436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方法名称</a:t>
            </a:r>
          </a:p>
        </p:txBody>
      </p:sp>
      <p:grpSp>
        <p:nvGrpSpPr>
          <p:cNvPr id="19" name="组合 70"/>
          <p:cNvGrpSpPr/>
          <p:nvPr/>
        </p:nvGrpSpPr>
        <p:grpSpPr>
          <a:xfrm>
            <a:off x="71406" y="857232"/>
            <a:ext cx="1000132" cy="414475"/>
            <a:chOff x="1000100" y="2528843"/>
            <a:chExt cx="1000132" cy="414475"/>
          </a:xfrm>
        </p:grpSpPr>
        <p:pic>
          <p:nvPicPr>
            <p:cNvPr id="20" name="Picture 8" descr="E:\设计支持\模板设计\sl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2528843"/>
              <a:ext cx="446984" cy="414475"/>
            </a:xfrm>
            <a:prstGeom prst="rect">
              <a:avLst/>
            </a:prstGeom>
            <a:noFill/>
          </p:spPr>
        </p:pic>
        <p:sp>
          <p:nvSpPr>
            <p:cNvPr id="21" name="TextBox 20"/>
            <p:cNvSpPr txBox="1"/>
            <p:nvPr/>
          </p:nvSpPr>
          <p:spPr>
            <a:xfrm>
              <a:off x="1299399" y="2536025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示例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cxnSp>
        <p:nvCxnSpPr>
          <p:cNvPr id="22" name="直接箭头连接符 21"/>
          <p:cNvCxnSpPr/>
          <p:nvPr/>
        </p:nvCxnSpPr>
        <p:spPr bwMode="auto">
          <a:xfrm flipV="1">
            <a:off x="2571735" y="2717129"/>
            <a:ext cx="1000132" cy="285753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 bwMode="auto">
          <a:xfrm flipV="1">
            <a:off x="3143239" y="4003013"/>
            <a:ext cx="421038" cy="285752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endCxn id="494598" idx="4"/>
          </p:cNvCxnSpPr>
          <p:nvPr/>
        </p:nvCxnSpPr>
        <p:spPr bwMode="auto">
          <a:xfrm>
            <a:off x="5572131" y="3788699"/>
            <a:ext cx="685331" cy="270176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灯片编号占位符 3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25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224068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9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9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9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9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9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9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595" grpId="0" animBg="1"/>
      <p:bldP spid="494599" grpId="0" animBg="1"/>
      <p:bldP spid="494601" grpId="0" animBg="1"/>
      <p:bldP spid="494602" grpId="0" animBg="1"/>
      <p:bldP spid="494603" grpId="0" animBg="1"/>
      <p:bldP spid="494604" grpId="0" animBg="1"/>
      <p:bldP spid="494605" grpId="0" animBg="1"/>
      <p:bldP spid="494606" grpId="0" animBg="1"/>
      <p:bldP spid="49459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171434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如何定义类的方法</a:t>
            </a:r>
          </a:p>
        </p:txBody>
      </p:sp>
      <p:sp>
        <p:nvSpPr>
          <p:cNvPr id="495619" name="Rectangle 3"/>
          <p:cNvSpPr>
            <a:spLocks noGrp="1" noChangeArrowheads="1"/>
          </p:cNvSpPr>
          <p:nvPr>
            <p:ph idx="1"/>
          </p:nvPr>
        </p:nvSpPr>
        <p:spPr>
          <a:xfrm>
            <a:off x="784254" y="1276351"/>
            <a:ext cx="7645398" cy="438137"/>
          </a:xfrm>
        </p:spPr>
        <p:txBody>
          <a:bodyPr/>
          <a:lstStyle/>
          <a:p>
            <a:pPr marL="533400" indent="-533400"/>
            <a:r>
              <a:rPr lang="zh-CN" altLang="en-US" dirty="0"/>
              <a:t>类的方法定义类的某种行为（或功能</a:t>
            </a:r>
            <a:r>
              <a:rPr lang="zh-CN" altLang="en-US" dirty="0" smtClean="0"/>
              <a:t>）</a:t>
            </a:r>
            <a:endParaRPr lang="zh-CN" altLang="en-US" dirty="0"/>
          </a:p>
          <a:p>
            <a:pPr marL="533400" indent="-533400"/>
            <a:endParaRPr lang="zh-CN" altLang="en-US" dirty="0"/>
          </a:p>
          <a:p>
            <a:pPr marL="533400" indent="-533400"/>
            <a:endParaRPr lang="zh-CN" altLang="en-US" dirty="0"/>
          </a:p>
          <a:p>
            <a:pPr marL="533400" indent="-533400"/>
            <a:endParaRPr lang="zh-CN" altLang="en-US" dirty="0"/>
          </a:p>
          <a:p>
            <a:pPr marL="533400" indent="-533400"/>
            <a:endParaRPr lang="zh-CN" altLang="en-US" dirty="0"/>
          </a:p>
        </p:txBody>
      </p:sp>
      <p:sp>
        <p:nvSpPr>
          <p:cNvPr id="495630" name="Text Box 14"/>
          <p:cNvSpPr txBox="1">
            <a:spLocks noChangeArrowheads="1"/>
          </p:cNvSpPr>
          <p:nvPr/>
        </p:nvSpPr>
        <p:spPr bwMode="auto">
          <a:xfrm>
            <a:off x="784254" y="3905912"/>
            <a:ext cx="3597277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33400" indent="-533400" algn="l">
              <a:spcBef>
                <a:spcPct val="20000"/>
              </a:spcBef>
              <a:buClr>
                <a:schemeClr val="tx2"/>
              </a:buClr>
              <a:buSzPct val="80000"/>
              <a:buBlip>
                <a:blip r:embed="rId2"/>
              </a:buBlip>
            </a:pPr>
            <a:r>
              <a:rPr lang="zh-CN" altLang="en-US" sz="2800" b="1" dirty="0">
                <a:latin typeface="+mn-lt"/>
                <a:ea typeface="+mn-ea"/>
              </a:rPr>
              <a:t>定义类的方法</a:t>
            </a:r>
          </a:p>
        </p:txBody>
      </p:sp>
      <p:sp>
        <p:nvSpPr>
          <p:cNvPr id="495631" name="AutoShape 15"/>
          <p:cNvSpPr>
            <a:spLocks noChangeArrowheads="1"/>
          </p:cNvSpPr>
          <p:nvPr/>
        </p:nvSpPr>
        <p:spPr bwMode="auto">
          <a:xfrm>
            <a:off x="1116013" y="4643446"/>
            <a:ext cx="7099325" cy="1172629"/>
          </a:xfrm>
          <a:prstGeom prst="roundRect">
            <a:avLst>
              <a:gd name="adj" fmla="val 1349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rgbClr val="0000FF"/>
                </a:solidFill>
              </a:rPr>
              <a:t>public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返回值类型  方法名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()  {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          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//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这里编写方法的主体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}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495632" name="AutoShape 16"/>
          <p:cNvSpPr>
            <a:spLocks noChangeArrowheads="1"/>
          </p:cNvSpPr>
          <p:nvPr/>
        </p:nvSpPr>
        <p:spPr bwMode="auto">
          <a:xfrm>
            <a:off x="4357686" y="4254828"/>
            <a:ext cx="3941385" cy="408623"/>
          </a:xfrm>
          <a:prstGeom prst="wedgeRoundRectCallout">
            <a:avLst>
              <a:gd name="adj1" fmla="val -27740"/>
              <a:gd name="adj2" fmla="val 46615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步骤一：定义方法名以及返回值类型</a:t>
            </a:r>
          </a:p>
        </p:txBody>
      </p:sp>
      <p:sp>
        <p:nvSpPr>
          <p:cNvPr id="495633" name="AutoShape 17"/>
          <p:cNvSpPr>
            <a:spLocks noChangeArrowheads="1"/>
          </p:cNvSpPr>
          <p:nvPr/>
        </p:nvSpPr>
        <p:spPr bwMode="auto">
          <a:xfrm>
            <a:off x="4429124" y="5449269"/>
            <a:ext cx="2298603" cy="408623"/>
          </a:xfrm>
          <a:prstGeom prst="wedgeRoundRectCallout">
            <a:avLst>
              <a:gd name="adj1" fmla="val -30081"/>
              <a:gd name="adj2" fmla="val -52766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步骤二：编写方法体</a:t>
            </a:r>
          </a:p>
        </p:txBody>
      </p:sp>
      <p:grpSp>
        <p:nvGrpSpPr>
          <p:cNvPr id="18" name="组合 71"/>
          <p:cNvGrpSpPr/>
          <p:nvPr/>
        </p:nvGrpSpPr>
        <p:grpSpPr>
          <a:xfrm>
            <a:off x="71406" y="3520443"/>
            <a:ext cx="1000132" cy="400110"/>
            <a:chOff x="1000100" y="1801286"/>
            <a:chExt cx="1000132" cy="400110"/>
          </a:xfrm>
        </p:grpSpPr>
        <p:pic>
          <p:nvPicPr>
            <p:cNvPr id="19" name="Picture 3" descr="E:\设计支持\模板设计\YF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1806293"/>
              <a:ext cx="422603" cy="390096"/>
            </a:xfrm>
            <a:prstGeom prst="rect">
              <a:avLst/>
            </a:prstGeom>
            <a:noFill/>
          </p:spPr>
        </p:pic>
        <p:sp>
          <p:nvSpPr>
            <p:cNvPr id="20" name="TextBox 19"/>
            <p:cNvSpPr txBox="1"/>
            <p:nvPr/>
          </p:nvSpPr>
          <p:spPr>
            <a:xfrm>
              <a:off x="1299399" y="1801286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语法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357290" y="1782753"/>
            <a:ext cx="6651661" cy="1789123"/>
            <a:chOff x="1357290" y="1782753"/>
            <a:chExt cx="6651661" cy="1789123"/>
          </a:xfrm>
        </p:grpSpPr>
        <p:grpSp>
          <p:nvGrpSpPr>
            <p:cNvPr id="2" name="Group 7"/>
            <p:cNvGrpSpPr>
              <a:grpSpLocks/>
            </p:cNvGrpSpPr>
            <p:nvPr/>
          </p:nvGrpSpPr>
          <p:grpSpPr bwMode="auto">
            <a:xfrm>
              <a:off x="4341042" y="2684467"/>
              <a:ext cx="1516842" cy="887409"/>
              <a:chOff x="3863" y="2659"/>
              <a:chExt cx="1240" cy="333"/>
            </a:xfrm>
          </p:grpSpPr>
          <p:sp>
            <p:nvSpPr>
              <p:cNvPr id="495624" name="AutoShape 8"/>
              <p:cNvSpPr>
                <a:spLocks noChangeArrowheads="1"/>
              </p:cNvSpPr>
              <p:nvPr/>
            </p:nvSpPr>
            <p:spPr bwMode="gray">
              <a:xfrm>
                <a:off x="3923" y="2659"/>
                <a:ext cx="1180" cy="308"/>
              </a:xfrm>
              <a:prstGeom prst="roundRect">
                <a:avLst>
                  <a:gd name="adj" fmla="val 16667"/>
                </a:avLst>
              </a:prstGeom>
              <a:solidFill>
                <a:srgbClr val="E4FCE4"/>
              </a:solidFill>
              <a:ln w="19050" algn="ctr">
                <a:solidFill>
                  <a:srgbClr val="00B0F0"/>
                </a:solidFill>
                <a:round/>
                <a:headEnd/>
                <a:tailEnd/>
              </a:ln>
              <a:effectLst>
                <a:outerShdw blurRad="50800" dist="127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anchor="ctr" anchorCtr="1">
                <a:spAutoFit/>
              </a:bodyPr>
              <a:lstStyle/>
              <a:p>
                <a:pPr algn="l">
                  <a:defRPr/>
                </a:pPr>
                <a:endParaRPr lang="zh-CN" altLang="en-US" sz="1600" b="1"/>
              </a:p>
            </p:txBody>
          </p:sp>
          <p:sp>
            <p:nvSpPr>
              <p:cNvPr id="495625" name="AutoShape 9"/>
              <p:cNvSpPr>
                <a:spLocks noChangeArrowheads="1"/>
              </p:cNvSpPr>
              <p:nvPr/>
            </p:nvSpPr>
            <p:spPr bwMode="gray">
              <a:xfrm>
                <a:off x="3863" y="2684"/>
                <a:ext cx="1226" cy="308"/>
              </a:xfrm>
              <a:prstGeom prst="roundRect">
                <a:avLst>
                  <a:gd name="adj" fmla="val 16667"/>
                </a:avLst>
              </a:prstGeom>
              <a:noFill/>
              <a:ln w="19050" algn="ctr">
                <a:noFill/>
                <a:round/>
                <a:headEnd/>
                <a:tailEnd/>
              </a:ln>
              <a:effectLst>
                <a:outerShdw blurRad="50800" dist="127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anchor="ctr" anchorCtr="1">
                <a:spAutoFit/>
              </a:bodyPr>
              <a:lstStyle/>
              <a:p>
                <a:pPr algn="l" eaLnBrk="0" hangingPunct="0">
                  <a:defRPr/>
                </a:pPr>
                <a:r>
                  <a:rPr lang="zh-CN" altLang="en-US" sz="1600" b="1" dirty="0" smtClean="0"/>
                  <a:t>方法</a:t>
                </a:r>
                <a:r>
                  <a:rPr lang="zh-CN" altLang="en-US" sz="1600" b="1" dirty="0"/>
                  <a:t>的定义                                         </a:t>
                </a:r>
              </a:p>
            </p:txBody>
          </p:sp>
        </p:grpSp>
        <p:sp>
          <p:nvSpPr>
            <p:cNvPr id="495626" name="AutoShape 10"/>
            <p:cNvSpPr>
              <a:spLocks noChangeArrowheads="1"/>
            </p:cNvSpPr>
            <p:nvPr/>
          </p:nvSpPr>
          <p:spPr bwMode="auto">
            <a:xfrm>
              <a:off x="4256097" y="1782753"/>
              <a:ext cx="1601787" cy="374571"/>
            </a:xfrm>
            <a:prstGeom prst="roundRect">
              <a:avLst>
                <a:gd name="adj" fmla="val 16667"/>
              </a:avLst>
            </a:prstGeom>
            <a:solidFill>
              <a:srgbClr val="E4FCE4"/>
            </a:solidFill>
            <a:ln w="19050" algn="ctr">
              <a:solidFill>
                <a:srgbClr val="00B0F0"/>
              </a:solidFill>
              <a:round/>
              <a:headEnd/>
              <a:tailEnd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 anchorCtr="1">
              <a:spAutoFit/>
            </a:bodyPr>
            <a:lstStyle/>
            <a:p>
              <a:pPr algn="l">
                <a:defRPr/>
              </a:pPr>
              <a:r>
                <a:rPr lang="zh-CN" altLang="en-US" sz="1600" b="1" dirty="0" smtClean="0"/>
                <a:t>方法</a:t>
              </a:r>
              <a:r>
                <a:rPr lang="zh-CN" altLang="en-US" sz="1600" b="1" dirty="0"/>
                <a:t>的名称                               </a:t>
              </a:r>
            </a:p>
          </p:txBody>
        </p:sp>
        <p:sp>
          <p:nvSpPr>
            <p:cNvPr id="495627" name="AutoShape 11"/>
            <p:cNvSpPr>
              <a:spLocks noChangeArrowheads="1"/>
            </p:cNvSpPr>
            <p:nvPr/>
          </p:nvSpPr>
          <p:spPr bwMode="auto">
            <a:xfrm>
              <a:off x="6500826" y="2928934"/>
              <a:ext cx="1508125" cy="374571"/>
            </a:xfrm>
            <a:prstGeom prst="roundRect">
              <a:avLst>
                <a:gd name="adj" fmla="val 16667"/>
              </a:avLst>
            </a:prstGeom>
            <a:solidFill>
              <a:srgbClr val="E4FCE4"/>
            </a:solidFill>
            <a:ln w="19050" algn="ctr">
              <a:solidFill>
                <a:srgbClr val="00B0F0"/>
              </a:solidFill>
              <a:round/>
              <a:headEnd/>
              <a:tailEnd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 anchorCtr="1">
              <a:spAutoFit/>
            </a:bodyPr>
            <a:lstStyle/>
            <a:p>
              <a:pPr algn="l">
                <a:defRPr/>
              </a:pPr>
              <a:r>
                <a:rPr lang="zh-CN" altLang="en-US" sz="1600" b="1" dirty="0" smtClean="0"/>
                <a:t>方法</a:t>
              </a:r>
              <a:r>
                <a:rPr lang="zh-CN" altLang="en-US" sz="1600" b="1" dirty="0"/>
                <a:t>的主体                           </a:t>
              </a:r>
            </a:p>
          </p:txBody>
        </p:sp>
        <p:sp>
          <p:nvSpPr>
            <p:cNvPr id="495628" name="AutoShape 12"/>
            <p:cNvSpPr>
              <a:spLocks noChangeArrowheads="1"/>
            </p:cNvSpPr>
            <p:nvPr/>
          </p:nvSpPr>
          <p:spPr bwMode="auto">
            <a:xfrm>
              <a:off x="1357290" y="2928934"/>
              <a:ext cx="2451100" cy="374571"/>
            </a:xfrm>
            <a:prstGeom prst="roundRect">
              <a:avLst>
                <a:gd name="adj" fmla="val 16667"/>
              </a:avLst>
            </a:prstGeom>
            <a:solidFill>
              <a:srgbClr val="E4FCE4"/>
            </a:solidFill>
            <a:ln w="19050" algn="ctr">
              <a:solidFill>
                <a:srgbClr val="00B0F0"/>
              </a:solidFill>
              <a:round/>
              <a:headEnd/>
              <a:tailEnd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 anchorCtr="1">
              <a:spAutoFit/>
            </a:bodyPr>
            <a:lstStyle/>
            <a:p>
              <a:pPr algn="l">
                <a:defRPr/>
              </a:pPr>
              <a:r>
                <a:rPr lang="zh-CN" altLang="en-US" sz="1600" b="1" dirty="0" smtClean="0"/>
                <a:t>方法返回值的</a:t>
              </a:r>
              <a:r>
                <a:rPr lang="zh-CN" altLang="en-US" sz="1600" b="1" dirty="0"/>
                <a:t>数据类型                                         </a:t>
              </a:r>
            </a:p>
          </p:txBody>
        </p:sp>
        <p:cxnSp>
          <p:nvCxnSpPr>
            <p:cNvPr id="22" name="直接箭头连接符 21"/>
            <p:cNvCxnSpPr/>
            <p:nvPr/>
          </p:nvCxnSpPr>
          <p:spPr>
            <a:xfrm rot="5400000" flipH="1" flipV="1">
              <a:off x="4822827" y="2392355"/>
              <a:ext cx="500066" cy="1588"/>
            </a:xfrm>
            <a:prstGeom prst="straightConnector1">
              <a:avLst/>
            </a:prstGeom>
            <a:ln w="88900" cmpd="sng">
              <a:solidFill>
                <a:schemeClr val="accent5">
                  <a:lumMod val="50000"/>
                </a:schemeClr>
              </a:solidFill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>
              <a:off x="5929322" y="3141660"/>
              <a:ext cx="563577" cy="1588"/>
            </a:xfrm>
            <a:prstGeom prst="straightConnector1">
              <a:avLst/>
            </a:prstGeom>
            <a:ln w="88900" cmpd="sng">
              <a:solidFill>
                <a:schemeClr val="accent5">
                  <a:lumMod val="50000"/>
                </a:schemeClr>
              </a:solidFill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rot="10800000">
              <a:off x="3857620" y="3143248"/>
              <a:ext cx="500066" cy="1588"/>
            </a:xfrm>
            <a:prstGeom prst="straightConnector1">
              <a:avLst/>
            </a:prstGeom>
            <a:ln w="88900" cmpd="sng">
              <a:solidFill>
                <a:schemeClr val="accent5">
                  <a:lumMod val="50000"/>
                </a:schemeClr>
              </a:solidFill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直接箭头连接符 31"/>
          <p:cNvCxnSpPr/>
          <p:nvPr/>
        </p:nvCxnSpPr>
        <p:spPr bwMode="auto">
          <a:xfrm flipV="1">
            <a:off x="3929058" y="4520575"/>
            <a:ext cx="428628" cy="214314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 bwMode="auto">
          <a:xfrm>
            <a:off x="4071934" y="5377831"/>
            <a:ext cx="357190" cy="142876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灯片编号占位符 2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26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501093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5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5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9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5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30" grpId="0"/>
      <p:bldP spid="495631" grpId="0" animBg="1"/>
      <p:bldP spid="495632" grpId="0" animBg="1"/>
      <p:bldP spid="4956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171434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方法的返回值</a:t>
            </a:r>
          </a:p>
        </p:txBody>
      </p:sp>
      <p:sp>
        <p:nvSpPr>
          <p:cNvPr id="4976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两种情况</a:t>
            </a:r>
          </a:p>
          <a:p>
            <a:pPr lvl="1"/>
            <a:r>
              <a:rPr lang="zh-CN" altLang="en-US" dirty="0"/>
              <a:t>如果方法具有返回值，方法中必须使用关键字</a:t>
            </a:r>
            <a:r>
              <a:rPr lang="en-US" altLang="zh-CN" dirty="0">
                <a:solidFill>
                  <a:srgbClr val="0000FF"/>
                </a:solidFill>
              </a:rPr>
              <a:t>return</a:t>
            </a:r>
            <a:r>
              <a:rPr lang="zh-CN" altLang="en-US" dirty="0"/>
              <a:t>返回该值，</a:t>
            </a:r>
            <a:r>
              <a:rPr lang="zh-CN" altLang="en-US" dirty="0" smtClean="0"/>
              <a:t>返回值类型</a:t>
            </a:r>
            <a:r>
              <a:rPr lang="zh-CN" altLang="en-US" dirty="0"/>
              <a:t>为该返回值的类型</a:t>
            </a:r>
          </a:p>
          <a:p>
            <a:pPr>
              <a:lnSpc>
                <a:spcPct val="90000"/>
              </a:lnSpc>
            </a:pPr>
            <a:endParaRPr lang="zh-CN" altLang="en-US" sz="24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lvl="1"/>
            <a:r>
              <a:rPr lang="zh-CN" altLang="en-US" dirty="0"/>
              <a:t>如果方法没有返回值，</a:t>
            </a:r>
            <a:r>
              <a:rPr lang="zh-CN" altLang="en-US" dirty="0" smtClean="0"/>
              <a:t>返回值类型</a:t>
            </a:r>
            <a:r>
              <a:rPr lang="zh-CN" altLang="en-US" dirty="0"/>
              <a:t>为</a:t>
            </a:r>
            <a:r>
              <a:rPr lang="en-US" altLang="zh-CN" dirty="0">
                <a:solidFill>
                  <a:srgbClr val="0000FF"/>
                </a:solidFill>
              </a:rPr>
              <a:t>void</a:t>
            </a:r>
            <a:endParaRPr lang="en-US" altLang="zh-CN" dirty="0"/>
          </a:p>
          <a:p>
            <a:pPr>
              <a:lnSpc>
                <a:spcPct val="90000"/>
              </a:lnSpc>
            </a:pPr>
            <a:endParaRPr lang="en-US" altLang="zh-CN" sz="24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zh-CN" altLang="en-US" sz="2400" dirty="0"/>
          </a:p>
        </p:txBody>
      </p:sp>
      <p:sp>
        <p:nvSpPr>
          <p:cNvPr id="497668" name="AutoShape 4"/>
          <p:cNvSpPr>
            <a:spLocks noChangeArrowheads="1"/>
          </p:cNvSpPr>
          <p:nvPr/>
        </p:nvSpPr>
        <p:spPr bwMode="auto">
          <a:xfrm>
            <a:off x="1260475" y="3959249"/>
            <a:ext cx="6240483" cy="2613023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public class Student{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String name = 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张三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";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public 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String  </a:t>
            </a:r>
            <a:r>
              <a:rPr lang="en-US" altLang="zh-CN" b="1" dirty="0" err="1" smtClean="0">
                <a:solidFill>
                  <a:schemeClr val="accent5">
                    <a:lumMod val="10000"/>
                  </a:schemeClr>
                </a:solidFill>
              </a:rPr>
              <a:t>getName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(){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            </a:t>
            </a:r>
            <a:r>
              <a:rPr lang="en-US" altLang="zh-CN" b="1" dirty="0">
                <a:solidFill>
                  <a:srgbClr val="0000FF"/>
                </a:solidFill>
              </a:rPr>
              <a:t>return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name;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   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}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//……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}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497670" name="Rectangle 6"/>
          <p:cNvSpPr>
            <a:spLocks noChangeArrowheads="1"/>
          </p:cNvSpPr>
          <p:nvPr/>
        </p:nvSpPr>
        <p:spPr bwMode="auto">
          <a:xfrm>
            <a:off x="2285984" y="4786321"/>
            <a:ext cx="785817" cy="285753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497671" name="Rectangle 7"/>
          <p:cNvSpPr>
            <a:spLocks noChangeArrowheads="1"/>
          </p:cNvSpPr>
          <p:nvPr/>
        </p:nvSpPr>
        <p:spPr bwMode="auto">
          <a:xfrm>
            <a:off x="2000232" y="5111774"/>
            <a:ext cx="1571636" cy="358775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497672" name="AutoShape 8"/>
          <p:cNvSpPr>
            <a:spLocks noChangeArrowheads="1"/>
          </p:cNvSpPr>
          <p:nvPr/>
        </p:nvSpPr>
        <p:spPr bwMode="auto">
          <a:xfrm>
            <a:off x="1260475" y="2714123"/>
            <a:ext cx="1882765" cy="452432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return 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表达式；</a:t>
            </a:r>
          </a:p>
        </p:txBody>
      </p:sp>
      <p:sp>
        <p:nvSpPr>
          <p:cNvPr id="497676" name="AutoShape 12"/>
          <p:cNvSpPr>
            <a:spLocks noChangeArrowheads="1"/>
          </p:cNvSpPr>
          <p:nvPr/>
        </p:nvSpPr>
        <p:spPr bwMode="gray">
          <a:xfrm>
            <a:off x="4000496" y="2643182"/>
            <a:ext cx="3286148" cy="571504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0"/>
          <a:lstStyle/>
          <a:p>
            <a:pPr algn="l" eaLnBrk="0" hangingPunct="0">
              <a:defRPr/>
            </a:pPr>
            <a:r>
              <a:rPr lang="zh-CN" altLang="en-US" b="1" dirty="0"/>
              <a:t>作用： </a:t>
            </a:r>
            <a:r>
              <a:rPr lang="zh-CN" altLang="en-US" b="1" dirty="0" smtClean="0"/>
              <a:t>跳出方法、返回结果</a:t>
            </a:r>
            <a:endParaRPr lang="zh-CN" altLang="en-US" b="1" dirty="0"/>
          </a:p>
        </p:txBody>
      </p:sp>
      <p:grpSp>
        <p:nvGrpSpPr>
          <p:cNvPr id="12" name="组合 71"/>
          <p:cNvGrpSpPr/>
          <p:nvPr/>
        </p:nvGrpSpPr>
        <p:grpSpPr>
          <a:xfrm>
            <a:off x="71406" y="2743138"/>
            <a:ext cx="1000132" cy="400110"/>
            <a:chOff x="1000100" y="1801286"/>
            <a:chExt cx="1000132" cy="400110"/>
          </a:xfrm>
        </p:grpSpPr>
        <p:pic>
          <p:nvPicPr>
            <p:cNvPr id="13" name="Picture 3" descr="E:\设计支持\模板设计\YF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1806293"/>
              <a:ext cx="422603" cy="390096"/>
            </a:xfrm>
            <a:prstGeom prst="rect">
              <a:avLst/>
            </a:prstGeom>
            <a:noFill/>
          </p:spPr>
        </p:pic>
        <p:sp>
          <p:nvSpPr>
            <p:cNvPr id="14" name="TextBox 13"/>
            <p:cNvSpPr txBox="1"/>
            <p:nvPr/>
          </p:nvSpPr>
          <p:spPr>
            <a:xfrm>
              <a:off x="1299399" y="1801286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语法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8" name="灯片编号占位符 1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27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  <p:sp>
        <p:nvSpPr>
          <p:cNvPr id="15" name="AutoShape 4"/>
          <p:cNvSpPr>
            <a:spLocks noChangeArrowheads="1"/>
          </p:cNvSpPr>
          <p:nvPr/>
        </p:nvSpPr>
        <p:spPr bwMode="auto">
          <a:xfrm>
            <a:off x="1260475" y="3959249"/>
            <a:ext cx="6240483" cy="2613023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public class Student{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String name = 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张三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";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public </a:t>
            </a:r>
            <a:r>
              <a:rPr lang="en-US" altLang="zh-CN" b="1" dirty="0">
                <a:solidFill>
                  <a:srgbClr val="0000FF"/>
                </a:solidFill>
              </a:rPr>
              <a:t>void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getName(){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            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   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}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//……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}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666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9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9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9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68" grpId="0" animBg="1"/>
      <p:bldP spid="497668" grpId="1" animBg="1"/>
      <p:bldP spid="497670" grpId="0" animBg="1"/>
      <p:bldP spid="497670" grpId="1" animBg="1"/>
      <p:bldP spid="497671" grpId="0" animBg="1"/>
      <p:bldP spid="497671" grpId="1" animBg="1"/>
      <p:bldP spid="497672" grpId="0" animBg="1"/>
      <p:bldP spid="497676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171434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方法调用</a:t>
            </a:r>
            <a:endParaRPr lang="en-US" altLang="zh-CN" b="1" dirty="0"/>
          </a:p>
        </p:txBody>
      </p:sp>
      <p:sp>
        <p:nvSpPr>
          <p:cNvPr id="498691" name="Rectangle 3"/>
          <p:cNvSpPr>
            <a:spLocks noGrp="1" noChangeArrowheads="1"/>
          </p:cNvSpPr>
          <p:nvPr>
            <p:ph idx="1"/>
          </p:nvPr>
        </p:nvSpPr>
        <p:spPr>
          <a:xfrm>
            <a:off x="784254" y="1276351"/>
            <a:ext cx="7645398" cy="5010170"/>
          </a:xfrm>
        </p:spPr>
        <p:txBody>
          <a:bodyPr/>
          <a:lstStyle/>
          <a:p>
            <a:r>
              <a:rPr lang="zh-CN" altLang="en-US" dirty="0"/>
              <a:t>方法是个“黑匣子”，完成某个特定的应用程序功能，并返回结果</a:t>
            </a:r>
          </a:p>
          <a:p>
            <a:r>
              <a:rPr lang="zh-CN" altLang="en-US" dirty="0"/>
              <a:t>方法调用：执行方法中包含的语句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                </a:t>
            </a:r>
          </a:p>
          <a:p>
            <a:pPr>
              <a:buFont typeface="Wingdings" pitchFamily="2" charset="2"/>
              <a:buNone/>
            </a:pPr>
            <a:endParaRPr lang="zh-CN" altLang="en-US" dirty="0"/>
          </a:p>
        </p:txBody>
      </p:sp>
      <p:sp>
        <p:nvSpPr>
          <p:cNvPr id="498692" name="AutoShape 4"/>
          <p:cNvSpPr>
            <a:spLocks noChangeArrowheads="1"/>
          </p:cNvSpPr>
          <p:nvPr/>
        </p:nvSpPr>
        <p:spPr bwMode="auto">
          <a:xfrm>
            <a:off x="1857356" y="2900755"/>
            <a:ext cx="2000264" cy="456807"/>
          </a:xfrm>
          <a:prstGeom prst="roundRect">
            <a:avLst>
              <a:gd name="adj" fmla="val 2966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对象名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.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方法名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();</a:t>
            </a:r>
          </a:p>
        </p:txBody>
      </p:sp>
      <p:sp>
        <p:nvSpPr>
          <p:cNvPr id="498699" name="Rectangle 11"/>
          <p:cNvSpPr>
            <a:spLocks noChangeArrowheads="1"/>
          </p:cNvSpPr>
          <p:nvPr/>
        </p:nvSpPr>
        <p:spPr bwMode="auto">
          <a:xfrm>
            <a:off x="784254" y="4389455"/>
            <a:ext cx="7667625" cy="153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80000"/>
              <a:buBlip>
                <a:blip r:embed="rId3"/>
              </a:buBlip>
            </a:pPr>
            <a:r>
              <a:rPr lang="zh-CN" altLang="en-US" sz="2800" b="1" dirty="0" smtClean="0">
                <a:latin typeface="+mn-lt"/>
                <a:ea typeface="+mn-ea"/>
              </a:rPr>
              <a:t>小</a:t>
            </a:r>
            <a:r>
              <a:rPr lang="zh-CN" altLang="en-US" sz="2800" b="1" dirty="0">
                <a:latin typeface="+mn-lt"/>
                <a:ea typeface="+mn-ea"/>
              </a:rPr>
              <a:t>明过生日，爸爸送他一个电动狮子玩具，编程测试这个狮子能否正常工作            </a:t>
            </a: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endParaRPr lang="zh-CN" altLang="en-US" sz="2800" b="1" dirty="0">
              <a:ea typeface="黑体" pitchFamily="2" charset="-122"/>
            </a:endParaRPr>
          </a:p>
        </p:txBody>
      </p:sp>
      <p:grpSp>
        <p:nvGrpSpPr>
          <p:cNvPr id="8" name="组合 71"/>
          <p:cNvGrpSpPr/>
          <p:nvPr/>
        </p:nvGrpSpPr>
        <p:grpSpPr>
          <a:xfrm>
            <a:off x="71406" y="2900755"/>
            <a:ext cx="1000132" cy="400110"/>
            <a:chOff x="1000100" y="1801286"/>
            <a:chExt cx="1000132" cy="400110"/>
          </a:xfrm>
        </p:grpSpPr>
        <p:pic>
          <p:nvPicPr>
            <p:cNvPr id="9" name="Picture 3" descr="E:\设计支持\模板设计\YF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00100" y="1806293"/>
              <a:ext cx="422603" cy="390096"/>
            </a:xfrm>
            <a:prstGeom prst="rect">
              <a:avLst/>
            </a:prstGeom>
            <a:noFill/>
          </p:spPr>
        </p:pic>
        <p:sp>
          <p:nvSpPr>
            <p:cNvPr id="10" name="TextBox 9"/>
            <p:cNvSpPr txBox="1"/>
            <p:nvPr/>
          </p:nvSpPr>
          <p:spPr>
            <a:xfrm>
              <a:off x="1299399" y="1801286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语法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grpSp>
        <p:nvGrpSpPr>
          <p:cNvPr id="11" name="组合 72"/>
          <p:cNvGrpSpPr/>
          <p:nvPr/>
        </p:nvGrpSpPr>
        <p:grpSpPr>
          <a:xfrm>
            <a:off x="84952" y="3823976"/>
            <a:ext cx="986586" cy="422603"/>
            <a:chOff x="1000100" y="1173499"/>
            <a:chExt cx="986586" cy="422603"/>
          </a:xfrm>
        </p:grpSpPr>
        <p:pic>
          <p:nvPicPr>
            <p:cNvPr id="12" name="Picture 5" descr="E:\设计支持\模板设计\WT.pn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000100" y="1173499"/>
              <a:ext cx="414476" cy="422603"/>
            </a:xfrm>
            <a:prstGeom prst="rect">
              <a:avLst/>
            </a:prstGeom>
            <a:noFill/>
          </p:spPr>
        </p:pic>
        <p:sp>
          <p:nvSpPr>
            <p:cNvPr id="13" name="TextBox 12"/>
            <p:cNvSpPr txBox="1"/>
            <p:nvPr/>
          </p:nvSpPr>
          <p:spPr>
            <a:xfrm>
              <a:off x="1285852" y="1184745"/>
              <a:ext cx="700834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问题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28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94224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8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171434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方法调用</a:t>
            </a:r>
            <a:endParaRPr lang="en-US" altLang="zh-CN" b="1" dirty="0"/>
          </a:p>
        </p:txBody>
      </p:sp>
      <p:sp>
        <p:nvSpPr>
          <p:cNvPr id="16" name="内容占位符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00739" name="AutoShape 3"/>
          <p:cNvSpPr>
            <a:spLocks noChangeArrowheads="1"/>
          </p:cNvSpPr>
          <p:nvPr/>
        </p:nvSpPr>
        <p:spPr bwMode="auto">
          <a:xfrm>
            <a:off x="247650" y="858838"/>
            <a:ext cx="8861425" cy="5687711"/>
          </a:xfrm>
          <a:prstGeom prst="roundRect">
            <a:avLst>
              <a:gd name="adj" fmla="val 162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1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public class AutoLion {  </a:t>
            </a:r>
          </a:p>
          <a:p>
            <a:pPr algn="l" defTabSz="723900">
              <a:lnSpc>
                <a:spcPct val="11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String color = 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黄色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";  //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颜色</a:t>
            </a:r>
          </a:p>
          <a:p>
            <a:pPr algn="l" defTabSz="723900">
              <a:lnSpc>
                <a:spcPct val="9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   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/*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跑*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/</a:t>
            </a:r>
          </a:p>
          <a:p>
            <a:pPr algn="l" defTabSz="723900">
              <a:lnSpc>
                <a:spcPct val="11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public void run(){</a:t>
            </a:r>
          </a:p>
          <a:p>
            <a:pPr algn="l" defTabSz="723900">
              <a:lnSpc>
                <a:spcPct val="11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System.out.println("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正在以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0.1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米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秒的速度向前奔跑。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");</a:t>
            </a:r>
          </a:p>
          <a:p>
            <a:pPr algn="l" defTabSz="723900">
              <a:lnSpc>
                <a:spcPct val="9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}</a:t>
            </a:r>
          </a:p>
          <a:p>
            <a:pPr algn="l" defTabSz="723900">
              <a:lnSpc>
                <a:spcPct val="9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/*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叫*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/</a:t>
            </a:r>
          </a:p>
          <a:p>
            <a:pPr algn="l" defTabSz="723900">
              <a:lnSpc>
                <a:spcPct val="11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public String bark(){</a:t>
            </a:r>
          </a:p>
          <a:p>
            <a:pPr algn="l" defTabSz="723900">
              <a:lnSpc>
                <a:spcPct val="11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 String sound = 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大声吼叫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" ; </a:t>
            </a:r>
          </a:p>
          <a:p>
            <a:pPr algn="l" defTabSz="723900">
              <a:lnSpc>
                <a:spcPct val="11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 return sound;</a:t>
            </a:r>
          </a:p>
          <a:p>
            <a:pPr algn="l" defTabSz="723900">
              <a:lnSpc>
                <a:spcPct val="9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} </a:t>
            </a:r>
          </a:p>
          <a:p>
            <a:pPr algn="l" defTabSz="723900">
              <a:lnSpc>
                <a:spcPct val="9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/*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获得颜色*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/</a:t>
            </a:r>
          </a:p>
          <a:p>
            <a:pPr algn="l" defTabSz="723900">
              <a:lnSpc>
                <a:spcPct val="11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public String getColor(){</a:t>
            </a:r>
          </a:p>
          <a:p>
            <a:pPr algn="l" defTabSz="723900">
              <a:lnSpc>
                <a:spcPct val="11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 return color;</a:t>
            </a:r>
          </a:p>
          <a:p>
            <a:pPr algn="l" defTabSz="723900">
              <a:lnSpc>
                <a:spcPct val="9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}</a:t>
            </a:r>
          </a:p>
          <a:p>
            <a:pPr algn="l" defTabSz="723900">
              <a:lnSpc>
                <a:spcPct val="9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/*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显示狮子特性*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/</a:t>
            </a:r>
          </a:p>
          <a:p>
            <a:pPr algn="l" defTabSz="723900">
              <a:lnSpc>
                <a:spcPct val="11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public String showLion(){</a:t>
            </a:r>
          </a:p>
          <a:p>
            <a:pPr algn="l" defTabSz="723900">
              <a:lnSpc>
                <a:spcPct val="11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return 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这是一个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" + getColor() + 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的玩具狮子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!";</a:t>
            </a:r>
          </a:p>
          <a:p>
            <a:pPr algn="l" defTabSz="723900">
              <a:lnSpc>
                <a:spcPct val="9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}</a:t>
            </a:r>
          </a:p>
          <a:p>
            <a:pPr algn="l" defTabSz="723900">
              <a:lnSpc>
                <a:spcPct val="9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}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500740" name="AutoShape 4"/>
          <p:cNvSpPr>
            <a:spLocks noChangeArrowheads="1"/>
          </p:cNvSpPr>
          <p:nvPr/>
        </p:nvSpPr>
        <p:spPr bwMode="auto">
          <a:xfrm>
            <a:off x="3744944" y="1525588"/>
            <a:ext cx="5327650" cy="2935675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b="1" dirty="0" smtClean="0">
                <a:solidFill>
                  <a:srgbClr val="0000FF"/>
                </a:solidFill>
              </a:rPr>
              <a:t>public class</a:t>
            </a:r>
            <a:r>
              <a:rPr lang="en-US" altLang="zh-CN" b="1" dirty="0" smtClean="0"/>
              <a:t> </a:t>
            </a:r>
            <a:r>
              <a:rPr lang="en-US" altLang="zh-CN" b="1" dirty="0" err="1" smtClean="0"/>
              <a:t>TestLion</a:t>
            </a:r>
            <a:r>
              <a:rPr lang="en-US" altLang="zh-CN" b="1" dirty="0" smtClean="0"/>
              <a:t> {</a:t>
            </a:r>
          </a:p>
          <a:p>
            <a:pPr algn="l">
              <a:lnSpc>
                <a:spcPct val="130000"/>
              </a:lnSpc>
            </a:pPr>
            <a:r>
              <a:rPr lang="en-US" altLang="zh-CN" b="1" dirty="0" smtClean="0"/>
              <a:t>    </a:t>
            </a:r>
            <a:r>
              <a:rPr lang="en-US" altLang="zh-CN" b="1" dirty="0" smtClean="0">
                <a:solidFill>
                  <a:srgbClr val="0000FF"/>
                </a:solidFill>
              </a:rPr>
              <a:t>public static void</a:t>
            </a:r>
            <a:r>
              <a:rPr lang="en-US" altLang="zh-CN" b="1" dirty="0" smtClean="0"/>
              <a:t> main(String[ ] </a:t>
            </a:r>
            <a:r>
              <a:rPr lang="en-US" altLang="zh-CN" b="1" dirty="0" err="1" smtClean="0"/>
              <a:t>args</a:t>
            </a:r>
            <a:r>
              <a:rPr lang="en-US" altLang="zh-CN" b="1" dirty="0" smtClean="0"/>
              <a:t>) {</a:t>
            </a:r>
          </a:p>
          <a:p>
            <a:pPr algn="l">
              <a:lnSpc>
                <a:spcPct val="130000"/>
              </a:lnSpc>
            </a:pPr>
            <a:r>
              <a:rPr lang="en-US" altLang="zh-CN" b="1" dirty="0" smtClean="0"/>
              <a:t>           </a:t>
            </a:r>
            <a:r>
              <a:rPr lang="en-US" altLang="zh-CN" b="1" dirty="0" err="1" smtClean="0"/>
              <a:t>AutoLion</a:t>
            </a:r>
            <a:r>
              <a:rPr lang="en-US" altLang="zh-CN" b="1" dirty="0" smtClean="0"/>
              <a:t> lion = </a:t>
            </a:r>
            <a:r>
              <a:rPr lang="en-US" altLang="zh-CN" b="1" dirty="0" smtClean="0">
                <a:solidFill>
                  <a:srgbClr val="0000FF"/>
                </a:solidFill>
              </a:rPr>
              <a:t>new</a:t>
            </a:r>
            <a:r>
              <a:rPr lang="en-US" altLang="zh-CN" b="1" dirty="0" smtClean="0"/>
              <a:t> </a:t>
            </a:r>
            <a:r>
              <a:rPr lang="en-US" altLang="zh-CN" b="1" dirty="0" err="1" smtClean="0"/>
              <a:t>AutoLion</a:t>
            </a:r>
            <a:r>
              <a:rPr lang="en-US" altLang="zh-CN" b="1" dirty="0" smtClean="0"/>
              <a:t>();</a:t>
            </a:r>
          </a:p>
          <a:p>
            <a:pPr algn="l">
              <a:lnSpc>
                <a:spcPct val="130000"/>
              </a:lnSpc>
            </a:pPr>
            <a:r>
              <a:rPr lang="en-US" altLang="zh-CN" b="1" dirty="0" smtClean="0"/>
              <a:t>           </a:t>
            </a:r>
            <a:r>
              <a:rPr lang="en-US" altLang="zh-CN" b="1" dirty="0" err="1" smtClean="0"/>
              <a:t>System.out.println</a:t>
            </a:r>
            <a:r>
              <a:rPr lang="en-US" altLang="zh-CN" b="1" dirty="0" smtClean="0"/>
              <a:t>(</a:t>
            </a:r>
            <a:r>
              <a:rPr lang="en-US" altLang="zh-CN" b="1" dirty="0" err="1" smtClean="0"/>
              <a:t>lion.showLion</a:t>
            </a:r>
            <a:r>
              <a:rPr lang="en-US" altLang="zh-CN" b="1" dirty="0" smtClean="0"/>
              <a:t>());     </a:t>
            </a:r>
          </a:p>
          <a:p>
            <a:pPr algn="l">
              <a:lnSpc>
                <a:spcPct val="130000"/>
              </a:lnSpc>
            </a:pPr>
            <a:r>
              <a:rPr lang="en-US" altLang="zh-CN" b="1" dirty="0" smtClean="0"/>
              <a:t>           </a:t>
            </a:r>
            <a:r>
              <a:rPr lang="en-US" altLang="zh-CN" b="1" dirty="0" err="1" smtClean="0"/>
              <a:t>lion.run</a:t>
            </a:r>
            <a:r>
              <a:rPr lang="en-US" altLang="zh-CN" b="1" dirty="0" smtClean="0"/>
              <a:t>();</a:t>
            </a:r>
          </a:p>
          <a:p>
            <a:pPr algn="l">
              <a:lnSpc>
                <a:spcPct val="130000"/>
              </a:lnSpc>
            </a:pPr>
            <a:r>
              <a:rPr lang="en-US" altLang="zh-CN" b="1" dirty="0" smtClean="0"/>
              <a:t>           </a:t>
            </a:r>
            <a:r>
              <a:rPr lang="en-US" altLang="zh-CN" b="1" dirty="0" err="1" smtClean="0"/>
              <a:t>System.out.println</a:t>
            </a:r>
            <a:r>
              <a:rPr lang="en-US" altLang="zh-CN" b="1" dirty="0" smtClean="0"/>
              <a:t>(</a:t>
            </a:r>
            <a:r>
              <a:rPr lang="en-US" altLang="zh-CN" b="1" dirty="0" err="1" smtClean="0"/>
              <a:t>lion.bark</a:t>
            </a:r>
            <a:r>
              <a:rPr lang="en-US" altLang="zh-CN" b="1" dirty="0" smtClean="0"/>
              <a:t>());</a:t>
            </a:r>
          </a:p>
          <a:p>
            <a:pPr algn="l">
              <a:lnSpc>
                <a:spcPct val="130000"/>
              </a:lnSpc>
            </a:pPr>
            <a:r>
              <a:rPr lang="en-US" altLang="zh-CN" b="1" dirty="0" smtClean="0"/>
              <a:t>     }</a:t>
            </a:r>
          </a:p>
          <a:p>
            <a:pPr algn="l">
              <a:lnSpc>
                <a:spcPct val="130000"/>
              </a:lnSpc>
            </a:pPr>
            <a:r>
              <a:rPr lang="en-US" altLang="zh-CN" b="1" dirty="0" smtClean="0"/>
              <a:t>}</a:t>
            </a:r>
            <a:endParaRPr lang="en-US" altLang="zh-CN" b="1" dirty="0"/>
          </a:p>
        </p:txBody>
      </p:sp>
      <p:sp>
        <p:nvSpPr>
          <p:cNvPr id="500741" name="AutoShape 5"/>
          <p:cNvSpPr>
            <a:spLocks noChangeArrowheads="1"/>
          </p:cNvSpPr>
          <p:nvPr/>
        </p:nvSpPr>
        <p:spPr bwMode="auto">
          <a:xfrm>
            <a:off x="3786214" y="4500570"/>
            <a:ext cx="2185988" cy="776383"/>
          </a:xfrm>
          <a:prstGeom prst="wedgeRoundRectCallout">
            <a:avLst>
              <a:gd name="adj1" fmla="val -25395"/>
              <a:gd name="adj2" fmla="val 53380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在类的方法中调用</a:t>
            </a:r>
          </a:p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该类另一个方法</a:t>
            </a:r>
          </a:p>
        </p:txBody>
      </p:sp>
      <p:sp>
        <p:nvSpPr>
          <p:cNvPr id="500742" name="Rectangle 6"/>
          <p:cNvSpPr>
            <a:spLocks noChangeArrowheads="1"/>
          </p:cNvSpPr>
          <p:nvPr/>
        </p:nvSpPr>
        <p:spPr bwMode="auto">
          <a:xfrm>
            <a:off x="2928926" y="5643578"/>
            <a:ext cx="1152525" cy="360363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00750" name="Rectangle 14"/>
          <p:cNvSpPr>
            <a:spLocks noChangeArrowheads="1"/>
          </p:cNvSpPr>
          <p:nvPr/>
        </p:nvSpPr>
        <p:spPr bwMode="auto">
          <a:xfrm>
            <a:off x="6572296" y="2640009"/>
            <a:ext cx="1754188" cy="360363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00751" name="Rectangle 15"/>
          <p:cNvSpPr>
            <a:spLocks noChangeArrowheads="1"/>
          </p:cNvSpPr>
          <p:nvPr/>
        </p:nvSpPr>
        <p:spPr bwMode="auto">
          <a:xfrm>
            <a:off x="4429124" y="3000372"/>
            <a:ext cx="1223962" cy="360363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00752" name="Rectangle 16"/>
          <p:cNvSpPr>
            <a:spLocks noChangeArrowheads="1"/>
          </p:cNvSpPr>
          <p:nvPr/>
        </p:nvSpPr>
        <p:spPr bwMode="auto">
          <a:xfrm>
            <a:off x="6572296" y="3357562"/>
            <a:ext cx="1223962" cy="360362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00744" name="AutoShape 8"/>
          <p:cNvSpPr>
            <a:spLocks noChangeArrowheads="1"/>
          </p:cNvSpPr>
          <p:nvPr/>
        </p:nvSpPr>
        <p:spPr bwMode="auto">
          <a:xfrm>
            <a:off x="6572296" y="4143380"/>
            <a:ext cx="2143108" cy="776383"/>
          </a:xfrm>
          <a:prstGeom prst="wedgeRoundRectCallout">
            <a:avLst>
              <a:gd name="adj1" fmla="val -25114"/>
              <a:gd name="adj2" fmla="val -49412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在</a:t>
            </a:r>
            <a:r>
              <a:rPr lang="en-US" altLang="zh-CN" b="1" kern="0" dirty="0" smtClean="0">
                <a:solidFill>
                  <a:schemeClr val="bg1"/>
                </a:solidFill>
                <a:latin typeface="Arial"/>
                <a:ea typeface="黑体"/>
              </a:rPr>
              <a:t>main()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方法中</a:t>
            </a:r>
          </a:p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调用类的方法          </a:t>
            </a:r>
          </a:p>
        </p:txBody>
      </p:sp>
      <p:cxnSp>
        <p:nvCxnSpPr>
          <p:cNvPr id="17" name="直接箭头连接符 16"/>
          <p:cNvCxnSpPr/>
          <p:nvPr/>
        </p:nvCxnSpPr>
        <p:spPr bwMode="auto">
          <a:xfrm flipV="1">
            <a:off x="3929058" y="5286388"/>
            <a:ext cx="500066" cy="357190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500752" idx="2"/>
          </p:cNvCxnSpPr>
          <p:nvPr/>
        </p:nvCxnSpPr>
        <p:spPr bwMode="auto">
          <a:xfrm rot="16200000" flipH="1">
            <a:off x="7058467" y="3843733"/>
            <a:ext cx="425456" cy="173837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灯片编号占位符 1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29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425131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0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0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0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50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50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0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0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39" grpId="0" animBg="1"/>
      <p:bldP spid="500740" grpId="0" animBg="1"/>
      <p:bldP spid="500741" grpId="0" animBg="1"/>
      <p:bldP spid="500742" grpId="0" animBg="1"/>
      <p:bldP spid="500750" grpId="0" animBg="1"/>
      <p:bldP spid="500751" grpId="0" animBg="1"/>
      <p:bldP spid="500752" grpId="0" animBg="1"/>
      <p:bldP spid="50074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171434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方法调用小结</a:t>
            </a:r>
          </a:p>
        </p:txBody>
      </p:sp>
      <p:sp>
        <p:nvSpPr>
          <p:cNvPr id="50278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84254" y="1276350"/>
            <a:ext cx="7920037" cy="1144588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方法之间允许相互调用，不需要知道方法的具体实现</a:t>
            </a:r>
            <a:r>
              <a:rPr lang="zh-CN" altLang="en-US" dirty="0" smtClean="0">
                <a:latin typeface="+mn-ea"/>
              </a:rPr>
              <a:t>，实现重用，提高效率</a:t>
            </a:r>
            <a:r>
              <a:rPr lang="zh-CN" altLang="en-US" sz="3200" dirty="0" smtClean="0">
                <a:latin typeface="+mn-ea"/>
              </a:rPr>
              <a:t>   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6" name="Group 29"/>
          <p:cNvGraphicFramePr>
            <a:graphicFrameLocks noGrp="1"/>
          </p:cNvGraphicFramePr>
          <p:nvPr/>
        </p:nvGraphicFramePr>
        <p:xfrm>
          <a:off x="571472" y="2428868"/>
          <a:ext cx="8001056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4842"/>
                <a:gridCol w="3786214"/>
              </a:tblGrid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情   况</a:t>
                      </a:r>
                    </a:p>
                  </a:txBody>
                  <a:tcPr marL="92477" marR="92477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举   例</a:t>
                      </a:r>
                    </a:p>
                  </a:txBody>
                  <a:tcPr marL="92477" marR="92477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220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Student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类的方法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a( )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调用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Student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类的方法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b( )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，直接调用</a:t>
                      </a:r>
                    </a:p>
                  </a:txBody>
                  <a:tcPr marL="92477" marR="92477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</a:rPr>
                        <a:t>public void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a( ) 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   b( );    //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调用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b(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} </a:t>
                      </a:r>
                    </a:p>
                  </a:txBody>
                  <a:tcPr marL="92477" marR="92477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Student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类的方法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a( )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调用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Teacher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类的方法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b( )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，先创建类对象，然后使用“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.”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调用</a:t>
                      </a:r>
                    </a:p>
                  </a:txBody>
                  <a:tcPr marL="92477" marR="92477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</a:rPr>
                        <a:t>public void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a( ) 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   Teacher t =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</a:rPr>
                        <a:t>new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Teacher( 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    </a:t>
                      </a: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t.b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 ); //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调用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Teacher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类的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b()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} </a:t>
                      </a:r>
                    </a:p>
                  </a:txBody>
                  <a:tcPr marL="92477" marR="92477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30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43827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AutoShape 2"/>
          <p:cNvSpPr>
            <a:spLocks noChangeArrowheads="1"/>
          </p:cNvSpPr>
          <p:nvPr/>
        </p:nvSpPr>
        <p:spPr bwMode="auto">
          <a:xfrm>
            <a:off x="946180" y="1536174"/>
            <a:ext cx="6483340" cy="1892826"/>
          </a:xfrm>
          <a:prstGeom prst="roundRect">
            <a:avLst>
              <a:gd name="adj" fmla="val 118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public class 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Student1 {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	public 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void 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</a:rPr>
              <a:t>showInfo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() {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	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return 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我是一名学生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";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	}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}</a:t>
            </a:r>
          </a:p>
        </p:txBody>
      </p:sp>
      <p:sp>
        <p:nvSpPr>
          <p:cNvPr id="505859" name="AutoShape 3"/>
          <p:cNvSpPr>
            <a:spLocks noChangeArrowheads="1"/>
          </p:cNvSpPr>
          <p:nvPr/>
        </p:nvSpPr>
        <p:spPr bwMode="gray">
          <a:xfrm>
            <a:off x="928662" y="4449137"/>
            <a:ext cx="6786610" cy="480061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en-US" sz="2000" b="1" dirty="0"/>
              <a:t>方法的</a:t>
            </a:r>
            <a:r>
              <a:rPr lang="zh-CN" altLang="en-US" sz="2000" b="1" dirty="0" smtClean="0"/>
              <a:t>返回值类型</a:t>
            </a:r>
            <a:r>
              <a:rPr lang="zh-CN" altLang="en-US" sz="2000" b="1" dirty="0"/>
              <a:t>为</a:t>
            </a:r>
            <a:r>
              <a:rPr lang="en-US" altLang="zh-CN" sz="2000" b="1" dirty="0"/>
              <a:t>void</a:t>
            </a:r>
            <a:r>
              <a:rPr lang="zh-CN" altLang="en-US" sz="2000" b="1" dirty="0"/>
              <a:t>，方法中不能有</a:t>
            </a:r>
            <a:r>
              <a:rPr lang="en-US" altLang="zh-CN" sz="2000" b="1" dirty="0" smtClean="0"/>
              <a:t>return </a:t>
            </a:r>
            <a:r>
              <a:rPr lang="zh-CN" altLang="en-US" sz="2000" b="1" dirty="0" smtClean="0"/>
              <a:t>返回</a:t>
            </a:r>
            <a:r>
              <a:rPr lang="zh-CN" altLang="en-US" sz="2000" b="1" dirty="0"/>
              <a:t>值！</a:t>
            </a:r>
            <a:endParaRPr lang="en-US" altLang="zh-CN" sz="2000" b="1" dirty="0"/>
          </a:p>
        </p:txBody>
      </p:sp>
      <p:sp>
        <p:nvSpPr>
          <p:cNvPr id="505860" name="Rectangle 4"/>
          <p:cNvSpPr>
            <a:spLocks noChangeArrowheads="1"/>
          </p:cNvSpPr>
          <p:nvPr/>
        </p:nvSpPr>
        <p:spPr bwMode="auto">
          <a:xfrm>
            <a:off x="1708135" y="2357430"/>
            <a:ext cx="792163" cy="285752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0586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171434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常见错误</a:t>
            </a:r>
            <a:r>
              <a:rPr lang="en-US" altLang="zh-CN" b="1" dirty="0"/>
              <a:t>4-1</a:t>
            </a:r>
            <a:endParaRPr lang="zh-CN" altLang="en-US" b="1" dirty="0"/>
          </a:p>
        </p:txBody>
      </p:sp>
      <p:sp>
        <p:nvSpPr>
          <p:cNvPr id="505864" name="Rectangle 8"/>
          <p:cNvSpPr>
            <a:spLocks noChangeArrowheads="1"/>
          </p:cNvSpPr>
          <p:nvPr/>
        </p:nvSpPr>
        <p:spPr bwMode="auto">
          <a:xfrm>
            <a:off x="2214546" y="2000240"/>
            <a:ext cx="571504" cy="285752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8" name="组合 77"/>
          <p:cNvGrpSpPr/>
          <p:nvPr/>
        </p:nvGrpSpPr>
        <p:grpSpPr>
          <a:xfrm>
            <a:off x="102193" y="857232"/>
            <a:ext cx="1469411" cy="400110"/>
            <a:chOff x="2962268" y="5103147"/>
            <a:chExt cx="1469411" cy="400110"/>
          </a:xfrm>
        </p:grpSpPr>
        <p:pic>
          <p:nvPicPr>
            <p:cNvPr id="9" name="Picture 4" descr="C:\Users\meng.zhang\Desktop\ACCP7.0模版图标规范\list_num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962268" y="5141278"/>
              <a:ext cx="323848" cy="323848"/>
            </a:xfrm>
            <a:prstGeom prst="rect">
              <a:avLst/>
            </a:prstGeom>
            <a:noFill/>
          </p:spPr>
        </p:pic>
        <p:sp>
          <p:nvSpPr>
            <p:cNvPr id="10" name="TextBox 9"/>
            <p:cNvSpPr txBox="1"/>
            <p:nvPr/>
          </p:nvSpPr>
          <p:spPr>
            <a:xfrm>
              <a:off x="3214678" y="5103147"/>
              <a:ext cx="1217001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代码阅读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灯片编号占位符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31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  <p:grpSp>
        <p:nvGrpSpPr>
          <p:cNvPr id="12" name="组合 68"/>
          <p:cNvGrpSpPr/>
          <p:nvPr/>
        </p:nvGrpSpPr>
        <p:grpSpPr>
          <a:xfrm>
            <a:off x="85054" y="3786190"/>
            <a:ext cx="1058023" cy="414475"/>
            <a:chOff x="1000100" y="3950459"/>
            <a:chExt cx="1058023" cy="414475"/>
          </a:xfrm>
        </p:grpSpPr>
        <p:pic>
          <p:nvPicPr>
            <p:cNvPr id="13" name="Picture 1" descr="E:\设计支持\模板设计\ZY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00100" y="3950459"/>
              <a:ext cx="463239" cy="414475"/>
            </a:xfrm>
            <a:prstGeom prst="rect">
              <a:avLst/>
            </a:prstGeom>
            <a:noFill/>
          </p:spPr>
        </p:pic>
        <p:sp>
          <p:nvSpPr>
            <p:cNvPr id="14" name="TextBox 13"/>
            <p:cNvSpPr txBox="1"/>
            <p:nvPr/>
          </p:nvSpPr>
          <p:spPr>
            <a:xfrm>
              <a:off x="1357290" y="3957641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注意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54244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0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59" grpId="0" animBg="1"/>
      <p:bldP spid="505860" grpId="0" animBg="1"/>
      <p:bldP spid="50586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AutoShape 2"/>
          <p:cNvSpPr>
            <a:spLocks noChangeArrowheads="1"/>
          </p:cNvSpPr>
          <p:nvPr/>
        </p:nvSpPr>
        <p:spPr bwMode="auto">
          <a:xfrm>
            <a:off x="977931" y="1521607"/>
            <a:ext cx="6451589" cy="2613023"/>
          </a:xfrm>
          <a:prstGeom prst="roundRect">
            <a:avLst>
              <a:gd name="adj" fmla="val 1472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public class 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Student2 {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	public double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</a:rPr>
              <a:t>getInfo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() {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	double weight = 95.5;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	double height = 1.69;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		return weight, height;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	}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}</a:t>
            </a:r>
          </a:p>
        </p:txBody>
      </p:sp>
      <p:sp>
        <p:nvSpPr>
          <p:cNvPr id="507907" name="AutoShape 3"/>
          <p:cNvSpPr>
            <a:spLocks noChangeArrowheads="1"/>
          </p:cNvSpPr>
          <p:nvPr/>
        </p:nvSpPr>
        <p:spPr bwMode="gray">
          <a:xfrm>
            <a:off x="928662" y="5020641"/>
            <a:ext cx="4464050" cy="408623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en-US" altLang="zh-CN" sz="2000" b="1" dirty="0" err="1"/>
              <a:t>方法不能返回多个值</a:t>
            </a:r>
            <a:r>
              <a:rPr lang="zh-CN" altLang="en-US" sz="2000" b="1" dirty="0"/>
              <a:t>！</a:t>
            </a:r>
          </a:p>
        </p:txBody>
      </p:sp>
      <p:sp>
        <p:nvSpPr>
          <p:cNvPr id="507910" name="Rectangle 6"/>
          <p:cNvSpPr>
            <a:spLocks noChangeArrowheads="1"/>
          </p:cNvSpPr>
          <p:nvPr/>
        </p:nvSpPr>
        <p:spPr bwMode="auto">
          <a:xfrm>
            <a:off x="1724023" y="2997200"/>
            <a:ext cx="2490787" cy="360362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0791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171434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常见错误</a:t>
            </a:r>
            <a:r>
              <a:rPr lang="en-US" altLang="zh-CN" b="1" dirty="0"/>
              <a:t>4-2</a:t>
            </a:r>
            <a:endParaRPr lang="zh-CN" altLang="en-US" b="1" dirty="0"/>
          </a:p>
        </p:txBody>
      </p:sp>
      <p:grpSp>
        <p:nvGrpSpPr>
          <p:cNvPr id="7" name="组合 77"/>
          <p:cNvGrpSpPr/>
          <p:nvPr/>
        </p:nvGrpSpPr>
        <p:grpSpPr>
          <a:xfrm>
            <a:off x="102193" y="857232"/>
            <a:ext cx="1469411" cy="400110"/>
            <a:chOff x="2962268" y="5103147"/>
            <a:chExt cx="1469411" cy="400110"/>
          </a:xfrm>
        </p:grpSpPr>
        <p:pic>
          <p:nvPicPr>
            <p:cNvPr id="8" name="Picture 4" descr="C:\Users\meng.zhang\Desktop\ACCP7.0模版图标规范\list_num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962268" y="5141278"/>
              <a:ext cx="323848" cy="323848"/>
            </a:xfrm>
            <a:prstGeom prst="rect">
              <a:avLst/>
            </a:prstGeom>
            <a:noFill/>
          </p:spPr>
        </p:pic>
        <p:sp>
          <p:nvSpPr>
            <p:cNvPr id="9" name="TextBox 8"/>
            <p:cNvSpPr txBox="1"/>
            <p:nvPr/>
          </p:nvSpPr>
          <p:spPr>
            <a:xfrm>
              <a:off x="3214678" y="5103147"/>
              <a:ext cx="1217001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代码阅读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32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  <p:grpSp>
        <p:nvGrpSpPr>
          <p:cNvPr id="11" name="组合 68"/>
          <p:cNvGrpSpPr/>
          <p:nvPr/>
        </p:nvGrpSpPr>
        <p:grpSpPr>
          <a:xfrm>
            <a:off x="85054" y="4514723"/>
            <a:ext cx="1058023" cy="414475"/>
            <a:chOff x="1000100" y="3950459"/>
            <a:chExt cx="1058023" cy="414475"/>
          </a:xfrm>
        </p:grpSpPr>
        <p:pic>
          <p:nvPicPr>
            <p:cNvPr id="12" name="Picture 1" descr="E:\设计支持\模板设计\ZY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3950459"/>
              <a:ext cx="463239" cy="414475"/>
            </a:xfrm>
            <a:prstGeom prst="rect">
              <a:avLst/>
            </a:prstGeom>
            <a:noFill/>
          </p:spPr>
        </p:pic>
        <p:sp>
          <p:nvSpPr>
            <p:cNvPr id="13" name="TextBox 12"/>
            <p:cNvSpPr txBox="1"/>
            <p:nvPr/>
          </p:nvSpPr>
          <p:spPr>
            <a:xfrm>
              <a:off x="1357290" y="3957641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注意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94063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906" grpId="0" animBg="1"/>
      <p:bldP spid="507907" grpId="0" animBg="1"/>
      <p:bldP spid="5079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AutoShape 2"/>
          <p:cNvSpPr>
            <a:spLocks noChangeArrowheads="1"/>
          </p:cNvSpPr>
          <p:nvPr/>
        </p:nvSpPr>
        <p:spPr bwMode="auto">
          <a:xfrm>
            <a:off x="285721" y="1416379"/>
            <a:ext cx="4214842" cy="3444020"/>
          </a:xfrm>
          <a:prstGeom prst="roundRect">
            <a:avLst>
              <a:gd name="adj" fmla="val 381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public class 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Student3 {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	public String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</a:rPr>
              <a:t>showInfo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() {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		return 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我是一名学生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";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		public double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</a:rPr>
              <a:t>getInfo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() {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     	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double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weight = 95.5;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     	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double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height = 1.69;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			return weight;</a:t>
            </a:r>
          </a:p>
          <a:p>
            <a:pPr algn="l" defTabSz="723900"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 	}</a:t>
            </a:r>
          </a:p>
          <a:p>
            <a:pPr algn="l" defTabSz="723900"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	}</a:t>
            </a:r>
          </a:p>
          <a:p>
            <a:pPr algn="l" defTabSz="723900"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}</a:t>
            </a:r>
          </a:p>
        </p:txBody>
      </p:sp>
      <p:sp>
        <p:nvSpPr>
          <p:cNvPr id="508931" name="AutoShape 3"/>
          <p:cNvSpPr>
            <a:spLocks noChangeArrowheads="1"/>
          </p:cNvSpPr>
          <p:nvPr/>
        </p:nvSpPr>
        <p:spPr bwMode="gray">
          <a:xfrm>
            <a:off x="1000100" y="5663583"/>
            <a:ext cx="4319587" cy="408623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zh-CN" sz="2000" b="1"/>
              <a:t>多个方法不能相互嵌套定义</a:t>
            </a:r>
            <a:r>
              <a:rPr lang="zh-CN" altLang="en-US" sz="2000" b="1"/>
              <a:t>！</a:t>
            </a:r>
            <a:endParaRPr lang="en-US" altLang="zh-CN" sz="2000" b="1"/>
          </a:p>
        </p:txBody>
      </p:sp>
      <p:sp>
        <p:nvSpPr>
          <p:cNvPr id="508932" name="Rectangle 4"/>
          <p:cNvSpPr>
            <a:spLocks noChangeArrowheads="1"/>
          </p:cNvSpPr>
          <p:nvPr/>
        </p:nvSpPr>
        <p:spPr bwMode="auto">
          <a:xfrm>
            <a:off x="1000099" y="2571744"/>
            <a:ext cx="3357587" cy="1714512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0893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171434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常见错误</a:t>
            </a:r>
            <a:r>
              <a:rPr lang="en-US" altLang="zh-CN" b="1" dirty="0"/>
              <a:t>4-3</a:t>
            </a:r>
            <a:endParaRPr lang="zh-CN" altLang="en-US" b="1" dirty="0"/>
          </a:p>
        </p:txBody>
      </p:sp>
      <p:sp>
        <p:nvSpPr>
          <p:cNvPr id="508936" name="AutoShape 8"/>
          <p:cNvSpPr>
            <a:spLocks noChangeArrowheads="1"/>
          </p:cNvSpPr>
          <p:nvPr/>
        </p:nvSpPr>
        <p:spPr bwMode="auto">
          <a:xfrm>
            <a:off x="5143505" y="1416379"/>
            <a:ext cx="3786214" cy="3444020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public class 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Student3 {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	public String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</a:rPr>
              <a:t>showInfo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() {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		return 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我是一名学生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";</a:t>
            </a:r>
          </a:p>
          <a:p>
            <a:pPr algn="l" defTabSz="723900"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	}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	public double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</a:rPr>
              <a:t>getInfo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() {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		double weight = 95.5;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   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double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height = 1.69;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		return weight;</a:t>
            </a:r>
          </a:p>
          <a:p>
            <a:pPr algn="l" defTabSz="723900"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	}</a:t>
            </a:r>
          </a:p>
          <a:p>
            <a:pPr algn="l" defTabSz="723900"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}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508937" name="Rectangle 9"/>
          <p:cNvSpPr>
            <a:spLocks noChangeArrowheads="1"/>
          </p:cNvSpPr>
          <p:nvPr/>
        </p:nvSpPr>
        <p:spPr bwMode="auto">
          <a:xfrm>
            <a:off x="5572132" y="2857496"/>
            <a:ext cx="2951162" cy="1655762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10" name="组合 77"/>
          <p:cNvGrpSpPr/>
          <p:nvPr/>
        </p:nvGrpSpPr>
        <p:grpSpPr>
          <a:xfrm>
            <a:off x="102193" y="857232"/>
            <a:ext cx="1469411" cy="400110"/>
            <a:chOff x="2962268" y="5103147"/>
            <a:chExt cx="1469411" cy="400110"/>
          </a:xfrm>
        </p:grpSpPr>
        <p:pic>
          <p:nvPicPr>
            <p:cNvPr id="11" name="Picture 4" descr="C:\Users\meng.zhang\Desktop\ACCP7.0模版图标规范\list_num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962268" y="5141278"/>
              <a:ext cx="323848" cy="323848"/>
            </a:xfrm>
            <a:prstGeom prst="rect">
              <a:avLst/>
            </a:prstGeom>
            <a:noFill/>
          </p:spPr>
        </p:pic>
        <p:sp>
          <p:nvSpPr>
            <p:cNvPr id="12" name="TextBox 11"/>
            <p:cNvSpPr txBox="1"/>
            <p:nvPr/>
          </p:nvSpPr>
          <p:spPr>
            <a:xfrm>
              <a:off x="3214678" y="5103147"/>
              <a:ext cx="1217001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代码阅读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cxnSp>
        <p:nvCxnSpPr>
          <p:cNvPr id="13" name="直接箭头连接符 12"/>
          <p:cNvCxnSpPr/>
          <p:nvPr/>
        </p:nvCxnSpPr>
        <p:spPr>
          <a:xfrm>
            <a:off x="4357686" y="3429000"/>
            <a:ext cx="928694" cy="2617"/>
          </a:xfrm>
          <a:prstGeom prst="straightConnector1">
            <a:avLst/>
          </a:prstGeom>
          <a:ln w="88900"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33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  <p:grpSp>
        <p:nvGrpSpPr>
          <p:cNvPr id="15" name="组合 68"/>
          <p:cNvGrpSpPr/>
          <p:nvPr/>
        </p:nvGrpSpPr>
        <p:grpSpPr>
          <a:xfrm>
            <a:off x="85054" y="5157665"/>
            <a:ext cx="1058023" cy="414475"/>
            <a:chOff x="1000100" y="3950459"/>
            <a:chExt cx="1058023" cy="414475"/>
          </a:xfrm>
        </p:grpSpPr>
        <p:pic>
          <p:nvPicPr>
            <p:cNvPr id="16" name="Picture 1" descr="E:\设计支持\模板设计\ZY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3950459"/>
              <a:ext cx="463239" cy="414475"/>
            </a:xfrm>
            <a:prstGeom prst="rect">
              <a:avLst/>
            </a:prstGeom>
            <a:noFill/>
          </p:spPr>
        </p:pic>
        <p:sp>
          <p:nvSpPr>
            <p:cNvPr id="17" name="TextBox 16"/>
            <p:cNvSpPr txBox="1"/>
            <p:nvPr/>
          </p:nvSpPr>
          <p:spPr>
            <a:xfrm>
              <a:off x="1357290" y="3957641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注意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70081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0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0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0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930" grpId="0" animBg="1"/>
      <p:bldP spid="508931" grpId="0" animBg="1"/>
      <p:bldP spid="508932" grpId="0" animBg="1"/>
      <p:bldP spid="508936" grpId="0" animBg="1"/>
      <p:bldP spid="50893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2"/>
          <p:cNvSpPr>
            <a:spLocks noChangeArrowheads="1"/>
          </p:cNvSpPr>
          <p:nvPr/>
        </p:nvSpPr>
        <p:spPr bwMode="auto">
          <a:xfrm>
            <a:off x="928663" y="1357298"/>
            <a:ext cx="6572295" cy="3333220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public class 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Student4 {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	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</a:rPr>
              <a:t>int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age = 20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	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if(age &lt; 20) {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	    System.out.println("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年龄不符合入学要求！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");  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	}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	public void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</a:rPr>
              <a:t>showInfo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() {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		return 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我是一名学生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";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	}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}</a:t>
            </a:r>
          </a:p>
        </p:txBody>
      </p:sp>
      <p:sp>
        <p:nvSpPr>
          <p:cNvPr id="509955" name="AutoShape 3"/>
          <p:cNvSpPr>
            <a:spLocks noChangeArrowheads="1"/>
          </p:cNvSpPr>
          <p:nvPr/>
        </p:nvSpPr>
        <p:spPr bwMode="gray">
          <a:xfrm>
            <a:off x="928662" y="5572140"/>
            <a:ext cx="5545137" cy="408623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zh-CN" sz="2000" b="1" dirty="0"/>
              <a:t>不能在方法外部直接写程序逻辑代码</a:t>
            </a:r>
            <a:r>
              <a:rPr lang="zh-CN" altLang="en-US" sz="2000" b="1" dirty="0"/>
              <a:t>！</a:t>
            </a:r>
            <a:endParaRPr lang="en-US" altLang="zh-CN" sz="2000" b="1" dirty="0"/>
          </a:p>
        </p:txBody>
      </p:sp>
      <p:sp>
        <p:nvSpPr>
          <p:cNvPr id="509959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171434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常见错误</a:t>
            </a:r>
            <a:r>
              <a:rPr lang="en-US" altLang="zh-CN" b="1" dirty="0"/>
              <a:t>4-4</a:t>
            </a:r>
            <a:endParaRPr lang="zh-CN" altLang="en-US" b="1" dirty="0"/>
          </a:p>
        </p:txBody>
      </p:sp>
      <p:sp>
        <p:nvSpPr>
          <p:cNvPr id="509961" name="Rectangle 9"/>
          <p:cNvSpPr>
            <a:spLocks noChangeArrowheads="1"/>
          </p:cNvSpPr>
          <p:nvPr/>
        </p:nvSpPr>
        <p:spPr bwMode="auto">
          <a:xfrm>
            <a:off x="1357290" y="2143116"/>
            <a:ext cx="5357850" cy="1008062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9" name="组合 77"/>
          <p:cNvGrpSpPr/>
          <p:nvPr/>
        </p:nvGrpSpPr>
        <p:grpSpPr>
          <a:xfrm>
            <a:off x="102193" y="857232"/>
            <a:ext cx="1469411" cy="400110"/>
            <a:chOff x="2962268" y="5103147"/>
            <a:chExt cx="1469411" cy="400110"/>
          </a:xfrm>
        </p:grpSpPr>
        <p:pic>
          <p:nvPicPr>
            <p:cNvPr id="10" name="Picture 4" descr="C:\Users\meng.zhang\Desktop\ACCP7.0模版图标规范\list_num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962268" y="5141278"/>
              <a:ext cx="323848" cy="323848"/>
            </a:xfrm>
            <a:prstGeom prst="rect">
              <a:avLst/>
            </a:prstGeom>
            <a:noFill/>
          </p:spPr>
        </p:pic>
        <p:sp>
          <p:nvSpPr>
            <p:cNvPr id="11" name="TextBox 10"/>
            <p:cNvSpPr txBox="1"/>
            <p:nvPr/>
          </p:nvSpPr>
          <p:spPr>
            <a:xfrm>
              <a:off x="3214678" y="5103147"/>
              <a:ext cx="1217001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代码阅读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3" name="灯片编号占位符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34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  <p:grpSp>
        <p:nvGrpSpPr>
          <p:cNvPr id="14" name="组合 68"/>
          <p:cNvGrpSpPr/>
          <p:nvPr/>
        </p:nvGrpSpPr>
        <p:grpSpPr>
          <a:xfrm>
            <a:off x="85054" y="5086227"/>
            <a:ext cx="1058023" cy="414475"/>
            <a:chOff x="1000100" y="3950459"/>
            <a:chExt cx="1058023" cy="414475"/>
          </a:xfrm>
        </p:grpSpPr>
        <p:pic>
          <p:nvPicPr>
            <p:cNvPr id="15" name="Picture 1" descr="E:\设计支持\模板设计\ZY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3950459"/>
              <a:ext cx="463239" cy="414475"/>
            </a:xfrm>
            <a:prstGeom prst="rect">
              <a:avLst/>
            </a:prstGeom>
            <a:noFill/>
          </p:spPr>
        </p:pic>
        <p:sp>
          <p:nvSpPr>
            <p:cNvPr id="16" name="TextBox 15"/>
            <p:cNvSpPr txBox="1"/>
            <p:nvPr/>
          </p:nvSpPr>
          <p:spPr>
            <a:xfrm>
              <a:off x="1357290" y="3957641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注意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30771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09955" grpId="0" animBg="1"/>
      <p:bldP spid="50996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171434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本章目标</a:t>
            </a:r>
          </a:p>
        </p:txBody>
      </p:sp>
      <p:sp>
        <p:nvSpPr>
          <p:cNvPr id="49152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会定义和使用类的方法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理解变量作用域</a:t>
            </a:r>
          </a:p>
          <a:p>
            <a:r>
              <a:rPr lang="zh-CN" altLang="en-US" dirty="0"/>
              <a:t>会添加</a:t>
            </a:r>
            <a:r>
              <a:rPr lang="en-US" altLang="zh-CN" dirty="0" err="1"/>
              <a:t>JavaDoc</a:t>
            </a:r>
            <a:r>
              <a:rPr lang="zh-CN" altLang="en-US" dirty="0"/>
              <a:t>注释</a:t>
            </a:r>
          </a:p>
        </p:txBody>
      </p:sp>
      <p:pic>
        <p:nvPicPr>
          <p:cNvPr id="4" name="Picture 2" descr="C:\Users\meng.zhang\Desktop\ACCP7.0模版图标规范\啊-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00357" y="1137592"/>
            <a:ext cx="643477" cy="648334"/>
          </a:xfrm>
          <a:prstGeom prst="rect">
            <a:avLst/>
          </a:prstGeom>
          <a:noFill/>
        </p:spPr>
      </p:pic>
      <p:pic>
        <p:nvPicPr>
          <p:cNvPr id="6" name="Picture 3" descr="C:\Users\meng.zhang\Desktop\ACCP7.0模版图标规范\是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5074" y="1066154"/>
            <a:ext cx="714380" cy="719772"/>
          </a:xfrm>
          <a:prstGeom prst="rect">
            <a:avLst/>
          </a:prstGeom>
          <a:noFill/>
        </p:spPr>
      </p:pic>
      <p:sp>
        <p:nvSpPr>
          <p:cNvPr id="8" name="灯片编号占位符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35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  <p:pic>
        <p:nvPicPr>
          <p:cNvPr id="9" name="Picture 3" descr="C:\Users\meng.zhang\Desktop\ACCP7.0模版图标规范\是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5074" y="1637658"/>
            <a:ext cx="714380" cy="7197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80310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171434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zh-CN" b="1" dirty="0"/>
              <a:t>成员变量和局部变量</a:t>
            </a:r>
            <a:r>
              <a:rPr lang="zh-CN" altLang="en-US" b="1" dirty="0"/>
              <a:t>2</a:t>
            </a:r>
            <a:r>
              <a:rPr lang="en-US" altLang="zh-CN" b="1" dirty="0"/>
              <a:t>-1</a:t>
            </a:r>
          </a:p>
        </p:txBody>
      </p:sp>
      <p:sp>
        <p:nvSpPr>
          <p:cNvPr id="531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变量声明的位置决定变量作用域</a:t>
            </a:r>
          </a:p>
          <a:p>
            <a:r>
              <a:rPr lang="zh-CN" altLang="en-US" dirty="0"/>
              <a:t>变量作用域确定可在程序中按变量名访问该变量的区域</a:t>
            </a:r>
          </a:p>
        </p:txBody>
      </p:sp>
      <p:sp>
        <p:nvSpPr>
          <p:cNvPr id="531460" name="AutoShape 4"/>
          <p:cNvSpPr>
            <a:spLocks noChangeArrowheads="1"/>
          </p:cNvSpPr>
          <p:nvPr/>
        </p:nvSpPr>
        <p:spPr bwMode="auto">
          <a:xfrm>
            <a:off x="1258888" y="2924175"/>
            <a:ext cx="7273925" cy="2252924"/>
          </a:xfrm>
          <a:prstGeom prst="roundRect">
            <a:avLst>
              <a:gd name="adj" fmla="val 443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//…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smtClean="0">
                <a:solidFill>
                  <a:srgbClr val="0000FF"/>
                </a:solidFill>
              </a:rPr>
              <a:t>for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(</a:t>
            </a:r>
            <a:r>
              <a:rPr lang="en-US" altLang="zh-CN" b="1" dirty="0" err="1" smtClean="0">
                <a:solidFill>
                  <a:schemeClr val="accent5">
                    <a:lumMod val="10000"/>
                  </a:schemeClr>
                </a:solidFill>
              </a:rPr>
              <a:t>int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  a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= 0; 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a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&lt; 4; 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a++) {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     </a:t>
            </a:r>
            <a:r>
              <a:rPr lang="en-US" altLang="zh-CN" b="1" dirty="0" err="1" smtClean="0">
                <a:solidFill>
                  <a:schemeClr val="accent5">
                    <a:lumMod val="10000"/>
                  </a:schemeClr>
                </a:solidFill>
              </a:rPr>
              <a:t>System.out.println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 ("hello" );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}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System.out.println ( a );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//…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531463" name="Rectangle 7"/>
          <p:cNvSpPr>
            <a:spLocks noChangeArrowheads="1"/>
          </p:cNvSpPr>
          <p:nvPr/>
        </p:nvSpPr>
        <p:spPr bwMode="auto">
          <a:xfrm>
            <a:off x="3357554" y="4429132"/>
            <a:ext cx="647700" cy="360363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31462" name="AutoShape 6"/>
          <p:cNvSpPr>
            <a:spLocks noChangeArrowheads="1"/>
          </p:cNvSpPr>
          <p:nvPr/>
        </p:nvSpPr>
        <p:spPr bwMode="auto">
          <a:xfrm>
            <a:off x="4429124" y="4071942"/>
            <a:ext cx="1146741" cy="408623"/>
          </a:xfrm>
          <a:prstGeom prst="wedgeRoundRectCallout">
            <a:avLst>
              <a:gd name="adj1" fmla="val -25398"/>
              <a:gd name="adj2" fmla="val 51426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代码错误</a:t>
            </a:r>
          </a:p>
        </p:txBody>
      </p:sp>
      <p:sp>
        <p:nvSpPr>
          <p:cNvPr id="531461" name="AutoShape 5"/>
          <p:cNvSpPr>
            <a:spLocks noChangeArrowheads="1"/>
          </p:cNvSpPr>
          <p:nvPr/>
        </p:nvSpPr>
        <p:spPr bwMode="auto">
          <a:xfrm>
            <a:off x="3571868" y="5143512"/>
            <a:ext cx="2803576" cy="408623"/>
          </a:xfrm>
          <a:prstGeom prst="wedgeRoundRectCallout">
            <a:avLst>
              <a:gd name="adj1" fmla="val -27250"/>
              <a:gd name="adj2" fmla="val -56149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/>
                <a:ea typeface="黑体"/>
              </a:rPr>
              <a:t>a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的作用域仅在</a:t>
            </a:r>
            <a:r>
              <a:rPr lang="en-US" altLang="zh-CN" b="1" kern="0" dirty="0" smtClean="0">
                <a:solidFill>
                  <a:schemeClr val="bg1"/>
                </a:solidFill>
                <a:latin typeface="Arial"/>
                <a:ea typeface="黑体"/>
              </a:rPr>
              <a:t>for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循环中 </a:t>
            </a:r>
          </a:p>
        </p:txBody>
      </p:sp>
      <p:cxnSp>
        <p:nvCxnSpPr>
          <p:cNvPr id="8" name="直接箭头连接符 7"/>
          <p:cNvCxnSpPr/>
          <p:nvPr/>
        </p:nvCxnSpPr>
        <p:spPr bwMode="auto">
          <a:xfrm rot="16200000" flipH="1">
            <a:off x="4036215" y="4822041"/>
            <a:ext cx="357190" cy="285752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endCxn id="531462" idx="1"/>
          </p:cNvCxnSpPr>
          <p:nvPr/>
        </p:nvCxnSpPr>
        <p:spPr bwMode="auto">
          <a:xfrm flipV="1">
            <a:off x="3929058" y="4276254"/>
            <a:ext cx="500066" cy="152878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36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76109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3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463" grpId="0" animBg="1"/>
      <p:bldP spid="531462" grpId="0" animBg="1"/>
      <p:bldP spid="53146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 smtClean="0"/>
              <a:t>成员变量和局部变量</a:t>
            </a:r>
            <a:r>
              <a:rPr lang="zh-CN" altLang="en-US" dirty="0" smtClean="0"/>
              <a:t>2</a:t>
            </a:r>
            <a:r>
              <a:rPr lang="en-US" altLang="zh-CN" dirty="0" smtClean="0"/>
              <a:t>-2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谁能使用这些变量？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37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gray">
          <a:xfrm>
            <a:off x="1099046" y="1841502"/>
            <a:ext cx="4103687" cy="4587894"/>
          </a:xfrm>
          <a:prstGeom prst="roundRect">
            <a:avLst>
              <a:gd name="adj" fmla="val 782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endParaRPr lang="zh-CN" altLang="en-US" b="1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1560982" y="2441577"/>
            <a:ext cx="3240088" cy="1201737"/>
          </a:xfrm>
          <a:prstGeom prst="roundRect">
            <a:avLst>
              <a:gd name="adj" fmla="val 2400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defTabSz="723900" eaLnBrk="0" hangingPunct="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/>
              <a:t>变量</a:t>
            </a:r>
            <a:r>
              <a:rPr lang="en-US" altLang="zh-CN" b="1" dirty="0"/>
              <a:t>1</a:t>
            </a:r>
            <a:r>
              <a:rPr lang="zh-CN" altLang="en-US" b="1" dirty="0"/>
              <a:t>类型  变量</a:t>
            </a:r>
            <a:r>
              <a:rPr lang="en-US" altLang="zh-CN" b="1" dirty="0"/>
              <a:t>1</a:t>
            </a:r>
            <a:r>
              <a:rPr lang="zh-CN" altLang="en-US" b="1" dirty="0"/>
              <a:t>；                      </a:t>
            </a:r>
          </a:p>
          <a:p>
            <a:pPr algn="l" defTabSz="723900" eaLnBrk="0" hangingPunct="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/>
              <a:t>变量</a:t>
            </a:r>
            <a:r>
              <a:rPr lang="en-US" altLang="zh-CN" b="1" dirty="0"/>
              <a:t>2</a:t>
            </a:r>
            <a:r>
              <a:rPr lang="zh-CN" altLang="en-US" b="1" dirty="0"/>
              <a:t>类型  变量</a:t>
            </a:r>
            <a:r>
              <a:rPr lang="en-US" altLang="zh-CN" b="1" dirty="0"/>
              <a:t>2</a:t>
            </a:r>
            <a:r>
              <a:rPr lang="zh-CN" altLang="en-US" b="1" dirty="0"/>
              <a:t>；</a:t>
            </a:r>
          </a:p>
          <a:p>
            <a:pPr algn="l" defTabSz="723900" eaLnBrk="0" hangingPunct="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/>
              <a:t>变量</a:t>
            </a:r>
            <a:r>
              <a:rPr lang="en-US" altLang="zh-CN" b="1" dirty="0"/>
              <a:t>3</a:t>
            </a:r>
            <a:r>
              <a:rPr lang="zh-CN" altLang="en-US" b="1" dirty="0"/>
              <a:t>类型  变量</a:t>
            </a:r>
            <a:r>
              <a:rPr lang="en-US" altLang="zh-CN" b="1" dirty="0"/>
              <a:t>3</a:t>
            </a:r>
            <a:r>
              <a:rPr lang="zh-CN" altLang="en-US" b="1" dirty="0"/>
              <a:t>；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1560982" y="3857628"/>
            <a:ext cx="3240088" cy="2087563"/>
          </a:xfrm>
          <a:prstGeom prst="roundRect">
            <a:avLst>
              <a:gd name="adj" fmla="val 0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defTabSz="723900" eaLnBrk="0" hangingPunct="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/>
              <a:t>public </a:t>
            </a:r>
            <a:r>
              <a:rPr lang="zh-CN" altLang="en-US" b="1" dirty="0"/>
              <a:t>返回类型 方法</a:t>
            </a:r>
            <a:r>
              <a:rPr lang="en-US" altLang="zh-CN" b="1" dirty="0"/>
              <a:t>1(){</a:t>
            </a:r>
          </a:p>
          <a:p>
            <a:pPr algn="l" defTabSz="723900" eaLnBrk="0" hangingPunct="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/>
              <a:t>        </a:t>
            </a:r>
            <a:r>
              <a:rPr lang="zh-CN" altLang="en-US" b="1" dirty="0"/>
              <a:t>变量</a:t>
            </a:r>
            <a:r>
              <a:rPr lang="en-US" altLang="zh-CN" b="1" dirty="0"/>
              <a:t>4</a:t>
            </a:r>
            <a:r>
              <a:rPr lang="zh-CN" altLang="en-US" b="1" dirty="0"/>
              <a:t>类型  变量</a:t>
            </a:r>
            <a:r>
              <a:rPr lang="en-US" altLang="zh-CN" b="1" dirty="0"/>
              <a:t>4;</a:t>
            </a:r>
          </a:p>
          <a:p>
            <a:pPr algn="l" defTabSz="723900" eaLnBrk="0" hangingPunct="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/>
              <a:t>}</a:t>
            </a:r>
          </a:p>
          <a:p>
            <a:pPr algn="l" defTabSz="723900" eaLnBrk="0" hangingPunct="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smtClean="0"/>
              <a:t>public </a:t>
            </a:r>
            <a:r>
              <a:rPr lang="zh-CN" altLang="en-US" b="1" dirty="0"/>
              <a:t>返回类型 方法</a:t>
            </a:r>
            <a:r>
              <a:rPr lang="en-US" altLang="zh-CN" b="1" dirty="0"/>
              <a:t>2(){</a:t>
            </a:r>
          </a:p>
          <a:p>
            <a:pPr algn="l" defTabSz="723900" eaLnBrk="0" hangingPunct="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/>
              <a:t>        </a:t>
            </a:r>
            <a:r>
              <a:rPr lang="zh-CN" altLang="en-US" b="1" dirty="0"/>
              <a:t>变量</a:t>
            </a:r>
            <a:r>
              <a:rPr lang="en-US" altLang="zh-CN" b="1" dirty="0"/>
              <a:t>5</a:t>
            </a:r>
            <a:r>
              <a:rPr lang="zh-CN" altLang="en-US" b="1" dirty="0"/>
              <a:t>类型   变量</a:t>
            </a:r>
            <a:r>
              <a:rPr lang="en-US" altLang="zh-CN" b="1" dirty="0"/>
              <a:t>5</a:t>
            </a:r>
            <a:r>
              <a:rPr lang="zh-CN" altLang="en-US" b="1" dirty="0"/>
              <a:t>；                      </a:t>
            </a:r>
          </a:p>
          <a:p>
            <a:pPr algn="l" defTabSz="723900" eaLnBrk="0" hangingPunct="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/>
              <a:t>} 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154608" y="2041528"/>
            <a:ext cx="4135438" cy="396875"/>
          </a:xfrm>
          <a:prstGeom prst="roundRect">
            <a:avLst>
              <a:gd name="adj" fmla="val 16667"/>
            </a:avLst>
          </a:prstGeom>
          <a:noFill/>
          <a:ln w="9525" algn="ctr">
            <a:noFill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b="1">
                <a:ea typeface="黑体" pitchFamily="2" charset="-122"/>
              </a:rPr>
              <a:t>public class AutoLion{ 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227633" y="6000768"/>
            <a:ext cx="3846513" cy="396875"/>
          </a:xfrm>
          <a:prstGeom prst="roundRect">
            <a:avLst>
              <a:gd name="adj" fmla="val 16667"/>
            </a:avLst>
          </a:prstGeom>
          <a:noFill/>
          <a:ln w="9525" algn="ctr">
            <a:noFill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b="1">
                <a:ea typeface="黑体" pitchFamily="2" charset="-122"/>
              </a:rPr>
              <a:t>} </a:t>
            </a: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6429868" y="2645831"/>
            <a:ext cx="2428412" cy="783169"/>
          </a:xfrm>
          <a:prstGeom prst="roundRect">
            <a:avLst>
              <a:gd name="adj" fmla="val 17968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err="1">
                <a:solidFill>
                  <a:schemeClr val="bg1"/>
                </a:solidFill>
                <a:latin typeface="Arial"/>
                <a:ea typeface="黑体"/>
              </a:rPr>
              <a:t>AutoLion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类的方法，</a:t>
            </a:r>
          </a:p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其他类的方法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6429868" y="4184031"/>
            <a:ext cx="845475" cy="437198"/>
          </a:xfrm>
          <a:prstGeom prst="roundRect">
            <a:avLst>
              <a:gd name="adj" fmla="val 27824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方法</a:t>
            </a:r>
            <a:r>
              <a:rPr lang="en-US" altLang="zh-CN" b="1" kern="0" dirty="0" smtClean="0">
                <a:solidFill>
                  <a:schemeClr val="bg1"/>
                </a:solidFill>
                <a:latin typeface="Arial"/>
                <a:ea typeface="黑体"/>
              </a:rPr>
              <a:t>1</a:t>
            </a:r>
            <a:endParaRPr lang="en-US" altLang="zh-CN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13" name="AutoShape 11"/>
          <p:cNvSpPr>
            <a:spLocks noChangeArrowheads="1"/>
          </p:cNvSpPr>
          <p:nvPr/>
        </p:nvSpPr>
        <p:spPr bwMode="auto">
          <a:xfrm>
            <a:off x="6429868" y="5263531"/>
            <a:ext cx="860519" cy="451485"/>
          </a:xfrm>
          <a:prstGeom prst="roundRect">
            <a:avLst>
              <a:gd name="adj" fmla="val 31958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方法</a:t>
            </a:r>
            <a:r>
              <a:rPr lang="en-US" altLang="zh-CN" b="1" kern="0" dirty="0" smtClean="0">
                <a:solidFill>
                  <a:schemeClr val="bg1"/>
                </a:solidFill>
                <a:latin typeface="Arial"/>
                <a:ea typeface="黑体"/>
              </a:rPr>
              <a:t>2</a:t>
            </a:r>
            <a:endParaRPr lang="en-US" altLang="zh-CN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4847130" y="2711447"/>
            <a:ext cx="1295400" cy="28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b="1" dirty="0">
                <a:solidFill>
                  <a:srgbClr val="0000FF"/>
                </a:solidFill>
                <a:ea typeface="黑体" pitchFamily="2" charset="-122"/>
              </a:rPr>
              <a:t>                                   成员变量                                    </a:t>
            </a:r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4775693" y="4068769"/>
            <a:ext cx="1295400" cy="28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b="1" dirty="0">
                <a:solidFill>
                  <a:srgbClr val="0000FF"/>
                </a:solidFill>
                <a:ea typeface="黑体" pitchFamily="2" charset="-122"/>
              </a:rPr>
              <a:t>                                             局部变量                                            </a:t>
            </a: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775693" y="5140339"/>
            <a:ext cx="1295400" cy="28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b="1" dirty="0">
                <a:solidFill>
                  <a:srgbClr val="0000FF"/>
                </a:solidFill>
                <a:ea typeface="黑体" pitchFamily="2" charset="-122"/>
              </a:rPr>
              <a:t>                                      局部变量                                      </a:t>
            </a: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4775692" y="5535008"/>
            <a:ext cx="1500198" cy="1588"/>
          </a:xfrm>
          <a:prstGeom prst="straightConnector1">
            <a:avLst/>
          </a:prstGeom>
          <a:ln w="88900"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4848716" y="3153828"/>
            <a:ext cx="1500198" cy="1588"/>
          </a:xfrm>
          <a:prstGeom prst="straightConnector1">
            <a:avLst/>
          </a:prstGeom>
          <a:ln w="88900"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4847130" y="4463438"/>
            <a:ext cx="1500198" cy="1588"/>
          </a:xfrm>
          <a:prstGeom prst="straightConnector1">
            <a:avLst/>
          </a:prstGeom>
          <a:ln w="88900"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1" name="组合 72"/>
          <p:cNvGrpSpPr/>
          <p:nvPr/>
        </p:nvGrpSpPr>
        <p:grpSpPr>
          <a:xfrm>
            <a:off x="98702" y="870880"/>
            <a:ext cx="986586" cy="422603"/>
            <a:chOff x="1000100" y="1173499"/>
            <a:chExt cx="986586" cy="422603"/>
          </a:xfrm>
        </p:grpSpPr>
        <p:pic>
          <p:nvPicPr>
            <p:cNvPr id="22" name="Picture 5" descr="E:\设计支持\模板设计\WT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00100" y="1173499"/>
              <a:ext cx="414476" cy="422603"/>
            </a:xfrm>
            <a:prstGeom prst="rect">
              <a:avLst/>
            </a:prstGeom>
            <a:noFill/>
          </p:spPr>
        </p:pic>
        <p:sp>
          <p:nvSpPr>
            <p:cNvPr id="23" name="TextBox 22"/>
            <p:cNvSpPr txBox="1"/>
            <p:nvPr/>
          </p:nvSpPr>
          <p:spPr>
            <a:xfrm>
              <a:off x="1285852" y="1184745"/>
              <a:ext cx="700834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问题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616034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5" grpId="0"/>
      <p:bldP spid="1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zh-CN" b="1" dirty="0"/>
              <a:t>成员变量和局部变量</a:t>
            </a:r>
            <a:r>
              <a:rPr lang="zh-CN" altLang="en-US" b="1" dirty="0"/>
              <a:t>的区别</a:t>
            </a:r>
            <a:endParaRPr lang="en-US" altLang="zh-CN" b="1" dirty="0"/>
          </a:p>
        </p:txBody>
      </p:sp>
      <p:sp>
        <p:nvSpPr>
          <p:cNvPr id="538627" name="Rectangle 3"/>
          <p:cNvSpPr>
            <a:spLocks noGrp="1" noChangeArrowheads="1"/>
          </p:cNvSpPr>
          <p:nvPr>
            <p:ph idx="1"/>
          </p:nvPr>
        </p:nvSpPr>
        <p:spPr>
          <a:xfrm>
            <a:off x="784254" y="1276351"/>
            <a:ext cx="7645398" cy="2795591"/>
          </a:xfrm>
        </p:spPr>
        <p:txBody>
          <a:bodyPr/>
          <a:lstStyle/>
          <a:p>
            <a:r>
              <a:rPr lang="zh-CN" altLang="en-US" dirty="0"/>
              <a:t>作用域不同</a:t>
            </a:r>
          </a:p>
          <a:p>
            <a:pPr lvl="1"/>
            <a:r>
              <a:rPr lang="zh-CN" altLang="en-US" dirty="0"/>
              <a:t>局部变量的作用域仅限于定义它的方法</a:t>
            </a:r>
          </a:p>
          <a:p>
            <a:pPr lvl="1"/>
            <a:r>
              <a:rPr lang="zh-CN" altLang="en-US" dirty="0"/>
              <a:t>成员变量的作用域在整个类内部都是可见的</a:t>
            </a:r>
          </a:p>
          <a:p>
            <a:r>
              <a:rPr lang="zh-CN" altLang="en-US" dirty="0" smtClean="0"/>
              <a:t>初始值</a:t>
            </a:r>
            <a:r>
              <a:rPr lang="zh-CN" altLang="en-US" dirty="0"/>
              <a:t>不同</a:t>
            </a:r>
          </a:p>
          <a:p>
            <a:pPr lvl="1"/>
            <a:r>
              <a:rPr lang="en-US" altLang="zh-CN" dirty="0"/>
              <a:t>Java</a:t>
            </a:r>
            <a:r>
              <a:rPr lang="zh-CN" altLang="en-US" dirty="0"/>
              <a:t>会给成员变量一个初始值</a:t>
            </a:r>
          </a:p>
          <a:p>
            <a:pPr lvl="1"/>
            <a:r>
              <a:rPr lang="en-US" altLang="zh-CN" dirty="0"/>
              <a:t>Java</a:t>
            </a:r>
            <a:r>
              <a:rPr lang="zh-CN" altLang="en-US" dirty="0"/>
              <a:t>不会给局部变量赋予初始值</a:t>
            </a:r>
          </a:p>
          <a:p>
            <a:endParaRPr lang="zh-CN" altLang="en-US" sz="2400" dirty="0"/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gray">
          <a:xfrm>
            <a:off x="1643042" y="5572140"/>
            <a:ext cx="5500725" cy="765813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/>
            <a:r>
              <a:rPr lang="zh-CN" altLang="en-US" b="1" dirty="0" smtClean="0"/>
              <a:t>在同一个类中，成员变量和局部变量同名时，局部变量具有更高的优先级</a:t>
            </a:r>
            <a:endParaRPr lang="zh-CN" altLang="en-US" b="1" dirty="0"/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gray">
          <a:xfrm>
            <a:off x="1643042" y="4572008"/>
            <a:ext cx="5545137" cy="765813"/>
          </a:xfrm>
          <a:prstGeom prst="roundRect">
            <a:avLst>
              <a:gd name="adj" fmla="val 7756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/>
            <a:r>
              <a:rPr lang="zh-CN" altLang="en-US" b="1" dirty="0" smtClean="0"/>
              <a:t>在同一个方法中，不允许有同名局部变量</a:t>
            </a:r>
            <a:endParaRPr lang="en-US" altLang="zh-CN" b="1" dirty="0" smtClean="0"/>
          </a:p>
          <a:p>
            <a:pPr algn="l"/>
            <a:r>
              <a:rPr lang="zh-CN" altLang="en-US" b="1" dirty="0" smtClean="0"/>
              <a:t>在不同的方法中，可以有同名局部变量</a:t>
            </a:r>
            <a:endParaRPr lang="zh-CN" altLang="en-US" b="1" dirty="0"/>
          </a:p>
        </p:txBody>
      </p:sp>
      <p:grpSp>
        <p:nvGrpSpPr>
          <p:cNvPr id="7" name="组合 68"/>
          <p:cNvGrpSpPr/>
          <p:nvPr/>
        </p:nvGrpSpPr>
        <p:grpSpPr>
          <a:xfrm>
            <a:off x="84953" y="4228971"/>
            <a:ext cx="1058023" cy="414475"/>
            <a:chOff x="1000100" y="3950459"/>
            <a:chExt cx="1058023" cy="414475"/>
          </a:xfrm>
        </p:grpSpPr>
        <p:pic>
          <p:nvPicPr>
            <p:cNvPr id="8" name="Picture 1" descr="E:\设计支持\模板设计\ZY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3950459"/>
              <a:ext cx="463239" cy="414475"/>
            </a:xfrm>
            <a:prstGeom prst="rect">
              <a:avLst/>
            </a:prstGeom>
            <a:noFill/>
          </p:spPr>
        </p:pic>
        <p:sp>
          <p:nvSpPr>
            <p:cNvPr id="9" name="TextBox 8"/>
            <p:cNvSpPr txBox="1"/>
            <p:nvPr/>
          </p:nvSpPr>
          <p:spPr>
            <a:xfrm>
              <a:off x="1357290" y="3957641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注意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38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866304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8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8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8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8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AutoShape 2"/>
          <p:cNvSpPr>
            <a:spLocks noChangeArrowheads="1"/>
          </p:cNvSpPr>
          <p:nvPr/>
        </p:nvSpPr>
        <p:spPr bwMode="auto">
          <a:xfrm>
            <a:off x="989044" y="1521633"/>
            <a:ext cx="6511914" cy="3693319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public class Test {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int score1 = 88;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int score2 = 98;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public void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</a:rPr>
              <a:t>calcAvg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() {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  int avg = (score1 + score2)/2;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}    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public void showAvg(){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 System.out.println("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平均分是：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" + avg);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}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}</a:t>
            </a:r>
          </a:p>
        </p:txBody>
      </p:sp>
      <p:sp>
        <p:nvSpPr>
          <p:cNvPr id="526340" name="Rectangle 4"/>
          <p:cNvSpPr>
            <a:spLocks noChangeArrowheads="1"/>
          </p:cNvSpPr>
          <p:nvPr/>
        </p:nvSpPr>
        <p:spPr bwMode="auto">
          <a:xfrm>
            <a:off x="5357818" y="4071942"/>
            <a:ext cx="500066" cy="357190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2634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常见错误</a:t>
            </a:r>
          </a:p>
        </p:txBody>
      </p:sp>
      <p:sp>
        <p:nvSpPr>
          <p:cNvPr id="526344" name="AutoShape 8"/>
          <p:cNvSpPr>
            <a:spLocks noChangeArrowheads="1"/>
          </p:cNvSpPr>
          <p:nvPr/>
        </p:nvSpPr>
        <p:spPr bwMode="gray">
          <a:xfrm>
            <a:off x="1643042" y="5715016"/>
            <a:ext cx="4968875" cy="649288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en-US" b="1"/>
              <a:t>局部变量</a:t>
            </a:r>
            <a:r>
              <a:rPr lang="en-US" altLang="zh-CN" b="1"/>
              <a:t>avg</a:t>
            </a:r>
            <a:r>
              <a:rPr lang="zh-CN" altLang="en-US" b="1"/>
              <a:t>的作用域仅限于</a:t>
            </a:r>
            <a:r>
              <a:rPr lang="en-US" altLang="zh-CN" b="1"/>
              <a:t>calcAvg()</a:t>
            </a:r>
            <a:r>
              <a:rPr lang="zh-CN" altLang="en-US" b="1"/>
              <a:t>方法</a:t>
            </a:r>
          </a:p>
        </p:txBody>
      </p:sp>
      <p:grpSp>
        <p:nvGrpSpPr>
          <p:cNvPr id="7" name="组合 77"/>
          <p:cNvGrpSpPr/>
          <p:nvPr/>
        </p:nvGrpSpPr>
        <p:grpSpPr>
          <a:xfrm>
            <a:off x="102193" y="857232"/>
            <a:ext cx="1469411" cy="400110"/>
            <a:chOff x="2962268" y="5103147"/>
            <a:chExt cx="1469411" cy="400110"/>
          </a:xfrm>
        </p:grpSpPr>
        <p:pic>
          <p:nvPicPr>
            <p:cNvPr id="8" name="Picture 4" descr="C:\Users\meng.zhang\Desktop\ACCP7.0模版图标规范\list_num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962268" y="5141278"/>
              <a:ext cx="323848" cy="323848"/>
            </a:xfrm>
            <a:prstGeom prst="rect">
              <a:avLst/>
            </a:prstGeom>
            <a:noFill/>
          </p:spPr>
        </p:pic>
        <p:sp>
          <p:nvSpPr>
            <p:cNvPr id="9" name="TextBox 8"/>
            <p:cNvSpPr txBox="1"/>
            <p:nvPr/>
          </p:nvSpPr>
          <p:spPr>
            <a:xfrm>
              <a:off x="3214678" y="5103147"/>
              <a:ext cx="1217001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代码阅读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643042" y="3000372"/>
            <a:ext cx="3286148" cy="357190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39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  <p:grpSp>
        <p:nvGrpSpPr>
          <p:cNvPr id="12" name="组合 68"/>
          <p:cNvGrpSpPr/>
          <p:nvPr/>
        </p:nvGrpSpPr>
        <p:grpSpPr>
          <a:xfrm>
            <a:off x="84953" y="5586293"/>
            <a:ext cx="1058023" cy="414475"/>
            <a:chOff x="1000100" y="3950459"/>
            <a:chExt cx="1058023" cy="414475"/>
          </a:xfrm>
        </p:grpSpPr>
        <p:pic>
          <p:nvPicPr>
            <p:cNvPr id="13" name="Picture 1" descr="E:\设计支持\模板设计\ZY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00100" y="3950459"/>
              <a:ext cx="463239" cy="414475"/>
            </a:xfrm>
            <a:prstGeom prst="rect">
              <a:avLst/>
            </a:prstGeom>
            <a:noFill/>
          </p:spPr>
        </p:pic>
        <p:sp>
          <p:nvSpPr>
            <p:cNvPr id="14" name="TextBox 13"/>
            <p:cNvSpPr txBox="1"/>
            <p:nvPr/>
          </p:nvSpPr>
          <p:spPr>
            <a:xfrm>
              <a:off x="1357290" y="3957641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注意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360538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2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338" grpId="0" animBg="1"/>
      <p:bldP spid="526340" grpId="0" animBg="1"/>
      <p:bldP spid="526344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4" name="AutoShape 4"/>
          <p:cNvSpPr>
            <a:spLocks noChangeArrowheads="1"/>
          </p:cNvSpPr>
          <p:nvPr/>
        </p:nvSpPr>
        <p:spPr bwMode="auto">
          <a:xfrm>
            <a:off x="522288" y="2000240"/>
            <a:ext cx="8458200" cy="4053417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public static void main(String[ ] args) {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    Scanner input = new Scanner(System.in);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    System.out.print("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请输入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Java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成绩：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");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    int java = input.nextInt();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    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//……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    /*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计算并显示输出*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/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    int total = java + c + db;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    double avg = total / 3;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    System.out.print("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总成绩：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" + total);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            System.out.print("\n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平均分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: " + avg);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}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5120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面向对象的</a:t>
            </a:r>
            <a:r>
              <a:rPr lang="zh-CN" altLang="en-US" b="1" dirty="0" smtClean="0"/>
              <a:t>编程（</a:t>
            </a:r>
            <a:r>
              <a:rPr lang="en-US" altLang="zh-CN" b="1" dirty="0" smtClean="0"/>
              <a:t>OOP</a:t>
            </a:r>
            <a:r>
              <a:rPr lang="zh-CN" altLang="en-US" b="1" dirty="0" smtClean="0"/>
              <a:t>）</a:t>
            </a:r>
            <a:endParaRPr lang="zh-CN" altLang="en-US" b="1" dirty="0"/>
          </a:p>
        </p:txBody>
      </p:sp>
      <p:sp>
        <p:nvSpPr>
          <p:cNvPr id="5120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ScoreCalc</a:t>
            </a:r>
            <a:r>
              <a:rPr lang="zh-CN" altLang="en-US" dirty="0"/>
              <a:t>类 和</a:t>
            </a:r>
            <a:r>
              <a:rPr lang="zh-CN" altLang="en-US" dirty="0">
                <a:solidFill>
                  <a:srgbClr val="FF0066"/>
                </a:solidFill>
              </a:rPr>
              <a:t> </a:t>
            </a:r>
            <a:r>
              <a:rPr lang="en-US" altLang="zh-CN" dirty="0"/>
              <a:t>Test</a:t>
            </a:r>
            <a:r>
              <a:rPr lang="zh-CN" altLang="en-US" dirty="0"/>
              <a:t>类</a:t>
            </a:r>
          </a:p>
        </p:txBody>
      </p:sp>
      <p:sp>
        <p:nvSpPr>
          <p:cNvPr id="512005" name="Rectangle 5"/>
          <p:cNvSpPr>
            <a:spLocks noChangeArrowheads="1"/>
          </p:cNvSpPr>
          <p:nvPr/>
        </p:nvSpPr>
        <p:spPr bwMode="auto">
          <a:xfrm>
            <a:off x="1254131" y="3786190"/>
            <a:ext cx="4175125" cy="1785950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977894" y="2184417"/>
            <a:ext cx="2736850" cy="3673475"/>
            <a:chOff x="612" y="1344"/>
            <a:chExt cx="1724" cy="2314"/>
          </a:xfrm>
        </p:grpSpPr>
        <p:sp>
          <p:nvSpPr>
            <p:cNvPr id="512008" name="AutoShape 8"/>
            <p:cNvSpPr>
              <a:spLocks noChangeArrowheads="1"/>
            </p:cNvSpPr>
            <p:nvPr/>
          </p:nvSpPr>
          <p:spPr bwMode="auto">
            <a:xfrm>
              <a:off x="612" y="1344"/>
              <a:ext cx="1724" cy="2314"/>
            </a:xfrm>
            <a:prstGeom prst="roundRect">
              <a:avLst>
                <a:gd name="adj" fmla="val 0"/>
              </a:avLst>
            </a:prstGeom>
            <a:solidFill>
              <a:srgbClr val="E4FCE4"/>
            </a:solidFill>
            <a:ln w="19050" algn="ctr">
              <a:solidFill>
                <a:srgbClr val="00B0F0"/>
              </a:solidFill>
              <a:round/>
              <a:headEnd/>
              <a:tailEnd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 anchorCtr="1"/>
            <a:lstStyle/>
            <a:p>
              <a:pPr algn="l" defTabSz="723900" eaLnBrk="0" hangingPunct="0">
                <a:lnSpc>
                  <a:spcPct val="130000"/>
                </a:lnSpc>
                <a:buClr>
                  <a:schemeClr val="folHlink"/>
                </a:buClr>
                <a:buSzPct val="60000"/>
                <a:tabLst>
                  <a:tab pos="444500" algn="l"/>
                </a:tabLst>
                <a:defRPr/>
              </a:pPr>
              <a:r>
                <a:rPr lang="en-US" altLang="zh-CN" b="1"/>
                <a:t>calcDiffTime</a:t>
              </a:r>
            </a:p>
          </p:txBody>
        </p:sp>
        <p:sp>
          <p:nvSpPr>
            <p:cNvPr id="512009" name="AutoShape 9"/>
            <p:cNvSpPr>
              <a:spLocks noChangeArrowheads="1"/>
            </p:cNvSpPr>
            <p:nvPr/>
          </p:nvSpPr>
          <p:spPr bwMode="auto">
            <a:xfrm>
              <a:off x="657" y="1934"/>
              <a:ext cx="1497" cy="272"/>
            </a:xfrm>
            <a:prstGeom prst="roundRect">
              <a:avLst>
                <a:gd name="adj" fmla="val 16667"/>
              </a:avLst>
            </a:prstGeom>
            <a:solidFill>
              <a:srgbClr val="E4FCE4"/>
            </a:solidFill>
            <a:ln w="19050" algn="ctr">
              <a:solidFill>
                <a:srgbClr val="00B0F0"/>
              </a:solidFill>
              <a:round/>
              <a:headEnd/>
              <a:tailEnd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 anchorCtr="1"/>
            <a:lstStyle/>
            <a:p>
              <a:pPr algn="l" defTabSz="723900" eaLnBrk="0" hangingPunct="0">
                <a:lnSpc>
                  <a:spcPct val="130000"/>
                </a:lnSpc>
                <a:buClr>
                  <a:schemeClr val="folHlink"/>
                </a:buClr>
                <a:buSzPct val="60000"/>
                <a:tabLst>
                  <a:tab pos="444500" algn="l"/>
                </a:tabLst>
                <a:defRPr/>
              </a:pPr>
              <a:r>
                <a:rPr lang="en-US" altLang="zh-CN" b="1"/>
                <a:t>calcTotalScore()</a:t>
              </a:r>
            </a:p>
          </p:txBody>
        </p:sp>
        <p:sp>
          <p:nvSpPr>
            <p:cNvPr id="512010" name="Rectangle 10"/>
            <p:cNvSpPr>
              <a:spLocks noChangeArrowheads="1"/>
            </p:cNvSpPr>
            <p:nvPr/>
          </p:nvSpPr>
          <p:spPr bwMode="auto">
            <a:xfrm>
              <a:off x="671" y="1480"/>
              <a:ext cx="1452" cy="363"/>
            </a:xfrm>
            <a:prstGeom prst="rect">
              <a:avLst/>
            </a:prstGeom>
            <a:noFill/>
            <a:ln w="19050" algn="ctr">
              <a:noFill/>
              <a:round/>
              <a:headEnd/>
              <a:tailEnd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 anchorCtr="1"/>
            <a:lstStyle/>
            <a:p>
              <a:pPr algn="l" defTabSz="723900" eaLnBrk="0" hangingPunct="0">
                <a:lnSpc>
                  <a:spcPct val="130000"/>
                </a:lnSpc>
                <a:buClr>
                  <a:schemeClr val="folHlink"/>
                </a:buClr>
                <a:buSzPct val="60000"/>
                <a:tabLst>
                  <a:tab pos="444500" algn="l"/>
                </a:tabLst>
                <a:defRPr/>
              </a:pPr>
              <a:r>
                <a:rPr lang="en-US" altLang="zh-CN" b="1" dirty="0" err="1"/>
                <a:t>ScoreCalc</a:t>
              </a:r>
              <a:endParaRPr lang="en-US" altLang="zh-CN" b="1" dirty="0"/>
            </a:p>
          </p:txBody>
        </p:sp>
        <p:sp>
          <p:nvSpPr>
            <p:cNvPr id="512011" name="AutoShape 11"/>
            <p:cNvSpPr>
              <a:spLocks noChangeArrowheads="1"/>
            </p:cNvSpPr>
            <p:nvPr/>
          </p:nvSpPr>
          <p:spPr bwMode="auto">
            <a:xfrm>
              <a:off x="657" y="2387"/>
              <a:ext cx="1497" cy="318"/>
            </a:xfrm>
            <a:prstGeom prst="roundRect">
              <a:avLst>
                <a:gd name="adj" fmla="val 16667"/>
              </a:avLst>
            </a:prstGeom>
            <a:solidFill>
              <a:srgbClr val="E4FCE4"/>
            </a:solidFill>
            <a:ln w="19050" algn="ctr">
              <a:solidFill>
                <a:srgbClr val="00B0F0"/>
              </a:solidFill>
              <a:round/>
              <a:headEnd/>
              <a:tailEnd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 anchorCtr="1"/>
            <a:lstStyle/>
            <a:p>
              <a:pPr algn="l" defTabSz="723900" eaLnBrk="0" hangingPunct="0">
                <a:lnSpc>
                  <a:spcPct val="130000"/>
                </a:lnSpc>
                <a:buClr>
                  <a:schemeClr val="folHlink"/>
                </a:buClr>
                <a:buSzPct val="60000"/>
                <a:tabLst>
                  <a:tab pos="444500" algn="l"/>
                </a:tabLst>
                <a:defRPr/>
              </a:pPr>
              <a:r>
                <a:rPr lang="en-US" altLang="zh-CN" b="1"/>
                <a:t>showTotalScore()</a:t>
              </a:r>
            </a:p>
          </p:txBody>
        </p:sp>
        <p:sp>
          <p:nvSpPr>
            <p:cNvPr id="512012" name="AutoShape 12"/>
            <p:cNvSpPr>
              <a:spLocks noChangeArrowheads="1"/>
            </p:cNvSpPr>
            <p:nvPr/>
          </p:nvSpPr>
          <p:spPr bwMode="auto">
            <a:xfrm>
              <a:off x="657" y="2841"/>
              <a:ext cx="1497" cy="272"/>
            </a:xfrm>
            <a:prstGeom prst="roundRect">
              <a:avLst>
                <a:gd name="adj" fmla="val 16667"/>
              </a:avLst>
            </a:prstGeom>
            <a:solidFill>
              <a:srgbClr val="E4FCE4"/>
            </a:solidFill>
            <a:ln w="19050" algn="ctr">
              <a:solidFill>
                <a:srgbClr val="00B0F0"/>
              </a:solidFill>
              <a:round/>
              <a:headEnd/>
              <a:tailEnd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 anchorCtr="1"/>
            <a:lstStyle/>
            <a:p>
              <a:pPr algn="l" defTabSz="723900" eaLnBrk="0" hangingPunct="0">
                <a:lnSpc>
                  <a:spcPct val="130000"/>
                </a:lnSpc>
                <a:buClr>
                  <a:schemeClr val="folHlink"/>
                </a:buClr>
                <a:buSzPct val="60000"/>
                <a:tabLst>
                  <a:tab pos="444500" algn="l"/>
                </a:tabLst>
                <a:defRPr/>
              </a:pPr>
              <a:r>
                <a:rPr lang="en-US" altLang="zh-CN" b="1" dirty="0" err="1"/>
                <a:t>calcAvg</a:t>
              </a:r>
              <a:r>
                <a:rPr lang="en-US" altLang="zh-CN" b="1" dirty="0"/>
                <a:t>()</a:t>
              </a:r>
            </a:p>
          </p:txBody>
        </p:sp>
        <p:sp>
          <p:nvSpPr>
            <p:cNvPr id="512013" name="AutoShape 13"/>
            <p:cNvSpPr>
              <a:spLocks noChangeArrowheads="1"/>
            </p:cNvSpPr>
            <p:nvPr/>
          </p:nvSpPr>
          <p:spPr bwMode="auto">
            <a:xfrm>
              <a:off x="657" y="3295"/>
              <a:ext cx="1497" cy="272"/>
            </a:xfrm>
            <a:prstGeom prst="roundRect">
              <a:avLst>
                <a:gd name="adj" fmla="val 16667"/>
              </a:avLst>
            </a:prstGeom>
            <a:solidFill>
              <a:srgbClr val="E4FCE4"/>
            </a:solidFill>
            <a:ln w="19050" algn="ctr">
              <a:solidFill>
                <a:srgbClr val="00B0F0"/>
              </a:solidFill>
              <a:round/>
              <a:headEnd/>
              <a:tailEnd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 anchorCtr="1"/>
            <a:lstStyle/>
            <a:p>
              <a:pPr algn="l" defTabSz="723900" eaLnBrk="0" hangingPunct="0">
                <a:lnSpc>
                  <a:spcPct val="130000"/>
                </a:lnSpc>
                <a:buClr>
                  <a:schemeClr val="folHlink"/>
                </a:buClr>
                <a:buSzPct val="60000"/>
                <a:tabLst>
                  <a:tab pos="444500" algn="l"/>
                </a:tabLst>
                <a:defRPr/>
              </a:pPr>
              <a:r>
                <a:rPr lang="en-US" altLang="zh-CN" b="1" dirty="0" err="1"/>
                <a:t>showAvg</a:t>
              </a:r>
              <a:r>
                <a:rPr lang="en-US" altLang="zh-CN" b="1" dirty="0"/>
                <a:t>()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5643570" y="2184416"/>
            <a:ext cx="3168650" cy="3673476"/>
            <a:chOff x="3379" y="1344"/>
            <a:chExt cx="1996" cy="2314"/>
          </a:xfrm>
        </p:grpSpPr>
        <p:sp>
          <p:nvSpPr>
            <p:cNvPr id="512015" name="AutoShape 15"/>
            <p:cNvSpPr>
              <a:spLocks noChangeArrowheads="1"/>
            </p:cNvSpPr>
            <p:nvPr/>
          </p:nvSpPr>
          <p:spPr bwMode="auto">
            <a:xfrm>
              <a:off x="3379" y="1344"/>
              <a:ext cx="1996" cy="2314"/>
            </a:xfrm>
            <a:prstGeom prst="roundRect">
              <a:avLst>
                <a:gd name="adj" fmla="val 1386"/>
              </a:avLst>
            </a:prstGeom>
            <a:solidFill>
              <a:srgbClr val="E4FCE4"/>
            </a:solidFill>
            <a:ln w="19050" algn="ctr">
              <a:solidFill>
                <a:srgbClr val="00B0F0"/>
              </a:solidFill>
              <a:round/>
              <a:headEnd/>
              <a:tailEnd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 anchorCtr="1"/>
            <a:lstStyle/>
            <a:p>
              <a:pPr algn="l" defTabSz="723900" eaLnBrk="0" hangingPunct="0">
                <a:lnSpc>
                  <a:spcPct val="130000"/>
                </a:lnSpc>
                <a:buClr>
                  <a:schemeClr val="folHlink"/>
                </a:buClr>
                <a:buSzPct val="60000"/>
                <a:tabLst>
                  <a:tab pos="444500" algn="l"/>
                </a:tabLst>
                <a:defRPr/>
              </a:pPr>
              <a:endParaRPr lang="zh-CN" altLang="en-US" b="1" dirty="0" err="1"/>
            </a:p>
          </p:txBody>
        </p:sp>
        <p:sp>
          <p:nvSpPr>
            <p:cNvPr id="512016" name="AutoShape 16"/>
            <p:cNvSpPr>
              <a:spLocks noChangeArrowheads="1"/>
            </p:cNvSpPr>
            <p:nvPr/>
          </p:nvSpPr>
          <p:spPr bwMode="auto">
            <a:xfrm>
              <a:off x="3424" y="1845"/>
              <a:ext cx="1905" cy="1633"/>
            </a:xfrm>
            <a:prstGeom prst="roundRect">
              <a:avLst>
                <a:gd name="adj" fmla="val 2023"/>
              </a:avLst>
            </a:prstGeom>
            <a:solidFill>
              <a:srgbClr val="E4FCE4"/>
            </a:solidFill>
            <a:ln w="19050" algn="ctr">
              <a:solidFill>
                <a:srgbClr val="00B0F0"/>
              </a:solidFill>
              <a:round/>
              <a:headEnd/>
              <a:tailEnd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 anchorCtr="1"/>
            <a:lstStyle/>
            <a:p>
              <a:pPr algn="l" defTabSz="723900" eaLnBrk="0" hangingPunct="0">
                <a:lnSpc>
                  <a:spcPct val="130000"/>
                </a:lnSpc>
                <a:buClr>
                  <a:schemeClr val="folHlink"/>
                </a:buClr>
                <a:buSzPct val="60000"/>
                <a:tabLst>
                  <a:tab pos="444500" algn="l"/>
                </a:tabLst>
                <a:defRPr/>
              </a:pPr>
              <a:r>
                <a:rPr lang="zh-CN" altLang="en-US" b="1" dirty="0"/>
                <a:t> </a:t>
              </a:r>
              <a:r>
                <a:rPr lang="en-US" altLang="zh-CN" b="1" dirty="0"/>
                <a:t>main(){    //</a:t>
              </a:r>
              <a:r>
                <a:rPr lang="zh-CN" altLang="en-US" b="1" dirty="0"/>
                <a:t>程序入口</a:t>
              </a:r>
            </a:p>
            <a:p>
              <a:pPr algn="l" defTabSz="723900" eaLnBrk="0" hangingPunct="0">
                <a:lnSpc>
                  <a:spcPct val="130000"/>
                </a:lnSpc>
                <a:buClr>
                  <a:schemeClr val="folHlink"/>
                </a:buClr>
                <a:buSzPct val="60000"/>
                <a:tabLst>
                  <a:tab pos="444500" algn="l"/>
                </a:tabLst>
                <a:defRPr/>
              </a:pPr>
              <a:r>
                <a:rPr lang="zh-CN" altLang="en-US" b="1" dirty="0"/>
                <a:t>  </a:t>
              </a:r>
              <a:r>
                <a:rPr lang="zh-CN" altLang="en-US" b="1" dirty="0" smtClean="0"/>
                <a:t>   </a:t>
              </a:r>
              <a:r>
                <a:rPr lang="en-US" altLang="zh-CN" b="1" dirty="0"/>
                <a:t>//</a:t>
              </a:r>
              <a:r>
                <a:rPr lang="zh-CN" altLang="en-US" b="1" dirty="0"/>
                <a:t>计算并输出总成绩    </a:t>
              </a:r>
            </a:p>
            <a:p>
              <a:pPr algn="l" defTabSz="723900" eaLnBrk="0" hangingPunct="0">
                <a:lnSpc>
                  <a:spcPct val="130000"/>
                </a:lnSpc>
                <a:buClr>
                  <a:schemeClr val="folHlink"/>
                </a:buClr>
                <a:buSzPct val="60000"/>
                <a:tabLst>
                  <a:tab pos="444500" algn="l"/>
                </a:tabLst>
                <a:defRPr/>
              </a:pPr>
              <a:r>
                <a:rPr lang="zh-CN" altLang="en-US" b="1" dirty="0"/>
                <a:t>                   </a:t>
              </a:r>
            </a:p>
            <a:p>
              <a:pPr algn="l" defTabSz="723900" eaLnBrk="0" hangingPunct="0">
                <a:lnSpc>
                  <a:spcPct val="130000"/>
                </a:lnSpc>
                <a:buClr>
                  <a:schemeClr val="folHlink"/>
                </a:buClr>
                <a:buSzPct val="60000"/>
                <a:tabLst>
                  <a:tab pos="444500" algn="l"/>
                </a:tabLst>
                <a:defRPr/>
              </a:pPr>
              <a:r>
                <a:rPr lang="en-US" altLang="zh-CN" b="1" dirty="0" smtClean="0"/>
                <a:t>    //</a:t>
              </a:r>
              <a:r>
                <a:rPr lang="zh-CN" altLang="en-US" b="1" dirty="0"/>
                <a:t>计算并输出平均分</a:t>
              </a:r>
            </a:p>
            <a:p>
              <a:pPr algn="l" defTabSz="723900" eaLnBrk="0" hangingPunct="0">
                <a:lnSpc>
                  <a:spcPct val="130000"/>
                </a:lnSpc>
                <a:buClr>
                  <a:schemeClr val="folHlink"/>
                </a:buClr>
                <a:buSzPct val="60000"/>
                <a:tabLst>
                  <a:tab pos="444500" algn="l"/>
                </a:tabLst>
                <a:defRPr/>
              </a:pPr>
              <a:r>
                <a:rPr lang="zh-CN" altLang="en-US" b="1" dirty="0"/>
                <a:t>                   </a:t>
              </a:r>
            </a:p>
            <a:p>
              <a:pPr algn="l" defTabSz="723900" eaLnBrk="0" hangingPunct="0">
                <a:lnSpc>
                  <a:spcPct val="130000"/>
                </a:lnSpc>
                <a:buClr>
                  <a:schemeClr val="folHlink"/>
                </a:buClr>
                <a:buSzPct val="60000"/>
                <a:tabLst>
                  <a:tab pos="444500" algn="l"/>
                </a:tabLst>
                <a:defRPr/>
              </a:pPr>
              <a:r>
                <a:rPr lang="en-US" altLang="zh-CN" b="1" dirty="0" smtClean="0"/>
                <a:t>}</a:t>
              </a:r>
              <a:endParaRPr lang="en-US" altLang="zh-CN" b="1" dirty="0"/>
            </a:p>
            <a:p>
              <a:pPr algn="l" defTabSz="723900" eaLnBrk="0" hangingPunct="0">
                <a:lnSpc>
                  <a:spcPct val="130000"/>
                </a:lnSpc>
                <a:buClr>
                  <a:schemeClr val="folHlink"/>
                </a:buClr>
                <a:buSzPct val="60000"/>
                <a:tabLst>
                  <a:tab pos="444500" algn="l"/>
                </a:tabLst>
                <a:defRPr/>
              </a:pPr>
              <a:endParaRPr lang="zh-CN" altLang="en-US" b="1" dirty="0"/>
            </a:p>
          </p:txBody>
        </p:sp>
        <p:sp>
          <p:nvSpPr>
            <p:cNvPr id="512017" name="Rectangle 17"/>
            <p:cNvSpPr>
              <a:spLocks noChangeArrowheads="1"/>
            </p:cNvSpPr>
            <p:nvPr/>
          </p:nvSpPr>
          <p:spPr bwMode="auto">
            <a:xfrm>
              <a:off x="3560" y="1435"/>
              <a:ext cx="1361" cy="363"/>
            </a:xfrm>
            <a:prstGeom prst="rect">
              <a:avLst/>
            </a:prstGeom>
            <a:noFill/>
            <a:ln w="19050" algn="ctr">
              <a:noFill/>
              <a:round/>
              <a:headEnd/>
              <a:tailEnd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 anchorCtr="1"/>
            <a:lstStyle/>
            <a:p>
              <a:pPr algn="l" defTabSz="723900" eaLnBrk="0" hangingPunct="0">
                <a:lnSpc>
                  <a:spcPct val="130000"/>
                </a:lnSpc>
                <a:buClr>
                  <a:schemeClr val="folHlink"/>
                </a:buClr>
                <a:buSzPct val="60000"/>
                <a:tabLst>
                  <a:tab pos="444500" algn="l"/>
                </a:tabLst>
                <a:defRPr/>
              </a:pPr>
              <a:r>
                <a:rPr lang="en-US" altLang="zh-CN" b="1" dirty="0" err="1"/>
                <a:t>Test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3419475" y="4500570"/>
            <a:ext cx="4105275" cy="936625"/>
            <a:chOff x="2154" y="2795"/>
            <a:chExt cx="2586" cy="590"/>
          </a:xfrm>
        </p:grpSpPr>
        <p:sp>
          <p:nvSpPr>
            <p:cNvPr id="512019" name="Text Box 19"/>
            <p:cNvSpPr txBox="1">
              <a:spLocks noChangeArrowheads="1"/>
            </p:cNvSpPr>
            <p:nvPr/>
          </p:nvSpPr>
          <p:spPr bwMode="auto">
            <a:xfrm>
              <a:off x="4241" y="2795"/>
              <a:ext cx="499" cy="231"/>
            </a:xfrm>
            <a:prstGeom prst="rect">
              <a:avLst/>
            </a:prstGeom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ea typeface="黑体" pitchFamily="2" charset="-122"/>
                </a:rPr>
                <a:t>调用</a:t>
              </a:r>
            </a:p>
          </p:txBody>
        </p:sp>
        <p:sp>
          <p:nvSpPr>
            <p:cNvPr id="512020" name="Line 20"/>
            <p:cNvSpPr>
              <a:spLocks noChangeShapeType="1"/>
            </p:cNvSpPr>
            <p:nvPr/>
          </p:nvSpPr>
          <p:spPr bwMode="auto">
            <a:xfrm flipH="1">
              <a:off x="2154" y="2931"/>
              <a:ext cx="2132" cy="454"/>
            </a:xfrm>
            <a:prstGeom prst="line">
              <a:avLst/>
            </a:prstGeom>
            <a:ln cmpd="sng">
              <a:solidFill>
                <a:schemeClr val="accent5">
                  <a:lumMod val="50000"/>
                </a:schemeClr>
              </a:solidFill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3419475" y="3711581"/>
            <a:ext cx="4032250" cy="503237"/>
            <a:chOff x="2154" y="2251"/>
            <a:chExt cx="2540" cy="317"/>
          </a:xfrm>
        </p:grpSpPr>
        <p:sp>
          <p:nvSpPr>
            <p:cNvPr id="512022" name="Text Box 22"/>
            <p:cNvSpPr txBox="1">
              <a:spLocks noChangeArrowheads="1"/>
            </p:cNvSpPr>
            <p:nvPr/>
          </p:nvSpPr>
          <p:spPr bwMode="auto">
            <a:xfrm>
              <a:off x="4286" y="2251"/>
              <a:ext cx="408" cy="231"/>
            </a:xfrm>
            <a:prstGeom prst="rect">
              <a:avLst/>
            </a:prstGeom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b="1" dirty="0">
                  <a:ea typeface="黑体" pitchFamily="2" charset="-122"/>
                </a:rPr>
                <a:t>调用</a:t>
              </a:r>
            </a:p>
          </p:txBody>
        </p:sp>
        <p:sp>
          <p:nvSpPr>
            <p:cNvPr id="512023" name="Line 23"/>
            <p:cNvSpPr>
              <a:spLocks noChangeShapeType="1"/>
            </p:cNvSpPr>
            <p:nvPr/>
          </p:nvSpPr>
          <p:spPr bwMode="auto">
            <a:xfrm flipH="1">
              <a:off x="2154" y="2341"/>
              <a:ext cx="2132" cy="227"/>
            </a:xfrm>
            <a:prstGeom prst="line">
              <a:avLst/>
            </a:prstGeom>
            <a:ln cmpd="sng">
              <a:solidFill>
                <a:schemeClr val="accent5">
                  <a:lumMod val="50000"/>
                </a:schemeClr>
              </a:solidFill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1503271" y="3429809"/>
            <a:ext cx="5854662" cy="1311337"/>
            <a:chOff x="1115" y="1775"/>
            <a:chExt cx="5137" cy="745"/>
          </a:xfrm>
        </p:grpSpPr>
        <p:sp>
          <p:nvSpPr>
            <p:cNvPr id="512025" name="AutoShape 25"/>
            <p:cNvSpPr>
              <a:spLocks noChangeArrowheads="1"/>
            </p:cNvSpPr>
            <p:nvPr/>
          </p:nvSpPr>
          <p:spPr bwMode="auto">
            <a:xfrm>
              <a:off x="1115" y="1775"/>
              <a:ext cx="5137" cy="745"/>
            </a:xfrm>
            <a:prstGeom prst="roundRect">
              <a:avLst>
                <a:gd name="adj" fmla="val 0"/>
              </a:avLst>
            </a:prstGeom>
            <a:solidFill>
              <a:srgbClr val="0070C0"/>
            </a:solidFill>
            <a:ln w="9525" cap="flat" cmpd="sng" algn="ctr">
              <a:solidFill>
                <a:schemeClr val="accent3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anchor="ctr" anchorCtr="0">
              <a:spAutoFit/>
            </a:bodyPr>
            <a:lstStyle/>
            <a:p>
              <a:pPr marL="0" lvl="1" algn="l" eaLnBrk="0" hangingPunct="0">
                <a:spcBef>
                  <a:spcPct val="20000"/>
                </a:spcBef>
                <a:buClr>
                  <a:srgbClr val="233DA9"/>
                </a:buClr>
                <a:buSzPct val="80000"/>
                <a:defRPr/>
              </a:pPr>
              <a:endParaRPr lang="zh-CN" altLang="en-US" b="1" kern="0" dirty="0">
                <a:solidFill>
                  <a:schemeClr val="bg1"/>
                </a:solidFill>
                <a:latin typeface="Arial"/>
                <a:ea typeface="黑体"/>
              </a:endParaRPr>
            </a:p>
            <a:p>
              <a:pPr marL="0" lvl="1" algn="l" eaLnBrk="0" hangingPunct="0">
                <a:spcBef>
                  <a:spcPct val="20000"/>
                </a:spcBef>
                <a:buClr>
                  <a:srgbClr val="233DA9"/>
                </a:buClr>
                <a:buSzPct val="80000"/>
                <a:defRPr/>
              </a:pPr>
              <a:endParaRPr lang="en-US" altLang="zh-CN" b="1" kern="0" dirty="0" smtClean="0">
                <a:solidFill>
                  <a:schemeClr val="bg1"/>
                </a:solidFill>
                <a:latin typeface="Arial"/>
                <a:ea typeface="黑体"/>
              </a:endParaRPr>
            </a:p>
            <a:p>
              <a:pPr marL="0" lvl="1" algn="l" eaLnBrk="0" hangingPunct="0">
                <a:spcBef>
                  <a:spcPct val="20000"/>
                </a:spcBef>
                <a:buClr>
                  <a:srgbClr val="233DA9"/>
                </a:buClr>
                <a:buSzPct val="80000"/>
                <a:defRPr/>
              </a:pPr>
              <a:r>
                <a:rPr lang="zh-CN" altLang="en-US" b="1" kern="0" dirty="0" smtClean="0">
                  <a:solidFill>
                    <a:schemeClr val="bg1"/>
                  </a:solidFill>
                  <a:latin typeface="Arial"/>
                  <a:ea typeface="黑体"/>
                </a:rPr>
                <a:t>类</a:t>
              </a:r>
              <a:r>
                <a:rPr lang="zh-CN" altLang="en-US" b="1" kern="0" dirty="0">
                  <a:solidFill>
                    <a:schemeClr val="bg1"/>
                  </a:solidFill>
                  <a:latin typeface="Arial"/>
                  <a:ea typeface="黑体"/>
                </a:rPr>
                <a:t>的方法实现某个特定的功能</a:t>
              </a:r>
              <a:r>
                <a:rPr lang="zh-CN" altLang="en-US" b="1" kern="0" dirty="0" smtClean="0">
                  <a:solidFill>
                    <a:schemeClr val="bg1"/>
                  </a:solidFill>
                  <a:latin typeface="Arial"/>
                  <a:ea typeface="黑体"/>
                </a:rPr>
                <a:t>，其他</a:t>
              </a:r>
              <a:r>
                <a:rPr lang="zh-CN" altLang="en-US" b="1" kern="0" dirty="0">
                  <a:solidFill>
                    <a:schemeClr val="bg1"/>
                  </a:solidFill>
                  <a:latin typeface="Arial"/>
                  <a:ea typeface="黑体"/>
                </a:rPr>
                <a:t>类不需要知道它如何</a:t>
              </a:r>
              <a:r>
                <a:rPr lang="zh-CN" altLang="en-US" b="1" kern="0" dirty="0" smtClean="0">
                  <a:solidFill>
                    <a:schemeClr val="bg1"/>
                  </a:solidFill>
                  <a:latin typeface="Arial"/>
                  <a:ea typeface="黑体"/>
                </a:rPr>
                <a:t>实现，调用方法就可以了，</a:t>
              </a:r>
              <a:r>
                <a:rPr lang="zh-CN" altLang="en-US" b="1" kern="0" dirty="0">
                  <a:solidFill>
                    <a:schemeClr val="bg1"/>
                  </a:solidFill>
                  <a:latin typeface="Arial"/>
                  <a:ea typeface="黑体"/>
                </a:rPr>
                <a:t>不用重复写代码！                                    </a:t>
              </a:r>
            </a:p>
          </p:txBody>
        </p:sp>
        <p:sp>
          <p:nvSpPr>
            <p:cNvPr id="512026" name="WordArt 26"/>
            <p:cNvSpPr>
              <a:spLocks noChangeArrowheads="1" noChangeShapeType="1" noTextEdit="1"/>
            </p:cNvSpPr>
            <p:nvPr/>
          </p:nvSpPr>
          <p:spPr bwMode="auto">
            <a:xfrm>
              <a:off x="1266" y="1815"/>
              <a:ext cx="3294" cy="297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chemeClr val="accent3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anchor="ctr" anchorCtr="0">
              <a:spAutoFit/>
            </a:bodyPr>
            <a:lstStyle/>
            <a:p>
              <a:pPr marL="0" lvl="1" algn="l" eaLnBrk="0" hangingPunct="0">
                <a:spcBef>
                  <a:spcPct val="20000"/>
                </a:spcBef>
                <a:buClr>
                  <a:srgbClr val="233DA9"/>
                </a:buClr>
                <a:buSzPct val="80000"/>
                <a:defRPr/>
              </a:pPr>
              <a:r>
                <a:rPr lang="zh-CN" altLang="en-US" sz="2800" b="1" kern="0" dirty="0">
                  <a:solidFill>
                    <a:schemeClr val="bg1"/>
                  </a:solidFill>
                  <a:latin typeface="Arial"/>
                  <a:ea typeface="黑体"/>
                </a:rPr>
                <a:t>面向对象（</a:t>
              </a:r>
              <a:r>
                <a:rPr lang="en-US" altLang="zh-CN" sz="2800" b="1" kern="0" dirty="0">
                  <a:solidFill>
                    <a:schemeClr val="bg1"/>
                  </a:solidFill>
                  <a:latin typeface="Arial"/>
                  <a:ea typeface="黑体"/>
                </a:rPr>
                <a:t>OO</a:t>
              </a:r>
              <a:r>
                <a:rPr lang="zh-CN" altLang="en-US" sz="2800" b="1" kern="0" dirty="0">
                  <a:solidFill>
                    <a:schemeClr val="bg1"/>
                  </a:solidFill>
                  <a:latin typeface="Arial"/>
                  <a:ea typeface="黑体"/>
                </a:rPr>
                <a:t>）思想</a:t>
              </a:r>
            </a:p>
          </p:txBody>
        </p:sp>
      </p:grpSp>
      <p:sp>
        <p:nvSpPr>
          <p:cNvPr id="28" name="灯片编号占位符 2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40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  <p:sp>
        <p:nvSpPr>
          <p:cNvPr id="512006" name="AutoShape 6"/>
          <p:cNvSpPr>
            <a:spLocks noChangeArrowheads="1"/>
          </p:cNvSpPr>
          <p:nvPr/>
        </p:nvSpPr>
        <p:spPr bwMode="gray">
          <a:xfrm>
            <a:off x="6072198" y="3214686"/>
            <a:ext cx="2549525" cy="1021556"/>
          </a:xfrm>
          <a:prstGeom prst="wedgeRoundRectCallout">
            <a:avLst>
              <a:gd name="adj1" fmla="val -51269"/>
              <a:gd name="adj2" fmla="val 23310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如果还要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再执行这个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功能，难道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还要重复再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写一遍？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1563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04" grpId="0" animBg="1"/>
      <p:bldP spid="512004" grpId="1" animBg="1"/>
      <p:bldP spid="512005" grpId="0" animBg="1"/>
      <p:bldP spid="512005" grpId="1" animBg="1"/>
      <p:bldP spid="512006" grpId="0" animBg="1"/>
      <p:bldP spid="512006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171434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本章目标</a:t>
            </a:r>
          </a:p>
        </p:txBody>
      </p:sp>
      <p:sp>
        <p:nvSpPr>
          <p:cNvPr id="49152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会定义和使用类的方法</a:t>
            </a:r>
          </a:p>
          <a:p>
            <a:r>
              <a:rPr lang="zh-CN" altLang="en-US" dirty="0"/>
              <a:t>理解变量作用域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会添加</a:t>
            </a:r>
            <a:r>
              <a:rPr lang="en-US" altLang="zh-CN" dirty="0" err="1">
                <a:solidFill>
                  <a:srgbClr val="FF0000"/>
                </a:solidFill>
              </a:rPr>
              <a:t>JavaDoc</a:t>
            </a:r>
            <a:r>
              <a:rPr lang="zh-CN" altLang="en-US" dirty="0">
                <a:solidFill>
                  <a:srgbClr val="FF0000"/>
                </a:solidFill>
              </a:rPr>
              <a:t>注释</a:t>
            </a:r>
          </a:p>
        </p:txBody>
      </p:sp>
      <p:pic>
        <p:nvPicPr>
          <p:cNvPr id="4" name="Picture 2" descr="C:\Users\meng.zhang\Desktop\ACCP7.0模版图标规范\啊-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00357" y="1137592"/>
            <a:ext cx="643477" cy="648334"/>
          </a:xfrm>
          <a:prstGeom prst="rect">
            <a:avLst/>
          </a:prstGeom>
          <a:noFill/>
        </p:spPr>
      </p:pic>
      <p:pic>
        <p:nvPicPr>
          <p:cNvPr id="6" name="Picture 3" descr="C:\Users\meng.zhang\Desktop\ACCP7.0模版图标规范\是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5074" y="1066154"/>
            <a:ext cx="714380" cy="719772"/>
          </a:xfrm>
          <a:prstGeom prst="rect">
            <a:avLst/>
          </a:prstGeom>
          <a:noFill/>
        </p:spPr>
      </p:pic>
      <p:sp>
        <p:nvSpPr>
          <p:cNvPr id="8" name="灯片编号占位符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41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  <p:pic>
        <p:nvPicPr>
          <p:cNvPr id="9" name="Picture 3" descr="C:\Users\meng.zhang\Desktop\ACCP7.0模版图标规范\是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5074" y="1637658"/>
            <a:ext cx="714380" cy="7197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37021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171434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b="1" dirty="0" err="1"/>
              <a:t>JavaDoc</a:t>
            </a:r>
            <a:r>
              <a:rPr lang="zh-CN" altLang="en-US" b="1" dirty="0"/>
              <a:t>注释</a:t>
            </a:r>
          </a:p>
        </p:txBody>
      </p:sp>
      <p:sp>
        <p:nvSpPr>
          <p:cNvPr id="5140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回顾学过的注释方式</a:t>
            </a:r>
          </a:p>
          <a:p>
            <a:pPr lvl="1"/>
            <a:r>
              <a:rPr lang="zh-CN" altLang="en-US" dirty="0"/>
              <a:t>单行注释：</a:t>
            </a:r>
            <a:r>
              <a:rPr lang="en-US" altLang="zh-CN" dirty="0"/>
              <a:t>//</a:t>
            </a:r>
            <a:r>
              <a:rPr lang="zh-CN" altLang="en-US" dirty="0"/>
              <a:t>这里是单行注释</a:t>
            </a:r>
          </a:p>
          <a:p>
            <a:pPr lvl="1"/>
            <a:r>
              <a:rPr lang="zh-CN" altLang="en-US" dirty="0"/>
              <a:t>多行注释：</a:t>
            </a:r>
            <a:r>
              <a:rPr lang="en-US" altLang="zh-CN" dirty="0"/>
              <a:t>/*</a:t>
            </a:r>
            <a:r>
              <a:rPr lang="zh-CN" altLang="en-US" dirty="0"/>
              <a:t>这里是多行注释，</a:t>
            </a:r>
            <a:endParaRPr lang="en-US" altLang="zh-CN" dirty="0"/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                         </a:t>
            </a:r>
            <a:r>
              <a:rPr lang="zh-CN" altLang="en-US" dirty="0"/>
              <a:t>可以多行</a:t>
            </a:r>
            <a:r>
              <a:rPr lang="en-US" altLang="zh-CN" dirty="0"/>
              <a:t>*/</a:t>
            </a:r>
          </a:p>
          <a:p>
            <a:r>
              <a:rPr lang="en-US" altLang="zh-CN" dirty="0" err="1"/>
              <a:t>JavaDoc</a:t>
            </a:r>
            <a:r>
              <a:rPr lang="zh-CN" altLang="en-US" dirty="0"/>
              <a:t>注释：使用“</a:t>
            </a:r>
            <a:r>
              <a:rPr lang="en-US" altLang="zh-CN" dirty="0"/>
              <a:t>/**”</a:t>
            </a:r>
            <a:r>
              <a:rPr lang="zh-CN" altLang="en-US" dirty="0"/>
              <a:t>开始和“*</a:t>
            </a:r>
            <a:r>
              <a:rPr lang="en-US" altLang="zh-CN" dirty="0"/>
              <a:t>/”</a:t>
            </a:r>
            <a:r>
              <a:rPr lang="zh-CN" altLang="en-US" dirty="0"/>
              <a:t>结束，用来注释类、属性和方法等</a:t>
            </a:r>
          </a:p>
        </p:txBody>
      </p:sp>
      <p:sp>
        <p:nvSpPr>
          <p:cNvPr id="514052" name="AutoShape 4"/>
          <p:cNvSpPr>
            <a:spLocks noChangeArrowheads="1"/>
          </p:cNvSpPr>
          <p:nvPr/>
        </p:nvSpPr>
        <p:spPr bwMode="auto">
          <a:xfrm>
            <a:off x="908050" y="4116388"/>
            <a:ext cx="7264400" cy="2094190"/>
          </a:xfrm>
          <a:prstGeom prst="roundRect">
            <a:avLst>
              <a:gd name="adj" fmla="val 1385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b="1" dirty="0" smtClean="0">
                <a:solidFill>
                  <a:srgbClr val="0000FF"/>
                </a:solidFill>
              </a:rPr>
              <a:t>/**</a:t>
            </a:r>
          </a:p>
          <a:p>
            <a:pPr algn="l">
              <a:spcBef>
                <a:spcPct val="50000"/>
              </a:spcBef>
            </a:pPr>
            <a:r>
              <a:rPr lang="en-US" altLang="zh-CN" b="1" dirty="0" smtClean="0"/>
              <a:t> </a:t>
            </a:r>
            <a:r>
              <a:rPr lang="en-US" altLang="zh-CN" b="1" dirty="0" smtClean="0">
                <a:solidFill>
                  <a:srgbClr val="0000FF"/>
                </a:solidFill>
              </a:rPr>
              <a:t>*</a:t>
            </a:r>
            <a:r>
              <a:rPr lang="en-US" altLang="zh-CN" b="1" dirty="0" smtClean="0"/>
              <a:t> </a:t>
            </a:r>
            <a:r>
              <a:rPr lang="en-US" altLang="zh-CN" b="1" dirty="0" err="1" smtClean="0"/>
              <a:t>mySchool</a:t>
            </a:r>
            <a:r>
              <a:rPr lang="zh-CN" altLang="en-US" b="1" dirty="0" smtClean="0"/>
              <a:t>类          </a:t>
            </a:r>
          </a:p>
          <a:p>
            <a:pPr algn="l">
              <a:spcBef>
                <a:spcPct val="50000"/>
              </a:spcBef>
            </a:pPr>
            <a:r>
              <a:rPr lang="zh-CN" altLang="en-US" b="1" dirty="0" smtClean="0"/>
              <a:t> </a:t>
            </a:r>
            <a:r>
              <a:rPr lang="zh-CN" altLang="en-US" b="1" dirty="0" smtClean="0">
                <a:solidFill>
                  <a:srgbClr val="0000FF"/>
                </a:solidFill>
              </a:rPr>
              <a:t>*</a:t>
            </a:r>
            <a:r>
              <a:rPr lang="en-US" altLang="zh-CN" b="1" dirty="0" smtClean="0">
                <a:solidFill>
                  <a:srgbClr val="FF3300"/>
                </a:solidFill>
              </a:rPr>
              <a:t>@author</a:t>
            </a:r>
            <a:r>
              <a:rPr lang="en-US" altLang="zh-CN" b="1" dirty="0" smtClean="0"/>
              <a:t> John</a:t>
            </a:r>
          </a:p>
          <a:p>
            <a:pPr algn="l">
              <a:spcBef>
                <a:spcPct val="50000"/>
              </a:spcBef>
            </a:pPr>
            <a:r>
              <a:rPr lang="en-US" altLang="zh-CN" b="1" dirty="0" smtClean="0"/>
              <a:t> </a:t>
            </a:r>
            <a:r>
              <a:rPr lang="en-US" altLang="zh-CN" b="1" dirty="0" smtClean="0">
                <a:solidFill>
                  <a:srgbClr val="0000FF"/>
                </a:solidFill>
              </a:rPr>
              <a:t>*</a:t>
            </a:r>
            <a:r>
              <a:rPr lang="en-US" altLang="zh-CN" b="1" dirty="0" smtClean="0">
                <a:solidFill>
                  <a:srgbClr val="FF3300"/>
                </a:solidFill>
              </a:rPr>
              <a:t>@version</a:t>
            </a:r>
            <a:r>
              <a:rPr lang="en-US" altLang="zh-CN" b="1" dirty="0" smtClean="0"/>
              <a:t>  1.0  2016/06/21</a:t>
            </a:r>
          </a:p>
          <a:p>
            <a:pPr algn="l">
              <a:spcBef>
                <a:spcPct val="50000"/>
              </a:spcBef>
            </a:pPr>
            <a:r>
              <a:rPr lang="en-US" altLang="zh-CN" b="1" dirty="0" smtClean="0">
                <a:solidFill>
                  <a:srgbClr val="0066FF"/>
                </a:solidFill>
              </a:rPr>
              <a:t> </a:t>
            </a:r>
            <a:r>
              <a:rPr lang="en-US" altLang="zh-CN" b="1" dirty="0" smtClean="0">
                <a:solidFill>
                  <a:srgbClr val="0000FF"/>
                </a:solidFill>
              </a:rPr>
              <a:t>*/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514053" name="AutoShape 5"/>
          <p:cNvSpPr>
            <a:spLocks noChangeArrowheads="1"/>
          </p:cNvSpPr>
          <p:nvPr/>
        </p:nvSpPr>
        <p:spPr bwMode="gray">
          <a:xfrm>
            <a:off x="2857488" y="4500570"/>
            <a:ext cx="2051008" cy="408623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描述信息              </a:t>
            </a:r>
          </a:p>
        </p:txBody>
      </p:sp>
      <p:sp>
        <p:nvSpPr>
          <p:cNvPr id="514054" name="AutoShape 6"/>
          <p:cNvSpPr>
            <a:spLocks noChangeArrowheads="1"/>
          </p:cNvSpPr>
          <p:nvPr/>
        </p:nvSpPr>
        <p:spPr bwMode="gray">
          <a:xfrm>
            <a:off x="4500562" y="5000636"/>
            <a:ext cx="3816761" cy="408623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/>
                <a:ea typeface="黑体"/>
              </a:rPr>
              <a:t>@author 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：描述作者信息               </a:t>
            </a:r>
          </a:p>
        </p:txBody>
      </p:sp>
      <p:sp>
        <p:nvSpPr>
          <p:cNvPr id="514055" name="AutoShape 7"/>
          <p:cNvSpPr>
            <a:spLocks noChangeArrowheads="1"/>
          </p:cNvSpPr>
          <p:nvPr/>
        </p:nvSpPr>
        <p:spPr bwMode="gray">
          <a:xfrm>
            <a:off x="3286116" y="5786454"/>
            <a:ext cx="4114566" cy="408623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/>
                <a:ea typeface="黑体"/>
              </a:rPr>
              <a:t>@version 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：描述版本信息                  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42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2691752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4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1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052" grpId="0" animBg="1"/>
      <p:bldP spid="514053" grpId="0" animBg="1"/>
      <p:bldP spid="514054" grpId="0" animBg="1"/>
      <p:bldP spid="51405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171434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添加</a:t>
            </a:r>
            <a:r>
              <a:rPr lang="en-US" altLang="zh-CN" b="1" dirty="0" err="1"/>
              <a:t>JavaDoc</a:t>
            </a:r>
            <a:r>
              <a:rPr lang="zh-CN" altLang="en-US" b="1" dirty="0"/>
              <a:t>注释</a:t>
            </a:r>
          </a:p>
        </p:txBody>
      </p:sp>
      <p:sp>
        <p:nvSpPr>
          <p:cNvPr id="515083" name="Rectangle 1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为</a:t>
            </a:r>
            <a:r>
              <a:rPr lang="en-US" altLang="zh-CN" dirty="0" err="1"/>
              <a:t>ScoreCalc</a:t>
            </a:r>
            <a:r>
              <a:rPr lang="zh-CN" altLang="en-US" dirty="0"/>
              <a:t>类添加</a:t>
            </a:r>
            <a:r>
              <a:rPr lang="en-US" altLang="zh-CN" dirty="0" err="1"/>
              <a:t>JavaDoc</a:t>
            </a:r>
            <a:r>
              <a:rPr lang="zh-CN" altLang="en-US" dirty="0"/>
              <a:t>注释 </a:t>
            </a:r>
          </a:p>
        </p:txBody>
      </p:sp>
      <p:sp>
        <p:nvSpPr>
          <p:cNvPr id="515076" name="AutoShape 4"/>
          <p:cNvSpPr>
            <a:spLocks noChangeArrowheads="1"/>
          </p:cNvSpPr>
          <p:nvPr/>
        </p:nvSpPr>
        <p:spPr bwMode="auto">
          <a:xfrm>
            <a:off x="971550" y="1110537"/>
            <a:ext cx="7848600" cy="5604611"/>
          </a:xfrm>
          <a:prstGeom prst="roundRect">
            <a:avLst>
              <a:gd name="adj" fmla="val 671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/**</a:t>
            </a:r>
          </a:p>
          <a:p>
            <a:pPr algn="l" defTabSz="723900"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 * ScoreCalc类</a:t>
            </a:r>
          </a:p>
          <a:p>
            <a:pPr algn="l" defTabSz="723900"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 * @author </a:t>
            </a:r>
            <a:r>
              <a:rPr lang="zh-CN" altLang="en-US" b="1" dirty="0" smtClean="0">
                <a:solidFill>
                  <a:schemeClr val="accent5">
                    <a:lumMod val="10000"/>
                  </a:schemeClr>
                </a:solidFill>
              </a:rPr>
              <a:t>张小明</a:t>
            </a:r>
            <a:endParaRPr lang="zh-CN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 * @version 2.0 </a:t>
            </a:r>
            <a:r>
              <a:rPr lang="zh-CN" altLang="zh-CN" b="1" dirty="0" smtClean="0">
                <a:solidFill>
                  <a:schemeClr val="accent5">
                    <a:lumMod val="10000"/>
                  </a:schemeClr>
                </a:solidFill>
              </a:rPr>
              <a:t>201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3</a:t>
            </a:r>
            <a:r>
              <a:rPr lang="zh-CN" altLang="zh-CN" b="1" dirty="0" smtClean="0">
                <a:solidFill>
                  <a:schemeClr val="accent5">
                    <a:lumMod val="10000"/>
                  </a:schemeClr>
                </a:solidFill>
              </a:rPr>
              <a:t>/06/01</a:t>
            </a:r>
            <a:endParaRPr lang="zh-CN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 */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public class ScoreCalc {</a:t>
            </a:r>
          </a:p>
          <a:p>
            <a:pPr algn="l" defTabSz="723900"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	/** Java成绩 */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	int java;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</a:rPr>
              <a:t>	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//</a:t>
            </a:r>
            <a:r>
              <a:rPr lang="zh-CN" altLang="zh-CN" b="1" dirty="0" smtClean="0">
                <a:solidFill>
                  <a:schemeClr val="accent5">
                    <a:lumMod val="10000"/>
                  </a:schemeClr>
                </a:solidFill>
              </a:rPr>
              <a:t>...</a:t>
            </a:r>
            <a:endParaRPr lang="zh-CN" altLang="zh-CN" b="1" dirty="0">
              <a:solidFill>
                <a:schemeClr val="accent5">
                  <a:lumMod val="10000"/>
                </a:schemeClr>
              </a:solidFill>
            </a:endParaRPr>
          </a:p>
          <a:p>
            <a:pPr algn="l" defTabSz="723900"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	/**</a:t>
            </a:r>
          </a:p>
          <a:p>
            <a:pPr algn="l" defTabSz="723900"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	 * 计算总成绩</a:t>
            </a:r>
          </a:p>
          <a:p>
            <a:pPr algn="l" defTabSz="723900"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	 * @return total</a:t>
            </a:r>
          </a:p>
          <a:p>
            <a:pPr algn="l" defTabSz="723900"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	 */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	public int calcTotalScore() {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		int total = java + c + db;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		return total;</a:t>
            </a:r>
          </a:p>
          <a:p>
            <a:pPr algn="l" defTabSz="723900">
              <a:lnSpc>
                <a:spcPct val="8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	}</a:t>
            </a:r>
          </a:p>
          <a:p>
            <a:pPr algn="l" defTabSz="723900">
              <a:lnSpc>
                <a:spcPct val="8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	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</a:rPr>
              <a:t>//</a:t>
            </a:r>
            <a:r>
              <a:rPr lang="zh-CN" altLang="zh-CN" b="1" dirty="0" smtClean="0">
                <a:solidFill>
                  <a:schemeClr val="accent5">
                    <a:lumMod val="10000"/>
                  </a:schemeClr>
                </a:solidFill>
              </a:rPr>
              <a:t>.</a:t>
            </a: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..</a:t>
            </a:r>
          </a:p>
          <a:p>
            <a:pPr algn="l" defTabSz="723900">
              <a:lnSpc>
                <a:spcPct val="8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zh-CN" b="1" dirty="0">
                <a:solidFill>
                  <a:schemeClr val="accent5">
                    <a:lumMod val="10000"/>
                  </a:schemeClr>
                </a:solidFill>
              </a:rPr>
              <a:t>}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515085" name="Rectangle 13"/>
          <p:cNvSpPr>
            <a:spLocks noChangeArrowheads="1"/>
          </p:cNvSpPr>
          <p:nvPr/>
        </p:nvSpPr>
        <p:spPr bwMode="auto">
          <a:xfrm>
            <a:off x="1000100" y="1196975"/>
            <a:ext cx="3095625" cy="1295400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15086" name="Rectangle 14"/>
          <p:cNvSpPr>
            <a:spLocks noChangeArrowheads="1"/>
          </p:cNvSpPr>
          <p:nvPr/>
        </p:nvSpPr>
        <p:spPr bwMode="auto">
          <a:xfrm>
            <a:off x="1339842" y="3786190"/>
            <a:ext cx="2089150" cy="1150937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15087" name="Rectangle 15"/>
          <p:cNvSpPr>
            <a:spLocks noChangeArrowheads="1"/>
          </p:cNvSpPr>
          <p:nvPr/>
        </p:nvSpPr>
        <p:spPr bwMode="auto">
          <a:xfrm>
            <a:off x="1339842" y="2857496"/>
            <a:ext cx="2089150" cy="357190"/>
          </a:xfrm>
          <a:prstGeom prst="rect">
            <a:avLst/>
          </a:prstGeom>
          <a:noFill/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15092" name="AutoShape 20"/>
          <p:cNvSpPr>
            <a:spLocks noChangeArrowheads="1"/>
          </p:cNvSpPr>
          <p:nvPr/>
        </p:nvSpPr>
        <p:spPr bwMode="auto">
          <a:xfrm>
            <a:off x="3857620" y="4071942"/>
            <a:ext cx="2318025" cy="408623"/>
          </a:xfrm>
          <a:prstGeom prst="wedgeRoundRectCallout">
            <a:avLst>
              <a:gd name="adj1" fmla="val -23871"/>
              <a:gd name="adj2" fmla="val -55242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方法的</a:t>
            </a:r>
            <a:r>
              <a:rPr lang="en-US" altLang="zh-CN" b="1" kern="0" dirty="0" smtClean="0">
                <a:solidFill>
                  <a:schemeClr val="bg1"/>
                </a:solidFill>
                <a:latin typeface="Arial"/>
                <a:ea typeface="黑体"/>
              </a:rPr>
              <a:t>JavaDoc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注释</a:t>
            </a:r>
          </a:p>
        </p:txBody>
      </p:sp>
      <p:sp>
        <p:nvSpPr>
          <p:cNvPr id="515093" name="AutoShape 21"/>
          <p:cNvSpPr>
            <a:spLocks noChangeArrowheads="1"/>
          </p:cNvSpPr>
          <p:nvPr/>
        </p:nvSpPr>
        <p:spPr bwMode="auto">
          <a:xfrm>
            <a:off x="3929058" y="2928934"/>
            <a:ext cx="2318025" cy="408623"/>
          </a:xfrm>
          <a:prstGeom prst="wedgeRoundRectCallout">
            <a:avLst>
              <a:gd name="adj1" fmla="val -23387"/>
              <a:gd name="adj2" fmla="val -49648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属性的</a:t>
            </a:r>
            <a:r>
              <a:rPr lang="en-US" altLang="zh-CN" b="1" kern="0" dirty="0" smtClean="0">
                <a:solidFill>
                  <a:schemeClr val="bg1"/>
                </a:solidFill>
                <a:latin typeface="Arial"/>
                <a:ea typeface="黑体"/>
              </a:rPr>
              <a:t>JavaDoc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注释</a:t>
            </a:r>
          </a:p>
        </p:txBody>
      </p:sp>
      <p:sp>
        <p:nvSpPr>
          <p:cNvPr id="515094" name="AutoShape 22"/>
          <p:cNvSpPr>
            <a:spLocks noChangeArrowheads="1"/>
          </p:cNvSpPr>
          <p:nvPr/>
        </p:nvSpPr>
        <p:spPr bwMode="auto">
          <a:xfrm>
            <a:off x="4067175" y="1268413"/>
            <a:ext cx="2083341" cy="408623"/>
          </a:xfrm>
          <a:prstGeom prst="wedgeRoundRectCallout">
            <a:avLst>
              <a:gd name="adj1" fmla="val -17524"/>
              <a:gd name="adj2" fmla="val 49333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类的</a:t>
            </a:r>
            <a:r>
              <a:rPr lang="en-US" altLang="zh-CN" b="1" kern="0" dirty="0" smtClean="0">
                <a:solidFill>
                  <a:schemeClr val="bg1"/>
                </a:solidFill>
                <a:latin typeface="Arial"/>
                <a:ea typeface="黑体"/>
              </a:rPr>
              <a:t>JavaDoc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注释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71406" y="857232"/>
            <a:ext cx="986586" cy="422603"/>
            <a:chOff x="1000100" y="1173499"/>
            <a:chExt cx="986586" cy="422603"/>
          </a:xfrm>
        </p:grpSpPr>
        <p:pic>
          <p:nvPicPr>
            <p:cNvPr id="17" name="Picture 5" descr="E:\设计支持\模板设计\WT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1173499"/>
              <a:ext cx="414476" cy="422603"/>
            </a:xfrm>
            <a:prstGeom prst="rect">
              <a:avLst/>
            </a:prstGeom>
            <a:noFill/>
          </p:spPr>
        </p:pic>
        <p:sp>
          <p:nvSpPr>
            <p:cNvPr id="18" name="TextBox 17"/>
            <p:cNvSpPr txBox="1"/>
            <p:nvPr/>
          </p:nvSpPr>
          <p:spPr>
            <a:xfrm>
              <a:off x="1285852" y="1184745"/>
              <a:ext cx="700834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问题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cxnSp>
        <p:nvCxnSpPr>
          <p:cNvPr id="19" name="直接箭头连接符 18"/>
          <p:cNvCxnSpPr/>
          <p:nvPr/>
        </p:nvCxnSpPr>
        <p:spPr bwMode="auto">
          <a:xfrm flipV="1">
            <a:off x="4143372" y="1714488"/>
            <a:ext cx="500066" cy="357190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 bwMode="auto">
          <a:xfrm>
            <a:off x="3428992" y="3143248"/>
            <a:ext cx="571504" cy="1588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 bwMode="auto">
          <a:xfrm flipV="1">
            <a:off x="3357554" y="4357694"/>
            <a:ext cx="500066" cy="214314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灯片编号占位符 2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43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20988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1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1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076" grpId="0" animBg="1"/>
      <p:bldP spid="515085" grpId="0" animBg="1"/>
      <p:bldP spid="515086" grpId="0" animBg="1"/>
      <p:bldP spid="515087" grpId="0" animBg="1"/>
      <p:bldP spid="515092" grpId="0" animBg="1"/>
      <p:bldP spid="515093" grpId="0" animBg="1"/>
      <p:bldP spid="51509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如何生成</a:t>
            </a:r>
            <a:r>
              <a:rPr lang="en-US" altLang="zh-CN" b="1" dirty="0" err="1"/>
              <a:t>JavaDoc</a:t>
            </a:r>
            <a:r>
              <a:rPr lang="zh-CN" altLang="en-US" b="1" dirty="0"/>
              <a:t>文档 </a:t>
            </a:r>
          </a:p>
        </p:txBody>
      </p:sp>
      <p:sp>
        <p:nvSpPr>
          <p:cNvPr id="520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JavaDoc</a:t>
            </a:r>
            <a:r>
              <a:rPr lang="zh-CN" altLang="en-US" dirty="0"/>
              <a:t>能够从源代码中抽取类、属性、方法等的注释，形成一</a:t>
            </a:r>
            <a:r>
              <a:rPr lang="zh-CN" altLang="en-US" dirty="0" smtClean="0"/>
              <a:t>个配套</a:t>
            </a:r>
            <a:r>
              <a:rPr lang="zh-CN" altLang="en-US" dirty="0"/>
              <a:t>的</a:t>
            </a:r>
            <a:r>
              <a:rPr lang="en-US" altLang="zh-CN" dirty="0"/>
              <a:t>API</a:t>
            </a:r>
            <a:r>
              <a:rPr lang="zh-CN" altLang="en-US" dirty="0"/>
              <a:t>帮助文档 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生成</a:t>
            </a:r>
            <a:r>
              <a:rPr lang="en-US" altLang="zh-CN" dirty="0" err="1"/>
              <a:t>JavaDoc</a:t>
            </a:r>
            <a:r>
              <a:rPr lang="zh-CN" altLang="en-US" dirty="0"/>
              <a:t>文档</a:t>
            </a:r>
          </a:p>
          <a:p>
            <a:pPr lvl="1"/>
            <a:r>
              <a:rPr lang="zh-CN" altLang="en-US" dirty="0"/>
              <a:t>使用命令行方式生成</a:t>
            </a:r>
          </a:p>
          <a:p>
            <a:pPr lvl="1"/>
            <a:r>
              <a:rPr lang="zh-CN" altLang="en-US" dirty="0" smtClean="0"/>
              <a:t>使用</a:t>
            </a:r>
            <a:r>
              <a:rPr lang="en-US" altLang="zh-CN" dirty="0" err="1" smtClean="0"/>
              <a:t>MyEclipse</a:t>
            </a:r>
            <a:r>
              <a:rPr lang="zh-CN" altLang="en-US" dirty="0"/>
              <a:t>工具生成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44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282226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0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0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20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171434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总结</a:t>
            </a:r>
          </a:p>
        </p:txBody>
      </p:sp>
      <p:sp>
        <p:nvSpPr>
          <p:cNvPr id="486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定义类的方法必须包括以下三个部分</a:t>
            </a:r>
          </a:p>
          <a:p>
            <a:pPr lvl="1"/>
            <a:r>
              <a:rPr lang="zh-CN" altLang="en-US" dirty="0" smtClean="0"/>
              <a:t>方法的名称</a:t>
            </a:r>
          </a:p>
          <a:p>
            <a:pPr lvl="1"/>
            <a:r>
              <a:rPr lang="zh-CN" altLang="en-US" dirty="0" smtClean="0"/>
              <a:t>方法返回值的类型</a:t>
            </a:r>
          </a:p>
          <a:p>
            <a:pPr lvl="1"/>
            <a:r>
              <a:rPr lang="zh-CN" altLang="en-US" dirty="0" smtClean="0"/>
              <a:t>方法的主体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类的方法调用，使用如下两种形式</a:t>
            </a:r>
          </a:p>
          <a:p>
            <a:pPr lvl="1"/>
            <a:r>
              <a:rPr lang="zh-CN" altLang="en-US" dirty="0" smtClean="0"/>
              <a:t>同一个类中的方法，直接使用“</a:t>
            </a:r>
            <a:r>
              <a:rPr lang="zh-CN" altLang="en-US" dirty="0" smtClean="0">
                <a:solidFill>
                  <a:srgbClr val="0000FF"/>
                </a:solidFill>
              </a:rPr>
              <a:t>方法名</a:t>
            </a:r>
            <a:r>
              <a:rPr lang="en-US" altLang="zh-CN" dirty="0" smtClean="0">
                <a:solidFill>
                  <a:srgbClr val="0000FF"/>
                </a:solidFill>
              </a:rPr>
              <a:t>()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”</a:t>
            </a:r>
            <a:r>
              <a:rPr lang="zh-CN" altLang="en-US" dirty="0" smtClean="0"/>
              <a:t>调用</a:t>
            </a:r>
          </a:p>
          <a:p>
            <a:pPr lvl="1"/>
            <a:r>
              <a:rPr lang="zh-CN" altLang="en-US" dirty="0" smtClean="0"/>
              <a:t>不同类的方法，首先创建对象，再使用</a:t>
            </a:r>
            <a:endParaRPr lang="en-US" altLang="zh-CN" dirty="0" smtClean="0"/>
          </a:p>
          <a:p>
            <a:pPr lvl="1">
              <a:buNone/>
            </a:pPr>
            <a:r>
              <a:rPr lang="zh-CN" altLang="en-US" dirty="0" smtClean="0"/>
              <a:t>“</a:t>
            </a:r>
            <a:r>
              <a:rPr lang="zh-CN" altLang="en-US" dirty="0" smtClean="0">
                <a:solidFill>
                  <a:srgbClr val="0000FF"/>
                </a:solidFill>
              </a:rPr>
              <a:t>对象名</a:t>
            </a:r>
            <a:r>
              <a:rPr lang="en-US" altLang="en-US" dirty="0" smtClean="0">
                <a:solidFill>
                  <a:srgbClr val="0000FF"/>
                </a:solidFill>
              </a:rPr>
              <a:t>.</a:t>
            </a:r>
            <a:r>
              <a:rPr lang="zh-CN" altLang="en-US" dirty="0" smtClean="0">
                <a:solidFill>
                  <a:srgbClr val="0000FF"/>
                </a:solidFill>
              </a:rPr>
              <a:t>方法名</a:t>
            </a:r>
            <a:r>
              <a:rPr lang="en-US" altLang="zh-CN" dirty="0" smtClean="0">
                <a:solidFill>
                  <a:srgbClr val="0000FF"/>
                </a:solidFill>
              </a:rPr>
              <a:t>()</a:t>
            </a:r>
            <a:r>
              <a:rPr lang="zh-CN" altLang="en-US" dirty="0" smtClean="0"/>
              <a:t>”来调用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在</a:t>
            </a:r>
            <a:r>
              <a:rPr lang="en-US" dirty="0" smtClean="0"/>
              <a:t>Java</a:t>
            </a:r>
            <a:r>
              <a:rPr lang="zh-CN" altLang="en-US" dirty="0" smtClean="0"/>
              <a:t>中，有成员变量和局部变量，它们的作用域各不相同</a:t>
            </a:r>
          </a:p>
          <a:p>
            <a:r>
              <a:rPr lang="en-US" dirty="0" err="1" smtClean="0"/>
              <a:t>JavaDoc</a:t>
            </a:r>
            <a:r>
              <a:rPr lang="zh-CN" altLang="en-US" dirty="0" smtClean="0"/>
              <a:t>注释以“</a:t>
            </a:r>
            <a:r>
              <a:rPr lang="en-US" dirty="0" smtClean="0"/>
              <a:t>/**</a:t>
            </a:r>
            <a:r>
              <a:rPr lang="zh-CN" altLang="en-US" dirty="0" smtClean="0"/>
              <a:t>”开头，以“</a:t>
            </a:r>
            <a:r>
              <a:rPr lang="en-US" dirty="0" smtClean="0"/>
              <a:t>*/</a:t>
            </a:r>
            <a:r>
              <a:rPr lang="zh-CN" altLang="en-US" dirty="0" smtClean="0"/>
              <a:t>”结尾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45</a:t>
            </a:fld>
            <a:r>
              <a:rPr lang="en-US" altLang="zh-CN" smtClean="0"/>
              <a:t>/38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977430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42872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/>
              <a:t>本章目标</a:t>
            </a:r>
          </a:p>
        </p:txBody>
      </p:sp>
      <p:sp>
        <p:nvSpPr>
          <p:cNvPr id="425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会定义带参方法</a:t>
            </a:r>
          </a:p>
          <a:p>
            <a:r>
              <a:rPr lang="zh-CN" altLang="en-US" dirty="0"/>
              <a:t>会使用带参方法</a:t>
            </a:r>
          </a:p>
          <a:p>
            <a:r>
              <a:rPr lang="zh-CN" altLang="en-US" dirty="0"/>
              <a:t>会创建包组织</a:t>
            </a:r>
            <a:r>
              <a:rPr lang="en-US" altLang="zh-CN" dirty="0"/>
              <a:t>Java</a:t>
            </a:r>
            <a:r>
              <a:rPr lang="zh-CN" altLang="en-US" dirty="0"/>
              <a:t>工程</a:t>
            </a:r>
          </a:p>
        </p:txBody>
      </p:sp>
      <p:pic>
        <p:nvPicPr>
          <p:cNvPr id="5" name="Picture 3" descr="C:\Users\meng.zhang\Desktop\ACCP7.0模版图标规范\是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29454" y="1566220"/>
            <a:ext cx="714380" cy="719772"/>
          </a:xfrm>
          <a:prstGeom prst="rect">
            <a:avLst/>
          </a:prstGeom>
          <a:noFill/>
        </p:spPr>
      </p:pic>
      <p:pic>
        <p:nvPicPr>
          <p:cNvPr id="6" name="Picture 3" descr="C:\Users\meng.zhang\Desktop\ACCP7.0模版图标规范\是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29454" y="994716"/>
            <a:ext cx="714380" cy="719772"/>
          </a:xfrm>
          <a:prstGeom prst="rect">
            <a:avLst/>
          </a:prstGeom>
          <a:noFill/>
        </p:spPr>
      </p:pic>
      <p:pic>
        <p:nvPicPr>
          <p:cNvPr id="7" name="Picture 2" descr="C:\Users\meng.zhang\Desktop\ACCP7.0模版图标规范\啊-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14737" y="1637658"/>
            <a:ext cx="643477" cy="648334"/>
          </a:xfrm>
          <a:prstGeom prst="rect">
            <a:avLst/>
          </a:prstGeom>
          <a:noFill/>
        </p:spPr>
      </p:pic>
      <p:sp>
        <p:nvSpPr>
          <p:cNvPr id="9" name="灯片编号占位符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46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43291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为什么要用带参数的方法</a:t>
            </a:r>
          </a:p>
        </p:txBody>
      </p:sp>
      <p:sp>
        <p:nvSpPr>
          <p:cNvPr id="5068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工作原理</a:t>
            </a:r>
          </a:p>
        </p:txBody>
      </p:sp>
      <p:sp>
        <p:nvSpPr>
          <p:cNvPr id="506884" name="AutoShape 4"/>
          <p:cNvSpPr>
            <a:spLocks noChangeArrowheads="1"/>
          </p:cNvSpPr>
          <p:nvPr/>
        </p:nvSpPr>
        <p:spPr bwMode="auto">
          <a:xfrm>
            <a:off x="1543007" y="3020377"/>
            <a:ext cx="1312848" cy="408623"/>
          </a:xfrm>
          <a:prstGeom prst="wedgeRoundRectCallout">
            <a:avLst>
              <a:gd name="adj1" fmla="val 47151"/>
              <a:gd name="adj2" fmla="val 30089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新鲜桃汁</a:t>
            </a:r>
          </a:p>
        </p:txBody>
      </p:sp>
      <p:sp>
        <p:nvSpPr>
          <p:cNvPr id="506885" name="AutoShape 5"/>
          <p:cNvSpPr>
            <a:spLocks noChangeArrowheads="1"/>
          </p:cNvSpPr>
          <p:nvPr/>
        </p:nvSpPr>
        <p:spPr bwMode="auto">
          <a:xfrm>
            <a:off x="1543007" y="3020377"/>
            <a:ext cx="1385919" cy="408623"/>
          </a:xfrm>
          <a:prstGeom prst="wedgeRoundRectCallout">
            <a:avLst>
              <a:gd name="adj1" fmla="val 50602"/>
              <a:gd name="adj2" fmla="val 28128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新鲜苹果汁</a:t>
            </a:r>
          </a:p>
        </p:txBody>
      </p:sp>
      <p:sp>
        <p:nvSpPr>
          <p:cNvPr id="506886" name="AutoShape 6"/>
          <p:cNvSpPr>
            <a:spLocks noChangeArrowheads="1"/>
          </p:cNvSpPr>
          <p:nvPr/>
        </p:nvSpPr>
        <p:spPr bwMode="auto">
          <a:xfrm>
            <a:off x="1543007" y="3020377"/>
            <a:ext cx="1384286" cy="408623"/>
          </a:xfrm>
          <a:prstGeom prst="wedgeRoundRectCallout">
            <a:avLst>
              <a:gd name="adj1" fmla="val 50522"/>
              <a:gd name="adj2" fmla="val 16939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新鲜梨汁</a:t>
            </a:r>
          </a:p>
        </p:txBody>
      </p:sp>
      <p:pic>
        <p:nvPicPr>
          <p:cNvPr id="506887" name="Picture 7" descr="graph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56325" y="5445125"/>
            <a:ext cx="1152525" cy="798513"/>
          </a:xfrm>
          <a:prstGeom prst="rect">
            <a:avLst/>
          </a:prstGeom>
          <a:noFill/>
        </p:spPr>
      </p:pic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68313" y="4076700"/>
            <a:ext cx="3168650" cy="2379663"/>
            <a:chOff x="295" y="2568"/>
            <a:chExt cx="1996" cy="1499"/>
          </a:xfrm>
        </p:grpSpPr>
        <p:pic>
          <p:nvPicPr>
            <p:cNvPr id="506889" name="Picture 9" descr="果汁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95" y="2568"/>
              <a:ext cx="1996" cy="1499"/>
            </a:xfrm>
            <a:prstGeom prst="rect">
              <a:avLst/>
            </a:prstGeom>
            <a:noFill/>
          </p:spPr>
        </p:pic>
        <p:sp>
          <p:nvSpPr>
            <p:cNvPr id="506890" name="Text Box 10"/>
            <p:cNvSpPr txBox="1">
              <a:spLocks noChangeArrowheads="1"/>
            </p:cNvSpPr>
            <p:nvPr/>
          </p:nvSpPr>
          <p:spPr bwMode="auto">
            <a:xfrm>
              <a:off x="295" y="2568"/>
              <a:ext cx="272" cy="10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F0"/>
                  </a:solidFill>
                  <a:ea typeface="黑体" pitchFamily="2" charset="-122"/>
                </a:rPr>
                <a:t>输出三种果汁</a:t>
              </a:r>
            </a:p>
          </p:txBody>
        </p:sp>
      </p:grpSp>
      <p:pic>
        <p:nvPicPr>
          <p:cNvPr id="506891" name="Picture 11" descr="苹果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092950" y="4724400"/>
            <a:ext cx="876300" cy="952500"/>
          </a:xfrm>
          <a:prstGeom prst="rect">
            <a:avLst/>
          </a:prstGeom>
          <a:noFill/>
        </p:spPr>
      </p:pic>
      <p:pic>
        <p:nvPicPr>
          <p:cNvPr id="506892" name="Picture 12" descr="梨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235825" y="4652963"/>
            <a:ext cx="947738" cy="1152525"/>
          </a:xfrm>
          <a:prstGeom prst="rect">
            <a:avLst/>
          </a:prstGeom>
          <a:noFill/>
        </p:spPr>
      </p:pic>
      <p:pic>
        <p:nvPicPr>
          <p:cNvPr id="506893" name="Picture 13" descr="桃子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948488" y="4870450"/>
            <a:ext cx="787400" cy="863600"/>
          </a:xfrm>
          <a:prstGeom prst="rect">
            <a:avLst/>
          </a:prstGeom>
          <a:noFill/>
        </p:spPr>
      </p:pic>
      <p:pic>
        <p:nvPicPr>
          <p:cNvPr id="506894" name="Picture 14" descr="水果集合 拷贝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950075" y="5013325"/>
            <a:ext cx="1943100" cy="1284288"/>
          </a:xfrm>
          <a:prstGeom prst="rect">
            <a:avLst/>
          </a:prstGeom>
          <a:noFill/>
        </p:spPr>
      </p:pic>
      <p:pic>
        <p:nvPicPr>
          <p:cNvPr id="506895" name="Picture 15" descr="榨汁机2 拷贝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727450" y="1700213"/>
            <a:ext cx="2068513" cy="3455987"/>
          </a:xfrm>
          <a:prstGeom prst="rect">
            <a:avLst/>
          </a:prstGeom>
          <a:noFill/>
        </p:spPr>
      </p:pic>
      <p:sp>
        <p:nvSpPr>
          <p:cNvPr id="17" name="灯片编号占位符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47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550719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0.09803 C 0.02605 -0.2289 0.05191 -0.35977 0.0033 -0.44254 C -0.04531 -0.52532 -0.23697 -0.60277 -0.29201 -0.59468 C -0.34704 -0.58659 -0.32118 -0.43052 -0.3269 -0.39399 C -0.33263 -0.35745 -0.32986 -0.36624 -0.3269 -0.3748 " pathEditMode="relative" ptsTypes="aaaaA">
                                      <p:cBhvr>
                                        <p:cTn id="6" dur="2000" fill="hold"/>
                                        <p:tgtEl>
                                          <p:spTgt spid="5068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0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53 -0.06289 C -0.01823 -0.08624 -0.01875 -0.10937 -0.01927 -0.13272 C -0.01979 -0.15607 -0.02014 -0.16879 -0.02066 -0.20255 C -0.02118 -0.23653 -0.02014 -0.29688 -0.02205 -0.33596 C -0.02413 -0.37503 -0.02135 -0.40833 -0.03246 -0.43653 C -0.04357 -0.46451 -0.05173 -0.47815 -0.08837 -0.50428 C -0.12482 -0.53018 -0.21475 -0.59769 -0.25173 -0.59237 C -0.28854 -0.58705 -0.29948 -0.4985 -0.3092 -0.47145 C -0.31875 -0.44463 -0.3092 -0.43723 -0.3092 -0.43029 " pathEditMode="relative" rAng="0" ptsTypes="aaaaaaaaA">
                                      <p:cBhvr>
                                        <p:cTn id="14" dur="2000" fill="hold"/>
                                        <p:tgtEl>
                                          <p:spTgt spid="5068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100" y="-26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06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927 1.50289E-6 C 0.01788 -0.05642 0.01649 -0.11283 0.01145 -0.17549 C 0.00642 -0.23815 -0.00087 -0.33526 -0.01077 -0.37642 C -0.02066 -0.41757 -0.02153 -0.40046 -0.0474 -0.42289 C -0.07327 -0.44532 -0.12448 -0.49202 -0.16632 -0.51168 C -0.20816 -0.53133 -0.26789 -0.54104 -0.29809 -0.54127 C -0.3283 -0.5415 -0.33924 -0.53064 -0.3474 -0.51376 C -0.35556 -0.49688 -0.34705 -0.47122 -0.3474 -0.43977 C -0.34775 -0.40833 -0.34844 -0.36694 -0.34896 -0.32555 " pathEditMode="relative" rAng="0" ptsTypes="aaaaaaaaA">
                                      <p:cBhvr>
                                        <p:cTn id="25" dur="2000" fill="hold"/>
                                        <p:tgtEl>
                                          <p:spTgt spid="5068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800" y="-27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884" grpId="0" animBg="1"/>
      <p:bldP spid="506884" grpId="1" animBg="1"/>
      <p:bldP spid="506885" grpId="0" animBg="1"/>
      <p:bldP spid="506885" grpId="1" animBg="1"/>
      <p:bldP spid="50688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/>
              <a:t>如何使用带参数的方法</a:t>
            </a:r>
            <a:r>
              <a:rPr lang="en-US" altLang="zh-CN" b="1"/>
              <a:t>3-1</a:t>
            </a:r>
          </a:p>
        </p:txBody>
      </p:sp>
      <p:sp>
        <p:nvSpPr>
          <p:cNvPr id="526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定义带参数的方法</a:t>
            </a:r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endParaRPr lang="zh-CN" altLang="en-US" sz="2400"/>
          </a:p>
          <a:p>
            <a:endParaRPr lang="zh-CN" altLang="en-US" sz="2400"/>
          </a:p>
          <a:p>
            <a:r>
              <a:rPr lang="zh-CN" altLang="en-US"/>
              <a:t>调用带参数的方法</a:t>
            </a:r>
          </a:p>
        </p:txBody>
      </p:sp>
      <p:sp>
        <p:nvSpPr>
          <p:cNvPr id="526340" name="Rectangle 4"/>
          <p:cNvSpPr>
            <a:spLocks noChangeArrowheads="1"/>
          </p:cNvSpPr>
          <p:nvPr/>
        </p:nvSpPr>
        <p:spPr bwMode="auto">
          <a:xfrm>
            <a:off x="1258888" y="2060575"/>
            <a:ext cx="1584325" cy="5048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6341" name="AutoShape 5"/>
          <p:cNvSpPr>
            <a:spLocks noChangeArrowheads="1"/>
          </p:cNvSpPr>
          <p:nvPr/>
        </p:nvSpPr>
        <p:spPr bwMode="auto">
          <a:xfrm>
            <a:off x="954088" y="1844675"/>
            <a:ext cx="7235825" cy="2106906"/>
          </a:xfrm>
          <a:prstGeom prst="roundRect">
            <a:avLst>
              <a:gd name="adj" fmla="val 2452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public class </a:t>
            </a:r>
            <a:r>
              <a:rPr lang="en-US" altLang="zh-CN" b="1" dirty="0" err="1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ZhazhiJi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 {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  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public String zhazhi ( </a:t>
            </a:r>
            <a:r>
              <a:rPr lang="en-US" altLang="zh-CN" b="1" dirty="0">
                <a:solidFill>
                  <a:srgbClr val="0000FF"/>
                </a:solidFill>
              </a:rPr>
              <a:t>String fruit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) {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         String juice = fruit + 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汁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";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         return juice; </a:t>
            </a: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    } </a:t>
            </a: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}</a:t>
            </a:r>
          </a:p>
        </p:txBody>
      </p:sp>
      <p:sp>
        <p:nvSpPr>
          <p:cNvPr id="526342" name="AutoShape 6"/>
          <p:cNvSpPr>
            <a:spLocks noChangeArrowheads="1"/>
          </p:cNvSpPr>
          <p:nvPr/>
        </p:nvSpPr>
        <p:spPr bwMode="auto">
          <a:xfrm>
            <a:off x="1041400" y="4581525"/>
            <a:ext cx="5765800" cy="1892826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/*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调用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zhazhi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方法*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/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err="1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ZhazhiJi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 </a:t>
            </a:r>
            <a:r>
              <a:rPr lang="en-US" altLang="zh-CN" b="1" dirty="0" err="1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myZhazhiji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= new </a:t>
            </a:r>
            <a:r>
              <a:rPr lang="en-US" altLang="zh-CN" b="1" dirty="0" err="1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ZhazhiJi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();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String myFruit = 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苹果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";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String myJuice = </a:t>
            </a:r>
            <a:r>
              <a:rPr lang="en-US" altLang="zh-CN" b="1" dirty="0">
                <a:solidFill>
                  <a:srgbClr val="0000FF"/>
                </a:solidFill>
              </a:rPr>
              <a:t>myZhazhi.zhazhi(myFruit);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System.out.println(myJuice);</a:t>
            </a:r>
          </a:p>
        </p:txBody>
      </p:sp>
      <p:sp>
        <p:nvSpPr>
          <p:cNvPr id="526343" name="AutoShape 7"/>
          <p:cNvSpPr>
            <a:spLocks noChangeArrowheads="1"/>
          </p:cNvSpPr>
          <p:nvPr/>
        </p:nvSpPr>
        <p:spPr bwMode="auto">
          <a:xfrm>
            <a:off x="4932363" y="2986088"/>
            <a:ext cx="4143699" cy="776383"/>
          </a:xfrm>
          <a:prstGeom prst="wedgeRoundRectCallout">
            <a:avLst>
              <a:gd name="adj1" fmla="val -33439"/>
              <a:gd name="adj2" fmla="val -47773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参数列表：</a:t>
            </a:r>
          </a:p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(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数据类型  参数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1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，数据类型  参数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2…)</a:t>
            </a:r>
          </a:p>
        </p:txBody>
      </p:sp>
      <p:sp>
        <p:nvSpPr>
          <p:cNvPr id="526344" name="AutoShape 8"/>
          <p:cNvSpPr>
            <a:spLocks noChangeArrowheads="1"/>
          </p:cNvSpPr>
          <p:nvPr/>
        </p:nvSpPr>
        <p:spPr bwMode="auto">
          <a:xfrm>
            <a:off x="5545139" y="4559300"/>
            <a:ext cx="2741638" cy="715089"/>
          </a:xfrm>
          <a:prstGeom prst="wedgeRoundRectCallout">
            <a:avLst>
              <a:gd name="adj1" fmla="val -32969"/>
              <a:gd name="adj2" fmla="val 50834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b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调用方法，传递的参数要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与参数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列表一一对应</a:t>
            </a:r>
          </a:p>
        </p:txBody>
      </p:sp>
      <p:cxnSp>
        <p:nvCxnSpPr>
          <p:cNvPr id="9" name="直接箭头连接符 8"/>
          <p:cNvCxnSpPr>
            <a:endCxn id="526343" idx="4"/>
          </p:cNvCxnSpPr>
          <p:nvPr/>
        </p:nvCxnSpPr>
        <p:spPr bwMode="auto">
          <a:xfrm>
            <a:off x="4714876" y="2714620"/>
            <a:ext cx="903725" cy="288758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endCxn id="526344" idx="4"/>
          </p:cNvCxnSpPr>
          <p:nvPr/>
        </p:nvCxnSpPr>
        <p:spPr bwMode="auto">
          <a:xfrm flipV="1">
            <a:off x="5286380" y="5280353"/>
            <a:ext cx="725687" cy="506103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48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8672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6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2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6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2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341" grpId="0" animBg="1"/>
      <p:bldP spid="526342" grpId="0" animBg="1"/>
      <p:bldP spid="526343" grpId="0" animBg="1"/>
      <p:bldP spid="52634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42872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/>
              <a:t>如何使用带参数的方法</a:t>
            </a:r>
            <a:r>
              <a:rPr lang="en-US" altLang="zh-CN" b="1"/>
              <a:t>3-2</a:t>
            </a:r>
          </a:p>
        </p:txBody>
      </p:sp>
      <p:sp>
        <p:nvSpPr>
          <p:cNvPr id="5089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508933" name="AutoShape 5"/>
          <p:cNvSpPr>
            <a:spLocks noChangeArrowheads="1"/>
          </p:cNvSpPr>
          <p:nvPr/>
        </p:nvSpPr>
        <p:spPr bwMode="auto">
          <a:xfrm>
            <a:off x="1270054" y="2327809"/>
            <a:ext cx="6457970" cy="1172629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3838" indent="-223838"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rgbClr val="0000FF"/>
                </a:solidFill>
              </a:rPr>
              <a:t>&lt;</a:t>
            </a:r>
            <a:r>
              <a:rPr lang="zh-CN" altLang="en-US" b="1" dirty="0">
                <a:solidFill>
                  <a:srgbClr val="0000FF"/>
                </a:solidFill>
              </a:rPr>
              <a:t>访问修饰符</a:t>
            </a:r>
            <a:r>
              <a:rPr lang="en-US" altLang="zh-CN" b="1" dirty="0" smtClean="0">
                <a:solidFill>
                  <a:srgbClr val="0000FF"/>
                </a:solidFill>
              </a:rPr>
              <a:t>&gt;  </a:t>
            </a:r>
            <a:r>
              <a:rPr lang="zh-CN" altLang="en-US" b="1" dirty="0">
                <a:solidFill>
                  <a:srgbClr val="0000FF"/>
                </a:solidFill>
              </a:rPr>
              <a:t>返回</a:t>
            </a:r>
            <a:r>
              <a:rPr lang="zh-CN" altLang="en-US" b="1" dirty="0" smtClean="0">
                <a:solidFill>
                  <a:srgbClr val="0000FF"/>
                </a:solidFill>
              </a:rPr>
              <a:t>类型  </a:t>
            </a:r>
            <a:r>
              <a:rPr lang="en-US" altLang="zh-CN" b="1" dirty="0">
                <a:solidFill>
                  <a:srgbClr val="0000FF"/>
                </a:solidFill>
              </a:rPr>
              <a:t>&lt;</a:t>
            </a:r>
            <a:r>
              <a:rPr lang="zh-CN" altLang="en-US" b="1" dirty="0">
                <a:solidFill>
                  <a:srgbClr val="0000FF"/>
                </a:solidFill>
              </a:rPr>
              <a:t>方法名</a:t>
            </a:r>
            <a:r>
              <a:rPr lang="en-US" altLang="zh-CN" b="1" dirty="0">
                <a:solidFill>
                  <a:srgbClr val="0000FF"/>
                </a:solidFill>
              </a:rPr>
              <a:t>&gt;(&lt;</a:t>
            </a:r>
            <a:r>
              <a:rPr lang="zh-CN" altLang="en-US" b="1" dirty="0">
                <a:solidFill>
                  <a:srgbClr val="0000FF"/>
                </a:solidFill>
              </a:rPr>
              <a:t>形式参数列表</a:t>
            </a:r>
            <a:r>
              <a:rPr lang="en-US" altLang="zh-CN" b="1" dirty="0" smtClean="0">
                <a:solidFill>
                  <a:srgbClr val="0000FF"/>
                </a:solidFill>
              </a:rPr>
              <a:t>&gt;) {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223838" indent="-223838"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rgbClr val="0000FF"/>
                </a:solidFill>
              </a:rPr>
              <a:t>	      //</a:t>
            </a:r>
            <a:r>
              <a:rPr lang="zh-CN" altLang="en-US" b="1" dirty="0">
                <a:solidFill>
                  <a:srgbClr val="0000FF"/>
                </a:solidFill>
              </a:rPr>
              <a:t>方法的主体</a:t>
            </a:r>
          </a:p>
          <a:p>
            <a:pPr marL="223838" indent="-223838"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rgbClr val="0000FF"/>
                </a:solidFill>
              </a:rPr>
              <a:t>}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508934" name="AutoShape 6"/>
          <p:cNvSpPr>
            <a:spLocks noChangeArrowheads="1"/>
          </p:cNvSpPr>
          <p:nvPr/>
        </p:nvSpPr>
        <p:spPr bwMode="auto">
          <a:xfrm>
            <a:off x="1727232" y="1714488"/>
            <a:ext cx="3706703" cy="408623"/>
          </a:xfrm>
          <a:prstGeom prst="wedgeRoundRectCallout">
            <a:avLst>
              <a:gd name="adj1" fmla="val -32267"/>
              <a:gd name="adj2" fmla="val 52286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该方法允许被访问调用的权限范围</a:t>
            </a:r>
          </a:p>
        </p:txBody>
      </p:sp>
      <p:sp>
        <p:nvSpPr>
          <p:cNvPr id="508935" name="AutoShape 7"/>
          <p:cNvSpPr>
            <a:spLocks noChangeArrowheads="1"/>
          </p:cNvSpPr>
          <p:nvPr/>
        </p:nvSpPr>
        <p:spPr bwMode="auto">
          <a:xfrm>
            <a:off x="3656058" y="3000372"/>
            <a:ext cx="2063920" cy="408623"/>
          </a:xfrm>
          <a:prstGeom prst="wedgeRoundRectCallout">
            <a:avLst>
              <a:gd name="adj1" fmla="val -28479"/>
              <a:gd name="adj2" fmla="val -51802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方法返回值的类型</a:t>
            </a:r>
          </a:p>
        </p:txBody>
      </p:sp>
      <p:sp>
        <p:nvSpPr>
          <p:cNvPr id="508936" name="AutoShape 8"/>
          <p:cNvSpPr>
            <a:spLocks noChangeArrowheads="1"/>
          </p:cNvSpPr>
          <p:nvPr/>
        </p:nvSpPr>
        <p:spPr bwMode="auto">
          <a:xfrm>
            <a:off x="1270055" y="3670588"/>
            <a:ext cx="6457970" cy="2973122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3838" indent="-223838"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public class StudentsBiz {</a:t>
            </a:r>
          </a:p>
          <a:p>
            <a:pPr marL="223838" indent="-223838"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	String[ ] names = new String[30];  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</a:t>
            </a:r>
          </a:p>
          <a:p>
            <a:pPr marL="223838" indent="-223838"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	</a:t>
            </a:r>
            <a:r>
              <a:rPr lang="en-US" altLang="zh-CN" b="1" dirty="0">
                <a:solidFill>
                  <a:srgbClr val="0000FF"/>
                </a:solidFill>
              </a:rPr>
              <a:t>public void addName(String name</a:t>
            </a:r>
            <a:r>
              <a:rPr lang="en-US" altLang="zh-CN" b="1" dirty="0" smtClean="0">
                <a:solidFill>
                  <a:srgbClr val="0000FF"/>
                </a:solidFill>
              </a:rPr>
              <a:t>) {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223838" indent="-223838"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>
                <a:solidFill>
                  <a:srgbClr val="0000FF"/>
                </a:solidFill>
              </a:rPr>
              <a:t>			</a:t>
            </a:r>
            <a:r>
              <a:rPr lang="en-US" altLang="zh-CN" b="1" dirty="0">
                <a:solidFill>
                  <a:srgbClr val="0000FF"/>
                </a:solidFill>
              </a:rPr>
              <a:t>//</a:t>
            </a:r>
            <a:r>
              <a:rPr lang="zh-CN" altLang="en-US" b="1" dirty="0">
                <a:solidFill>
                  <a:srgbClr val="0000FF"/>
                </a:solidFill>
              </a:rPr>
              <a:t>增加学生姓名</a:t>
            </a:r>
          </a:p>
          <a:p>
            <a:pPr marL="223838" indent="-223838"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>
                <a:solidFill>
                  <a:srgbClr val="0000FF"/>
                </a:solidFill>
              </a:rPr>
              <a:t>		</a:t>
            </a:r>
            <a:r>
              <a:rPr lang="en-US" altLang="zh-CN" b="1" dirty="0">
                <a:solidFill>
                  <a:srgbClr val="0000FF"/>
                </a:solidFill>
              </a:rPr>
              <a:t>}</a:t>
            </a:r>
          </a:p>
          <a:p>
            <a:pPr marL="223838" indent="-223838"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	public void </a:t>
            </a:r>
            <a:r>
              <a:rPr lang="en-US" altLang="zh-CN" b="1" dirty="0" err="1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showNames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() { //</a:t>
            </a:r>
            <a:r>
              <a:rPr lang="zh-CN" altLang="en-US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显示全部学生姓名		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}</a:t>
            </a:r>
          </a:p>
          <a:p>
            <a:pPr marL="223838" indent="-223838"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}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508953" name="AutoShape 25"/>
          <p:cNvSpPr>
            <a:spLocks noChangeArrowheads="1"/>
          </p:cNvSpPr>
          <p:nvPr/>
        </p:nvSpPr>
        <p:spPr bwMode="auto">
          <a:xfrm>
            <a:off x="5870636" y="1734493"/>
            <a:ext cx="2533285" cy="408623"/>
          </a:xfrm>
          <a:prstGeom prst="wedgeRoundRectCallout">
            <a:avLst>
              <a:gd name="adj1" fmla="val -33178"/>
              <a:gd name="adj2" fmla="val 52371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传送给方法的形参列表</a:t>
            </a:r>
          </a:p>
        </p:txBody>
      </p:sp>
      <p:sp>
        <p:nvSpPr>
          <p:cNvPr id="508955" name="AutoShape 27"/>
          <p:cNvSpPr>
            <a:spLocks noChangeArrowheads="1"/>
          </p:cNvSpPr>
          <p:nvPr/>
        </p:nvSpPr>
        <p:spPr bwMode="gray">
          <a:xfrm>
            <a:off x="5403819" y="5092079"/>
            <a:ext cx="1609825" cy="408623"/>
          </a:xfrm>
          <a:prstGeom prst="wedgeRoundRectCallout">
            <a:avLst>
              <a:gd name="adj1" fmla="val -32449"/>
              <a:gd name="adj2" fmla="val -56029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一个形式参数</a:t>
            </a:r>
          </a:p>
        </p:txBody>
      </p:sp>
      <p:sp>
        <p:nvSpPr>
          <p:cNvPr id="508956" name="AutoShape 28"/>
          <p:cNvSpPr>
            <a:spLocks noChangeArrowheads="1"/>
          </p:cNvSpPr>
          <p:nvPr/>
        </p:nvSpPr>
        <p:spPr bwMode="gray">
          <a:xfrm>
            <a:off x="6299264" y="4370692"/>
            <a:ext cx="1385919" cy="408623"/>
          </a:xfrm>
          <a:prstGeom prst="wedgeRoundRectCallout">
            <a:avLst>
              <a:gd name="adj1" fmla="val -31352"/>
              <a:gd name="adj2" fmla="val 50468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没有返回值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11848" y="1714488"/>
            <a:ext cx="1000132" cy="400110"/>
            <a:chOff x="1000100" y="1801286"/>
            <a:chExt cx="1000132" cy="400110"/>
          </a:xfrm>
        </p:grpSpPr>
        <p:pic>
          <p:nvPicPr>
            <p:cNvPr id="13" name="Picture 3" descr="E:\设计支持\模板设计\YF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00100" y="1806293"/>
              <a:ext cx="422603" cy="390096"/>
            </a:xfrm>
            <a:prstGeom prst="rect">
              <a:avLst/>
            </a:prstGeom>
            <a:noFill/>
          </p:spPr>
        </p:pic>
        <p:sp>
          <p:nvSpPr>
            <p:cNvPr id="14" name="TextBox 13"/>
            <p:cNvSpPr txBox="1"/>
            <p:nvPr/>
          </p:nvSpPr>
          <p:spPr>
            <a:xfrm>
              <a:off x="1299399" y="1801286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语法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cxnSp>
        <p:nvCxnSpPr>
          <p:cNvPr id="15" name="直接箭头连接符 14"/>
          <p:cNvCxnSpPr/>
          <p:nvPr/>
        </p:nvCxnSpPr>
        <p:spPr bwMode="auto">
          <a:xfrm flipV="1">
            <a:off x="2370174" y="2143116"/>
            <a:ext cx="500066" cy="214314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 bwMode="auto">
          <a:xfrm flipV="1">
            <a:off x="5942074" y="2146122"/>
            <a:ext cx="403659" cy="211308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 bwMode="auto">
          <a:xfrm>
            <a:off x="3656058" y="2786058"/>
            <a:ext cx="571504" cy="214314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 bwMode="auto">
          <a:xfrm>
            <a:off x="5799198" y="4656444"/>
            <a:ext cx="428628" cy="1588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 bwMode="auto">
          <a:xfrm>
            <a:off x="5299132" y="4786322"/>
            <a:ext cx="433736" cy="294488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0" name="组合 70"/>
          <p:cNvGrpSpPr/>
          <p:nvPr/>
        </p:nvGrpSpPr>
        <p:grpSpPr>
          <a:xfrm>
            <a:off x="71406" y="3303185"/>
            <a:ext cx="1000132" cy="414475"/>
            <a:chOff x="1000100" y="2528843"/>
            <a:chExt cx="1000132" cy="414475"/>
          </a:xfrm>
        </p:grpSpPr>
        <p:pic>
          <p:nvPicPr>
            <p:cNvPr id="21" name="Picture 8" descr="E:\设计支持\模板设计\sl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2528843"/>
              <a:ext cx="446984" cy="414475"/>
            </a:xfrm>
            <a:prstGeom prst="rect">
              <a:avLst/>
            </a:prstGeom>
            <a:noFill/>
          </p:spPr>
        </p:pic>
        <p:sp>
          <p:nvSpPr>
            <p:cNvPr id="22" name="TextBox 21"/>
            <p:cNvSpPr txBox="1"/>
            <p:nvPr/>
          </p:nvSpPr>
          <p:spPr>
            <a:xfrm>
              <a:off x="1299399" y="2536025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示例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770288" y="1276344"/>
            <a:ext cx="7345362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  <a:buBlip>
                <a:blip r:embed="rId4"/>
              </a:buBlip>
            </a:pPr>
            <a:r>
              <a:rPr lang="zh-CN" altLang="en-US" sz="2800" b="1" dirty="0" smtClean="0">
                <a:latin typeface="+mn-lt"/>
                <a:ea typeface="+mn-ea"/>
              </a:rPr>
              <a:t>定义带</a:t>
            </a:r>
            <a:r>
              <a:rPr lang="zh-CN" altLang="en-US" sz="2800" b="1" dirty="0">
                <a:latin typeface="+mn-lt"/>
                <a:ea typeface="+mn-ea"/>
              </a:rPr>
              <a:t>参数的方法</a:t>
            </a:r>
          </a:p>
          <a:p>
            <a:pPr marL="742950" lvl="1" indent="-285750" algn="l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Blip>
                <a:blip r:embed="rId5"/>
              </a:buBlip>
            </a:pPr>
            <a:endParaRPr lang="zh-CN" altLang="en-US" sz="2400" b="1" dirty="0">
              <a:ea typeface="黑体" pitchFamily="2" charset="-122"/>
            </a:endParaRPr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49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426856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0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08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0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08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0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933" grpId="0" animBg="1"/>
      <p:bldP spid="508934" grpId="0" animBg="1"/>
      <p:bldP spid="508935" grpId="0" animBg="1"/>
      <p:bldP spid="508936" grpId="0" animBg="1"/>
      <p:bldP spid="508953" grpId="0" animBg="1"/>
      <p:bldP spid="508955" grpId="0" animBg="1"/>
      <p:bldP spid="50895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/>
              <a:t>如何使用带参数的方法</a:t>
            </a:r>
            <a:r>
              <a:rPr lang="en-US" altLang="zh-CN" b="1"/>
              <a:t>3-3</a:t>
            </a:r>
          </a:p>
        </p:txBody>
      </p:sp>
      <p:sp>
        <p:nvSpPr>
          <p:cNvPr id="5099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509960" name="AutoShape 8"/>
          <p:cNvSpPr>
            <a:spLocks noChangeArrowheads="1"/>
          </p:cNvSpPr>
          <p:nvPr/>
        </p:nvSpPr>
        <p:spPr bwMode="auto">
          <a:xfrm>
            <a:off x="1275742" y="2652698"/>
            <a:ext cx="6708775" cy="3655873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3838" indent="-223838" algn="l" defTabSz="444500">
              <a:lnSpc>
                <a:spcPct val="130000"/>
              </a:lnSpc>
            </a:pPr>
            <a:r>
              <a:rPr lang="en-US" altLang="zh-CN" b="1" dirty="0" smtClean="0"/>
              <a:t>public static void main(String[] </a:t>
            </a:r>
            <a:r>
              <a:rPr lang="en-US" altLang="zh-CN" b="1" dirty="0" err="1" smtClean="0"/>
              <a:t>args</a:t>
            </a:r>
            <a:r>
              <a:rPr lang="en-US" altLang="zh-CN" b="1" dirty="0" smtClean="0"/>
              <a:t>) {		</a:t>
            </a:r>
          </a:p>
          <a:p>
            <a:pPr marL="223838" indent="-223838" algn="l" defTabSz="444500">
              <a:lnSpc>
                <a:spcPct val="130000"/>
              </a:lnSpc>
            </a:pPr>
            <a:r>
              <a:rPr lang="en-US" altLang="zh-CN" b="1" dirty="0" smtClean="0"/>
              <a:t>        </a:t>
            </a:r>
            <a:r>
              <a:rPr lang="en-US" altLang="zh-CN" b="1" dirty="0" err="1" smtClean="0">
                <a:solidFill>
                  <a:srgbClr val="0000FF"/>
                </a:solidFill>
              </a:rPr>
              <a:t>StudentsBiz</a:t>
            </a:r>
            <a:r>
              <a:rPr lang="en-US" altLang="zh-CN" b="1" dirty="0" smtClean="0">
                <a:solidFill>
                  <a:srgbClr val="0000FF"/>
                </a:solidFill>
              </a:rPr>
              <a:t> </a:t>
            </a:r>
            <a:r>
              <a:rPr lang="en-US" altLang="zh-CN" b="1" dirty="0" err="1" smtClean="0">
                <a:solidFill>
                  <a:srgbClr val="0000FF"/>
                </a:solidFill>
              </a:rPr>
              <a:t>st</a:t>
            </a:r>
            <a:r>
              <a:rPr lang="en-US" altLang="zh-CN" b="1" dirty="0" smtClean="0">
                <a:solidFill>
                  <a:srgbClr val="0000FF"/>
                </a:solidFill>
              </a:rPr>
              <a:t> = new </a:t>
            </a:r>
            <a:r>
              <a:rPr lang="en-US" altLang="zh-CN" b="1" dirty="0" err="1" smtClean="0">
                <a:solidFill>
                  <a:srgbClr val="0000FF"/>
                </a:solidFill>
              </a:rPr>
              <a:t>StudentsBiz</a:t>
            </a:r>
            <a:r>
              <a:rPr lang="en-US" altLang="zh-CN" b="1" dirty="0" smtClean="0">
                <a:solidFill>
                  <a:srgbClr val="0000FF"/>
                </a:solidFill>
              </a:rPr>
              <a:t>();</a:t>
            </a:r>
          </a:p>
          <a:p>
            <a:pPr marL="223838" indent="-223838" algn="l" defTabSz="444500">
              <a:lnSpc>
                <a:spcPct val="130000"/>
              </a:lnSpc>
            </a:pPr>
            <a:r>
              <a:rPr lang="en-US" altLang="zh-CN" b="1" dirty="0" smtClean="0"/>
              <a:t>        Scanner input = new Scanner(</a:t>
            </a:r>
            <a:r>
              <a:rPr lang="en-US" altLang="zh-CN" b="1" dirty="0" err="1" smtClean="0"/>
              <a:t>System.in</a:t>
            </a:r>
            <a:r>
              <a:rPr lang="en-US" altLang="zh-CN" b="1" dirty="0" smtClean="0"/>
              <a:t>);</a:t>
            </a:r>
          </a:p>
          <a:p>
            <a:pPr marL="223838" indent="-223838" algn="l" defTabSz="444500">
              <a:lnSpc>
                <a:spcPct val="130000"/>
              </a:lnSpc>
            </a:pPr>
            <a:r>
              <a:rPr lang="en-US" altLang="zh-CN" b="1" dirty="0" smtClean="0"/>
              <a:t>        for(</a:t>
            </a:r>
            <a:r>
              <a:rPr lang="en-US" altLang="zh-CN" b="1" dirty="0" err="1" smtClean="0"/>
              <a:t>int</a:t>
            </a:r>
            <a:r>
              <a:rPr lang="en-US" altLang="zh-CN" b="1" dirty="0" smtClean="0"/>
              <a:t> </a:t>
            </a:r>
            <a:r>
              <a:rPr lang="en-US" altLang="zh-CN" b="1" dirty="0" err="1" smtClean="0"/>
              <a:t>i</a:t>
            </a:r>
            <a:r>
              <a:rPr lang="en-US" altLang="zh-CN" b="1" dirty="0" smtClean="0"/>
              <a:t>=0;i&lt;5;i++){</a:t>
            </a:r>
          </a:p>
          <a:p>
            <a:pPr marL="223838" indent="-223838" algn="l" defTabSz="444500">
              <a:lnSpc>
                <a:spcPct val="130000"/>
              </a:lnSpc>
            </a:pPr>
            <a:r>
              <a:rPr lang="en-US" altLang="zh-CN" b="1" dirty="0" smtClean="0"/>
              <a:t>            </a:t>
            </a:r>
            <a:r>
              <a:rPr lang="en-US" altLang="zh-CN" b="1" dirty="0" err="1" smtClean="0"/>
              <a:t>System.out.print</a:t>
            </a:r>
            <a:r>
              <a:rPr lang="en-US" altLang="zh-CN" b="1" dirty="0" smtClean="0"/>
              <a:t>("</a:t>
            </a:r>
            <a:r>
              <a:rPr lang="zh-CN" altLang="en-US" b="1" dirty="0" smtClean="0"/>
              <a:t>请输入学生姓名：</a:t>
            </a:r>
            <a:r>
              <a:rPr lang="en-US" altLang="zh-CN" b="1" dirty="0" smtClean="0"/>
              <a:t>");</a:t>
            </a:r>
          </a:p>
          <a:p>
            <a:pPr marL="223838" indent="-223838" algn="l" defTabSz="444500">
              <a:lnSpc>
                <a:spcPct val="130000"/>
              </a:lnSpc>
            </a:pPr>
            <a:r>
              <a:rPr lang="en-US" altLang="zh-CN" b="1" dirty="0" smtClean="0"/>
              <a:t>            String </a:t>
            </a:r>
            <a:r>
              <a:rPr lang="en-US" altLang="zh-CN" b="1" dirty="0" err="1" smtClean="0"/>
              <a:t>newName</a:t>
            </a:r>
            <a:r>
              <a:rPr lang="en-US" altLang="zh-CN" b="1" dirty="0" smtClean="0"/>
              <a:t> = </a:t>
            </a:r>
            <a:r>
              <a:rPr lang="en-US" altLang="zh-CN" b="1" dirty="0" err="1" smtClean="0"/>
              <a:t>input.next</a:t>
            </a:r>
            <a:r>
              <a:rPr lang="en-US" altLang="zh-CN" b="1" dirty="0" smtClean="0"/>
              <a:t>();	</a:t>
            </a:r>
          </a:p>
          <a:p>
            <a:pPr marL="223838" indent="-223838" algn="l" defTabSz="444500">
              <a:lnSpc>
                <a:spcPct val="130000"/>
              </a:lnSpc>
            </a:pPr>
            <a:r>
              <a:rPr lang="en-US" altLang="zh-CN" b="1" dirty="0" smtClean="0"/>
              <a:t>            </a:t>
            </a:r>
            <a:r>
              <a:rPr lang="en-US" altLang="zh-CN" b="1" dirty="0" err="1" smtClean="0">
                <a:solidFill>
                  <a:srgbClr val="0000FF"/>
                </a:solidFill>
              </a:rPr>
              <a:t>st.addName</a:t>
            </a:r>
            <a:r>
              <a:rPr lang="en-US" altLang="zh-CN" b="1" dirty="0" smtClean="0">
                <a:solidFill>
                  <a:srgbClr val="0000FF"/>
                </a:solidFill>
              </a:rPr>
              <a:t>(</a:t>
            </a:r>
            <a:r>
              <a:rPr lang="en-US" altLang="zh-CN" b="1" dirty="0" err="1" smtClean="0">
                <a:solidFill>
                  <a:srgbClr val="0000FF"/>
                </a:solidFill>
              </a:rPr>
              <a:t>newName</a:t>
            </a:r>
            <a:r>
              <a:rPr lang="en-US" altLang="zh-CN" b="1" dirty="0" smtClean="0">
                <a:solidFill>
                  <a:srgbClr val="0000FF"/>
                </a:solidFill>
              </a:rPr>
              <a:t>);</a:t>
            </a:r>
          </a:p>
          <a:p>
            <a:pPr marL="223838" indent="-223838" algn="l" defTabSz="444500">
              <a:lnSpc>
                <a:spcPct val="130000"/>
              </a:lnSpc>
            </a:pPr>
            <a:r>
              <a:rPr lang="en-US" altLang="zh-CN" b="1" dirty="0" smtClean="0"/>
              <a:t>        }</a:t>
            </a:r>
          </a:p>
          <a:p>
            <a:pPr marL="223838" indent="-223838" algn="l" defTabSz="444500">
              <a:lnSpc>
                <a:spcPct val="130000"/>
              </a:lnSpc>
            </a:pPr>
            <a:r>
              <a:rPr lang="en-US" altLang="zh-CN" b="1" dirty="0" smtClean="0"/>
              <a:t>        </a:t>
            </a:r>
            <a:r>
              <a:rPr lang="en-US" altLang="zh-CN" b="1" dirty="0" err="1" smtClean="0"/>
              <a:t>st.showNames</a:t>
            </a:r>
            <a:r>
              <a:rPr lang="en-US" altLang="zh-CN" b="1" dirty="0" smtClean="0"/>
              <a:t>();	</a:t>
            </a:r>
            <a:endParaRPr lang="zh-CN" altLang="en-US" b="1" dirty="0" smtClean="0"/>
          </a:p>
          <a:p>
            <a:pPr marL="223838" indent="-223838" algn="l" defTabSz="444500">
              <a:lnSpc>
                <a:spcPct val="130000"/>
              </a:lnSpc>
            </a:pPr>
            <a:r>
              <a:rPr lang="zh-CN" altLang="en-US" b="1" dirty="0" smtClean="0"/>
              <a:t>    </a:t>
            </a:r>
            <a:r>
              <a:rPr lang="en-US" altLang="zh-CN" b="1" dirty="0" smtClean="0"/>
              <a:t>}</a:t>
            </a:r>
            <a:endParaRPr lang="en-US" altLang="zh-CN" b="1" dirty="0"/>
          </a:p>
        </p:txBody>
      </p:sp>
      <p:sp>
        <p:nvSpPr>
          <p:cNvPr id="509962" name="AutoShape 10"/>
          <p:cNvSpPr>
            <a:spLocks noChangeArrowheads="1"/>
          </p:cNvSpPr>
          <p:nvPr/>
        </p:nvSpPr>
        <p:spPr bwMode="gray">
          <a:xfrm>
            <a:off x="5196432" y="5214950"/>
            <a:ext cx="2794482" cy="776383"/>
          </a:xfrm>
          <a:prstGeom prst="wedgeRoundRectCallout">
            <a:avLst>
              <a:gd name="adj1" fmla="val -32014"/>
              <a:gd name="adj2" fmla="val -48978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实参的类型、数量、顺序</a:t>
            </a:r>
          </a:p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都要与形参一一对应</a:t>
            </a:r>
          </a:p>
        </p:txBody>
      </p:sp>
      <p:sp>
        <p:nvSpPr>
          <p:cNvPr id="509963" name="AutoShape 11"/>
          <p:cNvSpPr>
            <a:spLocks noChangeArrowheads="1"/>
          </p:cNvSpPr>
          <p:nvPr/>
        </p:nvSpPr>
        <p:spPr bwMode="gray">
          <a:xfrm>
            <a:off x="6976480" y="2786058"/>
            <a:ext cx="1881800" cy="776383"/>
          </a:xfrm>
          <a:prstGeom prst="wedgeRoundRectCallout">
            <a:avLst>
              <a:gd name="adj1" fmla="val -49665"/>
              <a:gd name="adj2" fmla="val 6893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先实例化对象，</a:t>
            </a:r>
          </a:p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再使用方法</a:t>
            </a:r>
          </a:p>
        </p:txBody>
      </p:sp>
      <p:sp>
        <p:nvSpPr>
          <p:cNvPr id="509964" name="Rectangle 12"/>
          <p:cNvSpPr>
            <a:spLocks noChangeArrowheads="1"/>
          </p:cNvSpPr>
          <p:nvPr/>
        </p:nvSpPr>
        <p:spPr bwMode="auto">
          <a:xfrm>
            <a:off x="1476375" y="1484313"/>
            <a:ext cx="7427913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endParaRPr lang="zh-CN" altLang="en-US" sz="2400" b="1">
              <a:ea typeface="黑体" pitchFamily="2" charset="-122"/>
            </a:endParaRPr>
          </a:p>
        </p:txBody>
      </p:sp>
      <p:sp>
        <p:nvSpPr>
          <p:cNvPr id="509970" name="Rectangle 18"/>
          <p:cNvSpPr>
            <a:spLocks noChangeArrowheads="1"/>
          </p:cNvSpPr>
          <p:nvPr/>
        </p:nvSpPr>
        <p:spPr bwMode="auto">
          <a:xfrm>
            <a:off x="785786" y="1276344"/>
            <a:ext cx="7345362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  <a:buBlip>
                <a:blip r:embed="rId3"/>
              </a:buBlip>
            </a:pPr>
            <a:r>
              <a:rPr lang="zh-CN" altLang="en-US" sz="2800" b="1" dirty="0">
                <a:latin typeface="+mn-lt"/>
                <a:ea typeface="+mn-ea"/>
              </a:rPr>
              <a:t>调用带参数的方法</a:t>
            </a:r>
          </a:p>
          <a:p>
            <a:pPr marL="742950" lvl="1" indent="-285750" algn="l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Blip>
                <a:blip r:embed="rId4"/>
              </a:buBlip>
            </a:pPr>
            <a:endParaRPr lang="zh-CN" altLang="en-US" sz="2400" b="1" dirty="0">
              <a:ea typeface="黑体" pitchFamily="2" charset="-122"/>
            </a:endParaRPr>
          </a:p>
        </p:txBody>
      </p:sp>
      <p:sp>
        <p:nvSpPr>
          <p:cNvPr id="509971" name="AutoShape 19"/>
          <p:cNvSpPr>
            <a:spLocks noChangeArrowheads="1"/>
          </p:cNvSpPr>
          <p:nvPr/>
        </p:nvSpPr>
        <p:spPr bwMode="auto">
          <a:xfrm>
            <a:off x="1285852" y="1857364"/>
            <a:ext cx="5072098" cy="452432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3838" indent="-223838"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>
                <a:solidFill>
                  <a:srgbClr val="0000FF"/>
                </a:solidFill>
              </a:rPr>
              <a:t>对象名</a:t>
            </a:r>
            <a:r>
              <a:rPr lang="en-US" altLang="zh-CN" b="1" dirty="0">
                <a:solidFill>
                  <a:srgbClr val="0000FF"/>
                </a:solidFill>
              </a:rPr>
              <a:t>.</a:t>
            </a:r>
            <a:r>
              <a:rPr lang="zh-CN" altLang="en-US" b="1" dirty="0">
                <a:solidFill>
                  <a:srgbClr val="0000FF"/>
                </a:solidFill>
              </a:rPr>
              <a:t>方法名</a:t>
            </a:r>
            <a:r>
              <a:rPr lang="zh-CN" altLang="en-US" b="1" dirty="0" smtClean="0">
                <a:solidFill>
                  <a:srgbClr val="0000FF"/>
                </a:solidFill>
              </a:rPr>
              <a:t>（参数</a:t>
            </a:r>
            <a:r>
              <a:rPr lang="en-US" altLang="zh-CN" b="1" dirty="0" smtClean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rgbClr val="0000FF"/>
                </a:solidFill>
              </a:rPr>
              <a:t>, </a:t>
            </a:r>
            <a:r>
              <a:rPr lang="zh-CN" altLang="en-US" b="1" dirty="0" smtClean="0">
                <a:solidFill>
                  <a:srgbClr val="0000FF"/>
                </a:solidFill>
              </a:rPr>
              <a:t>参数</a:t>
            </a:r>
            <a:r>
              <a:rPr lang="en-US" altLang="zh-CN" b="1" dirty="0" smtClean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,……</a:t>
            </a:r>
            <a:r>
              <a:rPr lang="zh-CN" altLang="en-US" b="1" dirty="0" smtClean="0">
                <a:solidFill>
                  <a:srgbClr val="0000FF"/>
                </a:solidFill>
              </a:rPr>
              <a:t>，参数</a:t>
            </a:r>
            <a:r>
              <a:rPr lang="en-US" altLang="zh-CN" b="1" dirty="0" smtClean="0">
                <a:solidFill>
                  <a:srgbClr val="0000FF"/>
                </a:solidFill>
              </a:rPr>
              <a:t>n</a:t>
            </a:r>
            <a:r>
              <a:rPr lang="zh-CN" altLang="en-US" b="1" dirty="0">
                <a:solidFill>
                  <a:srgbClr val="0000FF"/>
                </a:solidFill>
              </a:rPr>
              <a:t>）</a:t>
            </a:r>
          </a:p>
        </p:txBody>
      </p:sp>
      <p:sp>
        <p:nvSpPr>
          <p:cNvPr id="509961" name="AutoShape 9"/>
          <p:cNvSpPr>
            <a:spLocks noChangeArrowheads="1"/>
          </p:cNvSpPr>
          <p:nvPr/>
        </p:nvSpPr>
        <p:spPr bwMode="auto">
          <a:xfrm>
            <a:off x="6215074" y="1214422"/>
            <a:ext cx="1146741" cy="408623"/>
          </a:xfrm>
          <a:prstGeom prst="wedgeRoundRectCallout">
            <a:avLst>
              <a:gd name="adj1" fmla="val -32059"/>
              <a:gd name="adj2" fmla="val 52481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实参列表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11848" y="1743006"/>
            <a:ext cx="1000132" cy="400110"/>
            <a:chOff x="1000100" y="1801286"/>
            <a:chExt cx="1000132" cy="400110"/>
          </a:xfrm>
        </p:grpSpPr>
        <p:pic>
          <p:nvPicPr>
            <p:cNvPr id="21" name="Picture 3" descr="E:\设计支持\模板设计\YF.pn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000100" y="1806293"/>
              <a:ext cx="422603" cy="390096"/>
            </a:xfrm>
            <a:prstGeom prst="rect">
              <a:avLst/>
            </a:prstGeom>
            <a:noFill/>
          </p:spPr>
        </p:pic>
        <p:sp>
          <p:nvSpPr>
            <p:cNvPr id="22" name="TextBox 21"/>
            <p:cNvSpPr txBox="1"/>
            <p:nvPr/>
          </p:nvSpPr>
          <p:spPr>
            <a:xfrm>
              <a:off x="1299399" y="1801286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语法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cxnSp>
        <p:nvCxnSpPr>
          <p:cNvPr id="23" name="直接箭头连接符 22"/>
          <p:cNvCxnSpPr/>
          <p:nvPr/>
        </p:nvCxnSpPr>
        <p:spPr bwMode="auto">
          <a:xfrm flipV="1">
            <a:off x="5929322" y="1571612"/>
            <a:ext cx="332221" cy="282746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 bwMode="auto">
          <a:xfrm>
            <a:off x="6490716" y="3275009"/>
            <a:ext cx="546535" cy="3006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 bwMode="auto">
          <a:xfrm>
            <a:off x="4704766" y="5143512"/>
            <a:ext cx="475097" cy="288758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9" name="组合 70"/>
          <p:cNvGrpSpPr/>
          <p:nvPr/>
        </p:nvGrpSpPr>
        <p:grpSpPr>
          <a:xfrm>
            <a:off x="86904" y="2556246"/>
            <a:ext cx="1000132" cy="414475"/>
            <a:chOff x="1000100" y="2528843"/>
            <a:chExt cx="1000132" cy="414475"/>
          </a:xfrm>
        </p:grpSpPr>
        <p:pic>
          <p:nvPicPr>
            <p:cNvPr id="30" name="Picture 8" descr="E:\设计支持\模板设计\sl.png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000100" y="2528843"/>
              <a:ext cx="446984" cy="414475"/>
            </a:xfrm>
            <a:prstGeom prst="rect">
              <a:avLst/>
            </a:prstGeom>
            <a:noFill/>
          </p:spPr>
        </p:pic>
        <p:sp>
          <p:nvSpPr>
            <p:cNvPr id="31" name="TextBox 30"/>
            <p:cNvSpPr txBox="1"/>
            <p:nvPr/>
          </p:nvSpPr>
          <p:spPr>
            <a:xfrm>
              <a:off x="1299399" y="2536025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示例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27" name="灯片编号占位符 2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50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2222745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9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0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0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0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60" grpId="0" animBg="1"/>
      <p:bldP spid="509962" grpId="0" animBg="1"/>
      <p:bldP spid="509963" grpId="0" animBg="1"/>
      <p:bldP spid="509971" grpId="0" animBg="1"/>
      <p:bldP spid="50996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42872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zh-CN" b="1"/>
              <a:t>带</a:t>
            </a:r>
            <a:r>
              <a:rPr lang="zh-CN" altLang="en-US" b="1"/>
              <a:t>多</a:t>
            </a:r>
            <a:r>
              <a:rPr lang="zh-CN" altLang="zh-CN" b="1"/>
              <a:t>个参数的方法</a:t>
            </a:r>
            <a:r>
              <a:rPr lang="en-US" altLang="zh-CN" b="1"/>
              <a:t>2-1</a:t>
            </a:r>
          </a:p>
        </p:txBody>
      </p:sp>
      <p:sp>
        <p:nvSpPr>
          <p:cNvPr id="516098" name="Rectangle 2"/>
          <p:cNvSpPr>
            <a:spLocks noGrp="1" noChangeArrowheads="1"/>
          </p:cNvSpPr>
          <p:nvPr>
            <p:ph idx="1"/>
          </p:nvPr>
        </p:nvSpPr>
        <p:spPr>
          <a:xfrm>
            <a:off x="784254" y="3590232"/>
            <a:ext cx="7645398" cy="1357322"/>
          </a:xfrm>
        </p:spPr>
        <p:txBody>
          <a:bodyPr/>
          <a:lstStyle/>
          <a:p>
            <a:r>
              <a:rPr lang="zh-CN" altLang="en-US" dirty="0" smtClean="0"/>
              <a:t>设计方法，通过传递三个参数（开始位置、结束位置、查找的姓名）来实现</a:t>
            </a:r>
            <a:endParaRPr lang="en-US" altLang="zh-CN" dirty="0" smtClean="0"/>
          </a:p>
        </p:txBody>
      </p:sp>
      <p:sp>
        <p:nvSpPr>
          <p:cNvPr id="516101" name="Rectangle 5"/>
          <p:cNvSpPr>
            <a:spLocks noChangeArrowheads="1"/>
          </p:cNvSpPr>
          <p:nvPr/>
        </p:nvSpPr>
        <p:spPr bwMode="auto">
          <a:xfrm>
            <a:off x="784254" y="1276351"/>
            <a:ext cx="7319963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80000"/>
              <a:buBlip>
                <a:blip r:embed="rId2"/>
              </a:buBlip>
            </a:pPr>
            <a:r>
              <a:rPr lang="zh-CN" altLang="en-US" sz="2800" b="1" dirty="0" smtClean="0">
                <a:latin typeface="+mn-lt"/>
                <a:ea typeface="+mn-ea"/>
              </a:rPr>
              <a:t>在保存了多个学生姓名的数组中，指定查找区间，查找某个学生姓名并显示是否查找成功 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71406" y="857232"/>
            <a:ext cx="986586" cy="422603"/>
            <a:chOff x="1000100" y="1173499"/>
            <a:chExt cx="986586" cy="422603"/>
          </a:xfrm>
        </p:grpSpPr>
        <p:pic>
          <p:nvPicPr>
            <p:cNvPr id="11" name="Picture 5" descr="E:\设计支持\模板设计\WT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1173499"/>
              <a:ext cx="414476" cy="422603"/>
            </a:xfrm>
            <a:prstGeom prst="rect">
              <a:avLst/>
            </a:prstGeom>
            <a:noFill/>
          </p:spPr>
        </p:pic>
        <p:sp>
          <p:nvSpPr>
            <p:cNvPr id="12" name="TextBox 11"/>
            <p:cNvSpPr txBox="1"/>
            <p:nvPr/>
          </p:nvSpPr>
          <p:spPr>
            <a:xfrm>
              <a:off x="1285852" y="1184745"/>
              <a:ext cx="700834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问题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1406" y="2928934"/>
            <a:ext cx="1000132" cy="446983"/>
            <a:chOff x="1000100" y="3235185"/>
            <a:chExt cx="1000132" cy="446983"/>
          </a:xfrm>
        </p:grpSpPr>
        <p:pic>
          <p:nvPicPr>
            <p:cNvPr id="14" name="Picture 11" descr="E:\设计支持\模板设计\FX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00100" y="3235185"/>
              <a:ext cx="398223" cy="446983"/>
            </a:xfrm>
            <a:prstGeom prst="rect">
              <a:avLst/>
            </a:prstGeom>
            <a:noFill/>
          </p:spPr>
        </p:pic>
        <p:sp>
          <p:nvSpPr>
            <p:cNvPr id="15" name="TextBox 14"/>
            <p:cNvSpPr txBox="1"/>
            <p:nvPr/>
          </p:nvSpPr>
          <p:spPr>
            <a:xfrm>
              <a:off x="1299399" y="3258621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分析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7" name="灯片编号占位符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51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2045844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6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AutoShape 2"/>
          <p:cNvSpPr>
            <a:spLocks noChangeArrowheads="1"/>
          </p:cNvSpPr>
          <p:nvPr/>
        </p:nvSpPr>
        <p:spPr bwMode="auto">
          <a:xfrm>
            <a:off x="427038" y="1463657"/>
            <a:ext cx="8294687" cy="4015971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algn="l" defTabSz="622300">
              <a:lnSpc>
                <a:spcPct val="130000"/>
              </a:lnSpc>
            </a:pPr>
            <a:r>
              <a:rPr lang="zh-CN" altLang="en-US" b="1" dirty="0" smtClean="0">
                <a:cs typeface="Times New Roman" pitchFamily="18" charset="0"/>
              </a:rPr>
              <a:t> </a:t>
            </a: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public </a:t>
            </a:r>
            <a:r>
              <a:rPr lang="en-US" altLang="en-US" b="1" dirty="0" err="1" smtClean="0">
                <a:solidFill>
                  <a:srgbClr val="0000FF"/>
                </a:solidFill>
                <a:cs typeface="Times New Roman" pitchFamily="18" charset="0"/>
              </a:rPr>
              <a:t>boolean</a:t>
            </a: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en-US" b="1" dirty="0" err="1" smtClean="0">
                <a:solidFill>
                  <a:srgbClr val="0000FF"/>
                </a:solidFill>
                <a:cs typeface="Times New Roman" pitchFamily="18" charset="0"/>
              </a:rPr>
              <a:t>searchName</a:t>
            </a:r>
            <a:r>
              <a:rPr lang="en-US" altLang="zh-CN" b="1" dirty="0" smtClean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(</a:t>
            </a:r>
            <a:r>
              <a:rPr lang="en-US" altLang="en-US" b="1" dirty="0" err="1" smtClean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en-US" b="1" dirty="0" err="1" smtClean="0">
                <a:solidFill>
                  <a:srgbClr val="0000FF"/>
                </a:solidFill>
                <a:cs typeface="Times New Roman" pitchFamily="18" charset="0"/>
              </a:rPr>
              <a:t>start,int</a:t>
            </a: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en-US" b="1" dirty="0" err="1" smtClean="0">
                <a:solidFill>
                  <a:srgbClr val="0000FF"/>
                </a:solidFill>
                <a:cs typeface="Times New Roman" pitchFamily="18" charset="0"/>
              </a:rPr>
              <a:t>end,String</a:t>
            </a: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 name) {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	</a:t>
            </a:r>
            <a:r>
              <a:rPr lang="en-US" altLang="en-US" b="1" dirty="0" err="1" smtClean="0">
                <a:cs typeface="Times New Roman" pitchFamily="18" charset="0"/>
              </a:rPr>
              <a:t>boolean</a:t>
            </a:r>
            <a:r>
              <a:rPr lang="en-US" altLang="en-US" b="1" dirty="0" smtClean="0">
                <a:cs typeface="Times New Roman" pitchFamily="18" charset="0"/>
              </a:rPr>
              <a:t> find = false;  // </a:t>
            </a:r>
            <a:r>
              <a:rPr lang="en-US" altLang="en-US" b="1" dirty="0" err="1" smtClean="0">
                <a:cs typeface="Times New Roman" pitchFamily="18" charset="0"/>
              </a:rPr>
              <a:t>是否找到标识</a:t>
            </a:r>
            <a:endParaRPr lang="en-US" altLang="en-US" b="1" dirty="0" smtClean="0">
              <a:cs typeface="Times New Roman" pitchFamily="18" charset="0"/>
            </a:endParaRP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	// </a:t>
            </a:r>
            <a:r>
              <a:rPr lang="en-US" altLang="en-US" b="1" dirty="0" err="1" smtClean="0">
                <a:cs typeface="Times New Roman" pitchFamily="18" charset="0"/>
              </a:rPr>
              <a:t>指定区间数组中，查找姓名</a:t>
            </a:r>
            <a:endParaRPr lang="en-US" altLang="en-US" b="1" dirty="0" smtClean="0">
              <a:cs typeface="Times New Roman" pitchFamily="18" charset="0"/>
            </a:endParaRP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	for(</a:t>
            </a:r>
            <a:r>
              <a:rPr lang="en-US" altLang="en-US" b="1" dirty="0" err="1" smtClean="0">
                <a:cs typeface="Times New Roman" pitchFamily="18" charset="0"/>
              </a:rPr>
              <a:t>int</a:t>
            </a:r>
            <a:r>
              <a:rPr lang="en-US" altLang="en-US" b="1" dirty="0" smtClean="0">
                <a:cs typeface="Times New Roman" pitchFamily="18" charset="0"/>
              </a:rPr>
              <a:t> </a:t>
            </a:r>
            <a:r>
              <a:rPr lang="en-US" altLang="en-US" b="1" dirty="0" err="1" smtClean="0">
                <a:cs typeface="Times New Roman" pitchFamily="18" charset="0"/>
              </a:rPr>
              <a:t>i</a:t>
            </a:r>
            <a:r>
              <a:rPr lang="en-US" altLang="en-US" b="1" dirty="0" smtClean="0">
                <a:cs typeface="Times New Roman" pitchFamily="18" charset="0"/>
              </a:rPr>
              <a:t>=start-1;i&lt;</a:t>
            </a:r>
            <a:r>
              <a:rPr lang="en-US" altLang="en-US" b="1" dirty="0" err="1" smtClean="0">
                <a:cs typeface="Times New Roman" pitchFamily="18" charset="0"/>
              </a:rPr>
              <a:t>end;i</a:t>
            </a:r>
            <a:r>
              <a:rPr lang="en-US" altLang="en-US" b="1" dirty="0" smtClean="0">
                <a:cs typeface="Times New Roman" pitchFamily="18" charset="0"/>
              </a:rPr>
              <a:t>++) {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	</a:t>
            </a:r>
            <a:r>
              <a:rPr lang="en-US" altLang="zh-CN" b="1" dirty="0" smtClean="0">
                <a:cs typeface="Times New Roman" pitchFamily="18" charset="0"/>
              </a:rPr>
              <a:t>      </a:t>
            </a:r>
            <a:r>
              <a:rPr lang="en-US" altLang="en-US" b="1" dirty="0" smtClean="0">
                <a:cs typeface="Times New Roman" pitchFamily="18" charset="0"/>
              </a:rPr>
              <a:t>if(names[</a:t>
            </a:r>
            <a:r>
              <a:rPr lang="en-US" altLang="en-US" b="1" dirty="0" err="1" smtClean="0">
                <a:cs typeface="Times New Roman" pitchFamily="18" charset="0"/>
              </a:rPr>
              <a:t>i</a:t>
            </a:r>
            <a:r>
              <a:rPr lang="en-US" altLang="en-US" b="1" dirty="0" smtClean="0">
                <a:cs typeface="Times New Roman" pitchFamily="18" charset="0"/>
              </a:rPr>
              <a:t>].equals(name)) {	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		</a:t>
            </a:r>
            <a:r>
              <a:rPr lang="en-US" altLang="zh-CN" b="1" dirty="0" smtClean="0">
                <a:cs typeface="Times New Roman" pitchFamily="18" charset="0"/>
              </a:rPr>
              <a:t>  </a:t>
            </a:r>
            <a:r>
              <a:rPr lang="en-US" altLang="en-US" b="1" dirty="0" smtClean="0">
                <a:cs typeface="Times New Roman" pitchFamily="18" charset="0"/>
              </a:rPr>
              <a:t>find=true;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		</a:t>
            </a:r>
            <a:r>
              <a:rPr lang="en-US" altLang="zh-CN" b="1" dirty="0" smtClean="0">
                <a:cs typeface="Times New Roman" pitchFamily="18" charset="0"/>
              </a:rPr>
              <a:t>  </a:t>
            </a:r>
            <a:r>
              <a:rPr lang="en-US" altLang="en-US" b="1" dirty="0" smtClean="0">
                <a:cs typeface="Times New Roman" pitchFamily="18" charset="0"/>
              </a:rPr>
              <a:t>break;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	</a:t>
            </a:r>
            <a:r>
              <a:rPr lang="en-US" altLang="zh-CN" b="1" dirty="0" smtClean="0">
                <a:cs typeface="Times New Roman" pitchFamily="18" charset="0"/>
              </a:rPr>
              <a:t>      </a:t>
            </a:r>
            <a:r>
              <a:rPr lang="en-US" altLang="en-US" b="1" dirty="0" smtClean="0">
                <a:cs typeface="Times New Roman" pitchFamily="18" charset="0"/>
              </a:rPr>
              <a:t>}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	}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	return find;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}</a:t>
            </a:r>
            <a:endParaRPr lang="en-US" altLang="en-US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517123" name="AutoShape 3"/>
          <p:cNvSpPr>
            <a:spLocks noChangeArrowheads="1"/>
          </p:cNvSpPr>
          <p:nvPr/>
        </p:nvSpPr>
        <p:spPr bwMode="auto">
          <a:xfrm>
            <a:off x="1763713" y="857232"/>
            <a:ext cx="1385920" cy="408623"/>
          </a:xfrm>
          <a:prstGeom prst="wedgeRoundRectCallout">
            <a:avLst>
              <a:gd name="adj1" fmla="val -25170"/>
              <a:gd name="adj2" fmla="val 47724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返回值类型</a:t>
            </a:r>
          </a:p>
        </p:txBody>
      </p:sp>
      <p:sp>
        <p:nvSpPr>
          <p:cNvPr id="517124" name="AutoShape 4"/>
          <p:cNvSpPr>
            <a:spLocks noChangeArrowheads="1"/>
          </p:cNvSpPr>
          <p:nvPr/>
        </p:nvSpPr>
        <p:spPr bwMode="auto">
          <a:xfrm>
            <a:off x="5795963" y="857232"/>
            <a:ext cx="1609825" cy="408623"/>
          </a:xfrm>
          <a:prstGeom prst="wedgeRoundRectCallout">
            <a:avLst>
              <a:gd name="adj1" fmla="val -31875"/>
              <a:gd name="adj2" fmla="val 48180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带有三个形参</a:t>
            </a:r>
          </a:p>
        </p:txBody>
      </p:sp>
      <p:sp>
        <p:nvSpPr>
          <p:cNvPr id="517125" name="AutoShape 5"/>
          <p:cNvSpPr>
            <a:spLocks noChangeArrowheads="1"/>
          </p:cNvSpPr>
          <p:nvPr/>
        </p:nvSpPr>
        <p:spPr bwMode="auto">
          <a:xfrm>
            <a:off x="2844800" y="3590909"/>
            <a:ext cx="2722651" cy="408623"/>
          </a:xfrm>
          <a:prstGeom prst="wedgeRoundRectCallout">
            <a:avLst>
              <a:gd name="adj1" fmla="val -34959"/>
              <a:gd name="adj2" fmla="val 56631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返回结果：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boolean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类型</a:t>
            </a:r>
          </a:p>
        </p:txBody>
      </p:sp>
      <p:sp>
        <p:nvSpPr>
          <p:cNvPr id="5171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zh-CN" b="1" dirty="0"/>
              <a:t>带</a:t>
            </a:r>
            <a:r>
              <a:rPr lang="zh-CN" altLang="en-US" b="1" dirty="0"/>
              <a:t>多</a:t>
            </a:r>
            <a:r>
              <a:rPr lang="zh-CN" altLang="zh-CN" b="1" dirty="0"/>
              <a:t>个参数的方法</a:t>
            </a:r>
            <a:r>
              <a:rPr lang="zh-CN" altLang="en-US" b="1" dirty="0"/>
              <a:t>2</a:t>
            </a:r>
            <a:r>
              <a:rPr lang="en-US" altLang="zh-CN" b="1" dirty="0"/>
              <a:t>-2</a:t>
            </a:r>
          </a:p>
        </p:txBody>
      </p:sp>
      <p:sp>
        <p:nvSpPr>
          <p:cNvPr id="517128" name="Rectangle 8"/>
          <p:cNvSpPr>
            <a:spLocks noChangeArrowheads="1"/>
          </p:cNvSpPr>
          <p:nvPr/>
        </p:nvSpPr>
        <p:spPr bwMode="auto">
          <a:xfrm>
            <a:off x="3606777" y="1568439"/>
            <a:ext cx="3240087" cy="288925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17129" name="Rectangle 9"/>
          <p:cNvSpPr>
            <a:spLocks noChangeArrowheads="1"/>
          </p:cNvSpPr>
          <p:nvPr/>
        </p:nvSpPr>
        <p:spPr bwMode="auto">
          <a:xfrm>
            <a:off x="1071538" y="4714885"/>
            <a:ext cx="1428760" cy="357189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17130" name="Rectangle 10"/>
          <p:cNvSpPr>
            <a:spLocks noChangeArrowheads="1"/>
          </p:cNvSpPr>
          <p:nvPr/>
        </p:nvSpPr>
        <p:spPr bwMode="auto">
          <a:xfrm>
            <a:off x="1214414" y="1568439"/>
            <a:ext cx="1008063" cy="288925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17140" name="AutoShape 20"/>
          <p:cNvSpPr>
            <a:spLocks noChangeArrowheads="1"/>
          </p:cNvSpPr>
          <p:nvPr/>
        </p:nvSpPr>
        <p:spPr bwMode="auto">
          <a:xfrm>
            <a:off x="3675091" y="4143380"/>
            <a:ext cx="5040313" cy="1892826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algn="l" defTabSz="3556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if(</a:t>
            </a:r>
            <a:r>
              <a:rPr lang="en-US" altLang="en-US" b="1" dirty="0" err="1" smtClean="0">
                <a:cs typeface="Times New Roman" pitchFamily="18" charset="0"/>
              </a:rPr>
              <a:t>st.searchName</a:t>
            </a:r>
            <a:r>
              <a:rPr lang="en-US" altLang="en-US" b="1" dirty="0" smtClean="0">
                <a:cs typeface="Times New Roman" pitchFamily="18" charset="0"/>
              </a:rPr>
              <a:t>(</a:t>
            </a:r>
            <a:r>
              <a:rPr lang="en-US" altLang="en-US" b="1" dirty="0" err="1" smtClean="0">
                <a:solidFill>
                  <a:srgbClr val="0000FF"/>
                </a:solidFill>
                <a:cs typeface="Times New Roman" pitchFamily="18" charset="0"/>
              </a:rPr>
              <a:t>s,e,name</a:t>
            </a:r>
            <a:r>
              <a:rPr lang="en-US" altLang="en-US" b="1" dirty="0" smtClean="0">
                <a:cs typeface="Times New Roman" pitchFamily="18" charset="0"/>
              </a:rPr>
              <a:t>)) {</a:t>
            </a:r>
          </a:p>
          <a:p>
            <a:pPr algn="l" defTabSz="3556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	</a:t>
            </a:r>
            <a:r>
              <a:rPr lang="en-US" altLang="en-US" b="1" dirty="0" err="1" smtClean="0">
                <a:cs typeface="Times New Roman" pitchFamily="18" charset="0"/>
              </a:rPr>
              <a:t>System.out.println</a:t>
            </a:r>
            <a:r>
              <a:rPr lang="en-US" altLang="en-US" b="1" dirty="0" smtClean="0">
                <a:cs typeface="Times New Roman" pitchFamily="18" charset="0"/>
              </a:rPr>
              <a:t>("</a:t>
            </a:r>
            <a:r>
              <a:rPr lang="en-US" altLang="en-US" b="1" dirty="0" err="1" smtClean="0">
                <a:cs typeface="Times New Roman" pitchFamily="18" charset="0"/>
              </a:rPr>
              <a:t>找到了</a:t>
            </a:r>
            <a:r>
              <a:rPr lang="en-US" altLang="en-US" b="1" dirty="0" smtClean="0">
                <a:cs typeface="Times New Roman" pitchFamily="18" charset="0"/>
              </a:rPr>
              <a:t>！");</a:t>
            </a:r>
          </a:p>
          <a:p>
            <a:pPr algn="l" defTabSz="3556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}else{</a:t>
            </a:r>
          </a:p>
          <a:p>
            <a:pPr algn="l" defTabSz="3556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	</a:t>
            </a:r>
            <a:r>
              <a:rPr lang="en-US" altLang="en-US" b="1" dirty="0" err="1" smtClean="0">
                <a:cs typeface="Times New Roman" pitchFamily="18" charset="0"/>
              </a:rPr>
              <a:t>System.out.println</a:t>
            </a:r>
            <a:r>
              <a:rPr lang="en-US" altLang="en-US" b="1" dirty="0" smtClean="0">
                <a:cs typeface="Times New Roman" pitchFamily="18" charset="0"/>
              </a:rPr>
              <a:t>("</a:t>
            </a:r>
            <a:r>
              <a:rPr lang="en-US" altLang="en-US" b="1" dirty="0" err="1" smtClean="0">
                <a:cs typeface="Times New Roman" pitchFamily="18" charset="0"/>
              </a:rPr>
              <a:t>没找到该学生</a:t>
            </a:r>
            <a:r>
              <a:rPr lang="en-US" altLang="en-US" b="1" dirty="0" smtClean="0">
                <a:cs typeface="Times New Roman" pitchFamily="18" charset="0"/>
              </a:rPr>
              <a:t>！");</a:t>
            </a:r>
          </a:p>
          <a:p>
            <a:pPr algn="l" defTabSz="3556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}</a:t>
            </a:r>
            <a:endParaRPr lang="en-US" altLang="en-US" b="1" dirty="0">
              <a:cs typeface="Times New Roman" pitchFamily="18" charset="0"/>
            </a:endParaRPr>
          </a:p>
        </p:txBody>
      </p:sp>
      <p:sp>
        <p:nvSpPr>
          <p:cNvPr id="517142" name="AutoShape 22"/>
          <p:cNvSpPr>
            <a:spLocks noChangeArrowheads="1"/>
          </p:cNvSpPr>
          <p:nvPr/>
        </p:nvSpPr>
        <p:spPr bwMode="auto">
          <a:xfrm>
            <a:off x="6115086" y="3521057"/>
            <a:ext cx="1609825" cy="408623"/>
          </a:xfrm>
          <a:prstGeom prst="wedgeRoundRectCallout">
            <a:avLst>
              <a:gd name="adj1" fmla="val -29836"/>
              <a:gd name="adj2" fmla="val 48562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传递三个实参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71406" y="857232"/>
            <a:ext cx="1000132" cy="414475"/>
            <a:chOff x="1000100" y="2528843"/>
            <a:chExt cx="1000132" cy="414475"/>
          </a:xfrm>
        </p:grpSpPr>
        <p:pic>
          <p:nvPicPr>
            <p:cNvPr id="22" name="Picture 8" descr="E:\设计支持\模板设计\sl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2528843"/>
              <a:ext cx="446984" cy="414475"/>
            </a:xfrm>
            <a:prstGeom prst="rect">
              <a:avLst/>
            </a:prstGeom>
            <a:noFill/>
          </p:spPr>
        </p:pic>
        <p:sp>
          <p:nvSpPr>
            <p:cNvPr id="23" name="TextBox 22"/>
            <p:cNvSpPr txBox="1"/>
            <p:nvPr/>
          </p:nvSpPr>
          <p:spPr>
            <a:xfrm>
              <a:off x="1299399" y="2536025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示例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cxnSp>
        <p:nvCxnSpPr>
          <p:cNvPr id="25" name="直接箭头连接符 24"/>
          <p:cNvCxnSpPr/>
          <p:nvPr/>
        </p:nvCxnSpPr>
        <p:spPr bwMode="auto">
          <a:xfrm rot="5400000" flipH="1" flipV="1">
            <a:off x="1917812" y="1228410"/>
            <a:ext cx="354184" cy="332221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 bwMode="auto">
          <a:xfrm rot="5400000" flipH="1" flipV="1">
            <a:off x="5954059" y="1335567"/>
            <a:ext cx="354184" cy="260783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 bwMode="auto">
          <a:xfrm flipV="1">
            <a:off x="2571736" y="4074948"/>
            <a:ext cx="760849" cy="639936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 bwMode="auto">
          <a:xfrm flipV="1">
            <a:off x="6246859" y="3932072"/>
            <a:ext cx="475097" cy="354184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灯片编号占位符 2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52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90848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1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1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51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122" grpId="0" animBg="1"/>
      <p:bldP spid="517123" grpId="0" animBg="1"/>
      <p:bldP spid="517124" grpId="0" animBg="1"/>
      <p:bldP spid="517125" grpId="0" animBg="1"/>
      <p:bldP spid="517128" grpId="0" animBg="1"/>
      <p:bldP spid="517129" grpId="0" animBg="1"/>
      <p:bldP spid="517130" grpId="0" animBg="1"/>
      <p:bldP spid="517140" grpId="0" animBg="1"/>
      <p:bldP spid="51714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AutoShape 2"/>
          <p:cNvSpPr>
            <a:spLocks noChangeArrowheads="1"/>
          </p:cNvSpPr>
          <p:nvPr/>
        </p:nvSpPr>
        <p:spPr bwMode="auto">
          <a:xfrm>
            <a:off x="950915" y="1500174"/>
            <a:ext cx="6764357" cy="2613023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//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方法定义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public void addName(String name){ 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//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方法体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}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//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方法调用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对象名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.addName(String  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张三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"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)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；</a:t>
            </a:r>
          </a:p>
        </p:txBody>
      </p:sp>
      <p:sp>
        <p:nvSpPr>
          <p:cNvPr id="519171" name="AutoShape 3"/>
          <p:cNvSpPr>
            <a:spLocks noChangeArrowheads="1"/>
          </p:cNvSpPr>
          <p:nvPr/>
        </p:nvSpPr>
        <p:spPr bwMode="gray">
          <a:xfrm>
            <a:off x="1214414" y="5143512"/>
            <a:ext cx="5000660" cy="642942"/>
          </a:xfrm>
          <a:prstGeom prst="roundRect">
            <a:avLst>
              <a:gd name="adj" fmla="val 0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en-US" sz="2000" b="1" dirty="0"/>
              <a:t>调用方法时不能指定实参类型！</a:t>
            </a:r>
            <a:endParaRPr lang="en-US" altLang="zh-CN" sz="2000" b="1" dirty="0"/>
          </a:p>
        </p:txBody>
      </p:sp>
      <p:sp>
        <p:nvSpPr>
          <p:cNvPr id="519172" name="Rectangle 4"/>
          <p:cNvSpPr>
            <a:spLocks noChangeArrowheads="1"/>
          </p:cNvSpPr>
          <p:nvPr/>
        </p:nvSpPr>
        <p:spPr bwMode="auto">
          <a:xfrm>
            <a:off x="2922582" y="3709992"/>
            <a:ext cx="720724" cy="287337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342900" indent="-342900">
              <a:buClr>
                <a:schemeClr val="tx2"/>
              </a:buClr>
              <a:buSzPct val="80000"/>
              <a:buBlip>
                <a:blip r:embed="rId3"/>
              </a:buBlip>
            </a:pPr>
            <a:endParaRPr lang="zh-CN" altLang="en-US" sz="2800" b="1" dirty="0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1917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/>
              <a:t>常见错误</a:t>
            </a:r>
            <a:r>
              <a:rPr lang="en-US" altLang="zh-CN" b="1"/>
              <a:t>4-1</a:t>
            </a:r>
            <a:endParaRPr lang="zh-CN" altLang="en-US" b="1"/>
          </a:p>
        </p:txBody>
      </p:sp>
      <p:sp>
        <p:nvSpPr>
          <p:cNvPr id="519176" name="AutoShape 8"/>
          <p:cNvSpPr>
            <a:spLocks noChangeArrowheads="1"/>
          </p:cNvSpPr>
          <p:nvPr/>
        </p:nvSpPr>
        <p:spPr bwMode="gray">
          <a:xfrm>
            <a:off x="4786314" y="3638554"/>
            <a:ext cx="3744913" cy="433388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en-US" b="1" dirty="0"/>
              <a:t>对象名</a:t>
            </a:r>
            <a:r>
              <a:rPr lang="en-US" altLang="zh-CN" b="1" dirty="0"/>
              <a:t>.addName("</a:t>
            </a:r>
            <a:r>
              <a:rPr lang="zh-CN" altLang="en-US" b="1" dirty="0"/>
              <a:t>张三</a:t>
            </a:r>
            <a:r>
              <a:rPr lang="en-US" altLang="en-US" b="1" dirty="0"/>
              <a:t>"</a:t>
            </a:r>
            <a:r>
              <a:rPr lang="en-US" altLang="zh-CN" b="1" dirty="0"/>
              <a:t>)</a:t>
            </a:r>
            <a:r>
              <a:rPr lang="zh-CN" altLang="en-US" b="1" dirty="0"/>
              <a:t>；</a:t>
            </a:r>
          </a:p>
        </p:txBody>
      </p:sp>
      <p:grpSp>
        <p:nvGrpSpPr>
          <p:cNvPr id="8" name="组合 77"/>
          <p:cNvGrpSpPr/>
          <p:nvPr/>
        </p:nvGrpSpPr>
        <p:grpSpPr>
          <a:xfrm>
            <a:off x="71406" y="857232"/>
            <a:ext cx="1469411" cy="400110"/>
            <a:chOff x="2962268" y="5103147"/>
            <a:chExt cx="1469411" cy="400110"/>
          </a:xfrm>
        </p:grpSpPr>
        <p:pic>
          <p:nvPicPr>
            <p:cNvPr id="9" name="Picture 4" descr="C:\Users\meng.zhang\Desktop\ACCP7.0模版图标规范\list_num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962268" y="5141278"/>
              <a:ext cx="323848" cy="323848"/>
            </a:xfrm>
            <a:prstGeom prst="rect">
              <a:avLst/>
            </a:prstGeom>
            <a:noFill/>
          </p:spPr>
        </p:pic>
        <p:sp>
          <p:nvSpPr>
            <p:cNvPr id="10" name="TextBox 9"/>
            <p:cNvSpPr txBox="1"/>
            <p:nvPr/>
          </p:nvSpPr>
          <p:spPr>
            <a:xfrm>
              <a:off x="3214678" y="5103147"/>
              <a:ext cx="1217001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代码阅读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grpSp>
        <p:nvGrpSpPr>
          <p:cNvPr id="12" name="组合 68"/>
          <p:cNvGrpSpPr/>
          <p:nvPr/>
        </p:nvGrpSpPr>
        <p:grpSpPr>
          <a:xfrm>
            <a:off x="125395" y="4643446"/>
            <a:ext cx="1058023" cy="414475"/>
            <a:chOff x="1000100" y="3950459"/>
            <a:chExt cx="1058023" cy="414475"/>
          </a:xfrm>
        </p:grpSpPr>
        <p:pic>
          <p:nvPicPr>
            <p:cNvPr id="13" name="Picture 1" descr="E:\设计支持\模板设计\ZY.pn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000100" y="3950459"/>
              <a:ext cx="463239" cy="414475"/>
            </a:xfrm>
            <a:prstGeom prst="rect">
              <a:avLst/>
            </a:prstGeom>
            <a:noFill/>
          </p:spPr>
        </p:pic>
        <p:sp>
          <p:nvSpPr>
            <p:cNvPr id="14" name="TextBox 13"/>
            <p:cNvSpPr txBox="1"/>
            <p:nvPr/>
          </p:nvSpPr>
          <p:spPr>
            <a:xfrm>
              <a:off x="1357290" y="3957641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注意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5" name="灯片编号占位符 1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53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268474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1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19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170" grpId="0" animBg="1"/>
      <p:bldP spid="519171" grpId="0" animBg="1"/>
      <p:bldP spid="519172" grpId="0" animBg="1"/>
      <p:bldP spid="51917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AutoShape 2"/>
          <p:cNvSpPr>
            <a:spLocks noChangeArrowheads="1"/>
          </p:cNvSpPr>
          <p:nvPr/>
        </p:nvSpPr>
        <p:spPr bwMode="auto">
          <a:xfrm>
            <a:off x="992190" y="1487504"/>
            <a:ext cx="6794520" cy="3693319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//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方法定义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public boolean searchName(int start ,int end ,String name){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//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方法体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}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//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方法调用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String s="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开始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";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int e=3;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String name="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张三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";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boolean flag=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对象名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. searchName(s ,e ,name);</a:t>
            </a:r>
          </a:p>
        </p:txBody>
      </p:sp>
      <p:sp>
        <p:nvSpPr>
          <p:cNvPr id="521219" name="AutoShape 3"/>
          <p:cNvSpPr>
            <a:spLocks noChangeArrowheads="1"/>
          </p:cNvSpPr>
          <p:nvPr/>
        </p:nvSpPr>
        <p:spPr bwMode="gray">
          <a:xfrm>
            <a:off x="1285852" y="5780108"/>
            <a:ext cx="4464050" cy="649288"/>
          </a:xfrm>
          <a:prstGeom prst="roundRect">
            <a:avLst>
              <a:gd name="adj" fmla="val 0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en-US" altLang="zh-CN" sz="2000" b="1" dirty="0"/>
              <a:t>形参和实参数据类型不一致</a:t>
            </a:r>
            <a:r>
              <a:rPr lang="zh-CN" altLang="en-US" sz="2000" b="1" dirty="0"/>
              <a:t>！</a:t>
            </a:r>
          </a:p>
        </p:txBody>
      </p:sp>
      <p:sp>
        <p:nvSpPr>
          <p:cNvPr id="521220" name="Rectangle 4"/>
          <p:cNvSpPr>
            <a:spLocks noChangeArrowheads="1"/>
          </p:cNvSpPr>
          <p:nvPr/>
        </p:nvSpPr>
        <p:spPr bwMode="auto">
          <a:xfrm>
            <a:off x="4786313" y="4786322"/>
            <a:ext cx="214314" cy="285752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2122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42872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/>
              <a:t>常见错误</a:t>
            </a:r>
            <a:r>
              <a:rPr lang="en-US" altLang="zh-CN" b="1"/>
              <a:t>4-2</a:t>
            </a:r>
            <a:endParaRPr lang="zh-CN" altLang="en-US" b="1"/>
          </a:p>
        </p:txBody>
      </p:sp>
      <p:sp>
        <p:nvSpPr>
          <p:cNvPr id="521223" name="Rectangle 7"/>
          <p:cNvSpPr>
            <a:spLocks noChangeArrowheads="1"/>
          </p:cNvSpPr>
          <p:nvPr/>
        </p:nvSpPr>
        <p:spPr bwMode="auto">
          <a:xfrm>
            <a:off x="1054102" y="3714752"/>
            <a:ext cx="874692" cy="285752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21224" name="Rectangle 8"/>
          <p:cNvSpPr>
            <a:spLocks noChangeArrowheads="1"/>
          </p:cNvSpPr>
          <p:nvPr/>
        </p:nvSpPr>
        <p:spPr bwMode="auto">
          <a:xfrm>
            <a:off x="4143371" y="1928802"/>
            <a:ext cx="936625" cy="360363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9" name="组合 77"/>
          <p:cNvGrpSpPr/>
          <p:nvPr/>
        </p:nvGrpSpPr>
        <p:grpSpPr>
          <a:xfrm>
            <a:off x="71406" y="857232"/>
            <a:ext cx="1469411" cy="400110"/>
            <a:chOff x="2962268" y="5103147"/>
            <a:chExt cx="1469411" cy="400110"/>
          </a:xfrm>
        </p:grpSpPr>
        <p:pic>
          <p:nvPicPr>
            <p:cNvPr id="10" name="Picture 4" descr="C:\Users\meng.zhang\Desktop\ACCP7.0模版图标规范\list_num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962268" y="5141278"/>
              <a:ext cx="323848" cy="323848"/>
            </a:xfrm>
            <a:prstGeom prst="rect">
              <a:avLst/>
            </a:prstGeom>
            <a:noFill/>
          </p:spPr>
        </p:pic>
        <p:sp>
          <p:nvSpPr>
            <p:cNvPr id="11" name="TextBox 10"/>
            <p:cNvSpPr txBox="1"/>
            <p:nvPr/>
          </p:nvSpPr>
          <p:spPr>
            <a:xfrm>
              <a:off x="3214678" y="5103147"/>
              <a:ext cx="1217001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代码阅读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grpSp>
        <p:nvGrpSpPr>
          <p:cNvPr id="16" name="组合 68"/>
          <p:cNvGrpSpPr/>
          <p:nvPr/>
        </p:nvGrpSpPr>
        <p:grpSpPr>
          <a:xfrm>
            <a:off x="125395" y="5443417"/>
            <a:ext cx="1058023" cy="414475"/>
            <a:chOff x="1000100" y="3950459"/>
            <a:chExt cx="1058023" cy="414475"/>
          </a:xfrm>
        </p:grpSpPr>
        <p:pic>
          <p:nvPicPr>
            <p:cNvPr id="17" name="Picture 1" descr="E:\设计支持\模板设计\ZY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3950459"/>
              <a:ext cx="463239" cy="414475"/>
            </a:xfrm>
            <a:prstGeom prst="rect">
              <a:avLst/>
            </a:prstGeom>
            <a:noFill/>
          </p:spPr>
        </p:pic>
        <p:sp>
          <p:nvSpPr>
            <p:cNvPr id="18" name="TextBox 17"/>
            <p:cNvSpPr txBox="1"/>
            <p:nvPr/>
          </p:nvSpPr>
          <p:spPr>
            <a:xfrm>
              <a:off x="1357290" y="3957641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注意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5" name="灯片编号占位符 1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54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330727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2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2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218" grpId="0" animBg="1"/>
      <p:bldP spid="521219" grpId="0" animBg="1"/>
      <p:bldP spid="521220" grpId="0" animBg="1"/>
      <p:bldP spid="521223" grpId="0" animBg="1"/>
      <p:bldP spid="5212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AutoShape 2"/>
          <p:cNvSpPr>
            <a:spLocks noChangeArrowheads="1"/>
          </p:cNvSpPr>
          <p:nvPr/>
        </p:nvSpPr>
        <p:spPr bwMode="auto">
          <a:xfrm>
            <a:off x="1001715" y="1473999"/>
            <a:ext cx="6784995" cy="3333220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//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方法定义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public boolean searchName(int start,int end,String name){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//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方法体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}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//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方法调用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int s=1;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int e=3;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boolean flag= 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对象名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.searchName(s,e);</a:t>
            </a:r>
          </a:p>
        </p:txBody>
      </p:sp>
      <p:sp>
        <p:nvSpPr>
          <p:cNvPr id="522243" name="AutoShape 3"/>
          <p:cNvSpPr>
            <a:spLocks noChangeArrowheads="1"/>
          </p:cNvSpPr>
          <p:nvPr/>
        </p:nvSpPr>
        <p:spPr bwMode="gray">
          <a:xfrm>
            <a:off x="1142976" y="5424506"/>
            <a:ext cx="4319587" cy="647700"/>
          </a:xfrm>
          <a:prstGeom prst="roundRect">
            <a:avLst>
              <a:gd name="adj" fmla="val 0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zh-CN" sz="2000" b="1" dirty="0"/>
              <a:t>形参和实参数量不一致</a:t>
            </a:r>
            <a:r>
              <a:rPr lang="zh-CN" altLang="en-US" sz="2000" b="1" dirty="0"/>
              <a:t>！</a:t>
            </a:r>
            <a:endParaRPr lang="en-US" altLang="zh-CN" sz="2000" b="1" dirty="0"/>
          </a:p>
        </p:txBody>
      </p:sp>
      <p:sp>
        <p:nvSpPr>
          <p:cNvPr id="522244" name="Rectangle 4"/>
          <p:cNvSpPr>
            <a:spLocks noChangeArrowheads="1"/>
          </p:cNvSpPr>
          <p:nvPr/>
        </p:nvSpPr>
        <p:spPr bwMode="auto">
          <a:xfrm>
            <a:off x="4143372" y="1928802"/>
            <a:ext cx="3095625" cy="288925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22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/>
              <a:t>常见错误</a:t>
            </a:r>
            <a:r>
              <a:rPr lang="en-US" altLang="zh-CN" b="1"/>
              <a:t>4-3</a:t>
            </a:r>
            <a:endParaRPr lang="zh-CN" altLang="en-US" b="1"/>
          </a:p>
        </p:txBody>
      </p:sp>
      <p:sp>
        <p:nvSpPr>
          <p:cNvPr id="522250" name="Rectangle 10"/>
          <p:cNvSpPr>
            <a:spLocks noChangeArrowheads="1"/>
          </p:cNvSpPr>
          <p:nvPr/>
        </p:nvSpPr>
        <p:spPr bwMode="auto">
          <a:xfrm>
            <a:off x="4786314" y="4429132"/>
            <a:ext cx="503237" cy="288925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8" name="组合 77"/>
          <p:cNvGrpSpPr/>
          <p:nvPr/>
        </p:nvGrpSpPr>
        <p:grpSpPr>
          <a:xfrm>
            <a:off x="71406" y="857232"/>
            <a:ext cx="1469411" cy="400110"/>
            <a:chOff x="2962268" y="5103147"/>
            <a:chExt cx="1469411" cy="400110"/>
          </a:xfrm>
        </p:grpSpPr>
        <p:pic>
          <p:nvPicPr>
            <p:cNvPr id="9" name="Picture 4" descr="C:\Users\meng.zhang\Desktop\ACCP7.0模版图标规范\list_num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962268" y="5141278"/>
              <a:ext cx="323848" cy="323848"/>
            </a:xfrm>
            <a:prstGeom prst="rect">
              <a:avLst/>
            </a:prstGeom>
            <a:noFill/>
          </p:spPr>
        </p:pic>
        <p:sp>
          <p:nvSpPr>
            <p:cNvPr id="10" name="TextBox 9"/>
            <p:cNvSpPr txBox="1"/>
            <p:nvPr/>
          </p:nvSpPr>
          <p:spPr>
            <a:xfrm>
              <a:off x="3214678" y="5103147"/>
              <a:ext cx="1217001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代码阅读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grpSp>
        <p:nvGrpSpPr>
          <p:cNvPr id="12" name="组合 68"/>
          <p:cNvGrpSpPr/>
          <p:nvPr/>
        </p:nvGrpSpPr>
        <p:grpSpPr>
          <a:xfrm>
            <a:off x="125395" y="5014789"/>
            <a:ext cx="1058023" cy="414475"/>
            <a:chOff x="1000100" y="3950459"/>
            <a:chExt cx="1058023" cy="414475"/>
          </a:xfrm>
        </p:grpSpPr>
        <p:pic>
          <p:nvPicPr>
            <p:cNvPr id="13" name="Picture 1" descr="E:\设计支持\模板设计\ZY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3950459"/>
              <a:ext cx="463239" cy="414475"/>
            </a:xfrm>
            <a:prstGeom prst="rect">
              <a:avLst/>
            </a:prstGeom>
            <a:noFill/>
          </p:spPr>
        </p:pic>
        <p:sp>
          <p:nvSpPr>
            <p:cNvPr id="14" name="TextBox 13"/>
            <p:cNvSpPr txBox="1"/>
            <p:nvPr/>
          </p:nvSpPr>
          <p:spPr>
            <a:xfrm>
              <a:off x="1357290" y="3957641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注意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5" name="灯片编号占位符 1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55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42437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2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22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42" grpId="0" animBg="1"/>
      <p:bldP spid="522243" grpId="0" animBg="1"/>
      <p:bldP spid="522244" grpId="0" animBg="1"/>
      <p:bldP spid="52225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AutoShape 2"/>
          <p:cNvSpPr>
            <a:spLocks noChangeArrowheads="1"/>
          </p:cNvSpPr>
          <p:nvPr/>
        </p:nvSpPr>
        <p:spPr bwMode="auto">
          <a:xfrm>
            <a:off x="992190" y="1378757"/>
            <a:ext cx="6865958" cy="3693319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//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方法定义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public boolean searchName(int start,int end,String name){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	//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方法体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}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//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方法调用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int s=1;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int e=3;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String name="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张三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";</a:t>
            </a:r>
          </a:p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对象名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.searchName(s,e,name);</a:t>
            </a:r>
          </a:p>
        </p:txBody>
      </p:sp>
      <p:sp>
        <p:nvSpPr>
          <p:cNvPr id="523267" name="AutoShape 3"/>
          <p:cNvSpPr>
            <a:spLocks noChangeArrowheads="1"/>
          </p:cNvSpPr>
          <p:nvPr/>
        </p:nvSpPr>
        <p:spPr bwMode="gray">
          <a:xfrm>
            <a:off x="1214414" y="5711845"/>
            <a:ext cx="5545138" cy="574675"/>
          </a:xfrm>
          <a:prstGeom prst="roundRect">
            <a:avLst>
              <a:gd name="adj" fmla="val 4733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zh-CN" sz="2000" b="1" dirty="0"/>
              <a:t>调用方法后没有对返回值作任何处理</a:t>
            </a:r>
            <a:r>
              <a:rPr lang="zh-CN" altLang="en-US" sz="2000" b="1" dirty="0"/>
              <a:t>！</a:t>
            </a:r>
            <a:endParaRPr lang="en-US" altLang="zh-CN" sz="2000" b="1" dirty="0"/>
          </a:p>
        </p:txBody>
      </p:sp>
      <p:sp>
        <p:nvSpPr>
          <p:cNvPr id="52326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/>
              <a:t>常见错误</a:t>
            </a:r>
            <a:r>
              <a:rPr lang="en-US" altLang="zh-CN" b="1"/>
              <a:t>4-4</a:t>
            </a:r>
            <a:endParaRPr lang="zh-CN" altLang="en-US" b="1"/>
          </a:p>
        </p:txBody>
      </p:sp>
      <p:sp>
        <p:nvSpPr>
          <p:cNvPr id="523270" name="Rectangle 6"/>
          <p:cNvSpPr>
            <a:spLocks noChangeArrowheads="1"/>
          </p:cNvSpPr>
          <p:nvPr/>
        </p:nvSpPr>
        <p:spPr bwMode="auto">
          <a:xfrm>
            <a:off x="1071537" y="4643446"/>
            <a:ext cx="3579813" cy="393700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23271" name="Rectangle 7"/>
          <p:cNvSpPr>
            <a:spLocks noChangeArrowheads="1"/>
          </p:cNvSpPr>
          <p:nvPr/>
        </p:nvSpPr>
        <p:spPr bwMode="auto">
          <a:xfrm>
            <a:off x="1714479" y="1785926"/>
            <a:ext cx="1008063" cy="322263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8" name="组合 77"/>
          <p:cNvGrpSpPr/>
          <p:nvPr/>
        </p:nvGrpSpPr>
        <p:grpSpPr>
          <a:xfrm>
            <a:off x="71406" y="857232"/>
            <a:ext cx="1469411" cy="400110"/>
            <a:chOff x="2962268" y="5103147"/>
            <a:chExt cx="1469411" cy="400110"/>
          </a:xfrm>
        </p:grpSpPr>
        <p:pic>
          <p:nvPicPr>
            <p:cNvPr id="9" name="Picture 4" descr="C:\Users\meng.zhang\Desktop\ACCP7.0模版图标规范\list_num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962268" y="5141278"/>
              <a:ext cx="323848" cy="323848"/>
            </a:xfrm>
            <a:prstGeom prst="rect">
              <a:avLst/>
            </a:prstGeom>
            <a:noFill/>
          </p:spPr>
        </p:pic>
        <p:sp>
          <p:nvSpPr>
            <p:cNvPr id="10" name="TextBox 9"/>
            <p:cNvSpPr txBox="1"/>
            <p:nvPr/>
          </p:nvSpPr>
          <p:spPr>
            <a:xfrm>
              <a:off x="3214678" y="5103147"/>
              <a:ext cx="1217001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代码阅读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grpSp>
        <p:nvGrpSpPr>
          <p:cNvPr id="12" name="组合 68"/>
          <p:cNvGrpSpPr/>
          <p:nvPr/>
        </p:nvGrpSpPr>
        <p:grpSpPr>
          <a:xfrm>
            <a:off x="125395" y="5229103"/>
            <a:ext cx="1058023" cy="414475"/>
            <a:chOff x="1000100" y="3950459"/>
            <a:chExt cx="1058023" cy="414475"/>
          </a:xfrm>
        </p:grpSpPr>
        <p:pic>
          <p:nvPicPr>
            <p:cNvPr id="13" name="Picture 1" descr="E:\设计支持\模板设计\ZY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3950459"/>
              <a:ext cx="463239" cy="414475"/>
            </a:xfrm>
            <a:prstGeom prst="rect">
              <a:avLst/>
            </a:prstGeom>
            <a:noFill/>
          </p:spPr>
        </p:pic>
        <p:sp>
          <p:nvSpPr>
            <p:cNvPr id="14" name="TextBox 13"/>
            <p:cNvSpPr txBox="1"/>
            <p:nvPr/>
          </p:nvSpPr>
          <p:spPr>
            <a:xfrm>
              <a:off x="1357290" y="3957641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注意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5" name="灯片编号占位符 1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56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2311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2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2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266" grpId="0" animBg="1"/>
      <p:bldP spid="523267" grpId="0" animBg="1"/>
      <p:bldP spid="523270" grpId="0" animBg="1"/>
      <p:bldP spid="52327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42872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 smtClean="0"/>
              <a:t>数组作为参数</a:t>
            </a:r>
            <a:r>
              <a:rPr lang="zh-CN" altLang="zh-CN" b="1" dirty="0" smtClean="0"/>
              <a:t>的方法</a:t>
            </a:r>
            <a:r>
              <a:rPr lang="en-US" altLang="zh-CN" b="1" dirty="0" smtClean="0"/>
              <a:t>2-1</a:t>
            </a:r>
            <a:endParaRPr lang="en-US" altLang="zh-CN" b="1" dirty="0"/>
          </a:p>
        </p:txBody>
      </p:sp>
      <p:sp>
        <p:nvSpPr>
          <p:cNvPr id="516098" name="Rectangle 2"/>
          <p:cNvSpPr>
            <a:spLocks noGrp="1" noChangeArrowheads="1"/>
          </p:cNvSpPr>
          <p:nvPr>
            <p:ph idx="1"/>
          </p:nvPr>
        </p:nvSpPr>
        <p:spPr>
          <a:xfrm>
            <a:off x="784254" y="5214950"/>
            <a:ext cx="7645398" cy="1357322"/>
          </a:xfrm>
        </p:spPr>
        <p:txBody>
          <a:bodyPr/>
          <a:lstStyle/>
          <a:p>
            <a:r>
              <a:rPr lang="zh-CN" altLang="en-US" dirty="0" smtClean="0"/>
              <a:t>将</a:t>
            </a:r>
            <a:r>
              <a:rPr lang="en-US" altLang="zh-CN" dirty="0" smtClean="0"/>
              <a:t>5</a:t>
            </a:r>
            <a:r>
              <a:rPr lang="zh-CN" altLang="en-US" dirty="0" smtClean="0"/>
              <a:t>位学员的决赛成绩保存在数组中</a:t>
            </a:r>
            <a:endParaRPr lang="en-US" altLang="zh-CN" dirty="0" smtClean="0"/>
          </a:p>
          <a:p>
            <a:r>
              <a:rPr lang="zh-CN" altLang="en-US" dirty="0" smtClean="0"/>
              <a:t>设计求平均成绩、最高成绩的方法，并把数组作为参数</a:t>
            </a:r>
            <a:endParaRPr lang="en-US" altLang="zh-CN" dirty="0" smtClean="0"/>
          </a:p>
        </p:txBody>
      </p:sp>
      <p:sp>
        <p:nvSpPr>
          <p:cNvPr id="516101" name="Rectangle 5"/>
          <p:cNvSpPr>
            <a:spLocks noChangeArrowheads="1"/>
          </p:cNvSpPr>
          <p:nvPr/>
        </p:nvSpPr>
        <p:spPr bwMode="auto">
          <a:xfrm>
            <a:off x="784254" y="1276351"/>
            <a:ext cx="7319963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80000"/>
              <a:buBlip>
                <a:blip r:embed="rId2"/>
              </a:buBlip>
            </a:pPr>
            <a:r>
              <a:rPr lang="zh-CN" altLang="en-US" sz="2800" b="1" dirty="0" smtClean="0">
                <a:latin typeface="+mn-lt"/>
                <a:ea typeface="+mn-ea"/>
              </a:rPr>
              <a:t>有</a:t>
            </a:r>
            <a:r>
              <a:rPr lang="en-US" altLang="zh-CN" sz="2800" b="1" dirty="0" smtClean="0">
                <a:latin typeface="+mn-lt"/>
                <a:ea typeface="+mn-ea"/>
              </a:rPr>
              <a:t>5</a:t>
            </a:r>
            <a:r>
              <a:rPr lang="zh-CN" altLang="en-US" sz="2800" b="1" dirty="0" smtClean="0">
                <a:latin typeface="+mn-lt"/>
                <a:ea typeface="+mn-ea"/>
              </a:rPr>
              <a:t>位学员参加了</a:t>
            </a:r>
            <a:r>
              <a:rPr lang="en-US" altLang="zh-CN" sz="2800" b="1" dirty="0" smtClean="0">
                <a:latin typeface="+mn-lt"/>
                <a:ea typeface="+mn-ea"/>
              </a:rPr>
              <a:t>Java</a:t>
            </a:r>
            <a:r>
              <a:rPr lang="zh-CN" altLang="en-US" sz="2800" b="1" dirty="0" smtClean="0">
                <a:latin typeface="+mn-lt"/>
                <a:ea typeface="+mn-ea"/>
              </a:rPr>
              <a:t>知识竞赛的决赛，输出决赛的平均成绩和最高成绩</a:t>
            </a:r>
          </a:p>
        </p:txBody>
      </p:sp>
      <p:grpSp>
        <p:nvGrpSpPr>
          <p:cNvPr id="2" name="组合 9"/>
          <p:cNvGrpSpPr/>
          <p:nvPr/>
        </p:nvGrpSpPr>
        <p:grpSpPr>
          <a:xfrm>
            <a:off x="71406" y="857232"/>
            <a:ext cx="986586" cy="422603"/>
            <a:chOff x="1000100" y="1173499"/>
            <a:chExt cx="986586" cy="422603"/>
          </a:xfrm>
        </p:grpSpPr>
        <p:pic>
          <p:nvPicPr>
            <p:cNvPr id="11" name="Picture 5" descr="E:\设计支持\模板设计\WT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1173499"/>
              <a:ext cx="414476" cy="422603"/>
            </a:xfrm>
            <a:prstGeom prst="rect">
              <a:avLst/>
            </a:prstGeom>
            <a:noFill/>
          </p:spPr>
        </p:pic>
        <p:sp>
          <p:nvSpPr>
            <p:cNvPr id="12" name="TextBox 11"/>
            <p:cNvSpPr txBox="1"/>
            <p:nvPr/>
          </p:nvSpPr>
          <p:spPr>
            <a:xfrm>
              <a:off x="1285852" y="1184745"/>
              <a:ext cx="700834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问题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grpSp>
        <p:nvGrpSpPr>
          <p:cNvPr id="3" name="组合 12"/>
          <p:cNvGrpSpPr/>
          <p:nvPr/>
        </p:nvGrpSpPr>
        <p:grpSpPr>
          <a:xfrm>
            <a:off x="71406" y="4553652"/>
            <a:ext cx="1000132" cy="446983"/>
            <a:chOff x="1000100" y="3235185"/>
            <a:chExt cx="1000132" cy="446983"/>
          </a:xfrm>
        </p:grpSpPr>
        <p:pic>
          <p:nvPicPr>
            <p:cNvPr id="14" name="Picture 11" descr="E:\设计支持\模板设计\FX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00100" y="3235185"/>
              <a:ext cx="398223" cy="446983"/>
            </a:xfrm>
            <a:prstGeom prst="rect">
              <a:avLst/>
            </a:prstGeom>
            <a:noFill/>
          </p:spPr>
        </p:pic>
        <p:sp>
          <p:nvSpPr>
            <p:cNvPr id="15" name="TextBox 14"/>
            <p:cNvSpPr txBox="1"/>
            <p:nvPr/>
          </p:nvSpPr>
          <p:spPr>
            <a:xfrm>
              <a:off x="1299399" y="3258621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分析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pic>
        <p:nvPicPr>
          <p:cNvPr id="13" name="图片 12" descr="图 14.3.bm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3372" y="2285992"/>
            <a:ext cx="3541081" cy="2857520"/>
          </a:xfrm>
          <a:prstGeom prst="rect">
            <a:avLst/>
          </a:prstGeom>
        </p:spPr>
      </p:pic>
      <p:sp>
        <p:nvSpPr>
          <p:cNvPr id="17" name="灯片编号占位符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57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26064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6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6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AutoShape 2"/>
          <p:cNvSpPr>
            <a:spLocks noChangeArrowheads="1"/>
          </p:cNvSpPr>
          <p:nvPr/>
        </p:nvSpPr>
        <p:spPr bwMode="auto">
          <a:xfrm>
            <a:off x="427039" y="1463657"/>
            <a:ext cx="4645028" cy="3333220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public double </a:t>
            </a:r>
            <a:r>
              <a:rPr lang="en-US" altLang="en-US" b="1" dirty="0" err="1" smtClean="0">
                <a:solidFill>
                  <a:srgbClr val="0000FF"/>
                </a:solidFill>
                <a:cs typeface="Times New Roman" pitchFamily="18" charset="0"/>
              </a:rPr>
              <a:t>calAvg</a:t>
            </a: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( </a:t>
            </a:r>
            <a:r>
              <a:rPr lang="en-US" altLang="en-US" b="1" dirty="0" err="1" smtClean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[] scores ){</a:t>
            </a:r>
            <a:endParaRPr lang="zh-CN" altLang="en-US" b="1" dirty="0" smtClean="0">
              <a:solidFill>
                <a:srgbClr val="0000FF"/>
              </a:solidFill>
              <a:cs typeface="Times New Roman" pitchFamily="18" charset="0"/>
            </a:endParaRP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    </a:t>
            </a:r>
            <a:r>
              <a:rPr lang="en-US" altLang="en-US" b="1" dirty="0" err="1" smtClean="0">
                <a:cs typeface="Times New Roman" pitchFamily="18" charset="0"/>
              </a:rPr>
              <a:t>int</a:t>
            </a:r>
            <a:r>
              <a:rPr lang="en-US" altLang="en-US" b="1" dirty="0" smtClean="0">
                <a:cs typeface="Times New Roman" pitchFamily="18" charset="0"/>
              </a:rPr>
              <a:t> sum=0;</a:t>
            </a:r>
            <a:endParaRPr lang="zh-CN" altLang="en-US" b="1" dirty="0" smtClean="0">
              <a:cs typeface="Times New Roman" pitchFamily="18" charset="0"/>
            </a:endParaRP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    double </a:t>
            </a:r>
            <a:r>
              <a:rPr lang="en-US" altLang="en-US" b="1" dirty="0" err="1" smtClean="0">
                <a:cs typeface="Times New Roman" pitchFamily="18" charset="0"/>
              </a:rPr>
              <a:t>avg</a:t>
            </a:r>
            <a:r>
              <a:rPr lang="en-US" altLang="en-US" b="1" dirty="0" smtClean="0">
                <a:cs typeface="Times New Roman" pitchFamily="18" charset="0"/>
              </a:rPr>
              <a:t>=0.0;</a:t>
            </a:r>
            <a:endParaRPr lang="zh-CN" altLang="en-US" b="1" dirty="0" smtClean="0">
              <a:cs typeface="Times New Roman" pitchFamily="18" charset="0"/>
            </a:endParaRP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    for(</a:t>
            </a:r>
            <a:r>
              <a:rPr lang="en-US" altLang="en-US" b="1" dirty="0" err="1" smtClean="0">
                <a:cs typeface="Times New Roman" pitchFamily="18" charset="0"/>
              </a:rPr>
              <a:t>int</a:t>
            </a:r>
            <a:r>
              <a:rPr lang="en-US" altLang="en-US" b="1" dirty="0" smtClean="0">
                <a:cs typeface="Times New Roman" pitchFamily="18" charset="0"/>
              </a:rPr>
              <a:t> </a:t>
            </a:r>
            <a:r>
              <a:rPr lang="en-US" altLang="en-US" b="1" dirty="0" err="1" smtClean="0">
                <a:cs typeface="Times New Roman" pitchFamily="18" charset="0"/>
              </a:rPr>
              <a:t>i</a:t>
            </a:r>
            <a:r>
              <a:rPr lang="en-US" altLang="en-US" b="1" dirty="0" smtClean="0">
                <a:cs typeface="Times New Roman" pitchFamily="18" charset="0"/>
              </a:rPr>
              <a:t> =0;i&lt;</a:t>
            </a:r>
            <a:r>
              <a:rPr lang="en-US" altLang="en-US" b="1" dirty="0" err="1" smtClean="0">
                <a:cs typeface="Times New Roman" pitchFamily="18" charset="0"/>
              </a:rPr>
              <a:t>scores.length;i</a:t>
            </a:r>
            <a:r>
              <a:rPr lang="en-US" altLang="en-US" b="1" dirty="0" smtClean="0">
                <a:cs typeface="Times New Roman" pitchFamily="18" charset="0"/>
              </a:rPr>
              <a:t>++){</a:t>
            </a:r>
            <a:endParaRPr lang="zh-CN" altLang="en-US" b="1" dirty="0" smtClean="0">
              <a:cs typeface="Times New Roman" pitchFamily="18" charset="0"/>
            </a:endParaRP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        sum+=scores[</a:t>
            </a:r>
            <a:r>
              <a:rPr lang="en-US" altLang="en-US" b="1" dirty="0" err="1" smtClean="0">
                <a:cs typeface="Times New Roman" pitchFamily="18" charset="0"/>
              </a:rPr>
              <a:t>i</a:t>
            </a:r>
            <a:r>
              <a:rPr lang="en-US" altLang="en-US" b="1" dirty="0" smtClean="0">
                <a:cs typeface="Times New Roman" pitchFamily="18" charset="0"/>
              </a:rPr>
              <a:t>];</a:t>
            </a:r>
            <a:endParaRPr lang="zh-CN" altLang="en-US" b="1" dirty="0" smtClean="0">
              <a:cs typeface="Times New Roman" pitchFamily="18" charset="0"/>
            </a:endParaRP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    }</a:t>
            </a:r>
            <a:endParaRPr lang="zh-CN" altLang="en-US" b="1" dirty="0" smtClean="0">
              <a:cs typeface="Times New Roman" pitchFamily="18" charset="0"/>
            </a:endParaRP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    </a:t>
            </a:r>
            <a:r>
              <a:rPr lang="en-US" altLang="en-US" b="1" dirty="0" err="1" smtClean="0">
                <a:cs typeface="Times New Roman" pitchFamily="18" charset="0"/>
              </a:rPr>
              <a:t>avg</a:t>
            </a:r>
            <a:r>
              <a:rPr lang="en-US" altLang="en-US" b="1" dirty="0" smtClean="0">
                <a:cs typeface="Times New Roman" pitchFamily="18" charset="0"/>
              </a:rPr>
              <a:t>=(double)sum/</a:t>
            </a:r>
            <a:r>
              <a:rPr lang="en-US" altLang="en-US" b="1" dirty="0" err="1" smtClean="0">
                <a:cs typeface="Times New Roman" pitchFamily="18" charset="0"/>
              </a:rPr>
              <a:t>scores.length</a:t>
            </a:r>
            <a:r>
              <a:rPr lang="en-US" altLang="en-US" b="1" dirty="0" smtClean="0">
                <a:cs typeface="Times New Roman" pitchFamily="18" charset="0"/>
              </a:rPr>
              <a:t>;</a:t>
            </a:r>
            <a:endParaRPr lang="zh-CN" altLang="en-US" b="1" dirty="0" smtClean="0">
              <a:cs typeface="Times New Roman" pitchFamily="18" charset="0"/>
            </a:endParaRP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    return </a:t>
            </a:r>
            <a:r>
              <a:rPr lang="en-US" altLang="en-US" b="1" dirty="0" err="1" smtClean="0">
                <a:cs typeface="Times New Roman" pitchFamily="18" charset="0"/>
              </a:rPr>
              <a:t>avg</a:t>
            </a:r>
            <a:r>
              <a:rPr lang="en-US" altLang="en-US" b="1" dirty="0" smtClean="0">
                <a:cs typeface="Times New Roman" pitchFamily="18" charset="0"/>
              </a:rPr>
              <a:t>;</a:t>
            </a:r>
            <a:endParaRPr lang="zh-CN" altLang="en-US" b="1" dirty="0" smtClean="0">
              <a:cs typeface="Times New Roman" pitchFamily="18" charset="0"/>
            </a:endParaRP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}</a:t>
            </a:r>
          </a:p>
        </p:txBody>
      </p:sp>
      <p:sp>
        <p:nvSpPr>
          <p:cNvPr id="517123" name="AutoShape 3"/>
          <p:cNvSpPr>
            <a:spLocks noChangeArrowheads="1"/>
          </p:cNvSpPr>
          <p:nvPr/>
        </p:nvSpPr>
        <p:spPr bwMode="auto">
          <a:xfrm>
            <a:off x="1763713" y="714355"/>
            <a:ext cx="1385920" cy="408623"/>
          </a:xfrm>
          <a:prstGeom prst="wedgeRoundRectCallout">
            <a:avLst>
              <a:gd name="adj1" fmla="val -25170"/>
              <a:gd name="adj2" fmla="val 47724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返回值类型</a:t>
            </a:r>
          </a:p>
        </p:txBody>
      </p:sp>
      <p:sp>
        <p:nvSpPr>
          <p:cNvPr id="5171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 smtClean="0"/>
              <a:t>数组作为参数</a:t>
            </a:r>
            <a:r>
              <a:rPr lang="zh-CN" altLang="zh-CN" dirty="0" smtClean="0"/>
              <a:t>的方法</a:t>
            </a:r>
            <a:r>
              <a:rPr lang="en-US" altLang="zh-CN" dirty="0" smtClean="0"/>
              <a:t>2-2</a:t>
            </a:r>
            <a:endParaRPr lang="en-US" altLang="zh-CN" b="1" dirty="0"/>
          </a:p>
        </p:txBody>
      </p:sp>
      <p:sp>
        <p:nvSpPr>
          <p:cNvPr id="517130" name="Rectangle 10"/>
          <p:cNvSpPr>
            <a:spLocks noChangeArrowheads="1"/>
          </p:cNvSpPr>
          <p:nvPr/>
        </p:nvSpPr>
        <p:spPr bwMode="auto">
          <a:xfrm>
            <a:off x="1214415" y="1571612"/>
            <a:ext cx="785817" cy="285751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3" name="组合 20"/>
          <p:cNvGrpSpPr/>
          <p:nvPr/>
        </p:nvGrpSpPr>
        <p:grpSpPr>
          <a:xfrm>
            <a:off x="71406" y="857232"/>
            <a:ext cx="1000132" cy="414475"/>
            <a:chOff x="1000100" y="2528843"/>
            <a:chExt cx="1000132" cy="414475"/>
          </a:xfrm>
        </p:grpSpPr>
        <p:pic>
          <p:nvPicPr>
            <p:cNvPr id="22" name="Picture 8" descr="E:\设计支持\模板设计\sl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2528843"/>
              <a:ext cx="446984" cy="414475"/>
            </a:xfrm>
            <a:prstGeom prst="rect">
              <a:avLst/>
            </a:prstGeom>
            <a:noFill/>
          </p:spPr>
        </p:pic>
        <p:sp>
          <p:nvSpPr>
            <p:cNvPr id="23" name="TextBox 22"/>
            <p:cNvSpPr txBox="1"/>
            <p:nvPr/>
          </p:nvSpPr>
          <p:spPr>
            <a:xfrm>
              <a:off x="1299399" y="2536025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示例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cxnSp>
        <p:nvCxnSpPr>
          <p:cNvPr id="25" name="直接箭头连接符 24"/>
          <p:cNvCxnSpPr/>
          <p:nvPr/>
        </p:nvCxnSpPr>
        <p:spPr bwMode="auto">
          <a:xfrm rot="5400000" flipH="1" flipV="1">
            <a:off x="1917812" y="1085533"/>
            <a:ext cx="354184" cy="332221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AutoShape 2"/>
          <p:cNvSpPr>
            <a:spLocks noChangeArrowheads="1"/>
          </p:cNvSpPr>
          <p:nvPr/>
        </p:nvSpPr>
        <p:spPr bwMode="auto">
          <a:xfrm>
            <a:off x="2214546" y="2214554"/>
            <a:ext cx="4645028" cy="3333220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public </a:t>
            </a:r>
            <a:r>
              <a:rPr lang="en-US" altLang="en-US" b="1" dirty="0" err="1" smtClean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en-US" b="1" dirty="0" err="1" smtClean="0">
                <a:solidFill>
                  <a:srgbClr val="0000FF"/>
                </a:solidFill>
                <a:cs typeface="Times New Roman" pitchFamily="18" charset="0"/>
              </a:rPr>
              <a:t>calMax</a:t>
            </a: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( </a:t>
            </a:r>
            <a:r>
              <a:rPr lang="en-US" altLang="en-US" b="1" dirty="0" err="1" smtClean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[] scores ){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    </a:t>
            </a:r>
            <a:r>
              <a:rPr lang="en-US" altLang="en-US" b="1" dirty="0" err="1" smtClean="0">
                <a:cs typeface="Times New Roman" pitchFamily="18" charset="0"/>
              </a:rPr>
              <a:t>int</a:t>
            </a:r>
            <a:r>
              <a:rPr lang="en-US" altLang="en-US" b="1" dirty="0" smtClean="0">
                <a:cs typeface="Times New Roman" pitchFamily="18" charset="0"/>
              </a:rPr>
              <a:t> max=scores[0];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    for(</a:t>
            </a:r>
            <a:r>
              <a:rPr lang="en-US" altLang="en-US" b="1" dirty="0" err="1" smtClean="0">
                <a:cs typeface="Times New Roman" pitchFamily="18" charset="0"/>
              </a:rPr>
              <a:t>int</a:t>
            </a:r>
            <a:r>
              <a:rPr lang="en-US" altLang="en-US" b="1" dirty="0" smtClean="0">
                <a:cs typeface="Times New Roman" pitchFamily="18" charset="0"/>
              </a:rPr>
              <a:t> </a:t>
            </a:r>
            <a:r>
              <a:rPr lang="en-US" altLang="en-US" b="1" dirty="0" err="1" smtClean="0">
                <a:cs typeface="Times New Roman" pitchFamily="18" charset="0"/>
              </a:rPr>
              <a:t>i</a:t>
            </a:r>
            <a:r>
              <a:rPr lang="en-US" altLang="en-US" b="1" dirty="0" smtClean="0">
                <a:cs typeface="Times New Roman" pitchFamily="18" charset="0"/>
              </a:rPr>
              <a:t> =1;i&lt;</a:t>
            </a:r>
            <a:r>
              <a:rPr lang="en-US" altLang="en-US" b="1" dirty="0" err="1" smtClean="0">
                <a:cs typeface="Times New Roman" pitchFamily="18" charset="0"/>
              </a:rPr>
              <a:t>scores.length;i</a:t>
            </a:r>
            <a:r>
              <a:rPr lang="en-US" altLang="en-US" b="1" dirty="0" smtClean="0">
                <a:cs typeface="Times New Roman" pitchFamily="18" charset="0"/>
              </a:rPr>
              <a:t>++){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        if(max&lt;scores[</a:t>
            </a:r>
            <a:r>
              <a:rPr lang="en-US" altLang="en-US" b="1" dirty="0" err="1" smtClean="0">
                <a:cs typeface="Times New Roman" pitchFamily="18" charset="0"/>
              </a:rPr>
              <a:t>i</a:t>
            </a:r>
            <a:r>
              <a:rPr lang="en-US" altLang="en-US" b="1" dirty="0" smtClean="0">
                <a:cs typeface="Times New Roman" pitchFamily="18" charset="0"/>
              </a:rPr>
              <a:t>]){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            max=scores[</a:t>
            </a:r>
            <a:r>
              <a:rPr lang="en-US" altLang="en-US" b="1" dirty="0" err="1" smtClean="0">
                <a:cs typeface="Times New Roman" pitchFamily="18" charset="0"/>
              </a:rPr>
              <a:t>i</a:t>
            </a:r>
            <a:r>
              <a:rPr lang="en-US" altLang="en-US" b="1" dirty="0" smtClean="0">
                <a:cs typeface="Times New Roman" pitchFamily="18" charset="0"/>
              </a:rPr>
              <a:t>];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        }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    }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    return max;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 }</a:t>
            </a:r>
          </a:p>
        </p:txBody>
      </p:sp>
      <p:sp>
        <p:nvSpPr>
          <p:cNvPr id="517140" name="AutoShape 20"/>
          <p:cNvSpPr>
            <a:spLocks noChangeArrowheads="1"/>
          </p:cNvSpPr>
          <p:nvPr/>
        </p:nvSpPr>
        <p:spPr bwMode="auto">
          <a:xfrm>
            <a:off x="4103687" y="4325165"/>
            <a:ext cx="4754593" cy="1532727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3556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</a:t>
            </a:r>
            <a:r>
              <a:rPr lang="en-US" altLang="en-US" b="1" dirty="0" err="1" smtClean="0">
                <a:cs typeface="Times New Roman" pitchFamily="18" charset="0"/>
              </a:rPr>
              <a:t>int</a:t>
            </a:r>
            <a:r>
              <a:rPr lang="en-US" altLang="en-US" b="1" dirty="0" smtClean="0">
                <a:cs typeface="Times New Roman" pitchFamily="18" charset="0"/>
              </a:rPr>
              <a:t>[] scores=new </a:t>
            </a:r>
            <a:r>
              <a:rPr lang="en-US" altLang="en-US" b="1" dirty="0" err="1" smtClean="0">
                <a:cs typeface="Times New Roman" pitchFamily="18" charset="0"/>
              </a:rPr>
              <a:t>int</a:t>
            </a:r>
            <a:r>
              <a:rPr lang="en-US" altLang="en-US" b="1" dirty="0" smtClean="0">
                <a:cs typeface="Times New Roman" pitchFamily="18" charset="0"/>
              </a:rPr>
              <a:t>[5];//</a:t>
            </a:r>
            <a:r>
              <a:rPr lang="zh-CN" altLang="en-US" b="1" dirty="0" smtClean="0">
                <a:cs typeface="Times New Roman" pitchFamily="18" charset="0"/>
              </a:rPr>
              <a:t>保存比赛成绩</a:t>
            </a:r>
            <a:endParaRPr lang="en-US" altLang="zh-CN" b="1" dirty="0" smtClean="0">
              <a:cs typeface="Times New Roman" pitchFamily="18" charset="0"/>
            </a:endParaRPr>
          </a:p>
          <a:p>
            <a:pPr algn="l" defTabSz="355600">
              <a:lnSpc>
                <a:spcPct val="130000"/>
              </a:lnSpc>
            </a:pPr>
            <a:r>
              <a:rPr lang="en-US" altLang="zh-CN" b="1" dirty="0" smtClean="0">
                <a:cs typeface="Times New Roman" pitchFamily="18" charset="0"/>
              </a:rPr>
              <a:t> //……</a:t>
            </a:r>
          </a:p>
          <a:p>
            <a:pPr algn="l" defTabSz="3556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double </a:t>
            </a:r>
            <a:r>
              <a:rPr lang="en-US" altLang="en-US" b="1" dirty="0" err="1" smtClean="0">
                <a:cs typeface="Times New Roman" pitchFamily="18" charset="0"/>
              </a:rPr>
              <a:t>avgScore</a:t>
            </a:r>
            <a:r>
              <a:rPr lang="en-US" altLang="en-US" b="1" dirty="0" smtClean="0">
                <a:cs typeface="Times New Roman" pitchFamily="18" charset="0"/>
              </a:rPr>
              <a:t>=</a:t>
            </a:r>
            <a:r>
              <a:rPr lang="en-US" altLang="en-US" b="1" dirty="0" err="1" smtClean="0">
                <a:cs typeface="Times New Roman" pitchFamily="18" charset="0"/>
              </a:rPr>
              <a:t>st.calAvg</a:t>
            </a:r>
            <a:r>
              <a:rPr lang="en-US" altLang="en-US" b="1" dirty="0" smtClean="0">
                <a:cs typeface="Times New Roman" pitchFamily="18" charset="0"/>
              </a:rPr>
              <a:t>(scores);</a:t>
            </a:r>
          </a:p>
          <a:p>
            <a:pPr algn="l" defTabSz="355600">
              <a:lnSpc>
                <a:spcPct val="130000"/>
              </a:lnSpc>
            </a:pPr>
            <a:r>
              <a:rPr lang="en-US" altLang="en-US" b="1" dirty="0" err="1" smtClean="0">
                <a:cs typeface="Times New Roman" pitchFamily="18" charset="0"/>
              </a:rPr>
              <a:t>int</a:t>
            </a:r>
            <a:r>
              <a:rPr lang="en-US" altLang="en-US" b="1" dirty="0" smtClean="0">
                <a:cs typeface="Times New Roman" pitchFamily="18" charset="0"/>
              </a:rPr>
              <a:t> </a:t>
            </a:r>
            <a:r>
              <a:rPr lang="en-US" altLang="en-US" b="1" dirty="0" err="1" smtClean="0">
                <a:cs typeface="Times New Roman" pitchFamily="18" charset="0"/>
              </a:rPr>
              <a:t>maxScore</a:t>
            </a:r>
            <a:r>
              <a:rPr lang="en-US" altLang="en-US" b="1" dirty="0" smtClean="0">
                <a:cs typeface="Times New Roman" pitchFamily="18" charset="0"/>
              </a:rPr>
              <a:t>=</a:t>
            </a:r>
            <a:r>
              <a:rPr lang="en-US" altLang="en-US" b="1" dirty="0" err="1" smtClean="0">
                <a:cs typeface="Times New Roman" pitchFamily="18" charset="0"/>
              </a:rPr>
              <a:t>st.calMax</a:t>
            </a:r>
            <a:r>
              <a:rPr lang="en-US" altLang="en-US" b="1" dirty="0" smtClean="0">
                <a:cs typeface="Times New Roman" pitchFamily="18" charset="0"/>
              </a:rPr>
              <a:t>(scores);</a:t>
            </a:r>
            <a:endParaRPr lang="en-US" altLang="en-US" b="1" dirty="0">
              <a:cs typeface="Times New Roman" pitchFamily="18" charset="0"/>
            </a:endParaRPr>
          </a:p>
        </p:txBody>
      </p:sp>
      <p:sp>
        <p:nvSpPr>
          <p:cNvPr id="29" name="Rectangle 10"/>
          <p:cNvSpPr>
            <a:spLocks noChangeArrowheads="1"/>
          </p:cNvSpPr>
          <p:nvPr/>
        </p:nvSpPr>
        <p:spPr bwMode="auto">
          <a:xfrm>
            <a:off x="3000365" y="2285992"/>
            <a:ext cx="357189" cy="285752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30" name="Rectangle 10"/>
          <p:cNvSpPr>
            <a:spLocks noChangeArrowheads="1"/>
          </p:cNvSpPr>
          <p:nvPr/>
        </p:nvSpPr>
        <p:spPr bwMode="auto">
          <a:xfrm>
            <a:off x="2857488" y="1571612"/>
            <a:ext cx="1357322" cy="285751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31" name="Rectangle 10"/>
          <p:cNvSpPr>
            <a:spLocks noChangeArrowheads="1"/>
          </p:cNvSpPr>
          <p:nvPr/>
        </p:nvSpPr>
        <p:spPr bwMode="auto">
          <a:xfrm>
            <a:off x="4214810" y="2285992"/>
            <a:ext cx="1357322" cy="285752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32" name="AutoShape 3"/>
          <p:cNvSpPr>
            <a:spLocks noChangeArrowheads="1"/>
          </p:cNvSpPr>
          <p:nvPr/>
        </p:nvSpPr>
        <p:spPr bwMode="auto">
          <a:xfrm>
            <a:off x="5257782" y="1500173"/>
            <a:ext cx="1146741" cy="408623"/>
          </a:xfrm>
          <a:prstGeom prst="wedgeRoundRectCallout">
            <a:avLst>
              <a:gd name="adj1" fmla="val -25170"/>
              <a:gd name="adj2" fmla="val 47724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数组参数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cxnSp>
        <p:nvCxnSpPr>
          <p:cNvPr id="33" name="直接箭头连接符 32"/>
          <p:cNvCxnSpPr/>
          <p:nvPr/>
        </p:nvCxnSpPr>
        <p:spPr bwMode="auto">
          <a:xfrm rot="5400000" flipH="1" flipV="1">
            <a:off x="5411881" y="1871351"/>
            <a:ext cx="354184" cy="332221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AutoShape 3"/>
          <p:cNvSpPr>
            <a:spLocks noChangeArrowheads="1"/>
          </p:cNvSpPr>
          <p:nvPr/>
        </p:nvSpPr>
        <p:spPr bwMode="auto">
          <a:xfrm>
            <a:off x="7400922" y="4714883"/>
            <a:ext cx="1146741" cy="408623"/>
          </a:xfrm>
          <a:prstGeom prst="wedgeRoundRectCallout">
            <a:avLst>
              <a:gd name="adj1" fmla="val -25170"/>
              <a:gd name="adj2" fmla="val 47724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调用方法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cxnSp>
        <p:nvCxnSpPr>
          <p:cNvPr id="35" name="直接箭头连接符 34"/>
          <p:cNvCxnSpPr/>
          <p:nvPr/>
        </p:nvCxnSpPr>
        <p:spPr bwMode="auto">
          <a:xfrm rot="5400000" flipH="1" flipV="1">
            <a:off x="6989911" y="4868741"/>
            <a:ext cx="354184" cy="332221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6" name="Rectangle 10"/>
          <p:cNvSpPr>
            <a:spLocks noChangeArrowheads="1"/>
          </p:cNvSpPr>
          <p:nvPr/>
        </p:nvSpPr>
        <p:spPr bwMode="auto">
          <a:xfrm>
            <a:off x="6143636" y="5143512"/>
            <a:ext cx="1928826" cy="285752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5786446" y="5500702"/>
            <a:ext cx="1928826" cy="285752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58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426628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1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122" grpId="0" animBg="1"/>
      <p:bldP spid="517123" grpId="0" animBg="1"/>
      <p:bldP spid="517130" grpId="0" animBg="1"/>
      <p:bldP spid="24" grpId="0" animBg="1"/>
      <p:bldP spid="517140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6" grpId="0" animBg="1"/>
      <p:bldP spid="3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42872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 smtClean="0"/>
              <a:t>对象</a:t>
            </a:r>
            <a:r>
              <a:rPr lang="zh-CN" altLang="en-US" b="1" dirty="0" smtClean="0"/>
              <a:t>作为参数</a:t>
            </a:r>
            <a:r>
              <a:rPr lang="zh-CN" altLang="zh-CN" b="1" dirty="0" smtClean="0"/>
              <a:t>的方法</a:t>
            </a:r>
            <a:r>
              <a:rPr lang="en-US" altLang="zh-CN" b="1" dirty="0" smtClean="0"/>
              <a:t>2-1</a:t>
            </a:r>
            <a:endParaRPr lang="en-US" altLang="zh-CN" b="1" dirty="0"/>
          </a:p>
        </p:txBody>
      </p:sp>
      <p:sp>
        <p:nvSpPr>
          <p:cNvPr id="516098" name="Rectangle 2"/>
          <p:cNvSpPr>
            <a:spLocks noGrp="1" noChangeArrowheads="1"/>
          </p:cNvSpPr>
          <p:nvPr>
            <p:ph idx="1"/>
          </p:nvPr>
        </p:nvSpPr>
        <p:spPr>
          <a:xfrm>
            <a:off x="784254" y="4714884"/>
            <a:ext cx="7645398" cy="1357322"/>
          </a:xfrm>
        </p:spPr>
        <p:txBody>
          <a:bodyPr/>
          <a:lstStyle/>
          <a:p>
            <a:r>
              <a:rPr lang="zh-CN" altLang="en-US" sz="2400" dirty="0" smtClean="0"/>
              <a:t>方式一：设计带四个参数（学号、姓名、年龄、成绩）的方法</a:t>
            </a:r>
            <a:endParaRPr lang="en-US" altLang="zh-CN" sz="2400" dirty="0" smtClean="0"/>
          </a:p>
          <a:p>
            <a:r>
              <a:rPr lang="zh-CN" altLang="en-US" sz="2400" dirty="0" smtClean="0"/>
              <a:t>方式二：将学生学号、姓名、年龄、成绩封装在学生对象中，设计方法，以学生对象作为参数</a:t>
            </a:r>
            <a:endParaRPr lang="en-US" altLang="zh-CN" sz="2400" dirty="0" smtClean="0"/>
          </a:p>
        </p:txBody>
      </p:sp>
      <p:sp>
        <p:nvSpPr>
          <p:cNvPr id="516101" name="Rectangle 5"/>
          <p:cNvSpPr>
            <a:spLocks noChangeArrowheads="1"/>
          </p:cNvSpPr>
          <p:nvPr/>
        </p:nvSpPr>
        <p:spPr bwMode="auto">
          <a:xfrm>
            <a:off x="784254" y="1276351"/>
            <a:ext cx="7319963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80000"/>
              <a:buBlip>
                <a:blip r:embed="rId3"/>
              </a:buBlip>
            </a:pPr>
            <a:r>
              <a:rPr lang="zh-CN" altLang="en-US" sz="2800" b="1" dirty="0" smtClean="0">
                <a:latin typeface="+mn-lt"/>
                <a:ea typeface="+mn-ea"/>
              </a:rPr>
              <a:t>在实现了增加一个学生姓名的基础上，增加学生的学号、年龄和成绩，并显示这些信息，如何实现？</a:t>
            </a:r>
          </a:p>
        </p:txBody>
      </p:sp>
      <p:grpSp>
        <p:nvGrpSpPr>
          <p:cNvPr id="2" name="组合 9"/>
          <p:cNvGrpSpPr/>
          <p:nvPr/>
        </p:nvGrpSpPr>
        <p:grpSpPr>
          <a:xfrm>
            <a:off x="71406" y="857232"/>
            <a:ext cx="986586" cy="422603"/>
            <a:chOff x="1000100" y="1173499"/>
            <a:chExt cx="986586" cy="422603"/>
          </a:xfrm>
        </p:grpSpPr>
        <p:pic>
          <p:nvPicPr>
            <p:cNvPr id="11" name="Picture 5" descr="E:\设计支持\模板设计\WT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00100" y="1173499"/>
              <a:ext cx="414476" cy="422603"/>
            </a:xfrm>
            <a:prstGeom prst="rect">
              <a:avLst/>
            </a:prstGeom>
            <a:noFill/>
          </p:spPr>
        </p:pic>
        <p:sp>
          <p:nvSpPr>
            <p:cNvPr id="12" name="TextBox 11"/>
            <p:cNvSpPr txBox="1"/>
            <p:nvPr/>
          </p:nvSpPr>
          <p:spPr>
            <a:xfrm>
              <a:off x="1285852" y="1184745"/>
              <a:ext cx="700834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问题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grpSp>
        <p:nvGrpSpPr>
          <p:cNvPr id="3" name="组合 12"/>
          <p:cNvGrpSpPr/>
          <p:nvPr/>
        </p:nvGrpSpPr>
        <p:grpSpPr>
          <a:xfrm>
            <a:off x="102402" y="4196463"/>
            <a:ext cx="1000132" cy="446983"/>
            <a:chOff x="1000100" y="3235185"/>
            <a:chExt cx="1000132" cy="446983"/>
          </a:xfrm>
        </p:grpSpPr>
        <p:pic>
          <p:nvPicPr>
            <p:cNvPr id="14" name="Picture 11" descr="E:\设计支持\模板设计\FX.pn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000100" y="3235185"/>
              <a:ext cx="398223" cy="446983"/>
            </a:xfrm>
            <a:prstGeom prst="rect">
              <a:avLst/>
            </a:prstGeom>
            <a:noFill/>
          </p:spPr>
        </p:pic>
        <p:sp>
          <p:nvSpPr>
            <p:cNvPr id="15" name="TextBox 14"/>
            <p:cNvSpPr txBox="1"/>
            <p:nvPr/>
          </p:nvSpPr>
          <p:spPr>
            <a:xfrm>
              <a:off x="1299399" y="3258621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分析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pic>
        <p:nvPicPr>
          <p:cNvPr id="16" name="图片 15" descr="图14.4.BM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496" y="2643182"/>
            <a:ext cx="3571900" cy="1924118"/>
          </a:xfrm>
          <a:prstGeom prst="rect">
            <a:avLst/>
          </a:prstGeom>
        </p:spPr>
      </p:pic>
      <p:sp>
        <p:nvSpPr>
          <p:cNvPr id="17" name="AutoShape 3"/>
          <p:cNvSpPr>
            <a:spLocks noChangeArrowheads="1"/>
          </p:cNvSpPr>
          <p:nvPr/>
        </p:nvSpPr>
        <p:spPr bwMode="gray">
          <a:xfrm>
            <a:off x="1142976" y="4857760"/>
            <a:ext cx="6215106" cy="857256"/>
          </a:xfrm>
          <a:prstGeom prst="roundRect">
            <a:avLst>
              <a:gd name="adj" fmla="val 0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en-US" sz="2000" b="1" dirty="0" smtClean="0"/>
              <a:t>可以将多个相关的信息封装成对象，作为参数传递，避免方法有太多的参数！</a:t>
            </a:r>
            <a:endParaRPr lang="en-US" altLang="zh-CN" sz="2000" b="1" dirty="0"/>
          </a:p>
        </p:txBody>
      </p:sp>
      <p:grpSp>
        <p:nvGrpSpPr>
          <p:cNvPr id="18" name="组合 57"/>
          <p:cNvGrpSpPr/>
          <p:nvPr/>
        </p:nvGrpSpPr>
        <p:grpSpPr>
          <a:xfrm>
            <a:off x="117900" y="4243336"/>
            <a:ext cx="843709" cy="400110"/>
            <a:chOff x="3786182" y="3143248"/>
            <a:chExt cx="843709" cy="400110"/>
          </a:xfrm>
        </p:grpSpPr>
        <p:sp>
          <p:nvSpPr>
            <p:cNvPr id="19" name="TextBox 18"/>
            <p:cNvSpPr txBox="1"/>
            <p:nvPr/>
          </p:nvSpPr>
          <p:spPr>
            <a:xfrm>
              <a:off x="3929058" y="3143248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经验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  <p:pic>
          <p:nvPicPr>
            <p:cNvPr id="20" name="Picture 1" descr="C:\Users\meng.zhang\Desktop\ACCP7.0模版图标规范\未命名-1.png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786182" y="3174234"/>
              <a:ext cx="230326" cy="338139"/>
            </a:xfrm>
            <a:prstGeom prst="rect">
              <a:avLst/>
            </a:prstGeom>
            <a:noFill/>
          </p:spPr>
        </p:pic>
      </p:grpSp>
      <p:sp>
        <p:nvSpPr>
          <p:cNvPr id="21" name="灯片编号占位符 2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59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37255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6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6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098" grpId="0" build="p"/>
      <p:bldP spid="1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AutoShape 2"/>
          <p:cNvSpPr>
            <a:spLocks noChangeArrowheads="1"/>
          </p:cNvSpPr>
          <p:nvPr/>
        </p:nvSpPr>
        <p:spPr bwMode="auto">
          <a:xfrm>
            <a:off x="427038" y="1453102"/>
            <a:ext cx="6716730" cy="3333220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class Student  {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    </a:t>
            </a:r>
            <a:r>
              <a:rPr lang="en-US" altLang="en-US" b="1" dirty="0" smtClean="0">
                <a:cs typeface="Times New Roman" pitchFamily="18" charset="0"/>
              </a:rPr>
              <a:t>public </a:t>
            </a:r>
            <a:r>
              <a:rPr lang="en-US" altLang="en-US" b="1" dirty="0" err="1" smtClean="0">
                <a:cs typeface="Times New Roman" pitchFamily="18" charset="0"/>
              </a:rPr>
              <a:t>int</a:t>
            </a:r>
            <a:r>
              <a:rPr lang="en-US" altLang="en-US" b="1" dirty="0" smtClean="0">
                <a:cs typeface="Times New Roman" pitchFamily="18" charset="0"/>
              </a:rPr>
              <a:t> id;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public String name;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public </a:t>
            </a:r>
            <a:r>
              <a:rPr lang="en-US" altLang="en-US" b="1" dirty="0" err="1" smtClean="0">
                <a:cs typeface="Times New Roman" pitchFamily="18" charset="0"/>
              </a:rPr>
              <a:t>int</a:t>
            </a:r>
            <a:r>
              <a:rPr lang="en-US" altLang="en-US" b="1" dirty="0" smtClean="0">
                <a:cs typeface="Times New Roman" pitchFamily="18" charset="0"/>
              </a:rPr>
              <a:t> age;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public </a:t>
            </a:r>
            <a:r>
              <a:rPr lang="en-US" altLang="en-US" b="1" dirty="0" err="1" smtClean="0">
                <a:cs typeface="Times New Roman" pitchFamily="18" charset="0"/>
              </a:rPr>
              <a:t>int</a:t>
            </a:r>
            <a:r>
              <a:rPr lang="en-US" altLang="en-US" b="1" dirty="0" smtClean="0">
                <a:cs typeface="Times New Roman" pitchFamily="18" charset="0"/>
              </a:rPr>
              <a:t> score;	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public void </a:t>
            </a:r>
            <a:r>
              <a:rPr lang="en-US" altLang="en-US" b="1" dirty="0" err="1" smtClean="0">
                <a:cs typeface="Times New Roman" pitchFamily="18" charset="0"/>
              </a:rPr>
              <a:t>showInfo</a:t>
            </a:r>
            <a:r>
              <a:rPr lang="en-US" altLang="en-US" b="1" dirty="0" smtClean="0">
                <a:cs typeface="Times New Roman" pitchFamily="18" charset="0"/>
              </a:rPr>
              <a:t>() {		</a:t>
            </a:r>
            <a:r>
              <a:rPr lang="en-US" altLang="en-US" b="1" dirty="0" err="1" smtClean="0">
                <a:cs typeface="Times New Roman" pitchFamily="18" charset="0"/>
              </a:rPr>
              <a:t>System.out.println</a:t>
            </a:r>
            <a:r>
              <a:rPr lang="en-US" altLang="en-US" b="1" dirty="0" smtClean="0">
                <a:cs typeface="Times New Roman" pitchFamily="18" charset="0"/>
              </a:rPr>
              <a:t>(id+"\t"+name+"\t"+age+"\t"+score);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}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}</a:t>
            </a:r>
          </a:p>
        </p:txBody>
      </p:sp>
      <p:sp>
        <p:nvSpPr>
          <p:cNvPr id="517123" name="AutoShape 3"/>
          <p:cNvSpPr>
            <a:spLocks noChangeArrowheads="1"/>
          </p:cNvSpPr>
          <p:nvPr/>
        </p:nvSpPr>
        <p:spPr bwMode="auto">
          <a:xfrm>
            <a:off x="1763713" y="714355"/>
            <a:ext cx="916092" cy="408623"/>
          </a:xfrm>
          <a:prstGeom prst="wedgeRoundRectCallout">
            <a:avLst>
              <a:gd name="adj1" fmla="val -25170"/>
              <a:gd name="adj2" fmla="val 47724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学生类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5171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571504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 smtClean="0"/>
              <a:t>对象作为参数</a:t>
            </a:r>
            <a:r>
              <a:rPr lang="zh-CN" altLang="zh-CN" dirty="0" smtClean="0"/>
              <a:t>的方法</a:t>
            </a:r>
            <a:r>
              <a:rPr lang="en-US" altLang="zh-CN" dirty="0" smtClean="0"/>
              <a:t>2-2</a:t>
            </a:r>
            <a:endParaRPr lang="en-US" altLang="zh-CN" b="1" dirty="0"/>
          </a:p>
        </p:txBody>
      </p:sp>
      <p:sp>
        <p:nvSpPr>
          <p:cNvPr id="517130" name="Rectangle 10"/>
          <p:cNvSpPr>
            <a:spLocks noChangeArrowheads="1"/>
          </p:cNvSpPr>
          <p:nvPr/>
        </p:nvSpPr>
        <p:spPr bwMode="auto">
          <a:xfrm>
            <a:off x="1142976" y="1500174"/>
            <a:ext cx="928694" cy="357189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3" name="组合 20"/>
          <p:cNvGrpSpPr/>
          <p:nvPr/>
        </p:nvGrpSpPr>
        <p:grpSpPr>
          <a:xfrm>
            <a:off x="71406" y="857232"/>
            <a:ext cx="1000132" cy="414475"/>
            <a:chOff x="1000100" y="2528843"/>
            <a:chExt cx="1000132" cy="414475"/>
          </a:xfrm>
        </p:grpSpPr>
        <p:pic>
          <p:nvPicPr>
            <p:cNvPr id="22" name="Picture 8" descr="E:\设计支持\模板设计\sl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2528843"/>
              <a:ext cx="446984" cy="414475"/>
            </a:xfrm>
            <a:prstGeom prst="rect">
              <a:avLst/>
            </a:prstGeom>
            <a:noFill/>
          </p:spPr>
        </p:pic>
        <p:sp>
          <p:nvSpPr>
            <p:cNvPr id="23" name="TextBox 22"/>
            <p:cNvSpPr txBox="1"/>
            <p:nvPr/>
          </p:nvSpPr>
          <p:spPr>
            <a:xfrm>
              <a:off x="1299399" y="2536025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示例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cxnSp>
        <p:nvCxnSpPr>
          <p:cNvPr id="25" name="直接箭头连接符 24"/>
          <p:cNvCxnSpPr/>
          <p:nvPr/>
        </p:nvCxnSpPr>
        <p:spPr bwMode="auto">
          <a:xfrm rot="5400000" flipH="1" flipV="1">
            <a:off x="1917812" y="1085533"/>
            <a:ext cx="354184" cy="332221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AutoShape 2"/>
          <p:cNvSpPr>
            <a:spLocks noChangeArrowheads="1"/>
          </p:cNvSpPr>
          <p:nvPr/>
        </p:nvSpPr>
        <p:spPr bwMode="auto">
          <a:xfrm>
            <a:off x="3428992" y="2214554"/>
            <a:ext cx="5143536" cy="2613023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public void </a:t>
            </a:r>
            <a:r>
              <a:rPr lang="en-US" altLang="en-US" b="1" dirty="0" err="1" smtClean="0">
                <a:solidFill>
                  <a:srgbClr val="0000FF"/>
                </a:solidFill>
                <a:cs typeface="Times New Roman" pitchFamily="18" charset="0"/>
              </a:rPr>
              <a:t>addStudent</a:t>
            </a: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( Student </a:t>
            </a:r>
            <a:r>
              <a:rPr lang="en-US" altLang="en-US" b="1" dirty="0" err="1" smtClean="0">
                <a:solidFill>
                  <a:srgbClr val="0000FF"/>
                </a:solidFill>
                <a:cs typeface="Times New Roman" pitchFamily="18" charset="0"/>
              </a:rPr>
              <a:t>stu</a:t>
            </a: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 ) {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for(</a:t>
            </a:r>
            <a:r>
              <a:rPr lang="en-US" altLang="en-US" b="1" dirty="0" err="1" smtClean="0">
                <a:cs typeface="Times New Roman" pitchFamily="18" charset="0"/>
              </a:rPr>
              <a:t>int</a:t>
            </a:r>
            <a:r>
              <a:rPr lang="en-US" altLang="en-US" b="1" dirty="0" smtClean="0">
                <a:cs typeface="Times New Roman" pitchFamily="18" charset="0"/>
              </a:rPr>
              <a:t> </a:t>
            </a:r>
            <a:r>
              <a:rPr lang="en-US" altLang="en-US" b="1" dirty="0" err="1" smtClean="0">
                <a:cs typeface="Times New Roman" pitchFamily="18" charset="0"/>
              </a:rPr>
              <a:t>i</a:t>
            </a:r>
            <a:r>
              <a:rPr lang="en-US" altLang="en-US" b="1" dirty="0" smtClean="0">
                <a:cs typeface="Times New Roman" pitchFamily="18" charset="0"/>
              </a:rPr>
              <a:t> =0;i&lt;</a:t>
            </a:r>
            <a:r>
              <a:rPr lang="en-US" altLang="en-US" b="1" dirty="0" err="1" smtClean="0">
                <a:cs typeface="Times New Roman" pitchFamily="18" charset="0"/>
              </a:rPr>
              <a:t>students.length;i</a:t>
            </a:r>
            <a:r>
              <a:rPr lang="en-US" altLang="en-US" b="1" dirty="0" smtClean="0">
                <a:cs typeface="Times New Roman" pitchFamily="18" charset="0"/>
              </a:rPr>
              <a:t>++) {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     if(students[</a:t>
            </a:r>
            <a:r>
              <a:rPr lang="en-US" altLang="en-US" b="1" dirty="0" err="1" smtClean="0">
                <a:cs typeface="Times New Roman" pitchFamily="18" charset="0"/>
              </a:rPr>
              <a:t>i</a:t>
            </a:r>
            <a:r>
              <a:rPr lang="en-US" altLang="en-US" b="1" dirty="0" smtClean="0">
                <a:cs typeface="Times New Roman" pitchFamily="18" charset="0"/>
              </a:rPr>
              <a:t>]==null) {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        students[</a:t>
            </a:r>
            <a:r>
              <a:rPr lang="en-US" altLang="en-US" b="1" dirty="0" err="1" smtClean="0">
                <a:cs typeface="Times New Roman" pitchFamily="18" charset="0"/>
              </a:rPr>
              <a:t>i</a:t>
            </a:r>
            <a:r>
              <a:rPr lang="en-US" altLang="en-US" b="1" dirty="0" smtClean="0">
                <a:cs typeface="Times New Roman" pitchFamily="18" charset="0"/>
              </a:rPr>
              <a:t>]=</a:t>
            </a:r>
            <a:r>
              <a:rPr lang="en-US" altLang="en-US" b="1" dirty="0" err="1" smtClean="0">
                <a:cs typeface="Times New Roman" pitchFamily="18" charset="0"/>
              </a:rPr>
              <a:t>stu</a:t>
            </a:r>
            <a:r>
              <a:rPr lang="en-US" altLang="en-US" b="1" dirty="0" smtClean="0">
                <a:cs typeface="Times New Roman" pitchFamily="18" charset="0"/>
              </a:rPr>
              <a:t>;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        break;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       }</a:t>
            </a:r>
          </a:p>
          <a:p>
            <a:pPr algn="l" defTabSz="622300">
              <a:lnSpc>
                <a:spcPct val="130000"/>
              </a:lnSpc>
            </a:pPr>
            <a:r>
              <a:rPr lang="en-US" altLang="en-US" b="1" dirty="0" smtClean="0">
                <a:solidFill>
                  <a:srgbClr val="0000FF"/>
                </a:solidFill>
                <a:cs typeface="Times New Roman" pitchFamily="18" charset="0"/>
              </a:rPr>
              <a:t>}</a:t>
            </a:r>
          </a:p>
        </p:txBody>
      </p:sp>
      <p:sp>
        <p:nvSpPr>
          <p:cNvPr id="517140" name="AutoShape 20"/>
          <p:cNvSpPr>
            <a:spLocks noChangeArrowheads="1"/>
          </p:cNvSpPr>
          <p:nvPr/>
        </p:nvSpPr>
        <p:spPr bwMode="auto">
          <a:xfrm>
            <a:off x="4103687" y="4542387"/>
            <a:ext cx="4754593" cy="1172629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 defTabSz="355600">
              <a:lnSpc>
                <a:spcPct val="130000"/>
              </a:lnSpc>
            </a:pPr>
            <a:r>
              <a:rPr lang="en-US" altLang="en-US" b="1" dirty="0" smtClean="0">
                <a:cs typeface="Times New Roman" pitchFamily="18" charset="0"/>
              </a:rPr>
              <a:t> //</a:t>
            </a:r>
            <a:r>
              <a:rPr lang="en-US" altLang="zh-CN" b="1" dirty="0" smtClean="0">
                <a:cs typeface="Times New Roman" pitchFamily="18" charset="0"/>
              </a:rPr>
              <a:t>……</a:t>
            </a:r>
          </a:p>
          <a:p>
            <a:pPr algn="l" defTabSz="355600">
              <a:lnSpc>
                <a:spcPct val="130000"/>
              </a:lnSpc>
            </a:pPr>
            <a:r>
              <a:rPr lang="en-US" altLang="en-US" b="1" dirty="0" err="1" smtClean="0">
                <a:cs typeface="Times New Roman" pitchFamily="18" charset="0"/>
              </a:rPr>
              <a:t>studentsBiz.addStudent</a:t>
            </a:r>
            <a:r>
              <a:rPr lang="en-US" altLang="en-US" b="1" dirty="0" smtClean="0">
                <a:cs typeface="Times New Roman" pitchFamily="18" charset="0"/>
              </a:rPr>
              <a:t>(student1);</a:t>
            </a:r>
          </a:p>
          <a:p>
            <a:pPr algn="l" defTabSz="355600">
              <a:lnSpc>
                <a:spcPct val="130000"/>
              </a:lnSpc>
            </a:pPr>
            <a:r>
              <a:rPr lang="en-US" altLang="en-US" b="1" dirty="0" err="1" smtClean="0">
                <a:cs typeface="Times New Roman" pitchFamily="18" charset="0"/>
              </a:rPr>
              <a:t>studentsBiz.addStudent</a:t>
            </a:r>
            <a:r>
              <a:rPr lang="en-US" altLang="en-US" b="1" dirty="0" smtClean="0">
                <a:cs typeface="Times New Roman" pitchFamily="18" charset="0"/>
              </a:rPr>
              <a:t>(student2);</a:t>
            </a:r>
            <a:endParaRPr lang="en-US" altLang="en-US" b="1" dirty="0">
              <a:cs typeface="Times New Roman" pitchFamily="18" charset="0"/>
            </a:endParaRPr>
          </a:p>
        </p:txBody>
      </p:sp>
      <p:sp>
        <p:nvSpPr>
          <p:cNvPr id="31" name="Rectangle 10"/>
          <p:cNvSpPr>
            <a:spLocks noChangeArrowheads="1"/>
          </p:cNvSpPr>
          <p:nvPr/>
        </p:nvSpPr>
        <p:spPr bwMode="auto">
          <a:xfrm>
            <a:off x="6112640" y="2285992"/>
            <a:ext cx="1357322" cy="285752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32" name="AutoShape 3"/>
          <p:cNvSpPr>
            <a:spLocks noChangeArrowheads="1"/>
          </p:cNvSpPr>
          <p:nvPr/>
        </p:nvSpPr>
        <p:spPr bwMode="auto">
          <a:xfrm>
            <a:off x="6472228" y="1500173"/>
            <a:ext cx="1146741" cy="408623"/>
          </a:xfrm>
          <a:prstGeom prst="wedgeRoundRectCallout">
            <a:avLst>
              <a:gd name="adj1" fmla="val -25170"/>
              <a:gd name="adj2" fmla="val 47724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对象参数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cxnSp>
        <p:nvCxnSpPr>
          <p:cNvPr id="33" name="直接箭头连接符 32"/>
          <p:cNvCxnSpPr/>
          <p:nvPr/>
        </p:nvCxnSpPr>
        <p:spPr bwMode="auto">
          <a:xfrm rot="5400000" flipH="1" flipV="1">
            <a:off x="6626327" y="1871351"/>
            <a:ext cx="354184" cy="332221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AutoShape 3"/>
          <p:cNvSpPr>
            <a:spLocks noChangeArrowheads="1"/>
          </p:cNvSpPr>
          <p:nvPr/>
        </p:nvSpPr>
        <p:spPr bwMode="auto">
          <a:xfrm>
            <a:off x="7400922" y="4399510"/>
            <a:ext cx="1146741" cy="408623"/>
          </a:xfrm>
          <a:prstGeom prst="wedgeRoundRectCallout">
            <a:avLst>
              <a:gd name="adj1" fmla="val -25170"/>
              <a:gd name="adj2" fmla="val 47724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调用方法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cxnSp>
        <p:nvCxnSpPr>
          <p:cNvPr id="35" name="直接箭头连接符 34"/>
          <p:cNvCxnSpPr/>
          <p:nvPr/>
        </p:nvCxnSpPr>
        <p:spPr bwMode="auto">
          <a:xfrm flipV="1">
            <a:off x="6929456" y="4714885"/>
            <a:ext cx="403657" cy="214313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6" name="Rectangle 10"/>
          <p:cNvSpPr>
            <a:spLocks noChangeArrowheads="1"/>
          </p:cNvSpPr>
          <p:nvPr/>
        </p:nvSpPr>
        <p:spPr bwMode="auto">
          <a:xfrm>
            <a:off x="5556634" y="4971014"/>
            <a:ext cx="2500330" cy="285752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5541136" y="5312707"/>
            <a:ext cx="2500330" cy="357189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60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81561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1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122" grpId="0" animBg="1"/>
      <p:bldP spid="517123" grpId="0" animBg="1"/>
      <p:bldP spid="517130" grpId="0" animBg="1"/>
      <p:bldP spid="24" grpId="0" animBg="1"/>
      <p:bldP spid="517140" grpId="0" animBg="1"/>
      <p:bldP spid="31" grpId="0" animBg="1"/>
      <p:bldP spid="32" grpId="0" animBg="1"/>
      <p:bldP spid="34" grpId="0" animBg="1"/>
      <p:bldP spid="36" grpId="0" animBg="1"/>
      <p:bldP spid="3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42872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/>
              <a:t>本章目标</a:t>
            </a:r>
          </a:p>
        </p:txBody>
      </p:sp>
      <p:sp>
        <p:nvSpPr>
          <p:cNvPr id="425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会定义带参方法</a:t>
            </a:r>
          </a:p>
          <a:p>
            <a:r>
              <a:rPr lang="zh-CN" altLang="en-US" dirty="0"/>
              <a:t>会使用带参方法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会创建包组织</a:t>
            </a:r>
            <a:r>
              <a:rPr lang="en-US" altLang="zh-CN" dirty="0">
                <a:solidFill>
                  <a:srgbClr val="FF0000"/>
                </a:solidFill>
              </a:rPr>
              <a:t>Java</a:t>
            </a:r>
            <a:r>
              <a:rPr lang="zh-CN" altLang="en-US" dirty="0">
                <a:solidFill>
                  <a:srgbClr val="FF0000"/>
                </a:solidFill>
              </a:rPr>
              <a:t>工程</a:t>
            </a:r>
          </a:p>
        </p:txBody>
      </p:sp>
      <p:pic>
        <p:nvPicPr>
          <p:cNvPr id="5" name="Picture 3" descr="C:\Users\meng.zhang\Desktop\ACCP7.0模版图标规范\是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29454" y="1566220"/>
            <a:ext cx="714380" cy="719772"/>
          </a:xfrm>
          <a:prstGeom prst="rect">
            <a:avLst/>
          </a:prstGeom>
          <a:noFill/>
        </p:spPr>
      </p:pic>
      <p:pic>
        <p:nvPicPr>
          <p:cNvPr id="6" name="Picture 3" descr="C:\Users\meng.zhang\Desktop\ACCP7.0模版图标规范\是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29454" y="994716"/>
            <a:ext cx="714380" cy="719772"/>
          </a:xfrm>
          <a:prstGeom prst="rect">
            <a:avLst/>
          </a:prstGeom>
          <a:noFill/>
        </p:spPr>
      </p:pic>
      <p:pic>
        <p:nvPicPr>
          <p:cNvPr id="7" name="Picture 2" descr="C:\Users\meng.zhang\Desktop\ACCP7.0模版图标规范\啊-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14737" y="1637658"/>
            <a:ext cx="643477" cy="648334"/>
          </a:xfrm>
          <a:prstGeom prst="rect">
            <a:avLst/>
          </a:prstGeom>
          <a:noFill/>
        </p:spPr>
      </p:pic>
      <p:sp>
        <p:nvSpPr>
          <p:cNvPr id="9" name="灯片编号占位符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61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29943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/>
              <a:t>为什么需要包</a:t>
            </a:r>
          </a:p>
        </p:txBody>
      </p:sp>
      <p:sp>
        <p:nvSpPr>
          <p:cNvPr id="490499" name="Rectangle 3"/>
          <p:cNvSpPr>
            <a:spLocks noChangeArrowheads="1"/>
          </p:cNvSpPr>
          <p:nvPr/>
        </p:nvSpPr>
        <p:spPr bwMode="auto">
          <a:xfrm>
            <a:off x="784254" y="1276351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80000"/>
              <a:buBlip>
                <a:blip r:embed="rId3"/>
              </a:buBlip>
            </a:pPr>
            <a:r>
              <a:rPr lang="en-US" altLang="zh-CN" sz="2800" b="1" dirty="0" smtClean="0">
                <a:latin typeface="+mn-lt"/>
                <a:ea typeface="+mn-ea"/>
              </a:rPr>
              <a:t>Windows</a:t>
            </a:r>
            <a:r>
              <a:rPr lang="zh-CN" altLang="en-US" sz="2800" b="1" dirty="0" smtClean="0">
                <a:latin typeface="+mn-lt"/>
                <a:ea typeface="+mn-ea"/>
              </a:rPr>
              <a:t>树形</a:t>
            </a:r>
            <a:r>
              <a:rPr lang="zh-CN" altLang="en-US" sz="2800" b="1" dirty="0">
                <a:latin typeface="+mn-lt"/>
                <a:ea typeface="+mn-ea"/>
              </a:rPr>
              <a:t>文件系统</a:t>
            </a:r>
          </a:p>
          <a:p>
            <a:pPr marL="742950" lvl="1" indent="-285750" algn="l">
              <a:spcBef>
                <a:spcPct val="20000"/>
              </a:spcBef>
              <a:buClr>
                <a:schemeClr val="tx2"/>
              </a:buClr>
              <a:buSzPct val="100000"/>
              <a:buBlip>
                <a:blip r:embed="rId4"/>
              </a:buBlip>
            </a:pPr>
            <a:r>
              <a:rPr lang="zh-CN" altLang="en-US" sz="2000" b="1" dirty="0" smtClean="0"/>
              <a:t>文档分门别类，易于查找和管理</a:t>
            </a:r>
            <a:endParaRPr lang="en-US" altLang="zh-CN" sz="2000" b="1" dirty="0" smtClean="0">
              <a:latin typeface="+mn-lt"/>
              <a:ea typeface="+mn-ea"/>
            </a:endParaRPr>
          </a:p>
          <a:p>
            <a:pPr marL="742950" lvl="1" indent="-285750" algn="l">
              <a:spcBef>
                <a:spcPct val="20000"/>
              </a:spcBef>
              <a:buClr>
                <a:schemeClr val="tx2"/>
              </a:buClr>
              <a:buSzPct val="100000"/>
              <a:buBlip>
                <a:blip r:embed="rId4"/>
              </a:buBlip>
            </a:pPr>
            <a:r>
              <a:rPr lang="zh-CN" altLang="en-US" sz="2000" b="1" dirty="0" smtClean="0">
                <a:latin typeface="+mn-lt"/>
                <a:ea typeface="+mn-ea"/>
              </a:rPr>
              <a:t>使用</a:t>
            </a:r>
            <a:r>
              <a:rPr lang="zh-CN" altLang="en-US" sz="2000" b="1" dirty="0">
                <a:latin typeface="+mn-lt"/>
                <a:ea typeface="+mn-ea"/>
              </a:rPr>
              <a:t>目录解决文件同名冲突问题</a:t>
            </a:r>
          </a:p>
          <a:p>
            <a:pPr marL="742950" lvl="1" indent="-285750" algn="l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Blip>
                <a:blip r:embed="rId5"/>
              </a:buBlip>
            </a:pPr>
            <a:endParaRPr lang="zh-CN" altLang="en-US" sz="2400" b="1" dirty="0">
              <a:ea typeface="黑体" pitchFamily="2" charset="-122"/>
            </a:endParaRP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80000"/>
              <a:buBlip>
                <a:blip r:embed="rId3"/>
              </a:buBlip>
            </a:pPr>
            <a:r>
              <a:rPr lang="zh-CN" altLang="en-US" sz="2800" b="1" dirty="0">
                <a:latin typeface="+mn-lt"/>
                <a:ea typeface="+mn-ea"/>
              </a:rPr>
              <a:t>如何存放两个同名的类而不冲突？</a:t>
            </a: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Font typeface="Wingdings" pitchFamily="2" charset="2"/>
              <a:buBlip>
                <a:blip r:embed="rId6"/>
              </a:buBlip>
            </a:pPr>
            <a:endParaRPr lang="zh-CN" altLang="en-US" sz="2800" b="1" dirty="0">
              <a:ea typeface="黑体" pitchFamily="2" charset="-122"/>
            </a:endParaRPr>
          </a:p>
        </p:txBody>
      </p:sp>
      <p:pic>
        <p:nvPicPr>
          <p:cNvPr id="490500" name="Picture 4" descr="treefile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572264" y="1285860"/>
            <a:ext cx="2449512" cy="4537075"/>
          </a:xfrm>
          <a:prstGeom prst="rect">
            <a:avLst/>
          </a:prstGeom>
          <a:noFill/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969970" y="4071942"/>
            <a:ext cx="1744629" cy="1357322"/>
            <a:chOff x="476" y="2527"/>
            <a:chExt cx="1624" cy="988"/>
          </a:xfrm>
        </p:grpSpPr>
        <p:sp>
          <p:nvSpPr>
            <p:cNvPr id="490502" name="AutoShape 6"/>
            <p:cNvSpPr>
              <a:spLocks noChangeArrowheads="1"/>
            </p:cNvSpPr>
            <p:nvPr/>
          </p:nvSpPr>
          <p:spPr bwMode="gray">
            <a:xfrm>
              <a:off x="703" y="2704"/>
              <a:ext cx="1131" cy="811"/>
            </a:xfrm>
            <a:prstGeom prst="foldedCorner">
              <a:avLst>
                <a:gd name="adj" fmla="val 12500"/>
              </a:avLst>
            </a:prstGeom>
            <a:solidFill>
              <a:srgbClr val="E4FCE4"/>
            </a:solidFill>
            <a:ln w="19050" algn="ctr">
              <a:solidFill>
                <a:srgbClr val="00B0F0"/>
              </a:solidFill>
              <a:round/>
              <a:headEnd/>
              <a:tailEnd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 anchorCtr="1"/>
            <a:lstStyle/>
            <a:p>
              <a:pPr marL="285750" indent="-285750" algn="l" eaLnBrk="0" hangingPunct="0">
                <a:buClr>
                  <a:srgbClr val="233DA9"/>
                </a:buClr>
                <a:buSzPct val="80000"/>
                <a:defRPr/>
              </a:pPr>
              <a:r>
                <a:rPr lang="en-US" altLang="zh-CN" b="1" dirty="0"/>
                <a:t>Sort.java</a:t>
              </a:r>
            </a:p>
          </p:txBody>
        </p:sp>
        <p:sp>
          <p:nvSpPr>
            <p:cNvPr id="490503" name="AutoShape 7"/>
            <p:cNvSpPr>
              <a:spLocks noChangeArrowheads="1"/>
            </p:cNvSpPr>
            <p:nvPr/>
          </p:nvSpPr>
          <p:spPr bwMode="auto">
            <a:xfrm>
              <a:off x="476" y="2527"/>
              <a:ext cx="1624" cy="257"/>
            </a:xfrm>
            <a:prstGeom prst="roundRect">
              <a:avLst>
                <a:gd name="adj" fmla="val 16667"/>
              </a:avLst>
            </a:prstGeom>
            <a:solidFill>
              <a:srgbClr val="E4FCE4"/>
            </a:solidFill>
            <a:ln w="19050" algn="ctr">
              <a:solidFill>
                <a:srgbClr val="00B0F0"/>
              </a:solidFill>
              <a:round/>
              <a:headEnd/>
              <a:tailEnd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 anchorCtr="1"/>
            <a:lstStyle/>
            <a:p>
              <a:pPr marL="285750" indent="-285750" algn="l" eaLnBrk="0" hangingPunct="0">
                <a:buClr>
                  <a:srgbClr val="233DA9"/>
                </a:buClr>
                <a:buSzPct val="80000"/>
                <a:defRPr/>
              </a:pPr>
              <a:r>
                <a:rPr lang="zh-CN" altLang="en-US" b="1" dirty="0" smtClean="0"/>
                <a:t>插入排序</a:t>
              </a:r>
              <a:endParaRPr lang="zh-CN" altLang="en-US" b="1" dirty="0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3857620" y="4071941"/>
            <a:ext cx="1720850" cy="1357313"/>
            <a:chOff x="2336" y="2481"/>
            <a:chExt cx="1084" cy="855"/>
          </a:xfrm>
        </p:grpSpPr>
        <p:sp>
          <p:nvSpPr>
            <p:cNvPr id="490505" name="AutoShape 9"/>
            <p:cNvSpPr>
              <a:spLocks noChangeArrowheads="1"/>
            </p:cNvSpPr>
            <p:nvPr/>
          </p:nvSpPr>
          <p:spPr bwMode="gray">
            <a:xfrm>
              <a:off x="2562" y="2659"/>
              <a:ext cx="730" cy="677"/>
            </a:xfrm>
            <a:prstGeom prst="foldedCorner">
              <a:avLst>
                <a:gd name="adj" fmla="val 12500"/>
              </a:avLst>
            </a:prstGeom>
            <a:solidFill>
              <a:srgbClr val="E4FCE4"/>
            </a:solidFill>
            <a:ln w="19050" algn="ctr">
              <a:solidFill>
                <a:srgbClr val="00B0F0"/>
              </a:solidFill>
              <a:round/>
              <a:headEnd/>
              <a:tailEnd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 anchorCtr="1"/>
            <a:lstStyle/>
            <a:p>
              <a:pPr marL="285750" indent="-285750" algn="l" eaLnBrk="0" hangingPunct="0">
                <a:buClr>
                  <a:srgbClr val="233DA9"/>
                </a:buClr>
                <a:buSzPct val="80000"/>
                <a:defRPr/>
              </a:pPr>
              <a:r>
                <a:rPr lang="en-US" altLang="zh-CN" b="1" dirty="0"/>
                <a:t>Sort.java</a:t>
              </a:r>
            </a:p>
          </p:txBody>
        </p:sp>
        <p:sp>
          <p:nvSpPr>
            <p:cNvPr id="490506" name="AutoShape 10"/>
            <p:cNvSpPr>
              <a:spLocks noChangeArrowheads="1"/>
            </p:cNvSpPr>
            <p:nvPr/>
          </p:nvSpPr>
          <p:spPr bwMode="auto">
            <a:xfrm>
              <a:off x="2336" y="2481"/>
              <a:ext cx="1084" cy="257"/>
            </a:xfrm>
            <a:prstGeom prst="roundRect">
              <a:avLst>
                <a:gd name="adj" fmla="val 16667"/>
              </a:avLst>
            </a:prstGeom>
            <a:solidFill>
              <a:srgbClr val="E4FCE4"/>
            </a:solidFill>
            <a:ln w="19050" algn="ctr">
              <a:solidFill>
                <a:srgbClr val="00B0F0"/>
              </a:solidFill>
              <a:round/>
              <a:headEnd/>
              <a:tailEnd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 anchorCtr="1"/>
            <a:lstStyle/>
            <a:p>
              <a:pPr marL="285750" indent="-285750" algn="l" eaLnBrk="0" hangingPunct="0">
                <a:buClr>
                  <a:srgbClr val="233DA9"/>
                </a:buClr>
                <a:buSzPct val="80000"/>
                <a:defRPr/>
              </a:pPr>
              <a:r>
                <a:rPr lang="zh-CN" altLang="en-US" b="1" dirty="0" smtClean="0"/>
                <a:t>冒泡排序</a:t>
              </a:r>
              <a:endParaRPr lang="zh-CN" altLang="en-US" b="1" dirty="0"/>
            </a:p>
          </p:txBody>
        </p:sp>
      </p:grpSp>
      <p:grpSp>
        <p:nvGrpSpPr>
          <p:cNvPr id="12" name="组合 72"/>
          <p:cNvGrpSpPr/>
          <p:nvPr/>
        </p:nvGrpSpPr>
        <p:grpSpPr>
          <a:xfrm>
            <a:off x="156390" y="2577769"/>
            <a:ext cx="986586" cy="422603"/>
            <a:chOff x="1000100" y="1173499"/>
            <a:chExt cx="986586" cy="422603"/>
          </a:xfrm>
        </p:grpSpPr>
        <p:pic>
          <p:nvPicPr>
            <p:cNvPr id="13" name="Picture 5" descr="E:\设计支持\模板设计\WT.png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1000100" y="1173499"/>
              <a:ext cx="414476" cy="422603"/>
            </a:xfrm>
            <a:prstGeom prst="rect">
              <a:avLst/>
            </a:prstGeom>
            <a:noFill/>
          </p:spPr>
        </p:pic>
        <p:sp>
          <p:nvSpPr>
            <p:cNvPr id="14" name="TextBox 13"/>
            <p:cNvSpPr txBox="1"/>
            <p:nvPr/>
          </p:nvSpPr>
          <p:spPr>
            <a:xfrm>
              <a:off x="1285852" y="1184745"/>
              <a:ext cx="700834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问题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5" name="灯片编号占位符 1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62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310478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42872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/>
              <a:t>包</a:t>
            </a:r>
          </a:p>
        </p:txBody>
      </p:sp>
      <p:sp>
        <p:nvSpPr>
          <p:cNvPr id="4915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解决</a:t>
            </a:r>
            <a:r>
              <a:rPr lang="zh-CN" altLang="en-US" dirty="0"/>
              <a:t>类的同名问题</a:t>
            </a:r>
          </a:p>
          <a:p>
            <a:endParaRPr lang="zh-CN" altLang="en-US" dirty="0"/>
          </a:p>
        </p:txBody>
      </p:sp>
      <p:sp>
        <p:nvSpPr>
          <p:cNvPr id="491524" name="Line 4"/>
          <p:cNvSpPr>
            <a:spLocks noChangeShapeType="1"/>
          </p:cNvSpPr>
          <p:nvPr/>
        </p:nvSpPr>
        <p:spPr bwMode="auto">
          <a:xfrm flipH="1">
            <a:off x="2843213" y="3644900"/>
            <a:ext cx="1154112" cy="504825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91525" name="Line 5"/>
          <p:cNvSpPr>
            <a:spLocks noChangeShapeType="1"/>
          </p:cNvSpPr>
          <p:nvPr/>
        </p:nvSpPr>
        <p:spPr bwMode="auto">
          <a:xfrm>
            <a:off x="5148263" y="3717925"/>
            <a:ext cx="0" cy="1584325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91526" name="Line 6"/>
          <p:cNvSpPr>
            <a:spLocks noChangeShapeType="1"/>
          </p:cNvSpPr>
          <p:nvPr/>
        </p:nvSpPr>
        <p:spPr bwMode="auto">
          <a:xfrm>
            <a:off x="5940425" y="3573463"/>
            <a:ext cx="1150938" cy="574675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91527" name="AutoShape 7"/>
          <p:cNvSpPr>
            <a:spLocks noChangeArrowheads="1"/>
          </p:cNvSpPr>
          <p:nvPr/>
        </p:nvSpPr>
        <p:spPr bwMode="gray">
          <a:xfrm>
            <a:off x="611188" y="4221163"/>
            <a:ext cx="3299354" cy="1021556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b="1" dirty="0"/>
              <a:t>允许类组成较小的单元（类似</a:t>
            </a:r>
          </a:p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b="1" dirty="0"/>
              <a:t>文件夹），易于找到和使用相</a:t>
            </a:r>
          </a:p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b="1" dirty="0"/>
              <a:t>应的</a:t>
            </a:r>
            <a:r>
              <a:rPr lang="zh-CN" altLang="en-US" b="1" dirty="0" smtClean="0"/>
              <a:t>文件</a:t>
            </a:r>
            <a:endParaRPr lang="zh-CN" altLang="en-US" b="1" dirty="0"/>
          </a:p>
        </p:txBody>
      </p:sp>
      <p:sp>
        <p:nvSpPr>
          <p:cNvPr id="491528" name="AutoShape 8"/>
          <p:cNvSpPr>
            <a:spLocks noChangeArrowheads="1"/>
          </p:cNvSpPr>
          <p:nvPr/>
        </p:nvSpPr>
        <p:spPr bwMode="gray">
          <a:xfrm>
            <a:off x="4211638" y="5373688"/>
            <a:ext cx="1609825" cy="408623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b="1" dirty="0" smtClean="0"/>
              <a:t>防止命名冲突</a:t>
            </a:r>
            <a:endParaRPr lang="zh-CN" altLang="en-US" b="1" dirty="0"/>
          </a:p>
        </p:txBody>
      </p:sp>
      <p:sp>
        <p:nvSpPr>
          <p:cNvPr id="491529" name="AutoShape 9"/>
          <p:cNvSpPr>
            <a:spLocks noChangeArrowheads="1"/>
          </p:cNvSpPr>
          <p:nvPr/>
        </p:nvSpPr>
        <p:spPr bwMode="gray">
          <a:xfrm>
            <a:off x="6335713" y="4221163"/>
            <a:ext cx="2103457" cy="715089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b="1" dirty="0"/>
              <a:t>更好的保护类、属</a:t>
            </a:r>
          </a:p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b="1" dirty="0"/>
              <a:t>性和</a:t>
            </a:r>
            <a:r>
              <a:rPr lang="zh-CN" altLang="en-US" b="1" dirty="0" smtClean="0"/>
              <a:t>方法</a:t>
            </a:r>
            <a:endParaRPr lang="zh-CN" altLang="en-US" b="1" dirty="0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924300" y="2133600"/>
            <a:ext cx="2447925" cy="1584325"/>
            <a:chOff x="2154" y="1616"/>
            <a:chExt cx="1542" cy="998"/>
          </a:xfrm>
          <a:solidFill>
            <a:srgbClr val="00B0F0"/>
          </a:solidFill>
        </p:grpSpPr>
        <p:sp>
          <p:nvSpPr>
            <p:cNvPr id="491531" name="AutoShape 11"/>
            <p:cNvSpPr>
              <a:spLocks noChangeArrowheads="1"/>
            </p:cNvSpPr>
            <p:nvPr/>
          </p:nvSpPr>
          <p:spPr bwMode="gray">
            <a:xfrm>
              <a:off x="2154" y="1616"/>
              <a:ext cx="1542" cy="998"/>
            </a:xfrm>
            <a:prstGeom prst="flowChartMultidocument">
              <a:avLst/>
            </a:prstGeom>
            <a:grpFill/>
            <a:ln w="19050" algn="ctr">
              <a:solidFill>
                <a:schemeClr val="tx2">
                  <a:lumMod val="75000"/>
                </a:schemeClr>
              </a:solidFill>
              <a:round/>
              <a:headEnd/>
              <a:tailEnd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 anchorCtr="1"/>
            <a:lstStyle/>
            <a:p>
              <a:pPr algn="l" eaLnBrk="0" hangingPunct="0">
                <a:defRPr/>
              </a:pPr>
              <a:r>
                <a:rPr lang="en-US" altLang="zh-CN" b="1" dirty="0" smtClean="0"/>
                <a:t>Sort.java</a:t>
              </a:r>
              <a:endParaRPr lang="en-US" altLang="zh-CN" b="1" dirty="0"/>
            </a:p>
          </p:txBody>
        </p:sp>
        <p:sp>
          <p:nvSpPr>
            <p:cNvPr id="491532" name="Rectangle 12"/>
            <p:cNvSpPr>
              <a:spLocks noChangeArrowheads="1"/>
            </p:cNvSpPr>
            <p:nvPr/>
          </p:nvSpPr>
          <p:spPr bwMode="gray">
            <a:xfrm>
              <a:off x="2154" y="1616"/>
              <a:ext cx="590" cy="237"/>
            </a:xfrm>
            <a:prstGeom prst="rect">
              <a:avLst/>
            </a:prstGeom>
            <a:grpFill/>
            <a:ln w="19050" algn="ctr">
              <a:solidFill>
                <a:schemeClr val="tx2">
                  <a:lumMod val="75000"/>
                </a:schemeClr>
              </a:solidFill>
              <a:round/>
              <a:headEnd/>
              <a:tailEnd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 anchorCtr="1"/>
            <a:lstStyle/>
            <a:p>
              <a:pPr algn="l" eaLnBrk="0" hangingPunct="0">
                <a:defRPr/>
              </a:pPr>
              <a:r>
                <a:rPr lang="zh-CN" altLang="en-US" b="1" dirty="0"/>
                <a:t>包</a:t>
              </a:r>
            </a:p>
          </p:txBody>
        </p:sp>
      </p:grpSp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63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423438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/>
              <a:t>如何创建包</a:t>
            </a:r>
          </a:p>
        </p:txBody>
      </p:sp>
      <p:sp>
        <p:nvSpPr>
          <p:cNvPr id="493571" name="AutoShape 3"/>
          <p:cNvSpPr>
            <a:spLocks noGrp="1" noChangeArrowheads="1"/>
          </p:cNvSpPr>
          <p:nvPr>
            <p:ph idx="1"/>
          </p:nvPr>
        </p:nvSpPr>
        <p:spPr>
          <a:xfrm>
            <a:off x="785786" y="2143116"/>
            <a:ext cx="7645398" cy="3000821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CN" sz="1800" dirty="0" smtClean="0">
                <a:solidFill>
                  <a:srgbClr val="0000FF"/>
                </a:solidFill>
              </a:rPr>
              <a:t>package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edu.swjtu.javaclass</a:t>
            </a:r>
            <a:r>
              <a:rPr lang="en-US" altLang="zh-CN" sz="1800" dirty="0" smtClean="0"/>
              <a:t>;   //</a:t>
            </a:r>
            <a:r>
              <a:rPr lang="zh-CN" altLang="en-US" sz="1800" dirty="0" smtClean="0"/>
              <a:t>声明包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CN" sz="1800" dirty="0" smtClean="0"/>
              <a:t>public class </a:t>
            </a:r>
            <a:r>
              <a:rPr lang="en-US" altLang="zh-CN" sz="1800" dirty="0" err="1"/>
              <a:t>M</a:t>
            </a:r>
            <a:r>
              <a:rPr lang="en-US" altLang="zh-CN" sz="1800" dirty="0" err="1" smtClean="0"/>
              <a:t>ySchool</a:t>
            </a:r>
            <a:r>
              <a:rPr lang="en-US" altLang="zh-CN" sz="1800" dirty="0" smtClean="0"/>
              <a:t> {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CN" sz="1800" dirty="0" smtClean="0"/>
              <a:t>    //……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CN" sz="1800" dirty="0" smtClean="0"/>
              <a:t>    public String </a:t>
            </a:r>
            <a:r>
              <a:rPr lang="en-US" altLang="zh-CN" sz="1800" dirty="0" err="1" smtClean="0"/>
              <a:t>toString</a:t>
            </a:r>
            <a:r>
              <a:rPr lang="en-US" altLang="zh-CN" sz="1800" dirty="0" smtClean="0"/>
              <a:t>() {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CN" sz="1800" dirty="0" smtClean="0"/>
              <a:t>       //……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CN" sz="1800" dirty="0" smtClean="0"/>
              <a:t>    }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CN" sz="1800" dirty="0" smtClean="0"/>
              <a:t>}</a:t>
            </a:r>
            <a:endParaRPr lang="en-US" altLang="zh-CN" sz="1800" dirty="0"/>
          </a:p>
        </p:txBody>
      </p:sp>
      <p:sp>
        <p:nvSpPr>
          <p:cNvPr id="493573" name="AutoShape 5"/>
          <p:cNvSpPr>
            <a:spLocks noChangeArrowheads="1"/>
          </p:cNvSpPr>
          <p:nvPr/>
        </p:nvSpPr>
        <p:spPr bwMode="gray">
          <a:xfrm>
            <a:off x="4000496" y="3286124"/>
            <a:ext cx="1394167" cy="408623"/>
          </a:xfrm>
          <a:prstGeom prst="wedgeRoundRectCallout">
            <a:avLst>
              <a:gd name="adj1" fmla="val -31098"/>
              <a:gd name="adj2" fmla="val -47263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  包名         </a:t>
            </a:r>
          </a:p>
        </p:txBody>
      </p:sp>
      <p:sp>
        <p:nvSpPr>
          <p:cNvPr id="493574" name="AutoShape 6"/>
          <p:cNvSpPr>
            <a:spLocks noChangeArrowheads="1"/>
          </p:cNvSpPr>
          <p:nvPr/>
        </p:nvSpPr>
        <p:spPr bwMode="gray">
          <a:xfrm>
            <a:off x="5572132" y="1142984"/>
            <a:ext cx="2336039" cy="776383"/>
          </a:xfrm>
          <a:prstGeom prst="wedgeRoundRectCallout">
            <a:avLst>
              <a:gd name="adj1" fmla="val -25792"/>
              <a:gd name="adj2" fmla="val 49755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用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package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声明包，</a:t>
            </a:r>
          </a:p>
          <a:p>
            <a:pPr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以分号结尾</a:t>
            </a:r>
          </a:p>
        </p:txBody>
      </p:sp>
      <p:sp>
        <p:nvSpPr>
          <p:cNvPr id="493576" name="AutoShape 8"/>
          <p:cNvSpPr>
            <a:spLocks noChangeArrowheads="1"/>
          </p:cNvSpPr>
          <p:nvPr/>
        </p:nvSpPr>
        <p:spPr bwMode="gray">
          <a:xfrm>
            <a:off x="2143109" y="1152419"/>
            <a:ext cx="2071701" cy="776383"/>
          </a:xfrm>
          <a:prstGeom prst="wedgeRoundRectCallout">
            <a:avLst>
              <a:gd name="adj1" fmla="val -29507"/>
              <a:gd name="adj2" fmla="val 49390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b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作为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Java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源代码</a:t>
            </a:r>
            <a:endParaRPr lang="en-US" altLang="zh-CN" b="1" kern="0" dirty="0" smtClean="0">
              <a:solidFill>
                <a:schemeClr val="bg1"/>
              </a:solidFill>
              <a:latin typeface="Arial"/>
              <a:ea typeface="黑体"/>
            </a:endParaRPr>
          </a:p>
          <a:p>
            <a:pPr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第一条语句          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71406" y="857232"/>
            <a:ext cx="1000132" cy="414475"/>
            <a:chOff x="1000100" y="2528843"/>
            <a:chExt cx="1000132" cy="414475"/>
          </a:xfrm>
        </p:grpSpPr>
        <p:pic>
          <p:nvPicPr>
            <p:cNvPr id="10" name="Picture 8" descr="E:\设计支持\模板设计\sl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00100" y="2528843"/>
              <a:ext cx="446984" cy="414475"/>
            </a:xfrm>
            <a:prstGeom prst="rect">
              <a:avLst/>
            </a:prstGeom>
            <a:noFill/>
          </p:spPr>
        </p:pic>
        <p:sp>
          <p:nvSpPr>
            <p:cNvPr id="11" name="TextBox 10"/>
            <p:cNvSpPr txBox="1"/>
            <p:nvPr/>
          </p:nvSpPr>
          <p:spPr>
            <a:xfrm>
              <a:off x="1299399" y="2536025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示例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cxnSp>
        <p:nvCxnSpPr>
          <p:cNvPr id="12" name="直接箭头连接符 11"/>
          <p:cNvCxnSpPr/>
          <p:nvPr/>
        </p:nvCxnSpPr>
        <p:spPr bwMode="auto">
          <a:xfrm flipV="1">
            <a:off x="4929190" y="1931808"/>
            <a:ext cx="832287" cy="354184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 bwMode="auto">
          <a:xfrm flipV="1">
            <a:off x="2714612" y="2003246"/>
            <a:ext cx="546535" cy="211308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 bwMode="auto">
          <a:xfrm rot="16200000" flipH="1">
            <a:off x="3643306" y="2714620"/>
            <a:ext cx="642942" cy="500066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灯片编号占位符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64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403955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9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3" grpId="0" animBg="1"/>
      <p:bldP spid="493574" grpId="0" animBg="1"/>
      <p:bldP spid="49357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42872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/>
              <a:t>包命名规范</a:t>
            </a:r>
          </a:p>
        </p:txBody>
      </p:sp>
      <p:sp>
        <p:nvSpPr>
          <p:cNvPr id="494595" name="Rectangle 3"/>
          <p:cNvSpPr>
            <a:spLocks noGrp="1" noChangeArrowheads="1"/>
          </p:cNvSpPr>
          <p:nvPr>
            <p:ph idx="1"/>
          </p:nvPr>
        </p:nvSpPr>
        <p:spPr>
          <a:xfrm>
            <a:off x="784254" y="1276351"/>
            <a:ext cx="8002588" cy="5010170"/>
          </a:xfrm>
        </p:spPr>
        <p:txBody>
          <a:bodyPr/>
          <a:lstStyle/>
          <a:p>
            <a:r>
              <a:rPr lang="zh-CN" altLang="en-US" dirty="0" smtClean="0"/>
              <a:t>包名由</a:t>
            </a:r>
            <a:r>
              <a:rPr lang="zh-CN" altLang="en-US" dirty="0"/>
              <a:t>小写字母组成，不能以圆点开头或结尾</a:t>
            </a:r>
          </a:p>
          <a:p>
            <a:endParaRPr lang="zh-CN" altLang="en-US" dirty="0"/>
          </a:p>
          <a:p>
            <a:r>
              <a:rPr lang="zh-CN" altLang="en-US" dirty="0" smtClean="0"/>
              <a:t>包名之前最好</a:t>
            </a:r>
            <a:r>
              <a:rPr lang="zh-CN" altLang="en-US" dirty="0"/>
              <a:t>加上唯一的前缀，通常使用组织倒置的网络</a:t>
            </a:r>
            <a:r>
              <a:rPr lang="zh-CN" altLang="en-US" dirty="0" smtClean="0"/>
              <a:t>域名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    </a:t>
            </a:r>
          </a:p>
          <a:p>
            <a:r>
              <a:rPr lang="zh-CN" altLang="en-US" dirty="0" smtClean="0"/>
              <a:t>包</a:t>
            </a:r>
            <a:r>
              <a:rPr lang="zh-CN" altLang="en-US" dirty="0"/>
              <a:t>名后续部分依不同机构内部的规范不同而不同 </a:t>
            </a:r>
          </a:p>
          <a:p>
            <a:pPr>
              <a:buFont typeface="Wingdings" pitchFamily="2" charset="2"/>
              <a:buNone/>
            </a:pPr>
            <a:endParaRPr lang="zh-CN" altLang="en-US" dirty="0"/>
          </a:p>
        </p:txBody>
      </p:sp>
      <p:sp>
        <p:nvSpPr>
          <p:cNvPr id="494596" name="AutoShape 4"/>
          <p:cNvSpPr>
            <a:spLocks noChangeArrowheads="1"/>
          </p:cNvSpPr>
          <p:nvPr/>
        </p:nvSpPr>
        <p:spPr bwMode="auto">
          <a:xfrm>
            <a:off x="1042988" y="1857364"/>
            <a:ext cx="7231062" cy="456535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b="1" dirty="0" smtClean="0">
                <a:solidFill>
                  <a:srgbClr val="0000FF"/>
                </a:solidFill>
              </a:rPr>
              <a:t>package</a:t>
            </a:r>
            <a:r>
              <a:rPr lang="en-US" altLang="zh-CN" b="1" dirty="0" smtClean="0"/>
              <a:t> </a:t>
            </a:r>
            <a:r>
              <a:rPr lang="en-US" altLang="zh-CN" b="1" dirty="0" err="1" smtClean="0"/>
              <a:t>mypackage</a:t>
            </a:r>
            <a:r>
              <a:rPr lang="en-US" altLang="zh-CN" b="1" dirty="0" smtClean="0"/>
              <a:t>;</a:t>
            </a:r>
            <a:endParaRPr lang="en-US" altLang="zh-CN" b="1" dirty="0"/>
          </a:p>
        </p:txBody>
      </p:sp>
      <p:sp>
        <p:nvSpPr>
          <p:cNvPr id="494597" name="AutoShape 5"/>
          <p:cNvSpPr>
            <a:spLocks noChangeArrowheads="1"/>
          </p:cNvSpPr>
          <p:nvPr/>
        </p:nvSpPr>
        <p:spPr bwMode="auto">
          <a:xfrm>
            <a:off x="1042988" y="3286124"/>
            <a:ext cx="7231062" cy="456535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b="1" dirty="0" smtClean="0">
                <a:solidFill>
                  <a:srgbClr val="0000FF"/>
                </a:solidFill>
              </a:rPr>
              <a:t>package</a:t>
            </a:r>
            <a:r>
              <a:rPr lang="en-US" altLang="zh-CN" b="1" dirty="0" smtClean="0"/>
              <a:t> </a:t>
            </a:r>
            <a:r>
              <a:rPr lang="en-US" altLang="zh-CN" b="1" dirty="0" err="1" smtClean="0">
                <a:solidFill>
                  <a:srgbClr val="FF3300"/>
                </a:solidFill>
              </a:rPr>
              <a:t>net.javagroup</a:t>
            </a:r>
            <a:r>
              <a:rPr lang="en-US" altLang="zh-CN" b="1" dirty="0" err="1" smtClean="0"/>
              <a:t>.mypackage</a:t>
            </a:r>
            <a:r>
              <a:rPr lang="en-US" altLang="zh-CN" b="1" dirty="0" smtClean="0"/>
              <a:t>;</a:t>
            </a:r>
            <a:endParaRPr lang="en-US" altLang="zh-CN" b="1" dirty="0"/>
          </a:p>
        </p:txBody>
      </p:sp>
      <p:sp>
        <p:nvSpPr>
          <p:cNvPr id="494598" name="AutoShape 6"/>
          <p:cNvSpPr>
            <a:spLocks noChangeArrowheads="1"/>
          </p:cNvSpPr>
          <p:nvPr/>
        </p:nvSpPr>
        <p:spPr bwMode="auto">
          <a:xfrm>
            <a:off x="1042988" y="4714884"/>
            <a:ext cx="7231062" cy="460950"/>
          </a:xfrm>
          <a:prstGeom prst="roundRect">
            <a:avLst>
              <a:gd name="adj" fmla="val 2433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b="1" dirty="0" smtClean="0">
                <a:solidFill>
                  <a:srgbClr val="0000FF"/>
                </a:solidFill>
              </a:rPr>
              <a:t>package</a:t>
            </a:r>
            <a:r>
              <a:rPr lang="en-US" altLang="zh-CN" b="1" dirty="0" smtClean="0"/>
              <a:t> </a:t>
            </a:r>
            <a:r>
              <a:rPr lang="en-US" altLang="zh-CN" b="1" dirty="0" err="1" smtClean="0">
                <a:solidFill>
                  <a:srgbClr val="FF3300"/>
                </a:solidFill>
              </a:rPr>
              <a:t>net.javagroup</a:t>
            </a:r>
            <a:r>
              <a:rPr lang="en-US" altLang="zh-CN" b="1" dirty="0" err="1" smtClean="0"/>
              <a:t>.research.powerproject</a:t>
            </a:r>
            <a:r>
              <a:rPr lang="en-US" altLang="zh-CN" b="1" dirty="0" smtClean="0"/>
              <a:t>;</a:t>
            </a:r>
            <a:endParaRPr lang="en-US" altLang="zh-CN" b="1" dirty="0"/>
          </a:p>
        </p:txBody>
      </p:sp>
      <p:sp>
        <p:nvSpPr>
          <p:cNvPr id="494599" name="AutoShape 7"/>
          <p:cNvSpPr>
            <a:spLocks noChangeArrowheads="1"/>
          </p:cNvSpPr>
          <p:nvPr/>
        </p:nvSpPr>
        <p:spPr bwMode="gray">
          <a:xfrm>
            <a:off x="3714744" y="5432437"/>
            <a:ext cx="916091" cy="408623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部门名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494600" name="AutoShape 8"/>
          <p:cNvSpPr>
            <a:spLocks noChangeArrowheads="1"/>
          </p:cNvSpPr>
          <p:nvPr/>
        </p:nvSpPr>
        <p:spPr bwMode="gray">
          <a:xfrm>
            <a:off x="5143504" y="5429264"/>
            <a:ext cx="982692" cy="408623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 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项目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名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494601" name="Line 9"/>
          <p:cNvSpPr>
            <a:spLocks noChangeShapeType="1"/>
          </p:cNvSpPr>
          <p:nvPr/>
        </p:nvSpPr>
        <p:spPr bwMode="auto">
          <a:xfrm>
            <a:off x="4219569" y="5143512"/>
            <a:ext cx="0" cy="288925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94602" name="Line 10"/>
          <p:cNvSpPr>
            <a:spLocks noChangeShapeType="1"/>
          </p:cNvSpPr>
          <p:nvPr/>
        </p:nvSpPr>
        <p:spPr bwMode="auto">
          <a:xfrm>
            <a:off x="5659432" y="5143512"/>
            <a:ext cx="0" cy="288925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94603" name="AutoShape 11"/>
          <p:cNvSpPr>
            <a:spLocks noChangeArrowheads="1"/>
          </p:cNvSpPr>
          <p:nvPr/>
        </p:nvSpPr>
        <p:spPr bwMode="gray">
          <a:xfrm>
            <a:off x="4357686" y="1857364"/>
            <a:ext cx="2894212" cy="408623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/>
                <a:ea typeface="黑体"/>
              </a:rPr>
              <a:t>package 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.mypackage; </a:t>
            </a:r>
            <a:r>
              <a:rPr lang="en-US" altLang="zh-CN" b="1" kern="0" dirty="0" smtClean="0">
                <a:solidFill>
                  <a:srgbClr val="FF0000"/>
                </a:solidFill>
                <a:latin typeface="Arial"/>
                <a:ea typeface="黑体"/>
              </a:rPr>
              <a:t>×</a:t>
            </a:r>
            <a:endParaRPr lang="en-US" altLang="zh-CN" b="1" kern="0" dirty="0">
              <a:solidFill>
                <a:srgbClr val="FF0000"/>
              </a:solidFill>
              <a:latin typeface="Arial"/>
              <a:ea typeface="黑体"/>
            </a:endParaRPr>
          </a:p>
        </p:txBody>
      </p:sp>
      <p:pic>
        <p:nvPicPr>
          <p:cNvPr id="13" name="Picture 2" descr="C:\Users\jian.zhang\Desktop\安卓PPT模板demo\代码展示\11.wm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11522" y="1826368"/>
            <a:ext cx="535259" cy="446049"/>
          </a:xfrm>
          <a:prstGeom prst="rect">
            <a:avLst/>
          </a:prstGeom>
          <a:noFill/>
        </p:spPr>
      </p:pic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65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94070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4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94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9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94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9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9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9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9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597" grpId="0" animBg="1"/>
      <p:bldP spid="494598" grpId="0" animBg="1"/>
      <p:bldP spid="494599" grpId="0" animBg="1"/>
      <p:bldP spid="494600" grpId="0" animBg="1"/>
      <p:bldP spid="494601" grpId="0" animBg="1"/>
      <p:bldP spid="494602" grpId="0" animBg="1"/>
      <p:bldP spid="49460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42872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 smtClean="0"/>
              <a:t>用</a:t>
            </a:r>
            <a:r>
              <a:rPr lang="en-US" altLang="zh-CN" b="1" dirty="0" err="1" smtClean="0"/>
              <a:t>MyEclipse</a:t>
            </a:r>
            <a:r>
              <a:rPr lang="en-US" altLang="zh-CN" b="1" dirty="0" smtClean="0"/>
              <a:t> </a:t>
            </a:r>
            <a:r>
              <a:rPr lang="zh-CN" altLang="en-US" b="1" dirty="0"/>
              <a:t>创建包</a:t>
            </a:r>
          </a:p>
        </p:txBody>
      </p:sp>
      <p:sp>
        <p:nvSpPr>
          <p:cNvPr id="4966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/>
            <a:r>
              <a:rPr lang="zh-CN" altLang="en-US" dirty="0" smtClean="0"/>
              <a:t>使用</a:t>
            </a:r>
            <a:r>
              <a:rPr lang="en-US" altLang="zh-CN" dirty="0" err="1" smtClean="0"/>
              <a:t>MyEclipse</a:t>
            </a:r>
            <a:r>
              <a:rPr lang="zh-CN" altLang="en-US" dirty="0"/>
              <a:t>创建包的两种</a:t>
            </a:r>
            <a:r>
              <a:rPr lang="zh-CN" altLang="en-US" dirty="0" smtClean="0"/>
              <a:t>方法</a:t>
            </a:r>
            <a:endParaRPr lang="zh-CN" altLang="en-US" dirty="0"/>
          </a:p>
          <a:p>
            <a:pPr marL="914400" lvl="1" indent="-457200"/>
            <a:r>
              <a:rPr lang="zh-CN" altLang="en-US" dirty="0"/>
              <a:t>分别创建包和</a:t>
            </a:r>
            <a:r>
              <a:rPr lang="zh-CN" altLang="en-US" dirty="0" smtClean="0"/>
              <a:t>类</a:t>
            </a:r>
            <a:endParaRPr lang="zh-CN" altLang="en-US" dirty="0"/>
          </a:p>
          <a:p>
            <a:pPr marL="914400" lvl="1" indent="-457200"/>
            <a:r>
              <a:rPr lang="zh-CN" altLang="en-US" dirty="0"/>
              <a:t>创建类的过程中创建类所在的</a:t>
            </a:r>
            <a:r>
              <a:rPr lang="zh-CN" altLang="en-US" dirty="0" smtClean="0"/>
              <a:t>包</a:t>
            </a:r>
            <a:endParaRPr lang="zh-CN" altLang="en-US" sz="1800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66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30030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/>
              <a:t>包与目录的关系</a:t>
            </a:r>
          </a:p>
        </p:txBody>
      </p:sp>
      <p:sp>
        <p:nvSpPr>
          <p:cNvPr id="4986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创建好的包和</a:t>
            </a:r>
            <a:r>
              <a:rPr lang="en-US" altLang="zh-CN" dirty="0"/>
              <a:t>Java</a:t>
            </a:r>
            <a:r>
              <a:rPr lang="zh-CN" altLang="en-US" dirty="0"/>
              <a:t>源文件是如何存储的？</a:t>
            </a:r>
          </a:p>
          <a:p>
            <a:pPr lvl="1"/>
            <a:r>
              <a:rPr lang="zh-CN" altLang="en-US" dirty="0"/>
              <a:t>创建</a:t>
            </a:r>
            <a:r>
              <a:rPr lang="zh-CN" altLang="en-US" dirty="0" smtClean="0"/>
              <a:t>包</a:t>
            </a:r>
            <a:r>
              <a:rPr lang="en-US" altLang="zh-CN" dirty="0" err="1" smtClean="0"/>
              <a:t>edu.swjtu.javaclass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 lvl="1">
              <a:buNone/>
            </a:pPr>
            <a:r>
              <a:rPr lang="en-US" altLang="zh-CN" dirty="0" smtClean="0"/>
              <a:t>   </a:t>
            </a:r>
            <a:r>
              <a:rPr lang="zh-CN" altLang="en-US" dirty="0" smtClean="0"/>
              <a:t>即</a:t>
            </a:r>
            <a:r>
              <a:rPr lang="zh-CN" altLang="en-US" dirty="0"/>
              <a:t>创建了目录</a:t>
            </a:r>
            <a:r>
              <a:rPr lang="zh-CN" altLang="en-US" dirty="0" smtClean="0"/>
              <a:t>结构：</a:t>
            </a:r>
            <a:r>
              <a:rPr lang="en-US" altLang="zh-CN" dirty="0" err="1" smtClean="0"/>
              <a:t>edu</a:t>
            </a:r>
            <a:r>
              <a:rPr lang="en-US" altLang="zh-CN" dirty="0" smtClean="0"/>
              <a:t>\</a:t>
            </a:r>
            <a:r>
              <a:rPr lang="en-US" altLang="zh-CN" dirty="0" err="1" smtClean="0"/>
              <a:t>swjtu</a:t>
            </a:r>
            <a:r>
              <a:rPr lang="en-US" altLang="zh-CN" dirty="0" smtClean="0"/>
              <a:t>\</a:t>
            </a:r>
            <a:r>
              <a:rPr lang="en-US" altLang="zh-CN" dirty="0" err="1" smtClean="0"/>
              <a:t>javaclass</a:t>
            </a:r>
            <a:r>
              <a:rPr lang="en-US" altLang="zh-CN" dirty="0" smtClean="0"/>
              <a:t> </a:t>
            </a:r>
            <a:endParaRPr lang="en-US" altLang="zh-CN" dirty="0"/>
          </a:p>
        </p:txBody>
      </p:sp>
      <p:sp>
        <p:nvSpPr>
          <p:cNvPr id="498692" name="AutoShape 4"/>
          <p:cNvSpPr>
            <a:spLocks noChangeArrowheads="1"/>
          </p:cNvSpPr>
          <p:nvPr/>
        </p:nvSpPr>
        <p:spPr bwMode="gray">
          <a:xfrm>
            <a:off x="1635112" y="2981324"/>
            <a:ext cx="1008062" cy="376238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en-US" altLang="zh-CN" b="1" dirty="0" err="1" smtClean="0"/>
              <a:t>edu</a:t>
            </a:r>
            <a:endParaRPr lang="en-US" altLang="zh-CN" b="1" dirty="0"/>
          </a:p>
        </p:txBody>
      </p:sp>
      <p:sp>
        <p:nvSpPr>
          <p:cNvPr id="498694" name="AutoShape 6"/>
          <p:cNvSpPr>
            <a:spLocks noChangeArrowheads="1"/>
          </p:cNvSpPr>
          <p:nvPr/>
        </p:nvSpPr>
        <p:spPr bwMode="gray">
          <a:xfrm>
            <a:off x="2627313" y="3500438"/>
            <a:ext cx="936625" cy="376237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en-US" altLang="zh-CN" b="1" dirty="0" err="1" smtClean="0"/>
              <a:t>swjtu</a:t>
            </a:r>
            <a:endParaRPr lang="en-US" altLang="zh-CN" b="1" dirty="0"/>
          </a:p>
        </p:txBody>
      </p:sp>
      <p:sp>
        <p:nvSpPr>
          <p:cNvPr id="498695" name="Line 7"/>
          <p:cNvSpPr>
            <a:spLocks noChangeShapeType="1"/>
          </p:cNvSpPr>
          <p:nvPr/>
        </p:nvSpPr>
        <p:spPr bwMode="auto">
          <a:xfrm>
            <a:off x="2122488" y="3716338"/>
            <a:ext cx="504825" cy="0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non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498696" name="Line 8"/>
          <p:cNvSpPr>
            <a:spLocks noChangeShapeType="1"/>
          </p:cNvSpPr>
          <p:nvPr/>
        </p:nvSpPr>
        <p:spPr bwMode="auto">
          <a:xfrm>
            <a:off x="3130550" y="3860800"/>
            <a:ext cx="1588" cy="720725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non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498697" name="Line 9"/>
          <p:cNvSpPr>
            <a:spLocks noChangeShapeType="1"/>
          </p:cNvSpPr>
          <p:nvPr/>
        </p:nvSpPr>
        <p:spPr bwMode="auto">
          <a:xfrm>
            <a:off x="3130550" y="4148138"/>
            <a:ext cx="577850" cy="0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non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498698" name="AutoShape 10"/>
          <p:cNvSpPr>
            <a:spLocks noChangeArrowheads="1"/>
          </p:cNvSpPr>
          <p:nvPr/>
        </p:nvSpPr>
        <p:spPr bwMode="gray">
          <a:xfrm>
            <a:off x="3706812" y="3933825"/>
            <a:ext cx="1936757" cy="374650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en-US" altLang="zh-CN" b="1" dirty="0" err="1" smtClean="0"/>
              <a:t>javaclass</a:t>
            </a:r>
            <a:endParaRPr lang="en-US" altLang="zh-CN" b="1" dirty="0"/>
          </a:p>
        </p:txBody>
      </p:sp>
      <p:sp>
        <p:nvSpPr>
          <p:cNvPr id="498702" name="Line 14"/>
          <p:cNvSpPr>
            <a:spLocks noChangeShapeType="1"/>
          </p:cNvSpPr>
          <p:nvPr/>
        </p:nvSpPr>
        <p:spPr bwMode="auto">
          <a:xfrm>
            <a:off x="4211638" y="4292600"/>
            <a:ext cx="0" cy="1081088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non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498703" name="Line 15"/>
          <p:cNvSpPr>
            <a:spLocks noChangeShapeType="1"/>
          </p:cNvSpPr>
          <p:nvPr/>
        </p:nvSpPr>
        <p:spPr bwMode="auto">
          <a:xfrm>
            <a:off x="4211638" y="4724400"/>
            <a:ext cx="576262" cy="0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non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498704" name="AutoShape 16"/>
          <p:cNvSpPr>
            <a:spLocks noChangeArrowheads="1"/>
          </p:cNvSpPr>
          <p:nvPr/>
        </p:nvSpPr>
        <p:spPr bwMode="gray">
          <a:xfrm>
            <a:off x="4900674" y="4508506"/>
            <a:ext cx="1822248" cy="408623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/>
                <a:ea typeface="黑体"/>
              </a:rPr>
              <a:t>MySchool.java</a:t>
            </a:r>
            <a:endParaRPr lang="en-US" altLang="zh-CN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498705" name="Line 17"/>
          <p:cNvSpPr>
            <a:spLocks noChangeShapeType="1"/>
          </p:cNvSpPr>
          <p:nvPr/>
        </p:nvSpPr>
        <p:spPr bwMode="auto">
          <a:xfrm>
            <a:off x="4211638" y="5156200"/>
            <a:ext cx="576262" cy="0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non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498706" name="AutoShape 18"/>
          <p:cNvSpPr>
            <a:spLocks noChangeArrowheads="1"/>
          </p:cNvSpPr>
          <p:nvPr/>
        </p:nvSpPr>
        <p:spPr bwMode="gray">
          <a:xfrm>
            <a:off x="4786313" y="4940300"/>
            <a:ext cx="1861463" cy="408623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HelloAccp.java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71406" y="857232"/>
            <a:ext cx="986586" cy="422603"/>
            <a:chOff x="1000100" y="1173499"/>
            <a:chExt cx="986586" cy="422603"/>
          </a:xfrm>
        </p:grpSpPr>
        <p:pic>
          <p:nvPicPr>
            <p:cNvPr id="18" name="Picture 5" descr="E:\设计支持\模板设计\WT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1173499"/>
              <a:ext cx="414476" cy="422603"/>
            </a:xfrm>
            <a:prstGeom prst="rect">
              <a:avLst/>
            </a:prstGeom>
            <a:noFill/>
          </p:spPr>
        </p:pic>
        <p:sp>
          <p:nvSpPr>
            <p:cNvPr id="19" name="TextBox 18"/>
            <p:cNvSpPr txBox="1"/>
            <p:nvPr/>
          </p:nvSpPr>
          <p:spPr>
            <a:xfrm>
              <a:off x="1285852" y="1184745"/>
              <a:ext cx="700834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问题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2141520" y="3351217"/>
            <a:ext cx="1588" cy="720725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non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67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24849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9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9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9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9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9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9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2" grpId="0" animBg="1"/>
      <p:bldP spid="498694" grpId="0" animBg="1"/>
      <p:bldP spid="498695" grpId="0" animBg="1"/>
      <p:bldP spid="498696" grpId="0" animBg="1"/>
      <p:bldP spid="498697" grpId="0" animBg="1"/>
      <p:bldP spid="498698" grpId="0" animBg="1"/>
      <p:bldP spid="498702" grpId="0" animBg="1"/>
      <p:bldP spid="498703" grpId="0" animBg="1"/>
      <p:bldP spid="498704" grpId="0" animBg="1"/>
      <p:bldP spid="498705" grpId="0" animBg="1"/>
      <p:bldP spid="498706" grpId="0" animBg="1"/>
      <p:bldP spid="2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42872"/>
            <a:ext cx="8229600" cy="900112"/>
          </a:xfrm>
          <a:noFill/>
          <a:ln cap="flat"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/>
              <a:t>如何导入包</a:t>
            </a:r>
          </a:p>
        </p:txBody>
      </p:sp>
      <p:sp>
        <p:nvSpPr>
          <p:cNvPr id="500739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zh-CN" altLang="en-US" dirty="0"/>
              <a:t>为了使用不在同一包中的类，需要在</a:t>
            </a:r>
            <a:r>
              <a:rPr lang="en-US" altLang="zh-CN" dirty="0"/>
              <a:t>Java</a:t>
            </a:r>
            <a:r>
              <a:rPr lang="zh-CN" altLang="en-US" dirty="0"/>
              <a:t>程序中使用</a:t>
            </a:r>
            <a:r>
              <a:rPr lang="en-US" altLang="zh-CN" dirty="0"/>
              <a:t>import</a:t>
            </a:r>
            <a:r>
              <a:rPr lang="zh-CN" altLang="en-US" dirty="0"/>
              <a:t>关键字导入这个类</a:t>
            </a:r>
          </a:p>
          <a:p>
            <a:endParaRPr lang="zh-CN" altLang="en-US" dirty="0"/>
          </a:p>
          <a:p>
            <a:pPr>
              <a:buFont typeface="Wingdings" pitchFamily="2" charset="2"/>
              <a:buNone/>
            </a:pPr>
            <a:endParaRPr lang="zh-CN" altLang="en-US" dirty="0"/>
          </a:p>
          <a:p>
            <a:pPr>
              <a:buFont typeface="Wingdings" pitchFamily="2" charset="2"/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500740" name="AutoShape 4"/>
          <p:cNvSpPr>
            <a:spLocks noChangeArrowheads="1"/>
          </p:cNvSpPr>
          <p:nvPr/>
        </p:nvSpPr>
        <p:spPr bwMode="auto">
          <a:xfrm>
            <a:off x="857224" y="3000372"/>
            <a:ext cx="7546975" cy="412485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rgbClr val="0000FF"/>
                </a:solidFill>
              </a:rPr>
              <a:t>import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java.util.*;      //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导入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java.util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包中所有</a:t>
            </a:r>
            <a:r>
              <a:rPr lang="zh-CN" altLang="en-US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类</a:t>
            </a:r>
          </a:p>
        </p:txBody>
      </p:sp>
      <p:sp>
        <p:nvSpPr>
          <p:cNvPr id="500741" name="AutoShape 5"/>
          <p:cNvSpPr>
            <a:spLocks noChangeArrowheads="1"/>
          </p:cNvSpPr>
          <p:nvPr/>
        </p:nvSpPr>
        <p:spPr bwMode="gray">
          <a:xfrm>
            <a:off x="6000760" y="2214554"/>
            <a:ext cx="2619067" cy="408623"/>
          </a:xfrm>
          <a:prstGeom prst="wedgeRoundRectCallout">
            <a:avLst>
              <a:gd name="adj1" fmla="val -35093"/>
              <a:gd name="adj2" fmla="val 58876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关键字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import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并不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陌生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500742" name="AutoShape 6"/>
          <p:cNvSpPr>
            <a:spLocks noChangeArrowheads="1"/>
          </p:cNvSpPr>
          <p:nvPr/>
        </p:nvSpPr>
        <p:spPr bwMode="auto">
          <a:xfrm>
            <a:off x="2470124" y="4214818"/>
            <a:ext cx="4321175" cy="500563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algn="l"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import   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包名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. 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类名；</a:t>
            </a:r>
          </a:p>
        </p:txBody>
      </p:sp>
      <p:sp>
        <p:nvSpPr>
          <p:cNvPr id="500743" name="AutoShape 7"/>
          <p:cNvSpPr>
            <a:spLocks noChangeArrowheads="1"/>
          </p:cNvSpPr>
          <p:nvPr/>
        </p:nvSpPr>
        <p:spPr bwMode="gray">
          <a:xfrm>
            <a:off x="250825" y="5143512"/>
            <a:ext cx="3895804" cy="776383"/>
          </a:xfrm>
          <a:prstGeom prst="wedgeRoundRectCallout">
            <a:avLst>
              <a:gd name="adj1" fmla="val 24720"/>
              <a:gd name="adj2" fmla="val -50161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/>
                <a:ea typeface="黑体"/>
              </a:rPr>
              <a:t>1. 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系统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包：</a:t>
            </a:r>
            <a:r>
              <a:rPr lang="en-US" altLang="zh-CN" b="1" kern="0" dirty="0" err="1" smtClean="0">
                <a:solidFill>
                  <a:schemeClr val="bg1"/>
                </a:solidFill>
                <a:latin typeface="Arial"/>
                <a:ea typeface="黑体"/>
              </a:rPr>
              <a:t>java.util</a:t>
            </a:r>
            <a:endParaRPr lang="en-US" altLang="zh-CN" b="1" kern="0" dirty="0" smtClean="0">
              <a:solidFill>
                <a:schemeClr val="bg1"/>
              </a:solidFill>
              <a:latin typeface="Arial"/>
              <a:ea typeface="黑体"/>
            </a:endParaRPr>
          </a:p>
          <a:p>
            <a:pPr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/>
                <a:ea typeface="黑体"/>
              </a:rPr>
              <a:t>2. </a:t>
            </a:r>
            <a:r>
              <a:rPr lang="zh-CN" altLang="en-US" b="1" kern="0" dirty="0" smtClean="0">
                <a:solidFill>
                  <a:schemeClr val="bg1"/>
                </a:solidFill>
                <a:latin typeface="Arial"/>
                <a:ea typeface="黑体"/>
              </a:rPr>
              <a:t>自定义包：</a:t>
            </a:r>
            <a:r>
              <a:rPr lang="en-US" altLang="zh-CN" b="1" dirty="0">
                <a:solidFill>
                  <a:schemeClr val="bg1"/>
                </a:solidFill>
              </a:rPr>
              <a:t> </a:t>
            </a:r>
            <a:r>
              <a:rPr lang="en-US" altLang="zh-CN" b="1" dirty="0" err="1">
                <a:solidFill>
                  <a:schemeClr val="bg1"/>
                </a:solidFill>
              </a:rPr>
              <a:t>edu.swjtu.javaclass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500744" name="AutoShape 8"/>
          <p:cNvSpPr>
            <a:spLocks noChangeArrowheads="1"/>
          </p:cNvSpPr>
          <p:nvPr/>
        </p:nvSpPr>
        <p:spPr bwMode="gray">
          <a:xfrm>
            <a:off x="4643438" y="5143512"/>
            <a:ext cx="4106473" cy="776383"/>
          </a:xfrm>
          <a:prstGeom prst="wedgeRoundRectCallout">
            <a:avLst>
              <a:gd name="adj1" fmla="val -37592"/>
              <a:gd name="adj2" fmla="val -50442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*： 指包中的所有类</a:t>
            </a:r>
          </a:p>
          <a:p>
            <a:pPr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err="1" smtClean="0">
                <a:solidFill>
                  <a:schemeClr val="bg1"/>
                </a:solidFill>
                <a:latin typeface="Arial"/>
                <a:ea typeface="黑体"/>
              </a:rPr>
              <a:t>MySchool</a:t>
            </a:r>
            <a:r>
              <a:rPr lang="en-US" altLang="zh-CN" b="1" kern="0" dirty="0" smtClean="0">
                <a:solidFill>
                  <a:schemeClr val="bg1"/>
                </a:solidFill>
                <a:latin typeface="Arial"/>
                <a:ea typeface="黑体"/>
              </a:rPr>
              <a:t> 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：指包中的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AccpSchool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类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02402" y="4171898"/>
            <a:ext cx="1000132" cy="400110"/>
            <a:chOff x="1000100" y="1801286"/>
            <a:chExt cx="1000132" cy="400110"/>
          </a:xfrm>
        </p:grpSpPr>
        <p:pic>
          <p:nvPicPr>
            <p:cNvPr id="11" name="Picture 3" descr="E:\设计支持\模板设计\YF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1806293"/>
              <a:ext cx="422603" cy="390096"/>
            </a:xfrm>
            <a:prstGeom prst="rect">
              <a:avLst/>
            </a:prstGeom>
            <a:noFill/>
          </p:spPr>
        </p:pic>
        <p:sp>
          <p:nvSpPr>
            <p:cNvPr id="12" name="TextBox 11"/>
            <p:cNvSpPr txBox="1"/>
            <p:nvPr/>
          </p:nvSpPr>
          <p:spPr>
            <a:xfrm>
              <a:off x="1299399" y="1801286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语法</a:t>
              </a:r>
              <a:endParaRPr lang="zh-CN" altLang="en-US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cxnSp>
        <p:nvCxnSpPr>
          <p:cNvPr id="13" name="直接箭头连接符 12"/>
          <p:cNvCxnSpPr/>
          <p:nvPr/>
        </p:nvCxnSpPr>
        <p:spPr bwMode="auto">
          <a:xfrm flipV="1">
            <a:off x="6072200" y="2646189"/>
            <a:ext cx="403656" cy="282745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 bwMode="auto">
          <a:xfrm rot="10800000" flipV="1">
            <a:off x="2475332" y="4786322"/>
            <a:ext cx="667909" cy="360196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 bwMode="auto">
          <a:xfrm>
            <a:off x="5429256" y="4786322"/>
            <a:ext cx="428628" cy="357190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灯片编号占位符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68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146901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0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0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0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40" grpId="0" animBg="1"/>
      <p:bldP spid="500741" grpId="0" animBg="1"/>
      <p:bldP spid="500742" grpId="0" animBg="1"/>
      <p:bldP spid="500743" grpId="0" animBg="1"/>
      <p:bldP spid="50074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总结</a:t>
            </a:r>
          </a:p>
        </p:txBody>
      </p:sp>
      <p:sp>
        <p:nvSpPr>
          <p:cNvPr id="486403" name="Rectangle 3"/>
          <p:cNvSpPr>
            <a:spLocks noGrp="1" noChangeArrowheads="1"/>
          </p:cNvSpPr>
          <p:nvPr>
            <p:ph idx="1"/>
          </p:nvPr>
        </p:nvSpPr>
        <p:spPr>
          <a:xfrm>
            <a:off x="784254" y="1276351"/>
            <a:ext cx="8145464" cy="5010170"/>
          </a:xfrm>
        </p:spPr>
        <p:txBody>
          <a:bodyPr/>
          <a:lstStyle/>
          <a:p>
            <a:pPr lvl="0"/>
            <a:r>
              <a:rPr lang="zh-CN" altLang="en-US" dirty="0" smtClean="0"/>
              <a:t>带参方法定义的一般形式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形参是在定义方法时对参数的称呼</a:t>
            </a:r>
            <a:endParaRPr lang="en-US" altLang="zh-CN" dirty="0" smtClean="0"/>
          </a:p>
          <a:p>
            <a:r>
              <a:rPr lang="zh-CN" altLang="en-US" dirty="0" smtClean="0"/>
              <a:t>实参是在调用方法时传递给方法的实际的值</a:t>
            </a:r>
            <a:endParaRPr lang="en-US" altLang="zh-CN" dirty="0" smtClean="0"/>
          </a:p>
          <a:p>
            <a:r>
              <a:rPr lang="zh-CN" altLang="en-US" dirty="0" smtClean="0"/>
              <a:t>调用带参方法时要求实参与形参要匹配</a:t>
            </a:r>
            <a:endParaRPr lang="en-US" altLang="zh-CN" dirty="0" smtClean="0"/>
          </a:p>
          <a:p>
            <a:r>
              <a:rPr lang="zh-CN" altLang="en-US" dirty="0" smtClean="0"/>
              <a:t>创建包使用关键字</a:t>
            </a:r>
            <a:r>
              <a:rPr lang="en-US" dirty="0" smtClean="0"/>
              <a:t>package</a:t>
            </a:r>
          </a:p>
          <a:p>
            <a:r>
              <a:rPr lang="zh-CN" altLang="en-US" dirty="0" smtClean="0"/>
              <a:t>导入包使用关键字</a:t>
            </a:r>
            <a:r>
              <a:rPr lang="en-US" dirty="0" smtClean="0"/>
              <a:t>import</a:t>
            </a:r>
            <a:endParaRPr lang="zh-CN" altLang="en-US" dirty="0"/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1214414" y="1785926"/>
            <a:ext cx="6858048" cy="1015663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dirty="0" smtClean="0">
                <a:latin typeface="+mn-lt"/>
                <a:ea typeface="+mn-ea"/>
              </a:rPr>
              <a:t>&lt;</a:t>
            </a:r>
            <a:r>
              <a:rPr lang="zh-CN" altLang="en-US" sz="2000" b="1" dirty="0" smtClean="0">
                <a:latin typeface="+mn-lt"/>
                <a:ea typeface="+mn-ea"/>
              </a:rPr>
              <a:t>访问修饰符</a:t>
            </a:r>
            <a:r>
              <a:rPr lang="en-US" sz="2000" b="1" dirty="0" smtClean="0">
                <a:latin typeface="+mn-lt"/>
                <a:ea typeface="+mn-ea"/>
              </a:rPr>
              <a:t>&gt;  </a:t>
            </a:r>
            <a:r>
              <a:rPr lang="zh-CN" altLang="en-US" sz="2000" b="1" dirty="0" smtClean="0">
                <a:latin typeface="+mn-lt"/>
                <a:ea typeface="+mn-ea"/>
              </a:rPr>
              <a:t>返回类型</a:t>
            </a:r>
            <a:r>
              <a:rPr lang="en-US" sz="2000" b="1" dirty="0" smtClean="0">
                <a:latin typeface="+mn-lt"/>
                <a:ea typeface="+mn-ea"/>
              </a:rPr>
              <a:t>  &lt;</a:t>
            </a:r>
            <a:r>
              <a:rPr lang="zh-CN" altLang="en-US" sz="2000" b="1" dirty="0" smtClean="0">
                <a:latin typeface="+mn-lt"/>
                <a:ea typeface="+mn-ea"/>
              </a:rPr>
              <a:t>方法名</a:t>
            </a:r>
            <a:r>
              <a:rPr lang="en-US" sz="2000" b="1" dirty="0" smtClean="0">
                <a:latin typeface="+mn-lt"/>
                <a:ea typeface="+mn-ea"/>
              </a:rPr>
              <a:t>&gt;(&lt;</a:t>
            </a:r>
            <a:r>
              <a:rPr lang="zh-CN" altLang="en-US" sz="2000" b="1" dirty="0" smtClean="0">
                <a:latin typeface="+mn-lt"/>
                <a:ea typeface="+mn-ea"/>
              </a:rPr>
              <a:t>参数列表</a:t>
            </a:r>
            <a:r>
              <a:rPr lang="en-US" sz="2000" b="1" dirty="0" smtClean="0">
                <a:latin typeface="+mn-lt"/>
                <a:ea typeface="+mn-ea"/>
              </a:rPr>
              <a:t>&gt;) {</a:t>
            </a:r>
            <a:endParaRPr lang="zh-CN" altLang="en-US" sz="2000" b="1" dirty="0" smtClean="0">
              <a:latin typeface="+mn-lt"/>
              <a:ea typeface="+mn-ea"/>
            </a:endParaRPr>
          </a:p>
          <a:p>
            <a:pPr algn="l">
              <a:buNone/>
            </a:pPr>
            <a:r>
              <a:rPr lang="en-US" sz="2000" b="1" dirty="0" smtClean="0">
                <a:latin typeface="+mn-lt"/>
                <a:ea typeface="+mn-ea"/>
              </a:rPr>
              <a:t>    //</a:t>
            </a:r>
            <a:r>
              <a:rPr lang="zh-CN" altLang="en-US" sz="2000" b="1" dirty="0" smtClean="0">
                <a:latin typeface="+mn-lt"/>
                <a:ea typeface="+mn-ea"/>
              </a:rPr>
              <a:t>方法的主体</a:t>
            </a:r>
          </a:p>
          <a:p>
            <a:pPr algn="l">
              <a:buNone/>
            </a:pPr>
            <a:r>
              <a:rPr lang="en-US" sz="2000" b="1" dirty="0" smtClean="0">
                <a:latin typeface="+mn-lt"/>
                <a:ea typeface="+mn-ea"/>
              </a:rPr>
              <a:t>}</a:t>
            </a:r>
            <a:endParaRPr lang="zh-CN" altLang="en-US" sz="2000" b="1" dirty="0" smtClean="0">
              <a:latin typeface="+mn-lt"/>
              <a:ea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  <a:pPr>
                <a:defRPr/>
              </a:pPr>
              <a:t>69</a:t>
            </a:fld>
            <a:r>
              <a:rPr lang="en-US" altLang="zh-CN" smtClean="0"/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209737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4C0E2812-F8BA-40F1-810D-8F84500E3492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70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zh-CN" altLang="en-GB" smtClean="0"/>
              <a:t>目录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zh-CN" altLang="en-US" smtClean="0"/>
              <a:t>2.1 </a:t>
            </a:r>
            <a:r>
              <a:rPr lang="zh-CN" altLang="en-US" smtClean="0">
                <a:solidFill>
                  <a:srgbClr val="FF0000"/>
                </a:solidFill>
              </a:rPr>
              <a:t>方法重载</a:t>
            </a:r>
            <a:endParaRPr lang="en-US" altLang="zh-CN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zh-CN" altLang="en-US" smtClean="0"/>
              <a:t>2.</a:t>
            </a:r>
            <a:r>
              <a:rPr lang="en-US" altLang="zh-CN" smtClean="0"/>
              <a:t>2</a:t>
            </a:r>
            <a:r>
              <a:rPr lang="zh-CN" altLang="en-US" smtClean="0"/>
              <a:t> 类的访问控制</a:t>
            </a:r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en-US" altLang="zh-CN" smtClean="0"/>
              <a:t>2.3 </a:t>
            </a:r>
            <a:r>
              <a:rPr lang="zh-CN" altLang="en-US" smtClean="0"/>
              <a:t>构造方法</a:t>
            </a:r>
            <a:endParaRPr lang="zh-CN" altLang="en-GB" smtClean="0"/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zh-CN" altLang="en-US" smtClean="0"/>
              <a:t>2.</a:t>
            </a:r>
            <a:r>
              <a:rPr lang="en-US" altLang="zh-CN" smtClean="0"/>
              <a:t>4 </a:t>
            </a:r>
            <a:r>
              <a:rPr lang="zh-CN" altLang="en-US" smtClean="0"/>
              <a:t>类变量 </a:t>
            </a:r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en-US" altLang="zh-CN" smtClean="0"/>
              <a:t>2.5 </a:t>
            </a:r>
            <a:r>
              <a:rPr lang="zh-CN" altLang="en-US" smtClean="0"/>
              <a:t>应用举例</a:t>
            </a:r>
          </a:p>
        </p:txBody>
      </p:sp>
    </p:spTree>
    <p:extLst>
      <p:ext uri="{BB962C8B-B14F-4D97-AF65-F5344CB8AC3E}">
        <p14:creationId xmlns="" xmlns:p14="http://schemas.microsoft.com/office/powerpoint/2010/main" val="381817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742156DC-0705-4D94-B7E1-7B0E498FB525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71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zh-CN" altLang="en-GB" sz="3600" smtClean="0"/>
              <a:t>方法重载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95400" y="1752600"/>
            <a:ext cx="72390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GB" dirty="0" smtClean="0"/>
              <a:t>方法重载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GB" dirty="0" smtClean="0"/>
              <a:t>一个类中名字相同的多个方法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GB" dirty="0" smtClean="0"/>
              <a:t>这些方法的参数必须不同，</a:t>
            </a:r>
            <a:r>
              <a:rPr lang="en-GB" altLang="zh-CN" dirty="0" smtClean="0"/>
              <a:t>Java</a:t>
            </a:r>
            <a:r>
              <a:rPr lang="zh-CN" altLang="en-GB" dirty="0" smtClean="0"/>
              <a:t>可通过参数列表的不同来辨别重载的方法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GB" dirty="0" smtClean="0"/>
              <a:t>或者参数个数不同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GB" dirty="0" smtClean="0"/>
              <a:t>或者参数类型不同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GB" dirty="0" smtClean="0"/>
              <a:t>返回值可以相同，也可以不同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GB" dirty="0" smtClean="0"/>
              <a:t>重载的价值在于它允许通过使用一个方法名来访问多个方法</a:t>
            </a:r>
            <a:endParaRPr lang="en-GB" altLang="zh-CN" dirty="0" smtClean="0"/>
          </a:p>
        </p:txBody>
      </p:sp>
      <p:sp>
        <p:nvSpPr>
          <p:cNvPr id="5125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1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方法重载</a:t>
            </a:r>
          </a:p>
        </p:txBody>
      </p:sp>
    </p:spTree>
    <p:extLst>
      <p:ext uri="{BB962C8B-B14F-4D97-AF65-F5344CB8AC3E}">
        <p14:creationId xmlns="" xmlns:p14="http://schemas.microsoft.com/office/powerpoint/2010/main" val="26173819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6CA9F974-CEB7-4A73-8D4C-B102B6D1C40C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72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31640" y="1484784"/>
            <a:ext cx="7239000" cy="5256584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sz="2000" dirty="0" smtClean="0"/>
              <a:t>通过方法重载分别接收一个或几个不同数据类型的数据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class </a:t>
            </a:r>
            <a:r>
              <a:rPr lang="en-US" altLang="zh-CN" sz="2000" dirty="0" err="1" smtClean="0"/>
              <a:t>MethodOverloading</a:t>
            </a:r>
            <a:r>
              <a:rPr lang="en-US" altLang="zh-CN" sz="2000" dirty="0" smtClean="0"/>
              <a:t> {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	public void </a:t>
            </a:r>
            <a:r>
              <a:rPr lang="en-US" altLang="zh-CN" sz="2000" dirty="0" smtClean="0">
                <a:solidFill>
                  <a:schemeClr val="tx2"/>
                </a:solidFill>
              </a:rPr>
              <a:t>receive(</a:t>
            </a:r>
            <a:r>
              <a:rPr lang="en-US" altLang="zh-CN" sz="2000" dirty="0" err="1" smtClean="0">
                <a:solidFill>
                  <a:schemeClr val="tx2"/>
                </a:solidFill>
              </a:rPr>
              <a:t>int</a:t>
            </a:r>
            <a:r>
              <a:rPr lang="en-US" altLang="zh-CN" sz="2000" dirty="0" smtClean="0">
                <a:solidFill>
                  <a:schemeClr val="tx2"/>
                </a:solidFill>
              </a:rPr>
              <a:t> i</a:t>
            </a:r>
            <a:r>
              <a:rPr lang="en-US" altLang="zh-CN" sz="2000" dirty="0" smtClean="0"/>
              <a:t>){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		</a:t>
            </a:r>
            <a:r>
              <a:rPr lang="en-US" altLang="zh-CN" sz="2000" dirty="0" err="1" smtClean="0"/>
              <a:t>System.out.println</a:t>
            </a:r>
            <a:r>
              <a:rPr lang="en-US" altLang="zh-CN" sz="2000" dirty="0" smtClean="0"/>
              <a:t>("Receive one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parameter. ");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		</a:t>
            </a:r>
            <a:r>
              <a:rPr lang="en-US" altLang="zh-CN" sz="2000" dirty="0" err="1" smtClean="0"/>
              <a:t>System.out.println</a:t>
            </a:r>
            <a:r>
              <a:rPr lang="en-US" altLang="zh-CN" sz="2000" dirty="0" smtClean="0"/>
              <a:t>("i="+i);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	}	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	public void </a:t>
            </a:r>
            <a:r>
              <a:rPr lang="en-US" altLang="zh-CN" sz="2000" dirty="0" smtClean="0">
                <a:solidFill>
                  <a:schemeClr val="tx2"/>
                </a:solidFill>
              </a:rPr>
              <a:t>receive(double d)</a:t>
            </a:r>
            <a:r>
              <a:rPr lang="en-US" altLang="zh-CN" sz="2000" dirty="0" smtClean="0"/>
              <a:t>{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		</a:t>
            </a:r>
            <a:r>
              <a:rPr lang="en-US" altLang="zh-CN" sz="2000" dirty="0" err="1" smtClean="0"/>
              <a:t>System.out.println</a:t>
            </a:r>
            <a:r>
              <a:rPr lang="en-US" altLang="zh-CN" sz="2000" dirty="0" smtClean="0"/>
              <a:t>("Receive one double parameter. ");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		</a:t>
            </a:r>
            <a:r>
              <a:rPr lang="en-US" altLang="zh-CN" sz="2000" dirty="0" err="1" smtClean="0"/>
              <a:t>System.out.println</a:t>
            </a:r>
            <a:r>
              <a:rPr lang="en-US" altLang="zh-CN" sz="2000" dirty="0" smtClean="0"/>
              <a:t>("d="+d);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	}	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	public void </a:t>
            </a:r>
            <a:r>
              <a:rPr lang="en-US" altLang="zh-CN" sz="2000" dirty="0" smtClean="0">
                <a:solidFill>
                  <a:schemeClr val="tx2"/>
                </a:solidFill>
              </a:rPr>
              <a:t>receive(String s)</a:t>
            </a:r>
            <a:r>
              <a:rPr lang="en-US" altLang="zh-CN" sz="2000" dirty="0" smtClean="0"/>
              <a:t>{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		</a:t>
            </a:r>
            <a:r>
              <a:rPr lang="en-US" altLang="zh-CN" sz="2000" dirty="0" err="1" smtClean="0"/>
              <a:t>System.out.println</a:t>
            </a:r>
            <a:r>
              <a:rPr lang="en-US" altLang="zh-CN" sz="2000" dirty="0" smtClean="0"/>
              <a:t>("Receive one String parameter. ");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		</a:t>
            </a:r>
            <a:r>
              <a:rPr lang="en-US" altLang="zh-CN" sz="2000" dirty="0" err="1" smtClean="0"/>
              <a:t>System.out.println</a:t>
            </a:r>
            <a:r>
              <a:rPr lang="en-US" altLang="zh-CN" sz="2000" dirty="0" smtClean="0"/>
              <a:t>("s="+s);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	}	</a:t>
            </a:r>
            <a:endParaRPr lang="zh-CN" altLang="en-US" sz="2000" dirty="0" smtClean="0"/>
          </a:p>
        </p:txBody>
      </p:sp>
      <p:sp>
        <p:nvSpPr>
          <p:cNvPr id="6148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1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方法重载</a:t>
            </a:r>
          </a:p>
        </p:txBody>
      </p:sp>
      <p:sp>
        <p:nvSpPr>
          <p:cNvPr id="6149" name="Rectangle 1029"/>
          <p:cNvSpPr>
            <a:spLocks noChangeArrowheads="1"/>
          </p:cNvSpPr>
          <p:nvPr/>
        </p:nvSpPr>
        <p:spPr bwMode="auto">
          <a:xfrm>
            <a:off x="478779" y="258312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US" sz="36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方法重载 </a:t>
            </a:r>
            <a:r>
              <a:rPr lang="en-US" altLang="zh-CN" sz="36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US" sz="36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续)</a:t>
            </a:r>
            <a:r>
              <a:rPr lang="zh-CN" altLang="en-US" sz="40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/>
            </a:r>
            <a:br>
              <a:rPr lang="zh-CN" altLang="en-US" sz="40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zh-CN" altLang="en-US" sz="2800" dirty="0">
                <a:latin typeface="Trebuchet MS" pitchFamily="34" charset="0"/>
                <a:ea typeface="方正姚体" pitchFamily="2" charset="-122"/>
              </a:rPr>
              <a:t>——例</a:t>
            </a:r>
            <a:endParaRPr lang="en-US" altLang="zh-CN" sz="2800" dirty="0">
              <a:latin typeface="Trebuchet MS" pitchFamily="34" charset="0"/>
              <a:ea typeface="方正姚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2528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0E61EE9-C9D6-4975-9EF9-61579481B96E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73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412776"/>
            <a:ext cx="8382000" cy="5069160"/>
          </a:xfrm>
        </p:spPr>
        <p:txBody>
          <a:bodyPr lIns="92075" tIns="46038" rIns="92075" bIns="46038"/>
          <a:lstStyle/>
          <a:p>
            <a:pPr lvl="1" eaLnBrk="1" hangingPunct="1">
              <a:lnSpc>
                <a:spcPct val="70000"/>
              </a:lnSpc>
              <a:buFont typeface="Georgia" pitchFamily="18" charset="0"/>
              <a:buNone/>
            </a:pPr>
            <a:r>
              <a:rPr lang="en-US" altLang="zh-CN" sz="2000" dirty="0" smtClean="0"/>
              <a:t>   </a:t>
            </a:r>
            <a:r>
              <a:rPr lang="en-US" altLang="zh-CN" sz="1700" dirty="0" smtClean="0"/>
              <a:t>public void </a:t>
            </a:r>
            <a:r>
              <a:rPr lang="en-US" altLang="zh-CN" sz="1700" dirty="0" smtClean="0">
                <a:solidFill>
                  <a:schemeClr val="tx2"/>
                </a:solidFill>
              </a:rPr>
              <a:t>receive(</a:t>
            </a:r>
            <a:r>
              <a:rPr lang="en-US" altLang="zh-CN" sz="1700" dirty="0" err="1" smtClean="0">
                <a:solidFill>
                  <a:schemeClr val="tx2"/>
                </a:solidFill>
              </a:rPr>
              <a:t>int</a:t>
            </a:r>
            <a:r>
              <a:rPr lang="en-US" altLang="zh-CN" sz="1700" dirty="0" smtClean="0">
                <a:solidFill>
                  <a:schemeClr val="tx2"/>
                </a:solidFill>
              </a:rPr>
              <a:t> </a:t>
            </a:r>
            <a:r>
              <a:rPr lang="en-US" altLang="zh-CN" sz="1700" dirty="0" err="1" smtClean="0">
                <a:solidFill>
                  <a:schemeClr val="tx2"/>
                </a:solidFill>
              </a:rPr>
              <a:t>i,int</a:t>
            </a:r>
            <a:r>
              <a:rPr lang="en-US" altLang="zh-CN" sz="1700" dirty="0" smtClean="0">
                <a:solidFill>
                  <a:schemeClr val="tx2"/>
                </a:solidFill>
              </a:rPr>
              <a:t> j)</a:t>
            </a:r>
            <a:r>
              <a:rPr lang="en-US" altLang="zh-CN" sz="1700" dirty="0" smtClean="0"/>
              <a:t>{</a:t>
            </a:r>
          </a:p>
          <a:p>
            <a:pPr lvl="1" eaLnBrk="1" hangingPunct="1">
              <a:lnSpc>
                <a:spcPct val="70000"/>
              </a:lnSpc>
              <a:buFont typeface="Georgia" pitchFamily="18" charset="0"/>
              <a:buNone/>
            </a:pPr>
            <a:r>
              <a:rPr lang="en-US" altLang="zh-CN" sz="1700" dirty="0" smtClean="0"/>
              <a:t>		</a:t>
            </a:r>
            <a:r>
              <a:rPr lang="en-US" altLang="zh-CN" sz="1700" dirty="0" err="1" smtClean="0"/>
              <a:t>System.out.println</a:t>
            </a:r>
            <a:r>
              <a:rPr lang="en-US" altLang="zh-CN" sz="1700" dirty="0" smtClean="0"/>
              <a:t>("Receive two </a:t>
            </a:r>
            <a:r>
              <a:rPr lang="en-US" altLang="zh-CN" sz="1700" dirty="0" err="1" smtClean="0"/>
              <a:t>int</a:t>
            </a:r>
            <a:r>
              <a:rPr lang="en-US" altLang="zh-CN" sz="1700" dirty="0" smtClean="0"/>
              <a:t> parameters. ");</a:t>
            </a:r>
          </a:p>
          <a:p>
            <a:pPr lvl="1" eaLnBrk="1" hangingPunct="1">
              <a:lnSpc>
                <a:spcPct val="70000"/>
              </a:lnSpc>
              <a:buFont typeface="Georgia" pitchFamily="18" charset="0"/>
              <a:buNone/>
            </a:pPr>
            <a:r>
              <a:rPr lang="en-US" altLang="zh-CN" sz="1700" dirty="0" smtClean="0"/>
              <a:t>		</a:t>
            </a:r>
            <a:r>
              <a:rPr lang="en-US" altLang="zh-CN" sz="1700" dirty="0" err="1" smtClean="0"/>
              <a:t>System.out.println</a:t>
            </a:r>
            <a:r>
              <a:rPr lang="en-US" altLang="zh-CN" sz="1700" dirty="0" smtClean="0"/>
              <a:t>("i=" + i + "  j=" + j);</a:t>
            </a:r>
          </a:p>
          <a:p>
            <a:pPr lvl="1" eaLnBrk="1" hangingPunct="1">
              <a:lnSpc>
                <a:spcPct val="70000"/>
              </a:lnSpc>
              <a:buFont typeface="Georgia" pitchFamily="18" charset="0"/>
              <a:buNone/>
            </a:pPr>
            <a:r>
              <a:rPr lang="en-US" altLang="zh-CN" sz="1700" dirty="0" smtClean="0"/>
              <a:t>	}	</a:t>
            </a:r>
          </a:p>
          <a:p>
            <a:pPr lvl="1" eaLnBrk="1" hangingPunct="1">
              <a:lnSpc>
                <a:spcPct val="70000"/>
              </a:lnSpc>
              <a:buFont typeface="Georgia" pitchFamily="18" charset="0"/>
              <a:buNone/>
            </a:pPr>
            <a:r>
              <a:rPr lang="en-US" altLang="zh-CN" sz="1700" dirty="0" smtClean="0"/>
              <a:t>	public void </a:t>
            </a:r>
            <a:r>
              <a:rPr lang="en-US" altLang="zh-CN" sz="1700" dirty="0" smtClean="0">
                <a:solidFill>
                  <a:schemeClr val="tx2"/>
                </a:solidFill>
              </a:rPr>
              <a:t>receive(</a:t>
            </a:r>
            <a:r>
              <a:rPr lang="en-US" altLang="zh-CN" sz="1700" dirty="0" err="1" smtClean="0">
                <a:solidFill>
                  <a:schemeClr val="tx2"/>
                </a:solidFill>
              </a:rPr>
              <a:t>int</a:t>
            </a:r>
            <a:r>
              <a:rPr lang="en-US" altLang="zh-CN" sz="1700" dirty="0" smtClean="0">
                <a:solidFill>
                  <a:schemeClr val="tx2"/>
                </a:solidFill>
              </a:rPr>
              <a:t> </a:t>
            </a:r>
            <a:r>
              <a:rPr lang="en-US" altLang="zh-CN" sz="1700" dirty="0" err="1" smtClean="0">
                <a:solidFill>
                  <a:schemeClr val="tx2"/>
                </a:solidFill>
              </a:rPr>
              <a:t>i,double</a:t>
            </a:r>
            <a:r>
              <a:rPr lang="en-US" altLang="zh-CN" sz="1700" dirty="0" smtClean="0">
                <a:solidFill>
                  <a:schemeClr val="tx2"/>
                </a:solidFill>
              </a:rPr>
              <a:t> d)</a:t>
            </a:r>
            <a:r>
              <a:rPr lang="en-US" altLang="zh-CN" sz="1700" dirty="0" smtClean="0"/>
              <a:t>{</a:t>
            </a:r>
          </a:p>
          <a:p>
            <a:pPr lvl="1" eaLnBrk="1" hangingPunct="1">
              <a:lnSpc>
                <a:spcPct val="70000"/>
              </a:lnSpc>
              <a:buFont typeface="Georgia" pitchFamily="18" charset="0"/>
              <a:buNone/>
            </a:pPr>
            <a:r>
              <a:rPr lang="en-US" altLang="zh-CN" sz="1700" dirty="0" smtClean="0"/>
              <a:t>		</a:t>
            </a:r>
            <a:r>
              <a:rPr lang="en-US" altLang="zh-CN" sz="1700" dirty="0" err="1" smtClean="0"/>
              <a:t>System.out.println</a:t>
            </a:r>
            <a:r>
              <a:rPr lang="en-US" altLang="zh-CN" sz="1500" dirty="0" smtClean="0"/>
              <a:t>("Receive one </a:t>
            </a:r>
            <a:r>
              <a:rPr lang="en-US" altLang="zh-CN" sz="1500" dirty="0" err="1" smtClean="0"/>
              <a:t>int</a:t>
            </a:r>
            <a:r>
              <a:rPr lang="en-US" altLang="zh-CN" sz="1500" dirty="0" smtClean="0"/>
              <a:t> parameter and one double parameter. ");</a:t>
            </a:r>
          </a:p>
          <a:p>
            <a:pPr lvl="1" eaLnBrk="1" hangingPunct="1">
              <a:lnSpc>
                <a:spcPct val="70000"/>
              </a:lnSpc>
              <a:buFont typeface="Georgia" pitchFamily="18" charset="0"/>
              <a:buNone/>
            </a:pPr>
            <a:r>
              <a:rPr lang="en-US" altLang="zh-CN" sz="1700" dirty="0" smtClean="0"/>
              <a:t>		</a:t>
            </a:r>
            <a:r>
              <a:rPr lang="en-US" altLang="zh-CN" sz="1700" dirty="0" err="1" smtClean="0"/>
              <a:t>System.out.println</a:t>
            </a:r>
            <a:r>
              <a:rPr lang="en-US" altLang="zh-CN" sz="1700" dirty="0" smtClean="0"/>
              <a:t>("i=" + i + "  d=" + d);</a:t>
            </a:r>
          </a:p>
          <a:p>
            <a:pPr lvl="1" eaLnBrk="1" hangingPunct="1">
              <a:lnSpc>
                <a:spcPct val="70000"/>
              </a:lnSpc>
              <a:buFont typeface="Georgia" pitchFamily="18" charset="0"/>
              <a:buNone/>
            </a:pPr>
            <a:r>
              <a:rPr lang="en-US" altLang="zh-CN" sz="1700" dirty="0" smtClean="0"/>
              <a:t>	}	</a:t>
            </a:r>
          </a:p>
          <a:p>
            <a:pPr lvl="1" eaLnBrk="1" hangingPunct="1">
              <a:lnSpc>
                <a:spcPct val="70000"/>
              </a:lnSpc>
              <a:buFont typeface="Georgia" pitchFamily="18" charset="0"/>
              <a:buNone/>
            </a:pPr>
            <a:r>
              <a:rPr lang="en-US" altLang="zh-CN" sz="1700" dirty="0" smtClean="0"/>
              <a:t>}</a:t>
            </a:r>
          </a:p>
          <a:p>
            <a:pPr lvl="1" eaLnBrk="1" hangingPunct="1">
              <a:lnSpc>
                <a:spcPct val="70000"/>
              </a:lnSpc>
              <a:spcBef>
                <a:spcPct val="55000"/>
              </a:spcBef>
              <a:buFont typeface="Georgia" pitchFamily="18" charset="0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public class Examp3_17 {</a:t>
            </a:r>
          </a:p>
          <a:p>
            <a:pPr lvl="1" eaLnBrk="1" hangingPunct="1">
              <a:lnSpc>
                <a:spcPct val="70000"/>
              </a:lnSpc>
              <a:buFont typeface="Georgia" pitchFamily="18" charset="0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	public static void main(String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args</a:t>
            </a:r>
            <a:r>
              <a:rPr lang="en-US" altLang="zh-CN" sz="2000" dirty="0" smtClean="0">
                <a:solidFill>
                  <a:schemeClr val="tx1"/>
                </a:solidFill>
              </a:rPr>
              <a:t>[]){</a:t>
            </a:r>
          </a:p>
          <a:p>
            <a:pPr lvl="1" eaLnBrk="1" hangingPunct="1">
              <a:lnSpc>
                <a:spcPct val="70000"/>
              </a:lnSpc>
              <a:buFont typeface="Georgia" pitchFamily="18" charset="0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		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MethodOverloading</a:t>
            </a:r>
            <a:r>
              <a:rPr lang="en-US" altLang="zh-CN" sz="2000" dirty="0" smtClean="0">
                <a:solidFill>
                  <a:schemeClr val="tx1"/>
                </a:solidFill>
              </a:rPr>
              <a:t> m = new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MethodOverloading</a:t>
            </a:r>
            <a:r>
              <a:rPr lang="en-US" altLang="zh-CN" sz="2000" dirty="0" smtClean="0">
                <a:solidFill>
                  <a:schemeClr val="tx1"/>
                </a:solidFill>
              </a:rPr>
              <a:t>();</a:t>
            </a:r>
          </a:p>
          <a:p>
            <a:pPr lvl="1" eaLnBrk="1" hangingPunct="1">
              <a:lnSpc>
                <a:spcPct val="70000"/>
              </a:lnSpc>
              <a:buFont typeface="Georgia" pitchFamily="18" charset="0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		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m.receive</a:t>
            </a:r>
            <a:r>
              <a:rPr lang="en-US" altLang="zh-CN" sz="2000" dirty="0" smtClean="0">
                <a:solidFill>
                  <a:schemeClr val="tx1"/>
                </a:solidFill>
              </a:rPr>
              <a:t>(2);</a:t>
            </a:r>
          </a:p>
          <a:p>
            <a:pPr lvl="1" eaLnBrk="1" hangingPunct="1">
              <a:lnSpc>
                <a:spcPct val="70000"/>
              </a:lnSpc>
              <a:buFont typeface="Georgia" pitchFamily="18" charset="0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		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m.receive</a:t>
            </a:r>
            <a:r>
              <a:rPr lang="en-US" altLang="zh-CN" sz="2000" dirty="0" smtClean="0">
                <a:solidFill>
                  <a:schemeClr val="tx1"/>
                </a:solidFill>
              </a:rPr>
              <a:t>(5.6);</a:t>
            </a:r>
          </a:p>
          <a:p>
            <a:pPr lvl="1" eaLnBrk="1" hangingPunct="1">
              <a:lnSpc>
                <a:spcPct val="70000"/>
              </a:lnSpc>
              <a:buFont typeface="Georgia" pitchFamily="18" charset="0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		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m.receive</a:t>
            </a:r>
            <a:r>
              <a:rPr lang="en-US" altLang="zh-CN" sz="2000" dirty="0" smtClean="0">
                <a:solidFill>
                  <a:schemeClr val="tx1"/>
                </a:solidFill>
              </a:rPr>
              <a:t>(3,4);</a:t>
            </a:r>
          </a:p>
          <a:p>
            <a:pPr lvl="1" eaLnBrk="1" hangingPunct="1">
              <a:lnSpc>
                <a:spcPct val="70000"/>
              </a:lnSpc>
              <a:buFont typeface="Georgia" pitchFamily="18" charset="0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		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m.receive</a:t>
            </a:r>
            <a:r>
              <a:rPr lang="en-US" altLang="zh-CN" sz="2000" dirty="0" smtClean="0">
                <a:solidFill>
                  <a:schemeClr val="tx1"/>
                </a:solidFill>
              </a:rPr>
              <a:t>(7,8.2);</a:t>
            </a:r>
          </a:p>
          <a:p>
            <a:pPr lvl="1" eaLnBrk="1" hangingPunct="1">
              <a:lnSpc>
                <a:spcPct val="70000"/>
              </a:lnSpc>
              <a:buFont typeface="Georgia" pitchFamily="18" charset="0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		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m.receive</a:t>
            </a:r>
            <a:r>
              <a:rPr lang="en-US" altLang="zh-CN" sz="2000" dirty="0" smtClean="0">
                <a:solidFill>
                  <a:schemeClr val="tx1"/>
                </a:solidFill>
              </a:rPr>
              <a:t>("Is it fun?");</a:t>
            </a:r>
          </a:p>
          <a:p>
            <a:pPr lvl="1" eaLnBrk="1" hangingPunct="1">
              <a:lnSpc>
                <a:spcPct val="70000"/>
              </a:lnSpc>
              <a:buFont typeface="Georgia" pitchFamily="18" charset="0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	}</a:t>
            </a:r>
          </a:p>
          <a:p>
            <a:pPr lvl="1" eaLnBrk="1" hangingPunct="1">
              <a:lnSpc>
                <a:spcPct val="70000"/>
              </a:lnSpc>
              <a:buFont typeface="Georgia" pitchFamily="18" charset="0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}</a:t>
            </a:r>
            <a:endParaRPr lang="zh-CN" altLang="en-US" sz="2000" dirty="0" smtClean="0">
              <a:solidFill>
                <a:schemeClr val="tx1"/>
              </a:solidFill>
            </a:endParaRPr>
          </a:p>
        </p:txBody>
      </p:sp>
      <p:sp>
        <p:nvSpPr>
          <p:cNvPr id="7172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1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方法重载</a:t>
            </a:r>
          </a:p>
        </p:txBody>
      </p:sp>
      <p:sp>
        <p:nvSpPr>
          <p:cNvPr id="7173" name="Rectangle 1029"/>
          <p:cNvSpPr>
            <a:spLocks noChangeArrowheads="1"/>
          </p:cNvSpPr>
          <p:nvPr/>
        </p:nvSpPr>
        <p:spPr bwMode="auto">
          <a:xfrm>
            <a:off x="457200" y="214312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US" sz="36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方法重载 </a:t>
            </a:r>
            <a:r>
              <a:rPr lang="en-US" altLang="zh-CN" sz="36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US" sz="36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续)</a:t>
            </a:r>
            <a:r>
              <a:rPr lang="zh-CN" altLang="en-US" sz="40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/>
            </a:r>
            <a:br>
              <a:rPr lang="zh-CN" altLang="en-US" sz="40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zh-CN" altLang="en-US" sz="2800" dirty="0">
                <a:latin typeface="Trebuchet MS" pitchFamily="34" charset="0"/>
                <a:ea typeface="方正姚体" pitchFamily="2" charset="-122"/>
              </a:rPr>
              <a:t>——例</a:t>
            </a:r>
            <a:endParaRPr lang="en-US" altLang="zh-CN" sz="2800" dirty="0">
              <a:latin typeface="Trebuchet MS" pitchFamily="34" charset="0"/>
              <a:ea typeface="方正姚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2912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2A7CBF1F-83D5-4021-A8DC-3EB552860290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74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sz="2000" smtClean="0"/>
              <a:t>运行结果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Georgia" pitchFamily="18" charset="0"/>
              <a:buNone/>
            </a:pPr>
            <a:r>
              <a:rPr lang="en-US" altLang="zh-CN" sz="2000" smtClean="0"/>
              <a:t>Receive one int parameter.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smtClean="0"/>
              <a:t>i=2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smtClean="0"/>
              <a:t>Receive one double parameter.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smtClean="0"/>
              <a:t>d=5.6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smtClean="0"/>
              <a:t>Receive two int parameters.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smtClean="0"/>
              <a:t>i=3  j=4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smtClean="0"/>
              <a:t>Receive one int parameter and one double parameter.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smtClean="0"/>
              <a:t>i=7  d=8.2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smtClean="0"/>
              <a:t>Receive one String parameter.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smtClean="0"/>
              <a:t>s=Is it fun?</a:t>
            </a:r>
          </a:p>
          <a:p>
            <a:pPr eaLnBrk="1" hangingPunct="1">
              <a:lnSpc>
                <a:spcPct val="90000"/>
              </a:lnSpc>
            </a:pPr>
            <a:endParaRPr lang="zh-CN" altLang="en-US" sz="2000" smtClean="0"/>
          </a:p>
        </p:txBody>
      </p:sp>
      <p:sp>
        <p:nvSpPr>
          <p:cNvPr id="8196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1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方法重载</a:t>
            </a:r>
          </a:p>
        </p:txBody>
      </p:sp>
      <p:sp>
        <p:nvSpPr>
          <p:cNvPr id="8197" name="Rectangle 1029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en-US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1</a:t>
            </a:r>
            <a:r>
              <a:rPr lang="zh-CN" altLang="en-US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方法重载 </a:t>
            </a:r>
            <a:r>
              <a:rPr lang="en-US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US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续)</a:t>
            </a:r>
            <a:r>
              <a:rPr lang="zh-CN" altLang="en-US" sz="40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/>
            </a:r>
            <a:br>
              <a:rPr lang="zh-CN" altLang="en-US" sz="40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zh-CN" altLang="en-US" sz="2800">
                <a:latin typeface="Trebuchet MS" pitchFamily="34" charset="0"/>
                <a:ea typeface="方正姚体" pitchFamily="2" charset="-122"/>
              </a:rPr>
              <a:t>——例 运行结果</a:t>
            </a:r>
          </a:p>
        </p:txBody>
      </p:sp>
    </p:spTree>
    <p:extLst>
      <p:ext uri="{BB962C8B-B14F-4D97-AF65-F5344CB8AC3E}">
        <p14:creationId xmlns="" xmlns:p14="http://schemas.microsoft.com/office/powerpoint/2010/main" val="72893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673FA485-9F2E-40FC-A29E-622C20610C05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75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zh-CN" altLang="en-GB" smtClean="0"/>
              <a:t>目录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zh-CN" altLang="en-US" smtClean="0"/>
              <a:t>2.1 方法重载</a:t>
            </a:r>
            <a:endParaRPr lang="en-US" altLang="zh-CN" smtClean="0"/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zh-CN" altLang="en-US" smtClean="0"/>
              <a:t>2.</a:t>
            </a:r>
            <a:r>
              <a:rPr lang="en-US" altLang="zh-CN" smtClean="0"/>
              <a:t>2</a:t>
            </a:r>
            <a:r>
              <a:rPr lang="zh-CN" altLang="en-US" smtClean="0"/>
              <a:t> </a:t>
            </a:r>
            <a:r>
              <a:rPr lang="zh-CN" altLang="en-US" smtClean="0">
                <a:solidFill>
                  <a:srgbClr val="FF0000"/>
                </a:solidFill>
              </a:rPr>
              <a:t>类的访问控制</a:t>
            </a:r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en-US" altLang="zh-CN" smtClean="0"/>
              <a:t>2.3 </a:t>
            </a:r>
            <a:r>
              <a:rPr lang="zh-CN" altLang="en-US" smtClean="0"/>
              <a:t>构造方法</a:t>
            </a:r>
            <a:endParaRPr lang="zh-CN" altLang="en-GB" smtClean="0"/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zh-CN" altLang="en-US" smtClean="0"/>
              <a:t>2.</a:t>
            </a:r>
            <a:r>
              <a:rPr lang="en-US" altLang="zh-CN" smtClean="0"/>
              <a:t>4 </a:t>
            </a:r>
            <a:r>
              <a:rPr lang="zh-CN" altLang="en-US" smtClean="0"/>
              <a:t>类变量 </a:t>
            </a:r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en-US" altLang="zh-CN" smtClean="0"/>
              <a:t>2.5 </a:t>
            </a:r>
            <a:r>
              <a:rPr lang="zh-CN" altLang="en-US" smtClean="0"/>
              <a:t>应用举例</a:t>
            </a:r>
          </a:p>
        </p:txBody>
      </p:sp>
    </p:spTree>
    <p:extLst>
      <p:ext uri="{BB962C8B-B14F-4D97-AF65-F5344CB8AC3E}">
        <p14:creationId xmlns="" xmlns:p14="http://schemas.microsoft.com/office/powerpoint/2010/main" val="1554441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76263"/>
            <a:ext cx="8229600" cy="620712"/>
          </a:xfrm>
        </p:spPr>
        <p:txBody>
          <a:bodyPr/>
          <a:lstStyle/>
          <a:p>
            <a:pPr eaLnBrk="1" hangingPunct="1"/>
            <a:r>
              <a:rPr lang="zh-CN" altLang="en-US" smtClean="0"/>
              <a:t>什么是封装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6975"/>
            <a:ext cx="8229600" cy="5376863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黑体" pitchFamily="49" charset="-122"/>
                <a:ea typeface="黑体" pitchFamily="49" charset="-122"/>
              </a:rPr>
              <a:t>面向对象三大特征之一 </a:t>
            </a:r>
            <a:r>
              <a:rPr lang="en-US" altLang="zh-CN" b="1" smtClean="0">
                <a:latin typeface="黑体" pitchFamily="49" charset="-122"/>
                <a:ea typeface="黑体" pitchFamily="49" charset="-122"/>
              </a:rPr>
              <a:t>——</a:t>
            </a:r>
            <a:r>
              <a:rPr lang="zh-CN" altLang="en-US" b="1" smtClean="0">
                <a:latin typeface="黑体" pitchFamily="49" charset="-122"/>
                <a:ea typeface="黑体" pitchFamily="49" charset="-122"/>
              </a:rPr>
              <a:t>封装</a:t>
            </a:r>
          </a:p>
          <a:p>
            <a:pPr lvl="1" eaLnBrk="1" hangingPunct="1"/>
            <a:r>
              <a:rPr lang="zh-CN" altLang="en-US" sz="2400" b="1" smtClean="0">
                <a:latin typeface="黑体" pitchFamily="49" charset="-122"/>
                <a:ea typeface="黑体" pitchFamily="49" charset="-122"/>
              </a:rPr>
              <a:t>封装的概念</a:t>
            </a:r>
          </a:p>
          <a:p>
            <a:pPr lvl="1" eaLnBrk="1" hangingPunct="1"/>
            <a:endParaRPr lang="zh-CN" altLang="en-US" smtClean="0"/>
          </a:p>
          <a:p>
            <a:pPr lvl="1" eaLnBrk="1" hangingPunct="1"/>
            <a:endParaRPr lang="zh-CN" altLang="en-US" sz="1800" smtClean="0"/>
          </a:p>
          <a:p>
            <a:pPr lvl="1" eaLnBrk="1" hangingPunct="1"/>
            <a:endParaRPr lang="zh-CN" altLang="en-US" sz="1800" smtClean="0"/>
          </a:p>
          <a:p>
            <a:pPr lvl="1" eaLnBrk="1" hangingPunct="1"/>
            <a:endParaRPr lang="zh-CN" altLang="en-US" sz="1800" smtClean="0"/>
          </a:p>
          <a:p>
            <a:pPr lvl="1" eaLnBrk="1" hangingPunct="1"/>
            <a:r>
              <a:rPr lang="zh-CN" altLang="en-US" sz="2400" b="1" smtClean="0">
                <a:latin typeface="黑体" pitchFamily="49" charset="-122"/>
                <a:ea typeface="黑体" pitchFamily="49" charset="-122"/>
              </a:rPr>
              <a:t>封装的好处</a:t>
            </a:r>
          </a:p>
        </p:txBody>
      </p:sp>
      <p:pic>
        <p:nvPicPr>
          <p:cNvPr id="10244" name="Picture 7" descr="房子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225" y="4319588"/>
            <a:ext cx="1831975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3813" name="AutoShape 21"/>
          <p:cNvSpPr>
            <a:spLocks noChangeArrowheads="1"/>
          </p:cNvSpPr>
          <p:nvPr/>
        </p:nvSpPr>
        <p:spPr bwMode="gray">
          <a:xfrm>
            <a:off x="1619250" y="2349500"/>
            <a:ext cx="6553200" cy="877888"/>
          </a:xfrm>
          <a:prstGeom prst="roundRect">
            <a:avLst>
              <a:gd name="adj" fmla="val 0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>
              <a:buClr>
                <a:schemeClr val="tx2"/>
              </a:buClr>
              <a:buSzPct val="80000"/>
              <a:buFont typeface="Wingdings" pitchFamily="2" charset="2"/>
              <a:buNone/>
              <a:defRPr/>
            </a:pPr>
            <a:r>
              <a:rPr lang="zh-CN" altLang="en-US" sz="1800" b="1" dirty="0">
                <a:latin typeface="黑体" pitchFamily="49" charset="-122"/>
                <a:ea typeface="黑体" pitchFamily="49" charset="-122"/>
              </a:rPr>
              <a:t>封装：将类的某些信息隐藏在类内部，不允许外部程序直接访问，而是通过该类提供的方法来实现对隐藏信息的操作和访问 </a:t>
            </a:r>
          </a:p>
        </p:txBody>
      </p:sp>
      <p:sp>
        <p:nvSpPr>
          <p:cNvPr id="647189" name="AutoShape 21"/>
          <p:cNvSpPr>
            <a:spLocks noChangeArrowheads="1"/>
          </p:cNvSpPr>
          <p:nvPr/>
        </p:nvSpPr>
        <p:spPr bwMode="auto">
          <a:xfrm>
            <a:off x="4354513" y="3841750"/>
            <a:ext cx="2162175" cy="407988"/>
          </a:xfrm>
          <a:prstGeom prst="wedgeRoundRectCallout">
            <a:avLst>
              <a:gd name="adj1" fmla="val -27937"/>
              <a:gd name="adj2" fmla="val 54941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sz="1800" b="1" kern="0" dirty="0">
                <a:solidFill>
                  <a:schemeClr val="bg1"/>
                </a:solidFill>
                <a:latin typeface="Arial"/>
                <a:ea typeface="黑体"/>
              </a:rPr>
              <a:t>隐藏类的实现细节</a:t>
            </a:r>
          </a:p>
        </p:txBody>
      </p:sp>
      <p:sp>
        <p:nvSpPr>
          <p:cNvPr id="2" name="AutoShape 21"/>
          <p:cNvSpPr>
            <a:spLocks noChangeArrowheads="1"/>
          </p:cNvSpPr>
          <p:nvPr/>
        </p:nvSpPr>
        <p:spPr bwMode="auto">
          <a:xfrm>
            <a:off x="500063" y="4572000"/>
            <a:ext cx="3000375" cy="407988"/>
          </a:xfrm>
          <a:prstGeom prst="wedgeRoundRectCallout">
            <a:avLst>
              <a:gd name="adj1" fmla="val 51067"/>
              <a:gd name="adj2" fmla="val -20524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sz="1800" b="1" kern="0" dirty="0">
                <a:solidFill>
                  <a:schemeClr val="bg1"/>
                </a:solidFill>
                <a:latin typeface="Arial"/>
                <a:ea typeface="黑体"/>
              </a:rPr>
              <a:t>只能通过规定方法访问数据</a:t>
            </a:r>
          </a:p>
        </p:txBody>
      </p:sp>
      <p:sp>
        <p:nvSpPr>
          <p:cNvPr id="3" name="AutoShape 21"/>
          <p:cNvSpPr>
            <a:spLocks noChangeArrowheads="1"/>
          </p:cNvSpPr>
          <p:nvPr/>
        </p:nvSpPr>
        <p:spPr bwMode="auto">
          <a:xfrm>
            <a:off x="5865813" y="4751388"/>
            <a:ext cx="2162175" cy="407987"/>
          </a:xfrm>
          <a:prstGeom prst="wedgeRoundRectCallout">
            <a:avLst>
              <a:gd name="adj1" fmla="val -52205"/>
              <a:gd name="adj2" fmla="val 14153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sz="1800" b="1" kern="0" dirty="0">
                <a:solidFill>
                  <a:schemeClr val="bg1"/>
                </a:solidFill>
                <a:latin typeface="Arial"/>
                <a:ea typeface="黑体"/>
              </a:rPr>
              <a:t>方便加入控制语句</a:t>
            </a:r>
          </a:p>
        </p:txBody>
      </p:sp>
      <p:sp>
        <p:nvSpPr>
          <p:cNvPr id="4" name="AutoShape 21"/>
          <p:cNvSpPr>
            <a:spLocks noChangeArrowheads="1"/>
          </p:cNvSpPr>
          <p:nvPr/>
        </p:nvSpPr>
        <p:spPr bwMode="auto">
          <a:xfrm>
            <a:off x="3924300" y="6164263"/>
            <a:ext cx="1727200" cy="407987"/>
          </a:xfrm>
          <a:prstGeom prst="wedgeRoundRectCallout">
            <a:avLst>
              <a:gd name="adj1" fmla="val -25736"/>
              <a:gd name="adj2" fmla="val -50320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sz="1800" b="1" kern="0" dirty="0">
                <a:solidFill>
                  <a:schemeClr val="bg1"/>
                </a:solidFill>
                <a:latin typeface="Arial"/>
                <a:ea typeface="黑体"/>
              </a:rPr>
              <a:t>方便修改实现</a:t>
            </a:r>
          </a:p>
        </p:txBody>
      </p:sp>
      <p:cxnSp>
        <p:nvCxnSpPr>
          <p:cNvPr id="10" name="直接箭头连接符 9"/>
          <p:cNvCxnSpPr/>
          <p:nvPr/>
        </p:nvCxnSpPr>
        <p:spPr bwMode="auto">
          <a:xfrm rot="10800000">
            <a:off x="3500430" y="4732646"/>
            <a:ext cx="428628" cy="410866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 bwMode="auto">
          <a:xfrm rot="5400000" flipH="1" flipV="1">
            <a:off x="4652319" y="4509451"/>
            <a:ext cx="410866" cy="1588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 bwMode="auto">
          <a:xfrm>
            <a:off x="5286380" y="5000636"/>
            <a:ext cx="500066" cy="17762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 bwMode="auto">
          <a:xfrm rot="16200000" flipH="1">
            <a:off x="4277367" y="5849011"/>
            <a:ext cx="374952" cy="214314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829237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如何使用封装</a:t>
            </a:r>
            <a:endParaRPr lang="en-US" altLang="zh-CN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1419225"/>
            <a:ext cx="7645400" cy="43815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黑体" pitchFamily="49" charset="-122"/>
                <a:ea typeface="黑体" pitchFamily="49" charset="-122"/>
              </a:rPr>
              <a:t>封装的步骤</a:t>
            </a:r>
          </a:p>
        </p:txBody>
      </p:sp>
      <p:sp>
        <p:nvSpPr>
          <p:cNvPr id="40" name="右箭头 39"/>
          <p:cNvSpPr>
            <a:spLocks noChangeArrowheads="1"/>
          </p:cNvSpPr>
          <p:nvPr/>
        </p:nvSpPr>
        <p:spPr bwMode="auto">
          <a:xfrm rot="5400000">
            <a:off x="3464719" y="4760119"/>
            <a:ext cx="357188" cy="2857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25400" dir="5400000" algn="t" rotWithShape="0">
              <a:prstClr val="black">
                <a:alpha val="30000"/>
              </a:prstClr>
            </a:outerShdw>
          </a:effectLst>
        </p:spPr>
        <p:txBody>
          <a:bodyPr anchor="b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49" name="组合 25"/>
          <p:cNvGrpSpPr>
            <a:grpSpLocks/>
          </p:cNvGrpSpPr>
          <p:nvPr/>
        </p:nvGrpSpPr>
        <p:grpSpPr bwMode="auto">
          <a:xfrm>
            <a:off x="2112986" y="2001380"/>
            <a:ext cx="2966080" cy="1139588"/>
            <a:chOff x="214313" y="1785937"/>
            <a:chExt cx="1571625" cy="1285876"/>
          </a:xfrm>
          <a:solidFill>
            <a:srgbClr val="0070C0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50" name="矩形 49"/>
            <p:cNvSpPr/>
            <p:nvPr/>
          </p:nvSpPr>
          <p:spPr bwMode="auto">
            <a:xfrm>
              <a:off x="327025" y="2100263"/>
              <a:ext cx="1458913" cy="971550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anchor="b"/>
            <a:lstStyle/>
            <a:p>
              <a:pPr algn="ctr">
                <a:defRPr/>
              </a:pPr>
              <a:r>
                <a:rPr lang="zh-CN" altLang="en-US" sz="1800" b="1" dirty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rPr>
                <a:t>修改属性的可见性 </a:t>
              </a:r>
              <a:endParaRPr lang="en-US" altLang="zh-CN" sz="18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endParaRPr>
            </a:p>
            <a:p>
              <a:pPr>
                <a:defRPr/>
              </a:pPr>
              <a:endParaRPr lang="en-US" altLang="zh-CN" b="1" dirty="0"/>
            </a:p>
          </p:txBody>
        </p:sp>
        <p:sp>
          <p:nvSpPr>
            <p:cNvPr id="51" name="椭圆 50"/>
            <p:cNvSpPr/>
            <p:nvPr/>
          </p:nvSpPr>
          <p:spPr bwMode="auto">
            <a:xfrm>
              <a:off x="214313" y="1785937"/>
              <a:ext cx="210798" cy="363538"/>
            </a:xfrm>
            <a:prstGeom prst="ellipse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方正准圆繁体" pitchFamily="2" charset="-122"/>
                </a:rPr>
                <a:t>1</a:t>
              </a:r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方正准圆繁体" pitchFamily="2" charset="-122"/>
              </a:endParaRPr>
            </a:p>
          </p:txBody>
        </p:sp>
      </p:grpSp>
      <p:grpSp>
        <p:nvGrpSpPr>
          <p:cNvPr id="55" name="组合 30"/>
          <p:cNvGrpSpPr>
            <a:grpSpLocks/>
          </p:cNvGrpSpPr>
          <p:nvPr/>
        </p:nvGrpSpPr>
        <p:grpSpPr bwMode="auto">
          <a:xfrm>
            <a:off x="2078670" y="4941168"/>
            <a:ext cx="2993396" cy="1059600"/>
            <a:chOff x="579816" y="4922850"/>
            <a:chExt cx="1593445" cy="1262062"/>
          </a:xfrm>
          <a:solidFill>
            <a:srgbClr val="0070C0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56" name="矩形 55"/>
            <p:cNvSpPr/>
            <p:nvPr/>
          </p:nvSpPr>
          <p:spPr bwMode="auto">
            <a:xfrm>
              <a:off x="714348" y="5214950"/>
              <a:ext cx="1458913" cy="969962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anchor="b"/>
            <a:lstStyle/>
            <a:p>
              <a:pPr algn="ctr">
                <a:defRPr/>
              </a:pPr>
              <a:r>
                <a:rPr lang="zh-CN" altLang="en-US" sz="1800" b="1" dirty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rPr>
                <a:t>在</a:t>
              </a:r>
              <a:r>
                <a:rPr lang="en-US" altLang="zh-CN" sz="1800" b="1" dirty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rPr>
                <a:t>getter/setter</a:t>
              </a:r>
              <a:r>
                <a:rPr lang="zh-CN" altLang="en-US" sz="1800" b="1" dirty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rPr>
                <a:t>方法中加入属性控制语句</a:t>
              </a:r>
            </a:p>
          </p:txBody>
        </p:sp>
        <p:sp>
          <p:nvSpPr>
            <p:cNvPr id="57" name="椭圆 56"/>
            <p:cNvSpPr/>
            <p:nvPr/>
          </p:nvSpPr>
          <p:spPr bwMode="auto">
            <a:xfrm>
              <a:off x="579816" y="4922850"/>
              <a:ext cx="224441" cy="363538"/>
            </a:xfrm>
            <a:prstGeom prst="ellipse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方正准圆繁体" pitchFamily="2" charset="-122"/>
                </a:rPr>
                <a:t>3</a:t>
              </a:r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方正准圆繁体" pitchFamily="2" charset="-122"/>
              </a:endParaRPr>
            </a:p>
          </p:txBody>
        </p:sp>
      </p:grpSp>
      <p:grpSp>
        <p:nvGrpSpPr>
          <p:cNvPr id="59" name="组合 25"/>
          <p:cNvGrpSpPr>
            <a:grpSpLocks/>
          </p:cNvGrpSpPr>
          <p:nvPr/>
        </p:nvGrpSpPr>
        <p:grpSpPr bwMode="auto">
          <a:xfrm>
            <a:off x="2078670" y="3393282"/>
            <a:ext cx="3000396" cy="1025530"/>
            <a:chOff x="214313" y="1785937"/>
            <a:chExt cx="1571625" cy="1285876"/>
          </a:xfrm>
          <a:solidFill>
            <a:srgbClr val="0070C0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60" name="矩形 59"/>
            <p:cNvSpPr/>
            <p:nvPr/>
          </p:nvSpPr>
          <p:spPr bwMode="auto">
            <a:xfrm>
              <a:off x="327025" y="2100263"/>
              <a:ext cx="1458913" cy="971550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anchor="b"/>
            <a:lstStyle/>
            <a:p>
              <a:pPr algn="ctr">
                <a:defRPr/>
              </a:pPr>
              <a:r>
                <a:rPr lang="zh-CN" altLang="en-US" sz="1800" b="1" dirty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rPr>
                <a:t>创建公有的</a:t>
              </a:r>
              <a:r>
                <a:rPr lang="en-US" altLang="zh-CN" sz="1800" b="1" dirty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rPr>
                <a:t>getter/setter</a:t>
              </a:r>
              <a:r>
                <a:rPr lang="zh-CN" altLang="en-US" sz="1800" b="1" dirty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rPr>
                <a:t>方法</a:t>
              </a:r>
              <a:endParaRPr lang="en-US" altLang="zh-CN" sz="1800" b="1" dirty="0">
                <a:latin typeface="黑体" pitchFamily="49" charset="-122"/>
                <a:ea typeface="黑体" pitchFamily="49" charset="-122"/>
              </a:endParaRPr>
            </a:p>
          </p:txBody>
        </p:sp>
        <p:sp>
          <p:nvSpPr>
            <p:cNvPr id="61" name="椭圆 60"/>
            <p:cNvSpPr/>
            <p:nvPr/>
          </p:nvSpPr>
          <p:spPr bwMode="auto">
            <a:xfrm>
              <a:off x="214313" y="1785937"/>
              <a:ext cx="210798" cy="363538"/>
            </a:xfrm>
            <a:prstGeom prst="ellipse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方正准圆繁体" pitchFamily="2" charset="-122"/>
                </a:rPr>
                <a:t>2</a:t>
              </a:r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方正准圆繁体" pitchFamily="2" charset="-122"/>
              </a:endParaRPr>
            </a:p>
          </p:txBody>
        </p:sp>
      </p:grpSp>
      <p:sp>
        <p:nvSpPr>
          <p:cNvPr id="62" name="AutoShape 11"/>
          <p:cNvSpPr>
            <a:spLocks noChangeArrowheads="1"/>
          </p:cNvSpPr>
          <p:nvPr/>
        </p:nvSpPr>
        <p:spPr bwMode="gray">
          <a:xfrm>
            <a:off x="5629275" y="2484438"/>
            <a:ext cx="1943100" cy="444500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ctr">
              <a:defRPr/>
            </a:pPr>
            <a:r>
              <a:rPr lang="zh-CN" altLang="en-US" sz="1800" b="1" dirty="0">
                <a:latin typeface="黑体" pitchFamily="49" charset="-122"/>
                <a:ea typeface="黑体" pitchFamily="49" charset="-122"/>
              </a:rPr>
              <a:t>设为</a:t>
            </a:r>
            <a:r>
              <a:rPr lang="en-US" altLang="zh-CN" sz="1800" b="1" dirty="0">
                <a:latin typeface="黑体" pitchFamily="49" charset="-122"/>
                <a:ea typeface="黑体" pitchFamily="49" charset="-122"/>
              </a:rPr>
              <a:t>private</a:t>
            </a:r>
          </a:p>
        </p:txBody>
      </p:sp>
      <p:sp>
        <p:nvSpPr>
          <p:cNvPr id="63" name="AutoShape 11"/>
          <p:cNvSpPr>
            <a:spLocks noChangeArrowheads="1"/>
          </p:cNvSpPr>
          <p:nvPr/>
        </p:nvSpPr>
        <p:spPr bwMode="gray">
          <a:xfrm>
            <a:off x="5700713" y="3841750"/>
            <a:ext cx="1943100" cy="444500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1800" b="1" dirty="0">
                <a:latin typeface="黑体" pitchFamily="49" charset="-122"/>
                <a:ea typeface="黑体" pitchFamily="49" charset="-122"/>
              </a:rPr>
              <a:t>用于属性的读写 </a:t>
            </a:r>
          </a:p>
        </p:txBody>
      </p:sp>
      <p:sp>
        <p:nvSpPr>
          <p:cNvPr id="64" name="AutoShape 11"/>
          <p:cNvSpPr>
            <a:spLocks noChangeArrowheads="1"/>
          </p:cNvSpPr>
          <p:nvPr/>
        </p:nvSpPr>
        <p:spPr bwMode="gray">
          <a:xfrm>
            <a:off x="5700713" y="5143500"/>
            <a:ext cx="1943100" cy="785813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1800" b="1" dirty="0">
                <a:latin typeface="黑体" pitchFamily="49" charset="-122"/>
                <a:ea typeface="黑体" pitchFamily="49" charset="-122"/>
              </a:rPr>
              <a:t>对属性值的合法性进行判断 </a:t>
            </a:r>
          </a:p>
        </p:txBody>
      </p:sp>
      <p:sp>
        <p:nvSpPr>
          <p:cNvPr id="65" name="右箭头 64"/>
          <p:cNvSpPr>
            <a:spLocks noChangeArrowheads="1"/>
          </p:cNvSpPr>
          <p:nvPr/>
        </p:nvSpPr>
        <p:spPr bwMode="auto">
          <a:xfrm rot="5400000">
            <a:off x="3393281" y="3250407"/>
            <a:ext cx="357187" cy="2857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25400" dir="5400000" algn="t" rotWithShape="0">
              <a:prstClr val="black">
                <a:alpha val="30000"/>
              </a:prstClr>
            </a:outerShdw>
          </a:effectLst>
        </p:spPr>
        <p:txBody>
          <a:bodyPr anchor="b"/>
          <a:lstStyle/>
          <a:p>
            <a:pPr>
              <a:defRPr/>
            </a:pPr>
            <a:endParaRPr lang="zh-CN" altLang="en-US"/>
          </a:p>
        </p:txBody>
      </p:sp>
      <p:cxnSp>
        <p:nvCxnSpPr>
          <p:cNvPr id="66" name="直接箭头连接符 65"/>
          <p:cNvCxnSpPr/>
          <p:nvPr/>
        </p:nvCxnSpPr>
        <p:spPr bwMode="auto">
          <a:xfrm>
            <a:off x="5152054" y="2714620"/>
            <a:ext cx="500066" cy="1588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 bwMode="auto">
          <a:xfrm>
            <a:off x="5143504" y="4071942"/>
            <a:ext cx="500066" cy="1588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 bwMode="auto">
          <a:xfrm>
            <a:off x="5143504" y="5572140"/>
            <a:ext cx="500066" cy="1588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13512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AFDAB49-5C75-4080-A288-B5228277C008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78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12291" name="Rectangle 36"/>
          <p:cNvSpPr>
            <a:spLocks noChangeArrowheads="1"/>
          </p:cNvSpPr>
          <p:nvPr/>
        </p:nvSpPr>
        <p:spPr bwMode="auto">
          <a:xfrm>
            <a:off x="7620000" y="5257800"/>
            <a:ext cx="609600" cy="685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752600"/>
            <a:ext cx="7994650" cy="2362200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GB" smtClean="0"/>
              <a:t>类的访问控制</a:t>
            </a:r>
          </a:p>
          <a:p>
            <a:pPr lvl="1" eaLnBrk="1" hangingPunct="1"/>
            <a:r>
              <a:rPr lang="zh-CN" altLang="en-GB" smtClean="0"/>
              <a:t>类的访问控制只有</a:t>
            </a:r>
            <a:r>
              <a:rPr lang="en-GB" altLang="zh-CN" smtClean="0"/>
              <a:t>public（</a:t>
            </a:r>
            <a:r>
              <a:rPr lang="zh-CN" altLang="en-GB" smtClean="0"/>
              <a:t>公共类）及无修饰符（缺省类）两种</a:t>
            </a:r>
          </a:p>
          <a:p>
            <a:pPr lvl="1" eaLnBrk="1" hangingPunct="1"/>
            <a:r>
              <a:rPr lang="zh-CN" altLang="en-GB" smtClean="0"/>
              <a:t>访问权限符与访问能力之间的关系如表</a:t>
            </a:r>
          </a:p>
        </p:txBody>
      </p:sp>
      <p:graphicFrame>
        <p:nvGraphicFramePr>
          <p:cNvPr id="70682" name="Group 26"/>
          <p:cNvGraphicFramePr>
            <a:graphicFrameLocks noGrp="1"/>
          </p:cNvGraphicFramePr>
          <p:nvPr/>
        </p:nvGraphicFramePr>
        <p:xfrm>
          <a:off x="1431925" y="4267200"/>
          <a:ext cx="6019800" cy="1319213"/>
        </p:xfrm>
        <a:graphic>
          <a:graphicData uri="http://schemas.openxmlformats.org/drawingml/2006/table">
            <a:tbl>
              <a:tblPr/>
              <a:tblGrid>
                <a:gridCol w="2006600"/>
                <a:gridCol w="2006600"/>
                <a:gridCol w="2006600"/>
              </a:tblGrid>
              <a:tr h="384175"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类型</a:t>
                      </a:r>
                      <a:endParaRPr kumimoji="0" lang="zh-CN" alt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无修饰</a:t>
                      </a:r>
                      <a:endParaRPr kumimoji="0" lang="zh-CN" alt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public</a:t>
                      </a:r>
                      <a:endParaRPr kumimoji="0" lang="en-US" altLang="zh-CN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7838"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同一包中的类</a:t>
                      </a:r>
                      <a:endParaRPr kumimoji="0" lang="zh-CN" alt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yes</a:t>
                      </a:r>
                      <a:endParaRPr kumimoji="0" lang="en-US" altLang="zh-CN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yes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不同包中的类</a:t>
                      </a:r>
                      <a:endParaRPr kumimoji="0" lang="zh-CN" alt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no</a:t>
                      </a:r>
                      <a:endParaRPr kumimoji="0" lang="en-US" altLang="zh-CN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yes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311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2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类的访问控制</a:t>
            </a:r>
          </a:p>
        </p:txBody>
      </p:sp>
      <p:sp>
        <p:nvSpPr>
          <p:cNvPr id="12312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类的访问控制</a:t>
            </a:r>
            <a:endParaRPr lang="en-GB" altLang="zh-CN" sz="3600">
              <a:solidFill>
                <a:schemeClr val="tx2"/>
              </a:solidFill>
              <a:latin typeface="Trebuchet MS" pitchFamily="34" charset="0"/>
              <a:ea typeface="方正姚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7111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219BC1B-F383-4895-AE04-650BF2BBB34C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79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13315" name="Rectangle 6"/>
          <p:cNvSpPr>
            <a:spLocks noChangeArrowheads="1"/>
          </p:cNvSpPr>
          <p:nvPr/>
        </p:nvSpPr>
        <p:spPr bwMode="auto">
          <a:xfrm>
            <a:off x="7467600" y="5257800"/>
            <a:ext cx="8382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828800"/>
            <a:ext cx="7918450" cy="4572000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GB" sz="2400" smtClean="0"/>
              <a:t>类成员的访问控制</a:t>
            </a:r>
          </a:p>
          <a:p>
            <a:pPr lvl="1" eaLnBrk="1" hangingPunct="1"/>
            <a:r>
              <a:rPr lang="zh-CN" altLang="en-GB" sz="2200" smtClean="0"/>
              <a:t>公有(</a:t>
            </a:r>
            <a:r>
              <a:rPr lang="en-GB" altLang="zh-CN" sz="2200" smtClean="0"/>
              <a:t>public)</a:t>
            </a:r>
            <a:endParaRPr lang="zh-CN" altLang="en-GB" sz="2200" smtClean="0"/>
          </a:p>
          <a:p>
            <a:pPr lvl="2" eaLnBrk="1" hangingPunct="1"/>
            <a:r>
              <a:rPr lang="zh-CN" altLang="en-GB" sz="2000" smtClean="0"/>
              <a:t>可以被其他任何对象访问(前提是对类成员所在的类有访问权限) </a:t>
            </a:r>
          </a:p>
          <a:p>
            <a:pPr lvl="1" eaLnBrk="1" hangingPunct="1"/>
            <a:r>
              <a:rPr lang="zh-CN" altLang="en-GB" sz="2200" smtClean="0"/>
              <a:t>保护(</a:t>
            </a:r>
            <a:r>
              <a:rPr lang="en-GB" altLang="zh-CN" sz="2200" smtClean="0"/>
              <a:t>protected)</a:t>
            </a:r>
            <a:endParaRPr lang="zh-CN" altLang="en-GB" sz="2200" smtClean="0"/>
          </a:p>
          <a:p>
            <a:pPr lvl="2" eaLnBrk="1" hangingPunct="1"/>
            <a:r>
              <a:rPr lang="zh-CN" altLang="en-GB" sz="2000" smtClean="0"/>
              <a:t>只可被同一类及其子类的实例对象访问</a:t>
            </a:r>
          </a:p>
          <a:p>
            <a:pPr lvl="1" eaLnBrk="1" hangingPunct="1"/>
            <a:r>
              <a:rPr lang="zh-CN" altLang="en-GB" sz="2200" smtClean="0"/>
              <a:t>私有(</a:t>
            </a:r>
            <a:r>
              <a:rPr lang="en-GB" altLang="zh-CN" sz="2200" smtClean="0"/>
              <a:t>private)</a:t>
            </a:r>
            <a:endParaRPr lang="zh-CN" altLang="en-GB" sz="2200" smtClean="0"/>
          </a:p>
          <a:p>
            <a:pPr lvl="2" eaLnBrk="1" hangingPunct="1"/>
            <a:r>
              <a:rPr lang="zh-CN" altLang="en-GB" sz="2000" smtClean="0"/>
              <a:t>只能被这个类本身访问，在类外不可见</a:t>
            </a:r>
          </a:p>
          <a:p>
            <a:pPr lvl="1" eaLnBrk="1" hangingPunct="1"/>
            <a:r>
              <a:rPr lang="zh-CN" altLang="en-GB" sz="2200" smtClean="0"/>
              <a:t>默认(</a:t>
            </a:r>
            <a:r>
              <a:rPr lang="en-GB" altLang="zh-CN" sz="2200" smtClean="0"/>
              <a:t>default)</a:t>
            </a:r>
            <a:endParaRPr lang="zh-CN" altLang="en-GB" sz="2200" smtClean="0"/>
          </a:p>
          <a:p>
            <a:pPr lvl="2" eaLnBrk="1" hangingPunct="1"/>
            <a:r>
              <a:rPr lang="zh-CN" altLang="en-GB" sz="2000" smtClean="0"/>
              <a:t>仅允许同一个包内的访问；又被称为“包（</a:t>
            </a:r>
            <a:r>
              <a:rPr lang="en-GB" altLang="zh-CN" sz="2000" smtClean="0"/>
              <a:t>package)</a:t>
            </a:r>
            <a:r>
              <a:rPr lang="zh-CN" altLang="en-GB" sz="2000" smtClean="0"/>
              <a:t>访问权限”</a:t>
            </a:r>
            <a:endParaRPr lang="en-GB" altLang="zh-CN" sz="2000" smtClean="0"/>
          </a:p>
        </p:txBody>
      </p:sp>
      <p:sp>
        <p:nvSpPr>
          <p:cNvPr id="13317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2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类的访问控制</a:t>
            </a:r>
          </a:p>
        </p:txBody>
      </p:sp>
      <p:sp>
        <p:nvSpPr>
          <p:cNvPr id="13318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类的访问控制</a:t>
            </a:r>
            <a:endParaRPr lang="en-GB" altLang="zh-CN" sz="3600">
              <a:solidFill>
                <a:schemeClr val="tx2"/>
              </a:solidFill>
              <a:latin typeface="Trebuchet MS" pitchFamily="34" charset="0"/>
              <a:ea typeface="方正姚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1472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2523C0E0-EA29-499A-91D7-FE0DCB545117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80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14339" name="Rectangle 1142"/>
          <p:cNvSpPr>
            <a:spLocks noChangeArrowheads="1"/>
          </p:cNvSpPr>
          <p:nvPr/>
        </p:nvSpPr>
        <p:spPr bwMode="auto">
          <a:xfrm>
            <a:off x="6629400" y="5334000"/>
            <a:ext cx="2335213" cy="119062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8604" name="Group 1148"/>
          <p:cNvGraphicFramePr>
            <a:graphicFrameLocks noGrp="1"/>
          </p:cNvGraphicFramePr>
          <p:nvPr>
            <p:ph idx="4294967295"/>
          </p:nvPr>
        </p:nvGraphicFramePr>
        <p:xfrm>
          <a:off x="1219200" y="2057400"/>
          <a:ext cx="7300913" cy="3975102"/>
        </p:xfrm>
        <a:graphic>
          <a:graphicData uri="http://schemas.openxmlformats.org/drawingml/2006/table">
            <a:tbl>
              <a:tblPr/>
              <a:tblGrid>
                <a:gridCol w="1460500"/>
                <a:gridCol w="1460500"/>
                <a:gridCol w="1458913"/>
                <a:gridCol w="1593850"/>
                <a:gridCol w="1327150"/>
              </a:tblGrid>
              <a:tr h="615950"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类型</a:t>
                      </a:r>
                      <a:endParaRPr kumimoji="0" lang="zh-CN" altLang="en-US" sz="3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private</a:t>
                      </a:r>
                      <a:endParaRPr kumimoji="0" lang="en-US" altLang="zh-CN" sz="4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无修饰</a:t>
                      </a:r>
                      <a:endParaRPr kumimoji="0" lang="zh-CN" altLang="en-US" sz="3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protected</a:t>
                      </a:r>
                      <a:endParaRPr kumimoji="0" lang="en-US" altLang="zh-CN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public</a:t>
                      </a:r>
                      <a:endParaRPr kumimoji="0" lang="en-US" altLang="zh-CN" sz="4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0" marR="0" lvl="0" indent="1095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同一类</a:t>
                      </a:r>
                      <a:endParaRPr kumimoji="0" lang="zh-CN" altLang="en-US" sz="3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yes</a:t>
                      </a:r>
                      <a:endParaRPr kumimoji="0" lang="en-US" altLang="zh-CN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yes</a:t>
                      </a:r>
                      <a:endParaRPr kumimoji="0" lang="en-US" altLang="zh-CN" sz="4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yes</a:t>
                      </a:r>
                      <a:endParaRPr kumimoji="0" lang="en-US" altLang="zh-CN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yes</a:t>
                      </a:r>
                      <a:endParaRPr kumimoji="0" lang="en-US" altLang="zh-CN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9138">
                <a:tc>
                  <a:txBody>
                    <a:bodyPr/>
                    <a:lstStyle/>
                    <a:p>
                      <a:pPr marL="0" marR="0" lvl="0" indent="1095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同一包中的</a:t>
                      </a:r>
                    </a:p>
                    <a:p>
                      <a:pPr marL="0" marR="0" lvl="0" indent="1095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子类</a:t>
                      </a:r>
                      <a:endParaRPr kumimoji="0" lang="zh-CN" altLang="en-US" sz="3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no</a:t>
                      </a:r>
                      <a:endParaRPr kumimoji="0" lang="en-US" altLang="zh-CN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yes</a:t>
                      </a:r>
                      <a:endParaRPr kumimoji="0" lang="en-US" altLang="zh-CN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yes</a:t>
                      </a:r>
                      <a:endParaRPr kumimoji="0" lang="en-US" altLang="zh-CN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yes</a:t>
                      </a:r>
                      <a:endParaRPr kumimoji="0" lang="en-US" altLang="zh-CN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7388">
                <a:tc>
                  <a:txBody>
                    <a:bodyPr/>
                    <a:lstStyle/>
                    <a:p>
                      <a:pPr marL="0" marR="0" lvl="0" indent="1095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同一包中的</a:t>
                      </a:r>
                    </a:p>
                    <a:p>
                      <a:pPr marL="0" marR="0" lvl="0" indent="1095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非子类</a:t>
                      </a:r>
                      <a:endParaRPr kumimoji="0" lang="zh-CN" altLang="en-US" sz="3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no</a:t>
                      </a:r>
                      <a:endParaRPr kumimoji="0" lang="en-US" altLang="zh-CN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yes</a:t>
                      </a:r>
                      <a:endParaRPr kumimoji="0" lang="en-US" altLang="zh-CN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yes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yes</a:t>
                      </a:r>
                      <a:endParaRPr kumimoji="0" lang="en-US" altLang="zh-CN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4213">
                <a:tc>
                  <a:txBody>
                    <a:bodyPr/>
                    <a:lstStyle/>
                    <a:p>
                      <a:pPr marL="0" marR="0" lvl="0" indent="1095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不同包中的</a:t>
                      </a:r>
                    </a:p>
                    <a:p>
                      <a:pPr marL="0" marR="0" lvl="0" indent="1095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子类</a:t>
                      </a:r>
                      <a:endParaRPr kumimoji="0" lang="zh-CN" altLang="en-US" sz="3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no</a:t>
                      </a:r>
                      <a:endParaRPr kumimoji="0" lang="en-US" altLang="zh-CN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no</a:t>
                      </a:r>
                      <a:endParaRPr kumimoji="0" lang="en-US" altLang="zh-CN" sz="4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yes</a:t>
                      </a:r>
                      <a:endParaRPr kumimoji="0" lang="en-US" altLang="zh-CN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yes</a:t>
                      </a:r>
                      <a:endParaRPr kumimoji="0" lang="en-US" altLang="zh-CN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7388">
                <a:tc>
                  <a:txBody>
                    <a:bodyPr/>
                    <a:lstStyle/>
                    <a:p>
                      <a:pPr marL="0" marR="0" lvl="0" indent="1095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不同包中的</a:t>
                      </a:r>
                    </a:p>
                    <a:p>
                      <a:pPr marL="0" marR="0" lvl="0" indent="1095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非子类</a:t>
                      </a:r>
                      <a:endParaRPr kumimoji="0" lang="zh-CN" altLang="en-US" sz="3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no</a:t>
                      </a:r>
                      <a:endParaRPr kumimoji="0" lang="en-US" altLang="zh-CN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no</a:t>
                      </a:r>
                      <a:endParaRPr kumimoji="0" lang="en-US" altLang="zh-CN" sz="4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no</a:t>
                      </a:r>
                      <a:endParaRPr kumimoji="0" lang="en-US" altLang="zh-CN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095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yes</a:t>
                      </a:r>
                      <a:endParaRPr kumimoji="0" lang="en-US" altLang="zh-CN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384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2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类的访问控制</a:t>
            </a:r>
          </a:p>
        </p:txBody>
      </p:sp>
      <p:sp>
        <p:nvSpPr>
          <p:cNvPr id="14385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类的访问控制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续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)</a:t>
            </a:r>
          </a:p>
        </p:txBody>
      </p:sp>
    </p:spTree>
    <p:extLst>
      <p:ext uri="{BB962C8B-B14F-4D97-AF65-F5344CB8AC3E}">
        <p14:creationId xmlns="" xmlns:p14="http://schemas.microsoft.com/office/powerpoint/2010/main" val="3270351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FE378AC-9EA8-4007-A012-F3321222C0D5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81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15363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766763" y="1844824"/>
            <a:ext cx="7931150" cy="4096866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zh-CN" sz="2400" dirty="0" smtClean="0"/>
              <a:t>Circle</a:t>
            </a:r>
            <a:r>
              <a:rPr lang="zh-CN" altLang="en-US" sz="2400" dirty="0" smtClean="0"/>
              <a:t>类，给实例变量加上</a:t>
            </a:r>
            <a:r>
              <a:rPr lang="en-US" altLang="zh-CN" sz="2400" dirty="0" smtClean="0"/>
              <a:t>private</a:t>
            </a:r>
            <a:r>
              <a:rPr lang="zh-CN" altLang="en-US" sz="2400" dirty="0" smtClean="0"/>
              <a:t>修饰符</a:t>
            </a:r>
          </a:p>
          <a:p>
            <a:pPr lvl="1" eaLnBrk="1" hangingPunct="1">
              <a:buFont typeface="Georgia" pitchFamily="18" charset="0"/>
              <a:buNone/>
            </a:pPr>
            <a:r>
              <a:rPr lang="en-US" altLang="zh-CN" sz="2200" dirty="0" smtClean="0"/>
              <a:t>public class Circle { </a:t>
            </a:r>
          </a:p>
          <a:p>
            <a:pPr lvl="1" eaLnBrk="1" hangingPunct="1">
              <a:buFont typeface="Georgia" pitchFamily="18" charset="0"/>
              <a:buNone/>
            </a:pPr>
            <a:r>
              <a:rPr lang="en-US" altLang="zh-CN" sz="2200" dirty="0" smtClean="0"/>
              <a:t>        static double PI = 3.14159265; </a:t>
            </a:r>
          </a:p>
          <a:p>
            <a:pPr lvl="1" eaLnBrk="1" hangingPunct="1">
              <a:buFont typeface="Georgia" pitchFamily="18" charset="0"/>
              <a:buNone/>
            </a:pPr>
            <a:r>
              <a:rPr lang="en-US" altLang="zh-CN" sz="2200" dirty="0" smtClean="0"/>
              <a:t>        private 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radius;     </a:t>
            </a:r>
          </a:p>
          <a:p>
            <a:pPr lvl="1" eaLnBrk="1" hangingPunct="1">
              <a:buFont typeface="Georgia" pitchFamily="18" charset="0"/>
              <a:buNone/>
            </a:pPr>
            <a:r>
              <a:rPr lang="en-US" altLang="zh-CN" sz="2200" dirty="0" smtClean="0"/>
              <a:t>  		   public double circumference() { </a:t>
            </a:r>
          </a:p>
          <a:p>
            <a:pPr lvl="1" eaLnBrk="1" hangingPunct="1">
              <a:buFont typeface="Georgia" pitchFamily="18" charset="0"/>
              <a:buNone/>
            </a:pPr>
            <a:r>
              <a:rPr lang="en-US" altLang="zh-CN" sz="2200" dirty="0" smtClean="0"/>
              <a:t>            return 2 * PI * radius; </a:t>
            </a:r>
          </a:p>
          <a:p>
            <a:pPr lvl="1" eaLnBrk="1" hangingPunct="1">
              <a:buFont typeface="Georgia" pitchFamily="18" charset="0"/>
              <a:buNone/>
            </a:pPr>
            <a:r>
              <a:rPr lang="en-US" altLang="zh-CN" sz="2200" dirty="0" smtClean="0"/>
              <a:t>        } </a:t>
            </a:r>
          </a:p>
          <a:p>
            <a:pPr lvl="1" eaLnBrk="1" hangingPunct="1">
              <a:buFont typeface="Georgia" pitchFamily="18" charset="0"/>
              <a:buNone/>
            </a:pPr>
            <a:r>
              <a:rPr lang="en-US" altLang="zh-CN" sz="2200" dirty="0" smtClean="0"/>
              <a:t>  }</a:t>
            </a:r>
          </a:p>
          <a:p>
            <a:pPr lvl="1" eaLnBrk="1" hangingPunct="1">
              <a:buFont typeface="Georgia" pitchFamily="18" charset="0"/>
              <a:buNone/>
            </a:pPr>
            <a:endParaRPr lang="zh-CN" altLang="en-US" sz="2200" dirty="0" smtClean="0"/>
          </a:p>
        </p:txBody>
      </p:sp>
      <p:sp>
        <p:nvSpPr>
          <p:cNvPr id="15364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2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类的访问控制</a:t>
            </a: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468313" y="549275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类的访问控制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续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)</a:t>
            </a:r>
            <a:b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en-GB" altLang="zh-CN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——</a:t>
            </a:r>
            <a:r>
              <a:rPr lang="zh-CN" altLang="en-GB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例</a:t>
            </a:r>
            <a:endParaRPr lang="en-GB" altLang="zh-CN" sz="2800">
              <a:solidFill>
                <a:schemeClr val="tx2"/>
              </a:solidFill>
              <a:latin typeface="Trebuchet MS" pitchFamily="34" charset="0"/>
              <a:ea typeface="方正姚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9063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42626388-D642-40DA-B384-354759CFD9E8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82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16387" name="Rectangle 6"/>
          <p:cNvSpPr>
            <a:spLocks noChangeArrowheads="1"/>
          </p:cNvSpPr>
          <p:nvPr/>
        </p:nvSpPr>
        <p:spPr bwMode="auto">
          <a:xfrm>
            <a:off x="7620000" y="5181600"/>
            <a:ext cx="1371600" cy="1066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772816"/>
            <a:ext cx="8675687" cy="45720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 smtClean="0"/>
              <a:t>编译</a:t>
            </a:r>
            <a:r>
              <a:rPr lang="en-US" altLang="zh-CN" sz="2400" dirty="0" smtClean="0"/>
              <a:t>CircumferenceTester.java</a:t>
            </a:r>
          </a:p>
          <a:p>
            <a:pPr lvl="1" eaLnBrk="1" hangingPunct="1">
              <a:lnSpc>
                <a:spcPct val="90000"/>
              </a:lnSpc>
              <a:spcBef>
                <a:spcPct val="55000"/>
              </a:spcBef>
              <a:buFont typeface="Georgia" pitchFamily="18" charset="0"/>
              <a:buNone/>
            </a:pPr>
            <a:r>
              <a:rPr lang="en-US" altLang="zh-CN" sz="2000" dirty="0" smtClean="0"/>
              <a:t>public class </a:t>
            </a:r>
            <a:r>
              <a:rPr lang="en-US" altLang="zh-CN" sz="2000" dirty="0" err="1" smtClean="0"/>
              <a:t>CircumferenceTester</a:t>
            </a:r>
            <a:r>
              <a:rPr lang="en-US" altLang="zh-CN" sz="2000" dirty="0" smtClean="0"/>
              <a:t> {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      public static void main(String </a:t>
            </a:r>
            <a:r>
              <a:rPr lang="en-US" altLang="zh-CN" sz="2000" dirty="0" err="1" smtClean="0"/>
              <a:t>args</a:t>
            </a:r>
            <a:r>
              <a:rPr lang="en-US" altLang="zh-CN" sz="2000" dirty="0" smtClean="0"/>
              <a:t>[]) {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           Circle </a:t>
            </a:r>
            <a:r>
              <a:rPr lang="en-US" altLang="zh-CN" sz="2000" dirty="0" smtClean="0">
                <a:solidFill>
                  <a:schemeClr val="tx2"/>
                </a:solidFill>
              </a:rPr>
              <a:t>c1</a:t>
            </a:r>
            <a:r>
              <a:rPr lang="en-US" altLang="zh-CN" sz="2000" dirty="0" smtClean="0"/>
              <a:t> = new Circle();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           </a:t>
            </a:r>
            <a:r>
              <a:rPr lang="en-US" altLang="zh-CN" sz="2000" dirty="0" smtClean="0">
                <a:solidFill>
                  <a:schemeClr val="hlink"/>
                </a:solidFill>
              </a:rPr>
              <a:t>c1.radius = 50;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           Circle </a:t>
            </a:r>
            <a:r>
              <a:rPr lang="en-US" altLang="zh-CN" sz="2000" dirty="0" smtClean="0">
                <a:solidFill>
                  <a:schemeClr val="tx2"/>
                </a:solidFill>
              </a:rPr>
              <a:t>c2</a:t>
            </a:r>
            <a:r>
              <a:rPr lang="en-US" altLang="zh-CN" sz="2000" dirty="0" smtClean="0"/>
              <a:t> = new Circle();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           </a:t>
            </a:r>
            <a:r>
              <a:rPr lang="en-US" altLang="zh-CN" sz="2000" dirty="0" smtClean="0">
                <a:solidFill>
                  <a:schemeClr val="hlink"/>
                </a:solidFill>
              </a:rPr>
              <a:t>c2.radius = 10;</a:t>
            </a:r>
            <a:r>
              <a:rPr lang="en-US" altLang="zh-CN" sz="2000" dirty="0" smtClean="0"/>
              <a:t>        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	       double circum1 = c1.circumference();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           double circum2 = c2.circumference();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           </a:t>
            </a:r>
            <a:r>
              <a:rPr lang="en-US" altLang="zh-CN" sz="2000" dirty="0" err="1" smtClean="0"/>
              <a:t>System.out.println</a:t>
            </a:r>
            <a:r>
              <a:rPr lang="en-US" altLang="zh-CN" sz="1700" dirty="0" smtClean="0"/>
              <a:t>("Circle 1 has circumference " + circum1);</a:t>
            </a:r>
            <a:r>
              <a:rPr lang="en-US" altLang="zh-CN" sz="2000" dirty="0" smtClean="0"/>
              <a:t>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           </a:t>
            </a:r>
            <a:r>
              <a:rPr lang="en-US" altLang="zh-CN" sz="2000" dirty="0" err="1" smtClean="0"/>
              <a:t>System.out.println</a:t>
            </a:r>
            <a:r>
              <a:rPr lang="en-US" altLang="zh-CN" sz="1700" dirty="0" smtClean="0"/>
              <a:t>("Circle 2 has circumference " + circum2);</a:t>
            </a:r>
            <a:r>
              <a:rPr lang="en-US" altLang="zh-CN" sz="2000" dirty="0" smtClean="0"/>
              <a:t>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     }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000" dirty="0" smtClean="0"/>
              <a:t> }</a:t>
            </a:r>
            <a:endParaRPr lang="zh-CN" altLang="en-US" sz="2200" dirty="0" smtClean="0"/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endParaRPr lang="zh-CN" altLang="en-US" sz="2200" dirty="0" smtClean="0"/>
          </a:p>
        </p:txBody>
      </p:sp>
      <p:sp>
        <p:nvSpPr>
          <p:cNvPr id="16389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2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类的访问控制</a:t>
            </a:r>
          </a:p>
        </p:txBody>
      </p:sp>
      <p:sp>
        <p:nvSpPr>
          <p:cNvPr id="16390" name="Rectangle 2"/>
          <p:cNvSpPr>
            <a:spLocks noChangeArrowheads="1"/>
          </p:cNvSpPr>
          <p:nvPr/>
        </p:nvSpPr>
        <p:spPr bwMode="auto">
          <a:xfrm>
            <a:off x="468313" y="549275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2.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2.6 </a:t>
            </a:r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类的访问控制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续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)</a:t>
            </a:r>
            <a:b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en-GB" altLang="zh-CN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——</a:t>
            </a:r>
            <a:r>
              <a:rPr lang="zh-CN" altLang="en-GB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例</a:t>
            </a:r>
            <a:endParaRPr lang="en-GB" altLang="zh-CN" sz="2800">
              <a:solidFill>
                <a:schemeClr val="tx2"/>
              </a:solidFill>
              <a:latin typeface="Trebuchet MS" pitchFamily="34" charset="0"/>
              <a:ea typeface="方正姚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0492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713C70C5-01C1-4B9E-B406-F01327420D01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83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17411" name="Rectangle 5"/>
          <p:cNvSpPr>
            <a:spLocks noChangeArrowheads="1"/>
          </p:cNvSpPr>
          <p:nvPr/>
        </p:nvSpPr>
        <p:spPr bwMode="auto">
          <a:xfrm>
            <a:off x="6781800" y="5029200"/>
            <a:ext cx="1524000" cy="1524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6763" y="1844824"/>
            <a:ext cx="7931150" cy="4240882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 smtClean="0"/>
              <a:t>编译时会提示出错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zh-CN" altLang="en-US" sz="2200" dirty="0" smtClean="0"/>
              <a:t>在编译语句“</a:t>
            </a:r>
            <a:r>
              <a:rPr lang="en-US" altLang="zh-CN" sz="2200" dirty="0" smtClean="0"/>
              <a:t>c1.radius = 50;”</a:t>
            </a:r>
            <a:r>
              <a:rPr lang="zh-CN" altLang="en-US" sz="2200" dirty="0" smtClean="0"/>
              <a:t>及“</a:t>
            </a:r>
            <a:r>
              <a:rPr lang="en-US" altLang="zh-CN" sz="2200" dirty="0" smtClean="0"/>
              <a:t>c2.radius =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200" dirty="0" smtClean="0"/>
              <a:t>10;”</a:t>
            </a:r>
            <a:r>
              <a:rPr lang="zh-CN" altLang="en-US" sz="2200" dirty="0" smtClean="0"/>
              <a:t>时会提示存在语法错误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zh-CN" altLang="en-US" sz="2200" dirty="0" smtClean="0">
                <a:solidFill>
                  <a:schemeClr val="tx2"/>
                </a:solidFill>
              </a:rPr>
              <a:t>“</a:t>
            </a:r>
            <a:r>
              <a:rPr lang="en-US" altLang="zh-CN" sz="2200" dirty="0" smtClean="0">
                <a:solidFill>
                  <a:schemeClr val="tx2"/>
                </a:solidFill>
              </a:rPr>
              <a:t>radius has private access in Circle”</a:t>
            </a:r>
            <a:endParaRPr lang="en-US" altLang="zh-CN" sz="2200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/>
              <a:t>说明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dirty="0" smtClean="0"/>
              <a:t>由于在</a:t>
            </a:r>
            <a:r>
              <a:rPr lang="en-US" altLang="zh-CN" sz="2200" dirty="0" smtClean="0"/>
              <a:t>Circle</a:t>
            </a:r>
            <a:r>
              <a:rPr lang="zh-CN" altLang="en-US" sz="2200" dirty="0" smtClean="0"/>
              <a:t>类声明中变量</a:t>
            </a:r>
            <a:r>
              <a:rPr lang="en-US" altLang="zh-CN" sz="2200" dirty="0" smtClean="0"/>
              <a:t>radius</a:t>
            </a:r>
            <a:r>
              <a:rPr lang="zh-CN" altLang="en-US" sz="2200" dirty="0" smtClean="0"/>
              <a:t>被声明为</a:t>
            </a:r>
            <a:r>
              <a:rPr lang="en-US" altLang="zh-CN" sz="2200" dirty="0" smtClean="0"/>
              <a:t>private，</a:t>
            </a:r>
            <a:r>
              <a:rPr lang="zh-CN" altLang="en-US" sz="2200" dirty="0" smtClean="0"/>
              <a:t>因此在其它类中不能直接对</a:t>
            </a:r>
            <a:r>
              <a:rPr lang="en-US" altLang="zh-CN" sz="2200" dirty="0" smtClean="0"/>
              <a:t>radius</a:t>
            </a:r>
            <a:r>
              <a:rPr lang="zh-CN" altLang="en-US" sz="2200" dirty="0" smtClean="0"/>
              <a:t>进行存取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dirty="0" smtClean="0"/>
              <a:t>如果要允许其它类访问</a:t>
            </a:r>
            <a:r>
              <a:rPr lang="en-US" altLang="zh-CN" sz="2200" dirty="0" smtClean="0"/>
              <a:t>radius</a:t>
            </a:r>
            <a:r>
              <a:rPr lang="zh-CN" altLang="en-US" sz="2200" dirty="0" smtClean="0"/>
              <a:t>的值，就需要在</a:t>
            </a:r>
            <a:r>
              <a:rPr lang="en-US" altLang="zh-CN" sz="2200" dirty="0" smtClean="0"/>
              <a:t>Circle</a:t>
            </a:r>
            <a:r>
              <a:rPr lang="zh-CN" altLang="en-US" sz="2200" dirty="0" smtClean="0"/>
              <a:t>类中声明相应的公有方法。通常有两类典型的方法用于访问属性值，</a:t>
            </a:r>
            <a:r>
              <a:rPr lang="en-US" altLang="zh-CN" sz="2200" dirty="0" smtClean="0"/>
              <a:t>get</a:t>
            </a:r>
            <a:r>
              <a:rPr lang="zh-CN" altLang="en-US" sz="2200" dirty="0" smtClean="0"/>
              <a:t>方法及</a:t>
            </a:r>
            <a:r>
              <a:rPr lang="en-US" altLang="zh-CN" sz="2200" dirty="0" smtClean="0"/>
              <a:t>set</a:t>
            </a:r>
            <a:r>
              <a:rPr lang="zh-CN" altLang="en-US" sz="2200" dirty="0" smtClean="0"/>
              <a:t>方法</a:t>
            </a:r>
          </a:p>
          <a:p>
            <a:pPr lvl="1" eaLnBrk="1" hangingPunct="1">
              <a:lnSpc>
                <a:spcPct val="90000"/>
              </a:lnSpc>
            </a:pPr>
            <a:endParaRPr lang="zh-CN" altLang="en-US" sz="2200" dirty="0" smtClean="0"/>
          </a:p>
        </p:txBody>
      </p:sp>
      <p:sp>
        <p:nvSpPr>
          <p:cNvPr id="17413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2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类的访问控制</a:t>
            </a:r>
          </a:p>
        </p:txBody>
      </p:sp>
      <p:sp>
        <p:nvSpPr>
          <p:cNvPr id="17414" name="Rectangle 2"/>
          <p:cNvSpPr>
            <a:spLocks noChangeArrowheads="1"/>
          </p:cNvSpPr>
          <p:nvPr/>
        </p:nvSpPr>
        <p:spPr bwMode="auto">
          <a:xfrm>
            <a:off x="468313" y="549275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类的访问控制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续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)</a:t>
            </a:r>
            <a:b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en-GB" altLang="zh-CN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——</a:t>
            </a:r>
            <a:r>
              <a:rPr lang="zh-CN" altLang="en-GB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例编译</a:t>
            </a:r>
          </a:p>
        </p:txBody>
      </p:sp>
    </p:spTree>
    <p:extLst>
      <p:ext uri="{BB962C8B-B14F-4D97-AF65-F5344CB8AC3E}">
        <p14:creationId xmlns="" xmlns:p14="http://schemas.microsoft.com/office/powerpoint/2010/main" val="408474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20AF744-AB68-4212-B094-E02B2E72F6D1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84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828800"/>
            <a:ext cx="8139112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smtClean="0"/>
              <a:t>get</a:t>
            </a:r>
            <a:r>
              <a:rPr lang="zh-CN" altLang="en-US" sz="2400" smtClean="0"/>
              <a:t>方法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smtClean="0"/>
              <a:t>功能是取得属性变量的值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smtClean="0"/>
              <a:t>get</a:t>
            </a:r>
            <a:r>
              <a:rPr lang="zh-CN" altLang="en-US" sz="2200" smtClean="0"/>
              <a:t>方法名以“</a:t>
            </a:r>
            <a:r>
              <a:rPr lang="en-US" altLang="zh-CN" sz="2200" smtClean="0"/>
              <a:t>get”</a:t>
            </a:r>
            <a:r>
              <a:rPr lang="zh-CN" altLang="en-US" sz="2200" smtClean="0"/>
              <a:t>开头，后面是实例变量的名字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smtClean="0"/>
              <a:t>一般具有以下格式：</a:t>
            </a:r>
          </a:p>
          <a:p>
            <a:pPr lvl="2" eaLnBrk="1" hangingPunct="1">
              <a:lnSpc>
                <a:spcPct val="90000"/>
              </a:lnSpc>
              <a:spcBef>
                <a:spcPct val="65000"/>
              </a:spcBef>
              <a:buFont typeface="Wingdings 2" pitchFamily="18" charset="2"/>
              <a:buNone/>
            </a:pPr>
            <a:r>
              <a:rPr lang="en-US" altLang="zh-CN" sz="2000" smtClean="0"/>
              <a:t>public &lt;fieldType&gt; </a:t>
            </a:r>
            <a:r>
              <a:rPr lang="en-US" altLang="zh-CN" sz="2000" smtClean="0">
                <a:solidFill>
                  <a:schemeClr val="tx2"/>
                </a:solidFill>
              </a:rPr>
              <a:t>get</a:t>
            </a:r>
            <a:r>
              <a:rPr lang="en-US" altLang="zh-CN" sz="2000" smtClean="0"/>
              <a:t>&lt;FieldName&gt;() { </a:t>
            </a:r>
          </a:p>
          <a:p>
            <a:pPr lvl="2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zh-CN" sz="2000" smtClean="0"/>
              <a:t>    return &lt;fieldName&gt;; </a:t>
            </a:r>
          </a:p>
          <a:p>
            <a:pPr lvl="2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zh-CN" sz="2000" smtClean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smtClean="0"/>
              <a:t>对于实例变量</a:t>
            </a:r>
            <a:r>
              <a:rPr lang="en-US" altLang="zh-CN" sz="2200" smtClean="0"/>
              <a:t>radius，</a:t>
            </a:r>
            <a:r>
              <a:rPr lang="zh-CN" altLang="en-US" sz="2200" smtClean="0"/>
              <a:t>声明其</a:t>
            </a:r>
            <a:r>
              <a:rPr lang="en-US" altLang="zh-CN" sz="2200" smtClean="0"/>
              <a:t>get</a:t>
            </a:r>
            <a:r>
              <a:rPr lang="zh-CN" altLang="en-US" sz="2200" smtClean="0"/>
              <a:t>方法如下：</a:t>
            </a:r>
          </a:p>
          <a:p>
            <a:pPr lvl="2" eaLnBrk="1" hangingPunct="1">
              <a:lnSpc>
                <a:spcPct val="90000"/>
              </a:lnSpc>
              <a:spcBef>
                <a:spcPct val="60000"/>
              </a:spcBef>
              <a:buFont typeface="Wingdings 2" pitchFamily="18" charset="2"/>
              <a:buNone/>
            </a:pPr>
            <a:r>
              <a:rPr lang="en-US" altLang="zh-CN" sz="2000" smtClean="0"/>
              <a:t>public int </a:t>
            </a:r>
            <a:r>
              <a:rPr lang="en-US" altLang="zh-CN" sz="2000" smtClean="0">
                <a:solidFill>
                  <a:schemeClr val="tx2"/>
                </a:solidFill>
              </a:rPr>
              <a:t>getRadius</a:t>
            </a:r>
            <a:r>
              <a:rPr lang="en-US" altLang="zh-CN" sz="2000" smtClean="0"/>
              <a:t>(){</a:t>
            </a:r>
          </a:p>
          <a:p>
            <a:pPr lvl="2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zh-CN" sz="2000" smtClean="0"/>
              <a:t>   return radius;</a:t>
            </a:r>
          </a:p>
          <a:p>
            <a:pPr lvl="2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zh-CN" sz="2000" smtClean="0"/>
              <a:t>} </a:t>
            </a:r>
          </a:p>
          <a:p>
            <a:pPr lvl="1" eaLnBrk="1" hangingPunct="1">
              <a:lnSpc>
                <a:spcPct val="90000"/>
              </a:lnSpc>
            </a:pPr>
            <a:endParaRPr lang="zh-CN" altLang="en-US" sz="2200" smtClean="0"/>
          </a:p>
        </p:txBody>
      </p:sp>
      <p:sp>
        <p:nvSpPr>
          <p:cNvPr id="18436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2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类的访问控制</a:t>
            </a:r>
          </a:p>
        </p:txBody>
      </p:sp>
      <p:sp>
        <p:nvSpPr>
          <p:cNvPr id="18437" name="Rectangle 2"/>
          <p:cNvSpPr>
            <a:spLocks noChangeArrowheads="1"/>
          </p:cNvSpPr>
          <p:nvPr/>
        </p:nvSpPr>
        <p:spPr bwMode="auto">
          <a:xfrm>
            <a:off x="468313" y="549275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类的访问控制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续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)</a:t>
            </a:r>
            <a:b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en-GB" altLang="zh-CN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——get</a:t>
            </a:r>
            <a:r>
              <a:rPr lang="zh-CN" altLang="en-GB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方法</a:t>
            </a:r>
          </a:p>
        </p:txBody>
      </p:sp>
    </p:spTree>
    <p:extLst>
      <p:ext uri="{BB962C8B-B14F-4D97-AF65-F5344CB8AC3E}">
        <p14:creationId xmlns="" xmlns:p14="http://schemas.microsoft.com/office/powerpoint/2010/main" val="374338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E851AED-493F-4795-8DE4-24F4CAFB97D3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85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828800"/>
            <a:ext cx="8066087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smtClean="0"/>
              <a:t>set</a:t>
            </a:r>
            <a:r>
              <a:rPr lang="zh-CN" altLang="en-US" sz="2400" smtClean="0"/>
              <a:t>方法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smtClean="0"/>
              <a:t>功能是修改属性变量的值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smtClean="0"/>
              <a:t>set</a:t>
            </a:r>
            <a:r>
              <a:rPr lang="zh-CN" altLang="en-US" sz="2200" smtClean="0"/>
              <a:t>方法名以“</a:t>
            </a:r>
            <a:r>
              <a:rPr lang="en-US" altLang="zh-CN" sz="2200" smtClean="0"/>
              <a:t>set”</a:t>
            </a:r>
            <a:r>
              <a:rPr lang="zh-CN" altLang="en-US" sz="2200" smtClean="0"/>
              <a:t>开头，后面是实例变量的名字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smtClean="0"/>
              <a:t>一般具有以下格式</a:t>
            </a:r>
          </a:p>
          <a:p>
            <a:pPr lvl="2" eaLnBrk="1" hangingPunct="1">
              <a:lnSpc>
                <a:spcPct val="90000"/>
              </a:lnSpc>
              <a:spcBef>
                <a:spcPct val="60000"/>
              </a:spcBef>
              <a:buFont typeface="Wingdings 2" pitchFamily="18" charset="2"/>
              <a:buNone/>
            </a:pPr>
            <a:r>
              <a:rPr lang="en-US" altLang="zh-CN" sz="2000" smtClean="0"/>
              <a:t>public void </a:t>
            </a:r>
            <a:r>
              <a:rPr lang="en-US" altLang="zh-CN" sz="2000" smtClean="0">
                <a:solidFill>
                  <a:schemeClr val="tx2"/>
                </a:solidFill>
              </a:rPr>
              <a:t>set</a:t>
            </a:r>
            <a:r>
              <a:rPr lang="en-US" altLang="zh-CN" sz="2000" smtClean="0"/>
              <a:t>&lt;FieldName&gt;(&lt;fieldType&gt; &lt;paramName&gt;) { </a:t>
            </a:r>
          </a:p>
          <a:p>
            <a:pPr lvl="2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zh-CN" sz="2000" smtClean="0"/>
              <a:t>    &lt;fieldName&gt; = &lt;paramName&gt;; </a:t>
            </a:r>
          </a:p>
          <a:p>
            <a:pPr lvl="2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zh-CN" sz="2000" smtClean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smtClean="0"/>
              <a:t>声明实例变量</a:t>
            </a:r>
            <a:r>
              <a:rPr lang="en-US" altLang="zh-CN" sz="2200" smtClean="0"/>
              <a:t>radius</a:t>
            </a:r>
            <a:r>
              <a:rPr lang="zh-CN" altLang="en-US" sz="2200" smtClean="0"/>
              <a:t>的</a:t>
            </a:r>
            <a:r>
              <a:rPr lang="en-US" altLang="zh-CN" sz="2200" smtClean="0"/>
              <a:t>set</a:t>
            </a:r>
            <a:r>
              <a:rPr lang="zh-CN" altLang="en-US" sz="2200" smtClean="0"/>
              <a:t>方法如下：</a:t>
            </a:r>
          </a:p>
          <a:p>
            <a:pPr lvl="2" eaLnBrk="1" hangingPunct="1">
              <a:lnSpc>
                <a:spcPct val="90000"/>
              </a:lnSpc>
              <a:spcBef>
                <a:spcPct val="60000"/>
              </a:spcBef>
              <a:buFont typeface="Wingdings 2" pitchFamily="18" charset="2"/>
              <a:buNone/>
            </a:pPr>
            <a:r>
              <a:rPr lang="en-US" altLang="zh-CN" sz="2000" smtClean="0"/>
              <a:t>public void </a:t>
            </a:r>
            <a:r>
              <a:rPr lang="en-US" altLang="zh-CN" sz="2000" smtClean="0">
                <a:solidFill>
                  <a:schemeClr val="tx2"/>
                </a:solidFill>
              </a:rPr>
              <a:t>setRadius</a:t>
            </a:r>
            <a:r>
              <a:rPr lang="en-US" altLang="zh-CN" sz="2000" smtClean="0"/>
              <a:t>(int r){</a:t>
            </a:r>
          </a:p>
          <a:p>
            <a:pPr lvl="2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zh-CN" sz="2000" smtClean="0"/>
              <a:t>   radius = r;</a:t>
            </a:r>
          </a:p>
          <a:p>
            <a:pPr lvl="2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zh-CN" sz="2000" smtClean="0"/>
              <a:t>}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sz="2200" smtClean="0"/>
          </a:p>
          <a:p>
            <a:pPr lvl="1" eaLnBrk="1" hangingPunct="1">
              <a:lnSpc>
                <a:spcPct val="90000"/>
              </a:lnSpc>
            </a:pPr>
            <a:endParaRPr lang="zh-CN" altLang="en-US" sz="2200" smtClean="0"/>
          </a:p>
        </p:txBody>
      </p:sp>
      <p:sp>
        <p:nvSpPr>
          <p:cNvPr id="19460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2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类的访问控制</a:t>
            </a:r>
          </a:p>
        </p:txBody>
      </p:sp>
      <p:sp>
        <p:nvSpPr>
          <p:cNvPr id="19461" name="Rectangle 2"/>
          <p:cNvSpPr>
            <a:spLocks noChangeArrowheads="1"/>
          </p:cNvSpPr>
          <p:nvPr/>
        </p:nvSpPr>
        <p:spPr bwMode="auto">
          <a:xfrm>
            <a:off x="468313" y="549275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类的访问控制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续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)</a:t>
            </a:r>
            <a:b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en-GB" altLang="zh-CN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——set</a:t>
            </a:r>
            <a:r>
              <a:rPr lang="zh-CN" altLang="en-GB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方法</a:t>
            </a:r>
          </a:p>
        </p:txBody>
      </p:sp>
    </p:spTree>
    <p:extLst>
      <p:ext uri="{BB962C8B-B14F-4D97-AF65-F5344CB8AC3E}">
        <p14:creationId xmlns="" xmlns:p14="http://schemas.microsoft.com/office/powerpoint/2010/main" val="239515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8C77C72-59F1-4203-B890-5F8F9627E337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86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86396" y="1772816"/>
            <a:ext cx="7931150" cy="4096866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sz="2400" dirty="0" smtClean="0"/>
              <a:t>关键字</a:t>
            </a:r>
            <a:r>
              <a:rPr lang="en-US" altLang="zh-CN" sz="2400" dirty="0" smtClean="0"/>
              <a:t>this</a:t>
            </a:r>
            <a:r>
              <a:rPr lang="zh-CN" altLang="en-US" sz="2400" dirty="0" smtClean="0"/>
              <a:t>的使用</a:t>
            </a:r>
          </a:p>
          <a:p>
            <a:pPr lvl="1" eaLnBrk="1" hangingPunct="1"/>
            <a:r>
              <a:rPr lang="zh-CN" altLang="en-US" sz="2200" dirty="0" smtClean="0"/>
              <a:t>如果形式参数名与实例变量名相同，则需要在实例变量名之前加</a:t>
            </a:r>
            <a:r>
              <a:rPr lang="en-US" altLang="zh-CN" sz="2200" dirty="0" smtClean="0"/>
              <a:t>this</a:t>
            </a:r>
            <a:r>
              <a:rPr lang="zh-CN" altLang="en-US" sz="2200" dirty="0" smtClean="0"/>
              <a:t>关键字，否则系统会将实例变量当成形式参数。</a:t>
            </a:r>
          </a:p>
          <a:p>
            <a:pPr lvl="1" eaLnBrk="1" hangingPunct="1"/>
            <a:r>
              <a:rPr lang="zh-CN" altLang="en-US" sz="2200" dirty="0" smtClean="0"/>
              <a:t>在上面的</a:t>
            </a:r>
            <a:r>
              <a:rPr lang="en-US" altLang="zh-CN" sz="2200" dirty="0" smtClean="0"/>
              <a:t>set</a:t>
            </a:r>
            <a:r>
              <a:rPr lang="zh-CN" altLang="en-US" sz="2200" dirty="0" smtClean="0"/>
              <a:t>方法中，如果形式参数为</a:t>
            </a:r>
            <a:r>
              <a:rPr lang="en-US" altLang="zh-CN" sz="2200" dirty="0" smtClean="0"/>
              <a:t>radius，</a:t>
            </a:r>
            <a:r>
              <a:rPr lang="zh-CN" altLang="en-US" sz="2200" dirty="0" smtClean="0"/>
              <a:t>则需要在成员变量</a:t>
            </a:r>
            <a:r>
              <a:rPr lang="en-US" altLang="zh-CN" sz="2200" dirty="0" smtClean="0"/>
              <a:t>radius</a:t>
            </a:r>
            <a:r>
              <a:rPr lang="zh-CN" altLang="en-US" sz="2200" dirty="0" smtClean="0"/>
              <a:t>之前加上关键字</a:t>
            </a:r>
            <a:r>
              <a:rPr lang="en-US" altLang="zh-CN" sz="2200" dirty="0" smtClean="0"/>
              <a:t>this。</a:t>
            </a:r>
            <a:r>
              <a:rPr lang="zh-CN" altLang="en-US" sz="2200" dirty="0" smtClean="0"/>
              <a:t>代码如下：</a:t>
            </a:r>
          </a:p>
          <a:p>
            <a:pPr lvl="2" eaLnBrk="1" hangingPunct="1">
              <a:spcBef>
                <a:spcPct val="60000"/>
              </a:spcBef>
              <a:buFont typeface="Wingdings 2" pitchFamily="18" charset="2"/>
              <a:buNone/>
            </a:pPr>
            <a:r>
              <a:rPr lang="en-US" altLang="zh-CN" sz="2000" dirty="0" smtClean="0"/>
              <a:t>public void </a:t>
            </a:r>
            <a:r>
              <a:rPr lang="en-US" altLang="zh-CN" sz="2000" dirty="0" err="1" smtClean="0"/>
              <a:t>setRadius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radius){</a:t>
            </a:r>
          </a:p>
          <a:p>
            <a:pPr lvl="2" eaLnBrk="1" hangingPunct="1">
              <a:buFont typeface="Wingdings 2" pitchFamily="18" charset="2"/>
              <a:buNone/>
            </a:pPr>
            <a:r>
              <a:rPr lang="en-US" altLang="zh-CN" sz="2000" dirty="0" smtClean="0"/>
              <a:t>  </a:t>
            </a:r>
            <a:r>
              <a:rPr lang="en-US" altLang="zh-CN" sz="2000" dirty="0" smtClean="0">
                <a:solidFill>
                  <a:schemeClr val="hlink"/>
                </a:solidFill>
              </a:rPr>
              <a:t> </a:t>
            </a:r>
            <a:r>
              <a:rPr lang="en-US" altLang="zh-CN" sz="2000" dirty="0" err="1" smtClean="0">
                <a:solidFill>
                  <a:schemeClr val="hlink"/>
                </a:solidFill>
              </a:rPr>
              <a:t>this</a:t>
            </a:r>
            <a:r>
              <a:rPr lang="en-US" altLang="zh-CN" sz="2000" dirty="0" err="1" smtClean="0"/>
              <a:t>.radius</a:t>
            </a:r>
            <a:r>
              <a:rPr lang="en-US" altLang="zh-CN" sz="2000" dirty="0" smtClean="0"/>
              <a:t> = radius;</a:t>
            </a:r>
          </a:p>
          <a:p>
            <a:pPr lvl="2" eaLnBrk="1" hangingPunct="1">
              <a:buFont typeface="Wingdings 2" pitchFamily="18" charset="2"/>
              <a:buNone/>
            </a:pPr>
            <a:r>
              <a:rPr lang="en-US" altLang="zh-CN" sz="2000" dirty="0" smtClean="0"/>
              <a:t> }</a:t>
            </a:r>
            <a:endParaRPr lang="zh-CN" altLang="en-US" sz="2000" dirty="0" smtClean="0"/>
          </a:p>
        </p:txBody>
      </p:sp>
      <p:sp>
        <p:nvSpPr>
          <p:cNvPr id="20484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2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类的访问控制</a:t>
            </a:r>
          </a:p>
        </p:txBody>
      </p:sp>
      <p:sp>
        <p:nvSpPr>
          <p:cNvPr id="20485" name="Rectangle 2"/>
          <p:cNvSpPr>
            <a:spLocks noChangeArrowheads="1"/>
          </p:cNvSpPr>
          <p:nvPr/>
        </p:nvSpPr>
        <p:spPr bwMode="auto">
          <a:xfrm>
            <a:off x="468313" y="549275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类的访问控制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续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)</a:t>
            </a:r>
            <a:b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en-GB" altLang="zh-CN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——set</a:t>
            </a:r>
            <a:r>
              <a:rPr lang="zh-CN" altLang="en-GB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方法</a:t>
            </a:r>
          </a:p>
        </p:txBody>
      </p:sp>
    </p:spTree>
    <p:extLst>
      <p:ext uri="{BB962C8B-B14F-4D97-AF65-F5344CB8AC3E}">
        <p14:creationId xmlns="" xmlns:p14="http://schemas.microsoft.com/office/powerpoint/2010/main" val="118114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8491501-DCA6-4F74-870E-42CCF55561C0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87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zh-CN" altLang="en-GB" smtClean="0"/>
              <a:t>目录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zh-CN" altLang="en-US" smtClean="0"/>
              <a:t>2.1 方法重载</a:t>
            </a:r>
            <a:endParaRPr lang="en-US" altLang="zh-CN" smtClean="0"/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zh-CN" altLang="en-US" smtClean="0"/>
              <a:t>2.</a:t>
            </a:r>
            <a:r>
              <a:rPr lang="en-US" altLang="zh-CN" smtClean="0"/>
              <a:t>2</a:t>
            </a:r>
            <a:r>
              <a:rPr lang="zh-CN" altLang="en-US" smtClean="0"/>
              <a:t> 类的访问控制</a:t>
            </a:r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en-US" altLang="zh-CN" smtClean="0"/>
              <a:t>2.3 </a:t>
            </a:r>
            <a:r>
              <a:rPr lang="zh-CN" altLang="en-US" smtClean="0">
                <a:solidFill>
                  <a:srgbClr val="FF0000"/>
                </a:solidFill>
              </a:rPr>
              <a:t>构造方法</a:t>
            </a:r>
            <a:endParaRPr lang="zh-CN" altLang="en-GB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zh-CN" altLang="en-US" smtClean="0"/>
              <a:t>2.</a:t>
            </a:r>
            <a:r>
              <a:rPr lang="en-US" altLang="zh-CN" smtClean="0"/>
              <a:t>4 </a:t>
            </a:r>
            <a:r>
              <a:rPr lang="zh-CN" altLang="en-US" smtClean="0"/>
              <a:t>类变量 </a:t>
            </a:r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en-US" altLang="zh-CN" smtClean="0"/>
              <a:t>2.5 </a:t>
            </a:r>
            <a:r>
              <a:rPr lang="zh-CN" altLang="en-US" smtClean="0"/>
              <a:t>应用举例</a:t>
            </a:r>
          </a:p>
        </p:txBody>
      </p:sp>
    </p:spTree>
    <p:extLst>
      <p:ext uri="{BB962C8B-B14F-4D97-AF65-F5344CB8AC3E}">
        <p14:creationId xmlns="" xmlns:p14="http://schemas.microsoft.com/office/powerpoint/2010/main" val="413903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AFEEF51-C362-49B0-AF0C-113DF5DBC7C5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88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zh-CN" altLang="en-GB" sz="3600" smtClean="0"/>
              <a:t>构造方法</a:t>
            </a:r>
            <a:endParaRPr lang="en-GB" altLang="zh-CN" sz="3600" smtClean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752600"/>
            <a:ext cx="8139112" cy="42672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zh-CN" altLang="en-GB" smtClean="0"/>
              <a:t>构造方法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GB" smtClean="0"/>
              <a:t>一种和类同名的特殊方法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GB" smtClean="0"/>
              <a:t>用来初始化对象</a:t>
            </a:r>
          </a:p>
          <a:p>
            <a:pPr lvl="1" eaLnBrk="1" hangingPunct="1">
              <a:lnSpc>
                <a:spcPct val="110000"/>
              </a:lnSpc>
            </a:pPr>
            <a:r>
              <a:rPr lang="en-GB" altLang="zh-CN" smtClean="0"/>
              <a:t>Java</a:t>
            </a:r>
            <a:r>
              <a:rPr lang="zh-CN" altLang="en-GB" smtClean="0"/>
              <a:t>中的每个类都有构造方法，用来初始化该类的一个新的对象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GB" smtClean="0"/>
              <a:t>没有定义构造方法的类，系统自动提供默认的构造方法</a:t>
            </a:r>
            <a:endParaRPr lang="en-GB" altLang="zh-CN" smtClean="0"/>
          </a:p>
        </p:txBody>
      </p:sp>
      <p:sp>
        <p:nvSpPr>
          <p:cNvPr id="22533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3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构造方法</a:t>
            </a:r>
          </a:p>
        </p:txBody>
      </p:sp>
    </p:spTree>
    <p:extLst>
      <p:ext uri="{BB962C8B-B14F-4D97-AF65-F5344CB8AC3E}">
        <p14:creationId xmlns="" xmlns:p14="http://schemas.microsoft.com/office/powerpoint/2010/main" val="1445136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5C7D40D3-2AAE-41E8-BFC9-FBEEF796195D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89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zh-CN" altLang="en-US" sz="2400" smtClean="0"/>
              <a:t>构造方法的特点</a:t>
            </a:r>
          </a:p>
          <a:p>
            <a:pPr lvl="1" eaLnBrk="1" hangingPunct="1"/>
            <a:r>
              <a:rPr lang="zh-CN" altLang="en-US" sz="2200" smtClean="0"/>
              <a:t>方法名与类名相同</a:t>
            </a:r>
          </a:p>
          <a:p>
            <a:pPr lvl="1" eaLnBrk="1" hangingPunct="1"/>
            <a:r>
              <a:rPr lang="zh-CN" altLang="en-US" sz="2200" smtClean="0"/>
              <a:t>没有返回类型，修饰符</a:t>
            </a:r>
            <a:r>
              <a:rPr lang="en-US" altLang="zh-CN" sz="2200" smtClean="0"/>
              <a:t>void</a:t>
            </a:r>
            <a:r>
              <a:rPr lang="zh-CN" altLang="en-US" sz="2200" smtClean="0"/>
              <a:t>也不能有</a:t>
            </a:r>
          </a:p>
          <a:p>
            <a:pPr lvl="1" eaLnBrk="1" hangingPunct="1"/>
            <a:r>
              <a:rPr lang="zh-CN" altLang="en-US" sz="2200" smtClean="0"/>
              <a:t>通常被声明为公有的(</a:t>
            </a:r>
            <a:r>
              <a:rPr lang="en-US" altLang="zh-CN" sz="2200" smtClean="0"/>
              <a:t>public)</a:t>
            </a:r>
          </a:p>
          <a:p>
            <a:pPr lvl="1" eaLnBrk="1" hangingPunct="1"/>
            <a:r>
              <a:rPr lang="zh-CN" altLang="en-US" sz="2200" smtClean="0"/>
              <a:t>可以有任意多个参数</a:t>
            </a:r>
          </a:p>
          <a:p>
            <a:pPr lvl="1" eaLnBrk="1" hangingPunct="1"/>
            <a:r>
              <a:rPr lang="zh-CN" altLang="en-US" sz="2200" smtClean="0"/>
              <a:t>主要作用是完成对象的初始化工作</a:t>
            </a:r>
          </a:p>
          <a:p>
            <a:pPr lvl="1" eaLnBrk="1" hangingPunct="1"/>
            <a:r>
              <a:rPr lang="zh-CN" altLang="en-US" sz="2200" smtClean="0"/>
              <a:t>不能在程序中显式的调用</a:t>
            </a:r>
          </a:p>
          <a:p>
            <a:pPr lvl="1" eaLnBrk="1" hangingPunct="1"/>
            <a:r>
              <a:rPr lang="zh-CN" altLang="en-US" sz="2200" smtClean="0"/>
              <a:t>在生成一个对象时，系统会自动调用该类的构造方法为新生成的对象初始化</a:t>
            </a:r>
          </a:p>
          <a:p>
            <a:pPr lvl="1" eaLnBrk="1" hangingPunct="1"/>
            <a:endParaRPr lang="zh-CN" altLang="en-US" sz="2200" smtClean="0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title" idx="4294967295"/>
          </p:nvPr>
        </p:nvSpPr>
        <p:spPr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zh-CN" altLang="en-GB" sz="3600" smtClean="0"/>
              <a:t>构造方法(续)</a:t>
            </a:r>
            <a:endParaRPr lang="en-GB" altLang="zh-CN" sz="3600" smtClean="0"/>
          </a:p>
        </p:txBody>
      </p:sp>
      <p:sp>
        <p:nvSpPr>
          <p:cNvPr id="23557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3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构造方法</a:t>
            </a:r>
          </a:p>
        </p:txBody>
      </p:sp>
    </p:spTree>
    <p:extLst>
      <p:ext uri="{BB962C8B-B14F-4D97-AF65-F5344CB8AC3E}">
        <p14:creationId xmlns="" xmlns:p14="http://schemas.microsoft.com/office/powerpoint/2010/main" val="3601652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C5F2D2BE-AA73-41DB-A602-5D1C1A5DE970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90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905000"/>
            <a:ext cx="8139112" cy="4114800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smtClean="0"/>
              <a:t>系统提供的默认构造方法</a:t>
            </a:r>
          </a:p>
          <a:p>
            <a:pPr lvl="1" eaLnBrk="1" hangingPunct="1"/>
            <a:r>
              <a:rPr lang="zh-CN" altLang="en-US" smtClean="0"/>
              <a:t>如果在类的声明中没有声明构造方法，则</a:t>
            </a:r>
            <a:r>
              <a:rPr lang="en-US" altLang="zh-CN" smtClean="0"/>
              <a:t>Java</a:t>
            </a:r>
            <a:r>
              <a:rPr lang="zh-CN" altLang="en-US" smtClean="0"/>
              <a:t>编译器会提供一个默认的构造方法</a:t>
            </a:r>
          </a:p>
          <a:p>
            <a:pPr lvl="1" eaLnBrk="1" hangingPunct="1"/>
            <a:r>
              <a:rPr lang="zh-CN" altLang="en-US" smtClean="0"/>
              <a:t>默认的构造方法没有参数，其方法体为空</a:t>
            </a:r>
          </a:p>
          <a:p>
            <a:pPr lvl="1" eaLnBrk="1" hangingPunct="1"/>
            <a:r>
              <a:rPr lang="zh-CN" altLang="en-US" smtClean="0"/>
              <a:t>使用默认的构造方法初始化对象时，如果在类声明中没有给实例变量赋初值，则对象的属性值为零或空</a:t>
            </a:r>
          </a:p>
        </p:txBody>
      </p:sp>
      <p:sp>
        <p:nvSpPr>
          <p:cNvPr id="24580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3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构造方法</a:t>
            </a:r>
          </a:p>
        </p:txBody>
      </p:sp>
      <p:sp>
        <p:nvSpPr>
          <p:cNvPr id="24581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构造方法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续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)</a:t>
            </a:r>
            <a:b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en-GB" altLang="zh-CN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——</a:t>
            </a:r>
            <a:r>
              <a:rPr lang="zh-CN" altLang="en-GB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默认构造方法</a:t>
            </a:r>
          </a:p>
        </p:txBody>
      </p:sp>
    </p:spTree>
    <p:extLst>
      <p:ext uri="{BB962C8B-B14F-4D97-AF65-F5344CB8AC3E}">
        <p14:creationId xmlns="" xmlns:p14="http://schemas.microsoft.com/office/powerpoint/2010/main" val="2009990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2B4C17A3-9F6F-4E25-B314-114F67F0D1A1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91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5603" name="Rectangle 6"/>
          <p:cNvSpPr>
            <a:spLocks noChangeArrowheads="1"/>
          </p:cNvSpPr>
          <p:nvPr/>
        </p:nvSpPr>
        <p:spPr bwMode="auto">
          <a:xfrm>
            <a:off x="7620000" y="4953000"/>
            <a:ext cx="1524000" cy="1295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99592" y="1258533"/>
            <a:ext cx="8054975" cy="5410827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smtClean="0"/>
              <a:t>声明一个银行帐号类及测试代码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Font typeface="Georgia" pitchFamily="18" charset="0"/>
              <a:buNone/>
            </a:pPr>
            <a:r>
              <a:rPr lang="en-US" altLang="zh-CN" sz="2000" smtClean="0"/>
              <a:t>public class BankAccount{</a:t>
            </a:r>
          </a:p>
          <a:p>
            <a:pPr lvl="1" eaLnBrk="1" hangingPunct="1">
              <a:lnSpc>
                <a:spcPct val="80000"/>
              </a:lnSpc>
              <a:buFont typeface="Georgia" pitchFamily="18" charset="0"/>
              <a:buNone/>
            </a:pPr>
            <a:r>
              <a:rPr lang="en-US" altLang="zh-CN" sz="2000" smtClean="0"/>
              <a:t>	String　 </a:t>
            </a:r>
            <a:r>
              <a:rPr lang="en-US" altLang="zh-CN" sz="2000" smtClean="0">
                <a:solidFill>
                  <a:schemeClr val="hlink"/>
                </a:solidFill>
              </a:rPr>
              <a:t>ownerName</a:t>
            </a:r>
            <a:r>
              <a:rPr lang="en-US" altLang="zh-CN" sz="2000" smtClean="0"/>
              <a:t>;</a:t>
            </a:r>
          </a:p>
          <a:p>
            <a:pPr lvl="1" eaLnBrk="1" hangingPunct="1">
              <a:lnSpc>
                <a:spcPct val="80000"/>
              </a:lnSpc>
              <a:buFont typeface="Georgia" pitchFamily="18" charset="0"/>
              <a:buNone/>
            </a:pPr>
            <a:r>
              <a:rPr lang="en-US" altLang="zh-CN" sz="2000" smtClean="0"/>
              <a:t>    int　　   </a:t>
            </a:r>
            <a:r>
              <a:rPr lang="en-US" altLang="zh-CN" sz="2000" smtClean="0">
                <a:solidFill>
                  <a:schemeClr val="hlink"/>
                </a:solidFill>
              </a:rPr>
              <a:t>accountNumber</a:t>
            </a:r>
            <a:r>
              <a:rPr lang="en-US" altLang="zh-CN" sz="2000" smtClean="0"/>
              <a:t>;</a:t>
            </a:r>
          </a:p>
          <a:p>
            <a:pPr lvl="1" eaLnBrk="1" hangingPunct="1">
              <a:lnSpc>
                <a:spcPct val="80000"/>
              </a:lnSpc>
              <a:buFont typeface="Georgia" pitchFamily="18" charset="0"/>
              <a:buNone/>
            </a:pPr>
            <a:r>
              <a:rPr lang="en-US" altLang="zh-CN" sz="2000" smtClean="0"/>
              <a:t>    float      </a:t>
            </a:r>
            <a:r>
              <a:rPr lang="en-US" altLang="zh-CN" sz="2000" smtClean="0">
                <a:solidFill>
                  <a:srgbClr val="00FF00"/>
                </a:solidFill>
              </a:rPr>
              <a:t> </a:t>
            </a:r>
            <a:r>
              <a:rPr lang="en-US" altLang="zh-CN" sz="2000" smtClean="0">
                <a:solidFill>
                  <a:schemeClr val="hlink"/>
                </a:solidFill>
              </a:rPr>
              <a:t>balance</a:t>
            </a:r>
            <a:r>
              <a:rPr lang="en-US" altLang="zh-CN" sz="2000" smtClean="0"/>
              <a:t>;</a:t>
            </a:r>
          </a:p>
          <a:p>
            <a:pPr lvl="1" eaLnBrk="1" hangingPunct="1">
              <a:lnSpc>
                <a:spcPct val="80000"/>
              </a:lnSpc>
              <a:buFont typeface="Georgia" pitchFamily="18" charset="0"/>
              <a:buNone/>
            </a:pPr>
            <a:r>
              <a:rPr lang="en-US" altLang="zh-CN" sz="2000" smtClean="0"/>
              <a:t>}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Font typeface="Georgia" pitchFamily="18" charset="0"/>
              <a:buNone/>
            </a:pPr>
            <a:r>
              <a:rPr lang="en-US" altLang="zh-CN" sz="2000" smtClean="0"/>
              <a:t>public class BankTester{</a:t>
            </a:r>
          </a:p>
          <a:p>
            <a:pPr lvl="1" eaLnBrk="1" hangingPunct="1">
              <a:lnSpc>
                <a:spcPct val="80000"/>
              </a:lnSpc>
              <a:buFont typeface="Georgia" pitchFamily="18" charset="0"/>
              <a:buNone/>
            </a:pPr>
            <a:r>
              <a:rPr lang="en-US" altLang="zh-CN" sz="2000" smtClean="0"/>
              <a:t>     public static void main(String args[]){		</a:t>
            </a:r>
          </a:p>
          <a:p>
            <a:pPr lvl="1" eaLnBrk="1" hangingPunct="1">
              <a:lnSpc>
                <a:spcPct val="80000"/>
              </a:lnSpc>
              <a:buFont typeface="Georgia" pitchFamily="18" charset="0"/>
              <a:buNone/>
            </a:pPr>
            <a:r>
              <a:rPr lang="en-US" altLang="zh-CN" sz="2000" smtClean="0"/>
              <a:t>       BankAccount </a:t>
            </a:r>
            <a:r>
              <a:rPr lang="en-US" altLang="zh-CN" sz="2000" smtClean="0">
                <a:solidFill>
                  <a:schemeClr val="tx2"/>
                </a:solidFill>
              </a:rPr>
              <a:t>myAccount</a:t>
            </a:r>
            <a:r>
              <a:rPr lang="en-US" altLang="zh-CN" sz="2000" smtClean="0"/>
              <a:t> = new BankAccount(); 	</a:t>
            </a:r>
          </a:p>
          <a:p>
            <a:pPr lvl="1" eaLnBrk="1" hangingPunct="1">
              <a:lnSpc>
                <a:spcPct val="80000"/>
              </a:lnSpc>
              <a:buFont typeface="Georgia" pitchFamily="18" charset="0"/>
              <a:buNone/>
            </a:pPr>
            <a:r>
              <a:rPr lang="en-US" altLang="zh-CN" sz="2000" smtClean="0"/>
              <a:t>       System.out.println("ownerName=" + </a:t>
            </a:r>
          </a:p>
          <a:p>
            <a:pPr lvl="1" eaLnBrk="1" hangingPunct="1">
              <a:lnSpc>
                <a:spcPct val="80000"/>
              </a:lnSpc>
              <a:buFont typeface="Georgia" pitchFamily="18" charset="0"/>
              <a:buNone/>
            </a:pPr>
            <a:r>
              <a:rPr lang="en-US" altLang="zh-CN" sz="2000" smtClean="0"/>
              <a:t> 						</a:t>
            </a:r>
            <a:r>
              <a:rPr lang="en-US" altLang="zh-CN" sz="2000" smtClean="0">
                <a:solidFill>
                  <a:schemeClr val="tx2"/>
                </a:solidFill>
              </a:rPr>
              <a:t>myAccount.</a:t>
            </a:r>
            <a:r>
              <a:rPr lang="en-US" altLang="zh-CN" sz="2000" smtClean="0">
                <a:solidFill>
                  <a:schemeClr val="hlink"/>
                </a:solidFill>
              </a:rPr>
              <a:t>ownerName</a:t>
            </a:r>
            <a:r>
              <a:rPr lang="en-US" altLang="zh-CN" sz="2000" smtClean="0"/>
              <a:t>);</a:t>
            </a:r>
          </a:p>
          <a:p>
            <a:pPr lvl="1" eaLnBrk="1" hangingPunct="1">
              <a:lnSpc>
                <a:spcPct val="80000"/>
              </a:lnSpc>
              <a:buFont typeface="Georgia" pitchFamily="18" charset="0"/>
              <a:buNone/>
            </a:pPr>
            <a:r>
              <a:rPr lang="en-US" altLang="zh-CN" sz="2000" smtClean="0"/>
              <a:t>       System.out.println("accountNumber=" +</a:t>
            </a:r>
          </a:p>
          <a:p>
            <a:pPr lvl="1" eaLnBrk="1" hangingPunct="1">
              <a:lnSpc>
                <a:spcPct val="80000"/>
              </a:lnSpc>
              <a:buFont typeface="Georgia" pitchFamily="18" charset="0"/>
              <a:buNone/>
            </a:pPr>
            <a:r>
              <a:rPr lang="en-US" altLang="zh-CN" sz="2000" smtClean="0"/>
              <a:t>                                                           </a:t>
            </a:r>
            <a:r>
              <a:rPr lang="en-US" altLang="zh-CN" sz="2000" smtClean="0">
                <a:solidFill>
                  <a:schemeClr val="tx2"/>
                </a:solidFill>
              </a:rPr>
              <a:t>myAccount.</a:t>
            </a:r>
            <a:r>
              <a:rPr lang="en-US" altLang="zh-CN" sz="2000" smtClean="0">
                <a:solidFill>
                  <a:schemeClr val="hlink"/>
                </a:solidFill>
              </a:rPr>
              <a:t>accountNumber</a:t>
            </a:r>
            <a:r>
              <a:rPr lang="en-US" altLang="zh-CN" sz="2000" smtClean="0"/>
              <a:t>);</a:t>
            </a:r>
          </a:p>
          <a:p>
            <a:pPr lvl="1" eaLnBrk="1" hangingPunct="1">
              <a:lnSpc>
                <a:spcPct val="80000"/>
              </a:lnSpc>
              <a:buFont typeface="Georgia" pitchFamily="18" charset="0"/>
              <a:buNone/>
            </a:pPr>
            <a:r>
              <a:rPr lang="en-US" altLang="zh-CN" sz="2000" smtClean="0"/>
              <a:t>	   System.out.println("balance=" + </a:t>
            </a:r>
            <a:r>
              <a:rPr lang="en-US" altLang="zh-CN" sz="2000" smtClean="0">
                <a:solidFill>
                  <a:schemeClr val="tx2"/>
                </a:solidFill>
              </a:rPr>
              <a:t>myAccount.</a:t>
            </a:r>
            <a:r>
              <a:rPr lang="en-US" altLang="zh-CN" sz="2000" smtClean="0">
                <a:solidFill>
                  <a:schemeClr val="hlink"/>
                </a:solidFill>
              </a:rPr>
              <a:t>balance</a:t>
            </a:r>
            <a:r>
              <a:rPr lang="en-US" altLang="zh-CN" sz="2000" smtClean="0"/>
              <a:t>);</a:t>
            </a:r>
          </a:p>
          <a:p>
            <a:pPr lvl="1" eaLnBrk="1" hangingPunct="1">
              <a:lnSpc>
                <a:spcPct val="80000"/>
              </a:lnSpc>
              <a:buFont typeface="Georgia" pitchFamily="18" charset="0"/>
              <a:buNone/>
            </a:pPr>
            <a:r>
              <a:rPr lang="en-US" altLang="zh-CN" sz="2000" smtClean="0"/>
              <a:t>	}</a:t>
            </a:r>
          </a:p>
          <a:p>
            <a:pPr lvl="1" eaLnBrk="1" hangingPunct="1">
              <a:lnSpc>
                <a:spcPct val="80000"/>
              </a:lnSpc>
              <a:buFont typeface="Georgia" pitchFamily="18" charset="0"/>
              <a:buNone/>
            </a:pPr>
            <a:r>
              <a:rPr lang="en-US" altLang="zh-CN" sz="2000" smtClean="0"/>
              <a:t>}</a:t>
            </a:r>
            <a:endParaRPr lang="zh-CN" altLang="en-US" sz="2000" smtClean="0"/>
          </a:p>
        </p:txBody>
      </p:sp>
      <p:sp>
        <p:nvSpPr>
          <p:cNvPr id="25605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3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构造方法</a:t>
            </a:r>
          </a:p>
        </p:txBody>
      </p:sp>
      <p:sp>
        <p:nvSpPr>
          <p:cNvPr id="25606" name="Rectangle 2"/>
          <p:cNvSpPr>
            <a:spLocks noChangeArrowheads="1"/>
          </p:cNvSpPr>
          <p:nvPr/>
        </p:nvSpPr>
        <p:spPr bwMode="auto">
          <a:xfrm>
            <a:off x="457200" y="214312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构造方法</a:t>
            </a:r>
            <a:r>
              <a:rPr lang="en-GB" altLang="zh-CN" sz="36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GB" sz="36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续</a:t>
            </a:r>
            <a:r>
              <a:rPr lang="en-GB" altLang="zh-CN" sz="36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)</a:t>
            </a:r>
            <a:br>
              <a:rPr lang="en-GB" altLang="zh-CN" sz="36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en-GB" altLang="zh-CN" sz="28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——</a:t>
            </a:r>
            <a:r>
              <a:rPr lang="zh-CN" altLang="en-GB" sz="28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例</a:t>
            </a:r>
            <a:r>
              <a:rPr lang="en-GB" altLang="zh-CN" sz="28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GB" sz="28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默认构造方法</a:t>
            </a:r>
            <a:r>
              <a:rPr lang="en-GB" altLang="zh-CN" sz="2800" dirty="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)</a:t>
            </a:r>
          </a:p>
        </p:txBody>
      </p:sp>
    </p:spTree>
    <p:extLst>
      <p:ext uri="{BB962C8B-B14F-4D97-AF65-F5344CB8AC3E}">
        <p14:creationId xmlns="" xmlns:p14="http://schemas.microsoft.com/office/powerpoint/2010/main" val="202312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838EBE2F-7525-42EC-A032-D624CA6E0A30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92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zh-CN" altLang="en-US" smtClean="0"/>
              <a:t>运行结果</a:t>
            </a:r>
          </a:p>
          <a:p>
            <a:pPr lvl="1" eaLnBrk="1" hangingPunct="1">
              <a:buFont typeface="Georgia" pitchFamily="18" charset="0"/>
              <a:buNone/>
            </a:pPr>
            <a:r>
              <a:rPr lang="en-US" altLang="zh-CN" smtClean="0"/>
              <a:t>ownerName=null</a:t>
            </a:r>
          </a:p>
          <a:p>
            <a:pPr lvl="1" eaLnBrk="1" hangingPunct="1">
              <a:buFont typeface="Georgia" pitchFamily="18" charset="0"/>
              <a:buNone/>
            </a:pPr>
            <a:r>
              <a:rPr lang="en-US" altLang="zh-CN" smtClean="0"/>
              <a:t>accountNumber=0</a:t>
            </a:r>
          </a:p>
          <a:p>
            <a:pPr lvl="1" eaLnBrk="1" hangingPunct="1">
              <a:buFont typeface="Georgia" pitchFamily="18" charset="0"/>
              <a:buNone/>
            </a:pPr>
            <a:r>
              <a:rPr lang="en-US" altLang="zh-CN" smtClean="0"/>
              <a:t>balance=0.0</a:t>
            </a:r>
          </a:p>
          <a:p>
            <a:pPr lvl="1" eaLnBrk="1" hangingPunct="1">
              <a:buFont typeface="Georgia" pitchFamily="18" charset="0"/>
              <a:buNone/>
            </a:pPr>
            <a:endParaRPr lang="zh-CN" altLang="en-US" smtClean="0"/>
          </a:p>
        </p:txBody>
      </p:sp>
      <p:sp>
        <p:nvSpPr>
          <p:cNvPr id="26628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3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构造方法</a:t>
            </a:r>
          </a:p>
        </p:txBody>
      </p:sp>
      <p:sp>
        <p:nvSpPr>
          <p:cNvPr id="26629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构造方法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续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)</a:t>
            </a:r>
            <a:b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en-GB" altLang="zh-CN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——</a:t>
            </a:r>
            <a:r>
              <a:rPr lang="zh-CN" altLang="en-GB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例</a:t>
            </a:r>
            <a:r>
              <a:rPr lang="en-GB" altLang="zh-CN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 </a:t>
            </a:r>
            <a:r>
              <a:rPr lang="zh-CN" altLang="en-GB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运行结果</a:t>
            </a:r>
          </a:p>
        </p:txBody>
      </p:sp>
    </p:spTree>
    <p:extLst>
      <p:ext uri="{BB962C8B-B14F-4D97-AF65-F5344CB8AC3E}">
        <p14:creationId xmlns="" xmlns:p14="http://schemas.microsoft.com/office/powerpoint/2010/main" val="161127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E315C21-8CF4-4EE2-91C9-0A6612C6BE04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93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6425" y="2060848"/>
            <a:ext cx="7931150" cy="3880842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自定义构造方法与方法重载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/>
              <a:t>可在生成对象时给构造方法传送初始值，使用希望的值给对象初始化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/>
              <a:t>构造方法可以被重载，构造方法的重载和方法的重载一致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/>
              <a:t>一个类中有两个及以上同名的方法，但参数表不同，这种情况就被称为方法重载。在方法调用时，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可以通过参数列表的不同来辨别应调用哪一个方法</a:t>
            </a:r>
          </a:p>
        </p:txBody>
      </p:sp>
      <p:sp>
        <p:nvSpPr>
          <p:cNvPr id="27652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3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构造方法</a:t>
            </a:r>
          </a:p>
        </p:txBody>
      </p:sp>
      <p:sp>
        <p:nvSpPr>
          <p:cNvPr id="27653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构造方法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续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)</a:t>
            </a:r>
            <a:b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en-GB" altLang="zh-CN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——</a:t>
            </a:r>
            <a:r>
              <a:rPr lang="zh-CN" altLang="en-GB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自定义构造方法</a:t>
            </a:r>
          </a:p>
        </p:txBody>
      </p:sp>
    </p:spTree>
    <p:extLst>
      <p:ext uri="{BB962C8B-B14F-4D97-AF65-F5344CB8AC3E}">
        <p14:creationId xmlns="" xmlns:p14="http://schemas.microsoft.com/office/powerpoint/2010/main" val="388711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8082760-E9C3-4FA5-8DD5-CD72DD36DD68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94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31351" y="1556792"/>
            <a:ext cx="7931150" cy="4600922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 smtClean="0"/>
              <a:t>为</a:t>
            </a:r>
            <a:r>
              <a:rPr lang="en-US" altLang="zh-CN" sz="2400" dirty="0" err="1" smtClean="0"/>
              <a:t>BankAccount</a:t>
            </a:r>
            <a:r>
              <a:rPr lang="zh-CN" altLang="en-US" sz="2400" dirty="0" smtClean="0"/>
              <a:t>声明一个有三个参数的构造方法</a:t>
            </a:r>
          </a:p>
          <a:p>
            <a:pPr lvl="1" eaLnBrk="1" hangingPunct="1">
              <a:lnSpc>
                <a:spcPct val="90000"/>
              </a:lnSpc>
              <a:spcBef>
                <a:spcPct val="45000"/>
              </a:spcBef>
              <a:buFont typeface="Georgia" pitchFamily="18" charset="0"/>
              <a:buNone/>
            </a:pPr>
            <a:r>
              <a:rPr lang="en-US" altLang="zh-CN" sz="1700" dirty="0" smtClean="0"/>
              <a:t>public </a:t>
            </a:r>
            <a:r>
              <a:rPr lang="en-US" altLang="zh-CN" sz="1700" dirty="0" err="1" smtClean="0"/>
              <a:t>BankAccount</a:t>
            </a:r>
            <a:r>
              <a:rPr lang="en-US" altLang="zh-CN" sz="1700" dirty="0" smtClean="0"/>
              <a:t>(String </a:t>
            </a:r>
            <a:r>
              <a:rPr lang="en-US" altLang="zh-CN" sz="1700" dirty="0" err="1" smtClean="0"/>
              <a:t>initName</a:t>
            </a:r>
            <a:r>
              <a:rPr lang="en-US" altLang="zh-CN" sz="1700" dirty="0" smtClean="0"/>
              <a:t>, </a:t>
            </a:r>
            <a:r>
              <a:rPr lang="en-US" altLang="zh-CN" sz="1700" dirty="0" err="1" smtClean="0"/>
              <a:t>int</a:t>
            </a:r>
            <a:r>
              <a:rPr lang="en-US" altLang="zh-CN" sz="1700" dirty="0" smtClean="0"/>
              <a:t> </a:t>
            </a:r>
            <a:r>
              <a:rPr lang="en-US" altLang="zh-CN" sz="1700" dirty="0" err="1" smtClean="0"/>
              <a:t>initAccountNumber</a:t>
            </a:r>
            <a:r>
              <a:rPr lang="en-US" altLang="zh-CN" sz="1700" dirty="0" smtClean="0"/>
              <a:t>, float </a:t>
            </a:r>
            <a:r>
              <a:rPr lang="en-US" altLang="zh-CN" sz="1700" dirty="0" err="1" smtClean="0"/>
              <a:t>initBalance</a:t>
            </a:r>
            <a:r>
              <a:rPr lang="en-US" altLang="zh-CN" sz="1700" dirty="0" smtClean="0"/>
              <a:t>) {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1700" dirty="0" smtClean="0"/>
              <a:t>         </a:t>
            </a:r>
            <a:r>
              <a:rPr lang="en-US" altLang="zh-CN" sz="1700" dirty="0" err="1" smtClean="0"/>
              <a:t>ownerName</a:t>
            </a:r>
            <a:r>
              <a:rPr lang="en-US" altLang="zh-CN" sz="1700" dirty="0" smtClean="0"/>
              <a:t> = </a:t>
            </a:r>
            <a:r>
              <a:rPr lang="en-US" altLang="zh-CN" sz="1700" dirty="0" err="1" smtClean="0"/>
              <a:t>initName</a:t>
            </a:r>
            <a:r>
              <a:rPr lang="en-US" altLang="zh-CN" sz="1700" dirty="0" smtClean="0"/>
              <a:t>;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1700" dirty="0" smtClean="0"/>
              <a:t>         </a:t>
            </a:r>
            <a:r>
              <a:rPr lang="en-US" altLang="zh-CN" sz="1700" dirty="0" err="1" smtClean="0"/>
              <a:t>accountNumber</a:t>
            </a:r>
            <a:r>
              <a:rPr lang="en-US" altLang="zh-CN" sz="1700" dirty="0" smtClean="0"/>
              <a:t> = </a:t>
            </a:r>
            <a:r>
              <a:rPr lang="en-US" altLang="zh-CN" sz="1700" dirty="0" err="1" smtClean="0"/>
              <a:t>initAccountNumber</a:t>
            </a:r>
            <a:r>
              <a:rPr lang="en-US" altLang="zh-CN" sz="1700" dirty="0" smtClean="0"/>
              <a:t>;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1700" dirty="0" smtClean="0"/>
              <a:t>         balance = </a:t>
            </a:r>
            <a:r>
              <a:rPr lang="en-US" altLang="zh-CN" sz="1700" dirty="0" err="1" smtClean="0"/>
              <a:t>initBalance</a:t>
            </a:r>
            <a:r>
              <a:rPr lang="en-US" altLang="zh-CN" sz="1700" dirty="0" smtClean="0"/>
              <a:t>;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1700" dirty="0" smtClean="0"/>
              <a:t>  }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/>
              <a:t>假设一个新帐号的初始余额可以为0，则可增加一个带有两个参数的构造方法</a:t>
            </a:r>
          </a:p>
          <a:p>
            <a:pPr lvl="1" eaLnBrk="1" hangingPunct="1">
              <a:lnSpc>
                <a:spcPct val="90000"/>
              </a:lnSpc>
              <a:spcBef>
                <a:spcPct val="45000"/>
              </a:spcBef>
              <a:buFont typeface="Georgia" pitchFamily="18" charset="0"/>
              <a:buNone/>
            </a:pPr>
            <a:r>
              <a:rPr lang="en-US" altLang="zh-CN" sz="1700" dirty="0" smtClean="0"/>
              <a:t>public </a:t>
            </a:r>
            <a:r>
              <a:rPr lang="en-US" altLang="zh-CN" sz="1700" dirty="0" err="1" smtClean="0"/>
              <a:t>BankAccount</a:t>
            </a:r>
            <a:r>
              <a:rPr lang="en-US" altLang="zh-CN" sz="1700" dirty="0" smtClean="0"/>
              <a:t>(String </a:t>
            </a:r>
            <a:r>
              <a:rPr lang="en-US" altLang="zh-CN" sz="1700" dirty="0" err="1" smtClean="0"/>
              <a:t>initName</a:t>
            </a:r>
            <a:r>
              <a:rPr lang="en-US" altLang="zh-CN" sz="1700" dirty="0" smtClean="0"/>
              <a:t>, </a:t>
            </a:r>
            <a:r>
              <a:rPr lang="en-US" altLang="zh-CN" sz="1700" dirty="0" err="1" smtClean="0"/>
              <a:t>int</a:t>
            </a:r>
            <a:r>
              <a:rPr lang="en-US" altLang="zh-CN" sz="1700" dirty="0" smtClean="0"/>
              <a:t> </a:t>
            </a:r>
            <a:r>
              <a:rPr lang="en-US" altLang="zh-CN" sz="1700" dirty="0" err="1" smtClean="0"/>
              <a:t>initAccountNumber</a:t>
            </a:r>
            <a:r>
              <a:rPr lang="en-US" altLang="zh-CN" sz="1700" dirty="0" smtClean="0"/>
              <a:t>) {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1700" dirty="0" smtClean="0"/>
              <a:t>        </a:t>
            </a:r>
            <a:r>
              <a:rPr lang="en-US" altLang="zh-CN" sz="1700" dirty="0" err="1" smtClean="0"/>
              <a:t>ownerName</a:t>
            </a:r>
            <a:r>
              <a:rPr lang="en-US" altLang="zh-CN" sz="1700" dirty="0" smtClean="0"/>
              <a:t> = </a:t>
            </a:r>
            <a:r>
              <a:rPr lang="en-US" altLang="zh-CN" sz="1700" dirty="0" err="1" smtClean="0"/>
              <a:t>initName</a:t>
            </a:r>
            <a:r>
              <a:rPr lang="en-US" altLang="zh-CN" sz="1700" dirty="0" smtClean="0"/>
              <a:t>;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1700" dirty="0" smtClean="0"/>
              <a:t>        </a:t>
            </a:r>
            <a:r>
              <a:rPr lang="en-US" altLang="zh-CN" sz="1700" dirty="0" err="1" smtClean="0"/>
              <a:t>accountNumber</a:t>
            </a:r>
            <a:r>
              <a:rPr lang="en-US" altLang="zh-CN" sz="1700" dirty="0" smtClean="0"/>
              <a:t> = </a:t>
            </a:r>
            <a:r>
              <a:rPr lang="en-US" altLang="zh-CN" sz="1700" dirty="0" err="1" smtClean="0"/>
              <a:t>initAccountNumber</a:t>
            </a:r>
            <a:r>
              <a:rPr lang="en-US" altLang="zh-CN" sz="1700" dirty="0" smtClean="0"/>
              <a:t>;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1700" dirty="0" smtClean="0"/>
              <a:t>        balance = 0.0f;    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1700" dirty="0" smtClean="0"/>
              <a:t>  }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endParaRPr lang="en-US" altLang="zh-CN" sz="1700" dirty="0" smtClean="0"/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endParaRPr lang="zh-CN" altLang="en-US" sz="1700" dirty="0" smtClean="0"/>
          </a:p>
        </p:txBody>
      </p:sp>
      <p:sp>
        <p:nvSpPr>
          <p:cNvPr id="28676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3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构造方法</a:t>
            </a:r>
          </a:p>
        </p:txBody>
      </p:sp>
      <p:sp>
        <p:nvSpPr>
          <p:cNvPr id="28677" name="Rectangle 2"/>
          <p:cNvSpPr>
            <a:spLocks noChangeArrowheads="1"/>
          </p:cNvSpPr>
          <p:nvPr/>
        </p:nvSpPr>
        <p:spPr bwMode="auto">
          <a:xfrm>
            <a:off x="435496" y="217369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构造方法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续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)</a:t>
            </a:r>
            <a:b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en-GB" altLang="zh-CN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——</a:t>
            </a:r>
            <a:r>
              <a:rPr lang="zh-CN" altLang="en-GB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例</a:t>
            </a:r>
            <a:endParaRPr lang="en-GB" altLang="zh-CN" sz="2800">
              <a:solidFill>
                <a:schemeClr val="tx2"/>
              </a:solidFill>
              <a:latin typeface="Trebuchet MS" pitchFamily="34" charset="0"/>
              <a:ea typeface="方正姚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590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CFEB561-3D0D-4AC3-9B90-3810C97D0085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95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6425" y="2132856"/>
            <a:ext cx="7931150" cy="3736826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dirty="0" smtClean="0"/>
              <a:t>自定义无参的构造方法</a:t>
            </a:r>
          </a:p>
          <a:p>
            <a:pPr lvl="1" eaLnBrk="1" hangingPunct="1"/>
            <a:r>
              <a:rPr lang="zh-CN" altLang="en-US" dirty="0" smtClean="0"/>
              <a:t>无参的构造方法对其子类的声明很重要。如果在一个类中不存在无参的构造方法，则要求其子类声明时必须声明构造方法，否则在子类对象的初始化时会出错</a:t>
            </a:r>
          </a:p>
        </p:txBody>
      </p:sp>
      <p:sp>
        <p:nvSpPr>
          <p:cNvPr id="29700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3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构造方法</a:t>
            </a:r>
          </a:p>
        </p:txBody>
      </p:sp>
      <p:sp>
        <p:nvSpPr>
          <p:cNvPr id="29701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构造方法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续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)</a:t>
            </a:r>
            <a:b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en-GB" altLang="zh-CN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——</a:t>
            </a:r>
            <a:r>
              <a:rPr lang="zh-CN" altLang="en-GB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自定义无参构造方法</a:t>
            </a:r>
          </a:p>
        </p:txBody>
      </p:sp>
    </p:spTree>
    <p:extLst>
      <p:ext uri="{BB962C8B-B14F-4D97-AF65-F5344CB8AC3E}">
        <p14:creationId xmlns="" xmlns:p14="http://schemas.microsoft.com/office/powerpoint/2010/main" val="1956708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B6D6A5E-6FD2-443D-8D2B-ED016C2EE98F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96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30723" name="Rectangle 5"/>
          <p:cNvSpPr>
            <a:spLocks noChangeArrowheads="1"/>
          </p:cNvSpPr>
          <p:nvPr/>
        </p:nvSpPr>
        <p:spPr bwMode="auto">
          <a:xfrm>
            <a:off x="7315200" y="5181600"/>
            <a:ext cx="990600" cy="838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628775"/>
            <a:ext cx="8066087" cy="4752975"/>
          </a:xfrm>
        </p:spPr>
        <p:txBody>
          <a:bodyPr lIns="92075" tIns="46038" rIns="92075" bIns="46038"/>
          <a:lstStyle/>
          <a:p>
            <a:pPr eaLnBrk="1" hangingPunct="1">
              <a:spcBef>
                <a:spcPct val="0"/>
              </a:spcBef>
            </a:pPr>
            <a:r>
              <a:rPr lang="zh-CN" altLang="en-GB" sz="2400" smtClean="0">
                <a:latin typeface="Arial Unicode MS" pitchFamily="34" charset="-122"/>
              </a:rPr>
              <a:t>构建一个</a:t>
            </a:r>
            <a:r>
              <a:rPr lang="en-GB" altLang="zh-CN" sz="2400" smtClean="0">
                <a:latin typeface="Arial Unicode MS" pitchFamily="34" charset="-122"/>
              </a:rPr>
              <a:t>Bush</a:t>
            </a:r>
            <a:r>
              <a:rPr lang="zh-CN" altLang="en-GB" sz="2400" smtClean="0">
                <a:latin typeface="Arial Unicode MS" pitchFamily="34" charset="-122"/>
              </a:rPr>
              <a:t>类，有两个有参数的构造方法</a:t>
            </a:r>
          </a:p>
          <a:p>
            <a:pPr lvl="1" eaLnBrk="1" hangingPunct="1">
              <a:spcBef>
                <a:spcPct val="0"/>
              </a:spcBef>
              <a:buFont typeface="Georgia" pitchFamily="18" charset="0"/>
              <a:buNone/>
            </a:pPr>
            <a:r>
              <a:rPr lang="en-GB" altLang="zh-CN" sz="2200" smtClean="0">
                <a:latin typeface="Arial Unicode MS" pitchFamily="34" charset="-122"/>
              </a:rPr>
              <a:t>class Bush { </a:t>
            </a:r>
          </a:p>
          <a:p>
            <a:pPr lvl="1" eaLnBrk="1" hangingPunct="1">
              <a:spcBef>
                <a:spcPct val="0"/>
              </a:spcBef>
              <a:buFont typeface="Georgia" pitchFamily="18" charset="0"/>
              <a:buNone/>
            </a:pPr>
            <a:r>
              <a:rPr lang="en-GB" altLang="zh-CN" sz="2200" smtClean="0">
                <a:latin typeface="Arial Unicode MS" pitchFamily="34" charset="-122"/>
              </a:rPr>
              <a:t>	Bush(int i) {}</a:t>
            </a:r>
          </a:p>
          <a:p>
            <a:pPr lvl="1" eaLnBrk="1" hangingPunct="1">
              <a:spcBef>
                <a:spcPct val="0"/>
              </a:spcBef>
              <a:buFont typeface="Georgia" pitchFamily="18" charset="0"/>
              <a:buNone/>
            </a:pPr>
            <a:r>
              <a:rPr lang="en-GB" altLang="zh-CN" sz="2200" smtClean="0">
                <a:latin typeface="Arial Unicode MS" pitchFamily="34" charset="-122"/>
              </a:rPr>
              <a:t>   Bush(double d) {} </a:t>
            </a:r>
          </a:p>
          <a:p>
            <a:pPr lvl="1" eaLnBrk="1" hangingPunct="1">
              <a:spcBef>
                <a:spcPct val="0"/>
              </a:spcBef>
              <a:buFont typeface="Georgia" pitchFamily="18" charset="0"/>
              <a:buNone/>
            </a:pPr>
            <a:r>
              <a:rPr lang="en-GB" altLang="zh-CN" sz="2200" smtClean="0">
                <a:latin typeface="Arial Unicode MS" pitchFamily="34" charset="-122"/>
              </a:rPr>
              <a:t> }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GB" sz="2200" smtClean="0"/>
              <a:t>如果写：</a:t>
            </a:r>
            <a:r>
              <a:rPr lang="en-GB" altLang="zh-CN" smtClean="0">
                <a:latin typeface="Arial Unicode MS" pitchFamily="34" charset="-122"/>
              </a:rPr>
              <a:t>new Bush();</a:t>
            </a:r>
          </a:p>
          <a:p>
            <a:pPr lvl="2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GB" altLang="zh-CN" sz="2000" smtClean="0"/>
              <a:t> </a:t>
            </a:r>
            <a:r>
              <a:rPr lang="zh-CN" altLang="en-GB" sz="2000" smtClean="0"/>
              <a:t>编译器将要告诉你找不到对应的构造方法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sz="2400" smtClean="0"/>
              <a:t>说明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200" smtClean="0"/>
              <a:t>用户在进行类声明时，如果没有声明任何构造方法，系统会赋给此类一个默认（无参）的构造方法。但是，只要用户声明了构造方法，即使没有声明无参的构造方法，系统也不再赋默认的构造方法</a:t>
            </a:r>
          </a:p>
        </p:txBody>
      </p:sp>
      <p:sp>
        <p:nvSpPr>
          <p:cNvPr id="30725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3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构造方法</a:t>
            </a: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构造方法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续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)</a:t>
            </a:r>
            <a:b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en-GB" altLang="zh-CN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——Bush.java</a:t>
            </a:r>
          </a:p>
        </p:txBody>
      </p:sp>
    </p:spTree>
    <p:extLst>
      <p:ext uri="{BB962C8B-B14F-4D97-AF65-F5344CB8AC3E}">
        <p14:creationId xmlns="" xmlns:p14="http://schemas.microsoft.com/office/powerpoint/2010/main" val="1856961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88E94445-A999-4965-B3B9-A7ABB2C32F94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97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40449" y="2132856"/>
            <a:ext cx="7931150" cy="3592810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dirty="0" smtClean="0"/>
              <a:t>在例</a:t>
            </a:r>
            <a:r>
              <a:rPr lang="en-US" altLang="zh-CN" dirty="0" smtClean="0"/>
              <a:t> </a:t>
            </a:r>
            <a:r>
              <a:rPr lang="zh-CN" altLang="en-US" dirty="0" smtClean="0"/>
              <a:t>基础上再声明一个无参的构造方法</a:t>
            </a:r>
          </a:p>
          <a:p>
            <a:pPr lvl="1" eaLnBrk="1" hangingPunct="1">
              <a:buFont typeface="Georgia" pitchFamily="18" charset="0"/>
              <a:buNone/>
            </a:pPr>
            <a:r>
              <a:rPr lang="en-US" altLang="zh-CN" dirty="0" smtClean="0"/>
              <a:t>public </a:t>
            </a:r>
            <a:r>
              <a:rPr lang="en-US" altLang="zh-CN" dirty="0" err="1" smtClean="0"/>
              <a:t>BankAccount</a:t>
            </a:r>
            <a:r>
              <a:rPr lang="en-US" altLang="zh-CN" dirty="0" smtClean="0"/>
              <a:t>() { </a:t>
            </a:r>
          </a:p>
          <a:p>
            <a:pPr lvl="1" eaLnBrk="1" hangingPunct="1">
              <a:buFont typeface="Georgia" pitchFamily="18" charset="0"/>
              <a:buNone/>
            </a:pPr>
            <a:r>
              <a:rPr lang="en-US" altLang="zh-CN" dirty="0" smtClean="0"/>
              <a:t>        </a:t>
            </a:r>
            <a:r>
              <a:rPr lang="en-US" altLang="zh-CN" dirty="0" err="1" smtClean="0"/>
              <a:t>ownerName</a:t>
            </a:r>
            <a:r>
              <a:rPr lang="en-US" altLang="zh-CN" dirty="0" smtClean="0"/>
              <a:t> = ""; </a:t>
            </a:r>
          </a:p>
          <a:p>
            <a:pPr lvl="1" eaLnBrk="1" hangingPunct="1">
              <a:buFont typeface="Georgia" pitchFamily="18" charset="0"/>
              <a:buNone/>
            </a:pPr>
            <a:r>
              <a:rPr lang="en-US" altLang="zh-CN" dirty="0" smtClean="0"/>
              <a:t>        </a:t>
            </a:r>
            <a:r>
              <a:rPr lang="en-US" altLang="zh-CN" dirty="0" err="1" smtClean="0"/>
              <a:t>accountNumber</a:t>
            </a:r>
            <a:r>
              <a:rPr lang="en-US" altLang="zh-CN" dirty="0" smtClean="0"/>
              <a:t> = 999999; </a:t>
            </a:r>
          </a:p>
          <a:p>
            <a:pPr lvl="1" eaLnBrk="1" hangingPunct="1">
              <a:buFont typeface="Georgia" pitchFamily="18" charset="0"/>
              <a:buNone/>
            </a:pPr>
            <a:r>
              <a:rPr lang="en-US" altLang="zh-CN" dirty="0" smtClean="0"/>
              <a:t>        balance = 0.0f; </a:t>
            </a:r>
          </a:p>
          <a:p>
            <a:pPr lvl="1" eaLnBrk="1" hangingPunct="1">
              <a:buFont typeface="Georgia" pitchFamily="18" charset="0"/>
              <a:buNone/>
            </a:pPr>
            <a:r>
              <a:rPr lang="en-US" altLang="zh-CN" dirty="0" smtClean="0"/>
              <a:t>    } </a:t>
            </a:r>
          </a:p>
          <a:p>
            <a:pPr lvl="1" eaLnBrk="1" hangingPunct="1">
              <a:buFont typeface="Georgia" pitchFamily="18" charset="0"/>
              <a:buNone/>
            </a:pPr>
            <a:endParaRPr lang="zh-CN" altLang="en-US" dirty="0" smtClean="0"/>
          </a:p>
        </p:txBody>
      </p:sp>
      <p:sp>
        <p:nvSpPr>
          <p:cNvPr id="31748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3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构造方法</a:t>
            </a:r>
          </a:p>
        </p:txBody>
      </p:sp>
      <p:sp>
        <p:nvSpPr>
          <p:cNvPr id="31749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构造方法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(</a:t>
            </a:r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续</a:t>
            </a: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)</a:t>
            </a:r>
            <a:b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en-GB" altLang="zh-CN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——</a:t>
            </a:r>
            <a:r>
              <a:rPr lang="zh-CN" altLang="en-GB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例</a:t>
            </a:r>
            <a:endParaRPr lang="en-GB" altLang="zh-CN" sz="2800">
              <a:solidFill>
                <a:schemeClr val="tx2"/>
              </a:solidFill>
              <a:latin typeface="Trebuchet MS" pitchFamily="34" charset="0"/>
              <a:ea typeface="方正姚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10322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560000C-A74D-42A8-A739-C8727FB783AE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98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zh-CN" altLang="en-GB" smtClean="0"/>
              <a:t>目录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zh-CN" altLang="en-US" smtClean="0"/>
              <a:t>2.1 方法重载</a:t>
            </a:r>
            <a:endParaRPr lang="en-US" altLang="zh-CN" smtClean="0"/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zh-CN" altLang="en-US" smtClean="0"/>
              <a:t>2.</a:t>
            </a:r>
            <a:r>
              <a:rPr lang="en-US" altLang="zh-CN" smtClean="0"/>
              <a:t>2</a:t>
            </a:r>
            <a:r>
              <a:rPr lang="zh-CN" altLang="en-US" smtClean="0"/>
              <a:t> 类的访问控制</a:t>
            </a:r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en-US" altLang="zh-CN" smtClean="0"/>
              <a:t>2.3 </a:t>
            </a:r>
            <a:r>
              <a:rPr lang="zh-CN" altLang="en-US" smtClean="0"/>
              <a:t>构造方法</a:t>
            </a:r>
            <a:endParaRPr lang="zh-CN" altLang="en-GB" smtClean="0"/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zh-CN" altLang="en-US" smtClean="0"/>
              <a:t>2.</a:t>
            </a:r>
            <a:r>
              <a:rPr lang="en-US" altLang="zh-CN" smtClean="0"/>
              <a:t>4 </a:t>
            </a:r>
            <a:r>
              <a:rPr lang="zh-CN" altLang="en-US" smtClean="0">
                <a:solidFill>
                  <a:srgbClr val="FF0000"/>
                </a:solidFill>
              </a:rPr>
              <a:t>类变量 </a:t>
            </a:r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en-US" altLang="zh-CN" smtClean="0"/>
              <a:t>2.5 </a:t>
            </a:r>
            <a:r>
              <a:rPr lang="zh-CN" altLang="en-US" smtClean="0"/>
              <a:t>应用举例</a:t>
            </a:r>
          </a:p>
        </p:txBody>
      </p:sp>
    </p:spTree>
    <p:extLst>
      <p:ext uri="{BB962C8B-B14F-4D97-AF65-F5344CB8AC3E}">
        <p14:creationId xmlns="" xmlns:p14="http://schemas.microsoft.com/office/powerpoint/2010/main" val="703778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56D6811B-C23D-4662-88C5-0ED867281048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99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19113" y="981075"/>
            <a:ext cx="8229600" cy="4787900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sz="2400" smtClean="0"/>
              <a:t>类变量</a:t>
            </a:r>
          </a:p>
          <a:p>
            <a:pPr lvl="1" eaLnBrk="1" hangingPunct="1"/>
            <a:r>
              <a:rPr lang="zh-CN" altLang="en-US" sz="2200" smtClean="0"/>
              <a:t>也称为静态变量，声明时需加</a:t>
            </a:r>
            <a:r>
              <a:rPr lang="en-US" altLang="zh-CN" sz="2200" smtClean="0">
                <a:solidFill>
                  <a:schemeClr val="hlink"/>
                </a:solidFill>
              </a:rPr>
              <a:t>static</a:t>
            </a:r>
            <a:r>
              <a:rPr lang="zh-CN" altLang="en-US" sz="2200" smtClean="0"/>
              <a:t>修饰符</a:t>
            </a:r>
          </a:p>
          <a:p>
            <a:pPr lvl="1" eaLnBrk="1" hangingPunct="1"/>
            <a:r>
              <a:rPr lang="zh-CN" altLang="en-US" sz="2200" smtClean="0"/>
              <a:t>不管类的对象有多少，类变量只存在一份，在整个类中只有一个值</a:t>
            </a:r>
          </a:p>
          <a:p>
            <a:pPr lvl="1" eaLnBrk="1" hangingPunct="1"/>
            <a:r>
              <a:rPr lang="zh-CN" altLang="en-US" sz="2200" smtClean="0"/>
              <a:t>类初始化的同时就被赋值</a:t>
            </a:r>
          </a:p>
          <a:p>
            <a:pPr lvl="1" eaLnBrk="1" hangingPunct="1"/>
            <a:r>
              <a:rPr lang="zh-CN" altLang="en-US" sz="2200" smtClean="0"/>
              <a:t>适用情况</a:t>
            </a:r>
          </a:p>
          <a:p>
            <a:pPr lvl="2" eaLnBrk="1" hangingPunct="1"/>
            <a:r>
              <a:rPr lang="zh-CN" altLang="en-US" sz="2000" smtClean="0"/>
              <a:t>类中所有对象都相同的属性</a:t>
            </a:r>
          </a:p>
          <a:p>
            <a:pPr lvl="2" eaLnBrk="1" hangingPunct="1"/>
            <a:r>
              <a:rPr lang="zh-CN" altLang="en-US" sz="2000" smtClean="0"/>
              <a:t>经常需要共享的数据</a:t>
            </a:r>
          </a:p>
          <a:p>
            <a:pPr lvl="2" eaLnBrk="1" hangingPunct="1"/>
            <a:r>
              <a:rPr lang="zh-CN" altLang="en-US" sz="2000" smtClean="0"/>
              <a:t>系统中用到的一些常量值</a:t>
            </a:r>
          </a:p>
          <a:p>
            <a:pPr lvl="1" eaLnBrk="1" hangingPunct="1"/>
            <a:r>
              <a:rPr lang="zh-CN" altLang="en-US" sz="2200" smtClean="0"/>
              <a:t>引用格式</a:t>
            </a:r>
          </a:p>
          <a:p>
            <a:pPr lvl="2" eaLnBrk="1" hangingPunct="1">
              <a:buFont typeface="Wingdings 2" pitchFamily="18" charset="2"/>
              <a:buNone/>
            </a:pPr>
            <a:r>
              <a:rPr lang="zh-CN" altLang="en-US" sz="2000" smtClean="0"/>
              <a:t>&lt;类名 | 实例名&gt;</a:t>
            </a:r>
            <a:r>
              <a:rPr lang="zh-CN" altLang="en-US" sz="2000" b="1" smtClean="0"/>
              <a:t>.</a:t>
            </a:r>
            <a:r>
              <a:rPr lang="zh-CN" altLang="en-US" sz="2000" smtClean="0"/>
              <a:t>&lt;类变量名&gt;</a:t>
            </a:r>
          </a:p>
        </p:txBody>
      </p:sp>
      <p:sp>
        <p:nvSpPr>
          <p:cNvPr id="33796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4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类变量</a:t>
            </a:r>
          </a:p>
        </p:txBody>
      </p:sp>
    </p:spTree>
    <p:extLst>
      <p:ext uri="{BB962C8B-B14F-4D97-AF65-F5344CB8AC3E}">
        <p14:creationId xmlns="" xmlns:p14="http://schemas.microsoft.com/office/powerpoint/2010/main" val="2237335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/>
            <a:fld id="{E3EB3B14-38B9-4086-A0F9-53EDD96D6387}" type="slidenum">
              <a:rPr lang="en-US" altLang="zh-CN" sz="1800" smtClean="0">
                <a:solidFill>
                  <a:srgbClr val="FFFFFF"/>
                </a:solidFill>
              </a:rPr>
              <a:pPr eaLnBrk="1" hangingPunct="1"/>
              <a:t>100</a:t>
            </a:fld>
            <a:endParaRPr lang="en-US" altLang="zh-CN" sz="1800" smtClean="0">
              <a:solidFill>
                <a:srgbClr val="FFFFFF"/>
              </a:solidFill>
            </a:endParaRPr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1350963"/>
            <a:ext cx="8024813" cy="446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820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4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类变量</a:t>
            </a:r>
          </a:p>
        </p:txBody>
      </p:sp>
    </p:spTree>
    <p:extLst>
      <p:ext uri="{BB962C8B-B14F-4D97-AF65-F5344CB8AC3E}">
        <p14:creationId xmlns="" xmlns:p14="http://schemas.microsoft.com/office/powerpoint/2010/main" val="388803831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60D71DA2-BB42-407B-8D05-957FA6BFC668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101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68413"/>
            <a:ext cx="8229600" cy="47879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smtClean="0"/>
              <a:t>对于一个圆类的所有对象，计算圆的面积时，都需用到</a:t>
            </a:r>
            <a:r>
              <a:rPr lang="en-US" altLang="zh-CN" sz="2400" smtClean="0">
                <a:solidFill>
                  <a:schemeClr val="tx2"/>
                </a:solidFill>
              </a:rPr>
              <a:t>π</a:t>
            </a:r>
            <a:r>
              <a:rPr lang="zh-CN" altLang="en-US" sz="2400" smtClean="0"/>
              <a:t>的值，可在</a:t>
            </a:r>
            <a:r>
              <a:rPr lang="en-US" altLang="zh-CN" sz="2400" smtClean="0">
                <a:solidFill>
                  <a:schemeClr val="tx2"/>
                </a:solidFill>
              </a:rPr>
              <a:t>Circle</a:t>
            </a:r>
            <a:r>
              <a:rPr lang="zh-CN" altLang="en-US" sz="2400" smtClean="0"/>
              <a:t>类的声明中增加一个类属性</a:t>
            </a:r>
            <a:r>
              <a:rPr lang="en-US" altLang="zh-CN" sz="2400" smtClean="0">
                <a:solidFill>
                  <a:schemeClr val="tx2"/>
                </a:solidFill>
              </a:rPr>
              <a:t>PI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Georgia" pitchFamily="18" charset="0"/>
              <a:buNone/>
            </a:pPr>
            <a:r>
              <a:rPr lang="en-US" altLang="zh-CN" sz="2200" smtClean="0"/>
              <a:t>public class Circle {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200" smtClean="0"/>
              <a:t>   </a:t>
            </a:r>
            <a:r>
              <a:rPr lang="en-US" altLang="zh-CN" sz="2200" smtClean="0">
                <a:solidFill>
                  <a:schemeClr val="hlink"/>
                </a:solidFill>
              </a:rPr>
              <a:t>static</a:t>
            </a:r>
            <a:r>
              <a:rPr lang="en-US" altLang="zh-CN" sz="2200" smtClean="0"/>
              <a:t> double </a:t>
            </a:r>
            <a:r>
              <a:rPr lang="en-US" altLang="zh-CN" sz="2200" smtClean="0">
                <a:solidFill>
                  <a:schemeClr val="hlink"/>
                </a:solidFill>
              </a:rPr>
              <a:t>PI</a:t>
            </a:r>
            <a:r>
              <a:rPr lang="en-US" altLang="zh-CN" sz="2200" smtClean="0"/>
              <a:t> = 3.14159265;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200" smtClean="0"/>
              <a:t>   int radius;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US" altLang="zh-CN" sz="2200" smtClean="0"/>
              <a:t>}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Georgia" pitchFamily="18" charset="0"/>
              <a:buNone/>
            </a:pPr>
            <a:r>
              <a:rPr lang="zh-CN" altLang="en-US" sz="2200" smtClean="0">
                <a:solidFill>
                  <a:schemeClr val="tx1"/>
                </a:solidFill>
              </a:rPr>
              <a:t>当我们生成</a:t>
            </a:r>
            <a:r>
              <a:rPr lang="en-US" altLang="zh-CN" sz="2200" smtClean="0">
                <a:solidFill>
                  <a:schemeClr val="tx2"/>
                </a:solidFill>
              </a:rPr>
              <a:t>Circle</a:t>
            </a:r>
            <a:r>
              <a:rPr lang="zh-CN" altLang="en-US" sz="2200" smtClean="0">
                <a:solidFill>
                  <a:schemeClr val="tx1"/>
                </a:solidFill>
              </a:rPr>
              <a:t>类的实例时，在每一个实例中并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zh-CN" altLang="en-US" sz="2200" smtClean="0">
                <a:solidFill>
                  <a:schemeClr val="tx1"/>
                </a:solidFill>
              </a:rPr>
              <a:t>没有存储</a:t>
            </a:r>
            <a:r>
              <a:rPr lang="en-US" altLang="zh-CN" sz="2200" smtClean="0">
                <a:solidFill>
                  <a:schemeClr val="tx1"/>
                </a:solidFill>
              </a:rPr>
              <a:t>PI</a:t>
            </a:r>
            <a:r>
              <a:rPr lang="zh-CN" altLang="en-US" sz="2200" smtClean="0">
                <a:solidFill>
                  <a:schemeClr val="tx1"/>
                </a:solidFill>
              </a:rPr>
              <a:t>的值，</a:t>
            </a:r>
            <a:r>
              <a:rPr lang="en-US" altLang="zh-CN" sz="2200" smtClean="0">
                <a:solidFill>
                  <a:schemeClr val="tx1"/>
                </a:solidFill>
              </a:rPr>
              <a:t>PI</a:t>
            </a:r>
            <a:r>
              <a:rPr lang="zh-CN" altLang="en-US" sz="2200" smtClean="0">
                <a:solidFill>
                  <a:schemeClr val="tx1"/>
                </a:solidFill>
              </a:rPr>
              <a:t>的值存储在类中</a:t>
            </a:r>
          </a:p>
        </p:txBody>
      </p:sp>
      <p:sp>
        <p:nvSpPr>
          <p:cNvPr id="35844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4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类变量</a:t>
            </a:r>
          </a:p>
        </p:txBody>
      </p:sp>
      <p:sp>
        <p:nvSpPr>
          <p:cNvPr id="35845" name="Rectangle 4"/>
          <p:cNvSpPr>
            <a:spLocks noChangeArrowheads="1"/>
          </p:cNvSpPr>
          <p:nvPr/>
        </p:nvSpPr>
        <p:spPr bwMode="auto">
          <a:xfrm>
            <a:off x="457200" y="576263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例</a:t>
            </a:r>
            <a:endParaRPr lang="en-GB" altLang="zh-CN" sz="2800">
              <a:solidFill>
                <a:schemeClr val="tx2"/>
              </a:solidFill>
              <a:latin typeface="Trebuchet MS" pitchFamily="34" charset="0"/>
              <a:ea typeface="方正姚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1399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ADD33F2E-897F-47EF-837F-EE1681F4605C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102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268413"/>
            <a:ext cx="8229600" cy="4787900"/>
          </a:xfrm>
        </p:spPr>
        <p:txBody>
          <a:bodyPr lIns="92075" tIns="46038" rIns="92075" bIns="46038"/>
          <a:lstStyle/>
          <a:p>
            <a:pPr lvl="1" eaLnBrk="1" hangingPunct="1">
              <a:lnSpc>
                <a:spcPct val="70000"/>
              </a:lnSpc>
            </a:pPr>
            <a:r>
              <a:rPr lang="zh-CN" altLang="en-US" sz="2200" smtClean="0"/>
              <a:t>对类变量进行测试</a:t>
            </a:r>
          </a:p>
          <a:p>
            <a:pPr lvl="2" eaLnBrk="1" hangingPunct="1">
              <a:lnSpc>
                <a:spcPct val="80000"/>
              </a:lnSpc>
              <a:spcBef>
                <a:spcPct val="45000"/>
              </a:spcBef>
              <a:buFont typeface="Wingdings 2" pitchFamily="18" charset="2"/>
              <a:buNone/>
            </a:pPr>
            <a:r>
              <a:rPr lang="en-US" altLang="zh-CN" sz="2000" smtClean="0"/>
              <a:t>public class ClassVariableTester { </a:t>
            </a:r>
          </a:p>
          <a:p>
            <a:pPr lvl="2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altLang="zh-CN" sz="2000" smtClean="0"/>
              <a:t>   public static void main(String args[]) { </a:t>
            </a:r>
          </a:p>
          <a:p>
            <a:pPr lvl="2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altLang="zh-CN" sz="2000" smtClean="0"/>
              <a:t>     Circle </a:t>
            </a:r>
            <a:r>
              <a:rPr lang="en-US" altLang="zh-CN" sz="2000" smtClean="0">
                <a:solidFill>
                  <a:schemeClr val="hlink"/>
                </a:solidFill>
              </a:rPr>
              <a:t>x</a:t>
            </a:r>
            <a:r>
              <a:rPr lang="en-US" altLang="zh-CN" sz="2000" smtClean="0"/>
              <a:t> = new Circle();  </a:t>
            </a:r>
          </a:p>
          <a:p>
            <a:pPr lvl="2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altLang="zh-CN" sz="2000" smtClean="0"/>
              <a:t>     System.out.println(</a:t>
            </a:r>
            <a:r>
              <a:rPr lang="en-US" altLang="zh-CN" sz="2000" smtClean="0">
                <a:solidFill>
                  <a:schemeClr val="hlink"/>
                </a:solidFill>
              </a:rPr>
              <a:t>x.PI</a:t>
            </a:r>
            <a:r>
              <a:rPr lang="en-US" altLang="zh-CN" sz="2000" smtClean="0"/>
              <a:t>); </a:t>
            </a:r>
          </a:p>
          <a:p>
            <a:pPr lvl="2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altLang="zh-CN" sz="2000" smtClean="0"/>
              <a:t>     System.out.println(</a:t>
            </a:r>
            <a:r>
              <a:rPr lang="en-US" altLang="zh-CN" sz="2000" smtClean="0">
                <a:solidFill>
                  <a:schemeClr val="hlink"/>
                </a:solidFill>
              </a:rPr>
              <a:t>Circle.PI</a:t>
            </a:r>
            <a:r>
              <a:rPr lang="en-US" altLang="zh-CN" sz="2000" smtClean="0"/>
              <a:t>); </a:t>
            </a:r>
          </a:p>
          <a:p>
            <a:pPr lvl="2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altLang="zh-CN" sz="2000" smtClean="0"/>
              <a:t>     </a:t>
            </a:r>
            <a:r>
              <a:rPr lang="en-US" altLang="zh-CN" sz="2000" smtClean="0">
                <a:solidFill>
                  <a:schemeClr val="hlink"/>
                </a:solidFill>
              </a:rPr>
              <a:t>Circle.PI </a:t>
            </a:r>
            <a:r>
              <a:rPr lang="en-US" altLang="zh-CN" sz="2000" smtClean="0"/>
              <a:t>= 3.14; </a:t>
            </a:r>
          </a:p>
          <a:p>
            <a:pPr lvl="2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altLang="zh-CN" sz="2000" smtClean="0"/>
              <a:t>     System.out.println(</a:t>
            </a:r>
            <a:r>
              <a:rPr lang="en-US" altLang="zh-CN" sz="2000" smtClean="0">
                <a:solidFill>
                  <a:schemeClr val="hlink"/>
                </a:solidFill>
              </a:rPr>
              <a:t>x.PI</a:t>
            </a:r>
            <a:r>
              <a:rPr lang="en-US" altLang="zh-CN" sz="2000" smtClean="0"/>
              <a:t>); </a:t>
            </a:r>
          </a:p>
          <a:p>
            <a:pPr lvl="2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altLang="zh-CN" sz="2000" smtClean="0"/>
              <a:t>     System.out.println(</a:t>
            </a:r>
            <a:r>
              <a:rPr lang="en-US" altLang="zh-CN" sz="2000" smtClean="0">
                <a:solidFill>
                  <a:schemeClr val="hlink"/>
                </a:solidFill>
              </a:rPr>
              <a:t>Circle.PI</a:t>
            </a:r>
            <a:r>
              <a:rPr lang="en-US" altLang="zh-CN" sz="2000" smtClean="0"/>
              <a:t>); </a:t>
            </a:r>
          </a:p>
          <a:p>
            <a:pPr lvl="2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altLang="zh-CN" sz="2000" smtClean="0"/>
              <a:t>   } </a:t>
            </a:r>
          </a:p>
          <a:p>
            <a:pPr lvl="2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altLang="zh-CN" sz="2000" smtClean="0"/>
              <a:t>}</a:t>
            </a:r>
          </a:p>
          <a:p>
            <a:pPr lvl="1" eaLnBrk="1" hangingPunct="1">
              <a:lnSpc>
                <a:spcPct val="70000"/>
              </a:lnSpc>
            </a:pPr>
            <a:r>
              <a:rPr lang="zh-CN" altLang="en-US" sz="2200" smtClean="0"/>
              <a:t>测试结果</a:t>
            </a:r>
          </a:p>
          <a:p>
            <a:pPr lvl="2" eaLnBrk="1" hangingPunct="1">
              <a:lnSpc>
                <a:spcPct val="70000"/>
              </a:lnSpc>
              <a:spcBef>
                <a:spcPct val="40000"/>
              </a:spcBef>
              <a:buFont typeface="Wingdings 2" pitchFamily="18" charset="2"/>
              <a:buNone/>
            </a:pPr>
            <a:r>
              <a:rPr lang="zh-CN" altLang="en-US" sz="2000" smtClean="0"/>
              <a:t>3.14159265</a:t>
            </a:r>
          </a:p>
          <a:p>
            <a:pPr lvl="2" eaLnBrk="1" hangingPunct="1">
              <a:lnSpc>
                <a:spcPct val="70000"/>
              </a:lnSpc>
              <a:buFont typeface="Wingdings 2" pitchFamily="18" charset="2"/>
              <a:buNone/>
            </a:pPr>
            <a:r>
              <a:rPr lang="zh-CN" altLang="en-US" sz="2000" smtClean="0"/>
              <a:t>3.14159265</a:t>
            </a:r>
          </a:p>
          <a:p>
            <a:pPr lvl="2" eaLnBrk="1" hangingPunct="1">
              <a:lnSpc>
                <a:spcPct val="70000"/>
              </a:lnSpc>
              <a:buFont typeface="Wingdings 2" pitchFamily="18" charset="2"/>
              <a:buNone/>
            </a:pPr>
            <a:r>
              <a:rPr lang="zh-CN" altLang="en-US" sz="2000" smtClean="0"/>
              <a:t>3.14</a:t>
            </a:r>
          </a:p>
          <a:p>
            <a:pPr lvl="2" eaLnBrk="1" hangingPunct="1">
              <a:lnSpc>
                <a:spcPct val="70000"/>
              </a:lnSpc>
              <a:buFont typeface="Wingdings 2" pitchFamily="18" charset="2"/>
              <a:buNone/>
            </a:pPr>
            <a:r>
              <a:rPr lang="zh-CN" altLang="en-US" sz="2000" smtClean="0"/>
              <a:t>3.14</a:t>
            </a:r>
          </a:p>
          <a:p>
            <a:pPr lvl="2" eaLnBrk="1" hangingPunct="1">
              <a:lnSpc>
                <a:spcPct val="90000"/>
              </a:lnSpc>
              <a:buFont typeface="Wingdings 2" pitchFamily="18" charset="2"/>
              <a:buNone/>
            </a:pPr>
            <a:endParaRPr lang="zh-CN" altLang="en-US" sz="2000" smtClean="0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042988" y="428625"/>
            <a:ext cx="7162800" cy="676275"/>
          </a:xfrm>
          <a:noFill/>
        </p:spPr>
        <p:txBody>
          <a:bodyPr lIns="92075" tIns="46038" rIns="92075" bIns="46038" anchor="b"/>
          <a:lstStyle/>
          <a:p>
            <a:pPr eaLnBrk="1" hangingPunct="1">
              <a:lnSpc>
                <a:spcPct val="70000"/>
              </a:lnSpc>
            </a:pPr>
            <a:r>
              <a:rPr lang="zh-CN" altLang="en-GB" sz="2800" smtClean="0">
                <a:solidFill>
                  <a:schemeClr val="hlink"/>
                </a:solidFill>
              </a:rPr>
              <a:t>例运行结果</a:t>
            </a:r>
          </a:p>
        </p:txBody>
      </p:sp>
      <p:sp>
        <p:nvSpPr>
          <p:cNvPr id="36869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4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类变量</a:t>
            </a:r>
          </a:p>
        </p:txBody>
      </p:sp>
    </p:spTree>
    <p:extLst>
      <p:ext uri="{BB962C8B-B14F-4D97-AF65-F5344CB8AC3E}">
        <p14:creationId xmlns="" xmlns:p14="http://schemas.microsoft.com/office/powerpoint/2010/main" val="19416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4714F2B-5BC6-44D5-91B4-9754DC0A52F2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103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341438"/>
            <a:ext cx="8229600" cy="47879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GB" sz="2400" smtClean="0"/>
              <a:t>声明一个</a:t>
            </a:r>
            <a:r>
              <a:rPr lang="en-GB" altLang="zh-CN" sz="2400" smtClean="0"/>
              <a:t>Point</a:t>
            </a:r>
            <a:r>
              <a:rPr lang="zh-CN" altLang="en-GB" sz="2400" smtClean="0"/>
              <a:t>类，有两个私有变量保存点坐标，一个类变量保存已有点的个数</a:t>
            </a:r>
          </a:p>
          <a:p>
            <a:pPr lvl="1" eaLnBrk="1" hangingPunct="1">
              <a:lnSpc>
                <a:spcPct val="90000"/>
              </a:lnSpc>
              <a:spcBef>
                <a:spcPct val="55000"/>
              </a:spcBef>
              <a:buFont typeface="Georgia" pitchFamily="18" charset="0"/>
              <a:buNone/>
            </a:pPr>
            <a:r>
              <a:rPr lang="en-GB" altLang="zh-CN" sz="2200" smtClean="0">
                <a:cs typeface="Times New Roman" pitchFamily="18" charset="0"/>
              </a:rPr>
              <a:t>public class Point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GB" altLang="zh-CN" sz="2200" smtClean="0">
                <a:cs typeface="Times New Roman" pitchFamily="18" charset="0"/>
              </a:rPr>
              <a:t>{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GB" altLang="zh-CN" sz="2200" smtClean="0">
                <a:cs typeface="Times New Roman" pitchFamily="18" charset="0"/>
              </a:rPr>
              <a:t>   private int x;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GB" altLang="zh-CN" sz="2200" smtClean="0">
                <a:cs typeface="Times New Roman" pitchFamily="18" charset="0"/>
              </a:rPr>
              <a:t>   private int y;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GB" altLang="zh-CN" sz="2200" smtClean="0">
                <a:cs typeface="Times New Roman" pitchFamily="18" charset="0"/>
              </a:rPr>
              <a:t>   public </a:t>
            </a:r>
            <a:r>
              <a:rPr lang="en-GB" altLang="zh-CN" sz="2200" smtClean="0">
                <a:solidFill>
                  <a:schemeClr val="hlink"/>
                </a:solidFill>
                <a:cs typeface="Times New Roman" pitchFamily="18" charset="0"/>
              </a:rPr>
              <a:t>static</a:t>
            </a:r>
            <a:r>
              <a:rPr lang="en-GB" altLang="zh-CN" sz="2200" smtClean="0">
                <a:cs typeface="Times New Roman" pitchFamily="18" charset="0"/>
              </a:rPr>
              <a:t> int </a:t>
            </a:r>
            <a:r>
              <a:rPr lang="en-GB" altLang="zh-CN" sz="2200" smtClean="0">
                <a:solidFill>
                  <a:schemeClr val="tx2"/>
                </a:solidFill>
                <a:cs typeface="Times New Roman" pitchFamily="18" charset="0"/>
              </a:rPr>
              <a:t>pointCount</a:t>
            </a:r>
            <a:r>
              <a:rPr lang="en-GB" altLang="zh-CN" sz="2200" smtClean="0">
                <a:cs typeface="Times New Roman" pitchFamily="18" charset="0"/>
              </a:rPr>
              <a:t>=0;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GB" altLang="zh-CN" sz="2200" smtClean="0">
                <a:cs typeface="Times New Roman" pitchFamily="18" charset="0"/>
              </a:rPr>
              <a:t>   public Point(int x, int y)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GB" altLang="zh-CN" sz="2200" smtClean="0">
                <a:cs typeface="Times New Roman" pitchFamily="18" charset="0"/>
              </a:rPr>
              <a:t>   { this.x = x; this.y = y; pointCount++;}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GB" altLang="zh-CN" sz="2200" smtClean="0">
                <a:cs typeface="Times New Roman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smtClean="0"/>
          </a:p>
        </p:txBody>
      </p:sp>
      <p:sp>
        <p:nvSpPr>
          <p:cNvPr id="37892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4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类变量</a:t>
            </a:r>
          </a:p>
        </p:txBody>
      </p:sp>
      <p:sp>
        <p:nvSpPr>
          <p:cNvPr id="37893" name="Rectangle 4"/>
          <p:cNvSpPr>
            <a:spLocks noChangeArrowheads="1"/>
          </p:cNvSpPr>
          <p:nvPr/>
        </p:nvSpPr>
        <p:spPr bwMode="auto">
          <a:xfrm>
            <a:off x="457200" y="576263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/>
            </a:r>
            <a:b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——</a:t>
            </a:r>
            <a:r>
              <a:rPr lang="en-GB" altLang="zh-CN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Point.java</a:t>
            </a:r>
          </a:p>
        </p:txBody>
      </p:sp>
    </p:spTree>
    <p:extLst>
      <p:ext uri="{BB962C8B-B14F-4D97-AF65-F5344CB8AC3E}">
        <p14:creationId xmlns="" xmlns:p14="http://schemas.microsoft.com/office/powerpoint/2010/main" val="37573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BA5C94AB-8473-45B9-AF63-461833C0DAF3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104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87375" y="1341438"/>
            <a:ext cx="8075613" cy="461962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GB" sz="2400" smtClean="0"/>
              <a:t>测试类</a:t>
            </a:r>
            <a:endParaRPr lang="en-GB" altLang="zh-CN" sz="2400" smtClean="0"/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Georgia" pitchFamily="18" charset="0"/>
              <a:buNone/>
            </a:pPr>
            <a:r>
              <a:rPr lang="en-GB" altLang="zh-CN" sz="2000" smtClean="0">
                <a:cs typeface="Times New Roman" pitchFamily="18" charset="0"/>
              </a:rPr>
              <a:t>class ex2_4 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GB" altLang="zh-CN" sz="2000" smtClean="0">
                <a:cs typeface="Times New Roman" pitchFamily="18" charset="0"/>
              </a:rPr>
              <a:t>{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GB" altLang="zh-CN" sz="2000" smtClean="0">
                <a:cs typeface="Times New Roman" pitchFamily="18" charset="0"/>
              </a:rPr>
              <a:t>	public static void main(String[] args)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GB" altLang="zh-CN" sz="2000" smtClean="0">
                <a:cs typeface="Times New Roman" pitchFamily="18" charset="0"/>
              </a:rPr>
              <a:t>    {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GB" altLang="zh-CN" sz="2000" smtClean="0">
                <a:cs typeface="Times New Roman" pitchFamily="18" charset="0"/>
              </a:rPr>
              <a:t>		  Point </a:t>
            </a:r>
            <a:r>
              <a:rPr lang="en-GB" altLang="zh-CN" sz="2000" smtClean="0">
                <a:solidFill>
                  <a:schemeClr val="tx2"/>
                </a:solidFill>
                <a:cs typeface="Times New Roman" pitchFamily="18" charset="0"/>
              </a:rPr>
              <a:t>p</a:t>
            </a:r>
            <a:r>
              <a:rPr lang="en-GB" altLang="zh-CN" sz="2000" smtClean="0">
                <a:cs typeface="Times New Roman" pitchFamily="18" charset="0"/>
              </a:rPr>
              <a:t> = new Point(1,1);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GB" altLang="zh-CN" sz="2000" smtClean="0">
                <a:cs typeface="Times New Roman" pitchFamily="18" charset="0"/>
              </a:rPr>
              <a:t>        System.out.println(</a:t>
            </a:r>
            <a:r>
              <a:rPr lang="en-GB" altLang="zh-CN" sz="2000" smtClean="0">
                <a:solidFill>
                  <a:schemeClr val="hlink"/>
                </a:solidFill>
                <a:cs typeface="Times New Roman" pitchFamily="18" charset="0"/>
              </a:rPr>
              <a:t>p.pointCount</a:t>
            </a:r>
            <a:r>
              <a:rPr lang="en-GB" altLang="zh-CN" sz="2000" smtClean="0">
                <a:cs typeface="Times New Roman" pitchFamily="18" charset="0"/>
              </a:rPr>
              <a:t>);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GB" altLang="zh-CN" sz="2000" smtClean="0">
                <a:cs typeface="Times New Roman" pitchFamily="18" charset="0"/>
              </a:rPr>
              <a:t>		  Point </a:t>
            </a:r>
            <a:r>
              <a:rPr lang="en-GB" altLang="zh-CN" sz="2000" smtClean="0">
                <a:solidFill>
                  <a:schemeClr val="tx2"/>
                </a:solidFill>
                <a:cs typeface="Times New Roman" pitchFamily="18" charset="0"/>
              </a:rPr>
              <a:t>q</a:t>
            </a:r>
            <a:r>
              <a:rPr lang="en-GB" altLang="zh-CN" sz="2000" smtClean="0">
                <a:cs typeface="Times New Roman" pitchFamily="18" charset="0"/>
              </a:rPr>
              <a:t> = new Point(2,2);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GB" altLang="zh-CN" sz="2000" smtClean="0">
                <a:cs typeface="Times New Roman" pitchFamily="18" charset="0"/>
              </a:rPr>
              <a:t>		  System.out.println(</a:t>
            </a:r>
            <a:r>
              <a:rPr lang="en-GB" altLang="zh-CN" sz="2000" smtClean="0">
                <a:solidFill>
                  <a:schemeClr val="hlink"/>
                </a:solidFill>
                <a:cs typeface="Times New Roman" pitchFamily="18" charset="0"/>
              </a:rPr>
              <a:t>q.pointCount</a:t>
            </a:r>
            <a:r>
              <a:rPr lang="en-GB" altLang="zh-CN" sz="2000" smtClean="0">
                <a:cs typeface="Times New Roman" pitchFamily="18" charset="0"/>
              </a:rPr>
              <a:t>);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GB" altLang="zh-CN" sz="2000" smtClean="0">
                <a:cs typeface="Times New Roman" pitchFamily="18" charset="0"/>
              </a:rPr>
              <a:t>		  System.out.println(q.pointCount </a:t>
            </a:r>
            <a:r>
              <a:rPr lang="en-GB" altLang="zh-CN" sz="2000" smtClean="0">
                <a:solidFill>
                  <a:schemeClr val="hlink"/>
                </a:solidFill>
                <a:cs typeface="Times New Roman" pitchFamily="18" charset="0"/>
              </a:rPr>
              <a:t>== </a:t>
            </a:r>
            <a:r>
              <a:rPr lang="en-GB" altLang="zh-CN" sz="2000" smtClean="0">
                <a:cs typeface="Times New Roman" pitchFamily="18" charset="0"/>
              </a:rPr>
              <a:t>Point.pointCount);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GB" altLang="zh-CN" sz="2000" smtClean="0">
                <a:cs typeface="Times New Roman" pitchFamily="18" charset="0"/>
              </a:rPr>
              <a:t>		  System.out.println(</a:t>
            </a:r>
            <a:r>
              <a:rPr lang="en-GB" altLang="zh-CN" sz="2000" smtClean="0">
                <a:solidFill>
                  <a:schemeClr val="hlink"/>
                </a:solidFill>
                <a:cs typeface="Times New Roman" pitchFamily="18" charset="0"/>
              </a:rPr>
              <a:t>Point.pointCount</a:t>
            </a:r>
            <a:r>
              <a:rPr lang="en-GB" altLang="zh-CN" sz="2000" smtClean="0">
                <a:cs typeface="Times New Roman" pitchFamily="18" charset="0"/>
              </a:rPr>
              <a:t>);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GB" altLang="zh-CN" sz="2000" smtClean="0">
                <a:cs typeface="Times New Roman" pitchFamily="18" charset="0"/>
              </a:rPr>
              <a:t>	}</a:t>
            </a: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r>
              <a:rPr lang="en-GB" altLang="zh-CN" sz="2000" smtClean="0">
                <a:cs typeface="Times New Roman" pitchFamily="18" charset="0"/>
              </a:rPr>
              <a:t>}</a:t>
            </a:r>
            <a:endParaRPr lang="zh-CN" altLang="en-US" sz="2200" smtClean="0"/>
          </a:p>
        </p:txBody>
      </p:sp>
      <p:sp>
        <p:nvSpPr>
          <p:cNvPr id="38916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4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类变量</a:t>
            </a:r>
          </a:p>
        </p:txBody>
      </p:sp>
      <p:sp>
        <p:nvSpPr>
          <p:cNvPr id="38917" name="Rectangle 4"/>
          <p:cNvSpPr>
            <a:spLocks noChangeArrowheads="1"/>
          </p:cNvSpPr>
          <p:nvPr/>
        </p:nvSpPr>
        <p:spPr bwMode="auto">
          <a:xfrm>
            <a:off x="457200" y="576263"/>
            <a:ext cx="8229600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——</a:t>
            </a:r>
            <a:r>
              <a:rPr lang="en-GB" altLang="zh-CN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Point</a:t>
            </a:r>
            <a:r>
              <a:rPr lang="zh-CN" altLang="en-GB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类测试</a:t>
            </a:r>
          </a:p>
        </p:txBody>
      </p:sp>
    </p:spTree>
    <p:extLst>
      <p:ext uri="{BB962C8B-B14F-4D97-AF65-F5344CB8AC3E}">
        <p14:creationId xmlns="" xmlns:p14="http://schemas.microsoft.com/office/powerpoint/2010/main" val="1828180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FB19EF8-B045-41DB-BA44-F185690D69E5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105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484313"/>
            <a:ext cx="8229600" cy="47879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zh-CN" altLang="en-US" smtClean="0"/>
              <a:t>测试结果</a:t>
            </a:r>
          </a:p>
          <a:p>
            <a:pPr lvl="1"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zh-CN" altLang="en-US" smtClean="0"/>
              <a:t>1</a:t>
            </a:r>
          </a:p>
          <a:p>
            <a:pPr lvl="1"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zh-CN" altLang="en-US" smtClean="0"/>
              <a:t>2</a:t>
            </a:r>
          </a:p>
          <a:p>
            <a:pPr lvl="1"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en-US" altLang="zh-CN" smtClean="0"/>
              <a:t>true</a:t>
            </a:r>
          </a:p>
          <a:p>
            <a:pPr lvl="1"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en-US" altLang="zh-CN" smtClean="0"/>
              <a:t>2 </a:t>
            </a:r>
          </a:p>
          <a:p>
            <a:pPr lvl="1" eaLnBrk="1" hangingPunct="1">
              <a:buFont typeface="Georgia" pitchFamily="18" charset="0"/>
              <a:buNone/>
            </a:pPr>
            <a:endParaRPr lang="zh-CN" altLang="en-US" smtClean="0"/>
          </a:p>
        </p:txBody>
      </p:sp>
      <p:sp>
        <p:nvSpPr>
          <p:cNvPr id="39940" name="标题 4"/>
          <p:cNvSpPr txBox="1">
            <a:spLocks/>
          </p:cNvSpPr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4 </a:t>
            </a:r>
            <a:r>
              <a:rPr lang="zh-CN" altLang="en-US" sz="2600">
                <a:solidFill>
                  <a:schemeClr val="bg1"/>
                </a:solidFill>
                <a:latin typeface="Trebuchet MS" pitchFamily="34" charset="0"/>
                <a:ea typeface="方正姚体" pitchFamily="2" charset="-122"/>
              </a:rPr>
              <a:t>类变量</a:t>
            </a:r>
          </a:p>
        </p:txBody>
      </p:sp>
      <p:sp>
        <p:nvSpPr>
          <p:cNvPr id="39941" name="Rectangle 4"/>
          <p:cNvSpPr>
            <a:spLocks noChangeArrowheads="1"/>
          </p:cNvSpPr>
          <p:nvPr/>
        </p:nvSpPr>
        <p:spPr bwMode="auto">
          <a:xfrm>
            <a:off x="457200" y="576263"/>
            <a:ext cx="82296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/>
            </a:r>
            <a:br>
              <a:rPr lang="zh-CN" altLang="en-GB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</a:br>
            <a:r>
              <a:rPr lang="en-GB" altLang="zh-CN" sz="36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——</a:t>
            </a:r>
            <a:r>
              <a:rPr lang="en-GB" altLang="zh-CN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Point</a:t>
            </a:r>
            <a:r>
              <a:rPr lang="zh-CN" altLang="en-GB" sz="28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rPr>
              <a:t>类测试结果</a:t>
            </a:r>
          </a:p>
        </p:txBody>
      </p:sp>
    </p:spTree>
    <p:extLst>
      <p:ext uri="{BB962C8B-B14F-4D97-AF65-F5344CB8AC3E}">
        <p14:creationId xmlns="" xmlns:p14="http://schemas.microsoft.com/office/powerpoint/2010/main" val="28581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  <a:headEnd/>
            <a:tailEnd/>
          </a:ln>
        </p:spPr>
        <p:txBody>
          <a:bodyPr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A08A3491-FD11-45AC-A401-B76C40974E3C}" type="slidenum">
              <a:rPr kumimoji="1" lang="en-US" altLang="zh-CN" sz="1400">
                <a:solidFill>
                  <a:schemeClr val="tx1"/>
                </a:solidFill>
                <a:ea typeface="+mn-ea"/>
              </a:rPr>
              <a:pPr>
                <a:defRPr/>
              </a:pPr>
              <a:t>106</a:t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zh-CN" altLang="en-GB" smtClean="0"/>
              <a:t>目录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zh-CN" altLang="en-US" dirty="0" smtClean="0"/>
              <a:t>2.1 方法重载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zh-CN" altLang="en-US" dirty="0" smtClean="0"/>
              <a:t>2.</a:t>
            </a:r>
            <a:r>
              <a:rPr lang="en-US" altLang="zh-CN" dirty="0" smtClean="0"/>
              <a:t>2</a:t>
            </a:r>
            <a:r>
              <a:rPr lang="zh-CN" altLang="en-US" dirty="0" smtClean="0"/>
              <a:t> 类的访问控制</a:t>
            </a:r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en-US" altLang="zh-CN" dirty="0" smtClean="0"/>
              <a:t>2.3 </a:t>
            </a:r>
            <a:r>
              <a:rPr lang="zh-CN" altLang="en-US" dirty="0" smtClean="0"/>
              <a:t>构造方法</a:t>
            </a:r>
            <a:endParaRPr lang="zh-CN" altLang="en-GB" dirty="0" smtClean="0"/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zh-CN" altLang="en-US" dirty="0" smtClean="0"/>
              <a:t>2.</a:t>
            </a:r>
            <a:r>
              <a:rPr lang="en-US" altLang="zh-CN" dirty="0" smtClean="0"/>
              <a:t>4 </a:t>
            </a:r>
            <a:r>
              <a:rPr lang="zh-CN" altLang="en-US" dirty="0" smtClean="0"/>
              <a:t>类变量 </a:t>
            </a:r>
          </a:p>
          <a:p>
            <a:pPr eaLnBrk="1" hangingPunct="1">
              <a:lnSpc>
                <a:spcPct val="110000"/>
              </a:lnSpc>
              <a:buFont typeface="Georgia" pitchFamily="18" charset="0"/>
              <a:buNone/>
            </a:pPr>
            <a:r>
              <a:rPr lang="en-US" altLang="zh-CN" dirty="0" smtClean="0"/>
              <a:t>2.5 </a:t>
            </a:r>
            <a:r>
              <a:rPr lang="zh-CN" altLang="en-US" dirty="0" smtClean="0">
                <a:solidFill>
                  <a:srgbClr val="FF0000"/>
                </a:solidFill>
              </a:rPr>
              <a:t>应用举例</a:t>
            </a:r>
          </a:p>
        </p:txBody>
      </p:sp>
    </p:spTree>
    <p:extLst>
      <p:ext uri="{BB962C8B-B14F-4D97-AF65-F5344CB8AC3E}">
        <p14:creationId xmlns="" xmlns:p14="http://schemas.microsoft.com/office/powerpoint/2010/main" val="145681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模板">
  <a:themeElements>
    <a:clrScheme name="模板 1">
      <a:dk1>
        <a:srgbClr val="000000"/>
      </a:dk1>
      <a:lt1>
        <a:srgbClr val="FFFFFF"/>
      </a:lt1>
      <a:dk2>
        <a:srgbClr val="233DA9"/>
      </a:dk2>
      <a:lt2>
        <a:srgbClr val="DDDDDD"/>
      </a:lt2>
      <a:accent1>
        <a:srgbClr val="65AAE9"/>
      </a:accent1>
      <a:accent2>
        <a:srgbClr val="B2B2B2"/>
      </a:accent2>
      <a:accent3>
        <a:srgbClr val="FFFFFF"/>
      </a:accent3>
      <a:accent4>
        <a:srgbClr val="000000"/>
      </a:accent4>
      <a:accent5>
        <a:srgbClr val="B8D2F2"/>
      </a:accent5>
      <a:accent6>
        <a:srgbClr val="A1A1A1"/>
      </a:accent6>
      <a:hlink>
        <a:srgbClr val="7DA0D3"/>
      </a:hlink>
      <a:folHlink>
        <a:srgbClr val="B2E385"/>
      </a:folHlink>
    </a:clrScheme>
    <a:fontScheme name="模板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模板 1">
        <a:dk1>
          <a:srgbClr val="000000"/>
        </a:dk1>
        <a:lt1>
          <a:srgbClr val="FFFFFF"/>
        </a:lt1>
        <a:dk2>
          <a:srgbClr val="233DA9"/>
        </a:dk2>
        <a:lt2>
          <a:srgbClr val="DDDDDD"/>
        </a:lt2>
        <a:accent1>
          <a:srgbClr val="65AAE9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B8D2F2"/>
        </a:accent5>
        <a:accent6>
          <a:srgbClr val="A1A1A1"/>
        </a:accent6>
        <a:hlink>
          <a:srgbClr val="7DA0D3"/>
        </a:hlink>
        <a:folHlink>
          <a:srgbClr val="B2E3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2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3">
        <a:dk1>
          <a:srgbClr val="000000"/>
        </a:dk1>
        <a:lt1>
          <a:srgbClr val="FFFFFF"/>
        </a:lt1>
        <a:dk2>
          <a:srgbClr val="37737F"/>
        </a:dk2>
        <a:lt2>
          <a:srgbClr val="DDDDDD"/>
        </a:lt2>
        <a:accent1>
          <a:srgbClr val="52BCB2"/>
        </a:accent1>
        <a:accent2>
          <a:srgbClr val="E0A56A"/>
        </a:accent2>
        <a:accent3>
          <a:srgbClr val="FFFFFF"/>
        </a:accent3>
        <a:accent4>
          <a:srgbClr val="000000"/>
        </a:accent4>
        <a:accent5>
          <a:srgbClr val="B3DAD5"/>
        </a:accent5>
        <a:accent6>
          <a:srgbClr val="CB955F"/>
        </a:accent6>
        <a:hlink>
          <a:srgbClr val="A0C264"/>
        </a:hlink>
        <a:folHlink>
          <a:srgbClr val="DCDC2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分学期样式模版-S1</Template>
  <TotalTime>7371</TotalTime>
  <Words>6286</Words>
  <Application>Microsoft Office PowerPoint</Application>
  <PresentationFormat>全屏显示(4:3)</PresentationFormat>
  <Paragraphs>1495</Paragraphs>
  <Slides>106</Slides>
  <Notes>52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106</vt:i4>
      </vt:variant>
    </vt:vector>
  </HeadingPairs>
  <TitlesOfParts>
    <vt:vector size="109" baseType="lpstr">
      <vt:lpstr>模板</vt:lpstr>
      <vt:lpstr>Visio</vt:lpstr>
      <vt:lpstr>Image</vt:lpstr>
      <vt:lpstr>本章目标</vt:lpstr>
      <vt:lpstr>万物皆对象</vt:lpstr>
      <vt:lpstr>身边的对象</vt:lpstr>
      <vt:lpstr>对象的特征——属性</vt:lpstr>
      <vt:lpstr>对象的特征——方法</vt:lpstr>
      <vt:lpstr>对象的属性和方法</vt:lpstr>
      <vt:lpstr>封装</vt:lpstr>
      <vt:lpstr>小结</vt:lpstr>
      <vt:lpstr>从对象抽象出“类”</vt:lpstr>
      <vt:lpstr>类</vt:lpstr>
      <vt:lpstr>类和对象的关系</vt:lpstr>
      <vt:lpstr>Java 是面向对象的语言 </vt:lpstr>
      <vt:lpstr>Java类模板</vt:lpstr>
      <vt:lpstr>定义类</vt:lpstr>
      <vt:lpstr>幻灯片 15</vt:lpstr>
      <vt:lpstr>如何创建和使用对象</vt:lpstr>
      <vt:lpstr>创建和使用对象示例</vt:lpstr>
      <vt:lpstr>创建和使用对象示例</vt:lpstr>
      <vt:lpstr>创建和使用对象示例</vt:lpstr>
      <vt:lpstr>小结</vt:lpstr>
      <vt:lpstr>面向对象（OO）的优点</vt:lpstr>
      <vt:lpstr>总结</vt:lpstr>
      <vt:lpstr>本章目标</vt:lpstr>
      <vt:lpstr>类的方法</vt:lpstr>
      <vt:lpstr>类的方法示例</vt:lpstr>
      <vt:lpstr>如何定义类的方法</vt:lpstr>
      <vt:lpstr>方法的返回值</vt:lpstr>
      <vt:lpstr>方法调用</vt:lpstr>
      <vt:lpstr>方法调用</vt:lpstr>
      <vt:lpstr>方法调用小结</vt:lpstr>
      <vt:lpstr>常见错误4-1</vt:lpstr>
      <vt:lpstr>常见错误4-2</vt:lpstr>
      <vt:lpstr>常见错误4-3</vt:lpstr>
      <vt:lpstr>常见错误4-4</vt:lpstr>
      <vt:lpstr>本章目标</vt:lpstr>
      <vt:lpstr>成员变量和局部变量2-1</vt:lpstr>
      <vt:lpstr>成员变量和局部变量2-2</vt:lpstr>
      <vt:lpstr>成员变量和局部变量的区别</vt:lpstr>
      <vt:lpstr>常见错误</vt:lpstr>
      <vt:lpstr>面向对象的编程（OOP）</vt:lpstr>
      <vt:lpstr>本章目标</vt:lpstr>
      <vt:lpstr>JavaDoc注释</vt:lpstr>
      <vt:lpstr>添加JavaDoc注释</vt:lpstr>
      <vt:lpstr>如何生成JavaDoc文档 </vt:lpstr>
      <vt:lpstr>总结</vt:lpstr>
      <vt:lpstr>本章目标</vt:lpstr>
      <vt:lpstr>为什么要用带参数的方法</vt:lpstr>
      <vt:lpstr>如何使用带参数的方法3-1</vt:lpstr>
      <vt:lpstr>如何使用带参数的方法3-2</vt:lpstr>
      <vt:lpstr>如何使用带参数的方法3-3</vt:lpstr>
      <vt:lpstr>带多个参数的方法2-1</vt:lpstr>
      <vt:lpstr>带多个参数的方法2-2</vt:lpstr>
      <vt:lpstr>常见错误4-1</vt:lpstr>
      <vt:lpstr>常见错误4-2</vt:lpstr>
      <vt:lpstr>常见错误4-3</vt:lpstr>
      <vt:lpstr>常见错误4-4</vt:lpstr>
      <vt:lpstr>数组作为参数的方法2-1</vt:lpstr>
      <vt:lpstr>数组作为参数的方法2-2</vt:lpstr>
      <vt:lpstr>对象作为参数的方法2-1</vt:lpstr>
      <vt:lpstr>对象作为参数的方法2-2</vt:lpstr>
      <vt:lpstr>本章目标</vt:lpstr>
      <vt:lpstr>为什么需要包</vt:lpstr>
      <vt:lpstr>包</vt:lpstr>
      <vt:lpstr>如何创建包</vt:lpstr>
      <vt:lpstr>包命名规范</vt:lpstr>
      <vt:lpstr>用MyEclipse 创建包</vt:lpstr>
      <vt:lpstr>包与目录的关系</vt:lpstr>
      <vt:lpstr>如何导入包</vt:lpstr>
      <vt:lpstr>总结</vt:lpstr>
      <vt:lpstr>目录</vt:lpstr>
      <vt:lpstr>方法重载</vt:lpstr>
      <vt:lpstr>幻灯片 72</vt:lpstr>
      <vt:lpstr>幻灯片 73</vt:lpstr>
      <vt:lpstr>幻灯片 74</vt:lpstr>
      <vt:lpstr>目录</vt:lpstr>
      <vt:lpstr>什么是封装</vt:lpstr>
      <vt:lpstr>如何使用封装</vt:lpstr>
      <vt:lpstr>幻灯片 78</vt:lpstr>
      <vt:lpstr>幻灯片 79</vt:lpstr>
      <vt:lpstr>幻灯片 80</vt:lpstr>
      <vt:lpstr>幻灯片 81</vt:lpstr>
      <vt:lpstr>幻灯片 82</vt:lpstr>
      <vt:lpstr>幻灯片 83</vt:lpstr>
      <vt:lpstr>幻灯片 84</vt:lpstr>
      <vt:lpstr>幻灯片 85</vt:lpstr>
      <vt:lpstr>幻灯片 86</vt:lpstr>
      <vt:lpstr>目录</vt:lpstr>
      <vt:lpstr>构造方法</vt:lpstr>
      <vt:lpstr>构造方法(续)</vt:lpstr>
      <vt:lpstr>幻灯片 90</vt:lpstr>
      <vt:lpstr>幻灯片 91</vt:lpstr>
      <vt:lpstr>幻灯片 92</vt:lpstr>
      <vt:lpstr>幻灯片 93</vt:lpstr>
      <vt:lpstr>幻灯片 94</vt:lpstr>
      <vt:lpstr>幻灯片 95</vt:lpstr>
      <vt:lpstr>幻灯片 96</vt:lpstr>
      <vt:lpstr>幻灯片 97</vt:lpstr>
      <vt:lpstr>目录</vt:lpstr>
      <vt:lpstr>幻灯片 99</vt:lpstr>
      <vt:lpstr>幻灯片 100</vt:lpstr>
      <vt:lpstr>幻灯片 101</vt:lpstr>
      <vt:lpstr>例运行结果</vt:lpstr>
      <vt:lpstr>幻灯片 103</vt:lpstr>
      <vt:lpstr>幻灯片 104</vt:lpstr>
      <vt:lpstr>幻灯片 105</vt:lpstr>
      <vt:lpstr>目录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第1章内容回顾</dc:title>
  <dc:creator>xiaojing.dai</dc:creator>
  <cp:lastModifiedBy>admin</cp:lastModifiedBy>
  <cp:revision>975</cp:revision>
  <dcterms:created xsi:type="dcterms:W3CDTF">2006-03-08T06:55:38Z</dcterms:created>
  <dcterms:modified xsi:type="dcterms:W3CDTF">2018-09-18T01:35:13Z</dcterms:modified>
</cp:coreProperties>
</file>