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handoutMasterIdLst>
    <p:handoutMasterId r:id="rId86"/>
  </p:handoutMasterIdLst>
  <p:sldIdLst>
    <p:sldId id="256" r:id="rId3"/>
    <p:sldId id="607" r:id="rId4"/>
    <p:sldId id="604" r:id="rId5"/>
    <p:sldId id="519" r:id="rId6"/>
    <p:sldId id="527" r:id="rId7"/>
    <p:sldId id="526" r:id="rId8"/>
    <p:sldId id="523" r:id="rId9"/>
    <p:sldId id="520" r:id="rId10"/>
    <p:sldId id="525" r:id="rId11"/>
    <p:sldId id="530" r:id="rId12"/>
    <p:sldId id="623" r:id="rId13"/>
    <p:sldId id="664" r:id="rId14"/>
    <p:sldId id="624" r:id="rId15"/>
    <p:sldId id="625" r:id="rId16"/>
    <p:sldId id="626" r:id="rId17"/>
    <p:sldId id="627" r:id="rId18"/>
    <p:sldId id="628" r:id="rId19"/>
    <p:sldId id="629" r:id="rId20"/>
    <p:sldId id="630" r:id="rId21"/>
    <p:sldId id="631" r:id="rId22"/>
    <p:sldId id="632" r:id="rId23"/>
    <p:sldId id="633" r:id="rId24"/>
    <p:sldId id="634" r:id="rId25"/>
    <p:sldId id="635" r:id="rId26"/>
    <p:sldId id="636" r:id="rId27"/>
    <p:sldId id="639" r:id="rId28"/>
    <p:sldId id="640" r:id="rId29"/>
    <p:sldId id="641" r:id="rId30"/>
    <p:sldId id="642" r:id="rId31"/>
    <p:sldId id="643" r:id="rId32"/>
    <p:sldId id="644" r:id="rId33"/>
    <p:sldId id="645" r:id="rId34"/>
    <p:sldId id="646" r:id="rId35"/>
    <p:sldId id="647" r:id="rId36"/>
    <p:sldId id="648" r:id="rId37"/>
    <p:sldId id="649" r:id="rId38"/>
    <p:sldId id="650" r:id="rId39"/>
    <p:sldId id="651" r:id="rId40"/>
    <p:sldId id="652" r:id="rId41"/>
    <p:sldId id="653" r:id="rId42"/>
    <p:sldId id="609" r:id="rId43"/>
    <p:sldId id="687" r:id="rId44"/>
    <p:sldId id="688" r:id="rId45"/>
    <p:sldId id="677" r:id="rId46"/>
    <p:sldId id="680" r:id="rId47"/>
    <p:sldId id="678" r:id="rId48"/>
    <p:sldId id="681" r:id="rId49"/>
    <p:sldId id="682" r:id="rId50"/>
    <p:sldId id="683" r:id="rId51"/>
    <p:sldId id="684" r:id="rId52"/>
    <p:sldId id="685" r:id="rId53"/>
    <p:sldId id="686" r:id="rId54"/>
    <p:sldId id="660" r:id="rId55"/>
    <p:sldId id="548" r:id="rId56"/>
    <p:sldId id="654" r:id="rId57"/>
    <p:sldId id="656" r:id="rId59"/>
    <p:sldId id="655" r:id="rId60"/>
    <p:sldId id="662" r:id="rId61"/>
    <p:sldId id="663" r:id="rId62"/>
    <p:sldId id="665" r:id="rId63"/>
    <p:sldId id="667" r:id="rId64"/>
    <p:sldId id="666" r:id="rId65"/>
    <p:sldId id="657" r:id="rId66"/>
    <p:sldId id="658" r:id="rId67"/>
    <p:sldId id="668" r:id="rId68"/>
    <p:sldId id="669" r:id="rId69"/>
    <p:sldId id="554" r:id="rId70"/>
    <p:sldId id="618" r:id="rId71"/>
    <p:sldId id="480" r:id="rId72"/>
    <p:sldId id="481" r:id="rId73"/>
    <p:sldId id="482" r:id="rId74"/>
    <p:sldId id="485" r:id="rId75"/>
    <p:sldId id="486" r:id="rId76"/>
    <p:sldId id="496" r:id="rId77"/>
    <p:sldId id="497" r:id="rId78"/>
    <p:sldId id="498" r:id="rId79"/>
    <p:sldId id="499" r:id="rId80"/>
    <p:sldId id="670" r:id="rId81"/>
    <p:sldId id="586" r:id="rId82"/>
    <p:sldId id="588" r:id="rId83"/>
    <p:sldId id="589" r:id="rId84"/>
    <p:sldId id="689" r:id="rId85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5FD"/>
    <a:srgbClr val="E2F5FE"/>
    <a:srgbClr val="EBF9EC"/>
    <a:srgbClr val="FBFFFE"/>
    <a:srgbClr val="852C09"/>
    <a:srgbClr val="FCF1DC"/>
    <a:srgbClr val="FFCC99"/>
    <a:srgbClr val="FFFFF3"/>
    <a:srgbClr val="FFF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2382" autoAdjust="0"/>
    <p:restoredTop sz="65517" autoAdjust="0"/>
  </p:normalViewPr>
  <p:slideViewPr>
    <p:cSldViewPr>
      <p:cViewPr varScale="1">
        <p:scale>
          <a:sx n="89" d="100"/>
          <a:sy n="89" d="100"/>
        </p:scale>
        <p:origin x="720" y="67"/>
      </p:cViewPr>
      <p:guideLst>
        <p:guide orient="horz" pos="2160"/>
        <p:guide orient="horz" pos="307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handoutMaster" Target="handoutMasters/handoutMaster1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E1AD12-5113-4DC1-820E-CDC2995E8A6F}" type="doc">
      <dgm:prSet loTypeId="urn:microsoft.com/office/officeart/2005/8/layout/process4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3F9A359-6017-4A8A-8A71-439965ED72D2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pPr algn="l" rtl="0"/>
          <a:r>
            <a:rPr lang="zh-CN" sz="3200" b="1" dirty="0" smtClean="0"/>
            <a:t>使用记事本编辑源程序</a:t>
          </a:r>
          <a:endParaRPr lang="en-US" altLang="zh-CN" sz="3200" b="1" dirty="0" smtClean="0"/>
        </a:p>
      </dgm:t>
    </dgm:pt>
    <dgm:pt modelId="{94A4930B-82CA-469A-859E-1662DFD2221B}" cxnId="{FFB0AD5B-95BD-44B0-9922-E4159EABDFCB}" type="parTrans">
      <dgm:prSet/>
      <dgm:spPr/>
      <dgm:t>
        <a:bodyPr/>
        <a:lstStyle/>
        <a:p>
          <a:endParaRPr lang="zh-CN" altLang="en-US"/>
        </a:p>
      </dgm:t>
    </dgm:pt>
    <dgm:pt modelId="{E2AF1A64-DAD2-463C-A30E-3BDEAF19CA82}" cxnId="{FFB0AD5B-95BD-44B0-9922-E4159EABDFCB}" type="sibTrans">
      <dgm:prSet/>
      <dgm:spPr>
        <a:solidFill>
          <a:srgbClr val="0070C0"/>
        </a:solidFill>
      </dgm:spPr>
      <dgm:t>
        <a:bodyPr/>
        <a:lstStyle/>
        <a:p>
          <a:endParaRPr lang="zh-CN" altLang="en-US"/>
        </a:p>
      </dgm:t>
    </dgm:pt>
    <dgm:pt modelId="{1A5D7D04-3B15-47F2-BCE5-8DE4C091CA6C}" type="pres">
      <dgm:prSet presAssocID="{E3E1AD12-5113-4DC1-820E-CDC2995E8A6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90750A5-44DE-4ABC-803D-E0C3367D788B}" type="pres">
      <dgm:prSet presAssocID="{23F9A359-6017-4A8A-8A71-439965ED72D2}" presName="boxAndChildren" presStyleCnt="0"/>
      <dgm:spPr/>
    </dgm:pt>
    <dgm:pt modelId="{ED0A0AA4-98A5-4ECA-BF88-6AF52EF2A755}" type="pres">
      <dgm:prSet presAssocID="{23F9A359-6017-4A8A-8A71-439965ED72D2}" presName="parentTextBox" presStyleLbl="node1" presStyleIdx="0" presStyleCnt="1" custLinFactNeighborY="-6340"/>
      <dgm:spPr/>
      <dgm:t>
        <a:bodyPr/>
        <a:lstStyle/>
        <a:p>
          <a:endParaRPr lang="zh-CN" altLang="en-US"/>
        </a:p>
      </dgm:t>
    </dgm:pt>
  </dgm:ptLst>
  <dgm:cxnLst>
    <dgm:cxn modelId="{FFB0AD5B-95BD-44B0-9922-E4159EABDFCB}" srcId="{E3E1AD12-5113-4DC1-820E-CDC2995E8A6F}" destId="{23F9A359-6017-4A8A-8A71-439965ED72D2}" srcOrd="0" destOrd="0" parTransId="{94A4930B-82CA-469A-859E-1662DFD2221B}" sibTransId="{E2AF1A64-DAD2-463C-A30E-3BDEAF19CA82}"/>
    <dgm:cxn modelId="{D8FF21D3-B4E3-416F-87B5-D8B5F1A771E6}" type="presOf" srcId="{E3E1AD12-5113-4DC1-820E-CDC2995E8A6F}" destId="{1A5D7D04-3B15-47F2-BCE5-8DE4C091CA6C}" srcOrd="0" destOrd="0" presId="urn:microsoft.com/office/officeart/2005/8/layout/process4"/>
    <dgm:cxn modelId="{F2888EB7-6EE1-4A64-A0A9-CB272D8B9969}" type="presOf" srcId="{23F9A359-6017-4A8A-8A71-439965ED72D2}" destId="{ED0A0AA4-98A5-4ECA-BF88-6AF52EF2A755}" srcOrd="0" destOrd="0" presId="urn:microsoft.com/office/officeart/2005/8/layout/process4"/>
    <dgm:cxn modelId="{C2F6CCBE-28D8-46C3-B131-D660E135878C}" type="presParOf" srcId="{1A5D7D04-3B15-47F2-BCE5-8DE4C091CA6C}" destId="{190750A5-44DE-4ABC-803D-E0C3367D788B}" srcOrd="0" destOrd="0" presId="urn:microsoft.com/office/officeart/2005/8/layout/process4"/>
    <dgm:cxn modelId="{6321828E-AA0A-406A-B59F-56EA418E8AA6}" type="presParOf" srcId="{190750A5-44DE-4ABC-803D-E0C3367D788B}" destId="{ED0A0AA4-98A5-4ECA-BF88-6AF52EF2A75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E1AD12-5113-4DC1-820E-CDC2995E8A6F}" type="doc">
      <dgm:prSet loTypeId="urn:microsoft.com/office/officeart/2005/8/layout/process4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3F9A359-6017-4A8A-8A71-439965ED72D2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pPr algn="l" rtl="0"/>
          <a:r>
            <a:rPr lang="zh-CN" altLang="en-US" sz="3200" b="1" dirty="0" smtClean="0"/>
            <a:t>将文件保存在</a:t>
          </a:r>
          <a:r>
            <a:rPr lang="en-US" altLang="zh-CN" sz="3200" b="1" dirty="0" smtClean="0"/>
            <a:t>E</a:t>
          </a:r>
          <a:r>
            <a:rPr lang="zh-CN" altLang="en-US" sz="3200" b="1" dirty="0" smtClean="0"/>
            <a:t>盘根目录下</a:t>
          </a:r>
          <a:endParaRPr lang="en-US" altLang="zh-CN" sz="3200" b="1" dirty="0" smtClean="0"/>
        </a:p>
      </dgm:t>
    </dgm:pt>
    <dgm:pt modelId="{94A4930B-82CA-469A-859E-1662DFD2221B}" cxnId="{FFB0AD5B-95BD-44B0-9922-E4159EABDFCB}" type="parTrans">
      <dgm:prSet/>
      <dgm:spPr/>
      <dgm:t>
        <a:bodyPr/>
        <a:lstStyle/>
        <a:p>
          <a:endParaRPr lang="zh-CN" altLang="en-US"/>
        </a:p>
      </dgm:t>
    </dgm:pt>
    <dgm:pt modelId="{E2AF1A64-DAD2-463C-A30E-3BDEAF19CA82}" cxnId="{FFB0AD5B-95BD-44B0-9922-E4159EABDFCB}" type="sibTrans">
      <dgm:prSet/>
      <dgm:spPr>
        <a:solidFill>
          <a:srgbClr val="0070C0"/>
        </a:solidFill>
      </dgm:spPr>
      <dgm:t>
        <a:bodyPr/>
        <a:lstStyle/>
        <a:p>
          <a:endParaRPr lang="zh-CN" altLang="en-US"/>
        </a:p>
      </dgm:t>
    </dgm:pt>
    <dgm:pt modelId="{1A5D7D04-3B15-47F2-BCE5-8DE4C091CA6C}" type="pres">
      <dgm:prSet presAssocID="{E3E1AD12-5113-4DC1-820E-CDC2995E8A6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90750A5-44DE-4ABC-803D-E0C3367D788B}" type="pres">
      <dgm:prSet presAssocID="{23F9A359-6017-4A8A-8A71-439965ED72D2}" presName="boxAndChildren" presStyleCnt="0"/>
      <dgm:spPr/>
    </dgm:pt>
    <dgm:pt modelId="{ED0A0AA4-98A5-4ECA-BF88-6AF52EF2A755}" type="pres">
      <dgm:prSet presAssocID="{23F9A359-6017-4A8A-8A71-439965ED72D2}" presName="parentTextBox" presStyleLbl="node1" presStyleIdx="0" presStyleCnt="1" custLinFactY="100000" custLinFactNeighborY="122391"/>
      <dgm:spPr/>
      <dgm:t>
        <a:bodyPr/>
        <a:lstStyle/>
        <a:p>
          <a:endParaRPr lang="zh-CN" altLang="en-US"/>
        </a:p>
      </dgm:t>
    </dgm:pt>
  </dgm:ptLst>
  <dgm:cxnLst>
    <dgm:cxn modelId="{C5571276-8C51-4586-A963-F8062DE648C7}" type="presOf" srcId="{E3E1AD12-5113-4DC1-820E-CDC2995E8A6F}" destId="{1A5D7D04-3B15-47F2-BCE5-8DE4C091CA6C}" srcOrd="0" destOrd="0" presId="urn:microsoft.com/office/officeart/2005/8/layout/process4"/>
    <dgm:cxn modelId="{FFB0AD5B-95BD-44B0-9922-E4159EABDFCB}" srcId="{E3E1AD12-5113-4DC1-820E-CDC2995E8A6F}" destId="{23F9A359-6017-4A8A-8A71-439965ED72D2}" srcOrd="0" destOrd="0" parTransId="{94A4930B-82CA-469A-859E-1662DFD2221B}" sibTransId="{E2AF1A64-DAD2-463C-A30E-3BDEAF19CA82}"/>
    <dgm:cxn modelId="{52BF1294-0AE5-4580-B4A1-EC9CD8409A6B}" type="presOf" srcId="{23F9A359-6017-4A8A-8A71-439965ED72D2}" destId="{ED0A0AA4-98A5-4ECA-BF88-6AF52EF2A755}" srcOrd="0" destOrd="0" presId="urn:microsoft.com/office/officeart/2005/8/layout/process4"/>
    <dgm:cxn modelId="{02A08B08-5F0A-4DE1-8B41-3E98F74CB789}" type="presParOf" srcId="{1A5D7D04-3B15-47F2-BCE5-8DE4C091CA6C}" destId="{190750A5-44DE-4ABC-803D-E0C3367D788B}" srcOrd="0" destOrd="0" presId="urn:microsoft.com/office/officeart/2005/8/layout/process4"/>
    <dgm:cxn modelId="{8246F29C-17DD-4D7D-B0F1-413F256C460B}" type="presParOf" srcId="{190750A5-44DE-4ABC-803D-E0C3367D788B}" destId="{ED0A0AA4-98A5-4ECA-BF88-6AF52EF2A75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E1AD12-5113-4DC1-820E-CDC2995E8A6F}" type="doc">
      <dgm:prSet loTypeId="urn:microsoft.com/office/officeart/2005/8/layout/process4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BB3CAC4-96F1-4309-8F30-61051E5E48C2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pPr algn="l" rtl="0"/>
          <a:r>
            <a:rPr lang="zh-CN" sz="3200" b="1" dirty="0" smtClean="0"/>
            <a:t>使用</a:t>
          </a:r>
          <a:r>
            <a:rPr lang="en-US" sz="3200" b="1" dirty="0" err="1" smtClean="0"/>
            <a:t>javac</a:t>
          </a:r>
          <a:r>
            <a:rPr lang="zh-CN" sz="3200" b="1" dirty="0" smtClean="0"/>
            <a:t>命令</a:t>
          </a:r>
          <a:r>
            <a:rPr lang="zh-CN" altLang="en-US" sz="3200" b="1" dirty="0" smtClean="0"/>
            <a:t>编译源文件生成 </a:t>
          </a:r>
          <a:r>
            <a:rPr lang="en-US" sz="3200" b="1" dirty="0" smtClean="0"/>
            <a:t>.class</a:t>
          </a:r>
          <a:r>
            <a:rPr lang="zh-CN" sz="3200" b="1" dirty="0" smtClean="0"/>
            <a:t>文件</a:t>
          </a:r>
          <a:endParaRPr lang="zh-CN" sz="3200" b="1" dirty="0"/>
        </a:p>
      </dgm:t>
    </dgm:pt>
    <dgm:pt modelId="{11CB40CC-83F4-472A-9CF3-0D01D523FD8A}" cxnId="{0EC969A3-FE85-4CF5-8E67-F9A639C3F266}" type="parTrans">
      <dgm:prSet/>
      <dgm:spPr/>
      <dgm:t>
        <a:bodyPr/>
        <a:lstStyle/>
        <a:p>
          <a:endParaRPr lang="zh-CN" altLang="en-US"/>
        </a:p>
      </dgm:t>
    </dgm:pt>
    <dgm:pt modelId="{33C85A28-2F02-4EFE-BC88-9B316DF94195}" cxnId="{0EC969A3-FE85-4CF5-8E67-F9A639C3F266}" type="sibTrans">
      <dgm:prSet/>
      <dgm:spPr/>
      <dgm:t>
        <a:bodyPr/>
        <a:lstStyle/>
        <a:p>
          <a:endParaRPr lang="zh-CN" altLang="en-US"/>
        </a:p>
      </dgm:t>
    </dgm:pt>
    <dgm:pt modelId="{1A5D7D04-3B15-47F2-BCE5-8DE4C091CA6C}" type="pres">
      <dgm:prSet presAssocID="{E3E1AD12-5113-4DC1-820E-CDC2995E8A6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F5B323F-9E5B-4273-9855-7AD9C2708D47}" type="pres">
      <dgm:prSet presAssocID="{9BB3CAC4-96F1-4309-8F30-61051E5E48C2}" presName="boxAndChildren" presStyleCnt="0"/>
      <dgm:spPr/>
    </dgm:pt>
    <dgm:pt modelId="{17B93FE7-8B50-4F1B-B6F3-D69DE033801E}" type="pres">
      <dgm:prSet presAssocID="{9BB3CAC4-96F1-4309-8F30-61051E5E48C2}" presName="parentTextBox" presStyleLbl="node1" presStyleIdx="0" presStyleCnt="1" custLinFactNeighborX="-7724" custLinFactNeighborY="-15548"/>
      <dgm:spPr/>
      <dgm:t>
        <a:bodyPr/>
        <a:lstStyle/>
        <a:p>
          <a:endParaRPr lang="zh-CN" altLang="en-US"/>
        </a:p>
      </dgm:t>
    </dgm:pt>
  </dgm:ptLst>
  <dgm:cxnLst>
    <dgm:cxn modelId="{EEAA1FFC-F53C-4438-B87C-843289D90E41}" type="presOf" srcId="{E3E1AD12-5113-4DC1-820E-CDC2995E8A6F}" destId="{1A5D7D04-3B15-47F2-BCE5-8DE4C091CA6C}" srcOrd="0" destOrd="0" presId="urn:microsoft.com/office/officeart/2005/8/layout/process4"/>
    <dgm:cxn modelId="{90953B04-736E-440F-92DA-9B05847B70D4}" type="presOf" srcId="{9BB3CAC4-96F1-4309-8F30-61051E5E48C2}" destId="{17B93FE7-8B50-4F1B-B6F3-D69DE033801E}" srcOrd="0" destOrd="0" presId="urn:microsoft.com/office/officeart/2005/8/layout/process4"/>
    <dgm:cxn modelId="{0EC969A3-FE85-4CF5-8E67-F9A639C3F266}" srcId="{E3E1AD12-5113-4DC1-820E-CDC2995E8A6F}" destId="{9BB3CAC4-96F1-4309-8F30-61051E5E48C2}" srcOrd="0" destOrd="0" parTransId="{11CB40CC-83F4-472A-9CF3-0D01D523FD8A}" sibTransId="{33C85A28-2F02-4EFE-BC88-9B316DF94195}"/>
    <dgm:cxn modelId="{F0ABDEBA-5073-4B74-89F0-1B59C6F66F6A}" type="presParOf" srcId="{1A5D7D04-3B15-47F2-BCE5-8DE4C091CA6C}" destId="{5F5B323F-9E5B-4273-9855-7AD9C2708D47}" srcOrd="0" destOrd="0" presId="urn:microsoft.com/office/officeart/2005/8/layout/process4"/>
    <dgm:cxn modelId="{ABE0B6CF-9C2C-4BE2-9645-F78710EF2BBB}" type="presParOf" srcId="{5F5B323F-9E5B-4273-9855-7AD9C2708D47}" destId="{17B93FE7-8B50-4F1B-B6F3-D69DE033801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E1AD12-5113-4DC1-820E-CDC2995E8A6F}" type="doc">
      <dgm:prSet loTypeId="urn:microsoft.com/office/officeart/2005/8/layout/process4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BB3CAC4-96F1-4309-8F30-61051E5E48C2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pPr algn="l" rtl="0"/>
          <a:r>
            <a:rPr lang="zh-CN" altLang="en-US" sz="3200" b="1" dirty="0" smtClean="0"/>
            <a:t>编译时目录要转到源代码文件所在的目录</a:t>
          </a:r>
          <a:endParaRPr lang="en-US" altLang="zh-CN" sz="3200" b="1" dirty="0" smtClean="0"/>
        </a:p>
        <a:p>
          <a:pPr algn="l" rtl="0"/>
          <a:r>
            <a:rPr lang="zh-CN" altLang="en-US" sz="3200" b="1" dirty="0" smtClean="0"/>
            <a:t>例如，在本例中，源文件存在</a:t>
          </a:r>
          <a:r>
            <a:rPr lang="en-US" altLang="zh-CN" sz="3200" b="1" dirty="0" smtClean="0"/>
            <a:t>e</a:t>
          </a:r>
          <a:r>
            <a:rPr lang="zh-CN" altLang="en-US" sz="3200" b="1" dirty="0" smtClean="0"/>
            <a:t>盘根目录下。我们将目录转到</a:t>
          </a:r>
          <a:r>
            <a:rPr lang="en-US" altLang="zh-CN" sz="3200" b="1" dirty="0" smtClean="0"/>
            <a:t>E</a:t>
          </a:r>
          <a:r>
            <a:rPr lang="zh-CN" altLang="en-US" sz="3200" b="1" dirty="0" smtClean="0"/>
            <a:t>盘根目录下。</a:t>
          </a:r>
          <a:endParaRPr lang="zh-CN" sz="3200" b="1" dirty="0"/>
        </a:p>
      </dgm:t>
    </dgm:pt>
    <dgm:pt modelId="{11CB40CC-83F4-472A-9CF3-0D01D523FD8A}" cxnId="{0EC969A3-FE85-4CF5-8E67-F9A639C3F266}" type="parTrans">
      <dgm:prSet/>
      <dgm:spPr/>
      <dgm:t>
        <a:bodyPr/>
        <a:lstStyle/>
        <a:p>
          <a:endParaRPr lang="zh-CN" altLang="en-US"/>
        </a:p>
      </dgm:t>
    </dgm:pt>
    <dgm:pt modelId="{33C85A28-2F02-4EFE-BC88-9B316DF94195}" cxnId="{0EC969A3-FE85-4CF5-8E67-F9A639C3F266}" type="sibTrans">
      <dgm:prSet/>
      <dgm:spPr/>
      <dgm:t>
        <a:bodyPr/>
        <a:lstStyle/>
        <a:p>
          <a:endParaRPr lang="zh-CN" altLang="en-US"/>
        </a:p>
      </dgm:t>
    </dgm:pt>
    <dgm:pt modelId="{1A5D7D04-3B15-47F2-BCE5-8DE4C091CA6C}" type="pres">
      <dgm:prSet presAssocID="{E3E1AD12-5113-4DC1-820E-CDC2995E8A6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F5B323F-9E5B-4273-9855-7AD9C2708D47}" type="pres">
      <dgm:prSet presAssocID="{9BB3CAC4-96F1-4309-8F30-61051E5E48C2}" presName="boxAndChildren" presStyleCnt="0"/>
      <dgm:spPr/>
    </dgm:pt>
    <dgm:pt modelId="{17B93FE7-8B50-4F1B-B6F3-D69DE033801E}" type="pres">
      <dgm:prSet presAssocID="{9BB3CAC4-96F1-4309-8F30-61051E5E48C2}" presName="parentTextBox" presStyleLbl="node1" presStyleIdx="0" presStyleCnt="1" custLinFactNeighborX="-7724" custLinFactNeighborY="-15548"/>
      <dgm:spPr/>
      <dgm:t>
        <a:bodyPr/>
        <a:lstStyle/>
        <a:p>
          <a:endParaRPr lang="zh-CN" altLang="en-US"/>
        </a:p>
      </dgm:t>
    </dgm:pt>
  </dgm:ptLst>
  <dgm:cxnLst>
    <dgm:cxn modelId="{BB487E7F-79F2-47D6-9217-BF6890D499E0}" type="presOf" srcId="{9BB3CAC4-96F1-4309-8F30-61051E5E48C2}" destId="{17B93FE7-8B50-4F1B-B6F3-D69DE033801E}" srcOrd="0" destOrd="0" presId="urn:microsoft.com/office/officeart/2005/8/layout/process4"/>
    <dgm:cxn modelId="{A3F5A1F0-9156-4D3E-81F0-A62ED66083C4}" type="presOf" srcId="{E3E1AD12-5113-4DC1-820E-CDC2995E8A6F}" destId="{1A5D7D04-3B15-47F2-BCE5-8DE4C091CA6C}" srcOrd="0" destOrd="0" presId="urn:microsoft.com/office/officeart/2005/8/layout/process4"/>
    <dgm:cxn modelId="{0EC969A3-FE85-4CF5-8E67-F9A639C3F266}" srcId="{E3E1AD12-5113-4DC1-820E-CDC2995E8A6F}" destId="{9BB3CAC4-96F1-4309-8F30-61051E5E48C2}" srcOrd="0" destOrd="0" parTransId="{11CB40CC-83F4-472A-9CF3-0D01D523FD8A}" sibTransId="{33C85A28-2F02-4EFE-BC88-9B316DF94195}"/>
    <dgm:cxn modelId="{F353652E-3AF1-42BD-A65F-9E109716D54D}" type="presParOf" srcId="{1A5D7D04-3B15-47F2-BCE5-8DE4C091CA6C}" destId="{5F5B323F-9E5B-4273-9855-7AD9C2708D47}" srcOrd="0" destOrd="0" presId="urn:microsoft.com/office/officeart/2005/8/layout/process4"/>
    <dgm:cxn modelId="{CA4FA8A7-151E-4B7A-9B0E-247B170D3B86}" type="presParOf" srcId="{5F5B323F-9E5B-4273-9855-7AD9C2708D47}" destId="{17B93FE7-8B50-4F1B-B6F3-D69DE033801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E1AD12-5113-4DC1-820E-CDC2995E8A6F}" type="doc">
      <dgm:prSet loTypeId="urn:microsoft.com/office/officeart/2005/8/layout/process4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BB3CAC4-96F1-4309-8F30-61051E5E48C2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pPr algn="l" rtl="0"/>
          <a:r>
            <a:rPr lang="zh-CN" altLang="en-US" sz="3200" dirty="0" smtClean="0"/>
            <a:t>编译和运行时一样，也区分大小写</a:t>
          </a:r>
          <a:endParaRPr lang="zh-CN" sz="3200" b="1" dirty="0"/>
        </a:p>
      </dgm:t>
    </dgm:pt>
    <dgm:pt modelId="{11CB40CC-83F4-472A-9CF3-0D01D523FD8A}" cxnId="{0EC969A3-FE85-4CF5-8E67-F9A639C3F266}" type="parTrans">
      <dgm:prSet/>
      <dgm:spPr/>
      <dgm:t>
        <a:bodyPr/>
        <a:lstStyle/>
        <a:p>
          <a:endParaRPr lang="zh-CN" altLang="en-US"/>
        </a:p>
      </dgm:t>
    </dgm:pt>
    <dgm:pt modelId="{33C85A28-2F02-4EFE-BC88-9B316DF94195}" cxnId="{0EC969A3-FE85-4CF5-8E67-F9A639C3F266}" type="sibTrans">
      <dgm:prSet/>
      <dgm:spPr/>
      <dgm:t>
        <a:bodyPr/>
        <a:lstStyle/>
        <a:p>
          <a:endParaRPr lang="zh-CN" altLang="en-US"/>
        </a:p>
      </dgm:t>
    </dgm:pt>
    <dgm:pt modelId="{1A5D7D04-3B15-47F2-BCE5-8DE4C091CA6C}" type="pres">
      <dgm:prSet presAssocID="{E3E1AD12-5113-4DC1-820E-CDC2995E8A6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F5B323F-9E5B-4273-9855-7AD9C2708D47}" type="pres">
      <dgm:prSet presAssocID="{9BB3CAC4-96F1-4309-8F30-61051E5E48C2}" presName="boxAndChildren" presStyleCnt="0"/>
      <dgm:spPr/>
    </dgm:pt>
    <dgm:pt modelId="{17B93FE7-8B50-4F1B-B6F3-D69DE033801E}" type="pres">
      <dgm:prSet presAssocID="{9BB3CAC4-96F1-4309-8F30-61051E5E48C2}" presName="parentTextBox" presStyleLbl="node1" presStyleIdx="0" presStyleCnt="1" custLinFactNeighborX="-7724" custLinFactNeighborY="-15548"/>
      <dgm:spPr/>
      <dgm:t>
        <a:bodyPr/>
        <a:lstStyle/>
        <a:p>
          <a:endParaRPr lang="zh-CN" altLang="en-US"/>
        </a:p>
      </dgm:t>
    </dgm:pt>
  </dgm:ptLst>
  <dgm:cxnLst>
    <dgm:cxn modelId="{0D637C02-1D82-4DEA-99BC-DBC5F6B76136}" type="presOf" srcId="{9BB3CAC4-96F1-4309-8F30-61051E5E48C2}" destId="{17B93FE7-8B50-4F1B-B6F3-D69DE033801E}" srcOrd="0" destOrd="0" presId="urn:microsoft.com/office/officeart/2005/8/layout/process4"/>
    <dgm:cxn modelId="{0EC969A3-FE85-4CF5-8E67-F9A639C3F266}" srcId="{E3E1AD12-5113-4DC1-820E-CDC2995E8A6F}" destId="{9BB3CAC4-96F1-4309-8F30-61051E5E48C2}" srcOrd="0" destOrd="0" parTransId="{11CB40CC-83F4-472A-9CF3-0D01D523FD8A}" sibTransId="{33C85A28-2F02-4EFE-BC88-9B316DF94195}"/>
    <dgm:cxn modelId="{B9F8C084-D32C-41AC-AFE0-A5FE3FA091FF}" type="presOf" srcId="{E3E1AD12-5113-4DC1-820E-CDC2995E8A6F}" destId="{1A5D7D04-3B15-47F2-BCE5-8DE4C091CA6C}" srcOrd="0" destOrd="0" presId="urn:microsoft.com/office/officeart/2005/8/layout/process4"/>
    <dgm:cxn modelId="{7E8E6AA8-B27E-400F-8FBC-169B0E1DD310}" type="presParOf" srcId="{1A5D7D04-3B15-47F2-BCE5-8DE4C091CA6C}" destId="{5F5B323F-9E5B-4273-9855-7AD9C2708D47}" srcOrd="0" destOrd="0" presId="urn:microsoft.com/office/officeart/2005/8/layout/process4"/>
    <dgm:cxn modelId="{2EB11AFA-CAA0-4448-AA2B-3C8ED7B4BAC9}" type="presParOf" srcId="{5F5B323F-9E5B-4273-9855-7AD9C2708D47}" destId="{17B93FE7-8B50-4F1B-B6F3-D69DE033801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3E1AD12-5113-4DC1-820E-CDC2995E8A6F}" type="doc">
      <dgm:prSet loTypeId="urn:microsoft.com/office/officeart/2005/8/layout/process4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BB3CAC4-96F1-4309-8F30-61051E5E48C2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pPr rtl="0"/>
          <a:r>
            <a:rPr lang="zh-CN" sz="3200" b="1" dirty="0" smtClean="0"/>
            <a:t>使用</a:t>
          </a:r>
          <a:r>
            <a:rPr lang="en-US" sz="3200" b="1" dirty="0" smtClean="0"/>
            <a:t>java</a:t>
          </a:r>
          <a:r>
            <a:rPr lang="zh-CN" sz="3200" b="1" dirty="0" smtClean="0"/>
            <a:t>命令</a:t>
          </a:r>
          <a:r>
            <a:rPr lang="zh-CN" altLang="en-US" sz="3200" b="1" dirty="0" smtClean="0"/>
            <a:t>运</a:t>
          </a:r>
          <a:r>
            <a:rPr lang="zh-CN" sz="3200" b="1" dirty="0" smtClean="0"/>
            <a:t>行</a:t>
          </a:r>
          <a:r>
            <a:rPr lang="en-US" sz="3200" b="1" dirty="0" smtClean="0"/>
            <a:t>.class</a:t>
          </a:r>
          <a:r>
            <a:rPr lang="zh-CN" sz="3200" b="1" dirty="0" smtClean="0"/>
            <a:t>文件，输出程序结果 </a:t>
          </a:r>
          <a:endParaRPr lang="zh-CN" sz="3200" b="1" dirty="0"/>
        </a:p>
      </dgm:t>
    </dgm:pt>
    <dgm:pt modelId="{33C85A28-2F02-4EFE-BC88-9B316DF94195}" cxnId="{0EC969A3-FE85-4CF5-8E67-F9A639C3F266}" type="sibTrans">
      <dgm:prSet/>
      <dgm:spPr/>
      <dgm:t>
        <a:bodyPr/>
        <a:lstStyle/>
        <a:p>
          <a:endParaRPr lang="zh-CN" altLang="en-US"/>
        </a:p>
      </dgm:t>
    </dgm:pt>
    <dgm:pt modelId="{11CB40CC-83F4-472A-9CF3-0D01D523FD8A}" cxnId="{0EC969A3-FE85-4CF5-8E67-F9A639C3F266}" type="parTrans">
      <dgm:prSet/>
      <dgm:spPr/>
      <dgm:t>
        <a:bodyPr/>
        <a:lstStyle/>
        <a:p>
          <a:endParaRPr lang="zh-CN" altLang="en-US"/>
        </a:p>
      </dgm:t>
    </dgm:pt>
    <dgm:pt modelId="{1A5D7D04-3B15-47F2-BCE5-8DE4C091CA6C}" type="pres">
      <dgm:prSet presAssocID="{E3E1AD12-5113-4DC1-820E-CDC2995E8A6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F5B323F-9E5B-4273-9855-7AD9C2708D47}" type="pres">
      <dgm:prSet presAssocID="{9BB3CAC4-96F1-4309-8F30-61051E5E48C2}" presName="boxAndChildren" presStyleCnt="0"/>
      <dgm:spPr/>
    </dgm:pt>
    <dgm:pt modelId="{17B93FE7-8B50-4F1B-B6F3-D69DE033801E}" type="pres">
      <dgm:prSet presAssocID="{9BB3CAC4-96F1-4309-8F30-61051E5E48C2}" presName="parentTextBox" presStyleLbl="node1" presStyleIdx="0" presStyleCnt="1"/>
      <dgm:spPr/>
      <dgm:t>
        <a:bodyPr/>
        <a:lstStyle/>
        <a:p>
          <a:endParaRPr lang="zh-CN" altLang="en-US"/>
        </a:p>
      </dgm:t>
    </dgm:pt>
  </dgm:ptLst>
  <dgm:cxnLst>
    <dgm:cxn modelId="{C72106EE-0151-4BE3-9F60-A80E7511FBDD}" type="presOf" srcId="{E3E1AD12-5113-4DC1-820E-CDC2995E8A6F}" destId="{1A5D7D04-3B15-47F2-BCE5-8DE4C091CA6C}" srcOrd="0" destOrd="0" presId="urn:microsoft.com/office/officeart/2005/8/layout/process4"/>
    <dgm:cxn modelId="{0EC969A3-FE85-4CF5-8E67-F9A639C3F266}" srcId="{E3E1AD12-5113-4DC1-820E-CDC2995E8A6F}" destId="{9BB3CAC4-96F1-4309-8F30-61051E5E48C2}" srcOrd="0" destOrd="0" parTransId="{11CB40CC-83F4-472A-9CF3-0D01D523FD8A}" sibTransId="{33C85A28-2F02-4EFE-BC88-9B316DF94195}"/>
    <dgm:cxn modelId="{06F7F120-42F6-4AF0-850C-590F920D58A0}" type="presOf" srcId="{9BB3CAC4-96F1-4309-8F30-61051E5E48C2}" destId="{17B93FE7-8B50-4F1B-B6F3-D69DE033801E}" srcOrd="0" destOrd="0" presId="urn:microsoft.com/office/officeart/2005/8/layout/process4"/>
    <dgm:cxn modelId="{3ED8CC45-FD9F-440C-A501-6D95101F0880}" type="presParOf" srcId="{1A5D7D04-3B15-47F2-BCE5-8DE4C091CA6C}" destId="{5F5B323F-9E5B-4273-9855-7AD9C2708D47}" srcOrd="0" destOrd="0" presId="urn:microsoft.com/office/officeart/2005/8/layout/process4"/>
    <dgm:cxn modelId="{77409ED7-A244-42EE-9670-A5CD3D67D279}" type="presParOf" srcId="{5F5B323F-9E5B-4273-9855-7AD9C2708D47}" destId="{17B93FE7-8B50-4F1B-B6F3-D69DE033801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0A0AA4-98A5-4ECA-BF88-6AF52EF2A755}">
      <dsp:nvSpPr>
        <dsp:cNvPr id="0" name=""/>
        <dsp:cNvSpPr/>
      </dsp:nvSpPr>
      <dsp:spPr>
        <a:xfrm>
          <a:off x="0" y="0"/>
          <a:ext cx="8869179" cy="1135598"/>
        </a:xfrm>
        <a:prstGeom prst="rect">
          <a:avLst/>
        </a:prstGeom>
        <a:solidFill>
          <a:schemeClr val="accent5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b="1" kern="1200" dirty="0" smtClean="0"/>
            <a:t>使用记事本编辑源程序</a:t>
          </a:r>
          <a:endParaRPr lang="en-US" altLang="zh-CN" sz="3200" b="1" kern="1200" dirty="0" smtClean="0"/>
        </a:p>
      </dsp:txBody>
      <dsp:txXfrm>
        <a:off x="0" y="0"/>
        <a:ext cx="8869179" cy="11355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0A0AA4-98A5-4ECA-BF88-6AF52EF2A755}">
      <dsp:nvSpPr>
        <dsp:cNvPr id="0" name=""/>
        <dsp:cNvSpPr/>
      </dsp:nvSpPr>
      <dsp:spPr>
        <a:xfrm>
          <a:off x="0" y="632"/>
          <a:ext cx="8869179" cy="647439"/>
        </a:xfrm>
        <a:prstGeom prst="rect">
          <a:avLst/>
        </a:prstGeom>
        <a:solidFill>
          <a:schemeClr val="accent5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 smtClean="0"/>
            <a:t>将文件保存在</a:t>
          </a:r>
          <a:r>
            <a:rPr lang="en-US" altLang="zh-CN" sz="3200" b="1" kern="1200" dirty="0" smtClean="0"/>
            <a:t>E</a:t>
          </a:r>
          <a:r>
            <a:rPr lang="zh-CN" altLang="en-US" sz="3200" b="1" kern="1200" dirty="0" smtClean="0"/>
            <a:t>盘根目录下</a:t>
          </a:r>
          <a:endParaRPr lang="en-US" altLang="zh-CN" sz="3200" b="1" kern="1200" dirty="0" smtClean="0"/>
        </a:p>
      </dsp:txBody>
      <dsp:txXfrm>
        <a:off x="0" y="632"/>
        <a:ext cx="8869179" cy="6474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93FE7-8B50-4F1B-B6F3-D69DE033801E}">
      <dsp:nvSpPr>
        <dsp:cNvPr id="0" name=""/>
        <dsp:cNvSpPr/>
      </dsp:nvSpPr>
      <dsp:spPr>
        <a:xfrm>
          <a:off x="0" y="0"/>
          <a:ext cx="8892480" cy="575501"/>
        </a:xfrm>
        <a:prstGeom prst="rect">
          <a:avLst/>
        </a:prstGeom>
        <a:solidFill>
          <a:schemeClr val="accent5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b="1" kern="1200" dirty="0" smtClean="0"/>
            <a:t>使用</a:t>
          </a:r>
          <a:r>
            <a:rPr lang="en-US" sz="3200" b="1" kern="1200" dirty="0" err="1" smtClean="0"/>
            <a:t>javac</a:t>
          </a:r>
          <a:r>
            <a:rPr lang="zh-CN" sz="3200" b="1" kern="1200" dirty="0" smtClean="0"/>
            <a:t>命令</a:t>
          </a:r>
          <a:r>
            <a:rPr lang="zh-CN" altLang="en-US" sz="3200" b="1" kern="1200" dirty="0" smtClean="0"/>
            <a:t>编译源文件生成 </a:t>
          </a:r>
          <a:r>
            <a:rPr lang="en-US" sz="3200" b="1" kern="1200" dirty="0" smtClean="0"/>
            <a:t>.class</a:t>
          </a:r>
          <a:r>
            <a:rPr lang="zh-CN" sz="3200" b="1" kern="1200" dirty="0" smtClean="0"/>
            <a:t>文件</a:t>
          </a:r>
          <a:endParaRPr lang="zh-CN" sz="3200" b="1" kern="1200" dirty="0"/>
        </a:p>
      </dsp:txBody>
      <dsp:txXfrm>
        <a:off x="0" y="0"/>
        <a:ext cx="8892480" cy="5755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93FE7-8B50-4F1B-B6F3-D69DE033801E}">
      <dsp:nvSpPr>
        <dsp:cNvPr id="0" name=""/>
        <dsp:cNvSpPr/>
      </dsp:nvSpPr>
      <dsp:spPr>
        <a:xfrm>
          <a:off x="0" y="0"/>
          <a:ext cx="8892480" cy="1942317"/>
        </a:xfrm>
        <a:prstGeom prst="rect">
          <a:avLst/>
        </a:prstGeom>
        <a:solidFill>
          <a:schemeClr val="accent5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 smtClean="0"/>
            <a:t>编译时目录要转到源代码文件所在的目录</a:t>
          </a:r>
          <a:endParaRPr lang="en-US" altLang="zh-CN" sz="3200" b="1" kern="1200" dirty="0" smtClean="0"/>
        </a:p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 smtClean="0"/>
            <a:t>例如，在本例中，源文件存在</a:t>
          </a:r>
          <a:r>
            <a:rPr lang="en-US" altLang="zh-CN" sz="3200" b="1" kern="1200" dirty="0" smtClean="0"/>
            <a:t>e</a:t>
          </a:r>
          <a:r>
            <a:rPr lang="zh-CN" altLang="en-US" sz="3200" b="1" kern="1200" dirty="0" smtClean="0"/>
            <a:t>盘根目录下。我们将目录转到</a:t>
          </a:r>
          <a:r>
            <a:rPr lang="en-US" altLang="zh-CN" sz="3200" b="1" kern="1200" dirty="0" smtClean="0"/>
            <a:t>E</a:t>
          </a:r>
          <a:r>
            <a:rPr lang="zh-CN" altLang="en-US" sz="3200" b="1" kern="1200" dirty="0" smtClean="0"/>
            <a:t>盘根目录下。</a:t>
          </a:r>
          <a:endParaRPr lang="zh-CN" sz="3200" b="1" kern="1200" dirty="0"/>
        </a:p>
      </dsp:txBody>
      <dsp:txXfrm>
        <a:off x="0" y="0"/>
        <a:ext cx="8892480" cy="19423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93FE7-8B50-4F1B-B6F3-D69DE033801E}">
      <dsp:nvSpPr>
        <dsp:cNvPr id="0" name=""/>
        <dsp:cNvSpPr/>
      </dsp:nvSpPr>
      <dsp:spPr>
        <a:xfrm>
          <a:off x="0" y="0"/>
          <a:ext cx="8892480" cy="575501"/>
        </a:xfrm>
        <a:prstGeom prst="rect">
          <a:avLst/>
        </a:prstGeom>
        <a:solidFill>
          <a:schemeClr val="accent5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/>
            <a:t>编译和运行时一样，也区分大小写</a:t>
          </a:r>
          <a:endParaRPr lang="zh-CN" sz="3200" b="1" kern="1200" dirty="0"/>
        </a:p>
      </dsp:txBody>
      <dsp:txXfrm>
        <a:off x="0" y="0"/>
        <a:ext cx="8892480" cy="5755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93FE7-8B50-4F1B-B6F3-D69DE033801E}">
      <dsp:nvSpPr>
        <dsp:cNvPr id="0" name=""/>
        <dsp:cNvSpPr/>
      </dsp:nvSpPr>
      <dsp:spPr>
        <a:xfrm>
          <a:off x="0" y="308"/>
          <a:ext cx="8821644" cy="630925"/>
        </a:xfrm>
        <a:prstGeom prst="rect">
          <a:avLst/>
        </a:prstGeom>
        <a:solidFill>
          <a:schemeClr val="accent5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200" b="1" kern="1200" dirty="0" smtClean="0"/>
            <a:t>使用</a:t>
          </a:r>
          <a:r>
            <a:rPr lang="en-US" sz="3200" b="1" kern="1200" dirty="0" smtClean="0"/>
            <a:t>java</a:t>
          </a:r>
          <a:r>
            <a:rPr lang="zh-CN" sz="3200" b="1" kern="1200" dirty="0" smtClean="0"/>
            <a:t>命令</a:t>
          </a:r>
          <a:r>
            <a:rPr lang="zh-CN" altLang="en-US" sz="3200" b="1" kern="1200" dirty="0" smtClean="0"/>
            <a:t>运</a:t>
          </a:r>
          <a:r>
            <a:rPr lang="zh-CN" sz="3200" b="1" kern="1200" dirty="0" smtClean="0"/>
            <a:t>行</a:t>
          </a:r>
          <a:r>
            <a:rPr lang="en-US" sz="3200" b="1" kern="1200" dirty="0" smtClean="0"/>
            <a:t>.class</a:t>
          </a:r>
          <a:r>
            <a:rPr lang="zh-CN" sz="3200" b="1" kern="1200" dirty="0" smtClean="0"/>
            <a:t>文件，输出程序结果 </a:t>
          </a:r>
          <a:endParaRPr lang="zh-CN" sz="3200" b="1" kern="1200" dirty="0"/>
        </a:p>
      </dsp:txBody>
      <dsp:txXfrm>
        <a:off x="0" y="308"/>
        <a:ext cx="8821644" cy="6309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type="upArrowCallout" r:blip="" rot="180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type="upArrowCallout" r:blip="" rot="180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type="upArrowCallout" r:blip="" rot="180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type="upArrowCallout" r:blip="" rot="180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type="upArrowCallout" r:blip="" rot="180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type="upArrowCallout" r:blip="" rot="180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type="upArrowCallout" r:blip="" rot="180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type="upArrowCallout" r:blip="" rot="180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type="upArrowCallout" r:blip="" rot="180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type="upArrowCallout" r:blip="" rot="180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type="upArrowCallout" r:blip="" rot="180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type="upArrowCallout" r:blip="" rot="180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84C317F-F71C-4BC7-A7C2-3C11FF74FF5A}" type="slidenum">
              <a:rPr lang="zh-CN" altLang="en-US"/>
            </a:fld>
            <a:endParaRPr lang="en-US" altLang="zh-CN"/>
          </a:p>
        </p:txBody>
      </p:sp>
      <p:sp>
        <p:nvSpPr>
          <p:cNvPr id="594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B74C6B4-31DC-46F1-82E0-CD88C104D219}" type="slidenum">
              <a:rPr lang="zh-CN" altLang="en-US"/>
            </a:fld>
            <a:endParaRPr lang="en-US" altLang="zh-CN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40000"/>
              </a:spcBef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教学指导：在</a:t>
            </a:r>
            <a:r>
              <a:rPr lang="en-US" altLang="zh-CN" dirty="0" err="1" smtClean="0"/>
              <a:t>MyEclipse</a:t>
            </a:r>
            <a:r>
              <a:rPr lang="zh-CN" altLang="en-US" dirty="0" smtClean="0"/>
              <a:t>环境中演示并讲解这几种常见错误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1276351"/>
            <a:ext cx="7645398" cy="5010170"/>
          </a:xfrm>
        </p:spPr>
        <p:txBody>
          <a:bodyPr/>
          <a:lstStyle>
            <a:lvl1pPr>
              <a:buSzPct val="80000"/>
              <a:buFontTx/>
              <a:buBlip>
                <a:blip r:embed="rId2"/>
              </a:buBlip>
              <a:defRPr b="1">
                <a:latin typeface="+mn-lt"/>
              </a:defRPr>
            </a:lvl1pPr>
            <a:lvl2pPr>
              <a:buSzPct val="100000"/>
              <a:buFontTx/>
              <a:buBlip>
                <a:blip r:embed="rId3"/>
              </a:buBlip>
              <a:defRPr b="1">
                <a:latin typeface="+mn-lt"/>
              </a:defRPr>
            </a:lvl2pPr>
            <a:lvl3pPr>
              <a:buClr>
                <a:schemeClr val="tx2"/>
              </a:buClr>
              <a:buSzPct val="85000"/>
              <a:buFontTx/>
              <a:buBlip>
                <a:blip r:embed="rId4"/>
              </a:buBlip>
              <a:defRPr b="1">
                <a:latin typeface="+mn-lt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8756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28756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276350"/>
            <a:ext cx="3889375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97425" y="1276350"/>
            <a:ext cx="3889375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6938963" y="6421438"/>
            <a:ext cx="2133600" cy="365125"/>
          </a:xfrm>
        </p:spPr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7213" y="80963"/>
            <a:ext cx="2057400" cy="64436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013" y="80963"/>
            <a:ext cx="6019800" cy="64436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0" y="1276350"/>
            <a:ext cx="3889375" cy="52482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97425" y="1276350"/>
            <a:ext cx="3889375" cy="52482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276350"/>
            <a:ext cx="7931150" cy="5248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80963"/>
            <a:ext cx="8229600" cy="900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00000"/>
        <a:buBlip>
          <a:blip r:embed="rId13"/>
        </a:buBlip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00000"/>
        <a:buBlip>
          <a:blip r:embed="rId14"/>
        </a:buBlip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Blip>
          <a:blip r:embed="rId15"/>
        </a:buBlip>
        <a:defRPr sz="2000" b="1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楷体_GB2312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diagramDrawing" Target="../diagrams/drawing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3" Type="http://schemas.openxmlformats.org/officeDocument/2006/relationships/diagramData" Target="../diagrams/data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5784" y="2643182"/>
            <a:ext cx="2000250" cy="5000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 pitchFamily="34" charset="0"/>
              </a:rPr>
              <a:t>第一章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79492" y="3492507"/>
            <a:ext cx="6192838" cy="865187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l">
              <a:lnSpc>
                <a:spcPct val="90000"/>
              </a:lnSpc>
              <a:defRPr/>
            </a:pP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 pitchFamily="34" charset="0"/>
              </a:rPr>
              <a:t> 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 pitchFamily="34" charset="0"/>
              </a:rPr>
              <a:t>概述 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508047" y="692696"/>
            <a:ext cx="18325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b="1" dirty="0"/>
              <a:t>课程描述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1187624" y="1988969"/>
            <a:ext cx="669674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3200" dirty="0"/>
              <a:t>	</a:t>
            </a:r>
            <a:r>
              <a:rPr lang="en-US" altLang="zh-CN" sz="3200" dirty="0" smtClean="0"/>
              <a:t>Java</a:t>
            </a:r>
            <a:r>
              <a:rPr lang="zh-CN" altLang="en-US" sz="3200" dirty="0" smtClean="0"/>
              <a:t>是目前最流行的编程语言， 广泛应用于在</a:t>
            </a:r>
            <a:r>
              <a:rPr lang="zh-CN" altLang="en-US" sz="3200" dirty="0"/>
              <a:t>互联</a:t>
            </a:r>
            <a:r>
              <a:rPr lang="zh-CN" altLang="en-US" sz="3200" dirty="0" smtClean="0"/>
              <a:t>网前端、后</a:t>
            </a:r>
            <a:r>
              <a:rPr lang="zh-CN" altLang="en-US" sz="3200" dirty="0"/>
              <a:t>端、企业</a:t>
            </a:r>
            <a:r>
              <a:rPr lang="zh-CN" altLang="en-US" sz="3200" dirty="0" smtClean="0"/>
              <a:t>级应用开</a:t>
            </a:r>
            <a:r>
              <a:rPr lang="zh-CN" altLang="en-US" sz="3200" dirty="0"/>
              <a:t>发、移动开发（</a:t>
            </a:r>
            <a:r>
              <a:rPr lang="en-US" altLang="zh-CN" sz="3200" dirty="0"/>
              <a:t>Android</a:t>
            </a:r>
            <a:r>
              <a:rPr lang="zh-CN" altLang="en-US" sz="3200" dirty="0"/>
              <a:t>）和大数据（</a:t>
            </a:r>
            <a:r>
              <a:rPr lang="en-US" altLang="zh-CN" sz="3200" dirty="0" err="1"/>
              <a:t>Hadoop</a:t>
            </a:r>
            <a:r>
              <a:rPr lang="zh-CN" altLang="en-US" sz="3200" dirty="0"/>
              <a:t>、</a:t>
            </a:r>
            <a:r>
              <a:rPr lang="en-US" altLang="zh-CN" sz="3200" dirty="0"/>
              <a:t>Spark</a:t>
            </a:r>
            <a:r>
              <a:rPr lang="zh-CN" altLang="en-US" sz="3200" dirty="0" smtClean="0"/>
              <a:t>）开发等领域。</a:t>
            </a:r>
            <a:endParaRPr lang="zh-CN" altLang="en-US" sz="3200" dirty="0"/>
          </a:p>
          <a:p>
            <a:pPr algn="l"/>
            <a:r>
              <a:rPr lang="en-US" altLang="zh-CN" sz="3200" dirty="0" smtClean="0"/>
              <a:t>	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627784" y="260648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/>
              <a:t>参考书与学习资源</a:t>
            </a:r>
            <a:endParaRPr lang="zh-CN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683568" y="908720"/>
            <a:ext cx="48732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http://www.javaworld.com</a:t>
            </a:r>
            <a:r>
              <a:rPr lang="en-US" altLang="zh-CN" dirty="0"/>
              <a:t>/</a:t>
            </a:r>
            <a:endParaRPr lang="zh-CN" altLang="en-US" dirty="0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6"/>
            <a:ext cx="6286500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3568" y="980728"/>
            <a:ext cx="38521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http://www.csdn.net/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2627784" y="260648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/>
              <a:t>参考书与学习资源</a:t>
            </a:r>
            <a:endParaRPr lang="zh-CN" altLang="en-US" sz="3200" dirty="0"/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28800"/>
            <a:ext cx="5308253" cy="4159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25955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32" y="2060848"/>
            <a:ext cx="5400675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2627784" y="260648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/>
              <a:t>参考书与学习资源</a:t>
            </a:r>
            <a:endParaRPr lang="zh-CN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1025732" y="1328520"/>
            <a:ext cx="48764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https://stackoverflow.com/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55576" y="1124744"/>
            <a:ext cx="76328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 smtClean="0"/>
              <a:t>Head </a:t>
            </a:r>
            <a:r>
              <a:rPr lang="en-US" altLang="zh-CN" sz="3200" b="1" dirty="0"/>
              <a:t>First </a:t>
            </a:r>
            <a:r>
              <a:rPr lang="en-US" altLang="zh-CN" sz="3200" b="1" dirty="0" smtClean="0"/>
              <a:t>Java</a:t>
            </a:r>
            <a:endParaRPr lang="en-US" altLang="zh-CN" sz="3200" dirty="0"/>
          </a:p>
        </p:txBody>
      </p:sp>
      <p:sp>
        <p:nvSpPr>
          <p:cNvPr id="6" name="矩形 5"/>
          <p:cNvSpPr/>
          <p:nvPr/>
        </p:nvSpPr>
        <p:spPr>
          <a:xfrm>
            <a:off x="2627784" y="260648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/>
              <a:t>参考书与学习资源</a:t>
            </a:r>
            <a:endParaRPr lang="zh-CN" altLang="en-US" sz="3200" dirty="0"/>
          </a:p>
        </p:txBody>
      </p:sp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988840"/>
            <a:ext cx="2695963" cy="4005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01515" y="1044025"/>
            <a:ext cx="54425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Java</a:t>
            </a:r>
            <a:r>
              <a:rPr lang="zh-CN" altLang="en-US" sz="3200" b="1" dirty="0"/>
              <a:t>核心技术 卷</a:t>
            </a:r>
            <a:r>
              <a:rPr lang="en-US" altLang="zh-CN" sz="3200" b="1" dirty="0"/>
              <a:t>I</a:t>
            </a:r>
            <a:r>
              <a:rPr lang="zh-CN" altLang="en-US" sz="3200" b="1" dirty="0"/>
              <a:t>：基础知识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2627784" y="260648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/>
              <a:t>参考书与学习资源</a:t>
            </a:r>
            <a:endParaRPr lang="zh-CN" altLang="en-US" sz="3200" dirty="0"/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708920"/>
            <a:ext cx="2772308" cy="351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88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92" y="2924944"/>
            <a:ext cx="2520280" cy="3292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344610" y="1657695"/>
            <a:ext cx="55563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Java</a:t>
            </a:r>
            <a:r>
              <a:rPr lang="zh-CN" altLang="en-US" sz="3200" b="1" dirty="0"/>
              <a:t>核心</a:t>
            </a:r>
            <a:r>
              <a:rPr lang="zh-CN" altLang="en-US" sz="3200" b="1" dirty="0" smtClean="0"/>
              <a:t>技术 卷</a:t>
            </a:r>
            <a:r>
              <a:rPr lang="en-US" altLang="zh-CN" sz="3200" b="1" dirty="0" smtClean="0"/>
              <a:t>2</a:t>
            </a:r>
            <a:r>
              <a:rPr lang="zh-CN" altLang="en-US" sz="3200" b="1" dirty="0" smtClean="0"/>
              <a:t>：</a:t>
            </a:r>
            <a:r>
              <a:rPr lang="zh-CN" altLang="en-US" sz="3200" b="1" dirty="0"/>
              <a:t>高级特性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84248" y="1268760"/>
            <a:ext cx="26917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Java</a:t>
            </a:r>
            <a:r>
              <a:rPr lang="zh-CN" altLang="en-US" sz="3200" dirty="0"/>
              <a:t>编程思想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2627784" y="260648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/>
              <a:t>参考书与学习资源</a:t>
            </a:r>
            <a:endParaRPr lang="zh-CN" altLang="en-US" sz="3200" dirty="0"/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012" y="2204864"/>
            <a:ext cx="2548116" cy="3458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627784" y="404664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/>
              <a:t>参考书与学习资源</a:t>
            </a:r>
            <a:endParaRPr lang="zh-CN" altLang="en-US" sz="3200" dirty="0"/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60848"/>
            <a:ext cx="6582866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二、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运行环境搭建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>
                <a:solidFill>
                  <a:srgbClr val="FF0000"/>
                </a:solidFill>
              </a:rPr>
              <a:t>1</a:t>
            </a:r>
            <a:r>
              <a:rPr lang="zh-CN" altLang="en-US" sz="3200" dirty="0" smtClean="0">
                <a:solidFill>
                  <a:srgbClr val="FF0000"/>
                </a:solidFill>
              </a:rPr>
              <a:t>、</a:t>
            </a:r>
            <a:r>
              <a:rPr lang="en-US" altLang="zh-CN" sz="3200" dirty="0" smtClean="0">
                <a:solidFill>
                  <a:srgbClr val="FF0000"/>
                </a:solidFill>
              </a:rPr>
              <a:t>JDK</a:t>
            </a:r>
            <a:r>
              <a:rPr lang="zh-CN" altLang="en-US" sz="3200" dirty="0" smtClean="0">
                <a:solidFill>
                  <a:srgbClr val="FF0000"/>
                </a:solidFill>
              </a:rPr>
              <a:t>下载</a:t>
            </a:r>
            <a:r>
              <a:rPr lang="en-US" altLang="zh-CN" sz="3200" dirty="0" smtClean="0">
                <a:solidFill>
                  <a:srgbClr val="FF0000"/>
                </a:solidFill>
              </a:rPr>
              <a:t>	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35696" y="2204864"/>
            <a:ext cx="61926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3200" dirty="0" smtClean="0"/>
              <a:t>JDK(Java </a:t>
            </a:r>
            <a:r>
              <a:rPr lang="en-US" altLang="zh-CN" sz="3200" dirty="0"/>
              <a:t>Development Kit) </a:t>
            </a:r>
            <a:endParaRPr lang="en-US" altLang="zh-CN" sz="3200" dirty="0" smtClean="0"/>
          </a:p>
          <a:p>
            <a:pPr algn="l"/>
            <a:r>
              <a:rPr lang="zh-CN" altLang="en-US" sz="3200" dirty="0" smtClean="0"/>
              <a:t>是 </a:t>
            </a:r>
            <a:r>
              <a:rPr lang="en-US" altLang="zh-CN" sz="3200" dirty="0"/>
              <a:t>Java </a:t>
            </a:r>
            <a:r>
              <a:rPr lang="zh-CN" altLang="en-US" sz="3200" dirty="0"/>
              <a:t>语言的软件开发工具包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72816"/>
            <a:ext cx="7414830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827584" y="853153"/>
            <a:ext cx="31692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www.oracle.com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91306"/>
            <a:ext cx="8896245" cy="66666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" name="矩形 1"/>
          <p:cNvSpPr/>
          <p:nvPr/>
        </p:nvSpPr>
        <p:spPr bwMode="auto">
          <a:xfrm>
            <a:off x="4427984" y="2150622"/>
            <a:ext cx="1728192" cy="432048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52736"/>
            <a:ext cx="7352330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0" y="188640"/>
            <a:ext cx="8744167" cy="655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3419872" y="3140968"/>
            <a:ext cx="1872208" cy="1656183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" y="67164"/>
            <a:ext cx="8995893" cy="6741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2679716" y="2780929"/>
            <a:ext cx="3764492" cy="360040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7672756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6" y="89738"/>
            <a:ext cx="8937594" cy="6697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1763688" y="4653136"/>
            <a:ext cx="5400600" cy="360040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34147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456610"/>
            <a:ext cx="8390516" cy="900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40291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546" y="1628800"/>
            <a:ext cx="5878775" cy="309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二、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运行环境搭建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/>
              <a:t>1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JDK</a:t>
            </a:r>
            <a:r>
              <a:rPr lang="zh-CN" altLang="en-US" sz="3200" dirty="0" smtClean="0"/>
              <a:t>下载</a:t>
            </a:r>
            <a:r>
              <a:rPr lang="en-US" altLang="zh-CN" sz="3200" dirty="0" smtClean="0">
                <a:solidFill>
                  <a:srgbClr val="FF0000"/>
                </a:solidFill>
              </a:rPr>
              <a:t>	</a:t>
            </a:r>
            <a:endParaRPr lang="en-US" altLang="zh-CN" sz="32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>
                <a:solidFill>
                  <a:srgbClr val="FF0000"/>
                </a:solidFill>
              </a:rPr>
              <a:t>2</a:t>
            </a:r>
            <a:r>
              <a:rPr lang="zh-CN" altLang="en-US" sz="3200" dirty="0" smtClean="0">
                <a:solidFill>
                  <a:srgbClr val="FF0000"/>
                </a:solidFill>
              </a:rPr>
              <a:t>、</a:t>
            </a:r>
            <a:r>
              <a:rPr lang="en-US" altLang="zh-CN" sz="3200" dirty="0" smtClean="0">
                <a:solidFill>
                  <a:srgbClr val="FF0000"/>
                </a:solidFill>
              </a:rPr>
              <a:t>JDK</a:t>
            </a:r>
            <a:r>
              <a:rPr lang="zh-CN" altLang="en-US" sz="3200" dirty="0" smtClean="0">
                <a:solidFill>
                  <a:srgbClr val="FF0000"/>
                </a:solidFill>
              </a:rPr>
              <a:t>安装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4"/>
            <a:ext cx="7220405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4800600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233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2" y="4077072"/>
            <a:ext cx="5219257" cy="1922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80610"/>
            <a:ext cx="8075452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二、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运行环境搭建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/>
              <a:t>1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JDK</a:t>
            </a:r>
            <a:r>
              <a:rPr lang="zh-CN" altLang="en-US" sz="3200" dirty="0" smtClean="0"/>
              <a:t>下载</a:t>
            </a:r>
            <a:r>
              <a:rPr lang="en-US" altLang="zh-CN" sz="3200" dirty="0" smtClean="0">
                <a:solidFill>
                  <a:srgbClr val="FF0000"/>
                </a:solidFill>
              </a:rPr>
              <a:t>	</a:t>
            </a:r>
            <a:endParaRPr lang="en-US" altLang="zh-CN" sz="32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/>
              <a:t>2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JDK</a:t>
            </a:r>
            <a:r>
              <a:rPr lang="zh-CN" altLang="en-US" sz="3200" dirty="0" smtClean="0"/>
              <a:t>安装</a:t>
            </a:r>
            <a:endParaRPr lang="en-US" altLang="zh-CN" sz="3200" dirty="0" smtClean="0"/>
          </a:p>
          <a:p>
            <a:pPr lvl="1"/>
            <a:r>
              <a:rPr lang="en-US" altLang="zh-CN" sz="3200" dirty="0" smtClean="0">
                <a:solidFill>
                  <a:srgbClr val="FF0000"/>
                </a:solidFill>
              </a:rPr>
              <a:t>3</a:t>
            </a:r>
            <a:r>
              <a:rPr lang="zh-CN" altLang="en-US" sz="3200" dirty="0" smtClean="0">
                <a:solidFill>
                  <a:srgbClr val="FF0000"/>
                </a:solidFill>
              </a:rPr>
              <a:t>、</a:t>
            </a:r>
            <a:r>
              <a:rPr lang="en-US" altLang="zh-CN" sz="3200" dirty="0" smtClean="0">
                <a:solidFill>
                  <a:srgbClr val="FF0000"/>
                </a:solidFill>
              </a:rPr>
              <a:t>JDK</a:t>
            </a:r>
            <a:r>
              <a:rPr lang="zh-CN" altLang="en-US" sz="3200" dirty="0" smtClean="0">
                <a:solidFill>
                  <a:srgbClr val="FF0000"/>
                </a:solidFill>
              </a:rPr>
              <a:t>环境变量配置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0" y="1052736"/>
            <a:ext cx="89289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/>
              <a:t>打开控制面板，点击‘高级系统设置</a:t>
            </a:r>
            <a:r>
              <a:rPr lang="en-US" altLang="zh-CN" sz="3200" b="1" dirty="0"/>
              <a:t>---</a:t>
            </a:r>
            <a:r>
              <a:rPr lang="zh-CN" altLang="en-US" sz="3200" b="1" dirty="0"/>
              <a:t>环境变量’</a:t>
            </a:r>
            <a:endParaRPr lang="zh-CN" altLang="en-US" sz="3200" dirty="0"/>
          </a:p>
        </p:txBody>
      </p:sp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510" y="2133140"/>
            <a:ext cx="5252864" cy="4294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7504" y="981108"/>
            <a:ext cx="89289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/>
              <a:t>打开控制面板，点击‘高级系统设置</a:t>
            </a:r>
            <a:r>
              <a:rPr lang="en-US" altLang="zh-CN" sz="3200" b="1" dirty="0"/>
              <a:t>---</a:t>
            </a:r>
            <a:r>
              <a:rPr lang="zh-CN" altLang="en-US" sz="3200" b="1" dirty="0"/>
              <a:t>环境变量’</a:t>
            </a:r>
            <a:endParaRPr lang="zh-CN" altLang="en-US" sz="32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772816"/>
            <a:ext cx="4629684" cy="487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7504" y="981108"/>
            <a:ext cx="89289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/>
              <a:t>打开控制面板，点击‘高级系统设置</a:t>
            </a:r>
            <a:r>
              <a:rPr lang="en-US" altLang="zh-CN" sz="3200" b="1" dirty="0"/>
              <a:t>---</a:t>
            </a:r>
            <a:r>
              <a:rPr lang="zh-CN" altLang="en-US" sz="3200" b="1" dirty="0"/>
              <a:t>环境变量’</a:t>
            </a:r>
            <a:endParaRPr lang="zh-CN" altLang="en-US" sz="32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565883"/>
            <a:ext cx="4997602" cy="514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971600" y="620688"/>
            <a:ext cx="68407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 smtClean="0"/>
              <a:t>配置</a:t>
            </a:r>
            <a:r>
              <a:rPr lang="en-US" altLang="zh-CN" sz="3200" b="1" dirty="0" smtClean="0"/>
              <a:t>JAVA_HOME</a:t>
            </a:r>
            <a:r>
              <a:rPr lang="zh-CN" altLang="en-US" sz="3200" b="1" dirty="0" smtClean="0"/>
              <a:t>变量</a:t>
            </a:r>
            <a:endParaRPr lang="zh-CN" altLang="en-US" sz="3200" dirty="0"/>
          </a:p>
          <a:p>
            <a:pPr algn="l"/>
            <a:r>
              <a:rPr lang="zh-CN" altLang="en-US" sz="3200" b="1" dirty="0" smtClean="0"/>
              <a:t>设置为</a:t>
            </a:r>
            <a:r>
              <a:rPr lang="en-US" altLang="zh-CN" sz="3200" b="1" dirty="0" smtClean="0"/>
              <a:t>jdk8</a:t>
            </a:r>
            <a:r>
              <a:rPr lang="zh-CN" altLang="en-US" sz="3200" b="1" dirty="0"/>
              <a:t>的安装</a:t>
            </a:r>
            <a:r>
              <a:rPr lang="zh-CN" altLang="en-US" sz="3200" b="1" dirty="0" smtClean="0"/>
              <a:t>目录 </a:t>
            </a:r>
            <a:endParaRPr lang="en-US" altLang="zh-CN" sz="3200" b="1" dirty="0" smtClean="0"/>
          </a:p>
          <a:p>
            <a:pPr algn="l"/>
            <a:r>
              <a:rPr lang="en-US" altLang="zh-CN" sz="3200" b="1" dirty="0" smtClean="0"/>
              <a:t>E</a:t>
            </a:r>
            <a:r>
              <a:rPr lang="en-US" altLang="zh-CN" sz="3200" b="1" dirty="0"/>
              <a:t>:\jdk1.8.0</a:t>
            </a:r>
            <a:endParaRPr lang="zh-CN" altLang="en-US" sz="3200" dirty="0"/>
          </a:p>
        </p:txBody>
      </p:sp>
      <p:pic>
        <p:nvPicPr>
          <p:cNvPr id="147459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492896"/>
            <a:ext cx="6914258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16632"/>
            <a:ext cx="6336704" cy="652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050" y="909638"/>
            <a:ext cx="9105900" cy="50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环境变量配置，就是告诉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endParaRPr lang="en-US" altLang="zh-CN" dirty="0" smtClean="0"/>
          </a:p>
          <a:p>
            <a:pPr lvl="1"/>
            <a:r>
              <a:rPr lang="en-US" altLang="zh-CN" dirty="0" smtClean="0"/>
              <a:t>Java</a:t>
            </a:r>
            <a:r>
              <a:rPr lang="zh-CN" altLang="en-US" dirty="0" smtClean="0"/>
              <a:t>装在什么地方的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Java</a:t>
            </a:r>
            <a:r>
              <a:rPr lang="zh-CN" altLang="en-US" dirty="0" smtClean="0"/>
              <a:t>命令在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那个目录下面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二、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运行环境搭建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/>
              <a:t>1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JDK</a:t>
            </a:r>
            <a:r>
              <a:rPr lang="zh-CN" altLang="en-US" sz="3200" dirty="0" smtClean="0"/>
              <a:t>下载</a:t>
            </a:r>
            <a:r>
              <a:rPr lang="en-US" altLang="zh-CN" sz="3200" dirty="0" smtClean="0">
                <a:solidFill>
                  <a:srgbClr val="FF0000"/>
                </a:solidFill>
              </a:rPr>
              <a:t>	</a:t>
            </a:r>
            <a:endParaRPr lang="en-US" altLang="zh-CN" sz="32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/>
              <a:t>2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JDK</a:t>
            </a:r>
            <a:r>
              <a:rPr lang="zh-CN" altLang="en-US" sz="3200" dirty="0" smtClean="0"/>
              <a:t>安装</a:t>
            </a:r>
            <a:endParaRPr lang="en-US" altLang="zh-CN" sz="3200" dirty="0" smtClean="0"/>
          </a:p>
          <a:p>
            <a:pPr lvl="1"/>
            <a:r>
              <a:rPr lang="en-US" altLang="zh-CN" sz="3200" dirty="0" smtClean="0"/>
              <a:t>3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JDK</a:t>
            </a:r>
            <a:r>
              <a:rPr lang="zh-CN" altLang="en-US" sz="3200" dirty="0" smtClean="0"/>
              <a:t>环境变量配置</a:t>
            </a:r>
            <a:endParaRPr lang="en-US" altLang="zh-CN" sz="3200" dirty="0" smtClean="0"/>
          </a:p>
          <a:p>
            <a:pPr lvl="1"/>
            <a:r>
              <a:rPr lang="en-US" altLang="zh-CN" sz="3200" dirty="0" smtClean="0">
                <a:solidFill>
                  <a:srgbClr val="FF0000"/>
                </a:solidFill>
              </a:rPr>
              <a:t>4</a:t>
            </a:r>
            <a:r>
              <a:rPr lang="zh-CN" altLang="en-US" sz="3200" dirty="0" smtClean="0">
                <a:solidFill>
                  <a:srgbClr val="FF0000"/>
                </a:solidFill>
              </a:rPr>
              <a:t>、</a:t>
            </a:r>
            <a:r>
              <a:rPr lang="en-US" altLang="zh-CN" sz="3200" dirty="0" smtClean="0">
                <a:solidFill>
                  <a:srgbClr val="FF0000"/>
                </a:solidFill>
              </a:rPr>
              <a:t>JDK</a:t>
            </a:r>
            <a:r>
              <a:rPr lang="zh-CN" altLang="en-US" sz="3200" dirty="0" smtClean="0">
                <a:solidFill>
                  <a:srgbClr val="FF0000"/>
                </a:solidFill>
              </a:rPr>
              <a:t>安装测试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101"/>
            <a:ext cx="4608512" cy="6535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155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000" y="1780200"/>
            <a:ext cx="3502886" cy="1792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2132857"/>
            <a:ext cx="8640960" cy="1912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8002012" cy="5224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5"/>
          <p:cNvGrpSpPr/>
          <p:nvPr/>
        </p:nvGrpSpPr>
        <p:grpSpPr>
          <a:xfrm>
            <a:off x="0" y="260648"/>
            <a:ext cx="8869179" cy="936104"/>
            <a:chOff x="0" y="0"/>
            <a:chExt cx="8869179" cy="1135598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8869179" cy="113559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矩形 7"/>
            <p:cNvSpPr/>
            <p:nvPr/>
          </p:nvSpPr>
          <p:spPr>
            <a:xfrm>
              <a:off x="0" y="0"/>
              <a:ext cx="8869179" cy="9361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7584" tIns="227584" rIns="227584" bIns="227584" numCol="1" spcCol="1270" anchor="ctr" anchorCtr="0">
              <a:noAutofit/>
            </a:bodyPr>
            <a:lstStyle/>
            <a:p>
              <a:pPr lvl="0" algn="l" defTabSz="1422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dirty="0" smtClean="0"/>
                <a:t>用命令提示符或者</a:t>
              </a:r>
              <a:r>
                <a:rPr lang="en-US" altLang="zh-CN" sz="2800" b="1" dirty="0" err="1" smtClean="0"/>
                <a:t>cmd</a:t>
              </a:r>
              <a:r>
                <a:rPr lang="zh-CN" altLang="en-US" sz="2800" b="1" dirty="0" smtClean="0"/>
                <a:t>命令，进入命令行界面</a:t>
              </a:r>
              <a:endParaRPr lang="en-US" sz="2800" b="1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5360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80728"/>
            <a:ext cx="8933717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4"/>
          <p:cNvGrpSpPr/>
          <p:nvPr/>
        </p:nvGrpSpPr>
        <p:grpSpPr>
          <a:xfrm>
            <a:off x="95309" y="137064"/>
            <a:ext cx="8869179" cy="771656"/>
            <a:chOff x="0" y="0"/>
            <a:chExt cx="8869179" cy="936104"/>
          </a:xfrm>
        </p:grpSpPr>
        <p:sp>
          <p:nvSpPr>
            <p:cNvPr id="6" name="矩形 5"/>
            <p:cNvSpPr/>
            <p:nvPr/>
          </p:nvSpPr>
          <p:spPr>
            <a:xfrm>
              <a:off x="0" y="0"/>
              <a:ext cx="8869179" cy="87353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矩形 6"/>
            <p:cNvSpPr/>
            <p:nvPr/>
          </p:nvSpPr>
          <p:spPr>
            <a:xfrm>
              <a:off x="0" y="0"/>
              <a:ext cx="8869179" cy="9361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7584" tIns="227584" rIns="227584" bIns="227584" numCol="1" spcCol="1270" anchor="ctr" anchorCtr="0">
              <a:noAutofit/>
            </a:bodyPr>
            <a:lstStyle/>
            <a:p>
              <a:pPr lvl="0" algn="l" defTabSz="1422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dirty="0" smtClean="0"/>
                <a:t> 输入</a:t>
              </a:r>
              <a:r>
                <a:rPr lang="en-US" altLang="zh-CN" sz="2800" b="1" dirty="0" err="1" smtClean="0"/>
                <a:t>javac</a:t>
              </a:r>
              <a:r>
                <a:rPr lang="en-US" altLang="zh-CN" sz="2800" b="1" dirty="0" smtClean="0"/>
                <a:t> </a:t>
              </a:r>
              <a:r>
                <a:rPr lang="zh-CN" altLang="en-US" sz="2800" b="1" dirty="0" smtClean="0"/>
                <a:t>命令，环境搭建成功的提示</a:t>
              </a:r>
              <a:endParaRPr lang="en-US" sz="2800" b="1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8824690" cy="18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5"/>
          <p:cNvGrpSpPr/>
          <p:nvPr/>
        </p:nvGrpSpPr>
        <p:grpSpPr>
          <a:xfrm>
            <a:off x="95309" y="137064"/>
            <a:ext cx="8869179" cy="771656"/>
            <a:chOff x="0" y="0"/>
            <a:chExt cx="8869179" cy="936104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8869179" cy="87353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矩形 7"/>
            <p:cNvSpPr/>
            <p:nvPr/>
          </p:nvSpPr>
          <p:spPr>
            <a:xfrm>
              <a:off x="0" y="0"/>
              <a:ext cx="8869179" cy="9361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7584" tIns="227584" rIns="227584" bIns="227584" numCol="1" spcCol="1270" anchor="ctr" anchorCtr="0">
              <a:noAutofit/>
            </a:bodyPr>
            <a:lstStyle/>
            <a:p>
              <a:pPr lvl="0" algn="l" defTabSz="14224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800" b="1" dirty="0" smtClean="0"/>
                <a:t>输入</a:t>
              </a:r>
              <a:r>
                <a:rPr lang="en-US" altLang="zh-CN" sz="2800" b="1" dirty="0" err="1" smtClean="0"/>
                <a:t>javac</a:t>
              </a:r>
              <a:r>
                <a:rPr lang="en-US" altLang="zh-CN" sz="2800" b="1" dirty="0" smtClean="0"/>
                <a:t> </a:t>
              </a:r>
              <a:r>
                <a:rPr lang="zh-CN" altLang="en-US" sz="2800" b="1" dirty="0" smtClean="0"/>
                <a:t>命令，环境搭建成功的提示（图片放大）</a:t>
              </a:r>
              <a:endParaRPr lang="en-US" sz="2800" b="1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24744"/>
            <a:ext cx="8467963" cy="4471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4"/>
          <p:cNvGrpSpPr/>
          <p:nvPr/>
        </p:nvGrpSpPr>
        <p:grpSpPr>
          <a:xfrm>
            <a:off x="95309" y="137064"/>
            <a:ext cx="8869179" cy="771656"/>
            <a:chOff x="0" y="0"/>
            <a:chExt cx="8869179" cy="936104"/>
          </a:xfrm>
        </p:grpSpPr>
        <p:sp>
          <p:nvSpPr>
            <p:cNvPr id="6" name="矩形 5"/>
            <p:cNvSpPr/>
            <p:nvPr/>
          </p:nvSpPr>
          <p:spPr>
            <a:xfrm>
              <a:off x="0" y="0"/>
              <a:ext cx="8869179" cy="87353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矩形 6"/>
            <p:cNvSpPr/>
            <p:nvPr/>
          </p:nvSpPr>
          <p:spPr>
            <a:xfrm>
              <a:off x="0" y="0"/>
              <a:ext cx="8869179" cy="9361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7584" tIns="227584" rIns="227584" bIns="227584" numCol="1" spcCol="1270" anchor="ctr" anchorCtr="0">
              <a:noAutofit/>
            </a:bodyPr>
            <a:lstStyle/>
            <a:p>
              <a:pPr lvl="0" algn="l" defTabSz="14224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800" b="1" dirty="0" smtClean="0"/>
                <a:t>输入</a:t>
              </a:r>
              <a:r>
                <a:rPr lang="en-US" altLang="zh-CN" sz="2800" b="1" dirty="0" err="1" smtClean="0"/>
                <a:t>javac</a:t>
              </a:r>
              <a:r>
                <a:rPr lang="en-US" altLang="zh-CN" sz="2800" b="1" dirty="0" smtClean="0"/>
                <a:t> </a:t>
              </a:r>
              <a:r>
                <a:rPr lang="zh-CN" altLang="en-US" sz="2800" b="1" dirty="0" smtClean="0"/>
                <a:t>命令，环境搭建失败的提示</a:t>
              </a:r>
              <a:endParaRPr lang="en-US" sz="2800" b="1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/>
              <a:t>二、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运行环境搭建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三、第一个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程序</a:t>
            </a:r>
            <a:endParaRPr lang="en-US" altLang="zh-CN" sz="3600" dirty="0" smtClean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435515"/>
            <a:ext cx="6696744" cy="709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4"/>
          <p:cNvGrpSpPr/>
          <p:nvPr/>
        </p:nvGrpSpPr>
        <p:grpSpPr>
          <a:xfrm>
            <a:off x="117446" y="898928"/>
            <a:ext cx="8869179" cy="771656"/>
            <a:chOff x="0" y="0"/>
            <a:chExt cx="8869179" cy="936104"/>
          </a:xfrm>
        </p:grpSpPr>
        <p:sp>
          <p:nvSpPr>
            <p:cNvPr id="10" name="矩形 9"/>
            <p:cNvSpPr/>
            <p:nvPr/>
          </p:nvSpPr>
          <p:spPr>
            <a:xfrm>
              <a:off x="0" y="0"/>
              <a:ext cx="8869179" cy="87353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矩形 10"/>
            <p:cNvSpPr/>
            <p:nvPr/>
          </p:nvSpPr>
          <p:spPr>
            <a:xfrm>
              <a:off x="0" y="0"/>
              <a:ext cx="8869179" cy="9361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7584" tIns="227584" rIns="227584" bIns="227584" numCol="1" spcCol="1270" anchor="ctr" anchorCtr="0">
              <a:noAutofit/>
            </a:bodyPr>
            <a:lstStyle/>
            <a:p>
              <a:r>
                <a:rPr lang="zh-CN" altLang="en-US" sz="2800" b="1" dirty="0" smtClean="0"/>
                <a:t>编程输出 </a:t>
              </a:r>
              <a:r>
                <a:rPr lang="en-US" altLang="zh-CN" sz="2800" b="1" dirty="0" smtClean="0"/>
                <a:t>Hello World</a:t>
              </a:r>
              <a:r>
                <a:rPr lang="zh-CN" altLang="en-US" sz="2800" b="1" dirty="0" smtClean="0"/>
                <a:t>！！！</a:t>
              </a:r>
              <a:endParaRPr lang="zh-CN" altLang="en-US" sz="2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/>
              <a:t>二、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运行环境搭建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三、第一个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程序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>
                <a:solidFill>
                  <a:srgbClr val="FF0000"/>
                </a:solidFill>
              </a:rPr>
              <a:t>1</a:t>
            </a:r>
            <a:r>
              <a:rPr lang="zh-CN" altLang="en-US" sz="3200" dirty="0" smtClean="0">
                <a:solidFill>
                  <a:srgbClr val="FF0000"/>
                </a:solidFill>
              </a:rPr>
              <a:t>、理解</a:t>
            </a:r>
            <a:r>
              <a:rPr lang="en-US" altLang="zh-CN" sz="3200" dirty="0" smtClean="0">
                <a:solidFill>
                  <a:srgbClr val="FF0000"/>
                </a:solidFill>
              </a:rPr>
              <a:t>java</a:t>
            </a:r>
            <a:r>
              <a:rPr lang="zh-CN" altLang="en-US" sz="3200" dirty="0" smtClean="0">
                <a:solidFill>
                  <a:srgbClr val="FF0000"/>
                </a:solidFill>
              </a:rPr>
              <a:t>程序编写过程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59"/>
          <p:cNvSpPr>
            <a:spLocks noChangeArrowheads="1"/>
          </p:cNvSpPr>
          <p:nvPr/>
        </p:nvSpPr>
        <p:spPr bwMode="auto">
          <a:xfrm>
            <a:off x="1527903" y="2643336"/>
            <a:ext cx="12192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zh-CN" altLang="en-US" b="1">
                <a:solidFill>
                  <a:srgbClr val="FF0000"/>
                </a:solidFill>
              </a:rPr>
              <a:t>源程序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.java)</a:t>
            </a:r>
            <a:endParaRPr lang="en-US" altLang="zh-CN"/>
          </a:p>
        </p:txBody>
      </p:sp>
      <p:sp>
        <p:nvSpPr>
          <p:cNvPr id="7173" name="Text Box 60"/>
          <p:cNvSpPr txBox="1">
            <a:spLocks noChangeArrowheads="1"/>
          </p:cNvSpPr>
          <p:nvPr/>
        </p:nvSpPr>
        <p:spPr bwMode="auto">
          <a:xfrm>
            <a:off x="1998202" y="353411"/>
            <a:ext cx="46137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/>
            <a:r>
              <a:rPr lang="zh-CN" altLang="en-US" sz="3200" dirty="0" smtClean="0">
                <a:solidFill>
                  <a:srgbClr val="FF0000"/>
                </a:solidFill>
              </a:rPr>
              <a:t>理解</a:t>
            </a:r>
            <a:r>
              <a:rPr lang="en-US" altLang="zh-CN" sz="3200" dirty="0" smtClean="0">
                <a:solidFill>
                  <a:srgbClr val="FF0000"/>
                </a:solidFill>
              </a:rPr>
              <a:t>java</a:t>
            </a:r>
            <a:r>
              <a:rPr lang="zh-CN" altLang="en-US" sz="3200" dirty="0" smtClean="0">
                <a:solidFill>
                  <a:srgbClr val="FF0000"/>
                </a:solidFill>
              </a:rPr>
              <a:t>程序编写过程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174" name="Line 61"/>
          <p:cNvSpPr>
            <a:spLocks noChangeShapeType="1"/>
          </p:cNvSpPr>
          <p:nvPr/>
        </p:nvSpPr>
        <p:spPr bwMode="auto">
          <a:xfrm>
            <a:off x="27471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Rectangle 62"/>
          <p:cNvSpPr>
            <a:spLocks noChangeArrowheads="1"/>
          </p:cNvSpPr>
          <p:nvPr/>
        </p:nvSpPr>
        <p:spPr bwMode="auto">
          <a:xfrm>
            <a:off x="3204303" y="2871936"/>
            <a:ext cx="17526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编译器</a:t>
            </a:r>
            <a:endParaRPr lang="zh-CN" altLang="en-US"/>
          </a:p>
        </p:txBody>
      </p:sp>
      <p:sp>
        <p:nvSpPr>
          <p:cNvPr id="7176" name="AutoShape 63"/>
          <p:cNvSpPr>
            <a:spLocks noChangeArrowheads="1"/>
          </p:cNvSpPr>
          <p:nvPr/>
        </p:nvSpPr>
        <p:spPr bwMode="auto">
          <a:xfrm>
            <a:off x="5414103" y="2567136"/>
            <a:ext cx="20574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en-US" altLang="zh-CN" b="1">
                <a:solidFill>
                  <a:srgbClr val="FF0000"/>
                </a:solidFill>
              </a:rPr>
              <a:t>byte-code</a:t>
            </a:r>
            <a:r>
              <a:rPr lang="zh-CN" altLang="en-US" b="1">
                <a:solidFill>
                  <a:srgbClr val="FF0000"/>
                </a:solidFill>
              </a:rPr>
              <a:t>文件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.class)</a:t>
            </a:r>
            <a:endParaRPr lang="en-US" altLang="zh-CN"/>
          </a:p>
        </p:txBody>
      </p:sp>
      <p:sp>
        <p:nvSpPr>
          <p:cNvPr id="7177" name="Line 64"/>
          <p:cNvSpPr>
            <a:spLocks noChangeShapeType="1"/>
          </p:cNvSpPr>
          <p:nvPr/>
        </p:nvSpPr>
        <p:spPr bwMode="auto">
          <a:xfrm>
            <a:off x="49569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Rectangle 65"/>
          <p:cNvSpPr>
            <a:spLocks noChangeArrowheads="1"/>
          </p:cNvSpPr>
          <p:nvPr/>
        </p:nvSpPr>
        <p:spPr bwMode="auto">
          <a:xfrm>
            <a:off x="5414103" y="4243536"/>
            <a:ext cx="2057400" cy="914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虚拟机</a:t>
            </a:r>
            <a:endParaRPr lang="zh-CN" altLang="zh-CN" b="1">
              <a:solidFill>
                <a:srgbClr val="FF0000"/>
              </a:solidFill>
            </a:endParaRPr>
          </a:p>
          <a:p>
            <a:r>
              <a:rPr lang="zh-CN" altLang="zh-CN" b="1"/>
              <a:t>(</a:t>
            </a:r>
            <a:r>
              <a:rPr lang="en-US" altLang="zh-CN" b="1"/>
              <a:t>Java</a:t>
            </a:r>
            <a:r>
              <a:rPr lang="zh-CN" altLang="zh-CN" b="1"/>
              <a:t>解释器)</a:t>
            </a:r>
            <a:endParaRPr lang="en-US" altLang="zh-CN"/>
          </a:p>
        </p:txBody>
      </p:sp>
      <p:sp>
        <p:nvSpPr>
          <p:cNvPr id="7179" name="Line 66"/>
          <p:cNvSpPr>
            <a:spLocks noChangeShapeType="1"/>
          </p:cNvSpPr>
          <p:nvPr/>
        </p:nvSpPr>
        <p:spPr bwMode="auto">
          <a:xfrm>
            <a:off x="6404703" y="3633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Rectangle 67"/>
          <p:cNvSpPr>
            <a:spLocks noChangeArrowheads="1"/>
          </p:cNvSpPr>
          <p:nvPr/>
        </p:nvSpPr>
        <p:spPr bwMode="auto">
          <a:xfrm>
            <a:off x="5414103" y="5767536"/>
            <a:ext cx="20574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FF0000"/>
                </a:solidFill>
              </a:rPr>
              <a:t>操作系统</a:t>
            </a:r>
            <a:endParaRPr lang="zh-CN" altLang="en-US"/>
          </a:p>
        </p:txBody>
      </p:sp>
      <p:sp>
        <p:nvSpPr>
          <p:cNvPr id="7181" name="Line 68"/>
          <p:cNvSpPr>
            <a:spLocks noChangeShapeType="1"/>
          </p:cNvSpPr>
          <p:nvPr/>
        </p:nvSpPr>
        <p:spPr bwMode="auto">
          <a:xfrm>
            <a:off x="6404703" y="5157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" name="Text Box 76"/>
          <p:cNvSpPr txBox="1">
            <a:spLocks noChangeArrowheads="1"/>
          </p:cNvSpPr>
          <p:nvPr/>
        </p:nvSpPr>
        <p:spPr bwMode="auto">
          <a:xfrm>
            <a:off x="6480903" y="5234136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gray">
          <a:xfrm>
            <a:off x="941823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1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、编写源程序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142302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2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、编译源程序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>
            <a:off x="5374790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3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、运行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rot="16200000" flipH="1">
            <a:off x="1601406" y="2142946"/>
            <a:ext cx="642945" cy="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2"/>
          </p:cNvCxnSpPr>
          <p:nvPr/>
        </p:nvCxnSpPr>
        <p:spPr>
          <a:xfrm rot="5400000">
            <a:off x="3889618" y="2131736"/>
            <a:ext cx="647402" cy="17967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2" idx="2"/>
          </p:cNvCxnSpPr>
          <p:nvPr/>
        </p:nvCxnSpPr>
        <p:spPr>
          <a:xfrm rot="5400000">
            <a:off x="6126875" y="2136503"/>
            <a:ext cx="647400" cy="843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59"/>
          <p:cNvSpPr>
            <a:spLocks noChangeArrowheads="1"/>
          </p:cNvSpPr>
          <p:nvPr/>
        </p:nvSpPr>
        <p:spPr bwMode="auto">
          <a:xfrm>
            <a:off x="1527903" y="2643336"/>
            <a:ext cx="12192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zh-CN" altLang="en-US" b="1">
                <a:solidFill>
                  <a:srgbClr val="FF0000"/>
                </a:solidFill>
              </a:rPr>
              <a:t>源程序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.java)</a:t>
            </a:r>
            <a:endParaRPr lang="en-US" altLang="zh-CN"/>
          </a:p>
        </p:txBody>
      </p:sp>
      <p:sp>
        <p:nvSpPr>
          <p:cNvPr id="7173" name="Text Box 60"/>
          <p:cNvSpPr txBox="1">
            <a:spLocks noChangeArrowheads="1"/>
          </p:cNvSpPr>
          <p:nvPr/>
        </p:nvSpPr>
        <p:spPr bwMode="auto">
          <a:xfrm>
            <a:off x="1998202" y="353411"/>
            <a:ext cx="46137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/>
            <a:r>
              <a:rPr lang="zh-CN" altLang="en-US" sz="3200" dirty="0" smtClean="0">
                <a:solidFill>
                  <a:srgbClr val="FF0000"/>
                </a:solidFill>
              </a:rPr>
              <a:t>理解</a:t>
            </a:r>
            <a:r>
              <a:rPr lang="en-US" altLang="zh-CN" sz="3200" dirty="0" smtClean="0">
                <a:solidFill>
                  <a:srgbClr val="FF0000"/>
                </a:solidFill>
              </a:rPr>
              <a:t>java</a:t>
            </a:r>
            <a:r>
              <a:rPr lang="zh-CN" altLang="en-US" sz="3200" dirty="0" smtClean="0">
                <a:solidFill>
                  <a:srgbClr val="FF0000"/>
                </a:solidFill>
              </a:rPr>
              <a:t>程序编写过程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174" name="Line 61"/>
          <p:cNvSpPr>
            <a:spLocks noChangeShapeType="1"/>
          </p:cNvSpPr>
          <p:nvPr/>
        </p:nvSpPr>
        <p:spPr bwMode="auto">
          <a:xfrm>
            <a:off x="27471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Rectangle 62"/>
          <p:cNvSpPr>
            <a:spLocks noChangeArrowheads="1"/>
          </p:cNvSpPr>
          <p:nvPr/>
        </p:nvSpPr>
        <p:spPr bwMode="auto">
          <a:xfrm>
            <a:off x="3204303" y="2871936"/>
            <a:ext cx="17526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编译器</a:t>
            </a:r>
            <a:endParaRPr lang="zh-CN" altLang="en-US"/>
          </a:p>
        </p:txBody>
      </p:sp>
      <p:sp>
        <p:nvSpPr>
          <p:cNvPr id="7176" name="AutoShape 63"/>
          <p:cNvSpPr>
            <a:spLocks noChangeArrowheads="1"/>
          </p:cNvSpPr>
          <p:nvPr/>
        </p:nvSpPr>
        <p:spPr bwMode="auto">
          <a:xfrm>
            <a:off x="5414103" y="2567136"/>
            <a:ext cx="20574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en-US" altLang="zh-CN" b="1">
                <a:solidFill>
                  <a:srgbClr val="FF0000"/>
                </a:solidFill>
              </a:rPr>
              <a:t>byte-code</a:t>
            </a:r>
            <a:r>
              <a:rPr lang="zh-CN" altLang="en-US" b="1">
                <a:solidFill>
                  <a:srgbClr val="FF0000"/>
                </a:solidFill>
              </a:rPr>
              <a:t>文件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.class)</a:t>
            </a:r>
            <a:endParaRPr lang="en-US" altLang="zh-CN"/>
          </a:p>
        </p:txBody>
      </p:sp>
      <p:sp>
        <p:nvSpPr>
          <p:cNvPr id="7177" name="Line 64"/>
          <p:cNvSpPr>
            <a:spLocks noChangeShapeType="1"/>
          </p:cNvSpPr>
          <p:nvPr/>
        </p:nvSpPr>
        <p:spPr bwMode="auto">
          <a:xfrm>
            <a:off x="49569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Rectangle 65"/>
          <p:cNvSpPr>
            <a:spLocks noChangeArrowheads="1"/>
          </p:cNvSpPr>
          <p:nvPr/>
        </p:nvSpPr>
        <p:spPr bwMode="auto">
          <a:xfrm>
            <a:off x="5414103" y="4243536"/>
            <a:ext cx="2057400" cy="914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虚拟机</a:t>
            </a:r>
            <a:endParaRPr lang="zh-CN" altLang="zh-CN" b="1">
              <a:solidFill>
                <a:srgbClr val="FF0000"/>
              </a:solidFill>
            </a:endParaRPr>
          </a:p>
          <a:p>
            <a:r>
              <a:rPr lang="zh-CN" altLang="zh-CN" b="1"/>
              <a:t>(</a:t>
            </a:r>
            <a:r>
              <a:rPr lang="en-US" altLang="zh-CN" b="1"/>
              <a:t>Java</a:t>
            </a:r>
            <a:r>
              <a:rPr lang="zh-CN" altLang="zh-CN" b="1"/>
              <a:t>解释器)</a:t>
            </a:r>
            <a:endParaRPr lang="en-US" altLang="zh-CN"/>
          </a:p>
        </p:txBody>
      </p:sp>
      <p:sp>
        <p:nvSpPr>
          <p:cNvPr id="7179" name="Line 66"/>
          <p:cNvSpPr>
            <a:spLocks noChangeShapeType="1"/>
          </p:cNvSpPr>
          <p:nvPr/>
        </p:nvSpPr>
        <p:spPr bwMode="auto">
          <a:xfrm>
            <a:off x="6404703" y="3633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Rectangle 67"/>
          <p:cNvSpPr>
            <a:spLocks noChangeArrowheads="1"/>
          </p:cNvSpPr>
          <p:nvPr/>
        </p:nvSpPr>
        <p:spPr bwMode="auto">
          <a:xfrm>
            <a:off x="5414103" y="5767536"/>
            <a:ext cx="20574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FF0000"/>
                </a:solidFill>
              </a:rPr>
              <a:t>操作系统</a:t>
            </a:r>
            <a:endParaRPr lang="zh-CN" altLang="en-US"/>
          </a:p>
        </p:txBody>
      </p:sp>
      <p:sp>
        <p:nvSpPr>
          <p:cNvPr id="7181" name="Line 68"/>
          <p:cNvSpPr>
            <a:spLocks noChangeShapeType="1"/>
          </p:cNvSpPr>
          <p:nvPr/>
        </p:nvSpPr>
        <p:spPr bwMode="auto">
          <a:xfrm>
            <a:off x="6404703" y="5157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" name="Text Box 76"/>
          <p:cNvSpPr txBox="1">
            <a:spLocks noChangeArrowheads="1"/>
          </p:cNvSpPr>
          <p:nvPr/>
        </p:nvSpPr>
        <p:spPr bwMode="auto">
          <a:xfrm>
            <a:off x="6480903" y="5234136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gray">
          <a:xfrm>
            <a:off x="941823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1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、编写源程序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142302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2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、编译源程序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>
            <a:off x="5374790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3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、运行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rot="16200000" flipH="1">
            <a:off x="1601406" y="2142946"/>
            <a:ext cx="642945" cy="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2"/>
          </p:cNvCxnSpPr>
          <p:nvPr/>
        </p:nvCxnSpPr>
        <p:spPr>
          <a:xfrm rot="5400000">
            <a:off x="3889618" y="2131736"/>
            <a:ext cx="647402" cy="17967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2" idx="2"/>
          </p:cNvCxnSpPr>
          <p:nvPr/>
        </p:nvCxnSpPr>
        <p:spPr>
          <a:xfrm rot="5400000">
            <a:off x="6126875" y="2136503"/>
            <a:ext cx="647400" cy="843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 Box 60"/>
          <p:cNvSpPr txBox="1">
            <a:spLocks noChangeArrowheads="1"/>
          </p:cNvSpPr>
          <p:nvPr/>
        </p:nvSpPr>
        <p:spPr bwMode="auto">
          <a:xfrm>
            <a:off x="1187624" y="4005064"/>
            <a:ext cx="188224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第一步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59"/>
          <p:cNvSpPr>
            <a:spLocks noChangeArrowheads="1"/>
          </p:cNvSpPr>
          <p:nvPr/>
        </p:nvSpPr>
        <p:spPr bwMode="auto">
          <a:xfrm>
            <a:off x="1527903" y="2643336"/>
            <a:ext cx="12192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zh-CN" altLang="en-US" b="1">
                <a:solidFill>
                  <a:srgbClr val="FF0000"/>
                </a:solidFill>
              </a:rPr>
              <a:t>源程序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.java)</a:t>
            </a:r>
            <a:endParaRPr lang="en-US" altLang="zh-CN"/>
          </a:p>
        </p:txBody>
      </p:sp>
      <p:sp>
        <p:nvSpPr>
          <p:cNvPr id="7173" name="Text Box 60"/>
          <p:cNvSpPr txBox="1">
            <a:spLocks noChangeArrowheads="1"/>
          </p:cNvSpPr>
          <p:nvPr/>
        </p:nvSpPr>
        <p:spPr bwMode="auto">
          <a:xfrm>
            <a:off x="1998202" y="353411"/>
            <a:ext cx="46137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/>
            <a:r>
              <a:rPr lang="zh-CN" altLang="en-US" sz="3200" dirty="0" smtClean="0">
                <a:solidFill>
                  <a:srgbClr val="FF0000"/>
                </a:solidFill>
              </a:rPr>
              <a:t>理解</a:t>
            </a:r>
            <a:r>
              <a:rPr lang="en-US" altLang="zh-CN" sz="3200" dirty="0" smtClean="0">
                <a:solidFill>
                  <a:srgbClr val="FF0000"/>
                </a:solidFill>
              </a:rPr>
              <a:t>java</a:t>
            </a:r>
            <a:r>
              <a:rPr lang="zh-CN" altLang="en-US" sz="3200" dirty="0" smtClean="0">
                <a:solidFill>
                  <a:srgbClr val="FF0000"/>
                </a:solidFill>
              </a:rPr>
              <a:t>程序编写过程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174" name="Line 61"/>
          <p:cNvSpPr>
            <a:spLocks noChangeShapeType="1"/>
          </p:cNvSpPr>
          <p:nvPr/>
        </p:nvSpPr>
        <p:spPr bwMode="auto">
          <a:xfrm>
            <a:off x="27471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Rectangle 62"/>
          <p:cNvSpPr>
            <a:spLocks noChangeArrowheads="1"/>
          </p:cNvSpPr>
          <p:nvPr/>
        </p:nvSpPr>
        <p:spPr bwMode="auto">
          <a:xfrm>
            <a:off x="3204303" y="2871936"/>
            <a:ext cx="17526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编译器</a:t>
            </a:r>
            <a:endParaRPr lang="zh-CN" altLang="en-US"/>
          </a:p>
        </p:txBody>
      </p:sp>
      <p:sp>
        <p:nvSpPr>
          <p:cNvPr id="7176" name="AutoShape 63"/>
          <p:cNvSpPr>
            <a:spLocks noChangeArrowheads="1"/>
          </p:cNvSpPr>
          <p:nvPr/>
        </p:nvSpPr>
        <p:spPr bwMode="auto">
          <a:xfrm>
            <a:off x="5414103" y="2567136"/>
            <a:ext cx="20574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en-US" altLang="zh-CN" b="1">
                <a:solidFill>
                  <a:srgbClr val="FF0000"/>
                </a:solidFill>
              </a:rPr>
              <a:t>byte-code</a:t>
            </a:r>
            <a:r>
              <a:rPr lang="zh-CN" altLang="en-US" b="1">
                <a:solidFill>
                  <a:srgbClr val="FF0000"/>
                </a:solidFill>
              </a:rPr>
              <a:t>文件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.class)</a:t>
            </a:r>
            <a:endParaRPr lang="en-US" altLang="zh-CN"/>
          </a:p>
        </p:txBody>
      </p:sp>
      <p:sp>
        <p:nvSpPr>
          <p:cNvPr id="7177" name="Line 64"/>
          <p:cNvSpPr>
            <a:spLocks noChangeShapeType="1"/>
          </p:cNvSpPr>
          <p:nvPr/>
        </p:nvSpPr>
        <p:spPr bwMode="auto">
          <a:xfrm>
            <a:off x="49569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Rectangle 65"/>
          <p:cNvSpPr>
            <a:spLocks noChangeArrowheads="1"/>
          </p:cNvSpPr>
          <p:nvPr/>
        </p:nvSpPr>
        <p:spPr bwMode="auto">
          <a:xfrm>
            <a:off x="5414103" y="4243536"/>
            <a:ext cx="2057400" cy="914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虚拟机</a:t>
            </a:r>
            <a:endParaRPr lang="zh-CN" altLang="zh-CN" b="1">
              <a:solidFill>
                <a:srgbClr val="FF0000"/>
              </a:solidFill>
            </a:endParaRPr>
          </a:p>
          <a:p>
            <a:r>
              <a:rPr lang="zh-CN" altLang="zh-CN" b="1"/>
              <a:t>(</a:t>
            </a:r>
            <a:r>
              <a:rPr lang="en-US" altLang="zh-CN" b="1"/>
              <a:t>Java</a:t>
            </a:r>
            <a:r>
              <a:rPr lang="zh-CN" altLang="zh-CN" b="1"/>
              <a:t>解释器)</a:t>
            </a:r>
            <a:endParaRPr lang="en-US" altLang="zh-CN"/>
          </a:p>
        </p:txBody>
      </p:sp>
      <p:sp>
        <p:nvSpPr>
          <p:cNvPr id="7179" name="Line 66"/>
          <p:cNvSpPr>
            <a:spLocks noChangeShapeType="1"/>
          </p:cNvSpPr>
          <p:nvPr/>
        </p:nvSpPr>
        <p:spPr bwMode="auto">
          <a:xfrm>
            <a:off x="6404703" y="3633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Rectangle 67"/>
          <p:cNvSpPr>
            <a:spLocks noChangeArrowheads="1"/>
          </p:cNvSpPr>
          <p:nvPr/>
        </p:nvSpPr>
        <p:spPr bwMode="auto">
          <a:xfrm>
            <a:off x="5414103" y="5767536"/>
            <a:ext cx="20574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FF0000"/>
                </a:solidFill>
              </a:rPr>
              <a:t>操作系统</a:t>
            </a:r>
            <a:endParaRPr lang="zh-CN" altLang="en-US"/>
          </a:p>
        </p:txBody>
      </p:sp>
      <p:sp>
        <p:nvSpPr>
          <p:cNvPr id="7181" name="Line 68"/>
          <p:cNvSpPr>
            <a:spLocks noChangeShapeType="1"/>
          </p:cNvSpPr>
          <p:nvPr/>
        </p:nvSpPr>
        <p:spPr bwMode="auto">
          <a:xfrm>
            <a:off x="6404703" y="5157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" name="Text Box 76"/>
          <p:cNvSpPr txBox="1">
            <a:spLocks noChangeArrowheads="1"/>
          </p:cNvSpPr>
          <p:nvPr/>
        </p:nvSpPr>
        <p:spPr bwMode="auto">
          <a:xfrm>
            <a:off x="6480903" y="5234136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gray">
          <a:xfrm>
            <a:off x="941823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1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、编写源程序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142302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2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、编译源程序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>
            <a:off x="5374790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3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、运行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rot="16200000" flipH="1">
            <a:off x="1601406" y="2142946"/>
            <a:ext cx="642945" cy="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2"/>
          </p:cNvCxnSpPr>
          <p:nvPr/>
        </p:nvCxnSpPr>
        <p:spPr>
          <a:xfrm rot="5400000">
            <a:off x="3889618" y="2131736"/>
            <a:ext cx="647402" cy="17967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2" idx="2"/>
          </p:cNvCxnSpPr>
          <p:nvPr/>
        </p:nvCxnSpPr>
        <p:spPr>
          <a:xfrm rot="5400000">
            <a:off x="6126875" y="2136503"/>
            <a:ext cx="647400" cy="843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 Box 60"/>
          <p:cNvSpPr txBox="1">
            <a:spLocks noChangeArrowheads="1"/>
          </p:cNvSpPr>
          <p:nvPr/>
        </p:nvSpPr>
        <p:spPr bwMode="auto">
          <a:xfrm>
            <a:off x="3266064" y="3789040"/>
            <a:ext cx="15744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第二步</a:t>
            </a:r>
            <a:endParaRPr lang="en-US" altLang="zh-CN" sz="3600" b="1" dirty="0" smtClean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59832" y="4509120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编译命令</a:t>
            </a:r>
            <a:endParaRPr lang="zh-CN" altLang="en-US" sz="36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369172" y="5157192"/>
            <a:ext cx="13468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3600" b="1" dirty="0" err="1" smtClean="0">
                <a:solidFill>
                  <a:srgbClr val="C00000"/>
                </a:solidFill>
                <a:latin typeface="+mn-lt"/>
                <a:ea typeface="黑体" panose="02010609060101010101" pitchFamily="2" charset="-122"/>
              </a:rPr>
              <a:t>javac</a:t>
            </a:r>
            <a:endParaRPr lang="zh-CN" altLang="en-US" sz="3600" b="1" dirty="0">
              <a:solidFill>
                <a:srgbClr val="C00000"/>
              </a:solidFill>
              <a:latin typeface="+mn-lt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59"/>
          <p:cNvSpPr>
            <a:spLocks noChangeArrowheads="1"/>
          </p:cNvSpPr>
          <p:nvPr/>
        </p:nvSpPr>
        <p:spPr bwMode="auto">
          <a:xfrm>
            <a:off x="725353" y="2643336"/>
            <a:ext cx="12192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zh-CN" altLang="en-US" b="1">
                <a:solidFill>
                  <a:srgbClr val="FF0000"/>
                </a:solidFill>
              </a:rPr>
              <a:t>源程序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.java)</a:t>
            </a:r>
            <a:endParaRPr lang="en-US" altLang="zh-CN"/>
          </a:p>
        </p:txBody>
      </p:sp>
      <p:sp>
        <p:nvSpPr>
          <p:cNvPr id="7173" name="Text Box 60"/>
          <p:cNvSpPr txBox="1">
            <a:spLocks noChangeArrowheads="1"/>
          </p:cNvSpPr>
          <p:nvPr/>
        </p:nvSpPr>
        <p:spPr bwMode="auto">
          <a:xfrm>
            <a:off x="1998202" y="353411"/>
            <a:ext cx="46137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/>
            <a:r>
              <a:rPr lang="zh-CN" altLang="en-US" sz="3200" dirty="0" smtClean="0">
                <a:solidFill>
                  <a:srgbClr val="FF0000"/>
                </a:solidFill>
              </a:rPr>
              <a:t>理解</a:t>
            </a:r>
            <a:r>
              <a:rPr lang="en-US" altLang="zh-CN" sz="3200" dirty="0" smtClean="0">
                <a:solidFill>
                  <a:srgbClr val="FF0000"/>
                </a:solidFill>
              </a:rPr>
              <a:t>java</a:t>
            </a:r>
            <a:r>
              <a:rPr lang="zh-CN" altLang="en-US" sz="3200" dirty="0" smtClean="0">
                <a:solidFill>
                  <a:srgbClr val="FF0000"/>
                </a:solidFill>
              </a:rPr>
              <a:t>程序编写过程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174" name="Line 61"/>
          <p:cNvSpPr>
            <a:spLocks noChangeShapeType="1"/>
          </p:cNvSpPr>
          <p:nvPr/>
        </p:nvSpPr>
        <p:spPr bwMode="auto">
          <a:xfrm>
            <a:off x="194455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Rectangle 62"/>
          <p:cNvSpPr>
            <a:spLocks noChangeArrowheads="1"/>
          </p:cNvSpPr>
          <p:nvPr/>
        </p:nvSpPr>
        <p:spPr bwMode="auto">
          <a:xfrm>
            <a:off x="2401753" y="2871936"/>
            <a:ext cx="17526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编译器</a:t>
            </a:r>
            <a:endParaRPr lang="zh-CN" altLang="en-US"/>
          </a:p>
        </p:txBody>
      </p:sp>
      <p:sp>
        <p:nvSpPr>
          <p:cNvPr id="7176" name="AutoShape 63"/>
          <p:cNvSpPr>
            <a:spLocks noChangeArrowheads="1"/>
          </p:cNvSpPr>
          <p:nvPr/>
        </p:nvSpPr>
        <p:spPr bwMode="auto">
          <a:xfrm>
            <a:off x="4611553" y="2567136"/>
            <a:ext cx="20574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en-US" altLang="zh-CN" b="1">
                <a:solidFill>
                  <a:srgbClr val="FF0000"/>
                </a:solidFill>
              </a:rPr>
              <a:t>byte-code</a:t>
            </a:r>
            <a:r>
              <a:rPr lang="zh-CN" altLang="en-US" b="1">
                <a:solidFill>
                  <a:srgbClr val="FF0000"/>
                </a:solidFill>
              </a:rPr>
              <a:t>文件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.class)</a:t>
            </a:r>
            <a:endParaRPr lang="en-US" altLang="zh-CN"/>
          </a:p>
        </p:txBody>
      </p:sp>
      <p:sp>
        <p:nvSpPr>
          <p:cNvPr id="7177" name="Line 64"/>
          <p:cNvSpPr>
            <a:spLocks noChangeShapeType="1"/>
          </p:cNvSpPr>
          <p:nvPr/>
        </p:nvSpPr>
        <p:spPr bwMode="auto">
          <a:xfrm>
            <a:off x="415435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Rectangle 65"/>
          <p:cNvSpPr>
            <a:spLocks noChangeArrowheads="1"/>
          </p:cNvSpPr>
          <p:nvPr/>
        </p:nvSpPr>
        <p:spPr bwMode="auto">
          <a:xfrm>
            <a:off x="4611553" y="4243536"/>
            <a:ext cx="2057400" cy="914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虚拟机</a:t>
            </a:r>
            <a:endParaRPr lang="zh-CN" altLang="zh-CN" b="1">
              <a:solidFill>
                <a:srgbClr val="FF0000"/>
              </a:solidFill>
            </a:endParaRPr>
          </a:p>
          <a:p>
            <a:r>
              <a:rPr lang="zh-CN" altLang="zh-CN" b="1"/>
              <a:t>(</a:t>
            </a:r>
            <a:r>
              <a:rPr lang="en-US" altLang="zh-CN" b="1"/>
              <a:t>Java</a:t>
            </a:r>
            <a:r>
              <a:rPr lang="zh-CN" altLang="zh-CN" b="1"/>
              <a:t>解释器)</a:t>
            </a:r>
            <a:endParaRPr lang="en-US" altLang="zh-CN"/>
          </a:p>
        </p:txBody>
      </p:sp>
      <p:sp>
        <p:nvSpPr>
          <p:cNvPr id="7179" name="Line 66"/>
          <p:cNvSpPr>
            <a:spLocks noChangeShapeType="1"/>
          </p:cNvSpPr>
          <p:nvPr/>
        </p:nvSpPr>
        <p:spPr bwMode="auto">
          <a:xfrm>
            <a:off x="5602153" y="3633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Rectangle 67"/>
          <p:cNvSpPr>
            <a:spLocks noChangeArrowheads="1"/>
          </p:cNvSpPr>
          <p:nvPr/>
        </p:nvSpPr>
        <p:spPr bwMode="auto">
          <a:xfrm>
            <a:off x="4611553" y="5767536"/>
            <a:ext cx="20574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FF0000"/>
                </a:solidFill>
              </a:rPr>
              <a:t>操作系统</a:t>
            </a:r>
            <a:endParaRPr lang="zh-CN" altLang="en-US"/>
          </a:p>
        </p:txBody>
      </p:sp>
      <p:sp>
        <p:nvSpPr>
          <p:cNvPr id="7181" name="Line 68"/>
          <p:cNvSpPr>
            <a:spLocks noChangeShapeType="1"/>
          </p:cNvSpPr>
          <p:nvPr/>
        </p:nvSpPr>
        <p:spPr bwMode="auto">
          <a:xfrm>
            <a:off x="5602153" y="5157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" name="Text Box 76"/>
          <p:cNvSpPr txBox="1">
            <a:spLocks noChangeArrowheads="1"/>
          </p:cNvSpPr>
          <p:nvPr/>
        </p:nvSpPr>
        <p:spPr bwMode="auto">
          <a:xfrm>
            <a:off x="5678353" y="5234136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gray">
          <a:xfrm>
            <a:off x="139273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1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、编写源程序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2339752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2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、编译源程序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>
            <a:off x="4572240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3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、运行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rot="16200000" flipH="1">
            <a:off x="798856" y="2142946"/>
            <a:ext cx="642945" cy="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2"/>
          </p:cNvCxnSpPr>
          <p:nvPr/>
        </p:nvCxnSpPr>
        <p:spPr>
          <a:xfrm rot="5400000">
            <a:off x="3087068" y="2131736"/>
            <a:ext cx="647402" cy="17967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2" idx="2"/>
          </p:cNvCxnSpPr>
          <p:nvPr/>
        </p:nvCxnSpPr>
        <p:spPr>
          <a:xfrm rot="5400000">
            <a:off x="5324325" y="2136503"/>
            <a:ext cx="647400" cy="843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Text Box 60"/>
          <p:cNvSpPr txBox="1">
            <a:spLocks noChangeArrowheads="1"/>
          </p:cNvSpPr>
          <p:nvPr/>
        </p:nvSpPr>
        <p:spPr bwMode="auto">
          <a:xfrm>
            <a:off x="7092280" y="3717032"/>
            <a:ext cx="15744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第三步</a:t>
            </a:r>
            <a:endParaRPr lang="en-US" altLang="zh-CN" sz="3600" b="1" dirty="0" smtClean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886048" y="4437112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运行命令</a:t>
            </a:r>
            <a:endParaRPr lang="zh-CN" altLang="en-US" sz="36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234068" y="5085184"/>
            <a:ext cx="1082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3600" b="1" dirty="0" smtClean="0">
                <a:solidFill>
                  <a:srgbClr val="C00000"/>
                </a:solidFill>
                <a:latin typeface="+mn-lt"/>
                <a:ea typeface="黑体" panose="02010609060101010101" pitchFamily="2" charset="-122"/>
              </a:rPr>
              <a:t>java</a:t>
            </a:r>
            <a:endParaRPr lang="zh-CN" altLang="en-US" sz="3600" b="1" dirty="0">
              <a:solidFill>
                <a:srgbClr val="C00000"/>
              </a:solidFill>
              <a:latin typeface="+mn-lt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09600" y="838200"/>
            <a:ext cx="7991475" cy="144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4" name="Text Box 7"/>
          <p:cNvSpPr txBox="1">
            <a:spLocks noChangeArrowheads="1"/>
          </p:cNvSpPr>
          <p:nvPr/>
        </p:nvSpPr>
        <p:spPr bwMode="auto">
          <a:xfrm>
            <a:off x="685800" y="1700808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009900"/>
                </a:solidFill>
              </a:rPr>
              <a:t>安装</a:t>
            </a:r>
            <a:r>
              <a:rPr lang="zh-CN" altLang="en-US" sz="2800" b="1" dirty="0">
                <a:solidFill>
                  <a:srgbClr val="009900"/>
                </a:solidFill>
              </a:rPr>
              <a:t>后的目录结构</a:t>
            </a:r>
            <a:endParaRPr lang="zh-CN" altLang="en-US" dirty="0"/>
          </a:p>
        </p:txBody>
      </p:sp>
      <p:sp>
        <p:nvSpPr>
          <p:cNvPr id="17415" name="Text Box 9"/>
          <p:cNvSpPr txBox="1">
            <a:spLocks noChangeArrowheads="1"/>
          </p:cNvSpPr>
          <p:nvPr/>
        </p:nvSpPr>
        <p:spPr bwMode="auto">
          <a:xfrm>
            <a:off x="838200" y="2310229"/>
            <a:ext cx="1499128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CC0066"/>
                </a:solidFill>
              </a:rPr>
              <a:t>e:\jdk1.8.0</a:t>
            </a:r>
            <a:endParaRPr lang="en-US" altLang="zh-CN" dirty="0">
              <a:solidFill>
                <a:srgbClr val="CC0066"/>
              </a:solidFill>
            </a:endParaRPr>
          </a:p>
        </p:txBody>
      </p:sp>
      <p:sp>
        <p:nvSpPr>
          <p:cNvPr id="17416" name="Text Box 10"/>
          <p:cNvSpPr txBox="1">
            <a:spLocks noChangeArrowheads="1"/>
          </p:cNvSpPr>
          <p:nvPr/>
        </p:nvSpPr>
        <p:spPr bwMode="auto">
          <a:xfrm>
            <a:off x="1589088" y="2769661"/>
            <a:ext cx="709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solidFill>
                  <a:srgbClr val="CC0066"/>
                </a:solidFill>
              </a:rPr>
              <a:t>BIN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7417" name="Text Box 11"/>
          <p:cNvSpPr txBox="1">
            <a:spLocks noChangeArrowheads="1"/>
          </p:cNvSpPr>
          <p:nvPr/>
        </p:nvSpPr>
        <p:spPr bwMode="auto">
          <a:xfrm>
            <a:off x="1589088" y="3150661"/>
            <a:ext cx="762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solidFill>
                  <a:srgbClr val="CC0066"/>
                </a:solidFill>
              </a:rPr>
              <a:t>LIB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7418" name="Text Box 12"/>
          <p:cNvSpPr txBox="1">
            <a:spLocks noChangeArrowheads="1"/>
          </p:cNvSpPr>
          <p:nvPr/>
        </p:nvSpPr>
        <p:spPr bwMode="auto">
          <a:xfrm>
            <a:off x="1589088" y="3531661"/>
            <a:ext cx="15224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solidFill>
                  <a:srgbClr val="CC0066"/>
                </a:solidFill>
              </a:rPr>
              <a:t>INCLUDE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7419" name="Text Box 13"/>
          <p:cNvSpPr txBox="1">
            <a:spLocks noChangeArrowheads="1"/>
          </p:cNvSpPr>
          <p:nvPr/>
        </p:nvSpPr>
        <p:spPr bwMode="auto">
          <a:xfrm>
            <a:off x="1589088" y="3912661"/>
            <a:ext cx="108267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solidFill>
                  <a:srgbClr val="CC0066"/>
                </a:solidFill>
              </a:rPr>
              <a:t>DEMO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7420" name="Text Box 15"/>
          <p:cNvSpPr txBox="1">
            <a:spLocks noChangeArrowheads="1"/>
          </p:cNvSpPr>
          <p:nvPr/>
        </p:nvSpPr>
        <p:spPr bwMode="auto">
          <a:xfrm>
            <a:off x="1589088" y="4293661"/>
            <a:ext cx="6921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solidFill>
                  <a:srgbClr val="CC0066"/>
                </a:solidFill>
              </a:rPr>
              <a:t>JRE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7421" name="Line 16"/>
          <p:cNvSpPr>
            <a:spLocks noChangeShapeType="1"/>
          </p:cNvSpPr>
          <p:nvPr/>
        </p:nvSpPr>
        <p:spPr bwMode="auto">
          <a:xfrm>
            <a:off x="1208088" y="2769661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2" name="Line 17"/>
          <p:cNvSpPr>
            <a:spLocks noChangeShapeType="1"/>
          </p:cNvSpPr>
          <p:nvPr/>
        </p:nvSpPr>
        <p:spPr bwMode="auto">
          <a:xfrm>
            <a:off x="1208088" y="4522261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3" name="Line 19"/>
          <p:cNvSpPr>
            <a:spLocks noChangeShapeType="1"/>
          </p:cNvSpPr>
          <p:nvPr/>
        </p:nvSpPr>
        <p:spPr bwMode="auto">
          <a:xfrm>
            <a:off x="1208088" y="4141261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4" name="Line 20"/>
          <p:cNvSpPr>
            <a:spLocks noChangeShapeType="1"/>
          </p:cNvSpPr>
          <p:nvPr/>
        </p:nvSpPr>
        <p:spPr bwMode="auto">
          <a:xfrm>
            <a:off x="1208088" y="3760261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5" name="Line 21"/>
          <p:cNvSpPr>
            <a:spLocks noChangeShapeType="1"/>
          </p:cNvSpPr>
          <p:nvPr/>
        </p:nvSpPr>
        <p:spPr bwMode="auto">
          <a:xfrm>
            <a:off x="1208088" y="3379261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6" name="Line 22"/>
          <p:cNvSpPr>
            <a:spLocks noChangeShapeType="1"/>
          </p:cNvSpPr>
          <p:nvPr/>
        </p:nvSpPr>
        <p:spPr bwMode="auto">
          <a:xfrm>
            <a:off x="1208088" y="2998261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7" name="Text Box 23"/>
          <p:cNvSpPr txBox="1">
            <a:spLocks noChangeArrowheads="1"/>
          </p:cNvSpPr>
          <p:nvPr/>
        </p:nvSpPr>
        <p:spPr bwMode="auto">
          <a:xfrm>
            <a:off x="2427288" y="2769661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命令文件目录</a:t>
            </a:r>
            <a:endParaRPr lang="zh-CN" altLang="en-US"/>
          </a:p>
        </p:txBody>
      </p:sp>
      <p:sp>
        <p:nvSpPr>
          <p:cNvPr id="17428" name="Text Box 25"/>
          <p:cNvSpPr txBox="1">
            <a:spLocks noChangeArrowheads="1"/>
          </p:cNvSpPr>
          <p:nvPr/>
        </p:nvSpPr>
        <p:spPr bwMode="auto">
          <a:xfrm>
            <a:off x="2427288" y="3150661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类库文件目录</a:t>
            </a:r>
            <a:endParaRPr lang="zh-CN" altLang="en-US"/>
          </a:p>
        </p:txBody>
      </p:sp>
      <p:sp>
        <p:nvSpPr>
          <p:cNvPr id="19" name="Text Box 60"/>
          <p:cNvSpPr txBox="1">
            <a:spLocks noChangeArrowheads="1"/>
          </p:cNvSpPr>
          <p:nvPr/>
        </p:nvSpPr>
        <p:spPr bwMode="auto">
          <a:xfrm>
            <a:off x="899592" y="260648"/>
            <a:ext cx="49664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 err="1" smtClean="0">
                <a:solidFill>
                  <a:srgbClr val="FF0000"/>
                </a:solidFill>
              </a:rPr>
              <a:t>javac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java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命令在什么地方？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76672"/>
            <a:ext cx="6808146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60648"/>
            <a:ext cx="5616624" cy="6112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1027"/>
          <p:cNvSpPr>
            <a:spLocks noChangeArrowheads="1"/>
          </p:cNvSpPr>
          <p:nvPr/>
        </p:nvSpPr>
        <p:spPr bwMode="auto">
          <a:xfrm>
            <a:off x="609600" y="838200"/>
            <a:ext cx="7991475" cy="144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6" name="Text Box 1029"/>
          <p:cNvSpPr txBox="1">
            <a:spLocks noChangeArrowheads="1"/>
          </p:cNvSpPr>
          <p:nvPr/>
        </p:nvSpPr>
        <p:spPr bwMode="auto">
          <a:xfrm>
            <a:off x="609600" y="1064747"/>
            <a:ext cx="41585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009900"/>
                </a:solidFill>
              </a:rPr>
              <a:t> </a:t>
            </a:r>
            <a:r>
              <a:rPr lang="en-US" altLang="zh-CN" sz="2800" b="1" dirty="0">
                <a:solidFill>
                  <a:srgbClr val="009900"/>
                </a:solidFill>
              </a:rPr>
              <a:t>BIN</a:t>
            </a:r>
            <a:r>
              <a:rPr lang="zh-CN" altLang="zh-CN" sz="2800" b="1" dirty="0">
                <a:solidFill>
                  <a:srgbClr val="009900"/>
                </a:solidFill>
              </a:rPr>
              <a:t>子目录中的命令文件</a:t>
            </a:r>
            <a:endParaRPr lang="zh-CN" altLang="en-US" dirty="0"/>
          </a:p>
        </p:txBody>
      </p:sp>
      <p:sp>
        <p:nvSpPr>
          <p:cNvPr id="18437" name="Rectangle 1030"/>
          <p:cNvSpPr>
            <a:spLocks noChangeArrowheads="1"/>
          </p:cNvSpPr>
          <p:nvPr/>
        </p:nvSpPr>
        <p:spPr bwMode="auto">
          <a:xfrm>
            <a:off x="685800" y="1600200"/>
            <a:ext cx="4119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sym typeface="Symbol" panose="05050102010706020507" pitchFamily="18" charset="2"/>
              </a:rPr>
              <a:t>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javac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    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java</a:t>
            </a:r>
            <a:r>
              <a:rPr lang="zh-CN" altLang="zh-CN">
                <a:latin typeface="楷体_GB2312" pitchFamily="49" charset="-122"/>
                <a:sym typeface="Symbol" panose="05050102010706020507" pitchFamily="18" charset="2"/>
              </a:rPr>
              <a:t>语言编译器</a:t>
            </a: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8438" name="Text Box 1031"/>
          <p:cNvSpPr txBox="1">
            <a:spLocks noChangeArrowheads="1"/>
          </p:cNvSpPr>
          <p:nvPr/>
        </p:nvSpPr>
        <p:spPr bwMode="auto">
          <a:xfrm>
            <a:off x="990600" y="2209800"/>
            <a:ext cx="77724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CC"/>
                </a:solidFill>
              </a:rPr>
              <a:t>格式：</a:t>
            </a:r>
            <a:r>
              <a:rPr lang="zh-CN" altLang="en-US"/>
              <a:t> </a:t>
            </a:r>
            <a:r>
              <a:rPr lang="en-US" altLang="zh-CN" b="1"/>
              <a:t>javac  </a:t>
            </a:r>
            <a:r>
              <a:rPr lang="zh-CN" altLang="zh-CN" b="1"/>
              <a:t>源程序文件名</a:t>
            </a:r>
            <a:endParaRPr lang="zh-CN" altLang="zh-CN"/>
          </a:p>
          <a:p>
            <a:pPr algn="l" eaLnBrk="1" hangingPunct="1">
              <a:spcBef>
                <a:spcPct val="50000"/>
              </a:spcBef>
            </a:pPr>
            <a:r>
              <a:rPr lang="zh-CN" altLang="zh-CN"/>
              <a:t>        </a:t>
            </a:r>
            <a:r>
              <a:rPr lang="zh-CN" altLang="en-US"/>
              <a:t>源程序文件名必须以</a:t>
            </a:r>
            <a:r>
              <a:rPr lang="en-US" altLang="zh-CN"/>
              <a:t>java</a:t>
            </a:r>
            <a:r>
              <a:rPr lang="zh-CN" altLang="en-US"/>
              <a:t>为扩展名，编译以后生成扩展名为</a:t>
            </a:r>
            <a:r>
              <a:rPr lang="en-US" altLang="zh-CN"/>
              <a:t>class</a:t>
            </a:r>
            <a:r>
              <a:rPr lang="zh-CN" altLang="en-US"/>
              <a:t>的字节码文件。命令中，后缀</a:t>
            </a:r>
            <a:r>
              <a:rPr lang="en-US" altLang="zh-CN"/>
              <a:t>java</a:t>
            </a:r>
            <a:r>
              <a:rPr lang="zh-CN" altLang="en-US"/>
              <a:t>不能缺省。</a:t>
            </a:r>
            <a:r>
              <a:rPr lang="en-US" altLang="en-US"/>
              <a:t> </a:t>
            </a:r>
            <a:endParaRPr lang="zh-CN" altLang="en-US"/>
          </a:p>
        </p:txBody>
      </p:sp>
      <p:sp>
        <p:nvSpPr>
          <p:cNvPr id="18439" name="Rectangle 1032"/>
          <p:cNvSpPr>
            <a:spLocks noChangeArrowheads="1"/>
          </p:cNvSpPr>
          <p:nvPr/>
        </p:nvSpPr>
        <p:spPr bwMode="auto">
          <a:xfrm>
            <a:off x="762000" y="3733800"/>
            <a:ext cx="4279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sym typeface="Symbol" panose="05050102010706020507" pitchFamily="18" charset="2"/>
              </a:rPr>
              <a:t>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java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    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java</a:t>
            </a:r>
            <a:r>
              <a:rPr lang="zh-CN" altLang="zh-CN">
                <a:latin typeface="楷体_GB2312" pitchFamily="49" charset="-122"/>
                <a:sym typeface="Symbol" panose="05050102010706020507" pitchFamily="18" charset="2"/>
              </a:rPr>
              <a:t>字节码解释</a:t>
            </a:r>
            <a:r>
              <a:rPr lang="zh-CN" altLang="en-US">
                <a:latin typeface="楷体_GB2312" pitchFamily="49" charset="-122"/>
                <a:sym typeface="Symbol" panose="05050102010706020507" pitchFamily="18" charset="2"/>
              </a:rPr>
              <a:t>器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8440" name="Text Box 1033"/>
          <p:cNvSpPr txBox="1">
            <a:spLocks noChangeArrowheads="1"/>
          </p:cNvSpPr>
          <p:nvPr/>
        </p:nvSpPr>
        <p:spPr bwMode="auto">
          <a:xfrm>
            <a:off x="1066800" y="4267200"/>
            <a:ext cx="777240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CC"/>
                </a:solidFill>
              </a:rPr>
              <a:t>格式：</a:t>
            </a:r>
            <a:r>
              <a:rPr lang="zh-CN" altLang="en-US"/>
              <a:t> </a:t>
            </a:r>
            <a:r>
              <a:rPr lang="en-US" altLang="zh-CN" b="1"/>
              <a:t>java  </a:t>
            </a:r>
            <a:r>
              <a:rPr lang="zh-CN" altLang="zh-CN" b="1"/>
              <a:t>字节码文件</a:t>
            </a:r>
            <a:r>
              <a:rPr lang="zh-CN" altLang="en-US" b="1"/>
              <a:t>主文件名</a:t>
            </a:r>
            <a:endParaRPr lang="zh-CN" altLang="zh-CN"/>
          </a:p>
          <a:p>
            <a:pPr algn="l" eaLnBrk="1" hangingPunct="1">
              <a:spcBef>
                <a:spcPct val="50000"/>
              </a:spcBef>
            </a:pPr>
            <a:r>
              <a:rPr lang="zh-CN" altLang="zh-CN"/>
              <a:t>        </a:t>
            </a:r>
            <a:r>
              <a:rPr lang="zh-CN" altLang="en-US"/>
              <a:t>字节码文件名必须以</a:t>
            </a:r>
            <a:r>
              <a:rPr lang="en-US" altLang="zh-CN"/>
              <a:t>class</a:t>
            </a:r>
            <a:r>
              <a:rPr lang="zh-CN" altLang="en-US"/>
              <a:t>为扩展名。命令中，扩展名</a:t>
            </a:r>
            <a:r>
              <a:rPr lang="en-US" altLang="zh-CN"/>
              <a:t>class</a:t>
            </a:r>
            <a:r>
              <a:rPr lang="zh-CN" altLang="en-US"/>
              <a:t>必须缺省。</a:t>
            </a:r>
            <a:r>
              <a:rPr lang="en-US" altLang="en-US"/>
              <a:t> </a:t>
            </a:r>
            <a:r>
              <a:rPr lang="zh-CN" altLang="en-US"/>
              <a:t>该命令的功能是解释执行由</a:t>
            </a:r>
            <a:r>
              <a:rPr lang="en-US" altLang="zh-CN"/>
              <a:t>javac</a:t>
            </a:r>
            <a:r>
              <a:rPr lang="zh-CN" altLang="en-US"/>
              <a:t>编译好的字节码程序。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609600" y="838200"/>
            <a:ext cx="7991475" cy="144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609600" y="1066800"/>
            <a:ext cx="573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sym typeface="Symbol" panose="05050102010706020507" pitchFamily="18" charset="2"/>
              </a:rPr>
              <a:t>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javap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                   </a:t>
            </a:r>
            <a:r>
              <a:rPr lang="en-US" altLang="zh-CN">
                <a:sym typeface="Symbol" panose="05050102010706020507" pitchFamily="18" charset="2"/>
              </a:rPr>
              <a:t>java</a:t>
            </a:r>
            <a:r>
              <a:rPr lang="zh-CN" altLang="zh-CN">
                <a:sym typeface="Symbol" panose="05050102010706020507" pitchFamily="18" charset="2"/>
              </a:rPr>
              <a:t>字节码分析程序。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609600" y="1600200"/>
            <a:ext cx="4919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sym typeface="Symbol" panose="05050102010706020507" pitchFamily="18" charset="2"/>
              </a:rPr>
              <a:t>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javaprof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             </a:t>
            </a:r>
            <a:r>
              <a:rPr lang="zh-CN" altLang="en-US">
                <a:sym typeface="Symbol" panose="05050102010706020507" pitchFamily="18" charset="2"/>
              </a:rPr>
              <a:t>资源分析工具</a:t>
            </a:r>
            <a:r>
              <a:rPr lang="zh-CN" altLang="zh-CN"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609600" y="2209800"/>
            <a:ext cx="5126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sym typeface="Symbol" panose="05050102010706020507" pitchFamily="18" charset="2"/>
              </a:rPr>
              <a:t>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javah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                   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zh-CN" altLang="en-US">
                <a:sym typeface="Symbol" panose="05050102010706020507" pitchFamily="18" charset="2"/>
              </a:rPr>
              <a:t>代码处理工具</a:t>
            </a:r>
            <a:r>
              <a:rPr lang="zh-CN" altLang="zh-CN"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609600" y="2743200"/>
            <a:ext cx="517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sym typeface="Symbol" panose="05050102010706020507" pitchFamily="18" charset="2"/>
              </a:rPr>
              <a:t>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appletviewer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     </a:t>
            </a:r>
            <a:r>
              <a:rPr lang="en-US" altLang="zh-CN">
                <a:sym typeface="Symbol" panose="05050102010706020507" pitchFamily="18" charset="2"/>
              </a:rPr>
              <a:t>Applet</a:t>
            </a:r>
            <a:r>
              <a:rPr lang="zh-CN" altLang="zh-CN">
                <a:sym typeface="Symbol" panose="05050102010706020507" pitchFamily="18" charset="2"/>
              </a:rPr>
              <a:t>浏览工具。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609600" y="3276600"/>
            <a:ext cx="4900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sym typeface="Symbol" panose="05050102010706020507" pitchFamily="18" charset="2"/>
              </a:rPr>
              <a:t>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jdb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                        </a:t>
            </a:r>
            <a:r>
              <a:rPr lang="en-US" altLang="zh-CN">
                <a:sym typeface="Symbol" panose="05050102010706020507" pitchFamily="18" charset="2"/>
              </a:rPr>
              <a:t>Java</a:t>
            </a:r>
            <a:r>
              <a:rPr lang="zh-CN" altLang="zh-CN">
                <a:sym typeface="Symbol" panose="05050102010706020507" pitchFamily="18" charset="2"/>
              </a:rPr>
              <a:t>调试</a:t>
            </a:r>
            <a:r>
              <a:rPr lang="zh-CN" altLang="en-US">
                <a:sym typeface="Symbol" panose="05050102010706020507" pitchFamily="18" charset="2"/>
              </a:rPr>
              <a:t>工具</a:t>
            </a:r>
            <a:r>
              <a:rPr lang="zh-CN" altLang="zh-CN"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609600" y="3810000"/>
            <a:ext cx="4694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sym typeface="Symbol" panose="05050102010706020507" pitchFamily="18" charset="2"/>
              </a:rPr>
              <a:t>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jar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     </a:t>
            </a:r>
            <a:r>
              <a:rPr lang="en-US" altLang="zh-CN">
                <a:sym typeface="Symbol" panose="05050102010706020507" pitchFamily="18" charset="2"/>
              </a:rPr>
              <a:t>               </a:t>
            </a:r>
            <a:r>
              <a:rPr lang="zh-CN" altLang="en-US">
                <a:sym typeface="Symbol" panose="05050102010706020507" pitchFamily="18" charset="2"/>
              </a:rPr>
              <a:t>　 管理</a:t>
            </a:r>
            <a:r>
              <a:rPr lang="en-US" altLang="zh-CN">
                <a:sym typeface="Symbol" panose="05050102010706020507" pitchFamily="18" charset="2"/>
              </a:rPr>
              <a:t>jar</a:t>
            </a:r>
            <a:r>
              <a:rPr lang="zh-CN" altLang="zh-CN">
                <a:sym typeface="Symbol" panose="05050102010706020507" pitchFamily="18" charset="2"/>
              </a:rPr>
              <a:t>文件。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914400" y="4343400"/>
            <a:ext cx="7772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zh-CN"/>
              <a:t>        </a:t>
            </a:r>
            <a:r>
              <a:rPr lang="zh-CN" altLang="en-US"/>
              <a:t>使用该工具可以把</a:t>
            </a:r>
            <a:r>
              <a:rPr lang="en-US" altLang="zh-CN"/>
              <a:t>java</a:t>
            </a:r>
            <a:r>
              <a:rPr lang="zh-CN" altLang="en-US"/>
              <a:t>程序打包成为一个文件</a:t>
            </a:r>
            <a:r>
              <a:rPr lang="en-US" altLang="zh-CN"/>
              <a:t>(*.jar)</a:t>
            </a:r>
            <a:r>
              <a:rPr lang="zh-CN" altLang="en-US"/>
              <a:t>，</a:t>
            </a:r>
            <a:r>
              <a:rPr lang="en-US" altLang="zh-CN"/>
              <a:t>jar</a:t>
            </a:r>
            <a:r>
              <a:rPr lang="zh-CN" altLang="zh-CN"/>
              <a:t>文件比</a:t>
            </a:r>
            <a:r>
              <a:rPr lang="en-US" altLang="zh-CN"/>
              <a:t>java</a:t>
            </a:r>
            <a:r>
              <a:rPr lang="zh-CN" altLang="zh-CN"/>
              <a:t>源文件小，处理起来比较方便</a:t>
            </a:r>
            <a:r>
              <a:rPr lang="zh-CN" altLang="en-US"/>
              <a:t>。</a:t>
            </a:r>
            <a:r>
              <a:rPr lang="en-US" altLang="en-US"/>
              <a:t> </a:t>
            </a:r>
            <a:endParaRPr lang="zh-CN" altLang="en-US"/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685800" y="5257800"/>
            <a:ext cx="5445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sym typeface="Symbol" panose="05050102010706020507" pitchFamily="18" charset="2"/>
              </a:rPr>
              <a:t>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javadoc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     </a:t>
            </a:r>
            <a:r>
              <a:rPr lang="en-US" altLang="zh-CN">
                <a:sym typeface="Symbol" panose="05050102010706020507" pitchFamily="18" charset="2"/>
              </a:rPr>
              <a:t>          </a:t>
            </a:r>
            <a:r>
              <a:rPr lang="zh-CN" altLang="en-US">
                <a:sym typeface="Symbol" panose="05050102010706020507" pitchFamily="18" charset="2"/>
              </a:rPr>
              <a:t>用于生成</a:t>
            </a:r>
            <a:r>
              <a:rPr lang="en-US" altLang="zh-CN">
                <a:sym typeface="Symbol" panose="05050102010706020507" pitchFamily="18" charset="2"/>
              </a:rPr>
              <a:t>API</a:t>
            </a:r>
            <a:r>
              <a:rPr lang="zh-CN" altLang="en-US">
                <a:sym typeface="Symbol" panose="05050102010706020507" pitchFamily="18" charset="2"/>
              </a:rPr>
              <a:t>文档</a:t>
            </a:r>
            <a:r>
              <a:rPr lang="zh-CN" altLang="zh-CN"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/>
              <a:t>二、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运行环境搭建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三、第一个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程序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/>
              <a:t>1</a:t>
            </a:r>
            <a:r>
              <a:rPr lang="zh-CN" altLang="en-US" sz="3200" dirty="0" smtClean="0"/>
              <a:t>、理解</a:t>
            </a:r>
            <a:r>
              <a:rPr lang="en-US" altLang="zh-CN" sz="3200" dirty="0" smtClean="0"/>
              <a:t>java</a:t>
            </a:r>
            <a:r>
              <a:rPr lang="zh-CN" altLang="en-US" sz="3200" dirty="0" smtClean="0"/>
              <a:t>程序编写过程</a:t>
            </a:r>
            <a:endParaRPr lang="en-US" altLang="zh-CN" sz="3200" dirty="0" smtClean="0"/>
          </a:p>
          <a:p>
            <a:pPr lvl="1"/>
            <a:r>
              <a:rPr lang="en-US" altLang="zh-CN" sz="3200" dirty="0" smtClean="0">
                <a:solidFill>
                  <a:srgbClr val="FF0000"/>
                </a:solidFill>
              </a:rPr>
              <a:t>2</a:t>
            </a:r>
            <a:r>
              <a:rPr lang="zh-CN" altLang="en-US" sz="3200" dirty="0" smtClean="0">
                <a:solidFill>
                  <a:srgbClr val="FF0000"/>
                </a:solidFill>
              </a:rPr>
              <a:t>、编写源程序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59"/>
          <p:cNvSpPr>
            <a:spLocks noChangeArrowheads="1"/>
          </p:cNvSpPr>
          <p:nvPr/>
        </p:nvSpPr>
        <p:spPr bwMode="auto">
          <a:xfrm>
            <a:off x="1527903" y="2643336"/>
            <a:ext cx="12192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zh-CN" altLang="en-US" b="1">
                <a:solidFill>
                  <a:srgbClr val="FF0000"/>
                </a:solidFill>
              </a:rPr>
              <a:t>源程序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.java)</a:t>
            </a:r>
            <a:endParaRPr lang="en-US" altLang="zh-CN"/>
          </a:p>
        </p:txBody>
      </p:sp>
      <p:sp>
        <p:nvSpPr>
          <p:cNvPr id="7173" name="Text Box 60"/>
          <p:cNvSpPr txBox="1">
            <a:spLocks noChangeArrowheads="1"/>
          </p:cNvSpPr>
          <p:nvPr/>
        </p:nvSpPr>
        <p:spPr bwMode="auto">
          <a:xfrm>
            <a:off x="941823" y="384188"/>
            <a:ext cx="67265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</a:rPr>
              <a:t>Java</a:t>
            </a:r>
            <a:r>
              <a:rPr lang="zh-CN" altLang="zh-CN" sz="2800" b="1" dirty="0">
                <a:solidFill>
                  <a:srgbClr val="FF0000"/>
                </a:solidFill>
              </a:rPr>
              <a:t>虚拟机（</a:t>
            </a:r>
            <a:r>
              <a:rPr lang="en-US" altLang="zh-CN" sz="2800" b="1" dirty="0">
                <a:solidFill>
                  <a:srgbClr val="FF0000"/>
                </a:solidFill>
              </a:rPr>
              <a:t>JVM</a:t>
            </a:r>
            <a:r>
              <a:rPr lang="zh-CN" altLang="zh-CN" sz="2800" b="1" dirty="0">
                <a:solidFill>
                  <a:srgbClr val="FF0000"/>
                </a:solidFill>
              </a:rPr>
              <a:t>）与</a:t>
            </a:r>
            <a:r>
              <a:rPr lang="en-US" altLang="zh-CN" sz="2800" b="1" dirty="0">
                <a:solidFill>
                  <a:srgbClr val="FF0000"/>
                </a:solidFill>
              </a:rPr>
              <a:t>Java</a:t>
            </a:r>
            <a:r>
              <a:rPr lang="zh-CN" altLang="zh-CN" sz="2800" b="1" dirty="0">
                <a:solidFill>
                  <a:srgbClr val="FF0000"/>
                </a:solidFill>
              </a:rPr>
              <a:t>程序运行流程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174" name="Line 61"/>
          <p:cNvSpPr>
            <a:spLocks noChangeShapeType="1"/>
          </p:cNvSpPr>
          <p:nvPr/>
        </p:nvSpPr>
        <p:spPr bwMode="auto">
          <a:xfrm>
            <a:off x="27471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Rectangle 62"/>
          <p:cNvSpPr>
            <a:spLocks noChangeArrowheads="1"/>
          </p:cNvSpPr>
          <p:nvPr/>
        </p:nvSpPr>
        <p:spPr bwMode="auto">
          <a:xfrm>
            <a:off x="3204303" y="2871936"/>
            <a:ext cx="17526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编译器</a:t>
            </a:r>
            <a:endParaRPr lang="zh-CN" altLang="en-US"/>
          </a:p>
        </p:txBody>
      </p:sp>
      <p:sp>
        <p:nvSpPr>
          <p:cNvPr id="7176" name="AutoShape 63"/>
          <p:cNvSpPr>
            <a:spLocks noChangeArrowheads="1"/>
          </p:cNvSpPr>
          <p:nvPr/>
        </p:nvSpPr>
        <p:spPr bwMode="auto">
          <a:xfrm>
            <a:off x="5414103" y="2567136"/>
            <a:ext cx="20574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en-US" altLang="zh-CN" b="1">
                <a:solidFill>
                  <a:srgbClr val="FF0000"/>
                </a:solidFill>
              </a:rPr>
              <a:t>byte-code</a:t>
            </a:r>
            <a:r>
              <a:rPr lang="zh-CN" altLang="en-US" b="1">
                <a:solidFill>
                  <a:srgbClr val="FF0000"/>
                </a:solidFill>
              </a:rPr>
              <a:t>文件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.class)</a:t>
            </a:r>
            <a:endParaRPr lang="en-US" altLang="zh-CN"/>
          </a:p>
        </p:txBody>
      </p:sp>
      <p:sp>
        <p:nvSpPr>
          <p:cNvPr id="7177" name="Line 64"/>
          <p:cNvSpPr>
            <a:spLocks noChangeShapeType="1"/>
          </p:cNvSpPr>
          <p:nvPr/>
        </p:nvSpPr>
        <p:spPr bwMode="auto">
          <a:xfrm>
            <a:off x="49569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Rectangle 65"/>
          <p:cNvSpPr>
            <a:spLocks noChangeArrowheads="1"/>
          </p:cNvSpPr>
          <p:nvPr/>
        </p:nvSpPr>
        <p:spPr bwMode="auto">
          <a:xfrm>
            <a:off x="5414103" y="4243536"/>
            <a:ext cx="2057400" cy="914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虚拟机</a:t>
            </a:r>
            <a:endParaRPr lang="zh-CN" altLang="zh-CN" b="1">
              <a:solidFill>
                <a:srgbClr val="FF0000"/>
              </a:solidFill>
            </a:endParaRPr>
          </a:p>
          <a:p>
            <a:r>
              <a:rPr lang="zh-CN" altLang="zh-CN" b="1"/>
              <a:t>(</a:t>
            </a:r>
            <a:r>
              <a:rPr lang="en-US" altLang="zh-CN" b="1"/>
              <a:t>Java</a:t>
            </a:r>
            <a:r>
              <a:rPr lang="zh-CN" altLang="zh-CN" b="1"/>
              <a:t>解释器)</a:t>
            </a:r>
            <a:endParaRPr lang="en-US" altLang="zh-CN"/>
          </a:p>
        </p:txBody>
      </p:sp>
      <p:sp>
        <p:nvSpPr>
          <p:cNvPr id="7179" name="Line 66"/>
          <p:cNvSpPr>
            <a:spLocks noChangeShapeType="1"/>
          </p:cNvSpPr>
          <p:nvPr/>
        </p:nvSpPr>
        <p:spPr bwMode="auto">
          <a:xfrm>
            <a:off x="6404703" y="3633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Rectangle 67"/>
          <p:cNvSpPr>
            <a:spLocks noChangeArrowheads="1"/>
          </p:cNvSpPr>
          <p:nvPr/>
        </p:nvSpPr>
        <p:spPr bwMode="auto">
          <a:xfrm>
            <a:off x="5414103" y="5767536"/>
            <a:ext cx="20574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FF0000"/>
                </a:solidFill>
              </a:rPr>
              <a:t>操作系统</a:t>
            </a:r>
            <a:endParaRPr lang="zh-CN" altLang="en-US"/>
          </a:p>
        </p:txBody>
      </p:sp>
      <p:sp>
        <p:nvSpPr>
          <p:cNvPr id="7181" name="Line 68"/>
          <p:cNvSpPr>
            <a:spLocks noChangeShapeType="1"/>
          </p:cNvSpPr>
          <p:nvPr/>
        </p:nvSpPr>
        <p:spPr bwMode="auto">
          <a:xfrm>
            <a:off x="6404703" y="5157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" name="Text Box 76"/>
          <p:cNvSpPr txBox="1">
            <a:spLocks noChangeArrowheads="1"/>
          </p:cNvSpPr>
          <p:nvPr/>
        </p:nvSpPr>
        <p:spPr bwMode="auto">
          <a:xfrm>
            <a:off x="6480903" y="5234136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gray">
          <a:xfrm>
            <a:off x="941823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1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、编写源程序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142302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2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、编译源程序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>
            <a:off x="5374790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3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、运行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rot="16200000" flipH="1">
            <a:off x="1601406" y="2142946"/>
            <a:ext cx="642945" cy="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2"/>
          </p:cNvCxnSpPr>
          <p:nvPr/>
        </p:nvCxnSpPr>
        <p:spPr>
          <a:xfrm rot="5400000">
            <a:off x="3889618" y="2131736"/>
            <a:ext cx="647402" cy="17967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2" idx="2"/>
          </p:cNvCxnSpPr>
          <p:nvPr/>
        </p:nvCxnSpPr>
        <p:spPr>
          <a:xfrm rot="5400000">
            <a:off x="6126875" y="2136503"/>
            <a:ext cx="647400" cy="843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 Box 60"/>
          <p:cNvSpPr txBox="1">
            <a:spLocks noChangeArrowheads="1"/>
          </p:cNvSpPr>
          <p:nvPr/>
        </p:nvSpPr>
        <p:spPr bwMode="auto">
          <a:xfrm>
            <a:off x="1187624" y="4005064"/>
            <a:ext cx="188224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第一步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79512" y="2204864"/>
            <a:ext cx="8856984" cy="4032448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class </a:t>
            </a:r>
            <a:r>
              <a:rPr lang="en-US" altLang="zh-CN" sz="3200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HelloWorld</a:t>
            </a:r>
            <a:r>
              <a:rPr lang="en-US" altLang="zh-CN" sz="3200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{</a:t>
            </a: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public static void main(String[ ] </a:t>
            </a:r>
            <a:r>
              <a:rPr lang="en-US" altLang="zh-CN" sz="3200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args</a:t>
            </a:r>
            <a:r>
              <a:rPr lang="en-US" altLang="zh-CN" sz="3200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) {</a:t>
            </a:r>
            <a:endParaRPr lang="en-US" altLang="zh-CN" sz="3200" b="1" dirty="0" smtClean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</a:t>
            </a:r>
            <a:r>
              <a:rPr lang="en-US" altLang="zh-CN" sz="3200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System.out.println</a:t>
            </a: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("Hello  World!!!");</a:t>
            </a: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}</a:t>
            </a: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aphicFrame>
        <p:nvGraphicFramePr>
          <p:cNvPr id="18" name="内容占位符 4"/>
          <p:cNvGraphicFramePr/>
          <p:nvPr/>
        </p:nvGraphicFramePr>
        <p:xfrm>
          <a:off x="107504" y="476672"/>
          <a:ext cx="8869179" cy="1135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79512" y="2060848"/>
            <a:ext cx="8856984" cy="4032448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class 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+mn-lt"/>
              </a:rPr>
              <a:t>HelloWorld</a:t>
            </a:r>
            <a:r>
              <a:rPr lang="en-US" altLang="zh-CN" sz="3200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{</a:t>
            </a: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public static void main(String[ ] </a:t>
            </a:r>
            <a:r>
              <a:rPr lang="en-US" altLang="zh-CN" sz="3200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args</a:t>
            </a:r>
            <a:r>
              <a:rPr lang="en-US" altLang="zh-CN" sz="3200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) {</a:t>
            </a:r>
            <a:endParaRPr lang="en-US" altLang="zh-CN" sz="3200" b="1" dirty="0" smtClean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</a:t>
            </a:r>
            <a:r>
              <a:rPr lang="en-US" altLang="zh-CN" sz="3200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System.out.println</a:t>
            </a: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("Hello  World!!!");</a:t>
            </a: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}</a:t>
            </a: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lvl="1"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en-US" altLang="zh-CN" sz="3200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grpSp>
        <p:nvGrpSpPr>
          <p:cNvPr id="2" name="组合 6"/>
          <p:cNvGrpSpPr/>
          <p:nvPr/>
        </p:nvGrpSpPr>
        <p:grpSpPr>
          <a:xfrm>
            <a:off x="179512" y="188640"/>
            <a:ext cx="8869179" cy="1656184"/>
            <a:chOff x="0" y="0"/>
            <a:chExt cx="8869179" cy="1135598"/>
          </a:xfrm>
        </p:grpSpPr>
        <p:sp>
          <p:nvSpPr>
            <p:cNvPr id="8" name="矩形 7"/>
            <p:cNvSpPr/>
            <p:nvPr/>
          </p:nvSpPr>
          <p:spPr>
            <a:xfrm>
              <a:off x="0" y="0"/>
              <a:ext cx="8869179" cy="113559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矩形 8"/>
            <p:cNvSpPr/>
            <p:nvPr/>
          </p:nvSpPr>
          <p:spPr>
            <a:xfrm>
              <a:off x="0" y="0"/>
              <a:ext cx="8869179" cy="1135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7584" tIns="227584" rIns="227584" bIns="227584" numCol="1" spcCol="1270" anchor="ctr" anchorCtr="0">
              <a:noAutofit/>
            </a:bodyPr>
            <a:lstStyle/>
            <a:p>
              <a:pPr lvl="0" algn="l" defTabSz="14224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3200" b="1" dirty="0" smtClean="0"/>
                <a:t>保存的文件名和类名一致，区分大小写。</a:t>
              </a:r>
              <a:endParaRPr lang="en-US" altLang="zh-CN" sz="3200" b="1" dirty="0" smtClean="0"/>
            </a:p>
            <a:p>
              <a:pPr lvl="0" algn="l" defTabSz="14224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3200" b="1" dirty="0" smtClean="0"/>
                <a:t>在本例中，类名为</a:t>
              </a:r>
              <a:r>
                <a:rPr lang="en-US" altLang="zh-CN" sz="3200" b="1" dirty="0" err="1" smtClean="0"/>
                <a:t>HelloWorld</a:t>
              </a:r>
              <a:r>
                <a:rPr lang="zh-CN" altLang="en-US" sz="3200" b="1" dirty="0" smtClean="0"/>
                <a:t>，文件名字也要保存为</a:t>
              </a:r>
              <a:r>
                <a:rPr lang="en-US" altLang="zh-CN" sz="3200" b="1" dirty="0" err="1" smtClean="0"/>
                <a:t>HelloWorld</a:t>
              </a:r>
              <a:endParaRPr lang="en-US" sz="3200" b="1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437112"/>
            <a:ext cx="8519603" cy="181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56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48880"/>
            <a:ext cx="8347389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5"/>
          <p:cNvGrpSpPr/>
          <p:nvPr/>
        </p:nvGrpSpPr>
        <p:grpSpPr>
          <a:xfrm>
            <a:off x="107504" y="1052736"/>
            <a:ext cx="8869179" cy="648072"/>
            <a:chOff x="0" y="0"/>
            <a:chExt cx="8869179" cy="1135598"/>
          </a:xfrm>
        </p:grpSpPr>
        <p:sp>
          <p:nvSpPr>
            <p:cNvPr id="8" name="矩形 7"/>
            <p:cNvSpPr/>
            <p:nvPr/>
          </p:nvSpPr>
          <p:spPr>
            <a:xfrm>
              <a:off x="0" y="0"/>
              <a:ext cx="8869179" cy="113559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矩形 8"/>
            <p:cNvSpPr/>
            <p:nvPr/>
          </p:nvSpPr>
          <p:spPr>
            <a:xfrm>
              <a:off x="0" y="0"/>
              <a:ext cx="8869179" cy="11355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7584" tIns="227584" rIns="227584" bIns="227584" numCol="1" spcCol="1270" anchor="ctr" anchorCtr="0">
              <a:noAutofit/>
            </a:bodyPr>
            <a:lstStyle/>
            <a:p>
              <a:pPr lvl="0" algn="l" defTabSz="14224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3200" dirty="0" smtClean="0"/>
                <a:t>保存时注意，保存类型选择：所有文件</a:t>
              </a:r>
              <a:endParaRPr lang="en-US" sz="3200" b="1" kern="1200" dirty="0"/>
            </a:p>
          </p:txBody>
        </p:sp>
      </p:grpSp>
      <p:graphicFrame>
        <p:nvGraphicFramePr>
          <p:cNvPr id="10" name="内容占位符 4"/>
          <p:cNvGraphicFramePr/>
          <p:nvPr/>
        </p:nvGraphicFramePr>
        <p:xfrm>
          <a:off x="107504" y="260648"/>
          <a:ext cx="8869179" cy="648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/>
              <a:t>二、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运行环境搭建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三、第一个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程序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/>
              <a:t>1</a:t>
            </a:r>
            <a:r>
              <a:rPr lang="zh-CN" altLang="en-US" sz="3200" dirty="0" smtClean="0"/>
              <a:t>、理解</a:t>
            </a:r>
            <a:r>
              <a:rPr lang="en-US" altLang="zh-CN" sz="3200" dirty="0" smtClean="0"/>
              <a:t>java</a:t>
            </a:r>
            <a:r>
              <a:rPr lang="zh-CN" altLang="en-US" sz="3200" dirty="0" smtClean="0"/>
              <a:t>程序编写过程</a:t>
            </a:r>
            <a:endParaRPr lang="en-US" altLang="zh-CN" sz="3200" dirty="0" smtClean="0"/>
          </a:p>
          <a:p>
            <a:pPr lvl="1"/>
            <a:r>
              <a:rPr lang="en-US" altLang="zh-CN" sz="3200" dirty="0" smtClean="0"/>
              <a:t>2</a:t>
            </a:r>
            <a:r>
              <a:rPr lang="zh-CN" altLang="en-US" sz="3200" dirty="0" smtClean="0"/>
              <a:t>、编写源程序</a:t>
            </a:r>
            <a:endParaRPr lang="zh-CN" altLang="en-US" sz="3200" dirty="0" smtClean="0"/>
          </a:p>
          <a:p>
            <a:pPr lvl="1"/>
            <a:r>
              <a:rPr lang="en-US" altLang="zh-CN" sz="3200" dirty="0" smtClean="0">
                <a:solidFill>
                  <a:srgbClr val="FF0000"/>
                </a:solidFill>
              </a:rPr>
              <a:t>3</a:t>
            </a:r>
            <a:r>
              <a:rPr lang="zh-CN" altLang="en-US" sz="3200" dirty="0" smtClean="0">
                <a:solidFill>
                  <a:srgbClr val="FF0000"/>
                </a:solidFill>
              </a:rPr>
              <a:t>、编译源程序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59"/>
          <p:cNvSpPr>
            <a:spLocks noChangeArrowheads="1"/>
          </p:cNvSpPr>
          <p:nvPr/>
        </p:nvSpPr>
        <p:spPr bwMode="auto">
          <a:xfrm>
            <a:off x="1527903" y="2643336"/>
            <a:ext cx="12192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zh-CN" altLang="en-US" b="1">
                <a:solidFill>
                  <a:srgbClr val="FF0000"/>
                </a:solidFill>
              </a:rPr>
              <a:t>源程序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.java)</a:t>
            </a:r>
            <a:endParaRPr lang="en-US" altLang="zh-CN"/>
          </a:p>
        </p:txBody>
      </p:sp>
      <p:sp>
        <p:nvSpPr>
          <p:cNvPr id="7173" name="Text Box 60"/>
          <p:cNvSpPr txBox="1">
            <a:spLocks noChangeArrowheads="1"/>
          </p:cNvSpPr>
          <p:nvPr/>
        </p:nvSpPr>
        <p:spPr bwMode="auto">
          <a:xfrm>
            <a:off x="941823" y="384188"/>
            <a:ext cx="67265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</a:rPr>
              <a:t>Java</a:t>
            </a:r>
            <a:r>
              <a:rPr lang="zh-CN" altLang="zh-CN" sz="2800" b="1" dirty="0">
                <a:solidFill>
                  <a:srgbClr val="FF0000"/>
                </a:solidFill>
              </a:rPr>
              <a:t>虚拟机（</a:t>
            </a:r>
            <a:r>
              <a:rPr lang="en-US" altLang="zh-CN" sz="2800" b="1" dirty="0">
                <a:solidFill>
                  <a:srgbClr val="FF0000"/>
                </a:solidFill>
              </a:rPr>
              <a:t>JVM</a:t>
            </a:r>
            <a:r>
              <a:rPr lang="zh-CN" altLang="zh-CN" sz="2800" b="1" dirty="0">
                <a:solidFill>
                  <a:srgbClr val="FF0000"/>
                </a:solidFill>
              </a:rPr>
              <a:t>）与</a:t>
            </a:r>
            <a:r>
              <a:rPr lang="en-US" altLang="zh-CN" sz="2800" b="1" dirty="0">
                <a:solidFill>
                  <a:srgbClr val="FF0000"/>
                </a:solidFill>
              </a:rPr>
              <a:t>Java</a:t>
            </a:r>
            <a:r>
              <a:rPr lang="zh-CN" altLang="zh-CN" sz="2800" b="1" dirty="0">
                <a:solidFill>
                  <a:srgbClr val="FF0000"/>
                </a:solidFill>
              </a:rPr>
              <a:t>程序运行流程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174" name="Line 61"/>
          <p:cNvSpPr>
            <a:spLocks noChangeShapeType="1"/>
          </p:cNvSpPr>
          <p:nvPr/>
        </p:nvSpPr>
        <p:spPr bwMode="auto">
          <a:xfrm>
            <a:off x="27471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Rectangle 62"/>
          <p:cNvSpPr>
            <a:spLocks noChangeArrowheads="1"/>
          </p:cNvSpPr>
          <p:nvPr/>
        </p:nvSpPr>
        <p:spPr bwMode="auto">
          <a:xfrm>
            <a:off x="3204303" y="2871936"/>
            <a:ext cx="17526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编译器</a:t>
            </a:r>
            <a:endParaRPr lang="zh-CN" altLang="en-US"/>
          </a:p>
        </p:txBody>
      </p:sp>
      <p:sp>
        <p:nvSpPr>
          <p:cNvPr id="7176" name="AutoShape 63"/>
          <p:cNvSpPr>
            <a:spLocks noChangeArrowheads="1"/>
          </p:cNvSpPr>
          <p:nvPr/>
        </p:nvSpPr>
        <p:spPr bwMode="auto">
          <a:xfrm>
            <a:off x="5414103" y="2567136"/>
            <a:ext cx="20574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en-US" altLang="zh-CN" b="1">
                <a:solidFill>
                  <a:srgbClr val="FF0000"/>
                </a:solidFill>
              </a:rPr>
              <a:t>byte-code</a:t>
            </a:r>
            <a:r>
              <a:rPr lang="zh-CN" altLang="en-US" b="1">
                <a:solidFill>
                  <a:srgbClr val="FF0000"/>
                </a:solidFill>
              </a:rPr>
              <a:t>文件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.class)</a:t>
            </a:r>
            <a:endParaRPr lang="en-US" altLang="zh-CN"/>
          </a:p>
        </p:txBody>
      </p:sp>
      <p:sp>
        <p:nvSpPr>
          <p:cNvPr id="7177" name="Line 64"/>
          <p:cNvSpPr>
            <a:spLocks noChangeShapeType="1"/>
          </p:cNvSpPr>
          <p:nvPr/>
        </p:nvSpPr>
        <p:spPr bwMode="auto">
          <a:xfrm>
            <a:off x="495690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Rectangle 65"/>
          <p:cNvSpPr>
            <a:spLocks noChangeArrowheads="1"/>
          </p:cNvSpPr>
          <p:nvPr/>
        </p:nvSpPr>
        <p:spPr bwMode="auto">
          <a:xfrm>
            <a:off x="5414103" y="4243536"/>
            <a:ext cx="2057400" cy="914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虚拟机</a:t>
            </a:r>
            <a:endParaRPr lang="zh-CN" altLang="zh-CN" b="1">
              <a:solidFill>
                <a:srgbClr val="FF0000"/>
              </a:solidFill>
            </a:endParaRPr>
          </a:p>
          <a:p>
            <a:r>
              <a:rPr lang="zh-CN" altLang="zh-CN" b="1"/>
              <a:t>(</a:t>
            </a:r>
            <a:r>
              <a:rPr lang="en-US" altLang="zh-CN" b="1"/>
              <a:t>Java</a:t>
            </a:r>
            <a:r>
              <a:rPr lang="zh-CN" altLang="zh-CN" b="1"/>
              <a:t>解释器)</a:t>
            </a:r>
            <a:endParaRPr lang="en-US" altLang="zh-CN"/>
          </a:p>
        </p:txBody>
      </p:sp>
      <p:sp>
        <p:nvSpPr>
          <p:cNvPr id="7179" name="Line 66"/>
          <p:cNvSpPr>
            <a:spLocks noChangeShapeType="1"/>
          </p:cNvSpPr>
          <p:nvPr/>
        </p:nvSpPr>
        <p:spPr bwMode="auto">
          <a:xfrm>
            <a:off x="6404703" y="3633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Rectangle 67"/>
          <p:cNvSpPr>
            <a:spLocks noChangeArrowheads="1"/>
          </p:cNvSpPr>
          <p:nvPr/>
        </p:nvSpPr>
        <p:spPr bwMode="auto">
          <a:xfrm>
            <a:off x="5414103" y="5767536"/>
            <a:ext cx="20574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FF0000"/>
                </a:solidFill>
              </a:rPr>
              <a:t>操作系统</a:t>
            </a:r>
            <a:endParaRPr lang="zh-CN" altLang="en-US"/>
          </a:p>
        </p:txBody>
      </p:sp>
      <p:sp>
        <p:nvSpPr>
          <p:cNvPr id="7181" name="Line 68"/>
          <p:cNvSpPr>
            <a:spLocks noChangeShapeType="1"/>
          </p:cNvSpPr>
          <p:nvPr/>
        </p:nvSpPr>
        <p:spPr bwMode="auto">
          <a:xfrm>
            <a:off x="6404703" y="5157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" name="Text Box 76"/>
          <p:cNvSpPr txBox="1">
            <a:spLocks noChangeArrowheads="1"/>
          </p:cNvSpPr>
          <p:nvPr/>
        </p:nvSpPr>
        <p:spPr bwMode="auto">
          <a:xfrm>
            <a:off x="6480903" y="5234136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gray">
          <a:xfrm>
            <a:off x="941823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1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、编写源程序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142302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2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、编译源程序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>
            <a:off x="5374790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3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、运行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rot="16200000" flipH="1">
            <a:off x="1601406" y="2142946"/>
            <a:ext cx="642945" cy="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2"/>
          </p:cNvCxnSpPr>
          <p:nvPr/>
        </p:nvCxnSpPr>
        <p:spPr>
          <a:xfrm rot="5400000">
            <a:off x="3889618" y="2131736"/>
            <a:ext cx="647402" cy="17967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2" idx="2"/>
          </p:cNvCxnSpPr>
          <p:nvPr/>
        </p:nvCxnSpPr>
        <p:spPr>
          <a:xfrm rot="5400000">
            <a:off x="6126875" y="2136503"/>
            <a:ext cx="647400" cy="843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 Box 60"/>
          <p:cNvSpPr txBox="1">
            <a:spLocks noChangeArrowheads="1"/>
          </p:cNvSpPr>
          <p:nvPr/>
        </p:nvSpPr>
        <p:spPr bwMode="auto">
          <a:xfrm>
            <a:off x="3266064" y="3789040"/>
            <a:ext cx="15744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第二步</a:t>
            </a:r>
            <a:endParaRPr lang="en-US" altLang="zh-CN" sz="3600" b="1" dirty="0" smtClean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59832" y="4509120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编译命令</a:t>
            </a:r>
            <a:endParaRPr lang="zh-CN" altLang="en-US" sz="36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369172" y="5157192"/>
            <a:ext cx="13468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3600" b="1" dirty="0" err="1" smtClean="0">
                <a:solidFill>
                  <a:srgbClr val="C00000"/>
                </a:solidFill>
                <a:latin typeface="+mn-lt"/>
                <a:ea typeface="黑体" panose="02010609060101010101" pitchFamily="2" charset="-122"/>
              </a:rPr>
              <a:t>javac</a:t>
            </a:r>
            <a:endParaRPr lang="zh-CN" altLang="en-US" sz="3600" b="1" dirty="0">
              <a:solidFill>
                <a:srgbClr val="C00000"/>
              </a:solidFill>
              <a:latin typeface="+mn-lt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aphicFrame>
        <p:nvGraphicFramePr>
          <p:cNvPr id="18" name="内容占位符 4"/>
          <p:cNvGraphicFramePr/>
          <p:nvPr/>
        </p:nvGraphicFramePr>
        <p:xfrm>
          <a:off x="179512" y="980728"/>
          <a:ext cx="8892480" cy="576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3528" y="2636912"/>
            <a:ext cx="831532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pic>
        <p:nvPicPr>
          <p:cNvPr id="81921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3528" y="2564904"/>
            <a:ext cx="8803440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900112"/>
          </a:xfrm>
        </p:spPr>
        <p:txBody>
          <a:bodyPr/>
          <a:lstStyle/>
          <a:p>
            <a:pPr algn="l"/>
            <a:r>
              <a:rPr lang="zh-CN" altLang="en-US" dirty="0" smtClean="0"/>
              <a:t>编译源程序后，在</a:t>
            </a:r>
            <a:r>
              <a:rPr lang="en-US" altLang="zh-CN" dirty="0" smtClean="0"/>
              <a:t>E</a:t>
            </a:r>
            <a:r>
              <a:rPr lang="zh-CN" altLang="en-US" dirty="0" smtClean="0"/>
              <a:t>盘根目录下生成</a:t>
            </a:r>
            <a:r>
              <a:rPr lang="en-US" altLang="zh-CN" dirty="0" err="1" smtClean="0"/>
              <a:t>HelloWorld.class</a:t>
            </a:r>
            <a:r>
              <a:rPr lang="zh-CN" altLang="en-US" dirty="0" smtClean="0"/>
              <a:t>文件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85" y="3789040"/>
            <a:ext cx="7477311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96" y="2224665"/>
            <a:ext cx="7477310" cy="593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8229600" cy="900112"/>
          </a:xfrm>
        </p:spPr>
        <p:txBody>
          <a:bodyPr/>
          <a:lstStyle/>
          <a:p>
            <a:pPr algn="l"/>
            <a:r>
              <a:rPr lang="zh-CN" altLang="en-US" dirty="0" smtClean="0"/>
              <a:t>编译源程序后，在</a:t>
            </a:r>
            <a:r>
              <a:rPr lang="en-US" altLang="zh-CN" dirty="0" smtClean="0"/>
              <a:t>E</a:t>
            </a:r>
            <a:r>
              <a:rPr lang="zh-CN" altLang="en-US" dirty="0" smtClean="0"/>
              <a:t>盘根目录下生成</a:t>
            </a:r>
            <a:r>
              <a:rPr lang="en-US" altLang="zh-CN" dirty="0" err="1" smtClean="0"/>
              <a:t>HelloWorld.class</a:t>
            </a:r>
            <a:r>
              <a:rPr lang="zh-CN" altLang="en-US" dirty="0" smtClean="0"/>
              <a:t>文件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aphicFrame>
        <p:nvGraphicFramePr>
          <p:cNvPr id="18" name="内容占位符 4"/>
          <p:cNvGraphicFramePr/>
          <p:nvPr/>
        </p:nvGraphicFramePr>
        <p:xfrm>
          <a:off x="251520" y="260648"/>
          <a:ext cx="8892480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2717" y="2420888"/>
            <a:ext cx="8871283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467544" y="479715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latinLnBrk="1"/>
            <a:r>
              <a:rPr lang="en-US" altLang="zh-CN" b="1" dirty="0" smtClean="0"/>
              <a:t>windows  dos </a:t>
            </a:r>
            <a:r>
              <a:rPr lang="zh-CN" altLang="en-US" b="1" dirty="0" smtClean="0"/>
              <a:t>常用命令行命令</a:t>
            </a:r>
            <a:endParaRPr lang="zh-CN" altLang="en-US" b="1" dirty="0" smtClean="0"/>
          </a:p>
          <a:p>
            <a:pPr algn="l" latinLnBrk="1"/>
            <a:endParaRPr lang="en-US" altLang="zh-CN" dirty="0" smtClean="0"/>
          </a:p>
          <a:p>
            <a:pPr algn="l" latinLnBrk="1"/>
            <a:r>
              <a:rPr lang="en-US" altLang="zh-CN" dirty="0" err="1" smtClean="0"/>
              <a:t>cd</a:t>
            </a:r>
            <a:r>
              <a:rPr lang="en-US" altLang="zh-CN" dirty="0" smtClean="0"/>
              <a:t> (change directory)</a:t>
            </a:r>
            <a:r>
              <a:rPr lang="zh-CN" altLang="en-US" dirty="0" smtClean="0"/>
              <a:t>：进入指定目录</a:t>
            </a:r>
            <a:endParaRPr lang="zh-CN" altLang="en-US" dirty="0" smtClean="0"/>
          </a:p>
          <a:p>
            <a:pPr algn="l" latinLnBrk="1"/>
            <a:r>
              <a:rPr lang="en-US" altLang="zh-CN" dirty="0" err="1" smtClean="0"/>
              <a:t>cd</a:t>
            </a:r>
            <a:r>
              <a:rPr lang="en-US" altLang="zh-CN" dirty="0" smtClean="0"/>
              <a:t>..   </a:t>
            </a:r>
            <a:r>
              <a:rPr lang="zh-CN" altLang="en-US" dirty="0" smtClean="0"/>
              <a:t>退回到上一级目录</a:t>
            </a:r>
            <a:endParaRPr lang="zh-CN" altLang="en-US" dirty="0" smtClean="0"/>
          </a:p>
          <a:p>
            <a:pPr algn="l" latinLnBrk="1"/>
            <a:r>
              <a:rPr lang="en-US" altLang="zh-CN" dirty="0" err="1" smtClean="0"/>
              <a:t>cd</a:t>
            </a:r>
            <a:r>
              <a:rPr lang="en-US" altLang="zh-CN" dirty="0" smtClean="0"/>
              <a:t>\    </a:t>
            </a:r>
            <a:r>
              <a:rPr lang="zh-CN" altLang="en-US" dirty="0" smtClean="0"/>
              <a:t>退回到根目录</a:t>
            </a:r>
            <a:endParaRPr lang="zh-CN" altLang="en-US" dirty="0"/>
          </a:p>
        </p:txBody>
      </p:sp>
      <p:sp>
        <p:nvSpPr>
          <p:cNvPr id="6" name="Text Box 60"/>
          <p:cNvSpPr txBox="1">
            <a:spLocks noChangeArrowheads="1"/>
          </p:cNvSpPr>
          <p:nvPr/>
        </p:nvSpPr>
        <p:spPr bwMode="auto">
          <a:xfrm>
            <a:off x="4572000" y="5229200"/>
            <a:ext cx="414568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需要注意的问题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aphicFrame>
        <p:nvGraphicFramePr>
          <p:cNvPr id="18" name="内容占位符 4"/>
          <p:cNvGraphicFramePr/>
          <p:nvPr/>
        </p:nvGraphicFramePr>
        <p:xfrm>
          <a:off x="179512" y="980728"/>
          <a:ext cx="8892480" cy="576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9512" y="2132856"/>
            <a:ext cx="8912148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60"/>
          <p:cNvSpPr txBox="1">
            <a:spLocks noChangeArrowheads="1"/>
          </p:cNvSpPr>
          <p:nvPr/>
        </p:nvSpPr>
        <p:spPr bwMode="auto">
          <a:xfrm>
            <a:off x="4644008" y="5157192"/>
            <a:ext cx="414568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需要注意的问题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/>
              <a:t>二、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运行环境搭建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三、第一个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程序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3200" dirty="0" smtClean="0"/>
              <a:t>1</a:t>
            </a:r>
            <a:r>
              <a:rPr lang="zh-CN" altLang="en-US" sz="3200" dirty="0" smtClean="0"/>
              <a:t>、理解</a:t>
            </a:r>
            <a:r>
              <a:rPr lang="en-US" altLang="zh-CN" sz="3200" dirty="0" smtClean="0"/>
              <a:t>java</a:t>
            </a:r>
            <a:r>
              <a:rPr lang="zh-CN" altLang="en-US" sz="3200" dirty="0" smtClean="0"/>
              <a:t>程序编写过程</a:t>
            </a:r>
            <a:endParaRPr lang="en-US" altLang="zh-CN" sz="3200" dirty="0" smtClean="0"/>
          </a:p>
          <a:p>
            <a:pPr lvl="1"/>
            <a:r>
              <a:rPr lang="en-US" altLang="zh-CN" sz="3200" dirty="0" smtClean="0"/>
              <a:t>2</a:t>
            </a:r>
            <a:r>
              <a:rPr lang="zh-CN" altLang="en-US" sz="3200" dirty="0" smtClean="0"/>
              <a:t>、编写源程序</a:t>
            </a:r>
            <a:endParaRPr lang="zh-CN" altLang="en-US" sz="3200" dirty="0" smtClean="0"/>
          </a:p>
          <a:p>
            <a:pPr lvl="1"/>
            <a:r>
              <a:rPr lang="en-US" altLang="zh-CN" sz="3200" dirty="0" smtClean="0"/>
              <a:t>3</a:t>
            </a:r>
            <a:r>
              <a:rPr lang="zh-CN" altLang="en-US" sz="3200" dirty="0" smtClean="0"/>
              <a:t>、编译源程序</a:t>
            </a:r>
            <a:endParaRPr lang="zh-CN" altLang="en-US" sz="3200" dirty="0" smtClean="0"/>
          </a:p>
          <a:p>
            <a:pPr lvl="1"/>
            <a:r>
              <a:rPr lang="en-US" altLang="zh-CN" sz="3200" dirty="0" smtClean="0">
                <a:solidFill>
                  <a:srgbClr val="FF0000"/>
                </a:solidFill>
              </a:rPr>
              <a:t>4</a:t>
            </a:r>
            <a:r>
              <a:rPr lang="zh-CN" altLang="en-US" sz="3200" dirty="0" smtClean="0">
                <a:solidFill>
                  <a:srgbClr val="FF0000"/>
                </a:solidFill>
              </a:rPr>
              <a:t>、运行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59"/>
          <p:cNvSpPr>
            <a:spLocks noChangeArrowheads="1"/>
          </p:cNvSpPr>
          <p:nvPr/>
        </p:nvSpPr>
        <p:spPr bwMode="auto">
          <a:xfrm>
            <a:off x="725353" y="2643336"/>
            <a:ext cx="12192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zh-CN" altLang="en-US" b="1">
                <a:solidFill>
                  <a:srgbClr val="FF0000"/>
                </a:solidFill>
              </a:rPr>
              <a:t>源程序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.java)</a:t>
            </a:r>
            <a:endParaRPr lang="en-US" altLang="zh-CN"/>
          </a:p>
        </p:txBody>
      </p:sp>
      <p:sp>
        <p:nvSpPr>
          <p:cNvPr id="7173" name="Text Box 60"/>
          <p:cNvSpPr txBox="1">
            <a:spLocks noChangeArrowheads="1"/>
          </p:cNvSpPr>
          <p:nvPr/>
        </p:nvSpPr>
        <p:spPr bwMode="auto">
          <a:xfrm>
            <a:off x="941823" y="384188"/>
            <a:ext cx="67265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</a:rPr>
              <a:t>Java</a:t>
            </a:r>
            <a:r>
              <a:rPr lang="zh-CN" altLang="zh-CN" sz="2800" b="1" dirty="0">
                <a:solidFill>
                  <a:srgbClr val="FF0000"/>
                </a:solidFill>
              </a:rPr>
              <a:t>虚拟机（</a:t>
            </a:r>
            <a:r>
              <a:rPr lang="en-US" altLang="zh-CN" sz="2800" b="1" dirty="0">
                <a:solidFill>
                  <a:srgbClr val="FF0000"/>
                </a:solidFill>
              </a:rPr>
              <a:t>JVM</a:t>
            </a:r>
            <a:r>
              <a:rPr lang="zh-CN" altLang="zh-CN" sz="2800" b="1" dirty="0">
                <a:solidFill>
                  <a:srgbClr val="FF0000"/>
                </a:solidFill>
              </a:rPr>
              <a:t>）与</a:t>
            </a:r>
            <a:r>
              <a:rPr lang="en-US" altLang="zh-CN" sz="2800" b="1" dirty="0">
                <a:solidFill>
                  <a:srgbClr val="FF0000"/>
                </a:solidFill>
              </a:rPr>
              <a:t>Java</a:t>
            </a:r>
            <a:r>
              <a:rPr lang="zh-CN" altLang="zh-CN" sz="2800" b="1" dirty="0">
                <a:solidFill>
                  <a:srgbClr val="FF0000"/>
                </a:solidFill>
              </a:rPr>
              <a:t>程序运行流程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174" name="Line 61"/>
          <p:cNvSpPr>
            <a:spLocks noChangeShapeType="1"/>
          </p:cNvSpPr>
          <p:nvPr/>
        </p:nvSpPr>
        <p:spPr bwMode="auto">
          <a:xfrm>
            <a:off x="194455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Rectangle 62"/>
          <p:cNvSpPr>
            <a:spLocks noChangeArrowheads="1"/>
          </p:cNvSpPr>
          <p:nvPr/>
        </p:nvSpPr>
        <p:spPr bwMode="auto">
          <a:xfrm>
            <a:off x="2401753" y="2871936"/>
            <a:ext cx="17526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编译器</a:t>
            </a:r>
            <a:endParaRPr lang="zh-CN" altLang="en-US"/>
          </a:p>
        </p:txBody>
      </p:sp>
      <p:sp>
        <p:nvSpPr>
          <p:cNvPr id="7176" name="AutoShape 63"/>
          <p:cNvSpPr>
            <a:spLocks noChangeArrowheads="1"/>
          </p:cNvSpPr>
          <p:nvPr/>
        </p:nvSpPr>
        <p:spPr bwMode="auto">
          <a:xfrm>
            <a:off x="4611553" y="2567136"/>
            <a:ext cx="2057400" cy="1066800"/>
          </a:xfrm>
          <a:prstGeom prst="flowChartPunchedCard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tIns="0"/>
          <a:lstStyle/>
          <a:p>
            <a:r>
              <a:rPr lang="en-US" altLang="zh-CN" b="1">
                <a:solidFill>
                  <a:srgbClr val="FF0000"/>
                </a:solidFill>
              </a:rPr>
              <a:t>byte-code</a:t>
            </a:r>
            <a:r>
              <a:rPr lang="zh-CN" altLang="en-US" b="1">
                <a:solidFill>
                  <a:srgbClr val="FF0000"/>
                </a:solidFill>
              </a:rPr>
              <a:t>文件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.class)</a:t>
            </a:r>
            <a:endParaRPr lang="en-US" altLang="zh-CN"/>
          </a:p>
        </p:txBody>
      </p:sp>
      <p:sp>
        <p:nvSpPr>
          <p:cNvPr id="7177" name="Line 64"/>
          <p:cNvSpPr>
            <a:spLocks noChangeShapeType="1"/>
          </p:cNvSpPr>
          <p:nvPr/>
        </p:nvSpPr>
        <p:spPr bwMode="auto">
          <a:xfrm>
            <a:off x="4154353" y="3176736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Rectangle 65"/>
          <p:cNvSpPr>
            <a:spLocks noChangeArrowheads="1"/>
          </p:cNvSpPr>
          <p:nvPr/>
        </p:nvSpPr>
        <p:spPr bwMode="auto">
          <a:xfrm>
            <a:off x="4611553" y="4243536"/>
            <a:ext cx="2057400" cy="914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zh-CN" b="1">
                <a:solidFill>
                  <a:srgbClr val="FF0000"/>
                </a:solidFill>
              </a:rPr>
              <a:t>Java</a:t>
            </a:r>
            <a:r>
              <a:rPr lang="zh-CN" altLang="zh-CN" b="1">
                <a:solidFill>
                  <a:srgbClr val="FF0000"/>
                </a:solidFill>
              </a:rPr>
              <a:t>虚拟机</a:t>
            </a:r>
            <a:endParaRPr lang="zh-CN" altLang="zh-CN" b="1">
              <a:solidFill>
                <a:srgbClr val="FF0000"/>
              </a:solidFill>
            </a:endParaRPr>
          </a:p>
          <a:p>
            <a:r>
              <a:rPr lang="zh-CN" altLang="zh-CN" b="1"/>
              <a:t>(</a:t>
            </a:r>
            <a:r>
              <a:rPr lang="en-US" altLang="zh-CN" b="1"/>
              <a:t>Java</a:t>
            </a:r>
            <a:r>
              <a:rPr lang="zh-CN" altLang="zh-CN" b="1"/>
              <a:t>解释器)</a:t>
            </a:r>
            <a:endParaRPr lang="en-US" altLang="zh-CN"/>
          </a:p>
        </p:txBody>
      </p:sp>
      <p:sp>
        <p:nvSpPr>
          <p:cNvPr id="7179" name="Line 66"/>
          <p:cNvSpPr>
            <a:spLocks noChangeShapeType="1"/>
          </p:cNvSpPr>
          <p:nvPr/>
        </p:nvSpPr>
        <p:spPr bwMode="auto">
          <a:xfrm>
            <a:off x="5602153" y="3633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Rectangle 67"/>
          <p:cNvSpPr>
            <a:spLocks noChangeArrowheads="1"/>
          </p:cNvSpPr>
          <p:nvPr/>
        </p:nvSpPr>
        <p:spPr bwMode="auto">
          <a:xfrm>
            <a:off x="4611553" y="5767536"/>
            <a:ext cx="2057400" cy="685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FF0000"/>
                </a:solidFill>
              </a:rPr>
              <a:t>操作系统</a:t>
            </a:r>
            <a:endParaRPr lang="zh-CN" altLang="en-US"/>
          </a:p>
        </p:txBody>
      </p:sp>
      <p:sp>
        <p:nvSpPr>
          <p:cNvPr id="7181" name="Line 68"/>
          <p:cNvSpPr>
            <a:spLocks noChangeShapeType="1"/>
          </p:cNvSpPr>
          <p:nvPr/>
        </p:nvSpPr>
        <p:spPr bwMode="auto">
          <a:xfrm>
            <a:off x="5602153" y="51579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" name="Text Box 76"/>
          <p:cNvSpPr txBox="1">
            <a:spLocks noChangeArrowheads="1"/>
          </p:cNvSpPr>
          <p:nvPr/>
        </p:nvSpPr>
        <p:spPr bwMode="auto">
          <a:xfrm>
            <a:off x="5678353" y="5234136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gray">
          <a:xfrm>
            <a:off x="139273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1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、编写源程序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2339752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2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、编译源程序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>
            <a:off x="4572240" y="1169018"/>
            <a:ext cx="2160000" cy="64800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/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3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、运行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rot="16200000" flipH="1">
            <a:off x="798856" y="2142946"/>
            <a:ext cx="642945" cy="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2"/>
          </p:cNvCxnSpPr>
          <p:nvPr/>
        </p:nvCxnSpPr>
        <p:spPr>
          <a:xfrm rot="5400000">
            <a:off x="3087068" y="2131736"/>
            <a:ext cx="647402" cy="17967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2" idx="2"/>
          </p:cNvCxnSpPr>
          <p:nvPr/>
        </p:nvCxnSpPr>
        <p:spPr>
          <a:xfrm rot="5400000">
            <a:off x="5324325" y="2136503"/>
            <a:ext cx="647400" cy="843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Text Box 60"/>
          <p:cNvSpPr txBox="1">
            <a:spLocks noChangeArrowheads="1"/>
          </p:cNvSpPr>
          <p:nvPr/>
        </p:nvSpPr>
        <p:spPr bwMode="auto">
          <a:xfrm>
            <a:off x="7092280" y="3717032"/>
            <a:ext cx="15744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第三步</a:t>
            </a:r>
            <a:endParaRPr lang="en-US" altLang="zh-CN" sz="3600" b="1" dirty="0" smtClean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886048" y="4437112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 smtClean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运行命令</a:t>
            </a:r>
            <a:endParaRPr lang="zh-CN" altLang="en-US" sz="36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234068" y="5085184"/>
            <a:ext cx="1082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3600" b="1" dirty="0" smtClean="0">
                <a:solidFill>
                  <a:srgbClr val="C00000"/>
                </a:solidFill>
                <a:latin typeface="+mn-lt"/>
                <a:ea typeface="黑体" panose="02010609060101010101" pitchFamily="2" charset="-122"/>
              </a:rPr>
              <a:t>java</a:t>
            </a:r>
            <a:endParaRPr lang="zh-CN" altLang="en-US" sz="3600" b="1" dirty="0">
              <a:solidFill>
                <a:srgbClr val="C00000"/>
              </a:solidFill>
              <a:latin typeface="+mn-lt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aphicFrame>
        <p:nvGraphicFramePr>
          <p:cNvPr id="18" name="内容占位符 4"/>
          <p:cNvGraphicFramePr/>
          <p:nvPr/>
        </p:nvGraphicFramePr>
        <p:xfrm>
          <a:off x="163034" y="1124744"/>
          <a:ext cx="8821644" cy="631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72" y="2244287"/>
            <a:ext cx="7776864" cy="361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/>
              <a:t>二、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运行环境搭建</a:t>
            </a:r>
            <a:endParaRPr lang="en-US" altLang="zh-CN" sz="3600" dirty="0" smtClean="0"/>
          </a:p>
          <a:p>
            <a:r>
              <a:rPr lang="zh-CN" altLang="en-US" sz="3600" dirty="0" smtClean="0"/>
              <a:t>三、第一个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程序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四、第一个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en-US" sz="3600" dirty="0" smtClean="0">
                <a:solidFill>
                  <a:srgbClr val="FF0000"/>
                </a:solidFill>
              </a:rPr>
              <a:t>程序代码相关问题</a:t>
            </a:r>
            <a:endParaRPr lang="en-US" altLang="zh-CN" sz="3600" dirty="0" smtClean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AutoShape 2"/>
          <p:cNvSpPr>
            <a:spLocks noChangeArrowheads="1"/>
          </p:cNvSpPr>
          <p:nvPr/>
        </p:nvSpPr>
        <p:spPr bwMode="auto">
          <a:xfrm>
            <a:off x="488976" y="2143116"/>
            <a:ext cx="7797800" cy="1892826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public class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HelloWorld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</a:t>
            </a:r>
            <a:r>
              <a:rPr lang="en-US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public static void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main(String[ ]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args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)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{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      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System.out.println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("Hello  World!!!");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  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en-US" altLang="zh-CN" b="1" dirty="0" smtClean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593924" name="AutoShape 4"/>
          <p:cNvSpPr>
            <a:spLocks noChangeArrowheads="1"/>
          </p:cNvSpPr>
          <p:nvPr/>
        </p:nvSpPr>
        <p:spPr bwMode="auto">
          <a:xfrm>
            <a:off x="3851275" y="1520179"/>
            <a:ext cx="1146741" cy="408623"/>
          </a:xfrm>
          <a:prstGeom prst="wedgeRoundRectCallout">
            <a:avLst>
              <a:gd name="adj1" fmla="val 971"/>
              <a:gd name="adj2" fmla="val 50297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外层框架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93925" name="AutoShape 5"/>
          <p:cNvSpPr>
            <a:spLocks noChangeArrowheads="1"/>
          </p:cNvSpPr>
          <p:nvPr/>
        </p:nvSpPr>
        <p:spPr bwMode="auto">
          <a:xfrm>
            <a:off x="5429256" y="1928802"/>
            <a:ext cx="2112474" cy="408623"/>
          </a:xfrm>
          <a:prstGeom prst="wedgeRoundRectCallout">
            <a:avLst>
              <a:gd name="adj1" fmla="val 2528"/>
              <a:gd name="adj2" fmla="val 4890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Java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入口程序框架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93926" name="AutoShape 6"/>
          <p:cNvSpPr>
            <a:spLocks noChangeArrowheads="1"/>
          </p:cNvSpPr>
          <p:nvPr/>
        </p:nvSpPr>
        <p:spPr bwMode="auto">
          <a:xfrm>
            <a:off x="2714612" y="3714752"/>
            <a:ext cx="1146741" cy="408623"/>
          </a:xfrm>
          <a:prstGeom prst="wedgeRoundRectCallout">
            <a:avLst>
              <a:gd name="adj1" fmla="val 163"/>
              <a:gd name="adj2" fmla="val -5028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编写代码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9392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b="1" dirty="0"/>
              <a:t>Java</a:t>
            </a:r>
            <a:r>
              <a:rPr lang="zh-CN" altLang="en-US" b="1" dirty="0"/>
              <a:t>程序的结构</a:t>
            </a:r>
            <a:endParaRPr lang="zh-CN" altLang="en-US" b="1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pSp>
        <p:nvGrpSpPr>
          <p:cNvPr id="2" name="组合 7"/>
          <p:cNvGrpSpPr/>
          <p:nvPr/>
        </p:nvGrpSpPr>
        <p:grpSpPr>
          <a:xfrm>
            <a:off x="71406" y="857232"/>
            <a:ext cx="1000132" cy="400110"/>
            <a:chOff x="1000100" y="1801286"/>
            <a:chExt cx="1000132" cy="400110"/>
          </a:xfrm>
        </p:grpSpPr>
        <p:pic>
          <p:nvPicPr>
            <p:cNvPr id="9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cxnSp>
        <p:nvCxnSpPr>
          <p:cNvPr id="11" name="直接箭头连接符 10"/>
          <p:cNvCxnSpPr/>
          <p:nvPr/>
        </p:nvCxnSpPr>
        <p:spPr bwMode="auto">
          <a:xfrm flipV="1">
            <a:off x="3714744" y="2000240"/>
            <a:ext cx="642942" cy="35719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 flipV="1">
            <a:off x="4786314" y="2214554"/>
            <a:ext cx="642942" cy="35719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 rot="16200000" flipH="1">
            <a:off x="2678891" y="3321845"/>
            <a:ext cx="428629" cy="357187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1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b="1" dirty="0"/>
              <a:t>Java</a:t>
            </a:r>
            <a:r>
              <a:rPr lang="zh-CN" altLang="en-US" b="1" dirty="0"/>
              <a:t>程序的结构 </a:t>
            </a:r>
            <a:endParaRPr lang="zh-CN" altLang="en-US" b="1" dirty="0"/>
          </a:p>
        </p:txBody>
      </p:sp>
      <p:sp>
        <p:nvSpPr>
          <p:cNvPr id="588803" name="AutoShape 3"/>
          <p:cNvSpPr>
            <a:spLocks noGrp="1" noChangeArrowheads="1"/>
          </p:cNvSpPr>
          <p:nvPr>
            <p:ph idx="1"/>
          </p:nvPr>
        </p:nvSpPr>
        <p:spPr>
          <a:xfrm>
            <a:off x="857224" y="2205045"/>
            <a:ext cx="7645398" cy="193833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public class </a:t>
            </a:r>
            <a:r>
              <a:rPr lang="en-US" altLang="zh-CN" sz="1800" kern="1200" dirty="0" err="1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HelloWorld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   {</a:t>
            </a:r>
            <a:endParaRPr lang="en-US" altLang="zh-CN" sz="1800" kern="1200" dirty="0" smtClean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	</a:t>
            </a:r>
            <a:r>
              <a:rPr lang="en-US" altLang="zh-CN" sz="18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public static void 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main(String[ ] </a:t>
            </a:r>
            <a:r>
              <a:rPr lang="en-US" altLang="zh-CN" sz="1800" kern="1200" dirty="0" err="1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args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 )  {</a:t>
            </a:r>
            <a:endParaRPr lang="en-US" altLang="zh-CN" sz="1800" kern="1200" dirty="0" smtClean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		</a:t>
            </a:r>
            <a:r>
              <a:rPr lang="en-US" altLang="zh-CN" sz="1800" kern="1200" dirty="0" err="1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System.out.println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("Hello  World!!!");</a:t>
            </a:r>
            <a:endParaRPr lang="en-US" altLang="zh-CN" sz="1800" kern="1200" dirty="0" smtClean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	}</a:t>
            </a:r>
            <a:endParaRPr lang="en-US" altLang="zh-CN" sz="1800" kern="1200" dirty="0" smtClean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}</a:t>
            </a:r>
            <a:endParaRPr lang="en-US" altLang="zh-CN" sz="1800" kern="1200" dirty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sp>
        <p:nvSpPr>
          <p:cNvPr id="588804" name="AutoShape 4"/>
          <p:cNvSpPr>
            <a:spLocks noChangeArrowheads="1"/>
          </p:cNvSpPr>
          <p:nvPr/>
        </p:nvSpPr>
        <p:spPr bwMode="auto">
          <a:xfrm>
            <a:off x="930194" y="1357298"/>
            <a:ext cx="916092" cy="408623"/>
          </a:xfrm>
          <a:prstGeom prst="wedgeRoundRectCallout">
            <a:avLst>
              <a:gd name="adj1" fmla="val 2994"/>
              <a:gd name="adj2" fmla="val 49675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关键字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88805" name="AutoShape 5"/>
          <p:cNvSpPr>
            <a:spLocks noChangeArrowheads="1"/>
          </p:cNvSpPr>
          <p:nvPr/>
        </p:nvSpPr>
        <p:spPr bwMode="auto">
          <a:xfrm>
            <a:off x="2501830" y="1214422"/>
            <a:ext cx="2533285" cy="408623"/>
          </a:xfrm>
          <a:prstGeom prst="wedgeRoundRectCallout">
            <a:avLst>
              <a:gd name="adj1" fmla="val 674"/>
              <a:gd name="adj2" fmla="val 5090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类名与文件名完全一样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88806" name="AutoShape 6"/>
          <p:cNvSpPr>
            <a:spLocks noChangeArrowheads="1"/>
          </p:cNvSpPr>
          <p:nvPr/>
        </p:nvSpPr>
        <p:spPr bwMode="auto">
          <a:xfrm>
            <a:off x="6413473" y="2428868"/>
            <a:ext cx="2631301" cy="776383"/>
          </a:xfrm>
          <a:prstGeom prst="wedgeRoundRectCallout">
            <a:avLst>
              <a:gd name="adj1" fmla="val -50538"/>
              <a:gd name="adj2" fmla="val -9809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main()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方法是</a:t>
            </a:r>
            <a:endParaRPr lang="en-US" altLang="zh-CN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Java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程序执行的入口点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88807" name="AutoShape 7"/>
          <p:cNvSpPr>
            <a:spLocks noChangeArrowheads="1"/>
          </p:cNvSpPr>
          <p:nvPr/>
        </p:nvSpPr>
        <p:spPr bwMode="auto">
          <a:xfrm>
            <a:off x="1073070" y="4429132"/>
            <a:ext cx="2844038" cy="408623"/>
          </a:xfrm>
          <a:prstGeom prst="wedgeRoundRectCallout">
            <a:avLst>
              <a:gd name="adj1" fmla="val -127"/>
              <a:gd name="adj2" fmla="val -4899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{ 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和 </a:t>
            </a: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}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一一对应，缺一不可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88808" name="AutoShape 8"/>
          <p:cNvSpPr>
            <a:spLocks noChangeArrowheads="1"/>
          </p:cNvSpPr>
          <p:nvPr/>
        </p:nvSpPr>
        <p:spPr bwMode="auto">
          <a:xfrm>
            <a:off x="5000628" y="1948807"/>
            <a:ext cx="2997797" cy="408623"/>
          </a:xfrm>
          <a:prstGeom prst="wedgeRoundRectCallout">
            <a:avLst>
              <a:gd name="adj1" fmla="val 297"/>
              <a:gd name="adj2" fmla="val 49879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main()</a:t>
            </a: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方法四要素必不可少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88809" name="AutoShape 9"/>
          <p:cNvSpPr>
            <a:spLocks noChangeArrowheads="1"/>
          </p:cNvSpPr>
          <p:nvPr/>
        </p:nvSpPr>
        <p:spPr bwMode="auto">
          <a:xfrm>
            <a:off x="2986035" y="4000504"/>
            <a:ext cx="2063919" cy="408623"/>
          </a:xfrm>
          <a:prstGeom prst="wedgeRoundRectCallout">
            <a:avLst>
              <a:gd name="adj1" fmla="val 1242"/>
              <a:gd name="adj2" fmla="val -48510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从控制台输出信息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88810" name="Rectangle 10"/>
          <p:cNvSpPr>
            <a:spLocks noChangeArrowheads="1"/>
          </p:cNvSpPr>
          <p:nvPr/>
        </p:nvSpPr>
        <p:spPr bwMode="auto">
          <a:xfrm>
            <a:off x="2287516" y="2214554"/>
            <a:ext cx="1357321" cy="358775"/>
          </a:xfrm>
          <a:prstGeom prst="rect">
            <a:avLst/>
          </a:prstGeom>
          <a:noFill/>
          <a:ln w="19050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88811" name="Rectangle 11"/>
          <p:cNvSpPr>
            <a:spLocks noChangeArrowheads="1"/>
          </p:cNvSpPr>
          <p:nvPr/>
        </p:nvSpPr>
        <p:spPr bwMode="auto">
          <a:xfrm>
            <a:off x="1215946" y="2643182"/>
            <a:ext cx="785818" cy="358775"/>
          </a:xfrm>
          <a:prstGeom prst="rect">
            <a:avLst/>
          </a:prstGeom>
          <a:noFill/>
          <a:ln w="19050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88812" name="Rectangle 12"/>
          <p:cNvSpPr>
            <a:spLocks noChangeArrowheads="1"/>
          </p:cNvSpPr>
          <p:nvPr/>
        </p:nvSpPr>
        <p:spPr bwMode="auto">
          <a:xfrm>
            <a:off x="2001764" y="2643182"/>
            <a:ext cx="642942" cy="358775"/>
          </a:xfrm>
          <a:prstGeom prst="rect">
            <a:avLst/>
          </a:prstGeom>
          <a:noFill/>
          <a:ln w="19050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88813" name="Rectangle 13"/>
          <p:cNvSpPr>
            <a:spLocks noChangeArrowheads="1"/>
          </p:cNvSpPr>
          <p:nvPr/>
        </p:nvSpPr>
        <p:spPr bwMode="auto">
          <a:xfrm>
            <a:off x="2644706" y="2643182"/>
            <a:ext cx="571504" cy="358775"/>
          </a:xfrm>
          <a:prstGeom prst="rect">
            <a:avLst/>
          </a:prstGeom>
          <a:noFill/>
          <a:ln w="19050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88814" name="Rectangle 14"/>
          <p:cNvSpPr>
            <a:spLocks noChangeArrowheads="1"/>
          </p:cNvSpPr>
          <p:nvPr/>
        </p:nvSpPr>
        <p:spPr bwMode="auto">
          <a:xfrm>
            <a:off x="3846462" y="2643182"/>
            <a:ext cx="1512888" cy="358775"/>
          </a:xfrm>
          <a:prstGeom prst="rect">
            <a:avLst/>
          </a:prstGeom>
          <a:noFill/>
          <a:ln w="19050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88815" name="Rectangle 15"/>
          <p:cNvSpPr>
            <a:spLocks noChangeArrowheads="1"/>
          </p:cNvSpPr>
          <p:nvPr/>
        </p:nvSpPr>
        <p:spPr bwMode="auto">
          <a:xfrm>
            <a:off x="1573136" y="3000372"/>
            <a:ext cx="4248150" cy="358775"/>
          </a:xfrm>
          <a:prstGeom prst="rect">
            <a:avLst/>
          </a:prstGeom>
          <a:noFill/>
          <a:ln w="19050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组合 16"/>
          <p:cNvGrpSpPr/>
          <p:nvPr/>
        </p:nvGrpSpPr>
        <p:grpSpPr>
          <a:xfrm>
            <a:off x="71406" y="857232"/>
            <a:ext cx="1000132" cy="446983"/>
            <a:chOff x="1000100" y="3235185"/>
            <a:chExt cx="1000132" cy="446983"/>
          </a:xfrm>
        </p:grpSpPr>
        <p:pic>
          <p:nvPicPr>
            <p:cNvPr id="18" name="Picture 11" descr="E:\设计支持\模板设计\FX.pn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000100" y="3235185"/>
              <a:ext cx="398223" cy="446983"/>
            </a:xfrm>
            <a:prstGeom prst="rect">
              <a:avLst/>
            </a:prstGeom>
            <a:noFill/>
          </p:spPr>
        </p:pic>
        <p:sp>
          <p:nvSpPr>
            <p:cNvPr id="19" name="TextBox 18"/>
            <p:cNvSpPr txBox="1"/>
            <p:nvPr/>
          </p:nvSpPr>
          <p:spPr>
            <a:xfrm>
              <a:off x="1299399" y="3258621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分析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cxnSp>
        <p:nvCxnSpPr>
          <p:cNvPr id="20" name="直接箭头连接符 19"/>
          <p:cNvCxnSpPr/>
          <p:nvPr/>
        </p:nvCxnSpPr>
        <p:spPr bwMode="auto">
          <a:xfrm rot="16200000" flipV="1">
            <a:off x="1353662" y="1995080"/>
            <a:ext cx="428628" cy="1032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 bwMode="auto">
          <a:xfrm rot="5400000" flipH="1" flipV="1">
            <a:off x="3050314" y="1630351"/>
            <a:ext cx="428628" cy="59690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 bwMode="auto">
          <a:xfrm flipV="1">
            <a:off x="4502094" y="2357430"/>
            <a:ext cx="500066" cy="14287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 bwMode="auto">
          <a:xfrm flipV="1">
            <a:off x="5716540" y="2786414"/>
            <a:ext cx="714380" cy="598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 bwMode="auto">
          <a:xfrm rot="16200000" flipH="1">
            <a:off x="3798856" y="3632172"/>
            <a:ext cx="500066" cy="236599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 bwMode="auto">
          <a:xfrm rot="16200000" flipH="1">
            <a:off x="1031768" y="4072651"/>
            <a:ext cx="357190" cy="357190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b="1" dirty="0"/>
              <a:t>从控制台输出</a:t>
            </a:r>
            <a:r>
              <a:rPr lang="zh-CN" altLang="en-US" b="1" dirty="0" smtClean="0"/>
              <a:t>信息</a:t>
            </a:r>
            <a:endParaRPr lang="en-US" altLang="zh-CN" b="1" dirty="0"/>
          </a:p>
        </p:txBody>
      </p:sp>
      <p:sp>
        <p:nvSpPr>
          <p:cNvPr id="608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altLang="zh-CN" dirty="0" err="1"/>
              <a:t>System.out.println</a:t>
            </a:r>
            <a:r>
              <a:rPr lang="en-US" altLang="zh-CN" dirty="0"/>
              <a:t> </a:t>
            </a:r>
            <a:r>
              <a:rPr lang="en-US" altLang="zh-CN" dirty="0" smtClean="0"/>
              <a:t>()</a:t>
            </a:r>
            <a:endParaRPr lang="en-US" altLang="zh-CN" dirty="0" smtClean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sp>
        <p:nvSpPr>
          <p:cNvPr id="608260" name="AutoShape 4"/>
          <p:cNvSpPr>
            <a:spLocks noChangeArrowheads="1"/>
          </p:cNvSpPr>
          <p:nvPr/>
        </p:nvSpPr>
        <p:spPr bwMode="auto">
          <a:xfrm>
            <a:off x="1214414" y="2047874"/>
            <a:ext cx="4302129" cy="41498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System.out.println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("Hello  World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!!!");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608261" name="AutoShape 5"/>
          <p:cNvSpPr>
            <a:spLocks noChangeArrowheads="1"/>
          </p:cNvSpPr>
          <p:nvPr/>
        </p:nvSpPr>
        <p:spPr bwMode="auto">
          <a:xfrm>
            <a:off x="1214414" y="3714752"/>
            <a:ext cx="4302129" cy="41498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System.out.print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("Hello  World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!!!");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608263" name="AutoShape 7"/>
          <p:cNvSpPr>
            <a:spLocks noChangeArrowheads="1"/>
          </p:cNvSpPr>
          <p:nvPr/>
        </p:nvSpPr>
        <p:spPr bwMode="gray">
          <a:xfrm>
            <a:off x="1285852" y="5514682"/>
            <a:ext cx="6643734" cy="628962"/>
          </a:xfrm>
          <a:prstGeom prst="flowChartAlternateProcess">
            <a:avLst/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285750" indent="-285750" algn="l" eaLnBrk="0" hangingPunct="0">
              <a:buClr>
                <a:srgbClr val="233DA9"/>
              </a:buClr>
              <a:buSzPct val="80000"/>
              <a:defRPr/>
            </a:pPr>
            <a:r>
              <a:rPr lang="en-US" altLang="zh-CN" b="1" dirty="0" err="1"/>
              <a:t>System.out.println</a:t>
            </a:r>
            <a:r>
              <a:rPr lang="en-US" altLang="zh-CN" b="1" dirty="0"/>
              <a:t>()</a:t>
            </a:r>
            <a:r>
              <a:rPr lang="zh-CN" altLang="en-US" b="1" dirty="0"/>
              <a:t>和</a:t>
            </a:r>
            <a:r>
              <a:rPr lang="en-US" altLang="zh-CN" b="1" dirty="0" err="1"/>
              <a:t>System.out.print</a:t>
            </a:r>
            <a:r>
              <a:rPr lang="en-US" altLang="zh-CN" b="1" dirty="0"/>
              <a:t>()</a:t>
            </a:r>
            <a:r>
              <a:rPr lang="zh-CN" altLang="en-US" b="1" dirty="0"/>
              <a:t>有什么区别呢？ </a:t>
            </a:r>
            <a:endParaRPr lang="en-US" altLang="zh-CN" b="1" dirty="0"/>
          </a:p>
        </p:txBody>
      </p:sp>
      <p:sp>
        <p:nvSpPr>
          <p:cNvPr id="608264" name="AutoShape 8"/>
          <p:cNvSpPr>
            <a:spLocks noChangeArrowheads="1"/>
          </p:cNvSpPr>
          <p:nvPr/>
        </p:nvSpPr>
        <p:spPr bwMode="auto">
          <a:xfrm>
            <a:off x="5530523" y="2643182"/>
            <a:ext cx="2581816" cy="776383"/>
          </a:xfrm>
          <a:prstGeom prst="wedgeRoundRectCallout">
            <a:avLst>
              <a:gd name="adj1" fmla="val 653"/>
              <a:gd name="adj2" fmla="val -48315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打印完引号中的信息后</a:t>
            </a:r>
            <a:endParaRPr lang="en-US" altLang="zh-CN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会自动换行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608265" name="AutoShape 9"/>
          <p:cNvSpPr>
            <a:spLocks noChangeArrowheads="1"/>
          </p:cNvSpPr>
          <p:nvPr/>
        </p:nvSpPr>
        <p:spPr bwMode="auto">
          <a:xfrm>
            <a:off x="5572132" y="4286256"/>
            <a:ext cx="3302076" cy="408623"/>
          </a:xfrm>
          <a:prstGeom prst="wedgeRoundRectCallout">
            <a:avLst>
              <a:gd name="adj1" fmla="val 64"/>
              <a:gd name="adj2" fmla="val -52990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打印输出信息后不会自动换行 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1406" y="5429264"/>
            <a:ext cx="986586" cy="422603"/>
            <a:chOff x="1000100" y="1173499"/>
            <a:chExt cx="986586" cy="422603"/>
          </a:xfrm>
        </p:grpSpPr>
        <p:pic>
          <p:nvPicPr>
            <p:cNvPr id="11" name="Picture 5" descr="E:\设计支持\模板设计\WT.pn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000100" y="1173499"/>
              <a:ext cx="414476" cy="422603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1285852" y="1184745"/>
              <a:ext cx="700834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问题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cxnSp>
        <p:nvCxnSpPr>
          <p:cNvPr id="13" name="直接箭头连接符 12"/>
          <p:cNvCxnSpPr/>
          <p:nvPr/>
        </p:nvCxnSpPr>
        <p:spPr bwMode="auto">
          <a:xfrm>
            <a:off x="5429256" y="2357430"/>
            <a:ext cx="357190" cy="285752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>
            <a:off x="5214942" y="4143380"/>
            <a:ext cx="357190" cy="286461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785786" y="3000373"/>
            <a:ext cx="8208963" cy="7858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Tx/>
              <a:buBlip>
                <a:blip r:embed="rId2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System.out.print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6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GB" altLang="zh-CN" b="1" dirty="0"/>
              <a:t>Java</a:t>
            </a:r>
            <a:r>
              <a:rPr lang="zh-CN" altLang="en-GB" b="1" dirty="0"/>
              <a:t>程序</a:t>
            </a:r>
            <a:r>
              <a:rPr lang="zh-CN" altLang="zh-CN" b="1" dirty="0"/>
              <a:t>的</a:t>
            </a:r>
            <a:r>
              <a:rPr lang="zh-CN" altLang="en-US" b="1" dirty="0" smtClean="0"/>
              <a:t>注释</a:t>
            </a:r>
            <a:endParaRPr lang="zh-CN" altLang="en-US" b="1" dirty="0"/>
          </a:p>
        </p:txBody>
      </p:sp>
      <p:sp>
        <p:nvSpPr>
          <p:cNvPr id="582659" name="AutoShape 3"/>
          <p:cNvSpPr>
            <a:spLocks noGrp="1" noChangeArrowheads="1"/>
          </p:cNvSpPr>
          <p:nvPr>
            <p:ph idx="1"/>
          </p:nvPr>
        </p:nvSpPr>
        <p:spPr>
          <a:xfrm>
            <a:off x="784254" y="1285860"/>
            <a:ext cx="7645398" cy="2224087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marL="457200" lvl="1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public class </a:t>
            </a:r>
            <a:r>
              <a:rPr lang="en-US" altLang="zh-CN" sz="1800" kern="1200" dirty="0" err="1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HelloWorld</a:t>
            </a: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{</a:t>
            </a:r>
            <a:endParaRPr lang="en-US" altLang="zh-CN" sz="1800" kern="1200" dirty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  <a:cs typeface="+mn-cs"/>
            </a:endParaRPr>
          </a:p>
          <a:p>
            <a:pPr marL="457200" lvl="1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	public static void main(String[ ] </a:t>
            </a:r>
            <a:r>
              <a:rPr lang="en-US" altLang="zh-CN" sz="1800" kern="1200" dirty="0" err="1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args</a:t>
            </a: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){</a:t>
            </a:r>
            <a:endParaRPr lang="en-US" altLang="zh-CN" sz="1800" kern="1200" dirty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  <a:cs typeface="+mn-cs"/>
            </a:endParaRPr>
          </a:p>
          <a:p>
            <a:pPr marL="457200" lvl="1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	</a:t>
            </a:r>
            <a:r>
              <a:rPr lang="en-US" altLang="zh-CN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	//</a:t>
            </a:r>
            <a:r>
              <a:rPr lang="zh-CN" altLang="en-US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输出消息到控制台</a:t>
            </a:r>
            <a:endParaRPr lang="zh-CN" altLang="en-US" sz="1800" kern="12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457200" lvl="1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		</a:t>
            </a:r>
            <a:r>
              <a:rPr lang="en-US" altLang="zh-CN" sz="1800" kern="1200" dirty="0" err="1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System.out.println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("Hello  </a:t>
            </a: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World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!!! ");</a:t>
            </a:r>
            <a:r>
              <a:rPr lang="zh-CN" altLang="en-US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  </a:t>
            </a:r>
            <a:endParaRPr lang="en-US" altLang="zh-CN" sz="1800" kern="1200" dirty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  <a:cs typeface="+mn-cs"/>
            </a:endParaRPr>
          </a:p>
          <a:p>
            <a:pPr marL="457200" lvl="1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	}</a:t>
            </a:r>
            <a:endParaRPr lang="en-US" altLang="zh-CN" sz="1800" kern="1200" dirty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  <a:cs typeface="+mn-cs"/>
            </a:endParaRPr>
          </a:p>
          <a:p>
            <a:pPr marL="457200" lvl="1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  <a:cs typeface="+mn-cs"/>
              </a:rPr>
              <a:t>}</a:t>
            </a:r>
            <a:endParaRPr lang="en-US" altLang="zh-CN" sz="1800" kern="1200" dirty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sp>
        <p:nvSpPr>
          <p:cNvPr id="582660" name="AutoShape 4"/>
          <p:cNvSpPr>
            <a:spLocks noChangeArrowheads="1"/>
          </p:cNvSpPr>
          <p:nvPr/>
        </p:nvSpPr>
        <p:spPr bwMode="auto">
          <a:xfrm>
            <a:off x="2071670" y="4286256"/>
            <a:ext cx="4786346" cy="500065"/>
          </a:xfrm>
          <a:prstGeom prst="wedgeRoundRectCallout">
            <a:avLst>
              <a:gd name="adj1" fmla="val -50220"/>
              <a:gd name="adj2" fmla="val -331"/>
              <a:gd name="adj3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b="1" dirty="0"/>
              <a:t>单行注释以 </a:t>
            </a:r>
            <a:r>
              <a:rPr lang="en-US" altLang="zh-CN" b="1" dirty="0"/>
              <a:t>// </a:t>
            </a:r>
            <a:r>
              <a:rPr lang="zh-CN" altLang="en-US" b="1" dirty="0" smtClean="0"/>
              <a:t>开始</a:t>
            </a:r>
            <a:endParaRPr lang="zh-CN" altLang="en-US" b="1" dirty="0"/>
          </a:p>
        </p:txBody>
      </p:sp>
      <p:grpSp>
        <p:nvGrpSpPr>
          <p:cNvPr id="2" name="组合 5"/>
          <p:cNvGrpSpPr/>
          <p:nvPr/>
        </p:nvGrpSpPr>
        <p:grpSpPr>
          <a:xfrm>
            <a:off x="71406" y="857232"/>
            <a:ext cx="1000132" cy="400110"/>
            <a:chOff x="1000100" y="1801286"/>
            <a:chExt cx="1000132" cy="400110"/>
          </a:xfrm>
        </p:grpSpPr>
        <p:pic>
          <p:nvPicPr>
            <p:cNvPr id="7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8" name="TextBox 7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4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GB" altLang="zh-CN" b="1" dirty="0"/>
              <a:t>Java</a:t>
            </a:r>
            <a:r>
              <a:rPr lang="zh-CN" altLang="en-GB" b="1" dirty="0"/>
              <a:t>程序</a:t>
            </a:r>
            <a:r>
              <a:rPr lang="zh-CN" altLang="zh-CN" b="1" dirty="0"/>
              <a:t>的</a:t>
            </a:r>
            <a:r>
              <a:rPr lang="zh-CN" altLang="en-US" b="1" dirty="0" smtClean="0"/>
              <a:t>注释</a:t>
            </a:r>
            <a:endParaRPr lang="zh-CN" altLang="en-US" b="1" dirty="0"/>
          </a:p>
        </p:txBody>
      </p:sp>
      <p:sp>
        <p:nvSpPr>
          <p:cNvPr id="581635" name="AutoShape 3"/>
          <p:cNvSpPr>
            <a:spLocks noGrp="1" noChangeArrowheads="1"/>
          </p:cNvSpPr>
          <p:nvPr>
            <p:ph idx="1"/>
          </p:nvPr>
        </p:nvSpPr>
        <p:spPr>
          <a:xfrm>
            <a:off x="784254" y="1276351"/>
            <a:ext cx="7645398" cy="4795855"/>
          </a:xfrm>
          <a:prstGeom prst="roundRect">
            <a:avLst>
              <a:gd name="adj" fmla="val 24"/>
            </a:avLst>
          </a:prstGeom>
          <a:solidFill>
            <a:srgbClr val="EDF5FD"/>
          </a:solidFill>
          <a:ln w="508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en-US" altLang="zh-CN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/*</a:t>
            </a:r>
            <a:endParaRPr lang="en-US" altLang="zh-CN" sz="1800" kern="12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en-US" altLang="zh-CN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 * HelloWorld.java</a:t>
            </a:r>
            <a:endParaRPr lang="en-US" altLang="zh-CN" sz="1800" kern="12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en-US" altLang="zh-CN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 * </a:t>
            </a:r>
            <a:r>
              <a:rPr lang="en-US" altLang="zh-CN" sz="18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2020-9-1</a:t>
            </a:r>
            <a:endParaRPr lang="en-US" altLang="zh-CN" sz="1800" kern="12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en-US" altLang="zh-CN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 * </a:t>
            </a:r>
            <a:r>
              <a:rPr lang="zh-CN" altLang="en-US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第一个</a:t>
            </a:r>
            <a:r>
              <a:rPr lang="en-US" altLang="zh-CN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en-US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程序</a:t>
            </a:r>
            <a:endParaRPr lang="zh-CN" altLang="en-US" sz="1800" kern="12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zh-CN" altLang="en-US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 *</a:t>
            </a:r>
            <a:r>
              <a:rPr lang="en-US" altLang="zh-CN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/</a:t>
            </a:r>
            <a:endParaRPr lang="en-US" altLang="zh-CN" sz="1800" kern="12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public class </a:t>
            </a:r>
            <a:r>
              <a:rPr lang="en-US" altLang="zh-CN" sz="1800" kern="1200" dirty="0" err="1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HelloWorld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 {</a:t>
            </a:r>
            <a:endParaRPr lang="en-US" altLang="zh-CN" sz="1800" kern="1200" dirty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zh-CN" altLang="en-US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     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public </a:t>
            </a: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static void main(String[ ] </a:t>
            </a:r>
            <a:r>
              <a:rPr lang="en-US" altLang="zh-CN" sz="1800" kern="1200" dirty="0" err="1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args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) {</a:t>
            </a:r>
            <a:endParaRPr lang="en-US" altLang="zh-CN" sz="1800" kern="1200" dirty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zh-CN" altLang="en-US" sz="18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sz="18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8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1800" kern="1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	</a:t>
            </a:r>
            <a:endParaRPr lang="en-US" altLang="zh-CN" sz="1800" kern="1200" dirty="0" smtClean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zh-CN" altLang="en-US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         </a:t>
            </a:r>
            <a:r>
              <a:rPr lang="en-US" altLang="zh-CN" sz="1800" kern="1200" dirty="0" err="1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System.out.println</a:t>
            </a:r>
            <a:r>
              <a:rPr lang="en-US" altLang="zh-CN" sz="1800" kern="1200" dirty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("Hello  World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!!!");</a:t>
            </a:r>
            <a:endParaRPr lang="en-US" altLang="zh-CN" sz="1800" kern="1200" dirty="0" smtClean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	</a:t>
            </a:r>
            <a:r>
              <a:rPr lang="zh-CN" altLang="en-US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 </a:t>
            </a:r>
            <a:r>
              <a:rPr lang="en-US" altLang="zh-CN" sz="1800" kern="1200" dirty="0" err="1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System.out.println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("Hello  World!!!");</a:t>
            </a:r>
            <a:endParaRPr lang="en-US" altLang="zh-CN" sz="1800" kern="1200" dirty="0" smtClean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zh-CN" altLang="en-US" sz="18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        *</a:t>
            </a:r>
            <a:r>
              <a:rPr lang="en-US" altLang="zh-CN" sz="18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/</a:t>
            </a:r>
            <a:endParaRPr lang="en-US" altLang="zh-CN" sz="1800" kern="1200" dirty="0" smtClean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zh-CN" altLang="en-US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     </a:t>
            </a: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}</a:t>
            </a:r>
            <a:endParaRPr lang="en-US" altLang="zh-CN" sz="1800" kern="1200" dirty="0" smtClean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  <a:p>
            <a:pPr marL="0" indent="0" defTabSz="381000">
              <a:lnSpc>
                <a:spcPct val="130000"/>
              </a:lnSpc>
              <a:spcBef>
                <a:spcPct val="0"/>
              </a:spcBef>
              <a:buClr>
                <a:schemeClr val="folHlink"/>
              </a:buClr>
              <a:buSzPct val="60000"/>
              <a:buNone/>
              <a:tabLst>
                <a:tab pos="533400" algn="l"/>
              </a:tabLst>
              <a:defRPr/>
            </a:pPr>
            <a:r>
              <a:rPr lang="en-US" altLang="zh-CN" sz="1800" kern="1200" dirty="0" smtClean="0">
                <a:solidFill>
                  <a:schemeClr val="accent5">
                    <a:lumMod val="10000"/>
                  </a:schemeClr>
                </a:solidFill>
                <a:ea typeface="黑体" panose="02010609060101010101" pitchFamily="2" charset="-122"/>
              </a:rPr>
              <a:t>}</a:t>
            </a:r>
            <a:endParaRPr lang="en-US" altLang="zh-CN" sz="1800" kern="1200" dirty="0">
              <a:solidFill>
                <a:schemeClr val="accent5">
                  <a:lumMod val="10000"/>
                </a:schemeClr>
              </a:solidFill>
              <a:ea typeface="黑体" panose="02010609060101010101" pitchFamily="2" charset="-122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2928926" y="1752590"/>
            <a:ext cx="2378075" cy="247650"/>
            <a:chOff x="2154" y="1236"/>
            <a:chExt cx="1498" cy="156"/>
          </a:xfrm>
        </p:grpSpPr>
        <p:sp>
          <p:nvSpPr>
            <p:cNvPr id="581637" name="Text Box 5"/>
            <p:cNvSpPr txBox="1">
              <a:spLocks noChangeArrowheads="1"/>
            </p:cNvSpPr>
            <p:nvPr/>
          </p:nvSpPr>
          <p:spPr bwMode="auto">
            <a:xfrm>
              <a:off x="2336" y="1236"/>
              <a:ext cx="1316" cy="156"/>
            </a:xfrm>
            <a:prstGeom prst="rect">
              <a:avLst/>
            </a:prstGeom>
            <a:noFill/>
            <a:ln w="6350" algn="ctr">
              <a:noFill/>
              <a:miter lim="800000"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rgbClr val="339966"/>
                </a:buClr>
                <a:buFont typeface="Wingdings" panose="05000000000000000000" pitchFamily="2" charset="2"/>
                <a:buNone/>
              </a:pPr>
              <a:r>
                <a:rPr lang="zh-CN" altLang="en-US" b="1" dirty="0">
                  <a:ea typeface="黑体" panose="02010609060101010101" pitchFamily="2" charset="-122"/>
                </a:rPr>
                <a:t>文件的名称</a:t>
              </a:r>
              <a:endParaRPr lang="zh-CN" altLang="en-US" b="1" dirty="0">
                <a:ea typeface="黑体" panose="02010609060101010101" pitchFamily="2" charset="-122"/>
              </a:endParaRPr>
            </a:p>
          </p:txBody>
        </p:sp>
        <p:sp>
          <p:nvSpPr>
            <p:cNvPr id="581638" name="AutoShape 6"/>
            <p:cNvSpPr>
              <a:spLocks noChangeArrowheads="1"/>
            </p:cNvSpPr>
            <p:nvPr/>
          </p:nvSpPr>
          <p:spPr bwMode="auto">
            <a:xfrm>
              <a:off x="2154" y="1253"/>
              <a:ext cx="362" cy="136"/>
            </a:xfrm>
            <a:prstGeom prst="leftArrow">
              <a:avLst>
                <a:gd name="adj1" fmla="val 50000"/>
                <a:gd name="adj2" fmla="val 66544"/>
              </a:avLst>
            </a:prstGeom>
            <a:solidFill>
              <a:schemeClr val="accent5">
                <a:lumMod val="50000"/>
              </a:schemeClr>
            </a:solidFill>
            <a:ln w="6350" algn="ctr">
              <a:noFill/>
              <a:miter lim="800000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2928926" y="2109780"/>
            <a:ext cx="2378075" cy="247650"/>
            <a:chOff x="2154" y="1236"/>
            <a:chExt cx="1498" cy="156"/>
          </a:xfrm>
        </p:grpSpPr>
        <p:sp>
          <p:nvSpPr>
            <p:cNvPr id="581640" name="Text Box 8"/>
            <p:cNvSpPr txBox="1">
              <a:spLocks noChangeArrowheads="1"/>
            </p:cNvSpPr>
            <p:nvPr/>
          </p:nvSpPr>
          <p:spPr bwMode="auto">
            <a:xfrm>
              <a:off x="2336" y="1236"/>
              <a:ext cx="1316" cy="156"/>
            </a:xfrm>
            <a:prstGeom prst="rect">
              <a:avLst/>
            </a:prstGeom>
            <a:noFill/>
            <a:ln w="6350" algn="ctr">
              <a:noFill/>
              <a:miter lim="800000"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rgbClr val="339966"/>
                </a:buClr>
                <a:buFont typeface="Wingdings" panose="05000000000000000000" pitchFamily="2" charset="2"/>
                <a:buNone/>
              </a:pPr>
              <a:r>
                <a:rPr lang="zh-CN" altLang="en-US" b="1" dirty="0">
                  <a:ea typeface="黑体" panose="02010609060101010101" pitchFamily="2" charset="-122"/>
                </a:rPr>
                <a:t>日期</a:t>
              </a:r>
              <a:endParaRPr lang="zh-CN" altLang="en-US" b="1" dirty="0">
                <a:ea typeface="黑体" panose="02010609060101010101" pitchFamily="2" charset="-122"/>
              </a:endParaRPr>
            </a:p>
          </p:txBody>
        </p:sp>
        <p:sp>
          <p:nvSpPr>
            <p:cNvPr id="581641" name="AutoShape 9"/>
            <p:cNvSpPr>
              <a:spLocks noChangeArrowheads="1"/>
            </p:cNvSpPr>
            <p:nvPr/>
          </p:nvSpPr>
          <p:spPr bwMode="auto">
            <a:xfrm>
              <a:off x="2154" y="1253"/>
              <a:ext cx="362" cy="136"/>
            </a:xfrm>
            <a:prstGeom prst="leftArrow">
              <a:avLst>
                <a:gd name="adj1" fmla="val 50000"/>
                <a:gd name="adj2" fmla="val 66544"/>
              </a:avLst>
            </a:prstGeom>
            <a:solidFill>
              <a:schemeClr val="accent5">
                <a:lumMod val="50000"/>
              </a:schemeClr>
            </a:solidFill>
            <a:ln w="6350" algn="ctr">
              <a:noFill/>
              <a:miter lim="800000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2928926" y="2466970"/>
            <a:ext cx="2378075" cy="247650"/>
            <a:chOff x="2154" y="1236"/>
            <a:chExt cx="1498" cy="156"/>
          </a:xfrm>
        </p:grpSpPr>
        <p:sp>
          <p:nvSpPr>
            <p:cNvPr id="581643" name="Text Box 11"/>
            <p:cNvSpPr txBox="1">
              <a:spLocks noChangeArrowheads="1"/>
            </p:cNvSpPr>
            <p:nvPr/>
          </p:nvSpPr>
          <p:spPr bwMode="auto">
            <a:xfrm>
              <a:off x="2336" y="1236"/>
              <a:ext cx="1316" cy="156"/>
            </a:xfrm>
            <a:prstGeom prst="rect">
              <a:avLst/>
            </a:prstGeom>
            <a:noFill/>
            <a:ln w="6350" algn="ctr">
              <a:noFill/>
              <a:miter lim="800000"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rgbClr val="339966"/>
                </a:buClr>
                <a:buFont typeface="Wingdings" panose="05000000000000000000" pitchFamily="2" charset="2"/>
                <a:buNone/>
              </a:pPr>
              <a:r>
                <a:rPr lang="zh-CN" altLang="en-US" b="1" dirty="0">
                  <a:ea typeface="黑体" panose="02010609060101010101" pitchFamily="2" charset="-122"/>
                </a:rPr>
                <a:t>功能说明</a:t>
              </a:r>
              <a:endParaRPr lang="zh-CN" altLang="en-US" b="1" dirty="0">
                <a:ea typeface="黑体" panose="02010609060101010101" pitchFamily="2" charset="-122"/>
              </a:endParaRPr>
            </a:p>
          </p:txBody>
        </p:sp>
        <p:sp>
          <p:nvSpPr>
            <p:cNvPr id="581644" name="AutoShape 12"/>
            <p:cNvSpPr>
              <a:spLocks noChangeArrowheads="1"/>
            </p:cNvSpPr>
            <p:nvPr/>
          </p:nvSpPr>
          <p:spPr bwMode="auto">
            <a:xfrm>
              <a:off x="2154" y="1253"/>
              <a:ext cx="362" cy="136"/>
            </a:xfrm>
            <a:prstGeom prst="leftArrow">
              <a:avLst>
                <a:gd name="adj1" fmla="val 50000"/>
                <a:gd name="adj2" fmla="val 66544"/>
              </a:avLst>
            </a:prstGeom>
            <a:solidFill>
              <a:schemeClr val="accent5">
                <a:lumMod val="50000"/>
              </a:schemeClr>
            </a:solidFill>
            <a:ln w="6350" algn="ctr">
              <a:noFill/>
              <a:miter lim="800000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81645" name="AutoShape 13"/>
          <p:cNvSpPr>
            <a:spLocks noChangeArrowheads="1"/>
          </p:cNvSpPr>
          <p:nvPr/>
        </p:nvSpPr>
        <p:spPr bwMode="auto">
          <a:xfrm>
            <a:off x="2000232" y="5357826"/>
            <a:ext cx="4286280" cy="571504"/>
          </a:xfrm>
          <a:prstGeom prst="wedgeRoundRectCallout">
            <a:avLst>
              <a:gd name="adj1" fmla="val -50582"/>
              <a:gd name="adj2" fmla="val 688"/>
              <a:gd name="adj3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b="1" dirty="0"/>
              <a:t>多行注释以“</a:t>
            </a:r>
            <a:r>
              <a:rPr lang="en-US" altLang="zh-CN" b="1" dirty="0"/>
              <a:t>/*”</a:t>
            </a:r>
            <a:r>
              <a:rPr lang="zh-CN" altLang="en-US" b="1" dirty="0"/>
              <a:t>开头，以“*</a:t>
            </a:r>
            <a:r>
              <a:rPr lang="en-US" altLang="zh-CN" b="1" dirty="0"/>
              <a:t>/”</a:t>
            </a:r>
            <a:r>
              <a:rPr lang="zh-CN" altLang="en-US" b="1" dirty="0"/>
              <a:t>结尾</a:t>
            </a:r>
            <a:endParaRPr lang="zh-CN" altLang="en-US" b="1" dirty="0"/>
          </a:p>
        </p:txBody>
      </p:sp>
      <p:sp>
        <p:nvSpPr>
          <p:cNvPr id="581649" name="AutoShape 17"/>
          <p:cNvSpPr>
            <a:spLocks noChangeArrowheads="1"/>
          </p:cNvSpPr>
          <p:nvPr/>
        </p:nvSpPr>
        <p:spPr bwMode="auto">
          <a:xfrm>
            <a:off x="5286380" y="1928801"/>
            <a:ext cx="3313112" cy="715089"/>
          </a:xfrm>
          <a:prstGeom prst="wedgeRoundRectCallout">
            <a:avLst>
              <a:gd name="adj1" fmla="val -167"/>
              <a:gd name="adj2" fmla="val 49865"/>
              <a:gd name="adj3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buClr>
                <a:srgbClr val="233DA9"/>
              </a:buClr>
              <a:buSzPct val="80000"/>
              <a:defRPr/>
            </a:pPr>
            <a:r>
              <a:rPr lang="zh-CN" altLang="en-US" b="1" dirty="0" smtClean="0"/>
              <a:t>多</a:t>
            </a:r>
            <a:r>
              <a:rPr lang="zh-CN" altLang="en-US" b="1" dirty="0"/>
              <a:t>行注释的每一行开头可写一个或多个*</a:t>
            </a:r>
            <a:endParaRPr lang="zh-CN" altLang="en-US" b="1" dirty="0"/>
          </a:p>
        </p:txBody>
      </p:sp>
      <p:grpSp>
        <p:nvGrpSpPr>
          <p:cNvPr id="5" name="组合 15"/>
          <p:cNvGrpSpPr/>
          <p:nvPr/>
        </p:nvGrpSpPr>
        <p:grpSpPr>
          <a:xfrm>
            <a:off x="71406" y="857232"/>
            <a:ext cx="1000132" cy="400110"/>
            <a:chOff x="1000100" y="1801286"/>
            <a:chExt cx="1000132" cy="400110"/>
          </a:xfrm>
        </p:grpSpPr>
        <p:pic>
          <p:nvPicPr>
            <p:cNvPr id="17" name="Picture 3" descr="E:\设计支持\模板设计\YF.pn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000100" y="1806293"/>
              <a:ext cx="422603" cy="390096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>
              <a:off x="1299399" y="1801286"/>
              <a:ext cx="700833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zh-CN" altLang="en-US" sz="2000" b="1" dirty="0" smtClean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语法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AutoShape 2"/>
          <p:cNvSpPr>
            <a:spLocks noChangeArrowheads="1"/>
          </p:cNvSpPr>
          <p:nvPr/>
        </p:nvSpPr>
        <p:spPr bwMode="auto">
          <a:xfrm>
            <a:off x="684213" y="2349500"/>
            <a:ext cx="7316811" cy="1892826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class HelloWorld {  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public static main (String[ ]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args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)  {  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System.out.println("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我的第一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个小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程序！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");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574468" name="AutoShape 4"/>
          <p:cNvSpPr>
            <a:spLocks noChangeArrowheads="1"/>
          </p:cNvSpPr>
          <p:nvPr/>
        </p:nvSpPr>
        <p:spPr bwMode="gray">
          <a:xfrm>
            <a:off x="1571604" y="5214950"/>
            <a:ext cx="5732487" cy="649288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en-US" altLang="zh-CN" b="1" dirty="0" smtClean="0"/>
              <a:t>main()</a:t>
            </a:r>
            <a:r>
              <a:rPr lang="zh-CN" altLang="en-US" b="1" dirty="0" smtClean="0"/>
              <a:t>方法</a:t>
            </a:r>
            <a:r>
              <a:rPr lang="zh-CN" altLang="en-US" b="1" dirty="0"/>
              <a:t>作为程序入口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void</a:t>
            </a:r>
            <a:r>
              <a:rPr lang="zh-CN" altLang="en-US" b="1" dirty="0"/>
              <a:t>必不可少！</a:t>
            </a:r>
            <a:endParaRPr lang="zh-CN" altLang="en-US" b="1" dirty="0"/>
          </a:p>
        </p:txBody>
      </p:sp>
      <p:sp>
        <p:nvSpPr>
          <p:cNvPr id="574469" name="Line 5"/>
          <p:cNvSpPr>
            <a:spLocks noChangeShapeType="1"/>
          </p:cNvSpPr>
          <p:nvPr/>
        </p:nvSpPr>
        <p:spPr bwMode="auto">
          <a:xfrm>
            <a:off x="2500297" y="2055808"/>
            <a:ext cx="0" cy="801688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74470" name="AutoShape 6"/>
          <p:cNvSpPr>
            <a:spLocks noChangeArrowheads="1"/>
          </p:cNvSpPr>
          <p:nvPr/>
        </p:nvSpPr>
        <p:spPr bwMode="auto">
          <a:xfrm>
            <a:off x="2160084" y="1620902"/>
            <a:ext cx="697404" cy="408623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void</a:t>
            </a:r>
            <a:endParaRPr lang="en-US" altLang="zh-CN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74475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b="1" dirty="0"/>
              <a:t>常见</a:t>
            </a:r>
            <a:r>
              <a:rPr lang="zh-CN" altLang="en-US" b="1" dirty="0" smtClean="0"/>
              <a:t>错误</a:t>
            </a:r>
            <a:endParaRPr lang="zh-CN" altLang="en-US" b="1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pSp>
        <p:nvGrpSpPr>
          <p:cNvPr id="2" name="组合 8"/>
          <p:cNvGrpSpPr/>
          <p:nvPr/>
        </p:nvGrpSpPr>
        <p:grpSpPr>
          <a:xfrm>
            <a:off x="102193" y="857232"/>
            <a:ext cx="1469411" cy="400110"/>
            <a:chOff x="2962268" y="5103147"/>
            <a:chExt cx="1469411" cy="400110"/>
          </a:xfrm>
        </p:grpSpPr>
        <p:pic>
          <p:nvPicPr>
            <p:cNvPr id="10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74472" name="Rectangle 8"/>
          <p:cNvSpPr>
            <a:spLocks noChangeArrowheads="1"/>
          </p:cNvSpPr>
          <p:nvPr/>
        </p:nvSpPr>
        <p:spPr bwMode="auto">
          <a:xfrm>
            <a:off x="1071539" y="2786058"/>
            <a:ext cx="3714775" cy="357190"/>
          </a:xfrm>
          <a:prstGeom prst="rect">
            <a:avLst/>
          </a:prstGeom>
          <a:noFill/>
          <a:ln w="19050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9" name="AutoShape 11"/>
          <p:cNvSpPr>
            <a:spLocks noChangeArrowheads="1"/>
          </p:cNvSpPr>
          <p:nvPr/>
        </p:nvSpPr>
        <p:spPr bwMode="auto">
          <a:xfrm>
            <a:off x="684213" y="2276475"/>
            <a:ext cx="7388249" cy="1911132"/>
          </a:xfrm>
          <a:prstGeom prst="roundRect">
            <a:avLst>
              <a:gd name="adj" fmla="val 1697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class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HelloWorld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 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{  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public static void main (String[ ]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args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) {  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system.out.println("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我的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第一个小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程序！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");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575492" name="AutoShape 4"/>
          <p:cNvSpPr>
            <a:spLocks noChangeArrowheads="1"/>
          </p:cNvSpPr>
          <p:nvPr/>
        </p:nvSpPr>
        <p:spPr bwMode="gray">
          <a:xfrm>
            <a:off x="1500166" y="5084763"/>
            <a:ext cx="6429420" cy="792162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 dirty="0" smtClean="0"/>
              <a:t>语法出错</a:t>
            </a:r>
            <a:r>
              <a:rPr lang="zh-CN" altLang="en-US" b="1" dirty="0"/>
              <a:t>，无法解析</a:t>
            </a:r>
            <a:r>
              <a:rPr lang="en-US" altLang="zh-CN" b="1" dirty="0" smtClean="0"/>
              <a:t>system</a:t>
            </a:r>
            <a:r>
              <a:rPr lang="zh-CN" altLang="en-US" b="1" dirty="0" smtClean="0"/>
              <a:t>！</a:t>
            </a:r>
            <a:r>
              <a:rPr lang="en-US" altLang="zh-CN" b="1" dirty="0" smtClean="0"/>
              <a:t>Java</a:t>
            </a:r>
            <a:r>
              <a:rPr lang="zh-CN" altLang="en-US" b="1" dirty="0"/>
              <a:t>对大小写敏感</a:t>
            </a:r>
            <a:r>
              <a:rPr lang="en-US" altLang="zh-CN" b="1" dirty="0"/>
              <a:t>!</a:t>
            </a:r>
            <a:endParaRPr lang="en-US" altLang="zh-CN" b="1" dirty="0"/>
          </a:p>
        </p:txBody>
      </p:sp>
      <p:sp>
        <p:nvSpPr>
          <p:cNvPr id="575493" name="Rectangle 5"/>
          <p:cNvSpPr>
            <a:spLocks noChangeArrowheads="1"/>
          </p:cNvSpPr>
          <p:nvPr/>
        </p:nvSpPr>
        <p:spPr bwMode="auto">
          <a:xfrm>
            <a:off x="1500167" y="3101976"/>
            <a:ext cx="857256" cy="327024"/>
          </a:xfrm>
          <a:prstGeom prst="rect">
            <a:avLst/>
          </a:prstGeom>
          <a:noFill/>
          <a:ln w="19050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75495" name="AutoShape 7"/>
          <p:cNvSpPr>
            <a:spLocks noChangeArrowheads="1"/>
          </p:cNvSpPr>
          <p:nvPr/>
        </p:nvSpPr>
        <p:spPr bwMode="auto">
          <a:xfrm>
            <a:off x="2195513" y="3929066"/>
            <a:ext cx="1146741" cy="408623"/>
          </a:xfrm>
          <a:prstGeom prst="wedgeRoundRectCallout">
            <a:avLst>
              <a:gd name="adj1" fmla="val 627"/>
              <a:gd name="adj2" fmla="val -53846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代码错误</a:t>
            </a:r>
            <a:endParaRPr lang="zh-CN" altLang="en-US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7549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b="1" dirty="0"/>
              <a:t>常见</a:t>
            </a:r>
            <a:r>
              <a:rPr lang="zh-CN" altLang="en-US" b="1" dirty="0" smtClean="0"/>
              <a:t>错误</a:t>
            </a:r>
            <a:endParaRPr lang="zh-CN" altLang="en-US" b="1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pSp>
        <p:nvGrpSpPr>
          <p:cNvPr id="2" name="组合 7"/>
          <p:cNvGrpSpPr/>
          <p:nvPr/>
        </p:nvGrpSpPr>
        <p:grpSpPr>
          <a:xfrm>
            <a:off x="102193" y="857232"/>
            <a:ext cx="1469411" cy="400110"/>
            <a:chOff x="2962268" y="5103147"/>
            <a:chExt cx="1469411" cy="400110"/>
          </a:xfrm>
        </p:grpSpPr>
        <p:pic>
          <p:nvPicPr>
            <p:cNvPr id="9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cxnSp>
        <p:nvCxnSpPr>
          <p:cNvPr id="11" name="直接箭头连接符 10"/>
          <p:cNvCxnSpPr/>
          <p:nvPr/>
        </p:nvCxnSpPr>
        <p:spPr>
          <a:xfrm>
            <a:off x="2143108" y="3429000"/>
            <a:ext cx="500064" cy="428628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24" name="AutoShape 12"/>
          <p:cNvSpPr>
            <a:spLocks noChangeArrowheads="1"/>
          </p:cNvSpPr>
          <p:nvPr/>
        </p:nvSpPr>
        <p:spPr bwMode="auto">
          <a:xfrm>
            <a:off x="684213" y="2276475"/>
            <a:ext cx="7316811" cy="1892826"/>
          </a:xfrm>
          <a:prstGeom prst="roundRect">
            <a:avLst>
              <a:gd name="adj" fmla="val 235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class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HelloWorld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  {</a:t>
            </a:r>
            <a:endParaRPr lang="en-US" altLang="zh-CN" b="1" dirty="0" smtClean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	public static void main (String[ ] 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args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)  {  </a:t>
            </a:r>
            <a:endParaRPr lang="en-US" altLang="zh-CN" b="1" dirty="0" smtClean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System.out.println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("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我的第一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个小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程序！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")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576516" name="AutoShape 4"/>
          <p:cNvSpPr>
            <a:spLocks noChangeArrowheads="1"/>
          </p:cNvSpPr>
          <p:nvPr/>
        </p:nvSpPr>
        <p:spPr bwMode="gray">
          <a:xfrm>
            <a:off x="1908175" y="4995879"/>
            <a:ext cx="5184775" cy="719137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/>
              <a:t>每一条</a:t>
            </a:r>
            <a:r>
              <a:rPr lang="en-US" altLang="zh-CN" b="1"/>
              <a:t>Java</a:t>
            </a:r>
            <a:r>
              <a:rPr lang="zh-CN" altLang="en-US" b="1"/>
              <a:t>语句必须以分号结束</a:t>
            </a:r>
            <a:r>
              <a:rPr lang="en-US" altLang="zh-CN" b="1"/>
              <a:t>!</a:t>
            </a:r>
            <a:endParaRPr lang="en-US" altLang="zh-CN" b="1"/>
          </a:p>
        </p:txBody>
      </p:sp>
      <p:sp>
        <p:nvSpPr>
          <p:cNvPr id="576517" name="Line 5"/>
          <p:cNvSpPr>
            <a:spLocks noChangeShapeType="1"/>
          </p:cNvSpPr>
          <p:nvPr/>
        </p:nvSpPr>
        <p:spPr bwMode="auto">
          <a:xfrm flipH="1">
            <a:off x="7166014" y="2714620"/>
            <a:ext cx="357190" cy="503238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76518" name="AutoShape 6"/>
          <p:cNvSpPr>
            <a:spLocks noChangeArrowheads="1"/>
          </p:cNvSpPr>
          <p:nvPr/>
        </p:nvSpPr>
        <p:spPr bwMode="auto">
          <a:xfrm>
            <a:off x="7400948" y="2276475"/>
            <a:ext cx="289441" cy="39433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;</a:t>
            </a:r>
            <a:endParaRPr lang="en-US" altLang="zh-CN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7652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b="1" dirty="0"/>
              <a:t>常见</a:t>
            </a:r>
            <a:r>
              <a:rPr lang="zh-CN" altLang="en-US" b="1" dirty="0" smtClean="0"/>
              <a:t>错误</a:t>
            </a:r>
            <a:endParaRPr lang="zh-CN" altLang="en-US" b="1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grpSp>
        <p:nvGrpSpPr>
          <p:cNvPr id="2" name="组合 8"/>
          <p:cNvGrpSpPr/>
          <p:nvPr/>
        </p:nvGrpSpPr>
        <p:grpSpPr>
          <a:xfrm>
            <a:off x="102193" y="857232"/>
            <a:ext cx="1469411" cy="400110"/>
            <a:chOff x="2962268" y="5103147"/>
            <a:chExt cx="1469411" cy="400110"/>
          </a:xfrm>
        </p:grpSpPr>
        <p:pic>
          <p:nvPicPr>
            <p:cNvPr id="10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48" name="AutoShape 12"/>
          <p:cNvSpPr>
            <a:spLocks noChangeArrowheads="1"/>
          </p:cNvSpPr>
          <p:nvPr/>
        </p:nvSpPr>
        <p:spPr bwMode="auto">
          <a:xfrm>
            <a:off x="684213" y="2276475"/>
            <a:ext cx="7388249" cy="1892826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public class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HelloWorld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{  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public static void main (String[ ] 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args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) {  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	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System.out.println</a:t>
            </a:r>
            <a:r>
              <a:rPr lang="en-US" altLang="zh-CN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( 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我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的第一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个</a:t>
            </a:r>
            <a:r>
              <a:rPr lang="en-US" altLang="zh-CN" b="1" dirty="0" err="1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MyEclipse</a:t>
            </a:r>
            <a:r>
              <a:rPr lang="zh-CN" altLang="en-US" b="1" dirty="0" smtClean="0">
                <a:solidFill>
                  <a:schemeClr val="accent5">
                    <a:lumMod val="10000"/>
                  </a:schemeClr>
                </a:solidFill>
                <a:latin typeface="+mn-lt"/>
              </a:rPr>
              <a:t>小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程序！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);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	}</a:t>
            </a:r>
            <a:endParaRPr lang="en-US" altLang="zh-CN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  <a:p>
            <a:pPr algn="l" defTabSz="381000">
              <a:lnSpc>
                <a:spcPct val="13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</a:t>
            </a:r>
            <a:endParaRPr lang="zh-CN" altLang="en-US" b="1" dirty="0">
              <a:solidFill>
                <a:schemeClr val="accent5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577540" name="AutoShape 4"/>
          <p:cNvSpPr>
            <a:spLocks noChangeArrowheads="1"/>
          </p:cNvSpPr>
          <p:nvPr/>
        </p:nvSpPr>
        <p:spPr bwMode="gray">
          <a:xfrm>
            <a:off x="1908175" y="4508500"/>
            <a:ext cx="4306899" cy="792163"/>
          </a:xfrm>
          <a:prstGeom prst="roundRect">
            <a:avLst>
              <a:gd name="adj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algn="l" eaLnBrk="0" hangingPunct="0">
              <a:defRPr/>
            </a:pPr>
            <a:r>
              <a:rPr lang="zh-CN" altLang="en-US" b="1" dirty="0"/>
              <a:t>注意：不要漏写引号</a:t>
            </a:r>
            <a:r>
              <a:rPr lang="en-US" altLang="zh-CN" b="1" dirty="0"/>
              <a:t>!</a:t>
            </a:r>
            <a:endParaRPr lang="en-US" altLang="zh-CN" b="1" dirty="0"/>
          </a:p>
        </p:txBody>
      </p:sp>
      <p:sp>
        <p:nvSpPr>
          <p:cNvPr id="577542" name="Line 6"/>
          <p:cNvSpPr>
            <a:spLocks noChangeShapeType="1"/>
          </p:cNvSpPr>
          <p:nvPr/>
        </p:nvSpPr>
        <p:spPr bwMode="auto">
          <a:xfrm flipV="1">
            <a:off x="6286512" y="3357562"/>
            <a:ext cx="571504" cy="571504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77543" name="AutoShape 7"/>
          <p:cNvSpPr>
            <a:spLocks noChangeArrowheads="1"/>
          </p:cNvSpPr>
          <p:nvPr/>
        </p:nvSpPr>
        <p:spPr bwMode="auto">
          <a:xfrm>
            <a:off x="5929322" y="3786190"/>
            <a:ext cx="293670" cy="369332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Arial" panose="020B0604020202020204"/>
                <a:ea typeface="黑体" panose="02010609060101010101" pitchFamily="2" charset="-122"/>
              </a:rPr>
              <a:t>"</a:t>
            </a:r>
            <a:endParaRPr lang="en-US" altLang="zh-CN" b="1" kern="0" dirty="0" smtClean="0">
              <a:solidFill>
                <a:schemeClr val="bg1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577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214290"/>
            <a:ext cx="8229600" cy="900112"/>
          </a:xfrm>
          <a:noFill/>
          <a:ln algn="ctr"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b="1"/>
              <a:t>常见错误</a:t>
            </a:r>
            <a:r>
              <a:rPr lang="en-US" altLang="zh-CN" b="1"/>
              <a:t>5-5</a:t>
            </a:r>
            <a:endParaRPr lang="zh-CN" altLang="en-US" b="1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/46</a:t>
            </a:r>
            <a:endParaRPr lang="zh-CN" altLang="en-US" dirty="0"/>
          </a:p>
        </p:txBody>
      </p:sp>
      <p:sp>
        <p:nvSpPr>
          <p:cNvPr id="577549" name="Line 13"/>
          <p:cNvSpPr>
            <a:spLocks noChangeShapeType="1"/>
          </p:cNvSpPr>
          <p:nvPr/>
        </p:nvSpPr>
        <p:spPr bwMode="auto">
          <a:xfrm flipH="1" flipV="1">
            <a:off x="3714744" y="3357562"/>
            <a:ext cx="2143140" cy="571504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2" name="组合 12"/>
          <p:cNvGrpSpPr/>
          <p:nvPr/>
        </p:nvGrpSpPr>
        <p:grpSpPr>
          <a:xfrm>
            <a:off x="102193" y="857232"/>
            <a:ext cx="1469411" cy="400110"/>
            <a:chOff x="2962268" y="5103147"/>
            <a:chExt cx="1469411" cy="400110"/>
          </a:xfrm>
        </p:grpSpPr>
        <p:pic>
          <p:nvPicPr>
            <p:cNvPr id="14" name="Picture 4" descr="C:\Users\meng.zhang\Desktop\ACCP7.0模版图标规范\list_num.pn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2962268" y="5141278"/>
              <a:ext cx="323848" cy="323848"/>
            </a:xfrm>
            <a:prstGeom prst="rect">
              <a:avLst/>
            </a:prstGeom>
            <a:noFill/>
          </p:spPr>
        </p:pic>
        <p:sp>
          <p:nvSpPr>
            <p:cNvPr id="15" name="TextBox 14"/>
            <p:cNvSpPr txBox="1"/>
            <p:nvPr/>
          </p:nvSpPr>
          <p:spPr>
            <a:xfrm>
              <a:off x="3214678" y="5103147"/>
              <a:ext cx="1217001" cy="400110"/>
            </a:xfrm>
            <a:prstGeom prst="rect">
              <a:avLst/>
            </a:prstGeom>
            <a:noFill/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代码阅读</a:t>
              </a:r>
              <a:endParaRPr lang="zh-CN" altLang="en-US" sz="2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/>
              <a:t>二、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运行环境搭建</a:t>
            </a:r>
            <a:endParaRPr lang="en-US" altLang="zh-CN" sz="3600" dirty="0" smtClean="0"/>
          </a:p>
          <a:p>
            <a:r>
              <a:rPr lang="zh-CN" altLang="en-US" sz="3600" dirty="0" smtClean="0"/>
              <a:t>三、第一个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程序</a:t>
            </a:r>
            <a:endParaRPr lang="en-US" altLang="zh-CN" sz="3600" dirty="0" smtClean="0"/>
          </a:p>
          <a:p>
            <a:r>
              <a:rPr lang="zh-CN" altLang="en-US" sz="3600" dirty="0" smtClean="0"/>
              <a:t>四、第一个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程序代码相关问题</a:t>
            </a:r>
            <a:endParaRPr lang="en-US" altLang="zh-CN" sz="3600" dirty="0" smtClean="0"/>
          </a:p>
          <a:p>
            <a:r>
              <a:rPr lang="zh-CN" altLang="en-US" sz="3600" dirty="0" smtClean="0">
                <a:solidFill>
                  <a:srgbClr val="FF0000"/>
                </a:solidFill>
              </a:rPr>
              <a:t>五、初识</a:t>
            </a:r>
            <a:r>
              <a:rPr lang="en-US" altLang="zh-CN" sz="3600" dirty="0" smtClean="0">
                <a:solidFill>
                  <a:srgbClr val="FF0000"/>
                </a:solidFill>
              </a:rPr>
              <a:t>Java</a:t>
            </a:r>
            <a:r>
              <a:rPr lang="zh-CN" altLang="zh-CN" sz="3600" dirty="0" smtClean="0">
                <a:solidFill>
                  <a:srgbClr val="FF0000"/>
                </a:solidFill>
              </a:rPr>
              <a:t>小程序</a:t>
            </a:r>
            <a:endParaRPr lang="zh-CN" altLang="en-US" sz="3600" dirty="0" smtClean="0">
              <a:solidFill>
                <a:srgbClr val="FF0000"/>
              </a:solidFill>
            </a:endParaRPr>
          </a:p>
          <a:p>
            <a:endParaRPr lang="en-US" altLang="zh-CN" sz="3600" dirty="0" smtClean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ltGray">
          <a:xfrm>
            <a:off x="6096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A50021"/>
                </a:solidFill>
              </a:rPr>
              <a:t>初</a:t>
            </a:r>
            <a:r>
              <a:rPr lang="zh-CN" altLang="en-US" sz="3200" b="1" dirty="0">
                <a:solidFill>
                  <a:srgbClr val="A50021"/>
                </a:solidFill>
              </a:rPr>
              <a:t>识</a:t>
            </a:r>
            <a:r>
              <a:rPr lang="en-US" altLang="zh-CN" sz="3200" b="1" dirty="0" smtClean="0">
                <a:solidFill>
                  <a:srgbClr val="A50021"/>
                </a:solidFill>
              </a:rPr>
              <a:t>Java</a:t>
            </a:r>
            <a:r>
              <a:rPr lang="zh-CN" altLang="zh-CN" sz="3200" b="1" dirty="0" smtClean="0">
                <a:solidFill>
                  <a:srgbClr val="A50021"/>
                </a:solidFill>
              </a:rPr>
              <a:t>小</a:t>
            </a:r>
            <a:r>
              <a:rPr lang="zh-CN" altLang="zh-CN" sz="3200" b="1" dirty="0">
                <a:solidFill>
                  <a:srgbClr val="A50021"/>
                </a:solidFill>
              </a:rPr>
              <a:t>程序</a:t>
            </a:r>
            <a:endParaRPr lang="zh-CN" altLang="en-US" sz="3200" b="1" dirty="0">
              <a:solidFill>
                <a:srgbClr val="A50021"/>
              </a:solidFill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609600" y="838200"/>
            <a:ext cx="7991475" cy="144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08" name="Group 29"/>
          <p:cNvGrpSpPr/>
          <p:nvPr/>
        </p:nvGrpSpPr>
        <p:grpSpPr bwMode="auto">
          <a:xfrm>
            <a:off x="304800" y="912813"/>
            <a:ext cx="8596313" cy="2019300"/>
            <a:chOff x="192" y="574"/>
            <a:chExt cx="5415" cy="1517"/>
          </a:xfrm>
        </p:grpSpPr>
        <p:sp>
          <p:nvSpPr>
            <p:cNvPr id="21512" name="AutoShape 6"/>
            <p:cNvSpPr>
              <a:spLocks noChangeArrowheads="1"/>
            </p:cNvSpPr>
            <p:nvPr/>
          </p:nvSpPr>
          <p:spPr bwMode="auto">
            <a:xfrm>
              <a:off x="192" y="1152"/>
              <a:ext cx="768" cy="672"/>
            </a:xfrm>
            <a:prstGeom prst="flowChartPunchedCard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tIns="0"/>
            <a:lstStyle/>
            <a:p>
              <a:r>
                <a:rPr lang="zh-CN" altLang="en-US" b="1">
                  <a:solidFill>
                    <a:srgbClr val="FF0000"/>
                  </a:solidFill>
                </a:rPr>
                <a:t>源程序</a:t>
              </a:r>
              <a:endParaRPr lang="zh-CN" altLang="en-US" b="1"/>
            </a:p>
            <a:p>
              <a:r>
                <a:rPr lang="zh-CN" altLang="en-US" b="1"/>
                <a:t>（</a:t>
              </a:r>
              <a:r>
                <a:rPr lang="en-US" altLang="zh-CN" b="1"/>
                <a:t>.java)</a:t>
              </a:r>
              <a:endParaRPr lang="en-US" altLang="zh-CN"/>
            </a:p>
          </p:txBody>
        </p:sp>
        <p:sp>
          <p:nvSpPr>
            <p:cNvPr id="21513" name="Line 7"/>
            <p:cNvSpPr>
              <a:spLocks noChangeShapeType="1"/>
            </p:cNvSpPr>
            <p:nvPr/>
          </p:nvSpPr>
          <p:spPr bwMode="auto">
            <a:xfrm>
              <a:off x="960" y="14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4" name="AutoShape 9"/>
            <p:cNvSpPr>
              <a:spLocks noChangeArrowheads="1"/>
            </p:cNvSpPr>
            <p:nvPr/>
          </p:nvSpPr>
          <p:spPr bwMode="auto">
            <a:xfrm>
              <a:off x="1488" y="1152"/>
              <a:ext cx="1296" cy="672"/>
            </a:xfrm>
            <a:prstGeom prst="flowChartPunchedCard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tIns="0"/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byte-code</a:t>
              </a:r>
              <a:r>
                <a:rPr lang="zh-CN" altLang="en-US" b="1">
                  <a:solidFill>
                    <a:srgbClr val="FF0000"/>
                  </a:solidFill>
                </a:rPr>
                <a:t>文件</a:t>
              </a:r>
              <a:endParaRPr lang="zh-CN" altLang="en-US" b="1"/>
            </a:p>
            <a:p>
              <a:r>
                <a:rPr lang="zh-CN" altLang="en-US" b="1"/>
                <a:t>（</a:t>
              </a:r>
              <a:r>
                <a:rPr lang="en-US" altLang="zh-CN" b="1"/>
                <a:t>.class)</a:t>
              </a:r>
              <a:endParaRPr lang="en-US" altLang="zh-CN"/>
            </a:p>
          </p:txBody>
        </p:sp>
        <p:sp>
          <p:nvSpPr>
            <p:cNvPr id="21515" name="Text Box 11"/>
            <p:cNvSpPr txBox="1">
              <a:spLocks noChangeArrowheads="1"/>
            </p:cNvSpPr>
            <p:nvPr/>
          </p:nvSpPr>
          <p:spPr bwMode="auto">
            <a:xfrm>
              <a:off x="960" y="1172"/>
              <a:ext cx="500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编译</a:t>
              </a:r>
              <a:endParaRPr lang="zh-CN" altLang="en-US"/>
            </a:p>
          </p:txBody>
        </p:sp>
        <p:sp>
          <p:nvSpPr>
            <p:cNvPr id="21516" name="Text Box 13"/>
            <p:cNvSpPr txBox="1">
              <a:spLocks noChangeArrowheads="1"/>
            </p:cNvSpPr>
            <p:nvPr/>
          </p:nvSpPr>
          <p:spPr bwMode="auto">
            <a:xfrm>
              <a:off x="944" y="1460"/>
              <a:ext cx="553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009900"/>
                  </a:solidFill>
                </a:rPr>
                <a:t>javac</a:t>
              </a:r>
              <a:endParaRPr lang="en-US" altLang="zh-CN" b="1"/>
            </a:p>
          </p:txBody>
        </p:sp>
        <p:sp>
          <p:nvSpPr>
            <p:cNvPr id="21517" name="Line 15"/>
            <p:cNvSpPr>
              <a:spLocks noChangeShapeType="1"/>
            </p:cNvSpPr>
            <p:nvPr/>
          </p:nvSpPr>
          <p:spPr bwMode="auto">
            <a:xfrm>
              <a:off x="2784" y="14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8" name="Line 16"/>
            <p:cNvSpPr>
              <a:spLocks noChangeShapeType="1"/>
            </p:cNvSpPr>
            <p:nvPr/>
          </p:nvSpPr>
          <p:spPr bwMode="auto">
            <a:xfrm>
              <a:off x="2976" y="120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9" name="Line 17"/>
            <p:cNvSpPr>
              <a:spLocks noChangeShapeType="1"/>
            </p:cNvSpPr>
            <p:nvPr/>
          </p:nvSpPr>
          <p:spPr bwMode="auto">
            <a:xfrm>
              <a:off x="2976" y="120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0" name="Line 18"/>
            <p:cNvSpPr>
              <a:spLocks noChangeShapeType="1"/>
            </p:cNvSpPr>
            <p:nvPr/>
          </p:nvSpPr>
          <p:spPr bwMode="auto">
            <a:xfrm>
              <a:off x="2976" y="177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1" name="Text Box 19"/>
            <p:cNvSpPr txBox="1">
              <a:spLocks noChangeArrowheads="1"/>
            </p:cNvSpPr>
            <p:nvPr/>
          </p:nvSpPr>
          <p:spPr bwMode="auto">
            <a:xfrm>
              <a:off x="2928" y="1748"/>
              <a:ext cx="8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/>
                <a:t>应用程序</a:t>
              </a:r>
              <a:endParaRPr lang="zh-CN" altLang="en-US"/>
            </a:p>
          </p:txBody>
        </p:sp>
        <p:sp>
          <p:nvSpPr>
            <p:cNvPr id="21522" name="Text Box 20"/>
            <p:cNvSpPr txBox="1">
              <a:spLocks noChangeArrowheads="1"/>
            </p:cNvSpPr>
            <p:nvPr/>
          </p:nvSpPr>
          <p:spPr bwMode="auto">
            <a:xfrm>
              <a:off x="2955" y="885"/>
              <a:ext cx="1160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applet</a:t>
              </a:r>
              <a:r>
                <a:rPr lang="zh-CN" altLang="zh-CN"/>
                <a:t>小程序</a:t>
              </a:r>
              <a:endParaRPr lang="zh-CN" altLang="en-US"/>
            </a:p>
          </p:txBody>
        </p:sp>
        <p:sp>
          <p:nvSpPr>
            <p:cNvPr id="21523" name="Text Box 21"/>
            <p:cNvSpPr txBox="1">
              <a:spLocks noChangeArrowheads="1"/>
            </p:cNvSpPr>
            <p:nvPr/>
          </p:nvSpPr>
          <p:spPr bwMode="auto">
            <a:xfrm>
              <a:off x="3222" y="1172"/>
              <a:ext cx="50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9900"/>
                  </a:solidFill>
                </a:rPr>
                <a:t>嵌入</a:t>
              </a:r>
              <a:endParaRPr lang="zh-CN" altLang="en-US"/>
            </a:p>
          </p:txBody>
        </p:sp>
        <p:sp>
          <p:nvSpPr>
            <p:cNvPr id="21524" name="AutoShape 22"/>
            <p:cNvSpPr>
              <a:spLocks noChangeArrowheads="1"/>
            </p:cNvSpPr>
            <p:nvPr/>
          </p:nvSpPr>
          <p:spPr bwMode="auto">
            <a:xfrm>
              <a:off x="4128" y="768"/>
              <a:ext cx="768" cy="672"/>
            </a:xfrm>
            <a:prstGeom prst="flowChartPunchedCard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tIns="0"/>
            <a:lstStyle/>
            <a:p>
              <a:r>
                <a:rPr lang="zh-CN" altLang="en-US" b="1">
                  <a:solidFill>
                    <a:srgbClr val="FF0000"/>
                  </a:solidFill>
                </a:rPr>
                <a:t>超文本</a:t>
              </a:r>
              <a:endParaRPr lang="zh-CN" altLang="en-US" b="1"/>
            </a:p>
            <a:p>
              <a:r>
                <a:rPr lang="zh-CN" altLang="en-US" b="1"/>
                <a:t>（</a:t>
              </a:r>
              <a:r>
                <a:rPr lang="en-US" altLang="zh-CN" b="1"/>
                <a:t>.html)</a:t>
              </a:r>
              <a:endParaRPr lang="en-US" altLang="zh-CN"/>
            </a:p>
          </p:txBody>
        </p:sp>
        <p:sp>
          <p:nvSpPr>
            <p:cNvPr id="21525" name="Line 23"/>
            <p:cNvSpPr>
              <a:spLocks noChangeShapeType="1"/>
            </p:cNvSpPr>
            <p:nvPr/>
          </p:nvSpPr>
          <p:spPr bwMode="auto">
            <a:xfrm>
              <a:off x="4896" y="11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" name="Text Box 25"/>
            <p:cNvSpPr txBox="1">
              <a:spLocks noChangeArrowheads="1"/>
            </p:cNvSpPr>
            <p:nvPr/>
          </p:nvSpPr>
          <p:spPr bwMode="auto">
            <a:xfrm>
              <a:off x="5299" y="574"/>
              <a:ext cx="308" cy="1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/>
                <a:t>浏览器中显示</a:t>
              </a:r>
              <a:endParaRPr lang="zh-CN" altLang="en-US"/>
            </a:p>
          </p:txBody>
        </p:sp>
        <p:sp>
          <p:nvSpPr>
            <p:cNvPr id="21527" name="Rectangle 26"/>
            <p:cNvSpPr>
              <a:spLocks noChangeArrowheads="1"/>
            </p:cNvSpPr>
            <p:nvPr/>
          </p:nvSpPr>
          <p:spPr bwMode="auto">
            <a:xfrm>
              <a:off x="3744" y="1632"/>
              <a:ext cx="104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009900"/>
                  </a:solidFill>
                </a:rPr>
                <a:t>java</a:t>
              </a:r>
              <a:r>
                <a:rPr lang="zh-CN" altLang="en-US" sz="2000"/>
                <a:t>解释执行</a:t>
              </a:r>
              <a:endParaRPr lang="zh-CN" altLang="en-US">
                <a:solidFill>
                  <a:srgbClr val="009900"/>
                </a:solidFill>
              </a:endParaRPr>
            </a:p>
          </p:txBody>
        </p:sp>
      </p:grpSp>
      <p:sp>
        <p:nvSpPr>
          <p:cNvPr id="21509" name="Text Box 27"/>
          <p:cNvSpPr txBox="1">
            <a:spLocks noChangeArrowheads="1"/>
          </p:cNvSpPr>
          <p:nvPr/>
        </p:nvSpPr>
        <p:spPr bwMode="auto">
          <a:xfrm>
            <a:off x="381000" y="3048000"/>
            <a:ext cx="78486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1.1</a:t>
            </a:r>
            <a:r>
              <a:rPr lang="zh-CN" altLang="en-US" sz="2800" b="1">
                <a:solidFill>
                  <a:srgbClr val="0000CC"/>
                </a:solidFill>
              </a:rPr>
              <a:t>　显示</a:t>
            </a:r>
            <a:r>
              <a:rPr lang="en-US" altLang="zh-CN" sz="2800" b="1">
                <a:solidFill>
                  <a:srgbClr val="0000CC"/>
                </a:solidFill>
              </a:rPr>
              <a:t>Hello World!</a:t>
            </a:r>
            <a:r>
              <a:rPr lang="zh-CN" altLang="en-US" sz="2800" b="1">
                <a:solidFill>
                  <a:srgbClr val="0000CC"/>
                </a:solidFill>
              </a:rPr>
              <a:t>的独立可执行应用程序</a:t>
            </a:r>
            <a:r>
              <a:rPr lang="zh-CN" altLang="en-US"/>
              <a:t>　</a:t>
            </a:r>
            <a:endParaRPr lang="zh-CN" altLang="en-US"/>
          </a:p>
        </p:txBody>
      </p:sp>
      <p:sp>
        <p:nvSpPr>
          <p:cNvPr id="21510" name="Text Box 28"/>
          <p:cNvSpPr txBox="1">
            <a:spLocks noChangeArrowheads="1"/>
          </p:cNvSpPr>
          <p:nvPr/>
        </p:nvSpPr>
        <p:spPr bwMode="auto">
          <a:xfrm>
            <a:off x="457200" y="3505200"/>
            <a:ext cx="8274050" cy="2683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CC0066"/>
                </a:solidFill>
              </a:rPr>
              <a:t>//</a:t>
            </a:r>
            <a:r>
              <a:rPr lang="zh-CN" altLang="zh-CN" dirty="0">
                <a:solidFill>
                  <a:srgbClr val="CC0066"/>
                </a:solidFill>
              </a:rPr>
              <a:t>源程序文件</a:t>
            </a:r>
            <a:r>
              <a:rPr lang="zh-CN" altLang="en-US" dirty="0">
                <a:solidFill>
                  <a:srgbClr val="CC0066"/>
                </a:solidFill>
              </a:rPr>
              <a:t>  </a:t>
            </a:r>
            <a:r>
              <a:rPr lang="en-US" altLang="zh-CN" dirty="0">
                <a:solidFill>
                  <a:srgbClr val="CC0066"/>
                </a:solidFill>
              </a:rPr>
              <a:t>Hello.java</a:t>
            </a:r>
            <a:endParaRPr lang="en-US" altLang="zh-CN" dirty="0"/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import   java.io.*;    </a:t>
            </a:r>
            <a:r>
              <a:rPr lang="en-US" altLang="zh-CN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引入输入输出包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public  class  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HelloWorld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{  public static void main(String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args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{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System.out.println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("Hello World!");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11" name="Text Box 30"/>
          <p:cNvSpPr txBox="1">
            <a:spLocks noChangeArrowheads="1"/>
          </p:cNvSpPr>
          <p:nvPr/>
        </p:nvSpPr>
        <p:spPr bwMode="auto">
          <a:xfrm>
            <a:off x="304800" y="1066800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SunJDK</a:t>
            </a:r>
            <a:r>
              <a:rPr lang="zh-CN" altLang="en-US" b="1"/>
              <a:t>编程过程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ltGray">
          <a:xfrm>
            <a:off x="609600" y="2286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A50021"/>
                </a:solidFill>
              </a:rPr>
              <a:t>初识</a:t>
            </a:r>
            <a:r>
              <a:rPr lang="en-US" altLang="zh-CN" sz="3200" b="1" dirty="0" smtClean="0">
                <a:solidFill>
                  <a:srgbClr val="A50021"/>
                </a:solidFill>
              </a:rPr>
              <a:t>Java</a:t>
            </a:r>
            <a:r>
              <a:rPr lang="zh-CN" altLang="zh-CN" sz="3200" b="1" dirty="0" smtClean="0">
                <a:solidFill>
                  <a:srgbClr val="A50021"/>
                </a:solidFill>
              </a:rPr>
              <a:t>小程序</a:t>
            </a:r>
            <a:endParaRPr lang="zh-CN" altLang="en-US" sz="3200" b="1" dirty="0">
              <a:solidFill>
                <a:srgbClr val="A50021"/>
              </a:solidFill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81000" y="1066800"/>
            <a:ext cx="746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1.2</a:t>
            </a:r>
            <a:r>
              <a:rPr lang="zh-CN" altLang="en-US" sz="2800" b="1">
                <a:solidFill>
                  <a:srgbClr val="0000CC"/>
                </a:solidFill>
              </a:rPr>
              <a:t>　显示</a:t>
            </a:r>
            <a:r>
              <a:rPr lang="en-US" altLang="zh-CN" sz="2800" b="1">
                <a:solidFill>
                  <a:srgbClr val="0000CC"/>
                </a:solidFill>
              </a:rPr>
              <a:t>Hello World!</a:t>
            </a:r>
            <a:r>
              <a:rPr lang="zh-CN" altLang="en-US" sz="2800" b="1">
                <a:solidFill>
                  <a:srgbClr val="0000CC"/>
                </a:solidFill>
              </a:rPr>
              <a:t>的</a:t>
            </a:r>
            <a:r>
              <a:rPr lang="en-US" altLang="zh-CN" sz="2800" b="1">
                <a:solidFill>
                  <a:srgbClr val="0000CC"/>
                </a:solidFill>
              </a:rPr>
              <a:t>applet</a:t>
            </a:r>
            <a:r>
              <a:rPr lang="zh-CN" altLang="zh-CN" sz="2800" b="1">
                <a:solidFill>
                  <a:srgbClr val="0000CC"/>
                </a:solidFill>
              </a:rPr>
              <a:t>小</a:t>
            </a:r>
            <a:r>
              <a:rPr lang="zh-CN" altLang="en-US" sz="2800" b="1">
                <a:solidFill>
                  <a:srgbClr val="0000CC"/>
                </a:solidFill>
              </a:rPr>
              <a:t>程序</a:t>
            </a:r>
            <a:r>
              <a:rPr lang="zh-CN" altLang="en-US"/>
              <a:t>　</a:t>
            </a:r>
            <a:endParaRPr lang="zh-CN" altLang="en-US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8579296" cy="430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CC0066"/>
                </a:solidFill>
              </a:rPr>
              <a:t>//Java</a:t>
            </a:r>
            <a:r>
              <a:rPr lang="zh-CN" altLang="zh-CN" dirty="0">
                <a:solidFill>
                  <a:srgbClr val="CC0066"/>
                </a:solidFill>
              </a:rPr>
              <a:t>源程序文件</a:t>
            </a:r>
            <a:r>
              <a:rPr lang="zh-CN" altLang="en-US" dirty="0">
                <a:solidFill>
                  <a:srgbClr val="CC0066"/>
                </a:solidFill>
              </a:rPr>
              <a:t>  </a:t>
            </a:r>
            <a:r>
              <a:rPr lang="en-US" altLang="zh-CN" dirty="0">
                <a:solidFill>
                  <a:srgbClr val="CC0066"/>
                </a:solidFill>
              </a:rPr>
              <a:t>HelloA.java</a:t>
            </a:r>
            <a:endParaRPr lang="en-US" altLang="zh-CN" dirty="0"/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java.awt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.*;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java.applet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.*;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public  class  </a:t>
            </a:r>
            <a:r>
              <a:rPr lang="en-US" altLang="zh-CN" b="1" dirty="0" err="1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HelloA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extends Applet </a:t>
            </a:r>
            <a:r>
              <a:rPr lang="en-US" altLang="zh-CN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zh-CN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</a:t>
            </a:r>
            <a:r>
              <a:rPr lang="en-US" altLang="zh-CN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Applet</a:t>
            </a:r>
            <a:r>
              <a:rPr lang="zh-CN" altLang="zh-CN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类派生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{  public void paint(Graphics g) </a:t>
            </a:r>
            <a:r>
              <a:rPr lang="en-US" altLang="zh-CN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zh-CN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重载</a:t>
            </a:r>
            <a:r>
              <a:rPr lang="en-US" altLang="zh-CN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paint</a:t>
            </a:r>
            <a:r>
              <a:rPr lang="zh-CN" altLang="zh-CN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{ 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g.drawString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("Hello World!",20,20);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609600" y="838200"/>
            <a:ext cx="7991475" cy="144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ltGray">
          <a:xfrm>
            <a:off x="609600" y="228600"/>
            <a:ext cx="8001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A50021"/>
                </a:solidFill>
              </a:rPr>
              <a:t>初识</a:t>
            </a:r>
            <a:r>
              <a:rPr lang="en-US" altLang="zh-CN" sz="3200" b="1" dirty="0" smtClean="0">
                <a:solidFill>
                  <a:srgbClr val="A50021"/>
                </a:solidFill>
              </a:rPr>
              <a:t>Java</a:t>
            </a:r>
            <a:r>
              <a:rPr lang="zh-CN" altLang="zh-CN" sz="3200" b="1" dirty="0" smtClean="0">
                <a:solidFill>
                  <a:srgbClr val="A50021"/>
                </a:solidFill>
              </a:rPr>
              <a:t>小程序</a:t>
            </a:r>
            <a:endParaRPr lang="zh-CN" altLang="en-US" sz="3200" b="1" dirty="0" smtClean="0">
              <a:solidFill>
                <a:srgbClr val="A50021"/>
              </a:solidFill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zh-CN" sz="3200" b="1" dirty="0">
              <a:solidFill>
                <a:srgbClr val="A50021"/>
              </a:solidFill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609600" y="838200"/>
            <a:ext cx="7991475" cy="144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51520" y="1196752"/>
            <a:ext cx="8686800" cy="334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CC0066"/>
                </a:solidFill>
              </a:rPr>
              <a:t>//HTML</a:t>
            </a:r>
            <a:r>
              <a:rPr lang="zh-CN" altLang="zh-CN" dirty="0">
                <a:solidFill>
                  <a:srgbClr val="CC0066"/>
                </a:solidFill>
              </a:rPr>
              <a:t>文件</a:t>
            </a:r>
            <a:r>
              <a:rPr lang="zh-CN" altLang="en-US" dirty="0">
                <a:solidFill>
                  <a:srgbClr val="CC0066"/>
                </a:solidFill>
              </a:rPr>
              <a:t>   </a:t>
            </a:r>
            <a:r>
              <a:rPr lang="en-US" altLang="zh-CN" dirty="0">
                <a:solidFill>
                  <a:srgbClr val="CC0066"/>
                </a:solidFill>
              </a:rPr>
              <a:t>HELLOA.HTML</a:t>
            </a:r>
            <a:endParaRPr lang="en-US" altLang="zh-CN" dirty="0"/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&lt;HTML&gt;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&lt;BODY&gt;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&lt;applet code="</a:t>
            </a:r>
            <a:r>
              <a:rPr lang="en-US" altLang="zh-CN" dirty="0" err="1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HelloA.class</a:t>
            </a:r>
            <a:r>
              <a:rPr lang="en-US" altLang="zh-CN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width=200 height=40&gt;</a:t>
            </a:r>
            <a:endParaRPr lang="en-US" altLang="zh-CN" dirty="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&lt;/applet&gt;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&lt;/BODY&gt;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&lt;/HTML&gt;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609600" y="4495800"/>
            <a:ext cx="8001000" cy="1370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zh-CN" altLang="en-US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说明</a:t>
            </a:r>
            <a:r>
              <a:rPr lang="en-US" altLang="zh-CN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anose="05000000000000000000" pitchFamily="2" charset="2"/>
              </a:rPr>
              <a:t>: </a:t>
            </a:r>
            <a:r>
              <a:rPr lang="en-US" altLang="zh-CN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anose="05000000000000000000" pitchFamily="2" charset="2"/>
              </a:rPr>
              <a:t>(1)</a:t>
            </a:r>
            <a:r>
              <a:rPr lang="zh-CN" altLang="en-US"/>
              <a:t>编译生成的字节码文件</a:t>
            </a:r>
            <a:r>
              <a:rPr lang="en-US" altLang="zh-CN"/>
              <a:t>HelloA.class</a:t>
            </a:r>
            <a:r>
              <a:rPr lang="zh-CN" altLang="en-US"/>
              <a:t>应与</a:t>
            </a:r>
            <a:r>
              <a:rPr lang="en-US" altLang="zh-CN"/>
              <a:t>HELLOA.HTML</a:t>
            </a:r>
            <a:r>
              <a:rPr lang="zh-CN" altLang="zh-CN"/>
              <a:t>存于同一目录下</a:t>
            </a:r>
            <a:r>
              <a:rPr lang="en-US" altLang="zh-CN"/>
              <a:t>;</a:t>
            </a:r>
            <a:endParaRPr lang="en-US" altLang="zh-CN"/>
          </a:p>
          <a:p>
            <a:pPr algn="l">
              <a:spcBef>
                <a:spcPct val="50000"/>
              </a:spcBef>
              <a:defRPr/>
            </a:pPr>
            <a:r>
              <a:rPr lang="en-US" altLang="zh-CN"/>
              <a:t> </a:t>
            </a:r>
            <a:r>
              <a:rPr lang="en-US" altLang="zh-CN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anose="05000000000000000000" pitchFamily="2" charset="2"/>
              </a:rPr>
              <a:t>(2)</a:t>
            </a:r>
            <a:r>
              <a:rPr lang="en-US" altLang="zh-CN"/>
              <a:t>IE5.5</a:t>
            </a:r>
            <a:r>
              <a:rPr lang="zh-CN" altLang="en-US"/>
              <a:t>及以上版本需要安装</a:t>
            </a:r>
            <a:r>
              <a:rPr lang="en-US" altLang="zh-CN"/>
              <a:t>Sun JRE</a:t>
            </a:r>
            <a:r>
              <a:rPr lang="zh-CN" altLang="en-US"/>
              <a:t>软件才能运行</a:t>
            </a:r>
            <a:r>
              <a:rPr lang="en-US" altLang="zh-CN"/>
              <a:t>Applet. 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 smtClean="0"/>
              <a:t>一、课程概述</a:t>
            </a:r>
            <a:endParaRPr lang="en-US" altLang="zh-CN" sz="3600" dirty="0" smtClean="0"/>
          </a:p>
          <a:p>
            <a:r>
              <a:rPr lang="zh-CN" altLang="en-US" sz="3600" dirty="0" smtClean="0"/>
              <a:t>二、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运行环境搭建</a:t>
            </a:r>
            <a:endParaRPr lang="en-US" altLang="zh-CN" sz="3600" dirty="0" smtClean="0"/>
          </a:p>
          <a:p>
            <a:r>
              <a:rPr lang="zh-CN" altLang="en-US" sz="3600" dirty="0" smtClean="0"/>
              <a:t>三、第一个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程序</a:t>
            </a:r>
            <a:endParaRPr lang="en-US" altLang="zh-CN" sz="3600" dirty="0" smtClean="0"/>
          </a:p>
          <a:p>
            <a:r>
              <a:rPr lang="zh-CN" altLang="en-US" sz="3600" dirty="0" smtClean="0"/>
              <a:t>四、第一个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程序代码相关问题</a:t>
            </a:r>
            <a:endParaRPr lang="en-US" altLang="zh-CN" sz="3600" dirty="0" smtClean="0"/>
          </a:p>
          <a:p>
            <a:r>
              <a:rPr lang="zh-CN" altLang="en-US" sz="3600" dirty="0" smtClean="0"/>
              <a:t>五、初识</a:t>
            </a:r>
            <a:r>
              <a:rPr lang="en-US" altLang="zh-CN" sz="3600" dirty="0" smtClean="0"/>
              <a:t>Java</a:t>
            </a:r>
            <a:r>
              <a:rPr lang="zh-CN" altLang="zh-CN" sz="3600" dirty="0" smtClean="0"/>
              <a:t>小程序</a:t>
            </a:r>
            <a:endParaRPr lang="en-US" altLang="zh-CN" sz="3600" dirty="0" smtClean="0"/>
          </a:p>
          <a:p>
            <a:pPr marL="0" indent="0">
              <a:buNone/>
            </a:pPr>
            <a:endParaRPr lang="en-US" altLang="zh-CN" sz="3600" dirty="0" smtClean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/43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模板">
  <a:themeElements>
    <a:clrScheme name="模板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模板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cmpd="sng">
          <a:solidFill>
            <a:schemeClr val="accent5">
              <a:lumMod val="50000"/>
            </a:schemeClr>
          </a:solidFill>
          <a:headEnd type="none"/>
          <a:tailEnd type="triangle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  <a:scene3d>
          <a:camera prst="orthographicFront">
            <a:rot lat="0" lon="0" rev="0"/>
          </a:camera>
          <a:lightRig rig="flood" dir="t">
            <a:rot lat="0" lon="0" rev="5400000"/>
          </a:lightRig>
        </a:scene3d>
        <a:sp3d prstMaterial="dkEdge">
          <a:bevelT w="0" h="0"/>
          <a:contourClr>
            <a:schemeClr val="accent1">
              <a:satMod val="110000"/>
            </a:schemeClr>
          </a:contourClr>
        </a:sp3d>
      </a:spPr>
      <a:bodyPr/>
      <a:lstStyle>
        <a:defPPr>
          <a:defRPr/>
        </a:defPPr>
      </a:lstStyle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b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模板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分学期样式模版-S1</Template>
  <TotalTime>0</TotalTime>
  <Words>5473</Words>
  <Application>WPS 演示</Application>
  <PresentationFormat>全屏显示(4:3)</PresentationFormat>
  <Paragraphs>767</Paragraphs>
  <Slides>82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5" baseType="lpstr">
      <vt:lpstr>Arial</vt:lpstr>
      <vt:lpstr>宋体</vt:lpstr>
      <vt:lpstr>Wingdings</vt:lpstr>
      <vt:lpstr>黑体</vt:lpstr>
      <vt:lpstr>楷体_GB2312</vt:lpstr>
      <vt:lpstr>新宋体</vt:lpstr>
      <vt:lpstr>Tahoma</vt:lpstr>
      <vt:lpstr>Times New Roman</vt:lpstr>
      <vt:lpstr>微软雅黑</vt:lpstr>
      <vt:lpstr>Arial Unicode MS</vt:lpstr>
      <vt:lpstr>Arial</vt:lpstr>
      <vt:lpstr>Symbol</vt:lpstr>
      <vt:lpstr>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编译源程序后，在E盘根目录下生成HelloWorld.class文件</vt:lpstr>
      <vt:lpstr>编译源程序后，在E盘根目录下生成HelloWorld.class文件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Java程序的结构</vt:lpstr>
      <vt:lpstr>Java程序的结构 </vt:lpstr>
      <vt:lpstr>从控制台输出信息</vt:lpstr>
      <vt:lpstr>Java程序的注释</vt:lpstr>
      <vt:lpstr>Java程序的注释</vt:lpstr>
      <vt:lpstr>常见错误</vt:lpstr>
      <vt:lpstr>常见错误</vt:lpstr>
      <vt:lpstr>常见错误</vt:lpstr>
      <vt:lpstr>常见错误5-5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旭海</cp:lastModifiedBy>
  <cp:revision>1028</cp:revision>
  <dcterms:created xsi:type="dcterms:W3CDTF">2006-03-08T06:55:00Z</dcterms:created>
  <dcterms:modified xsi:type="dcterms:W3CDTF">2022-03-05T11:56:28Z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DC71B2522DD34E80A19144DD14DF9295</vt:lpwstr>
  </property>
  <property fmtid="{D5CDD505-2E9C-101B-9397-08002B2CF9AE}" pid="3" name="KSOProductBuildVer">
    <vt:lpwstr>2052-11.1.0.11365</vt:lpwstr>
  </property>
</Properties>
</file>