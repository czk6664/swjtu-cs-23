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549" r:id="rId2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2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c He" initials="cH" lastIdx="2" clrIdx="0"/>
  <p:cmAuthor id="2" name="Microsoft 帐户" initials="M帐" lastIdx="1" clrIdx="1"/>
  <p:cmAuthor id="3" name="hep" initials="h" lastIdx="1" clrIdx="2"/>
  <p:cmAuthor id="4" name="HEP" initials="H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B6D16"/>
    <a:srgbClr val="FFFFCC"/>
    <a:srgbClr val="690E01"/>
    <a:srgbClr val="9D2720"/>
    <a:srgbClr val="531411"/>
    <a:srgbClr val="CE3F2E"/>
    <a:srgbClr val="B62721"/>
    <a:srgbClr val="B02E20"/>
    <a:srgbClr val="D843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80" autoAdjust="0"/>
    <p:restoredTop sz="74651" autoAdjust="0"/>
  </p:normalViewPr>
  <p:slideViewPr>
    <p:cSldViewPr snapToGrid="0" showGuides="1">
      <p:cViewPr varScale="1">
        <p:scale>
          <a:sx n="57" d="100"/>
          <a:sy n="57" d="100"/>
        </p:scale>
        <p:origin x="899" y="40"/>
      </p:cViewPr>
      <p:guideLst>
        <p:guide orient="horz" pos="2262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0" d="100"/>
        <a:sy n="12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 snapToGrid="0">
      <p:cViewPr varScale="1">
        <p:scale>
          <a:sx n="157" d="100"/>
          <a:sy n="157" d="100"/>
        </p:scale>
        <p:origin x="547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4A4E-182E-8B40-9462-4443653DD17B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F212A-B956-0544-9DBC-385260AEEC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905E1-55FF-4F70-A6C9-38A21BF48C48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2558DE-1754-485B-AB72-88EC699311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EBCA8-7E09-44C1-AE42-93DD8798F8D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884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"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9588500" y="210506"/>
            <a:ext cx="250134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100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专题七 邓小平理论</a:t>
            </a: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45719" y="184281"/>
            <a:ext cx="7156536" cy="278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一、邓小平理论首要的基本的理论问题和精髓是什么？</a:t>
            </a: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8382738" y="6440536"/>
            <a:ext cx="3743923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000" b="1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毛泽东思想和中国特色社会主义理论体系概论</a:t>
            </a:r>
            <a:endParaRPr lang="en-US" altLang="zh-CN" sz="1000" b="1" spc="12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0" y="184281"/>
            <a:ext cx="45719" cy="298672"/>
          </a:xfrm>
          <a:prstGeom prst="rect">
            <a:avLst/>
          </a:prstGeom>
          <a:solidFill>
            <a:srgbClr val="AF1E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0" y="6192686"/>
            <a:ext cx="1198515" cy="6653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  <a:effectLst>
            <a:outerShdw blurRad="3937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sz="360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46D743F-E124-49AC-B663-2C5E0BD6559A}" type="slidenum">
              <a:rPr lang="en-US" altLang="zh-CN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"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9944100" y="210506"/>
            <a:ext cx="214574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100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专题七 邓小平理论</a:t>
            </a: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45719" y="184281"/>
            <a:ext cx="7156536" cy="278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二、邓小平理论的主要内容有哪些？</a:t>
            </a: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8382738" y="6440536"/>
            <a:ext cx="3743923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000" b="1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毛泽东思想和中国特色社会主义理论体系概论</a:t>
            </a:r>
            <a:endParaRPr lang="en-US" altLang="zh-CN" sz="1000" b="1" spc="12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0" y="184281"/>
            <a:ext cx="45719" cy="298672"/>
          </a:xfrm>
          <a:prstGeom prst="rect">
            <a:avLst/>
          </a:prstGeom>
          <a:solidFill>
            <a:srgbClr val="AF1E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0" y="6192686"/>
            <a:ext cx="1198515" cy="6653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  <a:effectLst>
            <a:outerShdw blurRad="3937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sz="360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46D743F-E124-49AC-B663-2C5E0BD6559A}" type="slidenum">
              <a:rPr lang="en-US" altLang="zh-CN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"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9944100" y="210507"/>
            <a:ext cx="214574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100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专题七 邓小平理论</a:t>
            </a: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45719" y="184281"/>
            <a:ext cx="7156536" cy="278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三、如何认识邓小平理论的历史地位？</a:t>
            </a: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8382738" y="6440536"/>
            <a:ext cx="3743923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000" b="1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毛泽东思想和中国特色社会主义理论体系概论</a:t>
            </a:r>
            <a:endParaRPr lang="en-US" altLang="zh-CN" sz="1000" b="1" spc="12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0" y="184281"/>
            <a:ext cx="45719" cy="298672"/>
          </a:xfrm>
          <a:prstGeom prst="rect">
            <a:avLst/>
          </a:prstGeom>
          <a:solidFill>
            <a:srgbClr val="AF1E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0" y="6192686"/>
            <a:ext cx="1198515" cy="6653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  <a:effectLst>
            <a:outerShdw blurRad="3937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sz="360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46D743F-E124-49AC-B663-2C5E0BD6559A}" type="slidenum">
              <a:rPr lang="en-US" altLang="zh-CN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思维导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矩形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53000">
                  <a:srgbClr val="EFC879"/>
                </a:gs>
                <a:gs pos="100000">
                  <a:srgbClr val="AF1E22"/>
                </a:gs>
                <a:gs pos="0">
                  <a:srgbClr val="B0261F"/>
                </a:gs>
              </a:gsLst>
              <a:lin ang="135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对角圆角 16"/>
            <p:cNvSpPr/>
            <p:nvPr/>
          </p:nvSpPr>
          <p:spPr>
            <a:xfrm>
              <a:off x="241300" y="203200"/>
              <a:ext cx="11725468" cy="64358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: 对角圆角 12"/>
            <p:cNvSpPr/>
            <p:nvPr/>
          </p:nvSpPr>
          <p:spPr>
            <a:xfrm>
              <a:off x="169841" y="131528"/>
              <a:ext cx="11857399" cy="6587927"/>
            </a:xfrm>
            <a:prstGeom prst="rect">
              <a:avLst/>
            </a:prstGeom>
            <a:noFill/>
            <a:ln w="19050">
              <a:solidFill>
                <a:srgbClr val="FFFDFA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0" y="6192686"/>
            <a:ext cx="1198515" cy="6653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  <a:effectLst>
            <a:outerShdw blurRad="3937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sz="360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46D743F-E124-49AC-B663-2C5E0BD6559A}" type="slidenum">
              <a:rPr lang="en-US" altLang="zh-CN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准空白页"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0" y="6192686"/>
            <a:ext cx="1198515" cy="6653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  <a:effectLst>
            <a:outerShdw blurRad="3937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sz="360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46D743F-E124-49AC-B663-2C5E0BD6559A}" type="slidenum">
              <a:rPr lang="en-US" altLang="zh-CN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 userDrawn="1"/>
        </p:nvCxnSpPr>
        <p:spPr>
          <a:xfrm flipV="1">
            <a:off x="434804" y="956707"/>
            <a:ext cx="11340000" cy="13378"/>
          </a:xfrm>
          <a:prstGeom prst="line">
            <a:avLst/>
          </a:prstGeom>
          <a:ln w="63500" cap="rnd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E7A9741-09FC-4E85-A2B0-76E8D3A11AC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6192686"/>
            <a:ext cx="1198515" cy="6653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  <a:effectLst>
            <a:outerShdw blurRad="3937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sz="3600" smtClean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46D743F-E124-49AC-B663-2C5E0BD6559A}" type="slidenum">
              <a:rPr lang="en-US" altLang="zh-CN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8" r:id="rId6"/>
    <p:sldLayoutId id="2147483659" r:id="rId7"/>
    <p:sldLayoutId id="2147483660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2566219" y="3656939"/>
            <a:ext cx="41092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2977146" y="764014"/>
            <a:ext cx="0" cy="28929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2977145" y="764014"/>
            <a:ext cx="396000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977145" y="2105809"/>
            <a:ext cx="39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977146" y="3656939"/>
            <a:ext cx="39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2977145" y="6017444"/>
            <a:ext cx="39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2977430" y="3656939"/>
            <a:ext cx="0" cy="23605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组合 65"/>
          <p:cNvGrpSpPr/>
          <p:nvPr/>
        </p:nvGrpSpPr>
        <p:grpSpPr>
          <a:xfrm>
            <a:off x="6123929" y="155892"/>
            <a:ext cx="5456276" cy="1466900"/>
            <a:chOff x="6076829" y="984469"/>
            <a:chExt cx="5456276" cy="1466900"/>
          </a:xfrm>
        </p:grpSpPr>
        <p:sp>
          <p:nvSpPr>
            <p:cNvPr id="24" name="矩形 23"/>
            <p:cNvSpPr/>
            <p:nvPr/>
          </p:nvSpPr>
          <p:spPr>
            <a:xfrm>
              <a:off x="6680497" y="984469"/>
              <a:ext cx="449353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和平与发展成为时代主题是邓小平理论形成的时代背景</a:t>
              </a: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6076829" y="1098503"/>
              <a:ext cx="645602" cy="1352866"/>
              <a:chOff x="6419847" y="1103283"/>
              <a:chExt cx="645602" cy="1352866"/>
            </a:xfrm>
          </p:grpSpPr>
          <p:cxnSp>
            <p:nvCxnSpPr>
              <p:cNvPr id="29" name="直接连接符 28"/>
              <p:cNvCxnSpPr/>
              <p:nvPr/>
            </p:nvCxnSpPr>
            <p:spPr>
              <a:xfrm>
                <a:off x="6419847" y="1477896"/>
                <a:ext cx="302369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 flipH="1" flipV="1">
                <a:off x="6726780" y="1144549"/>
                <a:ext cx="1318" cy="328089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6722216" y="1144548"/>
                <a:ext cx="33741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6728098" y="1478071"/>
                <a:ext cx="331536" cy="1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>
                <a:cxnSpLocks/>
              </p:cNvCxnSpPr>
              <p:nvPr/>
            </p:nvCxnSpPr>
            <p:spPr>
              <a:xfrm>
                <a:off x="6728041" y="1472638"/>
                <a:ext cx="17067" cy="983511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V="1">
                <a:off x="6722216" y="1823782"/>
                <a:ext cx="276278" cy="1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椭圆 34"/>
              <p:cNvSpPr/>
              <p:nvPr/>
            </p:nvSpPr>
            <p:spPr>
              <a:xfrm>
                <a:off x="6981578" y="1103283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6981578" y="1435961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6981578" y="1781031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矩形 43"/>
            <p:cNvSpPr/>
            <p:nvPr/>
          </p:nvSpPr>
          <p:spPr>
            <a:xfrm>
              <a:off x="6680496" y="1316918"/>
              <a:ext cx="449353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社会主义建设的经验教训是邓小平理论形成的历史依据</a:t>
              </a:r>
            </a:p>
          </p:txBody>
        </p:sp>
        <p:sp>
          <p:nvSpPr>
            <p:cNvPr id="45" name="矩形 44"/>
            <p:cNvSpPr/>
            <p:nvPr/>
          </p:nvSpPr>
          <p:spPr>
            <a:xfrm>
              <a:off x="6680495" y="1668801"/>
              <a:ext cx="485261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改革开放和现代化建设的实践是邓小平理论形成的现实依据</a:t>
              </a: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6169599" y="2108015"/>
            <a:ext cx="5104488" cy="307777"/>
            <a:chOff x="6083972" y="2588211"/>
            <a:chExt cx="5104488" cy="307777"/>
          </a:xfrm>
        </p:grpSpPr>
        <p:grpSp>
          <p:nvGrpSpPr>
            <p:cNvPr id="52" name="组合 51"/>
            <p:cNvGrpSpPr/>
            <p:nvPr/>
          </p:nvGrpSpPr>
          <p:grpSpPr>
            <a:xfrm>
              <a:off x="6083972" y="2696821"/>
              <a:ext cx="645602" cy="83871"/>
              <a:chOff x="6229229" y="1583581"/>
              <a:chExt cx="645602" cy="83871"/>
            </a:xfrm>
          </p:grpSpPr>
          <p:cxnSp>
            <p:nvCxnSpPr>
              <p:cNvPr id="49" name="直接连接符 48"/>
              <p:cNvCxnSpPr/>
              <p:nvPr/>
            </p:nvCxnSpPr>
            <p:spPr>
              <a:xfrm>
                <a:off x="6229229" y="1625516"/>
                <a:ext cx="302369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>
                <a:off x="6525257" y="1625691"/>
                <a:ext cx="331536" cy="1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椭圆 50"/>
              <p:cNvSpPr/>
              <p:nvPr/>
            </p:nvSpPr>
            <p:spPr>
              <a:xfrm>
                <a:off x="6790960" y="1583581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3" name="矩形 52"/>
            <p:cNvSpPr/>
            <p:nvPr/>
          </p:nvSpPr>
          <p:spPr>
            <a:xfrm>
              <a:off x="6680495" y="2588211"/>
              <a:ext cx="450796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什么是社会主义、怎样建设社会主义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社会主义本质论</a:t>
              </a:r>
            </a:p>
          </p:txBody>
        </p:sp>
      </p:grpSp>
      <p:grpSp>
        <p:nvGrpSpPr>
          <p:cNvPr id="155" name="组合 154"/>
          <p:cNvGrpSpPr/>
          <p:nvPr/>
        </p:nvGrpSpPr>
        <p:grpSpPr>
          <a:xfrm>
            <a:off x="6185164" y="5519308"/>
            <a:ext cx="4191583" cy="998676"/>
            <a:chOff x="6083163" y="5635240"/>
            <a:chExt cx="4191583" cy="998676"/>
          </a:xfrm>
        </p:grpSpPr>
        <p:grpSp>
          <p:nvGrpSpPr>
            <p:cNvPr id="70" name="组合 69"/>
            <p:cNvGrpSpPr/>
            <p:nvPr/>
          </p:nvGrpSpPr>
          <p:grpSpPr>
            <a:xfrm>
              <a:off x="6678890" y="5635240"/>
              <a:ext cx="3595856" cy="998676"/>
              <a:chOff x="6727969" y="5635240"/>
              <a:chExt cx="3595856" cy="998676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6727969" y="5635240"/>
                <a:ext cx="359585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马克思列宁主义、毛泽东思想的继承和发展</a:t>
                </a:r>
              </a:p>
            </p:txBody>
          </p:sp>
          <p:sp>
            <p:nvSpPr>
              <p:cNvPr id="68" name="矩形 67"/>
              <p:cNvSpPr/>
              <p:nvPr/>
            </p:nvSpPr>
            <p:spPr>
              <a:xfrm>
                <a:off x="6727969" y="5985864"/>
                <a:ext cx="323678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中国特色社会主义理论体系的开篇之作</a:t>
                </a:r>
              </a:p>
            </p:txBody>
          </p:sp>
          <p:sp>
            <p:nvSpPr>
              <p:cNvPr id="69" name="矩形 68"/>
              <p:cNvSpPr/>
              <p:nvPr/>
            </p:nvSpPr>
            <p:spPr>
              <a:xfrm>
                <a:off x="6727969" y="6326139"/>
                <a:ext cx="359585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改革开放和社会主义现代化建设的科学指南</a:t>
                </a:r>
              </a:p>
            </p:txBody>
          </p:sp>
        </p:grpSp>
        <p:grpSp>
          <p:nvGrpSpPr>
            <p:cNvPr id="154" name="组合 153"/>
            <p:cNvGrpSpPr/>
            <p:nvPr/>
          </p:nvGrpSpPr>
          <p:grpSpPr>
            <a:xfrm>
              <a:off x="6083163" y="5763442"/>
              <a:ext cx="645602" cy="761619"/>
              <a:chOff x="6235563" y="402677"/>
              <a:chExt cx="645602" cy="761619"/>
            </a:xfrm>
          </p:grpSpPr>
          <p:cxnSp>
            <p:nvCxnSpPr>
              <p:cNvPr id="145" name="直接连接符 144"/>
              <p:cNvCxnSpPr/>
              <p:nvPr/>
            </p:nvCxnSpPr>
            <p:spPr>
              <a:xfrm>
                <a:off x="6235563" y="777290"/>
                <a:ext cx="302369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连接符 145"/>
              <p:cNvCxnSpPr/>
              <p:nvPr/>
            </p:nvCxnSpPr>
            <p:spPr>
              <a:xfrm flipH="1" flipV="1">
                <a:off x="6542496" y="443943"/>
                <a:ext cx="1318" cy="328089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>
                <a:off x="6537932" y="443942"/>
                <a:ext cx="33741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/>
              <p:cNvCxnSpPr/>
              <p:nvPr/>
            </p:nvCxnSpPr>
            <p:spPr>
              <a:xfrm>
                <a:off x="6543814" y="777465"/>
                <a:ext cx="331536" cy="1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/>
              <p:cNvCxnSpPr/>
              <p:nvPr/>
            </p:nvCxnSpPr>
            <p:spPr>
              <a:xfrm flipH="1">
                <a:off x="6543814" y="772032"/>
                <a:ext cx="1261" cy="350328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/>
            </p:nvCxnSpPr>
            <p:spPr>
              <a:xfrm flipV="1">
                <a:off x="6537932" y="1123176"/>
                <a:ext cx="276278" cy="1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椭圆 150"/>
              <p:cNvSpPr/>
              <p:nvPr/>
            </p:nvSpPr>
            <p:spPr>
              <a:xfrm>
                <a:off x="6797294" y="402677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椭圆 151"/>
              <p:cNvSpPr/>
              <p:nvPr/>
            </p:nvSpPr>
            <p:spPr>
              <a:xfrm>
                <a:off x="6797294" y="735355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椭圆 152"/>
              <p:cNvSpPr/>
              <p:nvPr/>
            </p:nvSpPr>
            <p:spPr>
              <a:xfrm>
                <a:off x="6797294" y="1080425"/>
                <a:ext cx="83871" cy="83871"/>
              </a:xfrm>
              <a:prstGeom prst="ellipse">
                <a:avLst/>
              </a:prstGeom>
              <a:solidFill>
                <a:srgbClr val="AF1E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25" name="平行四边形 49"/>
          <p:cNvSpPr/>
          <p:nvPr/>
        </p:nvSpPr>
        <p:spPr>
          <a:xfrm>
            <a:off x="3356914" y="1672139"/>
            <a:ext cx="2801465" cy="796333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邓小平理论的精髓和首要的</a:t>
            </a:r>
          </a:p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基本的理论问题</a:t>
            </a:r>
          </a:p>
        </p:txBody>
      </p:sp>
      <p:sp>
        <p:nvSpPr>
          <p:cNvPr id="158" name="平行四边形 49"/>
          <p:cNvSpPr/>
          <p:nvPr/>
        </p:nvSpPr>
        <p:spPr>
          <a:xfrm>
            <a:off x="3352309" y="3258773"/>
            <a:ext cx="2801465" cy="796333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邓小平理论的</a:t>
            </a:r>
          </a:p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59" name="平行四边形 49"/>
          <p:cNvSpPr/>
          <p:nvPr/>
        </p:nvSpPr>
        <p:spPr>
          <a:xfrm>
            <a:off x="3352309" y="5671372"/>
            <a:ext cx="2801465" cy="796333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邓小平理论的</a:t>
            </a:r>
          </a:p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历史地位</a:t>
            </a:r>
          </a:p>
        </p:txBody>
      </p:sp>
      <p:sp>
        <p:nvSpPr>
          <p:cNvPr id="160" name="平行四边形 49"/>
          <p:cNvSpPr/>
          <p:nvPr/>
        </p:nvSpPr>
        <p:spPr>
          <a:xfrm>
            <a:off x="3352309" y="453528"/>
            <a:ext cx="2801465" cy="620973"/>
          </a:xfrm>
          <a:prstGeom prst="roundRect">
            <a:avLst/>
          </a:prstGeom>
          <a:solidFill>
            <a:schemeClr val="bg1"/>
          </a:solidFill>
          <a:ln w="38100">
            <a:gradFill>
              <a:gsLst>
                <a:gs pos="41000">
                  <a:srgbClr val="B82C24"/>
                </a:gs>
                <a:gs pos="100000">
                  <a:srgbClr val="E97C30"/>
                </a:gs>
              </a:gsLst>
              <a:lin ang="7800000" scaled="0"/>
            </a:gradFill>
          </a:ln>
          <a:effectLst>
            <a:outerShdw blurRad="76200" dir="18900000" sy="23000" kx="-1200000" algn="bl" rotWithShape="0">
              <a:schemeClr val="bg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邓小平理论形成和发展</a:t>
            </a:r>
          </a:p>
        </p:txBody>
      </p:sp>
      <p:sp>
        <p:nvSpPr>
          <p:cNvPr id="122" name="圆角矩形 61"/>
          <p:cNvSpPr/>
          <p:nvPr/>
        </p:nvSpPr>
        <p:spPr>
          <a:xfrm>
            <a:off x="596899" y="3199607"/>
            <a:ext cx="1962935" cy="914663"/>
          </a:xfrm>
          <a:prstGeom prst="roundRect">
            <a:avLst/>
          </a:prstGeom>
          <a:gradFill>
            <a:gsLst>
              <a:gs pos="52000">
                <a:srgbClr val="AF1E22"/>
              </a:gs>
              <a:gs pos="100000">
                <a:srgbClr val="E97C30"/>
              </a:gs>
            </a:gsLst>
            <a:lin ang="2400000" scaled="0"/>
          </a:gradFill>
          <a:ln>
            <a:noFill/>
          </a:ln>
          <a:effectLst>
            <a:outerShdw blurRad="584200" dist="292100" dir="2100000" algn="t" rotWithShape="0">
              <a:srgbClr val="AF1E22">
                <a:alpha val="3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邓小平理论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6169599" y="2473318"/>
            <a:ext cx="4220913" cy="3449344"/>
            <a:chOff x="6093765" y="2417540"/>
            <a:chExt cx="4220913" cy="3449344"/>
          </a:xfrm>
        </p:grpSpPr>
        <p:grpSp>
          <p:nvGrpSpPr>
            <p:cNvPr id="71" name="组合 70"/>
            <p:cNvGrpSpPr/>
            <p:nvPr/>
          </p:nvGrpSpPr>
          <p:grpSpPr>
            <a:xfrm>
              <a:off x="6718822" y="2417540"/>
              <a:ext cx="3595856" cy="3449344"/>
              <a:chOff x="6679683" y="1609957"/>
              <a:chExt cx="3595856" cy="3449344"/>
            </a:xfrm>
          </p:grpSpPr>
          <p:sp>
            <p:nvSpPr>
              <p:cNvPr id="55" name="矩形 54"/>
              <p:cNvSpPr/>
              <p:nvPr/>
            </p:nvSpPr>
            <p:spPr>
              <a:xfrm>
                <a:off x="6679683" y="1609957"/>
                <a:ext cx="323678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社会主义初级阶段理论和党的基本路线</a:t>
                </a:r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6679683" y="1959020"/>
                <a:ext cx="287771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社会主义根本任务和发展战略理论</a:t>
                </a:r>
              </a:p>
            </p:txBody>
          </p:sp>
          <p:sp>
            <p:nvSpPr>
              <p:cNvPr id="57" name="矩形 56"/>
              <p:cNvSpPr/>
              <p:nvPr/>
            </p:nvSpPr>
            <p:spPr>
              <a:xfrm>
                <a:off x="6679683" y="2308083"/>
                <a:ext cx="359585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社会主义改革开放和社会主义市场经济理论</a:t>
                </a:r>
              </a:p>
            </p:txBody>
          </p:sp>
          <p:sp>
            <p:nvSpPr>
              <p:cNvPr id="64" name="矩形 63"/>
              <p:cNvSpPr/>
              <p:nvPr/>
            </p:nvSpPr>
            <p:spPr>
              <a:xfrm>
                <a:off x="6679683" y="4751524"/>
                <a:ext cx="18473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6735684" y="3353430"/>
                <a:ext cx="287771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中国特色社会主义外交和国际战略</a:t>
                </a:r>
              </a:p>
            </p:txBody>
          </p:sp>
        </p:grpSp>
        <p:grpSp>
          <p:nvGrpSpPr>
            <p:cNvPr id="129" name="组合 128"/>
            <p:cNvGrpSpPr/>
            <p:nvPr/>
          </p:nvGrpSpPr>
          <p:grpSpPr>
            <a:xfrm>
              <a:off x="6393891" y="2542864"/>
              <a:ext cx="356290" cy="2148160"/>
              <a:chOff x="6354752" y="1795241"/>
              <a:chExt cx="356290" cy="2148160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354752" y="1795241"/>
                <a:ext cx="356290" cy="362118"/>
                <a:chOff x="6512967" y="402677"/>
                <a:chExt cx="356290" cy="362118"/>
              </a:xfrm>
            </p:grpSpPr>
            <p:cxnSp>
              <p:nvCxnSpPr>
                <p:cNvPr id="76" name="直接连接符 75"/>
                <p:cNvCxnSpPr/>
                <p:nvPr/>
              </p:nvCxnSpPr>
              <p:spPr>
                <a:xfrm flipV="1">
                  <a:off x="6512967" y="443943"/>
                  <a:ext cx="0" cy="320852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连接符 76"/>
                <p:cNvCxnSpPr/>
                <p:nvPr/>
              </p:nvCxnSpPr>
              <p:spPr>
                <a:xfrm>
                  <a:off x="6526024" y="443942"/>
                  <a:ext cx="337418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椭圆 77"/>
                <p:cNvSpPr/>
                <p:nvPr/>
              </p:nvSpPr>
              <p:spPr>
                <a:xfrm>
                  <a:off x="6785386" y="402677"/>
                  <a:ext cx="83871" cy="83871"/>
                </a:xfrm>
                <a:prstGeom prst="ellipse">
                  <a:avLst/>
                </a:prstGeom>
                <a:solidFill>
                  <a:srgbClr val="AF1E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81" name="组合 80"/>
              <p:cNvGrpSpPr/>
              <p:nvPr/>
            </p:nvGrpSpPr>
            <p:grpSpPr>
              <a:xfrm>
                <a:off x="6354752" y="2116094"/>
                <a:ext cx="356290" cy="404134"/>
                <a:chOff x="6512967" y="402677"/>
                <a:chExt cx="356290" cy="404134"/>
              </a:xfrm>
            </p:grpSpPr>
            <p:cxnSp>
              <p:nvCxnSpPr>
                <p:cNvPr id="82" name="直接连接符 81"/>
                <p:cNvCxnSpPr/>
                <p:nvPr/>
              </p:nvCxnSpPr>
              <p:spPr>
                <a:xfrm flipV="1">
                  <a:off x="6512967" y="443943"/>
                  <a:ext cx="0" cy="362868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连接符 82"/>
                <p:cNvCxnSpPr/>
                <p:nvPr/>
              </p:nvCxnSpPr>
              <p:spPr>
                <a:xfrm>
                  <a:off x="6526024" y="443942"/>
                  <a:ext cx="337418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椭圆 83"/>
                <p:cNvSpPr/>
                <p:nvPr/>
              </p:nvSpPr>
              <p:spPr>
                <a:xfrm>
                  <a:off x="6785386" y="402677"/>
                  <a:ext cx="83871" cy="83871"/>
                </a:xfrm>
                <a:prstGeom prst="ellipse">
                  <a:avLst/>
                </a:prstGeom>
                <a:solidFill>
                  <a:srgbClr val="AF1E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86" name="组合 85"/>
              <p:cNvGrpSpPr/>
              <p:nvPr/>
            </p:nvGrpSpPr>
            <p:grpSpPr>
              <a:xfrm>
                <a:off x="6367084" y="2480042"/>
                <a:ext cx="343233" cy="412358"/>
                <a:chOff x="6526024" y="402677"/>
                <a:chExt cx="343233" cy="417586"/>
              </a:xfrm>
            </p:grpSpPr>
            <p:cxnSp>
              <p:nvCxnSpPr>
                <p:cNvPr id="87" name="直接连接符 86"/>
                <p:cNvCxnSpPr/>
                <p:nvPr/>
              </p:nvCxnSpPr>
              <p:spPr>
                <a:xfrm flipV="1">
                  <a:off x="6528207" y="443943"/>
                  <a:ext cx="0" cy="37632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直接连接符 87"/>
                <p:cNvCxnSpPr/>
                <p:nvPr/>
              </p:nvCxnSpPr>
              <p:spPr>
                <a:xfrm>
                  <a:off x="6526024" y="443942"/>
                  <a:ext cx="337418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9" name="椭圆 88"/>
                <p:cNvSpPr/>
                <p:nvPr/>
              </p:nvSpPr>
              <p:spPr>
                <a:xfrm>
                  <a:off x="6785386" y="402677"/>
                  <a:ext cx="83871" cy="83871"/>
                </a:xfrm>
                <a:prstGeom prst="ellipse">
                  <a:avLst/>
                </a:prstGeom>
                <a:solidFill>
                  <a:srgbClr val="AF1E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91" name="组合 90"/>
              <p:cNvGrpSpPr/>
              <p:nvPr/>
            </p:nvGrpSpPr>
            <p:grpSpPr>
              <a:xfrm>
                <a:off x="6367084" y="2831377"/>
                <a:ext cx="343233" cy="386977"/>
                <a:chOff x="6526024" y="402677"/>
                <a:chExt cx="343233" cy="386977"/>
              </a:xfrm>
            </p:grpSpPr>
            <p:cxnSp>
              <p:nvCxnSpPr>
                <p:cNvPr id="92" name="直接连接符 91"/>
                <p:cNvCxnSpPr/>
                <p:nvPr/>
              </p:nvCxnSpPr>
              <p:spPr>
                <a:xfrm flipV="1">
                  <a:off x="6528207" y="443943"/>
                  <a:ext cx="0" cy="345711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直接连接符 92"/>
                <p:cNvCxnSpPr/>
                <p:nvPr/>
              </p:nvCxnSpPr>
              <p:spPr>
                <a:xfrm>
                  <a:off x="6526024" y="443942"/>
                  <a:ext cx="337418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4" name="椭圆 93"/>
                <p:cNvSpPr/>
                <p:nvPr/>
              </p:nvSpPr>
              <p:spPr>
                <a:xfrm>
                  <a:off x="6785386" y="402677"/>
                  <a:ext cx="83871" cy="83871"/>
                </a:xfrm>
                <a:prstGeom prst="ellipse">
                  <a:avLst/>
                </a:prstGeom>
                <a:solidFill>
                  <a:srgbClr val="AF1E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96" name="组合 95"/>
              <p:cNvGrpSpPr/>
              <p:nvPr/>
            </p:nvGrpSpPr>
            <p:grpSpPr>
              <a:xfrm>
                <a:off x="6367084" y="3162882"/>
                <a:ext cx="343233" cy="404535"/>
                <a:chOff x="6526024" y="402677"/>
                <a:chExt cx="343233" cy="404535"/>
              </a:xfrm>
            </p:grpSpPr>
            <p:cxnSp>
              <p:nvCxnSpPr>
                <p:cNvPr id="97" name="直接连接符 96"/>
                <p:cNvCxnSpPr/>
                <p:nvPr/>
              </p:nvCxnSpPr>
              <p:spPr>
                <a:xfrm flipV="1">
                  <a:off x="6528207" y="443943"/>
                  <a:ext cx="0" cy="36326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直接连接符 97"/>
                <p:cNvCxnSpPr/>
                <p:nvPr/>
              </p:nvCxnSpPr>
              <p:spPr>
                <a:xfrm>
                  <a:off x="6526024" y="443942"/>
                  <a:ext cx="337418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" name="椭圆 98"/>
                <p:cNvSpPr/>
                <p:nvPr/>
              </p:nvSpPr>
              <p:spPr>
                <a:xfrm>
                  <a:off x="6785386" y="402677"/>
                  <a:ext cx="83871" cy="83871"/>
                </a:xfrm>
                <a:prstGeom prst="ellipse">
                  <a:avLst/>
                </a:prstGeom>
                <a:solidFill>
                  <a:srgbClr val="AF1E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01" name="组合 100"/>
              <p:cNvGrpSpPr/>
              <p:nvPr/>
            </p:nvGrpSpPr>
            <p:grpSpPr>
              <a:xfrm>
                <a:off x="6364176" y="3527003"/>
                <a:ext cx="343233" cy="399811"/>
                <a:chOff x="6526024" y="402677"/>
                <a:chExt cx="343233" cy="399811"/>
              </a:xfrm>
            </p:grpSpPr>
            <p:cxnSp>
              <p:nvCxnSpPr>
                <p:cNvPr id="102" name="直接连接符 101"/>
                <p:cNvCxnSpPr/>
                <p:nvPr/>
              </p:nvCxnSpPr>
              <p:spPr>
                <a:xfrm flipV="1">
                  <a:off x="6531115" y="443943"/>
                  <a:ext cx="0" cy="358545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接连接符 102"/>
                <p:cNvCxnSpPr/>
                <p:nvPr/>
              </p:nvCxnSpPr>
              <p:spPr>
                <a:xfrm>
                  <a:off x="6526024" y="443516"/>
                  <a:ext cx="337418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" name="椭圆 103"/>
                <p:cNvSpPr/>
                <p:nvPr/>
              </p:nvSpPr>
              <p:spPr>
                <a:xfrm>
                  <a:off x="6785386" y="402677"/>
                  <a:ext cx="83871" cy="83871"/>
                </a:xfrm>
                <a:prstGeom prst="ellipse">
                  <a:avLst/>
                </a:prstGeom>
                <a:solidFill>
                  <a:srgbClr val="AF1E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6364176" y="3872465"/>
                <a:ext cx="337418" cy="61049"/>
                <a:chOff x="6526024" y="389593"/>
                <a:chExt cx="337418" cy="61049"/>
              </a:xfrm>
            </p:grpSpPr>
            <p:cxnSp>
              <p:nvCxnSpPr>
                <p:cNvPr id="109" name="直接连接符 108"/>
                <p:cNvCxnSpPr/>
                <p:nvPr/>
              </p:nvCxnSpPr>
              <p:spPr>
                <a:xfrm>
                  <a:off x="6526024" y="428702"/>
                  <a:ext cx="337418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0" name="椭圆 109"/>
                <p:cNvSpPr/>
                <p:nvPr/>
              </p:nvSpPr>
              <p:spPr>
                <a:xfrm>
                  <a:off x="6783405" y="389593"/>
                  <a:ext cx="80037" cy="61049"/>
                </a:xfrm>
                <a:prstGeom prst="ellipse">
                  <a:avLst/>
                </a:prstGeom>
                <a:solidFill>
                  <a:srgbClr val="AF1E2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cxnSp>
            <p:nvCxnSpPr>
              <p:cNvPr id="119" name="直接连接符 118"/>
              <p:cNvCxnSpPr/>
              <p:nvPr/>
            </p:nvCxnSpPr>
            <p:spPr>
              <a:xfrm>
                <a:off x="6400773" y="3926814"/>
                <a:ext cx="6511" cy="16587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0" name="直接连接符 129"/>
            <p:cNvCxnSpPr/>
            <p:nvPr/>
          </p:nvCxnSpPr>
          <p:spPr>
            <a:xfrm>
              <a:off x="6093765" y="3600005"/>
              <a:ext cx="30955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矩形 104"/>
            <p:cNvSpPr/>
            <p:nvPr/>
          </p:nvSpPr>
          <p:spPr>
            <a:xfrm>
              <a:off x="6660696" y="3457419"/>
              <a:ext cx="215956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“两手抓，两手都要硬”</a:t>
              </a:r>
            </a:p>
          </p:txBody>
        </p:sp>
        <p:sp>
          <p:nvSpPr>
            <p:cNvPr id="106" name="矩形 105"/>
            <p:cNvSpPr/>
            <p:nvPr/>
          </p:nvSpPr>
          <p:spPr>
            <a:xfrm>
              <a:off x="6660696" y="3806482"/>
              <a:ext cx="203292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“一国两制”战略构想</a:t>
              </a:r>
            </a:p>
          </p:txBody>
        </p:sp>
        <p:sp>
          <p:nvSpPr>
            <p:cNvPr id="112" name="矩形 111"/>
            <p:cNvSpPr/>
            <p:nvPr/>
          </p:nvSpPr>
          <p:spPr>
            <a:xfrm>
              <a:off x="6765467" y="4514063"/>
              <a:ext cx="126188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党的建设理论</a:t>
              </a:r>
            </a:p>
          </p:txBody>
        </p:sp>
      </p:grpSp>
      <p:sp>
        <p:nvSpPr>
          <p:cNvPr id="95" name="矩形 94">
            <a:extLst>
              <a:ext uri="{FF2B5EF4-FFF2-40B4-BE49-F238E27FC236}">
                <a16:creationId xmlns:a16="http://schemas.microsoft.com/office/drawing/2014/main" id="{06B5FE84-8F8D-4C08-901B-A598333612E8}"/>
              </a:ext>
            </a:extLst>
          </p:cNvPr>
          <p:cNvSpPr/>
          <p:nvPr/>
        </p:nvSpPr>
        <p:spPr>
          <a:xfrm>
            <a:off x="6792091" y="1698960"/>
            <a:ext cx="18004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解放思想、实事求是</a:t>
            </a:r>
          </a:p>
        </p:txBody>
      </p: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FB219796-DEDE-4FA8-B93B-CB4004DD3226}"/>
              </a:ext>
            </a:extLst>
          </p:cNvPr>
          <p:cNvCxnSpPr>
            <a:cxnSpLocks/>
          </p:cNvCxnSpPr>
          <p:nvPr/>
        </p:nvCxnSpPr>
        <p:spPr>
          <a:xfrm>
            <a:off x="6165416" y="1849949"/>
            <a:ext cx="54717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B534F154-1D30-4FDD-8B9A-AE24ACB0B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372" y="1817110"/>
            <a:ext cx="91153" cy="7292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5709BF9-A738-B485-E07E-6879B2DE97A7}"/>
              </a:ext>
            </a:extLst>
          </p:cNvPr>
          <p:cNvSpPr/>
          <p:nvPr/>
        </p:nvSpPr>
        <p:spPr>
          <a:xfrm>
            <a:off x="6846308" y="1429834"/>
            <a:ext cx="19800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邓小平独特的个人经历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FD72A1-9602-1FF9-06FC-28BFDCC72163}"/>
              </a:ext>
            </a:extLst>
          </p:cNvPr>
          <p:cNvSpPr/>
          <p:nvPr/>
        </p:nvSpPr>
        <p:spPr>
          <a:xfrm>
            <a:off x="6710479" y="1158157"/>
            <a:ext cx="41344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马列主义毛泽东思想是邓小平理论形成的理论基础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86E96B0-E1E8-9D66-6721-6D810AB34C19}"/>
              </a:ext>
            </a:extLst>
          </p:cNvPr>
          <p:cNvCxnSpPr/>
          <p:nvPr/>
        </p:nvCxnSpPr>
        <p:spPr>
          <a:xfrm>
            <a:off x="6465627" y="1583103"/>
            <a:ext cx="33741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02FFA6F-BE6A-4E79-E077-F865058FCD9A}"/>
              </a:ext>
            </a:extLst>
          </p:cNvPr>
          <p:cNvCxnSpPr/>
          <p:nvPr/>
        </p:nvCxnSpPr>
        <p:spPr>
          <a:xfrm>
            <a:off x="6473083" y="1312451"/>
            <a:ext cx="33741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AFA607EC-5044-78E8-97C6-7A235EDEB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183" y="1275615"/>
            <a:ext cx="91153" cy="7292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5CBA0D7-20CC-67E1-CD44-69990E258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344" y="1542685"/>
            <a:ext cx="91153" cy="729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eaaca2c0-29be-4ff5-98b6-3e583c9d4766"/>
  <p:tag name="COMMONDATA" val="eyJoZGlkIjoiMzZkNDRkOGJhNmQ1MjU2MDg4MmYyYmE0ZjIzZDM1MD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1266</TotalTime>
  <Words>158</Words>
  <Application>Microsoft Office PowerPoint</Application>
  <PresentationFormat>宽屏</PresentationFormat>
  <Paragraphs>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微软雅黑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Daxing He</dc:creator>
  <cp:lastModifiedBy>sccddyr@126.com</cp:lastModifiedBy>
  <cp:revision>390</cp:revision>
  <dcterms:created xsi:type="dcterms:W3CDTF">2020-02-09T12:51:00Z</dcterms:created>
  <dcterms:modified xsi:type="dcterms:W3CDTF">2026-06-16T03:22:16Z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878FE11748B74FFBAEC748BB859624AA_13</vt:lpwstr>
  </property>
  <property fmtid="{D5CDD505-2E9C-101B-9397-08002B2CF9AE}" pid="3" name="KSOProductBuildVer">
    <vt:lpwstr>2052-12.1.0.16729</vt:lpwstr>
  </property>
</Properties>
</file>