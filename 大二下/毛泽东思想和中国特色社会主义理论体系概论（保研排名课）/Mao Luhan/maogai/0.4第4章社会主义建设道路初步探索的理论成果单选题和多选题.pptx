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39" r:id="rId2"/>
    <p:sldId id="340" r:id="rId3"/>
    <p:sldId id="341" r:id="rId4"/>
    <p:sldId id="342" r:id="rId5"/>
    <p:sldId id="343" r:id="rId6"/>
    <p:sldId id="344" r:id="rId7"/>
    <p:sldId id="345" r:id="rId8"/>
    <p:sldId id="346" r:id="rId9"/>
    <p:sldId id="347" r:id="rId10"/>
    <p:sldId id="348" r:id="rId11"/>
    <p:sldId id="375" r:id="rId12"/>
    <p:sldId id="349" r:id="rId13"/>
    <p:sldId id="366" r:id="rId14"/>
    <p:sldId id="367" r:id="rId15"/>
    <p:sldId id="368" r:id="rId16"/>
    <p:sldId id="369" r:id="rId17"/>
    <p:sldId id="370"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2" d="100"/>
          <a:sy n="102" d="100"/>
        </p:scale>
        <p:origin x="88" y="184"/>
      </p:cViewPr>
      <p:guideLst>
        <p:guide orient="horz" pos="2160"/>
        <p:guide pos="386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1114425"/>
            <a:ext cx="10334625" cy="4070350"/>
          </a:xfrm>
        </p:spPr>
        <p:txBody>
          <a:bodyPr>
            <a:normAutofit/>
          </a:bodyPr>
          <a:lstStyle/>
          <a:p>
            <a:pPr algn="l">
              <a:lnSpc>
                <a:spcPct val="140000"/>
              </a:lnSpc>
            </a:pPr>
            <a:r>
              <a:rPr lang="en-US" altLang="zh-CN" sz="2665"/>
              <a:t>1.1956</a:t>
            </a:r>
            <a:r>
              <a:rPr lang="zh-CN" altLang="en-US" sz="2665"/>
              <a:t>年，毛泽东先后在中央政治局扩大会议和最高国务会议上，作了《论十大关系》的报告，确定了社会主义建设的基本方针是（</a:t>
            </a:r>
            <a:r>
              <a:rPr lang="en-US" altLang="zh-CN" sz="2665"/>
              <a:t>   </a:t>
            </a:r>
            <a:r>
              <a:rPr lang="zh-CN" altLang="en-US" sz="2665"/>
              <a:t>）。</a:t>
            </a:r>
            <a:br>
              <a:rPr lang="zh-CN" altLang="en-US" sz="2665"/>
            </a:br>
            <a:r>
              <a:rPr lang="en-US" altLang="zh-CN" sz="2665"/>
              <a:t>A.</a:t>
            </a:r>
            <a:r>
              <a:rPr lang="zh-CN" altLang="en-US" sz="2665"/>
              <a:t>集中力量发展生产力</a:t>
            </a:r>
            <a:br>
              <a:rPr lang="zh-CN" altLang="en-US" sz="2665"/>
            </a:br>
            <a:r>
              <a:rPr lang="en-US" altLang="zh-CN" sz="2665"/>
              <a:t>B.</a:t>
            </a:r>
            <a:r>
              <a:rPr lang="zh-CN" altLang="en-US" sz="2665"/>
              <a:t>走中国工业化道路</a:t>
            </a:r>
            <a:br>
              <a:rPr lang="zh-CN" altLang="en-US" sz="2665"/>
            </a:br>
            <a:r>
              <a:rPr lang="en-US" altLang="zh-CN" sz="2665"/>
              <a:t>C.</a:t>
            </a:r>
            <a:r>
              <a:rPr lang="zh-CN" altLang="en-US" sz="2665"/>
              <a:t>调动一切积极因素为社会主义事业服务</a:t>
            </a:r>
            <a:br>
              <a:rPr lang="zh-CN" altLang="en-US" sz="2665"/>
            </a:br>
            <a:r>
              <a:rPr lang="en-US" altLang="zh-CN" sz="2665"/>
              <a:t>D.</a:t>
            </a:r>
            <a:r>
              <a:rPr lang="zh-CN" altLang="en-US" sz="2665"/>
              <a:t>独立自主地探索适合中国情况的社会主义建设道路</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1114425"/>
            <a:ext cx="10334625" cy="4070350"/>
          </a:xfrm>
        </p:spPr>
        <p:txBody>
          <a:bodyPr>
            <a:normAutofit/>
          </a:bodyPr>
          <a:lstStyle/>
          <a:p>
            <a:pPr algn="l">
              <a:lnSpc>
                <a:spcPct val="140000"/>
              </a:lnSpc>
            </a:pPr>
            <a:r>
              <a:rPr lang="en-US" altLang="zh-CN" sz="2665" dirty="0">
                <a:solidFill>
                  <a:srgbClr val="FF0000"/>
                </a:solidFill>
              </a:rPr>
              <a:t>2</a:t>
            </a:r>
            <a:r>
              <a:rPr lang="en-US" altLang="zh-CN" sz="2665" dirty="0"/>
              <a:t>.</a:t>
            </a:r>
            <a:r>
              <a:rPr lang="zh-CN" altLang="en-US" sz="2665" dirty="0"/>
              <a:t>党的八大前后，特别是毛泽东在</a:t>
            </a:r>
            <a:r>
              <a:rPr lang="en-US" altLang="zh-CN" sz="2665" dirty="0"/>
              <a:t>1957</a:t>
            </a:r>
            <a:r>
              <a:rPr lang="zh-CN" altLang="en-US" sz="2665" dirty="0"/>
              <a:t>年</a:t>
            </a:r>
            <a:r>
              <a:rPr lang="en-US" altLang="zh-CN" sz="2665" dirty="0"/>
              <a:t>2</a:t>
            </a:r>
            <a:r>
              <a:rPr lang="zh-CN" altLang="en-US" sz="2665" dirty="0"/>
              <a:t>月所作的（</a:t>
            </a:r>
            <a:r>
              <a:rPr lang="en-US" altLang="zh-CN" sz="2665" dirty="0"/>
              <a:t>  </a:t>
            </a:r>
            <a:r>
              <a:rPr lang="zh-CN" altLang="en-US" sz="2665" dirty="0"/>
              <a:t>）的报告，系统论述了社会主义社会矛盾的理论。</a:t>
            </a:r>
            <a:br>
              <a:rPr lang="zh-CN" altLang="en-US" sz="2665" dirty="0"/>
            </a:br>
            <a:r>
              <a:rPr lang="en-US" altLang="zh-CN" sz="2665" dirty="0"/>
              <a:t>A.</a:t>
            </a:r>
            <a:r>
              <a:rPr lang="zh-CN" altLang="en-US" sz="2665" dirty="0"/>
              <a:t>《论十大关系》</a:t>
            </a:r>
            <a:br>
              <a:rPr lang="zh-CN" altLang="en-US" sz="2665" dirty="0"/>
            </a:br>
            <a:r>
              <a:rPr lang="en-US" altLang="zh-CN" sz="2665" dirty="0"/>
              <a:t>B.</a:t>
            </a:r>
            <a:r>
              <a:rPr lang="zh-CN" altLang="en-US" sz="2665" dirty="0"/>
              <a:t>《关于正确处理人民内部矛盾的问题》</a:t>
            </a:r>
            <a:br>
              <a:rPr lang="zh-CN" altLang="en-US" sz="2665" dirty="0"/>
            </a:br>
            <a:r>
              <a:rPr lang="en-US" altLang="zh-CN" sz="2665" dirty="0"/>
              <a:t>C.</a:t>
            </a:r>
            <a:r>
              <a:rPr lang="zh-CN" altLang="en-US" sz="2665" dirty="0"/>
              <a:t>《坚持艰苦奋斗，密切联系群众》</a:t>
            </a:r>
            <a:br>
              <a:rPr lang="zh-CN" altLang="en-US" sz="2665" dirty="0"/>
            </a:br>
            <a:r>
              <a:rPr lang="en-US" altLang="zh-CN" sz="2665" dirty="0"/>
              <a:t>D.</a:t>
            </a:r>
            <a:r>
              <a:rPr lang="zh-CN" altLang="en-US" sz="2665" dirty="0"/>
              <a:t>《中国共产党第八次全国代表大会开幕词》</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1114425"/>
            <a:ext cx="10334625" cy="4070350"/>
          </a:xfrm>
        </p:spPr>
        <p:txBody>
          <a:bodyPr>
            <a:normAutofit/>
          </a:bodyPr>
          <a:lstStyle/>
          <a:p>
            <a:pPr algn="l">
              <a:lnSpc>
                <a:spcPct val="140000"/>
              </a:lnSpc>
            </a:pPr>
            <a:r>
              <a:rPr lang="en-US" altLang="zh-CN" sz="2665" dirty="0">
                <a:solidFill>
                  <a:srgbClr val="FF0000"/>
                </a:solidFill>
              </a:rPr>
              <a:t>3.</a:t>
            </a:r>
            <a:r>
              <a:rPr lang="zh-CN" altLang="en-US" sz="2665" dirty="0"/>
              <a:t>在社会主义建设的初步探索阶段，关于正确处理人民内部矛盾的总的方针是（</a:t>
            </a:r>
            <a:r>
              <a:rPr lang="en-US" altLang="zh-CN" sz="2665" dirty="0"/>
              <a:t>   </a:t>
            </a:r>
            <a:r>
              <a:rPr lang="zh-CN" altLang="en-US" sz="2665" dirty="0"/>
              <a:t>）。</a:t>
            </a:r>
            <a:br>
              <a:rPr lang="zh-CN" altLang="en-US" sz="2665" dirty="0"/>
            </a:br>
            <a:r>
              <a:rPr lang="en-US" altLang="zh-CN" sz="2665" dirty="0"/>
              <a:t>A.</a:t>
            </a:r>
            <a:r>
              <a:rPr lang="zh-CN" altLang="en-US" sz="2665" dirty="0"/>
              <a:t>团结</a:t>
            </a:r>
            <a:r>
              <a:rPr lang="en-US" altLang="zh-CN" sz="2665" dirty="0"/>
              <a:t>-</a:t>
            </a:r>
            <a:r>
              <a:rPr lang="zh-CN" altLang="en-US" sz="2665" dirty="0"/>
              <a:t>批评</a:t>
            </a:r>
            <a:r>
              <a:rPr lang="en-US" altLang="zh-CN" sz="2665" dirty="0"/>
              <a:t>-</a:t>
            </a:r>
            <a:r>
              <a:rPr lang="zh-CN" altLang="en-US" sz="2665" dirty="0"/>
              <a:t>团结的方针</a:t>
            </a:r>
            <a:br>
              <a:rPr lang="zh-CN" altLang="en-US" sz="2665" dirty="0"/>
            </a:br>
            <a:r>
              <a:rPr lang="en-US" altLang="zh-CN" sz="2665" dirty="0"/>
              <a:t>B.</a:t>
            </a:r>
            <a:r>
              <a:rPr lang="zh-CN" altLang="en-US" sz="2665" dirty="0"/>
              <a:t>统筹兼顾、适当安排的方针</a:t>
            </a:r>
            <a:br>
              <a:rPr lang="zh-CN" altLang="en-US" sz="2665" dirty="0"/>
            </a:br>
            <a:r>
              <a:rPr lang="en-US" altLang="zh-CN" sz="2665" dirty="0"/>
              <a:t>C.</a:t>
            </a:r>
            <a:r>
              <a:rPr lang="zh-CN" altLang="en-US" sz="2665" dirty="0"/>
              <a:t>用民主的方法解决人民内部矛盾</a:t>
            </a:r>
            <a:r>
              <a:rPr lang="en-US" altLang="zh-CN" sz="2665" dirty="0"/>
              <a:t>  </a:t>
            </a:r>
            <a:br>
              <a:rPr lang="en-US" altLang="zh-CN" sz="2665" dirty="0"/>
            </a:br>
            <a:r>
              <a:rPr lang="en-US" altLang="zh-CN" sz="2665" dirty="0"/>
              <a:t>D.</a:t>
            </a:r>
            <a:r>
              <a:rPr lang="zh-CN" altLang="en-US" sz="2665" dirty="0"/>
              <a:t>坚持民主集中制原则，克服官僚主义，加强对群众的思想教育</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1114425"/>
            <a:ext cx="10334625" cy="4070350"/>
          </a:xfrm>
        </p:spPr>
        <p:txBody>
          <a:bodyPr>
            <a:normAutofit fontScale="90000"/>
          </a:bodyPr>
          <a:lstStyle/>
          <a:p>
            <a:pPr algn="l">
              <a:lnSpc>
                <a:spcPct val="140000"/>
              </a:lnSpc>
            </a:pPr>
            <a:r>
              <a:rPr lang="en-US" altLang="zh-CN" sz="2665" dirty="0">
                <a:solidFill>
                  <a:srgbClr val="FF0000"/>
                </a:solidFill>
              </a:rPr>
              <a:t>4.</a:t>
            </a:r>
            <a:r>
              <a:rPr lang="zh-CN" altLang="en-US" sz="2665" dirty="0"/>
              <a:t>随着我国生产资料私有制社会主义改造的基本完成，国内的社会矛盾和阶级关系发生重大变化。在此背景下，毛泽东在</a:t>
            </a:r>
            <a:r>
              <a:rPr lang="en-US" altLang="zh-CN" sz="2665" dirty="0"/>
              <a:t>1957</a:t>
            </a:r>
            <a:r>
              <a:rPr lang="zh-CN" altLang="en-US" sz="2665" dirty="0"/>
              <a:t>年</a:t>
            </a:r>
            <a:r>
              <a:rPr lang="en-US" altLang="zh-CN" sz="2665" dirty="0"/>
              <a:t>2</a:t>
            </a:r>
            <a:r>
              <a:rPr lang="zh-CN" altLang="en-US" sz="2665" dirty="0"/>
              <a:t>月作《关于正确处理人民内部矛盾的问题》的报告，明确提出把正确处理人民内部矛盾作为我国政治生活的主题，其根本着眼点是（</a:t>
            </a:r>
            <a:r>
              <a:rPr lang="en-US" altLang="zh-CN" sz="2665" dirty="0"/>
              <a:t>   </a:t>
            </a:r>
            <a:r>
              <a:rPr lang="zh-CN" altLang="en-US" sz="2665" dirty="0"/>
              <a:t>）</a:t>
            </a:r>
            <a:br>
              <a:rPr lang="zh-CN" altLang="en-US" sz="2665" dirty="0"/>
            </a:br>
            <a:r>
              <a:rPr lang="en-US" altLang="zh-CN" sz="2665" dirty="0"/>
              <a:t>A.</a:t>
            </a:r>
            <a:r>
              <a:rPr lang="zh-CN" altLang="en-US" sz="2665" dirty="0"/>
              <a:t>调动一切积极因素为社会主义建设服务</a:t>
            </a:r>
            <a:br>
              <a:rPr lang="zh-CN" altLang="en-US" sz="2665" dirty="0"/>
            </a:br>
            <a:r>
              <a:rPr lang="en-US" altLang="zh-CN" sz="2665" dirty="0"/>
              <a:t>B.</a:t>
            </a:r>
            <a:r>
              <a:rPr lang="zh-CN" altLang="en-US" sz="2665" dirty="0"/>
              <a:t>扩大社会主义民主，健全社会主义法制</a:t>
            </a:r>
            <a:br>
              <a:rPr lang="zh-CN" altLang="en-US" sz="2665" dirty="0"/>
            </a:br>
            <a:r>
              <a:rPr lang="en-US" altLang="zh-CN" sz="2665" dirty="0"/>
              <a:t>C.</a:t>
            </a:r>
            <a:r>
              <a:rPr lang="zh-CN" altLang="en-US" sz="2665" dirty="0"/>
              <a:t>维护社会稳定，实现长治久安</a:t>
            </a:r>
            <a:br>
              <a:rPr lang="zh-CN" altLang="en-US" sz="2665" dirty="0"/>
            </a:br>
            <a:r>
              <a:rPr lang="en-US" altLang="zh-CN" sz="2665" dirty="0"/>
              <a:t>D.</a:t>
            </a:r>
            <a:r>
              <a:rPr lang="zh-CN" altLang="en-US" sz="2665" dirty="0"/>
              <a:t>消除社会矛盾，实现民族大团</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1114425"/>
            <a:ext cx="10334625" cy="4070350"/>
          </a:xfrm>
        </p:spPr>
        <p:txBody>
          <a:bodyPr>
            <a:normAutofit fontScale="90000"/>
          </a:bodyPr>
          <a:lstStyle/>
          <a:p>
            <a:pPr algn="l">
              <a:lnSpc>
                <a:spcPct val="140000"/>
              </a:lnSpc>
            </a:pPr>
            <a:r>
              <a:rPr lang="en-US" altLang="zh-CN" sz="2665" dirty="0"/>
              <a:t>5.</a:t>
            </a:r>
            <a:r>
              <a:rPr lang="zh-CN" altLang="en-US" sz="2665" dirty="0"/>
              <a:t>党的八大正确分析了社会主义改造完成后我国社会主要矛盾的变化，指出，我们国内的主要矛盾是（</a:t>
            </a:r>
            <a:r>
              <a:rPr lang="en-US" altLang="zh-CN" sz="2665" dirty="0"/>
              <a:t>   </a:t>
            </a:r>
            <a:r>
              <a:rPr lang="zh-CN" altLang="en-US" sz="2665" dirty="0"/>
              <a:t>）。</a:t>
            </a:r>
            <a:br>
              <a:rPr lang="zh-CN" altLang="en-US" sz="2665" dirty="0"/>
            </a:br>
            <a:r>
              <a:rPr lang="en-US" altLang="zh-CN" sz="2665" dirty="0"/>
              <a:t>A. </a:t>
            </a:r>
            <a:r>
              <a:rPr lang="zh-CN" altLang="en-US" sz="2665" dirty="0"/>
              <a:t>工人阶级和资产阶级的矛盾</a:t>
            </a:r>
            <a:br>
              <a:rPr lang="zh-CN" altLang="en-US" sz="2665" dirty="0"/>
            </a:br>
            <a:r>
              <a:rPr lang="en-US" altLang="zh-CN" sz="2665" dirty="0"/>
              <a:t>B. </a:t>
            </a:r>
            <a:r>
              <a:rPr lang="zh-CN" altLang="en-US" sz="2665" dirty="0"/>
              <a:t>人民对于经济文化迅速发展的需要同当前经济文化不能满足人民需要的状况之间的矛盾</a:t>
            </a:r>
            <a:br>
              <a:rPr lang="zh-CN" altLang="en-US" sz="2665" dirty="0"/>
            </a:br>
            <a:r>
              <a:rPr lang="en-US" altLang="zh-CN" sz="2665" dirty="0"/>
              <a:t>C. </a:t>
            </a:r>
            <a:r>
              <a:rPr lang="zh-CN" altLang="en-US" sz="2665" dirty="0"/>
              <a:t>生产力和生产关系的矛盾</a:t>
            </a:r>
            <a:br>
              <a:rPr lang="zh-CN" altLang="en-US" sz="2665" dirty="0"/>
            </a:br>
            <a:r>
              <a:rPr lang="en-US" altLang="zh-CN" sz="2665" dirty="0"/>
              <a:t>D. </a:t>
            </a:r>
            <a:r>
              <a:rPr lang="zh-CN" altLang="en-US" sz="2665" dirty="0"/>
              <a:t>经济基础和上层建筑的矛盾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1114425"/>
            <a:ext cx="10334625" cy="4070350"/>
          </a:xfrm>
        </p:spPr>
        <p:txBody>
          <a:bodyPr>
            <a:normAutofit/>
          </a:bodyPr>
          <a:lstStyle/>
          <a:p>
            <a:pPr algn="l">
              <a:lnSpc>
                <a:spcPct val="140000"/>
              </a:lnSpc>
            </a:pPr>
            <a:r>
              <a:rPr lang="en-US" altLang="zh-CN" sz="2665"/>
              <a:t>6.</a:t>
            </a:r>
            <a:r>
              <a:rPr lang="zh-CN" altLang="en-US" sz="2665"/>
              <a:t>党的八大正确分析了社会主义制度基本建立起来后我国社会的主要矛盾，提出全国人民的主要任务是（</a:t>
            </a:r>
            <a:r>
              <a:rPr lang="en-US" altLang="zh-CN" sz="2665"/>
              <a:t>   </a:t>
            </a:r>
            <a:r>
              <a:rPr lang="zh-CN" altLang="en-US" sz="2665"/>
              <a:t>）。</a:t>
            </a:r>
            <a:br>
              <a:rPr lang="zh-CN" altLang="en-US" sz="2665"/>
            </a:br>
            <a:r>
              <a:rPr lang="en-US" altLang="zh-CN" sz="2665"/>
              <a:t>A. </a:t>
            </a:r>
            <a:r>
              <a:rPr lang="zh-CN" altLang="en-US" sz="2665"/>
              <a:t>集中力量发展社会生产力</a:t>
            </a:r>
            <a:br>
              <a:rPr lang="zh-CN" altLang="en-US" sz="2665"/>
            </a:br>
            <a:r>
              <a:rPr lang="en-US" altLang="zh-CN" sz="2665"/>
              <a:t>B. </a:t>
            </a:r>
            <a:r>
              <a:rPr lang="zh-CN" altLang="en-US" sz="2665"/>
              <a:t>集中力量消灭敌对势力</a:t>
            </a:r>
            <a:br>
              <a:rPr lang="zh-CN" altLang="en-US" sz="2665"/>
            </a:br>
            <a:r>
              <a:rPr lang="en-US" altLang="zh-CN" sz="2665"/>
              <a:t>C. </a:t>
            </a:r>
            <a:r>
              <a:rPr lang="zh-CN" altLang="en-US" sz="2665"/>
              <a:t>集中力量改造生产资料私有制</a:t>
            </a:r>
            <a:br>
              <a:rPr lang="zh-CN" altLang="en-US" sz="2665"/>
            </a:br>
            <a:r>
              <a:rPr lang="en-US" altLang="zh-CN" sz="2665"/>
              <a:t>D. </a:t>
            </a:r>
            <a:r>
              <a:rPr lang="zh-CN" altLang="en-US" sz="2665"/>
              <a:t>集中力量消灭剥削阶级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1114425"/>
            <a:ext cx="10334625" cy="4070350"/>
          </a:xfrm>
        </p:spPr>
        <p:txBody>
          <a:bodyPr>
            <a:normAutofit fontScale="90000"/>
          </a:bodyPr>
          <a:lstStyle/>
          <a:p>
            <a:pPr algn="l">
              <a:lnSpc>
                <a:spcPct val="140000"/>
              </a:lnSpc>
            </a:pPr>
            <a:r>
              <a:rPr lang="en-US" altLang="zh-CN" sz="2665"/>
              <a:t>7.</a:t>
            </a:r>
            <a:r>
              <a:rPr lang="zh-CN" altLang="en-US" sz="2665"/>
              <a:t>针对人民内部矛盾在具体实践中的不同情况，毛泽东提出了一系列具体方针、原则，针对人民内部矛盾在具体实践中的不同情况，实行（</a:t>
            </a:r>
            <a:r>
              <a:rPr lang="en-US" altLang="zh-CN" sz="2665"/>
              <a:t>   </a:t>
            </a:r>
            <a:r>
              <a:rPr lang="zh-CN" altLang="en-US" sz="2665"/>
              <a:t>）。</a:t>
            </a:r>
            <a:br>
              <a:rPr lang="zh-CN" altLang="en-US" sz="2665"/>
            </a:br>
            <a:r>
              <a:rPr lang="en-US" altLang="zh-CN" sz="2665"/>
              <a:t>A. </a:t>
            </a:r>
            <a:r>
              <a:rPr lang="zh-CN" altLang="en-US" sz="2665"/>
              <a:t>实行</a:t>
            </a:r>
            <a:r>
              <a:rPr lang="en-US" altLang="zh-CN" sz="2665"/>
              <a:t>“</a:t>
            </a:r>
            <a:r>
              <a:rPr lang="zh-CN" altLang="en-US" sz="2665"/>
              <a:t>团结一批评一团结</a:t>
            </a:r>
            <a:r>
              <a:rPr lang="en-US" altLang="zh-CN" sz="2665"/>
              <a:t>”</a:t>
            </a:r>
            <a:r>
              <a:rPr lang="zh-CN" altLang="en-US" sz="2665"/>
              <a:t>的方针</a:t>
            </a:r>
            <a:br>
              <a:rPr lang="zh-CN" altLang="en-US" sz="2665"/>
            </a:br>
            <a:r>
              <a:rPr lang="en-US" altLang="zh-CN" sz="2665"/>
              <a:t>B. “</a:t>
            </a:r>
            <a:r>
              <a:rPr lang="zh-CN" altLang="en-US" sz="2665"/>
              <a:t>长期共存、互相监督</a:t>
            </a:r>
            <a:r>
              <a:rPr lang="en-US" altLang="zh-CN" sz="2665"/>
              <a:t>”</a:t>
            </a:r>
            <a:r>
              <a:rPr lang="zh-CN" altLang="en-US" sz="2665"/>
              <a:t>的方针</a:t>
            </a:r>
            <a:br>
              <a:rPr lang="zh-CN" altLang="en-US" sz="2665"/>
            </a:br>
            <a:r>
              <a:rPr lang="en-US" altLang="zh-CN" sz="2665"/>
              <a:t>C. </a:t>
            </a:r>
            <a:r>
              <a:rPr lang="zh-CN" altLang="en-US" sz="2665"/>
              <a:t>统筹兼顾、适当安排的方针</a:t>
            </a:r>
            <a:br>
              <a:rPr lang="zh-CN" altLang="en-US" sz="2665"/>
            </a:br>
            <a:r>
              <a:rPr lang="en-US" altLang="zh-CN" sz="2665"/>
              <a:t>D. “</a:t>
            </a:r>
            <a:r>
              <a:rPr lang="zh-CN" altLang="en-US" sz="2665"/>
              <a:t>百花齐放、百家争鸣</a:t>
            </a:r>
            <a:r>
              <a:rPr lang="en-US" altLang="zh-CN" sz="2665"/>
              <a:t>”</a:t>
            </a:r>
            <a:r>
              <a:rPr lang="zh-CN" altLang="en-US" sz="2665"/>
              <a:t>的方针</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1114425"/>
            <a:ext cx="10334625" cy="4070350"/>
          </a:xfrm>
        </p:spPr>
        <p:txBody>
          <a:bodyPr>
            <a:normAutofit fontScale="90000"/>
          </a:bodyPr>
          <a:lstStyle/>
          <a:p>
            <a:pPr algn="l">
              <a:lnSpc>
                <a:spcPct val="140000"/>
              </a:lnSpc>
            </a:pPr>
            <a:r>
              <a:rPr lang="en-US" altLang="zh-CN" sz="2665"/>
              <a:t>8.</a:t>
            </a:r>
            <a:r>
              <a:rPr lang="zh-CN" altLang="en-US" sz="2665"/>
              <a:t>针对人民内部矛盾在具体实践中的不同情况，毛泽东提出了一系列具体方针、原则，对于物质利益、分配方面的人民内部矛盾</a:t>
            </a:r>
            <a:r>
              <a:rPr lang="en-US" altLang="zh-CN" sz="2665"/>
              <a:t>,</a:t>
            </a:r>
            <a:r>
              <a:rPr lang="zh-CN" altLang="en-US" sz="2665"/>
              <a:t>实行（</a:t>
            </a:r>
            <a:r>
              <a:rPr lang="en-US" altLang="zh-CN" sz="2665"/>
              <a:t>   </a:t>
            </a:r>
            <a:r>
              <a:rPr lang="zh-CN" altLang="en-US" sz="2665"/>
              <a:t>）。</a:t>
            </a:r>
            <a:br>
              <a:rPr lang="zh-CN" altLang="en-US" sz="2665"/>
            </a:br>
            <a:r>
              <a:rPr lang="en-US" altLang="zh-CN" sz="2665"/>
              <a:t>A. </a:t>
            </a:r>
            <a:r>
              <a:rPr lang="zh-CN" altLang="en-US" sz="2665"/>
              <a:t>实行</a:t>
            </a:r>
            <a:r>
              <a:rPr lang="en-US" altLang="zh-CN" sz="2665"/>
              <a:t>“</a:t>
            </a:r>
            <a:r>
              <a:rPr lang="zh-CN" altLang="en-US" sz="2665"/>
              <a:t>团结一批评一团结</a:t>
            </a:r>
            <a:r>
              <a:rPr lang="en-US" altLang="zh-CN" sz="2665"/>
              <a:t>”</a:t>
            </a:r>
            <a:r>
              <a:rPr lang="zh-CN" altLang="en-US" sz="2665"/>
              <a:t>的方针</a:t>
            </a:r>
            <a:br>
              <a:rPr lang="zh-CN" altLang="en-US" sz="2665"/>
            </a:br>
            <a:r>
              <a:rPr lang="en-US" altLang="zh-CN" sz="2665"/>
              <a:t>B. “</a:t>
            </a:r>
            <a:r>
              <a:rPr lang="zh-CN" altLang="en-US" sz="2665"/>
              <a:t>长期共存、互相监督</a:t>
            </a:r>
            <a:r>
              <a:rPr lang="en-US" altLang="zh-CN" sz="2665"/>
              <a:t>”</a:t>
            </a:r>
            <a:r>
              <a:rPr lang="zh-CN" altLang="en-US" sz="2665"/>
              <a:t>的方针</a:t>
            </a:r>
            <a:br>
              <a:rPr lang="zh-CN" altLang="en-US" sz="2665"/>
            </a:br>
            <a:r>
              <a:rPr lang="en-US" altLang="zh-CN" sz="2665"/>
              <a:t>C. </a:t>
            </a:r>
            <a:r>
              <a:rPr lang="zh-CN" altLang="en-US" sz="2665"/>
              <a:t>统筹兼顾、适当安排的方针</a:t>
            </a:r>
            <a:br>
              <a:rPr lang="zh-CN" altLang="en-US" sz="2665"/>
            </a:br>
            <a:r>
              <a:rPr lang="en-US" altLang="zh-CN" sz="2665"/>
              <a:t>D. “</a:t>
            </a:r>
            <a:r>
              <a:rPr lang="zh-CN" altLang="en-US" sz="2665"/>
              <a:t>百花齐放、百家争鸣</a:t>
            </a:r>
            <a:r>
              <a:rPr lang="en-US" altLang="zh-CN" sz="2665"/>
              <a:t>”</a:t>
            </a:r>
            <a:r>
              <a:rPr lang="zh-CN" altLang="en-US" sz="2665"/>
              <a:t>的方针</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1114425"/>
            <a:ext cx="10334625" cy="4070350"/>
          </a:xfrm>
        </p:spPr>
        <p:txBody>
          <a:bodyPr>
            <a:normAutofit fontScale="90000"/>
          </a:bodyPr>
          <a:lstStyle/>
          <a:p>
            <a:pPr algn="l">
              <a:lnSpc>
                <a:spcPct val="140000"/>
              </a:lnSpc>
            </a:pPr>
            <a:r>
              <a:rPr lang="en-US" altLang="zh-CN" sz="2665"/>
              <a:t>9.</a:t>
            </a:r>
            <a:r>
              <a:rPr lang="zh-CN" altLang="en-US" sz="2665"/>
              <a:t>针对人民内部矛盾在具体实践中的不同情况，毛泽东提出了一系列具体方针、原则，对于人民群众和政府机关的矛盾</a:t>
            </a:r>
            <a:r>
              <a:rPr lang="en-US" altLang="zh-CN" sz="2665"/>
              <a:t>,</a:t>
            </a:r>
            <a:r>
              <a:rPr lang="zh-CN" altLang="en-US" sz="2665"/>
              <a:t>坚持（</a:t>
            </a:r>
            <a:r>
              <a:rPr lang="en-US" altLang="zh-CN" sz="2665"/>
              <a:t>  </a:t>
            </a:r>
            <a:r>
              <a:rPr lang="zh-CN" altLang="en-US" sz="2665"/>
              <a:t>）。</a:t>
            </a:r>
            <a:br>
              <a:rPr lang="zh-CN" altLang="en-US" sz="2665"/>
            </a:br>
            <a:r>
              <a:rPr lang="en-US" altLang="zh-CN" sz="2665"/>
              <a:t>A. </a:t>
            </a:r>
            <a:r>
              <a:rPr lang="zh-CN" altLang="en-US" sz="2665"/>
              <a:t>实行</a:t>
            </a:r>
            <a:r>
              <a:rPr lang="en-US" altLang="zh-CN" sz="2665"/>
              <a:t>“</a:t>
            </a:r>
            <a:r>
              <a:rPr lang="zh-CN" altLang="en-US" sz="2665"/>
              <a:t>团结一批评一团结</a:t>
            </a:r>
            <a:r>
              <a:rPr lang="en-US" altLang="zh-CN" sz="2665"/>
              <a:t>”</a:t>
            </a:r>
            <a:r>
              <a:rPr lang="zh-CN" altLang="en-US" sz="2665"/>
              <a:t>的方针</a:t>
            </a:r>
            <a:br>
              <a:rPr lang="zh-CN" altLang="en-US" sz="2665"/>
            </a:br>
            <a:r>
              <a:rPr lang="en-US" altLang="zh-CN" sz="2665"/>
              <a:t>B. </a:t>
            </a:r>
            <a:r>
              <a:rPr lang="zh-CN" altLang="en-US" sz="2665"/>
              <a:t>坚持民主集中制原则，努力克服政府机关的官僚主义，也要加强对群众的思想教育</a:t>
            </a:r>
            <a:br>
              <a:rPr lang="zh-CN" altLang="en-US" sz="2665"/>
            </a:br>
            <a:r>
              <a:rPr lang="en-US" altLang="zh-CN" sz="2665"/>
              <a:t>C. </a:t>
            </a:r>
            <a:r>
              <a:rPr lang="zh-CN" altLang="en-US" sz="2665"/>
              <a:t>统筹兼顾、适当安排的方针</a:t>
            </a:r>
            <a:br>
              <a:rPr lang="zh-CN" altLang="en-US" sz="2665"/>
            </a:br>
            <a:r>
              <a:rPr lang="en-US" altLang="zh-CN" sz="2665"/>
              <a:t>D. “</a:t>
            </a:r>
            <a:r>
              <a:rPr lang="zh-CN" altLang="en-US" sz="2665"/>
              <a:t>百花齐放、百家争鸣</a:t>
            </a:r>
            <a:r>
              <a:rPr lang="en-US" altLang="zh-CN" sz="2665"/>
              <a:t>”</a:t>
            </a:r>
            <a:r>
              <a:rPr lang="zh-CN" altLang="en-US" sz="2665"/>
              <a:t>的方针</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sym typeface="+mn-ea"/>
              </a:rPr>
              <a:t>D</a:t>
            </a:r>
            <a:r>
              <a:rPr lang="zh-CN" altLang="en-US"/>
              <a:t>）</a:t>
            </a:r>
          </a:p>
        </p:txBody>
      </p:sp>
      <p:sp>
        <p:nvSpPr>
          <p:cNvPr id="2" name="标题 1"/>
          <p:cNvSpPr>
            <a:spLocks noGrp="1"/>
          </p:cNvSpPr>
          <p:nvPr>
            <p:ph type="ctrTitle"/>
          </p:nvPr>
        </p:nvSpPr>
        <p:spPr>
          <a:xfrm>
            <a:off x="904240" y="1114425"/>
            <a:ext cx="10334625" cy="4070350"/>
          </a:xfrm>
        </p:spPr>
        <p:txBody>
          <a:bodyPr>
            <a:normAutofit/>
          </a:bodyPr>
          <a:lstStyle/>
          <a:p>
            <a:pPr algn="l">
              <a:lnSpc>
                <a:spcPct val="140000"/>
              </a:lnSpc>
            </a:pPr>
            <a:r>
              <a:rPr lang="en-US" altLang="zh-CN" sz="2665"/>
              <a:t>10.</a:t>
            </a:r>
            <a:r>
              <a:rPr lang="zh-CN" altLang="en-US" sz="2665"/>
              <a:t>针对人民内部矛盾在具体实践中的不同情况，毛泽东提出了一系列具体方针、原则，对于科学文化领域里的矛盾</a:t>
            </a:r>
            <a:r>
              <a:rPr lang="en-US" altLang="zh-CN" sz="2665"/>
              <a:t>,</a:t>
            </a:r>
            <a:r>
              <a:rPr lang="zh-CN" altLang="en-US" sz="2665"/>
              <a:t>实行（</a:t>
            </a:r>
            <a:r>
              <a:rPr lang="en-US" altLang="zh-CN" sz="2665"/>
              <a:t>  </a:t>
            </a:r>
            <a:r>
              <a:rPr lang="zh-CN" altLang="en-US" sz="2665"/>
              <a:t>）。</a:t>
            </a:r>
            <a:br>
              <a:rPr lang="zh-CN" altLang="en-US" sz="2665"/>
            </a:br>
            <a:r>
              <a:rPr lang="en-US" altLang="zh-CN" sz="2665"/>
              <a:t>A. </a:t>
            </a:r>
            <a:r>
              <a:rPr lang="zh-CN" altLang="en-US" sz="2665"/>
              <a:t>实行</a:t>
            </a:r>
            <a:r>
              <a:rPr lang="en-US" altLang="zh-CN" sz="2665"/>
              <a:t>“</a:t>
            </a:r>
            <a:r>
              <a:rPr lang="zh-CN" altLang="en-US" sz="2665"/>
              <a:t>团结一批评一团结</a:t>
            </a:r>
            <a:r>
              <a:rPr lang="en-US" altLang="zh-CN" sz="2665"/>
              <a:t>”</a:t>
            </a:r>
            <a:r>
              <a:rPr lang="zh-CN" altLang="en-US" sz="2665"/>
              <a:t>的方针</a:t>
            </a:r>
            <a:br>
              <a:rPr lang="zh-CN" altLang="en-US" sz="2665"/>
            </a:br>
            <a:r>
              <a:rPr lang="en-US" altLang="zh-CN" sz="2665"/>
              <a:t>B. </a:t>
            </a:r>
            <a:r>
              <a:rPr lang="zh-CN" altLang="en-US" sz="2665"/>
              <a:t>坚持民主集中制原则</a:t>
            </a:r>
            <a:br>
              <a:rPr lang="zh-CN" altLang="en-US" sz="2665"/>
            </a:br>
            <a:r>
              <a:rPr lang="en-US" altLang="zh-CN" sz="2665"/>
              <a:t>C. </a:t>
            </a:r>
            <a:r>
              <a:rPr lang="zh-CN" altLang="en-US" sz="2665"/>
              <a:t>统筹兼顾、适当安排的方针</a:t>
            </a:r>
            <a:br>
              <a:rPr lang="zh-CN" altLang="en-US" sz="2665"/>
            </a:br>
            <a:r>
              <a:rPr lang="en-US" altLang="zh-CN" sz="2665"/>
              <a:t>D. “</a:t>
            </a:r>
            <a:r>
              <a:rPr lang="zh-CN" altLang="en-US" sz="2665"/>
              <a:t>百花齐放、百家争鸣</a:t>
            </a:r>
            <a:r>
              <a:rPr lang="en-US" altLang="zh-CN" sz="2665"/>
              <a:t>”</a:t>
            </a:r>
            <a:r>
              <a:rPr lang="zh-CN" altLang="en-US" sz="2665"/>
              <a:t>的方针</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sym typeface="+mn-ea"/>
              </a:rPr>
              <a:t>CE</a:t>
            </a:r>
            <a:r>
              <a:rPr lang="zh-CN" altLang="en-US"/>
              <a:t>）</a:t>
            </a:r>
          </a:p>
        </p:txBody>
      </p:sp>
      <p:sp>
        <p:nvSpPr>
          <p:cNvPr id="2" name="标题 1"/>
          <p:cNvSpPr>
            <a:spLocks noGrp="1"/>
          </p:cNvSpPr>
          <p:nvPr>
            <p:ph type="ctrTitle"/>
          </p:nvPr>
        </p:nvSpPr>
        <p:spPr>
          <a:xfrm>
            <a:off x="904240" y="1114425"/>
            <a:ext cx="10334625" cy="4070350"/>
          </a:xfrm>
        </p:spPr>
        <p:txBody>
          <a:bodyPr>
            <a:normAutofit/>
          </a:bodyPr>
          <a:lstStyle/>
          <a:p>
            <a:pPr algn="l">
              <a:lnSpc>
                <a:spcPct val="140000"/>
              </a:lnSpc>
            </a:pPr>
            <a:r>
              <a:rPr lang="en-US" altLang="zh-CN" sz="2665"/>
              <a:t>1.</a:t>
            </a:r>
            <a:r>
              <a:rPr lang="zh-CN" altLang="en-US" sz="2665"/>
              <a:t>社会主义社会的</a:t>
            </a:r>
            <a:r>
              <a:rPr lang="zh-CN" altLang="en-US" sz="2665">
                <a:solidFill>
                  <a:srgbClr val="FF0000"/>
                </a:solidFill>
              </a:rPr>
              <a:t>基本矛盾</a:t>
            </a:r>
            <a:r>
              <a:rPr lang="zh-CN" altLang="en-US" sz="2665"/>
              <a:t>是（</a:t>
            </a:r>
            <a:r>
              <a:rPr lang="en-US" altLang="zh-CN" sz="2665"/>
              <a:t>   </a:t>
            </a:r>
            <a:r>
              <a:rPr lang="zh-CN" altLang="en-US" sz="2665"/>
              <a:t>）。</a:t>
            </a:r>
            <a:br>
              <a:rPr lang="zh-CN" altLang="en-US" sz="2665"/>
            </a:br>
            <a:r>
              <a:rPr lang="en-US" altLang="zh-CN" sz="2665"/>
              <a:t>A.</a:t>
            </a:r>
            <a:r>
              <a:rPr lang="zh-CN" altLang="en-US" sz="2665"/>
              <a:t>人民日益增长的物质文化需要同落后的社会生产之间的矛盾</a:t>
            </a:r>
            <a:br>
              <a:rPr lang="zh-CN" altLang="en-US" sz="2665"/>
            </a:br>
            <a:r>
              <a:rPr lang="en-US" altLang="zh-CN" sz="2665"/>
              <a:t>B.</a:t>
            </a:r>
            <a:r>
              <a:rPr lang="zh-CN" altLang="en-US" sz="2665"/>
              <a:t>工人阶级和资产阶级之间的矛盾</a:t>
            </a:r>
            <a:br>
              <a:rPr lang="zh-CN" altLang="en-US" sz="2665"/>
            </a:br>
            <a:r>
              <a:rPr lang="en-US" altLang="zh-CN" sz="2665"/>
              <a:t>C.</a:t>
            </a:r>
            <a:r>
              <a:rPr lang="zh-CN" altLang="en-US" sz="2665"/>
              <a:t>生产关系和生产力之间的矛盾</a:t>
            </a:r>
            <a:br>
              <a:rPr lang="zh-CN" altLang="en-US" sz="2665"/>
            </a:br>
            <a:r>
              <a:rPr lang="en-US" altLang="zh-CN" sz="2665"/>
              <a:t>D.</a:t>
            </a:r>
            <a:r>
              <a:rPr lang="zh-CN" altLang="en-US" sz="2665"/>
              <a:t>人民日益增长的美好生活需要和不平衡不充分的发展之间的矛盾</a:t>
            </a:r>
            <a:br>
              <a:rPr lang="zh-CN" altLang="en-US" sz="2665"/>
            </a:br>
            <a:r>
              <a:rPr lang="en-US" altLang="zh-CN" sz="2665"/>
              <a:t>E.</a:t>
            </a:r>
            <a:r>
              <a:rPr lang="zh-CN" altLang="en-US" sz="2665"/>
              <a:t>上层建筑和经济基础之间的矛盾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sym typeface="+mn-ea"/>
              </a:rPr>
              <a:t> ABDE</a:t>
            </a:r>
            <a:r>
              <a:rPr lang="zh-CN" altLang="en-US"/>
              <a:t>）</a:t>
            </a:r>
          </a:p>
        </p:txBody>
      </p:sp>
      <p:sp>
        <p:nvSpPr>
          <p:cNvPr id="2" name="标题 1"/>
          <p:cNvSpPr>
            <a:spLocks noGrp="1"/>
          </p:cNvSpPr>
          <p:nvPr>
            <p:ph type="ctrTitle"/>
          </p:nvPr>
        </p:nvSpPr>
        <p:spPr>
          <a:xfrm>
            <a:off x="904240" y="1114425"/>
            <a:ext cx="10334625" cy="4070350"/>
          </a:xfrm>
        </p:spPr>
        <p:txBody>
          <a:bodyPr>
            <a:normAutofit fontScale="90000"/>
          </a:bodyPr>
          <a:lstStyle/>
          <a:p>
            <a:pPr algn="l">
              <a:lnSpc>
                <a:spcPct val="140000"/>
              </a:lnSpc>
            </a:pPr>
            <a:r>
              <a:rPr lang="en-US" altLang="zh-CN" sz="2665"/>
              <a:t>2.</a:t>
            </a:r>
            <a:r>
              <a:rPr lang="zh-CN" altLang="en-US" sz="2665"/>
              <a:t>关于社会主义社会基本矛盾，以下观点正确的有（</a:t>
            </a:r>
            <a:r>
              <a:rPr lang="en-US" altLang="zh-CN" sz="2665"/>
              <a:t>   </a:t>
            </a:r>
            <a:r>
              <a:rPr lang="zh-CN" altLang="en-US" sz="2665"/>
              <a:t>）。</a:t>
            </a:r>
            <a:br>
              <a:rPr lang="zh-CN" altLang="en-US" sz="2665"/>
            </a:br>
            <a:r>
              <a:rPr lang="en-US" altLang="zh-CN" sz="2665"/>
              <a:t>A.</a:t>
            </a:r>
            <a:r>
              <a:rPr lang="zh-CN" altLang="en-US" sz="2665"/>
              <a:t>社会主义社会的基本的矛盾仍然是生产关系和生产力之间的矛盾，上层建筑和经济基础之间的矛盾</a:t>
            </a:r>
            <a:br>
              <a:rPr lang="zh-CN" altLang="en-US" sz="2665"/>
            </a:br>
            <a:r>
              <a:rPr lang="en-US" altLang="zh-CN" sz="2665"/>
              <a:t>B. </a:t>
            </a:r>
            <a:r>
              <a:rPr lang="zh-CN" altLang="en-US" sz="2665"/>
              <a:t>社会主义社会基本矛盾运动具有</a:t>
            </a:r>
            <a:r>
              <a:rPr lang="en-US" altLang="zh-CN" sz="2665"/>
              <a:t>“</a:t>
            </a:r>
            <a:r>
              <a:rPr lang="zh-CN" altLang="en-US" sz="2665"/>
              <a:t>又相适应又相矛盾</a:t>
            </a:r>
            <a:r>
              <a:rPr lang="en-US" altLang="zh-CN" sz="2665"/>
              <a:t>”</a:t>
            </a:r>
            <a:r>
              <a:rPr lang="zh-CN" altLang="en-US" sz="2665"/>
              <a:t>的特点，相适应的一面是基本方面，相矛盾的一面是非基本方面</a:t>
            </a:r>
            <a:br>
              <a:rPr lang="en-US" altLang="zh-CN" sz="2665"/>
            </a:br>
            <a:r>
              <a:rPr lang="en-US" altLang="zh-CN" sz="2665"/>
              <a:t>C. </a:t>
            </a:r>
            <a:r>
              <a:rPr lang="zh-CN" altLang="en-US" sz="2665"/>
              <a:t>社会主义社会的基本矛盾是对抗性的矛盾</a:t>
            </a:r>
            <a:br>
              <a:rPr lang="zh-CN" altLang="en-US" sz="2665"/>
            </a:br>
            <a:r>
              <a:rPr lang="en-US" altLang="zh-CN" sz="2665"/>
              <a:t>D. </a:t>
            </a:r>
            <a:r>
              <a:rPr lang="zh-CN" altLang="en-US" sz="2665"/>
              <a:t>社会主义社会的基本矛盾是在人民根本利益一致基础上的矛盾</a:t>
            </a:r>
            <a:br>
              <a:rPr lang="zh-CN" altLang="en-US" sz="2665"/>
            </a:br>
            <a:r>
              <a:rPr lang="en-US" altLang="zh-CN" sz="2665"/>
              <a:t>E. </a:t>
            </a:r>
            <a:r>
              <a:rPr lang="zh-CN" altLang="en-US" sz="2665"/>
              <a:t>社会主义社会的基本矛盾是非对抗性的矛盾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1114425"/>
            <a:ext cx="10334625" cy="4070350"/>
          </a:xfrm>
        </p:spPr>
        <p:txBody>
          <a:bodyPr>
            <a:normAutofit/>
          </a:bodyPr>
          <a:lstStyle/>
          <a:p>
            <a:pPr algn="l">
              <a:lnSpc>
                <a:spcPct val="140000"/>
              </a:lnSpc>
            </a:pPr>
            <a:r>
              <a:rPr lang="en-US" altLang="zh-CN" sz="2665"/>
              <a:t>3.</a:t>
            </a:r>
            <a:r>
              <a:rPr lang="zh-CN" altLang="en-US" sz="2665"/>
              <a:t>以下各选项属于社会主义建设初步探索重要理论成果的有（</a:t>
            </a:r>
            <a:r>
              <a:rPr lang="en-US" altLang="zh-CN" sz="2665"/>
              <a:t>   </a:t>
            </a:r>
            <a:r>
              <a:rPr lang="zh-CN" altLang="en-US" sz="2665"/>
              <a:t>）。</a:t>
            </a:r>
            <a:br>
              <a:rPr lang="zh-CN" altLang="en-US" sz="2665"/>
            </a:br>
            <a:r>
              <a:rPr lang="en-US" altLang="zh-CN" sz="2665"/>
              <a:t>A.</a:t>
            </a:r>
            <a:r>
              <a:rPr lang="zh-CN" altLang="en-US" sz="2665"/>
              <a:t>调动一切积极因素为社会主义事业服务的基本方针</a:t>
            </a:r>
            <a:br>
              <a:rPr lang="zh-CN" altLang="en-US" sz="2665"/>
            </a:br>
            <a:r>
              <a:rPr lang="en-US" altLang="zh-CN" sz="2665"/>
              <a:t>B.</a:t>
            </a:r>
            <a:r>
              <a:rPr lang="zh-CN" altLang="en-US" sz="2665"/>
              <a:t>正确认识和处理社会主义社会矛盾的思想</a:t>
            </a:r>
            <a:br>
              <a:rPr lang="zh-CN" altLang="en-US" sz="2665"/>
            </a:br>
            <a:r>
              <a:rPr lang="en-US" altLang="zh-CN" sz="2665"/>
              <a:t>C.</a:t>
            </a:r>
            <a:r>
              <a:rPr lang="zh-CN" altLang="en-US" sz="2665"/>
              <a:t>走中国工业化道路的思想</a:t>
            </a:r>
            <a:br>
              <a:rPr lang="zh-CN" altLang="en-US" sz="2665"/>
            </a:br>
            <a:r>
              <a:rPr lang="en-US" altLang="zh-CN" sz="2665"/>
              <a:t>D.</a:t>
            </a:r>
            <a:r>
              <a:rPr lang="zh-CN" altLang="en-US" sz="2665"/>
              <a:t>关于社会主义发展阶段的思想</a:t>
            </a:r>
            <a:br>
              <a:rPr lang="zh-CN" altLang="en-US" sz="2665"/>
            </a:br>
            <a:r>
              <a:rPr lang="en-US" altLang="zh-CN" sz="2665"/>
              <a:t>E.</a:t>
            </a:r>
            <a:r>
              <a:rPr lang="zh-CN" altLang="en-US" sz="2665"/>
              <a:t>关于</a:t>
            </a:r>
            <a:r>
              <a:rPr lang="en-US" altLang="zh-CN" sz="2665"/>
              <a:t>“</a:t>
            </a:r>
            <a:r>
              <a:rPr lang="zh-CN" altLang="en-US" sz="2665"/>
              <a:t>四个现代化</a:t>
            </a:r>
            <a:r>
              <a:rPr lang="en-US" altLang="zh-CN" sz="2665"/>
              <a:t>”</a:t>
            </a:r>
            <a:r>
              <a:rPr lang="zh-CN" altLang="en-US" sz="2665"/>
              <a:t>战略目标</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sym typeface="+mn-ea"/>
              </a:rPr>
              <a:t>CE</a:t>
            </a:r>
            <a:r>
              <a:rPr lang="zh-CN" altLang="en-US"/>
              <a:t>）</a:t>
            </a:r>
          </a:p>
        </p:txBody>
      </p:sp>
      <p:sp>
        <p:nvSpPr>
          <p:cNvPr id="2" name="标题 1"/>
          <p:cNvSpPr>
            <a:spLocks noGrp="1"/>
          </p:cNvSpPr>
          <p:nvPr>
            <p:ph type="ctrTitle"/>
          </p:nvPr>
        </p:nvSpPr>
        <p:spPr>
          <a:xfrm>
            <a:off x="904240" y="1114425"/>
            <a:ext cx="10334625" cy="4070350"/>
          </a:xfrm>
        </p:spPr>
        <p:txBody>
          <a:bodyPr>
            <a:normAutofit fontScale="90000"/>
          </a:bodyPr>
          <a:lstStyle/>
          <a:p>
            <a:pPr algn="l">
              <a:lnSpc>
                <a:spcPct val="140000"/>
              </a:lnSpc>
            </a:pPr>
            <a:r>
              <a:rPr lang="en-US" altLang="zh-CN" sz="2665"/>
              <a:t>4.</a:t>
            </a:r>
            <a:r>
              <a:rPr lang="zh-CN" altLang="en-US" sz="2665"/>
              <a:t>在社会主义建设的初步探索阶段，根据形势的发展，在国际战略和外交工作方面，毛泽东提出了（</a:t>
            </a:r>
            <a:r>
              <a:rPr lang="en-US" altLang="zh-CN" sz="2665"/>
              <a:t>  </a:t>
            </a:r>
            <a:r>
              <a:rPr lang="zh-CN" altLang="en-US" sz="2665"/>
              <a:t>）。</a:t>
            </a:r>
            <a:br>
              <a:rPr lang="zh-CN" altLang="en-US" sz="2665"/>
            </a:br>
            <a:r>
              <a:rPr lang="en-US" altLang="zh-CN" sz="2665"/>
              <a:t>A.</a:t>
            </a:r>
            <a:r>
              <a:rPr lang="zh-CN" altLang="en-US" sz="2665"/>
              <a:t>冷静观察、稳住阵脚、韬光养晦、有所作为的方针</a:t>
            </a:r>
            <a:br>
              <a:rPr lang="zh-CN" altLang="en-US" sz="2665"/>
            </a:br>
            <a:r>
              <a:rPr lang="en-US" altLang="zh-CN" sz="2665"/>
              <a:t>B.</a:t>
            </a:r>
            <a:r>
              <a:rPr lang="zh-CN" altLang="en-US" sz="2665"/>
              <a:t>积极推动建立和平稳定、公正合理的国际政治经济新秩序</a:t>
            </a:r>
            <a:br>
              <a:rPr lang="zh-CN" altLang="en-US" sz="2665"/>
            </a:br>
            <a:r>
              <a:rPr lang="en-US" altLang="zh-CN" sz="2665"/>
              <a:t>C.</a:t>
            </a:r>
            <a:r>
              <a:rPr lang="zh-CN" altLang="en-US" sz="2665"/>
              <a:t>两个</a:t>
            </a:r>
            <a:r>
              <a:rPr lang="en-US" altLang="zh-CN" sz="2665"/>
              <a:t>“</a:t>
            </a:r>
            <a:r>
              <a:rPr lang="zh-CN" altLang="en-US" sz="2665"/>
              <a:t>中间地带</a:t>
            </a:r>
            <a:r>
              <a:rPr lang="en-US" altLang="zh-CN" sz="2665"/>
              <a:t>”</a:t>
            </a:r>
            <a:r>
              <a:rPr lang="zh-CN" altLang="en-US" sz="2665"/>
              <a:t>的战略思想</a:t>
            </a:r>
            <a:br>
              <a:rPr lang="zh-CN" altLang="en-US" sz="2665"/>
            </a:br>
            <a:r>
              <a:rPr lang="en-US" altLang="zh-CN" sz="2665"/>
              <a:t>D.</a:t>
            </a:r>
            <a:r>
              <a:rPr lang="zh-CN" altLang="en-US" sz="2665"/>
              <a:t>党际关系</a:t>
            </a:r>
            <a:r>
              <a:rPr lang="en-US" altLang="zh-CN" sz="2665"/>
              <a:t>“</a:t>
            </a:r>
            <a:r>
              <a:rPr lang="zh-CN" altLang="en-US" sz="2665"/>
              <a:t>四项原则</a:t>
            </a:r>
            <a:r>
              <a:rPr lang="en-US" altLang="zh-CN" sz="2665"/>
              <a:t>”</a:t>
            </a:r>
            <a:br>
              <a:rPr lang="en-US" altLang="zh-CN" sz="2665"/>
            </a:br>
            <a:r>
              <a:rPr lang="en-US" altLang="zh-CN" sz="2665"/>
              <a:t>E.“</a:t>
            </a:r>
            <a:r>
              <a:rPr lang="zh-CN" altLang="en-US" sz="2665"/>
              <a:t>三个世界划分</a:t>
            </a:r>
            <a:r>
              <a:rPr lang="en-US" altLang="zh-CN" sz="2665"/>
              <a:t>”</a:t>
            </a:r>
            <a:r>
              <a:rPr lang="zh-CN" altLang="en-US" sz="2665"/>
              <a:t>的战略思想</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sym typeface="+mn-ea"/>
              </a:rPr>
              <a:t>BCD</a:t>
            </a:r>
            <a:r>
              <a:rPr lang="zh-CN" altLang="en-US"/>
              <a:t>）</a:t>
            </a:r>
          </a:p>
        </p:txBody>
      </p:sp>
      <p:sp>
        <p:nvSpPr>
          <p:cNvPr id="2" name="标题 1"/>
          <p:cNvSpPr>
            <a:spLocks noGrp="1"/>
          </p:cNvSpPr>
          <p:nvPr>
            <p:ph type="ctrTitle"/>
          </p:nvPr>
        </p:nvSpPr>
        <p:spPr>
          <a:xfrm>
            <a:off x="904240" y="1114425"/>
            <a:ext cx="10334625" cy="4070350"/>
          </a:xfrm>
        </p:spPr>
        <p:txBody>
          <a:bodyPr>
            <a:normAutofit fontScale="90000"/>
          </a:bodyPr>
          <a:lstStyle/>
          <a:p>
            <a:pPr algn="l">
              <a:lnSpc>
                <a:spcPct val="140000"/>
              </a:lnSpc>
            </a:pPr>
            <a:r>
              <a:rPr lang="en-US" altLang="zh-CN" sz="2665"/>
              <a:t>5.</a:t>
            </a:r>
            <a:r>
              <a:rPr lang="zh-CN" altLang="en-US" sz="2665"/>
              <a:t>在社会主义建设道路初步探索过程中，我们党在理论和实践上取得了一系列重要成果，具有重大意义。这些重大意义包括（</a:t>
            </a:r>
            <a:r>
              <a:rPr lang="en-US" altLang="zh-CN" sz="2665"/>
              <a:t>   </a:t>
            </a:r>
            <a:r>
              <a:rPr lang="zh-CN" altLang="en-US" sz="2665"/>
              <a:t>）。</a:t>
            </a:r>
            <a:br>
              <a:rPr lang="zh-CN" altLang="en-US" sz="2665"/>
            </a:br>
            <a:r>
              <a:rPr lang="en-US" altLang="zh-CN" sz="2665"/>
              <a:t>A.</a:t>
            </a:r>
            <a:r>
              <a:rPr lang="zh-CN" altLang="en-US" sz="2665"/>
              <a:t>开创了中国特色社会主义建设道路</a:t>
            </a:r>
            <a:br>
              <a:rPr lang="zh-CN" altLang="en-US" sz="2665"/>
            </a:br>
            <a:r>
              <a:rPr lang="en-US" altLang="zh-CN" sz="2665"/>
              <a:t>B.</a:t>
            </a:r>
            <a:r>
              <a:rPr lang="zh-CN" altLang="en-US" sz="2665"/>
              <a:t>巩固和发展了我国的社会主义制度</a:t>
            </a:r>
            <a:br>
              <a:rPr lang="zh-CN" altLang="en-US" sz="2665"/>
            </a:br>
            <a:r>
              <a:rPr lang="en-US" altLang="zh-CN" sz="2665"/>
              <a:t>C.</a:t>
            </a:r>
            <a:r>
              <a:rPr lang="zh-CN" altLang="en-US" sz="2665"/>
              <a:t>为开创中国特色社会主义提供了宝贵经验、理论准备、物质基础</a:t>
            </a:r>
            <a:br>
              <a:rPr lang="zh-CN" altLang="en-US" sz="2665"/>
            </a:br>
            <a:r>
              <a:rPr lang="en-US" altLang="zh-CN" sz="2665"/>
              <a:t>D.</a:t>
            </a:r>
            <a:r>
              <a:rPr lang="zh-CN" altLang="en-US" sz="2665"/>
              <a:t>丰富了科学社会主义的理论和实践</a:t>
            </a:r>
            <a:br>
              <a:rPr lang="zh-CN" altLang="en-US" sz="2665"/>
            </a:br>
            <a:r>
              <a:rPr lang="en-US" altLang="zh-CN" sz="2665"/>
              <a:t>E.</a:t>
            </a:r>
            <a:r>
              <a:rPr lang="zh-CN" altLang="en-US" sz="2665"/>
              <a:t>找到了适合中国国情的社会主义建设道路</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sym typeface="+mn-ea"/>
              </a:rPr>
              <a:t> ABCDE</a:t>
            </a:r>
            <a:r>
              <a:rPr lang="zh-CN" altLang="en-US"/>
              <a:t>）</a:t>
            </a:r>
          </a:p>
        </p:txBody>
      </p:sp>
      <p:sp>
        <p:nvSpPr>
          <p:cNvPr id="2" name="标题 1"/>
          <p:cNvSpPr>
            <a:spLocks noGrp="1"/>
          </p:cNvSpPr>
          <p:nvPr>
            <p:ph type="ctrTitle"/>
          </p:nvPr>
        </p:nvSpPr>
        <p:spPr>
          <a:xfrm>
            <a:off x="904240" y="1114425"/>
            <a:ext cx="10334625" cy="4070350"/>
          </a:xfrm>
        </p:spPr>
        <p:txBody>
          <a:bodyPr>
            <a:normAutofit fontScale="90000"/>
          </a:bodyPr>
          <a:lstStyle/>
          <a:p>
            <a:pPr algn="l">
              <a:lnSpc>
                <a:spcPct val="140000"/>
              </a:lnSpc>
            </a:pPr>
            <a:r>
              <a:rPr lang="en-US" altLang="zh-CN" sz="2665"/>
              <a:t>6.</a:t>
            </a:r>
            <a:r>
              <a:rPr lang="zh-CN" altLang="en-US" sz="2665"/>
              <a:t>关于社会主义社会两类不同性质的矛盾，毛泽东强调（</a:t>
            </a:r>
            <a:r>
              <a:rPr lang="en-US" altLang="zh-CN" sz="2665"/>
              <a:t>   </a:t>
            </a:r>
            <a:r>
              <a:rPr lang="zh-CN" altLang="en-US" sz="2665"/>
              <a:t>）。</a:t>
            </a:r>
            <a:br>
              <a:rPr lang="zh-CN" altLang="en-US" sz="2665"/>
            </a:br>
            <a:r>
              <a:rPr lang="en-US" altLang="zh-CN" sz="2665"/>
              <a:t>A. </a:t>
            </a:r>
            <a:r>
              <a:rPr lang="zh-CN" altLang="en-US" sz="2665"/>
              <a:t>社会主义社会存在两类社会矛盾，这就是敌我矛盾和人民内部矛盾</a:t>
            </a:r>
            <a:br>
              <a:rPr lang="zh-CN" altLang="en-US" sz="2665"/>
            </a:br>
            <a:r>
              <a:rPr lang="en-US" altLang="zh-CN" sz="2665"/>
              <a:t>B. </a:t>
            </a:r>
            <a:r>
              <a:rPr lang="zh-CN" altLang="en-US" sz="2665"/>
              <a:t>敌我矛盾是根本利益对立基础上的矛盾，因而是对抗性的矛盾</a:t>
            </a:r>
            <a:br>
              <a:rPr lang="zh-CN" altLang="en-US" sz="2665"/>
            </a:br>
            <a:r>
              <a:rPr lang="en-US" altLang="zh-CN" sz="2665"/>
              <a:t>C. </a:t>
            </a:r>
            <a:r>
              <a:rPr lang="zh-CN" altLang="en-US" sz="2665"/>
              <a:t>人民内部矛盾是在人民根本利益一致基础上的矛盾，因而是非对抗性的矛盾</a:t>
            </a:r>
            <a:br>
              <a:rPr lang="zh-CN" altLang="en-US" sz="2665"/>
            </a:br>
            <a:r>
              <a:rPr lang="en-US" altLang="zh-CN" sz="2665"/>
              <a:t>D. </a:t>
            </a:r>
            <a:r>
              <a:rPr lang="zh-CN" altLang="en-US" sz="2665"/>
              <a:t>两类不同性质的矛盾在一定的条件下可以互相转化</a:t>
            </a:r>
            <a:br>
              <a:rPr lang="zh-CN" altLang="en-US" sz="2665"/>
            </a:br>
            <a:r>
              <a:rPr lang="en-US" altLang="zh-CN" sz="2665"/>
              <a:t>E. </a:t>
            </a:r>
            <a:r>
              <a:rPr lang="zh-CN" altLang="en-US" sz="2665"/>
              <a:t>采用专政和民主这样两种不同的方法解决敌我矛盾和人民内部矛盾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235" y="5746115"/>
            <a:ext cx="9144000" cy="796290"/>
          </a:xfrm>
        </p:spPr>
        <p:txBody>
          <a:bodyPr/>
          <a:lstStyle/>
          <a:p>
            <a:r>
              <a:rPr lang="zh-CN" altLang="en-US"/>
              <a:t>答案：（</a:t>
            </a:r>
            <a:r>
              <a:rPr lang="en-US" altLang="zh-CN"/>
              <a:t>ABCDE</a:t>
            </a:r>
            <a:r>
              <a:rPr lang="zh-CN" altLang="en-US"/>
              <a:t>）</a:t>
            </a:r>
          </a:p>
        </p:txBody>
      </p:sp>
      <p:sp>
        <p:nvSpPr>
          <p:cNvPr id="2" name="标题 1"/>
          <p:cNvSpPr>
            <a:spLocks noGrp="1"/>
          </p:cNvSpPr>
          <p:nvPr>
            <p:ph type="ctrTitle"/>
          </p:nvPr>
        </p:nvSpPr>
        <p:spPr>
          <a:xfrm>
            <a:off x="929005" y="1475105"/>
            <a:ext cx="10334625" cy="4070350"/>
          </a:xfrm>
        </p:spPr>
        <p:txBody>
          <a:bodyPr>
            <a:normAutofit fontScale="90000"/>
          </a:bodyPr>
          <a:lstStyle/>
          <a:p>
            <a:pPr algn="l">
              <a:lnSpc>
                <a:spcPct val="140000"/>
              </a:lnSpc>
            </a:pPr>
            <a:r>
              <a:rPr lang="en-US" altLang="zh-CN" sz="2665"/>
              <a:t>7.</a:t>
            </a:r>
            <a:r>
              <a:rPr lang="zh-CN" altLang="en-US" sz="2665"/>
              <a:t>我国社会主义建设道路初步探索的经验教训主要包括（</a:t>
            </a:r>
            <a:r>
              <a:rPr lang="en-US" altLang="zh-CN" sz="2665"/>
              <a:t>     </a:t>
            </a:r>
            <a:r>
              <a:rPr lang="zh-CN" altLang="en-US" sz="2665"/>
              <a:t>）。</a:t>
            </a:r>
            <a:br>
              <a:rPr lang="zh-CN" altLang="en-US" sz="2665"/>
            </a:br>
            <a:r>
              <a:rPr lang="en-US" altLang="zh-CN" sz="2665"/>
              <a:t>A. </a:t>
            </a:r>
            <a:r>
              <a:rPr lang="zh-CN" altLang="en-US" sz="2665"/>
              <a:t>必须把马克思主义与中国实际相结合，探索符合中国特点的社会主义建设道路</a:t>
            </a:r>
            <a:br>
              <a:rPr lang="zh-CN" altLang="en-US" sz="2665"/>
            </a:br>
            <a:r>
              <a:rPr lang="en-US" altLang="zh-CN" sz="2665"/>
              <a:t>B. </a:t>
            </a:r>
            <a:r>
              <a:rPr lang="zh-CN" altLang="en-US" sz="2665"/>
              <a:t>必须正确认识社会主义社会的主要矛盾和根本任务，集屮力量发展生产力</a:t>
            </a:r>
            <a:br>
              <a:rPr lang="zh-CN" altLang="en-US" sz="2665"/>
            </a:br>
            <a:r>
              <a:rPr lang="en-US" altLang="zh-CN" sz="2665"/>
              <a:t>C. </a:t>
            </a:r>
            <a:r>
              <a:rPr lang="zh-CN" altLang="en-US" sz="2665"/>
              <a:t>必须从实际岀发进行社会主义建设，建设规模和速度要与国力相适应，不能急于求成</a:t>
            </a:r>
            <a:br>
              <a:rPr lang="zh-CN" altLang="en-US" sz="2665"/>
            </a:br>
            <a:r>
              <a:rPr lang="en-US" altLang="zh-CN" sz="2665"/>
              <a:t>D. </a:t>
            </a:r>
            <a:r>
              <a:rPr lang="zh-CN" altLang="en-US" sz="2665"/>
              <a:t>必须发展社会主义民主，健全社会主义法制；必须坚持党的民主集中制和集体领导制度，加强执政党建设</a:t>
            </a:r>
            <a:br>
              <a:rPr lang="zh-CN" altLang="en-US" sz="2665"/>
            </a:br>
            <a:r>
              <a:rPr lang="en-US" altLang="zh-CN" sz="2665"/>
              <a:t>E. </a:t>
            </a:r>
            <a:r>
              <a:rPr lang="zh-CN" altLang="en-US" sz="2665"/>
              <a:t>必须坚持对外开放，借鉴和吸收人类文明成果建设社会主义</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1480</Words>
  <Application>Microsoft Office PowerPoint</Application>
  <PresentationFormat>宽屏</PresentationFormat>
  <Paragraphs>51</Paragraphs>
  <Slides>17</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17</vt:i4>
      </vt:variant>
    </vt:vector>
  </HeadingPairs>
  <TitlesOfParts>
    <vt:vector size="20" baseType="lpstr">
      <vt:lpstr>Arial</vt:lpstr>
      <vt:lpstr>Calibri</vt:lpstr>
      <vt:lpstr>WPS</vt:lpstr>
      <vt:lpstr>1.1956年，毛泽东先后在中央政治局扩大会议和最高国务会议上，作了《论十大关系》的报告，确定了社会主义建设的基本方针是（   ）。 A.集中力量发展生产力 B.走中国工业化道路 C.调动一切积极因素为社会主义事业服务 D.独立自主地探索适合中国情况的社会主义建设道路</vt:lpstr>
      <vt:lpstr>2.党的八大前后，特别是毛泽东在1957年2月所作的（  ）的报告，系统论述了社会主义社会矛盾的理论。 A.《论十大关系》 B.《关于正确处理人民内部矛盾的问题》 C.《坚持艰苦奋斗，密切联系群众》 D.《中国共产党第八次全国代表大会开幕词》</vt:lpstr>
      <vt:lpstr>3.在社会主义建设的初步探索阶段，关于正确处理人民内部矛盾的总的方针是（   ）。 A.团结-批评-团结的方针 B.统筹兼顾、适当安排的方针 C.用民主的方法解决人民内部矛盾   D.坚持民主集中制原则，克服官僚主义，加强对群众的思想教育</vt:lpstr>
      <vt:lpstr>4.随着我国生产资料私有制社会主义改造的基本完成，国内的社会矛盾和阶级关系发生重大变化。在此背景下，毛泽东在1957年2月作《关于正确处理人民内部矛盾的问题》的报告，明确提出把正确处理人民内部矛盾作为我国政治生活的主题，其根本着眼点是（   ） A.调动一切积极因素为社会主义建设服务 B.扩大社会主义民主，健全社会主义法制 C.维护社会稳定，实现长治久安 D.消除社会矛盾，实现民族大团</vt:lpstr>
      <vt:lpstr>5.党的八大正确分析了社会主义改造完成后我国社会主要矛盾的变化，指出，我们国内的主要矛盾是（   ）。 A. 工人阶级和资产阶级的矛盾 B. 人民对于经济文化迅速发展的需要同当前经济文化不能满足人民需要的状况之间的矛盾 C. 生产力和生产关系的矛盾 D. 经济基础和上层建筑的矛盾</vt:lpstr>
      <vt:lpstr>6.党的八大正确分析了社会主义制度基本建立起来后我国社会的主要矛盾，提出全国人民的主要任务是（   ）。 A. 集中力量发展社会生产力 B. 集中力量消灭敌对势力 C. 集中力量改造生产资料私有制 D. 集中力量消灭剥削阶级</vt:lpstr>
      <vt:lpstr>7.针对人民内部矛盾在具体实践中的不同情况，毛泽东提出了一系列具体方针、原则，针对人民内部矛盾在具体实践中的不同情况，实行（   ）。 A. 实行“团结一批评一团结”的方针 B. “长期共存、互相监督”的方针 C. 统筹兼顾、适当安排的方针 D. “百花齐放、百家争鸣”的方针</vt:lpstr>
      <vt:lpstr>8.针对人民内部矛盾在具体实践中的不同情况，毛泽东提出了一系列具体方针、原则，对于物质利益、分配方面的人民内部矛盾,实行（   ）。 A. 实行“团结一批评一团结”的方针 B. “长期共存、互相监督”的方针 C. 统筹兼顾、适当安排的方针 D. “百花齐放、百家争鸣”的方针</vt:lpstr>
      <vt:lpstr>9.针对人民内部矛盾在具体实践中的不同情况，毛泽东提出了一系列具体方针、原则，对于人民群众和政府机关的矛盾,坚持（  ）。 A. 实行“团结一批评一团结”的方针 B. 坚持民主集中制原则，努力克服政府机关的官僚主义，也要加强对群众的思想教育 C. 统筹兼顾、适当安排的方针 D. “百花齐放、百家争鸣”的方针</vt:lpstr>
      <vt:lpstr>10.针对人民内部矛盾在具体实践中的不同情况，毛泽东提出了一系列具体方针、原则，对于科学文化领域里的矛盾,实行（  ）。 A. 实行“团结一批评一团结”的方针 B. 坚持民主集中制原则 C. 统筹兼顾、适当安排的方针 D. “百花齐放、百家争鸣”的方针</vt:lpstr>
      <vt:lpstr>1.社会主义社会的基本矛盾是（   ）。 A.人民日益增长的物质文化需要同落后的社会生产之间的矛盾 B.工人阶级和资产阶级之间的矛盾 C.生产关系和生产力之间的矛盾 D.人民日益增长的美好生活需要和不平衡不充分的发展之间的矛盾 E.上层建筑和经济基础之间的矛盾</vt:lpstr>
      <vt:lpstr>2.关于社会主义社会基本矛盾，以下观点正确的有（   ）。 A.社会主义社会的基本的矛盾仍然是生产关系和生产力之间的矛盾，上层建筑和经济基础之间的矛盾 B. 社会主义社会基本矛盾运动具有“又相适应又相矛盾”的特点，相适应的一面是基本方面，相矛盾的一面是非基本方面 C. 社会主义社会的基本矛盾是对抗性的矛盾 D. 社会主义社会的基本矛盾是在人民根本利益一致基础上的矛盾 E. 社会主义社会的基本矛盾是非对抗性的矛盾</vt:lpstr>
      <vt:lpstr>3.以下各选项属于社会主义建设初步探索重要理论成果的有（   ）。 A.调动一切积极因素为社会主义事业服务的基本方针 B.正确认识和处理社会主义社会矛盾的思想 C.走中国工业化道路的思想 D.关于社会主义发展阶段的思想 E.关于“四个现代化”战略目标</vt:lpstr>
      <vt:lpstr>4.在社会主义建设的初步探索阶段，根据形势的发展，在国际战略和外交工作方面，毛泽东提出了（  ）。 A.冷静观察、稳住阵脚、韬光养晦、有所作为的方针 B.积极推动建立和平稳定、公正合理的国际政治经济新秩序 C.两个“中间地带”的战略思想 D.党际关系“四项原则” E.“三个世界划分”的战略思想</vt:lpstr>
      <vt:lpstr>5.在社会主义建设道路初步探索过程中，我们党在理论和实践上取得了一系列重要成果，具有重大意义。这些重大意义包括（   ）。 A.开创了中国特色社会主义建设道路 B.巩固和发展了我国的社会主义制度 C.为开创中国特色社会主义提供了宝贵经验、理论准备、物质基础 D.丰富了科学社会主义的理论和实践 E.找到了适合中国国情的社会主义建设道路</vt:lpstr>
      <vt:lpstr>6.关于社会主义社会两类不同性质的矛盾，毛泽东强调（   ）。 A. 社会主义社会存在两类社会矛盾，这就是敌我矛盾和人民内部矛盾 B. 敌我矛盾是根本利益对立基础上的矛盾，因而是对抗性的矛盾 C. 人民内部矛盾是在人民根本利益一致基础上的矛盾，因而是非对抗性的矛盾 D. 两类不同性质的矛盾在一定的条件下可以互相转化 E. 采用专政和民主这样两种不同的方法解决敌我矛盾和人民内部矛盾</vt:lpstr>
      <vt:lpstr>7.我国社会主义建设道路初步探索的经验教训主要包括（     ）。 A. 必须把马克思主义与中国实际相结合，探索符合中国特点的社会主义建设道路 B. 必须正确认识社会主义社会的主要矛盾和根本任务，集屮力量发展生产力 C. 必须从实际岀发进行社会主义建设，建设规模和速度要与国力相适应，不能急于求成 D. 必须发展社会主义民主，健全社会主义法制；必须坚持党的民主集中制和集体领导制度，加强执政党建设 E. 必须坚持对外开放，借鉴和吸收人类文明成果建设社会主义</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 欣翰</cp:lastModifiedBy>
  <cp:revision>13</cp:revision>
  <dcterms:created xsi:type="dcterms:W3CDTF">2023-08-09T12:44:00Z</dcterms:created>
  <dcterms:modified xsi:type="dcterms:W3CDTF">2026-06-25T15:21:20Z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0FFB374EF87741258E9EC42A4DEF22FC_13</vt:lpwstr>
  </property>
</Properties>
</file>