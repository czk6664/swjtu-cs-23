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0" r:id="rId3"/>
    <p:sldId id="298" r:id="rId4"/>
    <p:sldId id="299" r:id="rId5"/>
    <p:sldId id="300" r:id="rId6"/>
    <p:sldId id="301" r:id="rId7"/>
    <p:sldId id="302" r:id="rId8"/>
    <p:sldId id="303" r:id="rId9"/>
    <p:sldId id="304" r:id="rId10"/>
    <p:sldId id="320" r:id="rId11"/>
    <p:sldId id="305" r:id="rId12"/>
    <p:sldId id="308" r:id="rId13"/>
    <p:sldId id="309" r:id="rId14"/>
    <p:sldId id="310" r:id="rId15"/>
    <p:sldId id="311" r:id="rId16"/>
    <p:sldId id="312" r:id="rId17"/>
    <p:sldId id="313" r:id="rId18"/>
    <p:sldId id="314" r:id="rId19"/>
    <p:sldId id="315"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1.1978</a:t>
            </a:r>
            <a:r>
              <a:rPr lang="zh-CN" altLang="en-US" sz="2665"/>
              <a:t>召开的十一届三中全会，开启了改革开放和社会主义现代化建设的新时期。以邓小平同志为主要代表的中国共产党人，围绕什么是社会主义、怎样建设社会主义这一根本问题，创立了（</a:t>
            </a:r>
            <a:r>
              <a:rPr lang="en-US" altLang="zh-CN" sz="2665"/>
              <a:t>    </a:t>
            </a:r>
            <a:r>
              <a:rPr lang="zh-CN" altLang="en-US" sz="2665"/>
              <a:t>），成功开创了中国特色社会主义。</a:t>
            </a:r>
            <a:br>
              <a:rPr lang="zh-CN" altLang="en-US" sz="2665"/>
            </a:br>
            <a:r>
              <a:rPr lang="en-US" altLang="zh-CN" sz="2665"/>
              <a:t>      A. </a:t>
            </a:r>
            <a:r>
              <a:rPr lang="zh-CN" altLang="en-US" sz="2665"/>
              <a:t>邓小平理论</a:t>
            </a:r>
            <a:br>
              <a:rPr lang="zh-CN" altLang="en-US" sz="2665"/>
            </a:br>
            <a:r>
              <a:rPr lang="en-US" altLang="zh-CN" sz="2665"/>
              <a:t>      B. “</a:t>
            </a:r>
            <a:r>
              <a:rPr lang="zh-CN" altLang="en-US" sz="2665"/>
              <a:t>三个代表</a:t>
            </a:r>
            <a:r>
              <a:rPr lang="en-US" altLang="zh-CN" sz="2665"/>
              <a:t>”</a:t>
            </a:r>
            <a:r>
              <a:rPr lang="zh-CN" altLang="en-US" sz="2665"/>
              <a:t>重要思想</a:t>
            </a:r>
            <a:br>
              <a:rPr lang="zh-CN" altLang="en-US" sz="2665"/>
            </a:br>
            <a:r>
              <a:rPr lang="en-US" altLang="zh-CN" sz="2665"/>
              <a:t>      C. </a:t>
            </a:r>
            <a:r>
              <a:rPr lang="zh-CN" altLang="en-US" sz="2665"/>
              <a:t>科学发展观</a:t>
            </a:r>
            <a:br>
              <a:rPr lang="zh-CN" altLang="en-US" sz="2665"/>
            </a:br>
            <a:r>
              <a:rPr lang="en-US" altLang="zh-CN" sz="2665"/>
              <a:t>      D. </a:t>
            </a:r>
            <a:r>
              <a:rPr lang="zh-CN" altLang="en-US" sz="2665"/>
              <a:t>习近平新时代中国特色社会主义思想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2.</a:t>
            </a:r>
            <a:r>
              <a:rPr lang="zh-CN" altLang="en-US" sz="2665"/>
              <a:t>党的十一届三中全会以后，以邓小平同志为主要代表的中国共产党人创立的（</a:t>
            </a:r>
            <a:r>
              <a:rPr lang="en-US" altLang="zh-CN" sz="2665"/>
              <a:t>      </a:t>
            </a:r>
            <a:r>
              <a:rPr lang="zh-CN" altLang="en-US" sz="2665"/>
              <a:t>），是中国特色社会主义理论体系的开篇之作。</a:t>
            </a:r>
            <a:br>
              <a:rPr lang="zh-CN" altLang="en-US" sz="2665"/>
            </a:br>
            <a:r>
              <a:rPr lang="en-US" altLang="zh-CN" sz="2665"/>
              <a:t>     A. </a:t>
            </a:r>
            <a:r>
              <a:rPr lang="zh-CN" altLang="en-US" sz="2665"/>
              <a:t>邓小平理论</a:t>
            </a:r>
            <a:br>
              <a:rPr lang="zh-CN" altLang="en-US" sz="2665"/>
            </a:br>
            <a:r>
              <a:rPr lang="en-US" altLang="zh-CN" sz="2665"/>
              <a:t>     B. “</a:t>
            </a:r>
            <a:r>
              <a:rPr lang="zh-CN" altLang="en-US" sz="2665"/>
              <a:t>三个代表</a:t>
            </a:r>
            <a:r>
              <a:rPr lang="en-US" altLang="zh-CN" sz="2665"/>
              <a:t>”</a:t>
            </a:r>
            <a:r>
              <a:rPr lang="zh-CN" altLang="en-US" sz="2665"/>
              <a:t>重要思想</a:t>
            </a:r>
            <a:br>
              <a:rPr lang="zh-CN" altLang="en-US" sz="2665"/>
            </a:br>
            <a:r>
              <a:rPr lang="en-US" altLang="zh-CN" sz="2665"/>
              <a:t>     C. </a:t>
            </a:r>
            <a:r>
              <a:rPr lang="zh-CN" altLang="en-US" sz="2665"/>
              <a:t>科学发展观</a:t>
            </a:r>
            <a:br>
              <a:rPr lang="zh-CN" altLang="en-US" sz="2665"/>
            </a:br>
            <a:r>
              <a:rPr lang="en-US" altLang="zh-CN" sz="2665"/>
              <a:t>    D. </a:t>
            </a:r>
            <a:r>
              <a:rPr lang="zh-CN" altLang="en-US" sz="2665"/>
              <a:t>习近平新时代中国特色社会主义思想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答案：（C）</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3.</a:t>
            </a:r>
            <a:r>
              <a:rPr lang="zh-CN" altLang="en-US" sz="2665"/>
              <a:t>马克思主义中国化时代化的理论成果是一脉相承又与时俱进的关系。一方面，毛泽东思想所蕴含的马克思主义立场、观点和方法，为中国特色社会主义理论体系提供了（</a:t>
            </a:r>
            <a:r>
              <a:rPr lang="en-US" altLang="zh-CN" sz="2665"/>
              <a:t>    </a:t>
            </a:r>
            <a:r>
              <a:rPr lang="zh-CN" altLang="en-US" sz="2665"/>
              <a:t>）。另一方面，中国特色社会主义理论体系在新的历史条件下进一步丰富和发展了毛泽东思想。毛泽东思想和中国特色社会主义理论体系，都是马克思主义列宁主义在中国运用和发展，都以独创性的理论成果丰富和发展了马克思主义的理论宝库，都是党和国家必须长期坚持的指导思想。</a:t>
            </a:r>
            <a:br>
              <a:rPr lang="zh-CN" altLang="en-US" sz="2665"/>
            </a:br>
            <a:r>
              <a:rPr lang="en-US" altLang="zh-CN" sz="2665"/>
              <a:t>      A. </a:t>
            </a:r>
            <a:r>
              <a:rPr lang="zh-CN" altLang="en-US" sz="2665"/>
              <a:t>实践基础</a:t>
            </a:r>
            <a:r>
              <a:rPr lang="en-US" altLang="zh-CN" sz="2665"/>
              <a:t>         B. </a:t>
            </a:r>
            <a:r>
              <a:rPr lang="zh-CN" altLang="en-US" sz="2665"/>
              <a:t>理论素材</a:t>
            </a:r>
            <a:r>
              <a:rPr lang="en-US" altLang="zh-CN" sz="2665"/>
              <a:t>        C. </a:t>
            </a:r>
            <a:r>
              <a:rPr lang="zh-CN" altLang="en-US" sz="2665"/>
              <a:t>基本遵循</a:t>
            </a:r>
            <a:r>
              <a:rPr lang="en-US" altLang="zh-CN" sz="2665"/>
              <a:t>              D. </a:t>
            </a:r>
            <a:r>
              <a:rPr lang="zh-CN" altLang="en-US" sz="2665"/>
              <a:t>历史依据</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答案：（D）</a:t>
            </a:r>
          </a:p>
        </p:txBody>
      </p:sp>
      <p:sp>
        <p:nvSpPr>
          <p:cNvPr id="2" name="标题 1"/>
          <p:cNvSpPr>
            <a:spLocks noGrp="1"/>
          </p:cNvSpPr>
          <p:nvPr>
            <p:ph type="ctrTitle"/>
          </p:nvPr>
        </p:nvSpPr>
        <p:spPr>
          <a:xfrm>
            <a:off x="1040130" y="1092200"/>
            <a:ext cx="10334625" cy="3501390"/>
          </a:xfrm>
        </p:spPr>
        <p:txBody>
          <a:bodyPr>
            <a:normAutofit/>
          </a:bodyPr>
          <a:lstStyle/>
          <a:p>
            <a:pPr algn="l">
              <a:lnSpc>
                <a:spcPct val="140000"/>
              </a:lnSpc>
            </a:pPr>
            <a:r>
              <a:rPr lang="en-US" altLang="zh-CN" sz="2665" dirty="0"/>
              <a:t>      </a:t>
            </a:r>
            <a:r>
              <a:rPr lang="en-US" altLang="zh-CN" sz="2665" dirty="0">
                <a:solidFill>
                  <a:srgbClr val="FF0000"/>
                </a:solidFill>
              </a:rPr>
              <a:t>4.</a:t>
            </a:r>
            <a:r>
              <a:rPr lang="en-US" altLang="zh-CN" sz="2665" dirty="0"/>
              <a:t>1938</a:t>
            </a:r>
            <a:r>
              <a:rPr lang="zh-CN" altLang="en-US" sz="2665" dirty="0"/>
              <a:t>年，毛泽东在党的六届六中全会上作了（</a:t>
            </a:r>
            <a:r>
              <a:rPr lang="en-US" altLang="zh-CN" sz="2665" dirty="0"/>
              <a:t>   </a:t>
            </a:r>
            <a:r>
              <a:rPr lang="zh-CN" altLang="en-US" sz="2665" dirty="0"/>
              <a:t>）的报告，标志着</a:t>
            </a:r>
            <a:r>
              <a:rPr lang="en-US" altLang="zh-CN" sz="2665" dirty="0"/>
              <a:t>“</a:t>
            </a:r>
            <a:r>
              <a:rPr lang="zh-CN" altLang="en-US" sz="2665" dirty="0"/>
              <a:t>马克思主义的中国化</a:t>
            </a:r>
            <a:r>
              <a:rPr lang="en-US" altLang="zh-CN" sz="2665" dirty="0"/>
              <a:t>”</a:t>
            </a:r>
            <a:r>
              <a:rPr lang="zh-CN" altLang="en-US" sz="2665" dirty="0"/>
              <a:t>这一命题的正式提出。</a:t>
            </a:r>
            <a:br>
              <a:rPr lang="zh-CN" altLang="en-US" sz="2665" dirty="0"/>
            </a:br>
            <a:r>
              <a:rPr lang="en-US" altLang="zh-CN" sz="2665" dirty="0"/>
              <a:t>      A. </a:t>
            </a:r>
            <a:r>
              <a:rPr lang="zh-CN" altLang="en-US" sz="2665" dirty="0"/>
              <a:t>《论人民民主专政》</a:t>
            </a:r>
            <a:br>
              <a:rPr lang="zh-CN" altLang="en-US" sz="2665" dirty="0"/>
            </a:br>
            <a:r>
              <a:rPr lang="en-US" altLang="zh-CN" sz="2665" dirty="0"/>
              <a:t>      B. </a:t>
            </a:r>
            <a:r>
              <a:rPr lang="zh-CN" altLang="en-US" sz="2665" dirty="0"/>
              <a:t>《实践论》</a:t>
            </a:r>
            <a:br>
              <a:rPr lang="zh-CN" altLang="en-US" sz="2665" dirty="0"/>
            </a:br>
            <a:r>
              <a:rPr lang="en-US" altLang="zh-CN" sz="2665" dirty="0"/>
              <a:t>      C. </a:t>
            </a:r>
            <a:r>
              <a:rPr lang="zh-CN" altLang="en-US" sz="2665" dirty="0"/>
              <a:t>《论持久战》</a:t>
            </a:r>
            <a:br>
              <a:rPr lang="zh-CN" altLang="en-US" sz="2665" dirty="0"/>
            </a:br>
            <a:r>
              <a:rPr lang="en-US" altLang="zh-CN" sz="2665" dirty="0"/>
              <a:t>      D. </a:t>
            </a:r>
            <a:r>
              <a:rPr lang="zh-CN" altLang="en-US" sz="2665" dirty="0"/>
              <a:t>《论新阶段》</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答案：（B）</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5.</a:t>
            </a:r>
            <a:r>
              <a:rPr lang="zh-CN" altLang="en-US" sz="2665"/>
              <a:t>创立于新民主主义革命时期，丰富和发展于社会主义革命和建设时期的（</a:t>
            </a:r>
            <a:r>
              <a:rPr lang="en-US" altLang="zh-CN" sz="2665"/>
              <a:t>   </a:t>
            </a:r>
            <a:r>
              <a:rPr lang="zh-CN" altLang="en-US" sz="2665"/>
              <a:t>），是马克思主义中国化时代化的第一次历史性飞跃。</a:t>
            </a:r>
            <a:br>
              <a:rPr lang="zh-CN" altLang="en-US" sz="2665"/>
            </a:br>
            <a:r>
              <a:rPr lang="en-US" altLang="zh-CN" sz="2665"/>
              <a:t>A. </a:t>
            </a:r>
            <a:r>
              <a:rPr lang="zh-CN" altLang="en-US" sz="2665"/>
              <a:t>邓小平理论</a:t>
            </a:r>
            <a:br>
              <a:rPr lang="zh-CN" altLang="en-US" sz="2665"/>
            </a:br>
            <a:r>
              <a:rPr lang="en-US" altLang="zh-CN" sz="2665"/>
              <a:t>B. </a:t>
            </a:r>
            <a:r>
              <a:rPr lang="zh-CN" altLang="en-US" sz="2665"/>
              <a:t>毛泽东思想</a:t>
            </a:r>
            <a:br>
              <a:rPr lang="zh-CN" altLang="en-US" sz="2665"/>
            </a:br>
            <a:r>
              <a:rPr lang="en-US" altLang="zh-CN" sz="2665"/>
              <a:t>C. </a:t>
            </a:r>
            <a:r>
              <a:rPr lang="zh-CN" altLang="en-US" sz="2665"/>
              <a:t>科学发展观</a:t>
            </a:r>
            <a:br>
              <a:rPr lang="zh-CN" altLang="en-US" sz="2665"/>
            </a:br>
            <a:r>
              <a:rPr lang="en-US" altLang="zh-CN" sz="2665"/>
              <a:t>D. “</a:t>
            </a:r>
            <a:r>
              <a:rPr lang="zh-CN" altLang="en-US" sz="2665"/>
              <a:t>三个代表</a:t>
            </a:r>
            <a:r>
              <a:rPr lang="en-US" altLang="zh-CN" sz="2665"/>
              <a:t>”</a:t>
            </a:r>
            <a:r>
              <a:rPr lang="zh-CN" altLang="en-US" sz="2665"/>
              <a:t>重要思想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答案：（C）</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6.1978</a:t>
            </a:r>
            <a:r>
              <a:rPr lang="zh-CN" altLang="en-US" sz="2665"/>
              <a:t>召开的十一届三中全会，开启了改革开放和社会主义现代化建设的新时期。以邓小平同志为主要代表的中国共产党人，围绕（</a:t>
            </a:r>
            <a:r>
              <a:rPr lang="en-US" altLang="zh-CN" sz="2665"/>
              <a:t>   </a:t>
            </a:r>
            <a:r>
              <a:rPr lang="zh-CN" altLang="en-US" sz="2665"/>
              <a:t>）这一根本问题，创立了邓小平理论，成功开创了中国特色社会主义。</a:t>
            </a:r>
            <a:br>
              <a:rPr lang="zh-CN" altLang="en-US" sz="2665"/>
            </a:br>
            <a:r>
              <a:rPr lang="en-US" altLang="zh-CN" sz="2665"/>
              <a:t>A. </a:t>
            </a:r>
            <a:r>
              <a:rPr lang="zh-CN" altLang="en-US" sz="2665"/>
              <a:t>实现什么样的发展、怎样发展</a:t>
            </a:r>
            <a:br>
              <a:rPr lang="zh-CN" altLang="en-US" sz="2665"/>
            </a:br>
            <a:r>
              <a:rPr lang="en-US" altLang="zh-CN" sz="2665"/>
              <a:t>B. </a:t>
            </a:r>
            <a:r>
              <a:rPr lang="zh-CN" altLang="en-US" sz="2665"/>
              <a:t>建设什么样的党、怎样建设党</a:t>
            </a:r>
            <a:br>
              <a:rPr lang="zh-CN" altLang="en-US" sz="2665"/>
            </a:br>
            <a:r>
              <a:rPr lang="en-US" altLang="zh-CN" sz="2665"/>
              <a:t>C. </a:t>
            </a:r>
            <a:r>
              <a:rPr lang="zh-CN" altLang="en-US" sz="2665"/>
              <a:t>什么是社会主义、怎样建设社会主义</a:t>
            </a:r>
            <a:br>
              <a:rPr lang="zh-CN" altLang="en-US" sz="2665"/>
            </a:br>
            <a:r>
              <a:rPr lang="en-US" altLang="zh-CN" sz="2665"/>
              <a:t>D. </a:t>
            </a:r>
            <a:r>
              <a:rPr lang="zh-CN" altLang="en-US" sz="2665"/>
              <a:t>建设什么样的社会主义现代化强国、怎样建设社会主义现代化强国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a:t>
            </a:r>
          </a:p>
        </p:txBody>
      </p:sp>
      <p:sp>
        <p:nvSpPr>
          <p:cNvPr id="2" name="标题 1"/>
          <p:cNvSpPr>
            <a:spLocks noGrp="1"/>
          </p:cNvSpPr>
          <p:nvPr>
            <p:ph type="ctrTitle"/>
          </p:nvPr>
        </p:nvSpPr>
        <p:spPr>
          <a:xfrm>
            <a:off x="904240" y="1066165"/>
            <a:ext cx="10334625" cy="3799205"/>
          </a:xfrm>
        </p:spPr>
        <p:txBody>
          <a:bodyPr>
            <a:normAutofit/>
          </a:bodyPr>
          <a:lstStyle/>
          <a:p>
            <a:pPr algn="l">
              <a:lnSpc>
                <a:spcPct val="140000"/>
              </a:lnSpc>
            </a:pPr>
            <a:r>
              <a:rPr lang="en-US" altLang="zh-CN" sz="2665"/>
              <a:t>      7.</a:t>
            </a:r>
            <a:r>
              <a:rPr lang="zh-CN" altLang="en-US" sz="2665"/>
              <a:t>马克思主义中国化时代化第一次历史性飞跃的理论成果是（</a:t>
            </a:r>
            <a:r>
              <a:rPr lang="en-US" altLang="zh-CN" sz="2665"/>
              <a:t>     </a:t>
            </a:r>
            <a:r>
              <a:rPr lang="zh-CN" altLang="en-US" sz="2665"/>
              <a:t>）。</a:t>
            </a:r>
            <a:br>
              <a:rPr lang="zh-CN" altLang="en-US" sz="2665"/>
            </a:br>
            <a:r>
              <a:rPr lang="en-US" altLang="zh-CN" sz="2665"/>
              <a:t>       A. </a:t>
            </a:r>
            <a:r>
              <a:rPr lang="zh-CN" altLang="en-US" sz="2665"/>
              <a:t>毛泽东思想</a:t>
            </a:r>
            <a:br>
              <a:rPr lang="zh-CN" altLang="en-US" sz="2665"/>
            </a:br>
            <a:r>
              <a:rPr lang="en-US" altLang="zh-CN" sz="2665"/>
              <a:t>      B. </a:t>
            </a:r>
            <a:r>
              <a:rPr lang="zh-CN" altLang="en-US" sz="2665"/>
              <a:t>邓小平理论</a:t>
            </a:r>
            <a:br>
              <a:rPr lang="zh-CN" altLang="en-US" sz="2665"/>
            </a:br>
            <a:r>
              <a:rPr lang="en-US" altLang="zh-CN" sz="2665"/>
              <a:t>     C. </a:t>
            </a:r>
            <a:r>
              <a:rPr lang="zh-CN" altLang="en-US" sz="2665"/>
              <a:t>中国特色社会主义理论体系</a:t>
            </a:r>
            <a:br>
              <a:rPr lang="zh-CN" altLang="en-US" sz="2665"/>
            </a:br>
            <a:r>
              <a:rPr lang="en-US" altLang="zh-CN" sz="2665"/>
              <a:t>     D. </a:t>
            </a:r>
            <a:r>
              <a:rPr lang="zh-CN" altLang="en-US" sz="2665"/>
              <a:t>习近平新时代中国特色社会主义思想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答案：（D）</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8.</a:t>
            </a:r>
            <a:r>
              <a:rPr lang="zh-CN" altLang="en-US" sz="2665"/>
              <a:t>贯穿于《毛泽东思想和中国特色社会主义理论体系概论》教材的主线是（</a:t>
            </a:r>
            <a:r>
              <a:rPr lang="en-US" altLang="zh-CN" sz="2665"/>
              <a:t>   </a:t>
            </a:r>
            <a:r>
              <a:rPr lang="zh-CN" altLang="en-US" sz="2665"/>
              <a:t>）。</a:t>
            </a:r>
            <a:br>
              <a:rPr lang="zh-CN" altLang="en-US" sz="2665"/>
            </a:br>
            <a:r>
              <a:rPr lang="en-US" altLang="zh-CN" sz="2665"/>
              <a:t>     A</a:t>
            </a:r>
            <a:r>
              <a:rPr lang="zh-CN" altLang="en-US" sz="2665"/>
              <a:t>．马克思列宁主义</a:t>
            </a:r>
            <a:br>
              <a:rPr lang="zh-CN" altLang="en-US" sz="2665"/>
            </a:br>
            <a:r>
              <a:rPr lang="en-US" altLang="zh-CN" sz="2665"/>
              <a:t>     B</a:t>
            </a:r>
            <a:r>
              <a:rPr lang="zh-CN" altLang="en-US" sz="2665"/>
              <a:t>．马克思主义中国化</a:t>
            </a:r>
            <a:br>
              <a:rPr lang="zh-CN" altLang="en-US" sz="2665"/>
            </a:br>
            <a:r>
              <a:rPr lang="en-US" altLang="zh-CN" sz="2665"/>
              <a:t>    C</a:t>
            </a:r>
            <a:r>
              <a:rPr lang="zh-CN" altLang="en-US" sz="2665"/>
              <a:t>．马克思主义</a:t>
            </a:r>
            <a:br>
              <a:rPr lang="zh-CN" altLang="en-US" sz="2665"/>
            </a:br>
            <a:r>
              <a:rPr lang="en-US" altLang="zh-CN" sz="2665"/>
              <a:t>    D</a:t>
            </a:r>
            <a:r>
              <a:rPr lang="zh-CN" altLang="en-US" sz="2665"/>
              <a:t>．马克思主义中国化时代化</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答案：（C）</a:t>
            </a:r>
          </a:p>
        </p:txBody>
      </p:sp>
      <p:sp>
        <p:nvSpPr>
          <p:cNvPr id="2" name="标题 1"/>
          <p:cNvSpPr>
            <a:spLocks noGrp="1"/>
          </p:cNvSpPr>
          <p:nvPr>
            <p:ph type="ctrTitle"/>
          </p:nvPr>
        </p:nvSpPr>
        <p:spPr>
          <a:xfrm>
            <a:off x="1624330" y="1431925"/>
            <a:ext cx="9131935" cy="3188335"/>
          </a:xfrm>
        </p:spPr>
        <p:txBody>
          <a:bodyPr>
            <a:normAutofit/>
          </a:bodyPr>
          <a:lstStyle/>
          <a:p>
            <a:pPr algn="l">
              <a:lnSpc>
                <a:spcPct val="140000"/>
              </a:lnSpc>
            </a:pPr>
            <a:r>
              <a:rPr lang="en-US" altLang="zh-CN" sz="2665" dirty="0"/>
              <a:t>      </a:t>
            </a:r>
            <a:r>
              <a:rPr lang="en-US" altLang="zh-CN" sz="2665" dirty="0">
                <a:solidFill>
                  <a:srgbClr val="FF0000"/>
                </a:solidFill>
              </a:rPr>
              <a:t>9</a:t>
            </a:r>
            <a:r>
              <a:rPr lang="en-US" altLang="zh-CN" sz="2665" dirty="0"/>
              <a:t>.“</a:t>
            </a:r>
            <a:r>
              <a:rPr lang="zh-CN" altLang="en-US" sz="2665" dirty="0"/>
              <a:t>马克思主义中国化</a:t>
            </a:r>
            <a:r>
              <a:rPr lang="en-US" altLang="zh-CN" sz="2665" dirty="0"/>
              <a:t>”</a:t>
            </a:r>
            <a:r>
              <a:rPr lang="zh-CN" altLang="en-US" sz="2665" dirty="0"/>
              <a:t>这一命题正式提出是在（</a:t>
            </a:r>
            <a:r>
              <a:rPr lang="en-US" altLang="zh-CN" sz="2665" dirty="0"/>
              <a:t>    </a:t>
            </a:r>
            <a:r>
              <a:rPr lang="zh-CN" altLang="en-US" sz="2665" dirty="0"/>
              <a:t>）。</a:t>
            </a:r>
            <a:br>
              <a:rPr lang="zh-CN" altLang="en-US" sz="2665" dirty="0"/>
            </a:br>
            <a:r>
              <a:rPr lang="en-US" altLang="zh-CN" sz="2665" dirty="0"/>
              <a:t>      A</a:t>
            </a:r>
            <a:r>
              <a:rPr lang="zh-CN" altLang="en-US" sz="2665" dirty="0"/>
              <a:t>．</a:t>
            </a:r>
            <a:r>
              <a:rPr lang="en-US" altLang="zh-CN" sz="2665" dirty="0"/>
              <a:t>1921</a:t>
            </a:r>
            <a:r>
              <a:rPr lang="zh-CN" altLang="en-US" sz="2665" dirty="0"/>
              <a:t>年党的一大</a:t>
            </a:r>
            <a:br>
              <a:rPr lang="zh-CN" altLang="en-US" sz="2665" dirty="0"/>
            </a:br>
            <a:r>
              <a:rPr lang="en-US" altLang="zh-CN" sz="2665" dirty="0"/>
              <a:t>      B</a:t>
            </a:r>
            <a:r>
              <a:rPr lang="zh-CN" altLang="en-US" sz="2665" dirty="0"/>
              <a:t>．</a:t>
            </a:r>
            <a:r>
              <a:rPr lang="en-US" altLang="zh-CN" sz="2665" dirty="0"/>
              <a:t>1935</a:t>
            </a:r>
            <a:r>
              <a:rPr lang="zh-CN" altLang="en-US" sz="2665" dirty="0"/>
              <a:t>年遵义会议</a:t>
            </a:r>
            <a:br>
              <a:rPr lang="zh-CN" altLang="en-US" sz="2665" dirty="0"/>
            </a:br>
            <a:r>
              <a:rPr lang="en-US" altLang="zh-CN" sz="2665" dirty="0"/>
              <a:t>      C</a:t>
            </a:r>
            <a:r>
              <a:rPr lang="zh-CN" altLang="en-US" sz="2665" dirty="0"/>
              <a:t>．</a:t>
            </a:r>
            <a:r>
              <a:rPr lang="en-US" altLang="zh-CN" sz="2665" dirty="0"/>
              <a:t>1938</a:t>
            </a:r>
            <a:r>
              <a:rPr lang="zh-CN" altLang="en-US" sz="2665" dirty="0"/>
              <a:t>年党的六届六中全会</a:t>
            </a:r>
            <a:br>
              <a:rPr lang="zh-CN" altLang="en-US" sz="2665" dirty="0"/>
            </a:br>
            <a:r>
              <a:rPr lang="en-US" altLang="zh-CN" sz="2665" dirty="0"/>
              <a:t>      D</a:t>
            </a:r>
            <a:r>
              <a:rPr lang="zh-CN" altLang="en-US" sz="2665" dirty="0"/>
              <a:t>．</a:t>
            </a:r>
            <a:r>
              <a:rPr lang="en-US" altLang="zh-CN" sz="2665" dirty="0"/>
              <a:t>1945</a:t>
            </a:r>
            <a:r>
              <a:rPr lang="zh-CN" altLang="en-US" sz="2665" dirty="0"/>
              <a:t>年党的七大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答案：（BCDE）</a:t>
            </a:r>
          </a:p>
        </p:txBody>
      </p:sp>
      <p:sp>
        <p:nvSpPr>
          <p:cNvPr id="2" name="标题 1"/>
          <p:cNvSpPr>
            <a:spLocks noGrp="1"/>
          </p:cNvSpPr>
          <p:nvPr>
            <p:ph type="ctrTitle"/>
          </p:nvPr>
        </p:nvSpPr>
        <p:spPr>
          <a:xfrm>
            <a:off x="904240" y="1534160"/>
            <a:ext cx="10334625" cy="3650615"/>
          </a:xfrm>
        </p:spPr>
        <p:txBody>
          <a:bodyPr>
            <a:normAutofit/>
          </a:bodyPr>
          <a:lstStyle/>
          <a:p>
            <a:pPr algn="l">
              <a:lnSpc>
                <a:spcPct val="140000"/>
              </a:lnSpc>
            </a:pPr>
            <a:r>
              <a:rPr lang="en-US" altLang="zh-CN" sz="2665"/>
              <a:t>      1.</a:t>
            </a:r>
            <a:r>
              <a:rPr lang="zh-CN" altLang="en-US" sz="2665"/>
              <a:t>中国特色社会主义理论体系包括（</a:t>
            </a:r>
            <a:r>
              <a:rPr lang="en-US" altLang="zh-CN" sz="2665"/>
              <a:t>     </a:t>
            </a:r>
            <a:r>
              <a:rPr lang="zh-CN" altLang="en-US" sz="2665"/>
              <a:t>）。</a:t>
            </a:r>
            <a:r>
              <a:rPr lang="en-US" altLang="en-US" sz="2665"/>
              <a:t> </a:t>
            </a:r>
            <a:br>
              <a:rPr lang="en-US" altLang="en-US" sz="2665"/>
            </a:br>
            <a:r>
              <a:rPr lang="en-US" altLang="en-US" sz="2665"/>
              <a:t> </a:t>
            </a:r>
            <a:r>
              <a:rPr lang="en-US" altLang="zh-CN" sz="2665"/>
              <a:t>         A. </a:t>
            </a:r>
            <a:r>
              <a:rPr lang="zh-CN" altLang="en-US" sz="2665"/>
              <a:t>毛泽东思想</a:t>
            </a:r>
            <a:br>
              <a:rPr lang="zh-CN" altLang="en-US" sz="2665"/>
            </a:br>
            <a:r>
              <a:rPr lang="en-US" altLang="zh-CN" sz="2665"/>
              <a:t>         B. </a:t>
            </a:r>
            <a:r>
              <a:rPr lang="zh-CN" altLang="en-US" sz="2665"/>
              <a:t>邓小平理论</a:t>
            </a:r>
            <a:r>
              <a:rPr lang="en-US" altLang="en-US" sz="2665"/>
              <a:t> </a:t>
            </a:r>
            <a:br>
              <a:rPr lang="en-US" altLang="en-US" sz="2665"/>
            </a:br>
            <a:r>
              <a:rPr lang="en-US" altLang="en-US" sz="2665"/>
              <a:t> </a:t>
            </a:r>
            <a:r>
              <a:rPr lang="en-US" altLang="zh-CN" sz="2665"/>
              <a:t>        C. “</a:t>
            </a:r>
            <a:r>
              <a:rPr lang="zh-CN" altLang="en-US" sz="2665"/>
              <a:t>三个代表</a:t>
            </a:r>
            <a:r>
              <a:rPr lang="en-US" altLang="zh-CN" sz="2665"/>
              <a:t>”</a:t>
            </a:r>
            <a:r>
              <a:rPr lang="zh-CN" altLang="en-US" sz="2665"/>
              <a:t>重要思想</a:t>
            </a:r>
            <a:r>
              <a:rPr lang="en-US" altLang="en-US" sz="2665"/>
              <a:t> </a:t>
            </a:r>
            <a:r>
              <a:rPr lang="en-US" altLang="zh-CN" sz="2665"/>
              <a:t> </a:t>
            </a:r>
            <a:br>
              <a:rPr lang="en-US" altLang="zh-CN" sz="2665"/>
            </a:br>
            <a:r>
              <a:rPr lang="en-US" altLang="zh-CN" sz="2665"/>
              <a:t>         D. </a:t>
            </a:r>
            <a:r>
              <a:rPr lang="zh-CN" altLang="en-US" sz="2665"/>
              <a:t>科学发展观</a:t>
            </a:r>
            <a:r>
              <a:rPr lang="en-US" altLang="en-US" sz="2665"/>
              <a:t> </a:t>
            </a:r>
            <a:br>
              <a:rPr lang="en-US" altLang="en-US" sz="2665"/>
            </a:br>
            <a:r>
              <a:rPr lang="en-US" altLang="en-US" sz="2665"/>
              <a:t> </a:t>
            </a:r>
            <a:r>
              <a:rPr lang="en-US" altLang="zh-CN" sz="2665"/>
              <a:t>        E. </a:t>
            </a:r>
            <a:r>
              <a:rPr lang="zh-CN" altLang="en-US" sz="2665"/>
              <a:t>习近平新时代中国特色社会主义思想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答案：（ABD）</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2. </a:t>
            </a:r>
            <a:r>
              <a:rPr lang="zh-CN" altLang="en-US" sz="2665"/>
              <a:t>马克思主义中国化时代化的科学内涵包括（</a:t>
            </a:r>
            <a:r>
              <a:rPr lang="en-US" altLang="zh-CN" sz="2665"/>
              <a:t>     </a:t>
            </a:r>
            <a:r>
              <a:rPr lang="zh-CN" altLang="en-US" sz="2665"/>
              <a:t>）。</a:t>
            </a:r>
            <a:r>
              <a:rPr lang="en-US" altLang="en-US" sz="2665"/>
              <a:t> </a:t>
            </a:r>
            <a:br>
              <a:rPr lang="en-US" altLang="en-US" sz="2665"/>
            </a:br>
            <a:r>
              <a:rPr lang="en-US" altLang="en-US" sz="2665"/>
              <a:t> </a:t>
            </a:r>
            <a:r>
              <a:rPr lang="en-US" sz="2665"/>
              <a:t>     </a:t>
            </a:r>
            <a:r>
              <a:rPr lang="en-US" altLang="zh-CN" sz="2665"/>
              <a:t> A. </a:t>
            </a:r>
            <a:r>
              <a:rPr lang="zh-CN" altLang="en-US" sz="2665"/>
              <a:t>运用马克思主义解决中国实际问题</a:t>
            </a:r>
            <a:r>
              <a:rPr lang="en-US" altLang="zh-CN" sz="2665"/>
              <a:t> </a:t>
            </a:r>
            <a:r>
              <a:rPr lang="en-US" altLang="en-US" sz="2665"/>
              <a:t> </a:t>
            </a:r>
            <a:br>
              <a:rPr lang="en-US" altLang="en-US" sz="2665"/>
            </a:br>
            <a:r>
              <a:rPr lang="en-US" altLang="en-US" sz="2665"/>
              <a:t> </a:t>
            </a:r>
            <a:r>
              <a:rPr lang="en-US" altLang="zh-CN" sz="2665"/>
              <a:t>      B. </a:t>
            </a:r>
            <a:r>
              <a:rPr lang="zh-CN" altLang="en-US" sz="2665"/>
              <a:t>总结实践经验并上升为理论</a:t>
            </a:r>
            <a:r>
              <a:rPr lang="en-US" altLang="zh-CN" sz="2665"/>
              <a:t> </a:t>
            </a:r>
            <a:r>
              <a:rPr lang="en-US" altLang="en-US" sz="2665"/>
              <a:t> </a:t>
            </a:r>
            <a:br>
              <a:rPr lang="en-US" altLang="en-US" sz="2665"/>
            </a:br>
            <a:r>
              <a:rPr lang="en-US" altLang="en-US" sz="2665"/>
              <a:t> </a:t>
            </a:r>
            <a:r>
              <a:rPr lang="en-US" altLang="zh-CN" sz="2665"/>
              <a:t>     C. </a:t>
            </a:r>
            <a:r>
              <a:rPr lang="zh-CN" altLang="en-US" sz="2665"/>
              <a:t>把马克思主义经典理论翻译为汉语文献</a:t>
            </a:r>
            <a:r>
              <a:rPr lang="en-US" altLang="en-US" sz="2665"/>
              <a:t> </a:t>
            </a:r>
            <a:br>
              <a:rPr lang="en-US" altLang="en-US" sz="2665"/>
            </a:br>
            <a:r>
              <a:rPr lang="en-US" altLang="en-US" sz="2665"/>
              <a:t> </a:t>
            </a:r>
            <a:r>
              <a:rPr lang="en-US" sz="2665"/>
              <a:t>    </a:t>
            </a:r>
            <a:r>
              <a:rPr lang="en-US" altLang="zh-CN" sz="2665"/>
              <a:t> D. </a:t>
            </a:r>
            <a:r>
              <a:rPr lang="zh-CN" altLang="en-US" sz="2665"/>
              <a:t>植根于中国优秀传统文化</a:t>
            </a:r>
            <a:r>
              <a:rPr lang="en-US" altLang="en-US" sz="2665"/>
              <a:t> </a:t>
            </a:r>
            <a:br>
              <a:rPr lang="en-US" altLang="en-US" sz="2665"/>
            </a:br>
            <a:r>
              <a:rPr lang="en-US" altLang="en-US" sz="2665"/>
              <a:t> </a:t>
            </a:r>
            <a:r>
              <a:rPr lang="en-US" altLang="zh-CN" sz="2665"/>
              <a:t>     E. </a:t>
            </a:r>
            <a:r>
              <a:rPr lang="zh-CN" altLang="en-US" sz="2665"/>
              <a:t>照搬马克思主义经典著作</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答案：（AC）</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3.</a:t>
            </a:r>
            <a:r>
              <a:rPr lang="zh-CN" altLang="en-US" sz="2665"/>
              <a:t>马克思主义中国化时代化的必要性在于（</a:t>
            </a:r>
            <a:r>
              <a:rPr lang="en-US" altLang="zh-CN" sz="2665"/>
              <a:t>     </a:t>
            </a:r>
            <a:r>
              <a:rPr lang="zh-CN" altLang="en-US" sz="2665"/>
              <a:t>）。</a:t>
            </a:r>
            <a:r>
              <a:rPr lang="en-US" altLang="en-US" sz="2665"/>
              <a:t> </a:t>
            </a:r>
            <a:br>
              <a:rPr lang="en-US" altLang="en-US" sz="2665"/>
            </a:br>
            <a:r>
              <a:rPr lang="en-US" altLang="en-US" sz="2665"/>
              <a:t> </a:t>
            </a:r>
            <a:r>
              <a:rPr lang="en-US" altLang="zh-CN" sz="2665"/>
              <a:t>       A. </a:t>
            </a:r>
            <a:r>
              <a:rPr lang="zh-CN" altLang="en-US" sz="2665"/>
              <a:t>马克思主义理论本身发展的内在要求</a:t>
            </a:r>
            <a:br>
              <a:rPr lang="zh-CN" altLang="en-US" sz="2665"/>
            </a:br>
            <a:r>
              <a:rPr lang="en-US" altLang="zh-CN" sz="2665"/>
              <a:t>        B. </a:t>
            </a:r>
            <a:r>
              <a:rPr lang="zh-CN" altLang="en-US" sz="2665"/>
              <a:t>中国共产党人的主观愿望</a:t>
            </a:r>
            <a:br>
              <a:rPr lang="zh-CN" altLang="en-US" sz="2665"/>
            </a:br>
            <a:r>
              <a:rPr lang="en-US" altLang="en-US" sz="2665"/>
              <a:t> </a:t>
            </a:r>
            <a:r>
              <a:rPr lang="en-US" altLang="zh-CN" sz="2665"/>
              <a:t>       C. </a:t>
            </a:r>
            <a:r>
              <a:rPr lang="zh-CN" altLang="en-US" sz="2665"/>
              <a:t>解决中国实际问题的客观需要</a:t>
            </a:r>
            <a:r>
              <a:rPr lang="en-US" altLang="zh-CN" sz="2665"/>
              <a:t> </a:t>
            </a:r>
            <a:r>
              <a:rPr lang="en-US" altLang="en-US" sz="2665"/>
              <a:t> </a:t>
            </a:r>
            <a:br>
              <a:rPr lang="en-US" altLang="en-US" sz="2665"/>
            </a:br>
            <a:r>
              <a:rPr lang="en-US" sz="2665"/>
              <a:t>        </a:t>
            </a:r>
            <a:r>
              <a:rPr lang="en-US" altLang="zh-CN" sz="2665"/>
              <a:t>D. </a:t>
            </a:r>
            <a:r>
              <a:rPr lang="zh-CN" altLang="en-US" sz="2665"/>
              <a:t>中国传统文化优于马克思主义理论</a:t>
            </a:r>
            <a:r>
              <a:rPr lang="en-US" altLang="zh-CN" sz="2665"/>
              <a:t> </a:t>
            </a:r>
            <a:r>
              <a:rPr lang="en-US" altLang="en-US" sz="2665"/>
              <a:t> </a:t>
            </a:r>
            <a:br>
              <a:rPr lang="en-US" altLang="en-US" sz="2665"/>
            </a:br>
            <a:r>
              <a:rPr lang="en-US" altLang="en-US" sz="2665"/>
              <a:t> </a:t>
            </a:r>
            <a:r>
              <a:rPr lang="en-US" altLang="zh-CN" sz="2665"/>
              <a:t>       E. </a:t>
            </a:r>
            <a:r>
              <a:rPr lang="zh-CN" altLang="en-US" sz="2665"/>
              <a:t>马克思主义理论优于中国传统文化</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826125"/>
            <a:ext cx="9144000" cy="796290"/>
          </a:xfrm>
        </p:spPr>
        <p:txBody>
          <a:bodyPr vert="horz" lIns="91440" tIns="45720" rIns="91440" bIns="45720" rtlCol="0">
            <a:normAutofit/>
          </a:bodyPr>
          <a:lstStyle/>
          <a:p>
            <a:pPr lvl="0" algn="ctr">
              <a:buClrTx/>
              <a:buSzTx/>
            </a:pPr>
            <a:r>
              <a:rPr lang="zh-CN" altLang="en-US">
                <a:sym typeface="+mn-ea"/>
              </a:rPr>
              <a:t>答案：（AB）</a:t>
            </a:r>
          </a:p>
        </p:txBody>
      </p:sp>
      <p:sp>
        <p:nvSpPr>
          <p:cNvPr id="2" name="标题 1"/>
          <p:cNvSpPr>
            <a:spLocks noGrp="1"/>
          </p:cNvSpPr>
          <p:nvPr>
            <p:ph type="ctrTitle"/>
          </p:nvPr>
        </p:nvSpPr>
        <p:spPr>
          <a:xfrm>
            <a:off x="904240" y="834390"/>
            <a:ext cx="10334625" cy="4778375"/>
          </a:xfrm>
        </p:spPr>
        <p:txBody>
          <a:bodyPr>
            <a:normAutofit fontScale="90000"/>
          </a:bodyPr>
          <a:lstStyle/>
          <a:p>
            <a:pPr algn="l">
              <a:lnSpc>
                <a:spcPct val="140000"/>
              </a:lnSpc>
            </a:pPr>
            <a:r>
              <a:rPr lang="en-US" altLang="zh-CN" sz="2665" dirty="0"/>
              <a:t>     </a:t>
            </a:r>
            <a:r>
              <a:rPr lang="en-US" altLang="zh-CN" sz="2665" dirty="0">
                <a:solidFill>
                  <a:srgbClr val="FF0000"/>
                </a:solidFill>
              </a:rPr>
              <a:t>4.</a:t>
            </a:r>
            <a:r>
              <a:rPr lang="zh-CN" altLang="en-US" sz="2665" dirty="0"/>
              <a:t>党的十三届四中全会以后，以江泽民同志为主要代表的中国共产党人，加深了对（</a:t>
            </a:r>
            <a:r>
              <a:rPr lang="en-US" altLang="zh-CN" sz="2665" dirty="0"/>
              <a:t>    </a:t>
            </a:r>
            <a:r>
              <a:rPr lang="zh-CN" altLang="en-US" sz="2665" dirty="0"/>
              <a:t>）的认识，形成了</a:t>
            </a:r>
            <a:r>
              <a:rPr lang="en-US" altLang="zh-CN" sz="2665" dirty="0"/>
              <a:t>“</a:t>
            </a:r>
            <a:r>
              <a:rPr lang="zh-CN" altLang="en-US" sz="2665" dirty="0"/>
              <a:t>三个代表</a:t>
            </a:r>
            <a:r>
              <a:rPr lang="en-US" altLang="zh-CN" sz="2665" dirty="0"/>
              <a:t>”</a:t>
            </a:r>
            <a:r>
              <a:rPr lang="zh-CN" altLang="en-US" sz="2665" dirty="0"/>
              <a:t>重要思想，成功把中国特色社会主义推向</a:t>
            </a:r>
            <a:r>
              <a:rPr lang="en-US" altLang="zh-CN" sz="2665" dirty="0"/>
              <a:t>21</a:t>
            </a:r>
            <a:r>
              <a:rPr lang="zh-CN" altLang="en-US" sz="2665" dirty="0"/>
              <a:t>世纪。</a:t>
            </a:r>
            <a:br>
              <a:rPr lang="zh-CN" altLang="en-US" sz="2665" dirty="0"/>
            </a:br>
            <a:r>
              <a:rPr lang="en-US" altLang="zh-CN" sz="2665" dirty="0"/>
              <a:t>      A. </a:t>
            </a:r>
            <a:r>
              <a:rPr lang="zh-CN" altLang="en-US" sz="2665" dirty="0"/>
              <a:t>什么是社会主义、怎样建设社会主义</a:t>
            </a:r>
            <a:br>
              <a:rPr lang="zh-CN" altLang="en-US" sz="2665" dirty="0"/>
            </a:br>
            <a:r>
              <a:rPr lang="en-US" altLang="zh-CN" sz="2665" dirty="0"/>
              <a:t>     B. </a:t>
            </a:r>
            <a:r>
              <a:rPr lang="zh-CN" altLang="en-US" sz="2665" dirty="0"/>
              <a:t>建设什么样的党、怎样建设党</a:t>
            </a:r>
            <a:br>
              <a:rPr lang="zh-CN" altLang="en-US" sz="2665" dirty="0"/>
            </a:br>
            <a:r>
              <a:rPr lang="en-US" altLang="zh-CN" sz="2665" dirty="0"/>
              <a:t>    C. </a:t>
            </a:r>
            <a:r>
              <a:rPr lang="zh-CN" altLang="en-US" sz="2665" dirty="0"/>
              <a:t>实现什么样的发展、怎样发展</a:t>
            </a:r>
            <a:br>
              <a:rPr lang="zh-CN" altLang="en-US" sz="2665" dirty="0"/>
            </a:br>
            <a:r>
              <a:rPr lang="en-US" altLang="zh-CN" sz="2665" dirty="0"/>
              <a:t>    D. </a:t>
            </a:r>
            <a:r>
              <a:rPr lang="zh-CN" altLang="en-US" sz="2665" dirty="0"/>
              <a:t>建设什么样的社会主义现代化强国、怎样建设社会主义现代化强国</a:t>
            </a:r>
            <a:br>
              <a:rPr lang="zh-CN" altLang="en-US" sz="2665" dirty="0"/>
            </a:br>
            <a:r>
              <a:rPr lang="en-US" altLang="zh-CN" sz="2665" dirty="0"/>
              <a:t>    E. </a:t>
            </a:r>
            <a:r>
              <a:rPr lang="zh-CN" altLang="en-US" sz="2665" dirty="0"/>
              <a:t>新时代坚持和发展什么样的中国特色社会主义、怎样坚持和发展中国特色社会主义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58180"/>
            <a:ext cx="9144000" cy="796290"/>
          </a:xfrm>
        </p:spPr>
        <p:txBody>
          <a:bodyPr vert="horz" lIns="91440" tIns="45720" rIns="91440" bIns="45720" rtlCol="0">
            <a:normAutofit/>
          </a:bodyPr>
          <a:lstStyle/>
          <a:p>
            <a:pPr lvl="0" algn="ctr">
              <a:buClrTx/>
              <a:buSzTx/>
            </a:pPr>
            <a:r>
              <a:rPr lang="zh-CN" altLang="en-US">
                <a:sym typeface="+mn-ea"/>
              </a:rPr>
              <a:t>答案：（BDE）</a:t>
            </a:r>
          </a:p>
        </p:txBody>
      </p:sp>
      <p:sp>
        <p:nvSpPr>
          <p:cNvPr id="2" name="标题 1"/>
          <p:cNvSpPr>
            <a:spLocks noGrp="1"/>
          </p:cNvSpPr>
          <p:nvPr>
            <p:ph type="ctrTitle"/>
          </p:nvPr>
        </p:nvSpPr>
        <p:spPr>
          <a:xfrm>
            <a:off x="904240" y="834390"/>
            <a:ext cx="11150600" cy="4812030"/>
          </a:xfrm>
        </p:spPr>
        <p:txBody>
          <a:bodyPr>
            <a:normAutofit fontScale="90000"/>
          </a:bodyPr>
          <a:lstStyle/>
          <a:p>
            <a:pPr algn="l">
              <a:lnSpc>
                <a:spcPct val="140000"/>
              </a:lnSpc>
            </a:pPr>
            <a:r>
              <a:rPr lang="en-US" altLang="zh-CN" sz="2665"/>
              <a:t>      5.</a:t>
            </a:r>
            <a:r>
              <a:rPr lang="zh-CN" altLang="en-US" sz="2665"/>
              <a:t>党的十八大以来，中国特色社会主义进入新时代，以习近平同志为主要代表的中国共产党人，系统回答了（</a:t>
            </a:r>
            <a:r>
              <a:rPr lang="en-US" altLang="zh-CN" sz="2665"/>
              <a:t>      </a:t>
            </a:r>
            <a:r>
              <a:rPr lang="zh-CN" altLang="en-US" sz="2665"/>
              <a:t>）等重大时代课题，创立了习近平新时代中国特色社会主义思想，实现了马克思主义中国化时代化的新飞跃。</a:t>
            </a:r>
            <a:br>
              <a:rPr lang="zh-CN" altLang="en-US" sz="2665"/>
            </a:br>
            <a:r>
              <a:rPr lang="en-US" altLang="zh-CN" sz="2665"/>
              <a:t>A. </a:t>
            </a:r>
            <a:r>
              <a:rPr lang="zh-CN" altLang="en-US" sz="2665"/>
              <a:t>什么是社会主义、怎样建设社会主义</a:t>
            </a:r>
            <a:br>
              <a:rPr lang="zh-CN" altLang="en-US" sz="2665"/>
            </a:br>
            <a:r>
              <a:rPr lang="en-US" altLang="zh-CN" sz="2665"/>
              <a:t>B. </a:t>
            </a:r>
            <a:r>
              <a:rPr lang="zh-CN" altLang="en-US" sz="2665"/>
              <a:t>新时代坚持和发展什么样的中国特色社会主义、怎样坚持和发展中国特色社会主义</a:t>
            </a:r>
            <a:br>
              <a:rPr lang="zh-CN" altLang="en-US" sz="2665"/>
            </a:br>
            <a:r>
              <a:rPr lang="en-US" altLang="zh-CN" sz="2665"/>
              <a:t>C. </a:t>
            </a:r>
            <a:r>
              <a:rPr lang="zh-CN" altLang="en-US" sz="2665"/>
              <a:t>实现什么样的发展、怎样发展</a:t>
            </a:r>
            <a:br>
              <a:rPr lang="zh-CN" altLang="en-US" sz="2665"/>
            </a:br>
            <a:r>
              <a:rPr lang="en-US" altLang="zh-CN" sz="2665"/>
              <a:t>D. </a:t>
            </a:r>
            <a:r>
              <a:rPr lang="zh-CN" altLang="en-US" sz="2665"/>
              <a:t>建设什么样的社会主义现代化强国、怎样建设社会主义现代化强国</a:t>
            </a:r>
            <a:br>
              <a:rPr lang="zh-CN" altLang="en-US" sz="2665"/>
            </a:br>
            <a:r>
              <a:rPr lang="en-US" altLang="zh-CN" sz="2665"/>
              <a:t>E. </a:t>
            </a:r>
            <a:r>
              <a:rPr lang="zh-CN" altLang="en-US" sz="2665"/>
              <a:t>建设什么样的长期执政的马克思主义政党、怎样建设长期执政的马克思主义政党</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dirty="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答案：（BD）</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6.</a:t>
            </a:r>
            <a:r>
              <a:rPr lang="zh-CN" altLang="en-US" sz="2665"/>
              <a:t>实践证明，中国共产党为什么能，中国特色社会主义为什么好，归根到底是（</a:t>
            </a:r>
            <a:r>
              <a:rPr lang="en-US" altLang="zh-CN" sz="2665"/>
              <a:t>     </a:t>
            </a:r>
            <a:r>
              <a:rPr lang="zh-CN" altLang="en-US" sz="2665"/>
              <a:t>）。</a:t>
            </a:r>
            <a:br>
              <a:rPr lang="zh-CN" altLang="en-US" sz="2665"/>
            </a:br>
            <a:r>
              <a:rPr lang="en-US" altLang="zh-CN" sz="2665"/>
              <a:t>     A. </a:t>
            </a:r>
            <a:r>
              <a:rPr lang="zh-CN" altLang="en-US" sz="2665"/>
              <a:t>中国优秀传统文化行</a:t>
            </a:r>
            <a:br>
              <a:rPr lang="zh-CN" altLang="en-US" sz="2665"/>
            </a:br>
            <a:r>
              <a:rPr lang="en-US" altLang="zh-CN" sz="2665"/>
              <a:t>     B. </a:t>
            </a:r>
            <a:r>
              <a:rPr lang="zh-CN" altLang="en-US" sz="2665"/>
              <a:t>马克思主义行</a:t>
            </a:r>
            <a:br>
              <a:rPr lang="zh-CN" altLang="en-US" sz="2665"/>
            </a:br>
            <a:r>
              <a:rPr lang="en-US" altLang="zh-CN" sz="2665"/>
              <a:t>     C. </a:t>
            </a:r>
            <a:r>
              <a:rPr lang="zh-CN" altLang="en-US" sz="2665"/>
              <a:t>中国农民阶级行</a:t>
            </a:r>
            <a:br>
              <a:rPr lang="zh-CN" altLang="en-US" sz="2665"/>
            </a:br>
            <a:r>
              <a:rPr lang="en-US" altLang="zh-CN" sz="2665"/>
              <a:t>    D. </a:t>
            </a:r>
            <a:r>
              <a:rPr lang="zh-CN" altLang="en-US" sz="2665"/>
              <a:t>中国化时代化的马克思主义行</a:t>
            </a:r>
            <a:br>
              <a:rPr lang="zh-CN" altLang="en-US" sz="2665"/>
            </a:br>
            <a:r>
              <a:rPr lang="en-US" altLang="zh-CN" sz="2665"/>
              <a:t>     E. </a:t>
            </a:r>
            <a:r>
              <a:rPr lang="zh-CN" altLang="en-US" sz="2665"/>
              <a:t>中国工人阶级行</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答案：（ABCDE）</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7.</a:t>
            </a:r>
            <a:r>
              <a:rPr lang="zh-CN" altLang="en-US" sz="2665"/>
              <a:t>在马克思主义中国化时代化的历史进程中，产生了（）等理论成果。</a:t>
            </a:r>
            <a:br>
              <a:rPr lang="zh-CN" altLang="en-US" sz="2665"/>
            </a:br>
            <a:r>
              <a:rPr lang="en-US" altLang="zh-CN" sz="2665"/>
              <a:t>     A. </a:t>
            </a:r>
            <a:r>
              <a:rPr lang="zh-CN" altLang="en-US" sz="2665"/>
              <a:t>毛泽东思想</a:t>
            </a:r>
            <a:br>
              <a:rPr lang="zh-CN" altLang="en-US" sz="2665"/>
            </a:br>
            <a:r>
              <a:rPr lang="en-US" altLang="zh-CN" sz="2665"/>
              <a:t>    B. </a:t>
            </a:r>
            <a:r>
              <a:rPr lang="zh-CN" altLang="en-US" sz="2665"/>
              <a:t>邓小平理论</a:t>
            </a:r>
            <a:r>
              <a:rPr lang="en-US" altLang="en-US" sz="2665"/>
              <a:t> </a:t>
            </a:r>
            <a:br>
              <a:rPr lang="en-US" altLang="en-US" sz="2665"/>
            </a:br>
            <a:r>
              <a:rPr lang="en-US" altLang="en-US" sz="2665"/>
              <a:t> </a:t>
            </a:r>
            <a:r>
              <a:rPr lang="en-US" altLang="zh-CN" sz="2665"/>
              <a:t>   C. “</a:t>
            </a:r>
            <a:r>
              <a:rPr lang="zh-CN" altLang="en-US" sz="2665"/>
              <a:t>三个代表</a:t>
            </a:r>
            <a:r>
              <a:rPr lang="en-US" altLang="zh-CN" sz="2665"/>
              <a:t>”</a:t>
            </a:r>
            <a:r>
              <a:rPr lang="zh-CN" altLang="en-US" sz="2665"/>
              <a:t>重要思想</a:t>
            </a:r>
            <a:r>
              <a:rPr lang="en-US" altLang="en-US" sz="2665"/>
              <a:t> </a:t>
            </a:r>
            <a:r>
              <a:rPr lang="en-US" altLang="zh-CN" sz="2665"/>
              <a:t> </a:t>
            </a:r>
            <a:br>
              <a:rPr lang="en-US" altLang="zh-CN" sz="2665"/>
            </a:br>
            <a:r>
              <a:rPr lang="en-US" altLang="zh-CN" sz="2665"/>
              <a:t>    D. </a:t>
            </a:r>
            <a:r>
              <a:rPr lang="zh-CN" altLang="en-US" sz="2665"/>
              <a:t>科学发展观</a:t>
            </a:r>
            <a:r>
              <a:rPr lang="en-US" altLang="en-US" sz="2665"/>
              <a:t> </a:t>
            </a:r>
            <a:br>
              <a:rPr lang="en-US" altLang="en-US" sz="2665"/>
            </a:br>
            <a:r>
              <a:rPr lang="en-US" altLang="en-US" sz="2665"/>
              <a:t> </a:t>
            </a:r>
            <a:r>
              <a:rPr lang="en-US" altLang="zh-CN" sz="2665"/>
              <a:t>  E. </a:t>
            </a:r>
            <a:r>
              <a:rPr lang="zh-CN" altLang="en-US" sz="2665"/>
              <a:t>习近平新时代中国特色社会主义思想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答案：（BE）</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8.</a:t>
            </a:r>
            <a:r>
              <a:rPr lang="zh-CN" altLang="en-US" sz="2665"/>
              <a:t>习近平总书记在庆祝中国共产党成立</a:t>
            </a:r>
            <a:r>
              <a:rPr lang="en-US" altLang="zh-CN" sz="2665"/>
              <a:t>100</a:t>
            </a:r>
            <a:r>
              <a:rPr lang="zh-CN" altLang="en-US" sz="2665"/>
              <a:t>周年大会上的重要讲话中提出</a:t>
            </a:r>
            <a:r>
              <a:rPr lang="en-US" altLang="zh-CN" sz="2665"/>
              <a:t>“</a:t>
            </a:r>
            <a:r>
              <a:rPr lang="zh-CN" altLang="en-US" sz="2665"/>
              <a:t>两个结合</a:t>
            </a:r>
            <a:r>
              <a:rPr lang="en-US" altLang="zh-CN" sz="2665"/>
              <a:t>”</a:t>
            </a:r>
            <a:r>
              <a:rPr lang="zh-CN" altLang="en-US" sz="2665"/>
              <a:t>，即，坚持把（</a:t>
            </a:r>
            <a:r>
              <a:rPr lang="en-US" altLang="zh-CN" sz="2665"/>
              <a:t>   </a:t>
            </a:r>
            <a:r>
              <a:rPr lang="zh-CN" altLang="en-US" sz="2665"/>
              <a:t>），是当代中国马克思主义理论的又一重大创新。</a:t>
            </a:r>
            <a:br>
              <a:rPr lang="zh-CN" altLang="en-US" sz="2665"/>
            </a:br>
            <a:r>
              <a:rPr lang="en-US" altLang="zh-CN" sz="2665"/>
              <a:t>A.</a:t>
            </a:r>
            <a:r>
              <a:rPr lang="zh-CN" altLang="en-US" sz="2665"/>
              <a:t>当代西方思想文化同中国优秀文化相结合</a:t>
            </a:r>
            <a:br>
              <a:rPr lang="zh-CN" altLang="en-US" sz="2665"/>
            </a:br>
            <a:r>
              <a:rPr lang="en-US" altLang="zh-CN" sz="2665"/>
              <a:t>B. </a:t>
            </a:r>
            <a:r>
              <a:rPr lang="zh-CN" altLang="en-US" sz="2665"/>
              <a:t>马克思主义基本原理同中国具体实际相结合</a:t>
            </a:r>
            <a:br>
              <a:rPr lang="zh-CN" altLang="en-US" sz="2665"/>
            </a:br>
            <a:r>
              <a:rPr lang="en-US" altLang="zh-CN" sz="2665"/>
              <a:t>C. </a:t>
            </a:r>
            <a:r>
              <a:rPr lang="zh-CN" altLang="en-US" sz="2665"/>
              <a:t>人类文明的一切积极成果同中国优秀文化相结合</a:t>
            </a:r>
            <a:br>
              <a:rPr lang="zh-CN" altLang="en-US" sz="2665"/>
            </a:br>
            <a:r>
              <a:rPr lang="en-US" altLang="zh-CN" sz="2665"/>
              <a:t>D. </a:t>
            </a:r>
            <a:r>
              <a:rPr lang="zh-CN" altLang="en-US" sz="2665"/>
              <a:t>马克思主义基本原理同人类文明的一切积极成果相结合</a:t>
            </a:r>
            <a:br>
              <a:rPr lang="zh-CN" altLang="en-US" sz="2665"/>
            </a:br>
            <a:r>
              <a:rPr lang="en-US" altLang="zh-CN" sz="2665"/>
              <a:t>E. </a:t>
            </a:r>
            <a:r>
              <a:rPr lang="zh-CN" altLang="en-US" sz="2665"/>
              <a:t>马克思主义基本原理同中华优秀传统文化相结合</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答案：（ABCDE）</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9.</a:t>
            </a:r>
            <a:r>
              <a:rPr lang="zh-CN" altLang="en-US" sz="2665"/>
              <a:t>马克思主义中国化时代化的科学内涵包括（</a:t>
            </a:r>
            <a:r>
              <a:rPr lang="en-US" altLang="zh-CN" sz="2665"/>
              <a:t>     </a:t>
            </a:r>
            <a:r>
              <a:rPr lang="zh-CN" altLang="en-US" sz="2665"/>
              <a:t>）。</a:t>
            </a:r>
            <a:r>
              <a:rPr lang="en-US" altLang="en-US" sz="2665"/>
              <a:t> </a:t>
            </a:r>
            <a:br>
              <a:rPr lang="en-US" altLang="en-US" sz="2665"/>
            </a:br>
            <a:r>
              <a:rPr lang="en-US" altLang="en-US" sz="2665"/>
              <a:t> </a:t>
            </a:r>
            <a:r>
              <a:rPr lang="en-US" altLang="zh-CN" sz="2665"/>
              <a:t>     A. </a:t>
            </a:r>
            <a:r>
              <a:rPr lang="zh-CN" altLang="en-US" sz="2665"/>
              <a:t>运用马克思主义的立场、观点和方法，解决中国革命、建设、改革中的实际问题</a:t>
            </a:r>
            <a:br>
              <a:rPr lang="zh-CN" altLang="en-US" sz="2665"/>
            </a:br>
            <a:r>
              <a:rPr lang="en-US" altLang="en-US" sz="2665"/>
              <a:t> </a:t>
            </a:r>
            <a:r>
              <a:rPr lang="en-US" altLang="zh-CN" sz="2665"/>
              <a:t>     B. </a:t>
            </a:r>
            <a:r>
              <a:rPr lang="zh-CN" altLang="en-US" sz="2665"/>
              <a:t>总结和提炼中国革命、建设、改革的实践经验并将其上升为理论</a:t>
            </a:r>
            <a:br>
              <a:rPr lang="zh-CN" altLang="en-US" sz="2665"/>
            </a:br>
            <a:r>
              <a:rPr lang="en-US" altLang="en-US" sz="2665"/>
              <a:t> </a:t>
            </a:r>
            <a:r>
              <a:rPr lang="en-US" altLang="zh-CN" sz="2665"/>
              <a:t>     C. </a:t>
            </a:r>
            <a:r>
              <a:rPr lang="zh-CN" altLang="en-US" sz="2665"/>
              <a:t>不断丰富和发展马克思主义的理论宝库，赋予马克思主义以新的时代内涵</a:t>
            </a:r>
            <a:br>
              <a:rPr lang="zh-CN" altLang="en-US" sz="2665"/>
            </a:br>
            <a:r>
              <a:rPr lang="en-US" altLang="en-US" sz="2665"/>
              <a:t> </a:t>
            </a:r>
            <a:r>
              <a:rPr lang="en-US" sz="2665"/>
              <a:t>    </a:t>
            </a:r>
            <a:r>
              <a:rPr lang="en-US" altLang="zh-CN" sz="2665"/>
              <a:t> D. </a:t>
            </a:r>
            <a:r>
              <a:rPr lang="zh-CN" altLang="en-US" sz="2665"/>
              <a:t>运用中国人民喜闻乐见的民族语言来阐述马克思主义</a:t>
            </a:r>
            <a:br>
              <a:rPr lang="zh-CN" altLang="en-US" sz="2665"/>
            </a:br>
            <a:r>
              <a:rPr lang="en-US" altLang="zh-CN" sz="2665"/>
              <a:t>    </a:t>
            </a:r>
            <a:r>
              <a:rPr lang="en-US" altLang="en-US" sz="2665"/>
              <a:t> </a:t>
            </a:r>
            <a:r>
              <a:rPr lang="en-US" altLang="zh-CN" sz="2665"/>
              <a:t> E. </a:t>
            </a:r>
            <a:r>
              <a:rPr lang="zh-CN" altLang="en-US" sz="2665"/>
              <a:t>使马克思主义植根于中华优秀传统文化的土壊之中</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 BCD ）</a:t>
            </a:r>
          </a:p>
        </p:txBody>
      </p:sp>
      <p:sp>
        <p:nvSpPr>
          <p:cNvPr id="2" name="标题 1"/>
          <p:cNvSpPr>
            <a:spLocks noGrp="1"/>
          </p:cNvSpPr>
          <p:nvPr>
            <p:ph type="ctrTitle"/>
          </p:nvPr>
        </p:nvSpPr>
        <p:spPr>
          <a:xfrm>
            <a:off x="904240" y="834390"/>
            <a:ext cx="10334625" cy="4757420"/>
          </a:xfrm>
        </p:spPr>
        <p:txBody>
          <a:bodyPr>
            <a:normAutofit fontScale="90000"/>
          </a:bodyPr>
          <a:lstStyle/>
          <a:p>
            <a:pPr algn="l">
              <a:lnSpc>
                <a:spcPct val="140000"/>
              </a:lnSpc>
            </a:pPr>
            <a:r>
              <a:rPr lang="en-US" altLang="zh-CN" sz="2665" dirty="0"/>
              <a:t>        10.</a:t>
            </a:r>
            <a:r>
              <a:rPr lang="zh-CN" altLang="en-US" sz="2665" dirty="0">
                <a:solidFill>
                  <a:srgbClr val="FF0000"/>
                </a:solidFill>
              </a:rPr>
              <a:t>党的十七大</a:t>
            </a:r>
            <a:r>
              <a:rPr lang="zh-CN" altLang="en-US" sz="2665" dirty="0"/>
              <a:t>提出了</a:t>
            </a:r>
            <a:r>
              <a:rPr lang="en-US" altLang="zh-CN" sz="2665" dirty="0"/>
              <a:t>“</a:t>
            </a:r>
            <a:r>
              <a:rPr lang="zh-CN" altLang="en-US" sz="2665" dirty="0"/>
              <a:t>中国特色社会主义理论体系</a:t>
            </a:r>
            <a:r>
              <a:rPr lang="en-US" altLang="zh-CN" sz="2665" dirty="0"/>
              <a:t>”</a:t>
            </a:r>
            <a:r>
              <a:rPr lang="zh-CN" altLang="en-US" sz="2665" dirty="0"/>
              <a:t>的科学概念，把改革开放以来我们党在实践中相继形成的（</a:t>
            </a:r>
            <a:r>
              <a:rPr lang="en-US" altLang="zh-CN" sz="2665" dirty="0"/>
              <a:t>    </a:t>
            </a:r>
            <a:r>
              <a:rPr lang="zh-CN" altLang="en-US" sz="2665" dirty="0"/>
              <a:t>）等重大战略思想一道作为中国特色社会主义理论体系的重要组成部分，标志着中国特色社会主义理论和实践的进一步成熟。</a:t>
            </a:r>
            <a:br>
              <a:rPr lang="zh-CN" altLang="en-US" sz="2665" dirty="0"/>
            </a:br>
            <a:r>
              <a:rPr lang="en-US" altLang="zh-CN" sz="2665" dirty="0"/>
              <a:t>     A. </a:t>
            </a:r>
            <a:r>
              <a:rPr lang="zh-CN" altLang="en-US" sz="2665" dirty="0"/>
              <a:t>毛泽东思想</a:t>
            </a:r>
            <a:br>
              <a:rPr lang="zh-CN" altLang="en-US" sz="2665" dirty="0"/>
            </a:br>
            <a:r>
              <a:rPr lang="en-US" altLang="zh-CN" sz="2665" dirty="0"/>
              <a:t>    B. </a:t>
            </a:r>
            <a:r>
              <a:rPr lang="zh-CN" altLang="en-US" sz="2665" dirty="0"/>
              <a:t>邓小平理论</a:t>
            </a:r>
            <a:br>
              <a:rPr lang="zh-CN" altLang="en-US" sz="2665" dirty="0"/>
            </a:br>
            <a:r>
              <a:rPr lang="en-US" altLang="zh-CN" sz="2665" dirty="0"/>
              <a:t>   C. </a:t>
            </a:r>
            <a:r>
              <a:rPr lang="zh-CN" altLang="en-US" sz="2665" dirty="0"/>
              <a:t>三个代表</a:t>
            </a:r>
            <a:r>
              <a:rPr lang="en-US" altLang="zh-CN" sz="2665" dirty="0"/>
              <a:t>”</a:t>
            </a:r>
            <a:r>
              <a:rPr lang="zh-CN" altLang="en-US" sz="2665" dirty="0"/>
              <a:t>重要思想</a:t>
            </a:r>
            <a:br>
              <a:rPr lang="zh-CN" altLang="en-US" sz="2665" dirty="0"/>
            </a:br>
            <a:r>
              <a:rPr lang="en-US" altLang="zh-CN" sz="2665" dirty="0"/>
              <a:t>   D. </a:t>
            </a:r>
            <a:r>
              <a:rPr lang="zh-CN" altLang="en-US" sz="2665" dirty="0"/>
              <a:t>科学发展观</a:t>
            </a:r>
            <a:br>
              <a:rPr lang="zh-CN" altLang="en-US" sz="2665" dirty="0"/>
            </a:br>
            <a:r>
              <a:rPr lang="en-US" altLang="zh-CN" sz="2665" dirty="0"/>
              <a:t>   E. </a:t>
            </a:r>
            <a:r>
              <a:rPr lang="zh-CN" altLang="en-US" sz="2665" dirty="0"/>
              <a:t>习近平新时代中国特色社会主义思想</a:t>
            </a:r>
            <a:r>
              <a:rPr lang="en-US" altLang="zh-CN" sz="2665"/>
              <a:t>18</a:t>
            </a: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1606</Words>
  <Application>Microsoft Office PowerPoint</Application>
  <PresentationFormat>宽屏</PresentationFormat>
  <Paragraphs>57</Paragraphs>
  <Slides>19</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19</vt:i4>
      </vt:variant>
    </vt:vector>
  </HeadingPairs>
  <TitlesOfParts>
    <vt:vector size="22" baseType="lpstr">
      <vt:lpstr>Arial</vt:lpstr>
      <vt:lpstr>Calibri</vt:lpstr>
      <vt:lpstr>WPS</vt:lpstr>
      <vt:lpstr>      1.1978召开的十一届三中全会，开启了改革开放和社会主义现代化建设的新时期。以邓小平同志为主要代表的中国共产党人，围绕什么是社会主义、怎样建设社会主义这一根本问题，创立了（    ），成功开创了中国特色社会主义。       A. 邓小平理论       B. “三个代表”重要思想       C. 科学发展观       D. 习近平新时代中国特色社会主义思想</vt:lpstr>
      <vt:lpstr>      2.党的十一届三中全会以后，以邓小平同志为主要代表的中国共产党人创立的（      ），是中国特色社会主义理论体系的开篇之作。      A. 邓小平理论      B. “三个代表”重要思想      C. 科学发展观     D. 习近平新时代中国特色社会主义思想</vt:lpstr>
      <vt:lpstr>      3.马克思主义中国化时代化的理论成果是一脉相承又与时俱进的关系。一方面，毛泽东思想所蕴含的马克思主义立场、观点和方法，为中国特色社会主义理论体系提供了（    ）。另一方面，中国特色社会主义理论体系在新的历史条件下进一步丰富和发展了毛泽东思想。毛泽东思想和中国特色社会主义理论体系，都是马克思主义列宁主义在中国运用和发展，都以独创性的理论成果丰富和发展了马克思主义的理论宝库，都是党和国家必须长期坚持的指导思想。       A. 实践基础         B. 理论素材        C. 基本遵循              D. 历史依据</vt:lpstr>
      <vt:lpstr>      4.1938年，毛泽东在党的六届六中全会上作了（   ）的报告，标志着“马克思主义的中国化”这一命题的正式提出。       A. 《论人民民主专政》       B. 《实践论》       C. 《论持久战》       D. 《论新阶段》</vt:lpstr>
      <vt:lpstr>      5.创立于新民主主义革命时期，丰富和发展于社会主义革命和建设时期的（   ），是马克思主义中国化时代化的第一次历史性飞跃。 A. 邓小平理论 B. 毛泽东思想 C. 科学发展观 D. “三个代表”重要思想</vt:lpstr>
      <vt:lpstr>      6.1978召开的十一届三中全会，开启了改革开放和社会主义现代化建设的新时期。以邓小平同志为主要代表的中国共产党人，围绕（   ）这一根本问题，创立了邓小平理论，成功开创了中国特色社会主义。 A. 实现什么样的发展、怎样发展 B. 建设什么样的党、怎样建设党 C. 什么是社会主义、怎样建设社会主义 D. 建设什么样的社会主义现代化强国、怎样建设社会主义现代化强国</vt:lpstr>
      <vt:lpstr>      7.马克思主义中国化时代化第一次历史性飞跃的理论成果是（     ）。        A. 毛泽东思想       B. 邓小平理论      C. 中国特色社会主义理论体系      D. 习近平新时代中国特色社会主义思想</vt:lpstr>
      <vt:lpstr>      8.贯穿于《毛泽东思想和中国特色社会主义理论体系概论》教材的主线是（   ）。      A．马克思列宁主义      B．马克思主义中国化     C．马克思主义     D．马克思主义中国化时代化</vt:lpstr>
      <vt:lpstr>      9.“马克思主义中国化”这一命题正式提出是在（    ）。       A．1921年党的一大       B．1935年遵义会议       C．1938年党的六届六中全会       D．1945年党的七大</vt:lpstr>
      <vt:lpstr>      1.中国特色社会主义理论体系包括（     ）。            A. 毛泽东思想          B. 邓小平理论           C. “三个代表”重要思想            D. 科学发展观           E. 习近平新时代中国特色社会主义思想</vt:lpstr>
      <vt:lpstr>      2. 马克思主义中国化时代化的科学内涵包括（     ）。         A. 运用马克思主义解决中国实际问题          B. 总结实践经验并上升为理论         C. 把马克思主义经典理论翻译为汉语文献        D. 植根于中国优秀传统文化        E. 照搬马克思主义经典著作</vt:lpstr>
      <vt:lpstr>      3.马克思主义中国化时代化的必要性在于（     ）。          A. 马克思主义理论本身发展的内在要求         B. 中国共产党人的主观愿望         C. 解决中国实际问题的客观需要           D. 中国传统文化优于马克思主义理论           E. 马克思主义理论优于中国传统文化</vt:lpstr>
      <vt:lpstr>     4.党的十三届四中全会以后，以江泽民同志为主要代表的中国共产党人，加深了对（    ）的认识，形成了“三个代表”重要思想，成功把中国特色社会主义推向21世纪。       A. 什么是社会主义、怎样建设社会主义      B. 建设什么样的党、怎样建设党     C. 实现什么样的发展、怎样发展     D. 建设什么样的社会主义现代化强国、怎样建设社会主义现代化强国     E. 新时代坚持和发展什么样的中国特色社会主义、怎样坚持和发展中国特色社会主义</vt:lpstr>
      <vt:lpstr>      5.党的十八大以来，中国特色社会主义进入新时代，以习近平同志为主要代表的中国共产党人，系统回答了（      ）等重大时代课题，创立了习近平新时代中国特色社会主义思想，实现了马克思主义中国化时代化的新飞跃。 A. 什么是社会主义、怎样建设社会主义 B. 新时代坚持和发展什么样的中国特色社会主义、怎样坚持和发展中国特色社会主义 C. 实现什么样的发展、怎样发展 D. 建设什么样的社会主义现代化强国、怎样建设社会主义现代化强国 E. 建设什么样的长期执政的马克思主义政党、怎样建设长期执政的马克思主义政党</vt:lpstr>
      <vt:lpstr>      6.实践证明，中国共产党为什么能，中国特色社会主义为什么好，归根到底是（     ）。      A. 中国优秀传统文化行      B. 马克思主义行      C. 中国农民阶级行     D. 中国化时代化的马克思主义行      E. 中国工人阶级行</vt:lpstr>
      <vt:lpstr>      7.在马克思主义中国化时代化的历史进程中，产生了（）等理论成果。      A. 毛泽东思想     B. 邓小平理论      C. “三个代表”重要思想       D. 科学发展观     E. 习近平新时代中国特色社会主义思想</vt:lpstr>
      <vt:lpstr>      8.习近平总书记在庆祝中国共产党成立100周年大会上的重要讲话中提出“两个结合”，即，坚持把（   ），是当代中国马克思主义理论的又一重大创新。 A.当代西方思想文化同中国优秀文化相结合 B. 马克思主义基本原理同中国具体实际相结合 C. 人类文明的一切积极成果同中国优秀文化相结合 D. 马克思主义基本原理同人类文明的一切积极成果相结合 E. 马克思主义基本原理同中华优秀传统文化相结合</vt:lpstr>
      <vt:lpstr>      9.马克思主义中国化时代化的科学内涵包括（     ）。        A. 运用马克思主义的立场、观点和方法，解决中国革命、建设、改革中的实际问题       B. 总结和提炼中国革命、建设、改革的实践经验并将其上升为理论       C. 不断丰富和发展马克思主义的理论宝库，赋予马克思主义以新的时代内涵       D. 运用中国人民喜闻乐见的民族语言来阐述马克思主义       E. 使马克思主义植根于中华优秀传统文化的土壊之中</vt:lpstr>
      <vt:lpstr>        10.党的十七大提出了“中国特色社会主义理论体系”的科学概念，把改革开放以来我们党在实践中相继形成的（    ）等重大战略思想一道作为中国特色社会主义理论体系的重要组成部分，标志着中国特色社会主义理论和实践的进一步成熟。      A. 毛泽东思想     B. 邓小平理论    C. 三个代表”重要思想    D. 科学发展观    E. 习近平新时代中国特色社会主义思想18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10</cp:revision>
  <dcterms:created xsi:type="dcterms:W3CDTF">2023-08-09T12:44:00Z</dcterms:created>
  <dcterms:modified xsi:type="dcterms:W3CDTF">2026-06-28T12:25:08Z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