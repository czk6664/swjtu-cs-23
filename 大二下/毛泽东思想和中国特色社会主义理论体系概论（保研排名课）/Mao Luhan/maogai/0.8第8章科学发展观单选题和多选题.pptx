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40" r:id="rId2"/>
    <p:sldId id="256" r:id="rId3"/>
    <p:sldId id="322" r:id="rId4"/>
    <p:sldId id="323" r:id="rId5"/>
    <p:sldId id="324" r:id="rId6"/>
    <p:sldId id="325" r:id="rId7"/>
    <p:sldId id="347" r:id="rId8"/>
    <p:sldId id="326" r:id="rId9"/>
    <p:sldId id="341" r:id="rId10"/>
    <p:sldId id="342" r:id="rId11"/>
    <p:sldId id="343"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2" d="100"/>
          <a:sy n="102" d="100"/>
        </p:scale>
        <p:origin x="88" y="184"/>
      </p:cViewPr>
      <p:guideLst>
        <p:guide orient="horz" pos="2160"/>
        <p:guide pos="38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173480"/>
            <a:ext cx="10334625" cy="4011295"/>
          </a:xfrm>
        </p:spPr>
        <p:txBody>
          <a:bodyPr>
            <a:normAutofit/>
          </a:bodyPr>
          <a:lstStyle/>
          <a:p>
            <a:pPr algn="l">
              <a:lnSpc>
                <a:spcPct val="140000"/>
              </a:lnSpc>
            </a:pPr>
            <a:r>
              <a:rPr lang="en-US" altLang="zh-CN" sz="2665"/>
              <a:t>1.</a:t>
            </a:r>
            <a:r>
              <a:rPr lang="zh-CN" altLang="en-US" sz="2665"/>
              <a:t>科学发展观强调，社会主义民主政治的本质和核心是（</a:t>
            </a:r>
            <a:r>
              <a:rPr lang="en-US" altLang="zh-CN" sz="2665"/>
              <a:t>  </a:t>
            </a:r>
            <a:r>
              <a:rPr lang="zh-CN" altLang="en-US" sz="2665"/>
              <a:t>）。</a:t>
            </a:r>
            <a:br>
              <a:rPr lang="zh-CN" altLang="en-US" sz="2665"/>
            </a:br>
            <a:r>
              <a:rPr lang="en-US" altLang="zh-CN" sz="2665"/>
              <a:t>A.</a:t>
            </a:r>
            <a:r>
              <a:rPr lang="zh-CN" altLang="en-US" sz="2665"/>
              <a:t>人民当家作主</a:t>
            </a:r>
            <a:br>
              <a:rPr lang="zh-CN" altLang="en-US" sz="2665"/>
            </a:br>
            <a:r>
              <a:rPr lang="en-US" altLang="zh-CN" sz="2665"/>
              <a:t>B.</a:t>
            </a:r>
            <a:r>
              <a:rPr lang="zh-CN" altLang="en-US" sz="2665"/>
              <a:t>党的领导</a:t>
            </a:r>
            <a:br>
              <a:rPr lang="zh-CN" altLang="en-US" sz="2665"/>
            </a:br>
            <a:r>
              <a:rPr lang="en-US" altLang="zh-CN" sz="2665"/>
              <a:t>C.</a:t>
            </a:r>
            <a:r>
              <a:rPr lang="zh-CN" altLang="en-US" sz="2665"/>
              <a:t>依法治国</a:t>
            </a:r>
            <a:br>
              <a:rPr lang="zh-CN" altLang="en-US" sz="2665"/>
            </a:br>
            <a:r>
              <a:rPr lang="en-US" altLang="zh-CN" sz="2665"/>
              <a:t>D.</a:t>
            </a:r>
            <a:r>
              <a:rPr lang="zh-CN" altLang="en-US" sz="2665"/>
              <a:t>人民代表大会</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normAutofit fontScale="90000" lnSpcReduction="20000"/>
          </a:bodyPr>
          <a:lstStyle/>
          <a:p>
            <a:r>
              <a:rPr lang="zh-CN" altLang="en-US"/>
              <a:t>答案：（</a:t>
            </a:r>
            <a:r>
              <a:rPr lang="en-US" altLang="zh-CN"/>
              <a:t>A</a:t>
            </a:r>
            <a:r>
              <a:rPr lang="zh-CN" altLang="en-US"/>
              <a:t>）</a:t>
            </a:r>
          </a:p>
          <a:p>
            <a:r>
              <a:rPr lang="zh-CN" altLang="en-US"/>
              <a:t>（</a:t>
            </a:r>
            <a:r>
              <a:rPr lang="en-US" altLang="zh-CN"/>
              <a:t>B</a:t>
            </a:r>
            <a:r>
              <a:rPr lang="zh-CN" altLang="en-US"/>
              <a:t>）（</a:t>
            </a:r>
            <a:r>
              <a:rPr lang="en-US" altLang="zh-CN"/>
              <a:t>C</a:t>
            </a:r>
            <a:r>
              <a:rPr lang="zh-CN" altLang="en-US"/>
              <a:t>）</a:t>
            </a:r>
          </a:p>
        </p:txBody>
      </p:sp>
      <p:sp>
        <p:nvSpPr>
          <p:cNvPr id="2" name="标题 1"/>
          <p:cNvSpPr>
            <a:spLocks noGrp="1"/>
          </p:cNvSpPr>
          <p:nvPr>
            <p:ph type="ctrTitle"/>
          </p:nvPr>
        </p:nvSpPr>
        <p:spPr>
          <a:xfrm>
            <a:off x="904240" y="1173480"/>
            <a:ext cx="10334625" cy="4011295"/>
          </a:xfrm>
        </p:spPr>
        <p:txBody>
          <a:bodyPr>
            <a:normAutofit fontScale="90000"/>
          </a:bodyPr>
          <a:lstStyle/>
          <a:p>
            <a:pPr algn="l">
              <a:lnSpc>
                <a:spcPct val="140000"/>
              </a:lnSpc>
            </a:pPr>
            <a:r>
              <a:rPr lang="en-US" altLang="zh-CN" sz="2665"/>
              <a:t>2.</a:t>
            </a:r>
            <a:r>
              <a:rPr lang="zh-CN" altLang="en-US" sz="2665"/>
              <a:t>社会主义核心价值观在国家层面的体现（</a:t>
            </a:r>
            <a:r>
              <a:rPr lang="en-US" altLang="zh-CN" sz="2665"/>
              <a:t>  </a:t>
            </a:r>
            <a:r>
              <a:rPr lang="zh-CN" altLang="en-US" sz="2665"/>
              <a:t>）。</a:t>
            </a:r>
            <a:br>
              <a:rPr lang="zh-CN" altLang="en-US" sz="2665"/>
            </a:br>
            <a:r>
              <a:rPr lang="en-US" altLang="zh-CN" sz="2665"/>
              <a:t>A.</a:t>
            </a:r>
            <a:r>
              <a:rPr lang="zh-CN" altLang="en-US" sz="2665"/>
              <a:t>富强、民主、文明、和谐</a:t>
            </a:r>
            <a:br>
              <a:rPr lang="zh-CN" altLang="en-US" sz="2665"/>
            </a:br>
            <a:r>
              <a:rPr lang="en-US" altLang="zh-CN" sz="2665"/>
              <a:t>B.</a:t>
            </a:r>
            <a:r>
              <a:rPr lang="zh-CN" altLang="en-US" sz="2665"/>
              <a:t>自由、平等、公正、法治</a:t>
            </a:r>
            <a:br>
              <a:rPr lang="zh-CN" altLang="en-US" sz="2665"/>
            </a:br>
            <a:r>
              <a:rPr lang="en-US" altLang="zh-CN" sz="2665"/>
              <a:t>C.</a:t>
            </a:r>
            <a:r>
              <a:rPr lang="zh-CN" altLang="en-US" sz="2665"/>
              <a:t>爱国、敬业、诚信、友善</a:t>
            </a:r>
            <a:br>
              <a:rPr lang="zh-CN" altLang="en-US" sz="2665"/>
            </a:br>
            <a:r>
              <a:rPr lang="en-US" altLang="zh-CN" sz="2665"/>
              <a:t>D.</a:t>
            </a:r>
            <a:r>
              <a:rPr lang="zh-CN" altLang="en-US" sz="2665"/>
              <a:t>民主、法治、公平、正义</a:t>
            </a:r>
            <a:br>
              <a:rPr lang="zh-CN" altLang="en-US" sz="2665"/>
            </a:br>
            <a:r>
              <a:rPr lang="zh-CN" altLang="en-US" sz="2665"/>
              <a:t>社会层面：（</a:t>
            </a:r>
            <a:r>
              <a:rPr lang="en-US" altLang="zh-CN" sz="2665"/>
              <a:t>  </a:t>
            </a:r>
            <a:r>
              <a:rPr lang="zh-CN" altLang="en-US" sz="2665"/>
              <a:t>）</a:t>
            </a:r>
            <a:br>
              <a:rPr lang="en-US" altLang="zh-CN" sz="2665"/>
            </a:br>
            <a:r>
              <a:rPr lang="zh-CN" altLang="en-US" sz="2665"/>
              <a:t>公民层面：（</a:t>
            </a:r>
            <a:r>
              <a:rPr lang="en-US" altLang="zh-CN" sz="2665"/>
              <a:t>  </a:t>
            </a:r>
            <a:r>
              <a:rPr lang="zh-CN" altLang="en-US" sz="2665"/>
              <a:t>）</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000"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173480"/>
            <a:ext cx="10334625" cy="4011295"/>
          </a:xfrm>
        </p:spPr>
        <p:txBody>
          <a:bodyPr>
            <a:normAutofit/>
          </a:bodyPr>
          <a:lstStyle/>
          <a:p>
            <a:pPr algn="l">
              <a:lnSpc>
                <a:spcPct val="140000"/>
              </a:lnSpc>
            </a:pPr>
            <a:r>
              <a:rPr lang="en-US" altLang="zh-CN" sz="2665" dirty="0">
                <a:solidFill>
                  <a:srgbClr val="FF0000"/>
                </a:solidFill>
              </a:rPr>
              <a:t>3.</a:t>
            </a:r>
            <a:r>
              <a:rPr lang="zh-CN" altLang="en-US" sz="2665" dirty="0"/>
              <a:t>科学发展观强调坚持以经济建设为中心，把发展生产力作为首要任务，把经济发展作为一切发展的前提，体现了（</a:t>
            </a:r>
            <a:r>
              <a:rPr lang="en-US" altLang="zh-CN" sz="2665" dirty="0"/>
              <a:t>   </a:t>
            </a:r>
            <a:r>
              <a:rPr lang="zh-CN" altLang="en-US" sz="2665" dirty="0"/>
              <a:t>）的观点。</a:t>
            </a:r>
            <a:br>
              <a:rPr lang="zh-CN" altLang="en-US" sz="2665" dirty="0"/>
            </a:br>
            <a:r>
              <a:rPr lang="en-US" altLang="zh-CN" sz="2665" dirty="0"/>
              <a:t>A.</a:t>
            </a:r>
            <a:r>
              <a:rPr lang="zh-CN" altLang="en-US" sz="2665" dirty="0"/>
              <a:t>历史唯物主义关于生产力是人类社会发展的基础的观点</a:t>
            </a:r>
            <a:br>
              <a:rPr lang="zh-CN" altLang="en-US" sz="2665" dirty="0"/>
            </a:br>
            <a:r>
              <a:rPr lang="en-US" altLang="zh-CN" sz="2665" dirty="0"/>
              <a:t>B.</a:t>
            </a:r>
            <a:r>
              <a:rPr lang="zh-CN" altLang="en-US" sz="2665" dirty="0"/>
              <a:t>历史唯物主义关于人民是历史发展主体和人的全面发展的观点</a:t>
            </a:r>
            <a:br>
              <a:rPr lang="zh-CN" altLang="en-US" sz="2665" dirty="0"/>
            </a:br>
            <a:r>
              <a:rPr lang="en-US" altLang="zh-CN" sz="2665" dirty="0"/>
              <a:t>C.</a:t>
            </a:r>
            <a:r>
              <a:rPr lang="zh-CN" altLang="en-US" sz="2665" dirty="0"/>
              <a:t>唯物辩证法关于事物之间普遍联系、辩证统一的基本原理</a:t>
            </a:r>
            <a:br>
              <a:rPr lang="zh-CN" altLang="en-US" sz="2665" dirty="0"/>
            </a:br>
            <a:r>
              <a:rPr lang="en-US" altLang="zh-CN" sz="2665" dirty="0"/>
              <a:t>D.</a:t>
            </a:r>
            <a:r>
              <a:rPr lang="zh-CN" altLang="en-US" sz="2665" dirty="0"/>
              <a:t>辩证唯物主义关于人与自然关系的思想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1173480"/>
            <a:ext cx="10334625" cy="4011295"/>
          </a:xfrm>
        </p:spPr>
        <p:txBody>
          <a:bodyPr>
            <a:normAutofit fontScale="90000"/>
          </a:bodyPr>
          <a:lstStyle/>
          <a:p>
            <a:pPr algn="l">
              <a:lnSpc>
                <a:spcPct val="140000"/>
              </a:lnSpc>
            </a:pPr>
            <a:r>
              <a:rPr lang="en-US" altLang="zh-CN" sz="2665"/>
              <a:t>4.</a:t>
            </a:r>
            <a:r>
              <a:rPr lang="zh-CN" altLang="en-US" sz="2665"/>
              <a:t>科学发展观坚持以人为本，把人民群众作为推动发展的主体和基本力量，满足人民群众不断增长的物质文化需要，从最广大人民的根本利益出发谋发展、促发展，体现了（</a:t>
            </a:r>
            <a:r>
              <a:rPr lang="en-US" altLang="zh-CN" sz="2665"/>
              <a:t>    </a:t>
            </a:r>
            <a:r>
              <a:rPr lang="zh-CN" altLang="en-US" sz="2665"/>
              <a:t>）的观点。</a:t>
            </a:r>
            <a:br>
              <a:rPr lang="zh-CN" altLang="en-US" sz="2665"/>
            </a:br>
            <a:r>
              <a:rPr lang="en-US" altLang="zh-CN" sz="2665"/>
              <a:t>A.</a:t>
            </a:r>
            <a:r>
              <a:rPr lang="zh-CN" altLang="en-US" sz="2665"/>
              <a:t>历史唯物主义关于生产力是人类社会发展的基础的观点</a:t>
            </a:r>
            <a:br>
              <a:rPr lang="zh-CN" altLang="en-US" sz="2665"/>
            </a:br>
            <a:r>
              <a:rPr lang="en-US" altLang="zh-CN" sz="2665"/>
              <a:t>B.</a:t>
            </a:r>
            <a:r>
              <a:rPr lang="zh-CN" altLang="en-US" sz="2665"/>
              <a:t>历史唯物主义关于人民是历史发展主体和人的全面发展的观点</a:t>
            </a:r>
            <a:br>
              <a:rPr lang="zh-CN" altLang="en-US" sz="2665"/>
            </a:br>
            <a:r>
              <a:rPr lang="en-US" altLang="zh-CN" sz="2665"/>
              <a:t>C.</a:t>
            </a:r>
            <a:r>
              <a:rPr lang="zh-CN" altLang="en-US" sz="2665"/>
              <a:t>唯物辩证法关于事物之间普遍联系、辩证统一的基本原理</a:t>
            </a:r>
            <a:br>
              <a:rPr lang="zh-CN" altLang="en-US" sz="2665"/>
            </a:br>
            <a:r>
              <a:rPr lang="en-US" altLang="zh-CN" sz="2665"/>
              <a:t>D.</a:t>
            </a:r>
            <a:r>
              <a:rPr lang="zh-CN" altLang="en-US" sz="2665"/>
              <a:t>辩证唯物主义关于人与自然关系的思想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173480"/>
            <a:ext cx="10334625" cy="4011295"/>
          </a:xfrm>
        </p:spPr>
        <p:txBody>
          <a:bodyPr>
            <a:normAutofit fontScale="90000"/>
          </a:bodyPr>
          <a:lstStyle/>
          <a:p>
            <a:pPr algn="l">
              <a:lnSpc>
                <a:spcPct val="140000"/>
              </a:lnSpc>
            </a:pPr>
            <a:r>
              <a:rPr lang="en-US" altLang="zh-CN" sz="2665"/>
              <a:t>5.</a:t>
            </a:r>
            <a:r>
              <a:rPr lang="zh-CN" altLang="en-US" sz="2665"/>
              <a:t>科学发展观坚持全面发展和协调发展，强调全面推进经济建设、政治建设、文化建设、社会建设、生态文明建设，实现经济发展和社会全面进步，注重统筹城乡发展、区域发展、经济社会发展、人与自然和谐发展、国内发展和对外开放，体现了（</a:t>
            </a:r>
            <a:r>
              <a:rPr lang="en-US" altLang="zh-CN" sz="2665"/>
              <a:t>   </a:t>
            </a:r>
            <a:r>
              <a:rPr lang="zh-CN" altLang="en-US" sz="2665"/>
              <a:t>）的观点。</a:t>
            </a:r>
            <a:br>
              <a:rPr lang="zh-CN" altLang="en-US" sz="2665"/>
            </a:br>
            <a:r>
              <a:rPr lang="en-US" altLang="zh-CN" sz="2665"/>
              <a:t>A.</a:t>
            </a:r>
            <a:r>
              <a:rPr lang="zh-CN" altLang="en-US" sz="2665"/>
              <a:t>历史唯物主义关于生产力是人类社会发展的基础的观点</a:t>
            </a:r>
            <a:br>
              <a:rPr lang="zh-CN" altLang="en-US" sz="2665"/>
            </a:br>
            <a:r>
              <a:rPr lang="en-US" altLang="zh-CN" sz="2665"/>
              <a:t>B.</a:t>
            </a:r>
            <a:r>
              <a:rPr lang="zh-CN" altLang="en-US" sz="2665"/>
              <a:t>历史唯物主义关于人民是历史发展主体和人的全面发展的观点</a:t>
            </a:r>
            <a:br>
              <a:rPr lang="zh-CN" altLang="en-US" sz="2665"/>
            </a:br>
            <a:r>
              <a:rPr lang="en-US" altLang="zh-CN" sz="2665"/>
              <a:t>C.</a:t>
            </a:r>
            <a:r>
              <a:rPr lang="zh-CN" altLang="en-US" sz="2665"/>
              <a:t>唯物辩证法关于事物之间普遍联系、辩证统一的基本原理</a:t>
            </a:r>
            <a:br>
              <a:rPr lang="zh-CN" altLang="en-US" sz="2665"/>
            </a:br>
            <a:r>
              <a:rPr lang="en-US" altLang="zh-CN" sz="2665"/>
              <a:t>D.</a:t>
            </a:r>
            <a:r>
              <a:rPr lang="zh-CN" altLang="en-US" sz="2665"/>
              <a:t>辩证唯物主义关于人与自然关系的思想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1173480"/>
            <a:ext cx="10334625" cy="4011295"/>
          </a:xfrm>
        </p:spPr>
        <p:txBody>
          <a:bodyPr>
            <a:normAutofit/>
          </a:bodyPr>
          <a:lstStyle/>
          <a:p>
            <a:pPr algn="l">
              <a:lnSpc>
                <a:spcPct val="140000"/>
              </a:lnSpc>
            </a:pPr>
            <a:r>
              <a:rPr lang="en-US" altLang="zh-CN" sz="2665"/>
              <a:t>6.</a:t>
            </a:r>
            <a:r>
              <a:rPr lang="zh-CN" altLang="en-US" sz="2665"/>
              <a:t>科学发展观坚持可持续发展，强调要实现经济发展与人口、资源、环境相协调，保证一代接一代地永续发展，体现了（</a:t>
            </a:r>
            <a:r>
              <a:rPr lang="en-US" altLang="zh-CN" sz="2665"/>
              <a:t>   </a:t>
            </a:r>
            <a:r>
              <a:rPr lang="zh-CN" altLang="en-US" sz="2665"/>
              <a:t>）。</a:t>
            </a:r>
            <a:br>
              <a:rPr lang="zh-CN" altLang="en-US" sz="2665"/>
            </a:br>
            <a:r>
              <a:rPr lang="en-US" altLang="zh-CN" sz="2665"/>
              <a:t>A.</a:t>
            </a:r>
            <a:r>
              <a:rPr lang="zh-CN" altLang="en-US" sz="2665"/>
              <a:t>历史唯物主义关于生产力是人类社会发展的基础的观点</a:t>
            </a:r>
            <a:br>
              <a:rPr lang="zh-CN" altLang="en-US" sz="2665"/>
            </a:br>
            <a:r>
              <a:rPr lang="en-US" altLang="zh-CN" sz="2665"/>
              <a:t>B.</a:t>
            </a:r>
            <a:r>
              <a:rPr lang="zh-CN" altLang="en-US" sz="2665"/>
              <a:t>历史唯物主义关于人民是历史发展主体和人的全面发展的观点</a:t>
            </a:r>
            <a:br>
              <a:rPr lang="zh-CN" altLang="en-US" sz="2665"/>
            </a:br>
            <a:r>
              <a:rPr lang="en-US" altLang="zh-CN" sz="2665"/>
              <a:t>C.</a:t>
            </a:r>
            <a:r>
              <a:rPr lang="zh-CN" altLang="en-US" sz="2665"/>
              <a:t>唯物辩证法关于事物之间普遍联系、辩证统一的基本原理</a:t>
            </a:r>
            <a:br>
              <a:rPr lang="zh-CN" altLang="en-US" sz="2665"/>
            </a:br>
            <a:r>
              <a:rPr lang="en-US" altLang="zh-CN" sz="2665"/>
              <a:t>D.</a:t>
            </a:r>
            <a:r>
              <a:rPr lang="zh-CN" altLang="en-US" sz="2665"/>
              <a:t>辩证唯物主义关于人与自然关系的思想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ABCE</a:t>
            </a:r>
            <a:r>
              <a:rPr lang="zh-CN" altLang="en-US"/>
              <a:t>）</a:t>
            </a:r>
          </a:p>
        </p:txBody>
      </p:sp>
      <p:sp>
        <p:nvSpPr>
          <p:cNvPr id="2" name="标题 1"/>
          <p:cNvSpPr>
            <a:spLocks noGrp="1"/>
          </p:cNvSpPr>
          <p:nvPr>
            <p:ph type="ctrTitle"/>
          </p:nvPr>
        </p:nvSpPr>
        <p:spPr>
          <a:xfrm>
            <a:off x="904240" y="1173480"/>
            <a:ext cx="10334625" cy="4011295"/>
          </a:xfrm>
        </p:spPr>
        <p:txBody>
          <a:bodyPr>
            <a:normAutofit/>
          </a:bodyPr>
          <a:lstStyle/>
          <a:p>
            <a:pPr algn="l">
              <a:lnSpc>
                <a:spcPct val="140000"/>
              </a:lnSpc>
            </a:pPr>
            <a:r>
              <a:rPr lang="en-US" altLang="zh-CN" sz="2665" dirty="0">
                <a:solidFill>
                  <a:srgbClr val="FF0000"/>
                </a:solidFill>
              </a:rPr>
              <a:t>1.</a:t>
            </a:r>
            <a:r>
              <a:rPr lang="zh-CN" altLang="en-US" sz="2665" dirty="0"/>
              <a:t>关于科学发展观的科学内涵，以下各选项表述正确的有（</a:t>
            </a:r>
            <a:r>
              <a:rPr lang="en-US" altLang="zh-CN" sz="2665" dirty="0"/>
              <a:t>   </a:t>
            </a:r>
            <a:r>
              <a:rPr lang="zh-CN" altLang="en-US" sz="2665" dirty="0"/>
              <a:t>）。</a:t>
            </a:r>
            <a:br>
              <a:rPr lang="zh-CN" altLang="en-US" sz="2665" dirty="0"/>
            </a:br>
            <a:r>
              <a:rPr lang="en-US" altLang="zh-CN" sz="2665" dirty="0"/>
              <a:t>A.</a:t>
            </a:r>
            <a:r>
              <a:rPr lang="zh-CN" altLang="en-US" sz="2665" dirty="0"/>
              <a:t>推动经济社会发展是科学发展观的第一要义</a:t>
            </a:r>
            <a:br>
              <a:rPr lang="zh-CN" altLang="en-US" sz="2665" dirty="0"/>
            </a:br>
            <a:r>
              <a:rPr lang="en-US" altLang="zh-CN" sz="2665" dirty="0"/>
              <a:t>B.</a:t>
            </a:r>
            <a:r>
              <a:rPr lang="zh-CN" altLang="en-US" sz="2665" dirty="0"/>
              <a:t>以人为本是科学发展观的核心立场</a:t>
            </a:r>
            <a:br>
              <a:rPr lang="zh-CN" altLang="en-US" sz="2665" dirty="0"/>
            </a:br>
            <a:r>
              <a:rPr lang="en-US" altLang="zh-CN" sz="2665" dirty="0"/>
              <a:t>C.</a:t>
            </a:r>
            <a:r>
              <a:rPr lang="zh-CN" altLang="en-US" sz="2665" dirty="0"/>
              <a:t>全面协调可持续是科学发展观的基本要求</a:t>
            </a:r>
            <a:br>
              <a:rPr lang="zh-CN" altLang="en-US" sz="2665" dirty="0"/>
            </a:br>
            <a:r>
              <a:rPr lang="en-US" altLang="zh-CN" sz="2665" dirty="0"/>
              <a:t>D.</a:t>
            </a:r>
            <a:r>
              <a:rPr lang="zh-CN" altLang="en-US" sz="2665" dirty="0"/>
              <a:t>全面建设小康社会是科学发展观的主要任务</a:t>
            </a:r>
            <a:br>
              <a:rPr lang="zh-CN" altLang="en-US" sz="2665" dirty="0"/>
            </a:br>
            <a:r>
              <a:rPr lang="en-US" altLang="zh-CN" sz="2665" dirty="0"/>
              <a:t>E.</a:t>
            </a:r>
            <a:r>
              <a:rPr lang="zh-CN" altLang="en-US" sz="2665" dirty="0"/>
              <a:t>统筹兼顾是科学发展观的根本方法</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6104890"/>
            <a:ext cx="9144000" cy="428625"/>
          </a:xfrm>
        </p:spPr>
        <p:txBody>
          <a:bodyPr>
            <a:normAutofit fontScale="80000"/>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485900"/>
            <a:ext cx="10640695" cy="4618990"/>
          </a:xfrm>
        </p:spPr>
        <p:txBody>
          <a:bodyPr>
            <a:normAutofit fontScale="90000"/>
          </a:bodyPr>
          <a:lstStyle/>
          <a:p>
            <a:pPr algn="l">
              <a:lnSpc>
                <a:spcPct val="140000"/>
              </a:lnSpc>
            </a:pPr>
            <a:r>
              <a:rPr lang="en-US" altLang="zh-CN" sz="2665"/>
              <a:t>2.</a:t>
            </a:r>
            <a:r>
              <a:rPr lang="zh-CN" altLang="en-US" sz="2665"/>
              <a:t>科学发展观的主要内容之一就是加快转变经济发展方式。围绕加快转变经济发展方式，我们党强调了一系列重要思想观点。以下各选项相关表述正确的有（</a:t>
            </a:r>
            <a:r>
              <a:rPr lang="en-US" altLang="zh-CN" sz="2665"/>
              <a:t>    </a:t>
            </a:r>
            <a:r>
              <a:rPr lang="zh-CN" altLang="en-US" sz="2665"/>
              <a:t>）。</a:t>
            </a:r>
            <a:br>
              <a:rPr lang="zh-CN" altLang="en-US" sz="2665"/>
            </a:br>
            <a:r>
              <a:rPr lang="en-US" altLang="zh-CN" sz="2665"/>
              <a:t>A.</a:t>
            </a:r>
            <a:r>
              <a:rPr lang="zh-CN" altLang="en-US" sz="2665"/>
              <a:t>全面深化经济体制改革是加快转变经济发展方式的关键</a:t>
            </a:r>
            <a:br>
              <a:rPr lang="zh-CN" altLang="en-US" sz="2665"/>
            </a:br>
            <a:r>
              <a:rPr lang="en-US" altLang="zh-CN" sz="2665"/>
              <a:t>B.</a:t>
            </a:r>
            <a:r>
              <a:rPr lang="zh-CN" altLang="en-US" sz="2665"/>
              <a:t>实施创新驱动发展战略，是转变经济发展方式的重大战略决策</a:t>
            </a:r>
            <a:br>
              <a:rPr lang="zh-CN" altLang="en-US" sz="2665"/>
            </a:br>
            <a:r>
              <a:rPr lang="en-US" altLang="zh-CN" sz="2665"/>
              <a:t>C.</a:t>
            </a:r>
            <a:r>
              <a:rPr lang="zh-CN" altLang="en-US" sz="2665"/>
              <a:t>推动经济结构战略性调整，是加快转变经济发展方式的主攻方向</a:t>
            </a:r>
            <a:br>
              <a:rPr lang="zh-CN" altLang="en-US" sz="2665"/>
            </a:br>
            <a:r>
              <a:rPr lang="en-US" altLang="zh-CN" sz="2665"/>
              <a:t>D.</a:t>
            </a:r>
            <a:r>
              <a:rPr lang="zh-CN" altLang="en-US" sz="2665"/>
              <a:t>进入新世纪，党中央提出振兴东北地区等老工业基地、促进中部地区崛起、实施西部大开发，鼓励东部地区率先发展，推动形成区域发展的总体战略</a:t>
            </a:r>
            <a:br>
              <a:rPr lang="zh-CN" altLang="en-US" sz="2665"/>
            </a:br>
            <a:r>
              <a:rPr lang="en-US" altLang="zh-CN" sz="2665"/>
              <a:t>E.</a:t>
            </a:r>
            <a:r>
              <a:rPr lang="zh-CN" altLang="en-US" sz="2665"/>
              <a:t>实现工业化、信息化、城镇化、农业现代化，是加快形成新的经济发展方式的重要动力</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173480"/>
            <a:ext cx="10334625" cy="4011295"/>
          </a:xfrm>
        </p:spPr>
        <p:txBody>
          <a:bodyPr>
            <a:normAutofit fontScale="90000"/>
          </a:bodyPr>
          <a:lstStyle/>
          <a:p>
            <a:pPr algn="l">
              <a:lnSpc>
                <a:spcPct val="140000"/>
              </a:lnSpc>
            </a:pPr>
            <a:r>
              <a:rPr lang="en-US" altLang="zh-CN" sz="2665"/>
              <a:t>3.</a:t>
            </a:r>
            <a:r>
              <a:rPr lang="zh-CN" altLang="en-US" sz="2665"/>
              <a:t>以下各选项关于社会主义民主形式的表述，正确的有（）。</a:t>
            </a:r>
            <a:br>
              <a:rPr lang="zh-CN" altLang="en-US" sz="2665"/>
            </a:br>
            <a:r>
              <a:rPr lang="en-US" altLang="zh-CN" sz="2665"/>
              <a:t>A.</a:t>
            </a:r>
            <a:r>
              <a:rPr lang="zh-CN" altLang="en-US" sz="2665"/>
              <a:t>人民通过选举、投票行使权利</a:t>
            </a:r>
            <a:br>
              <a:rPr lang="zh-CN" altLang="en-US" sz="2665"/>
            </a:br>
            <a:r>
              <a:rPr lang="en-US" altLang="zh-CN" sz="2665"/>
              <a:t>B.</a:t>
            </a:r>
            <a:r>
              <a:rPr lang="zh-CN" altLang="en-US" sz="2665"/>
              <a:t>人民内部各方面在作出重大决策之前进行充分协商，尽可能取得一致意见</a:t>
            </a:r>
            <a:br>
              <a:rPr lang="zh-CN" altLang="en-US" sz="2665"/>
            </a:br>
            <a:r>
              <a:rPr lang="en-US" altLang="zh-CN" sz="2665"/>
              <a:t>C.</a:t>
            </a:r>
            <a:r>
              <a:rPr lang="zh-CN" altLang="en-US" sz="2665"/>
              <a:t>社会主义协商民主是中国共产党和中国人民在社会主义民主形式方面的伟大创造</a:t>
            </a:r>
            <a:br>
              <a:rPr lang="zh-CN" altLang="en-US" sz="2665"/>
            </a:br>
            <a:r>
              <a:rPr lang="en-US" altLang="zh-CN" sz="2665"/>
              <a:t>D.</a:t>
            </a:r>
            <a:r>
              <a:rPr lang="zh-CN" altLang="en-US" sz="2665"/>
              <a:t>社会主义协商民主充分体现了社会主义民主的真实性、广泛性、包容性</a:t>
            </a:r>
            <a:br>
              <a:rPr lang="zh-CN" altLang="en-US" sz="2665"/>
            </a:br>
            <a:r>
              <a:rPr lang="en-US" altLang="zh-CN" sz="2665"/>
              <a:t>E. </a:t>
            </a:r>
            <a:r>
              <a:rPr lang="zh-CN" altLang="en-US" sz="2665"/>
              <a:t>选举民主与协商民主相结合，拓展了社会主义民主的深度和广度</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173480"/>
            <a:ext cx="10334625" cy="4011295"/>
          </a:xfrm>
        </p:spPr>
        <p:txBody>
          <a:bodyPr>
            <a:normAutofit/>
          </a:bodyPr>
          <a:lstStyle/>
          <a:p>
            <a:pPr algn="l">
              <a:lnSpc>
                <a:spcPct val="140000"/>
              </a:lnSpc>
            </a:pPr>
            <a:r>
              <a:rPr lang="en-US" altLang="zh-CN" sz="2665"/>
              <a:t>4.</a:t>
            </a:r>
            <a:r>
              <a:rPr lang="zh-CN" altLang="en-US" sz="2665"/>
              <a:t>社会主义核心价值体系的基本内容包括（</a:t>
            </a:r>
            <a:r>
              <a:rPr lang="en-US" altLang="zh-CN" sz="2665"/>
              <a:t>   </a:t>
            </a:r>
            <a:r>
              <a:rPr lang="zh-CN" altLang="en-US" sz="2665"/>
              <a:t>）。</a:t>
            </a:r>
            <a:br>
              <a:rPr lang="zh-CN" altLang="en-US" sz="2665"/>
            </a:br>
            <a:r>
              <a:rPr lang="en-US" altLang="zh-CN" sz="2665"/>
              <a:t>A.</a:t>
            </a:r>
            <a:r>
              <a:rPr lang="zh-CN" altLang="en-US" sz="2665"/>
              <a:t>马克思主义指导思想</a:t>
            </a:r>
            <a:br>
              <a:rPr lang="zh-CN" altLang="en-US" sz="2665"/>
            </a:br>
            <a:r>
              <a:rPr lang="en-US" altLang="zh-CN" sz="2665"/>
              <a:t>B.</a:t>
            </a:r>
            <a:r>
              <a:rPr lang="zh-CN" altLang="en-US" sz="2665"/>
              <a:t>中国特色社会主义共同理想</a:t>
            </a:r>
            <a:br>
              <a:rPr lang="zh-CN" altLang="en-US" sz="2665"/>
            </a:br>
            <a:r>
              <a:rPr lang="en-US" altLang="zh-CN" sz="2665"/>
              <a:t>C.</a:t>
            </a:r>
            <a:r>
              <a:rPr lang="zh-CN" altLang="en-US" sz="2665"/>
              <a:t>以爱国主义为核心的民族精神</a:t>
            </a:r>
            <a:br>
              <a:rPr lang="zh-CN" altLang="en-US" sz="2665"/>
            </a:br>
            <a:r>
              <a:rPr lang="en-US" altLang="zh-CN" sz="2665"/>
              <a:t>D.</a:t>
            </a:r>
            <a:r>
              <a:rPr lang="zh-CN" altLang="en-US" sz="2665"/>
              <a:t>以改革创新为核心的时代精神</a:t>
            </a:r>
            <a:br>
              <a:rPr lang="zh-CN" altLang="en-US" sz="2665"/>
            </a:br>
            <a:r>
              <a:rPr lang="en-US" altLang="zh-CN" sz="2665"/>
              <a:t>E.</a:t>
            </a:r>
            <a:r>
              <a:rPr lang="zh-CN" altLang="en-US" sz="2665"/>
              <a:t>社会主义荣辱观</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173480"/>
            <a:ext cx="10334625" cy="4011295"/>
          </a:xfrm>
        </p:spPr>
        <p:txBody>
          <a:bodyPr>
            <a:normAutofit/>
          </a:bodyPr>
          <a:lstStyle/>
          <a:p>
            <a:pPr algn="l">
              <a:lnSpc>
                <a:spcPct val="140000"/>
              </a:lnSpc>
            </a:pPr>
            <a:r>
              <a:rPr lang="en-US" altLang="zh-CN" sz="2665"/>
              <a:t>5.</a:t>
            </a:r>
            <a:r>
              <a:rPr lang="zh-CN" altLang="en-US" sz="2665"/>
              <a:t>构建社会主义和谐社会的总要求是（</a:t>
            </a:r>
            <a:r>
              <a:rPr lang="en-US" altLang="zh-CN" sz="2665"/>
              <a:t>   </a:t>
            </a:r>
            <a:r>
              <a:rPr lang="zh-CN" altLang="en-US" sz="2665"/>
              <a:t>）。</a:t>
            </a:r>
            <a:br>
              <a:rPr lang="zh-CN" altLang="en-US" sz="2665"/>
            </a:br>
            <a:r>
              <a:rPr lang="en-US" altLang="zh-CN" sz="2665"/>
              <a:t>A.</a:t>
            </a:r>
            <a:r>
              <a:rPr lang="zh-CN" altLang="en-US" sz="2665"/>
              <a:t>民主法治</a:t>
            </a:r>
            <a:br>
              <a:rPr lang="zh-CN" altLang="en-US" sz="2665"/>
            </a:br>
            <a:r>
              <a:rPr lang="en-US" altLang="zh-CN" sz="2665"/>
              <a:t>B.</a:t>
            </a:r>
            <a:r>
              <a:rPr lang="zh-CN" altLang="en-US" sz="2665"/>
              <a:t>公平正义</a:t>
            </a:r>
            <a:br>
              <a:rPr lang="zh-CN" altLang="en-US" sz="2665"/>
            </a:br>
            <a:r>
              <a:rPr lang="en-US" altLang="zh-CN" sz="2665"/>
              <a:t>C.</a:t>
            </a:r>
            <a:r>
              <a:rPr lang="zh-CN" altLang="en-US" sz="2665"/>
              <a:t>诚信友爱</a:t>
            </a:r>
            <a:br>
              <a:rPr lang="zh-CN" altLang="en-US" sz="2665"/>
            </a:br>
            <a:r>
              <a:rPr lang="en-US" altLang="zh-CN" sz="2665"/>
              <a:t>D.</a:t>
            </a:r>
            <a:r>
              <a:rPr lang="zh-CN" altLang="en-US" sz="2665"/>
              <a:t>充满活力</a:t>
            </a:r>
            <a:br>
              <a:rPr lang="zh-CN" altLang="en-US" sz="2665"/>
            </a:br>
            <a:r>
              <a:rPr lang="en-US" altLang="zh-CN" sz="2665"/>
              <a:t>E.</a:t>
            </a:r>
            <a:r>
              <a:rPr lang="zh-CN" altLang="en-US" sz="2665"/>
              <a:t>安定有序、人与自然和谐相处</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1016</Words>
  <Application>Microsoft Office PowerPoint</Application>
  <PresentationFormat>宽屏</PresentationFormat>
  <Paragraphs>34</Paragraphs>
  <Slides>11</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Arial</vt:lpstr>
      <vt:lpstr>Calibri</vt:lpstr>
      <vt:lpstr>WPS</vt:lpstr>
      <vt:lpstr>1.科学发展观强调，社会主义民主政治的本质和核心是（  ）。 A.人民当家作主 B.党的领导 C.依法治国 D.人民代表大会</vt:lpstr>
      <vt:lpstr>2.社会主义核心价值观在国家层面的体现（  ）。 A.富强、民主、文明、和谐 B.自由、平等、公正、法治 C.爱国、敬业、诚信、友善 D.民主、法治、公平、正义 社会层面：（  ） 公民层面：（  ）</vt:lpstr>
      <vt:lpstr>3.科学发展观强调坚持以经济建设为中心，把发展生产力作为首要任务，把经济发展作为一切发展的前提，体现了（   ）的观点。 A.历史唯物主义关于生产力是人类社会发展的基础的观点 B.历史唯物主义关于人民是历史发展主体和人的全面发展的观点 C.唯物辩证法关于事物之间普遍联系、辩证统一的基本原理 D.辩证唯物主义关于人与自然关系的思想</vt:lpstr>
      <vt:lpstr>4.科学发展观坚持以人为本，把人民群众作为推动发展的主体和基本力量，满足人民群众不断增长的物质文化需要，从最广大人民的根本利益出发谋发展、促发展，体现了（    ）的观点。 A.历史唯物主义关于生产力是人类社会发展的基础的观点 B.历史唯物主义关于人民是历史发展主体和人的全面发展的观点 C.唯物辩证法关于事物之间普遍联系、辩证统一的基本原理 D.辩证唯物主义关于人与自然关系的思想</vt:lpstr>
      <vt:lpstr>5.科学发展观坚持全面发展和协调发展，强调全面推进经济建设、政治建设、文化建设、社会建设、生态文明建设，实现经济发展和社会全面进步，注重统筹城乡发展、区域发展、经济社会发展、人与自然和谐发展、国内发展和对外开放，体现了（   ）的观点。 A.历史唯物主义关于生产力是人类社会发展的基础的观点 B.历史唯物主义关于人民是历史发展主体和人的全面发展的观点 C.唯物辩证法关于事物之间普遍联系、辩证统一的基本原理 D.辩证唯物主义关于人与自然关系的思想</vt:lpstr>
      <vt:lpstr>6.科学发展观坚持可持续发展，强调要实现经济发展与人口、资源、环境相协调，保证一代接一代地永续发展，体现了（   ）。 A.历史唯物主义关于生产力是人类社会发展的基础的观点 B.历史唯物主义关于人民是历史发展主体和人的全面发展的观点 C.唯物辩证法关于事物之间普遍联系、辩证统一的基本原理 D.辩证唯物主义关于人与自然关系的思想</vt:lpstr>
      <vt:lpstr>1.关于科学发展观的科学内涵，以下各选项表述正确的有（   ）。 A.推动经济社会发展是科学发展观的第一要义 B.以人为本是科学发展观的核心立场 C.全面协调可持续是科学发展观的基本要求 D.全面建设小康社会是科学发展观的主要任务 E.统筹兼顾是科学发展观的根本方法</vt:lpstr>
      <vt:lpstr>2.科学发展观的主要内容之一就是加快转变经济发展方式。围绕加快转变经济发展方式，我们党强调了一系列重要思想观点。以下各选项相关表述正确的有（    ）。 A.全面深化经济体制改革是加快转变经济发展方式的关键 B.实施创新驱动发展战略，是转变经济发展方式的重大战略决策 C.推动经济结构战略性调整，是加快转变经济发展方式的主攻方向 D.进入新世纪，党中央提出振兴东北地区等老工业基地、促进中部地区崛起、实施西部大开发，鼓励东部地区率先发展，推动形成区域发展的总体战略 E.实现工业化、信息化、城镇化、农业现代化，是加快形成新的经济发展方式的重要动力</vt:lpstr>
      <vt:lpstr>3.以下各选项关于社会主义民主形式的表述，正确的有（）。 A.人民通过选举、投票行使权利 B.人民内部各方面在作出重大决策之前进行充分协商，尽可能取得一致意见 C.社会主义协商民主是中国共产党和中国人民在社会主义民主形式方面的伟大创造 D.社会主义协商民主充分体现了社会主义民主的真实性、广泛性、包容性 E. 选举民主与协商民主相结合，拓展了社会主义民主的深度和广度</vt:lpstr>
      <vt:lpstr>4.社会主义核心价值体系的基本内容包括（   ）。 A.马克思主义指导思想 B.中国特色社会主义共同理想 C.以爱国主义为核心的民族精神 D.以改革创新为核心的时代精神 E.社会主义荣辱观</vt:lpstr>
      <vt:lpstr>5.构建社会主义和谐社会的总要求是（   ）。 A.民主法治 B.公平正义 C.诚信友爱 D.充满活力 E.安定有序、人与自然和谐相处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 欣翰</cp:lastModifiedBy>
  <cp:revision>11</cp:revision>
  <dcterms:created xsi:type="dcterms:W3CDTF">2023-08-09T12:44:00Z</dcterms:created>
  <dcterms:modified xsi:type="dcterms:W3CDTF">2026-06-27T08:50:48Z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0FFB374EF87741258E9EC42A4DEF22FC_13</vt:lpwstr>
  </property>
</Properties>
</file>