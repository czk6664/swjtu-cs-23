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02" d="100"/>
          <a:sy n="102" d="100"/>
        </p:scale>
        <p:origin x="88" y="184"/>
      </p:cViewPr>
      <p:guideLst>
        <p:guide orient="horz" pos="2160"/>
        <p:guide pos="38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2026/6/28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1.1945</a:t>
            </a:r>
            <a:r>
              <a:rPr lang="zh-CN" altLang="en-US" sz="2665"/>
              <a:t>年，在（</a:t>
            </a:r>
            <a:r>
              <a:rPr lang="en-US" altLang="zh-CN" sz="2665"/>
              <a:t>     </a:t>
            </a:r>
            <a:r>
              <a:rPr lang="zh-CN" altLang="en-US" sz="2665"/>
              <a:t>）上，把毛泽东思想确立为中国共产党必须长期坚持的指导思想。</a:t>
            </a:r>
            <a:br>
              <a:rPr lang="zh-CN" altLang="en-US" sz="2665"/>
            </a:br>
            <a:r>
              <a:rPr lang="en-US" altLang="zh-CN" sz="2665"/>
              <a:t>     A.</a:t>
            </a:r>
            <a:r>
              <a:rPr lang="zh-CN" altLang="en-US" sz="2665"/>
              <a:t>中国共产党五大</a:t>
            </a:r>
            <a:br>
              <a:rPr lang="zh-CN" altLang="en-US" sz="2665"/>
            </a:br>
            <a:r>
              <a:rPr lang="en-US" altLang="zh-CN" sz="2665"/>
              <a:t>     B.</a:t>
            </a:r>
            <a:r>
              <a:rPr lang="zh-CN" altLang="en-US" sz="2665"/>
              <a:t>中国共产党六大</a:t>
            </a:r>
            <a:br>
              <a:rPr lang="zh-CN" altLang="en-US" sz="2665"/>
            </a:br>
            <a:r>
              <a:rPr lang="en-US" altLang="zh-CN" sz="2665"/>
              <a:t>     C.</a:t>
            </a:r>
            <a:r>
              <a:rPr lang="zh-CN" altLang="en-US" sz="2665"/>
              <a:t>中国共产党七大</a:t>
            </a:r>
            <a:br>
              <a:rPr lang="zh-CN" altLang="en-US" sz="2665"/>
            </a:br>
            <a:r>
              <a:rPr lang="en-US" altLang="zh-CN" sz="2665"/>
              <a:t>     D.</a:t>
            </a:r>
            <a:r>
              <a:rPr lang="zh-CN" altLang="en-US" sz="2665"/>
              <a:t>中国共产党八大</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71550" y="1256030"/>
            <a:ext cx="10334625" cy="3126740"/>
          </a:xfrm>
        </p:spPr>
        <p:txBody>
          <a:bodyPr>
            <a:normAutofit/>
          </a:bodyPr>
          <a:lstStyle/>
          <a:p>
            <a:pPr algn="l">
              <a:lnSpc>
                <a:spcPct val="140000"/>
              </a:lnSpc>
            </a:pPr>
            <a:r>
              <a:rPr lang="en-US" altLang="zh-CN" sz="2665"/>
              <a:t>     2.</a:t>
            </a:r>
            <a:r>
              <a:rPr lang="zh-CN" altLang="en-US" sz="2665"/>
              <a:t>（</a:t>
            </a:r>
            <a:r>
              <a:rPr lang="en-US" altLang="zh-CN" sz="2665"/>
              <a:t>     </a:t>
            </a:r>
            <a:r>
              <a:rPr lang="zh-CN" altLang="en-US" sz="2665"/>
              <a:t>）是毛泽东思想的基本点，是毛泽东思想的精髓。</a:t>
            </a:r>
            <a:br>
              <a:rPr lang="zh-CN" altLang="en-US" sz="2665"/>
            </a:br>
            <a:r>
              <a:rPr lang="en-US" altLang="zh-CN" sz="2665"/>
              <a:t>       A. </a:t>
            </a:r>
            <a:r>
              <a:rPr lang="zh-CN" altLang="en-US" sz="2665"/>
              <a:t>群众路线</a:t>
            </a:r>
            <a:br>
              <a:rPr lang="zh-CN" altLang="en-US" sz="2665"/>
            </a:br>
            <a:r>
              <a:rPr lang="en-US" altLang="zh-CN" sz="2665"/>
              <a:t>       B. </a:t>
            </a:r>
            <a:r>
              <a:rPr lang="zh-CN" altLang="en-US" sz="2665"/>
              <a:t>独立自主</a:t>
            </a:r>
            <a:br>
              <a:rPr lang="zh-CN" altLang="en-US" sz="2665"/>
            </a:br>
            <a:r>
              <a:rPr lang="en-US" altLang="zh-CN" sz="2665"/>
              <a:t>       C. </a:t>
            </a:r>
            <a:r>
              <a:rPr lang="zh-CN" altLang="en-US" sz="2665"/>
              <a:t>实事求是</a:t>
            </a:r>
            <a:br>
              <a:rPr lang="zh-CN" altLang="en-US" sz="2665"/>
            </a:br>
            <a:r>
              <a:rPr lang="en-US" altLang="zh-CN" sz="2665"/>
              <a:t>       D. </a:t>
            </a:r>
            <a:r>
              <a:rPr lang="zh-CN" altLang="en-US" sz="2665"/>
              <a:t>武装斗争</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a:t>      3.</a:t>
            </a:r>
            <a:r>
              <a:rPr lang="zh-CN" altLang="en-US" sz="2665"/>
              <a:t>群众路线是以毛泽东同志为主要代表的中国共产党人坚持把马克思列宁主义关于（</a:t>
            </a:r>
            <a:r>
              <a:rPr lang="en-US" altLang="zh-CN" sz="2665"/>
              <a:t>     </a:t>
            </a:r>
            <a:r>
              <a:rPr lang="zh-CN" altLang="en-US" sz="2665"/>
              <a:t>）的原理，系统地运用在党的全部活动中形成的党的根本工作路线。不论过去、现在和将来，群众路线都是我们党的生命线和根本工作路线，是我们党永葆青春活力和战斗力的重要传家宝。</a:t>
            </a:r>
            <a:br>
              <a:rPr lang="zh-CN" altLang="en-US" sz="2665"/>
            </a:br>
            <a:r>
              <a:rPr lang="en-US" altLang="zh-CN" sz="2665"/>
              <a:t>     A. </a:t>
            </a:r>
            <a:r>
              <a:rPr lang="zh-CN" altLang="en-US" sz="2665"/>
              <a:t>物质第一性</a:t>
            </a:r>
            <a:br>
              <a:rPr lang="zh-CN" altLang="en-US" sz="2665"/>
            </a:br>
            <a:r>
              <a:rPr lang="en-US" altLang="zh-CN" sz="2665"/>
              <a:t>    B. </a:t>
            </a:r>
            <a:r>
              <a:rPr lang="zh-CN" altLang="en-US" sz="2665"/>
              <a:t>人民群众是历史创造者</a:t>
            </a:r>
            <a:br>
              <a:rPr lang="zh-CN" altLang="en-US" sz="2665"/>
            </a:br>
            <a:r>
              <a:rPr lang="en-US" altLang="zh-CN" sz="2665"/>
              <a:t>    C. </a:t>
            </a:r>
            <a:r>
              <a:rPr lang="zh-CN" altLang="en-US" sz="2665"/>
              <a:t>辩证统一</a:t>
            </a:r>
            <a:br>
              <a:rPr lang="zh-CN" altLang="en-US" sz="2665"/>
            </a:br>
            <a:r>
              <a:rPr lang="en-US" altLang="zh-CN" sz="2665"/>
              <a:t>    D. </a:t>
            </a:r>
            <a:r>
              <a:rPr lang="zh-CN" altLang="en-US" sz="2665"/>
              <a:t>阶级斗争</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C </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4.</a:t>
            </a:r>
            <a:r>
              <a:rPr lang="zh-CN" altLang="en-US" sz="2665"/>
              <a:t>群众路线本质上体现的是（</a:t>
            </a:r>
            <a:r>
              <a:rPr lang="en-US" altLang="zh-CN" sz="2665"/>
              <a:t> </a:t>
            </a:r>
            <a:r>
              <a:rPr lang="zh-CN" altLang="en-US" sz="2665"/>
              <a:t>）。</a:t>
            </a:r>
            <a:br>
              <a:rPr lang="zh-CN" altLang="en-US" sz="2665"/>
            </a:br>
            <a:r>
              <a:rPr lang="en-US" altLang="zh-CN" sz="2665"/>
              <a:t>       A. </a:t>
            </a:r>
            <a:r>
              <a:rPr lang="zh-CN" altLang="en-US" sz="2665"/>
              <a:t>阶级斗争的原理</a:t>
            </a:r>
            <a:br>
              <a:rPr lang="zh-CN" altLang="en-US" sz="2665"/>
            </a:br>
            <a:r>
              <a:rPr lang="en-US" altLang="zh-CN" sz="2665"/>
              <a:t>       B. </a:t>
            </a:r>
            <a:r>
              <a:rPr lang="zh-CN" altLang="en-US" sz="2665"/>
              <a:t>唯物辩证法的原理</a:t>
            </a:r>
            <a:br>
              <a:rPr lang="zh-CN" altLang="en-US" sz="2665"/>
            </a:br>
            <a:r>
              <a:rPr lang="en-US" altLang="zh-CN" sz="2665"/>
              <a:t>       C. </a:t>
            </a:r>
            <a:r>
              <a:rPr lang="zh-CN" altLang="en-US" sz="2665"/>
              <a:t>人民群众是历史的创造者的原理</a:t>
            </a:r>
            <a:br>
              <a:rPr lang="zh-CN" altLang="en-US" sz="2665"/>
            </a:br>
            <a:r>
              <a:rPr lang="en-US" altLang="zh-CN" sz="2665"/>
              <a:t>       D. </a:t>
            </a:r>
            <a:r>
              <a:rPr lang="zh-CN" altLang="en-US" sz="2665"/>
              <a:t>社会基本矛盾的原理</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t>A</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dirty="0">
                <a:solidFill>
                  <a:srgbClr val="FF0000"/>
                </a:solidFill>
              </a:rPr>
              <a:t>      5.</a:t>
            </a:r>
            <a:r>
              <a:rPr lang="zh-CN" altLang="en-US" sz="2665" dirty="0"/>
              <a:t>（</a:t>
            </a:r>
            <a:r>
              <a:rPr lang="en-US" altLang="zh-CN" sz="2665" dirty="0"/>
              <a:t>    </a:t>
            </a:r>
            <a:r>
              <a:rPr lang="zh-CN" altLang="en-US" sz="2665" dirty="0"/>
              <a:t>），是我们党一切行动的根本出发点和落脚点，是我们党区别于其他一切政党的根本标志。</a:t>
            </a:r>
            <a:br>
              <a:rPr lang="zh-CN" altLang="en-US" sz="2665" dirty="0"/>
            </a:br>
            <a:r>
              <a:rPr lang="en-US" altLang="zh-CN" sz="2665" dirty="0"/>
              <a:t>      A. </a:t>
            </a:r>
            <a:r>
              <a:rPr lang="zh-CN" altLang="en-US" sz="2665" dirty="0"/>
              <a:t>全心全意为人民服务</a:t>
            </a:r>
            <a:br>
              <a:rPr lang="zh-CN" altLang="en-US" sz="2665" dirty="0"/>
            </a:br>
            <a:r>
              <a:rPr lang="en-US" altLang="zh-CN" sz="2665" dirty="0"/>
              <a:t>     B. </a:t>
            </a:r>
            <a:r>
              <a:rPr lang="zh-CN" altLang="en-US" sz="2665" dirty="0"/>
              <a:t>独立自主</a:t>
            </a:r>
            <a:br>
              <a:rPr lang="zh-CN" altLang="en-US" sz="2665" dirty="0"/>
            </a:br>
            <a:r>
              <a:rPr lang="en-US" altLang="zh-CN" sz="2665" dirty="0"/>
              <a:t>     C. </a:t>
            </a:r>
            <a:r>
              <a:rPr lang="zh-CN" altLang="en-US" sz="2665" dirty="0"/>
              <a:t>实事求是</a:t>
            </a:r>
            <a:br>
              <a:rPr lang="zh-CN" altLang="en-US" sz="2665" dirty="0"/>
            </a:br>
            <a:r>
              <a:rPr lang="en-US" altLang="zh-CN" sz="2665" dirty="0"/>
              <a:t>     D. </a:t>
            </a:r>
            <a:r>
              <a:rPr lang="zh-CN" altLang="en-US" sz="2665" dirty="0"/>
              <a:t>群众路线</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t>A</a:t>
            </a:r>
            <a:r>
              <a:rPr lang="zh-CN" altLang="en-US"/>
              <a:t>）</a:t>
            </a:r>
          </a:p>
        </p:txBody>
      </p:sp>
      <p:sp>
        <p:nvSpPr>
          <p:cNvPr id="2" name="标题 1"/>
          <p:cNvSpPr>
            <a:spLocks noGrp="1"/>
          </p:cNvSpPr>
          <p:nvPr>
            <p:ph type="ctrTitle"/>
          </p:nvPr>
        </p:nvSpPr>
        <p:spPr>
          <a:xfrm>
            <a:off x="904240" y="1133475"/>
            <a:ext cx="10334625" cy="3751580"/>
          </a:xfrm>
        </p:spPr>
        <p:txBody>
          <a:bodyPr>
            <a:normAutofit/>
          </a:bodyPr>
          <a:lstStyle/>
          <a:p>
            <a:pPr algn="l">
              <a:lnSpc>
                <a:spcPct val="140000"/>
              </a:lnSpc>
            </a:pPr>
            <a:r>
              <a:rPr lang="en-US" altLang="zh-CN" sz="2665"/>
              <a:t>      6.</a:t>
            </a:r>
            <a:r>
              <a:rPr lang="zh-CN" altLang="en-US" sz="2665"/>
              <a:t>大革命时期，毛泽东以马克思列宁主义为指导，深入实际调査研究</a:t>
            </a:r>
            <a:r>
              <a:rPr lang="en-US" altLang="zh-CN" sz="2665"/>
              <a:t>,</a:t>
            </a:r>
            <a:r>
              <a:rPr lang="zh-CN" altLang="en-US" sz="2665"/>
              <a:t>在《中国社会各阶级的分析》《湖南农民运动考察报告》等著作中，明确指出无产阶级领导农民斗争的极端重要性，解决了无产阶级领导权的中心问题，即如何领导农民斗争的问题。这些关于新民主主义革命基本思想的提出，标志着</a:t>
            </a:r>
            <a:r>
              <a:rPr lang="zh-CN" altLang="en-US" sz="2660">
                <a:sym typeface="+mn-ea"/>
              </a:rPr>
              <a:t>毛泽东思想</a:t>
            </a:r>
            <a:r>
              <a:rPr lang="zh-CN" altLang="en-US" sz="2665"/>
              <a:t>（</a:t>
            </a:r>
            <a:r>
              <a:rPr lang="en-US" altLang="zh-CN" sz="2665"/>
              <a:t>     </a:t>
            </a:r>
            <a:r>
              <a:rPr lang="zh-CN" altLang="en-US" sz="2665"/>
              <a:t>）。</a:t>
            </a:r>
            <a:br>
              <a:rPr lang="zh-CN" altLang="en-US" sz="2665"/>
            </a:br>
            <a:r>
              <a:rPr lang="en-US" altLang="zh-CN" sz="2665"/>
              <a:t>     A. </a:t>
            </a:r>
            <a:r>
              <a:rPr lang="zh-CN" altLang="en-US" sz="2665"/>
              <a:t>开始萌芽</a:t>
            </a:r>
            <a:r>
              <a:rPr lang="en-US" altLang="zh-CN" sz="2665"/>
              <a:t>           B. </a:t>
            </a:r>
            <a:r>
              <a:rPr lang="zh-CN" altLang="en-US" sz="2665"/>
              <a:t>初步形成</a:t>
            </a:r>
            <a:r>
              <a:rPr lang="en-US" altLang="zh-CN" sz="2665"/>
              <a:t>          C. </a:t>
            </a:r>
            <a:r>
              <a:rPr lang="zh-CN" altLang="en-US" sz="2665"/>
              <a:t>基本形成</a:t>
            </a:r>
            <a:r>
              <a:rPr lang="en-US" altLang="zh-CN" sz="2665"/>
              <a:t>            D. </a:t>
            </a:r>
            <a:r>
              <a:rPr lang="zh-CN" altLang="en-US" sz="2665"/>
              <a:t>趋于成熟</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dirty="0"/>
              <a:t>   </a:t>
            </a:r>
            <a:r>
              <a:rPr lang="en-US" altLang="zh-CN" sz="2665" dirty="0">
                <a:solidFill>
                  <a:srgbClr val="FF0000"/>
                </a:solidFill>
              </a:rPr>
              <a:t>   7</a:t>
            </a:r>
            <a:r>
              <a:rPr lang="en-US" altLang="zh-CN" sz="2665" dirty="0"/>
              <a:t>.</a:t>
            </a:r>
            <a:r>
              <a:rPr lang="zh-CN" altLang="en-US" sz="2665" dirty="0"/>
              <a:t>土地革命战争时期，毛泽东在《中国的红色政权为什么能够存在？》《井冈山的斗争》《星星之火，可以燎原》《反对瘁本主义》等著作中，提出并深入阐述了（</a:t>
            </a:r>
            <a:r>
              <a:rPr lang="en-US" altLang="zh-CN" sz="2665" dirty="0"/>
              <a:t>     </a:t>
            </a:r>
            <a:r>
              <a:rPr lang="zh-CN" altLang="en-US" sz="2665" dirty="0"/>
              <a:t>），标志着毛泽东思想的初步形成。</a:t>
            </a:r>
            <a:br>
              <a:rPr lang="zh-CN" altLang="en-US" sz="2665" dirty="0"/>
            </a:br>
            <a:r>
              <a:rPr lang="en-US" altLang="zh-CN" sz="2665" dirty="0"/>
              <a:t>    A. </a:t>
            </a:r>
            <a:r>
              <a:rPr lang="zh-CN" altLang="en-US" sz="2665" dirty="0"/>
              <a:t>无产阶级领导农民斗争的极端重要性</a:t>
            </a:r>
            <a:br>
              <a:rPr lang="zh-CN" altLang="en-US" sz="2665" dirty="0"/>
            </a:br>
            <a:r>
              <a:rPr lang="en-US" altLang="zh-CN" sz="2665" dirty="0"/>
              <a:t>    B. </a:t>
            </a:r>
            <a:r>
              <a:rPr lang="zh-CN" altLang="en-US" sz="2665" dirty="0"/>
              <a:t>无产阶级领导权的中心问题</a:t>
            </a:r>
            <a:br>
              <a:rPr lang="zh-CN" altLang="en-US" sz="2665" dirty="0"/>
            </a:br>
            <a:r>
              <a:rPr lang="en-US" altLang="zh-CN" sz="2665" dirty="0"/>
              <a:t>    C. </a:t>
            </a:r>
            <a:r>
              <a:rPr lang="zh-CN" altLang="en-US" sz="2665" dirty="0"/>
              <a:t>农村包围城市、武装夺取政权的思想</a:t>
            </a:r>
            <a:br>
              <a:rPr lang="zh-CN" altLang="en-US" sz="2665" dirty="0"/>
            </a:br>
            <a:r>
              <a:rPr lang="en-US" altLang="zh-CN" sz="2665" dirty="0"/>
              <a:t>    D. </a:t>
            </a:r>
            <a:r>
              <a:rPr lang="zh-CN" altLang="en-US" sz="2665" dirty="0"/>
              <a:t>如何领导农民斗争的问题</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a:t>      8.</a:t>
            </a:r>
            <a:r>
              <a:rPr lang="zh-CN" altLang="en-US" sz="2665"/>
              <a:t>土地革命战争后期和抗日战争时期，毛泽东在对革命实践经验和教训科学总结的基础上，系统阐述了（</a:t>
            </a:r>
            <a:r>
              <a:rPr lang="en-US" altLang="zh-CN" sz="2665"/>
              <a:t>  </a:t>
            </a:r>
            <a:r>
              <a:rPr lang="zh-CN" altLang="en-US" sz="2665"/>
              <a:t>），实现了马克思主义与中国革命实践相结合的历史性飞跃，标志着毛泽东思想得到多方面展开而趋于成熟。</a:t>
            </a:r>
            <a:br>
              <a:rPr lang="zh-CN" altLang="en-US" sz="2665"/>
            </a:br>
            <a:r>
              <a:rPr lang="en-US" altLang="zh-CN" sz="2665"/>
              <a:t>      A. </a:t>
            </a:r>
            <a:r>
              <a:rPr lang="zh-CN" altLang="en-US" sz="2665"/>
              <a:t>农村包围城市、武装夺取政权的思想</a:t>
            </a:r>
            <a:br>
              <a:rPr lang="zh-CN" altLang="en-US" sz="2665"/>
            </a:br>
            <a:r>
              <a:rPr lang="en-US" altLang="zh-CN" sz="2665"/>
              <a:t>     B. </a:t>
            </a:r>
            <a:r>
              <a:rPr lang="zh-CN" altLang="en-US" sz="2665"/>
              <a:t>新民主主义革命理论</a:t>
            </a:r>
            <a:br>
              <a:rPr lang="zh-CN" altLang="en-US" sz="2665"/>
            </a:br>
            <a:r>
              <a:rPr lang="en-US" altLang="zh-CN" sz="2665"/>
              <a:t>     C. </a:t>
            </a:r>
            <a:r>
              <a:rPr lang="zh-CN" altLang="en-US" sz="2665"/>
              <a:t>无产阶级领导农民斗争的极端重要性</a:t>
            </a:r>
            <a:br>
              <a:rPr lang="zh-CN" altLang="en-US" sz="2665"/>
            </a:br>
            <a:r>
              <a:rPr lang="en-US" altLang="zh-CN" sz="2665"/>
              <a:t>     D. </a:t>
            </a:r>
            <a:r>
              <a:rPr lang="zh-CN" altLang="en-US" sz="2665"/>
              <a:t>如何领导农民斗争的问题</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 </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9.</a:t>
            </a:r>
            <a:r>
              <a:rPr lang="zh-CN" altLang="en-US" sz="2665"/>
              <a:t>在新民主主义革命过程中，创造性地将支部建在连上，从组织上确立了党对军队的领导，成为建设无产阶级领导的新型人民军队的重要开端，这一重大事件是（</a:t>
            </a:r>
            <a:r>
              <a:rPr lang="en-US" altLang="zh-CN" sz="2665"/>
              <a:t> </a:t>
            </a:r>
            <a:r>
              <a:rPr lang="zh-CN" altLang="en-US" sz="2665"/>
              <a:t>）。</a:t>
            </a:r>
            <a:br>
              <a:rPr lang="zh-CN" altLang="en-US" sz="2665"/>
            </a:br>
            <a:r>
              <a:rPr lang="en-US" altLang="zh-CN" sz="2665"/>
              <a:t>      A. </a:t>
            </a:r>
            <a:r>
              <a:rPr lang="zh-CN" altLang="en-US" sz="2665"/>
              <a:t>八七会议</a:t>
            </a:r>
            <a:br>
              <a:rPr lang="zh-CN" altLang="en-US" sz="2665"/>
            </a:br>
            <a:r>
              <a:rPr lang="en-US" altLang="zh-CN" sz="2665"/>
              <a:t>     B. </a:t>
            </a:r>
            <a:r>
              <a:rPr lang="zh-CN" altLang="en-US" sz="2665"/>
              <a:t>三湾改编</a:t>
            </a:r>
            <a:br>
              <a:rPr lang="zh-CN" altLang="en-US" sz="2665"/>
            </a:br>
            <a:r>
              <a:rPr lang="en-US" altLang="zh-CN" sz="2665"/>
              <a:t>     C. </a:t>
            </a:r>
            <a:r>
              <a:rPr lang="zh-CN" altLang="en-US" sz="2665"/>
              <a:t>遵义会议</a:t>
            </a:r>
            <a:br>
              <a:rPr lang="zh-CN" altLang="en-US" sz="2665"/>
            </a:br>
            <a:r>
              <a:rPr lang="en-US" altLang="zh-CN" sz="2665"/>
              <a:t>     D. </a:t>
            </a:r>
            <a:r>
              <a:rPr lang="zh-CN" altLang="en-US" sz="2665"/>
              <a:t>瓦窑堡会议</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t>A</a:t>
            </a:r>
            <a:r>
              <a:rPr lang="zh-CN" altLang="en-US"/>
              <a:t>）</a:t>
            </a:r>
          </a:p>
        </p:txBody>
      </p:sp>
      <p:sp>
        <p:nvSpPr>
          <p:cNvPr id="2" name="标题 1"/>
          <p:cNvSpPr>
            <a:spLocks noGrp="1"/>
          </p:cNvSpPr>
          <p:nvPr>
            <p:ph type="ctrTitle"/>
          </p:nvPr>
        </p:nvSpPr>
        <p:spPr>
          <a:xfrm>
            <a:off x="904240" y="1044575"/>
            <a:ext cx="10334625" cy="3909060"/>
          </a:xfrm>
        </p:spPr>
        <p:txBody>
          <a:bodyPr>
            <a:normAutofit fontScale="90000"/>
          </a:bodyPr>
          <a:lstStyle/>
          <a:p>
            <a:pPr algn="l">
              <a:lnSpc>
                <a:spcPct val="140000"/>
              </a:lnSpc>
            </a:pPr>
            <a:r>
              <a:rPr lang="en-US" altLang="zh-CN" sz="2665"/>
              <a:t>      10.1945</a:t>
            </a:r>
            <a:r>
              <a:rPr lang="zh-CN" altLang="en-US" sz="2665"/>
              <a:t>年</a:t>
            </a:r>
            <a:r>
              <a:rPr lang="en-US" altLang="zh-CN" sz="2665"/>
              <a:t>7</a:t>
            </a:r>
            <a:r>
              <a:rPr lang="zh-CN" altLang="en-US" sz="2665"/>
              <a:t>月，黄炎培等六位国民参政员到延安访问。毛泽东问黄炎培的感想怎样？黄炎培说：我生六十多年，耳间的不说，所亲眼看到的，真所谓</a:t>
            </a:r>
            <a:r>
              <a:rPr lang="en-US" altLang="zh-CN" sz="2665"/>
              <a:t>“</a:t>
            </a:r>
            <a:r>
              <a:rPr lang="zh-CN" altLang="en-US" sz="2665"/>
              <a:t>其兴也淳焉</a:t>
            </a:r>
            <a:r>
              <a:rPr lang="en-US" altLang="zh-CN" sz="2665"/>
              <a:t>”“</a:t>
            </a:r>
            <a:r>
              <a:rPr lang="zh-CN" altLang="en-US" sz="2665"/>
              <a:t>其亡也忽焉</a:t>
            </a:r>
            <a:r>
              <a:rPr lang="en-US" altLang="zh-CN" sz="2665"/>
              <a:t>”</a:t>
            </a:r>
            <a:r>
              <a:rPr lang="zh-CN" altLang="en-US" sz="2665"/>
              <a:t>，一部历史，</a:t>
            </a:r>
            <a:r>
              <a:rPr lang="en-US" altLang="zh-CN" sz="2665"/>
              <a:t>“</a:t>
            </a:r>
            <a:r>
              <a:rPr lang="zh-CN" altLang="en-US" sz="2665"/>
              <a:t>政怠宦成</a:t>
            </a:r>
            <a:r>
              <a:rPr lang="en-US" altLang="zh-CN" sz="2665"/>
              <a:t>”</a:t>
            </a:r>
            <a:r>
              <a:rPr lang="zh-CN" altLang="en-US" sz="2665"/>
              <a:t>的也有，</a:t>
            </a:r>
            <a:r>
              <a:rPr lang="en-US" altLang="zh-CN" sz="2665"/>
              <a:t>“</a:t>
            </a:r>
            <a:r>
              <a:rPr lang="zh-CN" altLang="en-US" sz="2665"/>
              <a:t>人亡政息</a:t>
            </a:r>
            <a:r>
              <a:rPr lang="en-US" altLang="zh-CN" sz="2665"/>
              <a:t>”</a:t>
            </a:r>
            <a:r>
              <a:rPr lang="zh-CN" altLang="en-US" sz="2665"/>
              <a:t>的也有，</a:t>
            </a:r>
            <a:r>
              <a:rPr lang="en-US" altLang="zh-CN" sz="2665"/>
              <a:t>“</a:t>
            </a:r>
            <a:r>
              <a:rPr lang="zh-CN" altLang="en-US" sz="2665"/>
              <a:t>求荣取辱</a:t>
            </a:r>
            <a:r>
              <a:rPr lang="en-US" altLang="zh-CN" sz="2665"/>
              <a:t>”</a:t>
            </a:r>
            <a:r>
              <a:rPr lang="zh-CN" altLang="en-US" sz="2665"/>
              <a:t>的也有，总之没有能跳出这周期率。中共诸君从过去到现在，我略略了解的了，就是希望找出一条新路，来跳出这周期率的支配。毛泽东说：我们已经找到新路，我们能跳出这周期率。这条新路，就是（</a:t>
            </a:r>
            <a:r>
              <a:rPr lang="en-US" altLang="zh-CN" sz="2665"/>
              <a:t>    </a:t>
            </a:r>
            <a:r>
              <a:rPr lang="zh-CN" altLang="en-US" sz="2665"/>
              <a:t>）。</a:t>
            </a:r>
            <a:br>
              <a:rPr lang="zh-CN" altLang="en-US" sz="2665"/>
            </a:br>
            <a:r>
              <a:rPr lang="en-US" altLang="zh-CN" sz="2665"/>
              <a:t>     A. </a:t>
            </a:r>
            <a:r>
              <a:rPr lang="zh-CN" altLang="en-US" sz="2665"/>
              <a:t>民主</a:t>
            </a:r>
            <a:r>
              <a:rPr lang="en-US" altLang="zh-CN" sz="2665"/>
              <a:t>           B. </a:t>
            </a:r>
            <a:r>
              <a:rPr lang="zh-CN" altLang="en-US" sz="2665"/>
              <a:t>新民主主义革命道路</a:t>
            </a:r>
            <a:r>
              <a:rPr lang="en-US" altLang="zh-CN" sz="2665"/>
              <a:t>       C. </a:t>
            </a:r>
            <a:r>
              <a:rPr lang="zh-CN" altLang="en-US" sz="2665"/>
              <a:t>社会主义道路</a:t>
            </a:r>
            <a:r>
              <a:rPr lang="en-US" altLang="zh-CN" sz="2665"/>
              <a:t>        D. </a:t>
            </a:r>
            <a:r>
              <a:rPr lang="zh-CN" altLang="en-US" sz="2665"/>
              <a:t>自我革命</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72185" y="1581785"/>
            <a:ext cx="10334625" cy="3120390"/>
          </a:xfrm>
        </p:spPr>
        <p:txBody>
          <a:bodyPr>
            <a:normAutofit/>
          </a:bodyPr>
          <a:lstStyle/>
          <a:p>
            <a:pPr algn="l">
              <a:lnSpc>
                <a:spcPct val="140000"/>
              </a:lnSpc>
            </a:pPr>
            <a:r>
              <a:rPr lang="en-US" altLang="zh-CN" sz="2665" dirty="0"/>
              <a:t>      11.</a:t>
            </a:r>
            <a:r>
              <a:rPr lang="zh-CN" altLang="en-US" sz="2665" dirty="0"/>
              <a:t>党的一切工作，必须以（</a:t>
            </a:r>
            <a:r>
              <a:rPr lang="en-US" altLang="zh-CN" sz="2665" dirty="0"/>
              <a:t>  </a:t>
            </a:r>
            <a:r>
              <a:rPr lang="zh-CN" altLang="en-US" sz="2665" dirty="0"/>
              <a:t>）为最高标准</a:t>
            </a:r>
            <a:br>
              <a:rPr lang="zh-CN" altLang="en-US" sz="2665" dirty="0"/>
            </a:br>
            <a:r>
              <a:rPr lang="en-US" altLang="zh-CN" sz="2665" dirty="0"/>
              <a:t>       A. </a:t>
            </a:r>
            <a:r>
              <a:rPr lang="zh-CN" altLang="en-US" sz="2665" dirty="0"/>
              <a:t>始终作到实事求是</a:t>
            </a:r>
            <a:br>
              <a:rPr lang="zh-CN" altLang="en-US" sz="2665" dirty="0"/>
            </a:br>
            <a:r>
              <a:rPr lang="en-US" altLang="zh-CN" sz="2665" dirty="0"/>
              <a:t>      B. </a:t>
            </a:r>
            <a:r>
              <a:rPr lang="zh-CN" altLang="en-US" sz="2665" dirty="0"/>
              <a:t>合乎最广大人民的根本利益</a:t>
            </a:r>
            <a:br>
              <a:rPr lang="zh-CN" altLang="en-US" sz="2665" dirty="0"/>
            </a:br>
            <a:r>
              <a:rPr lang="en-US" altLang="zh-CN" sz="2665" dirty="0"/>
              <a:t>      C. </a:t>
            </a:r>
            <a:r>
              <a:rPr lang="zh-CN" altLang="en-US" sz="2665" dirty="0"/>
              <a:t>始终作到独立自主</a:t>
            </a:r>
            <a:br>
              <a:rPr lang="zh-CN" altLang="en-US" sz="2665" dirty="0"/>
            </a:br>
            <a:r>
              <a:rPr lang="en-US" altLang="zh-CN" sz="2665" dirty="0"/>
              <a:t>      D. </a:t>
            </a:r>
            <a:r>
              <a:rPr lang="zh-CN" altLang="en-US" sz="2665" dirty="0"/>
              <a:t>合乎人类社会发展规律</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BDE</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1.</a:t>
            </a:r>
            <a:r>
              <a:rPr lang="zh-CN" altLang="en-US" sz="2665"/>
              <a:t>毛泽东思想是在我国（</a:t>
            </a:r>
            <a:r>
              <a:rPr lang="en-US" altLang="zh-CN" sz="2665"/>
              <a:t>    </a:t>
            </a:r>
            <a:r>
              <a:rPr lang="zh-CN" altLang="en-US" sz="2665"/>
              <a:t>）的实践过程中，在总结我国革命和建设正反两方面历史经验的基础上，逐步形成和发展起来的。</a:t>
            </a:r>
            <a:br>
              <a:rPr lang="zh-CN" altLang="en-US" sz="2665"/>
            </a:br>
            <a:r>
              <a:rPr lang="en-US" altLang="zh-CN" sz="2665"/>
              <a:t>     A. </a:t>
            </a:r>
            <a:r>
              <a:rPr lang="zh-CN" altLang="en-US" sz="2665"/>
              <a:t>旧民主主义革命</a:t>
            </a:r>
            <a:br>
              <a:rPr lang="zh-CN" altLang="en-US" sz="2665"/>
            </a:br>
            <a:r>
              <a:rPr lang="en-US" altLang="zh-CN" sz="2665"/>
              <a:t>    B. </a:t>
            </a:r>
            <a:r>
              <a:rPr lang="zh-CN" altLang="en-US" sz="2665"/>
              <a:t>新民主主义革命</a:t>
            </a:r>
            <a:br>
              <a:rPr lang="zh-CN" altLang="en-US" sz="2665"/>
            </a:br>
            <a:r>
              <a:rPr lang="en-US" altLang="zh-CN" sz="2665"/>
              <a:t>    C. </a:t>
            </a:r>
            <a:r>
              <a:rPr lang="zh-CN" altLang="en-US" sz="2665"/>
              <a:t>社会主义改革开放</a:t>
            </a:r>
            <a:br>
              <a:rPr lang="zh-CN" altLang="en-US" sz="2665"/>
            </a:br>
            <a:r>
              <a:rPr lang="en-US" altLang="zh-CN" sz="2665"/>
              <a:t>    D. </a:t>
            </a:r>
            <a:r>
              <a:rPr lang="zh-CN" altLang="en-US" sz="2665"/>
              <a:t>社会主义革命</a:t>
            </a:r>
            <a:br>
              <a:rPr lang="zh-CN" altLang="en-US" sz="2665"/>
            </a:br>
            <a:r>
              <a:rPr lang="en-US" altLang="zh-CN" sz="2665"/>
              <a:t>    E. </a:t>
            </a:r>
            <a:r>
              <a:rPr lang="zh-CN" altLang="en-US" sz="2665"/>
              <a:t>社会主义建设</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BE</a:t>
            </a:r>
            <a:r>
              <a:rPr lang="zh-CN" altLang="en-US"/>
              <a:t>）</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dirty="0"/>
              <a:t>     </a:t>
            </a:r>
            <a:r>
              <a:rPr lang="en-US" altLang="zh-CN" sz="2665" dirty="0">
                <a:solidFill>
                  <a:srgbClr val="FF0000"/>
                </a:solidFill>
              </a:rPr>
              <a:t> 2</a:t>
            </a:r>
            <a:r>
              <a:rPr lang="en-US" altLang="zh-CN" sz="2665" dirty="0"/>
              <a:t>.</a:t>
            </a:r>
            <a:r>
              <a:rPr lang="zh-CN" altLang="en-US" sz="2665" dirty="0"/>
              <a:t>大革命时期，毛泽东在（</a:t>
            </a:r>
            <a:r>
              <a:rPr lang="en-US" altLang="zh-CN" sz="2665" dirty="0"/>
              <a:t>     </a:t>
            </a:r>
            <a:r>
              <a:rPr lang="zh-CN" altLang="en-US" sz="2665" dirty="0"/>
              <a:t>）等著作中，提出了无产阶级领导农民斗争的极端重要性等关于新民主主义革命的基本思想，标志着毛泽东思想开始萌芽。</a:t>
            </a:r>
            <a:br>
              <a:rPr lang="zh-CN" altLang="en-US" sz="2665" dirty="0"/>
            </a:br>
            <a:r>
              <a:rPr lang="en-US" altLang="zh-CN" sz="2665" dirty="0"/>
              <a:t>A. </a:t>
            </a:r>
            <a:r>
              <a:rPr lang="zh-CN" altLang="en-US" sz="2665" dirty="0"/>
              <a:t>《中国的红色政权为什么能够存在？》</a:t>
            </a:r>
            <a:br>
              <a:rPr lang="zh-CN" altLang="en-US" sz="2665" dirty="0"/>
            </a:br>
            <a:r>
              <a:rPr lang="en-US" altLang="zh-CN" sz="2665" dirty="0"/>
              <a:t>B. </a:t>
            </a:r>
            <a:r>
              <a:rPr lang="zh-CN" altLang="en-US" sz="2665" dirty="0"/>
              <a:t>《中国社会各阶级的分析》</a:t>
            </a:r>
            <a:br>
              <a:rPr lang="zh-CN" altLang="en-US" sz="2665" dirty="0"/>
            </a:br>
            <a:r>
              <a:rPr lang="en-US" altLang="zh-CN" sz="2665" dirty="0"/>
              <a:t>C. </a:t>
            </a:r>
            <a:r>
              <a:rPr lang="zh-CN" altLang="en-US" sz="2665" dirty="0"/>
              <a:t>《星星之火，可以燎原》</a:t>
            </a:r>
            <a:br>
              <a:rPr lang="zh-CN" altLang="en-US" sz="2665" dirty="0"/>
            </a:br>
            <a:r>
              <a:rPr lang="en-US" altLang="zh-CN" sz="2665" dirty="0"/>
              <a:t>D. </a:t>
            </a:r>
            <a:r>
              <a:rPr lang="zh-CN" altLang="en-US" sz="2665" dirty="0"/>
              <a:t>《反对本本主义》</a:t>
            </a:r>
            <a:br>
              <a:rPr lang="zh-CN" altLang="en-US" sz="2665" dirty="0"/>
            </a:br>
            <a:r>
              <a:rPr lang="en-US" altLang="zh-CN" sz="2665" dirty="0"/>
              <a:t>E. </a:t>
            </a:r>
            <a:r>
              <a:rPr lang="zh-CN" altLang="en-US" sz="2665" dirty="0"/>
              <a:t>《湖南农民运动考察报告》</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ABDE</a:t>
            </a:r>
            <a:r>
              <a:rPr lang="zh-CN" altLang="en-US"/>
              <a:t>）</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a:t>      3.</a:t>
            </a:r>
            <a:r>
              <a:rPr lang="zh-CN" altLang="en-US" sz="2665"/>
              <a:t>土地革命战争时期，毛泽东在（</a:t>
            </a:r>
            <a:r>
              <a:rPr lang="en-US" altLang="zh-CN" sz="2665"/>
              <a:t>     </a:t>
            </a:r>
            <a:r>
              <a:rPr lang="zh-CN" altLang="en-US" sz="2665"/>
              <a:t>）等著作中，提出并深入阐述了农村包围城市、武装夺取政权的思想，标志着毛泽东思想的初步形成。</a:t>
            </a:r>
            <a:br>
              <a:rPr lang="zh-CN" altLang="en-US" sz="2665"/>
            </a:br>
            <a:r>
              <a:rPr lang="en-US" altLang="zh-CN" sz="2665"/>
              <a:t>A. </a:t>
            </a:r>
            <a:r>
              <a:rPr lang="zh-CN" altLang="en-US" sz="2665"/>
              <a:t>《中国的红色政权为什么能够存在？》</a:t>
            </a:r>
            <a:br>
              <a:rPr lang="zh-CN" altLang="en-US" sz="2665"/>
            </a:br>
            <a:r>
              <a:rPr lang="en-US" altLang="zh-CN" sz="2665"/>
              <a:t>B. </a:t>
            </a:r>
            <a:r>
              <a:rPr lang="zh-CN" altLang="en-US" sz="2665"/>
              <a:t>《井冈山的斗争》</a:t>
            </a:r>
            <a:br>
              <a:rPr lang="zh-CN" altLang="en-US" sz="2665"/>
            </a:br>
            <a:r>
              <a:rPr lang="en-US" altLang="zh-CN" sz="2665"/>
              <a:t>C. </a:t>
            </a:r>
            <a:r>
              <a:rPr lang="zh-CN" altLang="en-US" sz="2665"/>
              <a:t>《湖南农民运动考察报告》</a:t>
            </a:r>
            <a:br>
              <a:rPr lang="zh-CN" altLang="en-US" sz="2665"/>
            </a:br>
            <a:r>
              <a:rPr lang="en-US" altLang="zh-CN" sz="2665"/>
              <a:t>D. </a:t>
            </a:r>
            <a:r>
              <a:rPr lang="zh-CN" altLang="en-US" sz="2665"/>
              <a:t>《星星之火，可以燎原》</a:t>
            </a:r>
            <a:br>
              <a:rPr lang="zh-CN" altLang="en-US" sz="2665"/>
            </a:br>
            <a:r>
              <a:rPr lang="en-US" altLang="zh-CN" sz="2665"/>
              <a:t>E. </a:t>
            </a:r>
            <a:r>
              <a:rPr lang="zh-CN" altLang="en-US" sz="2665"/>
              <a:t>《反对本本主义》</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4.</a:t>
            </a:r>
            <a:r>
              <a:rPr lang="zh-CN" altLang="en-US" sz="2665"/>
              <a:t>毛泽东思想的主要内容包括（</a:t>
            </a:r>
            <a:r>
              <a:rPr lang="en-US" altLang="zh-CN" sz="2665"/>
              <a:t>    </a:t>
            </a:r>
            <a:r>
              <a:rPr lang="zh-CN" altLang="en-US" sz="2665"/>
              <a:t>），除了上述几个方面外，毛泽东思想中还有关于国际战略和外交工作的理论等内容。</a:t>
            </a:r>
            <a:br>
              <a:rPr lang="zh-CN" altLang="en-US" sz="2665"/>
            </a:br>
            <a:r>
              <a:rPr lang="en-US" altLang="zh-CN" sz="2665"/>
              <a:t>A. </a:t>
            </a:r>
            <a:r>
              <a:rPr lang="zh-CN" altLang="en-US" sz="2665"/>
              <a:t>新民主主义革命理论、社会主义革命和社会主义建设理论</a:t>
            </a:r>
            <a:br>
              <a:rPr lang="zh-CN" altLang="en-US" sz="2665"/>
            </a:br>
            <a:r>
              <a:rPr lang="en-US" altLang="zh-CN" sz="2665"/>
              <a:t>B. </a:t>
            </a:r>
            <a:r>
              <a:rPr lang="zh-CN" altLang="en-US" sz="2665"/>
              <a:t>革命军队建设和军事战略的理论</a:t>
            </a:r>
            <a:br>
              <a:rPr lang="zh-CN" altLang="en-US" sz="2665"/>
            </a:br>
            <a:r>
              <a:rPr lang="en-US" altLang="zh-CN" sz="2665"/>
              <a:t>C. </a:t>
            </a:r>
            <a:r>
              <a:rPr lang="zh-CN" altLang="en-US" sz="2665"/>
              <a:t>政策和策略的理论</a:t>
            </a:r>
            <a:br>
              <a:rPr lang="zh-CN" altLang="en-US" sz="2665"/>
            </a:br>
            <a:r>
              <a:rPr lang="en-US" altLang="zh-CN" sz="2665"/>
              <a:t>D. </a:t>
            </a:r>
            <a:r>
              <a:rPr lang="zh-CN" altLang="en-US" sz="2665"/>
              <a:t>思想政治工作和文化工作的理论</a:t>
            </a:r>
            <a:br>
              <a:rPr lang="zh-CN" altLang="en-US" sz="2665"/>
            </a:br>
            <a:r>
              <a:rPr lang="en-US" altLang="zh-CN" sz="2665"/>
              <a:t>E. </a:t>
            </a:r>
            <a:r>
              <a:rPr lang="zh-CN" altLang="en-US" sz="2665"/>
              <a:t>党的建设理论</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AC</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5.</a:t>
            </a:r>
            <a:r>
              <a:rPr lang="zh-CN" altLang="en-US" sz="2665"/>
              <a:t>近代中国资产阶级有两个部分，包括（</a:t>
            </a:r>
            <a:r>
              <a:rPr lang="en-US" altLang="zh-CN" sz="2665"/>
              <a:t>    </a:t>
            </a:r>
            <a:r>
              <a:rPr lang="zh-CN" altLang="en-US" sz="2665"/>
              <a:t>）。</a:t>
            </a:r>
            <a:br>
              <a:rPr lang="zh-CN" altLang="en-US" sz="2665"/>
            </a:br>
            <a:r>
              <a:rPr lang="en-US" altLang="zh-CN" sz="2665"/>
              <a:t>       A. </a:t>
            </a:r>
            <a:r>
              <a:rPr lang="zh-CN" altLang="en-US" sz="2665"/>
              <a:t>依附于帝国主义的大资产阶级</a:t>
            </a:r>
            <a:br>
              <a:rPr lang="zh-CN" altLang="en-US" sz="2665"/>
            </a:br>
            <a:r>
              <a:rPr lang="en-US" altLang="zh-CN" sz="2665"/>
              <a:t>       B. </a:t>
            </a:r>
            <a:r>
              <a:rPr lang="zh-CN" altLang="en-US" sz="2665"/>
              <a:t>城市小资产阶级</a:t>
            </a:r>
            <a:br>
              <a:rPr lang="zh-CN" altLang="en-US" sz="2665"/>
            </a:br>
            <a:r>
              <a:rPr lang="en-US" altLang="zh-CN" sz="2665"/>
              <a:t>      C. </a:t>
            </a:r>
            <a:r>
              <a:rPr lang="zh-CN" altLang="en-US" sz="2665"/>
              <a:t>既有革命要求又有动摇性的民族资产阶级</a:t>
            </a:r>
            <a:br>
              <a:rPr lang="zh-CN" altLang="en-US" sz="2665"/>
            </a:br>
            <a:r>
              <a:rPr lang="en-US" altLang="zh-CN" sz="2665"/>
              <a:t>      D. </a:t>
            </a:r>
            <a:r>
              <a:rPr lang="zh-CN" altLang="en-US" sz="2665"/>
              <a:t>农村小资产阶级</a:t>
            </a:r>
            <a:br>
              <a:rPr lang="zh-CN" altLang="en-US" sz="2665"/>
            </a:br>
            <a:r>
              <a:rPr lang="en-US" altLang="zh-CN" sz="2665"/>
              <a:t>      E. </a:t>
            </a:r>
            <a:r>
              <a:rPr lang="zh-CN" altLang="en-US" sz="2665"/>
              <a:t>外国资产阶级</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BDE</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6.</a:t>
            </a:r>
            <a:r>
              <a:rPr lang="zh-CN" altLang="en-US" sz="2665"/>
              <a:t>毛泽东思想的活的灵魂，是贯穿于理论各个组成部分的立场、观点和方法，它们有三个基本方面，即（</a:t>
            </a:r>
            <a:r>
              <a:rPr lang="en-US" altLang="zh-CN" sz="2665"/>
              <a:t>    </a:t>
            </a:r>
            <a:r>
              <a:rPr lang="zh-CN" altLang="en-US" sz="2665"/>
              <a:t>）。</a:t>
            </a:r>
            <a:br>
              <a:rPr lang="zh-CN" altLang="en-US" sz="2665"/>
            </a:br>
            <a:r>
              <a:rPr lang="en-US" altLang="zh-CN" sz="2665"/>
              <a:t>A. </a:t>
            </a:r>
            <a:r>
              <a:rPr lang="zh-CN" altLang="en-US" sz="2665"/>
              <a:t>党的建设</a:t>
            </a:r>
            <a:br>
              <a:rPr lang="zh-CN" altLang="en-US" sz="2665"/>
            </a:br>
            <a:r>
              <a:rPr lang="en-US" altLang="zh-CN" sz="2665"/>
              <a:t>B. </a:t>
            </a:r>
            <a:r>
              <a:rPr lang="zh-CN" altLang="en-US" sz="2665"/>
              <a:t>实事求是</a:t>
            </a:r>
            <a:br>
              <a:rPr lang="zh-CN" altLang="en-US" sz="2665"/>
            </a:br>
            <a:r>
              <a:rPr lang="en-US" altLang="zh-CN" sz="2665"/>
              <a:t>C. </a:t>
            </a:r>
            <a:r>
              <a:rPr lang="zh-CN" altLang="en-US" sz="2665"/>
              <a:t>武装斗争</a:t>
            </a:r>
            <a:br>
              <a:rPr lang="zh-CN" altLang="en-US" sz="2665"/>
            </a:br>
            <a:r>
              <a:rPr lang="en-US" altLang="zh-CN" sz="2665"/>
              <a:t>D. </a:t>
            </a:r>
            <a:r>
              <a:rPr lang="zh-CN" altLang="en-US" sz="2665"/>
              <a:t>群众路线</a:t>
            </a:r>
            <a:br>
              <a:rPr lang="zh-CN" altLang="en-US" sz="2665"/>
            </a:br>
            <a:r>
              <a:rPr lang="en-US" altLang="zh-CN" sz="2665"/>
              <a:t>E. </a:t>
            </a:r>
            <a:r>
              <a:rPr lang="zh-CN" altLang="en-US" sz="2665"/>
              <a:t>独立自主</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ACE</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7.</a:t>
            </a:r>
            <a:r>
              <a:rPr lang="zh-CN" altLang="en-US" sz="2665"/>
              <a:t>实事求是，就是（</a:t>
            </a:r>
            <a:r>
              <a:rPr lang="en-US" altLang="zh-CN" sz="2665"/>
              <a:t>    </a:t>
            </a:r>
            <a:r>
              <a:rPr lang="zh-CN" altLang="en-US" sz="2665"/>
              <a:t>）。这是中国共产党人认识世界、改造世界的根本要求，是中国共产党的思想路线。</a:t>
            </a:r>
            <a:br>
              <a:rPr lang="zh-CN" altLang="en-US" sz="2665"/>
            </a:br>
            <a:r>
              <a:rPr lang="en-US" altLang="zh-CN" sz="2665"/>
              <a:t>A. </a:t>
            </a:r>
            <a:r>
              <a:rPr lang="zh-CN" altLang="en-US" sz="2665"/>
              <a:t>一切从实际出发</a:t>
            </a:r>
            <a:br>
              <a:rPr lang="zh-CN" altLang="en-US" sz="2665"/>
            </a:br>
            <a:r>
              <a:rPr lang="en-US" altLang="zh-CN" sz="2665"/>
              <a:t>B. </a:t>
            </a:r>
            <a:r>
              <a:rPr lang="zh-CN" altLang="en-US" sz="2665"/>
              <a:t>一切为了群众</a:t>
            </a:r>
            <a:br>
              <a:rPr lang="zh-CN" altLang="en-US" sz="2665"/>
            </a:br>
            <a:r>
              <a:rPr lang="en-US" altLang="zh-CN" sz="2665"/>
              <a:t>C. </a:t>
            </a:r>
            <a:r>
              <a:rPr lang="zh-CN" altLang="en-US" sz="2665"/>
              <a:t>理论联系实际</a:t>
            </a:r>
            <a:br>
              <a:rPr lang="zh-CN" altLang="en-US" sz="2665"/>
            </a:br>
            <a:r>
              <a:rPr lang="en-US" altLang="zh-CN" sz="2665"/>
              <a:t>D. </a:t>
            </a:r>
            <a:r>
              <a:rPr lang="zh-CN" altLang="en-US" sz="2665"/>
              <a:t>一切依靠群众</a:t>
            </a:r>
            <a:br>
              <a:rPr lang="zh-CN" altLang="en-US" sz="2665"/>
            </a:br>
            <a:r>
              <a:rPr lang="en-US" altLang="zh-CN" sz="2665"/>
              <a:t>E. </a:t>
            </a:r>
            <a:r>
              <a:rPr lang="zh-CN" altLang="en-US" sz="2665"/>
              <a:t>坚持在实践中检验真理和发展真理</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ABD</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8.</a:t>
            </a:r>
            <a:r>
              <a:rPr lang="zh-CN" altLang="en-US" sz="2665"/>
              <a:t>群众路线，就是（</a:t>
            </a:r>
            <a:r>
              <a:rPr lang="en-US" altLang="zh-CN" sz="2665"/>
              <a:t>    </a:t>
            </a:r>
            <a:r>
              <a:rPr lang="zh-CN" altLang="en-US" sz="2665"/>
              <a:t>）。</a:t>
            </a:r>
            <a:br>
              <a:rPr lang="zh-CN" altLang="en-US" sz="2665"/>
            </a:br>
            <a:r>
              <a:rPr lang="en-US" altLang="zh-CN" sz="2665"/>
              <a:t>     A. </a:t>
            </a:r>
            <a:r>
              <a:rPr lang="zh-CN" altLang="en-US" sz="2665"/>
              <a:t>一切为了群众，一切依靠群众</a:t>
            </a:r>
            <a:br>
              <a:rPr lang="zh-CN" altLang="en-US" sz="2665"/>
            </a:br>
            <a:r>
              <a:rPr lang="en-US" altLang="zh-CN" sz="2665"/>
              <a:t>    B. </a:t>
            </a:r>
            <a:r>
              <a:rPr lang="zh-CN" altLang="en-US" sz="2665"/>
              <a:t>从群众中来，到群众中去</a:t>
            </a:r>
            <a:br>
              <a:rPr lang="zh-CN" altLang="en-US" sz="2665"/>
            </a:br>
            <a:r>
              <a:rPr lang="en-US" altLang="zh-CN" sz="2665"/>
              <a:t>    C. </a:t>
            </a:r>
            <a:r>
              <a:rPr lang="zh-CN" altLang="en-US" sz="2665"/>
              <a:t>一切从实际出发</a:t>
            </a:r>
            <a:br>
              <a:rPr lang="zh-CN" altLang="en-US" sz="2665"/>
            </a:br>
            <a:r>
              <a:rPr lang="en-US" altLang="zh-CN" sz="2665"/>
              <a:t>    D. </a:t>
            </a:r>
            <a:r>
              <a:rPr lang="zh-CN" altLang="en-US" sz="2665"/>
              <a:t>把党的正确主张变为群众的自觉行动</a:t>
            </a:r>
            <a:br>
              <a:rPr lang="zh-CN" altLang="en-US" sz="2665"/>
            </a:br>
            <a:r>
              <a:rPr lang="en-US" altLang="zh-CN" sz="2665"/>
              <a:t>    E. </a:t>
            </a:r>
            <a:r>
              <a:rPr lang="zh-CN" altLang="en-US" sz="2665"/>
              <a:t>理论联系实际</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 ABCDE </a:t>
            </a:r>
            <a:r>
              <a:rPr lang="zh-CN" altLang="en-US"/>
              <a:t>）</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a:t>    9.</a:t>
            </a:r>
            <a:r>
              <a:rPr lang="zh-CN" altLang="en-US" sz="2665"/>
              <a:t>在党的历史上，遵义会议是一次具有伟大转折意义的重要会议。关于这次会议的重大意义，下列表述正确的有（</a:t>
            </a:r>
            <a:r>
              <a:rPr lang="en-US" altLang="zh-CN" sz="2665"/>
              <a:t>    </a:t>
            </a:r>
            <a:r>
              <a:rPr lang="zh-CN" altLang="en-US" sz="2665"/>
              <a:t>）。</a:t>
            </a:r>
            <a:br>
              <a:rPr lang="zh-CN" altLang="en-US" sz="2665"/>
            </a:br>
            <a:r>
              <a:rPr lang="en-US" altLang="zh-CN" sz="2665"/>
              <a:t>A. </a:t>
            </a:r>
            <a:r>
              <a:rPr lang="zh-CN" altLang="en-US" sz="2665"/>
              <a:t>事实上确立了毛泽东同志在党中央和红军的领导地位</a:t>
            </a:r>
            <a:br>
              <a:rPr lang="zh-CN" altLang="en-US" sz="2665"/>
            </a:br>
            <a:r>
              <a:rPr lang="en-US" altLang="zh-CN" sz="2665"/>
              <a:t>B. </a:t>
            </a:r>
            <a:r>
              <a:rPr lang="zh-CN" altLang="en-US" sz="2665"/>
              <a:t>开始确立以毛泽东同志为主要代表的马克思主义正确路线在党中央的领导地位</a:t>
            </a:r>
            <a:br>
              <a:rPr lang="zh-CN" altLang="en-US" sz="2665"/>
            </a:br>
            <a:r>
              <a:rPr lang="en-US" altLang="zh-CN" sz="2665"/>
              <a:t>C. </a:t>
            </a:r>
            <a:r>
              <a:rPr lang="zh-CN" altLang="en-US" sz="2665"/>
              <a:t>开始形成以毛泽东同志新核心的党的第一代中央领导集体</a:t>
            </a:r>
            <a:br>
              <a:rPr lang="zh-CN" altLang="en-US" sz="2665"/>
            </a:br>
            <a:r>
              <a:rPr lang="en-US" altLang="zh-CN" sz="2665"/>
              <a:t>D. </a:t>
            </a:r>
            <a:r>
              <a:rPr lang="zh-CN" altLang="en-US" sz="2665"/>
              <a:t>开启了党独立自主解决中国革命实际问题的新阶段</a:t>
            </a:r>
            <a:br>
              <a:rPr lang="zh-CN" altLang="en-US" sz="2665"/>
            </a:br>
            <a:r>
              <a:rPr lang="en-US" altLang="zh-CN" sz="2665"/>
              <a:t>E. </a:t>
            </a:r>
            <a:r>
              <a:rPr lang="zh-CN" altLang="en-US" sz="2665"/>
              <a:t>在最危急关夫挽救了党、挽救了红军、挽救了中国革命</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BE</a:t>
            </a:r>
            <a:r>
              <a:rPr lang="zh-CN" altLang="en-US"/>
              <a:t>）</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a:t>      10.1937</a:t>
            </a:r>
            <a:r>
              <a:rPr lang="zh-CN" altLang="en-US" sz="2665"/>
              <a:t>年，毛泽东在（</a:t>
            </a:r>
            <a:r>
              <a:rPr lang="en-US" altLang="zh-CN" sz="2665"/>
              <a:t>    </a:t>
            </a:r>
            <a:r>
              <a:rPr lang="zh-CN" altLang="en-US" sz="2665"/>
              <a:t>）等著作中，深刻阐述了理论对于实践的依赖关系，以及矛盾的普遍性和特殊性的关系，对党的思想路线作了系统的哲学论证。</a:t>
            </a:r>
            <a:br>
              <a:rPr lang="zh-CN" altLang="en-US" sz="2665"/>
            </a:br>
            <a:r>
              <a:rPr lang="en-US" altLang="zh-CN" sz="2665"/>
              <a:t>A. </a:t>
            </a:r>
            <a:r>
              <a:rPr lang="zh-CN" altLang="en-US" sz="2665"/>
              <a:t>《反对本本主义》</a:t>
            </a:r>
            <a:br>
              <a:rPr lang="zh-CN" altLang="en-US" sz="2665"/>
            </a:br>
            <a:r>
              <a:rPr lang="en-US" altLang="zh-CN" sz="2665"/>
              <a:t>B. </a:t>
            </a:r>
            <a:r>
              <a:rPr lang="zh-CN" altLang="en-US" sz="2665"/>
              <a:t>《实践论》</a:t>
            </a:r>
            <a:br>
              <a:rPr lang="zh-CN" altLang="en-US" sz="2665"/>
            </a:br>
            <a:r>
              <a:rPr lang="en-US" altLang="zh-CN" sz="2665"/>
              <a:t>C. </a:t>
            </a:r>
            <a:r>
              <a:rPr lang="zh-CN" altLang="en-US" sz="2665"/>
              <a:t>《改造我们的学习》</a:t>
            </a:r>
            <a:br>
              <a:rPr lang="zh-CN" altLang="en-US" sz="2665"/>
            </a:br>
            <a:r>
              <a:rPr lang="en-US" altLang="zh-CN" sz="2665"/>
              <a:t>D. </a:t>
            </a:r>
            <a:r>
              <a:rPr lang="zh-CN" altLang="en-US" sz="2665"/>
              <a:t>《整顿党的作风》</a:t>
            </a:r>
            <a:br>
              <a:rPr lang="zh-CN" altLang="en-US" sz="2665"/>
            </a:br>
            <a:r>
              <a:rPr lang="en-US" altLang="zh-CN" sz="2665"/>
              <a:t>E. </a:t>
            </a:r>
            <a:r>
              <a:rPr lang="zh-CN" altLang="en-US" sz="2665"/>
              <a:t>《矛盾论》</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662295"/>
            <a:ext cx="9144000" cy="796290"/>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99490" y="988695"/>
            <a:ext cx="10735310" cy="4615180"/>
          </a:xfrm>
        </p:spPr>
        <p:txBody>
          <a:bodyPr>
            <a:normAutofit fontScale="90000"/>
          </a:bodyPr>
          <a:lstStyle/>
          <a:p>
            <a:pPr algn="l">
              <a:lnSpc>
                <a:spcPct val="140000"/>
              </a:lnSpc>
            </a:pPr>
            <a:r>
              <a:rPr lang="en-US" altLang="zh-CN" sz="2665"/>
              <a:t>      11.</a:t>
            </a:r>
            <a:r>
              <a:rPr lang="zh-CN" altLang="en-US" sz="2665"/>
              <a:t>毛泽东在延安整风期间从思想路线的角度，不仅系统阐述了坚持实事求是的重要性，而且对实事求是的科学含义作了马克思主义的界定。他指出（</a:t>
            </a:r>
            <a:r>
              <a:rPr lang="en-US" altLang="zh-CN" sz="2665"/>
              <a:t>      </a:t>
            </a:r>
            <a:r>
              <a:rPr lang="zh-CN" altLang="en-US" sz="2665"/>
              <a:t>）。</a:t>
            </a:r>
            <a:br>
              <a:rPr lang="zh-CN" altLang="en-US" sz="2665"/>
            </a:br>
            <a:r>
              <a:rPr lang="en-US" altLang="zh-CN" sz="2665"/>
              <a:t>A. “</a:t>
            </a:r>
            <a:r>
              <a:rPr lang="zh-CN" altLang="en-US" sz="2665"/>
              <a:t>实事</a:t>
            </a:r>
            <a:r>
              <a:rPr lang="en-US" altLang="zh-CN" sz="2665"/>
              <a:t>”</a:t>
            </a:r>
            <a:r>
              <a:rPr lang="zh-CN" altLang="en-US" sz="2665"/>
              <a:t>就是客观存在着的一切事物</a:t>
            </a:r>
            <a:br>
              <a:rPr lang="zh-CN" altLang="en-US" sz="2665"/>
            </a:br>
            <a:r>
              <a:rPr lang="en-US" altLang="zh-CN" sz="2665"/>
              <a:t>B. “</a:t>
            </a:r>
            <a:r>
              <a:rPr lang="zh-CN" altLang="en-US" sz="2665"/>
              <a:t>是</a:t>
            </a:r>
            <a:r>
              <a:rPr lang="en-US" altLang="zh-CN" sz="2665"/>
              <a:t>”</a:t>
            </a:r>
            <a:r>
              <a:rPr lang="zh-CN" altLang="en-US" sz="2665"/>
              <a:t>就是客观事物的内部联系，即规律性</a:t>
            </a:r>
            <a:br>
              <a:rPr lang="zh-CN" altLang="en-US" sz="2665"/>
            </a:br>
            <a:r>
              <a:rPr lang="en-US" altLang="zh-CN" sz="2665"/>
              <a:t>C. “</a:t>
            </a:r>
            <a:r>
              <a:rPr lang="zh-CN" altLang="en-US" sz="2665"/>
              <a:t>求</a:t>
            </a:r>
            <a:r>
              <a:rPr lang="en-US" altLang="zh-CN" sz="2665"/>
              <a:t>”</a:t>
            </a:r>
            <a:r>
              <a:rPr lang="zh-CN" altLang="en-US" sz="2665"/>
              <a:t>就是我们去研究</a:t>
            </a:r>
            <a:br>
              <a:rPr lang="zh-CN" altLang="en-US" sz="2665"/>
            </a:br>
            <a:r>
              <a:rPr lang="en-US" altLang="zh-CN" sz="2665"/>
              <a:t>D. </a:t>
            </a:r>
            <a:r>
              <a:rPr lang="zh-CN" altLang="en-US" sz="2665"/>
              <a:t>我们要从国内外、省内外、县内外、区内外的实际情况出发，从其中引出其固有的而不是臆造的规律性</a:t>
            </a:r>
            <a:br>
              <a:rPr lang="zh-CN" altLang="en-US" sz="2665"/>
            </a:br>
            <a:r>
              <a:rPr lang="en-US" altLang="zh-CN" sz="2665"/>
              <a:t>E. </a:t>
            </a:r>
            <a:r>
              <a:rPr lang="zh-CN" altLang="en-US" sz="2665"/>
              <a:t>找出周围事变的内部联系，作为我们行动的向导</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 ACE </a:t>
            </a:r>
            <a:r>
              <a:rPr lang="zh-CN" altLang="en-US"/>
              <a:t>）</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dirty="0"/>
              <a:t>      </a:t>
            </a:r>
            <a:r>
              <a:rPr lang="en-US" altLang="zh-CN" sz="2665" dirty="0">
                <a:solidFill>
                  <a:srgbClr val="FF0000"/>
                </a:solidFill>
              </a:rPr>
              <a:t>12.</a:t>
            </a:r>
            <a:r>
              <a:rPr lang="zh-CN" altLang="en-US" sz="2665" dirty="0"/>
              <a:t>贯穿于毛泽东思想科学体系中的立场、观点和方法是最能体现毛泽东思想理论本质特点的思想内容，属于哲学层面的概括和总结，其基本方面包括（</a:t>
            </a:r>
            <a:r>
              <a:rPr lang="en-US" altLang="zh-CN" sz="2665" dirty="0"/>
              <a:t>     </a:t>
            </a:r>
            <a:r>
              <a:rPr lang="zh-CN" altLang="en-US" sz="2665" dirty="0"/>
              <a:t>）。</a:t>
            </a:r>
            <a:br>
              <a:rPr lang="zh-CN" altLang="en-US" sz="2665" dirty="0"/>
            </a:br>
            <a:r>
              <a:rPr lang="en-US" altLang="zh-CN" sz="2665" dirty="0"/>
              <a:t>A. </a:t>
            </a:r>
            <a:r>
              <a:rPr lang="zh-CN" altLang="en-US" sz="2665" dirty="0"/>
              <a:t>实事求是</a:t>
            </a:r>
            <a:br>
              <a:rPr lang="zh-CN" altLang="en-US" sz="2665" dirty="0"/>
            </a:br>
            <a:r>
              <a:rPr lang="en-US" altLang="zh-CN" sz="2665" dirty="0"/>
              <a:t>B. </a:t>
            </a:r>
            <a:r>
              <a:rPr lang="zh-CN" altLang="en-US" sz="2665" dirty="0"/>
              <a:t>党的建设</a:t>
            </a:r>
            <a:br>
              <a:rPr lang="zh-CN" altLang="en-US" sz="2665" dirty="0"/>
            </a:br>
            <a:r>
              <a:rPr lang="en-US" altLang="zh-CN" sz="2665" dirty="0"/>
              <a:t>C. </a:t>
            </a:r>
            <a:r>
              <a:rPr lang="zh-CN" altLang="en-US" sz="2665" dirty="0"/>
              <a:t>群众路线</a:t>
            </a:r>
            <a:br>
              <a:rPr lang="zh-CN" altLang="en-US" sz="2665" dirty="0"/>
            </a:br>
            <a:r>
              <a:rPr lang="en-US" altLang="zh-CN" sz="2665" dirty="0"/>
              <a:t>D. </a:t>
            </a:r>
            <a:r>
              <a:rPr lang="zh-CN" altLang="en-US" sz="2665" dirty="0"/>
              <a:t>统一战线</a:t>
            </a:r>
            <a:br>
              <a:rPr lang="zh-CN" altLang="en-US" sz="2665" dirty="0"/>
            </a:br>
            <a:r>
              <a:rPr lang="en-US" altLang="zh-CN" sz="2665" dirty="0"/>
              <a:t>E. </a:t>
            </a:r>
            <a:r>
              <a:rPr lang="zh-CN" altLang="en-US" sz="2665" dirty="0"/>
              <a:t>独立自主</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1823</Words>
  <Application>Microsoft Office PowerPoint</Application>
  <PresentationFormat>宽屏</PresentationFormat>
  <Paragraphs>69</Paragraphs>
  <Slides>23</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23</vt:i4>
      </vt:variant>
    </vt:vector>
  </HeadingPairs>
  <TitlesOfParts>
    <vt:vector size="26" baseType="lpstr">
      <vt:lpstr>Arial</vt:lpstr>
      <vt:lpstr>Calibri</vt:lpstr>
      <vt:lpstr>WPS</vt:lpstr>
      <vt:lpstr>      1.1945年，在（     ）上，把毛泽东思想确立为中国共产党必须长期坚持的指导思想。      A.中国共产党五大      B.中国共产党六大      C.中国共产党七大      D.中国共产党八大</vt:lpstr>
      <vt:lpstr>     2.（     ）是毛泽东思想的基本点，是毛泽东思想的精髓。        A. 群众路线        B. 独立自主        C. 实事求是        D. 武装斗争</vt:lpstr>
      <vt:lpstr>      3.群众路线是以毛泽东同志为主要代表的中国共产党人坚持把马克思列宁主义关于（     ）的原理，系统地运用在党的全部活动中形成的党的根本工作路线。不论过去、现在和将来，群众路线都是我们党的生命线和根本工作路线，是我们党永葆青春活力和战斗力的重要传家宝。      A. 物质第一性     B. 人民群众是历史创造者     C. 辩证统一     D. 阶级斗争</vt:lpstr>
      <vt:lpstr>      4.群众路线本质上体现的是（ ）。        A. 阶级斗争的原理        B. 唯物辩证法的原理        C. 人民群众是历史的创造者的原理        D. 社会基本矛盾的原理</vt:lpstr>
      <vt:lpstr>      5.（    ），是我们党一切行动的根本出发点和落脚点，是我们党区别于其他一切政党的根本标志。       A. 全心全意为人民服务      B. 独立自主      C. 实事求是      D. 群众路线</vt:lpstr>
      <vt:lpstr>      6.大革命时期，毛泽东以马克思列宁主义为指导，深入实际调査研究,在《中国社会各阶级的分析》《湖南农民运动考察报告》等著作中，明确指出无产阶级领导农民斗争的极端重要性，解决了无产阶级领导权的中心问题，即如何领导农民斗争的问题。这些关于新民主主义革命基本思想的提出，标志着毛泽东思想（     ）。      A. 开始萌芽           B. 初步形成          C. 基本形成            D. 趋于成熟</vt:lpstr>
      <vt:lpstr>      7.土地革命战争时期，毛泽东在《中国的红色政权为什么能够存在？》《井冈山的斗争》《星星之火，可以燎原》《反对瘁本主义》等著作中，提出并深入阐述了（     ），标志着毛泽东思想的初步形成。     A. 无产阶级领导农民斗争的极端重要性     B. 无产阶级领导权的中心问题     C. 农村包围城市、武装夺取政权的思想     D. 如何领导农民斗争的问题</vt:lpstr>
      <vt:lpstr>      8.土地革命战争后期和抗日战争时期，毛泽东在对革命实践经验和教训科学总结的基础上，系统阐述了（  ），实现了马克思主义与中国革命实践相结合的历史性飞跃，标志着毛泽东思想得到多方面展开而趋于成熟。       A. 农村包围城市、武装夺取政权的思想      B. 新民主主义革命理论      C. 无产阶级领导农民斗争的极端重要性      D. 如何领导农民斗争的问题</vt:lpstr>
      <vt:lpstr>      9.在新民主主义革命过程中，创造性地将支部建在连上，从组织上确立了党对军队的领导，成为建设无产阶级领导的新型人民军队的重要开端，这一重大事件是（ ）。       A. 八七会议      B. 三湾改编      C. 遵义会议      D. 瓦窑堡会议</vt:lpstr>
      <vt:lpstr>      10.1945年7月，黄炎培等六位国民参政员到延安访问。毛泽东问黄炎培的感想怎样？黄炎培说：我生六十多年，耳间的不说，所亲眼看到的，真所谓“其兴也淳焉”“其亡也忽焉”，一部历史，“政怠宦成”的也有，“人亡政息”的也有，“求荣取辱”的也有，总之没有能跳出这周期率。中共诸君从过去到现在，我略略了解的了，就是希望找出一条新路，来跳出这周期率的支配。毛泽东说：我们已经找到新路，我们能跳出这周期率。这条新路，就是（    ）。      A. 民主           B. 新民主主义革命道路       C. 社会主义道路        D. 自我革命</vt:lpstr>
      <vt:lpstr>      11.党的一切工作，必须以（  ）为最高标准        A. 始终作到实事求是       B. 合乎最广大人民的根本利益       C. 始终作到独立自主       D. 合乎人类社会发展规律</vt:lpstr>
      <vt:lpstr>      1.毛泽东思想是在我国（    ）的实践过程中，在总结我国革命和建设正反两方面历史经验的基础上，逐步形成和发展起来的。      A. 旧民主主义革命     B. 新民主主义革命     C. 社会主义改革开放     D. 社会主义革命     E. 社会主义建设</vt:lpstr>
      <vt:lpstr>      2.大革命时期，毛泽东在（     ）等著作中，提出了无产阶级领导农民斗争的极端重要性等关于新民主主义革命的基本思想，标志着毛泽东思想开始萌芽。 A. 《中国的红色政权为什么能够存在？》 B. 《中国社会各阶级的分析》 C. 《星星之火，可以燎原》 D. 《反对本本主义》 E. 《湖南农民运动考察报告》</vt:lpstr>
      <vt:lpstr>      3.土地革命战争时期，毛泽东在（     ）等著作中，提出并深入阐述了农村包围城市、武装夺取政权的思想，标志着毛泽东思想的初步形成。 A. 《中国的红色政权为什么能够存在？》 B. 《井冈山的斗争》 C. 《湖南农民运动考察报告》 D. 《星星之火，可以燎原》 E. 《反对本本主义》</vt:lpstr>
      <vt:lpstr>      4.毛泽东思想的主要内容包括（    ），除了上述几个方面外，毛泽东思想中还有关于国际战略和外交工作的理论等内容。 A. 新民主主义革命理论、社会主义革命和社会主义建设理论 B. 革命军队建设和军事战略的理论 C. 政策和策略的理论 D. 思想政治工作和文化工作的理论 E. 党的建设理论</vt:lpstr>
      <vt:lpstr>      5.近代中国资产阶级有两个部分，包括（    ）。        A. 依附于帝国主义的大资产阶级        B. 城市小资产阶级       C. 既有革命要求又有动摇性的民族资产阶级       D. 农村小资产阶级       E. 外国资产阶级</vt:lpstr>
      <vt:lpstr>      6.毛泽东思想的活的灵魂，是贯穿于理论各个组成部分的立场、观点和方法，它们有三个基本方面，即（    ）。 A. 党的建设 B. 实事求是 C. 武装斗争 D. 群众路线 E. 独立自主</vt:lpstr>
      <vt:lpstr>      7.实事求是，就是（    ）。这是中国共产党人认识世界、改造世界的根本要求，是中国共产党的思想路线。 A. 一切从实际出发 B. 一切为了群众 C. 理论联系实际 D. 一切依靠群众 E. 坚持在实践中检验真理和发展真理</vt:lpstr>
      <vt:lpstr>      8.群众路线，就是（    ）。      A. 一切为了群众，一切依靠群众     B. 从群众中来，到群众中去     C. 一切从实际出发     D. 把党的正确主张变为群众的自觉行动     E. 理论联系实际</vt:lpstr>
      <vt:lpstr>    9.在党的历史上，遵义会议是一次具有伟大转折意义的重要会议。关于这次会议的重大意义，下列表述正确的有（    ）。 A. 事实上确立了毛泽东同志在党中央和红军的领导地位 B. 开始确立以毛泽东同志为主要代表的马克思主义正确路线在党中央的领导地位 C. 开始形成以毛泽东同志新核心的党的第一代中央领导集体 D. 开启了党独立自主解决中国革命实际问题的新阶段 E. 在最危急关夫挽救了党、挽救了红军、挽救了中国革命</vt:lpstr>
      <vt:lpstr>      10.1937年，毛泽东在（    ）等著作中，深刻阐述了理论对于实践的依赖关系，以及矛盾的普遍性和特殊性的关系，对党的思想路线作了系统的哲学论证。 A. 《反对本本主义》 B. 《实践论》 C. 《改造我们的学习》 D. 《整顿党的作风》 E. 《矛盾论》</vt:lpstr>
      <vt:lpstr>      11.毛泽东在延安整风期间从思想路线的角度，不仅系统阐述了坚持实事求是的重要性，而且对实事求是的科学含义作了马克思主义的界定。他指出（      ）。 A. “实事”就是客观存在着的一切事物 B. “是”就是客观事物的内部联系，即规律性 C. “求”就是我们去研究 D. 我们要从国内外、省内外、县内外、区内外的实际情况出发，从其中引出其固有的而不是臆造的规律性 E. 找出周围事变的内部联系，作为我们行动的向导</vt:lpstr>
      <vt:lpstr>      12.贯穿于毛泽东思想科学体系中的立场、观点和方法是最能体现毛泽东思想理论本质特点的思想内容，属于哲学层面的概括和总结，其基本方面包括（     ）。 A. 实事求是 B. 党的建设 C. 群众路线 D. 统一战线 E. 独立自主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杨 欣翰</cp:lastModifiedBy>
  <cp:revision>7</cp:revision>
  <dcterms:created xsi:type="dcterms:W3CDTF">2023-08-09T12:44:00Z</dcterms:created>
  <dcterms:modified xsi:type="dcterms:W3CDTF">2026-06-28T12:29:11Z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0FFB374EF87741258E9EC42A4DEF22FC_13</vt:lpwstr>
  </property>
</Properties>
</file>