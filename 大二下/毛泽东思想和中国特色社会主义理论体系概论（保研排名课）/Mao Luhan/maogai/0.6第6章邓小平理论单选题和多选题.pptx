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322" r:id="rId3"/>
    <p:sldId id="323" r:id="rId4"/>
    <p:sldId id="324" r:id="rId5"/>
    <p:sldId id="325" r:id="rId6"/>
    <p:sldId id="326" r:id="rId7"/>
    <p:sldId id="327" r:id="rId8"/>
    <p:sldId id="328" r:id="rId9"/>
    <p:sldId id="329" r:id="rId10"/>
    <p:sldId id="330" r:id="rId11"/>
    <p:sldId id="331" r:id="rId12"/>
    <p:sldId id="332" r:id="rId13"/>
    <p:sldId id="333" r:id="rId14"/>
    <p:sldId id="334" r:id="rId15"/>
    <p:sldId id="340" r:id="rId16"/>
    <p:sldId id="341" r:id="rId17"/>
    <p:sldId id="342" r:id="rId18"/>
    <p:sldId id="343" r:id="rId19"/>
    <p:sldId id="344" r:id="rId20"/>
    <p:sldId id="345" r:id="rId21"/>
    <p:sldId id="346" r:id="rId22"/>
    <p:sldId id="347" r:id="rId23"/>
    <p:sldId id="348" r:id="rId24"/>
    <p:sldId id="349" r:id="rId25"/>
    <p:sldId id="350" r:id="rId26"/>
    <p:sldId id="351" r:id="rId27"/>
    <p:sldId id="352" r:id="rId28"/>
    <p:sldId id="353" r:id="rId29"/>
    <p:sldId id="354" r:id="rId30"/>
    <p:sldId id="355"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02" d="100"/>
          <a:sy n="102" d="100"/>
        </p:scale>
        <p:origin x="88" y="184"/>
      </p:cViewPr>
      <p:guideLst>
        <p:guide orient="horz" pos="2160"/>
        <p:guide pos="386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2026/6/26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1122045"/>
            <a:ext cx="10334625" cy="4062730"/>
          </a:xfrm>
        </p:spPr>
        <p:txBody>
          <a:bodyPr>
            <a:normAutofit/>
          </a:bodyPr>
          <a:lstStyle/>
          <a:p>
            <a:pPr algn="l">
              <a:lnSpc>
                <a:spcPct val="140000"/>
              </a:lnSpc>
            </a:pPr>
            <a:r>
              <a:rPr lang="en-US" altLang="zh-CN" sz="2665"/>
              <a:t>1.</a:t>
            </a:r>
            <a:r>
              <a:rPr lang="zh-CN" altLang="en-US" sz="2665"/>
              <a:t>邓小平理论首要的基本的理论问题是（</a:t>
            </a:r>
            <a:r>
              <a:rPr lang="en-US" altLang="zh-CN" sz="2665"/>
              <a:t>  </a:t>
            </a:r>
            <a:r>
              <a:rPr lang="zh-CN" altLang="en-US" sz="2665"/>
              <a:t>）</a:t>
            </a:r>
            <a:br>
              <a:rPr lang="zh-CN" altLang="en-US" sz="2665"/>
            </a:br>
            <a:r>
              <a:rPr lang="en-US" altLang="zh-CN" sz="2665"/>
              <a:t>A.</a:t>
            </a:r>
            <a:r>
              <a:rPr lang="zh-CN" altLang="en-US" sz="2665"/>
              <a:t>什么是中华民族的复兴，如何实现中华民族的复兴</a:t>
            </a:r>
            <a:br>
              <a:rPr lang="zh-CN" altLang="en-US" sz="2665"/>
            </a:br>
            <a:r>
              <a:rPr lang="en-US" altLang="zh-CN" sz="2665"/>
              <a:t>B.</a:t>
            </a:r>
            <a:r>
              <a:rPr lang="zh-CN" altLang="en-US" sz="2665"/>
              <a:t>什么是社会主义，怎样建设社会主义</a:t>
            </a:r>
            <a:br>
              <a:rPr lang="zh-CN" altLang="en-US" sz="2665"/>
            </a:br>
            <a:r>
              <a:rPr lang="en-US" altLang="zh-CN" sz="2665"/>
              <a:t>C.</a:t>
            </a:r>
            <a:r>
              <a:rPr lang="zh-CN" altLang="en-US" sz="2665"/>
              <a:t>什么是社会主义强国，如何建设社会主义强国</a:t>
            </a:r>
            <a:br>
              <a:rPr lang="zh-CN" altLang="en-US" sz="2665"/>
            </a:br>
            <a:r>
              <a:rPr lang="en-US" altLang="zh-CN" sz="2665"/>
              <a:t>D.</a:t>
            </a:r>
            <a:r>
              <a:rPr lang="zh-CN" altLang="en-US" sz="2665"/>
              <a:t>什么是全体人民共同富裕，如何实现全体人民共同富裕</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1122045"/>
            <a:ext cx="10334625" cy="4062730"/>
          </a:xfrm>
        </p:spPr>
        <p:txBody>
          <a:bodyPr>
            <a:normAutofit/>
          </a:bodyPr>
          <a:lstStyle/>
          <a:p>
            <a:pPr algn="l">
              <a:lnSpc>
                <a:spcPct val="140000"/>
              </a:lnSpc>
            </a:pPr>
            <a:r>
              <a:rPr lang="en-US" altLang="zh-CN" sz="2665" dirty="0">
                <a:solidFill>
                  <a:srgbClr val="FF0000"/>
                </a:solidFill>
              </a:rPr>
              <a:t>2.</a:t>
            </a:r>
            <a:r>
              <a:rPr lang="zh-CN" altLang="en-US" sz="2665" dirty="0"/>
              <a:t>搞清楚</a:t>
            </a:r>
            <a:r>
              <a:rPr lang="en-US" altLang="zh-CN" sz="2665" dirty="0"/>
              <a:t>“</a:t>
            </a:r>
            <a:r>
              <a:rPr lang="zh-CN" altLang="en-US" sz="2665" dirty="0"/>
              <a:t>什么是社会主义，怎样建设社会主义</a:t>
            </a:r>
            <a:r>
              <a:rPr lang="en-US" altLang="zh-CN" sz="2665" dirty="0"/>
              <a:t>”</a:t>
            </a:r>
            <a:r>
              <a:rPr lang="zh-CN" altLang="en-US" sz="2665" dirty="0"/>
              <a:t>，关键是要在坚持社会主义基本制度的基础上进一步认清（</a:t>
            </a:r>
            <a:r>
              <a:rPr lang="en-US" altLang="zh-CN" sz="2665" dirty="0"/>
              <a:t>  </a:t>
            </a:r>
            <a:r>
              <a:rPr lang="zh-CN" altLang="en-US" sz="2665" dirty="0"/>
              <a:t>）。</a:t>
            </a:r>
            <a:br>
              <a:rPr lang="zh-CN" altLang="en-US" sz="2665" dirty="0"/>
            </a:br>
            <a:r>
              <a:rPr lang="en-US" altLang="zh-CN" sz="2665" dirty="0"/>
              <a:t>A.</a:t>
            </a:r>
            <a:r>
              <a:rPr lang="zh-CN" altLang="en-US" sz="2665" dirty="0"/>
              <a:t>中国具体国情</a:t>
            </a:r>
            <a:br>
              <a:rPr lang="zh-CN" altLang="en-US" sz="2665" dirty="0"/>
            </a:br>
            <a:r>
              <a:rPr lang="en-US" altLang="zh-CN" sz="2665" dirty="0"/>
              <a:t>B.</a:t>
            </a:r>
            <a:r>
              <a:rPr lang="zh-CN" altLang="en-US" sz="2665" dirty="0"/>
              <a:t>中国近现代历史</a:t>
            </a:r>
            <a:br>
              <a:rPr lang="zh-CN" altLang="en-US" sz="2665" dirty="0"/>
            </a:br>
            <a:r>
              <a:rPr lang="en-US" altLang="zh-CN" sz="2665" dirty="0"/>
              <a:t>C.</a:t>
            </a:r>
            <a:r>
              <a:rPr lang="zh-CN" altLang="en-US" sz="2665" dirty="0"/>
              <a:t>社会主义的本质</a:t>
            </a:r>
            <a:br>
              <a:rPr lang="zh-CN" altLang="en-US" sz="2665" dirty="0"/>
            </a:br>
            <a:r>
              <a:rPr lang="en-US" altLang="zh-CN" sz="2665" dirty="0"/>
              <a:t>D.</a:t>
            </a:r>
            <a:r>
              <a:rPr lang="zh-CN" altLang="en-US" sz="2665" dirty="0"/>
              <a:t>社会主义的基本路线</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t>A</a:t>
            </a:r>
            <a:r>
              <a:rPr lang="zh-CN" altLang="en-US"/>
              <a:t>）</a:t>
            </a:r>
          </a:p>
        </p:txBody>
      </p:sp>
      <p:sp>
        <p:nvSpPr>
          <p:cNvPr id="2" name="标题 1"/>
          <p:cNvSpPr>
            <a:spLocks noGrp="1"/>
          </p:cNvSpPr>
          <p:nvPr>
            <p:ph type="ctrTitle"/>
          </p:nvPr>
        </p:nvSpPr>
        <p:spPr>
          <a:xfrm>
            <a:off x="904240" y="1122045"/>
            <a:ext cx="10334625" cy="4062730"/>
          </a:xfrm>
        </p:spPr>
        <p:txBody>
          <a:bodyPr>
            <a:normAutofit/>
          </a:bodyPr>
          <a:lstStyle/>
          <a:p>
            <a:pPr algn="l">
              <a:lnSpc>
                <a:spcPct val="140000"/>
              </a:lnSpc>
            </a:pPr>
            <a:r>
              <a:rPr lang="en-US" altLang="zh-CN" sz="2665"/>
              <a:t>3.</a:t>
            </a:r>
            <a:r>
              <a:rPr lang="zh-CN" altLang="en-US" sz="2665"/>
              <a:t>邓小平对社会主义本质的概括，既包括了社会主义社会的生产力问题，又包括了（</a:t>
            </a:r>
            <a:r>
              <a:rPr lang="en-US" altLang="zh-CN" sz="2665"/>
              <a:t>  </a:t>
            </a:r>
            <a:r>
              <a:rPr lang="zh-CN" altLang="en-US" sz="2665"/>
              <a:t>），是一个有机的整体。</a:t>
            </a:r>
            <a:br>
              <a:rPr lang="zh-CN" altLang="en-US" sz="2665"/>
            </a:br>
            <a:r>
              <a:rPr lang="en-US" altLang="zh-CN" sz="2665"/>
              <a:t>A.</a:t>
            </a:r>
            <a:r>
              <a:rPr lang="zh-CN" altLang="en-US" sz="2665"/>
              <a:t>社会主义社会的生产关系问题</a:t>
            </a:r>
            <a:br>
              <a:rPr lang="zh-CN" altLang="en-US" sz="2665"/>
            </a:br>
            <a:r>
              <a:rPr lang="en-US" altLang="zh-CN" sz="2665"/>
              <a:t>B.</a:t>
            </a:r>
            <a:r>
              <a:rPr lang="zh-CN" altLang="en-US" sz="2665"/>
              <a:t>社会主义社会的劳动力问题</a:t>
            </a:r>
            <a:br>
              <a:rPr lang="zh-CN" altLang="en-US" sz="2665"/>
            </a:br>
            <a:r>
              <a:rPr lang="en-US" altLang="zh-CN" sz="2665"/>
              <a:t>C.</a:t>
            </a:r>
            <a:r>
              <a:rPr lang="zh-CN" altLang="en-US" sz="2665"/>
              <a:t>社会主义社会的运行机制问题</a:t>
            </a:r>
            <a:br>
              <a:rPr lang="zh-CN" altLang="en-US" sz="2665"/>
            </a:br>
            <a:r>
              <a:rPr lang="en-US" altLang="zh-CN" sz="2665"/>
              <a:t>D.</a:t>
            </a:r>
            <a:r>
              <a:rPr lang="zh-CN" altLang="en-US" sz="2665"/>
              <a:t>社会主义社会的和谐问题</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D</a:t>
            </a:r>
            <a:r>
              <a:rPr lang="zh-CN" altLang="en-US"/>
              <a:t>）</a:t>
            </a:r>
          </a:p>
        </p:txBody>
      </p:sp>
      <p:sp>
        <p:nvSpPr>
          <p:cNvPr id="2" name="标题 1"/>
          <p:cNvSpPr>
            <a:spLocks noGrp="1"/>
          </p:cNvSpPr>
          <p:nvPr>
            <p:ph type="ctrTitle"/>
          </p:nvPr>
        </p:nvSpPr>
        <p:spPr>
          <a:xfrm>
            <a:off x="904240" y="1122045"/>
            <a:ext cx="10334625" cy="4062730"/>
          </a:xfrm>
        </p:spPr>
        <p:txBody>
          <a:bodyPr>
            <a:normAutofit/>
          </a:bodyPr>
          <a:lstStyle/>
          <a:p>
            <a:pPr algn="l">
              <a:lnSpc>
                <a:spcPct val="140000"/>
              </a:lnSpc>
            </a:pPr>
            <a:r>
              <a:rPr lang="en-US" altLang="zh-CN" sz="2665"/>
              <a:t>4.</a:t>
            </a:r>
            <a:r>
              <a:rPr lang="zh-CN" altLang="en-US" sz="2665"/>
              <a:t>邓小平对社会主义本质的概括，既包括了（</a:t>
            </a:r>
            <a:r>
              <a:rPr lang="en-US" altLang="zh-CN" sz="2665"/>
              <a:t>  </a:t>
            </a:r>
            <a:r>
              <a:rPr lang="zh-CN" altLang="en-US" sz="2665"/>
              <a:t>），又包括了社会主义社会的生产关系问题，是一个有机的整体。</a:t>
            </a:r>
            <a:br>
              <a:rPr lang="zh-CN" altLang="en-US" sz="2665"/>
            </a:br>
            <a:r>
              <a:rPr lang="en-US" altLang="zh-CN" sz="2665"/>
              <a:t>A.</a:t>
            </a:r>
            <a:r>
              <a:rPr lang="zh-CN" altLang="en-US" sz="2665"/>
              <a:t>社会主义社会的和谐问题</a:t>
            </a:r>
            <a:br>
              <a:rPr lang="zh-CN" altLang="en-US" sz="2665"/>
            </a:br>
            <a:r>
              <a:rPr lang="en-US" altLang="zh-CN" sz="2665"/>
              <a:t>B.</a:t>
            </a:r>
            <a:r>
              <a:rPr lang="zh-CN" altLang="en-US" sz="2665"/>
              <a:t>社会主义社会的劳动力问题</a:t>
            </a:r>
            <a:br>
              <a:rPr lang="zh-CN" altLang="en-US" sz="2665"/>
            </a:br>
            <a:r>
              <a:rPr lang="en-US" altLang="zh-CN" sz="2665"/>
              <a:t>C.</a:t>
            </a:r>
            <a:r>
              <a:rPr lang="zh-CN" altLang="en-US" sz="2665"/>
              <a:t>社会主义社会的运行机制问题</a:t>
            </a:r>
            <a:br>
              <a:rPr lang="zh-CN" altLang="en-US" sz="2665"/>
            </a:br>
            <a:r>
              <a:rPr lang="en-US" altLang="zh-CN" sz="2665"/>
              <a:t>D.</a:t>
            </a:r>
            <a:r>
              <a:rPr lang="zh-CN" altLang="en-US" sz="2665"/>
              <a:t>社会主义社会的生产力问题</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t>A</a:t>
            </a:r>
            <a:r>
              <a:rPr lang="zh-CN" altLang="en-US"/>
              <a:t>）</a:t>
            </a:r>
          </a:p>
        </p:txBody>
      </p:sp>
      <p:sp>
        <p:nvSpPr>
          <p:cNvPr id="2" name="标题 1"/>
          <p:cNvSpPr>
            <a:spLocks noGrp="1"/>
          </p:cNvSpPr>
          <p:nvPr>
            <p:ph type="ctrTitle"/>
          </p:nvPr>
        </p:nvSpPr>
        <p:spPr>
          <a:xfrm>
            <a:off x="904240" y="1122045"/>
            <a:ext cx="10334625" cy="4062730"/>
          </a:xfrm>
        </p:spPr>
        <p:txBody>
          <a:bodyPr>
            <a:normAutofit/>
          </a:bodyPr>
          <a:lstStyle/>
          <a:p>
            <a:pPr algn="l">
              <a:lnSpc>
                <a:spcPct val="140000"/>
              </a:lnSpc>
            </a:pPr>
            <a:r>
              <a:rPr lang="en-US" altLang="zh-CN" sz="2665"/>
              <a:t>5.</a:t>
            </a:r>
            <a:r>
              <a:rPr lang="zh-CN" altLang="en-US" sz="2665"/>
              <a:t>邓小平理论的精髓是（</a:t>
            </a:r>
            <a:r>
              <a:rPr lang="en-US" altLang="zh-CN" sz="2665"/>
              <a:t>  </a:t>
            </a:r>
            <a:r>
              <a:rPr lang="zh-CN" altLang="en-US" sz="2665"/>
              <a:t>）。</a:t>
            </a:r>
            <a:br>
              <a:rPr lang="zh-CN" altLang="en-US" sz="2665"/>
            </a:br>
            <a:r>
              <a:rPr lang="en-US" altLang="zh-CN" sz="2665"/>
              <a:t>A.</a:t>
            </a:r>
            <a:r>
              <a:rPr lang="zh-CN" altLang="en-US" sz="2665"/>
              <a:t>解放思想，实事求是</a:t>
            </a:r>
            <a:br>
              <a:rPr lang="zh-CN" altLang="en-US" sz="2665"/>
            </a:br>
            <a:r>
              <a:rPr lang="en-US" altLang="zh-CN" sz="2665"/>
              <a:t>B.</a:t>
            </a:r>
            <a:r>
              <a:rPr lang="zh-CN" altLang="en-US" sz="2665"/>
              <a:t>群众路线，独立自主</a:t>
            </a:r>
            <a:br>
              <a:rPr lang="zh-CN" altLang="en-US" sz="2665"/>
            </a:br>
            <a:r>
              <a:rPr lang="en-US" altLang="zh-CN" sz="2665"/>
              <a:t>C.</a:t>
            </a:r>
            <a:r>
              <a:rPr lang="zh-CN" altLang="en-US" sz="2665"/>
              <a:t>党的建设，统一战线</a:t>
            </a:r>
            <a:br>
              <a:rPr lang="zh-CN" altLang="en-US" sz="2665"/>
            </a:br>
            <a:r>
              <a:rPr lang="en-US" altLang="zh-CN" sz="2665"/>
              <a:t>D.</a:t>
            </a:r>
            <a:r>
              <a:rPr lang="zh-CN" altLang="en-US" sz="2665"/>
              <a:t>群众路线，统一战线</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1122045"/>
            <a:ext cx="10334625" cy="4062730"/>
          </a:xfrm>
        </p:spPr>
        <p:txBody>
          <a:bodyPr>
            <a:normAutofit/>
          </a:bodyPr>
          <a:lstStyle/>
          <a:p>
            <a:pPr algn="l">
              <a:lnSpc>
                <a:spcPct val="140000"/>
              </a:lnSpc>
            </a:pPr>
            <a:r>
              <a:rPr lang="en-US" altLang="zh-CN" sz="2665" dirty="0">
                <a:solidFill>
                  <a:srgbClr val="FF0000"/>
                </a:solidFill>
              </a:rPr>
              <a:t>6.</a:t>
            </a:r>
            <a:r>
              <a:rPr lang="zh-CN" altLang="en-US" sz="2665" dirty="0"/>
              <a:t>社会主义初级阶段理论基于对中国国情的准确把握，揭示了当代中国的历史方位，为建设中国特色社会主义提供了（</a:t>
            </a:r>
            <a:r>
              <a:rPr lang="en-US" altLang="zh-CN" sz="2665" dirty="0"/>
              <a:t>   </a:t>
            </a:r>
            <a:r>
              <a:rPr lang="zh-CN" altLang="en-US" sz="2665" dirty="0"/>
              <a:t>）。</a:t>
            </a:r>
            <a:br>
              <a:rPr lang="zh-CN" altLang="en-US" sz="2665" dirty="0"/>
            </a:br>
            <a:r>
              <a:rPr lang="en-US" altLang="zh-CN" sz="2665" dirty="0"/>
              <a:t>A.</a:t>
            </a:r>
            <a:r>
              <a:rPr lang="zh-CN" altLang="en-US" sz="2665" dirty="0"/>
              <a:t>根本方向</a:t>
            </a:r>
            <a:br>
              <a:rPr lang="zh-CN" altLang="en-US" sz="2665" dirty="0"/>
            </a:br>
            <a:r>
              <a:rPr lang="en-US" altLang="zh-CN" sz="2665" dirty="0"/>
              <a:t>B.</a:t>
            </a:r>
            <a:r>
              <a:rPr lang="zh-CN" altLang="en-US" sz="2665" dirty="0"/>
              <a:t>总路线</a:t>
            </a:r>
            <a:br>
              <a:rPr lang="zh-CN" altLang="en-US" sz="2665" dirty="0"/>
            </a:br>
            <a:r>
              <a:rPr lang="en-US" altLang="zh-CN" sz="2665" dirty="0"/>
              <a:t>C.</a:t>
            </a:r>
            <a:r>
              <a:rPr lang="zh-CN" altLang="en-US" sz="2665" dirty="0"/>
              <a:t>总依据</a:t>
            </a:r>
            <a:br>
              <a:rPr lang="zh-CN" altLang="en-US" sz="2665" dirty="0"/>
            </a:br>
            <a:r>
              <a:rPr lang="en-US" altLang="zh-CN" sz="2665" dirty="0"/>
              <a:t>D.</a:t>
            </a:r>
            <a:r>
              <a:rPr lang="zh-CN" altLang="en-US" sz="2665" dirty="0"/>
              <a:t>具体目标</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t>A</a:t>
            </a:r>
            <a:r>
              <a:rPr lang="zh-CN" altLang="en-US"/>
              <a:t>）</a:t>
            </a:r>
          </a:p>
        </p:txBody>
      </p:sp>
      <p:sp>
        <p:nvSpPr>
          <p:cNvPr id="2" name="标题 1"/>
          <p:cNvSpPr>
            <a:spLocks noGrp="1"/>
          </p:cNvSpPr>
          <p:nvPr>
            <p:ph type="ctrTitle"/>
          </p:nvPr>
        </p:nvSpPr>
        <p:spPr>
          <a:xfrm>
            <a:off x="904240" y="1122045"/>
            <a:ext cx="10334625" cy="4062730"/>
          </a:xfrm>
        </p:spPr>
        <p:txBody>
          <a:bodyPr>
            <a:normAutofit/>
          </a:bodyPr>
          <a:lstStyle/>
          <a:p>
            <a:pPr algn="l">
              <a:lnSpc>
                <a:spcPct val="140000"/>
              </a:lnSpc>
            </a:pPr>
            <a:r>
              <a:rPr lang="en-US" altLang="zh-CN" sz="2665" dirty="0">
                <a:solidFill>
                  <a:srgbClr val="FF0000"/>
                </a:solidFill>
              </a:rPr>
              <a:t>7.</a:t>
            </a:r>
            <a:r>
              <a:rPr lang="zh-CN" altLang="en-US" sz="2665" dirty="0"/>
              <a:t>党的基本路线在改革开放实践中不断充实和完善。党的十七大对基本路线的充实和完善体现在（</a:t>
            </a:r>
            <a:r>
              <a:rPr lang="en-US" altLang="zh-CN" sz="2665" dirty="0"/>
              <a:t>   </a:t>
            </a:r>
            <a:r>
              <a:rPr lang="zh-CN" altLang="en-US" sz="2665" dirty="0"/>
              <a:t>）</a:t>
            </a:r>
            <a:br>
              <a:rPr lang="zh-CN" altLang="en-US" sz="2665" dirty="0"/>
            </a:br>
            <a:r>
              <a:rPr lang="en-US" altLang="zh-CN" sz="2665" dirty="0"/>
              <a:t>A.</a:t>
            </a:r>
            <a:r>
              <a:rPr lang="zh-CN" altLang="en-US" sz="2665" dirty="0"/>
              <a:t>把</a:t>
            </a:r>
            <a:r>
              <a:rPr lang="en-US" altLang="zh-CN" sz="2665" dirty="0"/>
              <a:t>“</a:t>
            </a:r>
            <a:r>
              <a:rPr lang="zh-CN" altLang="en-US" sz="2665" dirty="0"/>
              <a:t>和谐</a:t>
            </a:r>
            <a:r>
              <a:rPr lang="en-US" altLang="zh-CN" sz="2665" dirty="0"/>
              <a:t>”</a:t>
            </a:r>
            <a:r>
              <a:rPr lang="zh-CN" altLang="en-US" sz="2665" dirty="0"/>
              <a:t>与</a:t>
            </a:r>
            <a:r>
              <a:rPr lang="en-US" altLang="zh-CN" sz="2665" dirty="0"/>
              <a:t>“</a:t>
            </a:r>
            <a:r>
              <a:rPr lang="zh-CN" altLang="en-US" sz="2665" dirty="0"/>
              <a:t>富强、民主、文明</a:t>
            </a:r>
            <a:r>
              <a:rPr lang="en-US" altLang="zh-CN" sz="2665" dirty="0"/>
              <a:t>”</a:t>
            </a:r>
            <a:r>
              <a:rPr lang="zh-CN" altLang="en-US" sz="2665" dirty="0"/>
              <a:t>一起写入了基本路线</a:t>
            </a:r>
            <a:br>
              <a:rPr lang="zh-CN" altLang="en-US" sz="2665" dirty="0"/>
            </a:br>
            <a:r>
              <a:rPr lang="en-US" altLang="zh-CN" sz="2665" dirty="0"/>
              <a:t>B.</a:t>
            </a:r>
            <a:r>
              <a:rPr lang="zh-CN" altLang="en-US" sz="2665" dirty="0"/>
              <a:t>把</a:t>
            </a:r>
            <a:r>
              <a:rPr lang="en-US" altLang="zh-CN" sz="2665" dirty="0"/>
              <a:t>“</a:t>
            </a:r>
            <a:r>
              <a:rPr lang="zh-CN" altLang="en-US" sz="2665" dirty="0"/>
              <a:t>公平</a:t>
            </a:r>
            <a:r>
              <a:rPr lang="en-US" altLang="zh-CN" sz="2665" dirty="0"/>
              <a:t>”</a:t>
            </a:r>
            <a:r>
              <a:rPr lang="zh-CN" altLang="en-US" sz="2665" dirty="0"/>
              <a:t>与</a:t>
            </a:r>
            <a:r>
              <a:rPr lang="en-US" altLang="zh-CN" sz="2665" dirty="0"/>
              <a:t>“</a:t>
            </a:r>
            <a:r>
              <a:rPr lang="zh-CN" altLang="en-US" sz="2665" dirty="0"/>
              <a:t>富强、民主、文明</a:t>
            </a:r>
            <a:r>
              <a:rPr lang="en-US" altLang="zh-CN" sz="2665" dirty="0"/>
              <a:t>”</a:t>
            </a:r>
            <a:r>
              <a:rPr lang="zh-CN" altLang="en-US" sz="2665" dirty="0"/>
              <a:t>一起写入了基本路线</a:t>
            </a:r>
            <a:br>
              <a:rPr lang="zh-CN" altLang="en-US" sz="2665" dirty="0"/>
            </a:br>
            <a:r>
              <a:rPr lang="en-US" altLang="zh-CN" sz="2665" dirty="0"/>
              <a:t>C.</a:t>
            </a:r>
            <a:r>
              <a:rPr lang="zh-CN" altLang="en-US" sz="2665" dirty="0"/>
              <a:t>把</a:t>
            </a:r>
            <a:r>
              <a:rPr lang="en-US" altLang="zh-CN" sz="2665" dirty="0"/>
              <a:t>“</a:t>
            </a:r>
            <a:r>
              <a:rPr lang="zh-CN" altLang="en-US" sz="2665" dirty="0"/>
              <a:t>正义</a:t>
            </a:r>
            <a:r>
              <a:rPr lang="en-US" altLang="zh-CN" sz="2665" dirty="0"/>
              <a:t>”</a:t>
            </a:r>
            <a:r>
              <a:rPr lang="zh-CN" altLang="en-US" sz="2665" dirty="0"/>
              <a:t>与</a:t>
            </a:r>
            <a:r>
              <a:rPr lang="en-US" altLang="zh-CN" sz="2665" dirty="0"/>
              <a:t>“</a:t>
            </a:r>
            <a:r>
              <a:rPr lang="zh-CN" altLang="en-US" sz="2665" dirty="0"/>
              <a:t>富强、民主、文明</a:t>
            </a:r>
            <a:r>
              <a:rPr lang="en-US" altLang="zh-CN" sz="2665" dirty="0"/>
              <a:t>”</a:t>
            </a:r>
            <a:r>
              <a:rPr lang="zh-CN" altLang="en-US" sz="2665" dirty="0"/>
              <a:t>一起写入了基本路线</a:t>
            </a:r>
            <a:br>
              <a:rPr lang="zh-CN" altLang="en-US" sz="2665" dirty="0"/>
            </a:br>
            <a:r>
              <a:rPr lang="en-US" altLang="zh-CN" sz="2665" dirty="0"/>
              <a:t>D.</a:t>
            </a:r>
            <a:r>
              <a:rPr lang="zh-CN" altLang="en-US" sz="2665" dirty="0"/>
              <a:t>把</a:t>
            </a:r>
            <a:r>
              <a:rPr lang="en-US" altLang="zh-CN" sz="2665" dirty="0"/>
              <a:t>“</a:t>
            </a:r>
            <a:r>
              <a:rPr lang="zh-CN" altLang="en-US" sz="2665" dirty="0"/>
              <a:t>法治</a:t>
            </a:r>
            <a:r>
              <a:rPr lang="en-US" altLang="zh-CN" sz="2665" dirty="0"/>
              <a:t>”</a:t>
            </a:r>
            <a:r>
              <a:rPr lang="zh-CN" altLang="en-US" sz="2665" dirty="0"/>
              <a:t>与</a:t>
            </a:r>
            <a:r>
              <a:rPr lang="en-US" altLang="zh-CN" sz="2665" dirty="0"/>
              <a:t>“</a:t>
            </a:r>
            <a:r>
              <a:rPr lang="zh-CN" altLang="en-US" sz="2665" dirty="0"/>
              <a:t>富强、民主、文明</a:t>
            </a:r>
            <a:r>
              <a:rPr lang="en-US" altLang="zh-CN" sz="2665" dirty="0"/>
              <a:t>”</a:t>
            </a:r>
            <a:r>
              <a:rPr lang="zh-CN" altLang="en-US" sz="2665" dirty="0"/>
              <a:t>一起写入了基本路线</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 B</a:t>
            </a:r>
            <a:r>
              <a:rPr lang="zh-CN" altLang="en-US"/>
              <a:t>）</a:t>
            </a:r>
          </a:p>
        </p:txBody>
      </p:sp>
      <p:sp>
        <p:nvSpPr>
          <p:cNvPr id="2" name="标题 1"/>
          <p:cNvSpPr>
            <a:spLocks noGrp="1"/>
          </p:cNvSpPr>
          <p:nvPr>
            <p:ph type="ctrTitle"/>
          </p:nvPr>
        </p:nvSpPr>
        <p:spPr>
          <a:xfrm>
            <a:off x="904240" y="1122045"/>
            <a:ext cx="10334625" cy="4062730"/>
          </a:xfrm>
        </p:spPr>
        <p:txBody>
          <a:bodyPr>
            <a:normAutofit fontScale="90000"/>
          </a:bodyPr>
          <a:lstStyle/>
          <a:p>
            <a:pPr algn="l">
              <a:lnSpc>
                <a:spcPct val="140000"/>
              </a:lnSpc>
            </a:pPr>
            <a:r>
              <a:rPr lang="en-US" altLang="zh-CN" sz="2665"/>
              <a:t>8.</a:t>
            </a:r>
            <a:r>
              <a:rPr lang="zh-CN" altLang="en-US" sz="2665"/>
              <a:t>党的十三大从我国社会主义初级阶段的基本国情出发，在科学认识我国社会主要矛盾的基础上，确定了党在社会主义初级阶段的基本路线，高度概括了党在社会主义初级阶段的奋斗目标、领导力量和依靠力量、基本途径和根本保证以及实现这一目标的基本方针。指出，实现奋斗的基本途径是（</a:t>
            </a:r>
            <a:r>
              <a:rPr lang="en-US" altLang="zh-CN" sz="2665"/>
              <a:t>  </a:t>
            </a:r>
            <a:r>
              <a:rPr lang="zh-CN" altLang="en-US" sz="2665"/>
              <a:t>）。</a:t>
            </a:r>
            <a:br>
              <a:rPr lang="zh-CN" altLang="en-US" sz="2665"/>
            </a:br>
            <a:r>
              <a:rPr lang="en-US" altLang="zh-CN" sz="2665"/>
              <a:t>A. </a:t>
            </a:r>
            <a:r>
              <a:rPr lang="zh-CN" altLang="en-US" sz="2665"/>
              <a:t>以经济建设为中心</a:t>
            </a:r>
            <a:br>
              <a:rPr lang="zh-CN" altLang="en-US" sz="2665"/>
            </a:br>
            <a:r>
              <a:rPr lang="en-US" altLang="zh-CN" sz="2665"/>
              <a:t>B. </a:t>
            </a:r>
            <a:r>
              <a:rPr lang="zh-CN" altLang="en-US" sz="2665"/>
              <a:t>以经济建设为中心，坚持四项基本原则，坚持改革开放</a:t>
            </a:r>
            <a:br>
              <a:rPr lang="zh-CN" altLang="en-US" sz="2665"/>
            </a:br>
            <a:r>
              <a:rPr lang="en-US" altLang="zh-CN" sz="2665"/>
              <a:t>C. </a:t>
            </a:r>
            <a:r>
              <a:rPr lang="zh-CN" altLang="en-US" sz="2665"/>
              <a:t>领导和团结全国各族人民，自力更生，艰苦创业</a:t>
            </a:r>
            <a:br>
              <a:rPr lang="zh-CN" altLang="en-US" sz="2665"/>
            </a:br>
            <a:r>
              <a:rPr lang="en-US" altLang="zh-CN" sz="2665"/>
              <a:t>D. </a:t>
            </a:r>
            <a:r>
              <a:rPr lang="zh-CN" altLang="en-US" sz="2665"/>
              <a:t>坚持四项基本原则，坚持改革开放</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9709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521970" y="1122045"/>
            <a:ext cx="11160125" cy="4907280"/>
          </a:xfrm>
        </p:spPr>
        <p:txBody>
          <a:bodyPr>
            <a:normAutofit fontScale="90000"/>
          </a:bodyPr>
          <a:lstStyle/>
          <a:p>
            <a:pPr algn="l">
              <a:lnSpc>
                <a:spcPct val="140000"/>
              </a:lnSpc>
            </a:pPr>
            <a:r>
              <a:rPr lang="en-US" altLang="zh-CN" sz="2665"/>
              <a:t>9.</a:t>
            </a:r>
            <a:r>
              <a:rPr lang="zh-CN" altLang="en-US" sz="2665"/>
              <a:t>党的基本路线在改革开放实践中不断充实和完善。党的十九大对基本路线的充实和完善体现在（</a:t>
            </a:r>
            <a:r>
              <a:rPr lang="en-US" altLang="zh-CN" sz="2665"/>
              <a:t>   </a:t>
            </a:r>
            <a:r>
              <a:rPr lang="zh-CN" altLang="en-US" sz="2665"/>
              <a:t>）</a:t>
            </a:r>
            <a:br>
              <a:rPr lang="zh-CN" altLang="en-US" sz="2665"/>
            </a:br>
            <a:r>
              <a:rPr lang="en-US" altLang="zh-CN" sz="2665"/>
              <a:t>A.</a:t>
            </a:r>
            <a:r>
              <a:rPr lang="zh-CN" altLang="en-US" sz="2665"/>
              <a:t>提出</a:t>
            </a:r>
            <a:r>
              <a:rPr lang="en-US" altLang="zh-CN" sz="2665"/>
              <a:t>“</a:t>
            </a:r>
            <a:r>
              <a:rPr lang="zh-CN" altLang="en-US" sz="2665"/>
              <a:t>为把我国建设成为富强民主文明和谐美丽的社会主义现代化国家而奋斗</a:t>
            </a:r>
            <a:r>
              <a:rPr lang="en-US" altLang="zh-CN" sz="2665"/>
              <a:t>”</a:t>
            </a:r>
            <a:r>
              <a:rPr lang="zh-CN" altLang="en-US" sz="2665"/>
              <a:t>，进一步拓展了党的基本路线</a:t>
            </a:r>
            <a:br>
              <a:rPr lang="zh-CN" altLang="en-US" sz="2665"/>
            </a:br>
            <a:r>
              <a:rPr lang="en-US" altLang="zh-CN" sz="2665"/>
              <a:t>B.</a:t>
            </a:r>
            <a:r>
              <a:rPr lang="zh-CN" altLang="en-US" sz="2665"/>
              <a:t>提出</a:t>
            </a:r>
            <a:r>
              <a:rPr lang="en-US" altLang="zh-CN" sz="2665"/>
              <a:t>“</a:t>
            </a:r>
            <a:r>
              <a:rPr lang="zh-CN" altLang="en-US" sz="2665"/>
              <a:t>为把我国建设成为富强民主文明和谐美丽的社会主义现代化强国而奋斗</a:t>
            </a:r>
            <a:r>
              <a:rPr lang="en-US" altLang="zh-CN" sz="2665"/>
              <a:t>”</a:t>
            </a:r>
            <a:r>
              <a:rPr lang="zh-CN" altLang="en-US" sz="2665"/>
              <a:t>，进一步拓展了党的基本路线</a:t>
            </a:r>
            <a:br>
              <a:rPr lang="zh-CN" altLang="en-US" sz="2665"/>
            </a:br>
            <a:r>
              <a:rPr lang="en-US" altLang="zh-CN" sz="2665"/>
              <a:t>C.</a:t>
            </a:r>
            <a:r>
              <a:rPr lang="zh-CN" altLang="en-US" sz="2665"/>
              <a:t>提出</a:t>
            </a:r>
            <a:r>
              <a:rPr lang="en-US" altLang="zh-CN" sz="2665"/>
              <a:t>“</a:t>
            </a:r>
            <a:r>
              <a:rPr lang="zh-CN" altLang="en-US" sz="2665"/>
              <a:t>为把我国建设成为富强民主文明和谐的社会主义现代化国家而奋斗</a:t>
            </a:r>
            <a:r>
              <a:rPr lang="en-US" altLang="zh-CN" sz="2665"/>
              <a:t>”</a:t>
            </a:r>
            <a:r>
              <a:rPr lang="zh-CN" altLang="en-US" sz="2665"/>
              <a:t>，进一步拓展了党的基本路线</a:t>
            </a:r>
            <a:br>
              <a:rPr lang="zh-CN" altLang="en-US" sz="2665"/>
            </a:br>
            <a:r>
              <a:rPr lang="en-US" altLang="zh-CN" sz="2665"/>
              <a:t>D.</a:t>
            </a:r>
            <a:r>
              <a:rPr lang="zh-CN" altLang="en-US" sz="2665"/>
              <a:t>提出</a:t>
            </a:r>
            <a:r>
              <a:rPr lang="en-US" altLang="zh-CN" sz="2665"/>
              <a:t>“</a:t>
            </a:r>
            <a:r>
              <a:rPr lang="zh-CN" altLang="en-US" sz="2665"/>
              <a:t>为把我国建设成为富强民主文明和谐的社会主义现代化强国而奋斗</a:t>
            </a:r>
            <a:r>
              <a:rPr lang="en-US" altLang="zh-CN" sz="2665"/>
              <a:t>”</a:t>
            </a:r>
            <a:r>
              <a:rPr lang="zh-CN" altLang="en-US" sz="2665"/>
              <a:t>，进一步拓展了党的基本路线</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1122045"/>
            <a:ext cx="10334625" cy="4062730"/>
          </a:xfrm>
        </p:spPr>
        <p:txBody>
          <a:bodyPr>
            <a:normAutofit/>
          </a:bodyPr>
          <a:lstStyle/>
          <a:p>
            <a:pPr algn="l">
              <a:lnSpc>
                <a:spcPct val="140000"/>
              </a:lnSpc>
            </a:pPr>
            <a:r>
              <a:rPr lang="en-US" altLang="zh-CN" sz="2665" dirty="0">
                <a:solidFill>
                  <a:srgbClr val="FF0000"/>
                </a:solidFill>
              </a:rPr>
              <a:t>10.</a:t>
            </a:r>
            <a:r>
              <a:rPr lang="zh-CN" altLang="en-US" sz="2665" dirty="0"/>
              <a:t>党的十一届三中全会以后，党对我国社会主义建设经验教训和社会主要矛盾进行科学分析，强调社会主义的根本任务是（</a:t>
            </a:r>
            <a:r>
              <a:rPr lang="en-US" altLang="zh-CN" sz="2665" dirty="0"/>
              <a:t>  </a:t>
            </a:r>
            <a:r>
              <a:rPr lang="zh-CN" altLang="en-US" sz="2665" dirty="0"/>
              <a:t>）</a:t>
            </a:r>
            <a:br>
              <a:rPr lang="zh-CN" altLang="en-US" sz="2665" dirty="0"/>
            </a:br>
            <a:r>
              <a:rPr lang="en-US" altLang="zh-CN" sz="2665" dirty="0"/>
              <a:t>A.</a:t>
            </a:r>
            <a:r>
              <a:rPr lang="zh-CN" altLang="en-US" sz="2665" dirty="0"/>
              <a:t>阶级斗争</a:t>
            </a:r>
            <a:br>
              <a:rPr lang="zh-CN" altLang="en-US" sz="2665" dirty="0"/>
            </a:br>
            <a:r>
              <a:rPr lang="en-US" altLang="zh-CN" sz="2665" dirty="0"/>
              <a:t>B.</a:t>
            </a:r>
            <a:r>
              <a:rPr lang="zh-CN" altLang="en-US" sz="2665" dirty="0"/>
              <a:t>消灭私有制</a:t>
            </a:r>
            <a:br>
              <a:rPr lang="zh-CN" altLang="en-US" sz="2665" dirty="0"/>
            </a:br>
            <a:r>
              <a:rPr lang="en-US" altLang="zh-CN" sz="2665" dirty="0"/>
              <a:t>C.</a:t>
            </a:r>
            <a:r>
              <a:rPr lang="zh-CN" altLang="en-US" sz="2665" dirty="0"/>
              <a:t>发展生产力</a:t>
            </a:r>
            <a:br>
              <a:rPr lang="zh-CN" altLang="en-US" sz="2665" dirty="0"/>
            </a:br>
            <a:r>
              <a:rPr lang="en-US" altLang="zh-CN" sz="2665" dirty="0"/>
              <a:t>D.</a:t>
            </a:r>
            <a:r>
              <a:rPr lang="zh-CN" altLang="en-US" sz="2665" dirty="0"/>
              <a:t>改革开放</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1122045"/>
            <a:ext cx="10334625" cy="4062730"/>
          </a:xfrm>
        </p:spPr>
        <p:txBody>
          <a:bodyPr>
            <a:normAutofit fontScale="90000"/>
          </a:bodyPr>
          <a:lstStyle/>
          <a:p>
            <a:pPr algn="l">
              <a:lnSpc>
                <a:spcPct val="140000"/>
              </a:lnSpc>
            </a:pPr>
            <a:r>
              <a:rPr lang="en-US" altLang="zh-CN" sz="2665"/>
              <a:t>11.</a:t>
            </a:r>
            <a:r>
              <a:rPr lang="zh-CN" altLang="en-US" sz="2665"/>
              <a:t>以下各选项，对我国社会主义改革的表述正确的是（</a:t>
            </a:r>
            <a:r>
              <a:rPr lang="en-US" altLang="zh-CN" sz="2665"/>
              <a:t> </a:t>
            </a:r>
            <a:r>
              <a:rPr lang="zh-CN" altLang="en-US" sz="2665"/>
              <a:t>）</a:t>
            </a:r>
            <a:br>
              <a:rPr lang="zh-CN" altLang="en-US" sz="2665"/>
            </a:br>
            <a:r>
              <a:rPr lang="en-US" altLang="zh-CN" sz="2665"/>
              <a:t>A.</a:t>
            </a:r>
            <a:r>
              <a:rPr lang="zh-CN" altLang="en-US" sz="2665"/>
              <a:t>改革是从根本上改变束缚生产力发展的经济体制，促进生产力的发展，解决社会主义社会发展方向问题</a:t>
            </a:r>
            <a:br>
              <a:rPr lang="zh-CN" altLang="en-US" sz="2665"/>
            </a:br>
            <a:r>
              <a:rPr lang="en-US" altLang="zh-CN" sz="2665"/>
              <a:t>B.</a:t>
            </a:r>
            <a:r>
              <a:rPr lang="zh-CN" altLang="en-US" sz="2665"/>
              <a:t>改革是从根本上改变束缚生产力发展的经济体制，促进生产力的发展，解决社会主义社会发展动力问题</a:t>
            </a:r>
            <a:br>
              <a:rPr lang="zh-CN" altLang="en-US" sz="2665"/>
            </a:br>
            <a:r>
              <a:rPr lang="en-US" altLang="zh-CN" sz="2665"/>
              <a:t>C.</a:t>
            </a:r>
            <a:r>
              <a:rPr lang="zh-CN" altLang="en-US" sz="2665"/>
              <a:t>改革是为应对内外压力所采取的权宜之计</a:t>
            </a:r>
            <a:br>
              <a:rPr lang="zh-CN" altLang="en-US" sz="2665"/>
            </a:br>
            <a:r>
              <a:rPr lang="en-US" altLang="zh-CN" sz="2665"/>
              <a:t>D.</a:t>
            </a:r>
            <a:r>
              <a:rPr lang="zh-CN" altLang="en-US" sz="2665"/>
              <a:t>改革是一个阶级推翻另一个阶级的革命</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D</a:t>
            </a:r>
            <a:r>
              <a:rPr lang="zh-CN" altLang="en-US"/>
              <a:t>）</a:t>
            </a:r>
          </a:p>
        </p:txBody>
      </p:sp>
      <p:sp>
        <p:nvSpPr>
          <p:cNvPr id="2" name="标题 1"/>
          <p:cNvSpPr>
            <a:spLocks noGrp="1"/>
          </p:cNvSpPr>
          <p:nvPr>
            <p:ph type="ctrTitle"/>
          </p:nvPr>
        </p:nvSpPr>
        <p:spPr>
          <a:xfrm>
            <a:off x="904240" y="1122045"/>
            <a:ext cx="10334625" cy="4062730"/>
          </a:xfrm>
        </p:spPr>
        <p:txBody>
          <a:bodyPr>
            <a:normAutofit/>
          </a:bodyPr>
          <a:lstStyle/>
          <a:p>
            <a:pPr algn="l">
              <a:lnSpc>
                <a:spcPct val="140000"/>
              </a:lnSpc>
            </a:pPr>
            <a:r>
              <a:rPr lang="en-US" altLang="zh-CN" sz="2665" dirty="0">
                <a:solidFill>
                  <a:srgbClr val="FF0000"/>
                </a:solidFill>
              </a:rPr>
              <a:t>12</a:t>
            </a:r>
            <a:r>
              <a:rPr lang="en-US" altLang="zh-CN" sz="2665" dirty="0"/>
              <a:t>.</a:t>
            </a:r>
            <a:r>
              <a:rPr lang="zh-CN" altLang="en-US" sz="2665" dirty="0"/>
              <a:t>明确把建立社会主义市场经济体制确立为我国经济体制改革的目标，是在党的（</a:t>
            </a:r>
            <a:r>
              <a:rPr lang="en-US" altLang="zh-CN" sz="2665" dirty="0"/>
              <a:t>  </a:t>
            </a:r>
            <a:r>
              <a:rPr lang="zh-CN" altLang="en-US" sz="2665" dirty="0"/>
              <a:t>）。</a:t>
            </a:r>
            <a:br>
              <a:rPr lang="zh-CN" altLang="en-US" sz="2665" dirty="0"/>
            </a:br>
            <a:r>
              <a:rPr lang="en-US" altLang="zh-CN" sz="2665" dirty="0"/>
              <a:t>A.</a:t>
            </a:r>
            <a:r>
              <a:rPr lang="zh-CN" altLang="en-US" sz="2665" dirty="0"/>
              <a:t>十一届三中全会</a:t>
            </a:r>
            <a:br>
              <a:rPr lang="zh-CN" altLang="en-US" sz="2665" dirty="0"/>
            </a:br>
            <a:r>
              <a:rPr lang="en-US" altLang="zh-CN" sz="2665" dirty="0"/>
              <a:t>B.</a:t>
            </a:r>
            <a:r>
              <a:rPr lang="zh-CN" altLang="en-US" sz="2665" dirty="0"/>
              <a:t>十二大</a:t>
            </a:r>
            <a:br>
              <a:rPr lang="zh-CN" altLang="en-US" sz="2665" dirty="0"/>
            </a:br>
            <a:r>
              <a:rPr lang="en-US" altLang="zh-CN" sz="2665" dirty="0"/>
              <a:t>C.</a:t>
            </a:r>
            <a:r>
              <a:rPr lang="zh-CN" altLang="en-US" sz="2665" dirty="0"/>
              <a:t>十三大</a:t>
            </a:r>
            <a:br>
              <a:rPr lang="zh-CN" altLang="en-US" sz="2665" dirty="0"/>
            </a:br>
            <a:r>
              <a:rPr lang="en-US" altLang="zh-CN" sz="2665" dirty="0"/>
              <a:t>D.</a:t>
            </a:r>
            <a:r>
              <a:rPr lang="zh-CN" altLang="en-US" sz="2665" dirty="0"/>
              <a:t>十四大</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C </a:t>
            </a:r>
            <a:r>
              <a:rPr lang="zh-CN" altLang="en-US"/>
              <a:t>）</a:t>
            </a:r>
          </a:p>
        </p:txBody>
      </p:sp>
      <p:sp>
        <p:nvSpPr>
          <p:cNvPr id="2" name="标题 1"/>
          <p:cNvSpPr>
            <a:spLocks noGrp="1"/>
          </p:cNvSpPr>
          <p:nvPr>
            <p:ph type="ctrTitle"/>
          </p:nvPr>
        </p:nvSpPr>
        <p:spPr>
          <a:xfrm>
            <a:off x="904240" y="1122045"/>
            <a:ext cx="10334625" cy="4062730"/>
          </a:xfrm>
        </p:spPr>
        <p:txBody>
          <a:bodyPr>
            <a:normAutofit/>
          </a:bodyPr>
          <a:lstStyle/>
          <a:p>
            <a:pPr algn="l">
              <a:lnSpc>
                <a:spcPct val="140000"/>
              </a:lnSpc>
            </a:pPr>
            <a:r>
              <a:rPr lang="en-US" altLang="zh-CN" sz="2665" dirty="0">
                <a:solidFill>
                  <a:srgbClr val="FF0000"/>
                </a:solidFill>
              </a:rPr>
              <a:t>13.</a:t>
            </a:r>
            <a:r>
              <a:rPr lang="zh-CN" altLang="en-US" sz="2665" dirty="0"/>
              <a:t>改革开放以来，党的全部理论和实践的主题是（</a:t>
            </a:r>
            <a:r>
              <a:rPr lang="en-US" altLang="zh-CN" sz="2665" dirty="0"/>
              <a:t>  </a:t>
            </a:r>
            <a:r>
              <a:rPr lang="zh-CN" altLang="en-US" sz="2665" dirty="0"/>
              <a:t>）。</a:t>
            </a:r>
            <a:br>
              <a:rPr lang="zh-CN" altLang="en-US" sz="2665" dirty="0"/>
            </a:br>
            <a:r>
              <a:rPr lang="en-US" altLang="zh-CN" sz="2665" dirty="0"/>
              <a:t>A. </a:t>
            </a:r>
            <a:r>
              <a:rPr lang="zh-CN" altLang="en-US" sz="2665" dirty="0"/>
              <a:t>解放和发展生产力</a:t>
            </a:r>
            <a:br>
              <a:rPr lang="zh-CN" altLang="en-US" sz="2665" dirty="0"/>
            </a:br>
            <a:r>
              <a:rPr lang="en-US" altLang="zh-CN" sz="2665" dirty="0"/>
              <a:t>B. </a:t>
            </a:r>
            <a:r>
              <a:rPr lang="zh-CN" altLang="en-US" sz="2665" dirty="0"/>
              <a:t>逐步实现共同富裕</a:t>
            </a:r>
            <a:br>
              <a:rPr lang="zh-CN" altLang="en-US" sz="2665" dirty="0"/>
            </a:br>
            <a:r>
              <a:rPr lang="en-US" altLang="zh-CN" sz="2665" dirty="0"/>
              <a:t>C. </a:t>
            </a:r>
            <a:r>
              <a:rPr lang="zh-CN" altLang="en-US" sz="2665" dirty="0"/>
              <a:t>中国特色社会主义</a:t>
            </a:r>
            <a:br>
              <a:rPr lang="zh-CN" altLang="en-US" sz="2665" dirty="0"/>
            </a:br>
            <a:r>
              <a:rPr lang="en-US" altLang="zh-CN" sz="2665" dirty="0"/>
              <a:t>D. </a:t>
            </a:r>
            <a:r>
              <a:rPr lang="zh-CN" altLang="en-US" sz="2665" dirty="0"/>
              <a:t>实现社会主义主义现代化</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04240" y="1122045"/>
            <a:ext cx="10334625" cy="4062730"/>
          </a:xfrm>
        </p:spPr>
        <p:txBody>
          <a:bodyPr>
            <a:normAutofit fontScale="90000"/>
          </a:bodyPr>
          <a:lstStyle/>
          <a:p>
            <a:pPr algn="l">
              <a:lnSpc>
                <a:spcPct val="140000"/>
              </a:lnSpc>
            </a:pPr>
            <a:r>
              <a:rPr lang="en-US" altLang="zh-CN" sz="2665"/>
              <a:t>1.1992</a:t>
            </a:r>
            <a:r>
              <a:rPr lang="zh-CN" altLang="en-US" sz="2665"/>
              <a:t>年初，邓小平在南方谈话中对社会主义本质作出了总结性的理论概括，指出，社会主义的本质就是（）。</a:t>
            </a:r>
            <a:br>
              <a:rPr lang="zh-CN" altLang="en-US" sz="2665"/>
            </a:br>
            <a:r>
              <a:rPr lang="en-US" altLang="zh-CN" sz="2665"/>
              <a:t>A. </a:t>
            </a:r>
            <a:r>
              <a:rPr lang="zh-CN" altLang="en-US" sz="2665"/>
              <a:t>解放生产力</a:t>
            </a:r>
            <a:br>
              <a:rPr lang="zh-CN" altLang="en-US" sz="2665"/>
            </a:br>
            <a:r>
              <a:rPr lang="en-US" altLang="zh-CN" sz="2665"/>
              <a:t>B. </a:t>
            </a:r>
            <a:r>
              <a:rPr lang="zh-CN" altLang="en-US" sz="2665"/>
              <a:t>发展生产力</a:t>
            </a:r>
            <a:br>
              <a:rPr lang="zh-CN" altLang="en-US" sz="2665"/>
            </a:br>
            <a:r>
              <a:rPr lang="en-US" altLang="zh-CN" sz="2665"/>
              <a:t>C. </a:t>
            </a:r>
            <a:r>
              <a:rPr lang="zh-CN" altLang="en-US" sz="2665"/>
              <a:t>消灭剥削</a:t>
            </a:r>
            <a:br>
              <a:rPr lang="zh-CN" altLang="en-US" sz="2665"/>
            </a:br>
            <a:r>
              <a:rPr lang="en-US" altLang="zh-CN" sz="2665"/>
              <a:t>D. </a:t>
            </a:r>
            <a:r>
              <a:rPr lang="zh-CN" altLang="en-US" sz="2665"/>
              <a:t>消除两极分化</a:t>
            </a:r>
            <a:br>
              <a:rPr lang="zh-CN" altLang="en-US" sz="2665"/>
            </a:br>
            <a:r>
              <a:rPr lang="en-US" altLang="zh-CN" sz="2665"/>
              <a:t>E. </a:t>
            </a:r>
            <a:r>
              <a:rPr lang="zh-CN" altLang="en-US" sz="2665"/>
              <a:t>最终达到共同富裕</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CE</a:t>
            </a:r>
            <a:r>
              <a:rPr lang="zh-CN" altLang="en-US"/>
              <a:t>）</a:t>
            </a:r>
          </a:p>
        </p:txBody>
      </p:sp>
      <p:sp>
        <p:nvSpPr>
          <p:cNvPr id="2" name="标题 1"/>
          <p:cNvSpPr>
            <a:spLocks noGrp="1"/>
          </p:cNvSpPr>
          <p:nvPr>
            <p:ph type="ctrTitle"/>
          </p:nvPr>
        </p:nvSpPr>
        <p:spPr>
          <a:xfrm>
            <a:off x="904240" y="1122045"/>
            <a:ext cx="10334625" cy="4062730"/>
          </a:xfrm>
        </p:spPr>
        <p:txBody>
          <a:bodyPr>
            <a:normAutofit/>
          </a:bodyPr>
          <a:lstStyle/>
          <a:p>
            <a:pPr algn="l">
              <a:lnSpc>
                <a:spcPct val="140000"/>
              </a:lnSpc>
            </a:pPr>
            <a:r>
              <a:rPr lang="en-US" altLang="zh-CN" sz="2665" dirty="0">
                <a:solidFill>
                  <a:srgbClr val="FF0000"/>
                </a:solidFill>
              </a:rPr>
              <a:t>2.</a:t>
            </a:r>
            <a:r>
              <a:rPr lang="zh-CN" altLang="en-US" sz="2665" dirty="0"/>
              <a:t>社会主义本质理论突出强调</a:t>
            </a:r>
            <a:r>
              <a:rPr lang="en-US" altLang="zh-CN" sz="2665" dirty="0"/>
              <a:t>“</a:t>
            </a:r>
            <a:r>
              <a:rPr lang="zh-CN" altLang="en-US" sz="2665" dirty="0"/>
              <a:t>消灭剥削，消除两极分化，最终达到共同富裕</a:t>
            </a:r>
            <a:r>
              <a:rPr lang="en-US" altLang="zh-CN" sz="2665" dirty="0"/>
              <a:t>”</a:t>
            </a:r>
            <a:r>
              <a:rPr lang="zh-CN" altLang="en-US" sz="2665" dirty="0"/>
              <a:t>，从（</a:t>
            </a:r>
            <a:r>
              <a:rPr lang="en-US" altLang="zh-CN" sz="2665" dirty="0"/>
              <a:t>   </a:t>
            </a:r>
            <a:r>
              <a:rPr lang="zh-CN" altLang="en-US" sz="2665" dirty="0"/>
              <a:t>）角度认识和把握社会主义本质。</a:t>
            </a:r>
            <a:br>
              <a:rPr lang="zh-CN" altLang="en-US" sz="2665" dirty="0"/>
            </a:br>
            <a:r>
              <a:rPr lang="en-US" altLang="zh-CN" sz="2665" dirty="0"/>
              <a:t>A.</a:t>
            </a:r>
            <a:r>
              <a:rPr lang="zh-CN" altLang="en-US" sz="2665" dirty="0"/>
              <a:t>生产力</a:t>
            </a:r>
            <a:br>
              <a:rPr lang="zh-CN" altLang="en-US" sz="2665" dirty="0"/>
            </a:br>
            <a:r>
              <a:rPr lang="en-US" altLang="zh-CN" sz="2665" dirty="0"/>
              <a:t>B.</a:t>
            </a:r>
            <a:r>
              <a:rPr lang="zh-CN" altLang="en-US" sz="2665" dirty="0"/>
              <a:t>社会公平</a:t>
            </a:r>
            <a:br>
              <a:rPr lang="zh-CN" altLang="en-US" sz="2665" dirty="0"/>
            </a:br>
            <a:r>
              <a:rPr lang="en-US" altLang="zh-CN" sz="2665" dirty="0"/>
              <a:t>C.</a:t>
            </a:r>
            <a:r>
              <a:rPr lang="zh-CN" altLang="en-US" sz="2665" dirty="0"/>
              <a:t>生产关系</a:t>
            </a:r>
            <a:br>
              <a:rPr lang="zh-CN" altLang="en-US" sz="2665" dirty="0"/>
            </a:br>
            <a:r>
              <a:rPr lang="en-US" altLang="zh-CN" sz="2665" dirty="0"/>
              <a:t>D.</a:t>
            </a:r>
            <a:r>
              <a:rPr lang="zh-CN" altLang="en-US" sz="2665" dirty="0"/>
              <a:t>社会和谐</a:t>
            </a:r>
            <a:br>
              <a:rPr lang="zh-CN" altLang="en-US" sz="2665" dirty="0"/>
            </a:br>
            <a:r>
              <a:rPr lang="en-US" altLang="zh-CN" sz="2665" dirty="0"/>
              <a:t>E.</a:t>
            </a:r>
            <a:r>
              <a:rPr lang="zh-CN" altLang="en-US" sz="2665" dirty="0"/>
              <a:t>发展目标</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 ABCDE</a:t>
            </a:r>
            <a:r>
              <a:rPr lang="zh-CN" altLang="en-US"/>
              <a:t>）</a:t>
            </a:r>
          </a:p>
        </p:txBody>
      </p:sp>
      <p:sp>
        <p:nvSpPr>
          <p:cNvPr id="2" name="标题 1"/>
          <p:cNvSpPr>
            <a:spLocks noGrp="1"/>
          </p:cNvSpPr>
          <p:nvPr>
            <p:ph type="ctrTitle"/>
          </p:nvPr>
        </p:nvSpPr>
        <p:spPr>
          <a:xfrm>
            <a:off x="904240" y="1122045"/>
            <a:ext cx="10796270" cy="4664075"/>
          </a:xfrm>
        </p:spPr>
        <p:txBody>
          <a:bodyPr>
            <a:normAutofit fontScale="90000"/>
          </a:bodyPr>
          <a:lstStyle/>
          <a:p>
            <a:pPr algn="l">
              <a:lnSpc>
                <a:spcPct val="140000"/>
              </a:lnSpc>
            </a:pPr>
            <a:r>
              <a:rPr lang="en-US" altLang="zh-CN" sz="2665"/>
              <a:t>3.1992</a:t>
            </a:r>
            <a:r>
              <a:rPr lang="zh-CN" altLang="en-US" sz="2665"/>
              <a:t>年初，邓小平在南方谈话中对社会主义本质作岀了总结性的理论概括，他指岀：</a:t>
            </a:r>
            <a:r>
              <a:rPr lang="en-US" altLang="zh-CN" sz="2665"/>
              <a:t>“</a:t>
            </a:r>
            <a:r>
              <a:rPr lang="zh-CN" altLang="en-US" sz="2665"/>
              <a:t>社会主义的本质，是解放生产力，发展生产力，消灭剥削，消除两极分化，最终达到共同富裕。</a:t>
            </a:r>
            <a:r>
              <a:rPr lang="en-US" altLang="zh-CN" sz="2665"/>
              <a:t>”</a:t>
            </a:r>
            <a:r>
              <a:rPr lang="zh-CN" altLang="en-US" sz="2665"/>
              <a:t>以下各选项中，对社会主义本质理解正确的有（</a:t>
            </a:r>
            <a:r>
              <a:rPr lang="en-US" altLang="zh-CN" sz="2665"/>
              <a:t> </a:t>
            </a:r>
            <a:r>
              <a:rPr lang="zh-CN" altLang="en-US" sz="2665"/>
              <a:t>）。</a:t>
            </a:r>
            <a:br>
              <a:rPr lang="zh-CN" altLang="en-US" sz="2665"/>
            </a:br>
            <a:r>
              <a:rPr lang="en-US" altLang="zh-CN" sz="2665"/>
              <a:t>A. </a:t>
            </a:r>
            <a:r>
              <a:rPr lang="zh-CN" altLang="en-US" sz="2665"/>
              <a:t>突岀强调解放和发展生产力在社会主义社会发展中的重要地位</a:t>
            </a:r>
            <a:br>
              <a:rPr lang="zh-CN" altLang="en-US" sz="2665"/>
            </a:br>
            <a:r>
              <a:rPr lang="en-US" altLang="zh-CN" sz="2665"/>
              <a:t>B. </a:t>
            </a:r>
            <a:r>
              <a:rPr lang="zh-CN" altLang="en-US" sz="2665"/>
              <a:t>从生产关系和发展目标角度认识和把握社会主义本质</a:t>
            </a:r>
            <a:br>
              <a:rPr lang="zh-CN" altLang="en-US" sz="2665"/>
            </a:br>
            <a:r>
              <a:rPr lang="en-US" altLang="zh-CN" sz="2665"/>
              <a:t>C. </a:t>
            </a:r>
            <a:r>
              <a:rPr lang="zh-CN" altLang="en-US" sz="2665"/>
              <a:t>消灭剥削，消除两极分化只有在坚持公有制和按劳分配为主体的条件下才能实现</a:t>
            </a:r>
            <a:br>
              <a:rPr lang="zh-CN" altLang="en-US" sz="2665"/>
            </a:br>
            <a:r>
              <a:rPr lang="en-US" altLang="zh-CN" sz="2665"/>
              <a:t>D. </a:t>
            </a:r>
            <a:r>
              <a:rPr lang="zh-CN" altLang="en-US" sz="2665"/>
              <a:t>现共同富裕要以坚持公有制为根本保证</a:t>
            </a:r>
            <a:br>
              <a:rPr lang="zh-CN" altLang="en-US" sz="2665"/>
            </a:br>
            <a:r>
              <a:rPr lang="en-US" altLang="zh-CN" sz="2665"/>
              <a:t>E. </a:t>
            </a:r>
            <a:r>
              <a:rPr lang="zh-CN" altLang="en-US" sz="2665"/>
              <a:t>坚持公有制为主体，要以消灭剥削、消除两极分化为前提条件</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04240" y="1122045"/>
            <a:ext cx="10334625" cy="4062730"/>
          </a:xfrm>
        </p:spPr>
        <p:txBody>
          <a:bodyPr>
            <a:normAutofit fontScale="90000"/>
          </a:bodyPr>
          <a:lstStyle/>
          <a:p>
            <a:pPr algn="l">
              <a:lnSpc>
                <a:spcPct val="140000"/>
              </a:lnSpc>
            </a:pPr>
            <a:r>
              <a:rPr lang="en-US" altLang="zh-CN" sz="2665"/>
              <a:t>4.</a:t>
            </a:r>
            <a:r>
              <a:rPr lang="zh-CN" altLang="en-US" sz="2665"/>
              <a:t>改革开放和社会主义现代化建设新时期，党的思想路线的重新确立，解决了一系列重大理论和实践问题，主要包括（</a:t>
            </a:r>
            <a:r>
              <a:rPr lang="en-US" altLang="zh-CN" sz="2665"/>
              <a:t>   </a:t>
            </a:r>
            <a:r>
              <a:rPr lang="zh-CN" altLang="en-US" sz="2665"/>
              <a:t>）。</a:t>
            </a:r>
            <a:br>
              <a:rPr lang="zh-CN" altLang="en-US" sz="2665"/>
            </a:br>
            <a:r>
              <a:rPr lang="en-US" altLang="zh-CN" sz="2665"/>
              <a:t>A.</a:t>
            </a:r>
            <a:r>
              <a:rPr lang="zh-CN" altLang="en-US" sz="2665"/>
              <a:t>推动和保证了拨乱反正的进行</a:t>
            </a:r>
            <a:br>
              <a:rPr lang="zh-CN" altLang="en-US" sz="2665"/>
            </a:br>
            <a:r>
              <a:rPr lang="en-US" altLang="zh-CN" sz="2665"/>
              <a:t>B.</a:t>
            </a:r>
            <a:r>
              <a:rPr lang="zh-CN" altLang="en-US" sz="2665"/>
              <a:t>破除了僵化的社会主义模式观念，坚持走自己的路</a:t>
            </a:r>
            <a:br>
              <a:rPr lang="zh-CN" altLang="en-US" sz="2665"/>
            </a:br>
            <a:r>
              <a:rPr lang="en-US" altLang="zh-CN" sz="2665"/>
              <a:t>C.</a:t>
            </a:r>
            <a:r>
              <a:rPr lang="zh-CN" altLang="en-US" sz="2665"/>
              <a:t>坚持解放思想，实事求是，一切从社会主义初级阶段的实际出发</a:t>
            </a:r>
            <a:br>
              <a:rPr lang="zh-CN" altLang="en-US" sz="2665"/>
            </a:br>
            <a:r>
              <a:rPr lang="en-US" altLang="zh-CN" sz="2665"/>
              <a:t>D.</a:t>
            </a:r>
            <a:r>
              <a:rPr lang="zh-CN" altLang="en-US" sz="2665"/>
              <a:t>坚持以</a:t>
            </a:r>
            <a:r>
              <a:rPr lang="en-US" altLang="zh-CN" sz="2665"/>
              <a:t>“</a:t>
            </a:r>
            <a:r>
              <a:rPr lang="zh-CN" altLang="en-US" sz="2665"/>
              <a:t>三个有利于</a:t>
            </a:r>
            <a:r>
              <a:rPr lang="en-US" altLang="zh-CN" sz="2665"/>
              <a:t>”</a:t>
            </a:r>
            <a:r>
              <a:rPr lang="zh-CN" altLang="en-US" sz="2665"/>
              <a:t>标准作为检验一切工作是非得失的根本标准</a:t>
            </a:r>
            <a:br>
              <a:rPr lang="zh-CN" altLang="en-US" sz="2665"/>
            </a:br>
            <a:r>
              <a:rPr lang="en-US" altLang="zh-CN" sz="2665"/>
              <a:t>E.</a:t>
            </a:r>
            <a:r>
              <a:rPr lang="zh-CN" altLang="en-US" sz="2665"/>
              <a:t>破除了改革开放进程中离开发展生产力抽象谈论姓</a:t>
            </a:r>
            <a:r>
              <a:rPr lang="en-US" altLang="zh-CN" sz="2665"/>
              <a:t>“</a:t>
            </a:r>
            <a:r>
              <a:rPr lang="zh-CN" altLang="en-US" sz="2665"/>
              <a:t>社</a:t>
            </a:r>
            <a:r>
              <a:rPr lang="en-US" altLang="zh-CN" sz="2665"/>
              <a:t>”</a:t>
            </a:r>
            <a:r>
              <a:rPr lang="zh-CN" altLang="en-US" sz="2665"/>
              <a:t>姓</a:t>
            </a:r>
            <a:r>
              <a:rPr lang="en-US" altLang="zh-CN" sz="2665"/>
              <a:t>“</a:t>
            </a:r>
            <a:r>
              <a:rPr lang="zh-CN" altLang="en-US" sz="2665"/>
              <a:t>资</a:t>
            </a:r>
            <a:r>
              <a:rPr lang="en-US" altLang="zh-CN" sz="2665"/>
              <a:t>”</a:t>
            </a:r>
            <a:r>
              <a:rPr lang="zh-CN" altLang="en-US" sz="2665"/>
              <a:t>的思维定势</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ABCD</a:t>
            </a:r>
            <a:r>
              <a:rPr lang="zh-CN" altLang="en-US"/>
              <a:t>）</a:t>
            </a:r>
          </a:p>
        </p:txBody>
      </p:sp>
      <p:sp>
        <p:nvSpPr>
          <p:cNvPr id="2" name="标题 1"/>
          <p:cNvSpPr>
            <a:spLocks noGrp="1"/>
          </p:cNvSpPr>
          <p:nvPr>
            <p:ph type="ctrTitle"/>
          </p:nvPr>
        </p:nvSpPr>
        <p:spPr>
          <a:xfrm>
            <a:off x="904240" y="1122045"/>
            <a:ext cx="10334625" cy="4062730"/>
          </a:xfrm>
        </p:spPr>
        <p:txBody>
          <a:bodyPr>
            <a:normAutofit fontScale="90000"/>
          </a:bodyPr>
          <a:lstStyle/>
          <a:p>
            <a:pPr algn="l">
              <a:lnSpc>
                <a:spcPct val="140000"/>
              </a:lnSpc>
            </a:pPr>
            <a:r>
              <a:rPr lang="en-US" altLang="zh-CN" sz="2665"/>
              <a:t>5.</a:t>
            </a:r>
            <a:r>
              <a:rPr lang="zh-CN" altLang="en-US" sz="2665"/>
              <a:t>解放思想通常包括以下几种情况（</a:t>
            </a:r>
            <a:r>
              <a:rPr lang="en-US" altLang="zh-CN" sz="2665"/>
              <a:t> </a:t>
            </a:r>
            <a:r>
              <a:rPr lang="zh-CN" altLang="en-US" sz="2665"/>
              <a:t>）。</a:t>
            </a:r>
            <a:br>
              <a:rPr lang="zh-CN" altLang="en-US" sz="2665"/>
            </a:br>
            <a:r>
              <a:rPr lang="en-US" altLang="zh-CN" sz="2665"/>
              <a:t>A.</a:t>
            </a:r>
            <a:r>
              <a:rPr lang="zh-CN" altLang="en-US" sz="2665"/>
              <a:t>对原先的认识进行再认识</a:t>
            </a:r>
            <a:br>
              <a:rPr lang="zh-CN" altLang="en-US" sz="2665"/>
            </a:br>
            <a:r>
              <a:rPr lang="en-US" altLang="zh-CN" sz="2665"/>
              <a:t>B.</a:t>
            </a:r>
            <a:r>
              <a:rPr lang="zh-CN" altLang="en-US" sz="2665"/>
              <a:t>对原先认识中那些正确部分的坚持</a:t>
            </a:r>
            <a:br>
              <a:rPr lang="zh-CN" altLang="en-US" sz="2665"/>
            </a:br>
            <a:r>
              <a:rPr lang="en-US" altLang="zh-CN" sz="2665"/>
              <a:t>C.</a:t>
            </a:r>
            <a:r>
              <a:rPr lang="zh-CN" altLang="en-US" sz="2665"/>
              <a:t>对原先认识中那些错误部分的纠正</a:t>
            </a:r>
            <a:br>
              <a:rPr lang="zh-CN" altLang="en-US" sz="2665"/>
            </a:br>
            <a:r>
              <a:rPr lang="en-US" altLang="zh-CN" sz="2665"/>
              <a:t>D.</a:t>
            </a:r>
            <a:r>
              <a:rPr lang="zh-CN" altLang="en-US" sz="2665"/>
              <a:t>在研究新情况、解决新问题、总结新经验的基础上，形成新的正确认识</a:t>
            </a:r>
            <a:br>
              <a:rPr lang="zh-CN" altLang="en-US" sz="2665"/>
            </a:br>
            <a:r>
              <a:rPr lang="en-US" altLang="zh-CN" sz="2665"/>
              <a:t>E.</a:t>
            </a:r>
            <a:r>
              <a:rPr lang="zh-CN" altLang="en-US" sz="2665"/>
              <a:t>全盘否定过去的一切</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ABCD</a:t>
            </a:r>
            <a:r>
              <a:rPr lang="zh-CN" altLang="en-US"/>
              <a:t>）</a:t>
            </a:r>
          </a:p>
        </p:txBody>
      </p:sp>
      <p:sp>
        <p:nvSpPr>
          <p:cNvPr id="2" name="标题 1"/>
          <p:cNvSpPr>
            <a:spLocks noGrp="1"/>
          </p:cNvSpPr>
          <p:nvPr>
            <p:ph type="ctrTitle"/>
          </p:nvPr>
        </p:nvSpPr>
        <p:spPr>
          <a:xfrm>
            <a:off x="904240" y="1122045"/>
            <a:ext cx="10334625" cy="4062730"/>
          </a:xfrm>
        </p:spPr>
        <p:txBody>
          <a:bodyPr>
            <a:normAutofit fontScale="90000"/>
          </a:bodyPr>
          <a:lstStyle/>
          <a:p>
            <a:pPr algn="l">
              <a:lnSpc>
                <a:spcPct val="140000"/>
              </a:lnSpc>
            </a:pPr>
            <a:r>
              <a:rPr lang="en-US" altLang="zh-CN" sz="2665" dirty="0">
                <a:solidFill>
                  <a:srgbClr val="FF0000"/>
                </a:solidFill>
              </a:rPr>
              <a:t>6.</a:t>
            </a:r>
            <a:r>
              <a:rPr lang="zh-CN" altLang="en-US" sz="2665" dirty="0"/>
              <a:t>党的十三大系统地阐述了社会主义初级阶段的科学内涵。以下各选项中，对社会主义初级阶段的内涵表述正确的有（</a:t>
            </a:r>
            <a:r>
              <a:rPr lang="en-US" altLang="zh-CN" sz="2665" dirty="0"/>
              <a:t>   </a:t>
            </a:r>
            <a:r>
              <a:rPr lang="zh-CN" altLang="en-US" sz="2665" dirty="0"/>
              <a:t>）。</a:t>
            </a:r>
            <a:br>
              <a:rPr lang="zh-CN" altLang="en-US" sz="2665" dirty="0"/>
            </a:br>
            <a:r>
              <a:rPr lang="en-US" altLang="zh-CN" sz="2665" dirty="0"/>
              <a:t>A.</a:t>
            </a:r>
            <a:r>
              <a:rPr lang="zh-CN" altLang="en-US" sz="2665" dirty="0"/>
              <a:t>我国社会已经是社会主义社会，阐明了初级阶段的社会性质</a:t>
            </a:r>
            <a:br>
              <a:rPr lang="zh-CN" altLang="en-US" sz="2665" dirty="0"/>
            </a:br>
            <a:r>
              <a:rPr lang="en-US" altLang="zh-CN" sz="2665" dirty="0"/>
              <a:t>B.</a:t>
            </a:r>
            <a:r>
              <a:rPr lang="zh-CN" altLang="en-US" sz="2665" dirty="0"/>
              <a:t>我们必须坚持社会主义而不能离开社会主义</a:t>
            </a:r>
            <a:br>
              <a:rPr lang="zh-CN" altLang="en-US" sz="2665" dirty="0"/>
            </a:br>
            <a:r>
              <a:rPr lang="en-US" altLang="zh-CN" sz="2665" dirty="0"/>
              <a:t>C.</a:t>
            </a:r>
            <a:r>
              <a:rPr lang="zh-CN" altLang="en-US" sz="2665" dirty="0"/>
              <a:t>我国的社会主义社会还处在初级阶段，阐明了国社会主义社会的发展程度</a:t>
            </a:r>
            <a:br>
              <a:rPr lang="zh-CN" altLang="en-US" sz="2665" dirty="0"/>
            </a:br>
            <a:r>
              <a:rPr lang="en-US" altLang="zh-CN" sz="2665" dirty="0"/>
              <a:t>D.</a:t>
            </a:r>
            <a:r>
              <a:rPr lang="zh-CN" altLang="en-US" sz="2665" dirty="0"/>
              <a:t>制定路线方针政策必须从社会主义初级阶段的实际岀发，而不能超越这个阶段</a:t>
            </a:r>
            <a:br>
              <a:rPr lang="zh-CN" altLang="en-US" sz="2665" dirty="0"/>
            </a:br>
            <a:r>
              <a:rPr lang="en-US" altLang="zh-CN" sz="2665" dirty="0"/>
              <a:t>E.</a:t>
            </a:r>
            <a:r>
              <a:rPr lang="zh-CN" altLang="en-US" sz="2665" dirty="0"/>
              <a:t>是任何社会主义国家都不可避免要经历社会主义的初级阶段</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ACE</a:t>
            </a:r>
            <a:r>
              <a:rPr lang="zh-CN" altLang="en-US"/>
              <a:t>）</a:t>
            </a:r>
          </a:p>
        </p:txBody>
      </p:sp>
      <p:sp>
        <p:nvSpPr>
          <p:cNvPr id="2" name="标题 1"/>
          <p:cNvSpPr>
            <a:spLocks noGrp="1"/>
          </p:cNvSpPr>
          <p:nvPr>
            <p:ph type="ctrTitle"/>
          </p:nvPr>
        </p:nvSpPr>
        <p:spPr>
          <a:xfrm>
            <a:off x="904240" y="1122045"/>
            <a:ext cx="10334625" cy="4062730"/>
          </a:xfrm>
        </p:spPr>
        <p:txBody>
          <a:bodyPr>
            <a:normAutofit/>
          </a:bodyPr>
          <a:lstStyle/>
          <a:p>
            <a:pPr algn="l">
              <a:lnSpc>
                <a:spcPct val="140000"/>
              </a:lnSpc>
            </a:pPr>
            <a:r>
              <a:rPr lang="en-US" altLang="zh-CN" sz="2665" dirty="0">
                <a:solidFill>
                  <a:srgbClr val="FF0000"/>
                </a:solidFill>
              </a:rPr>
              <a:t>7.</a:t>
            </a:r>
            <a:r>
              <a:rPr lang="zh-CN" altLang="en-US" sz="2665" dirty="0"/>
              <a:t>确定社会主义的根本任务是发展生产力，基于以下依据（</a:t>
            </a:r>
            <a:r>
              <a:rPr lang="en-US" altLang="zh-CN" sz="2665" dirty="0"/>
              <a:t>   </a:t>
            </a:r>
            <a:r>
              <a:rPr lang="zh-CN" altLang="en-US" sz="2665" dirty="0"/>
              <a:t>）。</a:t>
            </a:r>
            <a:br>
              <a:rPr lang="zh-CN" altLang="en-US" sz="2665" dirty="0"/>
            </a:br>
            <a:r>
              <a:rPr lang="en-US" altLang="zh-CN" sz="2665" dirty="0"/>
              <a:t>A.</a:t>
            </a:r>
            <a:r>
              <a:rPr lang="zh-CN" altLang="en-US" sz="2665" dirty="0"/>
              <a:t>生产力是社会发展的最根本的决定性因素</a:t>
            </a:r>
            <a:br>
              <a:rPr lang="zh-CN" altLang="en-US" sz="2665" dirty="0"/>
            </a:br>
            <a:r>
              <a:rPr lang="en-US" altLang="zh-CN" sz="2665" dirty="0"/>
              <a:t>B.</a:t>
            </a:r>
            <a:r>
              <a:rPr lang="zh-CN" altLang="en-US" sz="2665" dirty="0"/>
              <a:t>通过生产力发展加速生产关系的变革</a:t>
            </a:r>
            <a:br>
              <a:rPr lang="zh-CN" altLang="en-US" sz="2665" dirty="0"/>
            </a:br>
            <a:r>
              <a:rPr lang="en-US" altLang="zh-CN" sz="2665" dirty="0"/>
              <a:t>C.</a:t>
            </a:r>
            <a:r>
              <a:rPr lang="zh-CN" altLang="en-US" sz="2665" dirty="0"/>
              <a:t>党对我国社会主义建设经验教训和社会主要矛盾的科学分析</a:t>
            </a:r>
            <a:br>
              <a:rPr lang="zh-CN" altLang="en-US" sz="2665" dirty="0"/>
            </a:br>
            <a:r>
              <a:rPr lang="en-US" altLang="zh-CN" sz="2665" dirty="0"/>
              <a:t>D.</a:t>
            </a:r>
            <a:r>
              <a:rPr lang="zh-CN" altLang="en-US" sz="2665" dirty="0"/>
              <a:t>通过生产力发展加速体制的变革</a:t>
            </a:r>
            <a:br>
              <a:rPr lang="zh-CN" altLang="en-US" sz="2665" dirty="0"/>
            </a:br>
            <a:r>
              <a:rPr lang="en-US" altLang="zh-CN" sz="2665" dirty="0"/>
              <a:t>E.</a:t>
            </a:r>
            <a:r>
              <a:rPr lang="zh-CN" altLang="en-US" sz="2665" dirty="0"/>
              <a:t>中国解决所有问题的关键是要靠自己的发展</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ABC</a:t>
            </a:r>
            <a:r>
              <a:rPr lang="zh-CN" altLang="en-US"/>
              <a:t>）</a:t>
            </a:r>
          </a:p>
        </p:txBody>
      </p:sp>
      <p:sp>
        <p:nvSpPr>
          <p:cNvPr id="2" name="标题 1"/>
          <p:cNvSpPr>
            <a:spLocks noGrp="1"/>
          </p:cNvSpPr>
          <p:nvPr>
            <p:ph type="ctrTitle"/>
          </p:nvPr>
        </p:nvSpPr>
        <p:spPr>
          <a:xfrm>
            <a:off x="904240" y="1122045"/>
            <a:ext cx="10334625" cy="4062730"/>
          </a:xfrm>
        </p:spPr>
        <p:txBody>
          <a:bodyPr>
            <a:normAutofit fontScale="90000"/>
          </a:bodyPr>
          <a:lstStyle/>
          <a:p>
            <a:pPr algn="l">
              <a:lnSpc>
                <a:spcPct val="140000"/>
              </a:lnSpc>
            </a:pPr>
            <a:r>
              <a:rPr lang="en-US" altLang="zh-CN" sz="2665"/>
              <a:t>8.</a:t>
            </a:r>
            <a:r>
              <a:rPr lang="zh-CN" altLang="en-US" sz="2665"/>
              <a:t>关于邓小平提出的</a:t>
            </a:r>
            <a:r>
              <a:rPr lang="en-US" altLang="zh-CN" sz="2665"/>
              <a:t>“</a:t>
            </a:r>
            <a:r>
              <a:rPr lang="zh-CN" altLang="en-US" sz="2665"/>
              <a:t>三步走</a:t>
            </a:r>
            <a:r>
              <a:rPr lang="en-US" altLang="zh-CN" sz="2665"/>
              <a:t>”</a:t>
            </a:r>
            <a:r>
              <a:rPr lang="zh-CN" altLang="en-US" sz="2665"/>
              <a:t>的发展战略，以下各选项表述正确的有（</a:t>
            </a:r>
            <a:r>
              <a:rPr lang="en-US" altLang="zh-CN" sz="2665"/>
              <a:t> </a:t>
            </a:r>
            <a:r>
              <a:rPr lang="zh-CN" altLang="en-US" sz="2665"/>
              <a:t>）。</a:t>
            </a:r>
            <a:br>
              <a:rPr lang="zh-CN" altLang="en-US" sz="2665"/>
            </a:br>
            <a:r>
              <a:rPr lang="en-US" altLang="zh-CN" sz="2665"/>
              <a:t>A.1980</a:t>
            </a:r>
            <a:r>
              <a:rPr lang="zh-CN" altLang="en-US" sz="2665"/>
              <a:t>年至</a:t>
            </a:r>
            <a:r>
              <a:rPr lang="en-US" altLang="zh-CN" sz="2665"/>
              <a:t>1990</a:t>
            </a:r>
            <a:r>
              <a:rPr lang="zh-CN" altLang="en-US" sz="2665"/>
              <a:t>年，实现国民生产总值翻一番，解决人民温饱</a:t>
            </a:r>
            <a:br>
              <a:rPr lang="zh-CN" altLang="en-US" sz="2665"/>
            </a:br>
            <a:r>
              <a:rPr lang="en-US" altLang="zh-CN" sz="2665"/>
              <a:t>B.1990</a:t>
            </a:r>
            <a:r>
              <a:rPr lang="zh-CN" altLang="en-US" sz="2665"/>
              <a:t>年至</a:t>
            </a:r>
            <a:r>
              <a:rPr lang="en-US" altLang="zh-CN" sz="2665"/>
              <a:t>2000</a:t>
            </a:r>
            <a:r>
              <a:rPr lang="zh-CN" altLang="en-US" sz="2665"/>
              <a:t>年，国民生产总值再增长一倍，人民生活达到小康</a:t>
            </a:r>
            <a:br>
              <a:rPr lang="zh-CN" altLang="en-US" sz="2665"/>
            </a:br>
            <a:r>
              <a:rPr lang="en-US" altLang="zh-CN" sz="2665"/>
              <a:t>C.</a:t>
            </a:r>
            <a:r>
              <a:rPr lang="zh-CN" altLang="en-US" sz="2665"/>
              <a:t>到</a:t>
            </a:r>
            <a:r>
              <a:rPr lang="en-US" altLang="zh-CN" sz="2665"/>
              <a:t>21</a:t>
            </a:r>
            <a:r>
              <a:rPr lang="zh-CN" altLang="en-US" sz="2665"/>
              <a:t>世纪中叶，人民生活比较富裕，基本实现现代化</a:t>
            </a:r>
            <a:br>
              <a:rPr lang="zh-CN" altLang="en-US" sz="2665"/>
            </a:br>
            <a:r>
              <a:rPr lang="en-US" altLang="zh-CN" sz="2665"/>
              <a:t>D.</a:t>
            </a:r>
            <a:r>
              <a:rPr lang="zh-CN" altLang="en-US" sz="2665"/>
              <a:t>到建党</a:t>
            </a:r>
            <a:r>
              <a:rPr lang="en-US" altLang="zh-CN" sz="2665"/>
              <a:t>100</a:t>
            </a:r>
            <a:r>
              <a:rPr lang="zh-CN" altLang="en-US" sz="2665"/>
              <a:t>年，全面建成小康社会</a:t>
            </a:r>
            <a:br>
              <a:rPr lang="zh-CN" altLang="en-US" sz="2665"/>
            </a:br>
            <a:r>
              <a:rPr lang="en-US" altLang="zh-CN" sz="2665"/>
              <a:t>E.</a:t>
            </a:r>
            <a:r>
              <a:rPr lang="zh-CN" altLang="en-US" sz="2665"/>
              <a:t>到建国</a:t>
            </a:r>
            <a:r>
              <a:rPr lang="en-US" altLang="zh-CN" sz="2665"/>
              <a:t>100</a:t>
            </a:r>
            <a:r>
              <a:rPr lang="zh-CN" altLang="en-US" sz="2665"/>
              <a:t>年，建成社会主义现代化强国</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 BDE</a:t>
            </a:r>
            <a:r>
              <a:rPr lang="zh-CN" altLang="en-US"/>
              <a:t>）</a:t>
            </a:r>
          </a:p>
        </p:txBody>
      </p:sp>
      <p:sp>
        <p:nvSpPr>
          <p:cNvPr id="2" name="标题 1"/>
          <p:cNvSpPr>
            <a:spLocks noGrp="1"/>
          </p:cNvSpPr>
          <p:nvPr>
            <p:ph type="ctrTitle"/>
          </p:nvPr>
        </p:nvSpPr>
        <p:spPr>
          <a:xfrm>
            <a:off x="904240" y="1122045"/>
            <a:ext cx="10334625" cy="4062730"/>
          </a:xfrm>
        </p:spPr>
        <p:txBody>
          <a:bodyPr>
            <a:normAutofit fontScale="90000"/>
          </a:bodyPr>
          <a:lstStyle/>
          <a:p>
            <a:pPr algn="l">
              <a:lnSpc>
                <a:spcPct val="140000"/>
              </a:lnSpc>
            </a:pPr>
            <a:r>
              <a:rPr lang="en-US" altLang="zh-CN" sz="2665" dirty="0">
                <a:solidFill>
                  <a:srgbClr val="FF0000"/>
                </a:solidFill>
              </a:rPr>
              <a:t>9.</a:t>
            </a:r>
            <a:r>
              <a:rPr lang="zh-CN" altLang="en-US" sz="2665" dirty="0"/>
              <a:t>为了更好地实现</a:t>
            </a:r>
            <a:r>
              <a:rPr lang="en-US" altLang="zh-CN" sz="2665" dirty="0"/>
              <a:t>“</a:t>
            </a:r>
            <a:r>
              <a:rPr lang="zh-CN" altLang="en-US" sz="2665" dirty="0"/>
              <a:t>三步走</a:t>
            </a:r>
            <a:r>
              <a:rPr lang="en-US" altLang="zh-CN" sz="2665" dirty="0"/>
              <a:t>”</a:t>
            </a:r>
            <a:r>
              <a:rPr lang="zh-CN" altLang="en-US" sz="2665" dirty="0"/>
              <a:t>的现代化发展战略，邓小平提出了以重点带动全局的思想。</a:t>
            </a:r>
            <a:r>
              <a:rPr lang="en-US" altLang="zh-CN" sz="2665" dirty="0"/>
              <a:t>1982</a:t>
            </a:r>
            <a:r>
              <a:rPr lang="zh-CN" altLang="en-US" sz="2665" dirty="0"/>
              <a:t>年</a:t>
            </a:r>
            <a:r>
              <a:rPr lang="en-US" altLang="zh-CN" sz="2665" dirty="0"/>
              <a:t>9</a:t>
            </a:r>
            <a:r>
              <a:rPr lang="zh-CN" altLang="en-US" sz="2665" dirty="0"/>
              <a:t>月，他提出经济社会发展战略的战略重点是（</a:t>
            </a:r>
            <a:r>
              <a:rPr lang="en-US" altLang="zh-CN" sz="2665" dirty="0"/>
              <a:t> </a:t>
            </a:r>
            <a:r>
              <a:rPr lang="zh-CN" altLang="en-US" sz="2665" dirty="0"/>
              <a:t>）。</a:t>
            </a:r>
            <a:br>
              <a:rPr lang="zh-CN" altLang="en-US" sz="2665" dirty="0"/>
            </a:br>
            <a:r>
              <a:rPr lang="en-US" altLang="zh-CN" sz="2665" dirty="0"/>
              <a:t>A. </a:t>
            </a:r>
            <a:r>
              <a:rPr lang="zh-CN" altLang="en-US" sz="2665" dirty="0"/>
              <a:t>重工业</a:t>
            </a:r>
            <a:br>
              <a:rPr lang="zh-CN" altLang="en-US" sz="2665" dirty="0"/>
            </a:br>
            <a:r>
              <a:rPr lang="en-US" altLang="zh-CN" sz="2665" dirty="0"/>
              <a:t>B. </a:t>
            </a:r>
            <a:r>
              <a:rPr lang="zh-CN" altLang="en-US" sz="2665" dirty="0"/>
              <a:t>农业</a:t>
            </a:r>
            <a:br>
              <a:rPr lang="zh-CN" altLang="en-US" sz="2665" dirty="0"/>
            </a:br>
            <a:r>
              <a:rPr lang="en-US" altLang="zh-CN" sz="2665" dirty="0"/>
              <a:t>C. </a:t>
            </a:r>
            <a:r>
              <a:rPr lang="zh-CN" altLang="en-US" sz="2665" dirty="0"/>
              <a:t>农业和轻工业</a:t>
            </a:r>
            <a:br>
              <a:rPr lang="zh-CN" altLang="en-US" sz="2665" dirty="0"/>
            </a:br>
            <a:r>
              <a:rPr lang="en-US" altLang="zh-CN" sz="2665" dirty="0"/>
              <a:t>D. </a:t>
            </a:r>
            <a:r>
              <a:rPr lang="zh-CN" altLang="en-US" sz="2665" dirty="0"/>
              <a:t>能源和交通</a:t>
            </a:r>
            <a:br>
              <a:rPr lang="zh-CN" altLang="en-US" sz="2665" dirty="0"/>
            </a:br>
            <a:r>
              <a:rPr lang="en-US" altLang="zh-CN" sz="2665" dirty="0"/>
              <a:t>E. </a:t>
            </a:r>
            <a:r>
              <a:rPr lang="zh-CN" altLang="en-US" sz="2665" dirty="0"/>
              <a:t>教育和科学</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04240" y="1122045"/>
            <a:ext cx="10334625" cy="4302760"/>
          </a:xfrm>
        </p:spPr>
        <p:txBody>
          <a:bodyPr>
            <a:normAutofit fontScale="90000"/>
          </a:bodyPr>
          <a:lstStyle/>
          <a:p>
            <a:pPr algn="l">
              <a:lnSpc>
                <a:spcPct val="140000"/>
              </a:lnSpc>
            </a:pPr>
            <a:r>
              <a:rPr lang="en-US" altLang="zh-CN" sz="2665"/>
              <a:t>10.</a:t>
            </a:r>
            <a:r>
              <a:rPr lang="zh-CN" altLang="en-US" sz="2665"/>
              <a:t>关于我国社会主义改革，下列表述正确的有（</a:t>
            </a:r>
            <a:r>
              <a:rPr lang="en-US" altLang="zh-CN" sz="2665"/>
              <a:t>  </a:t>
            </a:r>
            <a:r>
              <a:rPr lang="zh-CN" altLang="en-US" sz="2665"/>
              <a:t>）。</a:t>
            </a:r>
            <a:br>
              <a:rPr lang="zh-CN" altLang="en-US" sz="2665"/>
            </a:br>
            <a:r>
              <a:rPr lang="en-US" altLang="zh-CN" sz="2665"/>
              <a:t>A.</a:t>
            </a:r>
            <a:r>
              <a:rPr lang="zh-CN" altLang="en-US" sz="2665"/>
              <a:t>改革是一场深刻的社会变革，是实现中国现代化的必由之路</a:t>
            </a:r>
            <a:br>
              <a:rPr lang="zh-CN" altLang="en-US" sz="2665"/>
            </a:br>
            <a:r>
              <a:rPr lang="en-US" altLang="zh-CN" sz="2665"/>
              <a:t>B.</a:t>
            </a:r>
            <a:r>
              <a:rPr lang="zh-CN" altLang="en-US" sz="2665"/>
              <a:t>改革是从根本上改变束缚生产力发展的经济体制，促进生产力的发展，解决社会主义社会发展动力问题</a:t>
            </a:r>
            <a:br>
              <a:rPr lang="zh-CN" altLang="en-US" sz="2665"/>
            </a:br>
            <a:r>
              <a:rPr lang="en-US" altLang="zh-CN" sz="2665"/>
              <a:t>C.</a:t>
            </a:r>
            <a:r>
              <a:rPr lang="zh-CN" altLang="en-US" sz="2665"/>
              <a:t>改革的实质和目标是从根本上变革束缚我国生产力发展的经济体制，建立充满生机活力的社会主义新经济体制和其他各方面体制</a:t>
            </a:r>
            <a:br>
              <a:rPr lang="zh-CN" altLang="en-US" sz="2665"/>
            </a:br>
            <a:r>
              <a:rPr lang="en-US" altLang="zh-CN" sz="2665"/>
              <a:t>D.</a:t>
            </a:r>
            <a:r>
              <a:rPr lang="zh-CN" altLang="en-US" sz="2665"/>
              <a:t>改革是社会主义社会发展的直接动力</a:t>
            </a:r>
            <a:br>
              <a:rPr lang="zh-CN" altLang="en-US" sz="2665"/>
            </a:br>
            <a:r>
              <a:rPr lang="en-US" altLang="zh-CN" sz="2665"/>
              <a:t>E.</a:t>
            </a:r>
            <a:r>
              <a:rPr lang="zh-CN" altLang="en-US" sz="2665"/>
              <a:t>改革是社会主义制度的自我完善和发展</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BCE</a:t>
            </a:r>
            <a:r>
              <a:rPr lang="zh-CN" altLang="en-US"/>
              <a:t>）</a:t>
            </a:r>
          </a:p>
        </p:txBody>
      </p:sp>
      <p:sp>
        <p:nvSpPr>
          <p:cNvPr id="2" name="标题 1"/>
          <p:cNvSpPr>
            <a:spLocks noGrp="1"/>
          </p:cNvSpPr>
          <p:nvPr>
            <p:ph type="ctrTitle"/>
          </p:nvPr>
        </p:nvSpPr>
        <p:spPr>
          <a:xfrm>
            <a:off x="904240" y="1122045"/>
            <a:ext cx="10334625" cy="4062730"/>
          </a:xfrm>
        </p:spPr>
        <p:txBody>
          <a:bodyPr>
            <a:normAutofit/>
          </a:bodyPr>
          <a:lstStyle/>
          <a:p>
            <a:pPr algn="l">
              <a:lnSpc>
                <a:spcPct val="140000"/>
              </a:lnSpc>
            </a:pPr>
            <a:r>
              <a:rPr lang="en-US" altLang="zh-CN" sz="2665"/>
              <a:t>11.</a:t>
            </a:r>
            <a:r>
              <a:rPr lang="zh-CN" altLang="en-US" sz="2665"/>
              <a:t>判断改革和各方面工作是非得失的标准是（</a:t>
            </a:r>
            <a:r>
              <a:rPr lang="en-US" altLang="zh-CN" sz="2665"/>
              <a:t>   </a:t>
            </a:r>
            <a:r>
              <a:rPr lang="zh-CN" altLang="en-US" sz="2665"/>
              <a:t>）。</a:t>
            </a:r>
            <a:br>
              <a:rPr lang="zh-CN" altLang="en-US" sz="2665"/>
            </a:br>
            <a:r>
              <a:rPr lang="en-US" altLang="zh-CN" sz="2665"/>
              <a:t>A.</a:t>
            </a:r>
            <a:r>
              <a:rPr lang="zh-CN" altLang="en-US" sz="2665"/>
              <a:t>是否有利于全面融入全球化进程</a:t>
            </a:r>
            <a:br>
              <a:rPr lang="zh-CN" altLang="en-US" sz="2665"/>
            </a:br>
            <a:r>
              <a:rPr lang="en-US" altLang="zh-CN" sz="2665"/>
              <a:t>B.</a:t>
            </a:r>
            <a:r>
              <a:rPr lang="zh-CN" altLang="en-US" sz="2665"/>
              <a:t>是否有利于发展社会主义社会的生产力</a:t>
            </a:r>
            <a:br>
              <a:rPr lang="zh-CN" altLang="en-US" sz="2665"/>
            </a:br>
            <a:r>
              <a:rPr lang="en-US" altLang="zh-CN" sz="2665"/>
              <a:t>C.</a:t>
            </a:r>
            <a:r>
              <a:rPr lang="zh-CN" altLang="en-US" sz="2665"/>
              <a:t>是否有利于增强社会主义国家的综合国力</a:t>
            </a:r>
            <a:br>
              <a:rPr lang="zh-CN" altLang="en-US" sz="2665"/>
            </a:br>
            <a:r>
              <a:rPr lang="en-US" altLang="zh-CN" sz="2665"/>
              <a:t>D.</a:t>
            </a:r>
            <a:r>
              <a:rPr lang="zh-CN" altLang="en-US" sz="2665"/>
              <a:t>是否有利于维护世界和平、促进共同发展</a:t>
            </a:r>
            <a:br>
              <a:rPr lang="zh-CN" altLang="en-US" sz="2665"/>
            </a:br>
            <a:r>
              <a:rPr lang="en-US" altLang="zh-CN" sz="2665"/>
              <a:t>E.</a:t>
            </a:r>
            <a:r>
              <a:rPr lang="zh-CN" altLang="en-US" sz="2665"/>
              <a:t>是否有利于提高的人民生活水平</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04240" y="1122045"/>
            <a:ext cx="10334625" cy="4062730"/>
          </a:xfrm>
        </p:spPr>
        <p:txBody>
          <a:bodyPr>
            <a:normAutofit fontScale="90000"/>
          </a:bodyPr>
          <a:lstStyle/>
          <a:p>
            <a:pPr algn="l">
              <a:lnSpc>
                <a:spcPct val="140000"/>
              </a:lnSpc>
            </a:pPr>
            <a:r>
              <a:rPr lang="en-US" altLang="zh-CN" sz="2665"/>
              <a:t>12.</a:t>
            </a:r>
            <a:r>
              <a:rPr lang="zh-CN" altLang="en-US" sz="2665"/>
              <a:t>关于我国的改革开放，以下各选项表述正确的有（）。</a:t>
            </a:r>
            <a:br>
              <a:rPr lang="zh-CN" altLang="en-US" sz="2665"/>
            </a:br>
            <a:r>
              <a:rPr lang="en-US" altLang="zh-CN" sz="2665"/>
              <a:t>A.</a:t>
            </a:r>
            <a:r>
              <a:rPr lang="zh-CN" altLang="en-US" sz="2665"/>
              <a:t>改革开放是当代中国的活力源泉</a:t>
            </a:r>
            <a:br>
              <a:rPr lang="zh-CN" altLang="en-US" sz="2665"/>
            </a:br>
            <a:r>
              <a:rPr lang="en-US" altLang="zh-CN" sz="2665"/>
              <a:t>B.</a:t>
            </a:r>
            <a:r>
              <a:rPr lang="zh-CN" altLang="en-US" sz="2665"/>
              <a:t>改革开放是决定中国命运的关键一招，也是实现中华民族伟大复兴的关键一招</a:t>
            </a:r>
            <a:br>
              <a:rPr lang="zh-CN" altLang="en-US" sz="2665"/>
            </a:br>
            <a:r>
              <a:rPr lang="en-US" altLang="zh-CN" sz="2665"/>
              <a:t>C.</a:t>
            </a:r>
            <a:r>
              <a:rPr lang="zh-CN" altLang="en-US" sz="2665"/>
              <a:t>改革开放是当代中国最鲜明的特征</a:t>
            </a:r>
            <a:br>
              <a:rPr lang="zh-CN" altLang="en-US" sz="2665"/>
            </a:br>
            <a:r>
              <a:rPr lang="en-US" altLang="zh-CN" sz="2665"/>
              <a:t>D.</a:t>
            </a:r>
            <a:r>
              <a:rPr lang="zh-CN" altLang="en-US" sz="2665"/>
              <a:t>对外开放是建设中国特色社会主义的一项基本国策</a:t>
            </a:r>
            <a:br>
              <a:rPr lang="zh-CN" altLang="en-US" sz="2665"/>
            </a:br>
            <a:r>
              <a:rPr lang="en-US" altLang="zh-CN" sz="2665"/>
              <a:t>E.</a:t>
            </a:r>
            <a:r>
              <a:rPr lang="zh-CN" altLang="en-US" sz="2665"/>
              <a:t>改革开放只有进行时，没有完成时</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04240" y="1122045"/>
            <a:ext cx="10334625" cy="4062730"/>
          </a:xfrm>
        </p:spPr>
        <p:txBody>
          <a:bodyPr>
            <a:normAutofit fontScale="90000"/>
          </a:bodyPr>
          <a:lstStyle/>
          <a:p>
            <a:pPr algn="l">
              <a:lnSpc>
                <a:spcPct val="140000"/>
              </a:lnSpc>
            </a:pPr>
            <a:r>
              <a:rPr lang="en-US" altLang="zh-CN" sz="2665"/>
              <a:t>13.“</a:t>
            </a:r>
            <a:r>
              <a:rPr lang="zh-CN" altLang="en-US" sz="2665"/>
              <a:t>一个中心、两个基本点</a:t>
            </a:r>
            <a:r>
              <a:rPr lang="en-US" altLang="zh-CN" sz="2665"/>
              <a:t>”</a:t>
            </a:r>
            <a:r>
              <a:rPr lang="zh-CN" altLang="en-US" sz="2665"/>
              <a:t>是党在社会主义初级阶段基本路线的简明概括，以下相关表述正确的有（</a:t>
            </a:r>
            <a:r>
              <a:rPr lang="en-US" altLang="zh-CN" sz="2665"/>
              <a:t>   </a:t>
            </a:r>
            <a:r>
              <a:rPr lang="zh-CN" altLang="en-US" sz="2665"/>
              <a:t>）。</a:t>
            </a:r>
            <a:br>
              <a:rPr lang="zh-CN" altLang="en-US" sz="2665"/>
            </a:br>
            <a:r>
              <a:rPr lang="en-US" altLang="zh-CN" sz="2665"/>
              <a:t>A.“</a:t>
            </a:r>
            <a:r>
              <a:rPr lang="zh-CN" altLang="en-US" sz="2665"/>
              <a:t>一个中心</a:t>
            </a:r>
            <a:r>
              <a:rPr lang="en-US" altLang="zh-CN" sz="2665"/>
              <a:t>”</a:t>
            </a:r>
            <a:r>
              <a:rPr lang="zh-CN" altLang="en-US" sz="2665"/>
              <a:t>是以经济建设为中心，回答了社会主义的根本任务问题</a:t>
            </a:r>
            <a:br>
              <a:rPr lang="zh-CN" altLang="en-US" sz="2665"/>
            </a:br>
            <a:r>
              <a:rPr lang="en-US" altLang="zh-CN" sz="2665"/>
              <a:t>B.“</a:t>
            </a:r>
            <a:r>
              <a:rPr lang="zh-CN" altLang="en-US" sz="2665"/>
              <a:t>两个基本点</a:t>
            </a:r>
            <a:r>
              <a:rPr lang="en-US" altLang="zh-CN" sz="2665"/>
              <a:t>”</a:t>
            </a:r>
            <a:r>
              <a:rPr lang="zh-CN" altLang="en-US" sz="2665"/>
              <a:t>是坚持四项基本原则、坚持改革改革开放</a:t>
            </a:r>
            <a:br>
              <a:rPr lang="zh-CN" altLang="en-US" sz="2665"/>
            </a:br>
            <a:r>
              <a:rPr lang="en-US" altLang="zh-CN" sz="2665"/>
              <a:t>C.“</a:t>
            </a:r>
            <a:r>
              <a:rPr lang="zh-CN" altLang="en-US" sz="2665"/>
              <a:t>坚持四项基本原则</a:t>
            </a:r>
            <a:r>
              <a:rPr lang="en-US" altLang="zh-CN" sz="2665"/>
              <a:t>”</a:t>
            </a:r>
            <a:r>
              <a:rPr lang="zh-CN" altLang="en-US" sz="2665"/>
              <a:t>回答了解放和发展生产力的政治保证问题</a:t>
            </a:r>
            <a:br>
              <a:rPr lang="zh-CN" altLang="en-US" sz="2665"/>
            </a:br>
            <a:r>
              <a:rPr lang="en-US" altLang="zh-CN" sz="2665"/>
              <a:t>D.“</a:t>
            </a:r>
            <a:r>
              <a:rPr lang="zh-CN" altLang="en-US" sz="2665"/>
              <a:t>坚持改革开放</a:t>
            </a:r>
            <a:r>
              <a:rPr lang="en-US" altLang="zh-CN" sz="2665"/>
              <a:t>”</a:t>
            </a:r>
            <a:r>
              <a:rPr lang="zh-CN" altLang="en-US" sz="2665"/>
              <a:t>回答了社会主义的发展动力和外部条件问题</a:t>
            </a:r>
            <a:br>
              <a:rPr lang="zh-CN" altLang="en-US" sz="2665"/>
            </a:br>
            <a:r>
              <a:rPr lang="en-US" altLang="zh-CN" sz="2665"/>
              <a:t>E.</a:t>
            </a:r>
            <a:r>
              <a:rPr lang="zh-CN" altLang="en-US" sz="2665"/>
              <a:t>四项基本原则是立国之本，是我们党和国家生存发展的政治基石；改革开放是强国之路，是我们党和国家发展进步的活力源泉</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ABCE</a:t>
            </a:r>
            <a:r>
              <a:rPr lang="zh-CN" altLang="en-US"/>
              <a:t>）</a:t>
            </a:r>
          </a:p>
        </p:txBody>
      </p:sp>
      <p:sp>
        <p:nvSpPr>
          <p:cNvPr id="2" name="标题 1"/>
          <p:cNvSpPr>
            <a:spLocks noGrp="1"/>
          </p:cNvSpPr>
          <p:nvPr>
            <p:ph type="ctrTitle"/>
          </p:nvPr>
        </p:nvSpPr>
        <p:spPr>
          <a:xfrm>
            <a:off x="904240" y="1122045"/>
            <a:ext cx="10334625" cy="4062730"/>
          </a:xfrm>
        </p:spPr>
        <p:txBody>
          <a:bodyPr>
            <a:normAutofit fontScale="90000"/>
          </a:bodyPr>
          <a:lstStyle/>
          <a:p>
            <a:pPr algn="l">
              <a:lnSpc>
                <a:spcPct val="140000"/>
              </a:lnSpc>
            </a:pPr>
            <a:r>
              <a:rPr lang="en-US" altLang="zh-CN" sz="2665"/>
              <a:t>14.1979</a:t>
            </a:r>
            <a:r>
              <a:rPr lang="zh-CN" altLang="en-US" sz="2665"/>
              <a:t>年</a:t>
            </a:r>
            <a:r>
              <a:rPr lang="en-US" altLang="zh-CN" sz="2665"/>
              <a:t>3</a:t>
            </a:r>
            <a:r>
              <a:rPr lang="zh-CN" altLang="en-US" sz="2665"/>
              <a:t>月，邓小平在党的理论工作务虚会上发表《坚持四项基本原则》的讲话。四项基本原则包括（</a:t>
            </a:r>
            <a:r>
              <a:rPr lang="en-US" altLang="zh-CN" sz="2665"/>
              <a:t>  </a:t>
            </a:r>
            <a:r>
              <a:rPr lang="zh-CN" altLang="en-US" sz="2665"/>
              <a:t>）。</a:t>
            </a:r>
            <a:br>
              <a:rPr lang="zh-CN" altLang="en-US" sz="2665"/>
            </a:br>
            <a:r>
              <a:rPr lang="en-US" altLang="zh-CN" sz="2665"/>
              <a:t>A.</a:t>
            </a:r>
            <a:r>
              <a:rPr lang="zh-CN" altLang="en-US" sz="2665"/>
              <a:t>坚持社会主义道路</a:t>
            </a:r>
            <a:br>
              <a:rPr lang="zh-CN" altLang="en-US" sz="2665"/>
            </a:br>
            <a:r>
              <a:rPr lang="en-US" altLang="zh-CN" sz="2665"/>
              <a:t>B.</a:t>
            </a:r>
            <a:r>
              <a:rPr lang="zh-CN" altLang="en-US" sz="2665"/>
              <a:t>坚持人民民主专政</a:t>
            </a:r>
            <a:br>
              <a:rPr lang="zh-CN" altLang="en-US" sz="2665"/>
            </a:br>
            <a:r>
              <a:rPr lang="en-US" altLang="zh-CN" sz="2665"/>
              <a:t>C.</a:t>
            </a:r>
            <a:r>
              <a:rPr lang="zh-CN" altLang="en-US" sz="2665"/>
              <a:t>坚持共产党的领导</a:t>
            </a:r>
            <a:br>
              <a:rPr lang="zh-CN" altLang="en-US" sz="2665"/>
            </a:br>
            <a:r>
              <a:rPr lang="en-US" altLang="zh-CN" sz="2665"/>
              <a:t>D.</a:t>
            </a:r>
            <a:r>
              <a:rPr lang="zh-CN" altLang="en-US" sz="2665"/>
              <a:t>坚持改革开放</a:t>
            </a:r>
            <a:br>
              <a:rPr lang="zh-CN" altLang="en-US" sz="2665"/>
            </a:br>
            <a:r>
              <a:rPr lang="en-US" altLang="zh-CN" sz="2665"/>
              <a:t>E.</a:t>
            </a:r>
            <a:r>
              <a:rPr lang="zh-CN" altLang="en-US" sz="2665"/>
              <a:t>坚持马列主义毛泽东思想</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04240" y="1122045"/>
            <a:ext cx="10334625" cy="4062730"/>
          </a:xfrm>
        </p:spPr>
        <p:txBody>
          <a:bodyPr>
            <a:normAutofit fontScale="90000"/>
          </a:bodyPr>
          <a:lstStyle/>
          <a:p>
            <a:pPr algn="l">
              <a:lnSpc>
                <a:spcPct val="140000"/>
              </a:lnSpc>
            </a:pPr>
            <a:r>
              <a:rPr lang="en-US" altLang="zh-CN" sz="2665"/>
              <a:t>15.</a:t>
            </a:r>
            <a:r>
              <a:rPr lang="zh-CN" altLang="en-US" sz="2665"/>
              <a:t>关于邓小平的社会主义市场经济理论的内涵，以下各选项表述正确的有（</a:t>
            </a:r>
            <a:r>
              <a:rPr lang="en-US" altLang="zh-CN" sz="2665"/>
              <a:t>   </a:t>
            </a:r>
            <a:r>
              <a:rPr lang="zh-CN" altLang="en-US" sz="2665"/>
              <a:t>）。</a:t>
            </a:r>
            <a:br>
              <a:rPr lang="zh-CN" altLang="en-US" sz="2665"/>
            </a:br>
            <a:r>
              <a:rPr lang="en-US" altLang="zh-CN" sz="2665"/>
              <a:t>A.</a:t>
            </a:r>
            <a:r>
              <a:rPr lang="zh-CN" altLang="en-US" sz="2665"/>
              <a:t>计划经济和市场经济不是划分社会制度的标志</a:t>
            </a:r>
            <a:br>
              <a:rPr lang="zh-CN" altLang="en-US" sz="2665"/>
            </a:br>
            <a:r>
              <a:rPr lang="en-US" altLang="zh-CN" sz="2665"/>
              <a:t>B.</a:t>
            </a:r>
            <a:r>
              <a:rPr lang="zh-CN" altLang="en-US" sz="2665"/>
              <a:t>计划经济不等于社会主义，市场经济也不等于资本主义</a:t>
            </a:r>
            <a:br>
              <a:rPr lang="zh-CN" altLang="en-US" sz="2665"/>
            </a:br>
            <a:r>
              <a:rPr lang="en-US" altLang="zh-CN" sz="2665"/>
              <a:t>C.</a:t>
            </a:r>
            <a:r>
              <a:rPr lang="zh-CN" altLang="en-US" sz="2665"/>
              <a:t>计划和市场都是经济手段</a:t>
            </a:r>
            <a:br>
              <a:rPr lang="zh-CN" altLang="en-US" sz="2665"/>
            </a:br>
            <a:r>
              <a:rPr lang="en-US" altLang="zh-CN" sz="2665"/>
              <a:t>D.</a:t>
            </a:r>
            <a:r>
              <a:rPr lang="zh-CN" altLang="en-US" sz="2665"/>
              <a:t>社会主义实行市场经济是要把计划和市场两种经济手段的优势结合起来</a:t>
            </a:r>
            <a:br>
              <a:rPr lang="zh-CN" altLang="en-US" sz="2665"/>
            </a:br>
            <a:r>
              <a:rPr lang="en-US" altLang="zh-CN" sz="2665"/>
              <a:t>E.</a:t>
            </a:r>
            <a:r>
              <a:rPr lang="zh-CN" altLang="en-US" sz="2665"/>
              <a:t>坚持社会主义制度与市场经济的结合，是社会主义经济的特色和优势所在</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982970"/>
            <a:ext cx="9144000" cy="79629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528955" y="1122045"/>
            <a:ext cx="11202035" cy="4721225"/>
          </a:xfrm>
        </p:spPr>
        <p:txBody>
          <a:bodyPr>
            <a:normAutofit fontScale="90000"/>
          </a:bodyPr>
          <a:lstStyle/>
          <a:p>
            <a:pPr algn="l">
              <a:lnSpc>
                <a:spcPct val="140000"/>
              </a:lnSpc>
            </a:pPr>
            <a:r>
              <a:rPr lang="en-US" altLang="zh-CN" sz="2665"/>
              <a:t>16.“</a:t>
            </a:r>
            <a:r>
              <a:rPr lang="zh-CN" altLang="en-US" sz="2665"/>
              <a:t>一国两制</a:t>
            </a:r>
            <a:r>
              <a:rPr lang="en-US" altLang="zh-CN" sz="2665"/>
              <a:t>”</a:t>
            </a:r>
            <a:r>
              <a:rPr lang="zh-CN" altLang="en-US" sz="2665"/>
              <a:t>作为实现祖国和平统一的具有重大战略意义的构想，其基本内容有（</a:t>
            </a:r>
            <a:r>
              <a:rPr lang="en-US" altLang="zh-CN" sz="2665"/>
              <a:t>   </a:t>
            </a:r>
            <a:r>
              <a:rPr lang="zh-CN" altLang="en-US" sz="2665"/>
              <a:t>）。</a:t>
            </a:r>
            <a:br>
              <a:rPr lang="zh-CN" altLang="en-US" sz="2665"/>
            </a:br>
            <a:r>
              <a:rPr lang="en-US" altLang="zh-CN" sz="2665"/>
              <a:t>A.</a:t>
            </a:r>
            <a:r>
              <a:rPr lang="zh-CN" altLang="en-US" sz="2665"/>
              <a:t>坚持一个中国，是</a:t>
            </a:r>
            <a:r>
              <a:rPr lang="en-US" altLang="zh-CN" sz="2665"/>
              <a:t>“</a:t>
            </a:r>
            <a:r>
              <a:rPr lang="zh-CN" altLang="en-US" sz="2665"/>
              <a:t>一国两制</a:t>
            </a:r>
            <a:r>
              <a:rPr lang="en-US" altLang="zh-CN" sz="2665"/>
              <a:t>”</a:t>
            </a:r>
            <a:r>
              <a:rPr lang="zh-CN" altLang="en-US" sz="2665"/>
              <a:t>的核心，是发展两岸关系和实现和平统一的基础</a:t>
            </a:r>
            <a:br>
              <a:rPr lang="zh-CN" altLang="en-US" sz="2665"/>
            </a:br>
            <a:r>
              <a:rPr lang="en-US" altLang="zh-CN" sz="2665"/>
              <a:t>B.</a:t>
            </a:r>
            <a:r>
              <a:rPr lang="zh-CN" altLang="en-US" sz="2665"/>
              <a:t>两制并存，在祖国统一的前提下，国家的主体部分实行社会主义制度，同时在香港、澳门、台湾保持原有的社会制度和生活方式长期不变</a:t>
            </a:r>
            <a:br>
              <a:rPr lang="zh-CN" altLang="en-US" sz="2665"/>
            </a:br>
            <a:r>
              <a:rPr lang="en-US" altLang="zh-CN" sz="2665"/>
              <a:t>C.</a:t>
            </a:r>
            <a:r>
              <a:rPr lang="zh-CN" altLang="en-US" sz="2665"/>
              <a:t>高度自治，祖国统一后，香港、澳门、台湾作为中央政府全面管辖下的特别行政区，享有高度自治权</a:t>
            </a:r>
            <a:br>
              <a:rPr lang="zh-CN" altLang="en-US" sz="2665"/>
            </a:br>
            <a:r>
              <a:rPr lang="en-US" altLang="zh-CN" sz="2665"/>
              <a:t>D.</a:t>
            </a:r>
            <a:r>
              <a:rPr lang="zh-CN" altLang="en-US" sz="2665"/>
              <a:t>尽最大努力争取和平统一，但不承诺放弃使用武力</a:t>
            </a:r>
            <a:br>
              <a:rPr lang="zh-CN" altLang="en-US" sz="2665"/>
            </a:br>
            <a:r>
              <a:rPr lang="en-US" altLang="zh-CN" sz="2665"/>
              <a:t>E.</a:t>
            </a:r>
            <a:r>
              <a:rPr lang="zh-CN" altLang="en-US" sz="2665"/>
              <a:t>解决台湾问题，实现祖国完全统一，寄希望于台湾人民</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86120"/>
            <a:ext cx="9144000" cy="796290"/>
          </a:xfrm>
        </p:spPr>
        <p:txBody>
          <a:bodyPr/>
          <a:lstStyle/>
          <a:p>
            <a:r>
              <a:rPr lang="zh-CN" altLang="en-US"/>
              <a:t>答案：（</a:t>
            </a:r>
            <a:r>
              <a:rPr lang="en-US" altLang="zh-CN">
                <a:sym typeface="+mn-ea"/>
              </a:rPr>
              <a:t>ABE</a:t>
            </a:r>
            <a:r>
              <a:rPr lang="zh-CN" altLang="en-US"/>
              <a:t>）</a:t>
            </a:r>
          </a:p>
        </p:txBody>
      </p:sp>
      <p:sp>
        <p:nvSpPr>
          <p:cNvPr id="2" name="标题 1"/>
          <p:cNvSpPr>
            <a:spLocks noGrp="1"/>
          </p:cNvSpPr>
          <p:nvPr>
            <p:ph type="ctrTitle"/>
          </p:nvPr>
        </p:nvSpPr>
        <p:spPr>
          <a:xfrm>
            <a:off x="904240" y="1122045"/>
            <a:ext cx="10334625" cy="4062730"/>
          </a:xfrm>
        </p:spPr>
        <p:txBody>
          <a:bodyPr>
            <a:normAutofit/>
          </a:bodyPr>
          <a:lstStyle/>
          <a:p>
            <a:pPr algn="l">
              <a:lnSpc>
                <a:spcPct val="140000"/>
              </a:lnSpc>
            </a:pPr>
            <a:r>
              <a:rPr lang="en-US" altLang="zh-CN" sz="2665"/>
              <a:t>17.</a:t>
            </a:r>
            <a:r>
              <a:rPr lang="zh-CN" altLang="en-US" sz="2665"/>
              <a:t>关于邓小平理论的历史地位，以下各选项表述正确的有（</a:t>
            </a:r>
            <a:r>
              <a:rPr lang="en-US" altLang="zh-CN" sz="2665"/>
              <a:t>  </a:t>
            </a:r>
            <a:r>
              <a:rPr lang="zh-CN" altLang="en-US" sz="2665"/>
              <a:t>）。</a:t>
            </a:r>
            <a:br>
              <a:rPr lang="zh-CN" altLang="en-US" sz="2665"/>
            </a:br>
            <a:r>
              <a:rPr lang="en-US" altLang="zh-CN" sz="2665"/>
              <a:t>A.</a:t>
            </a:r>
            <a:r>
              <a:rPr lang="zh-CN" altLang="en-US" sz="2665"/>
              <a:t>马克思列宁主义、毛泽东思想的继承和发展</a:t>
            </a:r>
            <a:br>
              <a:rPr lang="zh-CN" altLang="en-US" sz="2665"/>
            </a:br>
            <a:r>
              <a:rPr lang="en-US" altLang="zh-CN" sz="2665"/>
              <a:t>B.</a:t>
            </a:r>
            <a:r>
              <a:rPr lang="zh-CN" altLang="en-US" sz="2665"/>
              <a:t>中国特色社会主义理论体系的开篇之作</a:t>
            </a:r>
            <a:br>
              <a:rPr lang="zh-CN" altLang="en-US" sz="2665"/>
            </a:br>
            <a:r>
              <a:rPr lang="en-US" altLang="zh-CN" sz="2665"/>
              <a:t>C.</a:t>
            </a:r>
            <a:r>
              <a:rPr lang="zh-CN" altLang="en-US" sz="2665"/>
              <a:t>中国特色社会主义理论体系的跨世纪发展</a:t>
            </a:r>
            <a:br>
              <a:rPr lang="zh-CN" altLang="en-US" sz="2665"/>
            </a:br>
            <a:r>
              <a:rPr lang="en-US" altLang="zh-CN" sz="2665"/>
              <a:t>D.</a:t>
            </a:r>
            <a:r>
              <a:rPr lang="zh-CN" altLang="en-US" sz="2665"/>
              <a:t>中国特色社会主义理论体系在新时代的新篇章</a:t>
            </a:r>
            <a:br>
              <a:rPr lang="zh-CN" altLang="en-US" sz="2665"/>
            </a:br>
            <a:r>
              <a:rPr lang="en-US" altLang="zh-CN" sz="2665"/>
              <a:t>E.</a:t>
            </a:r>
            <a:r>
              <a:rPr lang="zh-CN" altLang="en-US" sz="2665"/>
              <a:t>改革开放和社会主义现代化建设的科学指南</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2657</Words>
  <Application>Microsoft Office PowerPoint</Application>
  <PresentationFormat>宽屏</PresentationFormat>
  <Paragraphs>90</Paragraphs>
  <Slides>30</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30</vt:i4>
      </vt:variant>
    </vt:vector>
  </HeadingPairs>
  <TitlesOfParts>
    <vt:vector size="33" baseType="lpstr">
      <vt:lpstr>Arial</vt:lpstr>
      <vt:lpstr>Calibri</vt:lpstr>
      <vt:lpstr>WPS</vt:lpstr>
      <vt:lpstr>1.邓小平理论首要的基本的理论问题是（  ） A.什么是中华民族的复兴，如何实现中华民族的复兴 B.什么是社会主义，怎样建设社会主义 C.什么是社会主义强国，如何建设社会主义强国 D.什么是全体人民共同富裕，如何实现全体人民共同富裕</vt:lpstr>
      <vt:lpstr>2.搞清楚“什么是社会主义，怎样建设社会主义”，关键是要在坚持社会主义基本制度的基础上进一步认清（  ）。 A.中国具体国情 B.中国近现代历史 C.社会主义的本质 D.社会主义的基本路线</vt:lpstr>
      <vt:lpstr>3.邓小平对社会主义本质的概括，既包括了社会主义社会的生产力问题，又包括了（  ），是一个有机的整体。 A.社会主义社会的生产关系问题 B.社会主义社会的劳动力问题 C.社会主义社会的运行机制问题 D.社会主义社会的和谐问题</vt:lpstr>
      <vt:lpstr>4.邓小平对社会主义本质的概括，既包括了（  ），又包括了社会主义社会的生产关系问题，是一个有机的整体。 A.社会主义社会的和谐问题 B.社会主义社会的劳动力问题 C.社会主义社会的运行机制问题 D.社会主义社会的生产力问题</vt:lpstr>
      <vt:lpstr>5.邓小平理论的精髓是（  ）。 A.解放思想，实事求是 B.群众路线，独立自主 C.党的建设，统一战线 D.群众路线，统一战线</vt:lpstr>
      <vt:lpstr>6.社会主义初级阶段理论基于对中国国情的准确把握，揭示了当代中国的历史方位，为建设中国特色社会主义提供了（   ）。 A.根本方向 B.总路线 C.总依据 D.具体目标</vt:lpstr>
      <vt:lpstr>7.党的基本路线在改革开放实践中不断充实和完善。党的十七大对基本路线的充实和完善体现在（   ） A.把“和谐”与“富强、民主、文明”一起写入了基本路线 B.把“公平”与“富强、民主、文明”一起写入了基本路线 C.把“正义”与“富强、民主、文明”一起写入了基本路线 D.把“法治”与“富强、民主、文明”一起写入了基本路线</vt:lpstr>
      <vt:lpstr>8.党的十三大从我国社会主义初级阶段的基本国情出发，在科学认识我国社会主要矛盾的基础上，确定了党在社会主义初级阶段的基本路线，高度概括了党在社会主义初级阶段的奋斗目标、领导力量和依靠力量、基本途径和根本保证以及实现这一目标的基本方针。指出，实现奋斗的基本途径是（  ）。 A. 以经济建设为中心 B. 以经济建设为中心，坚持四项基本原则，坚持改革开放 C. 领导和团结全国各族人民，自力更生，艰苦创业 D. 坚持四项基本原则，坚持改革开放</vt:lpstr>
      <vt:lpstr>9.党的基本路线在改革开放实践中不断充实和完善。党的十九大对基本路线的充实和完善体现在（   ） A.提出“为把我国建设成为富强民主文明和谐美丽的社会主义现代化国家而奋斗”，进一步拓展了党的基本路线 B.提出“为把我国建设成为富强民主文明和谐美丽的社会主义现代化强国而奋斗”，进一步拓展了党的基本路线 C.提出“为把我国建设成为富强民主文明和谐的社会主义现代化国家而奋斗”，进一步拓展了党的基本路线 D.提出“为把我国建设成为富强民主文明和谐的社会主义现代化强国而奋斗”，进一步拓展了党的基本路线</vt:lpstr>
      <vt:lpstr>10.党的十一届三中全会以后，党对我国社会主义建设经验教训和社会主要矛盾进行科学分析，强调社会主义的根本任务是（  ） A.阶级斗争 B.消灭私有制 C.发展生产力 D.改革开放</vt:lpstr>
      <vt:lpstr>11.以下各选项，对我国社会主义改革的表述正确的是（ ） A.改革是从根本上改变束缚生产力发展的经济体制，促进生产力的发展，解决社会主义社会发展方向问题 B.改革是从根本上改变束缚生产力发展的经济体制，促进生产力的发展，解决社会主义社会发展动力问题 C.改革是为应对内外压力所采取的权宜之计 D.改革是一个阶级推翻另一个阶级的革命</vt:lpstr>
      <vt:lpstr>12.明确把建立社会主义市场经济体制确立为我国经济体制改革的目标，是在党的（  ）。 A.十一届三中全会 B.十二大 C.十三大 D.十四大</vt:lpstr>
      <vt:lpstr>13.改革开放以来，党的全部理论和实践的主题是（  ）。 A. 解放和发展生产力 B. 逐步实现共同富裕 C. 中国特色社会主义 D. 实现社会主义主义现代化</vt:lpstr>
      <vt:lpstr>1.1992年初，邓小平在南方谈话中对社会主义本质作出了总结性的理论概括，指出，社会主义的本质就是（）。 A. 解放生产力 B. 发展生产力 C. 消灭剥削 D. 消除两极分化 E. 最终达到共同富裕</vt:lpstr>
      <vt:lpstr>2.社会主义本质理论突出强调“消灭剥削，消除两极分化，最终达到共同富裕”，从（   ）角度认识和把握社会主义本质。 A.生产力 B.社会公平 C.生产关系 D.社会和谐 E.发展目标</vt:lpstr>
      <vt:lpstr>3.1992年初，邓小平在南方谈话中对社会主义本质作岀了总结性的理论概括，他指岀：“社会主义的本质，是解放生产力，发展生产力，消灭剥削，消除两极分化，最终达到共同富裕。”以下各选项中，对社会主义本质理解正确的有（ ）。 A. 突岀强调解放和发展生产力在社会主义社会发展中的重要地位 B. 从生产关系和发展目标角度认识和把握社会主义本质 C. 消灭剥削，消除两极分化只有在坚持公有制和按劳分配为主体的条件下才能实现 D. 现共同富裕要以坚持公有制为根本保证 E. 坚持公有制为主体，要以消灭剥削、消除两极分化为前提条件</vt:lpstr>
      <vt:lpstr>4.改革开放和社会主义现代化建设新时期，党的思想路线的重新确立，解决了一系列重大理论和实践问题，主要包括（   ）。 A.推动和保证了拨乱反正的进行 B.破除了僵化的社会主义模式观念，坚持走自己的路 C.坚持解放思想，实事求是，一切从社会主义初级阶段的实际出发 D.坚持以“三个有利于”标准作为检验一切工作是非得失的根本标准 E.破除了改革开放进程中离开发展生产力抽象谈论姓“社”姓“资”的思维定势</vt:lpstr>
      <vt:lpstr>5.解放思想通常包括以下几种情况（ ）。 A.对原先的认识进行再认识 B.对原先认识中那些正确部分的坚持 C.对原先认识中那些错误部分的纠正 D.在研究新情况、解决新问题、总结新经验的基础上，形成新的正确认识 E.全盘否定过去的一切</vt:lpstr>
      <vt:lpstr>6.党的十三大系统地阐述了社会主义初级阶段的科学内涵。以下各选项中，对社会主义初级阶段的内涵表述正确的有（   ）。 A.我国社会已经是社会主义社会，阐明了初级阶段的社会性质 B.我们必须坚持社会主义而不能离开社会主义 C.我国的社会主义社会还处在初级阶段，阐明了国社会主义社会的发展程度 D.制定路线方针政策必须从社会主义初级阶段的实际岀发，而不能超越这个阶段 E.是任何社会主义国家都不可避免要经历社会主义的初级阶段</vt:lpstr>
      <vt:lpstr>7.确定社会主义的根本任务是发展生产力，基于以下依据（   ）。 A.生产力是社会发展的最根本的决定性因素 B.通过生产力发展加速生产关系的变革 C.党对我国社会主义建设经验教训和社会主要矛盾的科学分析 D.通过生产力发展加速体制的变革 E.中国解决所有问题的关键是要靠自己的发展</vt:lpstr>
      <vt:lpstr>8.关于邓小平提出的“三步走”的发展战略，以下各选项表述正确的有（ ）。 A.1980年至1990年，实现国民生产总值翻一番，解决人民温饱 B.1990年至2000年，国民生产总值再增长一倍，人民生活达到小康 C.到21世纪中叶，人民生活比较富裕，基本实现现代化 D.到建党100年，全面建成小康社会 E.到建国100年，建成社会主义现代化强国</vt:lpstr>
      <vt:lpstr>9.为了更好地实现“三步走”的现代化发展战略，邓小平提出了以重点带动全局的思想。1982年9月，他提出经济社会发展战略的战略重点是（ ）。 A. 重工业 B. 农业 C. 农业和轻工业 D. 能源和交通 E. 教育和科学</vt:lpstr>
      <vt:lpstr>10.关于我国社会主义改革，下列表述正确的有（  ）。 A.改革是一场深刻的社会变革，是实现中国现代化的必由之路 B.改革是从根本上改变束缚生产力发展的经济体制，促进生产力的发展，解决社会主义社会发展动力问题 C.改革的实质和目标是从根本上变革束缚我国生产力发展的经济体制，建立充满生机活力的社会主义新经济体制和其他各方面体制 D.改革是社会主义社会发展的直接动力 E.改革是社会主义制度的自我完善和发展</vt:lpstr>
      <vt:lpstr>11.判断改革和各方面工作是非得失的标准是（   ）。 A.是否有利于全面融入全球化进程 B.是否有利于发展社会主义社会的生产力 C.是否有利于增强社会主义国家的综合国力 D.是否有利于维护世界和平、促进共同发展 E.是否有利于提高的人民生活水平</vt:lpstr>
      <vt:lpstr>12.关于我国的改革开放，以下各选项表述正确的有（）。 A.改革开放是当代中国的活力源泉 B.改革开放是决定中国命运的关键一招，也是实现中华民族伟大复兴的关键一招 C.改革开放是当代中国最鲜明的特征 D.对外开放是建设中国特色社会主义的一项基本国策 E.改革开放只有进行时，没有完成时</vt:lpstr>
      <vt:lpstr>13.“一个中心、两个基本点”是党在社会主义初级阶段基本路线的简明概括，以下相关表述正确的有（   ）。 A.“一个中心”是以经济建设为中心，回答了社会主义的根本任务问题 B.“两个基本点”是坚持四项基本原则、坚持改革改革开放 C.“坚持四项基本原则”回答了解放和发展生产力的政治保证问题 D.“坚持改革开放”回答了社会主义的发展动力和外部条件问题 E.四项基本原则是立国之本，是我们党和国家生存发展的政治基石；改革开放是强国之路，是我们党和国家发展进步的活力源泉</vt:lpstr>
      <vt:lpstr>14.1979年3月，邓小平在党的理论工作务虚会上发表《坚持四项基本原则》的讲话。四项基本原则包括（  ）。 A.坚持社会主义道路 B.坚持人民民主专政 C.坚持共产党的领导 D.坚持改革开放 E.坚持马列主义毛泽东思想</vt:lpstr>
      <vt:lpstr>15.关于邓小平的社会主义市场经济理论的内涵，以下各选项表述正确的有（   ）。 A.计划经济和市场经济不是划分社会制度的标志 B.计划经济不等于社会主义，市场经济也不等于资本主义 C.计划和市场都是经济手段 D.社会主义实行市场经济是要把计划和市场两种经济手段的优势结合起来 E.坚持社会主义制度与市场经济的结合，是社会主义经济的特色和优势所在</vt:lpstr>
      <vt:lpstr>16.“一国两制”作为实现祖国和平统一的具有重大战略意义的构想，其基本内容有（   ）。 A.坚持一个中国，是“一国两制”的核心，是发展两岸关系和实现和平统一的基础 B.两制并存，在祖国统一的前提下，国家的主体部分实行社会主义制度，同时在香港、澳门、台湾保持原有的社会制度和生活方式长期不变 C.高度自治，祖国统一后，香港、澳门、台湾作为中央政府全面管辖下的特别行政区，享有高度自治权 D.尽最大努力争取和平统一，但不承诺放弃使用武力 E.解决台湾问题，实现祖国完全统一，寄希望于台湾人民</vt:lpstr>
      <vt:lpstr>17.关于邓小平理论的历史地位，以下各选项表述正确的有（  ）。 A.马克思列宁主义、毛泽东思想的继承和发展 B.中国特色社会主义理论体系的开篇之作 C.中国特色社会主义理论体系的跨世纪发展 D.中国特色社会主义理论体系在新时代的新篇章 E.改革开放和社会主义现代化建设的科学指南</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杨 欣翰</cp:lastModifiedBy>
  <cp:revision>16</cp:revision>
  <dcterms:created xsi:type="dcterms:W3CDTF">2023-08-09T12:44:00Z</dcterms:created>
  <dcterms:modified xsi:type="dcterms:W3CDTF">2026-06-26T14:40:28Z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0FFB374EF87741258E9EC42A4DEF22FC_13</vt:lpwstr>
  </property>
</Properties>
</file>