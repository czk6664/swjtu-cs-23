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5"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1" r:id="rId36"/>
    <p:sldId id="292" r:id="rId37"/>
    <p:sldId id="295"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02" d="100"/>
          <a:sy n="102" d="100"/>
        </p:scale>
        <p:origin x="88" y="184"/>
      </p:cViewPr>
      <p:guideLst>
        <p:guide orient="horz" pos="2160"/>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1140460"/>
            <a:ext cx="10334625" cy="3160395"/>
          </a:xfrm>
        </p:spPr>
        <p:txBody>
          <a:bodyPr>
            <a:normAutofit/>
          </a:bodyPr>
          <a:lstStyle/>
          <a:p>
            <a:pPr algn="l">
              <a:lnSpc>
                <a:spcPct val="140000"/>
              </a:lnSpc>
            </a:pPr>
            <a:r>
              <a:rPr lang="en-US" altLang="zh-CN" sz="2665"/>
              <a:t>      1.</a:t>
            </a:r>
            <a:r>
              <a:rPr lang="zh-CN" altLang="en-US" sz="2665"/>
              <a:t>把邓小平理论同马克思列宁主义、毛泽东思想一起，确立为党的指导思想并写入党章，是在哪一次会议上？（</a:t>
            </a:r>
            <a:r>
              <a:rPr lang="en-US" altLang="zh-CN" sz="2665"/>
              <a:t>  </a:t>
            </a:r>
            <a:r>
              <a:rPr lang="zh-CN" altLang="en-US" sz="2665"/>
              <a:t>）</a:t>
            </a:r>
            <a:br>
              <a:rPr lang="zh-CN" altLang="en-US" sz="2665"/>
            </a:br>
            <a:r>
              <a:rPr lang="en-US" altLang="zh-CN" sz="2665"/>
              <a:t>       A.</a:t>
            </a:r>
            <a:r>
              <a:rPr lang="zh-CN" altLang="en-US" sz="2665"/>
              <a:t>党的十二大</a:t>
            </a:r>
            <a:r>
              <a:rPr lang="en-US" altLang="zh-CN" sz="2665"/>
              <a:t>	       B.</a:t>
            </a:r>
            <a:r>
              <a:rPr lang="zh-CN" altLang="en-US" sz="2665"/>
              <a:t>党的十三大</a:t>
            </a:r>
            <a:r>
              <a:rPr lang="en-US" altLang="zh-CN" sz="2665"/>
              <a:t>	</a:t>
            </a:r>
            <a:br>
              <a:rPr lang="en-US" altLang="zh-CN" sz="2665"/>
            </a:br>
            <a:r>
              <a:rPr lang="en-US" altLang="zh-CN" sz="2665"/>
              <a:t>       C.</a:t>
            </a:r>
            <a:r>
              <a:rPr lang="zh-CN" altLang="en-US" sz="2665"/>
              <a:t>党的十四大</a:t>
            </a:r>
            <a:r>
              <a:rPr lang="en-US" altLang="zh-CN" sz="2665"/>
              <a:t>	       D.</a:t>
            </a:r>
            <a:r>
              <a:rPr lang="zh-CN" altLang="en-US" sz="2665"/>
              <a:t>党的十五大</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2.</a:t>
            </a:r>
            <a:r>
              <a:rPr lang="zh-CN" altLang="en-US" sz="2665"/>
              <a:t>将</a:t>
            </a:r>
            <a:r>
              <a:rPr lang="en-US" altLang="zh-CN" sz="2665"/>
              <a:t>“</a:t>
            </a:r>
            <a:r>
              <a:rPr lang="zh-CN" altLang="en-US" sz="2665"/>
              <a:t>三个代表</a:t>
            </a:r>
            <a:r>
              <a:rPr lang="en-US" altLang="zh-CN" sz="2665"/>
              <a:t>”</a:t>
            </a:r>
            <a:r>
              <a:rPr lang="zh-CN" altLang="en-US" sz="2665"/>
              <a:t>重要思想同马克思列宁主义、毛泽东思想和邓小平理论一道确立为党必须长期坚持的指导思想，并写入党章，是在哪一次会议上。（</a:t>
            </a:r>
            <a:r>
              <a:rPr lang="en-US" altLang="zh-CN" sz="2665"/>
              <a:t>    </a:t>
            </a:r>
            <a:r>
              <a:rPr lang="zh-CN" altLang="en-US" sz="2665"/>
              <a:t>）</a:t>
            </a:r>
            <a:br>
              <a:rPr lang="zh-CN" altLang="en-US" sz="2665"/>
            </a:br>
            <a:r>
              <a:rPr lang="zh-CN" altLang="en-US" sz="2665"/>
              <a:t> </a:t>
            </a:r>
            <a:r>
              <a:rPr lang="en-US" altLang="zh-CN" sz="2665"/>
              <a:t>     A.</a:t>
            </a:r>
            <a:r>
              <a:rPr lang="zh-CN" altLang="en-US" sz="2665"/>
              <a:t>党的十四大</a:t>
            </a:r>
            <a:r>
              <a:rPr lang="en-US" altLang="zh-CN" sz="2665"/>
              <a:t>	</a:t>
            </a:r>
            <a:br>
              <a:rPr lang="en-US" altLang="zh-CN" sz="2665"/>
            </a:br>
            <a:r>
              <a:rPr lang="en-US" altLang="zh-CN" sz="2665"/>
              <a:t>      B.</a:t>
            </a:r>
            <a:r>
              <a:rPr lang="zh-CN" altLang="en-US" sz="2665"/>
              <a:t>党的十五大</a:t>
            </a:r>
            <a:r>
              <a:rPr lang="en-US" altLang="zh-CN" sz="2665"/>
              <a:t>	</a:t>
            </a:r>
            <a:br>
              <a:rPr lang="en-US" altLang="zh-CN" sz="2665"/>
            </a:br>
            <a:r>
              <a:rPr lang="en-US" altLang="zh-CN" sz="2665"/>
              <a:t>      C.</a:t>
            </a:r>
            <a:r>
              <a:rPr lang="zh-CN" altLang="en-US" sz="2665"/>
              <a:t>党的十六大</a:t>
            </a:r>
            <a:r>
              <a:rPr lang="en-US" altLang="zh-CN" sz="2665"/>
              <a:t>	</a:t>
            </a:r>
            <a:br>
              <a:rPr lang="en-US" altLang="zh-CN" sz="2665"/>
            </a:br>
            <a:r>
              <a:rPr lang="en-US" altLang="zh-CN" sz="2665"/>
              <a:t>      D. </a:t>
            </a:r>
            <a:r>
              <a:rPr lang="zh-CN" altLang="en-US" sz="2665"/>
              <a:t>党的十七大</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3.</a:t>
            </a:r>
            <a:r>
              <a:rPr lang="zh-CN" altLang="en-US" sz="2665"/>
              <a:t>科学发展观是哪一次会议上写入党章的？（</a:t>
            </a:r>
            <a:r>
              <a:rPr lang="en-US" altLang="zh-CN" sz="2665"/>
              <a:t>  </a:t>
            </a:r>
            <a:r>
              <a:rPr lang="zh-CN" altLang="en-US" sz="2665"/>
              <a:t>）</a:t>
            </a:r>
            <a:r>
              <a:rPr lang="en-US" altLang="zh-CN" sz="2665"/>
              <a:t>		</a:t>
            </a:r>
            <a:br>
              <a:rPr lang="en-US" altLang="zh-CN" sz="2665"/>
            </a:br>
            <a:r>
              <a:rPr lang="en-US" altLang="zh-CN" sz="2665"/>
              <a:t>      A.</a:t>
            </a:r>
            <a:r>
              <a:rPr lang="zh-CN" altLang="en-US" sz="2665"/>
              <a:t>党的十七大</a:t>
            </a:r>
            <a:r>
              <a:rPr lang="en-US" altLang="zh-CN" sz="2665"/>
              <a:t>	</a:t>
            </a:r>
            <a:br>
              <a:rPr lang="en-US" altLang="zh-CN" sz="2665"/>
            </a:br>
            <a:r>
              <a:rPr lang="en-US" altLang="zh-CN" sz="2665"/>
              <a:t>      B.</a:t>
            </a:r>
            <a:r>
              <a:rPr lang="zh-CN" altLang="en-US" sz="2665"/>
              <a:t>党的十八大</a:t>
            </a:r>
            <a:r>
              <a:rPr lang="en-US" altLang="zh-CN" sz="2665"/>
              <a:t>	</a:t>
            </a:r>
            <a:br>
              <a:rPr lang="en-US" altLang="zh-CN" sz="2665"/>
            </a:br>
            <a:r>
              <a:rPr lang="en-US" altLang="zh-CN" sz="2665"/>
              <a:t>      C.</a:t>
            </a:r>
            <a:r>
              <a:rPr lang="zh-CN" altLang="en-US" sz="2665"/>
              <a:t>党的十九大</a:t>
            </a:r>
            <a:r>
              <a:rPr lang="en-US" altLang="zh-CN" sz="2665"/>
              <a:t>	</a:t>
            </a:r>
            <a:br>
              <a:rPr lang="en-US" altLang="zh-CN" sz="2665"/>
            </a:br>
            <a:r>
              <a:rPr lang="en-US" altLang="zh-CN" sz="2665"/>
              <a:t>      D.</a:t>
            </a:r>
            <a:r>
              <a:rPr lang="zh-CN" altLang="en-US" sz="2665"/>
              <a:t>党的二十大</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4.</a:t>
            </a:r>
            <a:r>
              <a:rPr lang="zh-CN" altLang="en-US" sz="2665"/>
              <a:t>把科学发展观确立为党必须长期坚持的指导思想，是在哪里一次会议上？（</a:t>
            </a:r>
            <a:r>
              <a:rPr lang="en-US" altLang="zh-CN" sz="2665"/>
              <a:t>    </a:t>
            </a:r>
            <a:r>
              <a:rPr lang="zh-CN" altLang="en-US" sz="2665"/>
              <a:t>）</a:t>
            </a:r>
            <a:r>
              <a:rPr lang="en-US" altLang="zh-CN" sz="2665"/>
              <a:t>		</a:t>
            </a:r>
            <a:br>
              <a:rPr lang="en-US" altLang="zh-CN" sz="2665"/>
            </a:br>
            <a:r>
              <a:rPr lang="en-US" altLang="zh-CN" sz="2665"/>
              <a:t>      A.</a:t>
            </a:r>
            <a:r>
              <a:rPr lang="zh-CN" altLang="en-US" sz="2665"/>
              <a:t>党的十七大</a:t>
            </a:r>
            <a:r>
              <a:rPr lang="en-US" altLang="zh-CN" sz="2665"/>
              <a:t>	</a:t>
            </a:r>
            <a:br>
              <a:rPr lang="en-US" altLang="zh-CN" sz="2665"/>
            </a:br>
            <a:r>
              <a:rPr lang="en-US" altLang="zh-CN" sz="2665"/>
              <a:t>      B.</a:t>
            </a:r>
            <a:r>
              <a:rPr lang="zh-CN" altLang="en-US" sz="2665"/>
              <a:t>党的十八大</a:t>
            </a:r>
            <a:r>
              <a:rPr lang="en-US" altLang="zh-CN" sz="2665"/>
              <a:t>	</a:t>
            </a:r>
            <a:br>
              <a:rPr lang="en-US" altLang="zh-CN" sz="2665"/>
            </a:br>
            <a:r>
              <a:rPr lang="en-US" altLang="zh-CN" sz="2665"/>
              <a:t>      C.</a:t>
            </a:r>
            <a:r>
              <a:rPr lang="zh-CN" altLang="en-US" sz="2665"/>
              <a:t>党的十九大</a:t>
            </a:r>
            <a:r>
              <a:rPr lang="en-US" altLang="zh-CN" sz="2665"/>
              <a:t>	</a:t>
            </a:r>
            <a:br>
              <a:rPr lang="en-US" altLang="zh-CN" sz="2665"/>
            </a:br>
            <a:r>
              <a:rPr lang="en-US" altLang="zh-CN" sz="2665"/>
              <a:t>      D.</a:t>
            </a:r>
            <a:r>
              <a:rPr lang="zh-CN" altLang="en-US" sz="2665"/>
              <a:t>党的二十大</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5.</a:t>
            </a:r>
            <a:r>
              <a:rPr lang="zh-CN" altLang="en-US" sz="2665"/>
              <a:t>习近平新时代中国特色社会主义思想是在哪一次会议上确立为党必须长期坚持的指导思想并写入党章的？（</a:t>
            </a:r>
            <a:r>
              <a:rPr lang="en-US" altLang="zh-CN" sz="2665"/>
              <a:t>   </a:t>
            </a:r>
            <a:r>
              <a:rPr lang="zh-CN" altLang="en-US" sz="2665"/>
              <a:t>）</a:t>
            </a:r>
            <a:r>
              <a:rPr lang="en-US" altLang="zh-CN" sz="2665"/>
              <a:t>		</a:t>
            </a:r>
            <a:br>
              <a:rPr lang="en-US" altLang="zh-CN" sz="2665"/>
            </a:br>
            <a:r>
              <a:rPr lang="en-US" altLang="zh-CN" sz="2665"/>
              <a:t>       A.</a:t>
            </a:r>
            <a:r>
              <a:rPr lang="zh-CN" altLang="en-US" sz="2665"/>
              <a:t>党的十八大</a:t>
            </a:r>
            <a:r>
              <a:rPr lang="en-US" altLang="zh-CN" sz="2665"/>
              <a:t>	</a:t>
            </a:r>
            <a:br>
              <a:rPr lang="en-US" altLang="zh-CN" sz="2665"/>
            </a:br>
            <a:r>
              <a:rPr lang="en-US" altLang="zh-CN" sz="2665"/>
              <a:t>       B.</a:t>
            </a:r>
            <a:r>
              <a:rPr lang="zh-CN" altLang="en-US" sz="2665"/>
              <a:t>党的十九大</a:t>
            </a:r>
            <a:r>
              <a:rPr lang="en-US" altLang="zh-CN" sz="2665"/>
              <a:t>	</a:t>
            </a:r>
            <a:br>
              <a:rPr lang="en-US" altLang="zh-CN" sz="2665"/>
            </a:br>
            <a:r>
              <a:rPr lang="en-US" altLang="zh-CN" sz="2665"/>
              <a:t>       C.</a:t>
            </a:r>
            <a:r>
              <a:rPr lang="zh-CN" altLang="en-US" sz="2665"/>
              <a:t>党的二十大</a:t>
            </a:r>
            <a:r>
              <a:rPr lang="en-US" altLang="zh-CN" sz="2665"/>
              <a:t>	</a:t>
            </a:r>
            <a:br>
              <a:rPr lang="en-US" altLang="zh-CN" sz="2665"/>
            </a:br>
            <a:r>
              <a:rPr lang="en-US" altLang="zh-CN" sz="2665"/>
              <a:t>       D.</a:t>
            </a:r>
            <a:r>
              <a:rPr lang="zh-CN" altLang="en-US" sz="2665"/>
              <a:t>党的二十一大</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6.1987</a:t>
            </a:r>
            <a:r>
              <a:rPr lang="zh-CN" altLang="en-US" sz="2665"/>
              <a:t>年召开的党的十三大，第一次对中国特色社会主义理论的主要内容进行系统的概括，也标志着下列哪一思想理论成果轮廓的形成。（</a:t>
            </a:r>
            <a:r>
              <a:rPr lang="en-US" altLang="zh-CN" sz="2665"/>
              <a:t>  </a:t>
            </a:r>
            <a:r>
              <a:rPr lang="zh-CN" altLang="en-US" sz="2665"/>
              <a:t>）</a:t>
            </a:r>
            <a:r>
              <a:rPr lang="en-US" altLang="zh-CN" sz="2665"/>
              <a:t>	</a:t>
            </a:r>
            <a:br>
              <a:rPr lang="en-US" altLang="zh-CN" sz="2665"/>
            </a:br>
            <a:r>
              <a:rPr lang="en-US" altLang="zh-CN" sz="2665"/>
              <a:t>      A.</a:t>
            </a:r>
            <a:r>
              <a:rPr lang="zh-CN" altLang="en-US" sz="2665"/>
              <a:t>邓小平理论</a:t>
            </a:r>
            <a:r>
              <a:rPr lang="en-US" altLang="zh-CN" sz="2665"/>
              <a:t>	</a:t>
            </a:r>
            <a:br>
              <a:rPr lang="en-US" altLang="zh-CN" sz="2665"/>
            </a:br>
            <a:r>
              <a:rPr lang="en-US" altLang="zh-CN" sz="2665"/>
              <a:t>      B.“</a:t>
            </a:r>
            <a:r>
              <a:rPr lang="zh-CN" altLang="en-US" sz="2665"/>
              <a:t>三个代表</a:t>
            </a:r>
            <a:r>
              <a:rPr lang="en-US" altLang="zh-CN" sz="2665"/>
              <a:t>”</a:t>
            </a:r>
            <a:r>
              <a:rPr lang="zh-CN" altLang="en-US" sz="2665"/>
              <a:t>重要思想</a:t>
            </a:r>
            <a:r>
              <a:rPr lang="en-US" altLang="zh-CN" sz="2665"/>
              <a:t>	</a:t>
            </a:r>
            <a:br>
              <a:rPr lang="en-US" altLang="zh-CN" sz="2665"/>
            </a:br>
            <a:r>
              <a:rPr lang="en-US" altLang="zh-CN" sz="2665"/>
              <a:t>      C.</a:t>
            </a:r>
            <a:r>
              <a:rPr lang="zh-CN" altLang="en-US" sz="2665"/>
              <a:t>科学发展观</a:t>
            </a:r>
            <a:r>
              <a:rPr lang="en-US" altLang="zh-CN" sz="2665"/>
              <a:t>	</a:t>
            </a:r>
            <a:br>
              <a:rPr lang="en-US" altLang="zh-CN" sz="2665"/>
            </a:br>
            <a:r>
              <a:rPr lang="en-US" altLang="zh-CN" sz="2665"/>
              <a:t>      D.</a:t>
            </a:r>
            <a:r>
              <a:rPr lang="zh-CN" altLang="en-US" sz="2665"/>
              <a:t>习近平新时代中国特色社会主义思想</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7.</a:t>
            </a:r>
            <a:r>
              <a:rPr lang="zh-CN" altLang="en-US" sz="2665"/>
              <a:t>贯彻</a:t>
            </a:r>
            <a:r>
              <a:rPr lang="en-US" altLang="zh-CN" sz="2665"/>
              <a:t>“</a:t>
            </a:r>
            <a:r>
              <a:rPr lang="zh-CN" altLang="en-US" sz="2665"/>
              <a:t>三个代表</a:t>
            </a:r>
            <a:r>
              <a:rPr lang="en-US" altLang="zh-CN" sz="2665"/>
              <a:t>”</a:t>
            </a:r>
            <a:r>
              <a:rPr lang="zh-CN" altLang="en-US" sz="2665"/>
              <a:t>重要思想，本质在坚持（</a:t>
            </a:r>
            <a:r>
              <a:rPr lang="en-US" altLang="zh-CN" sz="2665"/>
              <a:t>  </a:t>
            </a:r>
            <a:r>
              <a:rPr lang="zh-CN" altLang="en-US" sz="2665"/>
              <a:t>）。</a:t>
            </a:r>
            <a:r>
              <a:rPr lang="en-US" altLang="zh-CN" sz="2665"/>
              <a:t>		</a:t>
            </a:r>
            <a:br>
              <a:rPr lang="en-US" altLang="zh-CN" sz="2665"/>
            </a:br>
            <a:r>
              <a:rPr lang="en-US" altLang="zh-CN" sz="2665"/>
              <a:t>      A.</a:t>
            </a:r>
            <a:r>
              <a:rPr lang="zh-CN" altLang="en-US" sz="2665"/>
              <a:t>实事求是</a:t>
            </a:r>
            <a:r>
              <a:rPr lang="en-US" altLang="zh-CN" sz="2665"/>
              <a:t>	</a:t>
            </a:r>
            <a:br>
              <a:rPr lang="en-US" altLang="zh-CN" sz="2665"/>
            </a:br>
            <a:r>
              <a:rPr lang="en-US" altLang="zh-CN" sz="2665"/>
              <a:t>      B.</a:t>
            </a:r>
            <a:r>
              <a:rPr lang="zh-CN" altLang="en-US" sz="2665"/>
              <a:t>理论联系实际</a:t>
            </a:r>
            <a:r>
              <a:rPr lang="en-US" altLang="zh-CN" sz="2665"/>
              <a:t>	</a:t>
            </a:r>
            <a:br>
              <a:rPr lang="en-US" altLang="zh-CN" sz="2665"/>
            </a:br>
            <a:r>
              <a:rPr lang="en-US" altLang="zh-CN" sz="2665"/>
              <a:t>     C.</a:t>
            </a:r>
            <a:r>
              <a:rPr lang="zh-CN" altLang="en-US" sz="2665"/>
              <a:t>民主集中制</a:t>
            </a:r>
            <a:r>
              <a:rPr lang="en-US" altLang="zh-CN" sz="2665"/>
              <a:t>	</a:t>
            </a:r>
            <a:br>
              <a:rPr lang="en-US" altLang="zh-CN" sz="2665"/>
            </a:br>
            <a:r>
              <a:rPr lang="en-US" altLang="zh-CN" sz="2665"/>
              <a:t>      D.</a:t>
            </a:r>
            <a:r>
              <a:rPr lang="zh-CN" altLang="en-US" sz="2665"/>
              <a:t>执政为民</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8.</a:t>
            </a:r>
            <a:r>
              <a:rPr lang="zh-CN" altLang="en-US" sz="2665"/>
              <a:t>确定把全党工作的着重点转移到社会主义现代化建设上来，作出实行改革开放的重大决策的会议是（</a:t>
            </a:r>
            <a:r>
              <a:rPr lang="en-US" altLang="zh-CN" sz="2665"/>
              <a:t>  </a:t>
            </a:r>
            <a:r>
              <a:rPr lang="zh-CN" altLang="en-US" sz="2665"/>
              <a:t>）。</a:t>
            </a:r>
            <a:r>
              <a:rPr lang="en-US" altLang="zh-CN" sz="2665"/>
              <a:t>		</a:t>
            </a:r>
            <a:br>
              <a:rPr lang="en-US" altLang="zh-CN" sz="2665"/>
            </a:br>
            <a:r>
              <a:rPr lang="en-US" altLang="zh-CN" sz="2665"/>
              <a:t>      A.</a:t>
            </a:r>
            <a:r>
              <a:rPr lang="zh-CN" altLang="en-US" sz="2665"/>
              <a:t>党的十一届三中全会</a:t>
            </a:r>
            <a:r>
              <a:rPr lang="en-US" altLang="zh-CN" sz="2665"/>
              <a:t>	</a:t>
            </a:r>
            <a:br>
              <a:rPr lang="en-US" altLang="zh-CN" sz="2665"/>
            </a:br>
            <a:r>
              <a:rPr lang="en-US" altLang="zh-CN" sz="2665"/>
              <a:t>      B.</a:t>
            </a:r>
            <a:r>
              <a:rPr lang="zh-CN" altLang="en-US" sz="2665"/>
              <a:t>党的十一届六中全会</a:t>
            </a:r>
            <a:r>
              <a:rPr lang="en-US" altLang="zh-CN" sz="2665"/>
              <a:t>	</a:t>
            </a:r>
            <a:br>
              <a:rPr lang="en-US" altLang="zh-CN" sz="2665"/>
            </a:br>
            <a:r>
              <a:rPr lang="en-US" altLang="zh-CN" sz="2665"/>
              <a:t>      C.</a:t>
            </a:r>
            <a:r>
              <a:rPr lang="zh-CN" altLang="en-US" sz="2665"/>
              <a:t>党的十二大</a:t>
            </a:r>
            <a:r>
              <a:rPr lang="en-US" altLang="zh-CN" sz="2665"/>
              <a:t>	</a:t>
            </a:r>
            <a:br>
              <a:rPr lang="en-US" altLang="zh-CN" sz="2665"/>
            </a:br>
            <a:r>
              <a:rPr lang="en-US" altLang="zh-CN" sz="2665"/>
              <a:t>      D.</a:t>
            </a:r>
            <a:r>
              <a:rPr lang="zh-CN" altLang="en-US" sz="2665"/>
              <a:t>党的十二届三中全会</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chor="ctr" anchorCtr="0">
            <a:normAutofit/>
          </a:bodyPr>
          <a:lstStyle/>
          <a:p>
            <a:pPr marL="0" indent="0" algn="l">
              <a:lnSpc>
                <a:spcPct val="140000"/>
              </a:lnSpc>
              <a:buFont typeface="+mj-lt"/>
            </a:pPr>
            <a:r>
              <a:rPr lang="en-US" altLang="zh-CN" sz="2665"/>
              <a:t>      9.“</a:t>
            </a:r>
            <a:r>
              <a:rPr lang="zh-CN" altLang="en-US" sz="2665"/>
              <a:t>中国特色社会主义</a:t>
            </a:r>
            <a:r>
              <a:rPr lang="en-US" altLang="zh-CN" sz="2665"/>
              <a:t>”</a:t>
            </a:r>
            <a:r>
              <a:rPr lang="zh-CN" altLang="en-US" sz="2665"/>
              <a:t>成为我们党的全部理论和实践创新的主题，始自（</a:t>
            </a:r>
            <a:r>
              <a:rPr lang="en-US" altLang="zh-CN" sz="2665"/>
              <a:t>  </a:t>
            </a:r>
            <a:r>
              <a:rPr lang="zh-CN" altLang="en-US" sz="2665"/>
              <a:t>）。</a:t>
            </a:r>
            <a:r>
              <a:rPr lang="en-US" altLang="zh-CN" sz="2665"/>
              <a:t>		</a:t>
            </a:r>
            <a:br>
              <a:rPr lang="en-US" altLang="zh-CN" sz="2665"/>
            </a:br>
            <a:r>
              <a:rPr lang="en-US" altLang="zh-CN" sz="2665"/>
              <a:t>       A.1978</a:t>
            </a:r>
            <a:r>
              <a:rPr lang="zh-CN" altLang="en-US" sz="2665"/>
              <a:t>年党的十一届三中全会</a:t>
            </a:r>
            <a:r>
              <a:rPr lang="en-US" altLang="zh-CN" sz="2665"/>
              <a:t>	</a:t>
            </a:r>
            <a:br>
              <a:rPr lang="en-US" altLang="zh-CN" sz="2665"/>
            </a:br>
            <a:r>
              <a:rPr lang="en-US" altLang="zh-CN" sz="2665"/>
              <a:t>       B.1981</a:t>
            </a:r>
            <a:r>
              <a:rPr lang="zh-CN" altLang="en-US" sz="2665"/>
              <a:t>年党的十一届六中全会</a:t>
            </a:r>
            <a:r>
              <a:rPr lang="en-US" altLang="zh-CN" sz="2665"/>
              <a:t>	</a:t>
            </a:r>
            <a:br>
              <a:rPr lang="en-US" altLang="zh-CN" sz="2665"/>
            </a:br>
            <a:r>
              <a:rPr lang="en-US" altLang="zh-CN" sz="2665"/>
              <a:t>       C.1982</a:t>
            </a:r>
            <a:r>
              <a:rPr lang="zh-CN" altLang="en-US" sz="2665"/>
              <a:t>年党的十二大</a:t>
            </a:r>
            <a:r>
              <a:rPr lang="en-US" altLang="zh-CN" sz="2665"/>
              <a:t>	</a:t>
            </a:r>
            <a:br>
              <a:rPr lang="en-US" altLang="zh-CN" sz="2665"/>
            </a:br>
            <a:r>
              <a:rPr lang="en-US" altLang="zh-CN" sz="2665"/>
              <a:t>       D.1984</a:t>
            </a:r>
            <a:r>
              <a:rPr lang="zh-CN" altLang="en-US" sz="2665"/>
              <a:t>年党的十二届三中全会</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solidFill>
                  <a:srgbClr val="FF0000"/>
                </a:solidFill>
              </a:rPr>
              <a:t>      10.</a:t>
            </a:r>
            <a:r>
              <a:rPr lang="zh-CN" altLang="en-US" sz="2665" dirty="0"/>
              <a:t>邓小平理论的集大成之作，从理论上深刻地回答了当时困扰和束缚人们思想的一系列重大问题，推动改革开放和社会主义现代化建设进入新阶段。这一集大成之作是指（</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改革开放理论</a:t>
            </a:r>
            <a:r>
              <a:rPr lang="en-US" altLang="zh-CN" sz="2665" dirty="0"/>
              <a:t>	</a:t>
            </a:r>
            <a:br>
              <a:rPr lang="en-US" altLang="zh-CN" sz="2665" dirty="0"/>
            </a:br>
            <a:r>
              <a:rPr lang="en-US" altLang="zh-CN" sz="2665" dirty="0"/>
              <a:t>      B.</a:t>
            </a:r>
            <a:r>
              <a:rPr lang="zh-CN" altLang="en-US" sz="2665" dirty="0"/>
              <a:t>社会主义本质理论</a:t>
            </a:r>
            <a:br>
              <a:rPr lang="zh-CN" altLang="en-US" sz="2665" dirty="0"/>
            </a:br>
            <a:r>
              <a:rPr lang="en-US" altLang="zh-CN" sz="2665" dirty="0"/>
              <a:t>      C.</a:t>
            </a:r>
            <a:r>
              <a:rPr lang="zh-CN" altLang="en-US" sz="2665" dirty="0"/>
              <a:t>南方谈话</a:t>
            </a:r>
            <a:r>
              <a:rPr lang="en-US" altLang="zh-CN" sz="2665" dirty="0"/>
              <a:t>	</a:t>
            </a:r>
            <a:br>
              <a:rPr lang="en-US" altLang="zh-CN" sz="2665" dirty="0"/>
            </a:br>
            <a:r>
              <a:rPr lang="en-US" altLang="zh-CN" sz="2665" dirty="0"/>
              <a:t>      D.</a:t>
            </a:r>
            <a:r>
              <a:rPr lang="zh-CN" altLang="en-US" sz="2665" dirty="0"/>
              <a:t>社会主义市场经济理论</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11.</a:t>
            </a:r>
            <a:r>
              <a:rPr lang="zh-CN" altLang="en-US" sz="2665"/>
              <a:t>党的十一届三中全会以后，以（</a:t>
            </a:r>
            <a:r>
              <a:rPr lang="en-US" altLang="zh-CN" sz="2665"/>
              <a:t>  </a:t>
            </a:r>
            <a:r>
              <a:rPr lang="zh-CN" altLang="en-US" sz="2665"/>
              <a:t>）同志为主要代表的中国共产党人，领导全党和全国人民果断地纠正了我国社会主义建设中的错误，深刻地分析了错误出现的原因，同时又坚决地维护和继承了过去在理论上和实践上所取得的一切积极成果。</a:t>
            </a:r>
            <a:r>
              <a:rPr lang="en-US" altLang="zh-CN" sz="2665"/>
              <a:t>		</a:t>
            </a:r>
            <a:br>
              <a:rPr lang="en-US" altLang="zh-CN" sz="2665"/>
            </a:br>
            <a:r>
              <a:rPr lang="en-US" altLang="zh-CN" sz="2665"/>
              <a:t>     A.</a:t>
            </a:r>
            <a:r>
              <a:rPr lang="zh-CN" altLang="en-US" sz="2665"/>
              <a:t>邓小平</a:t>
            </a:r>
            <a:r>
              <a:rPr lang="en-US" altLang="zh-CN" sz="2665"/>
              <a:t>	         B.</a:t>
            </a:r>
            <a:r>
              <a:rPr lang="zh-CN" altLang="en-US" sz="2665"/>
              <a:t>陈云</a:t>
            </a:r>
            <a:r>
              <a:rPr lang="en-US" altLang="zh-CN" sz="2665"/>
              <a:t>	        C.</a:t>
            </a:r>
            <a:r>
              <a:rPr lang="zh-CN" altLang="en-US" sz="2665"/>
              <a:t>叶剑英</a:t>
            </a:r>
            <a:r>
              <a:rPr lang="en-US" altLang="zh-CN" sz="2665"/>
              <a:t>	D.</a:t>
            </a:r>
            <a:r>
              <a:rPr lang="zh-CN" altLang="en-US" sz="2665"/>
              <a:t>胡耀邦</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12.20</a:t>
            </a:r>
            <a:r>
              <a:rPr lang="zh-CN" altLang="en-US" sz="2665"/>
              <a:t>世纪</a:t>
            </a:r>
            <a:r>
              <a:rPr lang="en-US" altLang="zh-CN" sz="2665"/>
              <a:t>70</a:t>
            </a:r>
            <a:r>
              <a:rPr lang="zh-CN" altLang="en-US" sz="2665"/>
              <a:t>年代，整个世界发生着大变动大调整，最显著的变化就是（</a:t>
            </a:r>
            <a:r>
              <a:rPr lang="en-US" altLang="zh-CN" sz="2665"/>
              <a:t>  </a:t>
            </a:r>
            <a:r>
              <a:rPr lang="zh-CN" altLang="en-US" sz="2665"/>
              <a:t>）成为时代主题。</a:t>
            </a:r>
            <a:r>
              <a:rPr lang="en-US" altLang="zh-CN" sz="2665"/>
              <a:t>		</a:t>
            </a:r>
            <a:br>
              <a:rPr lang="en-US" altLang="zh-CN" sz="2665"/>
            </a:br>
            <a:r>
              <a:rPr lang="en-US" altLang="zh-CN" sz="2665"/>
              <a:t>      A.</a:t>
            </a:r>
            <a:r>
              <a:rPr lang="zh-CN" altLang="en-US" sz="2665"/>
              <a:t>革命与战争</a:t>
            </a:r>
            <a:r>
              <a:rPr lang="en-US" altLang="zh-CN" sz="2665"/>
              <a:t>	     B.</a:t>
            </a:r>
            <a:r>
              <a:rPr lang="zh-CN" altLang="en-US" sz="2665"/>
              <a:t>和平与发展</a:t>
            </a:r>
            <a:r>
              <a:rPr lang="en-US" altLang="zh-CN" sz="2665"/>
              <a:t>	</a:t>
            </a:r>
            <a:br>
              <a:rPr lang="en-US" altLang="zh-CN" sz="2665"/>
            </a:br>
            <a:r>
              <a:rPr lang="en-US" altLang="zh-CN" sz="2665"/>
              <a:t>      C.</a:t>
            </a:r>
            <a:r>
              <a:rPr lang="zh-CN" altLang="en-US" sz="2665"/>
              <a:t>合作与共赢</a:t>
            </a:r>
            <a:r>
              <a:rPr lang="en-US" altLang="zh-CN" sz="2665"/>
              <a:t>	     D.</a:t>
            </a:r>
            <a:r>
              <a:rPr lang="zh-CN" altLang="en-US" sz="2665"/>
              <a:t>开放与融通</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13.</a:t>
            </a:r>
            <a:r>
              <a:rPr lang="zh-CN" altLang="en-US" sz="2665"/>
              <a:t>以胡锦涛同志为主要代表的中国共产党人，创造性地回答了（</a:t>
            </a:r>
            <a:r>
              <a:rPr lang="" altLang="en-US" sz="2665"/>
              <a:t> </a:t>
            </a:r>
            <a:r>
              <a:rPr lang="en-US" altLang="zh-CN" sz="2665"/>
              <a:t> </a:t>
            </a:r>
            <a:r>
              <a:rPr lang="zh-CN" altLang="en-US" sz="2665"/>
              <a:t>）这一重大问题。</a:t>
            </a:r>
            <a:r>
              <a:rPr lang="en-US" altLang="zh-CN" sz="2665"/>
              <a:t>	</a:t>
            </a:r>
            <a:br>
              <a:rPr lang="en-US" altLang="zh-CN" sz="2665"/>
            </a:br>
            <a:r>
              <a:rPr lang="en-US" altLang="zh-CN" sz="2665"/>
              <a:t>       A.</a:t>
            </a:r>
            <a:r>
              <a:rPr lang="zh-CN" altLang="en-US" sz="2665"/>
              <a:t>什么是社会主义，怎样建设社会主义</a:t>
            </a:r>
            <a:br>
              <a:rPr lang="zh-CN" altLang="en-US" sz="2665"/>
            </a:br>
            <a:r>
              <a:rPr lang="en-US" altLang="zh-CN" sz="2665"/>
              <a:t>       B.</a:t>
            </a:r>
            <a:r>
              <a:rPr lang="zh-CN" altLang="en-US" sz="2665"/>
              <a:t>建设什么样的党，怎样建设党</a:t>
            </a:r>
            <a:r>
              <a:rPr lang="en-US" altLang="zh-CN" sz="2665"/>
              <a:t>	</a:t>
            </a:r>
            <a:br>
              <a:rPr lang="en-US" altLang="zh-CN" sz="2665"/>
            </a:br>
            <a:r>
              <a:rPr lang="en-US" altLang="zh-CN" sz="2665"/>
              <a:t>       C.</a:t>
            </a:r>
            <a:r>
              <a:rPr lang="zh-CN" altLang="en-US" sz="2665"/>
              <a:t>实现什么样的发展、怎样发展</a:t>
            </a:r>
            <a:r>
              <a:rPr lang="en-US" altLang="zh-CN" sz="2665"/>
              <a:t>	</a:t>
            </a:r>
            <a:br>
              <a:rPr lang="en-US" altLang="zh-CN" sz="2665"/>
            </a:br>
            <a:r>
              <a:rPr lang="en-US" altLang="zh-CN" sz="2665"/>
              <a:t>       D.</a:t>
            </a:r>
            <a:r>
              <a:rPr lang="zh-CN" altLang="en-US" sz="2665"/>
              <a:t>什么是马克思主义，怎样发展马克思主义</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14.</a:t>
            </a:r>
            <a:r>
              <a:rPr lang="zh-CN" altLang="en-US" sz="2665"/>
              <a:t>以江泽民同志为主要代表的中国共产党人，创造性地回答了（</a:t>
            </a:r>
            <a:r>
              <a:rPr lang="" altLang="en-US" sz="2665"/>
              <a:t> </a:t>
            </a:r>
            <a:r>
              <a:rPr lang="en-US" altLang="zh-CN" sz="2665"/>
              <a:t> </a:t>
            </a:r>
            <a:r>
              <a:rPr lang="zh-CN" altLang="en-US" sz="2665"/>
              <a:t>）这一重大问题。</a:t>
            </a:r>
            <a:r>
              <a:rPr lang="en-US" altLang="zh-CN" sz="2665"/>
              <a:t>		</a:t>
            </a:r>
            <a:br>
              <a:rPr lang="en-US" altLang="zh-CN" sz="2665"/>
            </a:br>
            <a:r>
              <a:rPr lang="en-US" altLang="zh-CN" sz="2665"/>
              <a:t>      A.</a:t>
            </a:r>
            <a:r>
              <a:rPr lang="zh-CN" altLang="en-US" sz="2665"/>
              <a:t>什么是社会主义，怎样建设社会主义</a:t>
            </a:r>
            <a:r>
              <a:rPr lang="en-US" altLang="zh-CN" sz="2665"/>
              <a:t>	</a:t>
            </a:r>
            <a:br>
              <a:rPr lang="en-US" altLang="zh-CN" sz="2665"/>
            </a:br>
            <a:r>
              <a:rPr lang="en-US" altLang="zh-CN" sz="2665"/>
              <a:t>      B.</a:t>
            </a:r>
            <a:r>
              <a:rPr lang="zh-CN" altLang="en-US" sz="2665"/>
              <a:t>建设什么样的党，怎样建设党</a:t>
            </a:r>
            <a:r>
              <a:rPr lang="en-US" altLang="zh-CN" sz="2665"/>
              <a:t>	</a:t>
            </a:r>
            <a:br>
              <a:rPr lang="en-US" altLang="zh-CN" sz="2665"/>
            </a:br>
            <a:r>
              <a:rPr lang="en-US" altLang="zh-CN" sz="2665"/>
              <a:t>      C.</a:t>
            </a:r>
            <a:r>
              <a:rPr lang="zh-CN" altLang="en-US" sz="2665"/>
              <a:t>实现什么样的发展、怎样发展</a:t>
            </a:r>
            <a:r>
              <a:rPr lang="en-US" altLang="zh-CN" sz="2665"/>
              <a:t>	</a:t>
            </a:r>
            <a:br>
              <a:rPr lang="en-US" altLang="zh-CN" sz="2665"/>
            </a:br>
            <a:r>
              <a:rPr lang="en-US" altLang="zh-CN" sz="2665"/>
              <a:t>      D.</a:t>
            </a:r>
            <a:r>
              <a:rPr lang="zh-CN" altLang="en-US" sz="2665"/>
              <a:t>什么是马克思主义，怎样发展马克思主义</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15.</a:t>
            </a:r>
            <a:r>
              <a:rPr lang="zh-CN" altLang="en-US" sz="2665"/>
              <a:t>我国改革从（</a:t>
            </a:r>
            <a:r>
              <a:rPr lang="" altLang="en-US" sz="2665"/>
              <a:t> </a:t>
            </a:r>
            <a:r>
              <a:rPr lang="en-US" altLang="zh-CN" sz="2665"/>
              <a:t> </a:t>
            </a:r>
            <a:r>
              <a:rPr lang="zh-CN" altLang="en-US" sz="2665"/>
              <a:t>）率先突破，逐步转向城市经济体制改革并全面铺开，确立社会主义市场经济的改革方向。</a:t>
            </a:r>
            <a:r>
              <a:rPr lang="en-US" altLang="zh-CN" sz="2665"/>
              <a:t>		</a:t>
            </a:r>
            <a:br>
              <a:rPr lang="en-US" altLang="zh-CN" sz="2665"/>
            </a:br>
            <a:r>
              <a:rPr lang="en-US" altLang="zh-CN" sz="2665"/>
              <a:t>      A.</a:t>
            </a:r>
            <a:r>
              <a:rPr lang="zh-CN" altLang="en-US" sz="2665"/>
              <a:t>计划经济为主，市场经济为辅</a:t>
            </a:r>
            <a:r>
              <a:rPr lang="en-US" altLang="zh-CN" sz="2665"/>
              <a:t>	</a:t>
            </a:r>
            <a:br>
              <a:rPr lang="en-US" altLang="zh-CN" sz="2665"/>
            </a:br>
            <a:r>
              <a:rPr lang="en-US" altLang="zh-CN" sz="2665"/>
              <a:t>      B.</a:t>
            </a:r>
            <a:r>
              <a:rPr lang="zh-CN" altLang="en-US" sz="2665"/>
              <a:t>计划少一点，市场多一点</a:t>
            </a:r>
            <a:r>
              <a:rPr lang="en-US" altLang="zh-CN" sz="2665"/>
              <a:t>	</a:t>
            </a:r>
            <a:br>
              <a:rPr lang="en-US" altLang="zh-CN" sz="2665"/>
            </a:br>
            <a:r>
              <a:rPr lang="en-US" altLang="zh-CN" sz="2665"/>
              <a:t>      C.</a:t>
            </a:r>
            <a:r>
              <a:rPr lang="zh-CN" altLang="en-US" sz="2665"/>
              <a:t>包干到户</a:t>
            </a:r>
            <a:r>
              <a:rPr lang="en-US" altLang="zh-CN" sz="2665"/>
              <a:t>	</a:t>
            </a:r>
            <a:br>
              <a:rPr lang="en-US" altLang="zh-CN" sz="2665"/>
            </a:br>
            <a:r>
              <a:rPr lang="en-US" altLang="zh-CN" sz="2665"/>
              <a:t>      D.</a:t>
            </a:r>
            <a:r>
              <a:rPr lang="zh-CN" altLang="en-US" sz="2665"/>
              <a:t>农村实行家庭联产承包责任制</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71550" y="1581785"/>
            <a:ext cx="10334625" cy="2583180"/>
          </a:xfrm>
        </p:spPr>
        <p:txBody>
          <a:bodyPr>
            <a:normAutofit/>
          </a:bodyPr>
          <a:lstStyle/>
          <a:p>
            <a:pPr algn="l">
              <a:lnSpc>
                <a:spcPct val="140000"/>
              </a:lnSpc>
            </a:pPr>
            <a:r>
              <a:rPr lang="en-US" altLang="zh-CN" sz="2665"/>
              <a:t>      16.1978</a:t>
            </a:r>
            <a:r>
              <a:rPr lang="zh-CN" altLang="en-US" sz="2665"/>
              <a:t>年</a:t>
            </a:r>
            <a:r>
              <a:rPr lang="en-US" altLang="zh-CN" sz="2665"/>
              <a:t>12</a:t>
            </a:r>
            <a:r>
              <a:rPr lang="zh-CN" altLang="en-US" sz="2665"/>
              <a:t>月召开的党的十一届三中全会，重新确立了（</a:t>
            </a:r>
            <a:r>
              <a:rPr lang="" altLang="en-US" sz="2665"/>
              <a:t> </a:t>
            </a:r>
            <a:r>
              <a:rPr lang="en-US" altLang="zh-CN" sz="2665"/>
              <a:t> </a:t>
            </a:r>
            <a:r>
              <a:rPr lang="zh-CN" altLang="en-US" sz="2665"/>
              <a:t>）的思想路线，彻底否定了</a:t>
            </a:r>
            <a:r>
              <a:rPr lang="en-US" altLang="zh-CN" sz="2665"/>
              <a:t> “</a:t>
            </a:r>
            <a:r>
              <a:rPr lang="zh-CN" altLang="en-US" sz="2665"/>
              <a:t>以阶级斗争为纲</a:t>
            </a:r>
            <a:r>
              <a:rPr lang="en-US" altLang="zh-CN" sz="2665"/>
              <a:t>”</a:t>
            </a:r>
            <a:r>
              <a:rPr lang="zh-CN" altLang="en-US" sz="2665"/>
              <a:t>的错误理论和实践。</a:t>
            </a:r>
            <a:br>
              <a:rPr lang="zh-CN" altLang="en-US" sz="2665"/>
            </a:br>
            <a:r>
              <a:rPr lang="zh-CN" altLang="en-US" sz="2665"/>
              <a:t> </a:t>
            </a:r>
            <a:r>
              <a:rPr lang="en-US" altLang="zh-CN" sz="2665"/>
              <a:t>     A.</a:t>
            </a:r>
            <a:r>
              <a:rPr lang="zh-CN" altLang="en-US" sz="2665"/>
              <a:t>实事求是</a:t>
            </a:r>
            <a:r>
              <a:rPr lang="en-US" altLang="zh-CN" sz="2665"/>
              <a:t>	B.</a:t>
            </a:r>
            <a:r>
              <a:rPr lang="zh-CN" altLang="en-US" sz="2665"/>
              <a:t>群众路线</a:t>
            </a:r>
            <a:r>
              <a:rPr lang="en-US" altLang="zh-CN" sz="2665"/>
              <a:t>	          C.</a:t>
            </a:r>
            <a:r>
              <a:rPr lang="zh-CN" altLang="en-US" sz="2665"/>
              <a:t>独立自主</a:t>
            </a:r>
            <a:r>
              <a:rPr lang="en-US" altLang="zh-CN" sz="2665"/>
              <a:t>	        D.</a:t>
            </a:r>
            <a:r>
              <a:rPr lang="zh-CN" altLang="en-US" sz="2665"/>
              <a:t>解放思想</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17.1982</a:t>
            </a:r>
            <a:r>
              <a:rPr lang="zh-CN" altLang="en-US" sz="2665"/>
              <a:t>年邓小平在党的十二大开幕词中明确提出：走自己的道路，（</a:t>
            </a:r>
            <a:r>
              <a:rPr lang="" altLang="en-US" sz="2665"/>
              <a:t> </a:t>
            </a:r>
            <a:r>
              <a:rPr lang="en-US" altLang="zh-CN" sz="2665"/>
              <a:t> </a:t>
            </a:r>
            <a:r>
              <a:rPr lang="zh-CN" altLang="en-US" sz="2665"/>
              <a:t>）。</a:t>
            </a:r>
            <a:r>
              <a:rPr lang="en-US" altLang="zh-CN" sz="2665"/>
              <a:t>		</a:t>
            </a:r>
            <a:br>
              <a:rPr lang="en-US" altLang="zh-CN" sz="2665"/>
            </a:br>
            <a:r>
              <a:rPr lang="en-US" altLang="zh-CN" sz="2665"/>
              <a:t>       A.</a:t>
            </a:r>
            <a:r>
              <a:rPr lang="zh-CN" altLang="en-US" sz="2665"/>
              <a:t>建设社会主义市场经济</a:t>
            </a:r>
            <a:r>
              <a:rPr lang="en-US" altLang="zh-CN" sz="2665"/>
              <a:t>	</a:t>
            </a:r>
            <a:br>
              <a:rPr lang="en-US" altLang="zh-CN" sz="2665"/>
            </a:br>
            <a:r>
              <a:rPr lang="en-US" altLang="zh-CN" sz="2665"/>
              <a:t>       B.</a:t>
            </a:r>
            <a:r>
              <a:rPr lang="zh-CN" altLang="en-US" sz="2665"/>
              <a:t>建设有中国特色的社会主义</a:t>
            </a:r>
            <a:r>
              <a:rPr lang="en-US" altLang="zh-CN" sz="2665"/>
              <a:t>	</a:t>
            </a:r>
            <a:br>
              <a:rPr lang="en-US" altLang="zh-CN" sz="2665"/>
            </a:br>
            <a:r>
              <a:rPr lang="en-US" altLang="zh-CN" sz="2665"/>
              <a:t>       C.</a:t>
            </a:r>
            <a:r>
              <a:rPr lang="zh-CN" altLang="en-US" sz="2665"/>
              <a:t>实现马克思主义中国化时代化</a:t>
            </a:r>
            <a:r>
              <a:rPr lang="en-US" altLang="zh-CN" sz="2665"/>
              <a:t>	</a:t>
            </a:r>
            <a:br>
              <a:rPr lang="en-US" altLang="zh-CN" sz="2665"/>
            </a:br>
            <a:r>
              <a:rPr lang="en-US" altLang="zh-CN" sz="2665"/>
              <a:t>       D.</a:t>
            </a:r>
            <a:r>
              <a:rPr lang="zh-CN" altLang="en-US" sz="2665"/>
              <a:t>建设社会主义初级阶段</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a:t>
            </a:r>
            <a:r>
              <a:rPr lang="en-US" altLang="zh-CN" sz="2665" dirty="0">
                <a:solidFill>
                  <a:srgbClr val="FF0000"/>
                </a:solidFill>
              </a:rPr>
              <a:t>18.</a:t>
            </a:r>
            <a:r>
              <a:rPr lang="en-US" altLang="zh-CN" sz="2665" dirty="0"/>
              <a:t>1987</a:t>
            </a:r>
            <a:r>
              <a:rPr lang="zh-CN" altLang="en-US" sz="2665" dirty="0"/>
              <a:t>年召开的党的十三大，第一次比较系统地论述了我国社会主义初级阶段理论，明确概括和全面阐发了党的（</a:t>
            </a:r>
            <a:r>
              <a:rPr lang="" altLang="en-US" sz="2665" dirty="0"/>
              <a:t> </a:t>
            </a:r>
            <a:r>
              <a:rPr lang="en-US" altLang="zh-CN" sz="2665" dirty="0"/>
              <a:t> </a:t>
            </a:r>
            <a:r>
              <a:rPr lang="zh-CN" altLang="en-US" sz="2665" dirty="0"/>
              <a:t>）的基本路线。</a:t>
            </a:r>
            <a:br>
              <a:rPr lang="zh-CN" altLang="en-US" sz="2665" dirty="0"/>
            </a:br>
            <a:r>
              <a:rPr lang="zh-CN" altLang="en-US" sz="2665" dirty="0"/>
              <a:t> </a:t>
            </a:r>
            <a:r>
              <a:rPr lang="en-US" altLang="zh-CN" sz="2665" dirty="0"/>
              <a:t>      A.</a:t>
            </a:r>
            <a:r>
              <a:rPr lang="zh-CN" altLang="en-US" sz="2665" dirty="0"/>
              <a:t>社会主义全面发展</a:t>
            </a:r>
            <a:br>
              <a:rPr lang="zh-CN" altLang="en-US" sz="2665" dirty="0"/>
            </a:br>
            <a:r>
              <a:rPr lang="en-US" altLang="zh-CN" sz="2665" dirty="0"/>
              <a:t>       B.“</a:t>
            </a:r>
            <a:r>
              <a:rPr lang="zh-CN" altLang="en-US" sz="2665" dirty="0"/>
              <a:t>三步走</a:t>
            </a:r>
            <a:r>
              <a:rPr lang="en-US" altLang="zh-CN" sz="2665" dirty="0"/>
              <a:t>”	</a:t>
            </a:r>
            <a:br>
              <a:rPr lang="en-US" altLang="zh-CN" sz="2665" dirty="0"/>
            </a:br>
            <a:r>
              <a:rPr lang="en-US" altLang="zh-CN" sz="2665" dirty="0"/>
              <a:t>       C.“</a:t>
            </a:r>
            <a:r>
              <a:rPr lang="zh-CN" altLang="en-US" sz="2665" dirty="0"/>
              <a:t>一个中心、两个基本点</a:t>
            </a:r>
            <a:r>
              <a:rPr lang="en-US" altLang="zh-CN" sz="2665" dirty="0"/>
              <a:t>”	</a:t>
            </a:r>
            <a:br>
              <a:rPr lang="en-US" altLang="zh-CN" sz="2665" dirty="0"/>
            </a:br>
            <a:r>
              <a:rPr lang="en-US" altLang="zh-CN" sz="2665" dirty="0"/>
              <a:t>       D.“</a:t>
            </a:r>
            <a:r>
              <a:rPr lang="zh-CN" altLang="en-US" sz="2665" dirty="0"/>
              <a:t>四项基本原则</a:t>
            </a:r>
            <a:r>
              <a:rPr lang="en-US" altLang="zh-CN" sz="2665" dirty="0"/>
              <a:t>”</a:t>
            </a:r>
            <a:br>
              <a:rPr lang="en-US" altLang="zh-CN" sz="2665" dirty="0"/>
            </a:br>
            <a:endParaRPr lang="en-US" altLang="zh-CN"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19.</a:t>
            </a:r>
            <a:r>
              <a:rPr lang="zh-CN" altLang="en-US" sz="2665"/>
              <a:t>（</a:t>
            </a:r>
            <a:r>
              <a:rPr lang="" altLang="en-US" sz="2665"/>
              <a:t> </a:t>
            </a:r>
            <a:r>
              <a:rPr lang="en-US" altLang="zh-CN" sz="2665"/>
              <a:t> </a:t>
            </a:r>
            <a:r>
              <a:rPr lang="zh-CN" altLang="en-US" sz="2665"/>
              <a:t>）的宪法修正案正式将邓小平理论载入宪法。</a:t>
            </a:r>
            <a:r>
              <a:rPr lang="en-US" altLang="zh-CN" sz="2665"/>
              <a:t>	</a:t>
            </a:r>
            <a:br>
              <a:rPr lang="en-US" altLang="zh-CN" sz="2665"/>
            </a:br>
            <a:r>
              <a:rPr lang="en-US" altLang="zh-CN" sz="2665"/>
              <a:t>       A.1998</a:t>
            </a:r>
            <a:r>
              <a:rPr lang="zh-CN" altLang="en-US" sz="2665"/>
              <a:t>年</a:t>
            </a:r>
            <a:r>
              <a:rPr lang="en-US" altLang="zh-CN" sz="2665"/>
              <a:t>	</a:t>
            </a:r>
            <a:br>
              <a:rPr lang="en-US" altLang="zh-CN" sz="2665"/>
            </a:br>
            <a:r>
              <a:rPr lang="en-US" altLang="zh-CN" sz="2665"/>
              <a:t>       B.1999</a:t>
            </a:r>
            <a:r>
              <a:rPr lang="zh-CN" altLang="en-US" sz="2665"/>
              <a:t>年</a:t>
            </a:r>
            <a:r>
              <a:rPr lang="en-US" altLang="zh-CN" sz="2665"/>
              <a:t>	</a:t>
            </a:r>
            <a:br>
              <a:rPr lang="en-US" altLang="zh-CN" sz="2665"/>
            </a:br>
            <a:r>
              <a:rPr lang="en-US" altLang="zh-CN" sz="2665"/>
              <a:t>       C.2000</a:t>
            </a:r>
            <a:r>
              <a:rPr lang="zh-CN" altLang="en-US" sz="2665"/>
              <a:t>年</a:t>
            </a:r>
            <a:r>
              <a:rPr lang="en-US" altLang="zh-CN" sz="2665"/>
              <a:t>	</a:t>
            </a:r>
            <a:br>
              <a:rPr lang="en-US" altLang="zh-CN" sz="2665"/>
            </a:br>
            <a:r>
              <a:rPr lang="en-US" altLang="zh-CN" sz="2665"/>
              <a:t>       D.2001</a:t>
            </a:r>
            <a:r>
              <a:rPr lang="zh-CN" altLang="en-US" sz="2665"/>
              <a:t>年</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solidFill>
                  <a:srgbClr val="FF0000"/>
                </a:solidFill>
              </a:rPr>
              <a:t>      20.</a:t>
            </a:r>
            <a:r>
              <a:rPr lang="zh-CN" altLang="en-US" sz="2665" dirty="0"/>
              <a:t>首次对</a:t>
            </a:r>
            <a:r>
              <a:rPr lang="en-US" altLang="zh-CN" sz="2665" dirty="0"/>
              <a:t>“</a:t>
            </a:r>
            <a:r>
              <a:rPr lang="zh-CN" altLang="en-US" sz="2665" dirty="0"/>
              <a:t>三个代表</a:t>
            </a:r>
            <a:r>
              <a:rPr lang="en-US" altLang="zh-CN" sz="2665" dirty="0"/>
              <a:t>”</a:t>
            </a:r>
            <a:r>
              <a:rPr lang="zh-CN" altLang="en-US" sz="2665" dirty="0"/>
              <a:t>进行了比较全面的阐述是：（</a:t>
            </a:r>
            <a:r>
              <a:rPr lang="" altLang="en-US" sz="2665" dirty="0"/>
              <a:t> </a:t>
            </a:r>
            <a:r>
              <a:rPr lang="en-US" altLang="zh-CN" sz="2665" dirty="0"/>
              <a:t> </a:t>
            </a:r>
            <a:r>
              <a:rPr lang="zh-CN" altLang="en-US" sz="2665" dirty="0"/>
              <a:t>）</a:t>
            </a:r>
            <a:r>
              <a:rPr lang="en-US" altLang="zh-CN" sz="2665" dirty="0"/>
              <a:t>	</a:t>
            </a:r>
            <a:br>
              <a:rPr lang="en-US" altLang="zh-CN" sz="2665" dirty="0"/>
            </a:br>
            <a:r>
              <a:rPr lang="en-US" altLang="zh-CN" sz="2665" dirty="0"/>
              <a:t>       A.1989</a:t>
            </a:r>
            <a:r>
              <a:rPr lang="zh-CN" altLang="en-US" sz="2665" dirty="0"/>
              <a:t>年党十四届三中全会</a:t>
            </a:r>
            <a:r>
              <a:rPr lang="en-US" altLang="zh-CN" sz="2665" dirty="0"/>
              <a:t>	</a:t>
            </a:r>
            <a:br>
              <a:rPr lang="en-US" altLang="zh-CN" sz="2665" dirty="0"/>
            </a:br>
            <a:r>
              <a:rPr lang="en-US" altLang="zh-CN" sz="2665" dirty="0"/>
              <a:t>       B.1997</a:t>
            </a:r>
            <a:r>
              <a:rPr lang="zh-CN" altLang="en-US" sz="2665" dirty="0"/>
              <a:t>年党十五大</a:t>
            </a:r>
            <a:r>
              <a:rPr lang="en-US" altLang="zh-CN" sz="2665" dirty="0"/>
              <a:t>	</a:t>
            </a:r>
            <a:br>
              <a:rPr lang="en-US" altLang="zh-CN" sz="2665" dirty="0"/>
            </a:br>
            <a:r>
              <a:rPr lang="en-US" altLang="zh-CN" sz="2665" dirty="0"/>
              <a:t>       C.2000</a:t>
            </a:r>
            <a:r>
              <a:rPr lang="zh-CN" altLang="en-US" sz="2665" dirty="0"/>
              <a:t>年，江泽民在广东考察工作时</a:t>
            </a:r>
            <a:r>
              <a:rPr lang="en-US" altLang="zh-CN" sz="2665" dirty="0"/>
              <a:t>	</a:t>
            </a:r>
            <a:br>
              <a:rPr lang="en-US" altLang="zh-CN" sz="2665" dirty="0"/>
            </a:br>
            <a:r>
              <a:rPr lang="en-US" altLang="zh-CN" sz="2665" dirty="0"/>
              <a:t>       D.2001</a:t>
            </a:r>
            <a:r>
              <a:rPr lang="zh-CN" altLang="en-US" sz="2665" dirty="0"/>
              <a:t>年</a:t>
            </a:r>
            <a:r>
              <a:rPr lang="en-US" altLang="zh-CN" sz="2665" dirty="0"/>
              <a:t>7</a:t>
            </a:r>
            <a:r>
              <a:rPr lang="zh-CN" altLang="en-US" sz="2665" dirty="0"/>
              <a:t>月</a:t>
            </a:r>
            <a:r>
              <a:rPr lang="en-US" altLang="zh-CN" sz="2665" dirty="0"/>
              <a:t>1</a:t>
            </a:r>
            <a:r>
              <a:rPr lang="zh-CN" altLang="en-US" sz="2665" dirty="0"/>
              <a:t>日，江泽民在庆祝中国共产党成立</a:t>
            </a:r>
            <a:r>
              <a:rPr lang="en-US" altLang="zh-CN" sz="2665" dirty="0"/>
              <a:t>80</a:t>
            </a:r>
            <a:r>
              <a:rPr lang="zh-CN" altLang="en-US" sz="2665" dirty="0"/>
              <a:t>周年大会上的讲话</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21.2018</a:t>
            </a:r>
            <a:r>
              <a:rPr lang="zh-CN" altLang="en-US" sz="2665"/>
              <a:t>年，（</a:t>
            </a:r>
            <a:r>
              <a:rPr lang="" altLang="en-US" sz="2665"/>
              <a:t> </a:t>
            </a:r>
            <a:r>
              <a:rPr lang="en-US" altLang="zh-CN" sz="2665"/>
              <a:t> </a:t>
            </a:r>
            <a:r>
              <a:rPr lang="zh-CN" altLang="en-US" sz="2665"/>
              <a:t>）通过的宪法修正案，郑重地把习近平新时代中国特色社会主义思想载入宪法，实现了国家指导思想的与时俱进。</a:t>
            </a:r>
            <a:br>
              <a:rPr lang="zh-CN" altLang="en-US" sz="2665"/>
            </a:br>
            <a:r>
              <a:rPr lang="en-US" altLang="zh-CN" sz="2665"/>
              <a:t>      A.</a:t>
            </a:r>
            <a:r>
              <a:rPr lang="zh-CN" altLang="en-US" sz="2665"/>
              <a:t>十三届全国人大一次会议</a:t>
            </a:r>
            <a:r>
              <a:rPr lang="en-US" altLang="zh-CN" sz="2665"/>
              <a:t>	</a:t>
            </a:r>
            <a:br>
              <a:rPr lang="en-US" altLang="zh-CN" sz="2665"/>
            </a:br>
            <a:r>
              <a:rPr lang="en-US" altLang="zh-CN" sz="2665"/>
              <a:t>      B.</a:t>
            </a:r>
            <a:r>
              <a:rPr lang="zh-CN" altLang="en-US" sz="2665"/>
              <a:t>十三届全国人大二次会议</a:t>
            </a:r>
            <a:r>
              <a:rPr lang="en-US" altLang="zh-CN" sz="2665"/>
              <a:t>	</a:t>
            </a:r>
            <a:br>
              <a:rPr lang="en-US" altLang="zh-CN" sz="2665"/>
            </a:br>
            <a:r>
              <a:rPr lang="en-US" altLang="zh-CN" sz="2665"/>
              <a:t>      C.</a:t>
            </a:r>
            <a:r>
              <a:rPr lang="zh-CN" altLang="en-US" sz="2665"/>
              <a:t>十四届全国人大一次会议</a:t>
            </a:r>
            <a:r>
              <a:rPr lang="en-US" altLang="zh-CN" sz="2665"/>
              <a:t>	</a:t>
            </a:r>
            <a:br>
              <a:rPr lang="en-US" altLang="zh-CN" sz="2665"/>
            </a:br>
            <a:r>
              <a:rPr lang="en-US" altLang="zh-CN" sz="2665"/>
              <a:t>      D.</a:t>
            </a:r>
            <a:r>
              <a:rPr lang="zh-CN" altLang="en-US" sz="2665"/>
              <a:t>十四届全国人大二次会议</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22.</a:t>
            </a:r>
            <a:r>
              <a:rPr lang="zh-CN" altLang="en-US" sz="2665"/>
              <a:t>我们党第一次提出科学发展观的文件是（</a:t>
            </a:r>
            <a:r>
              <a:rPr lang="en-US" altLang="zh-CN" sz="2665"/>
              <a:t>  </a:t>
            </a:r>
            <a:r>
              <a:rPr lang="zh-CN" altLang="en-US" sz="2665"/>
              <a:t>）。</a:t>
            </a:r>
            <a:r>
              <a:rPr lang="en-US" altLang="zh-CN" sz="2665"/>
              <a:t>		</a:t>
            </a:r>
            <a:br>
              <a:rPr lang="en-US" altLang="zh-CN" sz="2665"/>
            </a:br>
            <a:r>
              <a:rPr lang="en-US" altLang="zh-CN" sz="2665"/>
              <a:t>       A.</a:t>
            </a:r>
            <a:r>
              <a:rPr lang="zh-CN" altLang="en-US" sz="2665"/>
              <a:t>中共中央关于建立社会主义市场经济体制若干问题的决定</a:t>
            </a:r>
            <a:r>
              <a:rPr lang="en-US" altLang="zh-CN" sz="2665"/>
              <a:t>	</a:t>
            </a:r>
            <a:br>
              <a:rPr lang="en-US" altLang="zh-CN" sz="2665"/>
            </a:br>
            <a:r>
              <a:rPr lang="en-US" altLang="zh-CN" sz="2665"/>
              <a:t>       B.</a:t>
            </a:r>
            <a:r>
              <a:rPr lang="zh-CN" altLang="en-US" sz="2665"/>
              <a:t>中共中央关于完善社会主义市场经济体制若干问题的决定</a:t>
            </a:r>
            <a:r>
              <a:rPr lang="en-US" altLang="zh-CN" sz="2665"/>
              <a:t>	</a:t>
            </a:r>
            <a:br>
              <a:rPr lang="en-US" altLang="zh-CN" sz="2665"/>
            </a:br>
            <a:r>
              <a:rPr lang="en-US" altLang="zh-CN" sz="2665"/>
              <a:t>       C.</a:t>
            </a:r>
            <a:r>
              <a:rPr lang="zh-CN" altLang="en-US" sz="2665"/>
              <a:t>中共中央关于加强党的执政能力建设的决定</a:t>
            </a:r>
            <a:r>
              <a:rPr lang="en-US" altLang="zh-CN" sz="2665"/>
              <a:t>	</a:t>
            </a:r>
            <a:br>
              <a:rPr lang="en-US" altLang="zh-CN" sz="2665"/>
            </a:br>
            <a:r>
              <a:rPr lang="en-US" altLang="zh-CN" sz="2665"/>
              <a:t>       D. </a:t>
            </a:r>
            <a:r>
              <a:rPr lang="zh-CN" altLang="en-US" sz="2665"/>
              <a:t>中共中央关于制定国民经济和社会发展第十一个五年规划的建议</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23.2008</a:t>
            </a:r>
            <a:r>
              <a:rPr lang="zh-CN" altLang="en-US" sz="2665"/>
              <a:t>年</a:t>
            </a:r>
            <a:r>
              <a:rPr lang="en-US" altLang="zh-CN" sz="2665"/>
              <a:t>12</a:t>
            </a:r>
            <a:r>
              <a:rPr lang="zh-CN" altLang="en-US" sz="2665"/>
              <a:t>月，中央召开经济工作会议，强调科学发展观第一要义是（</a:t>
            </a:r>
            <a:r>
              <a:rPr lang="" altLang="en-US" sz="2665"/>
              <a:t> </a:t>
            </a:r>
            <a:r>
              <a:rPr lang="en-US" altLang="zh-CN" sz="2665"/>
              <a:t> </a:t>
            </a:r>
            <a:r>
              <a:rPr lang="zh-CN" altLang="en-US" sz="2665"/>
              <a:t>），越是在经济发展面临较大困难的时候，我们越是要坚定不移地贯彻发展是硬道理的战略思想。</a:t>
            </a:r>
            <a:r>
              <a:rPr lang="en-US" altLang="zh-CN" sz="2665"/>
              <a:t>		</a:t>
            </a:r>
            <a:br>
              <a:rPr lang="en-US" altLang="zh-CN" sz="2665"/>
            </a:br>
            <a:r>
              <a:rPr lang="en-US" altLang="zh-CN" sz="2665"/>
              <a:t>      A.</a:t>
            </a:r>
            <a:r>
              <a:rPr lang="zh-CN" altLang="en-US" sz="2665"/>
              <a:t>发展</a:t>
            </a:r>
            <a:r>
              <a:rPr lang="en-US" altLang="zh-CN" sz="2665"/>
              <a:t>	   B.</a:t>
            </a:r>
            <a:r>
              <a:rPr lang="zh-CN" altLang="en-US" sz="2665"/>
              <a:t>开放</a:t>
            </a:r>
            <a:r>
              <a:rPr lang="en-US" altLang="zh-CN" sz="2665"/>
              <a:t>	  C.</a:t>
            </a:r>
            <a:r>
              <a:rPr lang="zh-CN" altLang="en-US" sz="2665"/>
              <a:t>改革</a:t>
            </a:r>
            <a:r>
              <a:rPr lang="en-US" altLang="zh-CN" sz="2665"/>
              <a:t>	D.</a:t>
            </a:r>
            <a:r>
              <a:rPr lang="zh-CN" altLang="en-US" sz="2665"/>
              <a:t>以人为本</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917190" y="6273800"/>
            <a:ext cx="9144000" cy="504825"/>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537845" y="850900"/>
            <a:ext cx="11523345" cy="5328920"/>
          </a:xfrm>
        </p:spPr>
        <p:txBody>
          <a:bodyPr>
            <a:normAutofit fontScale="90000"/>
          </a:bodyPr>
          <a:lstStyle/>
          <a:p>
            <a:pPr algn="l">
              <a:lnSpc>
                <a:spcPct val="140000"/>
              </a:lnSpc>
            </a:pPr>
            <a:r>
              <a:rPr lang="en-US" altLang="zh-CN" sz="2665"/>
              <a:t>       24.</a:t>
            </a:r>
            <a:r>
              <a:rPr lang="zh-CN" altLang="en-US" sz="2665"/>
              <a:t>（</a:t>
            </a:r>
            <a:r>
              <a:rPr lang="en-US" altLang="zh-CN" sz="2665"/>
              <a:t>    </a:t>
            </a:r>
            <a:r>
              <a:rPr lang="zh-CN" altLang="en-US" sz="2665"/>
              <a:t>），深刻阐明了科学发展观提出的背景、意义，明确界定了</a:t>
            </a:r>
            <a:r>
              <a:rPr lang="en-US" altLang="zh-CN" sz="2665"/>
              <a:t>“</a:t>
            </a:r>
            <a:r>
              <a:rPr lang="zh-CN" altLang="en-US" sz="2665"/>
              <a:t>以人为本</a:t>
            </a:r>
            <a:r>
              <a:rPr lang="en-US" altLang="zh-CN" sz="2665"/>
              <a:t>”“</a:t>
            </a:r>
            <a:r>
              <a:rPr lang="zh-CN" altLang="en-US" sz="2665"/>
              <a:t>全面发展</a:t>
            </a:r>
            <a:r>
              <a:rPr lang="en-US" altLang="zh-CN" sz="2665"/>
              <a:t>”“</a:t>
            </a:r>
            <a:r>
              <a:rPr lang="zh-CN" altLang="en-US" sz="2665"/>
              <a:t>协调发展</a:t>
            </a:r>
            <a:r>
              <a:rPr lang="en-US" altLang="zh-CN" sz="2665"/>
              <a:t>”“</a:t>
            </a:r>
            <a:r>
              <a:rPr lang="zh-CN" altLang="en-US" sz="2665"/>
              <a:t>可持续发展</a:t>
            </a:r>
            <a:r>
              <a:rPr lang="en-US" altLang="zh-CN" sz="2665"/>
              <a:t>”</a:t>
            </a:r>
            <a:r>
              <a:rPr lang="zh-CN" altLang="en-US" sz="2665"/>
              <a:t>的深刻内涵和基本要求，并对如何树立和落实科学发展观提出了明确的要求，标志着科学发展观的形成。</a:t>
            </a:r>
            <a:r>
              <a:rPr lang="en-US" altLang="zh-CN" sz="2665"/>
              <a:t>	</a:t>
            </a:r>
            <a:br>
              <a:rPr lang="en-US" altLang="zh-CN" sz="2665"/>
            </a:br>
            <a:r>
              <a:rPr lang="en-US" altLang="zh-CN" sz="2665"/>
              <a:t>       A.2003</a:t>
            </a:r>
            <a:r>
              <a:rPr lang="zh-CN" altLang="en-US" sz="2665"/>
              <a:t>年</a:t>
            </a:r>
            <a:r>
              <a:rPr lang="en-US" altLang="zh-CN" sz="2665"/>
              <a:t>10</a:t>
            </a:r>
            <a:r>
              <a:rPr lang="zh-CN" altLang="en-US" sz="2665"/>
              <a:t>月，党的十六届三中全会通过的《中共中央关于完善社会主义市场经济体制体制若干问题的决定》</a:t>
            </a:r>
            <a:r>
              <a:rPr lang="en-US" altLang="zh-CN" sz="2665"/>
              <a:t>	</a:t>
            </a:r>
            <a:br>
              <a:rPr lang="en-US" altLang="zh-CN" sz="2665"/>
            </a:br>
            <a:r>
              <a:rPr lang="en-US" altLang="zh-CN" sz="2665"/>
              <a:t>       B.2004</a:t>
            </a:r>
            <a:r>
              <a:rPr lang="zh-CN" altLang="en-US" sz="2665"/>
              <a:t>年</a:t>
            </a:r>
            <a:r>
              <a:rPr lang="en-US" altLang="zh-CN" sz="2665"/>
              <a:t>3</a:t>
            </a:r>
            <a:r>
              <a:rPr lang="zh-CN" altLang="en-US" sz="2665"/>
              <a:t>月，胡锦涛在中央人口资源环境座谈会上发表重要讲话</a:t>
            </a:r>
            <a:r>
              <a:rPr lang="en-US" altLang="zh-CN" sz="2665"/>
              <a:t>	</a:t>
            </a:r>
            <a:br>
              <a:rPr lang="en-US" altLang="zh-CN" sz="2665"/>
            </a:br>
            <a:r>
              <a:rPr lang="en-US" altLang="zh-CN" sz="2665"/>
              <a:t>       C.2004</a:t>
            </a:r>
            <a:r>
              <a:rPr lang="zh-CN" altLang="en-US" sz="2665"/>
              <a:t>年</a:t>
            </a:r>
            <a:r>
              <a:rPr lang="en-US" altLang="zh-CN" sz="2665"/>
              <a:t>9</a:t>
            </a:r>
            <a:r>
              <a:rPr lang="zh-CN" altLang="en-US" sz="2665"/>
              <a:t>月，党的十六届四中全会通过的《中共中央关于加强党的执政能力建设的决定》</a:t>
            </a:r>
            <a:r>
              <a:rPr lang="en-US" altLang="zh-CN" sz="2665"/>
              <a:t>	</a:t>
            </a:r>
            <a:br>
              <a:rPr lang="en-US" altLang="zh-CN" sz="2665"/>
            </a:br>
            <a:r>
              <a:rPr lang="en-US" altLang="zh-CN" sz="2665"/>
              <a:t>       D.2005</a:t>
            </a:r>
            <a:r>
              <a:rPr lang="zh-CN" altLang="en-US" sz="2665"/>
              <a:t>年</a:t>
            </a:r>
            <a:r>
              <a:rPr lang="en-US" altLang="zh-CN" sz="2665"/>
              <a:t>10</a:t>
            </a:r>
            <a:r>
              <a:rPr lang="zh-CN" altLang="en-US" sz="2665"/>
              <a:t>月，党的十六届五中全会通过的《中共中央关于制定国民经济和社会发展第十一个五年规划的建议》</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25.</a:t>
            </a:r>
            <a:r>
              <a:rPr lang="zh-CN" altLang="en-US" sz="2665"/>
              <a:t>中国特色社会主义理论体系形成发展的实践基础是（</a:t>
            </a:r>
            <a:r>
              <a:rPr lang="en-US" altLang="zh-CN" sz="2665"/>
              <a:t>    </a:t>
            </a:r>
            <a:r>
              <a:rPr lang="zh-CN" altLang="en-US" sz="2665"/>
              <a:t>）。</a:t>
            </a:r>
            <a:r>
              <a:rPr lang="en-US" altLang="zh-CN" sz="2665"/>
              <a:t>	</a:t>
            </a:r>
            <a:br>
              <a:rPr lang="en-US" altLang="zh-CN" sz="2665"/>
            </a:br>
            <a:r>
              <a:rPr lang="en-US" altLang="zh-CN" sz="2665"/>
              <a:t>      A.</a:t>
            </a:r>
            <a:r>
              <a:rPr lang="zh-CN" altLang="en-US" sz="2665"/>
              <a:t>我们党领导新民主主义革命的伟大实践</a:t>
            </a:r>
            <a:r>
              <a:rPr lang="en-US" altLang="zh-CN" sz="2665"/>
              <a:t>	</a:t>
            </a:r>
            <a:br>
              <a:rPr lang="en-US" altLang="zh-CN" sz="2665"/>
            </a:br>
            <a:r>
              <a:rPr lang="en-US" altLang="zh-CN" sz="2665"/>
              <a:t>      B.</a:t>
            </a:r>
            <a:r>
              <a:rPr lang="zh-CN" altLang="en-US" sz="2665"/>
              <a:t>我们党领导社会主义改造的伟大实践</a:t>
            </a:r>
            <a:r>
              <a:rPr lang="en-US" altLang="zh-CN" sz="2665"/>
              <a:t>	</a:t>
            </a:r>
            <a:br>
              <a:rPr lang="en-US" altLang="zh-CN" sz="2665"/>
            </a:br>
            <a:r>
              <a:rPr lang="en-US" altLang="zh-CN" sz="2665"/>
              <a:t>      C.</a:t>
            </a:r>
            <a:r>
              <a:rPr lang="zh-CN" altLang="en-US" sz="2665"/>
              <a:t>我们党对社会主义建设道路进行初步探索的实践</a:t>
            </a:r>
            <a:r>
              <a:rPr lang="en-US" altLang="zh-CN" sz="2665"/>
              <a:t>	</a:t>
            </a:r>
            <a:br>
              <a:rPr lang="en-US" altLang="zh-CN" sz="2665"/>
            </a:br>
            <a:r>
              <a:rPr lang="en-US" altLang="zh-CN" sz="2665"/>
              <a:t>      D.</a:t>
            </a:r>
            <a:r>
              <a:rPr lang="zh-CN" altLang="en-US" sz="2665"/>
              <a:t>我们党领导的改革开放和社会主义现代化家建设的生动实践</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1249045"/>
            <a:ext cx="10334625" cy="2487295"/>
          </a:xfrm>
        </p:spPr>
        <p:txBody>
          <a:bodyPr>
            <a:normAutofit fontScale="90000"/>
          </a:bodyPr>
          <a:lstStyle/>
          <a:p>
            <a:pPr algn="l">
              <a:lnSpc>
                <a:spcPct val="140000"/>
              </a:lnSpc>
            </a:pPr>
            <a:r>
              <a:rPr lang="en-US" altLang="zh-CN" sz="2665"/>
              <a:t>      26.</a:t>
            </a:r>
            <a:r>
              <a:rPr lang="zh-CN" altLang="en-US" sz="2665"/>
              <a:t>苏联解体以后，国际局势发生深刻变化。美国作为唯一超级大国，极力使世界向（</a:t>
            </a:r>
            <a:r>
              <a:rPr lang="en-US" altLang="zh-CN" sz="2665"/>
              <a:t>    </a:t>
            </a:r>
            <a:r>
              <a:rPr lang="zh-CN" altLang="en-US" sz="2665"/>
              <a:t>）方向发展，谋求建立以其为领导的世界秩序。</a:t>
            </a:r>
            <a:r>
              <a:rPr lang="en-US" altLang="zh-CN" sz="2665"/>
              <a:t>	</a:t>
            </a:r>
            <a:br>
              <a:rPr lang="en-US" altLang="zh-CN" sz="2665"/>
            </a:br>
            <a:r>
              <a:rPr lang="en-US" altLang="zh-CN" sz="2665"/>
              <a:t>      A.</a:t>
            </a:r>
            <a:r>
              <a:rPr lang="zh-CN" altLang="en-US" sz="2665"/>
              <a:t>多极化</a:t>
            </a:r>
            <a:r>
              <a:rPr lang="en-US" altLang="zh-CN" sz="2665"/>
              <a:t>	      B.</a:t>
            </a:r>
            <a:r>
              <a:rPr lang="zh-CN" altLang="en-US" sz="2665"/>
              <a:t>多元化</a:t>
            </a:r>
            <a:r>
              <a:rPr lang="en-US" altLang="zh-CN" sz="2665"/>
              <a:t>	      C.</a:t>
            </a:r>
            <a:r>
              <a:rPr lang="zh-CN" altLang="en-US" sz="2665"/>
              <a:t>单极化</a:t>
            </a:r>
            <a:r>
              <a:rPr lang="en-US" altLang="zh-CN" sz="2665"/>
              <a:t>	     D.</a:t>
            </a:r>
            <a:r>
              <a:rPr lang="zh-CN" altLang="en-US" sz="2665"/>
              <a:t>单边化</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27.“</a:t>
            </a:r>
            <a:r>
              <a:rPr lang="zh-CN" altLang="en-US" sz="2665" dirty="0"/>
              <a:t>三个代表</a:t>
            </a:r>
            <a:r>
              <a:rPr lang="en-US" altLang="zh-CN" sz="2665" dirty="0"/>
              <a:t>”</a:t>
            </a:r>
            <a:r>
              <a:rPr lang="zh-CN" altLang="en-US" sz="2665" dirty="0"/>
              <a:t>重要思想形成于哪个时期？（</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改革开放初期</a:t>
            </a:r>
            <a:r>
              <a:rPr lang="en-US" altLang="zh-CN" sz="2665" dirty="0"/>
              <a:t>	</a:t>
            </a:r>
            <a:br>
              <a:rPr lang="en-US" altLang="zh-CN" sz="2665" dirty="0"/>
            </a:br>
            <a:r>
              <a:rPr lang="en-US" altLang="zh-CN" sz="2665" dirty="0"/>
              <a:t>       B.</a:t>
            </a:r>
            <a:r>
              <a:rPr lang="zh-CN" altLang="en-US" sz="2665" dirty="0"/>
              <a:t>党的十三届四中全会后</a:t>
            </a:r>
            <a:r>
              <a:rPr lang="en-US" altLang="zh-CN" sz="2665" dirty="0"/>
              <a:t>	</a:t>
            </a:r>
            <a:br>
              <a:rPr lang="en-US" altLang="zh-CN" sz="2665" dirty="0"/>
            </a:br>
            <a:r>
              <a:rPr lang="en-US" altLang="zh-CN" sz="2665" dirty="0"/>
              <a:t>       C.</a:t>
            </a:r>
            <a:r>
              <a:rPr lang="zh-CN" altLang="en-US" sz="2665" dirty="0"/>
              <a:t>党的十六大后</a:t>
            </a:r>
            <a:r>
              <a:rPr lang="en-US" altLang="zh-CN" sz="2665" dirty="0"/>
              <a:t>	</a:t>
            </a:r>
            <a:br>
              <a:rPr lang="en-US" altLang="zh-CN" sz="2665" dirty="0"/>
            </a:br>
            <a:r>
              <a:rPr lang="en-US" altLang="zh-CN" sz="2665" dirty="0"/>
              <a:t>       D.</a:t>
            </a:r>
            <a:r>
              <a:rPr lang="zh-CN" altLang="en-US" sz="2665" dirty="0"/>
              <a:t>党的十七大后</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solidFill>
                  <a:srgbClr val="FF0000"/>
                </a:solidFill>
              </a:rPr>
              <a:t>      28</a:t>
            </a:r>
            <a:r>
              <a:rPr lang="en-US" altLang="zh-CN" sz="2665" dirty="0"/>
              <a:t>.</a:t>
            </a:r>
            <a:r>
              <a:rPr lang="zh-CN" altLang="en-US" sz="2665" dirty="0"/>
              <a:t>中国特色社会主义理论体系深化了对三大规律的认识，不包括（</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共产党执政规律</a:t>
            </a:r>
            <a:r>
              <a:rPr lang="en-US" altLang="zh-CN" sz="2665" dirty="0"/>
              <a:t>	</a:t>
            </a:r>
            <a:br>
              <a:rPr lang="en-US" altLang="zh-CN" sz="2665" dirty="0"/>
            </a:br>
            <a:r>
              <a:rPr lang="en-US" altLang="zh-CN" sz="2665" dirty="0"/>
              <a:t>       B.</a:t>
            </a:r>
            <a:r>
              <a:rPr lang="zh-CN" altLang="en-US" sz="2665" dirty="0"/>
              <a:t>社会主义建设规律</a:t>
            </a:r>
            <a:r>
              <a:rPr lang="en-US" altLang="zh-CN" sz="2665" dirty="0"/>
              <a:t>	</a:t>
            </a:r>
            <a:br>
              <a:rPr lang="en-US" altLang="zh-CN" sz="2665" dirty="0"/>
            </a:br>
            <a:r>
              <a:rPr lang="en-US" altLang="zh-CN" sz="2665" dirty="0"/>
              <a:t>       C.</a:t>
            </a:r>
            <a:r>
              <a:rPr lang="zh-CN" altLang="en-US" sz="2665" dirty="0"/>
              <a:t>人类社会发展规律</a:t>
            </a:r>
            <a:r>
              <a:rPr lang="en-US" altLang="zh-CN" sz="2665" dirty="0"/>
              <a:t>	</a:t>
            </a:r>
            <a:br>
              <a:rPr lang="en-US" altLang="zh-CN" sz="2665" dirty="0"/>
            </a:br>
            <a:r>
              <a:rPr lang="en-US" altLang="zh-CN" sz="2665" dirty="0"/>
              <a:t>       D.</a:t>
            </a:r>
            <a:r>
              <a:rPr lang="zh-CN" altLang="en-US" sz="2665" dirty="0"/>
              <a:t>历史发展规律</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a:t>
            </a:r>
            <a:r>
              <a:rPr lang="en-US" altLang="zh-CN" sz="2665" dirty="0">
                <a:solidFill>
                  <a:srgbClr val="FF0000"/>
                </a:solidFill>
              </a:rPr>
              <a:t>  29.</a:t>
            </a:r>
            <a:r>
              <a:rPr lang="zh-CN" altLang="en-US" sz="2665" dirty="0"/>
              <a:t>正式提出</a:t>
            </a:r>
            <a:r>
              <a:rPr lang="en-US" altLang="zh-CN" sz="2665" dirty="0"/>
              <a:t>“</a:t>
            </a:r>
            <a:r>
              <a:rPr lang="zh-CN" altLang="en-US" sz="2665" dirty="0"/>
              <a:t>邓小平理论</a:t>
            </a:r>
            <a:r>
              <a:rPr lang="en-US" altLang="zh-CN" sz="2665" dirty="0"/>
              <a:t>”</a:t>
            </a:r>
            <a:r>
              <a:rPr lang="zh-CN" altLang="en-US" sz="2665" dirty="0"/>
              <a:t>这一概念是在（</a:t>
            </a:r>
            <a:r>
              <a:rPr lang="en-US" altLang="zh-CN" sz="2665" dirty="0"/>
              <a:t>    </a:t>
            </a:r>
            <a:r>
              <a:rPr lang="zh-CN" altLang="en-US" sz="2665" dirty="0"/>
              <a:t>）。</a:t>
            </a:r>
            <a:r>
              <a:rPr lang="en-US" altLang="zh-CN" sz="2665" dirty="0"/>
              <a:t>	</a:t>
            </a:r>
            <a:br>
              <a:rPr lang="en-US" altLang="zh-CN" sz="2665" dirty="0"/>
            </a:br>
            <a:r>
              <a:rPr lang="en-US" altLang="zh-CN" sz="2665" dirty="0"/>
              <a:t>      A.1987</a:t>
            </a:r>
            <a:r>
              <a:rPr lang="zh-CN" altLang="en-US" sz="2665" dirty="0"/>
              <a:t>年党的十三大</a:t>
            </a:r>
            <a:r>
              <a:rPr lang="en-US" altLang="zh-CN" sz="2665" dirty="0"/>
              <a:t>	</a:t>
            </a:r>
            <a:br>
              <a:rPr lang="en-US" altLang="zh-CN" sz="2665" dirty="0"/>
            </a:br>
            <a:r>
              <a:rPr lang="en-US" altLang="zh-CN" sz="2665" dirty="0"/>
              <a:t>      B.1992</a:t>
            </a:r>
            <a:r>
              <a:rPr lang="zh-CN" altLang="en-US" sz="2665" dirty="0"/>
              <a:t>年党的十四大</a:t>
            </a:r>
            <a:r>
              <a:rPr lang="en-US" altLang="zh-CN" sz="2665" dirty="0"/>
              <a:t>	</a:t>
            </a:r>
            <a:br>
              <a:rPr lang="en-US" altLang="zh-CN" sz="2665" dirty="0"/>
            </a:br>
            <a:r>
              <a:rPr lang="en-US" altLang="zh-CN" sz="2665" dirty="0"/>
              <a:t>      C.1997</a:t>
            </a:r>
            <a:r>
              <a:rPr lang="zh-CN" altLang="en-US" sz="2665" dirty="0"/>
              <a:t>年党的十五大</a:t>
            </a:r>
            <a:r>
              <a:rPr lang="en-US" altLang="zh-CN" sz="2665" dirty="0"/>
              <a:t>	</a:t>
            </a:r>
            <a:br>
              <a:rPr lang="en-US" altLang="zh-CN" sz="2665" dirty="0"/>
            </a:br>
            <a:r>
              <a:rPr lang="en-US" altLang="zh-CN" sz="2665" dirty="0"/>
              <a:t>      D.2002</a:t>
            </a:r>
            <a:r>
              <a:rPr lang="zh-CN" altLang="en-US" sz="2665" dirty="0"/>
              <a:t>年党的十六大</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30.</a:t>
            </a:r>
            <a:r>
              <a:rPr lang="zh-CN" altLang="en-US" sz="2665"/>
              <a:t>江泽民全面阐述</a:t>
            </a:r>
            <a:r>
              <a:rPr lang="en-US" altLang="zh-CN" sz="2665"/>
              <a:t>“</a:t>
            </a:r>
            <a:r>
              <a:rPr lang="zh-CN" altLang="en-US" sz="2665"/>
              <a:t>三个代表</a:t>
            </a:r>
            <a:r>
              <a:rPr lang="en-US" altLang="zh-CN" sz="2665"/>
              <a:t>”</a:t>
            </a:r>
            <a:r>
              <a:rPr lang="zh-CN" altLang="en-US" sz="2665"/>
              <a:t>重要思想的科学内涵和基本内容是在（</a:t>
            </a:r>
            <a:r>
              <a:rPr lang="en-US" altLang="zh-CN" sz="2665"/>
              <a:t>    </a:t>
            </a:r>
            <a:r>
              <a:rPr lang="zh-CN" altLang="en-US" sz="2665"/>
              <a:t>）。</a:t>
            </a:r>
            <a:r>
              <a:rPr lang="en-US" altLang="zh-CN" sz="2665"/>
              <a:t>	</a:t>
            </a:r>
            <a:br>
              <a:rPr lang="en-US" altLang="zh-CN" sz="2665"/>
            </a:br>
            <a:r>
              <a:rPr lang="en-US" altLang="zh-CN" sz="2665"/>
              <a:t>      A.2000</a:t>
            </a:r>
            <a:r>
              <a:rPr lang="zh-CN" altLang="en-US" sz="2665"/>
              <a:t>年</a:t>
            </a:r>
            <a:r>
              <a:rPr lang="en-US" altLang="zh-CN" sz="2665"/>
              <a:t>10</a:t>
            </a:r>
            <a:r>
              <a:rPr lang="zh-CN" altLang="en-US" sz="2665"/>
              <a:t>月党的十五届五中全会上</a:t>
            </a:r>
            <a:r>
              <a:rPr lang="en-US" altLang="zh-CN" sz="2665"/>
              <a:t>	</a:t>
            </a:r>
            <a:br>
              <a:rPr lang="en-US" altLang="zh-CN" sz="2665"/>
            </a:br>
            <a:r>
              <a:rPr lang="en-US" altLang="zh-CN" sz="2665"/>
              <a:t>      B.2001</a:t>
            </a:r>
            <a:r>
              <a:rPr lang="zh-CN" altLang="en-US" sz="2665"/>
              <a:t>年</a:t>
            </a:r>
            <a:r>
              <a:rPr lang="en-US" altLang="zh-CN" sz="2665"/>
              <a:t>7</a:t>
            </a:r>
            <a:r>
              <a:rPr lang="zh-CN" altLang="en-US" sz="2665"/>
              <a:t>月</a:t>
            </a:r>
            <a:r>
              <a:rPr lang="en-US" altLang="zh-CN" sz="2665"/>
              <a:t>1</a:t>
            </a:r>
            <a:r>
              <a:rPr lang="zh-CN" altLang="en-US" sz="2665"/>
              <a:t>日在庆祝中国共产党成立八十周年大会上</a:t>
            </a:r>
            <a:r>
              <a:rPr lang="en-US" altLang="zh-CN" sz="2665"/>
              <a:t>	</a:t>
            </a:r>
            <a:br>
              <a:rPr lang="en-US" altLang="zh-CN" sz="2665"/>
            </a:br>
            <a:r>
              <a:rPr lang="en-US" altLang="zh-CN" sz="2665"/>
              <a:t>      C.2002</a:t>
            </a:r>
            <a:r>
              <a:rPr lang="zh-CN" altLang="en-US" sz="2665"/>
              <a:t>年</a:t>
            </a:r>
            <a:r>
              <a:rPr lang="en-US" altLang="zh-CN" sz="2665"/>
              <a:t>5</a:t>
            </a:r>
            <a:r>
              <a:rPr lang="zh-CN" altLang="en-US" sz="2665"/>
              <a:t>月在中共中央党校省部级干部进修班毕业典礼上</a:t>
            </a:r>
            <a:r>
              <a:rPr lang="en-US" altLang="zh-CN" sz="2665"/>
              <a:t>	</a:t>
            </a:r>
            <a:br>
              <a:rPr lang="en-US" altLang="zh-CN" sz="2665"/>
            </a:br>
            <a:r>
              <a:rPr lang="en-US" altLang="zh-CN" sz="2665"/>
              <a:t>      D.2002</a:t>
            </a:r>
            <a:r>
              <a:rPr lang="zh-CN" altLang="en-US" sz="2665"/>
              <a:t>年</a:t>
            </a:r>
            <a:r>
              <a:rPr lang="en-US" altLang="zh-CN" sz="2665"/>
              <a:t>11</a:t>
            </a:r>
            <a:r>
              <a:rPr lang="zh-CN" altLang="en-US" sz="2665"/>
              <a:t>月党的十六大上</a:t>
            </a:r>
            <a:br>
              <a:rPr lang="zh-CN" altLang="en-US" sz="2665"/>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31.</a:t>
            </a:r>
            <a:r>
              <a:rPr lang="zh-CN" altLang="en-US" sz="2665" dirty="0"/>
              <a:t>中国特色社会主义理论体系的开篇之作是（</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邓小平理论</a:t>
            </a:r>
            <a:r>
              <a:rPr lang="en-US" altLang="zh-CN" sz="2665" dirty="0"/>
              <a:t>	</a:t>
            </a:r>
            <a:br>
              <a:rPr lang="en-US" altLang="zh-CN" sz="2665" dirty="0"/>
            </a:br>
            <a:r>
              <a:rPr lang="en-US" altLang="zh-CN" sz="2665" dirty="0"/>
              <a:t>       B.“</a:t>
            </a:r>
            <a:r>
              <a:rPr lang="zh-CN" altLang="en-US" sz="2665" dirty="0"/>
              <a:t>三个代表</a:t>
            </a:r>
            <a:r>
              <a:rPr lang="en-US" altLang="zh-CN" sz="2665" dirty="0"/>
              <a:t>”</a:t>
            </a:r>
            <a:r>
              <a:rPr lang="zh-CN" altLang="en-US" sz="2665" dirty="0"/>
              <a:t>重要思想</a:t>
            </a:r>
            <a:r>
              <a:rPr lang="en-US" altLang="zh-CN" sz="2665" dirty="0"/>
              <a:t>	</a:t>
            </a:r>
            <a:br>
              <a:rPr lang="en-US" altLang="zh-CN" sz="2665" dirty="0"/>
            </a:br>
            <a:r>
              <a:rPr lang="en-US" altLang="zh-CN" sz="2665" dirty="0"/>
              <a:t>       C.</a:t>
            </a:r>
            <a:r>
              <a:rPr lang="zh-CN" altLang="en-US" sz="2665" dirty="0"/>
              <a:t>科学发展观</a:t>
            </a:r>
            <a:r>
              <a:rPr lang="en-US" altLang="zh-CN" sz="2665" dirty="0"/>
              <a:t>	</a:t>
            </a:r>
            <a:br>
              <a:rPr lang="en-US" altLang="zh-CN" sz="2665" dirty="0"/>
            </a:br>
            <a:r>
              <a:rPr lang="en-US" altLang="zh-CN" sz="2665" dirty="0"/>
              <a:t>       D.</a:t>
            </a:r>
            <a:r>
              <a:rPr lang="zh-CN" altLang="en-US" sz="2665" dirty="0"/>
              <a:t>习近平新时代中国特色社会主义思想</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a:t>      32.</a:t>
            </a:r>
            <a:r>
              <a:rPr lang="zh-CN" altLang="en-US" sz="2665"/>
              <a:t>在全面开创改革开放新局面，推进党的建设新的伟大工程，成功把中国特色社会主义推向</a:t>
            </a:r>
            <a:r>
              <a:rPr lang="en-US" altLang="zh-CN" sz="2665"/>
              <a:t>21</a:t>
            </a:r>
            <a:r>
              <a:rPr lang="zh-CN" altLang="en-US" sz="2665"/>
              <a:t>世纪的伟大实践中形成和发展起来的党的创新理论成果是（</a:t>
            </a:r>
            <a:r>
              <a:rPr lang="en-US" altLang="zh-CN" sz="2665"/>
              <a:t>    </a:t>
            </a:r>
            <a:r>
              <a:rPr lang="zh-CN" altLang="en-US" sz="2665"/>
              <a:t>）。</a:t>
            </a:r>
            <a:r>
              <a:rPr lang="en-US" altLang="zh-CN" sz="2665"/>
              <a:t>		</a:t>
            </a:r>
            <a:br>
              <a:rPr lang="en-US" altLang="zh-CN" sz="2665"/>
            </a:br>
            <a:r>
              <a:rPr lang="en-US" altLang="zh-CN" sz="2665"/>
              <a:t>       </a:t>
            </a:r>
            <a:r>
              <a:rPr lang="en-US" altLang="zh-CN" sz="2665">
                <a:sym typeface="+mn-ea"/>
              </a:rPr>
              <a:t>A.</a:t>
            </a:r>
            <a:r>
              <a:rPr lang="zh-CN" altLang="en-US" sz="2665">
                <a:sym typeface="+mn-ea"/>
              </a:rPr>
              <a:t>邓小平理论</a:t>
            </a:r>
            <a:r>
              <a:rPr lang="en-US" altLang="zh-CN" sz="2665">
                <a:sym typeface="+mn-ea"/>
              </a:rPr>
              <a:t>	</a:t>
            </a:r>
            <a:br>
              <a:rPr lang="en-US" altLang="zh-CN" sz="2665">
                <a:sym typeface="+mn-ea"/>
              </a:rPr>
            </a:br>
            <a:r>
              <a:rPr lang="en-US" altLang="zh-CN" sz="2665">
                <a:sym typeface="+mn-ea"/>
              </a:rPr>
              <a:t>       B.“</a:t>
            </a:r>
            <a:r>
              <a:rPr lang="zh-CN" altLang="en-US" sz="2665">
                <a:sym typeface="+mn-ea"/>
              </a:rPr>
              <a:t>三个代表</a:t>
            </a:r>
            <a:r>
              <a:rPr lang="en-US" altLang="zh-CN" sz="2665">
                <a:sym typeface="+mn-ea"/>
              </a:rPr>
              <a:t>”</a:t>
            </a:r>
            <a:r>
              <a:rPr lang="zh-CN" altLang="en-US" sz="2665">
                <a:sym typeface="+mn-ea"/>
              </a:rPr>
              <a:t>重要思想</a:t>
            </a:r>
            <a:r>
              <a:rPr lang="en-US" altLang="zh-CN" sz="2665">
                <a:sym typeface="+mn-ea"/>
              </a:rPr>
              <a:t>	</a:t>
            </a:r>
            <a:br>
              <a:rPr lang="en-US" altLang="zh-CN" sz="2665">
                <a:sym typeface="+mn-ea"/>
              </a:rPr>
            </a:br>
            <a:r>
              <a:rPr lang="en-US" altLang="zh-CN" sz="2665">
                <a:sym typeface="+mn-ea"/>
              </a:rPr>
              <a:t>       C.</a:t>
            </a:r>
            <a:r>
              <a:rPr lang="zh-CN" altLang="en-US" sz="2665">
                <a:sym typeface="+mn-ea"/>
              </a:rPr>
              <a:t>科学发展观</a:t>
            </a:r>
            <a:r>
              <a:rPr lang="en-US" altLang="zh-CN" sz="2665">
                <a:sym typeface="+mn-ea"/>
              </a:rPr>
              <a:t>	</a:t>
            </a:r>
            <a:br>
              <a:rPr lang="en-US" altLang="zh-CN" sz="2665">
                <a:sym typeface="+mn-ea"/>
              </a:rPr>
            </a:br>
            <a:r>
              <a:rPr lang="en-US" altLang="zh-CN" sz="2665">
                <a:sym typeface="+mn-ea"/>
              </a:rPr>
              <a:t>       D.</a:t>
            </a:r>
            <a:r>
              <a:rPr lang="zh-CN" altLang="en-US" sz="2665">
                <a:sym typeface="+mn-ea"/>
              </a:rPr>
              <a:t>习近平新时代中国特色社会主义思想</a:t>
            </a:r>
            <a:br>
              <a:rPr lang="zh-CN" altLang="en-US" sz="2665">
                <a:sym typeface="+mn-ea"/>
              </a:rPr>
            </a:b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33.</a:t>
            </a:r>
            <a:r>
              <a:rPr lang="zh-CN" altLang="en-US" sz="2665"/>
              <a:t>在新世纪新阶段全面建设小康社会进程中，在新的历史起点上推进中国特色社会主义事业的过程中形成和发展起来的党的创新理论成果是（</a:t>
            </a:r>
            <a:r>
              <a:rPr lang="en-US" altLang="zh-CN" sz="2665"/>
              <a:t>    </a:t>
            </a:r>
            <a:r>
              <a:rPr lang="zh-CN" altLang="en-US" sz="2665"/>
              <a:t>）</a:t>
            </a:r>
            <a:r>
              <a:rPr lang="en-US" altLang="zh-CN" sz="2665"/>
              <a:t>	</a:t>
            </a:r>
            <a:br>
              <a:rPr lang="en-US" altLang="zh-CN" sz="2665"/>
            </a:br>
            <a:r>
              <a:rPr lang="en-US" altLang="zh-CN" sz="2665"/>
              <a:t>       </a:t>
            </a:r>
            <a:r>
              <a:rPr lang="en-US" altLang="zh-CN" sz="2665">
                <a:sym typeface="+mn-ea"/>
              </a:rPr>
              <a:t>A.</a:t>
            </a:r>
            <a:r>
              <a:rPr lang="zh-CN" altLang="en-US" sz="2665">
                <a:sym typeface="+mn-ea"/>
              </a:rPr>
              <a:t>邓小平理论</a:t>
            </a:r>
            <a:r>
              <a:rPr lang="en-US" altLang="zh-CN" sz="2665">
                <a:sym typeface="+mn-ea"/>
              </a:rPr>
              <a:t>	</a:t>
            </a:r>
            <a:br>
              <a:rPr lang="en-US" altLang="zh-CN" sz="2665">
                <a:sym typeface="+mn-ea"/>
              </a:rPr>
            </a:br>
            <a:r>
              <a:rPr lang="en-US" altLang="zh-CN" sz="2665">
                <a:sym typeface="+mn-ea"/>
              </a:rPr>
              <a:t>       B.“</a:t>
            </a:r>
            <a:r>
              <a:rPr lang="zh-CN" altLang="en-US" sz="2665">
                <a:sym typeface="+mn-ea"/>
              </a:rPr>
              <a:t>三个代表</a:t>
            </a:r>
            <a:r>
              <a:rPr lang="en-US" altLang="zh-CN" sz="2665">
                <a:sym typeface="+mn-ea"/>
              </a:rPr>
              <a:t>”</a:t>
            </a:r>
            <a:r>
              <a:rPr lang="zh-CN" altLang="en-US" sz="2665">
                <a:sym typeface="+mn-ea"/>
              </a:rPr>
              <a:t>重要思想</a:t>
            </a:r>
            <a:r>
              <a:rPr lang="en-US" altLang="zh-CN" sz="2665">
                <a:sym typeface="+mn-ea"/>
              </a:rPr>
              <a:t>	</a:t>
            </a:r>
            <a:br>
              <a:rPr lang="en-US" altLang="zh-CN" sz="2665">
                <a:sym typeface="+mn-ea"/>
              </a:rPr>
            </a:br>
            <a:r>
              <a:rPr lang="en-US" altLang="zh-CN" sz="2665">
                <a:sym typeface="+mn-ea"/>
              </a:rPr>
              <a:t>       C.</a:t>
            </a:r>
            <a:r>
              <a:rPr lang="zh-CN" altLang="en-US" sz="2665">
                <a:sym typeface="+mn-ea"/>
              </a:rPr>
              <a:t>科学发展观</a:t>
            </a:r>
            <a:r>
              <a:rPr lang="en-US" altLang="zh-CN" sz="2665">
                <a:sym typeface="+mn-ea"/>
              </a:rPr>
              <a:t>	</a:t>
            </a:r>
            <a:br>
              <a:rPr lang="en-US" altLang="zh-CN" sz="2665">
                <a:sym typeface="+mn-ea"/>
              </a:rPr>
            </a:br>
            <a:r>
              <a:rPr lang="en-US" altLang="zh-CN" sz="2665">
                <a:sym typeface="+mn-ea"/>
              </a:rPr>
              <a:t>       D.</a:t>
            </a:r>
            <a:r>
              <a:rPr lang="zh-CN" altLang="en-US" sz="2665">
                <a:sym typeface="+mn-ea"/>
              </a:rPr>
              <a:t>习近平新时代中国特色社会主义思想</a:t>
            </a:r>
            <a:endParaRPr lang="zh-CN" altLang="en-US" sz="2665"/>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1249045"/>
            <a:ext cx="10334625" cy="3582670"/>
          </a:xfrm>
        </p:spPr>
        <p:txBody>
          <a:bodyPr>
            <a:normAutofit/>
          </a:bodyPr>
          <a:lstStyle/>
          <a:p>
            <a:pPr algn="l">
              <a:lnSpc>
                <a:spcPct val="140000"/>
              </a:lnSpc>
            </a:pPr>
            <a:r>
              <a:rPr lang="en-US" altLang="zh-CN" sz="2665"/>
              <a:t>      34.</a:t>
            </a:r>
            <a:r>
              <a:rPr lang="zh-CN" altLang="en-US" sz="2665"/>
              <a:t>（</a:t>
            </a:r>
            <a:r>
              <a:rPr lang="en-US" altLang="zh-CN" sz="2665"/>
              <a:t>    </a:t>
            </a:r>
            <a:r>
              <a:rPr lang="zh-CN" altLang="en-US" sz="2665"/>
              <a:t>），为党的十一届三中全会的召开作了重要的思想准备，对于改变党和国家的历史命运，产生了重大而深远的影响。</a:t>
            </a:r>
            <a:r>
              <a:rPr lang="en-US" altLang="zh-CN" sz="2665"/>
              <a:t>		</a:t>
            </a:r>
            <a:br>
              <a:rPr lang="en-US" altLang="zh-CN" sz="2665"/>
            </a:br>
            <a:r>
              <a:rPr lang="en-US" altLang="zh-CN" sz="2665"/>
              <a:t>      A.</a:t>
            </a:r>
            <a:r>
              <a:rPr lang="zh-CN" altLang="en-US" sz="2665"/>
              <a:t>《实践是检验真理的唯一标准》一文的发表</a:t>
            </a:r>
            <a:r>
              <a:rPr lang="en-US" altLang="zh-CN" sz="2665"/>
              <a:t>	</a:t>
            </a:r>
            <a:br>
              <a:rPr lang="en-US" altLang="zh-CN" sz="2665"/>
            </a:br>
            <a:r>
              <a:rPr lang="en-US" altLang="zh-CN" sz="2665"/>
              <a:t>      B.</a:t>
            </a:r>
            <a:r>
              <a:rPr lang="zh-CN" altLang="en-US" sz="2665"/>
              <a:t>真理标准问题大讨论</a:t>
            </a:r>
            <a:r>
              <a:rPr lang="en-US" altLang="zh-CN" sz="2665"/>
              <a:t>	</a:t>
            </a:r>
            <a:br>
              <a:rPr lang="en-US" altLang="zh-CN" sz="2665"/>
            </a:br>
            <a:r>
              <a:rPr lang="en-US" altLang="zh-CN" sz="2665"/>
              <a:t>      C.</a:t>
            </a:r>
            <a:r>
              <a:rPr lang="zh-CN" altLang="en-US" sz="2665"/>
              <a:t>《中国共产党第十一届中央委员会第三次全体会议公报》</a:t>
            </a:r>
            <a:r>
              <a:rPr lang="en-US" altLang="zh-CN" sz="2665"/>
              <a:t>	</a:t>
            </a:r>
            <a:br>
              <a:rPr lang="en-US" altLang="zh-CN" sz="2665"/>
            </a:br>
            <a:r>
              <a:rPr lang="en-US" altLang="zh-CN" sz="2665"/>
              <a:t>      D.</a:t>
            </a:r>
            <a:r>
              <a:rPr lang="zh-CN" altLang="en-US" sz="2665"/>
              <a:t>邓小平的南方谈话</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a:t>
            </a:r>
            <a:r>
              <a:rPr lang="en-US" altLang="zh-CN" sz="2665" dirty="0">
                <a:solidFill>
                  <a:srgbClr val="FF0000"/>
                </a:solidFill>
              </a:rPr>
              <a:t>35.</a:t>
            </a:r>
            <a:r>
              <a:rPr lang="en-US" altLang="zh-CN" sz="2665" dirty="0"/>
              <a:t>1984</a:t>
            </a:r>
            <a:r>
              <a:rPr lang="zh-CN" altLang="en-US" sz="2665" dirty="0"/>
              <a:t>年党的十二届三中全会提出，社会主义经济是在公有制基础上的（</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社会主义计划经济</a:t>
            </a:r>
            <a:r>
              <a:rPr lang="en-US" altLang="zh-CN" sz="2665" dirty="0"/>
              <a:t>	</a:t>
            </a:r>
            <a:br>
              <a:rPr lang="en-US" altLang="zh-CN" sz="2665" dirty="0"/>
            </a:br>
            <a:r>
              <a:rPr lang="en-US" altLang="zh-CN" sz="2665" dirty="0"/>
              <a:t>      B.</a:t>
            </a:r>
            <a:r>
              <a:rPr lang="zh-CN" altLang="en-US" sz="2665" dirty="0"/>
              <a:t>有计划的商品经济</a:t>
            </a:r>
            <a:br>
              <a:rPr lang="zh-CN" altLang="en-US" sz="2665" dirty="0"/>
            </a:br>
            <a:r>
              <a:rPr lang="en-US" altLang="zh-CN" sz="2665" dirty="0"/>
              <a:t>      C.</a:t>
            </a:r>
            <a:r>
              <a:rPr lang="zh-CN" altLang="en-US" sz="2665" dirty="0"/>
              <a:t>社会主义市场经济</a:t>
            </a:r>
            <a:r>
              <a:rPr lang="en-US" altLang="zh-CN" sz="2665" dirty="0"/>
              <a:t>	</a:t>
            </a:r>
            <a:br>
              <a:rPr lang="en-US" altLang="zh-CN" sz="2665" dirty="0"/>
            </a:br>
            <a:r>
              <a:rPr lang="en-US" altLang="zh-CN" sz="2665" dirty="0"/>
              <a:t>      D.</a:t>
            </a:r>
            <a:r>
              <a:rPr lang="zh-CN" altLang="en-US" sz="2665" dirty="0"/>
              <a:t>自由市场经济</a:t>
            </a:r>
            <a:br>
              <a:rPr lang="zh-CN" altLang="en-US" sz="2665" dirty="0"/>
            </a:br>
            <a:endParaRPr lang="zh-CN" altLang="en-US" sz="2665" dirty="0"/>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单选题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1.</a:t>
            </a:r>
            <a:r>
              <a:rPr lang="zh-CN" altLang="en-US" sz="2665"/>
              <a:t>中国特色社会主义理论体系是（</a:t>
            </a:r>
            <a:r>
              <a:rPr lang="en-US" altLang="zh-CN" sz="2665"/>
              <a:t>   </a:t>
            </a:r>
            <a:r>
              <a:rPr lang="zh-CN" altLang="en-US" sz="2665"/>
              <a:t>）。</a:t>
            </a:r>
            <a:r>
              <a:rPr lang="en-US" altLang="zh-CN" sz="2665"/>
              <a:t>		</a:t>
            </a:r>
            <a:br>
              <a:rPr lang="en-US" altLang="zh-CN" sz="2665"/>
            </a:br>
            <a:r>
              <a:rPr lang="en-US" altLang="zh-CN" sz="2665"/>
              <a:t>        A.</a:t>
            </a:r>
            <a:r>
              <a:rPr lang="zh-CN" altLang="en-US" sz="2665"/>
              <a:t>全党全国各族人民团结奋斗的共同思想基础</a:t>
            </a:r>
            <a:r>
              <a:rPr lang="en-US" altLang="zh-CN" sz="2665"/>
              <a:t>	</a:t>
            </a:r>
            <a:br>
              <a:rPr lang="en-US" altLang="zh-CN" sz="2665"/>
            </a:br>
            <a:r>
              <a:rPr lang="en-US" altLang="zh-CN" sz="2665"/>
              <a:t>        B.</a:t>
            </a:r>
            <a:r>
              <a:rPr lang="zh-CN" altLang="en-US" sz="2665"/>
              <a:t>战胜来自政治、经济、社会和自然界等一切风险和挑战的精神支柱</a:t>
            </a:r>
            <a:br>
              <a:rPr lang="zh-CN" altLang="en-US" sz="2665"/>
            </a:br>
            <a:r>
              <a:rPr lang="zh-CN" altLang="en-US" sz="2665"/>
              <a:t> </a:t>
            </a:r>
            <a:r>
              <a:rPr lang="en-US" altLang="zh-CN" sz="2665"/>
              <a:t>       C.</a:t>
            </a:r>
            <a:r>
              <a:rPr lang="zh-CN" altLang="en-US" sz="2665"/>
              <a:t>坚持和发展中国特色社会主义的行动指南</a:t>
            </a:r>
            <a:r>
              <a:rPr lang="en-US" altLang="zh-CN" sz="2665"/>
              <a:t>	</a:t>
            </a:r>
            <a:br>
              <a:rPr lang="en-US" altLang="zh-CN" sz="2665"/>
            </a:br>
            <a:r>
              <a:rPr lang="en-US" altLang="zh-CN" sz="2665"/>
              <a:t>        D.</a:t>
            </a:r>
            <a:r>
              <a:rPr lang="zh-CN" altLang="en-US" sz="2665"/>
              <a:t>全面推进中华民族伟大复兴的根本指针</a:t>
            </a:r>
            <a:r>
              <a:rPr lang="en-US" altLang="zh-CN" sz="2665"/>
              <a:t>	</a:t>
            </a:r>
            <a:br>
              <a:rPr lang="en-US" altLang="zh-CN" sz="2665"/>
            </a:br>
            <a:r>
              <a:rPr lang="en-US" altLang="zh-CN" sz="2665"/>
              <a:t>        E.</a:t>
            </a:r>
            <a:r>
              <a:rPr lang="zh-CN" altLang="en-US" sz="2665"/>
              <a:t>我们党最可贵的政治和精神财富</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5689600"/>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543560" y="995045"/>
            <a:ext cx="11395075" cy="4608830"/>
          </a:xfrm>
        </p:spPr>
        <p:txBody>
          <a:bodyPr>
            <a:normAutofit fontScale="90000"/>
          </a:bodyPr>
          <a:lstStyle/>
          <a:p>
            <a:pPr algn="l">
              <a:lnSpc>
                <a:spcPct val="140000"/>
              </a:lnSpc>
            </a:pPr>
            <a:r>
              <a:rPr lang="en-US" altLang="zh-CN" sz="2665"/>
              <a:t>      2.</a:t>
            </a:r>
            <a:r>
              <a:rPr lang="zh-CN" altLang="en-US" sz="2665"/>
              <a:t>党的十八大以来，中国特色社会主义进入新时代，这是我国发展新的历史方位。中国特色社会主义新时代是（</a:t>
            </a:r>
            <a:r>
              <a:rPr lang="en-US" altLang="zh-CN" sz="2665"/>
              <a:t>   </a:t>
            </a:r>
            <a:r>
              <a:rPr lang="zh-CN" altLang="en-US" sz="2665"/>
              <a:t>）。</a:t>
            </a:r>
            <a:r>
              <a:rPr lang="en-US" altLang="zh-CN" sz="2665"/>
              <a:t>		</a:t>
            </a:r>
            <a:br>
              <a:rPr lang="en-US" altLang="zh-CN" sz="2665"/>
            </a:br>
            <a:r>
              <a:rPr lang="en-US" altLang="zh-CN" sz="2665"/>
              <a:t>      A.</a:t>
            </a:r>
            <a:r>
              <a:rPr lang="zh-CN" altLang="en-US" sz="2665"/>
              <a:t>承前启后、继往开来、在新的历史条件下继续夺取中国特色社会主义伟大胜利的时代</a:t>
            </a:r>
            <a:r>
              <a:rPr lang="en-US" altLang="zh-CN" sz="2665"/>
              <a:t>	</a:t>
            </a:r>
            <a:br>
              <a:rPr lang="en-US" altLang="zh-CN" sz="2665"/>
            </a:br>
            <a:r>
              <a:rPr lang="en-US" altLang="zh-CN" sz="2665"/>
              <a:t>      B.</a:t>
            </a:r>
            <a:r>
              <a:rPr lang="zh-CN" altLang="en-US" sz="2665"/>
              <a:t>决胜全而建成小康社会、进而全面建设社会主义现代化国家的时代</a:t>
            </a:r>
            <a:r>
              <a:rPr lang="en-US" altLang="zh-CN" sz="2665"/>
              <a:t>	</a:t>
            </a:r>
            <a:br>
              <a:rPr lang="en-US" altLang="zh-CN" sz="2665"/>
            </a:br>
            <a:r>
              <a:rPr lang="en-US" altLang="zh-CN" sz="2665"/>
              <a:t>      C.</a:t>
            </a:r>
            <a:r>
              <a:rPr lang="zh-CN" altLang="en-US" sz="2665"/>
              <a:t>全国各族人民团结奋斗、不断创造美好生活、逐步实现全体人民共同富裕的时代</a:t>
            </a:r>
            <a:r>
              <a:rPr lang="en-US" altLang="zh-CN" sz="2665"/>
              <a:t>	</a:t>
            </a:r>
            <a:br>
              <a:rPr lang="en-US" altLang="zh-CN" sz="2665"/>
            </a:br>
            <a:r>
              <a:rPr lang="en-US" altLang="zh-CN" sz="2665"/>
              <a:t>       D.</a:t>
            </a:r>
            <a:r>
              <a:rPr lang="zh-CN" altLang="en-US" sz="2665"/>
              <a:t>全体中华儿女戮力同心、奋力实现中华民族伟大复兴中国梦的时代</a:t>
            </a:r>
            <a:r>
              <a:rPr lang="en-US" altLang="zh-CN" sz="2665"/>
              <a:t>	</a:t>
            </a:r>
            <a:br>
              <a:rPr lang="en-US" altLang="zh-CN" sz="2665"/>
            </a:br>
            <a:r>
              <a:rPr lang="en-US" altLang="zh-CN" sz="2665"/>
              <a:t>       E.</a:t>
            </a:r>
            <a:r>
              <a:rPr lang="zh-CN" altLang="en-US" sz="2665"/>
              <a:t>我国不断为人类作出更大贡献的时代</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44625" y="5900420"/>
            <a:ext cx="9144000" cy="796290"/>
          </a:xfrm>
        </p:spPr>
        <p:txBody>
          <a:bodyPr/>
          <a:lstStyle/>
          <a:p>
            <a:r>
              <a:rPr lang="zh-CN" altLang="en-US"/>
              <a:t>答案：（</a:t>
            </a:r>
            <a:r>
              <a:rPr lang="en-US" altLang="zh-CN">
                <a:sym typeface="+mn-ea"/>
              </a:rPr>
              <a:t>ABC</a:t>
            </a:r>
            <a:r>
              <a:rPr lang="zh-CN" altLang="en-US"/>
              <a:t>）</a:t>
            </a:r>
          </a:p>
        </p:txBody>
      </p:sp>
      <p:sp>
        <p:nvSpPr>
          <p:cNvPr id="2" name="标题 1"/>
          <p:cNvSpPr>
            <a:spLocks noGrp="1"/>
          </p:cNvSpPr>
          <p:nvPr>
            <p:ph type="ctrTitle"/>
          </p:nvPr>
        </p:nvSpPr>
        <p:spPr>
          <a:xfrm>
            <a:off x="904240" y="1052195"/>
            <a:ext cx="10939780" cy="4704080"/>
          </a:xfrm>
        </p:spPr>
        <p:txBody>
          <a:bodyPr>
            <a:normAutofit fontScale="90000"/>
          </a:bodyPr>
          <a:lstStyle/>
          <a:p>
            <a:pPr algn="l">
              <a:lnSpc>
                <a:spcPct val="140000"/>
              </a:lnSpc>
            </a:pPr>
            <a:r>
              <a:rPr lang="en-US" altLang="zh-CN" sz="2665"/>
              <a:t>      3.</a:t>
            </a:r>
            <a:r>
              <a:rPr lang="zh-CN" altLang="en-US" sz="2665"/>
              <a:t>中国特色社会主义进入新时代，意味着（</a:t>
            </a:r>
            <a:r>
              <a:rPr lang="en-US" altLang="zh-CN" sz="2665"/>
              <a:t>   </a:t>
            </a:r>
            <a:r>
              <a:rPr lang="zh-CN" altLang="en-US" sz="2665"/>
              <a:t>）。</a:t>
            </a:r>
            <a:r>
              <a:rPr lang="en-US" altLang="zh-CN" sz="2665"/>
              <a:t>		</a:t>
            </a:r>
            <a:br>
              <a:rPr lang="en-US" altLang="zh-CN" sz="2665"/>
            </a:br>
            <a:r>
              <a:rPr lang="en-US" altLang="zh-CN" sz="2665"/>
              <a:t>      A.</a:t>
            </a:r>
            <a:r>
              <a:rPr lang="zh-CN" altLang="en-US" sz="2665"/>
              <a:t>近代以来久经磨难的中华民族迎来了从站起来、富起来到强起来的伟大飞跃，迎来了实现中华民族伟大复兴的光明前景</a:t>
            </a:r>
            <a:r>
              <a:rPr lang="en-US" altLang="zh-CN" sz="2665"/>
              <a:t>	</a:t>
            </a:r>
            <a:br>
              <a:rPr lang="en-US" altLang="zh-CN" sz="2665"/>
            </a:br>
            <a:r>
              <a:rPr lang="en-US" altLang="zh-CN" sz="2665"/>
              <a:t>       B.</a:t>
            </a:r>
            <a:r>
              <a:rPr lang="zh-CN" altLang="en-US" sz="2665"/>
              <a:t>科学社会主义在</a:t>
            </a:r>
            <a:r>
              <a:rPr lang="en-US" altLang="zh-CN" sz="2665"/>
              <a:t>21</a:t>
            </a:r>
            <a:r>
              <a:rPr lang="zh-CN" altLang="en-US" sz="2665"/>
              <a:t>世纪的中国焕发出强大生机活力，在世界上高高举起了中国特色社会主义伟大旗帜</a:t>
            </a:r>
            <a:r>
              <a:rPr lang="en-US" altLang="zh-CN" sz="2665"/>
              <a:t>	</a:t>
            </a:r>
            <a:br>
              <a:rPr lang="en-US" altLang="zh-CN" sz="2665"/>
            </a:br>
            <a:r>
              <a:rPr lang="en-US" altLang="zh-CN" sz="2665"/>
              <a:t>      C.</a:t>
            </a:r>
            <a:r>
              <a:rPr lang="zh-CN" altLang="en-US" sz="2665"/>
              <a:t>中国特色社会主义道路、理论、制度、文化不断发展，拓展了发展中国家走向现代化的途径，为解决人类问题贡献了中国智慧和中国方案</a:t>
            </a:r>
            <a:r>
              <a:rPr lang="en-US" altLang="zh-CN" sz="2665"/>
              <a:t>	</a:t>
            </a:r>
            <a:br>
              <a:rPr lang="en-US" altLang="zh-CN" sz="2665"/>
            </a:br>
            <a:r>
              <a:rPr lang="en-US" altLang="zh-CN" sz="2665"/>
              <a:t>      D.</a:t>
            </a:r>
            <a:r>
              <a:rPr lang="zh-CN" altLang="en-US" sz="2665"/>
              <a:t>中国已经成功实现民族复兴的伟大梦想</a:t>
            </a:r>
            <a:r>
              <a:rPr lang="en-US" altLang="zh-CN" sz="2665"/>
              <a:t>	</a:t>
            </a:r>
            <a:br>
              <a:rPr lang="en-US" altLang="zh-CN" sz="2665"/>
            </a:br>
            <a:r>
              <a:rPr lang="en-US" altLang="zh-CN" sz="2665"/>
              <a:t>      E.</a:t>
            </a:r>
            <a:r>
              <a:rPr lang="zh-CN" altLang="en-US" sz="2665"/>
              <a:t>中国已经建成社会主义现代化强国</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4.</a:t>
            </a:r>
            <a:r>
              <a:rPr lang="zh-CN" altLang="en-US" sz="2665"/>
              <a:t>中国特色社会主义理论体系同马克思列宁主义、毛泽东思想一脉相承又与时俱进，是马克思主义中国化时代化的重大理论成果，是内涵丰富、思想深刻、系统完整的科学理论体系。它以全新的视野进一步深化和丰富了对哪些规律的认识。（</a:t>
            </a:r>
            <a:r>
              <a:rPr lang="en-US" altLang="zh-CN" sz="2665"/>
              <a:t> </a:t>
            </a:r>
            <a:r>
              <a:rPr lang="zh-CN" altLang="en-US" sz="2665"/>
              <a:t>）</a:t>
            </a:r>
            <a:r>
              <a:rPr lang="en-US" altLang="zh-CN" sz="2665"/>
              <a:t>		</a:t>
            </a:r>
            <a:br>
              <a:rPr lang="en-US" altLang="zh-CN" sz="2665"/>
            </a:br>
            <a:r>
              <a:rPr lang="en-US" altLang="zh-CN" sz="2665"/>
              <a:t>      A.</a:t>
            </a:r>
            <a:r>
              <a:rPr lang="zh-CN" altLang="en-US" sz="2665"/>
              <a:t>中华民族伟大复兴的规律</a:t>
            </a:r>
            <a:r>
              <a:rPr lang="en-US" altLang="zh-CN" sz="2665"/>
              <a:t>  	  B.</a:t>
            </a:r>
            <a:r>
              <a:rPr lang="zh-CN" altLang="en-US" sz="2665"/>
              <a:t>共产党执政规律</a:t>
            </a:r>
            <a:r>
              <a:rPr lang="en-US" altLang="zh-CN" sz="2665"/>
              <a:t>	</a:t>
            </a:r>
            <a:br>
              <a:rPr lang="en-US" altLang="zh-CN" sz="2665"/>
            </a:br>
            <a:r>
              <a:rPr lang="en-US" altLang="zh-CN" sz="2665"/>
              <a:t>      C.</a:t>
            </a:r>
            <a:r>
              <a:rPr lang="zh-CN" altLang="en-US" sz="2665"/>
              <a:t>实现强国之梦的规律</a:t>
            </a:r>
            <a:r>
              <a:rPr lang="en-US" altLang="zh-CN" sz="2665"/>
              <a:t>	              D.</a:t>
            </a:r>
            <a:r>
              <a:rPr lang="zh-CN" altLang="en-US" sz="2665"/>
              <a:t>社会主义建设规律</a:t>
            </a:r>
            <a:r>
              <a:rPr lang="en-US" altLang="zh-CN" sz="2665"/>
              <a:t>	</a:t>
            </a:r>
            <a:br>
              <a:rPr lang="en-US" altLang="zh-CN" sz="2665"/>
            </a:br>
            <a:r>
              <a:rPr lang="en-US" altLang="zh-CN" sz="2665"/>
              <a:t>      E.</a:t>
            </a:r>
            <a:r>
              <a:rPr lang="zh-CN" altLang="en-US" sz="2665"/>
              <a:t>人类社会发展规律</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292850" y="6247130"/>
            <a:ext cx="5771515" cy="551180"/>
          </a:xfrm>
        </p:spPr>
        <p:txBody>
          <a:bodyPr>
            <a:normAutofit/>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572135" y="1113155"/>
            <a:ext cx="11334115" cy="5043170"/>
          </a:xfrm>
        </p:spPr>
        <p:txBody>
          <a:bodyPr>
            <a:normAutofit fontScale="90000"/>
          </a:bodyPr>
          <a:lstStyle/>
          <a:p>
            <a:pPr algn="l">
              <a:lnSpc>
                <a:spcPct val="140000"/>
              </a:lnSpc>
            </a:pPr>
            <a:r>
              <a:rPr lang="en-US" altLang="zh-CN" sz="2665"/>
              <a:t>      5.</a:t>
            </a:r>
            <a:r>
              <a:rPr lang="zh-CN" altLang="en-US" sz="2665"/>
              <a:t>关于中国特色社会主义理论体系的形成发展过程，下列表述正确的有（</a:t>
            </a:r>
            <a:r>
              <a:rPr lang="en-US" altLang="zh-CN" sz="2665"/>
              <a:t>    </a:t>
            </a:r>
            <a:r>
              <a:rPr lang="zh-CN" altLang="en-US" sz="2665"/>
              <a:t>）</a:t>
            </a:r>
            <a:br>
              <a:rPr lang="en-US" altLang="zh-CN" sz="2665"/>
            </a:br>
            <a:r>
              <a:rPr lang="en-US" altLang="zh-CN" sz="2665"/>
              <a:t>       A.</a:t>
            </a:r>
            <a:r>
              <a:rPr lang="zh-CN" altLang="en-US" sz="2665"/>
              <a:t>党的十一届三中全会以后，以邓小平同志为主要代表的中国共产党人创立的邓小平理论，是中国特色社会主义理论体系的开篇之作</a:t>
            </a:r>
            <a:r>
              <a:rPr lang="en-US" altLang="zh-CN" sz="2665"/>
              <a:t>	</a:t>
            </a:r>
            <a:br>
              <a:rPr lang="en-US" altLang="zh-CN" sz="2665"/>
            </a:br>
            <a:r>
              <a:rPr lang="en-US" altLang="zh-CN" sz="2665"/>
              <a:t>      B.</a:t>
            </a:r>
            <a:r>
              <a:rPr lang="zh-CN" altLang="en-US" sz="2665"/>
              <a:t>党的十三届四中全会以后，以江泽民同志为主要代表的中国共产党人形成的</a:t>
            </a:r>
            <a:r>
              <a:rPr lang="en-US" altLang="zh-CN" sz="2665"/>
              <a:t>“</a:t>
            </a:r>
            <a:r>
              <a:rPr lang="zh-CN" altLang="en-US" sz="2665"/>
              <a:t>三个代表</a:t>
            </a:r>
            <a:r>
              <a:rPr lang="en-US" altLang="zh-CN" sz="2665"/>
              <a:t>”</a:t>
            </a:r>
            <a:r>
              <a:rPr lang="zh-CN" altLang="en-US" sz="2665"/>
              <a:t>重要思想，推动了中国特色社会主义理论体系的跨世纪发展</a:t>
            </a:r>
            <a:r>
              <a:rPr lang="en-US" altLang="zh-CN" sz="2665"/>
              <a:t>	</a:t>
            </a:r>
            <a:br>
              <a:rPr lang="en-US" altLang="zh-CN" sz="2665"/>
            </a:br>
            <a:r>
              <a:rPr lang="en-US" altLang="zh-CN" sz="2665"/>
              <a:t>      C.</a:t>
            </a:r>
            <a:r>
              <a:rPr lang="zh-CN" altLang="en-US" sz="2665"/>
              <a:t>党的十六大以后，以胡锦涛同志为主要代表的中国共产党人形成的科学发展观，实现了中国特色社会主义理论体系在新世纪新阶段的新发展</a:t>
            </a:r>
            <a:r>
              <a:rPr lang="en-US" altLang="zh-CN" sz="2665"/>
              <a:t>	</a:t>
            </a:r>
            <a:br>
              <a:rPr lang="en-US" altLang="zh-CN" sz="2665"/>
            </a:br>
            <a:r>
              <a:rPr lang="en-US" altLang="zh-CN" sz="2665"/>
              <a:t>       D.</a:t>
            </a:r>
            <a:r>
              <a:rPr lang="zh-CN" altLang="en-US" sz="2665"/>
              <a:t>党的十七大提出了</a:t>
            </a:r>
            <a:r>
              <a:rPr lang="en-US" altLang="zh-CN" sz="2665"/>
              <a:t>“</a:t>
            </a:r>
            <a:r>
              <a:rPr lang="zh-CN" altLang="en-US" sz="2665"/>
              <a:t>中国特色社会主义理论体系</a:t>
            </a:r>
            <a:r>
              <a:rPr lang="en-US" altLang="zh-CN" sz="2665"/>
              <a:t>”</a:t>
            </a:r>
            <a:r>
              <a:rPr lang="zh-CN" altLang="en-US" sz="2665"/>
              <a:t>的科学概念</a:t>
            </a:r>
            <a:r>
              <a:rPr lang="en-US" altLang="zh-CN" sz="2665"/>
              <a:t>	</a:t>
            </a:r>
            <a:br>
              <a:rPr lang="en-US" altLang="zh-CN" sz="2665"/>
            </a:br>
            <a:r>
              <a:rPr lang="en-US" altLang="zh-CN" sz="2665"/>
              <a:t>       E.</a:t>
            </a:r>
            <a:r>
              <a:rPr lang="zh-CN" altLang="en-US" sz="2665"/>
              <a:t>党的十八大以来，以习近平同志为主要代表的中国共产党人创立了习近平新时代中国特色社会主义思想，谱写了新时代中国特色社会主义新篇章</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CD</a:t>
            </a:r>
            <a:r>
              <a:rPr lang="zh-CN" altLang="en-US"/>
              <a:t>）</a:t>
            </a:r>
          </a:p>
        </p:txBody>
      </p:sp>
      <p:sp>
        <p:nvSpPr>
          <p:cNvPr id="2" name="标题 1"/>
          <p:cNvSpPr>
            <a:spLocks noGrp="1"/>
          </p:cNvSpPr>
          <p:nvPr>
            <p:ph type="ctrTitle"/>
          </p:nvPr>
        </p:nvSpPr>
        <p:spPr>
          <a:xfrm>
            <a:off x="904240" y="834390"/>
            <a:ext cx="10334625" cy="4350385"/>
          </a:xfrm>
        </p:spPr>
        <p:txBody>
          <a:bodyPr>
            <a:normAutofit fontScale="90000"/>
          </a:bodyPr>
          <a:lstStyle/>
          <a:p>
            <a:pPr algn="l">
              <a:lnSpc>
                <a:spcPct val="140000"/>
              </a:lnSpc>
            </a:pPr>
            <a:r>
              <a:rPr lang="en-US" altLang="zh-CN" sz="2665" dirty="0">
                <a:solidFill>
                  <a:srgbClr val="FF0000"/>
                </a:solidFill>
              </a:rPr>
              <a:t>      6.</a:t>
            </a:r>
            <a:r>
              <a:rPr lang="zh-CN" altLang="en-US" sz="2665" dirty="0"/>
              <a:t>我国在社会主义建设初期走了不少弯路、犯了不少错误</a:t>
            </a:r>
            <a:r>
              <a:rPr lang="en-US" altLang="zh-CN" sz="2665" dirty="0"/>
              <a:t>,</a:t>
            </a:r>
            <a:r>
              <a:rPr lang="zh-CN" altLang="en-US" sz="2665" dirty="0"/>
              <a:t>造成这些失误的深层原因是：（</a:t>
            </a:r>
            <a:r>
              <a:rPr lang="" altLang="en-US" sz="2665" dirty="0"/>
              <a:t> </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经济上急于求成、盲目求纯和急于过渡</a:t>
            </a:r>
            <a:r>
              <a:rPr lang="en-US" altLang="zh-CN" sz="2665" dirty="0"/>
              <a:t>	</a:t>
            </a:r>
            <a:br>
              <a:rPr lang="en-US" altLang="zh-CN" sz="2665" dirty="0"/>
            </a:br>
            <a:r>
              <a:rPr lang="en-US" altLang="zh-CN" sz="2665" dirty="0"/>
              <a:t>      B.</a:t>
            </a:r>
            <a:r>
              <a:rPr lang="zh-CN" altLang="en-US" sz="2665" dirty="0"/>
              <a:t>在政治上坚持以阶级斗争为纲</a:t>
            </a:r>
            <a:r>
              <a:rPr lang="en-US" altLang="zh-CN" sz="2665" dirty="0"/>
              <a:t>	</a:t>
            </a:r>
            <a:br>
              <a:rPr lang="en-US" altLang="zh-CN" sz="2665" dirty="0"/>
            </a:br>
            <a:r>
              <a:rPr lang="en-US" altLang="zh-CN" sz="2665" dirty="0"/>
              <a:t>      C.</a:t>
            </a:r>
            <a:r>
              <a:rPr lang="zh-CN" altLang="en-US" sz="2665" dirty="0"/>
              <a:t>偏离了党的实事求是的思想路线</a:t>
            </a:r>
            <a:r>
              <a:rPr lang="en-US" altLang="zh-CN" sz="2665" dirty="0"/>
              <a:t>	</a:t>
            </a:r>
            <a:br>
              <a:rPr lang="en-US" altLang="zh-CN" sz="2665" dirty="0"/>
            </a:br>
            <a:r>
              <a:rPr lang="en-US" altLang="zh-CN" sz="2665" dirty="0"/>
              <a:t>      D.</a:t>
            </a:r>
            <a:r>
              <a:rPr lang="zh-CN" altLang="en-US" sz="2665" dirty="0"/>
              <a:t>对什么是社会主义和如何建设社会主义的问题没有完全搞清楚</a:t>
            </a:r>
            <a:r>
              <a:rPr lang="en-US" altLang="zh-CN" sz="2665" dirty="0"/>
              <a:t>	</a:t>
            </a:r>
            <a:br>
              <a:rPr lang="en-US" altLang="zh-CN" sz="2665" dirty="0"/>
            </a:br>
            <a:r>
              <a:rPr lang="en-US" altLang="zh-CN" sz="2665" dirty="0"/>
              <a:t>      E.</a:t>
            </a:r>
            <a:r>
              <a:rPr lang="zh-CN" altLang="en-US" sz="2665" dirty="0"/>
              <a:t>对坚持和发展什么样的中国特色社会主义、怎样坚持和发展中国特色社会主义的问题没有完全搞清楚</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a:t>
            </a:r>
            <a:r>
              <a:rPr lang="en-US" altLang="zh-CN" sz="2665" dirty="0">
                <a:solidFill>
                  <a:srgbClr val="FF0000"/>
                </a:solidFill>
              </a:rPr>
              <a:t>7.</a:t>
            </a:r>
            <a:r>
              <a:rPr lang="zh-CN" altLang="en-US" sz="2665" dirty="0"/>
              <a:t>党的十八大以来，（</a:t>
            </a:r>
            <a:r>
              <a:rPr lang="" altLang="en-US" sz="2665" dirty="0"/>
              <a:t> </a:t>
            </a:r>
            <a:r>
              <a:rPr lang="en-US" altLang="zh-CN" sz="2665" dirty="0"/>
              <a:t> </a:t>
            </a:r>
            <a:r>
              <a:rPr lang="zh-CN" altLang="en-US" sz="2665" dirty="0"/>
              <a:t>）正以前所未有的方式展开，世界百年未有之大变局加速演进。</a:t>
            </a:r>
            <a:r>
              <a:rPr lang="en-US" altLang="zh-CN" sz="2665" dirty="0"/>
              <a:t>		</a:t>
            </a:r>
            <a:br>
              <a:rPr lang="en-US" altLang="zh-CN" sz="2665" dirty="0"/>
            </a:br>
            <a:r>
              <a:rPr lang="en-US" altLang="zh-CN" sz="2665" dirty="0"/>
              <a:t>      A.</a:t>
            </a:r>
            <a:r>
              <a:rPr lang="zh-CN" altLang="en-US" sz="2665" dirty="0"/>
              <a:t>世界之变</a:t>
            </a:r>
            <a:r>
              <a:rPr lang="en-US" altLang="zh-CN" sz="2665" dirty="0"/>
              <a:t>	</a:t>
            </a:r>
            <a:br>
              <a:rPr lang="en-US" altLang="zh-CN" sz="2665" dirty="0"/>
            </a:br>
            <a:r>
              <a:rPr lang="en-US" altLang="zh-CN" sz="2665" dirty="0"/>
              <a:t>      B.</a:t>
            </a:r>
            <a:r>
              <a:rPr lang="zh-CN" altLang="en-US" sz="2665" dirty="0"/>
              <a:t>时代之变</a:t>
            </a:r>
            <a:r>
              <a:rPr lang="en-US" altLang="zh-CN" sz="2665" dirty="0"/>
              <a:t>	</a:t>
            </a:r>
            <a:br>
              <a:rPr lang="en-US" altLang="zh-CN" sz="2665" dirty="0"/>
            </a:br>
            <a:r>
              <a:rPr lang="en-US" altLang="zh-CN" sz="2665" dirty="0"/>
              <a:t>      C.</a:t>
            </a:r>
            <a:r>
              <a:rPr lang="zh-CN" altLang="en-US" sz="2665" dirty="0"/>
              <a:t>历史之变</a:t>
            </a:r>
            <a:r>
              <a:rPr lang="en-US" altLang="zh-CN" sz="2665" dirty="0"/>
              <a:t>	</a:t>
            </a:r>
            <a:br>
              <a:rPr lang="en-US" altLang="zh-CN" sz="2665" dirty="0"/>
            </a:br>
            <a:r>
              <a:rPr lang="en-US" altLang="zh-CN" sz="2665" dirty="0"/>
              <a:t>      D.</a:t>
            </a:r>
            <a:r>
              <a:rPr lang="zh-CN" altLang="en-US" sz="2665" dirty="0"/>
              <a:t>人类之变</a:t>
            </a:r>
            <a:r>
              <a:rPr lang="en-US" altLang="zh-CN" sz="2665" dirty="0"/>
              <a:t>	</a:t>
            </a:r>
            <a:br>
              <a:rPr lang="en-US" altLang="zh-CN" sz="2665" dirty="0"/>
            </a:br>
            <a:r>
              <a:rPr lang="en-US" altLang="zh-CN" sz="2665" dirty="0"/>
              <a:t>      E.</a:t>
            </a:r>
            <a:r>
              <a:rPr lang="zh-CN" altLang="en-US" sz="2665" dirty="0"/>
              <a:t>科技之变</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solidFill>
                  <a:srgbClr val="FF0000"/>
                </a:solidFill>
              </a:rPr>
              <a:t>      8.</a:t>
            </a:r>
            <a:r>
              <a:rPr lang="zh-CN" altLang="en-US" sz="2665" dirty="0"/>
              <a:t>新世纪新阶段，我国进入（</a:t>
            </a:r>
            <a:r>
              <a:rPr lang="" altLang="en-US" sz="2665" dirty="0"/>
              <a:t> </a:t>
            </a:r>
            <a:r>
              <a:rPr lang="en-US" altLang="zh-CN" sz="2665" dirty="0"/>
              <a:t> </a:t>
            </a:r>
            <a:r>
              <a:rPr lang="zh-CN" altLang="en-US" sz="2665" dirty="0"/>
              <a:t>），经济社会发展呈现一系列新的阶段性特征。</a:t>
            </a:r>
            <a:r>
              <a:rPr lang="en-US" altLang="zh-CN" sz="2665" dirty="0"/>
              <a:t>		</a:t>
            </a:r>
            <a:br>
              <a:rPr lang="en-US" altLang="zh-CN" sz="2665" dirty="0"/>
            </a:br>
            <a:r>
              <a:rPr lang="en-US" altLang="zh-CN" sz="2665" dirty="0"/>
              <a:t>     A.</a:t>
            </a:r>
            <a:r>
              <a:rPr lang="zh-CN" altLang="en-US" sz="2665" dirty="0"/>
              <a:t>发展关键期</a:t>
            </a:r>
            <a:r>
              <a:rPr lang="en-US" altLang="zh-CN" sz="2665" dirty="0"/>
              <a:t>	</a:t>
            </a:r>
            <a:br>
              <a:rPr lang="en-US" altLang="zh-CN" sz="2665" dirty="0"/>
            </a:br>
            <a:r>
              <a:rPr lang="en-US" altLang="zh-CN" sz="2665" dirty="0"/>
              <a:t>     B.</a:t>
            </a:r>
            <a:r>
              <a:rPr lang="zh-CN" altLang="en-US" sz="2665" dirty="0"/>
              <a:t>改革攻坚期</a:t>
            </a:r>
            <a:r>
              <a:rPr lang="en-US" altLang="zh-CN" sz="2665" dirty="0"/>
              <a:t>	</a:t>
            </a:r>
            <a:br>
              <a:rPr lang="en-US" altLang="zh-CN" sz="2665" dirty="0"/>
            </a:br>
            <a:r>
              <a:rPr lang="en-US" altLang="zh-CN" sz="2665" dirty="0"/>
              <a:t>     C.</a:t>
            </a:r>
            <a:r>
              <a:rPr lang="zh-CN" altLang="en-US" sz="2665" dirty="0"/>
              <a:t>开放活跃期</a:t>
            </a:r>
            <a:r>
              <a:rPr lang="en-US" altLang="zh-CN" sz="2665" dirty="0"/>
              <a:t>	</a:t>
            </a:r>
            <a:br>
              <a:rPr lang="en-US" altLang="zh-CN" sz="2665" dirty="0"/>
            </a:br>
            <a:r>
              <a:rPr lang="en-US" altLang="zh-CN" sz="2665" dirty="0"/>
              <a:t>     D.</a:t>
            </a:r>
            <a:r>
              <a:rPr lang="zh-CN" altLang="en-US" sz="2665" dirty="0"/>
              <a:t>矛盾凸显期</a:t>
            </a:r>
            <a:r>
              <a:rPr lang="en-US" altLang="zh-CN" sz="2665" dirty="0"/>
              <a:t>	</a:t>
            </a:r>
            <a:br>
              <a:rPr lang="en-US" altLang="zh-CN" sz="2665" dirty="0"/>
            </a:br>
            <a:r>
              <a:rPr lang="en-US" altLang="zh-CN" sz="2665" dirty="0"/>
              <a:t>     E.</a:t>
            </a:r>
            <a:r>
              <a:rPr lang="zh-CN" altLang="en-US" sz="2665" dirty="0"/>
              <a:t>经济复苏期</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a:t>      9.</a:t>
            </a:r>
            <a:r>
              <a:rPr lang="zh-CN" altLang="en-US" sz="2665"/>
              <a:t>改革开放和社会主义现代化建设新时期，党面临的主要任务是（</a:t>
            </a:r>
            <a:r>
              <a:rPr lang="en-US" altLang="zh-CN" sz="2665"/>
              <a:t>   </a:t>
            </a:r>
            <a:r>
              <a:rPr lang="zh-CN" altLang="en-US" sz="2665"/>
              <a:t>）。</a:t>
            </a:r>
            <a:r>
              <a:rPr lang="en-US" altLang="zh-CN" sz="2665"/>
              <a:t>	</a:t>
            </a:r>
            <a:br>
              <a:rPr lang="en-US" altLang="zh-CN" sz="2665"/>
            </a:br>
            <a:r>
              <a:rPr lang="en-US" altLang="zh-CN" sz="2665"/>
              <a:t>       A.</a:t>
            </a:r>
            <a:r>
              <a:rPr lang="zh-CN" altLang="en-US" sz="2665"/>
              <a:t>继续探索中国建设社会主义的正确道路</a:t>
            </a:r>
            <a:r>
              <a:rPr lang="en-US" altLang="zh-CN" sz="2665"/>
              <a:t>	</a:t>
            </a:r>
            <a:br>
              <a:rPr lang="en-US" altLang="zh-CN" sz="2665"/>
            </a:br>
            <a:r>
              <a:rPr lang="en-US" altLang="zh-CN" sz="2665"/>
              <a:t>       B.</a:t>
            </a:r>
            <a:r>
              <a:rPr lang="zh-CN" altLang="en-US" sz="2665"/>
              <a:t>解放和发展社会生产力</a:t>
            </a:r>
            <a:r>
              <a:rPr lang="en-US" altLang="zh-CN" sz="2665"/>
              <a:t>	</a:t>
            </a:r>
            <a:br>
              <a:rPr lang="en-US" altLang="zh-CN" sz="2665"/>
            </a:br>
            <a:r>
              <a:rPr lang="en-US" altLang="zh-CN" sz="2665"/>
              <a:t>       C.</a:t>
            </a:r>
            <a:r>
              <a:rPr lang="zh-CN" altLang="en-US" sz="2665"/>
              <a:t>使人民摆脱贫困、尽快富裕起来</a:t>
            </a:r>
            <a:r>
              <a:rPr lang="en-US" altLang="zh-CN" sz="2665"/>
              <a:t>	</a:t>
            </a:r>
            <a:br>
              <a:rPr lang="en-US" altLang="zh-CN" sz="2665"/>
            </a:br>
            <a:r>
              <a:rPr lang="en-US" altLang="zh-CN" sz="2665"/>
              <a:t>       D.</a:t>
            </a:r>
            <a:r>
              <a:rPr lang="zh-CN" altLang="en-US" sz="2665"/>
              <a:t>为实现中华民族伟大复兴提供充满新的活力的体制保证</a:t>
            </a:r>
            <a:r>
              <a:rPr lang="en-US" altLang="zh-CN" sz="2665"/>
              <a:t>	</a:t>
            </a:r>
            <a:br>
              <a:rPr lang="en-US" altLang="zh-CN" sz="2665"/>
            </a:br>
            <a:r>
              <a:rPr lang="en-US" altLang="zh-CN" sz="2665"/>
              <a:t>       E.</a:t>
            </a:r>
            <a:r>
              <a:rPr lang="zh-CN" altLang="en-US" sz="2665"/>
              <a:t>为实现中华民族伟大复兴提供快速发展的物质条件</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a:t>
            </a:r>
            <a:r>
              <a:rPr lang="zh-CN" altLang="en-US"/>
              <a:t>）</a:t>
            </a:r>
          </a:p>
        </p:txBody>
      </p:sp>
      <p:sp>
        <p:nvSpPr>
          <p:cNvPr id="2" name="标题 1"/>
          <p:cNvSpPr>
            <a:spLocks noGrp="1"/>
          </p:cNvSpPr>
          <p:nvPr>
            <p:ph type="ctrTitle"/>
          </p:nvPr>
        </p:nvSpPr>
        <p:spPr>
          <a:xfrm>
            <a:off x="904240" y="1172845"/>
            <a:ext cx="10334625" cy="3066415"/>
          </a:xfrm>
        </p:spPr>
        <p:txBody>
          <a:bodyPr>
            <a:normAutofit/>
          </a:bodyPr>
          <a:lstStyle/>
          <a:p>
            <a:pPr algn="l">
              <a:lnSpc>
                <a:spcPct val="140000"/>
              </a:lnSpc>
            </a:pPr>
            <a:r>
              <a:rPr lang="en-US" altLang="zh-CN" sz="2665" dirty="0">
                <a:solidFill>
                  <a:srgbClr val="FF0000"/>
                </a:solidFill>
              </a:rPr>
              <a:t>      10</a:t>
            </a:r>
            <a:r>
              <a:rPr lang="en-US" altLang="zh-CN" sz="2665" dirty="0"/>
              <a:t>.</a:t>
            </a:r>
            <a:r>
              <a:rPr lang="zh-CN" altLang="en-US" sz="2665" dirty="0"/>
              <a:t>中国特色社会主义进入新时代，意味着中国特色社会主义（</a:t>
            </a:r>
            <a:r>
              <a:rPr lang="" altLang="en-US" sz="2665" dirty="0"/>
              <a:t> </a:t>
            </a:r>
            <a:r>
              <a:rPr lang="en-US" altLang="zh-CN" sz="2665" dirty="0"/>
              <a:t> </a:t>
            </a:r>
            <a:r>
              <a:rPr lang="zh-CN" altLang="en-US" sz="2665" dirty="0"/>
              <a:t>）不断发展，拓展了发展中国家走向现代化的途径，给世界上那些既希望加快发展又希望保持自身独立性的国家和民族提供了全新选择，为解决人类问题贡献了中国智慧和中国方案。</a:t>
            </a:r>
            <a:r>
              <a:rPr lang="en-US" altLang="zh-CN" sz="2665" dirty="0"/>
              <a:t>	</a:t>
            </a:r>
            <a:br>
              <a:rPr lang="en-US" altLang="zh-CN" sz="2665" dirty="0"/>
            </a:br>
            <a:r>
              <a:rPr lang="en-US" altLang="zh-CN" sz="2665" dirty="0"/>
              <a:t>     A.</a:t>
            </a:r>
            <a:r>
              <a:rPr lang="zh-CN" altLang="en-US" sz="2665" dirty="0"/>
              <a:t>道路</a:t>
            </a:r>
            <a:r>
              <a:rPr lang="en-US" altLang="zh-CN" sz="2665" dirty="0"/>
              <a:t>	   B.</a:t>
            </a:r>
            <a:r>
              <a:rPr lang="zh-CN" altLang="en-US" sz="2665" dirty="0"/>
              <a:t>理论</a:t>
            </a:r>
            <a:r>
              <a:rPr lang="en-US" altLang="zh-CN" sz="2665" dirty="0"/>
              <a:t>	  C.</a:t>
            </a:r>
            <a:r>
              <a:rPr lang="zh-CN" altLang="en-US" sz="2665" dirty="0"/>
              <a:t>制度</a:t>
            </a:r>
            <a:r>
              <a:rPr lang="en-US" altLang="zh-CN" sz="2665" dirty="0"/>
              <a:t>	D.</a:t>
            </a:r>
            <a:r>
              <a:rPr lang="zh-CN" altLang="en-US" sz="2665" dirty="0"/>
              <a:t>文化</a:t>
            </a:r>
            <a:r>
              <a:rPr lang="en-US" altLang="zh-CN" sz="2665" dirty="0"/>
              <a:t>	E.</a:t>
            </a:r>
            <a:r>
              <a:rPr lang="zh-CN" altLang="en-US" sz="2665" dirty="0"/>
              <a:t>生态</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ABCD</a:t>
            </a:r>
            <a:r>
              <a:rPr lang="zh-CN" altLang="en-US"/>
              <a:t>）</a:t>
            </a:r>
          </a:p>
        </p:txBody>
      </p:sp>
      <p:sp>
        <p:nvSpPr>
          <p:cNvPr id="2" name="标题 1"/>
          <p:cNvSpPr>
            <a:spLocks noGrp="1"/>
          </p:cNvSpPr>
          <p:nvPr>
            <p:ph type="ctrTitle"/>
          </p:nvPr>
        </p:nvSpPr>
        <p:spPr>
          <a:xfrm>
            <a:off x="904240" y="834390"/>
            <a:ext cx="10334625" cy="4350385"/>
          </a:xfrm>
        </p:spPr>
        <p:txBody>
          <a:bodyPr>
            <a:normAutofit/>
          </a:bodyPr>
          <a:lstStyle/>
          <a:p>
            <a:pPr algn="l">
              <a:lnSpc>
                <a:spcPct val="140000"/>
              </a:lnSpc>
            </a:pPr>
            <a:r>
              <a:rPr lang="en-US" altLang="zh-CN" sz="2665" dirty="0"/>
              <a:t>      </a:t>
            </a:r>
            <a:r>
              <a:rPr lang="en-US" altLang="zh-CN" sz="2665" dirty="0">
                <a:solidFill>
                  <a:srgbClr val="FF0000"/>
                </a:solidFill>
              </a:rPr>
              <a:t>11.</a:t>
            </a:r>
            <a:r>
              <a:rPr lang="zh-CN" altLang="en-US" sz="2665" dirty="0"/>
              <a:t>以习近平同志为核心的党中央以伟大的历史主动精神、巨大的政治勇气、强烈的责任担当，统筹国内国际两个大局，统揽（</a:t>
            </a:r>
            <a:r>
              <a:rPr lang="" altLang="en-US" sz="2665" dirty="0"/>
              <a:t> </a:t>
            </a:r>
            <a:r>
              <a:rPr lang="en-US" altLang="zh-CN" sz="2665" dirty="0"/>
              <a:t> </a:t>
            </a:r>
            <a:r>
              <a:rPr lang="zh-CN" altLang="en-US" sz="2665" dirty="0"/>
              <a:t>），创立习近平新时代中国特色社会主义思想，明确坚持和发展中国特色社会主义的基本方略，提出一系列治国理政新理念新思想新战略，实现了马克思主义中国化时代化新的飞跃。</a:t>
            </a:r>
            <a:r>
              <a:rPr lang="en-US" altLang="zh-CN" sz="2665" dirty="0"/>
              <a:t>		</a:t>
            </a:r>
            <a:br>
              <a:rPr lang="en-US" altLang="zh-CN" sz="2665" dirty="0"/>
            </a:br>
            <a:r>
              <a:rPr lang="en-US" altLang="zh-CN" sz="2665" dirty="0"/>
              <a:t>     A.</a:t>
            </a:r>
            <a:r>
              <a:rPr lang="zh-CN" altLang="en-US" sz="2665" dirty="0"/>
              <a:t>伟大斗争</a:t>
            </a:r>
            <a:r>
              <a:rPr lang="en-US" altLang="zh-CN" sz="2665" dirty="0"/>
              <a:t>	          B.</a:t>
            </a:r>
            <a:r>
              <a:rPr lang="zh-CN" altLang="en-US" sz="2665" dirty="0"/>
              <a:t>伟大工程</a:t>
            </a:r>
            <a:r>
              <a:rPr lang="en-US" altLang="zh-CN" sz="2665" dirty="0"/>
              <a:t>	               C.</a:t>
            </a:r>
            <a:r>
              <a:rPr lang="zh-CN" altLang="en-US" sz="2665" dirty="0"/>
              <a:t>伟大事业</a:t>
            </a:r>
            <a:r>
              <a:rPr lang="en-US" altLang="zh-CN" sz="2665" dirty="0"/>
              <a:t>	</a:t>
            </a:r>
            <a:br>
              <a:rPr lang="en-US" altLang="zh-CN" sz="2665" dirty="0"/>
            </a:br>
            <a:r>
              <a:rPr lang="en-US" altLang="zh-CN" sz="2665" dirty="0"/>
              <a:t>    D.</a:t>
            </a:r>
            <a:r>
              <a:rPr lang="zh-CN" altLang="en-US" sz="2665" dirty="0"/>
              <a:t>伟大梦想</a:t>
            </a:r>
            <a:r>
              <a:rPr lang="en-US" altLang="zh-CN" sz="2665" dirty="0"/>
              <a:t>	          E.</a:t>
            </a:r>
            <a:r>
              <a:rPr lang="zh-CN" altLang="en-US" sz="2665" dirty="0"/>
              <a:t>伟大建党精神</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901690"/>
            <a:ext cx="9144000" cy="476885"/>
          </a:xfrm>
        </p:spPr>
        <p:txBody>
          <a:bodyPr/>
          <a:lstStyle/>
          <a:p>
            <a:r>
              <a:rPr lang="zh-CN" altLang="en-US"/>
              <a:t>答案：（</a:t>
            </a:r>
            <a:r>
              <a:rPr lang="en-US" altLang="zh-CN">
                <a:sym typeface="+mn-ea"/>
              </a:rPr>
              <a:t>ABC</a:t>
            </a:r>
            <a:r>
              <a:rPr lang="zh-CN" altLang="en-US"/>
              <a:t>）</a:t>
            </a:r>
          </a:p>
        </p:txBody>
      </p:sp>
      <p:sp>
        <p:nvSpPr>
          <p:cNvPr id="2" name="标题 1"/>
          <p:cNvSpPr>
            <a:spLocks noGrp="1"/>
          </p:cNvSpPr>
          <p:nvPr>
            <p:ph type="ctrTitle"/>
          </p:nvPr>
        </p:nvSpPr>
        <p:spPr>
          <a:xfrm>
            <a:off x="904240" y="1110615"/>
            <a:ext cx="10334625" cy="4350385"/>
          </a:xfrm>
        </p:spPr>
        <p:txBody>
          <a:bodyPr>
            <a:normAutofit fontScale="90000"/>
          </a:bodyPr>
          <a:lstStyle/>
          <a:p>
            <a:pPr algn="l">
              <a:lnSpc>
                <a:spcPct val="140000"/>
              </a:lnSpc>
            </a:pPr>
            <a:r>
              <a:rPr lang="en-US" altLang="zh-CN" sz="2665" dirty="0"/>
              <a:t>      </a:t>
            </a:r>
            <a:r>
              <a:rPr lang="en-US" altLang="zh-CN" sz="2665" dirty="0">
                <a:solidFill>
                  <a:srgbClr val="FF0000"/>
                </a:solidFill>
              </a:rPr>
              <a:t>12.</a:t>
            </a:r>
            <a:r>
              <a:rPr lang="en-US" altLang="zh-CN" sz="2665" dirty="0"/>
              <a:t>2002</a:t>
            </a:r>
            <a:r>
              <a:rPr lang="zh-CN" altLang="en-US" sz="2665" dirty="0"/>
              <a:t>年</a:t>
            </a:r>
            <a:r>
              <a:rPr lang="en-US" altLang="zh-CN" sz="2665" dirty="0"/>
              <a:t>5</a:t>
            </a:r>
            <a:r>
              <a:rPr lang="zh-CN" altLang="en-US" sz="2665" dirty="0"/>
              <a:t>月，江泽民在中共中央党校省部级干部进修班毕业典礼上深刻阐述了</a:t>
            </a:r>
            <a:r>
              <a:rPr lang="en-US" altLang="zh-CN" sz="2665" dirty="0"/>
              <a:t> “</a:t>
            </a:r>
            <a:r>
              <a:rPr lang="zh-CN" altLang="en-US" sz="2665" dirty="0"/>
              <a:t>三个代表</a:t>
            </a:r>
            <a:r>
              <a:rPr lang="en-US" altLang="zh-CN" sz="2665" dirty="0"/>
              <a:t>”</a:t>
            </a:r>
            <a:r>
              <a:rPr lang="zh-CN" altLang="en-US" sz="2665" dirty="0"/>
              <a:t>重要思想的内在联系，提出</a:t>
            </a:r>
            <a:r>
              <a:rPr lang="en-US" altLang="zh-CN" sz="2665" dirty="0"/>
              <a:t>“</a:t>
            </a:r>
            <a:r>
              <a:rPr lang="zh-CN" altLang="en-US" sz="2665" dirty="0"/>
              <a:t>贯彻</a:t>
            </a:r>
            <a:r>
              <a:rPr lang="en-US" altLang="zh-CN" sz="2665" dirty="0"/>
              <a:t>’</a:t>
            </a:r>
            <a:r>
              <a:rPr lang="zh-CN" altLang="en-US" sz="2665" dirty="0"/>
              <a:t>三个代表</a:t>
            </a:r>
            <a:r>
              <a:rPr lang="en-US" altLang="zh-CN" sz="2665" dirty="0"/>
              <a:t>’</a:t>
            </a:r>
            <a:r>
              <a:rPr lang="zh-CN" altLang="en-US" sz="2665" dirty="0"/>
              <a:t>重要思想，（</a:t>
            </a:r>
            <a:r>
              <a:rPr lang="" altLang="en-US" sz="2665" dirty="0"/>
              <a:t> </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关键在坚持与时俱进</a:t>
            </a:r>
            <a:r>
              <a:rPr lang="en-US" altLang="zh-CN" sz="2665" dirty="0"/>
              <a:t>	</a:t>
            </a:r>
            <a:br>
              <a:rPr lang="en-US" altLang="zh-CN" sz="2665" dirty="0"/>
            </a:br>
            <a:r>
              <a:rPr lang="en-US" altLang="zh-CN" sz="2665" dirty="0"/>
              <a:t>       B.</a:t>
            </a:r>
            <a:r>
              <a:rPr lang="zh-CN" altLang="en-US" sz="2665" dirty="0"/>
              <a:t>核心在坚持党的先进性</a:t>
            </a:r>
            <a:r>
              <a:rPr lang="en-US" altLang="zh-CN" sz="2665" dirty="0"/>
              <a:t>	</a:t>
            </a:r>
            <a:br>
              <a:rPr lang="en-US" altLang="zh-CN" sz="2665" dirty="0"/>
            </a:br>
            <a:r>
              <a:rPr lang="en-US" altLang="zh-CN" sz="2665" dirty="0"/>
              <a:t>       C.</a:t>
            </a:r>
            <a:r>
              <a:rPr lang="zh-CN" altLang="en-US" sz="2665" dirty="0"/>
              <a:t>本质在坚持执政为民</a:t>
            </a:r>
            <a:r>
              <a:rPr lang="en-US" altLang="zh-CN" sz="2665" dirty="0"/>
              <a:t>	</a:t>
            </a:r>
            <a:br>
              <a:rPr lang="en-US" altLang="zh-CN" sz="2665" dirty="0"/>
            </a:br>
            <a:r>
              <a:rPr lang="en-US" altLang="zh-CN" sz="2665" dirty="0"/>
              <a:t>       D.</a:t>
            </a:r>
            <a:r>
              <a:rPr lang="zh-CN" altLang="en-US" sz="2665" dirty="0"/>
              <a:t>目标在坚持党的宗旨</a:t>
            </a:r>
            <a:r>
              <a:rPr lang="en-US" altLang="zh-CN" sz="2665" dirty="0"/>
              <a:t>	</a:t>
            </a:r>
            <a:br>
              <a:rPr lang="en-US" altLang="zh-CN" sz="2665" dirty="0"/>
            </a:br>
            <a:r>
              <a:rPr lang="en-US" altLang="zh-CN" sz="2665" dirty="0"/>
              <a:t>       E.</a:t>
            </a:r>
            <a:r>
              <a:rPr lang="zh-CN" altLang="en-US" sz="2665" dirty="0"/>
              <a:t>方法在坚持党的群众路线</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737225"/>
            <a:ext cx="9144000" cy="796290"/>
          </a:xfrm>
        </p:spPr>
        <p:txBody>
          <a:bodyPr/>
          <a:lstStyle/>
          <a:p>
            <a:r>
              <a:rPr lang="zh-CN" altLang="en-US"/>
              <a:t>答案：（</a:t>
            </a:r>
            <a:r>
              <a:rPr lang="en-US" altLang="zh-CN">
                <a:sym typeface="+mn-ea"/>
              </a:rPr>
              <a:t>ABC</a:t>
            </a:r>
            <a:r>
              <a:rPr lang="zh-CN" altLang="en-US"/>
              <a:t>）</a:t>
            </a:r>
          </a:p>
        </p:txBody>
      </p:sp>
      <p:sp>
        <p:nvSpPr>
          <p:cNvPr id="2" name="标题 1"/>
          <p:cNvSpPr>
            <a:spLocks noGrp="1"/>
          </p:cNvSpPr>
          <p:nvPr>
            <p:ph type="ctrTitle"/>
          </p:nvPr>
        </p:nvSpPr>
        <p:spPr>
          <a:xfrm>
            <a:off x="904240" y="1113155"/>
            <a:ext cx="10334625" cy="4370705"/>
          </a:xfrm>
        </p:spPr>
        <p:txBody>
          <a:bodyPr>
            <a:normAutofit fontScale="90000"/>
          </a:bodyPr>
          <a:lstStyle/>
          <a:p>
            <a:pPr algn="l">
              <a:lnSpc>
                <a:spcPct val="140000"/>
              </a:lnSpc>
            </a:pPr>
            <a:r>
              <a:rPr lang="en-US" altLang="zh-CN" sz="2665"/>
              <a:t>      13.</a:t>
            </a:r>
            <a:r>
              <a:rPr lang="zh-CN" altLang="en-US" sz="2665"/>
              <a:t>习近平新时代中国特色社会主义思想科学回答了（</a:t>
            </a:r>
            <a:r>
              <a:rPr lang="" altLang="en-US" sz="2665"/>
              <a:t> </a:t>
            </a:r>
            <a:r>
              <a:rPr lang="en-US" altLang="zh-CN" sz="2665"/>
              <a:t> </a:t>
            </a:r>
            <a:r>
              <a:rPr lang="zh-CN" altLang="en-US" sz="2665"/>
              <a:t>）等重大时代课题。</a:t>
            </a:r>
            <a:br>
              <a:rPr lang="en-US" altLang="zh-CN" sz="2665"/>
            </a:br>
            <a:r>
              <a:rPr lang="en-US" altLang="zh-CN" sz="2665"/>
              <a:t>      A.</a:t>
            </a:r>
            <a:r>
              <a:rPr lang="zh-CN" altLang="en-US" sz="2665"/>
              <a:t>新时代坚持和发展什么样的中国特色社会主义，怎样坚持和发展中国特色社会主义</a:t>
            </a:r>
            <a:r>
              <a:rPr lang="en-US" altLang="zh-CN" sz="2665"/>
              <a:t>	</a:t>
            </a:r>
            <a:br>
              <a:rPr lang="en-US" altLang="zh-CN" sz="2665"/>
            </a:br>
            <a:r>
              <a:rPr lang="en-US" altLang="zh-CN" sz="2665"/>
              <a:t>      B.</a:t>
            </a:r>
            <a:r>
              <a:rPr lang="zh-CN" altLang="en-US" sz="2665"/>
              <a:t>建设什么样的社会主义现代化强国、怎样建设社会主义现代化强国</a:t>
            </a:r>
            <a:r>
              <a:rPr lang="en-US" altLang="zh-CN" sz="2665"/>
              <a:t>	</a:t>
            </a:r>
            <a:br>
              <a:rPr lang="en-US" altLang="zh-CN" sz="2665"/>
            </a:br>
            <a:r>
              <a:rPr lang="en-US" altLang="zh-CN" sz="2665"/>
              <a:t>      C.</a:t>
            </a:r>
            <a:r>
              <a:rPr lang="zh-CN" altLang="en-US" sz="2665"/>
              <a:t>建设什么样的长期执政的马克思主义政党、怎样建设长期执政的马克思主义政党</a:t>
            </a:r>
            <a:r>
              <a:rPr lang="en-US" altLang="zh-CN" sz="2665"/>
              <a:t>	</a:t>
            </a:r>
            <a:br>
              <a:rPr lang="en-US" altLang="zh-CN" sz="2665"/>
            </a:br>
            <a:r>
              <a:rPr lang="en-US" altLang="zh-CN" sz="2665"/>
              <a:t>      D.</a:t>
            </a:r>
            <a:r>
              <a:rPr lang="zh-CN" altLang="en-US" sz="2665"/>
              <a:t>实现什么样的人类发展、怎样实现人类发展</a:t>
            </a:r>
            <a:r>
              <a:rPr lang="en-US" altLang="zh-CN" sz="2665"/>
              <a:t>	</a:t>
            </a:r>
            <a:br>
              <a:rPr lang="en-US" altLang="zh-CN" sz="2665"/>
            </a:br>
            <a:r>
              <a:rPr lang="en-US" altLang="zh-CN" sz="2665"/>
              <a:t>      E.</a:t>
            </a:r>
            <a:r>
              <a:rPr lang="zh-CN" altLang="en-US" sz="2665"/>
              <a:t>建设什么样的国际治理体系、怎样建设新的国际治理体系</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539365" y="6220460"/>
            <a:ext cx="9144000" cy="565150"/>
          </a:xfrm>
        </p:spPr>
        <p:txBody>
          <a:bodyPr/>
          <a:lstStyle/>
          <a:p>
            <a:r>
              <a:rPr lang="zh-CN" altLang="en-US"/>
              <a:t>答案：（</a:t>
            </a:r>
            <a:r>
              <a:rPr lang="en-US" altLang="zh-CN">
                <a:sym typeface="+mn-ea"/>
              </a:rPr>
              <a:t>ABCDE</a:t>
            </a:r>
            <a:r>
              <a:rPr lang="zh-CN" altLang="en-US"/>
              <a:t>）</a:t>
            </a:r>
          </a:p>
        </p:txBody>
      </p:sp>
      <p:sp>
        <p:nvSpPr>
          <p:cNvPr id="2" name="标题 1"/>
          <p:cNvSpPr>
            <a:spLocks noGrp="1"/>
          </p:cNvSpPr>
          <p:nvPr>
            <p:ph type="ctrTitle"/>
          </p:nvPr>
        </p:nvSpPr>
        <p:spPr>
          <a:xfrm>
            <a:off x="944880" y="1184275"/>
            <a:ext cx="10491470" cy="4756785"/>
          </a:xfrm>
        </p:spPr>
        <p:txBody>
          <a:bodyPr>
            <a:normAutofit fontScale="90000"/>
          </a:bodyPr>
          <a:lstStyle/>
          <a:p>
            <a:pPr algn="l">
              <a:lnSpc>
                <a:spcPct val="140000"/>
              </a:lnSpc>
            </a:pPr>
            <a:r>
              <a:rPr lang="en-US" altLang="zh-CN" sz="2220"/>
              <a:t>      14.</a:t>
            </a:r>
            <a:r>
              <a:rPr lang="zh-CN" altLang="en-US" sz="2220"/>
              <a:t>关于中国特色社会主义理论体系形成发展的社会历史条件，下列说法正确的有（</a:t>
            </a:r>
            <a:r>
              <a:rPr lang="en-US" altLang="zh-CN" sz="2220"/>
              <a:t>    </a:t>
            </a:r>
            <a:r>
              <a:rPr lang="zh-CN" altLang="en-US" sz="2220"/>
              <a:t>）。</a:t>
            </a:r>
            <a:br>
              <a:rPr lang="en-US" altLang="zh-CN" sz="2220"/>
            </a:br>
            <a:r>
              <a:rPr lang="en-US" altLang="zh-CN" sz="2220"/>
              <a:t>       A.</a:t>
            </a:r>
            <a:r>
              <a:rPr lang="zh-CN" altLang="en-US" sz="2220"/>
              <a:t>中国特色社会主义理论体系是我们党在深刻洞察国际形势变化和世界发展趋势的基础上形成并不断发展的</a:t>
            </a:r>
            <a:r>
              <a:rPr lang="en-US" altLang="zh-CN" sz="2220"/>
              <a:t>	</a:t>
            </a:r>
            <a:br>
              <a:rPr lang="en-US" altLang="zh-CN" sz="2220"/>
            </a:br>
            <a:r>
              <a:rPr lang="en-US" altLang="zh-CN" sz="2220"/>
              <a:t>       B.</a:t>
            </a:r>
            <a:r>
              <a:rPr lang="zh-CN" altLang="en-US" sz="2220"/>
              <a:t>中国特色社会主义理论体系是我们党在科学判断时代主题和时代特征的基础上形成并不断发展的</a:t>
            </a:r>
            <a:r>
              <a:rPr lang="en-US" altLang="zh-CN" sz="2220"/>
              <a:t>	</a:t>
            </a:r>
            <a:br>
              <a:rPr lang="en-US" altLang="zh-CN" sz="2220"/>
            </a:br>
            <a:r>
              <a:rPr lang="en-US" altLang="zh-CN" sz="2220"/>
              <a:t>       C.</a:t>
            </a:r>
            <a:r>
              <a:rPr lang="zh-CN" altLang="en-US" sz="2220"/>
              <a:t>中国特色社会主义理论体系是我们党在深刻把握人类社会发展规律的基础上形成并不断发展的</a:t>
            </a:r>
            <a:br>
              <a:rPr lang="en-US" altLang="zh-CN" sz="2220"/>
            </a:br>
            <a:r>
              <a:rPr lang="en-US" altLang="zh-CN" sz="2220"/>
              <a:t>       D.</a:t>
            </a:r>
            <a:r>
              <a:rPr lang="zh-CN" altLang="en-US" sz="2220"/>
              <a:t>中国特色社会主义理论体系是在认真总结我国社会主义建设正反两方面的历史经验、科学判断党和国家所处历史方位的基础上形成并不断发展的</a:t>
            </a:r>
            <a:r>
              <a:rPr lang="en-US" altLang="zh-CN" sz="2220"/>
              <a:t>	</a:t>
            </a:r>
            <a:br>
              <a:rPr lang="en-US" altLang="zh-CN" sz="2220"/>
            </a:br>
            <a:r>
              <a:rPr lang="en-US" altLang="zh-CN" sz="2220"/>
              <a:t>       E.</a:t>
            </a:r>
            <a:r>
              <a:rPr lang="zh-CN" altLang="en-US" sz="2220"/>
              <a:t>中国特色社会主义理论体系是在我们党领导的改革开放和社会主义现代化建设的生动实践中形成并不断发展的</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2002155" y="5846445"/>
            <a:ext cx="9144000" cy="796290"/>
          </a:xfrm>
        </p:spPr>
        <p:txBody>
          <a:bodyPr/>
          <a:lstStyle/>
          <a:p>
            <a:r>
              <a:rPr lang="zh-CN" altLang="en-US"/>
              <a:t>答案：（</a:t>
            </a:r>
            <a:r>
              <a:rPr lang="en-US" altLang="zh-CN">
                <a:sym typeface="+mn-ea"/>
              </a:rPr>
              <a:t>BCDE</a:t>
            </a:r>
            <a:r>
              <a:rPr lang="zh-CN" altLang="en-US"/>
              <a:t>）</a:t>
            </a:r>
          </a:p>
        </p:txBody>
      </p:sp>
      <p:sp>
        <p:nvSpPr>
          <p:cNvPr id="2" name="标题 1"/>
          <p:cNvSpPr>
            <a:spLocks noGrp="1"/>
          </p:cNvSpPr>
          <p:nvPr>
            <p:ph type="ctrTitle"/>
          </p:nvPr>
        </p:nvSpPr>
        <p:spPr>
          <a:xfrm>
            <a:off x="904240" y="1007745"/>
            <a:ext cx="10334625" cy="4652645"/>
          </a:xfrm>
        </p:spPr>
        <p:txBody>
          <a:bodyPr>
            <a:normAutofit fontScale="90000"/>
          </a:bodyPr>
          <a:lstStyle/>
          <a:p>
            <a:pPr algn="l">
              <a:lnSpc>
                <a:spcPct val="140000"/>
              </a:lnSpc>
            </a:pPr>
            <a:r>
              <a:rPr lang="en-US" altLang="zh-CN" sz="2665" dirty="0"/>
              <a:t>      </a:t>
            </a:r>
            <a:r>
              <a:rPr lang="en-US" altLang="zh-CN" sz="2665" dirty="0">
                <a:solidFill>
                  <a:srgbClr val="FF0000"/>
                </a:solidFill>
              </a:rPr>
              <a:t>15</a:t>
            </a:r>
            <a:r>
              <a:rPr lang="en-US" altLang="zh-CN" sz="2665" dirty="0"/>
              <a:t>.2000</a:t>
            </a:r>
            <a:r>
              <a:rPr lang="zh-CN" altLang="en-US" sz="2665" dirty="0"/>
              <a:t>年</a:t>
            </a:r>
            <a:r>
              <a:rPr lang="en-US" altLang="zh-CN" sz="2665" dirty="0"/>
              <a:t>6</a:t>
            </a:r>
            <a:r>
              <a:rPr lang="zh-CN" altLang="en-US" sz="2665" dirty="0"/>
              <a:t>月</a:t>
            </a:r>
            <a:r>
              <a:rPr lang="en-US" altLang="zh-CN" sz="2665" dirty="0"/>
              <a:t>28</a:t>
            </a:r>
            <a:r>
              <a:rPr lang="zh-CN" altLang="en-US" sz="2665" dirty="0"/>
              <a:t>日，江泽民在中央思想政治工作会议上提出了</a:t>
            </a:r>
            <a:r>
              <a:rPr lang="en-US" altLang="zh-CN" sz="2665" dirty="0"/>
              <a:t>“</a:t>
            </a:r>
            <a:r>
              <a:rPr lang="zh-CN" altLang="en-US" sz="2665" dirty="0"/>
              <a:t>四个如何认识</a:t>
            </a:r>
            <a:r>
              <a:rPr lang="en-US" altLang="zh-CN" sz="2665" dirty="0"/>
              <a:t>”</a:t>
            </a:r>
            <a:r>
              <a:rPr lang="zh-CN" altLang="en-US" sz="2665" dirty="0"/>
              <a:t>，实际上深刻揭示了</a:t>
            </a:r>
            <a:r>
              <a:rPr lang="en-US" altLang="zh-CN" sz="2665" dirty="0"/>
              <a:t>“</a:t>
            </a:r>
            <a:r>
              <a:rPr lang="zh-CN" altLang="en-US" sz="2665" dirty="0"/>
              <a:t>三个代表</a:t>
            </a:r>
            <a:r>
              <a:rPr lang="en-US" altLang="zh-CN" sz="2665" dirty="0"/>
              <a:t>”</a:t>
            </a:r>
            <a:r>
              <a:rPr lang="zh-CN" altLang="en-US" sz="2665" dirty="0"/>
              <a:t>重要思想产生的历史起点和逻辑起点，反映了</a:t>
            </a:r>
            <a:r>
              <a:rPr lang="en-US" altLang="zh-CN" sz="2665" dirty="0"/>
              <a:t>“</a:t>
            </a:r>
            <a:r>
              <a:rPr lang="zh-CN" altLang="en-US" sz="2665" dirty="0"/>
              <a:t>三个代表</a:t>
            </a:r>
            <a:r>
              <a:rPr lang="en-US" altLang="zh-CN" sz="2665" dirty="0"/>
              <a:t>”</a:t>
            </a:r>
            <a:r>
              <a:rPr lang="zh-CN" altLang="en-US" sz="2665" dirty="0"/>
              <a:t>重要思想提出的时代背景和现实依据。这</a:t>
            </a:r>
            <a:r>
              <a:rPr lang="en-US" altLang="zh-CN" sz="2665" dirty="0"/>
              <a:t>“</a:t>
            </a:r>
            <a:r>
              <a:rPr lang="zh-CN" altLang="en-US" sz="2665" dirty="0"/>
              <a:t>四个如何认识</a:t>
            </a:r>
            <a:r>
              <a:rPr lang="en-US" altLang="zh-CN" sz="2665" dirty="0"/>
              <a:t>”</a:t>
            </a:r>
            <a:r>
              <a:rPr lang="zh-CN" altLang="en-US" sz="2665" dirty="0"/>
              <a:t>包括：</a:t>
            </a:r>
            <a:r>
              <a:rPr lang="en-US" altLang="zh-CN" sz="2665" dirty="0"/>
              <a:t>(    )</a:t>
            </a:r>
            <a:r>
              <a:rPr lang="zh-CN" altLang="en-US" sz="2665" dirty="0"/>
              <a:t>。</a:t>
            </a:r>
            <a:r>
              <a:rPr lang="en-US" altLang="zh-CN" sz="2665" dirty="0"/>
              <a:t>		</a:t>
            </a:r>
            <a:br>
              <a:rPr lang="en-US" altLang="zh-CN" sz="2665" dirty="0"/>
            </a:br>
            <a:r>
              <a:rPr lang="en-US" altLang="zh-CN" sz="2665" dirty="0"/>
              <a:t>       A.</a:t>
            </a:r>
            <a:r>
              <a:rPr lang="zh-CN" altLang="en-US" sz="2665" dirty="0"/>
              <a:t>如何认识我国社会主义所处的发展阶段</a:t>
            </a:r>
            <a:r>
              <a:rPr lang="en-US" altLang="zh-CN" sz="2665" dirty="0"/>
              <a:t>	</a:t>
            </a:r>
            <a:br>
              <a:rPr lang="en-US" altLang="zh-CN" sz="2665" dirty="0"/>
            </a:br>
            <a:r>
              <a:rPr lang="en-US" altLang="zh-CN" sz="2665" dirty="0"/>
              <a:t>       B.</a:t>
            </a:r>
            <a:r>
              <a:rPr lang="zh-CN" altLang="en-US" sz="2665" dirty="0"/>
              <a:t>如何认识社会主义发展的历史进程</a:t>
            </a:r>
            <a:r>
              <a:rPr lang="en-US" altLang="zh-CN" sz="2665" dirty="0"/>
              <a:t>	</a:t>
            </a:r>
            <a:br>
              <a:rPr lang="en-US" altLang="zh-CN" sz="2665" dirty="0"/>
            </a:br>
            <a:r>
              <a:rPr lang="en-US" altLang="zh-CN" sz="2665" dirty="0"/>
              <a:t>       C.</a:t>
            </a:r>
            <a:r>
              <a:rPr lang="zh-CN" altLang="en-US" sz="2665" dirty="0"/>
              <a:t>如何认识资本主义发展的历史进程</a:t>
            </a:r>
            <a:r>
              <a:rPr lang="en-US" altLang="zh-CN" sz="2665" dirty="0"/>
              <a:t>	</a:t>
            </a:r>
            <a:br>
              <a:rPr lang="en-US" altLang="zh-CN" sz="2665" dirty="0"/>
            </a:br>
            <a:r>
              <a:rPr lang="en-US" altLang="zh-CN" sz="2665" dirty="0"/>
              <a:t>       D.</a:t>
            </a:r>
            <a:r>
              <a:rPr lang="zh-CN" altLang="en-US" sz="2665" dirty="0"/>
              <a:t>如何认识我国社会主义改革实践过程对人们思想的影响</a:t>
            </a:r>
            <a:r>
              <a:rPr lang="en-US" altLang="zh-CN" sz="2665" dirty="0"/>
              <a:t>	</a:t>
            </a:r>
            <a:br>
              <a:rPr lang="en-US" altLang="zh-CN" sz="2665" dirty="0"/>
            </a:br>
            <a:r>
              <a:rPr lang="en-US" altLang="zh-CN" sz="2665" dirty="0"/>
              <a:t>       E.</a:t>
            </a:r>
            <a:r>
              <a:rPr lang="zh-CN" altLang="en-US" sz="2665" dirty="0"/>
              <a:t>如何认识当今的国际环境和国际政治斗争带来的影响</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67180" y="5424805"/>
            <a:ext cx="9144000" cy="796290"/>
          </a:xfrm>
        </p:spPr>
        <p:txBody>
          <a:bodyPr/>
          <a:lstStyle/>
          <a:p>
            <a:r>
              <a:rPr lang="zh-CN" altLang="en-US"/>
              <a:t>答案：（</a:t>
            </a:r>
            <a:r>
              <a:rPr lang="en-US" altLang="zh-CN">
                <a:sym typeface="+mn-ea"/>
              </a:rPr>
              <a:t>BCD</a:t>
            </a:r>
            <a:r>
              <a:rPr lang="zh-CN" altLang="en-US"/>
              <a:t>）</a:t>
            </a:r>
          </a:p>
        </p:txBody>
      </p:sp>
      <p:sp>
        <p:nvSpPr>
          <p:cNvPr id="2" name="标题 1"/>
          <p:cNvSpPr>
            <a:spLocks noGrp="1"/>
          </p:cNvSpPr>
          <p:nvPr>
            <p:ph type="ctrTitle"/>
          </p:nvPr>
        </p:nvSpPr>
        <p:spPr>
          <a:xfrm>
            <a:off x="929005" y="1268730"/>
            <a:ext cx="10334625" cy="3569335"/>
          </a:xfrm>
        </p:spPr>
        <p:txBody>
          <a:bodyPr>
            <a:normAutofit/>
          </a:bodyPr>
          <a:lstStyle/>
          <a:p>
            <a:pPr algn="l">
              <a:lnSpc>
                <a:spcPct val="140000"/>
              </a:lnSpc>
            </a:pPr>
            <a:r>
              <a:rPr lang="en-US" altLang="zh-CN" sz="2665"/>
              <a:t>      16.</a:t>
            </a:r>
            <a:r>
              <a:rPr lang="zh-CN" altLang="en-US" sz="2665"/>
              <a:t>党的十八大以来，党面临的主要任务是（</a:t>
            </a:r>
            <a:r>
              <a:rPr lang="en-US" altLang="zh-CN" sz="2665"/>
              <a:t>    </a:t>
            </a:r>
            <a:r>
              <a:rPr lang="zh-CN" altLang="en-US" sz="2665"/>
              <a:t>）。</a:t>
            </a:r>
            <a:r>
              <a:rPr lang="en-US" altLang="zh-CN" sz="2665"/>
              <a:t>		</a:t>
            </a:r>
            <a:br>
              <a:rPr lang="en-US" altLang="zh-CN" sz="2665"/>
            </a:br>
            <a:r>
              <a:rPr lang="en-US" altLang="zh-CN" sz="2665"/>
              <a:t>        A.</a:t>
            </a:r>
            <a:r>
              <a:rPr lang="zh-CN" altLang="en-US" sz="2665"/>
              <a:t>实现乡村全面振兴</a:t>
            </a:r>
            <a:r>
              <a:rPr lang="en-US" altLang="zh-CN" sz="2665"/>
              <a:t>	</a:t>
            </a:r>
            <a:br>
              <a:rPr lang="en-US" altLang="zh-CN" sz="2665"/>
            </a:br>
            <a:r>
              <a:rPr lang="en-US" altLang="zh-CN" sz="2665"/>
              <a:t>        B.</a:t>
            </a:r>
            <a:r>
              <a:rPr lang="zh-CN" altLang="en-US" sz="2665"/>
              <a:t>实现第一个百年奋斗目标</a:t>
            </a:r>
            <a:r>
              <a:rPr lang="en-US" altLang="zh-CN" sz="2665"/>
              <a:t>	</a:t>
            </a:r>
            <a:br>
              <a:rPr lang="en-US" altLang="zh-CN" sz="2665"/>
            </a:br>
            <a:r>
              <a:rPr lang="en-US" altLang="zh-CN" sz="2665"/>
              <a:t>        C.</a:t>
            </a:r>
            <a:r>
              <a:rPr lang="zh-CN" altLang="en-US" sz="2665"/>
              <a:t>开启实现第二个百年奋斗目标新征程</a:t>
            </a:r>
            <a:r>
              <a:rPr lang="en-US" altLang="zh-CN" sz="2665"/>
              <a:t>	</a:t>
            </a:r>
            <a:br>
              <a:rPr lang="en-US" altLang="zh-CN" sz="2665"/>
            </a:br>
            <a:r>
              <a:rPr lang="en-US" altLang="zh-CN" sz="2665"/>
              <a:t>        D.</a:t>
            </a:r>
            <a:r>
              <a:rPr lang="zh-CN" altLang="en-US" sz="2665"/>
              <a:t>朝着中华民族伟大复兴的宏伟目标继续前进</a:t>
            </a:r>
            <a:r>
              <a:rPr lang="en-US" altLang="zh-CN" sz="2665"/>
              <a:t>	</a:t>
            </a:r>
            <a:br>
              <a:rPr lang="en-US" altLang="zh-CN" sz="2665"/>
            </a:br>
            <a:r>
              <a:rPr lang="en-US" altLang="zh-CN" sz="2665"/>
              <a:t>        E.</a:t>
            </a:r>
            <a:r>
              <a:rPr lang="zh-CN" altLang="en-US" sz="2665"/>
              <a:t>朝着经济全球化和政治多极化的方向推进全球治理变革</a:t>
            </a:r>
          </a:p>
        </p:txBody>
      </p:sp>
      <p:sp>
        <p:nvSpPr>
          <p:cNvPr id="4" name="文本框 3"/>
          <p:cNvSpPr txBox="1"/>
          <p:nvPr/>
        </p:nvSpPr>
        <p:spPr>
          <a:xfrm>
            <a:off x="441325" y="158750"/>
            <a:ext cx="2492375" cy="645160"/>
          </a:xfrm>
          <a:prstGeom prst="rect">
            <a:avLst/>
          </a:prstGeom>
          <a:noFill/>
        </p:spPr>
        <p:txBody>
          <a:bodyPr wrap="square" rtlCol="0">
            <a:spAutoFit/>
          </a:bodyPr>
          <a:lstStyle/>
          <a:p>
            <a:r>
              <a:rPr lang="zh-CN" altLang="en-US" sz="3600"/>
              <a:t>多选题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000"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4590</Words>
  <Application>Microsoft Office PowerPoint</Application>
  <PresentationFormat>宽屏</PresentationFormat>
  <Paragraphs>153</Paragraphs>
  <Slides>51</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51</vt:i4>
      </vt:variant>
    </vt:vector>
  </HeadingPairs>
  <TitlesOfParts>
    <vt:vector size="54" baseType="lpstr">
      <vt:lpstr>Arial</vt:lpstr>
      <vt:lpstr>Calibri</vt:lpstr>
      <vt:lpstr>WPS</vt:lpstr>
      <vt:lpstr>      1.把邓小平理论同马克思列宁主义、毛泽东思想一起，确立为党的指导思想并写入党章，是在哪一次会议上？（  ）        A.党的十二大        B.党的十三大         C.党的十四大        D.党的十五大 </vt:lpstr>
      <vt:lpstr>     2.将“三个代表”重要思想同马克思列宁主义、毛泽东思想和邓小平理论一道确立为党必须长期坚持的指导思想，并写入党章，是在哪一次会议上。（    ）       A.党的十四大        B.党的十五大        C.党的十六大        D. 党的十七大 </vt:lpstr>
      <vt:lpstr>      3.科学发展观是哪一次会议上写入党章的？（  ）         A.党的十七大        B.党的十八大        C.党的十九大        D.党的二十大 </vt:lpstr>
      <vt:lpstr>      4.把科学发展观确立为党必须长期坚持的指导思想，是在哪里一次会议上？（    ）         A.党的十七大        B.党的十八大        C.党的十九大        D.党的二十大 </vt:lpstr>
      <vt:lpstr>      5.习近平新时代中国特色社会主义思想是在哪一次会议上确立为党必须长期坚持的指导思想并写入党章的？（   ）          A.党的十八大         B.党的十九大         C.党的二十大         D.党的二十一大 </vt:lpstr>
      <vt:lpstr>      6.1987年召开的党的十三大，第一次对中国特色社会主义理论的主要内容进行系统的概括，也标志着下列哪一思想理论成果轮廓的形成。（  ）        A.邓小平理论        B.“三个代表”重要思想        C.科学发展观        D.习近平新时代中国特色社会主义思想 </vt:lpstr>
      <vt:lpstr>      7.贯彻“三个代表”重要思想，本质在坚持（  ）。         A.实事求是        B.理论联系实际       C.民主集中制        D.执政为民 </vt:lpstr>
      <vt:lpstr>      8.确定把全党工作的着重点转移到社会主义现代化建设上来，作出实行改革开放的重大决策的会议是（  ）。         A.党的十一届三中全会        B.党的十一届六中全会        C.党的十二大        D.党的十二届三中全会 </vt:lpstr>
      <vt:lpstr>      9.“中国特色社会主义”成为我们党的全部理论和实践创新的主题，始自（  ）。          A.1978年党的十一届三中全会         B.1981年党的十一届六中全会         C.1982年党的十二大         D.1984年党的十二届三中全会 </vt:lpstr>
      <vt:lpstr>      10.邓小平理论的集大成之作，从理论上深刻地回答了当时困扰和束缚人们思想的一系列重大问题，推动改革开放和社会主义现代化建设进入新阶段。这一集大成之作是指（  ）。        A.改革开放理论        B.社会主义本质理论       C.南方谈话        D.社会主义市场经济理论 </vt:lpstr>
      <vt:lpstr>      11.党的十一届三中全会以后，以（  ）同志为主要代表的中国共产党人，领导全党和全国人民果断地纠正了我国社会主义建设中的错误，深刻地分析了错误出现的原因，同时又坚决地维护和继承了过去在理论上和实践上所取得的一切积极成果。        A.邓小平          B.陈云         C.叶剑英 D.胡耀邦 </vt:lpstr>
      <vt:lpstr>      12.20世纪70年代，整个世界发生着大变动大调整，最显著的变化就是（  ）成为时代主题。         A.革命与战争      B.和平与发展        C.合作与共赢      D.开放与融通 </vt:lpstr>
      <vt:lpstr>      13.以胡锦涛同志为主要代表的中国共产党人，创造性地回答了（  ）这一重大问题。         A.什么是社会主义，怎样建设社会主义        B.建设什么样的党，怎样建设党         C.实现什么样的发展、怎样发展         D.什么是马克思主义，怎样发展马克思主义 </vt:lpstr>
      <vt:lpstr>      14.以江泽民同志为主要代表的中国共产党人，创造性地回答了（  ）这一重大问题。         A.什么是社会主义，怎样建设社会主义        B.建设什么样的党，怎样建设党        C.实现什么样的发展、怎样发展        D.什么是马克思主义，怎样发展马克思主义 </vt:lpstr>
      <vt:lpstr>      15.我国改革从（  ）率先突破，逐步转向城市经济体制改革并全面铺开，确立社会主义市场经济的改革方向。         A.计划经济为主，市场经济为辅        B.计划少一点，市场多一点        C.包干到户        D.农村实行家庭联产承包责任制 </vt:lpstr>
      <vt:lpstr>      16.1978年12月召开的党的十一届三中全会，重新确立了（  ）的思想路线，彻底否定了 “以阶级斗争为纲”的错误理论和实践。       A.实事求是 B.群众路线           C.独立自主         D.解放思想 </vt:lpstr>
      <vt:lpstr>      17.1982年邓小平在党的十二大开幕词中明确提出：走自己的道路，（  ）。          A.建设社会主义市场经济         B.建设有中国特色的社会主义         C.实现马克思主义中国化时代化         D.建设社会主义初级阶段 </vt:lpstr>
      <vt:lpstr>      18.1987年召开的党的十三大，第一次比较系统地论述了我国社会主义初级阶段理论，明确概括和全面阐发了党的（  ）的基本路线。        A.社会主义全面发展        B.“三步走”         C.“一个中心、两个基本点”         D.“四项基本原则” </vt:lpstr>
      <vt:lpstr>      19.（  ）的宪法修正案正式将邓小平理论载入宪法。         A.1998年         B.1999年         C.2000年         D.2001年 </vt:lpstr>
      <vt:lpstr>      20.首次对“三个代表”进行了比较全面的阐述是：（  ）         A.1989年党十四届三中全会         B.1997年党十五大         C.2000年，江泽民在广东考察工作时         D.2001年7月1日，江泽民在庆祝中国共产党成立80周年大会上的讲话 </vt:lpstr>
      <vt:lpstr>      21.2018年，（  ）通过的宪法修正案，郑重地把习近平新时代中国特色社会主义思想载入宪法，实现了国家指导思想的与时俱进。       A.十三届全国人大一次会议        B.十三届全国人大二次会议        C.十四届全国人大一次会议        D.十四届全国人大二次会议 </vt:lpstr>
      <vt:lpstr>      22.我们党第一次提出科学发展观的文件是（  ）。          A.中共中央关于建立社会主义市场经济体制若干问题的决定         B.中共中央关于完善社会主义市场经济体制若干问题的决定         C.中共中央关于加强党的执政能力建设的决定         D. 中共中央关于制定国民经济和社会发展第十一个五年规划的建议 </vt:lpstr>
      <vt:lpstr>      23.2008年12月，中央召开经济工作会议，强调科学发展观第一要义是（  ），越是在经济发展面临较大困难的时候，我们越是要坚定不移地贯彻发展是硬道理的战略思想。         A.发展    B.开放   C.改革 D.以人为本 </vt:lpstr>
      <vt:lpstr>       24.（    ），深刻阐明了科学发展观提出的背景、意义，明确界定了“以人为本”“全面发展”“协调发展”“可持续发展”的深刻内涵和基本要求，并对如何树立和落实科学发展观提出了明确的要求，标志着科学发展观的形成。         A.2003年10月，党的十六届三中全会通过的《中共中央关于完善社会主义市场经济体制体制若干问题的决定》         B.2004年3月，胡锦涛在中央人口资源环境座谈会上发表重要讲话         C.2004年9月，党的十六届四中全会通过的《中共中央关于加强党的执政能力建设的决定》         D.2005年10月，党的十六届五中全会通过的《中共中央关于制定国民经济和社会发展第十一个五年规划的建议》</vt:lpstr>
      <vt:lpstr>      25.中国特色社会主义理论体系形成发展的实践基础是（    ）。        A.我们党领导新民主主义革命的伟大实践        B.我们党领导社会主义改造的伟大实践        C.我们党对社会主义建设道路进行初步探索的实践        D.我们党领导的改革开放和社会主义现代化家建设的生动实践 </vt:lpstr>
      <vt:lpstr>      26.苏联解体以后，国际局势发生深刻变化。美国作为唯一超级大国，极力使世界向（    ）方向发展，谋求建立以其为领导的世界秩序。        A.多极化       B.多元化       C.单极化      D.单边化 </vt:lpstr>
      <vt:lpstr>      27.“三个代表”重要思想形成于哪个时期？（    ）。          A.改革开放初期         B.党的十三届四中全会后         C.党的十六大后         D.党的十七大后 </vt:lpstr>
      <vt:lpstr>      28.中国特色社会主义理论体系深化了对三大规律的认识，不包括（    ）。          A.共产党执政规律         B.社会主义建设规律         C.人类社会发展规律         D.历史发展规律 </vt:lpstr>
      <vt:lpstr>      29.正式提出“邓小平理论”这一概念是在（    ）。        A.1987年党的十三大        B.1992年党的十四大        C.1997年党的十五大        D.2002年党的十六大 </vt:lpstr>
      <vt:lpstr>      30.江泽民全面阐述“三个代表”重要思想的科学内涵和基本内容是在（    ）。        A.2000年10月党的十五届五中全会上        B.2001年7月1日在庆祝中国共产党成立八十周年大会上        C.2002年5月在中共中央党校省部级干部进修班毕业典礼上        D.2002年11月党的十六大上 </vt:lpstr>
      <vt:lpstr>      31.中国特色社会主义理论体系的开篇之作是（    ）。         A.邓小平理论         B.“三个代表”重要思想         C.科学发展观         D.习近平新时代中国特色社会主义思想 </vt:lpstr>
      <vt:lpstr>      32.在全面开创改革开放新局面，推进党的建设新的伟大工程，成功把中国特色社会主义推向21世纪的伟大实践中形成和发展起来的党的创新理论成果是（    ）。          A.邓小平理论         B.“三个代表”重要思想         C.科学发展观         D.习近平新时代中国特色社会主义思想 </vt:lpstr>
      <vt:lpstr>      33.在新世纪新阶段全面建设小康社会进程中，在新的历史起点上推进中国特色社会主义事业的过程中形成和发展起来的党的创新理论成果是（    ）         A.邓小平理论         B.“三个代表”重要思想         C.科学发展观         D.习近平新时代中国特色社会主义思想</vt:lpstr>
      <vt:lpstr>      34.（    ），为党的十一届三中全会的召开作了重要的思想准备，对于改变党和国家的历史命运，产生了重大而深远的影响。         A.《实践是检验真理的唯一标准》一文的发表        B.真理标准问题大讨论        C.《中国共产党第十一届中央委员会第三次全体会议公报》        D.邓小平的南方谈话</vt:lpstr>
      <vt:lpstr>       35.1984年党的十二届三中全会提出，社会主义经济是在公有制基础上的（    ）。         A.社会主义计划经济        B.有计划的商品经济       C.社会主义市场经济        D.自由市场经济 </vt:lpstr>
      <vt:lpstr>      1.中国特色社会主义理论体系是（   ）。           A.全党全国各族人民团结奋斗的共同思想基础          B.战胜来自政治、经济、社会和自然界等一切风险和挑战的精神支柱         C.坚持和发展中国特色社会主义的行动指南          D.全面推进中华民族伟大复兴的根本指针          E.我们党最可贵的政治和精神财富</vt:lpstr>
      <vt:lpstr>      2.党的十八大以来，中国特色社会主义进入新时代，这是我国发展新的历史方位。中国特色社会主义新时代是（   ）。         A.承前启后、继往开来、在新的历史条件下继续夺取中国特色社会主义伟大胜利的时代        B.决胜全而建成小康社会、进而全面建设社会主义现代化国家的时代        C.全国各族人民团结奋斗、不断创造美好生活、逐步实现全体人民共同富裕的时代         D.全体中华儿女戮力同心、奋力实现中华民族伟大复兴中国梦的时代         E.我国不断为人类作出更大贡献的时代</vt:lpstr>
      <vt:lpstr>      3.中国特色社会主义进入新时代，意味着（   ）。         A.近代以来久经磨难的中华民族迎来了从站起来、富起来到强起来的伟大飞跃，迎来了实现中华民族伟大复兴的光明前景         B.科学社会主义在21世纪的中国焕发出强大生机活力，在世界上高高举起了中国特色社会主义伟大旗帜        C.中国特色社会主义道路、理论、制度、文化不断发展，拓展了发展中国家走向现代化的途径，为解决人类问题贡献了中国智慧和中国方案        D.中国已经成功实现民族复兴的伟大梦想        E.中国已经建成社会主义现代化强国</vt:lpstr>
      <vt:lpstr>      4.中国特色社会主义理论体系同马克思列宁主义、毛泽东思想一脉相承又与时俱进，是马克思主义中国化时代化的重大理论成果，是内涵丰富、思想深刻、系统完整的科学理论体系。它以全新的视野进一步深化和丰富了对哪些规律的认识。（ ）         A.中华民族伟大复兴的规律     B.共产党执政规律        C.实现强国之梦的规律               D.社会主义建设规律        E.人类社会发展规律</vt:lpstr>
      <vt:lpstr>      5.关于中国特色社会主义理论体系的形成发展过程，下列表述正确的有（    ）        A.党的十一届三中全会以后，以邓小平同志为主要代表的中国共产党人创立的邓小平理论，是中国特色社会主义理论体系的开篇之作        B.党的十三届四中全会以后，以江泽民同志为主要代表的中国共产党人形成的“三个代表”重要思想，推动了中国特色社会主义理论体系的跨世纪发展        C.党的十六大以后，以胡锦涛同志为主要代表的中国共产党人形成的科学发展观，实现了中国特色社会主义理论体系在新世纪新阶段的新发展         D.党的十七大提出了“中国特色社会主义理论体系”的科学概念         E.党的十八大以来，以习近平同志为主要代表的中国共产党人创立了习近平新时代中国特色社会主义思想，谱写了新时代中国特色社会主义新篇章</vt:lpstr>
      <vt:lpstr>      6.我国在社会主义建设初期走了不少弯路、犯了不少错误,造成这些失误的深层原因是：（  ）         A.经济上急于求成、盲目求纯和急于过渡        B.在政治上坚持以阶级斗争为纲        C.偏离了党的实事求是的思想路线        D.对什么是社会主义和如何建设社会主义的问题没有完全搞清楚        E.对坚持和发展什么样的中国特色社会主义、怎样坚持和发展中国特色社会主义的问题没有完全搞清楚</vt:lpstr>
      <vt:lpstr>      7.党的十八大以来，（  ）正以前所未有的方式展开，世界百年未有之大变局加速演进。         A.世界之变        B.时代之变        C.历史之变        D.人类之变        E.科技之变</vt:lpstr>
      <vt:lpstr>      8.新世纪新阶段，我国进入（  ），经济社会发展呈现一系列新的阶段性特征。        A.发展关键期       B.改革攻坚期       C.开放活跃期       D.矛盾凸显期       E.经济复苏期</vt:lpstr>
      <vt:lpstr>      9.改革开放和社会主义现代化建设新时期，党面临的主要任务是（   ）。         A.继续探索中国建设社会主义的正确道路         B.解放和发展社会生产力         C.使人民摆脱贫困、尽快富裕起来         D.为实现中华民族伟大复兴提供充满新的活力的体制保证         E.为实现中华民族伟大复兴提供快速发展的物质条件</vt:lpstr>
      <vt:lpstr>      10.中国特色社会主义进入新时代，意味着中国特色社会主义（  ）不断发展，拓展了发展中国家走向现代化的途径，给世界上那些既希望加快发展又希望保持自身独立性的国家和民族提供了全新选择，为解决人类问题贡献了中国智慧和中国方案。       A.道路    B.理论   C.制度 D.文化 E.生态</vt:lpstr>
      <vt:lpstr>      11.以习近平同志为核心的党中央以伟大的历史主动精神、巨大的政治勇气、强烈的责任担当，统筹国内国际两个大局，统揽（  ），创立习近平新时代中国特色社会主义思想，明确坚持和发展中国特色社会主义的基本方略，提出一系列治国理政新理念新思想新战略，实现了马克思主义中国化时代化新的飞跃。        A.伟大斗争           B.伟大工程                C.伟大事业      D.伟大梦想           E.伟大建党精神</vt:lpstr>
      <vt:lpstr>      12.2002年5月，江泽民在中共中央党校省部级干部进修班毕业典礼上深刻阐述了 “三个代表”重要思想的内在联系，提出“贯彻’三个代表’重要思想，（  ）。          A.关键在坚持与时俱进         B.核心在坚持党的先进性         C.本质在坚持执政为民         D.目标在坚持党的宗旨         E.方法在坚持党的群众路线</vt:lpstr>
      <vt:lpstr>      13.习近平新时代中国特色社会主义思想科学回答了（  ）等重大时代课题。       A.新时代坚持和发展什么样的中国特色社会主义，怎样坚持和发展中国特色社会主义        B.建设什么样的社会主义现代化强国、怎样建设社会主义现代化强国        C.建设什么样的长期执政的马克思主义政党、怎样建设长期执政的马克思主义政党        D.实现什么样的人类发展、怎样实现人类发展        E.建设什么样的国际治理体系、怎样建设新的国际治理体系</vt:lpstr>
      <vt:lpstr>      14.关于中国特色社会主义理论体系形成发展的社会历史条件，下列说法正确的有（    ）。        A.中国特色社会主义理论体系是我们党在深刻洞察国际形势变化和世界发展趋势的基础上形成并不断发展的         B.中国特色社会主义理论体系是我们党在科学判断时代主题和时代特征的基础上形成并不断发展的         C.中国特色社会主义理论体系是我们党在深刻把握人类社会发展规律的基础上形成并不断发展的        D.中国特色社会主义理论体系是在认真总结我国社会主义建设正反两方面的历史经验、科学判断党和国家所处历史方位的基础上形成并不断发展的         E.中国特色社会主义理论体系是在我们党领导的改革开放和社会主义现代化建设的生动实践中形成并不断发展的</vt:lpstr>
      <vt:lpstr>      15.2000年6月28日，江泽民在中央思想政治工作会议上提出了“四个如何认识”，实际上深刻揭示了“三个代表”重要思想产生的历史起点和逻辑起点，反映了“三个代表”重要思想提出的时代背景和现实依据。这“四个如何认识”包括：(    )。          A.如何认识我国社会主义所处的发展阶段         B.如何认识社会主义发展的历史进程         C.如何认识资本主义发展的历史进程         D.如何认识我国社会主义改革实践过程对人们思想的影响         E.如何认识当今的国际环境和国际政治斗争带来的影响</vt:lpstr>
      <vt:lpstr>      16.党的十八大以来，党面临的主要任务是（    ）。           A.实现乡村全面振兴          B.实现第一个百年奋斗目标          C.开启实现第二个百年奋斗目标新征程          D.朝着中华民族伟大复兴的宏伟目标继续前进          E.朝着经济全球化和政治多极化的方向推进全球治理变革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 欣翰</cp:lastModifiedBy>
  <cp:revision>16</cp:revision>
  <dcterms:created xsi:type="dcterms:W3CDTF">2023-08-09T12:44:00Z</dcterms:created>
  <dcterms:modified xsi:type="dcterms:W3CDTF">2026-06-26T12:26:20Z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0FFB374EF87741258E9EC42A4DEF22FC_13</vt:lpwstr>
  </property>
</Properties>
</file>