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21" r:id="rId3"/>
    <p:sldId id="298" r:id="rId4"/>
    <p:sldId id="299" r:id="rId5"/>
    <p:sldId id="300" r:id="rId6"/>
    <p:sldId id="301" r:id="rId7"/>
    <p:sldId id="302" r:id="rId8"/>
    <p:sldId id="303" r:id="rId9"/>
    <p:sldId id="304" r:id="rId10"/>
    <p:sldId id="322" r:id="rId11"/>
    <p:sldId id="323" r:id="rId12"/>
    <p:sldId id="324" r:id="rId13"/>
    <p:sldId id="325" r:id="rId14"/>
    <p:sldId id="326" r:id="rId15"/>
    <p:sldId id="327" r:id="rId16"/>
    <p:sldId id="328" r:id="rId17"/>
    <p:sldId id="329" r:id="rId18"/>
    <p:sldId id="330" r:id="rId19"/>
    <p:sldId id="331" r:id="rId20"/>
    <p:sldId id="332" r:id="rId21"/>
    <p:sldId id="333" r:id="rId22"/>
    <p:sldId id="334" r:id="rId23"/>
    <p:sldId id="335" r:id="rId24"/>
    <p:sldId id="336" r:id="rId25"/>
    <p:sldId id="337" r:id="rId26"/>
    <p:sldId id="320" r:id="rId27"/>
    <p:sldId id="305" r:id="rId28"/>
    <p:sldId id="308" r:id="rId29"/>
    <p:sldId id="309" r:id="rId30"/>
    <p:sldId id="310" r:id="rId31"/>
    <p:sldId id="311" r:id="rId32"/>
    <p:sldId id="312" r:id="rId33"/>
    <p:sldId id="313" r:id="rId34"/>
    <p:sldId id="314" r:id="rId35"/>
    <p:sldId id="315" r:id="rId36"/>
    <p:sldId id="338" r:id="rId37"/>
    <p:sldId id="339" r:id="rId38"/>
    <p:sldId id="340" r:id="rId39"/>
    <p:sldId id="341" r:id="rId40"/>
    <p:sldId id="342" r:id="rId41"/>
    <p:sldId id="343" r:id="rId42"/>
    <p:sldId id="344" r:id="rId43"/>
    <p:sldId id="345" r:id="rId44"/>
    <p:sldId id="346" r:id="rId45"/>
    <p:sldId id="347" r:id="rId46"/>
    <p:sldId id="348" r:id="rId47"/>
    <p:sldId id="349" r:id="rId48"/>
    <p:sldId id="350" r:id="rId49"/>
    <p:sldId id="351" r:id="rId50"/>
    <p:sldId id="352" r:id="rId51"/>
    <p:sldId id="353" r:id="rId52"/>
    <p:sldId id="354" r:id="rId53"/>
    <p:sldId id="355" r:id="rId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2" d="100"/>
          <a:sy n="102" d="100"/>
        </p:scale>
        <p:origin x="88" y="184"/>
      </p:cViewPr>
      <p:guideLst>
        <p:guide orient="horz" pos="2160"/>
        <p:guide pos="38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 C</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1.</a:t>
            </a:r>
            <a:r>
              <a:rPr lang="zh-CN" altLang="en-US" sz="2665"/>
              <a:t>在半殖民地半封建的近代中国，社会矛盾呈现出错综复杂的状况。在诸多社会矛盾中最主要的矛盾是（</a:t>
            </a:r>
            <a:r>
              <a:rPr lang="en-US" altLang="zh-CN" sz="2665"/>
              <a:t>  </a:t>
            </a:r>
            <a:r>
              <a:rPr lang="zh-CN" altLang="en-US" sz="2665"/>
              <a:t>）。</a:t>
            </a:r>
            <a:br>
              <a:rPr lang="zh-CN" altLang="en-US" sz="2665"/>
            </a:br>
            <a:r>
              <a:rPr lang="en-US" altLang="zh-CN" sz="2665"/>
              <a:t>A. </a:t>
            </a:r>
            <a:r>
              <a:rPr lang="zh-CN" altLang="en-US" sz="2665"/>
              <a:t>无产阶级和资产阶级</a:t>
            </a:r>
            <a:r>
              <a:rPr lang="zh-CN" altLang="en-US" sz="2665">
                <a:sym typeface="+mn-ea"/>
              </a:rPr>
              <a:t>的矛盾</a:t>
            </a:r>
            <a:br>
              <a:rPr lang="zh-CN" altLang="en-US" sz="2665"/>
            </a:br>
            <a:r>
              <a:rPr lang="en-US" altLang="zh-CN" sz="2665"/>
              <a:t>B. </a:t>
            </a:r>
            <a:r>
              <a:rPr lang="zh-CN" altLang="en-US" sz="2665"/>
              <a:t>封建主义和人民大众</a:t>
            </a:r>
            <a:r>
              <a:rPr lang="zh-CN" altLang="en-US" sz="2665">
                <a:sym typeface="+mn-ea"/>
              </a:rPr>
              <a:t>的矛盾</a:t>
            </a:r>
            <a:br>
              <a:rPr lang="zh-CN" altLang="en-US" sz="2665"/>
            </a:br>
            <a:r>
              <a:rPr lang="en-US" altLang="zh-CN" sz="2665"/>
              <a:t>C. </a:t>
            </a:r>
            <a:r>
              <a:rPr lang="zh-CN" altLang="en-US" sz="2665"/>
              <a:t>帝国主义和中华民族</a:t>
            </a:r>
            <a:r>
              <a:rPr lang="zh-CN" altLang="en-US" sz="2665">
                <a:sym typeface="+mn-ea"/>
              </a:rPr>
              <a:t>的矛盾</a:t>
            </a:r>
            <a:br>
              <a:rPr lang="zh-CN" altLang="en-US" sz="2665"/>
            </a:br>
            <a:r>
              <a:rPr lang="en-US" altLang="zh-CN" sz="2665"/>
              <a:t>D. </a:t>
            </a:r>
            <a:r>
              <a:rPr lang="zh-CN" altLang="en-US" sz="2665"/>
              <a:t>官僚资产阶级和人民大众</a:t>
            </a:r>
            <a:r>
              <a:rPr lang="zh-CN" altLang="en-US" sz="2665">
                <a:sym typeface="+mn-ea"/>
              </a:rPr>
              <a:t>的矛盾</a:t>
            </a: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2933700" y="1153160"/>
            <a:ext cx="8968105" cy="3039110"/>
          </a:xfrm>
        </p:spPr>
        <p:txBody>
          <a:bodyPr>
            <a:normAutofit/>
          </a:bodyPr>
          <a:lstStyle/>
          <a:p>
            <a:pPr algn="l">
              <a:lnSpc>
                <a:spcPct val="140000"/>
              </a:lnSpc>
            </a:pPr>
            <a:r>
              <a:rPr lang="en-US" altLang="zh-CN" sz="2665"/>
              <a:t>2.</a:t>
            </a:r>
            <a:r>
              <a:rPr lang="zh-CN" altLang="en-US" sz="2665"/>
              <a:t>（</a:t>
            </a:r>
            <a:r>
              <a:rPr lang="en-US" altLang="zh-CN" sz="2665"/>
              <a:t>  </a:t>
            </a:r>
            <a:r>
              <a:rPr lang="zh-CN" altLang="en-US" sz="2665"/>
              <a:t>）是中国革命的首要对象。</a:t>
            </a:r>
            <a:br>
              <a:rPr lang="zh-CN" altLang="en-US" sz="2665"/>
            </a:br>
            <a:r>
              <a:rPr lang="en-US" altLang="zh-CN" sz="2665"/>
              <a:t>A. </a:t>
            </a:r>
            <a:r>
              <a:rPr lang="zh-CN" altLang="en-US" sz="2665"/>
              <a:t>帝国主义</a:t>
            </a:r>
            <a:br>
              <a:rPr lang="zh-CN" altLang="en-US" sz="2665"/>
            </a:br>
            <a:r>
              <a:rPr lang="en-US" altLang="zh-CN" sz="2665"/>
              <a:t>B. </a:t>
            </a:r>
            <a:r>
              <a:rPr lang="zh-CN" altLang="en-US" sz="2665"/>
              <a:t>封建主义</a:t>
            </a:r>
            <a:br>
              <a:rPr lang="zh-CN" altLang="en-US" sz="2665"/>
            </a:br>
            <a:r>
              <a:rPr lang="en-US" altLang="zh-CN" sz="2665"/>
              <a:t>C. </a:t>
            </a:r>
            <a:r>
              <a:rPr lang="zh-CN" altLang="en-US" sz="2665"/>
              <a:t>官僚资产阶级</a:t>
            </a:r>
            <a:br>
              <a:rPr lang="zh-CN" altLang="en-US" sz="2665"/>
            </a:br>
            <a:r>
              <a:rPr lang="en-US" altLang="zh-CN" sz="2665"/>
              <a:t>D. </a:t>
            </a:r>
            <a:r>
              <a:rPr lang="zh-CN" altLang="en-US" sz="2665"/>
              <a:t>资产阶级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a:t>
            </a:r>
            <a:r>
              <a:rPr lang="zh-CN" altLang="en-US">
                <a:sym typeface="+mn-ea"/>
              </a:rPr>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3.</a:t>
            </a:r>
            <a:r>
              <a:rPr lang="zh-CN" altLang="en-US" sz="2665"/>
              <a:t>总体上说，中国革命的对象是帝国主义、封建主义和官僚资本主义，它们是压在中国人民头上的三座大山。但是，在不同历史阶段，革命的主要对象有所不同。在国共合作的大革命时期，革命的主要对象是（）。</a:t>
            </a:r>
            <a:br>
              <a:rPr lang="zh-CN" altLang="en-US" sz="2665"/>
            </a:br>
            <a:r>
              <a:rPr lang="en-US" altLang="zh-CN" sz="2665"/>
              <a:t>A. </a:t>
            </a:r>
            <a:r>
              <a:rPr lang="zh-CN" altLang="en-US" sz="2665"/>
              <a:t>帝国主义支持下的北洋军阀</a:t>
            </a:r>
            <a:br>
              <a:rPr lang="zh-CN" altLang="en-US" sz="2665"/>
            </a:br>
            <a:r>
              <a:rPr lang="en-US" altLang="zh-CN" sz="2665"/>
              <a:t>B. </a:t>
            </a:r>
            <a:r>
              <a:rPr lang="zh-CN" altLang="en-US" sz="2665"/>
              <a:t>国民党新军阀</a:t>
            </a:r>
            <a:br>
              <a:rPr lang="zh-CN" altLang="en-US" sz="2665"/>
            </a:br>
            <a:r>
              <a:rPr lang="en-US" altLang="zh-CN" sz="2665"/>
              <a:t>C. </a:t>
            </a:r>
            <a:r>
              <a:rPr lang="zh-CN" altLang="en-US" sz="2665"/>
              <a:t>日本帝国主义</a:t>
            </a:r>
            <a:br>
              <a:rPr lang="zh-CN" altLang="en-US" sz="2665"/>
            </a:br>
            <a:r>
              <a:rPr lang="en-US" altLang="zh-CN" sz="2665"/>
              <a:t>D. </a:t>
            </a:r>
            <a:r>
              <a:rPr lang="zh-CN" altLang="en-US" sz="2665"/>
              <a:t>美帝国主义支持下的国民党反动派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a:t>
            </a:r>
            <a:r>
              <a:rPr lang="zh-CN" altLang="en-US">
                <a:sym typeface="+mn-ea"/>
              </a:rPr>
              <a:t>）</a:t>
            </a:r>
          </a:p>
        </p:txBody>
      </p:sp>
      <p:sp>
        <p:nvSpPr>
          <p:cNvPr id="2" name="标题 1"/>
          <p:cNvSpPr>
            <a:spLocks noGrp="1"/>
          </p:cNvSpPr>
          <p:nvPr>
            <p:ph type="ctrTitle"/>
          </p:nvPr>
        </p:nvSpPr>
        <p:spPr>
          <a:xfrm>
            <a:off x="1040130" y="1092200"/>
            <a:ext cx="10334625" cy="3501390"/>
          </a:xfrm>
        </p:spPr>
        <p:txBody>
          <a:bodyPr>
            <a:normAutofit fontScale="90000"/>
          </a:bodyPr>
          <a:lstStyle/>
          <a:p>
            <a:pPr algn="l">
              <a:lnSpc>
                <a:spcPct val="140000"/>
              </a:lnSpc>
            </a:pPr>
            <a:r>
              <a:rPr lang="en-US" altLang="zh-CN" sz="2665"/>
              <a:t>4.</a:t>
            </a:r>
            <a:r>
              <a:rPr lang="zh-CN" altLang="en-US" sz="2665"/>
              <a:t>总体上说，中国革命的对象是帝国主义、封建主义和官僚资本主义，它们是压在中国人民头上的三座大山。但是，在不同历史阶段，革命的主要对象有所不同。在土地革命战争时期，革命的主要对象是（）。</a:t>
            </a:r>
            <a:br>
              <a:rPr lang="zh-CN" altLang="en-US" sz="2665"/>
            </a:br>
            <a:r>
              <a:rPr lang="en-US" altLang="zh-CN" sz="2665"/>
              <a:t>A. </a:t>
            </a:r>
            <a:r>
              <a:rPr lang="zh-CN" altLang="en-US" sz="2665"/>
              <a:t>帝国主义支持下的北洋军阀</a:t>
            </a:r>
            <a:br>
              <a:rPr lang="zh-CN" altLang="en-US" sz="2665"/>
            </a:br>
            <a:r>
              <a:rPr lang="en-US" altLang="zh-CN" sz="2665"/>
              <a:t>B. </a:t>
            </a:r>
            <a:r>
              <a:rPr lang="zh-CN" altLang="en-US" sz="2665"/>
              <a:t>国民党新军阀</a:t>
            </a:r>
            <a:br>
              <a:rPr lang="zh-CN" altLang="en-US" sz="2665"/>
            </a:br>
            <a:r>
              <a:rPr lang="en-US" altLang="zh-CN" sz="2665"/>
              <a:t>C. </a:t>
            </a:r>
            <a:r>
              <a:rPr lang="zh-CN" altLang="en-US" sz="2665"/>
              <a:t>日本帝国主义</a:t>
            </a:r>
            <a:br>
              <a:rPr lang="zh-CN" altLang="en-US" sz="2665"/>
            </a:br>
            <a:r>
              <a:rPr lang="en-US" altLang="zh-CN" sz="2665"/>
              <a:t>D. </a:t>
            </a:r>
            <a:r>
              <a:rPr lang="zh-CN" altLang="en-US" sz="2665"/>
              <a:t>美帝国主义支持下的国民党反动派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C</a:t>
            </a:r>
            <a:r>
              <a:rPr lang="zh-CN" altLang="en-US">
                <a:sym typeface="+mn-ea"/>
              </a:rPr>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5.</a:t>
            </a:r>
            <a:r>
              <a:rPr lang="zh-CN" altLang="en-US" sz="2665"/>
              <a:t>总体上说，中国革命的对象是帝国主义、封建主义和官僚资本主义，它们是压在中国人民头上的三座大山。但是，在不同历史阶段，革命的主要对象有所不同。在抗日战争时期，革命的主要对象是（）。</a:t>
            </a:r>
            <a:br>
              <a:rPr lang="zh-CN" altLang="en-US" sz="2665"/>
            </a:br>
            <a:r>
              <a:rPr lang="en-US" altLang="zh-CN" sz="2665"/>
              <a:t>A. </a:t>
            </a:r>
            <a:r>
              <a:rPr lang="zh-CN" altLang="en-US" sz="2665"/>
              <a:t>帝国主义支持下的北洋军阀</a:t>
            </a:r>
            <a:br>
              <a:rPr lang="zh-CN" altLang="en-US" sz="2665"/>
            </a:br>
            <a:r>
              <a:rPr lang="en-US" altLang="zh-CN" sz="2665"/>
              <a:t>B. </a:t>
            </a:r>
            <a:r>
              <a:rPr lang="zh-CN" altLang="en-US" sz="2665"/>
              <a:t>国民党新军阀</a:t>
            </a:r>
            <a:br>
              <a:rPr lang="zh-CN" altLang="en-US" sz="2665"/>
            </a:br>
            <a:r>
              <a:rPr lang="en-US" altLang="zh-CN" sz="2665"/>
              <a:t>C. </a:t>
            </a:r>
            <a:r>
              <a:rPr lang="zh-CN" altLang="en-US" sz="2665"/>
              <a:t>日本帝国主义</a:t>
            </a:r>
            <a:br>
              <a:rPr lang="zh-CN" altLang="en-US" sz="2665"/>
            </a:br>
            <a:r>
              <a:rPr lang="en-US" altLang="zh-CN" sz="2665"/>
              <a:t>D. </a:t>
            </a:r>
            <a:r>
              <a:rPr lang="zh-CN" altLang="en-US" sz="2665"/>
              <a:t>美帝国主义支持下的国民党反动派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D</a:t>
            </a:r>
            <a:r>
              <a:rPr lang="zh-CN" altLang="en-US">
                <a:sym typeface="+mn-ea"/>
              </a:rPr>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6.</a:t>
            </a:r>
            <a:r>
              <a:rPr lang="zh-CN" altLang="en-US" sz="2665"/>
              <a:t>总体上说，中国革命的对象是帝国主义、封建主义和官僚资本主义，它们是压在中国人民头上的三座大山。但是，在不同历史阶段，革命的主要对象有所不同。在解放战争时期，革命的主要对象是（）。</a:t>
            </a:r>
            <a:br>
              <a:rPr lang="zh-CN" altLang="en-US" sz="2665"/>
            </a:br>
            <a:r>
              <a:rPr lang="en-US" altLang="zh-CN" sz="2665"/>
              <a:t>A. </a:t>
            </a:r>
            <a:r>
              <a:rPr lang="zh-CN" altLang="en-US" sz="2665"/>
              <a:t>帝国主义支持下的北洋军阀</a:t>
            </a:r>
            <a:br>
              <a:rPr lang="zh-CN" altLang="en-US" sz="2665"/>
            </a:br>
            <a:r>
              <a:rPr lang="en-US" altLang="zh-CN" sz="2665"/>
              <a:t>B. </a:t>
            </a:r>
            <a:r>
              <a:rPr lang="zh-CN" altLang="en-US" sz="2665"/>
              <a:t>国民党新军阀</a:t>
            </a:r>
            <a:br>
              <a:rPr lang="zh-CN" altLang="en-US" sz="2665"/>
            </a:br>
            <a:r>
              <a:rPr lang="en-US" altLang="zh-CN" sz="2665"/>
              <a:t>C. </a:t>
            </a:r>
            <a:r>
              <a:rPr lang="zh-CN" altLang="en-US" sz="2665"/>
              <a:t>日本帝国主义</a:t>
            </a:r>
            <a:br>
              <a:rPr lang="zh-CN" altLang="en-US" sz="2665"/>
            </a:br>
            <a:r>
              <a:rPr lang="en-US" altLang="zh-CN" sz="2665"/>
              <a:t>D. </a:t>
            </a:r>
            <a:r>
              <a:rPr lang="zh-CN" altLang="en-US" sz="2665"/>
              <a:t>美帝国主义支持下的国民党反动派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a:t>
            </a:r>
            <a:r>
              <a:rPr lang="zh-CN" altLang="en-US">
                <a:sym typeface="+mn-ea"/>
              </a:rPr>
              <a:t>）</a:t>
            </a:r>
          </a:p>
        </p:txBody>
      </p:sp>
      <p:sp>
        <p:nvSpPr>
          <p:cNvPr id="2" name="标题 1"/>
          <p:cNvSpPr>
            <a:spLocks noGrp="1"/>
          </p:cNvSpPr>
          <p:nvPr>
            <p:ph type="ctrTitle"/>
          </p:nvPr>
        </p:nvSpPr>
        <p:spPr>
          <a:xfrm>
            <a:off x="1818640" y="1337945"/>
            <a:ext cx="8220710" cy="3132455"/>
          </a:xfrm>
        </p:spPr>
        <p:txBody>
          <a:bodyPr>
            <a:normAutofit fontScale="90000"/>
          </a:bodyPr>
          <a:lstStyle/>
          <a:p>
            <a:pPr algn="l">
              <a:lnSpc>
                <a:spcPct val="140000"/>
              </a:lnSpc>
            </a:pPr>
            <a:r>
              <a:rPr lang="en-US" altLang="zh-CN" sz="2665"/>
              <a:t>7.</a:t>
            </a:r>
            <a:r>
              <a:rPr lang="zh-CN" altLang="en-US" sz="2665"/>
              <a:t>（）是中国革命最基本的动力，也是新民主主义革命的领导力量。</a:t>
            </a:r>
            <a:br>
              <a:rPr lang="zh-CN" altLang="en-US" sz="2665"/>
            </a:br>
            <a:r>
              <a:rPr lang="en-US" altLang="zh-CN" sz="2665"/>
              <a:t>A. </a:t>
            </a:r>
            <a:r>
              <a:rPr lang="zh-CN" altLang="en-US" sz="2665"/>
              <a:t>资产阶级</a:t>
            </a:r>
            <a:br>
              <a:rPr lang="zh-CN" altLang="en-US" sz="2665"/>
            </a:br>
            <a:r>
              <a:rPr lang="en-US" altLang="zh-CN" sz="2665"/>
              <a:t>B. </a:t>
            </a:r>
            <a:r>
              <a:rPr lang="zh-CN" altLang="en-US" sz="2665"/>
              <a:t>无产阶级</a:t>
            </a:r>
            <a:br>
              <a:rPr lang="zh-CN" altLang="en-US" sz="2665"/>
            </a:br>
            <a:r>
              <a:rPr lang="en-US" altLang="zh-CN" sz="2665"/>
              <a:t>C. </a:t>
            </a:r>
            <a:r>
              <a:rPr lang="zh-CN" altLang="en-US" sz="2665"/>
              <a:t>农民阶级</a:t>
            </a:r>
            <a:br>
              <a:rPr lang="zh-CN" altLang="en-US" sz="2665"/>
            </a:br>
            <a:r>
              <a:rPr lang="en-US" altLang="zh-CN" sz="2665"/>
              <a:t>D. </a:t>
            </a:r>
            <a:r>
              <a:rPr lang="zh-CN" altLang="en-US" sz="2665"/>
              <a:t>先进知识分子</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a:t>
            </a:r>
            <a:r>
              <a:rPr lang="zh-CN" altLang="en-US">
                <a:sym typeface="+mn-ea"/>
              </a:rPr>
              <a:t>）</a:t>
            </a:r>
          </a:p>
        </p:txBody>
      </p:sp>
      <p:sp>
        <p:nvSpPr>
          <p:cNvPr id="2" name="标题 1"/>
          <p:cNvSpPr>
            <a:spLocks noGrp="1"/>
          </p:cNvSpPr>
          <p:nvPr>
            <p:ph type="ctrTitle"/>
          </p:nvPr>
        </p:nvSpPr>
        <p:spPr>
          <a:xfrm>
            <a:off x="1842770" y="1452880"/>
            <a:ext cx="9307830" cy="3031490"/>
          </a:xfrm>
        </p:spPr>
        <p:txBody>
          <a:bodyPr>
            <a:normAutofit/>
          </a:bodyPr>
          <a:lstStyle/>
          <a:p>
            <a:pPr algn="l">
              <a:lnSpc>
                <a:spcPct val="140000"/>
              </a:lnSpc>
            </a:pPr>
            <a:r>
              <a:rPr lang="en-US" altLang="zh-CN" sz="2665"/>
              <a:t>8.</a:t>
            </a:r>
            <a:r>
              <a:rPr lang="zh-CN" altLang="en-US" sz="2665"/>
              <a:t>新民主主义革命中，（</a:t>
            </a:r>
            <a:r>
              <a:rPr lang="en-US" altLang="zh-CN" sz="2665"/>
              <a:t>   </a:t>
            </a:r>
            <a:r>
              <a:rPr lang="zh-CN" altLang="en-US" sz="2665"/>
              <a:t>）是中国革命的主力军。</a:t>
            </a:r>
            <a:br>
              <a:rPr lang="zh-CN" altLang="en-US" sz="2665"/>
            </a:br>
            <a:r>
              <a:rPr lang="en-US" altLang="zh-CN" sz="2665"/>
              <a:t>A. </a:t>
            </a:r>
            <a:r>
              <a:rPr lang="zh-CN" altLang="en-US" sz="2665"/>
              <a:t>工人</a:t>
            </a:r>
            <a:br>
              <a:rPr lang="zh-CN" altLang="en-US" sz="2665"/>
            </a:br>
            <a:r>
              <a:rPr lang="en-US" altLang="zh-CN" sz="2665"/>
              <a:t>B. </a:t>
            </a:r>
            <a:r>
              <a:rPr lang="zh-CN" altLang="en-US" sz="2665"/>
              <a:t>农民</a:t>
            </a:r>
            <a:br>
              <a:rPr lang="zh-CN" altLang="en-US" sz="2665"/>
            </a:br>
            <a:r>
              <a:rPr lang="en-US" altLang="zh-CN" sz="2665"/>
              <a:t>C. </a:t>
            </a:r>
            <a:r>
              <a:rPr lang="zh-CN" altLang="en-US" sz="2665"/>
              <a:t>知识分子</a:t>
            </a:r>
            <a:br>
              <a:rPr lang="zh-CN" altLang="en-US" sz="2665"/>
            </a:br>
            <a:r>
              <a:rPr lang="en-US" altLang="zh-CN" sz="2665"/>
              <a:t>D. </a:t>
            </a:r>
            <a:r>
              <a:rPr lang="zh-CN" altLang="en-US" sz="2665"/>
              <a:t>城市小资产阶级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D</a:t>
            </a:r>
            <a:r>
              <a:rPr lang="zh-CN" altLang="en-US">
                <a:sym typeface="+mn-ea"/>
              </a:rPr>
              <a:t>）</a:t>
            </a:r>
          </a:p>
        </p:txBody>
      </p:sp>
      <p:sp>
        <p:nvSpPr>
          <p:cNvPr id="2" name="标题 1"/>
          <p:cNvSpPr>
            <a:spLocks noGrp="1"/>
          </p:cNvSpPr>
          <p:nvPr>
            <p:ph type="ctrTitle"/>
          </p:nvPr>
        </p:nvSpPr>
        <p:spPr>
          <a:xfrm>
            <a:off x="1624330" y="1431925"/>
            <a:ext cx="9580880" cy="3901440"/>
          </a:xfrm>
        </p:spPr>
        <p:txBody>
          <a:bodyPr>
            <a:normAutofit fontScale="90000"/>
          </a:bodyPr>
          <a:lstStyle/>
          <a:p>
            <a:pPr algn="l">
              <a:lnSpc>
                <a:spcPct val="140000"/>
              </a:lnSpc>
            </a:pPr>
            <a:r>
              <a:rPr lang="en-US" altLang="zh-CN" sz="2665"/>
              <a:t>9.</a:t>
            </a:r>
            <a:r>
              <a:rPr lang="zh-CN" altLang="en-US" sz="2665"/>
              <a:t>中国的新民主主义革命实质上是无产阶级领导下的农民革命。中国革命的基本理论和实践问题都与农民问题紧密地联系着。无产阶级及其政党要实现对各革命阶级的领导，必须建立（），这是实现领导权的关键。</a:t>
            </a:r>
            <a:br>
              <a:rPr lang="zh-CN" altLang="en-US" sz="2665"/>
            </a:br>
            <a:r>
              <a:rPr lang="en-US" altLang="zh-CN" sz="2665"/>
              <a:t>A. </a:t>
            </a:r>
            <a:r>
              <a:rPr lang="zh-CN" altLang="en-US" sz="2665"/>
              <a:t>工农武装力量</a:t>
            </a:r>
            <a:br>
              <a:rPr lang="zh-CN" altLang="en-US" sz="2665"/>
            </a:br>
            <a:r>
              <a:rPr lang="en-US" altLang="zh-CN" sz="2665"/>
              <a:t>B. </a:t>
            </a:r>
            <a:r>
              <a:rPr lang="zh-CN" altLang="en-US" sz="2665"/>
              <a:t>无产阶级的政权</a:t>
            </a:r>
            <a:br>
              <a:rPr lang="zh-CN" altLang="en-US" sz="2665"/>
            </a:br>
            <a:r>
              <a:rPr lang="en-US" altLang="zh-CN" sz="2665"/>
              <a:t>C. </a:t>
            </a:r>
            <a:r>
              <a:rPr lang="zh-CN" altLang="en-US" sz="2665"/>
              <a:t>农村革命根据地</a:t>
            </a:r>
            <a:br>
              <a:rPr lang="zh-CN" altLang="en-US" sz="2665"/>
            </a:br>
            <a:r>
              <a:rPr lang="en-US" altLang="zh-CN" sz="2665"/>
              <a:t>D. </a:t>
            </a:r>
            <a:r>
              <a:rPr lang="zh-CN" altLang="en-US" sz="2665"/>
              <a:t>以工农联盟为基础的广泛的统一战线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a:t>
            </a:r>
            <a:r>
              <a:rPr lang="zh-CN" altLang="en-US">
                <a:sym typeface="+mn-ea"/>
              </a:rPr>
              <a:t>）</a:t>
            </a:r>
          </a:p>
        </p:txBody>
      </p:sp>
      <p:sp>
        <p:nvSpPr>
          <p:cNvPr id="2" name="标题 1"/>
          <p:cNvSpPr>
            <a:spLocks noGrp="1"/>
          </p:cNvSpPr>
          <p:nvPr>
            <p:ph type="ctrTitle"/>
          </p:nvPr>
        </p:nvSpPr>
        <p:spPr>
          <a:xfrm>
            <a:off x="1447800" y="1289050"/>
            <a:ext cx="9797415" cy="3018790"/>
          </a:xfrm>
        </p:spPr>
        <p:txBody>
          <a:bodyPr>
            <a:normAutofit/>
          </a:bodyPr>
          <a:lstStyle/>
          <a:p>
            <a:pPr algn="l">
              <a:lnSpc>
                <a:spcPct val="140000"/>
              </a:lnSpc>
            </a:pPr>
            <a:r>
              <a:rPr lang="en-US" sz="2665"/>
              <a:t>10.</a:t>
            </a:r>
            <a:r>
              <a:rPr lang="zh-CN" altLang="en-US" sz="2665"/>
              <a:t>（</a:t>
            </a:r>
            <a:r>
              <a:rPr lang="en-US" altLang="zh-CN" sz="2665"/>
              <a:t>  </a:t>
            </a:r>
            <a:r>
              <a:rPr lang="zh-CN" altLang="en-US" sz="2665"/>
              <a:t>）是中国革命的</a:t>
            </a:r>
            <a:r>
              <a:rPr lang="zh-CN" altLang="en-US" sz="2665" u="sng">
                <a:solidFill>
                  <a:srgbClr val="FF0000"/>
                </a:solidFill>
              </a:rPr>
              <a:t>基本问题</a:t>
            </a:r>
            <a:r>
              <a:rPr lang="zh-CN" altLang="en-US" sz="2665"/>
              <a:t>。</a:t>
            </a:r>
            <a:br>
              <a:rPr lang="zh-CN" altLang="en-US" sz="2665"/>
            </a:br>
            <a:r>
              <a:rPr lang="en-US" altLang="zh-CN" sz="2665"/>
              <a:t>A. </a:t>
            </a:r>
            <a:r>
              <a:rPr lang="zh-CN" altLang="en-US" sz="2665"/>
              <a:t>统一战线问题</a:t>
            </a:r>
            <a:br>
              <a:rPr lang="zh-CN" altLang="en-US" sz="2665"/>
            </a:br>
            <a:r>
              <a:rPr lang="en-US" altLang="zh-CN" sz="2665"/>
              <a:t>B. </a:t>
            </a:r>
            <a:r>
              <a:rPr lang="zh-CN" altLang="en-US" sz="2665"/>
              <a:t>农民问题</a:t>
            </a:r>
            <a:br>
              <a:rPr lang="zh-CN" altLang="en-US" sz="2665"/>
            </a:br>
            <a:r>
              <a:rPr lang="en-US" altLang="zh-CN" sz="2665"/>
              <a:t>C. </a:t>
            </a:r>
            <a:r>
              <a:rPr lang="zh-CN" altLang="en-US" sz="2665"/>
              <a:t>农村根据地建设问题</a:t>
            </a:r>
            <a:br>
              <a:rPr lang="zh-CN" altLang="en-US" sz="2665"/>
            </a:br>
            <a:r>
              <a:rPr lang="en-US" altLang="zh-CN" sz="2665"/>
              <a:t>D. </a:t>
            </a:r>
            <a:r>
              <a:rPr lang="zh-CN" altLang="en-US" sz="2665"/>
              <a:t>武装斗争问题</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a:bodyPr>
          <a:lstStyle/>
          <a:p>
            <a:pPr algn="l">
              <a:lnSpc>
                <a:spcPct val="140000"/>
              </a:lnSpc>
            </a:pPr>
            <a:r>
              <a:rPr lang="en-US" sz="2665"/>
              <a:t>11.</a:t>
            </a:r>
            <a:r>
              <a:rPr lang="zh-CN" altLang="en-US" sz="2665"/>
              <a:t>近代中国半殖民地半封建社会的性质和中国革命的历史任务，决定了新民主主义革命的性质是（）</a:t>
            </a:r>
            <a:br>
              <a:rPr lang="zh-CN" altLang="en-US" sz="2665"/>
            </a:br>
            <a:r>
              <a:rPr lang="en-US" altLang="zh-CN" sz="2665"/>
              <a:t>A. </a:t>
            </a:r>
            <a:r>
              <a:rPr lang="zh-CN" altLang="en-US" sz="2665"/>
              <a:t>无产阶级社会主义革命</a:t>
            </a:r>
            <a:br>
              <a:rPr lang="zh-CN" altLang="en-US" sz="2665"/>
            </a:br>
            <a:r>
              <a:rPr lang="en-US" altLang="zh-CN" sz="2665"/>
              <a:t>B. </a:t>
            </a:r>
            <a:r>
              <a:rPr lang="zh-CN" altLang="en-US" sz="2665"/>
              <a:t>资产阶级民主主义革命</a:t>
            </a:r>
            <a:br>
              <a:rPr lang="zh-CN" altLang="en-US" sz="2665"/>
            </a:br>
            <a:r>
              <a:rPr lang="en-US" altLang="zh-CN" sz="2665"/>
              <a:t>C. </a:t>
            </a:r>
            <a:r>
              <a:rPr lang="zh-CN" altLang="en-US" sz="2665"/>
              <a:t>农民阶级的土地革命</a:t>
            </a:r>
            <a:br>
              <a:rPr lang="zh-CN" altLang="en-US" sz="2665"/>
            </a:br>
            <a:r>
              <a:rPr lang="en-US" altLang="zh-CN" sz="2665"/>
              <a:t>D. </a:t>
            </a:r>
            <a:r>
              <a:rPr lang="zh-CN" altLang="en-US" sz="2665"/>
              <a:t>城市小资产阶级的民主革命</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C</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fontScale="90000"/>
          </a:bodyPr>
          <a:lstStyle/>
          <a:p>
            <a:pPr algn="l">
              <a:lnSpc>
                <a:spcPct val="140000"/>
              </a:lnSpc>
            </a:pPr>
            <a:r>
              <a:rPr lang="en-US" sz="2665"/>
              <a:t>12.</a:t>
            </a:r>
            <a:r>
              <a:rPr lang="zh-CN" altLang="en-US" sz="2665"/>
              <a:t>新民主主义革命与旧民主主义革命相比有新的内容和特点，集中表现在新民主主义革命处于世界无产阶级社会主义革命的时代，是世界无产阶级社会主义革命的一部分；革命的领导力量是（）。</a:t>
            </a:r>
            <a:br>
              <a:rPr lang="zh-CN" altLang="en-US" sz="2665"/>
            </a:br>
            <a:r>
              <a:rPr lang="en-US" altLang="zh-CN" sz="2665"/>
              <a:t>A. </a:t>
            </a:r>
            <a:r>
              <a:rPr lang="zh-CN" altLang="en-US" sz="2665"/>
              <a:t>中国资产阶级及其政党</a:t>
            </a:r>
            <a:br>
              <a:rPr lang="zh-CN" altLang="en-US" sz="2665"/>
            </a:br>
            <a:r>
              <a:rPr lang="en-US" altLang="zh-CN" sz="2665"/>
              <a:t>B. </a:t>
            </a:r>
            <a:r>
              <a:rPr lang="zh-CN" altLang="en-US" sz="2665"/>
              <a:t>中国农民阶级及其政党</a:t>
            </a:r>
            <a:br>
              <a:rPr lang="zh-CN" altLang="en-US" sz="2665"/>
            </a:br>
            <a:r>
              <a:rPr lang="en-US" altLang="zh-CN" sz="2665"/>
              <a:t>C. </a:t>
            </a:r>
            <a:r>
              <a:rPr lang="zh-CN" altLang="en-US" sz="2665"/>
              <a:t>中国无产阶级及其政党</a:t>
            </a:r>
            <a:br>
              <a:rPr lang="zh-CN" altLang="en-US" sz="2665"/>
            </a:br>
            <a:r>
              <a:rPr lang="en-US" altLang="zh-CN" sz="2665"/>
              <a:t>D. </a:t>
            </a:r>
            <a:r>
              <a:rPr lang="zh-CN" altLang="en-US" sz="2665"/>
              <a:t>中国官僚资产阶级及其政党</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D</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fontScale="90000"/>
          </a:bodyPr>
          <a:lstStyle/>
          <a:p>
            <a:pPr algn="l">
              <a:lnSpc>
                <a:spcPct val="140000"/>
              </a:lnSpc>
            </a:pPr>
            <a:r>
              <a:rPr lang="en-US" sz="2665"/>
              <a:t>13.</a:t>
            </a:r>
            <a:r>
              <a:rPr lang="zh-CN" altLang="en-US" sz="2665"/>
              <a:t>新民主主义革命与旧民主主义革命相比有新的内容和特点，集中表现在新民主主义革命处于世界无产阶级社会主义革命的时代，是世界无产阶级社会主义革命的一部分；革命的领导力量是中国无产阶级及其政党；革命的指导思想是马克思列宁主义；革命的前途是（）。</a:t>
            </a:r>
            <a:br>
              <a:rPr lang="zh-CN" altLang="en-US" sz="2665"/>
            </a:br>
            <a:r>
              <a:rPr lang="en-US" altLang="zh-CN" sz="2665"/>
              <a:t>A. </a:t>
            </a:r>
            <a:r>
              <a:rPr lang="zh-CN" altLang="en-US" sz="2665"/>
              <a:t>自由主义</a:t>
            </a:r>
            <a:br>
              <a:rPr lang="zh-CN" altLang="en-US" sz="2665"/>
            </a:br>
            <a:r>
              <a:rPr lang="en-US" altLang="zh-CN" sz="2665"/>
              <a:t>B. </a:t>
            </a:r>
            <a:r>
              <a:rPr lang="zh-CN" altLang="en-US" sz="2665"/>
              <a:t>新民主主义</a:t>
            </a:r>
            <a:br>
              <a:rPr lang="zh-CN" altLang="en-US" sz="2665"/>
            </a:br>
            <a:r>
              <a:rPr lang="en-US" altLang="zh-CN" sz="2665"/>
              <a:t>C. </a:t>
            </a:r>
            <a:r>
              <a:rPr lang="zh-CN" altLang="en-US" sz="2665"/>
              <a:t>资本主义</a:t>
            </a:r>
            <a:br>
              <a:rPr lang="zh-CN" altLang="en-US" sz="2665"/>
            </a:br>
            <a:r>
              <a:rPr lang="en-US" altLang="zh-CN" sz="2665"/>
              <a:t>D. </a:t>
            </a:r>
            <a:r>
              <a:rPr lang="zh-CN" altLang="en-US" sz="2665"/>
              <a:t>社会主义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fontScale="90000"/>
          </a:bodyPr>
          <a:lstStyle/>
          <a:p>
            <a:pPr algn="l">
              <a:lnSpc>
                <a:spcPct val="140000"/>
              </a:lnSpc>
            </a:pPr>
            <a:r>
              <a:rPr lang="en-US" altLang="zh-CN" sz="2665"/>
              <a:t>      </a:t>
            </a:r>
            <a:r>
              <a:rPr lang="en-US" sz="2665"/>
              <a:t>14.</a:t>
            </a:r>
            <a:r>
              <a:rPr lang="zh-CN" altLang="en-US" sz="2665"/>
              <a:t>新民主主义革命与社会主义革命性质不同。新民主主义革命仍然属于资产阶级民主主义革命的范畴。它为了推翻帝国主义、封建主义和官僚资本主义的反动统治，在政治上争取和联合民族资产阶级去反对共同的敌人，在经济上（），容许有利于国计民生的私人资本主义发展。</a:t>
            </a:r>
            <a:br>
              <a:rPr lang="zh-CN" altLang="en-US" sz="2665"/>
            </a:br>
            <a:r>
              <a:rPr lang="en-US" altLang="zh-CN" sz="2665"/>
              <a:t>A. </a:t>
            </a:r>
            <a:r>
              <a:rPr lang="zh-CN" altLang="en-US" sz="2665"/>
              <a:t>保护民族工商业</a:t>
            </a:r>
            <a:br>
              <a:rPr lang="zh-CN" altLang="en-US" sz="2665"/>
            </a:br>
            <a:r>
              <a:rPr lang="en-US" altLang="zh-CN" sz="2665"/>
              <a:t>B. </a:t>
            </a:r>
            <a:r>
              <a:rPr lang="zh-CN" altLang="en-US" sz="2665"/>
              <a:t>进行土地革命</a:t>
            </a:r>
            <a:br>
              <a:rPr lang="zh-CN" altLang="en-US" sz="2665"/>
            </a:br>
            <a:r>
              <a:rPr lang="en-US" altLang="zh-CN" sz="2665"/>
              <a:t>C. </a:t>
            </a:r>
            <a:r>
              <a:rPr lang="zh-CN" altLang="en-US" sz="2665"/>
              <a:t>依赖外国资本</a:t>
            </a:r>
            <a:br>
              <a:rPr lang="zh-CN" altLang="en-US" sz="2665"/>
            </a:br>
            <a:r>
              <a:rPr lang="en-US" altLang="zh-CN" sz="2665"/>
              <a:t>D. </a:t>
            </a:r>
            <a:r>
              <a:rPr lang="zh-CN" altLang="en-US" sz="2665"/>
              <a:t>利用外国资本</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C</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fontScale="90000"/>
          </a:bodyPr>
          <a:lstStyle/>
          <a:p>
            <a:pPr algn="l">
              <a:lnSpc>
                <a:spcPct val="140000"/>
              </a:lnSpc>
            </a:pPr>
            <a:r>
              <a:rPr lang="en-US" altLang="zh-CN" sz="2665"/>
              <a:t>      </a:t>
            </a:r>
            <a:r>
              <a:rPr lang="en-US" sz="2665"/>
              <a:t>15.</a:t>
            </a:r>
            <a:r>
              <a:rPr lang="zh-CN" altLang="en-US" sz="2665"/>
              <a:t>新民主主义的政治纲领是：推翻帝国主义和封建主义的统治，建立一个（）领导的、以工农联盟为基础的、各革命阶级联合专政的新民主主义的共和国。</a:t>
            </a:r>
            <a:br>
              <a:rPr lang="zh-CN" altLang="en-US" sz="2665"/>
            </a:br>
            <a:r>
              <a:rPr lang="en-US" altLang="zh-CN" sz="2665"/>
              <a:t>A. </a:t>
            </a:r>
            <a:r>
              <a:rPr lang="zh-CN" altLang="en-US" sz="2665"/>
              <a:t>民族资产阶级</a:t>
            </a:r>
            <a:br>
              <a:rPr lang="zh-CN" altLang="en-US" sz="2665"/>
            </a:br>
            <a:r>
              <a:rPr lang="en-US" altLang="zh-CN" sz="2665"/>
              <a:t>B. </a:t>
            </a:r>
            <a:r>
              <a:rPr lang="zh-CN" altLang="en-US" sz="2665"/>
              <a:t>官僚资产阶级</a:t>
            </a:r>
            <a:br>
              <a:rPr lang="zh-CN" altLang="en-US" sz="2665"/>
            </a:br>
            <a:r>
              <a:rPr lang="en-US" altLang="zh-CN" sz="2665"/>
              <a:t>C. </a:t>
            </a:r>
            <a:r>
              <a:rPr lang="zh-CN" altLang="en-US" sz="2665"/>
              <a:t>无产阶级</a:t>
            </a:r>
            <a:br>
              <a:rPr lang="zh-CN" altLang="en-US" sz="2665"/>
            </a:br>
            <a:r>
              <a:rPr lang="en-US" altLang="zh-CN" sz="2665"/>
              <a:t>D. </a:t>
            </a:r>
            <a:r>
              <a:rPr lang="zh-CN" altLang="en-US" sz="2665"/>
              <a:t>农民阶级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fontScale="90000"/>
          </a:bodyPr>
          <a:lstStyle/>
          <a:p>
            <a:pPr algn="l">
              <a:lnSpc>
                <a:spcPct val="140000"/>
              </a:lnSpc>
            </a:pPr>
            <a:r>
              <a:rPr lang="en-US" sz="2665"/>
              <a:t>16.</a:t>
            </a:r>
            <a:r>
              <a:rPr lang="zh-CN" altLang="en-US" sz="2665"/>
              <a:t>在领导农村革命根据地的斗争实践中，毛泽东相继写下了《中国的红色政权为什么能够存在？》《井冈山的斗争》《星星之火，可以燎原》</a:t>
            </a:r>
            <a:r>
              <a:rPr lang="en-US" altLang="zh-CN" sz="2665"/>
              <a:t> </a:t>
            </a:r>
            <a:r>
              <a:rPr lang="zh-CN" altLang="en-US" sz="2665"/>
              <a:t>等文章，提出了（）的思想，初步形成了农村包围城市的革命道路理论。</a:t>
            </a:r>
            <a:br>
              <a:rPr lang="zh-CN" altLang="en-US" sz="2665"/>
            </a:br>
            <a:r>
              <a:rPr lang="en-US" altLang="zh-CN" sz="2665"/>
              <a:t>A. </a:t>
            </a:r>
            <a:r>
              <a:rPr lang="zh-CN" altLang="en-US" sz="2665"/>
              <a:t>党的建设</a:t>
            </a:r>
            <a:br>
              <a:rPr lang="zh-CN" altLang="en-US" sz="2665"/>
            </a:br>
            <a:r>
              <a:rPr lang="en-US" altLang="zh-CN" sz="2665"/>
              <a:t>B. </a:t>
            </a:r>
            <a:r>
              <a:rPr lang="zh-CN" altLang="en-US" sz="2665"/>
              <a:t>工农武装割据</a:t>
            </a:r>
            <a:br>
              <a:rPr lang="zh-CN" altLang="en-US" sz="2665"/>
            </a:br>
            <a:r>
              <a:rPr lang="en-US" altLang="zh-CN" sz="2665"/>
              <a:t>C. </a:t>
            </a:r>
            <a:r>
              <a:rPr lang="zh-CN" altLang="en-US" sz="2665"/>
              <a:t>武装斗争</a:t>
            </a:r>
            <a:br>
              <a:rPr lang="zh-CN" altLang="en-US" sz="2665"/>
            </a:br>
            <a:r>
              <a:rPr lang="en-US" altLang="zh-CN" sz="2665"/>
              <a:t>D. </a:t>
            </a:r>
            <a:r>
              <a:rPr lang="zh-CN" altLang="en-US" sz="2665"/>
              <a:t>统一战线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D</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a:bodyPr>
          <a:lstStyle/>
          <a:p>
            <a:pPr algn="l">
              <a:lnSpc>
                <a:spcPct val="140000"/>
              </a:lnSpc>
            </a:pPr>
            <a:r>
              <a:rPr lang="en-US" sz="2665"/>
              <a:t>17.</a:t>
            </a:r>
            <a:r>
              <a:rPr lang="en-US" altLang="zh-CN" sz="2665"/>
              <a:t>1938</a:t>
            </a:r>
            <a:r>
              <a:rPr lang="zh-CN" altLang="en-US" sz="2665"/>
              <a:t>年</a:t>
            </a:r>
            <a:r>
              <a:rPr lang="en-US" altLang="zh-CN" sz="2665"/>
              <a:t>11</a:t>
            </a:r>
            <a:r>
              <a:rPr lang="zh-CN" altLang="en-US" sz="2665"/>
              <a:t>月，（</a:t>
            </a:r>
            <a:r>
              <a:rPr lang="en-US" altLang="zh-CN" sz="2665"/>
              <a:t> </a:t>
            </a:r>
            <a:r>
              <a:rPr lang="zh-CN" altLang="en-US" sz="2665"/>
              <a:t>），确立了经过长期武装斗争，先占乡村，后取城市，最后夺取全国胜利的革命道路。</a:t>
            </a:r>
            <a:br>
              <a:rPr lang="zh-CN" altLang="en-US" sz="2665"/>
            </a:br>
            <a:r>
              <a:rPr lang="en-US" altLang="zh-CN" sz="2665"/>
              <a:t>A. </a:t>
            </a:r>
            <a:r>
              <a:rPr lang="zh-CN" altLang="en-US" sz="2665"/>
              <a:t>党的四大</a:t>
            </a:r>
            <a:br>
              <a:rPr lang="zh-CN" altLang="en-US" sz="2665"/>
            </a:br>
            <a:r>
              <a:rPr lang="en-US" altLang="zh-CN" sz="2665"/>
              <a:t>B. </a:t>
            </a:r>
            <a:r>
              <a:rPr lang="zh-CN" altLang="en-US" sz="2665"/>
              <a:t>党的五大</a:t>
            </a:r>
            <a:br>
              <a:rPr lang="zh-CN" altLang="en-US" sz="2665"/>
            </a:br>
            <a:r>
              <a:rPr lang="en-US" altLang="zh-CN" sz="2665"/>
              <a:t>C. </a:t>
            </a:r>
            <a:r>
              <a:rPr lang="zh-CN" altLang="en-US" sz="2665"/>
              <a:t>党的六大</a:t>
            </a:r>
            <a:br>
              <a:rPr lang="zh-CN" altLang="en-US" sz="2665"/>
            </a:br>
            <a:r>
              <a:rPr lang="en-US" altLang="zh-CN" sz="2665"/>
              <a:t>D. </a:t>
            </a:r>
            <a:r>
              <a:rPr lang="zh-CN" altLang="en-US" sz="2665"/>
              <a:t>党的六届六中全会</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fontScale="90000"/>
          </a:bodyPr>
          <a:lstStyle/>
          <a:p>
            <a:pPr algn="l">
              <a:lnSpc>
                <a:spcPct val="140000"/>
              </a:lnSpc>
            </a:pPr>
            <a:r>
              <a:rPr lang="en-US" sz="2665"/>
              <a:t>18.</a:t>
            </a:r>
            <a:r>
              <a:rPr lang="zh-CN" altLang="en-US" sz="2665"/>
              <a:t>人民军队必须以（）为唯一宗旨。坚持这一宗旨，是建设新型人民军队的基本前提，也是人民军队一切行动的根本准则和一切工作的出发点与归宿。</a:t>
            </a:r>
            <a:br>
              <a:rPr lang="zh-CN" altLang="en-US" sz="2665"/>
            </a:br>
            <a:r>
              <a:rPr lang="en-US" altLang="zh-CN" sz="2665"/>
              <a:t>A. </a:t>
            </a:r>
            <a:r>
              <a:rPr lang="zh-CN" altLang="en-US" sz="2665"/>
              <a:t>每战必胜</a:t>
            </a:r>
            <a:br>
              <a:rPr lang="zh-CN" altLang="en-US" sz="2665"/>
            </a:br>
            <a:r>
              <a:rPr lang="en-US" altLang="zh-CN" sz="2665"/>
              <a:t>B. </a:t>
            </a:r>
            <a:r>
              <a:rPr lang="zh-CN" altLang="en-US" sz="2665"/>
              <a:t>全心全意为人民服务</a:t>
            </a:r>
            <a:br>
              <a:rPr lang="zh-CN" altLang="en-US" sz="2665"/>
            </a:br>
            <a:r>
              <a:rPr lang="en-US" altLang="zh-CN" sz="2665"/>
              <a:t>C. </a:t>
            </a:r>
            <a:r>
              <a:rPr lang="zh-CN" altLang="en-US" sz="2665"/>
              <a:t>团结大多数</a:t>
            </a:r>
            <a:br>
              <a:rPr lang="zh-CN" altLang="en-US" sz="2665"/>
            </a:br>
            <a:r>
              <a:rPr lang="en-US" altLang="zh-CN" sz="2665"/>
              <a:t>D. </a:t>
            </a:r>
            <a:r>
              <a:rPr lang="zh-CN" altLang="en-US" sz="2665"/>
              <a:t>武装战胜一切敌人</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fontScale="90000"/>
          </a:bodyPr>
          <a:lstStyle/>
          <a:p>
            <a:pPr algn="l">
              <a:lnSpc>
                <a:spcPct val="140000"/>
              </a:lnSpc>
            </a:pPr>
            <a:r>
              <a:rPr lang="en-US" sz="2665"/>
              <a:t>19.</a:t>
            </a:r>
            <a:r>
              <a:rPr lang="zh-CN" altLang="en-US" sz="2665"/>
              <a:t>加强党的组织建设，根本的是要贯彻（）这一根本组织原则，坚持在民主基础上的集中和在集中指导下的民主相结合，个人服从组织，少数服从多数，下级服从上级，全党服从中央。</a:t>
            </a:r>
            <a:br>
              <a:rPr lang="zh-CN" altLang="en-US" sz="2665"/>
            </a:br>
            <a:r>
              <a:rPr lang="en-US" altLang="zh-CN" sz="2665"/>
              <a:t>A. </a:t>
            </a:r>
            <a:r>
              <a:rPr lang="zh-CN" altLang="en-US" sz="2665"/>
              <a:t>民主集中制</a:t>
            </a:r>
            <a:br>
              <a:rPr lang="zh-CN" altLang="en-US" sz="2665"/>
            </a:br>
            <a:r>
              <a:rPr lang="en-US" altLang="zh-CN" sz="2665"/>
              <a:t>B. </a:t>
            </a:r>
            <a:r>
              <a:rPr lang="zh-CN" altLang="en-US" sz="2665"/>
              <a:t>集体领导和个人分工负责相结合</a:t>
            </a:r>
            <a:br>
              <a:rPr lang="zh-CN" altLang="en-US" sz="2665"/>
            </a:br>
            <a:r>
              <a:rPr lang="en-US" altLang="zh-CN" sz="2665"/>
              <a:t>C. </a:t>
            </a:r>
            <a:r>
              <a:rPr lang="zh-CN" altLang="en-US" sz="2665"/>
              <a:t>团结大多数</a:t>
            </a:r>
            <a:br>
              <a:rPr lang="zh-CN" altLang="en-US" sz="2665"/>
            </a:br>
            <a:r>
              <a:rPr lang="en-US" altLang="zh-CN" sz="2665"/>
              <a:t>D. </a:t>
            </a:r>
            <a:r>
              <a:rPr lang="zh-CN" altLang="en-US" sz="2665"/>
              <a:t>群众路线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a:bodyPr>
          <a:lstStyle/>
          <a:p>
            <a:pPr algn="l">
              <a:lnSpc>
                <a:spcPct val="140000"/>
              </a:lnSpc>
            </a:pPr>
            <a:r>
              <a:rPr lang="en-US" altLang="zh-CN" sz="2665"/>
              <a:t>      </a:t>
            </a:r>
            <a:r>
              <a:rPr lang="en-US" sz="2665"/>
              <a:t>20.</a:t>
            </a:r>
            <a:r>
              <a:rPr lang="zh-CN" altLang="en-US" sz="2665"/>
              <a:t>毛泽东在《中国革命和中国共产党》这篇著作中强调，认清和解决一切革命问题的基本的根据是（</a:t>
            </a:r>
            <a:r>
              <a:rPr lang="en-US" altLang="zh-CN" sz="2665"/>
              <a:t>  </a:t>
            </a:r>
            <a:r>
              <a:rPr lang="zh-CN" altLang="en-US" sz="2665"/>
              <a:t>）。</a:t>
            </a:r>
            <a:br>
              <a:rPr lang="zh-CN" altLang="en-US" sz="2665"/>
            </a:br>
            <a:r>
              <a:rPr lang="en-US" altLang="zh-CN" sz="2665"/>
              <a:t>A. </a:t>
            </a:r>
            <a:r>
              <a:rPr lang="zh-CN" altLang="en-US" sz="2665"/>
              <a:t>坚持实事求是</a:t>
            </a:r>
            <a:br>
              <a:rPr lang="zh-CN" altLang="en-US" sz="2665"/>
            </a:br>
            <a:r>
              <a:rPr lang="en-US" altLang="zh-CN" sz="2665"/>
              <a:t>B. </a:t>
            </a:r>
            <a:r>
              <a:rPr lang="zh-CN" altLang="en-US" sz="2665"/>
              <a:t>坚持认清中国的国情</a:t>
            </a:r>
            <a:br>
              <a:rPr lang="zh-CN" altLang="en-US" sz="2665"/>
            </a:br>
            <a:r>
              <a:rPr lang="en-US" altLang="zh-CN" sz="2665"/>
              <a:t>C. </a:t>
            </a:r>
            <a:r>
              <a:rPr lang="zh-CN" altLang="en-US" sz="2665"/>
              <a:t>坚持群众路线</a:t>
            </a:r>
            <a:br>
              <a:rPr lang="zh-CN" altLang="en-US" sz="2665"/>
            </a:br>
            <a:r>
              <a:rPr lang="en-US" altLang="zh-CN" sz="2665"/>
              <a:t>D. </a:t>
            </a:r>
            <a:r>
              <a:rPr lang="zh-CN" altLang="en-US" sz="2665"/>
              <a:t>坚持独立自主</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D</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fontScale="90000"/>
          </a:bodyPr>
          <a:lstStyle/>
          <a:p>
            <a:pPr algn="l">
              <a:lnSpc>
                <a:spcPct val="140000"/>
              </a:lnSpc>
            </a:pPr>
            <a:r>
              <a:rPr lang="en-US" altLang="zh-CN" sz="2665"/>
              <a:t>21</a:t>
            </a:r>
            <a:r>
              <a:rPr lang="en-US" sz="2665"/>
              <a:t>.</a:t>
            </a:r>
            <a:r>
              <a:rPr lang="zh-CN" altLang="en-US" sz="2665"/>
              <a:t>从</a:t>
            </a:r>
            <a:r>
              <a:rPr lang="en-US" altLang="zh-CN" sz="2665"/>
              <a:t>1840</a:t>
            </a:r>
            <a:r>
              <a:rPr lang="zh-CN" altLang="en-US" sz="2665"/>
              <a:t>年鸦片战争爆发到</a:t>
            </a:r>
            <a:r>
              <a:rPr lang="en-US" altLang="zh-CN" sz="2665"/>
              <a:t>1949</a:t>
            </a:r>
            <a:r>
              <a:rPr lang="zh-CN" altLang="en-US" sz="2665"/>
              <a:t>年中华人民共和国成立前夕的历史，是中国近代史。近代中国最基本的国情，即近代中国的社会性质是（</a:t>
            </a:r>
            <a:r>
              <a:rPr lang="en-US" altLang="zh-CN" sz="2665"/>
              <a:t>  </a:t>
            </a:r>
            <a:r>
              <a:rPr lang="zh-CN" altLang="en-US" sz="2665"/>
              <a:t>）。</a:t>
            </a:r>
            <a:br>
              <a:rPr lang="zh-CN" altLang="en-US" sz="2665"/>
            </a:br>
            <a:r>
              <a:rPr lang="en-US" altLang="zh-CN" sz="2665"/>
              <a:t>A. </a:t>
            </a:r>
            <a:r>
              <a:rPr lang="zh-CN" altLang="en-US" sz="2665"/>
              <a:t>封建社会</a:t>
            </a:r>
            <a:br>
              <a:rPr lang="zh-CN" altLang="en-US" sz="2665"/>
            </a:br>
            <a:r>
              <a:rPr lang="en-US" altLang="zh-CN" sz="2665"/>
              <a:t>B. </a:t>
            </a:r>
            <a:r>
              <a:rPr lang="zh-CN" altLang="en-US" sz="2665"/>
              <a:t>资本主义社会</a:t>
            </a:r>
            <a:br>
              <a:rPr lang="zh-CN" altLang="en-US" sz="2665"/>
            </a:br>
            <a:r>
              <a:rPr lang="en-US" altLang="zh-CN" sz="2665"/>
              <a:t>C. </a:t>
            </a:r>
            <a:r>
              <a:rPr lang="zh-CN" altLang="en-US" sz="2665"/>
              <a:t>新民主主义社会</a:t>
            </a:r>
            <a:br>
              <a:rPr lang="zh-CN" altLang="en-US" sz="2665"/>
            </a:br>
            <a:r>
              <a:rPr lang="en-US" altLang="zh-CN" sz="2665"/>
              <a:t>D. </a:t>
            </a:r>
            <a:r>
              <a:rPr lang="zh-CN" altLang="en-US" sz="2665"/>
              <a:t>半殖民地半封建社会</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a:bodyPr>
          <a:lstStyle/>
          <a:p>
            <a:pPr algn="l">
              <a:lnSpc>
                <a:spcPct val="140000"/>
              </a:lnSpc>
            </a:pPr>
            <a:r>
              <a:rPr lang="en-US" sz="2665"/>
              <a:t>22.</a:t>
            </a:r>
            <a:r>
              <a:rPr lang="zh-CN" altLang="en-US" sz="2665"/>
              <a:t>新民主主义革命理论得以形成的实践基础是（</a:t>
            </a:r>
            <a:r>
              <a:rPr lang="en-US" altLang="zh-CN" sz="2665"/>
              <a:t>  </a:t>
            </a:r>
            <a:r>
              <a:rPr lang="zh-CN" altLang="en-US" sz="2665"/>
              <a:t>）。</a:t>
            </a:r>
            <a:br>
              <a:rPr lang="zh-CN" altLang="en-US" sz="2665"/>
            </a:br>
            <a:r>
              <a:rPr lang="en-US" altLang="zh-CN" sz="2665"/>
              <a:t>A. </a:t>
            </a:r>
            <a:r>
              <a:rPr lang="zh-CN" altLang="en-US" sz="2665"/>
              <a:t>中国革命和建设的实践</a:t>
            </a:r>
            <a:br>
              <a:rPr lang="zh-CN" altLang="en-US" sz="2665"/>
            </a:br>
            <a:r>
              <a:rPr lang="en-US" altLang="zh-CN" sz="2665"/>
              <a:t>B. </a:t>
            </a:r>
            <a:r>
              <a:rPr lang="zh-CN" altLang="en-US" sz="2665"/>
              <a:t>新民主主义革命的实践</a:t>
            </a:r>
            <a:br>
              <a:rPr lang="zh-CN" altLang="en-US" sz="2665"/>
            </a:br>
            <a:r>
              <a:rPr lang="en-US" altLang="zh-CN" sz="2665"/>
              <a:t>C. </a:t>
            </a:r>
            <a:r>
              <a:rPr lang="zh-CN" altLang="en-US" sz="2665"/>
              <a:t>社会主义革命的实践</a:t>
            </a:r>
            <a:br>
              <a:rPr lang="zh-CN" altLang="en-US" sz="2665"/>
            </a:br>
            <a:r>
              <a:rPr lang="en-US" altLang="zh-CN" sz="2665"/>
              <a:t>D. </a:t>
            </a:r>
            <a:r>
              <a:rPr lang="zh-CN" altLang="en-US" sz="2665"/>
              <a:t>社会主义建设早期探索的实践</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C</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a:bodyPr>
          <a:lstStyle/>
          <a:p>
            <a:pPr algn="l">
              <a:lnSpc>
                <a:spcPct val="140000"/>
              </a:lnSpc>
            </a:pPr>
            <a:r>
              <a:rPr lang="en-US" sz="2665"/>
              <a:t>23.</a:t>
            </a:r>
            <a:r>
              <a:rPr lang="zh-CN" altLang="en-US" sz="2665"/>
              <a:t>（</a:t>
            </a:r>
            <a:r>
              <a:rPr lang="en-US" altLang="zh-CN" sz="2665"/>
              <a:t>  </a:t>
            </a:r>
            <a:r>
              <a:rPr lang="zh-CN" altLang="en-US" sz="2665"/>
              <a:t>）是中国革命的</a:t>
            </a:r>
            <a:r>
              <a:rPr lang="zh-CN" altLang="en-US" sz="2665" i="1" u="sng">
                <a:solidFill>
                  <a:srgbClr val="FF0000"/>
                </a:solidFill>
              </a:rPr>
              <a:t>中心问题</a:t>
            </a:r>
            <a:r>
              <a:rPr lang="zh-CN" altLang="en-US" sz="2665"/>
              <a:t>，也是新民主主义革命理论的核心问题。</a:t>
            </a:r>
            <a:br>
              <a:rPr lang="zh-CN" altLang="en-US" sz="2665"/>
            </a:br>
            <a:r>
              <a:rPr lang="en-US" altLang="zh-CN" sz="2665"/>
              <a:t>A. </a:t>
            </a:r>
            <a:r>
              <a:rPr lang="zh-CN" altLang="en-US" sz="2665"/>
              <a:t>农民问题</a:t>
            </a:r>
            <a:br>
              <a:rPr lang="zh-CN" altLang="en-US" sz="2665"/>
            </a:br>
            <a:r>
              <a:rPr lang="en-US" altLang="zh-CN" sz="2665"/>
              <a:t>B. </a:t>
            </a:r>
            <a:r>
              <a:rPr lang="zh-CN" altLang="en-US" sz="2665"/>
              <a:t>统一战线</a:t>
            </a:r>
            <a:br>
              <a:rPr lang="zh-CN" altLang="en-US" sz="2665"/>
            </a:br>
            <a:r>
              <a:rPr lang="en-US" altLang="zh-CN" sz="2665"/>
              <a:t>C. </a:t>
            </a:r>
            <a:r>
              <a:rPr lang="zh-CN" altLang="en-US" sz="2665"/>
              <a:t>无产阶级的领导权</a:t>
            </a:r>
            <a:br>
              <a:rPr lang="zh-CN" altLang="en-US" sz="2665"/>
            </a:br>
            <a:r>
              <a:rPr lang="en-US" altLang="zh-CN" sz="2665"/>
              <a:t>D. </a:t>
            </a:r>
            <a:r>
              <a:rPr lang="zh-CN" altLang="en-US" sz="2665"/>
              <a:t>武装斗争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C</a:t>
            </a:r>
            <a:r>
              <a:rPr lang="zh-CN" altLang="en-US">
                <a:sym typeface="+mn-ea"/>
              </a:rPr>
              <a:t>）</a:t>
            </a:r>
          </a:p>
        </p:txBody>
      </p:sp>
      <p:sp>
        <p:nvSpPr>
          <p:cNvPr id="2" name="标题 1"/>
          <p:cNvSpPr>
            <a:spLocks noGrp="1"/>
          </p:cNvSpPr>
          <p:nvPr>
            <p:ph type="ctrTitle"/>
          </p:nvPr>
        </p:nvSpPr>
        <p:spPr>
          <a:xfrm>
            <a:off x="1624330" y="1431925"/>
            <a:ext cx="9797415" cy="3787140"/>
          </a:xfrm>
        </p:spPr>
        <p:txBody>
          <a:bodyPr>
            <a:normAutofit fontScale="90000"/>
          </a:bodyPr>
          <a:lstStyle/>
          <a:p>
            <a:pPr algn="l">
              <a:lnSpc>
                <a:spcPct val="140000"/>
              </a:lnSpc>
            </a:pPr>
            <a:r>
              <a:rPr lang="en-US" altLang="zh-CN" sz="2665"/>
              <a:t>24</a:t>
            </a:r>
            <a:r>
              <a:rPr lang="en-US" sz="2665"/>
              <a:t>.</a:t>
            </a:r>
            <a:r>
              <a:rPr lang="en-US" altLang="zh-CN" sz="2665"/>
              <a:t>1940</a:t>
            </a:r>
            <a:r>
              <a:rPr lang="zh-CN" altLang="en-US" sz="2665"/>
              <a:t>年，毛泽东在《新民主主义论》中，阐述了新民主主义的政治、经济和文化。</a:t>
            </a:r>
            <a:r>
              <a:rPr lang="en-US" altLang="zh-CN" sz="2665"/>
              <a:t>1945</a:t>
            </a:r>
            <a:r>
              <a:rPr lang="zh-CN" altLang="en-US" sz="2665"/>
              <a:t>年，他在党的七大所作的政治报告（</a:t>
            </a:r>
            <a:r>
              <a:rPr lang="en-US" altLang="zh-CN" sz="2665"/>
              <a:t>  </a:t>
            </a:r>
            <a:r>
              <a:rPr lang="zh-CN" altLang="en-US" sz="2665"/>
              <a:t>）中，进一步把新民主主义的政治、经济和文化与党的基本纲领联系起来，进行了具体阐述，形成了新民主主义的基本纲领。</a:t>
            </a:r>
            <a:br>
              <a:rPr lang="zh-CN" altLang="en-US" sz="2665"/>
            </a:br>
            <a:r>
              <a:rPr lang="en-US" altLang="zh-CN" sz="2665"/>
              <a:t>A. </a:t>
            </a:r>
            <a:r>
              <a:rPr lang="zh-CN" altLang="en-US" sz="2665"/>
              <a:t>《论新阶段》</a:t>
            </a:r>
            <a:br>
              <a:rPr lang="zh-CN" altLang="en-US" sz="2665"/>
            </a:br>
            <a:r>
              <a:rPr lang="en-US" altLang="zh-CN" sz="2665"/>
              <a:t>B. </a:t>
            </a:r>
            <a:r>
              <a:rPr lang="zh-CN" altLang="en-US" sz="2665"/>
              <a:t>《改造我们的学习》</a:t>
            </a:r>
            <a:br>
              <a:rPr lang="zh-CN" altLang="en-US" sz="2665"/>
            </a:br>
            <a:r>
              <a:rPr lang="en-US" altLang="zh-CN" sz="2665"/>
              <a:t>C. </a:t>
            </a:r>
            <a:r>
              <a:rPr lang="zh-CN" altLang="en-US" sz="2665"/>
              <a:t>《论联合政府》</a:t>
            </a:r>
            <a:br>
              <a:rPr lang="zh-CN" altLang="en-US" sz="2665"/>
            </a:br>
            <a:r>
              <a:rPr lang="en-US" altLang="zh-CN" sz="2665"/>
              <a:t>D. </a:t>
            </a:r>
            <a:r>
              <a:rPr lang="zh-CN" altLang="en-US" sz="2665"/>
              <a:t>《中国共产党和中国革命》</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D</a:t>
            </a:r>
            <a:r>
              <a:rPr lang="zh-CN" altLang="en-US">
                <a:sym typeface="+mn-ea"/>
              </a:rPr>
              <a:t>）</a:t>
            </a:r>
          </a:p>
        </p:txBody>
      </p:sp>
      <p:sp>
        <p:nvSpPr>
          <p:cNvPr id="2" name="标题 1"/>
          <p:cNvSpPr>
            <a:spLocks noGrp="1"/>
          </p:cNvSpPr>
          <p:nvPr>
            <p:ph type="ctrTitle"/>
          </p:nvPr>
        </p:nvSpPr>
        <p:spPr>
          <a:xfrm>
            <a:off x="1515110" y="1153160"/>
            <a:ext cx="9797415" cy="3147695"/>
          </a:xfrm>
        </p:spPr>
        <p:txBody>
          <a:bodyPr>
            <a:normAutofit/>
          </a:bodyPr>
          <a:lstStyle/>
          <a:p>
            <a:pPr algn="l">
              <a:lnSpc>
                <a:spcPct val="140000"/>
              </a:lnSpc>
            </a:pPr>
            <a:r>
              <a:rPr lang="en-US" sz="2665"/>
              <a:t>25.</a:t>
            </a:r>
            <a:r>
              <a:rPr lang="zh-CN" altLang="en-US" sz="2665"/>
              <a:t>新民主主义国家的国体是（</a:t>
            </a:r>
            <a:r>
              <a:rPr lang="en-US" altLang="zh-CN" sz="2665"/>
              <a:t>  </a:t>
            </a:r>
            <a:r>
              <a:rPr lang="zh-CN" altLang="en-US" sz="2665"/>
              <a:t>）。</a:t>
            </a:r>
            <a:br>
              <a:rPr lang="zh-CN" altLang="en-US" sz="2665"/>
            </a:br>
            <a:r>
              <a:rPr lang="en-US" altLang="zh-CN" sz="2665"/>
              <a:t>A. </a:t>
            </a:r>
            <a:r>
              <a:rPr lang="zh-CN" altLang="en-US" sz="2665"/>
              <a:t>资产阶级专政</a:t>
            </a:r>
            <a:br>
              <a:rPr lang="zh-CN" altLang="en-US" sz="2665"/>
            </a:br>
            <a:r>
              <a:rPr lang="en-US" altLang="zh-CN" sz="2665"/>
              <a:t>B. </a:t>
            </a:r>
            <a:r>
              <a:rPr lang="zh-CN" altLang="en-US" sz="2665"/>
              <a:t>无产阶级专政</a:t>
            </a:r>
            <a:br>
              <a:rPr lang="zh-CN" altLang="en-US" sz="2665"/>
            </a:br>
            <a:r>
              <a:rPr lang="en-US" altLang="zh-CN" sz="2665"/>
              <a:t>C. </a:t>
            </a:r>
            <a:r>
              <a:rPr lang="zh-CN" altLang="en-US" sz="2665"/>
              <a:t>人民民主专政</a:t>
            </a:r>
            <a:br>
              <a:rPr lang="zh-CN" altLang="en-US" sz="2665"/>
            </a:br>
            <a:r>
              <a:rPr lang="en-US" altLang="zh-CN" sz="2665"/>
              <a:t>D. </a:t>
            </a:r>
            <a:r>
              <a:rPr lang="zh-CN" altLang="en-US" sz="2665"/>
              <a:t>无产阶级领导的以工农联盟为基础的各革命阶级的联合专政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答案：（BC）</a:t>
            </a:r>
          </a:p>
        </p:txBody>
      </p:sp>
      <p:sp>
        <p:nvSpPr>
          <p:cNvPr id="2" name="标题 1"/>
          <p:cNvSpPr>
            <a:spLocks noGrp="1"/>
          </p:cNvSpPr>
          <p:nvPr>
            <p:ph type="ctrTitle"/>
          </p:nvPr>
        </p:nvSpPr>
        <p:spPr>
          <a:xfrm>
            <a:off x="971550" y="1356995"/>
            <a:ext cx="10334625" cy="3242945"/>
          </a:xfrm>
        </p:spPr>
        <p:txBody>
          <a:bodyPr>
            <a:normAutofit fontScale="90000"/>
          </a:bodyPr>
          <a:lstStyle/>
          <a:p>
            <a:pPr algn="l">
              <a:lnSpc>
                <a:spcPct val="140000"/>
              </a:lnSpc>
            </a:pPr>
            <a:r>
              <a:rPr lang="en-US" altLang="zh-CN" sz="2665"/>
              <a:t>1.</a:t>
            </a:r>
            <a:r>
              <a:rPr lang="zh-CN" altLang="en-US" sz="2665"/>
              <a:t>在半殖民地半封建的近代中国，占支配地位的主要矛盾是（）的矛盾。</a:t>
            </a:r>
            <a:br>
              <a:rPr lang="zh-CN" altLang="en-US" sz="2665"/>
            </a:br>
            <a:r>
              <a:rPr lang="en-US" altLang="zh-CN" sz="2665"/>
              <a:t>A. </a:t>
            </a:r>
            <a:r>
              <a:rPr lang="zh-CN" altLang="en-US" sz="2665"/>
              <a:t>无产阶级和资产阶级</a:t>
            </a:r>
            <a:br>
              <a:rPr lang="zh-CN" altLang="en-US" sz="2665"/>
            </a:br>
            <a:r>
              <a:rPr lang="en-US" altLang="zh-CN" sz="2665"/>
              <a:t>B. </a:t>
            </a:r>
            <a:r>
              <a:rPr lang="zh-CN" altLang="en-US" sz="2665"/>
              <a:t>帝国主义和中华民族</a:t>
            </a:r>
            <a:br>
              <a:rPr lang="zh-CN" altLang="en-US" sz="2665"/>
            </a:br>
            <a:r>
              <a:rPr lang="en-US" altLang="zh-CN" sz="2665"/>
              <a:t>C. </a:t>
            </a:r>
            <a:r>
              <a:rPr lang="zh-CN" altLang="en-US" sz="2665"/>
              <a:t>封建主义和人民大众</a:t>
            </a:r>
            <a:br>
              <a:rPr lang="zh-CN" altLang="en-US" sz="2665"/>
            </a:br>
            <a:r>
              <a:rPr lang="en-US" altLang="zh-CN" sz="2665"/>
              <a:t>D. </a:t>
            </a:r>
            <a:r>
              <a:rPr lang="zh-CN" altLang="en-US" sz="2665"/>
              <a:t>官僚资产阶级和人民大众</a:t>
            </a:r>
            <a:br>
              <a:rPr lang="zh-CN" altLang="en-US" sz="2665"/>
            </a:br>
            <a:r>
              <a:rPr lang="en-US" altLang="zh-CN" sz="2665"/>
              <a:t>E. </a:t>
            </a:r>
            <a:r>
              <a:rPr lang="zh-CN" altLang="en-US" sz="2665"/>
              <a:t>官僚资产阶级和民族资产阶级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BCDE</a:t>
            </a:r>
            <a:r>
              <a:rPr lang="zh-CN" altLang="en-US">
                <a:sym typeface="+mn-ea"/>
              </a:rPr>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2. </a:t>
            </a:r>
            <a:r>
              <a:rPr lang="zh-CN" altLang="en-US" sz="2665"/>
              <a:t>新民主主义革命总路线反映了中国革命的基本规律，指明了中国革命的</a:t>
            </a:r>
            <a:r>
              <a:rPr lang="en-US" altLang="zh-CN" sz="2665"/>
              <a:t>(  )</a:t>
            </a:r>
            <a:r>
              <a:rPr lang="zh-CN" altLang="en-US" sz="2665"/>
              <a:t>，是新民主主义革命的指导路线。</a:t>
            </a:r>
            <a:br>
              <a:rPr lang="zh-CN" altLang="en-US" sz="2665"/>
            </a:br>
            <a:r>
              <a:rPr lang="en-US" altLang="zh-CN" sz="2665"/>
              <a:t>A. </a:t>
            </a:r>
            <a:r>
              <a:rPr lang="zh-CN" altLang="en-US" sz="2665"/>
              <a:t>时代背景</a:t>
            </a:r>
            <a:br>
              <a:rPr lang="zh-CN" altLang="en-US" sz="2665"/>
            </a:br>
            <a:r>
              <a:rPr lang="en-US" altLang="zh-CN" sz="2665"/>
              <a:t>B. </a:t>
            </a:r>
            <a:r>
              <a:rPr lang="zh-CN" altLang="en-US" sz="2665"/>
              <a:t>对象</a:t>
            </a:r>
            <a:br>
              <a:rPr lang="zh-CN" altLang="en-US" sz="2665"/>
            </a:br>
            <a:r>
              <a:rPr lang="en-US" altLang="zh-CN" sz="2665"/>
              <a:t>C. </a:t>
            </a:r>
            <a:r>
              <a:rPr lang="zh-CN" altLang="en-US" sz="2665"/>
              <a:t>动力</a:t>
            </a:r>
            <a:br>
              <a:rPr lang="zh-CN" altLang="en-US" sz="2665"/>
            </a:br>
            <a:r>
              <a:rPr lang="en-US" altLang="zh-CN" sz="2665"/>
              <a:t>D. </a:t>
            </a:r>
            <a:r>
              <a:rPr lang="zh-CN" altLang="en-US" sz="2665"/>
              <a:t>领导力量</a:t>
            </a:r>
            <a:br>
              <a:rPr lang="zh-CN" altLang="en-US" sz="2665"/>
            </a:br>
            <a:r>
              <a:rPr lang="en-US" altLang="zh-CN" sz="2665"/>
              <a:t>E. </a:t>
            </a:r>
            <a:r>
              <a:rPr lang="zh-CN" altLang="en-US" sz="2665"/>
              <a:t>性质和前途</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BCE</a:t>
            </a:r>
            <a:r>
              <a:rPr lang="zh-CN" altLang="en-US">
                <a:sym typeface="+mn-ea"/>
              </a:rPr>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3.</a:t>
            </a:r>
            <a:r>
              <a:rPr lang="zh-CN" altLang="en-US" sz="2665"/>
              <a:t>分清敌友，这是革命的首要问题。近代中国社会的性质和主要矛盾，决定了中国革命的主要敌人就是（）。</a:t>
            </a:r>
            <a:br>
              <a:rPr lang="zh-CN" altLang="en-US" sz="2665"/>
            </a:br>
            <a:r>
              <a:rPr lang="en-US" altLang="zh-CN" sz="2665"/>
              <a:t>A. </a:t>
            </a:r>
            <a:r>
              <a:rPr lang="zh-CN" altLang="en-US" sz="2665"/>
              <a:t>民族资本主义</a:t>
            </a:r>
            <a:br>
              <a:rPr lang="zh-CN" altLang="en-US" sz="2665"/>
            </a:br>
            <a:r>
              <a:rPr lang="en-US" altLang="zh-CN" sz="2665"/>
              <a:t>B. </a:t>
            </a:r>
            <a:r>
              <a:rPr lang="zh-CN" altLang="en-US" sz="2665"/>
              <a:t>帝国主义</a:t>
            </a:r>
            <a:br>
              <a:rPr lang="zh-CN" altLang="en-US" sz="2665"/>
            </a:br>
            <a:r>
              <a:rPr lang="en-US" altLang="zh-CN" sz="2665"/>
              <a:t>C. </a:t>
            </a:r>
            <a:r>
              <a:rPr lang="zh-CN" altLang="en-US" sz="2665"/>
              <a:t>封建主义</a:t>
            </a:r>
            <a:br>
              <a:rPr lang="zh-CN" altLang="en-US" sz="2665"/>
            </a:br>
            <a:r>
              <a:rPr lang="en-US" altLang="zh-CN" sz="2665"/>
              <a:t>D. </a:t>
            </a:r>
            <a:r>
              <a:rPr lang="zh-CN" altLang="en-US" sz="2665"/>
              <a:t>城市小资产阶级</a:t>
            </a:r>
            <a:br>
              <a:rPr lang="zh-CN" altLang="en-US" sz="2665"/>
            </a:br>
            <a:r>
              <a:rPr lang="en-US" altLang="zh-CN" sz="2665"/>
              <a:t>E. </a:t>
            </a:r>
            <a:r>
              <a:rPr lang="zh-CN" altLang="en-US" sz="2665"/>
              <a:t>官僚资本主义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82612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ACDE</a:t>
            </a:r>
            <a:r>
              <a:rPr lang="zh-CN" altLang="en-US">
                <a:sym typeface="+mn-ea"/>
              </a:rPr>
              <a:t>）</a:t>
            </a:r>
          </a:p>
        </p:txBody>
      </p:sp>
      <p:sp>
        <p:nvSpPr>
          <p:cNvPr id="2" name="标题 1"/>
          <p:cNvSpPr>
            <a:spLocks noGrp="1"/>
          </p:cNvSpPr>
          <p:nvPr>
            <p:ph type="ctrTitle"/>
          </p:nvPr>
        </p:nvSpPr>
        <p:spPr>
          <a:xfrm>
            <a:off x="1713865" y="1242060"/>
            <a:ext cx="8764270" cy="3636010"/>
          </a:xfrm>
        </p:spPr>
        <p:txBody>
          <a:bodyPr>
            <a:normAutofit/>
          </a:bodyPr>
          <a:lstStyle/>
          <a:p>
            <a:pPr algn="l">
              <a:lnSpc>
                <a:spcPct val="140000"/>
              </a:lnSpc>
            </a:pPr>
            <a:r>
              <a:rPr lang="en-US" altLang="zh-CN" sz="2665"/>
              <a:t>4.</a:t>
            </a:r>
            <a:r>
              <a:rPr lang="zh-CN" altLang="en-US" sz="2665"/>
              <a:t>新民主主义革命的动力包括（</a:t>
            </a:r>
            <a:r>
              <a:rPr lang="en-US" altLang="zh-CN" sz="2665"/>
              <a:t> </a:t>
            </a:r>
            <a:r>
              <a:rPr lang="zh-CN" altLang="en-US" sz="2665"/>
              <a:t>）。</a:t>
            </a:r>
            <a:br>
              <a:rPr lang="zh-CN" altLang="en-US" sz="2665"/>
            </a:br>
            <a:r>
              <a:rPr lang="en-US" altLang="zh-CN" sz="2665"/>
              <a:t>A. </a:t>
            </a:r>
            <a:r>
              <a:rPr lang="zh-CN" altLang="en-US" sz="2665"/>
              <a:t>无产阶级</a:t>
            </a:r>
            <a:br>
              <a:rPr lang="zh-CN" altLang="en-US" sz="2665"/>
            </a:br>
            <a:r>
              <a:rPr lang="en-US" altLang="zh-CN" sz="2665"/>
              <a:t>B. </a:t>
            </a:r>
            <a:r>
              <a:rPr lang="zh-CN" altLang="en-US" sz="2665"/>
              <a:t>官僚资产阶级</a:t>
            </a:r>
            <a:br>
              <a:rPr lang="zh-CN" altLang="en-US" sz="2665"/>
            </a:br>
            <a:r>
              <a:rPr lang="en-US" altLang="zh-CN" sz="2665"/>
              <a:t>C. </a:t>
            </a:r>
            <a:r>
              <a:rPr lang="zh-CN" altLang="en-US" sz="2665"/>
              <a:t>农民阶级</a:t>
            </a:r>
            <a:br>
              <a:rPr lang="zh-CN" altLang="en-US" sz="2665"/>
            </a:br>
            <a:r>
              <a:rPr lang="en-US" altLang="zh-CN" sz="2665"/>
              <a:t>D. </a:t>
            </a:r>
            <a:r>
              <a:rPr lang="zh-CN" altLang="en-US" sz="2665"/>
              <a:t>城市小资产阶级</a:t>
            </a:r>
            <a:br>
              <a:rPr lang="zh-CN" altLang="en-US" sz="2665"/>
            </a:br>
            <a:r>
              <a:rPr lang="en-US" altLang="zh-CN" sz="2665"/>
              <a:t>E. </a:t>
            </a:r>
            <a:r>
              <a:rPr lang="zh-CN" altLang="en-US" sz="2665"/>
              <a:t>民族资产阶级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5818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BCDE</a:t>
            </a:r>
            <a:r>
              <a:rPr lang="zh-CN" altLang="en-US">
                <a:sym typeface="+mn-ea"/>
              </a:rPr>
              <a:t>）</a:t>
            </a:r>
          </a:p>
        </p:txBody>
      </p:sp>
      <p:sp>
        <p:nvSpPr>
          <p:cNvPr id="2" name="标题 1"/>
          <p:cNvSpPr>
            <a:spLocks noGrp="1"/>
          </p:cNvSpPr>
          <p:nvPr>
            <p:ph type="ctrTitle"/>
          </p:nvPr>
        </p:nvSpPr>
        <p:spPr>
          <a:xfrm>
            <a:off x="1910080" y="834390"/>
            <a:ext cx="8064500" cy="4812030"/>
          </a:xfrm>
        </p:spPr>
        <p:txBody>
          <a:bodyPr>
            <a:normAutofit/>
          </a:bodyPr>
          <a:lstStyle/>
          <a:p>
            <a:pPr algn="l">
              <a:lnSpc>
                <a:spcPct val="140000"/>
              </a:lnSpc>
            </a:pPr>
            <a:r>
              <a:rPr lang="en-US" altLang="zh-CN" sz="2665"/>
              <a:t>5.</a:t>
            </a:r>
            <a:r>
              <a:rPr lang="zh-CN" altLang="en-US" sz="2665"/>
              <a:t>城市小资产阶级是无产阶级的可靠同盟者。城市小资产阶级，包括（</a:t>
            </a:r>
            <a:r>
              <a:rPr lang="en-US" altLang="zh-CN" sz="2665"/>
              <a:t>  </a:t>
            </a:r>
            <a:r>
              <a:rPr lang="zh-CN" altLang="en-US" sz="2665"/>
              <a:t>）。</a:t>
            </a:r>
            <a:br>
              <a:rPr lang="zh-CN" altLang="en-US" sz="2665"/>
            </a:br>
            <a:r>
              <a:rPr lang="en-US" altLang="zh-CN" sz="2665"/>
              <a:t>A. </a:t>
            </a:r>
            <a:r>
              <a:rPr lang="zh-CN" altLang="en-US" sz="2665"/>
              <a:t>民族资产阶级</a:t>
            </a:r>
            <a:br>
              <a:rPr lang="zh-CN" altLang="en-US" sz="2665"/>
            </a:br>
            <a:r>
              <a:rPr lang="en-US" altLang="zh-CN" sz="2665"/>
              <a:t>B. </a:t>
            </a:r>
            <a:r>
              <a:rPr lang="zh-CN" altLang="en-US" sz="2665"/>
              <a:t>广大的知识分子</a:t>
            </a:r>
            <a:br>
              <a:rPr lang="zh-CN" altLang="en-US" sz="2665"/>
            </a:br>
            <a:r>
              <a:rPr lang="en-US" altLang="zh-CN" sz="2665"/>
              <a:t>C. </a:t>
            </a:r>
            <a:r>
              <a:rPr lang="zh-CN" altLang="en-US" sz="2665"/>
              <a:t>小商人</a:t>
            </a:r>
            <a:br>
              <a:rPr lang="zh-CN" altLang="en-US" sz="2665"/>
            </a:br>
            <a:r>
              <a:rPr lang="en-US" altLang="zh-CN" sz="2665"/>
              <a:t>D. </a:t>
            </a:r>
            <a:r>
              <a:rPr lang="zh-CN" altLang="en-US" sz="2665"/>
              <a:t>手工业者</a:t>
            </a:r>
            <a:br>
              <a:rPr lang="zh-CN" altLang="en-US" sz="2665"/>
            </a:br>
            <a:r>
              <a:rPr lang="en-US" altLang="zh-CN" sz="2665"/>
              <a:t>E. </a:t>
            </a:r>
            <a:r>
              <a:rPr lang="zh-CN" altLang="en-US" sz="2665"/>
              <a:t>自由职业者</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BCDE</a:t>
            </a:r>
            <a:r>
              <a:rPr lang="zh-CN" altLang="en-US">
                <a:sym typeface="+mn-ea"/>
              </a:rPr>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6.</a:t>
            </a:r>
            <a:r>
              <a:rPr lang="zh-CN" altLang="en-US" sz="2665"/>
              <a:t>在新民主主义革命中，无产阶级及其政党要实现对各革命阶级的领导，需要注重以下几个方面（）。</a:t>
            </a:r>
            <a:br>
              <a:rPr lang="zh-CN" altLang="en-US" sz="2665"/>
            </a:br>
            <a:r>
              <a:rPr lang="en-US" altLang="zh-CN" sz="2665"/>
              <a:t>A. </a:t>
            </a:r>
            <a:r>
              <a:rPr lang="zh-CN" altLang="en-US" sz="2665"/>
              <a:t>必须不惜一切代价保持同资产阶级的联盟</a:t>
            </a:r>
            <a:br>
              <a:rPr lang="zh-CN" altLang="en-US" sz="2665"/>
            </a:br>
            <a:r>
              <a:rPr lang="en-US" altLang="zh-CN" sz="2665"/>
              <a:t>B. </a:t>
            </a:r>
            <a:r>
              <a:rPr lang="zh-CN" altLang="en-US" sz="2665"/>
              <a:t>必须建立以工农联盟为基础的广泛的统一战线，这是实现领导权的关键</a:t>
            </a:r>
            <a:br>
              <a:rPr lang="zh-CN" altLang="en-US" sz="2665"/>
            </a:br>
            <a:r>
              <a:rPr lang="en-US" altLang="zh-CN" sz="2665"/>
              <a:t>C. </a:t>
            </a:r>
            <a:r>
              <a:rPr lang="zh-CN" altLang="en-US" sz="2665"/>
              <a:t>无产阶级在同资产阶级建立统一战线时，必须坚持独立自主的原则，实行又联合又斗争的方针，这是坚持领导权的基本策略</a:t>
            </a:r>
            <a:br>
              <a:rPr lang="zh-CN" altLang="en-US" sz="2665"/>
            </a:br>
            <a:r>
              <a:rPr lang="en-US" altLang="zh-CN" sz="2665"/>
              <a:t>D. </a:t>
            </a:r>
            <a:r>
              <a:rPr lang="zh-CN" altLang="en-US" sz="2665"/>
              <a:t>必须建立和发展人民的革命武装力量</a:t>
            </a:r>
            <a:br>
              <a:rPr lang="zh-CN" altLang="en-US" sz="2665"/>
            </a:br>
            <a:r>
              <a:rPr lang="en-US" altLang="zh-CN" sz="2665"/>
              <a:t>E. </a:t>
            </a:r>
            <a:r>
              <a:rPr lang="zh-CN" altLang="en-US" sz="2665"/>
              <a:t>必须加强无产阶级政党的建设，这是是中国共产党实现领导权的根本保证</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CDE </a:t>
            </a:r>
            <a:r>
              <a:rPr lang="zh-CN" altLang="en-US">
                <a:sym typeface="+mn-ea"/>
              </a:rPr>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dirty="0">
                <a:solidFill>
                  <a:srgbClr val="FF0000"/>
                </a:solidFill>
              </a:rPr>
              <a:t>7.</a:t>
            </a:r>
            <a:r>
              <a:rPr lang="zh-CN" altLang="en-US" sz="2665" dirty="0"/>
              <a:t>无产阶级及其政党对中国革命的领导权不是自然而然得来的，而是在与资产阶级争夺领导权的斗争中实现的。在同资产阶级建立统一战线时，坚持无产阶级领导权的基本策略包括（</a:t>
            </a:r>
            <a:r>
              <a:rPr lang="en-US" altLang="zh-CN" sz="2665" dirty="0"/>
              <a:t>  </a:t>
            </a:r>
            <a:r>
              <a:rPr lang="zh-CN" altLang="en-US" sz="2665" dirty="0"/>
              <a:t>）。</a:t>
            </a:r>
            <a:br>
              <a:rPr lang="zh-CN" altLang="en-US" sz="2665" dirty="0"/>
            </a:br>
            <a:r>
              <a:rPr lang="en-US" altLang="zh-CN" sz="2665" dirty="0"/>
              <a:t>A. </a:t>
            </a:r>
            <a:r>
              <a:rPr lang="zh-CN" altLang="en-US" sz="2665" dirty="0"/>
              <a:t>一切为了统一战线</a:t>
            </a:r>
            <a:br>
              <a:rPr lang="zh-CN" altLang="en-US" sz="2665" dirty="0"/>
            </a:br>
            <a:r>
              <a:rPr lang="en-US" altLang="zh-CN" sz="2665" dirty="0"/>
              <a:t>B. </a:t>
            </a:r>
            <a:r>
              <a:rPr lang="zh-CN" altLang="en-US" sz="2665" dirty="0"/>
              <a:t>一切服从统一战线</a:t>
            </a:r>
            <a:br>
              <a:rPr lang="zh-CN" altLang="en-US" sz="2665" dirty="0"/>
            </a:br>
            <a:r>
              <a:rPr lang="en-US" altLang="zh-CN" sz="2665" dirty="0"/>
              <a:t>C. </a:t>
            </a:r>
            <a:r>
              <a:rPr lang="zh-CN" altLang="en-US" sz="2665" dirty="0"/>
              <a:t>必须坚持独立自主的原则</a:t>
            </a:r>
            <a:br>
              <a:rPr lang="zh-CN" altLang="en-US" sz="2665" dirty="0"/>
            </a:br>
            <a:r>
              <a:rPr lang="en-US" altLang="zh-CN" sz="2665" dirty="0"/>
              <a:t>D. </a:t>
            </a:r>
            <a:r>
              <a:rPr lang="zh-CN" altLang="en-US" sz="2665" dirty="0"/>
              <a:t>保持党在思想上、政治上和组织上的独立性</a:t>
            </a:r>
            <a:br>
              <a:rPr lang="zh-CN" altLang="en-US" sz="2665" dirty="0"/>
            </a:br>
            <a:r>
              <a:rPr lang="en-US" altLang="zh-CN" sz="2665" dirty="0"/>
              <a:t>E. </a:t>
            </a:r>
            <a:r>
              <a:rPr lang="zh-CN" altLang="en-US" sz="2665" dirty="0"/>
              <a:t>实行又联合又斗争的方针</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ABCE</a:t>
            </a:r>
            <a:r>
              <a:rPr lang="zh-CN" altLang="en-US">
                <a:sym typeface="+mn-ea"/>
              </a:rPr>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dirty="0"/>
              <a:t> 8.</a:t>
            </a:r>
            <a:r>
              <a:rPr lang="zh-CN" altLang="en-US" sz="2665" dirty="0"/>
              <a:t>新民主主义革命与旧民主主义革命相比有新的内容和特点，集中表现在（</a:t>
            </a:r>
            <a:r>
              <a:rPr lang="en-US" altLang="zh-CN" sz="2665" dirty="0"/>
              <a:t>  </a:t>
            </a:r>
            <a:r>
              <a:rPr lang="zh-CN" altLang="en-US" sz="2665" dirty="0"/>
              <a:t>）。</a:t>
            </a:r>
            <a:br>
              <a:rPr lang="zh-CN" altLang="en-US" sz="2665" dirty="0"/>
            </a:br>
            <a:r>
              <a:rPr lang="en-US" altLang="zh-CN" sz="2665" dirty="0"/>
              <a:t>A. </a:t>
            </a:r>
            <a:r>
              <a:rPr lang="zh-CN" altLang="en-US" sz="2665" dirty="0"/>
              <a:t>新民主主义革命处于世界无产阶级社会主义革命的时代，是世界无产阶级社会主义革命的一部分</a:t>
            </a:r>
            <a:br>
              <a:rPr lang="zh-CN" altLang="en-US" sz="2665" dirty="0"/>
            </a:br>
            <a:r>
              <a:rPr lang="en-US" altLang="zh-CN" sz="2665" dirty="0"/>
              <a:t>B. </a:t>
            </a:r>
            <a:r>
              <a:rPr lang="zh-CN" altLang="en-US" sz="2665" dirty="0"/>
              <a:t>革命的领导力量是中国无产阶级及其政党</a:t>
            </a:r>
            <a:br>
              <a:rPr lang="zh-CN" altLang="en-US" sz="2665" dirty="0"/>
            </a:br>
            <a:r>
              <a:rPr lang="en-US" altLang="zh-CN" sz="2665" dirty="0"/>
              <a:t>C. </a:t>
            </a:r>
            <a:r>
              <a:rPr lang="zh-CN" altLang="en-US" sz="2665" dirty="0"/>
              <a:t>革命的指导思想是马克思列宁主义</a:t>
            </a:r>
            <a:br>
              <a:rPr lang="zh-CN" altLang="en-US" sz="2665" dirty="0"/>
            </a:br>
            <a:r>
              <a:rPr lang="en-US" altLang="zh-CN" sz="2665" dirty="0"/>
              <a:t>D. </a:t>
            </a:r>
            <a:r>
              <a:rPr lang="zh-CN" altLang="en-US" sz="2665" dirty="0"/>
              <a:t>革命的前途是资本主义</a:t>
            </a:r>
            <a:br>
              <a:rPr lang="zh-CN" altLang="en-US" sz="2665" dirty="0"/>
            </a:br>
            <a:r>
              <a:rPr lang="en-US" altLang="zh-CN" sz="2665" dirty="0"/>
              <a:t>E. </a:t>
            </a:r>
            <a:r>
              <a:rPr lang="zh-CN" altLang="en-US" sz="2665" dirty="0"/>
              <a:t>革命的前途是社会主义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BE</a:t>
            </a:r>
            <a:r>
              <a:rPr lang="zh-CN" altLang="en-US">
                <a:sym typeface="+mn-ea"/>
              </a:rPr>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solidFill>
                  <a:srgbClr val="FF0000"/>
                </a:solidFill>
              </a:rPr>
              <a:t>9.</a:t>
            </a:r>
            <a:r>
              <a:rPr lang="zh-CN" altLang="en-US" sz="2665" dirty="0">
                <a:solidFill>
                  <a:srgbClr val="FF0000"/>
                </a:solidFill>
              </a:rPr>
              <a:t>社会主义革命</a:t>
            </a:r>
            <a:r>
              <a:rPr lang="zh-CN" altLang="en-US" sz="2665" dirty="0"/>
              <a:t>是无产阶级性质的革命，它所要实现的目标是（）。</a:t>
            </a:r>
            <a:br>
              <a:rPr lang="zh-CN" altLang="en-US" sz="2665" dirty="0"/>
            </a:br>
            <a:r>
              <a:rPr lang="en-US" altLang="zh-CN" sz="2665" dirty="0"/>
              <a:t>A. </a:t>
            </a:r>
            <a:r>
              <a:rPr lang="zh-CN" altLang="en-US" sz="2665" dirty="0"/>
              <a:t>建立无产阶级领导的各革命阶级的联合专政</a:t>
            </a:r>
            <a:br>
              <a:rPr lang="zh-CN" altLang="en-US" sz="2665" dirty="0"/>
            </a:br>
            <a:r>
              <a:rPr lang="en-US" altLang="zh-CN" sz="2665" dirty="0"/>
              <a:t>B. </a:t>
            </a:r>
            <a:r>
              <a:rPr lang="zh-CN" altLang="en-US" sz="2665" dirty="0"/>
              <a:t>消灭资本主义剥削制度</a:t>
            </a:r>
            <a:br>
              <a:rPr lang="zh-CN" altLang="en-US" sz="2665" dirty="0"/>
            </a:br>
            <a:r>
              <a:rPr lang="en-US" altLang="zh-CN" sz="2665" dirty="0"/>
              <a:t>C. </a:t>
            </a:r>
            <a:r>
              <a:rPr lang="zh-CN" altLang="en-US" sz="2665" dirty="0"/>
              <a:t>在政治上，争取和联合民族资产阶级去反对共同的敌人</a:t>
            </a:r>
            <a:br>
              <a:rPr lang="zh-CN" altLang="en-US" sz="2665" dirty="0"/>
            </a:br>
            <a:r>
              <a:rPr lang="en-US" altLang="zh-CN" sz="2665" dirty="0"/>
              <a:t>D. </a:t>
            </a:r>
            <a:r>
              <a:rPr lang="zh-CN" altLang="en-US" sz="2665" dirty="0"/>
              <a:t>在经济上，保护民族工商业，容许有利于国计民生的私人资本主义发展</a:t>
            </a:r>
            <a:br>
              <a:rPr lang="zh-CN" altLang="en-US" sz="2665" dirty="0"/>
            </a:br>
            <a:r>
              <a:rPr lang="en-US" altLang="zh-CN" sz="2665" dirty="0"/>
              <a:t>E. </a:t>
            </a:r>
            <a:r>
              <a:rPr lang="zh-CN" altLang="en-US" sz="2665" dirty="0"/>
              <a:t>改造小生产的私有制</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a:t>
            </a:r>
            <a:r>
              <a:rPr lang="zh-CN" altLang="en-US">
                <a:sym typeface="+mn-ea"/>
              </a:rPr>
              <a:t> ）</a:t>
            </a:r>
          </a:p>
        </p:txBody>
      </p:sp>
      <p:sp>
        <p:nvSpPr>
          <p:cNvPr id="2" name="标题 1"/>
          <p:cNvSpPr>
            <a:spLocks noGrp="1"/>
          </p:cNvSpPr>
          <p:nvPr>
            <p:ph type="ctrTitle"/>
          </p:nvPr>
        </p:nvSpPr>
        <p:spPr>
          <a:xfrm>
            <a:off x="860399" y="123416"/>
            <a:ext cx="10334625" cy="4757420"/>
          </a:xfrm>
        </p:spPr>
        <p:txBody>
          <a:bodyPr>
            <a:normAutofit/>
          </a:bodyPr>
          <a:lstStyle/>
          <a:p>
            <a:pPr algn="l">
              <a:lnSpc>
                <a:spcPct val="140000"/>
              </a:lnSpc>
            </a:pPr>
            <a:r>
              <a:rPr lang="en-US" altLang="zh-CN" sz="2665" dirty="0"/>
              <a:t>10.</a:t>
            </a:r>
            <a:r>
              <a:rPr lang="zh-CN" altLang="en-US" sz="2665" dirty="0"/>
              <a:t>新民主主义革命与社会主义革命又是互相联系、紧密衔接的，以下各选项中，对二者关系认识正确的是（</a:t>
            </a:r>
            <a:r>
              <a:rPr lang="en-US" altLang="zh-CN" sz="2665" dirty="0"/>
              <a:t>  </a:t>
            </a:r>
            <a:r>
              <a:rPr lang="zh-CN" altLang="en-US" sz="2665" dirty="0"/>
              <a:t>）。</a:t>
            </a:r>
            <a:br>
              <a:rPr lang="zh-CN" altLang="en-US" sz="2665" dirty="0"/>
            </a:br>
            <a:r>
              <a:rPr lang="en-US" altLang="zh-CN" sz="2665" dirty="0"/>
              <a:t>A. </a:t>
            </a:r>
            <a:r>
              <a:rPr lang="zh-CN" altLang="en-US" sz="2665" dirty="0"/>
              <a:t>中间不容横插一个资产阶级专政</a:t>
            </a:r>
            <a:br>
              <a:rPr lang="zh-CN" altLang="en-US" sz="2665" dirty="0"/>
            </a:br>
            <a:r>
              <a:rPr lang="en-US" altLang="zh-CN" sz="2665" dirty="0"/>
              <a:t>B. </a:t>
            </a:r>
            <a:r>
              <a:rPr lang="zh-CN" altLang="en-US" sz="2665" dirty="0"/>
              <a:t>新民主主义革命和社会主义革命好比是文章的上篇和下篇</a:t>
            </a:r>
            <a:br>
              <a:rPr lang="zh-CN" altLang="en-US" sz="2665" dirty="0"/>
            </a:br>
            <a:r>
              <a:rPr lang="en-US" altLang="zh-CN" sz="2665" dirty="0"/>
              <a:t>C. </a:t>
            </a:r>
            <a:r>
              <a:rPr lang="zh-CN" altLang="en-US" sz="2665" dirty="0"/>
              <a:t>民主主义革命是社会主义革命的必要准备</a:t>
            </a:r>
            <a:br>
              <a:rPr lang="zh-CN" altLang="en-US" sz="2665" dirty="0"/>
            </a:br>
            <a:r>
              <a:rPr lang="en-US" altLang="zh-CN" sz="2665" dirty="0"/>
              <a:t>D. </a:t>
            </a:r>
            <a:r>
              <a:rPr lang="zh-CN" altLang="en-US" sz="2665" dirty="0"/>
              <a:t>社会主义革命是民主主义革命的必然趋势</a:t>
            </a:r>
            <a:br>
              <a:rPr lang="zh-CN" altLang="en-US" sz="2665" dirty="0"/>
            </a:br>
            <a:r>
              <a:rPr lang="en-US" altLang="zh-CN" sz="2665" dirty="0"/>
              <a:t>E. </a:t>
            </a:r>
            <a:r>
              <a:rPr lang="zh-CN" altLang="en-US" sz="2665" dirty="0"/>
              <a:t>新民主主义革命与社会主义革命必须同时完成，毕其功于一役</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 BCD ）</a:t>
            </a:r>
          </a:p>
        </p:txBody>
      </p:sp>
      <p:sp>
        <p:nvSpPr>
          <p:cNvPr id="2" name="标题 1"/>
          <p:cNvSpPr>
            <a:spLocks noGrp="1"/>
          </p:cNvSpPr>
          <p:nvPr>
            <p:ph type="ctrTitle"/>
          </p:nvPr>
        </p:nvSpPr>
        <p:spPr>
          <a:xfrm>
            <a:off x="1019175" y="1024255"/>
            <a:ext cx="10334625" cy="3962400"/>
          </a:xfrm>
        </p:spPr>
        <p:txBody>
          <a:bodyPr>
            <a:normAutofit/>
          </a:bodyPr>
          <a:lstStyle/>
          <a:p>
            <a:pPr algn="l">
              <a:lnSpc>
                <a:spcPct val="140000"/>
              </a:lnSpc>
            </a:pPr>
            <a:r>
              <a:rPr lang="en-US" altLang="zh-CN" sz="2665"/>
              <a:t>11.</a:t>
            </a:r>
            <a:r>
              <a:rPr lang="zh-CN" altLang="en-US" sz="2665"/>
              <a:t>新民主主义的经济纲领是（</a:t>
            </a:r>
            <a:r>
              <a:rPr lang="en-US" altLang="zh-CN" sz="2665"/>
              <a:t>  </a:t>
            </a:r>
            <a:r>
              <a:rPr lang="zh-CN" altLang="en-US" sz="2665"/>
              <a:t>）。</a:t>
            </a:r>
            <a:br>
              <a:rPr lang="zh-CN" altLang="en-US" sz="2665"/>
            </a:br>
            <a:r>
              <a:rPr lang="en-US" altLang="zh-CN" sz="2665"/>
              <a:t>A. </a:t>
            </a:r>
            <a:r>
              <a:rPr lang="zh-CN" altLang="en-US" sz="2665"/>
              <a:t>没收一切私有财产</a:t>
            </a:r>
            <a:br>
              <a:rPr lang="zh-CN" altLang="en-US" sz="2665"/>
            </a:br>
            <a:r>
              <a:rPr lang="en-US" altLang="zh-CN" sz="2665"/>
              <a:t>B. </a:t>
            </a:r>
            <a:r>
              <a:rPr lang="zh-CN" altLang="en-US" sz="2665"/>
              <a:t>没收封建地主阶级的土地归农民所有</a:t>
            </a:r>
            <a:br>
              <a:rPr lang="zh-CN" altLang="en-US" sz="2665"/>
            </a:br>
            <a:r>
              <a:rPr lang="en-US" altLang="zh-CN" sz="2665"/>
              <a:t>C. </a:t>
            </a:r>
            <a:r>
              <a:rPr lang="zh-CN" altLang="en-US" sz="2665"/>
              <a:t>没收官僚资产阶级的垄断资本归新民主主义的国家所有</a:t>
            </a:r>
            <a:br>
              <a:rPr lang="zh-CN" altLang="en-US" sz="2665"/>
            </a:br>
            <a:r>
              <a:rPr lang="en-US" altLang="zh-CN" sz="2665"/>
              <a:t>D. </a:t>
            </a:r>
            <a:r>
              <a:rPr lang="zh-CN" altLang="en-US" sz="2665"/>
              <a:t>保护民族工商业</a:t>
            </a:r>
            <a:br>
              <a:rPr lang="zh-CN" altLang="en-US" sz="2665"/>
            </a:br>
            <a:r>
              <a:rPr lang="en-US" altLang="zh-CN" sz="2665"/>
              <a:t>E. </a:t>
            </a:r>
            <a:r>
              <a:rPr lang="zh-CN" altLang="en-US" sz="2665"/>
              <a:t>没收帝国主义在华资本</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AC</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a:t>12.</a:t>
            </a:r>
            <a:r>
              <a:rPr lang="zh-CN" altLang="en-US" sz="2665"/>
              <a:t>保护民族工商业，是新民主主义经济纲领中极具特色的一项内容。在新民主主义条件下保护民族工商业，发展资本主义，是由（</a:t>
            </a:r>
            <a:r>
              <a:rPr lang="en-US" altLang="zh-CN" sz="2665"/>
              <a:t>  </a:t>
            </a:r>
            <a:r>
              <a:rPr lang="zh-CN" altLang="en-US" sz="2665"/>
              <a:t>）所决定的。</a:t>
            </a:r>
            <a:br>
              <a:rPr lang="zh-CN" altLang="en-US" sz="2665"/>
            </a:br>
            <a:r>
              <a:rPr lang="en-US" altLang="zh-CN" sz="2665"/>
              <a:t>A. </a:t>
            </a:r>
            <a:r>
              <a:rPr lang="zh-CN" altLang="en-US" sz="2665"/>
              <a:t>中国落后的生产力</a:t>
            </a:r>
            <a:br>
              <a:rPr lang="zh-CN" altLang="en-US" sz="2665"/>
            </a:br>
            <a:r>
              <a:rPr lang="en-US" altLang="zh-CN" sz="2665"/>
              <a:t>B. </a:t>
            </a:r>
            <a:r>
              <a:rPr lang="zh-CN" altLang="en-US" sz="2665"/>
              <a:t>社会主义革命的性质</a:t>
            </a:r>
            <a:br>
              <a:rPr lang="zh-CN" altLang="en-US" sz="2665"/>
            </a:br>
            <a:r>
              <a:rPr lang="en-US" altLang="zh-CN" sz="2665"/>
              <a:t>C. </a:t>
            </a:r>
            <a:r>
              <a:rPr lang="zh-CN" altLang="en-US" sz="2665"/>
              <a:t>新民主主义革命的性质</a:t>
            </a:r>
            <a:br>
              <a:rPr lang="zh-CN" altLang="en-US" sz="2665"/>
            </a:br>
            <a:r>
              <a:rPr lang="en-US" altLang="zh-CN" sz="2665"/>
              <a:t>D. </a:t>
            </a:r>
            <a:r>
              <a:rPr lang="zh-CN" altLang="en-US" sz="2665"/>
              <a:t>新民主主义国家的人民</a:t>
            </a:r>
            <a:br>
              <a:rPr lang="zh-CN" altLang="en-US" sz="2665"/>
            </a:br>
            <a:r>
              <a:rPr lang="en-US" altLang="zh-CN" sz="2665"/>
              <a:t>E. </a:t>
            </a:r>
            <a:r>
              <a:rPr lang="zh-CN" altLang="en-US" sz="2665"/>
              <a:t>资本主义发展的特点</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 </a:t>
            </a:r>
            <a:r>
              <a:rPr lang="en-US" altLang="zh-CN">
                <a:sym typeface="+mn-ea"/>
              </a:rPr>
              <a:t>AD</a:t>
            </a:r>
            <a:r>
              <a:rPr lang="zh-CN" altLang="en-US">
                <a:sym typeface="+mn-ea"/>
              </a:rPr>
              <a:t> ）</a:t>
            </a:r>
          </a:p>
        </p:txBody>
      </p:sp>
      <p:sp>
        <p:nvSpPr>
          <p:cNvPr id="2" name="标题 1"/>
          <p:cNvSpPr>
            <a:spLocks noGrp="1"/>
          </p:cNvSpPr>
          <p:nvPr>
            <p:ph type="ctrTitle"/>
          </p:nvPr>
        </p:nvSpPr>
        <p:spPr>
          <a:xfrm>
            <a:off x="904240" y="1262380"/>
            <a:ext cx="10334625" cy="3792220"/>
          </a:xfrm>
        </p:spPr>
        <p:txBody>
          <a:bodyPr>
            <a:normAutofit/>
          </a:bodyPr>
          <a:lstStyle/>
          <a:p>
            <a:pPr algn="l">
              <a:lnSpc>
                <a:spcPct val="140000"/>
              </a:lnSpc>
            </a:pPr>
            <a:r>
              <a:rPr lang="en-US" altLang="zh-CN" sz="2665"/>
              <a:t>13.</a:t>
            </a:r>
            <a:r>
              <a:rPr lang="zh-CN" altLang="en-US" sz="2665"/>
              <a:t>以下对新民主主义文化的表述，正确的有（</a:t>
            </a:r>
            <a:r>
              <a:rPr lang="en-US" altLang="zh-CN" sz="2665"/>
              <a:t> </a:t>
            </a:r>
            <a:r>
              <a:rPr lang="zh-CN" altLang="en-US" sz="2665"/>
              <a:t>）</a:t>
            </a:r>
            <a:br>
              <a:rPr lang="zh-CN" altLang="en-US" sz="2665"/>
            </a:br>
            <a:r>
              <a:rPr lang="en-US" altLang="zh-CN" sz="2665"/>
              <a:t>A. </a:t>
            </a:r>
            <a:r>
              <a:rPr lang="zh-CN" altLang="en-US" sz="2665">
                <a:sym typeface="+mn-ea"/>
              </a:rPr>
              <a:t>新民主主义文化</a:t>
            </a:r>
            <a:r>
              <a:rPr lang="zh-CN" altLang="en-US" sz="2665"/>
              <a:t>无产阶级领导的人民大众的反帝反封建的文化</a:t>
            </a:r>
            <a:br>
              <a:rPr lang="zh-CN" altLang="en-US" sz="2665"/>
            </a:br>
            <a:r>
              <a:rPr lang="en-US" altLang="zh-CN" sz="2665"/>
              <a:t>B. </a:t>
            </a:r>
            <a:r>
              <a:rPr lang="zh-CN" altLang="en-US" sz="2665">
                <a:sym typeface="+mn-ea"/>
              </a:rPr>
              <a:t>新民主主义文化是</a:t>
            </a:r>
            <a:r>
              <a:rPr lang="zh-CN" altLang="en-US" sz="2665"/>
              <a:t>资产阶级的文化</a:t>
            </a:r>
            <a:br>
              <a:rPr lang="zh-CN" altLang="en-US" sz="2665"/>
            </a:br>
            <a:r>
              <a:rPr lang="en-US" altLang="zh-CN" sz="2665"/>
              <a:t>C. </a:t>
            </a:r>
            <a:r>
              <a:rPr lang="zh-CN" altLang="en-US" sz="2665">
                <a:sym typeface="+mn-ea"/>
              </a:rPr>
              <a:t>新民主主义文化是</a:t>
            </a:r>
            <a:r>
              <a:rPr lang="zh-CN" altLang="en-US" sz="2665"/>
              <a:t>为少数社会精英服务的文化</a:t>
            </a:r>
            <a:br>
              <a:rPr lang="zh-CN" altLang="en-US" sz="2665"/>
            </a:br>
            <a:r>
              <a:rPr lang="en-US" altLang="zh-CN" sz="2665"/>
              <a:t>D. </a:t>
            </a:r>
            <a:r>
              <a:rPr lang="zh-CN" altLang="en-US" sz="2665">
                <a:sym typeface="+mn-ea"/>
              </a:rPr>
              <a:t>新民主主义文化是</a:t>
            </a:r>
            <a:r>
              <a:rPr lang="zh-CN" altLang="en-US" sz="2665"/>
              <a:t>民族的科学的大众的文化</a:t>
            </a:r>
            <a:br>
              <a:rPr lang="zh-CN" altLang="en-US" sz="2665"/>
            </a:br>
            <a:r>
              <a:rPr lang="en-US" altLang="zh-CN" sz="2665"/>
              <a:t>E. </a:t>
            </a:r>
            <a:r>
              <a:rPr lang="zh-CN" altLang="en-US" sz="2665">
                <a:sym typeface="+mn-ea"/>
              </a:rPr>
              <a:t>新民主主义文化是</a:t>
            </a:r>
            <a:r>
              <a:rPr lang="zh-CN" altLang="en-US" sz="2665"/>
              <a:t>社会主义的文化</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AC</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dirty="0">
                <a:solidFill>
                  <a:srgbClr val="FF0000"/>
                </a:solidFill>
              </a:rPr>
              <a:t>14.</a:t>
            </a:r>
            <a:r>
              <a:rPr lang="zh-CN" altLang="en-US" sz="2665" dirty="0"/>
              <a:t>中国革命必须走农村包围城市、武装夺取政权的道路，是由（）决定的。</a:t>
            </a:r>
            <a:br>
              <a:rPr lang="zh-CN" altLang="en-US" sz="2665" dirty="0"/>
            </a:br>
            <a:r>
              <a:rPr lang="en-US" altLang="zh-CN" sz="2665" dirty="0"/>
              <a:t>A. </a:t>
            </a:r>
            <a:r>
              <a:rPr lang="zh-CN" altLang="en-US" sz="2665" dirty="0"/>
              <a:t>中国所处的时代特点</a:t>
            </a:r>
            <a:br>
              <a:rPr lang="zh-CN" altLang="en-US" sz="2665" dirty="0"/>
            </a:br>
            <a:r>
              <a:rPr lang="en-US" altLang="zh-CN" sz="2665" dirty="0"/>
              <a:t>B. </a:t>
            </a:r>
            <a:r>
              <a:rPr lang="zh-CN" altLang="en-US" sz="2665" dirty="0"/>
              <a:t>中国革命发展的进程</a:t>
            </a:r>
            <a:br>
              <a:rPr lang="zh-CN" altLang="en-US" sz="2665" dirty="0"/>
            </a:br>
            <a:r>
              <a:rPr lang="en-US" altLang="zh-CN" sz="2665" dirty="0"/>
              <a:t>C. </a:t>
            </a:r>
            <a:r>
              <a:rPr lang="zh-CN" altLang="en-US" sz="2665" dirty="0"/>
              <a:t>中国具体国情</a:t>
            </a:r>
            <a:br>
              <a:rPr lang="zh-CN" altLang="en-US" sz="2665" dirty="0"/>
            </a:br>
            <a:r>
              <a:rPr lang="en-US" altLang="zh-CN" sz="2665" dirty="0"/>
              <a:t>D. </a:t>
            </a:r>
            <a:r>
              <a:rPr lang="zh-CN" altLang="en-US" sz="2665" dirty="0"/>
              <a:t>领导者的积极引导</a:t>
            </a:r>
            <a:br>
              <a:rPr lang="zh-CN" altLang="en-US" sz="2665" dirty="0"/>
            </a:br>
            <a:r>
              <a:rPr lang="en-US" altLang="zh-CN" sz="2665" dirty="0"/>
              <a:t>E. </a:t>
            </a:r>
            <a:r>
              <a:rPr lang="zh-CN" altLang="en-US" sz="2665" dirty="0"/>
              <a:t>被领导者的积极支持</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AC</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a:t>15.</a:t>
            </a:r>
            <a:r>
              <a:rPr lang="zh-CN" altLang="en-US" sz="2665"/>
              <a:t>中国革命必须走农村包围城市、武装夺取政权的道路，是由（</a:t>
            </a:r>
            <a:r>
              <a:rPr lang="en-US" altLang="zh-CN" sz="2665"/>
              <a:t>  </a:t>
            </a:r>
            <a:r>
              <a:rPr lang="zh-CN" altLang="en-US" sz="2665"/>
              <a:t>）决定的。</a:t>
            </a:r>
            <a:br>
              <a:rPr lang="zh-CN" altLang="en-US" sz="2665"/>
            </a:br>
            <a:r>
              <a:rPr lang="en-US" altLang="zh-CN" sz="2665"/>
              <a:t>A. </a:t>
            </a:r>
            <a:r>
              <a:rPr lang="zh-CN" altLang="en-US" sz="2665"/>
              <a:t>中国所处的时代特点</a:t>
            </a:r>
            <a:br>
              <a:rPr lang="zh-CN" altLang="en-US" sz="2665"/>
            </a:br>
            <a:r>
              <a:rPr lang="en-US" altLang="zh-CN" sz="2665"/>
              <a:t>B. </a:t>
            </a:r>
            <a:r>
              <a:rPr lang="zh-CN" altLang="en-US" sz="2665"/>
              <a:t>中国革命发展的进程</a:t>
            </a:r>
            <a:br>
              <a:rPr lang="zh-CN" altLang="en-US" sz="2665"/>
            </a:br>
            <a:r>
              <a:rPr lang="en-US" altLang="zh-CN" sz="2665"/>
              <a:t>C. </a:t>
            </a:r>
            <a:r>
              <a:rPr lang="zh-CN" altLang="en-US" sz="2665"/>
              <a:t>中国具体国情</a:t>
            </a:r>
            <a:br>
              <a:rPr lang="zh-CN" altLang="en-US" sz="2665"/>
            </a:br>
            <a:r>
              <a:rPr lang="en-US" altLang="zh-CN" sz="2665"/>
              <a:t>D. </a:t>
            </a:r>
            <a:r>
              <a:rPr lang="zh-CN" altLang="en-US" sz="2665"/>
              <a:t>领导者的积极引导</a:t>
            </a:r>
            <a:br>
              <a:rPr lang="zh-CN" altLang="en-US" sz="2665"/>
            </a:br>
            <a:r>
              <a:rPr lang="en-US" altLang="zh-CN" sz="2665"/>
              <a:t>E. </a:t>
            </a:r>
            <a:r>
              <a:rPr lang="zh-CN" altLang="en-US" sz="2665"/>
              <a:t>被领导者的积极支持</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 </a:t>
            </a:r>
            <a:r>
              <a:rPr lang="en-US" altLang="zh-CN">
                <a:sym typeface="+mn-ea"/>
              </a:rPr>
              <a:t>ABCDE</a:t>
            </a:r>
            <a:r>
              <a:rPr lang="zh-CN" altLang="en-US">
                <a:sym typeface="+mn-ea"/>
              </a:rPr>
              <a:t>）</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a:t>16.</a:t>
            </a:r>
            <a:r>
              <a:rPr lang="zh-CN" altLang="en-US" sz="2665"/>
              <a:t>党之所以能够深入农村积蓄革命力量，建设农村革命根据地，最终实现农村包围城市并夺取政权，是因为以下几个方面（</a:t>
            </a:r>
            <a:r>
              <a:rPr lang="en-US" altLang="zh-CN" sz="2665"/>
              <a:t>   </a:t>
            </a:r>
            <a:r>
              <a:rPr lang="zh-CN" altLang="en-US" sz="2665"/>
              <a:t>）。</a:t>
            </a:r>
            <a:br>
              <a:rPr lang="zh-CN" altLang="en-US" sz="2665"/>
            </a:br>
            <a:r>
              <a:rPr lang="en-US" altLang="zh-CN" sz="2665"/>
              <a:t>A. </a:t>
            </a:r>
            <a:r>
              <a:rPr lang="zh-CN" altLang="en-US" sz="2665"/>
              <a:t>近代中国是多个帝国主义间接统治的经济落后的半殖民地国家，社会政治经济发展极端不平衡</a:t>
            </a:r>
            <a:br>
              <a:rPr lang="zh-CN" altLang="en-US" sz="2665"/>
            </a:br>
            <a:r>
              <a:rPr lang="en-US" altLang="zh-CN" sz="2665"/>
              <a:t>B. </a:t>
            </a:r>
            <a:r>
              <a:rPr lang="zh-CN" altLang="en-US" sz="2665"/>
              <a:t>人民革命愿望强烈，革命的群众基础好</a:t>
            </a:r>
            <a:br>
              <a:rPr lang="zh-CN" altLang="en-US" sz="2665"/>
            </a:br>
            <a:r>
              <a:rPr lang="en-US" altLang="zh-CN" sz="2665"/>
              <a:t>C. </a:t>
            </a:r>
            <a:r>
              <a:rPr lang="zh-CN" altLang="en-US" sz="2665"/>
              <a:t>全国革命形势的继续向前发展</a:t>
            </a:r>
            <a:br>
              <a:rPr lang="zh-CN" altLang="en-US" sz="2665"/>
            </a:br>
            <a:r>
              <a:rPr lang="en-US" altLang="zh-CN" sz="2665"/>
              <a:t>D. </a:t>
            </a:r>
            <a:r>
              <a:rPr lang="zh-CN" altLang="en-US" sz="2665"/>
              <a:t>相当力量正式红军的存在</a:t>
            </a:r>
            <a:br>
              <a:rPr lang="zh-CN" altLang="en-US" sz="2665"/>
            </a:br>
            <a:r>
              <a:rPr lang="en-US" altLang="zh-CN" sz="2665"/>
              <a:t>E. </a:t>
            </a:r>
            <a:r>
              <a:rPr lang="zh-CN" altLang="en-US" sz="2665"/>
              <a:t>党的领导的有力量及其政策的不错误</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 </a:t>
            </a:r>
            <a:r>
              <a:rPr lang="en-US" altLang="zh-CN">
                <a:sym typeface="+mn-ea"/>
              </a:rPr>
              <a:t>BCE</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dirty="0">
                <a:solidFill>
                  <a:srgbClr val="FF0000"/>
                </a:solidFill>
              </a:rPr>
              <a:t>17.</a:t>
            </a:r>
            <a:r>
              <a:rPr lang="zh-CN" altLang="en-US" sz="2665" dirty="0"/>
              <a:t>中国革命走农村包围城市、武装夺取政权的道路，根本在于处理好（</a:t>
            </a:r>
            <a:r>
              <a:rPr lang="en-US" altLang="zh-CN" sz="2665" dirty="0"/>
              <a:t>  </a:t>
            </a:r>
            <a:r>
              <a:rPr lang="zh-CN" altLang="en-US" sz="2665" dirty="0"/>
              <a:t>）的关系</a:t>
            </a:r>
            <a:br>
              <a:rPr lang="zh-CN" altLang="en-US" sz="2665" dirty="0"/>
            </a:br>
            <a:r>
              <a:rPr lang="en-US" altLang="zh-CN" sz="2665" dirty="0"/>
              <a:t>A. </a:t>
            </a:r>
            <a:r>
              <a:rPr lang="zh-CN" altLang="en-US" sz="2665" dirty="0"/>
              <a:t>统一战线</a:t>
            </a:r>
            <a:br>
              <a:rPr lang="zh-CN" altLang="en-US" sz="2665" dirty="0"/>
            </a:br>
            <a:r>
              <a:rPr lang="en-US" altLang="zh-CN" sz="2665" dirty="0"/>
              <a:t>B. </a:t>
            </a:r>
            <a:r>
              <a:rPr lang="zh-CN" altLang="en-US" sz="2665" dirty="0"/>
              <a:t>土地革命</a:t>
            </a:r>
            <a:br>
              <a:rPr lang="zh-CN" altLang="en-US" sz="2665" dirty="0"/>
            </a:br>
            <a:r>
              <a:rPr lang="en-US" altLang="zh-CN" sz="2665" dirty="0"/>
              <a:t>C. </a:t>
            </a:r>
            <a:r>
              <a:rPr lang="zh-CN" altLang="en-US" sz="2665" dirty="0"/>
              <a:t>武装斗争</a:t>
            </a:r>
            <a:br>
              <a:rPr lang="zh-CN" altLang="en-US" sz="2665" dirty="0"/>
            </a:br>
            <a:r>
              <a:rPr lang="en-US" altLang="zh-CN" sz="2665" dirty="0"/>
              <a:t>D. </a:t>
            </a:r>
            <a:r>
              <a:rPr lang="zh-CN" altLang="en-US" sz="2665" dirty="0"/>
              <a:t>党的建设</a:t>
            </a:r>
            <a:br>
              <a:rPr lang="zh-CN" altLang="en-US" sz="2665" dirty="0"/>
            </a:br>
            <a:r>
              <a:rPr lang="en-US" altLang="zh-CN" sz="2665" dirty="0"/>
              <a:t>E. </a:t>
            </a:r>
            <a:r>
              <a:rPr lang="zh-CN" altLang="en-US" sz="2665" dirty="0"/>
              <a:t>农村革命根据地建设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fontScale="90000"/>
          </a:bodyPr>
          <a:lstStyle/>
          <a:p>
            <a:pPr algn="l">
              <a:lnSpc>
                <a:spcPct val="140000"/>
              </a:lnSpc>
            </a:pPr>
            <a:r>
              <a:rPr lang="en-US" altLang="zh-CN" sz="2665"/>
              <a:t>18.</a:t>
            </a:r>
            <a:r>
              <a:rPr lang="zh-CN" altLang="en-US" sz="2665"/>
              <a:t>对于农村包围城市、武装夺取政权道路理论的表述正确的有（</a:t>
            </a:r>
            <a:r>
              <a:rPr lang="en-US" altLang="zh-CN" sz="2665"/>
              <a:t>   </a:t>
            </a:r>
            <a:r>
              <a:rPr lang="zh-CN" altLang="en-US" sz="2665"/>
              <a:t>）。</a:t>
            </a:r>
            <a:br>
              <a:rPr lang="zh-CN" altLang="en-US" sz="2665"/>
            </a:br>
            <a:r>
              <a:rPr lang="en-US" altLang="zh-CN" sz="2665"/>
              <a:t>A. </a:t>
            </a:r>
            <a:r>
              <a:rPr lang="zh-CN" altLang="en-US" sz="2665"/>
              <a:t>土地革命是中国革命的基本内容</a:t>
            </a:r>
            <a:br>
              <a:rPr lang="zh-CN" altLang="en-US" sz="2665"/>
            </a:br>
            <a:r>
              <a:rPr lang="en-US" altLang="zh-CN" sz="2665"/>
              <a:t>B. </a:t>
            </a:r>
            <a:r>
              <a:rPr lang="zh-CN" altLang="en-US" sz="2665"/>
              <a:t>武装斗争是中国革命的主要形式，是农村根据地建设和土地革命的强有力保证</a:t>
            </a:r>
            <a:br>
              <a:rPr lang="zh-CN" altLang="en-US" sz="2665"/>
            </a:br>
            <a:r>
              <a:rPr lang="en-US" altLang="zh-CN" sz="2665"/>
              <a:t>C. </a:t>
            </a:r>
            <a:r>
              <a:rPr lang="zh-CN" altLang="en-US" sz="2665"/>
              <a:t>农村革命根据地是中国革命的战略阵地，是进行武装斗争和开展土地革命的依托</a:t>
            </a:r>
            <a:br>
              <a:rPr lang="zh-CN" altLang="en-US" sz="2665"/>
            </a:br>
            <a:r>
              <a:rPr lang="en-US" altLang="zh-CN" sz="2665"/>
              <a:t>D. </a:t>
            </a:r>
            <a:r>
              <a:rPr lang="zh-CN" altLang="en-US" sz="2665"/>
              <a:t>在中国共产党的领导下，实现土地革命、武装斗争、农村革命根据地建设三者的密切结合和有机统一</a:t>
            </a:r>
            <a:br>
              <a:rPr lang="zh-CN" altLang="en-US" sz="2665"/>
            </a:br>
            <a:r>
              <a:rPr lang="en-US" altLang="zh-CN" sz="2665"/>
              <a:t>E. </a:t>
            </a:r>
            <a:r>
              <a:rPr lang="zh-CN" altLang="en-US" sz="2665"/>
              <a:t>在农村分散打游击，单纯搞武装斗争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a:t>19.</a:t>
            </a:r>
            <a:r>
              <a:rPr lang="zh-CN" altLang="en-US" sz="2665"/>
              <a:t>毛泽东在《〈共产党人〉发刊词》一文中，提出了（</a:t>
            </a:r>
            <a:r>
              <a:rPr lang="en-US" altLang="zh-CN" sz="2665"/>
              <a:t>   </a:t>
            </a:r>
            <a:r>
              <a:rPr lang="zh-CN" altLang="en-US" sz="2665"/>
              <a:t>）是党在中国革命中战胜敌人的三个主要的法宝。</a:t>
            </a:r>
            <a:r>
              <a:rPr lang="en-US" altLang="zh-CN" sz="2665"/>
              <a:t>“</a:t>
            </a:r>
            <a:r>
              <a:rPr lang="zh-CN" altLang="en-US" sz="2665"/>
              <a:t>正确地理解了这三个问题及其相互关系，就等于正确地领导了全部中国革命。</a:t>
            </a:r>
            <a:r>
              <a:rPr lang="en-US" altLang="zh-CN" sz="2665"/>
              <a:t>”</a:t>
            </a:r>
            <a:br>
              <a:rPr lang="en-US" altLang="zh-CN" sz="2665"/>
            </a:br>
            <a:r>
              <a:rPr lang="en-US" altLang="zh-CN" sz="2665"/>
              <a:t>A. </a:t>
            </a:r>
            <a:r>
              <a:rPr lang="zh-CN" altLang="en-US" sz="2665"/>
              <a:t>统一战线</a:t>
            </a:r>
            <a:br>
              <a:rPr lang="zh-CN" altLang="en-US" sz="2665"/>
            </a:br>
            <a:r>
              <a:rPr lang="en-US" altLang="zh-CN" sz="2665"/>
              <a:t>B. </a:t>
            </a:r>
            <a:r>
              <a:rPr lang="zh-CN" altLang="en-US" sz="2665"/>
              <a:t>武装斗争</a:t>
            </a:r>
            <a:br>
              <a:rPr lang="zh-CN" altLang="en-US" sz="2665"/>
            </a:br>
            <a:r>
              <a:rPr lang="en-US" altLang="zh-CN" sz="2665"/>
              <a:t>C. </a:t>
            </a:r>
            <a:r>
              <a:rPr lang="zh-CN" altLang="en-US" sz="2665"/>
              <a:t>党的建设</a:t>
            </a:r>
            <a:br>
              <a:rPr lang="zh-CN" altLang="en-US" sz="2665"/>
            </a:br>
            <a:r>
              <a:rPr lang="en-US" altLang="zh-CN" sz="2665"/>
              <a:t>D. </a:t>
            </a:r>
            <a:r>
              <a:rPr lang="zh-CN" altLang="en-US" sz="2665"/>
              <a:t>土地革命</a:t>
            </a:r>
            <a:br>
              <a:rPr lang="zh-CN" altLang="en-US" sz="2665"/>
            </a:br>
            <a:r>
              <a:rPr lang="en-US" altLang="zh-CN" sz="2665"/>
              <a:t>E. </a:t>
            </a:r>
            <a:r>
              <a:rPr lang="zh-CN" altLang="en-US" sz="2665"/>
              <a:t>群众路线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AE</a:t>
            </a:r>
            <a:r>
              <a:rPr lang="zh-CN" altLang="en-US">
                <a:sym typeface="+mn-ea"/>
              </a:rPr>
              <a:t>）</a:t>
            </a:r>
          </a:p>
        </p:txBody>
      </p:sp>
      <p:sp>
        <p:nvSpPr>
          <p:cNvPr id="2" name="标题 1"/>
          <p:cNvSpPr>
            <a:spLocks noGrp="1"/>
          </p:cNvSpPr>
          <p:nvPr>
            <p:ph type="ctrTitle"/>
          </p:nvPr>
        </p:nvSpPr>
        <p:spPr>
          <a:xfrm>
            <a:off x="441325" y="1010920"/>
            <a:ext cx="11320145" cy="4023360"/>
          </a:xfrm>
        </p:spPr>
        <p:txBody>
          <a:bodyPr>
            <a:normAutofit fontScale="90000"/>
          </a:bodyPr>
          <a:lstStyle/>
          <a:p>
            <a:pPr algn="l">
              <a:lnSpc>
                <a:spcPct val="140000"/>
              </a:lnSpc>
            </a:pPr>
            <a:r>
              <a:rPr lang="en-US" altLang="zh-CN" sz="2665"/>
              <a:t>20.</a:t>
            </a:r>
            <a:r>
              <a:rPr lang="zh-CN" altLang="en-US" sz="2665"/>
              <a:t>毛泽东在总结中国革命经验的基础上，系统地论述了统一战线、武装斗争和党的建设三者之间的关系。以下内容中，对三者关系表述正确的有（</a:t>
            </a:r>
            <a:r>
              <a:rPr lang="en-US" altLang="zh-CN" sz="2665"/>
              <a:t>   </a:t>
            </a:r>
            <a:r>
              <a:rPr lang="zh-CN" altLang="en-US" sz="2665"/>
              <a:t>）。</a:t>
            </a:r>
            <a:br>
              <a:rPr lang="zh-CN" altLang="en-US" sz="2665"/>
            </a:br>
            <a:r>
              <a:rPr lang="en-US" altLang="zh-CN" sz="2665"/>
              <a:t>A. </a:t>
            </a:r>
            <a:r>
              <a:rPr lang="zh-CN" altLang="en-US" sz="2665"/>
              <a:t>统一战线和武装斗争是中国革命的两个基本特点，是战胜敌人的两个基本武器</a:t>
            </a:r>
            <a:br>
              <a:rPr lang="zh-CN" altLang="en-US" sz="2665"/>
            </a:br>
            <a:r>
              <a:rPr lang="en-US" altLang="zh-CN" sz="2665"/>
              <a:t>B. </a:t>
            </a:r>
            <a:r>
              <a:rPr lang="zh-CN" altLang="en-US" sz="2665"/>
              <a:t>党的建设和武装斗争是中国革命的两个基本特点，是战胜敌人的两个基本武器</a:t>
            </a:r>
            <a:br>
              <a:rPr lang="zh-CN" altLang="en-US" sz="2665"/>
            </a:br>
            <a:r>
              <a:rPr lang="en-US" altLang="zh-CN" sz="2665"/>
              <a:t>C. </a:t>
            </a:r>
            <a:r>
              <a:rPr lang="zh-CN" altLang="en-US" sz="2665"/>
              <a:t>统一战线和党的建设是中国革命的两个基本特点，是战胜敌人的两个基本武器</a:t>
            </a:r>
            <a:br>
              <a:rPr lang="zh-CN" altLang="en-US" sz="2665"/>
            </a:br>
            <a:r>
              <a:rPr lang="en-US" altLang="zh-CN" sz="2665"/>
              <a:t>D. </a:t>
            </a:r>
            <a:r>
              <a:rPr lang="zh-CN" altLang="en-US" sz="2665"/>
              <a:t>统一战线是掌握党的建设和武装斗争这两个武器以实行对敌冲锋陷阵的英勇战士</a:t>
            </a:r>
            <a:br>
              <a:rPr lang="zh-CN" altLang="en-US" sz="2665"/>
            </a:br>
            <a:r>
              <a:rPr lang="en-US" altLang="zh-CN" sz="2665"/>
              <a:t>E. </a:t>
            </a:r>
            <a:r>
              <a:rPr lang="zh-CN" altLang="en-US" sz="2665"/>
              <a:t>党的建设是掌握统一战线和武装斗争这两个武器以实行对敌冲锋陷阵的英勇战士</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ACDE</a:t>
            </a:r>
            <a:r>
              <a:rPr lang="zh-CN" altLang="en-US">
                <a:sym typeface="+mn-ea"/>
              </a:rPr>
              <a:t>）</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dirty="0">
                <a:solidFill>
                  <a:srgbClr val="FF0000"/>
                </a:solidFill>
              </a:rPr>
              <a:t>21.</a:t>
            </a:r>
            <a:r>
              <a:rPr lang="zh-CN" altLang="en-US" sz="2665" dirty="0"/>
              <a:t>新民主主义革命时期，中国共产党领导的统一战线，先后经历了以下几个时期（</a:t>
            </a:r>
            <a:r>
              <a:rPr lang="en-US" altLang="zh-CN" sz="2665" dirty="0"/>
              <a:t>   </a:t>
            </a:r>
            <a:r>
              <a:rPr lang="zh-CN" altLang="en-US" sz="2665" dirty="0"/>
              <a:t>），为新民主主义革命的胜利作出了重要贡献。</a:t>
            </a:r>
            <a:br>
              <a:rPr lang="zh-CN" altLang="en-US" sz="2665" dirty="0"/>
            </a:br>
            <a:r>
              <a:rPr lang="en-US" altLang="zh-CN" sz="2665" dirty="0"/>
              <a:t>A. </a:t>
            </a:r>
            <a:r>
              <a:rPr lang="zh-CN" altLang="en-US" sz="2665" dirty="0"/>
              <a:t>第一次国共合作的统一战线</a:t>
            </a:r>
            <a:br>
              <a:rPr lang="zh-CN" altLang="en-US" sz="2665" dirty="0"/>
            </a:br>
            <a:r>
              <a:rPr lang="en-US" altLang="zh-CN" sz="2665" dirty="0"/>
              <a:t>B. </a:t>
            </a:r>
            <a:r>
              <a:rPr lang="zh-CN" altLang="en-US" sz="2665" dirty="0"/>
              <a:t>各革命阶级联合的统一战线</a:t>
            </a:r>
            <a:br>
              <a:rPr lang="zh-CN" altLang="en-US" sz="2665" dirty="0"/>
            </a:br>
            <a:r>
              <a:rPr lang="en-US" altLang="zh-CN" sz="2665" dirty="0"/>
              <a:t>C. </a:t>
            </a:r>
            <a:r>
              <a:rPr lang="zh-CN" altLang="en-US" sz="2665" dirty="0"/>
              <a:t>工农民主统一战线</a:t>
            </a:r>
            <a:br>
              <a:rPr lang="zh-CN" altLang="en-US" sz="2665" dirty="0"/>
            </a:br>
            <a:r>
              <a:rPr lang="en-US" altLang="zh-CN" sz="2665" dirty="0"/>
              <a:t>D. </a:t>
            </a:r>
            <a:r>
              <a:rPr lang="zh-CN" altLang="en-US" sz="2665" dirty="0"/>
              <a:t>抗日民族统一战线</a:t>
            </a:r>
            <a:br>
              <a:rPr lang="zh-CN" altLang="en-US" sz="2665" dirty="0"/>
            </a:br>
            <a:r>
              <a:rPr lang="en-US" altLang="zh-CN" sz="2665" dirty="0"/>
              <a:t>E. </a:t>
            </a:r>
            <a:r>
              <a:rPr lang="zh-CN" altLang="en-US" sz="2665" dirty="0"/>
              <a:t>人民民主统一战线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ABCDE</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a:t>22.</a:t>
            </a:r>
            <a:r>
              <a:rPr lang="zh-CN" altLang="en-US" sz="2665"/>
              <a:t>统一战线是无产阶级政党策略思想的重要内容。在半殖民地半封建的中国社会建立统一战线的</a:t>
            </a:r>
            <a:r>
              <a:rPr lang="zh-CN" altLang="en-US" sz="2665" u="sng">
                <a:solidFill>
                  <a:srgbClr val="FF0000"/>
                </a:solidFill>
              </a:rPr>
              <a:t>必要性</a:t>
            </a:r>
            <a:r>
              <a:rPr lang="zh-CN" altLang="en-US" sz="2665"/>
              <a:t>在于（</a:t>
            </a:r>
            <a:r>
              <a:rPr lang="en-US" altLang="zh-CN" sz="2665"/>
              <a:t>    </a:t>
            </a:r>
            <a:r>
              <a:rPr lang="zh-CN" altLang="en-US" sz="2665"/>
              <a:t>）。</a:t>
            </a:r>
            <a:br>
              <a:rPr lang="zh-CN" altLang="en-US" sz="2665"/>
            </a:br>
            <a:r>
              <a:rPr lang="en-US" altLang="zh-CN" sz="2665"/>
              <a:t>A. </a:t>
            </a:r>
            <a:r>
              <a:rPr lang="zh-CN" altLang="en-US" sz="2665"/>
              <a:t>中国半殖民地半封建社会的阶级状况</a:t>
            </a:r>
            <a:br>
              <a:rPr lang="zh-CN" altLang="en-US" sz="2665"/>
            </a:br>
            <a:r>
              <a:rPr lang="en-US" altLang="zh-CN" sz="2665"/>
              <a:t>B. </a:t>
            </a:r>
            <a:r>
              <a:rPr lang="zh-CN" altLang="en-US" sz="2665"/>
              <a:t>近代中国社会是一个两头小中间大的社会</a:t>
            </a:r>
            <a:br>
              <a:rPr lang="zh-CN" altLang="en-US" sz="2665"/>
            </a:br>
            <a:r>
              <a:rPr lang="en-US" altLang="zh-CN" sz="2665"/>
              <a:t>C. </a:t>
            </a:r>
            <a:r>
              <a:rPr lang="zh-CN" altLang="en-US" sz="2665"/>
              <a:t>无产阶级和地主大资产阶级都只占少数，农民、城市小资产阶级及其他中间阶级占多数</a:t>
            </a:r>
            <a:br>
              <a:rPr lang="zh-CN" altLang="en-US" sz="2665"/>
            </a:br>
            <a:r>
              <a:rPr lang="en-US" altLang="zh-CN" sz="2665"/>
              <a:t>D. </a:t>
            </a:r>
            <a:r>
              <a:rPr lang="zh-CN" altLang="en-US" sz="2665"/>
              <a:t>中国革命的长期性、残酷性及其发展的不平衡性</a:t>
            </a:r>
            <a:br>
              <a:rPr lang="zh-CN" altLang="en-US" sz="2665"/>
            </a:br>
            <a:r>
              <a:rPr lang="en-US" altLang="zh-CN" sz="2665"/>
              <a:t>E. </a:t>
            </a:r>
            <a:r>
              <a:rPr lang="zh-CN" altLang="en-US" sz="2665"/>
              <a:t>中国政治经济发展的不平衡性也造成革命发展的不平衡性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 ABCDE</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fontScale="90000"/>
          </a:bodyPr>
          <a:lstStyle/>
          <a:p>
            <a:pPr algn="l">
              <a:lnSpc>
                <a:spcPct val="140000"/>
              </a:lnSpc>
            </a:pPr>
            <a:r>
              <a:rPr lang="en-US" altLang="zh-CN" sz="2665"/>
              <a:t>23.</a:t>
            </a:r>
            <a:r>
              <a:rPr lang="zh-CN" altLang="en-US" sz="2665"/>
              <a:t>在半殖民地半封建的中国社会，无产阶级及其政党建立和发展统一战线的可能性在于（</a:t>
            </a:r>
            <a:r>
              <a:rPr lang="en-US" altLang="zh-CN" sz="2665"/>
              <a:t> </a:t>
            </a:r>
            <a:r>
              <a:rPr lang="zh-CN" altLang="en-US" sz="2665"/>
              <a:t>）。</a:t>
            </a:r>
            <a:br>
              <a:rPr lang="zh-CN" altLang="en-US" sz="2665"/>
            </a:br>
            <a:r>
              <a:rPr lang="en-US" altLang="zh-CN" sz="2665"/>
              <a:t>A. </a:t>
            </a:r>
            <a:r>
              <a:rPr lang="zh-CN" altLang="en-US" sz="2665"/>
              <a:t>近人中国社会诸多矛盾的交织</a:t>
            </a:r>
            <a:br>
              <a:rPr lang="zh-CN" altLang="en-US" sz="2665"/>
            </a:br>
            <a:r>
              <a:rPr lang="en-US" altLang="zh-CN" sz="2665"/>
              <a:t>B. </a:t>
            </a:r>
            <a:r>
              <a:rPr lang="zh-CN" altLang="en-US" sz="2665"/>
              <a:t>近代中国社会最大的压迫是民族压迫</a:t>
            </a:r>
            <a:br>
              <a:rPr lang="zh-CN" altLang="en-US" sz="2665"/>
            </a:br>
            <a:r>
              <a:rPr lang="en-US" altLang="zh-CN" sz="2665"/>
              <a:t>C. </a:t>
            </a:r>
            <a:r>
              <a:rPr lang="zh-CN" altLang="en-US" sz="2665"/>
              <a:t>一切爱国的、不愿受帝国主义奴役的人们能够团结起来反抗民族压迫</a:t>
            </a:r>
            <a:br>
              <a:rPr lang="zh-CN" altLang="en-US" sz="2665"/>
            </a:br>
            <a:r>
              <a:rPr lang="en-US" altLang="zh-CN" sz="2665"/>
              <a:t>D. </a:t>
            </a:r>
            <a:r>
              <a:rPr lang="zh-CN" altLang="en-US" sz="2665"/>
              <a:t>民族资产阶级在一定时期和一定程度上能够参加反帝反封建的革命斗争</a:t>
            </a:r>
            <a:br>
              <a:rPr lang="zh-CN" altLang="en-US" sz="2665"/>
            </a:br>
            <a:r>
              <a:rPr lang="en-US" altLang="zh-CN" sz="2665"/>
              <a:t>E. </a:t>
            </a:r>
            <a:r>
              <a:rPr lang="zh-CN" altLang="en-US" sz="2665"/>
              <a:t>官僚资产阶级集团也可能在一定程度上和一定时期内参加统一战线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dirty="0">
                <a:solidFill>
                  <a:srgbClr val="FF0000"/>
                </a:solidFill>
              </a:rPr>
              <a:t>24.</a:t>
            </a:r>
            <a:r>
              <a:rPr lang="zh-CN" altLang="en-US" sz="2665" dirty="0"/>
              <a:t>总结新民主主义革命时期，党建立、巩固和发展统一战线的实践经验，主要是（）。</a:t>
            </a:r>
            <a:br>
              <a:rPr lang="zh-CN" altLang="en-US" sz="2665" dirty="0"/>
            </a:br>
            <a:r>
              <a:rPr lang="en-US" altLang="zh-CN" sz="2665" dirty="0"/>
              <a:t>A. </a:t>
            </a:r>
            <a:r>
              <a:rPr lang="zh-CN" altLang="en-US" sz="2665" dirty="0"/>
              <a:t>建立巩固的工农联盟</a:t>
            </a:r>
            <a:br>
              <a:rPr lang="zh-CN" altLang="en-US" sz="2665" dirty="0"/>
            </a:br>
            <a:r>
              <a:rPr lang="en-US" altLang="zh-CN" sz="2665" dirty="0"/>
              <a:t>B. </a:t>
            </a:r>
            <a:r>
              <a:rPr lang="zh-CN" altLang="en-US" sz="2665" dirty="0"/>
              <a:t>正确对待资产阶级，对资产阶级实行既联合又斗争的策略</a:t>
            </a:r>
            <a:br>
              <a:rPr lang="zh-CN" altLang="en-US" sz="2665" dirty="0"/>
            </a:br>
            <a:r>
              <a:rPr lang="en-US" altLang="zh-CN" sz="2665" dirty="0"/>
              <a:t>C. </a:t>
            </a:r>
            <a:r>
              <a:rPr lang="zh-CN" altLang="en-US" sz="2665" dirty="0"/>
              <a:t>采取区别对待的方针。在革命进程中，要坚持发展进步势力、争取中间势力、孤立顽固势力的策略方针</a:t>
            </a:r>
            <a:br>
              <a:rPr lang="zh-CN" altLang="en-US" sz="2665" dirty="0"/>
            </a:br>
            <a:r>
              <a:rPr lang="en-US" altLang="zh-CN" sz="2665" dirty="0"/>
              <a:t>D. </a:t>
            </a:r>
            <a:r>
              <a:rPr lang="zh-CN" altLang="en-US" sz="2665" dirty="0"/>
              <a:t>坚持独立自主的原则</a:t>
            </a:r>
            <a:br>
              <a:rPr lang="zh-CN" altLang="en-US" sz="2665" dirty="0"/>
            </a:br>
            <a:r>
              <a:rPr lang="en-US" altLang="zh-CN" sz="2665" dirty="0"/>
              <a:t>E. </a:t>
            </a:r>
            <a:r>
              <a:rPr lang="zh-CN" altLang="en-US" sz="2665" dirty="0"/>
              <a:t>坚持武装斗争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BCDE</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dirty="0">
                <a:solidFill>
                  <a:srgbClr val="FF0000"/>
                </a:solidFill>
              </a:rPr>
              <a:t>25.</a:t>
            </a:r>
            <a:r>
              <a:rPr lang="zh-CN" altLang="en-US" sz="2665" dirty="0"/>
              <a:t>中国共产党在新民主主义革命时期，加强党自身建设的实践中积累了丰富的经验，归纳起来主要有（</a:t>
            </a:r>
            <a:r>
              <a:rPr lang="en-US" altLang="zh-CN" sz="2665" dirty="0"/>
              <a:t>   </a:t>
            </a:r>
            <a:r>
              <a:rPr lang="zh-CN" altLang="en-US" sz="2665" dirty="0"/>
              <a:t>）。</a:t>
            </a:r>
            <a:br>
              <a:rPr lang="zh-CN" altLang="en-US" sz="2665" dirty="0"/>
            </a:br>
            <a:r>
              <a:rPr lang="en-US" altLang="zh-CN" sz="2665" dirty="0"/>
              <a:t>A. </a:t>
            </a:r>
            <a:r>
              <a:rPr lang="zh-CN" altLang="en-US" sz="2665" dirty="0"/>
              <a:t>必须把建立统一战线放在首位</a:t>
            </a:r>
            <a:br>
              <a:rPr lang="zh-CN" altLang="en-US" sz="2665" dirty="0"/>
            </a:br>
            <a:r>
              <a:rPr lang="en-US" altLang="zh-CN" sz="2665" dirty="0"/>
              <a:t>B. </a:t>
            </a:r>
            <a:r>
              <a:rPr lang="zh-CN" altLang="en-US" sz="2665" dirty="0"/>
              <a:t>必须把思想建设始终放在党的建设的首位</a:t>
            </a:r>
            <a:br>
              <a:rPr lang="zh-CN" altLang="en-US" sz="2665" dirty="0"/>
            </a:br>
            <a:r>
              <a:rPr lang="en-US" altLang="zh-CN" sz="2665" dirty="0"/>
              <a:t>C. </a:t>
            </a:r>
            <a:r>
              <a:rPr lang="zh-CN" altLang="en-US" sz="2665" dirty="0"/>
              <a:t>必须在任何时候都重视党的组织建设</a:t>
            </a:r>
            <a:br>
              <a:rPr lang="zh-CN" altLang="en-US" sz="2665" dirty="0"/>
            </a:br>
            <a:r>
              <a:rPr lang="en-US" altLang="zh-CN" sz="2665" dirty="0"/>
              <a:t>D. </a:t>
            </a:r>
            <a:r>
              <a:rPr lang="zh-CN" altLang="en-US" sz="2665" dirty="0"/>
              <a:t>必须重视党的作风建设</a:t>
            </a:r>
            <a:br>
              <a:rPr lang="zh-CN" altLang="en-US" sz="2665" dirty="0"/>
            </a:br>
            <a:r>
              <a:rPr lang="en-US" altLang="zh-CN" sz="2665" dirty="0"/>
              <a:t>E. </a:t>
            </a:r>
            <a:r>
              <a:rPr lang="zh-CN" altLang="en-US" sz="2665" dirty="0"/>
              <a:t>必须联系党的政治路线加强党的建设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ACD</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a:t>26.</a:t>
            </a:r>
            <a:r>
              <a:rPr lang="zh-CN" altLang="en-US" sz="2665"/>
              <a:t>党在领导新民主主义革命的过程中，把党的建设作为一项</a:t>
            </a:r>
            <a:r>
              <a:rPr lang="en-US" altLang="zh-CN" sz="2665"/>
              <a:t>“</a:t>
            </a:r>
            <a:r>
              <a:rPr lang="zh-CN" altLang="en-US" sz="2665"/>
              <a:t>伟大的工程</a:t>
            </a:r>
            <a:r>
              <a:rPr lang="en-US" altLang="zh-CN" sz="2665"/>
              <a:t>”</a:t>
            </a:r>
            <a:r>
              <a:rPr lang="zh-CN" altLang="en-US" sz="2665"/>
              <a:t>，逐步形成了（</a:t>
            </a:r>
            <a:r>
              <a:rPr lang="en-US" altLang="zh-CN" sz="2665"/>
              <a:t>  </a:t>
            </a:r>
            <a:r>
              <a:rPr lang="zh-CN" altLang="en-US" sz="2665"/>
              <a:t>）的三大优良作风，这是中国共产党区别于其他任何政党的显著标志。</a:t>
            </a:r>
            <a:br>
              <a:rPr lang="zh-CN" altLang="en-US" sz="2665"/>
            </a:br>
            <a:r>
              <a:rPr lang="en-US" altLang="zh-CN" sz="2665"/>
              <a:t>A. </a:t>
            </a:r>
            <a:r>
              <a:rPr lang="zh-CN" altLang="en-US" sz="2665"/>
              <a:t>理论联系实际</a:t>
            </a:r>
            <a:br>
              <a:rPr lang="zh-CN" altLang="en-US" sz="2665"/>
            </a:br>
            <a:r>
              <a:rPr lang="en-US" altLang="zh-CN" sz="2665"/>
              <a:t>B. </a:t>
            </a:r>
            <a:r>
              <a:rPr lang="zh-CN" altLang="en-US" sz="2665"/>
              <a:t>领导农民发动武装斗争</a:t>
            </a:r>
            <a:br>
              <a:rPr lang="zh-CN" altLang="en-US" sz="2665"/>
            </a:br>
            <a:r>
              <a:rPr lang="en-US" altLang="zh-CN" sz="2665"/>
              <a:t>C. </a:t>
            </a:r>
            <a:r>
              <a:rPr lang="zh-CN" altLang="en-US" sz="2665"/>
              <a:t>密切联系群众</a:t>
            </a:r>
            <a:br>
              <a:rPr lang="zh-CN" altLang="en-US" sz="2665"/>
            </a:br>
            <a:r>
              <a:rPr lang="en-US" altLang="zh-CN" sz="2665"/>
              <a:t>D. </a:t>
            </a:r>
            <a:r>
              <a:rPr lang="zh-CN" altLang="en-US" sz="2665"/>
              <a:t>批评与自我批评相结合</a:t>
            </a:r>
            <a:br>
              <a:rPr lang="zh-CN" altLang="en-US" sz="2665"/>
            </a:br>
            <a:r>
              <a:rPr lang="en-US" altLang="zh-CN" sz="2665"/>
              <a:t>E. </a:t>
            </a:r>
            <a:r>
              <a:rPr lang="zh-CN" altLang="en-US" sz="2665"/>
              <a:t>坚持群众路线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ABCDE</a:t>
            </a:r>
            <a:r>
              <a:rPr lang="zh-CN" altLang="en-US">
                <a:sym typeface="+mn-ea"/>
              </a:rPr>
              <a:t>）</a:t>
            </a:r>
          </a:p>
        </p:txBody>
      </p:sp>
      <p:sp>
        <p:nvSpPr>
          <p:cNvPr id="2" name="标题 1"/>
          <p:cNvSpPr>
            <a:spLocks noGrp="1"/>
          </p:cNvSpPr>
          <p:nvPr>
            <p:ph type="ctrTitle"/>
          </p:nvPr>
        </p:nvSpPr>
        <p:spPr>
          <a:xfrm>
            <a:off x="516890" y="834390"/>
            <a:ext cx="11122660" cy="4757420"/>
          </a:xfrm>
        </p:spPr>
        <p:txBody>
          <a:bodyPr>
            <a:normAutofit fontScale="90000"/>
          </a:bodyPr>
          <a:lstStyle/>
          <a:p>
            <a:pPr algn="l">
              <a:lnSpc>
                <a:spcPct val="140000"/>
              </a:lnSpc>
            </a:pPr>
            <a:r>
              <a:rPr lang="en-US" altLang="zh-CN" sz="2665"/>
              <a:t>27.</a:t>
            </a:r>
            <a:r>
              <a:rPr lang="zh-CN" altLang="en-US" sz="2665"/>
              <a:t>关于近代中国革命的时代特征，以下表述正确的有（）。</a:t>
            </a:r>
            <a:br>
              <a:rPr lang="zh-CN" altLang="en-US" sz="2665"/>
            </a:br>
            <a:r>
              <a:rPr lang="en-US" altLang="zh-CN" sz="2665"/>
              <a:t>A. </a:t>
            </a:r>
            <a:r>
              <a:rPr lang="zh-CN" altLang="en-US" sz="2665"/>
              <a:t>以俄国十月革命为标志，近代中国革命的时代背景发生了根本转换</a:t>
            </a:r>
            <a:br>
              <a:rPr lang="zh-CN" altLang="en-US" sz="2665"/>
            </a:br>
            <a:r>
              <a:rPr lang="en-US" altLang="zh-CN" sz="2665"/>
              <a:t>B. </a:t>
            </a:r>
            <a:r>
              <a:rPr lang="zh-CN" altLang="en-US" sz="2665"/>
              <a:t>俄国十月革命开辟了世界无产阶级社会主义革命的新纪元，标志着人类历史开始了由资本主义向社会主义转变的进程</a:t>
            </a:r>
            <a:br>
              <a:rPr lang="zh-CN" altLang="en-US" sz="2665"/>
            </a:br>
            <a:r>
              <a:rPr lang="en-US" altLang="zh-CN" sz="2665"/>
              <a:t>C. </a:t>
            </a:r>
            <a:r>
              <a:rPr lang="zh-CN" altLang="en-US" sz="2665"/>
              <a:t>在十月革命的影响下，以五四运动为标志，中国革命进入新民主主义革命阶段</a:t>
            </a:r>
            <a:br>
              <a:rPr lang="zh-CN" altLang="en-US" sz="2665"/>
            </a:br>
            <a:r>
              <a:rPr lang="en-US" altLang="zh-CN" sz="2665"/>
              <a:t>D. </a:t>
            </a:r>
            <a:r>
              <a:rPr lang="zh-CN" altLang="en-US" sz="2665"/>
              <a:t>近代中国革命，从原来属于旧的世界资产阶级民主主义革命的范畴转变为属于新的资产阶级民主主义革命的范畴</a:t>
            </a:r>
            <a:br>
              <a:rPr lang="zh-CN" altLang="en-US" sz="2665"/>
            </a:br>
            <a:r>
              <a:rPr lang="en-US" altLang="zh-CN" sz="2665"/>
              <a:t>E. </a:t>
            </a:r>
            <a:r>
              <a:rPr lang="zh-CN" altLang="en-US" sz="2665"/>
              <a:t>新民主主义革命处于世界无产阶级社会主义革命的时代，成为世界无产阶级社会主义革命的一部分</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614805" y="5697220"/>
            <a:ext cx="9144000" cy="796290"/>
          </a:xfrm>
        </p:spPr>
        <p:txBody>
          <a:bodyPr vert="horz" lIns="91440" tIns="45720" rIns="91440" bIns="45720" rtlCol="0">
            <a:normAutofit/>
          </a:bodyPr>
          <a:lstStyle/>
          <a:p>
            <a:pPr lvl="0" algn="ctr">
              <a:buClrTx/>
              <a:buSzTx/>
            </a:pPr>
            <a:r>
              <a:rPr lang="zh-CN" altLang="en-US">
                <a:sym typeface="+mn-ea"/>
              </a:rPr>
              <a:t>答案：（ </a:t>
            </a:r>
            <a:r>
              <a:rPr lang="en-US" altLang="zh-CN">
                <a:sym typeface="+mn-ea"/>
              </a:rPr>
              <a:t>ABCDE</a:t>
            </a:r>
            <a:r>
              <a:rPr lang="zh-CN" altLang="en-US">
                <a:sym typeface="+mn-ea"/>
              </a:rPr>
              <a:t> ）</a:t>
            </a:r>
          </a:p>
        </p:txBody>
      </p:sp>
      <p:sp>
        <p:nvSpPr>
          <p:cNvPr id="2" name="标题 1"/>
          <p:cNvSpPr>
            <a:spLocks noGrp="1"/>
          </p:cNvSpPr>
          <p:nvPr>
            <p:ph type="ctrTitle"/>
          </p:nvPr>
        </p:nvSpPr>
        <p:spPr>
          <a:xfrm>
            <a:off x="904240" y="834390"/>
            <a:ext cx="10334625" cy="4757420"/>
          </a:xfrm>
        </p:spPr>
        <p:txBody>
          <a:bodyPr>
            <a:normAutofit/>
          </a:bodyPr>
          <a:lstStyle/>
          <a:p>
            <a:pPr algn="l">
              <a:lnSpc>
                <a:spcPct val="140000"/>
              </a:lnSpc>
            </a:pPr>
            <a:r>
              <a:rPr lang="en-US" altLang="zh-CN" sz="2665"/>
              <a:t>28.</a:t>
            </a:r>
            <a:r>
              <a:rPr lang="zh-CN" altLang="en-US" sz="2665"/>
              <a:t>关于党在新民主主义革命时期开展武装斗争、建设人民军队的经验，以下表述正确的是（</a:t>
            </a:r>
            <a:r>
              <a:rPr lang="en-US" altLang="zh-CN" sz="2665"/>
              <a:t>  </a:t>
            </a:r>
            <a:r>
              <a:rPr lang="zh-CN" altLang="en-US" sz="2665"/>
              <a:t>）。</a:t>
            </a:r>
            <a:br>
              <a:rPr lang="zh-CN" altLang="en-US" sz="2665"/>
            </a:br>
            <a:r>
              <a:rPr lang="en-US" altLang="zh-CN" sz="2665"/>
              <a:t>A. </a:t>
            </a:r>
            <a:r>
              <a:rPr lang="zh-CN" altLang="en-US" sz="2665"/>
              <a:t>要坚持党对军队的绝对领导</a:t>
            </a:r>
            <a:br>
              <a:rPr lang="zh-CN" altLang="en-US" sz="2665"/>
            </a:br>
            <a:r>
              <a:rPr lang="en-US" altLang="zh-CN" sz="2665"/>
              <a:t>B. </a:t>
            </a:r>
            <a:r>
              <a:rPr lang="zh-CN" altLang="en-US" sz="2665"/>
              <a:t>要建设全心全意为人民服务的人民军队</a:t>
            </a:r>
            <a:br>
              <a:rPr lang="zh-CN" altLang="en-US" sz="2665"/>
            </a:br>
            <a:r>
              <a:rPr lang="en-US" altLang="zh-CN" sz="2665"/>
              <a:t>C. </a:t>
            </a:r>
            <a:r>
              <a:rPr lang="zh-CN" altLang="en-US" sz="2665"/>
              <a:t>要开展革命的政治工作</a:t>
            </a:r>
            <a:br>
              <a:rPr lang="zh-CN" altLang="en-US" sz="2665"/>
            </a:br>
            <a:r>
              <a:rPr lang="en-US" altLang="zh-CN" sz="2665"/>
              <a:t>D. </a:t>
            </a:r>
            <a:r>
              <a:rPr lang="zh-CN" altLang="en-US" sz="2665"/>
              <a:t>军队政治工作实行官兵一致、军民一致和瓦解敌军的原则</a:t>
            </a:r>
            <a:br>
              <a:rPr lang="zh-CN" altLang="en-US" sz="2665"/>
            </a:br>
            <a:r>
              <a:rPr lang="en-US" altLang="zh-CN" sz="2665"/>
              <a:t>E. </a:t>
            </a:r>
            <a:r>
              <a:rPr lang="zh-CN" altLang="en-US" sz="2665"/>
              <a:t>要坚持正确的战略战术原则</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4020</Words>
  <Application>Microsoft Office PowerPoint</Application>
  <PresentationFormat>宽屏</PresentationFormat>
  <Paragraphs>159</Paragraphs>
  <Slides>53</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53</vt:i4>
      </vt:variant>
    </vt:vector>
  </HeadingPairs>
  <TitlesOfParts>
    <vt:vector size="56" baseType="lpstr">
      <vt:lpstr>Arial</vt:lpstr>
      <vt:lpstr>Calibri</vt:lpstr>
      <vt:lpstr>WPS</vt:lpstr>
      <vt:lpstr>1.在半殖民地半封建的近代中国，社会矛盾呈现出错综复杂的状况。在诸多社会矛盾中最主要的矛盾是（  ）。 A. 无产阶级和资产阶级的矛盾 B. 封建主义和人民大众的矛盾 C. 帝国主义和中华民族的矛盾 D. 官僚资产阶级和人民大众的矛盾</vt:lpstr>
      <vt:lpstr>2.（  ）是中国革命的首要对象。 A. 帝国主义 B. 封建主义 C. 官僚资产阶级 D. 资产阶级</vt:lpstr>
      <vt:lpstr>3.总体上说，中国革命的对象是帝国主义、封建主义和官僚资本主义，它们是压在中国人民头上的三座大山。但是，在不同历史阶段，革命的主要对象有所不同。在国共合作的大革命时期，革命的主要对象是（）。 A. 帝国主义支持下的北洋军阀 B. 国民党新军阀 C. 日本帝国主义 D. 美帝国主义支持下的国民党反动派</vt:lpstr>
      <vt:lpstr>4.总体上说，中国革命的对象是帝国主义、封建主义和官僚资本主义，它们是压在中国人民头上的三座大山。但是，在不同历史阶段，革命的主要对象有所不同。在土地革命战争时期，革命的主要对象是（）。 A. 帝国主义支持下的北洋军阀 B. 国民党新军阀 C. 日本帝国主义 D. 美帝国主义支持下的国民党反动派</vt:lpstr>
      <vt:lpstr>5.总体上说，中国革命的对象是帝国主义、封建主义和官僚资本主义，它们是压在中国人民头上的三座大山。但是，在不同历史阶段，革命的主要对象有所不同。在抗日战争时期，革命的主要对象是（）。 A. 帝国主义支持下的北洋军阀 B. 国民党新军阀 C. 日本帝国主义 D. 美帝国主义支持下的国民党反动派</vt:lpstr>
      <vt:lpstr>6.总体上说，中国革命的对象是帝国主义、封建主义和官僚资本主义，它们是压在中国人民头上的三座大山。但是，在不同历史阶段，革命的主要对象有所不同。在解放战争时期，革命的主要对象是（）。 A. 帝国主义支持下的北洋军阀 B. 国民党新军阀 C. 日本帝国主义 D. 美帝国主义支持下的国民党反动派</vt:lpstr>
      <vt:lpstr>7.（）是中国革命最基本的动力，也是新民主主义革命的领导力量。 A. 资产阶级 B. 无产阶级 C. 农民阶级 D. 先进知识分子</vt:lpstr>
      <vt:lpstr>8.新民主主义革命中，（   ）是中国革命的主力军。 A. 工人 B. 农民 C. 知识分子 D. 城市小资产阶级</vt:lpstr>
      <vt:lpstr>9.中国的新民主主义革命实质上是无产阶级领导下的农民革命。中国革命的基本理论和实践问题都与农民问题紧密地联系着。无产阶级及其政党要实现对各革命阶级的领导，必须建立（），这是实现领导权的关键。 A. 工农武装力量 B. 无产阶级的政权 C. 农村革命根据地 D. 以工农联盟为基础的广泛的统一战线</vt:lpstr>
      <vt:lpstr>10.（  ）是中国革命的基本问题。 A. 统一战线问题 B. 农民问题 C. 农村根据地建设问题 D. 武装斗争问题</vt:lpstr>
      <vt:lpstr>11.近代中国半殖民地半封建社会的性质和中国革命的历史任务，决定了新民主主义革命的性质是（） A. 无产阶级社会主义革命 B. 资产阶级民主主义革命 C. 农民阶级的土地革命 D. 城市小资产阶级的民主革命</vt:lpstr>
      <vt:lpstr>12.新民主主义革命与旧民主主义革命相比有新的内容和特点，集中表现在新民主主义革命处于世界无产阶级社会主义革命的时代，是世界无产阶级社会主义革命的一部分；革命的领导力量是（）。 A. 中国资产阶级及其政党 B. 中国农民阶级及其政党 C. 中国无产阶级及其政党 D. 中国官僚资产阶级及其政党</vt:lpstr>
      <vt:lpstr>13.新民主主义革命与旧民主主义革命相比有新的内容和特点，集中表现在新民主主义革命处于世界无产阶级社会主义革命的时代，是世界无产阶级社会主义革命的一部分；革命的领导力量是中国无产阶级及其政党；革命的指导思想是马克思列宁主义；革命的前途是（）。 A. 自由主义 B. 新民主主义 C. 资本主义 D. 社会主义</vt:lpstr>
      <vt:lpstr>      14.新民主主义革命与社会主义革命性质不同。新民主主义革命仍然属于资产阶级民主主义革命的范畴。它为了推翻帝国主义、封建主义和官僚资本主义的反动统治，在政治上争取和联合民族资产阶级去反对共同的敌人，在经济上（），容许有利于国计民生的私人资本主义发展。 A. 保护民族工商业 B. 进行土地革命 C. 依赖外国资本 D. 利用外国资本</vt:lpstr>
      <vt:lpstr>      15.新民主主义的政治纲领是：推翻帝国主义和封建主义的统治，建立一个（）领导的、以工农联盟为基础的、各革命阶级联合专政的新民主主义的共和国。 A. 民族资产阶级 B. 官僚资产阶级 C. 无产阶级 D. 农民阶级</vt:lpstr>
      <vt:lpstr>16.在领导农村革命根据地的斗争实践中，毛泽东相继写下了《中国的红色政权为什么能够存在？》《井冈山的斗争》《星星之火，可以燎原》 等文章，提出了（）的思想，初步形成了农村包围城市的革命道路理论。 A. 党的建设 B. 工农武装割据 C. 武装斗争 D. 统一战线</vt:lpstr>
      <vt:lpstr>17.1938年11月，（ ），确立了经过长期武装斗争，先占乡村，后取城市，最后夺取全国胜利的革命道路。 A. 党的四大 B. 党的五大 C. 党的六大 D. 党的六届六中全会</vt:lpstr>
      <vt:lpstr>18.人民军队必须以（）为唯一宗旨。坚持这一宗旨，是建设新型人民军队的基本前提，也是人民军队一切行动的根本准则和一切工作的出发点与归宿。 A. 每战必胜 B. 全心全意为人民服务 C. 团结大多数 D. 武装战胜一切敌人</vt:lpstr>
      <vt:lpstr>19.加强党的组织建设，根本的是要贯彻（）这一根本组织原则，坚持在民主基础上的集中和在集中指导下的民主相结合，个人服从组织，少数服从多数，下级服从上级，全党服从中央。 A. 民主集中制 B. 集体领导和个人分工负责相结合 C. 团结大多数 D. 群众路线</vt:lpstr>
      <vt:lpstr>      20.毛泽东在《中国革命和中国共产党》这篇著作中强调，认清和解决一切革命问题的基本的根据是（  ）。 A. 坚持实事求是 B. 坚持认清中国的国情 C. 坚持群众路线 D. 坚持独立自主</vt:lpstr>
      <vt:lpstr>21.从1840年鸦片战争爆发到1949年中华人民共和国成立前夕的历史，是中国近代史。近代中国最基本的国情，即近代中国的社会性质是（  ）。 A. 封建社会 B. 资本主义社会 C. 新民主主义社会 D. 半殖民地半封建社会</vt:lpstr>
      <vt:lpstr>22.新民主主义革命理论得以形成的实践基础是（  ）。 A. 中国革命和建设的实践 B. 新民主主义革命的实践 C. 社会主义革命的实践 D. 社会主义建设早期探索的实践</vt:lpstr>
      <vt:lpstr>23.（  ）是中国革命的中心问题，也是新民主主义革命理论的核心问题。 A. 农民问题 B. 统一战线 C. 无产阶级的领导权 D. 武装斗争</vt:lpstr>
      <vt:lpstr>24.1940年，毛泽东在《新民主主义论》中，阐述了新民主主义的政治、经济和文化。1945年，他在党的七大所作的政治报告（  ）中，进一步把新民主主义的政治、经济和文化与党的基本纲领联系起来，进行了具体阐述，形成了新民主主义的基本纲领。 A. 《论新阶段》 B. 《改造我们的学习》 C. 《论联合政府》 D. 《中国共产党和中国革命》</vt:lpstr>
      <vt:lpstr>25.新民主主义国家的国体是（  ）。 A. 资产阶级专政 B. 无产阶级专政 C. 人民民主专政 D. 无产阶级领导的以工农联盟为基础的各革命阶级的联合专政</vt:lpstr>
      <vt:lpstr>1.在半殖民地半封建的近代中国，占支配地位的主要矛盾是（）的矛盾。 A. 无产阶级和资产阶级 B. 帝国主义和中华民族 C. 封建主义和人民大众 D. 官僚资产阶级和人民大众 E. 官僚资产阶级和民族资产阶级</vt:lpstr>
      <vt:lpstr>2. 新民主主义革命总路线反映了中国革命的基本规律，指明了中国革命的(  )，是新民主主义革命的指导路线。 A. 时代背景 B. 对象 C. 动力 D. 领导力量 E. 性质和前途</vt:lpstr>
      <vt:lpstr>3.分清敌友，这是革命的首要问题。近代中国社会的性质和主要矛盾，决定了中国革命的主要敌人就是（）。 A. 民族资本主义 B. 帝国主义 C. 封建主义 D. 城市小资产阶级 E. 官僚资本主义</vt:lpstr>
      <vt:lpstr>4.新民主主义革命的动力包括（ ）。 A. 无产阶级 B. 官僚资产阶级 C. 农民阶级 D. 城市小资产阶级 E. 民族资产阶级</vt:lpstr>
      <vt:lpstr>5.城市小资产阶级是无产阶级的可靠同盟者。城市小资产阶级，包括（  ）。 A. 民族资产阶级 B. 广大的知识分子 C. 小商人 D. 手工业者 E. 自由职业者</vt:lpstr>
      <vt:lpstr>      6.在新民主主义革命中，无产阶级及其政党要实现对各革命阶级的领导，需要注重以下几个方面（）。 A. 必须不惜一切代价保持同资产阶级的联盟 B. 必须建立以工农联盟为基础的广泛的统一战线，这是实现领导权的关键 C. 无产阶级在同资产阶级建立统一战线时，必须坚持独立自主的原则，实行又联合又斗争的方针，这是坚持领导权的基本策略 D. 必须建立和发展人民的革命武装力量 E. 必须加强无产阶级政党的建设，这是是中国共产党实现领导权的根本保证</vt:lpstr>
      <vt:lpstr>7.无产阶级及其政党对中国革命的领导权不是自然而然得来的，而是在与资产阶级争夺领导权的斗争中实现的。在同资产阶级建立统一战线时，坚持无产阶级领导权的基本策略包括（  ）。 A. 一切为了统一战线 B. 一切服从统一战线 C. 必须坚持独立自主的原则 D. 保持党在思想上、政治上和组织上的独立性 E. 实行又联合又斗争的方针</vt:lpstr>
      <vt:lpstr> 8.新民主主义革命与旧民主主义革命相比有新的内容和特点，集中表现在（  ）。 A. 新民主主义革命处于世界无产阶级社会主义革命的时代，是世界无产阶级社会主义革命的一部分 B. 革命的领导力量是中国无产阶级及其政党 C. 革命的指导思想是马克思列宁主义 D. 革命的前途是资本主义 E. 革命的前途是社会主义</vt:lpstr>
      <vt:lpstr>9.社会主义革命是无产阶级性质的革命，它所要实现的目标是（）。 A. 建立无产阶级领导的各革命阶级的联合专政 B. 消灭资本主义剥削制度 C. 在政治上，争取和联合民族资产阶级去反对共同的敌人 D. 在经济上，保护民族工商业，容许有利于国计民生的私人资本主义发展 E. 改造小生产的私有制</vt:lpstr>
      <vt:lpstr>10.新民主主义革命与社会主义革命又是互相联系、紧密衔接的，以下各选项中，对二者关系认识正确的是（  ）。 A. 中间不容横插一个资产阶级专政 B. 新民主主义革命和社会主义革命好比是文章的上篇和下篇 C. 民主主义革命是社会主义革命的必要准备 D. 社会主义革命是民主主义革命的必然趋势 E. 新民主主义革命与社会主义革命必须同时完成，毕其功于一役</vt:lpstr>
      <vt:lpstr>11.新民主主义的经济纲领是（  ）。 A. 没收一切私有财产 B. 没收封建地主阶级的土地归农民所有 C. 没收官僚资产阶级的垄断资本归新民主主义的国家所有 D. 保护民族工商业 E. 没收帝国主义在华资本</vt:lpstr>
      <vt:lpstr>12.保护民族工商业，是新民主主义经济纲领中极具特色的一项内容。在新民主主义条件下保护民族工商业，发展资本主义，是由（  ）所决定的。 A. 中国落后的生产力 B. 社会主义革命的性质 C. 新民主主义革命的性质 D. 新民主主义国家的人民 E. 资本主义发展的特点</vt:lpstr>
      <vt:lpstr>13.以下对新民主主义文化的表述，正确的有（ ） A. 新民主主义文化无产阶级领导的人民大众的反帝反封建的文化 B. 新民主主义文化是资产阶级的文化 C. 新民主主义文化是为少数社会精英服务的文化 D. 新民主主义文化是民族的科学的大众的文化 E. 新民主主义文化是社会主义的文化</vt:lpstr>
      <vt:lpstr>14.中国革命必须走农村包围城市、武装夺取政权的道路，是由（）决定的。 A. 中国所处的时代特点 B. 中国革命发展的进程 C. 中国具体国情 D. 领导者的积极引导 E. 被领导者的积极支持</vt:lpstr>
      <vt:lpstr>15.中国革命必须走农村包围城市、武装夺取政权的道路，是由（  ）决定的。 A. 中国所处的时代特点 B. 中国革命发展的进程 C. 中国具体国情 D. 领导者的积极引导 E. 被领导者的积极支持</vt:lpstr>
      <vt:lpstr>16.党之所以能够深入农村积蓄革命力量，建设农村革命根据地，最终实现农村包围城市并夺取政权，是因为以下几个方面（   ）。 A. 近代中国是多个帝国主义间接统治的经济落后的半殖民地国家，社会政治经济发展极端不平衡 B. 人民革命愿望强烈，革命的群众基础好 C. 全国革命形势的继续向前发展 D. 相当力量正式红军的存在 E. 党的领导的有力量及其政策的不错误</vt:lpstr>
      <vt:lpstr>17.中国革命走农村包围城市、武装夺取政权的道路，根本在于处理好（  ）的关系 A. 统一战线 B. 土地革命 C. 武装斗争 D. 党的建设 E. 农村革命根据地建设</vt:lpstr>
      <vt:lpstr>18.对于农村包围城市、武装夺取政权道路理论的表述正确的有（   ）。 A. 土地革命是中国革命的基本内容 B. 武装斗争是中国革命的主要形式，是农村根据地建设和土地革命的强有力保证 C. 农村革命根据地是中国革命的战略阵地，是进行武装斗争和开展土地革命的依托 D. 在中国共产党的领导下，实现土地革命、武装斗争、农村革命根据地建设三者的密切结合和有机统一 E. 在农村分散打游击，单纯搞武装斗争</vt:lpstr>
      <vt:lpstr>19.毛泽东在《〈共产党人〉发刊词》一文中，提出了（   ）是党在中国革命中战胜敌人的三个主要的法宝。“正确地理解了这三个问题及其相互关系，就等于正确地领导了全部中国革命。” A. 统一战线 B. 武装斗争 C. 党的建设 D. 土地革命 E. 群众路线</vt:lpstr>
      <vt:lpstr>20.毛泽东在总结中国革命经验的基础上，系统地论述了统一战线、武装斗争和党的建设三者之间的关系。以下内容中，对三者关系表述正确的有（   ）。 A. 统一战线和武装斗争是中国革命的两个基本特点，是战胜敌人的两个基本武器 B. 党的建设和武装斗争是中国革命的两个基本特点，是战胜敌人的两个基本武器 C. 统一战线和党的建设是中国革命的两个基本特点，是战胜敌人的两个基本武器 D. 统一战线是掌握党的建设和武装斗争这两个武器以实行对敌冲锋陷阵的英勇战士 E. 党的建设是掌握统一战线和武装斗争这两个武器以实行对敌冲锋陷阵的英勇战士</vt:lpstr>
      <vt:lpstr>21.新民主主义革命时期，中国共产党领导的统一战线，先后经历了以下几个时期（   ），为新民主主义革命的胜利作出了重要贡献。 A. 第一次国共合作的统一战线 B. 各革命阶级联合的统一战线 C. 工农民主统一战线 D. 抗日民族统一战线 E. 人民民主统一战线</vt:lpstr>
      <vt:lpstr>22.统一战线是无产阶级政党策略思想的重要内容。在半殖民地半封建的中国社会建立统一战线的必要性在于（    ）。 A. 中国半殖民地半封建社会的阶级状况 B. 近代中国社会是一个两头小中间大的社会 C. 无产阶级和地主大资产阶级都只占少数，农民、城市小资产阶级及其他中间阶级占多数 D. 中国革命的长期性、残酷性及其发展的不平衡性 E. 中国政治经济发展的不平衡性也造成革命发展的不平衡性</vt:lpstr>
      <vt:lpstr>23.在半殖民地半封建的中国社会，无产阶级及其政党建立和发展统一战线的可能性在于（ ）。 A. 近人中国社会诸多矛盾的交织 B. 近代中国社会最大的压迫是民族压迫 C. 一切爱国的、不愿受帝国主义奴役的人们能够团结起来反抗民族压迫 D. 民族资产阶级在一定时期和一定程度上能够参加反帝反封建的革命斗争 E. 官僚资产阶级集团也可能在一定程度上和一定时期内参加统一战线</vt:lpstr>
      <vt:lpstr>24.总结新民主主义革命时期，党建立、巩固和发展统一战线的实践经验，主要是（）。 A. 建立巩固的工农联盟 B. 正确对待资产阶级，对资产阶级实行既联合又斗争的策略 C. 采取区别对待的方针。在革命进程中，要坚持发展进步势力、争取中间势力、孤立顽固势力的策略方针 D. 坚持独立自主的原则 E. 坚持武装斗争</vt:lpstr>
      <vt:lpstr>25.中国共产党在新民主主义革命时期，加强党自身建设的实践中积累了丰富的经验，归纳起来主要有（   ）。 A. 必须把建立统一战线放在首位 B. 必须把思想建设始终放在党的建设的首位 C. 必须在任何时候都重视党的组织建设 D. 必须重视党的作风建设 E. 必须联系党的政治路线加强党的建设</vt:lpstr>
      <vt:lpstr>26.党在领导新民主主义革命的过程中，把党的建设作为一项“伟大的工程”，逐步形成了（  ）的三大优良作风，这是中国共产党区别于其他任何政党的显著标志。 A. 理论联系实际 B. 领导农民发动武装斗争 C. 密切联系群众 D. 批评与自我批评相结合 E. 坚持群众路线</vt:lpstr>
      <vt:lpstr>27.关于近代中国革命的时代特征，以下表述正确的有（）。 A. 以俄国十月革命为标志，近代中国革命的时代背景发生了根本转换 B. 俄国十月革命开辟了世界无产阶级社会主义革命的新纪元，标志着人类历史开始了由资本主义向社会主义转变的进程 C. 在十月革命的影响下，以五四运动为标志，中国革命进入新民主主义革命阶段 D. 近代中国革命，从原来属于旧的世界资产阶级民主主义革命的范畴转变为属于新的资产阶级民主主义革命的范畴 E. 新民主主义革命处于世界无产阶级社会主义革命的时代，成为世界无产阶级社会主义革命的一部分</vt:lpstr>
      <vt:lpstr>28.关于党在新民主主义革命时期开展武装斗争、建设人民军队的经验，以下表述正确的是（  ）。 A. 要坚持党对军队的绝对领导 B. 要建设全心全意为人民服务的人民军队 C. 要开展革命的政治工作 D. 军队政治工作实行官兵一致、军民一致和瓦解敌军的原则 E. 要坚持正确的战略战术原则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 欣翰</cp:lastModifiedBy>
  <cp:revision>13</cp:revision>
  <dcterms:created xsi:type="dcterms:W3CDTF">2023-08-09T12:44:00Z</dcterms:created>
  <dcterms:modified xsi:type="dcterms:W3CDTF">2026-06-25T10:23:57Z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0FFB374EF87741258E9EC42A4DEF22FC_13</vt:lpwstr>
  </property>
</Properties>
</file>