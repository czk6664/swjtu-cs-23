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322" r:id="rId3"/>
    <p:sldId id="323" r:id="rId4"/>
    <p:sldId id="324" r:id="rId5"/>
    <p:sldId id="325" r:id="rId6"/>
    <p:sldId id="326" r:id="rId7"/>
    <p:sldId id="327" r:id="rId8"/>
    <p:sldId id="328"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02" d="100"/>
          <a:sy n="102" d="100"/>
        </p:scale>
        <p:origin x="88" y="184"/>
      </p:cViewPr>
      <p:guideLst>
        <p:guide orient="horz" pos="2160"/>
        <p:guide pos="386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2026/6/27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D</a:t>
            </a:r>
            <a:r>
              <a:rPr lang="zh-CN" altLang="en-US"/>
              <a:t>）</a:t>
            </a:r>
          </a:p>
        </p:txBody>
      </p:sp>
      <p:sp>
        <p:nvSpPr>
          <p:cNvPr id="2" name="标题 1"/>
          <p:cNvSpPr>
            <a:spLocks noGrp="1"/>
          </p:cNvSpPr>
          <p:nvPr>
            <p:ph type="ctrTitle"/>
          </p:nvPr>
        </p:nvSpPr>
        <p:spPr>
          <a:xfrm>
            <a:off x="904240" y="1289050"/>
            <a:ext cx="10334625" cy="3895725"/>
          </a:xfrm>
        </p:spPr>
        <p:txBody>
          <a:bodyPr>
            <a:normAutofit/>
          </a:bodyPr>
          <a:lstStyle/>
          <a:p>
            <a:pPr algn="l">
              <a:lnSpc>
                <a:spcPct val="140000"/>
              </a:lnSpc>
            </a:pPr>
            <a:r>
              <a:rPr lang="en-US" altLang="zh-CN" sz="2665"/>
              <a:t>1.</a:t>
            </a:r>
            <a:r>
              <a:rPr lang="zh-CN" altLang="en-US" sz="2665"/>
              <a:t>正式把社会主义市场经济体制确立为我国经济体制改革的目标，是在党的（</a:t>
            </a:r>
            <a:r>
              <a:rPr lang="en-US" altLang="zh-CN" sz="2665"/>
              <a:t>   </a:t>
            </a:r>
            <a:r>
              <a:rPr lang="zh-CN" altLang="en-US" sz="2665"/>
              <a:t>）。</a:t>
            </a:r>
            <a:br>
              <a:rPr lang="zh-CN" altLang="en-US" sz="2665"/>
            </a:br>
            <a:r>
              <a:rPr lang="en-US" altLang="zh-CN" sz="2665"/>
              <a:t>A.</a:t>
            </a:r>
            <a:r>
              <a:rPr lang="zh-CN" altLang="en-US" sz="2665"/>
              <a:t>十一届三中全会</a:t>
            </a:r>
            <a:br>
              <a:rPr lang="zh-CN" altLang="en-US" sz="2665"/>
            </a:br>
            <a:r>
              <a:rPr lang="en-US" altLang="zh-CN" sz="2665"/>
              <a:t>B.</a:t>
            </a:r>
            <a:r>
              <a:rPr lang="zh-CN" altLang="en-US" sz="2665"/>
              <a:t>十二大</a:t>
            </a:r>
            <a:br>
              <a:rPr lang="zh-CN" altLang="en-US" sz="2665"/>
            </a:br>
            <a:r>
              <a:rPr lang="en-US" altLang="zh-CN" sz="2665"/>
              <a:t>C.</a:t>
            </a:r>
            <a:r>
              <a:rPr lang="zh-CN" altLang="en-US" sz="2665"/>
              <a:t>十三大</a:t>
            </a:r>
            <a:br>
              <a:rPr lang="zh-CN" altLang="en-US" sz="2665"/>
            </a:br>
            <a:r>
              <a:rPr lang="en-US" altLang="zh-CN" sz="2665"/>
              <a:t>D.</a:t>
            </a:r>
            <a:r>
              <a:rPr lang="zh-CN" altLang="en-US" sz="2665"/>
              <a:t>十四大</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D</a:t>
            </a:r>
            <a:r>
              <a:rPr lang="zh-CN" altLang="en-US"/>
              <a:t>）</a:t>
            </a:r>
          </a:p>
        </p:txBody>
      </p:sp>
      <p:sp>
        <p:nvSpPr>
          <p:cNvPr id="2" name="标题 1"/>
          <p:cNvSpPr>
            <a:spLocks noGrp="1"/>
          </p:cNvSpPr>
          <p:nvPr>
            <p:ph type="ctrTitle"/>
          </p:nvPr>
        </p:nvSpPr>
        <p:spPr>
          <a:xfrm>
            <a:off x="904240" y="1289050"/>
            <a:ext cx="10334625" cy="3895725"/>
          </a:xfrm>
        </p:spPr>
        <p:txBody>
          <a:bodyPr>
            <a:normAutofit/>
          </a:bodyPr>
          <a:lstStyle/>
          <a:p>
            <a:pPr algn="l">
              <a:lnSpc>
                <a:spcPct val="140000"/>
              </a:lnSpc>
            </a:pPr>
            <a:r>
              <a:rPr lang="en-US" altLang="zh-CN" sz="2665"/>
              <a:t>2.</a:t>
            </a:r>
            <a:r>
              <a:rPr lang="zh-CN" altLang="en-US" sz="2665"/>
              <a:t>我国社会主义政治文明区别于资本主义政治文明的本质特征是（</a:t>
            </a:r>
            <a:r>
              <a:rPr lang="en-US" altLang="zh-CN" sz="2665"/>
              <a:t>   </a:t>
            </a:r>
            <a:r>
              <a:rPr lang="zh-CN" altLang="en-US" sz="2665"/>
              <a:t>）。</a:t>
            </a:r>
            <a:br>
              <a:rPr lang="zh-CN" altLang="en-US" sz="2665"/>
            </a:br>
            <a:r>
              <a:rPr lang="en-US" altLang="zh-CN" sz="2665"/>
              <a:t>A.</a:t>
            </a:r>
            <a:r>
              <a:rPr lang="zh-CN" altLang="en-US" sz="2665"/>
              <a:t>坚持党的领导</a:t>
            </a:r>
            <a:br>
              <a:rPr lang="zh-CN" altLang="en-US" sz="2665"/>
            </a:br>
            <a:r>
              <a:rPr lang="en-US" altLang="zh-CN" sz="2665"/>
              <a:t>B.</a:t>
            </a:r>
            <a:r>
              <a:rPr lang="zh-CN" altLang="en-US" sz="2665"/>
              <a:t>坚持人民当家作主</a:t>
            </a:r>
            <a:br>
              <a:rPr lang="zh-CN" altLang="en-US" sz="2665"/>
            </a:br>
            <a:r>
              <a:rPr lang="en-US" altLang="zh-CN" sz="2665"/>
              <a:t>C.</a:t>
            </a:r>
            <a:r>
              <a:rPr lang="zh-CN" altLang="en-US" sz="2665"/>
              <a:t>坚持依法治国</a:t>
            </a:r>
            <a:br>
              <a:rPr lang="zh-CN" altLang="en-US" sz="2665"/>
            </a:br>
            <a:r>
              <a:rPr lang="en-US" altLang="zh-CN" sz="2665"/>
              <a:t>D.</a:t>
            </a:r>
            <a:r>
              <a:rPr lang="zh-CN" altLang="en-US" sz="2665"/>
              <a:t>坚持党的领导、人民当家作主和依法治国的有机统一</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ACD</a:t>
            </a:r>
            <a:r>
              <a:rPr lang="zh-CN" altLang="en-US"/>
              <a:t>）</a:t>
            </a:r>
          </a:p>
        </p:txBody>
      </p:sp>
      <p:sp>
        <p:nvSpPr>
          <p:cNvPr id="2" name="标题 1"/>
          <p:cNvSpPr>
            <a:spLocks noGrp="1"/>
          </p:cNvSpPr>
          <p:nvPr>
            <p:ph type="ctrTitle"/>
          </p:nvPr>
        </p:nvSpPr>
        <p:spPr>
          <a:xfrm>
            <a:off x="904240" y="1289050"/>
            <a:ext cx="10334625" cy="3895725"/>
          </a:xfrm>
        </p:spPr>
        <p:txBody>
          <a:bodyPr>
            <a:normAutofit/>
          </a:bodyPr>
          <a:lstStyle/>
          <a:p>
            <a:pPr algn="l">
              <a:lnSpc>
                <a:spcPct val="140000"/>
              </a:lnSpc>
            </a:pPr>
            <a:r>
              <a:rPr lang="en-US" altLang="zh-CN" sz="2665"/>
              <a:t>1.“</a:t>
            </a:r>
            <a:r>
              <a:rPr lang="zh-CN" altLang="en-US" sz="2665"/>
              <a:t>三个代表</a:t>
            </a:r>
            <a:r>
              <a:rPr lang="en-US" altLang="zh-CN" sz="2665"/>
              <a:t>”</a:t>
            </a:r>
            <a:r>
              <a:rPr lang="zh-CN" altLang="en-US" sz="2665"/>
              <a:t>重要思想的核心观点包括（</a:t>
            </a:r>
            <a:r>
              <a:rPr lang="en-US" altLang="zh-CN" sz="2665"/>
              <a:t>  </a:t>
            </a:r>
            <a:r>
              <a:rPr lang="zh-CN" altLang="en-US" sz="2665"/>
              <a:t>）。</a:t>
            </a:r>
            <a:br>
              <a:rPr lang="zh-CN" altLang="en-US" sz="2665"/>
            </a:br>
            <a:r>
              <a:rPr lang="en-US" altLang="zh-CN" sz="2665"/>
              <a:t>A.</a:t>
            </a:r>
            <a:r>
              <a:rPr lang="zh-CN" altLang="en-US" sz="2665"/>
              <a:t>中国共产党始终代表中国先进生产力的发展要求</a:t>
            </a:r>
            <a:br>
              <a:rPr lang="zh-CN" altLang="en-US" sz="2665"/>
            </a:br>
            <a:r>
              <a:rPr lang="en-US" altLang="zh-CN" sz="2665"/>
              <a:t>B.</a:t>
            </a:r>
            <a:r>
              <a:rPr lang="zh-CN" altLang="en-US" sz="2665">
                <a:sym typeface="+mn-ea"/>
              </a:rPr>
              <a:t>中国共产党</a:t>
            </a:r>
            <a:r>
              <a:rPr lang="zh-CN" altLang="en-US" sz="2665"/>
              <a:t>始终代表中国工人阶级的根本利益</a:t>
            </a:r>
            <a:br>
              <a:rPr lang="zh-CN" altLang="en-US" sz="2665"/>
            </a:br>
            <a:r>
              <a:rPr lang="en-US" altLang="zh-CN" sz="2665"/>
              <a:t>C.</a:t>
            </a:r>
            <a:r>
              <a:rPr lang="zh-CN" altLang="en-US" sz="2665">
                <a:sym typeface="+mn-ea"/>
              </a:rPr>
              <a:t>中国共产党</a:t>
            </a:r>
            <a:r>
              <a:rPr lang="zh-CN" altLang="en-US" sz="2665"/>
              <a:t>始终代表中国先进文化的前进方向</a:t>
            </a:r>
            <a:br>
              <a:rPr lang="zh-CN" altLang="en-US" sz="2665"/>
            </a:br>
            <a:r>
              <a:rPr lang="en-US" altLang="zh-CN" sz="2665"/>
              <a:t>D.</a:t>
            </a:r>
            <a:r>
              <a:rPr lang="zh-CN" altLang="en-US" sz="2665">
                <a:sym typeface="+mn-ea"/>
              </a:rPr>
              <a:t>中国共产党</a:t>
            </a:r>
            <a:r>
              <a:rPr lang="zh-CN" altLang="en-US" sz="2665"/>
              <a:t>始终代表中国最广大人民的根本利益</a:t>
            </a:r>
            <a:br>
              <a:rPr lang="zh-CN" altLang="en-US" sz="2665"/>
            </a:br>
            <a:r>
              <a:rPr lang="en-US" altLang="zh-CN" sz="2665"/>
              <a:t>E.</a:t>
            </a:r>
            <a:r>
              <a:rPr lang="zh-CN" altLang="en-US" sz="2665">
                <a:sym typeface="+mn-ea"/>
              </a:rPr>
              <a:t>中国共产党</a:t>
            </a:r>
            <a:r>
              <a:rPr lang="zh-CN" altLang="en-US" sz="2665"/>
              <a:t>始终代表中国式现代化的发展要求</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BCE</a:t>
            </a:r>
            <a:r>
              <a:rPr lang="zh-CN" altLang="en-US"/>
              <a:t>）</a:t>
            </a:r>
          </a:p>
        </p:txBody>
      </p:sp>
      <p:sp>
        <p:nvSpPr>
          <p:cNvPr id="2" name="标题 1"/>
          <p:cNvSpPr>
            <a:spLocks noGrp="1"/>
          </p:cNvSpPr>
          <p:nvPr>
            <p:ph type="ctrTitle"/>
          </p:nvPr>
        </p:nvSpPr>
        <p:spPr>
          <a:xfrm>
            <a:off x="904240" y="1289050"/>
            <a:ext cx="10334625" cy="3895725"/>
          </a:xfrm>
        </p:spPr>
        <p:txBody>
          <a:bodyPr>
            <a:normAutofit/>
          </a:bodyPr>
          <a:lstStyle/>
          <a:p>
            <a:pPr algn="l">
              <a:lnSpc>
                <a:spcPct val="140000"/>
              </a:lnSpc>
            </a:pPr>
            <a:r>
              <a:rPr lang="en-US" altLang="zh-CN" sz="2665" dirty="0">
                <a:solidFill>
                  <a:srgbClr val="FF0000"/>
                </a:solidFill>
              </a:rPr>
              <a:t>2.</a:t>
            </a:r>
            <a:r>
              <a:rPr lang="zh-CN" altLang="en-US" sz="2665" dirty="0"/>
              <a:t>关于贯彻</a:t>
            </a:r>
            <a:r>
              <a:rPr lang="en-US" altLang="zh-CN" sz="2665" dirty="0"/>
              <a:t>“</a:t>
            </a:r>
            <a:r>
              <a:rPr lang="zh-CN" altLang="en-US" sz="2665" dirty="0"/>
              <a:t>三个代表</a:t>
            </a:r>
            <a:r>
              <a:rPr lang="en-US" altLang="zh-CN" sz="2665" dirty="0"/>
              <a:t>”</a:t>
            </a:r>
            <a:r>
              <a:rPr lang="zh-CN" altLang="en-US" sz="2665" dirty="0"/>
              <a:t>重要思想，表述正确的有（</a:t>
            </a:r>
            <a:r>
              <a:rPr lang="en-US" altLang="zh-CN" sz="2665" dirty="0"/>
              <a:t>  </a:t>
            </a:r>
            <a:r>
              <a:rPr lang="zh-CN" altLang="en-US" sz="2665" dirty="0"/>
              <a:t>）。</a:t>
            </a:r>
            <a:br>
              <a:rPr lang="zh-CN" altLang="en-US" sz="2665" dirty="0"/>
            </a:br>
            <a:r>
              <a:rPr lang="en-US" altLang="zh-CN" sz="2665" dirty="0"/>
              <a:t>A.</a:t>
            </a:r>
            <a:r>
              <a:rPr lang="zh-CN" altLang="en-US" sz="2665" dirty="0"/>
              <a:t>关键在坚持实事求是</a:t>
            </a:r>
            <a:br>
              <a:rPr lang="zh-CN" altLang="en-US" sz="2665" dirty="0"/>
            </a:br>
            <a:r>
              <a:rPr lang="en-US" altLang="zh-CN" sz="2665" dirty="0"/>
              <a:t>B.</a:t>
            </a:r>
            <a:r>
              <a:rPr lang="zh-CN" altLang="en-US" sz="2665" dirty="0"/>
              <a:t>关键在坚持与时俱进</a:t>
            </a:r>
            <a:br>
              <a:rPr lang="zh-CN" altLang="en-US" sz="2665" dirty="0"/>
            </a:br>
            <a:r>
              <a:rPr lang="en-US" altLang="zh-CN" sz="2665" dirty="0"/>
              <a:t>C.</a:t>
            </a:r>
            <a:r>
              <a:rPr lang="zh-CN" altLang="en-US" sz="2665" dirty="0"/>
              <a:t>核心在坚持党的先进性</a:t>
            </a:r>
            <a:br>
              <a:rPr lang="zh-CN" altLang="en-US" sz="2665" dirty="0"/>
            </a:br>
            <a:r>
              <a:rPr lang="en-US" altLang="zh-CN" sz="2665" dirty="0"/>
              <a:t>D.</a:t>
            </a:r>
            <a:r>
              <a:rPr lang="zh-CN" altLang="en-US" sz="2665" dirty="0"/>
              <a:t>核心在坚持党的自我革命</a:t>
            </a:r>
            <a:br>
              <a:rPr lang="zh-CN" altLang="en-US" sz="2665" dirty="0"/>
            </a:br>
            <a:r>
              <a:rPr lang="en-US" altLang="zh-CN" sz="2665" dirty="0"/>
              <a:t>E.</a:t>
            </a:r>
            <a:r>
              <a:rPr lang="zh-CN" altLang="en-US" sz="2665" dirty="0"/>
              <a:t>本质在坚持执政为民</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6253480"/>
            <a:ext cx="9144000" cy="504825"/>
          </a:xfrm>
        </p:spPr>
        <p:txBody>
          <a:bodyPr/>
          <a:lstStyle/>
          <a:p>
            <a:r>
              <a:rPr lang="zh-CN" altLang="en-US"/>
              <a:t>答案：（</a:t>
            </a:r>
            <a:r>
              <a:rPr lang="en-US" altLang="zh-CN">
                <a:sym typeface="+mn-ea"/>
              </a:rPr>
              <a:t>ABCDE</a:t>
            </a:r>
            <a:r>
              <a:rPr lang="zh-CN" altLang="en-US"/>
              <a:t>）</a:t>
            </a:r>
          </a:p>
        </p:txBody>
      </p:sp>
      <p:sp>
        <p:nvSpPr>
          <p:cNvPr id="2" name="标题 1"/>
          <p:cNvSpPr>
            <a:spLocks noGrp="1"/>
          </p:cNvSpPr>
          <p:nvPr>
            <p:ph type="ctrTitle"/>
          </p:nvPr>
        </p:nvSpPr>
        <p:spPr>
          <a:xfrm>
            <a:off x="904240" y="1289050"/>
            <a:ext cx="10707370" cy="4683760"/>
          </a:xfrm>
        </p:spPr>
        <p:txBody>
          <a:bodyPr>
            <a:normAutofit fontScale="90000"/>
          </a:bodyPr>
          <a:lstStyle/>
          <a:p>
            <a:pPr algn="l">
              <a:lnSpc>
                <a:spcPct val="140000"/>
              </a:lnSpc>
            </a:pPr>
            <a:r>
              <a:rPr lang="en-US" altLang="zh-CN" sz="2665"/>
              <a:t>3.</a:t>
            </a:r>
            <a:r>
              <a:rPr lang="zh-CN" altLang="en-US" sz="2665"/>
              <a:t>党在领导新民主主义革命的过程中，把党的建设作为一项</a:t>
            </a:r>
            <a:r>
              <a:rPr lang="en-US" altLang="zh-CN" sz="2665"/>
              <a:t>“</a:t>
            </a:r>
            <a:r>
              <a:rPr lang="zh-CN" altLang="en-US" sz="2665"/>
              <a:t>伟大的工程</a:t>
            </a:r>
            <a:r>
              <a:rPr lang="en-US" altLang="zh-CN" sz="2665"/>
              <a:t>”</a:t>
            </a:r>
            <a:r>
              <a:rPr lang="zh-CN" altLang="en-US" sz="2665"/>
              <a:t>。在实行改革开放和发展社会主义市场经济的条件下，围绕建设什么样的党、怎样建设党，党的十四届四中全会和十五大把党的建设提到</a:t>
            </a:r>
            <a:r>
              <a:rPr lang="en-US" altLang="zh-CN" sz="2665"/>
              <a:t>“</a:t>
            </a:r>
            <a:r>
              <a:rPr lang="zh-CN" altLang="en-US" sz="2665"/>
              <a:t>新的伟大工程</a:t>
            </a:r>
            <a:r>
              <a:rPr lang="en-US" altLang="zh-CN" sz="2665"/>
              <a:t>”</a:t>
            </a:r>
            <a:r>
              <a:rPr lang="zh-CN" altLang="en-US" sz="2665"/>
              <a:t>的高度。以下各选项对于</a:t>
            </a:r>
            <a:r>
              <a:rPr lang="en-US" altLang="zh-CN" sz="2665"/>
              <a:t>“</a:t>
            </a:r>
            <a:r>
              <a:rPr lang="zh-CN" altLang="en-US" sz="2665"/>
              <a:t>三个代表</a:t>
            </a:r>
            <a:r>
              <a:rPr lang="en-US" altLang="zh-CN" sz="2665"/>
              <a:t>”</a:t>
            </a:r>
            <a:r>
              <a:rPr lang="zh-CN" altLang="en-US" sz="2665"/>
              <a:t>重要思想中推进党的建设新的伟大工程的论述，表述正确的有（</a:t>
            </a:r>
            <a:r>
              <a:rPr lang="en-US" altLang="zh-CN" sz="2665"/>
              <a:t>   </a:t>
            </a:r>
            <a:r>
              <a:rPr lang="zh-CN" altLang="en-US" sz="2665"/>
              <a:t>）。</a:t>
            </a:r>
            <a:br>
              <a:rPr lang="zh-CN" altLang="en-US" sz="2665"/>
            </a:br>
            <a:r>
              <a:rPr lang="en-US" altLang="zh-CN" sz="2665"/>
              <a:t>A.</a:t>
            </a:r>
            <a:r>
              <a:rPr lang="zh-CN" altLang="en-US" sz="2665"/>
              <a:t>推进党的建设新的伟大工程，重点是加强党执政能力建设</a:t>
            </a:r>
            <a:br>
              <a:rPr lang="zh-CN" altLang="en-US" sz="2665"/>
            </a:br>
            <a:r>
              <a:rPr lang="en-US" altLang="zh-CN" sz="2665"/>
              <a:t>B.</a:t>
            </a:r>
            <a:r>
              <a:rPr lang="zh-CN" altLang="en-US" sz="2665"/>
              <a:t>要不断提高科学判断形势的能力</a:t>
            </a:r>
            <a:br>
              <a:rPr lang="zh-CN" altLang="en-US" sz="2665"/>
            </a:br>
            <a:r>
              <a:rPr lang="en-US" altLang="zh-CN" sz="2665"/>
              <a:t>C.</a:t>
            </a:r>
            <a:r>
              <a:rPr lang="zh-CN" altLang="en-US" sz="2665"/>
              <a:t>要不断驾驭市场经济的能力</a:t>
            </a:r>
            <a:br>
              <a:rPr lang="zh-CN" altLang="en-US" sz="2665"/>
            </a:br>
            <a:r>
              <a:rPr lang="en-US" altLang="zh-CN" sz="2665"/>
              <a:t>D.</a:t>
            </a:r>
            <a:r>
              <a:rPr lang="zh-CN" altLang="en-US" sz="2665"/>
              <a:t>要不断应对复杂局面的能力</a:t>
            </a:r>
            <a:br>
              <a:rPr lang="zh-CN" altLang="en-US" sz="2665"/>
            </a:br>
            <a:r>
              <a:rPr lang="en-US" altLang="zh-CN" sz="2665"/>
              <a:t>E.</a:t>
            </a:r>
            <a:r>
              <a:rPr lang="zh-CN" altLang="en-US" sz="2665"/>
              <a:t>要不断依法执政的能力、总揽全局的能力</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99235" y="6118225"/>
            <a:ext cx="9144000" cy="551815"/>
          </a:xfrm>
        </p:spPr>
        <p:txBody>
          <a:bodyPr>
            <a:normAutofit/>
          </a:bodyPr>
          <a:lstStyle/>
          <a:p>
            <a:r>
              <a:rPr lang="zh-CN" altLang="en-US"/>
              <a:t>答案：（</a:t>
            </a:r>
            <a:r>
              <a:rPr lang="en-US" altLang="zh-CN">
                <a:sym typeface="+mn-ea"/>
              </a:rPr>
              <a:t>ABCDE</a:t>
            </a:r>
            <a:r>
              <a:rPr lang="zh-CN" altLang="en-US"/>
              <a:t>）</a:t>
            </a:r>
          </a:p>
        </p:txBody>
      </p:sp>
      <p:sp>
        <p:nvSpPr>
          <p:cNvPr id="2" name="标题 1"/>
          <p:cNvSpPr>
            <a:spLocks noGrp="1"/>
          </p:cNvSpPr>
          <p:nvPr>
            <p:ph type="ctrTitle"/>
          </p:nvPr>
        </p:nvSpPr>
        <p:spPr>
          <a:xfrm>
            <a:off x="441325" y="1289050"/>
            <a:ext cx="11341735" cy="4901565"/>
          </a:xfrm>
        </p:spPr>
        <p:txBody>
          <a:bodyPr>
            <a:normAutofit fontScale="90000"/>
          </a:bodyPr>
          <a:lstStyle/>
          <a:p>
            <a:pPr algn="l">
              <a:lnSpc>
                <a:spcPct val="140000"/>
              </a:lnSpc>
            </a:pPr>
            <a:r>
              <a:rPr lang="en-US" altLang="zh-CN" sz="2665"/>
              <a:t>4.</a:t>
            </a:r>
            <a:r>
              <a:rPr lang="zh-CN" altLang="en-US" sz="2665"/>
              <a:t>党在领导新民主主义革命的过程中，把党的建设作为一项</a:t>
            </a:r>
            <a:r>
              <a:rPr lang="en-US" altLang="zh-CN" sz="2665"/>
              <a:t>“</a:t>
            </a:r>
            <a:r>
              <a:rPr lang="zh-CN" altLang="en-US" sz="2665"/>
              <a:t>伟大的工程</a:t>
            </a:r>
            <a:r>
              <a:rPr lang="en-US" altLang="zh-CN" sz="2665"/>
              <a:t>”</a:t>
            </a:r>
            <a:r>
              <a:rPr lang="zh-CN" altLang="en-US" sz="2665"/>
              <a:t>。在实行改革开放和发展社会主义市场经济的条件下，围绕建设什么样的党、怎样建设党，党的十四届四中全会和十五大把党的建设提到</a:t>
            </a:r>
            <a:r>
              <a:rPr lang="en-US" altLang="zh-CN" sz="2665"/>
              <a:t>“</a:t>
            </a:r>
            <a:r>
              <a:rPr lang="zh-CN" altLang="en-US" sz="2665"/>
              <a:t>新的伟大工程</a:t>
            </a:r>
            <a:r>
              <a:rPr lang="en-US" altLang="zh-CN" sz="2665"/>
              <a:t>”</a:t>
            </a:r>
            <a:r>
              <a:rPr lang="zh-CN" altLang="en-US" sz="2665"/>
              <a:t>的高度。以下各选项对于</a:t>
            </a:r>
            <a:r>
              <a:rPr lang="en-US" altLang="zh-CN" sz="2665"/>
              <a:t>“</a:t>
            </a:r>
            <a:r>
              <a:rPr lang="zh-CN" altLang="en-US" sz="2665"/>
              <a:t>三个代表</a:t>
            </a:r>
            <a:r>
              <a:rPr lang="en-US" altLang="zh-CN" sz="2665"/>
              <a:t>”</a:t>
            </a:r>
            <a:r>
              <a:rPr lang="zh-CN" altLang="en-US" sz="2665"/>
              <a:t>重要思想中推进党的建设新的伟大工程的论述，表述正确的有（</a:t>
            </a:r>
            <a:r>
              <a:rPr lang="en-US" altLang="zh-CN" sz="2665"/>
              <a:t>   </a:t>
            </a:r>
            <a:r>
              <a:rPr lang="zh-CN" altLang="en-US" sz="2665"/>
              <a:t>）。</a:t>
            </a:r>
            <a:br>
              <a:rPr lang="zh-CN" altLang="en-US" sz="2665"/>
            </a:br>
            <a:r>
              <a:rPr lang="en-US" altLang="zh-CN" sz="2665"/>
              <a:t>A.</a:t>
            </a:r>
            <a:r>
              <a:rPr lang="zh-CN" altLang="en-US" sz="2665"/>
              <a:t>推进党的建设新的伟大工程，重点是加强党执政能力建设</a:t>
            </a:r>
            <a:br>
              <a:rPr lang="zh-CN" altLang="en-US" sz="2665"/>
            </a:br>
            <a:r>
              <a:rPr lang="en-US" altLang="zh-CN" sz="2665"/>
              <a:t>B.</a:t>
            </a:r>
            <a:r>
              <a:rPr lang="zh-CN" altLang="en-US" sz="2665"/>
              <a:t>推进党的建设新的伟大工程，一定要坚持党要管党、从严治党的方针</a:t>
            </a:r>
            <a:br>
              <a:rPr lang="zh-CN" altLang="en-US" sz="2665"/>
            </a:br>
            <a:r>
              <a:rPr lang="en-US" altLang="zh-CN" sz="2665"/>
              <a:t>C.</a:t>
            </a:r>
            <a:r>
              <a:rPr lang="zh-CN" altLang="en-US" sz="2665"/>
              <a:t>进一步解决提高党的领导水平和执政水平、提高拒腐防变和抵御风险能力这两大历史性课题</a:t>
            </a:r>
            <a:br>
              <a:rPr lang="zh-CN" altLang="en-US" sz="2665"/>
            </a:br>
            <a:r>
              <a:rPr lang="en-US" altLang="zh-CN" sz="2665"/>
              <a:t>D.</a:t>
            </a:r>
            <a:r>
              <a:rPr lang="zh-CN" altLang="en-US" sz="2665"/>
              <a:t>一定要改革和完善党的领导方式和执政方式、领导体制和工作制度</a:t>
            </a:r>
            <a:br>
              <a:rPr lang="zh-CN" altLang="en-US" sz="2665"/>
            </a:br>
            <a:r>
              <a:rPr lang="en-US" altLang="zh-CN" sz="2665"/>
              <a:t>E.</a:t>
            </a:r>
            <a:r>
              <a:rPr lang="zh-CN" altLang="en-US" sz="2665"/>
              <a:t>一定要把思想建设、组织建设和作风建设结合起来，把制度建设贯穿其中</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37860"/>
            <a:ext cx="9144000" cy="483235"/>
          </a:xfrm>
        </p:spPr>
        <p:txBody>
          <a:bodyPr/>
          <a:lstStyle/>
          <a:p>
            <a:r>
              <a:rPr lang="zh-CN" altLang="en-US"/>
              <a:t>答案：（</a:t>
            </a:r>
            <a:r>
              <a:rPr lang="en-US" altLang="zh-CN">
                <a:sym typeface="+mn-ea"/>
              </a:rPr>
              <a:t>ABCDE</a:t>
            </a:r>
            <a:r>
              <a:rPr lang="zh-CN" altLang="en-US"/>
              <a:t>）</a:t>
            </a:r>
          </a:p>
        </p:txBody>
      </p:sp>
      <p:sp>
        <p:nvSpPr>
          <p:cNvPr id="2" name="标题 1"/>
          <p:cNvSpPr>
            <a:spLocks noGrp="1"/>
          </p:cNvSpPr>
          <p:nvPr>
            <p:ph type="ctrTitle"/>
          </p:nvPr>
        </p:nvSpPr>
        <p:spPr>
          <a:xfrm>
            <a:off x="904240" y="1289050"/>
            <a:ext cx="10334625" cy="4309745"/>
          </a:xfrm>
        </p:spPr>
        <p:txBody>
          <a:bodyPr>
            <a:normAutofit fontScale="90000"/>
          </a:bodyPr>
          <a:lstStyle/>
          <a:p>
            <a:pPr algn="l">
              <a:lnSpc>
                <a:spcPct val="140000"/>
              </a:lnSpc>
            </a:pPr>
            <a:r>
              <a:rPr lang="en-US" altLang="zh-CN" sz="2220"/>
              <a:t>5.</a:t>
            </a:r>
            <a:r>
              <a:rPr lang="zh-CN" altLang="en-US" sz="2220"/>
              <a:t>以下各选项关于</a:t>
            </a:r>
            <a:r>
              <a:rPr lang="en-US" altLang="zh-CN" sz="2220"/>
              <a:t>“</a:t>
            </a:r>
            <a:r>
              <a:rPr lang="zh-CN" altLang="en-US" sz="2220"/>
              <a:t>三个代表</a:t>
            </a:r>
            <a:r>
              <a:rPr lang="en-US" altLang="zh-CN" sz="2220"/>
              <a:t>”</a:t>
            </a:r>
            <a:r>
              <a:rPr lang="zh-CN" altLang="en-US" sz="2220"/>
              <a:t>重要思想的表述，正确的有（</a:t>
            </a:r>
            <a:r>
              <a:rPr lang="en-US" altLang="zh-CN" sz="2220"/>
              <a:t>   </a:t>
            </a:r>
            <a:r>
              <a:rPr lang="zh-CN" altLang="en-US" sz="2220"/>
              <a:t>）。</a:t>
            </a:r>
            <a:br>
              <a:rPr lang="zh-CN" altLang="en-US" sz="2220"/>
            </a:br>
            <a:r>
              <a:rPr lang="en-US" altLang="zh-CN" sz="2220"/>
              <a:t>A.“</a:t>
            </a:r>
            <a:r>
              <a:rPr lang="zh-CN" altLang="en-US" sz="2220"/>
              <a:t>三个代表</a:t>
            </a:r>
            <a:r>
              <a:rPr lang="en-US" altLang="zh-CN" sz="2220"/>
              <a:t>”</a:t>
            </a:r>
            <a:r>
              <a:rPr lang="zh-CN" altLang="en-US" sz="2220"/>
              <a:t>重要思想，把发展先进生产力、发展先进文化和实现最广大人民的根本利益统一起来，从深层次上揭示了社会主义制度不断完善和发展的途径</a:t>
            </a:r>
            <a:br>
              <a:rPr lang="zh-CN" altLang="en-US" sz="2220"/>
            </a:br>
            <a:r>
              <a:rPr lang="en-US" altLang="zh-CN" sz="2220"/>
              <a:t>B.</a:t>
            </a:r>
            <a:r>
              <a:rPr lang="zh-CN" altLang="en-US" sz="2220"/>
              <a:t>始终代表中国先进生产力的发展要求，体现了建设社会主义物质文明的理想和价值目标</a:t>
            </a:r>
            <a:br>
              <a:rPr lang="zh-CN" altLang="en-US" sz="2220"/>
            </a:br>
            <a:r>
              <a:rPr lang="en-US" altLang="zh-CN" sz="2220"/>
              <a:t>C.</a:t>
            </a:r>
            <a:r>
              <a:rPr lang="zh-CN" altLang="en-US" sz="2220"/>
              <a:t>始终代表中国先进文化的前进方向，体现了建设社会主义精神文明的理想和价值目标</a:t>
            </a:r>
            <a:br>
              <a:rPr lang="zh-CN" altLang="en-US" sz="2220"/>
            </a:br>
            <a:r>
              <a:rPr lang="en-US" altLang="zh-CN" sz="2220"/>
              <a:t>D.</a:t>
            </a:r>
            <a:r>
              <a:rPr lang="zh-CN" altLang="en-US" sz="2220"/>
              <a:t>始终代表中国最广大人民的根本利益，强调以人民群众的利益、要求和实践为最高价值标准和评价标准，体现了我们党的宗旨和我们国家的性质</a:t>
            </a:r>
            <a:br>
              <a:rPr lang="zh-CN" altLang="en-US" sz="2220"/>
            </a:br>
            <a:r>
              <a:rPr lang="en-US" altLang="zh-CN" sz="2220"/>
              <a:t>E.“</a:t>
            </a:r>
            <a:r>
              <a:rPr lang="zh-CN" altLang="en-US" sz="2220"/>
              <a:t>三个代表</a:t>
            </a:r>
            <a:r>
              <a:rPr lang="en-US" altLang="zh-CN" sz="2220"/>
              <a:t>”</a:t>
            </a:r>
            <a:r>
              <a:rPr lang="zh-CN" altLang="en-US" sz="2220"/>
              <a:t>重要思想从物质基础、文化支撑和社会基础三个方面揭示了社会主义制度自我完善和发展的途径，只有具备雄厚的物质基础、强大的文化支撑和广泛的群众支持，社会主义制度的自我完善和发展才能够实现</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962015"/>
            <a:ext cx="9144000" cy="796290"/>
          </a:xfrm>
        </p:spPr>
        <p:txBody>
          <a:bodyPr/>
          <a:lstStyle/>
          <a:p>
            <a:r>
              <a:rPr lang="zh-CN" altLang="en-US"/>
              <a:t>答案：（</a:t>
            </a:r>
            <a:r>
              <a:rPr lang="en-US" altLang="zh-CN">
                <a:sym typeface="+mn-ea"/>
              </a:rPr>
              <a:t>ABCDE</a:t>
            </a:r>
            <a:r>
              <a:rPr lang="zh-CN" altLang="en-US"/>
              <a:t>）</a:t>
            </a:r>
          </a:p>
        </p:txBody>
      </p:sp>
      <p:sp>
        <p:nvSpPr>
          <p:cNvPr id="2" name="标题 1"/>
          <p:cNvSpPr>
            <a:spLocks noGrp="1"/>
          </p:cNvSpPr>
          <p:nvPr>
            <p:ph type="ctrTitle"/>
          </p:nvPr>
        </p:nvSpPr>
        <p:spPr>
          <a:xfrm>
            <a:off x="904240" y="1289050"/>
            <a:ext cx="10334625" cy="4623435"/>
          </a:xfrm>
        </p:spPr>
        <p:txBody>
          <a:bodyPr>
            <a:normAutofit fontScale="90000"/>
          </a:bodyPr>
          <a:lstStyle/>
          <a:p>
            <a:pPr algn="l">
              <a:lnSpc>
                <a:spcPct val="140000"/>
              </a:lnSpc>
            </a:pPr>
            <a:r>
              <a:rPr lang="en-US" altLang="zh-CN" sz="2665"/>
              <a:t>6.</a:t>
            </a:r>
            <a:r>
              <a:rPr lang="zh-CN" altLang="en-US" sz="2665"/>
              <a:t>以下各选项关于建设社会主义政治文明，表述正确的有（</a:t>
            </a:r>
            <a:r>
              <a:rPr lang="en-US" altLang="zh-CN" sz="2665"/>
              <a:t>    </a:t>
            </a:r>
            <a:r>
              <a:rPr lang="zh-CN" altLang="en-US" sz="2665"/>
              <a:t>）。</a:t>
            </a:r>
            <a:br>
              <a:rPr lang="zh-CN" altLang="en-US" sz="2665"/>
            </a:br>
            <a:r>
              <a:rPr lang="en-US" altLang="zh-CN" sz="2665"/>
              <a:t>A.</a:t>
            </a:r>
            <a:r>
              <a:rPr lang="zh-CN" altLang="en-US" sz="2665"/>
              <a:t>建设社会主义政治文明，最根本的就是要坚持党的领导、人民当家作主和依法治国的有机统一</a:t>
            </a:r>
            <a:br>
              <a:rPr lang="zh-CN" altLang="en-US" sz="2665"/>
            </a:br>
            <a:r>
              <a:rPr lang="en-US" altLang="zh-CN" sz="2665"/>
              <a:t>B.</a:t>
            </a:r>
            <a:r>
              <a:rPr lang="zh-CN" altLang="en-US" sz="2665"/>
              <a:t>坚持党的领导、人民当家作主和依法治国的有机统一，是推进政治文明建设必须遵循的基本方针，也是我国社会主义政治文明区别于资本主义政治文明的本质特征</a:t>
            </a:r>
            <a:br>
              <a:rPr lang="zh-CN" altLang="en-US" sz="2665"/>
            </a:br>
            <a:r>
              <a:rPr lang="en-US" altLang="zh-CN" sz="2665"/>
              <a:t>C.</a:t>
            </a:r>
            <a:r>
              <a:rPr lang="zh-CN" altLang="en-US" sz="2665"/>
              <a:t>党的领导是人民当家作主和依法治国的根本保证</a:t>
            </a:r>
            <a:r>
              <a:rPr lang="en-US" altLang="zh-CN" sz="2665"/>
              <a:t> </a:t>
            </a:r>
            <a:br>
              <a:rPr lang="en-US" altLang="zh-CN" sz="2665"/>
            </a:br>
            <a:r>
              <a:rPr lang="en-US" altLang="zh-CN" sz="2665"/>
              <a:t>D.</a:t>
            </a:r>
            <a:r>
              <a:rPr lang="zh-CN" altLang="en-US" sz="2665"/>
              <a:t>人民当家作主是社会主义民主政治的本质要求</a:t>
            </a:r>
            <a:br>
              <a:rPr lang="zh-CN" altLang="en-US" sz="2665"/>
            </a:br>
            <a:r>
              <a:rPr lang="en-US" altLang="zh-CN" sz="2665"/>
              <a:t>E.</a:t>
            </a:r>
            <a:r>
              <a:rPr lang="zh-CN" altLang="en-US" sz="2665"/>
              <a:t>依法治国是党领导人民治理国家的基本方略</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985</Words>
  <Application>Microsoft Office PowerPoint</Application>
  <PresentationFormat>宽屏</PresentationFormat>
  <Paragraphs>24</Paragraphs>
  <Slides>8</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8</vt:i4>
      </vt:variant>
    </vt:vector>
  </HeadingPairs>
  <TitlesOfParts>
    <vt:vector size="11" baseType="lpstr">
      <vt:lpstr>Arial</vt:lpstr>
      <vt:lpstr>Calibri</vt:lpstr>
      <vt:lpstr>WPS</vt:lpstr>
      <vt:lpstr>1.正式把社会主义市场经济体制确立为我国经济体制改革的目标，是在党的（   ）。 A.十一届三中全会 B.十二大 C.十三大 D.十四大</vt:lpstr>
      <vt:lpstr>2.我国社会主义政治文明区别于资本主义政治文明的本质特征是（   ）。 A.坚持党的领导 B.坚持人民当家作主 C.坚持依法治国 D.坚持党的领导、人民当家作主和依法治国的有机统一</vt:lpstr>
      <vt:lpstr>1.“三个代表”重要思想的核心观点包括（  ）。 A.中国共产党始终代表中国先进生产力的发展要求 B.中国共产党始终代表中国工人阶级的根本利益 C.中国共产党始终代表中国先进文化的前进方向 D.中国共产党始终代表中国最广大人民的根本利益 E.中国共产党始终代表中国式现代化的发展要求</vt:lpstr>
      <vt:lpstr>2.关于贯彻“三个代表”重要思想，表述正确的有（  ）。 A.关键在坚持实事求是 B.关键在坚持与时俱进 C.核心在坚持党的先进性 D.核心在坚持党的自我革命 E.本质在坚持执政为民</vt:lpstr>
      <vt:lpstr>3.党在领导新民主主义革命的过程中，把党的建设作为一项“伟大的工程”。在实行改革开放和发展社会主义市场经济的条件下，围绕建设什么样的党、怎样建设党，党的十四届四中全会和十五大把党的建设提到“新的伟大工程”的高度。以下各选项对于“三个代表”重要思想中推进党的建设新的伟大工程的论述，表述正确的有（   ）。 A.推进党的建设新的伟大工程，重点是加强党执政能力建设 B.要不断提高科学判断形势的能力 C.要不断驾驭市场经济的能力 D.要不断应对复杂局面的能力 E.要不断依法执政的能力、总揽全局的能力</vt:lpstr>
      <vt:lpstr>4.党在领导新民主主义革命的过程中，把党的建设作为一项“伟大的工程”。在实行改革开放和发展社会主义市场经济的条件下，围绕建设什么样的党、怎样建设党，党的十四届四中全会和十五大把党的建设提到“新的伟大工程”的高度。以下各选项对于“三个代表”重要思想中推进党的建设新的伟大工程的论述，表述正确的有（   ）。 A.推进党的建设新的伟大工程，重点是加强党执政能力建设 B.推进党的建设新的伟大工程，一定要坚持党要管党、从严治党的方针 C.进一步解决提高党的领导水平和执政水平、提高拒腐防变和抵御风险能力这两大历史性课题 D.一定要改革和完善党的领导方式和执政方式、领导体制和工作制度 E.一定要把思想建设、组织建设和作风建设结合起来，把制度建设贯穿其中</vt:lpstr>
      <vt:lpstr>5.以下各选项关于“三个代表”重要思想的表述，正确的有（   ）。 A.“三个代表”重要思想，把发展先进生产力、发展先进文化和实现最广大人民的根本利益统一起来，从深层次上揭示了社会主义制度不断完善和发展的途径 B.始终代表中国先进生产力的发展要求，体现了建设社会主义物质文明的理想和价值目标 C.始终代表中国先进文化的前进方向，体现了建设社会主义精神文明的理想和价值目标 D.始终代表中国最广大人民的根本利益，强调以人民群众的利益、要求和实践为最高价值标准和评价标准，体现了我们党的宗旨和我们国家的性质 E.“三个代表”重要思想从物质基础、文化支撑和社会基础三个方面揭示了社会主义制度自我完善和发展的途径，只有具备雄厚的物质基础、强大的文化支撑和广泛的群众支持，社会主义制度的自我完善和发展才能够实现</vt:lpstr>
      <vt:lpstr>6.以下各选项关于建设社会主义政治文明，表述正确的有（    ）。 A.建设社会主义政治文明，最根本的就是要坚持党的领导、人民当家作主和依法治国的有机统一 B.坚持党的领导、人民当家作主和依法治国的有机统一，是推进政治文明建设必须遵循的基本方针，也是我国社会主义政治文明区别于资本主义政治文明的本质特征 C.党的领导是人民当家作主和依法治国的根本保证  D.人民当家作主是社会主义民主政治的本质要求 E.依法治国是党领导人民治理国家的基本方略</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杨 欣翰</cp:lastModifiedBy>
  <cp:revision>12</cp:revision>
  <dcterms:created xsi:type="dcterms:W3CDTF">2023-08-09T12:44:00Z</dcterms:created>
  <dcterms:modified xsi:type="dcterms:W3CDTF">2026-06-27T08:47:38Z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0FFB374EF87741258E9EC42A4DEF22FC_13</vt:lpwstr>
  </property>
</Properties>
</file>