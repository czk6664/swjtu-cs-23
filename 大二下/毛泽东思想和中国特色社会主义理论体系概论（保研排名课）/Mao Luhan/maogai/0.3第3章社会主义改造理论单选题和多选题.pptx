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33" r:id="rId2"/>
    <p:sldId id="256" r:id="rId3"/>
    <p:sldId id="322" r:id="rId4"/>
    <p:sldId id="323" r:id="rId5"/>
    <p:sldId id="324" r:id="rId6"/>
    <p:sldId id="325" r:id="rId7"/>
    <p:sldId id="326" r:id="rId8"/>
    <p:sldId id="327" r:id="rId9"/>
    <p:sldId id="334" r:id="rId10"/>
    <p:sldId id="335" r:id="rId11"/>
    <p:sldId id="336" r:id="rId12"/>
    <p:sldId id="337" r:id="rId13"/>
    <p:sldId id="338" r:id="rId14"/>
    <p:sldId id="339" r:id="rId15"/>
    <p:sldId id="340" r:id="rId16"/>
    <p:sldId id="341" r:id="rId17"/>
    <p:sldId id="342" r:id="rId18"/>
    <p:sldId id="343" r:id="rId19"/>
    <p:sldId id="344"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5" userDrawn="1">
          <p15:clr>
            <a:srgbClr val="A4A3A4"/>
          </p15:clr>
        </p15:guide>
        <p15:guide id="2" pos="38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2" d="100"/>
          <a:sy n="102" d="100"/>
        </p:scale>
        <p:origin x="88" y="184"/>
      </p:cViewPr>
      <p:guideLst>
        <p:guide orient="horz" pos="2125"/>
        <p:guide pos="386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1207770"/>
            <a:ext cx="10334625" cy="3977005"/>
          </a:xfrm>
        </p:spPr>
        <p:txBody>
          <a:bodyPr>
            <a:normAutofit/>
          </a:bodyPr>
          <a:lstStyle/>
          <a:p>
            <a:pPr algn="l">
              <a:lnSpc>
                <a:spcPct val="140000"/>
              </a:lnSpc>
            </a:pPr>
            <a:r>
              <a:rPr lang="en-US" altLang="zh-CN" sz="2665"/>
              <a:t>1.</a:t>
            </a:r>
            <a:r>
              <a:rPr lang="zh-CN" altLang="en-US" sz="2665"/>
              <a:t>我国从新民主主义到社会主义的过渡时期是指（</a:t>
            </a:r>
            <a:r>
              <a:rPr lang="en-US" altLang="zh-CN" sz="2665"/>
              <a:t> </a:t>
            </a:r>
            <a:r>
              <a:rPr lang="zh-CN" altLang="en-US" sz="2665"/>
              <a:t>）。这一时期，我国社会的性质是新民主主义社会。</a:t>
            </a:r>
            <a:br>
              <a:rPr lang="zh-CN" altLang="en-US" sz="2665"/>
            </a:br>
            <a:r>
              <a:rPr lang="en-US" altLang="zh-CN" sz="2665"/>
              <a:t>A. </a:t>
            </a:r>
            <a:r>
              <a:rPr lang="zh-CN" altLang="en-US" sz="2665"/>
              <a:t>从</a:t>
            </a:r>
            <a:r>
              <a:rPr lang="en-US" altLang="zh-CN" sz="2665"/>
              <a:t>1952</a:t>
            </a:r>
            <a:r>
              <a:rPr lang="zh-CN" altLang="en-US" sz="2665"/>
              <a:t>年开始到社会主义改造基本完成</a:t>
            </a:r>
            <a:br>
              <a:rPr lang="zh-CN" altLang="en-US" sz="2665"/>
            </a:br>
            <a:r>
              <a:rPr lang="en-US" altLang="zh-CN" sz="2665"/>
              <a:t>B. </a:t>
            </a:r>
            <a:r>
              <a:rPr lang="zh-CN" altLang="en-US" sz="2665"/>
              <a:t>从中华人民共和国成立到社会主义改造基本完成</a:t>
            </a:r>
            <a:br>
              <a:rPr lang="zh-CN" altLang="en-US" sz="2665"/>
            </a:br>
            <a:r>
              <a:rPr lang="en-US" altLang="zh-CN" sz="2665"/>
              <a:t>C. </a:t>
            </a:r>
            <a:r>
              <a:rPr lang="zh-CN" altLang="en-US" sz="2665"/>
              <a:t>从土地改革完成到社会主义改造基本完成</a:t>
            </a:r>
            <a:br>
              <a:rPr lang="zh-CN" altLang="en-US" sz="2665"/>
            </a:br>
            <a:r>
              <a:rPr lang="en-US" altLang="zh-CN" sz="2665"/>
              <a:t>D. </a:t>
            </a:r>
            <a:r>
              <a:rPr lang="zh-CN" altLang="en-US" sz="2665"/>
              <a:t>从</a:t>
            </a:r>
            <a:r>
              <a:rPr lang="en-US" altLang="zh-CN" sz="2665"/>
              <a:t>1956</a:t>
            </a:r>
            <a:r>
              <a:rPr lang="zh-CN" altLang="en-US" sz="2665"/>
              <a:t>年开始到</a:t>
            </a:r>
            <a:r>
              <a:rPr lang="en-US" altLang="zh-CN" sz="2665"/>
              <a:t>1978</a:t>
            </a:r>
            <a:r>
              <a:rPr lang="zh-CN" altLang="en-US" sz="2665"/>
              <a:t>年</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1207770"/>
            <a:ext cx="10334625" cy="3977005"/>
          </a:xfrm>
        </p:spPr>
        <p:txBody>
          <a:bodyPr>
            <a:normAutofit/>
          </a:bodyPr>
          <a:lstStyle/>
          <a:p>
            <a:pPr algn="l">
              <a:lnSpc>
                <a:spcPct val="140000"/>
              </a:lnSpc>
            </a:pPr>
            <a:r>
              <a:rPr lang="en-US" altLang="zh-CN" sz="2665"/>
              <a:t>2.</a:t>
            </a:r>
            <a:r>
              <a:rPr lang="zh-CN" altLang="en-US" sz="2665"/>
              <a:t>从中华人民共和国成立到社会主义改造基本完成，是我国从新民主主义到社会主义的过渡时期。这一时期，我国社会的性质是（</a:t>
            </a:r>
            <a:r>
              <a:rPr lang="en-US" altLang="zh-CN" sz="2665"/>
              <a:t> </a:t>
            </a:r>
            <a:r>
              <a:rPr lang="zh-CN" altLang="en-US" sz="2665"/>
              <a:t>）。</a:t>
            </a:r>
            <a:br>
              <a:rPr lang="zh-CN" altLang="en-US" sz="2665"/>
            </a:br>
            <a:r>
              <a:rPr lang="en-US" altLang="zh-CN" sz="2665"/>
              <a:t>A. </a:t>
            </a:r>
            <a:r>
              <a:rPr lang="zh-CN" altLang="en-US" sz="2665"/>
              <a:t>资本主义社会</a:t>
            </a:r>
            <a:br>
              <a:rPr lang="zh-CN" altLang="en-US" sz="2665"/>
            </a:br>
            <a:r>
              <a:rPr lang="en-US" altLang="zh-CN" sz="2665"/>
              <a:t>B. </a:t>
            </a:r>
            <a:r>
              <a:rPr lang="zh-CN" altLang="en-US" sz="2665"/>
              <a:t>社会主义社会</a:t>
            </a:r>
            <a:br>
              <a:rPr lang="zh-CN" altLang="en-US" sz="2665"/>
            </a:br>
            <a:r>
              <a:rPr lang="en-US" altLang="zh-CN" sz="2665"/>
              <a:t>C. </a:t>
            </a:r>
            <a:r>
              <a:rPr lang="zh-CN" altLang="en-US" sz="2665"/>
              <a:t>新民主主义社会</a:t>
            </a:r>
            <a:br>
              <a:rPr lang="zh-CN" altLang="en-US" sz="2665"/>
            </a:br>
            <a:r>
              <a:rPr lang="en-US" altLang="zh-CN" sz="2665"/>
              <a:t>D. </a:t>
            </a:r>
            <a:r>
              <a:rPr lang="zh-CN" altLang="en-US" sz="2665"/>
              <a:t>旧民主主义社会</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1207770"/>
            <a:ext cx="10334625" cy="3977005"/>
          </a:xfrm>
        </p:spPr>
        <p:txBody>
          <a:bodyPr>
            <a:normAutofit/>
          </a:bodyPr>
          <a:lstStyle/>
          <a:p>
            <a:pPr algn="l">
              <a:lnSpc>
                <a:spcPct val="140000"/>
              </a:lnSpc>
            </a:pPr>
            <a:r>
              <a:rPr lang="en-US" altLang="zh-CN" sz="2665"/>
              <a:t>3.</a:t>
            </a:r>
            <a:r>
              <a:rPr lang="zh-CN" altLang="en-US" sz="2665"/>
              <a:t>新民主主义时期，随着土地改革的基本完成，（</a:t>
            </a:r>
            <a:r>
              <a:rPr lang="en-US" altLang="zh-CN" sz="2665"/>
              <a:t>  </a:t>
            </a:r>
            <a:r>
              <a:rPr lang="zh-CN" altLang="en-US" sz="2665"/>
              <a:t>）的矛盾逐步成为我国社会的主要矛盾。</a:t>
            </a:r>
            <a:br>
              <a:rPr lang="zh-CN" altLang="en-US" sz="2665"/>
            </a:br>
            <a:r>
              <a:rPr lang="en-US" altLang="zh-CN" sz="2665"/>
              <a:t>A. </a:t>
            </a:r>
            <a:r>
              <a:rPr lang="zh-CN" altLang="en-US" sz="2665"/>
              <a:t>工人阶级和资产阶级</a:t>
            </a:r>
            <a:br>
              <a:rPr lang="zh-CN" altLang="en-US" sz="2665"/>
            </a:br>
            <a:r>
              <a:rPr lang="en-US" altLang="zh-CN" sz="2665"/>
              <a:t>B. </a:t>
            </a:r>
            <a:r>
              <a:rPr lang="zh-CN" altLang="en-US" sz="2665"/>
              <a:t>地主阶级和农民阶级</a:t>
            </a:r>
            <a:br>
              <a:rPr lang="zh-CN" altLang="en-US" sz="2665"/>
            </a:br>
            <a:r>
              <a:rPr lang="en-US" altLang="zh-CN" sz="2665"/>
              <a:t>C. </a:t>
            </a:r>
            <a:r>
              <a:rPr lang="zh-CN" altLang="en-US" sz="2665"/>
              <a:t>官僚资产阶级和民族资产阶级</a:t>
            </a:r>
            <a:br>
              <a:rPr lang="zh-CN" altLang="en-US" sz="2665"/>
            </a:br>
            <a:r>
              <a:rPr lang="en-US" altLang="zh-CN" sz="2665"/>
              <a:t>D. </a:t>
            </a:r>
            <a:r>
              <a:rPr lang="zh-CN" altLang="en-US" sz="2665"/>
              <a:t>工人阶级和官僚资产阶级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D</a:t>
            </a:r>
            <a:r>
              <a:rPr lang="zh-CN" altLang="en-US"/>
              <a:t>）</a:t>
            </a:r>
          </a:p>
        </p:txBody>
      </p:sp>
      <p:sp>
        <p:nvSpPr>
          <p:cNvPr id="2" name="标题 1"/>
          <p:cNvSpPr>
            <a:spLocks noGrp="1"/>
          </p:cNvSpPr>
          <p:nvPr>
            <p:ph type="ctrTitle"/>
          </p:nvPr>
        </p:nvSpPr>
        <p:spPr>
          <a:xfrm>
            <a:off x="904240" y="1207770"/>
            <a:ext cx="10334625" cy="3977005"/>
          </a:xfrm>
        </p:spPr>
        <p:txBody>
          <a:bodyPr>
            <a:normAutofit/>
          </a:bodyPr>
          <a:lstStyle/>
          <a:p>
            <a:pPr algn="l">
              <a:lnSpc>
                <a:spcPct val="140000"/>
              </a:lnSpc>
            </a:pPr>
            <a:r>
              <a:rPr lang="en-US" altLang="zh-CN" sz="2665"/>
              <a:t>4.1956</a:t>
            </a:r>
            <a:r>
              <a:rPr lang="zh-CN" altLang="en-US" sz="2665"/>
              <a:t>年底，我国对农业、手工业和资本主义工商业的社会主义改造基本完成，农业、手工业个体所有制基本上转变成为（</a:t>
            </a:r>
            <a:r>
              <a:rPr lang="en-US" altLang="zh-CN" sz="2665"/>
              <a:t>  </a:t>
            </a:r>
            <a:r>
              <a:rPr lang="zh-CN" altLang="en-US" sz="2665"/>
              <a:t>）。</a:t>
            </a:r>
            <a:br>
              <a:rPr lang="zh-CN" altLang="en-US" sz="2665"/>
            </a:br>
            <a:r>
              <a:rPr lang="en-US" altLang="zh-CN" sz="2665"/>
              <a:t>A. </a:t>
            </a:r>
            <a:r>
              <a:rPr lang="zh-CN" altLang="en-US" sz="2665"/>
              <a:t>国家所有即全民所有的公有制</a:t>
            </a:r>
            <a:br>
              <a:rPr lang="zh-CN" altLang="en-US" sz="2665"/>
            </a:br>
            <a:r>
              <a:rPr lang="en-US" altLang="zh-CN" sz="2665"/>
              <a:t>B. </a:t>
            </a:r>
            <a:r>
              <a:rPr lang="zh-CN" altLang="en-US" sz="2665"/>
              <a:t>个体所有制和集体所有制的混合所有制</a:t>
            </a:r>
            <a:br>
              <a:rPr lang="zh-CN" altLang="en-US" sz="2665"/>
            </a:br>
            <a:r>
              <a:rPr lang="en-US" altLang="zh-CN" sz="2665"/>
              <a:t>C. </a:t>
            </a:r>
            <a:r>
              <a:rPr lang="zh-CN" altLang="en-US" sz="2665"/>
              <a:t>更大规模的私有制</a:t>
            </a:r>
            <a:br>
              <a:rPr lang="zh-CN" altLang="en-US" sz="2665"/>
            </a:br>
            <a:r>
              <a:rPr lang="en-US" altLang="zh-CN" sz="2665"/>
              <a:t>D. </a:t>
            </a:r>
            <a:r>
              <a:rPr lang="zh-CN" altLang="en-US" sz="2665"/>
              <a:t>劳动群众集休所有的公有制</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t>A</a:t>
            </a:r>
            <a:r>
              <a:rPr lang="zh-CN" altLang="en-US"/>
              <a:t>）</a:t>
            </a:r>
          </a:p>
        </p:txBody>
      </p:sp>
      <p:sp>
        <p:nvSpPr>
          <p:cNvPr id="2" name="标题 1"/>
          <p:cNvSpPr>
            <a:spLocks noGrp="1"/>
          </p:cNvSpPr>
          <p:nvPr>
            <p:ph type="ctrTitle"/>
          </p:nvPr>
        </p:nvSpPr>
        <p:spPr>
          <a:xfrm>
            <a:off x="904240" y="1207770"/>
            <a:ext cx="10334625" cy="3977005"/>
          </a:xfrm>
        </p:spPr>
        <p:txBody>
          <a:bodyPr>
            <a:normAutofit/>
          </a:bodyPr>
          <a:lstStyle/>
          <a:p>
            <a:pPr algn="l">
              <a:lnSpc>
                <a:spcPct val="140000"/>
              </a:lnSpc>
            </a:pPr>
            <a:r>
              <a:rPr lang="en-US" altLang="zh-CN" sz="2665"/>
              <a:t>5.1956</a:t>
            </a:r>
            <a:r>
              <a:rPr lang="zh-CN" altLang="en-US" sz="2665"/>
              <a:t>年底，我国对农业、手工业和资本主义工商业的社会主义改造基本完成，资本主义私有制基本上转变成为（</a:t>
            </a:r>
            <a:r>
              <a:rPr lang="en-US" altLang="zh-CN" sz="2665"/>
              <a:t> </a:t>
            </a:r>
            <a:r>
              <a:rPr lang="zh-CN" altLang="en-US" sz="2665"/>
              <a:t>）。</a:t>
            </a:r>
            <a:br>
              <a:rPr lang="zh-CN" altLang="en-US" sz="2665"/>
            </a:br>
            <a:r>
              <a:rPr lang="en-US" altLang="zh-CN" sz="2665"/>
              <a:t>A. </a:t>
            </a:r>
            <a:r>
              <a:rPr lang="zh-CN" altLang="en-US" sz="2665"/>
              <a:t>国家所有即全民所有的公有制</a:t>
            </a:r>
            <a:br>
              <a:rPr lang="zh-CN" altLang="en-US" sz="2665"/>
            </a:br>
            <a:r>
              <a:rPr lang="en-US" altLang="zh-CN" sz="2665"/>
              <a:t>B. </a:t>
            </a:r>
            <a:r>
              <a:rPr lang="zh-CN" altLang="en-US" sz="2665"/>
              <a:t>公有制和私有制的混合所有制</a:t>
            </a:r>
            <a:br>
              <a:rPr lang="zh-CN" altLang="en-US" sz="2665"/>
            </a:br>
            <a:r>
              <a:rPr lang="en-US" altLang="zh-CN" sz="2665"/>
              <a:t>C. </a:t>
            </a:r>
            <a:r>
              <a:rPr lang="zh-CN" altLang="en-US" sz="2665"/>
              <a:t>更大规模的私有制</a:t>
            </a:r>
            <a:br>
              <a:rPr lang="zh-CN" altLang="en-US" sz="2665"/>
            </a:br>
            <a:r>
              <a:rPr lang="en-US" altLang="zh-CN" sz="2665"/>
              <a:t>D. </a:t>
            </a:r>
            <a:r>
              <a:rPr lang="zh-CN" altLang="en-US" sz="2665"/>
              <a:t>劳动群众集休所有的公有制</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1207770"/>
            <a:ext cx="10334625" cy="3977005"/>
          </a:xfrm>
        </p:spPr>
        <p:txBody>
          <a:bodyPr>
            <a:normAutofit fontScale="90000"/>
          </a:bodyPr>
          <a:lstStyle/>
          <a:p>
            <a:pPr algn="l">
              <a:lnSpc>
                <a:spcPct val="140000"/>
              </a:lnSpc>
            </a:pPr>
            <a:r>
              <a:rPr lang="en-US" altLang="zh-CN" sz="2665"/>
              <a:t>6.1956</a:t>
            </a:r>
            <a:r>
              <a:rPr lang="zh-CN" altLang="en-US" sz="2665"/>
              <a:t>年底，我国对农业、手工业和资本主义工商业的社会主义改造基本完成，我国社会经济结构发生了根本变化，（</a:t>
            </a:r>
            <a:r>
              <a:rPr lang="en-US" altLang="zh-CN" sz="2665"/>
              <a:t>   </a:t>
            </a:r>
            <a:r>
              <a:rPr lang="zh-CN" altLang="en-US" sz="2665"/>
              <a:t>）已占绝对优势，社会主义公有制已成为我国社会的经济基础，标志着中国历史上长达数千年的阶级剥削制度的结束和社会主义基本制度的确立。</a:t>
            </a:r>
            <a:br>
              <a:rPr lang="zh-CN" altLang="en-US" sz="2665"/>
            </a:br>
            <a:r>
              <a:rPr lang="en-US" altLang="zh-CN" sz="2665"/>
              <a:t>A. </a:t>
            </a:r>
            <a:r>
              <a:rPr lang="zh-CN" altLang="en-US" sz="2665"/>
              <a:t>全民所有制</a:t>
            </a:r>
            <a:br>
              <a:rPr lang="zh-CN" altLang="en-US" sz="2665"/>
            </a:br>
            <a:r>
              <a:rPr lang="en-US" altLang="zh-CN" sz="2665"/>
              <a:t>B. </a:t>
            </a:r>
            <a:r>
              <a:rPr lang="zh-CN" altLang="en-US" sz="2665"/>
              <a:t>劳动群众集体所有制</a:t>
            </a:r>
            <a:br>
              <a:rPr lang="zh-CN" altLang="en-US" sz="2665"/>
            </a:br>
            <a:r>
              <a:rPr lang="en-US" altLang="zh-CN" sz="2665"/>
              <a:t>C. </a:t>
            </a:r>
            <a:r>
              <a:rPr lang="zh-CN" altLang="en-US" sz="2665"/>
              <a:t>全民所有制和劳动群众集体所有制经济这两种社会主义经济成分</a:t>
            </a:r>
            <a:br>
              <a:rPr lang="zh-CN" altLang="en-US" sz="2665"/>
            </a:br>
            <a:r>
              <a:rPr lang="en-US" altLang="zh-CN" sz="2665"/>
              <a:t>D. </a:t>
            </a:r>
            <a:r>
              <a:rPr lang="zh-CN" altLang="en-US" sz="2665"/>
              <a:t>国家资本主义经济</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1207770"/>
            <a:ext cx="10334625" cy="3977005"/>
          </a:xfrm>
        </p:spPr>
        <p:txBody>
          <a:bodyPr>
            <a:normAutofit fontScale="90000"/>
          </a:bodyPr>
          <a:lstStyle/>
          <a:p>
            <a:pPr algn="l">
              <a:lnSpc>
                <a:spcPct val="140000"/>
              </a:lnSpc>
            </a:pPr>
            <a:r>
              <a:rPr lang="en-US" altLang="zh-CN" sz="2665" dirty="0">
                <a:solidFill>
                  <a:srgbClr val="FF0000"/>
                </a:solidFill>
              </a:rPr>
              <a:t>7.</a:t>
            </a:r>
            <a:r>
              <a:rPr lang="zh-CN" altLang="en-US" sz="2665" dirty="0"/>
              <a:t>在过渡时期，对农业的社会主义改造大体上经历了互助组、初级社和高级社三个发展阶段。其中，第二阶段是建立初级农业生产合作社。初级社是在互助组的基础上，个体农民自愿组织起来经济组织，具有（</a:t>
            </a:r>
            <a:r>
              <a:rPr lang="en-US" altLang="zh-CN" sz="2665" dirty="0"/>
              <a:t>   </a:t>
            </a:r>
            <a:r>
              <a:rPr lang="zh-CN" altLang="en-US" sz="2665" dirty="0"/>
              <a:t>）。</a:t>
            </a:r>
            <a:br>
              <a:rPr lang="zh-CN" altLang="en-US" sz="2665" dirty="0"/>
            </a:br>
            <a:r>
              <a:rPr lang="en-US" altLang="zh-CN" sz="2665" dirty="0"/>
              <a:t>A. </a:t>
            </a:r>
            <a:r>
              <a:rPr lang="zh-CN" altLang="en-US" sz="2665" dirty="0"/>
              <a:t>公有制性质</a:t>
            </a:r>
            <a:br>
              <a:rPr lang="zh-CN" altLang="en-US" sz="2665" dirty="0"/>
            </a:br>
            <a:r>
              <a:rPr lang="en-US" altLang="zh-CN" sz="2665" dirty="0"/>
              <a:t>B. </a:t>
            </a:r>
            <a:r>
              <a:rPr lang="zh-CN" altLang="en-US" sz="2665" dirty="0"/>
              <a:t>社会主义萌芽性质</a:t>
            </a:r>
            <a:br>
              <a:rPr lang="zh-CN" altLang="en-US" sz="2665" dirty="0"/>
            </a:br>
            <a:r>
              <a:rPr lang="en-US" altLang="zh-CN" sz="2665" dirty="0"/>
              <a:t>C. </a:t>
            </a:r>
            <a:r>
              <a:rPr lang="zh-CN" altLang="en-US" sz="2665" dirty="0"/>
              <a:t>半社会主义性质</a:t>
            </a:r>
            <a:br>
              <a:rPr lang="zh-CN" altLang="en-US" sz="2665" dirty="0"/>
            </a:br>
            <a:r>
              <a:rPr lang="en-US" altLang="zh-CN" sz="2665" dirty="0"/>
              <a:t>D. </a:t>
            </a:r>
            <a:r>
              <a:rPr lang="zh-CN" altLang="en-US" sz="2665" dirty="0"/>
              <a:t>社会主义性质</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D</a:t>
            </a:r>
            <a:r>
              <a:rPr lang="zh-CN" altLang="en-US"/>
              <a:t>）</a:t>
            </a:r>
          </a:p>
        </p:txBody>
      </p:sp>
      <p:sp>
        <p:nvSpPr>
          <p:cNvPr id="2" name="标题 1"/>
          <p:cNvSpPr>
            <a:spLocks noGrp="1"/>
          </p:cNvSpPr>
          <p:nvPr>
            <p:ph type="ctrTitle"/>
          </p:nvPr>
        </p:nvSpPr>
        <p:spPr>
          <a:xfrm>
            <a:off x="904240" y="1207770"/>
            <a:ext cx="10334625" cy="3977005"/>
          </a:xfrm>
        </p:spPr>
        <p:txBody>
          <a:bodyPr>
            <a:normAutofit fontScale="90000"/>
          </a:bodyPr>
          <a:lstStyle/>
          <a:p>
            <a:pPr algn="l">
              <a:lnSpc>
                <a:spcPct val="140000"/>
              </a:lnSpc>
            </a:pPr>
            <a:r>
              <a:rPr lang="en-US" altLang="zh-CN" sz="2665"/>
              <a:t>8.</a:t>
            </a:r>
            <a:r>
              <a:rPr lang="zh-CN" altLang="en-US" sz="2665"/>
              <a:t>在过渡时期，对农业的社会主义改造大体上经历了互助组、初级社和高级社三个发展阶段。其中，第三阶段是发展高级农业生产合作社。髙级社具有（</a:t>
            </a:r>
            <a:r>
              <a:rPr lang="en-US" altLang="zh-CN" sz="2665"/>
              <a:t>  </a:t>
            </a:r>
            <a:r>
              <a:rPr lang="zh-CN" altLang="en-US" sz="2665"/>
              <a:t>）。</a:t>
            </a:r>
            <a:br>
              <a:rPr lang="zh-CN" altLang="en-US" sz="2665"/>
            </a:br>
            <a:r>
              <a:rPr lang="en-US" altLang="zh-CN" sz="2665"/>
              <a:t>A. </a:t>
            </a:r>
            <a:r>
              <a:rPr lang="zh-CN" altLang="en-US" sz="2665"/>
              <a:t>私有制性质</a:t>
            </a:r>
            <a:br>
              <a:rPr lang="zh-CN" altLang="en-US" sz="2665"/>
            </a:br>
            <a:r>
              <a:rPr lang="en-US" altLang="zh-CN" sz="2665"/>
              <a:t>B. </a:t>
            </a:r>
            <a:r>
              <a:rPr lang="zh-CN" altLang="en-US" sz="2665"/>
              <a:t>社会主义萌芽性质</a:t>
            </a:r>
            <a:br>
              <a:rPr lang="zh-CN" altLang="en-US" sz="2665"/>
            </a:br>
            <a:r>
              <a:rPr lang="en-US" altLang="zh-CN" sz="2665"/>
              <a:t>C. </a:t>
            </a:r>
            <a:r>
              <a:rPr lang="zh-CN" altLang="en-US" sz="2665"/>
              <a:t>半社会主义性质</a:t>
            </a:r>
            <a:br>
              <a:rPr lang="zh-CN" altLang="en-US" sz="2665"/>
            </a:br>
            <a:r>
              <a:rPr lang="en-US" altLang="zh-CN" sz="2665"/>
              <a:t>D. </a:t>
            </a:r>
            <a:r>
              <a:rPr lang="zh-CN" altLang="en-US" sz="2665"/>
              <a:t>社会主义性质</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ABCDE</a:t>
            </a:r>
            <a:r>
              <a:rPr lang="zh-CN" altLang="en-US">
                <a:sym typeface="+mn-ea"/>
              </a:rPr>
              <a:t>）</a:t>
            </a:r>
          </a:p>
        </p:txBody>
      </p:sp>
      <p:sp>
        <p:nvSpPr>
          <p:cNvPr id="2" name="标题 1"/>
          <p:cNvSpPr>
            <a:spLocks noGrp="1"/>
          </p:cNvSpPr>
          <p:nvPr>
            <p:ph type="ctrTitle"/>
          </p:nvPr>
        </p:nvSpPr>
        <p:spPr>
          <a:xfrm>
            <a:off x="904240" y="1561465"/>
            <a:ext cx="10334625" cy="3623310"/>
          </a:xfrm>
        </p:spPr>
        <p:txBody>
          <a:bodyPr>
            <a:normAutofit/>
          </a:bodyPr>
          <a:lstStyle/>
          <a:p>
            <a:pPr algn="l">
              <a:lnSpc>
                <a:spcPct val="140000"/>
              </a:lnSpc>
            </a:pPr>
            <a:r>
              <a:rPr lang="en-US" altLang="zh-CN" sz="2665"/>
              <a:t>1. </a:t>
            </a:r>
            <a:r>
              <a:rPr lang="zh-CN" altLang="en-US" sz="2665"/>
              <a:t>在新民主主义社会中，存在着多种经济成分，包括（</a:t>
            </a:r>
            <a:r>
              <a:rPr lang="en-US" altLang="zh-CN" sz="2665"/>
              <a:t>   </a:t>
            </a:r>
            <a:r>
              <a:rPr lang="zh-CN" altLang="en-US" sz="2665"/>
              <a:t>）。</a:t>
            </a:r>
            <a:br>
              <a:rPr lang="zh-CN" altLang="en-US" sz="2665"/>
            </a:br>
            <a:r>
              <a:rPr lang="en-US" altLang="zh-CN" sz="2665"/>
              <a:t>A. </a:t>
            </a:r>
            <a:r>
              <a:rPr lang="zh-CN" altLang="en-US" sz="2665"/>
              <a:t>社会主义性质的国营经济</a:t>
            </a:r>
            <a:br>
              <a:rPr lang="zh-CN" altLang="en-US" sz="2665"/>
            </a:br>
            <a:r>
              <a:rPr lang="en-US" altLang="zh-CN" sz="2665"/>
              <a:t>B. </a:t>
            </a:r>
            <a:r>
              <a:rPr lang="zh-CN" altLang="en-US" sz="2665"/>
              <a:t>半社会主义性质的合作社经济</a:t>
            </a:r>
            <a:br>
              <a:rPr lang="zh-CN" altLang="en-US" sz="2665"/>
            </a:br>
            <a:r>
              <a:rPr lang="en-US" altLang="zh-CN" sz="2665"/>
              <a:t>C. </a:t>
            </a:r>
            <a:r>
              <a:rPr lang="zh-CN" altLang="en-US" sz="2665"/>
              <a:t>农民和手工业者的个体经济</a:t>
            </a:r>
            <a:br>
              <a:rPr lang="zh-CN" altLang="en-US" sz="2665"/>
            </a:br>
            <a:r>
              <a:rPr lang="en-US" altLang="zh-CN" sz="2665"/>
              <a:t>D. </a:t>
            </a:r>
            <a:r>
              <a:rPr lang="zh-CN" altLang="en-US" sz="2665"/>
              <a:t>私人资本主义经济</a:t>
            </a:r>
            <a:br>
              <a:rPr lang="zh-CN" altLang="en-US" sz="2665"/>
            </a:br>
            <a:r>
              <a:rPr lang="en-US" altLang="zh-CN" sz="2665"/>
              <a:t>E. </a:t>
            </a:r>
            <a:r>
              <a:rPr lang="zh-CN" altLang="en-US" sz="2665"/>
              <a:t>国家资本主义经济</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BDE</a:t>
            </a:r>
            <a:r>
              <a:rPr lang="zh-CN" altLang="en-US">
                <a:sym typeface="+mn-ea"/>
              </a:rPr>
              <a:t>）</a:t>
            </a:r>
          </a:p>
        </p:txBody>
      </p:sp>
      <p:sp>
        <p:nvSpPr>
          <p:cNvPr id="2" name="标题 1"/>
          <p:cNvSpPr>
            <a:spLocks noGrp="1"/>
          </p:cNvSpPr>
          <p:nvPr>
            <p:ph type="ctrTitle"/>
          </p:nvPr>
        </p:nvSpPr>
        <p:spPr>
          <a:xfrm>
            <a:off x="904240" y="1561465"/>
            <a:ext cx="10334625" cy="3623310"/>
          </a:xfrm>
        </p:spPr>
        <p:txBody>
          <a:bodyPr>
            <a:normAutofit fontScale="90000"/>
          </a:bodyPr>
          <a:lstStyle/>
          <a:p>
            <a:pPr algn="l">
              <a:lnSpc>
                <a:spcPct val="140000"/>
              </a:lnSpc>
            </a:pPr>
            <a:r>
              <a:rPr lang="en-US" altLang="zh-CN" sz="2665"/>
              <a:t>2. </a:t>
            </a:r>
            <a:r>
              <a:rPr lang="zh-CN" altLang="en-US" sz="2665"/>
              <a:t>新民主主义时期，中国社会的阶级构成主要是（</a:t>
            </a:r>
            <a:r>
              <a:rPr lang="en-US" altLang="zh-CN" sz="2665"/>
              <a:t>   </a:t>
            </a:r>
            <a:r>
              <a:rPr lang="zh-CN" altLang="en-US" sz="2665"/>
              <a:t>）等基本的阶级力量。</a:t>
            </a:r>
            <a:br>
              <a:rPr lang="zh-CN" altLang="en-US" sz="2665"/>
            </a:br>
            <a:r>
              <a:rPr lang="en-US" altLang="zh-CN" sz="2665"/>
              <a:t>A. </a:t>
            </a:r>
            <a:r>
              <a:rPr lang="zh-CN" altLang="en-US" sz="2665"/>
              <a:t>地主阶级</a:t>
            </a:r>
            <a:br>
              <a:rPr lang="zh-CN" altLang="en-US" sz="2665"/>
            </a:br>
            <a:r>
              <a:rPr lang="en-US" altLang="zh-CN" sz="2665"/>
              <a:t>B. </a:t>
            </a:r>
            <a:r>
              <a:rPr lang="zh-CN" altLang="en-US" sz="2665"/>
              <a:t>工人阶级</a:t>
            </a:r>
            <a:br>
              <a:rPr lang="zh-CN" altLang="en-US" sz="2665"/>
            </a:br>
            <a:r>
              <a:rPr lang="en-US" altLang="zh-CN" sz="2665"/>
              <a:t>C. </a:t>
            </a:r>
            <a:r>
              <a:rPr lang="zh-CN" altLang="en-US" sz="2665"/>
              <a:t>官僚资产阶级</a:t>
            </a:r>
            <a:br>
              <a:rPr lang="zh-CN" altLang="en-US" sz="2665"/>
            </a:br>
            <a:r>
              <a:rPr lang="en-US" altLang="zh-CN" sz="2665"/>
              <a:t>D. </a:t>
            </a:r>
            <a:r>
              <a:rPr lang="zh-CN" altLang="en-US" sz="2665"/>
              <a:t>农民阶级和其他小资产阶级</a:t>
            </a:r>
            <a:br>
              <a:rPr lang="zh-CN" altLang="en-US" sz="2665"/>
            </a:br>
            <a:r>
              <a:rPr lang="en-US" altLang="zh-CN" sz="2665"/>
              <a:t>E. </a:t>
            </a:r>
            <a:r>
              <a:rPr lang="zh-CN" altLang="en-US" sz="2665"/>
              <a:t>民族资产阶级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ABCD</a:t>
            </a:r>
            <a:r>
              <a:rPr lang="zh-CN" altLang="en-US">
                <a:sym typeface="+mn-ea"/>
              </a:rPr>
              <a:t>）</a:t>
            </a:r>
          </a:p>
        </p:txBody>
      </p:sp>
      <p:sp>
        <p:nvSpPr>
          <p:cNvPr id="2" name="标题 1"/>
          <p:cNvSpPr>
            <a:spLocks noGrp="1"/>
          </p:cNvSpPr>
          <p:nvPr>
            <p:ph type="ctrTitle"/>
          </p:nvPr>
        </p:nvSpPr>
        <p:spPr>
          <a:xfrm>
            <a:off x="904240" y="1561465"/>
            <a:ext cx="10334625" cy="3623310"/>
          </a:xfrm>
        </p:spPr>
        <p:txBody>
          <a:bodyPr>
            <a:normAutofit fontScale="90000"/>
          </a:bodyPr>
          <a:lstStyle/>
          <a:p>
            <a:pPr algn="l">
              <a:lnSpc>
                <a:spcPct val="140000"/>
              </a:lnSpc>
            </a:pPr>
            <a:r>
              <a:rPr lang="en-US" altLang="zh-CN" sz="2665"/>
              <a:t>3. 1953</a:t>
            </a:r>
            <a:r>
              <a:rPr lang="zh-CN" altLang="en-US" sz="2665"/>
              <a:t>年</a:t>
            </a:r>
            <a:r>
              <a:rPr lang="en-US" altLang="zh-CN" sz="2665"/>
              <a:t>12</a:t>
            </a:r>
            <a:r>
              <a:rPr lang="zh-CN" altLang="en-US" sz="2665"/>
              <a:t>月，形成了关于过渡时期总路线的完整表述：从中华人民共和国成立，到社会主义改造基本完成，这是一个过渡时期。党在这个过渡时期的总路线和总任务，是要在一个相当长的时期内，逐步实现（</a:t>
            </a:r>
            <a:r>
              <a:rPr lang="en-US" altLang="zh-CN" sz="2665"/>
              <a:t>  </a:t>
            </a:r>
            <a:r>
              <a:rPr lang="zh-CN" altLang="en-US" sz="2665"/>
              <a:t>）。</a:t>
            </a:r>
            <a:br>
              <a:rPr lang="zh-CN" altLang="en-US" sz="2665"/>
            </a:br>
            <a:r>
              <a:rPr lang="en-US" altLang="zh-CN" sz="2665"/>
              <a:t>A. </a:t>
            </a:r>
            <a:r>
              <a:rPr lang="zh-CN" altLang="en-US" sz="2665"/>
              <a:t>国家的社会主义工业化</a:t>
            </a:r>
            <a:br>
              <a:rPr lang="zh-CN" altLang="en-US" sz="2665"/>
            </a:br>
            <a:r>
              <a:rPr lang="en-US" altLang="zh-CN" sz="2665"/>
              <a:t>B. </a:t>
            </a:r>
            <a:r>
              <a:rPr lang="zh-CN" altLang="en-US" sz="2665"/>
              <a:t>对农业的社会主义改造</a:t>
            </a:r>
            <a:br>
              <a:rPr lang="zh-CN" altLang="en-US" sz="2665"/>
            </a:br>
            <a:r>
              <a:rPr lang="en-US" altLang="zh-CN" sz="2665"/>
              <a:t>C. </a:t>
            </a:r>
            <a:r>
              <a:rPr lang="zh-CN" altLang="en-US" sz="2665"/>
              <a:t>对手工业的社会主义改造</a:t>
            </a:r>
            <a:br>
              <a:rPr lang="zh-CN" altLang="en-US" sz="2665"/>
            </a:br>
            <a:r>
              <a:rPr lang="en-US" altLang="zh-CN" sz="2665"/>
              <a:t>D. </a:t>
            </a:r>
            <a:r>
              <a:rPr lang="zh-CN" altLang="en-US" sz="2665"/>
              <a:t>对资本主义工商业的社会主义改造</a:t>
            </a:r>
            <a:br>
              <a:rPr lang="zh-CN" altLang="en-US" sz="2665"/>
            </a:br>
            <a:r>
              <a:rPr lang="en-US" altLang="zh-CN" sz="2665"/>
              <a:t>E. </a:t>
            </a:r>
            <a:r>
              <a:rPr lang="zh-CN" altLang="en-US" sz="2665"/>
              <a:t>社会主义现代化</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答案：（ABD）</a:t>
            </a:r>
          </a:p>
        </p:txBody>
      </p:sp>
      <p:sp>
        <p:nvSpPr>
          <p:cNvPr id="2" name="标题 1"/>
          <p:cNvSpPr>
            <a:spLocks noGrp="1"/>
          </p:cNvSpPr>
          <p:nvPr>
            <p:ph type="ctrTitle"/>
          </p:nvPr>
        </p:nvSpPr>
        <p:spPr>
          <a:xfrm>
            <a:off x="904240" y="1561465"/>
            <a:ext cx="10334625" cy="3623310"/>
          </a:xfrm>
        </p:spPr>
        <p:txBody>
          <a:bodyPr>
            <a:normAutofit fontScale="90000"/>
          </a:bodyPr>
          <a:lstStyle/>
          <a:p>
            <a:pPr algn="l">
              <a:lnSpc>
                <a:spcPct val="140000"/>
              </a:lnSpc>
            </a:pPr>
            <a:r>
              <a:rPr lang="en-US" altLang="zh-CN" sz="2665"/>
              <a:t>4. </a:t>
            </a:r>
            <a:r>
              <a:rPr lang="zh-CN" altLang="en-US" sz="2665"/>
              <a:t>党在过渡时期总路线的主要内容被概括为</a:t>
            </a:r>
            <a:r>
              <a:rPr lang="en-US" altLang="zh-CN" sz="2665"/>
              <a:t>“</a:t>
            </a:r>
            <a:r>
              <a:rPr lang="zh-CN" altLang="en-US" sz="2665"/>
              <a:t>一化三改</a:t>
            </a:r>
            <a:r>
              <a:rPr lang="en-US" altLang="zh-CN" sz="2665"/>
              <a:t>”</a:t>
            </a:r>
            <a:r>
              <a:rPr lang="zh-CN" altLang="en-US" sz="2665"/>
              <a:t>。</a:t>
            </a:r>
            <a:r>
              <a:rPr lang="en-US" altLang="zh-CN" sz="2665"/>
              <a:t>“</a:t>
            </a:r>
            <a:r>
              <a:rPr lang="zh-CN" altLang="en-US" sz="2665"/>
              <a:t>一化</a:t>
            </a:r>
            <a:r>
              <a:rPr lang="en-US" altLang="zh-CN" sz="2665"/>
              <a:t>”</a:t>
            </a:r>
            <a:r>
              <a:rPr lang="zh-CN" altLang="en-US" sz="2665"/>
              <a:t>即社会主义工业化，</a:t>
            </a:r>
            <a:r>
              <a:rPr lang="en-US" altLang="zh-CN" sz="2665"/>
              <a:t>“</a:t>
            </a:r>
            <a:r>
              <a:rPr lang="zh-CN" altLang="en-US" sz="2665"/>
              <a:t>三改</a:t>
            </a:r>
            <a:r>
              <a:rPr lang="en-US" altLang="zh-CN" sz="2665"/>
              <a:t>”</a:t>
            </a:r>
            <a:r>
              <a:rPr lang="zh-CN" altLang="en-US" sz="2665"/>
              <a:t>即对（</a:t>
            </a:r>
            <a:r>
              <a:rPr lang="en-US" altLang="zh-CN" sz="2665"/>
              <a:t>  </a:t>
            </a:r>
            <a:r>
              <a:rPr lang="zh-CN" altLang="en-US" sz="2665"/>
              <a:t>）的社会主义改造。</a:t>
            </a:r>
            <a:br>
              <a:rPr lang="zh-CN" altLang="en-US" sz="2665"/>
            </a:br>
            <a:r>
              <a:rPr lang="en-US" altLang="zh-CN" sz="2665"/>
              <a:t>A. </a:t>
            </a:r>
            <a:r>
              <a:rPr lang="zh-CN" altLang="en-US" sz="2665"/>
              <a:t>个体农业</a:t>
            </a:r>
            <a:br>
              <a:rPr lang="zh-CN" altLang="en-US" sz="2665"/>
            </a:br>
            <a:r>
              <a:rPr lang="en-US" altLang="zh-CN" sz="2665"/>
              <a:t>B. </a:t>
            </a:r>
            <a:r>
              <a:rPr lang="zh-CN" altLang="en-US" sz="2665"/>
              <a:t>个体手工业</a:t>
            </a:r>
            <a:br>
              <a:rPr lang="zh-CN" altLang="en-US" sz="2665"/>
            </a:br>
            <a:r>
              <a:rPr lang="en-US" altLang="zh-CN" sz="2665"/>
              <a:t>C. </a:t>
            </a:r>
            <a:r>
              <a:rPr lang="zh-CN" altLang="en-US" sz="2665"/>
              <a:t>地主阶级</a:t>
            </a:r>
            <a:br>
              <a:rPr lang="zh-CN" altLang="en-US" sz="2665"/>
            </a:br>
            <a:r>
              <a:rPr lang="en-US" altLang="zh-CN" sz="2665"/>
              <a:t>D. </a:t>
            </a:r>
            <a:r>
              <a:rPr lang="zh-CN" altLang="en-US" sz="2665"/>
              <a:t>资本主义工商业</a:t>
            </a:r>
            <a:br>
              <a:rPr lang="zh-CN" altLang="en-US" sz="2665"/>
            </a:br>
            <a:r>
              <a:rPr lang="en-US" altLang="zh-CN" sz="2665"/>
              <a:t>E. </a:t>
            </a:r>
            <a:r>
              <a:rPr lang="zh-CN" altLang="en-US" sz="2665"/>
              <a:t>官僚资产阶级</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ABCDE</a:t>
            </a:r>
            <a:r>
              <a:rPr lang="zh-CN" altLang="en-US">
                <a:sym typeface="+mn-ea"/>
              </a:rPr>
              <a:t>）</a:t>
            </a:r>
          </a:p>
        </p:txBody>
      </p:sp>
      <p:sp>
        <p:nvSpPr>
          <p:cNvPr id="2" name="标题 1"/>
          <p:cNvSpPr>
            <a:spLocks noGrp="1"/>
          </p:cNvSpPr>
          <p:nvPr>
            <p:ph type="ctrTitle"/>
          </p:nvPr>
        </p:nvSpPr>
        <p:spPr>
          <a:xfrm>
            <a:off x="904240" y="1561465"/>
            <a:ext cx="10334625" cy="3623310"/>
          </a:xfrm>
        </p:spPr>
        <p:txBody>
          <a:bodyPr>
            <a:normAutofit fontScale="90000"/>
          </a:bodyPr>
          <a:lstStyle/>
          <a:p>
            <a:pPr algn="l">
              <a:lnSpc>
                <a:spcPct val="140000"/>
              </a:lnSpc>
            </a:pPr>
            <a:r>
              <a:rPr lang="en-US" altLang="zh-CN" sz="2665"/>
              <a:t>5. </a:t>
            </a:r>
            <a:r>
              <a:rPr lang="zh-CN" altLang="en-US" sz="2665"/>
              <a:t>党在过渡时期总路线的主要内容被概括为</a:t>
            </a:r>
            <a:r>
              <a:rPr lang="en-US" altLang="zh-CN" sz="2665"/>
              <a:t>“</a:t>
            </a:r>
            <a:r>
              <a:rPr lang="zh-CN" altLang="en-US" sz="2665"/>
              <a:t>一化三改</a:t>
            </a:r>
            <a:r>
              <a:rPr lang="en-US" altLang="zh-CN" sz="2665"/>
              <a:t>”</a:t>
            </a:r>
            <a:r>
              <a:rPr lang="zh-CN" altLang="en-US" sz="2665"/>
              <a:t>，也被比喻为</a:t>
            </a:r>
            <a:r>
              <a:rPr lang="en-US" altLang="zh-CN" sz="2665"/>
              <a:t>“</a:t>
            </a:r>
            <a:r>
              <a:rPr lang="zh-CN" altLang="en-US" sz="2665"/>
              <a:t>一体两翼</a:t>
            </a:r>
            <a:r>
              <a:rPr lang="en-US" altLang="zh-CN" sz="2665"/>
              <a:t>”</a:t>
            </a:r>
            <a:r>
              <a:rPr lang="zh-CN" altLang="en-US" sz="2665"/>
              <a:t>。以下选项中，关于</a:t>
            </a:r>
            <a:r>
              <a:rPr lang="en-US" altLang="zh-CN" sz="2665"/>
              <a:t>“</a:t>
            </a:r>
            <a:r>
              <a:rPr lang="zh-CN" altLang="en-US" sz="2665"/>
              <a:t>一体两翼</a:t>
            </a:r>
            <a:r>
              <a:rPr lang="en-US" altLang="zh-CN" sz="2665"/>
              <a:t>”</a:t>
            </a:r>
            <a:r>
              <a:rPr lang="zh-CN" altLang="en-US" sz="2665"/>
              <a:t>的表述正确的有（</a:t>
            </a:r>
            <a:r>
              <a:rPr lang="en-US" altLang="zh-CN" sz="2665"/>
              <a:t>   </a:t>
            </a:r>
            <a:r>
              <a:rPr lang="zh-CN" altLang="en-US" sz="2665"/>
              <a:t>）。</a:t>
            </a:r>
            <a:br>
              <a:rPr lang="zh-CN" altLang="en-US" sz="2665"/>
            </a:br>
            <a:r>
              <a:rPr lang="en-US" altLang="zh-CN" sz="2665"/>
              <a:t>A.“</a:t>
            </a:r>
            <a:r>
              <a:rPr lang="zh-CN" altLang="en-US" sz="2665"/>
              <a:t>一化</a:t>
            </a:r>
            <a:r>
              <a:rPr lang="en-US" altLang="zh-CN" sz="2665"/>
              <a:t>”</a:t>
            </a:r>
            <a:r>
              <a:rPr lang="zh-CN" altLang="en-US" sz="2665"/>
              <a:t>是</a:t>
            </a:r>
            <a:r>
              <a:rPr lang="en-US" altLang="zh-CN" sz="2665"/>
              <a:t>“</a:t>
            </a:r>
            <a:r>
              <a:rPr lang="zh-CN" altLang="en-US" sz="2665"/>
              <a:t>主体</a:t>
            </a:r>
            <a:r>
              <a:rPr lang="en-US" altLang="zh-CN" sz="2665"/>
              <a:t>”</a:t>
            </a:r>
            <a:r>
              <a:rPr lang="zh-CN" altLang="en-US" sz="2665"/>
              <a:t>，就是发展社会主义工业</a:t>
            </a:r>
            <a:br>
              <a:rPr lang="zh-CN" altLang="en-US" sz="2665"/>
            </a:br>
            <a:r>
              <a:rPr lang="en-US" altLang="zh-CN" sz="2665"/>
              <a:t>B.“</a:t>
            </a:r>
            <a:r>
              <a:rPr lang="zh-CN" altLang="en-US" sz="2665"/>
              <a:t>三改</a:t>
            </a:r>
            <a:r>
              <a:rPr lang="en-US" altLang="zh-CN" sz="2665"/>
              <a:t>”</a:t>
            </a:r>
            <a:r>
              <a:rPr lang="zh-CN" altLang="en-US" sz="2665"/>
              <a:t>是</a:t>
            </a:r>
            <a:r>
              <a:rPr lang="en-US" altLang="zh-CN" sz="2665"/>
              <a:t>“</a:t>
            </a:r>
            <a:r>
              <a:rPr lang="zh-CN" altLang="en-US" sz="2665"/>
              <a:t>两翼</a:t>
            </a:r>
            <a:r>
              <a:rPr lang="en-US" altLang="zh-CN" sz="2665"/>
              <a:t>”</a:t>
            </a:r>
            <a:br>
              <a:rPr lang="en-US" altLang="zh-CN" sz="2665"/>
            </a:br>
            <a:r>
              <a:rPr lang="en-US" altLang="zh-CN" sz="2665"/>
              <a:t>C. “</a:t>
            </a:r>
            <a:r>
              <a:rPr lang="zh-CN" altLang="en-US" sz="2665"/>
              <a:t>两翼</a:t>
            </a:r>
            <a:r>
              <a:rPr lang="en-US" altLang="zh-CN" sz="2665"/>
              <a:t>”</a:t>
            </a:r>
            <a:r>
              <a:rPr lang="zh-CN" altLang="en-US" sz="2665"/>
              <a:t>就是对农业、手工业的改造和对资本主义工商业的改造</a:t>
            </a:r>
            <a:br>
              <a:rPr lang="zh-CN" altLang="en-US" sz="2665"/>
            </a:br>
            <a:r>
              <a:rPr lang="en-US" altLang="zh-CN" sz="2665"/>
              <a:t>D. “</a:t>
            </a:r>
            <a:r>
              <a:rPr lang="zh-CN" altLang="en-US" sz="2665"/>
              <a:t>两翼</a:t>
            </a:r>
            <a:r>
              <a:rPr lang="en-US" altLang="zh-CN" sz="2665"/>
              <a:t>”</a:t>
            </a:r>
            <a:r>
              <a:rPr lang="zh-CN" altLang="en-US" sz="2665"/>
              <a:t>就是对个体经济和资本主义经济的社会主义改造</a:t>
            </a:r>
            <a:br>
              <a:rPr lang="zh-CN" altLang="en-US" sz="2665"/>
            </a:br>
            <a:r>
              <a:rPr lang="en-US" altLang="zh-CN" sz="2665"/>
              <a:t>E. “</a:t>
            </a:r>
            <a:r>
              <a:rPr lang="zh-CN" altLang="en-US" sz="2665"/>
              <a:t>主体</a:t>
            </a:r>
            <a:r>
              <a:rPr lang="en-US" altLang="zh-CN" sz="2665"/>
              <a:t>”</a:t>
            </a:r>
            <a:r>
              <a:rPr lang="zh-CN" altLang="en-US" sz="2665"/>
              <a:t>是通过社会主义工业化发展生产力，</a:t>
            </a:r>
            <a:r>
              <a:rPr lang="en-US" altLang="zh-CN" sz="2665"/>
              <a:t>“</a:t>
            </a:r>
            <a:r>
              <a:rPr lang="zh-CN" altLang="en-US" sz="2665"/>
              <a:t>两翼</a:t>
            </a:r>
            <a:r>
              <a:rPr lang="en-US" altLang="zh-CN" sz="2665"/>
              <a:t>”</a:t>
            </a:r>
            <a:r>
              <a:rPr lang="zh-CN" altLang="en-US" sz="2665"/>
              <a:t>是通过对私有制经济的社会主义改造变革生产关系为工业化创造条件</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ABCDE</a:t>
            </a:r>
            <a:r>
              <a:rPr lang="zh-CN" altLang="en-US">
                <a:sym typeface="+mn-ea"/>
              </a:rPr>
              <a:t>）</a:t>
            </a:r>
          </a:p>
        </p:txBody>
      </p:sp>
      <p:sp>
        <p:nvSpPr>
          <p:cNvPr id="2" name="标题 1"/>
          <p:cNvSpPr>
            <a:spLocks noGrp="1"/>
          </p:cNvSpPr>
          <p:nvPr>
            <p:ph type="ctrTitle"/>
          </p:nvPr>
        </p:nvSpPr>
        <p:spPr>
          <a:xfrm>
            <a:off x="904240" y="1561465"/>
            <a:ext cx="10334625" cy="3623310"/>
          </a:xfrm>
        </p:spPr>
        <p:txBody>
          <a:bodyPr>
            <a:normAutofit fontScale="90000"/>
          </a:bodyPr>
          <a:lstStyle/>
          <a:p>
            <a:pPr algn="l">
              <a:lnSpc>
                <a:spcPct val="140000"/>
              </a:lnSpc>
            </a:pPr>
            <a:r>
              <a:rPr lang="en-US" altLang="zh-CN" sz="2665"/>
              <a:t>6. </a:t>
            </a:r>
            <a:r>
              <a:rPr lang="zh-CN" altLang="en-US" sz="2665"/>
              <a:t>关于党在党在过渡时期总路线，下列表述正确的有（</a:t>
            </a:r>
            <a:r>
              <a:rPr lang="en-US" altLang="zh-CN" sz="2665"/>
              <a:t>   </a:t>
            </a:r>
            <a:r>
              <a:rPr lang="zh-CN" altLang="en-US" sz="2665"/>
              <a:t>）。</a:t>
            </a:r>
            <a:br>
              <a:rPr lang="zh-CN" altLang="en-US" sz="2665"/>
            </a:br>
            <a:r>
              <a:rPr lang="en-US" altLang="zh-CN" sz="2665"/>
              <a:t>A. </a:t>
            </a:r>
            <a:r>
              <a:rPr lang="zh-CN" altLang="en-US" sz="2665"/>
              <a:t>党在过渡时期总路线的主要内容被概括为</a:t>
            </a:r>
            <a:r>
              <a:rPr lang="en-US" altLang="zh-CN" sz="2665"/>
              <a:t>“</a:t>
            </a:r>
            <a:r>
              <a:rPr lang="zh-CN" altLang="en-US" sz="2665"/>
              <a:t>一化三改</a:t>
            </a:r>
            <a:r>
              <a:rPr lang="en-US" altLang="zh-CN" sz="2665"/>
              <a:t>”</a:t>
            </a:r>
            <a:br>
              <a:rPr lang="en-US" altLang="zh-CN" sz="2665"/>
            </a:br>
            <a:r>
              <a:rPr lang="en-US" altLang="zh-CN" sz="2665"/>
              <a:t>B. “</a:t>
            </a:r>
            <a:r>
              <a:rPr lang="zh-CN" altLang="en-US" sz="2665"/>
              <a:t>一化</a:t>
            </a:r>
            <a:r>
              <a:rPr lang="en-US" altLang="zh-CN" sz="2665"/>
              <a:t>”</a:t>
            </a:r>
            <a:r>
              <a:rPr lang="zh-CN" altLang="en-US" sz="2665"/>
              <a:t>即社会主义工业化，</a:t>
            </a:r>
            <a:r>
              <a:rPr lang="en-US" altLang="zh-CN" sz="2665"/>
              <a:t>“</a:t>
            </a:r>
            <a:r>
              <a:rPr lang="zh-CN" altLang="en-US" sz="2665"/>
              <a:t>三改</a:t>
            </a:r>
            <a:r>
              <a:rPr lang="en-US" altLang="zh-CN" sz="2665"/>
              <a:t>”</a:t>
            </a:r>
            <a:r>
              <a:rPr lang="zh-CN" altLang="en-US" sz="2665"/>
              <a:t>即对个体农业、手工业和资本主义工商业的社会主义改造</a:t>
            </a:r>
            <a:br>
              <a:rPr lang="zh-CN" altLang="en-US" sz="2665"/>
            </a:br>
            <a:r>
              <a:rPr lang="en-US" altLang="zh-CN" sz="2665"/>
              <a:t>C. “</a:t>
            </a:r>
            <a:r>
              <a:rPr lang="zh-CN" altLang="en-US" sz="2665"/>
              <a:t>一化</a:t>
            </a:r>
            <a:r>
              <a:rPr lang="en-US" altLang="zh-CN" sz="2665"/>
              <a:t>”</a:t>
            </a:r>
            <a:r>
              <a:rPr lang="zh-CN" altLang="en-US" sz="2665"/>
              <a:t>与</a:t>
            </a:r>
            <a:r>
              <a:rPr lang="en-US" altLang="zh-CN" sz="2665"/>
              <a:t>“</a:t>
            </a:r>
            <a:r>
              <a:rPr lang="zh-CN" altLang="en-US" sz="2665"/>
              <a:t>三改</a:t>
            </a:r>
            <a:r>
              <a:rPr lang="en-US" altLang="zh-CN" sz="2665"/>
              <a:t>”</a:t>
            </a:r>
            <a:r>
              <a:rPr lang="zh-CN" altLang="en-US" sz="2665"/>
              <a:t>的关系好比鸟的</a:t>
            </a:r>
            <a:r>
              <a:rPr lang="en-US" altLang="zh-CN" sz="2665"/>
              <a:t>“</a:t>
            </a:r>
            <a:r>
              <a:rPr lang="zh-CN" altLang="en-US" sz="2665"/>
              <a:t>主体</a:t>
            </a:r>
            <a:r>
              <a:rPr lang="en-US" altLang="zh-CN" sz="2665"/>
              <a:t>”</a:t>
            </a:r>
            <a:r>
              <a:rPr lang="zh-CN" altLang="en-US" sz="2665"/>
              <a:t>和</a:t>
            </a:r>
            <a:r>
              <a:rPr lang="en-US" altLang="zh-CN" sz="2665"/>
              <a:t>“</a:t>
            </a:r>
            <a:r>
              <a:rPr lang="zh-CN" altLang="en-US" sz="2665"/>
              <a:t>两翼</a:t>
            </a:r>
            <a:r>
              <a:rPr lang="en-US" altLang="zh-CN" sz="2665"/>
              <a:t>”</a:t>
            </a:r>
            <a:r>
              <a:rPr lang="zh-CN" altLang="en-US" sz="2665"/>
              <a:t>，</a:t>
            </a:r>
            <a:r>
              <a:rPr lang="en-US" altLang="zh-CN" sz="2665"/>
              <a:t>“</a:t>
            </a:r>
            <a:r>
              <a:rPr lang="zh-CN" altLang="en-US" sz="2665"/>
              <a:t>一化</a:t>
            </a:r>
            <a:r>
              <a:rPr lang="en-US" altLang="zh-CN" sz="2665"/>
              <a:t>”</a:t>
            </a:r>
            <a:r>
              <a:rPr lang="zh-CN" altLang="en-US" sz="2665"/>
              <a:t>是</a:t>
            </a:r>
            <a:r>
              <a:rPr lang="en-US" altLang="zh-CN" sz="2665"/>
              <a:t>“</a:t>
            </a:r>
            <a:r>
              <a:rPr lang="zh-CN" altLang="en-US" sz="2665"/>
              <a:t>主体</a:t>
            </a:r>
            <a:r>
              <a:rPr lang="en-US" altLang="zh-CN" sz="2665"/>
              <a:t>”</a:t>
            </a:r>
            <a:r>
              <a:rPr lang="zh-CN" altLang="en-US" sz="2665"/>
              <a:t>，</a:t>
            </a:r>
            <a:r>
              <a:rPr lang="en-US" altLang="zh-CN" sz="2665"/>
              <a:t>“</a:t>
            </a:r>
            <a:r>
              <a:rPr lang="zh-CN" altLang="en-US" sz="2665"/>
              <a:t>三改</a:t>
            </a:r>
            <a:r>
              <a:rPr lang="en-US" altLang="zh-CN" sz="2665"/>
              <a:t>”</a:t>
            </a:r>
            <a:r>
              <a:rPr lang="zh-CN" altLang="en-US" sz="2665"/>
              <a:t>是</a:t>
            </a:r>
            <a:r>
              <a:rPr lang="en-US" altLang="zh-CN" sz="2665"/>
              <a:t>“</a:t>
            </a:r>
            <a:r>
              <a:rPr lang="zh-CN" altLang="en-US" sz="2665"/>
              <a:t>两翼</a:t>
            </a:r>
            <a:r>
              <a:rPr lang="en-US" altLang="zh-CN" sz="2665"/>
              <a:t>”</a:t>
            </a:r>
            <a:br>
              <a:rPr lang="en-US" altLang="zh-CN" sz="2665"/>
            </a:br>
            <a:r>
              <a:rPr lang="en-US" altLang="zh-CN" sz="2665"/>
              <a:t>D. </a:t>
            </a:r>
            <a:r>
              <a:rPr lang="zh-CN" altLang="en-US" sz="2665"/>
              <a:t>过渡时期总路线是社会主义建设和社会主义改造同时并举的路线</a:t>
            </a:r>
            <a:br>
              <a:rPr lang="zh-CN" altLang="en-US" sz="2665"/>
            </a:br>
            <a:r>
              <a:rPr lang="en-US" altLang="zh-CN" sz="2665"/>
              <a:t>E. </a:t>
            </a:r>
            <a:r>
              <a:rPr lang="zh-CN" altLang="en-US" sz="2665"/>
              <a:t>过渡时期总路线体现了变革生产关系与发展生产力的有机统一</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BDE</a:t>
            </a:r>
            <a:r>
              <a:rPr lang="zh-CN" altLang="en-US">
                <a:sym typeface="+mn-ea"/>
              </a:rPr>
              <a:t>）</a:t>
            </a:r>
          </a:p>
        </p:txBody>
      </p:sp>
      <p:sp>
        <p:nvSpPr>
          <p:cNvPr id="2" name="标题 1"/>
          <p:cNvSpPr>
            <a:spLocks noGrp="1"/>
          </p:cNvSpPr>
          <p:nvPr>
            <p:ph type="ctrTitle"/>
          </p:nvPr>
        </p:nvSpPr>
        <p:spPr>
          <a:xfrm>
            <a:off x="904240" y="1561465"/>
            <a:ext cx="10334625" cy="3623310"/>
          </a:xfrm>
        </p:spPr>
        <p:txBody>
          <a:bodyPr>
            <a:normAutofit fontScale="90000"/>
          </a:bodyPr>
          <a:lstStyle/>
          <a:p>
            <a:pPr algn="l">
              <a:lnSpc>
                <a:spcPct val="140000"/>
              </a:lnSpc>
            </a:pPr>
            <a:r>
              <a:rPr lang="en-US" altLang="zh-CN" sz="2665"/>
              <a:t>7. </a:t>
            </a:r>
            <a:r>
              <a:rPr lang="zh-CN" altLang="en-US" sz="2665"/>
              <a:t>在过渡时期，对农业的社会主义改造大体上经历了（</a:t>
            </a:r>
            <a:r>
              <a:rPr lang="en-US" altLang="zh-CN" sz="2665"/>
              <a:t>   </a:t>
            </a:r>
            <a:r>
              <a:rPr lang="zh-CN" altLang="en-US" sz="2665"/>
              <a:t>）三个发展阶段。</a:t>
            </a:r>
            <a:br>
              <a:rPr lang="zh-CN" altLang="en-US" sz="2665"/>
            </a:br>
            <a:r>
              <a:rPr lang="en-US" altLang="zh-CN" sz="2665"/>
              <a:t>A. </a:t>
            </a:r>
            <a:r>
              <a:rPr lang="zh-CN" altLang="en-US" sz="2665"/>
              <a:t>个别企业的公私合营</a:t>
            </a:r>
            <a:br>
              <a:rPr lang="zh-CN" altLang="en-US" sz="2665"/>
            </a:br>
            <a:r>
              <a:rPr lang="en-US" altLang="zh-CN" sz="2665"/>
              <a:t>B. </a:t>
            </a:r>
            <a:r>
              <a:rPr lang="zh-CN" altLang="en-US" sz="2665"/>
              <a:t>互助组</a:t>
            </a:r>
            <a:br>
              <a:rPr lang="zh-CN" altLang="en-US" sz="2665"/>
            </a:br>
            <a:r>
              <a:rPr lang="en-US" altLang="zh-CN" sz="2665"/>
              <a:t>C. </a:t>
            </a:r>
            <a:r>
              <a:rPr lang="zh-CN" altLang="en-US" sz="2665"/>
              <a:t>全行业的公私合营</a:t>
            </a:r>
            <a:br>
              <a:rPr lang="zh-CN" altLang="en-US" sz="2665"/>
            </a:br>
            <a:r>
              <a:rPr lang="en-US" altLang="zh-CN" sz="2665"/>
              <a:t>D. </a:t>
            </a:r>
            <a:r>
              <a:rPr lang="zh-CN" altLang="en-US" sz="2665"/>
              <a:t>初级社</a:t>
            </a:r>
            <a:br>
              <a:rPr lang="zh-CN" altLang="en-US" sz="2665"/>
            </a:br>
            <a:r>
              <a:rPr lang="en-US" altLang="zh-CN" sz="2665"/>
              <a:t>E. </a:t>
            </a:r>
            <a:r>
              <a:rPr lang="zh-CN" altLang="en-US" sz="2665"/>
              <a:t>高级社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AD</a:t>
            </a:r>
            <a:r>
              <a:rPr lang="zh-CN" altLang="en-US">
                <a:sym typeface="+mn-ea"/>
              </a:rPr>
              <a:t>）</a:t>
            </a:r>
          </a:p>
        </p:txBody>
      </p:sp>
      <p:sp>
        <p:nvSpPr>
          <p:cNvPr id="2" name="标题 1"/>
          <p:cNvSpPr>
            <a:spLocks noGrp="1"/>
          </p:cNvSpPr>
          <p:nvPr>
            <p:ph type="ctrTitle"/>
          </p:nvPr>
        </p:nvSpPr>
        <p:spPr>
          <a:xfrm>
            <a:off x="904240" y="1561465"/>
            <a:ext cx="10334625" cy="3623310"/>
          </a:xfrm>
        </p:spPr>
        <p:txBody>
          <a:bodyPr>
            <a:normAutofit fontScale="90000"/>
          </a:bodyPr>
          <a:lstStyle/>
          <a:p>
            <a:pPr algn="l">
              <a:lnSpc>
                <a:spcPct val="140000"/>
              </a:lnSpc>
            </a:pPr>
            <a:r>
              <a:rPr lang="en-US" altLang="zh-CN" sz="2665"/>
              <a:t>8. </a:t>
            </a:r>
            <a:r>
              <a:rPr lang="zh-CN" altLang="en-US" sz="2665"/>
              <a:t>国家资本主义，就是在国家直接控制和支配下的资本主义经济。我国社会主义改造中出现的国家资本主义经济，包括（</a:t>
            </a:r>
            <a:r>
              <a:rPr lang="en-US" altLang="zh-CN" sz="2665"/>
              <a:t>   </a:t>
            </a:r>
            <a:r>
              <a:rPr lang="zh-CN" altLang="en-US" sz="2665"/>
              <a:t>）。</a:t>
            </a:r>
            <a:br>
              <a:rPr lang="zh-CN" altLang="en-US" sz="2665"/>
            </a:br>
            <a:r>
              <a:rPr lang="en-US" altLang="zh-CN" sz="2665"/>
              <a:t>A. </a:t>
            </a:r>
            <a:r>
              <a:rPr lang="zh-CN" altLang="en-US" sz="2665"/>
              <a:t>初级形式的国家资本主义</a:t>
            </a:r>
            <a:br>
              <a:rPr lang="zh-CN" altLang="en-US" sz="2665"/>
            </a:br>
            <a:r>
              <a:rPr lang="en-US" altLang="zh-CN" sz="2665"/>
              <a:t>B. </a:t>
            </a:r>
            <a:r>
              <a:rPr lang="zh-CN" altLang="en-US" sz="2665"/>
              <a:t>互助组</a:t>
            </a:r>
            <a:br>
              <a:rPr lang="zh-CN" altLang="en-US" sz="2665"/>
            </a:br>
            <a:r>
              <a:rPr lang="en-US" altLang="zh-CN" sz="2665"/>
              <a:t>C. </a:t>
            </a:r>
            <a:r>
              <a:rPr lang="zh-CN" altLang="en-US" sz="2665"/>
              <a:t>初级社</a:t>
            </a:r>
            <a:br>
              <a:rPr lang="zh-CN" altLang="en-US" sz="2665"/>
            </a:br>
            <a:r>
              <a:rPr lang="en-US" altLang="zh-CN" sz="2665"/>
              <a:t>D. </a:t>
            </a:r>
            <a:r>
              <a:rPr lang="zh-CN" altLang="en-US" sz="2665"/>
              <a:t>高级形式的国家资本主义</a:t>
            </a:r>
            <a:br>
              <a:rPr lang="zh-CN" altLang="en-US" sz="2665"/>
            </a:br>
            <a:r>
              <a:rPr lang="en-US" altLang="zh-CN" sz="2665"/>
              <a:t>E. </a:t>
            </a:r>
            <a:r>
              <a:rPr lang="zh-CN" altLang="en-US" sz="2665"/>
              <a:t>高级社</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BDE</a:t>
            </a:r>
            <a:r>
              <a:rPr lang="zh-CN" altLang="en-US">
                <a:sym typeface="+mn-ea"/>
              </a:rPr>
              <a:t>）</a:t>
            </a:r>
          </a:p>
        </p:txBody>
      </p:sp>
      <p:sp>
        <p:nvSpPr>
          <p:cNvPr id="2" name="标题 1"/>
          <p:cNvSpPr>
            <a:spLocks noGrp="1"/>
          </p:cNvSpPr>
          <p:nvPr>
            <p:ph type="ctrTitle"/>
          </p:nvPr>
        </p:nvSpPr>
        <p:spPr>
          <a:xfrm>
            <a:off x="904240" y="1561465"/>
            <a:ext cx="10334625" cy="3623310"/>
          </a:xfrm>
        </p:spPr>
        <p:txBody>
          <a:bodyPr>
            <a:normAutofit/>
          </a:bodyPr>
          <a:lstStyle/>
          <a:p>
            <a:pPr algn="l">
              <a:lnSpc>
                <a:spcPct val="140000"/>
              </a:lnSpc>
            </a:pPr>
            <a:r>
              <a:rPr lang="en-US" altLang="zh-CN" sz="2665"/>
              <a:t>9. </a:t>
            </a:r>
            <a:r>
              <a:rPr lang="zh-CN" altLang="en-US" sz="2665"/>
              <a:t>对资本主义工商业的社会主义改造经历以下几个步骤（</a:t>
            </a:r>
            <a:r>
              <a:rPr lang="en-US" altLang="zh-CN" sz="2665"/>
              <a:t>   </a:t>
            </a:r>
            <a:r>
              <a:rPr lang="zh-CN" altLang="en-US" sz="2665"/>
              <a:t>）。</a:t>
            </a:r>
            <a:br>
              <a:rPr lang="zh-CN" altLang="en-US" sz="2665"/>
            </a:br>
            <a:r>
              <a:rPr lang="en-US" altLang="zh-CN" sz="2665"/>
              <a:t>A. </a:t>
            </a:r>
            <a:r>
              <a:rPr lang="zh-CN" altLang="en-US" sz="2665"/>
              <a:t>建立供销合作社</a:t>
            </a:r>
            <a:br>
              <a:rPr lang="zh-CN" altLang="en-US" sz="2665"/>
            </a:br>
            <a:r>
              <a:rPr lang="en-US" altLang="zh-CN" sz="2665"/>
              <a:t>B. </a:t>
            </a:r>
            <a:r>
              <a:rPr lang="zh-CN" altLang="en-US" sz="2665"/>
              <a:t>实行初级形式的国家资本主义</a:t>
            </a:r>
            <a:br>
              <a:rPr lang="zh-CN" altLang="en-US" sz="2665"/>
            </a:br>
            <a:r>
              <a:rPr lang="en-US" altLang="zh-CN" sz="2665"/>
              <a:t>C. </a:t>
            </a:r>
            <a:r>
              <a:rPr lang="zh-CN" altLang="en-US" sz="2665"/>
              <a:t>建立生产合作社</a:t>
            </a:r>
            <a:br>
              <a:rPr lang="zh-CN" altLang="en-US" sz="2665"/>
            </a:br>
            <a:r>
              <a:rPr lang="en-US" altLang="zh-CN" sz="2665"/>
              <a:t>D. </a:t>
            </a:r>
            <a:r>
              <a:rPr lang="zh-CN" altLang="en-US" sz="2665"/>
              <a:t>实行个别企业的公私合营</a:t>
            </a:r>
            <a:br>
              <a:rPr lang="zh-CN" altLang="en-US" sz="2665"/>
            </a:br>
            <a:r>
              <a:rPr lang="en-US" altLang="zh-CN" sz="2665"/>
              <a:t>E. </a:t>
            </a:r>
            <a:r>
              <a:rPr lang="zh-CN" altLang="en-US" sz="2665"/>
              <a:t>实行全行业的公私合营</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ACDE</a:t>
            </a:r>
            <a:r>
              <a:rPr lang="zh-CN" altLang="en-US">
                <a:sym typeface="+mn-ea"/>
              </a:rPr>
              <a:t>）</a:t>
            </a:r>
          </a:p>
        </p:txBody>
      </p:sp>
      <p:sp>
        <p:nvSpPr>
          <p:cNvPr id="2" name="标题 1"/>
          <p:cNvSpPr>
            <a:spLocks noGrp="1"/>
          </p:cNvSpPr>
          <p:nvPr>
            <p:ph type="ctrTitle"/>
          </p:nvPr>
        </p:nvSpPr>
        <p:spPr>
          <a:xfrm>
            <a:off x="904240" y="1561465"/>
            <a:ext cx="10334625" cy="3623310"/>
          </a:xfrm>
        </p:spPr>
        <p:txBody>
          <a:bodyPr>
            <a:normAutofit fontScale="90000"/>
          </a:bodyPr>
          <a:lstStyle/>
          <a:p>
            <a:pPr algn="l">
              <a:lnSpc>
                <a:spcPct val="140000"/>
              </a:lnSpc>
            </a:pPr>
            <a:r>
              <a:rPr lang="en-US" altLang="zh-CN" sz="2665"/>
              <a:t>10. </a:t>
            </a:r>
            <a:r>
              <a:rPr lang="zh-CN" altLang="en-US" sz="2665"/>
              <a:t>在社会主义改造过程中，对资本主义工商业的改造采取了和平赎买的方法。赎买的具体方式是让资本家在一定年限内从企业经营所得中获取一部分利润。这一时期企业的利润，按</a:t>
            </a:r>
            <a:r>
              <a:rPr lang="en-US" altLang="zh-CN" sz="2665"/>
              <a:t>“</a:t>
            </a:r>
            <a:r>
              <a:rPr lang="zh-CN" altLang="en-US" sz="2665"/>
              <a:t>四马分肥</a:t>
            </a:r>
            <a:r>
              <a:rPr lang="en-US" altLang="zh-CN" sz="2665"/>
              <a:t>”</a:t>
            </a:r>
            <a:r>
              <a:rPr lang="zh-CN" altLang="en-US" sz="2665"/>
              <a:t>的方式进行分配，包括（</a:t>
            </a:r>
            <a:r>
              <a:rPr lang="en-US" altLang="zh-CN" sz="2665"/>
              <a:t>  </a:t>
            </a:r>
            <a:r>
              <a:rPr lang="zh-CN" altLang="en-US" sz="2665"/>
              <a:t>）。</a:t>
            </a:r>
            <a:br>
              <a:rPr lang="zh-CN" altLang="en-US" sz="2665"/>
            </a:br>
            <a:r>
              <a:rPr lang="en-US" altLang="zh-CN" sz="2665"/>
              <a:t>A. </a:t>
            </a:r>
            <a:r>
              <a:rPr lang="zh-CN" altLang="en-US" sz="2665"/>
              <a:t>国家所得税</a:t>
            </a:r>
            <a:br>
              <a:rPr lang="zh-CN" altLang="en-US" sz="2665"/>
            </a:br>
            <a:r>
              <a:rPr lang="en-US" altLang="zh-CN" sz="2665"/>
              <a:t>B. </a:t>
            </a:r>
            <a:r>
              <a:rPr lang="zh-CN" altLang="en-US" sz="2665"/>
              <a:t>企业所得税</a:t>
            </a:r>
            <a:br>
              <a:rPr lang="zh-CN" altLang="en-US" sz="2665"/>
            </a:br>
            <a:r>
              <a:rPr lang="en-US" altLang="zh-CN" sz="2665"/>
              <a:t>C. </a:t>
            </a:r>
            <a:r>
              <a:rPr lang="zh-CN" altLang="en-US" sz="2665"/>
              <a:t>企业公积金</a:t>
            </a:r>
            <a:br>
              <a:rPr lang="zh-CN" altLang="en-US" sz="2665"/>
            </a:br>
            <a:r>
              <a:rPr lang="en-US" altLang="zh-CN" sz="2665"/>
              <a:t>D. </a:t>
            </a:r>
            <a:r>
              <a:rPr lang="zh-CN" altLang="en-US" sz="2665"/>
              <a:t>工人福利费</a:t>
            </a:r>
            <a:br>
              <a:rPr lang="zh-CN" altLang="en-US" sz="2665"/>
            </a:br>
            <a:r>
              <a:rPr lang="en-US" altLang="zh-CN" sz="2665"/>
              <a:t>E. </a:t>
            </a:r>
            <a:r>
              <a:rPr lang="zh-CN" altLang="en-US" sz="2665"/>
              <a:t>资方红利</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vert="horz" lIns="91440" tIns="45720" rIns="91440" bIns="45720" rtlCol="0">
            <a:normAutofit/>
          </a:bodyPr>
          <a:lstStyle/>
          <a:p>
            <a:pPr lvl="0" algn="ctr">
              <a:buClrTx/>
              <a:buSzTx/>
            </a:pPr>
            <a:r>
              <a:rPr lang="zh-CN" altLang="en-US">
                <a:sym typeface="+mn-ea"/>
              </a:rPr>
              <a:t>答案：（</a:t>
            </a:r>
            <a:r>
              <a:rPr lang="en-US" altLang="zh-CN">
                <a:sym typeface="+mn-ea"/>
              </a:rPr>
              <a:t>ABCDE</a:t>
            </a:r>
            <a:r>
              <a:rPr lang="zh-CN" altLang="en-US">
                <a:sym typeface="+mn-ea"/>
              </a:rPr>
              <a:t>）</a:t>
            </a:r>
          </a:p>
        </p:txBody>
      </p:sp>
      <p:sp>
        <p:nvSpPr>
          <p:cNvPr id="2" name="标题 1"/>
          <p:cNvSpPr>
            <a:spLocks noGrp="1"/>
          </p:cNvSpPr>
          <p:nvPr>
            <p:ph type="ctrTitle"/>
          </p:nvPr>
        </p:nvSpPr>
        <p:spPr>
          <a:xfrm>
            <a:off x="904240" y="1561465"/>
            <a:ext cx="10334625" cy="3623310"/>
          </a:xfrm>
        </p:spPr>
        <p:txBody>
          <a:bodyPr>
            <a:normAutofit fontScale="90000"/>
          </a:bodyPr>
          <a:lstStyle/>
          <a:p>
            <a:pPr algn="l">
              <a:lnSpc>
                <a:spcPct val="140000"/>
              </a:lnSpc>
            </a:pPr>
            <a:r>
              <a:rPr lang="en-US" altLang="zh-CN" sz="2665"/>
              <a:t>11. </a:t>
            </a:r>
            <a:r>
              <a:rPr lang="zh-CN" altLang="en-US" sz="2665"/>
              <a:t>关于新民主主义的经济纲领之一：没收官僚资产阶级的垄断资本归新民主主义国家所有，以下表述正确的有（</a:t>
            </a:r>
            <a:r>
              <a:rPr lang="en-US" altLang="zh-CN" sz="2665"/>
              <a:t>   </a:t>
            </a:r>
            <a:r>
              <a:rPr lang="zh-CN" altLang="en-US" sz="2665"/>
              <a:t>）。</a:t>
            </a:r>
            <a:br>
              <a:rPr lang="zh-CN" altLang="en-US" sz="2665"/>
            </a:br>
            <a:r>
              <a:rPr lang="en-US" altLang="zh-CN" sz="2665"/>
              <a:t>A. </a:t>
            </a:r>
            <a:r>
              <a:rPr lang="zh-CN" altLang="en-US" sz="2665"/>
              <a:t>没收官僚资本归新民主主义国家所有，是新民主主义革命的题中应有之义</a:t>
            </a:r>
            <a:br>
              <a:rPr lang="zh-CN" altLang="en-US" sz="2665"/>
            </a:br>
            <a:r>
              <a:rPr lang="en-US" altLang="zh-CN" sz="2665"/>
              <a:t>B. </a:t>
            </a:r>
            <a:r>
              <a:rPr lang="zh-CN" altLang="en-US" sz="2665"/>
              <a:t>没收官僚资本，包含着新民主主义革命和社会主义革命的双重性质</a:t>
            </a:r>
            <a:br>
              <a:rPr lang="zh-CN" altLang="en-US" sz="2665"/>
            </a:br>
            <a:r>
              <a:rPr lang="en-US" altLang="zh-CN" sz="2665"/>
              <a:t>C. </a:t>
            </a:r>
            <a:r>
              <a:rPr lang="zh-CN" altLang="en-US" sz="2665"/>
              <a:t>没收官僚资本，为建立新主主义国家政权奠定了基础</a:t>
            </a:r>
            <a:br>
              <a:rPr lang="zh-CN" altLang="en-US" sz="2665"/>
            </a:br>
            <a:r>
              <a:rPr lang="en-US" altLang="zh-CN" sz="2665"/>
              <a:t>D. </a:t>
            </a:r>
            <a:r>
              <a:rPr lang="zh-CN" altLang="en-US" sz="2665"/>
              <a:t>没收官僚资本，建立起了社会主义性质的国营经济</a:t>
            </a:r>
            <a:br>
              <a:rPr lang="zh-CN" altLang="en-US" sz="2665"/>
            </a:br>
            <a:r>
              <a:rPr lang="en-US" altLang="zh-CN" sz="2665"/>
              <a:t>E. </a:t>
            </a:r>
            <a:r>
              <a:rPr lang="zh-CN" altLang="en-US" sz="2665"/>
              <a:t>没收官僚资本，成为进行社会主义改造的重要开端</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1466</Words>
  <Application>Microsoft Office PowerPoint</Application>
  <PresentationFormat>宽屏</PresentationFormat>
  <Paragraphs>57</Paragraphs>
  <Slides>19</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19</vt:i4>
      </vt:variant>
    </vt:vector>
  </HeadingPairs>
  <TitlesOfParts>
    <vt:vector size="22" baseType="lpstr">
      <vt:lpstr>Arial</vt:lpstr>
      <vt:lpstr>Calibri</vt:lpstr>
      <vt:lpstr>WPS</vt:lpstr>
      <vt:lpstr>1.我国从新民主主义到社会主义的过渡时期是指（ ）。这一时期，我国社会的性质是新民主主义社会。 A. 从1952年开始到社会主义改造基本完成 B. 从中华人民共和国成立到社会主义改造基本完成 C. 从土地改革完成到社会主义改造基本完成 D. 从1956年开始到1978年</vt:lpstr>
      <vt:lpstr>2.从中华人民共和国成立到社会主义改造基本完成，是我国从新民主主义到社会主义的过渡时期。这一时期，我国社会的性质是（ ）。 A. 资本主义社会 B. 社会主义社会 C. 新民主主义社会 D. 旧民主主义社会</vt:lpstr>
      <vt:lpstr>3.新民主主义时期，随着土地改革的基本完成，（  ）的矛盾逐步成为我国社会的主要矛盾。 A. 工人阶级和资产阶级 B. 地主阶级和农民阶级 C. 官僚资产阶级和民族资产阶级 D. 工人阶级和官僚资产阶级</vt:lpstr>
      <vt:lpstr>4.1956年底，我国对农业、手工业和资本主义工商业的社会主义改造基本完成，农业、手工业个体所有制基本上转变成为（  ）。 A. 国家所有即全民所有的公有制 B. 个体所有制和集体所有制的混合所有制 C. 更大规模的私有制 D. 劳动群众集休所有的公有制</vt:lpstr>
      <vt:lpstr>5.1956年底，我国对农业、手工业和资本主义工商业的社会主义改造基本完成，资本主义私有制基本上转变成为（ ）。 A. 国家所有即全民所有的公有制 B. 公有制和私有制的混合所有制 C. 更大规模的私有制 D. 劳动群众集休所有的公有制</vt:lpstr>
      <vt:lpstr>6.1956年底，我国对农业、手工业和资本主义工商业的社会主义改造基本完成，我国社会经济结构发生了根本变化，（   ）已占绝对优势，社会主义公有制已成为我国社会的经济基础，标志着中国历史上长达数千年的阶级剥削制度的结束和社会主义基本制度的确立。 A. 全民所有制 B. 劳动群众集体所有制 C. 全民所有制和劳动群众集体所有制经济这两种社会主义经济成分 D. 国家资本主义经济</vt:lpstr>
      <vt:lpstr>7.在过渡时期，对农业的社会主义改造大体上经历了互助组、初级社和高级社三个发展阶段。其中，第二阶段是建立初级农业生产合作社。初级社是在互助组的基础上，个体农民自愿组织起来经济组织，具有（   ）。 A. 公有制性质 B. 社会主义萌芽性质 C. 半社会主义性质 D. 社会主义性质</vt:lpstr>
      <vt:lpstr>8.在过渡时期，对农业的社会主义改造大体上经历了互助组、初级社和高级社三个发展阶段。其中，第三阶段是发展高级农业生产合作社。髙级社具有（  ）。 A. 私有制性质 B. 社会主义萌芽性质 C. 半社会主义性质 D. 社会主义性质</vt:lpstr>
      <vt:lpstr>1. 在新民主主义社会中，存在着多种经济成分，包括（   ）。 A. 社会主义性质的国营经济 B. 半社会主义性质的合作社经济 C. 农民和手工业者的个体经济 D. 私人资本主义经济 E. 国家资本主义经济</vt:lpstr>
      <vt:lpstr>2. 新民主主义时期，中国社会的阶级构成主要是（   ）等基本的阶级力量。 A. 地主阶级 B. 工人阶级 C. 官僚资产阶级 D. 农民阶级和其他小资产阶级 E. 民族资产阶级</vt:lpstr>
      <vt:lpstr>3. 1953年12月，形成了关于过渡时期总路线的完整表述：从中华人民共和国成立，到社会主义改造基本完成，这是一个过渡时期。党在这个过渡时期的总路线和总任务，是要在一个相当长的时期内，逐步实现（  ）。 A. 国家的社会主义工业化 B. 对农业的社会主义改造 C. 对手工业的社会主义改造 D. 对资本主义工商业的社会主义改造 E. 社会主义现代化</vt:lpstr>
      <vt:lpstr>4. 党在过渡时期总路线的主要内容被概括为“一化三改”。“一化”即社会主义工业化，“三改”即对（  ）的社会主义改造。 A. 个体农业 B. 个体手工业 C. 地主阶级 D. 资本主义工商业 E. 官僚资产阶级</vt:lpstr>
      <vt:lpstr>5. 党在过渡时期总路线的主要内容被概括为“一化三改”，也被比喻为“一体两翼”。以下选项中，关于“一体两翼”的表述正确的有（   ）。 A.“一化”是“主体”，就是发展社会主义工业 B.“三改”是“两翼” C. “两翼”就是对农业、手工业的改造和对资本主义工商业的改造 D. “两翼”就是对个体经济和资本主义经济的社会主义改造 E. “主体”是通过社会主义工业化发展生产力，“两翼”是通过对私有制经济的社会主义改造变革生产关系为工业化创造条件</vt:lpstr>
      <vt:lpstr>6. 关于党在党在过渡时期总路线，下列表述正确的有（   ）。 A. 党在过渡时期总路线的主要内容被概括为“一化三改” B. “一化”即社会主义工业化，“三改”即对个体农业、手工业和资本主义工商业的社会主义改造 C. “一化”与“三改”的关系好比鸟的“主体”和“两翼”，“一化”是“主体”，“三改”是“两翼” D. 过渡时期总路线是社会主义建设和社会主义改造同时并举的路线 E. 过渡时期总路线体现了变革生产关系与发展生产力的有机统一</vt:lpstr>
      <vt:lpstr>7. 在过渡时期，对农业的社会主义改造大体上经历了（   ）三个发展阶段。 A. 个别企业的公私合营 B. 互助组 C. 全行业的公私合营 D. 初级社 E. 高级社</vt:lpstr>
      <vt:lpstr>8. 国家资本主义，就是在国家直接控制和支配下的资本主义经济。我国社会主义改造中出现的国家资本主义经济，包括（   ）。 A. 初级形式的国家资本主义 B. 互助组 C. 初级社 D. 高级形式的国家资本主义 E. 高级社</vt:lpstr>
      <vt:lpstr>9. 对资本主义工商业的社会主义改造经历以下几个步骤（   ）。 A. 建立供销合作社 B. 实行初级形式的国家资本主义 C. 建立生产合作社 D. 实行个别企业的公私合营 E. 实行全行业的公私合营</vt:lpstr>
      <vt:lpstr>10. 在社会主义改造过程中，对资本主义工商业的改造采取了和平赎买的方法。赎买的具体方式是让资本家在一定年限内从企业经营所得中获取一部分利润。这一时期企业的利润，按“四马分肥”的方式进行分配，包括（  ）。 A. 国家所得税 B. 企业所得税 C. 企业公积金 D. 工人福利费 E. 资方红利</vt:lpstr>
      <vt:lpstr>11. 关于新民主主义的经济纲领之一：没收官僚资产阶级的垄断资本归新民主主义国家所有，以下表述正确的有（   ）。 A. 没收官僚资本归新民主主义国家所有，是新民主主义革命的题中应有之义 B. 没收官僚资本，包含着新民主主义革命和社会主义革命的双重性质 C. 没收官僚资本，为建立新主主义国家政权奠定了基础 D. 没收官僚资本，建立起了社会主义性质的国营经济 E. 没收官僚资本，成为进行社会主义改造的重要开端</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 欣翰</cp:lastModifiedBy>
  <cp:revision>14</cp:revision>
  <dcterms:created xsi:type="dcterms:W3CDTF">2023-08-09T12:44:00Z</dcterms:created>
  <dcterms:modified xsi:type="dcterms:W3CDTF">2026-06-25T13:28:50Z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0FFB374EF87741258E9EC42A4DEF22FC_13</vt:lpwstr>
  </property>
</Properties>
</file>