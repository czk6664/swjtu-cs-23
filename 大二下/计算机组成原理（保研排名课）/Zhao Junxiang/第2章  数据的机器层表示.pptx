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7" r:id="rId1"/>
  </p:sldMasterIdLst>
  <p:notesMasterIdLst>
    <p:notesMasterId r:id="rId99"/>
  </p:notesMasterIdLst>
  <p:handoutMasterIdLst>
    <p:handoutMasterId r:id="rId100"/>
  </p:handoutMasterIdLst>
  <p:sldIdLst>
    <p:sldId id="448" r:id="rId2"/>
    <p:sldId id="299" r:id="rId3"/>
    <p:sldId id="258" r:id="rId4"/>
    <p:sldId id="384" r:id="rId5"/>
    <p:sldId id="371" r:id="rId6"/>
    <p:sldId id="300" r:id="rId7"/>
    <p:sldId id="305" r:id="rId8"/>
    <p:sldId id="306" r:id="rId9"/>
    <p:sldId id="307" r:id="rId10"/>
    <p:sldId id="308" r:id="rId11"/>
    <p:sldId id="309" r:id="rId12"/>
    <p:sldId id="372" r:id="rId13"/>
    <p:sldId id="391" r:id="rId14"/>
    <p:sldId id="311" r:id="rId15"/>
    <p:sldId id="315" r:id="rId16"/>
    <p:sldId id="312" r:id="rId17"/>
    <p:sldId id="385" r:id="rId18"/>
    <p:sldId id="403" r:id="rId19"/>
    <p:sldId id="404" r:id="rId20"/>
    <p:sldId id="303" r:id="rId21"/>
    <p:sldId id="301" r:id="rId22"/>
    <p:sldId id="302" r:id="rId23"/>
    <p:sldId id="316" r:id="rId24"/>
    <p:sldId id="317" r:id="rId25"/>
    <p:sldId id="326" r:id="rId26"/>
    <p:sldId id="398" r:id="rId27"/>
    <p:sldId id="449" r:id="rId28"/>
    <p:sldId id="320" r:id="rId29"/>
    <p:sldId id="321" r:id="rId30"/>
    <p:sldId id="318" r:id="rId31"/>
    <p:sldId id="450" r:id="rId32"/>
    <p:sldId id="323" r:id="rId33"/>
    <p:sldId id="451" r:id="rId34"/>
    <p:sldId id="452" r:id="rId35"/>
    <p:sldId id="325" r:id="rId36"/>
    <p:sldId id="327" r:id="rId37"/>
    <p:sldId id="375" r:id="rId38"/>
    <p:sldId id="329" r:id="rId39"/>
    <p:sldId id="453" r:id="rId40"/>
    <p:sldId id="330" r:id="rId41"/>
    <p:sldId id="331" r:id="rId42"/>
    <p:sldId id="386" r:id="rId43"/>
    <p:sldId id="332" r:id="rId44"/>
    <p:sldId id="392" r:id="rId45"/>
    <p:sldId id="407" r:id="rId46"/>
    <p:sldId id="410" r:id="rId47"/>
    <p:sldId id="412" r:id="rId48"/>
    <p:sldId id="413" r:id="rId49"/>
    <p:sldId id="336" r:id="rId50"/>
    <p:sldId id="337" r:id="rId51"/>
    <p:sldId id="420" r:id="rId52"/>
    <p:sldId id="454" r:id="rId53"/>
    <p:sldId id="338" r:id="rId54"/>
    <p:sldId id="339" r:id="rId55"/>
    <p:sldId id="393" r:id="rId56"/>
    <p:sldId id="415" r:id="rId57"/>
    <p:sldId id="416" r:id="rId58"/>
    <p:sldId id="417" r:id="rId59"/>
    <p:sldId id="418" r:id="rId60"/>
    <p:sldId id="340" r:id="rId61"/>
    <p:sldId id="341" r:id="rId62"/>
    <p:sldId id="334" r:id="rId63"/>
    <p:sldId id="356" r:id="rId64"/>
    <p:sldId id="358" r:id="rId65"/>
    <p:sldId id="359" r:id="rId66"/>
    <p:sldId id="435" r:id="rId67"/>
    <p:sldId id="387" r:id="rId68"/>
    <p:sldId id="455" r:id="rId69"/>
    <p:sldId id="370" r:id="rId70"/>
    <p:sldId id="343" r:id="rId71"/>
    <p:sldId id="344" r:id="rId72"/>
    <p:sldId id="345" r:id="rId73"/>
    <p:sldId id="421" r:id="rId74"/>
    <p:sldId id="360" r:id="rId75"/>
    <p:sldId id="361" r:id="rId76"/>
    <p:sldId id="362" r:id="rId77"/>
    <p:sldId id="422" r:id="rId78"/>
    <p:sldId id="377" r:id="rId79"/>
    <p:sldId id="363" r:id="rId80"/>
    <p:sldId id="364" r:id="rId81"/>
    <p:sldId id="348" r:id="rId82"/>
    <p:sldId id="349" r:id="rId83"/>
    <p:sldId id="365" r:id="rId84"/>
    <p:sldId id="425" r:id="rId85"/>
    <p:sldId id="426" r:id="rId86"/>
    <p:sldId id="350" r:id="rId87"/>
    <p:sldId id="378" r:id="rId88"/>
    <p:sldId id="380" r:id="rId89"/>
    <p:sldId id="382" r:id="rId90"/>
    <p:sldId id="430" r:id="rId91"/>
    <p:sldId id="431" r:id="rId92"/>
    <p:sldId id="351" r:id="rId93"/>
    <p:sldId id="432" r:id="rId94"/>
    <p:sldId id="419" r:id="rId95"/>
    <p:sldId id="352" r:id="rId96"/>
    <p:sldId id="396" r:id="rId97"/>
    <p:sldId id="397" r:id="rId98"/>
  </p:sldIdLst>
  <p:sldSz cx="9144000" cy="6858000" type="screen4x3"/>
  <p:notesSz cx="7099300" cy="10234613"/>
  <p:defaultTextStyle>
    <a:defPPr>
      <a:defRPr lang="en-US"/>
    </a:defPPr>
    <a:lvl1pPr algn="ctr" rtl="0" fontAlgn="base">
      <a:lnSpc>
        <a:spcPct val="90000"/>
      </a:lnSpc>
      <a:spcBef>
        <a:spcPct val="20000"/>
      </a:spcBef>
      <a:spcAft>
        <a:spcPct val="0"/>
      </a:spcAft>
      <a:buClr>
        <a:schemeClr val="bg1"/>
      </a:buClr>
      <a:buFont typeface="Wingdings" pitchFamily="2" charset="2"/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1pPr>
    <a:lvl2pPr marL="457200" algn="ctr" rtl="0" fontAlgn="base">
      <a:lnSpc>
        <a:spcPct val="90000"/>
      </a:lnSpc>
      <a:spcBef>
        <a:spcPct val="20000"/>
      </a:spcBef>
      <a:spcAft>
        <a:spcPct val="0"/>
      </a:spcAft>
      <a:buClr>
        <a:schemeClr val="bg1"/>
      </a:buClr>
      <a:buFont typeface="Wingdings" pitchFamily="2" charset="2"/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2pPr>
    <a:lvl3pPr marL="914400" algn="ctr" rtl="0" fontAlgn="base">
      <a:lnSpc>
        <a:spcPct val="90000"/>
      </a:lnSpc>
      <a:spcBef>
        <a:spcPct val="20000"/>
      </a:spcBef>
      <a:spcAft>
        <a:spcPct val="0"/>
      </a:spcAft>
      <a:buClr>
        <a:schemeClr val="bg1"/>
      </a:buClr>
      <a:buFont typeface="Wingdings" pitchFamily="2" charset="2"/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3pPr>
    <a:lvl4pPr marL="1371600" algn="ctr" rtl="0" fontAlgn="base">
      <a:lnSpc>
        <a:spcPct val="90000"/>
      </a:lnSpc>
      <a:spcBef>
        <a:spcPct val="20000"/>
      </a:spcBef>
      <a:spcAft>
        <a:spcPct val="0"/>
      </a:spcAft>
      <a:buClr>
        <a:schemeClr val="bg1"/>
      </a:buClr>
      <a:buFont typeface="Wingdings" pitchFamily="2" charset="2"/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4pPr>
    <a:lvl5pPr marL="1828800" algn="ctr" rtl="0" fontAlgn="base">
      <a:lnSpc>
        <a:spcPct val="90000"/>
      </a:lnSpc>
      <a:spcBef>
        <a:spcPct val="20000"/>
      </a:spcBef>
      <a:spcAft>
        <a:spcPct val="0"/>
      </a:spcAft>
      <a:buClr>
        <a:schemeClr val="bg1"/>
      </a:buClr>
      <a:buFont typeface="Wingdings" pitchFamily="2" charset="2"/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5pPr>
    <a:lvl6pPr marL="2286000" algn="l" defTabSz="914400" rtl="0" eaLnBrk="1" latinLnBrk="0" hangingPunct="1"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6pPr>
    <a:lvl7pPr marL="2743200" algn="l" defTabSz="914400" rtl="0" eaLnBrk="1" latinLnBrk="0" hangingPunct="1"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7pPr>
    <a:lvl8pPr marL="3200400" algn="l" defTabSz="914400" rtl="0" eaLnBrk="1" latinLnBrk="0" hangingPunct="1"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8pPr>
    <a:lvl9pPr marL="3657600" algn="l" defTabSz="914400" rtl="0" eaLnBrk="1" latinLnBrk="0" hangingPunct="1">
      <a:defRPr kumimoji="1" sz="2600" b="1" kern="1200">
        <a:solidFill>
          <a:schemeClr val="tx2"/>
        </a:solidFill>
        <a:latin typeface="Tahom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hlink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0000FF"/>
    <a:srgbClr val="008000"/>
    <a:srgbClr val="CC3300"/>
    <a:srgbClr val="CCECFF"/>
    <a:srgbClr val="808000"/>
    <a:srgbClr val="E1E1E1"/>
    <a:srgbClr val="FFFF00"/>
    <a:srgbClr val="00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5" autoAdjust="0"/>
    <p:restoredTop sz="94617" autoAdjust="0"/>
  </p:normalViewPr>
  <p:slideViewPr>
    <p:cSldViewPr snapToGrid="0">
      <p:cViewPr varScale="1">
        <p:scale>
          <a:sx n="93" d="100"/>
          <a:sy n="93" d="100"/>
        </p:scale>
        <p:origin x="72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584"/>
    </p:cViewPr>
  </p:sorterViewPr>
  <p:notesViewPr>
    <p:cSldViewPr snapToGrid="0">
      <p:cViewPr varScale="1">
        <p:scale>
          <a:sx n="71" d="100"/>
          <a:sy n="71" d="100"/>
        </p:scale>
        <p:origin x="-1338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l" defTabSz="96520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 defTabSz="96520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l" defTabSz="96520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 defTabSz="96520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74243D7-EE01-4A5F-BABC-80108D7115A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321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l" defTabSz="96520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 defTabSz="96520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1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l" defTabSz="96520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 defTabSz="96520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477B2DF4-F6F6-4225-95BE-851F28582C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11038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9"/>
          <p:cNvGrpSpPr>
            <a:grpSpLocks/>
          </p:cNvGrpSpPr>
          <p:nvPr userDrawn="1"/>
        </p:nvGrpSpPr>
        <p:grpSpPr bwMode="auto">
          <a:xfrm>
            <a:off x="457200" y="838200"/>
            <a:ext cx="7781925" cy="1052513"/>
            <a:chOff x="288" y="528"/>
            <a:chExt cx="4902" cy="663"/>
          </a:xfrm>
        </p:grpSpPr>
        <p:sp>
          <p:nvSpPr>
            <p:cNvPr id="4" name="Rectangle 4"/>
            <p:cNvSpPr>
              <a:spLocks noChangeArrowheads="1"/>
            </p:cNvSpPr>
            <p:nvPr userDrawn="1"/>
          </p:nvSpPr>
          <p:spPr bwMode="auto">
            <a:xfrm>
              <a:off x="457" y="596"/>
              <a:ext cx="25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681" y="596"/>
              <a:ext cx="191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Rectangle 7"/>
            <p:cNvSpPr>
              <a:spLocks noChangeArrowheads="1"/>
            </p:cNvSpPr>
            <p:nvPr userDrawn="1"/>
          </p:nvSpPr>
          <p:spPr bwMode="auto">
            <a:xfrm>
              <a:off x="530" y="862"/>
              <a:ext cx="24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auto">
            <a:xfrm>
              <a:off x="746" y="862"/>
              <a:ext cx="215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auto">
            <a:xfrm>
              <a:off x="288" y="816"/>
              <a:ext cx="327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10"/>
            <p:cNvSpPr>
              <a:spLocks noChangeArrowheads="1"/>
            </p:cNvSpPr>
            <p:nvPr userDrawn="1"/>
          </p:nvSpPr>
          <p:spPr bwMode="auto">
            <a:xfrm>
              <a:off x="659" y="528"/>
              <a:ext cx="18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11"/>
            <p:cNvSpPr>
              <a:spLocks noChangeArrowheads="1"/>
            </p:cNvSpPr>
            <p:nvPr userDrawn="1"/>
          </p:nvSpPr>
          <p:spPr bwMode="auto">
            <a:xfrm flipV="1">
              <a:off x="384" y="1056"/>
              <a:ext cx="4806" cy="2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B8B8E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400" b="0">
                <a:solidFill>
                  <a:schemeClr val="bg2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400" b="0">
                <a:solidFill>
                  <a:schemeClr val="bg2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 tIns="4572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C3ABF7D-15C9-432A-A4DF-42E30AE1AF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0242450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西南交通大学计算机与人工智能学院         </a:t>
            </a:r>
            <a:r>
              <a:rPr kumimoji="0" lang="zh-CN" altLang="en-US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计算机组成原理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en-US" altLang="zh-CN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sp>
        <p:nvSpPr>
          <p:cNvPr id="3" name="Text Box 3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339725"/>
          </a:xfrm>
          <a:prstGeom prst="rect">
            <a:avLst/>
          </a:prstGeom>
          <a:gradFill rotWithShape="0">
            <a:gsLst>
              <a:gs pos="0">
                <a:srgbClr val="F8F0F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                                   第2章  数据的机器层表示</a:t>
            </a:r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7924800" y="6502400"/>
            <a:ext cx="9906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b"/>
          <a:lstStyle>
            <a:lvl1pPr>
              <a:defRPr/>
            </a:lvl1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fld id="{6E18FAC9-112F-4F97-BD56-9ADF18D9DD67}" type="slidenum">
              <a:rPr kumimoji="0" lang="zh-CN" altLang="en-US" sz="1400">
                <a:solidFill>
                  <a:schemeClr val="folHlink"/>
                </a:solidFill>
                <a:latin typeface="黑体" pitchFamily="2" charset="-122"/>
                <a:ea typeface="黑体" pitchFamily="2" charset="-122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t>‹#›</a:t>
            </a:fld>
            <a:endParaRPr kumimoji="0" lang="en-US" altLang="zh-CN" sz="1400" dirty="0">
              <a:solidFill>
                <a:schemeClr val="folHlink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" name="Picture 12" descr="gm_clip_image00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7851599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966659C-F5B5-8674-4D2E-1531A0A9355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1B1E5-E3C5-4FEF-AF17-C38566C6DF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8406881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西南交通大学计算机与人工智能学院             </a:t>
            </a:r>
            <a:r>
              <a:rPr kumimoji="0" lang="zh-CN" altLang="en-US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计算机组成原理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en-US" altLang="zh-CN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24800" y="6502400"/>
            <a:ext cx="9906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400" b="1">
                <a:solidFill>
                  <a:schemeClr val="folHlink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fld id="{350B1BA8-DE29-4959-BD7F-8FBB1882F6FB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8" name="Text Box 3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339725"/>
          </a:xfrm>
          <a:prstGeom prst="rect">
            <a:avLst/>
          </a:prstGeom>
          <a:gradFill rotWithShape="0">
            <a:gsLst>
              <a:gs pos="0">
                <a:srgbClr val="F8F0F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kumimoji="0" lang="zh-CN" altLang="en-US" sz="1800" i="1" dirty="0">
                <a:solidFill>
                  <a:srgbClr val="990000"/>
                </a:solidFill>
                <a:latin typeface="仿宋_GB2312" pitchFamily="49" charset="-122"/>
                <a:ea typeface="仿宋_GB2312" pitchFamily="49" charset="-122"/>
              </a:rPr>
              <a:t>                                                   </a:t>
            </a: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第2章  数据的机器层表示</a:t>
            </a:r>
          </a:p>
        </p:txBody>
      </p:sp>
      <p:pic>
        <p:nvPicPr>
          <p:cNvPr id="1029" name="Picture 34" descr="gm_clip_image001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1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37.emf"/><Relationship Id="rId7" Type="http://schemas.openxmlformats.org/officeDocument/2006/relationships/image" Target="../media/image39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38.png"/><Relationship Id="rId4" Type="http://schemas.openxmlformats.org/officeDocument/2006/relationships/oleObject" Target="../embeddings/oleObject20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oleObject" Target="../embeddings/oleObject25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28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3" Type="http://schemas.openxmlformats.org/officeDocument/2006/relationships/image" Target="../media/image57.emf"/><Relationship Id="rId7" Type="http://schemas.openxmlformats.org/officeDocument/2006/relationships/image" Target="../media/image59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58.emf"/><Relationship Id="rId4" Type="http://schemas.openxmlformats.org/officeDocument/2006/relationships/oleObject" Target="../embeddings/oleObject33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emf"/><Relationship Id="rId4" Type="http://schemas.openxmlformats.org/officeDocument/2006/relationships/oleObject" Target="../embeddings/oleObject38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emf"/><Relationship Id="rId4" Type="http://schemas.openxmlformats.org/officeDocument/2006/relationships/oleObject" Target="../embeddings/oleObject40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47873/help/0-7648/ms.help?method=page&amp;id=50973667-6638-491E-9C41-BFF73ACAE19F&amp;product=VS&amp;productVersion=100&amp;topicVersion=100&amp;locale=ZH-CN&amp;topicLocale=ZH-CN" TargetMode="Externa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48.bin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gm_clip_image001">
            <a:extLst>
              <a:ext uri="{FF2B5EF4-FFF2-40B4-BE49-F238E27FC236}">
                <a16:creationId xmlns:a16="http://schemas.microsoft.com/office/drawing/2014/main" id="{4DF86D4F-EED2-9D9E-BB37-9B716067F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029200"/>
            <a:ext cx="982663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46ADDFD-AF86-024C-FA5C-24A206F9F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911225"/>
            <a:ext cx="4203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计算机组成原理</a:t>
            </a:r>
            <a:r>
              <a:rPr lang="en-US" altLang="zh-CN" sz="36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B</a:t>
            </a:r>
            <a:r>
              <a:rPr lang="en-US" altLang="zh-CN" sz="1100" dirty="0">
                <a:latin typeface="Arial" charset="0"/>
              </a:rPr>
              <a:t> </a:t>
            </a:r>
            <a:endParaRPr lang="en-US" altLang="zh-CN" sz="24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BED73A1-829F-43E2-A9DE-00875E97A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2770188"/>
            <a:ext cx="3908425" cy="131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西 南 交 通 大 学</a:t>
            </a:r>
          </a:p>
          <a:p>
            <a:pPr algn="dist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计算机与人工智能学院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E3712C-80A6-3B09-7C83-1034AC391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5133975"/>
            <a:ext cx="33988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20</a:t>
            </a:r>
            <a:r>
              <a:rPr lang="en-US" altLang="zh-CN" sz="24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24</a:t>
            </a:r>
            <a:r>
              <a:rPr lang="zh-CN" altLang="en-US" sz="24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年</a:t>
            </a:r>
            <a:r>
              <a:rPr lang="en-US" altLang="zh-CN" sz="24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2</a:t>
            </a:r>
            <a:r>
              <a:rPr lang="zh-CN" altLang="en-US" sz="24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月修订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DD33A9-C018-AD30-A8F2-646D1198C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1798638"/>
            <a:ext cx="59896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49" charset="-122"/>
              </a:rPr>
              <a:t>Computer  Organization</a:t>
            </a:r>
            <a:r>
              <a:rPr lang="en-US" altLang="zh-CN" sz="1300" dirty="0">
                <a:latin typeface="Arial" charset="0"/>
              </a:rPr>
              <a:t> </a:t>
            </a:r>
            <a:endParaRPr lang="en-US" altLang="zh-CN" sz="28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7013874-3799-108A-2AA0-61F235BCB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183063"/>
            <a:ext cx="3398837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b="0" dirty="0">
                <a:solidFill>
                  <a:srgbClr val="0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主讲：王瑶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3"/>
          <p:cNvSpPr>
            <a:spLocks noChangeArrowheads="1"/>
          </p:cNvSpPr>
          <p:nvPr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       西南交通大学计算机与人工智能学院       </a:t>
            </a:r>
            <a:r>
              <a:rPr kumimoji="0" lang="zh-CN" altLang="en-US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计算机组成原理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en-US" altLang="zh-CN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693738" y="874713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第2章  数据的机器层表示</a:t>
            </a:r>
            <a:r>
              <a:rPr lang="zh-CN" altLang="en-US" sz="3600">
                <a:solidFill>
                  <a:srgbClr val="990099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grpSp>
        <p:nvGrpSpPr>
          <p:cNvPr id="5124" name="Group 13"/>
          <p:cNvGrpSpPr>
            <a:grpSpLocks/>
          </p:cNvGrpSpPr>
          <p:nvPr/>
        </p:nvGrpSpPr>
        <p:grpSpPr bwMode="auto">
          <a:xfrm>
            <a:off x="457200" y="838200"/>
            <a:ext cx="7781925" cy="1052513"/>
            <a:chOff x="288" y="528"/>
            <a:chExt cx="4902" cy="663"/>
          </a:xfrm>
        </p:grpSpPr>
        <p:sp>
          <p:nvSpPr>
            <p:cNvPr id="5129" name="Rectangle 14"/>
            <p:cNvSpPr>
              <a:spLocks noChangeArrowheads="1"/>
            </p:cNvSpPr>
            <p:nvPr/>
          </p:nvSpPr>
          <p:spPr bwMode="auto">
            <a:xfrm>
              <a:off x="457" y="596"/>
              <a:ext cx="25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0" name="Rectangle 15"/>
            <p:cNvSpPr>
              <a:spLocks noChangeArrowheads="1"/>
            </p:cNvSpPr>
            <p:nvPr/>
          </p:nvSpPr>
          <p:spPr bwMode="auto">
            <a:xfrm>
              <a:off x="681" y="596"/>
              <a:ext cx="191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1" name="Rectangle 16"/>
            <p:cNvSpPr>
              <a:spLocks noChangeArrowheads="1"/>
            </p:cNvSpPr>
            <p:nvPr/>
          </p:nvSpPr>
          <p:spPr bwMode="auto">
            <a:xfrm>
              <a:off x="530" y="862"/>
              <a:ext cx="24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2" name="Rectangle 17"/>
            <p:cNvSpPr>
              <a:spLocks noChangeArrowheads="1"/>
            </p:cNvSpPr>
            <p:nvPr/>
          </p:nvSpPr>
          <p:spPr bwMode="auto">
            <a:xfrm>
              <a:off x="746" y="862"/>
              <a:ext cx="215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3" name="Rectangle 18"/>
            <p:cNvSpPr>
              <a:spLocks noChangeArrowheads="1"/>
            </p:cNvSpPr>
            <p:nvPr/>
          </p:nvSpPr>
          <p:spPr bwMode="auto">
            <a:xfrm>
              <a:off x="288" y="816"/>
              <a:ext cx="327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4" name="Rectangle 19"/>
            <p:cNvSpPr>
              <a:spLocks noChangeArrowheads="1"/>
            </p:cNvSpPr>
            <p:nvPr/>
          </p:nvSpPr>
          <p:spPr bwMode="auto">
            <a:xfrm>
              <a:off x="659" y="528"/>
              <a:ext cx="18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5" name="Rectangle 20"/>
            <p:cNvSpPr>
              <a:spLocks noChangeArrowheads="1"/>
            </p:cNvSpPr>
            <p:nvPr/>
          </p:nvSpPr>
          <p:spPr bwMode="auto">
            <a:xfrm flipV="1">
              <a:off x="384" y="1056"/>
              <a:ext cx="4806" cy="2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B8B8E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25" name="Text Box 24"/>
          <p:cNvSpPr txBox="1">
            <a:spLocks noChangeArrowheads="1"/>
          </p:cNvSpPr>
          <p:nvPr/>
        </p:nvSpPr>
        <p:spPr bwMode="auto">
          <a:xfrm>
            <a:off x="1609725" y="1992313"/>
            <a:ext cx="6103938" cy="357822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100000">
                <a:srgbClr val="F5E3F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§2.0  数制及进制转换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§2.1  数的定点表示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§2.2  数的浮点表示 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§2.3  非数值数据的表示 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§2.4  十进制数和数串的表示 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§2.5  现代微机系统数据表示举例 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§2.6  数据校验码 </a:t>
            </a:r>
          </a:p>
        </p:txBody>
      </p:sp>
      <p:pic>
        <p:nvPicPr>
          <p:cNvPr id="5126" name="Picture 28" descr="gm_clip_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75" y="5029200"/>
            <a:ext cx="982663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12" descr="gm_clip_image0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924800" y="6502400"/>
            <a:ext cx="990600" cy="34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5244E8C7-52BD-4CBC-84E8-13D9248B80E1}" type="slidenum">
              <a:rPr kumimoji="0" lang="zh-CN" altLang="en-US" sz="1400" smtClean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pPr eaLnBrk="1" hangingPunct="1"/>
              <a:t>2</a:t>
            </a:fld>
            <a:endParaRPr kumimoji="0" lang="en-US" altLang="zh-CN" sz="1400" dirty="0">
              <a:solidFill>
                <a:schemeClr val="bg2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9"/>
          <p:cNvSpPr>
            <a:spLocks noChangeArrowheads="1"/>
          </p:cNvSpPr>
          <p:nvPr/>
        </p:nvSpPr>
        <p:spPr bwMode="auto">
          <a:xfrm>
            <a:off x="668338" y="681038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第2章  数据的机器层表示</a:t>
            </a:r>
            <a:r>
              <a:rPr lang="zh-CN" altLang="en-US" sz="3200">
                <a:solidFill>
                  <a:srgbClr val="990099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sp>
        <p:nvSpPr>
          <p:cNvPr id="6147" name="Rectangle 20"/>
          <p:cNvSpPr>
            <a:spLocks noChangeArrowheads="1"/>
          </p:cNvSpPr>
          <p:nvPr/>
        </p:nvSpPr>
        <p:spPr bwMode="auto">
          <a:xfrm>
            <a:off x="774700" y="1701800"/>
            <a:ext cx="7929563" cy="293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数据：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1）数值型 （如：无符号数和带符号数）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2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）非数值型 （如：符号、文字、校验码等）</a:t>
            </a:r>
          </a:p>
          <a:p>
            <a:pPr algn="l" eaLnBrk="0" hangingPunct="0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数据表示：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数据在计算机中使用的二进制编码表示形式。</a:t>
            </a: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（机器数） </a:t>
            </a: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754151"/>
              </p:ext>
            </p:extLst>
          </p:nvPr>
        </p:nvGraphicFramePr>
        <p:xfrm>
          <a:off x="2436813" y="4367213"/>
          <a:ext cx="5351462" cy="365482"/>
        </p:xfrm>
        <a:graphic>
          <a:graphicData uri="http://schemas.openxmlformats.org/drawingml/2006/table">
            <a:tbl>
              <a:tblPr/>
              <a:tblGrid>
                <a:gridCol w="59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楷体_GB2312" pitchFamily="49" charset="-122"/>
                        </a:rPr>
                        <a:t>……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663575" y="1484313"/>
            <a:ext cx="7897813" cy="435292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本章重点：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1．进制之间的相互转换是最基本的，应当熟练掌握；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2．定点数的原码、补码、变形补码和反码表示，补码特别注意：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① 最小的补码很特殊，没有对应的原码和反码，可单独记；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② “变补”和“求补码” 概念的不同；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③ 补码乘以2(算术左移)和乘以1/2(算术右移)的结果；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3．浮点数的规格化概念，真值</a:t>
            </a: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</a:t>
            </a: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浮点数表示形式；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4．奇偶校验码的校验原理及校验位形成方法；</a:t>
            </a:r>
            <a:endParaRPr kumimoji="0" lang="zh-CN" altLang="en-US" sz="2000">
              <a:solidFill>
                <a:srgbClr val="08080C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5．学会看原文资料，并熟悉其专业名词和术语。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668338" y="731838"/>
            <a:ext cx="78486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第2章  数据的机器层表示</a:t>
            </a:r>
            <a:r>
              <a:rPr lang="zh-CN" altLang="en-US" sz="3200">
                <a:solidFill>
                  <a:srgbClr val="990099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ChangeArrowheads="1"/>
          </p:cNvSpPr>
          <p:nvPr/>
        </p:nvSpPr>
        <p:spPr bwMode="auto">
          <a:xfrm>
            <a:off x="342900" y="342900"/>
            <a:ext cx="8674100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§2.0 数制及进制转换</a:t>
            </a:r>
          </a:p>
          <a:p>
            <a:pPr algn="l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2.0.1 数制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1. 二进制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只有0和1两个数字符号，“逢二进一，借一当二”。</a:t>
            </a:r>
            <a:endParaRPr lang="zh-CN" altLang="en-US" sz="2400" dirty="0">
              <a:solidFill>
                <a:srgbClr val="80000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1  1  0  1 .  0  1   = 1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3 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+ 1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 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+ 0 + 1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 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+ 0+1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-2</a:t>
            </a:r>
            <a:endParaRPr lang="zh-CN" altLang="en-US" sz="2000" dirty="0">
              <a:solidFill>
                <a:srgbClr val="80000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l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3  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 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1 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   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-1 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-2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sz="11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195" name="Rectangle 7"/>
          <p:cNvSpPr>
            <a:spLocks noChangeArrowheads="1"/>
          </p:cNvSpPr>
          <p:nvPr/>
        </p:nvSpPr>
        <p:spPr bwMode="auto">
          <a:xfrm>
            <a:off x="952500" y="3856038"/>
            <a:ext cx="81915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 八进制与十六进制（用于阅读和书写）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八进制：数码有八个：0，1，2，3，4，5，6，7 . 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			      逢八进一，借一当八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十六进制：数码有十六个：0,1，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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,9，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A,B,C,D,E,F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5"/>
          <p:cNvSpPr>
            <a:spLocks noChangeArrowheads="1"/>
          </p:cNvSpPr>
          <p:nvPr/>
        </p:nvSpPr>
        <p:spPr bwMode="auto">
          <a:xfrm>
            <a:off x="342900" y="281255"/>
            <a:ext cx="86741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§2.0 数制及进制转换</a:t>
            </a:r>
          </a:p>
          <a:p>
            <a:pPr algn="l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2.0.1 数制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9" name="Rectangle 16"/>
          <p:cNvSpPr>
            <a:spLocks noChangeArrowheads="1"/>
          </p:cNvSpPr>
          <p:nvPr/>
        </p:nvSpPr>
        <p:spPr bwMode="auto">
          <a:xfrm>
            <a:off x="679450" y="1416497"/>
            <a:ext cx="7785100" cy="1604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3．几个概念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808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权值/位权：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某个固定位置上的计数单位。例：</a:t>
            </a:r>
            <a:r>
              <a:rPr lang="zh-CN" altLang="en-US" sz="2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1  1  0  1 . 0  1   = 1*2</a:t>
            </a:r>
            <a:r>
              <a:rPr lang="zh-CN" altLang="en-US" sz="22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+1*2</a:t>
            </a:r>
            <a:r>
              <a:rPr lang="zh-CN" altLang="en-US" sz="22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+0+1*2</a:t>
            </a:r>
            <a:r>
              <a:rPr lang="zh-CN" altLang="en-US" sz="22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+0+1*2</a:t>
            </a:r>
            <a:r>
              <a:rPr lang="zh-CN" altLang="en-US" sz="22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-2</a:t>
            </a:r>
            <a:endParaRPr lang="zh-CN" altLang="en-US" sz="1000" dirty="0">
              <a:latin typeface="黑体" pitchFamily="2" charset="-122"/>
              <a:ea typeface="黑体" pitchFamily="2" charset="-122"/>
              <a:cs typeface="Courier New" pitchFamily="49" charset="0"/>
            </a:endParaRPr>
          </a:p>
          <a:p>
            <a:pPr algn="l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baseline="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3  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baseline="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  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baseline="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  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baseline="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   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baseline="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-1 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baseline="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-2   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权值</a:t>
            </a:r>
            <a:r>
              <a:rPr lang="zh-CN" altLang="en-US" sz="11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0" name="Rectangle 17"/>
          <p:cNvSpPr>
            <a:spLocks noChangeArrowheads="1"/>
          </p:cNvSpPr>
          <p:nvPr/>
        </p:nvSpPr>
        <p:spPr bwMode="auto">
          <a:xfrm>
            <a:off x="1270000" y="2982048"/>
            <a:ext cx="7747000" cy="855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基数：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指某个进制的值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例如：二进制数的基数为2，十进制数的基数为10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.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29F134-6588-22EB-56B3-FB5DBF6F3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23" y="3930444"/>
            <a:ext cx="7592765" cy="2351986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2"/>
          <p:cNvSpPr>
            <a:spLocks noChangeArrowheads="1"/>
          </p:cNvSpPr>
          <p:nvPr/>
        </p:nvSpPr>
        <p:spPr bwMode="auto">
          <a:xfrm>
            <a:off x="876300" y="397593"/>
            <a:ext cx="7073900" cy="6062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3175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4．进制数的表示方式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17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1) 用下标加以标注。例如： (1010)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,(1010)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17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2) 用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后缀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字母表示不同的进制。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175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 —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二进制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175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Q —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八进制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175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H —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十六进制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175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 —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十进制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17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例如：375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Q,  A17H,  101B</a:t>
            </a:r>
          </a:p>
          <a:p>
            <a:pPr indent="317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3)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采用程序设计语言的记号表示不同进制，即 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前缀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表示法。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语言中，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0—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八进制，如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034 </a:t>
            </a:r>
          </a:p>
          <a:p>
            <a:pPr indent="317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0x—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十六进制，如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0x5a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7"/>
          <p:cNvGrpSpPr>
            <a:grpSpLocks noRot="1"/>
          </p:cNvGrpSpPr>
          <p:nvPr/>
        </p:nvGrpSpPr>
        <p:grpSpPr bwMode="auto">
          <a:xfrm>
            <a:off x="1444625" y="1149350"/>
            <a:ext cx="6556375" cy="4953000"/>
            <a:chOff x="2130" y="963"/>
            <a:chExt cx="2976" cy="2941"/>
          </a:xfrm>
        </p:grpSpPr>
        <p:sp>
          <p:nvSpPr>
            <p:cNvPr id="11268" name="Rectangle 8"/>
            <p:cNvSpPr>
              <a:spLocks noChangeArrowheads="1"/>
            </p:cNvSpPr>
            <p:nvPr/>
          </p:nvSpPr>
          <p:spPr bwMode="auto">
            <a:xfrm>
              <a:off x="4225" y="3731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11269" name="Rectangle 9"/>
            <p:cNvSpPr>
              <a:spLocks noChangeArrowheads="1"/>
            </p:cNvSpPr>
            <p:nvPr/>
          </p:nvSpPr>
          <p:spPr bwMode="auto">
            <a:xfrm>
              <a:off x="3456" y="3731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17</a:t>
              </a:r>
            </a:p>
          </p:txBody>
        </p:sp>
        <p:sp>
          <p:nvSpPr>
            <p:cNvPr id="11270" name="Rectangle 10"/>
            <p:cNvSpPr>
              <a:spLocks noChangeArrowheads="1"/>
            </p:cNvSpPr>
            <p:nvPr/>
          </p:nvSpPr>
          <p:spPr bwMode="auto">
            <a:xfrm>
              <a:off x="2575" y="3731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1111</a:t>
              </a:r>
            </a:p>
          </p:txBody>
        </p:sp>
        <p:sp>
          <p:nvSpPr>
            <p:cNvPr id="11271" name="Rectangle 11"/>
            <p:cNvSpPr>
              <a:spLocks noChangeArrowheads="1"/>
            </p:cNvSpPr>
            <p:nvPr/>
          </p:nvSpPr>
          <p:spPr bwMode="auto">
            <a:xfrm>
              <a:off x="2130" y="3731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15</a:t>
              </a:r>
            </a:p>
          </p:txBody>
        </p:sp>
        <p:sp>
          <p:nvSpPr>
            <p:cNvPr id="11272" name="Rectangle 12"/>
            <p:cNvSpPr>
              <a:spLocks noChangeArrowheads="1"/>
            </p:cNvSpPr>
            <p:nvPr/>
          </p:nvSpPr>
          <p:spPr bwMode="auto">
            <a:xfrm>
              <a:off x="4225" y="3558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  <p:sp>
          <p:nvSpPr>
            <p:cNvPr id="11273" name="Rectangle 13"/>
            <p:cNvSpPr>
              <a:spLocks noChangeArrowheads="1"/>
            </p:cNvSpPr>
            <p:nvPr/>
          </p:nvSpPr>
          <p:spPr bwMode="auto">
            <a:xfrm>
              <a:off x="3456" y="3558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16</a:t>
              </a:r>
            </a:p>
          </p:txBody>
        </p:sp>
        <p:sp>
          <p:nvSpPr>
            <p:cNvPr id="11274" name="Rectangle 14"/>
            <p:cNvSpPr>
              <a:spLocks noChangeArrowheads="1"/>
            </p:cNvSpPr>
            <p:nvPr/>
          </p:nvSpPr>
          <p:spPr bwMode="auto">
            <a:xfrm>
              <a:off x="2575" y="3558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1110</a:t>
              </a:r>
            </a:p>
          </p:txBody>
        </p:sp>
        <p:sp>
          <p:nvSpPr>
            <p:cNvPr id="11275" name="Rectangle 15"/>
            <p:cNvSpPr>
              <a:spLocks noChangeArrowheads="1"/>
            </p:cNvSpPr>
            <p:nvPr/>
          </p:nvSpPr>
          <p:spPr bwMode="auto">
            <a:xfrm>
              <a:off x="2130" y="3558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14</a:t>
              </a:r>
            </a:p>
          </p:txBody>
        </p:sp>
        <p:sp>
          <p:nvSpPr>
            <p:cNvPr id="11276" name="Rectangle 16"/>
            <p:cNvSpPr>
              <a:spLocks noChangeArrowheads="1"/>
            </p:cNvSpPr>
            <p:nvPr/>
          </p:nvSpPr>
          <p:spPr bwMode="auto">
            <a:xfrm>
              <a:off x="4225" y="3385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sp>
          <p:nvSpPr>
            <p:cNvPr id="11277" name="Rectangle 17"/>
            <p:cNvSpPr>
              <a:spLocks noChangeArrowheads="1"/>
            </p:cNvSpPr>
            <p:nvPr/>
          </p:nvSpPr>
          <p:spPr bwMode="auto">
            <a:xfrm>
              <a:off x="3456" y="3385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15</a:t>
              </a:r>
            </a:p>
          </p:txBody>
        </p:sp>
        <p:sp>
          <p:nvSpPr>
            <p:cNvPr id="11278" name="Rectangle 18"/>
            <p:cNvSpPr>
              <a:spLocks noChangeArrowheads="1"/>
            </p:cNvSpPr>
            <p:nvPr/>
          </p:nvSpPr>
          <p:spPr bwMode="auto">
            <a:xfrm>
              <a:off x="2575" y="3385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1101</a:t>
              </a:r>
            </a:p>
          </p:txBody>
        </p:sp>
        <p:sp>
          <p:nvSpPr>
            <p:cNvPr id="11279" name="Rectangle 19"/>
            <p:cNvSpPr>
              <a:spLocks noChangeArrowheads="1"/>
            </p:cNvSpPr>
            <p:nvPr/>
          </p:nvSpPr>
          <p:spPr bwMode="auto">
            <a:xfrm>
              <a:off x="2130" y="3385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13</a:t>
              </a:r>
            </a:p>
          </p:txBody>
        </p:sp>
        <p:sp>
          <p:nvSpPr>
            <p:cNvPr id="11280" name="Rectangle 20"/>
            <p:cNvSpPr>
              <a:spLocks noChangeArrowheads="1"/>
            </p:cNvSpPr>
            <p:nvPr/>
          </p:nvSpPr>
          <p:spPr bwMode="auto">
            <a:xfrm>
              <a:off x="4225" y="3212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  <p:sp>
          <p:nvSpPr>
            <p:cNvPr id="11281" name="Rectangle 21"/>
            <p:cNvSpPr>
              <a:spLocks noChangeArrowheads="1"/>
            </p:cNvSpPr>
            <p:nvPr/>
          </p:nvSpPr>
          <p:spPr bwMode="auto">
            <a:xfrm>
              <a:off x="3456" y="3212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14</a:t>
              </a:r>
            </a:p>
          </p:txBody>
        </p:sp>
        <p:sp>
          <p:nvSpPr>
            <p:cNvPr id="11282" name="Rectangle 22"/>
            <p:cNvSpPr>
              <a:spLocks noChangeArrowheads="1"/>
            </p:cNvSpPr>
            <p:nvPr/>
          </p:nvSpPr>
          <p:spPr bwMode="auto">
            <a:xfrm>
              <a:off x="2575" y="3212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1100</a:t>
              </a:r>
            </a:p>
          </p:txBody>
        </p:sp>
        <p:sp>
          <p:nvSpPr>
            <p:cNvPr id="11283" name="Rectangle 23"/>
            <p:cNvSpPr>
              <a:spLocks noChangeArrowheads="1"/>
            </p:cNvSpPr>
            <p:nvPr/>
          </p:nvSpPr>
          <p:spPr bwMode="auto">
            <a:xfrm>
              <a:off x="2130" y="3212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12</a:t>
              </a:r>
            </a:p>
          </p:txBody>
        </p:sp>
        <p:sp>
          <p:nvSpPr>
            <p:cNvPr id="11284" name="Rectangle 24"/>
            <p:cNvSpPr>
              <a:spLocks noChangeArrowheads="1"/>
            </p:cNvSpPr>
            <p:nvPr/>
          </p:nvSpPr>
          <p:spPr bwMode="auto">
            <a:xfrm>
              <a:off x="4225" y="3039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  <p:sp>
          <p:nvSpPr>
            <p:cNvPr id="11285" name="Rectangle 25"/>
            <p:cNvSpPr>
              <a:spLocks noChangeArrowheads="1"/>
            </p:cNvSpPr>
            <p:nvPr/>
          </p:nvSpPr>
          <p:spPr bwMode="auto">
            <a:xfrm>
              <a:off x="3456" y="3039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13</a:t>
              </a:r>
            </a:p>
          </p:txBody>
        </p:sp>
        <p:sp>
          <p:nvSpPr>
            <p:cNvPr id="11286" name="Rectangle 26"/>
            <p:cNvSpPr>
              <a:spLocks noChangeArrowheads="1"/>
            </p:cNvSpPr>
            <p:nvPr/>
          </p:nvSpPr>
          <p:spPr bwMode="auto">
            <a:xfrm>
              <a:off x="2575" y="3039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1011</a:t>
              </a:r>
            </a:p>
          </p:txBody>
        </p:sp>
        <p:sp>
          <p:nvSpPr>
            <p:cNvPr id="11287" name="Rectangle 27"/>
            <p:cNvSpPr>
              <a:spLocks noChangeArrowheads="1"/>
            </p:cNvSpPr>
            <p:nvPr/>
          </p:nvSpPr>
          <p:spPr bwMode="auto">
            <a:xfrm>
              <a:off x="2130" y="3039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11</a:t>
              </a:r>
            </a:p>
          </p:txBody>
        </p:sp>
        <p:sp>
          <p:nvSpPr>
            <p:cNvPr id="11288" name="Rectangle 28"/>
            <p:cNvSpPr>
              <a:spLocks noChangeArrowheads="1"/>
            </p:cNvSpPr>
            <p:nvPr/>
          </p:nvSpPr>
          <p:spPr bwMode="auto">
            <a:xfrm>
              <a:off x="4225" y="2866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sp>
          <p:nvSpPr>
            <p:cNvPr id="11289" name="Rectangle 29"/>
            <p:cNvSpPr>
              <a:spLocks noChangeArrowheads="1"/>
            </p:cNvSpPr>
            <p:nvPr/>
          </p:nvSpPr>
          <p:spPr bwMode="auto">
            <a:xfrm>
              <a:off x="3456" y="2866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12</a:t>
              </a:r>
            </a:p>
          </p:txBody>
        </p:sp>
        <p:sp>
          <p:nvSpPr>
            <p:cNvPr id="11290" name="Rectangle 30"/>
            <p:cNvSpPr>
              <a:spLocks noChangeArrowheads="1"/>
            </p:cNvSpPr>
            <p:nvPr/>
          </p:nvSpPr>
          <p:spPr bwMode="auto">
            <a:xfrm>
              <a:off x="2575" y="2866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1010</a:t>
              </a:r>
            </a:p>
          </p:txBody>
        </p:sp>
        <p:sp>
          <p:nvSpPr>
            <p:cNvPr id="11291" name="Rectangle 31"/>
            <p:cNvSpPr>
              <a:spLocks noChangeArrowheads="1"/>
            </p:cNvSpPr>
            <p:nvPr/>
          </p:nvSpPr>
          <p:spPr bwMode="auto">
            <a:xfrm>
              <a:off x="2130" y="2866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10</a:t>
              </a:r>
            </a:p>
          </p:txBody>
        </p:sp>
        <p:sp>
          <p:nvSpPr>
            <p:cNvPr id="11292" name="Rectangle 32"/>
            <p:cNvSpPr>
              <a:spLocks noChangeArrowheads="1"/>
            </p:cNvSpPr>
            <p:nvPr/>
          </p:nvSpPr>
          <p:spPr bwMode="auto">
            <a:xfrm>
              <a:off x="4225" y="2693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11293" name="Rectangle 33"/>
            <p:cNvSpPr>
              <a:spLocks noChangeArrowheads="1"/>
            </p:cNvSpPr>
            <p:nvPr/>
          </p:nvSpPr>
          <p:spPr bwMode="auto">
            <a:xfrm>
              <a:off x="3456" y="2693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11</a:t>
              </a:r>
            </a:p>
          </p:txBody>
        </p:sp>
        <p:sp>
          <p:nvSpPr>
            <p:cNvPr id="11294" name="Rectangle 34"/>
            <p:cNvSpPr>
              <a:spLocks noChangeArrowheads="1"/>
            </p:cNvSpPr>
            <p:nvPr/>
          </p:nvSpPr>
          <p:spPr bwMode="auto">
            <a:xfrm>
              <a:off x="2575" y="2693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1001</a:t>
              </a:r>
            </a:p>
          </p:txBody>
        </p:sp>
        <p:sp>
          <p:nvSpPr>
            <p:cNvPr id="11295" name="Rectangle 35"/>
            <p:cNvSpPr>
              <a:spLocks noChangeArrowheads="1"/>
            </p:cNvSpPr>
            <p:nvPr/>
          </p:nvSpPr>
          <p:spPr bwMode="auto">
            <a:xfrm>
              <a:off x="2130" y="2693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11296" name="Rectangle 36"/>
            <p:cNvSpPr>
              <a:spLocks noChangeArrowheads="1"/>
            </p:cNvSpPr>
            <p:nvPr/>
          </p:nvSpPr>
          <p:spPr bwMode="auto">
            <a:xfrm>
              <a:off x="4225" y="2520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</p:txBody>
        </p:sp>
        <p:sp>
          <p:nvSpPr>
            <p:cNvPr id="11297" name="Rectangle 37"/>
            <p:cNvSpPr>
              <a:spLocks noChangeArrowheads="1"/>
            </p:cNvSpPr>
            <p:nvPr/>
          </p:nvSpPr>
          <p:spPr bwMode="auto">
            <a:xfrm>
              <a:off x="3456" y="2520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10</a:t>
              </a:r>
            </a:p>
          </p:txBody>
        </p:sp>
        <p:sp>
          <p:nvSpPr>
            <p:cNvPr id="11298" name="Rectangle 38"/>
            <p:cNvSpPr>
              <a:spLocks noChangeArrowheads="1"/>
            </p:cNvSpPr>
            <p:nvPr/>
          </p:nvSpPr>
          <p:spPr bwMode="auto">
            <a:xfrm>
              <a:off x="2575" y="2520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1000</a:t>
              </a:r>
            </a:p>
          </p:txBody>
        </p:sp>
        <p:sp>
          <p:nvSpPr>
            <p:cNvPr id="11299" name="Rectangle 39"/>
            <p:cNvSpPr>
              <a:spLocks noChangeArrowheads="1"/>
            </p:cNvSpPr>
            <p:nvPr/>
          </p:nvSpPr>
          <p:spPr bwMode="auto">
            <a:xfrm>
              <a:off x="2130" y="2520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</p:txBody>
        </p:sp>
        <p:sp>
          <p:nvSpPr>
            <p:cNvPr id="11300" name="Rectangle 40"/>
            <p:cNvSpPr>
              <a:spLocks noChangeArrowheads="1"/>
            </p:cNvSpPr>
            <p:nvPr/>
          </p:nvSpPr>
          <p:spPr bwMode="auto">
            <a:xfrm>
              <a:off x="4225" y="2347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7</a:t>
              </a:r>
            </a:p>
          </p:txBody>
        </p:sp>
        <p:sp>
          <p:nvSpPr>
            <p:cNvPr id="11301" name="Rectangle 41"/>
            <p:cNvSpPr>
              <a:spLocks noChangeArrowheads="1"/>
            </p:cNvSpPr>
            <p:nvPr/>
          </p:nvSpPr>
          <p:spPr bwMode="auto">
            <a:xfrm>
              <a:off x="3456" y="2347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7</a:t>
              </a:r>
            </a:p>
          </p:txBody>
        </p:sp>
        <p:sp>
          <p:nvSpPr>
            <p:cNvPr id="11302" name="Rectangle 42"/>
            <p:cNvSpPr>
              <a:spLocks noChangeArrowheads="1"/>
            </p:cNvSpPr>
            <p:nvPr/>
          </p:nvSpPr>
          <p:spPr bwMode="auto">
            <a:xfrm>
              <a:off x="2575" y="2347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0111</a:t>
              </a:r>
            </a:p>
          </p:txBody>
        </p:sp>
        <p:sp>
          <p:nvSpPr>
            <p:cNvPr id="11303" name="Rectangle 43"/>
            <p:cNvSpPr>
              <a:spLocks noChangeArrowheads="1"/>
            </p:cNvSpPr>
            <p:nvPr/>
          </p:nvSpPr>
          <p:spPr bwMode="auto">
            <a:xfrm>
              <a:off x="2130" y="2347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7</a:t>
              </a:r>
            </a:p>
          </p:txBody>
        </p:sp>
        <p:sp>
          <p:nvSpPr>
            <p:cNvPr id="11304" name="Rectangle 44"/>
            <p:cNvSpPr>
              <a:spLocks noChangeArrowheads="1"/>
            </p:cNvSpPr>
            <p:nvPr/>
          </p:nvSpPr>
          <p:spPr bwMode="auto">
            <a:xfrm>
              <a:off x="4225" y="2174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6</a:t>
              </a:r>
            </a:p>
          </p:txBody>
        </p:sp>
        <p:sp>
          <p:nvSpPr>
            <p:cNvPr id="11305" name="Rectangle 45"/>
            <p:cNvSpPr>
              <a:spLocks noChangeArrowheads="1"/>
            </p:cNvSpPr>
            <p:nvPr/>
          </p:nvSpPr>
          <p:spPr bwMode="auto">
            <a:xfrm>
              <a:off x="3456" y="2174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6</a:t>
              </a:r>
            </a:p>
          </p:txBody>
        </p:sp>
        <p:sp>
          <p:nvSpPr>
            <p:cNvPr id="11306" name="Rectangle 46"/>
            <p:cNvSpPr>
              <a:spLocks noChangeArrowheads="1"/>
            </p:cNvSpPr>
            <p:nvPr/>
          </p:nvSpPr>
          <p:spPr bwMode="auto">
            <a:xfrm>
              <a:off x="2575" y="2174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0110</a:t>
              </a:r>
            </a:p>
          </p:txBody>
        </p:sp>
        <p:sp>
          <p:nvSpPr>
            <p:cNvPr id="11307" name="Rectangle 47"/>
            <p:cNvSpPr>
              <a:spLocks noChangeArrowheads="1"/>
            </p:cNvSpPr>
            <p:nvPr/>
          </p:nvSpPr>
          <p:spPr bwMode="auto">
            <a:xfrm>
              <a:off x="2130" y="2174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6</a:t>
              </a:r>
            </a:p>
          </p:txBody>
        </p:sp>
        <p:sp>
          <p:nvSpPr>
            <p:cNvPr id="11308" name="Rectangle 48"/>
            <p:cNvSpPr>
              <a:spLocks noChangeArrowheads="1"/>
            </p:cNvSpPr>
            <p:nvPr/>
          </p:nvSpPr>
          <p:spPr bwMode="auto">
            <a:xfrm>
              <a:off x="4225" y="2001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11309" name="Rectangle 49"/>
            <p:cNvSpPr>
              <a:spLocks noChangeArrowheads="1"/>
            </p:cNvSpPr>
            <p:nvPr/>
          </p:nvSpPr>
          <p:spPr bwMode="auto">
            <a:xfrm>
              <a:off x="3456" y="2001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11310" name="Rectangle 50"/>
            <p:cNvSpPr>
              <a:spLocks noChangeArrowheads="1"/>
            </p:cNvSpPr>
            <p:nvPr/>
          </p:nvSpPr>
          <p:spPr bwMode="auto">
            <a:xfrm>
              <a:off x="2575" y="2001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0101</a:t>
              </a:r>
            </a:p>
          </p:txBody>
        </p:sp>
        <p:sp>
          <p:nvSpPr>
            <p:cNvPr id="11311" name="Rectangle 51"/>
            <p:cNvSpPr>
              <a:spLocks noChangeArrowheads="1"/>
            </p:cNvSpPr>
            <p:nvPr/>
          </p:nvSpPr>
          <p:spPr bwMode="auto">
            <a:xfrm>
              <a:off x="2130" y="2001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11312" name="Rectangle 52"/>
            <p:cNvSpPr>
              <a:spLocks noChangeArrowheads="1"/>
            </p:cNvSpPr>
            <p:nvPr/>
          </p:nvSpPr>
          <p:spPr bwMode="auto">
            <a:xfrm>
              <a:off x="4225" y="1828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11313" name="Rectangle 53"/>
            <p:cNvSpPr>
              <a:spLocks noChangeArrowheads="1"/>
            </p:cNvSpPr>
            <p:nvPr/>
          </p:nvSpPr>
          <p:spPr bwMode="auto">
            <a:xfrm>
              <a:off x="3456" y="1828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11314" name="Rectangle 54"/>
            <p:cNvSpPr>
              <a:spLocks noChangeArrowheads="1"/>
            </p:cNvSpPr>
            <p:nvPr/>
          </p:nvSpPr>
          <p:spPr bwMode="auto">
            <a:xfrm>
              <a:off x="2575" y="1828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0100</a:t>
              </a:r>
            </a:p>
          </p:txBody>
        </p:sp>
        <p:sp>
          <p:nvSpPr>
            <p:cNvPr id="11315" name="Rectangle 55"/>
            <p:cNvSpPr>
              <a:spLocks noChangeArrowheads="1"/>
            </p:cNvSpPr>
            <p:nvPr/>
          </p:nvSpPr>
          <p:spPr bwMode="auto">
            <a:xfrm>
              <a:off x="2130" y="1828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11316" name="Rectangle 56"/>
            <p:cNvSpPr>
              <a:spLocks noChangeArrowheads="1"/>
            </p:cNvSpPr>
            <p:nvPr/>
          </p:nvSpPr>
          <p:spPr bwMode="auto">
            <a:xfrm>
              <a:off x="4225" y="1655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  <p:sp>
          <p:nvSpPr>
            <p:cNvPr id="11317" name="Rectangle 57"/>
            <p:cNvSpPr>
              <a:spLocks noChangeArrowheads="1"/>
            </p:cNvSpPr>
            <p:nvPr/>
          </p:nvSpPr>
          <p:spPr bwMode="auto">
            <a:xfrm>
              <a:off x="3456" y="1655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  <p:sp>
          <p:nvSpPr>
            <p:cNvPr id="11318" name="Rectangle 58"/>
            <p:cNvSpPr>
              <a:spLocks noChangeArrowheads="1"/>
            </p:cNvSpPr>
            <p:nvPr/>
          </p:nvSpPr>
          <p:spPr bwMode="auto">
            <a:xfrm>
              <a:off x="2575" y="1655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0011</a:t>
              </a:r>
            </a:p>
          </p:txBody>
        </p:sp>
        <p:sp>
          <p:nvSpPr>
            <p:cNvPr id="11319" name="Rectangle 59"/>
            <p:cNvSpPr>
              <a:spLocks noChangeArrowheads="1"/>
            </p:cNvSpPr>
            <p:nvPr/>
          </p:nvSpPr>
          <p:spPr bwMode="auto">
            <a:xfrm>
              <a:off x="2130" y="1655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  <p:sp>
          <p:nvSpPr>
            <p:cNvPr id="11320" name="Rectangle 60"/>
            <p:cNvSpPr>
              <a:spLocks noChangeArrowheads="1"/>
            </p:cNvSpPr>
            <p:nvPr/>
          </p:nvSpPr>
          <p:spPr bwMode="auto">
            <a:xfrm>
              <a:off x="4225" y="1482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</a:p>
          </p:txBody>
        </p:sp>
        <p:sp>
          <p:nvSpPr>
            <p:cNvPr id="11321" name="Rectangle 61"/>
            <p:cNvSpPr>
              <a:spLocks noChangeArrowheads="1"/>
            </p:cNvSpPr>
            <p:nvPr/>
          </p:nvSpPr>
          <p:spPr bwMode="auto">
            <a:xfrm>
              <a:off x="3456" y="1482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</a:p>
          </p:txBody>
        </p:sp>
        <p:sp>
          <p:nvSpPr>
            <p:cNvPr id="11322" name="Rectangle 62"/>
            <p:cNvSpPr>
              <a:spLocks noChangeArrowheads="1"/>
            </p:cNvSpPr>
            <p:nvPr/>
          </p:nvSpPr>
          <p:spPr bwMode="auto">
            <a:xfrm>
              <a:off x="2575" y="1482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0010</a:t>
              </a:r>
            </a:p>
          </p:txBody>
        </p:sp>
        <p:sp>
          <p:nvSpPr>
            <p:cNvPr id="11323" name="Rectangle 63"/>
            <p:cNvSpPr>
              <a:spLocks noChangeArrowheads="1"/>
            </p:cNvSpPr>
            <p:nvPr/>
          </p:nvSpPr>
          <p:spPr bwMode="auto">
            <a:xfrm>
              <a:off x="2130" y="1482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</a:p>
          </p:txBody>
        </p:sp>
        <p:sp>
          <p:nvSpPr>
            <p:cNvPr id="11324" name="Rectangle 64"/>
            <p:cNvSpPr>
              <a:spLocks noChangeArrowheads="1"/>
            </p:cNvSpPr>
            <p:nvPr/>
          </p:nvSpPr>
          <p:spPr bwMode="auto">
            <a:xfrm>
              <a:off x="4225" y="1309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11325" name="Rectangle 65"/>
            <p:cNvSpPr>
              <a:spLocks noChangeArrowheads="1"/>
            </p:cNvSpPr>
            <p:nvPr/>
          </p:nvSpPr>
          <p:spPr bwMode="auto">
            <a:xfrm>
              <a:off x="3456" y="1309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11326" name="Rectangle 66"/>
            <p:cNvSpPr>
              <a:spLocks noChangeArrowheads="1"/>
            </p:cNvSpPr>
            <p:nvPr/>
          </p:nvSpPr>
          <p:spPr bwMode="auto">
            <a:xfrm>
              <a:off x="2575" y="1309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0001</a:t>
              </a:r>
            </a:p>
          </p:txBody>
        </p:sp>
        <p:sp>
          <p:nvSpPr>
            <p:cNvPr id="11327" name="Rectangle 67"/>
            <p:cNvSpPr>
              <a:spLocks noChangeArrowheads="1"/>
            </p:cNvSpPr>
            <p:nvPr/>
          </p:nvSpPr>
          <p:spPr bwMode="auto">
            <a:xfrm>
              <a:off x="2130" y="1309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11328" name="Rectangle 68"/>
            <p:cNvSpPr>
              <a:spLocks noChangeArrowheads="1"/>
            </p:cNvSpPr>
            <p:nvPr/>
          </p:nvSpPr>
          <p:spPr bwMode="auto">
            <a:xfrm>
              <a:off x="4225" y="1136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11329" name="Rectangle 69"/>
            <p:cNvSpPr>
              <a:spLocks noChangeArrowheads="1"/>
            </p:cNvSpPr>
            <p:nvPr/>
          </p:nvSpPr>
          <p:spPr bwMode="auto">
            <a:xfrm>
              <a:off x="3456" y="1136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11330" name="Rectangle 70"/>
            <p:cNvSpPr>
              <a:spLocks noChangeArrowheads="1"/>
            </p:cNvSpPr>
            <p:nvPr/>
          </p:nvSpPr>
          <p:spPr bwMode="auto">
            <a:xfrm>
              <a:off x="2575" y="1136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0000</a:t>
              </a:r>
            </a:p>
          </p:txBody>
        </p:sp>
        <p:sp>
          <p:nvSpPr>
            <p:cNvPr id="11331" name="Rectangle 71"/>
            <p:cNvSpPr>
              <a:spLocks noChangeArrowheads="1"/>
            </p:cNvSpPr>
            <p:nvPr/>
          </p:nvSpPr>
          <p:spPr bwMode="auto">
            <a:xfrm>
              <a:off x="2130" y="1136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11332" name="Rectangle 72"/>
            <p:cNvSpPr>
              <a:spLocks noChangeArrowheads="1"/>
            </p:cNvSpPr>
            <p:nvPr/>
          </p:nvSpPr>
          <p:spPr bwMode="auto">
            <a:xfrm>
              <a:off x="4225" y="963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十六进制</a:t>
              </a:r>
            </a:p>
          </p:txBody>
        </p:sp>
        <p:sp>
          <p:nvSpPr>
            <p:cNvPr id="11333" name="Rectangle 73"/>
            <p:cNvSpPr>
              <a:spLocks noChangeArrowheads="1"/>
            </p:cNvSpPr>
            <p:nvPr/>
          </p:nvSpPr>
          <p:spPr bwMode="auto">
            <a:xfrm>
              <a:off x="3456" y="963"/>
              <a:ext cx="769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八进制</a:t>
              </a:r>
            </a:p>
          </p:txBody>
        </p:sp>
        <p:sp>
          <p:nvSpPr>
            <p:cNvPr id="11334" name="Rectangle 74"/>
            <p:cNvSpPr>
              <a:spLocks noChangeArrowheads="1"/>
            </p:cNvSpPr>
            <p:nvPr/>
          </p:nvSpPr>
          <p:spPr bwMode="auto">
            <a:xfrm>
              <a:off x="2575" y="963"/>
              <a:ext cx="881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二进制</a:t>
              </a:r>
            </a:p>
          </p:txBody>
        </p:sp>
        <p:sp>
          <p:nvSpPr>
            <p:cNvPr id="11335" name="Rectangle 75"/>
            <p:cNvSpPr>
              <a:spLocks noChangeArrowheads="1"/>
            </p:cNvSpPr>
            <p:nvPr/>
          </p:nvSpPr>
          <p:spPr bwMode="auto">
            <a:xfrm>
              <a:off x="2130" y="963"/>
              <a:ext cx="445" cy="173"/>
            </a:xfrm>
            <a:prstGeom prst="rect">
              <a:avLst/>
            </a:prstGeom>
            <a:solidFill>
              <a:srgbClr val="D5F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0" rIns="9000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十进制</a:t>
              </a:r>
            </a:p>
          </p:txBody>
        </p:sp>
        <p:sp>
          <p:nvSpPr>
            <p:cNvPr id="11336" name="Line 76"/>
            <p:cNvSpPr>
              <a:spLocks noChangeShapeType="1"/>
            </p:cNvSpPr>
            <p:nvPr/>
          </p:nvSpPr>
          <p:spPr bwMode="auto">
            <a:xfrm>
              <a:off x="2130" y="963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37" name="Line 77"/>
            <p:cNvSpPr>
              <a:spLocks noChangeShapeType="1"/>
            </p:cNvSpPr>
            <p:nvPr/>
          </p:nvSpPr>
          <p:spPr bwMode="auto">
            <a:xfrm>
              <a:off x="2130" y="3904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38" name="Line 78"/>
            <p:cNvSpPr>
              <a:spLocks noChangeShapeType="1"/>
            </p:cNvSpPr>
            <p:nvPr/>
          </p:nvSpPr>
          <p:spPr bwMode="auto">
            <a:xfrm>
              <a:off x="2130" y="963"/>
              <a:ext cx="0" cy="294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39" name="Line 79"/>
            <p:cNvSpPr>
              <a:spLocks noChangeShapeType="1"/>
            </p:cNvSpPr>
            <p:nvPr/>
          </p:nvSpPr>
          <p:spPr bwMode="auto">
            <a:xfrm>
              <a:off x="5106" y="963"/>
              <a:ext cx="0" cy="294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0" name="Line 80"/>
            <p:cNvSpPr>
              <a:spLocks noChangeShapeType="1"/>
            </p:cNvSpPr>
            <p:nvPr/>
          </p:nvSpPr>
          <p:spPr bwMode="auto">
            <a:xfrm>
              <a:off x="2130" y="1136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1" name="Line 81"/>
            <p:cNvSpPr>
              <a:spLocks noChangeShapeType="1"/>
            </p:cNvSpPr>
            <p:nvPr/>
          </p:nvSpPr>
          <p:spPr bwMode="auto">
            <a:xfrm>
              <a:off x="2575" y="963"/>
              <a:ext cx="0" cy="294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2" name="Line 82"/>
            <p:cNvSpPr>
              <a:spLocks noChangeShapeType="1"/>
            </p:cNvSpPr>
            <p:nvPr/>
          </p:nvSpPr>
          <p:spPr bwMode="auto">
            <a:xfrm>
              <a:off x="3456" y="963"/>
              <a:ext cx="0" cy="294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3" name="Line 83"/>
            <p:cNvSpPr>
              <a:spLocks noChangeShapeType="1"/>
            </p:cNvSpPr>
            <p:nvPr/>
          </p:nvSpPr>
          <p:spPr bwMode="auto">
            <a:xfrm>
              <a:off x="4225" y="963"/>
              <a:ext cx="0" cy="294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4" name="Line 84"/>
            <p:cNvSpPr>
              <a:spLocks noChangeShapeType="1"/>
            </p:cNvSpPr>
            <p:nvPr/>
          </p:nvSpPr>
          <p:spPr bwMode="auto">
            <a:xfrm>
              <a:off x="2130" y="1309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5" name="Line 85"/>
            <p:cNvSpPr>
              <a:spLocks noChangeShapeType="1"/>
            </p:cNvSpPr>
            <p:nvPr/>
          </p:nvSpPr>
          <p:spPr bwMode="auto">
            <a:xfrm>
              <a:off x="2130" y="1482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6" name="Line 86"/>
            <p:cNvSpPr>
              <a:spLocks noChangeShapeType="1"/>
            </p:cNvSpPr>
            <p:nvPr/>
          </p:nvSpPr>
          <p:spPr bwMode="auto">
            <a:xfrm>
              <a:off x="2130" y="1655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7" name="Line 87"/>
            <p:cNvSpPr>
              <a:spLocks noChangeShapeType="1"/>
            </p:cNvSpPr>
            <p:nvPr/>
          </p:nvSpPr>
          <p:spPr bwMode="auto">
            <a:xfrm>
              <a:off x="2130" y="1828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8" name="Line 88"/>
            <p:cNvSpPr>
              <a:spLocks noChangeShapeType="1"/>
            </p:cNvSpPr>
            <p:nvPr/>
          </p:nvSpPr>
          <p:spPr bwMode="auto">
            <a:xfrm>
              <a:off x="2130" y="2001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49" name="Line 89"/>
            <p:cNvSpPr>
              <a:spLocks noChangeShapeType="1"/>
            </p:cNvSpPr>
            <p:nvPr/>
          </p:nvSpPr>
          <p:spPr bwMode="auto">
            <a:xfrm>
              <a:off x="2130" y="2174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0" name="Line 90"/>
            <p:cNvSpPr>
              <a:spLocks noChangeShapeType="1"/>
            </p:cNvSpPr>
            <p:nvPr/>
          </p:nvSpPr>
          <p:spPr bwMode="auto">
            <a:xfrm>
              <a:off x="2130" y="2347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1" name="Line 91"/>
            <p:cNvSpPr>
              <a:spLocks noChangeShapeType="1"/>
            </p:cNvSpPr>
            <p:nvPr/>
          </p:nvSpPr>
          <p:spPr bwMode="auto">
            <a:xfrm>
              <a:off x="2130" y="2520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2" name="Line 92"/>
            <p:cNvSpPr>
              <a:spLocks noChangeShapeType="1"/>
            </p:cNvSpPr>
            <p:nvPr/>
          </p:nvSpPr>
          <p:spPr bwMode="auto">
            <a:xfrm>
              <a:off x="2130" y="2693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3" name="Line 93"/>
            <p:cNvSpPr>
              <a:spLocks noChangeShapeType="1"/>
            </p:cNvSpPr>
            <p:nvPr/>
          </p:nvSpPr>
          <p:spPr bwMode="auto">
            <a:xfrm>
              <a:off x="2130" y="2866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4" name="Line 94"/>
            <p:cNvSpPr>
              <a:spLocks noChangeShapeType="1"/>
            </p:cNvSpPr>
            <p:nvPr/>
          </p:nvSpPr>
          <p:spPr bwMode="auto">
            <a:xfrm>
              <a:off x="2130" y="3039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5" name="Line 95"/>
            <p:cNvSpPr>
              <a:spLocks noChangeShapeType="1"/>
            </p:cNvSpPr>
            <p:nvPr/>
          </p:nvSpPr>
          <p:spPr bwMode="auto">
            <a:xfrm>
              <a:off x="2130" y="3212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6" name="Line 96"/>
            <p:cNvSpPr>
              <a:spLocks noChangeShapeType="1"/>
            </p:cNvSpPr>
            <p:nvPr/>
          </p:nvSpPr>
          <p:spPr bwMode="auto">
            <a:xfrm>
              <a:off x="2130" y="3385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7" name="Line 97"/>
            <p:cNvSpPr>
              <a:spLocks noChangeShapeType="1"/>
            </p:cNvSpPr>
            <p:nvPr/>
          </p:nvSpPr>
          <p:spPr bwMode="auto">
            <a:xfrm>
              <a:off x="2130" y="3558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8" name="Line 98"/>
            <p:cNvSpPr>
              <a:spLocks noChangeShapeType="1"/>
            </p:cNvSpPr>
            <p:nvPr/>
          </p:nvSpPr>
          <p:spPr bwMode="auto">
            <a:xfrm>
              <a:off x="2130" y="3731"/>
              <a:ext cx="297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1267" name="Rectangle 99"/>
          <p:cNvSpPr>
            <a:spLocks noChangeArrowheads="1"/>
          </p:cNvSpPr>
          <p:nvPr/>
        </p:nvSpPr>
        <p:spPr bwMode="auto">
          <a:xfrm>
            <a:off x="850900" y="523875"/>
            <a:ext cx="637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常用几种进制的对应关系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3" name="Rectangle 5"/>
          <p:cNvSpPr>
            <a:spLocks noChangeArrowheads="1"/>
          </p:cNvSpPr>
          <p:nvPr/>
        </p:nvSpPr>
        <p:spPr bwMode="auto">
          <a:xfrm>
            <a:off x="520700" y="1739900"/>
            <a:ext cx="8318500" cy="1098550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2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？</a:t>
            </a:r>
            <a:r>
              <a:rPr lang="zh-CN" altLang="en-US" sz="2200" i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思考：</a:t>
            </a:r>
            <a:r>
              <a:rPr lang="zh-CN" altLang="en-US" sz="22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下列数中哪些可能为十六进制数、八进制数和十进制数？</a:t>
            </a:r>
            <a:endParaRPr lang="zh-CN" altLang="en-US" sz="10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2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108 ，907，</a:t>
            </a:r>
            <a:r>
              <a:rPr lang="en-US" altLang="zh-CN" sz="22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A35，780，10，11 ，675 </a:t>
            </a:r>
            <a:endParaRPr lang="en-US" altLang="zh-CN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444500" y="612775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2.0.2 进制转换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190500" y="1082675"/>
            <a:ext cx="8953500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695325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1．任意进制数转换为十进制数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69532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规则：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按权展开后相加。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69532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	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J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进制数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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n-1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n-2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……a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0.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……a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 m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)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的十进制值为：</a:t>
            </a:r>
            <a:endParaRPr lang="zh-CN" altLang="en-US" sz="2400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indent="695325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N =  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( 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n-1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J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n-1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n-2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J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n-2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+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 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0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J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0</a:t>
            </a:r>
            <a:endParaRPr lang="en-US" altLang="zh-CN" sz="2400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indent="695325"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          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J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a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J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+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 </a:t>
            </a:r>
            <a:r>
              <a:rPr lang="en-US" altLang="zh-CN" sz="24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400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-m</a:t>
            </a:r>
            <a:r>
              <a:rPr lang="en-US" altLang="zh-CN" sz="24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J</a:t>
            </a:r>
            <a:r>
              <a:rPr lang="en-US" altLang="zh-CN" sz="2400" baseline="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-m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)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0500" y="4073787"/>
            <a:ext cx="89535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695325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例：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(154)</a:t>
            </a:r>
            <a:r>
              <a:rPr lang="en-US" altLang="zh-CN" sz="2400" baseline="-25000" dirty="0">
                <a:latin typeface="黑体" pitchFamily="2" charset="-122"/>
                <a:ea typeface="黑体" pitchFamily="2" charset="-122"/>
                <a:sym typeface="Symbol" pitchFamily="18" charset="2"/>
              </a:rPr>
              <a:t>8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= 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8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+ 58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+ 48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0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= (108)</a:t>
            </a:r>
            <a:r>
              <a:rPr lang="en-US" altLang="zh-CN" sz="24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10</a:t>
            </a:r>
          </a:p>
          <a:p>
            <a:pPr indent="695325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      (2B)</a:t>
            </a:r>
            <a:r>
              <a:rPr lang="en-US" altLang="zh-CN" sz="2400" baseline="-25000" dirty="0">
                <a:latin typeface="黑体" pitchFamily="2" charset="-122"/>
                <a:ea typeface="黑体" pitchFamily="2" charset="-122"/>
                <a:sym typeface="Symbol" pitchFamily="18" charset="2"/>
              </a:rPr>
              <a:t>16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= 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16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+ 1116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0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= (43)</a:t>
            </a:r>
            <a:r>
              <a:rPr lang="en-US" altLang="zh-CN" sz="24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10</a:t>
            </a:r>
          </a:p>
          <a:p>
            <a:pPr indent="695325" algn="just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      (101101)</a:t>
            </a:r>
            <a:r>
              <a:rPr lang="en-US" altLang="zh-CN" sz="2400" baseline="-25000" dirty="0">
                <a:latin typeface="黑体" pitchFamily="2" charset="-122"/>
                <a:ea typeface="黑体" pitchFamily="2" charset="-122"/>
                <a:sym typeface="Symbol" pitchFamily="18" charset="2"/>
              </a:rPr>
              <a:t>2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=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5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+ 2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3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+ 2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+ 2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0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= (45)</a:t>
            </a:r>
            <a:r>
              <a:rPr lang="en-US" altLang="zh-CN" sz="24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10</a:t>
            </a:r>
            <a:endParaRPr lang="en-US" altLang="zh-CN" sz="2400" baseline="-25000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indent="695325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400" baseline="-25000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ChangeArrowheads="1"/>
          </p:cNvSpPr>
          <p:nvPr/>
        </p:nvSpPr>
        <p:spPr bwMode="auto">
          <a:xfrm>
            <a:off x="347663" y="511175"/>
            <a:ext cx="7848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2．十进制→二进制转换</a:t>
            </a:r>
            <a:endParaRPr lang="zh-CN" altLang="en-US" sz="2400" dirty="0">
              <a:latin typeface="黑体" pitchFamily="2" charset="-122"/>
              <a:ea typeface="黑体" pitchFamily="2" charset="-122"/>
              <a:cs typeface="Courier New" pitchFamily="49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1）整数部分转换──除2取余法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例：十进制数11转换为二进制数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2 11		余数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400" baseline="-30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=1</a:t>
            </a: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2  5	余数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400" baseline="-30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=1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2  2	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余数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400" baseline="-30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=0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   1	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余数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400" baseline="-30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=1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 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∴ (11)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(K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(1011)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2689225" y="2274888"/>
            <a:ext cx="854075" cy="1296987"/>
            <a:chOff x="2721" y="4124"/>
            <a:chExt cx="631" cy="782"/>
          </a:xfrm>
        </p:grpSpPr>
        <p:sp>
          <p:nvSpPr>
            <p:cNvPr id="14340" name="Freeform 6"/>
            <p:cNvSpPr>
              <a:spLocks/>
            </p:cNvSpPr>
            <p:nvPr/>
          </p:nvSpPr>
          <p:spPr bwMode="auto">
            <a:xfrm>
              <a:off x="2721" y="4124"/>
              <a:ext cx="391" cy="253"/>
            </a:xfrm>
            <a:custGeom>
              <a:avLst/>
              <a:gdLst>
                <a:gd name="T0" fmla="*/ 0 w 391"/>
                <a:gd name="T1" fmla="*/ 0 h 207"/>
                <a:gd name="T2" fmla="*/ 0 w 391"/>
                <a:gd name="T3" fmla="*/ 3444 h 207"/>
                <a:gd name="T4" fmla="*/ 391 w 391"/>
                <a:gd name="T5" fmla="*/ 3444 h 207"/>
                <a:gd name="T6" fmla="*/ 0 60000 65536"/>
                <a:gd name="T7" fmla="*/ 0 60000 65536"/>
                <a:gd name="T8" fmla="*/ 0 60000 65536"/>
                <a:gd name="T9" fmla="*/ 0 w 391"/>
                <a:gd name="T10" fmla="*/ 0 h 207"/>
                <a:gd name="T11" fmla="*/ 391 w 391"/>
                <a:gd name="T12" fmla="*/ 207 h 2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207">
                  <a:moveTo>
                    <a:pt x="0" y="0"/>
                  </a:moveTo>
                  <a:lnTo>
                    <a:pt x="0" y="207"/>
                  </a:lnTo>
                  <a:lnTo>
                    <a:pt x="391" y="207"/>
                  </a:lnTo>
                </a:path>
              </a:pathLst>
            </a:custGeom>
            <a:noFill/>
            <a:ln w="28575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341" name="Freeform 5"/>
            <p:cNvSpPr>
              <a:spLocks/>
            </p:cNvSpPr>
            <p:nvPr/>
          </p:nvSpPr>
          <p:spPr bwMode="auto">
            <a:xfrm>
              <a:off x="2813" y="4377"/>
              <a:ext cx="391" cy="253"/>
            </a:xfrm>
            <a:custGeom>
              <a:avLst/>
              <a:gdLst>
                <a:gd name="T0" fmla="*/ 0 w 391"/>
                <a:gd name="T1" fmla="*/ 0 h 207"/>
                <a:gd name="T2" fmla="*/ 0 w 391"/>
                <a:gd name="T3" fmla="*/ 3444 h 207"/>
                <a:gd name="T4" fmla="*/ 391 w 391"/>
                <a:gd name="T5" fmla="*/ 3444 h 207"/>
                <a:gd name="T6" fmla="*/ 0 60000 65536"/>
                <a:gd name="T7" fmla="*/ 0 60000 65536"/>
                <a:gd name="T8" fmla="*/ 0 60000 65536"/>
                <a:gd name="T9" fmla="*/ 0 w 391"/>
                <a:gd name="T10" fmla="*/ 0 h 207"/>
                <a:gd name="T11" fmla="*/ 391 w 391"/>
                <a:gd name="T12" fmla="*/ 207 h 2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207">
                  <a:moveTo>
                    <a:pt x="0" y="0"/>
                  </a:moveTo>
                  <a:lnTo>
                    <a:pt x="0" y="207"/>
                  </a:lnTo>
                  <a:lnTo>
                    <a:pt x="391" y="207"/>
                  </a:lnTo>
                </a:path>
              </a:pathLst>
            </a:custGeom>
            <a:noFill/>
            <a:ln w="28575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342" name="Freeform 4"/>
            <p:cNvSpPr>
              <a:spLocks/>
            </p:cNvSpPr>
            <p:nvPr/>
          </p:nvSpPr>
          <p:spPr bwMode="auto">
            <a:xfrm>
              <a:off x="2961" y="4653"/>
              <a:ext cx="391" cy="253"/>
            </a:xfrm>
            <a:custGeom>
              <a:avLst/>
              <a:gdLst>
                <a:gd name="T0" fmla="*/ 0 w 391"/>
                <a:gd name="T1" fmla="*/ 0 h 207"/>
                <a:gd name="T2" fmla="*/ 0 w 391"/>
                <a:gd name="T3" fmla="*/ 3444 h 207"/>
                <a:gd name="T4" fmla="*/ 391 w 391"/>
                <a:gd name="T5" fmla="*/ 3444 h 207"/>
                <a:gd name="T6" fmla="*/ 0 60000 65536"/>
                <a:gd name="T7" fmla="*/ 0 60000 65536"/>
                <a:gd name="T8" fmla="*/ 0 60000 65536"/>
                <a:gd name="T9" fmla="*/ 0 w 391"/>
                <a:gd name="T10" fmla="*/ 0 h 207"/>
                <a:gd name="T11" fmla="*/ 391 w 391"/>
                <a:gd name="T12" fmla="*/ 207 h 2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207">
                  <a:moveTo>
                    <a:pt x="0" y="0"/>
                  </a:moveTo>
                  <a:lnTo>
                    <a:pt x="0" y="207"/>
                  </a:lnTo>
                  <a:lnTo>
                    <a:pt x="391" y="207"/>
                  </a:lnTo>
                </a:path>
              </a:pathLst>
            </a:custGeom>
            <a:noFill/>
            <a:ln w="28575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664191" y="492450"/>
            <a:ext cx="3589444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609600" indent="-60960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2．十进制→二进制转换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197003"/>
              </p:ext>
            </p:extLst>
          </p:nvPr>
        </p:nvGraphicFramePr>
        <p:xfrm>
          <a:off x="569597" y="1152525"/>
          <a:ext cx="8267700" cy="533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960178" imgH="5141592" progId="Word.Document.8">
                  <p:embed/>
                </p:oleObj>
              </mc:Choice>
              <mc:Fallback>
                <p:oleObj name="Document" r:id="rId2" imgW="7960178" imgH="514159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7" y="1152525"/>
                        <a:ext cx="8267700" cy="533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332373"/>
              </p:ext>
            </p:extLst>
          </p:nvPr>
        </p:nvGraphicFramePr>
        <p:xfrm>
          <a:off x="412750" y="601663"/>
          <a:ext cx="8567738" cy="455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149552" imgH="4332280" progId="Word.Document.8">
                  <p:embed/>
                </p:oleObj>
              </mc:Choice>
              <mc:Fallback>
                <p:oleObj name="Document" r:id="rId2" imgW="8149552" imgH="43322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601663"/>
                        <a:ext cx="8567738" cy="455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681038" y="803275"/>
          <a:ext cx="533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809738" imgH="438095" progId="Paint.Picture">
                  <p:embed/>
                </p:oleObj>
              </mc:Choice>
              <mc:Fallback>
                <p:oleObj name="BMP 图象" r:id="rId2" imgW="809738" imgH="43809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803275"/>
                        <a:ext cx="533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885230"/>
              </p:ext>
            </p:extLst>
          </p:nvPr>
        </p:nvGraphicFramePr>
        <p:xfrm>
          <a:off x="431800" y="1858963"/>
          <a:ext cx="6411913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487671" imgH="1815463" progId="Word.Document.8">
                  <p:embed/>
                </p:oleObj>
              </mc:Choice>
              <mc:Fallback>
                <p:oleObj name="Document" r:id="rId4" imgW="6487671" imgH="1815463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1858963"/>
                        <a:ext cx="6411913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58723"/>
              </p:ext>
            </p:extLst>
          </p:nvPr>
        </p:nvGraphicFramePr>
        <p:xfrm>
          <a:off x="425450" y="776288"/>
          <a:ext cx="54610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477438" imgH="1089278" progId="Word.Document.8">
                  <p:embed/>
                </p:oleObj>
              </mc:Choice>
              <mc:Fallback>
                <p:oleObj name="Document" r:id="rId6" imgW="5477438" imgH="108927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776288"/>
                        <a:ext cx="5461000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5" name="Object 4"/>
          <p:cNvGraphicFramePr>
            <a:graphicFrameLocks noChangeAspect="1"/>
          </p:cNvGraphicFramePr>
          <p:nvPr/>
        </p:nvGraphicFramePr>
        <p:xfrm>
          <a:off x="681038" y="803275"/>
          <a:ext cx="533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809738" imgH="438095" progId="Paint.Picture">
                  <p:embed/>
                </p:oleObj>
              </mc:Choice>
              <mc:Fallback>
                <p:oleObj name="BMP 图象" r:id="rId2" imgW="809738" imgH="43809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803275"/>
                        <a:ext cx="533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58723"/>
              </p:ext>
            </p:extLst>
          </p:nvPr>
        </p:nvGraphicFramePr>
        <p:xfrm>
          <a:off x="425450" y="776288"/>
          <a:ext cx="54610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77438" imgH="1089278" progId="Word.Document.8">
                  <p:embed/>
                </p:oleObj>
              </mc:Choice>
              <mc:Fallback>
                <p:oleObj name="Document" r:id="rId4" imgW="5477438" imgH="1089278" progId="Word.Document.8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776288"/>
                        <a:ext cx="5461000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942136"/>
              </p:ext>
            </p:extLst>
          </p:nvPr>
        </p:nvGraphicFramePr>
        <p:xfrm>
          <a:off x="447675" y="1860233"/>
          <a:ext cx="7192963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294850" imgH="3559314" progId="Word.Document.8">
                  <p:embed/>
                </p:oleObj>
              </mc:Choice>
              <mc:Fallback>
                <p:oleObj name="Document" r:id="rId6" imgW="7294850" imgH="3559314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1860233"/>
                        <a:ext cx="7192963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458" name="Rectangle 3"/>
              <p:cNvSpPr>
                <a:spLocks noChangeArrowheads="1"/>
              </p:cNvSpPr>
              <p:nvPr/>
            </p:nvSpPr>
            <p:spPr bwMode="auto">
              <a:xfrm>
                <a:off x="533400" y="603250"/>
                <a:ext cx="7747000" cy="5824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800000"/>
                    </a:solidFill>
                    <a:latin typeface="黑体" pitchFamily="2" charset="-122"/>
                    <a:ea typeface="黑体" pitchFamily="2" charset="-122"/>
                  </a:rPr>
                  <a:t>课堂练习：</a:t>
                </a:r>
                <a:endParaRPr lang="zh-CN" altLang="en-US" sz="2400" dirty="0">
                  <a:latin typeface="黑体" pitchFamily="2" charset="-122"/>
                  <a:ea typeface="黑体" pitchFamily="2" charset="-122"/>
                  <a:cs typeface="Courier New" pitchFamily="49" charset="0"/>
                </a:endParaRPr>
              </a:p>
              <a:p>
                <a:pPr indent="266700" algn="just" eaLnBrk="0" hangingPunct="0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1. 十进制转二进制</a:t>
                </a:r>
                <a:endParaRPr lang="zh-CN" altLang="en-US" sz="2400" dirty="0">
                  <a:latin typeface="黑体" pitchFamily="2" charset="-122"/>
                  <a:ea typeface="黑体" pitchFamily="2" charset="-122"/>
                </a:endParaRPr>
              </a:p>
              <a:p>
                <a:pPr indent="266700" algn="just" eaLnBrk="0" hangingPunct="0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 ① 48, 103   </a:t>
                </a:r>
                <a:endParaRPr lang="zh-CN" altLang="en-US" sz="2400" dirty="0">
                  <a:latin typeface="黑体" pitchFamily="2" charset="-122"/>
                  <a:ea typeface="黑体" pitchFamily="2" charset="-122"/>
                </a:endParaRPr>
              </a:p>
              <a:p>
                <a:pPr indent="266700" algn="just" eaLnBrk="0" hangingPunct="0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 ② 0.375, 0.2    </a:t>
                </a:r>
                <a:endParaRPr lang="zh-CN" altLang="en-US" sz="2400" dirty="0">
                  <a:latin typeface="黑体" pitchFamily="2" charset="-122"/>
                  <a:ea typeface="黑体" pitchFamily="2" charset="-122"/>
                </a:endParaRPr>
              </a:p>
              <a:p>
                <a:pPr indent="266700" algn="just" eaLnBrk="0" hangingPunct="0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 ③ 4.62  </a:t>
                </a:r>
                <a:endParaRPr lang="zh-CN" altLang="en-US" sz="2400" dirty="0">
                  <a:latin typeface="黑体" pitchFamily="2" charset="-122"/>
                  <a:ea typeface="黑体" pitchFamily="2" charset="-122"/>
                </a:endParaRPr>
              </a:p>
              <a:p>
                <a:pPr indent="266700" algn="just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 ④ 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000080"/>
                            </a:solidFill>
                            <a:latin typeface="Cambria Math"/>
                            <a:ea typeface="黑体" pitchFamily="2" charset="-122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000080"/>
                            </a:solidFill>
                            <a:latin typeface="Cambria Math"/>
                            <a:ea typeface="黑体" pitchFamily="2" charset="-122"/>
                          </a:rPr>
                          <m:t>𝟖</m:t>
                        </m:r>
                      </m:den>
                    </m:f>
                  </m:oMath>
                </a14:m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</a:t>
                </a:r>
                <a:endParaRPr lang="zh-CN" altLang="en-US" sz="2400" baseline="-25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indent="266700" algn="just" eaLnBrk="0" hangingPunct="0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2. 二进制转十进制和十六进制</a:t>
                </a:r>
                <a:endParaRPr lang="zh-CN" altLang="en-US" sz="2400" dirty="0">
                  <a:latin typeface="黑体" pitchFamily="2" charset="-122"/>
                  <a:ea typeface="黑体" pitchFamily="2" charset="-122"/>
                </a:endParaRPr>
              </a:p>
              <a:p>
                <a:pPr indent="266700" algn="just" eaLnBrk="0" hangingPunct="0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 ① 1011, 100100  </a:t>
                </a:r>
                <a:endParaRPr lang="zh-CN" altLang="en-US" sz="2400" dirty="0">
                  <a:latin typeface="黑体" pitchFamily="2" charset="-122"/>
                  <a:ea typeface="黑体" pitchFamily="2" charset="-122"/>
                </a:endParaRPr>
              </a:p>
              <a:p>
                <a:pPr indent="266700" algn="just" eaLnBrk="0" hangingPunct="0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 ② 0.1101, 0.100101  </a:t>
                </a:r>
                <a:endParaRPr lang="zh-CN" altLang="en-US" sz="2400" dirty="0">
                  <a:latin typeface="黑体" pitchFamily="2" charset="-122"/>
                  <a:ea typeface="黑体" pitchFamily="2" charset="-122"/>
                </a:endParaRPr>
              </a:p>
              <a:p>
                <a:pPr indent="266700" algn="l" eaLnBrk="0" hangingPunct="0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 ③ 11101.1101</a:t>
                </a:r>
                <a:r>
                  <a:rPr lang="zh-CN" altLang="en-US" sz="2400" dirty="0">
                    <a:latin typeface="黑体" pitchFamily="2" charset="-122"/>
                    <a:ea typeface="黑体" pitchFamily="2" charset="-122"/>
                  </a:rPr>
                  <a:t> </a:t>
                </a:r>
                <a:endParaRPr lang="zh-CN" altLang="en-US" sz="2400" b="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19458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603250"/>
                <a:ext cx="7747000" cy="582428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663575" y="938213"/>
            <a:ext cx="7897813" cy="435292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本章重点：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1．进制之间的相互转换是最基本的，应当熟练掌握；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2．定点数的原码、补码、变形补码和反码表示</a:t>
            </a: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，补码特别注意：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① 最小的补码很特殊，没有对应的原码和反码，可单独记；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② “变补”和“求补码” 概念的不同；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③ 补码乘以2(算术左移)和乘以1/2(算术右移)的结果；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3．浮点数的规格化概念，真值</a:t>
            </a: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</a:t>
            </a: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浮点数表示形式；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4．奇偶校验码的校验原理及校验位形成方法；</a:t>
            </a:r>
            <a:endParaRPr kumimoji="0" lang="zh-CN" altLang="en-US" sz="2000">
              <a:solidFill>
                <a:srgbClr val="08080C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5．学会看原文资料，并熟悉其专业名词和术语。</a:t>
            </a:r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6757" name="Group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13648128"/>
              </p:ext>
            </p:extLst>
          </p:nvPr>
        </p:nvGraphicFramePr>
        <p:xfrm>
          <a:off x="2857500" y="5281613"/>
          <a:ext cx="5351463" cy="365482"/>
        </p:xfrm>
        <a:graphic>
          <a:graphicData uri="http://schemas.openxmlformats.org/drawingml/2006/table">
            <a:tbl>
              <a:tblPr/>
              <a:tblGrid>
                <a:gridCol w="59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楷体_GB2312" pitchFamily="49" charset="-122"/>
                        </a:rPr>
                        <a:t>……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28" name="Rectangle 2"/>
          <p:cNvSpPr>
            <a:spLocks noChangeArrowheads="1"/>
          </p:cNvSpPr>
          <p:nvPr/>
        </p:nvSpPr>
        <p:spPr bwMode="auto">
          <a:xfrm>
            <a:off x="668338" y="681038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第2章  数据的机器层表示</a:t>
            </a:r>
            <a:r>
              <a:rPr lang="zh-CN" altLang="en-US" sz="3200">
                <a:solidFill>
                  <a:srgbClr val="990099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sp>
        <p:nvSpPr>
          <p:cNvPr id="21529" name="Rectangle 3"/>
          <p:cNvSpPr>
            <a:spLocks noChangeArrowheads="1"/>
          </p:cNvSpPr>
          <p:nvPr/>
        </p:nvSpPr>
        <p:spPr bwMode="auto">
          <a:xfrm>
            <a:off x="830263" y="4665663"/>
            <a:ext cx="7929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机器数：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数据在计算机中使用的二进制编码的表示形式。</a:t>
            </a:r>
            <a:endParaRPr lang="en-US" altLang="zh-CN" sz="24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530" name="Rectangle 4"/>
          <p:cNvSpPr>
            <a:spLocks noChangeArrowheads="1"/>
          </p:cNvSpPr>
          <p:nvPr/>
        </p:nvSpPr>
        <p:spPr bwMode="auto">
          <a:xfrm>
            <a:off x="384175" y="1408113"/>
            <a:ext cx="80518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419100"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常见的数值型数据</a:t>
            </a:r>
            <a:r>
              <a:rPr lang="en-US" altLang="zh-CN" sz="24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 indent="419100"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a)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房号、学号等非负整数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1213,  3000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419100"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b)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变化范围不大的整数  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+125,  -67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419100"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c)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变化范围不大的小数   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+0.15, -0.3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419100"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d)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变化范围很大的数 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-0.3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 +0.2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-18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419100" algn="just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--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如何把它们表示成机器数？</a:t>
            </a:r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768350" y="846138"/>
            <a:ext cx="7832725" cy="356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机器数应按什么编码规则来表示呢？</a:t>
            </a:r>
          </a:p>
          <a:p>
            <a:pPr algn="l">
              <a:lnSpc>
                <a:spcPct val="100000"/>
              </a:lnSpc>
            </a:pPr>
            <a:r>
              <a:rPr lang="zh-CN" altLang="en-US" sz="24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-- 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用原码？补码？还是某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XX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码呢？</a:t>
            </a:r>
          </a:p>
          <a:p>
            <a:pPr algn="l">
              <a:lnSpc>
                <a:spcPct val="40000"/>
              </a:lnSpc>
            </a:pP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原则上，机器数的表示方式不外乎是为了：</a:t>
            </a: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 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）便于表示（规则越简洁明了越好）</a:t>
            </a: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 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）便于存储和传输（二进制位数合理）</a:t>
            </a: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 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）便于处理（处理的算法要尽量简单，</a:t>
            </a: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                使得处理电路简单）</a:t>
            </a:r>
          </a:p>
        </p:txBody>
      </p:sp>
      <p:sp>
        <p:nvSpPr>
          <p:cNvPr id="587779" name="Rectangle 3"/>
          <p:cNvSpPr>
            <a:spLocks noChangeArrowheads="1"/>
          </p:cNvSpPr>
          <p:nvPr/>
        </p:nvSpPr>
        <p:spPr bwMode="auto">
          <a:xfrm>
            <a:off x="774700" y="4941888"/>
            <a:ext cx="516096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计算机中最常用的是补码！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7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850702"/>
              </p:ext>
            </p:extLst>
          </p:nvPr>
        </p:nvGraphicFramePr>
        <p:xfrm>
          <a:off x="852488" y="2830513"/>
          <a:ext cx="56261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29656" imgH="1632204" progId="Word.Document.8">
                  <p:embed/>
                </p:oleObj>
              </mc:Choice>
              <mc:Fallback>
                <p:oleObj name="Document" r:id="rId2" imgW="5629656" imgH="1632204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2830513"/>
                        <a:ext cx="56261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5" name="Group 17"/>
          <p:cNvGrpSpPr>
            <a:grpSpLocks/>
          </p:cNvGrpSpPr>
          <p:nvPr/>
        </p:nvGrpSpPr>
        <p:grpSpPr bwMode="auto">
          <a:xfrm>
            <a:off x="1881188" y="2420940"/>
            <a:ext cx="4383087" cy="1046163"/>
            <a:chOff x="1647" y="1590"/>
            <a:chExt cx="2761" cy="659"/>
          </a:xfrm>
        </p:grpSpPr>
        <p:sp>
          <p:nvSpPr>
            <p:cNvPr id="23561" name="Text Box 9"/>
            <p:cNvSpPr txBox="1">
              <a:spLocks noChangeArrowheads="1"/>
            </p:cNvSpPr>
            <p:nvPr/>
          </p:nvSpPr>
          <p:spPr bwMode="auto">
            <a:xfrm>
              <a:off x="2886" y="1912"/>
              <a:ext cx="236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4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·</a:t>
              </a:r>
            </a:p>
          </p:txBody>
        </p:sp>
        <p:sp>
          <p:nvSpPr>
            <p:cNvPr id="23562" name="Text Box 10"/>
            <p:cNvSpPr txBox="1">
              <a:spLocks noChangeArrowheads="1"/>
            </p:cNvSpPr>
            <p:nvPr/>
          </p:nvSpPr>
          <p:spPr bwMode="auto">
            <a:xfrm>
              <a:off x="3289" y="1853"/>
              <a:ext cx="111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0100  整数4</a:t>
              </a:r>
            </a:p>
          </p:txBody>
        </p:sp>
        <p:sp>
          <p:nvSpPr>
            <p:cNvPr id="23563" name="Text Box 15"/>
            <p:cNvSpPr txBox="1">
              <a:spLocks noChangeArrowheads="1"/>
            </p:cNvSpPr>
            <p:nvPr/>
          </p:nvSpPr>
          <p:spPr bwMode="auto">
            <a:xfrm>
              <a:off x="1647" y="1590"/>
              <a:ext cx="1348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3    </a:t>
              </a:r>
              <a:r>
                <a:rPr lang="en-US" altLang="zh-CN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2     </a:t>
              </a:r>
              <a:r>
                <a:rPr lang="en-US" altLang="zh-CN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1     </a:t>
              </a:r>
              <a:r>
                <a:rPr lang="en-US" altLang="zh-CN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14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</p:grpSp>
      <p:grpSp>
        <p:nvGrpSpPr>
          <p:cNvPr id="23556" name="Group 18"/>
          <p:cNvGrpSpPr>
            <a:grpSpLocks/>
          </p:cNvGrpSpPr>
          <p:nvPr/>
        </p:nvGrpSpPr>
        <p:grpSpPr bwMode="auto">
          <a:xfrm>
            <a:off x="1905000" y="3506792"/>
            <a:ext cx="5130800" cy="1108076"/>
            <a:chOff x="1659" y="2282"/>
            <a:chExt cx="3232" cy="698"/>
          </a:xfrm>
        </p:grpSpPr>
        <p:sp>
          <p:nvSpPr>
            <p:cNvPr id="23558" name="Text Box 12"/>
            <p:cNvSpPr txBox="1">
              <a:spLocks noChangeArrowheads="1"/>
            </p:cNvSpPr>
            <p:nvPr/>
          </p:nvSpPr>
          <p:spPr bwMode="auto">
            <a:xfrm>
              <a:off x="3295" y="2508"/>
              <a:ext cx="159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0100  小数0.5</a:t>
              </a:r>
            </a:p>
          </p:txBody>
        </p:sp>
        <p:sp>
          <p:nvSpPr>
            <p:cNvPr id="23559" name="Text Box 13"/>
            <p:cNvSpPr txBox="1">
              <a:spLocks noChangeArrowheads="1"/>
            </p:cNvSpPr>
            <p:nvPr/>
          </p:nvSpPr>
          <p:spPr bwMode="auto">
            <a:xfrm>
              <a:off x="1659" y="2282"/>
              <a:ext cx="1348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0    </a:t>
              </a:r>
              <a:r>
                <a:rPr lang="en-US" altLang="zh-CN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1    </a:t>
              </a:r>
              <a:r>
                <a:rPr lang="en-US" altLang="zh-CN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2     </a:t>
              </a:r>
              <a:r>
                <a:rPr lang="en-US" altLang="zh-CN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1400" baseline="-250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  <p:sp>
          <p:nvSpPr>
            <p:cNvPr id="23560" name="Text Box 16"/>
            <p:cNvSpPr txBox="1">
              <a:spLocks noChangeArrowheads="1"/>
            </p:cNvSpPr>
            <p:nvPr/>
          </p:nvSpPr>
          <p:spPr bwMode="auto">
            <a:xfrm>
              <a:off x="1845" y="2643"/>
              <a:ext cx="236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4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·</a:t>
              </a:r>
            </a:p>
          </p:txBody>
        </p:sp>
      </p:grpSp>
      <p:sp>
        <p:nvSpPr>
          <p:cNvPr id="23557" name="Rectangle 19"/>
          <p:cNvSpPr>
            <a:spLocks noChangeArrowheads="1"/>
          </p:cNvSpPr>
          <p:nvPr/>
        </p:nvSpPr>
        <p:spPr bwMode="auto">
          <a:xfrm>
            <a:off x="469900" y="409575"/>
            <a:ext cx="8299450" cy="183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§2.1 数的定点表示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定点数：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操作数数据格式中小数点的位置是固定的。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计算机中的定点数只采用</a:t>
            </a:r>
            <a:r>
              <a:rPr lang="zh-CN" altLang="en-US" sz="2400" u="sng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纯整数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或者</a:t>
            </a:r>
            <a:r>
              <a:rPr lang="zh-CN" altLang="en-US" sz="2400" u="sng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纯小数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F47D0F-1F97-749F-8FAB-A7D0D9A6B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24" y="5089709"/>
            <a:ext cx="8299450" cy="669992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ChangeArrowheads="1"/>
          </p:cNvSpPr>
          <p:nvPr/>
        </p:nvSpPr>
        <p:spPr bwMode="auto">
          <a:xfrm>
            <a:off x="584200" y="604838"/>
            <a:ext cx="8051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419100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定点数包括  1)带符号数（最高位表示符号）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419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2)不带符号数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419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带符号数可用原码、补码、反码或移码等编码表示。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419100"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（下面以小数为例）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5DE8DE-7504-E1FE-D3FF-14B2E08BB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15" y="3227601"/>
            <a:ext cx="7671194" cy="2108308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2"/>
          <p:cNvSpPr>
            <a:spLocks noChangeArrowheads="1"/>
          </p:cNvSpPr>
          <p:nvPr/>
        </p:nvSpPr>
        <p:spPr bwMode="auto">
          <a:xfrm>
            <a:off x="0" y="328613"/>
            <a:ext cx="8102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571500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2.1.1 原码表示法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5715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编码规则：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最高位为符号位（0─正；1─负），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571500"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数值部分与真值的绝对值相同。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603" name="Rectangle 13"/>
          <p:cNvSpPr>
            <a:spLocks noChangeArrowheads="1"/>
          </p:cNvSpPr>
          <p:nvPr/>
        </p:nvSpPr>
        <p:spPr bwMode="auto">
          <a:xfrm>
            <a:off x="1244600" y="2114550"/>
            <a:ext cx="61468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例： 真值(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X)    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原码([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0.0010       0.0010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-0.1010       1.1010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0.0000       0.0000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-0.0000       1.0000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604" name="Rectangle 17"/>
          <p:cNvSpPr>
            <a:spLocks noChangeArrowheads="1"/>
          </p:cNvSpPr>
          <p:nvPr/>
        </p:nvSpPr>
        <p:spPr bwMode="auto">
          <a:xfrm>
            <a:off x="1219200" y="4015234"/>
            <a:ext cx="617220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对于纯小数，原码定义为：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5605" name="Group 14"/>
          <p:cNvGrpSpPr>
            <a:grpSpLocks/>
          </p:cNvGrpSpPr>
          <p:nvPr/>
        </p:nvGrpSpPr>
        <p:grpSpPr bwMode="auto">
          <a:xfrm>
            <a:off x="2968536" y="4681452"/>
            <a:ext cx="3425825" cy="935037"/>
            <a:chOff x="4456" y="2574"/>
            <a:chExt cx="5396" cy="1473"/>
          </a:xfrm>
        </p:grpSpPr>
        <p:sp>
          <p:nvSpPr>
            <p:cNvPr id="25607" name="Text Box 16"/>
            <p:cNvSpPr txBox="1">
              <a:spLocks noChangeArrowheads="1"/>
            </p:cNvSpPr>
            <p:nvPr/>
          </p:nvSpPr>
          <p:spPr bwMode="auto">
            <a:xfrm>
              <a:off x="4762" y="2574"/>
              <a:ext cx="5090" cy="1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              0≤X&lt;1</a:t>
              </a:r>
              <a:endParaRPr lang="en-US" altLang="zh-CN" sz="1200" dirty="0">
                <a:latin typeface="黑体" pitchFamily="2" charset="-122"/>
                <a:ea typeface="黑体" pitchFamily="2" charset="-122"/>
              </a:endParaRPr>
            </a:p>
            <a:p>
              <a:pPr algn="l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1-X = 1+|X|   -1&lt;X≤0</a:t>
              </a:r>
              <a:endParaRPr lang="en-US" altLang="zh-CN" sz="1200" dirty="0">
                <a:latin typeface="黑体" pitchFamily="2" charset="-122"/>
                <a:ea typeface="黑体" pitchFamily="2" charset="-122"/>
              </a:endParaRPr>
            </a:p>
            <a:p>
              <a:pPr algn="l"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8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5608" name="AutoShape 15"/>
            <p:cNvSpPr>
              <a:spLocks/>
            </p:cNvSpPr>
            <p:nvPr/>
          </p:nvSpPr>
          <p:spPr bwMode="auto">
            <a:xfrm>
              <a:off x="4456" y="2841"/>
              <a:ext cx="264" cy="624"/>
            </a:xfrm>
            <a:prstGeom prst="leftBrace">
              <a:avLst>
                <a:gd name="adj1" fmla="val 19697"/>
                <a:gd name="adj2" fmla="val 50000"/>
              </a:avLst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25606" name="Rectangle 19"/>
          <p:cNvSpPr>
            <a:spLocks noChangeArrowheads="1"/>
          </p:cNvSpPr>
          <p:nvPr/>
        </p:nvSpPr>
        <p:spPr bwMode="auto">
          <a:xfrm>
            <a:off x="0" y="2751138"/>
            <a:ext cx="91440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80"/>
                </a:solidFill>
                <a:latin typeface="Times New Roman" pitchFamily="18" charset="0"/>
                <a:ea typeface="楷体_GB2312" pitchFamily="49" charset="-122"/>
              </a:rPr>
              <a:t> </a:t>
            </a:r>
            <a:endParaRPr lang="zh-CN" altLang="en-US" sz="1000">
              <a:latin typeface="楷体_GB2312" pitchFamily="49" charset="-122"/>
              <a:ea typeface="楷体_GB2312" pitchFamily="49" charset="-122"/>
            </a:endParaRPr>
          </a:p>
          <a:p>
            <a:pPr algn="l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E22F05-2284-285A-1B1C-ABA8BB992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16" y="5441916"/>
            <a:ext cx="5048446" cy="1108706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950063"/>
              </p:ext>
            </p:extLst>
          </p:nvPr>
        </p:nvGraphicFramePr>
        <p:xfrm>
          <a:off x="1065213" y="1262063"/>
          <a:ext cx="7129462" cy="369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830416" imgH="3540242" progId="Word.Document.8">
                  <p:embed/>
                </p:oleObj>
              </mc:Choice>
              <mc:Fallback>
                <p:oleObj name="Document" r:id="rId2" imgW="6830416" imgH="3540242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1262063"/>
                        <a:ext cx="7129462" cy="369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3300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876300" y="600075"/>
            <a:ext cx="636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原码表示数的范围（以</a:t>
            </a:r>
            <a:r>
              <a:rPr lang="en-US" altLang="zh-CN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n=5</a:t>
            </a: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为例）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628" name="Rectangle 64"/>
          <p:cNvSpPr>
            <a:spLocks noChangeArrowheads="1"/>
          </p:cNvSpPr>
          <p:nvPr/>
        </p:nvSpPr>
        <p:spPr bwMode="auto">
          <a:xfrm>
            <a:off x="622300" y="4191000"/>
            <a:ext cx="79375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∴ 正数有 2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n-1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个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负数有 2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n-1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个</a:t>
            </a: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零       2  个    ( 00...0  和 100...0 ）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0B39E6-F8BF-60F6-0C75-23503B685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69" y="5945188"/>
            <a:ext cx="8439584" cy="514376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 descr="j028603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308475"/>
            <a:ext cx="1296988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241300" y="515938"/>
            <a:ext cx="8635572" cy="277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571500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原码的特点: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marL="342900" indent="-342900" algn="just" eaLnBrk="0" hangingPunct="0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简单、易懂（实质是数的符号和绝对值）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marL="342900" indent="-342900" algn="just" eaLnBrk="0" hangingPunct="0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运算复杂，符号位不参与运算，不便于加减运算。（需要对符号位进行判断）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342900" indent="-342900" algn="l" eaLnBrk="0" hangingPunct="0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的表示不唯一，运算过程不能完全自动化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508000" y="374651"/>
            <a:ext cx="814284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反码表示法</a:t>
            </a:r>
            <a:r>
              <a:rPr lang="zh-CN" altLang="en-US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C4D4F4-D587-5CCD-CEA0-BBCDB1B5C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40" y="1096501"/>
            <a:ext cx="7959600" cy="45211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C26CFC-DEAF-1F13-D2DE-5C50F17A2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58" y="5779740"/>
            <a:ext cx="8435083" cy="61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9942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546100" y="419100"/>
            <a:ext cx="5156200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2.1.2 补码表示法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取模的概念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482600" y="1516063"/>
            <a:ext cx="8355013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571500"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(1)模</a:t>
            </a:r>
          </a:p>
          <a:p>
            <a:pPr indent="571500"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可理解为一个计量器的容量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也可理解为一个计数系统的计数范围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当数值到达该计数系统的模时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计数会重新回到0。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571500"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模一般用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MOD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表示。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46100" y="3611115"/>
            <a:ext cx="7848600" cy="1944688"/>
            <a:chOff x="226" y="2317"/>
            <a:chExt cx="4944" cy="1225"/>
          </a:xfrm>
        </p:grpSpPr>
        <p:sp>
          <p:nvSpPr>
            <p:cNvPr id="31749" name="Rectangle 5"/>
            <p:cNvSpPr>
              <a:spLocks noChangeArrowheads="1"/>
            </p:cNvSpPr>
            <p:nvPr/>
          </p:nvSpPr>
          <p:spPr bwMode="auto">
            <a:xfrm>
              <a:off x="226" y="2317"/>
              <a:ext cx="4944" cy="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数学中的取模操作是求</a:t>
              </a:r>
              <a:r>
                <a:rPr lang="zh-CN" altLang="en-US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余数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的操作，结果是一个大于或等于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，且小于模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M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的数。</a:t>
              </a:r>
              <a:endParaRPr lang="zh-CN" altLang="en-US" sz="2400" dirty="0">
                <a:latin typeface="黑体" pitchFamily="2" charset="-122"/>
                <a:ea typeface="黑体" pitchFamily="2" charset="-122"/>
              </a:endParaRPr>
            </a:p>
            <a:p>
              <a:pPr algn="l" eaLnBrk="0" hangingPunct="0">
                <a:lnSpc>
                  <a:spcPct val="13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例如：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16 MOD 12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 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</a:p>
            <a:p>
              <a:pPr algn="l" eaLnBrk="0" hangingPunct="0">
                <a:lnSpc>
                  <a:spcPct val="13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或写成：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16 = 4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（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MOD12 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）</a:t>
              </a:r>
              <a:endParaRPr lang="en-US" altLang="zh-CN" sz="24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pic>
          <p:nvPicPr>
            <p:cNvPr id="31751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" y="2441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546100" y="419100"/>
            <a:ext cx="51562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2.1.2 补码表示法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1750" name="Group 6"/>
          <p:cNvGrpSpPr>
            <a:grpSpLocks/>
          </p:cNvGrpSpPr>
          <p:nvPr/>
        </p:nvGrpSpPr>
        <p:grpSpPr bwMode="auto">
          <a:xfrm>
            <a:off x="1341448" y="2442031"/>
            <a:ext cx="2863647" cy="849313"/>
            <a:chOff x="1107" y="1444"/>
            <a:chExt cx="1790" cy="535"/>
          </a:xfrm>
        </p:grpSpPr>
        <p:sp>
          <p:nvSpPr>
            <p:cNvPr id="31752" name="Rectangle 7"/>
            <p:cNvSpPr>
              <a:spLocks noChangeArrowheads="1"/>
            </p:cNvSpPr>
            <p:nvPr/>
          </p:nvSpPr>
          <p:spPr bwMode="auto">
            <a:xfrm>
              <a:off x="1399" y="1661"/>
              <a:ext cx="2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zh-CN" altLang="en-US" sz="2200">
                <a:latin typeface="黑体" pitchFamily="2" charset="-122"/>
                <a:ea typeface="黑体" pitchFamily="2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sz="22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3" name="Rectangle 8"/>
            <p:cNvSpPr>
              <a:spLocks noChangeArrowheads="1"/>
            </p:cNvSpPr>
            <p:nvPr/>
          </p:nvSpPr>
          <p:spPr bwMode="auto">
            <a:xfrm>
              <a:off x="1367" y="1661"/>
              <a:ext cx="307" cy="223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4" name="Rectangle 9"/>
            <p:cNvSpPr>
              <a:spLocks noChangeArrowheads="1"/>
            </p:cNvSpPr>
            <p:nvPr/>
          </p:nvSpPr>
          <p:spPr bwMode="auto">
            <a:xfrm>
              <a:off x="1706" y="1661"/>
              <a:ext cx="242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lang="zh-CN" altLang="en-US" sz="2200">
                <a:latin typeface="黑体" pitchFamily="2" charset="-122"/>
                <a:ea typeface="黑体" pitchFamily="2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sz="22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5" name="Rectangle 10"/>
            <p:cNvSpPr>
              <a:spLocks noChangeArrowheads="1"/>
            </p:cNvSpPr>
            <p:nvPr/>
          </p:nvSpPr>
          <p:spPr bwMode="auto">
            <a:xfrm>
              <a:off x="1674" y="1661"/>
              <a:ext cx="306" cy="223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6" name="Rectangle 11"/>
            <p:cNvSpPr>
              <a:spLocks noChangeArrowheads="1"/>
            </p:cNvSpPr>
            <p:nvPr/>
          </p:nvSpPr>
          <p:spPr bwMode="auto">
            <a:xfrm>
              <a:off x="2012" y="1661"/>
              <a:ext cx="2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zh-CN" altLang="en-US" sz="2200">
                <a:latin typeface="黑体" pitchFamily="2" charset="-122"/>
                <a:ea typeface="黑体" pitchFamily="2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sz="22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7" name="Rectangle 12"/>
            <p:cNvSpPr>
              <a:spLocks noChangeArrowheads="1"/>
            </p:cNvSpPr>
            <p:nvPr/>
          </p:nvSpPr>
          <p:spPr bwMode="auto">
            <a:xfrm>
              <a:off x="1980" y="1661"/>
              <a:ext cx="307" cy="223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8" name="Rectangle 13"/>
            <p:cNvSpPr>
              <a:spLocks noChangeArrowheads="1"/>
            </p:cNvSpPr>
            <p:nvPr/>
          </p:nvSpPr>
          <p:spPr bwMode="auto">
            <a:xfrm>
              <a:off x="2319" y="1661"/>
              <a:ext cx="242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zh-CN" altLang="en-US" sz="2200">
                <a:latin typeface="黑体" pitchFamily="2" charset="-122"/>
                <a:ea typeface="黑体" pitchFamily="2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sz="22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9" name="Rectangle 14"/>
            <p:cNvSpPr>
              <a:spLocks noChangeArrowheads="1"/>
            </p:cNvSpPr>
            <p:nvPr/>
          </p:nvSpPr>
          <p:spPr bwMode="auto">
            <a:xfrm>
              <a:off x="2287" y="1661"/>
              <a:ext cx="306" cy="223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60" name="Text Box 15"/>
            <p:cNvSpPr txBox="1">
              <a:spLocks noChangeArrowheads="1"/>
            </p:cNvSpPr>
            <p:nvPr/>
          </p:nvSpPr>
          <p:spPr bwMode="auto">
            <a:xfrm>
              <a:off x="1107" y="1444"/>
              <a:ext cx="1354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2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zh-CN" altLang="en-US" sz="2200" baseline="30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 </a:t>
              </a:r>
              <a:r>
                <a:rPr kumimoji="0" lang="zh-CN" altLang="en-US" sz="2200" baseline="30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kumimoji="0" lang="zh-CN" altLang="en-US" sz="22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zh-CN" altLang="en-US" sz="2200" baseline="30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kumimoji="0" lang="zh-CN" altLang="en-US" sz="2200" baseline="-25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     </a:t>
              </a:r>
              <a:endParaRPr kumimoji="0" lang="zh-CN" altLang="en-US" sz="22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61" name="Oval 16"/>
            <p:cNvSpPr>
              <a:spLocks noChangeArrowheads="1"/>
            </p:cNvSpPr>
            <p:nvPr/>
          </p:nvSpPr>
          <p:spPr bwMode="auto">
            <a:xfrm>
              <a:off x="1667" y="1946"/>
              <a:ext cx="37" cy="33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62" name="Rectangle 17"/>
            <p:cNvSpPr>
              <a:spLocks noChangeArrowheads="1"/>
            </p:cNvSpPr>
            <p:nvPr/>
          </p:nvSpPr>
          <p:spPr bwMode="auto">
            <a:xfrm>
              <a:off x="2591" y="1661"/>
              <a:ext cx="306" cy="223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63" name="Rectangle 18"/>
            <p:cNvSpPr>
              <a:spLocks noChangeArrowheads="1"/>
            </p:cNvSpPr>
            <p:nvPr/>
          </p:nvSpPr>
          <p:spPr bwMode="auto">
            <a:xfrm>
              <a:off x="2631" y="1661"/>
              <a:ext cx="242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lang="zh-CN" altLang="en-US" sz="2200" dirty="0">
                <a:latin typeface="黑体" pitchFamily="2" charset="-122"/>
                <a:ea typeface="黑体" pitchFamily="2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sz="22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1BD96BC-30E3-C63E-7829-9FE5D0B2C1CB}"/>
              </a:ext>
            </a:extLst>
          </p:cNvPr>
          <p:cNvGrpSpPr/>
          <p:nvPr/>
        </p:nvGrpSpPr>
        <p:grpSpPr>
          <a:xfrm>
            <a:off x="328773" y="978869"/>
            <a:ext cx="7909425" cy="1531938"/>
            <a:chOff x="328773" y="978869"/>
            <a:chExt cx="7909425" cy="1531938"/>
          </a:xfrm>
        </p:grpSpPr>
        <p:sp>
          <p:nvSpPr>
            <p:cNvPr id="31749" name="Rectangle 5"/>
            <p:cNvSpPr>
              <a:spLocks noChangeArrowheads="1"/>
            </p:cNvSpPr>
            <p:nvPr/>
          </p:nvSpPr>
          <p:spPr bwMode="auto">
            <a:xfrm>
              <a:off x="328773" y="978869"/>
              <a:ext cx="7909425" cy="153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对于二进制数，进行2</a:t>
              </a:r>
              <a:r>
                <a:rPr lang="en-US" altLang="zh-CN" sz="24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取模运算，其结果就是去掉2</a:t>
              </a:r>
              <a:r>
                <a:rPr lang="en-US" altLang="zh-CN" sz="24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位权及其左边的位后所剩下的值。</a:t>
              </a:r>
              <a:endParaRPr lang="zh-CN" altLang="en-US" sz="2400" dirty="0">
                <a:latin typeface="黑体" pitchFamily="2" charset="-122"/>
                <a:ea typeface="黑体" pitchFamily="2" charset="-122"/>
              </a:endParaRPr>
            </a:p>
            <a:p>
              <a:pPr algn="l" eaLnBrk="0" hangingPunct="0">
                <a:lnSpc>
                  <a:spcPct val="13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例如：(110.1001)</a:t>
              </a:r>
              <a:r>
                <a:rPr lang="zh-CN" altLang="en-US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= (0.1001)</a:t>
              </a:r>
              <a:r>
                <a:rPr lang="zh-CN" altLang="en-US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2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(</a:t>
              </a:r>
              <a:r>
                <a:rPr lang="en-US" altLang="zh-CN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MOD 2</a:t>
              </a:r>
              <a:r>
                <a:rPr lang="en-US" altLang="zh-CN" sz="2400" baseline="30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 </a:t>
              </a:r>
              <a:endParaRPr lang="en-US" altLang="zh-CN" sz="24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pic>
          <p:nvPicPr>
            <p:cNvPr id="31751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364" y="1175719"/>
              <a:ext cx="537534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EFB3F04-AB5D-C510-5AE6-5F914630C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311" y="3389768"/>
            <a:ext cx="5604028" cy="1515116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EE01C972-4379-D70B-0DF9-8A37B6168F7F}"/>
              </a:ext>
            </a:extLst>
          </p:cNvPr>
          <p:cNvGrpSpPr/>
          <p:nvPr/>
        </p:nvGrpSpPr>
        <p:grpSpPr>
          <a:xfrm>
            <a:off x="457046" y="4949965"/>
            <a:ext cx="7909425" cy="1464632"/>
            <a:chOff x="481173" y="4819697"/>
            <a:chExt cx="7909425" cy="1464632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158673AA-8B51-399E-67D1-D24E29304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73" y="4819697"/>
              <a:ext cx="7909425" cy="1464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计算机中硬件（如运算器、寄存器）能表示的数据位数是有限的，所以其运算都是</a:t>
              </a:r>
              <a:r>
                <a:rPr lang="zh-CN" altLang="en-US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有模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运算，当运算结果超过最大表示范围（模）时，就会溢出，并自动舍弃溢出量。</a:t>
              </a:r>
              <a:endParaRPr lang="en-US" altLang="zh-CN" sz="24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pic>
          <p:nvPicPr>
            <p:cNvPr id="8" name="Picture 20">
              <a:extLst>
                <a:ext uri="{FF2B5EF4-FFF2-40B4-BE49-F238E27FC236}">
                  <a16:creationId xmlns:a16="http://schemas.microsoft.com/office/drawing/2014/main" id="{A3F2E5AC-0C44-D434-108B-5DF9CE08AF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764" y="5016547"/>
              <a:ext cx="537534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0368371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>
            <a:extLst>
              <a:ext uri="{FF2B5EF4-FFF2-40B4-BE49-F238E27FC236}">
                <a16:creationId xmlns:a16="http://schemas.microsoft.com/office/drawing/2014/main" id="{FE16FA53-623F-5B3A-83D9-215B13AD5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E289568-57C6-4223-AD4A-10271835D16C}" type="slidenum">
              <a:rPr kumimoji="0" lang="zh-CN" altLang="en-US" sz="1400" b="0" smtClean="0">
                <a:solidFill>
                  <a:schemeClr val="folHlink"/>
                </a:solidFill>
              </a:rPr>
              <a:pPr/>
              <a:t>28</a:t>
            </a:fld>
            <a:endParaRPr kumimoji="0" lang="en-US" altLang="zh-CN" sz="1400" b="0">
              <a:solidFill>
                <a:schemeClr val="folHlink"/>
              </a:solidFill>
            </a:endParaRPr>
          </a:p>
        </p:txBody>
      </p:sp>
      <p:sp>
        <p:nvSpPr>
          <p:cNvPr id="39939" name="Rectangle 13">
            <a:extLst>
              <a:ext uri="{FF2B5EF4-FFF2-40B4-BE49-F238E27FC236}">
                <a16:creationId xmlns:a16="http://schemas.microsoft.com/office/drawing/2014/main" id="{352D11D5-9A1F-661C-7756-1397A632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71" y="818644"/>
            <a:ext cx="7810500" cy="221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571500" algn="just" eaLnBrk="1" hangingPunct="1">
              <a:lnSpc>
                <a:spcPct val="130000"/>
              </a:lnSpc>
              <a:spcBef>
                <a:spcPct val="0"/>
              </a:spcBef>
              <a:buClrTx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(2)补数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    假定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M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为模，若数</a:t>
            </a:r>
            <a:r>
              <a:rPr lang="en-US" altLang="zh-CN" sz="2200" dirty="0" err="1">
                <a:solidFill>
                  <a:srgbClr val="000080"/>
                </a:solidFill>
                <a:latin typeface="宋体" panose="02010600030101010101" pitchFamily="2" charset="-122"/>
              </a:rPr>
              <a:t>a、b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满足</a:t>
            </a:r>
            <a:r>
              <a:rPr lang="en-US" altLang="zh-CN" sz="2200" dirty="0" err="1">
                <a:solidFill>
                  <a:srgbClr val="000080"/>
                </a:solidFill>
                <a:latin typeface="宋体" panose="02010600030101010101" pitchFamily="2" charset="-122"/>
              </a:rPr>
              <a:t>a+b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=M，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则称</a:t>
            </a:r>
            <a:r>
              <a:rPr lang="en-US" altLang="zh-CN" sz="2200" dirty="0" err="1">
                <a:solidFill>
                  <a:srgbClr val="000080"/>
                </a:solidFill>
                <a:latin typeface="宋体" panose="02010600030101010101" pitchFamily="2" charset="-122"/>
              </a:rPr>
              <a:t>a、b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互为补数。</a:t>
            </a:r>
            <a:endParaRPr lang="zh-CN" altLang="en-US" sz="1000" dirty="0"/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    在有模运算中，减去一个数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等于加上该数的补数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b 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        X-a = </a:t>
            </a:r>
            <a:r>
              <a:rPr lang="en-US" altLang="zh-CN" sz="2200" dirty="0" err="1">
                <a:solidFill>
                  <a:srgbClr val="000080"/>
                </a:solidFill>
                <a:latin typeface="宋体" panose="02010600030101010101" pitchFamily="2" charset="-122"/>
              </a:rPr>
              <a:t>X+b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 (MOD M)</a:t>
            </a:r>
            <a:r>
              <a:rPr lang="en-US" altLang="zh-CN" sz="1100" dirty="0"/>
              <a:t> 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8E3F8FB5-12BF-F50D-39D2-FFCB222359C4}"/>
              </a:ext>
            </a:extLst>
          </p:cNvPr>
          <p:cNvGrpSpPr>
            <a:grpSpLocks/>
          </p:cNvGrpSpPr>
          <p:nvPr/>
        </p:nvGrpSpPr>
        <p:grpSpPr bwMode="auto">
          <a:xfrm>
            <a:off x="469900" y="3038419"/>
            <a:ext cx="8318500" cy="3449637"/>
            <a:chOff x="296" y="1791"/>
            <a:chExt cx="5240" cy="2173"/>
          </a:xfrm>
        </p:grpSpPr>
        <p:grpSp>
          <p:nvGrpSpPr>
            <p:cNvPr id="39941" name="Group 19">
              <a:extLst>
                <a:ext uri="{FF2B5EF4-FFF2-40B4-BE49-F238E27FC236}">
                  <a16:creationId xmlns:a16="http://schemas.microsoft.com/office/drawing/2014/main" id="{DBED87D2-D870-F05A-5A6C-5020941F45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6" y="2885"/>
              <a:ext cx="1084" cy="1079"/>
              <a:chOff x="3856" y="2885"/>
              <a:chExt cx="1084" cy="1079"/>
            </a:xfrm>
          </p:grpSpPr>
          <p:pic>
            <p:nvPicPr>
              <p:cNvPr id="39943" name="Picture 16" descr="BS02064_">
                <a:extLst>
                  <a:ext uri="{FF2B5EF4-FFF2-40B4-BE49-F238E27FC236}">
                    <a16:creationId xmlns:a16="http://schemas.microsoft.com/office/drawing/2014/main" id="{7050B93F-4D51-0D09-0899-CEA46941C1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6" y="2885"/>
                <a:ext cx="1084" cy="10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9944" name="Group 18">
                <a:extLst>
                  <a:ext uri="{FF2B5EF4-FFF2-40B4-BE49-F238E27FC236}">
                    <a16:creationId xmlns:a16="http://schemas.microsoft.com/office/drawing/2014/main" id="{540FE83C-35E7-C44A-1569-57FC3F6B40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15" y="2923"/>
                <a:ext cx="808" cy="150"/>
                <a:chOff x="4115" y="2923"/>
                <a:chExt cx="808" cy="150"/>
              </a:xfrm>
            </p:grpSpPr>
            <p:sp>
              <p:nvSpPr>
                <p:cNvPr id="39945" name="Line 9">
                  <a:extLst>
                    <a:ext uri="{FF2B5EF4-FFF2-40B4-BE49-F238E27FC236}">
                      <a16:creationId xmlns:a16="http://schemas.microsoft.com/office/drawing/2014/main" id="{8EBFE263-F938-1AAC-7CB6-DD52B5EF7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07" y="2988"/>
                  <a:ext cx="570" cy="0"/>
                </a:xfrm>
                <a:prstGeom prst="line">
                  <a:avLst/>
                </a:prstGeom>
                <a:noFill/>
                <a:ln w="1905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46" name="Text Box 5">
                  <a:extLst>
                    <a:ext uri="{FF2B5EF4-FFF2-40B4-BE49-F238E27FC236}">
                      <a16:creationId xmlns:a16="http://schemas.microsoft.com/office/drawing/2014/main" id="{6794ED79-57A3-664B-7FFE-15789363A0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5" y="2926"/>
                  <a:ext cx="179" cy="133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hlink"/>
                  </a:solidFill>
                  <a:miter lim="800000"/>
                  <a:headEnd/>
                  <a:tailEnd/>
                </a:ln>
              </p:spPr>
              <p:txBody>
                <a:bodyPr wrap="none" lIns="36000" tIns="0" rIns="36000" bIns="0"/>
                <a:lstStyle>
                  <a:lvl1pPr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bg1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 sz="1400">
                      <a:solidFill>
                        <a:schemeClr val="hlink"/>
                      </a:solidFill>
                    </a:rPr>
                    <a:t>模</a:t>
                  </a:r>
                </a:p>
              </p:txBody>
            </p:sp>
            <p:sp>
              <p:nvSpPr>
                <p:cNvPr id="39947" name="Text Box 7">
                  <a:extLst>
                    <a:ext uri="{FF2B5EF4-FFF2-40B4-BE49-F238E27FC236}">
                      <a16:creationId xmlns:a16="http://schemas.microsoft.com/office/drawing/2014/main" id="{5785F464-7B89-DC01-F0D9-53A3CEA7CA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0" y="2923"/>
                  <a:ext cx="235" cy="143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hlink"/>
                  </a:solidFill>
                  <a:miter lim="800000"/>
                  <a:headEnd/>
                  <a:tailEnd/>
                </a:ln>
              </p:spPr>
              <p:txBody>
                <a:bodyPr wrap="none" lIns="36000" tIns="0" rIns="36000" bIns="0"/>
                <a:lstStyle>
                  <a:lvl1pPr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bg1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 sz="1400">
                      <a:solidFill>
                        <a:schemeClr val="hlink"/>
                      </a:solidFill>
                    </a:rPr>
                    <a:t>补数</a:t>
                  </a:r>
                </a:p>
              </p:txBody>
            </p:sp>
            <p:sp>
              <p:nvSpPr>
                <p:cNvPr id="39948" name="Text Box 8">
                  <a:extLst>
                    <a:ext uri="{FF2B5EF4-FFF2-40B4-BE49-F238E27FC236}">
                      <a16:creationId xmlns:a16="http://schemas.microsoft.com/office/drawing/2014/main" id="{55FAF758-A34A-F854-6B7E-02FF291E33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87" y="2931"/>
                  <a:ext cx="236" cy="142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hlink"/>
                  </a:solidFill>
                  <a:miter lim="800000"/>
                  <a:headEnd/>
                  <a:tailEnd/>
                </a:ln>
              </p:spPr>
              <p:txBody>
                <a:bodyPr wrap="none" lIns="36000" tIns="0" rIns="36000" bIns="0"/>
                <a:lstStyle>
                  <a:lvl1pPr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 b="1">
                      <a:solidFill>
                        <a:schemeClr val="tx2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bg1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 sz="1400">
                      <a:solidFill>
                        <a:schemeClr val="hlink"/>
                      </a:solidFill>
                    </a:rPr>
                    <a:t>补码</a:t>
                  </a:r>
                </a:p>
              </p:txBody>
            </p:sp>
          </p:grpSp>
        </p:grpSp>
        <p:sp>
          <p:nvSpPr>
            <p:cNvPr id="39942" name="Rectangle 14">
              <a:extLst>
                <a:ext uri="{FF2B5EF4-FFF2-40B4-BE49-F238E27FC236}">
                  <a16:creationId xmlns:a16="http://schemas.microsoft.com/office/drawing/2014/main" id="{0A908F0C-F0F8-AEA2-1B71-5B2BB1045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" y="1791"/>
              <a:ext cx="5240" cy="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200" dirty="0">
                  <a:solidFill>
                    <a:srgbClr val="000080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 sz="22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补码正是利用补数概念，把负数映射到正数域中</a:t>
              </a:r>
              <a:r>
                <a:rPr lang="zh-CN" altLang="en-US" sz="2200" dirty="0">
                  <a:solidFill>
                    <a:srgbClr val="000080"/>
                  </a:solidFill>
                  <a:latin typeface="宋体" panose="02010600030101010101" pitchFamily="2" charset="-122"/>
                </a:rPr>
                <a:t>（平移模值，小数的模为2，</a:t>
              </a:r>
              <a:r>
                <a:rPr lang="en-US" altLang="zh-CN" sz="2200" dirty="0">
                  <a:solidFill>
                    <a:srgbClr val="000080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sz="2200" dirty="0">
                  <a:solidFill>
                    <a:srgbClr val="000080"/>
                  </a:solidFill>
                  <a:latin typeface="宋体" panose="02010600030101010101" pitchFamily="2" charset="-122"/>
                </a:rPr>
                <a:t>位整数的模为2</a:t>
              </a:r>
              <a:r>
                <a:rPr lang="en-US" altLang="zh-CN" sz="2200" baseline="30000" dirty="0">
                  <a:solidFill>
                    <a:srgbClr val="000080"/>
                  </a:solidFill>
                  <a:latin typeface="宋体" panose="02010600030101010101" pitchFamily="2" charset="-122"/>
                </a:rPr>
                <a:t>n</a:t>
              </a:r>
              <a:r>
                <a:rPr lang="en-US" altLang="zh-CN" sz="2200" dirty="0">
                  <a:solidFill>
                    <a:srgbClr val="000080"/>
                  </a:solidFill>
                  <a:latin typeface="宋体" panose="02010600030101010101" pitchFamily="2" charset="-122"/>
                </a:rPr>
                <a:t>），</a:t>
              </a:r>
              <a:r>
                <a:rPr lang="zh-CN" altLang="en-US" sz="2200" dirty="0">
                  <a:solidFill>
                    <a:srgbClr val="000080"/>
                  </a:solidFill>
                  <a:latin typeface="宋体" panose="02010600030101010101" pitchFamily="2" charset="-122"/>
                </a:rPr>
                <a:t>从而将数的正负符号数码化，将减法运算转换为加法运算。</a:t>
              </a:r>
              <a:r>
                <a:rPr lang="zh-CN" altLang="en-US" sz="1100" dirty="0"/>
                <a:t> </a:t>
              </a:r>
              <a:endPara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FE41E0C-9E0C-BC43-7578-CB6F0878D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58875"/>
            <a:ext cx="51562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2.1.2 补码表示法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4"/>
          <p:cNvSpPr txBox="1">
            <a:spLocks noChangeArrowheads="1"/>
          </p:cNvSpPr>
          <p:nvPr/>
        </p:nvSpPr>
        <p:spPr bwMode="auto">
          <a:xfrm>
            <a:off x="1739900" y="2045115"/>
            <a:ext cx="1751013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sz="2000" baseline="300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1    </a:t>
            </a:r>
            <a:r>
              <a:rPr kumimoji="0" lang="zh-CN" altLang="en-US" sz="2000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sz="2000" baseline="30000" dirty="0">
                <a:latin typeface="黑体" pitchFamily="2" charset="-122"/>
                <a:ea typeface="黑体" pitchFamily="2" charset="-122"/>
              </a:rPr>
              <a:t>0</a:t>
            </a:r>
            <a:r>
              <a:rPr kumimoji="0" lang="zh-CN" altLang="en-US" sz="2000" baseline="-2500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000" baseline="-25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</a:t>
            </a:r>
            <a:endParaRPr kumimoji="0" lang="zh-CN" altLang="en-US" sz="2000" dirty="0">
              <a:solidFill>
                <a:srgbClr val="008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2771" name="Oval 6"/>
          <p:cNvSpPr>
            <a:spLocks noChangeArrowheads="1"/>
          </p:cNvSpPr>
          <p:nvPr/>
        </p:nvSpPr>
        <p:spPr bwMode="auto">
          <a:xfrm>
            <a:off x="2693988" y="2875377"/>
            <a:ext cx="58737" cy="5715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3277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77780"/>
              </p:ext>
            </p:extLst>
          </p:nvPr>
        </p:nvGraphicFramePr>
        <p:xfrm>
          <a:off x="1096963" y="2354677"/>
          <a:ext cx="5867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582412" imgH="714756" progId="Word.Document.8">
                  <p:embed/>
                </p:oleObj>
              </mc:Choice>
              <mc:Fallback>
                <p:oleObj name="Document" r:id="rId2" imgW="5582412" imgH="714756" progId="Word.Documen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2354677"/>
                        <a:ext cx="58674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Freeform 27"/>
          <p:cNvSpPr>
            <a:spLocks/>
          </p:cNvSpPr>
          <p:nvPr/>
        </p:nvSpPr>
        <p:spPr bwMode="auto">
          <a:xfrm>
            <a:off x="1803400" y="2002252"/>
            <a:ext cx="360363" cy="852488"/>
          </a:xfrm>
          <a:custGeom>
            <a:avLst/>
            <a:gdLst>
              <a:gd name="T0" fmla="*/ 2147483647 w 227"/>
              <a:gd name="T1" fmla="*/ 0 h 136"/>
              <a:gd name="T2" fmla="*/ 2147483647 w 227"/>
              <a:gd name="T3" fmla="*/ 0 h 136"/>
              <a:gd name="T4" fmla="*/ 2147483647 w 227"/>
              <a:gd name="T5" fmla="*/ 2147483647 h 136"/>
              <a:gd name="T6" fmla="*/ 0 w 227"/>
              <a:gd name="T7" fmla="*/ 2147483647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227"/>
              <a:gd name="T13" fmla="*/ 0 h 136"/>
              <a:gd name="T14" fmla="*/ 227 w 227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7" h="136">
                <a:moveTo>
                  <a:pt x="7" y="0"/>
                </a:moveTo>
                <a:lnTo>
                  <a:pt x="227" y="0"/>
                </a:lnTo>
                <a:lnTo>
                  <a:pt x="227" y="136"/>
                </a:lnTo>
                <a:lnTo>
                  <a:pt x="0" y="136"/>
                </a:lnTo>
              </a:path>
            </a:pathLst>
          </a:custGeom>
          <a:noFill/>
          <a:ln w="19050" cap="flat" cmpd="sng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2774" name="Rectangle 30"/>
          <p:cNvSpPr>
            <a:spLocks noChangeArrowheads="1"/>
          </p:cNvSpPr>
          <p:nvPr/>
        </p:nvSpPr>
        <p:spPr bwMode="auto">
          <a:xfrm>
            <a:off x="971550" y="741777"/>
            <a:ext cx="6604000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对于纯小数，补码定义为：</a:t>
            </a:r>
          </a:p>
          <a:p>
            <a:pPr algn="l" eaLnBrk="0" hangingPunct="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补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=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X+2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1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(mod 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2</a:t>
            </a:r>
            <a:r>
              <a:rPr lang="en-US" altLang="zh-CN" sz="2400" baseline="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)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56735" name="Rectangle 31"/>
          <p:cNvSpPr>
            <a:spLocks noChangeArrowheads="1"/>
          </p:cNvSpPr>
          <p:nvPr/>
        </p:nvSpPr>
        <p:spPr bwMode="auto">
          <a:xfrm>
            <a:off x="985838" y="3177002"/>
            <a:ext cx="77803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例： 真值(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x)    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补码([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000" baseline="-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zh-CN" altLang="en-US" sz="1200" dirty="0">
              <a:latin typeface="黑体" pitchFamily="2" charset="-122"/>
              <a:ea typeface="黑体" pitchFamily="2" charset="-122"/>
              <a:cs typeface="Courier New" pitchFamily="49" charset="0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   0.0010       0.0010 （ =  0.0010 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+10.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mod 2</a:t>
            </a:r>
            <a:r>
              <a:rPr lang="en-US" altLang="zh-CN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en-US" altLang="zh-CN" sz="12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  -0.1010       1.0110 （ = -0.1010 +10.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mod 2</a:t>
            </a:r>
            <a:r>
              <a:rPr lang="en-US" altLang="zh-CN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1300" dirty="0">
                <a:latin typeface="黑体" pitchFamily="2" charset="-122"/>
                <a:ea typeface="黑体" pitchFamily="2" charset="-122"/>
              </a:rPr>
              <a:t> </a:t>
            </a:r>
            <a:endParaRPr lang="en-US" altLang="zh-CN" sz="28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2777" name="Rectangle 33"/>
          <p:cNvSpPr>
            <a:spLocks noChangeArrowheads="1"/>
          </p:cNvSpPr>
          <p:nvPr/>
        </p:nvSpPr>
        <p:spPr bwMode="auto">
          <a:xfrm>
            <a:off x="987425" y="352840"/>
            <a:ext cx="81565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609600" indent="-609600" algn="l"/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补码的定义及编码规则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F1D6BF-D3FB-7A42-3D87-D73CBE319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60" y="4377152"/>
            <a:ext cx="7719892" cy="1235738"/>
          </a:xfrm>
          <a:prstGeom prst="rect">
            <a:avLst/>
          </a:prstGeom>
        </p:spPr>
      </p:pic>
      <p:sp>
        <p:nvSpPr>
          <p:cNvPr id="4" name="Rectangle 30">
            <a:extLst>
              <a:ext uri="{FF2B5EF4-FFF2-40B4-BE49-F238E27FC236}">
                <a16:creationId xmlns:a16="http://schemas.microsoft.com/office/drawing/2014/main" id="{1D9FD6C7-928F-08AA-C784-425BEC675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5699289"/>
            <a:ext cx="7719892" cy="53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最高位为符号位，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0—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正数，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1—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负数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6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35" grpId="0" autoUpdateAnimBg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ChangeArrowheads="1"/>
          </p:cNvSpPr>
          <p:nvPr/>
        </p:nvSpPr>
        <p:spPr bwMode="auto">
          <a:xfrm>
            <a:off x="546099" y="439649"/>
            <a:ext cx="8343899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2.1.2 补码表示法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已知真值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，求补码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[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X]</a:t>
            </a:r>
            <a:r>
              <a:rPr lang="zh-CN" altLang="en-US" sz="2400" baseline="-300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补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的方法</a:t>
            </a:r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93643288-8CA1-C164-B14F-E736CD55A7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919577"/>
              </p:ext>
            </p:extLst>
          </p:nvPr>
        </p:nvGraphicFramePr>
        <p:xfrm>
          <a:off x="444465" y="1097464"/>
          <a:ext cx="533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809738" imgH="438095" progId="Paint.Picture">
                  <p:embed/>
                </p:oleObj>
              </mc:Choice>
              <mc:Fallback>
                <p:oleObj name="BMP 图象" r:id="rId2" imgW="809738" imgH="438095" progId="Paint.Picture">
                  <p:embed/>
                  <p:pic>
                    <p:nvPicPr>
                      <p:cNvPr id="41993" name="Object 8">
                        <a:extLst>
                          <a:ext uri="{FF2B5EF4-FFF2-40B4-BE49-F238E27FC236}">
                            <a16:creationId xmlns:a16="http://schemas.microsoft.com/office/drawing/2014/main" id="{A1097CB6-6C74-4DB2-3B3E-8FFEDA513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465" y="1097464"/>
                        <a:ext cx="533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6D9A16D2-E1B1-A002-060C-36B7CB4449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65" y="1869935"/>
            <a:ext cx="6594190" cy="148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51316"/>
      </p:ext>
    </p:extLst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ChangeArrowheads="1"/>
          </p:cNvSpPr>
          <p:nvPr/>
        </p:nvSpPr>
        <p:spPr bwMode="auto">
          <a:xfrm>
            <a:off x="546100" y="326634"/>
            <a:ext cx="5156200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2.1.2 补码表示法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）借助原码求补码</a:t>
            </a:r>
          </a:p>
        </p:txBody>
      </p:sp>
      <p:graphicFrame>
        <p:nvGraphicFramePr>
          <p:cNvPr id="453640" name="Object 8"/>
          <p:cNvGraphicFramePr>
            <a:graphicFrameLocks noChangeAspect="1"/>
          </p:cNvGraphicFramePr>
          <p:nvPr/>
        </p:nvGraphicFramePr>
        <p:xfrm>
          <a:off x="1258888" y="4573093"/>
          <a:ext cx="71247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49399" imgH="914029" progId="Word.Document.8">
                  <p:embed/>
                </p:oleObj>
              </mc:Choice>
              <mc:Fallback>
                <p:oleObj name="Document" r:id="rId2" imgW="7149399" imgH="914029" progId="Word.Document.8">
                  <p:embed/>
                  <p:pic>
                    <p:nvPicPr>
                      <p:cNvPr id="453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573093"/>
                        <a:ext cx="7124700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9"/>
          <p:cNvSpPr>
            <a:spLocks noChangeArrowheads="1"/>
          </p:cNvSpPr>
          <p:nvPr/>
        </p:nvSpPr>
        <p:spPr bwMode="auto">
          <a:xfrm>
            <a:off x="622300" y="1312260"/>
            <a:ext cx="6883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(1) 当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X≥0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时，[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补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=[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原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=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  <a:endParaRPr lang="zh-CN" altLang="en-US" sz="24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28677" name="Rectangle 10"/>
          <p:cNvSpPr>
            <a:spLocks noChangeArrowheads="1"/>
          </p:cNvSpPr>
          <p:nvPr/>
        </p:nvSpPr>
        <p:spPr bwMode="auto">
          <a:xfrm>
            <a:off x="1193800" y="1783799"/>
            <a:ext cx="6019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571500"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例如：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X  = 0.11010 ，</a:t>
            </a:r>
            <a:endParaRPr lang="en-US" altLang="zh-CN" sz="1200" dirty="0">
              <a:latin typeface="黑体" pitchFamily="2" charset="-122"/>
              <a:ea typeface="黑体" pitchFamily="2" charset="-122"/>
            </a:endParaRPr>
          </a:p>
          <a:p>
            <a:pPr indent="571500" algn="just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[X]</a:t>
            </a:r>
            <a:r>
              <a:rPr lang="zh-CN" altLang="en-US" sz="2000" baseline="-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原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= 0.11010 ，</a:t>
            </a:r>
            <a:endParaRPr lang="zh-CN" altLang="en-US" sz="1200" dirty="0">
              <a:latin typeface="黑体" pitchFamily="2" charset="-122"/>
              <a:ea typeface="黑体" pitchFamily="2" charset="-122"/>
            </a:endParaRPr>
          </a:p>
          <a:p>
            <a:pPr indent="571500" algn="l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[</a:t>
            </a:r>
            <a:r>
              <a:rPr lang="en-US" altLang="zh-CN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000" baseline="-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= 0.11010</a:t>
            </a:r>
            <a:r>
              <a:rPr lang="zh-CN" altLang="en-US" sz="13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8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53643" name="Rectangle 11"/>
          <p:cNvSpPr>
            <a:spLocks noChangeArrowheads="1"/>
          </p:cNvSpPr>
          <p:nvPr/>
        </p:nvSpPr>
        <p:spPr bwMode="auto">
          <a:xfrm>
            <a:off x="1096963" y="2740849"/>
            <a:ext cx="8047037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054100" indent="-1054100"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(2) 当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X&lt;0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时，可借助[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转换为[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，方法有两种：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marL="1054100" indent="-1054100"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a)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[X]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除掉符号位外的各位取反，末位加“1”。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marL="1054100" indent="-1054100"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b)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自低位向高位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尾数的第一个“1”及其右部的“0”保持不变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左部的各位取反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符号不变。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8A941498-4D8A-9C46-D6D7-F031F0890789}"/>
              </a:ext>
            </a:extLst>
          </p:cNvPr>
          <p:cNvGrpSpPr>
            <a:grpSpLocks/>
          </p:cNvGrpSpPr>
          <p:nvPr/>
        </p:nvGrpSpPr>
        <p:grpSpPr bwMode="auto">
          <a:xfrm>
            <a:off x="558800" y="5483258"/>
            <a:ext cx="8343900" cy="1296988"/>
            <a:chOff x="352" y="3344"/>
            <a:chExt cx="5256" cy="817"/>
          </a:xfrm>
        </p:grpSpPr>
        <p:sp>
          <p:nvSpPr>
            <p:cNvPr id="3" name="Rectangle 16">
              <a:extLst>
                <a:ext uri="{FF2B5EF4-FFF2-40B4-BE49-F238E27FC236}">
                  <a16:creationId xmlns:a16="http://schemas.microsoft.com/office/drawing/2014/main" id="{2601AF14-FDE1-C0FF-B0F5-E0D40BE88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3344"/>
              <a:ext cx="5256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(3) 补码最小负数1.00</a:t>
              </a:r>
              <a:r>
                <a:rPr lang="zh-CN" altLang="en-US" sz="2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zh-CN" altLang="en-US" sz="22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0是个特殊的数(真值为-1.00</a:t>
              </a:r>
              <a:r>
                <a:rPr lang="zh-CN" altLang="en-US" sz="2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zh-CN" altLang="en-US" sz="22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0)</a:t>
              </a:r>
              <a:endParaRPr lang="zh-CN" altLang="en-US" sz="1000" dirty="0"/>
            </a:p>
            <a:p>
              <a:pPr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000080"/>
                  </a:solidFill>
                  <a:latin typeface="宋体" panose="02010600030101010101" pitchFamily="2" charset="-122"/>
                </a:rPr>
                <a:t>    其最高位既表示符号位同时又是数值，没有对应的原码。</a:t>
              </a:r>
              <a:r>
                <a:rPr lang="zh-CN" altLang="en-US" sz="1100" dirty="0"/>
                <a:t> </a:t>
              </a:r>
              <a:endPara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" name="Object 8">
              <a:extLst>
                <a:ext uri="{FF2B5EF4-FFF2-40B4-BE49-F238E27FC236}">
                  <a16:creationId xmlns:a16="http://schemas.microsoft.com/office/drawing/2014/main" id="{93643288-8CA1-C164-B14F-E736CD55A7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" y="3401"/>
            <a:ext cx="33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4" imgW="809738" imgH="438095" progId="Paint.Picture">
                    <p:embed/>
                  </p:oleObj>
                </mc:Choice>
                <mc:Fallback>
                  <p:oleObj name="BMP 图象" r:id="rId4" imgW="809738" imgH="438095" progId="Paint.Picture">
                    <p:embed/>
                    <p:pic>
                      <p:nvPicPr>
                        <p:cNvPr id="4" name="Object 8">
                          <a:extLst>
                            <a:ext uri="{FF2B5EF4-FFF2-40B4-BE49-F238E27FC236}">
                              <a16:creationId xmlns:a16="http://schemas.microsoft.com/office/drawing/2014/main" id="{93643288-8CA1-C164-B14F-E736CD55A7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" y="3401"/>
                          <a:ext cx="336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057994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4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3"/>
          <p:cNvGraphicFramePr>
            <a:graphicFrameLocks noChangeAspect="1"/>
          </p:cNvGraphicFramePr>
          <p:nvPr/>
        </p:nvGraphicFramePr>
        <p:xfrm>
          <a:off x="717550" y="1216025"/>
          <a:ext cx="7107238" cy="333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723848" imgH="3155558" progId="Word.Document.8">
                  <p:embed/>
                </p:oleObj>
              </mc:Choice>
              <mc:Fallback>
                <p:oleObj name="Document" r:id="rId2" imgW="6723848" imgH="3155558" progId="Word.Document.8">
                  <p:embed/>
                  <p:pic>
                    <p:nvPicPr>
                      <p:cNvPr id="307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1216025"/>
                        <a:ext cx="7107238" cy="333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3300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Rectangle 5"/>
          <p:cNvSpPr>
            <a:spLocks noChangeArrowheads="1"/>
          </p:cNvSpPr>
          <p:nvPr/>
        </p:nvSpPr>
        <p:spPr bwMode="auto">
          <a:xfrm>
            <a:off x="379413" y="600075"/>
            <a:ext cx="656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补码表示数的范围（以</a:t>
            </a:r>
            <a:r>
              <a:rPr lang="en-US" altLang="zh-CN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n=5</a:t>
            </a: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为例）: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954088" y="4359275"/>
            <a:ext cx="6530975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∴ 正数有  2</a:t>
            </a:r>
            <a:r>
              <a:rPr lang="en-US" altLang="zh-CN" sz="24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</a:t>
            </a:r>
            <a:endParaRPr lang="zh-CN" altLang="en-US" sz="2400">
              <a:latin typeface="黑体" pitchFamily="2" charset="-122"/>
              <a:ea typeface="黑体" pitchFamily="2" charset="-122"/>
              <a:cs typeface="Courier New" pitchFamily="49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负数有  2</a:t>
            </a:r>
            <a:r>
              <a:rPr lang="en-US" altLang="zh-CN" sz="24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n-1  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零      1  个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5510646"/>
      </p:ext>
    </p:extLst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ChangeArrowheads="1"/>
          </p:cNvSpPr>
          <p:nvPr/>
        </p:nvSpPr>
        <p:spPr bwMode="auto">
          <a:xfrm>
            <a:off x="400050" y="408826"/>
            <a:ext cx="8343899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2.1.2 补码表示法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已知补码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[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X]</a:t>
            </a:r>
            <a:r>
              <a:rPr lang="zh-CN" altLang="en-US" sz="2400" baseline="-300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补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，求二进制真值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的方法</a:t>
            </a:r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93643288-8CA1-C164-B14F-E736CD55A7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465" y="1097464"/>
          <a:ext cx="533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809738" imgH="438095" progId="Paint.Picture">
                  <p:embed/>
                </p:oleObj>
              </mc:Choice>
              <mc:Fallback>
                <p:oleObj name="BMP 图象" r:id="rId2" imgW="809738" imgH="438095" progId="Paint.Picture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93643288-8CA1-C164-B14F-E736CD55A7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465" y="1097464"/>
                        <a:ext cx="533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5DFDC5BF-D888-95C0-95C1-7B2FEB00A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70" y="1675319"/>
            <a:ext cx="7443162" cy="4165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C6B085-7859-C71F-E693-DA63B0BC67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325" y="2091828"/>
            <a:ext cx="5994708" cy="14097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4F35B6-2C01-DEB8-7705-258B80673C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325" y="3617784"/>
            <a:ext cx="5962956" cy="14923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9EF4B6-5500-26A9-0C4B-97EE63F7A2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72" y="5255230"/>
            <a:ext cx="6959958" cy="10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0412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4916660-46EF-57BB-C466-8A57138D9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48" y="258030"/>
            <a:ext cx="8343899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2.1.2 补码表示法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已知补码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[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X]</a:t>
            </a:r>
            <a:r>
              <a:rPr lang="zh-CN" altLang="en-US" sz="2400" baseline="-300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补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，求二进制真值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的方法</a:t>
            </a:r>
          </a:p>
        </p:txBody>
      </p: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BCB4BA72-4F8D-AFEB-FC69-CF24BBBC4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120517"/>
              </p:ext>
            </p:extLst>
          </p:nvPr>
        </p:nvGraphicFramePr>
        <p:xfrm>
          <a:off x="444465" y="1025546"/>
          <a:ext cx="533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809738" imgH="438095" progId="Paint.Picture">
                  <p:embed/>
                </p:oleObj>
              </mc:Choice>
              <mc:Fallback>
                <p:oleObj name="BMP 图象" r:id="rId2" imgW="809738" imgH="438095" progId="Paint.Picture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93643288-8CA1-C164-B14F-E736CD55A7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465" y="1025546"/>
                        <a:ext cx="533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74305B66-52D6-C52D-A366-E616A67BF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65" y="1398670"/>
            <a:ext cx="7239372" cy="36196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D5CD15-A41A-5642-3A34-88A9E47D1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08" y="1828505"/>
            <a:ext cx="6691738" cy="236280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34F219-26CE-DB70-D85E-E74D986346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08" y="4191309"/>
            <a:ext cx="7011236" cy="236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8044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826765"/>
              </p:ext>
            </p:extLst>
          </p:nvPr>
        </p:nvGraphicFramePr>
        <p:xfrm>
          <a:off x="571500" y="2389188"/>
          <a:ext cx="6115050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9065" imgH="1828058" progId="Word.Document.8">
                  <p:embed/>
                </p:oleObj>
              </mc:Choice>
              <mc:Fallback>
                <p:oleObj name="Document" r:id="rId2" imgW="5859065" imgH="1828058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389188"/>
                        <a:ext cx="6115050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158564"/>
              </p:ext>
            </p:extLst>
          </p:nvPr>
        </p:nvGraphicFramePr>
        <p:xfrm>
          <a:off x="1516063" y="4108450"/>
          <a:ext cx="72453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106916" imgH="1058330" progId="Word.Document.8">
                  <p:embed/>
                </p:oleObj>
              </mc:Choice>
              <mc:Fallback>
                <p:oleObj name="Document" r:id="rId4" imgW="7106916" imgH="105833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063" y="4108450"/>
                        <a:ext cx="72453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36563" y="5343525"/>
            <a:ext cx="8469312" cy="701675"/>
            <a:chOff x="275" y="3366"/>
            <a:chExt cx="5253" cy="435"/>
          </a:xfrm>
        </p:grpSpPr>
        <p:graphicFrame>
          <p:nvGraphicFramePr>
            <p:cNvPr id="3379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037871"/>
                </p:ext>
              </p:extLst>
            </p:nvPr>
          </p:nvGraphicFramePr>
          <p:xfrm>
            <a:off x="675" y="3366"/>
            <a:ext cx="4853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6" imgW="7856850" imgH="704594" progId="Word.Document.8">
                    <p:embed/>
                  </p:oleObj>
                </mc:Choice>
                <mc:Fallback>
                  <p:oleObj name="Document" r:id="rId6" imgW="7856850" imgH="704594" progId="Word.Documen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" y="3366"/>
                          <a:ext cx="4853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9" name="Object 6"/>
            <p:cNvGraphicFramePr>
              <a:graphicFrameLocks noChangeAspect="1"/>
            </p:cNvGraphicFramePr>
            <p:nvPr/>
          </p:nvGraphicFramePr>
          <p:xfrm>
            <a:off x="275" y="3395"/>
            <a:ext cx="33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8" imgW="809738" imgH="438095" progId="Paint.Picture">
                    <p:embed/>
                  </p:oleObj>
                </mc:Choice>
                <mc:Fallback>
                  <p:oleObj name="BMP 图象" r:id="rId8" imgW="809738" imgH="438095" progId="Paint.Picture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" y="3395"/>
                          <a:ext cx="336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797" name="Rectangle 8"/>
          <p:cNvSpPr>
            <a:spLocks noChangeArrowheads="1"/>
          </p:cNvSpPr>
          <p:nvPr/>
        </p:nvSpPr>
        <p:spPr bwMode="auto">
          <a:xfrm>
            <a:off x="584200" y="430213"/>
            <a:ext cx="8318500" cy="16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3．变形补码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采用双符号位或更多的符号位，可扩大数的表示范围，通常在运算时用，以判别运算是否溢出。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758649"/>
              </p:ext>
            </p:extLst>
          </p:nvPr>
        </p:nvGraphicFramePr>
        <p:xfrm>
          <a:off x="612775" y="579438"/>
          <a:ext cx="57308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53578" imgH="544459" progId="Word.Document.8">
                  <p:embed/>
                </p:oleObj>
              </mc:Choice>
              <mc:Fallback>
                <p:oleObj name="Document" r:id="rId2" imgW="5753578" imgH="54445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579438"/>
                        <a:ext cx="573087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195744"/>
              </p:ext>
            </p:extLst>
          </p:nvPr>
        </p:nvGraphicFramePr>
        <p:xfrm>
          <a:off x="779463" y="1258888"/>
          <a:ext cx="5143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809738" imgH="438095" progId="Paint.Picture">
                  <p:embed/>
                </p:oleObj>
              </mc:Choice>
              <mc:Fallback>
                <p:oleObj name="位图图像" r:id="rId4" imgW="809738" imgH="43809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1258888"/>
                        <a:ext cx="5143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705674"/>
              </p:ext>
            </p:extLst>
          </p:nvPr>
        </p:nvGraphicFramePr>
        <p:xfrm>
          <a:off x="822325" y="3843338"/>
          <a:ext cx="7685088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356414" imgH="2126376" progId="Word.Document.8">
                  <p:embed/>
                </p:oleObj>
              </mc:Choice>
              <mc:Fallback>
                <p:oleObj name="Document" r:id="rId6" imgW="7356414" imgH="2126376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3843338"/>
                        <a:ext cx="7685088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Rectangle 9"/>
          <p:cNvSpPr>
            <a:spLocks noChangeArrowheads="1"/>
          </p:cNvSpPr>
          <p:nvPr/>
        </p:nvSpPr>
        <p:spPr bwMode="auto">
          <a:xfrm>
            <a:off x="1282700" y="1102360"/>
            <a:ext cx="7378700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真值是没有经过编码的直观数据表示方式，一般用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表示,其值可带正负号；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774700" y="2209486"/>
            <a:ext cx="7696200" cy="1363663"/>
            <a:chOff x="488" y="1363"/>
            <a:chExt cx="4848" cy="859"/>
          </a:xfrm>
        </p:grpSpPr>
        <p:graphicFrame>
          <p:nvGraphicFramePr>
            <p:cNvPr id="35847" name="Object 5"/>
            <p:cNvGraphicFramePr>
              <a:graphicFrameLocks noChangeAspect="1"/>
            </p:cNvGraphicFramePr>
            <p:nvPr/>
          </p:nvGraphicFramePr>
          <p:xfrm>
            <a:off x="488" y="1458"/>
            <a:ext cx="324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8" imgW="809738" imgH="438095" progId="Paint.Picture">
                    <p:embed/>
                  </p:oleObj>
                </mc:Choice>
                <mc:Fallback>
                  <p:oleObj name="位图图像" r:id="rId8" imgW="809738" imgH="438095" progId="Paint.Picture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" y="1458"/>
                          <a:ext cx="324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8" name="Rectangle 10"/>
            <p:cNvSpPr>
              <a:spLocks noChangeArrowheads="1"/>
            </p:cNvSpPr>
            <p:nvPr/>
          </p:nvSpPr>
          <p:spPr bwMode="auto">
            <a:xfrm>
              <a:off x="808" y="1363"/>
              <a:ext cx="4528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编码后的数据（如原码、补码、反码等）</a:t>
              </a:r>
              <a:endParaRPr lang="zh-CN" altLang="en-US" sz="2400" dirty="0">
                <a:latin typeface="黑体" pitchFamily="2" charset="-122"/>
                <a:ea typeface="黑体" pitchFamily="2" charset="-122"/>
              </a:endParaRPr>
            </a:p>
            <a:p>
              <a:pPr algn="just" eaLnBrk="0" hangingPunct="0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已经把正负符号数字化了，</a:t>
              </a:r>
              <a:endParaRPr lang="zh-CN" altLang="en-US" sz="2400" dirty="0">
                <a:latin typeface="黑体" pitchFamily="2" charset="-122"/>
                <a:ea typeface="黑体" pitchFamily="2" charset="-122"/>
              </a:endParaRPr>
            </a:p>
            <a:p>
              <a:pPr algn="l" eaLnBrk="0" hangingPunct="0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其位数有规定，不能随便忽略任何位置上的0或1。</a:t>
              </a:r>
              <a:r>
                <a:rPr lang="zh-CN" altLang="en-US" sz="24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4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Oval 4"/>
          <p:cNvSpPr>
            <a:spLocks noChangeArrowheads="1"/>
          </p:cNvSpPr>
          <p:nvPr/>
        </p:nvSpPr>
        <p:spPr bwMode="auto">
          <a:xfrm>
            <a:off x="966797" y="1605142"/>
            <a:ext cx="287337" cy="28733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50000">
                <a:srgbClr val="FF896D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6867" name="Rectangle 8"/>
          <p:cNvSpPr>
            <a:spLocks noChangeArrowheads="1"/>
          </p:cNvSpPr>
          <p:nvPr/>
        </p:nvSpPr>
        <p:spPr bwMode="auto">
          <a:xfrm>
            <a:off x="635000" y="404813"/>
            <a:ext cx="5715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2.1.4 三种码制的比较与转换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1．比较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6868" name="Rectangle 9"/>
          <p:cNvSpPr>
            <a:spLocks noChangeArrowheads="1"/>
          </p:cNvSpPr>
          <p:nvPr/>
        </p:nvSpPr>
        <p:spPr bwMode="auto">
          <a:xfrm>
            <a:off x="1233488" y="1535203"/>
            <a:ext cx="7473950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补码的符号位可以和数值位一起参加运算，但原码的符号位和数值位须分开处理；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966797" y="2525009"/>
            <a:ext cx="7823200" cy="1363663"/>
            <a:chOff x="528" y="1857"/>
            <a:chExt cx="4928" cy="859"/>
          </a:xfrm>
        </p:grpSpPr>
        <p:sp>
          <p:nvSpPr>
            <p:cNvPr id="36870" name="Oval 7"/>
            <p:cNvSpPr>
              <a:spLocks noChangeArrowheads="1"/>
            </p:cNvSpPr>
            <p:nvPr/>
          </p:nvSpPr>
          <p:spPr bwMode="auto">
            <a:xfrm>
              <a:off x="528" y="1950"/>
              <a:ext cx="181" cy="1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FF896D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6871" name="Rectangle 10"/>
            <p:cNvSpPr>
              <a:spLocks noChangeArrowheads="1"/>
            </p:cNvSpPr>
            <p:nvPr/>
          </p:nvSpPr>
          <p:spPr bwMode="auto">
            <a:xfrm>
              <a:off x="728" y="1857"/>
              <a:ext cx="4728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原码、反码表示0及正、负数的范围是对称的，而补码0的表示形式是唯一，负数能多表示一个数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绝对值最大的负数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，其值等于-2</a:t>
              </a:r>
              <a:r>
                <a:rPr lang="en-US" altLang="zh-CN" sz="24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（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纯整数）或-1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纯小数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。</a:t>
              </a:r>
              <a:r>
                <a:rPr lang="zh-CN" altLang="en-US" sz="24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4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356EAF7-20B4-FD8C-31BD-4A5018FD7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4" y="3958611"/>
            <a:ext cx="7664844" cy="234327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ChangeArrowheads="1"/>
          </p:cNvSpPr>
          <p:nvPr/>
        </p:nvSpPr>
        <p:spPr bwMode="auto">
          <a:xfrm>
            <a:off x="635000" y="404813"/>
            <a:ext cx="5715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2.1.4 三种码制的比较与转换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1．转换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7891" name="Rectangle 7"/>
          <p:cNvSpPr>
            <a:spLocks noChangeArrowheads="1"/>
          </p:cNvSpPr>
          <p:nvPr/>
        </p:nvSpPr>
        <p:spPr bwMode="auto">
          <a:xfrm>
            <a:off x="1117600" y="1704975"/>
            <a:ext cx="654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(1) 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X&gt;0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时，[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反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 ；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endParaRPr lang="en-US" altLang="zh-CN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20688" y="2216150"/>
            <a:ext cx="8128000" cy="1754188"/>
            <a:chOff x="256" y="1396"/>
            <a:chExt cx="5120" cy="1105"/>
          </a:xfrm>
        </p:grpSpPr>
        <p:sp>
          <p:nvSpPr>
            <p:cNvPr id="37894" name="Rectangle 8"/>
            <p:cNvSpPr>
              <a:spLocks noChangeArrowheads="1"/>
            </p:cNvSpPr>
            <p:nvPr/>
          </p:nvSpPr>
          <p:spPr bwMode="auto">
            <a:xfrm>
              <a:off x="256" y="1396"/>
              <a:ext cx="5120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indent="847725" algn="just">
                <a:lnSpc>
                  <a:spcPct val="15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(2) </a:t>
              </a:r>
              <a:r>
                <a:rPr lang="en-US" altLang="zh-CN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X&lt;0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时，</a:t>
              </a:r>
              <a:endParaRPr lang="zh-CN" altLang="en-US" sz="2400">
                <a:latin typeface="黑体" pitchFamily="2" charset="-122"/>
                <a:ea typeface="黑体" pitchFamily="2" charset="-122"/>
              </a:endParaRPr>
            </a:p>
            <a:p>
              <a:pPr indent="847725" algn="just" eaLnBrk="0" hangingPunct="0">
                <a:lnSpc>
                  <a:spcPct val="15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① 原码与补码之间  </a:t>
              </a:r>
              <a:endParaRPr lang="zh-CN" altLang="en-US" sz="2400">
                <a:latin typeface="黑体" pitchFamily="2" charset="-122"/>
                <a:ea typeface="黑体" pitchFamily="2" charset="-122"/>
              </a:endParaRPr>
            </a:p>
            <a:p>
              <a:pPr indent="847725" algn="just" eaLnBrk="0" hangingPunct="0">
                <a:lnSpc>
                  <a:spcPct val="15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原码与反码之间转换类似</a:t>
              </a:r>
              <a:r>
                <a:rPr lang="en-US" altLang="zh-CN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,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只是末位不加１。</a:t>
              </a:r>
              <a:endParaRPr lang="zh-CN" altLang="en-US" sz="24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37895" name="Group 15"/>
            <p:cNvGrpSpPr>
              <a:grpSpLocks/>
            </p:cNvGrpSpPr>
            <p:nvPr/>
          </p:nvGrpSpPr>
          <p:grpSpPr bwMode="auto">
            <a:xfrm>
              <a:off x="3010" y="1567"/>
              <a:ext cx="2060" cy="546"/>
              <a:chOff x="2994" y="1495"/>
              <a:chExt cx="2060" cy="594"/>
            </a:xfrm>
          </p:grpSpPr>
          <p:sp>
            <p:nvSpPr>
              <p:cNvPr id="37896" name="Text Box 10"/>
              <p:cNvSpPr txBox="1">
                <a:spLocks noChangeArrowheads="1"/>
              </p:cNvSpPr>
              <p:nvPr/>
            </p:nvSpPr>
            <p:spPr bwMode="auto">
              <a:xfrm>
                <a:off x="3070" y="1797"/>
                <a:ext cx="417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22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[</a:t>
                </a:r>
                <a:r>
                  <a:rPr kumimoji="0" lang="en-US" altLang="zh-CN" sz="22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X]</a:t>
                </a:r>
                <a:r>
                  <a:rPr kumimoji="0" lang="zh-CN" altLang="en-US" sz="22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原</a:t>
                </a:r>
                <a:endParaRPr kumimoji="0" lang="zh-CN" altLang="en-US" sz="22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7897" name="Text Box 11"/>
              <p:cNvSpPr txBox="1">
                <a:spLocks noChangeArrowheads="1"/>
              </p:cNvSpPr>
              <p:nvPr/>
            </p:nvSpPr>
            <p:spPr bwMode="auto">
              <a:xfrm>
                <a:off x="4412" y="1787"/>
                <a:ext cx="417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22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[</a:t>
                </a:r>
                <a:r>
                  <a:rPr kumimoji="0" lang="en-US" altLang="zh-CN" sz="22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X]</a:t>
                </a:r>
                <a:r>
                  <a:rPr kumimoji="0" lang="zh-CN" altLang="en-US" sz="22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补</a:t>
                </a:r>
                <a:endParaRPr kumimoji="0" lang="zh-CN" altLang="en-US" sz="22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7898" name="Line 12"/>
              <p:cNvSpPr>
                <a:spLocks noChangeShapeType="1"/>
              </p:cNvSpPr>
              <p:nvPr/>
            </p:nvSpPr>
            <p:spPr bwMode="auto">
              <a:xfrm>
                <a:off x="3447" y="1903"/>
                <a:ext cx="961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7899" name="Text Box 13"/>
              <p:cNvSpPr txBox="1">
                <a:spLocks noChangeArrowheads="1"/>
              </p:cNvSpPr>
              <p:nvPr/>
            </p:nvSpPr>
            <p:spPr bwMode="auto">
              <a:xfrm>
                <a:off x="3502" y="1555"/>
                <a:ext cx="90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>
                  <a:lnSpc>
                    <a:spcPct val="104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16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求反末位加1</a:t>
                </a:r>
              </a:p>
              <a:p>
                <a:pPr>
                  <a:lnSpc>
                    <a:spcPct val="104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16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符号位不变</a:t>
                </a:r>
                <a:endParaRPr kumimoji="0" lang="zh-CN" altLang="en-US" sz="900" b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7900" name="Rectangle 14"/>
              <p:cNvSpPr>
                <a:spLocks noChangeArrowheads="1"/>
              </p:cNvSpPr>
              <p:nvPr/>
            </p:nvSpPr>
            <p:spPr bwMode="auto">
              <a:xfrm>
                <a:off x="2994" y="1495"/>
                <a:ext cx="2060" cy="594"/>
              </a:xfrm>
              <a:prstGeom prst="rect">
                <a:avLst/>
              </a:prstGeom>
              <a:noFill/>
              <a:ln w="19050">
                <a:solidFill>
                  <a:srgbClr val="00008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sp>
        <p:nvSpPr>
          <p:cNvPr id="464913" name="Rectangle 17"/>
          <p:cNvSpPr>
            <a:spLocks noChangeArrowheads="1"/>
          </p:cNvSpPr>
          <p:nvPr/>
        </p:nvSpPr>
        <p:spPr bwMode="auto">
          <a:xfrm>
            <a:off x="255588" y="4054475"/>
            <a:ext cx="888841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② 真值与补码之间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a)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根据定义 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X+2</a:t>
            </a:r>
            <a:r>
              <a:rPr lang="en-US" altLang="zh-CN" sz="24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(mod 2)  (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纯小数时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en-US" altLang="zh-CN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b）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真值←→原码←→补码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91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ChangeArrowheads="1"/>
          </p:cNvSpPr>
          <p:nvPr/>
        </p:nvSpPr>
        <p:spPr bwMode="auto">
          <a:xfrm>
            <a:off x="635000" y="404813"/>
            <a:ext cx="57150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2.1.4 三种码制的比较与转换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9CD190-A479-7960-785B-BEFF66F4F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29" y="1069826"/>
            <a:ext cx="8572941" cy="43690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73E9E5-70E3-741C-250D-C21CEA2E0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92" y="5494288"/>
            <a:ext cx="8052214" cy="9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5460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4"/>
          <p:cNvSpPr>
            <a:spLocks noChangeArrowheads="1"/>
          </p:cNvSpPr>
          <p:nvPr/>
        </p:nvSpPr>
        <p:spPr bwMode="auto">
          <a:xfrm>
            <a:off x="596900" y="574675"/>
            <a:ext cx="565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2.1.5 补码机器数的变补(求补)和移位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8915" name="Group 15"/>
          <p:cNvGrpSpPr>
            <a:grpSpLocks/>
          </p:cNvGrpSpPr>
          <p:nvPr/>
        </p:nvGrpSpPr>
        <p:grpSpPr bwMode="auto">
          <a:xfrm>
            <a:off x="2593975" y="2251075"/>
            <a:ext cx="3662363" cy="1025525"/>
            <a:chOff x="5982" y="3306"/>
            <a:chExt cx="5274" cy="1378"/>
          </a:xfrm>
        </p:grpSpPr>
        <p:grpSp>
          <p:nvGrpSpPr>
            <p:cNvPr id="38921" name="Group 16"/>
            <p:cNvGrpSpPr>
              <a:grpSpLocks/>
            </p:cNvGrpSpPr>
            <p:nvPr/>
          </p:nvGrpSpPr>
          <p:grpSpPr bwMode="auto">
            <a:xfrm>
              <a:off x="6052" y="3456"/>
              <a:ext cx="5188" cy="1228"/>
              <a:chOff x="5160" y="3234"/>
              <a:chExt cx="4397" cy="1228"/>
            </a:xfrm>
          </p:grpSpPr>
          <p:sp>
            <p:nvSpPr>
              <p:cNvPr id="38923" name="Text Box 17"/>
              <p:cNvSpPr txBox="1">
                <a:spLocks noChangeArrowheads="1"/>
              </p:cNvSpPr>
              <p:nvPr/>
            </p:nvSpPr>
            <p:spPr bwMode="auto">
              <a:xfrm>
                <a:off x="5160" y="3760"/>
                <a:ext cx="1042" cy="7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22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[</a:t>
                </a:r>
                <a:r>
                  <a:rPr kumimoji="0" lang="en-US" altLang="zh-CN" sz="22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X]</a:t>
                </a:r>
                <a:r>
                  <a:rPr kumimoji="0" lang="zh-CN" altLang="en-US" sz="22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补</a:t>
                </a:r>
                <a:endParaRPr kumimoji="0" lang="zh-CN" altLang="en-US" sz="22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8924" name="Text Box 18"/>
              <p:cNvSpPr txBox="1">
                <a:spLocks noChangeArrowheads="1"/>
              </p:cNvSpPr>
              <p:nvPr/>
            </p:nvSpPr>
            <p:spPr bwMode="auto">
              <a:xfrm>
                <a:off x="8515" y="3733"/>
                <a:ext cx="1042" cy="7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22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[-</a:t>
                </a:r>
                <a:r>
                  <a:rPr kumimoji="0" lang="en-US" altLang="zh-CN" sz="22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X]</a:t>
                </a:r>
                <a:r>
                  <a:rPr kumimoji="0" lang="zh-CN" altLang="en-US" sz="22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补</a:t>
                </a:r>
                <a:endParaRPr kumimoji="0" lang="zh-CN" altLang="en-US" sz="22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8925" name="Line 19"/>
              <p:cNvSpPr>
                <a:spLocks noChangeShapeType="1"/>
              </p:cNvSpPr>
              <p:nvPr/>
            </p:nvSpPr>
            <p:spPr bwMode="auto">
              <a:xfrm>
                <a:off x="6103" y="4025"/>
                <a:ext cx="2401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8926" name="Text Box 20"/>
              <p:cNvSpPr txBox="1">
                <a:spLocks noChangeArrowheads="1"/>
              </p:cNvSpPr>
              <p:nvPr/>
            </p:nvSpPr>
            <p:spPr bwMode="auto">
              <a:xfrm>
                <a:off x="6238" y="3234"/>
                <a:ext cx="2262" cy="9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6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>
                  <a:lnSpc>
                    <a:spcPct val="94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16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连同符号位求反</a:t>
                </a:r>
              </a:p>
              <a:p>
                <a:pPr>
                  <a:lnSpc>
                    <a:spcPct val="94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16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末位加1</a:t>
                </a:r>
              </a:p>
            </p:txBody>
          </p:sp>
        </p:grpSp>
        <p:sp>
          <p:nvSpPr>
            <p:cNvPr id="38922" name="Rectangle 21"/>
            <p:cNvSpPr>
              <a:spLocks noChangeArrowheads="1"/>
            </p:cNvSpPr>
            <p:nvPr/>
          </p:nvSpPr>
          <p:spPr bwMode="auto">
            <a:xfrm>
              <a:off x="5982" y="3306"/>
              <a:ext cx="5274" cy="1296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38916" name="Rectangle 22"/>
          <p:cNvSpPr>
            <a:spLocks noChangeArrowheads="1"/>
          </p:cNvSpPr>
          <p:nvPr/>
        </p:nvSpPr>
        <p:spPr bwMode="auto">
          <a:xfrm>
            <a:off x="609600" y="1016000"/>
            <a:ext cx="8204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1．变补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又称为求补、求机器负数，即，由[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求[-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65943" name="Rectangle 23"/>
          <p:cNvSpPr>
            <a:spLocks noChangeArrowheads="1"/>
          </p:cNvSpPr>
          <p:nvPr/>
        </p:nvSpPr>
        <p:spPr bwMode="auto">
          <a:xfrm>
            <a:off x="495300" y="3352800"/>
            <a:ext cx="77597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例：[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0.0010,  [-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1.1110;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1.0110,  [-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0.1010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598488" y="4660900"/>
            <a:ext cx="7504112" cy="1200150"/>
            <a:chOff x="377" y="2936"/>
            <a:chExt cx="4727" cy="756"/>
          </a:xfrm>
        </p:grpSpPr>
        <p:graphicFrame>
          <p:nvGraphicFramePr>
            <p:cNvPr id="38919" name="Object 12"/>
            <p:cNvGraphicFramePr>
              <a:graphicFrameLocks noChangeAspect="1"/>
            </p:cNvGraphicFramePr>
            <p:nvPr/>
          </p:nvGraphicFramePr>
          <p:xfrm>
            <a:off x="377" y="3099"/>
            <a:ext cx="324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" imgW="809738" imgH="438095" progId="Paint.Picture">
                    <p:embed/>
                  </p:oleObj>
                </mc:Choice>
                <mc:Fallback>
                  <p:oleObj name="位图图像" r:id="rId2" imgW="809738" imgH="438095" progId="Paint.Picture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" y="3099"/>
                          <a:ext cx="324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0" name="Rectangle 24"/>
            <p:cNvSpPr>
              <a:spLocks noChangeArrowheads="1"/>
            </p:cNvSpPr>
            <p:nvPr/>
          </p:nvSpPr>
          <p:spPr bwMode="auto">
            <a:xfrm>
              <a:off x="744" y="2936"/>
              <a:ext cx="4360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注意：</a:t>
              </a:r>
              <a:r>
                <a:rPr lang="zh-CN" altLang="en-US" sz="2400" u="sng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变补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与</a:t>
              </a:r>
              <a:r>
                <a:rPr lang="zh-CN" altLang="en-US" sz="2400" u="sng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求补码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概念不同。</a:t>
              </a:r>
              <a:endParaRPr lang="zh-CN" altLang="en-US" sz="2400">
                <a:latin typeface="黑体" pitchFamily="2" charset="-122"/>
                <a:ea typeface="黑体" pitchFamily="2" charset="-122"/>
              </a:endParaRPr>
            </a:p>
            <a:p>
              <a:pPr algn="l" eaLnBrk="0" hangingPunct="0">
                <a:lnSpc>
                  <a:spcPct val="15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求补码通常指由真值</a:t>
              </a:r>
              <a:r>
                <a:rPr lang="en-US" altLang="zh-CN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或由原码[</a:t>
              </a:r>
              <a:r>
                <a:rPr lang="en-US" altLang="zh-CN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X]</a:t>
              </a:r>
              <a:r>
                <a:rPr lang="zh-CN" altLang="en-US" sz="24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原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求[</a:t>
              </a:r>
              <a:r>
                <a:rPr lang="en-US" altLang="zh-CN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X]</a:t>
              </a:r>
              <a:r>
                <a:rPr lang="zh-CN" altLang="en-US" sz="24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40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4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4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955016"/>
              </p:ext>
            </p:extLst>
          </p:nvPr>
        </p:nvGraphicFramePr>
        <p:xfrm>
          <a:off x="1122363" y="1238250"/>
          <a:ext cx="7778750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45341" imgH="1975598" progId="Word.Document.8">
                  <p:embed/>
                </p:oleObj>
              </mc:Choice>
              <mc:Fallback>
                <p:oleObj name="Document" r:id="rId2" imgW="7445341" imgH="1975598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1238250"/>
                        <a:ext cx="7778750" cy="206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Rectangle 8"/>
          <p:cNvSpPr>
            <a:spLocks noChangeArrowheads="1"/>
          </p:cNvSpPr>
          <p:nvPr/>
        </p:nvSpPr>
        <p:spPr bwMode="auto">
          <a:xfrm>
            <a:off x="571500" y="574675"/>
            <a:ext cx="565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2.1.5 补码机器数的变补(求补)和移位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66953" name="Rectangle 9"/>
          <p:cNvSpPr>
            <a:spLocks noChangeArrowheads="1"/>
          </p:cNvSpPr>
          <p:nvPr/>
        </p:nvSpPr>
        <p:spPr bwMode="auto">
          <a:xfrm>
            <a:off x="1035050" y="3182938"/>
            <a:ext cx="78105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3．左移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（由[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求[2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各位按位向左移一位，末位补0，符号位应不变。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显然，只有当[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的最高两位相同时，左移后才是正确的[2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，否则就溢出了。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17538" y="5595938"/>
            <a:ext cx="7256462" cy="457200"/>
            <a:chOff x="389" y="3482"/>
            <a:chExt cx="4571" cy="288"/>
          </a:xfrm>
        </p:grpSpPr>
        <p:graphicFrame>
          <p:nvGraphicFramePr>
            <p:cNvPr id="39942" name="Object 6"/>
            <p:cNvGraphicFramePr>
              <a:graphicFrameLocks noChangeAspect="1"/>
            </p:cNvGraphicFramePr>
            <p:nvPr/>
          </p:nvGraphicFramePr>
          <p:xfrm>
            <a:off x="389" y="3550"/>
            <a:ext cx="324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4" imgW="809738" imgH="438095" progId="Paint.Picture">
                    <p:embed/>
                  </p:oleObj>
                </mc:Choice>
                <mc:Fallback>
                  <p:oleObj name="位图图像" r:id="rId4" imgW="809738" imgH="438095" progId="Paint.Picture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" y="3550"/>
                          <a:ext cx="324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3" name="Rectangle 10"/>
            <p:cNvSpPr>
              <a:spLocks noChangeArrowheads="1"/>
            </p:cNvSpPr>
            <p:nvPr/>
          </p:nvSpPr>
          <p:spPr bwMode="auto">
            <a:xfrm>
              <a:off x="744" y="3482"/>
              <a:ext cx="4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无特殊指定时，定点数认为用补码表示。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5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676275" y="989013"/>
            <a:ext cx="7897813" cy="435292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本章重点：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1．进制之间的相互转换是最基本的，应当熟练掌握；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2．定点数的原码、补码、变形补码和反码表示，</a:t>
            </a: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补码特别注意：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 ① 最小的补码很特殊，没有对应的原码和反码，可单独记；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 ② “变补”和“求补码” 概念的不同；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 ③ 补码乘以2(算术左移)和乘以1/2(算术右移)的结果；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3．浮点数的规格化概念，真值</a:t>
            </a: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</a:t>
            </a: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浮点数表示形式；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4．奇偶校验码的校验原理及校验位形成方法；</a:t>
            </a:r>
            <a:endParaRPr kumimoji="0" lang="zh-CN" altLang="en-US" sz="2000">
              <a:solidFill>
                <a:srgbClr val="08080C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5．学会看原文资料，并熟悉其专业名词和术语。</a:t>
            </a:r>
          </a:p>
        </p:txBody>
      </p:sp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ChangeArrowheads="1"/>
          </p:cNvSpPr>
          <p:nvPr/>
        </p:nvSpPr>
        <p:spPr bwMode="auto">
          <a:xfrm>
            <a:off x="635000" y="442913"/>
            <a:ext cx="8509000" cy="277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课堂练习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】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．设字长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M＝8，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求下列补码所对应的 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及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真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(1) [2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＝80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H, </a:t>
            </a: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(2)[X/2]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＝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C0H, </a:t>
            </a: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(3)[-X]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＝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FFH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ChangeArrowheads="1"/>
          </p:cNvSpPr>
          <p:nvPr/>
        </p:nvSpPr>
        <p:spPr bwMode="auto">
          <a:xfrm>
            <a:off x="468373" y="564255"/>
            <a:ext cx="8572500" cy="60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习题：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P46  2-1(1)(3)(5)(6)，2-3，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2-4，2-7，2-9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60000"/>
              </a:lnSpc>
              <a:spcBef>
                <a:spcPct val="0"/>
              </a:spcBef>
              <a:buClrTx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补充习题：</a:t>
            </a:r>
            <a:endParaRPr lang="en-US" altLang="zh-CN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已知</a:t>
            </a:r>
            <a:r>
              <a:rPr lang="zh-CN" altLang="en-US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整数的</a:t>
            </a:r>
            <a:r>
              <a:rPr lang="en-US" altLang="zh-CN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补码 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=3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EH, [Y]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DCH,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5000"/>
              </a:lnSpc>
              <a:spcBef>
                <a:spcPts val="0"/>
              </a:spcBef>
              <a:buClrTx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求：[2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  [2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5000"/>
              </a:lnSpc>
              <a:spcBef>
                <a:spcPts val="0"/>
              </a:spcBef>
              <a:buClrTx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/2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 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/4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5000"/>
              </a:lnSpc>
              <a:spcBef>
                <a:spcPts val="0"/>
              </a:spcBef>
              <a:buClrTx/>
            </a:pP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   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 algn="just" eaLnBrk="0" hangingPunct="0">
              <a:lnSpc>
                <a:spcPct val="125000"/>
              </a:lnSpc>
              <a:spcBef>
                <a:spcPts val="0"/>
              </a:spcBef>
              <a:buClrTx/>
            </a:pPr>
            <a:r>
              <a:rPr lang="en-US" altLang="zh-CN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-X]</a:t>
            </a:r>
            <a:r>
              <a:rPr lang="zh-CN" altLang="en-US" sz="2400" baseline="-300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，  [</a:t>
            </a:r>
            <a:r>
              <a:rPr lang="en-US" altLang="zh-CN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-Y]</a:t>
            </a:r>
            <a:r>
              <a:rPr lang="zh-CN" altLang="en-US" sz="2400" baseline="-300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补 </a:t>
            </a:r>
            <a:r>
              <a:rPr lang="zh-CN" altLang="en-US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，</a:t>
            </a:r>
            <a:endParaRPr lang="en-US" altLang="zh-CN" sz="2000" dirty="0">
              <a:solidFill>
                <a:srgbClr val="00206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5000"/>
              </a:lnSpc>
              <a:spcBef>
                <a:spcPts val="0"/>
              </a:spcBef>
              <a:buClrTx/>
            </a:pPr>
            <a:r>
              <a:rPr lang="en-US" altLang="zh-CN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        X</a:t>
            </a:r>
            <a:r>
              <a:rPr lang="zh-CN" altLang="en-US" sz="2400" baseline="-300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二进制真值 </a:t>
            </a:r>
            <a:r>
              <a:rPr lang="zh-CN" altLang="en-US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sz="2400" baseline="-300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二进制真值 </a:t>
            </a:r>
            <a:endParaRPr lang="en-US" altLang="zh-CN" sz="2400" baseline="-30000" dirty="0">
              <a:solidFill>
                <a:srgbClr val="00206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5000"/>
              </a:lnSpc>
              <a:spcBef>
                <a:spcPts val="0"/>
              </a:spcBef>
              <a:buClrTx/>
            </a:pPr>
            <a:r>
              <a:rPr lang="zh-CN" altLang="en-US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        机器字长为</a:t>
            </a:r>
            <a:r>
              <a:rPr lang="en-US" altLang="zh-CN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en-US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位的</a:t>
            </a:r>
            <a:r>
              <a:rPr lang="en-US" altLang="zh-CN" sz="24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[Y]</a:t>
            </a:r>
            <a:r>
              <a:rPr lang="zh-CN" altLang="en-US" sz="2400" baseline="-30000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补</a:t>
            </a:r>
            <a:endParaRPr lang="en-US" altLang="zh-CN" sz="2400" baseline="-30000" dirty="0">
              <a:solidFill>
                <a:srgbClr val="00206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60000"/>
              </a:lnSpc>
              <a:spcBef>
                <a:spcPct val="0"/>
              </a:spcBef>
              <a:buClrTx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上机作业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：（见上机作业文档）</a:t>
            </a:r>
            <a:endParaRPr lang="en-US" altLang="zh-CN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2">
                  <a:lumMod val="20000"/>
                  <a:lumOff val="8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98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33063815"/>
              </p:ext>
            </p:extLst>
          </p:nvPr>
        </p:nvGraphicFramePr>
        <p:xfrm>
          <a:off x="1292225" y="1560513"/>
          <a:ext cx="7729538" cy="480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234933" imgH="3868789" progId="Word.Document.8">
                  <p:embed/>
                </p:oleObj>
              </mc:Choice>
              <mc:Fallback>
                <p:oleObj name="Document" r:id="rId2" imgW="6234933" imgH="3868789" progId="Word.Document.8">
                  <p:embed/>
                  <p:pic>
                    <p:nvPicPr>
                      <p:cNvPr id="0" name="Object 9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1560513"/>
                        <a:ext cx="7729538" cy="480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668338" y="681038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第2章  数据的机器层表示</a:t>
            </a:r>
            <a:r>
              <a:rPr lang="zh-CN" altLang="en-US" sz="3200" dirty="0">
                <a:solidFill>
                  <a:srgbClr val="990099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sp>
        <p:nvSpPr>
          <p:cNvPr id="44036" name="Rectangle 60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444500" y="354013"/>
            <a:ext cx="7670800" cy="115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§2.2 数的浮点表示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2.2.1 浮点数及其一般表示格式</a:t>
            </a: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774700" y="1546225"/>
            <a:ext cx="6083300" cy="83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引例：(0.0001011)</a:t>
            </a:r>
            <a:r>
              <a:rPr lang="zh-CN" altLang="en-US" sz="2000" baseline="-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= (0.1011000)</a:t>
            </a:r>
            <a:r>
              <a:rPr lang="zh-CN" altLang="en-US" sz="2000" baseline="-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-3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endParaRPr lang="zh-CN" altLang="en-US" sz="2000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l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调整指数的值相当于改变小数点的位置</a:t>
            </a:r>
            <a:r>
              <a:rPr lang="zh-CN" altLang="en-US" sz="2000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endParaRPr lang="zh-CN" altLang="en-US" sz="2000" dirty="0">
              <a:solidFill>
                <a:srgbClr val="00800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606212" name="Rectangle 4"/>
          <p:cNvSpPr>
            <a:spLocks noChangeArrowheads="1"/>
          </p:cNvSpPr>
          <p:nvPr/>
        </p:nvSpPr>
        <p:spPr bwMode="auto">
          <a:xfrm>
            <a:off x="606175" y="3260657"/>
            <a:ext cx="8179050" cy="32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E--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阶码(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Exponent)，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表示小数点位置的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带符号整数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常用移码或补码表示；</a:t>
            </a: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M--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尾数(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Mantissa)，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表示有效数字的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带符号纯小数 </a:t>
            </a:r>
            <a:endParaRPr lang="en-US" altLang="zh-CN" sz="2400" dirty="0">
              <a:solidFill>
                <a:srgbClr val="C00000"/>
              </a:solidFill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常用原码或补码表示；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r--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基数(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radix)，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通常取值2，也可取4，8，16等。</a:t>
            </a:r>
          </a:p>
          <a:p>
            <a:pPr algn="l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   在每台机器中，浮点数的基数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r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是固定的常数，不必在数码中表示出来。</a:t>
            </a:r>
            <a:r>
              <a:rPr lang="zh-CN" altLang="en-US" sz="1200" dirty="0"/>
              <a:t> 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4506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852802"/>
              </p:ext>
            </p:extLst>
          </p:nvPr>
        </p:nvGraphicFramePr>
        <p:xfrm>
          <a:off x="444500" y="2873375"/>
          <a:ext cx="71882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42330" imgH="444419" progId="Word.Document.8">
                  <p:embed/>
                </p:oleObj>
              </mc:Choice>
              <mc:Fallback>
                <p:oleObj name="Document" r:id="rId2" imgW="5642330" imgH="444419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2873375"/>
                        <a:ext cx="71882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93640232"/>
              </p:ext>
            </p:extLst>
          </p:nvPr>
        </p:nvGraphicFramePr>
        <p:xfrm>
          <a:off x="1574800" y="2291137"/>
          <a:ext cx="7464380" cy="634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615688" imgH="476087" progId="Word.Document.8">
                  <p:embed/>
                </p:oleObj>
              </mc:Choice>
              <mc:Fallback>
                <p:oleObj name="Document" r:id="rId4" imgW="5615688" imgH="476087" progId="Word.Document.8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2291137"/>
                        <a:ext cx="7464380" cy="634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11"/>
          <p:cNvSpPr>
            <a:spLocks noChangeArrowheads="1"/>
          </p:cNvSpPr>
          <p:nvPr/>
        </p:nvSpPr>
        <p:spPr bwMode="auto">
          <a:xfrm>
            <a:off x="545901" y="2768975"/>
            <a:ext cx="76993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浮点数的一般格式：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47108" name="Group 17"/>
          <p:cNvGrpSpPr>
            <a:grpSpLocks/>
          </p:cNvGrpSpPr>
          <p:nvPr/>
        </p:nvGrpSpPr>
        <p:grpSpPr bwMode="auto">
          <a:xfrm>
            <a:off x="1331912" y="3324600"/>
            <a:ext cx="6681931" cy="1603284"/>
            <a:chOff x="937" y="2863"/>
            <a:chExt cx="4082" cy="802"/>
          </a:xfrm>
        </p:grpSpPr>
        <p:grpSp>
          <p:nvGrpSpPr>
            <p:cNvPr id="47112" name="Group 7"/>
            <p:cNvGrpSpPr>
              <a:grpSpLocks/>
            </p:cNvGrpSpPr>
            <p:nvPr/>
          </p:nvGrpSpPr>
          <p:grpSpPr bwMode="auto">
            <a:xfrm>
              <a:off x="937" y="2863"/>
              <a:ext cx="4082" cy="802"/>
              <a:chOff x="1240" y="2139"/>
              <a:chExt cx="3957" cy="756"/>
            </a:xfrm>
          </p:grpSpPr>
          <p:pic>
            <p:nvPicPr>
              <p:cNvPr id="47115" name="Picture 8" descr="未命名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0" y="2139"/>
                <a:ext cx="3957" cy="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16" name="Rectangle 9"/>
              <p:cNvSpPr>
                <a:spLocks noChangeArrowheads="1"/>
              </p:cNvSpPr>
              <p:nvPr/>
            </p:nvSpPr>
            <p:spPr bwMode="auto">
              <a:xfrm>
                <a:off x="1462" y="2429"/>
                <a:ext cx="1241" cy="201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7117" name="Rectangle 10"/>
              <p:cNvSpPr>
                <a:spLocks noChangeArrowheads="1"/>
              </p:cNvSpPr>
              <p:nvPr/>
            </p:nvSpPr>
            <p:spPr bwMode="auto">
              <a:xfrm>
                <a:off x="2732" y="2429"/>
                <a:ext cx="2349" cy="201"/>
              </a:xfrm>
              <a:prstGeom prst="rect">
                <a:avLst/>
              </a:prstGeom>
              <a:noFill/>
              <a:ln w="38100">
                <a:solidFill>
                  <a:srgbClr val="00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47113" name="Line 12"/>
            <p:cNvSpPr>
              <a:spLocks noChangeShapeType="1"/>
            </p:cNvSpPr>
            <p:nvPr/>
          </p:nvSpPr>
          <p:spPr bwMode="auto">
            <a:xfrm>
              <a:off x="2797" y="3164"/>
              <a:ext cx="0" cy="225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7114" name="Line 13"/>
            <p:cNvSpPr>
              <a:spLocks noChangeShapeType="1"/>
            </p:cNvSpPr>
            <p:nvPr/>
          </p:nvSpPr>
          <p:spPr bwMode="auto">
            <a:xfrm flipH="1">
              <a:off x="1453" y="3172"/>
              <a:ext cx="9" cy="201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47109" name="Rectangle 2"/>
          <p:cNvSpPr>
            <a:spLocks noChangeArrowheads="1"/>
          </p:cNvSpPr>
          <p:nvPr/>
        </p:nvSpPr>
        <p:spPr bwMode="auto">
          <a:xfrm>
            <a:off x="444500" y="354013"/>
            <a:ext cx="76708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§2.2 数的浮点表示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2.2.1 浮点数及其一般表示格式</a:t>
            </a: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67644"/>
              </p:ext>
            </p:extLst>
          </p:nvPr>
        </p:nvGraphicFramePr>
        <p:xfrm>
          <a:off x="589496" y="2401746"/>
          <a:ext cx="71882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42330" imgH="444419" progId="Word.Document.8">
                  <p:embed/>
                </p:oleObj>
              </mc:Choice>
              <mc:Fallback>
                <p:oleObj name="Document" r:id="rId3" imgW="5642330" imgH="444419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96" y="2401746"/>
                        <a:ext cx="71882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4962B165-C938-1597-0A01-F959BBFB11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136" y="1639984"/>
            <a:ext cx="3844907" cy="651153"/>
          </a:xfrm>
          <a:prstGeom prst="rect">
            <a:avLst/>
          </a:prstGeom>
        </p:spPr>
      </p:pic>
      <p:sp>
        <p:nvSpPr>
          <p:cNvPr id="6" name="Rectangle 17">
            <a:extLst>
              <a:ext uri="{FF2B5EF4-FFF2-40B4-BE49-F238E27FC236}">
                <a16:creationId xmlns:a16="http://schemas.microsoft.com/office/drawing/2014/main" id="{3D15619C-74F3-C521-2887-7479012D1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158" y="4994360"/>
            <a:ext cx="4508500" cy="791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</a:rPr>
              <a:t>精度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主要由Ｍ的位数和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r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决定</a:t>
            </a: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</a:rPr>
              <a:t>数值范围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主要由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r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和Ｅ决定</a:t>
            </a:r>
            <a:r>
              <a:rPr lang="zh-CN" altLang="en-US" sz="1100" dirty="0"/>
              <a:t> </a:t>
            </a: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B0AAC7-BDCF-E56B-1BC5-2475BBE7AB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93" y="5848141"/>
            <a:ext cx="8134768" cy="425472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28438244"/>
              </p:ext>
            </p:extLst>
          </p:nvPr>
        </p:nvGraphicFramePr>
        <p:xfrm>
          <a:off x="1304925" y="1560513"/>
          <a:ext cx="7643813" cy="475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225212" imgH="3868789" progId="Word.Document.8">
                  <p:embed/>
                </p:oleObj>
              </mc:Choice>
              <mc:Fallback>
                <p:oleObj name="Document" r:id="rId2" imgW="6225212" imgH="3868789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1560513"/>
                        <a:ext cx="7643813" cy="475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668338" y="681038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第2章  数据的机器层表示</a:t>
            </a:r>
            <a:r>
              <a:rPr lang="zh-CN" altLang="en-US" sz="3200">
                <a:solidFill>
                  <a:srgbClr val="990099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grpSp>
        <p:nvGrpSpPr>
          <p:cNvPr id="48132" name="Group 5"/>
          <p:cNvGrpSpPr>
            <a:grpSpLocks/>
          </p:cNvGrpSpPr>
          <p:nvPr/>
        </p:nvGrpSpPr>
        <p:grpSpPr bwMode="auto">
          <a:xfrm>
            <a:off x="5419725" y="4997450"/>
            <a:ext cx="3140075" cy="1233488"/>
            <a:chOff x="937" y="2863"/>
            <a:chExt cx="4082" cy="802"/>
          </a:xfrm>
        </p:grpSpPr>
        <p:grpSp>
          <p:nvGrpSpPr>
            <p:cNvPr id="48133" name="Group 6"/>
            <p:cNvGrpSpPr>
              <a:grpSpLocks/>
            </p:cNvGrpSpPr>
            <p:nvPr/>
          </p:nvGrpSpPr>
          <p:grpSpPr bwMode="auto">
            <a:xfrm>
              <a:off x="937" y="2863"/>
              <a:ext cx="4082" cy="802"/>
              <a:chOff x="1240" y="2139"/>
              <a:chExt cx="3957" cy="756"/>
            </a:xfrm>
          </p:grpSpPr>
          <p:pic>
            <p:nvPicPr>
              <p:cNvPr id="48136" name="Picture 7" descr="未命名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0" y="2139"/>
                <a:ext cx="3957" cy="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37" name="Rectangle 8"/>
              <p:cNvSpPr>
                <a:spLocks noChangeArrowheads="1"/>
              </p:cNvSpPr>
              <p:nvPr/>
            </p:nvSpPr>
            <p:spPr bwMode="auto">
              <a:xfrm>
                <a:off x="1462" y="2429"/>
                <a:ext cx="1241" cy="201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_GB2312" pitchFamily="49" charset="-122"/>
                </a:endParaRPr>
              </a:p>
            </p:txBody>
          </p:sp>
          <p:sp>
            <p:nvSpPr>
              <p:cNvPr id="48138" name="Rectangle 9"/>
              <p:cNvSpPr>
                <a:spLocks noChangeArrowheads="1"/>
              </p:cNvSpPr>
              <p:nvPr/>
            </p:nvSpPr>
            <p:spPr bwMode="auto">
              <a:xfrm>
                <a:off x="2732" y="2429"/>
                <a:ext cx="2349" cy="201"/>
              </a:xfrm>
              <a:prstGeom prst="rect">
                <a:avLst/>
              </a:prstGeom>
              <a:noFill/>
              <a:ln w="38100">
                <a:solidFill>
                  <a:srgbClr val="00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_GB2312" pitchFamily="49" charset="-122"/>
                </a:endParaRPr>
              </a:p>
            </p:txBody>
          </p:sp>
        </p:grpSp>
        <p:sp>
          <p:nvSpPr>
            <p:cNvPr id="48134" name="Line 10"/>
            <p:cNvSpPr>
              <a:spLocks noChangeShapeType="1"/>
            </p:cNvSpPr>
            <p:nvPr/>
          </p:nvSpPr>
          <p:spPr bwMode="auto">
            <a:xfrm>
              <a:off x="2797" y="3164"/>
              <a:ext cx="0" cy="225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" name="Line 11"/>
            <p:cNvSpPr>
              <a:spLocks noChangeShapeType="1"/>
            </p:cNvSpPr>
            <p:nvPr/>
          </p:nvSpPr>
          <p:spPr bwMode="auto">
            <a:xfrm flipH="1">
              <a:off x="1453" y="3172"/>
              <a:ext cx="9" cy="201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/>
          <p:cNvSpPr>
            <a:spLocks noChangeArrowheads="1"/>
          </p:cNvSpPr>
          <p:nvPr/>
        </p:nvSpPr>
        <p:spPr bwMode="auto">
          <a:xfrm>
            <a:off x="123290" y="343739"/>
            <a:ext cx="9370031" cy="1363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2.2.2规格化浮点数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1．浮点数规格化形式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非零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尾数的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真值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最高数位必须是一个有效值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以提高数据表示精度。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155" name="Rectangle 7"/>
          <p:cNvSpPr>
            <a:spLocks noChangeArrowheads="1"/>
          </p:cNvSpPr>
          <p:nvPr/>
        </p:nvSpPr>
        <p:spPr bwMode="auto">
          <a:xfrm>
            <a:off x="908050" y="1706804"/>
            <a:ext cx="77597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引例：(0.0001011)</a:t>
            </a:r>
            <a:r>
              <a:rPr lang="zh-CN" altLang="en-US" sz="2000" baseline="-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= (0.1011000)</a:t>
            </a:r>
            <a:r>
              <a:rPr lang="zh-CN" altLang="en-US" sz="2000" baseline="-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-3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规格化数！ </a:t>
            </a:r>
            <a:endParaRPr lang="zh-CN" altLang="en-US" sz="1200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                 = (0.0101100)</a:t>
            </a:r>
            <a:r>
              <a:rPr lang="zh-CN" altLang="en-US" sz="2000" baseline="-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 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2</a:t>
            </a:r>
            <a:r>
              <a:rPr lang="zh-CN" altLang="en-US" sz="2000" baseline="30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-2</a:t>
            </a:r>
            <a:r>
              <a:rPr lang="zh-CN" altLang="en-US" sz="2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非规！</a:t>
            </a:r>
            <a:r>
              <a:rPr lang="zh-CN" altLang="en-US" sz="1300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endParaRPr lang="zh-CN" altLang="en-US" sz="2000" dirty="0">
              <a:solidFill>
                <a:srgbClr val="00800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472072" name="Rectangle 8"/>
          <p:cNvSpPr>
            <a:spLocks noChangeArrowheads="1"/>
          </p:cNvSpPr>
          <p:nvPr/>
        </p:nvSpPr>
        <p:spPr bwMode="auto">
          <a:xfrm>
            <a:off x="574442" y="2444500"/>
            <a:ext cx="8467725" cy="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规格化浮点数的尾数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原码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表示时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其绝对值范围应为：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1/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r≤|M|＜1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</a:t>
            </a:r>
            <a:endParaRPr lang="en-US" altLang="zh-CN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72073" name="Rectangle 9"/>
          <p:cNvSpPr>
            <a:spLocks noChangeArrowheads="1"/>
          </p:cNvSpPr>
          <p:nvPr/>
        </p:nvSpPr>
        <p:spPr bwMode="auto">
          <a:xfrm>
            <a:off x="1203558" y="3367356"/>
            <a:ext cx="7366000" cy="224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若基数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r=2，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尾数Ｍ用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补码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表示，则规格化数应满足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-1≤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 &lt;-1/2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或  1/2≤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 &lt;1 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即，尾数最高两位必须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相异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0.1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xx...x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 1.0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xx...x     ──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规！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0.0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xx...x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 1.1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xx...x     ──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非规！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A2750F3-1D0A-B384-FAB9-F5441C7CA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42" y="5498209"/>
            <a:ext cx="7810901" cy="1016052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72" grpId="0" autoUpdateAnimBg="0"/>
      <p:bldP spid="47207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6"/>
          <p:cNvSpPr>
            <a:spLocks noChangeArrowheads="1"/>
          </p:cNvSpPr>
          <p:nvPr/>
        </p:nvSpPr>
        <p:spPr bwMode="auto">
          <a:xfrm>
            <a:off x="673100" y="358775"/>
            <a:ext cx="7912100" cy="168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2．浮点规格化数的数据表示范围</a:t>
            </a:r>
          </a:p>
          <a:p>
            <a:pPr algn="l">
              <a:lnSpc>
                <a:spcPct val="4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若阶码和尾数均用补码表示，阶码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k+1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位，尾数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n+1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位，则规格化数典型值为：</a:t>
            </a:r>
            <a:r>
              <a:rPr lang="zh-CN" altLang="en-US" sz="24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51204" name="Rectangle 7"/>
          <p:cNvSpPr>
            <a:spLocks noChangeArrowheads="1"/>
          </p:cNvSpPr>
          <p:nvPr/>
        </p:nvSpPr>
        <p:spPr bwMode="auto">
          <a:xfrm>
            <a:off x="660400" y="4860925"/>
            <a:ext cx="8483600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规格化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浮点数的表示范围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小于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非规格化浮点数的表示范围。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AF5BE0-0EC5-6A15-FBF0-0E26122CA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2" y="2187872"/>
            <a:ext cx="9061916" cy="2317869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ChangeArrowheads="1"/>
          </p:cNvSpPr>
          <p:nvPr/>
        </p:nvSpPr>
        <p:spPr bwMode="auto">
          <a:xfrm>
            <a:off x="673100" y="358775"/>
            <a:ext cx="7912100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2．浮点规格化数的数据表示范围</a:t>
            </a:r>
          </a:p>
          <a:p>
            <a:pPr algn="l">
              <a:lnSpc>
                <a:spcPct val="4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222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1031875"/>
            <a:ext cx="785177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7"/>
          <p:cNvSpPr>
            <a:spLocks noChangeArrowheads="1"/>
          </p:cNvSpPr>
          <p:nvPr/>
        </p:nvSpPr>
        <p:spPr bwMode="auto">
          <a:xfrm>
            <a:off x="660400" y="4325938"/>
            <a:ext cx="8140700" cy="1406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尾数为0时，不论阶码为何值，一般都当做机器0处理。此时应把阶码置成最小值（绝对值最大的负数）。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396300" y="5826125"/>
            <a:ext cx="8140700" cy="4766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：浮点数的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溢出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体现在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阶码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上。 </a:t>
            </a:r>
          </a:p>
        </p:txBody>
      </p:sp>
    </p:spTree>
  </p:cSld>
  <p:clrMapOvr>
    <a:masterClrMapping/>
  </p:clrMapOvr>
  <p:transition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6"/>
          <p:cNvSpPr>
            <a:spLocks noChangeArrowheads="1"/>
          </p:cNvSpPr>
          <p:nvPr/>
        </p:nvSpPr>
        <p:spPr bwMode="auto">
          <a:xfrm>
            <a:off x="673100" y="451243"/>
            <a:ext cx="79121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．尾数基数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对浮点数特性的影响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3634FF-4F1D-E047-F721-C770BD255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10" y="1273064"/>
            <a:ext cx="7594990" cy="431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67368"/>
      </p:ext>
    </p:extLst>
  </p:cSld>
  <p:clrMapOvr>
    <a:masterClrMapping/>
  </p:clrMapOvr>
  <p:transition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/>
          <p:cNvSpPr>
            <a:spLocks noChangeArrowheads="1"/>
          </p:cNvSpPr>
          <p:nvPr/>
        </p:nvSpPr>
        <p:spPr bwMode="auto">
          <a:xfrm>
            <a:off x="520700" y="511175"/>
            <a:ext cx="5575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2.2.3 阶码的移码表示法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3251" name="Rectangle 10"/>
          <p:cNvSpPr>
            <a:spLocks noChangeArrowheads="1"/>
          </p:cNvSpPr>
          <p:nvPr/>
        </p:nvSpPr>
        <p:spPr bwMode="auto">
          <a:xfrm>
            <a:off x="990600" y="1014413"/>
            <a:ext cx="7759700" cy="139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66775" indent="-869950"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移码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(bias notation)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在真值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上加一个常数（偏置值），使数据的正负符号数字化的一种编码方法。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marL="866775" indent="-869950"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（相当于</a:t>
            </a:r>
            <a:r>
              <a:rPr lang="en-US" altLang="zh-CN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在数轴上向正方向平移了一段距离）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3252" name="Rectangle 11"/>
          <p:cNvSpPr>
            <a:spLocks noChangeArrowheads="1"/>
          </p:cNvSpPr>
          <p:nvPr/>
        </p:nvSpPr>
        <p:spPr bwMode="auto">
          <a:xfrm>
            <a:off x="2038350" y="2795588"/>
            <a:ext cx="3962400" cy="427037"/>
          </a:xfrm>
          <a:prstGeom prst="rect">
            <a:avLst/>
          </a:prstGeom>
          <a:gradFill rotWithShape="0">
            <a:gsLst>
              <a:gs pos="0">
                <a:srgbClr val="F5E3F3"/>
              </a:gs>
              <a:gs pos="50000">
                <a:srgbClr val="F5E3F3"/>
              </a:gs>
              <a:gs pos="100000">
                <a:srgbClr val="F5E3F3"/>
              </a:gs>
            </a:gsLst>
            <a:lin ang="2700000" scaled="1"/>
          </a:gradFill>
          <a:ln w="19050">
            <a:solidFill>
              <a:srgbClr val="000099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[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移 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偏置值 + 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endParaRPr lang="en-US" altLang="zh-CN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3253" name="Rectangle 12"/>
          <p:cNvSpPr>
            <a:spLocks noChangeArrowheads="1"/>
          </p:cNvSpPr>
          <p:nvPr/>
        </p:nvSpPr>
        <p:spPr bwMode="auto">
          <a:xfrm>
            <a:off x="379413" y="3724935"/>
            <a:ext cx="8764587" cy="242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560388"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对于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位定点整数，偏置值常取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aseline="300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此时编码规则较简单！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indent="560388"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移码的编码规则：</a:t>
            </a:r>
          </a:p>
          <a:p>
            <a:pPr indent="560388"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对于偏置值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aseline="300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的移码，同一真值， 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移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与[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只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符号位相反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其它位都相同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indent="560388" algn="l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839995"/>
              </p:ext>
            </p:extLst>
          </p:nvPr>
        </p:nvGraphicFramePr>
        <p:xfrm>
          <a:off x="723900" y="569913"/>
          <a:ext cx="8040688" cy="424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546773" imgH="3986016" progId="Word.Document.8">
                  <p:embed/>
                </p:oleObj>
              </mc:Choice>
              <mc:Fallback>
                <p:oleObj name="Document" r:id="rId2" imgW="7546773" imgH="398601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569913"/>
                        <a:ext cx="8040688" cy="424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ChangeArrowheads="1"/>
          </p:cNvSpPr>
          <p:nvPr/>
        </p:nvSpPr>
        <p:spPr bwMode="auto">
          <a:xfrm>
            <a:off x="479425" y="711200"/>
            <a:ext cx="8139113" cy="363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用移码表示阶码的优点：</a:t>
            </a:r>
          </a:p>
          <a:p>
            <a:pPr algn="just" eaLnBrk="0" hangingPunct="0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(1) 移码可视为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无符号数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，全为0时对应的真值最小，全为1时对应的真值最大，有助于两个浮点数进行阶码的大小比较；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(2) 简化机器中的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判零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电路。当阶码全为0，尾数也全为0时，表示机器零。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1281113" y="422275"/>
            <a:ext cx="6137275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u="sng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定点表示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     </a:t>
            </a:r>
            <a:r>
              <a:rPr lang="zh-CN" altLang="en-US" sz="2400" u="sng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浮点表示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000">
                <a:solidFill>
                  <a:srgbClr val="99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graphicFrame>
        <p:nvGraphicFramePr>
          <p:cNvPr id="6113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921149"/>
              </p:ext>
            </p:extLst>
          </p:nvPr>
        </p:nvGraphicFramePr>
        <p:xfrm>
          <a:off x="509588" y="3995738"/>
          <a:ext cx="8634412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59698" imgH="859331" progId="Word.Document.8">
                  <p:embed/>
                </p:oleObj>
              </mc:Choice>
              <mc:Fallback>
                <p:oleObj name="Document" r:id="rId2" imgW="5759698" imgH="859331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995738"/>
                        <a:ext cx="8634412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157492"/>
              </p:ext>
            </p:extLst>
          </p:nvPr>
        </p:nvGraphicFramePr>
        <p:xfrm>
          <a:off x="392113" y="5195888"/>
          <a:ext cx="702468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4869180" imgH="577590" progId="Word.Document.8">
                  <p:embed/>
                </p:oleObj>
              </mc:Choice>
              <mc:Fallback>
                <p:oleObj name="文档" r:id="rId4" imgW="4869180" imgH="57759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5195888"/>
                        <a:ext cx="702468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484843"/>
              </p:ext>
            </p:extLst>
          </p:nvPr>
        </p:nvGraphicFramePr>
        <p:xfrm>
          <a:off x="509588" y="1281113"/>
          <a:ext cx="8634412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750337" imgH="1386157" progId="Word.Document.8">
                  <p:embed/>
                </p:oleObj>
              </mc:Choice>
              <mc:Fallback>
                <p:oleObj name="Document" r:id="rId6" imgW="5750337" imgH="1386157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1281113"/>
                        <a:ext cx="8634412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546600" y="2482850"/>
            <a:ext cx="3140075" cy="1233488"/>
            <a:chOff x="937" y="2863"/>
            <a:chExt cx="4082" cy="802"/>
          </a:xfrm>
        </p:grpSpPr>
        <p:grpSp>
          <p:nvGrpSpPr>
            <p:cNvPr id="56327" name="Group 7"/>
            <p:cNvGrpSpPr>
              <a:grpSpLocks/>
            </p:cNvGrpSpPr>
            <p:nvPr/>
          </p:nvGrpSpPr>
          <p:grpSpPr bwMode="auto">
            <a:xfrm>
              <a:off x="937" y="2863"/>
              <a:ext cx="4082" cy="802"/>
              <a:chOff x="1240" y="2139"/>
              <a:chExt cx="3957" cy="756"/>
            </a:xfrm>
          </p:grpSpPr>
          <p:pic>
            <p:nvPicPr>
              <p:cNvPr id="56330" name="Picture 8" descr="未命名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0" y="2139"/>
                <a:ext cx="3957" cy="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331" name="Rectangle 9"/>
              <p:cNvSpPr>
                <a:spLocks noChangeArrowheads="1"/>
              </p:cNvSpPr>
              <p:nvPr/>
            </p:nvSpPr>
            <p:spPr bwMode="auto">
              <a:xfrm>
                <a:off x="1462" y="2429"/>
                <a:ext cx="1241" cy="201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56332" name="Rectangle 10"/>
              <p:cNvSpPr>
                <a:spLocks noChangeArrowheads="1"/>
              </p:cNvSpPr>
              <p:nvPr/>
            </p:nvSpPr>
            <p:spPr bwMode="auto">
              <a:xfrm>
                <a:off x="2732" y="2429"/>
                <a:ext cx="2349" cy="201"/>
              </a:xfrm>
              <a:prstGeom prst="rect">
                <a:avLst/>
              </a:prstGeom>
              <a:noFill/>
              <a:ln w="38100">
                <a:solidFill>
                  <a:srgbClr val="00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56328" name="Line 11"/>
            <p:cNvSpPr>
              <a:spLocks noChangeShapeType="1"/>
            </p:cNvSpPr>
            <p:nvPr/>
          </p:nvSpPr>
          <p:spPr bwMode="auto">
            <a:xfrm>
              <a:off x="2797" y="3164"/>
              <a:ext cx="0" cy="225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6329" name="Line 12"/>
            <p:cNvSpPr>
              <a:spLocks noChangeShapeType="1"/>
            </p:cNvSpPr>
            <p:nvPr/>
          </p:nvSpPr>
          <p:spPr bwMode="auto">
            <a:xfrm flipH="1">
              <a:off x="1453" y="3172"/>
              <a:ext cx="9" cy="201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61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61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281113" y="422275"/>
            <a:ext cx="61372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u="sng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定点表示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     </a:t>
            </a:r>
            <a:r>
              <a:rPr lang="zh-CN" altLang="en-US" sz="2400" u="sng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浮点表示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000">
                <a:solidFill>
                  <a:srgbClr val="99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510917"/>
              </p:ext>
            </p:extLst>
          </p:nvPr>
        </p:nvGraphicFramePr>
        <p:xfrm>
          <a:off x="514350" y="1452563"/>
          <a:ext cx="8629650" cy="355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50337" imgH="2376475" progId="Word.Document.8">
                  <p:embed/>
                </p:oleObj>
              </mc:Choice>
              <mc:Fallback>
                <p:oleObj name="Document" r:id="rId2" imgW="5750337" imgH="237647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1452563"/>
                        <a:ext cx="8629650" cy="355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5410200" y="3719513"/>
            <a:ext cx="22780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5703888" y="3733800"/>
            <a:ext cx="178117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即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D5BH</a:t>
            </a:r>
          </a:p>
        </p:txBody>
      </p:sp>
    </p:spTree>
  </p:cSld>
  <p:clrMapOvr>
    <a:masterClrMapping/>
  </p:clrMapOvr>
  <p:transition spd="med">
    <p:wipe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1281113" y="422275"/>
            <a:ext cx="6137275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u="sng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定点表示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     </a:t>
            </a:r>
            <a:r>
              <a:rPr lang="zh-CN" altLang="en-US" sz="2400" u="sng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浮点表示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000">
                <a:solidFill>
                  <a:srgbClr val="99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015935"/>
              </p:ext>
            </p:extLst>
          </p:nvPr>
        </p:nvGraphicFramePr>
        <p:xfrm>
          <a:off x="509588" y="1485900"/>
          <a:ext cx="8634412" cy="415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50337" imgH="2772674" progId="Word.Document.8">
                  <p:embed/>
                </p:oleObj>
              </mc:Choice>
              <mc:Fallback>
                <p:oleObj name="Document" r:id="rId2" imgW="5750337" imgH="2772674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1485900"/>
                        <a:ext cx="8634412" cy="415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1281113" y="422275"/>
            <a:ext cx="5195887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u="sng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定点表示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</a:t>
            </a:r>
            <a:r>
              <a:rPr lang="zh-CN" altLang="en-US" sz="2400" u="sng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浮点表示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000">
                <a:solidFill>
                  <a:srgbClr val="99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572438"/>
              </p:ext>
            </p:extLst>
          </p:nvPr>
        </p:nvGraphicFramePr>
        <p:xfrm>
          <a:off x="509588" y="1446213"/>
          <a:ext cx="8542337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19735" imgH="1388676" progId="Word.Document.8">
                  <p:embed/>
                </p:oleObj>
              </mc:Choice>
              <mc:Fallback>
                <p:oleObj name="Document" r:id="rId2" imgW="5719735" imgH="1388676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1446213"/>
                        <a:ext cx="8542337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5410200" y="3719513"/>
            <a:ext cx="22780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224915"/>
              </p:ext>
            </p:extLst>
          </p:nvPr>
        </p:nvGraphicFramePr>
        <p:xfrm>
          <a:off x="6646863" y="493713"/>
          <a:ext cx="20478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1391503" imgH="400615" progId="Word.Document.8">
                  <p:embed/>
                </p:oleObj>
              </mc:Choice>
              <mc:Fallback>
                <p:oleObj name="文档" r:id="rId4" imgW="1391503" imgH="40061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863" y="493713"/>
                        <a:ext cx="204787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06" name="Rectangle 6"/>
          <p:cNvSpPr>
            <a:spLocks noChangeArrowheads="1"/>
          </p:cNvSpPr>
          <p:nvPr/>
        </p:nvSpPr>
        <p:spPr bwMode="auto">
          <a:xfrm>
            <a:off x="447675" y="3724275"/>
            <a:ext cx="8128000" cy="2298700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noFill/>
            <a:prstDash val="sysDot"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？</a:t>
            </a:r>
            <a:r>
              <a:rPr lang="zh-CN" altLang="en-US" sz="2400" i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思考：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400" i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浮点数的表示范围主要取决于？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与定点数表示相比，浮点数表示的精度如何？</a:t>
            </a:r>
            <a:endParaRPr lang="zh-CN" altLang="en-US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3.</a:t>
            </a: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浮点数一般格式下，用于表示</a:t>
            </a:r>
            <a:r>
              <a:rPr lang="en-US" altLang="zh-CN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(-1,+1</a:t>
            </a: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）的编码个数占多少比例？是否有冗余信息？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6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ChangeArrowheads="1"/>
          </p:cNvSpPr>
          <p:nvPr/>
        </p:nvSpPr>
        <p:spPr bwMode="auto">
          <a:xfrm>
            <a:off x="609600" y="381000"/>
            <a:ext cx="7620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2.2.4 定点、浮点表示法与定点、浮点计算机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1．定点、浮点表示法的比较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0419" name="Rectangle 7"/>
          <p:cNvSpPr>
            <a:spLocks noChangeArrowheads="1"/>
          </p:cNvSpPr>
          <p:nvPr/>
        </p:nvSpPr>
        <p:spPr bwMode="auto">
          <a:xfrm>
            <a:off x="1568450" y="1577975"/>
            <a:ext cx="706437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435100" indent="-1435100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数值范围：浮点表示法远远大于定点表示法；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marL="1435100" indent="-1435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数据分布：定点数分布均匀，浮点数越靠近数轴的原点分布密度大；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marL="1435100" indent="-1435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数据精度：一般认为浮点数的精度低于定点数；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marL="1435100" indent="-1435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数学运算：浮点运算要比定点运算复杂得多。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6042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4891088"/>
            <a:ext cx="81629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ChangeArrowheads="1"/>
          </p:cNvSpPr>
          <p:nvPr/>
        </p:nvSpPr>
        <p:spPr bwMode="auto">
          <a:xfrm>
            <a:off x="342900" y="615950"/>
            <a:ext cx="8801100" cy="529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673100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 定点机与浮点机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通常可以将计算机分为几档：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(1) 定点机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以定点运算为主，浮点运算是通过软件来实现的。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（低档微、小型机）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(2) 定点机＋浮点运算部件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浮点运算部件是专门用于浮点数运算的部件。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（微、小型机）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(3) 浮点机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indent="673100" algn="l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具有浮点运算指令和基本的浮点运算器。</a:t>
            </a:r>
          </a:p>
          <a:p>
            <a:pPr indent="673100" algn="l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(大、中型机)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365250" y="1397000"/>
            <a:ext cx="6399213" cy="2447925"/>
            <a:chOff x="860" y="880"/>
            <a:chExt cx="4031" cy="1542"/>
          </a:xfrm>
        </p:grpSpPr>
        <p:grpSp>
          <p:nvGrpSpPr>
            <p:cNvPr id="62470" name="Group 10"/>
            <p:cNvGrpSpPr>
              <a:grpSpLocks/>
            </p:cNvGrpSpPr>
            <p:nvPr/>
          </p:nvGrpSpPr>
          <p:grpSpPr bwMode="auto">
            <a:xfrm>
              <a:off x="860" y="880"/>
              <a:ext cx="4031" cy="264"/>
              <a:chOff x="830" y="840"/>
              <a:chExt cx="4031" cy="186"/>
            </a:xfrm>
          </p:grpSpPr>
          <p:sp>
            <p:nvSpPr>
              <p:cNvPr id="62475" name="Rectangle 11"/>
              <p:cNvSpPr>
                <a:spLocks noChangeArrowheads="1"/>
              </p:cNvSpPr>
              <p:nvPr/>
            </p:nvSpPr>
            <p:spPr bwMode="auto">
              <a:xfrm>
                <a:off x="2596" y="840"/>
                <a:ext cx="2265" cy="1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2476" name="Rectangle 12"/>
              <p:cNvSpPr>
                <a:spLocks noChangeArrowheads="1"/>
              </p:cNvSpPr>
              <p:nvPr/>
            </p:nvSpPr>
            <p:spPr bwMode="auto">
              <a:xfrm>
                <a:off x="830" y="840"/>
                <a:ext cx="289" cy="1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2477" name="Rectangle 13"/>
              <p:cNvSpPr>
                <a:spLocks noChangeArrowheads="1"/>
              </p:cNvSpPr>
              <p:nvPr/>
            </p:nvSpPr>
            <p:spPr bwMode="auto">
              <a:xfrm>
                <a:off x="1190" y="840"/>
                <a:ext cx="1360" cy="17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62471" name="Group 19"/>
            <p:cNvGrpSpPr>
              <a:grpSpLocks/>
            </p:cNvGrpSpPr>
            <p:nvPr/>
          </p:nvGrpSpPr>
          <p:grpSpPr bwMode="auto">
            <a:xfrm>
              <a:off x="1670" y="2188"/>
              <a:ext cx="1825" cy="234"/>
              <a:chOff x="1670" y="2188"/>
              <a:chExt cx="1825" cy="234"/>
            </a:xfrm>
          </p:grpSpPr>
          <p:sp>
            <p:nvSpPr>
              <p:cNvPr id="62472" name="Rectangle 16"/>
              <p:cNvSpPr>
                <a:spLocks noChangeArrowheads="1"/>
              </p:cNvSpPr>
              <p:nvPr/>
            </p:nvSpPr>
            <p:spPr bwMode="auto">
              <a:xfrm>
                <a:off x="2939" y="2189"/>
                <a:ext cx="556" cy="23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2473" name="Rectangle 17"/>
              <p:cNvSpPr>
                <a:spLocks noChangeArrowheads="1"/>
              </p:cNvSpPr>
              <p:nvPr/>
            </p:nvSpPr>
            <p:spPr bwMode="auto">
              <a:xfrm>
                <a:off x="1670" y="2188"/>
                <a:ext cx="533" cy="23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2474" name="Rectangle 18"/>
              <p:cNvSpPr>
                <a:spLocks noChangeArrowheads="1"/>
              </p:cNvSpPr>
              <p:nvPr/>
            </p:nvSpPr>
            <p:spPr bwMode="auto">
              <a:xfrm>
                <a:off x="2304" y="2188"/>
                <a:ext cx="569" cy="2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aphicFrame>
        <p:nvGraphicFramePr>
          <p:cNvPr id="62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097017"/>
              </p:ext>
            </p:extLst>
          </p:nvPr>
        </p:nvGraphicFramePr>
        <p:xfrm>
          <a:off x="1074738" y="1296988"/>
          <a:ext cx="6773862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75380" imgH="955040" progId="Visio.Drawing.6">
                  <p:embed/>
                </p:oleObj>
              </mc:Choice>
              <mc:Fallback>
                <p:oleObj r:id="rId2" imgW="3675380" imgH="95504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738" y="1296988"/>
                        <a:ext cx="6773862" cy="197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013604"/>
              </p:ext>
            </p:extLst>
          </p:nvPr>
        </p:nvGraphicFramePr>
        <p:xfrm>
          <a:off x="984250" y="3414713"/>
          <a:ext cx="7615238" cy="261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214924" imgH="2478673" progId="Word.Document.8">
                  <p:embed/>
                </p:oleObj>
              </mc:Choice>
              <mc:Fallback>
                <p:oleObj name="Document" r:id="rId4" imgW="7214924" imgH="2478673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3414713"/>
                        <a:ext cx="7615238" cy="261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 cap="sq">
                            <a:pattFill prst="openDmnd">
                              <a:fgClr>
                                <a:srgbClr val="3333FF"/>
                              </a:fgClr>
                              <a:bgClr>
                                <a:srgbClr val="FFFFFF"/>
                              </a:bgClr>
                            </a:patt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533400" y="523875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2.2.5 实用浮点数举例---</a:t>
            </a:r>
            <a:r>
              <a:rPr lang="en-US" altLang="zh-CN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IEEE754</a:t>
            </a: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标准</a:t>
            </a:r>
            <a:r>
              <a:rPr lang="zh-CN" altLang="en-US" sz="11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22"/>
          <p:cNvGrpSpPr>
            <a:grpSpLocks/>
          </p:cNvGrpSpPr>
          <p:nvPr/>
        </p:nvGrpSpPr>
        <p:grpSpPr bwMode="auto">
          <a:xfrm>
            <a:off x="1317625" y="1333500"/>
            <a:ext cx="6399213" cy="295275"/>
            <a:chOff x="830" y="840"/>
            <a:chExt cx="4031" cy="186"/>
          </a:xfrm>
        </p:grpSpPr>
        <p:sp>
          <p:nvSpPr>
            <p:cNvPr id="63500" name="Rectangle 23"/>
            <p:cNvSpPr>
              <a:spLocks noChangeArrowheads="1"/>
            </p:cNvSpPr>
            <p:nvPr/>
          </p:nvSpPr>
          <p:spPr bwMode="auto">
            <a:xfrm>
              <a:off x="2596" y="840"/>
              <a:ext cx="2265" cy="18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3501" name="Rectangle 24"/>
            <p:cNvSpPr>
              <a:spLocks noChangeArrowheads="1"/>
            </p:cNvSpPr>
            <p:nvPr/>
          </p:nvSpPr>
          <p:spPr bwMode="auto">
            <a:xfrm>
              <a:off x="830" y="840"/>
              <a:ext cx="289" cy="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3502" name="Rectangle 25"/>
            <p:cNvSpPr>
              <a:spLocks noChangeArrowheads="1"/>
            </p:cNvSpPr>
            <p:nvPr/>
          </p:nvSpPr>
          <p:spPr bwMode="auto">
            <a:xfrm>
              <a:off x="1190" y="840"/>
              <a:ext cx="1360" cy="1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63491" name="Group 10"/>
          <p:cNvGrpSpPr>
            <a:grpSpLocks/>
          </p:cNvGrpSpPr>
          <p:nvPr/>
        </p:nvGrpSpPr>
        <p:grpSpPr bwMode="auto">
          <a:xfrm>
            <a:off x="1042988" y="985838"/>
            <a:ext cx="7493000" cy="1638300"/>
            <a:chOff x="657" y="621"/>
            <a:chExt cx="4720" cy="1032"/>
          </a:xfrm>
        </p:grpSpPr>
        <p:graphicFrame>
          <p:nvGraphicFramePr>
            <p:cNvPr id="63498" name="Object 11"/>
            <p:cNvGraphicFramePr>
              <a:graphicFrameLocks noChangeAspect="1"/>
            </p:cNvGraphicFramePr>
            <p:nvPr/>
          </p:nvGraphicFramePr>
          <p:xfrm>
            <a:off x="657" y="807"/>
            <a:ext cx="4267" cy="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675380" imgH="955040" progId="Visio.Drawing.6">
                    <p:embed/>
                  </p:oleObj>
                </mc:Choice>
                <mc:Fallback>
                  <p:oleObj r:id="rId2" imgW="3675380" imgH="955040" progId="Visio.Drawing.6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807"/>
                          <a:ext cx="4267" cy="8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499" name="Text Box 12"/>
            <p:cNvSpPr txBox="1">
              <a:spLocks noChangeArrowheads="1"/>
            </p:cNvSpPr>
            <p:nvPr/>
          </p:nvSpPr>
          <p:spPr bwMode="auto">
            <a:xfrm>
              <a:off x="834" y="621"/>
              <a:ext cx="4543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1位            8 位                      23位           （短浮点数）</a:t>
              </a:r>
            </a:p>
          </p:txBody>
        </p:sp>
      </p:grpSp>
      <p:sp>
        <p:nvSpPr>
          <p:cNvPr id="63492" name="Rectangle 14"/>
          <p:cNvSpPr>
            <a:spLocks noChangeArrowheads="1"/>
          </p:cNvSpPr>
          <p:nvPr/>
        </p:nvSpPr>
        <p:spPr bwMode="auto">
          <a:xfrm>
            <a:off x="533400" y="523875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2.2.5 实用浮点数举例---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IEEE754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标准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3493" name="Rectangle 15"/>
          <p:cNvSpPr>
            <a:spLocks noChangeArrowheads="1"/>
          </p:cNvSpPr>
          <p:nvPr/>
        </p:nvSpPr>
        <p:spPr bwMode="auto">
          <a:xfrm>
            <a:off x="787400" y="2763838"/>
            <a:ext cx="8356600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381000" algn="just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以短浮点数为例: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81000"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最高位为数符位；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81000"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其后是8位阶码，以2为底，阶码的偏置值为127；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381000"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其余23位是尾数的纯小数。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616640-D33A-99CB-6F45-AA432B577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5" y="4628964"/>
            <a:ext cx="8318928" cy="1917799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317625" y="1333500"/>
            <a:ext cx="7232650" cy="4678363"/>
            <a:chOff x="830" y="840"/>
            <a:chExt cx="4556" cy="2947"/>
          </a:xfrm>
        </p:grpSpPr>
        <p:grpSp>
          <p:nvGrpSpPr>
            <p:cNvPr id="64521" name="Group 25"/>
            <p:cNvGrpSpPr>
              <a:grpSpLocks/>
            </p:cNvGrpSpPr>
            <p:nvPr/>
          </p:nvGrpSpPr>
          <p:grpSpPr bwMode="auto">
            <a:xfrm>
              <a:off x="1327" y="2031"/>
              <a:ext cx="4059" cy="1756"/>
              <a:chOff x="1327" y="2031"/>
              <a:chExt cx="4059" cy="1756"/>
            </a:xfrm>
          </p:grpSpPr>
          <p:sp>
            <p:nvSpPr>
              <p:cNvPr id="64526" name="Rectangle 11"/>
              <p:cNvSpPr>
                <a:spLocks noChangeArrowheads="1"/>
              </p:cNvSpPr>
              <p:nvPr/>
            </p:nvSpPr>
            <p:spPr bwMode="auto">
              <a:xfrm>
                <a:off x="5194" y="2031"/>
                <a:ext cx="136" cy="205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27" name="Rectangle 12"/>
              <p:cNvSpPr>
                <a:spLocks noChangeArrowheads="1"/>
              </p:cNvSpPr>
              <p:nvPr/>
            </p:nvSpPr>
            <p:spPr bwMode="auto">
              <a:xfrm>
                <a:off x="3953" y="2060"/>
                <a:ext cx="771" cy="20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28" name="Rectangle 13"/>
              <p:cNvSpPr>
                <a:spLocks noChangeArrowheads="1"/>
              </p:cNvSpPr>
              <p:nvPr/>
            </p:nvSpPr>
            <p:spPr bwMode="auto">
              <a:xfrm>
                <a:off x="3005" y="2987"/>
                <a:ext cx="2265" cy="196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29" name="Rectangle 14"/>
              <p:cNvSpPr>
                <a:spLocks noChangeArrowheads="1"/>
              </p:cNvSpPr>
              <p:nvPr/>
            </p:nvSpPr>
            <p:spPr bwMode="auto">
              <a:xfrm>
                <a:off x="2643" y="3572"/>
                <a:ext cx="2743" cy="21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30" name="Rectangle 15"/>
              <p:cNvSpPr>
                <a:spLocks noChangeArrowheads="1"/>
              </p:cNvSpPr>
              <p:nvPr/>
            </p:nvSpPr>
            <p:spPr bwMode="auto">
              <a:xfrm>
                <a:off x="3544" y="2050"/>
                <a:ext cx="136" cy="20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31" name="Rectangle 16"/>
              <p:cNvSpPr>
                <a:spLocks noChangeArrowheads="1"/>
              </p:cNvSpPr>
              <p:nvPr/>
            </p:nvSpPr>
            <p:spPr bwMode="auto">
              <a:xfrm>
                <a:off x="4158" y="2675"/>
                <a:ext cx="809" cy="205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32" name="Rectangle 17"/>
              <p:cNvSpPr>
                <a:spLocks noChangeArrowheads="1"/>
              </p:cNvSpPr>
              <p:nvPr/>
            </p:nvSpPr>
            <p:spPr bwMode="auto">
              <a:xfrm>
                <a:off x="1560" y="3572"/>
                <a:ext cx="975" cy="205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33" name="Rectangle 18"/>
              <p:cNvSpPr>
                <a:spLocks noChangeArrowheads="1"/>
              </p:cNvSpPr>
              <p:nvPr/>
            </p:nvSpPr>
            <p:spPr bwMode="auto">
              <a:xfrm>
                <a:off x="2216" y="2352"/>
                <a:ext cx="136" cy="20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34" name="Rectangle 19"/>
              <p:cNvSpPr>
                <a:spLocks noChangeArrowheads="1"/>
              </p:cNvSpPr>
              <p:nvPr/>
            </p:nvSpPr>
            <p:spPr bwMode="auto">
              <a:xfrm>
                <a:off x="1327" y="3571"/>
                <a:ext cx="136" cy="20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64522" name="Group 26"/>
            <p:cNvGrpSpPr>
              <a:grpSpLocks/>
            </p:cNvGrpSpPr>
            <p:nvPr/>
          </p:nvGrpSpPr>
          <p:grpSpPr bwMode="auto">
            <a:xfrm>
              <a:off x="830" y="840"/>
              <a:ext cx="4031" cy="186"/>
              <a:chOff x="830" y="840"/>
              <a:chExt cx="4031" cy="186"/>
            </a:xfrm>
          </p:grpSpPr>
          <p:sp>
            <p:nvSpPr>
              <p:cNvPr id="64523" name="Rectangle 21"/>
              <p:cNvSpPr>
                <a:spLocks noChangeArrowheads="1"/>
              </p:cNvSpPr>
              <p:nvPr/>
            </p:nvSpPr>
            <p:spPr bwMode="auto">
              <a:xfrm>
                <a:off x="2596" y="840"/>
                <a:ext cx="2265" cy="1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24" name="Rectangle 22"/>
              <p:cNvSpPr>
                <a:spLocks noChangeArrowheads="1"/>
              </p:cNvSpPr>
              <p:nvPr/>
            </p:nvSpPr>
            <p:spPr bwMode="auto">
              <a:xfrm>
                <a:off x="830" y="840"/>
                <a:ext cx="289" cy="1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525" name="Rectangle 23"/>
              <p:cNvSpPr>
                <a:spLocks noChangeArrowheads="1"/>
              </p:cNvSpPr>
              <p:nvPr/>
            </p:nvSpPr>
            <p:spPr bwMode="auto">
              <a:xfrm>
                <a:off x="1190" y="840"/>
                <a:ext cx="1360" cy="17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sp>
        <p:nvSpPr>
          <p:cNvPr id="64515" name="Rectangle 10"/>
          <p:cNvSpPr>
            <a:spLocks noChangeArrowheads="1"/>
          </p:cNvSpPr>
          <p:nvPr/>
        </p:nvSpPr>
        <p:spPr bwMode="auto">
          <a:xfrm>
            <a:off x="677863" y="2627313"/>
            <a:ext cx="8466137" cy="393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将(100.25)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转换成短浮点数格式 （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P32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例13）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(100.25)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(1100100.01)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1.10010001)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×2</a:t>
            </a:r>
            <a:r>
              <a:rPr lang="en-US" altLang="zh-CN" sz="24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符号位 = 0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阶码的移码 = 110 + 1111111 = 10000101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尾数纯小数部分 = 10010001000000000000000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∴ 短浮点数代码为：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zh-CN" altLang="en-US" sz="2400" u="sng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;</a:t>
            </a:r>
            <a:r>
              <a:rPr lang="zh-CN" altLang="en-US" sz="2400" u="sng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100 0010 1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;</a:t>
            </a:r>
            <a:r>
              <a:rPr lang="zh-CN" altLang="en-US" sz="2400" u="sng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100 1000 1000 0000 0000 0000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即：42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C88000H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64516" name="Text Box 6"/>
          <p:cNvSpPr txBox="1">
            <a:spLocks noChangeArrowheads="1"/>
          </p:cNvSpPr>
          <p:nvPr/>
        </p:nvSpPr>
        <p:spPr bwMode="auto">
          <a:xfrm>
            <a:off x="973138" y="1031875"/>
            <a:ext cx="684688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4517" name="Group 8"/>
          <p:cNvGrpSpPr>
            <a:grpSpLocks/>
          </p:cNvGrpSpPr>
          <p:nvPr/>
        </p:nvGrpSpPr>
        <p:grpSpPr bwMode="auto">
          <a:xfrm>
            <a:off x="1042988" y="985838"/>
            <a:ext cx="7493000" cy="1638300"/>
            <a:chOff x="657" y="621"/>
            <a:chExt cx="4720" cy="1032"/>
          </a:xfrm>
        </p:grpSpPr>
        <p:graphicFrame>
          <p:nvGraphicFramePr>
            <p:cNvPr id="64519" name="Object 5"/>
            <p:cNvGraphicFramePr>
              <a:graphicFrameLocks noChangeAspect="1"/>
            </p:cNvGraphicFramePr>
            <p:nvPr/>
          </p:nvGraphicFramePr>
          <p:xfrm>
            <a:off x="657" y="807"/>
            <a:ext cx="4267" cy="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675380" imgH="955040" progId="Visio.Drawing.6">
                    <p:embed/>
                  </p:oleObj>
                </mc:Choice>
                <mc:Fallback>
                  <p:oleObj r:id="rId2" imgW="3675380" imgH="955040" progId="Visio.Drawing.6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807"/>
                          <a:ext cx="4267" cy="8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0" name="Text Box 7"/>
            <p:cNvSpPr txBox="1">
              <a:spLocks noChangeArrowheads="1"/>
            </p:cNvSpPr>
            <p:nvPr/>
          </p:nvSpPr>
          <p:spPr bwMode="auto">
            <a:xfrm>
              <a:off x="834" y="621"/>
              <a:ext cx="4543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1位            8 位                     23位            （短浮点数）</a:t>
              </a:r>
            </a:p>
          </p:txBody>
        </p:sp>
      </p:grpSp>
      <p:sp>
        <p:nvSpPr>
          <p:cNvPr id="64518" name="Rectangle 9"/>
          <p:cNvSpPr>
            <a:spLocks noChangeArrowheads="1"/>
          </p:cNvSpPr>
          <p:nvPr/>
        </p:nvSpPr>
        <p:spPr bwMode="auto">
          <a:xfrm>
            <a:off x="533400" y="523875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2.2.5 实用浮点数举例---</a:t>
            </a:r>
            <a:r>
              <a:rPr lang="en-US" altLang="zh-CN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IEEE754</a:t>
            </a: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标准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2727325" y="3378200"/>
            <a:ext cx="5405438" cy="1752600"/>
            <a:chOff x="1718" y="2128"/>
            <a:chExt cx="3405" cy="1104"/>
          </a:xfrm>
        </p:grpSpPr>
        <p:sp>
          <p:nvSpPr>
            <p:cNvPr id="65548" name="Rectangle 14"/>
            <p:cNvSpPr>
              <a:spLocks noChangeArrowheads="1"/>
            </p:cNvSpPr>
            <p:nvPr/>
          </p:nvSpPr>
          <p:spPr bwMode="auto">
            <a:xfrm>
              <a:off x="3064" y="2139"/>
              <a:ext cx="2059" cy="17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49" name="Rectangle 15"/>
            <p:cNvSpPr>
              <a:spLocks noChangeArrowheads="1"/>
            </p:cNvSpPr>
            <p:nvPr/>
          </p:nvSpPr>
          <p:spPr bwMode="auto">
            <a:xfrm>
              <a:off x="1962" y="2128"/>
              <a:ext cx="221" cy="1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50" name="Rectangle 16"/>
            <p:cNvSpPr>
              <a:spLocks noChangeArrowheads="1"/>
            </p:cNvSpPr>
            <p:nvPr/>
          </p:nvSpPr>
          <p:spPr bwMode="auto">
            <a:xfrm>
              <a:off x="2254" y="2128"/>
              <a:ext cx="714" cy="1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51" name="Rectangle 17"/>
            <p:cNvSpPr>
              <a:spLocks noChangeArrowheads="1"/>
            </p:cNvSpPr>
            <p:nvPr/>
          </p:nvSpPr>
          <p:spPr bwMode="auto">
            <a:xfrm>
              <a:off x="3679" y="2752"/>
              <a:ext cx="373" cy="1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52" name="Rectangle 18"/>
            <p:cNvSpPr>
              <a:spLocks noChangeArrowheads="1"/>
            </p:cNvSpPr>
            <p:nvPr/>
          </p:nvSpPr>
          <p:spPr bwMode="auto">
            <a:xfrm>
              <a:off x="3562" y="3005"/>
              <a:ext cx="177" cy="1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53" name="Rectangle 19"/>
            <p:cNvSpPr>
              <a:spLocks noChangeArrowheads="1"/>
            </p:cNvSpPr>
            <p:nvPr/>
          </p:nvSpPr>
          <p:spPr bwMode="auto">
            <a:xfrm>
              <a:off x="2536" y="3056"/>
              <a:ext cx="595" cy="176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54" name="Rectangle 20"/>
            <p:cNvSpPr>
              <a:spLocks noChangeArrowheads="1"/>
            </p:cNvSpPr>
            <p:nvPr/>
          </p:nvSpPr>
          <p:spPr bwMode="auto">
            <a:xfrm>
              <a:off x="2109" y="3065"/>
              <a:ext cx="162" cy="1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55" name="Rectangle 22"/>
            <p:cNvSpPr>
              <a:spLocks noChangeArrowheads="1"/>
            </p:cNvSpPr>
            <p:nvPr/>
          </p:nvSpPr>
          <p:spPr bwMode="auto">
            <a:xfrm>
              <a:off x="1718" y="2440"/>
              <a:ext cx="211" cy="1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65539" name="Rectangle 8"/>
          <p:cNvSpPr>
            <a:spLocks noChangeArrowheads="1"/>
          </p:cNvSpPr>
          <p:nvPr/>
        </p:nvSpPr>
        <p:spPr bwMode="auto">
          <a:xfrm>
            <a:off x="785812" y="2421034"/>
            <a:ext cx="8156575" cy="365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把短浮点数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C1C90000H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转换成为十进制数（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P32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例14）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C1C90000H =  </a:t>
            </a:r>
            <a:r>
              <a:rPr lang="en-US" altLang="zh-CN" sz="2200" u="sng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;</a:t>
            </a:r>
            <a:r>
              <a:rPr lang="en-US" altLang="zh-CN" sz="2200" u="sng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10000011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;</a:t>
            </a:r>
            <a:r>
              <a:rPr lang="en-US" altLang="zh-CN" sz="2200" u="sng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10010010000000000000000</a:t>
            </a:r>
            <a:endParaRPr lang="en-US" altLang="zh-CN" sz="22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数符：负   （0正1负）</a:t>
            </a:r>
            <a:endParaRPr lang="zh-CN" altLang="en-US" sz="22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阶码真值： 10000011-1111111=100  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移码－偏置值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en-US" altLang="zh-CN" sz="22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∴ 该浮点数 = -(1.1001001)</a:t>
            </a:r>
            <a:r>
              <a:rPr lang="zh-CN" altLang="en-US" sz="22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×2</a:t>
            </a:r>
            <a:r>
              <a:rPr lang="zh-CN" altLang="en-US" sz="22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 </a:t>
            </a:r>
            <a:endParaRPr lang="zh-CN" altLang="en-US" sz="22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 = (-11001.001)</a:t>
            </a:r>
            <a:r>
              <a:rPr lang="zh-CN" altLang="en-US" sz="22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sz="22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 = -25.125 </a:t>
            </a:r>
            <a:endParaRPr lang="en-US" altLang="zh-CN" sz="22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5540" name="Group 10"/>
          <p:cNvGrpSpPr>
            <a:grpSpLocks/>
          </p:cNvGrpSpPr>
          <p:nvPr/>
        </p:nvGrpSpPr>
        <p:grpSpPr bwMode="auto">
          <a:xfrm>
            <a:off x="1317625" y="1333500"/>
            <a:ext cx="6399213" cy="295275"/>
            <a:chOff x="830" y="840"/>
            <a:chExt cx="4031" cy="186"/>
          </a:xfrm>
        </p:grpSpPr>
        <p:sp>
          <p:nvSpPr>
            <p:cNvPr id="65545" name="Rectangle 11"/>
            <p:cNvSpPr>
              <a:spLocks noChangeArrowheads="1"/>
            </p:cNvSpPr>
            <p:nvPr/>
          </p:nvSpPr>
          <p:spPr bwMode="auto">
            <a:xfrm>
              <a:off x="2596" y="840"/>
              <a:ext cx="2265" cy="18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46" name="Rectangle 12"/>
            <p:cNvSpPr>
              <a:spLocks noChangeArrowheads="1"/>
            </p:cNvSpPr>
            <p:nvPr/>
          </p:nvSpPr>
          <p:spPr bwMode="auto">
            <a:xfrm>
              <a:off x="830" y="840"/>
              <a:ext cx="289" cy="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47" name="Rectangle 13"/>
            <p:cNvSpPr>
              <a:spLocks noChangeArrowheads="1"/>
            </p:cNvSpPr>
            <p:nvPr/>
          </p:nvSpPr>
          <p:spPr bwMode="auto">
            <a:xfrm>
              <a:off x="1190" y="840"/>
              <a:ext cx="1360" cy="1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65541" name="Group 5"/>
          <p:cNvGrpSpPr>
            <a:grpSpLocks/>
          </p:cNvGrpSpPr>
          <p:nvPr/>
        </p:nvGrpSpPr>
        <p:grpSpPr bwMode="auto">
          <a:xfrm>
            <a:off x="1042988" y="985838"/>
            <a:ext cx="7493000" cy="1638300"/>
            <a:chOff x="657" y="621"/>
            <a:chExt cx="4720" cy="1032"/>
          </a:xfrm>
        </p:grpSpPr>
        <p:graphicFrame>
          <p:nvGraphicFramePr>
            <p:cNvPr id="65543" name="Object 6"/>
            <p:cNvGraphicFramePr>
              <a:graphicFrameLocks noChangeAspect="1"/>
            </p:cNvGraphicFramePr>
            <p:nvPr/>
          </p:nvGraphicFramePr>
          <p:xfrm>
            <a:off x="657" y="807"/>
            <a:ext cx="4267" cy="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675380" imgH="955040" progId="Visio.Drawing.6">
                    <p:embed/>
                  </p:oleObj>
                </mc:Choice>
                <mc:Fallback>
                  <p:oleObj r:id="rId2" imgW="3675380" imgH="955040" progId="Visio.Drawing.6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807"/>
                          <a:ext cx="4267" cy="8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44" name="Text Box 7"/>
            <p:cNvSpPr txBox="1">
              <a:spLocks noChangeArrowheads="1"/>
            </p:cNvSpPr>
            <p:nvPr/>
          </p:nvSpPr>
          <p:spPr bwMode="auto">
            <a:xfrm>
              <a:off x="834" y="621"/>
              <a:ext cx="4543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1位            8 位                     23位            （短浮点数）</a:t>
              </a:r>
            </a:p>
          </p:txBody>
        </p:sp>
      </p:grpSp>
      <p:sp>
        <p:nvSpPr>
          <p:cNvPr id="65542" name="Rectangle 9"/>
          <p:cNvSpPr>
            <a:spLocks noChangeArrowheads="1"/>
          </p:cNvSpPr>
          <p:nvPr/>
        </p:nvSpPr>
        <p:spPr bwMode="auto">
          <a:xfrm>
            <a:off x="533400" y="523875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2.2.5 实用浮点数举例---</a:t>
            </a:r>
            <a:r>
              <a:rPr lang="en-US" altLang="zh-CN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IEEE754</a:t>
            </a: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标准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064CAF-0E42-1CFB-7931-4B1D8AAD8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2" y="6002325"/>
            <a:ext cx="7976010" cy="546128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533400" y="523875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2.2.5 实用浮点数举例---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IEEE754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标准</a:t>
            </a: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628650" y="2092325"/>
            <a:ext cx="794385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要注意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种特殊情况：</a:t>
            </a:r>
            <a:endParaRPr lang="en-US" altLang="zh-CN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</a:pP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（阶码为全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或全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的情况）</a:t>
            </a:r>
            <a:endParaRPr lang="en-US" altLang="zh-CN" sz="24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533401" y="3071054"/>
            <a:ext cx="8039100" cy="2760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42925" indent="-542925" algn="just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1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）阶码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各位全为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且尾数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的各位也全为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时，浮点数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F=0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； </a:t>
            </a:r>
            <a:endParaRPr lang="en-US" altLang="zh-CN" sz="22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542925" indent="-542925" algn="just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2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）阶码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各位全为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但尾数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的各位非全为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时，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按非正规浮点数阶码：阶码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的真值被解析为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-126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（不是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-127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），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被解析为尾数实际值（即不加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，与规格化浮点数不同）；</a:t>
            </a:r>
            <a:endParaRPr lang="en-US" altLang="zh-CN" sz="22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542925" indent="-542925" algn="just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3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）阶码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各位全为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且尾数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的各位全为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时，浮点数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F=±∞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；</a:t>
            </a:r>
            <a:endParaRPr lang="en-US" altLang="zh-CN" sz="22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542925" indent="-542925" algn="just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4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）阶码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各位全为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且尾数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的各位非全为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时，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为无效浮点。</a:t>
            </a:r>
          </a:p>
        </p:txBody>
      </p:sp>
      <p:pic>
        <p:nvPicPr>
          <p:cNvPr id="6" name="Picture 2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417" y="1069976"/>
            <a:ext cx="6619875" cy="912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0897227"/>
      </p:ext>
    </p:extLst>
  </p:cSld>
  <p:clrMapOvr>
    <a:masterClrMapping/>
  </p:clrMapOvr>
  <p:transition>
    <p:wipe dir="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663575" y="1052513"/>
            <a:ext cx="7897813" cy="435292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本章重点：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1．进制之间的相互转换是最基本的，应当熟练掌握；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2．定点数的原码、补码、变形补码和反码表示，补码特别注意：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① 最小的补码很特殊，没有对应的原码和反码，可单独记；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② “变补”和“求补码” 概念的不同；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③ 补码乘以2(算术左移)和乘以1/2(算术右移)的结果；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3．浮点数的规格化概念，真值</a:t>
            </a: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</a:t>
            </a: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浮点数表示形式；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4．奇偶校验码的校验原理及校验位形成方法；</a:t>
            </a:r>
            <a:endParaRPr kumimoji="0" lang="zh-CN" altLang="en-US" sz="2000">
              <a:solidFill>
                <a:srgbClr val="08080C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5．学会看原文资料，并熟悉其专业名词和术语。</a:t>
            </a:r>
          </a:p>
        </p:txBody>
      </p:sp>
    </p:spTree>
  </p:cSld>
  <p:clrMapOvr>
    <a:masterClrMapping/>
  </p:clrMapOvr>
  <p:transition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ChangeArrowheads="1"/>
          </p:cNvSpPr>
          <p:nvPr/>
        </p:nvSpPr>
        <p:spPr bwMode="auto">
          <a:xfrm>
            <a:off x="635000" y="442913"/>
            <a:ext cx="85090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课堂练习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】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A11D13-FAB9-DEC9-0773-18DD1415A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94" y="1460434"/>
            <a:ext cx="7575939" cy="256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39673"/>
      </p:ext>
    </p:extLst>
  </p:cSld>
  <p:clrMapOvr>
    <a:masterClrMapping/>
  </p:clrMapOvr>
  <p:transition>
    <p:wipe dir="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ChangeArrowheads="1"/>
          </p:cNvSpPr>
          <p:nvPr/>
        </p:nvSpPr>
        <p:spPr bwMode="auto">
          <a:xfrm>
            <a:off x="571500" y="706438"/>
            <a:ext cx="8215313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课堂练习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】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．某浮点数字长32位，格式如下。其中阶码部分8位，以2为底，移码表示；尾数部分一共24位（含1位数符），补码表示。现有一浮点代码为(8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C5A3E00)</a:t>
            </a:r>
            <a:r>
              <a:rPr lang="en-US" altLang="zh-CN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试写出它所表示的十进制真值。（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P46 2-18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题）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0               7   8    9                    31</a:t>
            </a:r>
            <a:endParaRPr lang="zh-CN" altLang="en-US" sz="20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7587" name="Group 17"/>
          <p:cNvGrpSpPr>
            <a:grpSpLocks/>
          </p:cNvGrpSpPr>
          <p:nvPr/>
        </p:nvGrpSpPr>
        <p:grpSpPr bwMode="auto">
          <a:xfrm>
            <a:off x="1390650" y="3921125"/>
            <a:ext cx="6407150" cy="392113"/>
            <a:chOff x="703" y="1916"/>
            <a:chExt cx="3801" cy="295"/>
          </a:xfrm>
        </p:grpSpPr>
        <p:grpSp>
          <p:nvGrpSpPr>
            <p:cNvPr id="67589" name="Group 8"/>
            <p:cNvGrpSpPr>
              <a:grpSpLocks/>
            </p:cNvGrpSpPr>
            <p:nvPr/>
          </p:nvGrpSpPr>
          <p:grpSpPr bwMode="auto">
            <a:xfrm>
              <a:off x="706" y="1916"/>
              <a:ext cx="1460" cy="294"/>
              <a:chOff x="0" y="1305"/>
              <a:chExt cx="1460" cy="634"/>
            </a:xfrm>
          </p:grpSpPr>
          <p:sp>
            <p:nvSpPr>
              <p:cNvPr id="67597" name="Rectangle 4"/>
              <p:cNvSpPr>
                <a:spLocks noChangeArrowheads="1"/>
              </p:cNvSpPr>
              <p:nvPr/>
            </p:nvSpPr>
            <p:spPr bwMode="auto">
              <a:xfrm>
                <a:off x="43" y="1305"/>
                <a:ext cx="1374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阶 码</a:t>
                </a:r>
                <a:endParaRPr lang="zh-CN" altLang="en-US" sz="1000">
                  <a:latin typeface="黑体" pitchFamily="2" charset="-122"/>
                  <a:ea typeface="黑体" pitchFamily="2" charset="-122"/>
                </a:endParaRP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7598" name="Rectangle 7"/>
              <p:cNvSpPr>
                <a:spLocks noChangeArrowheads="1"/>
              </p:cNvSpPr>
              <p:nvPr/>
            </p:nvSpPr>
            <p:spPr bwMode="auto">
              <a:xfrm>
                <a:off x="0" y="1305"/>
                <a:ext cx="1460" cy="63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67590" name="Group 10"/>
            <p:cNvGrpSpPr>
              <a:grpSpLocks/>
            </p:cNvGrpSpPr>
            <p:nvPr/>
          </p:nvGrpSpPr>
          <p:grpSpPr bwMode="auto">
            <a:xfrm>
              <a:off x="2054" y="1916"/>
              <a:ext cx="679" cy="294"/>
              <a:chOff x="1460" y="1305"/>
              <a:chExt cx="463" cy="634"/>
            </a:xfrm>
          </p:grpSpPr>
          <p:sp>
            <p:nvSpPr>
              <p:cNvPr id="67595" name="Rectangle 5"/>
              <p:cNvSpPr>
                <a:spLocks noChangeArrowheads="1"/>
              </p:cNvSpPr>
              <p:nvPr/>
            </p:nvSpPr>
            <p:spPr bwMode="auto">
              <a:xfrm>
                <a:off x="1503" y="1305"/>
                <a:ext cx="377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数符</a:t>
                </a:r>
                <a:endParaRPr lang="zh-CN" altLang="en-US" sz="1000">
                  <a:latin typeface="黑体" pitchFamily="2" charset="-122"/>
                  <a:ea typeface="黑体" pitchFamily="2" charset="-122"/>
                </a:endParaRP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7596" name="Rectangle 9"/>
              <p:cNvSpPr>
                <a:spLocks noChangeArrowheads="1"/>
              </p:cNvSpPr>
              <p:nvPr/>
            </p:nvSpPr>
            <p:spPr bwMode="auto">
              <a:xfrm>
                <a:off x="1460" y="1305"/>
                <a:ext cx="463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67591" name="Group 12"/>
            <p:cNvGrpSpPr>
              <a:grpSpLocks/>
            </p:cNvGrpSpPr>
            <p:nvPr/>
          </p:nvGrpSpPr>
          <p:grpSpPr bwMode="auto">
            <a:xfrm>
              <a:off x="2629" y="1916"/>
              <a:ext cx="1872" cy="294"/>
              <a:chOff x="1923" y="1305"/>
              <a:chExt cx="1872" cy="634"/>
            </a:xfrm>
          </p:grpSpPr>
          <p:sp>
            <p:nvSpPr>
              <p:cNvPr id="67593" name="Rectangle 6"/>
              <p:cNvSpPr>
                <a:spLocks noChangeArrowheads="1"/>
              </p:cNvSpPr>
              <p:nvPr/>
            </p:nvSpPr>
            <p:spPr bwMode="auto">
              <a:xfrm>
                <a:off x="1966" y="1305"/>
                <a:ext cx="1786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尾数</a:t>
                </a:r>
                <a:endParaRPr lang="zh-CN" altLang="en-US" sz="1000">
                  <a:latin typeface="黑体" pitchFamily="2" charset="-122"/>
                  <a:ea typeface="黑体" pitchFamily="2" charset="-122"/>
                </a:endParaRP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7594" name="Rectangle 11"/>
              <p:cNvSpPr>
                <a:spLocks noChangeArrowheads="1"/>
              </p:cNvSpPr>
              <p:nvPr/>
            </p:nvSpPr>
            <p:spPr bwMode="auto">
              <a:xfrm>
                <a:off x="1923" y="1305"/>
                <a:ext cx="1872" cy="63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67592" name="Rectangle 14"/>
            <p:cNvSpPr>
              <a:spLocks noChangeArrowheads="1"/>
            </p:cNvSpPr>
            <p:nvPr/>
          </p:nvSpPr>
          <p:spPr bwMode="auto">
            <a:xfrm>
              <a:off x="703" y="1923"/>
              <a:ext cx="3801" cy="288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67588" name="Rectangle 16"/>
          <p:cNvSpPr>
            <a:spLocks noChangeArrowheads="1"/>
          </p:cNvSpPr>
          <p:nvPr/>
        </p:nvSpPr>
        <p:spPr bwMode="auto">
          <a:xfrm>
            <a:off x="914400" y="4770438"/>
            <a:ext cx="8229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. 将十进制数28.75转换为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IEEE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短浮点数。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（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P46 2-20(1)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题）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ChangeArrowheads="1"/>
          </p:cNvSpPr>
          <p:nvPr/>
        </p:nvSpPr>
        <p:spPr bwMode="auto">
          <a:xfrm>
            <a:off x="723900" y="862013"/>
            <a:ext cx="6464300" cy="166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习题：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P47 2-15, 2-18, 2-20(1)(3)(5),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2-21(1)(3)</a:t>
            </a:r>
            <a:r>
              <a:rPr lang="en-US" altLang="zh-CN" sz="2400" dirty="0">
                <a:solidFill>
                  <a:srgbClr val="E1E1E1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E1E1E1"/>
                </a:solidFill>
                <a:latin typeface="黑体" pitchFamily="2" charset="-122"/>
                <a:ea typeface="黑体" pitchFamily="2" charset="-122"/>
              </a:rPr>
              <a:t>23, 24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dirty="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5"/>
          <p:cNvSpPr>
            <a:spLocks noChangeArrowheads="1"/>
          </p:cNvSpPr>
          <p:nvPr/>
        </p:nvSpPr>
        <p:spPr bwMode="auto">
          <a:xfrm>
            <a:off x="342900" y="341313"/>
            <a:ext cx="66929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§2.3 非数值数据的表示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2.3.1字符和字符串的表示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9635" name="Rectangle 7"/>
          <p:cNvSpPr>
            <a:spLocks noChangeArrowheads="1"/>
          </p:cNvSpPr>
          <p:nvPr/>
        </p:nvSpPr>
        <p:spPr bwMode="auto">
          <a:xfrm>
            <a:off x="431800" y="1595438"/>
            <a:ext cx="8280400" cy="2498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1. 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ASCII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字符编码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ASCII----A</a:t>
            </a:r>
            <a:r>
              <a:rPr lang="en-US" altLang="zh-CN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merican 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tandard 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ode for 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nformation 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nterchange)</a:t>
            </a:r>
            <a:endParaRPr lang="en-US" altLang="zh-CN" sz="2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通常用1字节存放1个字符，用7位二进制编码，最高位作为 校验位，设为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。它包括数字0～9、</a:t>
            </a:r>
            <a:r>
              <a:rPr lang="en-US" altLang="zh-CN" sz="24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A～Z、a～z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等128个字符。</a:t>
            </a:r>
            <a:endParaRPr lang="en-US" altLang="zh-CN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80264" name="Rectangle 8"/>
          <p:cNvSpPr>
            <a:spLocks noChangeArrowheads="1"/>
          </p:cNvSpPr>
          <p:nvPr/>
        </p:nvSpPr>
        <p:spPr bwMode="auto">
          <a:xfrm>
            <a:off x="431800" y="4022350"/>
            <a:ext cx="8420100" cy="2480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2．字符串的存放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字符串采用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向量存放法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，即在存储器中占用一片连续的空间，每个字节存放一个字符的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ASCII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码。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也可采用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串表法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，不要求各个字符在物理上相邻，每个字符代 码后有一个链接字，指出下一个字符的地址。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64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6"/>
          <p:cNvSpPr>
            <a:spLocks noChangeArrowheads="1"/>
          </p:cNvSpPr>
          <p:nvPr/>
        </p:nvSpPr>
        <p:spPr bwMode="auto">
          <a:xfrm>
            <a:off x="635000" y="485775"/>
            <a:ext cx="712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2.3.2 汉字的表示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635000" y="1086393"/>
            <a:ext cx="7985183" cy="299351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630238" algn="just" eaLnBrk="1" hangingPunct="1">
              <a:lnSpc>
                <a:spcPct val="120000"/>
              </a:lnSpc>
              <a:spcBef>
                <a:spcPct val="10000"/>
              </a:spcBef>
              <a:buClr>
                <a:srgbClr val="FF0000"/>
              </a:buClr>
              <a:buSzPct val="80000"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汉字也是字符，与西文字符比较，汉字数量大，远比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256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种多，何况也不能占用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ASCII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码已经使用的码值，目前采用两个字节来表示一个汉字。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0" indent="630238" algn="just" eaLnBrk="1" hangingPunct="1">
              <a:lnSpc>
                <a:spcPct val="120000"/>
              </a:lnSpc>
              <a:spcBef>
                <a:spcPct val="10000"/>
              </a:spcBef>
              <a:buClr>
                <a:srgbClr val="FF0000"/>
              </a:buClr>
              <a:buSzPct val="80000"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汉字数量大，字形复杂，同音字多，这就给汉字在计算机内部的存储、传输、交换、输入、输出等带来了一系列的问题。汉字的编码规则还没有统一。在我国大陆采用的标准是</a:t>
            </a:r>
            <a:r>
              <a:rPr lang="en-US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GB2312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43400"/>
            <a:ext cx="9339318" cy="132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169775" y="5682014"/>
            <a:ext cx="3436124" cy="408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0615" tIns="65308" rIns="130615" bIns="65308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计算机对于汉字的处理流程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6"/>
          <p:cNvSpPr>
            <a:spLocks noChangeArrowheads="1"/>
          </p:cNvSpPr>
          <p:nvPr/>
        </p:nvSpPr>
        <p:spPr bwMode="auto">
          <a:xfrm>
            <a:off x="635000" y="485775"/>
            <a:ext cx="712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2.3.2 汉字的表示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0659" name="Rectangle 7"/>
          <p:cNvSpPr>
            <a:spLocks noChangeArrowheads="1"/>
          </p:cNvSpPr>
          <p:nvPr/>
        </p:nvSpPr>
        <p:spPr bwMode="auto">
          <a:xfrm>
            <a:off x="520700" y="889000"/>
            <a:ext cx="7353300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1．汉字输入编码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用于将汉字输入到计算机内部。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81289" name="Rectangle 9"/>
          <p:cNvSpPr>
            <a:spLocks noChangeArrowheads="1"/>
          </p:cNvSpPr>
          <p:nvPr/>
        </p:nvSpPr>
        <p:spPr bwMode="auto">
          <a:xfrm>
            <a:off x="660400" y="2033588"/>
            <a:ext cx="7998968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866775" indent="-869950" algn="just">
              <a:lnSpc>
                <a:spcPct val="150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要求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：操作简单、容易记忆、码位短、输入速度快。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marL="866775" indent="-869950"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类型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：拼音编码、字形编码、数字编码、整字编码、其他(如语音识别和手写输入)等。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marL="866775" indent="-869950" algn="just" eaLnBrk="0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例如，简拼、全拼、五笔、区位、智能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ABC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等。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866775" indent="-869950" algn="just" eaLnBrk="0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Tx/>
            </a:pP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区位码：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位十进制数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表示，将6763个汉字分为94个区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每区中包含94个汉字(位)。</a:t>
            </a:r>
          </a:p>
        </p:txBody>
      </p:sp>
    </p:spTree>
    <p:extLst>
      <p:ext uri="{BB962C8B-B14F-4D97-AF65-F5344CB8AC3E}">
        <p14:creationId xmlns:p14="http://schemas.microsoft.com/office/powerpoint/2010/main" val="218973823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9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9"/>
          <p:cNvSpPr>
            <a:spLocks noChangeArrowheads="1"/>
          </p:cNvSpPr>
          <p:nvPr/>
        </p:nvSpPr>
        <p:spPr bwMode="auto">
          <a:xfrm>
            <a:off x="635000" y="485775"/>
            <a:ext cx="712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2.3.2 汉字的表示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1683" name="Rectangle 10"/>
          <p:cNvSpPr>
            <a:spLocks noChangeArrowheads="1"/>
          </p:cNvSpPr>
          <p:nvPr/>
        </p:nvSpPr>
        <p:spPr bwMode="auto">
          <a:xfrm>
            <a:off x="990600" y="987679"/>
            <a:ext cx="57277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2．国标码和汉字内码（汉字机内码）</a:t>
            </a:r>
            <a:r>
              <a:rPr lang="zh-CN" altLang="en-US" sz="11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6653" name="Rectangle 13"/>
          <p:cNvSpPr>
            <a:spLocks noChangeArrowheads="1"/>
          </p:cNvSpPr>
          <p:nvPr/>
        </p:nvSpPr>
        <p:spPr bwMode="auto">
          <a:xfrm>
            <a:off x="952500" y="1470279"/>
            <a:ext cx="7975600" cy="1852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6350"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(1) 国标码</a:t>
            </a:r>
            <a:r>
              <a:rPr lang="en-US" altLang="zh-CN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GB2312-80：</a:t>
            </a:r>
            <a:endParaRPr lang="en-US" altLang="zh-CN" sz="2200" dirty="0">
              <a:latin typeface="黑体" pitchFamily="2" charset="-122"/>
              <a:ea typeface="黑体" pitchFamily="2" charset="-122"/>
            </a:endParaRPr>
          </a:p>
          <a:p>
            <a:pPr indent="6350"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国家标准“信息交换用汉字编码字符集(基本集)” 简称。</a:t>
            </a:r>
            <a:endParaRPr lang="zh-CN" altLang="en-US" sz="2200" dirty="0">
              <a:latin typeface="黑体" pitchFamily="2" charset="-122"/>
              <a:ea typeface="黑体" pitchFamily="2" charset="-122"/>
            </a:endParaRPr>
          </a:p>
          <a:p>
            <a:pPr indent="6350" algn="just" eaLnBrk="0" hangingPunc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共收集常用汉字6763个、各种图形符号682个。</a:t>
            </a:r>
            <a:endParaRPr lang="zh-CN" altLang="en-US" sz="2200" dirty="0">
              <a:latin typeface="黑体" pitchFamily="2" charset="-122"/>
              <a:ea typeface="黑体" pitchFamily="2" charset="-122"/>
            </a:endParaRPr>
          </a:p>
          <a:p>
            <a:pPr indent="6350"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一个汉字用两个字节表示，每个字节的最高位为</a:t>
            </a:r>
            <a:r>
              <a:rPr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2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6654" name="Rectangle 14"/>
          <p:cNvSpPr>
            <a:spLocks noChangeArrowheads="1"/>
          </p:cNvSpPr>
          <p:nvPr/>
        </p:nvSpPr>
        <p:spPr bwMode="auto">
          <a:xfrm>
            <a:off x="431800" y="3515678"/>
            <a:ext cx="8343900" cy="97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560388"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) 汉字机内码：</a:t>
            </a:r>
            <a:endParaRPr lang="zh-CN" altLang="en-US" sz="2200" dirty="0">
              <a:latin typeface="黑体" pitchFamily="2" charset="-122"/>
              <a:ea typeface="黑体" pitchFamily="2" charset="-122"/>
            </a:endParaRPr>
          </a:p>
          <a:p>
            <a:pPr indent="560388"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计算机内部进行汉字信息的存储、交换和处理的代码。</a:t>
            </a:r>
            <a:endParaRPr lang="zh-CN" altLang="en-US" sz="22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6655" name="Rectangle 15"/>
          <p:cNvSpPr>
            <a:spLocks noChangeArrowheads="1"/>
          </p:cNvSpPr>
          <p:nvPr/>
        </p:nvSpPr>
        <p:spPr bwMode="auto">
          <a:xfrm>
            <a:off x="965200" y="4455859"/>
            <a:ext cx="8178800" cy="1257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汉字机内码每个汉字也是占2个字节，但为了保证计算机中汉字处理系统的中西文兼容，</a:t>
            </a:r>
            <a:r>
              <a:rPr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机内码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的每个字节</a:t>
            </a:r>
            <a:r>
              <a:rPr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最高位为1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，而</a:t>
            </a:r>
            <a:r>
              <a:rPr lang="en-US" altLang="zh-CN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ASCII</a:t>
            </a:r>
            <a:r>
              <a:rPr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码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的字节最高位为</a:t>
            </a:r>
            <a:r>
              <a:rPr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2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53" grpId="0" autoUpdateAnimBg="0"/>
      <p:bldP spid="496654" grpId="0" autoUpdateAnimBg="0"/>
      <p:bldP spid="496655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7"/>
          <p:cNvSpPr txBox="1">
            <a:spLocks noChangeArrowheads="1"/>
          </p:cNvSpPr>
          <p:nvPr/>
        </p:nvSpPr>
        <p:spPr bwMode="auto">
          <a:xfrm>
            <a:off x="1612900" y="1609725"/>
            <a:ext cx="6146800" cy="1485900"/>
          </a:xfrm>
          <a:prstGeom prst="rect">
            <a:avLst/>
          </a:prstGeom>
          <a:gradFill rotWithShape="0">
            <a:gsLst>
              <a:gs pos="0">
                <a:srgbClr val="F5E3F3"/>
              </a:gs>
              <a:gs pos="50000">
                <a:srgbClr val="F5E3F3"/>
              </a:gs>
              <a:gs pos="100000">
                <a:srgbClr val="F5E3F3"/>
              </a:gs>
            </a:gsLst>
            <a:lin ang="2700000" scaled="1"/>
          </a:gradFill>
          <a:ln w="19050">
            <a:solidFill>
              <a:srgbClr val="000099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国标码 ＝ 区位码（十六进制）+ 2020</a:t>
            </a:r>
            <a:r>
              <a:rPr kumimoji="0"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H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机内码 ＝ 国标码（十六进制）+ 8080</a:t>
            </a:r>
            <a:r>
              <a:rPr kumimoji="0"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H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kumimoji="0"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＝ </a:t>
            </a:r>
            <a:r>
              <a:rPr kumimoji="0"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区位码（十六进制）+ </a:t>
            </a:r>
            <a:r>
              <a:rPr kumimoji="0"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A0A0H</a:t>
            </a:r>
          </a:p>
        </p:txBody>
      </p:sp>
      <p:grpSp>
        <p:nvGrpSpPr>
          <p:cNvPr id="72707" name="Group 18"/>
          <p:cNvGrpSpPr>
            <a:grpSpLocks/>
          </p:cNvGrpSpPr>
          <p:nvPr/>
        </p:nvGrpSpPr>
        <p:grpSpPr bwMode="auto">
          <a:xfrm>
            <a:off x="4686300" y="4833481"/>
            <a:ext cx="3073400" cy="1238250"/>
            <a:chOff x="3064" y="3213"/>
            <a:chExt cx="1770" cy="780"/>
          </a:xfrm>
        </p:grpSpPr>
        <p:grpSp>
          <p:nvGrpSpPr>
            <p:cNvPr id="72711" name="Group 11"/>
            <p:cNvGrpSpPr>
              <a:grpSpLocks/>
            </p:cNvGrpSpPr>
            <p:nvPr/>
          </p:nvGrpSpPr>
          <p:grpSpPr bwMode="auto">
            <a:xfrm>
              <a:off x="3242" y="3620"/>
              <a:ext cx="964" cy="27"/>
              <a:chOff x="2985" y="2670"/>
              <a:chExt cx="1470" cy="0"/>
            </a:xfrm>
          </p:grpSpPr>
          <p:sp>
            <p:nvSpPr>
              <p:cNvPr id="72713" name="Line 12"/>
              <p:cNvSpPr>
                <a:spLocks noChangeShapeType="1"/>
              </p:cNvSpPr>
              <p:nvPr/>
            </p:nvSpPr>
            <p:spPr bwMode="auto">
              <a:xfrm>
                <a:off x="2985" y="2670"/>
                <a:ext cx="660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72714" name="Line 13"/>
              <p:cNvSpPr>
                <a:spLocks noChangeShapeType="1"/>
              </p:cNvSpPr>
              <p:nvPr/>
            </p:nvSpPr>
            <p:spPr bwMode="auto">
              <a:xfrm>
                <a:off x="3795" y="2670"/>
                <a:ext cx="660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72712" name="Text Box 14"/>
            <p:cNvSpPr txBox="1">
              <a:spLocks noChangeArrowheads="1"/>
            </p:cNvSpPr>
            <p:nvPr/>
          </p:nvSpPr>
          <p:spPr bwMode="auto">
            <a:xfrm>
              <a:off x="3064" y="3213"/>
              <a:ext cx="1770" cy="780"/>
            </a:xfrm>
            <a:prstGeom prst="rect">
              <a:avLst/>
            </a:prstGeom>
            <a:noFill/>
            <a:ln w="9525">
              <a:solidFill>
                <a:srgbClr val="00008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6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kumimoji="0"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36</a:t>
              </a:r>
              <a:r>
                <a:rPr kumimoji="0" lang="en-US" altLang="zh-CN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H     </a:t>
              </a:r>
              <a:r>
                <a:rPr kumimoji="0" lang="en-US" altLang="zh-CN" sz="2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30H </a:t>
              </a:r>
              <a:r>
                <a:rPr kumimoji="0" lang="en-US" altLang="zh-CN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</a:t>
              </a:r>
              <a:r>
                <a:rPr kumimoji="0" lang="en-US" altLang="zh-CN" sz="2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A0H</a:t>
              </a:r>
              <a:r>
                <a:rPr kumimoji="0" lang="en-US" altLang="zh-CN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+</a:t>
              </a:r>
              <a:r>
                <a:rPr kumimoji="0" lang="en-US" altLang="zh-CN" sz="2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A0H</a:t>
              </a:r>
              <a:r>
                <a:rPr kumimoji="0" lang="en-US" altLang="zh-CN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kumimoji="0" lang="en-US" altLang="zh-CN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D6H </a:t>
              </a:r>
              <a:r>
                <a:rPr kumimoji="0" lang="en-US" altLang="zh-CN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</a:t>
              </a:r>
              <a:r>
                <a:rPr kumimoji="0" lang="en-US" altLang="zh-CN" sz="2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D0H</a:t>
              </a:r>
            </a:p>
          </p:txBody>
        </p:sp>
      </p:grpSp>
      <p:sp>
        <p:nvSpPr>
          <p:cNvPr id="72708" name="Rectangle 15"/>
          <p:cNvSpPr>
            <a:spLocks noChangeArrowheads="1"/>
          </p:cNvSpPr>
          <p:nvPr/>
        </p:nvSpPr>
        <p:spPr bwMode="auto">
          <a:xfrm>
            <a:off x="635000" y="485775"/>
            <a:ext cx="712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2.3.2 汉字的表示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709" name="Rectangle 16"/>
          <p:cNvSpPr>
            <a:spLocks noChangeArrowheads="1"/>
          </p:cNvSpPr>
          <p:nvPr/>
        </p:nvSpPr>
        <p:spPr bwMode="auto">
          <a:xfrm>
            <a:off x="838200" y="1019175"/>
            <a:ext cx="713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区位码、国标码和汉字内码之间的关系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710" name="Rectangle 17"/>
          <p:cNvSpPr>
            <a:spLocks noChangeArrowheads="1"/>
          </p:cNvSpPr>
          <p:nvPr/>
        </p:nvSpPr>
        <p:spPr bwMode="auto">
          <a:xfrm>
            <a:off x="736600" y="3289300"/>
            <a:ext cx="69215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例：“中”字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区位码：</a:t>
            </a:r>
            <a:r>
              <a:rPr lang="zh-CN" altLang="en-US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54</a:t>
            </a:r>
            <a:r>
              <a:rPr lang="zh-CN" altLang="en-US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48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(在</a:t>
            </a:r>
            <a:r>
              <a:rPr lang="zh-CN" altLang="en-US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54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区的</a:t>
            </a:r>
            <a:r>
              <a:rPr lang="zh-CN" altLang="en-US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48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位上)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         (即</a:t>
            </a:r>
            <a:r>
              <a:rPr lang="zh-CN" altLang="en-US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36</a:t>
            </a:r>
            <a:r>
              <a:rPr lang="en-US" altLang="zh-CN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区的</a:t>
            </a:r>
            <a:r>
              <a:rPr lang="zh-CN" altLang="en-US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30</a:t>
            </a:r>
            <a:r>
              <a:rPr lang="en-US" altLang="zh-CN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位上)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国标码  </a:t>
            </a:r>
            <a:r>
              <a:rPr lang="zh-CN" altLang="en-US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56</a:t>
            </a:r>
            <a:r>
              <a:rPr lang="zh-CN" altLang="en-US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50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H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机内码  </a:t>
            </a:r>
            <a:r>
              <a:rPr lang="en-US" altLang="zh-CN" sz="24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D6</a:t>
            </a:r>
            <a:r>
              <a:rPr lang="en-US" altLang="zh-CN" sz="24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D0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H </a:t>
            </a:r>
            <a:endParaRPr lang="en-US" altLang="zh-CN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3"/>
          <p:cNvSpPr>
            <a:spLocks noChangeArrowheads="1"/>
          </p:cNvSpPr>
          <p:nvPr/>
        </p:nvSpPr>
        <p:spPr bwMode="auto">
          <a:xfrm>
            <a:off x="635000" y="485775"/>
            <a:ext cx="712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2.3.2 汉字的表示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3731" name="Rectangle 14"/>
          <p:cNvSpPr>
            <a:spLocks noChangeArrowheads="1"/>
          </p:cNvSpPr>
          <p:nvPr/>
        </p:nvSpPr>
        <p:spPr bwMode="auto">
          <a:xfrm>
            <a:off x="533400" y="1049338"/>
            <a:ext cx="8405813" cy="312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3．汉字地址码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marL="378695" indent="457200" algn="l" eaLnBrk="1" hangingPunct="1">
              <a:lnSpc>
                <a:spcPct val="100000"/>
              </a:lnSpc>
              <a:buNone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每个汉字字形码在汉字字库中的相对位移地址，地址码和机内码之间有简明的对应转换关系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．汉字字模码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用于汉字的字形显示输出。有向量编码和点阵码。点阵码每个汉字采用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N×N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的点表示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形成若干字节的二进制编码。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例如，16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16汉字点阵每个汉字用32字节表示。</a:t>
            </a:r>
            <a:r>
              <a:rPr lang="zh-CN" altLang="en-US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498703" name="Rectangle 15"/>
          <p:cNvSpPr>
            <a:spLocks noChangeArrowheads="1"/>
          </p:cNvSpPr>
          <p:nvPr/>
        </p:nvSpPr>
        <p:spPr bwMode="auto">
          <a:xfrm>
            <a:off x="688975" y="4666552"/>
            <a:ext cx="7696200" cy="427037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noFill/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 ？</a:t>
            </a:r>
            <a:r>
              <a:rPr lang="zh-CN" altLang="en-US" sz="2400" i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思考：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汉字点阵每个汉字用多少字节表示</a:t>
            </a:r>
            <a:r>
              <a:rPr lang="zh-CN" altLang="en-US" sz="2400" i="1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？</a:t>
            </a:r>
            <a:r>
              <a:rPr lang="zh-CN" altLang="en-US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</p:cSld>
  <p:clrMapOvr>
    <a:masterClrMapping/>
  </p:clrMapOvr>
  <p:transition>
    <p:wipe dir="d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3"/>
          <p:cNvSpPr>
            <a:spLocks noChangeArrowheads="1"/>
          </p:cNvSpPr>
          <p:nvPr/>
        </p:nvSpPr>
        <p:spPr bwMode="auto">
          <a:xfrm>
            <a:off x="635000" y="485775"/>
            <a:ext cx="712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2.3.2 汉字的表示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0120" name="Rectangle 14"/>
          <p:cNvSpPr>
            <a:spLocks noChangeArrowheads="1"/>
          </p:cNvSpPr>
          <p:nvPr/>
        </p:nvSpPr>
        <p:spPr bwMode="auto">
          <a:xfrm>
            <a:off x="287782" y="1353693"/>
            <a:ext cx="865505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．汉字编码的发展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GB2312 ——1980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年发布，简体中文，收录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6763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个汉字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GB12345——1990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年发布，繁体字的编码标准，收录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6866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个汉字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GB18030——2000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年底发布，大字符集标准，兼容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GB2312,                   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可涵盖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27484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个汉字，繁、简字均处于同一个平台。</a:t>
            </a:r>
            <a:endParaRPr lang="zh-CN" altLang="en-US" sz="2400" dirty="0">
              <a:solidFill>
                <a:srgbClr val="00008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9400454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1">
            <a:extLst>
              <a:ext uri="{FF2B5EF4-FFF2-40B4-BE49-F238E27FC236}">
                <a16:creationId xmlns:a16="http://schemas.microsoft.com/office/drawing/2014/main" id="{173D476F-1632-7268-B252-BD65369C6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924800" y="6502400"/>
            <a:ext cx="9906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b="0" kern="1200">
                <a:solidFill>
                  <a:schemeClr val="fol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b="1" kern="12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b="1" kern="12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b="1" kern="12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b="1" kern="12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600" b="1" kern="12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600" b="1" kern="12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600" b="1" kern="12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600" b="1" kern="12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A9AFE20-31EE-40FE-A193-520C7BC1A55B}" type="slidenum">
              <a:rPr lang="zh-CN" altLang="en-US" smtClean="0"/>
              <a:pPr>
                <a:defRPr/>
              </a:pPr>
              <a:t>78</a:t>
            </a:fld>
            <a:endParaRPr kumimoji="0" lang="en-US" altLang="zh-CN" sz="1400" b="0">
              <a:solidFill>
                <a:schemeClr val="folHlink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8C8289F-84F2-CAA0-5E0F-6519A1D2D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365125"/>
            <a:ext cx="8307388" cy="2755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200" dirty="0">
                <a:solidFill>
                  <a:srgbClr val="800000"/>
                </a:solidFill>
                <a:latin typeface="宋体" panose="02010600030101010101" pitchFamily="2" charset="-122"/>
              </a:rPr>
              <a:t>2.3.3 统一代码(</a:t>
            </a:r>
            <a:r>
              <a:rPr lang="en-US" altLang="zh-CN" sz="2200" dirty="0">
                <a:solidFill>
                  <a:srgbClr val="800000"/>
                </a:solidFill>
                <a:latin typeface="宋体" panose="02010600030101010101" pitchFamily="2" charset="-122"/>
              </a:rPr>
              <a:t>Unicode)</a:t>
            </a:r>
            <a:endParaRPr lang="en-US" altLang="zh-CN" sz="1000" dirty="0"/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能表示6800种语言中任意一种语言里使用的所有符号的一种全新的编码方法。这种字符集被称为基本多语言平面（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BMP）</a:t>
            </a:r>
            <a:endParaRPr lang="en-US" altLang="zh-CN" sz="1000" dirty="0"/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>
                <a:solidFill>
                  <a:srgbClr val="FF0000"/>
                </a:solidFill>
                <a:latin typeface="宋体" panose="02010600030101010101" pitchFamily="2" charset="-122"/>
              </a:rPr>
              <a:t>USC-2：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用2字节表示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Unicode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字符；</a:t>
            </a:r>
            <a:endParaRPr lang="en-US" altLang="zh-CN" sz="1000" dirty="0"/>
          </a:p>
          <a:p>
            <a:pPr algn="just">
              <a:lnSpc>
                <a:spcPct val="150000"/>
              </a:lnSpc>
            </a:pPr>
            <a:r>
              <a:rPr lang="en-US" altLang="zh-CN" sz="1000" dirty="0">
                <a:solidFill>
                  <a:srgbClr val="FF0000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2200" dirty="0">
                <a:solidFill>
                  <a:srgbClr val="FF0000"/>
                </a:solidFill>
                <a:latin typeface="宋体" panose="02010600030101010101" pitchFamily="2" charset="-122"/>
              </a:rPr>
              <a:t>USC-4：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用4字节表示</a:t>
            </a:r>
            <a:r>
              <a:rPr lang="en-US" altLang="zh-CN" sz="2200" dirty="0">
                <a:solidFill>
                  <a:srgbClr val="000080"/>
                </a:solidFill>
                <a:latin typeface="宋体" panose="02010600030101010101" pitchFamily="2" charset="-122"/>
              </a:rPr>
              <a:t>Unicode</a:t>
            </a:r>
            <a:r>
              <a:rPr lang="zh-CN" altLang="en-US" sz="2200" dirty="0">
                <a:solidFill>
                  <a:srgbClr val="000080"/>
                </a:solidFill>
                <a:latin typeface="宋体" panose="02010600030101010101" pitchFamily="2" charset="-122"/>
              </a:rPr>
              <a:t>字符。</a:t>
            </a:r>
            <a:r>
              <a:rPr lang="zh-CN" altLang="en-US" sz="1100" dirty="0"/>
              <a:t> </a:t>
            </a: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CC3120A4-CFD2-6EC0-5C8E-16BB38299E52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3292475"/>
            <a:ext cx="7188200" cy="2630488"/>
            <a:chOff x="392" y="2074"/>
            <a:chExt cx="4528" cy="1657"/>
          </a:xfrm>
        </p:grpSpPr>
        <p:sp>
          <p:nvSpPr>
            <p:cNvPr id="70661" name="Rectangle 3">
              <a:extLst>
                <a:ext uri="{FF2B5EF4-FFF2-40B4-BE49-F238E27FC236}">
                  <a16:creationId xmlns:a16="http://schemas.microsoft.com/office/drawing/2014/main" id="{1E971BC0-A2B1-38A0-FBC0-7D94B3988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" y="2074"/>
              <a:ext cx="45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600" b="1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200">
                  <a:solidFill>
                    <a:srgbClr val="000080"/>
                  </a:solidFill>
                  <a:latin typeface="宋体" panose="02010600030101010101" pitchFamily="2" charset="-122"/>
                </a:rPr>
                <a:t>    </a:t>
              </a:r>
              <a:r>
                <a:rPr lang="en-US" altLang="zh-CN" sz="2200">
                  <a:solidFill>
                    <a:srgbClr val="000080"/>
                  </a:solidFill>
                  <a:latin typeface="宋体" panose="02010600030101010101" pitchFamily="2" charset="-122"/>
                </a:rPr>
                <a:t>PC</a:t>
              </a:r>
              <a:r>
                <a:rPr lang="zh-CN" altLang="en-US" sz="2200">
                  <a:solidFill>
                    <a:srgbClr val="000080"/>
                  </a:solidFill>
                  <a:latin typeface="宋体" panose="02010600030101010101" pitchFamily="2" charset="-122"/>
                </a:rPr>
                <a:t>机中表示语言符号的3种方法：</a:t>
              </a:r>
              <a:r>
                <a:rPr lang="zh-CN" altLang="en-US" sz="1100"/>
                <a:t> </a:t>
              </a:r>
              <a:endParaRPr lang="zh-CN" altLang="en-US" sz="2400" b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70662" name="Object 4">
              <a:extLst>
                <a:ext uri="{FF2B5EF4-FFF2-40B4-BE49-F238E27FC236}">
                  <a16:creationId xmlns:a16="http://schemas.microsoft.com/office/drawing/2014/main" id="{F9A59476-154D-9529-1479-69D14BA406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1" y="2421"/>
            <a:ext cx="2934" cy="1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116580" imgH="1389380" progId="Visio.Drawing.6">
                    <p:embed/>
                  </p:oleObj>
                </mc:Choice>
                <mc:Fallback>
                  <p:oleObj r:id="rId2" imgW="3116580" imgH="1389380" progId="Visio.Drawing.6">
                    <p:embed/>
                    <p:pic>
                      <p:nvPicPr>
                        <p:cNvPr id="70662" name="Object 4">
                          <a:extLst>
                            <a:ext uri="{FF2B5EF4-FFF2-40B4-BE49-F238E27FC236}">
                              <a16:creationId xmlns:a16="http://schemas.microsoft.com/office/drawing/2014/main" id="{F9A59476-154D-9529-1479-69D14BA406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1" y="2421"/>
                          <a:ext cx="2934" cy="131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7E9F6"/>
                            </a:gs>
                            <a:gs pos="50000">
                              <a:srgbClr val="F7E9F6"/>
                            </a:gs>
                            <a:gs pos="100000">
                              <a:srgbClr val="F7E9F6"/>
                            </a:gs>
                          </a:gsLst>
                          <a:lin ang="2700000" scaled="1"/>
                        </a:gradFill>
                        <a:ln w="19050">
                          <a:solidFill>
                            <a:srgbClr val="000099"/>
                          </a:solidFill>
                          <a:prstDash val="sysDot"/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1"/>
          <p:cNvSpPr>
            <a:spLocks noChangeArrowheads="1"/>
          </p:cNvSpPr>
          <p:nvPr/>
        </p:nvSpPr>
        <p:spPr bwMode="auto">
          <a:xfrm>
            <a:off x="558800" y="328613"/>
            <a:ext cx="6781800" cy="115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§2.4 十进制数和数串的表示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2.4.1十进制数的编码</a:t>
            </a:r>
            <a:r>
              <a:rPr lang="zh-CN" altLang="en-US" sz="11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4755" name="Rectangle 32"/>
          <p:cNvSpPr>
            <a:spLocks noChangeArrowheads="1"/>
          </p:cNvSpPr>
          <p:nvPr/>
        </p:nvSpPr>
        <p:spPr bwMode="auto">
          <a:xfrm>
            <a:off x="647700" y="1585913"/>
            <a:ext cx="8039100" cy="1501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用四位二进制数来表示一位十进制数，称为二进制编码的十进制数（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Binary-Code Decimal），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简称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BCD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码。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7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常见的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BCD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编码有8421码、2421码、余3码等。</a:t>
            </a:r>
            <a:r>
              <a:rPr lang="zh-CN" altLang="en-US" sz="11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206145"/>
              </p:ext>
            </p:extLst>
          </p:nvPr>
        </p:nvGraphicFramePr>
        <p:xfrm>
          <a:off x="1296988" y="1168400"/>
          <a:ext cx="6816725" cy="39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73368" imgH="3619770" progId="Word.Document.8">
                  <p:embed/>
                </p:oleObj>
              </mc:Choice>
              <mc:Fallback>
                <p:oleObj name="Document" r:id="rId2" imgW="6173368" imgH="3619770" progId="Word.Document.8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1168400"/>
                        <a:ext cx="6816725" cy="399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9" name="Rectangle 32"/>
          <p:cNvSpPr>
            <a:spLocks noChangeArrowheads="1"/>
          </p:cNvSpPr>
          <p:nvPr/>
        </p:nvSpPr>
        <p:spPr bwMode="auto">
          <a:xfrm>
            <a:off x="228600" y="511175"/>
            <a:ext cx="722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常见的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BCD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编码有8421码、2421码、余3码等。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5780" name="Rectangle 60"/>
          <p:cNvSpPr>
            <a:spLocks noChangeArrowheads="1"/>
          </p:cNvSpPr>
          <p:nvPr/>
        </p:nvSpPr>
        <p:spPr bwMode="auto">
          <a:xfrm>
            <a:off x="838200" y="4927600"/>
            <a:ext cx="7429500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例：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两位十进制数39 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可表示为 (0011 1001)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8421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或 (0110 1100)</a:t>
            </a:r>
            <a:r>
              <a:rPr lang="zh-CN" altLang="en-US" sz="24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余3码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ChangeArrowheads="1"/>
          </p:cNvSpPr>
          <p:nvPr/>
        </p:nvSpPr>
        <p:spPr bwMode="auto">
          <a:xfrm>
            <a:off x="635000" y="438150"/>
            <a:ext cx="8161759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2.4.2 十进制数串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非压缩的十进制数串表示法：一个字节存放一个十进制数或符号的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ASCII-7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码；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压缩的十进制数串表示法：一个字节存放两位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BCD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码表示的十进制数。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5380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7290821"/>
              </p:ext>
            </p:extLst>
          </p:nvPr>
        </p:nvGraphicFramePr>
        <p:xfrm>
          <a:off x="898525" y="3275013"/>
          <a:ext cx="7700963" cy="305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29100" imgH="2042160" progId="">
                  <p:embed/>
                </p:oleObj>
              </mc:Choice>
              <mc:Fallback>
                <p:oleObj r:id="rId2" imgW="4229100" imgH="2042160" progId="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3275013"/>
                        <a:ext cx="7700963" cy="30591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8ECF7"/>
                          </a:gs>
                          <a:gs pos="50000">
                            <a:srgbClr val="F8ECF7"/>
                          </a:gs>
                          <a:gs pos="100000">
                            <a:srgbClr val="F8ECF7"/>
                          </a:gs>
                        </a:gsLst>
                        <a:lin ang="2700000" scaled="1"/>
                      </a:gradFill>
                      <a:ln w="19050">
                        <a:solidFill>
                          <a:srgbClr val="000099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7" name="Rectangle 5"/>
          <p:cNvSpPr>
            <a:spLocks noChangeArrowheads="1"/>
          </p:cNvSpPr>
          <p:nvPr/>
        </p:nvSpPr>
        <p:spPr bwMode="auto">
          <a:xfrm>
            <a:off x="558800" y="495300"/>
            <a:ext cx="80375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§2.5 现代微机系统数据表示举例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7828" name="Rectangle 6"/>
          <p:cNvSpPr>
            <a:spLocks noChangeArrowheads="1"/>
          </p:cNvSpPr>
          <p:nvPr/>
        </p:nvSpPr>
        <p:spPr bwMode="auto">
          <a:xfrm>
            <a:off x="685800" y="1112838"/>
            <a:ext cx="8069263" cy="223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现代的微机系统大多采用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Intel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系列的微处理器，近年来，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Intel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的微处理器有了极大的发展，形成了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IA-32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结构。最新的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Itanium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处理器是第一款真正64位产品（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IA-64）。</a:t>
            </a:r>
            <a:endParaRPr lang="en-US" altLang="zh-CN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IA-32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结构的基本数据类型是字节、字、双字、四字和双四字。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ChangeArrowheads="1"/>
          </p:cNvSpPr>
          <p:nvPr/>
        </p:nvSpPr>
        <p:spPr bwMode="auto">
          <a:xfrm>
            <a:off x="558800" y="495300"/>
            <a:ext cx="817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§2.5 现代微机系统数据表示举例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8851" name="Rectangle 8"/>
          <p:cNvSpPr>
            <a:spLocks noChangeArrowheads="1"/>
          </p:cNvSpPr>
          <p:nvPr/>
        </p:nvSpPr>
        <p:spPr bwMode="auto">
          <a:xfrm>
            <a:off x="1079500" y="1096963"/>
            <a:ext cx="7670800" cy="432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1．无符号整数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包含字节、字、双字和四字的无符号的二进制数。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2．带符号整数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包含字节、字、双字和四字的带符号的二进制定点整数。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3．浮点数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采用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IEEE 754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标准所规定的格式。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（课外进一步阅读）</a:t>
            </a:r>
            <a:endParaRPr lang="zh-CN" altLang="en-US" sz="1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4．指针数据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指针是主存单元的地址。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IA-32 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结构定义了两种类型的指针：近指针（32位）和远指针（48位）。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……</a:t>
            </a: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01770" name="Rectangle 10"/>
          <p:cNvSpPr>
            <a:spLocks noChangeArrowheads="1"/>
          </p:cNvSpPr>
          <p:nvPr/>
        </p:nvSpPr>
        <p:spPr bwMode="auto">
          <a:xfrm>
            <a:off x="1041400" y="5565775"/>
            <a:ext cx="6019800" cy="427038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noFill/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 ？</a:t>
            </a:r>
            <a:r>
              <a:rPr lang="zh-CN" altLang="en-US" sz="2400" i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思考：</a:t>
            </a: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它们的数据的表示范围？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70" grpId="0" animBg="1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ChangeArrowheads="1"/>
          </p:cNvSpPr>
          <p:nvPr/>
        </p:nvSpPr>
        <p:spPr bwMode="auto">
          <a:xfrm>
            <a:off x="558800" y="495300"/>
            <a:ext cx="817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§2.5 现代微机系统数据表示举例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8851" name="Rectangle 8"/>
          <p:cNvSpPr>
            <a:spLocks noChangeArrowheads="1"/>
          </p:cNvSpPr>
          <p:nvPr/>
        </p:nvSpPr>
        <p:spPr bwMode="auto">
          <a:xfrm>
            <a:off x="440673" y="881519"/>
            <a:ext cx="7670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VS201X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平台中的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C++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</a:t>
            </a:r>
            <a:endParaRPr lang="en-US" altLang="zh-CN" sz="22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50729" y="1370684"/>
          <a:ext cx="8705591" cy="4834343"/>
        </p:xfrm>
        <a:graphic>
          <a:graphicData uri="http://schemas.openxmlformats.org/drawingml/2006/table">
            <a:tbl>
              <a:tblPr/>
              <a:tblGrid>
                <a:gridCol w="184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0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Segoe UI"/>
                        </a:rPr>
                        <a:t>Type Name</a:t>
                      </a:r>
                    </a:p>
                  </a:txBody>
                  <a:tcPr marL="34618" marR="34618" marT="12782" marB="1278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Segoe UI"/>
                        </a:rPr>
                        <a:t>Bytes</a:t>
                      </a:r>
                    </a:p>
                  </a:txBody>
                  <a:tcPr marL="34618" marR="34618" marT="12782" marB="1278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Segoe UI"/>
                        </a:rPr>
                        <a:t>Other Names</a:t>
                      </a:r>
                    </a:p>
                  </a:txBody>
                  <a:tcPr marL="34618" marR="34618" marT="12782" marB="1278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Segoe UI"/>
                        </a:rPr>
                        <a:t>Range of Values</a:t>
                      </a:r>
                    </a:p>
                  </a:txBody>
                  <a:tcPr marL="34618" marR="34618" marT="12782" marB="1278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119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int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signed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–2,147,483,648 to 2,147,483,647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861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int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4,294,967,295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861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__int8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char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–128 to 127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861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__int8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char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255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119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__int16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short, short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int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 </a:t>
                      </a:r>
                    </a:p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signed short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int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–32,768 to 32,767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119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__int16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short, </a:t>
                      </a:r>
                    </a:p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short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int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65,535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119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__int32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signed, signed int, int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–2,147,483,648 to 2,147,483,647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19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__int32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unsigned, unsigned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int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4,294,967,295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67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bool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false or true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67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char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–128 to 127 by default</a:t>
                      </a:r>
                    </a:p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255 when compiled with </a:t>
                      </a:r>
                      <a:r>
                        <a:rPr lang="en-US" sz="1600" b="1" u="none" strike="noStrike" dirty="0">
                          <a:solidFill>
                            <a:srgbClr val="960BB4"/>
                          </a:solidFill>
                          <a:effectLst/>
                          <a:latin typeface="Segoe UI"/>
                          <a:hlinkClick r:id="rId2"/>
                        </a:rPr>
                        <a:t>/J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867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signed char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–128 to 127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867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unsigned char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255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86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000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……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altLang="zh-CN" sz="200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930124"/>
      </p:ext>
    </p:extLst>
  </p:cSld>
  <p:clrMapOvr>
    <a:masterClrMapping/>
  </p:clrMapOvr>
  <p:transition>
    <p:wipe dir="d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ChangeArrowheads="1"/>
          </p:cNvSpPr>
          <p:nvPr/>
        </p:nvSpPr>
        <p:spPr bwMode="auto">
          <a:xfrm>
            <a:off x="558800" y="495300"/>
            <a:ext cx="817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§2.5 现代微机系统数据表示举例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8851" name="Rectangle 8"/>
          <p:cNvSpPr>
            <a:spLocks noChangeArrowheads="1"/>
          </p:cNvSpPr>
          <p:nvPr/>
        </p:nvSpPr>
        <p:spPr bwMode="auto">
          <a:xfrm>
            <a:off x="440673" y="881519"/>
            <a:ext cx="7670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VS201X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平台中的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C++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</a:t>
            </a:r>
            <a:endParaRPr lang="en-US" altLang="zh-CN" sz="22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15204" y="1312409"/>
          <a:ext cx="8778484" cy="4444209"/>
        </p:xfrm>
        <a:graphic>
          <a:graphicData uri="http://schemas.openxmlformats.org/drawingml/2006/table">
            <a:tbl>
              <a:tblPr/>
              <a:tblGrid>
                <a:gridCol w="1861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7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42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Segoe UI"/>
                        </a:rPr>
                        <a:t>Type Name</a:t>
                      </a:r>
                    </a:p>
                  </a:txBody>
                  <a:tcPr marL="34618" marR="34618" marT="12782" marB="1278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Segoe UI"/>
                        </a:rPr>
                        <a:t>Bytes</a:t>
                      </a:r>
                    </a:p>
                  </a:txBody>
                  <a:tcPr marL="34618" marR="34618" marT="12782" marB="1278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Segoe UI"/>
                        </a:rPr>
                        <a:t>Other Names</a:t>
                      </a:r>
                    </a:p>
                  </a:txBody>
                  <a:tcPr marL="34618" marR="34618" marT="12782" marB="1278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Segoe UI"/>
                        </a:rPr>
                        <a:t>Range of Values</a:t>
                      </a:r>
                    </a:p>
                  </a:txBody>
                  <a:tcPr marL="34618" marR="34618" marT="12782" marB="1278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235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short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short int, signed short int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–32,768 to 32,767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332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unsigned short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short int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65,535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818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long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long int, signed long int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–2,147,483,648 to 2,147,483,647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332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unsigned long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long int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4,294,967,295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277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long long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8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 (but equivalent to __int64)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–9,223,372,036,854,775,808 to 9,223,372,036,854,775,807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305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unsigned long long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8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 (but equivalent to unsigned __int64)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18,446,744,073,709,551,615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332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enum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varies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See Remarks.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235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float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3.4E +/- 38 (7 digits)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235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Segoe UI"/>
                        </a:rPr>
                        <a:t>double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8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1.7E +/- 308 (15 digits)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5332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long double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same as double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none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same as double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5332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wchar_t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__wchar_t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0 to 65,535</a:t>
                      </a:r>
                    </a:p>
                  </a:txBody>
                  <a:tcPr marL="13315" marR="13315" marT="13315" marB="13315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690296"/>
      </p:ext>
    </p:extLst>
  </p:cSld>
  <p:clrMapOvr>
    <a:masterClrMapping/>
  </p:clrMapOvr>
  <p:transition>
    <p:wipe dir="d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5"/>
          <p:cNvSpPr>
            <a:spLocks noChangeArrowheads="1"/>
          </p:cNvSpPr>
          <p:nvPr/>
        </p:nvSpPr>
        <p:spPr bwMode="auto">
          <a:xfrm>
            <a:off x="495300" y="325438"/>
            <a:ext cx="8026400" cy="1713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§2.6 数据校验码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能够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发现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错误或能够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自动纠正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错误的数据编码。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2.6.1奇偶校验码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9875" name="Rectangle 6"/>
          <p:cNvSpPr>
            <a:spLocks noChangeArrowheads="1"/>
          </p:cNvSpPr>
          <p:nvPr/>
        </p:nvSpPr>
        <p:spPr bwMode="auto">
          <a:xfrm>
            <a:off x="622300" y="2133600"/>
            <a:ext cx="8099425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在若干位有效信息(如一个字节)上增加一个二进制位(校验位)，组成校验码。常用于检验内存数据存取过程中是否出现错误。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奇校验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──整个校验码（有效信息位和校验位）中“1”的个数为奇数（常用）。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2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偶校验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──整个校验码中“1”的个数为偶数。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495300" y="325438"/>
            <a:ext cx="8026400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§2.6 数据校验码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2.6.1奇偶校验码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例：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80899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657184"/>
              </p:ext>
            </p:extLst>
          </p:nvPr>
        </p:nvGraphicFramePr>
        <p:xfrm>
          <a:off x="1774675" y="1715227"/>
          <a:ext cx="573730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59660" imgH="972820" progId="Visio.Drawing.6">
                  <p:embed/>
                </p:oleObj>
              </mc:Choice>
              <mc:Fallback>
                <p:oleObj r:id="rId2" imgW="2359660" imgH="972820" progId="Visio.Drawing.6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675" y="1715227"/>
                        <a:ext cx="5737305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726168"/>
              </p:ext>
            </p:extLst>
          </p:nvPr>
        </p:nvGraphicFramePr>
        <p:xfrm>
          <a:off x="1308100" y="3911600"/>
          <a:ext cx="7280275" cy="244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593159" imgH="2217779" progId="Word.Document.8">
                  <p:embed/>
                </p:oleObj>
              </mc:Choice>
              <mc:Fallback>
                <p:oleObj name="Document" r:id="rId4" imgW="6593159" imgH="2217779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3911600"/>
                        <a:ext cx="7280275" cy="244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2" name="Group 8"/>
          <p:cNvGrpSpPr>
            <a:grpSpLocks/>
          </p:cNvGrpSpPr>
          <p:nvPr/>
        </p:nvGrpSpPr>
        <p:grpSpPr bwMode="auto">
          <a:xfrm>
            <a:off x="1111250" y="1395948"/>
            <a:ext cx="7210425" cy="2403476"/>
            <a:chOff x="700" y="957"/>
            <a:chExt cx="4542" cy="1514"/>
          </a:xfrm>
        </p:grpSpPr>
        <p:sp>
          <p:nvSpPr>
            <p:cNvPr id="81924" name="Rectangle 5"/>
            <p:cNvSpPr>
              <a:spLocks noChangeArrowheads="1"/>
            </p:cNvSpPr>
            <p:nvPr/>
          </p:nvSpPr>
          <p:spPr bwMode="auto">
            <a:xfrm>
              <a:off x="700" y="957"/>
              <a:ext cx="4542" cy="1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800000"/>
                  </a:solidFill>
                  <a:latin typeface="黑体" pitchFamily="2" charset="-122"/>
                  <a:ea typeface="黑体" pitchFamily="2" charset="-122"/>
                </a:rPr>
                <a:t>1．编码</a:t>
              </a:r>
              <a:endParaRPr lang="zh-CN" altLang="en-US" sz="2400" dirty="0">
                <a:latin typeface="黑体" pitchFamily="2" charset="-122"/>
                <a:ea typeface="黑体" pitchFamily="2" charset="-122"/>
              </a:endParaRPr>
            </a:p>
            <a:p>
              <a:pPr algn="just" eaLnBrk="0" hangingPunct="0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由有效信息产生1校验位形成校验码</a:t>
              </a:r>
              <a:endParaRPr lang="zh-CN" altLang="en-US" sz="2400" dirty="0">
                <a:latin typeface="黑体" pitchFamily="2" charset="-122"/>
                <a:ea typeface="黑体" pitchFamily="2" charset="-122"/>
              </a:endParaRPr>
            </a:p>
            <a:p>
              <a:pPr algn="just" eaLnBrk="0" hangingPunct="0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以有效信息1字节为例，</a:t>
              </a:r>
              <a:endParaRPr lang="zh-CN" altLang="en-US" sz="2400" dirty="0">
                <a:latin typeface="黑体" pitchFamily="2" charset="-122"/>
                <a:ea typeface="黑体" pitchFamily="2" charset="-122"/>
              </a:endParaRPr>
            </a:p>
            <a:p>
              <a:pPr algn="just" eaLnBrk="0" hangingPunct="0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奇校验位</a:t>
              </a:r>
              <a:r>
                <a:rPr lang="en-US" altLang="zh-CN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=</a:t>
              </a: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7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6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5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4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3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2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1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0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</a:p>
            <a:p>
              <a:pPr algn="just" eaLnBrk="0" hangingPunct="0">
                <a:lnSpc>
                  <a:spcPct val="120000"/>
                </a:lnSpc>
                <a:spcBef>
                  <a:spcPts val="12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生成奇校验码 </a:t>
              </a:r>
              <a:r>
                <a:rPr lang="en-US" altLang="zh-CN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7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6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5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4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3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2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1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0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1925" name="Line 6"/>
            <p:cNvSpPr>
              <a:spLocks noChangeShapeType="1"/>
            </p:cNvSpPr>
            <p:nvPr/>
          </p:nvSpPr>
          <p:spPr bwMode="auto">
            <a:xfrm flipV="1">
              <a:off x="2252" y="1819"/>
              <a:ext cx="2686" cy="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81923" name="Rectangle 2"/>
          <p:cNvSpPr>
            <a:spLocks noChangeArrowheads="1"/>
          </p:cNvSpPr>
          <p:nvPr/>
        </p:nvSpPr>
        <p:spPr bwMode="auto">
          <a:xfrm>
            <a:off x="495300" y="325438"/>
            <a:ext cx="8026400" cy="1713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§2.6 数据校验码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2.6.1 奇偶校验码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171474A0-334D-7A73-D721-199B7B1024CA}"/>
              </a:ext>
            </a:extLst>
          </p:cNvPr>
          <p:cNvGrpSpPr>
            <a:grpSpLocks/>
          </p:cNvGrpSpPr>
          <p:nvPr/>
        </p:nvGrpSpPr>
        <p:grpSpPr bwMode="auto">
          <a:xfrm>
            <a:off x="434886" y="3686174"/>
            <a:ext cx="8153400" cy="2846388"/>
            <a:chOff x="336" y="884"/>
            <a:chExt cx="5136" cy="1793"/>
          </a:xfrm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727BF3C6-D44F-7D16-7D96-C443571FA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884"/>
              <a:ext cx="5136" cy="1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800000"/>
                  </a:solidFill>
                  <a:latin typeface="黑体" pitchFamily="2" charset="-122"/>
                  <a:ea typeface="黑体" pitchFamily="2" charset="-122"/>
                </a:rPr>
                <a:t>    2．校验（解码）</a:t>
              </a:r>
              <a:endParaRPr lang="zh-CN" altLang="en-US" sz="2400" dirty="0">
                <a:latin typeface="黑体" pitchFamily="2" charset="-122"/>
                <a:ea typeface="黑体" pitchFamily="2" charset="-122"/>
              </a:endParaRPr>
            </a:p>
            <a:p>
              <a:pPr algn="just" eaLnBrk="0" hangingPunct="0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由校验码校验该码是否出错，可以检测出一位错误（或奇数位错误）。</a:t>
              </a:r>
            </a:p>
            <a:p>
              <a:pPr algn="just" eaLnBrk="0" hangingPunct="0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以有效信息1字节为例（上例）:</a:t>
              </a:r>
            </a:p>
            <a:p>
              <a:pPr algn="l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奇校验出错</a:t>
              </a:r>
              <a:r>
                <a:rPr lang="en-US" altLang="zh-CN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= </a:t>
              </a:r>
              <a:r>
                <a:rPr lang="en-US" altLang="zh-CN" sz="24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6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5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  <a:p>
              <a:pPr algn="l">
                <a:lnSpc>
                  <a:spcPct val="120000"/>
                </a:lnSpc>
                <a:spcBef>
                  <a:spcPts val="12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若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为</a:t>
              </a:r>
              <a:r>
                <a:rPr lang="en-US" altLang="zh-CN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zh-CN" altLang="en-US" sz="24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，则接收到的校验码有误！</a:t>
              </a:r>
              <a:endParaRPr lang="zh-CN" altLang="en-US" sz="24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" name="Line 6">
              <a:extLst>
                <a:ext uri="{FF2B5EF4-FFF2-40B4-BE49-F238E27FC236}">
                  <a16:creationId xmlns:a16="http://schemas.microsoft.com/office/drawing/2014/main" id="{1CE43392-A438-7262-C860-61D09EAB6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2038"/>
              <a:ext cx="3016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6"/>
          <p:cNvSpPr>
            <a:spLocks noChangeArrowheads="1"/>
          </p:cNvSpPr>
          <p:nvPr/>
        </p:nvSpPr>
        <p:spPr bwMode="auto">
          <a:xfrm>
            <a:off x="508000" y="1447800"/>
            <a:ext cx="72009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3．编解码的电路实现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可用异或门构成。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839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409281"/>
              </p:ext>
            </p:extLst>
          </p:nvPr>
        </p:nvGraphicFramePr>
        <p:xfrm>
          <a:off x="4195763" y="1900238"/>
          <a:ext cx="3375025" cy="439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14678" imgH="2622279" progId="Visio.Drawing.6">
                  <p:embed/>
                </p:oleObj>
              </mc:Choice>
              <mc:Fallback>
                <p:oleObj name="Visio" r:id="rId2" imgW="2014678" imgH="2622279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763" y="1900238"/>
                        <a:ext cx="3375025" cy="439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2" name="Rectangle 2"/>
          <p:cNvSpPr>
            <a:spLocks noChangeArrowheads="1"/>
          </p:cNvSpPr>
          <p:nvPr/>
        </p:nvSpPr>
        <p:spPr bwMode="auto">
          <a:xfrm>
            <a:off x="495300" y="325438"/>
            <a:ext cx="8026400" cy="1713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§2.6 数据校验码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2.6.1 奇偶校验码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31207" y="5884284"/>
            <a:ext cx="11262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校验位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endParaRPr lang="zh-CN" altLang="en-US" sz="2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34974" y="2146060"/>
            <a:ext cx="59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S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6"/>
          <p:cNvSpPr>
            <a:spLocks noChangeArrowheads="1"/>
          </p:cNvSpPr>
          <p:nvPr/>
        </p:nvSpPr>
        <p:spPr bwMode="auto">
          <a:xfrm>
            <a:off x="493442" y="952239"/>
            <a:ext cx="81768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是一种分组奇偶校验码。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3972" name="Rectangle 2"/>
          <p:cNvSpPr>
            <a:spLocks noChangeArrowheads="1"/>
          </p:cNvSpPr>
          <p:nvPr/>
        </p:nvSpPr>
        <p:spPr bwMode="auto">
          <a:xfrm>
            <a:off x="495300" y="325438"/>
            <a:ext cx="80264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2.6.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海明校验码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755650" y="1658292"/>
            <a:ext cx="784860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位信息元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 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，用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个奇偶校验位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校验。</a:t>
            </a:r>
            <a:endParaRPr lang="en-US" altLang="zh-CN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755650" y="2200598"/>
            <a:ext cx="7848600" cy="2049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b="1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校验位生成：</a:t>
            </a:r>
            <a:endParaRPr lang="en-US" altLang="zh-CN" sz="2400" b="1" dirty="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algn="l" eaLnBrk="1" hangingPunct="1"/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= 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⊕D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⊕D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校验信息元的 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en-US" altLang="zh-CN" sz="2400" b="1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  <a:p>
            <a:pPr algn="l" eaLnBrk="1" hangingPunct="1"/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= 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⊕D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⊕D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校验信息元的 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2400" b="1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  <a:p>
            <a:pPr algn="l" eaLnBrk="1" hangingPunct="1"/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= 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⊕D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rgbClr val="000099"/>
                </a:solidFill>
              </a:rPr>
              <a:t>⊕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校验信息元的 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2400" b="1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  <a:p>
            <a:pPr algn="l" eaLnBrk="1" hangingPunct="1"/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4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位信息元和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位校验位，构成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位海明码。</a:t>
            </a:r>
            <a:endParaRPr lang="en-US" altLang="zh-CN" sz="2400" b="1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55650" y="4408237"/>
            <a:ext cx="7848600" cy="2049792"/>
            <a:chOff x="755650" y="4562475"/>
            <a:chExt cx="7848600" cy="2049792"/>
          </a:xfrm>
        </p:grpSpPr>
        <p:sp>
          <p:nvSpPr>
            <p:cNvPr id="17" name="Text Box 4"/>
            <p:cNvSpPr txBox="1">
              <a:spLocks noChangeArrowheads="1"/>
            </p:cNvSpPr>
            <p:nvPr/>
          </p:nvSpPr>
          <p:spPr bwMode="auto">
            <a:xfrm>
              <a:off x="755650" y="4562475"/>
              <a:ext cx="7848600" cy="2049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zh-CN" altLang="en-US" sz="2400" b="1" dirty="0">
                  <a:solidFill>
                    <a:srgbClr val="800000"/>
                  </a:solidFill>
                  <a:latin typeface="黑体" pitchFamily="2" charset="-122"/>
                  <a:ea typeface="黑体" pitchFamily="2" charset="-122"/>
                </a:rPr>
                <a:t>海明码校验：</a:t>
              </a:r>
              <a:endParaRPr lang="en-US" altLang="zh-CN" sz="2400" b="1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l">
                <a:defRPr/>
              </a:pP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   S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 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= 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400" b="1" dirty="0">
                  <a:solidFill>
                    <a:srgbClr val="000099"/>
                  </a:solidFill>
                </a:rPr>
                <a:t>⊕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400" b="1" dirty="0">
                  <a:solidFill>
                    <a:srgbClr val="000099"/>
                  </a:solidFill>
                </a:rPr>
                <a:t> ⊕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1  1  1  1  0  0  0  0</a:t>
              </a:r>
            </a:p>
            <a:p>
              <a:pPr algn="l">
                <a:defRPr/>
              </a:pP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   S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 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= 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400" b="1" dirty="0">
                  <a:solidFill>
                    <a:srgbClr val="000099"/>
                  </a:solidFill>
                </a:rPr>
                <a:t>⊕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2400" b="1" dirty="0">
                  <a:solidFill>
                    <a:srgbClr val="000099"/>
                  </a:solidFill>
                </a:rPr>
                <a:t> ⊕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   1  1  0  0  1  1  0  0</a:t>
              </a:r>
            </a:p>
            <a:p>
              <a:pPr algn="l">
                <a:defRPr/>
              </a:pP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   S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0 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= 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⊕D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400" b="1" dirty="0">
                  <a:solidFill>
                    <a:srgbClr val="000099"/>
                  </a:solidFill>
                </a:rPr>
                <a:t>⊕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2400" b="1" dirty="0">
                  <a:solidFill>
                    <a:srgbClr val="000099"/>
                  </a:solidFill>
                </a:rPr>
                <a:t> ⊕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   1  0  1  0  1  0  1  0</a:t>
              </a:r>
            </a:p>
            <a:p>
              <a:pPr indent="2693988" algn="l">
                <a:defRPr/>
              </a:pPr>
              <a:r>
                <a:rPr lang="zh-CN" altLang="en-US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出错位：</a:t>
              </a:r>
              <a:r>
                <a:rPr lang="zh-CN" altLang="en-US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3  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  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  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  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  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zh-CN" altLang="en-US" sz="2400" b="1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无</a:t>
              </a:r>
              <a:endPara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2099763" y="5012783"/>
              <a:ext cx="2136572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2099763" y="5765129"/>
              <a:ext cx="2136572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0" name="Line 6"/>
            <p:cNvSpPr>
              <a:spLocks noChangeShapeType="1"/>
            </p:cNvSpPr>
            <p:nvPr/>
          </p:nvSpPr>
          <p:spPr bwMode="auto">
            <a:xfrm>
              <a:off x="2099763" y="5408251"/>
              <a:ext cx="2136572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132013" y="2664822"/>
            <a:ext cx="1584325" cy="796833"/>
            <a:chOff x="2132013" y="2695256"/>
            <a:chExt cx="1584325" cy="738187"/>
          </a:xfrm>
        </p:grpSpPr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2132013" y="2695256"/>
              <a:ext cx="158432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2132013" y="3066731"/>
              <a:ext cx="158432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2132013" y="3433443"/>
              <a:ext cx="158432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36670883"/>
      </p:ext>
    </p:extLst>
  </p:cSld>
  <p:clrMapOvr>
    <a:masterClrMapping/>
  </p:clrMapOvr>
  <p:transition>
    <p:wipe dir="d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6"/>
          <p:cNvSpPr>
            <a:spLocks noChangeArrowheads="1"/>
          </p:cNvSpPr>
          <p:nvPr/>
        </p:nvSpPr>
        <p:spPr bwMode="auto">
          <a:xfrm>
            <a:off x="493442" y="952239"/>
            <a:ext cx="81768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是一种分组奇偶校验码。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3972" name="Rectangle 2"/>
          <p:cNvSpPr>
            <a:spLocks noChangeArrowheads="1"/>
          </p:cNvSpPr>
          <p:nvPr/>
        </p:nvSpPr>
        <p:spPr bwMode="auto">
          <a:xfrm>
            <a:off x="495300" y="325438"/>
            <a:ext cx="80264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2.6.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海明校验码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799639" y="1779479"/>
            <a:ext cx="784860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位信息元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2400" b="1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 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，用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个奇偶校验位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校验。</a:t>
            </a:r>
            <a:endParaRPr lang="en-US" altLang="zh-CN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799639" y="2338294"/>
            <a:ext cx="784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它构成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位海明码，可纠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位错（码距为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）。</a:t>
            </a:r>
          </a:p>
          <a:p>
            <a:pPr algn="l" eaLnBrk="1" hangingPunct="1"/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</a:t>
            </a:r>
            <a:endParaRPr lang="zh-CN" altLang="en-US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96925" y="3345559"/>
            <a:ext cx="7848600" cy="1413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思考：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若用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组奇偶校验，能够纠</a:t>
            </a: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位错的海明码，其信息元的位数最多是多少位？   </a:t>
            </a:r>
          </a:p>
          <a:p>
            <a:pPr algn="l"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58120695"/>
      </p:ext>
    </p:extLst>
  </p:cSld>
  <p:clrMapOvr>
    <a:masterClrMapping/>
  </p:clrMapOvr>
  <p:transition>
    <p:wipe dir="d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452043" y="628173"/>
            <a:ext cx="6756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习题：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P47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2-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23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，2-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24</a:t>
            </a: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</a:t>
            </a:r>
            <a:endParaRPr lang="zh-CN" altLang="en-US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344048B-E25D-C3B5-B3CF-6D747DB4D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043" y="1653166"/>
            <a:ext cx="797799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25000"/>
              </a:lnSpc>
              <a:spcBef>
                <a:spcPts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上机作业</a:t>
            </a:r>
            <a:r>
              <a:rPr lang="en-US" altLang="zh-CN" sz="24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：（见上机作业文档）</a:t>
            </a:r>
            <a:endParaRPr lang="en-US" altLang="zh-CN" sz="24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25000"/>
              </a:lnSpc>
              <a:spcBef>
                <a:spcPts val="0"/>
              </a:spcBef>
              <a:buClrTx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注</a:t>
            </a:r>
            <a:r>
              <a:rPr lang="zh-CN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查看浮点数变量在内存单元中的机器数，需先获得浮点数变量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所在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的内存地址，然后再查看其内存单元中的数据</a:t>
            </a:r>
            <a:r>
              <a:rPr lang="zh-CN" altLang="zh-CN" sz="2400" dirty="0"/>
              <a:t>。</a:t>
            </a:r>
          </a:p>
        </p:txBody>
      </p:sp>
    </p:spTree>
  </p:cSld>
  <p:clrMapOvr>
    <a:masterClrMapping/>
  </p:clrMapOvr>
  <p:transition>
    <p:wipe dir="d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0" y="213399"/>
            <a:ext cx="6561672" cy="115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41" y="990924"/>
            <a:ext cx="7009944" cy="4711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椭圆 1"/>
          <p:cNvSpPr/>
          <p:nvPr/>
        </p:nvSpPr>
        <p:spPr bwMode="auto">
          <a:xfrm>
            <a:off x="4070959" y="475533"/>
            <a:ext cx="814192" cy="62767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609600" marR="0" indent="-6096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endParaRPr kumimoji="1" lang="zh-CN" altLang="en-US" sz="26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4070960" y="3246252"/>
            <a:ext cx="3269292" cy="62767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609600" marR="0" indent="-6096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endParaRPr kumimoji="1" lang="zh-CN" altLang="en-US" sz="26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636" y="4709786"/>
            <a:ext cx="7256927" cy="1702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椭圆 9"/>
          <p:cNvSpPr/>
          <p:nvPr/>
        </p:nvSpPr>
        <p:spPr bwMode="auto">
          <a:xfrm>
            <a:off x="1857635" y="5135671"/>
            <a:ext cx="3027515" cy="88934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609600" marR="0" indent="-6096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endParaRPr kumimoji="1" lang="zh-CN" altLang="en-US" sz="26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>
            <a:off x="3975652" y="3657600"/>
            <a:ext cx="2160105" cy="1669774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直接连接符 6"/>
          <p:cNvCxnSpPr/>
          <p:nvPr/>
        </p:nvCxnSpPr>
        <p:spPr bwMode="auto">
          <a:xfrm>
            <a:off x="3411148" y="5808011"/>
            <a:ext cx="1333130" cy="0"/>
          </a:xfrm>
          <a:prstGeom prst="lin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4478055" y="5156558"/>
            <a:ext cx="143466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或者填 </a:t>
            </a:r>
            <a:r>
              <a:rPr lang="en-US" altLang="zh-CN" sz="1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&amp;f1</a:t>
            </a:r>
            <a:endParaRPr lang="zh-CN" altLang="en-US" sz="1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8593268"/>
      </p:ext>
    </p:extLst>
  </p:cSld>
  <p:clrMapOvr>
    <a:masterClrMapping/>
  </p:clrMapOvr>
  <p:transition>
    <p:wipe dir="d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ChangeArrowheads="1"/>
          </p:cNvSpPr>
          <p:nvPr/>
        </p:nvSpPr>
        <p:spPr bwMode="auto">
          <a:xfrm>
            <a:off x="685800" y="696913"/>
            <a:ext cx="7718425" cy="4570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本章推荐扩展阅读：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1. IEEE754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标准的浮点数格式，不仅能表示常规的浮点数，还能表示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±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无穷大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和“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不是一个数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NaN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。请通过百度查询进一步阅读。</a:t>
            </a:r>
            <a:endParaRPr lang="en-US" altLang="zh-CN" sz="24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2. 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有资料指出，浮点数（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Single, float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等）在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VB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VC++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C#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Java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等不同的高级语言中，所能表示的绝对值最小的数不尽相同。请通过编程验证说法的真伪，并对照第二章的学习内容作更深入的理解。</a:t>
            </a:r>
          </a:p>
        </p:txBody>
      </p:sp>
    </p:spTree>
  </p:cSld>
  <p:clrMapOvr>
    <a:masterClrMapping/>
  </p:clrMapOvr>
  <p:transition>
    <p:wipe dir="d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3"/>
          <p:cNvSpPr txBox="1">
            <a:spLocks noChangeArrowheads="1"/>
          </p:cNvSpPr>
          <p:nvPr/>
        </p:nvSpPr>
        <p:spPr bwMode="auto">
          <a:xfrm>
            <a:off x="650875" y="862013"/>
            <a:ext cx="7897813" cy="435292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本章重点：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1．进制之间的相互转换是最基本的，应当熟练掌握；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2．定点数的原码、补码、变形补码和反码表示，补码还应特别注意：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① 最小的补码很特殊，没有对应的原码和反码，可单独记；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② “变补”和“求补码” 概念的不同；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③ 补码乘以2(算术左移)和乘以1/2(算术右移)的结果；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3．浮点数的规格化概念，真值</a:t>
            </a:r>
            <a:r>
              <a: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</a:t>
            </a:r>
            <a:r>
              <a: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浮点数表示形式；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18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4．奇偶校验码的校验原理及校验位形成方法；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18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5．学会看原文资料，并熟悉其专业名词和术语。</a:t>
            </a:r>
          </a:p>
        </p:txBody>
      </p:sp>
    </p:spTree>
  </p:cSld>
  <p:clrMapOvr>
    <a:masterClrMapping/>
  </p:clrMapOvr>
  <p:transition>
    <p:wipe dir="d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1219200" y="523875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3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本章的提高指导</a:t>
            </a:r>
          </a:p>
        </p:txBody>
      </p:sp>
      <p:sp>
        <p:nvSpPr>
          <p:cNvPr id="88067" name="Line 3"/>
          <p:cNvSpPr>
            <a:spLocks noChangeShapeType="1"/>
          </p:cNvSpPr>
          <p:nvPr/>
        </p:nvSpPr>
        <p:spPr bwMode="auto">
          <a:xfrm>
            <a:off x="685800" y="1219200"/>
            <a:ext cx="7840663" cy="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492398"/>
              </p:ext>
            </p:extLst>
          </p:nvPr>
        </p:nvGraphicFramePr>
        <p:xfrm>
          <a:off x="693738" y="565150"/>
          <a:ext cx="9826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809738" imgH="438095" progId="Paint.Picture">
                  <p:embed/>
                </p:oleObj>
              </mc:Choice>
              <mc:Fallback>
                <p:oleObj name="BMP 图象" r:id="rId2" imgW="809738" imgH="43809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565150"/>
                        <a:ext cx="982662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874713" y="1530350"/>
            <a:ext cx="54737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数据表示的概念延伸</a:t>
            </a:r>
            <a:r>
              <a:rPr lang="zh-CN" altLang="en-US" sz="24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320800" y="2065338"/>
            <a:ext cx="6510338" cy="1312862"/>
            <a:chOff x="832" y="1301"/>
            <a:chExt cx="4101" cy="827"/>
          </a:xfrm>
        </p:grpSpPr>
        <p:sp>
          <p:nvSpPr>
            <p:cNvPr id="88082" name="Rectangle 6"/>
            <p:cNvSpPr>
              <a:spLocks noChangeArrowheads="1"/>
            </p:cNvSpPr>
            <p:nvPr/>
          </p:nvSpPr>
          <p:spPr bwMode="auto">
            <a:xfrm>
              <a:off x="832" y="1301"/>
              <a:ext cx="4101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tabLst>
                  <a:tab pos="542925" algn="l"/>
                </a:tabLst>
              </a:pP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硬件设计中</a:t>
              </a:r>
              <a:r>
                <a:rPr lang="en-US" altLang="zh-CN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本课程</a:t>
              </a:r>
              <a:r>
                <a:rPr lang="en-US" altLang="zh-CN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：</a:t>
              </a:r>
            </a:p>
          </p:txBody>
        </p:sp>
        <p:grpSp>
          <p:nvGrpSpPr>
            <p:cNvPr id="88083" name="Group 8"/>
            <p:cNvGrpSpPr>
              <a:grpSpLocks/>
            </p:cNvGrpSpPr>
            <p:nvPr/>
          </p:nvGrpSpPr>
          <p:grpSpPr bwMode="auto">
            <a:xfrm>
              <a:off x="1347" y="1711"/>
              <a:ext cx="3565" cy="417"/>
              <a:chOff x="2468" y="4850"/>
              <a:chExt cx="4956" cy="700"/>
            </a:xfrm>
          </p:grpSpPr>
          <p:sp>
            <p:nvSpPr>
              <p:cNvPr id="88084" name="AutoShape 9"/>
              <p:cNvSpPr>
                <a:spLocks noChangeArrowheads="1"/>
              </p:cNvSpPr>
              <p:nvPr/>
            </p:nvSpPr>
            <p:spPr bwMode="auto">
              <a:xfrm>
                <a:off x="2468" y="4850"/>
                <a:ext cx="1260" cy="691"/>
              </a:xfrm>
              <a:prstGeom prst="roundRect">
                <a:avLst>
                  <a:gd name="adj" fmla="val 16667"/>
                </a:avLst>
              </a:prstGeom>
              <a:solidFill>
                <a:srgbClr val="FFCC99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609600" indent="-609600"/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码制</a:t>
                </a:r>
              </a:p>
              <a:p>
                <a:pPr marL="609600" indent="-609600"/>
                <a:r>
                  <a:rPr lang="en-US" altLang="zh-CN" sz="2000">
                    <a:latin typeface="黑体" pitchFamily="2" charset="-122"/>
                    <a:ea typeface="黑体" pitchFamily="2" charset="-122"/>
                  </a:rPr>
                  <a:t>(</a:t>
                </a:r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数据表示</a:t>
                </a:r>
                <a:r>
                  <a:rPr lang="en-US" altLang="zh-CN" sz="2000">
                    <a:latin typeface="黑体" pitchFamily="2" charset="-122"/>
                    <a:ea typeface="黑体" pitchFamily="2" charset="-122"/>
                  </a:rPr>
                  <a:t>)</a:t>
                </a:r>
                <a:endParaRPr lang="en-US" altLang="zh-CN" sz="2000" b="0">
                  <a:latin typeface="黑体" pitchFamily="2" charset="-122"/>
                  <a:ea typeface="黑体" pitchFamily="2" charset="-122"/>
                </a:endParaRPr>
              </a:p>
              <a:p>
                <a:pPr marL="609600" indent="-609600"/>
                <a:endParaRPr lang="en-US" altLang="zh-CN" sz="200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88085" name="AutoShape 10"/>
              <p:cNvSpPr>
                <a:spLocks noChangeArrowheads="1"/>
              </p:cNvSpPr>
              <p:nvPr/>
            </p:nvSpPr>
            <p:spPr bwMode="auto">
              <a:xfrm>
                <a:off x="4316" y="4859"/>
                <a:ext cx="1260" cy="691"/>
              </a:xfrm>
              <a:prstGeom prst="roundRect">
                <a:avLst>
                  <a:gd name="adj" fmla="val 16667"/>
                </a:avLst>
              </a:prstGeom>
              <a:solidFill>
                <a:srgbClr val="FF99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609600" indent="-609600"/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运算方法 </a:t>
                </a:r>
              </a:p>
              <a:p>
                <a:pPr marL="609600" indent="-609600"/>
                <a:r>
                  <a:rPr lang="en-US" altLang="zh-CN" sz="2000">
                    <a:latin typeface="黑体" pitchFamily="2" charset="-122"/>
                    <a:ea typeface="黑体" pitchFamily="2" charset="-122"/>
                  </a:rPr>
                  <a:t>(</a:t>
                </a:r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算法</a:t>
                </a:r>
                <a:r>
                  <a:rPr lang="en-US" altLang="zh-CN" sz="2000">
                    <a:latin typeface="黑体" pitchFamily="2" charset="-122"/>
                    <a:ea typeface="黑体" pitchFamily="2" charset="-122"/>
                  </a:rPr>
                  <a:t>)</a:t>
                </a:r>
              </a:p>
              <a:p>
                <a:pPr marL="609600" indent="-609600"/>
                <a:endParaRPr lang="en-US" altLang="zh-CN" sz="200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88086" name="AutoShape 11"/>
              <p:cNvSpPr>
                <a:spLocks noChangeArrowheads="1"/>
              </p:cNvSpPr>
              <p:nvPr/>
            </p:nvSpPr>
            <p:spPr bwMode="auto">
              <a:xfrm>
                <a:off x="6164" y="4859"/>
                <a:ext cx="1260" cy="691"/>
              </a:xfrm>
              <a:prstGeom prst="roundRect">
                <a:avLst>
                  <a:gd name="adj" fmla="val 16667"/>
                </a:avLst>
              </a:prstGeom>
              <a:solidFill>
                <a:srgbClr val="FF66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609600" indent="-609600"/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硬件实现</a:t>
                </a:r>
              </a:p>
              <a:p>
                <a:pPr marL="609600" indent="-609600"/>
                <a:endParaRPr lang="zh-CN" altLang="en-US" sz="200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88087" name="AutoShape 12"/>
              <p:cNvSpPr>
                <a:spLocks noChangeArrowheads="1"/>
              </p:cNvSpPr>
              <p:nvPr/>
            </p:nvSpPr>
            <p:spPr bwMode="auto">
              <a:xfrm>
                <a:off x="3875" y="5107"/>
                <a:ext cx="294" cy="124"/>
              </a:xfrm>
              <a:prstGeom prst="rightArrow">
                <a:avLst>
                  <a:gd name="adj1" fmla="val 50000"/>
                  <a:gd name="adj2" fmla="val 5927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88088" name="AutoShape 13"/>
              <p:cNvSpPr>
                <a:spLocks noChangeArrowheads="1"/>
              </p:cNvSpPr>
              <p:nvPr/>
            </p:nvSpPr>
            <p:spPr bwMode="auto">
              <a:xfrm>
                <a:off x="5723" y="5107"/>
                <a:ext cx="294" cy="124"/>
              </a:xfrm>
              <a:prstGeom prst="rightArrow">
                <a:avLst>
                  <a:gd name="adj1" fmla="val 50000"/>
                  <a:gd name="adj2" fmla="val 5927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1317625" y="3549650"/>
            <a:ext cx="6510338" cy="1314450"/>
            <a:chOff x="830" y="2236"/>
            <a:chExt cx="4101" cy="828"/>
          </a:xfrm>
        </p:grpSpPr>
        <p:grpSp>
          <p:nvGrpSpPr>
            <p:cNvPr id="88075" name="Group 14"/>
            <p:cNvGrpSpPr>
              <a:grpSpLocks/>
            </p:cNvGrpSpPr>
            <p:nvPr/>
          </p:nvGrpSpPr>
          <p:grpSpPr bwMode="auto">
            <a:xfrm>
              <a:off x="1339" y="2646"/>
              <a:ext cx="3574" cy="418"/>
              <a:chOff x="2468" y="4850"/>
              <a:chExt cx="4956" cy="700"/>
            </a:xfrm>
          </p:grpSpPr>
          <p:sp>
            <p:nvSpPr>
              <p:cNvPr id="88077" name="AutoShape 15"/>
              <p:cNvSpPr>
                <a:spLocks noChangeArrowheads="1"/>
              </p:cNvSpPr>
              <p:nvPr/>
            </p:nvSpPr>
            <p:spPr bwMode="auto">
              <a:xfrm>
                <a:off x="2468" y="4850"/>
                <a:ext cx="1260" cy="691"/>
              </a:xfrm>
              <a:prstGeom prst="roundRect">
                <a:avLst>
                  <a:gd name="adj" fmla="val 16667"/>
                </a:avLst>
              </a:prstGeom>
              <a:solidFill>
                <a:srgbClr val="FFCC99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609600" indent="-609600"/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问题描述</a:t>
                </a:r>
              </a:p>
              <a:p>
                <a:pPr marL="609600" indent="-609600"/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 </a:t>
                </a:r>
                <a:r>
                  <a:rPr lang="en-US" altLang="zh-CN" sz="2000">
                    <a:latin typeface="黑体" pitchFamily="2" charset="-122"/>
                    <a:ea typeface="黑体" pitchFamily="2" charset="-122"/>
                  </a:rPr>
                  <a:t>(</a:t>
                </a:r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表示</a:t>
                </a:r>
                <a:r>
                  <a:rPr lang="en-US" altLang="zh-CN" sz="2000">
                    <a:latin typeface="黑体" pitchFamily="2" charset="-122"/>
                    <a:ea typeface="黑体" pitchFamily="2" charset="-122"/>
                  </a:rPr>
                  <a:t>)</a:t>
                </a:r>
                <a:endParaRPr lang="en-US" altLang="zh-CN" sz="2000" b="0">
                  <a:latin typeface="黑体" pitchFamily="2" charset="-122"/>
                  <a:ea typeface="黑体" pitchFamily="2" charset="-122"/>
                </a:endParaRPr>
              </a:p>
              <a:p>
                <a:pPr marL="609600" indent="-609600"/>
                <a:endParaRPr lang="en-US" altLang="zh-CN" sz="200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88078" name="AutoShape 16"/>
              <p:cNvSpPr>
                <a:spLocks noChangeArrowheads="1"/>
              </p:cNvSpPr>
              <p:nvPr/>
            </p:nvSpPr>
            <p:spPr bwMode="auto">
              <a:xfrm>
                <a:off x="4316" y="4859"/>
                <a:ext cx="1260" cy="691"/>
              </a:xfrm>
              <a:prstGeom prst="roundRect">
                <a:avLst>
                  <a:gd name="adj" fmla="val 16667"/>
                </a:avLst>
              </a:prstGeom>
              <a:solidFill>
                <a:srgbClr val="FF99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609600" indent="-609600"/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算法设计</a:t>
                </a:r>
              </a:p>
              <a:p>
                <a:pPr marL="609600" indent="-609600"/>
                <a:endParaRPr lang="zh-CN" altLang="en-US" sz="200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88079" name="AutoShape 17"/>
              <p:cNvSpPr>
                <a:spLocks noChangeArrowheads="1"/>
              </p:cNvSpPr>
              <p:nvPr/>
            </p:nvSpPr>
            <p:spPr bwMode="auto">
              <a:xfrm>
                <a:off x="6164" y="4859"/>
                <a:ext cx="1260" cy="691"/>
              </a:xfrm>
              <a:prstGeom prst="roundRect">
                <a:avLst>
                  <a:gd name="adj" fmla="val 16667"/>
                </a:avLst>
              </a:prstGeom>
              <a:solidFill>
                <a:srgbClr val="FF66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609600" indent="-609600"/>
                <a:r>
                  <a:rPr lang="zh-CN" altLang="en-US" sz="2000">
                    <a:latin typeface="黑体" pitchFamily="2" charset="-122"/>
                    <a:ea typeface="黑体" pitchFamily="2" charset="-122"/>
                  </a:rPr>
                  <a:t>程序实现</a:t>
                </a:r>
              </a:p>
            </p:txBody>
          </p:sp>
          <p:sp>
            <p:nvSpPr>
              <p:cNvPr id="88080" name="AutoShape 18"/>
              <p:cNvSpPr>
                <a:spLocks noChangeArrowheads="1"/>
              </p:cNvSpPr>
              <p:nvPr/>
            </p:nvSpPr>
            <p:spPr bwMode="auto">
              <a:xfrm>
                <a:off x="3875" y="5107"/>
                <a:ext cx="294" cy="124"/>
              </a:xfrm>
              <a:prstGeom prst="rightArrow">
                <a:avLst>
                  <a:gd name="adj1" fmla="val 50000"/>
                  <a:gd name="adj2" fmla="val 5927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88081" name="AutoShape 19"/>
              <p:cNvSpPr>
                <a:spLocks noChangeArrowheads="1"/>
              </p:cNvSpPr>
              <p:nvPr/>
            </p:nvSpPr>
            <p:spPr bwMode="auto">
              <a:xfrm>
                <a:off x="5723" y="5107"/>
                <a:ext cx="294" cy="124"/>
              </a:xfrm>
              <a:prstGeom prst="rightArrow">
                <a:avLst>
                  <a:gd name="adj1" fmla="val 50000"/>
                  <a:gd name="adj2" fmla="val 5927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88076" name="Rectangle 20"/>
            <p:cNvSpPr>
              <a:spLocks noChangeArrowheads="1"/>
            </p:cNvSpPr>
            <p:nvPr/>
          </p:nvSpPr>
          <p:spPr bwMode="auto">
            <a:xfrm>
              <a:off x="830" y="2236"/>
              <a:ext cx="4101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tabLst>
                  <a:tab pos="542925" algn="l"/>
                </a:tabLst>
              </a:pP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软件设计中：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155700" y="5205413"/>
            <a:ext cx="7988300" cy="909637"/>
            <a:chOff x="728" y="3279"/>
            <a:chExt cx="5032" cy="573"/>
          </a:xfrm>
        </p:grpSpPr>
        <p:sp>
          <p:nvSpPr>
            <p:cNvPr id="88073" name="Rectangle 21"/>
            <p:cNvSpPr>
              <a:spLocks noChangeArrowheads="1"/>
            </p:cNvSpPr>
            <p:nvPr/>
          </p:nvSpPr>
          <p:spPr bwMode="auto">
            <a:xfrm>
              <a:off x="728" y="3279"/>
              <a:ext cx="4169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609600" indent="-609600"/>
              <a:r>
                <a:rPr lang="zh-CN" altLang="en-US" sz="24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共性：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都需要把问题变成计算机可求解的形式。</a:t>
              </a:r>
            </a:p>
          </p:txBody>
        </p:sp>
        <p:sp>
          <p:nvSpPr>
            <p:cNvPr id="88074" name="Rectangle 22"/>
            <p:cNvSpPr>
              <a:spLocks noChangeArrowheads="1"/>
            </p:cNvSpPr>
            <p:nvPr/>
          </p:nvSpPr>
          <p:spPr bwMode="auto">
            <a:xfrm>
              <a:off x="1218" y="3587"/>
              <a:ext cx="454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609600" indent="-609600"/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这是因为</a:t>
              </a:r>
              <a:r>
                <a:rPr lang="zh-CN" altLang="en-US" sz="24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硬件和软件都是面向算法的</a:t>
              </a:r>
              <a:r>
                <a:rPr lang="zh-CN" altLang="en-US" sz="2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，道理相通！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1219200" y="523875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3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本章的提高指导</a:t>
            </a:r>
          </a:p>
        </p:txBody>
      </p:sp>
      <p:sp>
        <p:nvSpPr>
          <p:cNvPr id="89091" name="Line 3"/>
          <p:cNvSpPr>
            <a:spLocks noChangeShapeType="1"/>
          </p:cNvSpPr>
          <p:nvPr/>
        </p:nvSpPr>
        <p:spPr bwMode="auto">
          <a:xfrm>
            <a:off x="685800" y="1219200"/>
            <a:ext cx="7840663" cy="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17610"/>
              </p:ext>
            </p:extLst>
          </p:nvPr>
        </p:nvGraphicFramePr>
        <p:xfrm>
          <a:off x="693738" y="565150"/>
          <a:ext cx="9826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809738" imgH="438095" progId="Paint.Picture">
                  <p:embed/>
                </p:oleObj>
              </mc:Choice>
              <mc:Fallback>
                <p:oleObj name="BMP 图象" r:id="rId2" imgW="809738" imgH="43809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565150"/>
                        <a:ext cx="982662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874713" y="1530350"/>
            <a:ext cx="54737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6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4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启迪 </a:t>
            </a:r>
            <a:r>
              <a:rPr lang="zh-CN" altLang="en-US" sz="24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1320800" y="2065338"/>
            <a:ext cx="6510338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tabLst>
                <a:tab pos="542925" algn="l"/>
              </a:tabLst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硬件设计中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本课程</a:t>
            </a:r>
            <a:r>
              <a:rPr lang="en-US" altLang="zh-CN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</a:t>
            </a:r>
          </a:p>
        </p:txBody>
      </p:sp>
      <p:grpSp>
        <p:nvGrpSpPr>
          <p:cNvPr id="89095" name="Group 7"/>
          <p:cNvGrpSpPr>
            <a:grpSpLocks/>
          </p:cNvGrpSpPr>
          <p:nvPr/>
        </p:nvGrpSpPr>
        <p:grpSpPr bwMode="auto">
          <a:xfrm>
            <a:off x="2138363" y="2716213"/>
            <a:ext cx="5659437" cy="661987"/>
            <a:chOff x="2468" y="4850"/>
            <a:chExt cx="4956" cy="700"/>
          </a:xfrm>
        </p:grpSpPr>
        <p:sp>
          <p:nvSpPr>
            <p:cNvPr id="89104" name="AutoShape 8"/>
            <p:cNvSpPr>
              <a:spLocks noChangeArrowheads="1"/>
            </p:cNvSpPr>
            <p:nvPr/>
          </p:nvSpPr>
          <p:spPr bwMode="auto">
            <a:xfrm>
              <a:off x="2468" y="4850"/>
              <a:ext cx="1260" cy="691"/>
            </a:xfrm>
            <a:prstGeom prst="roundRect">
              <a:avLst>
                <a:gd name="adj" fmla="val 16667"/>
              </a:avLst>
            </a:prstGeom>
            <a:solidFill>
              <a:srgbClr val="FFCC99">
                <a:alpha val="50195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609600" indent="-609600"/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码制</a:t>
              </a:r>
            </a:p>
            <a:p>
              <a:pPr marL="609600" indent="-609600"/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数据表示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)</a:t>
              </a:r>
              <a:endParaRPr lang="en-US" altLang="zh-CN" sz="2000" b="0">
                <a:latin typeface="黑体" pitchFamily="2" charset="-122"/>
                <a:ea typeface="黑体" pitchFamily="2" charset="-122"/>
              </a:endParaRPr>
            </a:p>
            <a:p>
              <a:pPr marL="609600" indent="-609600"/>
              <a:endParaRPr lang="en-US" altLang="zh-CN" sz="2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9105" name="AutoShape 9"/>
            <p:cNvSpPr>
              <a:spLocks noChangeArrowheads="1"/>
            </p:cNvSpPr>
            <p:nvPr/>
          </p:nvSpPr>
          <p:spPr bwMode="auto">
            <a:xfrm>
              <a:off x="4316" y="4859"/>
              <a:ext cx="1260" cy="691"/>
            </a:xfrm>
            <a:prstGeom prst="roundRect">
              <a:avLst>
                <a:gd name="adj" fmla="val 16667"/>
              </a:avLst>
            </a:prstGeom>
            <a:solidFill>
              <a:srgbClr val="FF9900">
                <a:alpha val="50195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609600" indent="-609600"/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运算方法 </a:t>
              </a:r>
            </a:p>
            <a:p>
              <a:pPr marL="609600" indent="-609600"/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算法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)</a:t>
              </a:r>
            </a:p>
            <a:p>
              <a:pPr marL="609600" indent="-609600"/>
              <a:endParaRPr lang="en-US" altLang="zh-CN" sz="2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9106" name="AutoShape 10"/>
            <p:cNvSpPr>
              <a:spLocks noChangeArrowheads="1"/>
            </p:cNvSpPr>
            <p:nvPr/>
          </p:nvSpPr>
          <p:spPr bwMode="auto">
            <a:xfrm>
              <a:off x="6164" y="4859"/>
              <a:ext cx="1260" cy="691"/>
            </a:xfrm>
            <a:prstGeom prst="roundRect">
              <a:avLst>
                <a:gd name="adj" fmla="val 16667"/>
              </a:avLst>
            </a:prstGeom>
            <a:solidFill>
              <a:srgbClr val="FF6600">
                <a:alpha val="50195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609600" indent="-609600"/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硬件实现</a:t>
              </a:r>
            </a:p>
            <a:p>
              <a:pPr marL="609600" indent="-609600"/>
              <a:endParaRPr lang="zh-CN" altLang="en-US" sz="2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9107" name="AutoShape 11"/>
            <p:cNvSpPr>
              <a:spLocks noChangeArrowheads="1"/>
            </p:cNvSpPr>
            <p:nvPr/>
          </p:nvSpPr>
          <p:spPr bwMode="auto">
            <a:xfrm>
              <a:off x="3875" y="5107"/>
              <a:ext cx="294" cy="124"/>
            </a:xfrm>
            <a:prstGeom prst="rightArrow">
              <a:avLst>
                <a:gd name="adj1" fmla="val 50000"/>
                <a:gd name="adj2" fmla="val 59274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9108" name="AutoShape 12"/>
            <p:cNvSpPr>
              <a:spLocks noChangeArrowheads="1"/>
            </p:cNvSpPr>
            <p:nvPr/>
          </p:nvSpPr>
          <p:spPr bwMode="auto">
            <a:xfrm>
              <a:off x="5723" y="5107"/>
              <a:ext cx="294" cy="124"/>
            </a:xfrm>
            <a:prstGeom prst="rightArrow">
              <a:avLst>
                <a:gd name="adj1" fmla="val 50000"/>
                <a:gd name="adj2" fmla="val 59274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89096" name="Group 13"/>
          <p:cNvGrpSpPr>
            <a:grpSpLocks/>
          </p:cNvGrpSpPr>
          <p:nvPr/>
        </p:nvGrpSpPr>
        <p:grpSpPr bwMode="auto">
          <a:xfrm>
            <a:off x="2125663" y="4200525"/>
            <a:ext cx="5673725" cy="663575"/>
            <a:chOff x="2468" y="4850"/>
            <a:chExt cx="4956" cy="700"/>
          </a:xfrm>
        </p:grpSpPr>
        <p:sp>
          <p:nvSpPr>
            <p:cNvPr id="89099" name="AutoShape 14"/>
            <p:cNvSpPr>
              <a:spLocks noChangeArrowheads="1"/>
            </p:cNvSpPr>
            <p:nvPr/>
          </p:nvSpPr>
          <p:spPr bwMode="auto">
            <a:xfrm>
              <a:off x="2468" y="4850"/>
              <a:ext cx="1260" cy="691"/>
            </a:xfrm>
            <a:prstGeom prst="roundRect">
              <a:avLst>
                <a:gd name="adj" fmla="val 16667"/>
              </a:avLst>
            </a:prstGeom>
            <a:solidFill>
              <a:srgbClr val="FFCC99">
                <a:alpha val="50195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609600" indent="-609600"/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问题描述</a:t>
              </a:r>
            </a:p>
            <a:p>
              <a:pPr marL="609600" indent="-609600"/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表示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)</a:t>
              </a:r>
              <a:endParaRPr lang="en-US" altLang="zh-CN" sz="2000" b="0">
                <a:latin typeface="黑体" pitchFamily="2" charset="-122"/>
                <a:ea typeface="黑体" pitchFamily="2" charset="-122"/>
              </a:endParaRPr>
            </a:p>
            <a:p>
              <a:pPr marL="609600" indent="-609600"/>
              <a:endParaRPr lang="en-US" altLang="zh-CN" sz="2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9100" name="AutoShape 15"/>
            <p:cNvSpPr>
              <a:spLocks noChangeArrowheads="1"/>
            </p:cNvSpPr>
            <p:nvPr/>
          </p:nvSpPr>
          <p:spPr bwMode="auto">
            <a:xfrm>
              <a:off x="4316" y="4859"/>
              <a:ext cx="1260" cy="691"/>
            </a:xfrm>
            <a:prstGeom prst="roundRect">
              <a:avLst>
                <a:gd name="adj" fmla="val 16667"/>
              </a:avLst>
            </a:prstGeom>
            <a:solidFill>
              <a:srgbClr val="FF9900">
                <a:alpha val="50195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609600" indent="-609600"/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算法设计</a:t>
              </a:r>
            </a:p>
            <a:p>
              <a:pPr marL="609600" indent="-609600"/>
              <a:endParaRPr lang="zh-CN" altLang="en-US" sz="2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9101" name="AutoShape 16"/>
            <p:cNvSpPr>
              <a:spLocks noChangeArrowheads="1"/>
            </p:cNvSpPr>
            <p:nvPr/>
          </p:nvSpPr>
          <p:spPr bwMode="auto">
            <a:xfrm>
              <a:off x="6164" y="4859"/>
              <a:ext cx="1260" cy="691"/>
            </a:xfrm>
            <a:prstGeom prst="roundRect">
              <a:avLst>
                <a:gd name="adj" fmla="val 16667"/>
              </a:avLst>
            </a:prstGeom>
            <a:solidFill>
              <a:srgbClr val="FF6600">
                <a:alpha val="50195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609600" indent="-609600"/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程序实现</a:t>
              </a:r>
            </a:p>
          </p:txBody>
        </p:sp>
        <p:sp>
          <p:nvSpPr>
            <p:cNvPr id="89102" name="AutoShape 17"/>
            <p:cNvSpPr>
              <a:spLocks noChangeArrowheads="1"/>
            </p:cNvSpPr>
            <p:nvPr/>
          </p:nvSpPr>
          <p:spPr bwMode="auto">
            <a:xfrm>
              <a:off x="3875" y="5107"/>
              <a:ext cx="294" cy="124"/>
            </a:xfrm>
            <a:prstGeom prst="rightArrow">
              <a:avLst>
                <a:gd name="adj1" fmla="val 50000"/>
                <a:gd name="adj2" fmla="val 59274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9103" name="AutoShape 18"/>
            <p:cNvSpPr>
              <a:spLocks noChangeArrowheads="1"/>
            </p:cNvSpPr>
            <p:nvPr/>
          </p:nvSpPr>
          <p:spPr bwMode="auto">
            <a:xfrm>
              <a:off x="5723" y="5107"/>
              <a:ext cx="294" cy="124"/>
            </a:xfrm>
            <a:prstGeom prst="rightArrow">
              <a:avLst>
                <a:gd name="adj1" fmla="val 50000"/>
                <a:gd name="adj2" fmla="val 59274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89097" name="Rectangle 19"/>
          <p:cNvSpPr>
            <a:spLocks noChangeArrowheads="1"/>
          </p:cNvSpPr>
          <p:nvPr/>
        </p:nvSpPr>
        <p:spPr bwMode="auto">
          <a:xfrm>
            <a:off x="1317625" y="3549650"/>
            <a:ext cx="6510338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tabLst>
                <a:tab pos="542925" algn="l"/>
              </a:tabLst>
            </a:pPr>
            <a:r>
              <a:rPr lang="zh-CN" altLang="en-US" sz="2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软件设计中：</a:t>
            </a:r>
          </a:p>
        </p:txBody>
      </p:sp>
      <p:sp>
        <p:nvSpPr>
          <p:cNvPr id="89098" name="Rectangle 22"/>
          <p:cNvSpPr>
            <a:spLocks noChangeArrowheads="1"/>
          </p:cNvSpPr>
          <p:nvPr/>
        </p:nvSpPr>
        <p:spPr bwMode="auto">
          <a:xfrm>
            <a:off x="1063625" y="5243513"/>
            <a:ext cx="7391400" cy="985837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1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你能否从硬件的学习中提高计算思维能力？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en-US" altLang="zh-CN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----</a:t>
            </a:r>
            <a:r>
              <a:rPr lang="zh-CN" altLang="en-US" sz="2400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学习怎样把问题变成计算机可求解的形式。</a:t>
            </a:r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隶书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609600" marR="0" indent="-6096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bg1"/>
          </a:buClr>
          <a:buSzTx/>
          <a:buFont typeface="Wingdings" pitchFamily="2" charset="2"/>
          <a:buNone/>
          <a:tabLst/>
          <a:defRPr kumimoji="1" lang="en-US" sz="2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609600" marR="0" indent="-6096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bg1"/>
          </a:buClr>
          <a:buSzTx/>
          <a:buFont typeface="Wingdings" pitchFamily="2" charset="2"/>
          <a:buNone/>
          <a:tabLst/>
          <a:defRPr kumimoji="1" lang="en-US" sz="2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Designs\Artsy.pot</Template>
  <TotalTime>9385</TotalTime>
  <Words>7255</Words>
  <Application>Microsoft Office PowerPoint</Application>
  <PresentationFormat>全屏显示(4:3)</PresentationFormat>
  <Paragraphs>778</Paragraphs>
  <Slides>97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97</vt:i4>
      </vt:variant>
    </vt:vector>
  </HeadingPairs>
  <TitlesOfParts>
    <vt:vector size="115" baseType="lpstr">
      <vt:lpstr>仿宋_GB2312</vt:lpstr>
      <vt:lpstr>黑体</vt:lpstr>
      <vt:lpstr>楷体_GB2312</vt:lpstr>
      <vt:lpstr>宋体</vt:lpstr>
      <vt:lpstr>微软雅黑</vt:lpstr>
      <vt:lpstr>Arial</vt:lpstr>
      <vt:lpstr>Cambria Math</vt:lpstr>
      <vt:lpstr>Segoe UI</vt:lpstr>
      <vt:lpstr>Tahoma</vt:lpstr>
      <vt:lpstr>Times New Roman</vt:lpstr>
      <vt:lpstr>Wingdings</vt:lpstr>
      <vt:lpstr>Blends</vt:lpstr>
      <vt:lpstr>Document</vt:lpstr>
      <vt:lpstr>BMP 图象</vt:lpstr>
      <vt:lpstr>位图图像</vt:lpstr>
      <vt:lpstr>文档</vt:lpstr>
      <vt:lpstr>Visio.Drawing.6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数据的机器层次表示</dc:title>
  <dc:creator>Y.Q.Ma</dc:creator>
  <cp:lastModifiedBy>Jingdong Sun</cp:lastModifiedBy>
  <cp:revision>1187</cp:revision>
  <cp:lastPrinted>1601-01-01T00:00:00Z</cp:lastPrinted>
  <dcterms:created xsi:type="dcterms:W3CDTF">2000-10-10T05:39:14Z</dcterms:created>
  <dcterms:modified xsi:type="dcterms:W3CDTF">2024-02-27T14:53:44Z</dcterms:modified>
</cp:coreProperties>
</file>