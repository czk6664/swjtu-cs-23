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57" r:id="rId1"/>
  </p:sldMasterIdLst>
  <p:notesMasterIdLst>
    <p:notesMasterId r:id="rId24"/>
  </p:notesMasterIdLst>
  <p:handoutMasterIdLst>
    <p:handoutMasterId r:id="rId25"/>
  </p:handoutMasterIdLst>
  <p:sldIdLst>
    <p:sldId id="533" r:id="rId2"/>
    <p:sldId id="690" r:id="rId3"/>
    <p:sldId id="361" r:id="rId4"/>
    <p:sldId id="657" r:id="rId5"/>
    <p:sldId id="674" r:id="rId6"/>
    <p:sldId id="675" r:id="rId7"/>
    <p:sldId id="673" r:id="rId8"/>
    <p:sldId id="676" r:id="rId9"/>
    <p:sldId id="677" r:id="rId10"/>
    <p:sldId id="678" r:id="rId11"/>
    <p:sldId id="680" r:id="rId12"/>
    <p:sldId id="681" r:id="rId13"/>
    <p:sldId id="682" r:id="rId14"/>
    <p:sldId id="679" r:id="rId15"/>
    <p:sldId id="683" r:id="rId16"/>
    <p:sldId id="685" r:id="rId17"/>
    <p:sldId id="684" r:id="rId18"/>
    <p:sldId id="686" r:id="rId19"/>
    <p:sldId id="687" r:id="rId20"/>
    <p:sldId id="688" r:id="rId21"/>
    <p:sldId id="689" r:id="rId22"/>
    <p:sldId id="691" r:id="rId23"/>
  </p:sldIdLst>
  <p:sldSz cx="9144000" cy="6858000" type="screen4x3"/>
  <p:notesSz cx="7099300" cy="10234613"/>
  <p:defaultTextStyle>
    <a:defPPr>
      <a:defRPr lang="en-US"/>
    </a:defPPr>
    <a:lvl1pPr algn="l" rtl="0" fontAlgn="base">
      <a:spcBef>
        <a:spcPct val="50000"/>
      </a:spcBef>
      <a:spcAft>
        <a:spcPct val="0"/>
      </a:spcAft>
      <a:buClr>
        <a:schemeClr val="bg1"/>
      </a:buClr>
      <a:buFont typeface="Wingdings" pitchFamily="2" charset="2"/>
      <a:defRPr kumimoji="1" sz="2400" b="1" kern="1200">
        <a:solidFill>
          <a:srgbClr val="000080"/>
        </a:solidFill>
        <a:latin typeface="楷体_GB2312" pitchFamily="49" charset="-122"/>
        <a:ea typeface="楷体_GB2312" pitchFamily="49" charset="-122"/>
        <a:cs typeface="+mn-cs"/>
      </a:defRPr>
    </a:lvl1pPr>
    <a:lvl2pPr marL="457200" algn="l" rtl="0" fontAlgn="base">
      <a:spcBef>
        <a:spcPct val="50000"/>
      </a:spcBef>
      <a:spcAft>
        <a:spcPct val="0"/>
      </a:spcAft>
      <a:buClr>
        <a:schemeClr val="bg1"/>
      </a:buClr>
      <a:buFont typeface="Wingdings" pitchFamily="2" charset="2"/>
      <a:defRPr kumimoji="1" sz="2400" b="1" kern="1200">
        <a:solidFill>
          <a:srgbClr val="000080"/>
        </a:solidFill>
        <a:latin typeface="楷体_GB2312" pitchFamily="49" charset="-122"/>
        <a:ea typeface="楷体_GB2312" pitchFamily="49" charset="-122"/>
        <a:cs typeface="+mn-cs"/>
      </a:defRPr>
    </a:lvl2pPr>
    <a:lvl3pPr marL="914400" algn="l" rtl="0" fontAlgn="base">
      <a:spcBef>
        <a:spcPct val="50000"/>
      </a:spcBef>
      <a:spcAft>
        <a:spcPct val="0"/>
      </a:spcAft>
      <a:buClr>
        <a:schemeClr val="bg1"/>
      </a:buClr>
      <a:buFont typeface="Wingdings" pitchFamily="2" charset="2"/>
      <a:defRPr kumimoji="1" sz="2400" b="1" kern="1200">
        <a:solidFill>
          <a:srgbClr val="000080"/>
        </a:solidFill>
        <a:latin typeface="楷体_GB2312" pitchFamily="49" charset="-122"/>
        <a:ea typeface="楷体_GB2312" pitchFamily="49" charset="-122"/>
        <a:cs typeface="+mn-cs"/>
      </a:defRPr>
    </a:lvl3pPr>
    <a:lvl4pPr marL="1371600" algn="l" rtl="0" fontAlgn="base">
      <a:spcBef>
        <a:spcPct val="50000"/>
      </a:spcBef>
      <a:spcAft>
        <a:spcPct val="0"/>
      </a:spcAft>
      <a:buClr>
        <a:schemeClr val="bg1"/>
      </a:buClr>
      <a:buFont typeface="Wingdings" pitchFamily="2" charset="2"/>
      <a:defRPr kumimoji="1" sz="2400" b="1" kern="1200">
        <a:solidFill>
          <a:srgbClr val="000080"/>
        </a:solidFill>
        <a:latin typeface="楷体_GB2312" pitchFamily="49" charset="-122"/>
        <a:ea typeface="楷体_GB2312" pitchFamily="49" charset="-122"/>
        <a:cs typeface="+mn-cs"/>
      </a:defRPr>
    </a:lvl4pPr>
    <a:lvl5pPr marL="1828800" algn="l" rtl="0" fontAlgn="base">
      <a:spcBef>
        <a:spcPct val="50000"/>
      </a:spcBef>
      <a:spcAft>
        <a:spcPct val="0"/>
      </a:spcAft>
      <a:buClr>
        <a:schemeClr val="bg1"/>
      </a:buClr>
      <a:buFont typeface="Wingdings" pitchFamily="2" charset="2"/>
      <a:defRPr kumimoji="1" sz="2400" b="1" kern="1200">
        <a:solidFill>
          <a:srgbClr val="000080"/>
        </a:solidFill>
        <a:latin typeface="楷体_GB2312" pitchFamily="49" charset="-122"/>
        <a:ea typeface="楷体_GB2312" pitchFamily="49" charset="-122"/>
        <a:cs typeface="+mn-cs"/>
      </a:defRPr>
    </a:lvl5pPr>
    <a:lvl6pPr marL="2286000" algn="l" defTabSz="914400" rtl="0" eaLnBrk="1" latinLnBrk="0" hangingPunct="1">
      <a:defRPr kumimoji="1" sz="2400" b="1" kern="1200">
        <a:solidFill>
          <a:srgbClr val="000080"/>
        </a:solidFill>
        <a:latin typeface="楷体_GB2312" pitchFamily="49" charset="-122"/>
        <a:ea typeface="楷体_GB2312" pitchFamily="49" charset="-122"/>
        <a:cs typeface="+mn-cs"/>
      </a:defRPr>
    </a:lvl6pPr>
    <a:lvl7pPr marL="2743200" algn="l" defTabSz="914400" rtl="0" eaLnBrk="1" latinLnBrk="0" hangingPunct="1">
      <a:defRPr kumimoji="1" sz="2400" b="1" kern="1200">
        <a:solidFill>
          <a:srgbClr val="000080"/>
        </a:solidFill>
        <a:latin typeface="楷体_GB2312" pitchFamily="49" charset="-122"/>
        <a:ea typeface="楷体_GB2312" pitchFamily="49" charset="-122"/>
        <a:cs typeface="+mn-cs"/>
      </a:defRPr>
    </a:lvl7pPr>
    <a:lvl8pPr marL="3200400" algn="l" defTabSz="914400" rtl="0" eaLnBrk="1" latinLnBrk="0" hangingPunct="1">
      <a:defRPr kumimoji="1" sz="2400" b="1" kern="1200">
        <a:solidFill>
          <a:srgbClr val="000080"/>
        </a:solidFill>
        <a:latin typeface="楷体_GB2312" pitchFamily="49" charset="-122"/>
        <a:ea typeface="楷体_GB2312" pitchFamily="49" charset="-122"/>
        <a:cs typeface="+mn-cs"/>
      </a:defRPr>
    </a:lvl8pPr>
    <a:lvl9pPr marL="3657600" algn="l" defTabSz="914400" rtl="0" eaLnBrk="1" latinLnBrk="0" hangingPunct="1">
      <a:defRPr kumimoji="1" sz="2400" b="1" kern="1200">
        <a:solidFill>
          <a:srgbClr val="000080"/>
        </a:solidFill>
        <a:latin typeface="楷体_GB2312" pitchFamily="49" charset="-122"/>
        <a:ea typeface="楷体_GB2312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CC3300"/>
    <a:srgbClr val="000099"/>
    <a:srgbClr val="FFCCCC"/>
    <a:srgbClr val="FF9999"/>
    <a:srgbClr val="FF00FF"/>
    <a:srgbClr val="000066"/>
    <a:srgbClr val="CCECFF"/>
    <a:srgbClr val="8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主题样式 1 - 强调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EB344D84-9AFB-497E-A393-DC336BA19D2E}" styleName="中度样式 3 - 强调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7292A2E-F333-43FB-9621-5CBBE7FDCDCB}" styleName="浅色样式 2 - 强调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73" autoAdjust="0"/>
    <p:restoredTop sz="94549" autoAdjust="0"/>
  </p:normalViewPr>
  <p:slideViewPr>
    <p:cSldViewPr snapToGrid="0">
      <p:cViewPr varScale="1">
        <p:scale>
          <a:sx n="99" d="100"/>
          <a:sy n="99" d="100"/>
        </p:scale>
        <p:origin x="948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54" d="100"/>
          <a:sy n="54" d="100"/>
        </p:scale>
        <p:origin x="-1818" y="-84"/>
      </p:cViewPr>
      <p:guideLst>
        <p:guide orient="horz" pos="3224"/>
        <p:guide pos="2236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60" tIns="48230" rIns="96460" bIns="4823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300" b="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3005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60" tIns="48230" rIns="96460" bIns="4823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300" b="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005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60" tIns="48230" rIns="96460" bIns="4823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300" b="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005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60" tIns="48230" rIns="96460" bIns="4823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300" b="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A170D9E8-23F8-4CEF-AA13-FA6EA9736C7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081073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60" tIns="48230" rIns="96460" bIns="4823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300" b="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830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60" tIns="48230" rIns="96460" bIns="4823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300" b="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203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9688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830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0925"/>
            <a:ext cx="5207000" cy="4606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60" tIns="48230" rIns="96460" bIns="4823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9831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60" tIns="48230" rIns="96460" bIns="4823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300" b="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831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60" tIns="48230" rIns="96460" bIns="4823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300" b="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</a:lstStyle>
          <a:p>
            <a:pPr>
              <a:defRPr/>
            </a:pPr>
            <a:fld id="{910CC6FE-52FA-4CD5-A191-210CB3CFEE6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2669063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幻灯片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2565640"/>
      </p:ext>
    </p:extLst>
  </p:cSld>
  <p:clrMapOvr>
    <a:masterClrMapping/>
  </p:clrMapOvr>
  <p:transition>
    <p:wipe dir="d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幻灯片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3"/>
          <p:cNvSpPr txBox="1">
            <a:spLocks noGrp="1"/>
          </p:cNvSpPr>
          <p:nvPr userDrawn="1"/>
        </p:nvSpPr>
        <p:spPr bwMode="auto">
          <a:xfrm>
            <a:off x="7920038" y="6513513"/>
            <a:ext cx="990600" cy="344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0" anchor="b"/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r" eaLnBrk="1" hangingPunct="1">
              <a:lnSpc>
                <a:spcPct val="130000"/>
              </a:lnSpc>
              <a:spcBef>
                <a:spcPct val="5000"/>
              </a:spcBef>
              <a:defRPr/>
            </a:pPr>
            <a:fld id="{2E02988E-99D1-48D5-8BA2-411B52333166}" type="slidenum">
              <a:rPr kumimoji="0" lang="zh-CN" altLang="en-US" sz="1400" smtClean="0">
                <a:solidFill>
                  <a:srgbClr val="000099"/>
                </a:solidFill>
                <a:latin typeface="Tahoma" pitchFamily="34" charset="0"/>
                <a:ea typeface="宋体" charset="-122"/>
              </a:rPr>
              <a:pPr algn="r" eaLnBrk="1" hangingPunct="1">
                <a:lnSpc>
                  <a:spcPct val="130000"/>
                </a:lnSpc>
                <a:spcBef>
                  <a:spcPct val="5000"/>
                </a:spcBef>
                <a:defRPr/>
              </a:pPr>
              <a:t>‹#›</a:t>
            </a:fld>
            <a:endParaRPr kumimoji="0" lang="en-US" altLang="zh-CN" sz="1400">
              <a:solidFill>
                <a:srgbClr val="000099"/>
              </a:solidFill>
              <a:latin typeface="Tahoma" pitchFamily="34" charset="0"/>
              <a:ea typeface="宋体" charset="-122"/>
            </a:endParaRPr>
          </a:p>
        </p:txBody>
      </p:sp>
      <p:sp>
        <p:nvSpPr>
          <p:cNvPr id="3" name="Rectangle 33"/>
          <p:cNvSpPr>
            <a:spLocks noChangeArrowheads="1"/>
          </p:cNvSpPr>
          <p:nvPr userDrawn="1"/>
        </p:nvSpPr>
        <p:spPr bwMode="auto">
          <a:xfrm flipH="1">
            <a:off x="0" y="6513513"/>
            <a:ext cx="9144000" cy="344487"/>
          </a:xfrm>
          <a:prstGeom prst="rect">
            <a:avLst/>
          </a:prstGeom>
          <a:gradFill rotWithShape="0">
            <a:gsLst>
              <a:gs pos="0">
                <a:srgbClr val="99CCFF"/>
              </a:gs>
              <a:gs pos="100000">
                <a:srgbClr val="EED0E6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lnSpc>
                <a:spcPct val="130000"/>
              </a:lnSpc>
              <a:spcBef>
                <a:spcPct val="5000"/>
              </a:spcBef>
            </a:pPr>
            <a:r>
              <a:rPr kumimoji="0" lang="zh-CN" altLang="en-US" sz="1600" i="1" dirty="0">
                <a:solidFill>
                  <a:srgbClr val="5F5F5F"/>
                </a:solidFill>
                <a:latin typeface="Arial" charset="0"/>
                <a:ea typeface="宋体" charset="-122"/>
              </a:rPr>
              <a:t>             </a:t>
            </a:r>
            <a:r>
              <a:rPr kumimoji="0" lang="zh-CN" altLang="en-US" sz="1600" b="0" i="1" dirty="0">
                <a:solidFill>
                  <a:srgbClr val="333333"/>
                </a:solidFill>
                <a:latin typeface="黑体" pitchFamily="2" charset="-122"/>
                <a:ea typeface="黑体" pitchFamily="2" charset="-122"/>
              </a:rPr>
              <a:t>西南交通大学信息科学与技术学院</a:t>
            </a:r>
            <a:r>
              <a:rPr kumimoji="0" lang="zh-CN" altLang="en-US" sz="1600" b="0" i="1" dirty="0">
                <a:solidFill>
                  <a:srgbClr val="333333"/>
                </a:solidFill>
                <a:latin typeface="Arial" charset="0"/>
                <a:ea typeface="黑体" pitchFamily="2" charset="-122"/>
              </a:rPr>
              <a:t>“</a:t>
            </a:r>
            <a:r>
              <a:rPr kumimoji="0" lang="zh-CN" altLang="en-US" sz="1600" i="1" dirty="0">
                <a:solidFill>
                  <a:srgbClr val="333333"/>
                </a:solidFill>
                <a:latin typeface="Times New Roman" pitchFamily="18" charset="0"/>
                <a:ea typeface="黑体" pitchFamily="2" charset="-122"/>
              </a:rPr>
              <a:t>计算机组成</a:t>
            </a:r>
            <a:r>
              <a:rPr kumimoji="0" lang="zh-CN" altLang="en-US" sz="1600" i="1" dirty="0">
                <a:solidFill>
                  <a:srgbClr val="333333"/>
                </a:solidFill>
                <a:latin typeface="黑体" pitchFamily="2" charset="-122"/>
                <a:ea typeface="黑体" pitchFamily="2" charset="-122"/>
              </a:rPr>
              <a:t>原理</a:t>
            </a:r>
            <a:r>
              <a:rPr kumimoji="0" lang="en-US" altLang="zh-CN" sz="1600" i="1" dirty="0">
                <a:solidFill>
                  <a:srgbClr val="333333"/>
                </a:solidFill>
                <a:latin typeface="黑体" pitchFamily="2" charset="-122"/>
                <a:ea typeface="黑体" pitchFamily="2" charset="-122"/>
              </a:rPr>
              <a:t>”</a:t>
            </a:r>
            <a:r>
              <a:rPr kumimoji="0" lang="zh-CN" altLang="en-US" sz="1600" b="0" i="1" dirty="0">
                <a:solidFill>
                  <a:srgbClr val="333333"/>
                </a:solidFill>
                <a:latin typeface="黑体" pitchFamily="2" charset="-122"/>
                <a:ea typeface="黑体" pitchFamily="2" charset="-122"/>
              </a:rPr>
              <a:t>教案</a:t>
            </a:r>
          </a:p>
        </p:txBody>
      </p:sp>
      <p:pic>
        <p:nvPicPr>
          <p:cNvPr id="4" name="Picture 34" descr="gm_clip_image001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6516688"/>
            <a:ext cx="312738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灯片编号占位符 3"/>
          <p:cNvSpPr txBox="1">
            <a:spLocks noGrp="1"/>
          </p:cNvSpPr>
          <p:nvPr userDrawn="1"/>
        </p:nvSpPr>
        <p:spPr bwMode="auto">
          <a:xfrm>
            <a:off x="7920038" y="6513513"/>
            <a:ext cx="990600" cy="344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0" anchor="b"/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r" eaLnBrk="1" hangingPunct="1">
              <a:lnSpc>
                <a:spcPct val="130000"/>
              </a:lnSpc>
              <a:spcBef>
                <a:spcPct val="5000"/>
              </a:spcBef>
              <a:defRPr/>
            </a:pPr>
            <a:fld id="{7A2A9A21-B528-4C79-80EE-7F863BBFB2D4}" type="slidenum">
              <a:rPr kumimoji="0" lang="zh-CN" altLang="en-US" sz="1800" smtClean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pPr algn="r" eaLnBrk="1" hangingPunct="1">
                <a:lnSpc>
                  <a:spcPct val="130000"/>
                </a:lnSpc>
                <a:spcBef>
                  <a:spcPct val="5000"/>
                </a:spcBef>
                <a:defRPr/>
              </a:pPr>
              <a:t>‹#›</a:t>
            </a:fld>
            <a:endParaRPr kumimoji="0" lang="en-US" altLang="zh-CN" sz="1800">
              <a:solidFill>
                <a:srgbClr val="000099"/>
              </a:solidFill>
              <a:latin typeface="黑体" pitchFamily="2" charset="-122"/>
              <a:ea typeface="黑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66405353"/>
      </p:ext>
    </p:extLst>
  </p:cSld>
  <p:clrMapOvr>
    <a:masterClrMapping/>
  </p:clrMapOvr>
  <p:transition>
    <p:wipe dir="d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幻灯片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3"/>
          <p:cNvSpPr txBox="1">
            <a:spLocks noGrp="1"/>
          </p:cNvSpPr>
          <p:nvPr userDrawn="1"/>
        </p:nvSpPr>
        <p:spPr bwMode="auto">
          <a:xfrm>
            <a:off x="7920038" y="6513513"/>
            <a:ext cx="990600" cy="344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0" anchor="b"/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r" eaLnBrk="1" hangingPunct="1">
              <a:lnSpc>
                <a:spcPct val="130000"/>
              </a:lnSpc>
              <a:spcBef>
                <a:spcPct val="5000"/>
              </a:spcBef>
              <a:defRPr/>
            </a:pPr>
            <a:fld id="{BA977AF0-FD2E-4DBC-A803-CECD1BA6EB71}" type="slidenum">
              <a:rPr kumimoji="0" lang="zh-CN" altLang="en-US" sz="1400" smtClean="0">
                <a:solidFill>
                  <a:srgbClr val="000099"/>
                </a:solidFill>
                <a:latin typeface="Tahoma" pitchFamily="34" charset="0"/>
                <a:ea typeface="宋体" charset="-122"/>
              </a:rPr>
              <a:pPr algn="r" eaLnBrk="1" hangingPunct="1">
                <a:lnSpc>
                  <a:spcPct val="130000"/>
                </a:lnSpc>
                <a:spcBef>
                  <a:spcPct val="5000"/>
                </a:spcBef>
                <a:defRPr/>
              </a:pPr>
              <a:t>‹#›</a:t>
            </a:fld>
            <a:endParaRPr kumimoji="0" lang="en-US" altLang="zh-CN" sz="1400">
              <a:solidFill>
                <a:srgbClr val="000099"/>
              </a:solidFill>
              <a:latin typeface="Tahoma" pitchFamily="34" charset="0"/>
              <a:ea typeface="宋体" charset="-122"/>
            </a:endParaRPr>
          </a:p>
        </p:txBody>
      </p:sp>
      <p:sp>
        <p:nvSpPr>
          <p:cNvPr id="3" name="Rectangle 33"/>
          <p:cNvSpPr>
            <a:spLocks noChangeArrowheads="1"/>
          </p:cNvSpPr>
          <p:nvPr userDrawn="1"/>
        </p:nvSpPr>
        <p:spPr bwMode="auto">
          <a:xfrm flipH="1">
            <a:off x="0" y="6513513"/>
            <a:ext cx="9144000" cy="344487"/>
          </a:xfrm>
          <a:prstGeom prst="rect">
            <a:avLst/>
          </a:prstGeom>
          <a:gradFill rotWithShape="0">
            <a:gsLst>
              <a:gs pos="0">
                <a:srgbClr val="99CCFF"/>
              </a:gs>
              <a:gs pos="100000">
                <a:srgbClr val="EED0E6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lnSpc>
                <a:spcPct val="130000"/>
              </a:lnSpc>
              <a:spcBef>
                <a:spcPct val="5000"/>
              </a:spcBef>
            </a:pPr>
            <a:r>
              <a:rPr kumimoji="0" lang="zh-CN" altLang="en-US" sz="1600" i="1" dirty="0">
                <a:solidFill>
                  <a:srgbClr val="5F5F5F"/>
                </a:solidFill>
                <a:latin typeface="Arial" charset="0"/>
                <a:ea typeface="宋体" charset="-122"/>
              </a:rPr>
              <a:t>             </a:t>
            </a:r>
            <a:r>
              <a:rPr kumimoji="0" lang="zh-CN" altLang="en-US" sz="1600" b="0" i="1" dirty="0">
                <a:solidFill>
                  <a:srgbClr val="333333"/>
                </a:solidFill>
                <a:latin typeface="黑体" pitchFamily="2" charset="-122"/>
                <a:ea typeface="黑体" pitchFamily="2" charset="-122"/>
              </a:rPr>
              <a:t>西南交通大学信息科学与技术学院</a:t>
            </a:r>
            <a:r>
              <a:rPr kumimoji="0" lang="zh-CN" altLang="en-US" sz="1600" b="0" i="1" dirty="0">
                <a:solidFill>
                  <a:srgbClr val="333333"/>
                </a:solidFill>
                <a:latin typeface="Arial" charset="0"/>
                <a:ea typeface="黑体" pitchFamily="2" charset="-122"/>
              </a:rPr>
              <a:t>“</a:t>
            </a:r>
            <a:r>
              <a:rPr kumimoji="0" lang="zh-CN" altLang="en-US" sz="1600" i="1" dirty="0">
                <a:solidFill>
                  <a:srgbClr val="333333"/>
                </a:solidFill>
                <a:latin typeface="Times New Roman" pitchFamily="18" charset="0"/>
                <a:ea typeface="黑体" pitchFamily="2" charset="-122"/>
              </a:rPr>
              <a:t>计算机组成</a:t>
            </a:r>
            <a:r>
              <a:rPr kumimoji="0" lang="zh-CN" altLang="en-US" sz="1600" i="1" dirty="0">
                <a:solidFill>
                  <a:srgbClr val="333333"/>
                </a:solidFill>
                <a:latin typeface="黑体" pitchFamily="2" charset="-122"/>
                <a:ea typeface="黑体" pitchFamily="2" charset="-122"/>
              </a:rPr>
              <a:t>原理</a:t>
            </a:r>
            <a:r>
              <a:rPr kumimoji="0" lang="en-US" altLang="zh-CN" sz="1600" i="1" dirty="0">
                <a:solidFill>
                  <a:srgbClr val="333333"/>
                </a:solidFill>
                <a:latin typeface="黑体" pitchFamily="2" charset="-122"/>
                <a:ea typeface="黑体" pitchFamily="2" charset="-122"/>
              </a:rPr>
              <a:t>”</a:t>
            </a:r>
            <a:r>
              <a:rPr kumimoji="0" lang="zh-CN" altLang="en-US" sz="1600" b="0" i="1" dirty="0">
                <a:solidFill>
                  <a:srgbClr val="333333"/>
                </a:solidFill>
                <a:latin typeface="黑体" pitchFamily="2" charset="-122"/>
                <a:ea typeface="黑体" pitchFamily="2" charset="-122"/>
              </a:rPr>
              <a:t>教案</a:t>
            </a:r>
          </a:p>
        </p:txBody>
      </p:sp>
      <p:pic>
        <p:nvPicPr>
          <p:cNvPr id="4" name="Picture 34" descr="gm_clip_image001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6516688"/>
            <a:ext cx="312738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灯片编号占位符 3"/>
          <p:cNvSpPr txBox="1">
            <a:spLocks noGrp="1"/>
          </p:cNvSpPr>
          <p:nvPr userDrawn="1"/>
        </p:nvSpPr>
        <p:spPr bwMode="auto">
          <a:xfrm>
            <a:off x="7920038" y="6513513"/>
            <a:ext cx="990600" cy="344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0" anchor="b"/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r" eaLnBrk="1" hangingPunct="1">
              <a:lnSpc>
                <a:spcPct val="130000"/>
              </a:lnSpc>
              <a:spcBef>
                <a:spcPct val="5000"/>
              </a:spcBef>
              <a:defRPr/>
            </a:pPr>
            <a:fld id="{04F2356A-CF8D-4186-8A7D-CD77A7B3F9F7}" type="slidenum">
              <a:rPr kumimoji="0" lang="zh-CN" altLang="en-US" sz="1800" smtClean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pPr algn="r" eaLnBrk="1" hangingPunct="1">
                <a:lnSpc>
                  <a:spcPct val="130000"/>
                </a:lnSpc>
                <a:spcBef>
                  <a:spcPct val="5000"/>
                </a:spcBef>
                <a:defRPr/>
              </a:pPr>
              <a:t>‹#›</a:t>
            </a:fld>
            <a:endParaRPr kumimoji="0" lang="en-US" altLang="zh-CN" sz="1800">
              <a:solidFill>
                <a:srgbClr val="000099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6" name="Text Box 39"/>
          <p:cNvSpPr txBox="1">
            <a:spLocks noChangeArrowheads="1"/>
          </p:cNvSpPr>
          <p:nvPr userDrawn="1"/>
        </p:nvSpPr>
        <p:spPr bwMode="auto">
          <a:xfrm>
            <a:off x="0" y="0"/>
            <a:ext cx="9144000" cy="401328"/>
          </a:xfrm>
          <a:prstGeom prst="rect">
            <a:avLst/>
          </a:prstGeom>
          <a:gradFill rotWithShape="0">
            <a:gsLst>
              <a:gs pos="0">
                <a:srgbClr val="F8F0F7"/>
              </a:gs>
              <a:gs pos="100000">
                <a:srgbClr val="99CC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Font typeface="Wingdings" pitchFamily="2" charset="2"/>
              <a:defRPr kumimoji="1" sz="2400" b="1">
                <a:solidFill>
                  <a:srgbClr val="000080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0000"/>
              </a:lnSpc>
              <a:defRPr/>
            </a:pPr>
            <a:r>
              <a:rPr kumimoji="0" lang="zh-CN" altLang="en-US" sz="1800" i="1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                                                     第</a:t>
            </a:r>
            <a:r>
              <a:rPr kumimoji="0" lang="en-US" altLang="zh-CN" sz="1800" i="1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5</a:t>
            </a:r>
            <a:r>
              <a:rPr kumimoji="0" lang="zh-CN" altLang="en-US" sz="1800" i="1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章  存储系统和结构</a:t>
            </a:r>
          </a:p>
        </p:txBody>
      </p:sp>
    </p:spTree>
    <p:extLst>
      <p:ext uri="{BB962C8B-B14F-4D97-AF65-F5344CB8AC3E}">
        <p14:creationId xmlns:p14="http://schemas.microsoft.com/office/powerpoint/2010/main" val="239470386"/>
      </p:ext>
    </p:extLst>
  </p:cSld>
  <p:clrMapOvr>
    <a:masterClrMapping/>
  </p:clrMapOvr>
  <p:transition>
    <p:wipe dir="d"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849" r:id="rId1"/>
    <p:sldLayoutId id="2147483850" r:id="rId2"/>
    <p:sldLayoutId id="2147483851" r:id="rId3"/>
  </p:sldLayoutIdLst>
  <p:transition>
    <p:wipe dir="d"/>
  </p:transition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000" b="1">
          <a:solidFill>
            <a:srgbClr val="990099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000" b="1">
          <a:solidFill>
            <a:srgbClr val="990099"/>
          </a:solidFill>
          <a:latin typeface="Tahoma" pitchFamily="34" charset="0"/>
          <a:ea typeface="隶书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000" b="1">
          <a:solidFill>
            <a:srgbClr val="990099"/>
          </a:solidFill>
          <a:latin typeface="Tahoma" pitchFamily="34" charset="0"/>
          <a:ea typeface="隶书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000" b="1">
          <a:solidFill>
            <a:srgbClr val="990099"/>
          </a:solidFill>
          <a:latin typeface="Tahoma" pitchFamily="34" charset="0"/>
          <a:ea typeface="隶书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000" b="1">
          <a:solidFill>
            <a:srgbClr val="990099"/>
          </a:solidFill>
          <a:latin typeface="Tahoma" pitchFamily="34" charset="0"/>
          <a:ea typeface="隶书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000" b="1">
          <a:solidFill>
            <a:srgbClr val="990099"/>
          </a:solidFill>
          <a:latin typeface="Tahoma" pitchFamily="34" charset="0"/>
          <a:ea typeface="隶书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000" b="1">
          <a:solidFill>
            <a:srgbClr val="990099"/>
          </a:solidFill>
          <a:latin typeface="Tahoma" pitchFamily="34" charset="0"/>
          <a:ea typeface="隶书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000" b="1">
          <a:solidFill>
            <a:srgbClr val="990099"/>
          </a:solidFill>
          <a:latin typeface="Tahoma" pitchFamily="34" charset="0"/>
          <a:ea typeface="隶书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000" b="1">
          <a:solidFill>
            <a:srgbClr val="990099"/>
          </a:solidFill>
          <a:latin typeface="Tahoma" pitchFamily="34" charset="0"/>
          <a:ea typeface="隶书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3" descr="gm_clip_image00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5029200"/>
            <a:ext cx="982663" cy="1050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2619375" y="911225"/>
            <a:ext cx="38417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dist">
              <a:lnSpc>
                <a:spcPct val="130000"/>
              </a:lnSpc>
              <a:spcBef>
                <a:spcPct val="5000"/>
              </a:spcBef>
              <a:defRPr/>
            </a:pPr>
            <a:r>
              <a:rPr lang="zh-CN" altLang="en-US" sz="3600"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黑体" pitchFamily="2" charset="-122"/>
              </a:rPr>
              <a:t>计算机组成原理</a:t>
            </a:r>
            <a:r>
              <a:rPr lang="en-US" altLang="zh-CN" sz="1100">
                <a:solidFill>
                  <a:schemeClr val="tx2"/>
                </a:solidFill>
                <a:latin typeface="Arial" charset="0"/>
                <a:ea typeface="宋体" pitchFamily="2" charset="-122"/>
              </a:rPr>
              <a:t> </a:t>
            </a:r>
            <a:endParaRPr lang="en-US" altLang="zh-CN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3076" name="Rectangle 6"/>
          <p:cNvSpPr>
            <a:spLocks noChangeArrowheads="1"/>
          </p:cNvSpPr>
          <p:nvPr/>
        </p:nvSpPr>
        <p:spPr bwMode="auto">
          <a:xfrm>
            <a:off x="2895599" y="2286000"/>
            <a:ext cx="3762777" cy="14059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pPr algn="dist" defTabSz="762000">
              <a:lnSpc>
                <a:spcPct val="125000"/>
              </a:lnSpc>
              <a:spcBef>
                <a:spcPct val="20000"/>
              </a:spcBef>
            </a:pPr>
            <a:r>
              <a:rPr lang="zh-CN" altLang="en-US" sz="2600" dirty="0">
                <a:latin typeface="黑体" pitchFamily="2" charset="-122"/>
                <a:ea typeface="黑体" pitchFamily="2" charset="-122"/>
              </a:rPr>
              <a:t>西 南 交 通 大 学</a:t>
            </a:r>
          </a:p>
          <a:p>
            <a:pPr algn="dist" defTabSz="762000">
              <a:lnSpc>
                <a:spcPct val="125000"/>
              </a:lnSpc>
              <a:spcBef>
                <a:spcPct val="20000"/>
              </a:spcBef>
            </a:pPr>
            <a:r>
              <a:rPr lang="zh-CN" altLang="en-US" sz="2600" dirty="0">
                <a:latin typeface="黑体" pitchFamily="2" charset="-122"/>
                <a:ea typeface="黑体" pitchFamily="2" charset="-122"/>
              </a:rPr>
              <a:t>计算机与人工智能学院</a:t>
            </a:r>
          </a:p>
        </p:txBody>
      </p:sp>
      <p:sp>
        <p:nvSpPr>
          <p:cNvPr id="3077" name="Rectangle 7"/>
          <p:cNvSpPr>
            <a:spLocks noChangeArrowheads="1"/>
          </p:cNvSpPr>
          <p:nvPr/>
        </p:nvSpPr>
        <p:spPr bwMode="auto">
          <a:xfrm>
            <a:off x="2943225" y="4603750"/>
            <a:ext cx="3398838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pPr algn="ctr" defTabSz="762000">
              <a:lnSpc>
                <a:spcPct val="125000"/>
              </a:lnSpc>
              <a:spcBef>
                <a:spcPct val="20000"/>
              </a:spcBef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20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24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年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5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月修订</a:t>
            </a:r>
          </a:p>
        </p:txBody>
      </p:sp>
      <p:grpSp>
        <p:nvGrpSpPr>
          <p:cNvPr id="3078" name="Group 13"/>
          <p:cNvGrpSpPr>
            <a:grpSpLocks/>
          </p:cNvGrpSpPr>
          <p:nvPr/>
        </p:nvGrpSpPr>
        <p:grpSpPr bwMode="auto">
          <a:xfrm>
            <a:off x="457200" y="838200"/>
            <a:ext cx="7781925" cy="1052513"/>
            <a:chOff x="288" y="528"/>
            <a:chExt cx="4902" cy="663"/>
          </a:xfrm>
        </p:grpSpPr>
        <p:sp>
          <p:nvSpPr>
            <p:cNvPr id="3079" name="Rectangle 14"/>
            <p:cNvSpPr>
              <a:spLocks noChangeArrowheads="1"/>
            </p:cNvSpPr>
            <p:nvPr/>
          </p:nvSpPr>
          <p:spPr bwMode="auto">
            <a:xfrm>
              <a:off x="457" y="596"/>
              <a:ext cx="256" cy="29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lnSpc>
                  <a:spcPct val="90000"/>
                </a:lnSpc>
                <a:spcBef>
                  <a:spcPct val="5000"/>
                </a:spcBef>
              </a:pPr>
              <a:endParaRPr lang="zh-CN" altLang="en-US">
                <a:solidFill>
                  <a:schemeClr val="tx2"/>
                </a:solidFill>
                <a:latin typeface="Arial" charset="0"/>
                <a:ea typeface="宋体" charset="-122"/>
              </a:endParaRPr>
            </a:p>
          </p:txBody>
        </p:sp>
        <p:sp>
          <p:nvSpPr>
            <p:cNvPr id="3080" name="Rectangle 15"/>
            <p:cNvSpPr>
              <a:spLocks noChangeArrowheads="1"/>
            </p:cNvSpPr>
            <p:nvPr/>
          </p:nvSpPr>
          <p:spPr bwMode="auto">
            <a:xfrm>
              <a:off x="681" y="596"/>
              <a:ext cx="191" cy="299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lnSpc>
                  <a:spcPct val="90000"/>
                </a:lnSpc>
                <a:spcBef>
                  <a:spcPct val="5000"/>
                </a:spcBef>
              </a:pPr>
              <a:endParaRPr lang="zh-CN" altLang="en-US">
                <a:solidFill>
                  <a:schemeClr val="tx2"/>
                </a:solidFill>
                <a:latin typeface="Arial" charset="0"/>
                <a:ea typeface="宋体" charset="-122"/>
              </a:endParaRPr>
            </a:p>
          </p:txBody>
        </p:sp>
        <p:sp>
          <p:nvSpPr>
            <p:cNvPr id="3081" name="Rectangle 16"/>
            <p:cNvSpPr>
              <a:spLocks noChangeArrowheads="1"/>
            </p:cNvSpPr>
            <p:nvPr/>
          </p:nvSpPr>
          <p:spPr bwMode="auto">
            <a:xfrm>
              <a:off x="530" y="862"/>
              <a:ext cx="246" cy="2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lnSpc>
                  <a:spcPct val="90000"/>
                </a:lnSpc>
                <a:spcBef>
                  <a:spcPct val="5000"/>
                </a:spcBef>
              </a:pPr>
              <a:endParaRPr lang="zh-CN" altLang="en-US">
                <a:solidFill>
                  <a:schemeClr val="tx2"/>
                </a:solidFill>
                <a:latin typeface="Arial" charset="0"/>
                <a:ea typeface="宋体" charset="-122"/>
              </a:endParaRPr>
            </a:p>
          </p:txBody>
        </p:sp>
        <p:sp>
          <p:nvSpPr>
            <p:cNvPr id="3082" name="Rectangle 17"/>
            <p:cNvSpPr>
              <a:spLocks noChangeArrowheads="1"/>
            </p:cNvSpPr>
            <p:nvPr/>
          </p:nvSpPr>
          <p:spPr bwMode="auto">
            <a:xfrm>
              <a:off x="746" y="862"/>
              <a:ext cx="215" cy="299"/>
            </a:xfrm>
            <a:prstGeom prst="rect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lnSpc>
                  <a:spcPct val="90000"/>
                </a:lnSpc>
                <a:spcBef>
                  <a:spcPct val="5000"/>
                </a:spcBef>
              </a:pPr>
              <a:endParaRPr lang="zh-CN" altLang="en-US">
                <a:solidFill>
                  <a:schemeClr val="tx2"/>
                </a:solidFill>
                <a:latin typeface="Arial" charset="0"/>
                <a:ea typeface="宋体" charset="-122"/>
              </a:endParaRPr>
            </a:p>
          </p:txBody>
        </p:sp>
        <p:sp>
          <p:nvSpPr>
            <p:cNvPr id="3083" name="Rectangle 18"/>
            <p:cNvSpPr>
              <a:spLocks noChangeArrowheads="1"/>
            </p:cNvSpPr>
            <p:nvPr/>
          </p:nvSpPr>
          <p:spPr bwMode="auto">
            <a:xfrm>
              <a:off x="288" y="816"/>
              <a:ext cx="327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lnSpc>
                  <a:spcPct val="90000"/>
                </a:lnSpc>
                <a:spcBef>
                  <a:spcPct val="5000"/>
                </a:spcBef>
              </a:pPr>
              <a:endParaRPr lang="zh-CN" altLang="en-US">
                <a:solidFill>
                  <a:schemeClr val="tx2"/>
                </a:solidFill>
                <a:latin typeface="Arial" charset="0"/>
                <a:ea typeface="宋体" charset="-122"/>
              </a:endParaRPr>
            </a:p>
          </p:txBody>
        </p:sp>
        <p:sp>
          <p:nvSpPr>
            <p:cNvPr id="3084" name="Rectangle 19"/>
            <p:cNvSpPr>
              <a:spLocks noChangeArrowheads="1"/>
            </p:cNvSpPr>
            <p:nvPr/>
          </p:nvSpPr>
          <p:spPr bwMode="auto">
            <a:xfrm>
              <a:off x="659" y="528"/>
              <a:ext cx="18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lnSpc>
                  <a:spcPct val="90000"/>
                </a:lnSpc>
                <a:spcBef>
                  <a:spcPct val="5000"/>
                </a:spcBef>
              </a:pPr>
              <a:endParaRPr lang="zh-CN" altLang="en-US">
                <a:solidFill>
                  <a:schemeClr val="tx2"/>
                </a:solidFill>
                <a:latin typeface="Arial" charset="0"/>
                <a:ea typeface="宋体" charset="-122"/>
              </a:endParaRPr>
            </a:p>
          </p:txBody>
        </p:sp>
        <p:sp>
          <p:nvSpPr>
            <p:cNvPr id="3085" name="Rectangle 20"/>
            <p:cNvSpPr>
              <a:spLocks noChangeArrowheads="1"/>
            </p:cNvSpPr>
            <p:nvPr/>
          </p:nvSpPr>
          <p:spPr bwMode="auto">
            <a:xfrm flipV="1">
              <a:off x="384" y="1056"/>
              <a:ext cx="4806" cy="2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rgbClr val="B8B8E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lnSpc>
                  <a:spcPct val="90000"/>
                </a:lnSpc>
                <a:spcBef>
                  <a:spcPct val="5000"/>
                </a:spcBef>
              </a:pPr>
              <a:endParaRPr lang="zh-CN" altLang="en-US">
                <a:solidFill>
                  <a:schemeClr val="tx2"/>
                </a:solidFill>
                <a:latin typeface="Arial" charset="0"/>
                <a:ea typeface="宋体" charset="-122"/>
              </a:endParaRPr>
            </a:p>
          </p:txBody>
        </p:sp>
      </p:grpSp>
    </p:spTree>
  </p:cSld>
  <p:clrMapOvr>
    <a:masterClrMapping/>
  </p:clrMapOvr>
  <p:transition>
    <p:wipe dir="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8CE71D2-C9EC-2765-32FA-4D304EED100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229324" y="-875662"/>
            <a:ext cx="5006203" cy="8823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904727"/>
      </p:ext>
    </p:extLst>
  </p:cSld>
  <p:clrMapOvr>
    <a:masterClrMapping/>
  </p:clrMapOvr>
  <p:transition>
    <p:wipe dir="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3" name="Rectangle 9"/>
          <p:cNvSpPr>
            <a:spLocks noChangeArrowheads="1"/>
          </p:cNvSpPr>
          <p:nvPr/>
        </p:nvSpPr>
        <p:spPr bwMode="auto">
          <a:xfrm>
            <a:off x="498196" y="798567"/>
            <a:ext cx="7993062" cy="43658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Ins="36000" bIns="0" anchor="ctr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kumimoji="0" lang="en-US" altLang="zh-CN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【</a:t>
            </a:r>
            <a:r>
              <a:rPr kumimoji="0" lang="zh-CN" altLang="en-US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例</a:t>
            </a:r>
            <a:r>
              <a:rPr kumimoji="0" lang="en-US" altLang="zh-CN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1】</a:t>
            </a:r>
            <a:r>
              <a:rPr lang="zh-CN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处理器中共有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32</a:t>
            </a:r>
            <a:r>
              <a:rPr lang="zh-CN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个寄存器，使用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16</a:t>
            </a:r>
            <a:r>
              <a:rPr lang="zh-CN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位立即数，其指令系统结构中共有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142</a:t>
            </a:r>
            <a:r>
              <a:rPr lang="zh-CN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条指令。在某个给定的程序中，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20</a:t>
            </a:r>
            <a:r>
              <a:rPr lang="zh-CN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％的指令带有一个输入寄存器和一个输出寄存器；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30</a:t>
            </a:r>
            <a:r>
              <a:rPr lang="zh-CN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％的指令带有两个输入寄存器和一个输出寄存器；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25</a:t>
            </a:r>
            <a:r>
              <a:rPr lang="zh-CN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％的指令带有一个输入寄存器、一个输出寄存器、一个立即数寄存器；其余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25</a:t>
            </a:r>
            <a:r>
              <a:rPr lang="zh-CN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％的指令带有一个立即数输入寄存器和一个输出寄存器。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1</a:t>
            </a:r>
            <a:r>
              <a:rPr lang="zh-CN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）对于以上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4</a:t>
            </a:r>
            <a:r>
              <a:rPr lang="zh-CN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种指令类型中的任意一种指令类型来说，共需要多少位？假定指令系统结构要求所有指令长度必须是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8</a:t>
            </a:r>
            <a:r>
              <a:rPr lang="zh-CN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的整数倍。</a:t>
            </a:r>
          </a:p>
          <a:p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2</a:t>
            </a:r>
            <a:r>
              <a:rPr lang="zh-CN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）与使用定长指令集编码相比，当采用变长指令集编码时，该程序能够少占用多少存储器空间？</a:t>
            </a:r>
            <a:endParaRPr lang="zh-CN" altLang="en-US" sz="2200" dirty="0">
              <a:solidFill>
                <a:schemeClr val="tx2"/>
              </a:solidFill>
              <a:latin typeface="黑体" pitchFamily="2" charset="-122"/>
              <a:ea typeface="黑体" pitchFamily="2" charset="-122"/>
              <a:sym typeface="Symbol" pitchFamily="18" charset="2"/>
            </a:endParaRPr>
          </a:p>
        </p:txBody>
      </p:sp>
    </p:spTree>
  </p:cSld>
  <p:clrMapOvr>
    <a:masterClrMapping/>
  </p:clrMapOvr>
  <p:transition>
    <p:wipe dir="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Rectangle 9"/>
          <p:cNvSpPr>
            <a:spLocks noChangeArrowheads="1"/>
          </p:cNvSpPr>
          <p:nvPr/>
        </p:nvSpPr>
        <p:spPr bwMode="auto">
          <a:xfrm>
            <a:off x="400205" y="465655"/>
            <a:ext cx="7993062" cy="58365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Ins="3600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Tx/>
              <a:buFontTx/>
              <a:buNone/>
              <a:tabLst>
                <a:tab pos="355600" algn="l"/>
              </a:tabLst>
            </a:pPr>
            <a:r>
              <a:rPr kumimoji="0" lang="en-US" altLang="zh-CN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【</a:t>
            </a:r>
            <a:r>
              <a:rPr kumimoji="0" lang="zh-CN" altLang="en-US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解</a:t>
            </a:r>
            <a:r>
              <a:rPr kumimoji="0" lang="en-US" altLang="zh-CN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】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1)由于有142条指令,因此各指令的操作码至少需8位 (2</a:t>
            </a:r>
            <a:r>
              <a:rPr lang="en-US" altLang="zh-CN" sz="2200" baseline="300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8 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=256)。由于有32个寄存器,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所以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寄存器ID编码要用5位,而每个立即数需要16位。因此有:</a:t>
            </a:r>
            <a:endParaRPr lang="zh-CN" altLang="zh-CN" sz="2200" dirty="0">
              <a:solidFill>
                <a:schemeClr val="tx2"/>
              </a:solidFill>
              <a:latin typeface="黑体" pitchFamily="2" charset="-122"/>
              <a:ea typeface="黑体" pitchFamily="2" charset="-122"/>
            </a:endParaRPr>
          </a:p>
          <a:p>
            <a:pPr marL="342900" indent="-342900"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20%的一输入寄存器和一输出寄存器指令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：</a:t>
            </a:r>
            <a:b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</a:b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  需要8+5+5=18位,长度对齐到8的倍数,便是24位。</a:t>
            </a:r>
          </a:p>
          <a:p>
            <a:pPr marL="342900" indent="-342900"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30%的两输入寄存器和--</a:t>
            </a:r>
            <a:r>
              <a:rPr lang="en-US" altLang="zh-CN" sz="2200" dirty="0" err="1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输出寄存器指令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：</a:t>
            </a:r>
            <a:b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</a:b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  需要8+5+5+5=23位,对齐到24位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。</a:t>
            </a:r>
            <a:endParaRPr lang="en-US" altLang="zh-CN" sz="2200" dirty="0">
              <a:solidFill>
                <a:schemeClr val="tx2"/>
              </a:solidFill>
              <a:latin typeface="黑体" pitchFamily="2" charset="-122"/>
              <a:ea typeface="黑体" pitchFamily="2" charset="-122"/>
            </a:endParaRPr>
          </a:p>
          <a:p>
            <a:pPr marL="342900" indent="-342900"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25%的一输入寄存器、一输出寄存器、一立即数寄存器指令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：</a:t>
            </a:r>
            <a:b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</a:b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  需要8+5+5+16=34位,对齐到40位。</a:t>
            </a:r>
            <a:endParaRPr lang="zh-CN" altLang="zh-CN" sz="2200" dirty="0">
              <a:solidFill>
                <a:schemeClr val="tx2"/>
              </a:solidFill>
              <a:latin typeface="黑体" pitchFamily="2" charset="-122"/>
              <a:ea typeface="黑体" pitchFamily="2" charset="-122"/>
            </a:endParaRPr>
          </a:p>
          <a:p>
            <a:pPr marL="342900" indent="-342900"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25%的一立即数输入寄存器和一输出寄存器指令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：</a:t>
            </a:r>
            <a:b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</a:b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  需要8+16+5=29位,对齐到32位。</a:t>
            </a:r>
            <a:endParaRPr lang="zh-CN" altLang="zh-CN" sz="2200" dirty="0">
              <a:solidFill>
                <a:schemeClr val="tx2"/>
              </a:solidFill>
              <a:latin typeface="黑体" pitchFamily="2" charset="-122"/>
              <a:ea typeface="黑体" pitchFamily="2" charset="-122"/>
            </a:endParaRP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altLang="zh-CN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2)</a:t>
            </a:r>
            <a:r>
              <a:rPr lang="zh-CN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由于变长指令最长的长度为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40</a:t>
            </a:r>
            <a:r>
              <a:rPr lang="zh-CN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位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所以定长指令编码每条指令的长度均为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40</a:t>
            </a:r>
            <a:r>
              <a:rPr lang="zh-CN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位。而采用变长编码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将各个指令长度和其概率相乘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得出平均长度为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30</a:t>
            </a:r>
            <a:r>
              <a:rPr lang="zh-CN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位。所以该程序中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变长编码能比定长编码少占用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25%</a:t>
            </a:r>
            <a:r>
              <a:rPr lang="zh-CN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的存储空间。</a:t>
            </a:r>
            <a:endParaRPr lang="zh-CN" altLang="en-US" sz="2200" dirty="0">
              <a:solidFill>
                <a:schemeClr val="tx2"/>
              </a:solidFill>
              <a:latin typeface="黑体" pitchFamily="2" charset="-122"/>
              <a:ea typeface="黑体" pitchFamily="2" charset="-122"/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452007160"/>
      </p:ext>
    </p:extLst>
  </p:cSld>
  <p:clrMapOvr>
    <a:masterClrMapping/>
  </p:clrMapOvr>
  <p:transition>
    <p:wipe dir="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21CC30B2-B8D9-59BD-0D03-CA8F441294C7}"/>
              </a:ext>
            </a:extLst>
          </p:cNvPr>
          <p:cNvSpPr txBox="1"/>
          <p:nvPr/>
        </p:nvSpPr>
        <p:spPr>
          <a:xfrm>
            <a:off x="585988" y="471636"/>
            <a:ext cx="8145888" cy="2723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kumimoji="0" lang="en-US" altLang="zh-CN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【</a:t>
            </a:r>
            <a:r>
              <a:rPr kumimoji="0" lang="zh-CN" altLang="en-US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例</a:t>
            </a:r>
            <a:r>
              <a:rPr kumimoji="0" lang="en-US" altLang="zh-CN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2】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假设指令字长为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16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位，操作数的地址码为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6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位，指令有零地址、一地址、二地址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3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种格式。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1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）设操作码固定，若零地址指令有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M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种，一地址指令有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N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种，则二地址指令最多有几种？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2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）采用扩展操作码技术，二地址指令最多有几种？</a:t>
            </a:r>
            <a:endParaRPr lang="en-US" altLang="zh-CN" sz="2200" dirty="0">
              <a:solidFill>
                <a:schemeClr val="tx2"/>
              </a:solidFill>
              <a:latin typeface="黑体" pitchFamily="2" charset="-122"/>
              <a:ea typeface="黑体" pitchFamily="2" charset="-122"/>
            </a:endParaRP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3)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采用扩展操作码技术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若二地址指令有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P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条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零地址指令有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Q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条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则一地址指令最多有几种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?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94192746"/>
      </p:ext>
    </p:extLst>
  </p:cSld>
  <p:clrMapOvr>
    <a:masterClrMapping/>
  </p:clrMapOvr>
  <p:transition>
    <p:wipe dir="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21CC30B2-B8D9-59BD-0D03-CA8F441294C7}"/>
              </a:ext>
            </a:extLst>
          </p:cNvPr>
          <p:cNvSpPr txBox="1"/>
          <p:nvPr/>
        </p:nvSpPr>
        <p:spPr>
          <a:xfrm>
            <a:off x="585988" y="471636"/>
            <a:ext cx="8145888" cy="55245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kumimoji="0" lang="zh-CN" altLang="en-US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解：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1)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根据操作数地址码为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6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位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得到二地址指令中操作码的位数为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16-6-6=4,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这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4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位操作码可有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16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种操作。</a:t>
            </a:r>
            <a:endParaRPr lang="en-US" altLang="zh-CN" sz="2200" dirty="0">
              <a:solidFill>
                <a:schemeClr val="tx2"/>
              </a:solidFill>
              <a:latin typeface="黑体" pitchFamily="2" charset="-122"/>
              <a:ea typeface="黑体" pitchFamily="2" charset="-122"/>
            </a:endParaRP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由于操作码固定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 二地址指令最多有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16-M-N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种。</a:t>
            </a:r>
          </a:p>
          <a:p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2)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采用扩展操作码技术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操作码位数可随地址数的减少而增加。对于二地址指令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指令字长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16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位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减去两个地址码共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12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位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剩下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4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位操作码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共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16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种编码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去掉一种编码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(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如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1111)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用于一地址指令扩展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二地址指令最多可有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15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种操作。</a:t>
            </a:r>
          </a:p>
          <a:p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3)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采用扩展操作码技术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操作码位数可变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二地址、一地址和零地址的操作码长度分别为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4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位、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10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位和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16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位。</a:t>
            </a:r>
            <a:endParaRPr lang="en-US" altLang="zh-CN" sz="2200" dirty="0">
              <a:solidFill>
                <a:schemeClr val="tx2"/>
              </a:solidFill>
              <a:latin typeface="黑体" pitchFamily="2" charset="-122"/>
              <a:ea typeface="黑体" pitchFamily="2" charset="-122"/>
            </a:endParaRPr>
          </a:p>
          <a:p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设一地址指令有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R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条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则一地址指令最多有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(2</a:t>
            </a:r>
            <a:r>
              <a:rPr lang="en-US" altLang="zh-CN" sz="2200" baseline="300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4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-P)x2</a:t>
            </a:r>
            <a:r>
              <a:rPr lang="en-US" altLang="zh-CN" sz="2200" baseline="300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6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条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零地址指令最多有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(2</a:t>
            </a:r>
            <a:r>
              <a:rPr lang="en-US" altLang="zh-CN" sz="2200" baseline="300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4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-P)x2</a:t>
            </a:r>
            <a:r>
              <a:rPr lang="en-US" altLang="zh-CN" sz="2200" baseline="300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6 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-R]x2</a:t>
            </a:r>
            <a:r>
              <a:rPr lang="en-US" altLang="zh-CN" sz="2200" baseline="300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6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条。</a:t>
            </a:r>
          </a:p>
          <a:p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根据题中给出零地址指令为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Q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条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即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Q=(2</a:t>
            </a:r>
            <a:r>
              <a:rPr lang="en-US" altLang="zh-CN" sz="2200" baseline="300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4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-P)x2</a:t>
            </a:r>
            <a:r>
              <a:rPr lang="en-US" altLang="zh-CN" sz="2200" baseline="300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6 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-R]x2</a:t>
            </a:r>
            <a:r>
              <a:rPr lang="en-US" altLang="zh-CN" sz="2200" baseline="300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6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,</a:t>
            </a:r>
          </a:p>
          <a:p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得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R 2</a:t>
            </a:r>
            <a:r>
              <a:rPr lang="en-US" altLang="zh-CN" sz="2200" baseline="300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4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-P)x2</a:t>
            </a:r>
            <a:r>
              <a:rPr lang="en-US" altLang="zh-CN" sz="2200" baseline="300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6 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-Qx2</a:t>
            </a:r>
            <a:r>
              <a:rPr lang="en-US" altLang="zh-CN" sz="2200" baseline="300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-6</a:t>
            </a:r>
            <a:endParaRPr lang="en-US" altLang="zh-CN" sz="2200" dirty="0">
              <a:solidFill>
                <a:schemeClr val="tx2"/>
              </a:solidFill>
              <a:latin typeface="黑体" pitchFamily="2" charset="-122"/>
              <a:ea typeface="黑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87279482"/>
      </p:ext>
    </p:extLst>
  </p:cSld>
  <p:clrMapOvr>
    <a:masterClrMapping/>
  </p:clrMapOvr>
  <p:transition>
    <p:wipe dir="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333785F6-AF56-A425-A83A-92B1B4DE958A}"/>
              </a:ext>
            </a:extLst>
          </p:cNvPr>
          <p:cNvSpPr txBox="1"/>
          <p:nvPr/>
        </p:nvSpPr>
        <p:spPr>
          <a:xfrm>
            <a:off x="148107" y="400233"/>
            <a:ext cx="8822028" cy="2046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kumimoji="0" lang="en-US" altLang="zh-CN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【</a:t>
            </a:r>
            <a:r>
              <a:rPr kumimoji="0" lang="zh-CN" altLang="en-US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例</a:t>
            </a:r>
            <a:r>
              <a:rPr kumimoji="0" lang="en-US" altLang="zh-CN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3】</a:t>
            </a:r>
            <a:r>
              <a:rPr lang="zh-CN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在一个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36</a:t>
            </a:r>
            <a:r>
              <a:rPr lang="zh-CN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位长的指令系统中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设计一个扩展操作码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使之能表示下列指令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:</a:t>
            </a:r>
            <a:endParaRPr lang="zh-CN" altLang="zh-CN" sz="2200" dirty="0">
              <a:solidFill>
                <a:schemeClr val="tx2"/>
              </a:solidFill>
              <a:latin typeface="黑体" pitchFamily="2" charset="-122"/>
              <a:ea typeface="黑体" pitchFamily="2" charset="-122"/>
            </a:endParaRP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1)7</a:t>
            </a:r>
            <a:r>
              <a:rPr lang="zh-CN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条具有两个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15</a:t>
            </a:r>
            <a:r>
              <a:rPr lang="zh-CN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位地址和一个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3</a:t>
            </a:r>
            <a:r>
              <a:rPr lang="zh-CN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位地址的指令。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2)500</a:t>
            </a:r>
            <a:r>
              <a:rPr lang="zh-CN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条具有一个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15</a:t>
            </a:r>
            <a:r>
              <a:rPr lang="zh-CN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位地址和一个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3</a:t>
            </a:r>
            <a:r>
              <a:rPr lang="zh-CN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位地址的指令。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3)50</a:t>
            </a:r>
            <a:r>
              <a:rPr lang="zh-CN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条无地址指令。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16964228"/>
      </p:ext>
    </p:extLst>
  </p:cSld>
  <p:clrMapOvr>
    <a:masterClrMapping/>
  </p:clrMapOvr>
  <p:transition>
    <p:wipe dir="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21CC30B2-B8D9-59BD-0D03-CA8F441294C7}"/>
              </a:ext>
            </a:extLst>
          </p:cNvPr>
          <p:cNvSpPr txBox="1"/>
          <p:nvPr/>
        </p:nvSpPr>
        <p:spPr>
          <a:xfrm>
            <a:off x="585988" y="471636"/>
            <a:ext cx="7914068" cy="877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kumimoji="0" lang="zh-CN" altLang="en-US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解：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    3         15          15         3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endParaRPr lang="en-US" altLang="zh-CN" sz="2200" dirty="0">
              <a:solidFill>
                <a:schemeClr val="tx2"/>
              </a:solidFill>
              <a:latin typeface="黑体" pitchFamily="2" charset="-122"/>
              <a:ea typeface="黑体" pitchFamily="2" charset="-122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EF0CB2E7-41A4-44A5-854E-2E87791D9E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5824239"/>
              </p:ext>
            </p:extLst>
          </p:nvPr>
        </p:nvGraphicFramePr>
        <p:xfrm>
          <a:off x="1253543" y="903724"/>
          <a:ext cx="6096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4654">
                  <a:extLst>
                    <a:ext uri="{9D8B030D-6E8A-4147-A177-3AD203B41FA5}">
                      <a16:colId xmlns:a16="http://schemas.microsoft.com/office/drawing/2014/main" val="2244015997"/>
                    </a:ext>
                  </a:extLst>
                </a:gridCol>
                <a:gridCol w="1983346">
                  <a:extLst>
                    <a:ext uri="{9D8B030D-6E8A-4147-A177-3AD203B41FA5}">
                      <a16:colId xmlns:a16="http://schemas.microsoft.com/office/drawing/2014/main" val="1852662452"/>
                    </a:ext>
                  </a:extLst>
                </a:gridCol>
                <a:gridCol w="1828801">
                  <a:extLst>
                    <a:ext uri="{9D8B030D-6E8A-4147-A177-3AD203B41FA5}">
                      <a16:colId xmlns:a16="http://schemas.microsoft.com/office/drawing/2014/main" val="588282774"/>
                    </a:ext>
                  </a:extLst>
                </a:gridCol>
                <a:gridCol w="1219199">
                  <a:extLst>
                    <a:ext uri="{9D8B030D-6E8A-4147-A177-3AD203B41FA5}">
                      <a16:colId xmlns:a16="http://schemas.microsoft.com/office/drawing/2014/main" val="17963279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2"/>
                          </a:solidFill>
                          <a:latin typeface="黑体" pitchFamily="2" charset="-122"/>
                          <a:ea typeface="黑体" pitchFamily="2" charset="-122"/>
                        </a:rPr>
                        <a:t>OP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err="1">
                          <a:solidFill>
                            <a:schemeClr val="tx2"/>
                          </a:solidFill>
                          <a:latin typeface="黑体" pitchFamily="2" charset="-122"/>
                          <a:ea typeface="黑体" pitchFamily="2" charset="-122"/>
                        </a:rPr>
                        <a:t>addrl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2"/>
                          </a:solidFill>
                          <a:latin typeface="黑体" pitchFamily="2" charset="-122"/>
                          <a:ea typeface="黑体" pitchFamily="2" charset="-122"/>
                        </a:rPr>
                        <a:t>addr2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solidFill>
                            <a:schemeClr val="tx2"/>
                          </a:solidFill>
                          <a:latin typeface="黑体" pitchFamily="2" charset="-122"/>
                          <a:ea typeface="黑体" pitchFamily="2" charset="-122"/>
                        </a:rPr>
                        <a:t>addr3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3853376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0CFD9C42-3112-F2DF-AC01-80269EF6A1F2}"/>
              </a:ext>
            </a:extLst>
          </p:cNvPr>
          <p:cNvSpPr txBox="1"/>
          <p:nvPr/>
        </p:nvSpPr>
        <p:spPr>
          <a:xfrm>
            <a:off x="1397356" y="1212998"/>
            <a:ext cx="70189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000</a:t>
            </a:r>
          </a:p>
          <a:p>
            <a:r>
              <a:rPr lang="en-US" altLang="zh-CN" sz="24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110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3746D85-5FA4-9DC6-DDE7-7A531D607811}"/>
              </a:ext>
            </a:extLst>
          </p:cNvPr>
          <p:cNvSpPr txBox="1"/>
          <p:nvPr/>
        </p:nvSpPr>
        <p:spPr>
          <a:xfrm>
            <a:off x="661116" y="2291850"/>
            <a:ext cx="7914068" cy="877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        3        15          15         3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endParaRPr lang="en-US" altLang="zh-CN" sz="2200" dirty="0">
              <a:solidFill>
                <a:schemeClr val="tx2"/>
              </a:solidFill>
              <a:latin typeface="黑体" pitchFamily="2" charset="-122"/>
              <a:ea typeface="黑体" pitchFamily="2" charset="-122"/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15A9D0F4-1B50-F125-7DA3-DF11046379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7700128"/>
              </p:ext>
            </p:extLst>
          </p:nvPr>
        </p:nvGraphicFramePr>
        <p:xfrm>
          <a:off x="1452092" y="2722429"/>
          <a:ext cx="6096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3239">
                  <a:extLst>
                    <a:ext uri="{9D8B030D-6E8A-4147-A177-3AD203B41FA5}">
                      <a16:colId xmlns:a16="http://schemas.microsoft.com/office/drawing/2014/main" val="2244015997"/>
                    </a:ext>
                  </a:extLst>
                </a:gridCol>
                <a:gridCol w="1974761">
                  <a:extLst>
                    <a:ext uri="{9D8B030D-6E8A-4147-A177-3AD203B41FA5}">
                      <a16:colId xmlns:a16="http://schemas.microsoft.com/office/drawing/2014/main" val="1852662452"/>
                    </a:ext>
                  </a:extLst>
                </a:gridCol>
                <a:gridCol w="1850264">
                  <a:extLst>
                    <a:ext uri="{9D8B030D-6E8A-4147-A177-3AD203B41FA5}">
                      <a16:colId xmlns:a16="http://schemas.microsoft.com/office/drawing/2014/main" val="588282774"/>
                    </a:ext>
                  </a:extLst>
                </a:gridCol>
                <a:gridCol w="1197736">
                  <a:extLst>
                    <a:ext uri="{9D8B030D-6E8A-4147-A177-3AD203B41FA5}">
                      <a16:colId xmlns:a16="http://schemas.microsoft.com/office/drawing/2014/main" val="17963279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2"/>
                          </a:solidFill>
                          <a:latin typeface="黑体" pitchFamily="2" charset="-122"/>
                          <a:ea typeface="黑体" pitchFamily="2" charset="-122"/>
                        </a:rPr>
                        <a:t>OP1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solidFill>
                            <a:schemeClr val="tx2"/>
                          </a:solidFill>
                          <a:latin typeface="黑体" pitchFamily="2" charset="-122"/>
                          <a:ea typeface="黑体" pitchFamily="2" charset="-122"/>
                        </a:rPr>
                        <a:t>OP2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2"/>
                          </a:solidFill>
                          <a:latin typeface="黑体" pitchFamily="2" charset="-122"/>
                          <a:ea typeface="黑体" pitchFamily="2" charset="-122"/>
                        </a:rPr>
                        <a:t>addr1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solidFill>
                            <a:schemeClr val="tx2"/>
                          </a:solidFill>
                          <a:latin typeface="黑体" pitchFamily="2" charset="-122"/>
                          <a:ea typeface="黑体" pitchFamily="2" charset="-122"/>
                        </a:rPr>
                        <a:t>addr2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3853376"/>
                  </a:ext>
                </a:extLst>
              </a:tr>
            </a:tbl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422E4A50-AF4D-96D2-F870-4A0F01017B36}"/>
              </a:ext>
            </a:extLst>
          </p:cNvPr>
          <p:cNvSpPr txBox="1"/>
          <p:nvPr/>
        </p:nvSpPr>
        <p:spPr>
          <a:xfrm>
            <a:off x="1452092" y="3358406"/>
            <a:ext cx="7018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111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CB219B4-6111-E024-4DFC-2048BEF93A26}"/>
              </a:ext>
            </a:extLst>
          </p:cNvPr>
          <p:cNvSpPr txBox="1"/>
          <p:nvPr/>
        </p:nvSpPr>
        <p:spPr>
          <a:xfrm>
            <a:off x="2450205" y="3081406"/>
            <a:ext cx="271422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000000000000000</a:t>
            </a:r>
          </a:p>
          <a:p>
            <a:r>
              <a:rPr lang="en-US" altLang="zh-CN" sz="24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000000111110011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B55A6C2-5415-FC73-C9F9-B9D17778FC1F}"/>
              </a:ext>
            </a:extLst>
          </p:cNvPr>
          <p:cNvSpPr txBox="1"/>
          <p:nvPr/>
        </p:nvSpPr>
        <p:spPr>
          <a:xfrm>
            <a:off x="661116" y="4108932"/>
            <a:ext cx="7914068" cy="877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         3         15               18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endParaRPr lang="en-US" altLang="zh-CN" sz="2200" dirty="0">
              <a:solidFill>
                <a:schemeClr val="tx2"/>
              </a:solidFill>
              <a:latin typeface="黑体" pitchFamily="2" charset="-122"/>
              <a:ea typeface="黑体" pitchFamily="2" charset="-122"/>
            </a:endParaRP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975BBBB7-5554-9580-195B-02E8D8AA35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9214328"/>
              </p:ext>
            </p:extLst>
          </p:nvPr>
        </p:nvGraphicFramePr>
        <p:xfrm>
          <a:off x="1328671" y="4541020"/>
          <a:ext cx="6096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7481">
                  <a:extLst>
                    <a:ext uri="{9D8B030D-6E8A-4147-A177-3AD203B41FA5}">
                      <a16:colId xmlns:a16="http://schemas.microsoft.com/office/drawing/2014/main" val="2244015997"/>
                    </a:ext>
                  </a:extLst>
                </a:gridCol>
                <a:gridCol w="2028423">
                  <a:extLst>
                    <a:ext uri="{9D8B030D-6E8A-4147-A177-3AD203B41FA5}">
                      <a16:colId xmlns:a16="http://schemas.microsoft.com/office/drawing/2014/main" val="1852662452"/>
                    </a:ext>
                  </a:extLst>
                </a:gridCol>
                <a:gridCol w="3020096">
                  <a:extLst>
                    <a:ext uri="{9D8B030D-6E8A-4147-A177-3AD203B41FA5}">
                      <a16:colId xmlns:a16="http://schemas.microsoft.com/office/drawing/2014/main" val="5882827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2"/>
                          </a:solidFill>
                          <a:latin typeface="黑体" pitchFamily="2" charset="-122"/>
                          <a:ea typeface="黑体" pitchFamily="2" charset="-122"/>
                        </a:rPr>
                        <a:t>OP1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solidFill>
                            <a:schemeClr val="tx2"/>
                          </a:solidFill>
                          <a:latin typeface="黑体" pitchFamily="2" charset="-122"/>
                          <a:ea typeface="黑体" pitchFamily="2" charset="-122"/>
                        </a:rPr>
                        <a:t>OP2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3853376"/>
                  </a:ext>
                </a:extLst>
              </a:tr>
            </a:tbl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170BE442-CD0B-1C25-083E-C56B7D44F900}"/>
              </a:ext>
            </a:extLst>
          </p:cNvPr>
          <p:cNvSpPr txBox="1"/>
          <p:nvPr/>
        </p:nvSpPr>
        <p:spPr>
          <a:xfrm>
            <a:off x="1452092" y="5113115"/>
            <a:ext cx="7018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111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786C560-319A-296A-A7C7-6DEDE05EBA87}"/>
              </a:ext>
            </a:extLst>
          </p:cNvPr>
          <p:cNvSpPr txBox="1"/>
          <p:nvPr/>
        </p:nvSpPr>
        <p:spPr>
          <a:xfrm>
            <a:off x="2256486" y="4897551"/>
            <a:ext cx="250869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000000111110100</a:t>
            </a:r>
          </a:p>
          <a:p>
            <a:r>
              <a:rPr lang="en-US" altLang="zh-CN" sz="24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000001000100101</a:t>
            </a:r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E412D4E-C760-2FE1-828E-9767A8A07DFB}"/>
              </a:ext>
            </a:extLst>
          </p:cNvPr>
          <p:cNvSpPr txBox="1"/>
          <p:nvPr/>
        </p:nvSpPr>
        <p:spPr>
          <a:xfrm>
            <a:off x="4867678" y="4897550"/>
            <a:ext cx="276305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0000…0000(18</a:t>
            </a:r>
            <a:r>
              <a:rPr lang="zh-CN" altLang="en-US" sz="24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个</a:t>
            </a:r>
            <a:r>
              <a:rPr lang="en-US" altLang="zh-CN" sz="24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0)</a:t>
            </a:r>
          </a:p>
          <a:p>
            <a:r>
              <a:rPr lang="en-US" altLang="zh-CN" sz="24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0000…0000</a:t>
            </a:r>
            <a:r>
              <a:rPr lang="en-US" altLang="zh-CN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(</a:t>
            </a:r>
            <a:r>
              <a:rPr lang="en-US" altLang="zh-CN" sz="24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18</a:t>
            </a:r>
            <a:r>
              <a:rPr lang="zh-CN" altLang="en-US" sz="24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个</a:t>
            </a:r>
            <a:r>
              <a:rPr lang="en-US" altLang="zh-CN" sz="24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0)</a:t>
            </a:r>
          </a:p>
        </p:txBody>
      </p:sp>
    </p:spTree>
    <p:extLst>
      <p:ext uri="{BB962C8B-B14F-4D97-AF65-F5344CB8AC3E}">
        <p14:creationId xmlns:p14="http://schemas.microsoft.com/office/powerpoint/2010/main" val="3110321802"/>
      </p:ext>
    </p:extLst>
  </p:cSld>
  <p:clrMapOvr>
    <a:masterClrMapping/>
  </p:clrMapOvr>
  <p:transition>
    <p:wipe dir="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333785F6-AF56-A425-A83A-92B1B4DE958A}"/>
              </a:ext>
            </a:extLst>
          </p:cNvPr>
          <p:cNvSpPr txBox="1"/>
          <p:nvPr/>
        </p:nvSpPr>
        <p:spPr>
          <a:xfrm>
            <a:off x="148107" y="400233"/>
            <a:ext cx="882202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kumimoji="0" lang="en-US" altLang="zh-CN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【</a:t>
            </a:r>
            <a:r>
              <a:rPr kumimoji="0" lang="zh-CN" altLang="en-US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例</a:t>
            </a:r>
            <a:r>
              <a:rPr kumimoji="0" lang="en-US" altLang="zh-CN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4】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某模型机共有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64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种操作码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位数固定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且具有以下特点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: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1)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采用一地址或二地址格式。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2)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有寄存器寻址、直接寻址和相对寻址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(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位移量为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-128~+127)3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种寻址方式。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3)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有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16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个通用寄存器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算术运算和逻辑运算的操作数均在寄存器中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结果也在寄存器中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,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4)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取数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/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存数指令在通用寄存器和存储器之间传送数据。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5)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存储器容量为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IMB,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按字节编址。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要求设计算术逻辑指令、取数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/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存数指令和相对转移指令的格式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并简述理由。</a:t>
            </a:r>
          </a:p>
        </p:txBody>
      </p:sp>
    </p:spTree>
    <p:extLst>
      <p:ext uri="{BB962C8B-B14F-4D97-AF65-F5344CB8AC3E}">
        <p14:creationId xmlns:p14="http://schemas.microsoft.com/office/powerpoint/2010/main" val="309916837"/>
      </p:ext>
    </p:extLst>
  </p:cSld>
  <p:clrMapOvr>
    <a:masterClrMapping/>
  </p:clrMapOvr>
  <p:transition>
    <p:wipe dir="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21CC30B2-B8D9-59BD-0D03-CA8F441294C7}"/>
              </a:ext>
            </a:extLst>
          </p:cNvPr>
          <p:cNvSpPr txBox="1"/>
          <p:nvPr/>
        </p:nvSpPr>
        <p:spPr>
          <a:xfrm>
            <a:off x="585988" y="471636"/>
            <a:ext cx="7914068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kumimoji="0" lang="zh-CN" altLang="en-US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解：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1)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算术逻辑指令格式为“寄存器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-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寄存器”型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取单字长为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16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位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格式如下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: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BB02DF9-6ACC-A59A-72A2-0E96122722A3}"/>
              </a:ext>
            </a:extLst>
          </p:cNvPr>
          <p:cNvSpPr txBox="1"/>
          <p:nvPr/>
        </p:nvSpPr>
        <p:spPr>
          <a:xfrm>
            <a:off x="585988" y="1110160"/>
            <a:ext cx="7914068" cy="877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        6            2      4         4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endParaRPr lang="en-US" altLang="zh-CN" sz="2200" dirty="0">
              <a:solidFill>
                <a:schemeClr val="tx2"/>
              </a:solidFill>
              <a:latin typeface="黑体" pitchFamily="2" charset="-122"/>
              <a:ea typeface="黑体" pitchFamily="2" charset="-122"/>
            </a:endParaRPr>
          </a:p>
        </p:txBody>
      </p:sp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6F7441C0-191D-3AC8-C111-436C3EE118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4835667"/>
              </p:ext>
            </p:extLst>
          </p:nvPr>
        </p:nvGraphicFramePr>
        <p:xfrm>
          <a:off x="1029236" y="1568570"/>
          <a:ext cx="6096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9373">
                  <a:extLst>
                    <a:ext uri="{9D8B030D-6E8A-4147-A177-3AD203B41FA5}">
                      <a16:colId xmlns:a16="http://schemas.microsoft.com/office/drawing/2014/main" val="2244015997"/>
                    </a:ext>
                  </a:extLst>
                </a:gridCol>
                <a:gridCol w="663262">
                  <a:extLst>
                    <a:ext uri="{9D8B030D-6E8A-4147-A177-3AD203B41FA5}">
                      <a16:colId xmlns:a16="http://schemas.microsoft.com/office/drawing/2014/main" val="1852662452"/>
                    </a:ext>
                  </a:extLst>
                </a:gridCol>
                <a:gridCol w="1442434">
                  <a:extLst>
                    <a:ext uri="{9D8B030D-6E8A-4147-A177-3AD203B41FA5}">
                      <a16:colId xmlns:a16="http://schemas.microsoft.com/office/drawing/2014/main" val="588282774"/>
                    </a:ext>
                  </a:extLst>
                </a:gridCol>
                <a:gridCol w="1610931">
                  <a:extLst>
                    <a:ext uri="{9D8B030D-6E8A-4147-A177-3AD203B41FA5}">
                      <a16:colId xmlns:a16="http://schemas.microsoft.com/office/drawing/2014/main" val="17963279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2"/>
                          </a:solidFill>
                          <a:latin typeface="黑体" pitchFamily="2" charset="-122"/>
                          <a:ea typeface="黑体" pitchFamily="2" charset="-122"/>
                        </a:rPr>
                        <a:t>OP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solidFill>
                            <a:schemeClr val="tx2"/>
                          </a:solidFill>
                          <a:latin typeface="黑体" pitchFamily="2" charset="-122"/>
                          <a:ea typeface="黑体" pitchFamily="2" charset="-122"/>
                        </a:rPr>
                        <a:t>M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2"/>
                          </a:solidFill>
                          <a:latin typeface="黑体" pitchFamily="2" charset="-122"/>
                          <a:ea typeface="黑体" pitchFamily="2" charset="-122"/>
                        </a:rPr>
                        <a:t>R1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solidFill>
                            <a:schemeClr val="tx2"/>
                          </a:solidFill>
                          <a:latin typeface="黑体" pitchFamily="2" charset="-122"/>
                          <a:ea typeface="黑体" pitchFamily="2" charset="-122"/>
                        </a:rPr>
                        <a:t>R2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3853376"/>
                  </a:ext>
                </a:extLst>
              </a:tr>
            </a:tbl>
          </a:graphicData>
        </a:graphic>
      </p:graphicFrame>
      <p:sp>
        <p:nvSpPr>
          <p:cNvPr id="17" name="文本框 16">
            <a:extLst>
              <a:ext uri="{FF2B5EF4-FFF2-40B4-BE49-F238E27FC236}">
                <a16:creationId xmlns:a16="http://schemas.microsoft.com/office/drawing/2014/main" id="{769906D5-4A07-AD00-FE87-7176B6D2C33E}"/>
              </a:ext>
            </a:extLst>
          </p:cNvPr>
          <p:cNvSpPr txBox="1"/>
          <p:nvPr/>
        </p:nvSpPr>
        <p:spPr>
          <a:xfrm>
            <a:off x="614966" y="2053655"/>
            <a:ext cx="791406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2)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取数存数指令格式为“寄存器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-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存储器”型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取双字长为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32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位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格式如下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: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格式如下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: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F6EBF15-992C-4662-00C0-4A9C644FCD22}"/>
              </a:ext>
            </a:extLst>
          </p:cNvPr>
          <p:cNvSpPr txBox="1"/>
          <p:nvPr/>
        </p:nvSpPr>
        <p:spPr>
          <a:xfrm>
            <a:off x="258652" y="2798154"/>
            <a:ext cx="7914068" cy="877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      6     2    4          20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endParaRPr lang="en-US" altLang="zh-CN" sz="2200" dirty="0">
              <a:solidFill>
                <a:schemeClr val="tx2"/>
              </a:solidFill>
              <a:latin typeface="黑体" pitchFamily="2" charset="-122"/>
              <a:ea typeface="黑体" pitchFamily="2" charset="-122"/>
            </a:endParaRPr>
          </a:p>
        </p:txBody>
      </p:sp>
      <p:graphicFrame>
        <p:nvGraphicFramePr>
          <p:cNvPr id="19" name="表格 18">
            <a:extLst>
              <a:ext uri="{FF2B5EF4-FFF2-40B4-BE49-F238E27FC236}">
                <a16:creationId xmlns:a16="http://schemas.microsoft.com/office/drawing/2014/main" id="{D823AE23-D01C-98EF-2F18-9556D99773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2444040"/>
              </p:ext>
            </p:extLst>
          </p:nvPr>
        </p:nvGraphicFramePr>
        <p:xfrm>
          <a:off x="643944" y="3227533"/>
          <a:ext cx="6096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5690">
                  <a:extLst>
                    <a:ext uri="{9D8B030D-6E8A-4147-A177-3AD203B41FA5}">
                      <a16:colId xmlns:a16="http://schemas.microsoft.com/office/drawing/2014/main" val="224401599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852662452"/>
                    </a:ext>
                  </a:extLst>
                </a:gridCol>
                <a:gridCol w="830687">
                  <a:extLst>
                    <a:ext uri="{9D8B030D-6E8A-4147-A177-3AD203B41FA5}">
                      <a16:colId xmlns:a16="http://schemas.microsoft.com/office/drawing/2014/main" val="588282774"/>
                    </a:ext>
                  </a:extLst>
                </a:gridCol>
                <a:gridCol w="3552423">
                  <a:extLst>
                    <a:ext uri="{9D8B030D-6E8A-4147-A177-3AD203B41FA5}">
                      <a16:colId xmlns:a16="http://schemas.microsoft.com/office/drawing/2014/main" val="17963279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2"/>
                          </a:solidFill>
                          <a:latin typeface="黑体" pitchFamily="2" charset="-122"/>
                          <a:ea typeface="黑体" pitchFamily="2" charset="-122"/>
                        </a:rPr>
                        <a:t>OP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solidFill>
                            <a:schemeClr val="tx2"/>
                          </a:solidFill>
                          <a:latin typeface="黑体" pitchFamily="2" charset="-122"/>
                          <a:ea typeface="黑体" pitchFamily="2" charset="-122"/>
                        </a:rPr>
                        <a:t>M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2"/>
                          </a:solidFill>
                          <a:latin typeface="黑体" pitchFamily="2" charset="-122"/>
                          <a:ea typeface="黑体" pitchFamily="2" charset="-122"/>
                        </a:rPr>
                        <a:t>R1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solidFill>
                            <a:schemeClr val="tx2"/>
                          </a:solidFill>
                          <a:latin typeface="黑体" pitchFamily="2" charset="-122"/>
                          <a:ea typeface="黑体" pitchFamily="2" charset="-122"/>
                        </a:rPr>
                        <a:t>A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3853376"/>
                  </a:ext>
                </a:extLst>
              </a:tr>
            </a:tbl>
          </a:graphicData>
        </a:graphic>
      </p:graphicFrame>
      <p:sp>
        <p:nvSpPr>
          <p:cNvPr id="20" name="文本框 19">
            <a:extLst>
              <a:ext uri="{FF2B5EF4-FFF2-40B4-BE49-F238E27FC236}">
                <a16:creationId xmlns:a16="http://schemas.microsoft.com/office/drawing/2014/main" id="{2B769710-1069-04B8-BDB3-442899E219DB}"/>
              </a:ext>
            </a:extLst>
          </p:cNvPr>
          <p:cNvSpPr txBox="1"/>
          <p:nvPr/>
        </p:nvSpPr>
        <p:spPr>
          <a:xfrm>
            <a:off x="643944" y="3795207"/>
            <a:ext cx="791406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3)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相对转移指令为一地址格式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取单字长为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16</a:t>
            </a:r>
            <a:r>
              <a:rPr lang="zh-CN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位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格式如下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: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6E559E9-578D-8106-CAB7-B7C8D91391E8}"/>
              </a:ext>
            </a:extLst>
          </p:cNvPr>
          <p:cNvSpPr txBox="1"/>
          <p:nvPr/>
        </p:nvSpPr>
        <p:spPr>
          <a:xfrm>
            <a:off x="455053" y="4345984"/>
            <a:ext cx="7914068" cy="877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        6            2           8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endParaRPr lang="en-US" altLang="zh-CN" sz="2200" dirty="0">
              <a:solidFill>
                <a:schemeClr val="tx2"/>
              </a:solidFill>
              <a:latin typeface="黑体" pitchFamily="2" charset="-122"/>
              <a:ea typeface="黑体" pitchFamily="2" charset="-122"/>
            </a:endParaRPr>
          </a:p>
        </p:txBody>
      </p:sp>
      <p:graphicFrame>
        <p:nvGraphicFramePr>
          <p:cNvPr id="22" name="表格 21">
            <a:extLst>
              <a:ext uri="{FF2B5EF4-FFF2-40B4-BE49-F238E27FC236}">
                <a16:creationId xmlns:a16="http://schemas.microsoft.com/office/drawing/2014/main" id="{46D8D486-8703-3F74-8640-BC0BDF3897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3204686"/>
              </p:ext>
            </p:extLst>
          </p:nvPr>
        </p:nvGraphicFramePr>
        <p:xfrm>
          <a:off x="1167686" y="4853134"/>
          <a:ext cx="6096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1351">
                  <a:extLst>
                    <a:ext uri="{9D8B030D-6E8A-4147-A177-3AD203B41FA5}">
                      <a16:colId xmlns:a16="http://schemas.microsoft.com/office/drawing/2014/main" val="1785204264"/>
                    </a:ext>
                  </a:extLst>
                </a:gridCol>
                <a:gridCol w="792050">
                  <a:extLst>
                    <a:ext uri="{9D8B030D-6E8A-4147-A177-3AD203B41FA5}">
                      <a16:colId xmlns:a16="http://schemas.microsoft.com/office/drawing/2014/main" val="1589368186"/>
                    </a:ext>
                  </a:extLst>
                </a:gridCol>
                <a:gridCol w="3232599">
                  <a:extLst>
                    <a:ext uri="{9D8B030D-6E8A-4147-A177-3AD203B41FA5}">
                      <a16:colId xmlns:a16="http://schemas.microsoft.com/office/drawing/2014/main" val="19972633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2"/>
                          </a:solidFill>
                          <a:latin typeface="黑体" pitchFamily="2" charset="-122"/>
                          <a:ea typeface="黑体" pitchFamily="2" charset="-122"/>
                        </a:rPr>
                        <a:t>OP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solidFill>
                            <a:schemeClr val="tx2"/>
                          </a:solidFill>
                          <a:latin typeface="黑体" pitchFamily="2" charset="-122"/>
                          <a:ea typeface="黑体" pitchFamily="2" charset="-122"/>
                        </a:rPr>
                        <a:t>M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2"/>
                          </a:solidFill>
                          <a:latin typeface="黑体" pitchFamily="2" charset="-122"/>
                          <a:ea typeface="黑体" pitchFamily="2" charset="-122"/>
                        </a:rPr>
                        <a:t>A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23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6316335"/>
      </p:ext>
    </p:extLst>
  </p:cSld>
  <p:clrMapOvr>
    <a:masterClrMapping/>
  </p:clrMapOvr>
  <p:transition>
    <p:wipe dir="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333785F6-AF56-A425-A83A-92B1B4DE958A}"/>
              </a:ext>
            </a:extLst>
          </p:cNvPr>
          <p:cNvSpPr txBox="1"/>
          <p:nvPr/>
        </p:nvSpPr>
        <p:spPr>
          <a:xfrm>
            <a:off x="148107" y="400233"/>
            <a:ext cx="8822028" cy="2385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kumimoji="0" lang="en-US" altLang="zh-CN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【</a:t>
            </a:r>
            <a:r>
              <a:rPr kumimoji="0" lang="zh-CN" altLang="en-US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例</a:t>
            </a:r>
            <a:r>
              <a:rPr kumimoji="0" lang="en-US" altLang="zh-CN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5】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某计算机指令系统采用定长操作码和变长指令码格式。回答以下问题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: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1)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采用什么寻址方式指令码长度最短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?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采用什么寻址方式指令码长度最长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?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2)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采用什么寻址方式执行速度最快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?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采用什么寻址方式执行速度最慢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?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3)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若指令系统采用定长指令码格式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则采用什么寻址方式执行速度最快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?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90C3B54-6E15-FC0E-0343-5A7E87991F3A}"/>
              </a:ext>
            </a:extLst>
          </p:cNvPr>
          <p:cNvSpPr txBox="1"/>
          <p:nvPr/>
        </p:nvSpPr>
        <p:spPr>
          <a:xfrm>
            <a:off x="148107" y="3031757"/>
            <a:ext cx="8822028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kumimoji="0" lang="zh-CN" altLang="en-US" sz="2000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解： 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1)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由于通用寄存器的数量有限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可以用较少的二进制位来编码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所以采用寄存器寻址方式和寄存器间接寻址方式的指令码长度最短。因为需要在指令中表示数据和地址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所以立即寻址方式、直接寻址方式和间接寻址方式的指令码长度最长。若指令码长度太短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则无法表示范围较大的立即数和寻址到较大的内存地址空间。</a:t>
            </a:r>
            <a:endParaRPr lang="en-US" altLang="zh-CN" sz="2200" dirty="0">
              <a:solidFill>
                <a:schemeClr val="tx2"/>
              </a:solidFill>
              <a:latin typeface="黑体" pitchFamily="2" charset="-122"/>
              <a:ea typeface="黑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91723201"/>
      </p:ext>
    </p:extLst>
  </p:cSld>
  <p:clrMapOvr>
    <a:masterClrMapping/>
  </p:clrMapOvr>
  <p:transition>
    <p:wipe dir="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333785F6-AF56-A425-A83A-92B1B4DE958A}"/>
              </a:ext>
            </a:extLst>
          </p:cNvPr>
          <p:cNvSpPr txBox="1"/>
          <p:nvPr/>
        </p:nvSpPr>
        <p:spPr>
          <a:xfrm>
            <a:off x="148107" y="400233"/>
            <a:ext cx="8822028" cy="2385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kumimoji="0" lang="en-US" altLang="zh-CN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【</a:t>
            </a:r>
            <a:r>
              <a:rPr kumimoji="0" lang="zh-CN" altLang="en-US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例</a:t>
            </a:r>
            <a:r>
              <a:rPr kumimoji="0" lang="en-US" altLang="zh-CN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5】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某计算机指令系统采用定长操作码和变长指令码格式。回答以下问题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: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1)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采用什么寻址方式指令码长度最短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?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采用什么寻址方式指令码长度最长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?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2)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采用什么寻址方式执行速度最快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?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采用什么寻址方式执行速度最慢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?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3)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若指令系统采用定长指令码格式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则采用什么寻址方式执行速度最快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?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90C3B54-6E15-FC0E-0343-5A7E87991F3A}"/>
              </a:ext>
            </a:extLst>
          </p:cNvPr>
          <p:cNvSpPr txBox="1"/>
          <p:nvPr/>
        </p:nvSpPr>
        <p:spPr>
          <a:xfrm>
            <a:off x="148107" y="3031757"/>
            <a:ext cx="8822028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kumimoji="0" lang="zh-CN" altLang="en-US" sz="2000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解： 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2)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 由于通用寄存器位于 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CPU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内部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无须到内存读取操作数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所以寄存器寻址方式执行速度最快。</a:t>
            </a:r>
            <a:endParaRPr lang="en-US" altLang="zh-CN" sz="2200" dirty="0">
              <a:solidFill>
                <a:schemeClr val="tx2"/>
              </a:solidFill>
              <a:latin typeface="黑体" pitchFamily="2" charset="-122"/>
              <a:ea typeface="黑体" pitchFamily="2" charset="-122"/>
            </a:endParaRP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而间接寻址方式需要读内存两次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第一次由操作数的间接地址读到操作数的地址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第二次再由操作数的地址读到操作数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所以间接寻址方式的执行速度最慢。</a:t>
            </a:r>
            <a:endParaRPr lang="en-US" altLang="zh-CN" sz="2200" dirty="0">
              <a:solidFill>
                <a:schemeClr val="tx2"/>
              </a:solidFill>
              <a:latin typeface="黑体" pitchFamily="2" charset="-122"/>
              <a:ea typeface="黑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34404897"/>
      </p:ext>
    </p:extLst>
  </p:cSld>
  <p:clrMapOvr>
    <a:masterClrMapping/>
  </p:clrMapOvr>
  <p:transition>
    <p:wipe dir="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333785F6-AF56-A425-A83A-92B1B4DE958A}"/>
              </a:ext>
            </a:extLst>
          </p:cNvPr>
          <p:cNvSpPr txBox="1"/>
          <p:nvPr/>
        </p:nvSpPr>
        <p:spPr>
          <a:xfrm>
            <a:off x="148107" y="400233"/>
            <a:ext cx="8822028" cy="2385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kumimoji="0" lang="en-US" altLang="zh-CN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【</a:t>
            </a:r>
            <a:r>
              <a:rPr kumimoji="0" lang="zh-CN" altLang="en-US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例</a:t>
            </a:r>
            <a:r>
              <a:rPr kumimoji="0" lang="en-US" altLang="zh-CN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5】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某计算机指令系统采用定长操作码和变长指令码格式。回答以下问题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: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1)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采用什么寻址方式指令码长度最短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?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采用什么寻址方式指令码长度最长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?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2)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采用什么寻址方式执行速度最快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?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采用什么寻址方式执行速度最慢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?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3)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若指令系统采用定长指令码格式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则采用什么寻址方式执行速度最快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?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90C3B54-6E15-FC0E-0343-5A7E87991F3A}"/>
              </a:ext>
            </a:extLst>
          </p:cNvPr>
          <p:cNvSpPr txBox="1"/>
          <p:nvPr/>
        </p:nvSpPr>
        <p:spPr>
          <a:xfrm>
            <a:off x="148107" y="3031757"/>
            <a:ext cx="8822028" cy="3031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kumimoji="0" lang="zh-CN" altLang="en-US" sz="2000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解： 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3)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若指令系统采用定长指令码格式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所有指令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(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包括采用立即寻址方式的指令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)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所包含的二进制位数均相同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则立即寻址方式执行速度最快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因为读到指令的同时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便立即取得操作数。</a:t>
            </a:r>
            <a:endParaRPr lang="en-US" altLang="zh-CN" sz="2200" dirty="0">
              <a:solidFill>
                <a:schemeClr val="tx2"/>
              </a:solidFill>
              <a:latin typeface="黑体" pitchFamily="2" charset="-122"/>
              <a:ea typeface="黑体" pitchFamily="2" charset="-122"/>
            </a:endParaRP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若采用变长指令码格式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由于要表示一定范围内的立即数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包含立即数的指令通常需要较多的二进制位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取指令时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可能需要不止一次地读内存来完成取指令。因此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采用变长指令码格式时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寄存器寻址方式执行速度最快。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endParaRPr lang="en-US" altLang="zh-CN" sz="2200" dirty="0">
              <a:solidFill>
                <a:schemeClr val="tx2"/>
              </a:solidFill>
              <a:latin typeface="黑体" pitchFamily="2" charset="-122"/>
              <a:ea typeface="黑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40891151"/>
      </p:ext>
    </p:extLst>
  </p:cSld>
  <p:clrMapOvr>
    <a:masterClrMapping/>
  </p:clrMapOvr>
  <p:transition>
    <p:wipe dir="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333785F6-AF56-A425-A83A-92B1B4DE958A}"/>
              </a:ext>
            </a:extLst>
          </p:cNvPr>
          <p:cNvSpPr txBox="1"/>
          <p:nvPr/>
        </p:nvSpPr>
        <p:spPr>
          <a:xfrm>
            <a:off x="321972" y="541901"/>
            <a:ext cx="8822028" cy="3262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kumimoji="0" lang="en-US" altLang="zh-CN" sz="2000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【</a:t>
            </a:r>
            <a:r>
              <a:rPr kumimoji="0" lang="zh-CN" altLang="en-US" sz="2000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例</a:t>
            </a:r>
            <a:r>
              <a:rPr kumimoji="0" lang="en-US" altLang="zh-CN" sz="2000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6】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某机字长为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16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位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存储器按字编址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访问内存指令格式如下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: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15    11 10  8  7             0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endParaRPr lang="en-US" altLang="zh-CN" sz="2200" dirty="0">
              <a:solidFill>
                <a:schemeClr val="tx2"/>
              </a:solidFill>
              <a:latin typeface="黑体" pitchFamily="2" charset="-122"/>
              <a:ea typeface="黑体" pitchFamily="2" charset="-122"/>
            </a:endParaRP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其中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,OP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为操作码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,M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为寻址特征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,A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为形式地址。设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PC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和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Rx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分别为程序计数器和变址寄存器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字长为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16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位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问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: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1)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该指令能定义多少种指令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?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2)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下表中各种寻址方式的寻址范围为多少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?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3)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写出下表中各种寻址方式的有效地址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EA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的计算公式。</a:t>
            </a:r>
            <a:endParaRPr lang="en-US" altLang="zh-CN" sz="2200" dirty="0">
              <a:solidFill>
                <a:schemeClr val="tx2"/>
              </a:solidFill>
              <a:latin typeface="黑体" pitchFamily="2" charset="-122"/>
              <a:ea typeface="黑体" pitchFamily="2" charset="-122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E91426C5-D872-7435-A889-8161ED67A7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3273516"/>
              </p:ext>
            </p:extLst>
          </p:nvPr>
        </p:nvGraphicFramePr>
        <p:xfrm>
          <a:off x="390660" y="1313287"/>
          <a:ext cx="4496873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7154">
                  <a:extLst>
                    <a:ext uri="{9D8B030D-6E8A-4147-A177-3AD203B41FA5}">
                      <a16:colId xmlns:a16="http://schemas.microsoft.com/office/drawing/2014/main" val="4057948917"/>
                    </a:ext>
                  </a:extLst>
                </a:gridCol>
                <a:gridCol w="798491">
                  <a:extLst>
                    <a:ext uri="{9D8B030D-6E8A-4147-A177-3AD203B41FA5}">
                      <a16:colId xmlns:a16="http://schemas.microsoft.com/office/drawing/2014/main" val="3767439796"/>
                    </a:ext>
                  </a:extLst>
                </a:gridCol>
                <a:gridCol w="2421228">
                  <a:extLst>
                    <a:ext uri="{9D8B030D-6E8A-4147-A177-3AD203B41FA5}">
                      <a16:colId xmlns:a16="http://schemas.microsoft.com/office/drawing/2014/main" val="34670149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2"/>
                          </a:solidFill>
                          <a:latin typeface="黑体" pitchFamily="2" charset="-122"/>
                          <a:ea typeface="黑体" pitchFamily="2" charset="-122"/>
                        </a:rPr>
                        <a:t>OP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solidFill>
                            <a:schemeClr val="tx2"/>
                          </a:solidFill>
                          <a:latin typeface="黑体" pitchFamily="2" charset="-122"/>
                          <a:ea typeface="黑体" pitchFamily="2" charset="-122"/>
                        </a:rPr>
                        <a:t>M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2"/>
                          </a:solidFill>
                          <a:latin typeface="黑体" pitchFamily="2" charset="-122"/>
                          <a:ea typeface="黑体" pitchFamily="2" charset="-122"/>
                        </a:rPr>
                        <a:t>A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0346761"/>
                  </a:ext>
                </a:extLst>
              </a:tr>
            </a:tbl>
          </a:graphicData>
        </a:graphic>
      </p:graphicFrame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B65847AD-78E7-2329-72F7-68C6907887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5316251"/>
              </p:ext>
            </p:extLst>
          </p:nvPr>
        </p:nvGraphicFramePr>
        <p:xfrm>
          <a:off x="824248" y="3804333"/>
          <a:ext cx="602945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1977">
                  <a:extLst>
                    <a:ext uri="{9D8B030D-6E8A-4147-A177-3AD203B41FA5}">
                      <a16:colId xmlns:a16="http://schemas.microsoft.com/office/drawing/2014/main" val="3624864526"/>
                    </a:ext>
                  </a:extLst>
                </a:gridCol>
                <a:gridCol w="2825482">
                  <a:extLst>
                    <a:ext uri="{9D8B030D-6E8A-4147-A177-3AD203B41FA5}">
                      <a16:colId xmlns:a16="http://schemas.microsoft.com/office/drawing/2014/main" val="341482112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510523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dirty="0">
                          <a:solidFill>
                            <a:schemeClr val="tx2"/>
                          </a:solidFill>
                          <a:latin typeface="黑体" pitchFamily="2" charset="-122"/>
                          <a:ea typeface="黑体" pitchFamily="2" charset="-122"/>
                        </a:rPr>
                        <a:t>寻址方式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b="1" kern="1200" dirty="0">
                          <a:solidFill>
                            <a:schemeClr val="tx2"/>
                          </a:solidFill>
                          <a:latin typeface="黑体" pitchFamily="2" charset="-122"/>
                          <a:ea typeface="黑体" pitchFamily="2" charset="-122"/>
                          <a:cs typeface="+mn-cs"/>
                        </a:rPr>
                        <a:t>有效地址</a:t>
                      </a:r>
                      <a:r>
                        <a:rPr lang="en-US" altLang="zh-CN" sz="1800" b="1" kern="1200" dirty="0">
                          <a:solidFill>
                            <a:schemeClr val="tx2"/>
                          </a:solidFill>
                          <a:latin typeface="黑体" pitchFamily="2" charset="-122"/>
                          <a:ea typeface="黑体" pitchFamily="2" charset="-122"/>
                          <a:cs typeface="+mn-cs"/>
                        </a:rPr>
                        <a:t>EA</a:t>
                      </a:r>
                      <a:r>
                        <a:rPr lang="zh-CN" altLang="en-US" sz="1800" b="1" kern="1200" dirty="0">
                          <a:solidFill>
                            <a:schemeClr val="tx2"/>
                          </a:solidFill>
                          <a:latin typeface="黑体" pitchFamily="2" charset="-122"/>
                          <a:ea typeface="黑体" pitchFamily="2" charset="-122"/>
                          <a:cs typeface="+mn-cs"/>
                        </a:rPr>
                        <a:t>的计算公式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b="1" kern="1200" dirty="0">
                          <a:solidFill>
                            <a:schemeClr val="tx2"/>
                          </a:solidFill>
                          <a:latin typeface="黑体" pitchFamily="2" charset="-122"/>
                          <a:ea typeface="黑体" pitchFamily="2" charset="-122"/>
                          <a:cs typeface="+mn-cs"/>
                        </a:rPr>
                        <a:t>寻址范围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90192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800" b="1" kern="1200" dirty="0">
                          <a:solidFill>
                            <a:schemeClr val="tx2"/>
                          </a:solidFill>
                          <a:latin typeface="黑体" pitchFamily="2" charset="-122"/>
                          <a:ea typeface="黑体" pitchFamily="2" charset="-122"/>
                          <a:cs typeface="+mn-cs"/>
                        </a:rPr>
                        <a:t>直接寻址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 b="1" kern="1200" dirty="0">
                        <a:solidFill>
                          <a:schemeClr val="tx2"/>
                        </a:solidFill>
                        <a:latin typeface="黑体" pitchFamily="2" charset="-122"/>
                        <a:ea typeface="黑体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 b="1" kern="1200" dirty="0">
                        <a:solidFill>
                          <a:schemeClr val="tx2"/>
                        </a:solidFill>
                        <a:latin typeface="黑体" pitchFamily="2" charset="-122"/>
                        <a:ea typeface="黑体" pitchFamily="2" charset="-122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20942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800" b="1" kern="1200" dirty="0">
                          <a:solidFill>
                            <a:schemeClr val="tx2"/>
                          </a:solidFill>
                          <a:latin typeface="黑体" pitchFamily="2" charset="-122"/>
                          <a:ea typeface="黑体" pitchFamily="2" charset="-122"/>
                          <a:cs typeface="+mn-cs"/>
                        </a:rPr>
                        <a:t>间接寻址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 b="1" kern="1200" dirty="0">
                        <a:solidFill>
                          <a:schemeClr val="tx2"/>
                        </a:solidFill>
                        <a:latin typeface="黑体" pitchFamily="2" charset="-122"/>
                        <a:ea typeface="黑体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 b="1" kern="1200" dirty="0">
                        <a:solidFill>
                          <a:schemeClr val="tx2"/>
                        </a:solidFill>
                        <a:latin typeface="黑体" pitchFamily="2" charset="-122"/>
                        <a:ea typeface="黑体" pitchFamily="2" charset="-122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1955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800" b="1" kern="1200" dirty="0">
                          <a:solidFill>
                            <a:schemeClr val="tx2"/>
                          </a:solidFill>
                          <a:latin typeface="黑体" pitchFamily="2" charset="-122"/>
                          <a:ea typeface="黑体" pitchFamily="2" charset="-122"/>
                          <a:cs typeface="+mn-cs"/>
                        </a:rPr>
                        <a:t>变址寻址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63362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800" b="1" kern="1200" dirty="0">
                          <a:solidFill>
                            <a:schemeClr val="tx2"/>
                          </a:solidFill>
                          <a:latin typeface="黑体" pitchFamily="2" charset="-122"/>
                          <a:ea typeface="黑体" pitchFamily="2" charset="-122"/>
                          <a:cs typeface="+mn-cs"/>
                        </a:rPr>
                        <a:t>相对寻址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24350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9140611"/>
      </p:ext>
    </p:extLst>
  </p:cSld>
  <p:clrMapOvr>
    <a:masterClrMapping/>
  </p:clrMapOvr>
  <p:transition>
    <p:wipe dir="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333785F6-AF56-A425-A83A-92B1B4DE958A}"/>
              </a:ext>
            </a:extLst>
          </p:cNvPr>
          <p:cNvSpPr txBox="1"/>
          <p:nvPr/>
        </p:nvSpPr>
        <p:spPr>
          <a:xfrm>
            <a:off x="321972" y="541901"/>
            <a:ext cx="8822028" cy="846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kumimoji="0" lang="en-US" altLang="zh-CN" sz="2000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【</a:t>
            </a:r>
            <a:r>
              <a:rPr kumimoji="0" lang="zh-CN" altLang="en-US" sz="2000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例</a:t>
            </a:r>
            <a:r>
              <a:rPr kumimoji="0" lang="en-US" altLang="zh-CN" sz="2000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6】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1)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因为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OP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字段长为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5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位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所以指令能定义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2</a:t>
            </a:r>
            <a:r>
              <a:rPr lang="en-US" altLang="zh-CN" sz="2200" baseline="300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5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=32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种指令。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     2)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、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3)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各寻址方式的有效地址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EA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的计算公式、寻址范围见下表。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B65847AD-78E7-2329-72F7-68C6907887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0019118"/>
              </p:ext>
            </p:extLst>
          </p:nvPr>
        </p:nvGraphicFramePr>
        <p:xfrm>
          <a:off x="1204174" y="1574800"/>
          <a:ext cx="602945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1977">
                  <a:extLst>
                    <a:ext uri="{9D8B030D-6E8A-4147-A177-3AD203B41FA5}">
                      <a16:colId xmlns:a16="http://schemas.microsoft.com/office/drawing/2014/main" val="3624864526"/>
                    </a:ext>
                  </a:extLst>
                </a:gridCol>
                <a:gridCol w="2825482">
                  <a:extLst>
                    <a:ext uri="{9D8B030D-6E8A-4147-A177-3AD203B41FA5}">
                      <a16:colId xmlns:a16="http://schemas.microsoft.com/office/drawing/2014/main" val="341482112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510523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dirty="0">
                          <a:solidFill>
                            <a:schemeClr val="tx2"/>
                          </a:solidFill>
                          <a:latin typeface="黑体" pitchFamily="2" charset="-122"/>
                          <a:ea typeface="黑体" pitchFamily="2" charset="-122"/>
                        </a:rPr>
                        <a:t>寻址方式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b="1" kern="1200" dirty="0">
                          <a:solidFill>
                            <a:schemeClr val="tx2"/>
                          </a:solidFill>
                          <a:latin typeface="黑体" pitchFamily="2" charset="-122"/>
                          <a:ea typeface="黑体" pitchFamily="2" charset="-122"/>
                          <a:cs typeface="+mn-cs"/>
                        </a:rPr>
                        <a:t>有效地址</a:t>
                      </a:r>
                      <a:r>
                        <a:rPr lang="en-US" altLang="zh-CN" sz="1800" b="1" kern="1200" dirty="0">
                          <a:solidFill>
                            <a:schemeClr val="tx2"/>
                          </a:solidFill>
                          <a:latin typeface="黑体" pitchFamily="2" charset="-122"/>
                          <a:ea typeface="黑体" pitchFamily="2" charset="-122"/>
                          <a:cs typeface="+mn-cs"/>
                        </a:rPr>
                        <a:t>EA</a:t>
                      </a:r>
                      <a:r>
                        <a:rPr lang="zh-CN" altLang="en-US" sz="1800" b="1" kern="1200" dirty="0">
                          <a:solidFill>
                            <a:schemeClr val="tx2"/>
                          </a:solidFill>
                          <a:latin typeface="黑体" pitchFamily="2" charset="-122"/>
                          <a:ea typeface="黑体" pitchFamily="2" charset="-122"/>
                          <a:cs typeface="+mn-cs"/>
                        </a:rPr>
                        <a:t>的计算公式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b="1" kern="1200" dirty="0">
                          <a:solidFill>
                            <a:schemeClr val="tx2"/>
                          </a:solidFill>
                          <a:latin typeface="黑体" pitchFamily="2" charset="-122"/>
                          <a:ea typeface="黑体" pitchFamily="2" charset="-122"/>
                          <a:cs typeface="+mn-cs"/>
                        </a:rPr>
                        <a:t>寻址范围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90192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800" b="1" kern="1200" dirty="0">
                          <a:solidFill>
                            <a:schemeClr val="tx2"/>
                          </a:solidFill>
                          <a:latin typeface="黑体" pitchFamily="2" charset="-122"/>
                          <a:ea typeface="黑体" pitchFamily="2" charset="-122"/>
                          <a:cs typeface="+mn-cs"/>
                        </a:rPr>
                        <a:t>直接寻址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1" kern="1200" dirty="0">
                          <a:solidFill>
                            <a:schemeClr val="tx2"/>
                          </a:solidFill>
                          <a:latin typeface="黑体" pitchFamily="2" charset="-122"/>
                          <a:ea typeface="黑体" pitchFamily="2" charset="-122"/>
                          <a:cs typeface="+mn-cs"/>
                        </a:rPr>
                        <a:t>EA=A</a:t>
                      </a:r>
                      <a:endParaRPr lang="zh-CN" altLang="en-US" sz="1800" b="1" kern="1200" dirty="0">
                        <a:solidFill>
                          <a:schemeClr val="tx2"/>
                        </a:solidFill>
                        <a:latin typeface="黑体" pitchFamily="2" charset="-122"/>
                        <a:ea typeface="黑体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kern="1200" dirty="0">
                          <a:solidFill>
                            <a:schemeClr val="tx2"/>
                          </a:solidFill>
                          <a:latin typeface="黑体" pitchFamily="2" charset="-122"/>
                          <a:ea typeface="黑体" pitchFamily="2" charset="-122"/>
                          <a:cs typeface="+mn-cs"/>
                        </a:rPr>
                        <a:t>2</a:t>
                      </a:r>
                      <a:r>
                        <a:rPr lang="en-US" altLang="zh-CN" sz="1800" b="1" kern="1200" baseline="30000" dirty="0">
                          <a:solidFill>
                            <a:schemeClr val="tx2"/>
                          </a:solidFill>
                          <a:latin typeface="黑体" pitchFamily="2" charset="-122"/>
                          <a:ea typeface="黑体" pitchFamily="2" charset="-122"/>
                          <a:cs typeface="+mn-cs"/>
                        </a:rPr>
                        <a:t>8</a:t>
                      </a:r>
                      <a:r>
                        <a:rPr lang="en-US" altLang="zh-CN" sz="1800" b="1" kern="1200" dirty="0">
                          <a:solidFill>
                            <a:schemeClr val="tx2"/>
                          </a:solidFill>
                          <a:latin typeface="黑体" pitchFamily="2" charset="-122"/>
                          <a:ea typeface="黑体" pitchFamily="2" charset="-122"/>
                          <a:cs typeface="+mn-cs"/>
                        </a:rPr>
                        <a:t>=256</a:t>
                      </a:r>
                      <a:endParaRPr lang="zh-CN" altLang="en-US" sz="1800" b="1" kern="1200" dirty="0">
                        <a:solidFill>
                          <a:schemeClr val="tx2"/>
                        </a:solidFill>
                        <a:latin typeface="黑体" pitchFamily="2" charset="-122"/>
                        <a:ea typeface="黑体" pitchFamily="2" charset="-122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20942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800" b="1" kern="1200" dirty="0">
                          <a:solidFill>
                            <a:schemeClr val="tx2"/>
                          </a:solidFill>
                          <a:latin typeface="黑体" pitchFamily="2" charset="-122"/>
                          <a:ea typeface="黑体" pitchFamily="2" charset="-122"/>
                          <a:cs typeface="+mn-cs"/>
                        </a:rPr>
                        <a:t>间接寻址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kern="1200" dirty="0">
                          <a:solidFill>
                            <a:schemeClr val="tx2"/>
                          </a:solidFill>
                          <a:latin typeface="黑体" pitchFamily="2" charset="-122"/>
                          <a:ea typeface="黑体" pitchFamily="2" charset="-122"/>
                          <a:cs typeface="+mn-cs"/>
                        </a:rPr>
                        <a:t>EA=(A)</a:t>
                      </a:r>
                      <a:endParaRPr lang="zh-CN" altLang="en-US" sz="1800" b="1" kern="1200" dirty="0">
                        <a:solidFill>
                          <a:schemeClr val="tx2"/>
                        </a:solidFill>
                        <a:latin typeface="黑体" pitchFamily="2" charset="-122"/>
                        <a:ea typeface="黑体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kern="1200" dirty="0">
                          <a:solidFill>
                            <a:schemeClr val="tx2"/>
                          </a:solidFill>
                          <a:latin typeface="黑体" pitchFamily="2" charset="-122"/>
                          <a:ea typeface="黑体" pitchFamily="2" charset="-122"/>
                          <a:cs typeface="+mn-cs"/>
                        </a:rPr>
                        <a:t>2</a:t>
                      </a:r>
                      <a:r>
                        <a:rPr lang="en-US" altLang="zh-CN" sz="1800" b="1" kern="1200" baseline="30000" dirty="0">
                          <a:solidFill>
                            <a:schemeClr val="tx2"/>
                          </a:solidFill>
                          <a:latin typeface="黑体" pitchFamily="2" charset="-122"/>
                          <a:ea typeface="黑体" pitchFamily="2" charset="-122"/>
                          <a:cs typeface="+mn-cs"/>
                        </a:rPr>
                        <a:t>16</a:t>
                      </a:r>
                      <a:r>
                        <a:rPr lang="en-US" altLang="zh-CN" sz="1800" b="1" kern="1200" dirty="0">
                          <a:solidFill>
                            <a:schemeClr val="tx2"/>
                          </a:solidFill>
                          <a:latin typeface="黑体" pitchFamily="2" charset="-122"/>
                          <a:ea typeface="黑体" pitchFamily="2" charset="-122"/>
                          <a:cs typeface="+mn-cs"/>
                        </a:rPr>
                        <a:t>=64K</a:t>
                      </a:r>
                      <a:endParaRPr lang="zh-CN" altLang="en-US" sz="1800" b="1" kern="1200" dirty="0">
                        <a:solidFill>
                          <a:schemeClr val="tx2"/>
                        </a:solidFill>
                        <a:latin typeface="黑体" pitchFamily="2" charset="-122"/>
                        <a:ea typeface="黑体" pitchFamily="2" charset="-122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1955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800" b="1" kern="1200" dirty="0">
                          <a:solidFill>
                            <a:schemeClr val="tx2"/>
                          </a:solidFill>
                          <a:latin typeface="黑体" pitchFamily="2" charset="-122"/>
                          <a:ea typeface="黑体" pitchFamily="2" charset="-122"/>
                          <a:cs typeface="+mn-cs"/>
                        </a:rPr>
                        <a:t>变址寻址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1" kern="1200" dirty="0">
                          <a:solidFill>
                            <a:schemeClr val="tx2"/>
                          </a:solidFill>
                          <a:latin typeface="黑体" pitchFamily="2" charset="-122"/>
                          <a:ea typeface="黑体" pitchFamily="2" charset="-122"/>
                          <a:cs typeface="+mn-cs"/>
                        </a:rPr>
                        <a:t>EA=(Rx)+A</a:t>
                      </a:r>
                      <a:endParaRPr lang="zh-CN" altLang="en-US" sz="1800" b="1" kern="1200" dirty="0">
                        <a:solidFill>
                          <a:schemeClr val="tx2"/>
                        </a:solidFill>
                        <a:latin typeface="黑体" pitchFamily="2" charset="-122"/>
                        <a:ea typeface="黑体" pitchFamily="2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kern="1200" dirty="0">
                          <a:solidFill>
                            <a:schemeClr val="tx2"/>
                          </a:solidFill>
                          <a:latin typeface="黑体" pitchFamily="2" charset="-122"/>
                          <a:ea typeface="黑体" pitchFamily="2" charset="-122"/>
                          <a:cs typeface="+mn-cs"/>
                        </a:rPr>
                        <a:t>2</a:t>
                      </a:r>
                      <a:r>
                        <a:rPr lang="en-US" altLang="zh-CN" sz="1800" b="1" kern="1200" baseline="30000" dirty="0">
                          <a:solidFill>
                            <a:schemeClr val="tx2"/>
                          </a:solidFill>
                          <a:latin typeface="黑体" pitchFamily="2" charset="-122"/>
                          <a:ea typeface="黑体" pitchFamily="2" charset="-122"/>
                          <a:cs typeface="+mn-cs"/>
                        </a:rPr>
                        <a:t>16</a:t>
                      </a:r>
                      <a:r>
                        <a:rPr lang="en-US" altLang="zh-CN" sz="1800" b="1" kern="1200" dirty="0">
                          <a:solidFill>
                            <a:schemeClr val="tx2"/>
                          </a:solidFill>
                          <a:latin typeface="黑体" pitchFamily="2" charset="-122"/>
                          <a:ea typeface="黑体" pitchFamily="2" charset="-122"/>
                          <a:cs typeface="+mn-cs"/>
                        </a:rPr>
                        <a:t>=64K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63362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800" b="1" kern="1200" dirty="0">
                          <a:solidFill>
                            <a:schemeClr val="tx2"/>
                          </a:solidFill>
                          <a:latin typeface="黑体" pitchFamily="2" charset="-122"/>
                          <a:ea typeface="黑体" pitchFamily="2" charset="-122"/>
                          <a:cs typeface="+mn-cs"/>
                        </a:rPr>
                        <a:t>相对寻址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kern="1200" dirty="0">
                          <a:solidFill>
                            <a:schemeClr val="tx2"/>
                          </a:solidFill>
                          <a:latin typeface="黑体" pitchFamily="2" charset="-122"/>
                          <a:ea typeface="黑体" pitchFamily="2" charset="-122"/>
                          <a:cs typeface="+mn-cs"/>
                        </a:rPr>
                        <a:t>EA=(PC)+A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kern="1200" dirty="0">
                          <a:solidFill>
                            <a:schemeClr val="tx2"/>
                          </a:solidFill>
                          <a:latin typeface="黑体" pitchFamily="2" charset="-122"/>
                          <a:ea typeface="黑体" pitchFamily="2" charset="-122"/>
                          <a:cs typeface="+mn-cs"/>
                        </a:rPr>
                        <a:t>2</a:t>
                      </a:r>
                      <a:r>
                        <a:rPr lang="en-US" altLang="zh-CN" sz="1800" b="1" kern="1200" baseline="30000" dirty="0">
                          <a:solidFill>
                            <a:schemeClr val="tx2"/>
                          </a:solidFill>
                          <a:latin typeface="黑体" pitchFamily="2" charset="-122"/>
                          <a:ea typeface="黑体" pitchFamily="2" charset="-122"/>
                          <a:cs typeface="+mn-cs"/>
                        </a:rPr>
                        <a:t>8</a:t>
                      </a:r>
                      <a:r>
                        <a:rPr lang="en-US" altLang="zh-CN" sz="1800" b="1" kern="1200" dirty="0">
                          <a:solidFill>
                            <a:schemeClr val="tx2"/>
                          </a:solidFill>
                          <a:latin typeface="黑体" pitchFamily="2" charset="-122"/>
                          <a:ea typeface="黑体" pitchFamily="2" charset="-122"/>
                          <a:cs typeface="+mn-cs"/>
                        </a:rPr>
                        <a:t>=256(PC</a:t>
                      </a:r>
                      <a:r>
                        <a:rPr lang="zh-CN" altLang="en-US" sz="1800" b="1" kern="1200" dirty="0">
                          <a:solidFill>
                            <a:schemeClr val="tx2"/>
                          </a:solidFill>
                          <a:latin typeface="黑体" pitchFamily="2" charset="-122"/>
                          <a:ea typeface="黑体" pitchFamily="2" charset="-122"/>
                          <a:cs typeface="+mn-cs"/>
                        </a:rPr>
                        <a:t>附近</a:t>
                      </a:r>
                      <a:r>
                        <a:rPr lang="en-US" altLang="zh-CN" sz="1800" b="1" kern="1200" dirty="0">
                          <a:solidFill>
                            <a:schemeClr val="tx2"/>
                          </a:solidFill>
                          <a:latin typeface="黑体" pitchFamily="2" charset="-122"/>
                          <a:ea typeface="黑体" pitchFamily="2" charset="-122"/>
                          <a:cs typeface="+mn-cs"/>
                        </a:rPr>
                        <a:t>256)</a:t>
                      </a:r>
                      <a:endParaRPr lang="zh-CN" altLang="en-US" sz="1800" b="1" kern="1200" dirty="0">
                        <a:solidFill>
                          <a:schemeClr val="tx2"/>
                        </a:solidFill>
                        <a:latin typeface="黑体" pitchFamily="2" charset="-122"/>
                        <a:ea typeface="黑体" pitchFamily="2" charset="-122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24350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7987013"/>
      </p:ext>
    </p:extLst>
  </p:cSld>
  <p:clrMapOvr>
    <a:masterClrMapping/>
  </p:clrMapOvr>
  <p:transition>
    <p:wipe dir="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333785F6-AF56-A425-A83A-92B1B4DE958A}"/>
              </a:ext>
            </a:extLst>
          </p:cNvPr>
          <p:cNvSpPr txBox="1"/>
          <p:nvPr/>
        </p:nvSpPr>
        <p:spPr>
          <a:xfrm>
            <a:off x="160986" y="374476"/>
            <a:ext cx="8822028" cy="6294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kumimoji="0" lang="en-US" altLang="zh-CN" sz="2000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【</a:t>
            </a:r>
            <a:r>
              <a:rPr kumimoji="0" lang="zh-CN" altLang="en-US" sz="2000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例</a:t>
            </a:r>
            <a:r>
              <a:rPr kumimoji="0" lang="en-US" altLang="zh-CN" sz="2000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7】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一条双字长的 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Load 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指令存储在地址为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200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和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201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的存储位置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该指令将指定的内容装入累加器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(ACC)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中。指令的第一个字指定操作码和寻址方式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第二个字是地址部分。主存内容示意图如下图所示。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PC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值为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200,R1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值为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400,XR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值为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100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。</a:t>
            </a:r>
            <a:endParaRPr lang="en-US" altLang="zh-CN" sz="2200" dirty="0">
              <a:solidFill>
                <a:schemeClr val="tx2"/>
              </a:solidFill>
              <a:latin typeface="黑体" pitchFamily="2" charset="-122"/>
              <a:ea typeface="黑体" pitchFamily="2" charset="-122"/>
            </a:endParaRP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altLang="zh-CN" sz="16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200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altLang="zh-CN" sz="16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201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altLang="zh-CN" sz="16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202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endParaRPr lang="en-US" altLang="zh-CN" sz="1600" dirty="0">
              <a:solidFill>
                <a:schemeClr val="tx2"/>
              </a:solidFill>
              <a:latin typeface="黑体" pitchFamily="2" charset="-122"/>
              <a:ea typeface="黑体" pitchFamily="2" charset="-122"/>
            </a:endParaRP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altLang="zh-CN" sz="16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300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endParaRPr lang="en-US" altLang="zh-CN" sz="1600" dirty="0">
              <a:solidFill>
                <a:schemeClr val="tx2"/>
              </a:solidFill>
              <a:latin typeface="黑体" pitchFamily="2" charset="-122"/>
              <a:ea typeface="黑体" pitchFamily="2" charset="-122"/>
            </a:endParaRP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altLang="zh-CN" sz="16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400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endParaRPr lang="en-US" altLang="zh-CN" sz="1600" dirty="0">
              <a:solidFill>
                <a:schemeClr val="tx2"/>
              </a:solidFill>
              <a:latin typeface="黑体" pitchFamily="2" charset="-122"/>
              <a:ea typeface="黑体" pitchFamily="2" charset="-122"/>
            </a:endParaRP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altLang="zh-CN" sz="16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500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endParaRPr lang="en-US" altLang="zh-CN" sz="1600" dirty="0">
              <a:solidFill>
                <a:schemeClr val="tx2"/>
              </a:solidFill>
              <a:latin typeface="黑体" pitchFamily="2" charset="-122"/>
              <a:ea typeface="黑体" pitchFamily="2" charset="-122"/>
            </a:endParaRP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altLang="zh-CN" sz="16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600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endParaRPr lang="en-US" altLang="zh-CN" sz="1600" dirty="0">
              <a:solidFill>
                <a:schemeClr val="tx2"/>
              </a:solidFill>
              <a:latin typeface="黑体" pitchFamily="2" charset="-122"/>
              <a:ea typeface="黑体" pitchFamily="2" charset="-122"/>
            </a:endParaRP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altLang="zh-CN" sz="16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702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endParaRPr lang="en-US" altLang="zh-CN" sz="1600" dirty="0">
              <a:solidFill>
                <a:schemeClr val="tx2"/>
              </a:solidFill>
              <a:latin typeface="黑体" pitchFamily="2" charset="-122"/>
              <a:ea typeface="黑体" pitchFamily="2" charset="-122"/>
            </a:endParaRP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altLang="zh-CN" sz="16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800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5E97AEC-4C2B-AA04-AC12-C006F4D18A9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995" t="17559" r="16197" b="64131"/>
          <a:stretch/>
        </p:blipFill>
        <p:spPr>
          <a:xfrm>
            <a:off x="2674609" y="1801708"/>
            <a:ext cx="5226580" cy="3952247"/>
          </a:xfrm>
          <a:prstGeom prst="rect">
            <a:avLst/>
          </a:prstGeom>
        </p:spPr>
      </p:pic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C282B337-5AFE-4B9D-BF5A-47F8F29E5DA2}"/>
              </a:ext>
            </a:extLst>
          </p:cNvPr>
          <p:cNvGraphicFramePr>
            <a:graphicFrameLocks noGrp="1"/>
          </p:cNvGraphicFramePr>
          <p:nvPr/>
        </p:nvGraphicFramePr>
        <p:xfrm>
          <a:off x="624625" y="1801708"/>
          <a:ext cx="1751527" cy="4744932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797519">
                  <a:extLst>
                    <a:ext uri="{9D8B030D-6E8A-4147-A177-3AD203B41FA5}">
                      <a16:colId xmlns:a16="http://schemas.microsoft.com/office/drawing/2014/main" val="2206626544"/>
                    </a:ext>
                  </a:extLst>
                </a:gridCol>
                <a:gridCol w="954008">
                  <a:extLst>
                    <a:ext uri="{9D8B030D-6E8A-4147-A177-3AD203B41FA5}">
                      <a16:colId xmlns:a16="http://schemas.microsoft.com/office/drawing/2014/main" val="4145410409"/>
                    </a:ext>
                  </a:extLst>
                </a:gridCol>
              </a:tblGrid>
              <a:tr h="316844"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LOAD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MOD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4165433"/>
                  </a:ext>
                </a:extLst>
              </a:tr>
              <a:tr h="309116">
                <a:tc gridSpan="2"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6550087"/>
                  </a:ext>
                </a:extLst>
              </a:tr>
              <a:tr h="316844">
                <a:tc gridSpan="2">
                  <a:txBody>
                    <a:bodyPr/>
                    <a:lstStyle/>
                    <a:p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8128206"/>
                  </a:ext>
                </a:extLst>
              </a:tr>
              <a:tr h="316844">
                <a:tc gridSpan="2"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2939381"/>
                  </a:ext>
                </a:extLst>
              </a:tr>
              <a:tr h="316844">
                <a:tc gridSpan="2"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2393016"/>
                  </a:ext>
                </a:extLst>
              </a:tr>
              <a:tr h="316844">
                <a:tc gridSpan="2"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074981"/>
                  </a:ext>
                </a:extLst>
              </a:tr>
              <a:tr h="316844">
                <a:tc gridSpan="2"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1622376"/>
                  </a:ext>
                </a:extLst>
              </a:tr>
              <a:tr h="316844">
                <a:tc gridSpan="2"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7049066"/>
                  </a:ext>
                </a:extLst>
              </a:tr>
              <a:tr h="316844">
                <a:tc gridSpan="2"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8976455"/>
                  </a:ext>
                </a:extLst>
              </a:tr>
              <a:tr h="316844">
                <a:tc gridSpan="2"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091166"/>
                  </a:ext>
                </a:extLst>
              </a:tr>
              <a:tr h="316844">
                <a:tc gridSpan="2"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3588073"/>
                  </a:ext>
                </a:extLst>
              </a:tr>
              <a:tr h="316844">
                <a:tc gridSpan="2"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60935"/>
                  </a:ext>
                </a:extLst>
              </a:tr>
              <a:tr h="316844">
                <a:tc gridSpan="2"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5218336"/>
                  </a:ext>
                </a:extLst>
              </a:tr>
              <a:tr h="316844">
                <a:tc gridSpan="2"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732599"/>
                  </a:ext>
                </a:extLst>
              </a:tr>
              <a:tr h="316844">
                <a:tc gridSpan="2"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74409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6330564"/>
      </p:ext>
    </p:extLst>
  </p:cSld>
  <p:clrMapOvr>
    <a:masterClrMapping/>
  </p:clrMapOvr>
  <p:transition>
    <p:wipe dir="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333785F6-AF56-A425-A83A-92B1B4DE958A}"/>
              </a:ext>
            </a:extLst>
          </p:cNvPr>
          <p:cNvSpPr txBox="1"/>
          <p:nvPr/>
        </p:nvSpPr>
        <p:spPr>
          <a:xfrm>
            <a:off x="160985" y="374476"/>
            <a:ext cx="7740203" cy="6417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kumimoji="0" lang="en-US" altLang="zh-CN" sz="2000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【</a:t>
            </a:r>
            <a:r>
              <a:rPr kumimoji="0" lang="zh-CN" altLang="en-US" sz="2000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例</a:t>
            </a:r>
            <a:r>
              <a:rPr kumimoji="0" lang="en-US" altLang="zh-CN" sz="2000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7】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一条双字长的 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Load 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指令存储在地址为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200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和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201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的存储位置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该指令将指定的内容装入累加器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(ACC)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中。指令的第一个字指定操作码和寻址方式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第二个字是地址部分。主存内容示意图如下图所示。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PC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值为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200,R1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值为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400,XR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值为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100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。</a:t>
            </a:r>
            <a:endParaRPr lang="en-US" altLang="zh-CN" sz="2200" dirty="0">
              <a:solidFill>
                <a:schemeClr val="tx2"/>
              </a:solidFill>
              <a:latin typeface="黑体" pitchFamily="2" charset="-122"/>
              <a:ea typeface="黑体" pitchFamily="2" charset="-122"/>
            </a:endParaRP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altLang="zh-CN" sz="16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200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altLang="zh-CN" sz="16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201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altLang="zh-CN" sz="16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202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endParaRPr lang="en-US" altLang="zh-CN" sz="1600" dirty="0">
              <a:solidFill>
                <a:schemeClr val="tx2"/>
              </a:solidFill>
              <a:latin typeface="黑体" pitchFamily="2" charset="-122"/>
              <a:ea typeface="黑体" pitchFamily="2" charset="-122"/>
            </a:endParaRP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altLang="zh-CN" sz="16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300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endParaRPr lang="en-US" altLang="zh-CN" sz="1600" dirty="0">
              <a:solidFill>
                <a:schemeClr val="tx2"/>
              </a:solidFill>
              <a:latin typeface="黑体" pitchFamily="2" charset="-122"/>
              <a:ea typeface="黑体" pitchFamily="2" charset="-122"/>
            </a:endParaRP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altLang="zh-CN" sz="16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400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endParaRPr lang="en-US" altLang="zh-CN" sz="1600" dirty="0">
              <a:solidFill>
                <a:schemeClr val="tx2"/>
              </a:solidFill>
              <a:latin typeface="黑体" pitchFamily="2" charset="-122"/>
              <a:ea typeface="黑体" pitchFamily="2" charset="-122"/>
            </a:endParaRP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altLang="zh-CN" sz="16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500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endParaRPr lang="en-US" altLang="zh-CN" sz="1600" dirty="0">
              <a:solidFill>
                <a:schemeClr val="tx2"/>
              </a:solidFill>
              <a:latin typeface="黑体" pitchFamily="2" charset="-122"/>
              <a:ea typeface="黑体" pitchFamily="2" charset="-122"/>
            </a:endParaRP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altLang="zh-CN" sz="16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600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endParaRPr lang="en-US" altLang="zh-CN" sz="1600" dirty="0">
              <a:solidFill>
                <a:schemeClr val="tx2"/>
              </a:solidFill>
              <a:latin typeface="黑体" pitchFamily="2" charset="-122"/>
              <a:ea typeface="黑体" pitchFamily="2" charset="-122"/>
            </a:endParaRP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altLang="zh-CN" sz="16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702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endParaRPr lang="en-US" altLang="zh-CN" sz="1600" dirty="0">
              <a:solidFill>
                <a:schemeClr val="tx2"/>
              </a:solidFill>
              <a:latin typeface="黑体" pitchFamily="2" charset="-122"/>
              <a:ea typeface="黑体" pitchFamily="2" charset="-122"/>
            </a:endParaRP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altLang="zh-CN" sz="16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800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C282B337-5AFE-4B9D-BF5A-47F8F29E5D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9040932"/>
              </p:ext>
            </p:extLst>
          </p:nvPr>
        </p:nvGraphicFramePr>
        <p:xfrm>
          <a:off x="624625" y="1801708"/>
          <a:ext cx="1751527" cy="4749822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797519">
                  <a:extLst>
                    <a:ext uri="{9D8B030D-6E8A-4147-A177-3AD203B41FA5}">
                      <a16:colId xmlns:a16="http://schemas.microsoft.com/office/drawing/2014/main" val="2206626544"/>
                    </a:ext>
                  </a:extLst>
                </a:gridCol>
                <a:gridCol w="954008">
                  <a:extLst>
                    <a:ext uri="{9D8B030D-6E8A-4147-A177-3AD203B41FA5}">
                      <a16:colId xmlns:a16="http://schemas.microsoft.com/office/drawing/2014/main" val="4145410409"/>
                    </a:ext>
                  </a:extLst>
                </a:gridCol>
              </a:tblGrid>
              <a:tr h="31684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LOAD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MOD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4165433"/>
                  </a:ext>
                </a:extLst>
              </a:tr>
              <a:tr h="309116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500</a:t>
                      </a:r>
                      <a:endParaRPr lang="zh-CN" altLang="en-US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6550087"/>
                  </a:ext>
                </a:extLst>
              </a:tr>
              <a:tr h="316844">
                <a:tc gridSpan="2">
                  <a:txBody>
                    <a:bodyPr/>
                    <a:lstStyle/>
                    <a:p>
                      <a:pPr algn="ctr"/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8128206"/>
                  </a:ext>
                </a:extLst>
              </a:tr>
              <a:tr h="316844">
                <a:tc gridSpan="2"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2939381"/>
                  </a:ext>
                </a:extLst>
              </a:tr>
              <a:tr h="316844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450</a:t>
                      </a:r>
                      <a:endParaRPr lang="zh-CN" altLang="en-US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2393016"/>
                  </a:ext>
                </a:extLst>
              </a:tr>
              <a:tr h="316844">
                <a:tc gridSpan="2"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074981"/>
                  </a:ext>
                </a:extLst>
              </a:tr>
              <a:tr h="316844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700</a:t>
                      </a:r>
                      <a:endParaRPr lang="zh-CN" altLang="en-US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1622376"/>
                  </a:ext>
                </a:extLst>
              </a:tr>
              <a:tr h="316844">
                <a:tc gridSpan="2"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7049066"/>
                  </a:ext>
                </a:extLst>
              </a:tr>
              <a:tr h="316844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800</a:t>
                      </a:r>
                      <a:endParaRPr lang="zh-CN" altLang="en-US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8976455"/>
                  </a:ext>
                </a:extLst>
              </a:tr>
              <a:tr h="316844">
                <a:tc gridSpan="2"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091166"/>
                  </a:ext>
                </a:extLst>
              </a:tr>
              <a:tr h="316844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900</a:t>
                      </a:r>
                      <a:endParaRPr lang="zh-CN" altLang="en-US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3588073"/>
                  </a:ext>
                </a:extLst>
              </a:tr>
              <a:tr h="316844">
                <a:tc gridSpan="2"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60935"/>
                  </a:ext>
                </a:extLst>
              </a:tr>
              <a:tr h="321734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325</a:t>
                      </a:r>
                      <a:endParaRPr lang="zh-CN" altLang="en-US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5218336"/>
                  </a:ext>
                </a:extLst>
              </a:tr>
              <a:tr h="316844">
                <a:tc gridSpan="2"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732599"/>
                  </a:ext>
                </a:extLst>
              </a:tr>
              <a:tr h="316844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300</a:t>
                      </a:r>
                      <a:endParaRPr lang="zh-CN" altLang="en-US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7440992"/>
                  </a:ext>
                </a:extLst>
              </a:tr>
            </a:tbl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893F2E22-3BA2-2AD8-C29C-ED1D339E6328}"/>
              </a:ext>
            </a:extLst>
          </p:cNvPr>
          <p:cNvSpPr txBox="1"/>
          <p:nvPr/>
        </p:nvSpPr>
        <p:spPr>
          <a:xfrm>
            <a:off x="2605730" y="1925391"/>
            <a:ext cx="6377285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altLang="zh-CN" sz="20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1)</a:t>
            </a:r>
            <a:r>
              <a:rPr lang="zh-CN" altLang="zh-CN" sz="20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直接寻址时</a:t>
            </a:r>
            <a:r>
              <a:rPr lang="en-US" altLang="zh-CN" sz="20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,EA=500,</a:t>
            </a:r>
            <a:r>
              <a:rPr lang="zh-CN" altLang="zh-CN" sz="20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装入</a:t>
            </a:r>
            <a:r>
              <a:rPr lang="en-US" altLang="zh-CN" sz="20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ACC</a:t>
            </a:r>
            <a:r>
              <a:rPr lang="zh-CN" altLang="zh-CN" sz="20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的是</a:t>
            </a:r>
            <a:r>
              <a:rPr lang="en-US" altLang="zh-CN" sz="20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800</a:t>
            </a:r>
            <a:r>
              <a:rPr lang="zh-CN" altLang="zh-CN" sz="20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。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altLang="zh-CN" sz="20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2)</a:t>
            </a:r>
            <a:r>
              <a:rPr lang="zh-CN" altLang="zh-CN" sz="20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立即寻址时</a:t>
            </a:r>
            <a:r>
              <a:rPr lang="en-US" altLang="zh-CN" sz="20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zh-CN" sz="20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指令的地址码部分是操作数</a:t>
            </a:r>
            <a:r>
              <a:rPr lang="en-US" altLang="zh-CN" sz="20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zh-CN" sz="20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所以将</a:t>
            </a:r>
            <a:r>
              <a:rPr lang="en-US" altLang="zh-CN" sz="20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500</a:t>
            </a:r>
            <a:r>
              <a:rPr lang="zh-CN" altLang="zh-CN" sz="20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装入</a:t>
            </a:r>
            <a:r>
              <a:rPr lang="en-US" altLang="zh-CN" sz="20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ACC.</a:t>
            </a:r>
            <a:endParaRPr lang="zh-CN" altLang="zh-CN" sz="2000" dirty="0">
              <a:solidFill>
                <a:schemeClr val="tx2"/>
              </a:solidFill>
              <a:latin typeface="黑体" pitchFamily="2" charset="-122"/>
              <a:ea typeface="黑体" pitchFamily="2" charset="-122"/>
            </a:endParaRP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altLang="zh-CN" sz="20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3)</a:t>
            </a:r>
            <a:r>
              <a:rPr lang="zh-CN" altLang="zh-CN" sz="20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间接寻址时</a:t>
            </a:r>
            <a:r>
              <a:rPr lang="en-US" altLang="zh-CN" sz="20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,EA=(500)=800,</a:t>
            </a:r>
            <a:r>
              <a:rPr lang="zh-CN" altLang="zh-CN" sz="20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操作数是</a:t>
            </a:r>
            <a:r>
              <a:rPr lang="en-US" altLang="zh-CN" sz="20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300</a:t>
            </a:r>
            <a:r>
              <a:rPr lang="zh-CN" altLang="zh-CN" sz="20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。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altLang="zh-CN" sz="20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4)</a:t>
            </a:r>
            <a:r>
              <a:rPr lang="zh-CN" altLang="zh-CN" sz="20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相对寻址时</a:t>
            </a:r>
            <a:r>
              <a:rPr lang="en-US" altLang="zh-CN" sz="20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zh-CN" sz="20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有效地址</a:t>
            </a:r>
            <a:r>
              <a:rPr lang="en-US" altLang="zh-CN" sz="20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EA=(PC)+A=202+500=702,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zh-CN" altLang="zh-CN" sz="20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所以装入</a:t>
            </a:r>
            <a:r>
              <a:rPr lang="en-US" altLang="zh-CN" sz="20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 ACC</a:t>
            </a:r>
            <a:r>
              <a:rPr lang="zh-CN" altLang="zh-CN" sz="20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的操作数是</a:t>
            </a:r>
            <a:r>
              <a:rPr lang="en-US" altLang="zh-CN" sz="20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325</a:t>
            </a:r>
            <a:r>
              <a:rPr lang="zh-CN" altLang="zh-CN" sz="20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。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zh-CN" altLang="zh-CN" sz="20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这是因为指令是双字长</a:t>
            </a:r>
            <a:r>
              <a:rPr lang="en-US" altLang="zh-CN" sz="20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zh-CN" sz="20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在该指令的执行阶段</a:t>
            </a:r>
            <a:r>
              <a:rPr lang="en-US" altLang="zh-CN" sz="20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,PC</a:t>
            </a:r>
            <a:r>
              <a:rPr lang="zh-CN" altLang="zh-CN" sz="20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的内容已经加</a:t>
            </a:r>
            <a:r>
              <a:rPr lang="en-US" altLang="zh-CN" sz="20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2,</a:t>
            </a:r>
            <a:r>
              <a:rPr lang="zh-CN" altLang="zh-CN" sz="20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更新为下一条指令的地址</a:t>
            </a:r>
            <a:r>
              <a:rPr lang="en-US" altLang="zh-CN" sz="20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202</a:t>
            </a:r>
            <a:r>
              <a:rPr lang="zh-CN" altLang="zh-CN" sz="20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。</a:t>
            </a:r>
            <a:r>
              <a:rPr lang="en-US" altLang="zh-CN" sz="20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 </a:t>
            </a:r>
            <a:endParaRPr lang="zh-CN" altLang="zh-CN" sz="2000" dirty="0">
              <a:solidFill>
                <a:schemeClr val="tx2"/>
              </a:solidFill>
              <a:latin typeface="黑体" pitchFamily="2" charset="-122"/>
              <a:ea typeface="黑体" pitchFamily="2" charset="-122"/>
            </a:endParaRP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altLang="zh-CN" sz="20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5)</a:t>
            </a:r>
            <a:r>
              <a:rPr lang="zh-CN" altLang="zh-CN" sz="20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变址寻址时</a:t>
            </a:r>
            <a:r>
              <a:rPr lang="en-US" altLang="zh-CN" sz="20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zh-CN" sz="20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lang="en-US" altLang="zh-CN" sz="20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EA=(XR)+A=100+500=600,</a:t>
            </a:r>
            <a:r>
              <a:rPr lang="zh-CN" altLang="zh-CN" sz="20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所以装入</a:t>
            </a:r>
            <a:r>
              <a:rPr lang="en-US" altLang="zh-CN" sz="20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ACC </a:t>
            </a:r>
            <a:r>
              <a:rPr lang="zh-CN" altLang="zh-CN" sz="20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的操作数是</a:t>
            </a:r>
            <a:r>
              <a:rPr lang="en-US" altLang="zh-CN" sz="20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900</a:t>
            </a:r>
            <a:r>
              <a:rPr lang="zh-CN" altLang="zh-CN" sz="20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。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altLang="zh-CN" sz="20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6)</a:t>
            </a:r>
            <a:r>
              <a:rPr lang="zh-CN" altLang="zh-CN" sz="20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寄存器寻址时</a:t>
            </a:r>
            <a:r>
              <a:rPr lang="en-US" altLang="zh-CN" sz="20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,R1</a:t>
            </a:r>
            <a:r>
              <a:rPr lang="zh-CN" altLang="zh-CN" sz="20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的内容</a:t>
            </a:r>
            <a:r>
              <a:rPr lang="en-US" altLang="zh-CN" sz="20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400</a:t>
            </a:r>
            <a:r>
              <a:rPr lang="zh-CN" altLang="zh-CN" sz="20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装入</a:t>
            </a:r>
            <a:r>
              <a:rPr lang="en-US" altLang="zh-CN" sz="20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ACC.</a:t>
            </a:r>
            <a:endParaRPr lang="zh-CN" altLang="zh-CN" sz="2000" dirty="0">
              <a:solidFill>
                <a:schemeClr val="tx2"/>
              </a:solidFill>
              <a:latin typeface="黑体" pitchFamily="2" charset="-122"/>
              <a:ea typeface="黑体" pitchFamily="2" charset="-122"/>
            </a:endParaRP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altLang="zh-CN" sz="20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7)</a:t>
            </a:r>
            <a:r>
              <a:rPr lang="zh-CN" altLang="zh-CN" sz="20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寄存器间接寻址时</a:t>
            </a:r>
            <a:r>
              <a:rPr lang="en-US" altLang="zh-CN" sz="20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zh-CN" sz="20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有效地址是</a:t>
            </a:r>
            <a:r>
              <a:rPr lang="en-US" altLang="zh-CN" sz="20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R1</a:t>
            </a:r>
            <a:r>
              <a:rPr lang="zh-CN" altLang="zh-CN" sz="20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的内容</a:t>
            </a:r>
            <a:r>
              <a:rPr lang="en-US" altLang="zh-CN" sz="20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400,</a:t>
            </a:r>
            <a:r>
              <a:rPr lang="zh-CN" altLang="zh-CN" sz="20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装入</a:t>
            </a:r>
            <a:r>
              <a:rPr lang="en-US" altLang="zh-CN" sz="20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ACC</a:t>
            </a:r>
            <a:r>
              <a:rPr lang="zh-CN" altLang="zh-CN" sz="20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的操作数是</a:t>
            </a:r>
            <a:r>
              <a:rPr lang="en-US" altLang="zh-CN" sz="20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700</a:t>
            </a:r>
            <a:r>
              <a:rPr lang="zh-CN" altLang="zh-CN" sz="20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。</a:t>
            </a:r>
            <a:endParaRPr lang="zh-CN" altLang="en-US" sz="2000" dirty="0">
              <a:solidFill>
                <a:schemeClr val="tx2"/>
              </a:solidFill>
              <a:latin typeface="黑体" pitchFamily="2" charset="-122"/>
              <a:ea typeface="黑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94834395"/>
      </p:ext>
    </p:extLst>
  </p:cSld>
  <p:clrMapOvr>
    <a:masterClrMapping/>
  </p:clrMapOvr>
  <p:transition>
    <p:wipe dir="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333785F6-AF56-A425-A83A-92B1B4DE958A}"/>
              </a:ext>
            </a:extLst>
          </p:cNvPr>
          <p:cNvSpPr txBox="1"/>
          <p:nvPr/>
        </p:nvSpPr>
        <p:spPr>
          <a:xfrm>
            <a:off x="321972" y="644932"/>
            <a:ext cx="8822028" cy="450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kumimoji="0" lang="en-US" altLang="zh-CN" sz="2000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【</a:t>
            </a:r>
            <a:r>
              <a:rPr kumimoji="0" lang="zh-CN" altLang="en-US" sz="2000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例</a:t>
            </a:r>
            <a:r>
              <a:rPr kumimoji="0" lang="en-US" altLang="zh-CN" sz="2000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8】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某机的机器字长为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16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位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主存按字编址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指令格式如下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: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endParaRPr lang="en-US" altLang="zh-CN" sz="2200" dirty="0">
              <a:solidFill>
                <a:schemeClr val="tx2"/>
              </a:solidFill>
              <a:latin typeface="黑体" pitchFamily="2" charset="-122"/>
              <a:ea typeface="黑体" pitchFamily="2" charset="-122"/>
            </a:endParaRPr>
          </a:p>
          <a:p>
            <a:pPr>
              <a:spcBef>
                <a:spcPts val="0"/>
              </a:spcBef>
              <a:spcAft>
                <a:spcPts val="600"/>
              </a:spcAft>
            </a:pPr>
            <a:endParaRPr lang="en-US" altLang="zh-CN" sz="2200" dirty="0">
              <a:solidFill>
                <a:schemeClr val="tx2"/>
              </a:solidFill>
              <a:latin typeface="黑体" pitchFamily="2" charset="-122"/>
              <a:ea typeface="黑体" pitchFamily="2" charset="-122"/>
            </a:endParaRP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其中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,D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为位移量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;X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为寻址特征位。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X=00: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直接寻址。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X=01: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用变址寄存器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X1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进行变址。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X=10: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用变址寄存器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X2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进行变址。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X=11: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相对寻址。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设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(PC)=1234H,(X1)=0037H,(X2)=1122H(H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代表十六位进制数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),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请确定下列指令的有效地址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: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① 4420H   ②2244H    ③1322H    ④3521H    ⑤6723H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663D9F0-25CE-7932-4033-C08B8D8D06F8}"/>
              </a:ext>
            </a:extLst>
          </p:cNvPr>
          <p:cNvSpPr txBox="1"/>
          <p:nvPr/>
        </p:nvSpPr>
        <p:spPr>
          <a:xfrm>
            <a:off x="75126" y="1038786"/>
            <a:ext cx="7914068" cy="877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        15        10  9  8  7                   0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endParaRPr lang="en-US" altLang="zh-CN" sz="2200" dirty="0">
              <a:solidFill>
                <a:schemeClr val="tx2"/>
              </a:solidFill>
              <a:latin typeface="黑体" pitchFamily="2" charset="-122"/>
              <a:ea typeface="黑体" pitchFamily="2" charset="-122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075DE0BD-8299-500A-9EE0-3876F73FA5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8089540"/>
              </p:ext>
            </p:extLst>
          </p:nvPr>
        </p:nvGraphicFramePr>
        <p:xfrm>
          <a:off x="1141928" y="1463111"/>
          <a:ext cx="6096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1351">
                  <a:extLst>
                    <a:ext uri="{9D8B030D-6E8A-4147-A177-3AD203B41FA5}">
                      <a16:colId xmlns:a16="http://schemas.microsoft.com/office/drawing/2014/main" val="1785204264"/>
                    </a:ext>
                  </a:extLst>
                </a:gridCol>
                <a:gridCol w="792050">
                  <a:extLst>
                    <a:ext uri="{9D8B030D-6E8A-4147-A177-3AD203B41FA5}">
                      <a16:colId xmlns:a16="http://schemas.microsoft.com/office/drawing/2014/main" val="1589368186"/>
                    </a:ext>
                  </a:extLst>
                </a:gridCol>
                <a:gridCol w="3232599">
                  <a:extLst>
                    <a:ext uri="{9D8B030D-6E8A-4147-A177-3AD203B41FA5}">
                      <a16:colId xmlns:a16="http://schemas.microsoft.com/office/drawing/2014/main" val="19972633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2"/>
                          </a:solidFill>
                          <a:latin typeface="黑体" pitchFamily="2" charset="-122"/>
                          <a:ea typeface="黑体" pitchFamily="2" charset="-122"/>
                        </a:rPr>
                        <a:t>OP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solidFill>
                            <a:schemeClr val="tx2"/>
                          </a:solidFill>
                          <a:latin typeface="黑体" pitchFamily="2" charset="-122"/>
                          <a:ea typeface="黑体" pitchFamily="2" charset="-122"/>
                        </a:rPr>
                        <a:t>X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2"/>
                          </a:solidFill>
                          <a:latin typeface="黑体" pitchFamily="2" charset="-122"/>
                          <a:ea typeface="黑体" pitchFamily="2" charset="-122"/>
                        </a:rPr>
                        <a:t>D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23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4324292"/>
      </p:ext>
    </p:extLst>
  </p:cSld>
  <p:clrMapOvr>
    <a:masterClrMapping/>
  </p:clrMapOvr>
  <p:transition>
    <p:wipe dir="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21CC30B2-B8D9-59BD-0D03-CA8F441294C7}"/>
              </a:ext>
            </a:extLst>
          </p:cNvPr>
          <p:cNvSpPr txBox="1"/>
          <p:nvPr/>
        </p:nvSpPr>
        <p:spPr>
          <a:xfrm>
            <a:off x="1120461" y="632622"/>
            <a:ext cx="8145888" cy="3589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kumimoji="0" lang="zh-CN" altLang="en-US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解：</a:t>
            </a:r>
            <a:r>
              <a:rPr lang="en-US" altLang="zh-CN" sz="2200" dirty="0" err="1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取指后,PC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=1235H(注意,不是1236H,因主存按字编址)。</a:t>
            </a:r>
            <a:endParaRPr lang="zh-CN" altLang="zh-CN" sz="2200" dirty="0">
              <a:solidFill>
                <a:schemeClr val="tx2"/>
              </a:solidFill>
              <a:latin typeface="黑体" pitchFamily="2" charset="-122"/>
              <a:ea typeface="黑体" pitchFamily="2" charset="-122"/>
            </a:endParaRP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①X=00,D=20H,有效地址EA=20H。</a:t>
            </a:r>
            <a:endParaRPr lang="zh-CN" altLang="zh-CN" sz="2200" dirty="0">
              <a:solidFill>
                <a:schemeClr val="tx2"/>
              </a:solidFill>
              <a:latin typeface="黑体" pitchFamily="2" charset="-122"/>
              <a:ea typeface="黑体" pitchFamily="2" charset="-122"/>
            </a:endParaRP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②X=10,D=44H,有效地址EA=1122H+44H=1166H。</a:t>
            </a:r>
            <a:endParaRPr lang="zh-CN" altLang="zh-CN" sz="2200" dirty="0">
              <a:solidFill>
                <a:schemeClr val="tx2"/>
              </a:solidFill>
              <a:latin typeface="黑体" pitchFamily="2" charset="-122"/>
              <a:ea typeface="黑体" pitchFamily="2" charset="-122"/>
            </a:endParaRP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③X=11,D=22H,有效地址EA=1235H+22H=1257H。</a:t>
            </a:r>
            <a:endParaRPr lang="zh-CN" altLang="zh-CN" sz="2200" dirty="0">
              <a:solidFill>
                <a:schemeClr val="tx2"/>
              </a:solidFill>
              <a:latin typeface="黑体" pitchFamily="2" charset="-122"/>
              <a:ea typeface="黑体" pitchFamily="2" charset="-122"/>
            </a:endParaRP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④X=01,D=21H,有效地址EA=0037H+21H=0058H.</a:t>
            </a:r>
            <a:endParaRPr lang="zh-CN" altLang="zh-CN" sz="2200" dirty="0">
              <a:solidFill>
                <a:schemeClr val="tx2"/>
              </a:solidFill>
              <a:latin typeface="黑体" pitchFamily="2" charset="-122"/>
              <a:ea typeface="黑体" pitchFamily="2" charset="-122"/>
            </a:endParaRP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⑤X=11,D=23H,有效地址EA=1235H+23H=1258H。</a:t>
            </a:r>
            <a:endParaRPr lang="zh-CN" altLang="zh-CN" sz="2200" dirty="0">
              <a:solidFill>
                <a:schemeClr val="tx2"/>
              </a:solidFill>
              <a:latin typeface="黑体" pitchFamily="2" charset="-122"/>
              <a:ea typeface="黑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03492949"/>
      </p:ext>
    </p:extLst>
  </p:cSld>
  <p:clrMapOvr>
    <a:masterClrMapping/>
  </p:clrMapOvr>
  <p:transition>
    <p:wipe dir="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333785F6-AF56-A425-A83A-92B1B4DE958A}"/>
              </a:ext>
            </a:extLst>
          </p:cNvPr>
          <p:cNvSpPr txBox="1"/>
          <p:nvPr/>
        </p:nvSpPr>
        <p:spPr>
          <a:xfrm>
            <a:off x="160989" y="406675"/>
            <a:ext cx="8822028" cy="1184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kumimoji="0" lang="en-US" altLang="zh-CN" sz="2000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【</a:t>
            </a:r>
            <a:r>
              <a:rPr kumimoji="0" lang="zh-CN" altLang="en-US" sz="2000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例</a:t>
            </a:r>
            <a:r>
              <a:rPr kumimoji="0" lang="en-US" altLang="zh-CN" sz="2000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9】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某计算机字长为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16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位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主存地址空间大小为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128KB,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按字编址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采用单字长指令格式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指今各字段定义如下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: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endParaRPr lang="en-US" altLang="zh-CN" sz="2200" dirty="0">
              <a:solidFill>
                <a:schemeClr val="tx2"/>
              </a:solidFill>
              <a:latin typeface="黑体" pitchFamily="2" charset="-122"/>
              <a:ea typeface="黑体" pitchFamily="2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A1555B6-EC44-FF5C-8457-D766F8F1AB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395" y="1217056"/>
            <a:ext cx="5916211" cy="2867684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3809F4A4-E86B-A34A-52D6-3D8ADADA2022}"/>
              </a:ext>
            </a:extLst>
          </p:cNvPr>
          <p:cNvSpPr txBox="1"/>
          <p:nvPr/>
        </p:nvSpPr>
        <p:spPr>
          <a:xfrm>
            <a:off x="160989" y="3968933"/>
            <a:ext cx="8429223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zh-CN" altLang="zh-CN" sz="18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回答下列问题</a:t>
            </a:r>
            <a:r>
              <a:rPr lang="en-US" altLang="zh-CN" sz="18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:</a:t>
            </a:r>
            <a:endParaRPr lang="zh-CN" altLang="zh-CN" sz="1800" dirty="0">
              <a:solidFill>
                <a:schemeClr val="tx2"/>
              </a:solidFill>
              <a:latin typeface="黑体" pitchFamily="2" charset="-122"/>
              <a:ea typeface="黑体" pitchFamily="2" charset="-122"/>
            </a:endParaRP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altLang="zh-CN" sz="18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1)</a:t>
            </a:r>
            <a:r>
              <a:rPr lang="zh-CN" altLang="zh-CN" sz="18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该指令系统最多可有多少条指令</a:t>
            </a:r>
            <a:r>
              <a:rPr lang="en-US" altLang="zh-CN" sz="18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?</a:t>
            </a:r>
            <a:r>
              <a:rPr lang="zh-CN" altLang="zh-CN" sz="18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该计算机最多有多少个通用寄存器</a:t>
            </a:r>
            <a:r>
              <a:rPr lang="en-US" altLang="zh-CN" sz="18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?</a:t>
            </a:r>
            <a:r>
              <a:rPr lang="zh-CN" altLang="zh-CN" sz="18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存储器地址寄存器</a:t>
            </a:r>
            <a:r>
              <a:rPr lang="en-US" altLang="zh-CN" sz="18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(MAR)</a:t>
            </a:r>
            <a:r>
              <a:rPr lang="zh-CN" altLang="zh-CN" sz="18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和存储器数据寄存器</a:t>
            </a:r>
            <a:r>
              <a:rPr lang="en-US" altLang="zh-CN" sz="18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(MDR)</a:t>
            </a:r>
            <a:r>
              <a:rPr lang="zh-CN" altLang="zh-CN" sz="18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至少各需要多少位</a:t>
            </a:r>
            <a:r>
              <a:rPr lang="en-US" altLang="zh-CN" sz="18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?</a:t>
            </a:r>
            <a:endParaRPr lang="zh-CN" altLang="zh-CN" sz="1800" dirty="0">
              <a:solidFill>
                <a:schemeClr val="tx2"/>
              </a:solidFill>
              <a:latin typeface="黑体" pitchFamily="2" charset="-122"/>
              <a:ea typeface="黑体" pitchFamily="2" charset="-122"/>
            </a:endParaRP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altLang="zh-CN" sz="18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2)</a:t>
            </a:r>
            <a:r>
              <a:rPr lang="zh-CN" altLang="zh-CN" sz="18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转移指令的目标地址范围是多少</a:t>
            </a:r>
            <a:r>
              <a:rPr lang="en-US" altLang="zh-CN" sz="18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?</a:t>
            </a:r>
            <a:endParaRPr lang="zh-CN" altLang="zh-CN" sz="1800" dirty="0">
              <a:solidFill>
                <a:schemeClr val="tx2"/>
              </a:solidFill>
              <a:latin typeface="黑体" pitchFamily="2" charset="-122"/>
              <a:ea typeface="黑体" pitchFamily="2" charset="-122"/>
            </a:endParaRP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altLang="zh-CN" sz="18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3)</a:t>
            </a:r>
            <a:r>
              <a:rPr lang="zh-CN" altLang="zh-CN" sz="18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若操作码</a:t>
            </a:r>
            <a:r>
              <a:rPr lang="en-US" altLang="zh-CN" sz="18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0010B</a:t>
            </a:r>
            <a:r>
              <a:rPr lang="zh-CN" altLang="zh-CN" sz="18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表示加法操作</a:t>
            </a:r>
            <a:r>
              <a:rPr lang="en-US" altLang="zh-CN" sz="18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(</a:t>
            </a:r>
            <a:r>
              <a:rPr lang="zh-CN" altLang="zh-CN" sz="18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助记符为</a:t>
            </a:r>
            <a:r>
              <a:rPr lang="en-US" altLang="zh-CN" sz="18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add ),</a:t>
            </a:r>
            <a:r>
              <a:rPr lang="zh-CN" altLang="zh-CN" sz="18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寄存器</a:t>
            </a:r>
            <a:r>
              <a:rPr lang="en-US" altLang="zh-CN" sz="18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R4</a:t>
            </a:r>
            <a:r>
              <a:rPr lang="zh-CN" altLang="zh-CN" sz="18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和</a:t>
            </a:r>
            <a:r>
              <a:rPr lang="en-US" altLang="zh-CN" sz="18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R5</a:t>
            </a:r>
            <a:r>
              <a:rPr lang="zh-CN" altLang="zh-CN" sz="18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的编号分别为</a:t>
            </a:r>
            <a:r>
              <a:rPr lang="en-US" altLang="zh-CN" sz="18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100B</a:t>
            </a:r>
            <a:r>
              <a:rPr lang="zh-CN" altLang="zh-CN" sz="18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和</a:t>
            </a:r>
            <a:r>
              <a:rPr lang="en-US" altLang="zh-CN" sz="18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101B,R4</a:t>
            </a:r>
            <a:r>
              <a:rPr lang="zh-CN" altLang="zh-CN" sz="18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的内容为</a:t>
            </a:r>
            <a:r>
              <a:rPr lang="en-US" altLang="zh-CN" sz="18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1234H,R5</a:t>
            </a:r>
            <a:r>
              <a:rPr lang="zh-CN" altLang="zh-CN" sz="18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的内容为</a:t>
            </a:r>
            <a:r>
              <a:rPr lang="en-US" altLang="zh-CN" sz="18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5678H,</a:t>
            </a:r>
            <a:r>
              <a:rPr lang="zh-CN" altLang="zh-CN" sz="18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地址</a:t>
            </a:r>
            <a:r>
              <a:rPr lang="en-US" altLang="zh-CN" sz="18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1234H</a:t>
            </a:r>
            <a:r>
              <a:rPr lang="zh-CN" altLang="zh-CN" sz="18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中的内容为</a:t>
            </a:r>
            <a:r>
              <a:rPr lang="en-US" altLang="zh-CN" sz="18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5678H,5678H</a:t>
            </a:r>
            <a:r>
              <a:rPr lang="zh-CN" altLang="zh-CN" sz="18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中的内容为</a:t>
            </a:r>
            <a:r>
              <a:rPr lang="en-US" altLang="zh-CN" sz="18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1234H,</a:t>
            </a:r>
            <a:r>
              <a:rPr lang="zh-CN" altLang="zh-CN" sz="18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则汇编语句</a:t>
            </a:r>
            <a:r>
              <a:rPr lang="en-US" altLang="zh-CN" sz="18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“add(R4),(R5)+”(</a:t>
            </a:r>
            <a:r>
              <a:rPr lang="zh-CN" altLang="zh-CN" sz="18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逗号前为源操作数</a:t>
            </a:r>
            <a:r>
              <a:rPr lang="en-US" altLang="zh-CN" sz="18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zh-CN" sz="18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逗号后为目的操作数</a:t>
            </a:r>
            <a:r>
              <a:rPr lang="en-US" altLang="zh-CN" sz="18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)</a:t>
            </a:r>
            <a:r>
              <a:rPr lang="zh-CN" altLang="zh-CN" sz="18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对应的机器码是什么</a:t>
            </a:r>
            <a:r>
              <a:rPr lang="en-US" altLang="zh-CN" sz="18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(</a:t>
            </a:r>
            <a:r>
              <a:rPr lang="zh-CN" altLang="zh-CN" sz="18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用十六进制表示</a:t>
            </a:r>
            <a:r>
              <a:rPr lang="en-US" altLang="zh-CN" sz="18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)?</a:t>
            </a:r>
            <a:r>
              <a:rPr lang="zh-CN" altLang="zh-CN" sz="18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该指令执行后</a:t>
            </a:r>
            <a:r>
              <a:rPr lang="en-US" altLang="zh-CN" sz="18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zh-CN" sz="18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哪些寄存器和存储单元的内容会改变</a:t>
            </a:r>
            <a:r>
              <a:rPr lang="en-US" altLang="zh-CN" sz="18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?</a:t>
            </a:r>
            <a:r>
              <a:rPr lang="zh-CN" altLang="zh-CN" sz="18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改变后的内容是什么</a:t>
            </a:r>
            <a:r>
              <a:rPr lang="en-US" altLang="zh-CN" sz="18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?</a:t>
            </a:r>
            <a:endParaRPr lang="zh-CN" altLang="zh-CN" sz="1800" dirty="0">
              <a:solidFill>
                <a:schemeClr val="tx2"/>
              </a:solidFill>
              <a:latin typeface="黑体" pitchFamily="2" charset="-122"/>
              <a:ea typeface="黑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69990396"/>
      </p:ext>
    </p:extLst>
  </p:cSld>
  <p:clrMapOvr>
    <a:masterClrMapping/>
  </p:clrMapOvr>
  <p:transition>
    <p:wipe dir="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21CC30B2-B8D9-59BD-0D03-CA8F441294C7}"/>
              </a:ext>
            </a:extLst>
          </p:cNvPr>
          <p:cNvSpPr txBox="1"/>
          <p:nvPr/>
        </p:nvSpPr>
        <p:spPr>
          <a:xfrm>
            <a:off x="206061" y="381484"/>
            <a:ext cx="81458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kumimoji="0" lang="zh-CN" altLang="en-US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解：</a:t>
            </a:r>
            <a:endParaRPr lang="zh-CN" altLang="zh-CN" sz="2200" dirty="0">
              <a:solidFill>
                <a:schemeClr val="tx2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57ABC18-1EAF-8699-183D-DA9EEEE47C10}"/>
              </a:ext>
            </a:extLst>
          </p:cNvPr>
          <p:cNvSpPr txBox="1"/>
          <p:nvPr/>
        </p:nvSpPr>
        <p:spPr>
          <a:xfrm>
            <a:off x="585988" y="806070"/>
            <a:ext cx="7604975" cy="24525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altLang="zh-CN" sz="16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1)</a:t>
            </a:r>
            <a:r>
              <a:rPr lang="zh-CN" altLang="zh-CN" sz="16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操作码占</a:t>
            </a:r>
            <a:r>
              <a:rPr lang="en-US" altLang="zh-CN" sz="16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zh-CN" sz="16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位</a:t>
            </a:r>
            <a:r>
              <a:rPr lang="en-US" altLang="zh-CN" sz="16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zh-CN" altLang="zh-CN" sz="16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则该指令系统最多可有</a:t>
            </a:r>
            <a:r>
              <a:rPr lang="en-US" altLang="zh-CN" sz="16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16</a:t>
            </a:r>
            <a:r>
              <a:rPr lang="zh-CN" altLang="zh-CN" sz="16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条指令。操作数占</a:t>
            </a:r>
            <a:r>
              <a:rPr lang="en-US" altLang="zh-CN" sz="16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6</a:t>
            </a:r>
            <a:r>
              <a:rPr lang="zh-CN" altLang="zh-CN" sz="16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位</a:t>
            </a:r>
            <a:r>
              <a:rPr lang="en-US" altLang="zh-CN" sz="16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zh-CN" altLang="zh-CN" sz="16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其中寻址方式占</a:t>
            </a:r>
            <a:r>
              <a:rPr lang="en-US" altLang="zh-CN" sz="16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zh-CN" sz="16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位、寄存器编号占</a:t>
            </a:r>
            <a:r>
              <a:rPr lang="en-US" altLang="zh-CN" sz="16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zh-CN" sz="16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位</a:t>
            </a:r>
            <a:r>
              <a:rPr lang="en-US" altLang="zh-CN" sz="16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zh-CN" altLang="zh-CN" sz="16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因此该机最多有</a:t>
            </a:r>
            <a:r>
              <a:rPr lang="en-US" altLang="zh-CN" sz="16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1600" b="0" baseline="30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en-US" altLang="zh-CN" sz="16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=8</a:t>
            </a:r>
            <a:r>
              <a:rPr lang="zh-CN" altLang="zh-CN" sz="16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个通用寄存器。主存地址空间大小为</a:t>
            </a:r>
            <a:r>
              <a:rPr lang="en-US" altLang="zh-CN" sz="16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128KB</a:t>
            </a:r>
            <a:r>
              <a:rPr lang="zh-CN" altLang="en-US" sz="16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zh-CN" altLang="zh-CN" sz="16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按字编址</a:t>
            </a:r>
            <a:r>
              <a:rPr lang="zh-CN" altLang="en-US" sz="16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zh-CN" altLang="zh-CN" sz="16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宇长为</a:t>
            </a:r>
            <a:r>
              <a:rPr lang="en-US" altLang="zh-CN" sz="16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16</a:t>
            </a:r>
            <a:r>
              <a:rPr lang="zh-CN" altLang="zh-CN" sz="16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位</a:t>
            </a:r>
            <a:r>
              <a:rPr lang="zh-CN" altLang="en-US" sz="16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zh-CN" altLang="zh-CN" sz="16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共有</a:t>
            </a:r>
            <a:r>
              <a:rPr lang="en-US" altLang="zh-CN" sz="16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128KB/2B=2</a:t>
            </a:r>
            <a:r>
              <a:rPr lang="en-US" altLang="zh-CN" sz="1600" b="0" baseline="30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16</a:t>
            </a:r>
            <a:r>
              <a:rPr lang="zh-CN" altLang="zh-CN" sz="16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个存储单元</a:t>
            </a:r>
            <a:r>
              <a:rPr lang="zh-CN" altLang="en-US" sz="16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zh-CN" altLang="zh-CN" sz="16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因此</a:t>
            </a:r>
            <a:r>
              <a:rPr lang="en-US" altLang="zh-CN" sz="16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MAR</a:t>
            </a:r>
            <a:r>
              <a:rPr lang="zh-CN" altLang="zh-CN" sz="16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至少为</a:t>
            </a:r>
            <a:r>
              <a:rPr lang="en-US" altLang="zh-CN" sz="16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16</a:t>
            </a:r>
            <a:r>
              <a:rPr lang="zh-CN" altLang="zh-CN" sz="16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位</a:t>
            </a:r>
            <a:r>
              <a:rPr lang="zh-CN" altLang="en-US" sz="16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；</a:t>
            </a:r>
            <a:r>
              <a:rPr lang="zh-CN" altLang="zh-CN" sz="16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因为字长为</a:t>
            </a:r>
            <a:r>
              <a:rPr lang="en-US" altLang="zh-CN" sz="16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16</a:t>
            </a:r>
            <a:r>
              <a:rPr lang="zh-CN" altLang="zh-CN" sz="16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位</a:t>
            </a:r>
            <a:r>
              <a:rPr lang="zh-CN" altLang="en-US" sz="16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zh-CN" altLang="zh-CN" sz="16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因此</a:t>
            </a:r>
            <a:r>
              <a:rPr lang="en-US" altLang="zh-CN" sz="16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MDR</a:t>
            </a:r>
            <a:r>
              <a:rPr lang="zh-CN" altLang="zh-CN" sz="16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至少为</a:t>
            </a:r>
            <a:r>
              <a:rPr lang="en-US" altLang="zh-CN" sz="16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16</a:t>
            </a:r>
            <a:r>
              <a:rPr lang="zh-CN" altLang="zh-CN" sz="16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位。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altLang="zh-CN" sz="16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2)</a:t>
            </a:r>
            <a:r>
              <a:rPr lang="zh-CN" altLang="zh-CN" sz="16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寄存器字长为</a:t>
            </a:r>
            <a:r>
              <a:rPr lang="en-US" altLang="zh-CN" sz="16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16</a:t>
            </a:r>
            <a:r>
              <a:rPr lang="zh-CN" altLang="zh-CN" sz="16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位</a:t>
            </a:r>
            <a:r>
              <a:rPr lang="zh-CN" altLang="en-US" sz="16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16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PC</a:t>
            </a:r>
            <a:r>
              <a:rPr lang="zh-CN" altLang="zh-CN" sz="16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16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Rn</a:t>
            </a:r>
            <a:r>
              <a:rPr lang="zh-CN" altLang="zh-CN" sz="16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可表示的地址范围均为</a:t>
            </a:r>
            <a:r>
              <a:rPr lang="en-US" altLang="zh-CN" sz="16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0~2</a:t>
            </a:r>
            <a:r>
              <a:rPr lang="en-US" altLang="zh-CN" sz="1600" b="0" baseline="30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16</a:t>
            </a:r>
            <a:r>
              <a:rPr lang="en-US" altLang="zh-CN" sz="16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-1</a:t>
            </a:r>
            <a:r>
              <a:rPr lang="zh-CN" altLang="en-US" sz="16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zh-CN" altLang="zh-CN" sz="16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而主存地址空间为</a:t>
            </a:r>
            <a:r>
              <a:rPr lang="en-US" altLang="zh-CN" sz="16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1600" b="0" baseline="30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16</a:t>
            </a:r>
            <a:r>
              <a:rPr lang="zh-CN" altLang="en-US" sz="16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zh-CN" altLang="zh-CN" sz="16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因此转移指令的目标地址范围为</a:t>
            </a:r>
            <a:r>
              <a:rPr lang="en-US" altLang="zh-CN" sz="16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0000H~FFFFH(0~216-1)</a:t>
            </a:r>
            <a:r>
              <a:rPr lang="zh-CN" altLang="zh-CN" sz="16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en-US" altLang="zh-CN" sz="1600" b="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3)</a:t>
            </a:r>
            <a:r>
              <a:rPr lang="zh-CN" altLang="en-US" sz="1600" b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汇编语句“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add(R4),(R5)+”</a:t>
            </a:r>
            <a:r>
              <a:rPr lang="zh-CN" altLang="en-US" sz="1600" b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对应的机器码为</a:t>
            </a:r>
            <a:endParaRPr lang="zh-CN" altLang="zh-CN" sz="1600" b="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87887B79-A59E-A233-D72B-F562B1A792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1545648"/>
              </p:ext>
            </p:extLst>
          </p:nvPr>
        </p:nvGraphicFramePr>
        <p:xfrm>
          <a:off x="1073241" y="3261884"/>
          <a:ext cx="7278708" cy="11845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7606">
                  <a:extLst>
                    <a:ext uri="{9D8B030D-6E8A-4147-A177-3AD203B41FA5}">
                      <a16:colId xmlns:a16="http://schemas.microsoft.com/office/drawing/2014/main" val="112159366"/>
                    </a:ext>
                  </a:extLst>
                </a:gridCol>
                <a:gridCol w="907959">
                  <a:extLst>
                    <a:ext uri="{9D8B030D-6E8A-4147-A177-3AD203B41FA5}">
                      <a16:colId xmlns:a16="http://schemas.microsoft.com/office/drawing/2014/main" val="2181413142"/>
                    </a:ext>
                  </a:extLst>
                </a:gridCol>
                <a:gridCol w="1732208">
                  <a:extLst>
                    <a:ext uri="{9D8B030D-6E8A-4147-A177-3AD203B41FA5}">
                      <a16:colId xmlns:a16="http://schemas.microsoft.com/office/drawing/2014/main" val="1896744789"/>
                    </a:ext>
                  </a:extLst>
                </a:gridCol>
                <a:gridCol w="920840">
                  <a:extLst>
                    <a:ext uri="{9D8B030D-6E8A-4147-A177-3AD203B41FA5}">
                      <a16:colId xmlns:a16="http://schemas.microsoft.com/office/drawing/2014/main" val="2039197048"/>
                    </a:ext>
                  </a:extLst>
                </a:gridCol>
                <a:gridCol w="2266681">
                  <a:extLst>
                    <a:ext uri="{9D8B030D-6E8A-4147-A177-3AD203B41FA5}">
                      <a16:colId xmlns:a16="http://schemas.microsoft.com/office/drawing/2014/main" val="3707603404"/>
                    </a:ext>
                  </a:extLst>
                </a:gridCol>
                <a:gridCol w="753414">
                  <a:extLst>
                    <a:ext uri="{9D8B030D-6E8A-4147-A177-3AD203B41FA5}">
                      <a16:colId xmlns:a16="http://schemas.microsoft.com/office/drawing/2014/main" val="689090326"/>
                    </a:ext>
                  </a:extLst>
                </a:gridCol>
              </a:tblGrid>
              <a:tr h="317482">
                <a:tc>
                  <a:txBody>
                    <a:bodyPr/>
                    <a:lstStyle/>
                    <a:p>
                      <a:r>
                        <a:rPr lang="zh-CN" altLang="en-US" dirty="0"/>
                        <a:t>字段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OP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Ms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Rs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Md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Rd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32928"/>
                  </a:ext>
                </a:extLst>
              </a:tr>
              <a:tr h="317482">
                <a:tc>
                  <a:txBody>
                    <a:bodyPr/>
                    <a:lstStyle/>
                    <a:p>
                      <a:r>
                        <a:rPr lang="zh-CN" altLang="en-US" dirty="0"/>
                        <a:t>内容</a:t>
                      </a:r>
                      <a:endParaRPr lang="en-US" altLang="zh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0010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001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010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101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6696051"/>
                  </a:ext>
                </a:extLst>
              </a:tr>
              <a:tr h="452993">
                <a:tc>
                  <a:txBody>
                    <a:bodyPr/>
                    <a:lstStyle/>
                    <a:p>
                      <a:r>
                        <a:rPr lang="zh-CN" altLang="en-US" dirty="0"/>
                        <a:t>说明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add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寄存器间接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R4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寄存器间接、自增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R5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5702363"/>
                  </a:ext>
                </a:extLst>
              </a:tr>
            </a:tbl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92602F14-B857-71FE-917A-CFDC60128D5D}"/>
              </a:ext>
            </a:extLst>
          </p:cNvPr>
          <p:cNvSpPr txBox="1"/>
          <p:nvPr/>
        </p:nvSpPr>
        <p:spPr>
          <a:xfrm>
            <a:off x="707266" y="4446397"/>
            <a:ext cx="7483697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将对应的机器码写成十六进制形式为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0010 0011 0001 0101B=2315H</a:t>
            </a:r>
            <a:r>
              <a:rPr lang="zh-CN" altLang="en-US" sz="1600" b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</a:p>
          <a:p>
            <a:r>
              <a:rPr lang="zh-CN" altLang="en-US" sz="1600" b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该指令的功能是将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R4</a:t>
            </a:r>
            <a:r>
              <a:rPr lang="zh-CN" altLang="en-US" sz="1600" b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的内容所指的存储单元的数据与 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R5</a:t>
            </a:r>
            <a:r>
              <a:rPr lang="zh-CN" altLang="en-US" sz="1600" b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的内容所指的存储单元的数据相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zh-CN" altLang="en-US" sz="1600" b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并将结果送入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R5</a:t>
            </a:r>
            <a:r>
              <a:rPr lang="zh-CN" altLang="en-US" sz="1600" b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的内容所指的存储单元中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(R4)=1234H,(1234H)=5678H;(R5)=5678H, (5678H)=1234H:</a:t>
            </a:r>
            <a:r>
              <a:rPr lang="zh-CN" altLang="en-US" sz="1600" b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执行加法操作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5678H+1234H=68ACH</a:t>
            </a:r>
            <a:r>
              <a:rPr lang="zh-CN" altLang="en-US" sz="1600" b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。之后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R5</a:t>
            </a:r>
            <a:r>
              <a:rPr lang="zh-CN" altLang="en-US" sz="1600" b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自增。</a:t>
            </a:r>
          </a:p>
          <a:p>
            <a:r>
              <a:rPr lang="zh-CN" altLang="en-US" sz="1600" b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该指令执行后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,R5</a:t>
            </a:r>
            <a:r>
              <a:rPr lang="zh-CN" altLang="en-US" sz="1600" b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和存储单元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5678H</a:t>
            </a:r>
            <a:r>
              <a:rPr lang="zh-CN" altLang="en-US" sz="1600" b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的内容会改变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,R5</a:t>
            </a:r>
            <a:r>
              <a:rPr lang="zh-CN" altLang="en-US" sz="1600" b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的内容从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5678H</a:t>
            </a:r>
            <a:r>
              <a:rPr lang="zh-CN" altLang="en-US" sz="1600" b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变为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5679H,</a:t>
            </a:r>
            <a:r>
              <a:rPr lang="zh-CN" altLang="en-US" sz="1600" b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存储单元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5678H</a:t>
            </a:r>
            <a:r>
              <a:rPr lang="zh-CN" altLang="en-US" sz="1600" b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中的内容变为该指令的计算结果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68ACH</a:t>
            </a:r>
            <a:r>
              <a:rPr lang="zh-CN" altLang="en-US" sz="1600" b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604519421"/>
      </p:ext>
    </p:extLst>
  </p:cSld>
  <p:clrMapOvr>
    <a:masterClrMapping/>
  </p:clrMapOvr>
  <p:transition>
    <p:wipe dir="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333785F6-AF56-A425-A83A-92B1B4DE958A}"/>
              </a:ext>
            </a:extLst>
          </p:cNvPr>
          <p:cNvSpPr txBox="1"/>
          <p:nvPr/>
        </p:nvSpPr>
        <p:spPr>
          <a:xfrm>
            <a:off x="148107" y="400233"/>
            <a:ext cx="882202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kumimoji="0" lang="en-US" altLang="zh-CN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【</a:t>
            </a:r>
            <a:r>
              <a:rPr kumimoji="0" lang="zh-CN" altLang="en-US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例</a:t>
            </a:r>
            <a:r>
              <a:rPr kumimoji="0" lang="en-US" altLang="zh-CN" dirty="0">
                <a:solidFill>
                  <a:srgbClr val="CC3300"/>
                </a:solidFill>
                <a:latin typeface="黑体" pitchFamily="2" charset="-122"/>
                <a:ea typeface="黑体" pitchFamily="2" charset="-122"/>
              </a:rPr>
              <a:t>10】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一条双字长的取数指令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(LDA)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存于存储器的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200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和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201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单元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其中第一个字为操作码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OP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和寻址特征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M,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第二个字为形式地址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A.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假设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PC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的当前值为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200,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变址寄存器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IX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的内容为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100,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基址寄存器的内容为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200,</a:t>
            </a:r>
            <a:r>
              <a:rPr lang="zh-CN" altLang="en-US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存储器相关单元的内容如下表所示</a:t>
            </a:r>
            <a:r>
              <a:rPr lang="en-US" altLang="zh-CN" sz="22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: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1011E322-C4A9-D053-57F8-0A97A84247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7904740"/>
              </p:ext>
            </p:extLst>
          </p:nvPr>
        </p:nvGraphicFramePr>
        <p:xfrm>
          <a:off x="1363014" y="1877561"/>
          <a:ext cx="6095997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44162135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47169845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8522985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56895545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95131758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19415658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5260004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427159369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394616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地址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401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500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501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502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700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34388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内容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700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501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600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700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900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401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8314944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5BB494EA-6308-295E-B0A5-E3CCDE645EE8}"/>
              </a:ext>
            </a:extLst>
          </p:cNvPr>
          <p:cNvSpPr txBox="1"/>
          <p:nvPr/>
        </p:nvSpPr>
        <p:spPr>
          <a:xfrm>
            <a:off x="360609" y="2619241"/>
            <a:ext cx="837770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下表的各列分别为寻址方式、该寻址方式下的有效地址及取数指令执行结束后累加器</a:t>
            </a:r>
            <a:r>
              <a:rPr lang="en-US" altLang="zh-CN" sz="20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(AC)</a:t>
            </a:r>
            <a:r>
              <a:rPr lang="zh-CN" altLang="en-US" sz="20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的内容</a:t>
            </a:r>
            <a:r>
              <a:rPr lang="en-US" altLang="zh-CN" sz="20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en-US" sz="20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试补全下表</a:t>
            </a:r>
            <a:r>
              <a:rPr lang="en-US" altLang="zh-CN" sz="2000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: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75814278-31BF-74C5-08F4-5287A8ED12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4867797"/>
              </p:ext>
            </p:extLst>
          </p:nvPr>
        </p:nvGraphicFramePr>
        <p:xfrm>
          <a:off x="991673" y="3293942"/>
          <a:ext cx="6119608" cy="333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5608">
                  <a:extLst>
                    <a:ext uri="{9D8B030D-6E8A-4147-A177-3AD203B41FA5}">
                      <a16:colId xmlns:a16="http://schemas.microsoft.com/office/drawing/2014/main" val="61921258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563617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163649272"/>
                    </a:ext>
                  </a:extLst>
                </a:gridCol>
              </a:tblGrid>
              <a:tr h="13650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dirty="0">
                          <a:solidFill>
                            <a:schemeClr val="tx2"/>
                          </a:solidFill>
                          <a:latin typeface="黑体" pitchFamily="2" charset="-122"/>
                          <a:ea typeface="黑体" pitchFamily="2" charset="-122"/>
                        </a:rPr>
                        <a:t>寻址方式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dirty="0">
                          <a:solidFill>
                            <a:schemeClr val="tx2"/>
                          </a:solidFill>
                          <a:latin typeface="黑体" pitchFamily="2" charset="-122"/>
                          <a:ea typeface="黑体" pitchFamily="2" charset="-122"/>
                        </a:rPr>
                        <a:t>有效地址</a:t>
                      </a:r>
                      <a:r>
                        <a:rPr lang="en-US" altLang="zh-CN" sz="1800" dirty="0">
                          <a:solidFill>
                            <a:schemeClr val="tx2"/>
                          </a:solidFill>
                          <a:latin typeface="黑体" pitchFamily="2" charset="-122"/>
                          <a:ea typeface="黑体" pitchFamily="2" charset="-122"/>
                        </a:rPr>
                        <a:t>(EA)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dirty="0">
                          <a:solidFill>
                            <a:schemeClr val="tx2"/>
                          </a:solidFill>
                          <a:latin typeface="黑体" pitchFamily="2" charset="-122"/>
                          <a:ea typeface="黑体" pitchFamily="2" charset="-122"/>
                        </a:rPr>
                        <a:t>累加器</a:t>
                      </a:r>
                      <a:r>
                        <a:rPr lang="en-US" altLang="zh-CN" sz="1800" dirty="0">
                          <a:solidFill>
                            <a:schemeClr val="tx2"/>
                          </a:solidFill>
                          <a:latin typeface="黑体" pitchFamily="2" charset="-122"/>
                          <a:ea typeface="黑体" pitchFamily="2" charset="-122"/>
                        </a:rPr>
                        <a:t>(AC)</a:t>
                      </a:r>
                      <a:r>
                        <a:rPr lang="zh-CN" altLang="en-US" sz="1800" dirty="0">
                          <a:solidFill>
                            <a:schemeClr val="tx2"/>
                          </a:solidFill>
                          <a:latin typeface="黑体" pitchFamily="2" charset="-122"/>
                          <a:ea typeface="黑体" pitchFamily="2" charset="-122"/>
                        </a:rPr>
                        <a:t>的内容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21878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dirty="0">
                          <a:solidFill>
                            <a:schemeClr val="tx2"/>
                          </a:solidFill>
                          <a:latin typeface="黑体" pitchFamily="2" charset="-122"/>
                          <a:ea typeface="黑体" pitchFamily="2" charset="-122"/>
                        </a:rPr>
                        <a:t>直接寻址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70676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dirty="0">
                          <a:solidFill>
                            <a:schemeClr val="tx2"/>
                          </a:solidFill>
                          <a:latin typeface="黑体" pitchFamily="2" charset="-122"/>
                          <a:ea typeface="黑体" pitchFamily="2" charset="-122"/>
                        </a:rPr>
                        <a:t>间接寻址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9027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dirty="0">
                          <a:solidFill>
                            <a:schemeClr val="tx2"/>
                          </a:solidFill>
                          <a:latin typeface="黑体" pitchFamily="2" charset="-122"/>
                          <a:ea typeface="黑体" pitchFamily="2" charset="-122"/>
                        </a:rPr>
                        <a:t>相对寻址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59335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dirty="0">
                          <a:solidFill>
                            <a:schemeClr val="tx2"/>
                          </a:solidFill>
                          <a:latin typeface="黑体" pitchFamily="2" charset="-122"/>
                          <a:ea typeface="黑体" pitchFamily="2" charset="-122"/>
                        </a:rPr>
                        <a:t>变址寻址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62657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dirty="0">
                          <a:solidFill>
                            <a:schemeClr val="tx2"/>
                          </a:solidFill>
                          <a:latin typeface="黑体" pitchFamily="2" charset="-122"/>
                          <a:ea typeface="黑体" pitchFamily="2" charset="-122"/>
                        </a:rPr>
                        <a:t>基址寻址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34418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dirty="0">
                          <a:solidFill>
                            <a:schemeClr val="tx2"/>
                          </a:solidFill>
                          <a:latin typeface="黑体" pitchFamily="2" charset="-122"/>
                          <a:ea typeface="黑体" pitchFamily="2" charset="-122"/>
                        </a:rPr>
                        <a:t>先变址后间址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67110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dirty="0">
                          <a:solidFill>
                            <a:schemeClr val="tx2"/>
                          </a:solidFill>
                          <a:latin typeface="黑体" pitchFamily="2" charset="-122"/>
                          <a:ea typeface="黑体" pitchFamily="2" charset="-122"/>
                        </a:rPr>
                        <a:t>先间址后变址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4806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80841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6366538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隶书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30000"/>
          </a:lnSpc>
          <a:spcBef>
            <a:spcPct val="5000"/>
          </a:spcBef>
          <a:spcAft>
            <a:spcPct val="0"/>
          </a:spcAft>
          <a:buClr>
            <a:schemeClr val="bg1"/>
          </a:buClr>
          <a:buSzTx/>
          <a:buFont typeface="Wingdings" pitchFamily="2" charset="2"/>
          <a:buNone/>
          <a:tabLst/>
          <a:defRPr kumimoji="1" lang="en-US" sz="24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宋体" pitchFamily="2" charset="-122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30000"/>
          </a:lnSpc>
          <a:spcBef>
            <a:spcPct val="5000"/>
          </a:spcBef>
          <a:spcAft>
            <a:spcPct val="0"/>
          </a:spcAft>
          <a:buClr>
            <a:schemeClr val="bg1"/>
          </a:buClr>
          <a:buSzTx/>
          <a:buFont typeface="Wingdings" pitchFamily="2" charset="2"/>
          <a:buNone/>
          <a:tabLst/>
          <a:defRPr kumimoji="1" lang="en-US" sz="24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宋体" pitchFamily="2" charset="-122"/>
            <a:ea typeface="宋体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Designs\Artsy.pot</Template>
  <TotalTime>12519</TotalTime>
  <Words>2782</Words>
  <Application>Microsoft Office PowerPoint</Application>
  <PresentationFormat>全屏显示(4:3)</PresentationFormat>
  <Paragraphs>258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0" baseType="lpstr">
      <vt:lpstr>黑体</vt:lpstr>
      <vt:lpstr>楷体_GB2312</vt:lpstr>
      <vt:lpstr>微软雅黑</vt:lpstr>
      <vt:lpstr>Arial</vt:lpstr>
      <vt:lpstr>Tahoma</vt:lpstr>
      <vt:lpstr>Times New Roman</vt:lpstr>
      <vt:lpstr>Wingdings</vt:lpstr>
      <vt:lpstr>Blends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R &amp; 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CDMA系统中的扩频序列与自适应调制</dc:title>
  <dc:creator>Junsong Xie</dc:creator>
  <cp:lastModifiedBy>Jingdong Sun</cp:lastModifiedBy>
  <cp:revision>1555</cp:revision>
  <cp:lastPrinted>1601-01-01T00:00:00Z</cp:lastPrinted>
  <dcterms:created xsi:type="dcterms:W3CDTF">2000-10-10T05:39:14Z</dcterms:created>
  <dcterms:modified xsi:type="dcterms:W3CDTF">2024-05-07T19:52:22Z</dcterms:modified>
</cp:coreProperties>
</file>